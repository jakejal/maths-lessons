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69204f6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69204f6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f9accb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f9accb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69204f64e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69204f64e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f69204f64e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f69204f64e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f69204f64e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f69204f64e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f69204f64e_0_1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f69204f64e_0_1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f69204f64e_0_2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f69204f64e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f69204f64e_0_2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f69204f64e_0_2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f69204f64e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f69204f64e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f69204f64e_0_2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f69204f64e_0_2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f69204f64e_0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f69204f64e_0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f69204f64e_0_2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f69204f64e_0_2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f69204f64e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f69204f64e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f69204f64e_0_2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f69204f64e_0_2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f69204f64e_0_2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f69204f64e_0_2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f69204f64e_0_2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f69204f64e_0_2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f69204f64e_0_2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f69204f64e_0_2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f69204f64e_0_2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f69204f64e_0_2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f69204f64e_0_2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f69204f64e_0_2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f69204f64e_0_2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f69204f64e_0_2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f69204f64e_0_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f69204f64e_0_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f69204f64e_0_2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f69204f64e_0_2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f69204f64e_0_2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f69204f64e_0_2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f69204f64e_0_2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f69204f64e_0_2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f69204f64e_0_2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f69204f64e_0_2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f69204f64e_0_2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f69204f64e_0_2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f69204f64e_0_2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f69204f64e_0_2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f69204f64e_0_2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f69204f64e_0_2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f69204f64e_0_2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f69204f64e_0_2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f69204f64e_0_2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f69204f64e_0_2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f69204f64e_0_2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f69204f64e_0_2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f69204f64e_0_2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f69204f64e_0_2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f69204f64e_0_2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f69204f64e_0_2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f69204f64e_0_2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f69204f64e_0_2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f69204f64e_0_2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f69204f64e_0_2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f69204f64e_0_2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f69204f64e_0_2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69204f64e_0_2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f69204f64e_0_2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f69204f64e_0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f69204f64e_0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f69204f64e_0_2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f69204f64e_0_2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f69204f64e_0_2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f69204f64e_0_2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f69204f64e_0_2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f69204f64e_0_2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f69204f64e_0_2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f69204f64e_0_2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f69204f64e_0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f69204f64e_0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2f69204f64e_0_2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2f69204f64e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f69204f64e_0_2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f69204f64e_0_2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110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Relationship Id="rId7" Type="http://schemas.openxmlformats.org/officeDocument/2006/relationships/image" Target="../media/image3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10.png"/><Relationship Id="rId4" Type="http://schemas.openxmlformats.org/officeDocument/2006/relationships/image" Target="../media/image39.png"/><Relationship Id="rId9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45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10.png"/><Relationship Id="rId4" Type="http://schemas.openxmlformats.org/officeDocument/2006/relationships/image" Target="../media/image44.png"/><Relationship Id="rId11" Type="http://schemas.openxmlformats.org/officeDocument/2006/relationships/image" Target="../media/image36.png"/><Relationship Id="rId10" Type="http://schemas.openxmlformats.org/officeDocument/2006/relationships/image" Target="../media/image51.png"/><Relationship Id="rId9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45.png"/><Relationship Id="rId8" Type="http://schemas.openxmlformats.org/officeDocument/2006/relationships/image" Target="../media/image4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png"/><Relationship Id="rId3" Type="http://schemas.openxmlformats.org/officeDocument/2006/relationships/image" Target="../media/image48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6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2.pn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6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5.png"/><Relationship Id="rId4" Type="http://schemas.openxmlformats.org/officeDocument/2006/relationships/image" Target="../media/image79.png"/><Relationship Id="rId5" Type="http://schemas.openxmlformats.org/officeDocument/2006/relationships/image" Target="../media/image8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5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Relationship Id="rId5" Type="http://schemas.openxmlformats.org/officeDocument/2006/relationships/image" Target="../media/image8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Relationship Id="rId5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Relationship Id="rId5" Type="http://schemas.openxmlformats.org/officeDocument/2006/relationships/image" Target="../media/image8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7.png"/><Relationship Id="rId4" Type="http://schemas.openxmlformats.org/officeDocument/2006/relationships/image" Target="../media/image86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3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9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0.png"/><Relationship Id="rId4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png"/><Relationship Id="rId4" Type="http://schemas.openxmlformats.org/officeDocument/2006/relationships/image" Target="../media/image9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0.png"/><Relationship Id="rId4" Type="http://schemas.openxmlformats.org/officeDocument/2006/relationships/image" Target="../media/image94.png"/><Relationship Id="rId5" Type="http://schemas.openxmlformats.org/officeDocument/2006/relationships/image" Target="../media/image87.png"/><Relationship Id="rId6" Type="http://schemas.openxmlformats.org/officeDocument/2006/relationships/image" Target="../media/image8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2.png"/><Relationship Id="rId4" Type="http://schemas.openxmlformats.org/officeDocument/2006/relationships/image" Target="../media/image90.png"/><Relationship Id="rId5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5.png"/><Relationship Id="rId4" Type="http://schemas.openxmlformats.org/officeDocument/2006/relationships/image" Target="../media/image98.png"/><Relationship Id="rId5" Type="http://schemas.openxmlformats.org/officeDocument/2006/relationships/image" Target="../media/image9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7.png"/><Relationship Id="rId4" Type="http://schemas.openxmlformats.org/officeDocument/2006/relationships/image" Target="../media/image75.png"/><Relationship Id="rId5" Type="http://schemas.openxmlformats.org/officeDocument/2006/relationships/image" Target="../media/image9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0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7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0.png"/><Relationship Id="rId4" Type="http://schemas.openxmlformats.org/officeDocument/2006/relationships/image" Target="../media/image94.png"/><Relationship Id="rId5" Type="http://schemas.openxmlformats.org/officeDocument/2006/relationships/image" Target="../media/image87.png"/><Relationship Id="rId6" Type="http://schemas.openxmlformats.org/officeDocument/2006/relationships/image" Target="../media/image81.png"/><Relationship Id="rId7" Type="http://schemas.openxmlformats.org/officeDocument/2006/relationships/image" Target="../media/image10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7.png"/><Relationship Id="rId4" Type="http://schemas.openxmlformats.org/officeDocument/2006/relationships/image" Target="../media/image10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9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9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emergency response workers.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1154636"/>
            <a:ext cx="8436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formula is a rule linking sets of physical variables in context.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are a collection of information.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866" name="Google Shape;86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6" y="206000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idx="1" type="body"/>
          </p:nvPr>
        </p:nvSpPr>
        <p:spPr>
          <a:xfrm>
            <a:off x="324000" y="759300"/>
            <a:ext cx="5359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ormulas</a:t>
            </a:r>
            <a:r>
              <a:rPr lang="en-GB"/>
              <a:t> are everywhere in our world.</a:t>
            </a:r>
            <a:endParaRPr/>
          </a:p>
        </p:txBody>
      </p:sp>
      <p:sp>
        <p:nvSpPr>
          <p:cNvPr id="873" name="Google Shape;87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372000" y="1368900"/>
            <a:ext cx="381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see them in maths</a:t>
            </a:r>
            <a:endParaRPr/>
          </a:p>
        </p:txBody>
      </p:sp>
      <p:sp>
        <p:nvSpPr>
          <p:cNvPr id="875" name="Google Shape;875;p79"/>
          <p:cNvSpPr txBox="1"/>
          <p:nvPr>
            <p:ph idx="1" type="body"/>
          </p:nvPr>
        </p:nvSpPr>
        <p:spPr>
          <a:xfrm>
            <a:off x="324000" y="1368900"/>
            <a:ext cx="96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bh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79"/>
          <p:cNvSpPr txBox="1"/>
          <p:nvPr>
            <p:ph idx="1" type="body"/>
          </p:nvPr>
        </p:nvSpPr>
        <p:spPr>
          <a:xfrm>
            <a:off x="3372000" y="1978500"/>
            <a:ext cx="408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see them in science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(Einstein’s theory of relativity)</a:t>
            </a:r>
            <a:endParaRPr/>
          </a:p>
        </p:txBody>
      </p:sp>
      <p:sp>
        <p:nvSpPr>
          <p:cNvPr id="877" name="Google Shape;877;p79"/>
          <p:cNvSpPr txBox="1"/>
          <p:nvPr>
            <p:ph idx="1" type="body"/>
          </p:nvPr>
        </p:nvSpPr>
        <p:spPr>
          <a:xfrm>
            <a:off x="324000" y="1978500"/>
            <a:ext cx="96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mc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79"/>
          <p:cNvSpPr txBox="1"/>
          <p:nvPr>
            <p:ph idx="1" type="body"/>
          </p:nvPr>
        </p:nvSpPr>
        <p:spPr>
          <a:xfrm>
            <a:off x="3372000" y="2953800"/>
            <a:ext cx="4592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use them in cooking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(cooking time for a chicken)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i∂-m\right)ψ=0&quot;&gt;&lt;mrow data-mjx-texclass=&quot;INNER&quot;&gt;&lt;mo data-mjx-texclass=&quot;OPEN&quot;&gt;(&lt;/mo&gt;&lt;mi&gt;i&lt;/mi&gt;&lt;mrow data-mjx-texclass=&quot;ORD&quot;&gt;&lt;mo&gt;∂&lt;/mo&gt;&lt;/mrow&gt;&lt;mo&gt;−&lt;/mo&gt;&lt;mi&gt;m&lt;/mi&gt;&lt;mo data-mjx-texclass=&quot;CLOSE&quot;&gt;)&lt;/mo&gt;&lt;/mrow&gt;&lt;mi&gt;ψ&lt;/mi&gt;&lt;mo&gt;=&lt;/mo&gt;&lt;mn&gt;0&lt;/mn&gt;&lt;/math&gt;" id="879" name="Google Shape;879;p79" title="open paren i partial differential negative m close paren times psi equals 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04" y="3997200"/>
            <a:ext cx="1973154" cy="305624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9"/>
          <p:cNvSpPr txBox="1"/>
          <p:nvPr>
            <p:ph idx="1" type="body"/>
          </p:nvPr>
        </p:nvSpPr>
        <p:spPr>
          <a:xfrm>
            <a:off x="324000" y="2969100"/>
            <a:ext cx="2757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20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0.45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endParaRPr baseline="30000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79"/>
          <p:cNvSpPr txBox="1"/>
          <p:nvPr>
            <p:ph idx="1" type="body"/>
          </p:nvPr>
        </p:nvSpPr>
        <p:spPr>
          <a:xfrm>
            <a:off x="3372000" y="3959700"/>
            <a:ext cx="4087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people believe you can even write a formula for love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0"/>
          <p:cNvSpPr txBox="1"/>
          <p:nvPr>
            <p:ph idx="1" type="body"/>
          </p:nvPr>
        </p:nvSpPr>
        <p:spPr>
          <a:xfrm>
            <a:off x="324000" y="6831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Emergency responders use </a:t>
            </a:r>
            <a:r>
              <a:rPr lang="en-GB" sz="2000"/>
              <a:t>formulas</a:t>
            </a:r>
            <a:r>
              <a:rPr lang="en-GB" sz="2000"/>
              <a:t> on a daily basis.</a:t>
            </a:r>
            <a:endParaRPr sz="2000"/>
          </a:p>
        </p:txBody>
      </p:sp>
      <p:sp>
        <p:nvSpPr>
          <p:cNvPr id="887" name="Google Shape;88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888" name="Google Shape;888;p80"/>
          <p:cNvSpPr txBox="1"/>
          <p:nvPr>
            <p:ph idx="1" type="body"/>
          </p:nvPr>
        </p:nvSpPr>
        <p:spPr>
          <a:xfrm>
            <a:off x="3571411" y="1262075"/>
            <a:ext cx="4962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is the gauge of a firefighter’s breathing </a:t>
            </a:r>
            <a:r>
              <a:rPr lang="en-GB" sz="2000"/>
              <a:t>apparatus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571411" y="2176475"/>
            <a:ext cx="5327100" cy="10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</a:t>
            </a:r>
            <a:r>
              <a:rPr lang="en-GB" sz="2000"/>
              <a:t> a firefighter connects this to their oxygen tank, the gauge tells them how many bar of pressure are left.</a:t>
            </a:r>
            <a:endParaRPr sz="2000"/>
          </a:p>
        </p:txBody>
      </p:sp>
      <p:sp>
        <p:nvSpPr>
          <p:cNvPr id="890" name="Google Shape;890;p80"/>
          <p:cNvSpPr txBox="1"/>
          <p:nvPr>
            <p:ph idx="1" type="body"/>
          </p:nvPr>
        </p:nvSpPr>
        <p:spPr>
          <a:xfrm>
            <a:off x="3571411" y="3517450"/>
            <a:ext cx="51531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the UK</a:t>
            </a:r>
            <a:r>
              <a:rPr lang="en-GB" sz="2000"/>
              <a:t> a firefighter must have a minimum </a:t>
            </a:r>
            <a:r>
              <a:rPr lang="en-GB" sz="2000"/>
              <a:t>240 bar o</a:t>
            </a:r>
            <a:r>
              <a:rPr lang="en-GB" sz="2000"/>
              <a:t>f pressure in their oxygen tank before they enter a building.</a:t>
            </a:r>
            <a:endParaRPr sz="2000"/>
          </a:p>
        </p:txBody>
      </p:sp>
      <p:pic>
        <p:nvPicPr>
          <p:cNvPr id="891" name="Google Shape;89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080775"/>
            <a:ext cx="2996850" cy="37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34" y="1991218"/>
            <a:ext cx="2560550" cy="2197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7519" y="2021890"/>
            <a:ext cx="2560556" cy="2177534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1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 the UK a firefighter must have a minimum </a:t>
            </a:r>
            <a:r>
              <a:rPr lang="en-GB" sz="2400"/>
              <a:t>240 bar</a:t>
            </a:r>
            <a:r>
              <a:rPr lang="en-GB"/>
              <a:t> of pressure in order to enter a building. Which of these tanks can be safely used?</a:t>
            </a:r>
            <a:endParaRPr/>
          </a:p>
        </p:txBody>
      </p:sp>
      <p:sp>
        <p:nvSpPr>
          <p:cNvPr id="899" name="Google Shape;89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id="900" name="Google Shape;90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560" y="2015233"/>
            <a:ext cx="2647890" cy="217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6183" y="4367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1338" y="4367417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3" name="Google Shape;903;p81"/>
          <p:cNvGrpSpPr/>
          <p:nvPr/>
        </p:nvGrpSpPr>
        <p:grpSpPr>
          <a:xfrm>
            <a:off x="1390533" y="4254325"/>
            <a:ext cx="457200" cy="457200"/>
            <a:chOff x="1020916" y="1442088"/>
            <a:chExt cx="457200" cy="457200"/>
          </a:xfrm>
        </p:grpSpPr>
        <p:pic>
          <p:nvPicPr>
            <p:cNvPr id="904" name="Google Shape;904;p8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5" name="Google Shape;90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6" name="Google Shape;906;p81"/>
          <p:cNvGrpSpPr/>
          <p:nvPr/>
        </p:nvGrpSpPr>
        <p:grpSpPr>
          <a:xfrm>
            <a:off x="4338533" y="4254325"/>
            <a:ext cx="457200" cy="457200"/>
            <a:chOff x="1020916" y="1442088"/>
            <a:chExt cx="457200" cy="457200"/>
          </a:xfrm>
        </p:grpSpPr>
        <p:pic>
          <p:nvPicPr>
            <p:cNvPr id="907" name="Google Shape;907;p8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8" name="Google Shape;90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9" name="Google Shape;909;p81"/>
          <p:cNvGrpSpPr/>
          <p:nvPr/>
        </p:nvGrpSpPr>
        <p:grpSpPr>
          <a:xfrm>
            <a:off x="7225641" y="4254325"/>
            <a:ext cx="457200" cy="457200"/>
            <a:chOff x="1020916" y="1442088"/>
            <a:chExt cx="457200" cy="457200"/>
          </a:xfrm>
        </p:grpSpPr>
        <p:pic>
          <p:nvPicPr>
            <p:cNvPr id="910" name="Google Shape;910;p8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2" name="Google Shape;912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1783" y="4367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81"/>
          <p:cNvSpPr txBox="1"/>
          <p:nvPr>
            <p:ph idx="1" type="body"/>
          </p:nvPr>
        </p:nvSpPr>
        <p:spPr>
          <a:xfrm>
            <a:off x="5719233" y="1643425"/>
            <a:ext cx="3211500" cy="2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This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the very minimum.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82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Firefighters might enter the building to fight a blaze. They might be entering a large building which has lots of people in it to perform search and rescue during a fire. Before entering they each use a key formula.</a:t>
            </a:r>
            <a:endParaRPr/>
          </a:p>
        </p:txBody>
      </p:sp>
      <p:sp>
        <p:nvSpPr>
          <p:cNvPr id="919" name="Google Shape;91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920" name="Google Shape;920;p82" title="t equals one half b plu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908" y="2418400"/>
            <a:ext cx="2378845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2"/>
          <p:cNvSpPr txBox="1"/>
          <p:nvPr>
            <p:ph idx="1" type="body"/>
          </p:nvPr>
        </p:nvSpPr>
        <p:spPr>
          <a:xfrm>
            <a:off x="324000" y="4081501"/>
            <a:ext cx="38133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stands for </a:t>
            </a:r>
            <a:r>
              <a:rPr lang="en-GB"/>
              <a:t>estimated</a:t>
            </a:r>
            <a:r>
              <a:rPr lang="en-GB"/>
              <a:t> turn-around pressure.</a:t>
            </a:r>
            <a:endParaRPr/>
          </a:p>
        </p:txBody>
      </p:sp>
      <p:sp>
        <p:nvSpPr>
          <p:cNvPr id="922" name="Google Shape;922;p82"/>
          <p:cNvSpPr txBox="1"/>
          <p:nvPr>
            <p:ph idx="1" type="body"/>
          </p:nvPr>
        </p:nvSpPr>
        <p:spPr>
          <a:xfrm>
            <a:off x="4822444" y="4081492"/>
            <a:ext cx="34914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is the number of bar of pressure they enter with.</a:t>
            </a:r>
            <a:endParaRPr/>
          </a:p>
        </p:txBody>
      </p:sp>
      <p:cxnSp>
        <p:nvCxnSpPr>
          <p:cNvPr id="923" name="Google Shape;923;p82"/>
          <p:cNvCxnSpPr>
            <a:stCxn id="921" idx="0"/>
          </p:cNvCxnSpPr>
          <p:nvPr/>
        </p:nvCxnSpPr>
        <p:spPr>
          <a:xfrm flipH="1" rot="10800000">
            <a:off x="2230650" y="3207601"/>
            <a:ext cx="590100" cy="873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82"/>
          <p:cNvCxnSpPr/>
          <p:nvPr/>
        </p:nvCxnSpPr>
        <p:spPr>
          <a:xfrm rot="10800000">
            <a:off x="4394866" y="3207601"/>
            <a:ext cx="590100" cy="873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83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formula calculates when each firefighter must turn around and exit the burning building.</a:t>
            </a:r>
            <a:endParaRPr/>
          </a:p>
        </p:txBody>
      </p:sp>
      <p:sp>
        <p:nvSpPr>
          <p:cNvPr id="930" name="Google Shape;93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931" name="Google Shape;931;p83" title="t equals one half b plu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908" y="2418400"/>
            <a:ext cx="2378845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3"/>
          <p:cNvSpPr txBox="1"/>
          <p:nvPr>
            <p:ph idx="1" type="body"/>
          </p:nvPr>
        </p:nvSpPr>
        <p:spPr>
          <a:xfrm>
            <a:off x="324000" y="4081501"/>
            <a:ext cx="38133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/>
              <a:t> stands for estimated turn-around pressure.</a:t>
            </a:r>
            <a:endParaRPr/>
          </a:p>
        </p:txBody>
      </p:sp>
      <p:sp>
        <p:nvSpPr>
          <p:cNvPr id="933" name="Google Shape;933;p83"/>
          <p:cNvSpPr txBox="1"/>
          <p:nvPr>
            <p:ph idx="1" type="body"/>
          </p:nvPr>
        </p:nvSpPr>
        <p:spPr>
          <a:xfrm>
            <a:off x="4822444" y="4081492"/>
            <a:ext cx="34914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 is the number of bar of pressure they enter with.</a:t>
            </a:r>
            <a:endParaRPr/>
          </a:p>
        </p:txBody>
      </p:sp>
      <p:cxnSp>
        <p:nvCxnSpPr>
          <p:cNvPr id="934" name="Google Shape;934;p83"/>
          <p:cNvCxnSpPr>
            <a:stCxn id="932" idx="0"/>
          </p:cNvCxnSpPr>
          <p:nvPr/>
        </p:nvCxnSpPr>
        <p:spPr>
          <a:xfrm flipH="1" rot="10800000">
            <a:off x="2230650" y="3207601"/>
            <a:ext cx="590100" cy="873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83"/>
          <p:cNvCxnSpPr/>
          <p:nvPr/>
        </p:nvCxnSpPr>
        <p:spPr>
          <a:xfrm rot="10800000">
            <a:off x="4394866" y="3207601"/>
            <a:ext cx="590100" cy="873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83"/>
          <p:cNvSpPr txBox="1"/>
          <p:nvPr>
            <p:ph idx="1" type="body"/>
          </p:nvPr>
        </p:nvSpPr>
        <p:spPr>
          <a:xfrm>
            <a:off x="324000" y="1521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r>
              <a:rPr lang="en-GB"/>
              <a:t>, a</a:t>
            </a:r>
            <a:r>
              <a:rPr lang="en-GB"/>
              <a:t> firefighter entering with </a:t>
            </a:r>
            <a:r>
              <a:rPr lang="en-GB"/>
              <a:t>240 bar </a:t>
            </a:r>
            <a:r>
              <a:rPr lang="en-GB"/>
              <a:t>of pressure…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\left(240\right)+3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240&lt;/mn&gt;&lt;mo data-mjx-texclass=&quot;CLOSE&quot;&gt;)&lt;/mo&gt;&lt;/mrow&gt;&lt;mo&gt;+&lt;/mo&gt;&lt;mn&gt;30&lt;/mn&gt;&lt;/math&gt;" id="937" name="Google Shape;937;p83" title="t equals one half times 240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0466" y="2426521"/>
            <a:ext cx="3029945" cy="87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0\ =\ \frac{1}{2}\left(240\right)+30&quot;&gt;&lt;mn&gt;150&lt;/mn&gt;&lt;mtext&gt;&lt;/mtext&gt;&lt;mo&gt;=&lt;/mo&gt;&lt;mtext&gt;&lt;/mtext&gt;&lt;mfrac&gt;&lt;mn&gt;1&lt;/mn&gt;&lt;mn&gt;2&lt;/mn&gt;&lt;/mfrac&gt;&lt;mrow data-mjx-texclass=&quot;INNER&quot;&gt;&lt;mo data-mjx-texclass=&quot;OPEN&quot;&gt;(&lt;/mo&gt;&lt;mn&gt;240&lt;/mn&gt;&lt;mo data-mjx-texclass=&quot;CLOSE&quot;&gt;)&lt;/mo&gt;&lt;/mrow&gt;&lt;mo&gt;+&lt;/mo&gt;&lt;mn&gt;30&lt;/mn&gt;&lt;/math&gt;" id="938" name="Google Shape;938;p83" title="150 equals one half times 240 plus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0713" y="2428814"/>
            <a:ext cx="3491400" cy="87126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83"/>
          <p:cNvSpPr txBox="1"/>
          <p:nvPr>
            <p:ph idx="1" type="body"/>
          </p:nvPr>
        </p:nvSpPr>
        <p:spPr>
          <a:xfrm>
            <a:off x="324000" y="1978500"/>
            <a:ext cx="7989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…will turn around when their pressure gauge reads</a:t>
            </a:r>
            <a:r>
              <a:rPr lang="en-GB"/>
              <a:t> </a:t>
            </a:r>
            <a:r>
              <a:rPr lang="en-GB"/>
              <a:t>15</a:t>
            </a:r>
            <a:r>
              <a:rPr lang="en-GB"/>
              <a:t>0 bar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150\ =\ \frac{1}{2}\left(240\right)+30&quot;&gt;&lt;mn&gt;150&lt;/mn&gt;&lt;mtext&gt;&lt;/mtext&gt;&lt;mo&gt;=&lt;/mo&gt;&lt;mtext&gt;&lt;/mtext&gt;&lt;mfrac&gt;&lt;mn&gt;1&lt;/mn&gt;&lt;mn&gt;2&lt;/mn&gt;&lt;/mfrac&gt;&lt;mrow data-mjx-texclass=&quot;INNER&quot;&gt;&lt;mo data-mjx-texclass=&quot;OPEN&quot;&gt;(&lt;/mo&gt;&lt;mn&gt;240&lt;/mn&gt;&lt;mo data-mjx-texclass=&quot;CLOSE&quot;&gt;)&lt;/mo&gt;&lt;/mrow&gt;&lt;mo&gt;+&lt;/mo&gt;&lt;mn&gt;30&lt;/mn&gt;&lt;/math&gt;" id="944" name="Google Shape;944;p84" title="150 equals one half times 240 plu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713" y="2428814"/>
            <a:ext cx="3491400" cy="87126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formula calculates when each firefighter must turn around and exit the burning building.</a:t>
            </a:r>
            <a:endParaRPr/>
          </a:p>
        </p:txBody>
      </p:sp>
      <p:sp>
        <p:nvSpPr>
          <p:cNvPr id="946" name="Google Shape;94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947" name="Google Shape;947;p84"/>
          <p:cNvSpPr txBox="1"/>
          <p:nvPr>
            <p:ph idx="1" type="body"/>
          </p:nvPr>
        </p:nvSpPr>
        <p:spPr>
          <a:xfrm>
            <a:off x="324000" y="1521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Example, a firefighter entering with </a:t>
            </a:r>
            <a:r>
              <a:rPr lang="en-GB"/>
              <a:t>240 bar </a:t>
            </a:r>
            <a:r>
              <a:rPr lang="en-GB"/>
              <a:t>of pressure…</a:t>
            </a:r>
            <a:endParaRPr/>
          </a:p>
        </p:txBody>
      </p:sp>
      <p:sp>
        <p:nvSpPr>
          <p:cNvPr id="948" name="Google Shape;948;p84"/>
          <p:cNvSpPr txBox="1"/>
          <p:nvPr>
            <p:ph idx="1" type="body"/>
          </p:nvPr>
        </p:nvSpPr>
        <p:spPr>
          <a:xfrm>
            <a:off x="324000" y="1978500"/>
            <a:ext cx="7989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…will turn around when their pressure gauge reads </a:t>
            </a:r>
            <a:r>
              <a:rPr lang="en-GB"/>
              <a:t>150 bar</a:t>
            </a:r>
            <a:endParaRPr/>
          </a:p>
        </p:txBody>
      </p:sp>
      <p:sp>
        <p:nvSpPr>
          <p:cNvPr id="949" name="Google Shape;949;p84"/>
          <p:cNvSpPr txBox="1"/>
          <p:nvPr>
            <p:ph idx="1" type="body"/>
          </p:nvPr>
        </p:nvSpPr>
        <p:spPr>
          <a:xfrm>
            <a:off x="324000" y="3365400"/>
            <a:ext cx="7989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150 bar</a:t>
            </a:r>
            <a:r>
              <a:rPr lang="en-GB"/>
              <a:t> might sound like a lot of remaining pressure but the firefighter might be deep inside the building and may use a lot of air making their way out. They might even be carrying someone!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955" name="Google Shape;955;p85" title="t equals one half b plu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307" y="1351600"/>
            <a:ext cx="2015430" cy="76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5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At what </a:t>
            </a:r>
            <a:r>
              <a:rPr lang="en-GB" sz="2100"/>
              <a:t>bar</a:t>
            </a:r>
            <a:r>
              <a:rPr lang="en-GB" sz="2100"/>
              <a:t> will a</a:t>
            </a:r>
            <a:r>
              <a:rPr lang="en-GB" sz="2100"/>
              <a:t> firefighter entering with </a:t>
            </a:r>
            <a:r>
              <a:rPr lang="en-GB" sz="2100"/>
              <a:t>290 bar </a:t>
            </a:r>
            <a:r>
              <a:rPr lang="en-GB" sz="2100"/>
              <a:t>turn around?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t\ =\ \frac{1}{2}\left(290\right)+3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290&lt;/mn&gt;&lt;mo data-mjx-texclass=&quot;CLOSE&quot;&gt;)&lt;/mo&gt;&lt;/mrow&gt;&lt;mo&gt;+&lt;/mo&gt;&lt;mn&gt;30&lt;/mn&gt;&lt;/math&gt;" id="957" name="Google Shape;957;p85" title="t equals one half times 290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8" y="2383161"/>
            <a:ext cx="2637269" cy="760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75\ =\ \frac{1}{2}\left(290\right)+30&quot;&gt;&lt;mn&gt;175&lt;/mn&gt;&lt;mtext&gt;&lt;/mtext&gt;&lt;mo&gt;=&lt;/mo&gt;&lt;mtext&gt;&lt;/mtext&gt;&lt;mfrac&gt;&lt;mn&gt;1&lt;/mn&gt;&lt;mn&gt;2&lt;/mn&gt;&lt;/mfrac&gt;&lt;mrow data-mjx-texclass=&quot;INNER&quot;&gt;&lt;mo data-mjx-texclass=&quot;OPEN&quot;&gt;(&lt;/mo&gt;&lt;mn&gt;290&lt;/mn&gt;&lt;mo data-mjx-texclass=&quot;CLOSE&quot;&gt;)&lt;/mo&gt;&lt;/mrow&gt;&lt;mo&gt;+&lt;/mo&gt;&lt;mn&gt;30&lt;/mn&gt;&lt;/math&gt;" id="958" name="Google Shape;958;p85" title="175 equals one half times 290 plus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76" y="3411484"/>
            <a:ext cx="3048130" cy="76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5"/>
          <p:cNvSpPr txBox="1"/>
          <p:nvPr>
            <p:ph idx="1" type="body"/>
          </p:nvPr>
        </p:nvSpPr>
        <p:spPr>
          <a:xfrm>
            <a:off x="4303200" y="3519434"/>
            <a:ext cx="4516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will turn around and start to exit when their gauge reads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175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429251" y="1684042"/>
            <a:ext cx="4731725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966" name="Google Shape;966;p86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07" y="1732600"/>
            <a:ext cx="2015430" cy="76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86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is calculating the estimated turn-around point of</a:t>
            </a:r>
            <a:r>
              <a:rPr lang="en-GB"/>
              <a:t> a firefighter entering a building with </a:t>
            </a:r>
            <a:r>
              <a:rPr lang="en-GB"/>
              <a:t>260 bar</a:t>
            </a:r>
            <a:endParaRPr/>
          </a:p>
        </p:txBody>
      </p:sp>
      <p:pic>
        <p:nvPicPr>
          <p:cNvPr id="968" name="Google Shape;96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00860" y="3097104"/>
            <a:ext cx="1025300" cy="1150901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600600" y="1749900"/>
            <a:ext cx="4177800" cy="11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260 + 30 = 290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Half that is 145 so they will turn around after 145 minutes.</a:t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35025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 has made at least one error. Spot his errors and explain how he should correct them.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429251" y="1684042"/>
            <a:ext cx="4731725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977" name="Google Shape;977;p87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07" y="1732600"/>
            <a:ext cx="2015430" cy="76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87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Lucas is calculating the estimated turn-around point of a firefighter entering a building with 260 bar</a:t>
            </a:r>
            <a:endParaRPr/>
          </a:p>
        </p:txBody>
      </p:sp>
      <p:sp>
        <p:nvSpPr>
          <p:cNvPr id="979" name="Google Shape;979;p87"/>
          <p:cNvSpPr txBox="1"/>
          <p:nvPr>
            <p:ph idx="1" type="body"/>
          </p:nvPr>
        </p:nvSpPr>
        <p:spPr>
          <a:xfrm>
            <a:off x="324000" y="3504131"/>
            <a:ext cx="6752400" cy="10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might have said, “Lucas has failed to apply priority of operations. The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260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bar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/>
              <a:t>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hould be multiplied by half before the +30 is applied”.</a:t>
            </a:r>
            <a:endParaRPr/>
          </a:p>
        </p:txBody>
      </p:sp>
      <p:pic>
        <p:nvPicPr>
          <p:cNvPr id="980" name="Google Shape;980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00860" y="3097104"/>
            <a:ext cx="1025300" cy="1150901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7"/>
          <p:cNvSpPr txBox="1"/>
          <p:nvPr>
            <p:ph idx="1" type="body"/>
          </p:nvPr>
        </p:nvSpPr>
        <p:spPr>
          <a:xfrm>
            <a:off x="3600600" y="1749900"/>
            <a:ext cx="4177800" cy="11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260 + 30 = 290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Half that is 145 so they will turn around after 145 minutes.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8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429251" y="1684042"/>
            <a:ext cx="4731725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988" name="Google Shape;988;p88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07" y="1732600"/>
            <a:ext cx="2015430" cy="76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Lucas is calculating the estimated turn-around point of a firefighter entering a building with 260 bar</a:t>
            </a:r>
            <a:endParaRPr/>
          </a:p>
        </p:txBody>
      </p:sp>
      <p:sp>
        <p:nvSpPr>
          <p:cNvPr id="990" name="Google Shape;990;p88"/>
          <p:cNvSpPr txBox="1"/>
          <p:nvPr>
            <p:ph idx="1" type="body"/>
          </p:nvPr>
        </p:nvSpPr>
        <p:spPr>
          <a:xfrm>
            <a:off x="324000" y="3504125"/>
            <a:ext cx="7334100" cy="10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might have said, “Lucas has used incorrect units in his answer. The turn around is in units of pressure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(bar)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remaining. It is not a unit of time spent inside the building”.</a:t>
            </a:r>
            <a:endParaRPr/>
          </a:p>
        </p:txBody>
      </p:sp>
      <p:pic>
        <p:nvPicPr>
          <p:cNvPr id="991" name="Google Shape;991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00860" y="3097104"/>
            <a:ext cx="1025300" cy="1150901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88"/>
          <p:cNvSpPr txBox="1"/>
          <p:nvPr>
            <p:ph idx="1" type="body"/>
          </p:nvPr>
        </p:nvSpPr>
        <p:spPr>
          <a:xfrm>
            <a:off x="3600600" y="1749900"/>
            <a:ext cx="4177800" cy="11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260 + 30 = 290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Half that is 145 so they will turn around after 145 minutes.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9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Firefighting is not the only e</a:t>
            </a:r>
            <a:r>
              <a:rPr lang="en-GB"/>
              <a:t>mergency response career to use </a:t>
            </a:r>
            <a:r>
              <a:rPr lang="en-GB"/>
              <a:t>formulas</a:t>
            </a:r>
            <a:r>
              <a:rPr lang="en-GB"/>
              <a:t>.</a:t>
            </a:r>
            <a:endParaRPr/>
          </a:p>
        </p:txBody>
      </p:sp>
      <p:sp>
        <p:nvSpPr>
          <p:cNvPr id="998" name="Google Shape;99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999" name="Google Shape;999;p89"/>
          <p:cNvSpPr txBox="1"/>
          <p:nvPr>
            <p:ph idx="1" type="body"/>
          </p:nvPr>
        </p:nvSpPr>
        <p:spPr>
          <a:xfrm>
            <a:off x="324000" y="1597500"/>
            <a:ext cx="8496000" cy="6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Accident investigators in the police force can use a formula at the scene of an accident to calculate the speed at which a vehicle was travelling</a:t>
            </a:r>
            <a:r>
              <a:rPr lang="en-GB"/>
              <a:t>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000" name="Google Shape;1000;p89" title="s equals the square root of 30 d 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025" y="2822700"/>
            <a:ext cx="1742050" cy="46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9"/>
          <p:cNvSpPr txBox="1"/>
          <p:nvPr>
            <p:ph idx="1" type="body"/>
          </p:nvPr>
        </p:nvSpPr>
        <p:spPr>
          <a:xfrm>
            <a:off x="324001" y="4081500"/>
            <a:ext cx="29289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000"/>
              <a:t> is the speed the car was travelling (in mph)</a:t>
            </a:r>
            <a:endParaRPr sz="2000"/>
          </a:p>
        </p:txBody>
      </p:sp>
      <p:sp>
        <p:nvSpPr>
          <p:cNvPr id="1002" name="Google Shape;1002;p89"/>
          <p:cNvSpPr txBox="1"/>
          <p:nvPr>
            <p:ph idx="1" type="body"/>
          </p:nvPr>
        </p:nvSpPr>
        <p:spPr>
          <a:xfrm>
            <a:off x="3374300" y="4081500"/>
            <a:ext cx="26262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is the distance the car skidded (in feet)</a:t>
            </a:r>
            <a:endParaRPr sz="2000"/>
          </a:p>
        </p:txBody>
      </p:sp>
      <p:cxnSp>
        <p:nvCxnSpPr>
          <p:cNvPr id="1003" name="Google Shape;1003;p89"/>
          <p:cNvCxnSpPr/>
          <p:nvPr/>
        </p:nvCxnSpPr>
        <p:spPr>
          <a:xfrm flipH="1" rot="10800000">
            <a:off x="2472261" y="3208150"/>
            <a:ext cx="1086300" cy="810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4" name="Google Shape;1004;p89"/>
          <p:cNvCxnSpPr>
            <a:stCxn id="1002" idx="0"/>
          </p:cNvCxnSpPr>
          <p:nvPr/>
        </p:nvCxnSpPr>
        <p:spPr>
          <a:xfrm flipH="1" rot="10800000">
            <a:off x="4687400" y="3207900"/>
            <a:ext cx="323100" cy="87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5" name="Google Shape;1005;p89"/>
          <p:cNvSpPr txBox="1"/>
          <p:nvPr>
            <p:ph idx="1" type="body"/>
          </p:nvPr>
        </p:nvSpPr>
        <p:spPr>
          <a:xfrm>
            <a:off x="6300524" y="4081500"/>
            <a:ext cx="23961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/>
              <a:t> is the ‘coefficient of friction’</a:t>
            </a:r>
            <a:endParaRPr sz="2000"/>
          </a:p>
        </p:txBody>
      </p:sp>
      <p:cxnSp>
        <p:nvCxnSpPr>
          <p:cNvPr id="1006" name="Google Shape;1006;p89"/>
          <p:cNvCxnSpPr/>
          <p:nvPr/>
        </p:nvCxnSpPr>
        <p:spPr>
          <a:xfrm rot="10800000">
            <a:off x="5370978" y="3253500"/>
            <a:ext cx="1046400" cy="828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0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/>
              <a:t>, the ‘coefficient of friction’, is the friction between the tyres and the road. This number differs by condition and type of surface.</a:t>
            </a:r>
            <a:endParaRPr/>
          </a:p>
        </p:txBody>
      </p:sp>
      <p:sp>
        <p:nvSpPr>
          <p:cNvPr id="1012" name="Google Shape;101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013" name="Google Shape;1013;p90" title="s equals the square root of 30 d 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025" y="2822700"/>
            <a:ext cx="1742050" cy="46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90"/>
          <p:cNvSpPr txBox="1"/>
          <p:nvPr>
            <p:ph idx="1" type="body"/>
          </p:nvPr>
        </p:nvSpPr>
        <p:spPr>
          <a:xfrm>
            <a:off x="324000" y="759300"/>
            <a:ext cx="84960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/>
              <a:t>, the ‘coefficient of friction’, is the friction between the tyres and the road. This number differs by condition and type of surface. For example, on a dry concrete surface the coefficient of friction is </a:t>
            </a:r>
            <a:r>
              <a:rPr lang="en-GB"/>
              <a:t>0.8</a:t>
            </a:r>
            <a:r>
              <a:rPr lang="en-GB"/>
              <a:t> whereas on a wet concrete surface the coefficient of friction is </a:t>
            </a:r>
            <a:r>
              <a:rPr lang="en-GB"/>
              <a:t>0.4</a:t>
            </a:r>
            <a:endParaRPr/>
          </a:p>
        </p:txBody>
      </p:sp>
      <p:sp>
        <p:nvSpPr>
          <p:cNvPr id="1015" name="Google Shape;1015;p90"/>
          <p:cNvSpPr txBox="1"/>
          <p:nvPr>
            <p:ph idx="1" type="body"/>
          </p:nvPr>
        </p:nvSpPr>
        <p:spPr>
          <a:xfrm>
            <a:off x="324001" y="4081500"/>
            <a:ext cx="29289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000"/>
              <a:t> is the speed the car was travelling (in mph)</a:t>
            </a:r>
            <a:endParaRPr sz="2000"/>
          </a:p>
        </p:txBody>
      </p:sp>
      <p:sp>
        <p:nvSpPr>
          <p:cNvPr id="1016" name="Google Shape;1016;p90"/>
          <p:cNvSpPr txBox="1"/>
          <p:nvPr>
            <p:ph idx="1" type="body"/>
          </p:nvPr>
        </p:nvSpPr>
        <p:spPr>
          <a:xfrm>
            <a:off x="3374300" y="4081500"/>
            <a:ext cx="26262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 is the distance the car skidded (in feet)</a:t>
            </a:r>
            <a:endParaRPr sz="2000"/>
          </a:p>
        </p:txBody>
      </p:sp>
      <p:cxnSp>
        <p:nvCxnSpPr>
          <p:cNvPr id="1017" name="Google Shape;1017;p90"/>
          <p:cNvCxnSpPr/>
          <p:nvPr/>
        </p:nvCxnSpPr>
        <p:spPr>
          <a:xfrm flipH="1" rot="10800000">
            <a:off x="2472261" y="3208150"/>
            <a:ext cx="1086300" cy="810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90"/>
          <p:cNvCxnSpPr>
            <a:stCxn id="1016" idx="0"/>
          </p:cNvCxnSpPr>
          <p:nvPr/>
        </p:nvCxnSpPr>
        <p:spPr>
          <a:xfrm flipH="1" rot="10800000">
            <a:off x="4687400" y="3207900"/>
            <a:ext cx="323100" cy="873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9" name="Google Shape;1019;p90"/>
          <p:cNvSpPr txBox="1"/>
          <p:nvPr>
            <p:ph idx="1" type="body"/>
          </p:nvPr>
        </p:nvSpPr>
        <p:spPr>
          <a:xfrm>
            <a:off x="6300524" y="4081500"/>
            <a:ext cx="23961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000"/>
              <a:t> is the ‘coefficient of friction’</a:t>
            </a:r>
            <a:endParaRPr sz="2000"/>
          </a:p>
        </p:txBody>
      </p:sp>
      <p:cxnSp>
        <p:nvCxnSpPr>
          <p:cNvPr id="1020" name="Google Shape;1020;p90"/>
          <p:cNvCxnSpPr/>
          <p:nvPr/>
        </p:nvCxnSpPr>
        <p:spPr>
          <a:xfrm rot="10800000">
            <a:off x="5370978" y="3253500"/>
            <a:ext cx="1046400" cy="828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91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police officer measures these skid marks at the scene of an accident on a concrete road on a dry day.</a:t>
            </a:r>
            <a:endParaRPr/>
          </a:p>
        </p:txBody>
      </p:sp>
      <p:sp>
        <p:nvSpPr>
          <p:cNvPr id="1026" name="Google Shape;10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027" name="Google Shape;1027;p91" title="s equals the square root of 30 d 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50" y="3571300"/>
            <a:ext cx="1494050" cy="39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0782" y="1494732"/>
            <a:ext cx="129533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188" y="1494732"/>
            <a:ext cx="1295331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0" name="Google Shape;1030;p91"/>
          <p:cNvCxnSpPr/>
          <p:nvPr/>
        </p:nvCxnSpPr>
        <p:spPr>
          <a:xfrm>
            <a:off x="2720050" y="214415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91"/>
          <p:cNvCxnSpPr/>
          <p:nvPr/>
        </p:nvCxnSpPr>
        <p:spPr>
          <a:xfrm>
            <a:off x="6821475" y="214415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91"/>
          <p:cNvCxnSpPr/>
          <p:nvPr/>
        </p:nvCxnSpPr>
        <p:spPr>
          <a:xfrm>
            <a:off x="2749993" y="2353333"/>
            <a:ext cx="404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3" name="Google Shape;1033;p91"/>
          <p:cNvSpPr/>
          <p:nvPr/>
        </p:nvSpPr>
        <p:spPr>
          <a:xfrm flipH="1" rot="10800000">
            <a:off x="2720250" y="2093305"/>
            <a:ext cx="4101255" cy="103900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4" name="Google Shape;1034;p91"/>
          <p:cNvSpPr txBox="1"/>
          <p:nvPr>
            <p:ph idx="1" type="body"/>
          </p:nvPr>
        </p:nvSpPr>
        <p:spPr>
          <a:xfrm>
            <a:off x="4209888" y="2387550"/>
            <a:ext cx="110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120 feet</a:t>
            </a:r>
            <a:endParaRPr/>
          </a:p>
        </p:txBody>
      </p:sp>
      <p:sp>
        <p:nvSpPr>
          <p:cNvPr id="1035" name="Google Shape;1035;p91"/>
          <p:cNvSpPr txBox="1"/>
          <p:nvPr>
            <p:ph idx="1" type="body"/>
          </p:nvPr>
        </p:nvSpPr>
        <p:spPr>
          <a:xfrm>
            <a:off x="322133" y="4054711"/>
            <a:ext cx="9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/>
          </a:p>
        </p:txBody>
      </p:sp>
      <p:sp>
        <p:nvSpPr>
          <p:cNvPr id="1036" name="Google Shape;1036;p91"/>
          <p:cNvSpPr txBox="1"/>
          <p:nvPr>
            <p:ph idx="1" type="body"/>
          </p:nvPr>
        </p:nvSpPr>
        <p:spPr>
          <a:xfrm>
            <a:off x="322140" y="4498525"/>
            <a:ext cx="809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endParaRPr/>
          </a:p>
        </p:txBody>
      </p:sp>
      <p:pic>
        <p:nvPicPr>
          <p:cNvPr id="1037" name="Google Shape;103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1400" y="2803000"/>
            <a:ext cx="2745400" cy="145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91"/>
          <p:cNvSpPr txBox="1"/>
          <p:nvPr>
            <p:ph idx="1" type="body"/>
          </p:nvPr>
        </p:nvSpPr>
        <p:spPr>
          <a:xfrm>
            <a:off x="324000" y="2767289"/>
            <a:ext cx="5747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By substituting into the formula they can calculate how fast the car was travelling.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\left(120\right)\left(0.8\right)}&quot;&gt;&lt;mi&gt;s&lt;/mi&gt;&lt;mo&gt;=&lt;/mo&gt;&lt;msqrt&gt;&lt;mn&gt;30&lt;/mn&gt;&lt;mrow data-mjx-texclass=&quot;INNER&quot;&gt;&lt;mo data-mjx-texclass=&quot;OPEN&quot;&gt;(&lt;/mo&gt;&lt;mn&gt;120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/math&gt;" id="1039" name="Google Shape;1039;p91" title="s equals the square root of 30 times 120 times 0.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3991" y="3567096"/>
            <a:ext cx="2553839" cy="3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>
            <p:ph idx="1" type="body"/>
          </p:nvPr>
        </p:nvSpPr>
        <p:spPr>
          <a:xfrm>
            <a:off x="2899576" y="4068095"/>
            <a:ext cx="2944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53.7 mph (to 1 d.p.)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2"/>
          <p:cNvSpPr txBox="1"/>
          <p:nvPr>
            <p:ph idx="1" type="body"/>
          </p:nvPr>
        </p:nvSpPr>
        <p:spPr>
          <a:xfrm>
            <a:off x="324000" y="759300"/>
            <a:ext cx="8492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police officer measures these skid marks at the scene of an accident on a concrete road on a wet day.</a:t>
            </a:r>
            <a:endParaRPr/>
          </a:p>
        </p:txBody>
      </p:sp>
      <p:sp>
        <p:nvSpPr>
          <p:cNvPr id="1046" name="Google Shape;104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id="1047" name="Google Shape;104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393" y="1534916"/>
            <a:ext cx="129533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798" y="1534916"/>
            <a:ext cx="1295331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9" name="Google Shape;1049;p92"/>
          <p:cNvCxnSpPr/>
          <p:nvPr/>
        </p:nvCxnSpPr>
        <p:spPr>
          <a:xfrm>
            <a:off x="1702661" y="218433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92"/>
          <p:cNvCxnSpPr/>
          <p:nvPr/>
        </p:nvCxnSpPr>
        <p:spPr>
          <a:xfrm>
            <a:off x="5053986" y="218433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92"/>
          <p:cNvCxnSpPr/>
          <p:nvPr/>
        </p:nvCxnSpPr>
        <p:spPr>
          <a:xfrm>
            <a:off x="1727128" y="2393518"/>
            <a:ext cx="3302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2" name="Google Shape;1052;p92"/>
          <p:cNvSpPr/>
          <p:nvPr/>
        </p:nvSpPr>
        <p:spPr>
          <a:xfrm flipH="1" rot="10800000">
            <a:off x="1702824" y="2133487"/>
            <a:ext cx="3351042" cy="103900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3" name="Google Shape;1053;p92"/>
          <p:cNvSpPr txBox="1"/>
          <p:nvPr>
            <p:ph idx="1" type="body"/>
          </p:nvPr>
        </p:nvSpPr>
        <p:spPr>
          <a:xfrm>
            <a:off x="2918262" y="2387550"/>
            <a:ext cx="928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97</a:t>
            </a:r>
            <a:r>
              <a:rPr lang="en-GB"/>
              <a:t> feet</a:t>
            </a:r>
            <a:endParaRPr sz="2000"/>
          </a:p>
        </p:txBody>
      </p:sp>
      <p:sp>
        <p:nvSpPr>
          <p:cNvPr id="1054" name="Google Shape;1054;p92"/>
          <p:cNvSpPr txBox="1"/>
          <p:nvPr>
            <p:ph idx="1" type="body"/>
          </p:nvPr>
        </p:nvSpPr>
        <p:spPr>
          <a:xfrm>
            <a:off x="324000" y="2767300"/>
            <a:ext cx="84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Was the car exceeding the </a:t>
            </a:r>
            <a:r>
              <a:rPr lang="en-GB"/>
              <a:t>30 mph</a:t>
            </a:r>
            <a:r>
              <a:rPr lang="en-GB"/>
              <a:t> speed limit</a:t>
            </a:r>
            <a:r>
              <a:rPr lang="en-GB"/>
              <a:t>?</a:t>
            </a:r>
            <a:endParaRPr/>
          </a:p>
        </p:txBody>
      </p:sp>
      <p:sp>
        <p:nvSpPr>
          <p:cNvPr id="1055" name="Google Shape;1055;p92"/>
          <p:cNvSpPr txBox="1"/>
          <p:nvPr>
            <p:ph idx="1" type="body"/>
          </p:nvPr>
        </p:nvSpPr>
        <p:spPr>
          <a:xfrm>
            <a:off x="324000" y="4526170"/>
            <a:ext cx="84960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</a:t>
            </a:r>
            <a:r>
              <a:rPr lang="en-GB"/>
              <a:t>he coefficient of friction </a:t>
            </a:r>
            <a:r>
              <a:rPr lang="en-GB"/>
              <a:t>on a wet concrete surface is </a:t>
            </a:r>
            <a:r>
              <a:rPr lang="en-GB"/>
              <a:t>0.4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056" name="Google Shape;1056;p92" title="s equals the square root of 30 d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50" y="3239711"/>
            <a:ext cx="1494050" cy="397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s=\sqrt{30\left(97\right)\left(0.4\right)}&quot;&gt;&lt;mi&gt;s&lt;/mi&gt;&lt;mo&gt;=&lt;/mo&gt;&lt;msqrt&gt;&lt;mn&gt;30&lt;/mn&gt;&lt;mrow data-mjx-texclass=&quot;INNER&quot;&gt;&lt;mo data-mjx-texclass=&quot;OPEN&quot;&gt;(&lt;/mo&gt;&lt;mn&gt;97&lt;/mn&gt;&lt;mo data-mjx-texclass=&quot;CLOSE&quot;&gt;)&lt;/mo&gt;&lt;/mrow&gt;&lt;mrow data-mjx-texclass=&quot;INNER&quot;&gt;&lt;mo data-mjx-texclass=&quot;OPEN&quot;&gt;(&lt;/mo&gt;&lt;mn&gt;0.4&lt;/mn&gt;&lt;mo data-mjx-texclass=&quot;CLOSE&quot;&gt;)&lt;/mo&gt;&lt;/mrow&gt;&lt;/msqrt&gt;&lt;/math&gt;" id="1061" name="Google Shape;1061;p93" title="s equals the square root of 30 times 97 times 0.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491" y="3200617"/>
            <a:ext cx="2392881" cy="3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3"/>
          <p:cNvSpPr txBox="1"/>
          <p:nvPr>
            <p:ph idx="1" type="body"/>
          </p:nvPr>
        </p:nvSpPr>
        <p:spPr>
          <a:xfrm>
            <a:off x="326588" y="723150"/>
            <a:ext cx="8492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police officer measures these skid marks at the scene of an accident on a concrete road on a wet day.</a:t>
            </a:r>
            <a:endParaRPr/>
          </a:p>
        </p:txBody>
      </p:sp>
      <p:sp>
        <p:nvSpPr>
          <p:cNvPr id="1063" name="Google Shape;106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064" name="Google Shape;1064;p93" title="s equals the square root of 30 d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838" y="3203561"/>
            <a:ext cx="1494050" cy="39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981" y="1498766"/>
            <a:ext cx="129533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5386" y="1498766"/>
            <a:ext cx="1295331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7" name="Google Shape;1067;p93"/>
          <p:cNvCxnSpPr/>
          <p:nvPr/>
        </p:nvCxnSpPr>
        <p:spPr>
          <a:xfrm>
            <a:off x="1705248" y="214818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93"/>
          <p:cNvCxnSpPr/>
          <p:nvPr/>
        </p:nvCxnSpPr>
        <p:spPr>
          <a:xfrm>
            <a:off x="5056574" y="214818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93"/>
          <p:cNvCxnSpPr/>
          <p:nvPr/>
        </p:nvCxnSpPr>
        <p:spPr>
          <a:xfrm>
            <a:off x="1729715" y="2357368"/>
            <a:ext cx="3302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0" name="Google Shape;1070;p93"/>
          <p:cNvSpPr/>
          <p:nvPr/>
        </p:nvSpPr>
        <p:spPr>
          <a:xfrm flipH="1" rot="10800000">
            <a:off x="1705412" y="2097337"/>
            <a:ext cx="3351042" cy="103900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1" name="Google Shape;1071;p93"/>
          <p:cNvSpPr txBox="1"/>
          <p:nvPr>
            <p:ph idx="1" type="body"/>
          </p:nvPr>
        </p:nvSpPr>
        <p:spPr>
          <a:xfrm>
            <a:off x="324720" y="3637561"/>
            <a:ext cx="9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 = 97</a:t>
            </a:r>
            <a:endParaRPr/>
          </a:p>
        </p:txBody>
      </p:sp>
      <p:sp>
        <p:nvSpPr>
          <p:cNvPr id="1072" name="Google Shape;1072;p93"/>
          <p:cNvSpPr txBox="1"/>
          <p:nvPr>
            <p:ph idx="1" type="body"/>
          </p:nvPr>
        </p:nvSpPr>
        <p:spPr>
          <a:xfrm>
            <a:off x="324728" y="4081375"/>
            <a:ext cx="809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f = 0.4</a:t>
            </a:r>
            <a:endParaRPr/>
          </a:p>
        </p:txBody>
      </p:sp>
      <p:sp>
        <p:nvSpPr>
          <p:cNvPr id="1073" name="Google Shape;1073;p93"/>
          <p:cNvSpPr txBox="1"/>
          <p:nvPr>
            <p:ph idx="1" type="body"/>
          </p:nvPr>
        </p:nvSpPr>
        <p:spPr>
          <a:xfrm>
            <a:off x="326588" y="2731150"/>
            <a:ext cx="84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Was the car exceeding the</a:t>
            </a:r>
            <a:r>
              <a:rPr lang="en-GB"/>
              <a:t> 30 mph </a:t>
            </a:r>
            <a:r>
              <a:rPr lang="en-GB"/>
              <a:t>speed limit?</a:t>
            </a:r>
            <a:endParaRPr/>
          </a:p>
        </p:txBody>
      </p:sp>
      <p:sp>
        <p:nvSpPr>
          <p:cNvPr id="1074" name="Google Shape;1074;p93"/>
          <p:cNvSpPr txBox="1"/>
          <p:nvPr>
            <p:ph idx="1" type="body"/>
          </p:nvPr>
        </p:nvSpPr>
        <p:spPr>
          <a:xfrm>
            <a:off x="2444963" y="3650945"/>
            <a:ext cx="2944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 = 34.1 mph (to 1 d.p.)</a:t>
            </a:r>
            <a:endParaRPr/>
          </a:p>
        </p:txBody>
      </p:sp>
      <p:sp>
        <p:nvSpPr>
          <p:cNvPr id="1075" name="Google Shape;1075;p93"/>
          <p:cNvSpPr txBox="1"/>
          <p:nvPr>
            <p:ph idx="1" type="body"/>
          </p:nvPr>
        </p:nvSpPr>
        <p:spPr>
          <a:xfrm>
            <a:off x="326588" y="4490025"/>
            <a:ext cx="56403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the car was exceeding the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30 mph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limit.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76" name="Google Shape;1076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9621" y="3088039"/>
            <a:ext cx="2701761" cy="145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>
            <p:ph idx="1" type="body"/>
          </p:nvPr>
        </p:nvSpPr>
        <p:spPr>
          <a:xfrm>
            <a:off x="2920850" y="2351400"/>
            <a:ext cx="928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97 feet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94"/>
          <p:cNvSpPr txBox="1"/>
          <p:nvPr>
            <p:ph idx="1" type="body"/>
          </p:nvPr>
        </p:nvSpPr>
        <p:spPr>
          <a:xfrm>
            <a:off x="324000" y="759300"/>
            <a:ext cx="8496000" cy="6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a) A firefighter enters the building with their gauge reading like so. At what bar should they turn around and start exiting?</a:t>
            </a:r>
            <a:endParaRPr/>
          </a:p>
        </p:txBody>
      </p:sp>
      <p:sp>
        <p:nvSpPr>
          <p:cNvPr id="1083" name="Google Shape;1083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1084" name="Google Shape;1084;p94"/>
          <p:cNvSpPr txBox="1"/>
          <p:nvPr>
            <p:ph idx="1" type="body"/>
          </p:nvPr>
        </p:nvSpPr>
        <p:spPr>
          <a:xfrm>
            <a:off x="324000" y="3704295"/>
            <a:ext cx="7676100" cy="11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A firefighter has an estimated t</a:t>
            </a:r>
            <a:r>
              <a:rPr lang="en-GB"/>
              <a:t>urn-around pressure of </a:t>
            </a:r>
            <a:r>
              <a:rPr lang="en-GB"/>
              <a:t>160 bar. How many bar of pressur</a:t>
            </a:r>
            <a:r>
              <a:rPr lang="en-GB"/>
              <a:t>e did they have when they entered?</a:t>
            </a:r>
            <a:endParaRPr/>
          </a:p>
        </p:txBody>
      </p:sp>
      <p:pic>
        <p:nvPicPr>
          <p:cNvPr id="1085" name="Google Shape;108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70" y="1600200"/>
            <a:ext cx="2111050" cy="1845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086" name="Google Shape;1086;p94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301" y="1643005"/>
            <a:ext cx="1769409" cy="6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95"/>
          <p:cNvSpPr txBox="1"/>
          <p:nvPr>
            <p:ph idx="1" type="body"/>
          </p:nvPr>
        </p:nvSpPr>
        <p:spPr>
          <a:xfrm>
            <a:off x="324000" y="759300"/>
            <a:ext cx="8496000" cy="6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c) </a:t>
            </a:r>
            <a:r>
              <a:rPr lang="en-GB"/>
              <a:t>What is the difference in turn-around pressures between entering with 240 bar and </a:t>
            </a:r>
            <a:r>
              <a:rPr lang="en-GB"/>
              <a:t>entering</a:t>
            </a:r>
            <a:r>
              <a:rPr lang="en-GB"/>
              <a:t> with </a:t>
            </a:r>
            <a:r>
              <a:rPr lang="en-GB"/>
              <a:t>30</a:t>
            </a:r>
            <a:r>
              <a:rPr lang="en-GB"/>
              <a:t>0 bar</a:t>
            </a:r>
            <a:r>
              <a:rPr lang="en-GB"/>
              <a:t>?</a:t>
            </a:r>
            <a:endParaRPr/>
          </a:p>
        </p:txBody>
      </p:sp>
      <p:sp>
        <p:nvSpPr>
          <p:cNvPr id="1092" name="Google Shape;1092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1093" name="Google Shape;1093;p95"/>
          <p:cNvSpPr txBox="1"/>
          <p:nvPr>
            <p:ph idx="1" type="body"/>
          </p:nvPr>
        </p:nvSpPr>
        <p:spPr>
          <a:xfrm>
            <a:off x="324000" y="3578700"/>
            <a:ext cx="84960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d) </a:t>
            </a:r>
            <a:r>
              <a:rPr lang="en-GB"/>
              <a:t>Why do you think the formula includes </a:t>
            </a:r>
            <a:r>
              <a:rPr lang="en-GB"/>
              <a:t>+ 30</a:t>
            </a:r>
            <a:r>
              <a:rPr lang="en-GB"/>
              <a:t> instead of just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094" name="Google Shape;1094;p95" title="t equals one half b plu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95" y="1643005"/>
            <a:ext cx="1769409" cy="6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t\ =\ \frac{1}{2}b&quot;&gt;&lt;mi&gt;t&lt;/mi&gt;&lt;mtext&gt;&lt;/mtext&gt;&lt;mo&gt;=&lt;/mo&gt;&lt;mtext&gt;&lt;/mtext&gt;&lt;mfrac&gt;&lt;mn&gt;1&lt;/mn&gt;&lt;mn&gt;2&lt;/mn&gt;&lt;/mfrac&gt;&lt;mi&gt;b&lt;/mi&gt;&lt;/math&gt;" id="1095" name="Google Shape;1095;p95" title="t equals one half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3893" y="3936760"/>
            <a:ext cx="1077240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>
            <p:ph idx="1" type="body"/>
          </p:nvPr>
        </p:nvSpPr>
        <p:spPr>
          <a:xfrm>
            <a:off x="705000" y="4112100"/>
            <a:ext cx="84960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                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96"/>
          <p:cNvSpPr txBox="1"/>
          <p:nvPr>
            <p:ph idx="1" type="body"/>
          </p:nvPr>
        </p:nvSpPr>
        <p:spPr>
          <a:xfrm>
            <a:off x="324000" y="759300"/>
            <a:ext cx="82377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a) You are a police officer investigating an accident. Use the formula to calculate the speed of this car on a dry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/>
              <a:t>)</a:t>
            </a:r>
            <a:endParaRPr/>
          </a:p>
        </p:txBody>
      </p:sp>
      <p:sp>
        <p:nvSpPr>
          <p:cNvPr id="1102" name="Google Shape;110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1103" name="Google Shape;1103;p96"/>
          <p:cNvSpPr txBox="1"/>
          <p:nvPr>
            <p:ph idx="1" type="body"/>
          </p:nvPr>
        </p:nvSpPr>
        <p:spPr>
          <a:xfrm>
            <a:off x="324000" y="3426300"/>
            <a:ext cx="81183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If a car were travelling </a:t>
            </a:r>
            <a:r>
              <a:rPr lang="en-GB"/>
              <a:t>70 mph</a:t>
            </a:r>
            <a:r>
              <a:rPr lang="en-GB"/>
              <a:t> on a wet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0.4</a:t>
            </a:r>
            <a:r>
              <a:rPr lang="en-GB"/>
              <a:t>) how long would you expect the skid mark to be?</a:t>
            </a:r>
            <a:endParaRPr/>
          </a:p>
        </p:txBody>
      </p:sp>
      <p:pic>
        <p:nvPicPr>
          <p:cNvPr id="1104" name="Google Shape;110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793" y="1611116"/>
            <a:ext cx="129533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1393" y="1611116"/>
            <a:ext cx="1295331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6" name="Google Shape;1106;p96"/>
          <p:cNvCxnSpPr/>
          <p:nvPr/>
        </p:nvCxnSpPr>
        <p:spPr>
          <a:xfrm>
            <a:off x="4903049" y="226052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96"/>
          <p:cNvCxnSpPr/>
          <p:nvPr/>
        </p:nvCxnSpPr>
        <p:spPr>
          <a:xfrm>
            <a:off x="8561699" y="226052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96"/>
          <p:cNvCxnSpPr/>
          <p:nvPr/>
        </p:nvCxnSpPr>
        <p:spPr>
          <a:xfrm>
            <a:off x="4929759" y="2469716"/>
            <a:ext cx="360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9" name="Google Shape;1109;p96"/>
          <p:cNvSpPr/>
          <p:nvPr/>
        </p:nvSpPr>
        <p:spPr>
          <a:xfrm flipH="1" rot="10800000">
            <a:off x="4903227" y="2209679"/>
            <a:ext cx="3658229" cy="103900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0" name="Google Shape;1110;p96"/>
          <p:cNvSpPr txBox="1"/>
          <p:nvPr>
            <p:ph idx="4294967295" type="body"/>
          </p:nvPr>
        </p:nvSpPr>
        <p:spPr>
          <a:xfrm>
            <a:off x="6226150" y="2463750"/>
            <a:ext cx="9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197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feet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111" name="Google Shape;1111;p96" title="s equals the square root of 30 d 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50" y="2172911"/>
            <a:ext cx="1494050" cy="397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9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868130" y="2102839"/>
            <a:ext cx="4150098" cy="9289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7"/>
          <p:cNvSpPr txBox="1"/>
          <p:nvPr>
            <p:ph idx="1" type="body"/>
          </p:nvPr>
        </p:nvSpPr>
        <p:spPr>
          <a:xfrm>
            <a:off x="324000" y="759300"/>
            <a:ext cx="8237700" cy="10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</a:t>
            </a:r>
            <a:r>
              <a:rPr lang="en-GB"/>
              <a:t> c) </a:t>
            </a:r>
            <a:r>
              <a:rPr lang="en-GB"/>
              <a:t>Lucas has used the formula </a:t>
            </a:r>
            <a:r>
              <a:rPr lang="en-GB"/>
              <a:t>incorrectly</a:t>
            </a:r>
            <a:r>
              <a:rPr lang="en-GB"/>
              <a:t> to calculate the speed of a car with a skid mark of 60 feet on a dry concrete surface</a:t>
            </a:r>
            <a:r>
              <a:rPr lang="en-GB"/>
              <a:t>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/>
              <a:t>). Explain his error to him and correct his work.</a:t>
            </a:r>
            <a:endParaRPr/>
          </a:p>
        </p:txBody>
      </p:sp>
      <p:sp>
        <p:nvSpPr>
          <p:cNvPr id="1118" name="Google Shape;1118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id="1119" name="Google Shape;111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96" y="2987248"/>
            <a:ext cx="2661325" cy="14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120" name="Google Shape;1120;p97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50" y="2428300"/>
            <a:ext cx="1494050" cy="39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00860" y="2411304"/>
            <a:ext cx="1025300" cy="1150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7"/>
          <p:cNvSpPr txBox="1"/>
          <p:nvPr>
            <p:ph idx="4294967295" type="body"/>
          </p:nvPr>
        </p:nvSpPr>
        <p:spPr>
          <a:xfrm>
            <a:off x="3979200" y="2120750"/>
            <a:ext cx="3826800" cy="7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calculator tells me their speed was </a:t>
            </a:r>
            <a:r>
              <a:rPr lang="en-GB"/>
              <a:t>262.9 mph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98"/>
          <p:cNvSpPr txBox="1"/>
          <p:nvPr>
            <p:ph idx="1" type="body"/>
          </p:nvPr>
        </p:nvSpPr>
        <p:spPr>
          <a:xfrm>
            <a:off x="324000" y="759300"/>
            <a:ext cx="8237700" cy="10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d) A police officer investigating an accident in a </a:t>
            </a:r>
            <a:r>
              <a:rPr lang="en-GB"/>
              <a:t>2</a:t>
            </a:r>
            <a:r>
              <a:rPr lang="en-GB"/>
              <a:t>0 mph zone with a </a:t>
            </a:r>
            <a:r>
              <a:rPr lang="en-GB"/>
              <a:t>dry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/>
              <a:t>)</a:t>
            </a:r>
            <a:r>
              <a:rPr lang="en-GB"/>
              <a:t> declares, “The length of the marks were </a:t>
            </a:r>
            <a:r>
              <a:rPr lang="en-GB"/>
              <a:t>20 feet</a:t>
            </a:r>
            <a:r>
              <a:rPr lang="en-GB"/>
              <a:t> to the nearest 10 feet”.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Explain why they cannot round like this when investigating this accident.</a:t>
            </a:r>
            <a:endParaRPr/>
          </a:p>
        </p:txBody>
      </p:sp>
      <p:sp>
        <p:nvSpPr>
          <p:cNvPr id="1128" name="Google Shape;1128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129" name="Google Shape;1129;p98" title="s equals the square root of 30 d 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50" y="3037900"/>
            <a:ext cx="1494050" cy="397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t\ =\ \frac{1}{2}\left(360\right)+30=21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360&lt;/mn&gt;&lt;mo data-mjx-texclass=&quot;CLOSE&quot;&gt;)&lt;/mo&gt;&lt;/mrow&gt;&lt;mo&gt;+&lt;/mo&gt;&lt;mn&gt;30&lt;/mn&gt;&lt;mo&gt;=&lt;/mo&gt;&lt;mn&gt;210&lt;/mn&gt;&lt;/math&gt;" id="1134" name="Google Shape;1134;p99" title="t equals one half times 360 plus 30 equals 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921" y="2580375"/>
            <a:ext cx="3199570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9"/>
          <p:cNvSpPr txBox="1"/>
          <p:nvPr>
            <p:ph idx="1" type="body"/>
          </p:nvPr>
        </p:nvSpPr>
        <p:spPr>
          <a:xfrm>
            <a:off x="324000" y="759300"/>
            <a:ext cx="8496000" cy="6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a) A firefighter enters the building with their gauge reading like so. At what bar should they turn around and start exiting?</a:t>
            </a:r>
            <a:endParaRPr/>
          </a:p>
        </p:txBody>
      </p:sp>
      <p:sp>
        <p:nvSpPr>
          <p:cNvPr id="1136" name="Google Shape;1136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id="1137" name="Google Shape;1137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70" y="1600200"/>
            <a:ext cx="2111050" cy="1845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138" name="Google Shape;1138;p99" title="t equals one half b plus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9301" y="1643005"/>
            <a:ext cx="1769409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9"/>
          <p:cNvSpPr txBox="1"/>
          <p:nvPr>
            <p:ph idx="4294967295" type="body"/>
          </p:nvPr>
        </p:nvSpPr>
        <p:spPr>
          <a:xfrm>
            <a:off x="2762400" y="3459375"/>
            <a:ext cx="43476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ey should turn around at 210 bar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00"/>
          <p:cNvSpPr txBox="1"/>
          <p:nvPr>
            <p:ph idx="1" type="body"/>
          </p:nvPr>
        </p:nvSpPr>
        <p:spPr>
          <a:xfrm>
            <a:off x="324000" y="759300"/>
            <a:ext cx="801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b) A firefighter has an estimated turn-around pressure of 160 bar. How many bar of pressure did they have when they entered?</a:t>
            </a:r>
            <a:endParaRPr/>
          </a:p>
        </p:txBody>
      </p:sp>
      <p:sp>
        <p:nvSpPr>
          <p:cNvPr id="1145" name="Google Shape;1145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146" name="Google Shape;1146;p100" title="t equals one half b plu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301" y="1643005"/>
            <a:ext cx="1769409" cy="6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30\ =\ \frac{1}{2}b&quot;&gt;&lt;mn&gt;130&lt;/mn&gt;&lt;mtext&gt;&lt;/mtext&gt;&lt;mo&gt;=&lt;/mo&gt;&lt;mtext&gt;&lt;/mtext&gt;&lt;mfrac&gt;&lt;mn&gt;1&lt;/mn&gt;&lt;mn&gt;2&lt;/mn&gt;&lt;/mfrac&gt;&lt;mi&gt;b&lt;/mi&gt;&lt;/math&gt;" id="1147" name="Google Shape;1147;p100" title="130 equals one half 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4088" y="2481659"/>
            <a:ext cx="2417728" cy="6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1608" y="3402022"/>
            <a:ext cx="1437963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>
            <p:ph idx="4294967295" type="body"/>
          </p:nvPr>
        </p:nvSpPr>
        <p:spPr>
          <a:xfrm>
            <a:off x="2491762" y="4336878"/>
            <a:ext cx="102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260</a:t>
            </a: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300"/>
          </a:p>
        </p:txBody>
      </p:sp>
      <p:sp>
        <p:nvSpPr>
          <p:cNvPr id="1150" name="Google Shape;1150;p100"/>
          <p:cNvSpPr txBox="1"/>
          <p:nvPr>
            <p:ph idx="4294967295" type="body"/>
          </p:nvPr>
        </p:nvSpPr>
        <p:spPr>
          <a:xfrm>
            <a:off x="5090275" y="4068975"/>
            <a:ext cx="26529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hey entered with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 bar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of pressure.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t\ =\ \frac{1}{2}\left(240\right)+30=15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240&lt;/mn&gt;&lt;mo data-mjx-texclass=&quot;CLOSE&quot;&gt;)&lt;/mo&gt;&lt;/mrow&gt;&lt;mo&gt;+&lt;/mo&gt;&lt;mn&gt;30&lt;/mn&gt;&lt;mo&gt;=&lt;/mo&gt;&lt;mn&gt;150&lt;/mn&gt;&lt;/math&gt;" id="1155" name="Google Shape;1155;p101" title="t equals one half times 240 plus 30 equals 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22" y="2966002"/>
            <a:ext cx="3202487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101"/>
          <p:cNvSpPr txBox="1"/>
          <p:nvPr>
            <p:ph idx="1" type="body"/>
          </p:nvPr>
        </p:nvSpPr>
        <p:spPr>
          <a:xfrm>
            <a:off x="324000" y="759300"/>
            <a:ext cx="8496000" cy="6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c) </a:t>
            </a:r>
            <a:r>
              <a:rPr lang="en-GB"/>
              <a:t>What is the difference in turn-around pressures between entering with 240 bar and entering with 300 bar?</a:t>
            </a:r>
            <a:endParaRPr/>
          </a:p>
        </p:txBody>
      </p:sp>
      <p:sp>
        <p:nvSpPr>
          <p:cNvPr id="1157" name="Google Shape;115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+30&quot;&gt;&lt;mi&gt;t&lt;/mi&gt;&lt;mtext&gt;&lt;/mtext&gt;&lt;mo&gt;=&lt;/mo&gt;&lt;mtext&gt;&lt;/mtext&gt;&lt;mfrac&gt;&lt;mn&gt;1&lt;/mn&gt;&lt;mn&gt;2&lt;/mn&gt;&lt;/mfrac&gt;&lt;mi&gt;b&lt;/mi&gt;&lt;mo&gt;+&lt;/mo&gt;&lt;mn&gt;30&lt;/mn&gt;&lt;/math&gt;" id="1158" name="Google Shape;1158;p101" title="t equals one half b plu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95" y="1629611"/>
            <a:ext cx="1769409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101"/>
          <p:cNvSpPr txBox="1"/>
          <p:nvPr>
            <p:ph idx="4294967295" type="body"/>
          </p:nvPr>
        </p:nvSpPr>
        <p:spPr>
          <a:xfrm>
            <a:off x="325700" y="2495564"/>
            <a:ext cx="26529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240 bar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of pressure: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\left(300\right)+30=180&quot;&gt;&lt;mi&gt;t&lt;/mi&gt;&lt;mtext&gt;&lt;/mtext&gt;&lt;mo&gt;=&lt;/mo&gt;&lt;mtext&gt;&lt;/mtext&gt;&lt;mfrac&gt;&lt;mn&gt;1&lt;/mn&gt;&lt;mn&gt;2&lt;/mn&gt;&lt;/mfrac&gt;&lt;mrow data-mjx-texclass=&quot;INNER&quot;&gt;&lt;mo data-mjx-texclass=&quot;OPEN&quot;&gt;(&lt;/mo&gt;&lt;mn&gt;300&lt;/mn&gt;&lt;mo data-mjx-texclass=&quot;CLOSE&quot;&gt;)&lt;/mo&gt;&lt;/mrow&gt;&lt;mo&gt;+&lt;/mo&gt;&lt;mn&gt;30&lt;/mn&gt;&lt;mo&gt;=&lt;/mo&gt;&lt;mn&gt;180&lt;/mn&gt;&lt;/math&gt;" id="1160" name="Google Shape;1160;p101" title="t equals one half times 300 plus 30 equals 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258" y="2964200"/>
            <a:ext cx="3202525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01"/>
          <p:cNvSpPr txBox="1"/>
          <p:nvPr>
            <p:ph idx="4294967295" type="body"/>
          </p:nvPr>
        </p:nvSpPr>
        <p:spPr>
          <a:xfrm>
            <a:off x="4566111" y="2495564"/>
            <a:ext cx="26529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 bar of pressure: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101"/>
          <p:cNvSpPr txBox="1"/>
          <p:nvPr>
            <p:ph idx="4294967295" type="body"/>
          </p:nvPr>
        </p:nvSpPr>
        <p:spPr>
          <a:xfrm>
            <a:off x="325700" y="3943375"/>
            <a:ext cx="6361800" cy="8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0 − 150 = 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difference in turn-around is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30 bar of pressure.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02"/>
          <p:cNvSpPr txBox="1"/>
          <p:nvPr>
            <p:ph idx="1" type="body"/>
          </p:nvPr>
        </p:nvSpPr>
        <p:spPr>
          <a:xfrm>
            <a:off x="324000" y="732511"/>
            <a:ext cx="8496000" cy="12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d) Why do you think the formula includes </a:t>
            </a:r>
            <a:r>
              <a:rPr lang="en-GB"/>
              <a:t>+ 30 i</a:t>
            </a:r>
            <a:r>
              <a:rPr lang="en-GB"/>
              <a:t>nstead of just being                 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t\ =\ \frac{1}{2}b&quot;&gt;&lt;mi&gt;t&lt;/mi&gt;&lt;mtext&gt;&lt;/mtext&gt;&lt;mo&gt;=&lt;/mo&gt;&lt;mtext&gt;&lt;/mtext&gt;&lt;mfrac&gt;&lt;mn&gt;1&lt;/mn&gt;&lt;mn&gt;2&lt;/mn&gt;&lt;/mfrac&gt;&lt;mi&gt;b&lt;/mi&gt;&lt;/math&gt;" id="1168" name="Google Shape;1168;p102" title="t equals one half 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293" y="1061429"/>
            <a:ext cx="1077240" cy="6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1170" name="Google Shape;1170;p102"/>
          <p:cNvSpPr txBox="1"/>
          <p:nvPr>
            <p:ph idx="4294967295" type="body"/>
          </p:nvPr>
        </p:nvSpPr>
        <p:spPr>
          <a:xfrm>
            <a:off x="325700" y="1962175"/>
            <a:ext cx="8571900" cy="8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might have said, “If the formula were            firefighters would turn around after using exactly half their air.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If they exerted more effort exiting (e.g. if they were carrying someone) they would not have sufficient air to get out safely.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Having +30 in the formula gives them a small safety buffer”.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t\ =\ \frac{1}{2}b&quot;&gt;&lt;mi&gt;t&lt;/mi&gt;&lt;mtext&gt;&lt;/mtext&gt;&lt;mo&gt;=&lt;/mo&gt;&lt;mtext&gt;&lt;/mtext&gt;&lt;mfrac&gt;&lt;mn&gt;1&lt;/mn&gt;&lt;mn&gt;2&lt;/mn&gt;&lt;/mfrac&gt;&lt;mi&gt;b&lt;/mi&gt;&lt;/math&gt;" id="1171" name="Google Shape;1171;p102" title="t equals one half 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093" y="1790795"/>
            <a:ext cx="1077240" cy="6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s=\sqrt{30\left(197\right)\left(0.8\right)}&quot;&gt;&lt;mi&gt;s&lt;/mi&gt;&lt;mo&gt;=&lt;/mo&gt;&lt;msqrt&gt;&lt;mn&gt;30&lt;/mn&gt;&lt;mrow data-mjx-texclass=&quot;INNER&quot;&gt;&lt;mo data-mjx-texclass=&quot;OPEN&quot;&gt;(&lt;/mo&gt;&lt;mn&gt;197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/math&gt;" id="1176" name="Google Shape;1176;p103" title="s equals the square root of 30 times 197 times 0.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364" y="2969625"/>
            <a:ext cx="2406425" cy="374108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103"/>
          <p:cNvSpPr txBox="1"/>
          <p:nvPr>
            <p:ph idx="1" type="body"/>
          </p:nvPr>
        </p:nvSpPr>
        <p:spPr>
          <a:xfrm>
            <a:off x="324000" y="759300"/>
            <a:ext cx="8492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a) You are a police officer investigating an accident. Use the formula to calculate the speed of this car on a dry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/>
              <a:t>)</a:t>
            </a:r>
            <a:endParaRPr/>
          </a:p>
        </p:txBody>
      </p:sp>
      <p:sp>
        <p:nvSpPr>
          <p:cNvPr id="1178" name="Google Shape;117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id="1179" name="Google Shape;117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3793" y="1611116"/>
            <a:ext cx="129533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1393" y="1611116"/>
            <a:ext cx="1295331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1" name="Google Shape;1181;p103"/>
          <p:cNvCxnSpPr/>
          <p:nvPr/>
        </p:nvCxnSpPr>
        <p:spPr>
          <a:xfrm>
            <a:off x="4903049" y="226052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103"/>
          <p:cNvCxnSpPr/>
          <p:nvPr/>
        </p:nvCxnSpPr>
        <p:spPr>
          <a:xfrm>
            <a:off x="8561699" y="2260529"/>
            <a:ext cx="0" cy="43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103"/>
          <p:cNvCxnSpPr/>
          <p:nvPr/>
        </p:nvCxnSpPr>
        <p:spPr>
          <a:xfrm>
            <a:off x="4929759" y="2469716"/>
            <a:ext cx="3604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4" name="Google Shape;1184;p103"/>
          <p:cNvSpPr/>
          <p:nvPr/>
        </p:nvSpPr>
        <p:spPr>
          <a:xfrm flipH="1" rot="10800000">
            <a:off x="4903227" y="2209679"/>
            <a:ext cx="3658229" cy="103900"/>
          </a:xfrm>
          <a:custGeom>
            <a:rect b="b" l="l" r="r" t="t"/>
            <a:pathLst>
              <a:path extrusionOk="0" h="4156" w="130302">
                <a:moveTo>
                  <a:pt x="0" y="3275"/>
                </a:moveTo>
                <a:cubicBezTo>
                  <a:pt x="3977" y="892"/>
                  <a:pt x="9671" y="1393"/>
                  <a:pt x="13907" y="3275"/>
                </a:cubicBezTo>
                <a:cubicBezTo>
                  <a:pt x="16148" y="4271"/>
                  <a:pt x="18415" y="-96"/>
                  <a:pt x="20765" y="608"/>
                </a:cubicBezTo>
                <a:cubicBezTo>
                  <a:pt x="24797" y="1817"/>
                  <a:pt x="28955" y="2703"/>
                  <a:pt x="33147" y="3085"/>
                </a:cubicBezTo>
                <a:cubicBezTo>
                  <a:pt x="42191" y="3909"/>
                  <a:pt x="51885" y="280"/>
                  <a:pt x="60389" y="3466"/>
                </a:cubicBezTo>
                <a:cubicBezTo>
                  <a:pt x="62368" y="4208"/>
                  <a:pt x="63630" y="-261"/>
                  <a:pt x="65723" y="37"/>
                </a:cubicBezTo>
                <a:cubicBezTo>
                  <a:pt x="66961" y="214"/>
                  <a:pt x="66028" y="3748"/>
                  <a:pt x="67247" y="3466"/>
                </a:cubicBezTo>
                <a:cubicBezTo>
                  <a:pt x="68998" y="3061"/>
                  <a:pt x="70065" y="998"/>
                  <a:pt x="71819" y="608"/>
                </a:cubicBezTo>
                <a:cubicBezTo>
                  <a:pt x="72713" y="409"/>
                  <a:pt x="72648" y="2298"/>
                  <a:pt x="73343" y="2894"/>
                </a:cubicBezTo>
                <a:cubicBezTo>
                  <a:pt x="74624" y="3992"/>
                  <a:pt x="76428" y="1367"/>
                  <a:pt x="78105" y="1180"/>
                </a:cubicBezTo>
                <a:cubicBezTo>
                  <a:pt x="79358" y="1040"/>
                  <a:pt x="79703" y="3656"/>
                  <a:pt x="80963" y="3656"/>
                </a:cubicBezTo>
                <a:cubicBezTo>
                  <a:pt x="82814" y="3656"/>
                  <a:pt x="84264" y="1376"/>
                  <a:pt x="86106" y="1561"/>
                </a:cubicBezTo>
                <a:cubicBezTo>
                  <a:pt x="88763" y="1827"/>
                  <a:pt x="91149" y="4739"/>
                  <a:pt x="93726" y="4037"/>
                </a:cubicBezTo>
                <a:cubicBezTo>
                  <a:pt x="98894" y="2629"/>
                  <a:pt x="104215" y="590"/>
                  <a:pt x="109538" y="1180"/>
                </a:cubicBezTo>
                <a:cubicBezTo>
                  <a:pt x="116436" y="1944"/>
                  <a:pt x="123568" y="4383"/>
                  <a:pt x="130302" y="2704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5" name="Google Shape;1185;p103"/>
          <p:cNvSpPr txBox="1"/>
          <p:nvPr>
            <p:ph idx="4294967295" type="body"/>
          </p:nvPr>
        </p:nvSpPr>
        <p:spPr>
          <a:xfrm>
            <a:off x="6226150" y="2463750"/>
            <a:ext cx="910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197 feet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186" name="Google Shape;1186;p103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50" y="2172911"/>
            <a:ext cx="1494050" cy="397023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3"/>
          <p:cNvSpPr txBox="1"/>
          <p:nvPr>
            <p:ph idx="4294967295" type="body"/>
          </p:nvPr>
        </p:nvSpPr>
        <p:spPr>
          <a:xfrm>
            <a:off x="322133" y="2987911"/>
            <a:ext cx="9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 = 197</a:t>
            </a:r>
            <a:endParaRPr/>
          </a:p>
        </p:txBody>
      </p:sp>
      <p:sp>
        <p:nvSpPr>
          <p:cNvPr id="1188" name="Google Shape;1188;p103"/>
          <p:cNvSpPr txBox="1"/>
          <p:nvPr>
            <p:ph idx="4294967295" type="body"/>
          </p:nvPr>
        </p:nvSpPr>
        <p:spPr>
          <a:xfrm>
            <a:off x="322152" y="3431725"/>
            <a:ext cx="9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f = 0.8</a:t>
            </a:r>
            <a:endParaRPr/>
          </a:p>
        </p:txBody>
      </p:sp>
      <p:sp>
        <p:nvSpPr>
          <p:cNvPr id="1189" name="Google Shape;1189;p103"/>
          <p:cNvSpPr txBox="1"/>
          <p:nvPr>
            <p:ph idx="4294967295" type="body"/>
          </p:nvPr>
        </p:nvSpPr>
        <p:spPr>
          <a:xfrm>
            <a:off x="2442376" y="3422478"/>
            <a:ext cx="2944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 = 68.8 mph (to 1 d.p.)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4"/>
          <p:cNvSpPr txBox="1"/>
          <p:nvPr>
            <p:ph idx="1" type="body"/>
          </p:nvPr>
        </p:nvSpPr>
        <p:spPr>
          <a:xfrm>
            <a:off x="324000" y="759300"/>
            <a:ext cx="8492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b) If a car were travelling 70 mph on a wet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0.4</a:t>
            </a:r>
            <a:r>
              <a:rPr lang="en-GB"/>
              <a:t>) how long would you expect the skid mark to be?</a:t>
            </a:r>
            <a:endParaRPr/>
          </a:p>
        </p:txBody>
      </p:sp>
      <p:sp>
        <p:nvSpPr>
          <p:cNvPr id="1195" name="Google Shape;119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196" name="Google Shape;1196;p104" title="s equals the square root of 30 d 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245" y="1894900"/>
            <a:ext cx="1494050" cy="397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0=\sqrt{12d}&quot;&gt;&lt;mn&gt;70&lt;/mn&gt;&lt;mo&gt;=&lt;/mo&gt;&lt;msqrt&gt;&lt;mn&gt;12&lt;/mn&gt;&lt;mi&gt;d&lt;/mi&gt;&lt;/msqrt&gt;&lt;/math&gt;" id="1197" name="Google Shape;1197;p104" title="70 equals the square root of 12 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6950" y="3188198"/>
            <a:ext cx="1549777" cy="41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70\right)=\sqrt{30d\left(0.4\right)}&quot;&gt;&lt;mrow data-mjx-texclass=&quot;INNER&quot;&gt;&lt;mo data-mjx-texclass=&quot;OPEN&quot;&gt;(&lt;/mo&gt;&lt;mn&gt;70&lt;/mn&gt;&lt;mo data-mjx-texclass=&quot;CLOSE&quot;&gt;)&lt;/mo&gt;&lt;/mrow&gt;&lt;mo&gt;=&lt;/mo&gt;&lt;msqrt&gt;&lt;mn&gt;30&lt;/mn&gt;&lt;mi&gt;d&lt;/mi&gt;&lt;mrow data-mjx-texclass=&quot;INNER&quot;&gt;&lt;mo data-mjx-texclass=&quot;OPEN&quot;&gt;(&lt;/mo&gt;&lt;mn&gt;0.4&lt;/mn&gt;&lt;mo data-mjx-texclass=&quot;CLOSE&quot;&gt;)&lt;/mo&gt;&lt;/mrow&gt;&lt;/msqrt&gt;&lt;/math&gt;" id="1198" name="Google Shape;1198;p104" title="70 equals the square root of 30 d of 0.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7128" y="2565277"/>
            <a:ext cx="2463557" cy="41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4"/>
          <p:cNvSpPr txBox="1"/>
          <p:nvPr>
            <p:ph idx="4294967295" type="body"/>
          </p:nvPr>
        </p:nvSpPr>
        <p:spPr>
          <a:xfrm>
            <a:off x="1958354" y="3727298"/>
            <a:ext cx="176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4900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400"/>
          </a:p>
        </p:txBody>
      </p:sp>
      <p:sp>
        <p:nvSpPr>
          <p:cNvPr id="1200" name="Google Shape;1200;p104"/>
          <p:cNvSpPr txBox="1"/>
          <p:nvPr>
            <p:ph idx="4294967295" type="body"/>
          </p:nvPr>
        </p:nvSpPr>
        <p:spPr>
          <a:xfrm>
            <a:off x="2442387" y="4287464"/>
            <a:ext cx="3441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= 408.3 feet (to 1 d.p.)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10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868130" y="2102839"/>
            <a:ext cx="4150098" cy="928963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5"/>
          <p:cNvSpPr txBox="1"/>
          <p:nvPr>
            <p:ph idx="1" type="body"/>
          </p:nvPr>
        </p:nvSpPr>
        <p:spPr>
          <a:xfrm>
            <a:off x="324000" y="759300"/>
            <a:ext cx="8496000" cy="6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c) Lucas has used the formula incorrectly to calculate the speed of a car with a skid mark of </a:t>
            </a:r>
            <a:r>
              <a:rPr lang="en-GB"/>
              <a:t>60 feet</a:t>
            </a:r>
            <a:r>
              <a:rPr lang="en-GB"/>
              <a:t> on a dry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/>
              <a:t>). Explain his error to him and correct his work.</a:t>
            </a:r>
            <a:endParaRPr/>
          </a:p>
        </p:txBody>
      </p:sp>
      <p:sp>
        <p:nvSpPr>
          <p:cNvPr id="1207" name="Google Shape;1207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id="1208" name="Google Shape;1208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96" y="2987248"/>
            <a:ext cx="2661325" cy="143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209" name="Google Shape;1209;p105" title="s equals the square root of 30 d 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250" y="2428300"/>
            <a:ext cx="1494050" cy="39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00860" y="2411304"/>
            <a:ext cx="1025300" cy="11509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105"/>
          <p:cNvSpPr txBox="1"/>
          <p:nvPr>
            <p:ph idx="4294967295" type="body"/>
          </p:nvPr>
        </p:nvSpPr>
        <p:spPr>
          <a:xfrm>
            <a:off x="3979200" y="2120750"/>
            <a:ext cx="3826800" cy="7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calculator tells me their speed was </a:t>
            </a:r>
            <a:r>
              <a:rPr lang="en-GB"/>
              <a:t>262.9 mph</a:t>
            </a:r>
            <a:endParaRPr/>
          </a:p>
        </p:txBody>
      </p:sp>
      <p:sp>
        <p:nvSpPr>
          <p:cNvPr id="1212" name="Google Shape;1212;p105"/>
          <p:cNvSpPr/>
          <p:nvPr/>
        </p:nvSpPr>
        <p:spPr>
          <a:xfrm>
            <a:off x="847500" y="2391524"/>
            <a:ext cx="1111800" cy="43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105"/>
          <p:cNvSpPr/>
          <p:nvPr/>
        </p:nvSpPr>
        <p:spPr>
          <a:xfrm>
            <a:off x="525130" y="3408925"/>
            <a:ext cx="1688700" cy="30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105"/>
          <p:cNvSpPr txBox="1"/>
          <p:nvPr>
            <p:ph idx="4294967295" type="body"/>
          </p:nvPr>
        </p:nvSpPr>
        <p:spPr>
          <a:xfrm>
            <a:off x="3373700" y="3181375"/>
            <a:ext cx="48675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“The vinculum should group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”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5" name="Google Shape;1215;p105"/>
          <p:cNvSpPr txBox="1"/>
          <p:nvPr>
            <p:ph idx="4294967295" type="body"/>
          </p:nvPr>
        </p:nvSpPr>
        <p:spPr>
          <a:xfrm>
            <a:off x="3373700" y="4095775"/>
            <a:ext cx="39978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“The car was travelling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37.9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mph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”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6" name="Google Shape;1216;p1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749" y="2999000"/>
            <a:ext cx="2716084" cy="14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06"/>
          <p:cNvSpPr txBox="1"/>
          <p:nvPr>
            <p:ph idx="1" type="body"/>
          </p:nvPr>
        </p:nvSpPr>
        <p:spPr>
          <a:xfrm>
            <a:off x="324000" y="759300"/>
            <a:ext cx="84960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d) A police officer investigating an accident in a 20 mph zone with a dry concrete surface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r>
              <a:rPr lang="en-GB"/>
              <a:t>) declares, “The length of the marks were 20 feet to the nearest 10 feet”.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Explain why they cannot round like this when investigating this accident.</a:t>
            </a:r>
            <a:endParaRPr/>
          </a:p>
        </p:txBody>
      </p:sp>
      <p:sp>
        <p:nvSpPr>
          <p:cNvPr id="1222" name="Google Shape;1222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s=\sqrt{30df}&quot;&gt;&lt;mi&gt;s&lt;/mi&gt;&lt;mo&gt;=&lt;/mo&gt;&lt;msqrt&gt;&lt;mn&gt;30&lt;/mn&gt;&lt;mi&gt;d&lt;/mi&gt;&lt;mi&gt;f&lt;/mi&gt;&lt;/msqrt&gt;&lt;/math&gt;" id="1223" name="Google Shape;1223;p106" title="s equals the square root of 30 d 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50" y="3037900"/>
            <a:ext cx="1494050" cy="397023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06"/>
          <p:cNvSpPr txBox="1"/>
          <p:nvPr>
            <p:ph idx="4294967295" type="body"/>
          </p:nvPr>
        </p:nvSpPr>
        <p:spPr>
          <a:xfrm>
            <a:off x="2227150" y="2571775"/>
            <a:ext cx="6592800" cy="10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said: “By rounding to the nearest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actual length falls in the bounds 15 ≤ d &lt; 25 which makes the bounds for the speed…”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30\left(15\right)\left(0.8\right)}\le s&amp;lt;\sqrt{30\left(25\right)\left(0.8\right)}&quot;&gt;&lt;msqrt&gt;&lt;mn&gt;30&lt;/mn&gt;&lt;mrow data-mjx-texclass=&quot;INNER&quot;&gt;&lt;mo data-mjx-texclass=&quot;OPEN&quot;&gt;(&lt;/mo&gt;&lt;mn&gt;15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mo&gt;≤&lt;/mo&gt;&lt;mi&gt;s&lt;/mi&gt;&lt;mo&gt;&amp;lt;&lt;/mo&gt;&lt;msqrt&gt;&lt;mn&gt;30&lt;/mn&gt;&lt;mrow data-mjx-texclass=&quot;INNER&quot;&gt;&lt;mo data-mjx-texclass=&quot;OPEN&quot;&gt;(&lt;/mo&gt;&lt;mn&gt;25&lt;/mn&gt;&lt;mo data-mjx-texclass=&quot;CLOSE&quot;&gt;)&lt;/mo&gt;&lt;/mrow&gt;&lt;mrow data-mjx-texclass=&quot;INNER&quot;&gt;&lt;mo data-mjx-texclass=&quot;OPEN&quot;&gt;(&lt;/mo&gt;&lt;mn&gt;0.8&lt;/mn&gt;&lt;mo data-mjx-texclass=&quot;CLOSE&quot;&gt;)&lt;/mo&gt;&lt;/mrow&gt;&lt;/msqrt&gt;&lt;/math&gt;" id="1225" name="Google Shape;1225;p106" title="the square root of 30 times 15 times 0.8 is less than or equal to s is less than the square root of 30 times 25 times 0.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5824" y="3642303"/>
            <a:ext cx="4239446" cy="3628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6"/>
          <p:cNvSpPr txBox="1"/>
          <p:nvPr>
            <p:ph idx="4294967295" type="body"/>
          </p:nvPr>
        </p:nvSpPr>
        <p:spPr>
          <a:xfrm>
            <a:off x="3446350" y="4078213"/>
            <a:ext cx="198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19.0 ≤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&lt; 24.5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106"/>
          <p:cNvSpPr txBox="1"/>
          <p:nvPr>
            <p:ph idx="4294967295" type="body"/>
          </p:nvPr>
        </p:nvSpPr>
        <p:spPr>
          <a:xfrm>
            <a:off x="324000" y="4566375"/>
            <a:ext cx="826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“We cannot prove whether this driver was obeying the speed limit or not.”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</a:t>
            </a:r>
            <a:r>
              <a:rPr lang="en-GB"/>
              <a:t>formulas</a:t>
            </a:r>
            <a:endParaRPr/>
          </a:p>
        </p:txBody>
      </p:sp>
      <p:sp>
        <p:nvSpPr>
          <p:cNvPr id="1233" name="Google Shape;1233;p10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234" name="Google Shape;1234;p10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  <p:pic>
        <p:nvPicPr>
          <p:cNvPr id="1235" name="Google Shape;123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6" y="298780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08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forms an essential part of operating successfully for emergency service workers.</a:t>
            </a:r>
            <a:endParaRPr/>
          </a:p>
        </p:txBody>
      </p:sp>
      <p:sp>
        <p:nvSpPr>
          <p:cNvPr id="1241" name="Google Shape;1241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242" name="Google Shape;1242;p108"/>
          <p:cNvSpPr txBox="1"/>
          <p:nvPr>
            <p:ph idx="1" type="body"/>
          </p:nvPr>
        </p:nvSpPr>
        <p:spPr>
          <a:xfrm>
            <a:off x="324000" y="161089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enables emergency services to adequately plan to meet the needs of the public.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00" y="1626878"/>
            <a:ext cx="5442802" cy="2880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ambulance station records data on the reason for call-outs for its paramedics for a quarter.</a:t>
            </a:r>
            <a:endParaRPr sz="2000"/>
          </a:p>
        </p:txBody>
      </p:sp>
      <p:sp>
        <p:nvSpPr>
          <p:cNvPr id="1249" name="Google Shape;1249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250" name="Google Shape;1250;p109"/>
          <p:cNvSpPr txBox="1"/>
          <p:nvPr>
            <p:ph idx="1" type="body"/>
          </p:nvPr>
        </p:nvSpPr>
        <p:spPr>
          <a:xfrm>
            <a:off x="5930975" y="1368900"/>
            <a:ext cx="3082500" cy="18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his data tells them that they need to stock their ambulances with larger amounts of medical supplies to treat:</a:t>
            </a:r>
            <a:endParaRPr sz="2000"/>
          </a:p>
        </p:txBody>
      </p:sp>
      <p:sp>
        <p:nvSpPr>
          <p:cNvPr id="1251" name="Google Shape;1251;p109"/>
          <p:cNvSpPr txBox="1"/>
          <p:nvPr>
            <p:ph idx="1" type="body"/>
          </p:nvPr>
        </p:nvSpPr>
        <p:spPr>
          <a:xfrm>
            <a:off x="5930975" y="3247111"/>
            <a:ext cx="308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Injury (trauma)</a:t>
            </a:r>
            <a:endParaRPr sz="2000"/>
          </a:p>
        </p:txBody>
      </p:sp>
      <p:sp>
        <p:nvSpPr>
          <p:cNvPr id="1252" name="Google Shape;1252;p109"/>
          <p:cNvSpPr/>
          <p:nvPr/>
        </p:nvSpPr>
        <p:spPr>
          <a:xfrm>
            <a:off x="4571850" y="1842375"/>
            <a:ext cx="1197300" cy="50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9"/>
          <p:cNvSpPr/>
          <p:nvPr/>
        </p:nvSpPr>
        <p:spPr>
          <a:xfrm>
            <a:off x="4572000" y="3323125"/>
            <a:ext cx="1197300" cy="50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109"/>
          <p:cNvSpPr/>
          <p:nvPr/>
        </p:nvSpPr>
        <p:spPr>
          <a:xfrm>
            <a:off x="4517600" y="4051793"/>
            <a:ext cx="1251900" cy="50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109"/>
          <p:cNvSpPr txBox="1"/>
          <p:nvPr>
            <p:ph idx="1" type="body"/>
          </p:nvPr>
        </p:nvSpPr>
        <p:spPr>
          <a:xfrm>
            <a:off x="5930975" y="3704311"/>
            <a:ext cx="308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Abdominal pain</a:t>
            </a:r>
            <a:endParaRPr sz="2000"/>
          </a:p>
        </p:txBody>
      </p:sp>
      <p:sp>
        <p:nvSpPr>
          <p:cNvPr id="1256" name="Google Shape;1256;p109"/>
          <p:cNvSpPr txBox="1"/>
          <p:nvPr>
            <p:ph idx="1" type="body"/>
          </p:nvPr>
        </p:nvSpPr>
        <p:spPr>
          <a:xfrm>
            <a:off x="5930975" y="4161511"/>
            <a:ext cx="308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Respiratory distress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02" y="1089227"/>
            <a:ext cx="5753325" cy="31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1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different ambulance station in a city centre records data.</a:t>
            </a:r>
            <a:endParaRPr sz="2000"/>
          </a:p>
        </p:txBody>
      </p:sp>
      <p:sp>
        <p:nvSpPr>
          <p:cNvPr id="1263" name="Google Shape;1263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264" name="Google Shape;1264;p110"/>
          <p:cNvSpPr/>
          <p:nvPr/>
        </p:nvSpPr>
        <p:spPr>
          <a:xfrm>
            <a:off x="325725" y="3037150"/>
            <a:ext cx="1231800" cy="47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10"/>
          <p:cNvSpPr/>
          <p:nvPr/>
        </p:nvSpPr>
        <p:spPr>
          <a:xfrm>
            <a:off x="5003901" y="3709550"/>
            <a:ext cx="1098900" cy="47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110"/>
          <p:cNvSpPr txBox="1"/>
          <p:nvPr>
            <p:ph idx="1" type="body"/>
          </p:nvPr>
        </p:nvSpPr>
        <p:spPr>
          <a:xfrm>
            <a:off x="331600" y="4215089"/>
            <a:ext cx="777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what illnesses should they dedicate the most training time for their emergency responders?</a:t>
            </a:r>
            <a:endParaRPr sz="2000"/>
          </a:p>
        </p:txBody>
      </p:sp>
      <p:sp>
        <p:nvSpPr>
          <p:cNvPr id="1267" name="Google Shape;1267;p110"/>
          <p:cNvSpPr txBox="1"/>
          <p:nvPr>
            <p:ph idx="1" type="body"/>
          </p:nvPr>
        </p:nvSpPr>
        <p:spPr>
          <a:xfrm>
            <a:off x="6267600" y="2144295"/>
            <a:ext cx="2621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Psychiatric (disorder) and chest pain.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00" y="1626878"/>
            <a:ext cx="5442802" cy="2880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11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you ever call for an</a:t>
            </a:r>
            <a:r>
              <a:rPr lang="en-GB" sz="2000"/>
              <a:t> ambulance, you get through to an emergency responder whose job it is to assess and prioritise your need.</a:t>
            </a:r>
            <a:endParaRPr sz="2000"/>
          </a:p>
        </p:txBody>
      </p:sp>
      <p:sp>
        <p:nvSpPr>
          <p:cNvPr id="1274" name="Google Shape;1274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275" name="Google Shape;1275;p111"/>
          <p:cNvSpPr txBox="1"/>
          <p:nvPr>
            <p:ph idx="1" type="body"/>
          </p:nvPr>
        </p:nvSpPr>
        <p:spPr>
          <a:xfrm>
            <a:off x="5881564" y="1610895"/>
            <a:ext cx="3082500" cy="13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illnesses which have an immediate threat to life the emergency services set target response times.</a:t>
            </a:r>
            <a:endParaRPr sz="2000"/>
          </a:p>
        </p:txBody>
      </p:sp>
      <p:sp>
        <p:nvSpPr>
          <p:cNvPr id="1276" name="Google Shape;1276;p111"/>
          <p:cNvSpPr/>
          <p:nvPr/>
        </p:nvSpPr>
        <p:spPr>
          <a:xfrm>
            <a:off x="286411" y="2030400"/>
            <a:ext cx="1371600" cy="50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52" y="1473107"/>
            <a:ext cx="5448751" cy="3338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112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n ambulance station records the average time it takes for them to reach every single call for cardiac arrest over two years.</a:t>
            </a:r>
            <a:endParaRPr sz="2000"/>
          </a:p>
        </p:txBody>
      </p:sp>
      <p:sp>
        <p:nvSpPr>
          <p:cNvPr id="1283" name="Google Shape;1283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284" name="Google Shape;1284;p112"/>
          <p:cNvSpPr txBox="1"/>
          <p:nvPr>
            <p:ph idx="1" type="body"/>
          </p:nvPr>
        </p:nvSpPr>
        <p:spPr>
          <a:xfrm>
            <a:off x="5881575" y="2117511"/>
            <a:ext cx="2828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arget response time: </a:t>
            </a:r>
            <a:r>
              <a:rPr lang="en-GB" sz="2000"/>
              <a:t>7</a:t>
            </a:r>
            <a:r>
              <a:rPr lang="en-GB" sz="2000"/>
              <a:t> minutes</a:t>
            </a:r>
            <a:endParaRPr sz="2000"/>
          </a:p>
        </p:txBody>
      </p:sp>
      <p:cxnSp>
        <p:nvCxnSpPr>
          <p:cNvPr id="1285" name="Google Shape;1285;p112"/>
          <p:cNvCxnSpPr/>
          <p:nvPr/>
        </p:nvCxnSpPr>
        <p:spPr>
          <a:xfrm>
            <a:off x="856739" y="2404925"/>
            <a:ext cx="5020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86" name="Google Shape;1286;p112"/>
          <p:cNvSpPr txBox="1"/>
          <p:nvPr>
            <p:ph idx="1" type="body"/>
          </p:nvPr>
        </p:nvSpPr>
        <p:spPr>
          <a:xfrm>
            <a:off x="5881575" y="3184311"/>
            <a:ext cx="2828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patterns do you see in these</a:t>
            </a:r>
            <a:r>
              <a:rPr lang="en-GB" sz="2000"/>
              <a:t> response times?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52" y="1473107"/>
            <a:ext cx="5448751" cy="3338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13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ambulance station records the average time it takes for them to reach every single call for cardiac arrest over two years.</a:t>
            </a:r>
            <a:endParaRPr sz="2000"/>
          </a:p>
        </p:txBody>
      </p:sp>
      <p:sp>
        <p:nvSpPr>
          <p:cNvPr id="1293" name="Google Shape;1293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cxnSp>
        <p:nvCxnSpPr>
          <p:cNvPr id="1294" name="Google Shape;1294;p113"/>
          <p:cNvCxnSpPr/>
          <p:nvPr/>
        </p:nvCxnSpPr>
        <p:spPr>
          <a:xfrm>
            <a:off x="856739" y="2404925"/>
            <a:ext cx="5020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95" name="Google Shape;1295;p113"/>
          <p:cNvSpPr txBox="1"/>
          <p:nvPr>
            <p:ph idx="1" type="body"/>
          </p:nvPr>
        </p:nvSpPr>
        <p:spPr>
          <a:xfrm>
            <a:off x="6110175" y="1557311"/>
            <a:ext cx="2587500" cy="11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hit their target response time in the mid-late winter and early spring </a:t>
            </a:r>
            <a:r>
              <a:rPr lang="en-GB" sz="2000"/>
              <a:t>months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296" name="Google Shape;1296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383" y="2234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9754" y="17096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383" y="2234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1954" y="17096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8543" y="154385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0743" y="1391450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113"/>
          <p:cNvSpPr txBox="1"/>
          <p:nvPr>
            <p:ph idx="1" type="body"/>
          </p:nvPr>
        </p:nvSpPr>
        <p:spPr>
          <a:xfrm>
            <a:off x="6110175" y="3005100"/>
            <a:ext cx="2709900" cy="11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miss their target response time in the summer months and in Nov/Dec.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52" y="1473107"/>
            <a:ext cx="5448751" cy="33387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14"/>
          <p:cNvSpPr txBox="1"/>
          <p:nvPr>
            <p:ph idx="1" type="body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This sort of analysis might lead to changes in practice, staff numbers or shift patterns, in order to ensure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900"/>
              <a:t> minutes is more consistently hit.</a:t>
            </a:r>
            <a:endParaRPr sz="1900"/>
          </a:p>
        </p:txBody>
      </p:sp>
      <p:sp>
        <p:nvSpPr>
          <p:cNvPr id="1309" name="Google Shape;1309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cxnSp>
        <p:nvCxnSpPr>
          <p:cNvPr id="1310" name="Google Shape;1310;p114"/>
          <p:cNvCxnSpPr/>
          <p:nvPr/>
        </p:nvCxnSpPr>
        <p:spPr>
          <a:xfrm>
            <a:off x="856739" y="2404925"/>
            <a:ext cx="5020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11" name="Google Shape;1311;p114"/>
          <p:cNvSpPr txBox="1"/>
          <p:nvPr>
            <p:ph idx="1" type="body"/>
          </p:nvPr>
        </p:nvSpPr>
        <p:spPr>
          <a:xfrm>
            <a:off x="6110175" y="1557311"/>
            <a:ext cx="2587500" cy="11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They hit their target response time in the mid-late winter and early spring months.</a:t>
            </a:r>
            <a:endParaRPr sz="2000"/>
          </a:p>
        </p:txBody>
      </p:sp>
      <p:pic>
        <p:nvPicPr>
          <p:cNvPr id="1312" name="Google Shape;1312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383" y="2234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9754" y="17096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383" y="2234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1954" y="170964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8543" y="1543850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0743" y="1391450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114"/>
          <p:cNvSpPr txBox="1"/>
          <p:nvPr>
            <p:ph idx="1" type="body"/>
          </p:nvPr>
        </p:nvSpPr>
        <p:spPr>
          <a:xfrm>
            <a:off x="6110175" y="3005100"/>
            <a:ext cx="2709900" cy="11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miss their target response time in the summer months and in Nov/Dec.</a:t>
            </a: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25" y="1411079"/>
            <a:ext cx="5536726" cy="3406296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5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ambulance station records this data on the average time it takes them to attend call-outs for strokes (a category two threat to life).</a:t>
            </a:r>
            <a:endParaRPr sz="2000"/>
          </a:p>
        </p:txBody>
      </p:sp>
      <p:sp>
        <p:nvSpPr>
          <p:cNvPr id="1325" name="Google Shape;1325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cxnSp>
        <p:nvCxnSpPr>
          <p:cNvPr id="1326" name="Google Shape;1326;p115"/>
          <p:cNvCxnSpPr/>
          <p:nvPr/>
        </p:nvCxnSpPr>
        <p:spPr>
          <a:xfrm>
            <a:off x="896923" y="2355514"/>
            <a:ext cx="5020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27" name="Google Shape;1327;p115"/>
          <p:cNvSpPr txBox="1"/>
          <p:nvPr>
            <p:ph idx="1" type="body"/>
          </p:nvPr>
        </p:nvSpPr>
        <p:spPr>
          <a:xfrm>
            <a:off x="5957775" y="3233700"/>
            <a:ext cx="2904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can you conclude from this data?</a:t>
            </a:r>
            <a:endParaRPr sz="2000"/>
          </a:p>
        </p:txBody>
      </p:sp>
      <p:sp>
        <p:nvSpPr>
          <p:cNvPr id="1328" name="Google Shape;1328;p115"/>
          <p:cNvSpPr txBox="1"/>
          <p:nvPr>
            <p:ph idx="1" type="body"/>
          </p:nvPr>
        </p:nvSpPr>
        <p:spPr>
          <a:xfrm>
            <a:off x="5957775" y="2054705"/>
            <a:ext cx="2828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Target response time: </a:t>
            </a:r>
            <a:r>
              <a:rPr lang="en-GB" sz="2000"/>
              <a:t>18</a:t>
            </a:r>
            <a:r>
              <a:rPr lang="en-GB" sz="2000"/>
              <a:t> minutes</a:t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16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ambulance station records this data on the average time it takes them to attend call-outs for strokes (a category two threat to life).</a:t>
            </a:r>
            <a:endParaRPr sz="2000"/>
          </a:p>
        </p:txBody>
      </p:sp>
      <p:pic>
        <p:nvPicPr>
          <p:cNvPr id="1334" name="Google Shape;1334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25" y="1411079"/>
            <a:ext cx="5536726" cy="3406296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cxnSp>
        <p:nvCxnSpPr>
          <p:cNvPr id="1336" name="Google Shape;1336;p116"/>
          <p:cNvCxnSpPr/>
          <p:nvPr/>
        </p:nvCxnSpPr>
        <p:spPr>
          <a:xfrm>
            <a:off x="896923" y="2355514"/>
            <a:ext cx="5020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37" name="Google Shape;1337;p116"/>
          <p:cNvSpPr txBox="1"/>
          <p:nvPr>
            <p:ph idx="1" type="body"/>
          </p:nvPr>
        </p:nvSpPr>
        <p:spPr>
          <a:xfrm>
            <a:off x="5957775" y="1597500"/>
            <a:ext cx="28623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station is not yet meeting its target response times but, the trend is improving. If the trend continues we can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expect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them to hit 18 minutes next year.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38" name="Google Shape;1338;p116"/>
          <p:cNvCxnSpPr/>
          <p:nvPr/>
        </p:nvCxnSpPr>
        <p:spPr>
          <a:xfrm>
            <a:off x="1262725" y="1569400"/>
            <a:ext cx="4455000" cy="474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1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pic>
        <p:nvPicPr>
          <p:cNvPr id="1344" name="Google Shape;134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25" y="1453925"/>
            <a:ext cx="6238251" cy="34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17"/>
          <p:cNvSpPr txBox="1"/>
          <p:nvPr>
            <p:ph idx="1" type="body"/>
          </p:nvPr>
        </p:nvSpPr>
        <p:spPr>
          <a:xfrm>
            <a:off x="324000" y="759300"/>
            <a:ext cx="8237700" cy="5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An ambulance station records their average response times to emergency calls one year. What patterns do you see in this data?</a:t>
            </a:r>
            <a:endParaRPr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1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351" name="Google Shape;1351;p118"/>
          <p:cNvSpPr txBox="1"/>
          <p:nvPr>
            <p:ph idx="1" type="body"/>
          </p:nvPr>
        </p:nvSpPr>
        <p:spPr>
          <a:xfrm>
            <a:off x="324000" y="720000"/>
            <a:ext cx="8496000" cy="9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A regional fire service records the reasons for house fires over a year and produces this chart. What advice would you give this fire service? Write at least three sentences.</a:t>
            </a:r>
            <a:endParaRPr sz="2000"/>
          </a:p>
        </p:txBody>
      </p:sp>
      <p:pic>
        <p:nvPicPr>
          <p:cNvPr id="1352" name="Google Shape;1352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650306"/>
            <a:ext cx="6855300" cy="317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1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pic>
        <p:nvPicPr>
          <p:cNvPr id="1358" name="Google Shape;1358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25" y="1453925"/>
            <a:ext cx="6238251" cy="34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9"/>
          <p:cNvSpPr txBox="1"/>
          <p:nvPr>
            <p:ph idx="1" type="body"/>
          </p:nvPr>
        </p:nvSpPr>
        <p:spPr>
          <a:xfrm>
            <a:off x="324000" y="759300"/>
            <a:ext cx="8237700" cy="6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An ambulance station records their average response times to emergency calls one year. What patterns do you see in this data?</a:t>
            </a:r>
            <a:endParaRPr sz="2000"/>
          </a:p>
        </p:txBody>
      </p:sp>
      <p:sp>
        <p:nvSpPr>
          <p:cNvPr id="1360" name="Google Shape;1360;p119"/>
          <p:cNvSpPr txBox="1"/>
          <p:nvPr>
            <p:ph idx="1" type="body"/>
          </p:nvPr>
        </p:nvSpPr>
        <p:spPr>
          <a:xfrm>
            <a:off x="3320189" y="2839320"/>
            <a:ext cx="5513400" cy="1012200"/>
          </a:xfrm>
          <a:prstGeom prst="rect">
            <a:avLst/>
          </a:prstGeom>
          <a:solidFill>
            <a:srgbClr val="EAF2F2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said, “Response times to life-threatening calls are improving whereas non life-threatening response times are getting worse.”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2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366" name="Google Shape;1366;p120"/>
          <p:cNvSpPr txBox="1"/>
          <p:nvPr>
            <p:ph idx="1" type="body"/>
          </p:nvPr>
        </p:nvSpPr>
        <p:spPr>
          <a:xfrm>
            <a:off x="324000" y="687025"/>
            <a:ext cx="8496000" cy="6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2) A regional fire service records the reasons for house fires over a year and produces this chart. What advice would you give this fire service? Write at least three sentences.</a:t>
            </a:r>
            <a:endParaRPr sz="2000"/>
          </a:p>
        </p:txBody>
      </p:sp>
      <p:pic>
        <p:nvPicPr>
          <p:cNvPr id="1367" name="Google Shape;1367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88" y="1650306"/>
            <a:ext cx="6855300" cy="317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Uses of data</a:t>
            </a:r>
            <a:endParaRPr/>
          </a:p>
        </p:txBody>
      </p:sp>
      <p:sp>
        <p:nvSpPr>
          <p:cNvPr id="1373" name="Google Shape;1373;p121"/>
          <p:cNvSpPr txBox="1"/>
          <p:nvPr>
            <p:ph idx="1" type="body"/>
          </p:nvPr>
        </p:nvSpPr>
        <p:spPr>
          <a:xfrm>
            <a:off x="324000" y="759300"/>
            <a:ext cx="416400" cy="2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</a:t>
            </a:r>
            <a:endParaRPr sz="2000"/>
          </a:p>
        </p:txBody>
      </p:sp>
      <p:pic>
        <p:nvPicPr>
          <p:cNvPr id="1374" name="Google Shape;137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4" y="1100115"/>
            <a:ext cx="3585224" cy="166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121"/>
          <p:cNvSpPr txBox="1"/>
          <p:nvPr>
            <p:ph idx="1" type="body"/>
          </p:nvPr>
        </p:nvSpPr>
        <p:spPr>
          <a:xfrm>
            <a:off x="4019818" y="1100130"/>
            <a:ext cx="2374800" cy="297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121"/>
          <p:cNvSpPr txBox="1"/>
          <p:nvPr>
            <p:ph idx="1" type="body"/>
          </p:nvPr>
        </p:nvSpPr>
        <p:spPr>
          <a:xfrm>
            <a:off x="4006000" y="1481127"/>
            <a:ext cx="4966500" cy="591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fire engines need to be adequately stocked with the correct gear to tackle cooking appliance fires as these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account for more than half of the house fires.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7" name="Google Shape;1377;p121"/>
          <p:cNvSpPr txBox="1"/>
          <p:nvPr>
            <p:ph idx="1" type="body"/>
          </p:nvPr>
        </p:nvSpPr>
        <p:spPr>
          <a:xfrm>
            <a:off x="324000" y="2879525"/>
            <a:ext cx="8648400" cy="591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ppliances (cooking and domestic) account for around three quarters of fires. This fire service might consider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extra training for firefighters on these types of fires. Additionally they might consider a public campaign to help raise awareness of what causes these types of fires and what can be done to prevent them.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22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aths is used in different ways by emergency response workers.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Firefighters use a formula to calculate their turn-around time before entering a burning building. Police officers use a formula to calculate the speed of cars that were involved in accidents.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All emergency services use data to track their performance over time and to make sure they are prepared to meet the demands placed upon them by the general public.</a:t>
            </a:r>
            <a:endParaRPr/>
          </a:p>
        </p:txBody>
      </p:sp>
      <p:sp>
        <p:nvSpPr>
          <p:cNvPr id="1383" name="Google Shape;1383;p12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Emergency response worker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2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89" name="Google Shape;1389;p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