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53CC0F-1499-456E-8E7E-2329420C4EBA}">
  <a:tblStyle styleId="{F453CC0F-1499-456E-8E7E-2329420C4EB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f514e1c53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f514e1c53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efeb997c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2efeb997c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f514e1c533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f514e1c533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f514e1c533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2f514e1c533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f514e1c533_0_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2f514e1c533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f514e1c533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2f514e1c533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f514e1c533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f514e1c533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f514e1c533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2f514e1c533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f514e1c533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f514e1c533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f514e1c533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2f514e1c533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2f514e1c533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2f514e1c533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2f514e1c533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2f514e1c533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f514e1c533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2f514e1c533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2f514e1c533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2f514e1c533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f514e1c533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f514e1c533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f514e1c533_0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f514e1c533_0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2f514e1c533_0_1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2f514e1c533_0_1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2f514e1c533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2f514e1c533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f514e1c533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f514e1c533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f514e1c533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2f514e1c533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f514e1c533_0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2f514e1c533_0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f514e1c533_0_1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f514e1c533_0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f514e1c533_0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2f514e1c533_0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2f514e1c533_0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2f514e1c533_0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2f514e1c533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2f514e1c533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f514e1c533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f514e1c533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2f514e1c533_0_1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2f514e1c533_0_1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f514e1c533_0_1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2f514e1c533_0_1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2f514e1c533_0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2f514e1c533_0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2f514e1c533_0_1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2f514e1c533_0_1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2f514e1c533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2f514e1c533_0_1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2f514e1c533_0_1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2f514e1c533_0_1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2f514e1c533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2f514e1c533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2f514e1c533_0_1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2f514e1c533_0_1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2f514e1c533_0_1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2f514e1c533_0_1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2f514e1c533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2f514e1c533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2f514e1c533_0_1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2f514e1c533_0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2f514e1c533_0_1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2f514e1c533_0_1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2f514e1c533_0_1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2f514e1c533_0_1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2f514e1c533_0_1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2f514e1c533_0_1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f514e1c533_0_1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2f514e1c533_0_1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2f514e1c533_0_1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2f514e1c533_0_1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2f514e1c533_0_1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2f514e1c533_0_1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2f514e1c53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2f514e1c53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2f514e1c533_0_1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2f514e1c533_0_1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2f514e1c533_0_1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2f514e1c533_0_1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2f514e1c533_0_1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2f514e1c533_0_1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2f514e1c533_0_1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2f514e1c533_0_1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f514e1c533_0_1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2f514e1c533_0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2f514e1c533_0_1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2f514e1c533_0_1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2f514e1c533_0_1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2f514e1c533_0_1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2f514e1c533_0_1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2f514e1c533_0_1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2f514e1c533_0_1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2f514e1c533_0_1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g2f514e1c533_0_1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7" name="Google Shape;1497;g2f514e1c533_0_1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2f514e1c533_0_1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2f514e1c533_0_1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2f514e1c533_0_1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g2f514e1c533_0_1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2f514e1c533_0_1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2f514e1c533_0_1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2f59c2a595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g2f59c2a595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2f59c2a595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2f59c2a595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2f59c2a595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g2f59c2a595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2f59c2a595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g2f59c2a595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2" name="Shape 1572"/>
        <p:cNvGrpSpPr/>
        <p:nvPr/>
      </p:nvGrpSpPr>
      <p:grpSpPr>
        <a:xfrm>
          <a:off x="0" y="0"/>
          <a:ext cx="0" cy="0"/>
          <a:chOff x="0" y="0"/>
          <a:chExt cx="0" cy="0"/>
        </a:xfrm>
      </p:grpSpPr>
      <p:sp>
        <p:nvSpPr>
          <p:cNvPr id="1573" name="Google Shape;157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4" name="Google Shape;157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27.png"/><Relationship Id="rId5"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90.png"/><Relationship Id="rId5" Type="http://schemas.openxmlformats.org/officeDocument/2006/relationships/image" Target="../media/image40.png"/><Relationship Id="rId6" Type="http://schemas.openxmlformats.org/officeDocument/2006/relationships/image" Target="../media/image44.png"/><Relationship Id="rId7" Type="http://schemas.openxmlformats.org/officeDocument/2006/relationships/image" Target="../media/image3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90.png"/><Relationship Id="rId4" Type="http://schemas.openxmlformats.org/officeDocument/2006/relationships/image" Target="../media/image38.png"/><Relationship Id="rId9" Type="http://schemas.openxmlformats.org/officeDocument/2006/relationships/image" Target="../media/image35.png"/><Relationship Id="rId5" Type="http://schemas.openxmlformats.org/officeDocument/2006/relationships/image" Target="../media/image39.png"/><Relationship Id="rId6" Type="http://schemas.openxmlformats.org/officeDocument/2006/relationships/image" Target="../media/image43.png"/><Relationship Id="rId7" Type="http://schemas.openxmlformats.org/officeDocument/2006/relationships/image" Target="../media/image40.png"/><Relationship Id="rId8"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90.png"/><Relationship Id="rId4" Type="http://schemas.openxmlformats.org/officeDocument/2006/relationships/image" Target="../media/image46.png"/><Relationship Id="rId11" Type="http://schemas.openxmlformats.org/officeDocument/2006/relationships/image" Target="../media/image35.png"/><Relationship Id="rId10" Type="http://schemas.openxmlformats.org/officeDocument/2006/relationships/image" Target="../media/image49.png"/><Relationship Id="rId9" Type="http://schemas.openxmlformats.org/officeDocument/2006/relationships/image" Target="../media/image44.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3.png"/><Relationship Id="rId8" Type="http://schemas.openxmlformats.org/officeDocument/2006/relationships/image" Target="../media/image4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1.png"/><Relationship Id="rId4" Type="http://schemas.openxmlformats.org/officeDocument/2006/relationships/image" Target="../media/image5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1.png"/><Relationship Id="rId4" Type="http://schemas.openxmlformats.org/officeDocument/2006/relationships/image" Target="../media/image5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1.png"/><Relationship Id="rId4" Type="http://schemas.openxmlformats.org/officeDocument/2006/relationships/image" Target="../media/image5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6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6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32" name="Shape 832"/>
        <p:cNvGrpSpPr/>
        <p:nvPr/>
      </p:nvGrpSpPr>
      <p:grpSpPr>
        <a:xfrm>
          <a:off x="0" y="0"/>
          <a:ext cx="0" cy="0"/>
          <a:chOff x="0" y="0"/>
          <a:chExt cx="0" cy="0"/>
        </a:xfrm>
      </p:grpSpPr>
      <p:sp>
        <p:nvSpPr>
          <p:cNvPr id="833" name="Google Shape;833;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5" name="Google Shape;835;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6" name="Google Shape;836;p7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7" name="Google Shape;837;p7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71.png"/><Relationship Id="rId4" Type="http://schemas.openxmlformats.org/officeDocument/2006/relationships/image" Target="../media/image76.png"/><Relationship Id="rId5" Type="http://schemas.openxmlformats.org/officeDocument/2006/relationships/image" Target="../media/image73.png"/><Relationship Id="rId6" Type="http://schemas.openxmlformats.org/officeDocument/2006/relationships/image" Target="../media/image70.png"/><Relationship Id="rId7" Type="http://schemas.openxmlformats.org/officeDocument/2006/relationships/image" Target="../media/image74.png"/><Relationship Id="rId8"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71.png"/><Relationship Id="rId4" Type="http://schemas.openxmlformats.org/officeDocument/2006/relationships/image" Target="../media/image76.png"/><Relationship Id="rId5" Type="http://schemas.openxmlformats.org/officeDocument/2006/relationships/image" Target="../media/image73.png"/><Relationship Id="rId6" Type="http://schemas.openxmlformats.org/officeDocument/2006/relationships/image" Target="../media/image70.png"/><Relationship Id="rId7" Type="http://schemas.openxmlformats.org/officeDocument/2006/relationships/image" Target="../media/image74.png"/><Relationship Id="rId8" Type="http://schemas.openxmlformats.org/officeDocument/2006/relationships/image" Target="../media/image7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7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 Id="rId3" Type="http://schemas.openxmlformats.org/officeDocument/2006/relationships/image" Target="../media/image7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image8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81.png"/><Relationship Id="rId4" Type="http://schemas.openxmlformats.org/officeDocument/2006/relationships/image" Target="../media/image78.png"/><Relationship Id="rId5" Type="http://schemas.openxmlformats.org/officeDocument/2006/relationships/image" Target="../media/image8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7.xml"/><Relationship Id="rId3" Type="http://schemas.openxmlformats.org/officeDocument/2006/relationships/image" Target="../media/image8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 Id="rId3" Type="http://schemas.openxmlformats.org/officeDocument/2006/relationships/image" Target="../media/image79.png"/><Relationship Id="rId4" Type="http://schemas.openxmlformats.org/officeDocument/2006/relationships/image" Target="../media/image74.png"/><Relationship Id="rId5" Type="http://schemas.openxmlformats.org/officeDocument/2006/relationships/image" Target="../media/image7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 Id="rId3" Type="http://schemas.openxmlformats.org/officeDocument/2006/relationships/image" Target="../media/image83.png"/><Relationship Id="rId4" Type="http://schemas.openxmlformats.org/officeDocument/2006/relationships/image" Target="../media/image76.png"/><Relationship Id="rId5" Type="http://schemas.openxmlformats.org/officeDocument/2006/relationships/image" Target="../media/image8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0.xml"/><Relationship Id="rId3" Type="http://schemas.openxmlformats.org/officeDocument/2006/relationships/image" Target="../media/image8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1.xml"/><Relationship Id="rId3" Type="http://schemas.openxmlformats.org/officeDocument/2006/relationships/image" Target="../media/image83.png"/><Relationship Id="rId4" Type="http://schemas.openxmlformats.org/officeDocument/2006/relationships/image" Target="../media/image87.png"/><Relationship Id="rId5" Type="http://schemas.openxmlformats.org/officeDocument/2006/relationships/image" Target="../media/image8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2.xml"/><Relationship Id="rId3" Type="http://schemas.openxmlformats.org/officeDocument/2006/relationships/image" Target="../media/image86.png"/><Relationship Id="rId4" Type="http://schemas.openxmlformats.org/officeDocument/2006/relationships/image" Target="../media/image8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xml"/><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8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7.xml"/><Relationship Id="rId3" Type="http://schemas.openxmlformats.org/officeDocument/2006/relationships/image" Target="../media/image91.png"/><Relationship Id="rId4" Type="http://schemas.openxmlformats.org/officeDocument/2006/relationships/image" Target="../media/image9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8.xml"/><Relationship Id="rId3" Type="http://schemas.openxmlformats.org/officeDocument/2006/relationships/image" Target="../media/image89.png"/><Relationship Id="rId4" Type="http://schemas.openxmlformats.org/officeDocument/2006/relationships/image" Target="../media/image9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 Id="rId3" Type="http://schemas.openxmlformats.org/officeDocument/2006/relationships/image" Target="../media/image94.png"/><Relationship Id="rId4" Type="http://schemas.openxmlformats.org/officeDocument/2006/relationships/image" Target="../media/image9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0.xml"/><Relationship Id="rId3" Type="http://schemas.openxmlformats.org/officeDocument/2006/relationships/image" Target="../media/image93.png"/><Relationship Id="rId4" Type="http://schemas.openxmlformats.org/officeDocument/2006/relationships/image" Target="../media/image95.png"/><Relationship Id="rId5" Type="http://schemas.openxmlformats.org/officeDocument/2006/relationships/image" Target="../media/image9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1.xml"/><Relationship Id="rId3" Type="http://schemas.openxmlformats.org/officeDocument/2006/relationships/image" Target="../media/image93.png"/><Relationship Id="rId4" Type="http://schemas.openxmlformats.org/officeDocument/2006/relationships/image" Target="../media/image95.png"/><Relationship Id="rId5" Type="http://schemas.openxmlformats.org/officeDocument/2006/relationships/image" Target="../media/image100.png"/><Relationship Id="rId6" Type="http://schemas.openxmlformats.org/officeDocument/2006/relationships/image" Target="../media/image9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2.xml"/><Relationship Id="rId3" Type="http://schemas.openxmlformats.org/officeDocument/2006/relationships/image" Target="../media/image98.png"/><Relationship Id="rId4" Type="http://schemas.openxmlformats.org/officeDocument/2006/relationships/image" Target="../media/image9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3.xml"/><Relationship Id="rId3" Type="http://schemas.openxmlformats.org/officeDocument/2006/relationships/image" Target="../media/image102.png"/><Relationship Id="rId4" Type="http://schemas.openxmlformats.org/officeDocument/2006/relationships/image" Target="../media/image96.png"/><Relationship Id="rId5" Type="http://schemas.openxmlformats.org/officeDocument/2006/relationships/image" Target="../media/image9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4.xml"/><Relationship Id="rId3" Type="http://schemas.openxmlformats.org/officeDocument/2006/relationships/image" Target="../media/image96.png"/><Relationship Id="rId4" Type="http://schemas.openxmlformats.org/officeDocument/2006/relationships/image" Target="../media/image83.png"/><Relationship Id="rId5" Type="http://schemas.openxmlformats.org/officeDocument/2006/relationships/image" Target="../media/image99.png"/><Relationship Id="rId6" Type="http://schemas.openxmlformats.org/officeDocument/2006/relationships/image" Target="../media/image97.png"/><Relationship Id="rId7" Type="http://schemas.openxmlformats.org/officeDocument/2006/relationships/image" Target="../media/image9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 Id="rId3" Type="http://schemas.openxmlformats.org/officeDocument/2006/relationships/image" Target="../media/image104.png"/><Relationship Id="rId4" Type="http://schemas.openxmlformats.org/officeDocument/2006/relationships/image" Target="../media/image9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6.xml"/><Relationship Id="rId3" Type="http://schemas.openxmlformats.org/officeDocument/2006/relationships/image" Target="../media/image105.png"/><Relationship Id="rId4" Type="http://schemas.openxmlformats.org/officeDocument/2006/relationships/image" Target="../media/image101.png"/><Relationship Id="rId5"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7.xml"/><Relationship Id="rId3" Type="http://schemas.openxmlformats.org/officeDocument/2006/relationships/image" Target="../media/image101.png"/><Relationship Id="rId4" Type="http://schemas.openxmlformats.org/officeDocument/2006/relationships/image" Target="../media/image63.png"/><Relationship Id="rId5" Type="http://schemas.openxmlformats.org/officeDocument/2006/relationships/image" Target="../media/image10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8.xml"/><Relationship Id="rId3" Type="http://schemas.openxmlformats.org/officeDocument/2006/relationships/image" Target="../media/image10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9.xml"/><Relationship Id="rId3" Type="http://schemas.openxmlformats.org/officeDocument/2006/relationships/image" Target="../media/image8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0.xml"/><Relationship Id="rId3" Type="http://schemas.openxmlformats.org/officeDocument/2006/relationships/image" Target="../media/image8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1.xml"/><Relationship Id="rId3" Type="http://schemas.openxmlformats.org/officeDocument/2006/relationships/image" Target="../media/image10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3.xml"/><Relationship Id="rId3" Type="http://schemas.openxmlformats.org/officeDocument/2006/relationships/image" Target="../media/image8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4.xml"/><Relationship Id="rId3" Type="http://schemas.openxmlformats.org/officeDocument/2006/relationships/image" Target="../media/image8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5.xml"/><Relationship Id="rId3" Type="http://schemas.openxmlformats.org/officeDocument/2006/relationships/image" Target="../media/image109.png"/><Relationship Id="rId4" Type="http://schemas.openxmlformats.org/officeDocument/2006/relationships/image" Target="../media/image10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6.xml"/><Relationship Id="rId3" Type="http://schemas.openxmlformats.org/officeDocument/2006/relationships/image" Target="../media/image10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7.xml"/><Relationship Id="rId3" Type="http://schemas.openxmlformats.org/officeDocument/2006/relationships/image" Target="../media/image6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8.xml"/><Relationship Id="rId3" Type="http://schemas.openxmlformats.org/officeDocument/2006/relationships/image" Target="../media/image1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9.xml"/><Relationship Id="rId3" Type="http://schemas.openxmlformats.org/officeDocument/2006/relationships/image" Target="../media/image1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0.xml"/><Relationship Id="rId3" Type="http://schemas.openxmlformats.org/officeDocument/2006/relationships/image" Target="../media/image1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3.xml"/><Relationship Id="rId3" Type="http://schemas.openxmlformats.org/officeDocument/2006/relationships/image" Target="../media/image111.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4.xml"/><Relationship Id="rId3" Type="http://schemas.openxmlformats.org/officeDocument/2006/relationships/image" Target="../media/image1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5.xml"/><Relationship Id="rId3" Type="http://schemas.openxmlformats.org/officeDocument/2006/relationships/image" Target="../media/image114.png"/><Relationship Id="rId4" Type="http://schemas.openxmlformats.org/officeDocument/2006/relationships/image" Target="../media/image1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6.xml"/><Relationship Id="rId3" Type="http://schemas.openxmlformats.org/officeDocument/2006/relationships/image" Target="../media/image113.png"/><Relationship Id="rId4" Type="http://schemas.openxmlformats.org/officeDocument/2006/relationships/image" Target="../media/image1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7.xml"/><Relationship Id="rId3" Type="http://schemas.openxmlformats.org/officeDocument/2006/relationships/image" Target="../media/image113.png"/><Relationship Id="rId4" Type="http://schemas.openxmlformats.org/officeDocument/2006/relationships/image" Target="../media/image111.png"/><Relationship Id="rId5" Type="http://schemas.openxmlformats.org/officeDocument/2006/relationships/image" Target="../media/image1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8.xml"/><Relationship Id="rId3" Type="http://schemas.openxmlformats.org/officeDocument/2006/relationships/image" Target="../media/image118.png"/><Relationship Id="rId4" Type="http://schemas.openxmlformats.org/officeDocument/2006/relationships/image" Target="../media/image111.png"/><Relationship Id="rId5" Type="http://schemas.openxmlformats.org/officeDocument/2006/relationships/image" Target="../media/image1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9.xml"/><Relationship Id="rId3" Type="http://schemas.openxmlformats.org/officeDocument/2006/relationships/image" Target="../media/image116.png"/><Relationship Id="rId4" Type="http://schemas.openxmlformats.org/officeDocument/2006/relationships/image" Target="../media/image1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60.xml"/><Relationship Id="rId3" Type="http://schemas.openxmlformats.org/officeDocument/2006/relationships/image" Target="../media/image1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61.xml"/><Relationship Id="rId3" Type="http://schemas.openxmlformats.org/officeDocument/2006/relationships/image" Target="../media/image121.png"/><Relationship Id="rId4" Type="http://schemas.openxmlformats.org/officeDocument/2006/relationships/image" Target="../media/image1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2.xml"/><Relationship Id="rId3" Type="http://schemas.openxmlformats.org/officeDocument/2006/relationships/image" Target="../media/image1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3.xml"/><Relationship Id="rId3" Type="http://schemas.openxmlformats.org/officeDocument/2006/relationships/image" Target="../media/image1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4.xml"/><Relationship Id="rId3" Type="http://schemas.openxmlformats.org/officeDocument/2006/relationships/image" Target="../media/image1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6.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Running a small business</a:t>
            </a:r>
            <a:endParaRPr/>
          </a:p>
        </p:txBody>
      </p:sp>
      <p:sp>
        <p:nvSpPr>
          <p:cNvPr id="844" name="Google Shape;844;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in the workplace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8" name="Shape 848"/>
        <p:cNvGrpSpPr/>
        <p:nvPr/>
      </p:nvGrpSpPr>
      <p:grpSpPr>
        <a:xfrm>
          <a:off x="0" y="0"/>
          <a:ext cx="0" cy="0"/>
          <a:chOff x="0" y="0"/>
          <a:chExt cx="0" cy="0"/>
        </a:xfrm>
      </p:grpSpPr>
      <p:sp>
        <p:nvSpPr>
          <p:cNvPr id="849" name="Google Shape;849;p75"/>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maths is used by independent business owners.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7"/>
          <p:cNvSpPr txBox="1"/>
          <p:nvPr/>
        </p:nvSpPr>
        <p:spPr>
          <a:xfrm>
            <a:off x="383150" y="836400"/>
            <a:ext cx="84369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Percentage profit is the increase when referencing something that is sold for more than the cost price given as a percentage of the original amount.</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GB" sz="2200">
                <a:solidFill>
                  <a:schemeClr val="dk1"/>
                </a:solidFill>
                <a:latin typeface="Lexend"/>
                <a:ea typeface="Lexend"/>
                <a:cs typeface="Lexend"/>
                <a:sym typeface="Lexend"/>
              </a:rPr>
              <a:t>An average is a single number expressing the central or typical value in a set of data; the mode, the median, and the mean.</a:t>
            </a:r>
            <a:endParaRPr sz="2200">
              <a:solidFill>
                <a:schemeClr val="dk1"/>
              </a:solidFill>
              <a:latin typeface="Lexend"/>
              <a:ea typeface="Lexend"/>
              <a:cs typeface="Lexend"/>
              <a:sym typeface="Lexend"/>
            </a:endParaRPr>
          </a:p>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865" name="Google Shape;865;p7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866" name="Google Shape;866;p7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Running a small business</a:t>
            </a:r>
            <a:endParaRPr/>
          </a:p>
        </p:txBody>
      </p:sp>
      <p:pic>
        <p:nvPicPr>
          <p:cNvPr id="867" name="Google Shape;867;p78"/>
          <p:cNvPicPr preferRelativeResize="0"/>
          <p:nvPr/>
        </p:nvPicPr>
        <p:blipFill>
          <a:blip r:embed="rId3">
            <a:alphaModFix/>
          </a:blip>
          <a:stretch>
            <a:fillRect/>
          </a:stretch>
        </p:blipFill>
        <p:spPr>
          <a:xfrm>
            <a:off x="417042" y="2050101"/>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9"/>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Alex and Izzy have opened their first business, a cafe. Here are their first three years of results.</a:t>
            </a:r>
            <a:endParaRPr/>
          </a:p>
        </p:txBody>
      </p:sp>
      <p:sp>
        <p:nvSpPr>
          <p:cNvPr id="873" name="Google Shape;873;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pic>
        <p:nvPicPr>
          <p:cNvPr id="874" name="Google Shape;874;p79"/>
          <p:cNvPicPr preferRelativeResize="0"/>
          <p:nvPr/>
        </p:nvPicPr>
        <p:blipFill>
          <a:blip r:embed="rId3">
            <a:alphaModFix/>
          </a:blip>
          <a:stretch>
            <a:fillRect/>
          </a:stretch>
        </p:blipFill>
        <p:spPr>
          <a:xfrm>
            <a:off x="7064525" y="2343289"/>
            <a:ext cx="1755475" cy="2506909"/>
          </a:xfrm>
          <a:prstGeom prst="rect">
            <a:avLst/>
          </a:prstGeom>
          <a:noFill/>
          <a:ln>
            <a:noFill/>
          </a:ln>
        </p:spPr>
      </p:pic>
      <p:pic>
        <p:nvPicPr>
          <p:cNvPr id="875" name="Google Shape;875;p79"/>
          <p:cNvPicPr preferRelativeResize="0"/>
          <p:nvPr/>
        </p:nvPicPr>
        <p:blipFill>
          <a:blip r:embed="rId4">
            <a:alphaModFix/>
          </a:blip>
          <a:stretch>
            <a:fillRect/>
          </a:stretch>
        </p:blipFill>
        <p:spPr>
          <a:xfrm>
            <a:off x="4826875" y="3897541"/>
            <a:ext cx="1452399" cy="970399"/>
          </a:xfrm>
          <a:prstGeom prst="rect">
            <a:avLst/>
          </a:prstGeom>
          <a:noFill/>
          <a:ln>
            <a:noFill/>
          </a:ln>
        </p:spPr>
      </p:pic>
      <p:pic>
        <p:nvPicPr>
          <p:cNvPr id="876" name="Google Shape;876;p79"/>
          <p:cNvPicPr preferRelativeResize="0"/>
          <p:nvPr/>
        </p:nvPicPr>
        <p:blipFill>
          <a:blip r:embed="rId5">
            <a:alphaModFix/>
          </a:blip>
          <a:stretch>
            <a:fillRect/>
          </a:stretch>
        </p:blipFill>
        <p:spPr>
          <a:xfrm>
            <a:off x="3929375" y="3785714"/>
            <a:ext cx="737875" cy="1033936"/>
          </a:xfrm>
          <a:prstGeom prst="rect">
            <a:avLst/>
          </a:prstGeom>
          <a:noFill/>
          <a:ln>
            <a:noFill/>
          </a:ln>
        </p:spPr>
      </p:pic>
      <p:pic>
        <p:nvPicPr>
          <p:cNvPr id="877" name="Google Shape;877;p79"/>
          <p:cNvPicPr preferRelativeResize="0"/>
          <p:nvPr/>
        </p:nvPicPr>
        <p:blipFill>
          <a:blip r:embed="rId6">
            <a:alphaModFix/>
          </a:blip>
          <a:stretch>
            <a:fillRect/>
          </a:stretch>
        </p:blipFill>
        <p:spPr>
          <a:xfrm>
            <a:off x="6379659" y="3516698"/>
            <a:ext cx="684866" cy="1295469"/>
          </a:xfrm>
          <a:prstGeom prst="rect">
            <a:avLst/>
          </a:prstGeom>
          <a:noFill/>
          <a:ln>
            <a:noFill/>
          </a:ln>
        </p:spPr>
      </p:pic>
      <p:pic>
        <p:nvPicPr>
          <p:cNvPr id="878" name="Google Shape;878;p79"/>
          <p:cNvPicPr preferRelativeResize="0"/>
          <p:nvPr/>
        </p:nvPicPr>
        <p:blipFill>
          <a:blip r:embed="rId7">
            <a:alphaModFix/>
          </a:blip>
          <a:stretch>
            <a:fillRect/>
          </a:stretch>
        </p:blipFill>
        <p:spPr>
          <a:xfrm flipH="1">
            <a:off x="323925" y="3028950"/>
            <a:ext cx="1331420" cy="1288457"/>
          </a:xfrm>
          <a:prstGeom prst="rect">
            <a:avLst/>
          </a:prstGeom>
          <a:noFill/>
          <a:ln>
            <a:noFill/>
          </a:ln>
        </p:spPr>
      </p:pic>
      <p:pic>
        <p:nvPicPr>
          <p:cNvPr id="879" name="Google Shape;879;p79"/>
          <p:cNvPicPr preferRelativeResize="0"/>
          <p:nvPr/>
        </p:nvPicPr>
        <p:blipFill>
          <a:blip r:embed="rId8">
            <a:alphaModFix/>
          </a:blip>
          <a:stretch>
            <a:fillRect/>
          </a:stretch>
        </p:blipFill>
        <p:spPr>
          <a:xfrm flipH="1">
            <a:off x="1680216" y="3707932"/>
            <a:ext cx="928450" cy="1070743"/>
          </a:xfrm>
          <a:prstGeom prst="rect">
            <a:avLst/>
          </a:prstGeom>
          <a:noFill/>
          <a:ln>
            <a:noFill/>
          </a:ln>
        </p:spPr>
      </p:pic>
      <p:graphicFrame>
        <p:nvGraphicFramePr>
          <p:cNvPr id="880" name="Google Shape;880;p79"/>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Clr>
                          <a:schemeClr val="dk1"/>
                        </a:buClr>
                        <a:buSzPts val="1100"/>
                        <a:buFont typeface="Arial"/>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80"/>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Some terminology:</a:t>
            </a:r>
            <a:endParaRPr/>
          </a:p>
        </p:txBody>
      </p:sp>
      <p:sp>
        <p:nvSpPr>
          <p:cNvPr id="886" name="Google Shape;886;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887" name="Google Shape;887;p80"/>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88" name="Google Shape;888;p80"/>
          <p:cNvSpPr txBox="1"/>
          <p:nvPr>
            <p:ph idx="1" type="body"/>
          </p:nvPr>
        </p:nvSpPr>
        <p:spPr>
          <a:xfrm>
            <a:off x="324000" y="3289175"/>
            <a:ext cx="8496000" cy="117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chemeClr val="accent4"/>
                </a:solidFill>
              </a:rPr>
              <a:t>Revenue</a:t>
            </a:r>
            <a:r>
              <a:rPr lang="en-GB"/>
              <a:t> is the income into the business, i.e. the money that goes in the till from sales. If customers buy </a:t>
            </a:r>
            <a:r>
              <a:rPr lang="en-GB" sz="2400">
                <a:latin typeface="Times New Roman"/>
                <a:ea typeface="Times New Roman"/>
                <a:cs typeface="Times New Roman"/>
                <a:sym typeface="Times New Roman"/>
              </a:rPr>
              <a:t>300</a:t>
            </a:r>
            <a:r>
              <a:rPr lang="en-GB"/>
              <a:t> coffees a week at </a:t>
            </a:r>
            <a:r>
              <a:rPr lang="en-GB" sz="2400">
                <a:latin typeface="Times New Roman"/>
                <a:ea typeface="Times New Roman"/>
                <a:cs typeface="Times New Roman"/>
                <a:sym typeface="Times New Roman"/>
              </a:rPr>
              <a:t>£3</a:t>
            </a:r>
            <a:r>
              <a:rPr lang="en-GB"/>
              <a:t> each that is </a:t>
            </a:r>
            <a:r>
              <a:rPr lang="en-GB" sz="2400">
                <a:latin typeface="Times New Roman"/>
                <a:ea typeface="Times New Roman"/>
                <a:cs typeface="Times New Roman"/>
                <a:sym typeface="Times New Roman"/>
              </a:rPr>
              <a:t>£900</a:t>
            </a:r>
            <a:r>
              <a:rPr lang="en-GB"/>
              <a:t> in revenue.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81"/>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Some terminology:</a:t>
            </a:r>
            <a:endParaRPr/>
          </a:p>
        </p:txBody>
      </p:sp>
      <p:sp>
        <p:nvSpPr>
          <p:cNvPr id="894" name="Google Shape;894;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895" name="Google Shape;895;p81"/>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96" name="Google Shape;896;p81"/>
          <p:cNvSpPr txBox="1"/>
          <p:nvPr>
            <p:ph idx="1" type="body"/>
          </p:nvPr>
        </p:nvSpPr>
        <p:spPr>
          <a:xfrm>
            <a:off x="324000" y="3289175"/>
            <a:ext cx="8496000" cy="117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solidFill>
                  <a:schemeClr val="accent4"/>
                </a:solidFill>
              </a:rPr>
              <a:t>Gross profit</a:t>
            </a:r>
            <a:r>
              <a:rPr lang="en-GB"/>
              <a:t> </a:t>
            </a:r>
            <a:r>
              <a:rPr lang="en-GB"/>
              <a:t>is the total revenue minus the cost of the goods that were sold. E.g. If the milk and beans used to make a cup of coffee cost </a:t>
            </a:r>
            <a:r>
              <a:rPr lang="en-GB" sz="2400">
                <a:latin typeface="Times New Roman"/>
                <a:ea typeface="Times New Roman"/>
                <a:cs typeface="Times New Roman"/>
                <a:sym typeface="Times New Roman"/>
              </a:rPr>
              <a:t>£1</a:t>
            </a:r>
            <a:r>
              <a:rPr lang="en-GB"/>
              <a:t> and we sell that cup for </a:t>
            </a:r>
            <a:r>
              <a:rPr lang="en-GB" sz="2400">
                <a:latin typeface="Times New Roman"/>
                <a:ea typeface="Times New Roman"/>
                <a:cs typeface="Times New Roman"/>
                <a:sym typeface="Times New Roman"/>
              </a:rPr>
              <a:t>£3</a:t>
            </a:r>
            <a:r>
              <a:rPr lang="en-GB"/>
              <a:t> that is a gross profit of </a:t>
            </a:r>
            <a:r>
              <a:rPr lang="en-GB" sz="2400">
                <a:latin typeface="Times New Roman"/>
                <a:ea typeface="Times New Roman"/>
                <a:cs typeface="Times New Roman"/>
                <a:sym typeface="Times New Roman"/>
              </a:rPr>
              <a:t>£2</a:t>
            </a:r>
            <a:r>
              <a:rPr lang="en-GB"/>
              <a:t> per cup.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82"/>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Some terminology:</a:t>
            </a:r>
            <a:endParaRPr/>
          </a:p>
        </p:txBody>
      </p:sp>
      <p:sp>
        <p:nvSpPr>
          <p:cNvPr id="902" name="Google Shape;902;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903" name="Google Shape;903;p82"/>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04" name="Google Shape;904;p82"/>
          <p:cNvSpPr txBox="1"/>
          <p:nvPr>
            <p:ph idx="1" type="body"/>
          </p:nvPr>
        </p:nvSpPr>
        <p:spPr>
          <a:xfrm>
            <a:off x="324000" y="3289175"/>
            <a:ext cx="8496000" cy="1174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solidFill>
                  <a:schemeClr val="accent4"/>
                </a:solidFill>
              </a:rPr>
              <a:t>Gross profit</a:t>
            </a:r>
            <a:r>
              <a:rPr lang="en-GB"/>
              <a:t> only includes the cost of the goods, the </a:t>
            </a:r>
            <a:r>
              <a:rPr lang="en-GB">
                <a:solidFill>
                  <a:schemeClr val="accent4"/>
                </a:solidFill>
              </a:rPr>
              <a:t>variable costs</a:t>
            </a:r>
            <a:r>
              <a:rPr lang="en-GB"/>
              <a:t>. i.e. As the number of cups of coffee varies, the amount of beans and milk needed varies. </a:t>
            </a:r>
            <a:r>
              <a:rPr lang="en-GB">
                <a:solidFill>
                  <a:schemeClr val="accent4"/>
                </a:solidFill>
              </a:rPr>
              <a:t>Gross profit</a:t>
            </a:r>
            <a:r>
              <a:rPr lang="en-GB"/>
              <a:t> does not include </a:t>
            </a:r>
            <a:r>
              <a:rPr lang="en-GB">
                <a:solidFill>
                  <a:schemeClr val="accent4"/>
                </a:solidFill>
              </a:rPr>
              <a:t>fixed costs</a:t>
            </a:r>
            <a:r>
              <a:rPr lang="en-GB"/>
              <a:t> like buildings and bills.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83"/>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Is Alex</a:t>
            </a:r>
            <a:r>
              <a:rPr lang="en-GB"/>
              <a:t> and Izzy’s business doing well?</a:t>
            </a:r>
            <a:endParaRPr/>
          </a:p>
        </p:txBody>
      </p:sp>
      <p:sp>
        <p:nvSpPr>
          <p:cNvPr id="910" name="Google Shape;910;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pic>
        <p:nvPicPr>
          <p:cNvPr id="911" name="Google Shape;911;p83"/>
          <p:cNvPicPr preferRelativeResize="0"/>
          <p:nvPr/>
        </p:nvPicPr>
        <p:blipFill>
          <a:blip r:embed="rId3">
            <a:alphaModFix/>
          </a:blip>
          <a:stretch>
            <a:fillRect/>
          </a:stretch>
        </p:blipFill>
        <p:spPr>
          <a:xfrm>
            <a:off x="7064525" y="2343289"/>
            <a:ext cx="1755475" cy="2506909"/>
          </a:xfrm>
          <a:prstGeom prst="rect">
            <a:avLst/>
          </a:prstGeom>
          <a:noFill/>
          <a:ln>
            <a:noFill/>
          </a:ln>
        </p:spPr>
      </p:pic>
      <p:pic>
        <p:nvPicPr>
          <p:cNvPr id="912" name="Google Shape;912;p83"/>
          <p:cNvPicPr preferRelativeResize="0"/>
          <p:nvPr/>
        </p:nvPicPr>
        <p:blipFill>
          <a:blip r:embed="rId4">
            <a:alphaModFix/>
          </a:blip>
          <a:stretch>
            <a:fillRect/>
          </a:stretch>
        </p:blipFill>
        <p:spPr>
          <a:xfrm>
            <a:off x="4826875" y="3897541"/>
            <a:ext cx="1452399" cy="970399"/>
          </a:xfrm>
          <a:prstGeom prst="rect">
            <a:avLst/>
          </a:prstGeom>
          <a:noFill/>
          <a:ln>
            <a:noFill/>
          </a:ln>
        </p:spPr>
      </p:pic>
      <p:pic>
        <p:nvPicPr>
          <p:cNvPr id="913" name="Google Shape;913;p83"/>
          <p:cNvPicPr preferRelativeResize="0"/>
          <p:nvPr/>
        </p:nvPicPr>
        <p:blipFill>
          <a:blip r:embed="rId5">
            <a:alphaModFix/>
          </a:blip>
          <a:stretch>
            <a:fillRect/>
          </a:stretch>
        </p:blipFill>
        <p:spPr>
          <a:xfrm>
            <a:off x="3929375" y="3785714"/>
            <a:ext cx="737875" cy="1033936"/>
          </a:xfrm>
          <a:prstGeom prst="rect">
            <a:avLst/>
          </a:prstGeom>
          <a:noFill/>
          <a:ln>
            <a:noFill/>
          </a:ln>
        </p:spPr>
      </p:pic>
      <p:pic>
        <p:nvPicPr>
          <p:cNvPr id="914" name="Google Shape;914;p83"/>
          <p:cNvPicPr preferRelativeResize="0"/>
          <p:nvPr/>
        </p:nvPicPr>
        <p:blipFill>
          <a:blip r:embed="rId6">
            <a:alphaModFix/>
          </a:blip>
          <a:stretch>
            <a:fillRect/>
          </a:stretch>
        </p:blipFill>
        <p:spPr>
          <a:xfrm>
            <a:off x="6379659" y="3516698"/>
            <a:ext cx="684866" cy="1295469"/>
          </a:xfrm>
          <a:prstGeom prst="rect">
            <a:avLst/>
          </a:prstGeom>
          <a:noFill/>
          <a:ln>
            <a:noFill/>
          </a:ln>
        </p:spPr>
      </p:pic>
      <p:pic>
        <p:nvPicPr>
          <p:cNvPr id="915" name="Google Shape;915;p83"/>
          <p:cNvPicPr preferRelativeResize="0"/>
          <p:nvPr/>
        </p:nvPicPr>
        <p:blipFill>
          <a:blip r:embed="rId7">
            <a:alphaModFix/>
          </a:blip>
          <a:stretch>
            <a:fillRect/>
          </a:stretch>
        </p:blipFill>
        <p:spPr>
          <a:xfrm flipH="1">
            <a:off x="323925" y="3028950"/>
            <a:ext cx="1331420" cy="1288457"/>
          </a:xfrm>
          <a:prstGeom prst="rect">
            <a:avLst/>
          </a:prstGeom>
          <a:noFill/>
          <a:ln>
            <a:noFill/>
          </a:ln>
        </p:spPr>
      </p:pic>
      <p:pic>
        <p:nvPicPr>
          <p:cNvPr id="916" name="Google Shape;916;p83"/>
          <p:cNvPicPr preferRelativeResize="0"/>
          <p:nvPr/>
        </p:nvPicPr>
        <p:blipFill>
          <a:blip r:embed="rId8">
            <a:alphaModFix/>
          </a:blip>
          <a:stretch>
            <a:fillRect/>
          </a:stretch>
        </p:blipFill>
        <p:spPr>
          <a:xfrm flipH="1">
            <a:off x="1680216" y="3707932"/>
            <a:ext cx="928450" cy="1070743"/>
          </a:xfrm>
          <a:prstGeom prst="rect">
            <a:avLst/>
          </a:prstGeom>
          <a:noFill/>
          <a:ln>
            <a:noFill/>
          </a:ln>
        </p:spPr>
      </p:pic>
      <p:graphicFrame>
        <p:nvGraphicFramePr>
          <p:cNvPr id="917" name="Google Shape;917;p83"/>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84"/>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Is Alex and Izzy’s business doing well?</a:t>
            </a:r>
            <a:endParaRPr/>
          </a:p>
        </p:txBody>
      </p:sp>
      <p:sp>
        <p:nvSpPr>
          <p:cNvPr id="923" name="Google Shape;923;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924" name="Google Shape;924;p84"/>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25" name="Google Shape;925;p84"/>
          <p:cNvSpPr txBox="1"/>
          <p:nvPr>
            <p:ph idx="1" type="body"/>
          </p:nvPr>
        </p:nvSpPr>
        <p:spPr>
          <a:xfrm>
            <a:off x="324000" y="3243625"/>
            <a:ext cx="8496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Both gross profit and revenue are up so it looks like the business is going well.</a:t>
            </a:r>
            <a:endParaRPr/>
          </a:p>
        </p:txBody>
      </p:sp>
      <p:sp>
        <p:nvSpPr>
          <p:cNvPr id="926" name="Google Shape;926;p84"/>
          <p:cNvSpPr txBox="1"/>
          <p:nvPr>
            <p:ph idx="1" type="body"/>
          </p:nvPr>
        </p:nvSpPr>
        <p:spPr>
          <a:xfrm>
            <a:off x="324000" y="4005625"/>
            <a:ext cx="8496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However, proportion plays an important part in understanding if a</a:t>
            </a:r>
            <a:r>
              <a:rPr lang="en-GB"/>
              <a:t> business is doing well; if it is being efficient.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85"/>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Clr>
                <a:schemeClr val="dk1"/>
              </a:buClr>
              <a:buSzPts val="1100"/>
              <a:buFont typeface="Arial"/>
              <a:buNone/>
            </a:pPr>
            <a:r>
              <a:rPr lang="en-GB"/>
              <a:t>Is Alex and Izzy’s business doing well?</a:t>
            </a:r>
            <a:endParaRPr/>
          </a:p>
        </p:txBody>
      </p:sp>
      <p:sp>
        <p:nvSpPr>
          <p:cNvPr id="932" name="Google Shape;932;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933" name="Google Shape;933;p85"/>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34" name="Google Shape;934;p85"/>
          <p:cNvSpPr txBox="1"/>
          <p:nvPr>
            <p:ph idx="1" type="body"/>
          </p:nvPr>
        </p:nvSpPr>
        <p:spPr>
          <a:xfrm>
            <a:off x="324000" y="3243625"/>
            <a:ext cx="8496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To get from </a:t>
            </a:r>
            <a:r>
              <a:rPr lang="en-GB" sz="2400">
                <a:latin typeface="Times New Roman"/>
                <a:ea typeface="Times New Roman"/>
                <a:cs typeface="Times New Roman"/>
                <a:sym typeface="Times New Roman"/>
              </a:rPr>
              <a:t>£60 000</a:t>
            </a:r>
            <a:r>
              <a:rPr lang="en-GB"/>
              <a:t> in revenue to </a:t>
            </a:r>
            <a:r>
              <a:rPr lang="en-GB" sz="2400">
                <a:latin typeface="Times New Roman"/>
                <a:ea typeface="Times New Roman"/>
                <a:cs typeface="Times New Roman"/>
                <a:sym typeface="Times New Roman"/>
              </a:rPr>
              <a:t>£120 000</a:t>
            </a:r>
            <a:r>
              <a:rPr lang="en-GB"/>
              <a:t> Alex and Izzy had to be twice as active. They will have had to make twice as many coffees, cakes and sandwiches. They may have had to employ more people or invest in bigger kitchen equipment.</a:t>
            </a:r>
            <a:endParaRPr/>
          </a:p>
        </p:txBody>
      </p:sp>
      <p:pic>
        <p:nvPicPr>
          <p:cNvPr id="935" name="Google Shape;935;p85"/>
          <p:cNvPicPr preferRelativeResize="0"/>
          <p:nvPr/>
        </p:nvPicPr>
        <p:blipFill rotWithShape="1">
          <a:blip r:embed="rId3">
            <a:alphaModFix/>
          </a:blip>
          <a:srcRect b="84458" l="57225" r="18284" t="0"/>
          <a:stretch/>
        </p:blipFill>
        <p:spPr>
          <a:xfrm rot="5400000">
            <a:off x="5515816" y="2068917"/>
            <a:ext cx="1171824" cy="752002"/>
          </a:xfrm>
          <a:prstGeom prst="rect">
            <a:avLst/>
          </a:prstGeom>
          <a:noFill/>
          <a:ln>
            <a:noFill/>
          </a:ln>
        </p:spPr>
      </p:pic>
      <p:sp>
        <p:nvSpPr>
          <p:cNvPr id="936" name="Google Shape;936;p85"/>
          <p:cNvSpPr txBox="1"/>
          <p:nvPr/>
        </p:nvSpPr>
        <p:spPr>
          <a:xfrm>
            <a:off x="6299526" y="2228008"/>
            <a:ext cx="5808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accent4"/>
                </a:solidFill>
                <a:latin typeface="Times New Roman"/>
                <a:ea typeface="Times New Roman"/>
                <a:cs typeface="Times New Roman"/>
                <a:sym typeface="Times New Roman"/>
              </a:rPr>
              <a:t>×2</a:t>
            </a:r>
            <a:endParaRPr sz="2400">
              <a:solidFill>
                <a:schemeClr val="accent4"/>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86"/>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Is Alex and Izzy’s business doing well?</a:t>
            </a:r>
            <a:endParaRPr/>
          </a:p>
        </p:txBody>
      </p:sp>
      <p:sp>
        <p:nvSpPr>
          <p:cNvPr id="942" name="Google Shape;942;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943" name="Google Shape;943;p86"/>
          <p:cNvSpPr txBox="1"/>
          <p:nvPr>
            <p:ph idx="1" type="body"/>
          </p:nvPr>
        </p:nvSpPr>
        <p:spPr>
          <a:xfrm>
            <a:off x="324000" y="3243625"/>
            <a:ext cx="8496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This doubling of effort only resulted in a</a:t>
            </a:r>
            <a:r>
              <a:rPr lang="en-GB"/>
              <a:t> </a:t>
            </a:r>
            <a:r>
              <a:rPr lang="en-GB" sz="2400">
                <a:latin typeface="Times New Roman"/>
                <a:ea typeface="Times New Roman"/>
                <a:cs typeface="Times New Roman"/>
                <a:sym typeface="Times New Roman"/>
              </a:rPr>
              <a:t>25%</a:t>
            </a:r>
            <a:r>
              <a:rPr lang="en-GB"/>
              <a:t> increase in profit.</a:t>
            </a:r>
            <a:endParaRPr/>
          </a:p>
        </p:txBody>
      </p:sp>
      <p:pic>
        <p:nvPicPr>
          <p:cNvPr id="944" name="Google Shape;944;p86"/>
          <p:cNvPicPr preferRelativeResize="0"/>
          <p:nvPr/>
        </p:nvPicPr>
        <p:blipFill rotWithShape="1">
          <a:blip r:embed="rId3">
            <a:alphaModFix/>
          </a:blip>
          <a:srcRect b="84458" l="57225" r="18284" t="0"/>
          <a:stretch/>
        </p:blipFill>
        <p:spPr>
          <a:xfrm rot="5400000">
            <a:off x="5515816" y="2068917"/>
            <a:ext cx="1171824" cy="752002"/>
          </a:xfrm>
          <a:prstGeom prst="rect">
            <a:avLst/>
          </a:prstGeom>
          <a:noFill/>
          <a:ln>
            <a:noFill/>
          </a:ln>
        </p:spPr>
      </p:pic>
      <p:sp>
        <p:nvSpPr>
          <p:cNvPr id="945" name="Google Shape;945;p86"/>
          <p:cNvSpPr txBox="1"/>
          <p:nvPr/>
        </p:nvSpPr>
        <p:spPr>
          <a:xfrm>
            <a:off x="6299526" y="2228008"/>
            <a:ext cx="5808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accent4"/>
                </a:solidFill>
                <a:latin typeface="Times New Roman"/>
                <a:ea typeface="Times New Roman"/>
                <a:cs typeface="Times New Roman"/>
                <a:sym typeface="Times New Roman"/>
              </a:rPr>
              <a:t>×2</a:t>
            </a:r>
            <a:endParaRPr sz="2400">
              <a:solidFill>
                <a:schemeClr val="accent4"/>
              </a:solidFill>
              <a:latin typeface="Times New Roman"/>
              <a:ea typeface="Times New Roman"/>
              <a:cs typeface="Times New Roman"/>
              <a:sym typeface="Times New Roman"/>
            </a:endParaRPr>
          </a:p>
        </p:txBody>
      </p:sp>
      <p:graphicFrame>
        <p:nvGraphicFramePr>
          <p:cNvPr id="946" name="Google Shape;946;p86"/>
          <p:cNvGraphicFramePr/>
          <p:nvPr/>
        </p:nvGraphicFramePr>
        <p:xfrm>
          <a:off x="2726899" y="1521483"/>
          <a:ext cx="3000000" cy="3000000"/>
        </p:xfrm>
        <a:graphic>
          <a:graphicData uri="http://schemas.openxmlformats.org/drawingml/2006/table">
            <a:tbl>
              <a:tblPr>
                <a:noFill/>
                <a:tableStyleId>{F453CC0F-1499-456E-8E7E-2329420C4EBA}</a:tableStyleId>
              </a:tblPr>
              <a:tblGrid>
                <a:gridCol w="1513625"/>
                <a:gridCol w="1513625"/>
              </a:tblGrid>
              <a:tr h="37535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947" name="Google Shape;947;p86"/>
          <p:cNvPicPr preferRelativeResize="0"/>
          <p:nvPr/>
        </p:nvPicPr>
        <p:blipFill rotWithShape="1">
          <a:blip r:embed="rId3">
            <a:alphaModFix/>
          </a:blip>
          <a:srcRect b="84458" l="57225" r="18284" t="0"/>
          <a:stretch/>
        </p:blipFill>
        <p:spPr>
          <a:xfrm flipH="1" rot="-5400000">
            <a:off x="1797324" y="2068917"/>
            <a:ext cx="1171824" cy="752002"/>
          </a:xfrm>
          <a:prstGeom prst="rect">
            <a:avLst/>
          </a:prstGeom>
          <a:noFill/>
          <a:ln>
            <a:noFill/>
          </a:ln>
        </p:spPr>
      </p:pic>
      <p:sp>
        <p:nvSpPr>
          <p:cNvPr id="948" name="Google Shape;948;p86"/>
          <p:cNvSpPr txBox="1"/>
          <p:nvPr/>
        </p:nvSpPr>
        <p:spPr>
          <a:xfrm>
            <a:off x="1288492" y="2228000"/>
            <a:ext cx="9321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accent4"/>
                </a:solidFill>
                <a:latin typeface="Times New Roman"/>
                <a:ea typeface="Times New Roman"/>
                <a:cs typeface="Times New Roman"/>
                <a:sym typeface="Times New Roman"/>
              </a:rPr>
              <a:t>×1.25</a:t>
            </a:r>
            <a:endParaRPr sz="2400">
              <a:solidFill>
                <a:schemeClr val="accent4"/>
              </a:solidFill>
              <a:latin typeface="Times New Roman"/>
              <a:ea typeface="Times New Roman"/>
              <a:cs typeface="Times New Roman"/>
              <a:sym typeface="Times New Roman"/>
            </a:endParaRPr>
          </a:p>
        </p:txBody>
      </p:sp>
      <p:sp>
        <p:nvSpPr>
          <p:cNvPr id="949" name="Google Shape;949;p86"/>
          <p:cNvSpPr txBox="1"/>
          <p:nvPr>
            <p:ph idx="1" type="body"/>
          </p:nvPr>
        </p:nvSpPr>
        <p:spPr>
          <a:xfrm>
            <a:off x="324000" y="3777025"/>
            <a:ext cx="8496000" cy="854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If you were in a part-time job and your employer said, “I will pay you </a:t>
            </a:r>
            <a:r>
              <a:rPr lang="en-GB" sz="2400">
                <a:latin typeface="Times New Roman"/>
                <a:ea typeface="Times New Roman"/>
                <a:cs typeface="Times New Roman"/>
                <a:sym typeface="Times New Roman"/>
              </a:rPr>
              <a:t>25%</a:t>
            </a:r>
            <a:r>
              <a:rPr lang="en-GB"/>
              <a:t> more if you work twice as hard.” I suspect you would politely decline.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87"/>
          <p:cNvSpPr txBox="1"/>
          <p:nvPr>
            <p:ph idx="1" type="body"/>
          </p:nvPr>
        </p:nvSpPr>
        <p:spPr>
          <a:xfrm>
            <a:off x="324000" y="759300"/>
            <a:ext cx="8416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To understand their efficiency between revenue and profit, businesses add a third column to results like these.</a:t>
            </a:r>
            <a:endParaRPr/>
          </a:p>
        </p:txBody>
      </p:sp>
      <p:sp>
        <p:nvSpPr>
          <p:cNvPr id="955" name="Google Shape;955;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956" name="Google Shape;956;p87"/>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57" name="Google Shape;957;p87"/>
          <p:cNvSpPr txBox="1"/>
          <p:nvPr>
            <p:ph idx="1" type="body"/>
          </p:nvPr>
        </p:nvSpPr>
        <p:spPr>
          <a:xfrm>
            <a:off x="324000" y="3243625"/>
            <a:ext cx="8496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G</a:t>
            </a:r>
            <a:r>
              <a:rPr lang="en-GB"/>
              <a:t>ross profit margin is calculated using a formula:</a:t>
            </a:r>
            <a:endParaRPr/>
          </a:p>
        </p:txBody>
      </p:sp>
      <p:graphicFrame>
        <p:nvGraphicFramePr>
          <p:cNvPr id="958" name="Google Shape;958;p87"/>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text{Gross profit margin (%)}=\frac{\text{Gross profit}}{\text{Sales revenue}}\times100&quot;&gt;&lt;mtext&gt;Gross profit margin (%)&lt;/mtext&gt;&lt;mo&gt;=&lt;/mo&gt;&lt;mfrac&gt;&lt;mtext&gt;Gross profit&lt;/mtext&gt;&lt;mtext&gt;Sales revenue&lt;/mtext&gt;&lt;/mfrac&gt;&lt;mo&gt;×&lt;/mo&gt;&lt;mn&gt;100&lt;/mn&gt;&lt;/math&gt;" id="959" name="Google Shape;959;p87" title="Gross profit margin open paren percent sign close paren equals Gross profit over Sales revenue times 100"/>
          <p:cNvPicPr preferRelativeResize="0"/>
          <p:nvPr/>
        </p:nvPicPr>
        <p:blipFill>
          <a:blip r:embed="rId3">
            <a:alphaModFix/>
          </a:blip>
          <a:stretch>
            <a:fillRect/>
          </a:stretch>
        </p:blipFill>
        <p:spPr>
          <a:xfrm>
            <a:off x="1615508" y="3787726"/>
            <a:ext cx="5481502" cy="61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88"/>
          <p:cNvSpPr txBox="1"/>
          <p:nvPr>
            <p:ph idx="1" type="body"/>
          </p:nvPr>
        </p:nvSpPr>
        <p:spPr>
          <a:xfrm>
            <a:off x="324000" y="759300"/>
            <a:ext cx="81615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To understand their efficiency between revenue and profit, businesses add a third column to results like these.</a:t>
            </a:r>
            <a:endParaRPr/>
          </a:p>
        </p:txBody>
      </p:sp>
      <p:sp>
        <p:nvSpPr>
          <p:cNvPr id="965" name="Google Shape;965;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966" name="Google Shape;966;p88"/>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3625"/>
                <a:gridCol w="1513625"/>
                <a:gridCol w="15136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67" name="Google Shape;967;p88"/>
          <p:cNvSpPr txBox="1"/>
          <p:nvPr>
            <p:ph idx="1" type="body"/>
          </p:nvPr>
        </p:nvSpPr>
        <p:spPr>
          <a:xfrm>
            <a:off x="324000" y="3228657"/>
            <a:ext cx="144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Year one</a:t>
            </a:r>
            <a:r>
              <a:rPr lang="en-GB" sz="1800"/>
              <a:t>:</a:t>
            </a:r>
            <a:endParaRPr sz="1800"/>
          </a:p>
        </p:txBody>
      </p:sp>
      <p:graphicFrame>
        <p:nvGraphicFramePr>
          <p:cNvPr id="968" name="Google Shape;968;p88"/>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text{Gross profit margin (%)}=\frac{24\ 000}{60\ 000}\times100=40\%&quot;&gt;&lt;mtext&gt;Gross profit margin (%)&lt;/mtext&gt;&lt;mo&gt;=&lt;/mo&gt;&lt;mfrac&gt;&lt;mrow&gt;&lt;mn&gt;24&lt;/mn&gt;&lt;mtext&gt;&lt;/mtext&gt;&lt;mn&gt;000&lt;/mn&gt;&lt;/mrow&gt;&lt;mrow&gt;&lt;mn&gt;60&lt;/mn&gt;&lt;mtext&gt;&lt;/mtext&gt;&lt;mn&gt;000&lt;/mn&gt;&lt;/mrow&gt;&lt;/mfrac&gt;&lt;mo&gt;×&lt;/mo&gt;&lt;mn&gt;100&lt;/mn&gt;&lt;mo&gt;=&lt;/mo&gt;&lt;mn&gt;40&lt;/mn&gt;&lt;mi mathvariant=&quot;normal&quot;&gt;%&lt;/mi&gt;&lt;/math&gt;" id="969" name="Google Shape;969;p88" title="Gross profit margin open paren percent sign close paren equals the fraction with numerator 24 000 and denominator 60 000 times 100 equals 40 percent sign"/>
          <p:cNvPicPr preferRelativeResize="0"/>
          <p:nvPr/>
        </p:nvPicPr>
        <p:blipFill>
          <a:blip r:embed="rId3">
            <a:alphaModFix/>
          </a:blip>
          <a:stretch>
            <a:fillRect/>
          </a:stretch>
        </p:blipFill>
        <p:spPr>
          <a:xfrm>
            <a:off x="1844100" y="3117976"/>
            <a:ext cx="4682649" cy="503026"/>
          </a:xfrm>
          <a:prstGeom prst="rect">
            <a:avLst/>
          </a:prstGeom>
          <a:noFill/>
          <a:ln>
            <a:noFill/>
          </a:ln>
        </p:spPr>
      </p:pic>
      <p:pic>
        <p:nvPicPr>
          <p:cNvPr descr="&lt;math xmlns=&quot;http://www.w3.org/1998/Math/MathML&quot; display=&quot;block&quot; data-is-equatio=&quot;1&quot; data-latex=&quot;\text{Gross profit margin (%)}=\frac{28\ 000}{80\ 000}\times100=35\%&quot;&gt;&lt;mtext&gt;Gross profit margin (%)&lt;/mtext&gt;&lt;mo&gt;=&lt;/mo&gt;&lt;mfrac&gt;&lt;mrow&gt;&lt;mn&gt;28&lt;/mn&gt;&lt;mtext&gt;&lt;/mtext&gt;&lt;mn&gt;000&lt;/mn&gt;&lt;/mrow&gt;&lt;mrow&gt;&lt;mn&gt;80&lt;/mn&gt;&lt;mtext&gt;&lt;/mtext&gt;&lt;mn&gt;000&lt;/mn&gt;&lt;/mrow&gt;&lt;/mfrac&gt;&lt;mo&gt;×&lt;/mo&gt;&lt;mn&gt;100&lt;/mn&gt;&lt;mo&gt;=&lt;/mo&gt;&lt;mn&gt;35&lt;/mn&gt;&lt;mi mathvariant=&quot;normal&quot;&gt;%&lt;/mi&gt;&lt;/math&gt;" id="970" name="Google Shape;970;p88" title="Gross profit margin open paren percent sign close paren equals the fraction with numerator 28 000 and denominator 80 000 times 100 equals 35 percent sign"/>
          <p:cNvPicPr preferRelativeResize="0"/>
          <p:nvPr/>
        </p:nvPicPr>
        <p:blipFill>
          <a:blip r:embed="rId4">
            <a:alphaModFix/>
          </a:blip>
          <a:stretch>
            <a:fillRect/>
          </a:stretch>
        </p:blipFill>
        <p:spPr>
          <a:xfrm>
            <a:off x="1844100" y="3732713"/>
            <a:ext cx="4682649" cy="501447"/>
          </a:xfrm>
          <a:prstGeom prst="rect">
            <a:avLst/>
          </a:prstGeom>
          <a:noFill/>
          <a:ln>
            <a:noFill/>
          </a:ln>
        </p:spPr>
      </p:pic>
      <p:pic>
        <p:nvPicPr>
          <p:cNvPr descr="&lt;math xmlns=&quot;http://www.w3.org/1998/Math/MathML&quot; display=&quot;block&quot; data-is-equatio=&quot;1&quot; data-latex=&quot;\text{Gross profit margin (%)}=\frac{30\ 000}{120\ 000}\times100=25\%&quot;&gt;&lt;mtext&gt;Gross profit margin (%)&lt;/mtext&gt;&lt;mo&gt;=&lt;/mo&gt;&lt;mfrac&gt;&lt;mrow&gt;&lt;mn&gt;30&lt;/mn&gt;&lt;mtext&gt;&lt;/mtext&gt;&lt;mn&gt;000&lt;/mn&gt;&lt;/mrow&gt;&lt;mrow&gt;&lt;mn&gt;120&lt;/mn&gt;&lt;mtext&gt;&lt;/mtext&gt;&lt;mn&gt;000&lt;/mn&gt;&lt;/mrow&gt;&lt;/mfrac&gt;&lt;mo&gt;×&lt;/mo&gt;&lt;mn&gt;100&lt;/mn&gt;&lt;mo&gt;=&lt;/mo&gt;&lt;mn&gt;25&lt;/mn&gt;&lt;mi mathvariant=&quot;normal&quot;&gt;%&lt;/mi&gt;&lt;/math&gt;" id="971" name="Google Shape;971;p88" title="Gross profit margin open paren percent sign close paren equals the fraction with numerator 30 000 and denominator 120 000 times 100 equals 25 percent sign"/>
          <p:cNvPicPr preferRelativeResize="0"/>
          <p:nvPr/>
        </p:nvPicPr>
        <p:blipFill>
          <a:blip r:embed="rId5">
            <a:alphaModFix/>
          </a:blip>
          <a:stretch>
            <a:fillRect/>
          </a:stretch>
        </p:blipFill>
        <p:spPr>
          <a:xfrm>
            <a:off x="1844100" y="4342585"/>
            <a:ext cx="4682648" cy="489015"/>
          </a:xfrm>
          <a:prstGeom prst="rect">
            <a:avLst/>
          </a:prstGeom>
          <a:noFill/>
          <a:ln>
            <a:noFill/>
          </a:ln>
        </p:spPr>
      </p:pic>
      <p:sp>
        <p:nvSpPr>
          <p:cNvPr id="972" name="Google Shape;972;p88"/>
          <p:cNvSpPr txBox="1"/>
          <p:nvPr>
            <p:ph idx="1" type="body"/>
          </p:nvPr>
        </p:nvSpPr>
        <p:spPr>
          <a:xfrm>
            <a:off x="324000" y="3853565"/>
            <a:ext cx="144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Year two:</a:t>
            </a:r>
            <a:endParaRPr sz="1800"/>
          </a:p>
        </p:txBody>
      </p:sp>
      <p:sp>
        <p:nvSpPr>
          <p:cNvPr id="973" name="Google Shape;973;p88"/>
          <p:cNvSpPr txBox="1"/>
          <p:nvPr>
            <p:ph idx="1" type="body"/>
          </p:nvPr>
        </p:nvSpPr>
        <p:spPr>
          <a:xfrm>
            <a:off x="324000" y="4432889"/>
            <a:ext cx="144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Year three:</a:t>
            </a:r>
            <a:endParaRPr sz="1800"/>
          </a:p>
        </p:txBody>
      </p:sp>
      <p:graphicFrame>
        <p:nvGraphicFramePr>
          <p:cNvPr id="974" name="Google Shape;974;p88"/>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40%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975" name="Google Shape;975;p88"/>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40%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35</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976" name="Google Shape;976;p88"/>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40%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35%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2</a:t>
                      </a:r>
                      <a:r>
                        <a:rPr lang="en-GB" sz="2000">
                          <a:solidFill>
                            <a:schemeClr val="dk1"/>
                          </a:solidFill>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982" name="Google Shape;982;p89"/>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40%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35%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83" name="Google Shape;983;p89"/>
          <p:cNvSpPr txBox="1"/>
          <p:nvPr>
            <p:ph idx="1" type="body"/>
          </p:nvPr>
        </p:nvSpPr>
        <p:spPr>
          <a:xfrm>
            <a:off x="324000" y="32739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In their first year of trading </a:t>
            </a:r>
            <a:r>
              <a:rPr lang="en-GB" sz="2400">
                <a:latin typeface="Times New Roman"/>
                <a:ea typeface="Times New Roman"/>
                <a:cs typeface="Times New Roman"/>
                <a:sym typeface="Times New Roman"/>
              </a:rPr>
              <a:t>40%</a:t>
            </a:r>
            <a:r>
              <a:rPr lang="en-GB"/>
              <a:t> of their revenue was gross profit.</a:t>
            </a:r>
            <a:endParaRPr/>
          </a:p>
        </p:txBody>
      </p:sp>
      <p:sp>
        <p:nvSpPr>
          <p:cNvPr id="984" name="Google Shape;984;p89"/>
          <p:cNvSpPr txBox="1"/>
          <p:nvPr>
            <p:ph idx="1" type="body"/>
          </p:nvPr>
        </p:nvSpPr>
        <p:spPr>
          <a:xfrm>
            <a:off x="324000" y="41121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In their third year of trading only </a:t>
            </a:r>
            <a:r>
              <a:rPr lang="en-GB" sz="2400">
                <a:latin typeface="Times New Roman"/>
                <a:ea typeface="Times New Roman"/>
                <a:cs typeface="Times New Roman"/>
                <a:sym typeface="Times New Roman"/>
              </a:rPr>
              <a:t>25%</a:t>
            </a:r>
            <a:r>
              <a:rPr lang="en-GB"/>
              <a:t> of their revenue was gross profit.</a:t>
            </a:r>
            <a:endParaRPr/>
          </a:p>
        </p:txBody>
      </p:sp>
      <p:sp>
        <p:nvSpPr>
          <p:cNvPr id="985" name="Google Shape;985;p89"/>
          <p:cNvSpPr/>
          <p:nvPr/>
        </p:nvSpPr>
        <p:spPr>
          <a:xfrm>
            <a:off x="6574034" y="1921859"/>
            <a:ext cx="627600" cy="320700"/>
          </a:xfrm>
          <a:prstGeom prst="roundRect">
            <a:avLst>
              <a:gd fmla="val 16667" name="adj"/>
            </a:avLst>
          </a:prstGeom>
          <a:noFill/>
          <a:ln cap="flat" cmpd="sng" w="38100">
            <a:solidFill>
              <a:schemeClr val="accent4"/>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6" name="Google Shape;986;p89"/>
          <p:cNvSpPr/>
          <p:nvPr/>
        </p:nvSpPr>
        <p:spPr>
          <a:xfrm>
            <a:off x="6574034" y="2683859"/>
            <a:ext cx="627600" cy="320700"/>
          </a:xfrm>
          <a:prstGeom prst="roundRect">
            <a:avLst>
              <a:gd fmla="val 16667" name="adj"/>
            </a:avLst>
          </a:prstGeom>
          <a:noFill/>
          <a:ln cap="flat" cmpd="sng" w="38100">
            <a:solidFill>
              <a:schemeClr val="accent4"/>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7" name="Google Shape;987;p89"/>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If this pattern continues, margins might become so tight that their business is no longer </a:t>
            </a:r>
            <a:r>
              <a:rPr lang="en-GB"/>
              <a:t>viable</a:t>
            </a:r>
            <a:r>
              <a:rPr lang="en-GB"/>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993" name="Google Shape;993;p90"/>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40%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35%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four</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£33 000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£110 000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five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text{Gross profit margin (%)}=\frac{\text{Gross profit}}{\text{Sales revenue}}\times100&quot;&gt;&lt;mtext&gt;Gross profit margin (%)&lt;/mtext&gt;&lt;mo&gt;=&lt;/mo&gt;&lt;mfrac&gt;&lt;mtext&gt;Gross profit&lt;/mtext&gt;&lt;mtext&gt;Sales revenue&lt;/mtext&gt;&lt;/mfrac&gt;&lt;mo&gt;×&lt;/mo&gt;&lt;mn&gt;100&lt;/mn&gt;&lt;/math&gt;" id="994" name="Google Shape;994;p90" title="Gross profit margin open paren percent sign close paren equals Gross profit over Sales revenue times 100"/>
          <p:cNvPicPr preferRelativeResize="0"/>
          <p:nvPr/>
        </p:nvPicPr>
        <p:blipFill>
          <a:blip r:embed="rId3">
            <a:alphaModFix/>
          </a:blip>
          <a:stretch>
            <a:fillRect/>
          </a:stretch>
        </p:blipFill>
        <p:spPr>
          <a:xfrm>
            <a:off x="335416" y="4016326"/>
            <a:ext cx="5481502" cy="613500"/>
          </a:xfrm>
          <a:prstGeom prst="rect">
            <a:avLst/>
          </a:prstGeom>
          <a:noFill/>
          <a:ln>
            <a:noFill/>
          </a:ln>
        </p:spPr>
      </p:pic>
      <p:sp>
        <p:nvSpPr>
          <p:cNvPr id="995" name="Google Shape;995;p90"/>
          <p:cNvSpPr txBox="1"/>
          <p:nvPr>
            <p:ph idx="1" type="body"/>
          </p:nvPr>
        </p:nvSpPr>
        <p:spPr>
          <a:xfrm>
            <a:off x="324000" y="759300"/>
            <a:ext cx="7885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Here are the results for year four and five. Calculate the gross profit margin for both years.</a:t>
            </a:r>
            <a:endParaRPr/>
          </a:p>
        </p:txBody>
      </p:sp>
      <p:graphicFrame>
        <p:nvGraphicFramePr>
          <p:cNvPr id="996" name="Google Shape;996;p90"/>
          <p:cNvGraphicFramePr/>
          <p:nvPr/>
        </p:nvGraphicFramePr>
        <p:xfrm>
          <a:off x="1218207" y="1521483"/>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40%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35%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four</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£33 000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£110 000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30</a:t>
                      </a:r>
                      <a:r>
                        <a:rPr lang="en-GB" sz="2000">
                          <a:solidFill>
                            <a:schemeClr val="dk1"/>
                          </a:solidFill>
                          <a:latin typeface="Kalam"/>
                          <a:ea typeface="Kalam"/>
                          <a:cs typeface="Kalam"/>
                          <a:sym typeface="Kalam"/>
                        </a:rPr>
                        <a:t>%</a:t>
                      </a:r>
                      <a:endParaRPr>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five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33.3% (to 1 d.p.)</a:t>
                      </a:r>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pic>
        <p:nvPicPr>
          <p:cNvPr id="1001" name="Google Shape;1001;p91"/>
          <p:cNvPicPr preferRelativeResize="0"/>
          <p:nvPr/>
        </p:nvPicPr>
        <p:blipFill rotWithShape="1">
          <a:blip r:embed="rId3">
            <a:alphaModFix/>
          </a:blip>
          <a:srcRect b="43690" l="0" r="57905" t="0"/>
          <a:stretch/>
        </p:blipFill>
        <p:spPr>
          <a:xfrm flipH="1">
            <a:off x="1479018" y="3253626"/>
            <a:ext cx="6136648" cy="1385726"/>
          </a:xfrm>
          <a:prstGeom prst="rect">
            <a:avLst/>
          </a:prstGeom>
          <a:noFill/>
          <a:ln>
            <a:noFill/>
          </a:ln>
        </p:spPr>
      </p:pic>
      <p:sp>
        <p:nvSpPr>
          <p:cNvPr id="1002" name="Google Shape;1002;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003" name="Google Shape;1003;p91"/>
          <p:cNvSpPr txBox="1"/>
          <p:nvPr>
            <p:ph idx="1" type="body"/>
          </p:nvPr>
        </p:nvSpPr>
        <p:spPr>
          <a:xfrm>
            <a:off x="324000" y="759300"/>
            <a:ext cx="7885200" cy="733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To ensure their profit </a:t>
            </a:r>
            <a:r>
              <a:rPr lang="en-GB"/>
              <a:t>margin at</a:t>
            </a:r>
            <a:r>
              <a:rPr lang="en-GB"/>
              <a:t> the end of the year is healthy, businesses set prices on </a:t>
            </a:r>
            <a:r>
              <a:rPr lang="en-GB"/>
              <a:t>individual</a:t>
            </a:r>
            <a:r>
              <a:rPr lang="en-GB"/>
              <a:t> items with a desired profit margin in mind.</a:t>
            </a:r>
            <a:endParaRPr/>
          </a:p>
        </p:txBody>
      </p:sp>
      <p:pic>
        <p:nvPicPr>
          <p:cNvPr id="1004" name="Google Shape;1004;p91"/>
          <p:cNvPicPr preferRelativeResize="0"/>
          <p:nvPr/>
        </p:nvPicPr>
        <p:blipFill>
          <a:blip r:embed="rId4">
            <a:alphaModFix/>
          </a:blip>
          <a:stretch>
            <a:fillRect/>
          </a:stretch>
        </p:blipFill>
        <p:spPr>
          <a:xfrm flipH="1">
            <a:off x="321975" y="3388885"/>
            <a:ext cx="1431927" cy="1385714"/>
          </a:xfrm>
          <a:prstGeom prst="rect">
            <a:avLst/>
          </a:prstGeom>
          <a:noFill/>
          <a:ln>
            <a:noFill/>
          </a:ln>
        </p:spPr>
      </p:pic>
      <p:pic>
        <p:nvPicPr>
          <p:cNvPr id="1005" name="Google Shape;1005;p91"/>
          <p:cNvPicPr preferRelativeResize="0"/>
          <p:nvPr/>
        </p:nvPicPr>
        <p:blipFill>
          <a:blip r:embed="rId5">
            <a:alphaModFix/>
          </a:blip>
          <a:stretch>
            <a:fillRect/>
          </a:stretch>
        </p:blipFill>
        <p:spPr>
          <a:xfrm>
            <a:off x="7827563" y="2968783"/>
            <a:ext cx="998537" cy="1151566"/>
          </a:xfrm>
          <a:prstGeom prst="rect">
            <a:avLst/>
          </a:prstGeom>
          <a:noFill/>
          <a:ln>
            <a:noFill/>
          </a:ln>
        </p:spPr>
      </p:pic>
      <p:sp>
        <p:nvSpPr>
          <p:cNvPr id="1006" name="Google Shape;1006;p91"/>
          <p:cNvSpPr txBox="1"/>
          <p:nvPr>
            <p:ph idx="1" type="body"/>
          </p:nvPr>
        </p:nvSpPr>
        <p:spPr>
          <a:xfrm>
            <a:off x="2076600" y="1886992"/>
            <a:ext cx="5931000" cy="956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 didn’t get our pricing right in the first three years Izzy. I dropped our prices, we sold more, but it eroded our profit margin.</a:t>
            </a:r>
            <a:endParaRPr/>
          </a:p>
        </p:txBody>
      </p:sp>
      <p:pic>
        <p:nvPicPr>
          <p:cNvPr id="1007" name="Google Shape;1007;p91"/>
          <p:cNvPicPr preferRelativeResize="0"/>
          <p:nvPr/>
        </p:nvPicPr>
        <p:blipFill rotWithShape="1">
          <a:blip r:embed="rId3">
            <a:alphaModFix/>
          </a:blip>
          <a:srcRect b="43690" l="0" r="57905" t="0"/>
          <a:stretch/>
        </p:blipFill>
        <p:spPr>
          <a:xfrm>
            <a:off x="1905600" y="1836434"/>
            <a:ext cx="6441452" cy="1385726"/>
          </a:xfrm>
          <a:prstGeom prst="rect">
            <a:avLst/>
          </a:prstGeom>
          <a:noFill/>
          <a:ln>
            <a:noFill/>
          </a:ln>
        </p:spPr>
      </p:pic>
      <p:sp>
        <p:nvSpPr>
          <p:cNvPr id="1008" name="Google Shape;1008;p91"/>
          <p:cNvSpPr txBox="1"/>
          <p:nvPr>
            <p:ph idx="1" type="body"/>
          </p:nvPr>
        </p:nvSpPr>
        <p:spPr>
          <a:xfrm flipH="1">
            <a:off x="1924942" y="3319484"/>
            <a:ext cx="5644800" cy="956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That’s not a problem Alex. We know now. From here on we won’t sell any individual item for less than a </a:t>
            </a:r>
            <a:r>
              <a:rPr lang="en-GB" sz="2400">
                <a:latin typeface="Times New Roman"/>
                <a:ea typeface="Times New Roman"/>
                <a:cs typeface="Times New Roman"/>
                <a:sym typeface="Times New Roman"/>
              </a:rPr>
              <a:t>40%</a:t>
            </a:r>
            <a:r>
              <a:rPr lang="en-GB"/>
              <a:t> profit margin.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014" name="Google Shape;1014;p92"/>
          <p:cNvSpPr txBox="1"/>
          <p:nvPr>
            <p:ph idx="1" type="body"/>
          </p:nvPr>
        </p:nvSpPr>
        <p:spPr>
          <a:xfrm>
            <a:off x="324000" y="759300"/>
            <a:ext cx="8484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Gross p</a:t>
            </a:r>
            <a:r>
              <a:rPr lang="en-GB" sz="2100"/>
              <a:t>rofit margin per item can be calculated using a formula.</a:t>
            </a:r>
            <a:endParaRPr sz="2100"/>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015" name="Google Shape;1015;p92" title="Gross profit margin open paren percent sign close paren equals the fraction with numerator Selling price minus Cost price and denominator Selling price times 100"/>
          <p:cNvPicPr preferRelativeResize="0"/>
          <p:nvPr/>
        </p:nvPicPr>
        <p:blipFill>
          <a:blip r:embed="rId3">
            <a:alphaModFix/>
          </a:blip>
          <a:stretch>
            <a:fillRect/>
          </a:stretch>
        </p:blipFill>
        <p:spPr>
          <a:xfrm>
            <a:off x="823225" y="1274350"/>
            <a:ext cx="6678755" cy="656016"/>
          </a:xfrm>
          <a:prstGeom prst="rect">
            <a:avLst/>
          </a:prstGeom>
          <a:noFill/>
          <a:ln>
            <a:noFill/>
          </a:ln>
        </p:spPr>
      </p:pic>
      <p:pic>
        <p:nvPicPr>
          <p:cNvPr id="1016" name="Google Shape;1016;p92"/>
          <p:cNvPicPr preferRelativeResize="0"/>
          <p:nvPr/>
        </p:nvPicPr>
        <p:blipFill>
          <a:blip r:embed="rId4">
            <a:alphaModFix/>
          </a:blip>
          <a:stretch>
            <a:fillRect/>
          </a:stretch>
        </p:blipFill>
        <p:spPr>
          <a:xfrm>
            <a:off x="6777459" y="1992201"/>
            <a:ext cx="1452399" cy="970399"/>
          </a:xfrm>
          <a:prstGeom prst="rect">
            <a:avLst/>
          </a:prstGeom>
          <a:noFill/>
          <a:ln>
            <a:noFill/>
          </a:ln>
        </p:spPr>
      </p:pic>
      <p:sp>
        <p:nvSpPr>
          <p:cNvPr id="1017" name="Google Shape;1017;p92"/>
          <p:cNvSpPr txBox="1"/>
          <p:nvPr>
            <p:ph idx="1" type="body"/>
          </p:nvPr>
        </p:nvSpPr>
        <p:spPr>
          <a:xfrm>
            <a:off x="324000" y="2130900"/>
            <a:ext cx="5849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Alex and Izzy sell a cheese and tomato sandwich for </a:t>
            </a:r>
            <a:r>
              <a:rPr lang="en-GB" sz="2300">
                <a:latin typeface="Times New Roman"/>
                <a:ea typeface="Times New Roman"/>
                <a:cs typeface="Times New Roman"/>
                <a:sym typeface="Times New Roman"/>
              </a:rPr>
              <a:t>£4</a:t>
            </a:r>
            <a:r>
              <a:rPr lang="en-GB" sz="2100"/>
              <a:t>. The ingredients cost </a:t>
            </a:r>
            <a:r>
              <a:rPr lang="en-GB" sz="2300">
                <a:latin typeface="Times New Roman"/>
                <a:ea typeface="Times New Roman"/>
                <a:cs typeface="Times New Roman"/>
                <a:sym typeface="Times New Roman"/>
              </a:rPr>
              <a:t>£2.20</a:t>
            </a:r>
            <a:endParaRPr sz="2100"/>
          </a:p>
        </p:txBody>
      </p:sp>
      <p:pic>
        <p:nvPicPr>
          <p:cNvPr descr="&lt;math xmlns=&quot;http://www.w3.org/1998/Math/MathML&quot; display=&quot;block&quot; data-is-equatio=&quot;1&quot; data-latex=&quot;\text{Gross profit margin (%)}=\frac{£4\ -£2.20}{£4}\times100=\frac{£1.80}{£4}\times100\ =45\%&quot;&gt;&lt;mtext&gt;Gross profit margin (%)&lt;/mtext&gt;&lt;mo&gt;=&lt;/mo&gt;&lt;mfrac&gt;&lt;mrow&gt;&lt;mrow data-mjx-texclass=&quot;ORD&quot;&gt;&lt;mo&gt;£&lt;/mo&gt;&lt;/mrow&gt;&lt;mn&gt;4&lt;/mn&gt;&lt;mtext&gt;&lt;/mtext&gt;&lt;mo&gt;−&lt;/mo&gt;&lt;mrow data-mjx-texclass=&quot;ORD&quot;&gt;&lt;mo&gt;£&lt;/mo&gt;&lt;/mrow&gt;&lt;mn&gt;2.20&lt;/mn&gt;&lt;/mrow&gt;&lt;mrow&gt;&lt;mrow data-mjx-texclass=&quot;ORD&quot;&gt;&lt;mo&gt;£&lt;/mo&gt;&lt;/mrow&gt;&lt;mn&gt;4&lt;/mn&gt;&lt;/mrow&gt;&lt;/mfrac&gt;&lt;mo&gt;×&lt;/mo&gt;&lt;mn&gt;100&lt;/mn&gt;&lt;mo&gt;=&lt;/mo&gt;&lt;mfrac&gt;&lt;mrow&gt;&lt;mrow data-mjx-texclass=&quot;ORD&quot;&gt;&lt;mo&gt;£&lt;/mo&gt;&lt;/mrow&gt;&lt;mn&gt;1.80&lt;/mn&gt;&lt;/mrow&gt;&lt;mrow&gt;&lt;mrow data-mjx-texclass=&quot;ORD&quot;&gt;&lt;mo&gt;£&lt;/mo&gt;&lt;/mrow&gt;&lt;mn&gt;4&lt;/mn&gt;&lt;/mrow&gt;&lt;/mfrac&gt;&lt;mo&gt;×&lt;/mo&gt;&lt;mn&gt;100&lt;/mn&gt;&lt;mtext&gt;&lt;/mtext&gt;&lt;mo&gt;=&lt;/mo&gt;&lt;mn&gt;45&lt;/mn&gt;&lt;mi mathvariant=&quot;normal&quot;&gt;%&lt;/mi&gt;&lt;/math&gt;" id="1018" name="Google Shape;1018;p92" title="Gross profit margin open paren percent sign close paren equals the fraction with numerator pound sign 4 negative pound sign 2.20 and denominator pound sign 4 times 100 equals the fraction with numerator pound sign 1.80 and denominator pound sign 4 times 100 equals 45 percent sign"/>
          <p:cNvPicPr preferRelativeResize="0"/>
          <p:nvPr/>
        </p:nvPicPr>
        <p:blipFill>
          <a:blip r:embed="rId5">
            <a:alphaModFix/>
          </a:blip>
          <a:stretch>
            <a:fillRect/>
          </a:stretch>
        </p:blipFill>
        <p:spPr>
          <a:xfrm>
            <a:off x="335425" y="3091346"/>
            <a:ext cx="8484575" cy="631455"/>
          </a:xfrm>
          <a:prstGeom prst="rect">
            <a:avLst/>
          </a:prstGeom>
          <a:noFill/>
          <a:ln>
            <a:noFill/>
          </a:ln>
        </p:spPr>
      </p:pic>
      <p:sp>
        <p:nvSpPr>
          <p:cNvPr id="1019" name="Google Shape;1019;p92"/>
          <p:cNvSpPr txBox="1"/>
          <p:nvPr>
            <p:ph idx="1" type="body"/>
          </p:nvPr>
        </p:nvSpPr>
        <p:spPr>
          <a:xfrm>
            <a:off x="354275" y="3913775"/>
            <a:ext cx="813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£1.80</a:t>
            </a:r>
            <a:r>
              <a:rPr lang="en-GB" sz="2100"/>
              <a:t> is the cash gross profit they make from each sandwich,</a:t>
            </a:r>
            <a:r>
              <a:rPr lang="en-GB" sz="2300">
                <a:latin typeface="Times New Roman"/>
                <a:ea typeface="Times New Roman"/>
                <a:cs typeface="Times New Roman"/>
                <a:sym typeface="Times New Roman"/>
              </a:rPr>
              <a:t> </a:t>
            </a:r>
            <a:endParaRPr sz="2100"/>
          </a:p>
        </p:txBody>
      </p:sp>
      <p:sp>
        <p:nvSpPr>
          <p:cNvPr id="1020" name="Google Shape;1020;p92"/>
          <p:cNvSpPr/>
          <p:nvPr/>
        </p:nvSpPr>
        <p:spPr>
          <a:xfrm>
            <a:off x="6287414" y="3049201"/>
            <a:ext cx="822600" cy="320700"/>
          </a:xfrm>
          <a:prstGeom prst="roundRect">
            <a:avLst>
              <a:gd fmla="val 16667" name="adj"/>
            </a:avLst>
          </a:prstGeom>
          <a:noFill/>
          <a:ln cap="flat" cmpd="sng" w="38100">
            <a:solidFill>
              <a:schemeClr val="accent4"/>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1" name="Google Shape;1021;p92"/>
          <p:cNvSpPr txBox="1"/>
          <p:nvPr>
            <p:ph idx="1" type="body"/>
          </p:nvPr>
        </p:nvSpPr>
        <p:spPr>
          <a:xfrm>
            <a:off x="354275" y="3913775"/>
            <a:ext cx="8130600" cy="683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Times New Roman"/>
                <a:ea typeface="Times New Roman"/>
                <a:cs typeface="Times New Roman"/>
                <a:sym typeface="Times New Roman"/>
              </a:rPr>
              <a:t>£1.80</a:t>
            </a:r>
            <a:r>
              <a:rPr lang="en-GB" sz="2100"/>
              <a:t> is the cash gross profit they make from each sandwich, and </a:t>
            </a:r>
            <a:r>
              <a:rPr lang="en-GB" sz="2300">
                <a:latin typeface="Times New Roman"/>
                <a:ea typeface="Times New Roman"/>
                <a:cs typeface="Times New Roman"/>
                <a:sym typeface="Times New Roman"/>
              </a:rPr>
              <a:t>45%</a:t>
            </a:r>
            <a:r>
              <a:rPr lang="en-GB" sz="2100"/>
              <a:t> is what proportion of the selling price this is.</a:t>
            </a:r>
            <a:endParaRPr sz="2100"/>
          </a:p>
        </p:txBody>
      </p:sp>
      <p:sp>
        <p:nvSpPr>
          <p:cNvPr id="1022" name="Google Shape;1022;p92"/>
          <p:cNvSpPr/>
          <p:nvPr/>
        </p:nvSpPr>
        <p:spPr>
          <a:xfrm>
            <a:off x="8283901" y="3247175"/>
            <a:ext cx="536100" cy="320700"/>
          </a:xfrm>
          <a:prstGeom prst="roundRect">
            <a:avLst>
              <a:gd fmla="val 16667" name="adj"/>
            </a:avLst>
          </a:prstGeom>
          <a:noFill/>
          <a:ln cap="flat" cmpd="sng" w="38100">
            <a:solidFill>
              <a:schemeClr val="accent4"/>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028" name="Google Shape;1028;p93"/>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Calculate the gross p</a:t>
            </a:r>
            <a:r>
              <a:rPr lang="en-GB"/>
              <a:t>rofit margin for each of these items.</a:t>
            </a:r>
            <a:endParaRPr/>
          </a:p>
        </p:txBody>
      </p:sp>
      <p:sp>
        <p:nvSpPr>
          <p:cNvPr id="1029" name="Google Shape;1029;p93"/>
          <p:cNvSpPr txBox="1"/>
          <p:nvPr>
            <p:ph idx="1" type="body"/>
          </p:nvPr>
        </p:nvSpPr>
        <p:spPr>
          <a:xfrm>
            <a:off x="324000" y="2725192"/>
            <a:ext cx="5603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Coffee: Selling price</a:t>
            </a:r>
            <a:r>
              <a:rPr lang="en-GB"/>
              <a:t> </a:t>
            </a:r>
            <a:r>
              <a:rPr lang="en-GB" sz="2400">
                <a:latin typeface="Times New Roman"/>
                <a:ea typeface="Times New Roman"/>
                <a:cs typeface="Times New Roman"/>
                <a:sym typeface="Times New Roman"/>
              </a:rPr>
              <a:t>£3</a:t>
            </a:r>
            <a:r>
              <a:rPr lang="en-GB"/>
              <a:t>, </a:t>
            </a:r>
            <a:r>
              <a:rPr lang="en-GB"/>
              <a:t>cost price </a:t>
            </a:r>
            <a:r>
              <a:rPr lang="en-GB" sz="2400">
                <a:latin typeface="Times New Roman"/>
                <a:ea typeface="Times New Roman"/>
                <a:cs typeface="Times New Roman"/>
                <a:sym typeface="Times New Roman"/>
              </a:rPr>
              <a:t>£0.30</a:t>
            </a:r>
            <a:endParaRPr/>
          </a:p>
        </p:txBody>
      </p:sp>
      <p:sp>
        <p:nvSpPr>
          <p:cNvPr id="1030" name="Google Shape;1030;p93"/>
          <p:cNvSpPr txBox="1"/>
          <p:nvPr>
            <p:ph idx="1" type="body"/>
          </p:nvPr>
        </p:nvSpPr>
        <p:spPr>
          <a:xfrm>
            <a:off x="324000" y="3258592"/>
            <a:ext cx="7778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Goats’ cheese sandwich</a:t>
            </a:r>
            <a:r>
              <a:rPr lang="en-GB"/>
              <a:t>: Selling price </a:t>
            </a:r>
            <a:r>
              <a:rPr lang="en-GB" sz="2400">
                <a:latin typeface="Times New Roman"/>
                <a:ea typeface="Times New Roman"/>
                <a:cs typeface="Times New Roman"/>
                <a:sym typeface="Times New Roman"/>
              </a:rPr>
              <a:t>£4.50</a:t>
            </a:r>
            <a:r>
              <a:rPr lang="en-GB"/>
              <a:t>, cost price </a:t>
            </a:r>
            <a:r>
              <a:rPr lang="en-GB" sz="2400">
                <a:latin typeface="Times New Roman"/>
                <a:ea typeface="Times New Roman"/>
                <a:cs typeface="Times New Roman"/>
                <a:sym typeface="Times New Roman"/>
              </a:rPr>
              <a:t>£3</a:t>
            </a:r>
            <a:endParaRPr/>
          </a:p>
        </p:txBody>
      </p:sp>
      <p:sp>
        <p:nvSpPr>
          <p:cNvPr id="1031" name="Google Shape;1031;p93"/>
          <p:cNvSpPr txBox="1"/>
          <p:nvPr>
            <p:ph idx="1" type="body"/>
          </p:nvPr>
        </p:nvSpPr>
        <p:spPr>
          <a:xfrm>
            <a:off x="324000" y="2161176"/>
            <a:ext cx="5726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Flapjack: Selling price </a:t>
            </a:r>
            <a:r>
              <a:rPr lang="en-GB" sz="2400">
                <a:latin typeface="Times New Roman"/>
                <a:ea typeface="Times New Roman"/>
                <a:cs typeface="Times New Roman"/>
                <a:sym typeface="Times New Roman"/>
              </a:rPr>
              <a:t>£2</a:t>
            </a:r>
            <a:r>
              <a:rPr lang="en-GB"/>
              <a:t>, cost price </a:t>
            </a:r>
            <a:r>
              <a:rPr lang="en-GB" sz="2400">
                <a:latin typeface="Times New Roman"/>
                <a:ea typeface="Times New Roman"/>
                <a:cs typeface="Times New Roman"/>
                <a:sym typeface="Times New Roman"/>
              </a:rPr>
              <a:t>£0.90</a:t>
            </a:r>
            <a:endParaRPr/>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032" name="Google Shape;1032;p93" title="Gross profit margin open paren percent sign close paren equals the fraction with numerator Selling price minus Cost price and denominator Selling price times 100"/>
          <p:cNvPicPr preferRelativeResize="0"/>
          <p:nvPr/>
        </p:nvPicPr>
        <p:blipFill>
          <a:blip r:embed="rId3">
            <a:alphaModFix/>
          </a:blip>
          <a:stretch>
            <a:fillRect/>
          </a:stretch>
        </p:blipFill>
        <p:spPr>
          <a:xfrm>
            <a:off x="823225" y="1274350"/>
            <a:ext cx="6678755" cy="656016"/>
          </a:xfrm>
          <a:prstGeom prst="rect">
            <a:avLst/>
          </a:prstGeom>
          <a:noFill/>
          <a:ln>
            <a:noFill/>
          </a:ln>
        </p:spPr>
      </p:pic>
      <p:sp>
        <p:nvSpPr>
          <p:cNvPr id="1033" name="Google Shape;1033;p93"/>
          <p:cNvSpPr txBox="1"/>
          <p:nvPr>
            <p:ph idx="1" type="body"/>
          </p:nvPr>
        </p:nvSpPr>
        <p:spPr>
          <a:xfrm>
            <a:off x="324000" y="3929075"/>
            <a:ext cx="74568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Advise Alex and Izzy of any items that aren’t making their </a:t>
            </a:r>
            <a:r>
              <a:rPr lang="en-GB" sz="2400">
                <a:latin typeface="Times New Roman"/>
                <a:ea typeface="Times New Roman"/>
                <a:cs typeface="Times New Roman"/>
                <a:sym typeface="Times New Roman"/>
              </a:rPr>
              <a:t>40%</a:t>
            </a:r>
            <a:r>
              <a:rPr lang="en-GB"/>
              <a:t> gross profit margin target.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039" name="Google Shape;1039;p94"/>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Calculate the gross profit margin for each of these items.</a:t>
            </a:r>
            <a:endParaRPr/>
          </a:p>
        </p:txBody>
      </p:sp>
      <p:sp>
        <p:nvSpPr>
          <p:cNvPr id="1040" name="Google Shape;1040;p94"/>
          <p:cNvSpPr txBox="1"/>
          <p:nvPr>
            <p:ph idx="1" type="body"/>
          </p:nvPr>
        </p:nvSpPr>
        <p:spPr>
          <a:xfrm>
            <a:off x="324000" y="3395684"/>
            <a:ext cx="5603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Coffee: Selling price </a:t>
            </a:r>
            <a:r>
              <a:rPr lang="en-GB" sz="2400">
                <a:latin typeface="Times New Roman"/>
                <a:ea typeface="Times New Roman"/>
                <a:cs typeface="Times New Roman"/>
                <a:sym typeface="Times New Roman"/>
              </a:rPr>
              <a:t>£3</a:t>
            </a:r>
            <a:r>
              <a:rPr lang="en-GB"/>
              <a:t>, cost price </a:t>
            </a:r>
            <a:r>
              <a:rPr lang="en-GB" sz="2400">
                <a:latin typeface="Times New Roman"/>
                <a:ea typeface="Times New Roman"/>
                <a:cs typeface="Times New Roman"/>
                <a:sym typeface="Times New Roman"/>
              </a:rPr>
              <a:t>£0.30</a:t>
            </a:r>
            <a:endParaRPr/>
          </a:p>
        </p:txBody>
      </p:sp>
      <p:sp>
        <p:nvSpPr>
          <p:cNvPr id="1041" name="Google Shape;1041;p94"/>
          <p:cNvSpPr txBox="1"/>
          <p:nvPr>
            <p:ph idx="1" type="body"/>
          </p:nvPr>
        </p:nvSpPr>
        <p:spPr>
          <a:xfrm>
            <a:off x="324000" y="2161176"/>
            <a:ext cx="5726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Flapjack: Selling price </a:t>
            </a:r>
            <a:r>
              <a:rPr lang="en-GB" sz="2400">
                <a:latin typeface="Times New Roman"/>
                <a:ea typeface="Times New Roman"/>
                <a:cs typeface="Times New Roman"/>
                <a:sym typeface="Times New Roman"/>
              </a:rPr>
              <a:t>£2</a:t>
            </a:r>
            <a:r>
              <a:rPr lang="en-GB"/>
              <a:t>, cost price </a:t>
            </a:r>
            <a:r>
              <a:rPr lang="en-GB" sz="2400">
                <a:latin typeface="Times New Roman"/>
                <a:ea typeface="Times New Roman"/>
                <a:cs typeface="Times New Roman"/>
                <a:sym typeface="Times New Roman"/>
              </a:rPr>
              <a:t>£0.90</a:t>
            </a:r>
            <a:endParaRPr/>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042" name="Google Shape;1042;p94" title="Gross profit margin open paren percent sign close paren equals the fraction with numerator Selling price minus Cost price and denominator Selling price times 100"/>
          <p:cNvPicPr preferRelativeResize="0"/>
          <p:nvPr/>
        </p:nvPicPr>
        <p:blipFill>
          <a:blip r:embed="rId3">
            <a:alphaModFix/>
          </a:blip>
          <a:stretch>
            <a:fillRect/>
          </a:stretch>
        </p:blipFill>
        <p:spPr>
          <a:xfrm>
            <a:off x="823225" y="1274350"/>
            <a:ext cx="6678755" cy="656016"/>
          </a:xfrm>
          <a:prstGeom prst="rect">
            <a:avLst/>
          </a:prstGeom>
          <a:noFill/>
          <a:ln>
            <a:noFill/>
          </a:ln>
        </p:spPr>
      </p:pic>
      <p:pic>
        <p:nvPicPr>
          <p:cNvPr descr="&lt;math xmlns=&quot;http://www.w3.org/1998/Math/MathML&quot; display=&quot;block&quot; data-is-equatio=&quot;1&quot; data-latex=&quot;\frac{£2\ -£0.90}{£2}\times100=\frac{£1.10}{£2}\times100\ =55\%&quot;&gt;&lt;mfrac&gt;&lt;mrow&gt;&lt;mrow data-mjx-texclass=&quot;ORD&quot;&gt;&lt;mo&gt;£&lt;/mo&gt;&lt;/mrow&gt;&lt;mn&gt;2&lt;/mn&gt;&lt;mtext&gt;&lt;/mtext&gt;&lt;mo&gt;−&lt;/mo&gt;&lt;mrow data-mjx-texclass=&quot;ORD&quot;&gt;&lt;mo&gt;£&lt;/mo&gt;&lt;/mrow&gt;&lt;mn&gt;0.90&lt;/mn&gt;&lt;/mrow&gt;&lt;mrow&gt;&lt;mrow data-mjx-texclass=&quot;ORD&quot;&gt;&lt;mo&gt;£&lt;/mo&gt;&lt;/mrow&gt;&lt;mn&gt;2&lt;/mn&gt;&lt;/mrow&gt;&lt;/mfrac&gt;&lt;mo&gt;×&lt;/mo&gt;&lt;mn&gt;100&lt;/mn&gt;&lt;mo&gt;=&lt;/mo&gt;&lt;mfrac&gt;&lt;mrow&gt;&lt;mrow data-mjx-texclass=&quot;ORD&quot;&gt;&lt;mo&gt;£&lt;/mo&gt;&lt;/mrow&gt;&lt;mn&gt;1.10&lt;/mn&gt;&lt;/mrow&gt;&lt;mrow&gt;&lt;mrow data-mjx-texclass=&quot;ORD&quot;&gt;&lt;mo&gt;£&lt;/mo&gt;&lt;/mrow&gt;&lt;mn&gt;2&lt;/mn&gt;&lt;/mrow&gt;&lt;/mfrac&gt;&lt;mo&gt;×&lt;/mo&gt;&lt;mn&gt;100&lt;/mn&gt;&lt;mtext&gt;&lt;/mtext&gt;&lt;mo&gt;=&lt;/mo&gt;&lt;mn&gt;55&lt;/mn&gt;&lt;mi mathvariant=&quot;normal&quot;&gt;%&lt;/mi&gt;&lt;/math&gt;" id="1043" name="Google Shape;1043;p94" title="the fraction with numerator pound sign 2 negative pound sign 0.90 and denominator pound sign 2 times 100 equals the fraction with numerator pound sign 1.10 and denominator pound sign 2 times 100 equals 55 percent sign"/>
          <p:cNvPicPr preferRelativeResize="0"/>
          <p:nvPr/>
        </p:nvPicPr>
        <p:blipFill>
          <a:blip r:embed="rId4">
            <a:alphaModFix/>
          </a:blip>
          <a:stretch>
            <a:fillRect/>
          </a:stretch>
        </p:blipFill>
        <p:spPr>
          <a:xfrm>
            <a:off x="335075" y="2642775"/>
            <a:ext cx="5068475" cy="617787"/>
          </a:xfrm>
          <a:prstGeom prst="rect">
            <a:avLst/>
          </a:prstGeom>
          <a:noFill/>
          <a:ln>
            <a:noFill/>
          </a:ln>
        </p:spPr>
      </p:pic>
      <p:pic>
        <p:nvPicPr>
          <p:cNvPr descr="&lt;math xmlns=&quot;http://www.w3.org/1998/Math/MathML&quot; display=&quot;block&quot; data-is-equatio=&quot;1&quot; data-latex=&quot;\frac{£3\ -£0.30}{£3}\times100=\frac{£2.70}{£3}\times100\ =90\%&quot;&gt;&lt;mfrac&gt;&lt;mrow&gt;&lt;mrow data-mjx-texclass=&quot;ORD&quot;&gt;&lt;mo&gt;£&lt;/mo&gt;&lt;/mrow&gt;&lt;mn&gt;3&lt;/mn&gt;&lt;mtext&gt;&lt;/mtext&gt;&lt;mo&gt;−&lt;/mo&gt;&lt;mrow data-mjx-texclass=&quot;ORD&quot;&gt;&lt;mo&gt;£&lt;/mo&gt;&lt;/mrow&gt;&lt;mn&gt;0.30&lt;/mn&gt;&lt;/mrow&gt;&lt;mrow&gt;&lt;mrow data-mjx-texclass=&quot;ORD&quot;&gt;&lt;mo&gt;£&lt;/mo&gt;&lt;/mrow&gt;&lt;mn&gt;3&lt;/mn&gt;&lt;/mrow&gt;&lt;/mfrac&gt;&lt;mo&gt;×&lt;/mo&gt;&lt;mn&gt;100&lt;/mn&gt;&lt;mo&gt;=&lt;/mo&gt;&lt;mfrac&gt;&lt;mrow&gt;&lt;mrow data-mjx-texclass=&quot;ORD&quot;&gt;&lt;mo&gt;£&lt;/mo&gt;&lt;/mrow&gt;&lt;mn&gt;2.70&lt;/mn&gt;&lt;/mrow&gt;&lt;mrow&gt;&lt;mrow data-mjx-texclass=&quot;ORD&quot;&gt;&lt;mo&gt;£&lt;/mo&gt;&lt;/mrow&gt;&lt;mn&gt;3&lt;/mn&gt;&lt;/mrow&gt;&lt;/mfrac&gt;&lt;mo&gt;×&lt;/mo&gt;&lt;mn&gt;100&lt;/mn&gt;&lt;mtext&gt;&lt;/mtext&gt;&lt;mo&gt;=&lt;/mo&gt;&lt;mn&gt;90&lt;/mn&gt;&lt;mi mathvariant=&quot;normal&quot;&gt;%&lt;/mi&gt;&lt;/math&gt;" id="1044" name="Google Shape;1044;p94" title="the fraction with numerator pound sign 3 negative pound sign 0.30 and denominator pound sign 3 times 100 equals the fraction with numerator pound sign 2.70 and denominator pound sign 3 times 100 equals 90 percent sign"/>
          <p:cNvPicPr preferRelativeResize="0"/>
          <p:nvPr/>
        </p:nvPicPr>
        <p:blipFill>
          <a:blip r:embed="rId5">
            <a:alphaModFix/>
          </a:blip>
          <a:stretch>
            <a:fillRect/>
          </a:stretch>
        </p:blipFill>
        <p:spPr>
          <a:xfrm>
            <a:off x="328048" y="3872288"/>
            <a:ext cx="5039073" cy="614845"/>
          </a:xfrm>
          <a:prstGeom prst="rect">
            <a:avLst/>
          </a:prstGeom>
          <a:noFill/>
          <a:ln>
            <a:noFill/>
          </a:ln>
        </p:spPr>
      </p:pic>
      <p:sp>
        <p:nvSpPr>
          <p:cNvPr id="1045" name="Google Shape;1045;p94"/>
          <p:cNvSpPr/>
          <p:nvPr/>
        </p:nvSpPr>
        <p:spPr>
          <a:xfrm>
            <a:off x="4824635" y="4024824"/>
            <a:ext cx="585600" cy="320700"/>
          </a:xfrm>
          <a:prstGeom prst="roundRect">
            <a:avLst>
              <a:gd fmla="val 16667" name="adj"/>
            </a:avLst>
          </a:prstGeom>
          <a:noFill/>
          <a:ln cap="flat" cmpd="sng" w="38100">
            <a:solidFill>
              <a:schemeClr val="accent4"/>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6" name="Google Shape;1046;p94"/>
          <p:cNvSpPr txBox="1"/>
          <p:nvPr>
            <p:ph idx="1" type="body"/>
          </p:nvPr>
        </p:nvSpPr>
        <p:spPr>
          <a:xfrm>
            <a:off x="5972950" y="3121500"/>
            <a:ext cx="2893500" cy="139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Coffee has an especially high profit margin. Alex and Izzy want to sell more coffee than any other product!</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95"/>
          <p:cNvSpPr txBox="1"/>
          <p:nvPr>
            <p:ph idx="1" type="body"/>
          </p:nvPr>
        </p:nvSpPr>
        <p:spPr>
          <a:xfrm>
            <a:off x="324525" y="3502500"/>
            <a:ext cx="8496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Goats’ cheese </a:t>
            </a:r>
            <a:r>
              <a:rPr lang="en-GB">
                <a:latin typeface="Kalam"/>
                <a:ea typeface="Kalam"/>
                <a:cs typeface="Kalam"/>
                <a:sym typeface="Kalam"/>
              </a:rPr>
              <a:t>sandwiches</a:t>
            </a:r>
            <a:r>
              <a:rPr lang="en-GB">
                <a:latin typeface="Kalam"/>
                <a:ea typeface="Kalam"/>
                <a:cs typeface="Kalam"/>
                <a:sym typeface="Kalam"/>
              </a:rPr>
              <a:t> are not meeting the 40%</a:t>
            </a:r>
            <a:r>
              <a:rPr lang="en-GB">
                <a:latin typeface="Kalam"/>
                <a:ea typeface="Kalam"/>
                <a:cs typeface="Kalam"/>
                <a:sym typeface="Kalam"/>
              </a:rPr>
              <a:t> profit margin target. Alex and Izzy need to either increase their price, find a way to reduce their cost price, or stop selling these sandwiches.</a:t>
            </a:r>
            <a:endParaRPr>
              <a:latin typeface="Kalam"/>
              <a:ea typeface="Kalam"/>
              <a:cs typeface="Kalam"/>
              <a:sym typeface="Kalam"/>
            </a:endParaRPr>
          </a:p>
        </p:txBody>
      </p:sp>
      <p:pic>
        <p:nvPicPr>
          <p:cNvPr descr="&lt;math xmlns=&quot;http://www.w3.org/1998/Math/MathML&quot; display=&quot;block&quot; data-is-equatio=&quot;1&quot; data-latex=&quot;\frac{£4.50\ -£3.00}{£4.50}\times100=\frac{£1.50}{£4.50}\times100\ =33.3\%&quot;&gt;&lt;mfrac&gt;&lt;mrow&gt;&lt;mrow data-mjx-texclass=&quot;ORD&quot;&gt;&lt;mo&gt;£&lt;/mo&gt;&lt;/mrow&gt;&lt;mn&gt;4.50&lt;/mn&gt;&lt;mtext&gt;&lt;/mtext&gt;&lt;mo&gt;−&lt;/mo&gt;&lt;mrow data-mjx-texclass=&quot;ORD&quot;&gt;&lt;mo&gt;£&lt;/mo&gt;&lt;/mrow&gt;&lt;mn&gt;3.00&lt;/mn&gt;&lt;/mrow&gt;&lt;mrow&gt;&lt;mrow data-mjx-texclass=&quot;ORD&quot;&gt;&lt;mo&gt;£&lt;/mo&gt;&lt;/mrow&gt;&lt;mn&gt;4.50&lt;/mn&gt;&lt;/mrow&gt;&lt;/mfrac&gt;&lt;mo&gt;×&lt;/mo&gt;&lt;mn&gt;100&lt;/mn&gt;&lt;mo&gt;=&lt;/mo&gt;&lt;mfrac&gt;&lt;mrow&gt;&lt;mrow data-mjx-texclass=&quot;ORD&quot;&gt;&lt;mo&gt;£&lt;/mo&gt;&lt;/mrow&gt;&lt;mn&gt;1.50&lt;/mn&gt;&lt;/mrow&gt;&lt;mrow&gt;&lt;mrow data-mjx-texclass=&quot;ORD&quot;&gt;&lt;mo&gt;£&lt;/mo&gt;&lt;/mrow&gt;&lt;mn&gt;4.50&lt;/mn&gt;&lt;/mrow&gt;&lt;/mfrac&gt;&lt;mo&gt;×&lt;/mo&gt;&lt;mn&gt;100&lt;/mn&gt;&lt;mtext&gt;&lt;/mtext&gt;&lt;mo&gt;=&lt;/mo&gt;&lt;mn&gt;33.3&lt;/mn&gt;&lt;mi mathvariant=&quot;normal&quot;&gt;%&lt;/mi&gt;&lt;/math&gt;" id="1052" name="Google Shape;1052;p95" title="the fraction with numerator pound sign 4.50 negative pound sign 3.00 and denominator pound sign 4.50 times 100 equals the fraction with numerator pound sign 1.50 and denominator pound sign 4.50 times 100 equals 33.3 percent sign"/>
          <p:cNvPicPr preferRelativeResize="0"/>
          <p:nvPr/>
        </p:nvPicPr>
        <p:blipFill>
          <a:blip r:embed="rId3">
            <a:alphaModFix/>
          </a:blip>
          <a:stretch>
            <a:fillRect/>
          </a:stretch>
        </p:blipFill>
        <p:spPr>
          <a:xfrm>
            <a:off x="335075" y="2641332"/>
            <a:ext cx="5603250" cy="614492"/>
          </a:xfrm>
          <a:prstGeom prst="rect">
            <a:avLst/>
          </a:prstGeom>
          <a:noFill/>
          <a:ln>
            <a:noFill/>
          </a:ln>
        </p:spPr>
      </p:pic>
      <p:sp>
        <p:nvSpPr>
          <p:cNvPr id="1053" name="Google Shape;1053;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054" name="Google Shape;1054;p95"/>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Calculate the gross profit margin for each of these items.</a:t>
            </a:r>
            <a:endParaRPr/>
          </a:p>
        </p:txBody>
      </p:sp>
      <p:sp>
        <p:nvSpPr>
          <p:cNvPr id="1055" name="Google Shape;1055;p95"/>
          <p:cNvSpPr txBox="1"/>
          <p:nvPr>
            <p:ph idx="1" type="body"/>
          </p:nvPr>
        </p:nvSpPr>
        <p:spPr>
          <a:xfrm>
            <a:off x="324000" y="2161175"/>
            <a:ext cx="8496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Clr>
                <a:schemeClr val="dk1"/>
              </a:buClr>
              <a:buSzPts val="1100"/>
              <a:buFont typeface="Arial"/>
              <a:buNone/>
            </a:pPr>
            <a:r>
              <a:rPr lang="en-GB"/>
              <a:t>Goats’ cheese sandwich: Selling price </a:t>
            </a:r>
            <a:r>
              <a:rPr lang="en-GB" sz="2400">
                <a:latin typeface="Times New Roman"/>
                <a:ea typeface="Times New Roman"/>
                <a:cs typeface="Times New Roman"/>
                <a:sym typeface="Times New Roman"/>
              </a:rPr>
              <a:t>£4.50</a:t>
            </a:r>
            <a:r>
              <a:rPr lang="en-GB"/>
              <a:t>, cost price </a:t>
            </a:r>
            <a:r>
              <a:rPr lang="en-GB" sz="2400">
                <a:latin typeface="Times New Roman"/>
                <a:ea typeface="Times New Roman"/>
                <a:cs typeface="Times New Roman"/>
                <a:sym typeface="Times New Roman"/>
              </a:rPr>
              <a:t>£3</a:t>
            </a:r>
            <a:endParaRPr/>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056" name="Google Shape;1056;p95" title="Gross profit margin open paren percent sign close paren equals the fraction with numerator Selling price minus Cost price and denominator Selling price times 100"/>
          <p:cNvPicPr preferRelativeResize="0"/>
          <p:nvPr/>
        </p:nvPicPr>
        <p:blipFill>
          <a:blip r:embed="rId4">
            <a:alphaModFix/>
          </a:blip>
          <a:stretch>
            <a:fillRect/>
          </a:stretch>
        </p:blipFill>
        <p:spPr>
          <a:xfrm>
            <a:off x="823225" y="1274350"/>
            <a:ext cx="6678755" cy="656016"/>
          </a:xfrm>
          <a:prstGeom prst="rect">
            <a:avLst/>
          </a:prstGeom>
          <a:noFill/>
          <a:ln>
            <a:noFill/>
          </a:ln>
        </p:spPr>
      </p:pic>
      <p:sp>
        <p:nvSpPr>
          <p:cNvPr id="1057" name="Google Shape;1057;p95"/>
          <p:cNvSpPr/>
          <p:nvPr/>
        </p:nvSpPr>
        <p:spPr>
          <a:xfrm>
            <a:off x="5160392" y="2775000"/>
            <a:ext cx="859800" cy="320700"/>
          </a:xfrm>
          <a:prstGeom prst="roundRect">
            <a:avLst>
              <a:gd fmla="val 16667" name="adj"/>
            </a:avLst>
          </a:prstGeom>
          <a:noFill/>
          <a:ln cap="flat" cmpd="sng" w="38100">
            <a:solidFill>
              <a:schemeClr val="accent4"/>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8" name="Google Shape;1058;p95"/>
          <p:cNvSpPr txBox="1"/>
          <p:nvPr>
            <p:ph idx="1" type="body"/>
          </p:nvPr>
        </p:nvSpPr>
        <p:spPr>
          <a:xfrm>
            <a:off x="6100426" y="2786425"/>
            <a:ext cx="1401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(to 1 d.p.)</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96"/>
          <p:cNvSpPr/>
          <p:nvPr/>
        </p:nvSpPr>
        <p:spPr>
          <a:xfrm>
            <a:off x="817200" y="2532133"/>
            <a:ext cx="4378200" cy="8730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4" name="Google Shape;1064;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065" name="Google Shape;1065;p96"/>
          <p:cNvSpPr txBox="1"/>
          <p:nvPr>
            <p:ph idx="1" type="body"/>
          </p:nvPr>
        </p:nvSpPr>
        <p:spPr>
          <a:xfrm>
            <a:off x="324000" y="759300"/>
            <a:ext cx="8502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Percentage calculations enable small businesses to </a:t>
            </a:r>
            <a:r>
              <a:rPr lang="en-GB"/>
              <a:t>determine</a:t>
            </a:r>
            <a:r>
              <a:rPr lang="en-GB"/>
              <a:t> how to price their products.</a:t>
            </a:r>
            <a:endParaRPr/>
          </a:p>
        </p:txBody>
      </p:sp>
      <p:sp>
        <p:nvSpPr>
          <p:cNvPr id="1066" name="Google Shape;1066;p96"/>
          <p:cNvSpPr txBox="1"/>
          <p:nvPr>
            <p:ph idx="1" type="body"/>
          </p:nvPr>
        </p:nvSpPr>
        <p:spPr>
          <a:xfrm>
            <a:off x="324000" y="1628455"/>
            <a:ext cx="33999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Goats’ cheese sandwich:</a:t>
            </a:r>
            <a:endParaRPr/>
          </a:p>
        </p:txBody>
      </p:sp>
      <p:sp>
        <p:nvSpPr>
          <p:cNvPr id="1067" name="Google Shape;1067;p96"/>
          <p:cNvSpPr txBox="1"/>
          <p:nvPr>
            <p:ph idx="1" type="body"/>
          </p:nvPr>
        </p:nvSpPr>
        <p:spPr>
          <a:xfrm>
            <a:off x="2000400" y="2968759"/>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a:t>
            </a:r>
            <a:r>
              <a:rPr lang="en-GB"/>
              <a:t>ost price </a:t>
            </a:r>
            <a:r>
              <a:rPr lang="en-GB" sz="2400">
                <a:latin typeface="Times New Roman"/>
                <a:ea typeface="Times New Roman"/>
                <a:cs typeface="Times New Roman"/>
                <a:sym typeface="Times New Roman"/>
              </a:rPr>
              <a:t>£3</a:t>
            </a:r>
            <a:endParaRPr/>
          </a:p>
        </p:txBody>
      </p:sp>
      <p:sp>
        <p:nvSpPr>
          <p:cNvPr id="1068" name="Google Shape;1068;p96"/>
          <p:cNvSpPr/>
          <p:nvPr/>
        </p:nvSpPr>
        <p:spPr>
          <a:xfrm>
            <a:off x="5190875" y="2532133"/>
            <a:ext cx="3106500" cy="8730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9" name="Google Shape;1069;p96"/>
          <p:cNvSpPr txBox="1"/>
          <p:nvPr>
            <p:ph idx="1" type="body"/>
          </p:nvPr>
        </p:nvSpPr>
        <p:spPr>
          <a:xfrm>
            <a:off x="5490292" y="2587759"/>
            <a:ext cx="252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Profit margin</a:t>
            </a:r>
            <a:r>
              <a:rPr lang="en-GB"/>
              <a:t> </a:t>
            </a:r>
            <a:r>
              <a:rPr lang="en-GB" sz="2400">
                <a:latin typeface="Times New Roman"/>
                <a:ea typeface="Times New Roman"/>
                <a:cs typeface="Times New Roman"/>
                <a:sym typeface="Times New Roman"/>
              </a:rPr>
              <a:t>40%</a:t>
            </a:r>
            <a:endParaRPr/>
          </a:p>
        </p:txBody>
      </p:sp>
      <p:sp>
        <p:nvSpPr>
          <p:cNvPr id="1070" name="Google Shape;1070;p96"/>
          <p:cNvSpPr txBox="1"/>
          <p:nvPr>
            <p:ph idx="1" type="body"/>
          </p:nvPr>
        </p:nvSpPr>
        <p:spPr>
          <a:xfrm>
            <a:off x="2320172" y="2587759"/>
            <a:ext cx="14319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a:t>
            </a:r>
            <a:r>
              <a:rPr lang="en-GB"/>
              <a:t> </a:t>
            </a:r>
            <a:r>
              <a:rPr lang="en-GB" sz="2400">
                <a:latin typeface="Times New Roman"/>
                <a:ea typeface="Times New Roman"/>
                <a:cs typeface="Times New Roman"/>
                <a:sym typeface="Times New Roman"/>
              </a:rPr>
              <a:t>6</a:t>
            </a:r>
            <a:r>
              <a:rPr lang="en-GB" sz="2400">
                <a:latin typeface="Times New Roman"/>
                <a:ea typeface="Times New Roman"/>
                <a:cs typeface="Times New Roman"/>
                <a:sym typeface="Times New Roman"/>
              </a:rPr>
              <a:t>0%</a:t>
            </a:r>
            <a:endParaRPr/>
          </a:p>
        </p:txBody>
      </p:sp>
      <p:cxnSp>
        <p:nvCxnSpPr>
          <p:cNvPr id="1071" name="Google Shape;1071;p96"/>
          <p:cNvCxnSpPr/>
          <p:nvPr/>
        </p:nvCxnSpPr>
        <p:spPr>
          <a:xfrm flipH="1" rot="10800000">
            <a:off x="815500" y="2380767"/>
            <a:ext cx="7485600" cy="15300"/>
          </a:xfrm>
          <a:prstGeom prst="straightConnector1">
            <a:avLst/>
          </a:prstGeom>
          <a:noFill/>
          <a:ln cap="flat" cmpd="sng" w="28575">
            <a:solidFill>
              <a:schemeClr val="accent4"/>
            </a:solidFill>
            <a:prstDash val="solid"/>
            <a:round/>
            <a:headEnd len="med" w="med" type="triangle"/>
            <a:tailEnd len="med" w="med" type="triangle"/>
          </a:ln>
        </p:spPr>
      </p:cxnSp>
      <p:sp>
        <p:nvSpPr>
          <p:cNvPr id="1072" name="Google Shape;1072;p96"/>
          <p:cNvSpPr txBox="1"/>
          <p:nvPr>
            <p:ph idx="1" type="body"/>
          </p:nvPr>
        </p:nvSpPr>
        <p:spPr>
          <a:xfrm>
            <a:off x="2991000" y="1993807"/>
            <a:ext cx="1984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Selling price:</a:t>
            </a:r>
            <a:r>
              <a:rPr lang="en-GB" sz="2400">
                <a:latin typeface="Times New Roman"/>
                <a:ea typeface="Times New Roman"/>
                <a:cs typeface="Times New Roman"/>
                <a:sym typeface="Times New Roman"/>
              </a:rPr>
              <a:t> </a:t>
            </a:r>
            <a:endParaRPr/>
          </a:p>
        </p:txBody>
      </p:sp>
      <p:sp>
        <p:nvSpPr>
          <p:cNvPr id="1073" name="Google Shape;1073;p96"/>
          <p:cNvSpPr txBox="1"/>
          <p:nvPr>
            <p:ph idx="1" type="body"/>
          </p:nvPr>
        </p:nvSpPr>
        <p:spPr>
          <a:xfrm>
            <a:off x="324000" y="4493099"/>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£3 ÷ 0.6 = £5</a:t>
            </a:r>
            <a:endParaRPr/>
          </a:p>
        </p:txBody>
      </p:sp>
      <p:sp>
        <p:nvSpPr>
          <p:cNvPr id="1074" name="Google Shape;1074;p96"/>
          <p:cNvSpPr txBox="1"/>
          <p:nvPr>
            <p:ph idx="1" type="body"/>
          </p:nvPr>
        </p:nvSpPr>
        <p:spPr>
          <a:xfrm>
            <a:off x="324000" y="3578359"/>
            <a:ext cx="3045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Selling price</a:t>
            </a:r>
            <a:r>
              <a:rPr lang="en-GB" sz="2400">
                <a:latin typeface="Times New Roman"/>
                <a:ea typeface="Times New Roman"/>
                <a:cs typeface="Times New Roman"/>
                <a:sym typeface="Times New Roman"/>
              </a:rPr>
              <a:t> × 0.6 = £3</a:t>
            </a:r>
            <a:endParaRPr/>
          </a:p>
        </p:txBody>
      </p:sp>
      <p:sp>
        <p:nvSpPr>
          <p:cNvPr id="1075" name="Google Shape;1075;p96"/>
          <p:cNvSpPr txBox="1"/>
          <p:nvPr>
            <p:ph idx="1" type="body"/>
          </p:nvPr>
        </p:nvSpPr>
        <p:spPr>
          <a:xfrm>
            <a:off x="324000" y="4050867"/>
            <a:ext cx="1984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therefore…</a:t>
            </a:r>
            <a:endParaRPr/>
          </a:p>
        </p:txBody>
      </p:sp>
      <p:sp>
        <p:nvSpPr>
          <p:cNvPr id="1076" name="Google Shape;1076;p96"/>
          <p:cNvSpPr txBox="1"/>
          <p:nvPr>
            <p:ph idx="1" type="body"/>
          </p:nvPr>
        </p:nvSpPr>
        <p:spPr>
          <a:xfrm>
            <a:off x="2000400" y="4020591"/>
            <a:ext cx="3045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£3 ÷ 0.6 = </a:t>
            </a:r>
            <a:r>
              <a:rPr lang="en-GB" sz="2400">
                <a:latin typeface="Times New Roman"/>
                <a:ea typeface="Times New Roman"/>
                <a:cs typeface="Times New Roman"/>
                <a:sym typeface="Times New Roman"/>
              </a:rPr>
              <a:t>Selling price</a:t>
            </a:r>
            <a:endParaRPr/>
          </a:p>
        </p:txBody>
      </p:sp>
      <p:sp>
        <p:nvSpPr>
          <p:cNvPr id="1077" name="Google Shape;1077;p96"/>
          <p:cNvSpPr txBox="1"/>
          <p:nvPr>
            <p:ph idx="1" type="body"/>
          </p:nvPr>
        </p:nvSpPr>
        <p:spPr>
          <a:xfrm>
            <a:off x="2991000" y="1993800"/>
            <a:ext cx="2204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Selling price: </a:t>
            </a:r>
            <a:r>
              <a:rPr lang="en-GB" sz="2400">
                <a:latin typeface="Times New Roman"/>
                <a:ea typeface="Times New Roman"/>
                <a:cs typeface="Times New Roman"/>
                <a:sym typeface="Times New Roman"/>
              </a:rPr>
              <a:t>£5</a:t>
            </a:r>
            <a:endParaRPr/>
          </a:p>
        </p:txBody>
      </p:sp>
      <p:sp>
        <p:nvSpPr>
          <p:cNvPr id="1078" name="Google Shape;1078;p96"/>
          <p:cNvSpPr txBox="1"/>
          <p:nvPr>
            <p:ph idx="1" type="body"/>
          </p:nvPr>
        </p:nvSpPr>
        <p:spPr>
          <a:xfrm>
            <a:off x="5262372" y="3517800"/>
            <a:ext cx="3559200" cy="1302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£5 </a:t>
            </a:r>
            <a:r>
              <a:rPr lang="en-GB"/>
              <a:t>is the minimum s</a:t>
            </a:r>
            <a:r>
              <a:rPr lang="en-GB"/>
              <a:t>elling price Alex and Izzy should charge for a goats’ cheese sandwich.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97"/>
          <p:cNvSpPr txBox="1"/>
          <p:nvPr>
            <p:ph idx="1" type="body"/>
          </p:nvPr>
        </p:nvSpPr>
        <p:spPr>
          <a:xfrm>
            <a:off x="324000" y="759300"/>
            <a:ext cx="8502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Alex and Izzy have to make a minimum </a:t>
            </a:r>
            <a:r>
              <a:rPr lang="en-GB" sz="2400">
                <a:latin typeface="Times New Roman"/>
                <a:ea typeface="Times New Roman"/>
                <a:cs typeface="Times New Roman"/>
                <a:sym typeface="Times New Roman"/>
              </a:rPr>
              <a:t>40%</a:t>
            </a:r>
            <a:r>
              <a:rPr lang="en-GB"/>
              <a:t> gross profit margin on these items. Calculate their minimum selling price.</a:t>
            </a:r>
            <a:endParaRPr/>
          </a:p>
        </p:txBody>
      </p:sp>
      <p:sp>
        <p:nvSpPr>
          <p:cNvPr id="1084" name="Google Shape;1084;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085" name="Google Shape;1085;p97"/>
          <p:cNvSpPr txBox="1"/>
          <p:nvPr>
            <p:ph idx="1" type="body"/>
          </p:nvPr>
        </p:nvSpPr>
        <p:spPr>
          <a:xfrm>
            <a:off x="324000" y="1582866"/>
            <a:ext cx="297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Chicken mayo</a:t>
            </a:r>
            <a:r>
              <a:rPr lang="en-GB"/>
              <a:t> s’wich:</a:t>
            </a:r>
            <a:endParaRPr/>
          </a:p>
        </p:txBody>
      </p:sp>
      <p:sp>
        <p:nvSpPr>
          <p:cNvPr id="1086" name="Google Shape;1086;p97"/>
          <p:cNvSpPr txBox="1"/>
          <p:nvPr>
            <p:ph idx="1" type="body"/>
          </p:nvPr>
        </p:nvSpPr>
        <p:spPr>
          <a:xfrm>
            <a:off x="6248851" y="1551925"/>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£2.40 ÷ 0.6 = £4</a:t>
            </a:r>
            <a:endParaRPr/>
          </a:p>
        </p:txBody>
      </p:sp>
      <p:sp>
        <p:nvSpPr>
          <p:cNvPr id="1087" name="Google Shape;1087;p97"/>
          <p:cNvSpPr txBox="1"/>
          <p:nvPr>
            <p:ph idx="1" type="body"/>
          </p:nvPr>
        </p:nvSpPr>
        <p:spPr>
          <a:xfrm>
            <a:off x="3372011" y="1551566"/>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£2.40</a:t>
            </a:r>
            <a:endParaRPr/>
          </a:p>
        </p:txBody>
      </p:sp>
      <p:sp>
        <p:nvSpPr>
          <p:cNvPr id="1088" name="Google Shape;1088;p97"/>
          <p:cNvSpPr txBox="1"/>
          <p:nvPr>
            <p:ph idx="1" type="body"/>
          </p:nvPr>
        </p:nvSpPr>
        <p:spPr>
          <a:xfrm>
            <a:off x="324000" y="2024758"/>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Croissants:</a:t>
            </a:r>
            <a:endParaRPr/>
          </a:p>
        </p:txBody>
      </p:sp>
      <p:sp>
        <p:nvSpPr>
          <p:cNvPr id="1089" name="Google Shape;1089;p97"/>
          <p:cNvSpPr txBox="1"/>
          <p:nvPr>
            <p:ph idx="1" type="body"/>
          </p:nvPr>
        </p:nvSpPr>
        <p:spPr>
          <a:xfrm>
            <a:off x="3372011" y="1993458"/>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£1.50</a:t>
            </a:r>
            <a:endParaRPr/>
          </a:p>
        </p:txBody>
      </p:sp>
      <p:sp>
        <p:nvSpPr>
          <p:cNvPr id="1090" name="Google Shape;1090;p97"/>
          <p:cNvSpPr txBox="1"/>
          <p:nvPr>
            <p:ph idx="1" type="body"/>
          </p:nvPr>
        </p:nvSpPr>
        <p:spPr>
          <a:xfrm>
            <a:off x="324000" y="2466650"/>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Shakes</a:t>
            </a:r>
            <a:r>
              <a:rPr lang="en-GB"/>
              <a:t>:</a:t>
            </a:r>
            <a:endParaRPr/>
          </a:p>
        </p:txBody>
      </p:sp>
      <p:sp>
        <p:nvSpPr>
          <p:cNvPr id="1091" name="Google Shape;1091;p97"/>
          <p:cNvSpPr txBox="1"/>
          <p:nvPr>
            <p:ph idx="1" type="body"/>
          </p:nvPr>
        </p:nvSpPr>
        <p:spPr>
          <a:xfrm>
            <a:off x="3372011" y="2435350"/>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£1.15</a:t>
            </a:r>
            <a:endParaRPr/>
          </a:p>
        </p:txBody>
      </p:sp>
      <p:sp>
        <p:nvSpPr>
          <p:cNvPr id="1092" name="Google Shape;1092;p97"/>
          <p:cNvSpPr txBox="1"/>
          <p:nvPr>
            <p:ph idx="1" type="body"/>
          </p:nvPr>
        </p:nvSpPr>
        <p:spPr>
          <a:xfrm>
            <a:off x="6248851" y="1993817"/>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£1.50 ÷ 0.6 = £2.50</a:t>
            </a:r>
            <a:endParaRPr/>
          </a:p>
        </p:txBody>
      </p:sp>
      <p:sp>
        <p:nvSpPr>
          <p:cNvPr id="1093" name="Google Shape;1093;p97"/>
          <p:cNvSpPr txBox="1"/>
          <p:nvPr>
            <p:ph idx="1" type="body"/>
          </p:nvPr>
        </p:nvSpPr>
        <p:spPr>
          <a:xfrm>
            <a:off x="6248851" y="2435709"/>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£1.15 ÷ 0.6 = £1.92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98"/>
          <p:cNvSpPr txBox="1"/>
          <p:nvPr>
            <p:ph idx="1" type="body"/>
          </p:nvPr>
        </p:nvSpPr>
        <p:spPr>
          <a:xfrm>
            <a:off x="324000" y="759300"/>
            <a:ext cx="8502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Clr>
                <a:schemeClr val="dk1"/>
              </a:buClr>
              <a:buSzPts val="1100"/>
              <a:buFont typeface="Arial"/>
              <a:buNone/>
            </a:pPr>
            <a:r>
              <a:rPr lang="en-GB"/>
              <a:t>Alex and Izzy have to make a minimum </a:t>
            </a:r>
            <a:r>
              <a:rPr lang="en-GB" sz="2400">
                <a:latin typeface="Times New Roman"/>
                <a:ea typeface="Times New Roman"/>
                <a:cs typeface="Times New Roman"/>
                <a:sym typeface="Times New Roman"/>
              </a:rPr>
              <a:t>40%</a:t>
            </a:r>
            <a:r>
              <a:rPr lang="en-GB"/>
              <a:t> gross profit margin on these items. Calculate their minimum selling price.</a:t>
            </a:r>
            <a:endParaRPr/>
          </a:p>
        </p:txBody>
      </p:sp>
      <p:sp>
        <p:nvSpPr>
          <p:cNvPr id="1099" name="Google Shape;1099;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100" name="Google Shape;1100;p98"/>
          <p:cNvSpPr txBox="1"/>
          <p:nvPr>
            <p:ph idx="1" type="body"/>
          </p:nvPr>
        </p:nvSpPr>
        <p:spPr>
          <a:xfrm>
            <a:off x="324000" y="1582866"/>
            <a:ext cx="297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Chicken mayo s’wich:</a:t>
            </a:r>
            <a:endParaRPr/>
          </a:p>
        </p:txBody>
      </p:sp>
      <p:sp>
        <p:nvSpPr>
          <p:cNvPr id="1101" name="Google Shape;1101;p98"/>
          <p:cNvSpPr txBox="1"/>
          <p:nvPr>
            <p:ph idx="1" type="body"/>
          </p:nvPr>
        </p:nvSpPr>
        <p:spPr>
          <a:xfrm>
            <a:off x="6248851" y="1551925"/>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£2.40 ÷ 0.6 = £4</a:t>
            </a:r>
            <a:endParaRPr/>
          </a:p>
        </p:txBody>
      </p:sp>
      <p:sp>
        <p:nvSpPr>
          <p:cNvPr id="1102" name="Google Shape;1102;p98"/>
          <p:cNvSpPr txBox="1"/>
          <p:nvPr>
            <p:ph idx="1" type="body"/>
          </p:nvPr>
        </p:nvSpPr>
        <p:spPr>
          <a:xfrm>
            <a:off x="3372011" y="1551566"/>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£2.40</a:t>
            </a:r>
            <a:endParaRPr/>
          </a:p>
        </p:txBody>
      </p:sp>
      <p:sp>
        <p:nvSpPr>
          <p:cNvPr id="1103" name="Google Shape;1103;p98"/>
          <p:cNvSpPr txBox="1"/>
          <p:nvPr>
            <p:ph idx="1" type="body"/>
          </p:nvPr>
        </p:nvSpPr>
        <p:spPr>
          <a:xfrm>
            <a:off x="324000" y="2024758"/>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Croissants:</a:t>
            </a:r>
            <a:endParaRPr/>
          </a:p>
        </p:txBody>
      </p:sp>
      <p:sp>
        <p:nvSpPr>
          <p:cNvPr id="1104" name="Google Shape;1104;p98"/>
          <p:cNvSpPr txBox="1"/>
          <p:nvPr>
            <p:ph idx="1" type="body"/>
          </p:nvPr>
        </p:nvSpPr>
        <p:spPr>
          <a:xfrm>
            <a:off x="3372011" y="1993458"/>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£1.50</a:t>
            </a:r>
            <a:endParaRPr/>
          </a:p>
        </p:txBody>
      </p:sp>
      <p:sp>
        <p:nvSpPr>
          <p:cNvPr id="1105" name="Google Shape;1105;p98"/>
          <p:cNvSpPr txBox="1"/>
          <p:nvPr>
            <p:ph idx="1" type="body"/>
          </p:nvPr>
        </p:nvSpPr>
        <p:spPr>
          <a:xfrm>
            <a:off x="324000" y="2466650"/>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Shakes:</a:t>
            </a:r>
            <a:endParaRPr/>
          </a:p>
        </p:txBody>
      </p:sp>
      <p:sp>
        <p:nvSpPr>
          <p:cNvPr id="1106" name="Google Shape;1106;p98"/>
          <p:cNvSpPr txBox="1"/>
          <p:nvPr>
            <p:ph idx="1" type="body"/>
          </p:nvPr>
        </p:nvSpPr>
        <p:spPr>
          <a:xfrm>
            <a:off x="3372011" y="2435350"/>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£1.15</a:t>
            </a:r>
            <a:endParaRPr/>
          </a:p>
        </p:txBody>
      </p:sp>
      <p:sp>
        <p:nvSpPr>
          <p:cNvPr id="1107" name="Google Shape;1107;p98"/>
          <p:cNvSpPr txBox="1"/>
          <p:nvPr>
            <p:ph idx="1" type="body"/>
          </p:nvPr>
        </p:nvSpPr>
        <p:spPr>
          <a:xfrm>
            <a:off x="324000" y="2892560"/>
            <a:ext cx="8502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Alex and Izzy want to make minimum a </a:t>
            </a:r>
            <a:r>
              <a:rPr lang="en-GB" sz="2400">
                <a:latin typeface="Times New Roman"/>
                <a:ea typeface="Times New Roman"/>
                <a:cs typeface="Times New Roman"/>
                <a:sym typeface="Times New Roman"/>
              </a:rPr>
              <a:t>75%</a:t>
            </a:r>
            <a:r>
              <a:rPr lang="en-GB"/>
              <a:t> gross profit margin on cakes. Calculate their minimum selling price.</a:t>
            </a:r>
            <a:endParaRPr/>
          </a:p>
        </p:txBody>
      </p:sp>
      <p:sp>
        <p:nvSpPr>
          <p:cNvPr id="1108" name="Google Shape;1108;p98"/>
          <p:cNvSpPr txBox="1"/>
          <p:nvPr>
            <p:ph idx="1" type="body"/>
          </p:nvPr>
        </p:nvSpPr>
        <p:spPr>
          <a:xfrm>
            <a:off x="324000" y="3655234"/>
            <a:ext cx="2451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Lemon drizzle:</a:t>
            </a:r>
            <a:endParaRPr/>
          </a:p>
        </p:txBody>
      </p:sp>
      <p:sp>
        <p:nvSpPr>
          <p:cNvPr id="1109" name="Google Shape;1109;p98"/>
          <p:cNvSpPr txBox="1"/>
          <p:nvPr>
            <p:ph idx="1" type="body"/>
          </p:nvPr>
        </p:nvSpPr>
        <p:spPr>
          <a:xfrm>
            <a:off x="3372011" y="3623934"/>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£0.30</a:t>
            </a:r>
            <a:endParaRPr/>
          </a:p>
        </p:txBody>
      </p:sp>
      <p:sp>
        <p:nvSpPr>
          <p:cNvPr id="1110" name="Google Shape;1110;p98"/>
          <p:cNvSpPr txBox="1"/>
          <p:nvPr>
            <p:ph idx="1" type="body"/>
          </p:nvPr>
        </p:nvSpPr>
        <p:spPr>
          <a:xfrm>
            <a:off x="324000" y="4097126"/>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Carrot cake:</a:t>
            </a:r>
            <a:endParaRPr/>
          </a:p>
        </p:txBody>
      </p:sp>
      <p:sp>
        <p:nvSpPr>
          <p:cNvPr id="1111" name="Google Shape;1111;p98"/>
          <p:cNvSpPr txBox="1"/>
          <p:nvPr>
            <p:ph idx="1" type="body"/>
          </p:nvPr>
        </p:nvSpPr>
        <p:spPr>
          <a:xfrm>
            <a:off x="3372011" y="4065826"/>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£0.45</a:t>
            </a:r>
            <a:endParaRPr/>
          </a:p>
        </p:txBody>
      </p:sp>
      <p:sp>
        <p:nvSpPr>
          <p:cNvPr id="1112" name="Google Shape;1112;p98"/>
          <p:cNvSpPr txBox="1"/>
          <p:nvPr>
            <p:ph idx="1" type="body"/>
          </p:nvPr>
        </p:nvSpPr>
        <p:spPr>
          <a:xfrm>
            <a:off x="6248851" y="1993817"/>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£1.50 ÷ 0.6 = £2.50</a:t>
            </a:r>
            <a:endParaRPr/>
          </a:p>
        </p:txBody>
      </p:sp>
      <p:sp>
        <p:nvSpPr>
          <p:cNvPr id="1113" name="Google Shape;1113;p98"/>
          <p:cNvSpPr txBox="1"/>
          <p:nvPr>
            <p:ph idx="1" type="body"/>
          </p:nvPr>
        </p:nvSpPr>
        <p:spPr>
          <a:xfrm>
            <a:off x="6248851" y="2435709"/>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£1.15 ÷ 0.6 = £1.92</a:t>
            </a:r>
            <a:endParaRPr/>
          </a:p>
        </p:txBody>
      </p:sp>
      <p:sp>
        <p:nvSpPr>
          <p:cNvPr id="1114" name="Google Shape;1114;p98"/>
          <p:cNvSpPr txBox="1"/>
          <p:nvPr>
            <p:ph idx="1" type="body"/>
          </p:nvPr>
        </p:nvSpPr>
        <p:spPr>
          <a:xfrm>
            <a:off x="324525" y="4493100"/>
            <a:ext cx="6752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75% gross profit means 25% is cost price therefore…</a:t>
            </a:r>
            <a:endParaRPr>
              <a:latin typeface="Kalam"/>
              <a:ea typeface="Kalam"/>
              <a:cs typeface="Kalam"/>
              <a:sym typeface="Kalam"/>
            </a:endParaRPr>
          </a:p>
        </p:txBody>
      </p:sp>
      <p:sp>
        <p:nvSpPr>
          <p:cNvPr id="1115" name="Google Shape;1115;p98"/>
          <p:cNvSpPr txBox="1"/>
          <p:nvPr>
            <p:ph idx="1" type="body"/>
          </p:nvPr>
        </p:nvSpPr>
        <p:spPr>
          <a:xfrm>
            <a:off x="6248851" y="3624633"/>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£0.30 ÷ 0.25 = £1.20</a:t>
            </a:r>
            <a:endParaRPr/>
          </a:p>
        </p:txBody>
      </p:sp>
      <p:sp>
        <p:nvSpPr>
          <p:cNvPr id="1116" name="Google Shape;1116;p98"/>
          <p:cNvSpPr txBox="1"/>
          <p:nvPr>
            <p:ph idx="1" type="body"/>
          </p:nvPr>
        </p:nvSpPr>
        <p:spPr>
          <a:xfrm>
            <a:off x="6264160" y="4066525"/>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£0.45 ÷ 0.25 = £1.80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122" name="Google Shape;1122;p99"/>
          <p:cNvSpPr txBox="1"/>
          <p:nvPr>
            <p:ph idx="1" type="body"/>
          </p:nvPr>
        </p:nvSpPr>
        <p:spPr>
          <a:xfrm>
            <a:off x="324000" y="836174"/>
            <a:ext cx="297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Chicken mayo s’wich:</a:t>
            </a:r>
            <a:endParaRPr/>
          </a:p>
        </p:txBody>
      </p:sp>
      <p:sp>
        <p:nvSpPr>
          <p:cNvPr id="1123" name="Google Shape;1123;p99"/>
          <p:cNvSpPr txBox="1"/>
          <p:nvPr>
            <p:ph idx="1" type="body"/>
          </p:nvPr>
        </p:nvSpPr>
        <p:spPr>
          <a:xfrm>
            <a:off x="6248851" y="805233"/>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£2.40 ÷ 0.6 = £4</a:t>
            </a:r>
            <a:endParaRPr/>
          </a:p>
        </p:txBody>
      </p:sp>
      <p:sp>
        <p:nvSpPr>
          <p:cNvPr id="1124" name="Google Shape;1124;p99"/>
          <p:cNvSpPr txBox="1"/>
          <p:nvPr>
            <p:ph idx="1" type="body"/>
          </p:nvPr>
        </p:nvSpPr>
        <p:spPr>
          <a:xfrm>
            <a:off x="3372011" y="804874"/>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£2.40</a:t>
            </a:r>
            <a:endParaRPr/>
          </a:p>
        </p:txBody>
      </p:sp>
      <p:sp>
        <p:nvSpPr>
          <p:cNvPr id="1125" name="Google Shape;1125;p99"/>
          <p:cNvSpPr txBox="1"/>
          <p:nvPr>
            <p:ph idx="1" type="body"/>
          </p:nvPr>
        </p:nvSpPr>
        <p:spPr>
          <a:xfrm>
            <a:off x="324000" y="1216834"/>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Croissants:</a:t>
            </a:r>
            <a:endParaRPr/>
          </a:p>
        </p:txBody>
      </p:sp>
      <p:sp>
        <p:nvSpPr>
          <p:cNvPr id="1126" name="Google Shape;1126;p99"/>
          <p:cNvSpPr txBox="1"/>
          <p:nvPr>
            <p:ph idx="1" type="body"/>
          </p:nvPr>
        </p:nvSpPr>
        <p:spPr>
          <a:xfrm>
            <a:off x="3372011" y="1185534"/>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£1.50</a:t>
            </a:r>
            <a:endParaRPr/>
          </a:p>
        </p:txBody>
      </p:sp>
      <p:sp>
        <p:nvSpPr>
          <p:cNvPr id="1127" name="Google Shape;1127;p99"/>
          <p:cNvSpPr txBox="1"/>
          <p:nvPr>
            <p:ph idx="1" type="body"/>
          </p:nvPr>
        </p:nvSpPr>
        <p:spPr>
          <a:xfrm>
            <a:off x="324000" y="1597494"/>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Shakes:</a:t>
            </a:r>
            <a:endParaRPr/>
          </a:p>
        </p:txBody>
      </p:sp>
      <p:sp>
        <p:nvSpPr>
          <p:cNvPr id="1128" name="Google Shape;1128;p99"/>
          <p:cNvSpPr txBox="1"/>
          <p:nvPr>
            <p:ph idx="1" type="body"/>
          </p:nvPr>
        </p:nvSpPr>
        <p:spPr>
          <a:xfrm>
            <a:off x="3372011" y="1566194"/>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£1.15</a:t>
            </a:r>
            <a:endParaRPr/>
          </a:p>
        </p:txBody>
      </p:sp>
      <p:sp>
        <p:nvSpPr>
          <p:cNvPr id="1129" name="Google Shape;1129;p99"/>
          <p:cNvSpPr txBox="1"/>
          <p:nvPr>
            <p:ph idx="1" type="body"/>
          </p:nvPr>
        </p:nvSpPr>
        <p:spPr>
          <a:xfrm>
            <a:off x="324000" y="1978154"/>
            <a:ext cx="2451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Lemon drizzle:</a:t>
            </a:r>
            <a:endParaRPr/>
          </a:p>
        </p:txBody>
      </p:sp>
      <p:sp>
        <p:nvSpPr>
          <p:cNvPr id="1130" name="Google Shape;1130;p99"/>
          <p:cNvSpPr txBox="1"/>
          <p:nvPr>
            <p:ph idx="1" type="body"/>
          </p:nvPr>
        </p:nvSpPr>
        <p:spPr>
          <a:xfrm>
            <a:off x="3372011" y="1946854"/>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£0.30</a:t>
            </a:r>
            <a:endParaRPr/>
          </a:p>
        </p:txBody>
      </p:sp>
      <p:sp>
        <p:nvSpPr>
          <p:cNvPr id="1131" name="Google Shape;1131;p99"/>
          <p:cNvSpPr txBox="1"/>
          <p:nvPr>
            <p:ph idx="1" type="body"/>
          </p:nvPr>
        </p:nvSpPr>
        <p:spPr>
          <a:xfrm>
            <a:off x="324000" y="2358813"/>
            <a:ext cx="1869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Carrot cake:</a:t>
            </a:r>
            <a:endParaRPr/>
          </a:p>
        </p:txBody>
      </p:sp>
      <p:sp>
        <p:nvSpPr>
          <p:cNvPr id="1132" name="Google Shape;1132;p99"/>
          <p:cNvSpPr txBox="1"/>
          <p:nvPr>
            <p:ph idx="1" type="body"/>
          </p:nvPr>
        </p:nvSpPr>
        <p:spPr>
          <a:xfrm>
            <a:off x="3372011" y="2327513"/>
            <a:ext cx="2223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Cost price </a:t>
            </a:r>
            <a:r>
              <a:rPr lang="en-GB" sz="2400">
                <a:latin typeface="Times New Roman"/>
                <a:ea typeface="Times New Roman"/>
                <a:cs typeface="Times New Roman"/>
                <a:sym typeface="Times New Roman"/>
              </a:rPr>
              <a:t>£0.45</a:t>
            </a:r>
            <a:endParaRPr/>
          </a:p>
        </p:txBody>
      </p:sp>
      <p:sp>
        <p:nvSpPr>
          <p:cNvPr id="1133" name="Google Shape;1133;p99"/>
          <p:cNvSpPr txBox="1"/>
          <p:nvPr>
            <p:ph idx="1" type="body"/>
          </p:nvPr>
        </p:nvSpPr>
        <p:spPr>
          <a:xfrm>
            <a:off x="6248851" y="1185893"/>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£1.50 ÷ 0.6 = £2.50</a:t>
            </a:r>
            <a:endParaRPr/>
          </a:p>
        </p:txBody>
      </p:sp>
      <p:sp>
        <p:nvSpPr>
          <p:cNvPr id="1134" name="Google Shape;1134;p99"/>
          <p:cNvSpPr txBox="1"/>
          <p:nvPr>
            <p:ph idx="1" type="body"/>
          </p:nvPr>
        </p:nvSpPr>
        <p:spPr>
          <a:xfrm>
            <a:off x="6248851" y="1566553"/>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£1.15 ÷ 0.6 = £1.92</a:t>
            </a:r>
            <a:endParaRPr/>
          </a:p>
        </p:txBody>
      </p:sp>
      <p:sp>
        <p:nvSpPr>
          <p:cNvPr id="1135" name="Google Shape;1135;p99"/>
          <p:cNvSpPr txBox="1"/>
          <p:nvPr>
            <p:ph idx="1" type="body"/>
          </p:nvPr>
        </p:nvSpPr>
        <p:spPr>
          <a:xfrm>
            <a:off x="6248851" y="1947553"/>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£0.30 ÷ 0.25 = £1.20</a:t>
            </a:r>
            <a:endParaRPr/>
          </a:p>
        </p:txBody>
      </p:sp>
      <p:sp>
        <p:nvSpPr>
          <p:cNvPr id="1136" name="Google Shape;1136;p99"/>
          <p:cNvSpPr txBox="1"/>
          <p:nvPr>
            <p:ph idx="1" type="body"/>
          </p:nvPr>
        </p:nvSpPr>
        <p:spPr>
          <a:xfrm>
            <a:off x="6264160" y="2328213"/>
            <a:ext cx="25713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£0.45 ÷ 0.25 = £1.80</a:t>
            </a:r>
            <a:endParaRPr/>
          </a:p>
        </p:txBody>
      </p:sp>
      <p:pic>
        <p:nvPicPr>
          <p:cNvPr id="1137" name="Google Shape;1137;p99"/>
          <p:cNvPicPr preferRelativeResize="0"/>
          <p:nvPr/>
        </p:nvPicPr>
        <p:blipFill>
          <a:blip r:embed="rId3">
            <a:alphaModFix/>
          </a:blip>
          <a:stretch>
            <a:fillRect/>
          </a:stretch>
        </p:blipFill>
        <p:spPr>
          <a:xfrm flipH="1">
            <a:off x="316000" y="3522696"/>
            <a:ext cx="1342155" cy="1298855"/>
          </a:xfrm>
          <a:prstGeom prst="rect">
            <a:avLst/>
          </a:prstGeom>
          <a:noFill/>
          <a:ln>
            <a:noFill/>
          </a:ln>
        </p:spPr>
      </p:pic>
      <p:pic>
        <p:nvPicPr>
          <p:cNvPr id="1138" name="Google Shape;1138;p99"/>
          <p:cNvPicPr preferRelativeResize="0"/>
          <p:nvPr/>
        </p:nvPicPr>
        <p:blipFill>
          <a:blip r:embed="rId4">
            <a:alphaModFix/>
          </a:blip>
          <a:stretch>
            <a:fillRect/>
          </a:stretch>
        </p:blipFill>
        <p:spPr>
          <a:xfrm>
            <a:off x="7798665" y="3681191"/>
            <a:ext cx="935935" cy="1079385"/>
          </a:xfrm>
          <a:prstGeom prst="rect">
            <a:avLst/>
          </a:prstGeom>
          <a:noFill/>
          <a:ln>
            <a:noFill/>
          </a:ln>
        </p:spPr>
      </p:pic>
      <p:sp>
        <p:nvSpPr>
          <p:cNvPr id="1139" name="Google Shape;1139;p99"/>
          <p:cNvSpPr txBox="1"/>
          <p:nvPr>
            <p:ph idx="1" type="body"/>
          </p:nvPr>
        </p:nvSpPr>
        <p:spPr>
          <a:xfrm>
            <a:off x="2914460" y="3654909"/>
            <a:ext cx="4773300" cy="687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That’s why most small businesses use spreadsheets. We should too!</a:t>
            </a:r>
            <a:endParaRPr/>
          </a:p>
        </p:txBody>
      </p:sp>
      <p:sp>
        <p:nvSpPr>
          <p:cNvPr id="1140" name="Google Shape;1140;p99"/>
          <p:cNvSpPr txBox="1"/>
          <p:nvPr>
            <p:ph idx="1" type="body"/>
          </p:nvPr>
        </p:nvSpPr>
        <p:spPr>
          <a:xfrm flipH="1">
            <a:off x="1229000" y="2816692"/>
            <a:ext cx="71184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 love maths but we sell almost a hundred products. Calculating minimum pricing is going to take hours!</a:t>
            </a:r>
            <a:endParaRPr/>
          </a:p>
        </p:txBody>
      </p:sp>
      <p:pic>
        <p:nvPicPr>
          <p:cNvPr id="1141" name="Google Shape;1141;p99"/>
          <p:cNvPicPr preferRelativeResize="0"/>
          <p:nvPr/>
        </p:nvPicPr>
        <p:blipFill>
          <a:blip r:embed="rId5">
            <a:alphaModFix/>
          </a:blip>
          <a:stretch>
            <a:fillRect/>
          </a:stretch>
        </p:blipFill>
        <p:spPr>
          <a:xfrm>
            <a:off x="1081725" y="2745592"/>
            <a:ext cx="7357526" cy="1151575"/>
          </a:xfrm>
          <a:prstGeom prst="rect">
            <a:avLst/>
          </a:prstGeom>
          <a:noFill/>
          <a:ln>
            <a:noFill/>
          </a:ln>
        </p:spPr>
      </p:pic>
      <p:pic>
        <p:nvPicPr>
          <p:cNvPr id="1142" name="Google Shape;1142;p99"/>
          <p:cNvPicPr preferRelativeResize="0"/>
          <p:nvPr/>
        </p:nvPicPr>
        <p:blipFill>
          <a:blip r:embed="rId5">
            <a:alphaModFix/>
          </a:blip>
          <a:stretch>
            <a:fillRect/>
          </a:stretch>
        </p:blipFill>
        <p:spPr>
          <a:xfrm flipH="1">
            <a:off x="2819024" y="3583784"/>
            <a:ext cx="4773301" cy="1151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148" name="Google Shape;1148;p100"/>
          <p:cNvSpPr txBox="1"/>
          <p:nvPr>
            <p:ph idx="1" type="body"/>
          </p:nvPr>
        </p:nvSpPr>
        <p:spPr>
          <a:xfrm>
            <a:off x="5117050" y="804875"/>
            <a:ext cx="3505500" cy="994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Alex and Izzy started by making a list of products and their respective cost prices.</a:t>
            </a:r>
            <a:endParaRPr/>
          </a:p>
        </p:txBody>
      </p:sp>
      <p:grpSp>
        <p:nvGrpSpPr>
          <p:cNvPr id="1149" name="Google Shape;1149;p100"/>
          <p:cNvGrpSpPr/>
          <p:nvPr/>
        </p:nvGrpSpPr>
        <p:grpSpPr>
          <a:xfrm>
            <a:off x="326809" y="800027"/>
            <a:ext cx="4417175" cy="4008048"/>
            <a:chOff x="326809" y="800027"/>
            <a:chExt cx="4417175" cy="4008048"/>
          </a:xfrm>
        </p:grpSpPr>
        <p:pic>
          <p:nvPicPr>
            <p:cNvPr id="1150" name="Google Shape;1150;p100"/>
            <p:cNvPicPr preferRelativeResize="0"/>
            <p:nvPr/>
          </p:nvPicPr>
          <p:blipFill>
            <a:blip r:embed="rId3">
              <a:alphaModFix/>
            </a:blip>
            <a:stretch>
              <a:fillRect/>
            </a:stretch>
          </p:blipFill>
          <p:spPr>
            <a:xfrm>
              <a:off x="326809" y="800027"/>
              <a:ext cx="4417175" cy="4008048"/>
            </a:xfrm>
            <a:prstGeom prst="rect">
              <a:avLst/>
            </a:prstGeom>
            <a:noFill/>
            <a:ln>
              <a:noFill/>
            </a:ln>
          </p:spPr>
        </p:pic>
        <p:pic>
          <p:nvPicPr>
            <p:cNvPr id="1151" name="Google Shape;1151;p100"/>
            <p:cNvPicPr preferRelativeResize="0"/>
            <p:nvPr/>
          </p:nvPicPr>
          <p:blipFill rotWithShape="1">
            <a:blip r:embed="rId4">
              <a:alphaModFix/>
            </a:blip>
            <a:srcRect b="86221" l="0" r="0" t="7458"/>
            <a:stretch/>
          </p:blipFill>
          <p:spPr>
            <a:xfrm>
              <a:off x="793650" y="1975942"/>
              <a:ext cx="1830900" cy="19160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pic>
        <p:nvPicPr>
          <p:cNvPr id="1156" name="Google Shape;1156;p101"/>
          <p:cNvPicPr preferRelativeResize="0"/>
          <p:nvPr/>
        </p:nvPicPr>
        <p:blipFill>
          <a:blip r:embed="rId3">
            <a:alphaModFix/>
          </a:blip>
          <a:stretch>
            <a:fillRect/>
          </a:stretch>
        </p:blipFill>
        <p:spPr>
          <a:xfrm>
            <a:off x="333516" y="781618"/>
            <a:ext cx="4417175" cy="4026467"/>
          </a:xfrm>
          <a:prstGeom prst="rect">
            <a:avLst/>
          </a:prstGeom>
          <a:noFill/>
          <a:ln>
            <a:noFill/>
          </a:ln>
        </p:spPr>
      </p:pic>
      <p:sp>
        <p:nvSpPr>
          <p:cNvPr id="1157" name="Google Shape;1157;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158" name="Google Shape;1158;p101"/>
          <p:cNvSpPr txBox="1"/>
          <p:nvPr>
            <p:ph idx="1" type="body"/>
          </p:nvPr>
        </p:nvSpPr>
        <p:spPr>
          <a:xfrm>
            <a:off x="5117050" y="804875"/>
            <a:ext cx="3505500" cy="1622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Now they can write a formula </a:t>
            </a:r>
            <a:r>
              <a:rPr lang="en-GB"/>
              <a:t>to calculate all of the minimum selling prices automatically.</a:t>
            </a:r>
            <a:endParaRPr/>
          </a:p>
        </p:txBody>
      </p:sp>
      <p:sp>
        <p:nvSpPr>
          <p:cNvPr id="1159" name="Google Shape;1159;p101"/>
          <p:cNvSpPr txBox="1"/>
          <p:nvPr>
            <p:ph idx="1" type="body"/>
          </p:nvPr>
        </p:nvSpPr>
        <p:spPr>
          <a:xfrm>
            <a:off x="5117050" y="2633675"/>
            <a:ext cx="35055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They type the formula </a:t>
            </a:r>
            <a:r>
              <a:rPr lang="en-GB" sz="2400">
                <a:latin typeface="Times New Roman"/>
                <a:ea typeface="Times New Roman"/>
                <a:cs typeface="Times New Roman"/>
                <a:sym typeface="Times New Roman"/>
              </a:rPr>
              <a:t>=B</a:t>
            </a:r>
            <a:r>
              <a:rPr lang="en-GB" sz="2400">
                <a:latin typeface="Times New Roman"/>
                <a:ea typeface="Times New Roman"/>
                <a:cs typeface="Times New Roman"/>
                <a:sym typeface="Times New Roman"/>
              </a:rPr>
              <a:t>3/0.6</a:t>
            </a:r>
            <a:r>
              <a:rPr lang="en-GB"/>
              <a:t> in here.</a:t>
            </a:r>
            <a:endParaRPr/>
          </a:p>
        </p:txBody>
      </p:sp>
      <p:cxnSp>
        <p:nvCxnSpPr>
          <p:cNvPr id="1160" name="Google Shape;1160;p101"/>
          <p:cNvCxnSpPr/>
          <p:nvPr/>
        </p:nvCxnSpPr>
        <p:spPr>
          <a:xfrm rot="10800000">
            <a:off x="4453400" y="2093300"/>
            <a:ext cx="642900" cy="614400"/>
          </a:xfrm>
          <a:prstGeom prst="straightConnector1">
            <a:avLst/>
          </a:prstGeom>
          <a:noFill/>
          <a:ln cap="flat" cmpd="sng" w="28575">
            <a:solidFill>
              <a:schemeClr val="accent4"/>
            </a:solidFill>
            <a:prstDash val="solid"/>
            <a:round/>
            <a:headEnd len="med" w="med" type="none"/>
            <a:tailEnd len="med" w="med" type="triangle"/>
          </a:ln>
        </p:spPr>
      </p:cxnSp>
      <p:sp>
        <p:nvSpPr>
          <p:cNvPr id="1161" name="Google Shape;1161;p101"/>
          <p:cNvSpPr txBox="1"/>
          <p:nvPr>
            <p:ph idx="1" type="body"/>
          </p:nvPr>
        </p:nvSpPr>
        <p:spPr>
          <a:xfrm>
            <a:off x="5117050" y="3471875"/>
            <a:ext cx="33525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B</a:t>
            </a:r>
            <a:r>
              <a:rPr lang="en-GB" sz="2400">
                <a:latin typeface="Times New Roman"/>
                <a:ea typeface="Times New Roman"/>
                <a:cs typeface="Times New Roman"/>
                <a:sym typeface="Times New Roman"/>
              </a:rPr>
              <a:t>3 </a:t>
            </a:r>
            <a:r>
              <a:rPr lang="en-GB"/>
              <a:t>is the cell which contains the cost price of this product,</a:t>
            </a:r>
            <a:r>
              <a:rPr lang="en-GB" sz="2400">
                <a:latin typeface="Times New Roman"/>
                <a:ea typeface="Times New Roman"/>
                <a:cs typeface="Times New Roman"/>
                <a:sym typeface="Times New Roman"/>
              </a:rPr>
              <a:t> </a:t>
            </a:r>
            <a:endParaRPr/>
          </a:p>
        </p:txBody>
      </p:sp>
      <p:cxnSp>
        <p:nvCxnSpPr>
          <p:cNvPr id="1162" name="Google Shape;1162;p101"/>
          <p:cNvCxnSpPr/>
          <p:nvPr/>
        </p:nvCxnSpPr>
        <p:spPr>
          <a:xfrm rot="10800000">
            <a:off x="3402500" y="2105583"/>
            <a:ext cx="1693800" cy="1579200"/>
          </a:xfrm>
          <a:prstGeom prst="straightConnector1">
            <a:avLst/>
          </a:prstGeom>
          <a:noFill/>
          <a:ln cap="flat" cmpd="sng" w="28575">
            <a:solidFill>
              <a:schemeClr val="accent4"/>
            </a:solidFill>
            <a:prstDash val="solid"/>
            <a:round/>
            <a:headEnd len="med" w="med" type="none"/>
            <a:tailEnd len="med" w="med" type="triangle"/>
          </a:ln>
        </p:spPr>
      </p:cxnSp>
      <p:sp>
        <p:nvSpPr>
          <p:cNvPr id="1163" name="Google Shape;1163;p101"/>
          <p:cNvSpPr txBox="1"/>
          <p:nvPr>
            <p:ph idx="1" type="body"/>
          </p:nvPr>
        </p:nvSpPr>
        <p:spPr>
          <a:xfrm>
            <a:off x="5117050" y="3471875"/>
            <a:ext cx="3352500" cy="1348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400">
                <a:latin typeface="Times New Roman"/>
                <a:ea typeface="Times New Roman"/>
                <a:cs typeface="Times New Roman"/>
                <a:sym typeface="Times New Roman"/>
              </a:rPr>
              <a:t>B3 </a:t>
            </a:r>
            <a:r>
              <a:rPr lang="en-GB"/>
              <a:t>is the cell which contains the cost price of this product, </a:t>
            </a:r>
            <a:r>
              <a:rPr lang="en-GB" sz="2400">
                <a:latin typeface="Times New Roman"/>
                <a:ea typeface="Times New Roman"/>
                <a:cs typeface="Times New Roman"/>
                <a:sym typeface="Times New Roman"/>
              </a:rPr>
              <a:t>/0.6 </a:t>
            </a:r>
            <a:r>
              <a:rPr lang="en-GB"/>
              <a:t>means </a:t>
            </a:r>
            <a:r>
              <a:rPr lang="en-GB" sz="2400">
                <a:latin typeface="Times New Roman"/>
                <a:ea typeface="Times New Roman"/>
                <a:cs typeface="Times New Roman"/>
                <a:sym typeface="Times New Roman"/>
              </a:rPr>
              <a:t>÷ 0.6</a:t>
            </a:r>
            <a:endParaRPr/>
          </a:p>
        </p:txBody>
      </p:sp>
      <p:pic>
        <p:nvPicPr>
          <p:cNvPr id="1164" name="Google Shape;1164;p101"/>
          <p:cNvPicPr preferRelativeResize="0"/>
          <p:nvPr/>
        </p:nvPicPr>
        <p:blipFill rotWithShape="1">
          <a:blip r:embed="rId4">
            <a:alphaModFix/>
          </a:blip>
          <a:srcRect b="86221" l="0" r="0" t="7458"/>
          <a:stretch/>
        </p:blipFill>
        <p:spPr>
          <a:xfrm>
            <a:off x="793650" y="1975942"/>
            <a:ext cx="1830900" cy="191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pic>
        <p:nvPicPr>
          <p:cNvPr id="1169" name="Google Shape;1169;p102"/>
          <p:cNvPicPr preferRelativeResize="0"/>
          <p:nvPr/>
        </p:nvPicPr>
        <p:blipFill>
          <a:blip r:embed="rId3">
            <a:alphaModFix/>
          </a:blip>
          <a:stretch>
            <a:fillRect/>
          </a:stretch>
        </p:blipFill>
        <p:spPr>
          <a:xfrm>
            <a:off x="323994" y="810000"/>
            <a:ext cx="4378192" cy="3998075"/>
          </a:xfrm>
          <a:prstGeom prst="rect">
            <a:avLst/>
          </a:prstGeom>
          <a:noFill/>
          <a:ln>
            <a:noFill/>
          </a:ln>
        </p:spPr>
      </p:pic>
      <p:sp>
        <p:nvSpPr>
          <p:cNvPr id="1170" name="Google Shape;1170;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171" name="Google Shape;1171;p102"/>
          <p:cNvSpPr txBox="1"/>
          <p:nvPr>
            <p:ph idx="1" type="body"/>
          </p:nvPr>
        </p:nvSpPr>
        <p:spPr>
          <a:xfrm>
            <a:off x="5117050" y="804875"/>
            <a:ext cx="3702900" cy="2020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Clr>
                <a:schemeClr val="dk1"/>
              </a:buClr>
              <a:buSzPts val="1100"/>
              <a:buFont typeface="Arial"/>
              <a:buNone/>
            </a:pPr>
            <a:r>
              <a:rPr lang="en-GB" sz="2100"/>
              <a:t>T</a:t>
            </a:r>
            <a:r>
              <a:rPr lang="en-GB" sz="2100"/>
              <a:t>he formula </a:t>
            </a:r>
            <a:r>
              <a:rPr lang="en-GB" sz="2300">
                <a:latin typeface="Times New Roman"/>
                <a:ea typeface="Times New Roman"/>
                <a:cs typeface="Times New Roman"/>
                <a:sym typeface="Times New Roman"/>
              </a:rPr>
              <a:t>=B3/0.6</a:t>
            </a:r>
            <a:r>
              <a:rPr lang="en-GB" sz="2100"/>
              <a:t> doesn’t appear, the result of the calculation does. The spreadsheet calculates the minimum selling price for cappuccino as </a:t>
            </a:r>
            <a:r>
              <a:rPr lang="en-GB" sz="2300">
                <a:latin typeface="Times New Roman"/>
                <a:ea typeface="Times New Roman"/>
                <a:cs typeface="Times New Roman"/>
                <a:sym typeface="Times New Roman"/>
              </a:rPr>
              <a:t>£0.50</a:t>
            </a:r>
            <a:endParaRPr sz="2100"/>
          </a:p>
        </p:txBody>
      </p:sp>
      <p:sp>
        <p:nvSpPr>
          <p:cNvPr id="1172" name="Google Shape;1172;p102"/>
          <p:cNvSpPr txBox="1"/>
          <p:nvPr>
            <p:ph idx="1" type="body"/>
          </p:nvPr>
        </p:nvSpPr>
        <p:spPr>
          <a:xfrm>
            <a:off x="5117050" y="3014675"/>
            <a:ext cx="3702900" cy="1677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They type a </a:t>
            </a:r>
            <a:r>
              <a:rPr lang="en-GB" sz="2100"/>
              <a:t>formula </a:t>
            </a:r>
            <a:r>
              <a:rPr lang="en-GB" sz="2300">
                <a:latin typeface="Times New Roman"/>
                <a:ea typeface="Times New Roman"/>
                <a:cs typeface="Times New Roman"/>
                <a:sym typeface="Times New Roman"/>
              </a:rPr>
              <a:t>=B</a:t>
            </a:r>
            <a:r>
              <a:rPr lang="en-GB" sz="2300">
                <a:latin typeface="Times New Roman"/>
                <a:ea typeface="Times New Roman"/>
                <a:cs typeface="Times New Roman"/>
                <a:sym typeface="Times New Roman"/>
              </a:rPr>
              <a:t>3</a:t>
            </a:r>
            <a:r>
              <a:rPr lang="en-GB" sz="2300">
                <a:latin typeface="Times New Roman"/>
                <a:ea typeface="Times New Roman"/>
                <a:cs typeface="Times New Roman"/>
                <a:sym typeface="Times New Roman"/>
              </a:rPr>
              <a:t>/0.6</a:t>
            </a:r>
            <a:r>
              <a:rPr lang="en-GB" sz="2100"/>
              <a:t> rather than the individual calculation </a:t>
            </a:r>
            <a:r>
              <a:rPr lang="en-GB" sz="2300">
                <a:latin typeface="Times New Roman"/>
                <a:ea typeface="Times New Roman"/>
                <a:cs typeface="Times New Roman"/>
                <a:sym typeface="Times New Roman"/>
              </a:rPr>
              <a:t>=0.3/0.6</a:t>
            </a:r>
            <a:r>
              <a:rPr lang="en-GB" sz="2100"/>
              <a:t> because we want to copy it across all products.</a:t>
            </a:r>
            <a:endParaRPr sz="2100"/>
          </a:p>
        </p:txBody>
      </p:sp>
      <p:pic>
        <p:nvPicPr>
          <p:cNvPr id="1173" name="Google Shape;1173;p102"/>
          <p:cNvPicPr preferRelativeResize="0"/>
          <p:nvPr/>
        </p:nvPicPr>
        <p:blipFill rotWithShape="1">
          <a:blip r:embed="rId4">
            <a:alphaModFix/>
          </a:blip>
          <a:srcRect b="85824" l="0" r="7825" t="7458"/>
          <a:stretch/>
        </p:blipFill>
        <p:spPr>
          <a:xfrm>
            <a:off x="778566" y="1991025"/>
            <a:ext cx="1687600" cy="203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pic>
        <p:nvPicPr>
          <p:cNvPr id="1178" name="Google Shape;1178;p103"/>
          <p:cNvPicPr preferRelativeResize="0"/>
          <p:nvPr/>
        </p:nvPicPr>
        <p:blipFill>
          <a:blip r:embed="rId3">
            <a:alphaModFix/>
          </a:blip>
          <a:stretch>
            <a:fillRect/>
          </a:stretch>
        </p:blipFill>
        <p:spPr>
          <a:xfrm>
            <a:off x="325000" y="823175"/>
            <a:ext cx="4399774" cy="4020301"/>
          </a:xfrm>
          <a:prstGeom prst="rect">
            <a:avLst/>
          </a:prstGeom>
          <a:noFill/>
          <a:ln>
            <a:noFill/>
          </a:ln>
        </p:spPr>
      </p:pic>
      <p:sp>
        <p:nvSpPr>
          <p:cNvPr id="1179" name="Google Shape;1179;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180" name="Google Shape;1180;p103"/>
          <p:cNvSpPr txBox="1"/>
          <p:nvPr>
            <p:ph idx="1" type="body"/>
          </p:nvPr>
        </p:nvSpPr>
        <p:spPr>
          <a:xfrm>
            <a:off x="5117050" y="804875"/>
            <a:ext cx="3702900" cy="1355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They</a:t>
            </a:r>
            <a:r>
              <a:rPr lang="en-GB" sz="2100"/>
              <a:t> can delete the rows they don’t need, then click on </a:t>
            </a:r>
            <a:r>
              <a:rPr lang="en-GB" sz="2100"/>
              <a:t> </a:t>
            </a:r>
            <a:r>
              <a:rPr lang="en-GB" sz="2300">
                <a:latin typeface="Times New Roman"/>
                <a:ea typeface="Times New Roman"/>
                <a:cs typeface="Times New Roman"/>
                <a:sym typeface="Times New Roman"/>
              </a:rPr>
              <a:t>Format/Number/Currency</a:t>
            </a:r>
            <a:r>
              <a:rPr lang="en-GB" sz="2100"/>
              <a:t> and the results appear in a currency format.</a:t>
            </a:r>
            <a:endParaRPr sz="2100"/>
          </a:p>
        </p:txBody>
      </p:sp>
      <p:sp>
        <p:nvSpPr>
          <p:cNvPr id="1181" name="Google Shape;1181;p103"/>
          <p:cNvSpPr txBox="1"/>
          <p:nvPr>
            <p:ph idx="1" type="body"/>
          </p:nvPr>
        </p:nvSpPr>
        <p:spPr>
          <a:xfrm>
            <a:off x="5117050" y="3852875"/>
            <a:ext cx="3702900" cy="958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Dragging the formula down means it is replicated in every row.</a:t>
            </a:r>
            <a:endParaRPr sz="2100"/>
          </a:p>
        </p:txBody>
      </p:sp>
      <p:cxnSp>
        <p:nvCxnSpPr>
          <p:cNvPr id="1182" name="Google Shape;1182;p103"/>
          <p:cNvCxnSpPr/>
          <p:nvPr/>
        </p:nvCxnSpPr>
        <p:spPr>
          <a:xfrm flipH="1">
            <a:off x="4724825" y="4481075"/>
            <a:ext cx="381000" cy="270000"/>
          </a:xfrm>
          <a:prstGeom prst="straightConnector1">
            <a:avLst/>
          </a:prstGeom>
          <a:noFill/>
          <a:ln cap="flat" cmpd="sng" w="28575">
            <a:solidFill>
              <a:schemeClr val="accent4"/>
            </a:solidFill>
            <a:prstDash val="solid"/>
            <a:round/>
            <a:headEnd len="med" w="med" type="none"/>
            <a:tailEnd len="med" w="med" type="triangle"/>
          </a:ln>
        </p:spPr>
      </p:cxnSp>
      <p:pic>
        <p:nvPicPr>
          <p:cNvPr id="1183" name="Google Shape;1183;p103"/>
          <p:cNvPicPr preferRelativeResize="0"/>
          <p:nvPr/>
        </p:nvPicPr>
        <p:blipFill>
          <a:blip r:embed="rId4">
            <a:alphaModFix/>
          </a:blip>
          <a:stretch>
            <a:fillRect/>
          </a:stretch>
        </p:blipFill>
        <p:spPr>
          <a:xfrm>
            <a:off x="324901" y="798218"/>
            <a:ext cx="4399775" cy="4009856"/>
          </a:xfrm>
          <a:prstGeom prst="rect">
            <a:avLst/>
          </a:prstGeom>
          <a:noFill/>
          <a:ln>
            <a:noFill/>
          </a:ln>
        </p:spPr>
      </p:pic>
      <p:pic>
        <p:nvPicPr>
          <p:cNvPr id="1184" name="Google Shape;1184;p103"/>
          <p:cNvPicPr preferRelativeResize="0"/>
          <p:nvPr/>
        </p:nvPicPr>
        <p:blipFill rotWithShape="1">
          <a:blip r:embed="rId5">
            <a:alphaModFix/>
          </a:blip>
          <a:srcRect b="86221" l="0" r="6182" t="7458"/>
          <a:stretch/>
        </p:blipFill>
        <p:spPr>
          <a:xfrm>
            <a:off x="793650" y="1975950"/>
            <a:ext cx="1717775" cy="191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pic>
        <p:nvPicPr>
          <p:cNvPr id="1189" name="Google Shape;1189;p104"/>
          <p:cNvPicPr preferRelativeResize="0"/>
          <p:nvPr/>
        </p:nvPicPr>
        <p:blipFill>
          <a:blip r:embed="rId3">
            <a:alphaModFix/>
          </a:blip>
          <a:stretch>
            <a:fillRect/>
          </a:stretch>
        </p:blipFill>
        <p:spPr>
          <a:xfrm>
            <a:off x="325000" y="823175"/>
            <a:ext cx="4399774" cy="4020301"/>
          </a:xfrm>
          <a:prstGeom prst="rect">
            <a:avLst/>
          </a:prstGeom>
          <a:noFill/>
          <a:ln>
            <a:noFill/>
          </a:ln>
        </p:spPr>
      </p:pic>
      <p:sp>
        <p:nvSpPr>
          <p:cNvPr id="1190" name="Google Shape;1190;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191" name="Google Shape;1191;p104"/>
          <p:cNvSpPr txBox="1"/>
          <p:nvPr>
            <p:ph idx="1" type="body"/>
          </p:nvPr>
        </p:nvSpPr>
        <p:spPr>
          <a:xfrm>
            <a:off x="5117050" y="3090875"/>
            <a:ext cx="3702900" cy="958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They </a:t>
            </a:r>
            <a:r>
              <a:rPr lang="en-GB"/>
              <a:t>need to tweak</a:t>
            </a:r>
            <a:r>
              <a:rPr lang="en-GB"/>
              <a:t> the formula for any products where the target G.P. is not </a:t>
            </a:r>
            <a:r>
              <a:rPr lang="en-GB" sz="2400">
                <a:latin typeface="Times New Roman"/>
                <a:ea typeface="Times New Roman"/>
                <a:cs typeface="Times New Roman"/>
                <a:sym typeface="Times New Roman"/>
              </a:rPr>
              <a:t>40%</a:t>
            </a:r>
            <a:endParaRPr sz="2300"/>
          </a:p>
        </p:txBody>
      </p:sp>
      <p:pic>
        <p:nvPicPr>
          <p:cNvPr id="1192" name="Google Shape;1192;p104"/>
          <p:cNvPicPr preferRelativeResize="0"/>
          <p:nvPr/>
        </p:nvPicPr>
        <p:blipFill>
          <a:blip r:embed="rId4">
            <a:alphaModFix/>
          </a:blip>
          <a:stretch>
            <a:fillRect/>
          </a:stretch>
        </p:blipFill>
        <p:spPr>
          <a:xfrm>
            <a:off x="324901" y="798218"/>
            <a:ext cx="4399775" cy="4009856"/>
          </a:xfrm>
          <a:prstGeom prst="rect">
            <a:avLst/>
          </a:prstGeom>
          <a:noFill/>
          <a:ln>
            <a:noFill/>
          </a:ln>
        </p:spPr>
      </p:pic>
      <p:sp>
        <p:nvSpPr>
          <p:cNvPr id="1193" name="Google Shape;1193;p104"/>
          <p:cNvSpPr/>
          <p:nvPr/>
        </p:nvSpPr>
        <p:spPr>
          <a:xfrm>
            <a:off x="723650" y="4034358"/>
            <a:ext cx="1592100" cy="270000"/>
          </a:xfrm>
          <a:prstGeom prst="roundRect">
            <a:avLst>
              <a:gd fmla="val 16667" name="adj"/>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4" name="Google Shape;1194;p104"/>
          <p:cNvSpPr/>
          <p:nvPr/>
        </p:nvSpPr>
        <p:spPr>
          <a:xfrm>
            <a:off x="3802258" y="4262950"/>
            <a:ext cx="754500" cy="488100"/>
          </a:xfrm>
          <a:prstGeom prst="roundRect">
            <a:avLst>
              <a:gd fmla="val 16667" name="adj"/>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5" name="Google Shape;1195;p104"/>
          <p:cNvCxnSpPr/>
          <p:nvPr/>
        </p:nvCxnSpPr>
        <p:spPr>
          <a:xfrm flipH="1">
            <a:off x="4618125" y="3881275"/>
            <a:ext cx="422400" cy="351600"/>
          </a:xfrm>
          <a:prstGeom prst="straightConnector1">
            <a:avLst/>
          </a:prstGeom>
          <a:noFill/>
          <a:ln cap="flat" cmpd="sng" w="28575">
            <a:solidFill>
              <a:schemeClr val="accent4"/>
            </a:solidFill>
            <a:prstDash val="solid"/>
            <a:round/>
            <a:headEnd len="med" w="med" type="none"/>
            <a:tailEnd len="med" w="med" type="triangle"/>
          </a:ln>
        </p:spPr>
      </p:cxnSp>
      <p:cxnSp>
        <p:nvCxnSpPr>
          <p:cNvPr id="1196" name="Google Shape;1196;p104"/>
          <p:cNvCxnSpPr>
            <a:endCxn id="1193" idx="3"/>
          </p:cNvCxnSpPr>
          <p:nvPr/>
        </p:nvCxnSpPr>
        <p:spPr>
          <a:xfrm flipH="1">
            <a:off x="2315750" y="3728958"/>
            <a:ext cx="2724900" cy="440400"/>
          </a:xfrm>
          <a:prstGeom prst="straightConnector1">
            <a:avLst/>
          </a:prstGeom>
          <a:noFill/>
          <a:ln cap="flat" cmpd="sng" w="28575">
            <a:solidFill>
              <a:schemeClr val="accent4"/>
            </a:solidFill>
            <a:prstDash val="solid"/>
            <a:round/>
            <a:headEnd len="med" w="med" type="none"/>
            <a:tailEnd len="med" w="med" type="triangle"/>
          </a:ln>
        </p:spPr>
      </p:cxnSp>
      <p:pic>
        <p:nvPicPr>
          <p:cNvPr id="1197" name="Google Shape;1197;p104"/>
          <p:cNvPicPr preferRelativeResize="0"/>
          <p:nvPr/>
        </p:nvPicPr>
        <p:blipFill>
          <a:blip r:embed="rId5">
            <a:alphaModFix/>
          </a:blip>
          <a:stretch>
            <a:fillRect/>
          </a:stretch>
        </p:blipFill>
        <p:spPr>
          <a:xfrm>
            <a:off x="3365417" y="3729045"/>
            <a:ext cx="1592100" cy="1079203"/>
          </a:xfrm>
          <a:prstGeom prst="rect">
            <a:avLst/>
          </a:prstGeom>
          <a:noFill/>
          <a:ln>
            <a:noFill/>
          </a:ln>
        </p:spPr>
      </p:pic>
      <p:sp>
        <p:nvSpPr>
          <p:cNvPr id="1198" name="Google Shape;1198;p104"/>
          <p:cNvSpPr txBox="1"/>
          <p:nvPr>
            <p:ph idx="1" type="body"/>
          </p:nvPr>
        </p:nvSpPr>
        <p:spPr>
          <a:xfrm>
            <a:off x="5117050" y="1643075"/>
            <a:ext cx="3702900" cy="706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Change the</a:t>
            </a:r>
            <a:r>
              <a:rPr lang="en-GB"/>
              <a:t> </a:t>
            </a:r>
            <a:r>
              <a:rPr lang="en-GB" sz="2400">
                <a:latin typeface="Times New Roman"/>
                <a:ea typeface="Times New Roman"/>
                <a:cs typeface="Times New Roman"/>
                <a:sym typeface="Times New Roman"/>
              </a:rPr>
              <a:t>0.6</a:t>
            </a:r>
            <a:r>
              <a:rPr lang="en-GB"/>
              <a:t> to </a:t>
            </a:r>
            <a:r>
              <a:rPr lang="en-GB" sz="2400">
                <a:latin typeface="Times New Roman"/>
                <a:ea typeface="Times New Roman"/>
                <a:cs typeface="Times New Roman"/>
                <a:sym typeface="Times New Roman"/>
              </a:rPr>
              <a:t>0.5</a:t>
            </a:r>
            <a:r>
              <a:rPr lang="en-GB"/>
              <a:t> to reflect this target G.P. and copy the formula down.</a:t>
            </a:r>
            <a:endParaRPr sz="2300"/>
          </a:p>
        </p:txBody>
      </p:sp>
      <p:pic>
        <p:nvPicPr>
          <p:cNvPr id="1199" name="Google Shape;1199;p104"/>
          <p:cNvPicPr preferRelativeResize="0"/>
          <p:nvPr/>
        </p:nvPicPr>
        <p:blipFill rotWithShape="1">
          <a:blip r:embed="rId6">
            <a:alphaModFix/>
          </a:blip>
          <a:srcRect b="86221" l="0" r="6182" t="7458"/>
          <a:stretch/>
        </p:blipFill>
        <p:spPr>
          <a:xfrm>
            <a:off x="793650" y="1975950"/>
            <a:ext cx="1717775" cy="191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9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9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9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pic>
        <p:nvPicPr>
          <p:cNvPr id="1204" name="Google Shape;1204;p105"/>
          <p:cNvPicPr preferRelativeResize="0"/>
          <p:nvPr/>
        </p:nvPicPr>
        <p:blipFill>
          <a:blip r:embed="rId3">
            <a:alphaModFix/>
          </a:blip>
          <a:stretch>
            <a:fillRect/>
          </a:stretch>
        </p:blipFill>
        <p:spPr>
          <a:xfrm>
            <a:off x="335509" y="784584"/>
            <a:ext cx="4399776" cy="4023167"/>
          </a:xfrm>
          <a:prstGeom prst="rect">
            <a:avLst/>
          </a:prstGeom>
          <a:noFill/>
          <a:ln>
            <a:noFill/>
          </a:ln>
        </p:spPr>
      </p:pic>
      <p:sp>
        <p:nvSpPr>
          <p:cNvPr id="1205" name="Google Shape;1205;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206" name="Google Shape;1206;p105"/>
          <p:cNvSpPr txBox="1"/>
          <p:nvPr>
            <p:ph idx="1" type="body"/>
          </p:nvPr>
        </p:nvSpPr>
        <p:spPr>
          <a:xfrm>
            <a:off x="5117050" y="804875"/>
            <a:ext cx="3702900" cy="706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In a matter of minutes Alex and Izzy can calculate the minimum selling price across a wide variety of goods using spreadsheets and formulas.</a:t>
            </a:r>
            <a:endParaRPr sz="2300"/>
          </a:p>
        </p:txBody>
      </p:sp>
      <p:pic>
        <p:nvPicPr>
          <p:cNvPr id="1207" name="Google Shape;1207;p105"/>
          <p:cNvPicPr preferRelativeResize="0"/>
          <p:nvPr/>
        </p:nvPicPr>
        <p:blipFill rotWithShape="1">
          <a:blip r:embed="rId4">
            <a:alphaModFix/>
          </a:blip>
          <a:srcRect b="86221" l="0" r="6182" t="7458"/>
          <a:stretch/>
        </p:blipFill>
        <p:spPr>
          <a:xfrm>
            <a:off x="801192" y="1983492"/>
            <a:ext cx="1717775" cy="191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pic>
        <p:nvPicPr>
          <p:cNvPr id="1212" name="Google Shape;1212;p106"/>
          <p:cNvPicPr preferRelativeResize="0"/>
          <p:nvPr/>
        </p:nvPicPr>
        <p:blipFill>
          <a:blip r:embed="rId3">
            <a:alphaModFix/>
          </a:blip>
          <a:stretch>
            <a:fillRect/>
          </a:stretch>
        </p:blipFill>
        <p:spPr>
          <a:xfrm>
            <a:off x="335425" y="806401"/>
            <a:ext cx="6419602" cy="2093275"/>
          </a:xfrm>
          <a:prstGeom prst="rect">
            <a:avLst/>
          </a:prstGeom>
          <a:noFill/>
          <a:ln>
            <a:noFill/>
          </a:ln>
        </p:spPr>
      </p:pic>
      <p:pic>
        <p:nvPicPr>
          <p:cNvPr id="1213" name="Google Shape;1213;p106"/>
          <p:cNvPicPr preferRelativeResize="0"/>
          <p:nvPr/>
        </p:nvPicPr>
        <p:blipFill>
          <a:blip r:embed="rId4">
            <a:alphaModFix/>
          </a:blip>
          <a:stretch>
            <a:fillRect/>
          </a:stretch>
        </p:blipFill>
        <p:spPr>
          <a:xfrm>
            <a:off x="335422" y="797047"/>
            <a:ext cx="6419598" cy="2106413"/>
          </a:xfrm>
          <a:prstGeom prst="rect">
            <a:avLst/>
          </a:prstGeom>
          <a:noFill/>
          <a:ln>
            <a:noFill/>
          </a:ln>
        </p:spPr>
      </p:pic>
      <p:sp>
        <p:nvSpPr>
          <p:cNvPr id="1214" name="Google Shape;1214;p10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215" name="Google Shape;1215;p106"/>
          <p:cNvSpPr txBox="1"/>
          <p:nvPr>
            <p:ph idx="1" type="body"/>
          </p:nvPr>
        </p:nvSpPr>
        <p:spPr>
          <a:xfrm>
            <a:off x="335425" y="3090875"/>
            <a:ext cx="8484600" cy="1229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 small business is not going to sell all of their products for the minimum price calculated. They will look at the market </a:t>
            </a:r>
            <a:r>
              <a:rPr lang="en-GB"/>
              <a:t>to understand</a:t>
            </a:r>
            <a:r>
              <a:rPr lang="en-GB"/>
              <a:t> </a:t>
            </a:r>
            <a:r>
              <a:rPr lang="en-GB"/>
              <a:t>what their competitors charge and</a:t>
            </a:r>
            <a:r>
              <a:rPr lang="en-GB"/>
              <a:t> what their customers are willing to pay before deciding a selling price.</a:t>
            </a:r>
            <a:endParaRPr/>
          </a:p>
        </p:txBody>
      </p:sp>
      <p:pic>
        <p:nvPicPr>
          <p:cNvPr id="1216" name="Google Shape;1216;p106"/>
          <p:cNvPicPr preferRelativeResize="0"/>
          <p:nvPr/>
        </p:nvPicPr>
        <p:blipFill rotWithShape="1">
          <a:blip r:embed="rId5">
            <a:alphaModFix/>
          </a:blip>
          <a:srcRect b="86221" l="0" r="6182" t="7458"/>
          <a:stretch/>
        </p:blipFill>
        <p:spPr>
          <a:xfrm>
            <a:off x="793650" y="1945783"/>
            <a:ext cx="1717775" cy="191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pic>
        <p:nvPicPr>
          <p:cNvPr id="1221" name="Google Shape;1221;p107"/>
          <p:cNvPicPr preferRelativeResize="0"/>
          <p:nvPr/>
        </p:nvPicPr>
        <p:blipFill>
          <a:blip r:embed="rId3">
            <a:alphaModFix/>
          </a:blip>
          <a:stretch>
            <a:fillRect/>
          </a:stretch>
        </p:blipFill>
        <p:spPr>
          <a:xfrm>
            <a:off x="335422" y="797047"/>
            <a:ext cx="6419598" cy="2106413"/>
          </a:xfrm>
          <a:prstGeom prst="rect">
            <a:avLst/>
          </a:prstGeom>
          <a:noFill/>
          <a:ln>
            <a:noFill/>
          </a:ln>
        </p:spPr>
      </p:pic>
      <p:sp>
        <p:nvSpPr>
          <p:cNvPr id="1222" name="Google Shape;1222;p10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223" name="Google Shape;1223;p107"/>
          <p:cNvSpPr txBox="1"/>
          <p:nvPr>
            <p:ph idx="1" type="body"/>
          </p:nvPr>
        </p:nvSpPr>
        <p:spPr>
          <a:xfrm>
            <a:off x="335425" y="3090875"/>
            <a:ext cx="84846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After deciding selling prices, another formula can be written in the ‘Gross profit %’ column to automatically calculate that for each product.</a:t>
            </a:r>
            <a:endParaRPr/>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224" name="Google Shape;1224;p107" title="Gross profit margin open paren percent sign close paren equals the fraction with numerator Selling price minus Cost price and denominator Selling price times 100"/>
          <p:cNvPicPr preferRelativeResize="0"/>
          <p:nvPr/>
        </p:nvPicPr>
        <p:blipFill>
          <a:blip r:embed="rId4">
            <a:alphaModFix/>
          </a:blip>
          <a:stretch>
            <a:fillRect/>
          </a:stretch>
        </p:blipFill>
        <p:spPr>
          <a:xfrm>
            <a:off x="823225" y="4169950"/>
            <a:ext cx="6678755" cy="656016"/>
          </a:xfrm>
          <a:prstGeom prst="rect">
            <a:avLst/>
          </a:prstGeom>
          <a:noFill/>
          <a:ln>
            <a:noFill/>
          </a:ln>
        </p:spPr>
      </p:pic>
      <p:pic>
        <p:nvPicPr>
          <p:cNvPr id="1225" name="Google Shape;1225;p107"/>
          <p:cNvPicPr preferRelativeResize="0"/>
          <p:nvPr/>
        </p:nvPicPr>
        <p:blipFill>
          <a:blip r:embed="rId5">
            <a:alphaModFix/>
          </a:blip>
          <a:stretch>
            <a:fillRect/>
          </a:stretch>
        </p:blipFill>
        <p:spPr>
          <a:xfrm>
            <a:off x="5748338" y="1811451"/>
            <a:ext cx="2981325" cy="514350"/>
          </a:xfrm>
          <a:prstGeom prst="rect">
            <a:avLst/>
          </a:prstGeom>
          <a:noFill/>
          <a:ln>
            <a:noFill/>
          </a:ln>
        </p:spPr>
      </p:pic>
      <p:pic>
        <p:nvPicPr>
          <p:cNvPr id="1226" name="Google Shape;1226;p107"/>
          <p:cNvPicPr preferRelativeResize="0"/>
          <p:nvPr/>
        </p:nvPicPr>
        <p:blipFill>
          <a:blip r:embed="rId6">
            <a:alphaModFix/>
          </a:blip>
          <a:stretch>
            <a:fillRect/>
          </a:stretch>
        </p:blipFill>
        <p:spPr>
          <a:xfrm>
            <a:off x="335425" y="821600"/>
            <a:ext cx="6415890" cy="2106400"/>
          </a:xfrm>
          <a:prstGeom prst="rect">
            <a:avLst/>
          </a:prstGeom>
          <a:noFill/>
          <a:ln>
            <a:noFill/>
          </a:ln>
        </p:spPr>
      </p:pic>
      <p:pic>
        <p:nvPicPr>
          <p:cNvPr id="1227" name="Google Shape;1227;p107"/>
          <p:cNvPicPr preferRelativeResize="0"/>
          <p:nvPr/>
        </p:nvPicPr>
        <p:blipFill rotWithShape="1">
          <a:blip r:embed="rId7">
            <a:alphaModFix/>
          </a:blip>
          <a:srcRect b="86221" l="0" r="6182" t="7458"/>
          <a:stretch/>
        </p:blipFill>
        <p:spPr>
          <a:xfrm>
            <a:off x="793650" y="1975950"/>
            <a:ext cx="1717775" cy="191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pic>
        <p:nvPicPr>
          <p:cNvPr id="1232" name="Google Shape;1232;p108"/>
          <p:cNvPicPr preferRelativeResize="0"/>
          <p:nvPr/>
        </p:nvPicPr>
        <p:blipFill>
          <a:blip r:embed="rId3">
            <a:alphaModFix/>
          </a:blip>
          <a:stretch>
            <a:fillRect/>
          </a:stretch>
        </p:blipFill>
        <p:spPr>
          <a:xfrm>
            <a:off x="322025" y="781800"/>
            <a:ext cx="6019676" cy="3722775"/>
          </a:xfrm>
          <a:prstGeom prst="rect">
            <a:avLst/>
          </a:prstGeom>
          <a:noFill/>
          <a:ln>
            <a:noFill/>
          </a:ln>
        </p:spPr>
      </p:pic>
      <p:sp>
        <p:nvSpPr>
          <p:cNvPr id="1233" name="Google Shape;1233;p10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234" name="Google Shape;1234;p108"/>
          <p:cNvSpPr txBox="1"/>
          <p:nvPr>
            <p:ph idx="1" type="body"/>
          </p:nvPr>
        </p:nvSpPr>
        <p:spPr>
          <a:xfrm>
            <a:off x="6494775" y="1643075"/>
            <a:ext cx="2325300" cy="1273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Alex and Izzy can now understand which of their products are most profitable.</a:t>
            </a:r>
            <a:endParaRPr/>
          </a:p>
        </p:txBody>
      </p:sp>
      <p:sp>
        <p:nvSpPr>
          <p:cNvPr id="1235" name="Google Shape;1235;p108"/>
          <p:cNvSpPr/>
          <p:nvPr/>
        </p:nvSpPr>
        <p:spPr>
          <a:xfrm>
            <a:off x="5539558" y="1814674"/>
            <a:ext cx="603000" cy="1011600"/>
          </a:xfrm>
          <a:prstGeom prst="roundRect">
            <a:avLst>
              <a:gd fmla="val 16667" name="adj"/>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36" name="Google Shape;1236;p108"/>
          <p:cNvPicPr preferRelativeResize="0"/>
          <p:nvPr/>
        </p:nvPicPr>
        <p:blipFill rotWithShape="1">
          <a:blip r:embed="rId4">
            <a:alphaModFix/>
          </a:blip>
          <a:srcRect b="86221" l="0" r="6182" t="7458"/>
          <a:stretch/>
        </p:blipFill>
        <p:spPr>
          <a:xfrm>
            <a:off x="748399" y="1869575"/>
            <a:ext cx="1627275" cy="18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09"/>
          <p:cNvSpPr txBox="1"/>
          <p:nvPr>
            <p:ph idx="1" type="body"/>
          </p:nvPr>
        </p:nvSpPr>
        <p:spPr>
          <a:xfrm>
            <a:off x="324000" y="759300"/>
            <a:ext cx="36840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On this spreadsheet what formula should be typed into cell </a:t>
            </a:r>
            <a:r>
              <a:rPr lang="en-GB" sz="2400">
                <a:latin typeface="Times New Roman"/>
                <a:ea typeface="Times New Roman"/>
                <a:cs typeface="Times New Roman"/>
                <a:sym typeface="Times New Roman"/>
              </a:rPr>
              <a:t>C3 </a:t>
            </a:r>
            <a:r>
              <a:rPr lang="en-GB"/>
              <a:t>?</a:t>
            </a:r>
            <a:endParaRPr sz="2400">
              <a:latin typeface="Times New Roman"/>
              <a:ea typeface="Times New Roman"/>
              <a:cs typeface="Times New Roman"/>
              <a:sym typeface="Times New Roman"/>
            </a:endParaRPr>
          </a:p>
        </p:txBody>
      </p:sp>
      <p:sp>
        <p:nvSpPr>
          <p:cNvPr id="1242" name="Google Shape;1242;p10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Profit in percentages</a:t>
            </a:r>
            <a:endParaRPr/>
          </a:p>
        </p:txBody>
      </p:sp>
      <p:pic>
        <p:nvPicPr>
          <p:cNvPr id="1243" name="Google Shape;1243;p109"/>
          <p:cNvPicPr preferRelativeResize="0"/>
          <p:nvPr/>
        </p:nvPicPr>
        <p:blipFill>
          <a:blip r:embed="rId3">
            <a:alphaModFix/>
          </a:blip>
          <a:stretch>
            <a:fillRect/>
          </a:stretch>
        </p:blipFill>
        <p:spPr>
          <a:xfrm>
            <a:off x="4008024" y="821425"/>
            <a:ext cx="4811000" cy="3182326"/>
          </a:xfrm>
          <a:prstGeom prst="rect">
            <a:avLst/>
          </a:prstGeom>
          <a:noFill/>
          <a:ln>
            <a:noFill/>
          </a:ln>
        </p:spPr>
      </p:pic>
      <p:sp>
        <p:nvSpPr>
          <p:cNvPr id="1244" name="Google Shape;1244;p109"/>
          <p:cNvSpPr txBox="1"/>
          <p:nvPr>
            <p:ph idx="1" type="body"/>
          </p:nvPr>
        </p:nvSpPr>
        <p:spPr>
          <a:xfrm>
            <a:off x="1009800" y="2207100"/>
            <a:ext cx="11037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=B</a:t>
            </a:r>
            <a:r>
              <a:rPr lang="en-GB" sz="2400">
                <a:latin typeface="Times New Roman"/>
                <a:ea typeface="Times New Roman"/>
                <a:cs typeface="Times New Roman"/>
                <a:sym typeface="Times New Roman"/>
              </a:rPr>
              <a:t>3/0.6</a:t>
            </a:r>
            <a:endParaRPr sz="2400">
              <a:latin typeface="Times New Roman"/>
              <a:ea typeface="Times New Roman"/>
              <a:cs typeface="Times New Roman"/>
              <a:sym typeface="Times New Roman"/>
            </a:endParaRPr>
          </a:p>
        </p:txBody>
      </p:sp>
      <p:pic>
        <p:nvPicPr>
          <p:cNvPr id="1245" name="Google Shape;1245;p109"/>
          <p:cNvPicPr preferRelativeResize="0"/>
          <p:nvPr/>
        </p:nvPicPr>
        <p:blipFill>
          <a:blip r:embed="rId4">
            <a:alphaModFix/>
          </a:blip>
          <a:stretch>
            <a:fillRect/>
          </a:stretch>
        </p:blipFill>
        <p:spPr>
          <a:xfrm>
            <a:off x="2289183" y="3133242"/>
            <a:ext cx="396000" cy="419100"/>
          </a:xfrm>
          <a:prstGeom prst="rect">
            <a:avLst/>
          </a:prstGeom>
          <a:noFill/>
          <a:ln>
            <a:noFill/>
          </a:ln>
        </p:spPr>
      </p:pic>
      <p:grpSp>
        <p:nvGrpSpPr>
          <p:cNvPr id="1246" name="Google Shape;1246;p109"/>
          <p:cNvGrpSpPr/>
          <p:nvPr/>
        </p:nvGrpSpPr>
        <p:grpSpPr>
          <a:xfrm>
            <a:off x="338701" y="2196925"/>
            <a:ext cx="457200" cy="457200"/>
            <a:chOff x="1020916" y="1442088"/>
            <a:chExt cx="457200" cy="457200"/>
          </a:xfrm>
        </p:grpSpPr>
        <p:pic>
          <p:nvPicPr>
            <p:cNvPr id="1247" name="Google Shape;1247;p109"/>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248" name="Google Shape;1248;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49" name="Google Shape;1249;p109"/>
          <p:cNvGrpSpPr/>
          <p:nvPr/>
        </p:nvGrpSpPr>
        <p:grpSpPr>
          <a:xfrm>
            <a:off x="338701" y="3111325"/>
            <a:ext cx="457200" cy="457200"/>
            <a:chOff x="1020916" y="1442088"/>
            <a:chExt cx="457200" cy="457200"/>
          </a:xfrm>
        </p:grpSpPr>
        <p:pic>
          <p:nvPicPr>
            <p:cNvPr id="1250" name="Google Shape;1250;p109"/>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251" name="Google Shape;1251;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52" name="Google Shape;1252;p109"/>
          <p:cNvGrpSpPr/>
          <p:nvPr/>
        </p:nvGrpSpPr>
        <p:grpSpPr>
          <a:xfrm>
            <a:off x="338701" y="4025725"/>
            <a:ext cx="457200" cy="457200"/>
            <a:chOff x="1020916" y="1442088"/>
            <a:chExt cx="457200" cy="457200"/>
          </a:xfrm>
        </p:grpSpPr>
        <p:pic>
          <p:nvPicPr>
            <p:cNvPr id="1253" name="Google Shape;1253;p109"/>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254" name="Google Shape;1254;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255" name="Google Shape;1255;p109"/>
          <p:cNvSpPr txBox="1"/>
          <p:nvPr>
            <p:ph idx="1" type="body"/>
          </p:nvPr>
        </p:nvSpPr>
        <p:spPr>
          <a:xfrm>
            <a:off x="1009800" y="3152125"/>
            <a:ext cx="13059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=B3/0.25</a:t>
            </a:r>
            <a:endParaRPr sz="2400">
              <a:latin typeface="Times New Roman"/>
              <a:ea typeface="Times New Roman"/>
              <a:cs typeface="Times New Roman"/>
              <a:sym typeface="Times New Roman"/>
            </a:endParaRPr>
          </a:p>
        </p:txBody>
      </p:sp>
      <p:sp>
        <p:nvSpPr>
          <p:cNvPr id="1256" name="Google Shape;1256;p109"/>
          <p:cNvSpPr txBox="1"/>
          <p:nvPr>
            <p:ph idx="1" type="body"/>
          </p:nvPr>
        </p:nvSpPr>
        <p:spPr>
          <a:xfrm>
            <a:off x="1009800" y="4051208"/>
            <a:ext cx="11037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B3/0.25</a:t>
            </a:r>
            <a:endParaRPr sz="2400">
              <a:latin typeface="Times New Roman"/>
              <a:ea typeface="Times New Roman"/>
              <a:cs typeface="Times New Roman"/>
              <a:sym typeface="Times New Roman"/>
            </a:endParaRPr>
          </a:p>
        </p:txBody>
      </p:sp>
      <p:sp>
        <p:nvSpPr>
          <p:cNvPr id="1257" name="Google Shape;1257;p109"/>
          <p:cNvSpPr txBox="1"/>
          <p:nvPr>
            <p:ph idx="1" type="body"/>
          </p:nvPr>
        </p:nvSpPr>
        <p:spPr>
          <a:xfrm>
            <a:off x="2229000" y="2130900"/>
            <a:ext cx="18576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Target G.P. is 75%, not 40%</a:t>
            </a:r>
            <a:endParaRPr>
              <a:latin typeface="Kalam"/>
              <a:ea typeface="Kalam"/>
              <a:cs typeface="Kalam"/>
              <a:sym typeface="Kalam"/>
            </a:endParaRPr>
          </a:p>
        </p:txBody>
      </p:sp>
      <p:sp>
        <p:nvSpPr>
          <p:cNvPr id="1258" name="Google Shape;1258;p109"/>
          <p:cNvSpPr txBox="1"/>
          <p:nvPr>
            <p:ph idx="1" type="body"/>
          </p:nvPr>
        </p:nvSpPr>
        <p:spPr>
          <a:xfrm>
            <a:off x="2229000" y="3929084"/>
            <a:ext cx="20910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Formula must include ‘=’ sign.</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10"/>
          <p:cNvSpPr txBox="1"/>
          <p:nvPr>
            <p:ph idx="1" type="body"/>
          </p:nvPr>
        </p:nvSpPr>
        <p:spPr>
          <a:xfrm>
            <a:off x="324000" y="3503180"/>
            <a:ext cx="82833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Having set selling prices w</a:t>
            </a:r>
            <a:r>
              <a:rPr lang="en-GB"/>
              <a:t>hat formula is typed in to cell </a:t>
            </a:r>
            <a:r>
              <a:rPr lang="en-GB" sz="2400">
                <a:latin typeface="Times New Roman"/>
                <a:ea typeface="Times New Roman"/>
                <a:cs typeface="Times New Roman"/>
                <a:sym typeface="Times New Roman"/>
              </a:rPr>
              <a:t>E</a:t>
            </a:r>
            <a:r>
              <a:rPr lang="en-GB" sz="2400">
                <a:latin typeface="Times New Roman"/>
                <a:ea typeface="Times New Roman"/>
                <a:cs typeface="Times New Roman"/>
                <a:sym typeface="Times New Roman"/>
              </a:rPr>
              <a:t>3 </a:t>
            </a:r>
            <a:r>
              <a:rPr lang="en-GB"/>
              <a:t>?</a:t>
            </a:r>
            <a:endParaRPr sz="2400">
              <a:latin typeface="Times New Roman"/>
              <a:ea typeface="Times New Roman"/>
              <a:cs typeface="Times New Roman"/>
              <a:sym typeface="Times New Roman"/>
            </a:endParaRPr>
          </a:p>
        </p:txBody>
      </p:sp>
      <p:sp>
        <p:nvSpPr>
          <p:cNvPr id="1264" name="Google Shape;1264;p11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265" name="Google Shape;1265;p110"/>
          <p:cNvSpPr txBox="1"/>
          <p:nvPr>
            <p:ph idx="1" type="body"/>
          </p:nvPr>
        </p:nvSpPr>
        <p:spPr>
          <a:xfrm>
            <a:off x="887676" y="4066856"/>
            <a:ext cx="23694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300">
                <a:latin typeface="Times New Roman"/>
                <a:ea typeface="Times New Roman"/>
                <a:cs typeface="Times New Roman"/>
                <a:sym typeface="Times New Roman"/>
              </a:rPr>
              <a:t>=(D3−B3)/D3*100</a:t>
            </a:r>
            <a:endParaRPr sz="2300">
              <a:latin typeface="Times New Roman"/>
              <a:ea typeface="Times New Roman"/>
              <a:cs typeface="Times New Roman"/>
              <a:sym typeface="Times New Roman"/>
            </a:endParaRPr>
          </a:p>
        </p:txBody>
      </p:sp>
      <p:pic>
        <p:nvPicPr>
          <p:cNvPr id="1266" name="Google Shape;1266;p110"/>
          <p:cNvPicPr preferRelativeResize="0"/>
          <p:nvPr/>
        </p:nvPicPr>
        <p:blipFill>
          <a:blip r:embed="rId3">
            <a:alphaModFix/>
          </a:blip>
          <a:stretch>
            <a:fillRect/>
          </a:stretch>
        </p:blipFill>
        <p:spPr>
          <a:xfrm>
            <a:off x="2898783" y="4291890"/>
            <a:ext cx="396000" cy="419100"/>
          </a:xfrm>
          <a:prstGeom prst="rect">
            <a:avLst/>
          </a:prstGeom>
          <a:noFill/>
          <a:ln>
            <a:noFill/>
          </a:ln>
        </p:spPr>
      </p:pic>
      <p:grpSp>
        <p:nvGrpSpPr>
          <p:cNvPr id="1267" name="Google Shape;1267;p110"/>
          <p:cNvGrpSpPr/>
          <p:nvPr/>
        </p:nvGrpSpPr>
        <p:grpSpPr>
          <a:xfrm>
            <a:off x="338701" y="4041373"/>
            <a:ext cx="457200" cy="457200"/>
            <a:chOff x="1020916" y="1442088"/>
            <a:chExt cx="457200" cy="457200"/>
          </a:xfrm>
        </p:grpSpPr>
        <p:pic>
          <p:nvPicPr>
            <p:cNvPr id="1268" name="Google Shape;1268;p11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9" name="Google Shape;1269;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70" name="Google Shape;1270;p110"/>
          <p:cNvGrpSpPr/>
          <p:nvPr/>
        </p:nvGrpSpPr>
        <p:grpSpPr>
          <a:xfrm>
            <a:off x="3356085" y="4041373"/>
            <a:ext cx="457200" cy="457200"/>
            <a:chOff x="1020916" y="1442088"/>
            <a:chExt cx="457200" cy="457200"/>
          </a:xfrm>
        </p:grpSpPr>
        <p:pic>
          <p:nvPicPr>
            <p:cNvPr id="1271" name="Google Shape;1271;p11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2" name="Google Shape;1272;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73" name="Google Shape;1273;p110"/>
          <p:cNvGrpSpPr/>
          <p:nvPr/>
        </p:nvGrpSpPr>
        <p:grpSpPr>
          <a:xfrm>
            <a:off x="6236717" y="4041373"/>
            <a:ext cx="457200" cy="457200"/>
            <a:chOff x="1020916" y="1442088"/>
            <a:chExt cx="457200" cy="457200"/>
          </a:xfrm>
        </p:grpSpPr>
        <p:pic>
          <p:nvPicPr>
            <p:cNvPr id="1274" name="Google Shape;1274;p11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5" name="Google Shape;1275;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276" name="Google Shape;1276;p110"/>
          <p:cNvSpPr txBox="1"/>
          <p:nvPr>
            <p:ph idx="1" type="body"/>
          </p:nvPr>
        </p:nvSpPr>
        <p:spPr>
          <a:xfrm>
            <a:off x="3905400" y="4508748"/>
            <a:ext cx="2459400" cy="32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Must have brackets.</a:t>
            </a:r>
            <a:endParaRPr>
              <a:latin typeface="Kalam"/>
              <a:ea typeface="Kalam"/>
              <a:cs typeface="Kalam"/>
              <a:sym typeface="Kalam"/>
            </a:endParaRPr>
          </a:p>
        </p:txBody>
      </p:sp>
      <p:pic>
        <p:nvPicPr>
          <p:cNvPr id="1277" name="Google Shape;1277;p110"/>
          <p:cNvPicPr preferRelativeResize="0"/>
          <p:nvPr/>
        </p:nvPicPr>
        <p:blipFill>
          <a:blip r:embed="rId5">
            <a:alphaModFix/>
          </a:blip>
          <a:stretch>
            <a:fillRect/>
          </a:stretch>
        </p:blipFill>
        <p:spPr>
          <a:xfrm>
            <a:off x="335100" y="796525"/>
            <a:ext cx="5762352" cy="2647463"/>
          </a:xfrm>
          <a:prstGeom prst="rect">
            <a:avLst/>
          </a:prstGeom>
          <a:noFill/>
          <a:ln>
            <a:noFill/>
          </a:ln>
        </p:spPr>
      </p:pic>
      <p:sp>
        <p:nvSpPr>
          <p:cNvPr id="1278" name="Google Shape;1278;p110"/>
          <p:cNvSpPr txBox="1"/>
          <p:nvPr>
            <p:ph idx="1" type="body"/>
          </p:nvPr>
        </p:nvSpPr>
        <p:spPr>
          <a:xfrm>
            <a:off x="3889759" y="4066856"/>
            <a:ext cx="22077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300">
                <a:latin typeface="Times New Roman"/>
                <a:ea typeface="Times New Roman"/>
                <a:cs typeface="Times New Roman"/>
                <a:sym typeface="Times New Roman"/>
              </a:rPr>
              <a:t>=D3−B3/D3*100</a:t>
            </a:r>
            <a:endParaRPr sz="2300">
              <a:latin typeface="Times New Roman"/>
              <a:ea typeface="Times New Roman"/>
              <a:cs typeface="Times New Roman"/>
              <a:sym typeface="Times New Roman"/>
            </a:endParaRPr>
          </a:p>
        </p:txBody>
      </p:sp>
      <p:sp>
        <p:nvSpPr>
          <p:cNvPr id="1279" name="Google Shape;1279;p110"/>
          <p:cNvSpPr txBox="1"/>
          <p:nvPr>
            <p:ph idx="1" type="body"/>
          </p:nvPr>
        </p:nvSpPr>
        <p:spPr>
          <a:xfrm>
            <a:off x="6785699" y="4066856"/>
            <a:ext cx="22077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300">
                <a:latin typeface="Times New Roman"/>
                <a:ea typeface="Times New Roman"/>
                <a:cs typeface="Times New Roman"/>
                <a:sym typeface="Times New Roman"/>
              </a:rPr>
              <a:t>=B3−D3/B3*100</a:t>
            </a:r>
            <a:endParaRPr sz="2300">
              <a:latin typeface="Times New Roman"/>
              <a:ea typeface="Times New Roman"/>
              <a:cs typeface="Times New Roman"/>
              <a:sym typeface="Times New Roman"/>
            </a:endParaRPr>
          </a:p>
        </p:txBody>
      </p:sp>
      <p:sp>
        <p:nvSpPr>
          <p:cNvPr id="1280" name="Google Shape;1280;p110"/>
          <p:cNvSpPr txBox="1"/>
          <p:nvPr>
            <p:ph idx="1" type="body"/>
          </p:nvPr>
        </p:nvSpPr>
        <p:spPr>
          <a:xfrm>
            <a:off x="6801000" y="4508750"/>
            <a:ext cx="1559100" cy="32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Wrong order.</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111"/>
          <p:cNvSpPr txBox="1"/>
          <p:nvPr>
            <p:ph idx="1" type="body"/>
          </p:nvPr>
        </p:nvSpPr>
        <p:spPr>
          <a:xfrm>
            <a:off x="324000" y="3731775"/>
            <a:ext cx="8496000" cy="69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W</a:t>
            </a:r>
            <a:r>
              <a:rPr lang="en-GB" sz="2100"/>
              <a:t>ith the spreadsheet complete, which product do you think Alex and Izzy will place in the most prominent place in their ca</a:t>
            </a:r>
            <a:r>
              <a:rPr lang="en-GB"/>
              <a:t>fe?</a:t>
            </a:r>
            <a:endParaRPr sz="2400">
              <a:latin typeface="Times New Roman"/>
              <a:ea typeface="Times New Roman"/>
              <a:cs typeface="Times New Roman"/>
              <a:sym typeface="Times New Roman"/>
            </a:endParaRPr>
          </a:p>
        </p:txBody>
      </p:sp>
      <p:sp>
        <p:nvSpPr>
          <p:cNvPr id="1286" name="Google Shape;1286;p11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287" name="Google Shape;1287;p111"/>
          <p:cNvSpPr txBox="1"/>
          <p:nvPr>
            <p:ph idx="1" type="body"/>
          </p:nvPr>
        </p:nvSpPr>
        <p:spPr>
          <a:xfrm>
            <a:off x="339308" y="4478125"/>
            <a:ext cx="7048500" cy="32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Lemon drizzle cake because it has the highest G.P. %</a:t>
            </a:r>
            <a:endParaRPr>
              <a:latin typeface="Kalam"/>
              <a:ea typeface="Kalam"/>
              <a:cs typeface="Kalam"/>
              <a:sym typeface="Kalam"/>
            </a:endParaRPr>
          </a:p>
        </p:txBody>
      </p:sp>
      <p:pic>
        <p:nvPicPr>
          <p:cNvPr id="1288" name="Google Shape;1288;p111"/>
          <p:cNvPicPr preferRelativeResize="0"/>
          <p:nvPr/>
        </p:nvPicPr>
        <p:blipFill>
          <a:blip r:embed="rId3">
            <a:alphaModFix/>
          </a:blip>
          <a:stretch>
            <a:fillRect/>
          </a:stretch>
        </p:blipFill>
        <p:spPr>
          <a:xfrm>
            <a:off x="335126" y="796526"/>
            <a:ext cx="7048499" cy="2918457"/>
          </a:xfrm>
          <a:prstGeom prst="rect">
            <a:avLst/>
          </a:prstGeom>
          <a:noFill/>
          <a:ln>
            <a:noFill/>
          </a:ln>
        </p:spPr>
      </p:pic>
      <p:sp>
        <p:nvSpPr>
          <p:cNvPr id="1289" name="Google Shape;1289;p111"/>
          <p:cNvSpPr/>
          <p:nvPr/>
        </p:nvSpPr>
        <p:spPr>
          <a:xfrm>
            <a:off x="6484575" y="1525185"/>
            <a:ext cx="603000" cy="327300"/>
          </a:xfrm>
          <a:prstGeom prst="roundRect">
            <a:avLst>
              <a:gd fmla="val 16667" name="adj"/>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12"/>
          <p:cNvSpPr txBox="1"/>
          <p:nvPr>
            <p:ph idx="1" type="body"/>
          </p:nvPr>
        </p:nvSpPr>
        <p:spPr>
          <a:xfrm>
            <a:off x="324000" y="759300"/>
            <a:ext cx="8496000" cy="718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1) Fill in the blanks for this small business’ first few years of results and comment on how their profit margin is changing.</a:t>
            </a:r>
            <a:endParaRPr/>
          </a:p>
        </p:txBody>
      </p:sp>
      <p:sp>
        <p:nvSpPr>
          <p:cNvPr id="1295" name="Google Shape;1295;p11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graphicFrame>
        <p:nvGraphicFramePr>
          <p:cNvPr id="1296" name="Google Shape;1296;p112"/>
          <p:cNvGraphicFramePr/>
          <p:nvPr/>
        </p:nvGraphicFramePr>
        <p:xfrm>
          <a:off x="1065807" y="1612991"/>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2.5%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four</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40</a:t>
                      </a:r>
                      <a:r>
                        <a:rPr lang="en-GB" sz="2000">
                          <a:solidFill>
                            <a:schemeClr val="dk1"/>
                          </a:solidFill>
                          <a:latin typeface="Times New Roman"/>
                          <a:ea typeface="Times New Roman"/>
                          <a:cs typeface="Times New Roman"/>
                          <a:sym typeface="Times New Roman"/>
                        </a:rPr>
                        <a:t>%</a:t>
                      </a:r>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five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£24 500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£56 000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a:t>
                      </a:r>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text{Gross profit margin (%)}=\frac{\text{Gross profit}}{\text{Sales revenue}}\times100&quot;&gt;&lt;mtext&gt;Gross profit margin (%)&lt;/mtext&gt;&lt;mo&gt;=&lt;/mo&gt;&lt;mfrac&gt;&lt;mtext&gt;Gross profit&lt;/mtext&gt;&lt;mtext&gt;Sales revenue&lt;/mtext&gt;&lt;/mfrac&gt;&lt;mo&gt;×&lt;/mo&gt;&lt;mn&gt;100&lt;/mn&gt;&lt;/math&gt;" id="1297" name="Google Shape;1297;p112" title="Gross profit margin open paren percent sign close paren equals Gross profit over Sales revenue times 100"/>
          <p:cNvPicPr preferRelativeResize="0"/>
          <p:nvPr/>
        </p:nvPicPr>
        <p:blipFill>
          <a:blip r:embed="rId3">
            <a:alphaModFix/>
          </a:blip>
          <a:stretch>
            <a:fillRect/>
          </a:stretch>
        </p:blipFill>
        <p:spPr>
          <a:xfrm>
            <a:off x="1691708" y="4077218"/>
            <a:ext cx="5481502" cy="6135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113"/>
          <p:cNvSpPr txBox="1"/>
          <p:nvPr>
            <p:ph idx="1" type="body"/>
          </p:nvPr>
        </p:nvSpPr>
        <p:spPr>
          <a:xfrm>
            <a:off x="324000" y="759300"/>
            <a:ext cx="8496000" cy="71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2</a:t>
            </a:r>
            <a:r>
              <a:rPr lang="en-GB" sz="2100"/>
              <a:t>) </a:t>
            </a:r>
            <a:r>
              <a:rPr lang="en-GB" sz="2100"/>
              <a:t>Calculate the gross profit margin for each of these items for this new paddleboard shop.</a:t>
            </a:r>
            <a:endParaRPr sz="2100"/>
          </a:p>
        </p:txBody>
      </p:sp>
      <p:sp>
        <p:nvSpPr>
          <p:cNvPr id="1303" name="Google Shape;1303;p11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304" name="Google Shape;1304;p113"/>
          <p:cNvSpPr txBox="1"/>
          <p:nvPr>
            <p:ph idx="4294967295" type="body"/>
          </p:nvPr>
        </p:nvSpPr>
        <p:spPr>
          <a:xfrm>
            <a:off x="324000" y="2206419"/>
            <a:ext cx="801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a) </a:t>
            </a:r>
            <a:r>
              <a:rPr lang="en-GB" sz="2300">
                <a:latin typeface="Times New Roman"/>
                <a:ea typeface="Times New Roman"/>
                <a:cs typeface="Times New Roman"/>
                <a:sym typeface="Times New Roman"/>
              </a:rPr>
              <a:t>10 ft</a:t>
            </a:r>
            <a:r>
              <a:rPr lang="en-GB" sz="2100"/>
              <a:t> paddleboard</a:t>
            </a:r>
            <a:r>
              <a:rPr lang="en-GB" sz="2100"/>
              <a:t>: Selling price </a:t>
            </a:r>
            <a:r>
              <a:rPr lang="en-GB" sz="2300">
                <a:latin typeface="Times New Roman"/>
                <a:ea typeface="Times New Roman"/>
                <a:cs typeface="Times New Roman"/>
                <a:sym typeface="Times New Roman"/>
              </a:rPr>
              <a:t>£575</a:t>
            </a:r>
            <a:r>
              <a:rPr lang="en-GB" sz="2100"/>
              <a:t>, cost price </a:t>
            </a:r>
            <a:r>
              <a:rPr lang="en-GB" sz="2300">
                <a:latin typeface="Times New Roman"/>
                <a:ea typeface="Times New Roman"/>
                <a:cs typeface="Times New Roman"/>
                <a:sym typeface="Times New Roman"/>
              </a:rPr>
              <a:t>£373.75</a:t>
            </a:r>
            <a:endParaRPr sz="2100"/>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305" name="Google Shape;1305;p113" title="Gross profit margin open paren percent sign close paren equals the fraction with numerator Selling price minus Cost price and denominator Selling price times 100"/>
          <p:cNvPicPr preferRelativeResize="0"/>
          <p:nvPr/>
        </p:nvPicPr>
        <p:blipFill>
          <a:blip r:embed="rId3">
            <a:alphaModFix/>
          </a:blip>
          <a:stretch>
            <a:fillRect/>
          </a:stretch>
        </p:blipFill>
        <p:spPr>
          <a:xfrm>
            <a:off x="2301301" y="1472674"/>
            <a:ext cx="6487931" cy="637275"/>
          </a:xfrm>
          <a:prstGeom prst="rect">
            <a:avLst/>
          </a:prstGeom>
          <a:noFill/>
          <a:ln>
            <a:noFill/>
          </a:ln>
        </p:spPr>
      </p:pic>
      <p:sp>
        <p:nvSpPr>
          <p:cNvPr id="1306" name="Google Shape;1306;p113"/>
          <p:cNvSpPr txBox="1"/>
          <p:nvPr>
            <p:ph idx="4294967295" type="body"/>
          </p:nvPr>
        </p:nvSpPr>
        <p:spPr>
          <a:xfrm>
            <a:off x="324000" y="4188291"/>
            <a:ext cx="8496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e) Comment on which product is not achieving their </a:t>
            </a:r>
            <a:r>
              <a:rPr lang="en-GB" sz="2300">
                <a:latin typeface="Times New Roman"/>
                <a:ea typeface="Times New Roman"/>
                <a:cs typeface="Times New Roman"/>
                <a:sym typeface="Times New Roman"/>
              </a:rPr>
              <a:t>3</a:t>
            </a:r>
            <a:r>
              <a:rPr lang="en-GB" sz="2300">
                <a:latin typeface="Times New Roman"/>
                <a:ea typeface="Times New Roman"/>
                <a:cs typeface="Times New Roman"/>
                <a:sym typeface="Times New Roman"/>
              </a:rPr>
              <a:t>0%</a:t>
            </a:r>
            <a:r>
              <a:rPr lang="en-GB" sz="2100"/>
              <a:t> gross profit margin target and advise on what they should do.</a:t>
            </a:r>
            <a:endParaRPr sz="2100"/>
          </a:p>
        </p:txBody>
      </p:sp>
      <p:sp>
        <p:nvSpPr>
          <p:cNvPr id="1307" name="Google Shape;1307;p113"/>
          <p:cNvSpPr txBox="1"/>
          <p:nvPr>
            <p:ph idx="4294967295" type="body"/>
          </p:nvPr>
        </p:nvSpPr>
        <p:spPr>
          <a:xfrm>
            <a:off x="324000" y="2709543"/>
            <a:ext cx="7778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b</a:t>
            </a:r>
            <a:r>
              <a:rPr lang="en-GB" sz="2100"/>
              <a:t>) </a:t>
            </a:r>
            <a:r>
              <a:rPr lang="en-GB" sz="2300">
                <a:latin typeface="Times New Roman"/>
                <a:ea typeface="Times New Roman"/>
                <a:cs typeface="Times New Roman"/>
                <a:sym typeface="Times New Roman"/>
              </a:rPr>
              <a:t>12 ft</a:t>
            </a:r>
            <a:r>
              <a:rPr lang="en-GB" sz="2100"/>
              <a:t> paddleboard: Selling price </a:t>
            </a:r>
            <a:r>
              <a:rPr lang="en-GB" sz="2300">
                <a:latin typeface="Times New Roman"/>
                <a:ea typeface="Times New Roman"/>
                <a:cs typeface="Times New Roman"/>
                <a:sym typeface="Times New Roman"/>
              </a:rPr>
              <a:t>£650</a:t>
            </a:r>
            <a:r>
              <a:rPr lang="en-GB" sz="2100"/>
              <a:t>, cost price </a:t>
            </a:r>
            <a:r>
              <a:rPr lang="en-GB" sz="2300">
                <a:latin typeface="Times New Roman"/>
                <a:ea typeface="Times New Roman"/>
                <a:cs typeface="Times New Roman"/>
                <a:sym typeface="Times New Roman"/>
              </a:rPr>
              <a:t>£390</a:t>
            </a:r>
            <a:endParaRPr sz="2100"/>
          </a:p>
        </p:txBody>
      </p:sp>
      <p:sp>
        <p:nvSpPr>
          <p:cNvPr id="1308" name="Google Shape;1308;p113"/>
          <p:cNvSpPr txBox="1"/>
          <p:nvPr>
            <p:ph idx="4294967295" type="body"/>
          </p:nvPr>
        </p:nvSpPr>
        <p:spPr>
          <a:xfrm>
            <a:off x="324000" y="3212667"/>
            <a:ext cx="7456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c</a:t>
            </a:r>
            <a:r>
              <a:rPr lang="en-GB" sz="2100"/>
              <a:t>) Carbon paddle: Selling price </a:t>
            </a:r>
            <a:r>
              <a:rPr lang="en-GB" sz="2300">
                <a:latin typeface="Times New Roman"/>
                <a:ea typeface="Times New Roman"/>
                <a:cs typeface="Times New Roman"/>
                <a:sym typeface="Times New Roman"/>
              </a:rPr>
              <a:t>£110</a:t>
            </a:r>
            <a:r>
              <a:rPr lang="en-GB" sz="2100"/>
              <a:t>, cost price </a:t>
            </a:r>
            <a:r>
              <a:rPr lang="en-GB" sz="2300">
                <a:latin typeface="Times New Roman"/>
                <a:ea typeface="Times New Roman"/>
                <a:cs typeface="Times New Roman"/>
                <a:sym typeface="Times New Roman"/>
              </a:rPr>
              <a:t>£82.50</a:t>
            </a:r>
            <a:endParaRPr sz="2100"/>
          </a:p>
        </p:txBody>
      </p:sp>
      <p:sp>
        <p:nvSpPr>
          <p:cNvPr id="1309" name="Google Shape;1309;p113"/>
          <p:cNvSpPr txBox="1"/>
          <p:nvPr>
            <p:ph idx="4294967295" type="body"/>
          </p:nvPr>
        </p:nvSpPr>
        <p:spPr>
          <a:xfrm>
            <a:off x="324000" y="3700483"/>
            <a:ext cx="6982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d</a:t>
            </a:r>
            <a:r>
              <a:rPr lang="en-GB" sz="2100"/>
              <a:t>) </a:t>
            </a:r>
            <a:r>
              <a:rPr lang="en-GB" sz="2100"/>
              <a:t>Buoyancy</a:t>
            </a:r>
            <a:r>
              <a:rPr lang="en-GB" sz="2100"/>
              <a:t> aid: Selling price </a:t>
            </a:r>
            <a:r>
              <a:rPr lang="en-GB" sz="2300">
                <a:latin typeface="Times New Roman"/>
                <a:ea typeface="Times New Roman"/>
                <a:cs typeface="Times New Roman"/>
                <a:sym typeface="Times New Roman"/>
              </a:rPr>
              <a:t>£60</a:t>
            </a:r>
            <a:r>
              <a:rPr lang="en-GB" sz="2100"/>
              <a:t>, cost price </a:t>
            </a:r>
            <a:r>
              <a:rPr lang="en-GB" sz="2300">
                <a:latin typeface="Times New Roman"/>
                <a:ea typeface="Times New Roman"/>
                <a:cs typeface="Times New Roman"/>
                <a:sym typeface="Times New Roman"/>
              </a:rPr>
              <a:t>£34.50</a:t>
            </a:r>
            <a:endParaRPr sz="2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pic>
        <p:nvPicPr>
          <p:cNvPr id="1314" name="Google Shape;1314;p114"/>
          <p:cNvPicPr preferRelativeResize="0"/>
          <p:nvPr/>
        </p:nvPicPr>
        <p:blipFill>
          <a:blip r:embed="rId3">
            <a:alphaModFix/>
          </a:blip>
          <a:stretch>
            <a:fillRect/>
          </a:stretch>
        </p:blipFill>
        <p:spPr>
          <a:xfrm>
            <a:off x="323996" y="1407996"/>
            <a:ext cx="5885905" cy="3412400"/>
          </a:xfrm>
          <a:prstGeom prst="rect">
            <a:avLst/>
          </a:prstGeom>
          <a:noFill/>
          <a:ln cap="flat" cmpd="sng" w="38100">
            <a:solidFill>
              <a:schemeClr val="dk1"/>
            </a:solidFill>
            <a:prstDash val="solid"/>
            <a:round/>
            <a:headEnd len="sm" w="sm" type="none"/>
            <a:tailEnd len="sm" w="sm" type="none"/>
          </a:ln>
        </p:spPr>
      </p:pic>
      <p:sp>
        <p:nvSpPr>
          <p:cNvPr id="1315" name="Google Shape;1315;p114"/>
          <p:cNvSpPr txBox="1"/>
          <p:nvPr>
            <p:ph idx="1" type="body"/>
          </p:nvPr>
        </p:nvSpPr>
        <p:spPr>
          <a:xfrm>
            <a:off x="324000" y="759300"/>
            <a:ext cx="8496000" cy="71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a) By completing a spreadsheet or otherwise, calculate the minimum selling price and gross profit margins for this bicycle shop’s products.</a:t>
            </a:r>
            <a:endParaRPr sz="1800"/>
          </a:p>
        </p:txBody>
      </p:sp>
      <p:sp>
        <p:nvSpPr>
          <p:cNvPr id="1316" name="Google Shape;1316;p11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317" name="Google Shape;1317;p114"/>
          <p:cNvSpPr txBox="1"/>
          <p:nvPr>
            <p:ph idx="4294967295" type="body"/>
          </p:nvPr>
        </p:nvSpPr>
        <p:spPr>
          <a:xfrm>
            <a:off x="6410526" y="1506000"/>
            <a:ext cx="2241300" cy="1197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b) Comment on any products not achieving minimum gross profit margins.</a:t>
            </a:r>
            <a:endParaRPr sz="1800"/>
          </a:p>
        </p:txBody>
      </p:sp>
      <p:sp>
        <p:nvSpPr>
          <p:cNvPr id="1318" name="Google Shape;1318;p114"/>
          <p:cNvSpPr txBox="1"/>
          <p:nvPr>
            <p:ph idx="4294967295" type="body"/>
          </p:nvPr>
        </p:nvSpPr>
        <p:spPr>
          <a:xfrm>
            <a:off x="6410526" y="3030000"/>
            <a:ext cx="2348400" cy="1274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c</a:t>
            </a:r>
            <a:r>
              <a:rPr lang="en-GB" sz="1800"/>
              <a:t>) Advise the business as to which products they should place most prominently in their shop.</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graphicFrame>
        <p:nvGraphicFramePr>
          <p:cNvPr id="1323" name="Google Shape;1323;p115"/>
          <p:cNvGraphicFramePr/>
          <p:nvPr/>
        </p:nvGraphicFramePr>
        <p:xfrm>
          <a:off x="1065807" y="1612991"/>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12.5%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four</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40%</a:t>
                      </a:r>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five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£24 500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£56 000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324" name="Google Shape;1324;p115"/>
          <p:cNvGraphicFramePr/>
          <p:nvPr/>
        </p:nvGraphicFramePr>
        <p:xfrm>
          <a:off x="1065807" y="1612991"/>
          <a:ext cx="3000000" cy="3000000"/>
        </p:xfrm>
        <a:graphic>
          <a:graphicData uri="http://schemas.openxmlformats.org/drawingml/2006/table">
            <a:tbl>
              <a:tblPr>
                <a:noFill/>
                <a:tableStyleId>{F453CC0F-1499-456E-8E7E-2329420C4EBA}</a:tableStyleId>
              </a:tblPr>
              <a:tblGrid>
                <a:gridCol w="1514100"/>
                <a:gridCol w="1514100"/>
                <a:gridCol w="1514100"/>
                <a:gridCol w="2340725"/>
              </a:tblGrid>
              <a:tr h="3753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Revenue</a:t>
                      </a:r>
                      <a:endParaRPr sz="18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Gross profit margin</a:t>
                      </a:r>
                      <a:endParaRPr sz="1800">
                        <a:solidFill>
                          <a:schemeClr val="dk1"/>
                        </a:solidFill>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5350">
                <a:tc>
                  <a:txBody>
                    <a:bodyPr/>
                    <a:lstStyle/>
                    <a:p>
                      <a:pPr indent="0" lvl="0" marL="0" rtl="0" algn="ctr">
                        <a:spcBef>
                          <a:spcPts val="0"/>
                        </a:spcBef>
                        <a:spcAft>
                          <a:spcPts val="0"/>
                        </a:spcAft>
                        <a:buNone/>
                      </a:pPr>
                      <a:r>
                        <a:rPr lang="en-GB" sz="1800">
                          <a:latin typeface="Lexend"/>
                          <a:ea typeface="Lexend"/>
                          <a:cs typeface="Lexend"/>
                          <a:sym typeface="Lexend"/>
                        </a:rPr>
                        <a:t>Year one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£12 000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two</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5%</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three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£6000</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£48 000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12.5%</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four</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£20 000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£50 000</a:t>
                      </a:r>
                      <a:endParaRPr sz="2000">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40%</a:t>
                      </a:r>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0950">
                <a:tc>
                  <a:txBody>
                    <a:bodyPr/>
                    <a:lstStyle/>
                    <a:p>
                      <a:pPr indent="0" lvl="0" marL="0" rtl="0" algn="ctr">
                        <a:spcBef>
                          <a:spcPts val="0"/>
                        </a:spcBef>
                        <a:spcAft>
                          <a:spcPts val="0"/>
                        </a:spcAft>
                        <a:buNone/>
                      </a:pPr>
                      <a:r>
                        <a:rPr lang="en-GB" sz="1800">
                          <a:latin typeface="Lexend"/>
                          <a:ea typeface="Lexend"/>
                          <a:cs typeface="Lexend"/>
                          <a:sym typeface="Lexend"/>
                        </a:rPr>
                        <a:t>Year five</a:t>
                      </a:r>
                      <a:endParaRPr sz="1800">
                        <a:latin typeface="Lexend"/>
                        <a:ea typeface="Lexend"/>
                        <a:cs typeface="Lexend"/>
                        <a:sym typeface="Lexend"/>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£24 500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£56 000</a:t>
                      </a:r>
                      <a:endParaRPr sz="2000">
                        <a:latin typeface="Times New Roman"/>
                        <a:ea typeface="Times New Roman"/>
                        <a:cs typeface="Times New Roman"/>
                        <a:sym typeface="Times New Roman"/>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43.75%</a:t>
                      </a:r>
                      <a:endParaRPr>
                        <a:latin typeface="Kalam"/>
                        <a:ea typeface="Kalam"/>
                        <a:cs typeface="Kalam"/>
                        <a:sym typeface="Kalam"/>
                      </a:endParaRPr>
                    </a:p>
                  </a:txBody>
                  <a:tcPr marT="36000" marB="36000" marR="36000" marL="360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325" name="Google Shape;1325;p115"/>
          <p:cNvSpPr txBox="1"/>
          <p:nvPr>
            <p:ph idx="1" type="body"/>
          </p:nvPr>
        </p:nvSpPr>
        <p:spPr>
          <a:xfrm>
            <a:off x="324000" y="759300"/>
            <a:ext cx="8496000" cy="8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r>
              <a:rPr lang="en-GB"/>
              <a:t>Fill in the blanks for this small business’ first few years of results and comment on how their profit margin is changing.</a:t>
            </a:r>
            <a:endParaRPr/>
          </a:p>
        </p:txBody>
      </p:sp>
      <p:sp>
        <p:nvSpPr>
          <p:cNvPr id="1326" name="Google Shape;1326;p11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327" name="Google Shape;1327;p115"/>
          <p:cNvSpPr txBox="1"/>
          <p:nvPr>
            <p:ph idx="1" type="body"/>
          </p:nvPr>
        </p:nvSpPr>
        <p:spPr>
          <a:xfrm>
            <a:off x="324000" y="4035900"/>
            <a:ext cx="7716900" cy="85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You might have</a:t>
            </a:r>
            <a:r>
              <a:rPr lang="en-GB">
                <a:latin typeface="Kalam"/>
                <a:ea typeface="Kalam"/>
                <a:cs typeface="Kalam"/>
                <a:sym typeface="Kalam"/>
              </a:rPr>
              <a:t> reported, “Whilst revenue increases are slowing the gross profit margins have increased to a healthy level”.</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16"/>
          <p:cNvSpPr txBox="1"/>
          <p:nvPr>
            <p:ph idx="1" type="body"/>
          </p:nvPr>
        </p:nvSpPr>
        <p:spPr>
          <a:xfrm>
            <a:off x="324000" y="759300"/>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2) Calculate the gross profit margin for each of these items for this new paddleboard shop.</a:t>
            </a:r>
            <a:endParaRPr sz="2100"/>
          </a:p>
        </p:txBody>
      </p:sp>
      <p:sp>
        <p:nvSpPr>
          <p:cNvPr id="1333" name="Google Shape;1333;p11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334" name="Google Shape;1334;p116"/>
          <p:cNvSpPr txBox="1"/>
          <p:nvPr>
            <p:ph idx="4294967295" type="body"/>
          </p:nvPr>
        </p:nvSpPr>
        <p:spPr>
          <a:xfrm>
            <a:off x="324000" y="2206419"/>
            <a:ext cx="80106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a) </a:t>
            </a:r>
            <a:r>
              <a:rPr lang="en-GB" sz="2300">
                <a:latin typeface="Times New Roman"/>
                <a:ea typeface="Times New Roman"/>
                <a:cs typeface="Times New Roman"/>
                <a:sym typeface="Times New Roman"/>
              </a:rPr>
              <a:t>10 ft</a:t>
            </a:r>
            <a:r>
              <a:rPr lang="en-GB" sz="2100"/>
              <a:t> paddleboard: Selling price </a:t>
            </a:r>
            <a:r>
              <a:rPr lang="en-GB" sz="2300">
                <a:latin typeface="Times New Roman"/>
                <a:ea typeface="Times New Roman"/>
                <a:cs typeface="Times New Roman"/>
                <a:sym typeface="Times New Roman"/>
              </a:rPr>
              <a:t>£575</a:t>
            </a:r>
            <a:r>
              <a:rPr lang="en-GB" sz="2100"/>
              <a:t>, cost price </a:t>
            </a:r>
            <a:r>
              <a:rPr lang="en-GB" sz="2300">
                <a:latin typeface="Times New Roman"/>
                <a:ea typeface="Times New Roman"/>
                <a:cs typeface="Times New Roman"/>
                <a:sym typeface="Times New Roman"/>
              </a:rPr>
              <a:t>£373.75</a:t>
            </a:r>
            <a:endParaRPr sz="2100"/>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335" name="Google Shape;1335;p116" title="Gross profit margin open paren percent sign close paren equals the fraction with numerator Selling price minus Cost price and denominator Selling price times 100"/>
          <p:cNvPicPr preferRelativeResize="0"/>
          <p:nvPr/>
        </p:nvPicPr>
        <p:blipFill>
          <a:blip r:embed="rId3">
            <a:alphaModFix/>
          </a:blip>
          <a:stretch>
            <a:fillRect/>
          </a:stretch>
        </p:blipFill>
        <p:spPr>
          <a:xfrm>
            <a:off x="2301301" y="1472674"/>
            <a:ext cx="6487931" cy="637275"/>
          </a:xfrm>
          <a:prstGeom prst="rect">
            <a:avLst/>
          </a:prstGeom>
          <a:noFill/>
          <a:ln>
            <a:noFill/>
          </a:ln>
        </p:spPr>
      </p:pic>
      <p:sp>
        <p:nvSpPr>
          <p:cNvPr id="1336" name="Google Shape;1336;p116"/>
          <p:cNvSpPr txBox="1"/>
          <p:nvPr>
            <p:ph idx="4294967295" type="body"/>
          </p:nvPr>
        </p:nvSpPr>
        <p:spPr>
          <a:xfrm>
            <a:off x="324000" y="4188291"/>
            <a:ext cx="8496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e) Comment on which product is not achieving their </a:t>
            </a:r>
            <a:r>
              <a:rPr lang="en-GB" sz="2300">
                <a:latin typeface="Times New Roman"/>
                <a:ea typeface="Times New Roman"/>
                <a:cs typeface="Times New Roman"/>
                <a:sym typeface="Times New Roman"/>
              </a:rPr>
              <a:t>30%</a:t>
            </a:r>
            <a:r>
              <a:rPr lang="en-GB" sz="2100"/>
              <a:t> gross profit margin target and advise on what they should do.</a:t>
            </a:r>
            <a:endParaRPr sz="2100"/>
          </a:p>
        </p:txBody>
      </p:sp>
      <p:sp>
        <p:nvSpPr>
          <p:cNvPr id="1337" name="Google Shape;1337;p116"/>
          <p:cNvSpPr txBox="1"/>
          <p:nvPr>
            <p:ph idx="4294967295" type="body"/>
          </p:nvPr>
        </p:nvSpPr>
        <p:spPr>
          <a:xfrm>
            <a:off x="324000" y="2709543"/>
            <a:ext cx="7778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b) </a:t>
            </a:r>
            <a:r>
              <a:rPr lang="en-GB" sz="2300">
                <a:latin typeface="Times New Roman"/>
                <a:ea typeface="Times New Roman"/>
                <a:cs typeface="Times New Roman"/>
                <a:sym typeface="Times New Roman"/>
              </a:rPr>
              <a:t>12 ft</a:t>
            </a:r>
            <a:r>
              <a:rPr lang="en-GB" sz="2100"/>
              <a:t> paddleboard: Selling price </a:t>
            </a:r>
            <a:r>
              <a:rPr lang="en-GB" sz="2300">
                <a:latin typeface="Times New Roman"/>
                <a:ea typeface="Times New Roman"/>
                <a:cs typeface="Times New Roman"/>
                <a:sym typeface="Times New Roman"/>
              </a:rPr>
              <a:t>£650</a:t>
            </a:r>
            <a:r>
              <a:rPr lang="en-GB" sz="2100"/>
              <a:t>, cost price </a:t>
            </a:r>
            <a:r>
              <a:rPr lang="en-GB" sz="2300">
                <a:latin typeface="Times New Roman"/>
                <a:ea typeface="Times New Roman"/>
                <a:cs typeface="Times New Roman"/>
                <a:sym typeface="Times New Roman"/>
              </a:rPr>
              <a:t>£390</a:t>
            </a:r>
            <a:endParaRPr sz="2100"/>
          </a:p>
        </p:txBody>
      </p:sp>
      <p:sp>
        <p:nvSpPr>
          <p:cNvPr id="1338" name="Google Shape;1338;p116"/>
          <p:cNvSpPr txBox="1"/>
          <p:nvPr>
            <p:ph idx="4294967295" type="body"/>
          </p:nvPr>
        </p:nvSpPr>
        <p:spPr>
          <a:xfrm>
            <a:off x="324000" y="3212667"/>
            <a:ext cx="7456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c) Carbon paddle: Selling price </a:t>
            </a:r>
            <a:r>
              <a:rPr lang="en-GB" sz="2300">
                <a:latin typeface="Times New Roman"/>
                <a:ea typeface="Times New Roman"/>
                <a:cs typeface="Times New Roman"/>
                <a:sym typeface="Times New Roman"/>
              </a:rPr>
              <a:t>£110</a:t>
            </a:r>
            <a:r>
              <a:rPr lang="en-GB" sz="2100"/>
              <a:t>, cost price </a:t>
            </a:r>
            <a:r>
              <a:rPr lang="en-GB" sz="2300">
                <a:latin typeface="Times New Roman"/>
                <a:ea typeface="Times New Roman"/>
                <a:cs typeface="Times New Roman"/>
                <a:sym typeface="Times New Roman"/>
              </a:rPr>
              <a:t>£82.50</a:t>
            </a:r>
            <a:endParaRPr sz="2100"/>
          </a:p>
        </p:txBody>
      </p:sp>
      <p:sp>
        <p:nvSpPr>
          <p:cNvPr id="1339" name="Google Shape;1339;p116"/>
          <p:cNvSpPr txBox="1"/>
          <p:nvPr>
            <p:ph idx="4294967295" type="body"/>
          </p:nvPr>
        </p:nvSpPr>
        <p:spPr>
          <a:xfrm>
            <a:off x="324000" y="3700483"/>
            <a:ext cx="6982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d) Buoyancy aid: Selling price </a:t>
            </a:r>
            <a:r>
              <a:rPr lang="en-GB" sz="2300">
                <a:latin typeface="Times New Roman"/>
                <a:ea typeface="Times New Roman"/>
                <a:cs typeface="Times New Roman"/>
                <a:sym typeface="Times New Roman"/>
              </a:rPr>
              <a:t>£60</a:t>
            </a:r>
            <a:r>
              <a:rPr lang="en-GB" sz="2100"/>
              <a:t>, cost price </a:t>
            </a:r>
            <a:r>
              <a:rPr lang="en-GB" sz="2300">
                <a:latin typeface="Times New Roman"/>
                <a:ea typeface="Times New Roman"/>
                <a:cs typeface="Times New Roman"/>
                <a:sym typeface="Times New Roman"/>
              </a:rPr>
              <a:t>£34.50</a:t>
            </a:r>
            <a:endParaRPr sz="2100"/>
          </a:p>
        </p:txBody>
      </p:sp>
      <p:sp>
        <p:nvSpPr>
          <p:cNvPr id="1340" name="Google Shape;1340;p116"/>
          <p:cNvSpPr txBox="1"/>
          <p:nvPr>
            <p:ph idx="4294967295" type="body"/>
          </p:nvPr>
        </p:nvSpPr>
        <p:spPr>
          <a:xfrm>
            <a:off x="8020200" y="2206425"/>
            <a:ext cx="598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Kalam"/>
                <a:ea typeface="Kalam"/>
                <a:cs typeface="Kalam"/>
                <a:sym typeface="Kalam"/>
              </a:rPr>
              <a:t>35%</a:t>
            </a:r>
            <a:endParaRPr sz="2300">
              <a:latin typeface="Kalam"/>
              <a:ea typeface="Kalam"/>
              <a:cs typeface="Kalam"/>
              <a:sym typeface="Kalam"/>
            </a:endParaRPr>
          </a:p>
        </p:txBody>
      </p:sp>
      <p:sp>
        <p:nvSpPr>
          <p:cNvPr id="1341" name="Google Shape;1341;p116"/>
          <p:cNvSpPr txBox="1"/>
          <p:nvPr>
            <p:ph idx="4294967295" type="body"/>
          </p:nvPr>
        </p:nvSpPr>
        <p:spPr>
          <a:xfrm>
            <a:off x="7715400" y="2739825"/>
            <a:ext cx="598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Kalam"/>
                <a:ea typeface="Kalam"/>
                <a:cs typeface="Kalam"/>
                <a:sym typeface="Kalam"/>
              </a:rPr>
              <a:t>40</a:t>
            </a:r>
            <a:r>
              <a:rPr lang="en-GB" sz="2300">
                <a:latin typeface="Kalam"/>
                <a:ea typeface="Kalam"/>
                <a:cs typeface="Kalam"/>
                <a:sym typeface="Kalam"/>
              </a:rPr>
              <a:t>%</a:t>
            </a:r>
            <a:endParaRPr sz="2300">
              <a:latin typeface="Kalam"/>
              <a:ea typeface="Kalam"/>
              <a:cs typeface="Kalam"/>
              <a:sym typeface="Kalam"/>
            </a:endParaRPr>
          </a:p>
        </p:txBody>
      </p:sp>
      <p:sp>
        <p:nvSpPr>
          <p:cNvPr id="1342" name="Google Shape;1342;p116"/>
          <p:cNvSpPr txBox="1"/>
          <p:nvPr>
            <p:ph idx="4294967295" type="body"/>
          </p:nvPr>
        </p:nvSpPr>
        <p:spPr>
          <a:xfrm>
            <a:off x="7456184" y="3227301"/>
            <a:ext cx="598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Kalam"/>
                <a:ea typeface="Kalam"/>
                <a:cs typeface="Kalam"/>
                <a:sym typeface="Kalam"/>
              </a:rPr>
              <a:t>25</a:t>
            </a:r>
            <a:r>
              <a:rPr lang="en-GB" sz="2300">
                <a:latin typeface="Kalam"/>
                <a:ea typeface="Kalam"/>
                <a:cs typeface="Kalam"/>
                <a:sym typeface="Kalam"/>
              </a:rPr>
              <a:t>%</a:t>
            </a:r>
            <a:endParaRPr sz="2300">
              <a:latin typeface="Kalam"/>
              <a:ea typeface="Kalam"/>
              <a:cs typeface="Kalam"/>
              <a:sym typeface="Kalam"/>
            </a:endParaRPr>
          </a:p>
        </p:txBody>
      </p:sp>
      <p:sp>
        <p:nvSpPr>
          <p:cNvPr id="1343" name="Google Shape;1343;p116"/>
          <p:cNvSpPr txBox="1"/>
          <p:nvPr>
            <p:ph idx="4294967295" type="body"/>
          </p:nvPr>
        </p:nvSpPr>
        <p:spPr>
          <a:xfrm>
            <a:off x="7227575" y="3714775"/>
            <a:ext cx="8901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Kalam"/>
                <a:ea typeface="Kalam"/>
                <a:cs typeface="Kalam"/>
                <a:sym typeface="Kalam"/>
              </a:rPr>
              <a:t>4</a:t>
            </a:r>
            <a:r>
              <a:rPr lang="en-GB" sz="2300">
                <a:latin typeface="Kalam"/>
                <a:ea typeface="Kalam"/>
                <a:cs typeface="Kalam"/>
                <a:sym typeface="Kalam"/>
              </a:rPr>
              <a:t>2.5%</a:t>
            </a:r>
            <a:endParaRPr sz="23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17"/>
          <p:cNvSpPr txBox="1"/>
          <p:nvPr>
            <p:ph idx="1" type="body"/>
          </p:nvPr>
        </p:nvSpPr>
        <p:spPr>
          <a:xfrm>
            <a:off x="324000" y="759300"/>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2) Calculate the gross profit margin for each of these items for this new paddleboard shop.</a:t>
            </a:r>
            <a:endParaRPr sz="2100"/>
          </a:p>
        </p:txBody>
      </p:sp>
      <p:sp>
        <p:nvSpPr>
          <p:cNvPr id="1349" name="Google Shape;1349;p11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pic>
        <p:nvPicPr>
          <p:cNvPr descr="&lt;math xmlns=&quot;http://www.w3.org/1998/Math/MathML&quot; display=&quot;block&quot; data-is-equatio=&quot;1&quot; data-latex=&quot;\text{Gross profit margin (%)}=\frac{\text{Selling price}\ -\text{Cost price}}{\text{Selling price}}\times100&quot;&gt;&lt;mtext&gt;Gross profit margin (%)&lt;/mtext&gt;&lt;mo&gt;=&lt;/mo&gt;&lt;mfrac&gt;&lt;mrow&gt;&lt;mtext&gt;Selling price&lt;/mtext&gt;&lt;mtext&gt;&lt;/mtext&gt;&lt;mo&gt;−&lt;/mo&gt;&lt;mtext&gt;Cost price&lt;/mtext&gt;&lt;/mrow&gt;&lt;mtext&gt;Selling price&lt;/mtext&gt;&lt;/mfrac&gt;&lt;mo&gt;×&lt;/mo&gt;&lt;mn&gt;100&lt;/mn&gt;&lt;/math&gt;" id="1350" name="Google Shape;1350;p117" title="Gross profit margin open paren percent sign close paren equals the fraction with numerator Selling price minus Cost price and denominator Selling price times 100"/>
          <p:cNvPicPr preferRelativeResize="0"/>
          <p:nvPr/>
        </p:nvPicPr>
        <p:blipFill>
          <a:blip r:embed="rId3">
            <a:alphaModFix/>
          </a:blip>
          <a:stretch>
            <a:fillRect/>
          </a:stretch>
        </p:blipFill>
        <p:spPr>
          <a:xfrm>
            <a:off x="2301301" y="1472674"/>
            <a:ext cx="6487931" cy="637275"/>
          </a:xfrm>
          <a:prstGeom prst="rect">
            <a:avLst/>
          </a:prstGeom>
          <a:noFill/>
          <a:ln>
            <a:noFill/>
          </a:ln>
        </p:spPr>
      </p:pic>
      <p:sp>
        <p:nvSpPr>
          <p:cNvPr id="1351" name="Google Shape;1351;p117"/>
          <p:cNvSpPr txBox="1"/>
          <p:nvPr>
            <p:ph idx="4294967295" type="body"/>
          </p:nvPr>
        </p:nvSpPr>
        <p:spPr>
          <a:xfrm>
            <a:off x="324000" y="4188291"/>
            <a:ext cx="8496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e) Comment on which product is not achieving their </a:t>
            </a:r>
            <a:r>
              <a:rPr lang="en-GB" sz="2300">
                <a:latin typeface="Times New Roman"/>
                <a:ea typeface="Times New Roman"/>
                <a:cs typeface="Times New Roman"/>
                <a:sym typeface="Times New Roman"/>
              </a:rPr>
              <a:t>30%</a:t>
            </a:r>
            <a:r>
              <a:rPr lang="en-GB" sz="2100"/>
              <a:t> gross profit margin target and advise on what they should do.</a:t>
            </a:r>
            <a:endParaRPr sz="2100"/>
          </a:p>
        </p:txBody>
      </p:sp>
      <p:sp>
        <p:nvSpPr>
          <p:cNvPr id="1352" name="Google Shape;1352;p117"/>
          <p:cNvSpPr txBox="1"/>
          <p:nvPr>
            <p:ph idx="4294967295" type="body"/>
          </p:nvPr>
        </p:nvSpPr>
        <p:spPr>
          <a:xfrm>
            <a:off x="324000" y="3212667"/>
            <a:ext cx="7456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c) Carbon paddle: Selling price </a:t>
            </a:r>
            <a:r>
              <a:rPr lang="en-GB" sz="2300">
                <a:latin typeface="Times New Roman"/>
                <a:ea typeface="Times New Roman"/>
                <a:cs typeface="Times New Roman"/>
                <a:sym typeface="Times New Roman"/>
              </a:rPr>
              <a:t>£110</a:t>
            </a:r>
            <a:r>
              <a:rPr lang="en-GB" sz="2100"/>
              <a:t>, cost price </a:t>
            </a:r>
            <a:r>
              <a:rPr lang="en-GB" sz="2300">
                <a:latin typeface="Times New Roman"/>
                <a:ea typeface="Times New Roman"/>
                <a:cs typeface="Times New Roman"/>
                <a:sym typeface="Times New Roman"/>
              </a:rPr>
              <a:t>£82.50</a:t>
            </a:r>
            <a:endParaRPr sz="2100"/>
          </a:p>
        </p:txBody>
      </p:sp>
      <p:sp>
        <p:nvSpPr>
          <p:cNvPr id="1353" name="Google Shape;1353;p117"/>
          <p:cNvSpPr txBox="1"/>
          <p:nvPr>
            <p:ph idx="4294967295" type="body"/>
          </p:nvPr>
        </p:nvSpPr>
        <p:spPr>
          <a:xfrm>
            <a:off x="7456184" y="3227301"/>
            <a:ext cx="598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300">
                <a:latin typeface="Kalam"/>
                <a:ea typeface="Kalam"/>
                <a:cs typeface="Kalam"/>
                <a:sym typeface="Kalam"/>
              </a:rPr>
              <a:t>25%</a:t>
            </a:r>
            <a:endParaRPr sz="2300">
              <a:latin typeface="Kalam"/>
              <a:ea typeface="Kalam"/>
              <a:cs typeface="Kalam"/>
              <a:sym typeface="Kalam"/>
            </a:endParaRPr>
          </a:p>
        </p:txBody>
      </p:sp>
      <p:sp>
        <p:nvSpPr>
          <p:cNvPr id="1354" name="Google Shape;1354;p117"/>
          <p:cNvSpPr txBox="1"/>
          <p:nvPr>
            <p:ph idx="4294967295" type="body"/>
          </p:nvPr>
        </p:nvSpPr>
        <p:spPr>
          <a:xfrm>
            <a:off x="323900" y="2160500"/>
            <a:ext cx="8496000" cy="6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e) The carbon paddle is not achieving 30% G.P. The business needs to either find a cheaper supplier, raise the selling price, or stop selling this product.</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18"/>
          <p:cNvSpPr txBox="1"/>
          <p:nvPr>
            <p:ph idx="4294967295" type="body"/>
          </p:nvPr>
        </p:nvSpPr>
        <p:spPr>
          <a:xfrm>
            <a:off x="6402976" y="3030000"/>
            <a:ext cx="2355900" cy="1274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c) Advise the business as to which products they should place most prominently in their shop.</a:t>
            </a:r>
            <a:endParaRPr sz="1800"/>
          </a:p>
        </p:txBody>
      </p:sp>
      <p:sp>
        <p:nvSpPr>
          <p:cNvPr id="1360" name="Google Shape;1360;p118"/>
          <p:cNvSpPr txBox="1"/>
          <p:nvPr>
            <p:ph idx="1" type="body"/>
          </p:nvPr>
        </p:nvSpPr>
        <p:spPr>
          <a:xfrm>
            <a:off x="324000" y="759300"/>
            <a:ext cx="8496000" cy="71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a) By completing a spreadsheet or otherwise, calculate the minimum selling price and gross profit margins for this bicycle shop’s products.</a:t>
            </a:r>
            <a:endParaRPr sz="1800"/>
          </a:p>
        </p:txBody>
      </p:sp>
      <p:sp>
        <p:nvSpPr>
          <p:cNvPr id="1361" name="Google Shape;1361;p11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362" name="Google Shape;1362;p118"/>
          <p:cNvSpPr txBox="1"/>
          <p:nvPr>
            <p:ph idx="4294967295" type="body"/>
          </p:nvPr>
        </p:nvSpPr>
        <p:spPr>
          <a:xfrm>
            <a:off x="6402976" y="1506000"/>
            <a:ext cx="2248800" cy="1197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b) Comment on any products not achieving minimum gross profit margins.</a:t>
            </a:r>
            <a:endParaRPr sz="1800"/>
          </a:p>
        </p:txBody>
      </p:sp>
      <p:pic>
        <p:nvPicPr>
          <p:cNvPr id="1363" name="Google Shape;1363;p118"/>
          <p:cNvPicPr preferRelativeResize="0"/>
          <p:nvPr/>
        </p:nvPicPr>
        <p:blipFill>
          <a:blip r:embed="rId3">
            <a:alphaModFix/>
          </a:blip>
          <a:stretch>
            <a:fillRect/>
          </a:stretch>
        </p:blipFill>
        <p:spPr>
          <a:xfrm>
            <a:off x="323996" y="1407996"/>
            <a:ext cx="5885905" cy="3412400"/>
          </a:xfrm>
          <a:prstGeom prst="rect">
            <a:avLst/>
          </a:prstGeom>
          <a:noFill/>
          <a:ln cap="flat" cmpd="sng" w="38100">
            <a:solidFill>
              <a:schemeClr val="dk1"/>
            </a:solidFill>
            <a:prstDash val="solid"/>
            <a:round/>
            <a:headEnd len="sm" w="sm" type="none"/>
            <a:tailEnd len="sm" w="sm" type="none"/>
          </a:ln>
        </p:spPr>
      </p:pic>
      <p:pic>
        <p:nvPicPr>
          <p:cNvPr id="1364" name="Google Shape;1364;p118"/>
          <p:cNvPicPr preferRelativeResize="0"/>
          <p:nvPr/>
        </p:nvPicPr>
        <p:blipFill>
          <a:blip r:embed="rId4">
            <a:alphaModFix/>
          </a:blip>
          <a:stretch>
            <a:fillRect/>
          </a:stretch>
        </p:blipFill>
        <p:spPr>
          <a:xfrm>
            <a:off x="323996" y="1407999"/>
            <a:ext cx="5885900" cy="3412397"/>
          </a:xfrm>
          <a:prstGeom prst="rect">
            <a:avLst/>
          </a:prstGeom>
          <a:noFill/>
          <a:ln cap="flat" cmpd="sng" w="38100">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pic>
        <p:nvPicPr>
          <p:cNvPr id="1369" name="Google Shape;1369;p119"/>
          <p:cNvPicPr preferRelativeResize="0"/>
          <p:nvPr/>
        </p:nvPicPr>
        <p:blipFill>
          <a:blip r:embed="rId3">
            <a:alphaModFix/>
          </a:blip>
          <a:stretch>
            <a:fillRect/>
          </a:stretch>
        </p:blipFill>
        <p:spPr>
          <a:xfrm>
            <a:off x="323996" y="1407999"/>
            <a:ext cx="5885900" cy="3412397"/>
          </a:xfrm>
          <a:prstGeom prst="rect">
            <a:avLst/>
          </a:prstGeom>
          <a:noFill/>
          <a:ln cap="flat" cmpd="sng" w="38100">
            <a:solidFill>
              <a:schemeClr val="dk1"/>
            </a:solidFill>
            <a:prstDash val="solid"/>
            <a:round/>
            <a:headEnd len="sm" w="sm" type="none"/>
            <a:tailEnd len="sm" w="sm" type="none"/>
          </a:ln>
        </p:spPr>
      </p:pic>
      <p:sp>
        <p:nvSpPr>
          <p:cNvPr id="1370" name="Google Shape;1370;p119"/>
          <p:cNvSpPr txBox="1"/>
          <p:nvPr>
            <p:ph idx="4294967295" type="body"/>
          </p:nvPr>
        </p:nvSpPr>
        <p:spPr>
          <a:xfrm>
            <a:off x="6402975" y="3258600"/>
            <a:ext cx="579300" cy="269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c)</a:t>
            </a:r>
            <a:endParaRPr sz="1800"/>
          </a:p>
        </p:txBody>
      </p:sp>
      <p:sp>
        <p:nvSpPr>
          <p:cNvPr id="1371" name="Google Shape;1371;p119"/>
          <p:cNvSpPr txBox="1"/>
          <p:nvPr>
            <p:ph idx="1" type="body"/>
          </p:nvPr>
        </p:nvSpPr>
        <p:spPr>
          <a:xfrm>
            <a:off x="324000" y="759300"/>
            <a:ext cx="8496000" cy="71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a) By completing a spreadsheet or otherwise, calculate the minimum selling price and gross profit margins for this bicycle shop’s products.</a:t>
            </a:r>
            <a:endParaRPr sz="1800"/>
          </a:p>
        </p:txBody>
      </p:sp>
      <p:sp>
        <p:nvSpPr>
          <p:cNvPr id="1372" name="Google Shape;1372;p11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373" name="Google Shape;1373;p119"/>
          <p:cNvSpPr txBox="1"/>
          <p:nvPr>
            <p:ph idx="4294967295" type="body"/>
          </p:nvPr>
        </p:nvSpPr>
        <p:spPr>
          <a:xfrm>
            <a:off x="6402975" y="1506000"/>
            <a:ext cx="646200" cy="269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b)</a:t>
            </a:r>
            <a:endParaRPr sz="1800"/>
          </a:p>
        </p:txBody>
      </p:sp>
      <p:sp>
        <p:nvSpPr>
          <p:cNvPr id="1374" name="Google Shape;1374;p119"/>
          <p:cNvSpPr/>
          <p:nvPr/>
        </p:nvSpPr>
        <p:spPr>
          <a:xfrm>
            <a:off x="5550923" y="2757770"/>
            <a:ext cx="341700" cy="223200"/>
          </a:xfrm>
          <a:prstGeom prst="roundRect">
            <a:avLst>
              <a:gd fmla="val 16667" name="adj"/>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5" name="Google Shape;1375;p119"/>
          <p:cNvSpPr/>
          <p:nvPr/>
        </p:nvSpPr>
        <p:spPr>
          <a:xfrm>
            <a:off x="5550923" y="3900770"/>
            <a:ext cx="341700" cy="223200"/>
          </a:xfrm>
          <a:prstGeom prst="roundRect">
            <a:avLst>
              <a:gd fmla="val 16667" name="adj"/>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6" name="Google Shape;1376;p119"/>
          <p:cNvSpPr txBox="1"/>
          <p:nvPr>
            <p:ph idx="4294967295" type="body"/>
          </p:nvPr>
        </p:nvSpPr>
        <p:spPr>
          <a:xfrm>
            <a:off x="6402975" y="1810800"/>
            <a:ext cx="2401200" cy="1197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latin typeface="Kalam"/>
                <a:ea typeface="Kalam"/>
                <a:cs typeface="Kalam"/>
                <a:sym typeface="Kalam"/>
              </a:rPr>
              <a:t>Anti-puncture tyres and cleated pedals (pair) do not</a:t>
            </a:r>
            <a:r>
              <a:rPr lang="en-GB" sz="1800">
                <a:latin typeface="Kalam"/>
                <a:ea typeface="Kalam"/>
                <a:cs typeface="Kalam"/>
                <a:sym typeface="Kalam"/>
              </a:rPr>
              <a:t> achieve minimum G.P. margins.</a:t>
            </a:r>
            <a:endParaRPr sz="1800">
              <a:latin typeface="Kalam"/>
              <a:ea typeface="Kalam"/>
              <a:cs typeface="Kalam"/>
              <a:sym typeface="Kalam"/>
            </a:endParaRPr>
          </a:p>
        </p:txBody>
      </p:sp>
      <p:sp>
        <p:nvSpPr>
          <p:cNvPr id="1377" name="Google Shape;1377;p119"/>
          <p:cNvSpPr txBox="1"/>
          <p:nvPr>
            <p:ph idx="4294967295" type="body"/>
          </p:nvPr>
        </p:nvSpPr>
        <p:spPr>
          <a:xfrm>
            <a:off x="6402950" y="3639600"/>
            <a:ext cx="2401200" cy="1197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latin typeface="Kalam"/>
                <a:ea typeface="Kalam"/>
                <a:cs typeface="Kalam"/>
                <a:sym typeface="Kalam"/>
              </a:rPr>
              <a:t>They should place brake cables most prominently in their shop.</a:t>
            </a:r>
            <a:endParaRPr sz="1800">
              <a:latin typeface="Kalam"/>
              <a:ea typeface="Kalam"/>
              <a:cs typeface="Kalam"/>
              <a:sym typeface="Kalam"/>
            </a:endParaRPr>
          </a:p>
        </p:txBody>
      </p:sp>
      <p:sp>
        <p:nvSpPr>
          <p:cNvPr id="1378" name="Google Shape;1378;p119"/>
          <p:cNvSpPr/>
          <p:nvPr/>
        </p:nvSpPr>
        <p:spPr>
          <a:xfrm>
            <a:off x="5550917" y="4344587"/>
            <a:ext cx="341700" cy="478500"/>
          </a:xfrm>
          <a:prstGeom prst="roundRect">
            <a:avLst>
              <a:gd fmla="val 16667" name="adj"/>
            </a:avLst>
          </a:prstGeom>
          <a:noFill/>
          <a:ln cap="flat" cmpd="sng" w="38100">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2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Profit in percentages</a:t>
            </a:r>
            <a:endParaRPr/>
          </a:p>
        </p:txBody>
      </p:sp>
      <p:sp>
        <p:nvSpPr>
          <p:cNvPr id="1384" name="Google Shape;1384;p12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385" name="Google Shape;1385;p12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Running a small business</a:t>
            </a:r>
            <a:endParaRPr/>
          </a:p>
        </p:txBody>
      </p:sp>
      <p:pic>
        <p:nvPicPr>
          <p:cNvPr id="1386" name="Google Shape;1386;p120"/>
          <p:cNvPicPr preferRelativeResize="0"/>
          <p:nvPr/>
        </p:nvPicPr>
        <p:blipFill>
          <a:blip r:embed="rId3">
            <a:alphaModFix/>
          </a:blip>
          <a:stretch>
            <a:fillRect/>
          </a:stretch>
        </p:blipFill>
        <p:spPr>
          <a:xfrm>
            <a:off x="417042" y="2995117"/>
            <a:ext cx="450575" cy="4467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pic>
        <p:nvPicPr>
          <p:cNvPr id="1391" name="Google Shape;1391;p121"/>
          <p:cNvPicPr preferRelativeResize="0"/>
          <p:nvPr/>
        </p:nvPicPr>
        <p:blipFill>
          <a:blip r:embed="rId3">
            <a:alphaModFix/>
          </a:blip>
          <a:stretch>
            <a:fillRect/>
          </a:stretch>
        </p:blipFill>
        <p:spPr>
          <a:xfrm>
            <a:off x="329805" y="1211503"/>
            <a:ext cx="8496000" cy="728497"/>
          </a:xfrm>
          <a:prstGeom prst="rect">
            <a:avLst/>
          </a:prstGeom>
          <a:noFill/>
          <a:ln>
            <a:noFill/>
          </a:ln>
        </p:spPr>
      </p:pic>
      <p:sp>
        <p:nvSpPr>
          <p:cNvPr id="1392" name="Google Shape;1392;p121"/>
          <p:cNvSpPr txBox="1"/>
          <p:nvPr>
            <p:ph idx="1" type="body"/>
          </p:nvPr>
        </p:nvSpPr>
        <p:spPr>
          <a:xfrm>
            <a:off x="324000" y="759300"/>
            <a:ext cx="8496000" cy="413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Most small businesses use spreadsheets to track their performance.</a:t>
            </a:r>
            <a:endParaRPr sz="2000"/>
          </a:p>
        </p:txBody>
      </p:sp>
      <p:sp>
        <p:nvSpPr>
          <p:cNvPr id="1393" name="Google Shape;1393;p12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a:t>
            </a:r>
            <a:r>
              <a:rPr lang="en-GB"/>
              <a:t> performance</a:t>
            </a:r>
            <a:endParaRPr/>
          </a:p>
        </p:txBody>
      </p:sp>
      <p:sp>
        <p:nvSpPr>
          <p:cNvPr id="1394" name="Google Shape;1394;p121"/>
          <p:cNvSpPr txBox="1"/>
          <p:nvPr>
            <p:ph idx="1" type="body"/>
          </p:nvPr>
        </p:nvSpPr>
        <p:spPr>
          <a:xfrm>
            <a:off x="324000" y="2130900"/>
            <a:ext cx="84960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was this business’ greatest revenue in a month in this year?</a:t>
            </a:r>
            <a:endParaRPr sz="2000"/>
          </a:p>
        </p:txBody>
      </p:sp>
      <p:sp>
        <p:nvSpPr>
          <p:cNvPr id="1395" name="Google Shape;1395;p121"/>
          <p:cNvSpPr txBox="1"/>
          <p:nvPr>
            <p:ph idx="1" type="body"/>
          </p:nvPr>
        </p:nvSpPr>
        <p:spPr>
          <a:xfrm>
            <a:off x="324000" y="3623944"/>
            <a:ext cx="56133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is an average month for this business?</a:t>
            </a:r>
            <a:endParaRPr sz="2000"/>
          </a:p>
        </p:txBody>
      </p:sp>
      <p:sp>
        <p:nvSpPr>
          <p:cNvPr id="1396" name="Google Shape;1396;p121"/>
          <p:cNvSpPr txBox="1"/>
          <p:nvPr>
            <p:ph idx="1" type="body"/>
          </p:nvPr>
        </p:nvSpPr>
        <p:spPr>
          <a:xfrm>
            <a:off x="324000" y="2877422"/>
            <a:ext cx="68859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was their lowest revenue in a month in this year?</a:t>
            </a:r>
            <a:endParaRPr sz="2000"/>
          </a:p>
        </p:txBody>
      </p:sp>
      <p:sp>
        <p:nvSpPr>
          <p:cNvPr id="1397" name="Google Shape;1397;p121"/>
          <p:cNvSpPr txBox="1"/>
          <p:nvPr>
            <p:ph idx="1" type="body"/>
          </p:nvPr>
        </p:nvSpPr>
        <p:spPr>
          <a:xfrm>
            <a:off x="6267600" y="2486691"/>
            <a:ext cx="2023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August,</a:t>
            </a:r>
            <a:r>
              <a:rPr lang="en-GB" sz="2000"/>
              <a:t> </a:t>
            </a:r>
            <a:r>
              <a:rPr lang="en-GB">
                <a:latin typeface="Times New Roman"/>
                <a:ea typeface="Times New Roman"/>
                <a:cs typeface="Times New Roman"/>
                <a:sym typeface="Times New Roman"/>
              </a:rPr>
              <a:t>£21 300</a:t>
            </a:r>
            <a:endParaRPr sz="2000"/>
          </a:p>
        </p:txBody>
      </p:sp>
      <p:sp>
        <p:nvSpPr>
          <p:cNvPr id="1398" name="Google Shape;1398;p121"/>
          <p:cNvSpPr txBox="1"/>
          <p:nvPr>
            <p:ph idx="1" type="body"/>
          </p:nvPr>
        </p:nvSpPr>
        <p:spPr>
          <a:xfrm>
            <a:off x="6267600" y="3257908"/>
            <a:ext cx="2174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January</a:t>
            </a:r>
            <a:r>
              <a:rPr lang="en-GB" sz="2000"/>
              <a:t>, </a:t>
            </a:r>
            <a:r>
              <a:rPr lang="en-GB">
                <a:latin typeface="Times New Roman"/>
                <a:ea typeface="Times New Roman"/>
                <a:cs typeface="Times New Roman"/>
                <a:sym typeface="Times New Roman"/>
              </a:rPr>
              <a:t>£11 000</a:t>
            </a:r>
            <a:endParaRPr sz="2000"/>
          </a:p>
        </p:txBody>
      </p:sp>
      <p:sp>
        <p:nvSpPr>
          <p:cNvPr id="1399" name="Google Shape;1399;p121"/>
          <p:cNvSpPr txBox="1"/>
          <p:nvPr>
            <p:ph idx="1" type="body"/>
          </p:nvPr>
        </p:nvSpPr>
        <p:spPr>
          <a:xfrm>
            <a:off x="4097984" y="3968927"/>
            <a:ext cx="48366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Mean</a:t>
            </a:r>
            <a:r>
              <a:rPr lang="en-GB" sz="2000"/>
              <a:t> average: </a:t>
            </a:r>
            <a:r>
              <a:rPr lang="en-GB">
                <a:latin typeface="Times New Roman"/>
                <a:ea typeface="Times New Roman"/>
                <a:cs typeface="Times New Roman"/>
                <a:sym typeface="Times New Roman"/>
              </a:rPr>
              <a:t>£161 000 ÷ 12 = £13 417</a:t>
            </a:r>
            <a:endParaRPr sz="2000"/>
          </a:p>
        </p:txBody>
      </p:sp>
      <p:sp>
        <p:nvSpPr>
          <p:cNvPr id="1400" name="Google Shape;1400;p121"/>
          <p:cNvSpPr txBox="1"/>
          <p:nvPr>
            <p:ph idx="1" type="body"/>
          </p:nvPr>
        </p:nvSpPr>
        <p:spPr>
          <a:xfrm>
            <a:off x="4097978" y="4363313"/>
            <a:ext cx="32190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Median average: </a:t>
            </a:r>
            <a:r>
              <a:rPr lang="en-GB">
                <a:latin typeface="Times New Roman"/>
                <a:ea typeface="Times New Roman"/>
                <a:cs typeface="Times New Roman"/>
                <a:sym typeface="Times New Roman"/>
              </a:rPr>
              <a:t>£12 350</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pic>
        <p:nvPicPr>
          <p:cNvPr id="1405" name="Google Shape;1405;p122"/>
          <p:cNvPicPr preferRelativeResize="0"/>
          <p:nvPr/>
        </p:nvPicPr>
        <p:blipFill>
          <a:blip r:embed="rId3">
            <a:alphaModFix/>
          </a:blip>
          <a:stretch>
            <a:fillRect/>
          </a:stretch>
        </p:blipFill>
        <p:spPr>
          <a:xfrm>
            <a:off x="329805" y="1211503"/>
            <a:ext cx="8496000" cy="728497"/>
          </a:xfrm>
          <a:prstGeom prst="rect">
            <a:avLst/>
          </a:prstGeom>
          <a:noFill/>
          <a:ln>
            <a:noFill/>
          </a:ln>
        </p:spPr>
      </p:pic>
      <p:sp>
        <p:nvSpPr>
          <p:cNvPr id="1406" name="Google Shape;1406;p122"/>
          <p:cNvSpPr txBox="1"/>
          <p:nvPr>
            <p:ph idx="1" type="body"/>
          </p:nvPr>
        </p:nvSpPr>
        <p:spPr>
          <a:xfrm>
            <a:off x="324000" y="759300"/>
            <a:ext cx="8496000" cy="413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Most small businesses use spreadsheets to track their performance.</a:t>
            </a:r>
            <a:endParaRPr sz="2000"/>
          </a:p>
        </p:txBody>
      </p:sp>
      <p:sp>
        <p:nvSpPr>
          <p:cNvPr id="1407" name="Google Shape;1407;p12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408" name="Google Shape;1408;p122"/>
          <p:cNvSpPr txBox="1"/>
          <p:nvPr>
            <p:ph idx="1" type="body"/>
          </p:nvPr>
        </p:nvSpPr>
        <p:spPr>
          <a:xfrm>
            <a:off x="337436" y="2102492"/>
            <a:ext cx="4320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Highest monthly revenue:</a:t>
            </a:r>
            <a:r>
              <a:rPr lang="en-GB" sz="2000"/>
              <a:t> </a:t>
            </a:r>
            <a:r>
              <a:rPr lang="en-GB">
                <a:latin typeface="Times New Roman"/>
                <a:ea typeface="Times New Roman"/>
                <a:cs typeface="Times New Roman"/>
                <a:sym typeface="Times New Roman"/>
              </a:rPr>
              <a:t>£21 300</a:t>
            </a:r>
            <a:endParaRPr sz="2000"/>
          </a:p>
        </p:txBody>
      </p:sp>
      <p:sp>
        <p:nvSpPr>
          <p:cNvPr id="1409" name="Google Shape;1409;p122"/>
          <p:cNvSpPr txBox="1"/>
          <p:nvPr>
            <p:ph idx="1" type="body"/>
          </p:nvPr>
        </p:nvSpPr>
        <p:spPr>
          <a:xfrm>
            <a:off x="327430" y="2439124"/>
            <a:ext cx="4248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Lowest monthly revenue:</a:t>
            </a:r>
            <a:r>
              <a:rPr lang="en-GB" sz="2000"/>
              <a:t> </a:t>
            </a:r>
            <a:r>
              <a:rPr lang="en-GB">
                <a:latin typeface="Times New Roman"/>
                <a:ea typeface="Times New Roman"/>
                <a:cs typeface="Times New Roman"/>
                <a:sym typeface="Times New Roman"/>
              </a:rPr>
              <a:t>£11 000</a:t>
            </a:r>
            <a:endParaRPr sz="2000"/>
          </a:p>
        </p:txBody>
      </p:sp>
      <p:sp>
        <p:nvSpPr>
          <p:cNvPr id="1410" name="Google Shape;1410;p122"/>
          <p:cNvSpPr txBox="1"/>
          <p:nvPr>
            <p:ph idx="1" type="body"/>
          </p:nvPr>
        </p:nvSpPr>
        <p:spPr>
          <a:xfrm>
            <a:off x="324009" y="2775756"/>
            <a:ext cx="48366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Mean average: </a:t>
            </a:r>
            <a:r>
              <a:rPr lang="en-GB">
                <a:latin typeface="Times New Roman"/>
                <a:ea typeface="Times New Roman"/>
                <a:cs typeface="Times New Roman"/>
                <a:sym typeface="Times New Roman"/>
              </a:rPr>
              <a:t>£161 000 ÷ 12 = £13 417</a:t>
            </a:r>
            <a:endParaRPr sz="2000"/>
          </a:p>
        </p:txBody>
      </p:sp>
      <p:sp>
        <p:nvSpPr>
          <p:cNvPr id="1411" name="Google Shape;1411;p122"/>
          <p:cNvSpPr txBox="1"/>
          <p:nvPr>
            <p:ph idx="1" type="body"/>
          </p:nvPr>
        </p:nvSpPr>
        <p:spPr>
          <a:xfrm>
            <a:off x="324003" y="3105788"/>
            <a:ext cx="32190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Median average: </a:t>
            </a:r>
            <a:r>
              <a:rPr lang="en-GB">
                <a:latin typeface="Times New Roman"/>
                <a:ea typeface="Times New Roman"/>
                <a:cs typeface="Times New Roman"/>
                <a:sym typeface="Times New Roman"/>
              </a:rPr>
              <a:t>£12 350</a:t>
            </a:r>
            <a:endParaRPr sz="2000"/>
          </a:p>
        </p:txBody>
      </p:sp>
      <p:sp>
        <p:nvSpPr>
          <p:cNvPr id="1412" name="Google Shape;1412;p122"/>
          <p:cNvSpPr txBox="1"/>
          <p:nvPr>
            <p:ph idx="1" type="body"/>
          </p:nvPr>
        </p:nvSpPr>
        <p:spPr>
          <a:xfrm>
            <a:off x="324000" y="3639200"/>
            <a:ext cx="84960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Understanding averages and the spread of their </a:t>
            </a:r>
            <a:r>
              <a:rPr lang="en-GB" sz="2000"/>
              <a:t>performance</a:t>
            </a:r>
            <a:r>
              <a:rPr lang="en-GB" sz="2000"/>
              <a:t> data helps a business to plan. Every business needs to forecast its sales to ensure they have the stock ready for their customers.</a:t>
            </a:r>
            <a:endParaRPr sz="2000"/>
          </a:p>
        </p:txBody>
      </p:sp>
      <p:sp>
        <p:nvSpPr>
          <p:cNvPr id="1413" name="Google Shape;1413;p122"/>
          <p:cNvSpPr txBox="1"/>
          <p:nvPr>
            <p:ph idx="1" type="body"/>
          </p:nvPr>
        </p:nvSpPr>
        <p:spPr>
          <a:xfrm>
            <a:off x="4833228" y="2248870"/>
            <a:ext cx="2264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Range</a:t>
            </a:r>
            <a:r>
              <a:rPr lang="en-GB" sz="2000"/>
              <a:t>: </a:t>
            </a:r>
            <a:r>
              <a:rPr lang="en-GB">
                <a:latin typeface="Times New Roman"/>
                <a:ea typeface="Times New Roman"/>
                <a:cs typeface="Times New Roman"/>
                <a:sym typeface="Times New Roman"/>
              </a:rPr>
              <a:t>£10 300</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pic>
        <p:nvPicPr>
          <p:cNvPr id="1418" name="Google Shape;1418;p123"/>
          <p:cNvPicPr preferRelativeResize="0"/>
          <p:nvPr/>
        </p:nvPicPr>
        <p:blipFill>
          <a:blip r:embed="rId3">
            <a:alphaModFix/>
          </a:blip>
          <a:stretch>
            <a:fillRect/>
          </a:stretch>
        </p:blipFill>
        <p:spPr>
          <a:xfrm>
            <a:off x="308974" y="1196876"/>
            <a:ext cx="8496000" cy="714086"/>
          </a:xfrm>
          <a:prstGeom prst="rect">
            <a:avLst/>
          </a:prstGeom>
          <a:noFill/>
          <a:ln>
            <a:noFill/>
          </a:ln>
        </p:spPr>
      </p:pic>
      <p:sp>
        <p:nvSpPr>
          <p:cNvPr id="1419" name="Google Shape;1419;p123"/>
          <p:cNvSpPr txBox="1"/>
          <p:nvPr>
            <p:ph idx="1" type="body"/>
          </p:nvPr>
        </p:nvSpPr>
        <p:spPr>
          <a:xfrm>
            <a:off x="324000" y="759300"/>
            <a:ext cx="8496000" cy="413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Find the range and average for the year two sales of the same business. </a:t>
            </a:r>
            <a:endParaRPr sz="1900"/>
          </a:p>
        </p:txBody>
      </p:sp>
      <p:sp>
        <p:nvSpPr>
          <p:cNvPr id="1420" name="Google Shape;1420;p12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421" name="Google Shape;1421;p123"/>
          <p:cNvSpPr txBox="1"/>
          <p:nvPr>
            <p:ph idx="1" type="body"/>
          </p:nvPr>
        </p:nvSpPr>
        <p:spPr>
          <a:xfrm>
            <a:off x="377611" y="2172667"/>
            <a:ext cx="4320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Highest monthly revenue: </a:t>
            </a:r>
            <a:r>
              <a:rPr lang="en-GB">
                <a:latin typeface="Times New Roman"/>
                <a:ea typeface="Times New Roman"/>
                <a:cs typeface="Times New Roman"/>
                <a:sym typeface="Times New Roman"/>
              </a:rPr>
              <a:t>£23 500</a:t>
            </a:r>
            <a:endParaRPr sz="2000"/>
          </a:p>
        </p:txBody>
      </p:sp>
      <p:sp>
        <p:nvSpPr>
          <p:cNvPr id="1422" name="Google Shape;1422;p123"/>
          <p:cNvSpPr txBox="1"/>
          <p:nvPr>
            <p:ph idx="1" type="body"/>
          </p:nvPr>
        </p:nvSpPr>
        <p:spPr>
          <a:xfrm>
            <a:off x="367605" y="2509299"/>
            <a:ext cx="4248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Lowest monthly revenue:</a:t>
            </a:r>
            <a:r>
              <a:rPr lang="en-GB" sz="2000"/>
              <a:t> </a:t>
            </a:r>
            <a:r>
              <a:rPr lang="en-GB">
                <a:latin typeface="Times New Roman"/>
                <a:ea typeface="Times New Roman"/>
                <a:cs typeface="Times New Roman"/>
                <a:sym typeface="Times New Roman"/>
              </a:rPr>
              <a:t>£11 600</a:t>
            </a:r>
            <a:endParaRPr sz="2000"/>
          </a:p>
        </p:txBody>
      </p:sp>
      <p:sp>
        <p:nvSpPr>
          <p:cNvPr id="1423" name="Google Shape;1423;p123"/>
          <p:cNvSpPr txBox="1"/>
          <p:nvPr>
            <p:ph idx="1" type="body"/>
          </p:nvPr>
        </p:nvSpPr>
        <p:spPr>
          <a:xfrm>
            <a:off x="364184" y="2845931"/>
            <a:ext cx="48366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Mean average:</a:t>
            </a:r>
            <a:r>
              <a:rPr lang="en-GB" sz="2000"/>
              <a:t> </a:t>
            </a:r>
            <a:r>
              <a:rPr lang="en-GB">
                <a:latin typeface="Times New Roman"/>
                <a:ea typeface="Times New Roman"/>
                <a:cs typeface="Times New Roman"/>
                <a:sym typeface="Times New Roman"/>
              </a:rPr>
              <a:t>£174 300 ÷ 12 = £14 525</a:t>
            </a:r>
            <a:endParaRPr sz="2000"/>
          </a:p>
        </p:txBody>
      </p:sp>
      <p:sp>
        <p:nvSpPr>
          <p:cNvPr id="1424" name="Google Shape;1424;p123"/>
          <p:cNvSpPr txBox="1"/>
          <p:nvPr>
            <p:ph idx="1" type="body"/>
          </p:nvPr>
        </p:nvSpPr>
        <p:spPr>
          <a:xfrm>
            <a:off x="364178" y="3175963"/>
            <a:ext cx="32190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Median average:</a:t>
            </a:r>
            <a:r>
              <a:rPr lang="en-GB" sz="2000"/>
              <a:t> </a:t>
            </a:r>
            <a:r>
              <a:rPr lang="en-GB">
                <a:latin typeface="Times New Roman"/>
                <a:ea typeface="Times New Roman"/>
                <a:cs typeface="Times New Roman"/>
                <a:sym typeface="Times New Roman"/>
              </a:rPr>
              <a:t>£13 550</a:t>
            </a:r>
            <a:endParaRPr sz="2000"/>
          </a:p>
        </p:txBody>
      </p:sp>
      <p:sp>
        <p:nvSpPr>
          <p:cNvPr id="1425" name="Google Shape;1425;p123"/>
          <p:cNvSpPr txBox="1"/>
          <p:nvPr>
            <p:ph idx="1" type="body"/>
          </p:nvPr>
        </p:nvSpPr>
        <p:spPr>
          <a:xfrm>
            <a:off x="4909428" y="2325070"/>
            <a:ext cx="2264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Range:</a:t>
            </a:r>
            <a:r>
              <a:rPr lang="en-GB" sz="2000"/>
              <a:t> </a:t>
            </a:r>
            <a:r>
              <a:rPr lang="en-GB">
                <a:latin typeface="Times New Roman"/>
                <a:ea typeface="Times New Roman"/>
                <a:cs typeface="Times New Roman"/>
                <a:sym typeface="Times New Roman"/>
              </a:rPr>
              <a:t>£11 900</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12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431" name="Google Shape;1431;p124"/>
          <p:cNvSpPr txBox="1"/>
          <p:nvPr>
            <p:ph idx="1" type="body"/>
          </p:nvPr>
        </p:nvSpPr>
        <p:spPr>
          <a:xfrm>
            <a:off x="328155" y="1460930"/>
            <a:ext cx="28767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Mean average: </a:t>
            </a:r>
            <a:r>
              <a:rPr lang="en-GB">
                <a:latin typeface="Times New Roman"/>
                <a:ea typeface="Times New Roman"/>
                <a:cs typeface="Times New Roman"/>
                <a:sym typeface="Times New Roman"/>
              </a:rPr>
              <a:t>£13 417</a:t>
            </a:r>
            <a:endParaRPr sz="2000"/>
          </a:p>
        </p:txBody>
      </p:sp>
      <p:sp>
        <p:nvSpPr>
          <p:cNvPr id="1432" name="Google Shape;1432;p124"/>
          <p:cNvSpPr txBox="1"/>
          <p:nvPr>
            <p:ph idx="1" type="body"/>
          </p:nvPr>
        </p:nvSpPr>
        <p:spPr>
          <a:xfrm>
            <a:off x="324000" y="209158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Comparing year-on-year</a:t>
            </a:r>
            <a:r>
              <a:rPr lang="en-GB" sz="2000"/>
              <a:t> averages and spread informs a business owner about the health of their business.</a:t>
            </a:r>
            <a:endParaRPr sz="2000"/>
          </a:p>
        </p:txBody>
      </p:sp>
      <p:sp>
        <p:nvSpPr>
          <p:cNvPr id="1433" name="Google Shape;1433;p124"/>
          <p:cNvSpPr txBox="1"/>
          <p:nvPr>
            <p:ph idx="1" type="body"/>
          </p:nvPr>
        </p:nvSpPr>
        <p:spPr>
          <a:xfrm>
            <a:off x="328161" y="1128491"/>
            <a:ext cx="2264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Range: </a:t>
            </a:r>
            <a:r>
              <a:rPr lang="en-GB">
                <a:latin typeface="Times New Roman"/>
                <a:ea typeface="Times New Roman"/>
                <a:cs typeface="Times New Roman"/>
                <a:sym typeface="Times New Roman"/>
              </a:rPr>
              <a:t>£10 300</a:t>
            </a:r>
            <a:endParaRPr sz="2000"/>
          </a:p>
        </p:txBody>
      </p:sp>
      <p:sp>
        <p:nvSpPr>
          <p:cNvPr id="1434" name="Google Shape;1434;p124"/>
          <p:cNvSpPr txBox="1"/>
          <p:nvPr>
            <p:ph idx="1" type="body"/>
          </p:nvPr>
        </p:nvSpPr>
        <p:spPr>
          <a:xfrm>
            <a:off x="328155" y="823680"/>
            <a:ext cx="1282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Year one</a:t>
            </a:r>
            <a:r>
              <a:rPr lang="en-GB" sz="2000"/>
              <a:t>:</a:t>
            </a:r>
            <a:endParaRPr sz="2000"/>
          </a:p>
        </p:txBody>
      </p:sp>
      <p:sp>
        <p:nvSpPr>
          <p:cNvPr id="1435" name="Google Shape;1435;p124"/>
          <p:cNvSpPr txBox="1"/>
          <p:nvPr>
            <p:ph idx="1" type="body"/>
          </p:nvPr>
        </p:nvSpPr>
        <p:spPr>
          <a:xfrm>
            <a:off x="4568566" y="1460930"/>
            <a:ext cx="28767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Mean average: </a:t>
            </a:r>
            <a:r>
              <a:rPr lang="en-GB">
                <a:latin typeface="Times New Roman"/>
                <a:ea typeface="Times New Roman"/>
                <a:cs typeface="Times New Roman"/>
                <a:sym typeface="Times New Roman"/>
              </a:rPr>
              <a:t>£14 525</a:t>
            </a:r>
            <a:endParaRPr sz="2000"/>
          </a:p>
        </p:txBody>
      </p:sp>
      <p:sp>
        <p:nvSpPr>
          <p:cNvPr id="1436" name="Google Shape;1436;p124"/>
          <p:cNvSpPr txBox="1"/>
          <p:nvPr>
            <p:ph idx="1" type="body"/>
          </p:nvPr>
        </p:nvSpPr>
        <p:spPr>
          <a:xfrm>
            <a:off x="4568572" y="1128491"/>
            <a:ext cx="2264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Range: </a:t>
            </a:r>
            <a:r>
              <a:rPr lang="en-GB">
                <a:latin typeface="Times New Roman"/>
                <a:ea typeface="Times New Roman"/>
                <a:cs typeface="Times New Roman"/>
                <a:sym typeface="Times New Roman"/>
              </a:rPr>
              <a:t>£11 900</a:t>
            </a:r>
            <a:endParaRPr sz="2000"/>
          </a:p>
        </p:txBody>
      </p:sp>
      <p:sp>
        <p:nvSpPr>
          <p:cNvPr id="1437" name="Google Shape;1437;p124"/>
          <p:cNvSpPr txBox="1"/>
          <p:nvPr>
            <p:ph idx="1" type="body"/>
          </p:nvPr>
        </p:nvSpPr>
        <p:spPr>
          <a:xfrm>
            <a:off x="4568566" y="823680"/>
            <a:ext cx="1282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Year two:</a:t>
            </a:r>
            <a:endParaRPr sz="2000"/>
          </a:p>
        </p:txBody>
      </p:sp>
      <p:sp>
        <p:nvSpPr>
          <p:cNvPr id="1438" name="Google Shape;1438;p124"/>
          <p:cNvSpPr txBox="1"/>
          <p:nvPr>
            <p:ph idx="1" type="body"/>
          </p:nvPr>
        </p:nvSpPr>
        <p:spPr>
          <a:xfrm>
            <a:off x="324000" y="2902991"/>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owner can conclude, “The mean average is higher therefore we sold more in year two”.</a:t>
            </a:r>
            <a:endParaRPr sz="2000"/>
          </a:p>
        </p:txBody>
      </p:sp>
      <p:sp>
        <p:nvSpPr>
          <p:cNvPr id="1439" name="Google Shape;1439;p124"/>
          <p:cNvSpPr txBox="1"/>
          <p:nvPr>
            <p:ph idx="1" type="body"/>
          </p:nvPr>
        </p:nvSpPr>
        <p:spPr>
          <a:xfrm>
            <a:off x="324000" y="3691780"/>
            <a:ext cx="788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range is higher therefore </a:t>
            </a:r>
            <a:r>
              <a:rPr lang="en-GB" sz="2000"/>
              <a:t>monthly</a:t>
            </a:r>
            <a:r>
              <a:rPr lang="en-GB" sz="2000"/>
              <a:t> sales are more </a:t>
            </a:r>
            <a:r>
              <a:rPr lang="en-GB" sz="2000"/>
              <a:t>volatile</a:t>
            </a:r>
            <a:r>
              <a:rPr lang="en-GB" sz="2000"/>
              <a:t>, less predictable.”</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2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445" name="Google Shape;1445;p125"/>
          <p:cNvSpPr txBox="1"/>
          <p:nvPr>
            <p:ph idx="1" type="body"/>
          </p:nvPr>
        </p:nvSpPr>
        <p:spPr>
          <a:xfrm>
            <a:off x="328155" y="1458495"/>
            <a:ext cx="3045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Mean average: </a:t>
            </a:r>
            <a:r>
              <a:rPr lang="en-GB">
                <a:latin typeface="Times New Roman"/>
                <a:ea typeface="Times New Roman"/>
                <a:cs typeface="Times New Roman"/>
                <a:sym typeface="Times New Roman"/>
              </a:rPr>
              <a:t>£145 000</a:t>
            </a:r>
            <a:endParaRPr sz="2000"/>
          </a:p>
        </p:txBody>
      </p:sp>
      <p:sp>
        <p:nvSpPr>
          <p:cNvPr id="1446" name="Google Shape;1446;p125"/>
          <p:cNvSpPr txBox="1"/>
          <p:nvPr>
            <p:ph idx="1" type="body"/>
          </p:nvPr>
        </p:nvSpPr>
        <p:spPr>
          <a:xfrm>
            <a:off x="324000" y="209333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Make two comparisons about the year-on-year performance of this business.</a:t>
            </a:r>
            <a:endParaRPr sz="2000"/>
          </a:p>
        </p:txBody>
      </p:sp>
      <p:sp>
        <p:nvSpPr>
          <p:cNvPr id="1447" name="Google Shape;1447;p125"/>
          <p:cNvSpPr txBox="1"/>
          <p:nvPr>
            <p:ph idx="1" type="body"/>
          </p:nvPr>
        </p:nvSpPr>
        <p:spPr>
          <a:xfrm>
            <a:off x="328155" y="1128491"/>
            <a:ext cx="2264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Range: </a:t>
            </a:r>
            <a:r>
              <a:rPr lang="en-GB">
                <a:latin typeface="Times New Roman"/>
                <a:ea typeface="Times New Roman"/>
                <a:cs typeface="Times New Roman"/>
                <a:sym typeface="Times New Roman"/>
              </a:rPr>
              <a:t>£36 100</a:t>
            </a:r>
            <a:endParaRPr sz="2000"/>
          </a:p>
        </p:txBody>
      </p:sp>
      <p:sp>
        <p:nvSpPr>
          <p:cNvPr id="1448" name="Google Shape;1448;p125"/>
          <p:cNvSpPr txBox="1"/>
          <p:nvPr>
            <p:ph idx="1" type="body"/>
          </p:nvPr>
        </p:nvSpPr>
        <p:spPr>
          <a:xfrm>
            <a:off x="328155" y="823680"/>
            <a:ext cx="1282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Year one:</a:t>
            </a:r>
            <a:endParaRPr sz="2000"/>
          </a:p>
        </p:txBody>
      </p:sp>
      <p:sp>
        <p:nvSpPr>
          <p:cNvPr id="1449" name="Google Shape;1449;p125"/>
          <p:cNvSpPr txBox="1"/>
          <p:nvPr>
            <p:ph idx="1" type="body"/>
          </p:nvPr>
        </p:nvSpPr>
        <p:spPr>
          <a:xfrm>
            <a:off x="4568576" y="1460925"/>
            <a:ext cx="31101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Mean average: </a:t>
            </a:r>
            <a:r>
              <a:rPr lang="en-GB">
                <a:latin typeface="Times New Roman"/>
                <a:ea typeface="Times New Roman"/>
                <a:cs typeface="Times New Roman"/>
                <a:sym typeface="Times New Roman"/>
              </a:rPr>
              <a:t>£139 000</a:t>
            </a:r>
            <a:endParaRPr sz="2000"/>
          </a:p>
        </p:txBody>
      </p:sp>
      <p:sp>
        <p:nvSpPr>
          <p:cNvPr id="1450" name="Google Shape;1450;p125"/>
          <p:cNvSpPr txBox="1"/>
          <p:nvPr>
            <p:ph idx="1" type="body"/>
          </p:nvPr>
        </p:nvSpPr>
        <p:spPr>
          <a:xfrm>
            <a:off x="4568572" y="1128491"/>
            <a:ext cx="22644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Range: </a:t>
            </a:r>
            <a:r>
              <a:rPr lang="en-GB">
                <a:latin typeface="Times New Roman"/>
                <a:ea typeface="Times New Roman"/>
                <a:cs typeface="Times New Roman"/>
                <a:sym typeface="Times New Roman"/>
              </a:rPr>
              <a:t>£17 500</a:t>
            </a:r>
            <a:endParaRPr sz="2000"/>
          </a:p>
        </p:txBody>
      </p:sp>
      <p:sp>
        <p:nvSpPr>
          <p:cNvPr id="1451" name="Google Shape;1451;p125"/>
          <p:cNvSpPr txBox="1"/>
          <p:nvPr>
            <p:ph idx="1" type="body"/>
          </p:nvPr>
        </p:nvSpPr>
        <p:spPr>
          <a:xfrm>
            <a:off x="4568566" y="823680"/>
            <a:ext cx="1282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Year two:</a:t>
            </a:r>
            <a:endParaRPr sz="2000"/>
          </a:p>
        </p:txBody>
      </p:sp>
      <p:sp>
        <p:nvSpPr>
          <p:cNvPr id="1452" name="Google Shape;1452;p125"/>
          <p:cNvSpPr txBox="1"/>
          <p:nvPr>
            <p:ph idx="1" type="body"/>
          </p:nvPr>
        </p:nvSpPr>
        <p:spPr>
          <a:xfrm>
            <a:off x="324000" y="2904741"/>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You might have said</a:t>
            </a:r>
            <a:r>
              <a:rPr lang="en-GB" sz="2000">
                <a:latin typeface="Kalam"/>
                <a:ea typeface="Kalam"/>
                <a:cs typeface="Kalam"/>
                <a:sym typeface="Kalam"/>
              </a:rPr>
              <a:t>, “The mean average is lower therefore they sold less in year two”.</a:t>
            </a:r>
            <a:endParaRPr sz="2000">
              <a:latin typeface="Kalam"/>
              <a:ea typeface="Kalam"/>
              <a:cs typeface="Kalam"/>
              <a:sym typeface="Kalam"/>
            </a:endParaRPr>
          </a:p>
        </p:txBody>
      </p:sp>
      <p:sp>
        <p:nvSpPr>
          <p:cNvPr id="1453" name="Google Shape;1453;p125"/>
          <p:cNvSpPr txBox="1"/>
          <p:nvPr>
            <p:ph idx="1" type="body"/>
          </p:nvPr>
        </p:nvSpPr>
        <p:spPr>
          <a:xfrm>
            <a:off x="324000" y="3693530"/>
            <a:ext cx="788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range is lower therefore monthly sales are more consistent, more predictable.”</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126"/>
          <p:cNvSpPr txBox="1"/>
          <p:nvPr>
            <p:ph idx="1" type="body"/>
          </p:nvPr>
        </p:nvSpPr>
        <p:spPr>
          <a:xfrm>
            <a:off x="324000" y="759300"/>
            <a:ext cx="8496000" cy="413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One benefit of using a spreadsheet is that small business owners can easily produce graphics to more </a:t>
            </a:r>
            <a:r>
              <a:rPr lang="en-GB" sz="2000"/>
              <a:t>easily</a:t>
            </a:r>
            <a:r>
              <a:rPr lang="en-GB" sz="2000"/>
              <a:t> spot trends.</a:t>
            </a:r>
            <a:endParaRPr sz="2000"/>
          </a:p>
        </p:txBody>
      </p:sp>
      <p:sp>
        <p:nvSpPr>
          <p:cNvPr id="1459" name="Google Shape;1459;p12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460" name="Google Shape;1460;p126"/>
          <p:cNvSpPr txBox="1"/>
          <p:nvPr>
            <p:ph idx="1" type="body"/>
          </p:nvPr>
        </p:nvSpPr>
        <p:spPr>
          <a:xfrm>
            <a:off x="304800" y="2261575"/>
            <a:ext cx="3522000" cy="29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Using the </a:t>
            </a:r>
            <a:r>
              <a:rPr lang="en-GB">
                <a:latin typeface="Times New Roman"/>
                <a:ea typeface="Times New Roman"/>
                <a:cs typeface="Times New Roman"/>
                <a:sym typeface="Times New Roman"/>
              </a:rPr>
              <a:t>insert/chart</a:t>
            </a:r>
            <a:r>
              <a:rPr lang="en-GB" sz="2000"/>
              <a:t> function this owner can see…</a:t>
            </a:r>
            <a:endParaRPr sz="2000"/>
          </a:p>
        </p:txBody>
      </p:sp>
      <p:pic>
        <p:nvPicPr>
          <p:cNvPr id="1461" name="Google Shape;1461;p126"/>
          <p:cNvPicPr preferRelativeResize="0"/>
          <p:nvPr/>
        </p:nvPicPr>
        <p:blipFill>
          <a:blip r:embed="rId3">
            <a:alphaModFix/>
          </a:blip>
          <a:stretch>
            <a:fillRect/>
          </a:stretch>
        </p:blipFill>
        <p:spPr>
          <a:xfrm>
            <a:off x="304800" y="1486722"/>
            <a:ext cx="8496002" cy="703459"/>
          </a:xfrm>
          <a:prstGeom prst="rect">
            <a:avLst/>
          </a:prstGeom>
          <a:noFill/>
          <a:ln>
            <a:noFill/>
          </a:ln>
        </p:spPr>
      </p:pic>
      <p:pic>
        <p:nvPicPr>
          <p:cNvPr id="1462" name="Google Shape;1462;p126"/>
          <p:cNvPicPr preferRelativeResize="0"/>
          <p:nvPr/>
        </p:nvPicPr>
        <p:blipFill>
          <a:blip r:embed="rId4">
            <a:alphaModFix/>
          </a:blip>
          <a:stretch>
            <a:fillRect/>
          </a:stretch>
        </p:blipFill>
        <p:spPr>
          <a:xfrm>
            <a:off x="3810000" y="2261577"/>
            <a:ext cx="4684180" cy="2559574"/>
          </a:xfrm>
          <a:prstGeom prst="rect">
            <a:avLst/>
          </a:prstGeom>
          <a:noFill/>
          <a:ln>
            <a:noFill/>
          </a:ln>
        </p:spPr>
      </p:pic>
      <p:sp>
        <p:nvSpPr>
          <p:cNvPr id="1463" name="Google Shape;1463;p126"/>
          <p:cNvSpPr txBox="1"/>
          <p:nvPr>
            <p:ph idx="1" type="body"/>
          </p:nvPr>
        </p:nvSpPr>
        <p:spPr>
          <a:xfrm>
            <a:off x="324000" y="3240000"/>
            <a:ext cx="3613500" cy="1001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pattern can you more easily see now?</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27"/>
          <p:cNvSpPr txBox="1"/>
          <p:nvPr>
            <p:ph idx="1" type="body"/>
          </p:nvPr>
        </p:nvSpPr>
        <p:spPr>
          <a:xfrm>
            <a:off x="324000" y="759300"/>
            <a:ext cx="8496000" cy="413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graphical representation shows us that this business experiences seasonal trends.</a:t>
            </a:r>
            <a:endParaRPr sz="2000"/>
          </a:p>
        </p:txBody>
      </p:sp>
      <p:sp>
        <p:nvSpPr>
          <p:cNvPr id="1469" name="Google Shape;1469;p12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pic>
        <p:nvPicPr>
          <p:cNvPr id="1470" name="Google Shape;1470;p127"/>
          <p:cNvPicPr preferRelativeResize="0"/>
          <p:nvPr/>
        </p:nvPicPr>
        <p:blipFill>
          <a:blip r:embed="rId3">
            <a:alphaModFix/>
          </a:blip>
          <a:stretch>
            <a:fillRect/>
          </a:stretch>
        </p:blipFill>
        <p:spPr>
          <a:xfrm>
            <a:off x="3644039" y="1559289"/>
            <a:ext cx="5181725" cy="2831450"/>
          </a:xfrm>
          <a:prstGeom prst="rect">
            <a:avLst/>
          </a:prstGeom>
          <a:noFill/>
          <a:ln>
            <a:noFill/>
          </a:ln>
        </p:spPr>
      </p:pic>
      <p:sp>
        <p:nvSpPr>
          <p:cNvPr id="1471" name="Google Shape;1471;p127"/>
          <p:cNvSpPr txBox="1"/>
          <p:nvPr>
            <p:ph idx="1" type="body"/>
          </p:nvPr>
        </p:nvSpPr>
        <p:spPr>
          <a:xfrm>
            <a:off x="324000" y="1619989"/>
            <a:ext cx="3613500" cy="1001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company might sell a product which people use most during the summer,</a:t>
            </a:r>
            <a:endParaRPr sz="2000"/>
          </a:p>
        </p:txBody>
      </p:sp>
      <p:sp>
        <p:nvSpPr>
          <p:cNvPr id="1472" name="Google Shape;1472;p127"/>
          <p:cNvSpPr txBox="1"/>
          <p:nvPr>
            <p:ph idx="1" type="body"/>
          </p:nvPr>
        </p:nvSpPr>
        <p:spPr>
          <a:xfrm>
            <a:off x="324000" y="1620004"/>
            <a:ext cx="3613500" cy="1345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company might sell a product which people use most during the summer, and gift at Christmas time.</a:t>
            </a:r>
            <a:endParaRPr sz="2000"/>
          </a:p>
        </p:txBody>
      </p:sp>
      <p:sp>
        <p:nvSpPr>
          <p:cNvPr id="1473" name="Google Shape;1473;p127"/>
          <p:cNvSpPr/>
          <p:nvPr/>
        </p:nvSpPr>
        <p:spPr>
          <a:xfrm>
            <a:off x="6294914" y="1864970"/>
            <a:ext cx="1379700" cy="13452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4" name="Google Shape;1474;p127"/>
          <p:cNvSpPr/>
          <p:nvPr/>
        </p:nvSpPr>
        <p:spPr>
          <a:xfrm>
            <a:off x="7960000" y="2388475"/>
            <a:ext cx="915600" cy="6135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pic>
        <p:nvPicPr>
          <p:cNvPr id="1479" name="Google Shape;1479;p128"/>
          <p:cNvPicPr preferRelativeResize="0"/>
          <p:nvPr/>
        </p:nvPicPr>
        <p:blipFill>
          <a:blip r:embed="rId3">
            <a:alphaModFix/>
          </a:blip>
          <a:stretch>
            <a:fillRect/>
          </a:stretch>
        </p:blipFill>
        <p:spPr>
          <a:xfrm>
            <a:off x="3732194" y="1621625"/>
            <a:ext cx="5084380" cy="2740775"/>
          </a:xfrm>
          <a:prstGeom prst="rect">
            <a:avLst/>
          </a:prstGeom>
          <a:noFill/>
          <a:ln>
            <a:noFill/>
          </a:ln>
        </p:spPr>
      </p:pic>
      <p:pic>
        <p:nvPicPr>
          <p:cNvPr id="1480" name="Google Shape;1480;p128"/>
          <p:cNvPicPr preferRelativeResize="0"/>
          <p:nvPr/>
        </p:nvPicPr>
        <p:blipFill>
          <a:blip r:embed="rId4">
            <a:alphaModFix/>
          </a:blip>
          <a:stretch>
            <a:fillRect/>
          </a:stretch>
        </p:blipFill>
        <p:spPr>
          <a:xfrm>
            <a:off x="304800" y="778550"/>
            <a:ext cx="8520975" cy="742184"/>
          </a:xfrm>
          <a:prstGeom prst="rect">
            <a:avLst/>
          </a:prstGeom>
          <a:noFill/>
          <a:ln>
            <a:noFill/>
          </a:ln>
        </p:spPr>
      </p:pic>
      <p:sp>
        <p:nvSpPr>
          <p:cNvPr id="1481" name="Google Shape;1481;p12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482" name="Google Shape;1482;p128"/>
          <p:cNvSpPr txBox="1"/>
          <p:nvPr>
            <p:ph idx="1" type="body"/>
          </p:nvPr>
        </p:nvSpPr>
        <p:spPr>
          <a:xfrm>
            <a:off x="328151" y="1651975"/>
            <a:ext cx="3404100" cy="1001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pattern can you see from the graph of this small business’ sales data?</a:t>
            </a:r>
            <a:endParaRPr sz="2000"/>
          </a:p>
        </p:txBody>
      </p:sp>
      <p:sp>
        <p:nvSpPr>
          <p:cNvPr id="1483" name="Google Shape;1483;p128"/>
          <p:cNvSpPr txBox="1"/>
          <p:nvPr>
            <p:ph idx="1" type="body"/>
          </p:nvPr>
        </p:nvSpPr>
        <p:spPr>
          <a:xfrm>
            <a:off x="328151" y="2821775"/>
            <a:ext cx="3225000" cy="1345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You might have said, “A large </a:t>
            </a:r>
            <a:r>
              <a:rPr lang="en-GB" sz="2000">
                <a:latin typeface="Kalam"/>
                <a:ea typeface="Kalam"/>
                <a:cs typeface="Kalam"/>
                <a:sym typeface="Kalam"/>
              </a:rPr>
              <a:t>seasonal variation with higher sales in the colder months”.</a:t>
            </a:r>
            <a:endParaRPr sz="2000">
              <a:latin typeface="Kalam"/>
              <a:ea typeface="Kalam"/>
              <a:cs typeface="Kalam"/>
              <a:sym typeface="Kalam"/>
            </a:endParaRPr>
          </a:p>
        </p:txBody>
      </p:sp>
      <p:sp>
        <p:nvSpPr>
          <p:cNvPr id="1484" name="Google Shape;1484;p128"/>
          <p:cNvSpPr/>
          <p:nvPr/>
        </p:nvSpPr>
        <p:spPr>
          <a:xfrm>
            <a:off x="4277700" y="1867364"/>
            <a:ext cx="1231200" cy="6837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5" name="Google Shape;1485;p128"/>
          <p:cNvSpPr/>
          <p:nvPr/>
        </p:nvSpPr>
        <p:spPr>
          <a:xfrm>
            <a:off x="7962089" y="1648002"/>
            <a:ext cx="890400" cy="1287600"/>
          </a:xfrm>
          <a:prstGeom prst="ellips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pic>
        <p:nvPicPr>
          <p:cNvPr id="1490" name="Google Shape;1490;p129"/>
          <p:cNvPicPr preferRelativeResize="0"/>
          <p:nvPr/>
        </p:nvPicPr>
        <p:blipFill>
          <a:blip r:embed="rId3">
            <a:alphaModFix/>
          </a:blip>
          <a:stretch>
            <a:fillRect/>
          </a:stretch>
        </p:blipFill>
        <p:spPr>
          <a:xfrm>
            <a:off x="237037" y="1933700"/>
            <a:ext cx="5282835" cy="2886700"/>
          </a:xfrm>
          <a:prstGeom prst="rect">
            <a:avLst/>
          </a:prstGeom>
          <a:noFill/>
          <a:ln>
            <a:noFill/>
          </a:ln>
        </p:spPr>
      </p:pic>
      <p:pic>
        <p:nvPicPr>
          <p:cNvPr id="1491" name="Google Shape;1491;p129"/>
          <p:cNvPicPr preferRelativeResize="0"/>
          <p:nvPr/>
        </p:nvPicPr>
        <p:blipFill>
          <a:blip r:embed="rId4">
            <a:alphaModFix/>
          </a:blip>
          <a:stretch>
            <a:fillRect/>
          </a:stretch>
        </p:blipFill>
        <p:spPr>
          <a:xfrm>
            <a:off x="304800" y="800922"/>
            <a:ext cx="8496002" cy="703459"/>
          </a:xfrm>
          <a:prstGeom prst="rect">
            <a:avLst/>
          </a:prstGeom>
          <a:noFill/>
          <a:ln>
            <a:noFill/>
          </a:ln>
        </p:spPr>
      </p:pic>
      <p:sp>
        <p:nvSpPr>
          <p:cNvPr id="1492" name="Google Shape;1492;p12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493" name="Google Shape;1493;p129"/>
          <p:cNvSpPr txBox="1"/>
          <p:nvPr>
            <p:ph idx="1" type="body"/>
          </p:nvPr>
        </p:nvSpPr>
        <p:spPr>
          <a:xfrm>
            <a:off x="5672275" y="1545159"/>
            <a:ext cx="3194700" cy="1001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Many small businesses experience seasonal variation. The volatility in the graph makes it difficult to see if sales are improving.</a:t>
            </a:r>
            <a:endParaRPr sz="2000"/>
          </a:p>
        </p:txBody>
      </p:sp>
      <p:sp>
        <p:nvSpPr>
          <p:cNvPr id="1494" name="Google Shape;1494;p129"/>
          <p:cNvSpPr txBox="1"/>
          <p:nvPr>
            <p:ph idx="1" type="body"/>
          </p:nvPr>
        </p:nvSpPr>
        <p:spPr>
          <a:xfrm>
            <a:off x="5672283" y="3739651"/>
            <a:ext cx="31947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Are these sales going up or down? Can you predict what will happen next?</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pic>
        <p:nvPicPr>
          <p:cNvPr id="1499" name="Google Shape;1499;p130"/>
          <p:cNvPicPr preferRelativeResize="0"/>
          <p:nvPr/>
        </p:nvPicPr>
        <p:blipFill>
          <a:blip r:embed="rId3">
            <a:alphaModFix/>
          </a:blip>
          <a:stretch>
            <a:fillRect/>
          </a:stretch>
        </p:blipFill>
        <p:spPr>
          <a:xfrm>
            <a:off x="237037" y="1933700"/>
            <a:ext cx="5282835" cy="2886700"/>
          </a:xfrm>
          <a:prstGeom prst="rect">
            <a:avLst/>
          </a:prstGeom>
          <a:noFill/>
          <a:ln>
            <a:noFill/>
          </a:ln>
        </p:spPr>
      </p:pic>
      <p:pic>
        <p:nvPicPr>
          <p:cNvPr id="1500" name="Google Shape;1500;p130"/>
          <p:cNvPicPr preferRelativeResize="0"/>
          <p:nvPr/>
        </p:nvPicPr>
        <p:blipFill>
          <a:blip r:embed="rId4">
            <a:alphaModFix/>
          </a:blip>
          <a:stretch>
            <a:fillRect/>
          </a:stretch>
        </p:blipFill>
        <p:spPr>
          <a:xfrm>
            <a:off x="304800" y="800922"/>
            <a:ext cx="8496002" cy="703459"/>
          </a:xfrm>
          <a:prstGeom prst="rect">
            <a:avLst/>
          </a:prstGeom>
          <a:noFill/>
          <a:ln>
            <a:noFill/>
          </a:ln>
        </p:spPr>
      </p:pic>
      <p:sp>
        <p:nvSpPr>
          <p:cNvPr id="1501" name="Google Shape;1501;p13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502" name="Google Shape;1502;p130"/>
          <p:cNvSpPr txBox="1"/>
          <p:nvPr>
            <p:ph idx="1" type="body"/>
          </p:nvPr>
        </p:nvSpPr>
        <p:spPr>
          <a:xfrm>
            <a:off x="5642759" y="2006186"/>
            <a:ext cx="3246300" cy="239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small business using a spreadsheet to track year-on-year sales in a format like this can benefit from the variety of types of chart that the software can draw for us.</a:t>
            </a:r>
            <a:endParaRPr sz="2000"/>
          </a:p>
        </p:txBody>
      </p:sp>
      <p:pic>
        <p:nvPicPr>
          <p:cNvPr id="1503" name="Google Shape;1503;p130"/>
          <p:cNvPicPr preferRelativeResize="0"/>
          <p:nvPr/>
        </p:nvPicPr>
        <p:blipFill>
          <a:blip r:embed="rId5">
            <a:alphaModFix/>
          </a:blip>
          <a:stretch>
            <a:fillRect/>
          </a:stretch>
        </p:blipFill>
        <p:spPr>
          <a:xfrm>
            <a:off x="304800" y="782535"/>
            <a:ext cx="8496002" cy="10682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pic>
        <p:nvPicPr>
          <p:cNvPr id="1508" name="Google Shape;1508;p131"/>
          <p:cNvPicPr preferRelativeResize="0"/>
          <p:nvPr/>
        </p:nvPicPr>
        <p:blipFill>
          <a:blip r:embed="rId3">
            <a:alphaModFix/>
          </a:blip>
          <a:stretch>
            <a:fillRect/>
          </a:stretch>
        </p:blipFill>
        <p:spPr>
          <a:xfrm>
            <a:off x="327426" y="1977631"/>
            <a:ext cx="5192451" cy="2834667"/>
          </a:xfrm>
          <a:prstGeom prst="rect">
            <a:avLst/>
          </a:prstGeom>
          <a:noFill/>
          <a:ln>
            <a:noFill/>
          </a:ln>
        </p:spPr>
      </p:pic>
      <p:pic>
        <p:nvPicPr>
          <p:cNvPr id="1509" name="Google Shape;1509;p131"/>
          <p:cNvPicPr preferRelativeResize="0"/>
          <p:nvPr/>
        </p:nvPicPr>
        <p:blipFill>
          <a:blip r:embed="rId4">
            <a:alphaModFix/>
          </a:blip>
          <a:stretch>
            <a:fillRect/>
          </a:stretch>
        </p:blipFill>
        <p:spPr>
          <a:xfrm>
            <a:off x="304800" y="800922"/>
            <a:ext cx="8496002" cy="703459"/>
          </a:xfrm>
          <a:prstGeom prst="rect">
            <a:avLst/>
          </a:prstGeom>
          <a:noFill/>
          <a:ln>
            <a:noFill/>
          </a:ln>
        </p:spPr>
      </p:pic>
      <p:sp>
        <p:nvSpPr>
          <p:cNvPr id="1510" name="Google Shape;1510;p13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511" name="Google Shape;1511;p131"/>
          <p:cNvSpPr txBox="1"/>
          <p:nvPr>
            <p:ph idx="1" type="body"/>
          </p:nvPr>
        </p:nvSpPr>
        <p:spPr>
          <a:xfrm>
            <a:off x="5788659" y="1965991"/>
            <a:ext cx="3029400" cy="239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You could call this a dual line graph, or a comparable line graph.</a:t>
            </a:r>
            <a:endParaRPr sz="2000"/>
          </a:p>
          <a:p>
            <a:pPr indent="0" lvl="0" marL="0" rtl="0" algn="l">
              <a:spcBef>
                <a:spcPts val="1000"/>
              </a:spcBef>
              <a:spcAft>
                <a:spcPts val="1000"/>
              </a:spcAft>
              <a:buNone/>
            </a:pPr>
            <a:r>
              <a:rPr lang="en-GB" sz="2000"/>
              <a:t>It clearly shows Y2 revenues are all above Y1’s. Year-on-year this business is improving its sales.</a:t>
            </a:r>
            <a:endParaRPr sz="2000"/>
          </a:p>
        </p:txBody>
      </p:sp>
      <p:pic>
        <p:nvPicPr>
          <p:cNvPr id="1512" name="Google Shape;1512;p131"/>
          <p:cNvPicPr preferRelativeResize="0"/>
          <p:nvPr/>
        </p:nvPicPr>
        <p:blipFill>
          <a:blip r:embed="rId5">
            <a:alphaModFix/>
          </a:blip>
          <a:stretch>
            <a:fillRect/>
          </a:stretch>
        </p:blipFill>
        <p:spPr>
          <a:xfrm>
            <a:off x="304800" y="782535"/>
            <a:ext cx="8496002" cy="10682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pic>
        <p:nvPicPr>
          <p:cNvPr id="1517" name="Google Shape;1517;p132"/>
          <p:cNvPicPr preferRelativeResize="0"/>
          <p:nvPr/>
        </p:nvPicPr>
        <p:blipFill>
          <a:blip r:embed="rId3">
            <a:alphaModFix/>
          </a:blip>
          <a:stretch>
            <a:fillRect/>
          </a:stretch>
        </p:blipFill>
        <p:spPr>
          <a:xfrm>
            <a:off x="286350" y="799325"/>
            <a:ext cx="8531701" cy="1057368"/>
          </a:xfrm>
          <a:prstGeom prst="rect">
            <a:avLst/>
          </a:prstGeom>
          <a:noFill/>
          <a:ln>
            <a:noFill/>
          </a:ln>
        </p:spPr>
      </p:pic>
      <p:sp>
        <p:nvSpPr>
          <p:cNvPr id="1518" name="Google Shape;1518;p13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Tracking performance</a:t>
            </a:r>
            <a:endParaRPr/>
          </a:p>
        </p:txBody>
      </p:sp>
      <p:pic>
        <p:nvPicPr>
          <p:cNvPr id="1519" name="Google Shape;1519;p132"/>
          <p:cNvPicPr preferRelativeResize="0"/>
          <p:nvPr/>
        </p:nvPicPr>
        <p:blipFill>
          <a:blip r:embed="rId4">
            <a:alphaModFix/>
          </a:blip>
          <a:stretch>
            <a:fillRect/>
          </a:stretch>
        </p:blipFill>
        <p:spPr>
          <a:xfrm>
            <a:off x="327425" y="1966000"/>
            <a:ext cx="4589009" cy="2850076"/>
          </a:xfrm>
          <a:prstGeom prst="rect">
            <a:avLst/>
          </a:prstGeom>
          <a:noFill/>
          <a:ln>
            <a:noFill/>
          </a:ln>
        </p:spPr>
      </p:pic>
      <p:sp>
        <p:nvSpPr>
          <p:cNvPr id="1520" name="Google Shape;1520;p132"/>
          <p:cNvSpPr txBox="1"/>
          <p:nvPr>
            <p:ph idx="1" type="body"/>
          </p:nvPr>
        </p:nvSpPr>
        <p:spPr>
          <a:xfrm>
            <a:off x="4990586" y="3095605"/>
            <a:ext cx="3724500" cy="9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You might have said, “There is less seasonal variation in Y2. Winter/Autumn sales are higher in Y2, whereas summer sales fell”.</a:t>
            </a:r>
            <a:endParaRPr sz="2000">
              <a:latin typeface="Kalam"/>
              <a:ea typeface="Kalam"/>
              <a:cs typeface="Kalam"/>
              <a:sym typeface="Kalam"/>
            </a:endParaRPr>
          </a:p>
        </p:txBody>
      </p:sp>
      <p:sp>
        <p:nvSpPr>
          <p:cNvPr id="1521" name="Google Shape;1521;p132"/>
          <p:cNvSpPr txBox="1"/>
          <p:nvPr>
            <p:ph idx="1" type="body"/>
          </p:nvPr>
        </p:nvSpPr>
        <p:spPr>
          <a:xfrm>
            <a:off x="4990586" y="1952605"/>
            <a:ext cx="3724500" cy="9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patterns do you see year-on-year in the graph of this small businesses sales?</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33"/>
          <p:cNvSpPr txBox="1"/>
          <p:nvPr>
            <p:ph idx="1" type="body"/>
          </p:nvPr>
        </p:nvSpPr>
        <p:spPr>
          <a:xfrm>
            <a:off x="324000" y="759300"/>
            <a:ext cx="8531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1) Here are the </a:t>
            </a:r>
            <a:r>
              <a:rPr lang="en-GB" sz="2100"/>
              <a:t>first three years of sales for a new small business.</a:t>
            </a:r>
            <a:endParaRPr/>
          </a:p>
        </p:txBody>
      </p:sp>
      <p:sp>
        <p:nvSpPr>
          <p:cNvPr id="1527" name="Google Shape;1527;p13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528" name="Google Shape;1528;p133"/>
          <p:cNvSpPr txBox="1"/>
          <p:nvPr>
            <p:ph idx="1" type="body"/>
          </p:nvPr>
        </p:nvSpPr>
        <p:spPr>
          <a:xfrm>
            <a:off x="324000" y="2678928"/>
            <a:ext cx="8531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a) Calculate the mean and range for each year and comment on any changes year-on-year.</a:t>
            </a:r>
            <a:endParaRPr sz="2100"/>
          </a:p>
        </p:txBody>
      </p:sp>
      <p:pic>
        <p:nvPicPr>
          <p:cNvPr id="1529" name="Google Shape;1529;p133"/>
          <p:cNvPicPr preferRelativeResize="0"/>
          <p:nvPr/>
        </p:nvPicPr>
        <p:blipFill>
          <a:blip r:embed="rId3">
            <a:alphaModFix/>
          </a:blip>
          <a:stretch>
            <a:fillRect/>
          </a:stretch>
        </p:blipFill>
        <p:spPr>
          <a:xfrm>
            <a:off x="320101" y="1180534"/>
            <a:ext cx="8531700" cy="140142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13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Tracking performance</a:t>
            </a:r>
            <a:endParaRPr/>
          </a:p>
        </p:txBody>
      </p:sp>
      <p:pic>
        <p:nvPicPr>
          <p:cNvPr id="1535" name="Google Shape;1535;p134"/>
          <p:cNvPicPr preferRelativeResize="0"/>
          <p:nvPr/>
        </p:nvPicPr>
        <p:blipFill>
          <a:blip r:embed="rId3">
            <a:alphaModFix/>
          </a:blip>
          <a:stretch>
            <a:fillRect/>
          </a:stretch>
        </p:blipFill>
        <p:spPr>
          <a:xfrm>
            <a:off x="624900" y="1104328"/>
            <a:ext cx="5868524" cy="963975"/>
          </a:xfrm>
          <a:prstGeom prst="rect">
            <a:avLst/>
          </a:prstGeom>
          <a:noFill/>
          <a:ln>
            <a:noFill/>
          </a:ln>
        </p:spPr>
      </p:pic>
      <p:pic>
        <p:nvPicPr>
          <p:cNvPr id="1536" name="Google Shape;1536;p134"/>
          <p:cNvPicPr preferRelativeResize="0"/>
          <p:nvPr/>
        </p:nvPicPr>
        <p:blipFill>
          <a:blip r:embed="rId4">
            <a:alphaModFix/>
          </a:blip>
          <a:stretch>
            <a:fillRect/>
          </a:stretch>
        </p:blipFill>
        <p:spPr>
          <a:xfrm>
            <a:off x="639875" y="2132175"/>
            <a:ext cx="5069901" cy="2523500"/>
          </a:xfrm>
          <a:prstGeom prst="rect">
            <a:avLst/>
          </a:prstGeom>
          <a:noFill/>
          <a:ln>
            <a:noFill/>
          </a:ln>
        </p:spPr>
      </p:pic>
      <p:sp>
        <p:nvSpPr>
          <p:cNvPr id="1537" name="Google Shape;1537;p134"/>
          <p:cNvSpPr txBox="1"/>
          <p:nvPr>
            <p:ph idx="1" type="body"/>
          </p:nvPr>
        </p:nvSpPr>
        <p:spPr>
          <a:xfrm>
            <a:off x="324000" y="740175"/>
            <a:ext cx="8107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b</a:t>
            </a:r>
            <a:r>
              <a:rPr lang="en-GB" sz="2000"/>
              <a:t>) Comment on any patterns you spot in this data.</a:t>
            </a:r>
            <a:endParaRPr sz="21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135"/>
          <p:cNvSpPr txBox="1"/>
          <p:nvPr>
            <p:ph idx="1" type="body"/>
          </p:nvPr>
        </p:nvSpPr>
        <p:spPr>
          <a:xfrm>
            <a:off x="324000" y="759300"/>
            <a:ext cx="8531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1) Here are the first three years of sales for a new small business.</a:t>
            </a:r>
            <a:endParaRPr/>
          </a:p>
        </p:txBody>
      </p:sp>
      <p:sp>
        <p:nvSpPr>
          <p:cNvPr id="1543" name="Google Shape;1543;p13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Tracking performance</a:t>
            </a:r>
            <a:endParaRPr/>
          </a:p>
        </p:txBody>
      </p:sp>
      <p:pic>
        <p:nvPicPr>
          <p:cNvPr id="1544" name="Google Shape;1544;p135"/>
          <p:cNvPicPr preferRelativeResize="0"/>
          <p:nvPr/>
        </p:nvPicPr>
        <p:blipFill>
          <a:blip r:embed="rId3">
            <a:alphaModFix/>
          </a:blip>
          <a:stretch>
            <a:fillRect/>
          </a:stretch>
        </p:blipFill>
        <p:spPr>
          <a:xfrm>
            <a:off x="320101" y="1180534"/>
            <a:ext cx="8531700" cy="1401424"/>
          </a:xfrm>
          <a:prstGeom prst="rect">
            <a:avLst/>
          </a:prstGeom>
          <a:noFill/>
          <a:ln>
            <a:noFill/>
          </a:ln>
        </p:spPr>
      </p:pic>
      <p:sp>
        <p:nvSpPr>
          <p:cNvPr id="1545" name="Google Shape;1545;p135"/>
          <p:cNvSpPr txBox="1"/>
          <p:nvPr>
            <p:ph idx="1" type="body"/>
          </p:nvPr>
        </p:nvSpPr>
        <p:spPr>
          <a:xfrm>
            <a:off x="324000" y="2678928"/>
            <a:ext cx="8531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a) Calculate the mean and range for each year and comment on any changes year-on-year.</a:t>
            </a:r>
            <a:endParaRPr sz="21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136"/>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1) Here are the first three years of sales for a new small business.</a:t>
            </a:r>
            <a:endParaRPr/>
          </a:p>
        </p:txBody>
      </p:sp>
      <p:sp>
        <p:nvSpPr>
          <p:cNvPr id="1551" name="Google Shape;1551;p13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552" name="Google Shape;1552;p136"/>
          <p:cNvSpPr txBox="1"/>
          <p:nvPr>
            <p:ph idx="1" type="body"/>
          </p:nvPr>
        </p:nvSpPr>
        <p:spPr>
          <a:xfrm>
            <a:off x="324000" y="2678925"/>
            <a:ext cx="353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a)</a:t>
            </a:r>
            <a:endParaRPr/>
          </a:p>
        </p:txBody>
      </p:sp>
      <p:pic>
        <p:nvPicPr>
          <p:cNvPr id="1553" name="Google Shape;1553;p136"/>
          <p:cNvPicPr preferRelativeResize="0"/>
          <p:nvPr/>
        </p:nvPicPr>
        <p:blipFill>
          <a:blip r:embed="rId3">
            <a:alphaModFix/>
          </a:blip>
          <a:stretch>
            <a:fillRect/>
          </a:stretch>
        </p:blipFill>
        <p:spPr>
          <a:xfrm>
            <a:off x="320101" y="1180534"/>
            <a:ext cx="8531700" cy="1401424"/>
          </a:xfrm>
          <a:prstGeom prst="rect">
            <a:avLst/>
          </a:prstGeom>
          <a:noFill/>
          <a:ln>
            <a:noFill/>
          </a:ln>
        </p:spPr>
      </p:pic>
      <p:sp>
        <p:nvSpPr>
          <p:cNvPr id="1554" name="Google Shape;1554;p136"/>
          <p:cNvSpPr txBox="1"/>
          <p:nvPr>
            <p:ph idx="4294967295" type="body"/>
          </p:nvPr>
        </p:nvSpPr>
        <p:spPr>
          <a:xfrm>
            <a:off x="861551" y="3335649"/>
            <a:ext cx="19722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Mean:</a:t>
            </a:r>
            <a:r>
              <a:rPr lang="en-GB" sz="2000"/>
              <a:t> </a:t>
            </a:r>
            <a:r>
              <a:rPr lang="en-GB">
                <a:latin typeface="Times New Roman"/>
                <a:ea typeface="Times New Roman"/>
                <a:cs typeface="Times New Roman"/>
                <a:sym typeface="Times New Roman"/>
              </a:rPr>
              <a:t>£14 283</a:t>
            </a:r>
            <a:endParaRPr sz="2000"/>
          </a:p>
        </p:txBody>
      </p:sp>
      <p:sp>
        <p:nvSpPr>
          <p:cNvPr id="1555" name="Google Shape;1555;p136"/>
          <p:cNvSpPr txBox="1"/>
          <p:nvPr>
            <p:ph idx="4294967295" type="body"/>
          </p:nvPr>
        </p:nvSpPr>
        <p:spPr>
          <a:xfrm>
            <a:off x="861551" y="3003224"/>
            <a:ext cx="1972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Range: </a:t>
            </a:r>
            <a:r>
              <a:rPr lang="en-GB">
                <a:latin typeface="Times New Roman"/>
                <a:ea typeface="Times New Roman"/>
                <a:cs typeface="Times New Roman"/>
                <a:sym typeface="Times New Roman"/>
              </a:rPr>
              <a:t>£30 400</a:t>
            </a:r>
            <a:endParaRPr sz="2000"/>
          </a:p>
        </p:txBody>
      </p:sp>
      <p:sp>
        <p:nvSpPr>
          <p:cNvPr id="1556" name="Google Shape;1556;p136"/>
          <p:cNvSpPr txBox="1"/>
          <p:nvPr>
            <p:ph idx="4294967295" type="body"/>
          </p:nvPr>
        </p:nvSpPr>
        <p:spPr>
          <a:xfrm>
            <a:off x="861555" y="2698405"/>
            <a:ext cx="1282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Year one:</a:t>
            </a:r>
            <a:endParaRPr sz="2000">
              <a:latin typeface="Kalam"/>
              <a:ea typeface="Kalam"/>
              <a:cs typeface="Kalam"/>
              <a:sym typeface="Kalam"/>
            </a:endParaRPr>
          </a:p>
        </p:txBody>
      </p:sp>
      <p:sp>
        <p:nvSpPr>
          <p:cNvPr id="1557" name="Google Shape;1557;p136"/>
          <p:cNvSpPr txBox="1"/>
          <p:nvPr>
            <p:ph idx="4294967295" type="body"/>
          </p:nvPr>
        </p:nvSpPr>
        <p:spPr>
          <a:xfrm>
            <a:off x="3757152" y="3335649"/>
            <a:ext cx="18174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Mean: </a:t>
            </a:r>
            <a:r>
              <a:rPr lang="en-GB">
                <a:latin typeface="Times New Roman"/>
                <a:ea typeface="Times New Roman"/>
                <a:cs typeface="Times New Roman"/>
                <a:sym typeface="Times New Roman"/>
              </a:rPr>
              <a:t>£16 383</a:t>
            </a:r>
            <a:endParaRPr sz="2000"/>
          </a:p>
        </p:txBody>
      </p:sp>
      <p:sp>
        <p:nvSpPr>
          <p:cNvPr id="1558" name="Google Shape;1558;p136"/>
          <p:cNvSpPr txBox="1"/>
          <p:nvPr>
            <p:ph idx="4294967295" type="body"/>
          </p:nvPr>
        </p:nvSpPr>
        <p:spPr>
          <a:xfrm>
            <a:off x="3757151" y="3003224"/>
            <a:ext cx="1972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Range:</a:t>
            </a:r>
            <a:r>
              <a:rPr lang="en-GB" sz="2000"/>
              <a:t> </a:t>
            </a:r>
            <a:r>
              <a:rPr lang="en-GB">
                <a:latin typeface="Times New Roman"/>
                <a:ea typeface="Times New Roman"/>
                <a:cs typeface="Times New Roman"/>
                <a:sym typeface="Times New Roman"/>
              </a:rPr>
              <a:t>£41 800</a:t>
            </a:r>
            <a:endParaRPr sz="2000"/>
          </a:p>
        </p:txBody>
      </p:sp>
      <p:sp>
        <p:nvSpPr>
          <p:cNvPr id="1559" name="Google Shape;1559;p136"/>
          <p:cNvSpPr txBox="1"/>
          <p:nvPr>
            <p:ph idx="4294967295" type="body"/>
          </p:nvPr>
        </p:nvSpPr>
        <p:spPr>
          <a:xfrm>
            <a:off x="3757155" y="2698405"/>
            <a:ext cx="12828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Year two:</a:t>
            </a:r>
            <a:endParaRPr sz="2000">
              <a:latin typeface="Kalam"/>
              <a:ea typeface="Kalam"/>
              <a:cs typeface="Kalam"/>
              <a:sym typeface="Kalam"/>
            </a:endParaRPr>
          </a:p>
        </p:txBody>
      </p:sp>
      <p:sp>
        <p:nvSpPr>
          <p:cNvPr id="1560" name="Google Shape;1560;p136"/>
          <p:cNvSpPr txBox="1"/>
          <p:nvPr>
            <p:ph idx="4294967295" type="body"/>
          </p:nvPr>
        </p:nvSpPr>
        <p:spPr>
          <a:xfrm>
            <a:off x="6561249" y="3335649"/>
            <a:ext cx="1972200" cy="31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Mean:</a:t>
            </a:r>
            <a:r>
              <a:rPr lang="en-GB" sz="2000"/>
              <a:t> </a:t>
            </a:r>
            <a:r>
              <a:rPr lang="en-GB">
                <a:latin typeface="Times New Roman"/>
                <a:ea typeface="Times New Roman"/>
                <a:cs typeface="Times New Roman"/>
                <a:sym typeface="Times New Roman"/>
              </a:rPr>
              <a:t>£19 008</a:t>
            </a:r>
            <a:endParaRPr sz="2000"/>
          </a:p>
        </p:txBody>
      </p:sp>
      <p:sp>
        <p:nvSpPr>
          <p:cNvPr id="1561" name="Google Shape;1561;p136"/>
          <p:cNvSpPr txBox="1"/>
          <p:nvPr>
            <p:ph idx="4294967295" type="body"/>
          </p:nvPr>
        </p:nvSpPr>
        <p:spPr>
          <a:xfrm>
            <a:off x="6561243" y="3003224"/>
            <a:ext cx="19722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Range: </a:t>
            </a:r>
            <a:r>
              <a:rPr lang="en-GB">
                <a:latin typeface="Times New Roman"/>
                <a:ea typeface="Times New Roman"/>
                <a:cs typeface="Times New Roman"/>
                <a:sym typeface="Times New Roman"/>
              </a:rPr>
              <a:t>£52 100</a:t>
            </a:r>
            <a:endParaRPr sz="2000"/>
          </a:p>
        </p:txBody>
      </p:sp>
      <p:sp>
        <p:nvSpPr>
          <p:cNvPr id="1562" name="Google Shape;1562;p136"/>
          <p:cNvSpPr txBox="1"/>
          <p:nvPr>
            <p:ph idx="4294967295" type="body"/>
          </p:nvPr>
        </p:nvSpPr>
        <p:spPr>
          <a:xfrm>
            <a:off x="6561251" y="2698399"/>
            <a:ext cx="1569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Year three:</a:t>
            </a:r>
            <a:endParaRPr sz="2000">
              <a:latin typeface="Kalam"/>
              <a:ea typeface="Kalam"/>
              <a:cs typeface="Kalam"/>
              <a:sym typeface="Kalam"/>
            </a:endParaRPr>
          </a:p>
        </p:txBody>
      </p:sp>
      <p:sp>
        <p:nvSpPr>
          <p:cNvPr id="1563" name="Google Shape;1563;p136"/>
          <p:cNvSpPr txBox="1"/>
          <p:nvPr>
            <p:ph idx="4294967295" type="body"/>
          </p:nvPr>
        </p:nvSpPr>
        <p:spPr>
          <a:xfrm>
            <a:off x="328125" y="3765200"/>
            <a:ext cx="8491800" cy="759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You might have said, “The mean is increasing so the business is selling more year-on-year. The range is increasing so the sales are becoming less consistent, less predictable month-on-month”.</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sp>
        <p:nvSpPr>
          <p:cNvPr id="1568" name="Google Shape;1568;p137"/>
          <p:cNvSpPr txBox="1"/>
          <p:nvPr>
            <p:ph idx="1" type="body"/>
          </p:nvPr>
        </p:nvSpPr>
        <p:spPr>
          <a:xfrm>
            <a:off x="324000" y="759300"/>
            <a:ext cx="696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1) b)</a:t>
            </a:r>
            <a:endParaRPr/>
          </a:p>
        </p:txBody>
      </p:sp>
      <p:sp>
        <p:nvSpPr>
          <p:cNvPr id="1569" name="Google Shape;1569;p13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Tracking performance</a:t>
            </a:r>
            <a:endParaRPr/>
          </a:p>
        </p:txBody>
      </p:sp>
      <p:sp>
        <p:nvSpPr>
          <p:cNvPr id="1570" name="Google Shape;1570;p137"/>
          <p:cNvSpPr txBox="1"/>
          <p:nvPr>
            <p:ph idx="4294967295" type="body"/>
          </p:nvPr>
        </p:nvSpPr>
        <p:spPr>
          <a:xfrm>
            <a:off x="328125" y="3841400"/>
            <a:ext cx="8491800" cy="253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1) c) </a:t>
            </a:r>
            <a:r>
              <a:rPr lang="en-GB" sz="2000">
                <a:latin typeface="Kalam"/>
                <a:ea typeface="Kalam"/>
                <a:cs typeface="Kalam"/>
                <a:sym typeface="Kalam"/>
              </a:rPr>
              <a:t>You might have said, </a:t>
            </a:r>
            <a:r>
              <a:rPr lang="en-GB" sz="2000">
                <a:latin typeface="Kalam"/>
                <a:ea typeface="Kalam"/>
                <a:cs typeface="Kalam"/>
                <a:sym typeface="Kalam"/>
              </a:rPr>
              <a:t>“The graph shows that there is a seasonal peak to the business’ sales in Nov/Dec. Their performance is level year-on-year Jan to Sept but the Oct/Nov/Dec sales are improving with each year”.</a:t>
            </a:r>
            <a:endParaRPr sz="2000">
              <a:latin typeface="Kalam"/>
              <a:ea typeface="Kalam"/>
              <a:cs typeface="Kalam"/>
              <a:sym typeface="Kalam"/>
            </a:endParaRPr>
          </a:p>
        </p:txBody>
      </p:sp>
      <p:pic>
        <p:nvPicPr>
          <p:cNvPr id="1571" name="Google Shape;1571;p137"/>
          <p:cNvPicPr preferRelativeResize="0"/>
          <p:nvPr/>
        </p:nvPicPr>
        <p:blipFill>
          <a:blip r:embed="rId3">
            <a:alphaModFix/>
          </a:blip>
          <a:stretch>
            <a:fillRect/>
          </a:stretch>
        </p:blipFill>
        <p:spPr>
          <a:xfrm>
            <a:off x="1020875" y="809101"/>
            <a:ext cx="5921726" cy="29474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5" name="Shape 1575"/>
        <p:cNvGrpSpPr/>
        <p:nvPr/>
      </p:nvGrpSpPr>
      <p:grpSpPr>
        <a:xfrm>
          <a:off x="0" y="0"/>
          <a:ext cx="0" cy="0"/>
          <a:chOff x="0" y="0"/>
          <a:chExt cx="0" cy="0"/>
        </a:xfrm>
      </p:grpSpPr>
      <p:sp>
        <p:nvSpPr>
          <p:cNvPr id="1576" name="Google Shape;1576;p138"/>
          <p:cNvSpPr txBox="1"/>
          <p:nvPr>
            <p:ph idx="1" type="body"/>
          </p:nvPr>
        </p:nvSpPr>
        <p:spPr>
          <a:xfrm>
            <a:off x="324000" y="1080000"/>
            <a:ext cx="8113800" cy="295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Independent business owners</a:t>
            </a:r>
            <a:r>
              <a:rPr lang="en-GB" sz="2000"/>
              <a:t> use percentage calculations to monitor profit over time, profit on individual items and to set selling prices. Spreadsheets are used to help small businesses understand their most profitable products.</a:t>
            </a:r>
            <a:endParaRPr sz="2000"/>
          </a:p>
          <a:p>
            <a:pPr indent="0" lvl="0" marL="0" rtl="0" algn="l">
              <a:spcBef>
                <a:spcPts val="1000"/>
              </a:spcBef>
              <a:spcAft>
                <a:spcPts val="1000"/>
              </a:spcAft>
              <a:buClr>
                <a:schemeClr val="dk1"/>
              </a:buClr>
              <a:buSzPts val="1100"/>
              <a:buFont typeface="Arial"/>
              <a:buNone/>
            </a:pPr>
            <a:r>
              <a:rPr lang="en-GB" sz="2000"/>
              <a:t>Small businesses also use averages, spread, spreadsheets, and graphing technology to monitor performance over time.</a:t>
            </a:r>
            <a:endParaRPr sz="2000"/>
          </a:p>
        </p:txBody>
      </p:sp>
      <p:sp>
        <p:nvSpPr>
          <p:cNvPr id="1577" name="Google Shape;1577;p138"/>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Running a small business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139"/>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83" name="Google Shape;1583;p139"/>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