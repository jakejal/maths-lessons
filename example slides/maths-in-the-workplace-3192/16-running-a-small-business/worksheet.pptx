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DA2568-F585-40FB-9C00-848FD75C3C89}">
  <a:tblStyle styleId="{D1DA2568-F585-40FB-9C00-848FD75C3C8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0cf0766a25_0_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0cf0766a2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9" name="Google Shape;49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" name="Google Shape;9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Running a small business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04" name="Google Shape;104;p12"/>
          <p:cNvGraphicFramePr/>
          <p:nvPr/>
        </p:nvGraphicFramePr>
        <p:xfrm>
          <a:off x="477673" y="21830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{D1DA2568-F585-40FB-9C00-848FD75C3C89}</a:tableStyleId>
              </a:tblPr>
              <a:tblGrid>
                <a:gridCol w="1454725"/>
                <a:gridCol w="1454725"/>
                <a:gridCol w="1454725"/>
                <a:gridCol w="2248950"/>
              </a:tblGrid>
              <a:tr h="36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Gross profit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Revenue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Gross profit margin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one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£0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£12 000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two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£1000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£20 000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three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£48 000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12.5%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four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£20 000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40%</a:t>
                      </a:r>
                      <a:endParaRPr sz="1200"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five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£24 500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£56 000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5" name="Google Shape;105;p12"/>
          <p:cNvSpPr txBox="1"/>
          <p:nvPr/>
        </p:nvSpPr>
        <p:spPr>
          <a:xfrm>
            <a:off x="468000" y="1679000"/>
            <a:ext cx="66240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Fill in the blanks for this small business’ first few years of results and comment on how their profit margin is changing.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2"/>
          <p:cNvSpPr txBox="1"/>
          <p:nvPr/>
        </p:nvSpPr>
        <p:spPr>
          <a:xfrm>
            <a:off x="468000" y="126415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A: Profit in percentages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12"/>
          <p:cNvSpPr txBox="1"/>
          <p:nvPr/>
        </p:nvSpPr>
        <p:spPr>
          <a:xfrm>
            <a:off x="468000" y="5314300"/>
            <a:ext cx="66240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Calculate the gross profit margin for each of these items for this new paddleboard shop.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2"/>
          <p:cNvSpPr txBox="1"/>
          <p:nvPr/>
        </p:nvSpPr>
        <p:spPr>
          <a:xfrm>
            <a:off x="468000" y="6442565"/>
            <a:ext cx="6245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ft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paddleboard: Selling price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£575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cost price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£373.75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text{Gross profit margin (%)}=\frac{\text{Selling price}\ -\text{Cost price}}{\text{Selling price}}\times100&quot;&gt;&lt;mtext&gt;Gross profit margin (%)&lt;/mtext&gt;&lt;mo&gt;=&lt;/mo&gt;&lt;mfrac&gt;&lt;mrow&gt;&lt;mtext&gt;Selling price&lt;/mtext&gt;&lt;mtext&gt;&lt;/mtext&gt;&lt;mo&gt;−&lt;/mo&gt;&lt;mtext&gt;Cost price&lt;/mtext&gt;&lt;/mrow&gt;&lt;mtext&gt;Selling price&lt;/mtext&gt;&lt;/mfrac&gt;&lt;mo&gt;×&lt;/mo&gt;&lt;mn&gt;100&lt;/mn&gt;&lt;/math&gt;" id="109" name="Google Shape;109;p12" title="Gross profit margin open paren percent sign close paren equals the fraction with numerator Selling price minus Cost price and denominator Selling price times 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0812" y="5701391"/>
            <a:ext cx="5058386" cy="49686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2"/>
          <p:cNvSpPr txBox="1"/>
          <p:nvPr/>
        </p:nvSpPr>
        <p:spPr>
          <a:xfrm>
            <a:off x="468000" y="7987757"/>
            <a:ext cx="66240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Comment on which product is not achieving their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30%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gross profit margin target and advise on what they should do.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" name="Google Shape;111;p12"/>
          <p:cNvSpPr txBox="1"/>
          <p:nvPr/>
        </p:nvSpPr>
        <p:spPr>
          <a:xfrm>
            <a:off x="468000" y="6834832"/>
            <a:ext cx="60642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ft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paddleboard: Selling price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£650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cost price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£390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" name="Google Shape;112;p12"/>
          <p:cNvSpPr txBox="1"/>
          <p:nvPr/>
        </p:nvSpPr>
        <p:spPr>
          <a:xfrm>
            <a:off x="468000" y="7227099"/>
            <a:ext cx="5813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Carbon paddle: Selling price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£110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cost price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£82.50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" name="Google Shape;113;p12"/>
          <p:cNvSpPr txBox="1"/>
          <p:nvPr/>
        </p:nvSpPr>
        <p:spPr>
          <a:xfrm>
            <a:off x="468000" y="7607431"/>
            <a:ext cx="5443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Buoyancy aid: Selling price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£60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cost price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£34.50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Running a small business</a:t>
            </a:r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468013" y="6489350"/>
            <a:ext cx="66240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Advise the business as to which products they should place most prominently in their shop.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468002" y="720000"/>
            <a:ext cx="66240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a) By completing a spreadsheet or otherwise, calculate the minimum selling price and gross profit margins for this bicycle shop’s products.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" name="Google Shape;121;p13"/>
          <p:cNvSpPr txBox="1"/>
          <p:nvPr/>
        </p:nvSpPr>
        <p:spPr>
          <a:xfrm>
            <a:off x="468026" y="4154375"/>
            <a:ext cx="6624000" cy="9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Comment on any products not achieving minimum gross profit margins.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" name="Google Shape;12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798" y="1225763"/>
            <a:ext cx="4589009" cy="2660517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23" name="Google Shape;123;p13"/>
          <p:cNvCxnSpPr/>
          <p:nvPr/>
        </p:nvCxnSpPr>
        <p:spPr>
          <a:xfrm>
            <a:off x="4747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30" name="Google Shape;130;p14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Running a small business</a:t>
            </a:r>
            <a:endParaRPr/>
          </a:p>
        </p:txBody>
      </p:sp>
      <p:sp>
        <p:nvSpPr>
          <p:cNvPr id="131" name="Google Shape;131;p14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480373" y="1058650"/>
            <a:ext cx="6611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Here are the first three years of sales for a new small business.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476475" y="720000"/>
            <a:ext cx="66156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B: Tracking performance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5" name="Google Shape;13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473" y="1403677"/>
            <a:ext cx="6611700" cy="108604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4"/>
          <p:cNvSpPr txBox="1"/>
          <p:nvPr/>
        </p:nvSpPr>
        <p:spPr>
          <a:xfrm>
            <a:off x="468000" y="2597275"/>
            <a:ext cx="6611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Calculate the mean and range for each year and comment on any changes year-on-year.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468000" y="4289325"/>
            <a:ext cx="5149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Comment on any patterns you spot in the data.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" name="Google Shape;13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875" y="4722975"/>
            <a:ext cx="5069901" cy="252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