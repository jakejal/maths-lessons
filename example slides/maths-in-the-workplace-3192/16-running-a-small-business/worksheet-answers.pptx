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B4D2C1-8856-4807-9A21-F57029F9902D}">
  <a:tblStyle styleId="{0CB4D2C1-8856-4807-9A21-F57029F990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cf02819e9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0cf02819e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hyperlink" Target="https://docs.google.com/spreadsheets/d/1OSj0Jb7Mk-TAqbbcr55P_rxAT_l-TI3rkH2HUh2quW4/edit?usp=sharing" TargetMode="External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12"/>
          <p:cNvGraphicFramePr/>
          <p:nvPr/>
        </p:nvGraphicFramePr>
        <p:xfrm>
          <a:off x="477673" y="21830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{0CB4D2C1-8856-4807-9A21-F57029F9902D}</a:tableStyleId>
              </a:tblPr>
              <a:tblGrid>
                <a:gridCol w="1454750"/>
                <a:gridCol w="1454750"/>
                <a:gridCol w="1454750"/>
                <a:gridCol w="2248950"/>
              </a:tblGrid>
              <a:tr h="36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Gross profit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Revenue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Gross profit margin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one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£12 000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two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£1000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£20 000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three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£6000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£48 000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four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£20 000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£50 000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40%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five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£24 500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£56 000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43.75%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7" name="Google Shape;117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Running a small business</a:t>
            </a:r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468000" y="1679000"/>
            <a:ext cx="6624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blanks for this small business’ first few years of results and comment on how their profit margin is changing.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68000" y="12641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Profit in percentages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468000" y="4422200"/>
            <a:ext cx="6624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reported, “Whilst revenue increases are slowing the gross profit margins have increased to a healthy level”.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468000" y="5314300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gross profit margin for each of these items for this new paddleboard shop.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468000" y="6442565"/>
            <a:ext cx="6245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ft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paddleboard: Selling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£575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cost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£373.75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ext{Gross profit margin (%)}=\frac{\text{Selling price}\ -\text{Cost price}}{\text{Selling price}}\times100&quot;&gt;&lt;mtext&gt;Gross profit margin (%)&lt;/mtext&gt;&lt;mo&gt;=&lt;/mo&gt;&lt;mfrac&gt;&lt;mrow&gt;&lt;mtext&gt;Selling price&lt;/mtext&gt;&lt;mtext&gt;&lt;/mtext&gt;&lt;mo&gt;−&lt;/mo&gt;&lt;mtext&gt;Cost price&lt;/mtext&gt;&lt;/mrow&gt;&lt;mtext&gt;Selling price&lt;/mtext&gt;&lt;/mfrac&gt;&lt;mo&gt;×&lt;/mo&gt;&lt;mn&gt;100&lt;/mn&gt;&lt;/math&gt;" id="123" name="Google Shape;123;p12" title="Gross profit margin open paren percent sign close paren equals the fraction with numerator Selling price minus Cost price and denominator Selling price times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812" y="5701391"/>
            <a:ext cx="5058386" cy="49686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 txBox="1"/>
          <p:nvPr/>
        </p:nvSpPr>
        <p:spPr>
          <a:xfrm>
            <a:off x="468000" y="7987757"/>
            <a:ext cx="66240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Comment on which product is not achieving their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gross profit margin target and advise on what they should do.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468000" y="6834832"/>
            <a:ext cx="6064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ft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paddleboard: Selling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£650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cost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£390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468000" y="7227099"/>
            <a:ext cx="5813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Carbon paddle: Selling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cost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£82.50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468000" y="7607431"/>
            <a:ext cx="5443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Buoyancy aid: Selling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cost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£34.50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2"/>
          <p:cNvSpPr txBox="1"/>
          <p:nvPr/>
        </p:nvSpPr>
        <p:spPr>
          <a:xfrm>
            <a:off x="4953587" y="6442575"/>
            <a:ext cx="10821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4953604" y="6858450"/>
            <a:ext cx="8445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4953602" y="7238500"/>
            <a:ext cx="642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4950982" y="7618574"/>
            <a:ext cx="693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42.5%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468000" y="8528650"/>
            <a:ext cx="66240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e) The carbon paddle is not achieving 30% G.P. The business needs to either find a cheaper supplier, raise the selling price, or stop selling this product.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98" y="1225765"/>
            <a:ext cx="4589005" cy="2660516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8" name="Google Shape;138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Running a small business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468013" y="6489350"/>
            <a:ext cx="66240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Advise the business as to which products they should place most prominently in their shop.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468002" y="720000"/>
            <a:ext cx="662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a) By completing a spreadsheet or otherwise, calculate the minimum selling price and gross profit margins for this bicycle shop’s products.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468026" y="4154375"/>
            <a:ext cx="66240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Comment on any products not achieving minimum gross profit margins.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474750" y="4573800"/>
            <a:ext cx="66105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Anti-puncture tyres and cleated pedals (pair) do not achieve minimum G.P. margins.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467988" y="6925850"/>
            <a:ext cx="6624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should place brake cables most prominently in their shop.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4" name="Google Shape;144;p13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Running a small business</a:t>
            </a:r>
            <a:endParaRPr/>
          </a:p>
        </p:txBody>
      </p:sp>
      <p:sp>
        <p:nvSpPr>
          <p:cNvPr id="151" name="Google Shape;151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480373" y="1058650"/>
            <a:ext cx="6611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are the first three years of sales for a new small business.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476475" y="720000"/>
            <a:ext cx="6615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Tracking performance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" name="Google Shape;15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73" y="1403677"/>
            <a:ext cx="6611700" cy="108604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4"/>
          <p:cNvSpPr txBox="1"/>
          <p:nvPr/>
        </p:nvSpPr>
        <p:spPr>
          <a:xfrm>
            <a:off x="468000" y="2597275"/>
            <a:ext cx="6611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mean and range for each year and comment on any changes year-on-year.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468000" y="4486972"/>
            <a:ext cx="6611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Open the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spreadsheet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highlight this range of data, and click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insert/chart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graph the sales data year-on-year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468000" y="7946925"/>
            <a:ext cx="5149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Comment on any patterns you spot in the data.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886333" y="3531910"/>
            <a:ext cx="15348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Mean: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£14 283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886333" y="3273210"/>
            <a:ext cx="15348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Range: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£30 400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886336" y="3035993"/>
            <a:ext cx="9984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Year one: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3139748" y="3531910"/>
            <a:ext cx="14142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Mean: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£16 383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3139748" y="3273210"/>
            <a:ext cx="15348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Range: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£41 800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3139750" y="3035993"/>
            <a:ext cx="9984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Year two: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5321953" y="3531910"/>
            <a:ext cx="15348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Mean: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£19 008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5321949" y="3273210"/>
            <a:ext cx="15348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Range: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£52 100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5321954" y="3035989"/>
            <a:ext cx="12210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Year three: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471210" y="3866195"/>
            <a:ext cx="6608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 “The mean is increasing so the business is selling more year-on-year. The range is increasing so the sales are becoming less consistent, less predictable month-on-month”.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69" name="Google Shape;1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362" y="4903563"/>
            <a:ext cx="5921726" cy="294748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 txBox="1"/>
          <p:nvPr/>
        </p:nvSpPr>
        <p:spPr>
          <a:xfrm>
            <a:off x="468000" y="8267625"/>
            <a:ext cx="661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 might have said, “The graph shows that there is a seasonal peak to the business’ sales in Nov/Dec. Their performance is level year-on-year Jan to Sept but the Oct/Nov/Dec sales are improving with each year”.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