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59533E-C2E1-412E-949C-4C880D1FAD4F}">
  <a:tblStyle styleId="{3E59533E-C2E1-412E-949C-4C880D1FAD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fb90324a2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fb90324a2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efeeac22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efeeac22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fb90324a2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fb90324a2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fb90324a2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fb90324a2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fb90324a2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fb90324a2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2fb90324a2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2fb90324a2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2fb90324a2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2fb90324a2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fb90324a2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fb90324a2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2fb90324a2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2fb90324a2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2fb90324a2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2fb90324a2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fb90324a24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fb90324a2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2fb90324a24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2fb90324a24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2fb90324a24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fb90324a24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fb90324a2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fb90324a2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2fb90324a2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2fb90324a2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2fb90324a24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2fb90324a2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fb90324a24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2fb90324a24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fb90324a2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fb90324a2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2fb90324a24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2fb90324a24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fb90324a24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fb90324a24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04764d3c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304764d3c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04764d3c4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304764d3c4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0a21278c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30a21278c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2fb90324a24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2fb90324a24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2fb90324a24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2fb90324a24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0a21278c9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0a21278c9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0a21278c9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30a21278c9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0a21278c9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30a21278c9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0a21278c9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30a21278c9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0a21278c9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30a21278c9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2fbe64c76b7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2fbe64c76b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30a21278c9f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30a21278c9f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30a21278c9f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30a21278c9f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2fbe64c76b7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2fbe64c76b7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2fbe64c76b7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2fbe64c76b7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0a21278c9f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30a21278c9f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0a21278c9f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30a21278c9f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2fbe64c76b7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2fbe64c76b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9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84.png"/><Relationship Id="rId5" Type="http://schemas.openxmlformats.org/officeDocument/2006/relationships/image" Target="../media/image40.png"/><Relationship Id="rId6" Type="http://schemas.openxmlformats.org/officeDocument/2006/relationships/image" Target="../media/image42.png"/><Relationship Id="rId7" Type="http://schemas.openxmlformats.org/officeDocument/2006/relationships/image" Target="../media/image3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84.png"/><Relationship Id="rId4" Type="http://schemas.openxmlformats.org/officeDocument/2006/relationships/image" Target="../media/image38.png"/><Relationship Id="rId9" Type="http://schemas.openxmlformats.org/officeDocument/2006/relationships/image" Target="../media/image37.png"/><Relationship Id="rId5" Type="http://schemas.openxmlformats.org/officeDocument/2006/relationships/image" Target="../media/image36.png"/><Relationship Id="rId6" Type="http://schemas.openxmlformats.org/officeDocument/2006/relationships/image" Target="../media/image47.png"/><Relationship Id="rId7" Type="http://schemas.openxmlformats.org/officeDocument/2006/relationships/image" Target="../media/image40.png"/><Relationship Id="rId8" Type="http://schemas.openxmlformats.org/officeDocument/2006/relationships/image" Target="../media/image4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84.png"/><Relationship Id="rId4" Type="http://schemas.openxmlformats.org/officeDocument/2006/relationships/image" Target="../media/image46.png"/><Relationship Id="rId11" Type="http://schemas.openxmlformats.org/officeDocument/2006/relationships/image" Target="../media/image37.png"/><Relationship Id="rId10" Type="http://schemas.openxmlformats.org/officeDocument/2006/relationships/image" Target="../media/image52.png"/><Relationship Id="rId9" Type="http://schemas.openxmlformats.org/officeDocument/2006/relationships/image" Target="../media/image42.png"/><Relationship Id="rId5" Type="http://schemas.openxmlformats.org/officeDocument/2006/relationships/image" Target="../media/image38.png"/><Relationship Id="rId6" Type="http://schemas.openxmlformats.org/officeDocument/2006/relationships/image" Target="../media/image36.png"/><Relationship Id="rId7" Type="http://schemas.openxmlformats.org/officeDocument/2006/relationships/image" Target="../media/image47.png"/><Relationship Id="rId8" Type="http://schemas.openxmlformats.org/officeDocument/2006/relationships/image" Target="../media/image4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5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9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9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9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9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1" name="Google Shape;17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21" name="Google Shape;22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3" name="Google Shape;22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5" name="Google Shape;225;p2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7" name="Google Shape;227;p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>
            <a:endCxn id="27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9" name="Google Shape;2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78" name="Google Shape;2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9"/>
          <p:cNvCxnSpPr>
            <a:endCxn id="29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3" name="Google Shape;3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3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3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0" name="Google Shape;3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6" name="Google Shape;336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43" name="Google Shape;343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0" name="Google Shape;360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1" name="Google Shape;36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4" name="Google Shape;36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4" name="Google Shape;37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7" name="Google Shape;3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6" name="Google Shape;386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9" name="Google Shape;399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7" name="Google Shape;4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4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9" name="Google Shape;46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2" name="Google Shape;472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3" name="Google Shape;473;p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5" name="Google Shape;475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6" name="Google Shape;47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9" name="Google Shape;47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82" name="Google Shape;48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4" name="Google Shape;494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5" name="Google Shape;49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7" name="Google Shape;497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8" name="Google Shape;49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0" name="Google Shape;500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01" name="Google Shape;50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4" name="Google Shape;5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7" name="Google Shape;51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0" name="Google Shape;52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4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4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3" name="Google Shape;5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6" name="Google Shape;53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9" name="Google Shape;53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5" name="Google Shape;5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1" name="Google Shape;551;p4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2" name="Google Shape;552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53" name="Google Shape;55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5" name="Google Shape;555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56" name="Google Shape;55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59" name="Google Shape;55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2" name="Google Shape;56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76" name="Google Shape;57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79" name="Google Shape;57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82" name="Google Shape;58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4" name="Google Shape;584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85" name="Google Shape;58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1" name="Google Shape;5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4" name="Google Shape;594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6" name="Google Shape;596;p4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7" name="Google Shape;597;p4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8" name="Google Shape;598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9" name="Google Shape;59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1" name="Google Shape;601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2" name="Google Shape;60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4" name="Google Shape;604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5" name="Google Shape;60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7" name="Google Shape;607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8" name="Google Shape;608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5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5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0" name="Google Shape;620;p5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1" name="Google Shape;621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2" name="Google Shape;62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5" name="Google Shape;62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7" name="Google Shape;627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8" name="Google Shape;628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1" name="Google Shape;631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7" name="Google Shape;6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3" name="Google Shape;643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44" name="Google Shape;644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6" name="Google Shape;646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47" name="Google Shape;64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9" name="Google Shape;649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0" name="Google Shape;65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56" name="Google Shape;6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9" name="Google Shape;659;p5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5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2" name="Google Shape;662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5" name="Google Shape;665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6" name="Google Shape;66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8" name="Google Shape;668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9" name="Google Shape;66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5" name="Google Shape;67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8" name="Google Shape;678;p5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5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5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1" name="Google Shape;68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4" name="Google Shape;68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85" name="Google Shape;68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7" name="Google Shape;68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8" name="Google Shape;68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4" name="Google Shape;6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7" name="Google Shape;697;p5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0" name="Google Shape;700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3" name="Google Shape;703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4" name="Google Shape;70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6" name="Google Shape;706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7" name="Google Shape;70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13" name="Google Shape;7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0" name="Google Shape;7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34" name="Google Shape;73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1" name="Google Shape;7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4" name="Google Shape;744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0" name="Google Shape;7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8" name="Google Shape;7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6" name="Google Shape;7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6" name="Google Shape;776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2" name="Google Shape;78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4" name="Google Shape;78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2" name="Google Shape;792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6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pic>
          <p:nvPicPr>
            <p:cNvPr id="795" name="Google Shape;795;p66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8" name="Google Shape;79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4" name="Google Shape;804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6" name="Google Shape;806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theme" Target="../theme/theme1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5.jpg"/><Relationship Id="rId4" Type="http://schemas.openxmlformats.org/officeDocument/2006/relationships/image" Target="../media/image7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4.jpg"/><Relationship Id="rId4" Type="http://schemas.openxmlformats.org/officeDocument/2006/relationships/image" Target="../media/image72.jpg"/><Relationship Id="rId5" Type="http://schemas.openxmlformats.org/officeDocument/2006/relationships/image" Target="../media/image7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5.jpg"/><Relationship Id="rId4" Type="http://schemas.openxmlformats.org/officeDocument/2006/relationships/image" Target="../media/image71.png"/><Relationship Id="rId5" Type="http://schemas.openxmlformats.org/officeDocument/2006/relationships/image" Target="../media/image7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Astrophysicist</a:t>
            </a:r>
            <a:endParaRPr/>
          </a:p>
        </p:txBody>
      </p:sp>
      <p:sp>
        <p:nvSpPr>
          <p:cNvPr id="837" name="Google Shape;837;p7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in the workplace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how maths is used by astrophysicists.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6"/>
          <p:cNvSpPr txBox="1"/>
          <p:nvPr>
            <p:ph idx="4294967295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</a:t>
            </a:r>
            <a:r>
              <a:rPr b="1" lang="en-GB"/>
              <a:t>astrophysicist</a:t>
            </a:r>
            <a:r>
              <a:rPr lang="en-GB"/>
              <a:t> tries to understand the universe and its contents by applying the laws of physics.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an astrophysicist</a:t>
            </a:r>
            <a:endParaRPr/>
          </a:p>
        </p:txBody>
      </p:sp>
      <p:sp>
        <p:nvSpPr>
          <p:cNvPr id="858" name="Google Shape;858;p7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  <p:sp>
        <p:nvSpPr>
          <p:cNvPr id="859" name="Google Shape;859;p7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Astrophysicist</a:t>
            </a:r>
            <a:endParaRPr/>
          </a:p>
        </p:txBody>
      </p:sp>
      <p:pic>
        <p:nvPicPr>
          <p:cNvPr id="860" name="Google Shape;86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42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8"/>
          <p:cNvSpPr txBox="1"/>
          <p:nvPr>
            <p:ph idx="1" type="body"/>
          </p:nvPr>
        </p:nvSpPr>
        <p:spPr>
          <a:xfrm>
            <a:off x="324000" y="759300"/>
            <a:ext cx="8237700" cy="9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</a:t>
            </a:r>
            <a:r>
              <a:rPr b="1" lang="en-GB"/>
              <a:t>astrophysicist</a:t>
            </a:r>
            <a:r>
              <a:rPr lang="en-GB"/>
              <a:t> tries to understand the universe and its contents by applying the laws of physics.</a:t>
            </a:r>
            <a:endParaRPr/>
          </a:p>
        </p:txBody>
      </p:sp>
      <p:sp>
        <p:nvSpPr>
          <p:cNvPr id="866" name="Google Shape;866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an astrophysicist</a:t>
            </a:r>
            <a:endParaRPr/>
          </a:p>
        </p:txBody>
      </p:sp>
      <p:sp>
        <p:nvSpPr>
          <p:cNvPr id="867" name="Google Shape;867;p78"/>
          <p:cNvSpPr txBox="1"/>
          <p:nvPr>
            <p:ph idx="1" type="body"/>
          </p:nvPr>
        </p:nvSpPr>
        <p:spPr>
          <a:xfrm>
            <a:off x="324000" y="759300"/>
            <a:ext cx="8237700" cy="9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</a:t>
            </a:r>
            <a:r>
              <a:rPr b="1" lang="en-GB"/>
              <a:t>astrophysicist</a:t>
            </a:r>
            <a:r>
              <a:rPr lang="en-GB"/>
              <a:t> tries to understand </a:t>
            </a:r>
            <a:r>
              <a:rPr lang="en-GB">
                <a:solidFill>
                  <a:schemeClr val="accent4"/>
                </a:solidFill>
              </a:rPr>
              <a:t>the universe and its contents</a:t>
            </a:r>
            <a:r>
              <a:rPr lang="en-GB"/>
              <a:t> by applying the laws of physics.</a:t>
            </a:r>
            <a:endParaRPr/>
          </a:p>
        </p:txBody>
      </p:sp>
      <p:pic>
        <p:nvPicPr>
          <p:cNvPr id="868" name="Google Shape;868;p78"/>
          <p:cNvPicPr preferRelativeResize="0"/>
          <p:nvPr/>
        </p:nvPicPr>
        <p:blipFill rotWithShape="1">
          <a:blip r:embed="rId3">
            <a:alphaModFix/>
          </a:blip>
          <a:srcRect b="0" l="20917" r="0" t="0"/>
          <a:stretch/>
        </p:blipFill>
        <p:spPr>
          <a:xfrm flipH="1">
            <a:off x="324000" y="2451575"/>
            <a:ext cx="733524" cy="2368824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8"/>
          <p:cNvSpPr txBox="1"/>
          <p:nvPr/>
        </p:nvSpPr>
        <p:spPr>
          <a:xfrm>
            <a:off x="105752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0" name="Google Shape;870;p78"/>
          <p:cNvPicPr preferRelativeResize="0"/>
          <p:nvPr/>
        </p:nvPicPr>
        <p:blipFill rotWithShape="1">
          <a:blip r:embed="rId4">
            <a:alphaModFix/>
          </a:blip>
          <a:srcRect b="6172" l="40550" r="0" t="13240"/>
          <a:stretch/>
        </p:blipFill>
        <p:spPr>
          <a:xfrm>
            <a:off x="905125" y="1620000"/>
            <a:ext cx="1949379" cy="1411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78"/>
          <p:cNvSpPr txBox="1"/>
          <p:nvPr/>
        </p:nvSpPr>
        <p:spPr>
          <a:xfrm>
            <a:off x="1051633" y="1770741"/>
            <a:ext cx="18201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are the contents of the universe?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an astrophysicist</a:t>
            </a:r>
            <a:endParaRPr/>
          </a:p>
        </p:txBody>
      </p:sp>
      <p:grpSp>
        <p:nvGrpSpPr>
          <p:cNvPr id="877" name="Google Shape;877;p79"/>
          <p:cNvGrpSpPr/>
          <p:nvPr/>
        </p:nvGrpSpPr>
        <p:grpSpPr>
          <a:xfrm>
            <a:off x="324000" y="810000"/>
            <a:ext cx="2454600" cy="2138925"/>
            <a:chOff x="324000" y="810000"/>
            <a:chExt cx="2454600" cy="2138925"/>
          </a:xfrm>
        </p:grpSpPr>
        <p:pic>
          <p:nvPicPr>
            <p:cNvPr id="878" name="Google Shape;878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4003" y="810000"/>
              <a:ext cx="2454472" cy="1761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9" name="Google Shape;879;p79"/>
            <p:cNvSpPr txBox="1"/>
            <p:nvPr/>
          </p:nvSpPr>
          <p:spPr>
            <a:xfrm>
              <a:off x="324000" y="2653125"/>
              <a:ext cx="2454600" cy="2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Galaxies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0" name="Google Shape;880;p79"/>
          <p:cNvGrpSpPr/>
          <p:nvPr/>
        </p:nvGrpSpPr>
        <p:grpSpPr>
          <a:xfrm>
            <a:off x="2923450" y="810000"/>
            <a:ext cx="2641300" cy="2138925"/>
            <a:chOff x="2923450" y="810000"/>
            <a:chExt cx="2641300" cy="2138925"/>
          </a:xfrm>
        </p:grpSpPr>
        <p:pic>
          <p:nvPicPr>
            <p:cNvPr id="881" name="Google Shape;881;p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923450" y="810000"/>
              <a:ext cx="2641300" cy="1761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2" name="Google Shape;882;p79"/>
            <p:cNvSpPr txBox="1"/>
            <p:nvPr/>
          </p:nvSpPr>
          <p:spPr>
            <a:xfrm>
              <a:off x="2923450" y="2653125"/>
              <a:ext cx="2641200" cy="2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Stars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83" name="Google Shape;883;p79"/>
          <p:cNvSpPr txBox="1"/>
          <p:nvPr/>
        </p:nvSpPr>
        <p:spPr>
          <a:xfrm>
            <a:off x="6440700" y="810000"/>
            <a:ext cx="2379300" cy="21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Moons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Comets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Asteroids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list goes on!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4" name="Google Shape;884;p79"/>
          <p:cNvGrpSpPr/>
          <p:nvPr/>
        </p:nvGrpSpPr>
        <p:grpSpPr>
          <a:xfrm>
            <a:off x="324000" y="3058650"/>
            <a:ext cx="6792725" cy="1761750"/>
            <a:chOff x="324000" y="3058650"/>
            <a:chExt cx="6792725" cy="1761750"/>
          </a:xfrm>
        </p:grpSpPr>
        <p:pic>
          <p:nvPicPr>
            <p:cNvPr id="885" name="Google Shape;885;p7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24000" y="3058650"/>
              <a:ext cx="5281123" cy="1761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6" name="Google Shape;886;p79"/>
            <p:cNvSpPr txBox="1"/>
            <p:nvPr/>
          </p:nvSpPr>
          <p:spPr>
            <a:xfrm>
              <a:off x="5709125" y="3791625"/>
              <a:ext cx="1407600" cy="2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Planets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8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/>
              <a:t>he laws of biology</a:t>
            </a:r>
            <a:endParaRPr sz="1800"/>
          </a:p>
        </p:txBody>
      </p:sp>
      <p:sp>
        <p:nvSpPr>
          <p:cNvPr id="892" name="Google Shape;892;p8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Being an astrophysicist</a:t>
            </a:r>
            <a:endParaRPr/>
          </a:p>
        </p:txBody>
      </p:sp>
      <p:sp>
        <p:nvSpPr>
          <p:cNvPr id="893" name="Google Shape;893;p8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An </a:t>
            </a:r>
            <a:r>
              <a:rPr b="1" lang="en-GB" sz="1800"/>
              <a:t>astrophysicist</a:t>
            </a:r>
            <a:r>
              <a:rPr lang="en-GB" sz="1800"/>
              <a:t> tries to understand the universe and its contents by applying:</a:t>
            </a:r>
            <a:endParaRPr sz="1800"/>
          </a:p>
        </p:txBody>
      </p:sp>
      <p:sp>
        <p:nvSpPr>
          <p:cNvPr id="894" name="Google Shape;894;p8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laws of chemistry</a:t>
            </a:r>
            <a:endParaRPr/>
          </a:p>
        </p:txBody>
      </p:sp>
      <p:sp>
        <p:nvSpPr>
          <p:cNvPr id="895" name="Google Shape;895;p8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laws of economics</a:t>
            </a:r>
            <a:endParaRPr/>
          </a:p>
        </p:txBody>
      </p:sp>
      <p:sp>
        <p:nvSpPr>
          <p:cNvPr id="896" name="Google Shape;896;p8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laws of physics</a:t>
            </a:r>
            <a:endParaRPr/>
          </a:p>
        </p:txBody>
      </p:sp>
      <p:pic>
        <p:nvPicPr>
          <p:cNvPr id="897" name="Google Shape;89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108" y="39788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an astrophysicist</a:t>
            </a:r>
            <a:endParaRPr/>
          </a:p>
        </p:txBody>
      </p:sp>
      <p:pic>
        <p:nvPicPr>
          <p:cNvPr id="903" name="Google Shape;903;p81"/>
          <p:cNvPicPr preferRelativeResize="0"/>
          <p:nvPr/>
        </p:nvPicPr>
        <p:blipFill rotWithShape="1">
          <a:blip r:embed="rId3">
            <a:alphaModFix/>
          </a:blip>
          <a:srcRect b="0" l="20917" r="0" t="0"/>
          <a:stretch/>
        </p:blipFill>
        <p:spPr>
          <a:xfrm flipH="1">
            <a:off x="324000" y="2146775"/>
            <a:ext cx="733524" cy="2368824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1"/>
          <p:cNvSpPr txBox="1"/>
          <p:nvPr/>
        </p:nvSpPr>
        <p:spPr>
          <a:xfrm>
            <a:off x="1057525" y="42021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5" name="Google Shape;905;p81"/>
          <p:cNvPicPr preferRelativeResize="0"/>
          <p:nvPr/>
        </p:nvPicPr>
        <p:blipFill rotWithShape="1">
          <a:blip r:embed="rId4">
            <a:alphaModFix/>
          </a:blip>
          <a:srcRect b="6172" l="40550" r="0" t="13240"/>
          <a:stretch/>
        </p:blipFill>
        <p:spPr>
          <a:xfrm>
            <a:off x="905125" y="1361925"/>
            <a:ext cx="2694999" cy="1365076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81"/>
          <p:cNvSpPr txBox="1"/>
          <p:nvPr/>
        </p:nvSpPr>
        <p:spPr>
          <a:xfrm>
            <a:off x="1176526" y="1429434"/>
            <a:ext cx="2330400" cy="11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astrophysicists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astronomers the same thing?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7" name="Google Shape;90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153600" y="2080959"/>
            <a:ext cx="1406325" cy="2564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81"/>
          <p:cNvSpPr txBox="1"/>
          <p:nvPr/>
        </p:nvSpPr>
        <p:spPr>
          <a:xfrm>
            <a:off x="6914932" y="4067016"/>
            <a:ext cx="8388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9" name="Google Shape;909;p81"/>
          <p:cNvPicPr preferRelativeResize="0"/>
          <p:nvPr/>
        </p:nvPicPr>
        <p:blipFill rotWithShape="1">
          <a:blip r:embed="rId4">
            <a:alphaModFix/>
          </a:blip>
          <a:srcRect b="6172" l="40550" r="0" t="13240"/>
          <a:stretch/>
        </p:blipFill>
        <p:spPr>
          <a:xfrm flipH="1">
            <a:off x="5133107" y="1497475"/>
            <a:ext cx="1863363" cy="1202526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81"/>
          <p:cNvSpPr txBox="1"/>
          <p:nvPr/>
        </p:nvSpPr>
        <p:spPr>
          <a:xfrm flipH="1">
            <a:off x="5384950" y="1559900"/>
            <a:ext cx="13725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 and no.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an astrophysicist</a:t>
            </a:r>
            <a:endParaRPr/>
          </a:p>
        </p:txBody>
      </p:sp>
      <p:sp>
        <p:nvSpPr>
          <p:cNvPr id="916" name="Google Shape;916;p82"/>
          <p:cNvSpPr txBox="1"/>
          <p:nvPr>
            <p:ph idx="1" type="body"/>
          </p:nvPr>
        </p:nvSpPr>
        <p:spPr>
          <a:xfrm>
            <a:off x="324000" y="759300"/>
            <a:ext cx="8237700" cy="379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Astrophysics</a:t>
            </a:r>
            <a:r>
              <a:rPr lang="en-GB"/>
              <a:t> is a branch of astronomy.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Astronomers study the universe using observational </a:t>
            </a:r>
            <a:r>
              <a:rPr lang="en-GB"/>
              <a:t>techniques</a:t>
            </a:r>
            <a:r>
              <a:rPr lang="en-GB"/>
              <a:t> to assess and categorise various celestial bodies.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GB"/>
              <a:t>Astrophysicists</a:t>
            </a:r>
            <a:r>
              <a:rPr lang="en-GB"/>
              <a:t> have a more narrowed focus. They study the physics of the universe such as how the celestial bodies interact or other physical </a:t>
            </a:r>
            <a:r>
              <a:rPr lang="en-GB"/>
              <a:t>processes</a:t>
            </a:r>
            <a:r>
              <a:rPr lang="en-GB"/>
              <a:t>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an astrophysicist</a:t>
            </a:r>
            <a:endParaRPr/>
          </a:p>
        </p:txBody>
      </p:sp>
      <p:sp>
        <p:nvSpPr>
          <p:cNvPr id="922" name="Google Shape;922;p83"/>
          <p:cNvSpPr txBox="1"/>
          <p:nvPr>
            <p:ph idx="1" type="body"/>
          </p:nvPr>
        </p:nvSpPr>
        <p:spPr>
          <a:xfrm>
            <a:off x="324000" y="759300"/>
            <a:ext cx="8237700" cy="28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Astrophysicists</a:t>
            </a:r>
            <a:r>
              <a:rPr lang="en-GB"/>
              <a:t> often have to interpret data. This may involve converting between different types of unit of measurement and using formulas to find new data.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Standard form may be used if the values recorded are extremely large.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8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× 10</a:t>
            </a:r>
            <a:r>
              <a:rPr baseline="30000"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900"/>
              <a:t> (where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0 ≤ A &lt; 10</a:t>
            </a:r>
            <a:r>
              <a:rPr lang="en-GB" sz="1900"/>
              <a:t> and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900"/>
              <a:t> is an integer).</a:t>
            </a:r>
            <a:endParaRPr/>
          </a:p>
        </p:txBody>
      </p:sp>
      <p:sp>
        <p:nvSpPr>
          <p:cNvPr id="928" name="Google Shape;928;p8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Being an astrophysicist</a:t>
            </a:r>
            <a:endParaRPr/>
          </a:p>
        </p:txBody>
      </p:sp>
      <p:sp>
        <p:nvSpPr>
          <p:cNvPr id="929" name="Google Shape;929;p8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Standard form is when a number is written in the form: </a:t>
            </a:r>
            <a:endParaRPr sz="1900"/>
          </a:p>
        </p:txBody>
      </p:sp>
      <p:sp>
        <p:nvSpPr>
          <p:cNvPr id="930" name="Google Shape;930;p8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× 10</a:t>
            </a:r>
            <a:r>
              <a:rPr baseline="30000"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900"/>
              <a:t> (where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 ≤ A &lt; 10</a:t>
            </a:r>
            <a:r>
              <a:rPr lang="en-GB" sz="1900"/>
              <a:t> and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900"/>
              <a:t> is an integer).</a:t>
            </a:r>
            <a:endParaRPr/>
          </a:p>
        </p:txBody>
      </p:sp>
      <p:sp>
        <p:nvSpPr>
          <p:cNvPr id="931" name="Google Shape;931;p8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× 10</a:t>
            </a:r>
            <a:r>
              <a:rPr baseline="30000"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900"/>
              <a:t> (where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 &lt; A ≤ 10</a:t>
            </a:r>
            <a:r>
              <a:rPr lang="en-GB" sz="1900"/>
              <a:t> and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900"/>
              <a:t> is an integer).</a:t>
            </a:r>
            <a:endParaRPr/>
          </a:p>
        </p:txBody>
      </p:sp>
      <p:sp>
        <p:nvSpPr>
          <p:cNvPr id="932" name="Google Shape;932;p8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× 10</a:t>
            </a:r>
            <a:r>
              <a:rPr baseline="30000"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900"/>
              <a:t> (where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0 &lt; A ≤ 9</a:t>
            </a:r>
            <a:r>
              <a:rPr lang="en-GB" sz="1900"/>
              <a:t> and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900"/>
              <a:t> is an integer).</a:t>
            </a:r>
            <a:endParaRPr/>
          </a:p>
        </p:txBody>
      </p:sp>
      <p:pic>
        <p:nvPicPr>
          <p:cNvPr id="933" name="Google Shape;93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9458" y="23957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8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5.834</a:t>
            </a:r>
            <a:r>
              <a:rPr lang="en-GB" sz="2100"/>
              <a:t> × 10</a:t>
            </a:r>
            <a:r>
              <a:rPr baseline="30000" lang="en-GB" sz="2100"/>
              <a:t>12</a:t>
            </a:r>
            <a:endParaRPr/>
          </a:p>
        </p:txBody>
      </p:sp>
      <p:sp>
        <p:nvSpPr>
          <p:cNvPr id="939" name="Google Shape;939;p8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an astrophysicist</a:t>
            </a:r>
            <a:endParaRPr/>
          </a:p>
        </p:txBody>
      </p:sp>
      <p:sp>
        <p:nvSpPr>
          <p:cNvPr id="940" name="Google Shape;940;p8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Select the correct way of writing 5 834 000 000 000 in standard form.</a:t>
            </a:r>
            <a:endParaRPr sz="1900"/>
          </a:p>
        </p:txBody>
      </p:sp>
      <p:sp>
        <p:nvSpPr>
          <p:cNvPr id="941" name="Google Shape;941;p8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5 × 10</a:t>
            </a:r>
            <a:r>
              <a:rPr baseline="30000" lang="en-GB" sz="2100"/>
              <a:t>12</a:t>
            </a:r>
            <a:endParaRPr/>
          </a:p>
        </p:txBody>
      </p:sp>
      <p:sp>
        <p:nvSpPr>
          <p:cNvPr id="942" name="Google Shape;942;p8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5.834 × 10</a:t>
            </a:r>
            <a:r>
              <a:rPr baseline="30000" lang="en-GB" sz="2100"/>
              <a:t>−12</a:t>
            </a:r>
            <a:endParaRPr/>
          </a:p>
        </p:txBody>
      </p:sp>
      <p:sp>
        <p:nvSpPr>
          <p:cNvPr id="943" name="Google Shape;943;p8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5834 × 10</a:t>
            </a:r>
            <a:r>
              <a:rPr baseline="30000" lang="en-GB" sz="2100"/>
              <a:t>−12</a:t>
            </a:r>
            <a:endParaRPr/>
          </a:p>
        </p:txBody>
      </p:sp>
      <p:pic>
        <p:nvPicPr>
          <p:cNvPr id="944" name="Google Shape;94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2583" y="15908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an astrophysicist</a:t>
            </a:r>
            <a:endParaRPr/>
          </a:p>
        </p:txBody>
      </p:sp>
      <p:sp>
        <p:nvSpPr>
          <p:cNvPr id="950" name="Google Shape;950;p86"/>
          <p:cNvSpPr txBox="1"/>
          <p:nvPr>
            <p:ph idx="1" type="body"/>
          </p:nvPr>
        </p:nvSpPr>
        <p:spPr>
          <a:xfrm>
            <a:off x="324000" y="759300"/>
            <a:ext cx="8112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1) Fill in the gaps.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latin typeface="Arial"/>
                <a:ea typeface="Arial"/>
                <a:cs typeface="Arial"/>
                <a:sym typeface="Arial"/>
              </a:rPr>
              <a:t>____</a:t>
            </a:r>
            <a:r>
              <a:rPr lang="en-GB" sz="2100"/>
              <a:t> is a branch of astronomy. </a:t>
            </a:r>
            <a:br>
              <a:rPr lang="en-GB" sz="2100"/>
            </a:br>
            <a:r>
              <a:rPr lang="en-GB" sz="2100">
                <a:latin typeface="Arial"/>
                <a:ea typeface="Arial"/>
                <a:cs typeface="Arial"/>
                <a:sym typeface="Arial"/>
              </a:rPr>
              <a:t>____</a:t>
            </a:r>
            <a:r>
              <a:rPr lang="en-GB" sz="2100"/>
              <a:t> study the universe using </a:t>
            </a:r>
            <a:r>
              <a:rPr lang="en-GB" sz="2100">
                <a:latin typeface="Arial"/>
                <a:ea typeface="Arial"/>
                <a:cs typeface="Arial"/>
                <a:sym typeface="Arial"/>
              </a:rPr>
              <a:t>____ ____</a:t>
            </a:r>
            <a:r>
              <a:rPr lang="en-GB" sz="2100"/>
              <a:t> to assess and categorise various </a:t>
            </a:r>
            <a:r>
              <a:rPr lang="en-GB" sz="2100">
                <a:latin typeface="Arial"/>
                <a:ea typeface="Arial"/>
                <a:cs typeface="Arial"/>
                <a:sym typeface="Arial"/>
              </a:rPr>
              <a:t>____</a:t>
            </a:r>
            <a:r>
              <a:rPr lang="en-GB" sz="2100"/>
              <a:t> bodies. </a:t>
            </a:r>
            <a:br>
              <a:rPr lang="en-GB" sz="2100"/>
            </a:br>
            <a:r>
              <a:rPr b="1" lang="en-GB" sz="2100"/>
              <a:t>Astrophysicists</a:t>
            </a:r>
            <a:r>
              <a:rPr lang="en-GB" sz="2100"/>
              <a:t> have a more </a:t>
            </a:r>
            <a:r>
              <a:rPr lang="en-GB" sz="2100">
                <a:latin typeface="Arial"/>
                <a:ea typeface="Arial"/>
                <a:cs typeface="Arial"/>
                <a:sym typeface="Arial"/>
              </a:rPr>
              <a:t>____</a:t>
            </a:r>
            <a:r>
              <a:rPr lang="en-GB" sz="2100"/>
              <a:t> focus. They study the physics of the universe such as how the celestial </a:t>
            </a:r>
            <a:r>
              <a:rPr lang="en-GB" sz="2100">
                <a:latin typeface="Arial"/>
                <a:ea typeface="Arial"/>
                <a:cs typeface="Arial"/>
                <a:sym typeface="Arial"/>
              </a:rPr>
              <a:t>_____</a:t>
            </a:r>
            <a:r>
              <a:rPr lang="en-GB" sz="2100"/>
              <a:t> </a:t>
            </a:r>
            <a:r>
              <a:rPr lang="en-GB" sz="2100">
                <a:solidFill>
                  <a:schemeClr val="lt1"/>
                </a:solidFill>
              </a:rPr>
              <a:t>.</a:t>
            </a:r>
            <a:r>
              <a:rPr lang="en-GB" sz="2100"/>
              <a:t> interact or other </a:t>
            </a:r>
            <a:r>
              <a:rPr lang="en-GB" sz="2100">
                <a:latin typeface="Arial"/>
                <a:ea typeface="Arial"/>
                <a:cs typeface="Arial"/>
                <a:sym typeface="Arial"/>
              </a:rPr>
              <a:t>____</a:t>
            </a:r>
            <a:r>
              <a:rPr lang="en-GB" sz="2100"/>
              <a:t> processes.</a:t>
            </a:r>
            <a:endParaRPr sz="2100"/>
          </a:p>
        </p:txBody>
      </p:sp>
      <p:sp>
        <p:nvSpPr>
          <p:cNvPr id="951" name="Google Shape;951;p86"/>
          <p:cNvSpPr txBox="1"/>
          <p:nvPr/>
        </p:nvSpPr>
        <p:spPr>
          <a:xfrm>
            <a:off x="324000" y="3814725"/>
            <a:ext cx="19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Astrophysics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86"/>
          <p:cNvSpPr txBox="1"/>
          <p:nvPr/>
        </p:nvSpPr>
        <p:spPr>
          <a:xfrm>
            <a:off x="324000" y="4278675"/>
            <a:ext cx="19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Astronomers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6"/>
          <p:cNvSpPr txBox="1"/>
          <p:nvPr/>
        </p:nvSpPr>
        <p:spPr>
          <a:xfrm>
            <a:off x="4231200" y="4278675"/>
            <a:ext cx="19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observational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6"/>
          <p:cNvSpPr txBox="1"/>
          <p:nvPr/>
        </p:nvSpPr>
        <p:spPr>
          <a:xfrm>
            <a:off x="6482400" y="4278675"/>
            <a:ext cx="19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techniques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86"/>
          <p:cNvSpPr txBox="1"/>
          <p:nvPr/>
        </p:nvSpPr>
        <p:spPr>
          <a:xfrm>
            <a:off x="2277600" y="4278675"/>
            <a:ext cx="19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celestial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86"/>
          <p:cNvSpPr txBox="1"/>
          <p:nvPr/>
        </p:nvSpPr>
        <p:spPr>
          <a:xfrm>
            <a:off x="4231200" y="3814725"/>
            <a:ext cx="19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narrowed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6"/>
          <p:cNvSpPr txBox="1"/>
          <p:nvPr/>
        </p:nvSpPr>
        <p:spPr>
          <a:xfrm>
            <a:off x="2277600" y="3814725"/>
            <a:ext cx="19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bodies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6"/>
          <p:cNvSpPr txBox="1"/>
          <p:nvPr/>
        </p:nvSpPr>
        <p:spPr>
          <a:xfrm>
            <a:off x="6482400" y="3814725"/>
            <a:ext cx="19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physical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an astrophysicist</a:t>
            </a:r>
            <a:endParaRPr/>
          </a:p>
        </p:txBody>
      </p:sp>
      <p:sp>
        <p:nvSpPr>
          <p:cNvPr id="964" name="Google Shape;964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2) a) The table below shows the approximate average distances from Earth to some of the other planets in our solar system. Write the distances in standard form.</a:t>
            </a:r>
            <a:endParaRPr sz="2100"/>
          </a:p>
        </p:txBody>
      </p:sp>
      <p:graphicFrame>
        <p:nvGraphicFramePr>
          <p:cNvPr id="965" name="Google Shape;965;p87"/>
          <p:cNvGraphicFramePr/>
          <p:nvPr/>
        </p:nvGraphicFramePr>
        <p:xfrm>
          <a:off x="324000" y="201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{3E59533E-C2E1-412E-949C-4C880D1FAD4F}</a:tableStyleId>
              </a:tblPr>
              <a:tblGrid>
                <a:gridCol w="1809750"/>
                <a:gridCol w="1809750"/>
                <a:gridCol w="1809750"/>
                <a:gridCol w="2020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From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Distance (km)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Standard form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Mercury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91 691 000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Venus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41 400 000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78 340 000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Jupiter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628 730 000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Saturn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1 275 000 000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an astrophysicist</a:t>
            </a:r>
            <a:endParaRPr/>
          </a:p>
        </p:txBody>
      </p:sp>
      <p:sp>
        <p:nvSpPr>
          <p:cNvPr id="971" name="Google Shape;971;p88"/>
          <p:cNvSpPr txBox="1"/>
          <p:nvPr>
            <p:ph idx="1" type="body"/>
          </p:nvPr>
        </p:nvSpPr>
        <p:spPr>
          <a:xfrm>
            <a:off x="324000" y="759300"/>
            <a:ext cx="8010600" cy="12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b) In 2021, the fastest speed recorded by a spacecraft was 163 km/s. Using that speed and the formula </a:t>
            </a:r>
            <a:endParaRPr sz="21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Distance = Speed × Time</a:t>
            </a:r>
            <a:endParaRPr sz="2100"/>
          </a:p>
        </p:txBody>
      </p:sp>
      <p:sp>
        <p:nvSpPr>
          <p:cNvPr id="972" name="Google Shape;972;p88"/>
          <p:cNvSpPr txBox="1"/>
          <p:nvPr/>
        </p:nvSpPr>
        <p:spPr>
          <a:xfrm>
            <a:off x="5007750" y="2018800"/>
            <a:ext cx="38124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Calculate how long it would take, in days, to travel from Earth to each planet.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 your answer appropriately to the nearest day.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73" name="Google Shape;973;p88"/>
          <p:cNvGraphicFramePr/>
          <p:nvPr/>
        </p:nvGraphicFramePr>
        <p:xfrm>
          <a:off x="324000" y="201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{3E59533E-C2E1-412E-949C-4C880D1FAD4F}</a:tableStyleId>
              </a:tblPr>
              <a:tblGrid>
                <a:gridCol w="1155300"/>
                <a:gridCol w="1813375"/>
                <a:gridCol w="153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Distance (km)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(days)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Mercury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91 691 000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Venus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41 400 000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78 340 000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Jupiter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628 730 000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Saturn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1 275 000 000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an astrophysicist</a:t>
            </a:r>
            <a:endParaRPr/>
          </a:p>
        </p:txBody>
      </p:sp>
      <p:sp>
        <p:nvSpPr>
          <p:cNvPr id="979" name="Google Shape;979;p89"/>
          <p:cNvSpPr txBox="1"/>
          <p:nvPr>
            <p:ph idx="1" type="body"/>
          </p:nvPr>
        </p:nvSpPr>
        <p:spPr>
          <a:xfrm>
            <a:off x="324000" y="759300"/>
            <a:ext cx="81120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1) Fill in the gaps.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100">
                <a:latin typeface="Kalam"/>
                <a:ea typeface="Kalam"/>
                <a:cs typeface="Kalam"/>
                <a:sym typeface="Kalam"/>
              </a:rPr>
              <a:t>Astrophysics</a:t>
            </a:r>
            <a:r>
              <a:rPr lang="en-GB" sz="2100"/>
              <a:t> is a branch of astronomy.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2100"/>
            </a:br>
            <a:r>
              <a:rPr lang="en-GB" sz="2100">
                <a:latin typeface="Kalam"/>
                <a:ea typeface="Kalam"/>
                <a:cs typeface="Kalam"/>
                <a:sym typeface="Kalam"/>
              </a:rPr>
              <a:t>Astronomers</a:t>
            </a:r>
            <a:r>
              <a:rPr lang="en-GB" sz="2100"/>
              <a:t> study the universe using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observational</a:t>
            </a:r>
            <a:r>
              <a:rPr lang="en-GB" sz="2100"/>
              <a:t>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techniques</a:t>
            </a:r>
            <a:r>
              <a:rPr lang="en-GB" sz="2100"/>
              <a:t> to assess and categorise various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celestial</a:t>
            </a:r>
            <a:r>
              <a:rPr lang="en-GB" sz="2100"/>
              <a:t> bodies.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100"/>
            </a:br>
            <a:r>
              <a:rPr b="1" lang="en-GB" sz="2100"/>
              <a:t>Astrophysicists</a:t>
            </a:r>
            <a:r>
              <a:rPr lang="en-GB" sz="2100"/>
              <a:t> have a more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narrowed</a:t>
            </a:r>
            <a:r>
              <a:rPr lang="en-GB" sz="2100"/>
              <a:t> focus. They study the physics of the universe such as how the celestial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bodies</a:t>
            </a:r>
            <a:r>
              <a:rPr lang="en-GB" sz="2100">
                <a:solidFill>
                  <a:srgbClr val="F3EEFB"/>
                </a:solidFill>
              </a:rPr>
              <a:t> </a:t>
            </a:r>
            <a:r>
              <a:rPr lang="en-GB" sz="2100" u="sng"/>
              <a:t>          </a:t>
            </a:r>
            <a:r>
              <a:rPr lang="en-GB" sz="2100"/>
              <a:t> interact or other</a:t>
            </a:r>
            <a:r>
              <a:rPr lang="en-GB" sz="2100"/>
              <a:t>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physical</a:t>
            </a:r>
            <a:r>
              <a:rPr lang="en-GB" sz="2100"/>
              <a:t> processes.</a:t>
            </a:r>
            <a:endParaRPr sz="2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an astrophysicist</a:t>
            </a:r>
            <a:endParaRPr/>
          </a:p>
        </p:txBody>
      </p:sp>
      <p:sp>
        <p:nvSpPr>
          <p:cNvPr id="985" name="Google Shape;985;p90"/>
          <p:cNvSpPr txBox="1"/>
          <p:nvPr>
            <p:ph idx="1" type="body"/>
          </p:nvPr>
        </p:nvSpPr>
        <p:spPr>
          <a:xfrm>
            <a:off x="324000" y="759300"/>
            <a:ext cx="8112000" cy="12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2</a:t>
            </a:r>
            <a:r>
              <a:rPr lang="en-GB" sz="2100"/>
              <a:t>) a) The table below shows the approximate average distances from Earth to some of the other planets in our solar system. Write the distances in standard form.</a:t>
            </a:r>
            <a:endParaRPr sz="2100"/>
          </a:p>
        </p:txBody>
      </p:sp>
      <p:graphicFrame>
        <p:nvGraphicFramePr>
          <p:cNvPr id="986" name="Google Shape;986;p90"/>
          <p:cNvGraphicFramePr/>
          <p:nvPr/>
        </p:nvGraphicFramePr>
        <p:xfrm>
          <a:off x="324000" y="201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{3E59533E-C2E1-412E-949C-4C880D1FAD4F}</a:tableStyleId>
              </a:tblPr>
              <a:tblGrid>
                <a:gridCol w="1860950"/>
                <a:gridCol w="1860950"/>
                <a:gridCol w="1860950"/>
                <a:gridCol w="197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From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Distance (km)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Standard form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Mercury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91 691 000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9.1691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× 10</a:t>
                      </a:r>
                      <a:r>
                        <a:rPr baseline="30000"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5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Venus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41 400 000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4.14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× 10</a:t>
                      </a:r>
                      <a:r>
                        <a:rPr baseline="30000"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78 340 000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7.834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× 10</a:t>
                      </a:r>
                      <a:r>
                        <a:rPr baseline="30000"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Jupiter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628 730 000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6.2873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× 10</a:t>
                      </a:r>
                      <a:r>
                        <a:rPr baseline="30000"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Saturn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1 275 000 000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1.275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× 10</a:t>
                      </a:r>
                      <a:r>
                        <a:rPr baseline="30000"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an astrophysicist</a:t>
            </a:r>
            <a:endParaRPr/>
          </a:p>
        </p:txBody>
      </p:sp>
      <p:sp>
        <p:nvSpPr>
          <p:cNvPr id="992" name="Google Shape;992;p91"/>
          <p:cNvSpPr txBox="1"/>
          <p:nvPr>
            <p:ph idx="1" type="body"/>
          </p:nvPr>
        </p:nvSpPr>
        <p:spPr>
          <a:xfrm>
            <a:off x="324000" y="759300"/>
            <a:ext cx="8010600" cy="7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b) In 2021, the fastest speed recorded by a spacecraft was 163 km/s. Using that speed and the formula </a:t>
            </a:r>
            <a:endParaRPr sz="21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Distance = Speed × Time</a:t>
            </a:r>
            <a:endParaRPr sz="2100"/>
          </a:p>
        </p:txBody>
      </p:sp>
      <p:graphicFrame>
        <p:nvGraphicFramePr>
          <p:cNvPr id="993" name="Google Shape;993;p91"/>
          <p:cNvGraphicFramePr/>
          <p:nvPr/>
        </p:nvGraphicFramePr>
        <p:xfrm>
          <a:off x="324000" y="201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{3E59533E-C2E1-412E-949C-4C880D1FAD4F}</a:tableStyleId>
              </a:tblPr>
              <a:tblGrid>
                <a:gridCol w="1155300"/>
                <a:gridCol w="1729050"/>
                <a:gridCol w="1615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Distance (km)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(days)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Mercury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91 691 000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Venus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41 400 000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78 340 000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Jupiter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628 730 000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Saturn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1 275 000 000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frac{91691000}{163}\times\frac{1}{60}\times\frac{1}{60}\times\frac{1}{24}\\&amp;#13;&amp;#10;=6.5\ \text{days}\end{array}&quot;&gt;&lt;mtable columnalign=&quot;left&quot; columnspacing=&quot;1em&quot; rowspacing=&quot;4pt&quot;&gt;&lt;mtr&gt;&lt;mtd&gt;&lt;mfrac&gt;&lt;mn&gt;91691000&lt;/mn&gt;&lt;mn&gt;163&lt;/mn&gt;&lt;/mfrac&gt;&lt;mo&gt;×&lt;/mo&gt;&lt;mfrac&gt;&lt;mn&gt;1&lt;/mn&gt;&lt;mn&gt;60&lt;/mn&gt;&lt;/mfrac&gt;&lt;mo&gt;×&lt;/mo&gt;&lt;mfrac&gt;&lt;mn&gt;1&lt;/mn&gt;&lt;mn&gt;60&lt;/mn&gt;&lt;/mfrac&gt;&lt;mo&gt;×&lt;/mo&gt;&lt;mfrac&gt;&lt;mn&gt;1&lt;/mn&gt;&lt;mn&gt;24&lt;/mn&gt;&lt;/mfrac&gt;&lt;/mtd&gt;&lt;/mtr&gt;&lt;mtr&gt;&lt;mtd&gt;&lt;mo&gt;=&lt;/mo&gt;&lt;mn&gt;6.5&lt;/mn&gt;&lt;mtext&gt;&lt;/mtext&gt;&lt;mtext&gt;days&lt;/mtext&gt;&lt;/mtd&gt;&lt;/mtr&gt;&lt;/mtable&gt;&lt;/math&gt;" id="994" name="Google Shape;994;p91" title="2 lines Line 1: 91691000 over 163 times 1 over 60 times 1 over 60 times 1 over 24 Line 2: equals 6.5 day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0238" y="2475950"/>
            <a:ext cx="3724275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91"/>
          <p:cNvSpPr txBox="1"/>
          <p:nvPr/>
        </p:nvSpPr>
        <p:spPr>
          <a:xfrm>
            <a:off x="4932325" y="3656700"/>
            <a:ext cx="38877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will take more than 6 days so we round to 7 days.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an astrophysicist</a:t>
            </a:r>
            <a:endParaRPr/>
          </a:p>
        </p:txBody>
      </p:sp>
      <p:sp>
        <p:nvSpPr>
          <p:cNvPr id="1001" name="Google Shape;1001;p92"/>
          <p:cNvSpPr txBox="1"/>
          <p:nvPr>
            <p:ph idx="1" type="body"/>
          </p:nvPr>
        </p:nvSpPr>
        <p:spPr>
          <a:xfrm>
            <a:off x="324000" y="759300"/>
            <a:ext cx="8010600" cy="7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b) In 2021, the fastest speed recorded by a spacecraft was 163 km/s. Using that speed and the formula </a:t>
            </a:r>
            <a:endParaRPr sz="21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Distance = Speed × Time</a:t>
            </a:r>
            <a:endParaRPr sz="2100"/>
          </a:p>
        </p:txBody>
      </p:sp>
      <p:graphicFrame>
        <p:nvGraphicFramePr>
          <p:cNvPr id="1002" name="Google Shape;1002;p92"/>
          <p:cNvGraphicFramePr/>
          <p:nvPr/>
        </p:nvGraphicFramePr>
        <p:xfrm>
          <a:off x="324000" y="201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{3E59533E-C2E1-412E-949C-4C880D1FAD4F}</a:tableStyleId>
              </a:tblPr>
              <a:tblGrid>
                <a:gridCol w="1203475"/>
                <a:gridCol w="1801350"/>
                <a:gridCol w="1681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Distance (km)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(days)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Mercury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91 691 000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Venus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41 400 000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78 340 000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Jupiter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628 730 000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Saturn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1 275 000 000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9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an astrophysicist</a:t>
            </a:r>
            <a:endParaRPr/>
          </a:p>
        </p:txBody>
      </p:sp>
      <p:sp>
        <p:nvSpPr>
          <p:cNvPr id="1008" name="Google Shape;1008;p93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  <p:sp>
        <p:nvSpPr>
          <p:cNvPr id="1009" name="Google Shape;1009;p9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Astrophysicist</a:t>
            </a:r>
            <a:endParaRPr/>
          </a:p>
        </p:txBody>
      </p:sp>
      <p:pic>
        <p:nvPicPr>
          <p:cNvPr id="1010" name="Google Shape;1010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42" y="298912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94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first Moon landing took place in 1969. Since humans could walk on the Moon, it meant measurements could be taken on the Moon’s surface. </a:t>
            </a:r>
            <a:endParaRPr/>
          </a:p>
        </p:txBody>
      </p:sp>
      <p:sp>
        <p:nvSpPr>
          <p:cNvPr id="1016" name="Google Shape;1016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  <p:pic>
        <p:nvPicPr>
          <p:cNvPr id="1017" name="Google Shape;101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966121"/>
            <a:ext cx="3996001" cy="2854279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94"/>
          <p:cNvSpPr txBox="1"/>
          <p:nvPr/>
        </p:nvSpPr>
        <p:spPr>
          <a:xfrm>
            <a:off x="4572000" y="2866200"/>
            <a:ext cx="42480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sort of measurements might be useful to record?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95"/>
          <p:cNvSpPr txBox="1"/>
          <p:nvPr>
            <p:ph idx="1" type="body"/>
          </p:nvPr>
        </p:nvSpPr>
        <p:spPr>
          <a:xfrm>
            <a:off x="324000" y="759300"/>
            <a:ext cx="8496000" cy="352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height of various features (such as mountains) is often done using a laser altimeter.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However, not all space missions have one.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In those cases, we can still determine an estimate for the height of various features using trigonometry. </a:t>
            </a:r>
            <a:r>
              <a:rPr lang="en-GB"/>
              <a:t> </a:t>
            </a:r>
            <a:endParaRPr/>
          </a:p>
        </p:txBody>
      </p:sp>
      <p:sp>
        <p:nvSpPr>
          <p:cNvPr id="1024" name="Google Shape;1024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96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Simulations can be run on Earth to help study features on other planetary bodies.</a:t>
            </a:r>
            <a:endParaRPr/>
          </a:p>
        </p:txBody>
      </p:sp>
      <p:sp>
        <p:nvSpPr>
          <p:cNvPr id="1030" name="Google Shape;1030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  <p:sp>
        <p:nvSpPr>
          <p:cNvPr id="1031" name="Google Shape;1031;p96"/>
          <p:cNvSpPr txBox="1"/>
          <p:nvPr/>
        </p:nvSpPr>
        <p:spPr>
          <a:xfrm>
            <a:off x="2573425" y="1620000"/>
            <a:ext cx="54057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Professor Veronica Bray, PhD.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She is an associate research professor.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She is dressed like this because she is carrying out a simulation with her colleagues.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2" name="Google Shape;103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20000"/>
            <a:ext cx="1968699" cy="2624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  <p:sp>
        <p:nvSpPr>
          <p:cNvPr id="1038" name="Google Shape;1038;p97"/>
          <p:cNvSpPr txBox="1"/>
          <p:nvPr/>
        </p:nvSpPr>
        <p:spPr>
          <a:xfrm>
            <a:off x="4419600" y="810000"/>
            <a:ext cx="44004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are simulating the Artemis astronaut conditions at the South Pole of the Moon.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Professor Bray and her colleagues are recreating the correct lighting conditions for astronaut training.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9" name="Google Shape;103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810000"/>
            <a:ext cx="3996001" cy="299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  <p:sp>
        <p:nvSpPr>
          <p:cNvPr id="1045" name="Google Shape;1045;p98"/>
          <p:cNvSpPr txBox="1"/>
          <p:nvPr/>
        </p:nvSpPr>
        <p:spPr>
          <a:xfrm>
            <a:off x="324000" y="3240000"/>
            <a:ext cx="84960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need to know the Sun angle (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𝜃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°) so they can calculate the correct ratio of the height (opposite) of the light source and the distance (adjacent) from the feature.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6" name="Google Shape;1046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00" y="810000"/>
            <a:ext cx="5722769" cy="243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99"/>
          <p:cNvSpPr txBox="1"/>
          <p:nvPr>
            <p:ph idx="1" type="body"/>
          </p:nvPr>
        </p:nvSpPr>
        <p:spPr>
          <a:xfrm>
            <a:off x="324000" y="759300"/>
            <a:ext cx="8496000" cy="352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Mountains on the Moon were </a:t>
            </a:r>
            <a:r>
              <a:rPr lang="en-GB"/>
              <a:t>formed through massive asteroid impacts. These impacts resulted in the craters we can see. The walls of the craters can be very high. </a:t>
            </a:r>
            <a:endParaRPr/>
          </a:p>
        </p:txBody>
      </p:sp>
      <p:sp>
        <p:nvSpPr>
          <p:cNvPr id="1052" name="Google Shape;1052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  <p:pic>
        <p:nvPicPr>
          <p:cNvPr id="1053" name="Google Shape;1053;p99"/>
          <p:cNvPicPr preferRelativeResize="0"/>
          <p:nvPr/>
        </p:nvPicPr>
        <p:blipFill rotWithShape="1">
          <a:blip r:embed="rId3">
            <a:alphaModFix/>
          </a:blip>
          <a:srcRect b="62398" l="43794" r="40163" t="24390"/>
          <a:stretch/>
        </p:blipFill>
        <p:spPr>
          <a:xfrm>
            <a:off x="324000" y="2160000"/>
            <a:ext cx="2910324" cy="171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100"/>
          <p:cNvSpPr txBox="1"/>
          <p:nvPr>
            <p:ph idx="1" type="body"/>
          </p:nvPr>
        </p:nvSpPr>
        <p:spPr>
          <a:xfrm>
            <a:off x="324000" y="759300"/>
            <a:ext cx="8496000" cy="77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To </a:t>
            </a:r>
            <a:r>
              <a:rPr lang="en-GB"/>
              <a:t>estimate</a:t>
            </a:r>
            <a:r>
              <a:rPr lang="en-GB"/>
              <a:t> the height of the crater wall at the selected point, we can use trigonometry.</a:t>
            </a:r>
            <a:r>
              <a:rPr lang="en-GB"/>
              <a:t> </a:t>
            </a:r>
            <a:endParaRPr/>
          </a:p>
        </p:txBody>
      </p:sp>
      <p:sp>
        <p:nvSpPr>
          <p:cNvPr id="1059" name="Google Shape;1059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  <p:pic>
        <p:nvPicPr>
          <p:cNvPr id="1060" name="Google Shape;1060;p100"/>
          <p:cNvPicPr preferRelativeResize="0"/>
          <p:nvPr/>
        </p:nvPicPr>
        <p:blipFill rotWithShape="1">
          <a:blip r:embed="rId3">
            <a:alphaModFix/>
          </a:blip>
          <a:srcRect b="62398" l="43794" r="40163" t="24390"/>
          <a:stretch/>
        </p:blipFill>
        <p:spPr>
          <a:xfrm>
            <a:off x="324000" y="2160000"/>
            <a:ext cx="2910324" cy="1712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1" name="Google Shape;1061;p100"/>
          <p:cNvGrpSpPr/>
          <p:nvPr/>
        </p:nvGrpSpPr>
        <p:grpSpPr>
          <a:xfrm>
            <a:off x="1236858" y="3046875"/>
            <a:ext cx="279000" cy="90600"/>
            <a:chOff x="1244400" y="3046875"/>
            <a:chExt cx="279000" cy="90600"/>
          </a:xfrm>
        </p:grpSpPr>
        <p:cxnSp>
          <p:nvCxnSpPr>
            <p:cNvPr id="1062" name="Google Shape;1062;p100"/>
            <p:cNvCxnSpPr/>
            <p:nvPr/>
          </p:nvCxnSpPr>
          <p:spPr>
            <a:xfrm>
              <a:off x="1244400" y="3046875"/>
              <a:ext cx="279000" cy="906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3" name="Google Shape;1063;p100"/>
            <p:cNvCxnSpPr/>
            <p:nvPr/>
          </p:nvCxnSpPr>
          <p:spPr>
            <a:xfrm flipH="1">
              <a:off x="1244400" y="3046875"/>
              <a:ext cx="279000" cy="906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64" name="Google Shape;1064;p100"/>
          <p:cNvSpPr txBox="1"/>
          <p:nvPr/>
        </p:nvSpPr>
        <p:spPr>
          <a:xfrm>
            <a:off x="3369600" y="2160000"/>
            <a:ext cx="5450400" cy="17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will need to know: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length of the shadow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angle the Sun is at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  <p:pic>
        <p:nvPicPr>
          <p:cNvPr id="1070" name="Google Shape;1070;p101"/>
          <p:cNvPicPr preferRelativeResize="0"/>
          <p:nvPr/>
        </p:nvPicPr>
        <p:blipFill rotWithShape="1">
          <a:blip r:embed="rId3">
            <a:alphaModFix/>
          </a:blip>
          <a:srcRect b="62398" l="43794" r="40163" t="24390"/>
          <a:stretch/>
        </p:blipFill>
        <p:spPr>
          <a:xfrm>
            <a:off x="324000" y="810000"/>
            <a:ext cx="2910324" cy="1712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1" name="Google Shape;1071;p101"/>
          <p:cNvGrpSpPr/>
          <p:nvPr/>
        </p:nvGrpSpPr>
        <p:grpSpPr>
          <a:xfrm>
            <a:off x="1236858" y="1696875"/>
            <a:ext cx="279000" cy="90600"/>
            <a:chOff x="1244400" y="3046875"/>
            <a:chExt cx="279000" cy="90600"/>
          </a:xfrm>
        </p:grpSpPr>
        <p:cxnSp>
          <p:nvCxnSpPr>
            <p:cNvPr id="1072" name="Google Shape;1072;p101"/>
            <p:cNvCxnSpPr/>
            <p:nvPr/>
          </p:nvCxnSpPr>
          <p:spPr>
            <a:xfrm>
              <a:off x="1244400" y="3046875"/>
              <a:ext cx="279000" cy="906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3" name="Google Shape;1073;p101"/>
            <p:cNvCxnSpPr/>
            <p:nvPr/>
          </p:nvCxnSpPr>
          <p:spPr>
            <a:xfrm flipH="1">
              <a:off x="1244400" y="3046875"/>
              <a:ext cx="279000" cy="906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74" name="Google Shape;1074;p101"/>
          <p:cNvSpPr txBox="1"/>
          <p:nvPr/>
        </p:nvSpPr>
        <p:spPr>
          <a:xfrm>
            <a:off x="3369600" y="809950"/>
            <a:ext cx="54504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sketch will simplify what we are considering.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5" name="Google Shape;1075;p101"/>
          <p:cNvCxnSpPr/>
          <p:nvPr/>
        </p:nvCxnSpPr>
        <p:spPr>
          <a:xfrm>
            <a:off x="1425400" y="3069500"/>
            <a:ext cx="2865900" cy="1266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6" name="Google Shape;1076;p101"/>
          <p:cNvSpPr txBox="1"/>
          <p:nvPr/>
        </p:nvSpPr>
        <p:spPr>
          <a:xfrm>
            <a:off x="2887200" y="2973000"/>
            <a:ext cx="1169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sunlight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7" name="Google Shape;1077;p101"/>
          <p:cNvCxnSpPr>
            <a:stCxn id="1076" idx="1"/>
          </p:cNvCxnSpPr>
          <p:nvPr/>
        </p:nvCxnSpPr>
        <p:spPr>
          <a:xfrm flipH="1">
            <a:off x="2511300" y="3161550"/>
            <a:ext cx="375900" cy="38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78" name="Google Shape;1078;p101"/>
          <p:cNvGrpSpPr/>
          <p:nvPr/>
        </p:nvGrpSpPr>
        <p:grpSpPr>
          <a:xfrm>
            <a:off x="624975" y="2870850"/>
            <a:ext cx="988975" cy="377100"/>
            <a:chOff x="624975" y="2870850"/>
            <a:chExt cx="988975" cy="377100"/>
          </a:xfrm>
        </p:grpSpPr>
        <p:sp>
          <p:nvSpPr>
            <p:cNvPr id="1079" name="Google Shape;1079;p101"/>
            <p:cNvSpPr/>
            <p:nvPr/>
          </p:nvSpPr>
          <p:spPr>
            <a:xfrm>
              <a:off x="1236850" y="2870850"/>
              <a:ext cx="377100" cy="3771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0" name="Google Shape;1080;p101"/>
            <p:cNvSpPr txBox="1"/>
            <p:nvPr/>
          </p:nvSpPr>
          <p:spPr>
            <a:xfrm>
              <a:off x="624975" y="2870850"/>
              <a:ext cx="5664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Sun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1" name="Google Shape;1081;p101"/>
          <p:cNvGrpSpPr/>
          <p:nvPr/>
        </p:nvGrpSpPr>
        <p:grpSpPr>
          <a:xfrm>
            <a:off x="784350" y="4131450"/>
            <a:ext cx="5895000" cy="377100"/>
            <a:chOff x="784350" y="4131450"/>
            <a:chExt cx="5895000" cy="377100"/>
          </a:xfrm>
        </p:grpSpPr>
        <p:cxnSp>
          <p:nvCxnSpPr>
            <p:cNvPr id="1082" name="Google Shape;1082;p101"/>
            <p:cNvCxnSpPr/>
            <p:nvPr/>
          </p:nvCxnSpPr>
          <p:spPr>
            <a:xfrm>
              <a:off x="784350" y="4328975"/>
              <a:ext cx="4660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83" name="Google Shape;1083;p101"/>
            <p:cNvSpPr txBox="1"/>
            <p:nvPr/>
          </p:nvSpPr>
          <p:spPr>
            <a:xfrm>
              <a:off x="5510250" y="4131450"/>
              <a:ext cx="11691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surface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4" name="Google Shape;1084;p101"/>
          <p:cNvGrpSpPr/>
          <p:nvPr/>
        </p:nvGrpSpPr>
        <p:grpSpPr>
          <a:xfrm>
            <a:off x="1466500" y="3710550"/>
            <a:ext cx="1422000" cy="626100"/>
            <a:chOff x="1466500" y="3710550"/>
            <a:chExt cx="1422000" cy="626100"/>
          </a:xfrm>
        </p:grpSpPr>
        <p:cxnSp>
          <p:nvCxnSpPr>
            <p:cNvPr id="1085" name="Google Shape;1085;p101"/>
            <p:cNvCxnSpPr/>
            <p:nvPr/>
          </p:nvCxnSpPr>
          <p:spPr>
            <a:xfrm>
              <a:off x="2888500" y="3710550"/>
              <a:ext cx="0" cy="626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86" name="Google Shape;1086;p101"/>
            <p:cNvSpPr txBox="1"/>
            <p:nvPr/>
          </p:nvSpPr>
          <p:spPr>
            <a:xfrm>
              <a:off x="1466500" y="3835050"/>
              <a:ext cx="10449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feature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87" name="Google Shape;1087;p101"/>
            <p:cNvCxnSpPr>
              <a:stCxn id="1086" idx="3"/>
            </p:cNvCxnSpPr>
            <p:nvPr/>
          </p:nvCxnSpPr>
          <p:spPr>
            <a:xfrm>
              <a:off x="2511400" y="4023600"/>
              <a:ext cx="362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88" name="Google Shape;1088;p101"/>
          <p:cNvSpPr/>
          <p:nvPr/>
        </p:nvSpPr>
        <p:spPr>
          <a:xfrm>
            <a:off x="2883800" y="4113624"/>
            <a:ext cx="209100" cy="20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  <p:pic>
        <p:nvPicPr>
          <p:cNvPr id="1094" name="Google Shape;1094;p102"/>
          <p:cNvPicPr preferRelativeResize="0"/>
          <p:nvPr/>
        </p:nvPicPr>
        <p:blipFill rotWithShape="1">
          <a:blip r:embed="rId3">
            <a:alphaModFix/>
          </a:blip>
          <a:srcRect b="62398" l="43794" r="40163" t="24390"/>
          <a:stretch/>
        </p:blipFill>
        <p:spPr>
          <a:xfrm>
            <a:off x="324000" y="810000"/>
            <a:ext cx="2910324" cy="1712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5" name="Google Shape;1095;p102"/>
          <p:cNvGrpSpPr/>
          <p:nvPr/>
        </p:nvGrpSpPr>
        <p:grpSpPr>
          <a:xfrm>
            <a:off x="1236858" y="1696875"/>
            <a:ext cx="279000" cy="90600"/>
            <a:chOff x="1244400" y="3046875"/>
            <a:chExt cx="279000" cy="90600"/>
          </a:xfrm>
        </p:grpSpPr>
        <p:cxnSp>
          <p:nvCxnSpPr>
            <p:cNvPr id="1096" name="Google Shape;1096;p102"/>
            <p:cNvCxnSpPr/>
            <p:nvPr/>
          </p:nvCxnSpPr>
          <p:spPr>
            <a:xfrm>
              <a:off x="1244400" y="3046875"/>
              <a:ext cx="279000" cy="906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7" name="Google Shape;1097;p102"/>
            <p:cNvCxnSpPr/>
            <p:nvPr/>
          </p:nvCxnSpPr>
          <p:spPr>
            <a:xfrm flipH="1">
              <a:off x="1244400" y="3046875"/>
              <a:ext cx="279000" cy="906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98" name="Google Shape;1098;p102"/>
          <p:cNvCxnSpPr/>
          <p:nvPr/>
        </p:nvCxnSpPr>
        <p:spPr>
          <a:xfrm>
            <a:off x="1425400" y="3069500"/>
            <a:ext cx="2865900" cy="1266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9" name="Google Shape;1099;p102"/>
          <p:cNvSpPr txBox="1"/>
          <p:nvPr/>
        </p:nvSpPr>
        <p:spPr>
          <a:xfrm>
            <a:off x="2887200" y="2973000"/>
            <a:ext cx="1169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sunlight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0" name="Google Shape;1100;p102"/>
          <p:cNvCxnSpPr>
            <a:stCxn id="1099" idx="1"/>
          </p:cNvCxnSpPr>
          <p:nvPr/>
        </p:nvCxnSpPr>
        <p:spPr>
          <a:xfrm flipH="1">
            <a:off x="2511300" y="3161550"/>
            <a:ext cx="375900" cy="38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01" name="Google Shape;1101;p102"/>
          <p:cNvGrpSpPr/>
          <p:nvPr/>
        </p:nvGrpSpPr>
        <p:grpSpPr>
          <a:xfrm>
            <a:off x="617800" y="2870850"/>
            <a:ext cx="996150" cy="377100"/>
            <a:chOff x="617800" y="2870850"/>
            <a:chExt cx="996150" cy="377100"/>
          </a:xfrm>
        </p:grpSpPr>
        <p:sp>
          <p:nvSpPr>
            <p:cNvPr id="1102" name="Google Shape;1102;p102"/>
            <p:cNvSpPr/>
            <p:nvPr/>
          </p:nvSpPr>
          <p:spPr>
            <a:xfrm>
              <a:off x="1236850" y="2870850"/>
              <a:ext cx="377100" cy="3771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3" name="Google Shape;1103;p102"/>
            <p:cNvSpPr txBox="1"/>
            <p:nvPr/>
          </p:nvSpPr>
          <p:spPr>
            <a:xfrm>
              <a:off x="617800" y="2870850"/>
              <a:ext cx="5736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Sun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4" name="Google Shape;1104;p102"/>
          <p:cNvGrpSpPr/>
          <p:nvPr/>
        </p:nvGrpSpPr>
        <p:grpSpPr>
          <a:xfrm>
            <a:off x="784350" y="4131450"/>
            <a:ext cx="5895000" cy="377100"/>
            <a:chOff x="784350" y="4131450"/>
            <a:chExt cx="5895000" cy="377100"/>
          </a:xfrm>
        </p:grpSpPr>
        <p:cxnSp>
          <p:nvCxnSpPr>
            <p:cNvPr id="1105" name="Google Shape;1105;p102"/>
            <p:cNvCxnSpPr/>
            <p:nvPr/>
          </p:nvCxnSpPr>
          <p:spPr>
            <a:xfrm>
              <a:off x="784350" y="4328975"/>
              <a:ext cx="4660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6" name="Google Shape;1106;p102"/>
            <p:cNvSpPr txBox="1"/>
            <p:nvPr/>
          </p:nvSpPr>
          <p:spPr>
            <a:xfrm>
              <a:off x="5510250" y="4131450"/>
              <a:ext cx="11691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surface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7" name="Google Shape;1107;p102"/>
          <p:cNvGrpSpPr/>
          <p:nvPr/>
        </p:nvGrpSpPr>
        <p:grpSpPr>
          <a:xfrm>
            <a:off x="1466500" y="3710550"/>
            <a:ext cx="1422000" cy="626100"/>
            <a:chOff x="1466500" y="3710550"/>
            <a:chExt cx="1422000" cy="626100"/>
          </a:xfrm>
        </p:grpSpPr>
        <p:cxnSp>
          <p:nvCxnSpPr>
            <p:cNvPr id="1108" name="Google Shape;1108;p102"/>
            <p:cNvCxnSpPr/>
            <p:nvPr/>
          </p:nvCxnSpPr>
          <p:spPr>
            <a:xfrm>
              <a:off x="2888500" y="3710550"/>
              <a:ext cx="0" cy="626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9" name="Google Shape;1109;p102"/>
            <p:cNvSpPr txBox="1"/>
            <p:nvPr/>
          </p:nvSpPr>
          <p:spPr>
            <a:xfrm>
              <a:off x="1466500" y="3835050"/>
              <a:ext cx="10449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feature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10" name="Google Shape;1110;p102"/>
            <p:cNvCxnSpPr>
              <a:stCxn id="1109" idx="3"/>
            </p:cNvCxnSpPr>
            <p:nvPr/>
          </p:nvCxnSpPr>
          <p:spPr>
            <a:xfrm>
              <a:off x="2511400" y="4023600"/>
              <a:ext cx="362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11" name="Google Shape;1111;p102"/>
          <p:cNvSpPr txBox="1"/>
          <p:nvPr/>
        </p:nvSpPr>
        <p:spPr>
          <a:xfrm>
            <a:off x="3369600" y="810000"/>
            <a:ext cx="5450400" cy="1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will need to know: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length of the shadow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angle the Sun is at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2" name="Google Shape;1112;p102"/>
          <p:cNvGrpSpPr/>
          <p:nvPr/>
        </p:nvGrpSpPr>
        <p:grpSpPr>
          <a:xfrm>
            <a:off x="2887200" y="4419500"/>
            <a:ext cx="1404150" cy="383875"/>
            <a:chOff x="2887200" y="4419500"/>
            <a:chExt cx="1404150" cy="383875"/>
          </a:xfrm>
        </p:grpSpPr>
        <p:cxnSp>
          <p:nvCxnSpPr>
            <p:cNvPr id="1113" name="Google Shape;1113;p102"/>
            <p:cNvCxnSpPr/>
            <p:nvPr/>
          </p:nvCxnSpPr>
          <p:spPr>
            <a:xfrm>
              <a:off x="2896050" y="4419500"/>
              <a:ext cx="1395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14" name="Google Shape;1114;p102"/>
            <p:cNvSpPr txBox="1"/>
            <p:nvPr/>
          </p:nvSpPr>
          <p:spPr>
            <a:xfrm>
              <a:off x="2887200" y="4426275"/>
              <a:ext cx="1395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shadow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5" name="Google Shape;1115;p102"/>
          <p:cNvGrpSpPr/>
          <p:nvPr/>
        </p:nvGrpSpPr>
        <p:grpSpPr>
          <a:xfrm>
            <a:off x="3477100" y="4034184"/>
            <a:ext cx="456100" cy="377100"/>
            <a:chOff x="3477100" y="4034184"/>
            <a:chExt cx="456100" cy="377100"/>
          </a:xfrm>
        </p:grpSpPr>
        <p:cxnSp>
          <p:nvCxnSpPr>
            <p:cNvPr id="1116" name="Google Shape;1116;p102"/>
            <p:cNvCxnSpPr/>
            <p:nvPr/>
          </p:nvCxnSpPr>
          <p:spPr>
            <a:xfrm flipH="1" rot="10800000">
              <a:off x="3770900" y="4174525"/>
              <a:ext cx="162300" cy="162000"/>
            </a:xfrm>
            <a:prstGeom prst="curvedConnector3">
              <a:avLst>
                <a:gd fmla="val 4636" name="adj1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7" name="Google Shape;1117;p102"/>
            <p:cNvSpPr txBox="1"/>
            <p:nvPr/>
          </p:nvSpPr>
          <p:spPr>
            <a:xfrm>
              <a:off x="3477100" y="4034184"/>
              <a:ext cx="3240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𝜃</a:t>
              </a: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18" name="Google Shape;1118;p102"/>
          <p:cNvSpPr/>
          <p:nvPr/>
        </p:nvSpPr>
        <p:spPr>
          <a:xfrm>
            <a:off x="2883800" y="4113624"/>
            <a:ext cx="209100" cy="20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  <p:pic>
        <p:nvPicPr>
          <p:cNvPr id="1124" name="Google Shape;1124;p103"/>
          <p:cNvPicPr preferRelativeResize="0"/>
          <p:nvPr/>
        </p:nvPicPr>
        <p:blipFill rotWithShape="1">
          <a:blip r:embed="rId3">
            <a:alphaModFix/>
          </a:blip>
          <a:srcRect b="62398" l="43794" r="40163" t="24390"/>
          <a:stretch/>
        </p:blipFill>
        <p:spPr>
          <a:xfrm>
            <a:off x="324000" y="810000"/>
            <a:ext cx="2910324" cy="1712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5" name="Google Shape;1125;p103"/>
          <p:cNvGrpSpPr/>
          <p:nvPr/>
        </p:nvGrpSpPr>
        <p:grpSpPr>
          <a:xfrm>
            <a:off x="1236858" y="1696875"/>
            <a:ext cx="279000" cy="90600"/>
            <a:chOff x="1244400" y="3046875"/>
            <a:chExt cx="279000" cy="90600"/>
          </a:xfrm>
        </p:grpSpPr>
        <p:cxnSp>
          <p:nvCxnSpPr>
            <p:cNvPr id="1126" name="Google Shape;1126;p103"/>
            <p:cNvCxnSpPr/>
            <p:nvPr/>
          </p:nvCxnSpPr>
          <p:spPr>
            <a:xfrm>
              <a:off x="1244400" y="3046875"/>
              <a:ext cx="279000" cy="906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7" name="Google Shape;1127;p103"/>
            <p:cNvCxnSpPr/>
            <p:nvPr/>
          </p:nvCxnSpPr>
          <p:spPr>
            <a:xfrm flipH="1">
              <a:off x="1244400" y="3046875"/>
              <a:ext cx="279000" cy="906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28" name="Google Shape;1128;p103"/>
          <p:cNvSpPr txBox="1"/>
          <p:nvPr/>
        </p:nvSpPr>
        <p:spPr>
          <a:xfrm>
            <a:off x="3369600" y="810000"/>
            <a:ext cx="5450400" cy="1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length of the shadow can be measured from an image as long as the scale is known.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103"/>
          <p:cNvSpPr txBox="1"/>
          <p:nvPr/>
        </p:nvSpPr>
        <p:spPr>
          <a:xfrm>
            <a:off x="324000" y="2768100"/>
            <a:ext cx="84960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angle of the Sun can be determined if we known when the image was recorded.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  <p:grpSp>
        <p:nvGrpSpPr>
          <p:cNvPr id="1135" name="Google Shape;1135;p104"/>
          <p:cNvGrpSpPr/>
          <p:nvPr/>
        </p:nvGrpSpPr>
        <p:grpSpPr>
          <a:xfrm>
            <a:off x="4572000" y="1657538"/>
            <a:ext cx="3899700" cy="1932525"/>
            <a:chOff x="643350" y="2870850"/>
            <a:chExt cx="3899700" cy="1932525"/>
          </a:xfrm>
        </p:grpSpPr>
        <p:cxnSp>
          <p:nvCxnSpPr>
            <p:cNvPr id="1136" name="Google Shape;1136;p104"/>
            <p:cNvCxnSpPr/>
            <p:nvPr/>
          </p:nvCxnSpPr>
          <p:spPr>
            <a:xfrm>
              <a:off x="1425400" y="3069500"/>
              <a:ext cx="2865900" cy="1266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37" name="Google Shape;1137;p104"/>
            <p:cNvSpPr txBox="1"/>
            <p:nvPr/>
          </p:nvSpPr>
          <p:spPr>
            <a:xfrm>
              <a:off x="2887200" y="2973000"/>
              <a:ext cx="11691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sunlight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8" name="Google Shape;1138;p104"/>
            <p:cNvCxnSpPr>
              <a:stCxn id="1137" idx="1"/>
            </p:cNvCxnSpPr>
            <p:nvPr/>
          </p:nvCxnSpPr>
          <p:spPr>
            <a:xfrm flipH="1">
              <a:off x="2511300" y="3161550"/>
              <a:ext cx="375900" cy="383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39" name="Google Shape;1139;p104"/>
            <p:cNvGrpSpPr/>
            <p:nvPr/>
          </p:nvGrpSpPr>
          <p:grpSpPr>
            <a:xfrm>
              <a:off x="643350" y="2870850"/>
              <a:ext cx="970600" cy="377113"/>
              <a:chOff x="643350" y="2870850"/>
              <a:chExt cx="970600" cy="377113"/>
            </a:xfrm>
          </p:grpSpPr>
          <p:sp>
            <p:nvSpPr>
              <p:cNvPr id="1140" name="Google Shape;1140;p104"/>
              <p:cNvSpPr/>
              <p:nvPr/>
            </p:nvSpPr>
            <p:spPr>
              <a:xfrm>
                <a:off x="1236850" y="2870850"/>
                <a:ext cx="377100" cy="3771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41" name="Google Shape;1141;p104"/>
              <p:cNvSpPr txBox="1"/>
              <p:nvPr/>
            </p:nvSpPr>
            <p:spPr>
              <a:xfrm>
                <a:off x="643350" y="2870863"/>
                <a:ext cx="548100" cy="3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Sun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142" name="Google Shape;1142;p104"/>
            <p:cNvCxnSpPr/>
            <p:nvPr/>
          </p:nvCxnSpPr>
          <p:spPr>
            <a:xfrm>
              <a:off x="784350" y="4328975"/>
              <a:ext cx="3758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43" name="Google Shape;1143;p104"/>
            <p:cNvGrpSpPr/>
            <p:nvPr/>
          </p:nvGrpSpPr>
          <p:grpSpPr>
            <a:xfrm>
              <a:off x="1466500" y="3710550"/>
              <a:ext cx="1422000" cy="626100"/>
              <a:chOff x="1466500" y="3710550"/>
              <a:chExt cx="1422000" cy="626100"/>
            </a:xfrm>
          </p:grpSpPr>
          <p:cxnSp>
            <p:nvCxnSpPr>
              <p:cNvPr id="1144" name="Google Shape;1144;p104"/>
              <p:cNvCxnSpPr/>
              <p:nvPr/>
            </p:nvCxnSpPr>
            <p:spPr>
              <a:xfrm>
                <a:off x="2888500" y="3710550"/>
                <a:ext cx="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5" name="Google Shape;1145;p104"/>
              <p:cNvSpPr txBox="1"/>
              <p:nvPr/>
            </p:nvSpPr>
            <p:spPr>
              <a:xfrm>
                <a:off x="1466500" y="3835050"/>
                <a:ext cx="1044900" cy="3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feature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146" name="Google Shape;1146;p104"/>
              <p:cNvCxnSpPr>
                <a:stCxn id="1145" idx="3"/>
              </p:cNvCxnSpPr>
              <p:nvPr/>
            </p:nvCxnSpPr>
            <p:spPr>
              <a:xfrm>
                <a:off x="2511400" y="4023600"/>
                <a:ext cx="362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147" name="Google Shape;1147;p104"/>
            <p:cNvGrpSpPr/>
            <p:nvPr/>
          </p:nvGrpSpPr>
          <p:grpSpPr>
            <a:xfrm>
              <a:off x="2887200" y="4419500"/>
              <a:ext cx="1404150" cy="383875"/>
              <a:chOff x="2887200" y="4419500"/>
              <a:chExt cx="1404150" cy="383875"/>
            </a:xfrm>
          </p:grpSpPr>
          <p:cxnSp>
            <p:nvCxnSpPr>
              <p:cNvPr id="1148" name="Google Shape;1148;p104"/>
              <p:cNvCxnSpPr/>
              <p:nvPr/>
            </p:nvCxnSpPr>
            <p:spPr>
              <a:xfrm>
                <a:off x="2896050" y="4419500"/>
                <a:ext cx="1395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149" name="Google Shape;1149;p104"/>
              <p:cNvSpPr txBox="1"/>
              <p:nvPr/>
            </p:nvSpPr>
            <p:spPr>
              <a:xfrm>
                <a:off x="2887200" y="4426275"/>
                <a:ext cx="1395300" cy="3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shadow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150" name="Google Shape;1150;p104"/>
            <p:cNvGrpSpPr/>
            <p:nvPr/>
          </p:nvGrpSpPr>
          <p:grpSpPr>
            <a:xfrm>
              <a:off x="3477100" y="4034184"/>
              <a:ext cx="456100" cy="377100"/>
              <a:chOff x="3477100" y="4034184"/>
              <a:chExt cx="456100" cy="377100"/>
            </a:xfrm>
          </p:grpSpPr>
          <p:cxnSp>
            <p:nvCxnSpPr>
              <p:cNvPr id="1151" name="Google Shape;1151;p104"/>
              <p:cNvCxnSpPr/>
              <p:nvPr/>
            </p:nvCxnSpPr>
            <p:spPr>
              <a:xfrm flipH="1" rot="10800000">
                <a:off x="3770900" y="4174525"/>
                <a:ext cx="162300" cy="162000"/>
              </a:xfrm>
              <a:prstGeom prst="curvedConnector3">
                <a:avLst>
                  <a:gd fmla="val 4636" name="adj1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2" name="Google Shape;1152;p104"/>
              <p:cNvSpPr txBox="1"/>
              <p:nvPr/>
            </p:nvSpPr>
            <p:spPr>
              <a:xfrm>
                <a:off x="3477100" y="4034184"/>
                <a:ext cx="324000" cy="3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𝜃</a:t>
                </a: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°</a:t>
                </a:r>
                <a:endParaRPr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153" name="Google Shape;1153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Given the length of the shadow and the angle of the Sun are known, what can be used to determine the height of the feature?</a:t>
            </a:r>
            <a:endParaRPr sz="2000"/>
          </a:p>
        </p:txBody>
      </p:sp>
      <p:sp>
        <p:nvSpPr>
          <p:cNvPr id="1154" name="Google Shape;1154;p104"/>
          <p:cNvSpPr txBox="1"/>
          <p:nvPr>
            <p:ph idx="1" type="subTitle"/>
          </p:nvPr>
        </p:nvSpPr>
        <p:spPr>
          <a:xfrm>
            <a:off x="1034425" y="1837775"/>
            <a:ext cx="3185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Pythagoras’ theorem</a:t>
            </a:r>
            <a:endParaRPr/>
          </a:p>
        </p:txBody>
      </p:sp>
      <p:sp>
        <p:nvSpPr>
          <p:cNvPr id="1155" name="Google Shape;1155;p104"/>
          <p:cNvSpPr txBox="1"/>
          <p:nvPr>
            <p:ph idx="3" type="subTitle"/>
          </p:nvPr>
        </p:nvSpPr>
        <p:spPr>
          <a:xfrm>
            <a:off x="1034425" y="2794250"/>
            <a:ext cx="29307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Similar triangles</a:t>
            </a:r>
            <a:endParaRPr/>
          </a:p>
        </p:txBody>
      </p:sp>
      <p:sp>
        <p:nvSpPr>
          <p:cNvPr id="1156" name="Google Shape;1156;p104"/>
          <p:cNvSpPr txBox="1"/>
          <p:nvPr>
            <p:ph idx="4" type="subTitle"/>
          </p:nvPr>
        </p:nvSpPr>
        <p:spPr>
          <a:xfrm>
            <a:off x="1034425" y="3766975"/>
            <a:ext cx="2086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Trigonometry</a:t>
            </a:r>
            <a:endParaRPr/>
          </a:p>
        </p:txBody>
      </p:sp>
      <p:pic>
        <p:nvPicPr>
          <p:cNvPr id="1157" name="Google Shape;1157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4983" y="36819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104"/>
          <p:cNvSpPr/>
          <p:nvPr/>
        </p:nvSpPr>
        <p:spPr>
          <a:xfrm>
            <a:off x="6817772" y="2910348"/>
            <a:ext cx="209100" cy="20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05"/>
          <p:cNvSpPr txBox="1"/>
          <p:nvPr>
            <p:ph idx="1" type="subTitle"/>
          </p:nvPr>
        </p:nvSpPr>
        <p:spPr>
          <a:xfrm>
            <a:off x="337825" y="810000"/>
            <a:ext cx="3982200" cy="13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the angle of the Sun is 42°, the length of the shadow is recorded as 7300 m. What is the height of the crater wall?</a:t>
            </a:r>
            <a:endParaRPr/>
          </a:p>
        </p:txBody>
      </p:sp>
      <p:sp>
        <p:nvSpPr>
          <p:cNvPr id="1164" name="Google Shape;1164;p105"/>
          <p:cNvSpPr txBox="1"/>
          <p:nvPr>
            <p:ph idx="2" type="subTitle"/>
          </p:nvPr>
        </p:nvSpPr>
        <p:spPr>
          <a:xfrm>
            <a:off x="4824000" y="810000"/>
            <a:ext cx="3982200" cy="13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the angle of the Sun is 87°, the length of the shadow is recorded as 346 m. What is the height of the crater wall?</a:t>
            </a:r>
            <a:endParaRPr/>
          </a:p>
        </p:txBody>
      </p:sp>
      <p:sp>
        <p:nvSpPr>
          <p:cNvPr id="1165" name="Google Shape;1165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Determining terrain features</a:t>
            </a:r>
            <a:endParaRPr/>
          </a:p>
        </p:txBody>
      </p:sp>
      <p:sp>
        <p:nvSpPr>
          <p:cNvPr id="1166" name="Google Shape;1166;p105"/>
          <p:cNvSpPr txBox="1"/>
          <p:nvPr/>
        </p:nvSpPr>
        <p:spPr>
          <a:xfrm>
            <a:off x="320175" y="4207050"/>
            <a:ext cx="3982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7300 × tan(42°) = 6572.9495…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≈ 6.6 km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7" name="Google Shape;1167;p105"/>
          <p:cNvSpPr txBox="1"/>
          <p:nvPr/>
        </p:nvSpPr>
        <p:spPr>
          <a:xfrm>
            <a:off x="4892175" y="4207050"/>
            <a:ext cx="3982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346 × tan(87°) = 6602.0732…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≈ 6.6 km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68" name="Google Shape;1168;p105"/>
          <p:cNvGrpSpPr/>
          <p:nvPr/>
        </p:nvGrpSpPr>
        <p:grpSpPr>
          <a:xfrm>
            <a:off x="350424" y="2267125"/>
            <a:ext cx="3856500" cy="1932525"/>
            <a:chOff x="350424" y="2267125"/>
            <a:chExt cx="3856500" cy="1932525"/>
          </a:xfrm>
        </p:grpSpPr>
        <p:grpSp>
          <p:nvGrpSpPr>
            <p:cNvPr id="1169" name="Google Shape;1169;p105"/>
            <p:cNvGrpSpPr/>
            <p:nvPr/>
          </p:nvGrpSpPr>
          <p:grpSpPr>
            <a:xfrm>
              <a:off x="350424" y="2267125"/>
              <a:ext cx="3856500" cy="1932525"/>
              <a:chOff x="686550" y="2870850"/>
              <a:chExt cx="3856500" cy="1932525"/>
            </a:xfrm>
          </p:grpSpPr>
          <p:cxnSp>
            <p:nvCxnSpPr>
              <p:cNvPr id="1170" name="Google Shape;1170;p105"/>
              <p:cNvCxnSpPr/>
              <p:nvPr/>
            </p:nvCxnSpPr>
            <p:spPr>
              <a:xfrm>
                <a:off x="1425400" y="3069500"/>
                <a:ext cx="2865900" cy="1266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71" name="Google Shape;1171;p105"/>
              <p:cNvSpPr txBox="1"/>
              <p:nvPr/>
            </p:nvSpPr>
            <p:spPr>
              <a:xfrm>
                <a:off x="2887200" y="2973000"/>
                <a:ext cx="1169100" cy="3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sunlight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172" name="Google Shape;1172;p105"/>
              <p:cNvCxnSpPr>
                <a:stCxn id="1171" idx="1"/>
              </p:cNvCxnSpPr>
              <p:nvPr/>
            </p:nvCxnSpPr>
            <p:spPr>
              <a:xfrm flipH="1">
                <a:off x="2511300" y="3161550"/>
                <a:ext cx="375900" cy="383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grpSp>
            <p:nvGrpSpPr>
              <p:cNvPr id="1173" name="Google Shape;1173;p105"/>
              <p:cNvGrpSpPr/>
              <p:nvPr/>
            </p:nvGrpSpPr>
            <p:grpSpPr>
              <a:xfrm>
                <a:off x="686550" y="2870850"/>
                <a:ext cx="927400" cy="377100"/>
                <a:chOff x="686550" y="2870850"/>
                <a:chExt cx="927400" cy="377100"/>
              </a:xfrm>
            </p:grpSpPr>
            <p:sp>
              <p:nvSpPr>
                <p:cNvPr id="1174" name="Google Shape;1174;p105"/>
                <p:cNvSpPr/>
                <p:nvPr/>
              </p:nvSpPr>
              <p:spPr>
                <a:xfrm>
                  <a:off x="1236850" y="2870850"/>
                  <a:ext cx="377100" cy="3771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175" name="Google Shape;1175;p105"/>
                <p:cNvSpPr txBox="1"/>
                <p:nvPr/>
              </p:nvSpPr>
              <p:spPr>
                <a:xfrm>
                  <a:off x="686550" y="2870850"/>
                  <a:ext cx="504900" cy="37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Sun</a:t>
                  </a:r>
                  <a:endParaRPr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cxnSp>
            <p:nvCxnSpPr>
              <p:cNvPr id="1176" name="Google Shape;1176;p105"/>
              <p:cNvCxnSpPr/>
              <p:nvPr/>
            </p:nvCxnSpPr>
            <p:spPr>
              <a:xfrm>
                <a:off x="784350" y="4328975"/>
                <a:ext cx="37587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177" name="Google Shape;1177;p105"/>
              <p:cNvGrpSpPr/>
              <p:nvPr/>
            </p:nvGrpSpPr>
            <p:grpSpPr>
              <a:xfrm>
                <a:off x="1613951" y="3710550"/>
                <a:ext cx="1274549" cy="626100"/>
                <a:chOff x="1613951" y="3710550"/>
                <a:chExt cx="1274549" cy="626100"/>
              </a:xfrm>
            </p:grpSpPr>
            <p:cxnSp>
              <p:nvCxnSpPr>
                <p:cNvPr id="1178" name="Google Shape;1178;p105"/>
                <p:cNvCxnSpPr/>
                <p:nvPr/>
              </p:nvCxnSpPr>
              <p:spPr>
                <a:xfrm>
                  <a:off x="2888500" y="3710550"/>
                  <a:ext cx="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79" name="Google Shape;1179;p105"/>
                <p:cNvSpPr txBox="1"/>
                <p:nvPr/>
              </p:nvSpPr>
              <p:spPr>
                <a:xfrm>
                  <a:off x="1613951" y="3835050"/>
                  <a:ext cx="897300" cy="37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feature</a:t>
                  </a:r>
                  <a:endParaRPr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cxnSp>
              <p:nvCxnSpPr>
                <p:cNvPr id="1180" name="Google Shape;1180;p105"/>
                <p:cNvCxnSpPr>
                  <a:stCxn id="1179" idx="3"/>
                </p:cNvCxnSpPr>
                <p:nvPr/>
              </p:nvCxnSpPr>
              <p:spPr>
                <a:xfrm>
                  <a:off x="2511251" y="4023600"/>
                  <a:ext cx="3621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grpSp>
            <p:nvGrpSpPr>
              <p:cNvPr id="1181" name="Google Shape;1181;p105"/>
              <p:cNvGrpSpPr/>
              <p:nvPr/>
            </p:nvGrpSpPr>
            <p:grpSpPr>
              <a:xfrm>
                <a:off x="2887200" y="4419500"/>
                <a:ext cx="1404150" cy="383875"/>
                <a:chOff x="2887200" y="4419500"/>
                <a:chExt cx="1404150" cy="383875"/>
              </a:xfrm>
            </p:grpSpPr>
            <p:cxnSp>
              <p:nvCxnSpPr>
                <p:cNvPr id="1182" name="Google Shape;1182;p105"/>
                <p:cNvCxnSpPr/>
                <p:nvPr/>
              </p:nvCxnSpPr>
              <p:spPr>
                <a:xfrm>
                  <a:off x="2896050" y="4419500"/>
                  <a:ext cx="13953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  <p:sp>
              <p:nvSpPr>
                <p:cNvPr id="1183" name="Google Shape;1183;p105"/>
                <p:cNvSpPr txBox="1"/>
                <p:nvPr/>
              </p:nvSpPr>
              <p:spPr>
                <a:xfrm>
                  <a:off x="2887200" y="4426275"/>
                  <a:ext cx="1395300" cy="37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7300</a:t>
                  </a:r>
                  <a:endParaRPr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184" name="Google Shape;1184;p105"/>
              <p:cNvGrpSpPr/>
              <p:nvPr/>
            </p:nvGrpSpPr>
            <p:grpSpPr>
              <a:xfrm>
                <a:off x="3296200" y="4034175"/>
                <a:ext cx="637000" cy="377100"/>
                <a:chOff x="3296200" y="4034175"/>
                <a:chExt cx="637000" cy="377100"/>
              </a:xfrm>
            </p:grpSpPr>
            <p:cxnSp>
              <p:nvCxnSpPr>
                <p:cNvPr id="1185" name="Google Shape;1185;p105"/>
                <p:cNvCxnSpPr/>
                <p:nvPr/>
              </p:nvCxnSpPr>
              <p:spPr>
                <a:xfrm flipH="1" rot="10800000">
                  <a:off x="3770900" y="4174525"/>
                  <a:ext cx="162300" cy="162000"/>
                </a:xfrm>
                <a:prstGeom prst="curvedConnector3">
                  <a:avLst>
                    <a:gd fmla="val 4636" name="adj1"/>
                  </a:avLst>
                </a:prstGeom>
                <a:noFill/>
                <a:ln cap="flat" cmpd="sng" w="2857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86" name="Google Shape;1186;p105"/>
                <p:cNvSpPr txBox="1"/>
                <p:nvPr/>
              </p:nvSpPr>
              <p:spPr>
                <a:xfrm>
                  <a:off x="3296200" y="4034175"/>
                  <a:ext cx="504900" cy="37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42°</a:t>
                  </a:r>
                  <a:endParaRPr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sp>
          <p:nvSpPr>
            <p:cNvPr id="1187" name="Google Shape;1187;p105"/>
            <p:cNvSpPr/>
            <p:nvPr/>
          </p:nvSpPr>
          <p:spPr>
            <a:xfrm>
              <a:off x="2547152" y="3516528"/>
              <a:ext cx="209100" cy="209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8" name="Google Shape;1188;p105"/>
          <p:cNvGrpSpPr/>
          <p:nvPr/>
        </p:nvGrpSpPr>
        <p:grpSpPr>
          <a:xfrm>
            <a:off x="4846224" y="2267125"/>
            <a:ext cx="3856500" cy="1932525"/>
            <a:chOff x="4846224" y="2267125"/>
            <a:chExt cx="3856500" cy="1932525"/>
          </a:xfrm>
        </p:grpSpPr>
        <p:grpSp>
          <p:nvGrpSpPr>
            <p:cNvPr id="1189" name="Google Shape;1189;p105"/>
            <p:cNvGrpSpPr/>
            <p:nvPr/>
          </p:nvGrpSpPr>
          <p:grpSpPr>
            <a:xfrm>
              <a:off x="4846224" y="2267125"/>
              <a:ext cx="3856500" cy="1932525"/>
              <a:chOff x="686550" y="2870850"/>
              <a:chExt cx="3856500" cy="1932525"/>
            </a:xfrm>
          </p:grpSpPr>
          <p:cxnSp>
            <p:nvCxnSpPr>
              <p:cNvPr id="1190" name="Google Shape;1190;p105"/>
              <p:cNvCxnSpPr/>
              <p:nvPr/>
            </p:nvCxnSpPr>
            <p:spPr>
              <a:xfrm>
                <a:off x="1425400" y="3069500"/>
                <a:ext cx="2865900" cy="1266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1" name="Google Shape;1191;p105"/>
              <p:cNvSpPr txBox="1"/>
              <p:nvPr/>
            </p:nvSpPr>
            <p:spPr>
              <a:xfrm>
                <a:off x="2887200" y="2973000"/>
                <a:ext cx="1169100" cy="3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sunlight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192" name="Google Shape;1192;p105"/>
              <p:cNvCxnSpPr>
                <a:stCxn id="1191" idx="1"/>
              </p:cNvCxnSpPr>
              <p:nvPr/>
            </p:nvCxnSpPr>
            <p:spPr>
              <a:xfrm flipH="1">
                <a:off x="2511300" y="3161550"/>
                <a:ext cx="375900" cy="383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grpSp>
            <p:nvGrpSpPr>
              <p:cNvPr id="1193" name="Google Shape;1193;p105"/>
              <p:cNvGrpSpPr/>
              <p:nvPr/>
            </p:nvGrpSpPr>
            <p:grpSpPr>
              <a:xfrm>
                <a:off x="686550" y="2870850"/>
                <a:ext cx="927400" cy="377100"/>
                <a:chOff x="686550" y="2870850"/>
                <a:chExt cx="927400" cy="377100"/>
              </a:xfrm>
            </p:grpSpPr>
            <p:sp>
              <p:nvSpPr>
                <p:cNvPr id="1194" name="Google Shape;1194;p105"/>
                <p:cNvSpPr/>
                <p:nvPr/>
              </p:nvSpPr>
              <p:spPr>
                <a:xfrm>
                  <a:off x="1236850" y="2870850"/>
                  <a:ext cx="377100" cy="3771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195" name="Google Shape;1195;p105"/>
                <p:cNvSpPr txBox="1"/>
                <p:nvPr/>
              </p:nvSpPr>
              <p:spPr>
                <a:xfrm>
                  <a:off x="686550" y="2870850"/>
                  <a:ext cx="504900" cy="37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Sun</a:t>
                  </a:r>
                  <a:endParaRPr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cxnSp>
            <p:nvCxnSpPr>
              <p:cNvPr id="1196" name="Google Shape;1196;p105"/>
              <p:cNvCxnSpPr/>
              <p:nvPr/>
            </p:nvCxnSpPr>
            <p:spPr>
              <a:xfrm>
                <a:off x="784350" y="4328975"/>
                <a:ext cx="37587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197" name="Google Shape;1197;p105"/>
              <p:cNvGrpSpPr/>
              <p:nvPr/>
            </p:nvGrpSpPr>
            <p:grpSpPr>
              <a:xfrm>
                <a:off x="1614726" y="3710550"/>
                <a:ext cx="1273774" cy="626100"/>
                <a:chOff x="1614726" y="3710550"/>
                <a:chExt cx="1273774" cy="626100"/>
              </a:xfrm>
            </p:grpSpPr>
            <p:cxnSp>
              <p:nvCxnSpPr>
                <p:cNvPr id="1198" name="Google Shape;1198;p105"/>
                <p:cNvCxnSpPr/>
                <p:nvPr/>
              </p:nvCxnSpPr>
              <p:spPr>
                <a:xfrm>
                  <a:off x="2888500" y="3710550"/>
                  <a:ext cx="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99" name="Google Shape;1199;p105"/>
                <p:cNvSpPr txBox="1"/>
                <p:nvPr/>
              </p:nvSpPr>
              <p:spPr>
                <a:xfrm>
                  <a:off x="1614726" y="3835050"/>
                  <a:ext cx="896700" cy="37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feature</a:t>
                  </a:r>
                  <a:endParaRPr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cxnSp>
              <p:nvCxnSpPr>
                <p:cNvPr id="1200" name="Google Shape;1200;p105"/>
                <p:cNvCxnSpPr>
                  <a:stCxn id="1199" idx="3"/>
                </p:cNvCxnSpPr>
                <p:nvPr/>
              </p:nvCxnSpPr>
              <p:spPr>
                <a:xfrm>
                  <a:off x="2511426" y="4023600"/>
                  <a:ext cx="3621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grpSp>
            <p:nvGrpSpPr>
              <p:cNvPr id="1201" name="Google Shape;1201;p105"/>
              <p:cNvGrpSpPr/>
              <p:nvPr/>
            </p:nvGrpSpPr>
            <p:grpSpPr>
              <a:xfrm>
                <a:off x="2887200" y="4419500"/>
                <a:ext cx="1404150" cy="383875"/>
                <a:chOff x="2887200" y="4419500"/>
                <a:chExt cx="1404150" cy="383875"/>
              </a:xfrm>
            </p:grpSpPr>
            <p:cxnSp>
              <p:nvCxnSpPr>
                <p:cNvPr id="1202" name="Google Shape;1202;p105"/>
                <p:cNvCxnSpPr/>
                <p:nvPr/>
              </p:nvCxnSpPr>
              <p:spPr>
                <a:xfrm>
                  <a:off x="2896050" y="4419500"/>
                  <a:ext cx="1395300" cy="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  <p:sp>
              <p:nvSpPr>
                <p:cNvPr id="1203" name="Google Shape;1203;p105"/>
                <p:cNvSpPr txBox="1"/>
                <p:nvPr/>
              </p:nvSpPr>
              <p:spPr>
                <a:xfrm>
                  <a:off x="2887200" y="4426275"/>
                  <a:ext cx="1395300" cy="37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346</a:t>
                  </a:r>
                  <a:endParaRPr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204" name="Google Shape;1204;p105"/>
              <p:cNvGrpSpPr/>
              <p:nvPr/>
            </p:nvGrpSpPr>
            <p:grpSpPr>
              <a:xfrm>
                <a:off x="3296200" y="4034175"/>
                <a:ext cx="637000" cy="377100"/>
                <a:chOff x="3296200" y="4034175"/>
                <a:chExt cx="637000" cy="377100"/>
              </a:xfrm>
            </p:grpSpPr>
            <p:cxnSp>
              <p:nvCxnSpPr>
                <p:cNvPr id="1205" name="Google Shape;1205;p105"/>
                <p:cNvCxnSpPr/>
                <p:nvPr/>
              </p:nvCxnSpPr>
              <p:spPr>
                <a:xfrm flipH="1" rot="10800000">
                  <a:off x="3770900" y="4174525"/>
                  <a:ext cx="162300" cy="162000"/>
                </a:xfrm>
                <a:prstGeom prst="curvedConnector3">
                  <a:avLst>
                    <a:gd fmla="val 4636" name="adj1"/>
                  </a:avLst>
                </a:prstGeom>
                <a:noFill/>
                <a:ln cap="flat" cmpd="sng" w="2857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206" name="Google Shape;1206;p105"/>
                <p:cNvSpPr txBox="1"/>
                <p:nvPr/>
              </p:nvSpPr>
              <p:spPr>
                <a:xfrm>
                  <a:off x="3296200" y="4034175"/>
                  <a:ext cx="504900" cy="37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87°</a:t>
                  </a:r>
                  <a:endParaRPr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sp>
          <p:nvSpPr>
            <p:cNvPr id="1207" name="Google Shape;1207;p105"/>
            <p:cNvSpPr/>
            <p:nvPr/>
          </p:nvSpPr>
          <p:spPr>
            <a:xfrm>
              <a:off x="7046372" y="3504024"/>
              <a:ext cx="209100" cy="209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06"/>
          <p:cNvSpPr txBox="1"/>
          <p:nvPr>
            <p:ph idx="1" type="body"/>
          </p:nvPr>
        </p:nvSpPr>
        <p:spPr>
          <a:xfrm>
            <a:off x="324000" y="759300"/>
            <a:ext cx="8237700" cy="39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Calculate the value (to 1 d.p.) of the unknown measurement in each case.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𝜃° = 19°,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56 cm,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𝜃° = 56°,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19 cm,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𝜃° = 19°,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56 cm,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𝜃° = 56°,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19 cm,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e)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56 cm,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19 cm, 𝜃° =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f)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19 cm,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56 cm, 𝜃° =  </a:t>
            </a:r>
            <a:endParaRPr sz="2000"/>
          </a:p>
        </p:txBody>
      </p:sp>
      <p:sp>
        <p:nvSpPr>
          <p:cNvPr id="1213" name="Google Shape;1213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  <p:grpSp>
        <p:nvGrpSpPr>
          <p:cNvPr id="1214" name="Google Shape;1214;p106"/>
          <p:cNvGrpSpPr/>
          <p:nvPr/>
        </p:nvGrpSpPr>
        <p:grpSpPr>
          <a:xfrm>
            <a:off x="4924622" y="2160097"/>
            <a:ext cx="3093565" cy="1492024"/>
            <a:chOff x="5127575" y="2160000"/>
            <a:chExt cx="3423600" cy="1651200"/>
          </a:xfrm>
        </p:grpSpPr>
        <p:sp>
          <p:nvSpPr>
            <p:cNvPr id="1215" name="Google Shape;1215;p106"/>
            <p:cNvSpPr/>
            <p:nvPr/>
          </p:nvSpPr>
          <p:spPr>
            <a:xfrm flipH="1">
              <a:off x="5127575" y="2160000"/>
              <a:ext cx="3423600" cy="16512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6" name="Google Shape;1216;p106"/>
            <p:cNvSpPr/>
            <p:nvPr/>
          </p:nvSpPr>
          <p:spPr>
            <a:xfrm>
              <a:off x="8338352" y="3592728"/>
              <a:ext cx="209100" cy="209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217" name="Google Shape;1217;p106"/>
          <p:cNvCxnSpPr/>
          <p:nvPr/>
        </p:nvCxnSpPr>
        <p:spPr>
          <a:xfrm>
            <a:off x="8156578" y="2123225"/>
            <a:ext cx="0" cy="154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18" name="Google Shape;1218;p106"/>
          <p:cNvCxnSpPr/>
          <p:nvPr/>
        </p:nvCxnSpPr>
        <p:spPr>
          <a:xfrm>
            <a:off x="4924622" y="3788597"/>
            <a:ext cx="308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19" name="Google Shape;1219;p106"/>
          <p:cNvSpPr txBox="1"/>
          <p:nvPr/>
        </p:nvSpPr>
        <p:spPr>
          <a:xfrm>
            <a:off x="6424025" y="3723650"/>
            <a:ext cx="254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0" name="Google Shape;1220;p106"/>
          <p:cNvSpPr txBox="1"/>
          <p:nvPr/>
        </p:nvSpPr>
        <p:spPr>
          <a:xfrm>
            <a:off x="8176625" y="2733050"/>
            <a:ext cx="254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1" name="Google Shape;1221;p106"/>
          <p:cNvSpPr txBox="1"/>
          <p:nvPr/>
        </p:nvSpPr>
        <p:spPr>
          <a:xfrm>
            <a:off x="7117500" y="1237200"/>
            <a:ext cx="17025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drawn accurately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2" name="Google Shape;1222;p106"/>
          <p:cNvCxnSpPr/>
          <p:nvPr/>
        </p:nvCxnSpPr>
        <p:spPr>
          <a:xfrm flipH="1" rot="5400000">
            <a:off x="5307025" y="3497000"/>
            <a:ext cx="196500" cy="113400"/>
          </a:xfrm>
          <a:prstGeom prst="curvedConnector3">
            <a:avLst>
              <a:gd fmla="val 97252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3" name="Google Shape;1223;p106"/>
          <p:cNvSpPr txBox="1"/>
          <p:nvPr/>
        </p:nvSpPr>
        <p:spPr>
          <a:xfrm>
            <a:off x="5569900" y="3310800"/>
            <a:ext cx="401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𝜃°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107"/>
          <p:cNvSpPr txBox="1"/>
          <p:nvPr>
            <p:ph idx="1" type="body"/>
          </p:nvPr>
        </p:nvSpPr>
        <p:spPr>
          <a:xfrm>
            <a:off x="324000" y="759300"/>
            <a:ext cx="8237700" cy="10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The wall of a crater on Mars is 1.2 km tall. When the wall casts a shadow with length 557 m, what angle (to 1 d.p.) is the Sun at?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3) Another crater on Mars has a wall which casts a shadow of length 21 m. This occurs when the Sun is at an angle of 67°. What is the height (to 2 d.p.) of this wall?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/>
          </a:p>
        </p:txBody>
      </p:sp>
      <p:sp>
        <p:nvSpPr>
          <p:cNvPr id="1229" name="Google Shape;1229;p10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108"/>
          <p:cNvSpPr txBox="1"/>
          <p:nvPr>
            <p:ph idx="1" type="body"/>
          </p:nvPr>
        </p:nvSpPr>
        <p:spPr>
          <a:xfrm>
            <a:off x="324000" y="759300"/>
            <a:ext cx="8237700" cy="10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4) The largest crater on the near side of the Moon is called Clavius. The walls of this crater are 6.6 km high.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Calculate three pairs of values for the angle of the Sun and the corresponding length of the shadow cast by the crater wall.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E.g. When the angle of the Sun is 42°, the length of the shadow is recorded as 7300 m.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When the angle of the Sun is 87°, the length of the shadow is recorded as 346 m.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/>
          </a:p>
        </p:txBody>
      </p:sp>
      <p:sp>
        <p:nvSpPr>
          <p:cNvPr id="1235" name="Google Shape;1235;p10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5) In order to </a:t>
            </a:r>
            <a:r>
              <a:rPr lang="en-GB" sz="2000"/>
              <a:t>calculate</a:t>
            </a:r>
            <a:r>
              <a:rPr lang="en-GB" sz="2000"/>
              <a:t> an estimate for the height of a crater wall, we have produced a model/sketch of the situation.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State an assumption that we have made that may affect the accuracy of our estimated value. </a:t>
            </a:r>
            <a:endParaRPr sz="2000"/>
          </a:p>
        </p:txBody>
      </p:sp>
      <p:sp>
        <p:nvSpPr>
          <p:cNvPr id="1241" name="Google Shape;1241;p10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110"/>
          <p:cNvSpPr txBox="1"/>
          <p:nvPr>
            <p:ph idx="1" type="body"/>
          </p:nvPr>
        </p:nvSpPr>
        <p:spPr>
          <a:xfrm>
            <a:off x="324000" y="759300"/>
            <a:ext cx="8237700" cy="38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Calculate the value </a:t>
            </a:r>
            <a:r>
              <a:rPr lang="en-GB" sz="2000"/>
              <a:t>(to 1 d.p.) </a:t>
            </a:r>
            <a:r>
              <a:rPr lang="en-GB" sz="2000"/>
              <a:t>of the unknown measurement in each case.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𝜃° = 19°,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56 cm,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19.3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𝜃° = 56°,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19 cm,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28.2 cm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𝜃° = 19°,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56 cm,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162.6 cm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d)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𝜃° = 56°,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19 cm,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12.8 cm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e)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56 cm,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19 cm, 𝜃°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18.7°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f)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19 cm,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56 cm, 𝜃°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71.3°</a:t>
            </a:r>
            <a:endParaRPr sz="2000"/>
          </a:p>
        </p:txBody>
      </p:sp>
      <p:sp>
        <p:nvSpPr>
          <p:cNvPr id="1247" name="Google Shape;1247;p11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  <p:grpSp>
        <p:nvGrpSpPr>
          <p:cNvPr id="1248" name="Google Shape;1248;p110"/>
          <p:cNvGrpSpPr/>
          <p:nvPr/>
        </p:nvGrpSpPr>
        <p:grpSpPr>
          <a:xfrm>
            <a:off x="4924622" y="2160097"/>
            <a:ext cx="3093565" cy="1492024"/>
            <a:chOff x="5127575" y="2160000"/>
            <a:chExt cx="3423600" cy="1651200"/>
          </a:xfrm>
        </p:grpSpPr>
        <p:sp>
          <p:nvSpPr>
            <p:cNvPr id="1249" name="Google Shape;1249;p110"/>
            <p:cNvSpPr/>
            <p:nvPr/>
          </p:nvSpPr>
          <p:spPr>
            <a:xfrm flipH="1">
              <a:off x="5127575" y="2160000"/>
              <a:ext cx="3423600" cy="16512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0" name="Google Shape;1250;p110"/>
            <p:cNvSpPr/>
            <p:nvPr/>
          </p:nvSpPr>
          <p:spPr>
            <a:xfrm>
              <a:off x="8338352" y="3592728"/>
              <a:ext cx="209100" cy="209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251" name="Google Shape;1251;p110"/>
          <p:cNvCxnSpPr/>
          <p:nvPr/>
        </p:nvCxnSpPr>
        <p:spPr>
          <a:xfrm>
            <a:off x="8156578" y="2123225"/>
            <a:ext cx="0" cy="154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52" name="Google Shape;1252;p110"/>
          <p:cNvCxnSpPr/>
          <p:nvPr/>
        </p:nvCxnSpPr>
        <p:spPr>
          <a:xfrm>
            <a:off x="4924622" y="3788597"/>
            <a:ext cx="308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53" name="Google Shape;1253;p110"/>
          <p:cNvSpPr txBox="1"/>
          <p:nvPr/>
        </p:nvSpPr>
        <p:spPr>
          <a:xfrm>
            <a:off x="6424025" y="3723650"/>
            <a:ext cx="254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4" name="Google Shape;1254;p110"/>
          <p:cNvSpPr txBox="1"/>
          <p:nvPr/>
        </p:nvSpPr>
        <p:spPr>
          <a:xfrm>
            <a:off x="8176625" y="2733050"/>
            <a:ext cx="254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5" name="Google Shape;1255;p110"/>
          <p:cNvSpPr txBox="1"/>
          <p:nvPr/>
        </p:nvSpPr>
        <p:spPr>
          <a:xfrm>
            <a:off x="7117500" y="1237200"/>
            <a:ext cx="17025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drawn accurately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6" name="Google Shape;1256;p110"/>
          <p:cNvCxnSpPr/>
          <p:nvPr/>
        </p:nvCxnSpPr>
        <p:spPr>
          <a:xfrm flipH="1" rot="5400000">
            <a:off x="5307025" y="3497000"/>
            <a:ext cx="196500" cy="113400"/>
          </a:xfrm>
          <a:prstGeom prst="curvedConnector3">
            <a:avLst>
              <a:gd fmla="val 97252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7" name="Google Shape;1257;p110"/>
          <p:cNvSpPr txBox="1"/>
          <p:nvPr/>
        </p:nvSpPr>
        <p:spPr>
          <a:xfrm>
            <a:off x="5569900" y="3310800"/>
            <a:ext cx="401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𝜃°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The wall of a crater on Mars is 1.2 km tall. When the wall casts a shadow with length 557 m, what angle (to 1 d.p.) is the Sun at?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3) Another crater on Mars has a wall which casts a shadow of length 21 m. This occurs when the Sun is at an angle of 67°. What is the height (to 2 d.p.) of this wall?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/>
          </a:p>
        </p:txBody>
      </p:sp>
      <p:sp>
        <p:nvSpPr>
          <p:cNvPr id="1263" name="Google Shape;1263;p11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tan^{-1}\left(\frac{1200}{557}\right)=65.1^{\circ}&quot;&gt;&lt;msup&gt;&lt;mi&gt;tan&lt;/mi&gt;&lt;mrow data-mjx-texclass=&quot;ORD&quot;&gt;&lt;mo&gt;−&lt;/mo&gt;&lt;mn&gt;1&lt;/mn&gt;&lt;/mrow&gt;&lt;/msup&gt;&lt;mo data-mjx-texclass=&quot;NONE&quot;&gt;⁡&lt;/mo&gt;&lt;mrow data-mjx-texclass=&quot;INNER&quot;&gt;&lt;mo data-mjx-texclass=&quot;OPEN&quot;&gt;(&lt;/mo&gt;&lt;mfrac&gt;&lt;mn&gt;1200&lt;/mn&gt;&lt;mn&gt;557&lt;/mn&gt;&lt;/mfrac&gt;&lt;mo data-mjx-texclass=&quot;CLOSE&quot;&gt;)&lt;/mo&gt;&lt;/mrow&gt;&lt;mo&gt;=&lt;/mo&gt;&lt;msup&gt;&lt;mn&gt;65.1&lt;/mn&gt;&lt;mrow data-mjx-texclass=&quot;ORD&quot;&gt;&lt;mo&gt;∘&lt;/mo&gt;&lt;/mrow&gt;&lt;/msup&gt;&lt;/math&gt;" id="1264" name="Google Shape;1264;p111" title="the inverse tangent of open paren 1200 over 557 close paren equals 65.1 degre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4962" y="1620000"/>
            <a:ext cx="2515775" cy="6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111"/>
          <p:cNvSpPr txBox="1"/>
          <p:nvPr/>
        </p:nvSpPr>
        <p:spPr>
          <a:xfrm>
            <a:off x="2544000" y="3780000"/>
            <a:ext cx="37977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 × tan(67) = 49.47 m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4) The largest crater on the near side of the Moon is called Clavius. The walls of this crater are 6.6 km high.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Calculate three pairs of values for the angle of the Sun and the corresponding length of the shadow cast by the crater wall.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infinitely many pairs that will work here. To check if your values are correct, perform this calculation: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length of shadow × tan(angle of Sun)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Your answer should round to 6.6 (if in km) or 6600 (if in m).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/>
          </a:p>
        </p:txBody>
      </p:sp>
      <p:sp>
        <p:nvSpPr>
          <p:cNvPr id="1271" name="Google Shape;1271;p11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5) In order to calculate an estimate for the height of a crater wall, we have produced a model/sketch of the situation.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State an assumption that we have made that may affect the accuracy of our estimated value.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possible assumption: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assumed that the surface of the planet was flat when it is actually curved.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7" name="Google Shape;1277;p11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Determining terrain features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114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</a:t>
            </a:r>
            <a:r>
              <a:rPr b="1" lang="en-GB"/>
              <a:t>astrophysicist</a:t>
            </a:r>
            <a:r>
              <a:rPr lang="en-GB"/>
              <a:t> tries to understand the universe and its contents by applying the laws of physics.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/>
              <a:t>Astrophysicists</a:t>
            </a:r>
            <a:r>
              <a:rPr lang="en-GB"/>
              <a:t> often have to interpret data. This may involve converting between different types of unit of measurement and using formulas to find new data.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Trigonometry can be used to estimate the height of different terrain features on other celestial bodies.</a:t>
            </a:r>
            <a:endParaRPr/>
          </a:p>
        </p:txBody>
      </p:sp>
      <p:sp>
        <p:nvSpPr>
          <p:cNvPr id="1283" name="Google Shape;1283;p11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Astrophysicist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11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89" name="Google Shape;1289;p1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