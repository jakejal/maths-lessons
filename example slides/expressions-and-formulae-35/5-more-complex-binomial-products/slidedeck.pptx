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9144000" cy="5143500"/>
  <p:notesSz cx="6858000" cy="9144000"/>
  <p:embeddedFontLst>
    <p:embeddedFont>
      <p:font typeface="Lexend" panose="00000000000000000000"/>
      <p:regular r:id="rId48"/>
    </p:embeddedFont>
    <p:embeddedFont>
      <p:font typeface="Lexend Medium" panose="00000000000000000000"/>
      <p:regular r:id="rId49"/>
    </p:embeddedFont>
    <p:embeddedFont>
      <p:font typeface="Kalam" panose="02000000000000000000"/>
      <p:regular r:id="rId50"/>
    </p:embeddedFont>
    <p:embeddedFont>
      <p:font typeface="Lexend Light" panose="00000000000000000000"/>
      <p:regular r:id="rId51"/>
    </p:embeddedFont>
  </p:embeddedFontLst>
  <p:custDataLst>
    <p:tags r:id="rId4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38B33C2-CC1E-419B-ACB0-62FED831C46D}">
  <a:tblStyle styleId="{E38B33C2-CC1E-419B-ACB0-62FED831C4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slide" Target="slides/slide43.xml" /><Relationship Id="rId46" Type="http://schemas.openxmlformats.org/officeDocument/2006/relationships/slide" Target="slides/slide44.xml" /><Relationship Id="rId47" Type="http://schemas.openxmlformats.org/officeDocument/2006/relationships/tags" Target="tags/tag1.xml" /><Relationship Id="rId48" Type="http://schemas.openxmlformats.org/officeDocument/2006/relationships/font" Target="fonts/font1.fntdata" /><Relationship Id="rId49" Type="http://schemas.openxmlformats.org/officeDocument/2006/relationships/font" Target="fonts/font2.fntdata" /><Relationship Id="rId5" Type="http://schemas.openxmlformats.org/officeDocument/2006/relationships/slide" Target="slides/slide3.xml" /><Relationship Id="rId50" Type="http://schemas.openxmlformats.org/officeDocument/2006/relationships/font" Target="fonts/font3.fntdata" /><Relationship Id="rId51" Type="http://schemas.openxmlformats.org/officeDocument/2006/relationships/font" Target="fonts/font4.fntdata" /><Relationship Id="rId52" Type="http://schemas.openxmlformats.org/officeDocument/2006/relationships/presProps" Target="presProps.xml" /><Relationship Id="rId53" Type="http://schemas.openxmlformats.org/officeDocument/2006/relationships/viewProps" Target="viewProps.xml" /><Relationship Id="rId54" Type="http://schemas.openxmlformats.org/officeDocument/2006/relationships/theme" Target="theme/theme1.xml" /><Relationship Id="rId55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_rels/notesSlide4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g2b24b2f81fb_0_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24b2f81fb_0_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g2b24b2f81fb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b24b2f81fb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g2b24b2f81fb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b24b2f81fb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4" name="Shape 804"/>
        <p:cNvGrpSpPr/>
        <p:nvPr/>
      </p:nvGrpSpPr>
      <p:grpSpPr>
        <a:xfrm>
          <a:off x="0" y="0"/>
          <a:ext cx="0" cy="0"/>
        </a:xfrm>
      </p:grpSpPr>
      <p:sp>
        <p:nvSpPr>
          <p:cNvPr id="805" name="Google Shape;805;g2b24b2f81fb_0_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b24b2f81fb_0_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7" name="Shape 837"/>
        <p:cNvGrpSpPr/>
        <p:nvPr/>
      </p:nvGrpSpPr>
      <p:grpSpPr>
        <a:xfrm>
          <a:off x="0" y="0"/>
          <a:ext cx="0" cy="0"/>
        </a:xfrm>
      </p:grpSpPr>
      <p:sp>
        <p:nvSpPr>
          <p:cNvPr id="838" name="Google Shape;838;g2b24b2f81fb_0_8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b24b2f81fb_0_8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9" name="Shape 849"/>
        <p:cNvGrpSpPr/>
        <p:nvPr/>
      </p:nvGrpSpPr>
      <p:grpSpPr>
        <a:xfrm>
          <a:off x="0" y="0"/>
          <a:ext cx="0" cy="0"/>
        </a:xfrm>
      </p:grpSpPr>
      <p:sp>
        <p:nvSpPr>
          <p:cNvPr id="850" name="Google Shape;850;g2b24b2f81fb_0_8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b24b2f81fb_0_8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3" name="Shape 873"/>
        <p:cNvGrpSpPr/>
        <p:nvPr/>
      </p:nvGrpSpPr>
      <p:grpSpPr>
        <a:xfrm>
          <a:off x="0" y="0"/>
          <a:ext cx="0" cy="0"/>
        </a:xfrm>
      </p:grpSpPr>
      <p:sp>
        <p:nvSpPr>
          <p:cNvPr id="874" name="Google Shape;874;g2b24b2f81fb_0_9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b24b2f81fb_0_9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7" name="Shape 907"/>
        <p:cNvGrpSpPr/>
        <p:nvPr/>
      </p:nvGrpSpPr>
      <p:grpSpPr>
        <a:xfrm>
          <a:off x="0" y="0"/>
          <a:ext cx="0" cy="0"/>
        </a:xfrm>
      </p:grpSpPr>
      <p:sp>
        <p:nvSpPr>
          <p:cNvPr id="908" name="Google Shape;908;g2b24b2f81fb_0_9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2b24b2f81fb_0_9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2" name="Shape 942"/>
        <p:cNvGrpSpPr/>
        <p:nvPr/>
      </p:nvGrpSpPr>
      <p:grpSpPr>
        <a:xfrm>
          <a:off x="0" y="0"/>
          <a:ext cx="0" cy="0"/>
        </a:xfrm>
      </p:grpSpPr>
      <p:sp>
        <p:nvSpPr>
          <p:cNvPr id="943" name="Google Shape;943;g2b24b2f81fb_0_9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b24b2f81fb_0_9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8" name="Shape 978"/>
        <p:cNvGrpSpPr/>
        <p:nvPr/>
      </p:nvGrpSpPr>
      <p:grpSpPr>
        <a:xfrm>
          <a:off x="0" y="0"/>
          <a:ext cx="0" cy="0"/>
        </a:xfrm>
      </p:grpSpPr>
      <p:sp>
        <p:nvSpPr>
          <p:cNvPr id="979" name="Google Shape;979;g2b24b2f81fb_0_10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2b24b2f81fb_0_10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5" name="Shape 985"/>
        <p:cNvGrpSpPr/>
        <p:nvPr/>
      </p:nvGrpSpPr>
      <p:grpSpPr>
        <a:xfrm>
          <a:off x="0" y="0"/>
          <a:ext cx="0" cy="0"/>
        </a:xfrm>
      </p:grpSpPr>
      <p:sp>
        <p:nvSpPr>
          <p:cNvPr id="986" name="Google Shape;986;g2b24b2f81fb_0_10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2b24b2f81fb_0_10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3" name="Shape 993"/>
        <p:cNvGrpSpPr/>
        <p:nvPr/>
      </p:nvGrpSpPr>
      <p:grpSpPr>
        <a:xfrm>
          <a:off x="0" y="0"/>
          <a:ext cx="0" cy="0"/>
        </a:xfrm>
      </p:grpSpPr>
      <p:sp>
        <p:nvSpPr>
          <p:cNvPr id="994" name="Google Shape;994;g2b24b2f81fb_0_10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2b24b2f81fb_0_10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0" name="Shape 1040"/>
        <p:cNvGrpSpPr/>
        <p:nvPr/>
      </p:nvGrpSpPr>
      <p:grpSpPr>
        <a:xfrm>
          <a:off x="0" y="0"/>
          <a:ext cx="0" cy="0"/>
        </a:xfrm>
      </p:grpSpPr>
      <p:sp>
        <p:nvSpPr>
          <p:cNvPr id="1041" name="Google Shape;1041;g2b24b2f81fb_0_11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2b24b2f81fb_0_11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6" name="Shape 1066"/>
        <p:cNvGrpSpPr/>
        <p:nvPr/>
      </p:nvGrpSpPr>
      <p:grpSpPr>
        <a:xfrm>
          <a:off x="0" y="0"/>
          <a:ext cx="0" cy="0"/>
        </a:xfrm>
      </p:grpSpPr>
      <p:sp>
        <p:nvSpPr>
          <p:cNvPr id="1067" name="Google Shape;1067;g2b24b2f81fb_0_12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b24b2f81fb_0_12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4" name="Shape 1094"/>
        <p:cNvGrpSpPr/>
        <p:nvPr/>
      </p:nvGrpSpPr>
      <p:grpSpPr>
        <a:xfrm>
          <a:off x="0" y="0"/>
          <a:ext cx="0" cy="0"/>
        </a:xfrm>
      </p:grpSpPr>
      <p:sp>
        <p:nvSpPr>
          <p:cNvPr id="1095" name="Google Shape;1095;g2b24b2f81fb_0_12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2b24b2f81fb_0_12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1" name="Shape 1121"/>
        <p:cNvGrpSpPr/>
        <p:nvPr/>
      </p:nvGrpSpPr>
      <p:grpSpPr>
        <a:xfrm>
          <a:off x="0" y="0"/>
          <a:ext cx="0" cy="0"/>
        </a:xfrm>
      </p:grpSpPr>
      <p:sp>
        <p:nvSpPr>
          <p:cNvPr id="1122" name="Google Shape;1122;g2b24b2f81fb_0_12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b24b2f81fb_0_12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3" name="Shape 1133"/>
        <p:cNvGrpSpPr/>
        <p:nvPr/>
      </p:nvGrpSpPr>
      <p:grpSpPr>
        <a:xfrm>
          <a:off x="0" y="0"/>
          <a:ext cx="0" cy="0"/>
        </a:xfrm>
      </p:grpSpPr>
      <p:sp>
        <p:nvSpPr>
          <p:cNvPr id="1134" name="Google Shape;1134;g2b24b2f81fb_0_12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2b24b2f81fb_0_12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6" name="Shape 1156"/>
        <p:cNvGrpSpPr/>
        <p:nvPr/>
      </p:nvGrpSpPr>
      <p:grpSpPr>
        <a:xfrm>
          <a:off x="0" y="0"/>
          <a:ext cx="0" cy="0"/>
        </a:xfrm>
      </p:grpSpPr>
      <p:sp>
        <p:nvSpPr>
          <p:cNvPr id="1157" name="Google Shape;1157;g2b24b2f81fb_0_13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2b24b2f81fb_0_13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74" name="Shape 1174"/>
        <p:cNvGrpSpPr/>
        <p:nvPr/>
      </p:nvGrpSpPr>
      <p:grpSpPr>
        <a:xfrm>
          <a:off x="0" y="0"/>
          <a:ext cx="0" cy="0"/>
        </a:xfrm>
      </p:grpSpPr>
      <p:sp>
        <p:nvSpPr>
          <p:cNvPr id="1175" name="Google Shape;1175;g2b24b2f81fb_0_13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2b24b2f81fb_0_13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8" name="Shape 1188"/>
        <p:cNvGrpSpPr/>
        <p:nvPr/>
      </p:nvGrpSpPr>
      <p:grpSpPr>
        <a:xfrm>
          <a:off x="0" y="0"/>
          <a:ext cx="0" cy="0"/>
        </a:xfrm>
      </p:grpSpPr>
      <p:sp>
        <p:nvSpPr>
          <p:cNvPr id="1189" name="Google Shape;1189;g2b24b2f81fb_0_13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2b24b2f81fb_0_13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62" name="Shape 1262"/>
        <p:cNvGrpSpPr/>
        <p:nvPr/>
      </p:nvGrpSpPr>
      <p:grpSpPr>
        <a:xfrm>
          <a:off x="0" y="0"/>
          <a:ext cx="0" cy="0"/>
        </a:xfrm>
      </p:grpSpPr>
      <p:sp>
        <p:nvSpPr>
          <p:cNvPr id="1263" name="Google Shape;1263;g2b24b2f81fb_0_14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b24b2f81fb_0_14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9" name="Shape 1279"/>
        <p:cNvGrpSpPr/>
        <p:nvPr/>
      </p:nvGrpSpPr>
      <p:grpSpPr>
        <a:xfrm>
          <a:off x="0" y="0"/>
          <a:ext cx="0" cy="0"/>
        </a:xfrm>
      </p:grpSpPr>
      <p:sp>
        <p:nvSpPr>
          <p:cNvPr id="1280" name="Google Shape;1280;g2b24b2f81fb_0_18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2b24b2f81fb_0_18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0" name="Shape 1300"/>
        <p:cNvGrpSpPr/>
        <p:nvPr/>
      </p:nvGrpSpPr>
      <p:grpSpPr>
        <a:xfrm>
          <a:off x="0" y="0"/>
          <a:ext cx="0" cy="0"/>
        </a:xfrm>
      </p:grpSpPr>
      <p:sp>
        <p:nvSpPr>
          <p:cNvPr id="1301" name="Google Shape;1301;g2b24b2f81fb_0_14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2b24b2f81fb_0_14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8" name="Shape 1308"/>
        <p:cNvGrpSpPr/>
        <p:nvPr/>
      </p:nvGrpSpPr>
      <p:grpSpPr>
        <a:xfrm>
          <a:off x="0" y="0"/>
          <a:ext cx="0" cy="0"/>
        </a:xfrm>
      </p:grpSpPr>
      <p:sp>
        <p:nvSpPr>
          <p:cNvPr id="1309" name="Google Shape;1309;g2b24b2f81fb_0_14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2b24b2f81fb_0_14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23" name="Shape 1323"/>
        <p:cNvGrpSpPr/>
        <p:nvPr/>
      </p:nvGrpSpPr>
      <p:grpSpPr>
        <a:xfrm>
          <a:off x="0" y="0"/>
          <a:ext cx="0" cy="0"/>
        </a:xfrm>
      </p:grpSpPr>
      <p:sp>
        <p:nvSpPr>
          <p:cNvPr id="1324" name="Google Shape;1324;g2b24b2f81fb_0_14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2b24b2f81fb_0_14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29" name="Shape 1329"/>
        <p:cNvGrpSpPr/>
        <p:nvPr/>
      </p:nvGrpSpPr>
      <p:grpSpPr>
        <a:xfrm>
          <a:off x="0" y="0"/>
          <a:ext cx="0" cy="0"/>
        </a:xfrm>
      </p:grpSpPr>
      <p:sp>
        <p:nvSpPr>
          <p:cNvPr id="1330" name="Google Shape;1330;g2b24b2f81fb_0_14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2b24b2f81fb_0_14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59" name="Shape 1359"/>
        <p:cNvGrpSpPr/>
        <p:nvPr/>
      </p:nvGrpSpPr>
      <p:grpSpPr>
        <a:xfrm>
          <a:off x="0" y="0"/>
          <a:ext cx="0" cy="0"/>
        </a:xfrm>
      </p:grpSpPr>
      <p:sp>
        <p:nvSpPr>
          <p:cNvPr id="1360" name="Google Shape;1360;g2b24b2f81fb_0_14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" name="Google Shape;1361;g2b24b2f81fb_0_14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72" name="Shape 1372"/>
        <p:cNvGrpSpPr/>
        <p:nvPr/>
      </p:nvGrpSpPr>
      <p:grpSpPr>
        <a:xfrm>
          <a:off x="0" y="0"/>
          <a:ext cx="0" cy="0"/>
        </a:xfrm>
      </p:grpSpPr>
      <p:sp>
        <p:nvSpPr>
          <p:cNvPr id="1373" name="Google Shape;1373;g2b24b2f81fb_0_15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2b24b2f81fb_0_15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08" name="Shape 1408"/>
        <p:cNvGrpSpPr/>
        <p:nvPr/>
      </p:nvGrpSpPr>
      <p:grpSpPr>
        <a:xfrm>
          <a:off x="0" y="0"/>
          <a:ext cx="0" cy="0"/>
        </a:xfrm>
      </p:grpSpPr>
      <p:sp>
        <p:nvSpPr>
          <p:cNvPr id="1409" name="Google Shape;1409;g2b24b2f81fb_0_15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2b24b2f81fb_0_15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67" name="Shape 1467"/>
        <p:cNvGrpSpPr/>
        <p:nvPr/>
      </p:nvGrpSpPr>
      <p:grpSpPr>
        <a:xfrm>
          <a:off x="0" y="0"/>
          <a:ext cx="0" cy="0"/>
        </a:xfrm>
      </p:grpSpPr>
      <p:sp>
        <p:nvSpPr>
          <p:cNvPr id="1468" name="Google Shape;1468;g2b24b2f81fb_0_16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2b24b2f81fb_0_16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9" name="Shape 1499"/>
        <p:cNvGrpSpPr/>
        <p:nvPr/>
      </p:nvGrpSpPr>
      <p:grpSpPr>
        <a:xfrm>
          <a:off x="0" y="0"/>
          <a:ext cx="0" cy="0"/>
        </a:xfrm>
      </p:grpSpPr>
      <p:sp>
        <p:nvSpPr>
          <p:cNvPr id="1500" name="Google Shape;1500;g2b24b2f81fb_0_16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2b24b2f81fb_0_16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0" name="Shape 1510"/>
        <p:cNvGrpSpPr/>
        <p:nvPr/>
      </p:nvGrpSpPr>
      <p:grpSpPr>
        <a:xfrm>
          <a:off x="0" y="0"/>
          <a:ext cx="0" cy="0"/>
        </a:xfrm>
      </p:grpSpPr>
      <p:sp>
        <p:nvSpPr>
          <p:cNvPr id="1511" name="Google Shape;1511;g2b24b2f81fb_0_17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2" name="Google Shape;1512;g2b24b2f81fb_0_17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40" name="Shape 1540"/>
        <p:cNvGrpSpPr/>
        <p:nvPr/>
      </p:nvGrpSpPr>
      <p:grpSpPr>
        <a:xfrm>
          <a:off x="0" y="0"/>
          <a:ext cx="0" cy="0"/>
        </a:xfrm>
      </p:grpSpPr>
      <p:sp>
        <p:nvSpPr>
          <p:cNvPr id="1541" name="Google Shape;1541;g2b24b2f81fb_0_17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2b24b2f81fb_0_17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3" name="Shape 1553"/>
        <p:cNvGrpSpPr/>
        <p:nvPr/>
      </p:nvGrpSpPr>
      <p:grpSpPr>
        <a:xfrm>
          <a:off x="0" y="0"/>
          <a:ext cx="0" cy="0"/>
        </a:xfrm>
      </p:grpSpPr>
      <p:sp>
        <p:nvSpPr>
          <p:cNvPr id="1554" name="Google Shape;1554;g2b24b2f81fb_0_18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2b24b2f81fb_0_18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66" name="Shape 1566"/>
        <p:cNvGrpSpPr/>
        <p:nvPr/>
      </p:nvGrpSpPr>
      <p:grpSpPr>
        <a:xfrm>
          <a:off x="0" y="0"/>
          <a:ext cx="0" cy="0"/>
        </a:xfrm>
      </p:grpSpPr>
      <p:sp>
        <p:nvSpPr>
          <p:cNvPr id="1567" name="Google Shape;1567;g2b24b2f81fb_0_18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2b24b2f81fb_0_18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90" name="Shape 1590"/>
        <p:cNvGrpSpPr/>
        <p:nvPr/>
      </p:nvGrpSpPr>
      <p:grpSpPr>
        <a:xfrm>
          <a:off x="0" y="0"/>
          <a:ext cx="0" cy="0"/>
        </a:xfrm>
      </p:grpSpPr>
      <p:sp>
        <p:nvSpPr>
          <p:cNvPr id="1591" name="Google Shape;1591;g2b24b2f81fb_0_18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" name="Google Shape;1592;g2b24b2f81fb_0_18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02" name="Shape 1602"/>
        <p:cNvGrpSpPr/>
        <p:nvPr/>
      </p:nvGrpSpPr>
      <p:grpSpPr>
        <a:xfrm>
          <a:off x="0" y="0"/>
          <a:ext cx="0" cy="0"/>
        </a:xfrm>
      </p:grpSpPr>
      <p:sp>
        <p:nvSpPr>
          <p:cNvPr id="1603" name="Google Shape;1603;g2b24b2f81fb_0_19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4" name="Google Shape;1604;g2b24b2f81fb_0_19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08" name="Shape 1608"/>
        <p:cNvGrpSpPr/>
        <p:nvPr/>
      </p:nvGrpSpPr>
      <p:grpSpPr>
        <a:xfrm>
          <a:off x="0" y="0"/>
          <a:ext cx="0" cy="0"/>
        </a:xfrm>
      </p:grpSpPr>
      <p:sp>
        <p:nvSpPr>
          <p:cNvPr id="1609" name="Google Shape;1609;g2b24b2f81fb_0_19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0" name="Google Shape;1610;g2b24b2f81fb_0_19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1" name="Shape 1621"/>
        <p:cNvGrpSpPr/>
        <p:nvPr/>
      </p:nvGrpSpPr>
      <p:grpSpPr>
        <a:xfrm>
          <a:off x="0" y="0"/>
          <a:ext cx="0" cy="0"/>
        </a:xfrm>
      </p:grpSpPr>
      <p:sp>
        <p:nvSpPr>
          <p:cNvPr id="1622" name="Google Shape;1622;g2b24b2f81fb_0_19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2b24b2f81fb_0_19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49" name="Shape 1649"/>
        <p:cNvGrpSpPr/>
        <p:nvPr/>
      </p:nvGrpSpPr>
      <p:grpSpPr>
        <a:xfrm>
          <a:off x="0" y="0"/>
          <a:ext cx="0" cy="0"/>
        </a:xfrm>
      </p:grpSpPr>
      <p:sp>
        <p:nvSpPr>
          <p:cNvPr id="1650" name="Google Shape;1650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5" name="Shape 1655"/>
        <p:cNvGrpSpPr/>
        <p:nvPr/>
      </p:nvGrpSpPr>
      <p:grpSpPr>
        <a:xfrm>
          <a:off x="0" y="0"/>
          <a:ext cx="0" cy="0"/>
        </a:xfrm>
      </p:grpSpPr>
      <p:sp>
        <p:nvSpPr>
          <p:cNvPr id="1656" name="Google Shape;1656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 2">
  <p:cSld name="CUSTOM_3_1_3"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5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4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Relationship Id="rId6" Type="http://schemas.openxmlformats.org/officeDocument/2006/relationships/image" Target="../media/image48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5.png" /><Relationship Id="rId4" Type="http://schemas.openxmlformats.org/officeDocument/2006/relationships/image" Target="../media/image47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8.png" /><Relationship Id="rId4" Type="http://schemas.openxmlformats.org/officeDocument/2006/relationships/image" Target="../media/image47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5.png" /><Relationship Id="rId6" Type="http://schemas.openxmlformats.org/officeDocument/2006/relationships/image" Target="../media/image48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Relationship Id="rId6" Type="http://schemas.openxmlformats.org/officeDocument/2006/relationships/image" Target="../media/image48.png" /><Relationship Id="rId7" Type="http://schemas.openxmlformats.org/officeDocument/2006/relationships/image" Target="../media/image44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Relationship Id="rId6" Type="http://schemas.openxmlformats.org/officeDocument/2006/relationships/image" Target="../media/image48.png" /><Relationship Id="rId7" Type="http://schemas.openxmlformats.org/officeDocument/2006/relationships/image" Target="../media/image44.png" /><Relationship Id="rId8" Type="http://schemas.openxmlformats.org/officeDocument/2006/relationships/image" Target="../media/image49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Relationship Id="rId6" Type="http://schemas.openxmlformats.org/officeDocument/2006/relationships/image" Target="../media/image48.png" /><Relationship Id="rId7" Type="http://schemas.openxmlformats.org/officeDocument/2006/relationships/image" Target="../media/image44.png" /><Relationship Id="rId8" Type="http://schemas.openxmlformats.org/officeDocument/2006/relationships/image" Target="../media/image49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5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44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43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50.png" /><Relationship Id="rId4" Type="http://schemas.openxmlformats.org/officeDocument/2006/relationships/image" Target="../media/image47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50.png" /><Relationship Id="rId4" Type="http://schemas.openxmlformats.org/officeDocument/2006/relationships/image" Target="../media/image47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notesSlide" Target="../notesSlides/notesSlide3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3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51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1.x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2.xml" /><Relationship Id="rId3" Type="http://schemas.openxmlformats.org/officeDocument/2006/relationships/image" Target="../media/image51.png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43.xml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4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5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More complex binomial products</a:t>
            </a:r>
            <a:endParaRPr/>
          </a:p>
        </p:txBody>
      </p:sp>
      <p:sp>
        <p:nvSpPr>
          <p:cNvPr id="754" name="Google Shape;754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Expressions and formulae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8" name="Shape 758"/>
        <p:cNvGrpSpPr/>
        <p:nvPr/>
      </p:nvGrpSpPr>
      <p:grpSpPr>
        <a:xfrm>
          <a:off x="0" y="0"/>
          <a: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3" name="Shape 763"/>
        <p:cNvGrpSpPr/>
        <p:nvPr/>
      </p:nvGrpSpPr>
      <p:grpSpPr>
        <a:xfrm>
          <a:off x="0" y="0"/>
          <a:ext cx="0" cy="0"/>
        </a:xfrm>
      </p:grpSpPr>
      <p:sp>
        <p:nvSpPr>
          <p:cNvPr id="764" name="Google Shape;764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find more complex binomial products.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8" name="Shape 768"/>
        <p:cNvGrpSpPr/>
        <p:nvPr/>
      </p:nvGrpSpPr>
      <p:grpSpPr>
        <a:xfrm>
          <a:off x="0" y="0"/>
          <a:ext cx="0" cy="0"/>
        </a:xfrm>
      </p:grpSpPr>
      <p:sp>
        <p:nvSpPr>
          <p:cNvPr id="769" name="Google Shape;769;p66"/>
          <p:cNvSpPr txBox="1"/>
          <p:nvPr>
            <p:ph type="subTitle" idx="1"/>
          </p:nvPr>
        </p:nvSpPr>
        <p:spPr>
          <a:xfrm>
            <a:off x="324000" y="1080000"/>
            <a:ext cx="8496000" cy="237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0">
                <a:solidFill>
                  <a:schemeClr val="dk1"/>
                </a:solidFill>
              </a:rPr>
              <a:t>A binomial is an algebraic expression representing the sum of exactly two unlike terms.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0" u="sng">
                <a:solidFill>
                  <a:schemeClr val="dk1"/>
                </a:solidFill>
              </a:rPr>
              <a:t>Examples</a:t>
            </a:r>
            <a:endParaRPr sz="2000" b="0" u="sng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b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endParaRPr b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− 6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b="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b="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70" name="Google Shape;770;p66"/>
          <p:cNvSpPr txBox="1"/>
          <p:nvPr/>
        </p:nvSpPr>
        <p:spPr>
          <a:xfrm>
            <a:off x="1761000" y="2405400"/>
            <a:ext cx="1202400" cy="8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2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 +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22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6"/>
          <p:cNvSpPr txBox="1"/>
          <p:nvPr/>
        </p:nvSpPr>
        <p:spPr>
          <a:xfrm>
            <a:off x="324000" y="3774875"/>
            <a:ext cx="8300400" cy="8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partial product refers to any of the multiplication results that lead up to an overall multiplication result. 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777" name="Google Shape;777;p6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Coefficients greater than 1</a:t>
            </a:r>
            <a:endParaRPr/>
          </a:p>
        </p:txBody>
      </p:sp>
      <p:sp>
        <p:nvSpPr>
          <p:cNvPr id="778" name="Google Shape;778;p6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More complex binomial products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11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785" name="Google Shape;785;p68"/>
          <p:cNvSpPr txBox="1"/>
          <p:nvPr>
            <p:ph type="body" idx="1"/>
          </p:nvPr>
        </p:nvSpPr>
        <p:spPr>
          <a:xfrm>
            <a:off x="324000" y="810000"/>
            <a:ext cx="8237700" cy="25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Sometimes terms within the binomials are not in the same order.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How could we find the product of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+ 3)(7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800"/>
              <a:t>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We can rearrange the terms within the binomials so the like terms are in the same order.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(7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+ 7)</a:t>
            </a: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</a:rPr>
              <a:t>So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+ 3)(7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800"/>
              <a:t>can be written as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+ 7)</a:t>
            </a: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786" name="Google Shape;786;p68"/>
          <p:cNvGrpSpPr/>
          <p:nvPr/>
        </p:nvGrpSpPr>
        <p:grpSpPr>
          <a:xfrm>
            <a:off x="5613886" y="2853780"/>
            <a:ext cx="2494582" cy="1753145"/>
            <a:chOff x="4800350" y="2706857"/>
            <a:chExt cx="2890259" cy="2031218"/>
          </a:xfrm>
        </p:grpSpPr>
        <p:grpSp>
          <p:nvGrpSpPr>
            <p:cNvPr id="787" name="Google Shape;787;p68"/>
            <p:cNvGrpSpPr/>
            <p:nvPr/>
          </p:nvGrpSpPr>
          <p:grpSpPr>
            <a:xfrm>
              <a:off x="5249125" y="3161612"/>
              <a:ext cx="2441484" cy="1567516"/>
              <a:chOff x="964919" y="2012573"/>
              <a:chExt cx="2022603" cy="1572233"/>
            </a:xfrm>
          </p:grpSpPr>
          <p:sp>
            <p:nvSpPr>
              <p:cNvPr id="788" name="Google Shape;788;p68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789" name="Google Shape;789;p68"/>
              <p:cNvSpPr/>
              <p:nvPr/>
            </p:nvSpPr>
            <p:spPr>
              <a:xfrm>
                <a:off x="1859521" y="2013427"/>
                <a:ext cx="11280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790" name="Google Shape;790;p68"/>
              <p:cNvSpPr/>
              <p:nvPr/>
            </p:nvSpPr>
            <p:spPr>
              <a:xfrm>
                <a:off x="964921" y="3098206"/>
                <a:ext cx="8946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791" name="Google Shape;791;p68"/>
              <p:cNvSpPr/>
              <p:nvPr/>
            </p:nvSpPr>
            <p:spPr>
              <a:xfrm>
                <a:off x="1859521" y="3098206"/>
                <a:ext cx="11280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792" name="Google Shape;792;p68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793" name="Google Shape;793;p68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794" name="Google Shape;794;p68"/>
            <p:cNvSpPr txBox="1"/>
            <p:nvPr/>
          </p:nvSpPr>
          <p:spPr>
            <a:xfrm>
              <a:off x="5758453" y="2706857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               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7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    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795" name="Google Shape;795;p68"/>
            <p:cNvCxnSpPr/>
            <p:nvPr/>
          </p:nvCxnSpPr>
          <p:spPr>
            <a:xfrm>
              <a:off x="5249120" y="3083564"/>
              <a:ext cx="99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796" name="Google Shape;796;p68"/>
            <p:cNvCxnSpPr/>
            <p:nvPr/>
          </p:nvCxnSpPr>
          <p:spPr>
            <a:xfrm>
              <a:off x="6248376" y="3083571"/>
              <a:ext cx="1419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797" name="Google Shape;797;p68"/>
            <p:cNvCxnSpPr/>
            <p:nvPr/>
          </p:nvCxnSpPr>
          <p:spPr>
            <a:xfrm flipH="1">
              <a:off x="5127328" y="4214575"/>
              <a:ext cx="0" cy="523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798" name="Google Shape;798;p68"/>
            <p:cNvSpPr txBox="1"/>
            <p:nvPr/>
          </p:nvSpPr>
          <p:spPr>
            <a:xfrm>
              <a:off x="4800350" y="4364825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3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799" name="Google Shape;799;p68"/>
          <p:cNvSpPr/>
          <p:nvPr/>
        </p:nvSpPr>
        <p:spPr>
          <a:xfrm>
            <a:off x="6001430" y="3246378"/>
            <a:ext cx="932100" cy="932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0" name="Google Shape;800;p68"/>
          <p:cNvSpPr/>
          <p:nvPr/>
        </p:nvSpPr>
        <p:spPr>
          <a:xfrm>
            <a:off x="6933513" y="3247113"/>
            <a:ext cx="1175400" cy="933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1" name="Google Shape;801;p68"/>
          <p:cNvSpPr/>
          <p:nvPr/>
        </p:nvSpPr>
        <p:spPr>
          <a:xfrm>
            <a:off x="6001432" y="4180611"/>
            <a:ext cx="932100" cy="418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2" name="Google Shape;802;p68"/>
          <p:cNvSpPr/>
          <p:nvPr/>
        </p:nvSpPr>
        <p:spPr>
          <a:xfrm>
            <a:off x="6933513" y="4180611"/>
            <a:ext cx="1175400" cy="418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21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3" name="Google Shape;803;p68"/>
          <p:cNvSpPr txBox="1"/>
          <p:nvPr/>
        </p:nvSpPr>
        <p:spPr>
          <a:xfrm>
            <a:off x="324000" y="3459288"/>
            <a:ext cx="1626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</a:t>
            </a:r>
            <a:r>
              <a:rPr lang="en-GB" sz="19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lang="en-GB" sz="19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21</a:t>
            </a:r>
            <a:endParaRPr sz="19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7" name="Shape 807"/>
        <p:cNvGrpSpPr/>
        <p:nvPr/>
      </p:nvGrpSpPr>
      <p:grpSpPr>
        <a:xfrm>
          <a:off x="0" y="0"/>
          <a:ext cx="0" cy="0"/>
        </a:xfrm>
      </p:grpSpPr>
      <p:sp>
        <p:nvSpPr>
          <p:cNvPr id="808" name="Google Shape;808;p69"/>
          <p:cNvSpPr txBox="1"/>
          <p:nvPr>
            <p:ph type="body" idx="1"/>
          </p:nvPr>
        </p:nvSpPr>
        <p:spPr>
          <a:xfrm>
            <a:off x="324000" y="2338200"/>
            <a:ext cx="84960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So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(3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800"/>
              <a:t>can be written as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9" name="Google Shape;80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810" name="Google Shape;810;p69"/>
          <p:cNvSpPr txBox="1"/>
          <p:nvPr>
            <p:ph type="body" idx="1"/>
          </p:nvPr>
        </p:nvSpPr>
        <p:spPr>
          <a:xfrm>
            <a:off x="324000" y="810000"/>
            <a:ext cx="7135200" cy="78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How could we write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(3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/>
              <a:t> so the like terms are in the same order in both brackets?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811" name="Google Shape;811;p69"/>
          <p:cNvGrpSpPr/>
          <p:nvPr/>
        </p:nvGrpSpPr>
        <p:grpSpPr>
          <a:xfrm>
            <a:off x="358750" y="2910405"/>
            <a:ext cx="2527993" cy="1801520"/>
            <a:chOff x="4761640" y="2650808"/>
            <a:chExt cx="2928969" cy="2087267"/>
          </a:xfrm>
        </p:grpSpPr>
        <p:grpSp>
          <p:nvGrpSpPr>
            <p:cNvPr id="812" name="Google Shape;812;p69"/>
            <p:cNvGrpSpPr/>
            <p:nvPr/>
          </p:nvGrpSpPr>
          <p:grpSpPr>
            <a:xfrm>
              <a:off x="5249125" y="3161612"/>
              <a:ext cx="2441484" cy="1567516"/>
              <a:chOff x="964919" y="2012573"/>
              <a:chExt cx="2022603" cy="1572233"/>
            </a:xfrm>
          </p:grpSpPr>
          <p:sp>
            <p:nvSpPr>
              <p:cNvPr id="813" name="Google Shape;813;p69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14" name="Google Shape;814;p69"/>
              <p:cNvSpPr/>
              <p:nvPr/>
            </p:nvSpPr>
            <p:spPr>
              <a:xfrm>
                <a:off x="1859521" y="2013427"/>
                <a:ext cx="11280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15" name="Google Shape;815;p69"/>
              <p:cNvSpPr/>
              <p:nvPr/>
            </p:nvSpPr>
            <p:spPr>
              <a:xfrm>
                <a:off x="964921" y="3098206"/>
                <a:ext cx="8946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16" name="Google Shape;816;p69"/>
              <p:cNvSpPr/>
              <p:nvPr/>
            </p:nvSpPr>
            <p:spPr>
              <a:xfrm>
                <a:off x="1859521" y="3098206"/>
                <a:ext cx="11280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817" name="Google Shape;817;p69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818" name="Google Shape;818;p69"/>
            <p:cNvSpPr txBox="1"/>
            <p:nvPr/>
          </p:nvSpPr>
          <p:spPr>
            <a:xfrm>
              <a:off x="4761640" y="3544905"/>
              <a:ext cx="432600" cy="3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19" name="Google Shape;819;p69"/>
            <p:cNvSpPr txBox="1"/>
            <p:nvPr/>
          </p:nvSpPr>
          <p:spPr>
            <a:xfrm>
              <a:off x="5715469" y="2650808"/>
              <a:ext cx="1909500" cy="28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        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7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    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820" name="Google Shape;820;p69"/>
            <p:cNvCxnSpPr/>
            <p:nvPr/>
          </p:nvCxnSpPr>
          <p:spPr>
            <a:xfrm>
              <a:off x="5249120" y="3083564"/>
              <a:ext cx="99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821" name="Google Shape;821;p69"/>
            <p:cNvCxnSpPr/>
            <p:nvPr/>
          </p:nvCxnSpPr>
          <p:spPr>
            <a:xfrm>
              <a:off x="6248376" y="3083571"/>
              <a:ext cx="1419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822" name="Google Shape;822;p69"/>
            <p:cNvCxnSpPr/>
            <p:nvPr/>
          </p:nvCxnSpPr>
          <p:spPr>
            <a:xfrm flipH="1">
              <a:off x="5127328" y="4214575"/>
              <a:ext cx="0" cy="523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823" name="Google Shape;823;p69"/>
            <p:cNvSpPr txBox="1"/>
            <p:nvPr/>
          </p:nvSpPr>
          <p:spPr>
            <a:xfrm>
              <a:off x="4800350" y="4364825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3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24" name="Google Shape;824;p69"/>
          <p:cNvSpPr/>
          <p:nvPr/>
        </p:nvSpPr>
        <p:spPr>
          <a:xfrm>
            <a:off x="779705" y="3351378"/>
            <a:ext cx="932100" cy="932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5" name="Google Shape;825;p69"/>
          <p:cNvSpPr/>
          <p:nvPr/>
        </p:nvSpPr>
        <p:spPr>
          <a:xfrm>
            <a:off x="1711788" y="3352113"/>
            <a:ext cx="1175400" cy="933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6" name="Google Shape;826;p69"/>
          <p:cNvSpPr/>
          <p:nvPr/>
        </p:nvSpPr>
        <p:spPr>
          <a:xfrm>
            <a:off x="779707" y="4285611"/>
            <a:ext cx="932100" cy="418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7" name="Google Shape;827;p69"/>
          <p:cNvSpPr/>
          <p:nvPr/>
        </p:nvSpPr>
        <p:spPr>
          <a:xfrm>
            <a:off x="1711788" y="4285611"/>
            <a:ext cx="1175400" cy="418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21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8" name="Google Shape;828;p69"/>
          <p:cNvSpPr txBox="1"/>
          <p:nvPr>
            <p:ph type="body" idx="1"/>
          </p:nvPr>
        </p:nvSpPr>
        <p:spPr>
          <a:xfrm>
            <a:off x="324000" y="1786800"/>
            <a:ext cx="25632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(3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( 3 + 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))</a:t>
            </a: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9" name="Google Shape;829;p69"/>
          <p:cNvSpPr txBox="1"/>
          <p:nvPr>
            <p:ph type="body" idx="1"/>
          </p:nvPr>
        </p:nvSpPr>
        <p:spPr>
          <a:xfrm>
            <a:off x="2486025" y="1777650"/>
            <a:ext cx="25632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+ 3)</a:t>
            </a: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0" name="Google Shape;830;p69"/>
          <p:cNvSpPr txBox="1"/>
          <p:nvPr>
            <p:ph type="body" idx="1"/>
          </p:nvPr>
        </p:nvSpPr>
        <p:spPr>
          <a:xfrm>
            <a:off x="3369600" y="2826600"/>
            <a:ext cx="54504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Be careful when multiplying negative values.</a:t>
            </a: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1" name="Google Shape;831;p69"/>
          <p:cNvSpPr txBox="1"/>
          <p:nvPr/>
        </p:nvSpPr>
        <p:spPr>
          <a:xfrm>
            <a:off x="3583716" y="3315000"/>
            <a:ext cx="1360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2" name="Google Shape;832;p69"/>
          <p:cNvSpPr txBox="1"/>
          <p:nvPr/>
        </p:nvSpPr>
        <p:spPr>
          <a:xfrm>
            <a:off x="3426104" y="3696000"/>
            <a:ext cx="1838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× −7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7</a:t>
            </a:r>
            <a:r>
              <a:rPr lang="en-GB" sz="20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3" name="Google Shape;833;p69"/>
          <p:cNvSpPr txBox="1"/>
          <p:nvPr/>
        </p:nvSpPr>
        <p:spPr>
          <a:xfrm>
            <a:off x="3714625" y="4077000"/>
            <a:ext cx="1360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3 ×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3</a:t>
            </a:r>
            <a:r>
              <a:rPr lang="en-GB" sz="20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4" name="Google Shape;834;p69"/>
          <p:cNvSpPr txBox="1"/>
          <p:nvPr/>
        </p:nvSpPr>
        <p:spPr>
          <a:xfrm>
            <a:off x="3562225" y="4473900"/>
            <a:ext cx="18894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3 × −7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−21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5" name="Google Shape;835;p69"/>
          <p:cNvSpPr txBox="1"/>
          <p:nvPr>
            <p:ph type="body" idx="1"/>
          </p:nvPr>
        </p:nvSpPr>
        <p:spPr>
          <a:xfrm>
            <a:off x="5415800" y="3780000"/>
            <a:ext cx="31950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(3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+10</a:t>
            </a:r>
            <a:r>
              <a:rPr lang="en-GB" sz="20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− 21</a:t>
            </a:r>
            <a:endParaRPr sz="19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6" name="Google Shape;836;p69"/>
          <p:cNvSpPr/>
          <p:nvPr/>
        </p:nvSpPr>
        <p:spPr>
          <a:xfrm>
            <a:off x="5272450" y="3610475"/>
            <a:ext cx="3474300" cy="709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0" name="Shape 840"/>
        <p:cNvGrpSpPr/>
        <p:nvPr/>
      </p:nvGrpSpPr>
      <p:grpSpPr>
        <a:xfrm>
          <a:off x="0" y="0"/>
          <a:ext cx="0" cy="0"/>
        </a:xfrm>
      </p:grpSpPr>
      <p:sp>
        <p:nvSpPr>
          <p:cNvPr id="841" name="Google Shape;841;p7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(−1 +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/>
          </a:p>
        </p:txBody>
      </p:sp>
      <p:sp>
        <p:nvSpPr>
          <p:cNvPr id="842" name="Google Shape;842;p7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843" name="Google Shape;843;p7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Which of these binomials are equivalent to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(1 −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/>
              <a:t>?</a:t>
            </a:r>
            <a:endParaRPr/>
          </a:p>
        </p:txBody>
      </p:sp>
      <p:sp>
        <p:nvSpPr>
          <p:cNvPr id="844" name="Google Shape;844;p70"/>
          <p:cNvSpPr txBox="1"/>
          <p:nvPr>
            <p:ph type="subTitle" idx="3"/>
          </p:nvPr>
        </p:nvSpPr>
        <p:spPr>
          <a:xfrm>
            <a:off x="1070700" y="4106372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− 1)</a:t>
            </a:r>
            <a:endParaRPr/>
          </a:p>
        </p:txBody>
      </p:sp>
      <p:sp>
        <p:nvSpPr>
          <p:cNvPr id="845" name="Google Shape;845;p70"/>
          <p:cNvSpPr txBox="1"/>
          <p:nvPr>
            <p:ph type="subTitle" idx="4"/>
          </p:nvPr>
        </p:nvSpPr>
        <p:spPr>
          <a:xfrm>
            <a:off x="1055425" y="33112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(−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</a:t>
            </a:r>
            <a:endParaRPr/>
          </a:p>
        </p:txBody>
      </p:sp>
      <p:sp>
        <p:nvSpPr>
          <p:cNvPr id="846" name="Google Shape;846;p70"/>
          <p:cNvSpPr txBox="1"/>
          <p:nvPr>
            <p:ph type="subTitle" idx="5"/>
          </p:nvPr>
        </p:nvSpPr>
        <p:spPr>
          <a:xfrm>
            <a:off x="1034425" y="2480475"/>
            <a:ext cx="20817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(−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endParaRPr/>
          </a:p>
        </p:txBody>
      </p:sp>
      <p:pic>
        <p:nvPicPr>
          <p:cNvPr id="847" name="Google Shape;84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5383" y="249343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0"/>
          <p:cNvSpPr txBox="1"/>
          <p:nvPr>
            <p:ph type="subTitle" idx="5"/>
          </p:nvPr>
        </p:nvSpPr>
        <p:spPr>
          <a:xfrm>
            <a:off x="3372750" y="2522850"/>
            <a:ext cx="4299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(1 −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(1 + (−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(−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2" name="Shape 852"/>
        <p:cNvGrpSpPr/>
        <p:nvPr/>
      </p:nvGrpSpPr>
      <p:grpSpPr>
        <a:xfrm>
          <a:off x="0" y="0"/>
          <a:ext cx="0" cy="0"/>
        </a:xfrm>
      </p:grpSpPr>
      <p:sp>
        <p:nvSpPr>
          <p:cNvPr id="853" name="Google Shape;85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854" name="Google Shape;854;p71"/>
          <p:cNvSpPr txBox="1"/>
          <p:nvPr>
            <p:ph type="body" idx="1"/>
          </p:nvPr>
        </p:nvSpPr>
        <p:spPr>
          <a:xfrm>
            <a:off x="324000" y="810000"/>
            <a:ext cx="7135200" cy="78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Some pupils are finding the product of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)(2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/>
              <a:t>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855" name="Google Shape;855;p71"/>
          <p:cNvGrpSpPr/>
          <p:nvPr/>
        </p:nvGrpSpPr>
        <p:grpSpPr>
          <a:xfrm>
            <a:off x="324000" y="1454246"/>
            <a:ext cx="8490388" cy="2134693"/>
            <a:chOff x="324000" y="1454246"/>
            <a:chExt cx="8490388" cy="2134693"/>
          </a:xfrm>
        </p:grpSpPr>
        <p:pic>
          <p:nvPicPr>
            <p:cNvPr id="856" name="Google Shape;856;p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3317283" y="2662500"/>
              <a:ext cx="458105" cy="5657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7" name="Google Shape;857;p71"/>
            <p:cNvSpPr txBox="1"/>
            <p:nvPr/>
          </p:nvSpPr>
          <p:spPr>
            <a:xfrm flipH="1">
              <a:off x="2988588" y="3219639"/>
              <a:ext cx="1044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Jacob</a:t>
              </a:r>
              <a:endParaRPr sz="18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8" name="Google Shape;858;p71"/>
            <p:cNvSpPr txBox="1"/>
            <p:nvPr/>
          </p:nvSpPr>
          <p:spPr>
            <a:xfrm>
              <a:off x="324000" y="3197425"/>
              <a:ext cx="9108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Lucas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59" name="Google Shape;859;p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7095" y="2645550"/>
              <a:ext cx="464616" cy="51389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0" name="Google Shape;860;p71"/>
            <p:cNvGrpSpPr/>
            <p:nvPr/>
          </p:nvGrpSpPr>
          <p:grpSpPr>
            <a:xfrm>
              <a:off x="881205" y="1454246"/>
              <a:ext cx="2213653" cy="1383837"/>
              <a:chOff x="1807240" y="1612125"/>
              <a:chExt cx="1971020" cy="931500"/>
            </a:xfrm>
          </p:grpSpPr>
          <p:pic>
            <p:nvPicPr>
              <p:cNvPr id="861" name="Google Shape;861;p71"/>
              <p:cNvPicPr preferRelativeResize="0"/>
              <p:nvPr/>
            </p:nvPicPr>
            <p:blipFill>
              <a:blip r:embed="rId5">
                <a:alphaModFix/>
              </a:blip>
              <a:srcRect t="56280" r="69082"/>
              <a:stretch>
                <a:fillRect/>
              </a:stretch>
            </p:blipFill>
            <p:spPr>
              <a:xfrm flipH="1">
                <a:off x="1807240" y="1612125"/>
                <a:ext cx="1901629" cy="93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2" name="Google Shape;862;p71"/>
              <p:cNvSpPr txBox="1"/>
              <p:nvPr/>
            </p:nvSpPr>
            <p:spPr>
              <a:xfrm flipH="1">
                <a:off x="1983960" y="1743823"/>
                <a:ext cx="1794300" cy="66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I’m going to rewrite this as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(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x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− 5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)(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x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+ 2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)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id="863" name="Google Shape;863;p7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985727" y="2666371"/>
              <a:ext cx="446257" cy="5580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4" name="Google Shape;864;p71"/>
            <p:cNvSpPr txBox="1"/>
            <p:nvPr/>
          </p:nvSpPr>
          <p:spPr>
            <a:xfrm flipH="1">
              <a:off x="5857875" y="3224442"/>
              <a:ext cx="864000" cy="35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Jun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65" name="Google Shape;865;p71"/>
            <p:cNvGrpSpPr/>
            <p:nvPr/>
          </p:nvGrpSpPr>
          <p:grpSpPr>
            <a:xfrm>
              <a:off x="3700605" y="1454246"/>
              <a:ext cx="2213653" cy="1383837"/>
              <a:chOff x="1807240" y="1612125"/>
              <a:chExt cx="1971020" cy="931500"/>
            </a:xfrm>
          </p:grpSpPr>
          <p:pic>
            <p:nvPicPr>
              <p:cNvPr id="866" name="Google Shape;866;p71"/>
              <p:cNvPicPr preferRelativeResize="0"/>
              <p:nvPr/>
            </p:nvPicPr>
            <p:blipFill>
              <a:blip r:embed="rId5">
                <a:alphaModFix/>
              </a:blip>
              <a:srcRect t="56280" r="69082"/>
              <a:stretch>
                <a:fillRect/>
              </a:stretch>
            </p:blipFill>
            <p:spPr>
              <a:xfrm flipH="1">
                <a:off x="1807240" y="1612125"/>
                <a:ext cx="1901629" cy="93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7" name="Google Shape;867;p71"/>
              <p:cNvSpPr txBox="1"/>
              <p:nvPr/>
            </p:nvSpPr>
            <p:spPr>
              <a:xfrm flipH="1">
                <a:off x="1983960" y="1743823"/>
                <a:ext cx="1794300" cy="66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I’m going to rewrite this as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(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−5 + 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)(2</a:t>
                </a:r>
                <a:r>
                  <a:rPr lang="en-GB" sz="2000" i="1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 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)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868" name="Google Shape;868;p71"/>
            <p:cNvGrpSpPr/>
            <p:nvPr/>
          </p:nvGrpSpPr>
          <p:grpSpPr>
            <a:xfrm>
              <a:off x="6347024" y="1454321"/>
              <a:ext cx="2467364" cy="1383837"/>
              <a:chOff x="1807240" y="1612125"/>
              <a:chExt cx="1901629" cy="931500"/>
            </a:xfrm>
          </p:grpSpPr>
          <p:pic>
            <p:nvPicPr>
              <p:cNvPr id="869" name="Google Shape;869;p71"/>
              <p:cNvPicPr preferRelativeResize="0"/>
              <p:nvPr/>
            </p:nvPicPr>
            <p:blipFill>
              <a:blip r:embed="rId5">
                <a:alphaModFix/>
              </a:blip>
              <a:srcRect t="56280" r="69082"/>
              <a:stretch>
                <a:fillRect/>
              </a:stretch>
            </p:blipFill>
            <p:spPr>
              <a:xfrm flipH="1">
                <a:off x="1807240" y="1612125"/>
                <a:ext cx="1901629" cy="93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0" name="Google Shape;870;p71"/>
              <p:cNvSpPr txBox="1"/>
              <p:nvPr/>
            </p:nvSpPr>
            <p:spPr>
              <a:xfrm flipH="1">
                <a:off x="1929098" y="1743826"/>
                <a:ext cx="1706100" cy="66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I’m going to find the product without rearranging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871" name="Google Shape;871;p71"/>
          <p:cNvSpPr txBox="1"/>
          <p:nvPr>
            <p:ph type="body" idx="1"/>
          </p:nvPr>
        </p:nvSpPr>
        <p:spPr>
          <a:xfrm>
            <a:off x="324000" y="3780000"/>
            <a:ext cx="7135200" cy="4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Will all of these methods produce the same answer?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2" name="Google Shape;872;p71"/>
          <p:cNvSpPr txBox="1"/>
          <p:nvPr>
            <p:ph type="body" idx="1"/>
          </p:nvPr>
        </p:nvSpPr>
        <p:spPr>
          <a:xfrm>
            <a:off x="324000" y="4237200"/>
            <a:ext cx="7135200" cy="4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Which method do you prefer?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6" name="Shape 876"/>
        <p:cNvGrpSpPr/>
        <p:nvPr/>
      </p:nvGrpSpPr>
      <p:grpSpPr>
        <a:xfrm>
          <a:off x="0" y="0"/>
          <a:ext cx="0" cy="0"/>
        </a:xfrm>
      </p:grpSpPr>
      <p:sp>
        <p:nvSpPr>
          <p:cNvPr id="877" name="Google Shape;87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878" name="Google Shape;878;p72"/>
          <p:cNvSpPr txBox="1"/>
          <p:nvPr>
            <p:ph type="body" idx="1"/>
          </p:nvPr>
        </p:nvSpPr>
        <p:spPr>
          <a:xfrm>
            <a:off x="324000" y="810000"/>
            <a:ext cx="7135200" cy="78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Some pupils are finding the product of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)(2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/>
              <a:t>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79" name="Google Shape;87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647" y="2645550"/>
            <a:ext cx="589050" cy="651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0" name="Google Shape;880;p72"/>
          <p:cNvGrpSpPr/>
          <p:nvPr/>
        </p:nvGrpSpPr>
        <p:grpSpPr>
          <a:xfrm>
            <a:off x="773555" y="1261721"/>
            <a:ext cx="2213653" cy="1383837"/>
            <a:chOff x="1807240" y="1612125"/>
            <a:chExt cx="1971020" cy="931500"/>
          </a:xfrm>
        </p:grpSpPr>
        <p:pic>
          <p:nvPicPr>
            <p:cNvPr id="881" name="Google Shape;881;p72"/>
            <p:cNvPicPr preferRelativeResize="0"/>
            <p:nvPr/>
          </p:nvPicPr>
          <p:blipFill>
            <a:blip r:embed="rId4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2" name="Google Shape;882;p72"/>
            <p:cNvSpPr txBox="1"/>
            <p:nvPr/>
          </p:nvSpPr>
          <p:spPr>
            <a:xfrm flipH="1">
              <a:off x="1983960" y="1743823"/>
              <a:ext cx="1794300" cy="6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I’m going to rewrite this as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− 5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)(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+ 2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83" name="Google Shape;883;p72"/>
          <p:cNvSpPr txBox="1"/>
          <p:nvPr/>
        </p:nvSpPr>
        <p:spPr>
          <a:xfrm>
            <a:off x="3376325" y="1602013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4" name="Google Shape;884;p72"/>
          <p:cNvSpPr txBox="1"/>
          <p:nvPr/>
        </p:nvSpPr>
        <p:spPr>
          <a:xfrm>
            <a:off x="3049350" y="2548863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−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885" name="Google Shape;885;p72"/>
          <p:cNvGrpSpPr/>
          <p:nvPr/>
        </p:nvGrpSpPr>
        <p:grpSpPr>
          <a:xfrm>
            <a:off x="5644950" y="1333644"/>
            <a:ext cx="2738343" cy="2348456"/>
            <a:chOff x="5644950" y="1333644"/>
            <a:chExt cx="2738343" cy="2348456"/>
          </a:xfrm>
        </p:grpSpPr>
        <p:grpSp>
          <p:nvGrpSpPr>
            <p:cNvPr id="886" name="Google Shape;886;p72"/>
            <p:cNvGrpSpPr/>
            <p:nvPr/>
          </p:nvGrpSpPr>
          <p:grpSpPr>
            <a:xfrm>
              <a:off x="6159850" y="1793937"/>
              <a:ext cx="1717227" cy="1874387"/>
              <a:chOff x="964919" y="2012573"/>
              <a:chExt cx="1422606" cy="1880027"/>
            </a:xfrm>
          </p:grpSpPr>
          <p:sp>
            <p:nvSpPr>
              <p:cNvPr id="887" name="Google Shape;887;p72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88" name="Google Shape;888;p72"/>
              <p:cNvSpPr/>
              <p:nvPr/>
            </p:nvSpPr>
            <p:spPr>
              <a:xfrm>
                <a:off x="1859524" y="2013439"/>
                <a:ext cx="5280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89" name="Google Shape;889;p72"/>
              <p:cNvSpPr/>
              <p:nvPr/>
            </p:nvSpPr>
            <p:spPr>
              <a:xfrm>
                <a:off x="964919" y="3098200"/>
                <a:ext cx="894600" cy="794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90" name="Google Shape;890;p72"/>
              <p:cNvSpPr/>
              <p:nvPr/>
            </p:nvSpPr>
            <p:spPr>
              <a:xfrm>
                <a:off x="1859515" y="3098194"/>
                <a:ext cx="528000" cy="794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891" name="Google Shape;891;p72"/>
            <p:cNvCxnSpPr/>
            <p:nvPr/>
          </p:nvCxnSpPr>
          <p:spPr>
            <a:xfrm flipH="1">
              <a:off x="6040459" y="1810107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892" name="Google Shape;892;p72"/>
            <p:cNvSpPr txBox="1"/>
            <p:nvPr/>
          </p:nvSpPr>
          <p:spPr>
            <a:xfrm>
              <a:off x="5830728" y="2144006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3" name="Google Shape;893;p72"/>
            <p:cNvSpPr txBox="1"/>
            <p:nvPr/>
          </p:nvSpPr>
          <p:spPr>
            <a:xfrm>
              <a:off x="6473793" y="1333644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894" name="Google Shape;894;p72"/>
            <p:cNvCxnSpPr/>
            <p:nvPr/>
          </p:nvCxnSpPr>
          <p:spPr>
            <a:xfrm>
              <a:off x="6159845" y="1715889"/>
              <a:ext cx="1046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895" name="Google Shape;895;p72"/>
            <p:cNvCxnSpPr/>
            <p:nvPr/>
          </p:nvCxnSpPr>
          <p:spPr>
            <a:xfrm>
              <a:off x="7238226" y="1715896"/>
              <a:ext cx="648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896" name="Google Shape;896;p72"/>
            <p:cNvCxnSpPr/>
            <p:nvPr/>
          </p:nvCxnSpPr>
          <p:spPr>
            <a:xfrm flipH="1">
              <a:off x="6038053" y="2846900"/>
              <a:ext cx="0" cy="835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897" name="Google Shape;897;p72"/>
            <p:cNvSpPr txBox="1"/>
            <p:nvPr/>
          </p:nvSpPr>
          <p:spPr>
            <a:xfrm>
              <a:off x="5644950" y="3163800"/>
              <a:ext cx="347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98" name="Google Shape;898;p72"/>
          <p:cNvSpPr/>
          <p:nvPr/>
        </p:nvSpPr>
        <p:spPr>
          <a:xfrm>
            <a:off x="6159850" y="1786812"/>
            <a:ext cx="1080000" cy="108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4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9" name="Google Shape;899;p72"/>
          <p:cNvSpPr/>
          <p:nvPr/>
        </p:nvSpPr>
        <p:spPr>
          <a:xfrm>
            <a:off x="7233431" y="1786812"/>
            <a:ext cx="637200" cy="1081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0" name="Google Shape;900;p72"/>
          <p:cNvSpPr txBox="1"/>
          <p:nvPr/>
        </p:nvSpPr>
        <p:spPr>
          <a:xfrm>
            <a:off x="3094650" y="2057188"/>
            <a:ext cx="1271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+ 2)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1" name="Google Shape;901;p72"/>
          <p:cNvSpPr txBox="1"/>
          <p:nvPr/>
        </p:nvSpPr>
        <p:spPr>
          <a:xfrm>
            <a:off x="3049350" y="3061938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−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2" name="Google Shape;902;p72"/>
          <p:cNvSpPr txBox="1"/>
          <p:nvPr/>
        </p:nvSpPr>
        <p:spPr>
          <a:xfrm>
            <a:off x="4313850" y="2057188"/>
            <a:ext cx="1271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− 5(−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+ 2)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3" name="Google Shape;903;p72"/>
          <p:cNvSpPr/>
          <p:nvPr/>
        </p:nvSpPr>
        <p:spPr>
          <a:xfrm>
            <a:off x="6159850" y="2869175"/>
            <a:ext cx="1080000" cy="792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4" name="Google Shape;904;p72"/>
          <p:cNvSpPr/>
          <p:nvPr/>
        </p:nvSpPr>
        <p:spPr>
          <a:xfrm>
            <a:off x="7239724" y="2869175"/>
            <a:ext cx="637200" cy="792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5" name="Google Shape;905;p72"/>
          <p:cNvSpPr/>
          <p:nvPr/>
        </p:nvSpPr>
        <p:spPr>
          <a:xfrm rot="5400000">
            <a:off x="6484075" y="1462500"/>
            <a:ext cx="1078800" cy="1727400"/>
          </a:xfrm>
          <a:prstGeom prst="rect">
            <a:avLst/>
          </a:prstGeom>
          <a:solidFill>
            <a:srgbClr val="845AD9">
              <a:alpha val="31009"/>
            </a:srgbClr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2"/>
          <p:cNvSpPr/>
          <p:nvPr/>
        </p:nvSpPr>
        <p:spPr>
          <a:xfrm rot="5400000">
            <a:off x="6627175" y="2407698"/>
            <a:ext cx="792600" cy="1727400"/>
          </a:xfrm>
          <a:prstGeom prst="rect">
            <a:avLst/>
          </a:prstGeom>
          <a:solidFill>
            <a:srgbClr val="845AD9">
              <a:alpha val="31009"/>
            </a:srgbClr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0" name="Shape 910"/>
        <p:cNvGrpSpPr/>
        <p:nvPr/>
      </p:nvGrpSpPr>
      <p:grpSpPr>
        <a:xfrm>
          <a:off x="0" y="0"/>
          <a:ext cx="0" cy="0"/>
        </a:xfrm>
      </p:grpSpPr>
      <p:sp>
        <p:nvSpPr>
          <p:cNvPr id="911" name="Google Shape;911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912" name="Google Shape;912;p73"/>
          <p:cNvSpPr txBox="1"/>
          <p:nvPr>
            <p:ph type="body" idx="1"/>
          </p:nvPr>
        </p:nvSpPr>
        <p:spPr>
          <a:xfrm>
            <a:off x="324000" y="774550"/>
            <a:ext cx="7135200" cy="78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Some pupils are finding the product of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)(2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/>
              <a:t>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3" name="Google Shape;913;p73"/>
          <p:cNvSpPr txBox="1"/>
          <p:nvPr/>
        </p:nvSpPr>
        <p:spPr>
          <a:xfrm>
            <a:off x="3376325" y="1602013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−5 +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4" name="Google Shape;914;p73"/>
          <p:cNvSpPr txBox="1"/>
          <p:nvPr/>
        </p:nvSpPr>
        <p:spPr>
          <a:xfrm>
            <a:off x="3049350" y="2548863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−10 +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915" name="Google Shape;915;p73"/>
          <p:cNvGrpSpPr/>
          <p:nvPr/>
        </p:nvGrpSpPr>
        <p:grpSpPr>
          <a:xfrm>
            <a:off x="5698700" y="1244594"/>
            <a:ext cx="2467593" cy="2461731"/>
            <a:chOff x="5698700" y="1244594"/>
            <a:chExt cx="2467593" cy="2461731"/>
          </a:xfrm>
        </p:grpSpPr>
        <p:grpSp>
          <p:nvGrpSpPr>
            <p:cNvPr id="916" name="Google Shape;916;p73"/>
            <p:cNvGrpSpPr/>
            <p:nvPr/>
          </p:nvGrpSpPr>
          <p:grpSpPr>
            <a:xfrm>
              <a:off x="6159850" y="1819998"/>
              <a:ext cx="1719922" cy="1886327"/>
              <a:chOff x="964919" y="2012560"/>
              <a:chExt cx="1424838" cy="1892003"/>
            </a:xfrm>
          </p:grpSpPr>
          <p:sp>
            <p:nvSpPr>
              <p:cNvPr id="917" name="Google Shape;917;p73"/>
              <p:cNvSpPr/>
              <p:nvPr/>
            </p:nvSpPr>
            <p:spPr>
              <a:xfrm>
                <a:off x="964919" y="2012561"/>
                <a:ext cx="528900" cy="794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8" name="Google Shape;918;p73"/>
              <p:cNvSpPr/>
              <p:nvPr/>
            </p:nvSpPr>
            <p:spPr>
              <a:xfrm>
                <a:off x="1495156" y="2012560"/>
                <a:ext cx="894600" cy="794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9" name="Google Shape;919;p73"/>
              <p:cNvSpPr/>
              <p:nvPr/>
            </p:nvSpPr>
            <p:spPr>
              <a:xfrm>
                <a:off x="964919" y="2814217"/>
                <a:ext cx="528900" cy="1090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20" name="Google Shape;920;p73"/>
              <p:cNvSpPr/>
              <p:nvPr/>
            </p:nvSpPr>
            <p:spPr>
              <a:xfrm>
                <a:off x="1495156" y="282126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921" name="Google Shape;921;p73"/>
            <p:cNvCxnSpPr/>
            <p:nvPr/>
          </p:nvCxnSpPr>
          <p:spPr>
            <a:xfrm flipH="1">
              <a:off x="6040459" y="1810107"/>
              <a:ext cx="0" cy="804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922" name="Google Shape;922;p73"/>
            <p:cNvSpPr txBox="1"/>
            <p:nvPr/>
          </p:nvSpPr>
          <p:spPr>
            <a:xfrm>
              <a:off x="5766253" y="3024906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3" name="Google Shape;923;p73"/>
            <p:cNvSpPr txBox="1"/>
            <p:nvPr/>
          </p:nvSpPr>
          <p:spPr>
            <a:xfrm>
              <a:off x="6256793" y="1244594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2          </a:t>
              </a: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2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924" name="Google Shape;924;p73"/>
            <p:cNvCxnSpPr/>
            <p:nvPr/>
          </p:nvCxnSpPr>
          <p:spPr>
            <a:xfrm>
              <a:off x="6159845" y="1715889"/>
              <a:ext cx="638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25" name="Google Shape;925;p73"/>
            <p:cNvCxnSpPr/>
            <p:nvPr/>
          </p:nvCxnSpPr>
          <p:spPr>
            <a:xfrm>
              <a:off x="6798251" y="1715896"/>
              <a:ext cx="1096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26" name="Google Shape;926;p73"/>
            <p:cNvCxnSpPr/>
            <p:nvPr/>
          </p:nvCxnSpPr>
          <p:spPr>
            <a:xfrm flipH="1">
              <a:off x="6040450" y="2664875"/>
              <a:ext cx="0" cy="1031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927" name="Google Shape;927;p73"/>
            <p:cNvSpPr txBox="1"/>
            <p:nvPr/>
          </p:nvSpPr>
          <p:spPr>
            <a:xfrm>
              <a:off x="5698700" y="2171500"/>
              <a:ext cx="347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28" name="Google Shape;928;p73"/>
          <p:cNvSpPr/>
          <p:nvPr/>
        </p:nvSpPr>
        <p:spPr>
          <a:xfrm>
            <a:off x="6159850" y="1820000"/>
            <a:ext cx="638400" cy="804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10</a:t>
            </a:r>
            <a:endParaRPr sz="24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29" name="Google Shape;929;p73"/>
          <p:cNvSpPr/>
          <p:nvPr/>
        </p:nvSpPr>
        <p:spPr>
          <a:xfrm>
            <a:off x="6798250" y="1820000"/>
            <a:ext cx="1080000" cy="804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0" name="Google Shape;930;p73"/>
          <p:cNvSpPr/>
          <p:nvPr/>
        </p:nvSpPr>
        <p:spPr>
          <a:xfrm>
            <a:off x="6159850" y="2614700"/>
            <a:ext cx="638400" cy="1081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1" name="Google Shape;931;p73"/>
          <p:cNvSpPr/>
          <p:nvPr/>
        </p:nvSpPr>
        <p:spPr>
          <a:xfrm>
            <a:off x="6798250" y="2614700"/>
            <a:ext cx="1080000" cy="1081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4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2" name="Google Shape;932;p73"/>
          <p:cNvSpPr txBox="1"/>
          <p:nvPr/>
        </p:nvSpPr>
        <p:spPr>
          <a:xfrm>
            <a:off x="3094650" y="2057200"/>
            <a:ext cx="13617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−5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3" name="Google Shape;933;p73"/>
          <p:cNvSpPr txBox="1"/>
          <p:nvPr/>
        </p:nvSpPr>
        <p:spPr>
          <a:xfrm>
            <a:off x="3049350" y="3061938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−10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4" name="Google Shape;934;p73"/>
          <p:cNvSpPr txBox="1"/>
          <p:nvPr/>
        </p:nvSpPr>
        <p:spPr>
          <a:xfrm>
            <a:off x="4313850" y="2057188"/>
            <a:ext cx="1271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935" name="Google Shape;93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29825" y="2712650"/>
            <a:ext cx="578950" cy="71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6" name="Google Shape;936;p73"/>
          <p:cNvGrpSpPr/>
          <p:nvPr/>
        </p:nvGrpSpPr>
        <p:grpSpPr>
          <a:xfrm>
            <a:off x="781580" y="1428196"/>
            <a:ext cx="2213653" cy="1383837"/>
            <a:chOff x="1807240" y="1612125"/>
            <a:chExt cx="1971020" cy="931500"/>
          </a:xfrm>
        </p:grpSpPr>
        <p:pic>
          <p:nvPicPr>
            <p:cNvPr id="937" name="Google Shape;937;p73"/>
            <p:cNvPicPr preferRelativeResize="0"/>
            <p:nvPr/>
          </p:nvPicPr>
          <p:blipFill>
            <a:blip r:embed="rId4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" name="Google Shape;938;p73"/>
            <p:cNvSpPr txBox="1"/>
            <p:nvPr/>
          </p:nvSpPr>
          <p:spPr>
            <a:xfrm flipH="1">
              <a:off x="1983960" y="1743823"/>
              <a:ext cx="1794300" cy="6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I’m going to rewrite this as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−5 +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)(2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9" name="Google Shape;939;p73"/>
          <p:cNvSpPr txBox="1"/>
          <p:nvPr/>
        </p:nvSpPr>
        <p:spPr>
          <a:xfrm>
            <a:off x="3049350" y="3519138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0" name="Google Shape;940;p73"/>
          <p:cNvSpPr/>
          <p:nvPr/>
        </p:nvSpPr>
        <p:spPr>
          <a:xfrm rot="5400000">
            <a:off x="6630925" y="1351475"/>
            <a:ext cx="785100" cy="1727400"/>
          </a:xfrm>
          <a:prstGeom prst="rect">
            <a:avLst/>
          </a:prstGeom>
          <a:solidFill>
            <a:srgbClr val="845AD9">
              <a:alpha val="31009"/>
            </a:srgbClr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3"/>
          <p:cNvSpPr/>
          <p:nvPr/>
        </p:nvSpPr>
        <p:spPr>
          <a:xfrm rot="5400000">
            <a:off x="6500575" y="2295428"/>
            <a:ext cx="1045800" cy="1727400"/>
          </a:xfrm>
          <a:prstGeom prst="rect">
            <a:avLst/>
          </a:prstGeom>
          <a:solidFill>
            <a:srgbClr val="845AD9">
              <a:alpha val="31009"/>
            </a:srgbClr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5" name="Shape 945"/>
        <p:cNvGrpSpPr/>
        <p:nvPr/>
      </p:nvGrpSpPr>
      <p:grpSpPr>
        <a:xfrm>
          <a:off x="0" y="0"/>
          <a:ext cx="0" cy="0"/>
        </a:xfrm>
      </p:grpSpPr>
      <p:sp>
        <p:nvSpPr>
          <p:cNvPr id="946" name="Google Shape;946;p74"/>
          <p:cNvSpPr txBox="1"/>
          <p:nvPr>
            <p:ph type="body" idx="1"/>
          </p:nvPr>
        </p:nvSpPr>
        <p:spPr>
          <a:xfrm>
            <a:off x="324000" y="810000"/>
            <a:ext cx="7135200" cy="5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Some pupils are finding the product of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)(2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/>
              <a:t>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7" name="Google Shape;94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948" name="Google Shape;948;p74"/>
          <p:cNvSpPr txBox="1"/>
          <p:nvPr/>
        </p:nvSpPr>
        <p:spPr>
          <a:xfrm>
            <a:off x="3376325" y="1602013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9" name="Google Shape;949;p74"/>
          <p:cNvSpPr txBox="1"/>
          <p:nvPr/>
        </p:nvSpPr>
        <p:spPr>
          <a:xfrm>
            <a:off x="3049350" y="2548863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 +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950" name="Google Shape;950;p74"/>
          <p:cNvGrpSpPr/>
          <p:nvPr/>
        </p:nvGrpSpPr>
        <p:grpSpPr>
          <a:xfrm>
            <a:off x="6159850" y="1820001"/>
            <a:ext cx="1719924" cy="1883848"/>
            <a:chOff x="964919" y="2012562"/>
            <a:chExt cx="1424840" cy="1889517"/>
          </a:xfrm>
        </p:grpSpPr>
        <p:sp>
          <p:nvSpPr>
            <p:cNvPr id="951" name="Google Shape;951;p74"/>
            <p:cNvSpPr/>
            <p:nvPr/>
          </p:nvSpPr>
          <p:spPr>
            <a:xfrm>
              <a:off x="964919" y="2012564"/>
              <a:ext cx="528900" cy="10833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2" name="Google Shape;952;p74"/>
            <p:cNvSpPr/>
            <p:nvPr/>
          </p:nvSpPr>
          <p:spPr>
            <a:xfrm>
              <a:off x="1495157" y="2012562"/>
              <a:ext cx="894600" cy="10833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3" name="Google Shape;953;p74"/>
            <p:cNvSpPr/>
            <p:nvPr/>
          </p:nvSpPr>
          <p:spPr>
            <a:xfrm>
              <a:off x="964919" y="3102139"/>
              <a:ext cx="528900" cy="7944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4" name="Google Shape;954;p74"/>
            <p:cNvSpPr/>
            <p:nvPr/>
          </p:nvSpPr>
          <p:spPr>
            <a:xfrm>
              <a:off x="1495159" y="3107679"/>
              <a:ext cx="894600" cy="7944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955" name="Google Shape;955;p74"/>
          <p:cNvCxnSpPr/>
          <p:nvPr/>
        </p:nvCxnSpPr>
        <p:spPr>
          <a:xfrm flipH="1">
            <a:off x="6040459" y="2911407"/>
            <a:ext cx="0" cy="804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56" name="Google Shape;956;p74"/>
          <p:cNvSpPr txBox="1"/>
          <p:nvPr/>
        </p:nvSpPr>
        <p:spPr>
          <a:xfrm>
            <a:off x="5722053" y="2228306"/>
            <a:ext cx="274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57" name="Google Shape;957;p74"/>
          <p:cNvSpPr txBox="1"/>
          <p:nvPr/>
        </p:nvSpPr>
        <p:spPr>
          <a:xfrm>
            <a:off x="6256793" y="1286869"/>
            <a:ext cx="19095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         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958" name="Google Shape;958;p74"/>
          <p:cNvCxnSpPr/>
          <p:nvPr/>
        </p:nvCxnSpPr>
        <p:spPr>
          <a:xfrm>
            <a:off x="6159845" y="1715889"/>
            <a:ext cx="638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59" name="Google Shape;959;p74"/>
          <p:cNvCxnSpPr/>
          <p:nvPr/>
        </p:nvCxnSpPr>
        <p:spPr>
          <a:xfrm>
            <a:off x="6798251" y="1715896"/>
            <a:ext cx="1096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60" name="Google Shape;960;p74"/>
          <p:cNvCxnSpPr/>
          <p:nvPr/>
        </p:nvCxnSpPr>
        <p:spPr>
          <a:xfrm flipH="1">
            <a:off x="6033275" y="1820000"/>
            <a:ext cx="0" cy="1031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61" name="Google Shape;961;p74"/>
          <p:cNvSpPr txBox="1"/>
          <p:nvPr/>
        </p:nvSpPr>
        <p:spPr>
          <a:xfrm>
            <a:off x="5593550" y="3206150"/>
            <a:ext cx="3474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2" name="Google Shape;962;p74"/>
          <p:cNvSpPr txBox="1"/>
          <p:nvPr/>
        </p:nvSpPr>
        <p:spPr>
          <a:xfrm>
            <a:off x="3094650" y="2057200"/>
            <a:ext cx="13617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3" name="Google Shape;963;p74"/>
          <p:cNvSpPr txBox="1"/>
          <p:nvPr/>
        </p:nvSpPr>
        <p:spPr>
          <a:xfrm>
            <a:off x="3049350" y="3061938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−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4" name="Google Shape;964;p74"/>
          <p:cNvSpPr txBox="1"/>
          <p:nvPr/>
        </p:nvSpPr>
        <p:spPr>
          <a:xfrm>
            <a:off x="4237650" y="2057188"/>
            <a:ext cx="1271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− 5(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965" name="Google Shape;96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148" y="2633101"/>
            <a:ext cx="574100" cy="7178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6" name="Google Shape;966;p74"/>
          <p:cNvGrpSpPr/>
          <p:nvPr/>
        </p:nvGrpSpPr>
        <p:grpSpPr>
          <a:xfrm>
            <a:off x="581974" y="1367008"/>
            <a:ext cx="2467364" cy="1383837"/>
            <a:chOff x="1807240" y="1612125"/>
            <a:chExt cx="1901629" cy="931500"/>
          </a:xfrm>
        </p:grpSpPr>
        <p:pic>
          <p:nvPicPr>
            <p:cNvPr id="967" name="Google Shape;967;p74"/>
            <p:cNvPicPr preferRelativeResize="0"/>
            <p:nvPr/>
          </p:nvPicPr>
          <p:blipFill>
            <a:blip r:embed="rId4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8" name="Google Shape;968;p74"/>
            <p:cNvSpPr txBox="1"/>
            <p:nvPr/>
          </p:nvSpPr>
          <p:spPr>
            <a:xfrm flipH="1">
              <a:off x="1929098" y="1743826"/>
              <a:ext cx="1706100" cy="6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I’m going to find the product without rearranging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9" name="Google Shape;969;p74"/>
          <p:cNvSpPr/>
          <p:nvPr/>
        </p:nvSpPr>
        <p:spPr>
          <a:xfrm>
            <a:off x="6159850" y="2897073"/>
            <a:ext cx="638400" cy="804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10</a:t>
            </a:r>
            <a:endParaRPr sz="24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0" name="Google Shape;970;p74"/>
          <p:cNvSpPr/>
          <p:nvPr/>
        </p:nvSpPr>
        <p:spPr>
          <a:xfrm>
            <a:off x="6800561" y="2903370"/>
            <a:ext cx="1080000" cy="792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1" name="Google Shape;971;p74"/>
          <p:cNvSpPr/>
          <p:nvPr/>
        </p:nvSpPr>
        <p:spPr>
          <a:xfrm>
            <a:off x="6162161" y="1820000"/>
            <a:ext cx="638400" cy="1081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2" name="Google Shape;972;p74"/>
          <p:cNvSpPr/>
          <p:nvPr/>
        </p:nvSpPr>
        <p:spPr>
          <a:xfrm>
            <a:off x="6800561" y="1820000"/>
            <a:ext cx="1080000" cy="1081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400" baseline="30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973" name="Google Shape;973;p74"/>
          <p:cNvGrpSpPr/>
          <p:nvPr/>
        </p:nvGrpSpPr>
        <p:grpSpPr>
          <a:xfrm rot="10800000" flipH="1">
            <a:off x="741524" y="3320058"/>
            <a:ext cx="2467364" cy="1383837"/>
            <a:chOff x="1807240" y="1612125"/>
            <a:chExt cx="1901629" cy="931500"/>
          </a:xfrm>
        </p:grpSpPr>
        <p:pic>
          <p:nvPicPr>
            <p:cNvPr id="974" name="Google Shape;974;p74"/>
            <p:cNvPicPr preferRelativeResize="0"/>
            <p:nvPr/>
          </p:nvPicPr>
          <p:blipFill>
            <a:blip r:embed="rId4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5" name="Google Shape;975;p74"/>
            <p:cNvSpPr txBox="1"/>
            <p:nvPr/>
          </p:nvSpPr>
          <p:spPr>
            <a:xfrm rot="10800000">
              <a:off x="1929098" y="1743826"/>
              <a:ext cx="1706100" cy="6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got the same answer without rearranging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6" name="Google Shape;976;p74"/>
          <p:cNvSpPr/>
          <p:nvPr/>
        </p:nvSpPr>
        <p:spPr>
          <a:xfrm rot="5400000">
            <a:off x="6484075" y="1505482"/>
            <a:ext cx="1078800" cy="1727400"/>
          </a:xfrm>
          <a:prstGeom prst="rect">
            <a:avLst/>
          </a:prstGeom>
          <a:solidFill>
            <a:srgbClr val="845AD9">
              <a:alpha val="31009"/>
            </a:srgbClr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4"/>
          <p:cNvSpPr/>
          <p:nvPr/>
        </p:nvSpPr>
        <p:spPr>
          <a:xfrm rot="5400000">
            <a:off x="6627175" y="2450680"/>
            <a:ext cx="792600" cy="1727400"/>
          </a:xfrm>
          <a:prstGeom prst="rect">
            <a:avLst/>
          </a:prstGeom>
          <a:solidFill>
            <a:srgbClr val="845AD9">
              <a:alpha val="31009"/>
            </a:srgbClr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1" name="Shape 981"/>
        <p:cNvGrpSpPr/>
        <p:nvPr/>
      </p:nvGrpSpPr>
      <p:grpSpPr>
        <a:xfrm>
          <a:off x="0" y="0"/>
          <a:ext cx="0" cy="0"/>
        </a:xfrm>
      </p:grpSpPr>
      <p:sp>
        <p:nvSpPr>
          <p:cNvPr id="982" name="Google Shape;982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983" name="Google Shape;983;p75"/>
          <p:cNvSpPr txBox="1"/>
          <p:nvPr>
            <p:ph type="body" idx="1"/>
          </p:nvPr>
        </p:nvSpPr>
        <p:spPr>
          <a:xfrm>
            <a:off x="324000" y="994025"/>
            <a:ext cx="8496000" cy="28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Like Jun, you do not have to rearrange before multiplying, however it can help you spot patterns and identify mistakes easier.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The terms in the final answer can be written in any order.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It is common for the term with the largest exponent to be written first and the constant to be written last.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4" name="Google Shape;984;p75"/>
          <p:cNvSpPr txBox="1"/>
          <p:nvPr/>
        </p:nvSpPr>
        <p:spPr>
          <a:xfrm>
            <a:off x="2887200" y="4042275"/>
            <a:ext cx="2674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−</a:t>
            </a:r>
            <a:r>
              <a:rPr lang="en-GB" sz="24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24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</a:t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8" name="Shape 988"/>
        <p:cNvGrpSpPr/>
        <p:nvPr/>
      </p:nvGrpSpPr>
      <p:grpSpPr>
        <a:xfrm>
          <a:off x="0" y="0"/>
          <a:ext cx="0" cy="0"/>
        </a:xfrm>
      </p:grpSpPr>
      <p:sp>
        <p:nvSpPr>
          <p:cNvPr id="989" name="Google Shape;989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990" name="Google Shape;990;p76"/>
          <p:cNvSpPr txBox="1"/>
          <p:nvPr>
            <p:ph type="body" idx="1"/>
          </p:nvPr>
        </p:nvSpPr>
        <p:spPr>
          <a:xfrm>
            <a:off x="324000" y="994025"/>
            <a:ext cx="8496000" cy="190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product of two binomials in the form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800"/>
              <a:t>can be written as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This is because the other two partial products are a zero pair.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We call this form the </a:t>
            </a:r>
            <a:r>
              <a:rPr lang="en-GB" sz="1800">
                <a:solidFill>
                  <a:schemeClr val="accent4"/>
                </a:solidFill>
              </a:rPr>
              <a:t>difference of two squares</a:t>
            </a:r>
            <a:r>
              <a:rPr lang="en-GB" sz="1800"/>
              <a:t>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1" name="Google Shape;991;p76"/>
          <p:cNvSpPr txBox="1"/>
          <p:nvPr/>
        </p:nvSpPr>
        <p:spPr>
          <a:xfrm>
            <a:off x="385850" y="2901425"/>
            <a:ext cx="2250300" cy="19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− 7)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</a:t>
            </a:r>
            <a:r>
              <a:rPr lang="en-GB" sz="19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19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49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</a:t>
            </a:r>
            <a:r>
              <a:rPr lang="en-GB" sz="19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49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or </a:t>
            </a:r>
            <a:r>
              <a:rPr lang="en-GB" sz="19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7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76"/>
          <p:cNvSpPr txBox="1"/>
          <p:nvPr>
            <p:ph type="body" idx="1"/>
          </p:nvPr>
        </p:nvSpPr>
        <p:spPr>
          <a:xfrm>
            <a:off x="3369600" y="2939200"/>
            <a:ext cx="5450400" cy="51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What do you think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(7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(7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/>
              <a:t> will be in expanded form?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6" name="Shape 996"/>
        <p:cNvGrpSpPr/>
        <p:nvPr/>
      </p:nvGrpSpPr>
      <p:grpSpPr>
        <a:xfrm>
          <a:off x="0" y="0"/>
          <a:ext cx="0" cy="0"/>
        </a:xfrm>
      </p:grpSpPr>
      <p:sp>
        <p:nvSpPr>
          <p:cNvPr id="997" name="Google Shape;997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998" name="Google Shape;998;p77"/>
          <p:cNvSpPr txBox="1"/>
          <p:nvPr/>
        </p:nvSpPr>
        <p:spPr>
          <a:xfrm>
            <a:off x="2705975" y="1170838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(7 +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(7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9" name="Google Shape;999;p77"/>
          <p:cNvSpPr txBox="1"/>
          <p:nvPr/>
        </p:nvSpPr>
        <p:spPr>
          <a:xfrm>
            <a:off x="2379000" y="2117688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49 −7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i="1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0" name="Google Shape;1000;p77"/>
          <p:cNvSpPr txBox="1"/>
          <p:nvPr/>
        </p:nvSpPr>
        <p:spPr>
          <a:xfrm>
            <a:off x="2424300" y="1626025"/>
            <a:ext cx="13617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7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(7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1" name="Google Shape;1001;p77"/>
          <p:cNvSpPr txBox="1"/>
          <p:nvPr/>
        </p:nvSpPr>
        <p:spPr>
          <a:xfrm>
            <a:off x="2375788" y="2609363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49 −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2" name="Google Shape;1002;p77"/>
          <p:cNvSpPr txBox="1"/>
          <p:nvPr/>
        </p:nvSpPr>
        <p:spPr>
          <a:xfrm>
            <a:off x="3567300" y="1626013"/>
            <a:ext cx="1271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(7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003" name="Google Shape;1003;p77"/>
          <p:cNvGrpSpPr/>
          <p:nvPr/>
        </p:nvGrpSpPr>
        <p:grpSpPr>
          <a:xfrm>
            <a:off x="324001" y="852719"/>
            <a:ext cx="1846388" cy="1928793"/>
            <a:chOff x="428351" y="1953819"/>
            <a:chExt cx="1846388" cy="1928793"/>
          </a:xfrm>
        </p:grpSpPr>
        <p:cxnSp>
          <p:nvCxnSpPr>
            <p:cNvPr id="1004" name="Google Shape;1004;p77"/>
            <p:cNvCxnSpPr/>
            <p:nvPr/>
          </p:nvCxnSpPr>
          <p:spPr>
            <a:xfrm flipH="1">
              <a:off x="667522" y="2391726"/>
              <a:ext cx="0" cy="58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005" name="Google Shape;1005;p77"/>
            <p:cNvSpPr txBox="1"/>
            <p:nvPr/>
          </p:nvSpPr>
          <p:spPr>
            <a:xfrm>
              <a:off x="428351" y="2569145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7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06" name="Google Shape;1006;p77"/>
            <p:cNvSpPr txBox="1"/>
            <p:nvPr/>
          </p:nvSpPr>
          <p:spPr>
            <a:xfrm>
              <a:off x="1019933" y="1953819"/>
              <a:ext cx="1068300" cy="1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7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007" name="Google Shape;1007;p77"/>
            <p:cNvCxnSpPr/>
            <p:nvPr/>
          </p:nvCxnSpPr>
          <p:spPr>
            <a:xfrm>
              <a:off x="778807" y="2324305"/>
              <a:ext cx="60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008" name="Google Shape;1008;p77"/>
            <p:cNvCxnSpPr/>
            <p:nvPr/>
          </p:nvCxnSpPr>
          <p:spPr>
            <a:xfrm>
              <a:off x="1409600" y="2324438"/>
              <a:ext cx="854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009" name="Google Shape;1009;p77"/>
            <p:cNvGrpSpPr/>
            <p:nvPr/>
          </p:nvGrpSpPr>
          <p:grpSpPr>
            <a:xfrm>
              <a:off x="787160" y="2391524"/>
              <a:ext cx="1487579" cy="1478033"/>
              <a:chOff x="964903" y="2012560"/>
              <a:chExt cx="2167534" cy="1986603"/>
            </a:xfrm>
          </p:grpSpPr>
          <p:sp>
            <p:nvSpPr>
              <p:cNvPr id="1010" name="Google Shape;1010;p77"/>
              <p:cNvSpPr/>
              <p:nvPr/>
            </p:nvSpPr>
            <p:spPr>
              <a:xfrm>
                <a:off x="964903" y="2012560"/>
                <a:ext cx="1000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11" name="Google Shape;1011;p77"/>
              <p:cNvSpPr/>
              <p:nvPr/>
            </p:nvSpPr>
            <p:spPr>
              <a:xfrm>
                <a:off x="1978638" y="2013460"/>
                <a:ext cx="1153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12" name="Google Shape;1012;p77"/>
              <p:cNvSpPr/>
              <p:nvPr/>
            </p:nvSpPr>
            <p:spPr>
              <a:xfrm>
                <a:off x="964944" y="2937763"/>
                <a:ext cx="10089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13" name="Google Shape;1013;p77"/>
              <p:cNvSpPr/>
              <p:nvPr/>
            </p:nvSpPr>
            <p:spPr>
              <a:xfrm>
                <a:off x="1978638" y="2937761"/>
                <a:ext cx="11538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014" name="Google Shape;1014;p77"/>
            <p:cNvCxnSpPr/>
            <p:nvPr/>
          </p:nvCxnSpPr>
          <p:spPr>
            <a:xfrm flipH="1">
              <a:off x="667525" y="3045313"/>
              <a:ext cx="0" cy="837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015" name="Google Shape;1015;p77"/>
            <p:cNvSpPr txBox="1"/>
            <p:nvPr/>
          </p:nvSpPr>
          <p:spPr>
            <a:xfrm>
              <a:off x="428352" y="3273602"/>
              <a:ext cx="2961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16" name="Google Shape;1016;p77"/>
          <p:cNvSpPr/>
          <p:nvPr/>
        </p:nvSpPr>
        <p:spPr>
          <a:xfrm>
            <a:off x="685973" y="1291863"/>
            <a:ext cx="686700" cy="686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49</a:t>
            </a:r>
            <a:endParaRPr sz="2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7" name="Google Shape;1017;p77"/>
          <p:cNvSpPr/>
          <p:nvPr/>
        </p:nvSpPr>
        <p:spPr>
          <a:xfrm>
            <a:off x="685973" y="1974107"/>
            <a:ext cx="686700" cy="795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8" name="Google Shape;1018;p77"/>
          <p:cNvSpPr/>
          <p:nvPr/>
        </p:nvSpPr>
        <p:spPr>
          <a:xfrm>
            <a:off x="1373749" y="1290973"/>
            <a:ext cx="797400" cy="688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−7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9" name="Google Shape;1019;p77"/>
          <p:cNvSpPr/>
          <p:nvPr/>
        </p:nvSpPr>
        <p:spPr>
          <a:xfrm>
            <a:off x="1366585" y="1977596"/>
            <a:ext cx="797400" cy="795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0" name="Google Shape;1020;p77"/>
          <p:cNvSpPr txBox="1"/>
          <p:nvPr/>
        </p:nvSpPr>
        <p:spPr>
          <a:xfrm>
            <a:off x="324000" y="3386375"/>
            <a:ext cx="33654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(7 +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(7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≡ 49 −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021" name="Google Shape;1021;p77"/>
          <p:cNvGrpSpPr/>
          <p:nvPr/>
        </p:nvGrpSpPr>
        <p:grpSpPr>
          <a:xfrm>
            <a:off x="4572000" y="662166"/>
            <a:ext cx="4101750" cy="1264584"/>
            <a:chOff x="4572000" y="662166"/>
            <a:chExt cx="4101750" cy="1264584"/>
          </a:xfrm>
        </p:grpSpPr>
        <p:sp>
          <p:nvSpPr>
            <p:cNvPr id="1022" name="Google Shape;1022;p77"/>
            <p:cNvSpPr txBox="1"/>
            <p:nvPr/>
          </p:nvSpPr>
          <p:spPr>
            <a:xfrm>
              <a:off x="7762950" y="937250"/>
              <a:ext cx="9108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Lucas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23" name="Google Shape;1023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7886355" y="1313250"/>
              <a:ext cx="554645" cy="613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24" name="Google Shape;1024;p77"/>
            <p:cNvGrpSpPr/>
            <p:nvPr/>
          </p:nvGrpSpPr>
          <p:grpSpPr>
            <a:xfrm flipH="1">
              <a:off x="4572000" y="662166"/>
              <a:ext cx="3314350" cy="1112398"/>
              <a:chOff x="1807240" y="1612125"/>
              <a:chExt cx="1901629" cy="931500"/>
            </a:xfrm>
          </p:grpSpPr>
          <p:pic>
            <p:nvPicPr>
              <p:cNvPr id="1025" name="Google Shape;1025;p77"/>
              <p:cNvPicPr preferRelativeResize="0"/>
              <p:nvPr/>
            </p:nvPicPr>
            <p:blipFill>
              <a:blip r:embed="rId4">
                <a:alphaModFix/>
              </a:blip>
              <a:srcRect t="56280" r="69082"/>
              <a:stretch>
                <a:fillRect/>
              </a:stretch>
            </p:blipFill>
            <p:spPr>
              <a:xfrm flipH="1">
                <a:off x="1807240" y="1612125"/>
                <a:ext cx="1901629" cy="93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6" name="Google Shape;1026;p77"/>
              <p:cNvSpPr txBox="1"/>
              <p:nvPr/>
            </p:nvSpPr>
            <p:spPr>
              <a:xfrm flipH="1">
                <a:off x="1879836" y="1743826"/>
                <a:ext cx="1698000" cy="66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think 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(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x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+ 7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)(7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 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)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is the difference of 2 squares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027" name="Google Shape;1027;p77"/>
          <p:cNvGrpSpPr/>
          <p:nvPr/>
        </p:nvGrpSpPr>
        <p:grpSpPr>
          <a:xfrm>
            <a:off x="4050001" y="1966453"/>
            <a:ext cx="4177249" cy="1467385"/>
            <a:chOff x="4050001" y="1966453"/>
            <a:chExt cx="4177249" cy="1467385"/>
          </a:xfrm>
        </p:grpSpPr>
        <p:pic>
          <p:nvPicPr>
            <p:cNvPr id="1028" name="Google Shape;1028;p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4294675" y="2490131"/>
              <a:ext cx="554651" cy="6850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9" name="Google Shape;1029;p77"/>
            <p:cNvSpPr txBox="1"/>
            <p:nvPr/>
          </p:nvSpPr>
          <p:spPr>
            <a:xfrm flipH="1">
              <a:off x="4050001" y="3064539"/>
              <a:ext cx="1044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Jacob</a:t>
              </a:r>
              <a:endParaRPr sz="18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30" name="Google Shape;1030;p77"/>
            <p:cNvGrpSpPr/>
            <p:nvPr/>
          </p:nvGrpSpPr>
          <p:grpSpPr>
            <a:xfrm>
              <a:off x="4912900" y="1966453"/>
              <a:ext cx="3314350" cy="1112398"/>
              <a:chOff x="1807240" y="1612125"/>
              <a:chExt cx="1901629" cy="931500"/>
            </a:xfrm>
          </p:grpSpPr>
          <p:pic>
            <p:nvPicPr>
              <p:cNvPr id="1031" name="Google Shape;1031;p77"/>
              <p:cNvPicPr preferRelativeResize="0"/>
              <p:nvPr/>
            </p:nvPicPr>
            <p:blipFill>
              <a:blip r:embed="rId4">
                <a:alphaModFix/>
              </a:blip>
              <a:srcRect t="56280" r="69082"/>
              <a:stretch>
                <a:fillRect/>
              </a:stretch>
            </p:blipFill>
            <p:spPr>
              <a:xfrm flipH="1">
                <a:off x="1807240" y="1612125"/>
                <a:ext cx="1901629" cy="93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2" name="Google Shape;1032;p77"/>
              <p:cNvSpPr txBox="1"/>
              <p:nvPr/>
            </p:nvSpPr>
            <p:spPr>
              <a:xfrm flipH="1">
                <a:off x="1980583" y="1743821"/>
                <a:ext cx="1664700" cy="66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think 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(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x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− 7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)(7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 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)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is the difference of 2 squares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033" name="Google Shape;1033;p77"/>
          <p:cNvGrpSpPr/>
          <p:nvPr/>
        </p:nvGrpSpPr>
        <p:grpSpPr>
          <a:xfrm>
            <a:off x="4513675" y="3433853"/>
            <a:ext cx="3958588" cy="1321494"/>
            <a:chOff x="4513675" y="3433853"/>
            <a:chExt cx="3958588" cy="1321494"/>
          </a:xfrm>
        </p:grpSpPr>
        <p:pic>
          <p:nvPicPr>
            <p:cNvPr id="1034" name="Google Shape;1034;p7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7762949" y="4061771"/>
              <a:ext cx="554650" cy="693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5" name="Google Shape;1035;p77"/>
            <p:cNvSpPr txBox="1"/>
            <p:nvPr/>
          </p:nvSpPr>
          <p:spPr>
            <a:xfrm>
              <a:off x="7608263" y="3649742"/>
              <a:ext cx="864000" cy="35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Jun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36" name="Google Shape;1036;p77"/>
            <p:cNvGrpSpPr/>
            <p:nvPr/>
          </p:nvGrpSpPr>
          <p:grpSpPr>
            <a:xfrm flipH="1">
              <a:off x="4513675" y="3433853"/>
              <a:ext cx="3314350" cy="1112398"/>
              <a:chOff x="1807240" y="1612125"/>
              <a:chExt cx="1901629" cy="931500"/>
            </a:xfrm>
          </p:grpSpPr>
          <p:pic>
            <p:nvPicPr>
              <p:cNvPr id="1037" name="Google Shape;1037;p77"/>
              <p:cNvPicPr preferRelativeResize="0"/>
              <p:nvPr/>
            </p:nvPicPr>
            <p:blipFill>
              <a:blip r:embed="rId4">
                <a:alphaModFix/>
              </a:blip>
              <a:srcRect t="56280" r="69082"/>
              <a:stretch>
                <a:fillRect/>
              </a:stretch>
            </p:blipFill>
            <p:spPr>
              <a:xfrm flipH="1">
                <a:off x="1807240" y="1612125"/>
                <a:ext cx="1901629" cy="93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8" name="Google Shape;1038;p77"/>
              <p:cNvSpPr txBox="1"/>
              <p:nvPr/>
            </p:nvSpPr>
            <p:spPr>
              <a:xfrm flipH="1">
                <a:off x="1933292" y="1743821"/>
                <a:ext cx="1689600" cy="66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think 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(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7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+ 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)(</a:t>
                </a:r>
                <a:r>
                  <a:rPr lang="en-GB" sz="2000" i="1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− 7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)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is the difference of 2 squares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039" name="Google Shape;1039;p77"/>
          <p:cNvSpPr txBox="1"/>
          <p:nvPr>
            <p:ph type="body" idx="1"/>
          </p:nvPr>
        </p:nvSpPr>
        <p:spPr>
          <a:xfrm>
            <a:off x="324000" y="4009450"/>
            <a:ext cx="3996000" cy="51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Who do you agree with?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3" name="Shape 1043"/>
        <p:cNvGrpSpPr/>
        <p:nvPr/>
      </p:nvGrpSpPr>
      <p:grpSpPr>
        <a:xfrm>
          <a:off x="0" y="0"/>
          <a:ext cx="0" cy="0"/>
        </a:xfrm>
      </p:grpSpPr>
      <p:sp>
        <p:nvSpPr>
          <p:cNvPr id="1044" name="Google Shape;1044;p78"/>
          <p:cNvSpPr txBox="1"/>
          <p:nvPr>
            <p:ph type="body" idx="1"/>
          </p:nvPr>
        </p:nvSpPr>
        <p:spPr>
          <a:xfrm>
            <a:off x="324000" y="822150"/>
            <a:ext cx="3996000" cy="51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Rearranging so the terms are in the same order will help.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5" name="Google Shape;1045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1046" name="Google Shape;1046;p78"/>
          <p:cNvSpPr txBox="1"/>
          <p:nvPr/>
        </p:nvSpPr>
        <p:spPr>
          <a:xfrm>
            <a:off x="1724550" y="2040838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)(7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7" name="Google Shape;1047;p78"/>
          <p:cNvSpPr txBox="1"/>
          <p:nvPr/>
        </p:nvSpPr>
        <p:spPr>
          <a:xfrm>
            <a:off x="324000" y="1620000"/>
            <a:ext cx="4248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)(7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8" name="Google Shape;1048;p78"/>
          <p:cNvSpPr txBox="1"/>
          <p:nvPr/>
        </p:nvSpPr>
        <p:spPr>
          <a:xfrm>
            <a:off x="1724538" y="2490125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7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049" name="Google Shape;104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294675" y="2490131"/>
            <a:ext cx="554651" cy="68501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78"/>
          <p:cNvSpPr txBox="1"/>
          <p:nvPr/>
        </p:nvSpPr>
        <p:spPr>
          <a:xfrm flipH="1">
            <a:off x="4050001" y="3064539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78"/>
          <p:cNvSpPr txBox="1"/>
          <p:nvPr/>
        </p:nvSpPr>
        <p:spPr>
          <a:xfrm>
            <a:off x="7762950" y="937250"/>
            <a:ext cx="910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2" name="Google Shape;1052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86355" y="1313250"/>
            <a:ext cx="554645" cy="61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3" name="Google Shape;1053;p78"/>
          <p:cNvGrpSpPr/>
          <p:nvPr/>
        </p:nvGrpSpPr>
        <p:grpSpPr>
          <a:xfrm flipH="1">
            <a:off x="4572000" y="662166"/>
            <a:ext cx="3314350" cy="1112398"/>
            <a:chOff x="1807240" y="1612125"/>
            <a:chExt cx="1901629" cy="931500"/>
          </a:xfrm>
        </p:grpSpPr>
        <p:pic>
          <p:nvPicPr>
            <p:cNvPr id="1054" name="Google Shape;1054;p78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78"/>
            <p:cNvSpPr txBox="1"/>
            <p:nvPr/>
          </p:nvSpPr>
          <p:spPr>
            <a:xfrm flipH="1">
              <a:off x="1879836" y="1743826"/>
              <a:ext cx="1698000" cy="6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+ 7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)(7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the difference of 2 squares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56" name="Google Shape;1056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762949" y="4061771"/>
            <a:ext cx="554650" cy="69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78"/>
          <p:cNvSpPr txBox="1"/>
          <p:nvPr/>
        </p:nvSpPr>
        <p:spPr>
          <a:xfrm>
            <a:off x="7608263" y="3649742"/>
            <a:ext cx="8640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8" name="Google Shape;1058;p78"/>
          <p:cNvGrpSpPr/>
          <p:nvPr/>
        </p:nvGrpSpPr>
        <p:grpSpPr>
          <a:xfrm>
            <a:off x="4912900" y="1966453"/>
            <a:ext cx="3314350" cy="1112398"/>
            <a:chOff x="1807240" y="1612125"/>
            <a:chExt cx="1901629" cy="931500"/>
          </a:xfrm>
        </p:grpSpPr>
        <p:pic>
          <p:nvPicPr>
            <p:cNvPr id="1059" name="Google Shape;1059;p78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0" name="Google Shape;1060;p78"/>
            <p:cNvSpPr txBox="1"/>
            <p:nvPr/>
          </p:nvSpPr>
          <p:spPr>
            <a:xfrm flipH="1">
              <a:off x="1980583" y="1743821"/>
              <a:ext cx="1664700" cy="6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− 7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)(7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the difference of 2 squares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1" name="Google Shape;1061;p78"/>
          <p:cNvGrpSpPr/>
          <p:nvPr/>
        </p:nvGrpSpPr>
        <p:grpSpPr>
          <a:xfrm flipH="1">
            <a:off x="4513675" y="3433853"/>
            <a:ext cx="3314350" cy="1112398"/>
            <a:chOff x="1807240" y="1612125"/>
            <a:chExt cx="1901629" cy="931500"/>
          </a:xfrm>
        </p:grpSpPr>
        <p:pic>
          <p:nvPicPr>
            <p:cNvPr id="1062" name="Google Shape;1062;p78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78"/>
            <p:cNvSpPr txBox="1"/>
            <p:nvPr/>
          </p:nvSpPr>
          <p:spPr>
            <a:xfrm flipH="1">
              <a:off x="1933292" y="1743821"/>
              <a:ext cx="1689600" cy="6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7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+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)(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− 7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the difference of 2 squares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4" name="Google Shape;1064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80308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78"/>
          <p:cNvSpPr txBox="1"/>
          <p:nvPr/>
        </p:nvSpPr>
        <p:spPr>
          <a:xfrm>
            <a:off x="324008" y="3113150"/>
            <a:ext cx="3766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One term in each bracket is the same and the others are a zero pair.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9" name="Shape 1069"/>
        <p:cNvGrpSpPr/>
        <p:nvPr/>
      </p:nvGrpSpPr>
      <p:grpSpPr>
        <a:xfrm>
          <a:off x="0" y="0"/>
          <a:ext cx="0" cy="0"/>
        </a:xfrm>
      </p:grpSpPr>
      <p:sp>
        <p:nvSpPr>
          <p:cNvPr id="1070" name="Google Shape;1070;p79"/>
          <p:cNvSpPr txBox="1"/>
          <p:nvPr>
            <p:ph type="body" idx="1"/>
          </p:nvPr>
        </p:nvSpPr>
        <p:spPr>
          <a:xfrm>
            <a:off x="324000" y="822150"/>
            <a:ext cx="3996000" cy="51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Rearranging so the terms are in the same order will help.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1" name="Google Shape;1071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1072" name="Google Shape;1072;p79"/>
          <p:cNvSpPr txBox="1"/>
          <p:nvPr/>
        </p:nvSpPr>
        <p:spPr>
          <a:xfrm>
            <a:off x="1724550" y="2726638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)(7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3" name="Google Shape;1073;p79"/>
          <p:cNvSpPr txBox="1"/>
          <p:nvPr/>
        </p:nvSpPr>
        <p:spPr>
          <a:xfrm>
            <a:off x="324000" y="2305800"/>
            <a:ext cx="4248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)(7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4" name="Google Shape;1074;p79"/>
          <p:cNvSpPr txBox="1"/>
          <p:nvPr/>
        </p:nvSpPr>
        <p:spPr>
          <a:xfrm>
            <a:off x="324008" y="3204182"/>
            <a:ext cx="3766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Not the difference of two squares as both terms are zero pairs.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75" name="Google Shape;107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294675" y="2490131"/>
            <a:ext cx="554651" cy="685019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79"/>
          <p:cNvSpPr txBox="1"/>
          <p:nvPr/>
        </p:nvSpPr>
        <p:spPr>
          <a:xfrm flipH="1">
            <a:off x="4050001" y="3064539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79"/>
          <p:cNvSpPr txBox="1"/>
          <p:nvPr/>
        </p:nvSpPr>
        <p:spPr>
          <a:xfrm>
            <a:off x="7762950" y="937250"/>
            <a:ext cx="910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8" name="Google Shape;1078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86355" y="1313250"/>
            <a:ext cx="554645" cy="61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9" name="Google Shape;1079;p79"/>
          <p:cNvGrpSpPr/>
          <p:nvPr/>
        </p:nvGrpSpPr>
        <p:grpSpPr>
          <a:xfrm flipH="1">
            <a:off x="4572000" y="662166"/>
            <a:ext cx="3314350" cy="1112398"/>
            <a:chOff x="1807240" y="1612125"/>
            <a:chExt cx="1901629" cy="931500"/>
          </a:xfrm>
        </p:grpSpPr>
        <p:pic>
          <p:nvPicPr>
            <p:cNvPr id="1080" name="Google Shape;1080;p79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1" name="Google Shape;1081;p79"/>
            <p:cNvSpPr txBox="1"/>
            <p:nvPr/>
          </p:nvSpPr>
          <p:spPr>
            <a:xfrm flipH="1">
              <a:off x="1879836" y="1743826"/>
              <a:ext cx="1698000" cy="6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+ 7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)(7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the difference of 2 squares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82" name="Google Shape;1082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762949" y="4061771"/>
            <a:ext cx="554650" cy="69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79"/>
          <p:cNvSpPr txBox="1"/>
          <p:nvPr/>
        </p:nvSpPr>
        <p:spPr>
          <a:xfrm>
            <a:off x="7608263" y="3649742"/>
            <a:ext cx="8640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4" name="Google Shape;1084;p79"/>
          <p:cNvGrpSpPr/>
          <p:nvPr/>
        </p:nvGrpSpPr>
        <p:grpSpPr>
          <a:xfrm>
            <a:off x="4912900" y="1966453"/>
            <a:ext cx="3314350" cy="1112398"/>
            <a:chOff x="1807240" y="1612125"/>
            <a:chExt cx="1901629" cy="931500"/>
          </a:xfrm>
        </p:grpSpPr>
        <p:pic>
          <p:nvPicPr>
            <p:cNvPr id="1085" name="Google Shape;1085;p79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79"/>
            <p:cNvSpPr txBox="1"/>
            <p:nvPr/>
          </p:nvSpPr>
          <p:spPr>
            <a:xfrm flipH="1">
              <a:off x="1980583" y="1743821"/>
              <a:ext cx="1664700" cy="6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− 7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)(7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the difference of 2 squares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7" name="Google Shape;1087;p79"/>
          <p:cNvGrpSpPr/>
          <p:nvPr/>
        </p:nvGrpSpPr>
        <p:grpSpPr>
          <a:xfrm flipH="1">
            <a:off x="4513675" y="3433853"/>
            <a:ext cx="3314350" cy="1112398"/>
            <a:chOff x="1807240" y="1612125"/>
            <a:chExt cx="1901629" cy="931500"/>
          </a:xfrm>
        </p:grpSpPr>
        <p:pic>
          <p:nvPicPr>
            <p:cNvPr id="1088" name="Google Shape;1088;p79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79"/>
            <p:cNvSpPr txBox="1"/>
            <p:nvPr/>
          </p:nvSpPr>
          <p:spPr>
            <a:xfrm flipH="1">
              <a:off x="1933292" y="1743821"/>
              <a:ext cx="1689600" cy="6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7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+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)(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− 7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the difference of 2 squares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0" name="Google Shape;1090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80308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79"/>
          <p:cNvSpPr txBox="1"/>
          <p:nvPr/>
        </p:nvSpPr>
        <p:spPr>
          <a:xfrm>
            <a:off x="324000" y="3932100"/>
            <a:ext cx="39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)(7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−49 + 7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i="1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2" name="Google Shape;1092;p79"/>
          <p:cNvSpPr txBox="1"/>
          <p:nvPr/>
        </p:nvSpPr>
        <p:spPr>
          <a:xfrm>
            <a:off x="1809891" y="4318800"/>
            <a:ext cx="2154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− 49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093" name="Google Shape;1093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87238" y="3014092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7" name="Shape 1097"/>
        <p:cNvGrpSpPr/>
        <p:nvPr/>
      </p:nvGrpSpPr>
      <p:grpSpPr>
        <a:xfrm>
          <a:off x="0" y="0"/>
          <a:ext cx="0" cy="0"/>
        </a:xfrm>
      </p:grpSpPr>
      <p:sp>
        <p:nvSpPr>
          <p:cNvPr id="1098" name="Google Shape;1098;p80"/>
          <p:cNvSpPr txBox="1"/>
          <p:nvPr>
            <p:ph type="body" idx="1"/>
          </p:nvPr>
        </p:nvSpPr>
        <p:spPr>
          <a:xfrm>
            <a:off x="324000" y="822150"/>
            <a:ext cx="3996000" cy="51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Rearranging so the terms are in the same order will help.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9" name="Google Shape;1099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1100" name="Google Shape;1100;p80"/>
          <p:cNvSpPr txBox="1"/>
          <p:nvPr/>
        </p:nvSpPr>
        <p:spPr>
          <a:xfrm>
            <a:off x="324000" y="3578450"/>
            <a:ext cx="4248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101" name="Google Shape;110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294675" y="2490131"/>
            <a:ext cx="554651" cy="685019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80"/>
          <p:cNvSpPr txBox="1"/>
          <p:nvPr/>
        </p:nvSpPr>
        <p:spPr>
          <a:xfrm flipH="1">
            <a:off x="4050001" y="3064539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0"/>
          <p:cNvSpPr txBox="1"/>
          <p:nvPr/>
        </p:nvSpPr>
        <p:spPr>
          <a:xfrm>
            <a:off x="7762950" y="937250"/>
            <a:ext cx="910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4" name="Google Shape;1104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86355" y="1313250"/>
            <a:ext cx="554645" cy="61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5" name="Google Shape;1105;p80"/>
          <p:cNvGrpSpPr/>
          <p:nvPr/>
        </p:nvGrpSpPr>
        <p:grpSpPr>
          <a:xfrm flipH="1">
            <a:off x="4572000" y="662166"/>
            <a:ext cx="3314350" cy="1112398"/>
            <a:chOff x="1807240" y="1612125"/>
            <a:chExt cx="1901629" cy="931500"/>
          </a:xfrm>
        </p:grpSpPr>
        <p:pic>
          <p:nvPicPr>
            <p:cNvPr id="1106" name="Google Shape;1106;p80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7" name="Google Shape;1107;p80"/>
            <p:cNvSpPr txBox="1"/>
            <p:nvPr/>
          </p:nvSpPr>
          <p:spPr>
            <a:xfrm flipH="1">
              <a:off x="1879836" y="1743826"/>
              <a:ext cx="1698000" cy="6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+ 7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)(7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the difference of 2 squares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08" name="Google Shape;1108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762949" y="4061771"/>
            <a:ext cx="554650" cy="69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p80"/>
          <p:cNvSpPr txBox="1"/>
          <p:nvPr/>
        </p:nvSpPr>
        <p:spPr>
          <a:xfrm>
            <a:off x="7608263" y="3649742"/>
            <a:ext cx="8640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0" name="Google Shape;1110;p80"/>
          <p:cNvGrpSpPr/>
          <p:nvPr/>
        </p:nvGrpSpPr>
        <p:grpSpPr>
          <a:xfrm>
            <a:off x="4912900" y="1966453"/>
            <a:ext cx="3314350" cy="1112398"/>
            <a:chOff x="1807240" y="1612125"/>
            <a:chExt cx="1901629" cy="931500"/>
          </a:xfrm>
        </p:grpSpPr>
        <p:pic>
          <p:nvPicPr>
            <p:cNvPr id="1111" name="Google Shape;1111;p80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2" name="Google Shape;1112;p80"/>
            <p:cNvSpPr txBox="1"/>
            <p:nvPr/>
          </p:nvSpPr>
          <p:spPr>
            <a:xfrm flipH="1">
              <a:off x="1980583" y="1743821"/>
              <a:ext cx="1664700" cy="6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− 7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)(7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the difference of 2 squares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3" name="Google Shape;1113;p80"/>
          <p:cNvGrpSpPr/>
          <p:nvPr/>
        </p:nvGrpSpPr>
        <p:grpSpPr>
          <a:xfrm flipH="1">
            <a:off x="4513675" y="3433853"/>
            <a:ext cx="3314350" cy="1112398"/>
            <a:chOff x="1807240" y="1612125"/>
            <a:chExt cx="1901629" cy="931500"/>
          </a:xfrm>
        </p:grpSpPr>
        <p:pic>
          <p:nvPicPr>
            <p:cNvPr id="1114" name="Google Shape;1114;p80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5" name="Google Shape;1115;p80"/>
            <p:cNvSpPr txBox="1"/>
            <p:nvPr/>
          </p:nvSpPr>
          <p:spPr>
            <a:xfrm flipH="1">
              <a:off x="1933292" y="1743821"/>
              <a:ext cx="1689600" cy="6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7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+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)(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− 7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the difference of 2 squares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6" name="Google Shape;1116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80308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87238" y="301409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80"/>
          <p:cNvSpPr txBox="1"/>
          <p:nvPr/>
        </p:nvSpPr>
        <p:spPr>
          <a:xfrm>
            <a:off x="1724538" y="4043750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119" name="Google Shape;1119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17608" y="37805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80"/>
          <p:cNvSpPr txBox="1"/>
          <p:nvPr/>
        </p:nvSpPr>
        <p:spPr>
          <a:xfrm>
            <a:off x="362800" y="2297800"/>
            <a:ext cx="33144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Different to Lucas’ but still the difference of two squares.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4" name="Shape 1124"/>
        <p:cNvGrpSpPr/>
        <p:nvPr/>
      </p:nvGrpSpPr>
      <p:grpSpPr>
        <a:xfrm>
          <a:off x="0" y="0"/>
          <a:ext cx="0" cy="0"/>
        </a:xfrm>
      </p:grpSpPr>
      <p:sp>
        <p:nvSpPr>
          <p:cNvPr id="1125" name="Google Shape;1125;p8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 +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)(4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/>
              <a:t> </a:t>
            </a:r>
            <a:endParaRPr/>
          </a:p>
        </p:txBody>
      </p:sp>
      <p:sp>
        <p:nvSpPr>
          <p:cNvPr id="1126" name="Google Shape;1126;p8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1127" name="Google Shape;1127;p8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Which of these is equivalent to 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)(4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/>
              <a:t>?</a:t>
            </a:r>
            <a:endParaRPr sz="1900"/>
          </a:p>
        </p:txBody>
      </p:sp>
      <p:sp>
        <p:nvSpPr>
          <p:cNvPr id="1128" name="Google Shape;1128;p8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4 −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)</a:t>
            </a:r>
            <a:endParaRPr/>
          </a:p>
        </p:txBody>
      </p:sp>
      <p:sp>
        <p:nvSpPr>
          <p:cNvPr id="1129" name="Google Shape;1129;p8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)</a:t>
            </a:r>
            <a:endParaRPr/>
          </a:p>
        </p:txBody>
      </p:sp>
      <p:sp>
        <p:nvSpPr>
          <p:cNvPr id="1130" name="Google Shape;1130;p8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)</a:t>
            </a:r>
            <a:endParaRPr/>
          </a:p>
        </p:txBody>
      </p:sp>
      <p:pic>
        <p:nvPicPr>
          <p:cNvPr id="1131" name="Google Shape;113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608" y="16849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608" y="40656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6" name="Shape 1136"/>
        <p:cNvGrpSpPr/>
        <p:nvPr/>
      </p:nvGrpSpPr>
      <p:grpSpPr>
        <a:xfrm>
          <a:off x="0" y="0"/>
          <a:ext cx="0" cy="0"/>
        </a:xfrm>
      </p:grpSpPr>
      <p:sp>
        <p:nvSpPr>
          <p:cNvPr id="1137" name="Google Shape;113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1138" name="Google Shape;1138;p82"/>
          <p:cNvSpPr txBox="1"/>
          <p:nvPr>
            <p:ph type="title" idx="4294967295"/>
          </p:nvPr>
        </p:nvSpPr>
        <p:spPr>
          <a:xfrm>
            <a:off x="324000" y="810000"/>
            <a:ext cx="76278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b="0"/>
              <a:t>Expand  </a:t>
            </a:r>
            <a:r>
              <a:rPr lang="en-GB" b="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b="0">
                <a:latin typeface="Times"/>
                <a:ea typeface="Times"/>
                <a:cs typeface="Times"/>
                <a:sym typeface="Times"/>
              </a:rPr>
              <a:t>)(4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b="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 b="0"/>
              <a:t>use an area model to help if you wish.</a:t>
            </a:r>
            <a:endParaRPr sz="1700" b="0"/>
          </a:p>
        </p:txBody>
      </p:sp>
      <p:sp>
        <p:nvSpPr>
          <p:cNvPr id="1139" name="Google Shape;1139;p82"/>
          <p:cNvSpPr/>
          <p:nvPr/>
        </p:nvSpPr>
        <p:spPr>
          <a:xfrm>
            <a:off x="6555750" y="1620000"/>
            <a:ext cx="1806900" cy="1800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82"/>
          <p:cNvSpPr txBox="1"/>
          <p:nvPr>
            <p:ph type="title" idx="4294967295"/>
          </p:nvPr>
        </p:nvSpPr>
        <p:spPr>
          <a:xfrm>
            <a:off x="324000" y="1670400"/>
            <a:ext cx="43896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b="0">
                <a:latin typeface="Times"/>
                <a:ea typeface="Times"/>
                <a:cs typeface="Times"/>
                <a:sym typeface="Times"/>
              </a:rPr>
              <a:t>)(4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b="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b="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b="0"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b="0">
                <a:latin typeface="Times"/>
                <a:ea typeface="Times"/>
                <a:cs typeface="Times"/>
                <a:sym typeface="Times"/>
              </a:rPr>
              <a:t>)</a:t>
            </a:r>
            <a:endParaRPr sz="1700" b="0"/>
          </a:p>
        </p:txBody>
      </p:sp>
      <p:grpSp>
        <p:nvGrpSpPr>
          <p:cNvPr id="1141" name="Google Shape;1141;p82"/>
          <p:cNvGrpSpPr/>
          <p:nvPr/>
        </p:nvGrpSpPr>
        <p:grpSpPr>
          <a:xfrm>
            <a:off x="5981600" y="1179250"/>
            <a:ext cx="3143050" cy="2275850"/>
            <a:chOff x="5981600" y="1179250"/>
            <a:chExt cx="3143050" cy="2275850"/>
          </a:xfrm>
        </p:grpSpPr>
        <p:grpSp>
          <p:nvGrpSpPr>
            <p:cNvPr id="1142" name="Google Shape;1142;p82"/>
            <p:cNvGrpSpPr/>
            <p:nvPr/>
          </p:nvGrpSpPr>
          <p:grpSpPr>
            <a:xfrm>
              <a:off x="6513225" y="1179250"/>
              <a:ext cx="2611425" cy="363475"/>
              <a:chOff x="1409600" y="1960975"/>
              <a:chExt cx="2611425" cy="363475"/>
            </a:xfrm>
          </p:grpSpPr>
          <p:sp>
            <p:nvSpPr>
              <p:cNvPr id="1143" name="Google Shape;1143;p82"/>
              <p:cNvSpPr txBox="1"/>
              <p:nvPr/>
            </p:nvSpPr>
            <p:spPr>
              <a:xfrm>
                <a:off x="1767725" y="1960975"/>
                <a:ext cx="2253300" cy="28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x            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4</a:t>
                </a:r>
                <a:r>
                  <a:rPr lang="en-GB" sz="1800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 </a:t>
                </a:r>
                <a:endParaRPr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cxnSp>
            <p:nvCxnSpPr>
              <p:cNvPr id="1144" name="Google Shape;1144;p82"/>
              <p:cNvCxnSpPr/>
              <p:nvPr/>
            </p:nvCxnSpPr>
            <p:spPr>
              <a:xfrm>
                <a:off x="2554325" y="2324450"/>
                <a:ext cx="70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1145" name="Google Shape;1145;p82"/>
              <p:cNvCxnSpPr/>
              <p:nvPr/>
            </p:nvCxnSpPr>
            <p:spPr>
              <a:xfrm>
                <a:off x="1409600" y="2324438"/>
                <a:ext cx="1130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cxnSp>
          <p:nvCxnSpPr>
            <p:cNvPr id="1146" name="Google Shape;1146;p82"/>
            <p:cNvCxnSpPr/>
            <p:nvPr/>
          </p:nvCxnSpPr>
          <p:spPr>
            <a:xfrm rot="5400000">
              <a:off x="5877625" y="2185188"/>
              <a:ext cx="1130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47" name="Google Shape;1147;p82"/>
            <p:cNvCxnSpPr/>
            <p:nvPr/>
          </p:nvCxnSpPr>
          <p:spPr>
            <a:xfrm rot="5400000">
              <a:off x="6090475" y="3102750"/>
              <a:ext cx="704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148" name="Google Shape;1148;p82"/>
            <p:cNvSpPr txBox="1"/>
            <p:nvPr/>
          </p:nvSpPr>
          <p:spPr>
            <a:xfrm>
              <a:off x="5981600" y="1953450"/>
              <a:ext cx="348300" cy="13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x </a:t>
              </a:r>
              <a:endParaRPr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endParaRPr>
            </a:p>
            <a:p>
              <a:pPr marL="0" lvl="0" indent="0" algn="l" rtl="0">
                <a:lnSpc>
                  <a:spcPct val="130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  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−4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149" name="Google Shape;1149;p82"/>
          <p:cNvSpPr/>
          <p:nvPr/>
        </p:nvSpPr>
        <p:spPr>
          <a:xfrm>
            <a:off x="6555747" y="1620002"/>
            <a:ext cx="1077600" cy="108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0" name="Google Shape;1150;p82"/>
          <p:cNvSpPr/>
          <p:nvPr/>
        </p:nvSpPr>
        <p:spPr>
          <a:xfrm>
            <a:off x="7633350" y="1620000"/>
            <a:ext cx="729300" cy="108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1" name="Google Shape;1151;p82"/>
          <p:cNvSpPr/>
          <p:nvPr/>
        </p:nvSpPr>
        <p:spPr>
          <a:xfrm>
            <a:off x="6555750" y="2692836"/>
            <a:ext cx="1077600" cy="730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2" name="Google Shape;1152;p82"/>
          <p:cNvSpPr/>
          <p:nvPr/>
        </p:nvSpPr>
        <p:spPr>
          <a:xfrm>
            <a:off x="7625993" y="2692813"/>
            <a:ext cx="730800" cy="730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16</a:t>
            </a:r>
            <a:endParaRPr sz="2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3" name="Google Shape;1153;p82"/>
          <p:cNvSpPr txBox="1"/>
          <p:nvPr>
            <p:ph type="title" idx="4294967295"/>
          </p:nvPr>
        </p:nvSpPr>
        <p:spPr>
          <a:xfrm>
            <a:off x="324000" y="2280000"/>
            <a:ext cx="43896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b="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b="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b="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b="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b="0">
                <a:latin typeface="Times"/>
                <a:ea typeface="Times"/>
                <a:cs typeface="Times"/>
                <a:sym typeface="Times"/>
              </a:rPr>
              <a:t>)</a:t>
            </a:r>
            <a:endParaRPr sz="1700" b="0"/>
          </a:p>
        </p:txBody>
      </p:sp>
      <p:sp>
        <p:nvSpPr>
          <p:cNvPr id="1154" name="Google Shape;1154;p82"/>
          <p:cNvSpPr txBox="1"/>
          <p:nvPr>
            <p:ph type="title" idx="4294967295"/>
          </p:nvPr>
        </p:nvSpPr>
        <p:spPr>
          <a:xfrm>
            <a:off x="324000" y="2813400"/>
            <a:ext cx="43896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b="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b="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b="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16</a:t>
            </a:r>
            <a:endParaRPr sz="1700" b="0"/>
          </a:p>
        </p:txBody>
      </p:sp>
      <p:sp>
        <p:nvSpPr>
          <p:cNvPr id="1155" name="Google Shape;1155;p82"/>
          <p:cNvSpPr txBox="1"/>
          <p:nvPr>
            <p:ph type="title" idx="4294967295"/>
          </p:nvPr>
        </p:nvSpPr>
        <p:spPr>
          <a:xfrm>
            <a:off x="324000" y="3346800"/>
            <a:ext cx="43896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b="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16</a:t>
            </a:r>
            <a:endParaRPr sz="1700" b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9" name="Shape 1159"/>
        <p:cNvGrpSpPr/>
        <p:nvPr/>
      </p:nvGrpSpPr>
      <p:grpSpPr>
        <a:xfrm>
          <a:off x="0" y="0"/>
          <a:ext cx="0" cy="0"/>
        </a:xfrm>
      </p:grpSpPr>
      <p:sp>
        <p:nvSpPr>
          <p:cNvPr id="1160" name="Google Shape;1160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1161" name="Google Shape;1161;p83"/>
          <p:cNvSpPr txBox="1"/>
          <p:nvPr>
            <p:ph type="body" idx="1"/>
          </p:nvPr>
        </p:nvSpPr>
        <p:spPr>
          <a:xfrm>
            <a:off x="324000" y="810000"/>
            <a:ext cx="8496000" cy="48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Expand and simplify these expressions. 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Use can use the area models to help. </a:t>
            </a:r>
            <a:endParaRPr sz="1800"/>
          </a:p>
        </p:txBody>
      </p:sp>
      <p:sp>
        <p:nvSpPr>
          <p:cNvPr id="1162" name="Google Shape;1162;p83"/>
          <p:cNvSpPr/>
          <p:nvPr/>
        </p:nvSpPr>
        <p:spPr>
          <a:xfrm>
            <a:off x="827500" y="1620000"/>
            <a:ext cx="1440000" cy="144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3"/>
          <p:cNvSpPr txBox="1"/>
          <p:nvPr/>
        </p:nvSpPr>
        <p:spPr>
          <a:xfrm>
            <a:off x="2792225" y="1690125"/>
            <a:ext cx="17208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7 −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  </a:t>
            </a:r>
            <a:r>
              <a:rPr lang="en-GB" sz="20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4" name="Google Shape;1164;p83"/>
          <p:cNvSpPr txBox="1"/>
          <p:nvPr/>
        </p:nvSpPr>
        <p:spPr>
          <a:xfrm>
            <a:off x="324000" y="1561801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83"/>
          <p:cNvSpPr txBox="1"/>
          <p:nvPr/>
        </p:nvSpPr>
        <p:spPr>
          <a:xfrm>
            <a:off x="2766596" y="3464875"/>
            <a:ext cx="1746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  </a:t>
            </a:r>
            <a:r>
              <a:rPr lang="en-GB" sz="20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6" name="Google Shape;1166;p83"/>
          <p:cNvSpPr txBox="1"/>
          <p:nvPr/>
        </p:nvSpPr>
        <p:spPr>
          <a:xfrm>
            <a:off x="381300" y="3343008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83"/>
          <p:cNvSpPr txBox="1"/>
          <p:nvPr/>
        </p:nvSpPr>
        <p:spPr>
          <a:xfrm>
            <a:off x="6830825" y="1690125"/>
            <a:ext cx="17208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(15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  </a:t>
            </a:r>
            <a:r>
              <a:rPr lang="en-GB" sz="20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8" name="Google Shape;1168;p83"/>
          <p:cNvSpPr txBox="1"/>
          <p:nvPr/>
        </p:nvSpPr>
        <p:spPr>
          <a:xfrm>
            <a:off x="4667400" y="1561801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83"/>
          <p:cNvSpPr txBox="1"/>
          <p:nvPr/>
        </p:nvSpPr>
        <p:spPr>
          <a:xfrm>
            <a:off x="6805196" y="3464875"/>
            <a:ext cx="1746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  </a:t>
            </a:r>
            <a:r>
              <a:rPr lang="en-GB" sz="20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0" name="Google Shape;1170;p83"/>
          <p:cNvSpPr txBox="1"/>
          <p:nvPr/>
        </p:nvSpPr>
        <p:spPr>
          <a:xfrm>
            <a:off x="4724700" y="3343008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83"/>
          <p:cNvSpPr/>
          <p:nvPr/>
        </p:nvSpPr>
        <p:spPr>
          <a:xfrm>
            <a:off x="827500" y="3296400"/>
            <a:ext cx="1440000" cy="144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83"/>
          <p:cNvSpPr/>
          <p:nvPr/>
        </p:nvSpPr>
        <p:spPr>
          <a:xfrm>
            <a:off x="5192700" y="1620000"/>
            <a:ext cx="1440000" cy="144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83"/>
          <p:cNvSpPr/>
          <p:nvPr/>
        </p:nvSpPr>
        <p:spPr>
          <a:xfrm>
            <a:off x="5192700" y="3296400"/>
            <a:ext cx="1440000" cy="144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77" name="Shape 1177"/>
        <p:cNvGrpSpPr/>
        <p:nvPr/>
      </p:nvGrpSpPr>
      <p:grpSpPr>
        <a:xfrm>
          <a:off x="0" y="0"/>
          <a:ext cx="0" cy="0"/>
        </a:xfrm>
      </p:grpSpPr>
      <p:sp>
        <p:nvSpPr>
          <p:cNvPr id="1178" name="Google Shape;1178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1179" name="Google Shape;1179;p84"/>
          <p:cNvSpPr txBox="1"/>
          <p:nvPr>
            <p:ph type="body" idx="1"/>
          </p:nvPr>
        </p:nvSpPr>
        <p:spPr>
          <a:xfrm>
            <a:off x="324000" y="810000"/>
            <a:ext cx="8496000" cy="48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Which of these expressions can be written as the difference of two squares? </a:t>
            </a:r>
            <a:endParaRPr sz="1800"/>
          </a:p>
        </p:txBody>
      </p:sp>
      <p:sp>
        <p:nvSpPr>
          <p:cNvPr id="1180" name="Google Shape;1180;p84"/>
          <p:cNvSpPr txBox="1"/>
          <p:nvPr/>
        </p:nvSpPr>
        <p:spPr>
          <a:xfrm>
            <a:off x="658973" y="1683550"/>
            <a:ext cx="1720800" cy="2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9 −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9)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9 −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9)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1" name="Google Shape;1181;p84"/>
          <p:cNvSpPr txBox="1"/>
          <p:nvPr/>
        </p:nvSpPr>
        <p:spPr>
          <a:xfrm>
            <a:off x="2950838" y="1620000"/>
            <a:ext cx="1720800" cy="2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(9 +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− 9)</a:t>
            </a:r>
            <a:endParaRPr sz="21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2000">
                <a:latin typeface="Times"/>
                <a:ea typeface="Times"/>
                <a:cs typeface="Times"/>
                <a:sym typeface="Times"/>
              </a:rPr>
            </a:br>
            <a:br>
              <a:rPr lang="en-GB" sz="2000">
                <a:latin typeface="Times"/>
                <a:ea typeface="Times"/>
                <a:cs typeface="Times"/>
                <a:sym typeface="Times"/>
              </a:rPr>
            </a:b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2" name="Google Shape;1182;p84"/>
          <p:cNvSpPr txBox="1"/>
          <p:nvPr/>
        </p:nvSpPr>
        <p:spPr>
          <a:xfrm>
            <a:off x="5242725" y="1620000"/>
            <a:ext cx="1720800" cy="2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183" name="Google Shape;1183;p84"/>
          <p:cNvGraphicFramePr>
            <a:graphicFrameLocks noGrp="1"/>
          </p:cNvGraphicFramePr>
          <p:nvPr/>
        </p:nvGraphicFramePr>
        <p:xfrm>
          <a:off x="357952" y="16552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927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27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1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84" name="Google Shape;1184;p84"/>
          <p:cNvGraphicFramePr>
            <a:graphicFrameLocks noGrp="1"/>
          </p:cNvGraphicFramePr>
          <p:nvPr/>
        </p:nvGraphicFramePr>
        <p:xfrm>
          <a:off x="2643952" y="16552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927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27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1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85" name="Google Shape;1185;p84"/>
          <p:cNvGraphicFramePr>
            <a:graphicFrameLocks noGrp="1"/>
          </p:cNvGraphicFramePr>
          <p:nvPr/>
        </p:nvGraphicFramePr>
        <p:xfrm>
          <a:off x="4929952" y="16552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927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27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1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86" name="Google Shape;1186;p84"/>
          <p:cNvSpPr/>
          <p:nvPr/>
        </p:nvSpPr>
        <p:spPr>
          <a:xfrm>
            <a:off x="7385725" y="1495875"/>
            <a:ext cx="1361100" cy="2443200"/>
          </a:xfrm>
          <a:prstGeom prst="roundRect">
            <a:avLst>
              <a:gd name="adj" fmla="val 6074"/>
            </a:avLst>
          </a:prstGeom>
          <a:solidFill>
            <a:srgbClr val="F3EEFB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− 81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81 −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1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7" name="Google Shape;1187;p84"/>
          <p:cNvSpPr txBox="1"/>
          <p:nvPr>
            <p:ph type="body" idx="1"/>
          </p:nvPr>
        </p:nvSpPr>
        <p:spPr>
          <a:xfrm>
            <a:off x="295325" y="4246800"/>
            <a:ext cx="8496000" cy="5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Which products of two binomials give the expressions in the box?  </a:t>
            </a:r>
            <a:endParaRPr sz="1800"/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1" name="Shape 1191"/>
        <p:cNvGrpSpPr/>
        <p:nvPr/>
      </p:nvGrpSpPr>
      <p:grpSpPr>
        <a:xfrm>
          <a:off x="0" y="0"/>
          <a:ext cx="0" cy="0"/>
        </a:xfrm>
      </p:grpSpPr>
      <p:sp>
        <p:nvSpPr>
          <p:cNvPr id="1192" name="Google Shape;1192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1193" name="Google Shape;1193;p85"/>
          <p:cNvSpPr txBox="1"/>
          <p:nvPr>
            <p:ph type="body" idx="1"/>
          </p:nvPr>
        </p:nvSpPr>
        <p:spPr>
          <a:xfrm>
            <a:off x="324000" y="829650"/>
            <a:ext cx="82377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Use the area models to expand and simplify these expressions.</a:t>
            </a:r>
            <a:endParaRPr sz="1800"/>
          </a:p>
        </p:txBody>
      </p:sp>
      <p:sp>
        <p:nvSpPr>
          <p:cNvPr id="1194" name="Google Shape;1194;p85"/>
          <p:cNvSpPr/>
          <p:nvPr/>
        </p:nvSpPr>
        <p:spPr>
          <a:xfrm>
            <a:off x="827500" y="1467600"/>
            <a:ext cx="1440000" cy="144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85"/>
          <p:cNvSpPr txBox="1"/>
          <p:nvPr/>
        </p:nvSpPr>
        <p:spPr>
          <a:xfrm>
            <a:off x="2792225" y="1537725"/>
            <a:ext cx="17208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7 −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+ 4) 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7)</a:t>
            </a: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+ 28</a:t>
            </a:r>
            <a:endParaRPr sz="20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6" name="Google Shape;1196;p85"/>
          <p:cNvSpPr txBox="1"/>
          <p:nvPr/>
        </p:nvSpPr>
        <p:spPr>
          <a:xfrm>
            <a:off x="324000" y="1409401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85"/>
          <p:cNvSpPr txBox="1"/>
          <p:nvPr/>
        </p:nvSpPr>
        <p:spPr>
          <a:xfrm>
            <a:off x="2766596" y="3464875"/>
            <a:ext cx="1746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+ 64</a:t>
            </a: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8" name="Google Shape;1198;p85"/>
          <p:cNvSpPr txBox="1"/>
          <p:nvPr/>
        </p:nvSpPr>
        <p:spPr>
          <a:xfrm>
            <a:off x="381300" y="3343008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5"/>
          <p:cNvSpPr txBox="1"/>
          <p:nvPr/>
        </p:nvSpPr>
        <p:spPr>
          <a:xfrm>
            <a:off x="6754625" y="1537725"/>
            <a:ext cx="19893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(15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+10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+ 75</a:t>
            </a: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0" name="Google Shape;1200;p85"/>
          <p:cNvSpPr txBox="1"/>
          <p:nvPr/>
        </p:nvSpPr>
        <p:spPr>
          <a:xfrm>
            <a:off x="4591200" y="1409401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5"/>
          <p:cNvSpPr txBox="1"/>
          <p:nvPr/>
        </p:nvSpPr>
        <p:spPr>
          <a:xfrm>
            <a:off x="6472118" y="3175525"/>
            <a:ext cx="2304900" cy="18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−10 −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Terms in any order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2" name="Google Shape;1202;p85"/>
          <p:cNvSpPr txBox="1"/>
          <p:nvPr/>
        </p:nvSpPr>
        <p:spPr>
          <a:xfrm>
            <a:off x="4572300" y="3343008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85"/>
          <p:cNvSpPr/>
          <p:nvPr/>
        </p:nvSpPr>
        <p:spPr>
          <a:xfrm>
            <a:off x="827500" y="3372600"/>
            <a:ext cx="1440000" cy="144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4" name="Google Shape;1204;p85"/>
          <p:cNvGrpSpPr/>
          <p:nvPr/>
        </p:nvGrpSpPr>
        <p:grpSpPr>
          <a:xfrm>
            <a:off x="856525" y="1064800"/>
            <a:ext cx="1493214" cy="344500"/>
            <a:chOff x="1409600" y="1979950"/>
            <a:chExt cx="1920285" cy="344500"/>
          </a:xfrm>
        </p:grpSpPr>
        <p:sp>
          <p:nvSpPr>
            <p:cNvPr id="1205" name="Google Shape;1205;p85"/>
            <p:cNvSpPr txBox="1"/>
            <p:nvPr/>
          </p:nvSpPr>
          <p:spPr>
            <a:xfrm>
              <a:off x="1767785" y="1979950"/>
              <a:ext cx="15621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9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        </a:t>
              </a: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206" name="Google Shape;1206;p85"/>
            <p:cNvCxnSpPr/>
            <p:nvPr/>
          </p:nvCxnSpPr>
          <p:spPr>
            <a:xfrm>
              <a:off x="2554325" y="2324450"/>
              <a:ext cx="704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207" name="Google Shape;1207;p85"/>
            <p:cNvCxnSpPr/>
            <p:nvPr/>
          </p:nvCxnSpPr>
          <p:spPr>
            <a:xfrm>
              <a:off x="1409600" y="2324438"/>
              <a:ext cx="1130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208" name="Google Shape;1208;p85"/>
          <p:cNvGrpSpPr/>
          <p:nvPr/>
        </p:nvGrpSpPr>
        <p:grpSpPr>
          <a:xfrm>
            <a:off x="293127" y="1467609"/>
            <a:ext cx="446898" cy="1451213"/>
            <a:chOff x="293127" y="1620009"/>
            <a:chExt cx="446898" cy="1451213"/>
          </a:xfrm>
        </p:grpSpPr>
        <p:grpSp>
          <p:nvGrpSpPr>
            <p:cNvPr id="1209" name="Google Shape;1209;p85"/>
            <p:cNvGrpSpPr/>
            <p:nvPr/>
          </p:nvGrpSpPr>
          <p:grpSpPr>
            <a:xfrm>
              <a:off x="355000" y="1620009"/>
              <a:ext cx="385025" cy="1440013"/>
              <a:chOff x="6057800" y="1619988"/>
              <a:chExt cx="385025" cy="1835113"/>
            </a:xfrm>
          </p:grpSpPr>
          <p:cxnSp>
            <p:nvCxnSpPr>
              <p:cNvPr id="1210" name="Google Shape;1210;p85"/>
              <p:cNvCxnSpPr/>
              <p:nvPr/>
            </p:nvCxnSpPr>
            <p:spPr>
              <a:xfrm rot="5400000">
                <a:off x="5877625" y="2185188"/>
                <a:ext cx="1130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1211" name="Google Shape;1211;p85"/>
              <p:cNvCxnSpPr/>
              <p:nvPr/>
            </p:nvCxnSpPr>
            <p:spPr>
              <a:xfrm rot="5400000">
                <a:off x="6090475" y="3102750"/>
                <a:ext cx="70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212" name="Google Shape;1212;p85"/>
              <p:cNvSpPr txBox="1"/>
              <p:nvPr/>
            </p:nvSpPr>
            <p:spPr>
              <a:xfrm>
                <a:off x="6057800" y="1953449"/>
                <a:ext cx="348300" cy="5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 y </a:t>
                </a:r>
                <a:endParaRPr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1213" name="Google Shape;1213;p85"/>
            <p:cNvSpPr txBox="1"/>
            <p:nvPr/>
          </p:nvSpPr>
          <p:spPr>
            <a:xfrm>
              <a:off x="293127" y="2617621"/>
              <a:ext cx="3483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14" name="Google Shape;1214;p85"/>
          <p:cNvSpPr/>
          <p:nvPr/>
        </p:nvSpPr>
        <p:spPr>
          <a:xfrm>
            <a:off x="813375" y="1472552"/>
            <a:ext cx="858600" cy="861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5" name="Google Shape;1215;p85"/>
          <p:cNvSpPr/>
          <p:nvPr/>
        </p:nvSpPr>
        <p:spPr>
          <a:xfrm>
            <a:off x="1672243" y="1472550"/>
            <a:ext cx="581100" cy="861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2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6" name="Google Shape;1216;p85"/>
          <p:cNvSpPr/>
          <p:nvPr/>
        </p:nvSpPr>
        <p:spPr>
          <a:xfrm>
            <a:off x="813378" y="2327612"/>
            <a:ext cx="858600" cy="582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2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7" name="Google Shape;1217;p85"/>
          <p:cNvSpPr/>
          <p:nvPr/>
        </p:nvSpPr>
        <p:spPr>
          <a:xfrm>
            <a:off x="1666379" y="2327593"/>
            <a:ext cx="582300" cy="582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28</a:t>
            </a:r>
            <a:endParaRPr sz="2200" baseline="30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218" name="Google Shape;1218;p85"/>
          <p:cNvGrpSpPr/>
          <p:nvPr/>
        </p:nvGrpSpPr>
        <p:grpSpPr>
          <a:xfrm>
            <a:off x="1095959" y="2965313"/>
            <a:ext cx="1214689" cy="343913"/>
            <a:chOff x="1767785" y="1980638"/>
            <a:chExt cx="1562100" cy="343913"/>
          </a:xfrm>
        </p:grpSpPr>
        <p:sp>
          <p:nvSpPr>
            <p:cNvPr id="1219" name="Google Shape;1219;p85"/>
            <p:cNvSpPr txBox="1"/>
            <p:nvPr/>
          </p:nvSpPr>
          <p:spPr>
            <a:xfrm>
              <a:off x="1767785" y="1980638"/>
              <a:ext cx="15621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9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         </a:t>
              </a: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−8</a:t>
              </a:r>
              <a:endParaRPr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220" name="Google Shape;1220;p85"/>
            <p:cNvCxnSpPr/>
            <p:nvPr/>
          </p:nvCxnSpPr>
          <p:spPr>
            <a:xfrm>
              <a:off x="2412771" y="2324550"/>
              <a:ext cx="846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cxnSp>
        <p:nvCxnSpPr>
          <p:cNvPr id="1221" name="Google Shape;1221;p85"/>
          <p:cNvCxnSpPr/>
          <p:nvPr/>
        </p:nvCxnSpPr>
        <p:spPr>
          <a:xfrm>
            <a:off x="827500" y="3309213"/>
            <a:ext cx="82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222" name="Google Shape;1222;p85"/>
          <p:cNvGrpSpPr/>
          <p:nvPr/>
        </p:nvGrpSpPr>
        <p:grpSpPr>
          <a:xfrm>
            <a:off x="324002" y="3366996"/>
            <a:ext cx="446898" cy="1451213"/>
            <a:chOff x="293127" y="1620009"/>
            <a:chExt cx="446898" cy="1451213"/>
          </a:xfrm>
        </p:grpSpPr>
        <p:grpSp>
          <p:nvGrpSpPr>
            <p:cNvPr id="1223" name="Google Shape;1223;p85"/>
            <p:cNvGrpSpPr/>
            <p:nvPr/>
          </p:nvGrpSpPr>
          <p:grpSpPr>
            <a:xfrm>
              <a:off x="355000" y="1620009"/>
              <a:ext cx="385025" cy="1440013"/>
              <a:chOff x="6057800" y="1619988"/>
              <a:chExt cx="385025" cy="1835113"/>
            </a:xfrm>
          </p:grpSpPr>
          <p:cxnSp>
            <p:nvCxnSpPr>
              <p:cNvPr id="1224" name="Google Shape;1224;p85"/>
              <p:cNvCxnSpPr/>
              <p:nvPr/>
            </p:nvCxnSpPr>
            <p:spPr>
              <a:xfrm rot="5400000">
                <a:off x="5877625" y="2185188"/>
                <a:ext cx="1130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1225" name="Google Shape;1225;p85"/>
              <p:cNvCxnSpPr/>
              <p:nvPr/>
            </p:nvCxnSpPr>
            <p:spPr>
              <a:xfrm rot="5400000">
                <a:off x="6090475" y="3102750"/>
                <a:ext cx="70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226" name="Google Shape;1226;p85"/>
              <p:cNvSpPr txBox="1"/>
              <p:nvPr/>
            </p:nvSpPr>
            <p:spPr>
              <a:xfrm>
                <a:off x="6057800" y="1953449"/>
                <a:ext cx="348300" cy="5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 y </a:t>
                </a:r>
                <a:endParaRPr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1227" name="Google Shape;1227;p85"/>
            <p:cNvSpPr txBox="1"/>
            <p:nvPr/>
          </p:nvSpPr>
          <p:spPr>
            <a:xfrm>
              <a:off x="293127" y="2617621"/>
              <a:ext cx="3483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−8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28" name="Google Shape;1228;p85"/>
          <p:cNvSpPr/>
          <p:nvPr/>
        </p:nvSpPr>
        <p:spPr>
          <a:xfrm>
            <a:off x="813375" y="3377552"/>
            <a:ext cx="858600" cy="861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9" name="Google Shape;1229;p85"/>
          <p:cNvSpPr/>
          <p:nvPr/>
        </p:nvSpPr>
        <p:spPr>
          <a:xfrm>
            <a:off x="1672243" y="3377550"/>
            <a:ext cx="581100" cy="861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2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0" name="Google Shape;1230;p85"/>
          <p:cNvSpPr/>
          <p:nvPr/>
        </p:nvSpPr>
        <p:spPr>
          <a:xfrm>
            <a:off x="813378" y="4232612"/>
            <a:ext cx="858600" cy="582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2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1" name="Google Shape;1231;p85"/>
          <p:cNvSpPr/>
          <p:nvPr/>
        </p:nvSpPr>
        <p:spPr>
          <a:xfrm>
            <a:off x="1666379" y="4232593"/>
            <a:ext cx="582300" cy="582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64</a:t>
            </a:r>
            <a:endParaRPr sz="2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2" name="Google Shape;1232;p85"/>
          <p:cNvSpPr/>
          <p:nvPr/>
        </p:nvSpPr>
        <p:spPr>
          <a:xfrm>
            <a:off x="5018500" y="3372600"/>
            <a:ext cx="1440000" cy="144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3" name="Google Shape;1233;p85"/>
          <p:cNvGrpSpPr/>
          <p:nvPr/>
        </p:nvGrpSpPr>
        <p:grpSpPr>
          <a:xfrm>
            <a:off x="5286959" y="2966463"/>
            <a:ext cx="1214689" cy="342763"/>
            <a:chOff x="1767785" y="1981788"/>
            <a:chExt cx="1562100" cy="342763"/>
          </a:xfrm>
        </p:grpSpPr>
        <p:sp>
          <p:nvSpPr>
            <p:cNvPr id="1234" name="Google Shape;1234;p85"/>
            <p:cNvSpPr txBox="1"/>
            <p:nvPr/>
          </p:nvSpPr>
          <p:spPr>
            <a:xfrm>
              <a:off x="1767785" y="1981788"/>
              <a:ext cx="15621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−10</a:t>
              </a:r>
              <a:r>
                <a:rPr lang="en-GB" sz="19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  </a:t>
              </a: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9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endParaRPr sz="17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235" name="Google Shape;1235;p85"/>
            <p:cNvCxnSpPr/>
            <p:nvPr/>
          </p:nvCxnSpPr>
          <p:spPr>
            <a:xfrm>
              <a:off x="2412771" y="2324550"/>
              <a:ext cx="846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cxnSp>
        <p:nvCxnSpPr>
          <p:cNvPr id="1236" name="Google Shape;1236;p85"/>
          <p:cNvCxnSpPr/>
          <p:nvPr/>
        </p:nvCxnSpPr>
        <p:spPr>
          <a:xfrm>
            <a:off x="5018500" y="3309213"/>
            <a:ext cx="82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237" name="Google Shape;1237;p85"/>
          <p:cNvGrpSpPr/>
          <p:nvPr/>
        </p:nvGrpSpPr>
        <p:grpSpPr>
          <a:xfrm>
            <a:off x="4515002" y="3366996"/>
            <a:ext cx="446898" cy="1451213"/>
            <a:chOff x="293127" y="1620009"/>
            <a:chExt cx="446898" cy="1451213"/>
          </a:xfrm>
        </p:grpSpPr>
        <p:grpSp>
          <p:nvGrpSpPr>
            <p:cNvPr id="1238" name="Google Shape;1238;p85"/>
            <p:cNvGrpSpPr/>
            <p:nvPr/>
          </p:nvGrpSpPr>
          <p:grpSpPr>
            <a:xfrm>
              <a:off x="355000" y="1620009"/>
              <a:ext cx="385025" cy="1440013"/>
              <a:chOff x="6057800" y="1619988"/>
              <a:chExt cx="385025" cy="1835113"/>
            </a:xfrm>
          </p:grpSpPr>
          <p:cxnSp>
            <p:nvCxnSpPr>
              <p:cNvPr id="1239" name="Google Shape;1239;p85"/>
              <p:cNvCxnSpPr/>
              <p:nvPr/>
            </p:nvCxnSpPr>
            <p:spPr>
              <a:xfrm rot="5400000">
                <a:off x="5877625" y="2185188"/>
                <a:ext cx="1130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1240" name="Google Shape;1240;p85"/>
              <p:cNvCxnSpPr/>
              <p:nvPr/>
            </p:nvCxnSpPr>
            <p:spPr>
              <a:xfrm rot="5400000">
                <a:off x="6090475" y="3102750"/>
                <a:ext cx="70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241" name="Google Shape;1241;p85"/>
              <p:cNvSpPr txBox="1"/>
              <p:nvPr/>
            </p:nvSpPr>
            <p:spPr>
              <a:xfrm>
                <a:off x="6057800" y="1953449"/>
                <a:ext cx="348300" cy="5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 x </a:t>
                </a:r>
                <a:endParaRPr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1242" name="Google Shape;1242;p85"/>
            <p:cNvSpPr txBox="1"/>
            <p:nvPr/>
          </p:nvSpPr>
          <p:spPr>
            <a:xfrm>
              <a:off x="293127" y="2617621"/>
              <a:ext cx="3483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43" name="Google Shape;1243;p85"/>
          <p:cNvSpPr/>
          <p:nvPr/>
        </p:nvSpPr>
        <p:spPr>
          <a:xfrm>
            <a:off x="5004375" y="3377552"/>
            <a:ext cx="858600" cy="861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x</a:t>
            </a:r>
            <a:endParaRPr sz="2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4" name="Google Shape;1244;p85"/>
          <p:cNvSpPr/>
          <p:nvPr/>
        </p:nvSpPr>
        <p:spPr>
          <a:xfrm>
            <a:off x="5863243" y="3377550"/>
            <a:ext cx="581100" cy="861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endParaRPr sz="2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5" name="Google Shape;1245;p85"/>
          <p:cNvSpPr/>
          <p:nvPr/>
        </p:nvSpPr>
        <p:spPr>
          <a:xfrm>
            <a:off x="5004378" y="4232612"/>
            <a:ext cx="858600" cy="582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2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6" name="Google Shape;1246;p85"/>
          <p:cNvSpPr/>
          <p:nvPr/>
        </p:nvSpPr>
        <p:spPr>
          <a:xfrm>
            <a:off x="5857379" y="4232593"/>
            <a:ext cx="582300" cy="582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7" name="Google Shape;1247;p85"/>
          <p:cNvSpPr/>
          <p:nvPr/>
        </p:nvSpPr>
        <p:spPr>
          <a:xfrm>
            <a:off x="5094700" y="1467600"/>
            <a:ext cx="1440000" cy="144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8" name="Google Shape;1248;p85"/>
          <p:cNvGrpSpPr/>
          <p:nvPr/>
        </p:nvGrpSpPr>
        <p:grpSpPr>
          <a:xfrm>
            <a:off x="5363159" y="1054650"/>
            <a:ext cx="1214689" cy="349575"/>
            <a:chOff x="1767785" y="1974975"/>
            <a:chExt cx="1562100" cy="349575"/>
          </a:xfrm>
        </p:grpSpPr>
        <p:sp>
          <p:nvSpPr>
            <p:cNvPr id="1249" name="Google Shape;1249;p85"/>
            <p:cNvSpPr txBox="1"/>
            <p:nvPr/>
          </p:nvSpPr>
          <p:spPr>
            <a:xfrm>
              <a:off x="1767785" y="1974975"/>
              <a:ext cx="15621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9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          </a:t>
              </a: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250" name="Google Shape;1250;p85"/>
            <p:cNvCxnSpPr/>
            <p:nvPr/>
          </p:nvCxnSpPr>
          <p:spPr>
            <a:xfrm>
              <a:off x="2412771" y="2324550"/>
              <a:ext cx="846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cxnSp>
        <p:nvCxnSpPr>
          <p:cNvPr id="1251" name="Google Shape;1251;p85"/>
          <p:cNvCxnSpPr/>
          <p:nvPr/>
        </p:nvCxnSpPr>
        <p:spPr>
          <a:xfrm>
            <a:off x="5094700" y="1404213"/>
            <a:ext cx="82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252" name="Google Shape;1252;p85"/>
          <p:cNvGrpSpPr/>
          <p:nvPr/>
        </p:nvGrpSpPr>
        <p:grpSpPr>
          <a:xfrm>
            <a:off x="4554475" y="1461996"/>
            <a:ext cx="483625" cy="1451204"/>
            <a:chOff x="256400" y="1620009"/>
            <a:chExt cx="483625" cy="1451204"/>
          </a:xfrm>
        </p:grpSpPr>
        <p:grpSp>
          <p:nvGrpSpPr>
            <p:cNvPr id="1253" name="Google Shape;1253;p85"/>
            <p:cNvGrpSpPr/>
            <p:nvPr/>
          </p:nvGrpSpPr>
          <p:grpSpPr>
            <a:xfrm>
              <a:off x="256400" y="1620009"/>
              <a:ext cx="483625" cy="1440013"/>
              <a:chOff x="5959200" y="1619988"/>
              <a:chExt cx="483625" cy="1835113"/>
            </a:xfrm>
          </p:grpSpPr>
          <p:cxnSp>
            <p:nvCxnSpPr>
              <p:cNvPr id="1254" name="Google Shape;1254;p85"/>
              <p:cNvCxnSpPr/>
              <p:nvPr/>
            </p:nvCxnSpPr>
            <p:spPr>
              <a:xfrm rot="5400000">
                <a:off x="5877625" y="2185188"/>
                <a:ext cx="1130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1255" name="Google Shape;1255;p85"/>
              <p:cNvCxnSpPr/>
              <p:nvPr/>
            </p:nvCxnSpPr>
            <p:spPr>
              <a:xfrm rot="5400000">
                <a:off x="6090475" y="3102750"/>
                <a:ext cx="70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256" name="Google Shape;1256;p85"/>
              <p:cNvSpPr txBox="1"/>
              <p:nvPr/>
            </p:nvSpPr>
            <p:spPr>
              <a:xfrm>
                <a:off x="5959200" y="1953464"/>
                <a:ext cx="447000" cy="5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y </a:t>
                </a:r>
                <a:endParaRPr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1257" name="Google Shape;1257;p85"/>
            <p:cNvSpPr txBox="1"/>
            <p:nvPr/>
          </p:nvSpPr>
          <p:spPr>
            <a:xfrm>
              <a:off x="277904" y="2617613"/>
              <a:ext cx="3849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15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58" name="Google Shape;1258;p85"/>
          <p:cNvSpPr/>
          <p:nvPr/>
        </p:nvSpPr>
        <p:spPr>
          <a:xfrm>
            <a:off x="5080575" y="1472552"/>
            <a:ext cx="858600" cy="861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9" name="Google Shape;1259;p85"/>
          <p:cNvSpPr/>
          <p:nvPr/>
        </p:nvSpPr>
        <p:spPr>
          <a:xfrm>
            <a:off x="5939443" y="1472550"/>
            <a:ext cx="581100" cy="861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−5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2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60" name="Google Shape;1260;p85"/>
          <p:cNvSpPr/>
          <p:nvPr/>
        </p:nvSpPr>
        <p:spPr>
          <a:xfrm>
            <a:off x="5080578" y="2327612"/>
            <a:ext cx="858600" cy="582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2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61" name="Google Shape;1261;p85"/>
          <p:cNvSpPr/>
          <p:nvPr/>
        </p:nvSpPr>
        <p:spPr>
          <a:xfrm>
            <a:off x="5933579" y="2327593"/>
            <a:ext cx="582300" cy="582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75</a:t>
            </a:r>
            <a:endParaRPr sz="2200" baseline="30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65" name="Shape 1265"/>
        <p:cNvGrpSpPr/>
        <p:nvPr/>
      </p:nvGrpSpPr>
      <p:grpSpPr>
        <a:xfrm>
          <a:off x="0" y="0"/>
          <a:ext cx="0" cy="0"/>
        </a:xfrm>
      </p:grpSpPr>
      <p:sp>
        <p:nvSpPr>
          <p:cNvPr id="1266" name="Google Shape;1266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1267" name="Google Shape;1267;p86"/>
          <p:cNvSpPr txBox="1"/>
          <p:nvPr>
            <p:ph type="body" idx="1"/>
          </p:nvPr>
        </p:nvSpPr>
        <p:spPr>
          <a:xfrm>
            <a:off x="324000" y="759300"/>
            <a:ext cx="7479000" cy="58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Which of these expressions can be written as the difference of two squares? </a:t>
            </a:r>
            <a:endParaRPr sz="1800"/>
          </a:p>
        </p:txBody>
      </p:sp>
      <p:sp>
        <p:nvSpPr>
          <p:cNvPr id="1268" name="Google Shape;1268;p86"/>
          <p:cNvSpPr txBox="1"/>
          <p:nvPr/>
        </p:nvSpPr>
        <p:spPr>
          <a:xfrm>
            <a:off x="759698" y="1626600"/>
            <a:ext cx="1720800" cy="2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9 −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(9 +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9 −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endParaRPr sz="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9)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9 −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9)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69" name="Google Shape;1269;p86"/>
          <p:cNvSpPr txBox="1"/>
          <p:nvPr/>
        </p:nvSpPr>
        <p:spPr>
          <a:xfrm>
            <a:off x="2887200" y="1626600"/>
            <a:ext cx="1857600" cy="2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(9 +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− 9)</a:t>
            </a: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− 9)</a:t>
            </a: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1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1300">
                <a:latin typeface="Times"/>
                <a:ea typeface="Times"/>
                <a:cs typeface="Times"/>
                <a:sym typeface="Times"/>
              </a:rPr>
            </a:b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br>
              <a:rPr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0" name="Google Shape;1270;p86"/>
          <p:cNvSpPr txBox="1"/>
          <p:nvPr/>
        </p:nvSpPr>
        <p:spPr>
          <a:xfrm>
            <a:off x="5230975" y="1626600"/>
            <a:ext cx="2472900" cy="2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6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endParaRPr sz="26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(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≡ 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b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271" name="Google Shape;1271;p86"/>
          <p:cNvGraphicFramePr>
            <a:graphicFrameLocks noGrp="1"/>
          </p:cNvGraphicFramePr>
          <p:nvPr/>
        </p:nvGraphicFramePr>
        <p:xfrm>
          <a:off x="357952" y="16552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10642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642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4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72" name="Google Shape;1272;p86"/>
          <p:cNvGraphicFramePr>
            <a:graphicFrameLocks noGrp="1"/>
          </p:cNvGraphicFramePr>
          <p:nvPr/>
        </p:nvGraphicFramePr>
        <p:xfrm>
          <a:off x="2643952" y="16552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10642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642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4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73" name="Google Shape;1273;p86"/>
          <p:cNvGraphicFramePr>
            <a:graphicFrameLocks noGrp="1"/>
          </p:cNvGraphicFramePr>
          <p:nvPr/>
        </p:nvGraphicFramePr>
        <p:xfrm>
          <a:off x="4929952" y="16552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10642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642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4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74" name="Google Shape;1274;p86"/>
          <p:cNvSpPr/>
          <p:nvPr/>
        </p:nvSpPr>
        <p:spPr>
          <a:xfrm>
            <a:off x="324000" y="1620850"/>
            <a:ext cx="2156400" cy="38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5" name="Google Shape;1275;p86"/>
          <p:cNvSpPr txBox="1"/>
          <p:nvPr/>
        </p:nvSpPr>
        <p:spPr>
          <a:xfrm>
            <a:off x="2887191" y="4143300"/>
            <a:ext cx="1720800" cy="4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6" name="Google Shape;1276;p86"/>
          <p:cNvSpPr/>
          <p:nvPr/>
        </p:nvSpPr>
        <p:spPr>
          <a:xfrm>
            <a:off x="2626975" y="1620850"/>
            <a:ext cx="2156400" cy="38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7" name="Google Shape;1277;p86"/>
          <p:cNvSpPr/>
          <p:nvPr/>
        </p:nvSpPr>
        <p:spPr>
          <a:xfrm>
            <a:off x="2581225" y="3783750"/>
            <a:ext cx="2156400" cy="38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8" name="Google Shape;1278;p86"/>
          <p:cNvSpPr/>
          <p:nvPr/>
        </p:nvSpPr>
        <p:spPr>
          <a:xfrm>
            <a:off x="4824000" y="2685450"/>
            <a:ext cx="2156400" cy="38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2" name="Shape 1282"/>
        <p:cNvGrpSpPr/>
        <p:nvPr/>
      </p:nvGrpSpPr>
      <p:grpSpPr>
        <a:xfrm>
          <a:off x="0" y="0"/>
          <a:ext cx="0" cy="0"/>
        </a:xfrm>
      </p:grpSpPr>
      <p:sp>
        <p:nvSpPr>
          <p:cNvPr id="1283" name="Google Shape;1283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1284" name="Google Shape;1284;p87"/>
          <p:cNvSpPr txBox="1"/>
          <p:nvPr/>
        </p:nvSpPr>
        <p:spPr>
          <a:xfrm>
            <a:off x="759700" y="1626600"/>
            <a:ext cx="17208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9 −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5" name="Google Shape;1285;p87"/>
          <p:cNvSpPr txBox="1"/>
          <p:nvPr/>
        </p:nvSpPr>
        <p:spPr>
          <a:xfrm>
            <a:off x="3057425" y="1626600"/>
            <a:ext cx="1720800" cy="2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(9 +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− 9)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6" name="Google Shape;1286;p87"/>
          <p:cNvSpPr txBox="1"/>
          <p:nvPr/>
        </p:nvSpPr>
        <p:spPr>
          <a:xfrm>
            <a:off x="5343425" y="2528600"/>
            <a:ext cx="1720800" cy="17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287" name="Google Shape;1287;p87"/>
          <p:cNvGraphicFramePr>
            <a:graphicFrameLocks noGrp="1"/>
          </p:cNvGraphicFramePr>
          <p:nvPr/>
        </p:nvGraphicFramePr>
        <p:xfrm>
          <a:off x="357952" y="16552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927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88" name="Google Shape;1288;p87"/>
          <p:cNvGraphicFramePr>
            <a:graphicFrameLocks noGrp="1"/>
          </p:cNvGraphicFramePr>
          <p:nvPr/>
        </p:nvGraphicFramePr>
        <p:xfrm>
          <a:off x="2643952" y="16552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927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27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1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89" name="Google Shape;1289;p87"/>
          <p:cNvGraphicFramePr>
            <a:graphicFrameLocks noGrp="1"/>
          </p:cNvGraphicFramePr>
          <p:nvPr/>
        </p:nvGraphicFramePr>
        <p:xfrm>
          <a:off x="4929952" y="16552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927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27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1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90" name="Google Shape;1290;p87"/>
          <p:cNvSpPr/>
          <p:nvPr/>
        </p:nvSpPr>
        <p:spPr>
          <a:xfrm>
            <a:off x="7385725" y="1495875"/>
            <a:ext cx="1361100" cy="2443200"/>
          </a:xfrm>
          <a:prstGeom prst="roundRect">
            <a:avLst>
              <a:gd name="adj" fmla="val 7657"/>
            </a:avLst>
          </a:prstGeom>
          <a:solidFill>
            <a:srgbClr val="F3EEFB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− 81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81 −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1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1" name="Google Shape;1291;p87"/>
          <p:cNvSpPr txBox="1"/>
          <p:nvPr>
            <p:ph type="body" idx="1"/>
          </p:nvPr>
        </p:nvSpPr>
        <p:spPr>
          <a:xfrm>
            <a:off x="324000" y="810750"/>
            <a:ext cx="8496000" cy="5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Which products of two binomials give the expressions in the box?  </a:t>
            </a:r>
            <a:endParaRPr sz="1800"/>
          </a:p>
        </p:txBody>
      </p:sp>
      <p:sp>
        <p:nvSpPr>
          <p:cNvPr id="1292" name="Google Shape;1292;p87"/>
          <p:cNvSpPr/>
          <p:nvPr/>
        </p:nvSpPr>
        <p:spPr>
          <a:xfrm>
            <a:off x="357950" y="1623300"/>
            <a:ext cx="2156400" cy="38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3" name="Google Shape;1293;p87"/>
          <p:cNvSpPr txBox="1"/>
          <p:nvPr/>
        </p:nvSpPr>
        <p:spPr>
          <a:xfrm>
            <a:off x="541800" y="2045400"/>
            <a:ext cx="1720800" cy="10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(9 +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9 −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81 −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4" name="Google Shape;1294;p87"/>
          <p:cNvSpPr txBox="1"/>
          <p:nvPr/>
        </p:nvSpPr>
        <p:spPr>
          <a:xfrm>
            <a:off x="2846700" y="2045400"/>
            <a:ext cx="1890900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− 9)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− 81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5" name="Google Shape;1295;p87"/>
          <p:cNvSpPr txBox="1"/>
          <p:nvPr/>
        </p:nvSpPr>
        <p:spPr>
          <a:xfrm>
            <a:off x="2887191" y="3838500"/>
            <a:ext cx="1720800" cy="4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+ x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6" name="Google Shape;1296;p87"/>
          <p:cNvSpPr/>
          <p:nvPr/>
        </p:nvSpPr>
        <p:spPr>
          <a:xfrm>
            <a:off x="2615175" y="1629900"/>
            <a:ext cx="2156400" cy="38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7" name="Google Shape;1297;p87"/>
          <p:cNvSpPr/>
          <p:nvPr/>
        </p:nvSpPr>
        <p:spPr>
          <a:xfrm>
            <a:off x="2581225" y="3455700"/>
            <a:ext cx="2156400" cy="38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8" name="Google Shape;1298;p87"/>
          <p:cNvSpPr txBox="1"/>
          <p:nvPr/>
        </p:nvSpPr>
        <p:spPr>
          <a:xfrm>
            <a:off x="5152875" y="2952150"/>
            <a:ext cx="17208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+ y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9" name="Google Shape;1299;p87"/>
          <p:cNvSpPr/>
          <p:nvPr/>
        </p:nvSpPr>
        <p:spPr>
          <a:xfrm>
            <a:off x="4824000" y="2528600"/>
            <a:ext cx="2156400" cy="38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3" name="Shape 1303"/>
        <p:cNvGrpSpPr/>
        <p:nvPr/>
      </p:nvGrpSpPr>
      <p:grpSpPr>
        <a:xfrm>
          <a:off x="0" y="0"/>
          <a:ext cx="0" cy="0"/>
        </a:xfrm>
      </p:grpSpPr>
      <p:sp>
        <p:nvSpPr>
          <p:cNvPr id="1304" name="Google Shape;1304;p8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equivalent binomials</a:t>
            </a:r>
            <a:endParaRPr/>
          </a:p>
        </p:txBody>
      </p:sp>
      <p:sp>
        <p:nvSpPr>
          <p:cNvPr id="1305" name="Google Shape;1305;p8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Coefficients other than 1</a:t>
            </a:r>
            <a:endParaRPr/>
          </a:p>
        </p:txBody>
      </p:sp>
      <p:sp>
        <p:nvSpPr>
          <p:cNvPr id="1306" name="Google Shape;1306;p8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More complex binomial products</a:t>
            </a:r>
            <a:endParaRPr/>
          </a:p>
        </p:txBody>
      </p:sp>
      <p:pic>
        <p:nvPicPr>
          <p:cNvPr id="1307" name="Google Shape;130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64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11" name="Shape 1311"/>
        <p:cNvGrpSpPr/>
        <p:nvPr/>
      </p:nvGrpSpPr>
      <p:grpSpPr>
        <a:xfrm>
          <a:off x="0" y="0"/>
          <a:ext cx="0" cy="0"/>
        </a:xfrm>
      </p:grpSpPr>
      <p:sp>
        <p:nvSpPr>
          <p:cNvPr id="1312" name="Google Shape;131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Coefficients other than 1</a:t>
            </a:r>
            <a:endParaRPr/>
          </a:p>
        </p:txBody>
      </p:sp>
      <p:grpSp>
        <p:nvGrpSpPr>
          <p:cNvPr id="1313" name="Google Shape;1313;p89"/>
          <p:cNvGrpSpPr/>
          <p:nvPr/>
        </p:nvGrpSpPr>
        <p:grpSpPr>
          <a:xfrm>
            <a:off x="400192" y="1624250"/>
            <a:ext cx="6104408" cy="2080002"/>
            <a:chOff x="400192" y="1624250"/>
            <a:chExt cx="6104408" cy="2080002"/>
          </a:xfrm>
        </p:grpSpPr>
        <p:sp>
          <p:nvSpPr>
            <p:cNvPr id="1314" name="Google Shape;1314;p89"/>
            <p:cNvSpPr txBox="1"/>
            <p:nvPr/>
          </p:nvSpPr>
          <p:spPr>
            <a:xfrm>
              <a:off x="400192" y="3382352"/>
              <a:ext cx="773700" cy="32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Sofia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315" name="Google Shape;1315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43898" y="2592073"/>
              <a:ext cx="653801" cy="725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6" name="Google Shape;1316;p89"/>
            <p:cNvPicPr preferRelativeResize="0"/>
            <p:nvPr/>
          </p:nvPicPr>
          <p:blipFill>
            <a:blip r:embed="rId4">
              <a:alphaModFix/>
            </a:blip>
            <a:srcRect r="57905" b="43690"/>
            <a:stretch>
              <a:fillRect/>
            </a:stretch>
          </p:blipFill>
          <p:spPr>
            <a:xfrm flipH="1">
              <a:off x="932777" y="1624250"/>
              <a:ext cx="5421373" cy="169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89"/>
            <p:cNvSpPr/>
            <p:nvPr/>
          </p:nvSpPr>
          <p:spPr>
            <a:xfrm>
              <a:off x="1345200" y="1765800"/>
              <a:ext cx="5159400" cy="10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have seen a pattern in the expanded form. The coefficient of 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is the sum of the two constants in the binomials and the constant term is the product of those two constants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18" name="Google Shape;1318;p89"/>
          <p:cNvSpPr txBox="1"/>
          <p:nvPr>
            <p:ph type="body" idx="4294967295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Sofia has been finding the product of two binomials with various expressions. </a:t>
            </a:r>
            <a:endParaRPr sz="1800"/>
          </a:p>
        </p:txBody>
      </p:sp>
      <p:sp>
        <p:nvSpPr>
          <p:cNvPr id="1319" name="Google Shape;1319;p89"/>
          <p:cNvSpPr txBox="1"/>
          <p:nvPr>
            <p:ph type="body" idx="4294967295"/>
          </p:nvPr>
        </p:nvSpPr>
        <p:spPr>
          <a:xfrm>
            <a:off x="6504600" y="1620000"/>
            <a:ext cx="2315400" cy="129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E.g.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5)(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(5 + 4)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 × 5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+ 9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+ 20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0" name="Google Shape;1320;p89"/>
          <p:cNvSpPr txBox="1"/>
          <p:nvPr>
            <p:ph type="body" idx="4294967295"/>
          </p:nvPr>
        </p:nvSpPr>
        <p:spPr>
          <a:xfrm>
            <a:off x="324000" y="3958500"/>
            <a:ext cx="3045600" cy="45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Do you agree?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Try some examples. </a:t>
            </a:r>
            <a:endParaRPr sz="1800"/>
          </a:p>
        </p:txBody>
      </p:sp>
      <p:sp>
        <p:nvSpPr>
          <p:cNvPr id="1321" name="Google Shape;1321;p89"/>
          <p:cNvSpPr txBox="1"/>
          <p:nvPr>
            <p:ph type="body" idx="4294967295"/>
          </p:nvPr>
        </p:nvSpPr>
        <p:spPr>
          <a:xfrm>
            <a:off x="2995713" y="3524700"/>
            <a:ext cx="2315400" cy="129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4)(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+ 8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+ 6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+ 8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2" name="Google Shape;1322;p89"/>
          <p:cNvSpPr txBox="1"/>
          <p:nvPr>
            <p:ph type="body" idx="4294967295"/>
          </p:nvPr>
        </p:nvSpPr>
        <p:spPr>
          <a:xfrm>
            <a:off x="5893788" y="3524700"/>
            <a:ext cx="2315400" cy="129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8)(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+ 8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26" name="Shape 1326"/>
        <p:cNvGrpSpPr/>
        <p:nvPr/>
      </p:nvGrpSpPr>
      <p:grpSpPr>
        <a:xfrm>
          <a:off x="0" y="0"/>
          <a:ext cx="0" cy="0"/>
        </a:xfrm>
      </p:grpSpPr>
      <p:sp>
        <p:nvSpPr>
          <p:cNvPr id="1327" name="Google Shape;132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Coefficients other than 1</a:t>
            </a:r>
            <a:endParaRPr/>
          </a:p>
        </p:txBody>
      </p:sp>
      <p:sp>
        <p:nvSpPr>
          <p:cNvPr id="1328" name="Google Shape;1328;p90"/>
          <p:cNvSpPr txBox="1"/>
          <p:nvPr>
            <p:ph type="body" idx="4294967295"/>
          </p:nvPr>
        </p:nvSpPr>
        <p:spPr>
          <a:xfrm>
            <a:off x="324000" y="810000"/>
            <a:ext cx="8237700" cy="407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Sofia’s observation does seem to work for many examples.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Multiplying the two constant terms gives one of the partial products.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If two of the partial products are like terms they can be simplified by summing the coefficients.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Did you think of any examples where this does not work?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Any example where the binomials have different variables in them.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+ 5) </a:t>
            </a:r>
            <a:r>
              <a:rPr lang="en-GB" sz="1800"/>
              <a:t>or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Any example where one or more of the variables is negative.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+ 4)(5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800"/>
              <a:t>or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(4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)(5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2" name="Shape 1332"/>
        <p:cNvGrpSpPr/>
        <p:nvPr/>
      </p:nvGrpSpPr>
      <p:grpSpPr>
        <a:xfrm>
          <a:off x="0" y="0"/>
          <a:ext cx="0" cy="0"/>
        </a:xfrm>
      </p:grpSpPr>
      <p:sp>
        <p:nvSpPr>
          <p:cNvPr id="1333" name="Google Shape;133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Coefficients other than 1</a:t>
            </a:r>
            <a:endParaRPr/>
          </a:p>
        </p:txBody>
      </p:sp>
      <p:sp>
        <p:nvSpPr>
          <p:cNvPr id="1334" name="Google Shape;1334;p91"/>
          <p:cNvSpPr txBox="1"/>
          <p:nvPr/>
        </p:nvSpPr>
        <p:spPr>
          <a:xfrm>
            <a:off x="5207532" y="3985650"/>
            <a:ext cx="3393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+ 4)(2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5)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+ 18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+ 20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5" name="Google Shape;1335;p91"/>
          <p:cNvSpPr/>
          <p:nvPr/>
        </p:nvSpPr>
        <p:spPr>
          <a:xfrm>
            <a:off x="5103125" y="3892450"/>
            <a:ext cx="3574800" cy="4851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91"/>
          <p:cNvSpPr txBox="1"/>
          <p:nvPr>
            <p:ph type="body" idx="4294967295"/>
          </p:nvPr>
        </p:nvSpPr>
        <p:spPr>
          <a:xfrm>
            <a:off x="324000" y="810000"/>
            <a:ext cx="8237700" cy="161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variables in the binomials can have coefficients greater than 1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For example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+ 4)(2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1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We can find the expanded form using an area model.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337" name="Google Shape;1337;p91"/>
          <p:cNvGrpSpPr/>
          <p:nvPr/>
        </p:nvGrpSpPr>
        <p:grpSpPr>
          <a:xfrm>
            <a:off x="403272" y="2479947"/>
            <a:ext cx="2688821" cy="2007954"/>
            <a:chOff x="403272" y="2479947"/>
            <a:chExt cx="2688821" cy="2007954"/>
          </a:xfrm>
        </p:grpSpPr>
        <p:grpSp>
          <p:nvGrpSpPr>
            <p:cNvPr id="1338" name="Google Shape;1338;p91"/>
            <p:cNvGrpSpPr/>
            <p:nvPr/>
          </p:nvGrpSpPr>
          <p:grpSpPr>
            <a:xfrm>
              <a:off x="772775" y="2911437"/>
              <a:ext cx="2214428" cy="1567518"/>
              <a:chOff x="964919" y="2012573"/>
              <a:chExt cx="1834503" cy="1572235"/>
            </a:xfrm>
          </p:grpSpPr>
          <p:sp>
            <p:nvSpPr>
              <p:cNvPr id="1339" name="Google Shape;1339;p91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40" name="Google Shape;1340;p91"/>
              <p:cNvSpPr/>
              <p:nvPr/>
            </p:nvSpPr>
            <p:spPr>
              <a:xfrm>
                <a:off x="1859522" y="2013439"/>
                <a:ext cx="9399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41" name="Google Shape;1341;p91"/>
              <p:cNvSpPr/>
              <p:nvPr/>
            </p:nvSpPr>
            <p:spPr>
              <a:xfrm>
                <a:off x="964921" y="3098206"/>
                <a:ext cx="8946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42" name="Google Shape;1342;p91"/>
              <p:cNvSpPr/>
              <p:nvPr/>
            </p:nvSpPr>
            <p:spPr>
              <a:xfrm>
                <a:off x="1859521" y="3098208"/>
                <a:ext cx="9399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343" name="Google Shape;1343;p91"/>
            <p:cNvCxnSpPr/>
            <p:nvPr/>
          </p:nvCxnSpPr>
          <p:spPr>
            <a:xfrm flipH="1">
              <a:off x="653384" y="2927607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344" name="Google Shape;1344;p91"/>
            <p:cNvSpPr txBox="1"/>
            <p:nvPr/>
          </p:nvSpPr>
          <p:spPr>
            <a:xfrm>
              <a:off x="403272" y="3294724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45" name="Google Shape;1345;p91"/>
            <p:cNvSpPr txBox="1"/>
            <p:nvPr/>
          </p:nvSpPr>
          <p:spPr>
            <a:xfrm>
              <a:off x="1182593" y="2479947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346" name="Google Shape;1346;p91"/>
            <p:cNvCxnSpPr/>
            <p:nvPr/>
          </p:nvCxnSpPr>
          <p:spPr>
            <a:xfrm>
              <a:off x="772770" y="2833389"/>
              <a:ext cx="99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347" name="Google Shape;1347;p91"/>
            <p:cNvCxnSpPr/>
            <p:nvPr/>
          </p:nvCxnSpPr>
          <p:spPr>
            <a:xfrm>
              <a:off x="1772026" y="2833396"/>
              <a:ext cx="1193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348" name="Google Shape;1348;p91"/>
            <p:cNvCxnSpPr/>
            <p:nvPr/>
          </p:nvCxnSpPr>
          <p:spPr>
            <a:xfrm flipH="1">
              <a:off x="650978" y="3964400"/>
              <a:ext cx="0" cy="523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349" name="Google Shape;1349;p91"/>
            <p:cNvSpPr txBox="1"/>
            <p:nvPr/>
          </p:nvSpPr>
          <p:spPr>
            <a:xfrm>
              <a:off x="432418" y="4114650"/>
              <a:ext cx="12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50" name="Google Shape;1350;p91"/>
          <p:cNvSpPr/>
          <p:nvPr/>
        </p:nvSpPr>
        <p:spPr>
          <a:xfrm>
            <a:off x="772775" y="2911437"/>
            <a:ext cx="1080000" cy="108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1" name="Google Shape;1351;p91"/>
          <p:cNvSpPr/>
          <p:nvPr/>
        </p:nvSpPr>
        <p:spPr>
          <a:xfrm>
            <a:off x="1852650" y="2912300"/>
            <a:ext cx="1134600" cy="1081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2" name="Google Shape;1352;p91"/>
          <p:cNvSpPr/>
          <p:nvPr/>
        </p:nvSpPr>
        <p:spPr>
          <a:xfrm>
            <a:off x="772777" y="3993813"/>
            <a:ext cx="10800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3" name="Google Shape;1353;p91"/>
          <p:cNvSpPr/>
          <p:nvPr/>
        </p:nvSpPr>
        <p:spPr>
          <a:xfrm>
            <a:off x="1852650" y="3993825"/>
            <a:ext cx="11346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4" name="Google Shape;1354;p91"/>
          <p:cNvSpPr txBox="1"/>
          <p:nvPr/>
        </p:nvSpPr>
        <p:spPr>
          <a:xfrm>
            <a:off x="3369600" y="2911425"/>
            <a:ext cx="3393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×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 ×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5" name="Google Shape;1355;p91"/>
          <p:cNvSpPr txBox="1"/>
          <p:nvPr/>
        </p:nvSpPr>
        <p:spPr>
          <a:xfrm>
            <a:off x="4320000" y="3292700"/>
            <a:ext cx="3393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6" name="Google Shape;1356;p91"/>
          <p:cNvSpPr txBox="1"/>
          <p:nvPr/>
        </p:nvSpPr>
        <p:spPr>
          <a:xfrm>
            <a:off x="3488782" y="3749625"/>
            <a:ext cx="3393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× 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10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7" name="Google Shape;1357;p91"/>
          <p:cNvSpPr txBox="1"/>
          <p:nvPr/>
        </p:nvSpPr>
        <p:spPr>
          <a:xfrm>
            <a:off x="3488782" y="4130625"/>
            <a:ext cx="3393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4 ×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8" name="Google Shape;1358;p91"/>
          <p:cNvSpPr txBox="1"/>
          <p:nvPr/>
        </p:nvSpPr>
        <p:spPr>
          <a:xfrm>
            <a:off x="3598200" y="4511625"/>
            <a:ext cx="1909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4 × 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62" name="Shape 1362"/>
        <p:cNvGrpSpPr/>
        <p:nvPr/>
      </p:nvGrpSpPr>
      <p:grpSpPr>
        <a:xfrm>
          <a:off x="0" y="0"/>
          <a:ext cx="0" cy="0"/>
        </a:xfrm>
      </p:grpSpPr>
      <p:sp>
        <p:nvSpPr>
          <p:cNvPr id="1363" name="Google Shape;136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Coefficients other than 1</a:t>
            </a:r>
            <a:endParaRPr/>
          </a:p>
        </p:txBody>
      </p:sp>
      <p:sp>
        <p:nvSpPr>
          <p:cNvPr id="1364" name="Google Shape;1364;p92"/>
          <p:cNvSpPr txBox="1"/>
          <p:nvPr/>
        </p:nvSpPr>
        <p:spPr>
          <a:xfrm>
            <a:off x="428407" y="1173200"/>
            <a:ext cx="3393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+ 4)(2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5)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+ 18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+ 20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65" name="Google Shape;1365;p92"/>
          <p:cNvSpPr/>
          <p:nvPr/>
        </p:nvSpPr>
        <p:spPr>
          <a:xfrm>
            <a:off x="324000" y="1080000"/>
            <a:ext cx="3574800" cy="4851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66" name="Google Shape;1366;p92"/>
          <p:cNvGrpSpPr/>
          <p:nvPr/>
        </p:nvGrpSpPr>
        <p:grpSpPr>
          <a:xfrm>
            <a:off x="4626292" y="810000"/>
            <a:ext cx="4063008" cy="1226160"/>
            <a:chOff x="4626292" y="810000"/>
            <a:chExt cx="4063008" cy="1226160"/>
          </a:xfrm>
        </p:grpSpPr>
        <p:sp>
          <p:nvSpPr>
            <p:cNvPr id="1367" name="Google Shape;1367;p92"/>
            <p:cNvSpPr txBox="1"/>
            <p:nvPr/>
          </p:nvSpPr>
          <p:spPr>
            <a:xfrm flipH="1">
              <a:off x="7877500" y="919050"/>
              <a:ext cx="811800" cy="32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Sofia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368" name="Google Shape;1368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56492" y="1310885"/>
              <a:ext cx="653801" cy="725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9" name="Google Shape;1369;p92"/>
            <p:cNvPicPr preferRelativeResize="0"/>
            <p:nvPr/>
          </p:nvPicPr>
          <p:blipFill>
            <a:blip r:embed="rId4">
              <a:alphaModFix/>
            </a:blip>
            <a:srcRect r="57905" b="43690"/>
            <a:stretch>
              <a:fillRect/>
            </a:stretch>
          </p:blipFill>
          <p:spPr>
            <a:xfrm>
              <a:off x="4626292" y="810000"/>
              <a:ext cx="3288428" cy="10404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0" name="Google Shape;1370;p92"/>
            <p:cNvSpPr/>
            <p:nvPr/>
          </p:nvSpPr>
          <p:spPr>
            <a:xfrm flipH="1">
              <a:off x="4669642" y="951550"/>
              <a:ext cx="2960100" cy="10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Oh, this one doesn’t follow my rule as 4 + 5 =9 not 18.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71" name="Google Shape;1371;p92"/>
          <p:cNvSpPr txBox="1"/>
          <p:nvPr>
            <p:ph type="body" idx="4294967295"/>
          </p:nvPr>
        </p:nvSpPr>
        <p:spPr>
          <a:xfrm>
            <a:off x="324000" y="2160000"/>
            <a:ext cx="8496000" cy="2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Spotting patterns is really useful in mathematics as it allows us to understand the structure of numbers and calculations.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Sofia’s observation does help us see the structure of binomial products in the form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+ 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+ 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800"/>
              <a:t>where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800"/>
              <a:t> and constants.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However this does not work for other binomial products. An area model is recommended to make sure no partial products are missed or calculated incorrectly. 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75" name="Shape 1375"/>
        <p:cNvGrpSpPr/>
        <p:nvPr/>
      </p:nvGrpSpPr>
      <p:grpSpPr>
        <a:xfrm>
          <a:off x="0" y="0"/>
          <a:ext cx="0" cy="0"/>
        </a:xfrm>
      </p:grpSpPr>
      <p:sp>
        <p:nvSpPr>
          <p:cNvPr id="1376" name="Google Shape;1376;p93"/>
          <p:cNvSpPr txBox="1"/>
          <p:nvPr/>
        </p:nvSpPr>
        <p:spPr>
          <a:xfrm>
            <a:off x="6347999" y="2434100"/>
            <a:ext cx="1551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5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7" name="Google Shape;137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Coefficients other than 1</a:t>
            </a:r>
            <a:endParaRPr/>
          </a:p>
        </p:txBody>
      </p:sp>
      <p:sp>
        <p:nvSpPr>
          <p:cNvPr id="1378" name="Google Shape;1378;p93"/>
          <p:cNvSpPr txBox="1"/>
          <p:nvPr/>
        </p:nvSpPr>
        <p:spPr>
          <a:xfrm>
            <a:off x="4823999" y="2434100"/>
            <a:ext cx="1551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9" name="Google Shape;1379;p93"/>
          <p:cNvSpPr txBox="1"/>
          <p:nvPr>
            <p:ph type="body" idx="4294967295"/>
          </p:nvPr>
        </p:nvSpPr>
        <p:spPr>
          <a:xfrm>
            <a:off x="324000" y="810000"/>
            <a:ext cx="8237700" cy="93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What is the expanded form of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)(2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800"/>
              <a:t>?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method with an area model and without are shown side by side.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380" name="Google Shape;1380;p93"/>
          <p:cNvGrpSpPr/>
          <p:nvPr/>
        </p:nvGrpSpPr>
        <p:grpSpPr>
          <a:xfrm>
            <a:off x="359250" y="1619997"/>
            <a:ext cx="3191843" cy="2272490"/>
            <a:chOff x="359250" y="1619997"/>
            <a:chExt cx="3191843" cy="2272490"/>
          </a:xfrm>
        </p:grpSpPr>
        <p:grpSp>
          <p:nvGrpSpPr>
            <p:cNvPr id="1381" name="Google Shape;1381;p93"/>
            <p:cNvGrpSpPr/>
            <p:nvPr/>
          </p:nvGrpSpPr>
          <p:grpSpPr>
            <a:xfrm>
              <a:off x="946640" y="2036916"/>
              <a:ext cx="2171368" cy="1855571"/>
              <a:chOff x="964919" y="2012573"/>
              <a:chExt cx="1129803" cy="1861154"/>
            </a:xfrm>
          </p:grpSpPr>
          <p:sp>
            <p:nvSpPr>
              <p:cNvPr id="1382" name="Google Shape;1382;p93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83" name="Google Shape;1383;p93"/>
              <p:cNvSpPr/>
              <p:nvPr/>
            </p:nvSpPr>
            <p:spPr>
              <a:xfrm>
                <a:off x="1859521" y="2013435"/>
                <a:ext cx="2352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84" name="Google Shape;1384;p93"/>
              <p:cNvSpPr/>
              <p:nvPr/>
            </p:nvSpPr>
            <p:spPr>
              <a:xfrm>
                <a:off x="964924" y="3098214"/>
                <a:ext cx="894600" cy="77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85" name="Google Shape;1385;p93"/>
              <p:cNvSpPr/>
              <p:nvPr/>
            </p:nvSpPr>
            <p:spPr>
              <a:xfrm>
                <a:off x="1859517" y="3098227"/>
                <a:ext cx="235200" cy="77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386" name="Google Shape;1386;p93"/>
            <p:cNvCxnSpPr/>
            <p:nvPr/>
          </p:nvCxnSpPr>
          <p:spPr>
            <a:xfrm flipH="1">
              <a:off x="827259" y="2053107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387" name="Google Shape;1387;p93"/>
            <p:cNvSpPr txBox="1"/>
            <p:nvPr/>
          </p:nvSpPr>
          <p:spPr>
            <a:xfrm>
              <a:off x="577147" y="2420224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88" name="Google Shape;1388;p93"/>
            <p:cNvSpPr txBox="1"/>
            <p:nvPr/>
          </p:nvSpPr>
          <p:spPr>
            <a:xfrm>
              <a:off x="1641593" y="1619997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5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    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b</a:t>
              </a:r>
              <a:endParaRPr sz="18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389" name="Google Shape;1389;p93"/>
            <p:cNvCxnSpPr/>
            <p:nvPr/>
          </p:nvCxnSpPr>
          <p:spPr>
            <a:xfrm>
              <a:off x="946645" y="1958889"/>
              <a:ext cx="1655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390" name="Google Shape;1390;p93"/>
            <p:cNvCxnSpPr/>
            <p:nvPr/>
          </p:nvCxnSpPr>
          <p:spPr>
            <a:xfrm>
              <a:off x="2690901" y="1958896"/>
              <a:ext cx="427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391" name="Google Shape;1391;p93"/>
            <p:cNvCxnSpPr/>
            <p:nvPr/>
          </p:nvCxnSpPr>
          <p:spPr>
            <a:xfrm flipH="1">
              <a:off x="824853" y="3089900"/>
              <a:ext cx="0" cy="764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392" name="Google Shape;1392;p93"/>
            <p:cNvSpPr txBox="1"/>
            <p:nvPr/>
          </p:nvSpPr>
          <p:spPr>
            <a:xfrm>
              <a:off x="359250" y="3327457"/>
              <a:ext cx="4656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b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93" name="Google Shape;1393;p93"/>
          <p:cNvSpPr/>
          <p:nvPr/>
        </p:nvSpPr>
        <p:spPr>
          <a:xfrm>
            <a:off x="946650" y="2036925"/>
            <a:ext cx="1713000" cy="108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2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4" name="Google Shape;1394;p93"/>
          <p:cNvSpPr/>
          <p:nvPr/>
        </p:nvSpPr>
        <p:spPr>
          <a:xfrm>
            <a:off x="2663373" y="2036959"/>
            <a:ext cx="453600" cy="1081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ab</a:t>
            </a:r>
            <a:endParaRPr sz="2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5" name="Google Shape;1395;p93"/>
          <p:cNvSpPr/>
          <p:nvPr/>
        </p:nvSpPr>
        <p:spPr>
          <a:xfrm>
            <a:off x="946650" y="3117652"/>
            <a:ext cx="1713000" cy="764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ab</a:t>
            </a:r>
            <a:endParaRPr sz="2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6" name="Google Shape;1396;p93"/>
          <p:cNvSpPr/>
          <p:nvPr/>
        </p:nvSpPr>
        <p:spPr>
          <a:xfrm>
            <a:off x="2663375" y="3118450"/>
            <a:ext cx="453600" cy="764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8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8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7" name="Google Shape;1397;p93"/>
          <p:cNvSpPr txBox="1"/>
          <p:nvPr/>
        </p:nvSpPr>
        <p:spPr>
          <a:xfrm>
            <a:off x="4823999" y="3043700"/>
            <a:ext cx="1594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8" name="Google Shape;1398;p93"/>
          <p:cNvSpPr txBox="1"/>
          <p:nvPr/>
        </p:nvSpPr>
        <p:spPr>
          <a:xfrm>
            <a:off x="4823999" y="3577100"/>
            <a:ext cx="3996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9" name="Google Shape;1399;p93"/>
          <p:cNvSpPr/>
          <p:nvPr/>
        </p:nvSpPr>
        <p:spPr>
          <a:xfrm>
            <a:off x="946650" y="2044124"/>
            <a:ext cx="1713000" cy="1855500"/>
          </a:xfrm>
          <a:prstGeom prst="rect">
            <a:avLst/>
          </a:prstGeom>
          <a:solidFill>
            <a:srgbClr val="25EF36">
              <a:alpha val="31009"/>
            </a:srgbClr>
          </a:solidFill>
          <a:ln w="952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93"/>
          <p:cNvSpPr/>
          <p:nvPr/>
        </p:nvSpPr>
        <p:spPr>
          <a:xfrm>
            <a:off x="2659650" y="2036950"/>
            <a:ext cx="453600" cy="1855500"/>
          </a:xfrm>
          <a:prstGeom prst="rect">
            <a:avLst/>
          </a:prstGeom>
          <a:solidFill>
            <a:srgbClr val="25EF36">
              <a:alpha val="31009"/>
            </a:srgbClr>
          </a:solidFill>
          <a:ln w="952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93"/>
          <p:cNvSpPr txBox="1"/>
          <p:nvPr/>
        </p:nvSpPr>
        <p:spPr>
          <a:xfrm>
            <a:off x="6375599" y="3043700"/>
            <a:ext cx="1594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2" name="Google Shape;1402;p93"/>
          <p:cNvSpPr txBox="1"/>
          <p:nvPr/>
        </p:nvSpPr>
        <p:spPr>
          <a:xfrm>
            <a:off x="946649" y="4029050"/>
            <a:ext cx="2363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3" name="Google Shape;1403;p93"/>
          <p:cNvSpPr txBox="1"/>
          <p:nvPr/>
        </p:nvSpPr>
        <p:spPr>
          <a:xfrm>
            <a:off x="4824000" y="1859350"/>
            <a:ext cx="3996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− 3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4" name="Google Shape;1404;p93"/>
          <p:cNvSpPr/>
          <p:nvPr/>
        </p:nvSpPr>
        <p:spPr>
          <a:xfrm rot="307821">
            <a:off x="5146963" y="2278793"/>
            <a:ext cx="441951" cy="237653"/>
          </a:xfrm>
          <a:custGeom>
            <a:rect l="l" t="t" r="r" b="b"/>
            <a:pathLst>
              <a:path w="26000" h="6824" extrusionOk="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/>
        </p:txBody>
      </p:sp>
      <p:sp>
        <p:nvSpPr>
          <p:cNvPr id="1405" name="Google Shape;1405;p93"/>
          <p:cNvSpPr/>
          <p:nvPr/>
        </p:nvSpPr>
        <p:spPr>
          <a:xfrm rot="357032">
            <a:off x="5164651" y="2165866"/>
            <a:ext cx="923556" cy="359220"/>
          </a:xfrm>
          <a:custGeom>
            <a:rect l="l" t="t" r="r" b="b"/>
            <a:pathLst>
              <a:path w="26000" h="6824" extrusionOk="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/>
        </p:txBody>
      </p:sp>
      <p:sp>
        <p:nvSpPr>
          <p:cNvPr id="1406" name="Google Shape;1406;p93"/>
          <p:cNvSpPr/>
          <p:nvPr/>
        </p:nvSpPr>
        <p:spPr>
          <a:xfrm rot="307669">
            <a:off x="6620988" y="2275998"/>
            <a:ext cx="379624" cy="237636"/>
          </a:xfrm>
          <a:custGeom>
            <a:rect l="l" t="t" r="r" b="b"/>
            <a:pathLst>
              <a:path w="26000" h="6824" extrusionOk="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/>
        </p:txBody>
      </p:sp>
      <p:sp>
        <p:nvSpPr>
          <p:cNvPr id="1407" name="Google Shape;1407;p93"/>
          <p:cNvSpPr/>
          <p:nvPr/>
        </p:nvSpPr>
        <p:spPr>
          <a:xfrm rot="357250">
            <a:off x="6624525" y="2160212"/>
            <a:ext cx="813966" cy="359186"/>
          </a:xfrm>
          <a:custGeom>
            <a:rect l="l" t="t" r="r" b="b"/>
            <a:pathLst>
              <a:path w="26000" h="6824" extrusionOk="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/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11" name="Shape 1411"/>
        <p:cNvGrpSpPr/>
        <p:nvPr/>
      </p:nvGrpSpPr>
      <p:grpSpPr>
        <a:xfrm>
          <a:off x="0" y="0"/>
          <a:ext cx="0" cy="0"/>
        </a:xfrm>
      </p:grpSpPr>
      <p:sp>
        <p:nvSpPr>
          <p:cNvPr id="1412" name="Google Shape;1412;p94"/>
          <p:cNvSpPr txBox="1"/>
          <p:nvPr/>
        </p:nvSpPr>
        <p:spPr>
          <a:xfrm>
            <a:off x="330924" y="3250800"/>
            <a:ext cx="1551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2) 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3" name="Google Shape;1413;p94"/>
          <p:cNvSpPr txBox="1"/>
          <p:nvPr/>
        </p:nvSpPr>
        <p:spPr>
          <a:xfrm>
            <a:off x="1702524" y="3250800"/>
            <a:ext cx="1551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9(3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2) 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4" name="Google Shape;1414;p94"/>
          <p:cNvSpPr txBox="1"/>
          <p:nvPr/>
        </p:nvSpPr>
        <p:spPr>
          <a:xfrm>
            <a:off x="6198324" y="3250800"/>
            <a:ext cx="1551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8(2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3) 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5" name="Google Shape;1415;p94"/>
          <p:cNvSpPr txBox="1"/>
          <p:nvPr/>
        </p:nvSpPr>
        <p:spPr>
          <a:xfrm>
            <a:off x="4826724" y="3250800"/>
            <a:ext cx="1551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3) 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6" name="Google Shape;1416;p94"/>
          <p:cNvSpPr txBox="1"/>
          <p:nvPr/>
        </p:nvSpPr>
        <p:spPr>
          <a:xfrm>
            <a:off x="330924" y="3784200"/>
            <a:ext cx="1594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7" name="Google Shape;1417;p94"/>
          <p:cNvSpPr txBox="1"/>
          <p:nvPr/>
        </p:nvSpPr>
        <p:spPr>
          <a:xfrm>
            <a:off x="1730124" y="3784200"/>
            <a:ext cx="1594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27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18 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8" name="Google Shape;1418;p94"/>
          <p:cNvSpPr txBox="1"/>
          <p:nvPr>
            <p:ph type="subTitle" idx="1"/>
          </p:nvPr>
        </p:nvSpPr>
        <p:spPr>
          <a:xfrm>
            <a:off x="337825" y="810000"/>
            <a:ext cx="3982200" cy="88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Expand and simplify: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9)(3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2)</a:t>
            </a:r>
            <a:endParaRPr/>
          </a:p>
        </p:txBody>
      </p:sp>
      <p:sp>
        <p:nvSpPr>
          <p:cNvPr id="1419" name="Google Shape;1419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Coefficients other than 1</a:t>
            </a:r>
            <a:endParaRPr/>
          </a:p>
        </p:txBody>
      </p:sp>
      <p:sp>
        <p:nvSpPr>
          <p:cNvPr id="1420" name="Google Shape;1420;p94"/>
          <p:cNvSpPr txBox="1"/>
          <p:nvPr/>
        </p:nvSpPr>
        <p:spPr>
          <a:xfrm>
            <a:off x="330924" y="4301300"/>
            <a:ext cx="3996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37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18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1" name="Google Shape;1421;p94"/>
          <p:cNvSpPr/>
          <p:nvPr/>
        </p:nvSpPr>
        <p:spPr>
          <a:xfrm rot="307821">
            <a:off x="653888" y="3095493"/>
            <a:ext cx="441951" cy="237653"/>
          </a:xfrm>
          <a:custGeom>
            <a:rect l="l" t="t" r="r" b="b"/>
            <a:pathLst>
              <a:path w="26000" h="6824" extrusionOk="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/>
        </p:txBody>
      </p:sp>
      <p:sp>
        <p:nvSpPr>
          <p:cNvPr id="1422" name="Google Shape;1422;p94"/>
          <p:cNvSpPr/>
          <p:nvPr/>
        </p:nvSpPr>
        <p:spPr>
          <a:xfrm rot="356978">
            <a:off x="671964" y="2975190"/>
            <a:ext cx="781349" cy="359203"/>
          </a:xfrm>
          <a:custGeom>
            <a:rect l="l" t="t" r="r" b="b"/>
            <a:pathLst>
              <a:path w="26000" h="6824" extrusionOk="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/>
        </p:txBody>
      </p:sp>
      <p:sp>
        <p:nvSpPr>
          <p:cNvPr id="1423" name="Google Shape;1423;p94"/>
          <p:cNvSpPr/>
          <p:nvPr/>
        </p:nvSpPr>
        <p:spPr>
          <a:xfrm rot="307669">
            <a:off x="1975513" y="3092698"/>
            <a:ext cx="379624" cy="237636"/>
          </a:xfrm>
          <a:custGeom>
            <a:rect l="l" t="t" r="r" b="b"/>
            <a:pathLst>
              <a:path w="26000" h="6824" extrusionOk="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/>
        </p:txBody>
      </p:sp>
      <p:sp>
        <p:nvSpPr>
          <p:cNvPr id="1424" name="Google Shape;1424;p94"/>
          <p:cNvSpPr/>
          <p:nvPr/>
        </p:nvSpPr>
        <p:spPr>
          <a:xfrm rot="357250">
            <a:off x="1979050" y="2976912"/>
            <a:ext cx="813966" cy="359186"/>
          </a:xfrm>
          <a:custGeom>
            <a:rect l="l" t="t" r="r" b="b"/>
            <a:pathLst>
              <a:path w="26000" h="6824" extrusionOk="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/>
        </p:txBody>
      </p:sp>
      <p:grpSp>
        <p:nvGrpSpPr>
          <p:cNvPr id="1425" name="Google Shape;1425;p94"/>
          <p:cNvGrpSpPr/>
          <p:nvPr/>
        </p:nvGrpSpPr>
        <p:grpSpPr>
          <a:xfrm>
            <a:off x="1989908" y="1024801"/>
            <a:ext cx="2182635" cy="1453889"/>
            <a:chOff x="1989908" y="1024801"/>
            <a:chExt cx="2182635" cy="1453889"/>
          </a:xfrm>
        </p:grpSpPr>
        <p:grpSp>
          <p:nvGrpSpPr>
            <p:cNvPr id="1426" name="Google Shape;1426;p94"/>
            <p:cNvGrpSpPr/>
            <p:nvPr/>
          </p:nvGrpSpPr>
          <p:grpSpPr>
            <a:xfrm>
              <a:off x="2385209" y="1387205"/>
              <a:ext cx="1787334" cy="1025886"/>
              <a:chOff x="964919" y="2012573"/>
              <a:chExt cx="1548011" cy="1712665"/>
            </a:xfrm>
          </p:grpSpPr>
          <p:sp>
            <p:nvSpPr>
              <p:cNvPr id="1427" name="Google Shape;1427;p94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28" name="Google Shape;1428;p94"/>
              <p:cNvSpPr/>
              <p:nvPr/>
            </p:nvSpPr>
            <p:spPr>
              <a:xfrm>
                <a:off x="1859530" y="2013444"/>
                <a:ext cx="6534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29" name="Google Shape;1429;p94"/>
              <p:cNvSpPr/>
              <p:nvPr/>
            </p:nvSpPr>
            <p:spPr>
              <a:xfrm>
                <a:off x="964923" y="3098224"/>
                <a:ext cx="894600" cy="627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30" name="Google Shape;1430;p94"/>
              <p:cNvSpPr/>
              <p:nvPr/>
            </p:nvSpPr>
            <p:spPr>
              <a:xfrm>
                <a:off x="1859516" y="3098238"/>
                <a:ext cx="653400" cy="627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431" name="Google Shape;1431;p94"/>
            <p:cNvCxnSpPr/>
            <p:nvPr/>
          </p:nvCxnSpPr>
          <p:spPr>
            <a:xfrm flipH="1">
              <a:off x="2313489" y="1396833"/>
              <a:ext cx="0" cy="622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32" name="Google Shape;1432;p94"/>
            <p:cNvSpPr txBox="1"/>
            <p:nvPr/>
          </p:nvSpPr>
          <p:spPr>
            <a:xfrm>
              <a:off x="2048195" y="1588734"/>
              <a:ext cx="2799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33" name="Google Shape;1433;p94"/>
            <p:cNvSpPr txBox="1"/>
            <p:nvPr/>
          </p:nvSpPr>
          <p:spPr>
            <a:xfrm>
              <a:off x="2795988" y="1024801"/>
              <a:ext cx="1147200" cy="11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5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−9</a:t>
              </a:r>
              <a:endParaRPr sz="18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34" name="Google Shape;1434;p94"/>
            <p:cNvCxnSpPr/>
            <p:nvPr/>
          </p:nvCxnSpPr>
          <p:spPr>
            <a:xfrm>
              <a:off x="2385211" y="1340232"/>
              <a:ext cx="9945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35" name="Google Shape;1435;p94"/>
            <p:cNvCxnSpPr/>
            <p:nvPr/>
          </p:nvCxnSpPr>
          <p:spPr>
            <a:xfrm>
              <a:off x="3433088" y="1340236"/>
              <a:ext cx="710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36" name="Google Shape;1436;p94"/>
            <p:cNvCxnSpPr/>
            <p:nvPr/>
          </p:nvCxnSpPr>
          <p:spPr>
            <a:xfrm flipH="1">
              <a:off x="2312043" y="2019690"/>
              <a:ext cx="0" cy="459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37" name="Google Shape;1437;p94"/>
            <p:cNvSpPr txBox="1"/>
            <p:nvPr/>
          </p:nvSpPr>
          <p:spPr>
            <a:xfrm>
              <a:off x="1989908" y="2086972"/>
              <a:ext cx="2799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438" name="Google Shape;1438;p94"/>
          <p:cNvSpPr/>
          <p:nvPr/>
        </p:nvSpPr>
        <p:spPr>
          <a:xfrm>
            <a:off x="2385214" y="1387112"/>
            <a:ext cx="1029000" cy="64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9" name="Google Shape;1439;p94"/>
          <p:cNvSpPr/>
          <p:nvPr/>
        </p:nvSpPr>
        <p:spPr>
          <a:xfrm>
            <a:off x="3425212" y="1386688"/>
            <a:ext cx="747300" cy="649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27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0" name="Google Shape;1440;p94"/>
          <p:cNvSpPr/>
          <p:nvPr/>
        </p:nvSpPr>
        <p:spPr>
          <a:xfrm>
            <a:off x="2385215" y="2036360"/>
            <a:ext cx="1029000" cy="376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1" name="Google Shape;1441;p94"/>
          <p:cNvSpPr/>
          <p:nvPr/>
        </p:nvSpPr>
        <p:spPr>
          <a:xfrm>
            <a:off x="3425200" y="2036672"/>
            <a:ext cx="747300" cy="376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18</a:t>
            </a:r>
            <a:endParaRPr sz="2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2" name="Google Shape;1442;p94"/>
          <p:cNvSpPr txBox="1"/>
          <p:nvPr/>
        </p:nvSpPr>
        <p:spPr>
          <a:xfrm>
            <a:off x="4826724" y="3784200"/>
            <a:ext cx="1594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3" name="Google Shape;1443;p94"/>
          <p:cNvSpPr txBox="1"/>
          <p:nvPr/>
        </p:nvSpPr>
        <p:spPr>
          <a:xfrm>
            <a:off x="6225924" y="3784200"/>
            <a:ext cx="1594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24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4" name="Google Shape;1444;p94"/>
          <p:cNvSpPr txBox="1"/>
          <p:nvPr>
            <p:ph type="subTitle" idx="1"/>
          </p:nvPr>
        </p:nvSpPr>
        <p:spPr>
          <a:xfrm>
            <a:off x="4833625" y="810000"/>
            <a:ext cx="3982200" cy="88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Expand and simplify: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8)(2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3)</a:t>
            </a:r>
            <a:endParaRPr/>
          </a:p>
        </p:txBody>
      </p:sp>
      <p:sp>
        <p:nvSpPr>
          <p:cNvPr id="1445" name="Google Shape;1445;p94"/>
          <p:cNvSpPr txBox="1"/>
          <p:nvPr/>
        </p:nvSpPr>
        <p:spPr>
          <a:xfrm>
            <a:off x="4826724" y="4301300"/>
            <a:ext cx="3996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28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24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6" name="Google Shape;1446;p94"/>
          <p:cNvSpPr/>
          <p:nvPr/>
        </p:nvSpPr>
        <p:spPr>
          <a:xfrm rot="307821">
            <a:off x="5149688" y="3095493"/>
            <a:ext cx="441951" cy="237653"/>
          </a:xfrm>
          <a:custGeom>
            <a:rect l="l" t="t" r="r" b="b"/>
            <a:pathLst>
              <a:path w="26000" h="6824" extrusionOk="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/>
        </p:txBody>
      </p:sp>
      <p:sp>
        <p:nvSpPr>
          <p:cNvPr id="1447" name="Google Shape;1447;p94"/>
          <p:cNvSpPr/>
          <p:nvPr/>
        </p:nvSpPr>
        <p:spPr>
          <a:xfrm rot="356978">
            <a:off x="5167764" y="2975190"/>
            <a:ext cx="781349" cy="359203"/>
          </a:xfrm>
          <a:custGeom>
            <a:rect l="l" t="t" r="r" b="b"/>
            <a:pathLst>
              <a:path w="26000" h="6824" extrusionOk="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/>
        </p:txBody>
      </p:sp>
      <p:sp>
        <p:nvSpPr>
          <p:cNvPr id="1448" name="Google Shape;1448;p94"/>
          <p:cNvSpPr/>
          <p:nvPr/>
        </p:nvSpPr>
        <p:spPr>
          <a:xfrm rot="307669">
            <a:off x="6471313" y="3092698"/>
            <a:ext cx="379624" cy="237636"/>
          </a:xfrm>
          <a:custGeom>
            <a:rect l="l" t="t" r="r" b="b"/>
            <a:pathLst>
              <a:path w="26000" h="6824" extrusionOk="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/>
        </p:txBody>
      </p:sp>
      <p:sp>
        <p:nvSpPr>
          <p:cNvPr id="1449" name="Google Shape;1449;p94"/>
          <p:cNvSpPr/>
          <p:nvPr/>
        </p:nvSpPr>
        <p:spPr>
          <a:xfrm rot="357250">
            <a:off x="6474850" y="2976912"/>
            <a:ext cx="813966" cy="359186"/>
          </a:xfrm>
          <a:custGeom>
            <a:rect l="l" t="t" r="r" b="b"/>
            <a:pathLst>
              <a:path w="26000" h="6824" extrusionOk="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/>
        </p:txBody>
      </p:sp>
      <p:grpSp>
        <p:nvGrpSpPr>
          <p:cNvPr id="1450" name="Google Shape;1450;p94"/>
          <p:cNvGrpSpPr/>
          <p:nvPr/>
        </p:nvGrpSpPr>
        <p:grpSpPr>
          <a:xfrm>
            <a:off x="6485708" y="1024801"/>
            <a:ext cx="2182635" cy="1453889"/>
            <a:chOff x="6485708" y="1024801"/>
            <a:chExt cx="2182635" cy="1453889"/>
          </a:xfrm>
        </p:grpSpPr>
        <p:grpSp>
          <p:nvGrpSpPr>
            <p:cNvPr id="1451" name="Google Shape;1451;p94"/>
            <p:cNvGrpSpPr/>
            <p:nvPr/>
          </p:nvGrpSpPr>
          <p:grpSpPr>
            <a:xfrm>
              <a:off x="6881009" y="1387205"/>
              <a:ext cx="1787334" cy="1025886"/>
              <a:chOff x="964919" y="2012573"/>
              <a:chExt cx="1548011" cy="1712665"/>
            </a:xfrm>
          </p:grpSpPr>
          <p:sp>
            <p:nvSpPr>
              <p:cNvPr id="1452" name="Google Shape;1452;p94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3" name="Google Shape;1453;p94"/>
              <p:cNvSpPr/>
              <p:nvPr/>
            </p:nvSpPr>
            <p:spPr>
              <a:xfrm>
                <a:off x="1859530" y="2013444"/>
                <a:ext cx="6534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4" name="Google Shape;1454;p94"/>
              <p:cNvSpPr/>
              <p:nvPr/>
            </p:nvSpPr>
            <p:spPr>
              <a:xfrm>
                <a:off x="964923" y="3098224"/>
                <a:ext cx="894600" cy="627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5" name="Google Shape;1455;p94"/>
              <p:cNvSpPr/>
              <p:nvPr/>
            </p:nvSpPr>
            <p:spPr>
              <a:xfrm>
                <a:off x="1859516" y="3098238"/>
                <a:ext cx="653400" cy="627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456" name="Google Shape;1456;p94"/>
            <p:cNvCxnSpPr/>
            <p:nvPr/>
          </p:nvCxnSpPr>
          <p:spPr>
            <a:xfrm flipH="1">
              <a:off x="6809289" y="1396833"/>
              <a:ext cx="0" cy="622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57" name="Google Shape;1457;p94"/>
            <p:cNvSpPr txBox="1"/>
            <p:nvPr/>
          </p:nvSpPr>
          <p:spPr>
            <a:xfrm>
              <a:off x="6543995" y="1588734"/>
              <a:ext cx="2799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58" name="Google Shape;1458;p94"/>
            <p:cNvSpPr txBox="1"/>
            <p:nvPr/>
          </p:nvSpPr>
          <p:spPr>
            <a:xfrm>
              <a:off x="7224038" y="1024801"/>
              <a:ext cx="1147200" cy="11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−8</a:t>
              </a:r>
              <a:endParaRPr sz="18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59" name="Google Shape;1459;p94"/>
            <p:cNvCxnSpPr/>
            <p:nvPr/>
          </p:nvCxnSpPr>
          <p:spPr>
            <a:xfrm>
              <a:off x="6881011" y="1340232"/>
              <a:ext cx="9945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60" name="Google Shape;1460;p94"/>
            <p:cNvCxnSpPr/>
            <p:nvPr/>
          </p:nvCxnSpPr>
          <p:spPr>
            <a:xfrm>
              <a:off x="7928888" y="1340236"/>
              <a:ext cx="710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61" name="Google Shape;1461;p94"/>
            <p:cNvCxnSpPr/>
            <p:nvPr/>
          </p:nvCxnSpPr>
          <p:spPr>
            <a:xfrm flipH="1">
              <a:off x="6807843" y="2019690"/>
              <a:ext cx="0" cy="459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62" name="Google Shape;1462;p94"/>
            <p:cNvSpPr txBox="1"/>
            <p:nvPr/>
          </p:nvSpPr>
          <p:spPr>
            <a:xfrm>
              <a:off x="6485708" y="2086972"/>
              <a:ext cx="2799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463" name="Google Shape;1463;p94"/>
          <p:cNvSpPr/>
          <p:nvPr/>
        </p:nvSpPr>
        <p:spPr>
          <a:xfrm>
            <a:off x="6881014" y="1387112"/>
            <a:ext cx="1029000" cy="64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64" name="Google Shape;1464;p94"/>
          <p:cNvSpPr/>
          <p:nvPr/>
        </p:nvSpPr>
        <p:spPr>
          <a:xfrm>
            <a:off x="7921012" y="1386688"/>
            <a:ext cx="747300" cy="649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65" name="Google Shape;1465;p94"/>
          <p:cNvSpPr/>
          <p:nvPr/>
        </p:nvSpPr>
        <p:spPr>
          <a:xfrm>
            <a:off x="6881015" y="2036360"/>
            <a:ext cx="1029000" cy="376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66" name="Google Shape;1466;p94"/>
          <p:cNvSpPr/>
          <p:nvPr/>
        </p:nvSpPr>
        <p:spPr>
          <a:xfrm>
            <a:off x="7921000" y="2036672"/>
            <a:ext cx="747300" cy="376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24</a:t>
            </a:r>
            <a:endParaRPr sz="2200" i="1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70" name="Shape 1470"/>
        <p:cNvGrpSpPr/>
        <p:nvPr/>
      </p:nvGrpSpPr>
      <p:grpSpPr>
        <a:xfrm>
          <a:off x="0" y="0"/>
          <a:ext cx="0" cy="0"/>
        </a:xfrm>
      </p:grpSpPr>
      <p:sp>
        <p:nvSpPr>
          <p:cNvPr id="1471" name="Google Shape;1471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Coefficients other than 1</a:t>
            </a:r>
            <a:endParaRPr/>
          </a:p>
        </p:txBody>
      </p:sp>
      <p:sp>
        <p:nvSpPr>
          <p:cNvPr id="1472" name="Google Shape;1472;p95"/>
          <p:cNvSpPr txBox="1"/>
          <p:nvPr>
            <p:ph type="body" idx="4294967295"/>
          </p:nvPr>
        </p:nvSpPr>
        <p:spPr>
          <a:xfrm>
            <a:off x="324000" y="851400"/>
            <a:ext cx="8496000" cy="149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We can use exactly the same method to multiply any two binomials, however complex.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For example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(0.5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)(0.5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1800"/>
          </a:p>
        </p:txBody>
      </p:sp>
      <p:sp>
        <p:nvSpPr>
          <p:cNvPr id="1473" name="Google Shape;1473;p95"/>
          <p:cNvSpPr txBox="1"/>
          <p:nvPr/>
        </p:nvSpPr>
        <p:spPr>
          <a:xfrm>
            <a:off x="4824000" y="2437000"/>
            <a:ext cx="3943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0.5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(0.5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(0.5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4" name="Google Shape;1474;p95"/>
          <p:cNvSpPr txBox="1"/>
          <p:nvPr/>
        </p:nvSpPr>
        <p:spPr>
          <a:xfrm>
            <a:off x="4824000" y="3046600"/>
            <a:ext cx="1665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0.25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5" name="Google Shape;1475;p95"/>
          <p:cNvSpPr/>
          <p:nvPr/>
        </p:nvSpPr>
        <p:spPr>
          <a:xfrm rot="307821">
            <a:off x="5146963" y="2281693"/>
            <a:ext cx="441951" cy="237653"/>
          </a:xfrm>
          <a:custGeom>
            <a:rect l="l" t="t" r="r" b="b"/>
            <a:pathLst>
              <a:path w="26000" h="6824" extrusionOk="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/>
        </p:txBody>
      </p:sp>
      <p:sp>
        <p:nvSpPr>
          <p:cNvPr id="1476" name="Google Shape;1476;p95"/>
          <p:cNvSpPr/>
          <p:nvPr/>
        </p:nvSpPr>
        <p:spPr>
          <a:xfrm rot="356973">
            <a:off x="5167503" y="2121240"/>
            <a:ext cx="1206529" cy="421601"/>
          </a:xfrm>
          <a:custGeom>
            <a:rect l="l" t="t" r="r" b="b"/>
            <a:pathLst>
              <a:path w="26000" h="6824" extrusionOk="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/>
        </p:txBody>
      </p:sp>
      <p:sp>
        <p:nvSpPr>
          <p:cNvPr id="1477" name="Google Shape;1477;p95"/>
          <p:cNvSpPr/>
          <p:nvPr/>
        </p:nvSpPr>
        <p:spPr>
          <a:xfrm rot="246148">
            <a:off x="7006181" y="2276809"/>
            <a:ext cx="425215" cy="238303"/>
          </a:xfrm>
          <a:custGeom>
            <a:rect l="l" t="t" r="r" b="b"/>
            <a:pathLst>
              <a:path w="26000" h="6824" extrusionOk="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/>
        </p:txBody>
      </p:sp>
      <p:sp>
        <p:nvSpPr>
          <p:cNvPr id="1478" name="Google Shape;1478;p95"/>
          <p:cNvSpPr/>
          <p:nvPr/>
        </p:nvSpPr>
        <p:spPr>
          <a:xfrm rot="285873">
            <a:off x="7011186" y="2162434"/>
            <a:ext cx="1016538" cy="360526"/>
          </a:xfrm>
          <a:custGeom>
            <a:rect l="l" t="t" r="r" b="b"/>
            <a:pathLst>
              <a:path w="26000" h="6824" extrusionOk="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/>
        </p:txBody>
      </p:sp>
      <p:grpSp>
        <p:nvGrpSpPr>
          <p:cNvPr id="1479" name="Google Shape;1479;p95"/>
          <p:cNvGrpSpPr/>
          <p:nvPr/>
        </p:nvGrpSpPr>
        <p:grpSpPr>
          <a:xfrm>
            <a:off x="340951" y="2049188"/>
            <a:ext cx="2288238" cy="2120355"/>
            <a:chOff x="284448" y="2038344"/>
            <a:chExt cx="1990291" cy="1844268"/>
          </a:xfrm>
        </p:grpSpPr>
        <p:cxnSp>
          <p:nvCxnSpPr>
            <p:cNvPr id="1480" name="Google Shape;1480;p95"/>
            <p:cNvCxnSpPr/>
            <p:nvPr/>
          </p:nvCxnSpPr>
          <p:spPr>
            <a:xfrm flipH="1">
              <a:off x="667522" y="2391726"/>
              <a:ext cx="0" cy="58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81" name="Google Shape;1481;p95"/>
            <p:cNvSpPr txBox="1"/>
            <p:nvPr/>
          </p:nvSpPr>
          <p:spPr>
            <a:xfrm>
              <a:off x="294217" y="2554815"/>
              <a:ext cx="3495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0.5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82" name="Google Shape;1482;p95"/>
            <p:cNvSpPr txBox="1"/>
            <p:nvPr/>
          </p:nvSpPr>
          <p:spPr>
            <a:xfrm>
              <a:off x="955936" y="2038344"/>
              <a:ext cx="1068300" cy="1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0.5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83" name="Google Shape;1483;p95"/>
            <p:cNvCxnSpPr/>
            <p:nvPr/>
          </p:nvCxnSpPr>
          <p:spPr>
            <a:xfrm>
              <a:off x="778807" y="2324305"/>
              <a:ext cx="60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84" name="Google Shape;1484;p95"/>
            <p:cNvCxnSpPr/>
            <p:nvPr/>
          </p:nvCxnSpPr>
          <p:spPr>
            <a:xfrm>
              <a:off x="1409600" y="2324438"/>
              <a:ext cx="854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485" name="Google Shape;1485;p95"/>
            <p:cNvGrpSpPr/>
            <p:nvPr/>
          </p:nvGrpSpPr>
          <p:grpSpPr>
            <a:xfrm>
              <a:off x="787160" y="2391524"/>
              <a:ext cx="1487579" cy="1478033"/>
              <a:chOff x="964903" y="2012560"/>
              <a:chExt cx="2167534" cy="1986603"/>
            </a:xfrm>
          </p:grpSpPr>
          <p:sp>
            <p:nvSpPr>
              <p:cNvPr id="1486" name="Google Shape;1486;p95"/>
              <p:cNvSpPr/>
              <p:nvPr/>
            </p:nvSpPr>
            <p:spPr>
              <a:xfrm>
                <a:off x="964903" y="2012560"/>
                <a:ext cx="1000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87" name="Google Shape;1487;p95"/>
              <p:cNvSpPr/>
              <p:nvPr/>
            </p:nvSpPr>
            <p:spPr>
              <a:xfrm>
                <a:off x="1978638" y="2013460"/>
                <a:ext cx="1153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88" name="Google Shape;1488;p95"/>
              <p:cNvSpPr/>
              <p:nvPr/>
            </p:nvSpPr>
            <p:spPr>
              <a:xfrm>
                <a:off x="964944" y="2937763"/>
                <a:ext cx="10089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89" name="Google Shape;1489;p95"/>
              <p:cNvSpPr/>
              <p:nvPr/>
            </p:nvSpPr>
            <p:spPr>
              <a:xfrm>
                <a:off x="1978638" y="2937761"/>
                <a:ext cx="11538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490" name="Google Shape;1490;p95"/>
            <p:cNvCxnSpPr/>
            <p:nvPr/>
          </p:nvCxnSpPr>
          <p:spPr>
            <a:xfrm flipH="1">
              <a:off x="667525" y="3045313"/>
              <a:ext cx="0" cy="837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91" name="Google Shape;1491;p95"/>
            <p:cNvSpPr txBox="1"/>
            <p:nvPr/>
          </p:nvSpPr>
          <p:spPr>
            <a:xfrm>
              <a:off x="284448" y="3259282"/>
              <a:ext cx="3495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−4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492" name="Google Shape;1492;p95"/>
          <p:cNvSpPr/>
          <p:nvPr/>
        </p:nvSpPr>
        <p:spPr>
          <a:xfrm>
            <a:off x="922516" y="2455265"/>
            <a:ext cx="789600" cy="789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0.25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3" name="Google Shape;1493;p95"/>
          <p:cNvSpPr/>
          <p:nvPr/>
        </p:nvSpPr>
        <p:spPr>
          <a:xfrm>
            <a:off x="922516" y="3232899"/>
            <a:ext cx="789600" cy="91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xy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4" name="Google Shape;1494;p95"/>
          <p:cNvSpPr/>
          <p:nvPr/>
        </p:nvSpPr>
        <p:spPr>
          <a:xfrm>
            <a:off x="1704982" y="2455766"/>
            <a:ext cx="916800" cy="791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y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5" name="Google Shape;1495;p95"/>
          <p:cNvSpPr/>
          <p:nvPr/>
        </p:nvSpPr>
        <p:spPr>
          <a:xfrm>
            <a:off x="1704982" y="3228674"/>
            <a:ext cx="916800" cy="91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−16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9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6" name="Google Shape;1496;p95"/>
          <p:cNvSpPr txBox="1"/>
          <p:nvPr/>
        </p:nvSpPr>
        <p:spPr>
          <a:xfrm>
            <a:off x="6424200" y="3046600"/>
            <a:ext cx="1665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7" name="Google Shape;1497;p95"/>
          <p:cNvSpPr txBox="1"/>
          <p:nvPr/>
        </p:nvSpPr>
        <p:spPr>
          <a:xfrm>
            <a:off x="4823999" y="3580000"/>
            <a:ext cx="3996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0.25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8" name="Google Shape;1498;p95"/>
          <p:cNvSpPr txBox="1"/>
          <p:nvPr>
            <p:ph type="body" idx="4294967295"/>
          </p:nvPr>
        </p:nvSpPr>
        <p:spPr>
          <a:xfrm>
            <a:off x="324000" y="4357900"/>
            <a:ext cx="8496000" cy="4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do you notice about our answer?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2" name="Shape 1502"/>
        <p:cNvGrpSpPr/>
        <p:nvPr/>
      </p:nvGrpSpPr>
      <p:grpSpPr>
        <a:xfrm>
          <a:off x="0" y="0"/>
          <a:ext cx="0" cy="0"/>
        </a:xfrm>
      </p:grpSpPr>
      <p:sp>
        <p:nvSpPr>
          <p:cNvPr id="1503" name="Google Shape;1503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Coefficients other than 1</a:t>
            </a:r>
            <a:endParaRPr/>
          </a:p>
        </p:txBody>
      </p:sp>
      <p:sp>
        <p:nvSpPr>
          <p:cNvPr id="1504" name="Google Shape;1504;p96"/>
          <p:cNvSpPr txBox="1"/>
          <p:nvPr/>
        </p:nvSpPr>
        <p:spPr>
          <a:xfrm>
            <a:off x="352674" y="1336500"/>
            <a:ext cx="3996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(0.5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)(0.5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0.25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05" name="Google Shape;1505;p96"/>
          <p:cNvSpPr txBox="1"/>
          <p:nvPr>
            <p:ph type="body" idx="4294967295"/>
          </p:nvPr>
        </p:nvSpPr>
        <p:spPr>
          <a:xfrm>
            <a:off x="352675" y="859350"/>
            <a:ext cx="8496000" cy="4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do you notice about our answer?</a:t>
            </a:r>
            <a:endParaRPr sz="1800"/>
          </a:p>
        </p:txBody>
      </p:sp>
      <p:sp>
        <p:nvSpPr>
          <p:cNvPr id="1506" name="Google Shape;1506;p96"/>
          <p:cNvSpPr txBox="1"/>
          <p:nvPr>
            <p:ph type="body" idx="4294967295"/>
          </p:nvPr>
        </p:nvSpPr>
        <p:spPr>
          <a:xfrm>
            <a:off x="324000" y="1900025"/>
            <a:ext cx="8496000" cy="4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the difference of two squares.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binomials have a term of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0.5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endParaRPr sz="2100" i="1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other terms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i="1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i="1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are a zero pair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7" name="Google Shape;1507;p96"/>
          <p:cNvSpPr txBox="1"/>
          <p:nvPr>
            <p:ph type="body" idx="4294967295"/>
          </p:nvPr>
        </p:nvSpPr>
        <p:spPr>
          <a:xfrm>
            <a:off x="324000" y="3411575"/>
            <a:ext cx="8496000" cy="4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could have calculated our answer using this observation:</a:t>
            </a:r>
            <a:endParaRPr sz="1800"/>
          </a:p>
        </p:txBody>
      </p:sp>
      <p:sp>
        <p:nvSpPr>
          <p:cNvPr id="1508" name="Google Shape;1508;p96"/>
          <p:cNvSpPr txBox="1"/>
          <p:nvPr/>
        </p:nvSpPr>
        <p:spPr>
          <a:xfrm>
            <a:off x="323999" y="3917375"/>
            <a:ext cx="3996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(0.5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)(0.5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(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0.5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09" name="Google Shape;1509;p96"/>
          <p:cNvSpPr txBox="1"/>
          <p:nvPr/>
        </p:nvSpPr>
        <p:spPr>
          <a:xfrm>
            <a:off x="2624326" y="4374575"/>
            <a:ext cx="3996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0.25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3" name="Shape 1513"/>
        <p:cNvGrpSpPr/>
        <p:nvPr/>
      </p:nvGrpSpPr>
      <p:grpSpPr>
        <a:xfrm>
          <a:off x="0" y="0"/>
          <a:ext cx="0" cy="0"/>
        </a:xfrm>
      </p:grpSpPr>
      <p:sp>
        <p:nvSpPr>
          <p:cNvPr id="1514" name="Google Shape;1514;p97"/>
          <p:cNvSpPr/>
          <p:nvPr/>
        </p:nvSpPr>
        <p:spPr>
          <a:xfrm>
            <a:off x="2260861" y="3078261"/>
            <a:ext cx="1224000" cy="122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97"/>
          <p:cNvSpPr txBox="1"/>
          <p:nvPr>
            <p:ph type="body" idx="1"/>
          </p:nvPr>
        </p:nvSpPr>
        <p:spPr>
          <a:xfrm>
            <a:off x="324000" y="759300"/>
            <a:ext cx="84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Fill in the area model and simplified expression for the product of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)(3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/>
              <a:t> </a:t>
            </a:r>
            <a:endParaRPr/>
          </a:p>
        </p:txBody>
      </p:sp>
      <p:sp>
        <p:nvSpPr>
          <p:cNvPr id="1516" name="Google Shape;1516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Coefficients other than 1</a:t>
            </a:r>
            <a:endParaRPr/>
          </a:p>
        </p:txBody>
      </p:sp>
      <p:grpSp>
        <p:nvGrpSpPr>
          <p:cNvPr id="1517" name="Google Shape;1517;p97"/>
          <p:cNvGrpSpPr/>
          <p:nvPr/>
        </p:nvGrpSpPr>
        <p:grpSpPr>
          <a:xfrm>
            <a:off x="419756" y="1540491"/>
            <a:ext cx="3069628" cy="2779625"/>
            <a:chOff x="284448" y="2084550"/>
            <a:chExt cx="1985657" cy="1798063"/>
          </a:xfrm>
        </p:grpSpPr>
        <p:cxnSp>
          <p:nvCxnSpPr>
            <p:cNvPr id="1518" name="Google Shape;1518;p97"/>
            <p:cNvCxnSpPr/>
            <p:nvPr/>
          </p:nvCxnSpPr>
          <p:spPr>
            <a:xfrm flipH="1">
              <a:off x="667522" y="2391726"/>
              <a:ext cx="0" cy="58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19" name="Google Shape;1519;p97"/>
            <p:cNvSpPr txBox="1"/>
            <p:nvPr/>
          </p:nvSpPr>
          <p:spPr>
            <a:xfrm>
              <a:off x="294217" y="2554815"/>
              <a:ext cx="3495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20" name="Google Shape;1520;p97"/>
            <p:cNvSpPr txBox="1"/>
            <p:nvPr/>
          </p:nvSpPr>
          <p:spPr>
            <a:xfrm>
              <a:off x="955936" y="2084550"/>
              <a:ext cx="1068300" cy="1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3</a:t>
              </a:r>
              <a:r>
                <a:rPr lang="en-GB" sz="18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   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521" name="Google Shape;1521;p97"/>
            <p:cNvCxnSpPr/>
            <p:nvPr/>
          </p:nvCxnSpPr>
          <p:spPr>
            <a:xfrm>
              <a:off x="778807" y="2324305"/>
              <a:ext cx="60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522" name="Google Shape;1522;p97"/>
            <p:cNvCxnSpPr/>
            <p:nvPr/>
          </p:nvCxnSpPr>
          <p:spPr>
            <a:xfrm>
              <a:off x="1409600" y="2324438"/>
              <a:ext cx="854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523" name="Google Shape;1523;p97"/>
            <p:cNvGrpSpPr/>
            <p:nvPr/>
          </p:nvGrpSpPr>
          <p:grpSpPr>
            <a:xfrm>
              <a:off x="787160" y="2391524"/>
              <a:ext cx="1482945" cy="1478033"/>
              <a:chOff x="964903" y="2012560"/>
              <a:chExt cx="2160782" cy="1986603"/>
            </a:xfrm>
          </p:grpSpPr>
          <p:sp>
            <p:nvSpPr>
              <p:cNvPr id="1524" name="Google Shape;1524;p97"/>
              <p:cNvSpPr/>
              <p:nvPr/>
            </p:nvSpPr>
            <p:spPr>
              <a:xfrm>
                <a:off x="964903" y="2012560"/>
                <a:ext cx="1000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 u="sng">
                    <a:latin typeface="Lexend"/>
                    <a:ea typeface="Lexend"/>
                    <a:cs typeface="Lexend"/>
                    <a:sym typeface="Lexend"/>
                  </a:rPr>
                  <a:t>        </a:t>
                </a:r>
                <a:r>
                  <a:rPr lang="en-GB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,</a:t>
                </a:r>
                <a:endParaRPr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25" name="Google Shape;1525;p97"/>
              <p:cNvSpPr/>
              <p:nvPr/>
            </p:nvSpPr>
            <p:spPr>
              <a:xfrm>
                <a:off x="1971886" y="2013460"/>
                <a:ext cx="1153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 u="sng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       </a:t>
                </a:r>
                <a:r>
                  <a:rPr lang="en-GB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,</a:t>
                </a:r>
                <a:endParaRPr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26" name="Google Shape;1526;p97"/>
              <p:cNvSpPr/>
              <p:nvPr/>
            </p:nvSpPr>
            <p:spPr>
              <a:xfrm>
                <a:off x="964944" y="2937763"/>
                <a:ext cx="10089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 u="sng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       </a:t>
                </a:r>
                <a:r>
                  <a:rPr lang="en-GB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,</a:t>
                </a:r>
                <a:endParaRPr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527" name="Google Shape;1527;p97"/>
            <p:cNvCxnSpPr/>
            <p:nvPr/>
          </p:nvCxnSpPr>
          <p:spPr>
            <a:xfrm flipH="1">
              <a:off x="667525" y="3045313"/>
              <a:ext cx="0" cy="837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28" name="Google Shape;1528;p97"/>
            <p:cNvSpPr txBox="1"/>
            <p:nvPr/>
          </p:nvSpPr>
          <p:spPr>
            <a:xfrm>
              <a:off x="284448" y="3259282"/>
              <a:ext cx="3495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529" name="Google Shape;1529;p97"/>
          <p:cNvSpPr/>
          <p:nvPr/>
        </p:nvSpPr>
        <p:spPr>
          <a:xfrm>
            <a:off x="1194664" y="2015742"/>
            <a:ext cx="1061700" cy="1061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0" name="Google Shape;1530;p97"/>
          <p:cNvSpPr/>
          <p:nvPr/>
        </p:nvSpPr>
        <p:spPr>
          <a:xfrm>
            <a:off x="1194673" y="3077450"/>
            <a:ext cx="1061700" cy="122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xy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1" name="Google Shape;1531;p97"/>
          <p:cNvSpPr/>
          <p:nvPr/>
        </p:nvSpPr>
        <p:spPr>
          <a:xfrm>
            <a:off x="2263868" y="2014540"/>
            <a:ext cx="1224000" cy="1064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3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y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2" name="Google Shape;1532;p97"/>
          <p:cNvSpPr/>
          <p:nvPr/>
        </p:nvSpPr>
        <p:spPr>
          <a:xfrm>
            <a:off x="2263868" y="3077442"/>
            <a:ext cx="1224000" cy="122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3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3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3" name="Google Shape;1533;p97"/>
          <p:cNvSpPr/>
          <p:nvPr/>
        </p:nvSpPr>
        <p:spPr>
          <a:xfrm>
            <a:off x="365350" y="2170575"/>
            <a:ext cx="594600" cy="480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97"/>
          <p:cNvSpPr/>
          <p:nvPr/>
        </p:nvSpPr>
        <p:spPr>
          <a:xfrm>
            <a:off x="365350" y="3465975"/>
            <a:ext cx="594600" cy="480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5" name="Google Shape;1535;p97"/>
          <p:cNvGrpSpPr/>
          <p:nvPr/>
        </p:nvGrpSpPr>
        <p:grpSpPr>
          <a:xfrm>
            <a:off x="365350" y="2170575"/>
            <a:ext cx="594600" cy="1775400"/>
            <a:chOff x="365350" y="2170575"/>
            <a:chExt cx="594600" cy="1775400"/>
          </a:xfrm>
        </p:grpSpPr>
        <p:sp>
          <p:nvSpPr>
            <p:cNvPr id="1536" name="Google Shape;1536;p97"/>
            <p:cNvSpPr/>
            <p:nvPr/>
          </p:nvSpPr>
          <p:spPr>
            <a:xfrm>
              <a:off x="365350" y="2170575"/>
              <a:ext cx="594600" cy="4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0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37" name="Google Shape;1537;p97"/>
            <p:cNvSpPr/>
            <p:nvPr/>
          </p:nvSpPr>
          <p:spPr>
            <a:xfrm>
              <a:off x="365350" y="3465975"/>
              <a:ext cx="594600" cy="4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8" name="Google Shape;1538;p97"/>
          <p:cNvSpPr txBox="1"/>
          <p:nvPr>
            <p:ph type="body" idx="1"/>
          </p:nvPr>
        </p:nvSpPr>
        <p:spPr>
          <a:xfrm>
            <a:off x="3676050" y="2014550"/>
            <a:ext cx="5161500" cy="12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)(3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)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u="sng"/>
              <a:t>                        </a:t>
            </a:r>
            <a:r>
              <a:rPr lang="en-GB">
                <a:solidFill>
                  <a:srgbClr val="E6F2F2"/>
                </a:solidFill>
              </a:rPr>
              <a:t>,</a:t>
            </a:r>
            <a:r>
              <a:rPr lang="en-GB"/>
              <a:t>    </a:t>
            </a:r>
            <a:endParaRPr/>
          </a:p>
        </p:txBody>
      </p:sp>
      <p:sp>
        <p:nvSpPr>
          <p:cNvPr id="1539" name="Google Shape;1539;p97"/>
          <p:cNvSpPr txBox="1"/>
          <p:nvPr>
            <p:ph type="body" idx="1"/>
          </p:nvPr>
        </p:nvSpPr>
        <p:spPr>
          <a:xfrm>
            <a:off x="4190550" y="2515500"/>
            <a:ext cx="1224000" cy="36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/>
              <a:t>   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43" name="Shape 1543"/>
        <p:cNvGrpSpPr/>
        <p:nvPr/>
      </p:nvGrpSpPr>
      <p:grpSpPr>
        <a:xfrm>
          <a:off x="0" y="0"/>
          <a:ext cx="0" cy="0"/>
        </a:xfrm>
      </p:grpSpPr>
      <p:sp>
        <p:nvSpPr>
          <p:cNvPr id="1544" name="Google Shape;1544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Coefficients other than 1</a:t>
            </a:r>
            <a:endParaRPr/>
          </a:p>
        </p:txBody>
      </p:sp>
      <p:sp>
        <p:nvSpPr>
          <p:cNvPr id="1545" name="Google Shape;1545;p98"/>
          <p:cNvSpPr txBox="1"/>
          <p:nvPr>
            <p:ph type="body" idx="1"/>
          </p:nvPr>
        </p:nvSpPr>
        <p:spPr>
          <a:xfrm>
            <a:off x="324000" y="759300"/>
            <a:ext cx="8237700" cy="6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Expand and simplify each product of two binomials.</a:t>
            </a:r>
            <a:endParaRPr sz="1800"/>
          </a:p>
        </p:txBody>
      </p:sp>
      <p:sp>
        <p:nvSpPr>
          <p:cNvPr id="1546" name="Google Shape;1546;p98"/>
          <p:cNvSpPr txBox="1"/>
          <p:nvPr/>
        </p:nvSpPr>
        <p:spPr>
          <a:xfrm>
            <a:off x="725750" y="1369800"/>
            <a:ext cx="17208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3)</a:t>
            </a: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endParaRPr sz="4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7" name="Google Shape;1547;p98"/>
          <p:cNvSpPr txBox="1"/>
          <p:nvPr/>
        </p:nvSpPr>
        <p:spPr>
          <a:xfrm>
            <a:off x="3480675" y="1369800"/>
            <a:ext cx="19923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6) (2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6)</a:t>
            </a: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endParaRPr sz="7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6) (2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8" name="Google Shape;1548;p98"/>
          <p:cNvSpPr txBox="1"/>
          <p:nvPr/>
        </p:nvSpPr>
        <p:spPr>
          <a:xfrm>
            <a:off x="6223875" y="1369800"/>
            <a:ext cx="22650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6) (3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6)</a:t>
            </a: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endParaRPr sz="1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6) (3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549" name="Google Shape;1549;p98"/>
          <p:cNvGraphicFramePr>
            <a:graphicFrameLocks noGrp="1"/>
          </p:cNvGraphicFramePr>
          <p:nvPr/>
        </p:nvGraphicFramePr>
        <p:xfrm>
          <a:off x="324002" y="13984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1058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27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550" name="Google Shape;1550;p98"/>
          <p:cNvGraphicFramePr>
            <a:graphicFrameLocks noGrp="1"/>
          </p:cNvGraphicFramePr>
          <p:nvPr/>
        </p:nvGraphicFramePr>
        <p:xfrm>
          <a:off x="3067202" y="13984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1058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65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551" name="Google Shape;1551;p98"/>
          <p:cNvGraphicFramePr>
            <a:graphicFrameLocks noGrp="1"/>
          </p:cNvGraphicFramePr>
          <p:nvPr/>
        </p:nvGraphicFramePr>
        <p:xfrm>
          <a:off x="5810402" y="13984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1058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688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52" name="Google Shape;1552;p98"/>
          <p:cNvSpPr txBox="1"/>
          <p:nvPr>
            <p:ph type="body" idx="1"/>
          </p:nvPr>
        </p:nvSpPr>
        <p:spPr>
          <a:xfrm>
            <a:off x="324000" y="3512125"/>
            <a:ext cx="8496000" cy="6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What do you notice about your answer to a) and f)? Can you explain why this happens.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56" name="Shape 1556"/>
        <p:cNvGrpSpPr/>
        <p:nvPr/>
      </p:nvGrpSpPr>
      <p:grpSpPr>
        <a:xfrm>
          <a:off x="0" y="0"/>
          <a:ext cx="0" cy="0"/>
        </a:xfrm>
      </p:grpSpPr>
      <p:sp>
        <p:nvSpPr>
          <p:cNvPr id="1557" name="Google Shape;1557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Coefficients other than 1</a:t>
            </a:r>
            <a:endParaRPr/>
          </a:p>
        </p:txBody>
      </p:sp>
      <p:sp>
        <p:nvSpPr>
          <p:cNvPr id="1558" name="Google Shape;1558;p99"/>
          <p:cNvSpPr txBox="1"/>
          <p:nvPr>
            <p:ph type="body" idx="1"/>
          </p:nvPr>
        </p:nvSpPr>
        <p:spPr>
          <a:xfrm>
            <a:off x="324000" y="759300"/>
            <a:ext cx="8237700" cy="6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Expand and simplify each product of two binomials.</a:t>
            </a:r>
            <a:endParaRPr sz="1800"/>
          </a:p>
        </p:txBody>
      </p:sp>
      <p:sp>
        <p:nvSpPr>
          <p:cNvPr id="1559" name="Google Shape;1559;p99"/>
          <p:cNvSpPr txBox="1"/>
          <p:nvPr/>
        </p:nvSpPr>
        <p:spPr>
          <a:xfrm>
            <a:off x="725750" y="1369800"/>
            <a:ext cx="21615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(4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(4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60" name="Google Shape;1560;p99"/>
          <p:cNvSpPr txBox="1"/>
          <p:nvPr/>
        </p:nvSpPr>
        <p:spPr>
          <a:xfrm>
            <a:off x="3480675" y="1369800"/>
            <a:ext cx="22938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(2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,sxwq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61" name="Google Shape;1561;p99"/>
          <p:cNvSpPr txBox="1"/>
          <p:nvPr/>
        </p:nvSpPr>
        <p:spPr>
          <a:xfrm>
            <a:off x="6223875" y="1369800"/>
            <a:ext cx="22650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(3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15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endParaRPr sz="15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(5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562" name="Google Shape;1562;p99"/>
          <p:cNvGraphicFramePr>
            <a:graphicFrameLocks noGrp="1"/>
          </p:cNvGraphicFramePr>
          <p:nvPr/>
        </p:nvGraphicFramePr>
        <p:xfrm>
          <a:off x="324002" y="13984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1058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27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563" name="Google Shape;1563;p99"/>
          <p:cNvGraphicFramePr>
            <a:graphicFrameLocks noGrp="1"/>
          </p:cNvGraphicFramePr>
          <p:nvPr/>
        </p:nvGraphicFramePr>
        <p:xfrm>
          <a:off x="3067202" y="13984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1058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65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564" name="Google Shape;1564;p99"/>
          <p:cNvGraphicFramePr>
            <a:graphicFrameLocks noGrp="1"/>
          </p:cNvGraphicFramePr>
          <p:nvPr/>
        </p:nvGraphicFramePr>
        <p:xfrm>
          <a:off x="5810402" y="13984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1058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688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65" name="Google Shape;1565;p99"/>
          <p:cNvSpPr txBox="1"/>
          <p:nvPr>
            <p:ph type="body" idx="1"/>
          </p:nvPr>
        </p:nvSpPr>
        <p:spPr>
          <a:xfrm>
            <a:off x="324000" y="3439650"/>
            <a:ext cx="8496000" cy="6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4) What do you notice about your answer to c) and e)? Can you explain why this happens.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69" name="Shape 1569"/>
        <p:cNvGrpSpPr/>
        <p:nvPr/>
      </p:nvGrpSpPr>
      <p:grpSpPr>
        <a:xfrm>
          <a:off x="0" y="0"/>
          <a:ext cx="0" cy="0"/>
        </a:xfrm>
      </p:grpSpPr>
      <p:sp>
        <p:nvSpPr>
          <p:cNvPr id="1570" name="Google Shape;1570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Coefficients other than 1</a:t>
            </a:r>
            <a:endParaRPr/>
          </a:p>
        </p:txBody>
      </p:sp>
      <p:sp>
        <p:nvSpPr>
          <p:cNvPr id="1571" name="Google Shape;1571;p100"/>
          <p:cNvSpPr/>
          <p:nvPr/>
        </p:nvSpPr>
        <p:spPr>
          <a:xfrm>
            <a:off x="858375" y="2070675"/>
            <a:ext cx="1440000" cy="144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100"/>
          <p:cNvSpPr txBox="1"/>
          <p:nvPr/>
        </p:nvSpPr>
        <p:spPr>
          <a:xfrm>
            <a:off x="2887200" y="2160000"/>
            <a:ext cx="17208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573" name="Google Shape;1573;p100"/>
          <p:cNvGrpSpPr/>
          <p:nvPr/>
        </p:nvGrpSpPr>
        <p:grpSpPr>
          <a:xfrm>
            <a:off x="887400" y="1640063"/>
            <a:ext cx="1493214" cy="372313"/>
            <a:chOff x="1409600" y="1952138"/>
            <a:chExt cx="1920285" cy="372313"/>
          </a:xfrm>
        </p:grpSpPr>
        <p:sp>
          <p:nvSpPr>
            <p:cNvPr id="1574" name="Google Shape;1574;p100"/>
            <p:cNvSpPr txBox="1"/>
            <p:nvPr/>
          </p:nvSpPr>
          <p:spPr>
            <a:xfrm>
              <a:off x="1767785" y="1952138"/>
              <a:ext cx="15621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−8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endParaRPr sz="18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575" name="Google Shape;1575;p100"/>
            <p:cNvCxnSpPr/>
            <p:nvPr/>
          </p:nvCxnSpPr>
          <p:spPr>
            <a:xfrm>
              <a:off x="2554325" y="2324450"/>
              <a:ext cx="704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576" name="Google Shape;1576;p100"/>
            <p:cNvCxnSpPr/>
            <p:nvPr/>
          </p:nvCxnSpPr>
          <p:spPr>
            <a:xfrm>
              <a:off x="1409600" y="2324438"/>
              <a:ext cx="1130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577" name="Google Shape;1577;p100"/>
          <p:cNvGrpSpPr/>
          <p:nvPr/>
        </p:nvGrpSpPr>
        <p:grpSpPr>
          <a:xfrm>
            <a:off x="287275" y="2070684"/>
            <a:ext cx="483724" cy="1451216"/>
            <a:chOff x="256400" y="1620009"/>
            <a:chExt cx="483724" cy="1451216"/>
          </a:xfrm>
        </p:grpSpPr>
        <p:grpSp>
          <p:nvGrpSpPr>
            <p:cNvPr id="1578" name="Google Shape;1578;p100"/>
            <p:cNvGrpSpPr/>
            <p:nvPr/>
          </p:nvGrpSpPr>
          <p:grpSpPr>
            <a:xfrm>
              <a:off x="256400" y="1620009"/>
              <a:ext cx="483625" cy="1440013"/>
              <a:chOff x="5959200" y="1619988"/>
              <a:chExt cx="483625" cy="1835113"/>
            </a:xfrm>
          </p:grpSpPr>
          <p:cxnSp>
            <p:nvCxnSpPr>
              <p:cNvPr id="1579" name="Google Shape;1579;p100"/>
              <p:cNvCxnSpPr/>
              <p:nvPr/>
            </p:nvCxnSpPr>
            <p:spPr>
              <a:xfrm rot="5400000">
                <a:off x="5877625" y="2185188"/>
                <a:ext cx="1130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1580" name="Google Shape;1580;p100"/>
              <p:cNvCxnSpPr/>
              <p:nvPr/>
            </p:nvCxnSpPr>
            <p:spPr>
              <a:xfrm rot="5400000">
                <a:off x="6090475" y="3102750"/>
                <a:ext cx="70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581" name="Google Shape;1581;p100"/>
              <p:cNvSpPr txBox="1"/>
              <p:nvPr/>
            </p:nvSpPr>
            <p:spPr>
              <a:xfrm>
                <a:off x="5959200" y="1953448"/>
                <a:ext cx="447000" cy="5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2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x </a:t>
                </a:r>
                <a:endParaRPr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1582" name="Google Shape;1582;p100"/>
            <p:cNvSpPr txBox="1"/>
            <p:nvPr/>
          </p:nvSpPr>
          <p:spPr>
            <a:xfrm>
              <a:off x="293124" y="2617625"/>
              <a:ext cx="4470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8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583" name="Google Shape;1583;p100"/>
          <p:cNvSpPr/>
          <p:nvPr/>
        </p:nvSpPr>
        <p:spPr>
          <a:xfrm>
            <a:off x="844250" y="2075627"/>
            <a:ext cx="858600" cy="861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9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84" name="Google Shape;1584;p100"/>
          <p:cNvSpPr/>
          <p:nvPr/>
        </p:nvSpPr>
        <p:spPr>
          <a:xfrm>
            <a:off x="1703118" y="2075625"/>
            <a:ext cx="581100" cy="861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19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85" name="Google Shape;1585;p100"/>
          <p:cNvSpPr/>
          <p:nvPr/>
        </p:nvSpPr>
        <p:spPr>
          <a:xfrm>
            <a:off x="844253" y="2930687"/>
            <a:ext cx="858600" cy="582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86" name="Google Shape;1586;p100"/>
          <p:cNvSpPr/>
          <p:nvPr/>
        </p:nvSpPr>
        <p:spPr>
          <a:xfrm>
            <a:off x="1697254" y="2930668"/>
            <a:ext cx="582300" cy="582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64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87" name="Google Shape;1587;p100"/>
          <p:cNvSpPr txBox="1"/>
          <p:nvPr>
            <p:ph type="body" idx="1"/>
          </p:nvPr>
        </p:nvSpPr>
        <p:spPr>
          <a:xfrm>
            <a:off x="324000" y="810000"/>
            <a:ext cx="8237700" cy="6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5) Izzy wants to find the expanded form of the product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a) Spot and correct any mistakes she has made. </a:t>
            </a:r>
            <a:endParaRPr sz="1800"/>
          </a:p>
        </p:txBody>
      </p:sp>
      <p:sp>
        <p:nvSpPr>
          <p:cNvPr id="1588" name="Google Shape;1588;p100"/>
          <p:cNvSpPr txBox="1"/>
          <p:nvPr>
            <p:ph type="body" idx="1"/>
          </p:nvPr>
        </p:nvSpPr>
        <p:spPr>
          <a:xfrm>
            <a:off x="324000" y="3870825"/>
            <a:ext cx="8496000" cy="6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6) Can you write two binomials which will have the product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/>
              <a:t>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Is there more than one way?</a:t>
            </a:r>
            <a:endParaRPr sz="1800"/>
          </a:p>
        </p:txBody>
      </p:sp>
      <p:pic>
        <p:nvPicPr>
          <p:cNvPr id="1589" name="Google Shape;158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3900" y="809999"/>
            <a:ext cx="817800" cy="275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93" name="Shape 1593"/>
        <p:cNvGrpSpPr/>
        <p:nvPr/>
      </p:nvGrpSpPr>
      <p:grpSpPr>
        <a:xfrm>
          <a:off x="0" y="0"/>
          <a:ext cx="0" cy="0"/>
        </a:xfrm>
      </p:grpSpPr>
      <p:sp>
        <p:nvSpPr>
          <p:cNvPr id="1594" name="Google Shape;1594;p101"/>
          <p:cNvSpPr txBox="1"/>
          <p:nvPr/>
        </p:nvSpPr>
        <p:spPr>
          <a:xfrm>
            <a:off x="725750" y="1369800"/>
            <a:ext cx="23415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18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18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6) (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+ 9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18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18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1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95" name="Google Shape;1595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Coefficients other than 1</a:t>
            </a:r>
            <a:endParaRPr/>
          </a:p>
        </p:txBody>
      </p:sp>
      <p:sp>
        <p:nvSpPr>
          <p:cNvPr id="1596" name="Google Shape;1596;p101"/>
          <p:cNvSpPr txBox="1"/>
          <p:nvPr>
            <p:ph type="body" idx="1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Expand and simplify each product of two binomials.</a:t>
            </a:r>
            <a:endParaRPr sz="1800"/>
          </a:p>
        </p:txBody>
      </p:sp>
      <p:sp>
        <p:nvSpPr>
          <p:cNvPr id="1597" name="Google Shape;1597;p101"/>
          <p:cNvSpPr txBox="1"/>
          <p:nvPr/>
        </p:nvSpPr>
        <p:spPr>
          <a:xfrm>
            <a:off x="3480675" y="1369800"/>
            <a:ext cx="25152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6) (2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+ 18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36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36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6) (2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18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36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36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98" name="Google Shape;1598;p101"/>
          <p:cNvSpPr txBox="1"/>
          <p:nvPr/>
        </p:nvSpPr>
        <p:spPr>
          <a:xfrm>
            <a:off x="6223875" y="1369800"/>
            <a:ext cx="25962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6) (3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18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18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36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36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6) (3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18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18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36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36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599" name="Google Shape;1599;p101"/>
          <p:cNvGraphicFramePr>
            <a:graphicFrameLocks noGrp="1"/>
          </p:cNvGraphicFramePr>
          <p:nvPr/>
        </p:nvGraphicFramePr>
        <p:xfrm>
          <a:off x="324002" y="13984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2027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94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00" name="Google Shape;1600;p101"/>
          <p:cNvGraphicFramePr>
            <a:graphicFrameLocks noGrp="1"/>
          </p:cNvGraphicFramePr>
          <p:nvPr/>
        </p:nvGraphicFramePr>
        <p:xfrm>
          <a:off x="3067202" y="13984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2041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05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01" name="Google Shape;1601;p101"/>
          <p:cNvGraphicFramePr>
            <a:graphicFrameLocks noGrp="1"/>
          </p:cNvGraphicFramePr>
          <p:nvPr/>
        </p:nvGraphicFramePr>
        <p:xfrm>
          <a:off x="5810402" y="13984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2041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19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5" name="Shape 1605"/>
        <p:cNvGrpSpPr/>
        <p:nvPr/>
      </p:nvGrpSpPr>
      <p:grpSpPr>
        <a:xfrm>
          <a:off x="0" y="0"/>
          <a:ext cx="0" cy="0"/>
        </a:xfrm>
      </p:grpSpPr>
      <p:sp>
        <p:nvSpPr>
          <p:cNvPr id="1606" name="Google Shape;1606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Coefficients other than 1</a:t>
            </a:r>
            <a:endParaRPr/>
          </a:p>
        </p:txBody>
      </p:sp>
      <p:sp>
        <p:nvSpPr>
          <p:cNvPr id="1607" name="Google Shape;1607;p102"/>
          <p:cNvSpPr txBox="1"/>
          <p:nvPr>
            <p:ph type="body" idx="1"/>
          </p:nvPr>
        </p:nvSpPr>
        <p:spPr>
          <a:xfrm>
            <a:off x="324000" y="810000"/>
            <a:ext cx="8496000" cy="396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What do you notice about your answer to a) and f)? Can you explain why this happens.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Two of the partial products are zero pairs so the final expression only has two terms.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f) is clearly the difference of two squares as both binomials have the term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the other terms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are a zero pair. </a:t>
            </a:r>
            <a:endParaRPr sz="21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5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first binomial in a)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6)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can actually be written as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2(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3)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so the product is the same as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2(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3)(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+ 3)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Which is the difference of two squares all multiplied by 2.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21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− 9)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− 18 </a:t>
            </a:r>
            <a:endParaRPr sz="20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1" name="Shape 1611"/>
        <p:cNvGrpSpPr/>
        <p:nvPr/>
      </p:nvGrpSpPr>
      <p:grpSpPr>
        <a:xfrm>
          <a:off x="0" y="0"/>
          <a:ext cx="0" cy="0"/>
        </a:xfrm>
      </p:grpSpPr>
      <p:sp>
        <p:nvSpPr>
          <p:cNvPr id="1612" name="Google Shape;1612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Coefficients other than 1</a:t>
            </a:r>
            <a:endParaRPr/>
          </a:p>
        </p:txBody>
      </p:sp>
      <p:sp>
        <p:nvSpPr>
          <p:cNvPr id="1613" name="Google Shape;1613;p103"/>
          <p:cNvSpPr txBox="1"/>
          <p:nvPr>
            <p:ph type="body" idx="1"/>
          </p:nvPr>
        </p:nvSpPr>
        <p:spPr>
          <a:xfrm>
            <a:off x="324000" y="694825"/>
            <a:ext cx="8237700" cy="41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Expand and simplify each product of two binomials.</a:t>
            </a:r>
            <a:endParaRPr sz="1800"/>
          </a:p>
        </p:txBody>
      </p:sp>
      <p:sp>
        <p:nvSpPr>
          <p:cNvPr id="1614" name="Google Shape;1614;p103"/>
          <p:cNvSpPr txBox="1"/>
          <p:nvPr/>
        </p:nvSpPr>
        <p:spPr>
          <a:xfrm>
            <a:off x="565925" y="1080000"/>
            <a:ext cx="25647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(4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12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800" baseline="30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+ 22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(4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800" baseline="30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+ 26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15" name="Google Shape;1615;p103"/>
          <p:cNvSpPr txBox="1"/>
          <p:nvPr/>
        </p:nvSpPr>
        <p:spPr>
          <a:xfrm>
            <a:off x="3368225" y="1080000"/>
            <a:ext cx="24987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(2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+ 20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endParaRPr sz="1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+ 26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800" baseline="30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 baseline="30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endParaRPr sz="1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+ 23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16" name="Google Shape;1616;p103"/>
          <p:cNvSpPr txBox="1"/>
          <p:nvPr/>
        </p:nvSpPr>
        <p:spPr>
          <a:xfrm>
            <a:off x="6223800" y="1080000"/>
            <a:ext cx="25962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(3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+ 20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+ 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+ 26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800" baseline="30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 baseline="30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(5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26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1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617" name="Google Shape;1617;p103"/>
          <p:cNvGraphicFramePr>
            <a:graphicFrameLocks noGrp="1"/>
          </p:cNvGraphicFramePr>
          <p:nvPr/>
        </p:nvGraphicFramePr>
        <p:xfrm>
          <a:off x="324002" y="1079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162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421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18" name="Google Shape;1618;p103"/>
          <p:cNvGraphicFramePr>
            <a:graphicFrameLocks noGrp="1"/>
          </p:cNvGraphicFramePr>
          <p:nvPr/>
        </p:nvGraphicFramePr>
        <p:xfrm>
          <a:off x="3067202" y="10800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15608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423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19" name="Google Shape;1619;p103"/>
          <p:cNvGraphicFramePr>
            <a:graphicFrameLocks noGrp="1"/>
          </p:cNvGraphicFramePr>
          <p:nvPr/>
        </p:nvGraphicFramePr>
        <p:xfrm>
          <a:off x="5810402" y="10800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{E38B33C2-CC1E-419B-ACB0-62FED831C46D}</a:tableStyleId>
              </a:tblPr>
              <a:tblGrid>
                <a:gridCol w="301025"/>
              </a:tblGrid>
              <a:tr h="1538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688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20" name="Google Shape;1620;p103"/>
          <p:cNvSpPr txBox="1"/>
          <p:nvPr>
            <p:ph type="body" idx="1"/>
          </p:nvPr>
        </p:nvSpPr>
        <p:spPr>
          <a:xfrm>
            <a:off x="324000" y="4141050"/>
            <a:ext cx="8496000" cy="6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4) What do you notice about your answer to c) and e)? Can you explain why this happens.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are the same because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4" name="Shape 1624"/>
        <p:cNvGrpSpPr/>
        <p:nvPr/>
      </p:nvGrpSpPr>
      <p:grpSpPr>
        <a:xfrm>
          <a:off x="0" y="0"/>
          <a:ext cx="0" cy="0"/>
        </a:xfrm>
      </p:grpSpPr>
      <p:sp>
        <p:nvSpPr>
          <p:cNvPr id="1625" name="Google Shape;1625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Coefficients other than 1</a:t>
            </a:r>
            <a:endParaRPr/>
          </a:p>
        </p:txBody>
      </p:sp>
      <p:sp>
        <p:nvSpPr>
          <p:cNvPr id="1626" name="Google Shape;1626;p104"/>
          <p:cNvSpPr/>
          <p:nvPr/>
        </p:nvSpPr>
        <p:spPr>
          <a:xfrm>
            <a:off x="858375" y="2070675"/>
            <a:ext cx="1440000" cy="144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104"/>
          <p:cNvSpPr txBox="1"/>
          <p:nvPr/>
        </p:nvSpPr>
        <p:spPr>
          <a:xfrm>
            <a:off x="2887200" y="2160000"/>
            <a:ext cx="17208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28" name="Google Shape;1628;p104"/>
          <p:cNvGrpSpPr/>
          <p:nvPr/>
        </p:nvGrpSpPr>
        <p:grpSpPr>
          <a:xfrm>
            <a:off x="887400" y="1726275"/>
            <a:ext cx="1493214" cy="286200"/>
            <a:chOff x="1409600" y="2038350"/>
            <a:chExt cx="1920285" cy="286200"/>
          </a:xfrm>
        </p:grpSpPr>
        <p:sp>
          <p:nvSpPr>
            <p:cNvPr id="1629" name="Google Shape;1629;p104"/>
            <p:cNvSpPr txBox="1"/>
            <p:nvPr/>
          </p:nvSpPr>
          <p:spPr>
            <a:xfrm>
              <a:off x="1767785" y="2038350"/>
              <a:ext cx="15621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−8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endParaRPr sz="18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30" name="Google Shape;1630;p104"/>
            <p:cNvCxnSpPr/>
            <p:nvPr/>
          </p:nvCxnSpPr>
          <p:spPr>
            <a:xfrm>
              <a:off x="2554325" y="2324450"/>
              <a:ext cx="704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631" name="Google Shape;1631;p104"/>
            <p:cNvCxnSpPr/>
            <p:nvPr/>
          </p:nvCxnSpPr>
          <p:spPr>
            <a:xfrm>
              <a:off x="1409600" y="2324438"/>
              <a:ext cx="1130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632" name="Google Shape;1632;p104"/>
          <p:cNvGrpSpPr/>
          <p:nvPr/>
        </p:nvGrpSpPr>
        <p:grpSpPr>
          <a:xfrm>
            <a:off x="287275" y="2070684"/>
            <a:ext cx="483724" cy="1451216"/>
            <a:chOff x="256400" y="1620009"/>
            <a:chExt cx="483724" cy="1451216"/>
          </a:xfrm>
        </p:grpSpPr>
        <p:grpSp>
          <p:nvGrpSpPr>
            <p:cNvPr id="1633" name="Google Shape;1633;p104"/>
            <p:cNvGrpSpPr/>
            <p:nvPr/>
          </p:nvGrpSpPr>
          <p:grpSpPr>
            <a:xfrm>
              <a:off x="256400" y="1620009"/>
              <a:ext cx="483625" cy="1440013"/>
              <a:chOff x="5959200" y="1619988"/>
              <a:chExt cx="483625" cy="1835113"/>
            </a:xfrm>
          </p:grpSpPr>
          <p:cxnSp>
            <p:nvCxnSpPr>
              <p:cNvPr id="1634" name="Google Shape;1634;p104"/>
              <p:cNvCxnSpPr/>
              <p:nvPr/>
            </p:nvCxnSpPr>
            <p:spPr>
              <a:xfrm rot="5400000">
                <a:off x="5877625" y="2185188"/>
                <a:ext cx="1130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1635" name="Google Shape;1635;p104"/>
              <p:cNvCxnSpPr/>
              <p:nvPr/>
            </p:nvCxnSpPr>
            <p:spPr>
              <a:xfrm rot="5400000">
                <a:off x="6090475" y="3102750"/>
                <a:ext cx="70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636" name="Google Shape;1636;p104"/>
              <p:cNvSpPr txBox="1"/>
              <p:nvPr/>
            </p:nvSpPr>
            <p:spPr>
              <a:xfrm>
                <a:off x="5959200" y="1953448"/>
                <a:ext cx="447000" cy="5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2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x </a:t>
                </a:r>
                <a:endParaRPr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1637" name="Google Shape;1637;p104"/>
            <p:cNvSpPr txBox="1"/>
            <p:nvPr/>
          </p:nvSpPr>
          <p:spPr>
            <a:xfrm>
              <a:off x="293124" y="2617625"/>
              <a:ext cx="4470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8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38" name="Google Shape;1638;p104"/>
          <p:cNvSpPr/>
          <p:nvPr/>
        </p:nvSpPr>
        <p:spPr>
          <a:xfrm>
            <a:off x="844250" y="2075627"/>
            <a:ext cx="858600" cy="861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9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9" name="Google Shape;1639;p104"/>
          <p:cNvSpPr/>
          <p:nvPr/>
        </p:nvSpPr>
        <p:spPr>
          <a:xfrm>
            <a:off x="1703118" y="2075625"/>
            <a:ext cx="581100" cy="861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19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40" name="Google Shape;1640;p104"/>
          <p:cNvSpPr/>
          <p:nvPr/>
        </p:nvSpPr>
        <p:spPr>
          <a:xfrm>
            <a:off x="844253" y="2930687"/>
            <a:ext cx="858600" cy="582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41" name="Google Shape;1641;p104"/>
          <p:cNvSpPr/>
          <p:nvPr/>
        </p:nvSpPr>
        <p:spPr>
          <a:xfrm>
            <a:off x="1697254" y="2930668"/>
            <a:ext cx="582300" cy="582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64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42" name="Google Shape;1642;p104"/>
          <p:cNvSpPr txBox="1"/>
          <p:nvPr>
            <p:ph type="body" idx="1"/>
          </p:nvPr>
        </p:nvSpPr>
        <p:spPr>
          <a:xfrm>
            <a:off x="324000" y="759300"/>
            <a:ext cx="8237700" cy="86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5) Izzy wants to find the expanded form of the product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a) Spot and correct any mistakes she has made. </a:t>
            </a:r>
            <a:endParaRPr sz="1800"/>
          </a:p>
        </p:txBody>
      </p:sp>
      <p:sp>
        <p:nvSpPr>
          <p:cNvPr id="1643" name="Google Shape;1643;p104"/>
          <p:cNvSpPr txBox="1"/>
          <p:nvPr>
            <p:ph type="body" idx="1"/>
          </p:nvPr>
        </p:nvSpPr>
        <p:spPr>
          <a:xfrm>
            <a:off x="324000" y="3741875"/>
            <a:ext cx="8496000" cy="122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6) Can you write two binomials which will have the product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/>
              <a:t>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Is there more than one way?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)(2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any rearrangement of terms within the binomials.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644" name="Google Shape;164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3900" y="809999"/>
            <a:ext cx="817800" cy="275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645" name="Google Shape;1645;p104"/>
          <p:cNvSpPr/>
          <p:nvPr/>
        </p:nvSpPr>
        <p:spPr>
          <a:xfrm>
            <a:off x="324000" y="3050100"/>
            <a:ext cx="392400" cy="379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104"/>
          <p:cNvSpPr txBox="1"/>
          <p:nvPr>
            <p:ph type="body" idx="1"/>
          </p:nvPr>
        </p:nvSpPr>
        <p:spPr>
          <a:xfrm>
            <a:off x="2406475" y="2554175"/>
            <a:ext cx="54090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binomial on the height of the square should have a term of negative 8. The partial products on the bottom row should be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7" name="Google Shape;1647;p104"/>
          <p:cNvSpPr/>
          <p:nvPr/>
        </p:nvSpPr>
        <p:spPr>
          <a:xfrm>
            <a:off x="1077350" y="3050100"/>
            <a:ext cx="392400" cy="379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104"/>
          <p:cNvSpPr/>
          <p:nvPr/>
        </p:nvSpPr>
        <p:spPr>
          <a:xfrm>
            <a:off x="1703125" y="3050100"/>
            <a:ext cx="582300" cy="379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52" name="Shape 1652"/>
        <p:cNvGrpSpPr/>
        <p:nvPr/>
      </p:nvGrpSpPr>
      <p:grpSpPr>
        <a:xfrm>
          <a:off x="0" y="0"/>
          <a:ext cx="0" cy="0"/>
        </a:xfrm>
      </p:grpSpPr>
      <p:sp>
        <p:nvSpPr>
          <p:cNvPr id="1653" name="Google Shape;1653;p105"/>
          <p:cNvSpPr txBox="1"/>
          <p:nvPr>
            <p:ph type="body" idx="1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In the product of two binomials the terms within the binomials may be in different orders. </a:t>
            </a:r>
            <a:endParaRPr sz="2000"/>
          </a:p>
          <a:p>
            <a:pPr marL="0" lvl="0" indent="0" algn="l" rtl="0"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2000"/>
              <a:t>Rearranging the terms so they are in the same order can be useful. </a:t>
            </a:r>
            <a:endParaRPr sz="2000"/>
          </a:p>
          <a:p>
            <a:pPr marL="0" lvl="0" indent="0" algn="l" rtl="0"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2000"/>
              <a:t>It is easier to spot products which are the difference of two squares if the terms are in the same order in both binomials.</a:t>
            </a:r>
            <a:endParaRPr sz="2000"/>
          </a:p>
          <a:p>
            <a:pPr marL="0" lvl="0" indent="0" algn="l" rt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GB" sz="2000"/>
              <a:t>We can use area models to multiply any two binomials including those with multiple variables and coefficients other than 1. </a:t>
            </a:r>
            <a:endParaRPr sz="2000"/>
          </a:p>
        </p:txBody>
      </p:sp>
      <p:sp>
        <p:nvSpPr>
          <p:cNvPr id="1654" name="Google Shape;1654;p10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More complex binomial products</a:t>
            </a:r>
            <a:endParaRPr/>
          </a:p>
        </p:txBody>
      </p:sp>
    </p:spTree>
  </p:cSld>
  <p:clrMapOvr>
    <a:masterClrMapping/>
  </p:clrMapOvr>
  <p:transition/>
  <p:timing/>
</p:sld>
</file>

<file path=ppt/slides/slide4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58" name="Shape 1658"/>
        <p:cNvGrpSpPr/>
        <p:nvPr/>
      </p:nvGrpSpPr>
      <p:grpSpPr>
        <a:xfrm>
          <a:off x="0" y="0"/>
          <a:ext cx="0" cy="0"/>
        </a:xfrm>
      </p:grpSpPr>
      <p:sp>
        <p:nvSpPr>
          <p:cNvPr id="1659" name="Google Shape;1659;p106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60" name="Google Shape;1660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569</Paragraphs>
  <Slides>44</Slides>
  <Notes>44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baseType="lpstr" size="54">
      <vt:lpstr>Arial</vt:lpstr>
      <vt:lpstr>Lexend</vt:lpstr>
      <vt:lpstr>Lexend Medium</vt:lpstr>
      <vt:lpstr>Kalam</vt:lpstr>
      <vt:lpstr>Lexend Light</vt:lpstr>
      <vt:lpstr>Calibri</vt:lpstr>
      <vt:lpstr>ABeeZee</vt:lpstr>
      <vt:lpstr>Times</vt:lpstr>
      <vt:lpstr>Times New Roman</vt:lpstr>
      <vt:lpstr>simple-light-2</vt:lpstr>
      <vt:lpstr>More complex binomial products</vt:lpstr>
      <vt:lpstr>PowerPoint Presentation</vt:lpstr>
      <vt:lpstr>PowerPoint Presentation</vt:lpstr>
      <vt:lpstr>PowerPoint Presentation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Using equivalent binomials</vt:lpstr>
      <vt:lpstr>Coefficients other than 1</vt:lpstr>
      <vt:lpstr>Coefficients other than 1</vt:lpstr>
      <vt:lpstr>Coefficients other than 1</vt:lpstr>
      <vt:lpstr>Coefficients other than 1</vt:lpstr>
      <vt:lpstr>Coefficients other than 1</vt:lpstr>
      <vt:lpstr>Coefficients other than 1</vt:lpstr>
      <vt:lpstr>Coefficients other than 1</vt:lpstr>
      <vt:lpstr>Coefficients other than 1</vt:lpstr>
      <vt:lpstr>Coefficients other than 1</vt:lpstr>
      <vt:lpstr>Coefficients other than 1</vt:lpstr>
      <vt:lpstr>Coefficients other than 1</vt:lpstr>
      <vt:lpstr>Coefficients other than 1</vt:lpstr>
      <vt:lpstr>Coefficients other than 1</vt:lpstr>
      <vt:lpstr>Coefficients other than 1</vt:lpstr>
      <vt:lpstr>Coefficients other than 1</vt:lpstr>
      <vt:lpstr>Coefficients other than 1</vt:lpstr>
      <vt:lpstr>More complex binomial products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2024-02-06T11:38:35.955</cp:lastPrinted>
  <dcterms:created xsi:type="dcterms:W3CDTF">2024-02-06T11:38:35Z</dcterms:created>
  <dcterms:modified xsi:type="dcterms:W3CDTF">2024-02-06T11:42:07Z</dcterms:modified>
</cp:coreProperties>
</file>