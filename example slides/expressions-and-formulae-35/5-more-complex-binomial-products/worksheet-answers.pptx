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9522CE43-8FD0-411B-AC19-F6327C6BDC40}">
  <a:tblStyle styleId="{9522CE43-8FD0-411B-AC19-F6327C6BDC4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72" name="Shape 272"/>
        <p:cNvGrpSpPr/>
        <p:nvPr/>
      </p:nvGrpSpPr>
      <p:grpSpPr>
        <a:xfrm>
          <a:off x="0" y="0"/>
          <a:ext cx="0" cy="0"/>
        </a:xfrm>
      </p:grpSpPr>
      <p:sp>
        <p:nvSpPr>
          <p:cNvPr id="273" name="Google Shape;273;g2b430beae7a_0_11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2b430beae7a_0_1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94" name="Shape 294"/>
        <p:cNvGrpSpPr/>
        <p:nvPr/>
      </p:nvGrpSpPr>
      <p:grpSpPr>
        <a:xfrm>
          <a:off x="0" y="0"/>
          <a:ext cx="0" cy="0"/>
        </a:xfrm>
      </p:grpSpPr>
      <p:sp>
        <p:nvSpPr>
          <p:cNvPr id="295" name="Google Shape;295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2.xm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7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More complex binomial products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441200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Using equivalent binomials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824000"/>
            <a:ext cx="6624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Use the area models to expand and simplify these expressions.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886509" y="2440236"/>
            <a:ext cx="1130400" cy="11304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2276607" y="2495290"/>
            <a:ext cx="1350900" cy="10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7 − 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+ 4) (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+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7)</a:t>
            </a:r>
            <a:endParaRPr sz="1200" baseline="30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+ 3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+ 28</a:t>
            </a:r>
            <a:endParaRPr sz="1200" u="sng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491214" y="2394544"/>
            <a:ext cx="2010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2256486" y="4008284"/>
            <a:ext cx="1371000" cy="5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8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8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8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(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8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200" baseline="30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16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+ 64</a:t>
            </a:r>
            <a:endParaRPr sz="1200" baseline="30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536200" y="3912606"/>
            <a:ext cx="2010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5520345" y="2494377"/>
            <a:ext cx="1545900" cy="103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(15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+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5)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+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15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(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200" baseline="30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+10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+ 75</a:t>
            </a:r>
            <a:endParaRPr sz="1200" baseline="30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3839091" y="2394653"/>
            <a:ext cx="1992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5453202" y="3767152"/>
            <a:ext cx="1791300" cy="14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− 10)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−10 − 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200" baseline="30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−10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+ 10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xy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Terms in any order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3824403" y="3897306"/>
            <a:ext cx="1992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886509" y="3935839"/>
            <a:ext cx="1130400" cy="11304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5" name="Google Shape;185;p20"/>
          <p:cNvGrpSpPr/>
          <p:nvPr/>
        </p:nvGrpSpPr>
        <p:grpSpPr>
          <a:xfrm>
            <a:off x="909310" y="2124012"/>
            <a:ext cx="1172334" cy="270467"/>
            <a:chOff x="1409600" y="1979950"/>
            <a:chExt cx="1920285" cy="344500"/>
          </a:xfrm>
        </p:grpSpPr>
        <p:sp>
          <p:nvSpPr>
            <p:cNvPr id="186" name="Google Shape;186;p20"/>
            <p:cNvSpPr txBox="1"/>
            <p:nvPr/>
          </p:nvSpPr>
          <p:spPr>
            <a:xfrm>
              <a:off x="1767785" y="1979950"/>
              <a:ext cx="15621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12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y             </a:t>
              </a:r>
              <a:r>
                <a:rPr lang="en-GB" sz="12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7</a:t>
              </a:r>
              <a:endParaRPr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87" name="Google Shape;187;p20"/>
            <p:cNvCxnSpPr/>
            <p:nvPr/>
          </p:nvCxnSpPr>
          <p:spPr>
            <a:xfrm>
              <a:off x="2554325" y="2324450"/>
              <a:ext cx="7047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88" name="Google Shape;188;p20"/>
            <p:cNvCxnSpPr/>
            <p:nvPr/>
          </p:nvCxnSpPr>
          <p:spPr>
            <a:xfrm>
              <a:off x="1409600" y="2324438"/>
              <a:ext cx="11304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grpSp>
        <p:nvGrpSpPr>
          <p:cNvPr id="189" name="Google Shape;189;p20"/>
          <p:cNvGrpSpPr/>
          <p:nvPr/>
        </p:nvGrpSpPr>
        <p:grpSpPr>
          <a:xfrm>
            <a:off x="466977" y="2440253"/>
            <a:ext cx="350859" cy="1139347"/>
            <a:chOff x="293127" y="1620009"/>
            <a:chExt cx="446898" cy="1451213"/>
          </a:xfrm>
        </p:grpSpPr>
        <p:grpSp>
          <p:nvGrpSpPr>
            <p:cNvPr id="190" name="Google Shape;190;p20"/>
            <p:cNvGrpSpPr/>
            <p:nvPr/>
          </p:nvGrpSpPr>
          <p:grpSpPr>
            <a:xfrm>
              <a:off x="355000" y="1620009"/>
              <a:ext cx="385025" cy="1440013"/>
              <a:chOff x="6057800" y="1619988"/>
              <a:chExt cx="385025" cy="1835113"/>
            </a:xfrm>
          </p:grpSpPr>
          <p:cxnSp>
            <p:nvCxnSpPr>
              <p:cNvPr id="191" name="Google Shape;191;p20"/>
              <p:cNvCxnSpPr/>
              <p:nvPr/>
            </p:nvCxnSpPr>
            <p:spPr>
              <a:xfrm rot="5400000">
                <a:off x="5877625" y="2185188"/>
                <a:ext cx="11304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192" name="Google Shape;192;p20"/>
              <p:cNvCxnSpPr/>
              <p:nvPr/>
            </p:nvCxnSpPr>
            <p:spPr>
              <a:xfrm rot="5400000">
                <a:off x="6090475" y="3102750"/>
                <a:ext cx="7047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sp>
            <p:nvSpPr>
              <p:cNvPr id="193" name="Google Shape;193;p20"/>
              <p:cNvSpPr txBox="1"/>
              <p:nvPr/>
            </p:nvSpPr>
            <p:spPr>
              <a:xfrm>
                <a:off x="6057800" y="1953449"/>
                <a:ext cx="348300" cy="57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None/>
                </a:pPr>
                <a:r>
                  <a:rPr lang="en-GB" sz="1200" i="1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  y </a:t>
                </a:r>
                <a:endParaRPr sz="12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  <p:sp>
          <p:nvSpPr>
            <p:cNvPr id="194" name="Google Shape;194;p20"/>
            <p:cNvSpPr txBox="1"/>
            <p:nvPr/>
          </p:nvSpPr>
          <p:spPr>
            <a:xfrm>
              <a:off x="293127" y="2617621"/>
              <a:ext cx="348300" cy="45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  </a:t>
              </a:r>
              <a:r>
                <a:rPr lang="en-GB" sz="12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4</a:t>
              </a:r>
              <a:r>
                <a:rPr lang="en-GB" sz="12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endParaRPr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95" name="Google Shape;195;p20"/>
          <p:cNvSpPr/>
          <p:nvPr/>
        </p:nvSpPr>
        <p:spPr>
          <a:xfrm>
            <a:off x="875420" y="2444123"/>
            <a:ext cx="674100" cy="6759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1200" i="1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1549713" y="2444122"/>
            <a:ext cx="456300" cy="6759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7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endParaRPr sz="1200" i="1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875422" y="3115426"/>
            <a:ext cx="674100" cy="4572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−4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endParaRPr sz="12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1545110" y="3115411"/>
            <a:ext cx="457200" cy="4572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28</a:t>
            </a:r>
            <a:endParaRPr sz="1200" baseline="300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99" name="Google Shape;199;p20"/>
          <p:cNvGrpSpPr/>
          <p:nvPr/>
        </p:nvGrpSpPr>
        <p:grpSpPr>
          <a:xfrm>
            <a:off x="1097292" y="3678945"/>
            <a:ext cx="953662" cy="224696"/>
            <a:chOff x="1767785" y="2060693"/>
            <a:chExt cx="1562100" cy="286200"/>
          </a:xfrm>
        </p:grpSpPr>
        <p:sp>
          <p:nvSpPr>
            <p:cNvPr id="200" name="Google Shape;200;p20"/>
            <p:cNvSpPr txBox="1"/>
            <p:nvPr/>
          </p:nvSpPr>
          <p:spPr>
            <a:xfrm>
              <a:off x="1767785" y="2060693"/>
              <a:ext cx="15621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y              </a:t>
              </a:r>
              <a:r>
                <a:rPr lang="en-GB" sz="12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−8</a:t>
              </a:r>
              <a:endParaRPr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201" name="Google Shape;201;p20"/>
            <p:cNvCxnSpPr/>
            <p:nvPr/>
          </p:nvCxnSpPr>
          <p:spPr>
            <a:xfrm>
              <a:off x="2412771" y="2324550"/>
              <a:ext cx="8466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cxnSp>
        <p:nvCxnSpPr>
          <p:cNvPr id="202" name="Google Shape;202;p20"/>
          <p:cNvCxnSpPr/>
          <p:nvPr/>
        </p:nvCxnSpPr>
        <p:spPr>
          <a:xfrm>
            <a:off x="886509" y="3886074"/>
            <a:ext cx="643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203" name="Google Shape;203;p20"/>
          <p:cNvGrpSpPr/>
          <p:nvPr/>
        </p:nvGrpSpPr>
        <p:grpSpPr>
          <a:xfrm>
            <a:off x="491217" y="3931450"/>
            <a:ext cx="350859" cy="1139347"/>
            <a:chOff x="293127" y="1620009"/>
            <a:chExt cx="446898" cy="1451213"/>
          </a:xfrm>
        </p:grpSpPr>
        <p:grpSp>
          <p:nvGrpSpPr>
            <p:cNvPr id="204" name="Google Shape;204;p20"/>
            <p:cNvGrpSpPr/>
            <p:nvPr/>
          </p:nvGrpSpPr>
          <p:grpSpPr>
            <a:xfrm>
              <a:off x="355000" y="1620009"/>
              <a:ext cx="385025" cy="1440013"/>
              <a:chOff x="6057800" y="1619988"/>
              <a:chExt cx="385025" cy="1835113"/>
            </a:xfrm>
          </p:grpSpPr>
          <p:cxnSp>
            <p:nvCxnSpPr>
              <p:cNvPr id="205" name="Google Shape;205;p20"/>
              <p:cNvCxnSpPr/>
              <p:nvPr/>
            </p:nvCxnSpPr>
            <p:spPr>
              <a:xfrm rot="5400000">
                <a:off x="5877625" y="2185188"/>
                <a:ext cx="11304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206" name="Google Shape;206;p20"/>
              <p:cNvCxnSpPr/>
              <p:nvPr/>
            </p:nvCxnSpPr>
            <p:spPr>
              <a:xfrm rot="5400000">
                <a:off x="6090475" y="3102750"/>
                <a:ext cx="7047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sp>
            <p:nvSpPr>
              <p:cNvPr id="207" name="Google Shape;207;p20"/>
              <p:cNvSpPr txBox="1"/>
              <p:nvPr/>
            </p:nvSpPr>
            <p:spPr>
              <a:xfrm>
                <a:off x="6057800" y="1953449"/>
                <a:ext cx="348300" cy="57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None/>
                </a:pPr>
                <a:r>
                  <a:rPr lang="en-GB" sz="2000" i="1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  </a:t>
                </a:r>
                <a:r>
                  <a:rPr lang="en-GB" sz="1200" i="1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y</a:t>
                </a:r>
                <a:r>
                  <a:rPr lang="en-GB" sz="2000" i="1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 </a:t>
                </a:r>
                <a:endParaRPr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  <p:sp>
          <p:nvSpPr>
            <p:cNvPr id="208" name="Google Shape;208;p20"/>
            <p:cNvSpPr txBox="1"/>
            <p:nvPr/>
          </p:nvSpPr>
          <p:spPr>
            <a:xfrm>
              <a:off x="293127" y="2617621"/>
              <a:ext cx="348300" cy="45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0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r>
                <a:rPr lang="en-GB" sz="12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−8</a:t>
              </a:r>
              <a:r>
                <a:rPr lang="en-GB" sz="12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endParaRPr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209" name="Google Shape;209;p20"/>
          <p:cNvSpPr/>
          <p:nvPr/>
        </p:nvSpPr>
        <p:spPr>
          <a:xfrm>
            <a:off x="875420" y="3939727"/>
            <a:ext cx="674100" cy="6759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1200" i="1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1549713" y="3939726"/>
            <a:ext cx="456300" cy="6759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−8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endParaRPr sz="1200" i="1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875422" y="4611029"/>
            <a:ext cx="674100" cy="4572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−8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endParaRPr sz="12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1545110" y="4611015"/>
            <a:ext cx="457200" cy="4572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64</a:t>
            </a:r>
            <a:endParaRPr sz="12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4171157" y="3920303"/>
            <a:ext cx="1119000" cy="1119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4" name="Google Shape;214;p20"/>
          <p:cNvGrpSpPr/>
          <p:nvPr/>
        </p:nvGrpSpPr>
        <p:grpSpPr>
          <a:xfrm>
            <a:off x="4379795" y="3604635"/>
            <a:ext cx="943977" cy="266361"/>
            <a:chOff x="1767785" y="1981788"/>
            <a:chExt cx="1562100" cy="342763"/>
          </a:xfrm>
        </p:grpSpPr>
        <p:sp>
          <p:nvSpPr>
            <p:cNvPr id="215" name="Google Shape;215;p20"/>
            <p:cNvSpPr txBox="1"/>
            <p:nvPr/>
          </p:nvSpPr>
          <p:spPr>
            <a:xfrm>
              <a:off x="1767785" y="1981788"/>
              <a:ext cx="15621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−10</a:t>
              </a:r>
              <a:r>
                <a:rPr lang="en-GB" sz="12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     </a:t>
              </a:r>
              <a:r>
                <a:rPr lang="en-GB" sz="12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12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y</a:t>
              </a:r>
              <a:endParaRPr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216" name="Google Shape;216;p20"/>
            <p:cNvCxnSpPr/>
            <p:nvPr/>
          </p:nvCxnSpPr>
          <p:spPr>
            <a:xfrm>
              <a:off x="2412771" y="2324550"/>
              <a:ext cx="8466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cxnSp>
        <p:nvCxnSpPr>
          <p:cNvPr id="217" name="Google Shape;217;p20"/>
          <p:cNvCxnSpPr/>
          <p:nvPr/>
        </p:nvCxnSpPr>
        <p:spPr>
          <a:xfrm>
            <a:off x="4171157" y="3871043"/>
            <a:ext cx="6375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218" name="Google Shape;218;p20"/>
          <p:cNvGrpSpPr/>
          <p:nvPr/>
        </p:nvGrpSpPr>
        <p:grpSpPr>
          <a:xfrm>
            <a:off x="3779868" y="3915908"/>
            <a:ext cx="347284" cy="1127738"/>
            <a:chOff x="293127" y="1620009"/>
            <a:chExt cx="446898" cy="1451213"/>
          </a:xfrm>
        </p:grpSpPr>
        <p:grpSp>
          <p:nvGrpSpPr>
            <p:cNvPr id="219" name="Google Shape;219;p20"/>
            <p:cNvGrpSpPr/>
            <p:nvPr/>
          </p:nvGrpSpPr>
          <p:grpSpPr>
            <a:xfrm>
              <a:off x="355000" y="1620009"/>
              <a:ext cx="385025" cy="1440013"/>
              <a:chOff x="6057800" y="1619988"/>
              <a:chExt cx="385025" cy="1835113"/>
            </a:xfrm>
          </p:grpSpPr>
          <p:cxnSp>
            <p:nvCxnSpPr>
              <p:cNvPr id="220" name="Google Shape;220;p20"/>
              <p:cNvCxnSpPr/>
              <p:nvPr/>
            </p:nvCxnSpPr>
            <p:spPr>
              <a:xfrm rot="5400000">
                <a:off x="5877625" y="2185188"/>
                <a:ext cx="11304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221" name="Google Shape;221;p20"/>
              <p:cNvCxnSpPr/>
              <p:nvPr/>
            </p:nvCxnSpPr>
            <p:spPr>
              <a:xfrm rot="5400000">
                <a:off x="6090475" y="3102750"/>
                <a:ext cx="7047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sp>
            <p:nvSpPr>
              <p:cNvPr id="222" name="Google Shape;222;p20"/>
              <p:cNvSpPr txBox="1"/>
              <p:nvPr/>
            </p:nvSpPr>
            <p:spPr>
              <a:xfrm>
                <a:off x="6057800" y="1953449"/>
                <a:ext cx="348300" cy="57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None/>
                </a:pPr>
                <a:r>
                  <a:rPr lang="en-GB" sz="2000" i="1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 </a:t>
                </a:r>
                <a:r>
                  <a:rPr lang="en-GB" sz="1200" i="1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 x</a:t>
                </a:r>
                <a:r>
                  <a:rPr lang="en-GB" sz="2000" i="1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 </a:t>
                </a:r>
                <a:endParaRPr sz="18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  <p:sp>
          <p:nvSpPr>
            <p:cNvPr id="223" name="Google Shape;223;p20"/>
            <p:cNvSpPr txBox="1"/>
            <p:nvPr/>
          </p:nvSpPr>
          <p:spPr>
            <a:xfrm>
              <a:off x="293127" y="2617621"/>
              <a:ext cx="348300" cy="45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0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r>
                <a:rPr lang="en-GB" sz="12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</a:t>
              </a:r>
              <a:r>
                <a:rPr lang="en-GB" sz="12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y </a:t>
              </a:r>
              <a:endParaRPr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224" name="Google Shape;224;p20"/>
          <p:cNvSpPr/>
          <p:nvPr/>
        </p:nvSpPr>
        <p:spPr>
          <a:xfrm>
            <a:off x="4160180" y="3924152"/>
            <a:ext cx="667200" cy="669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− 10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endParaRPr sz="1200" i="1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5" name="Google Shape;225;p20"/>
          <p:cNvSpPr/>
          <p:nvPr/>
        </p:nvSpPr>
        <p:spPr>
          <a:xfrm>
            <a:off x="4827629" y="3924150"/>
            <a:ext cx="451500" cy="669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xy</a:t>
            </a:r>
            <a:endParaRPr sz="1200" i="1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6" name="Google Shape;226;p20"/>
          <p:cNvSpPr/>
          <p:nvPr/>
        </p:nvSpPr>
        <p:spPr>
          <a:xfrm>
            <a:off x="4160182" y="4588640"/>
            <a:ext cx="667200" cy="4524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10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endParaRPr sz="12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7" name="Google Shape;227;p20"/>
          <p:cNvSpPr/>
          <p:nvPr/>
        </p:nvSpPr>
        <p:spPr>
          <a:xfrm>
            <a:off x="4823072" y="4588625"/>
            <a:ext cx="452400" cy="4524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12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8" name="Google Shape;228;p20"/>
          <p:cNvSpPr/>
          <p:nvPr/>
        </p:nvSpPr>
        <p:spPr>
          <a:xfrm>
            <a:off x="4230374" y="2439881"/>
            <a:ext cx="1119000" cy="1119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9" name="Google Shape;229;p20"/>
          <p:cNvGrpSpPr/>
          <p:nvPr/>
        </p:nvGrpSpPr>
        <p:grpSpPr>
          <a:xfrm>
            <a:off x="4439012" y="2118918"/>
            <a:ext cx="943977" cy="271655"/>
            <a:chOff x="1767785" y="1974975"/>
            <a:chExt cx="1562100" cy="349575"/>
          </a:xfrm>
        </p:grpSpPr>
        <p:sp>
          <p:nvSpPr>
            <p:cNvPr id="230" name="Google Shape;230;p20"/>
            <p:cNvSpPr txBox="1"/>
            <p:nvPr/>
          </p:nvSpPr>
          <p:spPr>
            <a:xfrm>
              <a:off x="1767785" y="1974975"/>
              <a:ext cx="15621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y          </a:t>
              </a:r>
              <a:r>
                <a:rPr lang="en-GB" sz="12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5</a:t>
              </a:r>
              <a:endParaRPr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231" name="Google Shape;231;p20"/>
            <p:cNvCxnSpPr/>
            <p:nvPr/>
          </p:nvCxnSpPr>
          <p:spPr>
            <a:xfrm>
              <a:off x="2412771" y="2324550"/>
              <a:ext cx="8466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cxnSp>
        <p:nvCxnSpPr>
          <p:cNvPr id="232" name="Google Shape;232;p20"/>
          <p:cNvCxnSpPr/>
          <p:nvPr/>
        </p:nvCxnSpPr>
        <p:spPr>
          <a:xfrm>
            <a:off x="4230374" y="2390621"/>
            <a:ext cx="6375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233" name="Google Shape;233;p20"/>
          <p:cNvGrpSpPr/>
          <p:nvPr/>
        </p:nvGrpSpPr>
        <p:grpSpPr>
          <a:xfrm>
            <a:off x="3810544" y="2435486"/>
            <a:ext cx="375825" cy="1127731"/>
            <a:chOff x="256400" y="1620009"/>
            <a:chExt cx="483625" cy="1451204"/>
          </a:xfrm>
        </p:grpSpPr>
        <p:grpSp>
          <p:nvGrpSpPr>
            <p:cNvPr id="234" name="Google Shape;234;p20"/>
            <p:cNvGrpSpPr/>
            <p:nvPr/>
          </p:nvGrpSpPr>
          <p:grpSpPr>
            <a:xfrm>
              <a:off x="256400" y="1620009"/>
              <a:ext cx="483625" cy="1440013"/>
              <a:chOff x="5959200" y="1619988"/>
              <a:chExt cx="483625" cy="1835113"/>
            </a:xfrm>
          </p:grpSpPr>
          <p:cxnSp>
            <p:nvCxnSpPr>
              <p:cNvPr id="235" name="Google Shape;235;p20"/>
              <p:cNvCxnSpPr/>
              <p:nvPr/>
            </p:nvCxnSpPr>
            <p:spPr>
              <a:xfrm rot="5400000">
                <a:off x="5877625" y="2185188"/>
                <a:ext cx="11304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236" name="Google Shape;236;p20"/>
              <p:cNvCxnSpPr/>
              <p:nvPr/>
            </p:nvCxnSpPr>
            <p:spPr>
              <a:xfrm rot="5400000">
                <a:off x="6090475" y="3102750"/>
                <a:ext cx="7047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sp>
            <p:nvSpPr>
              <p:cNvPr id="237" name="Google Shape;237;p20"/>
              <p:cNvSpPr txBox="1"/>
              <p:nvPr/>
            </p:nvSpPr>
            <p:spPr>
              <a:xfrm>
                <a:off x="5959200" y="1953464"/>
                <a:ext cx="447000" cy="57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None/>
                </a:pPr>
                <a:r>
                  <a:rPr lang="en-GB" sz="2000" i="1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  </a:t>
                </a:r>
                <a:r>
                  <a:rPr lang="en-GB" sz="1200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−</a:t>
                </a:r>
                <a:r>
                  <a:rPr lang="en-GB" sz="1200" i="1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y </a:t>
                </a:r>
                <a:endParaRPr sz="12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  <p:sp>
          <p:nvSpPr>
            <p:cNvPr id="238" name="Google Shape;238;p20"/>
            <p:cNvSpPr txBox="1"/>
            <p:nvPr/>
          </p:nvSpPr>
          <p:spPr>
            <a:xfrm>
              <a:off x="277904" y="2617613"/>
              <a:ext cx="384900" cy="45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0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r>
                <a:rPr lang="en-GB" sz="12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15</a:t>
              </a:r>
              <a:r>
                <a:rPr lang="en-GB" sz="12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endParaRPr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239" name="Google Shape;239;p20"/>
          <p:cNvSpPr/>
          <p:nvPr/>
        </p:nvSpPr>
        <p:spPr>
          <a:xfrm>
            <a:off x="4219397" y="2443729"/>
            <a:ext cx="667200" cy="669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1200" i="1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0" name="Google Shape;240;p20"/>
          <p:cNvSpPr/>
          <p:nvPr/>
        </p:nvSpPr>
        <p:spPr>
          <a:xfrm>
            <a:off x="4886846" y="2443728"/>
            <a:ext cx="451500" cy="6690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−5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endParaRPr sz="1200" i="1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1" name="Google Shape;241;p20"/>
          <p:cNvSpPr/>
          <p:nvPr/>
        </p:nvSpPr>
        <p:spPr>
          <a:xfrm>
            <a:off x="4219399" y="3108217"/>
            <a:ext cx="667200" cy="4524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15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endParaRPr sz="12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2" name="Google Shape;242;p20"/>
          <p:cNvSpPr/>
          <p:nvPr/>
        </p:nvSpPr>
        <p:spPr>
          <a:xfrm>
            <a:off x="4882289" y="3108203"/>
            <a:ext cx="452400" cy="4524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75</a:t>
            </a:r>
            <a:endParaRPr sz="12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3" name="Google Shape;243;p20"/>
          <p:cNvSpPr txBox="1"/>
          <p:nvPr/>
        </p:nvSpPr>
        <p:spPr>
          <a:xfrm>
            <a:off x="468000" y="5377575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Which of these expressions can be written as the difference of two squares.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0"/>
          <p:cNvSpPr txBox="1"/>
          <p:nvPr/>
        </p:nvSpPr>
        <p:spPr>
          <a:xfrm>
            <a:off x="903700" y="5711470"/>
            <a:ext cx="1720800" cy="15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Times"/>
                <a:ea typeface="Times"/>
                <a:cs typeface="Times"/>
                <a:sym typeface="Times"/>
              </a:rPr>
              <a:t> 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9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9 − 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b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(9 +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9 − 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9) (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9 − 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b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9) (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− 9)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3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 i="1" u="sng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1200" u="sng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5" name="Google Shape;245;p20"/>
          <p:cNvSpPr txBox="1"/>
          <p:nvPr/>
        </p:nvSpPr>
        <p:spPr>
          <a:xfrm>
            <a:off x="3031200" y="5711470"/>
            <a:ext cx="1857600" cy="16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(9 +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− 9)</a:t>
            </a:r>
            <a:b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9) (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− 9)</a:t>
            </a:r>
            <a:b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</a:br>
            <a:b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7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 </a:t>
            </a:r>
            <a:b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</a:t>
            </a:r>
            <a:endParaRPr sz="1200" u="sng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6" name="Google Shape;246;p20"/>
          <p:cNvSpPr txBox="1"/>
          <p:nvPr/>
        </p:nvSpPr>
        <p:spPr>
          <a:xfrm>
            <a:off x="5374975" y="5711469"/>
            <a:ext cx="2472900" cy="14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(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b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</a:b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 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2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≡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+ 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b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</a:br>
            <a:b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 u="sng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1200" u="sng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aphicFrame>
        <p:nvGraphicFramePr>
          <p:cNvPr id="247" name="Google Shape;247;p20"/>
          <p:cNvGraphicFramePr>
            <a:graphicFrameLocks noGrp="1"/>
          </p:cNvGraphicFramePr>
          <p:nvPr/>
        </p:nvGraphicFramePr>
        <p:xfrm>
          <a:off x="501952" y="5740114"/>
          <a:ext cx="301025" cy="1243780"/>
        </p:xfrm>
        <a:graphic>
          <a:graphicData uri="http://schemas.openxmlformats.org/drawingml/2006/table">
            <a:tbl>
              <a:tblPr>
                <a:noFill/>
                <a:tableStyleId>{9522CE43-8FD0-411B-AC19-F6327C6BDC40}</a:tableStyleId>
              </a:tblPr>
              <a:tblGrid>
                <a:gridCol w="301025"/>
              </a:tblGrid>
              <a:tr h="5304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304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774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48" name="Google Shape;248;p20"/>
          <p:cNvGraphicFramePr>
            <a:graphicFrameLocks noGrp="1"/>
          </p:cNvGraphicFramePr>
          <p:nvPr/>
        </p:nvGraphicFramePr>
        <p:xfrm>
          <a:off x="2787952" y="5740114"/>
          <a:ext cx="301025" cy="1242025"/>
        </p:xfrm>
        <a:graphic>
          <a:graphicData uri="http://schemas.openxmlformats.org/drawingml/2006/table">
            <a:tbl>
              <a:tblPr>
                <a:noFill/>
                <a:tableStyleId>{9522CE43-8FD0-411B-AC19-F6327C6BDC40}</a:tableStyleId>
              </a:tblPr>
              <a:tblGrid>
                <a:gridCol w="301025"/>
              </a:tblGrid>
              <a:tr h="5158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158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102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49" name="Google Shape;249;p20"/>
          <p:cNvGraphicFramePr>
            <a:graphicFrameLocks noGrp="1"/>
          </p:cNvGraphicFramePr>
          <p:nvPr/>
        </p:nvGraphicFramePr>
        <p:xfrm>
          <a:off x="5073952" y="5740114"/>
          <a:ext cx="301025" cy="1242025"/>
        </p:xfrm>
        <a:graphic>
          <a:graphicData uri="http://schemas.openxmlformats.org/drawingml/2006/table">
            <a:tbl>
              <a:tblPr>
                <a:noFill/>
                <a:tableStyleId>{9522CE43-8FD0-411B-AC19-F6327C6BDC40}</a:tableStyleId>
              </a:tblPr>
              <a:tblGrid>
                <a:gridCol w="301025"/>
              </a:tblGrid>
              <a:tr h="5158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158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102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50" name="Google Shape;250;p20"/>
          <p:cNvSpPr/>
          <p:nvPr/>
        </p:nvSpPr>
        <p:spPr>
          <a:xfrm>
            <a:off x="468000" y="5705725"/>
            <a:ext cx="1613700" cy="3828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ctr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1" name="Google Shape;251;p20"/>
          <p:cNvSpPr txBox="1"/>
          <p:nvPr/>
        </p:nvSpPr>
        <p:spPr>
          <a:xfrm>
            <a:off x="2895796" y="7001268"/>
            <a:ext cx="1720800" cy="4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+ 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)(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25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 u="sng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2" name="Google Shape;252;p20"/>
          <p:cNvSpPr/>
          <p:nvPr/>
        </p:nvSpPr>
        <p:spPr>
          <a:xfrm>
            <a:off x="2770975" y="5705725"/>
            <a:ext cx="1545900" cy="3828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ctr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3" name="Google Shape;253;p20"/>
          <p:cNvSpPr/>
          <p:nvPr/>
        </p:nvSpPr>
        <p:spPr>
          <a:xfrm>
            <a:off x="2718050" y="6733500"/>
            <a:ext cx="1545900" cy="5316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ctr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4" name="Google Shape;254;p20"/>
          <p:cNvSpPr/>
          <p:nvPr/>
        </p:nvSpPr>
        <p:spPr>
          <a:xfrm>
            <a:off x="4953600" y="6196700"/>
            <a:ext cx="1720800" cy="4485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ctr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5" name="Google Shape;255;p20"/>
          <p:cNvSpPr txBox="1"/>
          <p:nvPr/>
        </p:nvSpPr>
        <p:spPr>
          <a:xfrm>
            <a:off x="918350" y="7821450"/>
            <a:ext cx="17208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9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9 − 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25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25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2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 i="1" u="sng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1200" u="sng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6" name="Google Shape;256;p20"/>
          <p:cNvSpPr txBox="1"/>
          <p:nvPr/>
        </p:nvSpPr>
        <p:spPr>
          <a:xfrm>
            <a:off x="3139875" y="7821450"/>
            <a:ext cx="1720800" cy="21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(9 +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− 9)</a:t>
            </a:r>
            <a:endParaRPr sz="12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b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</a:br>
            <a:b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</a:br>
            <a:b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</a:br>
            <a:b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200" u="sng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7" name="Google Shape;257;p20"/>
          <p:cNvSpPr txBox="1"/>
          <p:nvPr/>
        </p:nvSpPr>
        <p:spPr>
          <a:xfrm>
            <a:off x="5121075" y="7809050"/>
            <a:ext cx="1720800" cy="6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200"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2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 i="1" u="sng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1200" u="sng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aphicFrame>
        <p:nvGraphicFramePr>
          <p:cNvPr id="258" name="Google Shape;258;p20"/>
          <p:cNvGraphicFramePr>
            <a:graphicFrameLocks noGrp="1"/>
          </p:cNvGraphicFramePr>
          <p:nvPr/>
        </p:nvGraphicFramePr>
        <p:xfrm>
          <a:off x="516602" y="7850101"/>
          <a:ext cx="301025" cy="927600"/>
        </p:xfrm>
        <a:graphic>
          <a:graphicData uri="http://schemas.openxmlformats.org/drawingml/2006/table">
            <a:tbl>
              <a:tblPr>
                <a:noFill/>
                <a:tableStyleId>{9522CE43-8FD0-411B-AC19-F6327C6BDC40}</a:tableStyleId>
              </a:tblPr>
              <a:tblGrid>
                <a:gridCol w="301025"/>
              </a:tblGrid>
              <a:tr h="9276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59" name="Google Shape;259;p20"/>
          <p:cNvGraphicFramePr>
            <a:graphicFrameLocks noGrp="1"/>
          </p:cNvGraphicFramePr>
          <p:nvPr/>
        </p:nvGraphicFramePr>
        <p:xfrm>
          <a:off x="2726402" y="7850101"/>
          <a:ext cx="301025" cy="1260000"/>
        </p:xfrm>
        <a:graphic>
          <a:graphicData uri="http://schemas.openxmlformats.org/drawingml/2006/table">
            <a:tbl>
              <a:tblPr>
                <a:noFill/>
                <a:tableStyleId>{9522CE43-8FD0-411B-AC19-F6327C6BDC40}</a:tableStyleId>
              </a:tblPr>
              <a:tblGrid>
                <a:gridCol w="301025"/>
              </a:tblGrid>
              <a:tr h="523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23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133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60" name="Google Shape;260;p20"/>
          <p:cNvGraphicFramePr>
            <a:graphicFrameLocks noGrp="1"/>
          </p:cNvGraphicFramePr>
          <p:nvPr/>
        </p:nvGraphicFramePr>
        <p:xfrm>
          <a:off x="4707602" y="7234976"/>
          <a:ext cx="301025" cy="1446025"/>
        </p:xfrm>
        <a:graphic>
          <a:graphicData uri="http://schemas.openxmlformats.org/drawingml/2006/table">
            <a:tbl>
              <a:tblPr>
                <a:noFill/>
                <a:tableStyleId>{9522CE43-8FD0-411B-AC19-F6327C6BDC40}</a:tableStyleId>
              </a:tblPr>
              <a:tblGrid>
                <a:gridCol w="301025"/>
              </a:tblGrid>
              <a:tr h="6308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308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843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61" name="Google Shape;261;p20"/>
          <p:cNvSpPr/>
          <p:nvPr/>
        </p:nvSpPr>
        <p:spPr>
          <a:xfrm>
            <a:off x="5668300" y="8502025"/>
            <a:ext cx="1361100" cy="1446000"/>
          </a:xfrm>
          <a:prstGeom prst="roundRect">
            <a:avLst>
              <a:gd name="adj" fmla="val 7657"/>
            </a:avLst>
          </a:prstGeom>
          <a:solidFill>
            <a:srgbClr val="F3EEFB"/>
          </a:solidFill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− 81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ctr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81 −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ctr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1200" baseline="300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ctr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ctr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62" name="Google Shape;262;p20"/>
          <p:cNvSpPr txBox="1"/>
          <p:nvPr/>
        </p:nvSpPr>
        <p:spPr>
          <a:xfrm>
            <a:off x="482650" y="7462800"/>
            <a:ext cx="6624000" cy="5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Which products of two binomials give the expressions in the box?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" name="Google Shape;263;p20"/>
          <p:cNvSpPr/>
          <p:nvPr/>
        </p:nvSpPr>
        <p:spPr>
          <a:xfrm>
            <a:off x="516600" y="7818150"/>
            <a:ext cx="1545900" cy="3828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ctr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64" name="Google Shape;264;p20"/>
          <p:cNvSpPr txBox="1"/>
          <p:nvPr/>
        </p:nvSpPr>
        <p:spPr>
          <a:xfrm>
            <a:off x="700450" y="8240250"/>
            <a:ext cx="1720800" cy="10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(9 + 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9 − 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81 −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25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 u="sng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65" name="Google Shape;265;p20"/>
          <p:cNvSpPr txBox="1"/>
          <p:nvPr/>
        </p:nvSpPr>
        <p:spPr>
          <a:xfrm>
            <a:off x="2929150" y="8240250"/>
            <a:ext cx="1890900" cy="8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9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− 9)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− 81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25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 u="sng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66" name="Google Shape;266;p20"/>
          <p:cNvSpPr txBox="1"/>
          <p:nvPr/>
        </p:nvSpPr>
        <p:spPr>
          <a:xfrm>
            <a:off x="2969641" y="9271350"/>
            <a:ext cx="1720800" cy="4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+ 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25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 u="sng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67" name="Google Shape;267;p20"/>
          <p:cNvSpPr/>
          <p:nvPr/>
        </p:nvSpPr>
        <p:spPr>
          <a:xfrm>
            <a:off x="2697625" y="7824750"/>
            <a:ext cx="1613700" cy="3828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ctr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68" name="Google Shape;268;p20"/>
          <p:cNvSpPr/>
          <p:nvPr/>
        </p:nvSpPr>
        <p:spPr>
          <a:xfrm>
            <a:off x="2663675" y="8812350"/>
            <a:ext cx="1613700" cy="3828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ctr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69" name="Google Shape;269;p20"/>
          <p:cNvSpPr txBox="1"/>
          <p:nvPr/>
        </p:nvSpPr>
        <p:spPr>
          <a:xfrm>
            <a:off x="4930525" y="8232600"/>
            <a:ext cx="944100" cy="5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− 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+ 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25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 u="sng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70" name="Google Shape;270;p20"/>
          <p:cNvSpPr/>
          <p:nvPr/>
        </p:nvSpPr>
        <p:spPr>
          <a:xfrm>
            <a:off x="4601650" y="7809050"/>
            <a:ext cx="2156400" cy="3828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ctr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71" name="Google Shape;271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75" name="Shape 275"/>
        <p:cNvGrpSpPr/>
        <p:nvPr/>
      </p:nvGrpSpPr>
      <p:grpSpPr>
        <a:xfrm>
          <a:off x="0" y="0"/>
          <a:ext cx="0" cy="0"/>
        </a:xfrm>
      </p:grpSpPr>
      <p:sp>
        <p:nvSpPr>
          <p:cNvPr id="276" name="Google Shape;276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More complex binomial products</a:t>
            </a:r>
            <a:endParaRPr/>
          </a:p>
        </p:txBody>
      </p:sp>
      <p:sp>
        <p:nvSpPr>
          <p:cNvPr id="277" name="Google Shape;277;p21"/>
          <p:cNvSpPr txBox="1"/>
          <p:nvPr/>
        </p:nvSpPr>
        <p:spPr>
          <a:xfrm>
            <a:off x="869750" y="1317150"/>
            <a:ext cx="2341500" cy="30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(2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3)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+ 6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6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18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18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(3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6) (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3)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+ 9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6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18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+ 3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18 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i="1" u="sng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1200" u="sng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78" name="Google Shape;278;p21"/>
          <p:cNvSpPr txBox="1"/>
          <p:nvPr/>
        </p:nvSpPr>
        <p:spPr>
          <a:xfrm>
            <a:off x="468000" y="720000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Coefficients other than 1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21"/>
          <p:cNvSpPr txBox="1"/>
          <p:nvPr/>
        </p:nvSpPr>
        <p:spPr>
          <a:xfrm>
            <a:off x="468000" y="1011450"/>
            <a:ext cx="82377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Expand and simplify each product of two binomials.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p21"/>
          <p:cNvSpPr txBox="1"/>
          <p:nvPr/>
        </p:nvSpPr>
        <p:spPr>
          <a:xfrm>
            <a:off x="2862675" y="1317150"/>
            <a:ext cx="2515200" cy="15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(3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6) (2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6)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+ 18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12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36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+ 6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36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(3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6) (2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6)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18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12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36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30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36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 u="sng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81" name="Google Shape;281;p21"/>
          <p:cNvSpPr txBox="1"/>
          <p:nvPr/>
        </p:nvSpPr>
        <p:spPr>
          <a:xfrm>
            <a:off x="5072475" y="1317150"/>
            <a:ext cx="2596200" cy="15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(3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6) (3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6)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9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18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18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36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9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36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36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(3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6) (3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6)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9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18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18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36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9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36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 i="1" u="sng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1200" u="sng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aphicFrame>
        <p:nvGraphicFramePr>
          <p:cNvPr id="282" name="Google Shape;282;p21"/>
          <p:cNvGraphicFramePr>
            <a:graphicFrameLocks noGrp="1"/>
          </p:cNvGraphicFramePr>
          <p:nvPr/>
        </p:nvGraphicFramePr>
        <p:xfrm>
          <a:off x="468002" y="13458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{9522CE43-8FD0-411B-AC19-F6327C6BDC40}</a:tableStyleId>
              </a:tblPr>
              <a:tblGrid>
                <a:gridCol w="301025"/>
              </a:tblGrid>
              <a:tr h="13887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549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83" name="Google Shape;283;p21"/>
          <p:cNvGraphicFramePr>
            <a:graphicFrameLocks noGrp="1"/>
          </p:cNvGraphicFramePr>
          <p:nvPr/>
        </p:nvGraphicFramePr>
        <p:xfrm>
          <a:off x="2449202" y="13338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{9522CE43-8FD0-411B-AC19-F6327C6BDC40}</a:tableStyleId>
              </a:tblPr>
              <a:tblGrid>
                <a:gridCol w="301025"/>
              </a:tblGrid>
              <a:tr h="13924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89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84" name="Google Shape;284;p21"/>
          <p:cNvGraphicFramePr>
            <a:graphicFrameLocks noGrp="1"/>
          </p:cNvGraphicFramePr>
          <p:nvPr/>
        </p:nvGraphicFramePr>
        <p:xfrm>
          <a:off x="4659002" y="131715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{9522CE43-8FD0-411B-AC19-F6327C6BDC40}</a:tableStyleId>
              </a:tblPr>
              <a:tblGrid>
                <a:gridCol w="301025"/>
              </a:tblGrid>
              <a:tr h="14035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076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85" name="Google Shape;285;p21"/>
          <p:cNvSpPr txBox="1"/>
          <p:nvPr/>
        </p:nvSpPr>
        <p:spPr>
          <a:xfrm>
            <a:off x="468000" y="3932400"/>
            <a:ext cx="6624000" cy="18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What do you notice about your answer to a) and f)? Can you explain why this happens.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Two of the partial products are zero pairs so the final expression only has two terms.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f) is clearly the difference of two squares as both binomials have the term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and the other terms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and 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 are a zero pair.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first binomial in a)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6)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can actually be written as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3)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so the product is the same as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3)(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+ 3)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Which is the difference of two squares all multiplied by 2.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 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2(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− 3</a:t>
            </a:r>
            <a:r>
              <a:rPr lang="en-GB" sz="12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 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2(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− 9) 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− 18 </a:t>
            </a:r>
            <a:endParaRPr sz="1200" i="1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86" name="Google Shape;286;p21"/>
          <p:cNvSpPr txBox="1"/>
          <p:nvPr/>
        </p:nvSpPr>
        <p:spPr>
          <a:xfrm>
            <a:off x="468000" y="60283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Expand and simplify each product of two binomials.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7" name="Google Shape;287;p21"/>
          <p:cNvSpPr txBox="1"/>
          <p:nvPr/>
        </p:nvSpPr>
        <p:spPr>
          <a:xfrm>
            <a:off x="709925" y="6277863"/>
            <a:ext cx="2564700" cy="15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(2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+ 3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(4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8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+ 10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xy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12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xy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15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1200" baseline="30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8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+ 22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xy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15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+ 5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(4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8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+ 6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xy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20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xy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15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1200" baseline="30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8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+ 26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xy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15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 i="1" u="sng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,</a:t>
            </a:r>
            <a:endParaRPr sz="1200" u="sng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88" name="Google Shape;288;p21"/>
          <p:cNvSpPr txBox="1"/>
          <p:nvPr/>
        </p:nvSpPr>
        <p:spPr>
          <a:xfrm>
            <a:off x="2862675" y="6277863"/>
            <a:ext cx="2498700" cy="15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(3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4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(2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xy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15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− 8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+ 20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xy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−8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+ 26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xy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15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1200" baseline="30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 baseline="30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(3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4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15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xy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20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8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xy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−6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+ 23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xy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20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 u="sng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89" name="Google Shape;289;p21"/>
          <p:cNvSpPr txBox="1"/>
          <p:nvPr/>
        </p:nvSpPr>
        <p:spPr>
          <a:xfrm>
            <a:off x="5072475" y="6277863"/>
            <a:ext cx="2596200" cy="15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(3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15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+ 20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xy +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xy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8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−8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+ 26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xy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15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1200" baseline="30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 baseline="300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(5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(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15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20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xy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xy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8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−8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26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xy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15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 u="sng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aphicFrame>
        <p:nvGraphicFramePr>
          <p:cNvPr id="290" name="Google Shape;290;p21"/>
          <p:cNvGraphicFramePr>
            <a:graphicFrameLocks noGrp="1"/>
          </p:cNvGraphicFramePr>
          <p:nvPr/>
        </p:nvGraphicFramePr>
        <p:xfrm>
          <a:off x="468002" y="62778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{9522CE43-8FD0-411B-AC19-F6327C6BDC40}</a:tableStyleId>
              </a:tblPr>
              <a:tblGrid>
                <a:gridCol w="301025"/>
              </a:tblGrid>
              <a:tr h="10835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505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91" name="Google Shape;291;p21"/>
          <p:cNvGraphicFramePr>
            <a:graphicFrameLocks noGrp="1"/>
          </p:cNvGraphicFramePr>
          <p:nvPr/>
        </p:nvGraphicFramePr>
        <p:xfrm>
          <a:off x="2449202" y="627786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{9522CE43-8FD0-411B-AC19-F6327C6BDC40}</a:tableStyleId>
              </a:tblPr>
              <a:tblGrid>
                <a:gridCol w="301025"/>
              </a:tblGrid>
              <a:tr h="10904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939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92" name="Google Shape;292;p21"/>
          <p:cNvGraphicFramePr>
            <a:graphicFrameLocks noGrp="1"/>
          </p:cNvGraphicFramePr>
          <p:nvPr/>
        </p:nvGraphicFramePr>
        <p:xfrm>
          <a:off x="4659002" y="627786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{9522CE43-8FD0-411B-AC19-F6327C6BDC40}</a:tableStyleId>
              </a:tblPr>
              <a:tblGrid>
                <a:gridCol w="301025"/>
              </a:tblGrid>
              <a:tr h="10756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775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93" name="Google Shape;293;p21"/>
          <p:cNvSpPr txBox="1"/>
          <p:nvPr/>
        </p:nvSpPr>
        <p:spPr>
          <a:xfrm>
            <a:off x="468000" y="8514700"/>
            <a:ext cx="6624000" cy="5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What do you notice about your answer to c) and e)? Can you explain why this happens.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They are the same because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(2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) 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97" name="Shape 297"/>
        <p:cNvGrpSpPr/>
        <p:nvPr/>
      </p:nvGrpSpPr>
      <p:grpSpPr>
        <a:xfrm>
          <a:off x="0" y="0"/>
          <a:ext cx="0" cy="0"/>
        </a:xfrm>
      </p:grpSpPr>
      <p:sp>
        <p:nvSpPr>
          <p:cNvPr id="298" name="Google Shape;298;p22"/>
          <p:cNvSpPr/>
          <p:nvPr/>
        </p:nvSpPr>
        <p:spPr>
          <a:xfrm>
            <a:off x="496510" y="2498360"/>
            <a:ext cx="304500" cy="2949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" name="Google Shape;299;p2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300" name="Google Shape;300;p22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More complex binomial products</a:t>
            </a:r>
            <a:endParaRPr/>
          </a:p>
        </p:txBody>
      </p:sp>
      <p:sp>
        <p:nvSpPr>
          <p:cNvPr id="301" name="Google Shape;301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22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303" name="Google Shape;303;p22"/>
          <p:cNvSpPr/>
          <p:nvPr/>
        </p:nvSpPr>
        <p:spPr>
          <a:xfrm>
            <a:off x="911348" y="1738027"/>
            <a:ext cx="1117800" cy="11178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22"/>
          <p:cNvSpPr txBox="1"/>
          <p:nvPr/>
        </p:nvSpPr>
        <p:spPr>
          <a:xfrm>
            <a:off x="2486336" y="1807371"/>
            <a:ext cx="1335900" cy="2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≡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64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1200" u="sng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305" name="Google Shape;305;p22"/>
          <p:cNvGrpSpPr/>
          <p:nvPr/>
        </p:nvGrpSpPr>
        <p:grpSpPr>
          <a:xfrm>
            <a:off x="933944" y="1470657"/>
            <a:ext cx="1159276" cy="222177"/>
            <a:chOff x="1409600" y="2038350"/>
            <a:chExt cx="1920285" cy="286200"/>
          </a:xfrm>
        </p:grpSpPr>
        <p:sp>
          <p:nvSpPr>
            <p:cNvPr id="306" name="Google Shape;306;p22"/>
            <p:cNvSpPr txBox="1"/>
            <p:nvPr/>
          </p:nvSpPr>
          <p:spPr>
            <a:xfrm>
              <a:off x="1767785" y="2038350"/>
              <a:ext cx="1562100" cy="28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r>
                <a:rPr lang="en-GB" sz="12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x          </a:t>
              </a:r>
              <a:r>
                <a:rPr lang="en-GB" sz="12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−8</a:t>
              </a:r>
              <a:r>
                <a:rPr lang="en-GB" sz="12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y</a:t>
              </a:r>
              <a:endParaRPr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307" name="Google Shape;307;p22"/>
            <p:cNvCxnSpPr/>
            <p:nvPr/>
          </p:nvCxnSpPr>
          <p:spPr>
            <a:xfrm>
              <a:off x="2554325" y="2324450"/>
              <a:ext cx="7047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308" name="Google Shape;308;p22"/>
            <p:cNvCxnSpPr/>
            <p:nvPr/>
          </p:nvCxnSpPr>
          <p:spPr>
            <a:xfrm>
              <a:off x="1409600" y="2324438"/>
              <a:ext cx="11304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grpSp>
        <p:nvGrpSpPr>
          <p:cNvPr id="309" name="Google Shape;309;p22"/>
          <p:cNvGrpSpPr/>
          <p:nvPr/>
        </p:nvGrpSpPr>
        <p:grpSpPr>
          <a:xfrm>
            <a:off x="467999" y="1738025"/>
            <a:ext cx="375515" cy="1126579"/>
            <a:chOff x="256400" y="1620009"/>
            <a:chExt cx="483724" cy="1451216"/>
          </a:xfrm>
        </p:grpSpPr>
        <p:grpSp>
          <p:nvGrpSpPr>
            <p:cNvPr id="310" name="Google Shape;310;p22"/>
            <p:cNvGrpSpPr/>
            <p:nvPr/>
          </p:nvGrpSpPr>
          <p:grpSpPr>
            <a:xfrm>
              <a:off x="256400" y="1620009"/>
              <a:ext cx="483625" cy="1440013"/>
              <a:chOff x="5959200" y="1619988"/>
              <a:chExt cx="483625" cy="1835113"/>
            </a:xfrm>
          </p:grpSpPr>
          <p:cxnSp>
            <p:nvCxnSpPr>
              <p:cNvPr id="311" name="Google Shape;311;p22"/>
              <p:cNvCxnSpPr/>
              <p:nvPr/>
            </p:nvCxnSpPr>
            <p:spPr>
              <a:xfrm rot="5400000">
                <a:off x="5877625" y="2185188"/>
                <a:ext cx="11304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312" name="Google Shape;312;p22"/>
              <p:cNvCxnSpPr/>
              <p:nvPr/>
            </p:nvCxnSpPr>
            <p:spPr>
              <a:xfrm rot="5400000">
                <a:off x="6090475" y="3102750"/>
                <a:ext cx="7047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sp>
            <p:nvSpPr>
              <p:cNvPr id="313" name="Google Shape;313;p22"/>
              <p:cNvSpPr txBox="1"/>
              <p:nvPr/>
            </p:nvSpPr>
            <p:spPr>
              <a:xfrm>
                <a:off x="5959200" y="1953448"/>
                <a:ext cx="447000" cy="57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None/>
                </a:pPr>
                <a:r>
                  <a:rPr lang="en-GB" sz="1200" i="1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  </a:t>
                </a:r>
                <a:r>
                  <a:rPr lang="en-GB" sz="1200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2</a:t>
                </a:r>
                <a:r>
                  <a:rPr lang="en-GB" sz="1200" i="1">
                    <a:solidFill>
                      <a:srgbClr val="222222"/>
                    </a:solidFill>
                    <a:latin typeface="Times"/>
                    <a:ea typeface="Times"/>
                    <a:cs typeface="Times"/>
                    <a:sym typeface="Times"/>
                  </a:rPr>
                  <a:t>x </a:t>
                </a:r>
                <a:endParaRPr sz="120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  <p:sp>
          <p:nvSpPr>
            <p:cNvPr id="314" name="Google Shape;314;p22"/>
            <p:cNvSpPr txBox="1"/>
            <p:nvPr/>
          </p:nvSpPr>
          <p:spPr>
            <a:xfrm>
              <a:off x="293124" y="2617625"/>
              <a:ext cx="447000" cy="45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30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r>
                <a:rPr lang="en-GB" sz="1200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8</a:t>
              </a:r>
              <a:r>
                <a:rPr lang="en-GB" sz="12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y</a:t>
              </a:r>
              <a:r>
                <a:rPr lang="en-GB" sz="2000" i="1">
                  <a:solidFill>
                    <a:srgbClr val="222222"/>
                  </a:solidFill>
                  <a:latin typeface="Times"/>
                  <a:ea typeface="Times"/>
                  <a:cs typeface="Times"/>
                  <a:sym typeface="Times"/>
                </a:rPr>
                <a:t> </a:t>
              </a:r>
              <a:endParaRPr sz="18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315" name="Google Shape;315;p22"/>
          <p:cNvSpPr/>
          <p:nvPr/>
        </p:nvSpPr>
        <p:spPr>
          <a:xfrm>
            <a:off x="900383" y="1741872"/>
            <a:ext cx="666600" cy="6684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1200" i="1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16" name="Google Shape;316;p22"/>
          <p:cNvSpPr/>
          <p:nvPr/>
        </p:nvSpPr>
        <p:spPr>
          <a:xfrm>
            <a:off x="1567126" y="1741870"/>
            <a:ext cx="451200" cy="6684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−8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endParaRPr sz="1200" i="1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17" name="Google Shape;317;p22"/>
          <p:cNvSpPr/>
          <p:nvPr/>
        </p:nvSpPr>
        <p:spPr>
          <a:xfrm>
            <a:off x="900385" y="2405659"/>
            <a:ext cx="666600" cy="4521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8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endParaRPr sz="12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18" name="Google Shape;318;p22"/>
          <p:cNvSpPr/>
          <p:nvPr/>
        </p:nvSpPr>
        <p:spPr>
          <a:xfrm>
            <a:off x="1562574" y="2405645"/>
            <a:ext cx="452100" cy="4521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−64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1200" baseline="30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19" name="Google Shape;319;p22"/>
          <p:cNvSpPr txBox="1"/>
          <p:nvPr/>
        </p:nvSpPr>
        <p:spPr>
          <a:xfrm>
            <a:off x="496510" y="720000"/>
            <a:ext cx="6395100" cy="6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5) Izzy wants to find the expanded form of the product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8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Spot and correct any mistakes she has made.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0" name="Google Shape;320;p22"/>
          <p:cNvSpPr txBox="1"/>
          <p:nvPr/>
        </p:nvSpPr>
        <p:spPr>
          <a:xfrm>
            <a:off x="496510" y="3492589"/>
            <a:ext cx="6595500" cy="9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6) Can you write two binomials which will have the product 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64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Is there more than one way?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8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)(2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8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or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(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8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)(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8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and any rearrangement of terms within the binomials.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321" name="Google Shape;32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6618" y="759358"/>
            <a:ext cx="634863" cy="2135035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2"/>
          <p:cNvSpPr txBox="1"/>
          <p:nvPr/>
        </p:nvSpPr>
        <p:spPr>
          <a:xfrm>
            <a:off x="2113146" y="2113371"/>
            <a:ext cx="4199100" cy="2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binomial on the height of the square should have a term of negative 8. The partial products on the bottom row should be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−8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 </a:t>
            </a:r>
            <a:r>
              <a:rPr lang="en-GB" sz="1200" i="1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and </a:t>
            </a:r>
            <a:r>
              <a:rPr lang="en-GB" sz="1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64</a:t>
            </a:r>
            <a:r>
              <a:rPr lang="en-GB" sz="12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1200" baseline="30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3" name="Google Shape;323;p22"/>
          <p:cNvSpPr/>
          <p:nvPr/>
        </p:nvSpPr>
        <p:spPr>
          <a:xfrm>
            <a:off x="1081339" y="2498360"/>
            <a:ext cx="304500" cy="2949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4" name="Google Shape;324;p22"/>
          <p:cNvSpPr/>
          <p:nvPr/>
        </p:nvSpPr>
        <p:spPr>
          <a:xfrm>
            <a:off x="1567132" y="2498360"/>
            <a:ext cx="452100" cy="2949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145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11">
      <vt:lpstr>Arial</vt:lpstr>
      <vt:lpstr>Lexend</vt:lpstr>
      <vt:lpstr>Kalam</vt:lpstr>
      <vt:lpstr>Lexend Medium</vt:lpstr>
      <vt:lpstr>Lexend Light</vt:lpstr>
      <vt:lpstr>Calibri</vt:lpstr>
      <vt:lpstr>Times</vt:lpstr>
      <vt:lpstr>simple-light-2</vt:lpstr>
      <vt:lpstr>More complex binomial products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2024-02-06T11:41:41.773</cp:lastPrinted>
  <dcterms:created xsi:type="dcterms:W3CDTF">2024-02-06T11:41:41Z</dcterms:created>
  <dcterms:modified xsi:type="dcterms:W3CDTF">2024-02-06T11:38:41Z</dcterms:modified>
</cp:coreProperties>
</file>