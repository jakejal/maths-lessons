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5" name="Shape 215"/>
        <p:cNvGrpSpPr/>
        <p:nvPr/>
      </p:nvGrpSpPr>
      <p:grpSpPr>
        <a:xfrm>
          <a:off x="0" y="0"/>
          <a:ext cx="0" cy="0"/>
        </a:xfrm>
      </p:grpSpPr>
      <p:sp>
        <p:nvSpPr>
          <p:cNvPr id="216" name="Google Shape;216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4.png" /><Relationship Id="rId11" Type="http://schemas.openxmlformats.org/officeDocument/2006/relationships/image" Target="../media/image15.png" /><Relationship Id="rId12" Type="http://schemas.openxmlformats.org/officeDocument/2006/relationships/image" Target="../media/image16.png" /><Relationship Id="rId13" Type="http://schemas.openxmlformats.org/officeDocument/2006/relationships/image" Target="../media/image17.png" /><Relationship Id="rId14" Type="http://schemas.openxmlformats.org/officeDocument/2006/relationships/image" Target="../media/image18.png" /><Relationship Id="rId15" Type="http://schemas.openxmlformats.org/officeDocument/2006/relationships/image" Target="../media/image19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10" Type="http://schemas.openxmlformats.org/officeDocument/2006/relationships/image" Target="../media/image27.png" /><Relationship Id="rId11" Type="http://schemas.openxmlformats.org/officeDocument/2006/relationships/image" Target="../media/image28.png" /><Relationship Id="rId12" Type="http://schemas.openxmlformats.org/officeDocument/2006/relationships/image" Target="../media/image29.png" /><Relationship Id="rId13" Type="http://schemas.openxmlformats.org/officeDocument/2006/relationships/image" Target="../media/image30.png" /><Relationship Id="rId14" Type="http://schemas.openxmlformats.org/officeDocument/2006/relationships/image" Target="../media/image31.png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20.png" /><Relationship Id="rId4" Type="http://schemas.openxmlformats.org/officeDocument/2006/relationships/image" Target="../media/image21.png" /><Relationship Id="rId5" Type="http://schemas.openxmlformats.org/officeDocument/2006/relationships/image" Target="../media/image22.png" /><Relationship Id="rId6" Type="http://schemas.openxmlformats.org/officeDocument/2006/relationships/image" Target="../media/image23.png" /><Relationship Id="rId7" Type="http://schemas.openxmlformats.org/officeDocument/2006/relationships/image" Target="../media/image24.png" /><Relationship Id="rId8" Type="http://schemas.openxmlformats.org/officeDocument/2006/relationships/image" Target="../media/image25.png" /><Relationship Id="rId9" Type="http://schemas.openxmlformats.org/officeDocument/2006/relationships/image" Target="../media/image26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Changing the subject to suit the context</a:t>
            </a:r>
            <a:endParaRPr/>
          </a:p>
        </p:txBody>
      </p:sp>
      <p:cxnSp>
        <p:nvCxnSpPr>
          <p:cNvPr id="173" name="Google Shape;173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4" name="Google Shape;174;p20"/>
          <p:cNvSpPr txBox="1"/>
          <p:nvPr/>
        </p:nvSpPr>
        <p:spPr>
          <a:xfrm>
            <a:off x="468000" y="1795900"/>
            <a:ext cx="5005800" cy="8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a) Rearrange the formula for circumference of a circle so that it would be more efficient for finding the radius if you knew the circumference.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74750" y="1436075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Rearranging additive and multiplicative steps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5715039" y="1896097"/>
            <a:ext cx="1176600" cy="11766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7" name="Google Shape;177;p20"/>
          <p:cNvCxnSpPr/>
          <p:nvPr/>
        </p:nvCxnSpPr>
        <p:spPr>
          <a:xfrm>
            <a:off x="5741619" y="2328835"/>
            <a:ext cx="521400" cy="143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78" name="Google Shape;178;p20"/>
          <p:cNvSpPr/>
          <p:nvPr/>
        </p:nvSpPr>
        <p:spPr>
          <a:xfrm>
            <a:off x="6284247" y="2465356"/>
            <a:ext cx="37800" cy="37800"/>
          </a:xfrm>
          <a:prstGeom prst="ellipse">
            <a:avLst/>
          </a:prstGeom>
          <a:solidFill>
            <a:srgbClr val="0000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5910526" y="2401668"/>
            <a:ext cx="134700" cy="1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6788743" y="1853567"/>
            <a:ext cx="3033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3214712" y="2556823"/>
            <a:ext cx="8925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2π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2" name="Google Shape;182;p20" descr="&lt;math xmlns=&quot;http://www.w3.org/1998/Math/MathML&quot; display=&quot;block&quot; data-is-equatio=&quot;1&quot; data-latex=&quot;\frac{C}{2\pi}=r&quot;&gt;&lt;mfrac&gt;&lt;mi&gt;C&lt;/mi&gt;&lt;mrow&gt;&lt;mn&gt;2&lt;/mn&gt;&lt;mi&gt;π&lt;/mi&gt;&lt;/mrow&gt;&lt;/mfrac&gt;&lt;mo&gt;=&lt;/mo&gt;&lt;mi&gt;r&lt;/mi&gt;&lt;/math&gt;" title="C over 2 pi equals r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4705" y="2872841"/>
            <a:ext cx="483300" cy="338318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 flipH="1">
            <a:off x="652000" y="2862825"/>
            <a:ext cx="23211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, the unknown we want to find, is now the subject.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68000" y="3529850"/>
            <a:ext cx="5149800" cy="6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b) Rearrange the formula for area of a triangle so that it would be more efficient for finding the height if you knew the area and the base.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5714101" y="3920875"/>
            <a:ext cx="6060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Height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6551219" y="4571716"/>
            <a:ext cx="3873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Base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7" name="Google Shape;187;p20"/>
          <p:cNvCxnSpPr/>
          <p:nvPr/>
        </p:nvCxnSpPr>
        <p:spPr>
          <a:xfrm flipH="1">
            <a:off x="6333418" y="3559734"/>
            <a:ext cx="0" cy="889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8" name="Google Shape;188;p20"/>
          <p:cNvCxnSpPr/>
          <p:nvPr/>
        </p:nvCxnSpPr>
        <p:spPr>
          <a:xfrm flipH="1">
            <a:off x="6408825" y="4513714"/>
            <a:ext cx="628200" cy="5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9" name="Google Shape;189;p20"/>
          <p:cNvSpPr/>
          <p:nvPr/>
        </p:nvSpPr>
        <p:spPr>
          <a:xfrm>
            <a:off x="6416386" y="3567026"/>
            <a:ext cx="606000" cy="867300"/>
          </a:xfrm>
          <a:prstGeom prst="rtTriangle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0" name="Google Shape;190;p20" descr="&lt;math xmlns=&quot;http://www.w3.org/1998/Math/MathML&quot; display=&quot;block&quot; data-is-equatio=&quot;1&quot; data-latex=&quot;A=\frac{1}{2}bh&quot;&gt;&lt;mi&gt;A&lt;/mi&gt;&lt;mo&gt;=&lt;/mo&gt;&lt;mfrac&gt;&lt;mn&gt;1&lt;/mn&gt;&lt;mn&gt;2&lt;/mn&gt;&lt;/mfrac&gt;&lt;mi&gt;b&lt;/mi&gt;&lt;mi&gt;h&lt;/mi&gt;&lt;/math&gt;" title="A equals one half b 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2415" y="3995506"/>
            <a:ext cx="784596" cy="433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 descr="&lt;math xmlns=&quot;http://www.w3.org/1998/Math/MathML&quot; display=&quot;block&quot; data-is-equatio=&quot;1&quot; data-latex=&quot;2A=bh&quot;&gt;&lt;mn&gt;2&lt;/mn&gt;&lt;mi&gt;A&lt;/mi&gt;&lt;mo&gt;=&lt;/mo&gt;&lt;mi&gt;b&lt;/mi&gt;&lt;mi&gt;h&lt;/mi&gt;&lt;/math&gt;" title="2 A equals b 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76553" y="4726735"/>
            <a:ext cx="696718" cy="142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 descr="&lt;math xmlns=&quot;http://www.w3.org/1998/Math/MathML&quot; display=&quot;block&quot; data-is-equatio=&quot;1&quot; data-latex=&quot;\frac{2A}{b}=h&quot;&gt;&lt;mfrac&gt;&lt;mrow&gt;&lt;mn&gt;2&lt;/mn&gt;&lt;mi&gt;A&lt;/mi&gt;&lt;/mrow&gt;&lt;mi&gt;b&lt;/mi&gt;&lt;/mfrac&gt;&lt;mo&gt;=&lt;/mo&gt;&lt;mi&gt;h&lt;/mi&gt;&lt;/math&gt;" title="2 A over b equals 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92994" y="5188280"/>
            <a:ext cx="696716" cy="45063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 flipH="1">
            <a:off x="4206308" y="5203139"/>
            <a:ext cx="1883400" cy="4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, the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unknown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we want to find, is now the subject.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468000" y="5784522"/>
            <a:ext cx="5550600" cy="11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c) Rearrange the formula for surface area of a cylinder so that it would be more efficient for finding the height if you knew the surface area and radius.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3137360" y="6269171"/>
            <a:ext cx="16854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2π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+ 2π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rh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6" name="Google Shape;196;p20" descr="&lt;math xmlns=&quot;http://www.w3.org/1998/Math/MathML&quot; data-is-equatio=&quot;1&quot; data-equatio-url=&quot;https://equatio-api.texthelp.com/desmos/get/09-11-2023/0d5801b1-7d1e-4358-947e-2588a90f8af8&quot; data-equatio-type=&quot;image&quot;&gt;&lt;mglyph src=&quot;https://equatio-api.texthelp.com/desmos/get/09-11-2023/0d5801b1-7d1e-4358-947e-2588a90f8af8&quot; alt=&quot;Equatio Image&quot;/&gt;&lt;/math&gt;" title="Equatio Image"/>
          <p:cNvPicPr preferRelativeResize="0"/>
          <p:nvPr/>
        </p:nvPicPr>
        <p:blipFill>
          <a:blip r:embed="rId7">
            <a:alphaModFix/>
          </a:blip>
          <a:srcRect l="58827"/>
          <a:stretch>
            <a:fillRect/>
          </a:stretch>
        </p:blipFill>
        <p:spPr>
          <a:xfrm>
            <a:off x="6018503" y="5878064"/>
            <a:ext cx="880008" cy="100720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7" name="Google Shape;197;p20"/>
          <p:cNvCxnSpPr/>
          <p:nvPr/>
        </p:nvCxnSpPr>
        <p:spPr>
          <a:xfrm flipH="1">
            <a:off x="6941373" y="5976737"/>
            <a:ext cx="0" cy="809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8" name="Google Shape;198;p20"/>
          <p:cNvCxnSpPr/>
          <p:nvPr/>
        </p:nvCxnSpPr>
        <p:spPr>
          <a:xfrm rot="10800000">
            <a:off x="6507982" y="5978906"/>
            <a:ext cx="371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9" name="Google Shape;199;p20"/>
          <p:cNvSpPr txBox="1"/>
          <p:nvPr/>
        </p:nvSpPr>
        <p:spPr>
          <a:xfrm>
            <a:off x="6635791" y="5708672"/>
            <a:ext cx="1038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6988296" y="6269175"/>
            <a:ext cx="1038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2724682" y="6637350"/>
            <a:ext cx="16854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2π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2π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rh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2" name="Google Shape;202;p20" descr="&lt;math xmlns=&quot;http://www.w3.org/1998/Math/MathML&quot; display=&quot;block&quot; data-is-equatio=&quot;1&quot; data-latex=&quot;\frac{A\ −\ 2\pi r^2}{2\pi r}=h&quot;&gt;&lt;mfrac&gt;&lt;mrow&gt;&lt;mi&gt;A&lt;/mi&gt;&lt;mtext&gt;&lt;/mtext&gt;&lt;mo&gt;−&lt;/mo&gt;&lt;mtext&gt;&lt;/mtext&gt;&lt;mn&gt;2&lt;/mn&gt;&lt;mi&gt;π&lt;/mi&gt;&lt;msup&gt;&lt;mi&gt;r&lt;/mi&gt;&lt;mn&gt;2&lt;/mn&gt;&lt;/msup&gt;&lt;/mrow&gt;&lt;mrow&gt;&lt;mn&gt;2&lt;/mn&gt;&lt;mi&gt;π&lt;/mi&gt;&lt;mi&gt;r&lt;/mi&gt;&lt;/mrow&gt;&lt;/mfrac&gt;&lt;mo&gt;=&lt;/mo&gt;&lt;mi&gt;h&lt;/mi&gt;&lt;/math&gt;" title="the fraction with numerator A minus 2 pi r squared and denominator 2 pi r equals h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28744" y="6905718"/>
            <a:ext cx="1072893" cy="38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 flipH="1">
            <a:off x="3698009" y="6937210"/>
            <a:ext cx="2357100" cy="5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, the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unknown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we want to find, is now the subject.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481782" y="7484473"/>
            <a:ext cx="6596700" cy="6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This is the formula for converting Celsius into Fahrenheit.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Show two ways to rearrange the formula so that it converts Fahrenheit into Celsius.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5" name="Google Shape;205;p20" descr="&lt;math xmlns=&quot;http://www.w3.org/1998/Math/MathML&quot; display=&quot;block&quot; data-is-equatio=&quot;1&quot; data-latex=&quot;F=\frac{9c}{5}+32&quot;&gt;&lt;mi&gt;F&lt;/mi&gt;&lt;mo&gt;=&lt;/mo&gt;&lt;mfrac&gt;&lt;mrow&gt;&lt;mn&gt;9&lt;/mn&gt;&lt;mi&gt;c&lt;/mi&gt;&lt;/mrow&gt;&lt;mn&gt;5&lt;/mn&gt;&lt;/mfrac&gt;&lt;mo&gt;+&lt;/mo&gt;&lt;mn&gt;32&lt;/mn&gt;&lt;/math&gt;" title="F equals 9 c over 5 plus 3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588529" y="8050202"/>
            <a:ext cx="960078" cy="375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 descr="&lt;math xmlns=&quot;http://www.w3.org/1998/Math/MathML&quot; display=&quot;block&quot; data-is-equatio=&quot;1&quot; data-latex=&quot;F=\frac{9c}{5}+32&quot;&gt;&lt;mi&gt;F&lt;/mi&gt;&lt;mo&gt;=&lt;/mo&gt;&lt;mfrac&gt;&lt;mrow&gt;&lt;mn&gt;9&lt;/mn&gt;&lt;mi&gt;c&lt;/mi&gt;&lt;/mrow&gt;&lt;mn&gt;5&lt;/mn&gt;&lt;/mfrac&gt;&lt;mo&gt;+&lt;/mo&gt;&lt;mn&gt;32&lt;/mn&gt;&lt;/math&gt;" title="F equals 9 c over 5 plus 3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672462" y="8050202"/>
            <a:ext cx="960078" cy="375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 descr="&lt;math xmlns=&quot;http://www.w3.org/1998/Math/MathML&quot; display=&quot;block&quot; data-is-equatio=&quot;1&quot; data-latex=&quot;F-32=\frac{9c}{5}&quot;&gt;&lt;mi&gt;F&lt;/mi&gt;&lt;mo&gt;−&lt;/mo&gt;&lt;mn&gt;32&lt;/mn&gt;&lt;mo&gt;=&lt;/mo&gt;&lt;mfrac&gt;&lt;mrow&gt;&lt;mn&gt;9&lt;/mn&gt;&lt;mi&gt;c&lt;/mi&gt;&lt;/mrow&gt;&lt;mn&gt;5&lt;/mn&gt;&lt;/mfrac&gt;&lt;/math&gt;" title="F minus 32 equals 9 c over 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53779" y="8543814"/>
            <a:ext cx="1030163" cy="410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descr="&lt;math xmlns=&quot;http://www.w3.org/1998/Math/MathML&quot; display=&quot;block&quot; data-is-equatio=&quot;1&quot; data-latex=&quot;5\left(F-32\right)=9c&quot;&gt;&lt;mn&gt;5&lt;/mn&gt;&lt;mrow data-mjx-texclass=&quot;INNER&quot;&gt;&lt;mo data-mjx-texclass=&quot;OPEN&quot;&gt;(&lt;/mo&gt;&lt;mi&gt;F&lt;/mi&gt;&lt;mo&gt;−&lt;/mo&gt;&lt;mn&gt;32&lt;/mn&gt;&lt;mo data-mjx-texclass=&quot;CLOSE&quot;&gt;)&lt;/mo&gt;&lt;/mrow&gt;&lt;mo&gt;=&lt;/mo&gt;&lt;mn&gt;9&lt;/mn&gt;&lt;mi&gt;c&lt;/mi&gt;&lt;/math&gt;" title="5 times open paren F minus 32 close paren equals 9 c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49000" y="9112046"/>
            <a:ext cx="1291502" cy="179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 descr="&lt;math xmlns=&quot;http://www.w3.org/1998/Math/MathML&quot; display=&quot;block&quot; data-is-equatio=&quot;1&quot; data-latex=&quot;\frac{5}{9}\left(F-32\right)=c&quot;&gt;&lt;mfrac&gt;&lt;mn&gt;5&lt;/mn&gt;&lt;mn&gt;9&lt;/mn&gt;&lt;/mfrac&gt;&lt;mrow data-mjx-texclass=&quot;INNER&quot;&gt;&lt;mo data-mjx-texclass=&quot;OPEN&quot;&gt;(&lt;/mo&gt;&lt;mi&gt;F&lt;/mi&gt;&lt;mo&gt;−&lt;/mo&gt;&lt;mn&gt;32&lt;/mn&gt;&lt;mo data-mjx-texclass=&quot;CLOSE&quot;&gt;)&lt;/mo&gt;&lt;/mrow&gt;&lt;mo&gt;=&lt;/mo&gt;&lt;mi&gt;c&lt;/mi&gt;&lt;/math&gt;" title="five ninths times open paren F minus 32 close paren equals c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99958" y="9336610"/>
            <a:ext cx="1130444" cy="398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 descr="&lt;math xmlns=&quot;http://www.w3.org/1998/Math/MathML&quot; display=&quot;block&quot; data-is-equatio=&quot;1&quot; data-latex=&quot;5F=9c+160&quot;&gt;&lt;mn&gt;5&lt;/mn&gt;&lt;mi&gt;F&lt;/mi&gt;&lt;mo&gt;=&lt;/mo&gt;&lt;mn&gt;9&lt;/mn&gt;&lt;mi&gt;c&lt;/mi&gt;&lt;mo&gt;+&lt;/mo&gt;&lt;mn&gt;160&lt;/mn&gt;&lt;/math&gt;" title="5 F equals 9 c plus 16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554484" y="8622649"/>
            <a:ext cx="1181066" cy="144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 descr="&lt;math xmlns=&quot;http://www.w3.org/1998/Math/MathML&quot; display=&quot;block&quot; data-is-equatio=&quot;1&quot; data-latex=&quot;5F-160=9c&quot;&gt;&lt;mn&gt;5&lt;/mn&gt;&lt;mi&gt;F&lt;/mi&gt;&lt;mo&gt;−&lt;/mo&gt;&lt;mn&gt;160&lt;/mn&gt;&lt;mo&gt;=&lt;/mo&gt;&lt;mn&gt;9&lt;/mn&gt;&lt;mi&gt;c&lt;/mi&gt;&lt;/math&gt;" title="5 F minus 160 equals 9 c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037209" y="9037490"/>
            <a:ext cx="1181066" cy="141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 descr="&lt;math xmlns=&quot;http://www.w3.org/1998/Math/MathML&quot; display=&quot;block&quot; data-is-equatio=&quot;1&quot; data-latex=&quot;\frac{5F-160}{9}=c&quot;&gt;&lt;mfrac&gt;&lt;mrow&gt;&lt;mn&gt;5&lt;/mn&gt;&lt;mi&gt;F&lt;/mi&gt;&lt;mo&gt;−&lt;/mo&gt;&lt;mn&gt;160&lt;/mn&gt;&lt;/mrow&gt;&lt;mn&gt;9&lt;/mn&gt;&lt;/mfrac&gt;&lt;mo&gt;=&lt;/mo&gt;&lt;mi&gt;c&lt;/mi&gt;&lt;/math&gt;" title="the fraction with numerator 5 F minus 160 and denominator 9 equals c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963303" y="9305224"/>
            <a:ext cx="1160255" cy="420752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/>
          <p:nvPr/>
        </p:nvSpPr>
        <p:spPr>
          <a:xfrm flipH="1">
            <a:off x="2409579" y="8537315"/>
            <a:ext cx="1371300" cy="5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Step one: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−32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both sides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 flipH="1">
            <a:off x="5925662" y="8495185"/>
            <a:ext cx="1114500" cy="5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Step one: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×5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all terms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8" name="Shape 218"/>
        <p:cNvGrpSpPr/>
        <p:nvPr/>
      </p:nvGrpSpPr>
      <p:grpSpPr>
        <a:xfrm>
          <a:off x="0" y="0"/>
          <a:ext cx="0" cy="0"/>
        </a:xfrm>
      </p:grpSpPr>
      <p:sp>
        <p:nvSpPr>
          <p:cNvPr id="219" name="Google Shape;219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20" name="Google Shape;220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Changing the subject to suit the context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479875" y="720000"/>
            <a:ext cx="6612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Rearranging equations to find the gradient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468000" y="1588543"/>
            <a:ext cx="2013900" cy="3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+ 4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3608427" y="1588543"/>
            <a:ext cx="2013900" cy="3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+ 6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−18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930732" y="1915116"/>
            <a:ext cx="1248600" cy="3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12 −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7" name="Google Shape;227;p21" descr="&lt;math xmlns=&quot;http://www.w3.org/1998/Math/MathML&quot; display=&quot;block&quot; data-is-equatio=&quot;1&quot; data-latex=&quot;\frac{1}{4}\times4y=\frac{1}{4}\times\left(12-x\right)&quot;&gt;&lt;mfrac&gt;&lt;mn&gt;1&lt;/mn&gt;&lt;mn&gt;4&lt;/mn&gt;&lt;/mfrac&gt;&lt;mo&gt;×&lt;/mo&gt;&lt;mn&gt;4&lt;/mn&gt;&lt;mi&gt;y&lt;/mi&gt;&lt;mo&gt;=&lt;/mo&gt;&lt;mfrac&gt;&lt;mn&gt;1&lt;/mn&gt;&lt;mn&gt;4&lt;/mn&gt;&lt;/mfrac&gt;&lt;mo&gt;×&lt;/mo&gt;&lt;mrow data-mjx-texclass=&quot;INNER&quot;&gt;&lt;mo data-mjx-texclass=&quot;OPEN&quot;&gt;(&lt;/mo&gt;&lt;mn&gt;12&lt;/mn&gt;&lt;mo&gt;−&lt;/mo&gt;&lt;mi&gt;x&lt;/mi&gt;&lt;mo data-mjx-texclass=&quot;CLOSE&quot;&gt;)&lt;/mo&gt;&lt;/mrow&gt;&lt;/math&gt;" title="one fourth times 4 y equals one fourth times open paren 12 minus x close pare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939" y="2169200"/>
            <a:ext cx="1664583" cy="3690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1" descr="&lt;math xmlns=&quot;http://www.w3.org/1998/Math/MathML&quot; display=&quot;block&quot; data-is-equatio=&quot;1&quot; data-latex=&quot;y=3-\frac{1}{4}x&quot;&gt;&lt;mi&gt;y&lt;/mi&gt;&lt;mo&gt;=&lt;/mo&gt;&lt;mn&gt;3&lt;/mn&gt;&lt;mo&gt;−&lt;/mo&gt;&lt;mfrac&gt;&lt;mn&gt;1&lt;/mn&gt;&lt;mn&gt;4&lt;/mn&gt;&lt;/mfrac&gt;&lt;mi&gt;x&lt;/mi&gt;&lt;/math&gt;" title="y equals 3 minus one fourth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7959" y="2687761"/>
            <a:ext cx="845792" cy="36902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1"/>
          <p:cNvSpPr txBox="1"/>
          <p:nvPr/>
        </p:nvSpPr>
        <p:spPr>
          <a:xfrm flipH="1">
            <a:off x="536231" y="3279820"/>
            <a:ext cx="26751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radient      ,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y-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intercept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0" name="Google Shape;230;p21" descr="&lt;math xmlns=&quot;http://www.w3.org/1998/Math/MathML&quot; display=&quot;block&quot; data-is-equatio=&quot;1&quot; data-latex=&quot;-\frac{1}{4}&quot;&gt;&lt;mo&gt;−&lt;/mo&gt;&lt;mfrac&gt;&lt;mn&gt;1&lt;/mn&gt;&lt;mn&gt;4&lt;/mn&gt;&lt;/mfrac&gt;&lt;/math&gt;" title="negative one four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05200" y="3217025"/>
            <a:ext cx="221147" cy="33051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1"/>
          <p:cNvSpPr txBox="1"/>
          <p:nvPr/>
        </p:nvSpPr>
        <p:spPr>
          <a:xfrm>
            <a:off x="4150860" y="1915116"/>
            <a:ext cx="1475700" cy="3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− 18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2" name="Google Shape;232;p21" descr="&lt;math xmlns=&quot;http://www.w3.org/1998/Math/MathML&quot; display=&quot;block&quot; data-is-equatio=&quot;1&quot; data-latex=&quot;\frac{1}{6}\times6y=\frac{1}{6}\times\left(-2x-18\right)&quot;&gt;&lt;mfrac&gt;&lt;mn&gt;1&lt;/mn&gt;&lt;mn&gt;6&lt;/mn&gt;&lt;/mfrac&gt;&lt;mo&gt;×&lt;/mo&gt;&lt;mn&gt;6&lt;/mn&gt;&lt;mi&gt;y&lt;/mi&gt;&lt;mo&gt;=&lt;/mo&gt;&lt;mfrac&gt;&lt;mn&gt;1&lt;/mn&gt;&lt;mn&gt;6&lt;/mn&gt;&lt;/mfrac&gt;&lt;mo&gt;×&lt;/mo&gt;&lt;mrow data-mjx-texclass=&quot;INNER&quot;&gt;&lt;mo data-mjx-texclass=&quot;OPEN&quot;&gt;(&lt;/mo&gt;&lt;mo&gt;−&lt;/mo&gt;&lt;mn&gt;2&lt;/mn&gt;&lt;mi&gt;x&lt;/mi&gt;&lt;mo&gt;−&lt;/mo&gt;&lt;mn&gt;18&lt;/mn&gt;&lt;mo data-mjx-texclass=&quot;CLOSE&quot;&gt;)&lt;/mo&gt;&lt;/mrow&gt;&lt;/math&gt;" title="one sixth times 6 y equals one sixth times open paren negative 2 x minus 18 close pare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91795" y="2181167"/>
            <a:ext cx="1774637" cy="351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1" descr="&lt;math xmlns=&quot;http://www.w3.org/1998/Math/MathML&quot; display=&quot;block&quot; data-is-equatio=&quot;1&quot; data-latex=&quot;y=-\frac{1}{3}x-3&quot;&gt;&lt;mi&gt;y&lt;/mi&gt;&lt;mo&gt;=&lt;/mo&gt;&lt;mo&gt;−&lt;/mo&gt;&lt;mfrac&gt;&lt;mn&gt;1&lt;/mn&gt;&lt;mn&gt;3&lt;/mn&gt;&lt;/mfrac&gt;&lt;mi&gt;x&lt;/mi&gt;&lt;mo&gt;−&lt;/mo&gt;&lt;mn&gt;3&lt;/mn&gt;&lt;/math&gt;" title="y equals negative one third x minus 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80609" y="2694562"/>
            <a:ext cx="938134" cy="362227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1"/>
          <p:cNvSpPr txBox="1"/>
          <p:nvPr/>
        </p:nvSpPr>
        <p:spPr>
          <a:xfrm flipH="1">
            <a:off x="3832884" y="3253124"/>
            <a:ext cx="22536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radient      ,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y-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intercept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−3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5" name="Google Shape;235;p21" descr="&lt;math xmlns=&quot;http://www.w3.org/1998/Math/MathML&quot; display=&quot;block&quot; data-is-equatio=&quot;1&quot; data-latex=&quot;-\frac{1}{3}&quot;&gt;&lt;mo&gt;−&lt;/mo&gt;&lt;mfrac&gt;&lt;mn&gt;1&lt;/mn&gt;&lt;mn&gt;3&lt;/mn&gt;&lt;/mfrac&gt;&lt;/math&gt;" title="negative one third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15772" y="3190192"/>
            <a:ext cx="221165" cy="33416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1"/>
          <p:cNvSpPr txBox="1"/>
          <p:nvPr/>
        </p:nvSpPr>
        <p:spPr>
          <a:xfrm>
            <a:off x="468000" y="1058650"/>
            <a:ext cx="6612000" cy="4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Work out the gradient and the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of the lines given by these equations by rearranging to make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subject.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479875" y="3757574"/>
            <a:ext cx="16035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1015584" y="4138944"/>
            <a:ext cx="11751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 + 2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 flipH="1">
            <a:off x="534003" y="5425454"/>
            <a:ext cx="1927500" cy="1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radient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y-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intercept 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703216" y="4520313"/>
            <a:ext cx="11751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− 15 =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1" name="Google Shape;241;p21" descr="&lt;math xmlns=&quot;http://www.w3.org/1998/Math/MathML&quot; display=&quot;block&quot; data-is-equatio=&quot;1&quot; data-latex=&quot;4x-\frac{15}{2}=y&quot;&gt;&lt;mn&gt;4&lt;/mn&gt;&lt;mi&gt;x&lt;/mi&gt;&lt;mo&gt;−&lt;/mo&gt;&lt;mfrac&gt;&lt;mn&gt;15&lt;/mn&gt;&lt;mn&gt;2&lt;/mn&gt;&lt;/mfrac&gt;&lt;mo&gt;=&lt;/mo&gt;&lt;mi&gt;y&lt;/mi&gt;&lt;/math&gt;" title="4 x minus fifteen halves equals y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46004" y="4894988"/>
            <a:ext cx="861117" cy="3378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1" descr="&lt;math xmlns=&quot;http://www.w3.org/1998/Math/MathML&quot; display=&quot;block&quot; data-is-equatio=&quot;1&quot; data-latex=&quot;-\frac{15}{2}&quot;&gt;&lt;mo&gt;−&lt;/mo&gt;&lt;mfrac&gt;&lt;mn&gt;15&lt;/mn&gt;&lt;mn&gt;2&lt;/mn&gt;&lt;/mfrac&gt;&lt;/math&gt;" title="negative fifteen halve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161698" y="5384920"/>
            <a:ext cx="264189" cy="29281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1"/>
          <p:cNvSpPr txBox="1"/>
          <p:nvPr/>
        </p:nvSpPr>
        <p:spPr>
          <a:xfrm>
            <a:off x="468000" y="5852173"/>
            <a:ext cx="6612000" cy="9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Rearrange this general form of a linear equation to make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subject and find an expression for the gradient and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when in this form.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1332590" y="6473678"/>
            <a:ext cx="1191000" cy="3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1651410" y="6817349"/>
            <a:ext cx="1191000" cy="3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6" name="Google Shape;246;p21" descr="&lt;math xmlns=&quot;http://www.w3.org/1998/Math/MathML&quot; display=&quot;block&quot; data-is-equatio=&quot;1&quot; data-latex=&quot;\frac{1}{b}\times by=\frac{1}{b}\times\left(c-ax\right)&quot;&gt;&lt;mfrac&gt;&lt;mn&gt;1&lt;/mn&gt;&lt;mi&gt;b&lt;/mi&gt;&lt;/mfrac&gt;&lt;mo&gt;×&lt;/mo&gt;&lt;mi&gt;b&lt;/mi&gt;&lt;mi&gt;y&lt;/mi&gt;&lt;mo&gt;=&lt;/mo&gt;&lt;mfrac&gt;&lt;mn&gt;1&lt;/mn&gt;&lt;mi&gt;b&lt;/mi&gt;&lt;/mfrac&gt;&lt;mo&gt;×&lt;/mo&gt;&lt;mrow data-mjx-texclass=&quot;INNER&quot;&gt;&lt;mo data-mjx-texclass=&quot;OPEN&quot;&gt;(&lt;/mo&gt;&lt;mi&gt;c&lt;/mi&gt;&lt;mo&gt;−&lt;/mo&gt;&lt;mi&gt;a&lt;/mi&gt;&lt;mi&gt;x&lt;/mi&gt;&lt;mo data-mjx-texclass=&quot;CLOSE&quot;&gt;)&lt;/mo&gt;&lt;/mrow&gt;&lt;/math&gt;" title="1 over b times b y equals 1 over b times open paren c minus a x close paren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302450" y="7130890"/>
            <a:ext cx="1562912" cy="35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1" descr="&lt;math xmlns=&quot;http://www.w3.org/1998/Math/MathML&quot; display=&quot;block&quot; data-is-equatio=&quot;1&quot; data-latex=&quot;y=\frac{c}{b}-\frac{a}{b}x&quot;&gt;&lt;mi&gt;y&lt;/mi&gt;&lt;mo&gt;=&lt;/mo&gt;&lt;mfrac&gt;&lt;mi&gt;c&lt;/mi&gt;&lt;mi&gt;b&lt;/mi&gt;&lt;/mfrac&gt;&lt;mo&gt;−&lt;/mo&gt;&lt;mfrac&gt;&lt;mi&gt;a&lt;/mi&gt;&lt;mi&gt;b&lt;/mi&gt;&lt;/mfrac&gt;&lt;mi&gt;x&lt;/mi&gt;&lt;/math&gt;" title="y equals c over b minus a over b x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689833" y="7628604"/>
            <a:ext cx="883946" cy="323134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1"/>
          <p:cNvSpPr txBox="1"/>
          <p:nvPr/>
        </p:nvSpPr>
        <p:spPr>
          <a:xfrm flipH="1">
            <a:off x="3419993" y="7365063"/>
            <a:ext cx="18774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For the form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the gradient is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and the 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-intercept is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49" name="Google Shape;249;p21" descr="&lt;math xmlns=&quot;http://www.w3.org/1998/Math/MathML&quot; display=&quot;block&quot; data-is-equatio=&quot;1&quot; data-latex=&quot;-\frac{a}{b}&quot;&gt;&lt;mo&gt;−&lt;/mo&gt;&lt;mfrac&gt;&lt;mi&gt;a&lt;/mi&gt;&lt;mi&gt;b&lt;/mi&gt;&lt;/mfrac&gt;&lt;/math&gt;" title="negative a over b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159654" y="7589312"/>
            <a:ext cx="240336" cy="323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1" descr="&lt;math xmlns=&quot;http://www.w3.org/1998/Math/MathML&quot; display=&quot;block&quot; data-is-equatio=&quot;1&quot; data-latex=&quot;\frac{c}{b}&quot;&gt;&lt;mfrac&gt;&lt;mi&gt;c&lt;/mi&gt;&lt;mi&gt;b&lt;/mi&gt;&lt;/mfrac&gt;&lt;/math&gt;" title="c over b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961799" y="7865476"/>
            <a:ext cx="104146" cy="3231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45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1">
      <vt:lpstr>Arial</vt:lpstr>
      <vt:lpstr>Lexend</vt:lpstr>
      <vt:lpstr>Kalam</vt:lpstr>
      <vt:lpstr>Lexend Medium</vt:lpstr>
      <vt:lpstr>Lexend Light</vt:lpstr>
      <vt:lpstr>Calibri</vt:lpstr>
      <vt:lpstr>Times New Roman</vt:lpstr>
      <vt:lpstr>Times</vt:lpstr>
      <vt:lpstr>simple-light-2</vt:lpstr>
      <vt:lpstr>Changing the subject to suit the context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2024-02-06T11:43:38.634</cp:lastPrinted>
  <dcterms:created xsi:type="dcterms:W3CDTF">2024-02-06T11:43:38Z</dcterms:created>
  <dcterms:modified xsi:type="dcterms:W3CDTF">2024-02-06T11:43:49Z</dcterms:modified>
</cp:coreProperties>
</file>