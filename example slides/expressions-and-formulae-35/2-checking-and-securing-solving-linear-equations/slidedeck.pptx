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57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3DA9383-A4A0-4073-A3BC-C317ACFAECE8}">
  <a:tblStyle styleId="{33DA9383-A4A0-4073-A3BC-C317ACFAECE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57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7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b0695b271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b0695b271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b0695b27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b0695b27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b0695b2715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b0695b2715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2b0695b2715_0_1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2b0695b2715_0_1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b0695b2715_0_1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b0695b2715_0_1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b0695b2715_0_1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b0695b2715_0_1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b0695b2715_0_1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b0695b2715_0_1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2b0695b2715_0_1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2b0695b2715_0_1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2b0695b2715_0_1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2b0695b2715_0_1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b0695b2715_0_1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b0695b2715_0_1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b0695b2715_0_1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2b0695b2715_0_1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b0695b2715_0_1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b0695b2715_0_1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2b0695b2715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2b0695b2715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2b0695b2715_0_1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2b0695b2715_0_1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2b0695b2715_0_1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2b0695b2715_0_1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2b0695b2715_0_2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2b0695b2715_0_2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2b0695b2715_0_1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2b0695b2715_0_1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2b0695b2715_0_2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2b0695b2715_0_2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b0695b2715_0_2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b0695b2715_0_2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b0695b2715_0_2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2b0695b2715_0_2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b0695b2715_0_2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b0695b2715_0_2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2b0695b2715_0_2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2b0695b2715_0_2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b0695b2715_0_2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2b0695b2715_0_2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2b0695b2715_0_27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2b0695b2715_0_27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2b0695b2715_0_2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2b0695b2715_0_2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2b0695b2715_0_2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2b0695b2715_0_2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2b0695b2715_0_2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b0695b2715_0_2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b0695b2715_0_2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b0695b2715_0_2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2b0695b2715_0_4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2b0695b2715_0_4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2b0695b2715_0_2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2b0695b2715_0_2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2b0695b2715_0_4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2b0695b2715_0_4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b37d957ba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2b37d957ba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2b0695b2715_0_4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2b0695b2715_0_4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b0695b2715_0_4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2b0695b2715_0_4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2b37d957ba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2b37d957ba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2b37d957ba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8" name="Google Shape;1288;g2b37d957ba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91.png"/><Relationship Id="rId5" Type="http://schemas.openxmlformats.org/officeDocument/2006/relationships/image" Target="../media/image27.png"/><Relationship Id="rId6" Type="http://schemas.openxmlformats.org/officeDocument/2006/relationships/image" Target="../media/image32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1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4.png"/><Relationship Id="rId7" Type="http://schemas.openxmlformats.org/officeDocument/2006/relationships/image" Target="../media/image27.png"/><Relationship Id="rId8" Type="http://schemas.openxmlformats.org/officeDocument/2006/relationships/image" Target="../media/image3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91.png"/><Relationship Id="rId4" Type="http://schemas.openxmlformats.org/officeDocument/2006/relationships/image" Target="../media/image30.png"/><Relationship Id="rId11" Type="http://schemas.openxmlformats.org/officeDocument/2006/relationships/image" Target="../media/image23.png"/><Relationship Id="rId10" Type="http://schemas.openxmlformats.org/officeDocument/2006/relationships/image" Target="../media/image37.png"/><Relationship Id="rId9" Type="http://schemas.openxmlformats.org/officeDocument/2006/relationships/image" Target="../media/image32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4.png"/><Relationship Id="rId8" Type="http://schemas.openxmlformats.org/officeDocument/2006/relationships/image" Target="../media/image2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5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 1">
  <p:cSld name="TITLE_AND_TWO_COLUMNS_1_1_5_1_3_1_1_1_1_3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6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9" name="Google Shape;749;p6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750" name="Google Shape;75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5.png"/><Relationship Id="rId4" Type="http://schemas.openxmlformats.org/officeDocument/2006/relationships/image" Target="../media/image5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8.png"/><Relationship Id="rId4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6.png"/><Relationship Id="rId4" Type="http://schemas.openxmlformats.org/officeDocument/2006/relationships/image" Target="../media/image5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6.png"/><Relationship Id="rId4" Type="http://schemas.openxmlformats.org/officeDocument/2006/relationships/image" Target="../media/image58.png"/><Relationship Id="rId5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7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2.png"/><Relationship Id="rId4" Type="http://schemas.openxmlformats.org/officeDocument/2006/relationships/image" Target="../media/image69.png"/><Relationship Id="rId5" Type="http://schemas.openxmlformats.org/officeDocument/2006/relationships/image" Target="../media/image68.png"/><Relationship Id="rId6" Type="http://schemas.openxmlformats.org/officeDocument/2006/relationships/image" Target="../media/image66.png"/><Relationship Id="rId7" Type="http://schemas.openxmlformats.org/officeDocument/2006/relationships/image" Target="../media/image64.png"/><Relationship Id="rId8" Type="http://schemas.openxmlformats.org/officeDocument/2006/relationships/image" Target="../media/image6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2.png"/><Relationship Id="rId4" Type="http://schemas.openxmlformats.org/officeDocument/2006/relationships/image" Target="../media/image64.png"/><Relationship Id="rId9" Type="http://schemas.openxmlformats.org/officeDocument/2006/relationships/image" Target="../media/image58.png"/><Relationship Id="rId5" Type="http://schemas.openxmlformats.org/officeDocument/2006/relationships/image" Target="../media/image65.png"/><Relationship Id="rId6" Type="http://schemas.openxmlformats.org/officeDocument/2006/relationships/image" Target="../media/image67.png"/><Relationship Id="rId7" Type="http://schemas.openxmlformats.org/officeDocument/2006/relationships/image" Target="../media/image71.png"/><Relationship Id="rId8" Type="http://schemas.openxmlformats.org/officeDocument/2006/relationships/image" Target="../media/image5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2.png"/><Relationship Id="rId4" Type="http://schemas.openxmlformats.org/officeDocument/2006/relationships/image" Target="../media/image5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6.png"/><Relationship Id="rId4" Type="http://schemas.openxmlformats.org/officeDocument/2006/relationships/image" Target="../media/image74.png"/><Relationship Id="rId5" Type="http://schemas.openxmlformats.org/officeDocument/2006/relationships/image" Target="../media/image73.png"/><Relationship Id="rId6" Type="http://schemas.openxmlformats.org/officeDocument/2006/relationships/image" Target="../media/image53.png"/><Relationship Id="rId7" Type="http://schemas.openxmlformats.org/officeDocument/2006/relationships/image" Target="../media/image7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5.png"/><Relationship Id="rId4" Type="http://schemas.openxmlformats.org/officeDocument/2006/relationships/image" Target="../media/image80.png"/><Relationship Id="rId5" Type="http://schemas.openxmlformats.org/officeDocument/2006/relationships/image" Target="../media/image78.png"/><Relationship Id="rId6" Type="http://schemas.openxmlformats.org/officeDocument/2006/relationships/image" Target="../media/image82.png"/><Relationship Id="rId7" Type="http://schemas.openxmlformats.org/officeDocument/2006/relationships/image" Target="../media/image81.png"/><Relationship Id="rId8" Type="http://schemas.openxmlformats.org/officeDocument/2006/relationships/image" Target="../media/image7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5.png"/><Relationship Id="rId4" Type="http://schemas.openxmlformats.org/officeDocument/2006/relationships/image" Target="../media/image80.png"/><Relationship Id="rId9" Type="http://schemas.openxmlformats.org/officeDocument/2006/relationships/image" Target="../media/image84.png"/><Relationship Id="rId5" Type="http://schemas.openxmlformats.org/officeDocument/2006/relationships/image" Target="../media/image78.png"/><Relationship Id="rId6" Type="http://schemas.openxmlformats.org/officeDocument/2006/relationships/image" Target="../media/image82.png"/><Relationship Id="rId7" Type="http://schemas.openxmlformats.org/officeDocument/2006/relationships/image" Target="../media/image81.png"/><Relationship Id="rId8" Type="http://schemas.openxmlformats.org/officeDocument/2006/relationships/image" Target="../media/image79.png"/><Relationship Id="rId10" Type="http://schemas.openxmlformats.org/officeDocument/2006/relationships/image" Target="../media/image8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6.png"/><Relationship Id="rId4" Type="http://schemas.openxmlformats.org/officeDocument/2006/relationships/image" Target="../media/image85.png"/><Relationship Id="rId5" Type="http://schemas.openxmlformats.org/officeDocument/2006/relationships/image" Target="../media/image87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3.png"/><Relationship Id="rId4" Type="http://schemas.openxmlformats.org/officeDocument/2006/relationships/image" Target="../media/image92.png"/><Relationship Id="rId9" Type="http://schemas.openxmlformats.org/officeDocument/2006/relationships/image" Target="../media/image100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11" Type="http://schemas.openxmlformats.org/officeDocument/2006/relationships/image" Target="../media/image98.png"/><Relationship Id="rId10" Type="http://schemas.openxmlformats.org/officeDocument/2006/relationships/image" Target="../media/image99.png"/><Relationship Id="rId12" Type="http://schemas.openxmlformats.org/officeDocument/2006/relationships/image" Target="../media/image10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6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3.png"/><Relationship Id="rId4" Type="http://schemas.openxmlformats.org/officeDocument/2006/relationships/image" Target="../media/image10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solving linear equations</a:t>
            </a:r>
            <a:endParaRPr/>
          </a:p>
        </p:txBody>
      </p:sp>
      <p:sp>
        <p:nvSpPr>
          <p:cNvPr id="756" name="Google Shape;756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Expressions and formulae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solve equations involving brackets.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6"/>
          <p:cNvSpPr txBox="1"/>
          <p:nvPr/>
        </p:nvSpPr>
        <p:spPr>
          <a:xfrm>
            <a:off x="324000" y="1080000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additive inverse of a number is a number that, when added to the original number, gives the sum of 0. </a:t>
            </a:r>
            <a:endParaRPr sz="24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66"/>
          <p:cNvSpPr txBox="1"/>
          <p:nvPr/>
        </p:nvSpPr>
        <p:spPr>
          <a:xfrm>
            <a:off x="324000" y="2146800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 reciprocal is the multiplicative inverse of any non-zero number. Any non-zero number multiplied by its reciprocal is equal to 1  </a:t>
            </a:r>
            <a:endParaRPr sz="24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3" name="Google Shape;773;p66"/>
          <p:cNvSpPr txBox="1"/>
          <p:nvPr/>
        </p:nvSpPr>
        <p:spPr>
          <a:xfrm>
            <a:off x="324000" y="3213600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Like terms are terms that have the same set of variables and corresponding exponents. </a:t>
            </a:r>
            <a:endParaRPr sz="24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sp>
        <p:nvSpPr>
          <p:cNvPr id="779" name="Google Shape;779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multiple brackets</a:t>
            </a:r>
            <a:endParaRPr/>
          </a:p>
        </p:txBody>
      </p:sp>
      <p:sp>
        <p:nvSpPr>
          <p:cNvPr id="780" name="Google Shape;780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solving linear equations</a:t>
            </a:r>
            <a:endParaRPr/>
          </a:p>
        </p:txBody>
      </p:sp>
      <p:pic>
        <p:nvPicPr>
          <p:cNvPr id="781" name="Google Shape;78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8"/>
          <p:cNvSpPr txBox="1"/>
          <p:nvPr>
            <p:ph idx="1" type="body"/>
          </p:nvPr>
        </p:nvSpPr>
        <p:spPr>
          <a:xfrm>
            <a:off x="324000" y="759300"/>
            <a:ext cx="8496000" cy="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we see equations with brackets we can expand the brackets to solve.</a:t>
            </a:r>
            <a:endParaRPr sz="2000"/>
          </a:p>
        </p:txBody>
      </p:sp>
      <p:sp>
        <p:nvSpPr>
          <p:cNvPr id="787" name="Google Shape;787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graphicFrame>
        <p:nvGraphicFramePr>
          <p:cNvPr id="788" name="Google Shape;788;p68"/>
          <p:cNvGraphicFramePr/>
          <p:nvPr/>
        </p:nvGraphicFramePr>
        <p:xfrm>
          <a:off x="379353" y="1641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2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6 </a:t>
                      </a:r>
                      <a:r>
                        <a:rPr lang="en-GB" sz="2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</a:t>
                      </a:r>
                      <a:endParaRPr sz="2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 </a:t>
                      </a:r>
                      <a:r>
                        <a:rPr lang="en-GB" sz="2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</a:t>
                      </a:r>
                      <a:endParaRPr sz="2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9" name="Google Shape;789;p68"/>
          <p:cNvSpPr txBox="1"/>
          <p:nvPr/>
        </p:nvSpPr>
        <p:spPr>
          <a:xfrm>
            <a:off x="3676800" y="1718600"/>
            <a:ext cx="2925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×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i="1"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2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6</a:t>
            </a:r>
            <a:endParaRPr sz="2200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90" name="Google Shape;790;p68"/>
          <p:cNvSpPr txBox="1"/>
          <p:nvPr>
            <p:ph idx="1" type="body"/>
          </p:nvPr>
        </p:nvSpPr>
        <p:spPr>
          <a:xfrm>
            <a:off x="3717825" y="2120975"/>
            <a:ext cx="49521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format looks very familiar. From here we can solve by manipulating.</a:t>
            </a:r>
            <a:endParaRPr sz="1800"/>
          </a:p>
        </p:txBody>
      </p:sp>
      <p:cxnSp>
        <p:nvCxnSpPr>
          <p:cNvPr id="791" name="Google Shape;791;p68"/>
          <p:cNvCxnSpPr>
            <a:stCxn id="790" idx="1"/>
          </p:cNvCxnSpPr>
          <p:nvPr/>
        </p:nvCxnSpPr>
        <p:spPr>
          <a:xfrm flipH="1">
            <a:off x="2666925" y="2285975"/>
            <a:ext cx="1050900" cy="618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2" name="Google Shape;792;p68"/>
          <p:cNvCxnSpPr/>
          <p:nvPr/>
        </p:nvCxnSpPr>
        <p:spPr>
          <a:xfrm rot="10800000">
            <a:off x="2709825" y="2757600"/>
            <a:ext cx="1008000" cy="3300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3" name="Google Shape;793;p68"/>
          <p:cNvSpPr txBox="1"/>
          <p:nvPr>
            <p:ph idx="1" type="body"/>
          </p:nvPr>
        </p:nvSpPr>
        <p:spPr>
          <a:xfrm>
            <a:off x="3717825" y="2935525"/>
            <a:ext cx="51021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additive inverse of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1800"/>
              <a:t>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+6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6x}{6}=\frac{38}{6}&quot;&gt;&lt;mfrac&gt;&lt;mrow&gt;&lt;mn&gt;6&lt;/mn&gt;&lt;mi&gt;x&lt;/mi&gt;&lt;/mrow&gt;&lt;mn&gt;6&lt;/mn&gt;&lt;/mfrac&gt;&lt;mo&gt;=&lt;/mo&gt;&lt;mfrac&gt;&lt;mn&gt;38&lt;/mn&gt;&lt;mn&gt;6&lt;/mn&gt;&lt;/mfrac&gt;&lt;/math&gt;" id="794" name="Google Shape;794;p68" title="6 x over 6 equals 38 over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309" y="3386439"/>
            <a:ext cx="944250" cy="51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\frac{19}{3}&quot;&gt;&lt;mi&gt;x&lt;/mi&gt;&lt;mo&gt;=&lt;/mo&gt;&lt;mfrac&gt;&lt;mn&gt;19&lt;/mn&gt;&lt;mn&gt;3&lt;/mn&gt;&lt;/mfrac&gt;&lt;/math&gt;" id="795" name="Google Shape;795;p68" title="x equals nineteen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0223" y="4002850"/>
            <a:ext cx="830463" cy="574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6" name="Google Shape;796;p68"/>
          <p:cNvCxnSpPr/>
          <p:nvPr/>
        </p:nvCxnSpPr>
        <p:spPr>
          <a:xfrm flipH="1">
            <a:off x="2383275" y="3859250"/>
            <a:ext cx="1327500" cy="3879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7" name="Google Shape;797;p68"/>
          <p:cNvSpPr txBox="1"/>
          <p:nvPr>
            <p:ph idx="1" type="body"/>
          </p:nvPr>
        </p:nvSpPr>
        <p:spPr>
          <a:xfrm>
            <a:off x="3762775" y="3672850"/>
            <a:ext cx="5102100" cy="3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the answer is not an integer it is easiest to leave your answer as a fraction. It is useful to write fractions in their simplest form. </a:t>
            </a:r>
            <a:endParaRPr sz="1800"/>
          </a:p>
        </p:txBody>
      </p:sp>
      <p:graphicFrame>
        <p:nvGraphicFramePr>
          <p:cNvPr id="798" name="Google Shape;798;p68"/>
          <p:cNvGraphicFramePr/>
          <p:nvPr/>
        </p:nvGraphicFramePr>
        <p:xfrm>
          <a:off x="379353" y="1641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2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6 </a:t>
                      </a:r>
                      <a:r>
                        <a:rPr lang="en-GB" sz="2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</a:t>
                      </a:r>
                      <a:endParaRPr sz="2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 </a:t>
                      </a:r>
                      <a:r>
                        <a:rPr lang="en-GB" sz="22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</a:t>
                      </a:r>
                      <a:endParaRPr sz="22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99" name="Google Shape;799;p68"/>
          <p:cNvGraphicFramePr/>
          <p:nvPr/>
        </p:nvGraphicFramePr>
        <p:xfrm>
          <a:off x="379353" y="1641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22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00" name="Google Shape;800;p68"/>
          <p:cNvGraphicFramePr/>
          <p:nvPr/>
        </p:nvGraphicFramePr>
        <p:xfrm>
          <a:off x="379353" y="16417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69"/>
          <p:cNvSpPr txBox="1"/>
          <p:nvPr>
            <p:ph idx="1" type="subTitle"/>
          </p:nvPr>
        </p:nvSpPr>
        <p:spPr>
          <a:xfrm>
            <a:off x="337825" y="810000"/>
            <a:ext cx="3982200" cy="67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this equation by </a:t>
            </a:r>
            <a:r>
              <a:rPr lang="en-GB"/>
              <a:t>expanding</a:t>
            </a:r>
            <a:r>
              <a:rPr lang="en-GB"/>
              <a:t> the brackets.</a:t>
            </a:r>
            <a:endParaRPr/>
          </a:p>
        </p:txBody>
      </p:sp>
      <p:sp>
        <p:nvSpPr>
          <p:cNvPr id="806" name="Google Shape;806;p69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graphicFrame>
        <p:nvGraphicFramePr>
          <p:cNvPr id="807" name="Google Shape;807;p69"/>
          <p:cNvGraphicFramePr/>
          <p:nvPr/>
        </p:nvGraphicFramePr>
        <p:xfrm>
          <a:off x="337828" y="16200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+ 8)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−18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8" name="Google Shape;808;p69"/>
          <p:cNvSpPr txBox="1"/>
          <p:nvPr>
            <p:ph idx="1" type="subTitle"/>
          </p:nvPr>
        </p:nvSpPr>
        <p:spPr>
          <a:xfrm>
            <a:off x="324000" y="3290575"/>
            <a:ext cx="39822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 the solution by substitution.</a:t>
            </a:r>
            <a:endParaRPr/>
          </a:p>
        </p:txBody>
      </p:sp>
      <p:graphicFrame>
        <p:nvGraphicFramePr>
          <p:cNvPr id="809" name="Google Shape;809;p69"/>
          <p:cNvGraphicFramePr/>
          <p:nvPr/>
        </p:nvGraphicFramePr>
        <p:xfrm>
          <a:off x="337828" y="35203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96075"/>
                <a:gridCol w="382150"/>
                <a:gridCol w="1153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3(2(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−3)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8)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−6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+ 8)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10" name="Google Shape;81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208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9"/>
          <p:cNvSpPr txBox="1"/>
          <p:nvPr>
            <p:ph idx="1" type="subTitle"/>
          </p:nvPr>
        </p:nvSpPr>
        <p:spPr>
          <a:xfrm>
            <a:off x="4833625" y="810000"/>
            <a:ext cx="3982200" cy="67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this equation by expanding the brackets.</a:t>
            </a:r>
            <a:endParaRPr/>
          </a:p>
        </p:txBody>
      </p:sp>
      <p:graphicFrame>
        <p:nvGraphicFramePr>
          <p:cNvPr id="812" name="Google Shape;812;p69"/>
          <p:cNvGraphicFramePr/>
          <p:nvPr/>
        </p:nvGraphicFramePr>
        <p:xfrm>
          <a:off x="4833629" y="16200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+ 20)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−60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3" name="Google Shape;813;p69"/>
          <p:cNvSpPr txBox="1"/>
          <p:nvPr>
            <p:ph idx="1" type="subTitle"/>
          </p:nvPr>
        </p:nvSpPr>
        <p:spPr>
          <a:xfrm>
            <a:off x="4819800" y="3290575"/>
            <a:ext cx="39822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 the solution by substitution.</a:t>
            </a:r>
            <a:endParaRPr/>
          </a:p>
        </p:txBody>
      </p:sp>
      <p:graphicFrame>
        <p:nvGraphicFramePr>
          <p:cNvPr id="814" name="Google Shape;814;p69"/>
          <p:cNvGraphicFramePr/>
          <p:nvPr/>
        </p:nvGraphicFramePr>
        <p:xfrm>
          <a:off x="4833629" y="35203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96075"/>
                <a:gridCol w="382150"/>
                <a:gridCol w="1153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(3(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−5)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+ 20)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−15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+ 20)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15" name="Google Shape;81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3008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16" name="Google Shape;816;p69"/>
          <p:cNvGraphicFramePr/>
          <p:nvPr/>
        </p:nvGraphicFramePr>
        <p:xfrm>
          <a:off x="337828" y="16200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+ 8)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−18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17" name="Google Shape;817;p69"/>
          <p:cNvGraphicFramePr/>
          <p:nvPr/>
        </p:nvGraphicFramePr>
        <p:xfrm>
          <a:off x="337828" y="16200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+ 8)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18" name="Google Shape;818;p69"/>
          <p:cNvGraphicFramePr/>
          <p:nvPr/>
        </p:nvGraphicFramePr>
        <p:xfrm>
          <a:off x="337828" y="16200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+ 8)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19" name="Google Shape;819;p69"/>
          <p:cNvGraphicFramePr/>
          <p:nvPr/>
        </p:nvGraphicFramePr>
        <p:xfrm>
          <a:off x="337828" y="35203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96075"/>
                <a:gridCol w="382150"/>
                <a:gridCol w="1153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3(2(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−3)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+ 8)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−6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+ 8)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0" name="Google Shape;820;p69"/>
          <p:cNvGraphicFramePr/>
          <p:nvPr/>
        </p:nvGraphicFramePr>
        <p:xfrm>
          <a:off x="337828" y="35203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96075"/>
                <a:gridCol w="382150"/>
                <a:gridCol w="1153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3(2(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−3)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+ 8)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1" name="Google Shape;821;p69"/>
          <p:cNvGraphicFramePr/>
          <p:nvPr/>
        </p:nvGraphicFramePr>
        <p:xfrm>
          <a:off x="4833629" y="16200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+ 20)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−60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2" name="Google Shape;822;p69"/>
          <p:cNvGraphicFramePr/>
          <p:nvPr/>
        </p:nvGraphicFramePr>
        <p:xfrm>
          <a:off x="4833629" y="16200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+ 20)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23" name="Google Shape;823;p69"/>
          <p:cNvGraphicFramePr/>
          <p:nvPr/>
        </p:nvGraphicFramePr>
        <p:xfrm>
          <a:off x="4833629" y="16200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+ 20)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0"/>
          <p:cNvSpPr txBox="1"/>
          <p:nvPr>
            <p:ph idx="1" type="body"/>
          </p:nvPr>
        </p:nvSpPr>
        <p:spPr>
          <a:xfrm>
            <a:off x="4405500" y="834300"/>
            <a:ext cx="4414500" cy="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4(3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+ 20) = 20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Can you see what Jun has spotted?</a:t>
            </a:r>
            <a:endParaRPr sz="1800"/>
          </a:p>
        </p:txBody>
      </p:sp>
      <p:sp>
        <p:nvSpPr>
          <p:cNvPr id="829" name="Google Shape;829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pic>
        <p:nvPicPr>
          <p:cNvPr id="830" name="Google Shape;83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027" y="1422746"/>
            <a:ext cx="446257" cy="558038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70"/>
          <p:cNvSpPr txBox="1"/>
          <p:nvPr/>
        </p:nvSpPr>
        <p:spPr>
          <a:xfrm flipH="1">
            <a:off x="374150" y="1980142"/>
            <a:ext cx="864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2" name="Google Shape;832;p70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913349" y="842525"/>
            <a:ext cx="3320376" cy="9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0"/>
          <p:cNvSpPr txBox="1"/>
          <p:nvPr/>
        </p:nvSpPr>
        <p:spPr>
          <a:xfrm>
            <a:off x="1139116" y="810000"/>
            <a:ext cx="31161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think I saw a quicker way with that last question.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0"/>
          <p:cNvSpPr/>
          <p:nvPr/>
        </p:nvSpPr>
        <p:spPr>
          <a:xfrm>
            <a:off x="5679035" y="824700"/>
            <a:ext cx="418200" cy="3597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0"/>
          <p:cNvSpPr/>
          <p:nvPr/>
        </p:nvSpPr>
        <p:spPr>
          <a:xfrm>
            <a:off x="4314988" y="848700"/>
            <a:ext cx="269700" cy="3117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0"/>
          <p:cNvSpPr txBox="1"/>
          <p:nvPr>
            <p:ph idx="1" type="body"/>
          </p:nvPr>
        </p:nvSpPr>
        <p:spPr>
          <a:xfrm>
            <a:off x="4405650" y="1703050"/>
            <a:ext cx="4414500" cy="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 is a common factor of the expressions on both sides of the equation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7" name="Google Shape;837;p70"/>
          <p:cNvSpPr txBox="1"/>
          <p:nvPr/>
        </p:nvSpPr>
        <p:spPr>
          <a:xfrm>
            <a:off x="324000" y="2700000"/>
            <a:ext cx="84960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 we see common factors dividing by the coefficient of the bracket could be the quickest solution.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38" name="Google Shape;838;p70"/>
          <p:cNvGraphicFramePr/>
          <p:nvPr/>
        </p:nvGraphicFramePr>
        <p:xfrm>
          <a:off x="5064765" y="31355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+ 20)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−15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39" name="Google Shape;839;p70"/>
          <p:cNvCxnSpPr/>
          <p:nvPr/>
        </p:nvCxnSpPr>
        <p:spPr>
          <a:xfrm flipH="1" rot="10800000">
            <a:off x="4194775" y="3818200"/>
            <a:ext cx="1174800" cy="64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0" name="Google Shape;840;p70"/>
          <p:cNvSpPr txBox="1"/>
          <p:nvPr/>
        </p:nvSpPr>
        <p:spPr>
          <a:xfrm>
            <a:off x="324000" y="3737000"/>
            <a:ext cx="39096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Both sides have been divided by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41" name="Google Shape;841;p70"/>
          <p:cNvGraphicFramePr/>
          <p:nvPr/>
        </p:nvGraphicFramePr>
        <p:xfrm>
          <a:off x="5064765" y="31355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+ 20)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−15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2" name="Google Shape;842;p70"/>
          <p:cNvGraphicFramePr/>
          <p:nvPr/>
        </p:nvGraphicFramePr>
        <p:xfrm>
          <a:off x="5064765" y="31355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+ 20)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sp>
        <p:nvSpPr>
          <p:cNvPr id="848" name="Google Shape;848;p71"/>
          <p:cNvSpPr txBox="1"/>
          <p:nvPr/>
        </p:nvSpPr>
        <p:spPr>
          <a:xfrm>
            <a:off x="324000" y="759300"/>
            <a:ext cx="82377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Jun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solving more equations with brackets.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49" name="Google Shape;849;p71"/>
          <p:cNvGraphicFramePr/>
          <p:nvPr/>
        </p:nvGraphicFramePr>
        <p:xfrm>
          <a:off x="182866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6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0" name="Google Shape;850;p71"/>
          <p:cNvSpPr txBox="1"/>
          <p:nvPr/>
        </p:nvSpPr>
        <p:spPr>
          <a:xfrm>
            <a:off x="324000" y="1380130"/>
            <a:ext cx="24108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Expanding first: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51" name="Google Shape;851;p71"/>
          <p:cNvGraphicFramePr/>
          <p:nvPr/>
        </p:nvGraphicFramePr>
        <p:xfrm>
          <a:off x="4120393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2" name="Google Shape;852;p71"/>
          <p:cNvSpPr txBox="1"/>
          <p:nvPr/>
        </p:nvSpPr>
        <p:spPr>
          <a:xfrm>
            <a:off x="3369600" y="1380125"/>
            <a:ext cx="54504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Multiplying by the reciprocal first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3" name="Google Shape;853;p71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3152000" y="3261200"/>
            <a:ext cx="4183675" cy="1022051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1"/>
          <p:cNvSpPr txBox="1"/>
          <p:nvPr/>
        </p:nvSpPr>
        <p:spPr>
          <a:xfrm>
            <a:off x="3457050" y="3390175"/>
            <a:ext cx="35094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wonder which way will be easiest for this example.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5" name="Google Shape;85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394582" y="3831828"/>
            <a:ext cx="780782" cy="976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6" name="Google Shape;856;p71"/>
          <p:cNvGraphicFramePr/>
          <p:nvPr/>
        </p:nvGraphicFramePr>
        <p:xfrm>
          <a:off x="182866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7" name="Google Shape;857;p71"/>
          <p:cNvGraphicFramePr/>
          <p:nvPr/>
        </p:nvGraphicFramePr>
        <p:xfrm>
          <a:off x="4120393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sp>
        <p:nvSpPr>
          <p:cNvPr id="863" name="Google Shape;863;p72"/>
          <p:cNvSpPr txBox="1"/>
          <p:nvPr/>
        </p:nvSpPr>
        <p:spPr>
          <a:xfrm>
            <a:off x="324000" y="759300"/>
            <a:ext cx="82377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Jun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solving more equations with brackets.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64" name="Google Shape;864;p72"/>
          <p:cNvGraphicFramePr/>
          <p:nvPr/>
        </p:nvGraphicFramePr>
        <p:xfrm>
          <a:off x="182866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5" name="Google Shape;865;p72"/>
          <p:cNvSpPr txBox="1"/>
          <p:nvPr/>
        </p:nvSpPr>
        <p:spPr>
          <a:xfrm>
            <a:off x="324000" y="1380130"/>
            <a:ext cx="24108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Expanding first: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66" name="Google Shape;866;p72"/>
          <p:cNvGraphicFramePr/>
          <p:nvPr/>
        </p:nvGraphicFramePr>
        <p:xfrm>
          <a:off x="4120393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67" name="Google Shape;867;p72"/>
          <p:cNvGrpSpPr/>
          <p:nvPr/>
        </p:nvGrpSpPr>
        <p:grpSpPr>
          <a:xfrm>
            <a:off x="3152000" y="3261200"/>
            <a:ext cx="5023364" cy="1546978"/>
            <a:chOff x="3152000" y="3261200"/>
            <a:chExt cx="5023364" cy="1546978"/>
          </a:xfrm>
        </p:grpSpPr>
        <p:pic>
          <p:nvPicPr>
            <p:cNvPr id="868" name="Google Shape;868;p72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3152000" y="3261200"/>
              <a:ext cx="4183675" cy="1395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9" name="Google Shape;869;p72"/>
            <p:cNvSpPr txBox="1"/>
            <p:nvPr/>
          </p:nvSpPr>
          <p:spPr>
            <a:xfrm>
              <a:off x="3457050" y="3390175"/>
              <a:ext cx="3509400" cy="6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I think I have found an example where expanding the brackets will be easier.</a:t>
              </a:r>
              <a:endPara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870" name="Google Shape;870;p7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7394582" y="3831828"/>
              <a:ext cx="780782" cy="9763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x=\frac{11}{2}\ or\ 5.5&quot;&gt;&lt;mi&gt;x&lt;/mi&gt;&lt;mo&gt;=&lt;/mo&gt;&lt;mfrac&gt;&lt;mn&gt;11&lt;/mn&gt;&lt;mn&gt;2&lt;/mn&gt;&lt;/mfrac&gt;&lt;mtext&gt;&lt;/mtext&gt;&lt;mi&gt;o&lt;/mi&gt;&lt;mi&gt;r&lt;/mi&gt;&lt;mtext&gt;&lt;/mtext&gt;&lt;mn&gt;5.5&lt;/mn&gt;&lt;/math&gt;" id="871" name="Google Shape;871;p72" title="x equals eleven halves o r 5.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6877" y="3322975"/>
            <a:ext cx="1688255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72"/>
          <p:cNvSpPr txBox="1"/>
          <p:nvPr/>
        </p:nvSpPr>
        <p:spPr>
          <a:xfrm>
            <a:off x="3369600" y="1380125"/>
            <a:ext cx="54504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Multiplying by the reciprocal 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first: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73" name="Google Shape;873;p72"/>
          <p:cNvGraphicFramePr/>
          <p:nvPr/>
        </p:nvGraphicFramePr>
        <p:xfrm>
          <a:off x="182866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74" name="Google Shape;874;p72"/>
          <p:cNvGraphicFramePr/>
          <p:nvPr/>
        </p:nvGraphicFramePr>
        <p:xfrm>
          <a:off x="182866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sp>
        <p:nvSpPr>
          <p:cNvPr id="880" name="Google Shape;880;p73"/>
          <p:cNvSpPr txBox="1"/>
          <p:nvPr/>
        </p:nvSpPr>
        <p:spPr>
          <a:xfrm>
            <a:off x="324000" y="759300"/>
            <a:ext cx="82377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Jun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solving more equations with brackets.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81" name="Google Shape;881;p73"/>
          <p:cNvGraphicFramePr/>
          <p:nvPr/>
        </p:nvGraphicFramePr>
        <p:xfrm>
          <a:off x="182866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2" name="Google Shape;882;p73"/>
          <p:cNvSpPr txBox="1"/>
          <p:nvPr/>
        </p:nvSpPr>
        <p:spPr>
          <a:xfrm>
            <a:off x="324000" y="1380130"/>
            <a:ext cx="24108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Expanding first: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83" name="Google Shape;883;p73"/>
          <p:cNvGraphicFramePr/>
          <p:nvPr/>
        </p:nvGraphicFramePr>
        <p:xfrm>
          <a:off x="4120393" y="17018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x=\frac{11}{2}\ or\ 5.5&quot;&gt;&lt;mi&gt;x&lt;/mi&gt;&lt;mo&gt;=&lt;/mo&gt;&lt;mfrac&gt;&lt;mn&gt;11&lt;/mn&gt;&lt;mn&gt;2&lt;/mn&gt;&lt;/mfrac&gt;&lt;mtext&gt;&lt;/mtext&gt;&lt;mi&gt;o&lt;/mi&gt;&lt;mi&gt;r&lt;/mi&gt;&lt;mtext&gt;&lt;/mtext&gt;&lt;mn&gt;5.5&lt;/mn&gt;&lt;/math&gt;" id="884" name="Google Shape;884;p73" title="x equals eleven halves o r 5.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6877" y="3322975"/>
            <a:ext cx="1688255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3"/>
          <p:cNvSpPr txBox="1"/>
          <p:nvPr/>
        </p:nvSpPr>
        <p:spPr>
          <a:xfrm>
            <a:off x="3369600" y="1380125"/>
            <a:ext cx="54504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Multiplying by the reciprocal 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first: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0}{8}=\ \frac{5}{2}&quot;&gt;&lt;mfrac&gt;&lt;mn&gt;20&lt;/mn&gt;&lt;mn&gt;8&lt;/mn&gt;&lt;/mfrac&gt;&lt;mo&gt;=&lt;/mo&gt;&lt;mtext&gt;&lt;/mtext&gt;&lt;mfrac&gt;&lt;mn&gt;5&lt;/mn&gt;&lt;mn&gt;2&lt;/mn&gt;&lt;/mfrac&gt;&lt;/math&gt;" id="886" name="Google Shape;886;p73" title="20 over 8 equals five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4555" y="2209130"/>
            <a:ext cx="857833" cy="5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\ -\ 3\ +\ \frac{6}{2}=\ \frac{5}{2}+\ \frac{6}{2}&quot;&gt;&lt;mi&gt;x&lt;/mi&gt;&lt;mtext&gt;&lt;/mtext&gt;&lt;mo&gt;−&lt;/mo&gt;&lt;mtext&gt;&lt;/mtext&gt;&lt;mn&gt;3&lt;/mn&gt;&lt;mtext&gt;&lt;/mtext&gt;&lt;mo&gt;+&lt;/mo&gt;&lt;mtext&gt;&lt;/mtext&gt;&lt;mfrac&gt;&lt;mn&gt;6&lt;/mn&gt;&lt;mn&gt;2&lt;/mn&gt;&lt;/mfrac&gt;&lt;mo&gt;=&lt;/mo&gt;&lt;mtext&gt;&lt;/mtext&gt;&lt;mfrac&gt;&lt;mn&gt;5&lt;/mn&gt;&lt;mn&gt;2&lt;/mn&gt;&lt;/mfrac&gt;&lt;mo&gt;+&lt;/mo&gt;&lt;mtext&gt;&lt;/mtext&gt;&lt;mfrac&gt;&lt;mn&gt;6&lt;/mn&gt;&lt;mn&gt;2&lt;/mn&gt;&lt;/mfrac&gt;&lt;/math&gt;" id="887" name="Google Shape;887;p73" title="x minus 3 plus six halves equals five halves plus six halv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06073" y="2901275"/>
            <a:ext cx="2661924" cy="57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\frac{11}{2}\ or\ 5.5&quot;&gt;&lt;mi&gt;x&lt;/mi&gt;&lt;mo&gt;=&lt;/mo&gt;&lt;mfrac&gt;&lt;mn&gt;11&lt;/mn&gt;&lt;mn&gt;2&lt;/mn&gt;&lt;/mfrac&gt;&lt;mtext&gt;&lt;/mtext&gt;&lt;mi&gt;o&lt;/mi&gt;&lt;mi&gt;r&lt;/mi&gt;&lt;mtext&gt;&lt;/mtext&gt;&lt;mn&gt;5.5&lt;/mn&gt;&lt;/math&gt;" id="888" name="Google Shape;888;p73" title="x equals eleven halves o r 5.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1679" y="3598149"/>
            <a:ext cx="1573980" cy="571975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73"/>
          <p:cNvSpPr txBox="1"/>
          <p:nvPr/>
        </p:nvSpPr>
        <p:spPr>
          <a:xfrm>
            <a:off x="324000" y="4208750"/>
            <a:ext cx="82377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Dividing first meant more calculations with fractions. It is personal preference which method you find easiest for each question.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sp>
        <p:nvSpPr>
          <p:cNvPr id="895" name="Google Shape;895;p74"/>
          <p:cNvSpPr txBox="1"/>
          <p:nvPr/>
        </p:nvSpPr>
        <p:spPr>
          <a:xfrm>
            <a:off x="324000" y="766450"/>
            <a:ext cx="42480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When the coefficient of the bracket is a fraction, expanding the bracket can be time consuming and lead to some tricky calculations.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\left(x\ +\ 7\right)\ =30&quot;&gt;&lt;mfrac&gt;&lt;mn&gt;3&lt;/mn&gt;&lt;mn&gt;5&lt;/mn&gt;&lt;/mfrac&gt;&lt;mrow data-mjx-texclass=&quot;INNER&quot;&gt;&lt;mo data-mjx-texclass=&quot;OPEN&quot;&gt;(&lt;/mo&gt;&lt;mi&gt;x&lt;/mi&gt;&lt;mtext&gt;&lt;/mtext&gt;&lt;mo&gt;+&lt;/mo&gt;&lt;mtext&gt;&lt;/mtext&gt;&lt;mn&gt;7&lt;/mn&gt;&lt;mo data-mjx-texclass=&quot;CLOSE&quot;&gt;)&lt;/mo&gt;&lt;/mrow&gt;&lt;mtext&gt;&lt;/mtext&gt;&lt;mo&gt;=&lt;/mo&gt;&lt;mn&gt;30&lt;/mn&gt;&lt;/math&gt;" id="896" name="Google Shape;896;p74" title="three fifths times open paren x plus 7 close paren equals 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7241" y="906507"/>
            <a:ext cx="1580957" cy="489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x\ +\ \frac{21}{5}\ =30&quot;&gt;&lt;mfrac&gt;&lt;mn&gt;3&lt;/mn&gt;&lt;mn&gt;5&lt;/mn&gt;&lt;/mfrac&gt;&lt;mi&gt;x&lt;/mi&gt;&lt;mtext&gt;&lt;/mtext&gt;&lt;mo&gt;+&lt;/mo&gt;&lt;mtext&gt;&lt;/mtext&gt;&lt;mfrac&gt;&lt;mn&gt;21&lt;/mn&gt;&lt;mn&gt;5&lt;/mn&gt;&lt;/mfrac&gt;&lt;mtext&gt;&lt;/mtext&gt;&lt;mo&gt;=&lt;/mo&gt;&lt;mn&gt;30&lt;/mn&gt;&lt;/math&gt;" id="897" name="Google Shape;897;p74" title="three fifths x plus 21 over 5 equals 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7409" y="1624600"/>
            <a:ext cx="1657645" cy="5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x\ =30-\frac{21}{5}&quot;&gt;&lt;mfrac&gt;&lt;mn&gt;3&lt;/mn&gt;&lt;mn&gt;5&lt;/mn&gt;&lt;/mfrac&gt;&lt;mi&gt;x&lt;/mi&gt;&lt;mtext&gt;&lt;/mtext&gt;&lt;mo&gt;=&lt;/mo&gt;&lt;mn&gt;30&lt;/mn&gt;&lt;mo&gt;−&lt;/mo&gt;&lt;mfrac&gt;&lt;mn&gt;21&lt;/mn&gt;&lt;mn&gt;5&lt;/mn&gt;&lt;/mfrac&gt;&lt;/math&gt;" id="898" name="Google Shape;898;p74" title="three fifths x equals 30 minus 21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2443" y="2324450"/>
            <a:ext cx="1446766" cy="4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x\ =\frac{129}{5}&quot;&gt;&lt;mfrac&gt;&lt;mn&gt;3&lt;/mn&gt;&lt;mn&gt;5&lt;/mn&gt;&lt;/mfrac&gt;&lt;mi&gt;x&lt;/mi&gt;&lt;mtext&gt;&lt;/mtext&gt;&lt;mo&gt;=&lt;/mo&gt;&lt;mfrac&gt;&lt;mn&gt;129&lt;/mn&gt;&lt;mn&gt;5&lt;/mn&gt;&lt;/mfrac&gt;&lt;/math&gt;" id="899" name="Google Shape;899;p74" title="three fifths x equals 129 over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52633" y="3080250"/>
            <a:ext cx="1110109" cy="5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\ =43&quot;&gt;&lt;mi&gt;x&lt;/mi&gt;&lt;mtext&gt;&lt;/mtext&gt;&lt;mo&gt;=&lt;/mo&gt;&lt;mn&gt;43&lt;/mn&gt;&lt;/math&gt;" id="900" name="Google Shape;900;p74" title="x equals 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4405" y="4519226"/>
            <a:ext cx="762450" cy="184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x\ \times\frac{5}{3}=\frac{129}{5}\times\frac{5}{3}&quot;&gt;&lt;mfrac&gt;&lt;mn&gt;3&lt;/mn&gt;&lt;mn&gt;5&lt;/mn&gt;&lt;/mfrac&gt;&lt;mi&gt;x&lt;/mi&gt;&lt;mtext&gt;&lt;/mtext&gt;&lt;mo&gt;×&lt;/mo&gt;&lt;mfrac&gt;&lt;mn&gt;5&lt;/mn&gt;&lt;mn&gt;3&lt;/mn&gt;&lt;/mfrac&gt;&lt;mo&gt;=&lt;/mo&gt;&lt;mfrac&gt;&lt;mn&gt;129&lt;/mn&gt;&lt;mn&gt;5&lt;/mn&gt;&lt;/mfrac&gt;&lt;mo&gt;×&lt;/mo&gt;&lt;mfrac&gt;&lt;mn&gt;5&lt;/mn&gt;&lt;mn&gt;3&lt;/mn&gt;&lt;/mfrac&gt;&lt;/math&gt;" id="901" name="Google Shape;901;p74" title="three fifths x times five thirds equals 129 over 5 times five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86250" y="3782768"/>
            <a:ext cx="2042882" cy="5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sp>
        <p:nvSpPr>
          <p:cNvPr id="907" name="Google Shape;907;p75"/>
          <p:cNvSpPr txBox="1"/>
          <p:nvPr/>
        </p:nvSpPr>
        <p:spPr>
          <a:xfrm>
            <a:off x="324000" y="766450"/>
            <a:ext cx="42480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Have a go at solving this equation by dividing both sides of the equation by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\left(x\ +\ 7\right)\ =30&quot;&gt;&lt;mfrac&gt;&lt;mn&gt;3&lt;/mn&gt;&lt;mn&gt;5&lt;/mn&gt;&lt;/mfrac&gt;&lt;mrow data-mjx-texclass=&quot;INNER&quot;&gt;&lt;mo data-mjx-texclass=&quot;OPEN&quot;&gt;(&lt;/mo&gt;&lt;mi&gt;x&lt;/mi&gt;&lt;mtext&gt;&lt;/mtext&gt;&lt;mo&gt;+&lt;/mo&gt;&lt;mtext&gt;&lt;/mtext&gt;&lt;mn&gt;7&lt;/mn&gt;&lt;mo data-mjx-texclass=&quot;CLOSE&quot;&gt;)&lt;/mo&gt;&lt;/mrow&gt;&lt;mtext&gt;&lt;/mtext&gt;&lt;mo&gt;=&lt;/mo&gt;&lt;mn&gt;30&lt;/mn&gt;&lt;/math&gt;" id="908" name="Google Shape;908;p75" title="three fifths times open paren x plus 7 close paren equals 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391" y="906507"/>
            <a:ext cx="1580957" cy="4894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\ =43&quot;&gt;&lt;mi&gt;x&lt;/mi&gt;&lt;mtext&gt;&lt;/mtext&gt;&lt;mo&gt;=&lt;/mo&gt;&lt;mn&gt;43&lt;/mn&gt;&lt;/math&gt;" id="909" name="Google Shape;909;p75" title="x equals 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4396" y="2578914"/>
            <a:ext cx="762450" cy="184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910" name="Google Shape;910;p75" title="three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5375" y="1045850"/>
            <a:ext cx="178625" cy="574150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75"/>
          <p:cNvSpPr txBox="1"/>
          <p:nvPr/>
        </p:nvSpPr>
        <p:spPr>
          <a:xfrm>
            <a:off x="324000" y="1928925"/>
            <a:ext cx="42480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Remember, dividing by a fraction is the same as multiplying by the reciprocal.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\ +\ 7\ =\ 30\ \times\frac{5}{3}&quot;&gt;&lt;mi&gt;x&lt;/mi&gt;&lt;mtext&gt;&lt;/mtext&gt;&lt;mo&gt;+&lt;/mo&gt;&lt;mtext&gt;&lt;/mtext&gt;&lt;mn&gt;7&lt;/mn&gt;&lt;mtext&gt;&lt;/mtext&gt;&lt;mo&gt;=&lt;/mo&gt;&lt;mtext&gt;&lt;/mtext&gt;&lt;mn&gt;30&lt;/mn&gt;&lt;mtext&gt;&lt;/mtext&gt;&lt;mo&gt;×&lt;/mo&gt;&lt;mfrac&gt;&lt;mn&gt;5&lt;/mn&gt;&lt;mn&gt;3&lt;/mn&gt;&lt;/mfrac&gt;&lt;/math&gt;" id="912" name="Google Shape;912;p75" title="x plus 7 equals 30 times five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55530" y="1486814"/>
            <a:ext cx="1758552" cy="4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\ +\ 7\ =\ 50&quot;&gt;&lt;mi&gt;x&lt;/mi&gt;&lt;mtext&gt;&lt;/mtext&gt;&lt;mo&gt;+&lt;/mo&gt;&lt;mtext&gt;&lt;/mtext&gt;&lt;mn&gt;7&lt;/mn&gt;&lt;mtext&gt;&lt;/mtext&gt;&lt;mo&gt;=&lt;/mo&gt;&lt;mtext&gt;&lt;/mtext&gt;&lt;mn&gt;50&lt;/mn&gt;&lt;/math&gt;" id="913" name="Google Shape;913;p75" title="x plus 7 equals 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34034" y="2159998"/>
            <a:ext cx="1278000" cy="1680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4" name="Google Shape;914;p75"/>
          <p:cNvGrpSpPr/>
          <p:nvPr/>
        </p:nvGrpSpPr>
        <p:grpSpPr>
          <a:xfrm>
            <a:off x="2280200" y="3015375"/>
            <a:ext cx="3680448" cy="1701201"/>
            <a:chOff x="2280200" y="3015375"/>
            <a:chExt cx="3680448" cy="1701201"/>
          </a:xfrm>
        </p:grpSpPr>
        <p:pic>
          <p:nvPicPr>
            <p:cNvPr id="915" name="Google Shape;915;p75"/>
            <p:cNvPicPr preferRelativeResize="0"/>
            <p:nvPr/>
          </p:nvPicPr>
          <p:blipFill rotWithShape="1">
            <a:blip r:embed="rId8">
              <a:alphaModFix/>
            </a:blip>
            <a:srcRect b="0" l="0" r="69082" t="56280"/>
            <a:stretch/>
          </p:blipFill>
          <p:spPr>
            <a:xfrm flipH="1">
              <a:off x="2840499" y="3015375"/>
              <a:ext cx="3027026" cy="13951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6" name="Google Shape;916;p75"/>
            <p:cNvSpPr txBox="1"/>
            <p:nvPr/>
          </p:nvSpPr>
          <p:spPr>
            <a:xfrm flipH="1">
              <a:off x="3080648" y="3243475"/>
              <a:ext cx="2880000" cy="6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That was much easier than expanding the brackets first.</a:t>
              </a:r>
              <a:endParaRPr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917" name="Google Shape;917;p7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2280200" y="3934376"/>
              <a:ext cx="625526" cy="78220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6"/>
          <p:cNvSpPr txBox="1"/>
          <p:nvPr>
            <p:ph idx="1" type="subTitle"/>
          </p:nvPr>
        </p:nvSpPr>
        <p:spPr>
          <a:xfrm>
            <a:off x="980575" y="3196125"/>
            <a:ext cx="783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All equations are easier to solve if you divide by the coefficient of the bracket first.</a:t>
            </a:r>
            <a:endParaRPr sz="1800"/>
          </a:p>
        </p:txBody>
      </p:sp>
      <p:sp>
        <p:nvSpPr>
          <p:cNvPr id="923" name="Google Shape;92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sp>
        <p:nvSpPr>
          <p:cNvPr id="924" name="Google Shape;924;p76"/>
          <p:cNvSpPr txBox="1"/>
          <p:nvPr>
            <p:ph idx="2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equation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5(</a:t>
            </a:r>
            <a:r>
              <a:rPr i="1" lang="en-GB" sz="24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400">
                <a:latin typeface="Times"/>
                <a:ea typeface="Times"/>
                <a:cs typeface="Times"/>
                <a:sym typeface="Times"/>
              </a:rPr>
              <a:t> + 4) = 50</a:t>
            </a:r>
            <a:r>
              <a:rPr lang="en-GB"/>
              <a:t> </a:t>
            </a:r>
            <a:r>
              <a:rPr lang="en-GB"/>
              <a:t>must be solved by expanding the brackets first.</a:t>
            </a:r>
            <a:endParaRPr/>
          </a:p>
        </p:txBody>
      </p:sp>
      <p:sp>
        <p:nvSpPr>
          <p:cNvPr id="925" name="Google Shape;925;p76"/>
          <p:cNvSpPr txBox="1"/>
          <p:nvPr>
            <p:ph idx="3" type="subTitle"/>
          </p:nvPr>
        </p:nvSpPr>
        <p:spPr>
          <a:xfrm>
            <a:off x="980575" y="4040350"/>
            <a:ext cx="783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 and 50 have a common factor so dividing by the coefficient of the bracket may be easier.</a:t>
            </a:r>
            <a:endParaRPr sz="1800"/>
          </a:p>
        </p:txBody>
      </p:sp>
      <p:pic>
        <p:nvPicPr>
          <p:cNvPr id="926" name="Google Shape;92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285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008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77"/>
          <p:cNvSpPr txBox="1"/>
          <p:nvPr>
            <p:ph idx="1" type="subTitle"/>
          </p:nvPr>
        </p:nvSpPr>
        <p:spPr>
          <a:xfrm>
            <a:off x="1034425" y="25235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Adding 3 to both sides</a:t>
            </a:r>
            <a:endParaRPr/>
          </a:p>
        </p:txBody>
      </p:sp>
      <p:sp>
        <p:nvSpPr>
          <p:cNvPr id="933" name="Google Shape;933;p77"/>
          <p:cNvSpPr txBox="1"/>
          <p:nvPr>
            <p:ph idx="4" type="subTitle"/>
          </p:nvPr>
        </p:nvSpPr>
        <p:spPr>
          <a:xfrm>
            <a:off x="1034425" y="4147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Dividing both sides by 7</a:t>
            </a:r>
            <a:endParaRPr/>
          </a:p>
        </p:txBody>
      </p:sp>
      <p:sp>
        <p:nvSpPr>
          <p:cNvPr id="934" name="Google Shape;934;p7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sp>
        <p:nvSpPr>
          <p:cNvPr id="935" name="Google Shape;935;p77"/>
          <p:cNvSpPr txBox="1"/>
          <p:nvPr>
            <p:ph type="title"/>
          </p:nvPr>
        </p:nvSpPr>
        <p:spPr>
          <a:xfrm>
            <a:off x="324000" y="810000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Which first step makes the equation 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7(</a:t>
            </a:r>
            <a:r>
              <a:rPr i="1" lang="en-GB" sz="23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 + 3) = 32</a:t>
            </a:r>
            <a:r>
              <a:rPr lang="en-GB" sz="2100"/>
              <a:t> easier to solve?</a:t>
            </a:r>
            <a:endParaRPr sz="2100"/>
          </a:p>
        </p:txBody>
      </p:sp>
      <p:sp>
        <p:nvSpPr>
          <p:cNvPr id="936" name="Google Shape;936;p77"/>
          <p:cNvSpPr txBox="1"/>
          <p:nvPr>
            <p:ph idx="3" type="subTitle"/>
          </p:nvPr>
        </p:nvSpPr>
        <p:spPr>
          <a:xfrm>
            <a:off x="1034425" y="33276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Multiplying both sides by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7}&quot;&gt;&lt;mfrac&gt;&lt;mn&gt;1&lt;/mn&gt;&lt;mn&gt;7&lt;/mn&gt;&lt;/mfrac&gt;&lt;/math&gt;" id="937" name="Google Shape;937;p77" title="one sev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4675" y="3191327"/>
            <a:ext cx="186719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77"/>
          <p:cNvSpPr txBox="1"/>
          <p:nvPr>
            <p:ph idx="5" type="subTitle"/>
          </p:nvPr>
        </p:nvSpPr>
        <p:spPr>
          <a:xfrm>
            <a:off x="1034425" y="1683812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Expanding the brackets</a:t>
            </a:r>
            <a:endParaRPr/>
          </a:p>
        </p:txBody>
      </p:sp>
      <p:pic>
        <p:nvPicPr>
          <p:cNvPr id="939" name="Google Shape;939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4008" y="16250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7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sp>
        <p:nvSpPr>
          <p:cNvPr id="945" name="Google Shape;945;p78"/>
          <p:cNvSpPr txBox="1"/>
          <p:nvPr>
            <p:ph type="title"/>
          </p:nvPr>
        </p:nvSpPr>
        <p:spPr>
          <a:xfrm>
            <a:off x="324000" y="810000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Which first step makes the equation 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7(</a:t>
            </a:r>
            <a:r>
              <a:rPr i="1" lang="en-GB" sz="23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 + 3) = 32</a:t>
            </a:r>
            <a:r>
              <a:rPr lang="en-GB" sz="2100"/>
              <a:t> easier to solve?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\left(x+3\right)}{7}=\frac{32}{7}&quot;&gt;&lt;mfrac&gt;&lt;mrow&gt;&lt;mn&gt;7&lt;/mn&gt;&lt;mrow data-mjx-texclass=&quot;INNER&quot;&gt;&lt;mo data-mjx-texclass=&quot;OPEN&quot;&gt;(&lt;/mo&gt;&lt;mi&gt;x&lt;/mi&gt;&lt;mo&gt;+&lt;/mo&gt;&lt;mn&gt;3&lt;/mn&gt;&lt;mo data-mjx-texclass=&quot;CLOSE&quot;&gt;)&lt;/mo&gt;&lt;/mrow&gt;&lt;/mrow&gt;&lt;mn&gt;7&lt;/mn&gt;&lt;/mfrac&gt;&lt;mo&gt;=&lt;/mo&gt;&lt;mfrac&gt;&lt;mn&gt;32&lt;/mn&gt;&lt;mn&gt;7&lt;/mn&gt;&lt;/mfrac&gt;&lt;/math&gt;" id="946" name="Google Shape;946;p78" title="7 times open paren x plus 3 close paren over 7 equals 32 over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7987" y="4013250"/>
            <a:ext cx="184045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x\ +\ 21=32&quot;&gt;&lt;mn&gt;7&lt;/mn&gt;&lt;mi&gt;x&lt;/mi&gt;&lt;mtext&gt;&lt;/mtext&gt;&lt;mo&gt;+&lt;/mo&gt;&lt;mtext&gt;&lt;/mtext&gt;&lt;mn&gt;21&lt;/mn&gt;&lt;mo&gt;=&lt;/mo&gt;&lt;mn&gt;32&lt;/mn&gt;&lt;/math&gt;" id="947" name="Google Shape;947;p78" title="7 x plus 21 equals 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7987" y="1786602"/>
            <a:ext cx="1939625" cy="241061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78"/>
          <p:cNvSpPr txBox="1"/>
          <p:nvPr>
            <p:ph type="title"/>
          </p:nvPr>
        </p:nvSpPr>
        <p:spPr>
          <a:xfrm>
            <a:off x="3452875" y="1662350"/>
            <a:ext cx="5367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Expanding the brackets works the best in this case.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9" name="Google Shape;949;p78"/>
          <p:cNvSpPr txBox="1"/>
          <p:nvPr>
            <p:ph type="title"/>
          </p:nvPr>
        </p:nvSpPr>
        <p:spPr>
          <a:xfrm>
            <a:off x="3861200" y="2479850"/>
            <a:ext cx="4958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Adding 3 does not help us solve the equation.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x+3=32\times\frac{1}{7}&quot;&gt;&lt;mi&gt;x&lt;/mi&gt;&lt;mo&gt;+&lt;/mo&gt;&lt;mn&gt;3&lt;/mn&gt;&lt;mo&gt;=&lt;/mo&gt;&lt;mn&gt;32&lt;/mn&gt;&lt;mo&gt;×&lt;/mo&gt;&lt;mfrac&gt;&lt;mn&gt;1&lt;/mn&gt;&lt;mn&gt;7&lt;/mn&gt;&lt;/mfrac&gt;&lt;/math&gt;" id="950" name="Google Shape;950;p78" title="x plus 3 equals 32 times one seven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1305" y="3137825"/>
            <a:ext cx="185383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78"/>
          <p:cNvSpPr txBox="1"/>
          <p:nvPr>
            <p:ph type="title"/>
          </p:nvPr>
        </p:nvSpPr>
        <p:spPr>
          <a:xfrm>
            <a:off x="3369600" y="3297325"/>
            <a:ext cx="5450400" cy="1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Multiplying by a seventh and dividing by 7 are equivalent. Both will help us solve the equation however 7 is not a factor of 32 so this method will require more fraction calculations.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52" name="Google Shape;952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37354" y="169758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left(x\ +\ 3\right)+3\ =\ 35&quot;&gt;&lt;mn&gt;7&lt;/mn&gt;&lt;mrow data-mjx-texclass=&quot;INNER&quot;&gt;&lt;mo data-mjx-texclass=&quot;OPEN&quot;&gt;(&lt;/mo&gt;&lt;mi&gt;x&lt;/mi&gt;&lt;mtext&gt;&lt;/mtext&gt;&lt;mo&gt;+&lt;/mo&gt;&lt;mtext&gt;&lt;/mtext&gt;&lt;mn&gt;3&lt;/mn&gt;&lt;mo data-mjx-texclass=&quot;CLOSE&quot;&gt;)&lt;/mo&gt;&lt;/mrow&gt;&lt;mo&gt;+&lt;/mo&gt;&lt;mn&gt;3&lt;/mn&gt;&lt;mtext&gt;&lt;/mtext&gt;&lt;mo&gt;=&lt;/mo&gt;&lt;mtext&gt;&lt;/mtext&gt;&lt;mn&gt;35&lt;/mn&gt;&lt;/math&gt;" id="953" name="Google Shape;953;p78" title="7 times open paren x plus 3 close paren plus 3 equals 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8000" y="2547894"/>
            <a:ext cx="2657350" cy="27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sp>
        <p:nvSpPr>
          <p:cNvPr id="959" name="Google Shape;959;p79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Spot the mistake in each method to solve an equation involving brackets. </a:t>
            </a:r>
            <a:endParaRPr sz="1800"/>
          </a:p>
        </p:txBody>
      </p:sp>
      <p:graphicFrame>
        <p:nvGraphicFramePr>
          <p:cNvPr id="960" name="Google Shape;960;p79"/>
          <p:cNvGraphicFramePr/>
          <p:nvPr/>
        </p:nvGraphicFramePr>
        <p:xfrm>
          <a:off x="400203" y="14760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+ 10)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55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61" name="Google Shape;961;p79"/>
          <p:cNvGraphicFramePr/>
          <p:nvPr/>
        </p:nvGraphicFramePr>
        <p:xfrm>
          <a:off x="6083669" y="1476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62" name="Google Shape;962;p79"/>
          <p:cNvCxnSpPr/>
          <p:nvPr/>
        </p:nvCxnSpPr>
        <p:spPr>
          <a:xfrm>
            <a:off x="2845925" y="1203500"/>
            <a:ext cx="0" cy="3617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79"/>
          <p:cNvCxnSpPr/>
          <p:nvPr/>
        </p:nvCxnSpPr>
        <p:spPr>
          <a:xfrm>
            <a:off x="5881350" y="1203500"/>
            <a:ext cx="0" cy="3617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4" name="Google Shape;964;p79"/>
          <p:cNvSpPr/>
          <p:nvPr/>
        </p:nvSpPr>
        <p:spPr>
          <a:xfrm>
            <a:off x="324000" y="11780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9"/>
          <p:cNvSpPr/>
          <p:nvPr/>
        </p:nvSpPr>
        <p:spPr>
          <a:xfrm>
            <a:off x="3067200" y="11780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9"/>
          <p:cNvSpPr/>
          <p:nvPr/>
        </p:nvSpPr>
        <p:spPr>
          <a:xfrm>
            <a:off x="6115200" y="11780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67" name="Google Shape;967;p79"/>
          <p:cNvGraphicFramePr/>
          <p:nvPr/>
        </p:nvGraphicFramePr>
        <p:xfrm>
          <a:off x="3241094" y="1533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2(4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+ 10)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sp>
        <p:nvSpPr>
          <p:cNvPr id="973" name="Google Shape;973;p80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Spot the mistake in each method to solve an equation involving brackets. </a:t>
            </a:r>
            <a:endParaRPr sz="1800"/>
          </a:p>
        </p:txBody>
      </p:sp>
      <p:graphicFrame>
        <p:nvGraphicFramePr>
          <p:cNvPr id="974" name="Google Shape;974;p80"/>
          <p:cNvGraphicFramePr/>
          <p:nvPr/>
        </p:nvGraphicFramePr>
        <p:xfrm>
          <a:off x="3188069" y="1609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975" name="Google Shape;975;p80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0" y="1609675"/>
            <a:ext cx="144425" cy="477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6" name="Google Shape;976;p80"/>
          <p:cNvGraphicFramePr/>
          <p:nvPr/>
        </p:nvGraphicFramePr>
        <p:xfrm>
          <a:off x="6377469" y="16066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(10 </a:t>
                      </a:r>
                      <a:r>
                        <a:rPr lang="en-GB" sz="1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− 8</a:t>
                      </a:r>
                      <a:r>
                        <a:rPr i="1" lang="en-GB" sz="1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9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977" name="Google Shape;977;p80" title="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9391" y="1605367"/>
            <a:ext cx="144425" cy="460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4}-\frac{24}{4}x\ =\ 6&quot;&gt;&lt;mfrac&gt;&lt;mn&gt;30&lt;/mn&gt;&lt;mn&gt;4&lt;/mn&gt;&lt;/mfrac&gt;&lt;mo&gt;−&lt;/mo&gt;&lt;mfrac&gt;&lt;mn&gt;24&lt;/mn&gt;&lt;mn&gt;4&lt;/mn&gt;&lt;/mfrac&gt;&lt;mi&gt;x&lt;/mi&gt;&lt;mtext&gt;&lt;/mtext&gt;&lt;mo&gt;=&lt;/mo&gt;&lt;mtext&gt;&lt;/mtext&gt;&lt;mn&gt;6&lt;/mn&gt;&lt;/math&gt;" id="978" name="Google Shape;978;p80" title="30 over 4 minus 24 over 4 x equals 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8405" y="2091932"/>
            <a:ext cx="1365967" cy="433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24}{4}x\ =\ -\frac{3}{2}&quot;&gt;&lt;mo&gt;−&lt;/mo&gt;&lt;mfrac&gt;&lt;mn&gt;24&lt;/mn&gt;&lt;mn&gt;4&lt;/mn&gt;&lt;/mfrac&gt;&lt;mi&gt;x&lt;/mi&gt;&lt;mtext&gt;&lt;/mtext&gt;&lt;mo&gt;=&lt;/mo&gt;&lt;mtext&gt;&lt;/mtext&gt;&lt;mo&gt;−&lt;/mo&gt;&lt;mfrac&gt;&lt;mn&gt;3&lt;/mn&gt;&lt;mn&gt;2&lt;/mn&gt;&lt;/mfrac&gt;&lt;/math&gt;" id="979" name="Google Shape;979;p80" title="negative 24 over 4 x equals negative thre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83224" y="2612091"/>
            <a:ext cx="1241640" cy="4158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\ =\ -\frac{3}{2}\times\frac{4}{24}&quot;&gt;&lt;mi&gt;x&lt;/mi&gt;&lt;mtext&gt;&lt;/mtext&gt;&lt;mo&gt;=&lt;/mo&gt;&lt;mtext&gt;&lt;/mtext&gt;&lt;mo&gt;−&lt;/mo&gt;&lt;mfrac&gt;&lt;mn&gt;3&lt;/mn&gt;&lt;mn&gt;2&lt;/mn&gt;&lt;/mfrac&gt;&lt;mo&gt;×&lt;/mo&gt;&lt;mfrac&gt;&lt;mn&gt;4&lt;/mn&gt;&lt;mn&gt;24&lt;/mn&gt;&lt;/mfrac&gt;&lt;/math&gt;" id="980" name="Google Shape;980;p80" title="x equals negative three halves times 4 over 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01935" y="3075647"/>
            <a:ext cx="1241646" cy="3883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\ =\ -\frac{1}{4}&quot;&gt;&lt;mi&gt;x&lt;/mi&gt;&lt;mtext&gt;&lt;/mtext&gt;&lt;mo&gt;=&lt;/mo&gt;&lt;mtext&gt;&lt;/mtext&gt;&lt;mo&gt;−&lt;/mo&gt;&lt;mfrac&gt;&lt;mn&gt;1&lt;/mn&gt;&lt;mn&gt;4&lt;/mn&gt;&lt;/mfrac&gt;&lt;/math&gt;" id="981" name="Google Shape;981;p80" title="x equals negative one four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09060" y="3513746"/>
            <a:ext cx="779541" cy="3883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2" name="Google Shape;982;p80"/>
          <p:cNvCxnSpPr/>
          <p:nvPr/>
        </p:nvCxnSpPr>
        <p:spPr>
          <a:xfrm>
            <a:off x="2876213" y="1224375"/>
            <a:ext cx="0" cy="3617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80"/>
          <p:cNvCxnSpPr/>
          <p:nvPr/>
        </p:nvCxnSpPr>
        <p:spPr>
          <a:xfrm>
            <a:off x="5786613" y="1167675"/>
            <a:ext cx="0" cy="3617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80"/>
          <p:cNvSpPr/>
          <p:nvPr/>
        </p:nvSpPr>
        <p:spPr>
          <a:xfrm>
            <a:off x="324000" y="11780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80"/>
          <p:cNvSpPr/>
          <p:nvPr/>
        </p:nvSpPr>
        <p:spPr>
          <a:xfrm>
            <a:off x="2991000" y="11780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80"/>
          <p:cNvSpPr/>
          <p:nvPr/>
        </p:nvSpPr>
        <p:spPr>
          <a:xfrm>
            <a:off x="6039000" y="11780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87" name="Google Shape;987;p80"/>
          <p:cNvGraphicFramePr/>
          <p:nvPr/>
        </p:nvGraphicFramePr>
        <p:xfrm>
          <a:off x="357669" y="1482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10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81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2a) Solve this equation using both methods and write a sentence comparing the efficiency of the methods.</a:t>
            </a:r>
            <a:endParaRPr sz="1800"/>
          </a:p>
        </p:txBody>
      </p:sp>
      <p:graphicFrame>
        <p:nvGraphicFramePr>
          <p:cNvPr id="993" name="Google Shape;993;p81"/>
          <p:cNvGraphicFramePr/>
          <p:nvPr/>
        </p:nvGraphicFramePr>
        <p:xfrm>
          <a:off x="182866" y="1930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9)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4" name="Google Shape;994;p81"/>
          <p:cNvSpPr txBox="1"/>
          <p:nvPr>
            <p:ph idx="4294967295" type="body"/>
          </p:nvPr>
        </p:nvSpPr>
        <p:spPr>
          <a:xfrm>
            <a:off x="324000" y="1608730"/>
            <a:ext cx="24108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Expanding first:</a:t>
            </a:r>
            <a:endParaRPr sz="2000"/>
          </a:p>
        </p:txBody>
      </p:sp>
      <p:sp>
        <p:nvSpPr>
          <p:cNvPr id="995" name="Google Shape;995;p81"/>
          <p:cNvSpPr txBox="1"/>
          <p:nvPr>
            <p:ph idx="4294967295" type="body"/>
          </p:nvPr>
        </p:nvSpPr>
        <p:spPr>
          <a:xfrm>
            <a:off x="4317674" y="1608725"/>
            <a:ext cx="45024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Multiplying by the reciprocal first:</a:t>
            </a:r>
            <a:endParaRPr sz="2000"/>
          </a:p>
        </p:txBody>
      </p:sp>
      <p:sp>
        <p:nvSpPr>
          <p:cNvPr id="996" name="Google Shape;996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graphicFrame>
        <p:nvGraphicFramePr>
          <p:cNvPr id="997" name="Google Shape;997;p81"/>
          <p:cNvGraphicFramePr/>
          <p:nvPr/>
        </p:nvGraphicFramePr>
        <p:xfrm>
          <a:off x="3764266" y="1930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9)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82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2b</a:t>
            </a:r>
            <a:r>
              <a:rPr lang="en-GB" sz="1800"/>
              <a:t>) Solve this equation using both methods and write a sentence comparing the efficiency of the methods.</a:t>
            </a:r>
            <a:endParaRPr sz="1800"/>
          </a:p>
        </p:txBody>
      </p:sp>
      <p:graphicFrame>
        <p:nvGraphicFramePr>
          <p:cNvPr id="1003" name="Google Shape;1003;p82"/>
          <p:cNvGraphicFramePr/>
          <p:nvPr/>
        </p:nvGraphicFramePr>
        <p:xfrm>
          <a:off x="182866" y="1930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(4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4" name="Google Shape;1004;p82"/>
          <p:cNvSpPr txBox="1"/>
          <p:nvPr>
            <p:ph idx="4294967295" type="body"/>
          </p:nvPr>
        </p:nvSpPr>
        <p:spPr>
          <a:xfrm>
            <a:off x="324000" y="1608730"/>
            <a:ext cx="24108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Expanding first:</a:t>
            </a:r>
            <a:endParaRPr sz="2000"/>
          </a:p>
        </p:txBody>
      </p:sp>
      <p:sp>
        <p:nvSpPr>
          <p:cNvPr id="1005" name="Google Shape;1005;p82"/>
          <p:cNvSpPr txBox="1"/>
          <p:nvPr>
            <p:ph idx="4294967295" type="body"/>
          </p:nvPr>
        </p:nvSpPr>
        <p:spPr>
          <a:xfrm>
            <a:off x="4317674" y="1608725"/>
            <a:ext cx="45024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Multiplying by the reciprocal first:</a:t>
            </a:r>
            <a:endParaRPr sz="2000"/>
          </a:p>
        </p:txBody>
      </p:sp>
      <p:sp>
        <p:nvSpPr>
          <p:cNvPr id="1006" name="Google Shape;1006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graphicFrame>
        <p:nvGraphicFramePr>
          <p:cNvPr id="1007" name="Google Shape;1007;p82"/>
          <p:cNvGraphicFramePr/>
          <p:nvPr/>
        </p:nvGraphicFramePr>
        <p:xfrm>
          <a:off x="3992866" y="1930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14625"/>
                <a:gridCol w="339525"/>
                <a:gridCol w="1520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15(4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83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2c) Solve this equation using both methods and write a sentence comparing the efficiency of the methods.</a:t>
            </a:r>
            <a:endParaRPr sz="1800"/>
          </a:p>
        </p:txBody>
      </p:sp>
      <p:sp>
        <p:nvSpPr>
          <p:cNvPr id="1013" name="Google Shape;1013;p83"/>
          <p:cNvSpPr txBox="1"/>
          <p:nvPr>
            <p:ph idx="4294967295" type="body"/>
          </p:nvPr>
        </p:nvSpPr>
        <p:spPr>
          <a:xfrm>
            <a:off x="324000" y="1608730"/>
            <a:ext cx="24108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Expanding first:</a:t>
            </a:r>
            <a:endParaRPr sz="2000"/>
          </a:p>
        </p:txBody>
      </p:sp>
      <p:sp>
        <p:nvSpPr>
          <p:cNvPr id="1014" name="Google Shape;1014;p83"/>
          <p:cNvSpPr txBox="1"/>
          <p:nvPr>
            <p:ph idx="4294967295" type="body"/>
          </p:nvPr>
        </p:nvSpPr>
        <p:spPr>
          <a:xfrm>
            <a:off x="4317674" y="1608725"/>
            <a:ext cx="45024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Multiplying by the reciprocal first:</a:t>
            </a:r>
            <a:endParaRPr sz="2000"/>
          </a:p>
        </p:txBody>
      </p:sp>
      <p:sp>
        <p:nvSpPr>
          <p:cNvPr id="1015" name="Google Shape;1015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pic>
        <p:nvPicPr>
          <p:cNvPr id="1016" name="Google Shape;101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992500"/>
            <a:ext cx="1810775" cy="5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7675" y="1992500"/>
            <a:ext cx="1810775" cy="55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sp>
        <p:nvSpPr>
          <p:cNvPr id="1023" name="Google Shape;1023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Spot the mistake in each method to solve an equation involving brackets. </a:t>
            </a:r>
            <a:endParaRPr sz="1800"/>
          </a:p>
        </p:txBody>
      </p:sp>
      <p:graphicFrame>
        <p:nvGraphicFramePr>
          <p:cNvPr id="1024" name="Google Shape;1024;p84"/>
          <p:cNvGraphicFramePr/>
          <p:nvPr/>
        </p:nvGraphicFramePr>
        <p:xfrm>
          <a:off x="400203" y="14760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+ 10)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55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25" name="Google Shape;1025;p84"/>
          <p:cNvGraphicFramePr/>
          <p:nvPr/>
        </p:nvGraphicFramePr>
        <p:xfrm>
          <a:off x="6083669" y="1476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42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3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26" name="Google Shape;1026;p84"/>
          <p:cNvCxnSpPr/>
          <p:nvPr/>
        </p:nvCxnSpPr>
        <p:spPr>
          <a:xfrm>
            <a:off x="2922125" y="1203500"/>
            <a:ext cx="0" cy="3617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" name="Google Shape;1027;p84"/>
          <p:cNvCxnSpPr/>
          <p:nvPr/>
        </p:nvCxnSpPr>
        <p:spPr>
          <a:xfrm>
            <a:off x="5881350" y="1203500"/>
            <a:ext cx="0" cy="3617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8" name="Google Shape;1028;p84"/>
          <p:cNvSpPr/>
          <p:nvPr/>
        </p:nvSpPr>
        <p:spPr>
          <a:xfrm>
            <a:off x="324000" y="11780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4"/>
          <p:cNvSpPr/>
          <p:nvPr/>
        </p:nvSpPr>
        <p:spPr>
          <a:xfrm>
            <a:off x="3067200" y="11780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4"/>
          <p:cNvSpPr/>
          <p:nvPr/>
        </p:nvSpPr>
        <p:spPr>
          <a:xfrm>
            <a:off x="6115200" y="11780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1" name="Google Shape;1031;p84"/>
          <p:cNvSpPr txBox="1"/>
          <p:nvPr>
            <p:ph idx="1" type="body"/>
          </p:nvPr>
        </p:nvSpPr>
        <p:spPr>
          <a:xfrm>
            <a:off x="346950" y="3194975"/>
            <a:ext cx="2605800" cy="10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brackets have not been expanded properly.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second line should be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+ 50 = 55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32" name="Google Shape;1032;p84"/>
          <p:cNvSpPr txBox="1"/>
          <p:nvPr>
            <p:ph idx="1" type="body"/>
          </p:nvPr>
        </p:nvSpPr>
        <p:spPr>
          <a:xfrm>
            <a:off x="2978025" y="3127075"/>
            <a:ext cx="2880000" cy="15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When dividing the LHS by 2 the terms in the bracket should not be divided.The second line should be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 = 9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033" name="Google Shape;1033;p84"/>
          <p:cNvGraphicFramePr/>
          <p:nvPr/>
        </p:nvGraphicFramePr>
        <p:xfrm>
          <a:off x="3241094" y="15048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2(4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+ 10)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4" name="Google Shape;1034;p84"/>
          <p:cNvSpPr txBox="1"/>
          <p:nvPr>
            <p:ph idx="1" type="body"/>
          </p:nvPr>
        </p:nvSpPr>
        <p:spPr>
          <a:xfrm>
            <a:off x="5983475" y="2994750"/>
            <a:ext cx="28800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additive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inverse of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 is + 3 so 3 should have been added to both sides. Line 3 should be         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6 + 3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or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9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85"/>
          <p:cNvSpPr/>
          <p:nvPr/>
        </p:nvSpPr>
        <p:spPr>
          <a:xfrm>
            <a:off x="5859875" y="2968350"/>
            <a:ext cx="1325400" cy="841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sp>
        <p:nvSpPr>
          <p:cNvPr id="1041" name="Google Shape;1041;p85"/>
          <p:cNvSpPr txBox="1"/>
          <p:nvPr>
            <p:ph idx="1" type="body"/>
          </p:nvPr>
        </p:nvSpPr>
        <p:spPr>
          <a:xfrm>
            <a:off x="318875" y="759300"/>
            <a:ext cx="823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Spot the mistake in each method to solve an equation involving brackets. </a:t>
            </a:r>
            <a:endParaRPr sz="1800"/>
          </a:p>
        </p:txBody>
      </p:sp>
      <p:graphicFrame>
        <p:nvGraphicFramePr>
          <p:cNvPr id="1042" name="Google Shape;1042;p85"/>
          <p:cNvGraphicFramePr/>
          <p:nvPr/>
        </p:nvGraphicFramePr>
        <p:xfrm>
          <a:off x="3188069" y="1381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15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5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043" name="Google Shape;1043;p85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0" y="1381075"/>
            <a:ext cx="144425" cy="477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4" name="Google Shape;1044;p85"/>
          <p:cNvGraphicFramePr/>
          <p:nvPr/>
        </p:nvGraphicFramePr>
        <p:xfrm>
          <a:off x="6377469" y="16066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9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(10 </a:t>
                      </a:r>
                      <a:r>
                        <a:rPr lang="en-GB" sz="1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− 8</a:t>
                      </a:r>
                      <a:r>
                        <a:rPr i="1" lang="en-GB" sz="1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19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045" name="Google Shape;1045;p85" title="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9391" y="1605367"/>
            <a:ext cx="144425" cy="460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4}-\frac{24}{4}x\ =\ 6&quot;&gt;&lt;mfrac&gt;&lt;mn&gt;30&lt;/mn&gt;&lt;mn&gt;4&lt;/mn&gt;&lt;/mfrac&gt;&lt;mo&gt;−&lt;/mo&gt;&lt;mfrac&gt;&lt;mn&gt;24&lt;/mn&gt;&lt;mn&gt;4&lt;/mn&gt;&lt;/mfrac&gt;&lt;mi&gt;x&lt;/mi&gt;&lt;mtext&gt;&lt;/mtext&gt;&lt;mo&gt;=&lt;/mo&gt;&lt;mtext&gt;&lt;/mtext&gt;&lt;mn&gt;6&lt;/mn&gt;&lt;/math&gt;" id="1046" name="Google Shape;1046;p85" title="30 over 4 minus 24 over 4 x equals 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8405" y="2091932"/>
            <a:ext cx="1365967" cy="433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24}{4}x\ =\ -\frac{3}{2}&quot;&gt;&lt;mo&gt;−&lt;/mo&gt;&lt;mfrac&gt;&lt;mn&gt;24&lt;/mn&gt;&lt;mn&gt;4&lt;/mn&gt;&lt;/mfrac&gt;&lt;mi&gt;x&lt;/mi&gt;&lt;mtext&gt;&lt;/mtext&gt;&lt;mo&gt;=&lt;/mo&gt;&lt;mtext&gt;&lt;/mtext&gt;&lt;mo&gt;−&lt;/mo&gt;&lt;mfrac&gt;&lt;mn&gt;3&lt;/mn&gt;&lt;mn&gt;2&lt;/mn&gt;&lt;/mfrac&gt;&lt;/math&gt;" id="1047" name="Google Shape;1047;p85" title="negative 24 over 4 x equals negative thre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83224" y="2612091"/>
            <a:ext cx="1241640" cy="4158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\ =\ -\frac{3}{2}\times\frac{4}{24}&quot;&gt;&lt;mi&gt;x&lt;/mi&gt;&lt;mtext&gt;&lt;/mtext&gt;&lt;mo&gt;=&lt;/mo&gt;&lt;mtext&gt;&lt;/mtext&gt;&lt;mo&gt;−&lt;/mo&gt;&lt;mfrac&gt;&lt;mn&gt;3&lt;/mn&gt;&lt;mn&gt;2&lt;/mn&gt;&lt;/mfrac&gt;&lt;mo&gt;×&lt;/mo&gt;&lt;mfrac&gt;&lt;mn&gt;4&lt;/mn&gt;&lt;mn&gt;24&lt;/mn&gt;&lt;/mfrac&gt;&lt;/math&gt;" id="1048" name="Google Shape;1048;p85" title="x equals negative three halves times 4 over 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01935" y="3075647"/>
            <a:ext cx="1241646" cy="3883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\ =\ -\frac{1}{4}&quot;&gt;&lt;mi&gt;x&lt;/mi&gt;&lt;mtext&gt;&lt;/mtext&gt;&lt;mo&gt;=&lt;/mo&gt;&lt;mtext&gt;&lt;/mtext&gt;&lt;mo&gt;−&lt;/mo&gt;&lt;mfrac&gt;&lt;mn&gt;1&lt;/mn&gt;&lt;mn&gt;4&lt;/mn&gt;&lt;/mfrac&gt;&lt;/math&gt;" id="1049" name="Google Shape;1049;p85" title="x equals negative one four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09060" y="3513746"/>
            <a:ext cx="779541" cy="3883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0" name="Google Shape;1050;p85"/>
          <p:cNvCxnSpPr/>
          <p:nvPr/>
        </p:nvCxnSpPr>
        <p:spPr>
          <a:xfrm>
            <a:off x="2876213" y="1224375"/>
            <a:ext cx="0" cy="3617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" name="Google Shape;1051;p85"/>
          <p:cNvCxnSpPr/>
          <p:nvPr/>
        </p:nvCxnSpPr>
        <p:spPr>
          <a:xfrm>
            <a:off x="5786613" y="1167675"/>
            <a:ext cx="0" cy="3617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2" name="Google Shape;1052;p85"/>
          <p:cNvSpPr/>
          <p:nvPr/>
        </p:nvSpPr>
        <p:spPr>
          <a:xfrm>
            <a:off x="324000" y="11780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5"/>
          <p:cNvSpPr/>
          <p:nvPr/>
        </p:nvSpPr>
        <p:spPr>
          <a:xfrm>
            <a:off x="2991000" y="11780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5"/>
          <p:cNvSpPr/>
          <p:nvPr/>
        </p:nvSpPr>
        <p:spPr>
          <a:xfrm>
            <a:off x="6039000" y="11780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55" name="Google Shape;1055;p85"/>
          <p:cNvGraphicFramePr/>
          <p:nvPr/>
        </p:nvGraphicFramePr>
        <p:xfrm>
          <a:off x="329374" y="14003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2)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10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14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6" name="Google Shape;1056;p85"/>
          <p:cNvSpPr txBox="1"/>
          <p:nvPr>
            <p:ph idx="1" type="body"/>
          </p:nvPr>
        </p:nvSpPr>
        <p:spPr>
          <a:xfrm>
            <a:off x="357675" y="3028000"/>
            <a:ext cx="2605800" cy="10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brackets have not been expanded properly 5 and 3 should be multiplied not added. The second line should be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+ 10 = 55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57" name="Google Shape;1057;p85"/>
          <p:cNvSpPr txBox="1"/>
          <p:nvPr>
            <p:ph idx="1" type="body"/>
          </p:nvPr>
        </p:nvSpPr>
        <p:spPr>
          <a:xfrm>
            <a:off x="2963475" y="3075650"/>
            <a:ext cx="2724000" cy="10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reciprocal of a third is three.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first step should be to multiply by 3 not divide by 3.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-x=-\frac{3}{2}\times\frac{4}{24}&quot;&gt;&lt;mo&gt;−&lt;/mo&gt;&lt;mi&gt;x&lt;/mi&gt;&lt;mo&gt;=&lt;/mo&gt;&lt;mo&gt;−&lt;/mo&gt;&lt;mfrac&gt;&lt;mn&gt;3&lt;/mn&gt;&lt;mn&gt;2&lt;/mn&gt;&lt;/mfrac&gt;&lt;mo&gt;×&lt;/mo&gt;&lt;mfrac&gt;&lt;mn&gt;4&lt;/mn&gt;&lt;mn&gt;24&lt;/mn&gt;&lt;/mfrac&gt;&lt;/math&gt;" id="1058" name="Google Shape;1058;p85" title="negative x equals negative three halves times 4 over 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95525" y="3038774"/>
            <a:ext cx="1187696" cy="388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\frac{1}{4}&quot;&gt;&lt;mi&gt;x&lt;/mi&gt;&lt;mo&gt;=&lt;/mo&gt;&lt;mfrac&gt;&lt;mn&gt;1&lt;/mn&gt;&lt;mn&gt;4&lt;/mn&gt;&lt;/mfrac&gt;&lt;/math&gt;" id="1059" name="Google Shape;1059;p85" title="x equals one four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39303" y="3453304"/>
            <a:ext cx="434988" cy="356846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85"/>
          <p:cNvSpPr txBox="1"/>
          <p:nvPr>
            <p:ph idx="1" type="body"/>
          </p:nvPr>
        </p:nvSpPr>
        <p:spPr>
          <a:xfrm>
            <a:off x="5816700" y="3886350"/>
            <a:ext cx="3003300" cy="55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would have been easier to multiply by the reciprocal first.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061" name="Google Shape;1061;p85"/>
          <p:cNvCxnSpPr/>
          <p:nvPr/>
        </p:nvCxnSpPr>
        <p:spPr>
          <a:xfrm>
            <a:off x="7185275" y="3389250"/>
            <a:ext cx="486900" cy="492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86"/>
          <p:cNvSpPr txBox="1"/>
          <p:nvPr>
            <p:ph idx="1" type="body"/>
          </p:nvPr>
        </p:nvSpPr>
        <p:spPr>
          <a:xfrm>
            <a:off x="324000" y="759300"/>
            <a:ext cx="8237700" cy="7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2a) Solve this equation using both methods and write a sentence comparing the efficiency of the methods.</a:t>
            </a:r>
            <a:endParaRPr sz="1800"/>
          </a:p>
        </p:txBody>
      </p:sp>
      <p:sp>
        <p:nvSpPr>
          <p:cNvPr id="1067" name="Google Shape;1067;p86"/>
          <p:cNvSpPr txBox="1"/>
          <p:nvPr>
            <p:ph idx="4294967295" type="body"/>
          </p:nvPr>
        </p:nvSpPr>
        <p:spPr>
          <a:xfrm>
            <a:off x="324000" y="1608730"/>
            <a:ext cx="24108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Expanding first:</a:t>
            </a:r>
            <a:endParaRPr sz="2000"/>
          </a:p>
        </p:txBody>
      </p:sp>
      <p:sp>
        <p:nvSpPr>
          <p:cNvPr id="1068" name="Google Shape;1068;p86"/>
          <p:cNvSpPr txBox="1"/>
          <p:nvPr>
            <p:ph idx="4294967295" type="body"/>
          </p:nvPr>
        </p:nvSpPr>
        <p:spPr>
          <a:xfrm>
            <a:off x="4317674" y="1608725"/>
            <a:ext cx="45024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Multiplying by the reciprocal first:</a:t>
            </a:r>
            <a:endParaRPr sz="2000"/>
          </a:p>
        </p:txBody>
      </p:sp>
      <p:sp>
        <p:nvSpPr>
          <p:cNvPr id="1069" name="Google Shape;1069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graphicFrame>
        <p:nvGraphicFramePr>
          <p:cNvPr id="1070" name="Google Shape;1070;p86"/>
          <p:cNvGraphicFramePr/>
          <p:nvPr/>
        </p:nvGraphicFramePr>
        <p:xfrm>
          <a:off x="324003" y="21208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9)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54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21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x=\ \frac{75}{6}=\frac{25}{2}&quot;&gt;&lt;mi&gt;x&lt;/mi&gt;&lt;mo&gt;=&lt;/mo&gt;&lt;mtext&gt;&lt;/mtext&gt;&lt;mfrac&gt;&lt;mn&gt;75&lt;/mn&gt;&lt;mn&gt;6&lt;/mn&gt;&lt;/mfrac&gt;&lt;mo&gt;=&lt;/mo&gt;&lt;mfrac&gt;&lt;mn&gt;25&lt;/mn&gt;&lt;mn&gt;2&lt;/mn&gt;&lt;/mfrac&gt;&lt;/math&gt;" id="1071" name="Google Shape;1071;p86" title="x equals 75 over 6 equals 25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050" y="3444275"/>
            <a:ext cx="1351725" cy="480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72" name="Google Shape;1072;p86"/>
          <p:cNvGraphicFramePr/>
          <p:nvPr/>
        </p:nvGraphicFramePr>
        <p:xfrm>
          <a:off x="5124604" y="21208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5791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9)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1}{6}=\frac{7}{2}&quot;&gt;&lt;mfrac&gt;&lt;mn&gt;21&lt;/mn&gt;&lt;mn&gt;6&lt;/mn&gt;&lt;/mfrac&gt;&lt;mo&gt;=&lt;/mo&gt;&lt;mfrac&gt;&lt;mn&gt;7&lt;/mn&gt;&lt;mn&gt;2&lt;/mn&gt;&lt;/mfrac&gt;&lt;/math&gt;" id="1073" name="Google Shape;1073;p86" title="21 over 6 equals seven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2950" y="2638150"/>
            <a:ext cx="746197" cy="48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\frac{7}{2}+9&quot;&gt;&lt;mi&gt;x&lt;/mi&gt;&lt;mo&gt;=&lt;/mo&gt;&lt;mfrac&gt;&lt;mn&gt;7&lt;/mn&gt;&lt;mn&gt;2&lt;/mn&gt;&lt;/mfrac&gt;&lt;mo&gt;+&lt;/mo&gt;&lt;mn&gt;9&lt;/mn&gt;&lt;/math&gt;" id="1074" name="Google Shape;1074;p86" title="x equals seven halves plus 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1025" y="3225000"/>
            <a:ext cx="890925" cy="43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\frac{7}{2}+\frac{18}{2}&quot;&gt;&lt;mi&gt;x&lt;/mi&gt;&lt;mo&gt;=&lt;/mo&gt;&lt;mfrac&gt;&lt;mn&gt;7&lt;/mn&gt;&lt;mn&gt;2&lt;/mn&gt;&lt;/mfrac&gt;&lt;mo&gt;+&lt;/mo&gt;&lt;mfrac&gt;&lt;mn&gt;18&lt;/mn&gt;&lt;mn&gt;2&lt;/mn&gt;&lt;/mfrac&gt;&lt;/math&gt;" id="1075" name="Google Shape;1075;p86" title="x equals seven halves plus eighteen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1024" y="3702513"/>
            <a:ext cx="1051811" cy="43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\frac{25}{2}&quot;&gt;&lt;mi&gt;x&lt;/mi&gt;&lt;mo&gt;=&lt;/mo&gt;&lt;mfrac&gt;&lt;mn&gt;25&lt;/mn&gt;&lt;mn&gt;2&lt;/mn&gt;&lt;/mfrac&gt;&lt;/math&gt;" id="1076" name="Google Shape;1076;p86" title="x equals 25 over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78195" y="4180050"/>
            <a:ext cx="631200" cy="432726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86"/>
          <p:cNvSpPr txBox="1"/>
          <p:nvPr>
            <p:ph idx="1" type="body"/>
          </p:nvPr>
        </p:nvSpPr>
        <p:spPr>
          <a:xfrm>
            <a:off x="2975725" y="3081000"/>
            <a:ext cx="2605800" cy="10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second method requires a lot more fractions skills so the first method is likely to be more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efficient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2b) Solve this equation using both methods and write a sentence comparing the efficiency of the methods.</a:t>
            </a:r>
            <a:endParaRPr sz="1800"/>
          </a:p>
        </p:txBody>
      </p:sp>
      <p:sp>
        <p:nvSpPr>
          <p:cNvPr id="1083" name="Google Shape;1083;p87"/>
          <p:cNvSpPr txBox="1"/>
          <p:nvPr>
            <p:ph idx="4294967295" type="body"/>
          </p:nvPr>
        </p:nvSpPr>
        <p:spPr>
          <a:xfrm>
            <a:off x="324000" y="1608730"/>
            <a:ext cx="24108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Expanding first:</a:t>
            </a:r>
            <a:endParaRPr sz="2000"/>
          </a:p>
        </p:txBody>
      </p:sp>
      <p:sp>
        <p:nvSpPr>
          <p:cNvPr id="1084" name="Google Shape;1084;p87"/>
          <p:cNvSpPr txBox="1"/>
          <p:nvPr>
            <p:ph idx="4294967295" type="body"/>
          </p:nvPr>
        </p:nvSpPr>
        <p:spPr>
          <a:xfrm>
            <a:off x="4317674" y="1608725"/>
            <a:ext cx="45024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Multiplying by the reciprocal first:</a:t>
            </a:r>
            <a:endParaRPr sz="2000"/>
          </a:p>
        </p:txBody>
      </p:sp>
      <p:sp>
        <p:nvSpPr>
          <p:cNvPr id="1085" name="Google Shape;1085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graphicFrame>
        <p:nvGraphicFramePr>
          <p:cNvPr id="1086" name="Google Shape;1086;p87"/>
          <p:cNvGraphicFramePr/>
          <p:nvPr/>
        </p:nvGraphicFramePr>
        <p:xfrm>
          <a:off x="324003" y="21280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15(4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105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45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87" name="Google Shape;1087;p87"/>
          <p:cNvGraphicFramePr/>
          <p:nvPr/>
        </p:nvGraphicFramePr>
        <p:xfrm>
          <a:off x="4317679" y="21280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33325"/>
                <a:gridCol w="315025"/>
                <a:gridCol w="95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15(4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000"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8" name="Google Shape;1088;p87"/>
          <p:cNvSpPr txBox="1"/>
          <p:nvPr>
            <p:ph idx="1" type="body"/>
          </p:nvPr>
        </p:nvSpPr>
        <p:spPr>
          <a:xfrm>
            <a:off x="324000" y="3790050"/>
            <a:ext cx="8496000" cy="10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personal preference. Both expressions have a common factor of 15 so dividing by 15 first makes the values smaller and potentially easier to work with compared to expanding the brackets first.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88"/>
          <p:cNvSpPr txBox="1"/>
          <p:nvPr>
            <p:ph idx="1" type="body"/>
          </p:nvPr>
        </p:nvSpPr>
        <p:spPr>
          <a:xfrm>
            <a:off x="324000" y="6831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2c) Solve this equation using both methods and write a sentence comparing the efficiency of the methods.</a:t>
            </a:r>
            <a:endParaRPr sz="1800"/>
          </a:p>
        </p:txBody>
      </p:sp>
      <p:sp>
        <p:nvSpPr>
          <p:cNvPr id="1094" name="Google Shape;1094;p88"/>
          <p:cNvSpPr txBox="1"/>
          <p:nvPr>
            <p:ph idx="4294967295" type="body"/>
          </p:nvPr>
        </p:nvSpPr>
        <p:spPr>
          <a:xfrm>
            <a:off x="324000" y="1456330"/>
            <a:ext cx="24108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Expanding first:</a:t>
            </a:r>
            <a:endParaRPr sz="2000"/>
          </a:p>
        </p:txBody>
      </p:sp>
      <p:sp>
        <p:nvSpPr>
          <p:cNvPr id="1095" name="Google Shape;1095;p88"/>
          <p:cNvSpPr txBox="1"/>
          <p:nvPr>
            <p:ph idx="4294967295" type="body"/>
          </p:nvPr>
        </p:nvSpPr>
        <p:spPr>
          <a:xfrm>
            <a:off x="4317674" y="1456325"/>
            <a:ext cx="4502400" cy="3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Multiplying by the reciprocal first:</a:t>
            </a:r>
            <a:endParaRPr sz="2000"/>
          </a:p>
        </p:txBody>
      </p:sp>
      <p:sp>
        <p:nvSpPr>
          <p:cNvPr id="1096" name="Google Shape;1096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pic>
        <p:nvPicPr>
          <p:cNvPr id="1097" name="Google Shape;109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840100"/>
            <a:ext cx="1810775" cy="5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7675" y="1840100"/>
            <a:ext cx="1810775" cy="55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8}{5}x+\frac{24}{5}=30\end{array}&quot;&gt;&lt;mtable columnalign=&quot;left&quot; columnspacing=&quot;1em&quot; rowspacing=&quot;4pt&quot;&gt;&lt;mtr&gt;&lt;mtd&gt;&lt;mfrac&gt;&lt;mn&gt;18&lt;/mn&gt;&lt;mn&gt;5&lt;/mn&gt;&lt;/mfrac&gt;&lt;mi&gt;x&lt;/mi&gt;&lt;mo&gt;+&lt;/mo&gt;&lt;mfrac&gt;&lt;mn&gt;24&lt;/mn&gt;&lt;mn&gt;5&lt;/mn&gt;&lt;/mfrac&gt;&lt;mo&gt;=&lt;/mo&gt;&lt;mn&gt;30&lt;/mn&gt;&lt;/mtd&gt;&lt;/mtr&gt;&lt;/mtable&gt;&lt;/math&gt;" id="1099" name="Google Shape;1099;p88" title="1 lines Line 1: eighteen fifths x plus 24 over 5 equals 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173" y="2517462"/>
            <a:ext cx="1559605" cy="368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8}{5}x=30\ -\ \frac{24}{5}\end{array}&quot;&gt;&lt;mtable columnalign=&quot;left&quot; columnspacing=&quot;1em&quot; rowspacing=&quot;4pt&quot;&gt;&lt;mtr&gt;&lt;mtd&gt;&lt;mfrac&gt;&lt;mn&gt;18&lt;/mn&gt;&lt;mn&gt;5&lt;/mn&gt;&lt;/mfrac&gt;&lt;mi&gt;x&lt;/mi&gt;&lt;mo&gt;=&lt;/mo&gt;&lt;mn&gt;30&lt;/mn&gt;&lt;mtext&gt;&lt;/mtext&gt;&lt;mo&gt;−&lt;/mo&gt;&lt;mtext&gt;&lt;/mtext&gt;&lt;mfrac&gt;&lt;mn&gt;24&lt;/mn&gt;&lt;mn&gt;5&lt;/mn&gt;&lt;/mfrac&gt;&lt;/mtd&gt;&lt;/mtr&gt;&lt;/mtable&gt;&lt;/math&gt;" id="1100" name="Google Shape;1100;p88" title="1 lines Line 1: eighteen fifths x equals 30 minus 24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2575" y="3087597"/>
            <a:ext cx="1646575" cy="3637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8}{5}x=\frac{126}{5}\end{array}&quot;&gt;&lt;mtable columnalign=&quot;left&quot; columnspacing=&quot;1em&quot; rowspacing=&quot;4pt&quot;&gt;&lt;mtr&gt;&lt;mtd&gt;&lt;mfrac&gt;&lt;mn&gt;18&lt;/mn&gt;&lt;mn&gt;5&lt;/mn&gt;&lt;/mfrac&gt;&lt;mi&gt;x&lt;/mi&gt;&lt;mo&gt;=&lt;/mo&gt;&lt;mfrac&gt;&lt;mn&gt;126&lt;/mn&gt;&lt;mn&gt;5&lt;/mn&gt;&lt;/mfrac&gt;&lt;/mtd&gt;&lt;/mtr&gt;&lt;/mtable&gt;&lt;/math&gt;" id="1101" name="Google Shape;1101;p88" title="1 lines Line 1: eighteen fifths x equals 126 over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8463" y="3578574"/>
            <a:ext cx="1112665" cy="38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x=\frac{126}{5}\times\frac{5}{18}\end{array}&quot;&gt;&lt;mtable columnalign=&quot;left&quot; columnspacing=&quot;1em&quot; rowspacing=&quot;4pt&quot;&gt;&lt;mtr&gt;&lt;mtd&gt;&lt;mi&gt;x&lt;/mi&gt;&lt;mo&gt;=&lt;/mo&gt;&lt;mfrac&gt;&lt;mn&gt;126&lt;/mn&gt;&lt;mn&gt;5&lt;/mn&gt;&lt;/mfrac&gt;&lt;mo&gt;×&lt;/mo&gt;&lt;mfrac&gt;&lt;mn&gt;5&lt;/mn&gt;&lt;mn&gt;18&lt;/mn&gt;&lt;/mfrac&gt;&lt;/mtd&gt;&lt;/mtr&gt;&lt;/mtable&gt;&lt;/math&gt;" id="1102" name="Google Shape;1102;p88" title="1 lines Line 1: x equals 126 over 5 times 5 over 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26190" y="3993103"/>
            <a:ext cx="1362951" cy="36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x=7\end{array}&quot;&gt;&lt;mtable columnalign=&quot;left&quot; columnspacing=&quot;1em&quot; rowspacing=&quot;4pt&quot;&gt;&lt;mtr&gt;&lt;mtd&gt;&lt;mi&gt;x&lt;/mi&gt;&lt;mo&gt;=&lt;/mo&gt;&lt;mn&gt;7&lt;/mn&gt;&lt;/mtd&gt;&lt;/mtr&gt;&lt;/mtable&gt;&lt;/math&gt;" id="1103" name="Google Shape;1103;p88" title="1 lines Line 1: x equals 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26200" y="4410091"/>
            <a:ext cx="587239" cy="18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x\ +\ 4\ =\ 30\ \times\frac{5}{6}&quot;&gt;&lt;mn&gt;3&lt;/mn&gt;&lt;mi&gt;x&lt;/mi&gt;&lt;mtext&gt;&lt;/mtext&gt;&lt;mo&gt;+&lt;/mo&gt;&lt;mtext&gt;&lt;/mtext&gt;&lt;mn&gt;4&lt;/mn&gt;&lt;mtext&gt;&lt;/mtext&gt;&lt;mo&gt;=&lt;/mo&gt;&lt;mtext&gt;&lt;/mtext&gt;&lt;mn&gt;30&lt;/mn&gt;&lt;mtext&gt;&lt;/mtext&gt;&lt;mo&gt;×&lt;/mo&gt;&lt;mfrac&gt;&lt;mn&gt;5&lt;/mn&gt;&lt;mn&gt;6&lt;/mn&gt;&lt;/mfrac&gt;&lt;/math&gt;" id="1104" name="Google Shape;1104;p88" title="3 x plus 4 equals 30 times five six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21664" y="2358038"/>
            <a:ext cx="2136313" cy="559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x\ +\ 4\ =\ 25&quot;&gt;&lt;mn&gt;3&lt;/mn&gt;&lt;mi&gt;x&lt;/mi&gt;&lt;mtext&gt;&lt;/mtext&gt;&lt;mo&gt;+&lt;/mo&gt;&lt;mtext&gt;&lt;/mtext&gt;&lt;mn&gt;4&lt;/mn&gt;&lt;mtext&gt;&lt;/mtext&gt;&lt;mo&gt;=&lt;/mo&gt;&lt;mtext&gt;&lt;/mtext&gt;&lt;mn&gt;25&lt;/mn&gt;&lt;/math&gt;" id="1105" name="Google Shape;1105;p88" title="3 x plus 4 equals 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622735" y="3010700"/>
            <a:ext cx="1548000" cy="1970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x\ =\ 21&quot;&gt;&lt;mn&gt;3&lt;/mn&gt;&lt;mi&gt;x&lt;/mi&gt;&lt;mtext&gt;&lt;/mtext&gt;&lt;mo&gt;=&lt;/mo&gt;&lt;mtext&gt;&lt;/mtext&gt;&lt;mn&gt;21&lt;/mn&gt;&lt;/math&gt;" id="1106" name="Google Shape;1106;p88" title="3 x equals 2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187092" y="3389199"/>
            <a:ext cx="981664" cy="1907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\ =\ 7&quot;&gt;&lt;mi&gt;x&lt;/mi&gt;&lt;mtext&gt;&lt;/mtext&gt;&lt;mo&gt;=&lt;/mo&gt;&lt;mtext&gt;&lt;/mtext&gt;&lt;mn&gt;7&lt;/mn&gt;&lt;/math&gt;" id="1107" name="Google Shape;1107;p88" title="x equals 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275078" y="3741933"/>
            <a:ext cx="805708" cy="2014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88"/>
          <p:cNvSpPr txBox="1"/>
          <p:nvPr>
            <p:ph idx="1" type="body"/>
          </p:nvPr>
        </p:nvSpPr>
        <p:spPr>
          <a:xfrm>
            <a:off x="3369600" y="3993202"/>
            <a:ext cx="5674500" cy="105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is much easier to ‘undo’ the multiplicative step first this time as          is an integer  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3x\ +\ 4\ =\ 30\ \times\frac{5}{6}&quot;&gt;&lt;mn&gt;3&lt;/mn&gt;&lt;mi&gt;x&lt;/mi&gt;&lt;mtext&gt;&lt;/mtext&gt;&lt;mo&gt;+&lt;/mo&gt;&lt;mtext&gt;&lt;/mtext&gt;&lt;mn&gt;4&lt;/mn&gt;&lt;mtext&gt;&lt;/mtext&gt;&lt;mo&gt;=&lt;/mo&gt;&lt;mtext&gt;&lt;/mtext&gt;&lt;mn&gt;30&lt;/mn&gt;&lt;mtext&gt;&lt;/mtext&gt;&lt;mo&gt;×&lt;/mo&gt;&lt;mfrac&gt;&lt;mn&gt;5&lt;/mn&gt;&lt;mn&gt;6&lt;/mn&gt;&lt;/mfrac&gt;&lt;/math&gt;" id="1109" name="Google Shape;1109;p88" title="3 x plus 4 equals 30 times five sixths"/>
          <p:cNvPicPr preferRelativeResize="0"/>
          <p:nvPr/>
        </p:nvPicPr>
        <p:blipFill rotWithShape="1">
          <a:blip r:embed="rId9">
            <a:alphaModFix/>
          </a:blip>
          <a:srcRect b="0" l="57197" r="0" t="0"/>
          <a:stretch/>
        </p:blipFill>
        <p:spPr>
          <a:xfrm>
            <a:off x="5304513" y="4292412"/>
            <a:ext cx="770621" cy="493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8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involving a bracketed expression</a:t>
            </a:r>
            <a:endParaRPr/>
          </a:p>
        </p:txBody>
      </p:sp>
      <p:sp>
        <p:nvSpPr>
          <p:cNvPr id="1115" name="Google Shape;1115;p8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multiple brackets</a:t>
            </a:r>
            <a:endParaRPr/>
          </a:p>
        </p:txBody>
      </p:sp>
      <p:sp>
        <p:nvSpPr>
          <p:cNvPr id="1116" name="Google Shape;1116;p8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solving linear equations</a:t>
            </a:r>
            <a:endParaRPr/>
          </a:p>
        </p:txBody>
      </p:sp>
      <p:pic>
        <p:nvPicPr>
          <p:cNvPr id="1117" name="Google Shape;111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75" y="298799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multiple brackets</a:t>
            </a:r>
            <a:endParaRPr/>
          </a:p>
        </p:txBody>
      </p:sp>
      <p:sp>
        <p:nvSpPr>
          <p:cNvPr id="1123" name="Google Shape;1123;p90"/>
          <p:cNvSpPr txBox="1"/>
          <p:nvPr>
            <p:ph idx="1" type="body"/>
          </p:nvPr>
        </p:nvSpPr>
        <p:spPr>
          <a:xfrm>
            <a:off x="324000" y="789600"/>
            <a:ext cx="8496000" cy="7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can solve equations </a:t>
            </a:r>
            <a:r>
              <a:rPr lang="en-GB" sz="1800"/>
              <a:t>which have unknowns on both sides.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For example</a:t>
            </a:r>
            <a:endParaRPr sz="1800"/>
          </a:p>
        </p:txBody>
      </p:sp>
      <p:graphicFrame>
        <p:nvGraphicFramePr>
          <p:cNvPr id="1124" name="Google Shape;1124;p90"/>
          <p:cNvGraphicFramePr/>
          <p:nvPr/>
        </p:nvGraphicFramePr>
        <p:xfrm>
          <a:off x="324009" y="175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r>
                        <a:rPr i="1"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r>
                        <a:rPr i="1"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− 28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5" name="Google Shape;1125;p90"/>
          <p:cNvSpPr txBox="1"/>
          <p:nvPr>
            <p:ph idx="1" type="body"/>
          </p:nvPr>
        </p:nvSpPr>
        <p:spPr>
          <a:xfrm>
            <a:off x="4320000" y="1785500"/>
            <a:ext cx="4500000" cy="7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start by expanding the brackets.</a:t>
            </a:r>
            <a:endParaRPr sz="1800"/>
          </a:p>
        </p:txBody>
      </p:sp>
      <p:sp>
        <p:nvSpPr>
          <p:cNvPr id="1126" name="Google Shape;1126;p90"/>
          <p:cNvSpPr txBox="1"/>
          <p:nvPr>
            <p:ph idx="1" type="body"/>
          </p:nvPr>
        </p:nvSpPr>
        <p:spPr>
          <a:xfrm>
            <a:off x="4320000" y="2636225"/>
            <a:ext cx="4538100" cy="7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Add the additive inverse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127" name="Google Shape;1127;p90"/>
          <p:cNvSpPr txBox="1"/>
          <p:nvPr>
            <p:ph idx="1" type="body"/>
          </p:nvPr>
        </p:nvSpPr>
        <p:spPr>
          <a:xfrm>
            <a:off x="4320000" y="3197025"/>
            <a:ext cx="4538100" cy="7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Solve the resulting two-step equation.</a:t>
            </a:r>
            <a:r>
              <a:rPr lang="en-GB" sz="1800"/>
              <a:t>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x=-\frac{28}{10}=-\frac{14}{5}=-2.8&quot;&gt;&lt;mi&gt;x&lt;/mi&gt;&lt;mo&gt;=&lt;/mo&gt;&lt;mo&gt;−&lt;/mo&gt;&lt;mfrac&gt;&lt;mn&gt;28&lt;/mn&gt;&lt;mn&gt;10&lt;/mn&gt;&lt;/mfrac&gt;&lt;mo&gt;=&lt;/mo&gt;&lt;mo&gt;−&lt;/mo&gt;&lt;mfrac&gt;&lt;mn&gt;14&lt;/mn&gt;&lt;mn&gt;5&lt;/mn&gt;&lt;/mfrac&gt;&lt;mo&gt;=&lt;/mo&gt;&lt;mo&gt;−&lt;/mo&gt;&lt;mn&gt;2.8&lt;/mn&gt;&lt;/math&gt;" id="1128" name="Google Shape;1128;p90" title="x equals negative 28 over 10 equals negative fourteen fifths equals negative 2.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750" y="4127203"/>
            <a:ext cx="2597625" cy="52885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29" name="Google Shape;1129;p90"/>
          <p:cNvGraphicFramePr/>
          <p:nvPr/>
        </p:nvGraphicFramePr>
        <p:xfrm>
          <a:off x="324009" y="175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r>
                        <a:rPr i="1"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r>
                        <a:rPr i="1"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0" name="Google Shape;1130;p90"/>
          <p:cNvGraphicFramePr/>
          <p:nvPr/>
        </p:nvGraphicFramePr>
        <p:xfrm>
          <a:off x="324009" y="175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r>
                        <a:rPr i="1"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 </a:t>
                      </a:r>
                      <a:r>
                        <a:rPr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r>
                        <a:rPr i="1" lang="en-GB" sz="22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1" name="Google Shape;1131;p90"/>
          <p:cNvGraphicFramePr/>
          <p:nvPr/>
        </p:nvGraphicFramePr>
        <p:xfrm>
          <a:off x="324009" y="175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2" name="Google Shape;1132;p90"/>
          <p:cNvGraphicFramePr/>
          <p:nvPr/>
        </p:nvGraphicFramePr>
        <p:xfrm>
          <a:off x="324009" y="175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multiple brackets</a:t>
            </a:r>
            <a:endParaRPr/>
          </a:p>
        </p:txBody>
      </p:sp>
      <p:sp>
        <p:nvSpPr>
          <p:cNvPr id="1138" name="Google Shape;1138;p91"/>
          <p:cNvSpPr txBox="1"/>
          <p:nvPr>
            <p:ph idx="1" type="body"/>
          </p:nvPr>
        </p:nvSpPr>
        <p:spPr>
          <a:xfrm>
            <a:off x="324000" y="789600"/>
            <a:ext cx="8496000" cy="7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Lucas has a go at solving this equation.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Can you explain what he has done at every step?</a:t>
            </a:r>
            <a:endParaRPr sz="1800"/>
          </a:p>
        </p:txBody>
      </p:sp>
      <p:graphicFrame>
        <p:nvGraphicFramePr>
          <p:cNvPr id="1139" name="Google Shape;1139;p91"/>
          <p:cNvGraphicFramePr/>
          <p:nvPr/>
        </p:nvGraphicFramePr>
        <p:xfrm>
          <a:off x="324009" y="152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6 −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 </a:t>
                      </a:r>
                      <a:endParaRPr i="1"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−2.4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0" name="Google Shape;1140;p91"/>
          <p:cNvSpPr txBox="1"/>
          <p:nvPr>
            <p:ph idx="1" type="body"/>
          </p:nvPr>
        </p:nvSpPr>
        <p:spPr>
          <a:xfrm>
            <a:off x="3653250" y="2014473"/>
            <a:ext cx="4500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Expanded both brackets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1" name="Google Shape;1141;p91"/>
          <p:cNvSpPr txBox="1"/>
          <p:nvPr>
            <p:ph idx="1" type="body"/>
          </p:nvPr>
        </p:nvSpPr>
        <p:spPr>
          <a:xfrm>
            <a:off x="3653250" y="2493164"/>
            <a:ext cx="4500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Added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both sides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2" name="Google Shape;1142;p91"/>
          <p:cNvSpPr txBox="1"/>
          <p:nvPr>
            <p:ph idx="1" type="body"/>
          </p:nvPr>
        </p:nvSpPr>
        <p:spPr>
          <a:xfrm>
            <a:off x="3634200" y="2993339"/>
            <a:ext cx="4500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Added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both sides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3" name="Google Shape;1143;p91"/>
          <p:cNvSpPr txBox="1"/>
          <p:nvPr>
            <p:ph idx="1" type="body"/>
          </p:nvPr>
        </p:nvSpPr>
        <p:spPr>
          <a:xfrm>
            <a:off x="3634200" y="3500677"/>
            <a:ext cx="4500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Divided both sides by 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4" name="Google Shape;1144;p91"/>
          <p:cNvSpPr txBox="1"/>
          <p:nvPr>
            <p:ph idx="1" type="body"/>
          </p:nvPr>
        </p:nvSpPr>
        <p:spPr>
          <a:xfrm>
            <a:off x="3634200" y="3943550"/>
            <a:ext cx="4500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Multiplied/ 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ivided both sides by −1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5" name="Google Shape;1145;p91"/>
          <p:cNvSpPr txBox="1"/>
          <p:nvPr>
            <p:ph idx="1" type="body"/>
          </p:nvPr>
        </p:nvSpPr>
        <p:spPr>
          <a:xfrm>
            <a:off x="324000" y="4494300"/>
            <a:ext cx="8496000" cy="3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Is there anything that you would do differently?</a:t>
            </a:r>
            <a:endParaRPr sz="1800"/>
          </a:p>
        </p:txBody>
      </p:sp>
      <p:sp>
        <p:nvSpPr>
          <p:cNvPr id="1146" name="Google Shape;1146;p91"/>
          <p:cNvSpPr txBox="1"/>
          <p:nvPr/>
        </p:nvSpPr>
        <p:spPr>
          <a:xfrm flipH="1">
            <a:off x="6827450" y="737410"/>
            <a:ext cx="1202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47" name="Google Shape;114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9048" y="917250"/>
            <a:ext cx="1575099" cy="1729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multiple brackets</a:t>
            </a:r>
            <a:endParaRPr/>
          </a:p>
        </p:txBody>
      </p:sp>
      <p:graphicFrame>
        <p:nvGraphicFramePr>
          <p:cNvPr id="1153" name="Google Shape;1153;p92"/>
          <p:cNvGraphicFramePr/>
          <p:nvPr/>
        </p:nvGraphicFramePr>
        <p:xfrm>
          <a:off x="80459" y="87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2(3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1(3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 </a:t>
                      </a:r>
                      <a:endParaRPr i="1"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+ 15 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+ 15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−12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1"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4" name="Google Shape;1154;p92"/>
          <p:cNvSpPr txBox="1"/>
          <p:nvPr>
            <p:ph idx="1" type="body"/>
          </p:nvPr>
        </p:nvSpPr>
        <p:spPr>
          <a:xfrm>
            <a:off x="324000" y="3993900"/>
            <a:ext cx="8496000" cy="3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would you do next?</a:t>
            </a:r>
            <a:endParaRPr sz="1800"/>
          </a:p>
        </p:txBody>
      </p:sp>
      <p:sp>
        <p:nvSpPr>
          <p:cNvPr id="1155" name="Google Shape;1155;p92"/>
          <p:cNvSpPr txBox="1"/>
          <p:nvPr>
            <p:ph idx="1" type="body"/>
          </p:nvPr>
        </p:nvSpPr>
        <p:spPr>
          <a:xfrm>
            <a:off x="324000" y="4320000"/>
            <a:ext cx="8496000" cy="3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Many options:</a:t>
            </a:r>
            <a:r>
              <a:rPr lang="en-GB" sz="18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‘add</a:t>
            </a:r>
            <a:r>
              <a:rPr lang="en-GB" sz="2000"/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000"/>
              <a:t>’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or</a:t>
            </a:r>
            <a:r>
              <a:rPr lang="en-GB" sz="20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‘add</a:t>
            </a:r>
            <a:r>
              <a:rPr lang="en-GB" sz="20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’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or ‘add</a:t>
            </a:r>
            <a:r>
              <a:rPr lang="en-GB" sz="20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−15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’ or  ‘add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−3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’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 </a:t>
            </a:r>
            <a:endParaRPr sz="2000"/>
          </a:p>
        </p:txBody>
      </p:sp>
      <p:grpSp>
        <p:nvGrpSpPr>
          <p:cNvPr id="1156" name="Google Shape;1156;p92"/>
          <p:cNvGrpSpPr/>
          <p:nvPr/>
        </p:nvGrpSpPr>
        <p:grpSpPr>
          <a:xfrm rot="10800000">
            <a:off x="5081366" y="2142051"/>
            <a:ext cx="2715200" cy="1268338"/>
            <a:chOff x="1902376" y="1608375"/>
            <a:chExt cx="2242299" cy="1316250"/>
          </a:xfrm>
        </p:grpSpPr>
        <p:pic>
          <p:nvPicPr>
            <p:cNvPr id="1157" name="Google Shape;1157;p92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902376" y="1608375"/>
              <a:ext cx="2242299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8" name="Google Shape;1158;p92"/>
            <p:cNvSpPr txBox="1"/>
            <p:nvPr/>
          </p:nvSpPr>
          <p:spPr>
            <a:xfrm rot="10800000">
              <a:off x="2092802" y="1900041"/>
              <a:ext cx="19551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am going to add </a:t>
              </a:r>
              <a:r>
                <a:rPr lang="en-GB" sz="2000">
                  <a:latin typeface="Times"/>
                  <a:ea typeface="Times"/>
                  <a:cs typeface="Times"/>
                  <a:sym typeface="Times"/>
                </a:rPr>
                <a:t>2</a:t>
              </a:r>
              <a:r>
                <a:rPr i="1" lang="en-GB" sz="2000">
                  <a:latin typeface="Times"/>
                  <a:ea typeface="Times"/>
                  <a:cs typeface="Times"/>
                  <a:sym typeface="Times"/>
                </a:rPr>
                <a:t>x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then all my terms are positive.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-\frac{12}{5}&quot;&gt;&lt;mo&gt;−&lt;/mo&gt;&lt;mfrac&gt;&lt;mn&gt;12&lt;/mn&gt;&lt;mn&gt;5&lt;/mn&gt;&lt;/mfrac&gt;&lt;/math&gt;" id="1159" name="Google Shape;1159;p92" title="negative twelv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2374" y="3201074"/>
            <a:ext cx="429570" cy="479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0" name="Google Shape;1160;p92"/>
          <p:cNvGrpSpPr/>
          <p:nvPr/>
        </p:nvGrpSpPr>
        <p:grpSpPr>
          <a:xfrm>
            <a:off x="3543535" y="669644"/>
            <a:ext cx="5679268" cy="4014310"/>
            <a:chOff x="3543535" y="669644"/>
            <a:chExt cx="5679268" cy="4014310"/>
          </a:xfrm>
        </p:grpSpPr>
        <p:grpSp>
          <p:nvGrpSpPr>
            <p:cNvPr id="1161" name="Google Shape;1161;p92"/>
            <p:cNvGrpSpPr/>
            <p:nvPr/>
          </p:nvGrpSpPr>
          <p:grpSpPr>
            <a:xfrm flipH="1">
              <a:off x="3543535" y="669644"/>
              <a:ext cx="4500070" cy="1268339"/>
              <a:chOff x="1902376" y="1608375"/>
              <a:chExt cx="2242299" cy="1316250"/>
            </a:xfrm>
          </p:grpSpPr>
          <p:pic>
            <p:nvPicPr>
              <p:cNvPr id="1162" name="Google Shape;1162;p9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69082" t="56280"/>
              <a:stretch/>
            </p:blipFill>
            <p:spPr>
              <a:xfrm flipH="1">
                <a:off x="1902376" y="1608375"/>
                <a:ext cx="2242299" cy="1316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63" name="Google Shape;1163;p92"/>
              <p:cNvSpPr txBox="1"/>
              <p:nvPr/>
            </p:nvSpPr>
            <p:spPr>
              <a:xfrm flipH="1">
                <a:off x="2076533" y="1819575"/>
                <a:ext cx="1955100" cy="73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There is a common factor on both sides of the equation. What would happen if I start by dividing by 2?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pic>
          <p:nvPicPr>
            <p:cNvPr id="1164" name="Google Shape;1164;p9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718332" y="1796054"/>
              <a:ext cx="850299" cy="288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5" name="Google Shape;1165;p92"/>
            <p:cNvSpPr txBox="1"/>
            <p:nvPr/>
          </p:nvSpPr>
          <p:spPr>
            <a:xfrm>
              <a:off x="7565603" y="1283973"/>
              <a:ext cx="1657200" cy="5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Alex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166" name="Google Shape;1166;p92"/>
          <p:cNvGraphicFramePr/>
          <p:nvPr/>
        </p:nvGraphicFramePr>
        <p:xfrm>
          <a:off x="80459" y="87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2(3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1(3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3 −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 </a:t>
                      </a:r>
                      <a:endParaRPr i="1"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+ 15 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+ 15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−12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7" name="Google Shape;1167;p92"/>
          <p:cNvGraphicFramePr/>
          <p:nvPr/>
        </p:nvGraphicFramePr>
        <p:xfrm>
          <a:off x="80459" y="87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2(3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1(3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3 −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 </a:t>
                      </a:r>
                      <a:endParaRPr i="1"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+ 15 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+ 15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8" name="Google Shape;1168;p92"/>
          <p:cNvGraphicFramePr/>
          <p:nvPr/>
        </p:nvGraphicFramePr>
        <p:xfrm>
          <a:off x="80459" y="87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2(3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1(3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3 −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 </a:t>
                      </a:r>
                      <a:endParaRPr i="1"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+ 15 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9" name="Google Shape;1169;p92"/>
          <p:cNvGraphicFramePr/>
          <p:nvPr/>
        </p:nvGraphicFramePr>
        <p:xfrm>
          <a:off x="80459" y="87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2(3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1(3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70" name="Google Shape;1170;p92"/>
          <p:cNvGraphicFramePr/>
          <p:nvPr/>
        </p:nvGraphicFramePr>
        <p:xfrm>
          <a:off x="80459" y="87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2(3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93"/>
          <p:cNvSpPr txBox="1"/>
          <p:nvPr>
            <p:ph idx="1" type="subTitle"/>
          </p:nvPr>
        </p:nvSpPr>
        <p:spPr>
          <a:xfrm>
            <a:off x="337825" y="810000"/>
            <a:ext cx="39822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the equation </a:t>
            </a:r>
            <a:endParaRPr/>
          </a:p>
        </p:txBody>
      </p:sp>
      <p:sp>
        <p:nvSpPr>
          <p:cNvPr id="1176" name="Google Shape;117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multiple brackets</a:t>
            </a:r>
            <a:endParaRPr/>
          </a:p>
        </p:txBody>
      </p:sp>
      <p:graphicFrame>
        <p:nvGraphicFramePr>
          <p:cNvPr id="1177" name="Google Shape;1177;p93"/>
          <p:cNvGraphicFramePr/>
          <p:nvPr/>
        </p:nvGraphicFramePr>
        <p:xfrm>
          <a:off x="324009" y="139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(6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i="1"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1.9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8" name="Google Shape;1178;p93"/>
          <p:cNvSpPr txBox="1"/>
          <p:nvPr>
            <p:ph idx="1" type="subTitle"/>
          </p:nvPr>
        </p:nvSpPr>
        <p:spPr>
          <a:xfrm>
            <a:off x="4833625" y="810000"/>
            <a:ext cx="39822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the equation </a:t>
            </a:r>
            <a:endParaRPr/>
          </a:p>
        </p:txBody>
      </p:sp>
      <p:graphicFrame>
        <p:nvGraphicFramePr>
          <p:cNvPr id="1179" name="Google Shape;1179;p93"/>
          <p:cNvGraphicFramePr/>
          <p:nvPr/>
        </p:nvGraphicFramePr>
        <p:xfrm>
          <a:off x="4819809" y="139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− 8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 +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</a:t>
                      </a:r>
                      <a:endParaRPr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0" name="Google Shape;1180;p93"/>
          <p:cNvGraphicFramePr/>
          <p:nvPr/>
        </p:nvGraphicFramePr>
        <p:xfrm>
          <a:off x="324009" y="139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3(6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i="1"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 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1" name="Google Shape;1181;p93"/>
          <p:cNvGraphicFramePr/>
          <p:nvPr/>
        </p:nvGraphicFramePr>
        <p:xfrm>
          <a:off x="324009" y="139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3(6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i="1"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 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38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2" name="Google Shape;1182;p93"/>
          <p:cNvGraphicFramePr/>
          <p:nvPr/>
        </p:nvGraphicFramePr>
        <p:xfrm>
          <a:off x="324009" y="139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3(6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i="1"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− 20 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3" name="Google Shape;1183;p93"/>
          <p:cNvGraphicFramePr/>
          <p:nvPr/>
        </p:nvGraphicFramePr>
        <p:xfrm>
          <a:off x="324009" y="139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3(6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− 20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4" name="Google Shape;1184;p93"/>
          <p:cNvGraphicFramePr/>
          <p:nvPr/>
        </p:nvGraphicFramePr>
        <p:xfrm>
          <a:off x="324009" y="139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3(6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5" name="Google Shape;1185;p93"/>
          <p:cNvGraphicFramePr/>
          <p:nvPr/>
        </p:nvGraphicFramePr>
        <p:xfrm>
          <a:off x="4819809" y="139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8(5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− 8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 +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6" name="Google Shape;1186;p93"/>
          <p:cNvGraphicFramePr/>
          <p:nvPr/>
        </p:nvGraphicFramePr>
        <p:xfrm>
          <a:off x="4819809" y="139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8(5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− 8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 +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endParaRPr i="1"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7" name="Google Shape;1187;p93"/>
          <p:cNvGraphicFramePr/>
          <p:nvPr/>
        </p:nvGraphicFramePr>
        <p:xfrm>
          <a:off x="4819809" y="139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8(5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− 8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 +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8" name="Google Shape;1188;p93"/>
          <p:cNvGraphicFramePr/>
          <p:nvPr/>
        </p:nvGraphicFramePr>
        <p:xfrm>
          <a:off x="4819809" y="139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8(5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− 8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+ 7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9" name="Google Shape;1189;p93"/>
          <p:cNvGraphicFramePr/>
          <p:nvPr/>
        </p:nvGraphicFramePr>
        <p:xfrm>
          <a:off x="4819809" y="139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50750"/>
                <a:gridCol w="538475"/>
                <a:gridCol w="1718625"/>
              </a:tblGrid>
              <a:tr h="374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8(5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94"/>
          <p:cNvSpPr txBox="1"/>
          <p:nvPr>
            <p:ph type="title"/>
          </p:nvPr>
        </p:nvSpPr>
        <p:spPr>
          <a:xfrm>
            <a:off x="324000" y="810000"/>
            <a:ext cx="5932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of these equations could be simplified before solving?</a:t>
            </a:r>
            <a:endParaRPr sz="2000"/>
          </a:p>
        </p:txBody>
      </p:sp>
      <p:sp>
        <p:nvSpPr>
          <p:cNvPr id="1195" name="Google Shape;1195;p9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multiple brackets</a:t>
            </a:r>
            <a:endParaRPr/>
          </a:p>
        </p:txBody>
      </p:sp>
      <p:graphicFrame>
        <p:nvGraphicFramePr>
          <p:cNvPr id="1196" name="Google Shape;1196;p94"/>
          <p:cNvGraphicFramePr/>
          <p:nvPr/>
        </p:nvGraphicFramePr>
        <p:xfrm>
          <a:off x="872834" y="1636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2401275"/>
                <a:gridCol w="272000"/>
                <a:gridCol w="562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− 8)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− 8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7" name="Google Shape;1197;p94"/>
          <p:cNvGraphicFramePr/>
          <p:nvPr/>
        </p:nvGraphicFramePr>
        <p:xfrm>
          <a:off x="764109" y="32675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2502325"/>
                <a:gridCol w="279675"/>
                <a:gridCol w="839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(2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8" name="Google Shape;1198;p94"/>
          <p:cNvGraphicFramePr/>
          <p:nvPr/>
        </p:nvGraphicFramePr>
        <p:xfrm>
          <a:off x="872834" y="2398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2401275"/>
                <a:gridCol w="272000"/>
                <a:gridCol w="562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99" name="Google Shape;1199;p94"/>
          <p:cNvGraphicFramePr/>
          <p:nvPr/>
        </p:nvGraphicFramePr>
        <p:xfrm>
          <a:off x="898161" y="40295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117650"/>
                <a:gridCol w="272000"/>
                <a:gridCol w="2928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3(2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+ 7)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00" name="Google Shape;120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6127" y="1708784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96338" y="24624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9532" y="3246337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5257" y="41362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4" name="Google Shape;1204;p94"/>
          <p:cNvSpPr txBox="1"/>
          <p:nvPr/>
        </p:nvSpPr>
        <p:spPr>
          <a:xfrm>
            <a:off x="4824000" y="1513825"/>
            <a:ext cx="3462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Identical expressions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− 8)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05" name="Google Shape;1205;p94"/>
          <p:cNvGraphicFramePr/>
          <p:nvPr/>
        </p:nvGraphicFramePr>
        <p:xfrm>
          <a:off x="6809184" y="17749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116100"/>
                <a:gridCol w="272000"/>
                <a:gridCol w="551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− 8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6" name="Google Shape;1206;p94"/>
          <p:cNvSpPr txBox="1"/>
          <p:nvPr/>
        </p:nvSpPr>
        <p:spPr>
          <a:xfrm>
            <a:off x="4824000" y="2428225"/>
            <a:ext cx="39960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− 3)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+ 3)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are not identical expressions.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94"/>
          <p:cNvSpPr txBox="1"/>
          <p:nvPr/>
        </p:nvSpPr>
        <p:spPr>
          <a:xfrm>
            <a:off x="4824000" y="3342625"/>
            <a:ext cx="3462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Identical expressions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(2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+ 1)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08" name="Google Shape;1208;p94"/>
          <p:cNvGraphicFramePr/>
          <p:nvPr/>
        </p:nvGraphicFramePr>
        <p:xfrm>
          <a:off x="6749934" y="35792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213550"/>
                <a:gridCol w="295200"/>
                <a:gridCol w="599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</a:t>
                      </a:r>
                      <a:endParaRPr sz="2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9" name="Google Shape;1209;p94"/>
          <p:cNvSpPr txBox="1"/>
          <p:nvPr/>
        </p:nvSpPr>
        <p:spPr>
          <a:xfrm>
            <a:off x="4016125" y="4162075"/>
            <a:ext cx="36861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Both sides could be divided by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4" name="Google Shape;1214;p95"/>
          <p:cNvGraphicFramePr/>
          <p:nvPr/>
        </p:nvGraphicFramePr>
        <p:xfrm>
          <a:off x="2832218" y="17554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373350"/>
                <a:gridCol w="395775"/>
                <a:gridCol w="1171575"/>
              </a:tblGrid>
              <a:tr h="2422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−6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− 7)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5" name="Google Shape;1215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multiple brackets</a:t>
            </a:r>
            <a:endParaRPr/>
          </a:p>
        </p:txBody>
      </p:sp>
      <p:sp>
        <p:nvSpPr>
          <p:cNvPr id="1216" name="Google Shape;1216;p95"/>
          <p:cNvSpPr txBox="1"/>
          <p:nvPr>
            <p:ph idx="1" type="body"/>
          </p:nvPr>
        </p:nvSpPr>
        <p:spPr>
          <a:xfrm>
            <a:off x="324000" y="759300"/>
            <a:ext cx="8496000" cy="66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The solutions to the equations are given. Fill in the steps to show how to get to these answers. </a:t>
            </a:r>
            <a:endParaRPr sz="1800"/>
          </a:p>
        </p:txBody>
      </p:sp>
      <p:graphicFrame>
        <p:nvGraphicFramePr>
          <p:cNvPr id="1217" name="Google Shape;1217;p95"/>
          <p:cNvGraphicFramePr/>
          <p:nvPr/>
        </p:nvGraphicFramePr>
        <p:xfrm>
          <a:off x="19193" y="17723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02050"/>
                <a:gridCol w="367075"/>
                <a:gridCol w="1171575"/>
              </a:tblGrid>
              <a:tr h="24058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+ 6)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(9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− 4)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18" name="Google Shape;1218;p95"/>
          <p:cNvCxnSpPr/>
          <p:nvPr/>
        </p:nvCxnSpPr>
        <p:spPr>
          <a:xfrm>
            <a:off x="3064800" y="1656000"/>
            <a:ext cx="0" cy="3164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19" name="Google Shape;1219;p95"/>
          <p:cNvGraphicFramePr/>
          <p:nvPr/>
        </p:nvGraphicFramePr>
        <p:xfrm>
          <a:off x="6043018" y="17554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970575"/>
                <a:gridCol w="321000"/>
                <a:gridCol w="846100"/>
              </a:tblGrid>
              <a:tr h="2422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− 5) + 3(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+ 5)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20" name="Google Shape;1220;p95"/>
          <p:cNvCxnSpPr/>
          <p:nvPr/>
        </p:nvCxnSpPr>
        <p:spPr>
          <a:xfrm>
            <a:off x="5960400" y="1656000"/>
            <a:ext cx="0" cy="3164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1" name="Google Shape;1221;p95"/>
          <p:cNvSpPr/>
          <p:nvPr/>
        </p:nvSpPr>
        <p:spPr>
          <a:xfrm>
            <a:off x="324000" y="13304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95"/>
          <p:cNvSpPr/>
          <p:nvPr/>
        </p:nvSpPr>
        <p:spPr>
          <a:xfrm>
            <a:off x="3067200" y="13304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95"/>
          <p:cNvSpPr/>
          <p:nvPr/>
        </p:nvSpPr>
        <p:spPr>
          <a:xfrm>
            <a:off x="6115200" y="13304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9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multiple brackets</a:t>
            </a:r>
            <a:endParaRPr/>
          </a:p>
        </p:txBody>
      </p:sp>
      <p:sp>
        <p:nvSpPr>
          <p:cNvPr id="1229" name="Google Shape;1229;p96"/>
          <p:cNvSpPr txBox="1"/>
          <p:nvPr>
            <p:ph idx="1" type="body"/>
          </p:nvPr>
        </p:nvSpPr>
        <p:spPr>
          <a:xfrm>
            <a:off x="324000" y="759300"/>
            <a:ext cx="8496000" cy="66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The solutions to the equations are given. Fill in the steps to show how to get to these answers. </a:t>
            </a:r>
            <a:endParaRPr sz="1800"/>
          </a:p>
        </p:txBody>
      </p:sp>
      <p:cxnSp>
        <p:nvCxnSpPr>
          <p:cNvPr id="1230" name="Google Shape;1230;p96"/>
          <p:cNvCxnSpPr/>
          <p:nvPr/>
        </p:nvCxnSpPr>
        <p:spPr>
          <a:xfrm>
            <a:off x="3243900" y="1503600"/>
            <a:ext cx="0" cy="3316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31" name="Google Shape;1231;p96"/>
          <p:cNvGraphicFramePr/>
          <p:nvPr/>
        </p:nvGraphicFramePr>
        <p:xfrm>
          <a:off x="3290974" y="19078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2164000"/>
                <a:gridCol w="306650"/>
                <a:gridCol w="667025"/>
              </a:tblGrid>
              <a:tr h="24121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9) − 4(3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32" name="Google Shape;1232;p96"/>
          <p:cNvCxnSpPr/>
          <p:nvPr/>
        </p:nvCxnSpPr>
        <p:spPr>
          <a:xfrm>
            <a:off x="6256800" y="1503600"/>
            <a:ext cx="0" cy="3316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33" name="Google Shape;1233;p96"/>
          <p:cNvGraphicFramePr/>
          <p:nvPr/>
        </p:nvGraphicFramePr>
        <p:xfrm>
          <a:off x="328018" y="19078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2170375"/>
                <a:gridCol w="278800"/>
                <a:gridCol w="688500"/>
              </a:tblGrid>
              <a:tr h="2412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− 1) − 2(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34" name="Google Shape;1234;p96"/>
          <p:cNvGraphicFramePr/>
          <p:nvPr/>
        </p:nvGraphicFramePr>
        <p:xfrm>
          <a:off x="6354249" y="19247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23275"/>
                <a:gridCol w="324775"/>
                <a:gridCol w="935350"/>
              </a:tblGrid>
              <a:tr h="23952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(2(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+ 4)+5)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5" name="Google Shape;1235;p96"/>
          <p:cNvSpPr/>
          <p:nvPr/>
        </p:nvSpPr>
        <p:spPr>
          <a:xfrm>
            <a:off x="324000" y="13304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96"/>
          <p:cNvSpPr/>
          <p:nvPr/>
        </p:nvSpPr>
        <p:spPr>
          <a:xfrm>
            <a:off x="3219600" y="13304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96"/>
          <p:cNvSpPr/>
          <p:nvPr/>
        </p:nvSpPr>
        <p:spPr>
          <a:xfrm>
            <a:off x="6267600" y="13304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9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multiple brackets</a:t>
            </a:r>
            <a:endParaRPr/>
          </a:p>
        </p:txBody>
      </p:sp>
      <p:sp>
        <p:nvSpPr>
          <p:cNvPr id="1243" name="Google Shape;1243;p9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Solve these equations twice. Firstly by expanding first, secondly by simplifying before expanding.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Write a sentence to compare the efficiency.</a:t>
            </a:r>
            <a:endParaRPr sz="1800"/>
          </a:p>
        </p:txBody>
      </p:sp>
      <p:graphicFrame>
        <p:nvGraphicFramePr>
          <p:cNvPr id="1244" name="Google Shape;1244;p97"/>
          <p:cNvGraphicFramePr/>
          <p:nvPr/>
        </p:nvGraphicFramePr>
        <p:xfrm>
          <a:off x="4081994" y="20668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913650"/>
                <a:gridCol w="445925"/>
                <a:gridCol w="2702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 + 3(2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5(2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45" name="Google Shape;1245;p97"/>
          <p:cNvGraphicFramePr/>
          <p:nvPr/>
        </p:nvGraphicFramePr>
        <p:xfrm>
          <a:off x="194174" y="20668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2396050"/>
                <a:gridCol w="385050"/>
                <a:gridCol w="586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+ 5) + 3(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6" name="Google Shape;1246;p97"/>
          <p:cNvSpPr txBox="1"/>
          <p:nvPr>
            <p:ph idx="1" type="body"/>
          </p:nvPr>
        </p:nvSpPr>
        <p:spPr>
          <a:xfrm>
            <a:off x="4057800" y="2127941"/>
            <a:ext cx="2778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sp>
        <p:nvSpPr>
          <p:cNvPr id="1247" name="Google Shape;1247;p97"/>
          <p:cNvSpPr txBox="1"/>
          <p:nvPr>
            <p:ph idx="1" type="body"/>
          </p:nvPr>
        </p:nvSpPr>
        <p:spPr>
          <a:xfrm>
            <a:off x="324000" y="2127941"/>
            <a:ext cx="2778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r>
              <a:rPr lang="en-GB" sz="2000"/>
              <a:t>)</a:t>
            </a:r>
            <a:endParaRPr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2" name="Google Shape;1252;p98"/>
          <p:cNvGraphicFramePr/>
          <p:nvPr/>
        </p:nvGraphicFramePr>
        <p:xfrm>
          <a:off x="2832218" y="19840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373350"/>
                <a:gridCol w="395775"/>
                <a:gridCol w="1171575"/>
              </a:tblGrid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2(4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−6(3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− 7)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 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− 7)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i="1"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−9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+ 21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3" name="Google Shape;1253;p9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multiple brackets</a:t>
            </a:r>
            <a:endParaRPr/>
          </a:p>
        </p:txBody>
      </p:sp>
      <p:sp>
        <p:nvSpPr>
          <p:cNvPr id="1254" name="Google Shape;1254;p98"/>
          <p:cNvSpPr txBox="1"/>
          <p:nvPr>
            <p:ph idx="1" type="body"/>
          </p:nvPr>
        </p:nvSpPr>
        <p:spPr>
          <a:xfrm>
            <a:off x="324000" y="759300"/>
            <a:ext cx="8237700" cy="108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The solutions to the equations are given. Fill in the steps to show how to get to these answers.                                                                                                  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Other methods may also be valid.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55" name="Google Shape;1255;p98"/>
          <p:cNvGraphicFramePr/>
          <p:nvPr/>
        </p:nvGraphicFramePr>
        <p:xfrm>
          <a:off x="19193" y="20009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402050"/>
                <a:gridCol w="367075"/>
                <a:gridCol w="1171575"/>
              </a:tblGrid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+ 6)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7(9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− 4)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+ 30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− 28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30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i="1"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− 28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58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56" name="Google Shape;1256;p98"/>
          <p:cNvCxnSpPr/>
          <p:nvPr/>
        </p:nvCxnSpPr>
        <p:spPr>
          <a:xfrm>
            <a:off x="3064800" y="1979725"/>
            <a:ext cx="0" cy="2784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57" name="Google Shape;1257;p98"/>
          <p:cNvGraphicFramePr/>
          <p:nvPr/>
        </p:nvGraphicFramePr>
        <p:xfrm>
          <a:off x="6043018" y="19840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970575"/>
                <a:gridCol w="321000"/>
                <a:gridCol w="846100"/>
              </a:tblGrid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− 5) + 3(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+ 5)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− 40 + 3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+ 15 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− 25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i="1"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58" name="Google Shape;1258;p98"/>
          <p:cNvCxnSpPr/>
          <p:nvPr/>
        </p:nvCxnSpPr>
        <p:spPr>
          <a:xfrm>
            <a:off x="5960400" y="1979725"/>
            <a:ext cx="0" cy="2784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98"/>
          <p:cNvSpPr/>
          <p:nvPr/>
        </p:nvSpPr>
        <p:spPr>
          <a:xfrm>
            <a:off x="324000" y="16352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98"/>
          <p:cNvSpPr/>
          <p:nvPr/>
        </p:nvSpPr>
        <p:spPr>
          <a:xfrm>
            <a:off x="3067200" y="16352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98"/>
          <p:cNvSpPr/>
          <p:nvPr/>
        </p:nvSpPr>
        <p:spPr>
          <a:xfrm>
            <a:off x="6115200" y="16352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equations with multiple brackets</a:t>
            </a:r>
            <a:endParaRPr/>
          </a:p>
        </p:txBody>
      </p:sp>
      <p:sp>
        <p:nvSpPr>
          <p:cNvPr id="1267" name="Google Shape;1267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The solutions to the equations are given. Fill in the steps to show how to get to these answers.                                                                                                             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Other methods may also be valid.</a:t>
            </a:r>
            <a:endParaRPr sz="1800"/>
          </a:p>
        </p:txBody>
      </p:sp>
      <p:cxnSp>
        <p:nvCxnSpPr>
          <p:cNvPr id="1268" name="Google Shape;1268;p99"/>
          <p:cNvCxnSpPr/>
          <p:nvPr/>
        </p:nvCxnSpPr>
        <p:spPr>
          <a:xfrm>
            <a:off x="3243900" y="1794073"/>
            <a:ext cx="0" cy="3020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69" name="Google Shape;1269;p99"/>
          <p:cNvGraphicFramePr/>
          <p:nvPr/>
        </p:nvGraphicFramePr>
        <p:xfrm>
          <a:off x="3290974" y="21364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2164000"/>
                <a:gridCol w="306650"/>
                <a:gridCol w="667025"/>
              </a:tblGrid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2(4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− 9) − 4(3 − 2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− 18 − 12 + 8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− 30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i="1"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70" name="Google Shape;1270;p99"/>
          <p:cNvCxnSpPr/>
          <p:nvPr/>
        </p:nvCxnSpPr>
        <p:spPr>
          <a:xfrm>
            <a:off x="6256800" y="1794073"/>
            <a:ext cx="0" cy="30207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71" name="Google Shape;1271;p99"/>
          <p:cNvGraphicFramePr/>
          <p:nvPr/>
        </p:nvGraphicFramePr>
        <p:xfrm>
          <a:off x="328018" y="21364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2170375"/>
                <a:gridCol w="278800"/>
                <a:gridCol w="688500"/>
              </a:tblGrid>
              <a:tr h="507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− 1) − 2(3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2(3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− 1) 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i="1"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72" name="Google Shape;1272;p99"/>
          <p:cNvGraphicFramePr/>
          <p:nvPr/>
        </p:nvGraphicFramePr>
        <p:xfrm>
          <a:off x="6354249" y="19247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623275"/>
                <a:gridCol w="324775"/>
                <a:gridCol w="935350"/>
              </a:tblGrid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3(2(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+ 4)+5)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+ 8 + 5)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+ 13)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i="1"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+ 13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000">
                        <a:solidFill>
                          <a:schemeClr val="dk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3" name="Google Shape;1273;p99"/>
          <p:cNvSpPr/>
          <p:nvPr/>
        </p:nvSpPr>
        <p:spPr>
          <a:xfrm>
            <a:off x="324000" y="16352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99"/>
          <p:cNvSpPr/>
          <p:nvPr/>
        </p:nvSpPr>
        <p:spPr>
          <a:xfrm>
            <a:off x="3219600" y="16352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99"/>
          <p:cNvSpPr/>
          <p:nvPr/>
        </p:nvSpPr>
        <p:spPr>
          <a:xfrm>
            <a:off x="6267600" y="1635275"/>
            <a:ext cx="356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multiple brackets</a:t>
            </a:r>
            <a:endParaRPr/>
          </a:p>
        </p:txBody>
      </p:sp>
      <p:sp>
        <p:nvSpPr>
          <p:cNvPr id="1281" name="Google Shape;1281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Solve these equations twice. Firstly by expanding first, secondly by simplifying before expanding.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Write a sentence to compare the efficiency.</a:t>
            </a:r>
            <a:endParaRPr sz="1800"/>
          </a:p>
        </p:txBody>
      </p:sp>
      <p:sp>
        <p:nvSpPr>
          <p:cNvPr id="1282" name="Google Shape;1282;p100"/>
          <p:cNvSpPr txBox="1"/>
          <p:nvPr>
            <p:ph idx="1" type="body"/>
          </p:nvPr>
        </p:nvSpPr>
        <p:spPr>
          <a:xfrm>
            <a:off x="324000" y="2090240"/>
            <a:ext cx="2778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graphicFrame>
        <p:nvGraphicFramePr>
          <p:cNvPr id="1283" name="Google Shape;1283;p100"/>
          <p:cNvGraphicFramePr/>
          <p:nvPr/>
        </p:nvGraphicFramePr>
        <p:xfrm>
          <a:off x="538893" y="20238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2004425"/>
                <a:gridCol w="393775"/>
                <a:gridCol w="647425"/>
              </a:tblGrid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+ 5) + 3(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+ 20 + 3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+ 15 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+ 35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i="1"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−21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84" name="Google Shape;1284;p100"/>
          <p:cNvGraphicFramePr/>
          <p:nvPr/>
        </p:nvGraphicFramePr>
        <p:xfrm>
          <a:off x="5774393" y="20238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2004425"/>
                <a:gridCol w="393775"/>
                <a:gridCol w="647425"/>
              </a:tblGrid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+ 5) + 3(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+ 5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 i="1"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5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5" name="Google Shape;1285;p100"/>
          <p:cNvSpPr txBox="1"/>
          <p:nvPr>
            <p:ph idx="1" type="body"/>
          </p:nvPr>
        </p:nvSpPr>
        <p:spPr>
          <a:xfrm>
            <a:off x="3668300" y="2571750"/>
            <a:ext cx="3187200" cy="21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Both methods were reasonably efficient.  Simplifying first meant that a common factor could be seen which eliminated a step.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equations with multiple brackets</a:t>
            </a:r>
            <a:endParaRPr/>
          </a:p>
        </p:txBody>
      </p:sp>
      <p:sp>
        <p:nvSpPr>
          <p:cNvPr id="1291" name="Google Shape;1291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2b) Solve these equations twice. Firstly by expanding first, secondly by simplifying before expanding.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Write a sentence to compare the efficiency.</a:t>
            </a:r>
            <a:endParaRPr sz="1800"/>
          </a:p>
        </p:txBody>
      </p:sp>
      <p:graphicFrame>
        <p:nvGraphicFramePr>
          <p:cNvPr id="1292" name="Google Shape;1292;p101"/>
          <p:cNvGraphicFramePr/>
          <p:nvPr/>
        </p:nvGraphicFramePr>
        <p:xfrm>
          <a:off x="-59306" y="18720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913650"/>
                <a:gridCol w="445925"/>
                <a:gridCol w="2702425"/>
              </a:tblGrid>
              <a:tr h="389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 + 3(2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− 9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− 21 − 6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+ 9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− 12</a:t>
                      </a:r>
                      <a:endParaRPr i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− 12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93" name="Google Shape;1293;p101"/>
          <p:cNvGraphicFramePr/>
          <p:nvPr/>
        </p:nvGraphicFramePr>
        <p:xfrm>
          <a:off x="4262694" y="18720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{33DA9383-A4A0-4073-A3BC-C317ACFAECE8}</a:tableStyleId>
              </a:tblPr>
              <a:tblGrid>
                <a:gridCol w="1913650"/>
                <a:gridCol w="445925"/>
                <a:gridCol w="2702425"/>
              </a:tblGrid>
              <a:tr h="38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 + 3(2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0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− 3)</a:t>
                      </a:r>
                      <a:endParaRPr i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− 3)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endParaRPr i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94" name="Google Shape;1294;p101"/>
          <p:cNvCxnSpPr/>
          <p:nvPr/>
        </p:nvCxnSpPr>
        <p:spPr>
          <a:xfrm>
            <a:off x="4572000" y="1872025"/>
            <a:ext cx="0" cy="1293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5" name="Google Shape;1295;p101"/>
          <p:cNvSpPr txBox="1"/>
          <p:nvPr>
            <p:ph idx="1" type="body"/>
          </p:nvPr>
        </p:nvSpPr>
        <p:spPr>
          <a:xfrm>
            <a:off x="2887200" y="3780000"/>
            <a:ext cx="5932800" cy="9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Simplifying first seemed to be more efficient. No expanding brackets was necessary and less manipulating negative numbers was needed.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02"/>
          <p:cNvSpPr txBox="1"/>
          <p:nvPr>
            <p:ph idx="1" type="body"/>
          </p:nvPr>
        </p:nvSpPr>
        <p:spPr>
          <a:xfrm>
            <a:off x="324000" y="8298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Equations containing a bracket multiplied by a term can be solved in two ways.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If the term is a constant and a factor of every other term then dividing first may be simplest. Otherwise expanding the brackets may be easiest.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Equations with multiple sets of brackets added together can be solved.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It can be helpful to look for common factors or identical expressions to simplify before solving.</a:t>
            </a:r>
            <a:endParaRPr sz="2000"/>
          </a:p>
        </p:txBody>
      </p:sp>
      <p:sp>
        <p:nvSpPr>
          <p:cNvPr id="1301" name="Google Shape;1301;p102"/>
          <p:cNvSpPr txBox="1"/>
          <p:nvPr>
            <p:ph type="title"/>
          </p:nvPr>
        </p:nvSpPr>
        <p:spPr>
          <a:xfrm>
            <a:off x="1684800" y="43825"/>
            <a:ext cx="71352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solving linear equations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10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07" name="Google Shape;1307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