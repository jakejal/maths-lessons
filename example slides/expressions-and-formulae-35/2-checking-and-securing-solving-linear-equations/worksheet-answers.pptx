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E411594A-D709-4F8C-885F-C72E024E0ED2}">
  <a:tblStyle styleId="{E411594A-D709-4F8C-885F-C72E024E0ED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7" name="Shape 207"/>
        <p:cNvGrpSpPr/>
        <p:nvPr/>
      </p:nvGrpSpPr>
      <p:grpSpPr>
        <a:xfrm>
          <a:off x="0" y="0"/>
          <a:ext cx="0" cy="0"/>
        </a:xfrm>
      </p:grpSpPr>
      <p:sp>
        <p:nvSpPr>
          <p:cNvPr id="208" name="Google Shape;208;g2b3d2347306_0_34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b3d2347306_0_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6" name="Shape 246"/>
        <p:cNvGrpSpPr/>
        <p:nvPr/>
      </p:nvGrpSpPr>
      <p:grpSpPr>
        <a:xfrm>
          <a:off x="0" y="0"/>
          <a:ext cx="0" cy="0"/>
        </a:xfrm>
      </p:grpSpPr>
      <p:sp>
        <p:nvSpPr>
          <p:cNvPr id="247" name="Google Shape;247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4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10" Type="http://schemas.openxmlformats.org/officeDocument/2006/relationships/image" Target="../media/image22.png" /><Relationship Id="rId11" Type="http://schemas.openxmlformats.org/officeDocument/2006/relationships/image" Target="../media/image23.png" /><Relationship Id="rId12" Type="http://schemas.openxmlformats.org/officeDocument/2006/relationships/image" Target="../media/image24.png" /><Relationship Id="rId13" Type="http://schemas.openxmlformats.org/officeDocument/2006/relationships/image" Target="../media/image25.png" /><Relationship Id="rId14" Type="http://schemas.openxmlformats.org/officeDocument/2006/relationships/image" Target="../media/image26.png" /><Relationship Id="rId15" Type="http://schemas.openxmlformats.org/officeDocument/2006/relationships/image" Target="../media/image27.png" /><Relationship Id="rId16" Type="http://schemas.openxmlformats.org/officeDocument/2006/relationships/image" Target="../media/image28.png" /><Relationship Id="rId17" Type="http://schemas.openxmlformats.org/officeDocument/2006/relationships/image" Target="../media/image29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5.png" /><Relationship Id="rId4" Type="http://schemas.openxmlformats.org/officeDocument/2006/relationships/image" Target="../media/image16.png" /><Relationship Id="rId5" Type="http://schemas.openxmlformats.org/officeDocument/2006/relationships/image" Target="../media/image17.png" /><Relationship Id="rId6" Type="http://schemas.openxmlformats.org/officeDocument/2006/relationships/image" Target="../media/image18.png" /><Relationship Id="rId7" Type="http://schemas.openxmlformats.org/officeDocument/2006/relationships/image" Target="../media/image19.png" /><Relationship Id="rId8" Type="http://schemas.openxmlformats.org/officeDocument/2006/relationships/image" Target="../media/image20.png" /><Relationship Id="rId9" Type="http://schemas.openxmlformats.org/officeDocument/2006/relationships/image" Target="../media/image21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securing solving linear equations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1452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Solving equations involving a bracketed expression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720375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Spot the mistake in each method to solve an equation involving brackets.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" name="Google Shape;175;p20"/>
          <p:cNvGraphicFramePr>
            <a:graphicFrameLocks noGrp="1"/>
          </p:cNvGraphicFramePr>
          <p:nvPr/>
        </p:nvGraphicFramePr>
        <p:xfrm>
          <a:off x="544203" y="2437161"/>
          <a:ext cx="1910225" cy="1241042"/>
        </p:xfrm>
        <a:graphic>
          <a:graphicData uri="http://schemas.openxmlformats.org/drawingml/2006/table">
            <a:tbl>
              <a:tblPr>
                <a:noFill/>
                <a:tableStyleId>{E411594A-D709-4F8C-885F-C72E024E0ED2}</a:tableStyleId>
              </a:tblPr>
              <a:tblGrid>
                <a:gridCol w="925000"/>
                <a:gridCol w="272000"/>
                <a:gridCol w="713225"/>
              </a:tblGrid>
              <a:tr h="285750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+ 10)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57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i="1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55</a:t>
                      </a:r>
                      <a:endParaRPr sz="1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57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1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57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6" name="Google Shape;176;p20"/>
          <p:cNvGraphicFramePr>
            <a:graphicFrameLocks noGrp="1"/>
          </p:cNvGraphicFramePr>
          <p:nvPr/>
        </p:nvGraphicFramePr>
        <p:xfrm>
          <a:off x="5084669" y="2437138"/>
          <a:ext cx="1941350" cy="960717"/>
        </p:xfrm>
        <a:graphic>
          <a:graphicData uri="http://schemas.openxmlformats.org/drawingml/2006/table">
            <a:tbl>
              <a:tblPr>
                <a:noFill/>
                <a:tableStyleId>{E411594A-D709-4F8C-885F-C72E024E0ED2}</a:tableStyleId>
              </a:tblPr>
              <a:tblGrid>
                <a:gridCol w="942575"/>
                <a:gridCol w="272000"/>
                <a:gridCol w="726775"/>
              </a:tblGrid>
              <a:tr h="291175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3)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11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3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i="1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11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1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77" name="Google Shape;177;p20"/>
          <p:cNvCxnSpPr/>
          <p:nvPr/>
        </p:nvCxnSpPr>
        <p:spPr>
          <a:xfrm flipH="1">
            <a:off x="2687838" y="2070650"/>
            <a:ext cx="0" cy="27027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20"/>
          <p:cNvCxnSpPr/>
          <p:nvPr/>
        </p:nvCxnSpPr>
        <p:spPr>
          <a:xfrm flipH="1">
            <a:off x="5067575" y="2070650"/>
            <a:ext cx="0" cy="26895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9" name="Google Shape;179;p20"/>
          <p:cNvSpPr/>
          <p:nvPr/>
        </p:nvSpPr>
        <p:spPr>
          <a:xfrm>
            <a:off x="468000" y="2139150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2792933" y="2139150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5078933" y="2139150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92900" y="3595500"/>
            <a:ext cx="1910100" cy="10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brackets have not been expanded properly.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second line should be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+ 50 = 55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825250" y="3680825"/>
            <a:ext cx="2128500" cy="15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When dividing the LHS by 2 the terms in the bracket should not be divided.The second line should be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+ 10 = 9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184" name="Google Shape;184;p20"/>
          <p:cNvGraphicFramePr>
            <a:graphicFrameLocks noGrp="1"/>
          </p:cNvGraphicFramePr>
          <p:nvPr/>
        </p:nvGraphicFramePr>
        <p:xfrm>
          <a:off x="3080294" y="2465883"/>
          <a:ext cx="1969150" cy="1261592"/>
        </p:xfrm>
        <a:graphic>
          <a:graphicData uri="http://schemas.openxmlformats.org/drawingml/2006/table">
            <a:tbl>
              <a:tblPr>
                <a:noFill/>
                <a:tableStyleId>{E411594A-D709-4F8C-885F-C72E024E0ED2}</a:tableStyleId>
              </a:tblPr>
              <a:tblGrid>
                <a:gridCol w="958275"/>
                <a:gridCol w="272000"/>
                <a:gridCol w="738875"/>
              </a:tblGrid>
              <a:tr h="296025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2(4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+ 10)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60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i="1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9</a:t>
                      </a:r>
                      <a:endParaRPr sz="1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60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1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60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5" name="Google Shape;185;p20"/>
          <p:cNvSpPr txBox="1"/>
          <p:nvPr/>
        </p:nvSpPr>
        <p:spPr>
          <a:xfrm>
            <a:off x="5181400" y="3680825"/>
            <a:ext cx="1910100" cy="1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additive inverse of −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is + 3 so 3 should have been added to both sides. Line 3 should be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6 + 3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or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9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5208055" y="6649290"/>
            <a:ext cx="843000" cy="535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7" name="Google Shape;187;p20"/>
          <p:cNvGraphicFramePr>
            <a:graphicFrameLocks noGrp="1"/>
          </p:cNvGraphicFramePr>
          <p:nvPr/>
        </p:nvGraphicFramePr>
        <p:xfrm>
          <a:off x="2889682" y="5782426"/>
          <a:ext cx="1941350" cy="1251892"/>
        </p:xfrm>
        <a:graphic>
          <a:graphicData uri="http://schemas.openxmlformats.org/drawingml/2006/table">
            <a:tbl>
              <a:tblPr>
                <a:noFill/>
                <a:tableStyleId>{E411594A-D709-4F8C-885F-C72E024E0ED2}</a:tableStyleId>
              </a:tblPr>
              <a:tblGrid>
                <a:gridCol w="942575"/>
                <a:gridCol w="272000"/>
                <a:gridCol w="726775"/>
              </a:tblGrid>
              <a:tr h="291175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5)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11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i="1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11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1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11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88" name="Google Shape;188;p20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1922" y="5822476"/>
            <a:ext cx="83754" cy="277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9" name="Google Shape;189;p20"/>
          <p:cNvGraphicFramePr>
            <a:graphicFrameLocks noGrp="1"/>
          </p:cNvGraphicFramePr>
          <p:nvPr/>
        </p:nvGraphicFramePr>
        <p:xfrm>
          <a:off x="5517784" y="5735662"/>
          <a:ext cx="1717000" cy="381000"/>
        </p:xfrm>
        <a:graphic>
          <a:graphicData uri="http://schemas.openxmlformats.org/drawingml/2006/table">
            <a:tbl>
              <a:tblPr>
                <a:noFill/>
                <a:tableStyleId>{E411594A-D709-4F8C-885F-C72E024E0ED2}</a:tableStyleId>
              </a:tblPr>
              <a:tblGrid>
                <a:gridCol w="815900"/>
                <a:gridCol w="272000"/>
                <a:gridCol w="6291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(10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− 8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90" name="Google Shape;190;p20" descr="&lt;math xmlns=&quot;http://www.w3.org/1998/Math/MathML&quot; display=&quot;block&quot; data-is-equatio=&quot;1&quot; data-latex=&quot;\frac{3}{4}&quot;&gt;&lt;mfrac&gt;&lt;mn&gt;3&lt;/mn&gt;&lt;mn&gt;4&lt;/mn&gt;&lt;/mfrac&gt;&lt;/math&gt;" title="three four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8427" y="5782427"/>
            <a:ext cx="91854" cy="292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&lt;math xmlns=&quot;http://www.w3.org/1998/Math/MathML&quot; display=&quot;block&quot; data-is-equatio=&quot;1&quot; data-latex=&quot;\frac{30}{4}-\frac{24}{4}x\ =\ 6&quot;&gt;&lt;mfrac&gt;&lt;mn&gt;30&lt;/mn&gt;&lt;mn&gt;4&lt;/mn&gt;&lt;/mfrac&gt;&lt;mo&gt;−&lt;/mo&gt;&lt;mfrac&gt;&lt;mn&gt;24&lt;/mn&gt;&lt;mn&gt;4&lt;/mn&gt;&lt;/mfrac&gt;&lt;mi&gt;x&lt;/mi&gt;&lt;mtext&gt;&lt;/mtext&gt;&lt;mo&gt;=&lt;/mo&gt;&lt;mtext&gt;&lt;/mtext&gt;&lt;mn&gt;6&lt;/mn&gt;&lt;/math&gt;" title="30 over 4 minus 24 over 4 x equals 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8640" y="6091884"/>
            <a:ext cx="868755" cy="275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&lt;math xmlns=&quot;http://www.w3.org/1998/Math/MathML&quot; display=&quot;block&quot; data-is-equatio=&quot;1&quot; data-latex=&quot;-\frac{24}{4}x\ =\ -\frac{3}{2}&quot;&gt;&lt;mo&gt;−&lt;/mo&gt;&lt;mfrac&gt;&lt;mn&gt;24&lt;/mn&gt;&lt;mn&gt;4&lt;/mn&gt;&lt;/mfrac&gt;&lt;mi&gt;x&lt;/mi&gt;&lt;mtext&gt;&lt;/mtext&gt;&lt;mo&gt;=&lt;/mo&gt;&lt;mtext&gt;&lt;/mtext&gt;&lt;mo&gt;−&lt;/mo&gt;&lt;mfrac&gt;&lt;mn&gt;3&lt;/mn&gt;&lt;mn&gt;2&lt;/mn&gt;&lt;/mfrac&gt;&lt;/math&gt;" title="negative 24 over 4 x equals negative three halve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86105" y="6422708"/>
            <a:ext cx="789684" cy="264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&lt;math xmlns=&quot;http://www.w3.org/1998/Math/MathML&quot; display=&quot;block&quot; data-is-equatio=&quot;1&quot; data-latex=&quot;x\ =\ -\frac{3}{2}\times\frac{4}{24}&quot;&gt;&lt;mi&gt;x&lt;/mi&gt;&lt;mtext&gt;&lt;/mtext&gt;&lt;mo&gt;=&lt;/mo&gt;&lt;mtext&gt;&lt;/mtext&gt;&lt;mo&gt;−&lt;/mo&gt;&lt;mfrac&gt;&lt;mn&gt;3&lt;/mn&gt;&lt;mn&gt;2&lt;/mn&gt;&lt;/mfrac&gt;&lt;mo&gt;×&lt;/mo&gt;&lt;mfrac&gt;&lt;mn&gt;4&lt;/mn&gt;&lt;mn&gt;24&lt;/mn&gt;&lt;/mfrac&gt;&lt;/math&gt;" title="x equals negative three halves times 4 over 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52405" y="6717531"/>
            <a:ext cx="789687" cy="246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&lt;math xmlns=&quot;http://www.w3.org/1998/Math/MathML&quot; display=&quot;block&quot; data-is-equatio=&quot;1&quot; data-latex=&quot;x\ =\ -\frac{1}{4}&quot;&gt;&lt;mi&gt;x&lt;/mi&gt;&lt;mtext&gt;&lt;/mtext&gt;&lt;mo&gt;=&lt;/mo&gt;&lt;mtext&gt;&lt;/mtext&gt;&lt;mo&gt;−&lt;/mo&gt;&lt;mfrac&gt;&lt;mn&gt;1&lt;/mn&gt;&lt;mn&gt;4&lt;/mn&gt;&lt;/mfrac&gt;&lt;/math&gt;" title="x equals negative one four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56937" y="6996164"/>
            <a:ext cx="495789" cy="2469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0"/>
          <p:cNvCxnSpPr/>
          <p:nvPr/>
        </p:nvCxnSpPr>
        <p:spPr>
          <a:xfrm flipH="1">
            <a:off x="2690180" y="5625738"/>
            <a:ext cx="0" cy="24537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20"/>
          <p:cNvCxnSpPr/>
          <p:nvPr/>
        </p:nvCxnSpPr>
        <p:spPr>
          <a:xfrm flipH="1">
            <a:off x="5067180" y="5569038"/>
            <a:ext cx="0" cy="24837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7" name="Google Shape;197;p20"/>
          <p:cNvSpPr/>
          <p:nvPr/>
        </p:nvSpPr>
        <p:spPr>
          <a:xfrm>
            <a:off x="482813" y="5579438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2792933" y="5579438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5078933" y="5579438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0" name="Google Shape;200;p20"/>
          <p:cNvGraphicFramePr>
            <a:graphicFrameLocks noGrp="1"/>
          </p:cNvGraphicFramePr>
          <p:nvPr/>
        </p:nvGraphicFramePr>
        <p:xfrm>
          <a:off x="488187" y="5801732"/>
          <a:ext cx="1992950" cy="1271553"/>
        </p:xfrm>
        <a:graphic>
          <a:graphicData uri="http://schemas.openxmlformats.org/drawingml/2006/table">
            <a:tbl>
              <a:tblPr>
                <a:noFill/>
                <a:tableStyleId>{E411594A-D709-4F8C-885F-C72E024E0ED2}</a:tableStyleId>
              </a:tblPr>
              <a:tblGrid>
                <a:gridCol w="971725"/>
                <a:gridCol w="272000"/>
                <a:gridCol w="749225"/>
              </a:tblGrid>
              <a:tr h="300175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5(3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2)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01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10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i="1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14</a:t>
                      </a:r>
                      <a:endParaRPr sz="1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01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1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01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1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1" name="Google Shape;201;p20"/>
          <p:cNvSpPr txBox="1"/>
          <p:nvPr/>
        </p:nvSpPr>
        <p:spPr>
          <a:xfrm>
            <a:off x="516500" y="7029125"/>
            <a:ext cx="1969200" cy="14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brackets have not been expanded properly 5 and 3 should be multiplied not added. The second line should be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+ 10 = 55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2777998" y="7029125"/>
            <a:ext cx="2175600" cy="10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reciprocal of a third is three.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first step should be to multiply by 3 not divide by 3.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203" name="Google Shape;203;p20" descr="&lt;math xmlns=&quot;http://www.w3.org/1998/Math/MathML&quot; display=&quot;block&quot; data-is-equatio=&quot;1&quot; data-latex=&quot;-x=-\frac{3}{2}\times\frac{4}{24}&quot;&gt;&lt;mo&gt;−&lt;/mo&gt;&lt;mi&gt;x&lt;/mi&gt;&lt;mo&gt;=&lt;/mo&gt;&lt;mo&gt;−&lt;/mo&gt;&lt;mfrac&gt;&lt;mn&gt;3&lt;/mn&gt;&lt;mn&gt;2&lt;/mn&gt;&lt;/mfrac&gt;&lt;mo&gt;×&lt;/mo&gt;&lt;mfrac&gt;&lt;mn&gt;4&lt;/mn&gt;&lt;mn&gt;24&lt;/mn&gt;&lt;/mfrac&gt;&lt;/math&gt;" title="negative x equals negative three halves times 4 over 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30728" y="6694079"/>
            <a:ext cx="755375" cy="246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 descr="&lt;math xmlns=&quot;http://www.w3.org/1998/Math/MathML&quot; display=&quot;block&quot; data-is-equatio=&quot;1&quot; data-latex=&quot;x=\frac{1}{4}&quot;&gt;&lt;mi&gt;x&lt;/mi&gt;&lt;mo&gt;=&lt;/mo&gt;&lt;mfrac&gt;&lt;mn&gt;1&lt;/mn&gt;&lt;mn&gt;4&lt;/mn&gt;&lt;/mfrac&gt;&lt;/math&gt;" title="x equals one fourth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322171" y="6957722"/>
            <a:ext cx="276653" cy="22695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5180595" y="7233141"/>
            <a:ext cx="19101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It would have been easier to multiply by the reciprocal first.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06" name="Google Shape;206;p20"/>
          <p:cNvCxnSpPr/>
          <p:nvPr/>
        </p:nvCxnSpPr>
        <p:spPr>
          <a:xfrm>
            <a:off x="6051010" y="6916984"/>
            <a:ext cx="309600" cy="312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0" name="Shape 210"/>
        <p:cNvGrpSpPr/>
        <p:nvPr/>
      </p:nvGrpSpPr>
      <p:grpSpPr>
        <a:xfrm>
          <a:off x="0" y="0"/>
          <a:ext cx="0" cy="0"/>
        </a:xfrm>
      </p:grpSpPr>
      <p:sp>
        <p:nvSpPr>
          <p:cNvPr id="211" name="Google Shape;211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Checking and securing solving linear equations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468000" y="720000"/>
            <a:ext cx="6624000" cy="4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2a) Solve this equation using both methods and write a sentence comparing the efficiency of the methods.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468000" y="1188430"/>
            <a:ext cx="24108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Expanding first: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3780000" y="1188425"/>
            <a:ext cx="33120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Multiplying by the reciprocal first: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5" name="Google Shape;215;p21"/>
          <p:cNvGraphicFramePr>
            <a:graphicFrameLocks noGrp="1"/>
          </p:cNvGraphicFramePr>
          <p:nvPr/>
        </p:nvGraphicFramePr>
        <p:xfrm>
          <a:off x="10803" y="14942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{E411594A-D709-4F8C-885F-C72E024E0ED2}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9)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i="1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21</a:t>
                      </a:r>
                      <a:endParaRPr sz="1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1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</a:t>
                      </a:r>
                      <a:endParaRPr sz="1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16" name="Google Shape;216;p21" descr="&lt;math xmlns=&quot;http://www.w3.org/1998/Math/MathML&quot; display=&quot;block&quot; data-is-equatio=&quot;1&quot; data-latex=&quot;x=\ \frac{75}{6}=\frac{25}{2}&quot;&gt;&lt;mi&gt;x&lt;/mi&gt;&lt;mo&gt;=&lt;/mo&gt;&lt;mtext&gt;&lt;/mtext&gt;&lt;mfrac&gt;&lt;mn&gt;75&lt;/mn&gt;&lt;mn&gt;6&lt;/mn&gt;&lt;/mfrac&gt;&lt;mo&gt;=&lt;/mo&gt;&lt;mfrac&gt;&lt;mn&gt;25&lt;/mn&gt;&lt;mn&gt;2&lt;/mn&gt;&lt;/mfrac&gt;&lt;/math&gt;" title="x equals 75 over 6 equals 25 over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1850" y="2589050"/>
            <a:ext cx="890925" cy="31698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7" name="Google Shape;217;p21"/>
          <p:cNvGraphicFramePr>
            <a:graphicFrameLocks noGrp="1"/>
          </p:cNvGraphicFramePr>
          <p:nvPr/>
        </p:nvGraphicFramePr>
        <p:xfrm>
          <a:off x="3780004" y="14223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{E411594A-D709-4F8C-885F-C72E024E0ED2}</a:tableStyleId>
              </a:tblPr>
              <a:tblGrid>
                <a:gridCol w="1233325"/>
                <a:gridCol w="315025"/>
                <a:gridCol w="950950"/>
              </a:tblGrid>
              <a:tr h="5791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9)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i="1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endParaRPr sz="1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18" name="Google Shape;218;p21" descr="&lt;math xmlns=&quot;http://www.w3.org/1998/Math/MathML&quot; display=&quot;block&quot; data-is-equatio=&quot;1&quot; data-latex=&quot;\frac{21}{6}=\frac{7}{2}&quot;&gt;&lt;mfrac&gt;&lt;mn&gt;21&lt;/mn&gt;&lt;mn&gt;6&lt;/mn&gt;&lt;/mfrac&gt;&lt;mo&gt;=&lt;/mo&gt;&lt;mfrac&gt;&lt;mn&gt;7&lt;/mn&gt;&lt;mn&gt;2&lt;/mn&gt;&lt;/mfrac&gt;&lt;/math&gt;" title="21 over 6 equals seven halv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1417" y="1952973"/>
            <a:ext cx="536158" cy="345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 descr="&lt;math xmlns=&quot;http://www.w3.org/1998/Math/MathML&quot; display=&quot;block&quot; data-is-equatio=&quot;1&quot; data-latex=&quot;x=\frac{7}{2}+9&quot;&gt;&lt;mi&gt;x&lt;/mi&gt;&lt;mo&gt;=&lt;/mo&gt;&lt;mfrac&gt;&lt;mn&gt;7&lt;/mn&gt;&lt;mn&gt;2&lt;/mn&gt;&lt;/mfrac&gt;&lt;mo&gt;+&lt;/mo&gt;&lt;mn&gt;9&lt;/mn&gt;&lt;/math&gt;" title="x equals seven halves plus 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02626" y="2374641"/>
            <a:ext cx="640148" cy="31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 descr="&lt;math xmlns=&quot;http://www.w3.org/1998/Math/MathML&quot; display=&quot;block&quot; data-is-equatio=&quot;1&quot; data-latex=&quot;x=\frac{7}{2}+\frac{18}{2}&quot;&gt;&lt;mi&gt;x&lt;/mi&gt;&lt;mo&gt;=&lt;/mo&gt;&lt;mfrac&gt;&lt;mn&gt;7&lt;/mn&gt;&lt;mn&gt;2&lt;/mn&gt;&lt;/mfrac&gt;&lt;mo&gt;+&lt;/mo&gt;&lt;mfrac&gt;&lt;mn&gt;18&lt;/mn&gt;&lt;mn&gt;2&lt;/mn&gt;&lt;/mfrac&gt;&lt;/math&gt;" title="x equals seven halves plus eighteen halve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02625" y="2717748"/>
            <a:ext cx="755748" cy="31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 descr="&lt;math xmlns=&quot;http://www.w3.org/1998/Math/MathML&quot; display=&quot;block&quot; data-is-equatio=&quot;1&quot; data-latex=&quot;x=\frac{25}{2}&quot;&gt;&lt;mi&gt;x&lt;/mi&gt;&lt;mo&gt;=&lt;/mo&gt;&lt;mfrac&gt;&lt;mn&gt;25&lt;/mn&gt;&lt;mn&gt;2&lt;/mn&gt;&lt;/mfrac&gt;&lt;/math&gt;" title="x equals 25 over 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07778" y="3060872"/>
            <a:ext cx="453530" cy="310926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2800800" y="1875200"/>
            <a:ext cx="1339200" cy="10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second method requires a lot more fractions skills so the first method is likely to be more efficient.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468000" y="3574450"/>
            <a:ext cx="66240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2b) Solve this equation using both methods and write a sentence comparing the efficiency of the methods.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468000" y="4109168"/>
            <a:ext cx="24108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Expanding first: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3780000" y="4109175"/>
            <a:ext cx="33120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Multiplying by the reciprocal first: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6" name="Google Shape;226;p21"/>
          <p:cNvGraphicFramePr>
            <a:graphicFrameLocks noGrp="1"/>
          </p:cNvGraphicFramePr>
          <p:nvPr/>
        </p:nvGraphicFramePr>
        <p:xfrm>
          <a:off x="173516" y="43767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{E411594A-D709-4F8C-885F-C72E024E0ED2}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15(4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+ 7)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105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i="1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45</a:t>
                      </a:r>
                      <a:endParaRPr sz="1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1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</a:t>
                      </a:r>
                      <a:endParaRPr sz="1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27" name="Google Shape;227;p21"/>
          <p:cNvGraphicFramePr>
            <a:graphicFrameLocks noGrp="1"/>
          </p:cNvGraphicFramePr>
          <p:nvPr/>
        </p:nvGraphicFramePr>
        <p:xfrm>
          <a:off x="4167191" y="43767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{E411594A-D709-4F8C-885F-C72E024E0ED2}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15(4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+ 7)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 i="1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1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−4</a:t>
                      </a:r>
                      <a:endParaRPr sz="1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8" name="Google Shape;228;p21"/>
          <p:cNvSpPr txBox="1"/>
          <p:nvPr/>
        </p:nvSpPr>
        <p:spPr>
          <a:xfrm>
            <a:off x="2412000" y="4545525"/>
            <a:ext cx="1978200" cy="10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is personal preference. Both expressions have a common factor of 15 so dividing by 15 first makes the values smaller and potentially easier to work with compared to expanding the brackets first.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468000" y="6049650"/>
            <a:ext cx="6624000" cy="4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2c) Solve this equation using both methods and write a sentence comparing the efficiency of the methods.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511163" y="6518080"/>
            <a:ext cx="24108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Expanding first: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3780000" y="6518075"/>
            <a:ext cx="25872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Multiplying by the reciprocal first: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" name="Google Shape;232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88800" y="6905424"/>
            <a:ext cx="1383910" cy="423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71275" y="6905750"/>
            <a:ext cx="1395499" cy="427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 descr="&lt;math xmlns=&quot;http://www.w3.org/1998/Math/MathML&quot; display=&quot;block&quot; data-is-equatio=&quot;1&quot; data-latex=&quot;\begin{array}{l}\frac{18}{5}x+\frac{24}{5}=30\end{array}&quot;&gt;&lt;mtable columnalign=&quot;left&quot; columnspacing=&quot;1em&quot; rowspacing=&quot;4pt&quot;&gt;&lt;mtr&gt;&lt;mtd&gt;&lt;mfrac&gt;&lt;mn&gt;18&lt;/mn&gt;&lt;mn&gt;5&lt;/mn&gt;&lt;/mfrac&gt;&lt;mi&gt;x&lt;/mi&gt;&lt;mo&gt;+&lt;/mo&gt;&lt;mfrac&gt;&lt;mn&gt;24&lt;/mn&gt;&lt;mn&gt;5&lt;/mn&gt;&lt;/mfrac&gt;&lt;mo&gt;=&lt;/mo&gt;&lt;mn&gt;30&lt;/mn&gt;&lt;/mtd&gt;&lt;/mtr&gt;&lt;/mtable&gt;&lt;/math&gt;" title="1 lines Line 1: eighteen fifths x plus 24 over 5 equals 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80763" y="7423113"/>
            <a:ext cx="1191949" cy="281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 descr="&lt;math xmlns=&quot;http://www.w3.org/1998/Math/MathML&quot; display=&quot;block&quot; data-is-equatio=&quot;1&quot; data-latex=&quot;\begin{array}{l}\frac{18}{5}x=30\ -\ \frac{24}{5}\end{array}&quot;&gt;&lt;mtable columnalign=&quot;left&quot; columnspacing=&quot;1em&quot; rowspacing=&quot;4pt&quot;&gt;&lt;mtr&gt;&lt;mtd&gt;&lt;mfrac&gt;&lt;mn&gt;18&lt;/mn&gt;&lt;mn&gt;5&lt;/mn&gt;&lt;/mfrac&gt;&lt;mi&gt;x&lt;/mi&gt;&lt;mo&gt;=&lt;/mo&gt;&lt;mn&gt;30&lt;/mn&gt;&lt;mtext&gt;&lt;/mtext&gt;&lt;mo&gt;−&lt;/mo&gt;&lt;mtext&gt;&lt;/mtext&gt;&lt;mfrac&gt;&lt;mn&gt;24&lt;/mn&gt;&lt;mn&gt;5&lt;/mn&gt;&lt;/mfrac&gt;&lt;/mtd&gt;&lt;/mtr&gt;&lt;/mtable&gt;&lt;/math&gt;" title="1 lines Line 1: eighteen fifths x equals 30 minus 24 over 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414407" y="7858851"/>
            <a:ext cx="1258418" cy="27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 descr="&lt;math xmlns=&quot;http://www.w3.org/1998/Math/MathML&quot; display=&quot;block&quot; data-is-equatio=&quot;1&quot; data-latex=&quot;\begin{array}{l}\frac{18}{5}x=\frac{126}{5}\end{array}&quot;&gt;&lt;mtable columnalign=&quot;left&quot; columnspacing=&quot;1em&quot; rowspacing=&quot;4pt&quot;&gt;&lt;mtr&gt;&lt;mtd&gt;&lt;mfrac&gt;&lt;mn&gt;18&lt;/mn&gt;&lt;mn&gt;5&lt;/mn&gt;&lt;/mfrac&gt;&lt;mi&gt;x&lt;/mi&gt;&lt;mo&gt;=&lt;/mo&gt;&lt;mfrac&gt;&lt;mn&gt;126&lt;/mn&gt;&lt;mn&gt;5&lt;/mn&gt;&lt;/mfrac&gt;&lt;/mtd&gt;&lt;/mtr&gt;&lt;/mtable&gt;&lt;/math&gt;" title="1 lines Line 1: eighteen fifths x equals 126 over 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403622" y="8234091"/>
            <a:ext cx="850370" cy="292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 descr="&lt;math xmlns=&quot;http://www.w3.org/1998/Math/MathML&quot; display=&quot;block&quot; data-is-equatio=&quot;1&quot; data-latex=&quot;\begin{array}{l}x=\frac{126}{5}\times\frac{5}{18}\end{array}&quot;&gt;&lt;mtable columnalign=&quot;left&quot; columnspacing=&quot;1em&quot; rowspacing=&quot;4pt&quot;&gt;&lt;mtr&gt;&lt;mtd&gt;&lt;mi&gt;x&lt;/mi&gt;&lt;mo&gt;=&lt;/mo&gt;&lt;mfrac&gt;&lt;mn&gt;126&lt;/mn&gt;&lt;mn&gt;5&lt;/mn&gt;&lt;/mfrac&gt;&lt;mo&gt;×&lt;/mo&gt;&lt;mfrac&gt;&lt;mn&gt;5&lt;/mn&gt;&lt;mn&gt;18&lt;/mn&gt;&lt;/mfrac&gt;&lt;/mtd&gt;&lt;/mtr&gt;&lt;/mtable&gt;&lt;/math&gt;" title="1 lines Line 1: x equals 126 over 5 times 5 over 1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631164" y="8550904"/>
            <a:ext cx="1041654" cy="278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 descr="&lt;math xmlns=&quot;http://www.w3.org/1998/Math/MathML&quot; display=&quot;block&quot; data-is-equatio=&quot;1&quot; data-latex=&quot;\begin{array}{l}x=7\end{array}&quot;&gt;&lt;mtable columnalign=&quot;left&quot; columnspacing=&quot;1em&quot; rowspacing=&quot;4pt&quot;&gt;&lt;mtr&gt;&lt;mtd&gt;&lt;mi&gt;x&lt;/mi&gt;&lt;mo&gt;=&lt;/mo&gt;&lt;mn&gt;7&lt;/mn&gt;&lt;/mtd&gt;&lt;/mtr&gt;&lt;/mtable&gt;&lt;/math&gt;" title="1 lines Line 1: x equals 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631172" y="8869597"/>
            <a:ext cx="448805" cy="139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 descr="&lt;math xmlns=&quot;http://www.w3.org/1998/Math/MathML&quot; display=&quot;block&quot; data-is-equatio=&quot;1&quot; data-latex=&quot;3x\ +\ 4\ =\ 30\ \times\frac{5}{6}&quot;&gt;&lt;mn&gt;3&lt;/mn&gt;&lt;mi&gt;x&lt;/mi&gt;&lt;mtext&gt;&lt;/mtext&gt;&lt;mo&gt;+&lt;/mo&gt;&lt;mtext&gt;&lt;/mtext&gt;&lt;mn&gt;4&lt;/mn&gt;&lt;mtext&gt;&lt;/mtext&gt;&lt;mo&gt;=&lt;/mo&gt;&lt;mtext&gt;&lt;/mtext&gt;&lt;mn&gt;30&lt;/mn&gt;&lt;mtext&gt;&lt;/mtext&gt;&lt;mo&gt;×&lt;/mo&gt;&lt;mfrac&gt;&lt;mn&gt;5&lt;/mn&gt;&lt;mn&gt;6&lt;/mn&gt;&lt;/mfrac&gt;&lt;/math&gt;" title="3 x plus 4 equals 30 times five sixth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805548" y="7304905"/>
            <a:ext cx="1646379" cy="431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 descr="&lt;math xmlns=&quot;http://www.w3.org/1998/Math/MathML&quot; display=&quot;block&quot; data-is-equatio=&quot;1&quot; data-latex=&quot;3x\ +\ 4\ =\ 25&quot;&gt;&lt;mn&gt;3&lt;/mn&gt;&lt;mi&gt;x&lt;/mi&gt;&lt;mtext&gt;&lt;/mtext&gt;&lt;mo&gt;+&lt;/mo&gt;&lt;mtext&gt;&lt;/mtext&gt;&lt;mn&gt;4&lt;/mn&gt;&lt;mtext&gt;&lt;/mtext&gt;&lt;mo&gt;=&lt;/mo&gt;&lt;mtext&gt;&lt;/mtext&gt;&lt;mn&gt;25&lt;/mn&gt;&lt;/math&gt;" title="3 x plus 4 equals 2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709232" y="7807886"/>
            <a:ext cx="1327239" cy="166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 descr="&lt;math xmlns=&quot;http://www.w3.org/1998/Math/MathML&quot; display=&quot;block&quot; data-is-equatio=&quot;1&quot; data-latex=&quot;3x\ =\ 21&quot;&gt;&lt;mn&gt;3&lt;/mn&gt;&lt;mi&gt;x&lt;/mi&gt;&lt;mtext&gt;&lt;/mtext&gt;&lt;mo&gt;=&lt;/mo&gt;&lt;mtext&gt;&lt;/mtext&gt;&lt;mn&gt;21&lt;/mn&gt;&lt;/math&gt;" title="3 x equals 2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241304" y="8099581"/>
            <a:ext cx="756533" cy="147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 descr="&lt;math xmlns=&quot;http://www.w3.org/1998/Math/MathML&quot; display=&quot;block&quot; data-is-equatio=&quot;1&quot; data-latex=&quot;x\ =\ 7&quot;&gt;&lt;mi&gt;x&lt;/mi&gt;&lt;mtext&gt;&lt;/mtext&gt;&lt;mo&gt;=&lt;/mo&gt;&lt;mtext&gt;&lt;/mtext&gt;&lt;mn&gt;7&lt;/mn&gt;&lt;/math&gt;" title="x equals 7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309111" y="8371418"/>
            <a:ext cx="620930" cy="155232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 txBox="1"/>
          <p:nvPr/>
        </p:nvSpPr>
        <p:spPr>
          <a:xfrm>
            <a:off x="3009200" y="8651501"/>
            <a:ext cx="3963900" cy="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It is much easier to ‘undo’ the multiplicative step first this time as          is an integer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244" name="Google Shape;244;p21" descr="&lt;math xmlns=&quot;http://www.w3.org/1998/Math/MathML&quot; display=&quot;block&quot; data-is-equatio=&quot;1&quot; data-latex=&quot;3x\ +\ 4\ =\ 30\ \times\frac{5}{6}&quot;&gt;&lt;mn&gt;3&lt;/mn&gt;&lt;mi&gt;x&lt;/mi&gt;&lt;mtext&gt;&lt;/mtext&gt;&lt;mo&gt;+&lt;/mo&gt;&lt;mtext&gt;&lt;/mtext&gt;&lt;mn&gt;4&lt;/mn&gt;&lt;mtext&gt;&lt;/mtext&gt;&lt;mo&gt;=&lt;/mo&gt;&lt;mtext&gt;&lt;/mtext&gt;&lt;mn&gt;30&lt;/mn&gt;&lt;mtext&gt;&lt;/mtext&gt;&lt;mo&gt;×&lt;/mo&gt;&lt;mfrac&gt;&lt;mn&gt;5&lt;/mn&gt;&lt;mn&gt;6&lt;/mn&gt;&lt;/mfrac&gt;&lt;/math&gt;" title="3 x plus 4 equals 30 times five sixths"/>
          <p:cNvPicPr preferRelativeResize="0"/>
          <p:nvPr/>
        </p:nvPicPr>
        <p:blipFill>
          <a:blip r:embed="rId14">
            <a:alphaModFix/>
          </a:blip>
          <a:srcRect l="57197"/>
          <a:stretch>
            <a:fillRect/>
          </a:stretch>
        </p:blipFill>
        <p:spPr>
          <a:xfrm>
            <a:off x="3495904" y="8807115"/>
            <a:ext cx="538304" cy="3444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5" name="Google Shape;245;p21"/>
          <p:cNvCxnSpPr/>
          <p:nvPr/>
        </p:nvCxnSpPr>
        <p:spPr>
          <a:xfrm>
            <a:off x="45980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51" name="Google Shape;251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Checking and securing solving linear equations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graphicFrame>
        <p:nvGraphicFramePr>
          <p:cNvPr id="254" name="Google Shape;254;p22"/>
          <p:cNvGraphicFramePr>
            <a:graphicFrameLocks noGrp="1"/>
          </p:cNvGraphicFramePr>
          <p:nvPr/>
        </p:nvGraphicFramePr>
        <p:xfrm>
          <a:off x="2991468" y="17227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{E411594A-D709-4F8C-885F-C72E024E0ED2}</a:tableStyleId>
              </a:tblPr>
              <a:tblGrid>
                <a:gridCol w="907875"/>
                <a:gridCol w="261625"/>
                <a:gridCol w="774500"/>
              </a:tblGrid>
              <a:tr h="335500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2(4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− 5)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−6(3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− 7)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5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− 5 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−3(3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− 7)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5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− 5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12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−9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+ 21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5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13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5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55" name="Google Shape;255;p22"/>
          <p:cNvSpPr txBox="1"/>
          <p:nvPr/>
        </p:nvSpPr>
        <p:spPr>
          <a:xfrm>
            <a:off x="468000" y="7200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Solving equations with multiple brackets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2"/>
          <p:cNvSpPr txBox="1"/>
          <p:nvPr/>
        </p:nvSpPr>
        <p:spPr>
          <a:xfrm>
            <a:off x="468000" y="1025850"/>
            <a:ext cx="66240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solutions to the equations are given. Fill in the steps to show how to get to these answers.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Other methods may also be valid.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57" name="Google Shape;257;p22"/>
          <p:cNvGraphicFramePr>
            <a:graphicFrameLocks noGrp="1"/>
          </p:cNvGraphicFramePr>
          <p:nvPr/>
        </p:nvGraphicFramePr>
        <p:xfrm>
          <a:off x="467993" y="17397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{E411594A-D709-4F8C-885F-C72E024E0ED2}</a:tableStyleId>
              </a:tblPr>
              <a:tblGrid>
                <a:gridCol w="926850"/>
                <a:gridCol w="242650"/>
                <a:gridCol w="774500"/>
              </a:tblGrid>
              <a:tr h="335475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+ 6)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7(9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− 4)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+ 30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− 28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30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12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58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− 28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58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58" name="Google Shape;258;p22"/>
          <p:cNvCxnSpPr/>
          <p:nvPr/>
        </p:nvCxnSpPr>
        <p:spPr>
          <a:xfrm flipH="1">
            <a:off x="2796750" y="1374000"/>
            <a:ext cx="0" cy="4266900"/>
          </a:xfrm>
          <a:prstGeom prst="straightConnector1">
            <a:avLst/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59" name="Google Shape;259;p22"/>
          <p:cNvGraphicFramePr>
            <a:graphicFrameLocks noGrp="1"/>
          </p:cNvGraphicFramePr>
          <p:nvPr/>
        </p:nvGraphicFramePr>
        <p:xfrm>
          <a:off x="5130193" y="17327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{E411594A-D709-4F8C-885F-C72E024E0ED2}</a:tableStyleId>
              </a:tblPr>
              <a:tblGrid>
                <a:gridCol w="1302600"/>
                <a:gridCol w="212175"/>
                <a:gridCol w="559275"/>
              </a:tblGrid>
              <a:tr h="335475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− 5) + 3(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+ 5)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− 40 + 3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+ 15 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11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− 25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12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11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60" name="Google Shape;260;p22"/>
          <p:cNvCxnSpPr/>
          <p:nvPr/>
        </p:nvCxnSpPr>
        <p:spPr>
          <a:xfrm flipH="1">
            <a:off x="4953600" y="1374000"/>
            <a:ext cx="0" cy="4253700"/>
          </a:xfrm>
          <a:prstGeom prst="straightConnector1">
            <a:avLst/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1" name="Google Shape;261;p22"/>
          <p:cNvSpPr/>
          <p:nvPr/>
        </p:nvSpPr>
        <p:spPr>
          <a:xfrm>
            <a:off x="483250" y="1374000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2845450" y="1374000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4997967" y="1374000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64" name="Google Shape;264;p22"/>
          <p:cNvGraphicFramePr>
            <a:graphicFrameLocks noGrp="1"/>
          </p:cNvGraphicFramePr>
          <p:nvPr/>
        </p:nvGraphicFramePr>
        <p:xfrm>
          <a:off x="2901574" y="36457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{E411594A-D709-4F8C-885F-C72E024E0ED2}</a:tableStyleId>
              </a:tblPr>
              <a:tblGrid>
                <a:gridCol w="1430425"/>
                <a:gridCol w="202700"/>
                <a:gridCol w="440925"/>
              </a:tblGrid>
              <a:tr h="335475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2(4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− 9) − 4(3 − 2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− 18 − 12 + 8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16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− 30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12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16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65" name="Google Shape;265;p22"/>
          <p:cNvGraphicFramePr>
            <a:graphicFrameLocks noGrp="1"/>
          </p:cNvGraphicFramePr>
          <p:nvPr/>
        </p:nvGraphicFramePr>
        <p:xfrm>
          <a:off x="472018" y="36457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{E411594A-D709-4F8C-885F-C72E024E0ED2}</a:tableStyleId>
              </a:tblPr>
              <a:tblGrid>
                <a:gridCol w="1434650"/>
                <a:gridCol w="200000"/>
                <a:gridCol w="455100"/>
              </a:tblGrid>
              <a:tr h="335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4(3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− 1) − 2(3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− 1)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2(3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− 1) 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− 1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12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5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66" name="Google Shape;266;p22"/>
          <p:cNvGraphicFramePr>
            <a:graphicFrameLocks noGrp="1"/>
          </p:cNvGraphicFramePr>
          <p:nvPr/>
        </p:nvGraphicFramePr>
        <p:xfrm>
          <a:off x="5062719" y="36317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{E411594A-D709-4F8C-885F-C72E024E0ED2}</a:tableStyleId>
              </a:tblPr>
              <a:tblGrid>
                <a:gridCol w="1167625"/>
                <a:gridCol w="233625"/>
                <a:gridCol w="672800"/>
              </a:tblGrid>
              <a:tr h="365050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3(2(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+ 4)+5)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50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3(2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+ 8 + 5)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50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3(2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+ 13)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12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50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+ 13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50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50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1200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67" name="Google Shape;267;p22"/>
          <p:cNvSpPr/>
          <p:nvPr/>
        </p:nvSpPr>
        <p:spPr>
          <a:xfrm>
            <a:off x="468000" y="3306450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2845450" y="3306450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4997967" y="3306450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2"/>
          <p:cNvSpPr txBox="1"/>
          <p:nvPr/>
        </p:nvSpPr>
        <p:spPr>
          <a:xfrm>
            <a:off x="468000" y="5723325"/>
            <a:ext cx="6624000" cy="5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Solve these equations twice. Firstly by expanding first, secondly by simplifying before expanding. Write a sentence to compare the efficiency.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2"/>
          <p:cNvSpPr txBox="1"/>
          <p:nvPr/>
        </p:nvSpPr>
        <p:spPr>
          <a:xfrm>
            <a:off x="468000" y="6216052"/>
            <a:ext cx="2778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72" name="Google Shape;272;p22"/>
          <p:cNvGraphicFramePr>
            <a:graphicFrameLocks noGrp="1"/>
          </p:cNvGraphicFramePr>
          <p:nvPr/>
        </p:nvGraphicFramePr>
        <p:xfrm>
          <a:off x="718843" y="61760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{E411594A-D709-4F8C-885F-C72E024E0ED2}</a:tableStyleId>
              </a:tblPr>
              <a:tblGrid>
                <a:gridCol w="1365000"/>
                <a:gridCol w="272000"/>
                <a:gridCol w="440900"/>
              </a:tblGrid>
              <a:tr h="3456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+ 5) + 3(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19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+ 20 + 3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+ 15 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56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+ 35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12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56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−21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56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73" name="Google Shape;273;p22"/>
          <p:cNvGraphicFramePr>
            <a:graphicFrameLocks noGrp="1"/>
          </p:cNvGraphicFramePr>
          <p:nvPr/>
        </p:nvGraphicFramePr>
        <p:xfrm>
          <a:off x="5032193" y="61704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{E411594A-D709-4F8C-885F-C72E024E0ED2}</a:tableStyleId>
              </a:tblPr>
              <a:tblGrid>
                <a:gridCol w="1279400"/>
                <a:gridCol w="272000"/>
                <a:gridCol w="413250"/>
              </a:tblGrid>
              <a:tr h="3239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+ 5) + 3(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36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+ 5)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39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+ 5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sz="12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39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−3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74" name="Google Shape;274;p22"/>
          <p:cNvSpPr txBox="1"/>
          <p:nvPr/>
        </p:nvSpPr>
        <p:spPr>
          <a:xfrm>
            <a:off x="2805225" y="6273300"/>
            <a:ext cx="2192700" cy="13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Both methods were reasonably efficient.  Simplifying first meant that a common factor could be seen which eliminated a step.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5" name="Google Shape;275;p22"/>
          <p:cNvSpPr txBox="1"/>
          <p:nvPr/>
        </p:nvSpPr>
        <p:spPr>
          <a:xfrm>
            <a:off x="467405" y="7802240"/>
            <a:ext cx="2778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76" name="Google Shape;276;p22"/>
          <p:cNvGraphicFramePr>
            <a:graphicFrameLocks noGrp="1"/>
          </p:cNvGraphicFramePr>
          <p:nvPr/>
        </p:nvGraphicFramePr>
        <p:xfrm>
          <a:off x="718844" y="77621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{E411594A-D709-4F8C-885F-C72E024E0ED2}</a:tableStyleId>
              </a:tblPr>
              <a:tblGrid>
                <a:gridCol w="1019275"/>
                <a:gridCol w="272000"/>
                <a:gridCol w="1439425"/>
              </a:tblGrid>
              <a:tr h="3897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 + 3(2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97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 +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− 9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− 21 − 6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+ 9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97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− 12</a:t>
                      </a:r>
                      <a:endParaRPr sz="12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97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− 12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97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 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97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77" name="Google Shape;277;p22"/>
          <p:cNvGraphicFramePr>
            <a:graphicFrameLocks noGrp="1"/>
          </p:cNvGraphicFramePr>
          <p:nvPr/>
        </p:nvGraphicFramePr>
        <p:xfrm>
          <a:off x="4448908" y="78329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{E411594A-D709-4F8C-885F-C72E024E0ED2}</a:tableStyleId>
              </a:tblPr>
              <a:tblGrid>
                <a:gridCol w="1016825"/>
                <a:gridCol w="272000"/>
                <a:gridCol w="1435950"/>
              </a:tblGrid>
              <a:tr h="3816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 + 3(2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6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 +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− 3)</a:t>
                      </a:r>
                      <a:endParaRPr sz="1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4(2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− 3)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6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endParaRPr sz="12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6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6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78" name="Google Shape;278;p22"/>
          <p:cNvSpPr txBox="1"/>
          <p:nvPr/>
        </p:nvSpPr>
        <p:spPr>
          <a:xfrm>
            <a:off x="2751050" y="8612750"/>
            <a:ext cx="2192700" cy="9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Simplifying first seemed to be more efficient. No expanding brackets was necessary and less manipulating negative numbers was needed.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48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2">
      <vt:lpstr>Arial</vt:lpstr>
      <vt:lpstr>Lexend</vt:lpstr>
      <vt:lpstr>Kalam</vt:lpstr>
      <vt:lpstr>Lexend Medium</vt:lpstr>
      <vt:lpstr>Lexend Light</vt:lpstr>
      <vt:lpstr>Calibri</vt:lpstr>
      <vt:lpstr>Times New Roman</vt:lpstr>
      <vt:lpstr>Times</vt:lpstr>
      <vt:lpstr>simple-light-2</vt:lpstr>
      <vt:lpstr>Checking and securing solving linear equations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2024-02-06T11:37:08.633</cp:lastPrinted>
  <dcterms:created xsi:type="dcterms:W3CDTF">2024-02-06T11:37:08Z</dcterms:created>
  <dcterms:modified xsi:type="dcterms:W3CDTF">2024-02-06T11:37:21Z</dcterms:modified>
</cp:coreProperties>
</file>