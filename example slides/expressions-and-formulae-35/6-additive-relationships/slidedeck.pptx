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00de63d5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00de63d5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00de63d58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00de63d58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b00de63d58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b00de63d58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b00de63d5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b00de63d5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b00de63d58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b00de63d58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b00de63d58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b00de63d58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b00de63d58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b00de63d58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b00de63d58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b00de63d58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b00de63d58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b00de63d58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b00de63d58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b00de63d58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b00de63d58_0_1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b00de63d58_0_1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b00de63d58_0_1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b00de63d58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b00de63d58_0_1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b00de63d58_0_1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b00de63d58_0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b00de63d58_0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b00de63d58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b00de63d58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b00de63d5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2b00de63d5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b00de63d58_0_1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b00de63d58_0_1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b00de63d58_0_1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b00de63d58_0_1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b00de63d58_0_1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b00de63d58_0_1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b00de63d58_0_1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b00de63d58_0_1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b00de63d58_0_1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b00de63d58_0_1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b00de63d58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b00de63d58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b00de63d58_0_1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b00de63d58_0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b00de63d58_0_1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b00de63d58_0_1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b00de63d58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b00de63d58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b00de63d58_0_2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b00de63d58_0_2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2b00de63d58_0_2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2b00de63d58_0_2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2b00de63d58_0_2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2b00de63d58_0_2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b00de63d58_0_2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2b00de63d58_0_2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2b00de63d58_0_2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2b00de63d58_0_2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b00de63d58_0_2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b00de63d58_0_2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2b033540c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2b033540c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033540c0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033540c0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b033540c0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b033540c0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2b033540c0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2b033540c0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2b033540c0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2b033540c0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b033540c09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b033540c09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b033540c09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b033540c09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9.png"/><Relationship Id="rId4" Type="http://schemas.openxmlformats.org/officeDocument/2006/relationships/image" Target="../media/image58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58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58.png"/><Relationship Id="rId4" Type="http://schemas.openxmlformats.org/officeDocument/2006/relationships/image" Target="../media/image30.png"/><Relationship Id="rId11" Type="http://schemas.openxmlformats.org/officeDocument/2006/relationships/image" Target="../media/image20.png"/><Relationship Id="rId10" Type="http://schemas.openxmlformats.org/officeDocument/2006/relationships/image" Target="../media/image42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relationships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30828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an additive relationship between variables can be written in a number of different ways.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297659"/>
            <a:ext cx="8496000" cy="9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equation is used to show two expressions that are equal to each other.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776" name="Google Shape;776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777" name="Google Shape;777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relationships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37" y="206150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idx="1" type="body"/>
          </p:nvPr>
        </p:nvSpPr>
        <p:spPr>
          <a:xfrm>
            <a:off x="324000" y="759300"/>
            <a:ext cx="224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 families:</a:t>
            </a:r>
            <a:endParaRPr/>
          </a:p>
        </p:txBody>
      </p:sp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13272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+ 3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324000" y="18606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+ 7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68"/>
          <p:cNvSpPr txBox="1"/>
          <p:nvPr>
            <p:ph idx="1" type="body"/>
          </p:nvPr>
        </p:nvSpPr>
        <p:spPr>
          <a:xfrm>
            <a:off x="2884627" y="13272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10 − 3 =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68"/>
          <p:cNvSpPr txBox="1"/>
          <p:nvPr>
            <p:ph idx="1" type="body"/>
          </p:nvPr>
        </p:nvSpPr>
        <p:spPr>
          <a:xfrm>
            <a:off x="2884627" y="18606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10 − 7 =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68"/>
          <p:cNvSpPr txBox="1"/>
          <p:nvPr>
            <p:ph idx="1" type="body"/>
          </p:nvPr>
        </p:nvSpPr>
        <p:spPr>
          <a:xfrm>
            <a:off x="4831295" y="1094262"/>
            <a:ext cx="3988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may have seen this called a fact-family.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We could also call it a family of </a:t>
            </a:r>
            <a:r>
              <a:rPr lang="en-GB">
                <a:solidFill>
                  <a:schemeClr val="accent4"/>
                </a:solidFill>
              </a:rPr>
              <a:t>rearrangements</a:t>
            </a:r>
            <a:r>
              <a:rPr lang="en-GB"/>
              <a:t> for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+ 3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324000" y="759300"/>
            <a:ext cx="224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 families:</a:t>
            </a:r>
            <a:endParaRPr/>
          </a:p>
        </p:txBody>
      </p:sp>
      <p:sp>
        <p:nvSpPr>
          <p:cNvPr id="795" name="Google Shape;79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796" name="Google Shape;796;p69"/>
          <p:cNvSpPr txBox="1"/>
          <p:nvPr>
            <p:ph idx="1" type="body"/>
          </p:nvPr>
        </p:nvSpPr>
        <p:spPr>
          <a:xfrm>
            <a:off x="324000" y="13272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+ 3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7" name="Google Shape;797;p69"/>
          <p:cNvSpPr txBox="1"/>
          <p:nvPr>
            <p:ph idx="1" type="body"/>
          </p:nvPr>
        </p:nvSpPr>
        <p:spPr>
          <a:xfrm>
            <a:off x="324000" y="18606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+ 7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69"/>
          <p:cNvSpPr txBox="1"/>
          <p:nvPr>
            <p:ph idx="1" type="body"/>
          </p:nvPr>
        </p:nvSpPr>
        <p:spPr>
          <a:xfrm>
            <a:off x="2884627" y="13272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10 − 3 =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9" name="Google Shape;799;p69"/>
          <p:cNvSpPr txBox="1"/>
          <p:nvPr>
            <p:ph idx="1" type="body"/>
          </p:nvPr>
        </p:nvSpPr>
        <p:spPr>
          <a:xfrm>
            <a:off x="2884627" y="18606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10 − 7 =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4831295" y="1094262"/>
            <a:ext cx="3988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are a good way to visualise any family of rearrangements.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1" name="Google Shape;801;p69"/>
          <p:cNvSpPr txBox="1"/>
          <p:nvPr/>
        </p:nvSpPr>
        <p:spPr>
          <a:xfrm>
            <a:off x="564160" y="2721848"/>
            <a:ext cx="21015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69"/>
          <p:cNvSpPr txBox="1"/>
          <p:nvPr/>
        </p:nvSpPr>
        <p:spPr>
          <a:xfrm>
            <a:off x="564160" y="3133023"/>
            <a:ext cx="30837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69"/>
          <p:cNvSpPr txBox="1"/>
          <p:nvPr/>
        </p:nvSpPr>
        <p:spPr>
          <a:xfrm>
            <a:off x="2663238" y="2717498"/>
            <a:ext cx="9846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4831295" y="2618262"/>
            <a:ext cx="3988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length of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/>
              <a:t> and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 bars makes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/>
              <a:t> bar.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5" name="Google Shape;805;p69"/>
          <p:cNvSpPr/>
          <p:nvPr/>
        </p:nvSpPr>
        <p:spPr>
          <a:xfrm>
            <a:off x="187229" y="1287875"/>
            <a:ext cx="1518900" cy="489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body"/>
          </p:nvPr>
        </p:nvSpPr>
        <p:spPr>
          <a:xfrm>
            <a:off x="4831295" y="3696568"/>
            <a:ext cx="3988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length of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 and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/>
              <a:t> bars makes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/>
              <a:t> bar.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69"/>
          <p:cNvSpPr/>
          <p:nvPr/>
        </p:nvSpPr>
        <p:spPr>
          <a:xfrm>
            <a:off x="187229" y="1809768"/>
            <a:ext cx="1518900" cy="489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8" name="Google Shape;808;p69"/>
          <p:cNvGrpSpPr/>
          <p:nvPr/>
        </p:nvGrpSpPr>
        <p:grpSpPr>
          <a:xfrm>
            <a:off x="593673" y="2595384"/>
            <a:ext cx="3057000" cy="11400"/>
            <a:chOff x="593673" y="2595384"/>
            <a:chExt cx="3057000" cy="11400"/>
          </a:xfrm>
        </p:grpSpPr>
        <p:cxnSp>
          <p:nvCxnSpPr>
            <p:cNvPr id="809" name="Google Shape;809;p69"/>
            <p:cNvCxnSpPr/>
            <p:nvPr/>
          </p:nvCxnSpPr>
          <p:spPr>
            <a:xfrm>
              <a:off x="2707173" y="2599584"/>
              <a:ext cx="943500" cy="7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10" name="Google Shape;810;p69"/>
            <p:cNvCxnSpPr/>
            <p:nvPr/>
          </p:nvCxnSpPr>
          <p:spPr>
            <a:xfrm flipH="1" rot="10800000">
              <a:off x="593673" y="2595384"/>
              <a:ext cx="2079000" cy="4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811" name="Google Shape;811;p69"/>
          <p:cNvGrpSpPr/>
          <p:nvPr/>
        </p:nvGrpSpPr>
        <p:grpSpPr>
          <a:xfrm>
            <a:off x="593673" y="2595384"/>
            <a:ext cx="3057000" cy="11400"/>
            <a:chOff x="593673" y="3814584"/>
            <a:chExt cx="3057000" cy="11400"/>
          </a:xfrm>
        </p:grpSpPr>
        <p:cxnSp>
          <p:nvCxnSpPr>
            <p:cNvPr id="812" name="Google Shape;812;p69"/>
            <p:cNvCxnSpPr/>
            <p:nvPr/>
          </p:nvCxnSpPr>
          <p:spPr>
            <a:xfrm flipH="1">
              <a:off x="2707173" y="3818784"/>
              <a:ext cx="943500" cy="7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13" name="Google Shape;813;p69"/>
            <p:cNvCxnSpPr/>
            <p:nvPr/>
          </p:nvCxnSpPr>
          <p:spPr>
            <a:xfrm rot="10800000">
              <a:off x="593673" y="3814584"/>
              <a:ext cx="2079000" cy="4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 txBox="1"/>
          <p:nvPr>
            <p:ph idx="1" type="body"/>
          </p:nvPr>
        </p:nvSpPr>
        <p:spPr>
          <a:xfrm>
            <a:off x="324000" y="759300"/>
            <a:ext cx="224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 families:</a:t>
            </a:r>
            <a:endParaRPr/>
          </a:p>
        </p:txBody>
      </p:sp>
      <p:sp>
        <p:nvSpPr>
          <p:cNvPr id="819" name="Google Shape;81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820" name="Google Shape;820;p70"/>
          <p:cNvSpPr txBox="1"/>
          <p:nvPr>
            <p:ph idx="1" type="body"/>
          </p:nvPr>
        </p:nvSpPr>
        <p:spPr>
          <a:xfrm>
            <a:off x="324000" y="13272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+ 3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324000" y="18606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+ 7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70"/>
          <p:cNvSpPr txBox="1"/>
          <p:nvPr>
            <p:ph idx="1" type="body"/>
          </p:nvPr>
        </p:nvSpPr>
        <p:spPr>
          <a:xfrm>
            <a:off x="2884627" y="13272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10 − 3 =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2884627" y="18606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10 − 7 =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70"/>
          <p:cNvSpPr txBox="1"/>
          <p:nvPr>
            <p:ph idx="1" type="body"/>
          </p:nvPr>
        </p:nvSpPr>
        <p:spPr>
          <a:xfrm>
            <a:off x="4831295" y="1094262"/>
            <a:ext cx="3988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are a good way to visualise any family of rearrangements.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70"/>
          <p:cNvSpPr txBox="1"/>
          <p:nvPr/>
        </p:nvSpPr>
        <p:spPr>
          <a:xfrm>
            <a:off x="564160" y="2721848"/>
            <a:ext cx="21015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70"/>
          <p:cNvSpPr txBox="1"/>
          <p:nvPr/>
        </p:nvSpPr>
        <p:spPr>
          <a:xfrm>
            <a:off x="564160" y="3133023"/>
            <a:ext cx="30837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70"/>
          <p:cNvSpPr txBox="1"/>
          <p:nvPr/>
        </p:nvSpPr>
        <p:spPr>
          <a:xfrm>
            <a:off x="2663238" y="2717498"/>
            <a:ext cx="9846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70"/>
          <p:cNvSpPr txBox="1"/>
          <p:nvPr>
            <p:ph idx="1" type="body"/>
          </p:nvPr>
        </p:nvSpPr>
        <p:spPr>
          <a:xfrm>
            <a:off x="4572000" y="2618250"/>
            <a:ext cx="4248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length of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/>
              <a:t> bar minus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 bar leaves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/>
              <a:t> bar.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9" name="Google Shape;829;p70"/>
          <p:cNvSpPr/>
          <p:nvPr/>
        </p:nvSpPr>
        <p:spPr>
          <a:xfrm>
            <a:off x="2778029" y="1287875"/>
            <a:ext cx="1518900" cy="489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0" name="Google Shape;830;p70"/>
          <p:cNvCxnSpPr/>
          <p:nvPr/>
        </p:nvCxnSpPr>
        <p:spPr>
          <a:xfrm>
            <a:off x="570660" y="3685050"/>
            <a:ext cx="3057000" cy="3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1" name="Google Shape;831;p70"/>
          <p:cNvCxnSpPr/>
          <p:nvPr/>
        </p:nvCxnSpPr>
        <p:spPr>
          <a:xfrm flipH="1">
            <a:off x="2684160" y="2576570"/>
            <a:ext cx="943500" cy="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1"/>
          <p:cNvSpPr txBox="1"/>
          <p:nvPr>
            <p:ph idx="1" type="body"/>
          </p:nvPr>
        </p:nvSpPr>
        <p:spPr>
          <a:xfrm>
            <a:off x="324000" y="759300"/>
            <a:ext cx="224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Fact families:</a:t>
            </a:r>
            <a:endParaRPr/>
          </a:p>
        </p:txBody>
      </p:sp>
      <p:sp>
        <p:nvSpPr>
          <p:cNvPr id="837" name="Google Shape;83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838" name="Google Shape;838;p71"/>
          <p:cNvSpPr txBox="1"/>
          <p:nvPr>
            <p:ph idx="1" type="body"/>
          </p:nvPr>
        </p:nvSpPr>
        <p:spPr>
          <a:xfrm>
            <a:off x="324000" y="13272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+ 3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71"/>
          <p:cNvSpPr txBox="1"/>
          <p:nvPr>
            <p:ph idx="1" type="body"/>
          </p:nvPr>
        </p:nvSpPr>
        <p:spPr>
          <a:xfrm>
            <a:off x="324000" y="18606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+ 7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0" name="Google Shape;840;p71"/>
          <p:cNvSpPr txBox="1"/>
          <p:nvPr>
            <p:ph idx="1" type="body"/>
          </p:nvPr>
        </p:nvSpPr>
        <p:spPr>
          <a:xfrm>
            <a:off x="2884627" y="13272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10 − 3 =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2884627" y="1860620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10 − 7 =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2" name="Google Shape;842;p71"/>
          <p:cNvSpPr txBox="1"/>
          <p:nvPr>
            <p:ph idx="1" type="body"/>
          </p:nvPr>
        </p:nvSpPr>
        <p:spPr>
          <a:xfrm>
            <a:off x="4831295" y="1094262"/>
            <a:ext cx="3988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Bar models are a good way to visualise any family of rearrangements.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71"/>
          <p:cNvSpPr txBox="1"/>
          <p:nvPr/>
        </p:nvSpPr>
        <p:spPr>
          <a:xfrm>
            <a:off x="564160" y="2721848"/>
            <a:ext cx="21015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4" name="Google Shape;844;p71"/>
          <p:cNvSpPr txBox="1"/>
          <p:nvPr/>
        </p:nvSpPr>
        <p:spPr>
          <a:xfrm>
            <a:off x="564160" y="3133023"/>
            <a:ext cx="30837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2663238" y="2717498"/>
            <a:ext cx="9846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71"/>
          <p:cNvSpPr txBox="1"/>
          <p:nvPr>
            <p:ph idx="1" type="body"/>
          </p:nvPr>
        </p:nvSpPr>
        <p:spPr>
          <a:xfrm>
            <a:off x="4572000" y="2618250"/>
            <a:ext cx="4248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length of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/>
              <a:t> bar minus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/>
              <a:t> bar leaves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/>
              <a:t> bar.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71"/>
          <p:cNvSpPr/>
          <p:nvPr/>
        </p:nvSpPr>
        <p:spPr>
          <a:xfrm>
            <a:off x="2778029" y="1821275"/>
            <a:ext cx="1518900" cy="489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8" name="Google Shape;848;p71"/>
          <p:cNvCxnSpPr/>
          <p:nvPr/>
        </p:nvCxnSpPr>
        <p:spPr>
          <a:xfrm flipH="1">
            <a:off x="570660" y="3685050"/>
            <a:ext cx="3057000" cy="3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9" name="Google Shape;849;p71"/>
          <p:cNvCxnSpPr/>
          <p:nvPr/>
        </p:nvCxnSpPr>
        <p:spPr>
          <a:xfrm flipH="1" rot="10800000">
            <a:off x="570660" y="2572370"/>
            <a:ext cx="2079000" cy="4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</a:t>
            </a:r>
            <a:r>
              <a:rPr lang="en-GB"/>
              <a:t>earranging additive relationships</a:t>
            </a:r>
            <a:endParaRPr/>
          </a:p>
        </p:txBody>
      </p:sp>
      <p:sp>
        <p:nvSpPr>
          <p:cNvPr id="855" name="Google Shape;855;p72"/>
          <p:cNvSpPr txBox="1"/>
          <p:nvPr>
            <p:ph idx="1" type="body"/>
          </p:nvPr>
        </p:nvSpPr>
        <p:spPr>
          <a:xfrm>
            <a:off x="324000" y="759300"/>
            <a:ext cx="7434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the family of rearrangements for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65 + 35 = 100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72"/>
          <p:cNvSpPr txBox="1"/>
          <p:nvPr>
            <p:ph idx="1" type="body"/>
          </p:nvPr>
        </p:nvSpPr>
        <p:spPr>
          <a:xfrm>
            <a:off x="324000" y="1860625"/>
            <a:ext cx="1807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+ 35 = 100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7" name="Google Shape;857;p72"/>
          <p:cNvSpPr txBox="1"/>
          <p:nvPr>
            <p:ph idx="1" type="body"/>
          </p:nvPr>
        </p:nvSpPr>
        <p:spPr>
          <a:xfrm>
            <a:off x="324000" y="2394025"/>
            <a:ext cx="1807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35 + 65 = 100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8" name="Google Shape;858;p72"/>
          <p:cNvSpPr txBox="1"/>
          <p:nvPr>
            <p:ph idx="1" type="body"/>
          </p:nvPr>
        </p:nvSpPr>
        <p:spPr>
          <a:xfrm>
            <a:off x="2884624" y="1860625"/>
            <a:ext cx="1807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100 − 35 = 65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9" name="Google Shape;859;p72"/>
          <p:cNvSpPr txBox="1"/>
          <p:nvPr>
            <p:ph idx="1" type="body"/>
          </p:nvPr>
        </p:nvSpPr>
        <p:spPr>
          <a:xfrm>
            <a:off x="2884624" y="2394025"/>
            <a:ext cx="1807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100 − 65 = 35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0" name="Google Shape;860;p72"/>
          <p:cNvSpPr txBox="1"/>
          <p:nvPr/>
        </p:nvSpPr>
        <p:spPr>
          <a:xfrm>
            <a:off x="564160" y="3255248"/>
            <a:ext cx="21015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1" name="Google Shape;861;p72"/>
          <p:cNvSpPr txBox="1"/>
          <p:nvPr/>
        </p:nvSpPr>
        <p:spPr>
          <a:xfrm>
            <a:off x="564160" y="3666423"/>
            <a:ext cx="30837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2" name="Google Shape;862;p72"/>
          <p:cNvSpPr txBox="1"/>
          <p:nvPr/>
        </p:nvSpPr>
        <p:spPr>
          <a:xfrm>
            <a:off x="2663238" y="3250898"/>
            <a:ext cx="9846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63" name="Google Shape;863;p72"/>
          <p:cNvGrpSpPr/>
          <p:nvPr/>
        </p:nvGrpSpPr>
        <p:grpSpPr>
          <a:xfrm>
            <a:off x="332471" y="2392250"/>
            <a:ext cx="1799202" cy="369600"/>
            <a:chOff x="332471" y="2392250"/>
            <a:chExt cx="1799202" cy="369600"/>
          </a:xfrm>
        </p:grpSpPr>
        <p:sp>
          <p:nvSpPr>
            <p:cNvPr id="864" name="Google Shape;864;p72"/>
            <p:cNvSpPr/>
            <p:nvPr/>
          </p:nvSpPr>
          <p:spPr>
            <a:xfrm>
              <a:off x="332471" y="2392250"/>
              <a:ext cx="3174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5" name="Google Shape;865;p72"/>
            <p:cNvSpPr/>
            <p:nvPr/>
          </p:nvSpPr>
          <p:spPr>
            <a:xfrm>
              <a:off x="977581" y="2392250"/>
              <a:ext cx="3174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6" name="Google Shape;866;p72"/>
            <p:cNvSpPr/>
            <p:nvPr/>
          </p:nvSpPr>
          <p:spPr>
            <a:xfrm>
              <a:off x="1565572" y="2392250"/>
              <a:ext cx="5661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7" name="Google Shape;867;p72"/>
          <p:cNvGrpSpPr/>
          <p:nvPr/>
        </p:nvGrpSpPr>
        <p:grpSpPr>
          <a:xfrm>
            <a:off x="2784772" y="1858850"/>
            <a:ext cx="1832835" cy="369600"/>
            <a:chOff x="2784772" y="1858850"/>
            <a:chExt cx="1832835" cy="369600"/>
          </a:xfrm>
        </p:grpSpPr>
        <p:sp>
          <p:nvSpPr>
            <p:cNvPr id="868" name="Google Shape;868;p72"/>
            <p:cNvSpPr/>
            <p:nvPr/>
          </p:nvSpPr>
          <p:spPr>
            <a:xfrm>
              <a:off x="3655097" y="1858850"/>
              <a:ext cx="3174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9" name="Google Shape;869;p72"/>
            <p:cNvSpPr/>
            <p:nvPr/>
          </p:nvSpPr>
          <p:spPr>
            <a:xfrm>
              <a:off x="4300208" y="1858850"/>
              <a:ext cx="3174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0" name="Google Shape;870;p72"/>
            <p:cNvSpPr/>
            <p:nvPr/>
          </p:nvSpPr>
          <p:spPr>
            <a:xfrm>
              <a:off x="2784772" y="1858850"/>
              <a:ext cx="5661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1" name="Google Shape;871;p72"/>
          <p:cNvGrpSpPr/>
          <p:nvPr/>
        </p:nvGrpSpPr>
        <p:grpSpPr>
          <a:xfrm>
            <a:off x="2784772" y="2392250"/>
            <a:ext cx="1832835" cy="369600"/>
            <a:chOff x="2784772" y="2392250"/>
            <a:chExt cx="1832835" cy="369600"/>
          </a:xfrm>
        </p:grpSpPr>
        <p:sp>
          <p:nvSpPr>
            <p:cNvPr id="872" name="Google Shape;872;p72"/>
            <p:cNvSpPr/>
            <p:nvPr/>
          </p:nvSpPr>
          <p:spPr>
            <a:xfrm>
              <a:off x="3655097" y="2392250"/>
              <a:ext cx="3174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3" name="Google Shape;873;p72"/>
            <p:cNvSpPr/>
            <p:nvPr/>
          </p:nvSpPr>
          <p:spPr>
            <a:xfrm>
              <a:off x="4300208" y="2392250"/>
              <a:ext cx="3174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4" name="Google Shape;874;p72"/>
            <p:cNvSpPr/>
            <p:nvPr/>
          </p:nvSpPr>
          <p:spPr>
            <a:xfrm>
              <a:off x="2784772" y="2392250"/>
              <a:ext cx="566100" cy="3696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3"/>
          <p:cNvSpPr/>
          <p:nvPr/>
        </p:nvSpPr>
        <p:spPr>
          <a:xfrm>
            <a:off x="456250" y="1447432"/>
            <a:ext cx="3902700" cy="1146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3"/>
          <p:cNvSpPr txBox="1"/>
          <p:nvPr>
            <p:ph idx="1" type="body"/>
          </p:nvPr>
        </p:nvSpPr>
        <p:spPr>
          <a:xfrm>
            <a:off x="324000" y="759300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mathematics, </a:t>
            </a:r>
            <a:r>
              <a:rPr lang="en-GB">
                <a:solidFill>
                  <a:schemeClr val="accent4"/>
                </a:solidFill>
              </a:rPr>
              <a:t>generalising</a:t>
            </a:r>
            <a:r>
              <a:rPr lang="en-GB"/>
              <a:t> is a really powerful tool.</a:t>
            </a:r>
            <a:endParaRPr/>
          </a:p>
        </p:txBody>
      </p:sp>
      <p:sp>
        <p:nvSpPr>
          <p:cNvPr id="881" name="Google Shape;88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882" name="Google Shape;882;p73"/>
          <p:cNvSpPr txBox="1"/>
          <p:nvPr>
            <p:ph idx="1" type="body"/>
          </p:nvPr>
        </p:nvSpPr>
        <p:spPr>
          <a:xfrm>
            <a:off x="857400" y="15026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a + b = c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3" name="Google Shape;883;p73"/>
          <p:cNvSpPr txBox="1"/>
          <p:nvPr>
            <p:ph idx="1" type="body"/>
          </p:nvPr>
        </p:nvSpPr>
        <p:spPr>
          <a:xfrm>
            <a:off x="857400" y="20360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b + a = c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73"/>
          <p:cNvSpPr txBox="1"/>
          <p:nvPr>
            <p:ph idx="1" type="body"/>
          </p:nvPr>
        </p:nvSpPr>
        <p:spPr>
          <a:xfrm>
            <a:off x="2656027" y="15026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c − b = a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73"/>
          <p:cNvSpPr txBox="1"/>
          <p:nvPr>
            <p:ph idx="1" type="body"/>
          </p:nvPr>
        </p:nvSpPr>
        <p:spPr>
          <a:xfrm>
            <a:off x="2656027" y="20360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c − a = b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73"/>
          <p:cNvSpPr txBox="1"/>
          <p:nvPr>
            <p:ph idx="1" type="body"/>
          </p:nvPr>
        </p:nvSpPr>
        <p:spPr>
          <a:xfrm>
            <a:off x="321500" y="2858375"/>
            <a:ext cx="84960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,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can take any values, or be any terms, but so long as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all of these rearrangements will be true.</a:t>
            </a:r>
            <a:endParaRPr/>
          </a:p>
        </p:txBody>
      </p:sp>
      <p:sp>
        <p:nvSpPr>
          <p:cNvPr id="887" name="Google Shape;887;p73"/>
          <p:cNvSpPr/>
          <p:nvPr/>
        </p:nvSpPr>
        <p:spPr>
          <a:xfrm>
            <a:off x="4822663" y="1447432"/>
            <a:ext cx="3902700" cy="1146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3"/>
          <p:cNvSpPr txBox="1"/>
          <p:nvPr>
            <p:ph idx="1" type="body"/>
          </p:nvPr>
        </p:nvSpPr>
        <p:spPr>
          <a:xfrm>
            <a:off x="5082933" y="1502625"/>
            <a:ext cx="14991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+ 7 = 31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9" name="Google Shape;889;p73"/>
          <p:cNvSpPr txBox="1"/>
          <p:nvPr>
            <p:ph idx="1" type="body"/>
          </p:nvPr>
        </p:nvSpPr>
        <p:spPr>
          <a:xfrm>
            <a:off x="5082933" y="2036025"/>
            <a:ext cx="14991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= 31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0" name="Google Shape;890;p73"/>
          <p:cNvSpPr txBox="1"/>
          <p:nvPr>
            <p:ph idx="1" type="body"/>
          </p:nvPr>
        </p:nvSpPr>
        <p:spPr>
          <a:xfrm>
            <a:off x="6946252" y="1502625"/>
            <a:ext cx="1594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− 7 =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73"/>
          <p:cNvSpPr txBox="1"/>
          <p:nvPr>
            <p:ph idx="1" type="body"/>
          </p:nvPr>
        </p:nvSpPr>
        <p:spPr>
          <a:xfrm>
            <a:off x="6946252" y="2036025"/>
            <a:ext cx="1594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73"/>
          <p:cNvSpPr txBox="1"/>
          <p:nvPr>
            <p:ph idx="1" type="body"/>
          </p:nvPr>
        </p:nvSpPr>
        <p:spPr>
          <a:xfrm>
            <a:off x="321500" y="2858375"/>
            <a:ext cx="84960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,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can take any values, or be any </a:t>
            </a:r>
            <a:r>
              <a:rPr lang="en-GB">
                <a:solidFill>
                  <a:schemeClr val="accent4"/>
                </a:solidFill>
              </a:rPr>
              <a:t>terms</a:t>
            </a:r>
            <a:r>
              <a:rPr lang="en-GB"/>
              <a:t>, but so long as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all of these rearrangements will be true.</a:t>
            </a:r>
            <a:endParaRPr/>
          </a:p>
        </p:txBody>
      </p:sp>
      <p:grpSp>
        <p:nvGrpSpPr>
          <p:cNvPr id="893" name="Google Shape;893;p73"/>
          <p:cNvGrpSpPr/>
          <p:nvPr/>
        </p:nvGrpSpPr>
        <p:grpSpPr>
          <a:xfrm>
            <a:off x="6967774" y="1551368"/>
            <a:ext cx="1490500" cy="335116"/>
            <a:chOff x="6875720" y="2057407"/>
            <a:chExt cx="1490500" cy="335116"/>
          </a:xfrm>
        </p:grpSpPr>
        <p:grpSp>
          <p:nvGrpSpPr>
            <p:cNvPr id="894" name="Google Shape;894;p73"/>
            <p:cNvGrpSpPr/>
            <p:nvPr/>
          </p:nvGrpSpPr>
          <p:grpSpPr>
            <a:xfrm>
              <a:off x="6875720" y="2057407"/>
              <a:ext cx="929729" cy="335116"/>
              <a:chOff x="351641" y="2392250"/>
              <a:chExt cx="1124219" cy="369600"/>
            </a:xfrm>
          </p:grpSpPr>
          <p:sp>
            <p:nvSpPr>
              <p:cNvPr id="895" name="Google Shape;895;p73"/>
              <p:cNvSpPr/>
              <p:nvPr/>
            </p:nvSpPr>
            <p:spPr>
              <a:xfrm>
                <a:off x="351641" y="2392250"/>
                <a:ext cx="317400" cy="3696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38100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96" name="Google Shape;896;p73"/>
              <p:cNvSpPr/>
              <p:nvPr/>
            </p:nvSpPr>
            <p:spPr>
              <a:xfrm>
                <a:off x="1158460" y="2392250"/>
                <a:ext cx="317400" cy="3696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38100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97" name="Google Shape;897;p73"/>
            <p:cNvSpPr/>
            <p:nvPr/>
          </p:nvSpPr>
          <p:spPr>
            <a:xfrm>
              <a:off x="8103720" y="2057407"/>
              <a:ext cx="262500" cy="335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8" name="Google Shape;898;p73"/>
          <p:cNvGrpSpPr/>
          <p:nvPr/>
        </p:nvGrpSpPr>
        <p:grpSpPr>
          <a:xfrm>
            <a:off x="6967774" y="2096274"/>
            <a:ext cx="1490500" cy="335116"/>
            <a:chOff x="6875720" y="2057407"/>
            <a:chExt cx="1490500" cy="335116"/>
          </a:xfrm>
        </p:grpSpPr>
        <p:grpSp>
          <p:nvGrpSpPr>
            <p:cNvPr id="899" name="Google Shape;899;p73"/>
            <p:cNvGrpSpPr/>
            <p:nvPr/>
          </p:nvGrpSpPr>
          <p:grpSpPr>
            <a:xfrm>
              <a:off x="6875720" y="2057407"/>
              <a:ext cx="929729" cy="335116"/>
              <a:chOff x="351641" y="2392250"/>
              <a:chExt cx="1124219" cy="369600"/>
            </a:xfrm>
          </p:grpSpPr>
          <p:sp>
            <p:nvSpPr>
              <p:cNvPr id="900" name="Google Shape;900;p73"/>
              <p:cNvSpPr/>
              <p:nvPr/>
            </p:nvSpPr>
            <p:spPr>
              <a:xfrm>
                <a:off x="351641" y="2392250"/>
                <a:ext cx="317400" cy="3696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38100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1" name="Google Shape;901;p73"/>
              <p:cNvSpPr/>
              <p:nvPr/>
            </p:nvSpPr>
            <p:spPr>
              <a:xfrm>
                <a:off x="1158460" y="2392250"/>
                <a:ext cx="317400" cy="3696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38100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02" name="Google Shape;902;p73"/>
            <p:cNvSpPr/>
            <p:nvPr/>
          </p:nvSpPr>
          <p:spPr>
            <a:xfrm>
              <a:off x="8103720" y="2057407"/>
              <a:ext cx="262500" cy="335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3" name="Google Shape;903;p73"/>
          <p:cNvGrpSpPr/>
          <p:nvPr/>
        </p:nvGrpSpPr>
        <p:grpSpPr>
          <a:xfrm>
            <a:off x="4998081" y="2096274"/>
            <a:ext cx="1467487" cy="335116"/>
            <a:chOff x="6898734" y="2057407"/>
            <a:chExt cx="1467487" cy="335116"/>
          </a:xfrm>
        </p:grpSpPr>
        <p:grpSp>
          <p:nvGrpSpPr>
            <p:cNvPr id="904" name="Google Shape;904;p73"/>
            <p:cNvGrpSpPr/>
            <p:nvPr/>
          </p:nvGrpSpPr>
          <p:grpSpPr>
            <a:xfrm>
              <a:off x="6898734" y="2057407"/>
              <a:ext cx="860689" cy="335116"/>
              <a:chOff x="379468" y="2392250"/>
              <a:chExt cx="1040737" cy="369600"/>
            </a:xfrm>
          </p:grpSpPr>
          <p:sp>
            <p:nvSpPr>
              <p:cNvPr id="905" name="Google Shape;905;p73"/>
              <p:cNvSpPr/>
              <p:nvPr/>
            </p:nvSpPr>
            <p:spPr>
              <a:xfrm>
                <a:off x="379468" y="2392250"/>
                <a:ext cx="317400" cy="3696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38100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6" name="Google Shape;906;p73"/>
              <p:cNvSpPr/>
              <p:nvPr/>
            </p:nvSpPr>
            <p:spPr>
              <a:xfrm>
                <a:off x="1102805" y="2392250"/>
                <a:ext cx="317400" cy="3696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38100">
                <a:solidFill>
                  <a:schemeClr val="accent4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07" name="Google Shape;907;p73"/>
            <p:cNvSpPr/>
            <p:nvPr/>
          </p:nvSpPr>
          <p:spPr>
            <a:xfrm>
              <a:off x="8103720" y="2057407"/>
              <a:ext cx="262500" cy="335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8" name="Google Shape;908;p73"/>
          <p:cNvSpPr txBox="1"/>
          <p:nvPr>
            <p:ph idx="1" type="body"/>
          </p:nvPr>
        </p:nvSpPr>
        <p:spPr>
          <a:xfrm>
            <a:off x="321500" y="3925175"/>
            <a:ext cx="8496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will this f</a:t>
            </a:r>
            <a:r>
              <a:rPr lang="en-GB"/>
              <a:t>amily</a:t>
            </a:r>
            <a:r>
              <a:rPr lang="en-GB"/>
              <a:t> of rearrangements look like?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4"/>
          <p:cNvSpPr/>
          <p:nvPr/>
        </p:nvSpPr>
        <p:spPr>
          <a:xfrm>
            <a:off x="456250" y="1447432"/>
            <a:ext cx="3902700" cy="1146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4"/>
          <p:cNvSpPr txBox="1"/>
          <p:nvPr>
            <p:ph idx="1" type="body"/>
          </p:nvPr>
        </p:nvSpPr>
        <p:spPr>
          <a:xfrm>
            <a:off x="324000" y="759300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mathematics, </a:t>
            </a:r>
            <a:r>
              <a:rPr lang="en-GB">
                <a:solidFill>
                  <a:schemeClr val="accent4"/>
                </a:solidFill>
              </a:rPr>
              <a:t>generalising</a:t>
            </a:r>
            <a:r>
              <a:rPr lang="en-GB"/>
              <a:t> is a really powerful tool.</a:t>
            </a:r>
            <a:endParaRPr/>
          </a:p>
        </p:txBody>
      </p:sp>
      <p:sp>
        <p:nvSpPr>
          <p:cNvPr id="915" name="Google Shape;91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916" name="Google Shape;916;p74"/>
          <p:cNvSpPr txBox="1"/>
          <p:nvPr>
            <p:ph idx="1" type="body"/>
          </p:nvPr>
        </p:nvSpPr>
        <p:spPr>
          <a:xfrm>
            <a:off x="857400" y="15026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a + b = c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7" name="Google Shape;917;p74"/>
          <p:cNvSpPr txBox="1"/>
          <p:nvPr>
            <p:ph idx="1" type="body"/>
          </p:nvPr>
        </p:nvSpPr>
        <p:spPr>
          <a:xfrm>
            <a:off x="857400" y="20360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b + a = c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8" name="Google Shape;918;p74"/>
          <p:cNvSpPr txBox="1"/>
          <p:nvPr>
            <p:ph idx="1" type="body"/>
          </p:nvPr>
        </p:nvSpPr>
        <p:spPr>
          <a:xfrm>
            <a:off x="2656027" y="15026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c − b = a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74"/>
          <p:cNvSpPr txBox="1"/>
          <p:nvPr>
            <p:ph idx="1" type="body"/>
          </p:nvPr>
        </p:nvSpPr>
        <p:spPr>
          <a:xfrm>
            <a:off x="2656027" y="20360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c − a = b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74"/>
          <p:cNvSpPr txBox="1"/>
          <p:nvPr>
            <p:ph idx="1" type="body"/>
          </p:nvPr>
        </p:nvSpPr>
        <p:spPr>
          <a:xfrm>
            <a:off x="321500" y="2858375"/>
            <a:ext cx="84960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,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can take any values, or be any terms, but so long as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all of these rearrangements will be true.</a:t>
            </a:r>
            <a:endParaRPr/>
          </a:p>
        </p:txBody>
      </p:sp>
      <p:sp>
        <p:nvSpPr>
          <p:cNvPr id="921" name="Google Shape;921;p74"/>
          <p:cNvSpPr/>
          <p:nvPr/>
        </p:nvSpPr>
        <p:spPr>
          <a:xfrm>
            <a:off x="4822663" y="1447432"/>
            <a:ext cx="3902700" cy="1146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4"/>
          <p:cNvSpPr txBox="1"/>
          <p:nvPr>
            <p:ph idx="1" type="body"/>
          </p:nvPr>
        </p:nvSpPr>
        <p:spPr>
          <a:xfrm>
            <a:off x="5082933" y="1502625"/>
            <a:ext cx="14991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+ 7 = 31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3" name="Google Shape;923;p74"/>
          <p:cNvSpPr txBox="1"/>
          <p:nvPr>
            <p:ph idx="1" type="body"/>
          </p:nvPr>
        </p:nvSpPr>
        <p:spPr>
          <a:xfrm>
            <a:off x="5082933" y="2036025"/>
            <a:ext cx="14991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7 +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= 31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74"/>
          <p:cNvSpPr txBox="1"/>
          <p:nvPr>
            <p:ph idx="1" type="body"/>
          </p:nvPr>
        </p:nvSpPr>
        <p:spPr>
          <a:xfrm>
            <a:off x="6946252" y="1502625"/>
            <a:ext cx="1594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31 − 7 =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74"/>
          <p:cNvSpPr txBox="1"/>
          <p:nvPr>
            <p:ph idx="1" type="body"/>
          </p:nvPr>
        </p:nvSpPr>
        <p:spPr>
          <a:xfrm>
            <a:off x="6946252" y="2036025"/>
            <a:ext cx="1594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31 −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74"/>
          <p:cNvSpPr txBox="1"/>
          <p:nvPr>
            <p:ph idx="1" type="body"/>
          </p:nvPr>
        </p:nvSpPr>
        <p:spPr>
          <a:xfrm>
            <a:off x="321500" y="2858375"/>
            <a:ext cx="84960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/>
              <a:t>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/>
              <a:t>,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can take any values, or be any </a:t>
            </a:r>
            <a:r>
              <a:rPr lang="en-GB">
                <a:solidFill>
                  <a:schemeClr val="accent4"/>
                </a:solidFill>
              </a:rPr>
              <a:t>terms</a:t>
            </a:r>
            <a:r>
              <a:rPr lang="en-GB"/>
              <a:t>, but so long as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/>
              <a:t> all of these rearrangements will be true.</a:t>
            </a:r>
            <a:endParaRPr/>
          </a:p>
        </p:txBody>
      </p:sp>
      <p:sp>
        <p:nvSpPr>
          <p:cNvPr id="927" name="Google Shape;927;p74"/>
          <p:cNvSpPr txBox="1"/>
          <p:nvPr>
            <p:ph idx="1" type="body"/>
          </p:nvPr>
        </p:nvSpPr>
        <p:spPr>
          <a:xfrm>
            <a:off x="321500" y="3772775"/>
            <a:ext cx="8496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very useful skill because this rearrangement hands us the solution to this equation.</a:t>
            </a:r>
            <a:endParaRPr/>
          </a:p>
        </p:txBody>
      </p:sp>
      <p:sp>
        <p:nvSpPr>
          <p:cNvPr id="928" name="Google Shape;928;p74"/>
          <p:cNvSpPr/>
          <p:nvPr/>
        </p:nvSpPr>
        <p:spPr>
          <a:xfrm>
            <a:off x="6774937" y="1431440"/>
            <a:ext cx="1881300" cy="613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5"/>
          <p:cNvSpPr txBox="1"/>
          <p:nvPr/>
        </p:nvSpPr>
        <p:spPr>
          <a:xfrm>
            <a:off x="716560" y="3026648"/>
            <a:ext cx="21015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4" name="Google Shape;93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935" name="Google Shape;935;p75"/>
          <p:cNvSpPr txBox="1"/>
          <p:nvPr>
            <p:ph idx="1" type="body"/>
          </p:nvPr>
        </p:nvSpPr>
        <p:spPr>
          <a:xfrm>
            <a:off x="324000" y="759300"/>
            <a:ext cx="753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does not matter how complex looking the terms are. We can still rearrange the equation.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6" name="Google Shape;936;p75"/>
          <p:cNvSpPr txBox="1"/>
          <p:nvPr/>
        </p:nvSpPr>
        <p:spPr>
          <a:xfrm>
            <a:off x="716560" y="3026648"/>
            <a:ext cx="21015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7" name="Google Shape;937;p75"/>
          <p:cNvSpPr txBox="1"/>
          <p:nvPr/>
        </p:nvSpPr>
        <p:spPr>
          <a:xfrm>
            <a:off x="716560" y="3437823"/>
            <a:ext cx="30837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75"/>
          <p:cNvSpPr txBox="1"/>
          <p:nvPr/>
        </p:nvSpPr>
        <p:spPr>
          <a:xfrm>
            <a:off x="2815638" y="3022298"/>
            <a:ext cx="9846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75"/>
          <p:cNvSpPr txBox="1"/>
          <p:nvPr>
            <p:ph idx="1" type="body"/>
          </p:nvPr>
        </p:nvSpPr>
        <p:spPr>
          <a:xfrm>
            <a:off x="324000" y="1641101"/>
            <a:ext cx="1807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63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75"/>
          <p:cNvSpPr txBox="1"/>
          <p:nvPr>
            <p:ph idx="1" type="body"/>
          </p:nvPr>
        </p:nvSpPr>
        <p:spPr>
          <a:xfrm>
            <a:off x="324000" y="2216181"/>
            <a:ext cx="1807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+ 13 = 63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75"/>
          <p:cNvSpPr txBox="1"/>
          <p:nvPr>
            <p:ph idx="1" type="body"/>
          </p:nvPr>
        </p:nvSpPr>
        <p:spPr>
          <a:xfrm>
            <a:off x="2884624" y="1641101"/>
            <a:ext cx="1807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75"/>
          <p:cNvSpPr txBox="1"/>
          <p:nvPr>
            <p:ph idx="1" type="body"/>
          </p:nvPr>
        </p:nvSpPr>
        <p:spPr>
          <a:xfrm>
            <a:off x="2884624" y="2216181"/>
            <a:ext cx="1807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− 13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43" name="Google Shape;943;p75"/>
          <p:cNvGrpSpPr/>
          <p:nvPr/>
        </p:nvGrpSpPr>
        <p:grpSpPr>
          <a:xfrm>
            <a:off x="342376" y="2207443"/>
            <a:ext cx="1755164" cy="369609"/>
            <a:chOff x="332479" y="2392241"/>
            <a:chExt cx="1718896" cy="369609"/>
          </a:xfrm>
        </p:grpSpPr>
        <p:sp>
          <p:nvSpPr>
            <p:cNvPr id="944" name="Google Shape;944;p75"/>
            <p:cNvSpPr/>
            <p:nvPr/>
          </p:nvSpPr>
          <p:spPr>
            <a:xfrm>
              <a:off x="332479" y="2392241"/>
              <a:ext cx="3735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5" name="Google Shape;945;p75"/>
            <p:cNvSpPr/>
            <p:nvPr/>
          </p:nvSpPr>
          <p:spPr>
            <a:xfrm>
              <a:off x="977581" y="2392250"/>
              <a:ext cx="317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6" name="Google Shape;946;p75"/>
            <p:cNvSpPr/>
            <p:nvPr/>
          </p:nvSpPr>
          <p:spPr>
            <a:xfrm>
              <a:off x="1622675" y="2392243"/>
              <a:ext cx="4287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7" name="Google Shape;947;p75"/>
          <p:cNvGrpSpPr/>
          <p:nvPr/>
        </p:nvGrpSpPr>
        <p:grpSpPr>
          <a:xfrm>
            <a:off x="311643" y="1632365"/>
            <a:ext cx="1786037" cy="369607"/>
            <a:chOff x="3655097" y="1858843"/>
            <a:chExt cx="1749130" cy="369607"/>
          </a:xfrm>
        </p:grpSpPr>
        <p:sp>
          <p:nvSpPr>
            <p:cNvPr id="948" name="Google Shape;948;p75"/>
            <p:cNvSpPr/>
            <p:nvPr/>
          </p:nvSpPr>
          <p:spPr>
            <a:xfrm>
              <a:off x="3655097" y="1858850"/>
              <a:ext cx="317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75"/>
            <p:cNvSpPr/>
            <p:nvPr/>
          </p:nvSpPr>
          <p:spPr>
            <a:xfrm>
              <a:off x="4290620" y="1858846"/>
              <a:ext cx="3723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75"/>
            <p:cNvSpPr/>
            <p:nvPr/>
          </p:nvSpPr>
          <p:spPr>
            <a:xfrm>
              <a:off x="4968328" y="1858843"/>
              <a:ext cx="4359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1" name="Google Shape;951;p75"/>
          <p:cNvGrpSpPr/>
          <p:nvPr/>
        </p:nvGrpSpPr>
        <p:grpSpPr>
          <a:xfrm>
            <a:off x="2863169" y="2207443"/>
            <a:ext cx="1708829" cy="369602"/>
            <a:chOff x="2801182" y="2392241"/>
            <a:chExt cx="1673518" cy="369602"/>
          </a:xfrm>
        </p:grpSpPr>
        <p:sp>
          <p:nvSpPr>
            <p:cNvPr id="952" name="Google Shape;952;p75"/>
            <p:cNvSpPr/>
            <p:nvPr/>
          </p:nvSpPr>
          <p:spPr>
            <a:xfrm>
              <a:off x="3414767" y="2392241"/>
              <a:ext cx="3525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3" name="Google Shape;953;p75"/>
            <p:cNvSpPr/>
            <p:nvPr/>
          </p:nvSpPr>
          <p:spPr>
            <a:xfrm>
              <a:off x="4067300" y="2392241"/>
              <a:ext cx="407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5"/>
            <p:cNvSpPr/>
            <p:nvPr/>
          </p:nvSpPr>
          <p:spPr>
            <a:xfrm>
              <a:off x="2801182" y="2392243"/>
              <a:ext cx="3930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6"/>
          <p:cNvSpPr txBox="1"/>
          <p:nvPr/>
        </p:nvSpPr>
        <p:spPr>
          <a:xfrm>
            <a:off x="4713476" y="1708225"/>
            <a:ext cx="15432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0" name="Google Shape;960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961" name="Google Shape;961;p76"/>
          <p:cNvSpPr txBox="1"/>
          <p:nvPr/>
        </p:nvSpPr>
        <p:spPr>
          <a:xfrm>
            <a:off x="4713480" y="2119410"/>
            <a:ext cx="30837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76"/>
          <p:cNvSpPr txBox="1"/>
          <p:nvPr/>
        </p:nvSpPr>
        <p:spPr>
          <a:xfrm>
            <a:off x="6253945" y="1703875"/>
            <a:ext cx="15432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76"/>
          <p:cNvSpPr txBox="1"/>
          <p:nvPr>
            <p:ph idx="3" type="subTitle"/>
          </p:nvPr>
        </p:nvSpPr>
        <p:spPr>
          <a:xfrm>
            <a:off x="1034425" y="2489450"/>
            <a:ext cx="1737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76"/>
          <p:cNvSpPr txBox="1"/>
          <p:nvPr>
            <p:ph idx="4" type="subTitle"/>
          </p:nvPr>
        </p:nvSpPr>
        <p:spPr>
          <a:xfrm>
            <a:off x="1034425" y="3309773"/>
            <a:ext cx="1727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5" name="Google Shape;965;p76"/>
          <p:cNvSpPr txBox="1"/>
          <p:nvPr>
            <p:ph type="title"/>
          </p:nvPr>
        </p:nvSpPr>
        <p:spPr>
          <a:xfrm>
            <a:off x="324000" y="748800"/>
            <a:ext cx="8179200" cy="7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are accurate rearrangements of this equation?  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i="1"/>
          </a:p>
        </p:txBody>
      </p:sp>
      <p:sp>
        <p:nvSpPr>
          <p:cNvPr id="966" name="Google Shape;966;p76"/>
          <p:cNvSpPr txBox="1"/>
          <p:nvPr>
            <p:ph idx="3" type="subTitle"/>
          </p:nvPr>
        </p:nvSpPr>
        <p:spPr>
          <a:xfrm>
            <a:off x="1034425" y="1697277"/>
            <a:ext cx="1983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7" name="Google Shape;96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754" y="1671916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727" y="3325302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9" name="Google Shape;969;p76"/>
          <p:cNvCxnSpPr/>
          <p:nvPr/>
        </p:nvCxnSpPr>
        <p:spPr>
          <a:xfrm flipH="1">
            <a:off x="4731487" y="2671437"/>
            <a:ext cx="3057000" cy="3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0" name="Google Shape;970;p76"/>
          <p:cNvCxnSpPr/>
          <p:nvPr/>
        </p:nvCxnSpPr>
        <p:spPr>
          <a:xfrm>
            <a:off x="4731487" y="1562957"/>
            <a:ext cx="1511400" cy="7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971" name="Google Shape;97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833" y="248091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76"/>
          <p:cNvSpPr txBox="1"/>
          <p:nvPr>
            <p:ph idx="3" type="subTitle"/>
          </p:nvPr>
        </p:nvSpPr>
        <p:spPr>
          <a:xfrm>
            <a:off x="1034425" y="4101157"/>
            <a:ext cx="1737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3" name="Google Shape;97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833" y="4092619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77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family of rearrangements for the below equations. Draw a bar model to support if needed.</a:t>
            </a:r>
            <a:endParaRPr/>
          </a:p>
        </p:txBody>
      </p:sp>
      <p:sp>
        <p:nvSpPr>
          <p:cNvPr id="979" name="Google Shape;979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980" name="Google Shape;980;p77"/>
          <p:cNvSpPr/>
          <p:nvPr/>
        </p:nvSpPr>
        <p:spPr>
          <a:xfrm>
            <a:off x="569775" y="1805418"/>
            <a:ext cx="3902700" cy="97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7"/>
          <p:cNvSpPr txBox="1"/>
          <p:nvPr>
            <p:ph idx="4294967295" type="body"/>
          </p:nvPr>
        </p:nvSpPr>
        <p:spPr>
          <a:xfrm>
            <a:off x="705000" y="18721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58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+ 76 = 134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77"/>
          <p:cNvSpPr txBox="1"/>
          <p:nvPr>
            <p:ph idx="4294967295" type="body"/>
          </p:nvPr>
        </p:nvSpPr>
        <p:spPr>
          <a:xfrm>
            <a:off x="705000" y="23293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+ 58 = 134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3" name="Google Shape;983;p77"/>
          <p:cNvSpPr txBox="1"/>
          <p:nvPr>
            <p:ph idx="4294967295" type="body"/>
          </p:nvPr>
        </p:nvSpPr>
        <p:spPr>
          <a:xfrm>
            <a:off x="2713058" y="18721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134 − 76 = 58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4" name="Google Shape;984;p77"/>
          <p:cNvSpPr txBox="1"/>
          <p:nvPr>
            <p:ph idx="4294967295" type="body"/>
          </p:nvPr>
        </p:nvSpPr>
        <p:spPr>
          <a:xfrm>
            <a:off x="2713058" y="23293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134 − 58 = 76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5" name="Google Shape;985;p77"/>
          <p:cNvSpPr/>
          <p:nvPr/>
        </p:nvSpPr>
        <p:spPr>
          <a:xfrm>
            <a:off x="569775" y="3405618"/>
            <a:ext cx="3902700" cy="97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7"/>
          <p:cNvSpPr txBox="1"/>
          <p:nvPr>
            <p:ph idx="4294967295" type="body"/>
          </p:nvPr>
        </p:nvSpPr>
        <p:spPr>
          <a:xfrm>
            <a:off x="705000" y="34723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7" name="Google Shape;987;p77"/>
          <p:cNvSpPr txBox="1"/>
          <p:nvPr>
            <p:ph idx="4294967295" type="body"/>
          </p:nvPr>
        </p:nvSpPr>
        <p:spPr>
          <a:xfrm>
            <a:off x="705000" y="39295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77"/>
          <p:cNvSpPr txBox="1"/>
          <p:nvPr>
            <p:ph idx="4294967295" type="body"/>
          </p:nvPr>
        </p:nvSpPr>
        <p:spPr>
          <a:xfrm>
            <a:off x="2713058" y="34723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77"/>
          <p:cNvSpPr txBox="1"/>
          <p:nvPr>
            <p:ph idx="4294967295" type="body"/>
          </p:nvPr>
        </p:nvSpPr>
        <p:spPr>
          <a:xfrm>
            <a:off x="2713058" y="39295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77"/>
          <p:cNvSpPr/>
          <p:nvPr/>
        </p:nvSpPr>
        <p:spPr>
          <a:xfrm>
            <a:off x="4836975" y="1805418"/>
            <a:ext cx="3902700" cy="97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7"/>
          <p:cNvSpPr txBox="1"/>
          <p:nvPr>
            <p:ph idx="4294967295" type="body"/>
          </p:nvPr>
        </p:nvSpPr>
        <p:spPr>
          <a:xfrm>
            <a:off x="4972200" y="18721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77"/>
          <p:cNvSpPr txBox="1"/>
          <p:nvPr>
            <p:ph idx="4294967295" type="body"/>
          </p:nvPr>
        </p:nvSpPr>
        <p:spPr>
          <a:xfrm>
            <a:off x="4972200" y="23293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+ 11 = 19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77"/>
          <p:cNvSpPr txBox="1"/>
          <p:nvPr>
            <p:ph idx="4294967295" type="body"/>
          </p:nvPr>
        </p:nvSpPr>
        <p:spPr>
          <a:xfrm>
            <a:off x="6980258" y="18721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19 −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77"/>
          <p:cNvSpPr txBox="1"/>
          <p:nvPr>
            <p:ph idx="4294967295" type="body"/>
          </p:nvPr>
        </p:nvSpPr>
        <p:spPr>
          <a:xfrm>
            <a:off x="6980258" y="23293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19 − 11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77"/>
          <p:cNvSpPr/>
          <p:nvPr/>
        </p:nvSpPr>
        <p:spPr>
          <a:xfrm>
            <a:off x="4836975" y="3405618"/>
            <a:ext cx="3902700" cy="97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7"/>
          <p:cNvSpPr txBox="1"/>
          <p:nvPr>
            <p:ph idx="4294967295" type="body"/>
          </p:nvPr>
        </p:nvSpPr>
        <p:spPr>
          <a:xfrm>
            <a:off x="4972200" y="34723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7" name="Google Shape;997;p77"/>
          <p:cNvSpPr txBox="1"/>
          <p:nvPr>
            <p:ph idx="4294967295" type="body"/>
          </p:nvPr>
        </p:nvSpPr>
        <p:spPr>
          <a:xfrm>
            <a:off x="4972200" y="39295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77"/>
          <p:cNvSpPr txBox="1"/>
          <p:nvPr>
            <p:ph idx="4294967295" type="body"/>
          </p:nvPr>
        </p:nvSpPr>
        <p:spPr>
          <a:xfrm>
            <a:off x="6980258" y="34723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9" name="Google Shape;999;p77"/>
          <p:cNvSpPr txBox="1"/>
          <p:nvPr>
            <p:ph idx="4294967295" type="body"/>
          </p:nvPr>
        </p:nvSpPr>
        <p:spPr>
          <a:xfrm>
            <a:off x="6980258" y="39295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100 −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77"/>
          <p:cNvSpPr txBox="1"/>
          <p:nvPr>
            <p:ph idx="1" type="body"/>
          </p:nvPr>
        </p:nvSpPr>
        <p:spPr>
          <a:xfrm>
            <a:off x="324000" y="14451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sp>
        <p:nvSpPr>
          <p:cNvPr id="1001" name="Google Shape;1001;p77"/>
          <p:cNvSpPr txBox="1"/>
          <p:nvPr>
            <p:ph idx="1" type="body"/>
          </p:nvPr>
        </p:nvSpPr>
        <p:spPr>
          <a:xfrm>
            <a:off x="324000" y="30453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1002" name="Google Shape;1002;p77"/>
          <p:cNvSpPr txBox="1"/>
          <p:nvPr>
            <p:ph idx="1" type="body"/>
          </p:nvPr>
        </p:nvSpPr>
        <p:spPr>
          <a:xfrm>
            <a:off x="4579693" y="14451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003" name="Google Shape;1003;p77"/>
          <p:cNvSpPr txBox="1"/>
          <p:nvPr>
            <p:ph idx="1" type="body"/>
          </p:nvPr>
        </p:nvSpPr>
        <p:spPr>
          <a:xfrm>
            <a:off x="4579693" y="30453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grpSp>
        <p:nvGrpSpPr>
          <p:cNvPr id="1004" name="Google Shape;1004;p77"/>
          <p:cNvGrpSpPr/>
          <p:nvPr/>
        </p:nvGrpSpPr>
        <p:grpSpPr>
          <a:xfrm>
            <a:off x="2733782" y="1879625"/>
            <a:ext cx="1601215" cy="369606"/>
            <a:chOff x="2733782" y="1879625"/>
            <a:chExt cx="1601215" cy="369606"/>
          </a:xfrm>
        </p:grpSpPr>
        <p:sp>
          <p:nvSpPr>
            <p:cNvPr id="1005" name="Google Shape;1005;p77"/>
            <p:cNvSpPr/>
            <p:nvPr/>
          </p:nvSpPr>
          <p:spPr>
            <a:xfrm>
              <a:off x="2733782" y="1879631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6" name="Google Shape;1006;p77"/>
            <p:cNvSpPr/>
            <p:nvPr/>
          </p:nvSpPr>
          <p:spPr>
            <a:xfrm>
              <a:off x="3425011" y="18796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7" name="Google Shape;1007;p77"/>
            <p:cNvSpPr/>
            <p:nvPr/>
          </p:nvSpPr>
          <p:spPr>
            <a:xfrm>
              <a:off x="4011597" y="18796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8" name="Google Shape;1008;p77"/>
          <p:cNvGrpSpPr/>
          <p:nvPr/>
        </p:nvGrpSpPr>
        <p:grpSpPr>
          <a:xfrm>
            <a:off x="2733782" y="2336825"/>
            <a:ext cx="1601215" cy="369606"/>
            <a:chOff x="2733782" y="2336825"/>
            <a:chExt cx="1601215" cy="369606"/>
          </a:xfrm>
        </p:grpSpPr>
        <p:sp>
          <p:nvSpPr>
            <p:cNvPr id="1009" name="Google Shape;1009;p77"/>
            <p:cNvSpPr/>
            <p:nvPr/>
          </p:nvSpPr>
          <p:spPr>
            <a:xfrm>
              <a:off x="2733782" y="2336831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77"/>
            <p:cNvSpPr/>
            <p:nvPr/>
          </p:nvSpPr>
          <p:spPr>
            <a:xfrm>
              <a:off x="3425011" y="23368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1" name="Google Shape;1011;p77"/>
            <p:cNvSpPr/>
            <p:nvPr/>
          </p:nvSpPr>
          <p:spPr>
            <a:xfrm>
              <a:off x="4011597" y="23368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2" name="Google Shape;1012;p77"/>
          <p:cNvGrpSpPr/>
          <p:nvPr/>
        </p:nvGrpSpPr>
        <p:grpSpPr>
          <a:xfrm>
            <a:off x="670304" y="2336825"/>
            <a:ext cx="1603665" cy="369606"/>
            <a:chOff x="670304" y="2336825"/>
            <a:chExt cx="1603665" cy="369606"/>
          </a:xfrm>
        </p:grpSpPr>
        <p:sp>
          <p:nvSpPr>
            <p:cNvPr id="1013" name="Google Shape;1013;p77"/>
            <p:cNvSpPr/>
            <p:nvPr/>
          </p:nvSpPr>
          <p:spPr>
            <a:xfrm>
              <a:off x="1872569" y="2336831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4" name="Google Shape;1014;p77"/>
            <p:cNvSpPr/>
            <p:nvPr/>
          </p:nvSpPr>
          <p:spPr>
            <a:xfrm>
              <a:off x="670304" y="23368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77"/>
            <p:cNvSpPr/>
            <p:nvPr/>
          </p:nvSpPr>
          <p:spPr>
            <a:xfrm>
              <a:off x="1256891" y="23368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6" name="Google Shape;1016;p77"/>
          <p:cNvGrpSpPr/>
          <p:nvPr/>
        </p:nvGrpSpPr>
        <p:grpSpPr>
          <a:xfrm>
            <a:off x="635776" y="3914000"/>
            <a:ext cx="1147895" cy="369600"/>
            <a:chOff x="635776" y="3914000"/>
            <a:chExt cx="1147895" cy="369600"/>
          </a:xfrm>
        </p:grpSpPr>
        <p:sp>
          <p:nvSpPr>
            <p:cNvPr id="1017" name="Google Shape;1017;p77"/>
            <p:cNvSpPr/>
            <p:nvPr/>
          </p:nvSpPr>
          <p:spPr>
            <a:xfrm>
              <a:off x="635776" y="39140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8" name="Google Shape;1018;p77"/>
            <p:cNvSpPr/>
            <p:nvPr/>
          </p:nvSpPr>
          <p:spPr>
            <a:xfrm>
              <a:off x="1088377" y="39140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77"/>
            <p:cNvSpPr/>
            <p:nvPr/>
          </p:nvSpPr>
          <p:spPr>
            <a:xfrm>
              <a:off x="1534071" y="39140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0" name="Google Shape;1020;p77"/>
          <p:cNvGrpSpPr/>
          <p:nvPr/>
        </p:nvGrpSpPr>
        <p:grpSpPr>
          <a:xfrm>
            <a:off x="635776" y="3456800"/>
            <a:ext cx="1147895" cy="369600"/>
            <a:chOff x="635776" y="3456800"/>
            <a:chExt cx="1147895" cy="369600"/>
          </a:xfrm>
        </p:grpSpPr>
        <p:sp>
          <p:nvSpPr>
            <p:cNvPr id="1021" name="Google Shape;1021;p77"/>
            <p:cNvSpPr/>
            <p:nvPr/>
          </p:nvSpPr>
          <p:spPr>
            <a:xfrm>
              <a:off x="635776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2" name="Google Shape;1022;p77"/>
            <p:cNvSpPr/>
            <p:nvPr/>
          </p:nvSpPr>
          <p:spPr>
            <a:xfrm>
              <a:off x="1088377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3" name="Google Shape;1023;p77"/>
            <p:cNvSpPr/>
            <p:nvPr/>
          </p:nvSpPr>
          <p:spPr>
            <a:xfrm>
              <a:off x="1534071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4" name="Google Shape;1024;p77"/>
          <p:cNvGrpSpPr/>
          <p:nvPr/>
        </p:nvGrpSpPr>
        <p:grpSpPr>
          <a:xfrm>
            <a:off x="2624136" y="3456800"/>
            <a:ext cx="1147895" cy="369600"/>
            <a:chOff x="2624136" y="3456800"/>
            <a:chExt cx="1147895" cy="369600"/>
          </a:xfrm>
        </p:grpSpPr>
        <p:sp>
          <p:nvSpPr>
            <p:cNvPr id="1025" name="Google Shape;1025;p77"/>
            <p:cNvSpPr/>
            <p:nvPr/>
          </p:nvSpPr>
          <p:spPr>
            <a:xfrm>
              <a:off x="2624136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6" name="Google Shape;1026;p77"/>
            <p:cNvSpPr/>
            <p:nvPr/>
          </p:nvSpPr>
          <p:spPr>
            <a:xfrm>
              <a:off x="3076737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7" name="Google Shape;1027;p77"/>
            <p:cNvSpPr/>
            <p:nvPr/>
          </p:nvSpPr>
          <p:spPr>
            <a:xfrm>
              <a:off x="3522430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8" name="Google Shape;1028;p77"/>
          <p:cNvGrpSpPr/>
          <p:nvPr/>
        </p:nvGrpSpPr>
        <p:grpSpPr>
          <a:xfrm>
            <a:off x="4929508" y="3468323"/>
            <a:ext cx="1676980" cy="369602"/>
            <a:chOff x="4929508" y="3468323"/>
            <a:chExt cx="1676980" cy="369602"/>
          </a:xfrm>
        </p:grpSpPr>
        <p:sp>
          <p:nvSpPr>
            <p:cNvPr id="1029" name="Google Shape;1029;p77"/>
            <p:cNvSpPr/>
            <p:nvPr/>
          </p:nvSpPr>
          <p:spPr>
            <a:xfrm>
              <a:off x="4929508" y="34683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0" name="Google Shape;1030;p77"/>
            <p:cNvSpPr/>
            <p:nvPr/>
          </p:nvSpPr>
          <p:spPr>
            <a:xfrm>
              <a:off x="6190388" y="34683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77"/>
            <p:cNvSpPr/>
            <p:nvPr/>
          </p:nvSpPr>
          <p:spPr>
            <a:xfrm>
              <a:off x="5603800" y="34683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2" name="Google Shape;1032;p77"/>
          <p:cNvGrpSpPr/>
          <p:nvPr/>
        </p:nvGrpSpPr>
        <p:grpSpPr>
          <a:xfrm>
            <a:off x="4929507" y="3925523"/>
            <a:ext cx="1658315" cy="369602"/>
            <a:chOff x="4929507" y="3925523"/>
            <a:chExt cx="1658315" cy="369602"/>
          </a:xfrm>
        </p:grpSpPr>
        <p:sp>
          <p:nvSpPr>
            <p:cNvPr id="1033" name="Google Shape;1033;p77"/>
            <p:cNvSpPr/>
            <p:nvPr/>
          </p:nvSpPr>
          <p:spPr>
            <a:xfrm>
              <a:off x="6171722" y="39255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77"/>
            <p:cNvSpPr/>
            <p:nvPr/>
          </p:nvSpPr>
          <p:spPr>
            <a:xfrm>
              <a:off x="5516095" y="39255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77"/>
            <p:cNvSpPr/>
            <p:nvPr/>
          </p:nvSpPr>
          <p:spPr>
            <a:xfrm>
              <a:off x="4929507" y="39255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6" name="Google Shape;1036;p77"/>
          <p:cNvGrpSpPr/>
          <p:nvPr/>
        </p:nvGrpSpPr>
        <p:grpSpPr>
          <a:xfrm>
            <a:off x="6994068" y="3925523"/>
            <a:ext cx="1664825" cy="369602"/>
            <a:chOff x="6994068" y="3925523"/>
            <a:chExt cx="1664825" cy="369602"/>
          </a:xfrm>
        </p:grpSpPr>
        <p:sp>
          <p:nvSpPr>
            <p:cNvPr id="1037" name="Google Shape;1037;p77"/>
            <p:cNvSpPr/>
            <p:nvPr/>
          </p:nvSpPr>
          <p:spPr>
            <a:xfrm>
              <a:off x="7661202" y="39255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77"/>
            <p:cNvSpPr/>
            <p:nvPr/>
          </p:nvSpPr>
          <p:spPr>
            <a:xfrm>
              <a:off x="6994068" y="39255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77"/>
            <p:cNvSpPr/>
            <p:nvPr/>
          </p:nvSpPr>
          <p:spPr>
            <a:xfrm>
              <a:off x="8335494" y="39255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0" name="Google Shape;1040;p77"/>
          <p:cNvGrpSpPr/>
          <p:nvPr/>
        </p:nvGrpSpPr>
        <p:grpSpPr>
          <a:xfrm>
            <a:off x="4910136" y="2336813"/>
            <a:ext cx="1323308" cy="369600"/>
            <a:chOff x="4910136" y="2336813"/>
            <a:chExt cx="1323308" cy="369600"/>
          </a:xfrm>
        </p:grpSpPr>
        <p:sp>
          <p:nvSpPr>
            <p:cNvPr id="1041" name="Google Shape;1041;p77"/>
            <p:cNvSpPr/>
            <p:nvPr/>
          </p:nvSpPr>
          <p:spPr>
            <a:xfrm>
              <a:off x="4910136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7"/>
            <p:cNvSpPr/>
            <p:nvPr/>
          </p:nvSpPr>
          <p:spPr>
            <a:xfrm>
              <a:off x="5397257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77"/>
            <p:cNvSpPr/>
            <p:nvPr/>
          </p:nvSpPr>
          <p:spPr>
            <a:xfrm>
              <a:off x="5983844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4" name="Google Shape;1044;p77"/>
          <p:cNvGrpSpPr/>
          <p:nvPr/>
        </p:nvGrpSpPr>
        <p:grpSpPr>
          <a:xfrm>
            <a:off x="5009349" y="1879613"/>
            <a:ext cx="1254268" cy="369600"/>
            <a:chOff x="5009349" y="1879613"/>
            <a:chExt cx="1254268" cy="369600"/>
          </a:xfrm>
        </p:grpSpPr>
        <p:sp>
          <p:nvSpPr>
            <p:cNvPr id="1045" name="Google Shape;1045;p77"/>
            <p:cNvSpPr/>
            <p:nvPr/>
          </p:nvSpPr>
          <p:spPr>
            <a:xfrm>
              <a:off x="5009349" y="18796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77"/>
            <p:cNvSpPr/>
            <p:nvPr/>
          </p:nvSpPr>
          <p:spPr>
            <a:xfrm>
              <a:off x="5473457" y="18796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77"/>
            <p:cNvSpPr/>
            <p:nvPr/>
          </p:nvSpPr>
          <p:spPr>
            <a:xfrm>
              <a:off x="6014017" y="18796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8" name="Google Shape;1048;p77"/>
          <p:cNvGrpSpPr/>
          <p:nvPr/>
        </p:nvGrpSpPr>
        <p:grpSpPr>
          <a:xfrm>
            <a:off x="7013562" y="2336813"/>
            <a:ext cx="1334815" cy="369600"/>
            <a:chOff x="7013562" y="2336813"/>
            <a:chExt cx="1334815" cy="369600"/>
          </a:xfrm>
        </p:grpSpPr>
        <p:sp>
          <p:nvSpPr>
            <p:cNvPr id="1049" name="Google Shape;1049;p77"/>
            <p:cNvSpPr/>
            <p:nvPr/>
          </p:nvSpPr>
          <p:spPr>
            <a:xfrm>
              <a:off x="7013562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0" name="Google Shape;1050;p77"/>
            <p:cNvSpPr/>
            <p:nvPr/>
          </p:nvSpPr>
          <p:spPr>
            <a:xfrm>
              <a:off x="7546711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1" name="Google Shape;1051;p77"/>
            <p:cNvSpPr/>
            <p:nvPr/>
          </p:nvSpPr>
          <p:spPr>
            <a:xfrm>
              <a:off x="8098777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8"/>
          <p:cNvSpPr txBox="1"/>
          <p:nvPr>
            <p:ph idx="1" type="body"/>
          </p:nvPr>
        </p:nvSpPr>
        <p:spPr>
          <a:xfrm>
            <a:off x="324000" y="759300"/>
            <a:ext cx="4707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Lucas is rearranging equations.</a:t>
            </a:r>
            <a:endParaRPr/>
          </a:p>
        </p:txBody>
      </p:sp>
      <p:sp>
        <p:nvSpPr>
          <p:cNvPr id="1057" name="Google Shape;1057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058" name="Google Shape;1058;p78"/>
          <p:cNvSpPr txBox="1"/>
          <p:nvPr>
            <p:ph idx="1" type="body"/>
          </p:nvPr>
        </p:nvSpPr>
        <p:spPr>
          <a:xfrm>
            <a:off x="324000" y="11287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059" name="Google Shape;1059;p78"/>
          <p:cNvSpPr txBox="1"/>
          <p:nvPr>
            <p:ph idx="1" type="body"/>
          </p:nvPr>
        </p:nvSpPr>
        <p:spPr>
          <a:xfrm>
            <a:off x="324000" y="3578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060" name="Google Shape;1060;p78"/>
          <p:cNvSpPr txBox="1"/>
          <p:nvPr>
            <p:ph idx="1" type="body"/>
          </p:nvPr>
        </p:nvSpPr>
        <p:spPr>
          <a:xfrm>
            <a:off x="312493" y="2359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id="1061" name="Google Shape;106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389" y="2081304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7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896875" y="1511607"/>
            <a:ext cx="3511199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78"/>
          <p:cNvSpPr txBox="1"/>
          <p:nvPr/>
        </p:nvSpPr>
        <p:spPr>
          <a:xfrm flipH="1">
            <a:off x="5195838" y="1553975"/>
            <a:ext cx="3327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see a lot of it as ‘swapping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positions’ in the equation.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4" name="Google Shape;1064;p7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698077" y="1189453"/>
            <a:ext cx="3177452" cy="9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78"/>
          <p:cNvSpPr txBox="1"/>
          <p:nvPr/>
        </p:nvSpPr>
        <p:spPr>
          <a:xfrm flipH="1">
            <a:off x="905250" y="1258480"/>
            <a:ext cx="279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6" name="Google Shape;1066;p7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698077" y="3666711"/>
            <a:ext cx="3241902" cy="9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78"/>
          <p:cNvSpPr txBox="1"/>
          <p:nvPr/>
        </p:nvSpPr>
        <p:spPr>
          <a:xfrm flipH="1">
            <a:off x="905100" y="2440347"/>
            <a:ext cx="3086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49 =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8" name="Google Shape;1068;p7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698077" y="2417338"/>
            <a:ext cx="3241902" cy="9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8"/>
          <p:cNvSpPr txBox="1"/>
          <p:nvPr/>
        </p:nvSpPr>
        <p:spPr>
          <a:xfrm flipH="1">
            <a:off x="905100" y="3689720"/>
            <a:ext cx="3086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2 =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=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78"/>
          <p:cNvSpPr txBox="1"/>
          <p:nvPr>
            <p:ph idx="1" type="body"/>
          </p:nvPr>
        </p:nvSpPr>
        <p:spPr>
          <a:xfrm>
            <a:off x="4320534" y="3243725"/>
            <a:ext cx="4243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each case decide if</a:t>
            </a:r>
            <a:r>
              <a:rPr lang="en-GB" sz="2000"/>
              <a:t> Lucas is correct and write a sentence to justify your decision.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9"/>
          <p:cNvSpPr/>
          <p:nvPr/>
        </p:nvSpPr>
        <p:spPr>
          <a:xfrm>
            <a:off x="569775" y="1805418"/>
            <a:ext cx="3902700" cy="97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9"/>
          <p:cNvSpPr txBox="1"/>
          <p:nvPr>
            <p:ph idx="1" type="body"/>
          </p:nvPr>
        </p:nvSpPr>
        <p:spPr>
          <a:xfrm>
            <a:off x="324000" y="759300"/>
            <a:ext cx="82377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family of rearrangements for the below equations. Draw a bar model to support if needed.</a:t>
            </a:r>
            <a:endParaRPr/>
          </a:p>
        </p:txBody>
      </p:sp>
      <p:sp>
        <p:nvSpPr>
          <p:cNvPr id="1077" name="Google Shape;1077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078" name="Google Shape;1078;p79"/>
          <p:cNvSpPr txBox="1"/>
          <p:nvPr>
            <p:ph idx="4294967295" type="body"/>
          </p:nvPr>
        </p:nvSpPr>
        <p:spPr>
          <a:xfrm>
            <a:off x="705000" y="18721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58 + 76 = 134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79"/>
          <p:cNvSpPr txBox="1"/>
          <p:nvPr>
            <p:ph idx="4294967295" type="body"/>
          </p:nvPr>
        </p:nvSpPr>
        <p:spPr>
          <a:xfrm>
            <a:off x="705000" y="23293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76 + 58 = 134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0" name="Google Shape;1080;p79"/>
          <p:cNvSpPr txBox="1"/>
          <p:nvPr>
            <p:ph idx="4294967295" type="body"/>
          </p:nvPr>
        </p:nvSpPr>
        <p:spPr>
          <a:xfrm>
            <a:off x="2713058" y="18721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134 − 76 = 58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1" name="Google Shape;1081;p79"/>
          <p:cNvSpPr/>
          <p:nvPr/>
        </p:nvSpPr>
        <p:spPr>
          <a:xfrm>
            <a:off x="4836975" y="1805418"/>
            <a:ext cx="3902700" cy="97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9"/>
          <p:cNvSpPr txBox="1"/>
          <p:nvPr>
            <p:ph idx="4294967295" type="body"/>
          </p:nvPr>
        </p:nvSpPr>
        <p:spPr>
          <a:xfrm>
            <a:off x="4972200" y="18721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11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79"/>
          <p:cNvSpPr txBox="1"/>
          <p:nvPr>
            <p:ph idx="4294967295" type="body"/>
          </p:nvPr>
        </p:nvSpPr>
        <p:spPr>
          <a:xfrm>
            <a:off x="4972200" y="23293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+ 11 = 19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p79"/>
          <p:cNvSpPr txBox="1"/>
          <p:nvPr>
            <p:ph idx="4294967295" type="body"/>
          </p:nvPr>
        </p:nvSpPr>
        <p:spPr>
          <a:xfrm>
            <a:off x="6980258" y="18721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19 −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5" name="Google Shape;1085;p79"/>
          <p:cNvSpPr txBox="1"/>
          <p:nvPr>
            <p:ph idx="4294967295" type="body"/>
          </p:nvPr>
        </p:nvSpPr>
        <p:spPr>
          <a:xfrm>
            <a:off x="6980258" y="23293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19 − 11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79"/>
          <p:cNvSpPr txBox="1"/>
          <p:nvPr>
            <p:ph idx="1" type="body"/>
          </p:nvPr>
        </p:nvSpPr>
        <p:spPr>
          <a:xfrm>
            <a:off x="324000" y="14451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087" name="Google Shape;1087;p79"/>
          <p:cNvSpPr txBox="1"/>
          <p:nvPr>
            <p:ph idx="1" type="body"/>
          </p:nvPr>
        </p:nvSpPr>
        <p:spPr>
          <a:xfrm>
            <a:off x="4579693" y="14451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grpSp>
        <p:nvGrpSpPr>
          <p:cNvPr id="1088" name="Google Shape;1088;p79"/>
          <p:cNvGrpSpPr/>
          <p:nvPr/>
        </p:nvGrpSpPr>
        <p:grpSpPr>
          <a:xfrm>
            <a:off x="2733782" y="1879625"/>
            <a:ext cx="1601215" cy="369606"/>
            <a:chOff x="2733782" y="1879625"/>
            <a:chExt cx="1601215" cy="369606"/>
          </a:xfrm>
        </p:grpSpPr>
        <p:sp>
          <p:nvSpPr>
            <p:cNvPr id="1089" name="Google Shape;1089;p79"/>
            <p:cNvSpPr/>
            <p:nvPr/>
          </p:nvSpPr>
          <p:spPr>
            <a:xfrm>
              <a:off x="2733782" y="1879631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79"/>
            <p:cNvSpPr/>
            <p:nvPr/>
          </p:nvSpPr>
          <p:spPr>
            <a:xfrm>
              <a:off x="3425011" y="18796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79"/>
            <p:cNvSpPr/>
            <p:nvPr/>
          </p:nvSpPr>
          <p:spPr>
            <a:xfrm>
              <a:off x="4011597" y="18796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2" name="Google Shape;1092;p79"/>
          <p:cNvGrpSpPr/>
          <p:nvPr/>
        </p:nvGrpSpPr>
        <p:grpSpPr>
          <a:xfrm>
            <a:off x="670304" y="2336825"/>
            <a:ext cx="1603665" cy="369606"/>
            <a:chOff x="670304" y="2336825"/>
            <a:chExt cx="1603665" cy="369606"/>
          </a:xfrm>
        </p:grpSpPr>
        <p:sp>
          <p:nvSpPr>
            <p:cNvPr id="1093" name="Google Shape;1093;p79"/>
            <p:cNvSpPr/>
            <p:nvPr/>
          </p:nvSpPr>
          <p:spPr>
            <a:xfrm>
              <a:off x="1872569" y="2336831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79"/>
            <p:cNvSpPr/>
            <p:nvPr/>
          </p:nvSpPr>
          <p:spPr>
            <a:xfrm>
              <a:off x="670304" y="23368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79"/>
            <p:cNvSpPr/>
            <p:nvPr/>
          </p:nvSpPr>
          <p:spPr>
            <a:xfrm>
              <a:off x="1256891" y="23368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6" name="Google Shape;1096;p79"/>
          <p:cNvGrpSpPr/>
          <p:nvPr/>
        </p:nvGrpSpPr>
        <p:grpSpPr>
          <a:xfrm>
            <a:off x="4910136" y="2336813"/>
            <a:ext cx="1323308" cy="369600"/>
            <a:chOff x="4910136" y="2336813"/>
            <a:chExt cx="1323308" cy="369600"/>
          </a:xfrm>
        </p:grpSpPr>
        <p:sp>
          <p:nvSpPr>
            <p:cNvPr id="1097" name="Google Shape;1097;p79"/>
            <p:cNvSpPr/>
            <p:nvPr/>
          </p:nvSpPr>
          <p:spPr>
            <a:xfrm>
              <a:off x="4910136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79"/>
            <p:cNvSpPr/>
            <p:nvPr/>
          </p:nvSpPr>
          <p:spPr>
            <a:xfrm>
              <a:off x="5397257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79"/>
            <p:cNvSpPr/>
            <p:nvPr/>
          </p:nvSpPr>
          <p:spPr>
            <a:xfrm>
              <a:off x="5983844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0" name="Google Shape;1100;p79"/>
          <p:cNvGrpSpPr/>
          <p:nvPr/>
        </p:nvGrpSpPr>
        <p:grpSpPr>
          <a:xfrm>
            <a:off x="5009349" y="1879613"/>
            <a:ext cx="1254268" cy="369600"/>
            <a:chOff x="5009349" y="1879613"/>
            <a:chExt cx="1254268" cy="369600"/>
          </a:xfrm>
        </p:grpSpPr>
        <p:sp>
          <p:nvSpPr>
            <p:cNvPr id="1101" name="Google Shape;1101;p79"/>
            <p:cNvSpPr/>
            <p:nvPr/>
          </p:nvSpPr>
          <p:spPr>
            <a:xfrm>
              <a:off x="5009349" y="18796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79"/>
            <p:cNvSpPr/>
            <p:nvPr/>
          </p:nvSpPr>
          <p:spPr>
            <a:xfrm>
              <a:off x="5473457" y="18796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79"/>
            <p:cNvSpPr/>
            <p:nvPr/>
          </p:nvSpPr>
          <p:spPr>
            <a:xfrm>
              <a:off x="6014017" y="18796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4" name="Google Shape;1104;p79"/>
          <p:cNvGrpSpPr/>
          <p:nvPr/>
        </p:nvGrpSpPr>
        <p:grpSpPr>
          <a:xfrm>
            <a:off x="7013562" y="2336813"/>
            <a:ext cx="1334815" cy="369600"/>
            <a:chOff x="7013562" y="2336813"/>
            <a:chExt cx="1334815" cy="369600"/>
          </a:xfrm>
        </p:grpSpPr>
        <p:sp>
          <p:nvSpPr>
            <p:cNvPr id="1105" name="Google Shape;1105;p79"/>
            <p:cNvSpPr/>
            <p:nvPr/>
          </p:nvSpPr>
          <p:spPr>
            <a:xfrm>
              <a:off x="7013562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79"/>
            <p:cNvSpPr/>
            <p:nvPr/>
          </p:nvSpPr>
          <p:spPr>
            <a:xfrm>
              <a:off x="7546711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79"/>
            <p:cNvSpPr/>
            <p:nvPr/>
          </p:nvSpPr>
          <p:spPr>
            <a:xfrm>
              <a:off x="8098777" y="2336813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8" name="Google Shape;1108;p79"/>
          <p:cNvGrpSpPr/>
          <p:nvPr/>
        </p:nvGrpSpPr>
        <p:grpSpPr>
          <a:xfrm>
            <a:off x="5170675" y="3227875"/>
            <a:ext cx="3083705" cy="829235"/>
            <a:chOff x="5170675" y="3227875"/>
            <a:chExt cx="3083705" cy="829235"/>
          </a:xfrm>
        </p:grpSpPr>
        <p:sp>
          <p:nvSpPr>
            <p:cNvPr id="1109" name="Google Shape;1109;p79"/>
            <p:cNvSpPr txBox="1"/>
            <p:nvPr/>
          </p:nvSpPr>
          <p:spPr>
            <a:xfrm>
              <a:off x="5170675" y="3232225"/>
              <a:ext cx="12543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0" name="Google Shape;1110;p79"/>
            <p:cNvSpPr txBox="1"/>
            <p:nvPr/>
          </p:nvSpPr>
          <p:spPr>
            <a:xfrm>
              <a:off x="5170680" y="3643410"/>
              <a:ext cx="30837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19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1" name="Google Shape;1111;p79"/>
            <p:cNvSpPr txBox="1"/>
            <p:nvPr/>
          </p:nvSpPr>
          <p:spPr>
            <a:xfrm>
              <a:off x="6424976" y="3227875"/>
              <a:ext cx="18294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12" name="Google Shape;1112;p79"/>
          <p:cNvGrpSpPr/>
          <p:nvPr/>
        </p:nvGrpSpPr>
        <p:grpSpPr>
          <a:xfrm>
            <a:off x="716553" y="3250898"/>
            <a:ext cx="3083707" cy="829225"/>
            <a:chOff x="716553" y="3250898"/>
            <a:chExt cx="3083707" cy="829225"/>
          </a:xfrm>
        </p:grpSpPr>
        <p:sp>
          <p:nvSpPr>
            <p:cNvPr id="1113" name="Google Shape;1113;p79"/>
            <p:cNvSpPr txBox="1"/>
            <p:nvPr/>
          </p:nvSpPr>
          <p:spPr>
            <a:xfrm>
              <a:off x="716560" y="3666423"/>
              <a:ext cx="30837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4" name="Google Shape;1114;p79"/>
            <p:cNvSpPr txBox="1"/>
            <p:nvPr/>
          </p:nvSpPr>
          <p:spPr>
            <a:xfrm>
              <a:off x="2815638" y="3250898"/>
              <a:ext cx="9846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115" name="Google Shape;1115;p79"/>
            <p:cNvGrpSpPr/>
            <p:nvPr/>
          </p:nvGrpSpPr>
          <p:grpSpPr>
            <a:xfrm>
              <a:off x="716560" y="3250898"/>
              <a:ext cx="3083700" cy="829225"/>
              <a:chOff x="4526560" y="3784298"/>
              <a:chExt cx="3083700" cy="829225"/>
            </a:xfrm>
          </p:grpSpPr>
          <p:sp>
            <p:nvSpPr>
              <p:cNvPr id="1116" name="Google Shape;1116;p79"/>
              <p:cNvSpPr txBox="1"/>
              <p:nvPr/>
            </p:nvSpPr>
            <p:spPr>
              <a:xfrm>
                <a:off x="4526560" y="4199823"/>
                <a:ext cx="3083700" cy="4137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5.36</a:t>
                </a:r>
                <a:endParaRPr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7" name="Google Shape;1117;p79"/>
              <p:cNvSpPr txBox="1"/>
              <p:nvPr/>
            </p:nvSpPr>
            <p:spPr>
              <a:xfrm>
                <a:off x="6625638" y="3784298"/>
                <a:ext cx="984600" cy="4137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1.9</a:t>
                </a:r>
                <a:endParaRPr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18" name="Google Shape;1118;p79"/>
            <p:cNvGrpSpPr/>
            <p:nvPr/>
          </p:nvGrpSpPr>
          <p:grpSpPr>
            <a:xfrm>
              <a:off x="716553" y="3250900"/>
              <a:ext cx="3083707" cy="829223"/>
              <a:chOff x="4526553" y="3784300"/>
              <a:chExt cx="3083707" cy="829223"/>
            </a:xfrm>
          </p:grpSpPr>
          <p:sp>
            <p:nvSpPr>
              <p:cNvPr id="1119" name="Google Shape;1119;p79"/>
              <p:cNvSpPr txBox="1"/>
              <p:nvPr/>
            </p:nvSpPr>
            <p:spPr>
              <a:xfrm>
                <a:off x="4526553" y="3788650"/>
                <a:ext cx="1426800" cy="4137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58</a:t>
                </a:r>
                <a:endParaRPr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0" name="Google Shape;1120;p79"/>
              <p:cNvSpPr txBox="1"/>
              <p:nvPr/>
            </p:nvSpPr>
            <p:spPr>
              <a:xfrm>
                <a:off x="4526560" y="4199823"/>
                <a:ext cx="3083700" cy="4137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134</a:t>
                </a:r>
                <a:endParaRPr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1" name="Google Shape;1121;p79"/>
              <p:cNvSpPr txBox="1"/>
              <p:nvPr/>
            </p:nvSpPr>
            <p:spPr>
              <a:xfrm>
                <a:off x="5939858" y="3784300"/>
                <a:ext cx="1670400" cy="4137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76</a:t>
                </a:r>
                <a:endParaRPr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122" name="Google Shape;1122;p79"/>
          <p:cNvSpPr txBox="1"/>
          <p:nvPr>
            <p:ph idx="4294967295" type="body"/>
          </p:nvPr>
        </p:nvSpPr>
        <p:spPr>
          <a:xfrm>
            <a:off x="2713058" y="23293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134 − 58 = 76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23" name="Google Shape;1123;p79"/>
          <p:cNvGrpSpPr/>
          <p:nvPr/>
        </p:nvGrpSpPr>
        <p:grpSpPr>
          <a:xfrm>
            <a:off x="2733782" y="2336825"/>
            <a:ext cx="1601215" cy="369606"/>
            <a:chOff x="2733782" y="2336825"/>
            <a:chExt cx="1601215" cy="369606"/>
          </a:xfrm>
        </p:grpSpPr>
        <p:sp>
          <p:nvSpPr>
            <p:cNvPr id="1124" name="Google Shape;1124;p79"/>
            <p:cNvSpPr/>
            <p:nvPr/>
          </p:nvSpPr>
          <p:spPr>
            <a:xfrm>
              <a:off x="2733782" y="2336831"/>
              <a:ext cx="401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79"/>
            <p:cNvSpPr/>
            <p:nvPr/>
          </p:nvSpPr>
          <p:spPr>
            <a:xfrm>
              <a:off x="3425011" y="23368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79"/>
            <p:cNvSpPr/>
            <p:nvPr/>
          </p:nvSpPr>
          <p:spPr>
            <a:xfrm>
              <a:off x="4011597" y="23368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0"/>
          <p:cNvSpPr txBox="1"/>
          <p:nvPr>
            <p:ph idx="1" type="body"/>
          </p:nvPr>
        </p:nvSpPr>
        <p:spPr>
          <a:xfrm>
            <a:off x="324000" y="759300"/>
            <a:ext cx="82377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Write the family of rearrangements for the below equations. Draw a bar model to support if needed.</a:t>
            </a:r>
            <a:endParaRPr/>
          </a:p>
        </p:txBody>
      </p:sp>
      <p:sp>
        <p:nvSpPr>
          <p:cNvPr id="1132" name="Google Shape;1132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133" name="Google Shape;1133;p80"/>
          <p:cNvSpPr/>
          <p:nvPr/>
        </p:nvSpPr>
        <p:spPr>
          <a:xfrm>
            <a:off x="569775" y="3405618"/>
            <a:ext cx="3902700" cy="97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0"/>
          <p:cNvSpPr txBox="1"/>
          <p:nvPr>
            <p:ph idx="4294967295" type="body"/>
          </p:nvPr>
        </p:nvSpPr>
        <p:spPr>
          <a:xfrm>
            <a:off x="705000" y="34723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5" name="Google Shape;1135;p80"/>
          <p:cNvSpPr txBox="1"/>
          <p:nvPr>
            <p:ph idx="4294967295" type="body"/>
          </p:nvPr>
        </p:nvSpPr>
        <p:spPr>
          <a:xfrm>
            <a:off x="705000" y="39295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6" name="Google Shape;1136;p80"/>
          <p:cNvSpPr txBox="1"/>
          <p:nvPr>
            <p:ph idx="4294967295" type="body"/>
          </p:nvPr>
        </p:nvSpPr>
        <p:spPr>
          <a:xfrm>
            <a:off x="2713058" y="34723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− 3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80"/>
          <p:cNvSpPr txBox="1"/>
          <p:nvPr>
            <p:ph idx="4294967295" type="body"/>
          </p:nvPr>
        </p:nvSpPr>
        <p:spPr>
          <a:xfrm>
            <a:off x="2713058" y="39295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8" name="Google Shape;1138;p80"/>
          <p:cNvSpPr/>
          <p:nvPr/>
        </p:nvSpPr>
        <p:spPr>
          <a:xfrm>
            <a:off x="4836975" y="3405618"/>
            <a:ext cx="3902700" cy="97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0"/>
          <p:cNvSpPr txBox="1"/>
          <p:nvPr>
            <p:ph idx="4294967295" type="body"/>
          </p:nvPr>
        </p:nvSpPr>
        <p:spPr>
          <a:xfrm>
            <a:off x="4972200" y="34723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80"/>
          <p:cNvSpPr txBox="1"/>
          <p:nvPr>
            <p:ph idx="4294967295" type="body"/>
          </p:nvPr>
        </p:nvSpPr>
        <p:spPr>
          <a:xfrm>
            <a:off x="4972200" y="39295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80"/>
          <p:cNvSpPr txBox="1"/>
          <p:nvPr>
            <p:ph idx="4294967295" type="body"/>
          </p:nvPr>
        </p:nvSpPr>
        <p:spPr>
          <a:xfrm>
            <a:off x="6980258" y="3472333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2" name="Google Shape;1142;p80"/>
          <p:cNvSpPr txBox="1"/>
          <p:nvPr>
            <p:ph idx="4294967295" type="body"/>
          </p:nvPr>
        </p:nvSpPr>
        <p:spPr>
          <a:xfrm>
            <a:off x="6980258" y="3929532"/>
            <a:ext cx="1670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100 − 5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80"/>
          <p:cNvSpPr txBox="1"/>
          <p:nvPr>
            <p:ph idx="1" type="body"/>
          </p:nvPr>
        </p:nvSpPr>
        <p:spPr>
          <a:xfrm>
            <a:off x="324000" y="30453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144" name="Google Shape;1144;p80"/>
          <p:cNvSpPr txBox="1"/>
          <p:nvPr>
            <p:ph idx="1" type="body"/>
          </p:nvPr>
        </p:nvSpPr>
        <p:spPr>
          <a:xfrm>
            <a:off x="4579693" y="30453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grpSp>
        <p:nvGrpSpPr>
          <p:cNvPr id="1145" name="Google Shape;1145;p80"/>
          <p:cNvGrpSpPr/>
          <p:nvPr/>
        </p:nvGrpSpPr>
        <p:grpSpPr>
          <a:xfrm>
            <a:off x="635776" y="3914000"/>
            <a:ext cx="1147895" cy="369600"/>
            <a:chOff x="635776" y="3914000"/>
            <a:chExt cx="1147895" cy="369600"/>
          </a:xfrm>
        </p:grpSpPr>
        <p:sp>
          <p:nvSpPr>
            <p:cNvPr id="1146" name="Google Shape;1146;p80"/>
            <p:cNvSpPr/>
            <p:nvPr/>
          </p:nvSpPr>
          <p:spPr>
            <a:xfrm>
              <a:off x="635776" y="39140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80"/>
            <p:cNvSpPr/>
            <p:nvPr/>
          </p:nvSpPr>
          <p:spPr>
            <a:xfrm>
              <a:off x="1088377" y="39140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8" name="Google Shape;1148;p80"/>
            <p:cNvSpPr/>
            <p:nvPr/>
          </p:nvSpPr>
          <p:spPr>
            <a:xfrm>
              <a:off x="1534071" y="39140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80"/>
          <p:cNvGrpSpPr/>
          <p:nvPr/>
        </p:nvGrpSpPr>
        <p:grpSpPr>
          <a:xfrm>
            <a:off x="635776" y="3456800"/>
            <a:ext cx="1147895" cy="369600"/>
            <a:chOff x="635776" y="3456800"/>
            <a:chExt cx="1147895" cy="369600"/>
          </a:xfrm>
        </p:grpSpPr>
        <p:sp>
          <p:nvSpPr>
            <p:cNvPr id="1150" name="Google Shape;1150;p80"/>
            <p:cNvSpPr/>
            <p:nvPr/>
          </p:nvSpPr>
          <p:spPr>
            <a:xfrm>
              <a:off x="635776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1" name="Google Shape;1151;p80"/>
            <p:cNvSpPr/>
            <p:nvPr/>
          </p:nvSpPr>
          <p:spPr>
            <a:xfrm>
              <a:off x="1088377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80"/>
            <p:cNvSpPr/>
            <p:nvPr/>
          </p:nvSpPr>
          <p:spPr>
            <a:xfrm>
              <a:off x="1534071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80"/>
          <p:cNvGrpSpPr/>
          <p:nvPr/>
        </p:nvGrpSpPr>
        <p:grpSpPr>
          <a:xfrm>
            <a:off x="2624136" y="3456800"/>
            <a:ext cx="1147895" cy="369600"/>
            <a:chOff x="2624136" y="3456800"/>
            <a:chExt cx="1147895" cy="369600"/>
          </a:xfrm>
        </p:grpSpPr>
        <p:sp>
          <p:nvSpPr>
            <p:cNvPr id="1154" name="Google Shape;1154;p80"/>
            <p:cNvSpPr/>
            <p:nvPr/>
          </p:nvSpPr>
          <p:spPr>
            <a:xfrm>
              <a:off x="2624136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80"/>
            <p:cNvSpPr/>
            <p:nvPr/>
          </p:nvSpPr>
          <p:spPr>
            <a:xfrm>
              <a:off x="3076737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80"/>
            <p:cNvSpPr/>
            <p:nvPr/>
          </p:nvSpPr>
          <p:spPr>
            <a:xfrm>
              <a:off x="3522430" y="3456800"/>
              <a:ext cx="2496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80"/>
          <p:cNvGrpSpPr/>
          <p:nvPr/>
        </p:nvGrpSpPr>
        <p:grpSpPr>
          <a:xfrm>
            <a:off x="4929508" y="3468323"/>
            <a:ext cx="1676980" cy="369602"/>
            <a:chOff x="4929508" y="3468323"/>
            <a:chExt cx="1676980" cy="369602"/>
          </a:xfrm>
        </p:grpSpPr>
        <p:sp>
          <p:nvSpPr>
            <p:cNvPr id="1158" name="Google Shape;1158;p80"/>
            <p:cNvSpPr/>
            <p:nvPr/>
          </p:nvSpPr>
          <p:spPr>
            <a:xfrm>
              <a:off x="4929508" y="34683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9" name="Google Shape;1159;p80"/>
            <p:cNvSpPr/>
            <p:nvPr/>
          </p:nvSpPr>
          <p:spPr>
            <a:xfrm>
              <a:off x="6190388" y="34683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0" name="Google Shape;1160;p80"/>
            <p:cNvSpPr/>
            <p:nvPr/>
          </p:nvSpPr>
          <p:spPr>
            <a:xfrm>
              <a:off x="5603800" y="34683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1" name="Google Shape;1161;p80"/>
          <p:cNvGrpSpPr/>
          <p:nvPr/>
        </p:nvGrpSpPr>
        <p:grpSpPr>
          <a:xfrm>
            <a:off x="4929507" y="3925523"/>
            <a:ext cx="1658315" cy="369602"/>
            <a:chOff x="4929507" y="3925523"/>
            <a:chExt cx="1658315" cy="369602"/>
          </a:xfrm>
        </p:grpSpPr>
        <p:sp>
          <p:nvSpPr>
            <p:cNvPr id="1162" name="Google Shape;1162;p80"/>
            <p:cNvSpPr/>
            <p:nvPr/>
          </p:nvSpPr>
          <p:spPr>
            <a:xfrm>
              <a:off x="6171722" y="39255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80"/>
            <p:cNvSpPr/>
            <p:nvPr/>
          </p:nvSpPr>
          <p:spPr>
            <a:xfrm>
              <a:off x="5516095" y="39255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0"/>
            <p:cNvSpPr/>
            <p:nvPr/>
          </p:nvSpPr>
          <p:spPr>
            <a:xfrm>
              <a:off x="4929507" y="39255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80"/>
          <p:cNvGrpSpPr/>
          <p:nvPr/>
        </p:nvGrpSpPr>
        <p:grpSpPr>
          <a:xfrm>
            <a:off x="6994068" y="3925523"/>
            <a:ext cx="1664825" cy="369602"/>
            <a:chOff x="6994068" y="3925523"/>
            <a:chExt cx="1664825" cy="369602"/>
          </a:xfrm>
        </p:grpSpPr>
        <p:sp>
          <p:nvSpPr>
            <p:cNvPr id="1166" name="Google Shape;1166;p80"/>
            <p:cNvSpPr/>
            <p:nvPr/>
          </p:nvSpPr>
          <p:spPr>
            <a:xfrm>
              <a:off x="7661202" y="39255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80"/>
            <p:cNvSpPr/>
            <p:nvPr/>
          </p:nvSpPr>
          <p:spPr>
            <a:xfrm>
              <a:off x="6994068" y="3925523"/>
              <a:ext cx="4161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8" name="Google Shape;1168;p80"/>
            <p:cNvSpPr/>
            <p:nvPr/>
          </p:nvSpPr>
          <p:spPr>
            <a:xfrm>
              <a:off x="8335494" y="3925525"/>
              <a:ext cx="323400" cy="3696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80"/>
          <p:cNvGrpSpPr/>
          <p:nvPr/>
        </p:nvGrpSpPr>
        <p:grpSpPr>
          <a:xfrm>
            <a:off x="861795" y="1856275"/>
            <a:ext cx="3083705" cy="829235"/>
            <a:chOff x="5170675" y="3227875"/>
            <a:chExt cx="3083705" cy="829235"/>
          </a:xfrm>
        </p:grpSpPr>
        <p:sp>
          <p:nvSpPr>
            <p:cNvPr id="1170" name="Google Shape;1170;p80"/>
            <p:cNvSpPr txBox="1"/>
            <p:nvPr/>
          </p:nvSpPr>
          <p:spPr>
            <a:xfrm>
              <a:off x="5170675" y="3232225"/>
              <a:ext cx="12543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1" name="Google Shape;1171;p80"/>
            <p:cNvSpPr txBox="1"/>
            <p:nvPr/>
          </p:nvSpPr>
          <p:spPr>
            <a:xfrm>
              <a:off x="5170680" y="3643410"/>
              <a:ext cx="30837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2" name="Google Shape;1172;p80"/>
            <p:cNvSpPr txBox="1"/>
            <p:nvPr/>
          </p:nvSpPr>
          <p:spPr>
            <a:xfrm>
              <a:off x="6424976" y="3227875"/>
              <a:ext cx="18294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73" name="Google Shape;1173;p80"/>
          <p:cNvGrpSpPr/>
          <p:nvPr/>
        </p:nvGrpSpPr>
        <p:grpSpPr>
          <a:xfrm>
            <a:off x="5205195" y="1856275"/>
            <a:ext cx="3083705" cy="829235"/>
            <a:chOff x="5170675" y="3227875"/>
            <a:chExt cx="3083705" cy="829235"/>
          </a:xfrm>
        </p:grpSpPr>
        <p:sp>
          <p:nvSpPr>
            <p:cNvPr id="1174" name="Google Shape;1174;p80"/>
            <p:cNvSpPr txBox="1"/>
            <p:nvPr/>
          </p:nvSpPr>
          <p:spPr>
            <a:xfrm>
              <a:off x="5170675" y="3232225"/>
              <a:ext cx="12543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i="1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aseline="30000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aseline="30000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5" name="Google Shape;1175;p80"/>
            <p:cNvSpPr txBox="1"/>
            <p:nvPr/>
          </p:nvSpPr>
          <p:spPr>
            <a:xfrm>
              <a:off x="5170680" y="3643410"/>
              <a:ext cx="30837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6" name="Google Shape;1176;p80"/>
            <p:cNvSpPr txBox="1"/>
            <p:nvPr/>
          </p:nvSpPr>
          <p:spPr>
            <a:xfrm>
              <a:off x="6424976" y="3227875"/>
              <a:ext cx="18294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i="1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Lucas is rearranging equations.</a:t>
            </a:r>
            <a:endParaRPr/>
          </a:p>
        </p:txBody>
      </p:sp>
      <p:sp>
        <p:nvSpPr>
          <p:cNvPr id="1182" name="Google Shape;1182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183" name="Google Shape;1183;p81"/>
          <p:cNvSpPr txBox="1"/>
          <p:nvPr>
            <p:ph idx="1" type="body"/>
          </p:nvPr>
        </p:nvSpPr>
        <p:spPr>
          <a:xfrm>
            <a:off x="324000" y="11287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pic>
        <p:nvPicPr>
          <p:cNvPr id="1184" name="Google Shape;118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614" y="2734754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8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698077" y="1189453"/>
            <a:ext cx="3177452" cy="9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81"/>
          <p:cNvSpPr txBox="1"/>
          <p:nvPr/>
        </p:nvSpPr>
        <p:spPr>
          <a:xfrm flipH="1">
            <a:off x="905250" y="1258480"/>
            <a:ext cx="279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7" name="Google Shape;1187;p81"/>
          <p:cNvSpPr txBox="1"/>
          <p:nvPr>
            <p:ph idx="1" type="body"/>
          </p:nvPr>
        </p:nvSpPr>
        <p:spPr>
          <a:xfrm>
            <a:off x="4320534" y="3777125"/>
            <a:ext cx="4243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each case decide if Lucas is correct and write a sentence to justify your decision.</a:t>
            </a:r>
            <a:endParaRPr sz="2000"/>
          </a:p>
        </p:txBody>
      </p:sp>
      <p:sp>
        <p:nvSpPr>
          <p:cNvPr id="1188" name="Google Shape;1188;p81"/>
          <p:cNvSpPr txBox="1"/>
          <p:nvPr/>
        </p:nvSpPr>
        <p:spPr>
          <a:xfrm flipH="1">
            <a:off x="4170297" y="1258475"/>
            <a:ext cx="1451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9" name="Google Shape;1189;p81"/>
          <p:cNvSpPr txBox="1"/>
          <p:nvPr/>
        </p:nvSpPr>
        <p:spPr>
          <a:xfrm flipH="1">
            <a:off x="5735980" y="1281488"/>
            <a:ext cx="3086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True. This is an example of the commutativity of addition.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90" name="Google Shape;1190;p8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427537" y="2012632"/>
            <a:ext cx="3511199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1"/>
          <p:cNvSpPr txBox="1"/>
          <p:nvPr/>
        </p:nvSpPr>
        <p:spPr>
          <a:xfrm flipH="1">
            <a:off x="4726500" y="2055000"/>
            <a:ext cx="3327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see a lot of it as ‘swapping positions’ in the equation.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6" name="Google Shape;1196;p8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7" y="2417338"/>
            <a:ext cx="3241902" cy="9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82"/>
          <p:cNvSpPr txBox="1"/>
          <p:nvPr>
            <p:ph idx="1" type="body"/>
          </p:nvPr>
        </p:nvSpPr>
        <p:spPr>
          <a:xfrm>
            <a:off x="324000" y="759300"/>
            <a:ext cx="5167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Lucas is rearranging equations.</a:t>
            </a:r>
            <a:endParaRPr/>
          </a:p>
        </p:txBody>
      </p:sp>
      <p:sp>
        <p:nvSpPr>
          <p:cNvPr id="1198" name="Google Shape;1198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199" name="Google Shape;1199;p82"/>
          <p:cNvSpPr txBox="1"/>
          <p:nvPr>
            <p:ph idx="1" type="body"/>
          </p:nvPr>
        </p:nvSpPr>
        <p:spPr>
          <a:xfrm>
            <a:off x="312493" y="2359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00" name="Google Shape;1200;p82"/>
          <p:cNvSpPr txBox="1"/>
          <p:nvPr/>
        </p:nvSpPr>
        <p:spPr>
          <a:xfrm flipH="1">
            <a:off x="905100" y="2440347"/>
            <a:ext cx="3086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49 =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1" name="Google Shape;1201;p82"/>
          <p:cNvSpPr txBox="1"/>
          <p:nvPr/>
        </p:nvSpPr>
        <p:spPr>
          <a:xfrm flipH="1">
            <a:off x="4181700" y="2310963"/>
            <a:ext cx="1592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49 =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2" name="Google Shape;1202;p82"/>
          <p:cNvSpPr txBox="1"/>
          <p:nvPr/>
        </p:nvSpPr>
        <p:spPr>
          <a:xfrm flipH="1">
            <a:off x="5735975" y="2371318"/>
            <a:ext cx="30861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True.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can swap positions because we can think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as the sum.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03" name="Google Shape;1203;p82"/>
          <p:cNvGrpSpPr/>
          <p:nvPr/>
        </p:nvGrpSpPr>
        <p:grpSpPr>
          <a:xfrm>
            <a:off x="4706320" y="3403288"/>
            <a:ext cx="3083700" cy="829235"/>
            <a:chOff x="4706320" y="3532675"/>
            <a:chExt cx="3083700" cy="829235"/>
          </a:xfrm>
        </p:grpSpPr>
        <p:sp>
          <p:nvSpPr>
            <p:cNvPr id="1204" name="Google Shape;1204;p82"/>
            <p:cNvSpPr txBox="1"/>
            <p:nvPr/>
          </p:nvSpPr>
          <p:spPr>
            <a:xfrm>
              <a:off x="4706330" y="3537025"/>
              <a:ext cx="19695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?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5" name="Google Shape;1205;p82"/>
            <p:cNvSpPr txBox="1"/>
            <p:nvPr/>
          </p:nvSpPr>
          <p:spPr>
            <a:xfrm>
              <a:off x="4706320" y="3948210"/>
              <a:ext cx="30837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73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6" name="Google Shape;1206;p82"/>
            <p:cNvSpPr txBox="1"/>
            <p:nvPr/>
          </p:nvSpPr>
          <p:spPr>
            <a:xfrm>
              <a:off x="6675747" y="3532675"/>
              <a:ext cx="11142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r>
                <a:rPr i="1"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07" name="Google Shape;1207;p82"/>
          <p:cNvSpPr txBox="1"/>
          <p:nvPr/>
        </p:nvSpPr>
        <p:spPr>
          <a:xfrm>
            <a:off x="4706330" y="3407638"/>
            <a:ext cx="19695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8" name="Google Shape;1208;p82"/>
          <p:cNvSpPr txBox="1"/>
          <p:nvPr/>
        </p:nvSpPr>
        <p:spPr>
          <a:xfrm flipH="1">
            <a:off x="4319925" y="4276313"/>
            <a:ext cx="387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Subtract either addend from the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sum and you leave the other addend.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8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7" y="2417338"/>
            <a:ext cx="3241902" cy="9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83"/>
          <p:cNvSpPr txBox="1"/>
          <p:nvPr>
            <p:ph idx="1" type="body"/>
          </p:nvPr>
        </p:nvSpPr>
        <p:spPr>
          <a:xfrm>
            <a:off x="324000" y="759300"/>
            <a:ext cx="5167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Lucas is rearranging equations.</a:t>
            </a:r>
            <a:endParaRPr/>
          </a:p>
        </p:txBody>
      </p:sp>
      <p:sp>
        <p:nvSpPr>
          <p:cNvPr id="1215" name="Google Shape;1215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216" name="Google Shape;1216;p83"/>
          <p:cNvSpPr txBox="1"/>
          <p:nvPr>
            <p:ph idx="1" type="body"/>
          </p:nvPr>
        </p:nvSpPr>
        <p:spPr>
          <a:xfrm>
            <a:off x="312493" y="2359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17" name="Google Shape;1217;p83"/>
          <p:cNvSpPr txBox="1"/>
          <p:nvPr/>
        </p:nvSpPr>
        <p:spPr>
          <a:xfrm flipH="1">
            <a:off x="905100" y="2440347"/>
            <a:ext cx="3086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49 =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8" name="Google Shape;1218;p83"/>
          <p:cNvSpPr txBox="1"/>
          <p:nvPr/>
        </p:nvSpPr>
        <p:spPr>
          <a:xfrm flipH="1">
            <a:off x="4181700" y="2310963"/>
            <a:ext cx="1592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49 =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9" name="Google Shape;1219;p83"/>
          <p:cNvSpPr txBox="1"/>
          <p:nvPr/>
        </p:nvSpPr>
        <p:spPr>
          <a:xfrm flipH="1">
            <a:off x="5735975" y="2371318"/>
            <a:ext cx="30861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True.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can swap positions because we can think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as the sum.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83"/>
          <p:cNvSpPr txBox="1"/>
          <p:nvPr/>
        </p:nvSpPr>
        <p:spPr>
          <a:xfrm flipH="1">
            <a:off x="5767650" y="3449632"/>
            <a:ext cx="2736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It’s the same as our generalisation of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83"/>
          <p:cNvSpPr txBox="1"/>
          <p:nvPr>
            <p:ph idx="4294967295" type="body"/>
          </p:nvPr>
        </p:nvSpPr>
        <p:spPr>
          <a:xfrm>
            <a:off x="4256227" y="3407634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2" name="Google Shape;1222;p83"/>
          <p:cNvSpPr txBox="1"/>
          <p:nvPr>
            <p:ph idx="4294967295" type="body"/>
          </p:nvPr>
        </p:nvSpPr>
        <p:spPr>
          <a:xfrm>
            <a:off x="4260932" y="3800442"/>
            <a:ext cx="1360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3" name="Google Shape;1223;p83"/>
          <p:cNvSpPr txBox="1"/>
          <p:nvPr/>
        </p:nvSpPr>
        <p:spPr>
          <a:xfrm flipH="1">
            <a:off x="5022450" y="4234650"/>
            <a:ext cx="3177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Because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the sum,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can swap positions.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8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7" y="2417338"/>
            <a:ext cx="3241902" cy="9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84"/>
          <p:cNvSpPr txBox="1"/>
          <p:nvPr>
            <p:ph idx="1" type="body"/>
          </p:nvPr>
        </p:nvSpPr>
        <p:spPr>
          <a:xfrm>
            <a:off x="324000" y="759300"/>
            <a:ext cx="5167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Lucas is rearranging equations.</a:t>
            </a:r>
            <a:endParaRPr/>
          </a:p>
        </p:txBody>
      </p:sp>
      <p:sp>
        <p:nvSpPr>
          <p:cNvPr id="1230" name="Google Shape;1230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231" name="Google Shape;1231;p84"/>
          <p:cNvSpPr txBox="1"/>
          <p:nvPr>
            <p:ph idx="1" type="body"/>
          </p:nvPr>
        </p:nvSpPr>
        <p:spPr>
          <a:xfrm>
            <a:off x="312493" y="2359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232" name="Google Shape;1232;p84"/>
          <p:cNvSpPr txBox="1"/>
          <p:nvPr/>
        </p:nvSpPr>
        <p:spPr>
          <a:xfrm flipH="1">
            <a:off x="905100" y="2440347"/>
            <a:ext cx="3086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49 =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3" name="Google Shape;1233;p84"/>
          <p:cNvSpPr txBox="1"/>
          <p:nvPr/>
        </p:nvSpPr>
        <p:spPr>
          <a:xfrm flipH="1">
            <a:off x="4181700" y="2310963"/>
            <a:ext cx="1592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49 =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4" name="Google Shape;1234;p84"/>
          <p:cNvSpPr txBox="1"/>
          <p:nvPr/>
        </p:nvSpPr>
        <p:spPr>
          <a:xfrm flipH="1">
            <a:off x="5735975" y="2371318"/>
            <a:ext cx="30861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True.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can swap positions because we can think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as the sum.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5" name="Google Shape;1235;p84"/>
          <p:cNvSpPr txBox="1"/>
          <p:nvPr/>
        </p:nvSpPr>
        <p:spPr>
          <a:xfrm flipH="1">
            <a:off x="4320150" y="3449625"/>
            <a:ext cx="4184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Note the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efficiency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here. If we were asked to solve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the rearrangement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49 = 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leaves us very close a solution.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85"/>
          <p:cNvSpPr txBox="1"/>
          <p:nvPr>
            <p:ph idx="1" type="body"/>
          </p:nvPr>
        </p:nvSpPr>
        <p:spPr>
          <a:xfrm>
            <a:off x="324000" y="759300"/>
            <a:ext cx="5167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Lucas is rearranging equations.</a:t>
            </a:r>
            <a:endParaRPr/>
          </a:p>
        </p:txBody>
      </p:sp>
      <p:sp>
        <p:nvSpPr>
          <p:cNvPr id="1241" name="Google Shape;1241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242" name="Google Shape;1242;p85"/>
          <p:cNvSpPr txBox="1"/>
          <p:nvPr>
            <p:ph idx="1" type="body"/>
          </p:nvPr>
        </p:nvSpPr>
        <p:spPr>
          <a:xfrm>
            <a:off x="324000" y="3578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id="1243" name="Google Shape;1243;p8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698077" y="3666711"/>
            <a:ext cx="3241902" cy="9844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85"/>
          <p:cNvSpPr txBox="1"/>
          <p:nvPr/>
        </p:nvSpPr>
        <p:spPr>
          <a:xfrm flipH="1">
            <a:off x="905100" y="3689720"/>
            <a:ext cx="3086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2 =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=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5" name="Google Shape;1245;p85"/>
          <p:cNvSpPr txBox="1"/>
          <p:nvPr/>
        </p:nvSpPr>
        <p:spPr>
          <a:xfrm flipH="1">
            <a:off x="5735975" y="3438125"/>
            <a:ext cx="27924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Not 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rue.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can not swap positions.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6" name="Google Shape;1246;p85"/>
          <p:cNvSpPr txBox="1"/>
          <p:nvPr/>
        </p:nvSpPr>
        <p:spPr>
          <a:xfrm flipH="1">
            <a:off x="4181800" y="3384925"/>
            <a:ext cx="1328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2 = 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= 3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47" name="Google Shape;1247;p85"/>
          <p:cNvGrpSpPr/>
          <p:nvPr/>
        </p:nvGrpSpPr>
        <p:grpSpPr>
          <a:xfrm>
            <a:off x="4835707" y="2336488"/>
            <a:ext cx="3083700" cy="829235"/>
            <a:chOff x="4706320" y="3532675"/>
            <a:chExt cx="3083700" cy="829235"/>
          </a:xfrm>
        </p:grpSpPr>
        <p:sp>
          <p:nvSpPr>
            <p:cNvPr id="1248" name="Google Shape;1248;p85"/>
            <p:cNvSpPr txBox="1"/>
            <p:nvPr/>
          </p:nvSpPr>
          <p:spPr>
            <a:xfrm>
              <a:off x="4706330" y="3537025"/>
              <a:ext cx="19695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3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?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9" name="Google Shape;1249;p85"/>
            <p:cNvSpPr txBox="1"/>
            <p:nvPr/>
          </p:nvSpPr>
          <p:spPr>
            <a:xfrm>
              <a:off x="4706320" y="3948210"/>
              <a:ext cx="30837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0" name="Google Shape;1250;p85"/>
            <p:cNvSpPr txBox="1"/>
            <p:nvPr/>
          </p:nvSpPr>
          <p:spPr>
            <a:xfrm>
              <a:off x="6675747" y="3532675"/>
              <a:ext cx="1114200" cy="4137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51" name="Google Shape;1251;p85"/>
          <p:cNvSpPr txBox="1"/>
          <p:nvPr/>
        </p:nvSpPr>
        <p:spPr>
          <a:xfrm>
            <a:off x="4835717" y="2340838"/>
            <a:ext cx="1969500" cy="413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2" name="Google Shape;1252;p85"/>
          <p:cNvSpPr txBox="1"/>
          <p:nvPr/>
        </p:nvSpPr>
        <p:spPr>
          <a:xfrm flipH="1">
            <a:off x="4835675" y="4215975"/>
            <a:ext cx="36927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the sum so only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can swap positions.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Rearranging additive relationships</a:t>
            </a:r>
            <a:endParaRPr/>
          </a:p>
        </p:txBody>
      </p:sp>
      <p:sp>
        <p:nvSpPr>
          <p:cNvPr id="1258" name="Google Shape;1258;p8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259" name="Google Shape;1259;p8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relationships</a:t>
            </a:r>
            <a:endParaRPr/>
          </a:p>
        </p:txBody>
      </p:sp>
      <p:pic>
        <p:nvPicPr>
          <p:cNvPr id="1260" name="Google Shape;126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87"/>
          <p:cNvSpPr txBox="1"/>
          <p:nvPr>
            <p:ph idx="1" type="body"/>
          </p:nvPr>
        </p:nvSpPr>
        <p:spPr>
          <a:xfrm>
            <a:off x="324000" y="759300"/>
            <a:ext cx="56856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Does this equation have a fact f</a:t>
            </a:r>
            <a:r>
              <a:rPr lang="en-GB"/>
              <a:t>amily</a:t>
            </a:r>
            <a:r>
              <a:rPr lang="en-GB"/>
              <a:t>?</a:t>
            </a:r>
            <a:endParaRPr/>
          </a:p>
        </p:txBody>
      </p:sp>
      <p:sp>
        <p:nvSpPr>
          <p:cNvPr id="1266" name="Google Shape;126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267" name="Google Shape;1267;p87"/>
          <p:cNvSpPr txBox="1"/>
          <p:nvPr>
            <p:ph idx="1" type="body"/>
          </p:nvPr>
        </p:nvSpPr>
        <p:spPr>
          <a:xfrm>
            <a:off x="324000" y="1327225"/>
            <a:ext cx="2563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+ 3 + 1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8"/>
          <p:cNvSpPr txBox="1"/>
          <p:nvPr>
            <p:ph idx="1" type="body"/>
          </p:nvPr>
        </p:nvSpPr>
        <p:spPr>
          <a:xfrm>
            <a:off x="324000" y="759300"/>
            <a:ext cx="56856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Does this equation have a fact family?</a:t>
            </a:r>
            <a:endParaRPr/>
          </a:p>
        </p:txBody>
      </p:sp>
      <p:sp>
        <p:nvSpPr>
          <p:cNvPr id="1273" name="Google Shape;127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274" name="Google Shape;1274;p88"/>
          <p:cNvSpPr txBox="1"/>
          <p:nvPr>
            <p:ph idx="1" type="body"/>
          </p:nvPr>
        </p:nvSpPr>
        <p:spPr>
          <a:xfrm>
            <a:off x="324000" y="1327225"/>
            <a:ext cx="2563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+ 3 + 1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5" name="Google Shape;1275;p88"/>
          <p:cNvSpPr txBox="1"/>
          <p:nvPr>
            <p:ph idx="1" type="body"/>
          </p:nvPr>
        </p:nvSpPr>
        <p:spPr>
          <a:xfrm>
            <a:off x="324000" y="4493100"/>
            <a:ext cx="56856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Yes. But, it’s a significantly larger family!</a:t>
            </a:r>
            <a:endParaRPr/>
          </a:p>
        </p:txBody>
      </p:sp>
      <p:sp>
        <p:nvSpPr>
          <p:cNvPr id="1276" name="Google Shape;1276;p88"/>
          <p:cNvSpPr txBox="1"/>
          <p:nvPr>
            <p:ph idx="1" type="body"/>
          </p:nvPr>
        </p:nvSpPr>
        <p:spPr>
          <a:xfrm>
            <a:off x="3360493" y="1327225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+ 3 = 10 − 1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7" name="Google Shape;1277;p88"/>
          <p:cNvSpPr txBox="1"/>
          <p:nvPr>
            <p:ph idx="1" type="body"/>
          </p:nvPr>
        </p:nvSpPr>
        <p:spPr>
          <a:xfrm>
            <a:off x="3360493" y="1872132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+ 1 = 10 − 3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8" name="Google Shape;1278;p88"/>
          <p:cNvSpPr txBox="1"/>
          <p:nvPr>
            <p:ph idx="1" type="body"/>
          </p:nvPr>
        </p:nvSpPr>
        <p:spPr>
          <a:xfrm>
            <a:off x="3360493" y="2417038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 = 10 − 6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9" name="Google Shape;1279;p88"/>
          <p:cNvSpPr txBox="1"/>
          <p:nvPr>
            <p:ph idx="1" type="body"/>
          </p:nvPr>
        </p:nvSpPr>
        <p:spPr>
          <a:xfrm>
            <a:off x="6004480" y="1860625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= 10 − 3 − 1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0" name="Google Shape;1280;p88"/>
          <p:cNvSpPr txBox="1"/>
          <p:nvPr>
            <p:ph idx="1" type="body"/>
          </p:nvPr>
        </p:nvSpPr>
        <p:spPr>
          <a:xfrm>
            <a:off x="6004480" y="2405532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= 10 − 6 − 1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1" name="Google Shape;1281;p88"/>
          <p:cNvSpPr txBox="1"/>
          <p:nvPr>
            <p:ph idx="1" type="body"/>
          </p:nvPr>
        </p:nvSpPr>
        <p:spPr>
          <a:xfrm>
            <a:off x="6004480" y="2950438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= 10 − 1 − 6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2" name="Google Shape;1282;p88"/>
          <p:cNvSpPr txBox="1"/>
          <p:nvPr>
            <p:ph idx="1" type="body"/>
          </p:nvPr>
        </p:nvSpPr>
        <p:spPr>
          <a:xfrm>
            <a:off x="324000" y="18606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+ 1 + 3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3" name="Google Shape;1283;p88"/>
          <p:cNvSpPr txBox="1"/>
          <p:nvPr>
            <p:ph idx="1" type="body"/>
          </p:nvPr>
        </p:nvSpPr>
        <p:spPr>
          <a:xfrm>
            <a:off x="324000" y="23940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+ 1 + 6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4" name="Google Shape;1284;p88"/>
          <p:cNvSpPr txBox="1"/>
          <p:nvPr>
            <p:ph idx="1" type="body"/>
          </p:nvPr>
        </p:nvSpPr>
        <p:spPr>
          <a:xfrm>
            <a:off x="324000" y="2938932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+ 6 + 1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5" name="Google Shape;1285;p88"/>
          <p:cNvSpPr txBox="1"/>
          <p:nvPr>
            <p:ph idx="1" type="body"/>
          </p:nvPr>
        </p:nvSpPr>
        <p:spPr>
          <a:xfrm>
            <a:off x="324000" y="3472332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+ 6 + 3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88"/>
          <p:cNvSpPr txBox="1"/>
          <p:nvPr>
            <p:ph idx="1" type="body"/>
          </p:nvPr>
        </p:nvSpPr>
        <p:spPr>
          <a:xfrm>
            <a:off x="324000" y="3982718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+ 3 + 6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88"/>
          <p:cNvSpPr txBox="1"/>
          <p:nvPr>
            <p:ph idx="1" type="body"/>
          </p:nvPr>
        </p:nvSpPr>
        <p:spPr>
          <a:xfrm>
            <a:off x="3364840" y="2938932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 + 6 = 10 − 1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88"/>
          <p:cNvSpPr txBox="1"/>
          <p:nvPr>
            <p:ph idx="1" type="body"/>
          </p:nvPr>
        </p:nvSpPr>
        <p:spPr>
          <a:xfrm>
            <a:off x="3364840" y="3472332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+ 6 = 10 − 3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88"/>
          <p:cNvSpPr txBox="1"/>
          <p:nvPr>
            <p:ph idx="1" type="body"/>
          </p:nvPr>
        </p:nvSpPr>
        <p:spPr>
          <a:xfrm>
            <a:off x="3364840" y="3982718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+ 3 = 10 − 6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0" name="Google Shape;1290;p88"/>
          <p:cNvSpPr txBox="1"/>
          <p:nvPr>
            <p:ph idx="1" type="body"/>
          </p:nvPr>
        </p:nvSpPr>
        <p:spPr>
          <a:xfrm>
            <a:off x="6004480" y="3483838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= 10 − 3 − 6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88"/>
          <p:cNvSpPr txBox="1"/>
          <p:nvPr>
            <p:ph idx="1" type="body"/>
          </p:nvPr>
        </p:nvSpPr>
        <p:spPr>
          <a:xfrm>
            <a:off x="6004480" y="3994225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 = 10 − 6 − 3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88"/>
          <p:cNvSpPr txBox="1"/>
          <p:nvPr>
            <p:ph idx="1" type="body"/>
          </p:nvPr>
        </p:nvSpPr>
        <p:spPr>
          <a:xfrm>
            <a:off x="6027493" y="1327225"/>
            <a:ext cx="1876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 = 10 − 1 − 3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89"/>
          <p:cNvSpPr txBox="1"/>
          <p:nvPr>
            <p:ph idx="1" type="body"/>
          </p:nvPr>
        </p:nvSpPr>
        <p:spPr>
          <a:xfrm>
            <a:off x="324000" y="759300"/>
            <a:ext cx="6514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is a more efficient way to consider the </a:t>
            </a:r>
            <a:r>
              <a:rPr lang="en-GB"/>
              <a:t>rearrangement of multiple terms like this</a:t>
            </a:r>
            <a:r>
              <a:rPr lang="en-GB"/>
              <a:t>.</a:t>
            </a:r>
            <a:endParaRPr/>
          </a:p>
        </p:txBody>
      </p:sp>
      <p:sp>
        <p:nvSpPr>
          <p:cNvPr id="1298" name="Google Shape;129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299" name="Google Shape;1299;p89"/>
          <p:cNvSpPr txBox="1"/>
          <p:nvPr>
            <p:ph idx="1" type="body"/>
          </p:nvPr>
        </p:nvSpPr>
        <p:spPr>
          <a:xfrm>
            <a:off x="324000" y="17844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 + 1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0" name="Google Shape;1300;p89"/>
          <p:cNvSpPr txBox="1"/>
          <p:nvPr>
            <p:ph idx="1" type="body"/>
          </p:nvPr>
        </p:nvSpPr>
        <p:spPr>
          <a:xfrm>
            <a:off x="2881100" y="1772925"/>
            <a:ext cx="59388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</a:t>
            </a:r>
            <a:r>
              <a:rPr lang="en-GB" sz="2000"/>
              <a:t> we wanted to leave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2000"/>
              <a:t> on its own on the LHS.</a:t>
            </a:r>
            <a:endParaRPr sz="2000"/>
          </a:p>
        </p:txBody>
      </p:sp>
      <p:sp>
        <p:nvSpPr>
          <p:cNvPr id="1301" name="Google Shape;1301;p89"/>
          <p:cNvSpPr txBox="1"/>
          <p:nvPr>
            <p:ph idx="1" type="body"/>
          </p:nvPr>
        </p:nvSpPr>
        <p:spPr>
          <a:xfrm>
            <a:off x="324000" y="2424198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+ 2 = 10 − 1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89"/>
          <p:cNvSpPr txBox="1"/>
          <p:nvPr>
            <p:ph idx="1" type="body"/>
          </p:nvPr>
        </p:nvSpPr>
        <p:spPr>
          <a:xfrm>
            <a:off x="324000" y="3033798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= 10 − 1 − 2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89"/>
          <p:cNvSpPr txBox="1"/>
          <p:nvPr>
            <p:ph idx="1" type="body"/>
          </p:nvPr>
        </p:nvSpPr>
        <p:spPr>
          <a:xfrm>
            <a:off x="2880280" y="2435700"/>
            <a:ext cx="4500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Subtract the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 from both sides.</a:t>
            </a:r>
            <a:endParaRPr sz="2000"/>
          </a:p>
        </p:txBody>
      </p:sp>
      <p:sp>
        <p:nvSpPr>
          <p:cNvPr id="1304" name="Google Shape;1304;p89"/>
          <p:cNvSpPr txBox="1"/>
          <p:nvPr>
            <p:ph idx="1" type="body"/>
          </p:nvPr>
        </p:nvSpPr>
        <p:spPr>
          <a:xfrm>
            <a:off x="2880280" y="3033793"/>
            <a:ext cx="45000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Subtract the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/>
              <a:t> from both sides.</a:t>
            </a:r>
            <a:endParaRPr sz="2000"/>
          </a:p>
        </p:txBody>
      </p:sp>
      <p:pic>
        <p:nvPicPr>
          <p:cNvPr id="1305" name="Google Shape;130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954" y="3043516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0"/>
          <p:cNvSpPr txBox="1"/>
          <p:nvPr>
            <p:ph idx="1" type="body"/>
          </p:nvPr>
        </p:nvSpPr>
        <p:spPr>
          <a:xfrm>
            <a:off x="324000" y="759300"/>
            <a:ext cx="6514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is a more efficient way to consider the rearrangement of multiple terms like this.</a:t>
            </a:r>
            <a:endParaRPr/>
          </a:p>
        </p:txBody>
      </p:sp>
      <p:sp>
        <p:nvSpPr>
          <p:cNvPr id="1311" name="Google Shape;131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312" name="Google Shape;1312;p90"/>
          <p:cNvSpPr txBox="1"/>
          <p:nvPr>
            <p:ph idx="1" type="body"/>
          </p:nvPr>
        </p:nvSpPr>
        <p:spPr>
          <a:xfrm>
            <a:off x="324000" y="17844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+ 2 + 1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90"/>
          <p:cNvSpPr txBox="1"/>
          <p:nvPr>
            <p:ph idx="1" type="body"/>
          </p:nvPr>
        </p:nvSpPr>
        <p:spPr>
          <a:xfrm>
            <a:off x="324000" y="2424198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+ 2 = 10 − 1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4" name="Google Shape;1314;p90"/>
          <p:cNvSpPr txBox="1"/>
          <p:nvPr>
            <p:ph idx="1" type="body"/>
          </p:nvPr>
        </p:nvSpPr>
        <p:spPr>
          <a:xfrm>
            <a:off x="324000" y="3033798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= 10 − 1 − 2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5" name="Google Shape;1315;p90"/>
          <p:cNvSpPr txBox="1"/>
          <p:nvPr>
            <p:ph idx="1" type="body"/>
          </p:nvPr>
        </p:nvSpPr>
        <p:spPr>
          <a:xfrm>
            <a:off x="4773775" y="1784425"/>
            <a:ext cx="8718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(2 + 1)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6" name="Google Shape;131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954" y="3043516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90"/>
          <p:cNvSpPr txBox="1"/>
          <p:nvPr>
            <p:ph idx="1" type="body"/>
          </p:nvPr>
        </p:nvSpPr>
        <p:spPr>
          <a:xfrm>
            <a:off x="3379150" y="2999280"/>
            <a:ext cx="4740300" cy="10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To be more efficient could we group the terms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/>
              <a:t>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, treat them as one term, and subtract them together?</a:t>
            </a:r>
            <a:endParaRPr sz="2000"/>
          </a:p>
        </p:txBody>
      </p:sp>
      <p:sp>
        <p:nvSpPr>
          <p:cNvPr id="1318" name="Google Shape;1318;p90"/>
          <p:cNvSpPr txBox="1"/>
          <p:nvPr>
            <p:ph idx="1" type="body"/>
          </p:nvPr>
        </p:nvSpPr>
        <p:spPr>
          <a:xfrm>
            <a:off x="4320920" y="17844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 2 + 1 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9" name="Google Shape;1319;p90"/>
          <p:cNvSpPr txBox="1"/>
          <p:nvPr>
            <p:ph idx="1" type="body"/>
          </p:nvPr>
        </p:nvSpPr>
        <p:spPr>
          <a:xfrm>
            <a:off x="4320920" y="23940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= 10 − (2 + 1)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0" name="Google Shape;132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954" y="242240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91"/>
          <p:cNvSpPr txBox="1"/>
          <p:nvPr>
            <p:ph idx="1" type="body"/>
          </p:nvPr>
        </p:nvSpPr>
        <p:spPr>
          <a:xfrm>
            <a:off x="324000" y="759300"/>
            <a:ext cx="6514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is a more efficient way to consider the rearrangement of multiple terms like this.</a:t>
            </a:r>
            <a:endParaRPr/>
          </a:p>
        </p:txBody>
      </p:sp>
      <p:sp>
        <p:nvSpPr>
          <p:cNvPr id="1326" name="Google Shape;13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327" name="Google Shape;1327;p91"/>
          <p:cNvSpPr txBox="1"/>
          <p:nvPr>
            <p:ph idx="1" type="body"/>
          </p:nvPr>
        </p:nvSpPr>
        <p:spPr>
          <a:xfrm>
            <a:off x="324000" y="17844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+ 2 + 1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8" name="Google Shape;1328;p91"/>
          <p:cNvSpPr txBox="1"/>
          <p:nvPr>
            <p:ph idx="1" type="body"/>
          </p:nvPr>
        </p:nvSpPr>
        <p:spPr>
          <a:xfrm>
            <a:off x="324000" y="2424198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+ 2 = 10 − 1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9" name="Google Shape;1329;p91"/>
          <p:cNvSpPr txBox="1"/>
          <p:nvPr>
            <p:ph idx="1" type="body"/>
          </p:nvPr>
        </p:nvSpPr>
        <p:spPr>
          <a:xfrm>
            <a:off x="324000" y="3033798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= 10 − 1 − 2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91"/>
          <p:cNvSpPr txBox="1"/>
          <p:nvPr>
            <p:ph idx="1" type="body"/>
          </p:nvPr>
        </p:nvSpPr>
        <p:spPr>
          <a:xfrm>
            <a:off x="4773775" y="1784425"/>
            <a:ext cx="8718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(2 + 1)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1" name="Google Shape;133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954" y="3043516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91"/>
          <p:cNvSpPr txBox="1"/>
          <p:nvPr>
            <p:ph idx="1" type="body"/>
          </p:nvPr>
        </p:nvSpPr>
        <p:spPr>
          <a:xfrm>
            <a:off x="3379150" y="2999275"/>
            <a:ext cx="54408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By making the sum of multiple terms one term we made the process more efficient.</a:t>
            </a:r>
            <a:endParaRPr sz="2000"/>
          </a:p>
        </p:txBody>
      </p:sp>
      <p:sp>
        <p:nvSpPr>
          <p:cNvPr id="1333" name="Google Shape;1333;p91"/>
          <p:cNvSpPr txBox="1"/>
          <p:nvPr>
            <p:ph idx="1" type="body"/>
          </p:nvPr>
        </p:nvSpPr>
        <p:spPr>
          <a:xfrm>
            <a:off x="4320920" y="17844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 2 + 1 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4" name="Google Shape;1334;p91"/>
          <p:cNvSpPr txBox="1"/>
          <p:nvPr>
            <p:ph idx="1" type="body"/>
          </p:nvPr>
        </p:nvSpPr>
        <p:spPr>
          <a:xfrm>
            <a:off x="4320920" y="23940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= 10 − (2 + 1)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5" name="Google Shape;133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954" y="242240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2"/>
          <p:cNvSpPr txBox="1"/>
          <p:nvPr>
            <p:ph idx="1" type="body"/>
          </p:nvPr>
        </p:nvSpPr>
        <p:spPr>
          <a:xfrm>
            <a:off x="324000" y="759300"/>
            <a:ext cx="6514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also works for algebraic terms.</a:t>
            </a:r>
            <a:endParaRPr/>
          </a:p>
        </p:txBody>
      </p:sp>
      <p:sp>
        <p:nvSpPr>
          <p:cNvPr id="1341" name="Google Shape;134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342" name="Google Shape;1342;p92"/>
          <p:cNvSpPr txBox="1"/>
          <p:nvPr>
            <p:ph idx="1" type="body"/>
          </p:nvPr>
        </p:nvSpPr>
        <p:spPr>
          <a:xfrm>
            <a:off x="324000" y="17844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+ 5 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3" name="Google Shape;1343;p92"/>
          <p:cNvSpPr txBox="1"/>
          <p:nvPr>
            <p:ph idx="1" type="body"/>
          </p:nvPr>
        </p:nvSpPr>
        <p:spPr>
          <a:xfrm>
            <a:off x="4773775" y="1784425"/>
            <a:ext cx="8718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(2 + 1)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4" name="Google Shape;134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1754" y="2433916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92"/>
          <p:cNvSpPr txBox="1"/>
          <p:nvPr>
            <p:ph idx="1" type="body"/>
          </p:nvPr>
        </p:nvSpPr>
        <p:spPr>
          <a:xfrm>
            <a:off x="3379150" y="2999275"/>
            <a:ext cx="54408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By making the sum of multiple terms one term we made the process more efficient.</a:t>
            </a:r>
            <a:endParaRPr sz="2000"/>
          </a:p>
        </p:txBody>
      </p:sp>
      <p:sp>
        <p:nvSpPr>
          <p:cNvPr id="1346" name="Google Shape;1346;p92"/>
          <p:cNvSpPr txBox="1"/>
          <p:nvPr>
            <p:ph idx="1" type="body"/>
          </p:nvPr>
        </p:nvSpPr>
        <p:spPr>
          <a:xfrm>
            <a:off x="4320920" y="17844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+  2 + 1 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7" name="Google Shape;1347;p92"/>
          <p:cNvSpPr txBox="1"/>
          <p:nvPr>
            <p:ph idx="1" type="body"/>
          </p:nvPr>
        </p:nvSpPr>
        <p:spPr>
          <a:xfrm>
            <a:off x="4320920" y="2394025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= 10 − (2 + 1)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8" name="Google Shape;134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954" y="242240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92"/>
          <p:cNvSpPr txBox="1"/>
          <p:nvPr>
            <p:ph idx="1" type="body"/>
          </p:nvPr>
        </p:nvSpPr>
        <p:spPr>
          <a:xfrm>
            <a:off x="769693" y="1780087"/>
            <a:ext cx="9333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0" name="Google Shape;1350;p92"/>
          <p:cNvSpPr txBox="1"/>
          <p:nvPr>
            <p:ph idx="1" type="body"/>
          </p:nvPr>
        </p:nvSpPr>
        <p:spPr>
          <a:xfrm>
            <a:off x="324000" y="2412700"/>
            <a:ext cx="2072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1" name="Google Shape;1351;p92"/>
          <p:cNvSpPr txBox="1"/>
          <p:nvPr>
            <p:ph idx="1" type="body"/>
          </p:nvPr>
        </p:nvSpPr>
        <p:spPr>
          <a:xfrm>
            <a:off x="324000" y="3232225"/>
            <a:ext cx="2072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 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  = 7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2" name="Google Shape;135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1754" y="3881716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92"/>
          <p:cNvSpPr txBox="1"/>
          <p:nvPr>
            <p:ph idx="1" type="body"/>
          </p:nvPr>
        </p:nvSpPr>
        <p:spPr>
          <a:xfrm>
            <a:off x="758200" y="3227875"/>
            <a:ext cx="1155000" cy="5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4" name="Google Shape;1354;p92"/>
          <p:cNvSpPr txBox="1"/>
          <p:nvPr>
            <p:ph idx="1" type="body"/>
          </p:nvPr>
        </p:nvSpPr>
        <p:spPr>
          <a:xfrm>
            <a:off x="324000" y="3860500"/>
            <a:ext cx="2072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7 −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pic>
        <p:nvPicPr>
          <p:cNvPr id="1360" name="Google Shape;136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8554" y="184732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93"/>
          <p:cNvSpPr txBox="1"/>
          <p:nvPr>
            <p:ph idx="4294967295" type="body"/>
          </p:nvPr>
        </p:nvSpPr>
        <p:spPr>
          <a:xfrm>
            <a:off x="4323550" y="1692368"/>
            <a:ext cx="3722700" cy="6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Treat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as one term and subtract from both sides.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2" name="Google Shape;1362;p93"/>
          <p:cNvSpPr txBox="1"/>
          <p:nvPr>
            <p:ph idx="4294967295" type="body"/>
          </p:nvPr>
        </p:nvSpPr>
        <p:spPr>
          <a:xfrm>
            <a:off x="1009800" y="1844775"/>
            <a:ext cx="2548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16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(8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3" name="Google Shape;1363;p93"/>
          <p:cNvSpPr txBox="1"/>
          <p:nvPr>
            <p:ph idx="4294967295" type="body"/>
          </p:nvPr>
        </p:nvSpPr>
        <p:spPr>
          <a:xfrm>
            <a:off x="1889647" y="1080000"/>
            <a:ext cx="264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 = 16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4" name="Google Shape;136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0061" y="375948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are correct rearrangements of this equation?</a:t>
            </a:r>
            <a:endParaRPr/>
          </a:p>
        </p:txBody>
      </p:sp>
      <p:sp>
        <p:nvSpPr>
          <p:cNvPr id="1366" name="Google Shape;1366;p93"/>
          <p:cNvSpPr txBox="1"/>
          <p:nvPr>
            <p:ph idx="4294967295" type="body"/>
          </p:nvPr>
        </p:nvSpPr>
        <p:spPr>
          <a:xfrm>
            <a:off x="1009800" y="2782188"/>
            <a:ext cx="2548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16 + (8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93"/>
          <p:cNvSpPr txBox="1"/>
          <p:nvPr>
            <p:ph idx="4294967295" type="body"/>
          </p:nvPr>
        </p:nvSpPr>
        <p:spPr>
          <a:xfrm>
            <a:off x="1009800" y="3749775"/>
            <a:ext cx="2548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16 − (7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8" name="Google Shape;136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3833" y="278571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93"/>
          <p:cNvSpPr txBox="1"/>
          <p:nvPr>
            <p:ph idx="4294967295" type="body"/>
          </p:nvPr>
        </p:nvSpPr>
        <p:spPr>
          <a:xfrm>
            <a:off x="4323550" y="2682968"/>
            <a:ext cx="3722700" cy="6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should be subtracted from both sides.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0" name="Google Shape;1370;p93"/>
          <p:cNvSpPr txBox="1"/>
          <p:nvPr>
            <p:ph idx="4294967295" type="body"/>
          </p:nvPr>
        </p:nvSpPr>
        <p:spPr>
          <a:xfrm>
            <a:off x="4191588" y="3654913"/>
            <a:ext cx="4487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Commute to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+ 7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= 16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group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(7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subtract from both sides.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94"/>
          <p:cNvSpPr txBox="1"/>
          <p:nvPr>
            <p:ph idx="1" type="body"/>
          </p:nvPr>
        </p:nvSpPr>
        <p:spPr>
          <a:xfrm>
            <a:off x="324000" y="759300"/>
            <a:ext cx="6514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is practising this skill in class.</a:t>
            </a:r>
            <a:endParaRPr/>
          </a:p>
        </p:txBody>
      </p:sp>
      <p:sp>
        <p:nvSpPr>
          <p:cNvPr id="1376" name="Google Shape;137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377" name="Google Shape;1377;p94"/>
          <p:cNvSpPr txBox="1"/>
          <p:nvPr>
            <p:ph idx="1" type="body"/>
          </p:nvPr>
        </p:nvSpPr>
        <p:spPr>
          <a:xfrm>
            <a:off x="1684800" y="2336488"/>
            <a:ext cx="71352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ever we are unsure about </a:t>
            </a:r>
            <a:r>
              <a:rPr lang="en-GB" sz="2000"/>
              <a:t>algebraic</a:t>
            </a:r>
            <a:r>
              <a:rPr lang="en-GB" sz="2000"/>
              <a:t> manipulation we can try the same manipulation with a similar number problem to test the truth.</a:t>
            </a:r>
            <a:endParaRPr sz="2000"/>
          </a:p>
        </p:txBody>
      </p:sp>
      <p:sp>
        <p:nvSpPr>
          <p:cNvPr id="1378" name="Google Shape;1378;p94"/>
          <p:cNvSpPr txBox="1"/>
          <p:nvPr>
            <p:ph idx="1" type="body"/>
          </p:nvPr>
        </p:nvSpPr>
        <p:spPr>
          <a:xfrm>
            <a:off x="1707100" y="3506852"/>
            <a:ext cx="19575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= 30 − (7 + 3)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9" name="Google Shape;137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1774" y="2133329"/>
            <a:ext cx="876124" cy="1010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77427" y="1185938"/>
            <a:ext cx="6143124" cy="9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94"/>
          <p:cNvSpPr txBox="1"/>
          <p:nvPr/>
        </p:nvSpPr>
        <p:spPr>
          <a:xfrm flipH="1">
            <a:off x="916400" y="1216800"/>
            <a:ext cx="5591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same as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don’t need the brackets.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94"/>
          <p:cNvSpPr txBox="1"/>
          <p:nvPr>
            <p:ph idx="1" type="body"/>
          </p:nvPr>
        </p:nvSpPr>
        <p:spPr>
          <a:xfrm>
            <a:off x="4568180" y="3506852"/>
            <a:ext cx="19575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= 30 − 7 + 3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3" name="Google Shape;1383;p94"/>
          <p:cNvSpPr txBox="1"/>
          <p:nvPr>
            <p:ph idx="1" type="body"/>
          </p:nvPr>
        </p:nvSpPr>
        <p:spPr>
          <a:xfrm>
            <a:off x="1684800" y="4165300"/>
            <a:ext cx="54984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Alex is right then these two numerical equations are true. Are they?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95"/>
          <p:cNvSpPr/>
          <p:nvPr/>
        </p:nvSpPr>
        <p:spPr>
          <a:xfrm>
            <a:off x="4408385" y="3449316"/>
            <a:ext cx="2096100" cy="489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95"/>
          <p:cNvSpPr txBox="1"/>
          <p:nvPr>
            <p:ph idx="1" type="body"/>
          </p:nvPr>
        </p:nvSpPr>
        <p:spPr>
          <a:xfrm>
            <a:off x="324000" y="759300"/>
            <a:ext cx="6514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is practising this skill in class.</a:t>
            </a:r>
            <a:endParaRPr/>
          </a:p>
        </p:txBody>
      </p:sp>
      <p:sp>
        <p:nvSpPr>
          <p:cNvPr id="1390" name="Google Shape;139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391" name="Google Shape;1391;p95"/>
          <p:cNvSpPr txBox="1"/>
          <p:nvPr>
            <p:ph idx="1" type="body"/>
          </p:nvPr>
        </p:nvSpPr>
        <p:spPr>
          <a:xfrm>
            <a:off x="1684800" y="2336488"/>
            <a:ext cx="71352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ever we are unsure about algebraic manipulation we can try the same manipulation with a similar number problem to test the truth.</a:t>
            </a:r>
            <a:endParaRPr sz="2000"/>
          </a:p>
        </p:txBody>
      </p:sp>
      <p:sp>
        <p:nvSpPr>
          <p:cNvPr id="1392" name="Google Shape;1392;p95"/>
          <p:cNvSpPr txBox="1"/>
          <p:nvPr>
            <p:ph idx="1" type="body"/>
          </p:nvPr>
        </p:nvSpPr>
        <p:spPr>
          <a:xfrm>
            <a:off x="1707100" y="3506852"/>
            <a:ext cx="19575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= 30 − (7 + 3)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3" name="Google Shape;139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1774" y="2133329"/>
            <a:ext cx="876124" cy="1010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9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77427" y="1185938"/>
            <a:ext cx="6143124" cy="9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95"/>
          <p:cNvSpPr txBox="1"/>
          <p:nvPr/>
        </p:nvSpPr>
        <p:spPr>
          <a:xfrm flipH="1">
            <a:off x="916400" y="1216800"/>
            <a:ext cx="55911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same as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don’t need the brackets.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95"/>
          <p:cNvSpPr txBox="1"/>
          <p:nvPr>
            <p:ph idx="1" type="body"/>
          </p:nvPr>
        </p:nvSpPr>
        <p:spPr>
          <a:xfrm>
            <a:off x="4568180" y="3506852"/>
            <a:ext cx="19575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= 30 − 7 + 3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7" name="Google Shape;1397;p95"/>
          <p:cNvSpPr txBox="1"/>
          <p:nvPr>
            <p:ph idx="1" type="body"/>
          </p:nvPr>
        </p:nvSpPr>
        <p:spPr>
          <a:xfrm>
            <a:off x="4580400" y="4391087"/>
            <a:ext cx="30246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is not an equation.</a:t>
            </a:r>
            <a:endParaRPr sz="2000"/>
          </a:p>
        </p:txBody>
      </p:sp>
      <p:sp>
        <p:nvSpPr>
          <p:cNvPr id="1398" name="Google Shape;1398;p95"/>
          <p:cNvSpPr txBox="1"/>
          <p:nvPr>
            <p:ph idx="1" type="body"/>
          </p:nvPr>
        </p:nvSpPr>
        <p:spPr>
          <a:xfrm>
            <a:off x="4568177" y="3964050"/>
            <a:ext cx="10041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≠ 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9" name="Google Shape;1399;p95"/>
          <p:cNvSpPr txBox="1"/>
          <p:nvPr>
            <p:ph idx="1" type="body"/>
          </p:nvPr>
        </p:nvSpPr>
        <p:spPr>
          <a:xfrm>
            <a:off x="1684800" y="4391087"/>
            <a:ext cx="30246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Brackets matter!</a:t>
            </a:r>
            <a:endParaRPr sz="2000"/>
          </a:p>
        </p:txBody>
      </p:sp>
      <p:sp>
        <p:nvSpPr>
          <p:cNvPr id="1400" name="Google Shape;1400;p95"/>
          <p:cNvSpPr/>
          <p:nvPr/>
        </p:nvSpPr>
        <p:spPr>
          <a:xfrm>
            <a:off x="2785161" y="3460825"/>
            <a:ext cx="934800" cy="489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95"/>
          <p:cNvSpPr txBox="1"/>
          <p:nvPr>
            <p:ph idx="1" type="body"/>
          </p:nvPr>
        </p:nvSpPr>
        <p:spPr>
          <a:xfrm>
            <a:off x="1707100" y="3964050"/>
            <a:ext cx="22083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= 30 − (10) = 20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96"/>
          <p:cNvSpPr txBox="1"/>
          <p:nvPr>
            <p:ph idx="1" type="body"/>
          </p:nvPr>
        </p:nvSpPr>
        <p:spPr>
          <a:xfrm>
            <a:off x="324000" y="759300"/>
            <a:ext cx="6514200" cy="4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is practising this skill in class.</a:t>
            </a:r>
            <a:endParaRPr/>
          </a:p>
        </p:txBody>
      </p:sp>
      <p:sp>
        <p:nvSpPr>
          <p:cNvPr id="1407" name="Google Shape;140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408" name="Google Shape;1408;p96"/>
          <p:cNvSpPr txBox="1"/>
          <p:nvPr>
            <p:ph idx="1" type="body"/>
          </p:nvPr>
        </p:nvSpPr>
        <p:spPr>
          <a:xfrm>
            <a:off x="1707100" y="3506852"/>
            <a:ext cx="19575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= 30 − (7 + 3)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9" name="Google Shape;140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1774" y="2133329"/>
            <a:ext cx="876124" cy="1010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9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945351" y="1162937"/>
            <a:ext cx="5844849" cy="138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6"/>
          <p:cNvSpPr txBox="1"/>
          <p:nvPr/>
        </p:nvSpPr>
        <p:spPr>
          <a:xfrm flipH="1">
            <a:off x="1449825" y="1216800"/>
            <a:ext cx="52428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course! The brackets matter! I need to subtract both terms inside the bracket.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= 30 − (7 + 3)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becomes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= 30 − 7 − 3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96"/>
          <p:cNvSpPr txBox="1"/>
          <p:nvPr>
            <p:ph idx="1" type="body"/>
          </p:nvPr>
        </p:nvSpPr>
        <p:spPr>
          <a:xfrm>
            <a:off x="1684800" y="4010087"/>
            <a:ext cx="30246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Brackets matter!</a:t>
            </a:r>
            <a:endParaRPr sz="2000"/>
          </a:p>
        </p:txBody>
      </p:sp>
      <p:sp>
        <p:nvSpPr>
          <p:cNvPr id="1413" name="Google Shape;1413;p96"/>
          <p:cNvSpPr txBox="1"/>
          <p:nvPr>
            <p:ph idx="1" type="body"/>
          </p:nvPr>
        </p:nvSpPr>
        <p:spPr>
          <a:xfrm>
            <a:off x="4568180" y="3506852"/>
            <a:ext cx="19575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= 30 − 7 − 3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4" name="Google Shape;1414;p96"/>
          <p:cNvSpPr txBox="1"/>
          <p:nvPr>
            <p:ph idx="1" type="body"/>
          </p:nvPr>
        </p:nvSpPr>
        <p:spPr>
          <a:xfrm>
            <a:off x="4568177" y="3964050"/>
            <a:ext cx="1206300" cy="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 = 20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97"/>
          <p:cNvSpPr txBox="1"/>
          <p:nvPr>
            <p:ph idx="1" type="subTitle"/>
          </p:nvPr>
        </p:nvSpPr>
        <p:spPr>
          <a:xfrm>
            <a:off x="337825" y="810000"/>
            <a:ext cx="3982200" cy="10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Group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and integer terms on the LHS, subtract from both sides, and simplify where possible.</a:t>
            </a:r>
            <a:endParaRPr/>
          </a:p>
        </p:txBody>
      </p:sp>
      <p:sp>
        <p:nvSpPr>
          <p:cNvPr id="1420" name="Google Shape;1420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421" name="Google Shape;1421;p97"/>
          <p:cNvSpPr txBox="1"/>
          <p:nvPr/>
        </p:nvSpPr>
        <p:spPr>
          <a:xfrm flipH="1">
            <a:off x="330002" y="2089525"/>
            <a:ext cx="23541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+ 27 = 85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7"/>
          <p:cNvSpPr txBox="1"/>
          <p:nvPr/>
        </p:nvSpPr>
        <p:spPr>
          <a:xfrm flipH="1">
            <a:off x="330001" y="2584825"/>
            <a:ext cx="2557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+ 27) = 85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7"/>
          <p:cNvSpPr txBox="1"/>
          <p:nvPr/>
        </p:nvSpPr>
        <p:spPr>
          <a:xfrm flipH="1">
            <a:off x="329952" y="3080125"/>
            <a:ext cx="2434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85 −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+ 27)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97"/>
          <p:cNvSpPr txBox="1"/>
          <p:nvPr/>
        </p:nvSpPr>
        <p:spPr>
          <a:xfrm flipH="1">
            <a:off x="330102" y="3575425"/>
            <a:ext cx="23541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85 − 7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97"/>
          <p:cNvSpPr txBox="1"/>
          <p:nvPr/>
        </p:nvSpPr>
        <p:spPr>
          <a:xfrm flipH="1">
            <a:off x="329928" y="4070725"/>
            <a:ext cx="1721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58 − 7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98"/>
          <p:cNvSpPr txBox="1"/>
          <p:nvPr>
            <p:ph idx="1" type="subTitle"/>
          </p:nvPr>
        </p:nvSpPr>
        <p:spPr>
          <a:xfrm>
            <a:off x="337825" y="810000"/>
            <a:ext cx="3982200" cy="10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Group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and integer terms on the LHS, subtract from both sides, and simplify where possible.</a:t>
            </a:r>
            <a:endParaRPr/>
          </a:p>
        </p:txBody>
      </p:sp>
      <p:sp>
        <p:nvSpPr>
          <p:cNvPr id="1431" name="Google Shape;1431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432" name="Google Shape;1432;p98"/>
          <p:cNvSpPr txBox="1"/>
          <p:nvPr/>
        </p:nvSpPr>
        <p:spPr>
          <a:xfrm flipH="1">
            <a:off x="330002" y="2089525"/>
            <a:ext cx="23541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+ 27 = 85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98"/>
          <p:cNvSpPr txBox="1"/>
          <p:nvPr/>
        </p:nvSpPr>
        <p:spPr>
          <a:xfrm flipH="1">
            <a:off x="330001" y="2584825"/>
            <a:ext cx="2557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+ 27) = 85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8"/>
          <p:cNvSpPr txBox="1"/>
          <p:nvPr/>
        </p:nvSpPr>
        <p:spPr>
          <a:xfrm flipH="1">
            <a:off x="329952" y="3080125"/>
            <a:ext cx="2434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85 − (7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+ 27)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98"/>
          <p:cNvSpPr txBox="1"/>
          <p:nvPr/>
        </p:nvSpPr>
        <p:spPr>
          <a:xfrm flipH="1">
            <a:off x="330102" y="3575425"/>
            <a:ext cx="23541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85 − 7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98"/>
          <p:cNvSpPr txBox="1"/>
          <p:nvPr/>
        </p:nvSpPr>
        <p:spPr>
          <a:xfrm flipH="1">
            <a:off x="329928" y="4070725"/>
            <a:ext cx="1721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58 − 7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98"/>
          <p:cNvSpPr txBox="1"/>
          <p:nvPr>
            <p:ph idx="1" type="subTitle"/>
          </p:nvPr>
        </p:nvSpPr>
        <p:spPr>
          <a:xfrm>
            <a:off x="4833625" y="810000"/>
            <a:ext cx="3982200" cy="10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Group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/>
              <a:t> and integer terms on the LHS, subtract from both sides, and simplify where possible.</a:t>
            </a:r>
            <a:endParaRPr/>
          </a:p>
        </p:txBody>
      </p:sp>
      <p:sp>
        <p:nvSpPr>
          <p:cNvPr id="1438" name="Google Shape;1438;p98"/>
          <p:cNvSpPr txBox="1"/>
          <p:nvPr/>
        </p:nvSpPr>
        <p:spPr>
          <a:xfrm flipH="1">
            <a:off x="4825802" y="2089525"/>
            <a:ext cx="23541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+ 13 = 40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98"/>
          <p:cNvSpPr txBox="1"/>
          <p:nvPr/>
        </p:nvSpPr>
        <p:spPr>
          <a:xfrm flipH="1">
            <a:off x="4825801" y="2584825"/>
            <a:ext cx="2557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+ 13) = 40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98"/>
          <p:cNvSpPr txBox="1"/>
          <p:nvPr/>
        </p:nvSpPr>
        <p:spPr>
          <a:xfrm flipH="1">
            <a:off x="4825752" y="3080125"/>
            <a:ext cx="2434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40 − (5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+ 13)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98"/>
          <p:cNvSpPr txBox="1"/>
          <p:nvPr/>
        </p:nvSpPr>
        <p:spPr>
          <a:xfrm flipH="1">
            <a:off x="4825902" y="3575425"/>
            <a:ext cx="23541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40 − 5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98"/>
          <p:cNvSpPr txBox="1"/>
          <p:nvPr/>
        </p:nvSpPr>
        <p:spPr>
          <a:xfrm flipH="1">
            <a:off x="4825728" y="4070725"/>
            <a:ext cx="1721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27 − 5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99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Fill in the blanks in these rearrangements:</a:t>
            </a:r>
            <a:endParaRPr/>
          </a:p>
        </p:txBody>
      </p:sp>
      <p:sp>
        <p:nvSpPr>
          <p:cNvPr id="1448" name="Google Shape;1448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449" name="Google Shape;1449;p99"/>
          <p:cNvSpPr txBox="1"/>
          <p:nvPr>
            <p:ph idx="4294967295" type="body"/>
          </p:nvPr>
        </p:nvSpPr>
        <p:spPr>
          <a:xfrm>
            <a:off x="788348" y="2405525"/>
            <a:ext cx="2310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7x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0" name="Google Shape;1450;p99"/>
          <p:cNvSpPr txBox="1"/>
          <p:nvPr>
            <p:ph idx="4294967295" type="body"/>
          </p:nvPr>
        </p:nvSpPr>
        <p:spPr>
          <a:xfrm>
            <a:off x="788349" y="2881400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1" name="Google Shape;1451;p99"/>
          <p:cNvSpPr txBox="1"/>
          <p:nvPr>
            <p:ph idx="1" type="body"/>
          </p:nvPr>
        </p:nvSpPr>
        <p:spPr>
          <a:xfrm>
            <a:off x="324000" y="13573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452" name="Google Shape;1452;p99"/>
          <p:cNvSpPr txBox="1"/>
          <p:nvPr>
            <p:ph idx="1" type="body"/>
          </p:nvPr>
        </p:nvSpPr>
        <p:spPr>
          <a:xfrm>
            <a:off x="324000" y="352551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r>
              <a:rPr lang="en-GB"/>
              <a:t>)</a:t>
            </a:r>
            <a:endParaRPr/>
          </a:p>
        </p:txBody>
      </p:sp>
      <p:sp>
        <p:nvSpPr>
          <p:cNvPr id="1453" name="Google Shape;1453;p99"/>
          <p:cNvSpPr txBox="1"/>
          <p:nvPr>
            <p:ph idx="1" type="body"/>
          </p:nvPr>
        </p:nvSpPr>
        <p:spPr>
          <a:xfrm>
            <a:off x="312493" y="2435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1454" name="Google Shape;1454;p99"/>
          <p:cNvSpPr txBox="1"/>
          <p:nvPr>
            <p:ph idx="4294967295" type="body"/>
          </p:nvPr>
        </p:nvSpPr>
        <p:spPr>
          <a:xfrm>
            <a:off x="788348" y="3495338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− 4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5" name="Google Shape;1455;p99"/>
          <p:cNvSpPr txBox="1"/>
          <p:nvPr>
            <p:ph idx="4294967295" type="body"/>
          </p:nvPr>
        </p:nvSpPr>
        <p:spPr>
          <a:xfrm>
            <a:off x="788347" y="3971225"/>
            <a:ext cx="2581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− 4)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6" name="Google Shape;1456;p99"/>
          <p:cNvSpPr txBox="1"/>
          <p:nvPr>
            <p:ph idx="4294967295" type="body"/>
          </p:nvPr>
        </p:nvSpPr>
        <p:spPr>
          <a:xfrm>
            <a:off x="788360" y="1338732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+ 8 = 13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7" name="Google Shape;1457;p99"/>
          <p:cNvSpPr txBox="1"/>
          <p:nvPr>
            <p:ph idx="4294967295" type="body"/>
          </p:nvPr>
        </p:nvSpPr>
        <p:spPr>
          <a:xfrm>
            <a:off x="788360" y="1814607"/>
            <a:ext cx="2072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13 −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8" name="Google Shape;1458;p99"/>
          <p:cNvSpPr txBox="1"/>
          <p:nvPr>
            <p:ph idx="4294967295" type="body"/>
          </p:nvPr>
        </p:nvSpPr>
        <p:spPr>
          <a:xfrm>
            <a:off x="4792451" y="2405525"/>
            <a:ext cx="2218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7x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9" name="Google Shape;1459;p99"/>
          <p:cNvSpPr txBox="1"/>
          <p:nvPr>
            <p:ph idx="4294967295" type="body"/>
          </p:nvPr>
        </p:nvSpPr>
        <p:spPr>
          <a:xfrm>
            <a:off x="4792453" y="2881400"/>
            <a:ext cx="2666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0" name="Google Shape;1460;p99"/>
          <p:cNvSpPr txBox="1"/>
          <p:nvPr>
            <p:ph idx="1" type="body"/>
          </p:nvPr>
        </p:nvSpPr>
        <p:spPr>
          <a:xfrm>
            <a:off x="4328080" y="13573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461" name="Google Shape;1461;p99"/>
          <p:cNvSpPr txBox="1"/>
          <p:nvPr>
            <p:ph idx="1" type="body"/>
          </p:nvPr>
        </p:nvSpPr>
        <p:spPr>
          <a:xfrm>
            <a:off x="4328080" y="352551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r>
              <a:rPr lang="en-GB"/>
              <a:t>)</a:t>
            </a:r>
            <a:endParaRPr/>
          </a:p>
        </p:txBody>
      </p:sp>
      <p:sp>
        <p:nvSpPr>
          <p:cNvPr id="1462" name="Google Shape;1462;p99"/>
          <p:cNvSpPr txBox="1"/>
          <p:nvPr>
            <p:ph idx="1" type="body"/>
          </p:nvPr>
        </p:nvSpPr>
        <p:spPr>
          <a:xfrm>
            <a:off x="4316573" y="2435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sp>
        <p:nvSpPr>
          <p:cNvPr id="1463" name="Google Shape;1463;p99"/>
          <p:cNvSpPr txBox="1"/>
          <p:nvPr>
            <p:ph idx="4294967295" type="body"/>
          </p:nvPr>
        </p:nvSpPr>
        <p:spPr>
          <a:xfrm>
            <a:off x="4792452" y="3495350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4" name="Google Shape;1464;p99"/>
          <p:cNvSpPr txBox="1"/>
          <p:nvPr>
            <p:ph idx="4294967295" type="body"/>
          </p:nvPr>
        </p:nvSpPr>
        <p:spPr>
          <a:xfrm>
            <a:off x="4792453" y="3971225"/>
            <a:ext cx="2666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(4 − 7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5" name="Google Shape;1465;p99"/>
          <p:cNvSpPr txBox="1"/>
          <p:nvPr>
            <p:ph idx="4294967295" type="body"/>
          </p:nvPr>
        </p:nvSpPr>
        <p:spPr>
          <a:xfrm>
            <a:off x="4792440" y="1338732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+ 8 = 13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6" name="Google Shape;1466;p99"/>
          <p:cNvSpPr txBox="1"/>
          <p:nvPr>
            <p:ph idx="4294967295" type="body"/>
          </p:nvPr>
        </p:nvSpPr>
        <p:spPr>
          <a:xfrm>
            <a:off x="4792440" y="1814607"/>
            <a:ext cx="2072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13 −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7" name="Google Shape;1467;p99"/>
          <p:cNvSpPr/>
          <p:nvPr/>
        </p:nvSpPr>
        <p:spPr>
          <a:xfrm>
            <a:off x="1908000" y="1866200"/>
            <a:ext cx="6084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99"/>
          <p:cNvSpPr/>
          <p:nvPr/>
        </p:nvSpPr>
        <p:spPr>
          <a:xfrm>
            <a:off x="5974904" y="1866200"/>
            <a:ext cx="5727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9"/>
          <p:cNvSpPr/>
          <p:nvPr/>
        </p:nvSpPr>
        <p:spPr>
          <a:xfrm>
            <a:off x="6139949" y="2959905"/>
            <a:ext cx="8829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99"/>
          <p:cNvSpPr/>
          <p:nvPr/>
        </p:nvSpPr>
        <p:spPr>
          <a:xfrm>
            <a:off x="2096227" y="2959905"/>
            <a:ext cx="9180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99"/>
          <p:cNvSpPr/>
          <p:nvPr/>
        </p:nvSpPr>
        <p:spPr>
          <a:xfrm>
            <a:off x="2214925" y="4065299"/>
            <a:ext cx="8604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99"/>
          <p:cNvSpPr/>
          <p:nvPr/>
        </p:nvSpPr>
        <p:spPr>
          <a:xfrm>
            <a:off x="6258654" y="4065299"/>
            <a:ext cx="7758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00"/>
          <p:cNvSpPr txBox="1"/>
          <p:nvPr>
            <p:ph idx="1" type="body"/>
          </p:nvPr>
        </p:nvSpPr>
        <p:spPr>
          <a:xfrm>
            <a:off x="324000" y="759300"/>
            <a:ext cx="6583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Alex has done really well in this lesson but has made a few errors. Mark his work on rearranging and write a sentence to explain any errors you spot.</a:t>
            </a:r>
            <a:endParaRPr sz="2000"/>
          </a:p>
        </p:txBody>
      </p:sp>
      <p:sp>
        <p:nvSpPr>
          <p:cNvPr id="1478" name="Google Shape;1478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479" name="Google Shape;1479;p100"/>
          <p:cNvSpPr txBox="1"/>
          <p:nvPr>
            <p:ph idx="4294967295" type="body"/>
          </p:nvPr>
        </p:nvSpPr>
        <p:spPr>
          <a:xfrm>
            <a:off x="788348" y="1948325"/>
            <a:ext cx="2310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0" name="Google Shape;1480;p100"/>
          <p:cNvSpPr txBox="1"/>
          <p:nvPr>
            <p:ph idx="4294967295" type="body"/>
          </p:nvPr>
        </p:nvSpPr>
        <p:spPr>
          <a:xfrm>
            <a:off x="788349" y="2424200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1" name="Google Shape;1481;p100"/>
          <p:cNvSpPr txBox="1"/>
          <p:nvPr>
            <p:ph idx="1" type="body"/>
          </p:nvPr>
        </p:nvSpPr>
        <p:spPr>
          <a:xfrm>
            <a:off x="324000" y="3026634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sp>
        <p:nvSpPr>
          <p:cNvPr id="1482" name="Google Shape;1482;p100"/>
          <p:cNvSpPr txBox="1"/>
          <p:nvPr>
            <p:ph idx="1" type="body"/>
          </p:nvPr>
        </p:nvSpPr>
        <p:spPr>
          <a:xfrm>
            <a:off x="312493" y="1978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sp>
        <p:nvSpPr>
          <p:cNvPr id="1483" name="Google Shape;1483;p100"/>
          <p:cNvSpPr txBox="1"/>
          <p:nvPr>
            <p:ph idx="4294967295" type="body"/>
          </p:nvPr>
        </p:nvSpPr>
        <p:spPr>
          <a:xfrm>
            <a:off x="4826948" y="1964179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 = 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4" name="Google Shape;1484;p100"/>
          <p:cNvSpPr txBox="1"/>
          <p:nvPr>
            <p:ph idx="4294967295" type="body"/>
          </p:nvPr>
        </p:nvSpPr>
        <p:spPr>
          <a:xfrm>
            <a:off x="4826947" y="2440065"/>
            <a:ext cx="2581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8 − 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5" name="Google Shape;1485;p100"/>
          <p:cNvSpPr txBox="1"/>
          <p:nvPr>
            <p:ph idx="4294967295" type="body"/>
          </p:nvPr>
        </p:nvSpPr>
        <p:spPr>
          <a:xfrm>
            <a:off x="788372" y="3015125"/>
            <a:ext cx="2218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+ 5 = 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6" name="Google Shape;1486;p100"/>
          <p:cNvSpPr txBox="1"/>
          <p:nvPr>
            <p:ph idx="4294967295" type="body"/>
          </p:nvPr>
        </p:nvSpPr>
        <p:spPr>
          <a:xfrm>
            <a:off x="788373" y="3491000"/>
            <a:ext cx="2666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7" name="Google Shape;1487;p100"/>
          <p:cNvSpPr txBox="1"/>
          <p:nvPr>
            <p:ph idx="1" type="body"/>
          </p:nvPr>
        </p:nvSpPr>
        <p:spPr>
          <a:xfrm>
            <a:off x="4305066" y="3026634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sp>
        <p:nvSpPr>
          <p:cNvPr id="1488" name="Google Shape;1488;p100"/>
          <p:cNvSpPr txBox="1"/>
          <p:nvPr>
            <p:ph idx="1" type="body"/>
          </p:nvPr>
        </p:nvSpPr>
        <p:spPr>
          <a:xfrm>
            <a:off x="4316573" y="1978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489" name="Google Shape;1489;p100"/>
          <p:cNvSpPr txBox="1"/>
          <p:nvPr>
            <p:ph idx="4294967295" type="body"/>
          </p:nvPr>
        </p:nvSpPr>
        <p:spPr>
          <a:xfrm>
            <a:off x="4815473" y="2996475"/>
            <a:ext cx="1978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4 = 10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0" name="Google Shape;1490;p100"/>
          <p:cNvSpPr txBox="1"/>
          <p:nvPr>
            <p:ph idx="4294967295" type="body"/>
          </p:nvPr>
        </p:nvSpPr>
        <p:spPr>
          <a:xfrm>
            <a:off x="4815474" y="3472349"/>
            <a:ext cx="2218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10 − (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1" name="Google Shape;149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2176" y="914124"/>
            <a:ext cx="1080280" cy="12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100"/>
          <p:cNvSpPr txBox="1"/>
          <p:nvPr>
            <p:ph idx="4294967295" type="body"/>
          </p:nvPr>
        </p:nvSpPr>
        <p:spPr>
          <a:xfrm>
            <a:off x="788371" y="3948200"/>
            <a:ext cx="1907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3" name="Google Shape;1493;p100"/>
          <p:cNvSpPr txBox="1"/>
          <p:nvPr>
            <p:ph idx="4294967295" type="body"/>
          </p:nvPr>
        </p:nvSpPr>
        <p:spPr>
          <a:xfrm>
            <a:off x="788370" y="4481600"/>
            <a:ext cx="13323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12 − 3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4" name="Google Shape;1494;p100"/>
          <p:cNvSpPr txBox="1"/>
          <p:nvPr>
            <p:ph idx="4294967295" type="body"/>
          </p:nvPr>
        </p:nvSpPr>
        <p:spPr>
          <a:xfrm>
            <a:off x="4815474" y="3971227"/>
            <a:ext cx="2218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5" name="Google Shape;1495;p100"/>
          <p:cNvSpPr txBox="1"/>
          <p:nvPr>
            <p:ph idx="4294967295" type="body"/>
          </p:nvPr>
        </p:nvSpPr>
        <p:spPr>
          <a:xfrm>
            <a:off x="4815475" y="4504625"/>
            <a:ext cx="16659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14 − 2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01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Fill in the blanks in these rearrangements:</a:t>
            </a:r>
            <a:endParaRPr/>
          </a:p>
        </p:txBody>
      </p:sp>
      <p:sp>
        <p:nvSpPr>
          <p:cNvPr id="1501" name="Google Shape;1501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502" name="Google Shape;1502;p101"/>
          <p:cNvSpPr txBox="1"/>
          <p:nvPr>
            <p:ph idx="4294967295" type="body"/>
          </p:nvPr>
        </p:nvSpPr>
        <p:spPr>
          <a:xfrm>
            <a:off x="788348" y="2405525"/>
            <a:ext cx="2310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7x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3" name="Google Shape;1503;p101"/>
          <p:cNvSpPr txBox="1"/>
          <p:nvPr>
            <p:ph idx="4294967295" type="body"/>
          </p:nvPr>
        </p:nvSpPr>
        <p:spPr>
          <a:xfrm>
            <a:off x="788349" y="2881400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4" name="Google Shape;1504;p101"/>
          <p:cNvSpPr txBox="1"/>
          <p:nvPr>
            <p:ph idx="1" type="body"/>
          </p:nvPr>
        </p:nvSpPr>
        <p:spPr>
          <a:xfrm>
            <a:off x="324000" y="13573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505" name="Google Shape;1505;p101"/>
          <p:cNvSpPr txBox="1"/>
          <p:nvPr>
            <p:ph idx="1" type="body"/>
          </p:nvPr>
        </p:nvSpPr>
        <p:spPr>
          <a:xfrm>
            <a:off x="324000" y="352551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e)</a:t>
            </a:r>
            <a:endParaRPr/>
          </a:p>
        </p:txBody>
      </p:sp>
      <p:sp>
        <p:nvSpPr>
          <p:cNvPr id="1506" name="Google Shape;1506;p101"/>
          <p:cNvSpPr txBox="1"/>
          <p:nvPr>
            <p:ph idx="1" type="body"/>
          </p:nvPr>
        </p:nvSpPr>
        <p:spPr>
          <a:xfrm>
            <a:off x="312493" y="2435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507" name="Google Shape;1507;p101"/>
          <p:cNvSpPr txBox="1"/>
          <p:nvPr>
            <p:ph idx="4294967295" type="body"/>
          </p:nvPr>
        </p:nvSpPr>
        <p:spPr>
          <a:xfrm>
            <a:off x="788348" y="3495338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− 4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8" name="Google Shape;1508;p101"/>
          <p:cNvSpPr txBox="1"/>
          <p:nvPr>
            <p:ph idx="4294967295" type="body"/>
          </p:nvPr>
        </p:nvSpPr>
        <p:spPr>
          <a:xfrm>
            <a:off x="788347" y="3971225"/>
            <a:ext cx="2581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− 4)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9" name="Google Shape;1509;p101"/>
          <p:cNvSpPr txBox="1"/>
          <p:nvPr>
            <p:ph idx="4294967295" type="body"/>
          </p:nvPr>
        </p:nvSpPr>
        <p:spPr>
          <a:xfrm>
            <a:off x="788360" y="1338732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+ 8 = 13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0" name="Google Shape;1510;p101"/>
          <p:cNvSpPr txBox="1"/>
          <p:nvPr>
            <p:ph idx="4294967295" type="body"/>
          </p:nvPr>
        </p:nvSpPr>
        <p:spPr>
          <a:xfrm>
            <a:off x="788360" y="1814607"/>
            <a:ext cx="2072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13 −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1" name="Google Shape;1511;p101"/>
          <p:cNvSpPr txBox="1"/>
          <p:nvPr>
            <p:ph idx="4294967295" type="body"/>
          </p:nvPr>
        </p:nvSpPr>
        <p:spPr>
          <a:xfrm>
            <a:off x="4792451" y="2405525"/>
            <a:ext cx="2218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7x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2" name="Google Shape;1512;p101"/>
          <p:cNvSpPr txBox="1"/>
          <p:nvPr>
            <p:ph idx="4294967295" type="body"/>
          </p:nvPr>
        </p:nvSpPr>
        <p:spPr>
          <a:xfrm>
            <a:off x="4792453" y="2881400"/>
            <a:ext cx="2666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3" name="Google Shape;1513;p101"/>
          <p:cNvSpPr txBox="1"/>
          <p:nvPr>
            <p:ph idx="1" type="body"/>
          </p:nvPr>
        </p:nvSpPr>
        <p:spPr>
          <a:xfrm>
            <a:off x="4328080" y="135739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514" name="Google Shape;1514;p101"/>
          <p:cNvSpPr txBox="1"/>
          <p:nvPr>
            <p:ph idx="1" type="body"/>
          </p:nvPr>
        </p:nvSpPr>
        <p:spPr>
          <a:xfrm>
            <a:off x="4328080" y="3525513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f)</a:t>
            </a:r>
            <a:endParaRPr/>
          </a:p>
        </p:txBody>
      </p:sp>
      <p:sp>
        <p:nvSpPr>
          <p:cNvPr id="1515" name="Google Shape;1515;p101"/>
          <p:cNvSpPr txBox="1"/>
          <p:nvPr>
            <p:ph idx="1" type="body"/>
          </p:nvPr>
        </p:nvSpPr>
        <p:spPr>
          <a:xfrm>
            <a:off x="4316573" y="24357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516" name="Google Shape;1516;p101"/>
          <p:cNvSpPr txBox="1"/>
          <p:nvPr>
            <p:ph idx="4294967295" type="body"/>
          </p:nvPr>
        </p:nvSpPr>
        <p:spPr>
          <a:xfrm>
            <a:off x="4792452" y="3495350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 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7" name="Google Shape;1517;p101"/>
          <p:cNvSpPr txBox="1"/>
          <p:nvPr>
            <p:ph idx="4294967295" type="body"/>
          </p:nvPr>
        </p:nvSpPr>
        <p:spPr>
          <a:xfrm>
            <a:off x="4792453" y="3971225"/>
            <a:ext cx="2666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10 − (4 − 7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8" name="Google Shape;1518;p101"/>
          <p:cNvSpPr txBox="1"/>
          <p:nvPr>
            <p:ph idx="4294967295" type="body"/>
          </p:nvPr>
        </p:nvSpPr>
        <p:spPr>
          <a:xfrm>
            <a:off x="4792440" y="1338732"/>
            <a:ext cx="1957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+ 8 = 13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9" name="Google Shape;1519;p101"/>
          <p:cNvSpPr txBox="1"/>
          <p:nvPr>
            <p:ph idx="4294967295" type="body"/>
          </p:nvPr>
        </p:nvSpPr>
        <p:spPr>
          <a:xfrm>
            <a:off x="4792440" y="1814607"/>
            <a:ext cx="2072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13 − (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+ 8)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101"/>
          <p:cNvSpPr/>
          <p:nvPr/>
        </p:nvSpPr>
        <p:spPr>
          <a:xfrm>
            <a:off x="1908000" y="1866200"/>
            <a:ext cx="6084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01"/>
          <p:cNvSpPr/>
          <p:nvPr/>
        </p:nvSpPr>
        <p:spPr>
          <a:xfrm>
            <a:off x="5974904" y="1866200"/>
            <a:ext cx="5727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01"/>
          <p:cNvSpPr/>
          <p:nvPr/>
        </p:nvSpPr>
        <p:spPr>
          <a:xfrm>
            <a:off x="6139949" y="2959905"/>
            <a:ext cx="8829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01"/>
          <p:cNvSpPr/>
          <p:nvPr/>
        </p:nvSpPr>
        <p:spPr>
          <a:xfrm>
            <a:off x="2096227" y="2959905"/>
            <a:ext cx="9180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101"/>
          <p:cNvSpPr/>
          <p:nvPr/>
        </p:nvSpPr>
        <p:spPr>
          <a:xfrm>
            <a:off x="2214925" y="4065299"/>
            <a:ext cx="8604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101"/>
          <p:cNvSpPr/>
          <p:nvPr/>
        </p:nvSpPr>
        <p:spPr>
          <a:xfrm>
            <a:off x="6258654" y="4065299"/>
            <a:ext cx="775800" cy="29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02"/>
          <p:cNvSpPr txBox="1"/>
          <p:nvPr>
            <p:ph idx="1" type="body"/>
          </p:nvPr>
        </p:nvSpPr>
        <p:spPr>
          <a:xfrm>
            <a:off x="324000" y="759300"/>
            <a:ext cx="6709800" cy="11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2) Alex has done really well in this lesson but has made a few errors. Mark his work on rearranging and write a sentence to explain any errors you spot.</a:t>
            </a:r>
            <a:endParaRPr sz="2000"/>
          </a:p>
        </p:txBody>
      </p:sp>
      <p:sp>
        <p:nvSpPr>
          <p:cNvPr id="1531" name="Google Shape;1531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532" name="Google Shape;1532;p102"/>
          <p:cNvSpPr txBox="1"/>
          <p:nvPr>
            <p:ph idx="4294967295" type="body"/>
          </p:nvPr>
        </p:nvSpPr>
        <p:spPr>
          <a:xfrm>
            <a:off x="788348" y="1948325"/>
            <a:ext cx="2310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3" name="Google Shape;1533;p102"/>
          <p:cNvSpPr txBox="1"/>
          <p:nvPr>
            <p:ph idx="4294967295" type="body"/>
          </p:nvPr>
        </p:nvSpPr>
        <p:spPr>
          <a:xfrm>
            <a:off x="788349" y="2424200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4" name="Google Shape;1534;p102"/>
          <p:cNvSpPr txBox="1"/>
          <p:nvPr>
            <p:ph idx="1" type="body"/>
          </p:nvPr>
        </p:nvSpPr>
        <p:spPr>
          <a:xfrm>
            <a:off x="312493" y="1978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535" name="Google Shape;1535;p102"/>
          <p:cNvSpPr txBox="1"/>
          <p:nvPr>
            <p:ph idx="4294967295" type="body"/>
          </p:nvPr>
        </p:nvSpPr>
        <p:spPr>
          <a:xfrm>
            <a:off x="4826948" y="1964179"/>
            <a:ext cx="23790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 = 8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6" name="Google Shape;1536;p102"/>
          <p:cNvSpPr txBox="1"/>
          <p:nvPr>
            <p:ph idx="4294967295" type="body"/>
          </p:nvPr>
        </p:nvSpPr>
        <p:spPr>
          <a:xfrm>
            <a:off x="4826949" y="2440075"/>
            <a:ext cx="1978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8 − 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7" name="Google Shape;1537;p102"/>
          <p:cNvSpPr txBox="1"/>
          <p:nvPr>
            <p:ph idx="1" type="body"/>
          </p:nvPr>
        </p:nvSpPr>
        <p:spPr>
          <a:xfrm>
            <a:off x="4316573" y="1978500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id="1538" name="Google Shape;153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2176" y="914124"/>
            <a:ext cx="1080280" cy="124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6821" y="240808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9300" y="243207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102"/>
          <p:cNvSpPr txBox="1"/>
          <p:nvPr>
            <p:ph idx="4294967295" type="body"/>
          </p:nvPr>
        </p:nvSpPr>
        <p:spPr>
          <a:xfrm>
            <a:off x="4826950" y="2973475"/>
            <a:ext cx="33345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need to be grouped before subtracting.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2" name="Google Shape;1542;p102"/>
          <p:cNvSpPr txBox="1"/>
          <p:nvPr>
            <p:ph idx="4294967295" type="body"/>
          </p:nvPr>
        </p:nvSpPr>
        <p:spPr>
          <a:xfrm>
            <a:off x="4826949" y="3887875"/>
            <a:ext cx="1978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8 − (1 −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3" name="Google Shape;1543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6861" y="38860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03"/>
          <p:cNvSpPr txBox="1"/>
          <p:nvPr>
            <p:ph idx="1" type="body"/>
          </p:nvPr>
        </p:nvSpPr>
        <p:spPr>
          <a:xfrm>
            <a:off x="324000" y="759300"/>
            <a:ext cx="6709800" cy="11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2) Alex has done really well in this lesson but has made a few errors. Mark his work on rearranging and write a sentence to explain any errors you spot.</a:t>
            </a:r>
            <a:endParaRPr sz="2000"/>
          </a:p>
        </p:txBody>
      </p:sp>
      <p:sp>
        <p:nvSpPr>
          <p:cNvPr id="1549" name="Google Shape;1549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sum of multiple terms as a term</a:t>
            </a:r>
            <a:endParaRPr/>
          </a:p>
        </p:txBody>
      </p:sp>
      <p:sp>
        <p:nvSpPr>
          <p:cNvPr id="1550" name="Google Shape;1550;p103"/>
          <p:cNvSpPr txBox="1"/>
          <p:nvPr>
            <p:ph idx="1" type="body"/>
          </p:nvPr>
        </p:nvSpPr>
        <p:spPr>
          <a:xfrm>
            <a:off x="324000" y="1959834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551" name="Google Shape;1551;p103"/>
          <p:cNvSpPr txBox="1"/>
          <p:nvPr>
            <p:ph idx="4294967295" type="body"/>
          </p:nvPr>
        </p:nvSpPr>
        <p:spPr>
          <a:xfrm>
            <a:off x="788374" y="1948325"/>
            <a:ext cx="16659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+ 5 = 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103"/>
          <p:cNvSpPr txBox="1"/>
          <p:nvPr>
            <p:ph idx="4294967295" type="body"/>
          </p:nvPr>
        </p:nvSpPr>
        <p:spPr>
          <a:xfrm>
            <a:off x="788374" y="2382520"/>
            <a:ext cx="1907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3" name="Google Shape;1553;p103"/>
          <p:cNvSpPr txBox="1"/>
          <p:nvPr>
            <p:ph idx="1" type="body"/>
          </p:nvPr>
        </p:nvSpPr>
        <p:spPr>
          <a:xfrm>
            <a:off x="4914666" y="1959834"/>
            <a:ext cx="323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554" name="Google Shape;1554;p103"/>
          <p:cNvSpPr txBox="1"/>
          <p:nvPr>
            <p:ph idx="4294967295" type="body"/>
          </p:nvPr>
        </p:nvSpPr>
        <p:spPr>
          <a:xfrm>
            <a:off x="5425073" y="1929675"/>
            <a:ext cx="19788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− 4 = 10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5" name="Google Shape;1555;p103"/>
          <p:cNvSpPr txBox="1"/>
          <p:nvPr>
            <p:ph idx="4294967295" type="body"/>
          </p:nvPr>
        </p:nvSpPr>
        <p:spPr>
          <a:xfrm>
            <a:off x="5425074" y="2405549"/>
            <a:ext cx="2218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10 − (2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6" name="Google Shape;155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2176" y="914124"/>
            <a:ext cx="1080280" cy="12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03"/>
          <p:cNvSpPr txBox="1"/>
          <p:nvPr>
            <p:ph idx="4294967295" type="body"/>
          </p:nvPr>
        </p:nvSpPr>
        <p:spPr>
          <a:xfrm>
            <a:off x="788375" y="2839720"/>
            <a:ext cx="17346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8" name="Google Shape;1558;p103"/>
          <p:cNvSpPr txBox="1"/>
          <p:nvPr>
            <p:ph idx="4294967295" type="body"/>
          </p:nvPr>
        </p:nvSpPr>
        <p:spPr>
          <a:xfrm>
            <a:off x="788370" y="3315587"/>
            <a:ext cx="13323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12 − 3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9" name="Google Shape;1559;p103"/>
          <p:cNvSpPr txBox="1"/>
          <p:nvPr>
            <p:ph idx="4294967295" type="body"/>
          </p:nvPr>
        </p:nvSpPr>
        <p:spPr>
          <a:xfrm>
            <a:off x="5425074" y="2904427"/>
            <a:ext cx="2218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0" name="Google Shape;1560;p103"/>
          <p:cNvSpPr txBox="1"/>
          <p:nvPr>
            <p:ph idx="4294967295" type="body"/>
          </p:nvPr>
        </p:nvSpPr>
        <p:spPr>
          <a:xfrm>
            <a:off x="5425075" y="3437825"/>
            <a:ext cx="16659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14 − 2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30000" i="1"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1" name="Google Shape;1561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6836" y="2389414"/>
            <a:ext cx="364483" cy="385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1690" y="2890928"/>
            <a:ext cx="364483" cy="38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221" y="44194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4" name="Google Shape;1564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0471" y="3336584"/>
            <a:ext cx="364483" cy="38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5" name="Google Shape;1565;p103"/>
          <p:cNvSpPr txBox="1"/>
          <p:nvPr>
            <p:ph idx="4294967295" type="body"/>
          </p:nvPr>
        </p:nvSpPr>
        <p:spPr>
          <a:xfrm>
            <a:off x="2998150" y="2744875"/>
            <a:ext cx="22182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need to subtract both terms inside the brackets.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6" name="Google Shape;1566;p103"/>
          <p:cNvSpPr txBox="1"/>
          <p:nvPr>
            <p:ph idx="4294967295" type="body"/>
          </p:nvPr>
        </p:nvSpPr>
        <p:spPr>
          <a:xfrm>
            <a:off x="788374" y="3795800"/>
            <a:ext cx="19077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7" name="Google Shape;1567;p103"/>
          <p:cNvSpPr txBox="1"/>
          <p:nvPr>
            <p:ph idx="4294967295" type="body"/>
          </p:nvPr>
        </p:nvSpPr>
        <p:spPr>
          <a:xfrm>
            <a:off x="788375" y="4176800"/>
            <a:ext cx="16659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7 − 3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8" name="Google Shape;1568;p103"/>
          <p:cNvSpPr txBox="1"/>
          <p:nvPr>
            <p:ph idx="4294967295" type="body"/>
          </p:nvPr>
        </p:nvSpPr>
        <p:spPr>
          <a:xfrm>
            <a:off x="788375" y="4539134"/>
            <a:ext cx="16659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2 − 3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9" name="Google Shape;156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036" y="2400921"/>
            <a:ext cx="364483" cy="385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6649" y="2911307"/>
            <a:ext cx="364483" cy="385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929" y="3451867"/>
            <a:ext cx="364483" cy="385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04"/>
          <p:cNvSpPr txBox="1"/>
          <p:nvPr>
            <p:ph idx="1" type="body"/>
          </p:nvPr>
        </p:nvSpPr>
        <p:spPr>
          <a:xfrm>
            <a:off x="324000" y="1232400"/>
            <a:ext cx="8113800" cy="1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Additive relationships between variables can be rewritten in a number of different ways.</a:t>
            </a:r>
            <a:endParaRPr/>
          </a:p>
        </p:txBody>
      </p:sp>
      <p:sp>
        <p:nvSpPr>
          <p:cNvPr id="1577" name="Google Shape;1577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Additive relationships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83" name="Google Shape;1583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