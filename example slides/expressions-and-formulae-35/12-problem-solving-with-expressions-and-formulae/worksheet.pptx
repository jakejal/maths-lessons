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g2b4955da87a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b4955da87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sp>
        <p:nvSpPr>
          <p:cNvPr id="312" name="Google Shape;312;g2b4955da87a_0_5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b4955da87a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sp>
        <p:nvSpPr>
          <p:cNvPr id="335" name="Google Shape;33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expressions and formulae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27850"/>
            <a:ext cx="66240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Forming expressions for area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29050"/>
            <a:ext cx="66105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some formula for the area of 2D shapes which may help you with the following task.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29752" y="2263011"/>
            <a:ext cx="735000" cy="1034400"/>
          </a:xfrm>
          <a:prstGeom prst="parallelogram">
            <a:avLst>
              <a:gd name="adj" fmla="val 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30479" y="2683671"/>
            <a:ext cx="162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l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1116025" y="3324121"/>
            <a:ext cx="1626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w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3577315"/>
            <a:ext cx="19218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width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" name="Google Shape;167;p20"/>
          <p:cNvCxnSpPr/>
          <p:nvPr/>
        </p:nvCxnSpPr>
        <p:spPr>
          <a:xfrm flipH="1">
            <a:off x="746683" y="2263025"/>
            <a:ext cx="0" cy="103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8" name="Google Shape;168;p20"/>
          <p:cNvCxnSpPr/>
          <p:nvPr/>
        </p:nvCxnSpPr>
        <p:spPr>
          <a:xfrm flipH="1">
            <a:off x="834505" y="3374165"/>
            <a:ext cx="7317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69" name="Google Shape;169;p20"/>
          <p:cNvGrpSpPr/>
          <p:nvPr/>
        </p:nvGrpSpPr>
        <p:grpSpPr>
          <a:xfrm rot="5400000" flipH="1">
            <a:off x="1417534" y="3142327"/>
            <a:ext cx="147951" cy="147937"/>
            <a:chOff x="3397534" y="3193326"/>
            <a:chExt cx="179400" cy="172200"/>
          </a:xfrm>
        </p:grpSpPr>
        <p:cxnSp>
          <p:nvCxnSpPr>
            <p:cNvPr id="170" name="Google Shape;170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 rot="-5400000">
            <a:off x="829884" y="3142323"/>
            <a:ext cx="147951" cy="147937"/>
            <a:chOff x="3397534" y="3193326"/>
            <a:chExt cx="179400" cy="172200"/>
          </a:xfrm>
        </p:grpSpPr>
        <p:cxnSp>
          <p:nvCxnSpPr>
            <p:cNvPr id="173" name="Google Shape;173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174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5" name="Google Shape;175;p20"/>
          <p:cNvGrpSpPr/>
          <p:nvPr/>
        </p:nvGrpSpPr>
        <p:grpSpPr>
          <a:xfrm rot="5400000">
            <a:off x="1417534" y="2263090"/>
            <a:ext cx="147951" cy="147937"/>
            <a:chOff x="3397534" y="3193326"/>
            <a:chExt cx="179400" cy="172200"/>
          </a:xfrm>
        </p:grpSpPr>
        <p:cxnSp>
          <p:nvCxnSpPr>
            <p:cNvPr id="176" name="Google Shape;176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8" name="Google Shape;178;p20"/>
          <p:cNvGrpSpPr/>
          <p:nvPr/>
        </p:nvGrpSpPr>
        <p:grpSpPr>
          <a:xfrm rot="-5400000" flipH="1">
            <a:off x="829884" y="2283329"/>
            <a:ext cx="147951" cy="147937"/>
            <a:chOff x="3397534" y="3193326"/>
            <a:chExt cx="179400" cy="172200"/>
          </a:xfrm>
        </p:grpSpPr>
        <p:cxnSp>
          <p:nvCxnSpPr>
            <p:cNvPr id="179" name="Google Shape;179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1" name="Google Shape;181;p20"/>
          <p:cNvSpPr/>
          <p:nvPr/>
        </p:nvSpPr>
        <p:spPr>
          <a:xfrm rot="5400000">
            <a:off x="3084885" y="2320752"/>
            <a:ext cx="1022100" cy="1025400"/>
          </a:xfrm>
          <a:prstGeom prst="triangle">
            <a:avLst>
              <a:gd name="adj" fmla="val 297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878612" y="2695300"/>
            <a:ext cx="1530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b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542744" y="3363861"/>
            <a:ext cx="1530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h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3086118" y="3385687"/>
            <a:ext cx="1025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" name="Google Shape;185;p20"/>
          <p:cNvSpPr txBox="1"/>
          <p:nvPr/>
        </p:nvSpPr>
        <p:spPr>
          <a:xfrm>
            <a:off x="2436632" y="3572406"/>
            <a:ext cx="20742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base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>
          <a:blip r:embed="rId3">
            <a:alphaModFix/>
          </a:blip>
          <a:srcRect l="18915" t="67326" r="59200" b="13790"/>
          <a:stretch>
            <a:fillRect/>
          </a:stretch>
        </p:blipFill>
        <p:spPr>
          <a:xfrm>
            <a:off x="2895473" y="3547566"/>
            <a:ext cx="236654" cy="3028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20"/>
          <p:cNvCxnSpPr/>
          <p:nvPr/>
        </p:nvCxnSpPr>
        <p:spPr>
          <a:xfrm flipH="1">
            <a:off x="2992445" y="2328861"/>
            <a:ext cx="0" cy="101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8" name="Google Shape;188;p20"/>
          <p:cNvSpPr txBox="1"/>
          <p:nvPr/>
        </p:nvSpPr>
        <p:spPr>
          <a:xfrm>
            <a:off x="4743498" y="3585139"/>
            <a:ext cx="21999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 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×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0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rcRect l="47488" r="7656"/>
          <a:stretch>
            <a:fillRect/>
          </a:stretch>
        </p:blipFill>
        <p:spPr>
          <a:xfrm>
            <a:off x="5467901" y="3464587"/>
            <a:ext cx="560436" cy="384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>
          <a:blip r:embed="rId3">
            <a:alphaModFix/>
          </a:blip>
          <a:srcRect l="18915" t="67326" r="59200" b="13790"/>
          <a:stretch>
            <a:fillRect/>
          </a:stretch>
        </p:blipFill>
        <p:spPr>
          <a:xfrm>
            <a:off x="5148213" y="3512694"/>
            <a:ext cx="236652" cy="30285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739967" y="3916496"/>
            <a:ext cx="2291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the parallel sides.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830781" y="2397757"/>
            <a:ext cx="1399800" cy="810600"/>
          </a:xfrm>
          <a:prstGeom prst="trapezoid">
            <a:avLst>
              <a:gd name="adj" fmla="val 42122"/>
            </a:avLst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>
            <a:off x="4830781" y="3271142"/>
            <a:ext cx="1395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5507742" y="3290014"/>
            <a:ext cx="1626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493298" y="2114252"/>
            <a:ext cx="1914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6226786" y="3208324"/>
            <a:ext cx="3138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97" name="Google Shape;197;p20"/>
          <p:cNvGrpSpPr/>
          <p:nvPr/>
        </p:nvGrpSpPr>
        <p:grpSpPr>
          <a:xfrm rot="5400000" flipH="1">
            <a:off x="6415275" y="3083031"/>
            <a:ext cx="127787" cy="122641"/>
            <a:chOff x="3397534" y="3193326"/>
            <a:chExt cx="179400" cy="172200"/>
          </a:xfrm>
        </p:grpSpPr>
        <p:cxnSp>
          <p:nvCxnSpPr>
            <p:cNvPr id="198" name="Google Shape;198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00" name="Google Shape;200;p20"/>
          <p:cNvCxnSpPr/>
          <p:nvPr/>
        </p:nvCxnSpPr>
        <p:spPr>
          <a:xfrm flipH="1">
            <a:off x="6540356" y="2417616"/>
            <a:ext cx="1800" cy="79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1" name="Google Shape;201;p20"/>
          <p:cNvSpPr txBox="1"/>
          <p:nvPr/>
        </p:nvSpPr>
        <p:spPr>
          <a:xfrm>
            <a:off x="6610191" y="2696278"/>
            <a:ext cx="4818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>
            <a:off x="5154526" y="2332446"/>
            <a:ext cx="71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3" name="Google Shape;203;p20"/>
          <p:cNvSpPr/>
          <p:nvPr/>
        </p:nvSpPr>
        <p:spPr>
          <a:xfrm>
            <a:off x="5192318" y="4977952"/>
            <a:ext cx="1096800" cy="1096800"/>
          </a:xfrm>
          <a:prstGeom prst="rect">
            <a:avLst/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68000" y="4452050"/>
            <a:ext cx="6431400" cy="23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a sentence explaining why the area of this shape can be written in each of the following ways: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 rot="-5400000">
            <a:off x="5915325" y="5526251"/>
            <a:ext cx="108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" name="Google Shape;206;p20"/>
          <p:cNvSpPr txBox="1"/>
          <p:nvPr/>
        </p:nvSpPr>
        <p:spPr>
          <a:xfrm>
            <a:off x="6528634" y="5403479"/>
            <a:ext cx="5544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" name="Google Shape;207;p20"/>
          <p:cNvGrpSpPr/>
          <p:nvPr/>
        </p:nvGrpSpPr>
        <p:grpSpPr>
          <a:xfrm rot="5400000" flipH="1">
            <a:off x="6135578" y="5921025"/>
            <a:ext cx="153548" cy="153534"/>
            <a:chOff x="3397534" y="3193326"/>
            <a:chExt cx="179400" cy="172200"/>
          </a:xfrm>
        </p:grpSpPr>
        <p:cxnSp>
          <p:nvCxnSpPr>
            <p:cNvPr id="208" name="Google Shape;208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0" name="Google Shape;210;p20"/>
          <p:cNvGrpSpPr/>
          <p:nvPr/>
        </p:nvGrpSpPr>
        <p:grpSpPr>
          <a:xfrm rot="-5400000">
            <a:off x="5203847" y="5905485"/>
            <a:ext cx="153548" cy="153534"/>
            <a:chOff x="3397534" y="3193326"/>
            <a:chExt cx="179400" cy="172200"/>
          </a:xfrm>
        </p:grpSpPr>
        <p:cxnSp>
          <p:nvCxnSpPr>
            <p:cNvPr id="211" name="Google Shape;211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3" name="Google Shape;213;p20"/>
          <p:cNvGrpSpPr/>
          <p:nvPr/>
        </p:nvGrpSpPr>
        <p:grpSpPr>
          <a:xfrm rot="5400000">
            <a:off x="6135578" y="4977154"/>
            <a:ext cx="153548" cy="153534"/>
            <a:chOff x="3397534" y="3193326"/>
            <a:chExt cx="179400" cy="172200"/>
          </a:xfrm>
        </p:grpSpPr>
        <p:cxnSp>
          <p:nvCxnSpPr>
            <p:cNvPr id="214" name="Google Shape;214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6" name="Google Shape;216;p20"/>
          <p:cNvGrpSpPr/>
          <p:nvPr/>
        </p:nvGrpSpPr>
        <p:grpSpPr>
          <a:xfrm rot="-5400000" flipH="1">
            <a:off x="5203847" y="4992695"/>
            <a:ext cx="153548" cy="153534"/>
            <a:chOff x="3397534" y="3193326"/>
            <a:chExt cx="179400" cy="172200"/>
          </a:xfrm>
        </p:grpSpPr>
        <p:cxnSp>
          <p:nvCxnSpPr>
            <p:cNvPr id="217" name="Google Shape;217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20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19" name="Google Shape;219;p20"/>
          <p:cNvCxnSpPr/>
          <p:nvPr/>
        </p:nvCxnSpPr>
        <p:spPr>
          <a:xfrm flipH="1">
            <a:off x="5736243" y="5998755"/>
            <a:ext cx="0" cy="17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0"/>
          <p:cNvCxnSpPr/>
          <p:nvPr/>
        </p:nvCxnSpPr>
        <p:spPr>
          <a:xfrm flipH="1">
            <a:off x="5736243" y="4922187"/>
            <a:ext cx="0" cy="17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0"/>
          <p:cNvCxnSpPr/>
          <p:nvPr/>
        </p:nvCxnSpPr>
        <p:spPr>
          <a:xfrm flipH="1">
            <a:off x="6299210" y="5470478"/>
            <a:ext cx="0" cy="17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0"/>
          <p:cNvCxnSpPr/>
          <p:nvPr/>
        </p:nvCxnSpPr>
        <p:spPr>
          <a:xfrm flipH="1">
            <a:off x="5184948" y="5470478"/>
            <a:ext cx="0" cy="17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0"/>
          <p:cNvSpPr txBox="1"/>
          <p:nvPr/>
        </p:nvSpPr>
        <p:spPr>
          <a:xfrm>
            <a:off x="478774" y="4927666"/>
            <a:ext cx="4734000" cy="21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" baseline="30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68000" y="7402475"/>
            <a:ext cx="66105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Draw a rectangle with an area of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(6 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)(2 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different expression for the area of your rectangle.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8" name="Shape 228"/>
        <p:cNvGrpSpPr/>
        <p:nvPr/>
      </p:nvGrpSpPr>
      <p:grpSpPr>
        <a:xfrm>
          <a:off x="0" y="0"/>
          <a:ext cx="0" cy="0"/>
        </a:xfrm>
      </p:grpSpPr>
      <p:sp>
        <p:nvSpPr>
          <p:cNvPr id="229" name="Google Shape;22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expressions and formulae</a:t>
            </a:r>
            <a:endParaRPr/>
          </a:p>
        </p:txBody>
      </p:sp>
      <p:cxnSp>
        <p:nvCxnSpPr>
          <p:cNvPr id="230" name="Google Shape;230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21"/>
          <p:cNvSpPr txBox="1"/>
          <p:nvPr/>
        </p:nvSpPr>
        <p:spPr>
          <a:xfrm>
            <a:off x="474750" y="721650"/>
            <a:ext cx="60381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Explain why the area of this shape be written as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5704944" y="2377142"/>
            <a:ext cx="1302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3" name="Google Shape;233;p21"/>
          <p:cNvSpPr txBox="1"/>
          <p:nvPr/>
        </p:nvSpPr>
        <p:spPr>
          <a:xfrm>
            <a:off x="6089117" y="2377142"/>
            <a:ext cx="666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704944" y="1191803"/>
            <a:ext cx="1256700" cy="1086900"/>
          </a:xfrm>
          <a:prstGeom prst="triangle">
            <a:avLst>
              <a:gd name="adj" fmla="val 35391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" name="Google Shape;235;p21"/>
          <p:cNvCxnSpPr/>
          <p:nvPr/>
        </p:nvCxnSpPr>
        <p:spPr>
          <a:xfrm flipH="1">
            <a:off x="5270896" y="1221049"/>
            <a:ext cx="2400" cy="1094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6" name="Google Shape;236;p21"/>
          <p:cNvCxnSpPr/>
          <p:nvPr/>
        </p:nvCxnSpPr>
        <p:spPr>
          <a:xfrm rot="10800000">
            <a:off x="5270850" y="2278743"/>
            <a:ext cx="4341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37" name="Google Shape;237;p21"/>
          <p:cNvGrpSpPr/>
          <p:nvPr/>
        </p:nvGrpSpPr>
        <p:grpSpPr>
          <a:xfrm rot="-5400000">
            <a:off x="5267364" y="2105294"/>
            <a:ext cx="176870" cy="169755"/>
            <a:chOff x="3397534" y="3193326"/>
            <a:chExt cx="179400" cy="172200"/>
          </a:xfrm>
        </p:grpSpPr>
        <p:cxnSp>
          <p:nvCxnSpPr>
            <p:cNvPr id="238" name="Google Shape;238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0" name="Google Shape;240;p21"/>
          <p:cNvSpPr txBox="1"/>
          <p:nvPr/>
        </p:nvSpPr>
        <p:spPr>
          <a:xfrm>
            <a:off x="4690356" y="1587502"/>
            <a:ext cx="666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549009" y="718677"/>
            <a:ext cx="2168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+ 5)(6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" name="Google Shape;242;p21"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>
          <a:blip r:embed="rId3">
            <a:alphaModFix/>
          </a:blip>
          <a:srcRect l="18915" t="67326" r="59200" b="13790"/>
          <a:stretch>
            <a:fillRect/>
          </a:stretch>
        </p:blipFill>
        <p:spPr>
          <a:xfrm>
            <a:off x="4298617" y="693303"/>
            <a:ext cx="260886" cy="33383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474750" y="1635057"/>
            <a:ext cx="3910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the expression for the area of this shape in two different ways.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68000" y="3282300"/>
            <a:ext cx="44856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Draw and label a triangle with area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5211986" y="5735777"/>
            <a:ext cx="1401900" cy="1330200"/>
          </a:xfrm>
          <a:prstGeom prst="roundRect">
            <a:avLst>
              <a:gd name="adj" fmla="val 82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498115" y="5735777"/>
            <a:ext cx="1647600" cy="1330200"/>
          </a:xfrm>
          <a:prstGeom prst="roundRect">
            <a:avLst>
              <a:gd name="adj" fmla="val 82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757082" y="5735777"/>
            <a:ext cx="1673100" cy="1330200"/>
          </a:xfrm>
          <a:prstGeom prst="roundRect">
            <a:avLst>
              <a:gd name="adj" fmla="val 82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20839" y="5735777"/>
            <a:ext cx="1169100" cy="1330200"/>
          </a:xfrm>
          <a:prstGeom prst="roundRect">
            <a:avLst>
              <a:gd name="adj" fmla="val 827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05384" y="5489250"/>
            <a:ext cx="5922900" cy="16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Match these shapes to the correct expression for their area.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0" name="Google Shape;250;p21"/>
          <p:cNvCxnSpPr/>
          <p:nvPr/>
        </p:nvCxnSpPr>
        <p:spPr>
          <a:xfrm>
            <a:off x="5692834" y="6849076"/>
            <a:ext cx="750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1" name="Google Shape;251;p21"/>
          <p:cNvSpPr txBox="1"/>
          <p:nvPr/>
        </p:nvSpPr>
        <p:spPr>
          <a:xfrm>
            <a:off x="5810282" y="6849076"/>
            <a:ext cx="654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790176" y="6024271"/>
            <a:ext cx="854400" cy="738900"/>
          </a:xfrm>
          <a:prstGeom prst="triangle">
            <a:avLst>
              <a:gd name="adj" fmla="val 0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" name="Google Shape;253;p21"/>
          <p:cNvCxnSpPr/>
          <p:nvPr/>
        </p:nvCxnSpPr>
        <p:spPr>
          <a:xfrm flipH="1">
            <a:off x="5427505" y="6095654"/>
            <a:ext cx="0" cy="69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4" name="Google Shape;254;p21"/>
          <p:cNvCxnSpPr/>
          <p:nvPr/>
        </p:nvCxnSpPr>
        <p:spPr>
          <a:xfrm rot="10800000">
            <a:off x="5427819" y="6774714"/>
            <a:ext cx="2889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55" name="Google Shape;255;p21"/>
          <p:cNvGrpSpPr/>
          <p:nvPr/>
        </p:nvGrpSpPr>
        <p:grpSpPr>
          <a:xfrm rot="-5400000">
            <a:off x="5425132" y="6659236"/>
            <a:ext cx="117830" cy="113101"/>
            <a:chOff x="3397534" y="3193326"/>
            <a:chExt cx="179400" cy="172200"/>
          </a:xfrm>
        </p:grpSpPr>
        <p:cxnSp>
          <p:nvCxnSpPr>
            <p:cNvPr id="256" name="Google Shape;256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8" name="Google Shape;258;p21"/>
          <p:cNvSpPr txBox="1"/>
          <p:nvPr/>
        </p:nvSpPr>
        <p:spPr>
          <a:xfrm rot="-5400000">
            <a:off x="5054761" y="6188932"/>
            <a:ext cx="519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122115" y="6138417"/>
            <a:ext cx="1243200" cy="637500"/>
          </a:xfrm>
          <a:prstGeom prst="trapezoid">
            <a:avLst>
              <a:gd name="adj" fmla="val 42122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3784083" y="6044493"/>
            <a:ext cx="1243200" cy="741900"/>
          </a:xfrm>
          <a:prstGeom prst="rect">
            <a:avLst/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692834" y="6099087"/>
            <a:ext cx="714000" cy="676800"/>
          </a:xfrm>
          <a:prstGeom prst="triangle">
            <a:avLst>
              <a:gd name="adj" fmla="val 35391"/>
            </a:avLst>
          </a:prstGeom>
          <a:solidFill>
            <a:srgbClr val="845AD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3759812" y="6878110"/>
            <a:ext cx="12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3" name="Google Shape;263;p21"/>
          <p:cNvSpPr txBox="1"/>
          <p:nvPr/>
        </p:nvSpPr>
        <p:spPr>
          <a:xfrm>
            <a:off x="4202536" y="6878110"/>
            <a:ext cx="654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 flipH="1">
            <a:off x="3693017" y="6049297"/>
            <a:ext cx="0" cy="74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5" name="Google Shape;265;p21"/>
          <p:cNvSpPr txBox="1"/>
          <p:nvPr/>
        </p:nvSpPr>
        <p:spPr>
          <a:xfrm rot="-5400000">
            <a:off x="3320287" y="6243720"/>
            <a:ext cx="519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 flipH="1">
            <a:off x="1938051" y="6111832"/>
            <a:ext cx="0" cy="66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7" name="Google Shape;267;p21"/>
          <p:cNvCxnSpPr/>
          <p:nvPr/>
        </p:nvCxnSpPr>
        <p:spPr>
          <a:xfrm rot="10800000">
            <a:off x="1956602" y="6774696"/>
            <a:ext cx="2160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68" name="Google Shape;268;p21"/>
          <p:cNvGrpSpPr/>
          <p:nvPr/>
        </p:nvGrpSpPr>
        <p:grpSpPr>
          <a:xfrm rot="-5400000">
            <a:off x="1935678" y="6659254"/>
            <a:ext cx="117830" cy="113101"/>
            <a:chOff x="3397534" y="3193326"/>
            <a:chExt cx="179400" cy="172200"/>
          </a:xfrm>
        </p:grpSpPr>
        <p:cxnSp>
          <p:nvCxnSpPr>
            <p:cNvPr id="269" name="Google Shape;269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" name="Google Shape;270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1" name="Google Shape;271;p21"/>
          <p:cNvSpPr txBox="1"/>
          <p:nvPr/>
        </p:nvSpPr>
        <p:spPr>
          <a:xfrm rot="-5400000">
            <a:off x="1582624" y="6224987"/>
            <a:ext cx="519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2" name="Google Shape;272;p21"/>
          <p:cNvCxnSpPr/>
          <p:nvPr/>
        </p:nvCxnSpPr>
        <p:spPr>
          <a:xfrm flipH="1">
            <a:off x="715485" y="6012138"/>
            <a:ext cx="0" cy="74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3" name="Google Shape;273;p21"/>
          <p:cNvSpPr txBox="1"/>
          <p:nvPr/>
        </p:nvSpPr>
        <p:spPr>
          <a:xfrm rot="-5400000">
            <a:off x="342974" y="6180281"/>
            <a:ext cx="519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2112900" y="6878110"/>
            <a:ext cx="124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5" name="Google Shape;275;p21"/>
          <p:cNvSpPr txBox="1"/>
          <p:nvPr/>
        </p:nvSpPr>
        <p:spPr>
          <a:xfrm>
            <a:off x="2474359" y="6878110"/>
            <a:ext cx="654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/>
          <p:nvPr/>
        </p:nvCxnSpPr>
        <p:spPr>
          <a:xfrm>
            <a:off x="782538" y="6849071"/>
            <a:ext cx="85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7" name="Google Shape;277;p21"/>
          <p:cNvSpPr txBox="1"/>
          <p:nvPr/>
        </p:nvSpPr>
        <p:spPr>
          <a:xfrm>
            <a:off x="942009" y="6849071"/>
            <a:ext cx="593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8" name="Google Shape;278;p21"/>
          <p:cNvCxnSpPr/>
          <p:nvPr/>
        </p:nvCxnSpPr>
        <p:spPr>
          <a:xfrm>
            <a:off x="2406358" y="6022637"/>
            <a:ext cx="666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9" name="Google Shape;279;p21"/>
          <p:cNvSpPr txBox="1"/>
          <p:nvPr/>
        </p:nvSpPr>
        <p:spPr>
          <a:xfrm>
            <a:off x="2510397" y="5802533"/>
            <a:ext cx="6543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0" name="Google Shape;280;p21"/>
          <p:cNvGrpSpPr/>
          <p:nvPr/>
        </p:nvGrpSpPr>
        <p:grpSpPr>
          <a:xfrm rot="5400000">
            <a:off x="4868922" y="6052125"/>
            <a:ext cx="141403" cy="141393"/>
            <a:chOff x="3397534" y="3193326"/>
            <a:chExt cx="179400" cy="172200"/>
          </a:xfrm>
        </p:grpSpPr>
        <p:cxnSp>
          <p:nvCxnSpPr>
            <p:cNvPr id="281" name="Google Shape;281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3" name="Google Shape;283;p21"/>
          <p:cNvGrpSpPr/>
          <p:nvPr/>
        </p:nvGrpSpPr>
        <p:grpSpPr>
          <a:xfrm rot="-5400000" flipH="1">
            <a:off x="3791634" y="6052125"/>
            <a:ext cx="141403" cy="141393"/>
            <a:chOff x="3397534" y="3193326"/>
            <a:chExt cx="179400" cy="172200"/>
          </a:xfrm>
        </p:grpSpPr>
        <p:cxnSp>
          <p:nvCxnSpPr>
            <p:cNvPr id="284" name="Google Shape;284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6" name="Google Shape;286;p21"/>
          <p:cNvGrpSpPr/>
          <p:nvPr/>
        </p:nvGrpSpPr>
        <p:grpSpPr>
          <a:xfrm rot="5400000" flipH="1">
            <a:off x="4868922" y="6634461"/>
            <a:ext cx="141403" cy="141393"/>
            <a:chOff x="3397534" y="3193326"/>
            <a:chExt cx="179400" cy="172200"/>
          </a:xfrm>
        </p:grpSpPr>
        <p:cxnSp>
          <p:nvCxnSpPr>
            <p:cNvPr id="287" name="Google Shape;287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9" name="Google Shape;289;p21"/>
          <p:cNvGrpSpPr/>
          <p:nvPr/>
        </p:nvGrpSpPr>
        <p:grpSpPr>
          <a:xfrm rot="-5400000">
            <a:off x="3791634" y="6634461"/>
            <a:ext cx="141403" cy="141393"/>
            <a:chOff x="3397534" y="3193326"/>
            <a:chExt cx="179400" cy="172200"/>
          </a:xfrm>
        </p:grpSpPr>
        <p:cxnSp>
          <p:nvCxnSpPr>
            <p:cNvPr id="290" name="Google Shape;290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1" name="Google Shape;291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2" name="Google Shape;292;p21"/>
          <p:cNvGrpSpPr/>
          <p:nvPr/>
        </p:nvGrpSpPr>
        <p:grpSpPr>
          <a:xfrm rot="-5400000">
            <a:off x="780179" y="6634461"/>
            <a:ext cx="141403" cy="141393"/>
            <a:chOff x="3397534" y="3193326"/>
            <a:chExt cx="179400" cy="172200"/>
          </a:xfrm>
        </p:grpSpPr>
        <p:cxnSp>
          <p:nvCxnSpPr>
            <p:cNvPr id="293" name="Google Shape;293;p2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4" name="Google Shape;294;p21"/>
            <p:cNvCxnSpPr/>
            <p:nvPr/>
          </p:nvCxnSpPr>
          <p:spPr>
            <a:xfrm rot="10800000" flipH="1">
              <a:off x="3571988" y="3193326"/>
              <a:ext cx="0" cy="17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5" name="Google Shape;295;p21"/>
          <p:cNvSpPr/>
          <p:nvPr/>
        </p:nvSpPr>
        <p:spPr>
          <a:xfrm>
            <a:off x="521408" y="5735768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1762649" y="5742616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3504012" y="5742616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5216514" y="5740205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5137569" y="7993004"/>
            <a:ext cx="1243200" cy="417000"/>
          </a:xfrm>
          <a:prstGeom prst="roundRect">
            <a:avLst>
              <a:gd name="adj" fmla="val 2562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535402" y="7993004"/>
            <a:ext cx="964500" cy="417000"/>
          </a:xfrm>
          <a:prstGeom prst="roundRect">
            <a:avLst>
              <a:gd name="adj" fmla="val 2562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5331050" y="8075941"/>
            <a:ext cx="1004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800515" y="8099434"/>
            <a:ext cx="7500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540881" y="7999853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1905094" y="7993004"/>
            <a:ext cx="1243200" cy="417000"/>
          </a:xfrm>
          <a:prstGeom prst="roundRect">
            <a:avLst>
              <a:gd name="adj" fmla="val 2562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1911943" y="7999853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2108479" y="8105474"/>
            <a:ext cx="1004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658301" y="7993004"/>
            <a:ext cx="1243200" cy="417000"/>
          </a:xfrm>
          <a:prstGeom prst="roundRect">
            <a:avLst>
              <a:gd name="adj" fmla="val 2562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3663780" y="7999853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3851784" y="8081513"/>
            <a:ext cx="964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5144418" y="7999853"/>
            <a:ext cx="193500" cy="1947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14" name="Shape 314"/>
        <p:cNvGrpSpPr/>
        <p:nvPr/>
      </p:nvGrpSpPr>
      <p:grpSpPr>
        <a:xfrm>
          <a:off x="0" y="0"/>
          <a:ext cx="0" cy="0"/>
        </a:xfrm>
      </p:grpSpPr>
      <p:pic>
        <p:nvPicPr>
          <p:cNvPr id="315" name="Google Shape;3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759" y="1530015"/>
            <a:ext cx="2117851" cy="191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6827" y="1732103"/>
            <a:ext cx="2022850" cy="1468597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expressions and formulae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468000" y="1040700"/>
            <a:ext cx="3115500" cy="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a simplified  expression for the area of this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468000" y="7200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Area of compound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" name="Google Shape;320;p22"/>
          <p:cNvCxnSpPr/>
          <p:nvPr/>
        </p:nvCxnSpPr>
        <p:spPr>
          <a:xfrm flipH="1">
            <a:off x="3742576" y="1074381"/>
            <a:ext cx="0" cy="32118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p22"/>
          <p:cNvSpPr txBox="1"/>
          <p:nvPr/>
        </p:nvSpPr>
        <p:spPr>
          <a:xfrm>
            <a:off x="3973200" y="1040700"/>
            <a:ext cx="3115500" cy="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a simplified  expression for the area of this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478427" y="6695800"/>
            <a:ext cx="66240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area of the shaded shape is 149 square units. Use this to find the value of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478424" y="4538375"/>
            <a:ext cx="66240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Calculate a simplified expression for the area of the shaded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860585" y="4905717"/>
            <a:ext cx="1524900" cy="1217700"/>
          </a:xfrm>
          <a:prstGeom prst="rect">
            <a:avLst/>
          </a:prstGeom>
          <a:solidFill>
            <a:srgbClr val="037B7D">
              <a:alpha val="53800"/>
            </a:srgbClr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1638604" y="5363675"/>
            <a:ext cx="568500" cy="576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2"/>
          <p:cNvCxnSpPr/>
          <p:nvPr/>
        </p:nvCxnSpPr>
        <p:spPr>
          <a:xfrm rot="10800000">
            <a:off x="860333" y="6190173"/>
            <a:ext cx="1525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7" name="Google Shape;327;p22"/>
          <p:cNvSpPr txBox="1"/>
          <p:nvPr/>
        </p:nvSpPr>
        <p:spPr>
          <a:xfrm>
            <a:off x="1395059" y="6190182"/>
            <a:ext cx="59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8" name="Google Shape;328;p22"/>
          <p:cNvCxnSpPr/>
          <p:nvPr/>
        </p:nvCxnSpPr>
        <p:spPr>
          <a:xfrm rot="-5400000">
            <a:off x="145936" y="5516779"/>
            <a:ext cx="1255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9" name="Google Shape;329;p22"/>
          <p:cNvSpPr txBox="1"/>
          <p:nvPr/>
        </p:nvSpPr>
        <p:spPr>
          <a:xfrm rot="-5400000">
            <a:off x="398944" y="5413568"/>
            <a:ext cx="46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1724046" y="5657071"/>
            <a:ext cx="456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 rot="-5400000" flipH="1">
            <a:off x="1196922" y="5535255"/>
            <a:ext cx="456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2" name="Google Shape;332;p22"/>
          <p:cNvCxnSpPr/>
          <p:nvPr/>
        </p:nvCxnSpPr>
        <p:spPr>
          <a:xfrm>
            <a:off x="1638604" y="5889691"/>
            <a:ext cx="55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3" name="Google Shape;333;p22"/>
          <p:cNvCxnSpPr/>
          <p:nvPr/>
        </p:nvCxnSpPr>
        <p:spPr>
          <a:xfrm rot="5400000">
            <a:off x="1302974" y="5636247"/>
            <a:ext cx="55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37" name="Shape 337"/>
        <p:cNvGrpSpPr/>
        <p:nvPr/>
      </p:nvGrpSpPr>
      <p:grpSpPr>
        <a:xfrm>
          <a:off x="0" y="0"/>
          <a:ext cx="0" cy="0"/>
        </a:xfrm>
      </p:grpSpPr>
      <p:sp>
        <p:nvSpPr>
          <p:cNvPr id="338" name="Google Shape;338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339" name="Google Shape;339;p23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expressions and formulae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468000" y="2922850"/>
            <a:ext cx="66219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area of the shaded shape is 99 square units. Use this to find the value of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3" name="Google Shape;343;p23"/>
          <p:cNvSpPr txBox="1"/>
          <p:nvPr/>
        </p:nvSpPr>
        <p:spPr>
          <a:xfrm>
            <a:off x="470100" y="719997"/>
            <a:ext cx="6621900" cy="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4a) Calculate a simplified expression for the area of the shaded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796914" y="1187239"/>
            <a:ext cx="1670400" cy="1235100"/>
          </a:xfrm>
          <a:prstGeom prst="rect">
            <a:avLst/>
          </a:prstGeom>
          <a:solidFill>
            <a:srgbClr val="037B7D">
              <a:alpha val="53800"/>
            </a:srgbClr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1110744" y="1159207"/>
            <a:ext cx="1042800" cy="93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6" name="Google Shape;346;p23"/>
          <p:cNvCxnSpPr/>
          <p:nvPr/>
        </p:nvCxnSpPr>
        <p:spPr>
          <a:xfrm flipH="1">
            <a:off x="1103122" y="1172386"/>
            <a:ext cx="0" cy="94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23"/>
          <p:cNvCxnSpPr/>
          <p:nvPr/>
        </p:nvCxnSpPr>
        <p:spPr>
          <a:xfrm flipH="1">
            <a:off x="2156026" y="1172386"/>
            <a:ext cx="0" cy="94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348;p23"/>
          <p:cNvCxnSpPr/>
          <p:nvPr/>
        </p:nvCxnSpPr>
        <p:spPr>
          <a:xfrm rot="10800000">
            <a:off x="1088360" y="2115939"/>
            <a:ext cx="1081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" name="Google Shape;349;p23"/>
          <p:cNvCxnSpPr/>
          <p:nvPr/>
        </p:nvCxnSpPr>
        <p:spPr>
          <a:xfrm rot="10800000">
            <a:off x="796595" y="2497717"/>
            <a:ext cx="1671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0" name="Google Shape;350;p23"/>
          <p:cNvSpPr txBox="1"/>
          <p:nvPr/>
        </p:nvSpPr>
        <p:spPr>
          <a:xfrm>
            <a:off x="1382352" y="2497726"/>
            <a:ext cx="7737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1" name="Google Shape;351;p23"/>
          <p:cNvCxnSpPr/>
          <p:nvPr/>
        </p:nvCxnSpPr>
        <p:spPr>
          <a:xfrm rot="10800000" flipH="1">
            <a:off x="2568735" y="1274931"/>
            <a:ext cx="0" cy="1138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2" name="Google Shape;352;p23"/>
          <p:cNvSpPr txBox="1"/>
          <p:nvPr/>
        </p:nvSpPr>
        <p:spPr>
          <a:xfrm>
            <a:off x="2670230" y="1733488"/>
            <a:ext cx="7737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1377004" y="1823808"/>
            <a:ext cx="6243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1859552" y="1472247"/>
            <a:ext cx="2163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5" name="Google Shape;355;p23"/>
          <p:cNvCxnSpPr/>
          <p:nvPr/>
        </p:nvCxnSpPr>
        <p:spPr>
          <a:xfrm rot="10800000">
            <a:off x="1125587" y="2049227"/>
            <a:ext cx="100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6" name="Google Shape;356;p23"/>
          <p:cNvCxnSpPr/>
          <p:nvPr/>
        </p:nvCxnSpPr>
        <p:spPr>
          <a:xfrm rot="10800000" flipH="1">
            <a:off x="2075941" y="1194695"/>
            <a:ext cx="0" cy="88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7" name="Google Shape;357;p23"/>
          <p:cNvSpPr/>
          <p:nvPr/>
        </p:nvSpPr>
        <p:spPr>
          <a:xfrm>
            <a:off x="796563" y="1191744"/>
            <a:ext cx="84300" cy="8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1013445" y="1191744"/>
            <a:ext cx="84300" cy="8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812550" y="2296045"/>
            <a:ext cx="108000" cy="108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2340297" y="2296045"/>
            <a:ext cx="108000" cy="108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2150548" y="1191744"/>
            <a:ext cx="84300" cy="8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2377645" y="1191744"/>
            <a:ext cx="84300" cy="8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468007" y="5482382"/>
            <a:ext cx="5704200" cy="28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a simplified expression for the area of one rectangle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a simplified expression for the area of the whole shape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a simplified expression for the area of the shaded square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3"/>
          <p:cNvSpPr txBox="1"/>
          <p:nvPr/>
        </p:nvSpPr>
        <p:spPr>
          <a:xfrm>
            <a:off x="468007" y="5146750"/>
            <a:ext cx="6618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Four identical rectangles sit round the outside of a shaded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6023598" y="5661274"/>
            <a:ext cx="759300" cy="2529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3"/>
          <p:cNvSpPr/>
          <p:nvPr/>
        </p:nvSpPr>
        <p:spPr>
          <a:xfrm rot="5400000">
            <a:off x="6529813" y="5914474"/>
            <a:ext cx="759300" cy="2529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3"/>
          <p:cNvSpPr/>
          <p:nvPr/>
        </p:nvSpPr>
        <p:spPr>
          <a:xfrm flipH="1">
            <a:off x="6276613" y="6427898"/>
            <a:ext cx="759300" cy="2529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3"/>
          <p:cNvSpPr/>
          <p:nvPr/>
        </p:nvSpPr>
        <p:spPr>
          <a:xfrm rot="5400000">
            <a:off x="5770576" y="6174939"/>
            <a:ext cx="759300" cy="2529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3"/>
          <p:cNvSpPr/>
          <p:nvPr/>
        </p:nvSpPr>
        <p:spPr>
          <a:xfrm rot="5400000">
            <a:off x="6280256" y="5920018"/>
            <a:ext cx="494100" cy="494400"/>
          </a:xfrm>
          <a:prstGeom prst="rect">
            <a:avLst/>
          </a:prstGeom>
          <a:solidFill>
            <a:srgbClr val="037B7D">
              <a:alpha val="53800"/>
            </a:srgbClr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0" name="Google Shape;370;p23"/>
          <p:cNvCxnSpPr/>
          <p:nvPr/>
        </p:nvCxnSpPr>
        <p:spPr>
          <a:xfrm rot="10800000">
            <a:off x="6008883" y="6743200"/>
            <a:ext cx="282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1" name="Google Shape;371;p23"/>
          <p:cNvSpPr txBox="1"/>
          <p:nvPr/>
        </p:nvSpPr>
        <p:spPr>
          <a:xfrm>
            <a:off x="5964240" y="6787677"/>
            <a:ext cx="6237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6164062" y="5378564"/>
            <a:ext cx="6237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3" name="Google Shape;373;p23"/>
          <p:cNvCxnSpPr/>
          <p:nvPr/>
        </p:nvCxnSpPr>
        <p:spPr>
          <a:xfrm rot="10800000">
            <a:off x="6028088" y="5593269"/>
            <a:ext cx="718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4" name="Google Shape;374;p23"/>
          <p:cNvSpPr txBox="1"/>
          <p:nvPr/>
        </p:nvSpPr>
        <p:spPr>
          <a:xfrm>
            <a:off x="3110700" y="1175325"/>
            <a:ext cx="14487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Not drawn to scale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77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3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Problem solving with expressions and formulae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2024-02-06T11:43:53.943</cp:lastPrinted>
  <dcterms:created xsi:type="dcterms:W3CDTF">2024-02-06T11:43:53Z</dcterms:created>
  <dcterms:modified xsi:type="dcterms:W3CDTF">2024-02-06T11:40:52Z</dcterms:modified>
</cp:coreProperties>
</file>