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Default Extension="fntdata" ContentType="application/x-fontdata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&#65279;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officeDocument/2006/relationships/extended-properties" Target="docProps/app.xml" /><Relationship Id="rId4" Type="http://schemas.openxmlformats.org/package/2006/relationships/metadata/thumbnail" Target="docProps/thumbnail.jpeg" /></Relationships>
</file>

<file path=ppt/presentation.xml><?xml version="1.0" encoding="utf-8"?>
<!--Generated by Aspose.Slides for .NET 24.1-->
<p:presentation xmlns:r="http://schemas.openxmlformats.org/officeDocument/2006/relationships" xmlns:a="http://schemas.openxmlformats.org/drawingml/2006/main" xmlns:p="http://schemas.openxmlformats.org/presentationml/2006/main" strictFirstAndLastChars="0" embedTrueTypeFonts="1" saveSubsetFonts="1" autoCompressPictures="0">
  <p:sldMasterIdLst>
    <p:sldMasterId id="2147483665" r:id="rId1"/>
    <p:sldMasterId id="2147483666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</p:sldIdLst>
  <p:sldSz cx="7560000" cy="10692000"/>
  <p:notesSz cx="6858000" cy="9144000"/>
  <p:embeddedFontLst>
    <p:embeddedFont>
      <p:font typeface="Lexend" panose="00000000000000000000"/>
      <p:regular r:id="rId9"/>
    </p:embeddedFont>
    <p:embeddedFont>
      <p:font typeface="Kalam" panose="02000000000000000000"/>
      <p:regular r:id="rId10"/>
    </p:embeddedFont>
    <p:embeddedFont>
      <p:font typeface="Lexend Medium" panose="00000000000000000000"/>
      <p:regular r:id="rId11"/>
    </p:embeddedFont>
    <p:embeddedFont>
      <p:font typeface="Lexend Light" panose="00000000000000000000"/>
      <p:regular r:id="rId12"/>
    </p:embeddedFont>
  </p:embeddedFontLst>
  <p:custDataLst>
    <p:tags r:id="rId8"/>
  </p:custDataLst>
  <p:defaultText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r="http://schemas.openxmlformats.org/officeDocument/2006/relationships" xmlns:a="http://schemas.openxmlformats.org/drawingml/2006/main" xmlns:p="http://schemas.openxmlformats.org/presentationml/2006/main">
  <p:showPr showNarration="1">
    <p:present/>
    <p:extLs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  <p:ext uri="{1BD7E111-0CB8-44D6-8891-C1BB2F81B7CC}">
      <p1710:readonlyRecommended xmlns:p1710="http://schemas.microsoft.com/office/powerpoint/2017/10/main" val="0"/>
    </p:ext>
  </p:extLst>
</p:presentationPr>
</file>

<file path=ppt/tableStyles.xml><?xml version="1.0" encoding="utf-8"?>
<a:tblStyleLst xmlns:r="http://schemas.openxmlformats.org/officeDocument/2006/relationships" xmlns:a="http://schemas.openxmlformats.org/drawingml/2006/main" def="{B6F647B3-9569-4EB7-A100-5391595FD910}">
  <a:tblStyle styleId="{B6F647B3-9569-4EB7-A100-5391595FD910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6000"/>
    <p:restoredTop sz="0"/>
  </p:normalViewPr>
  <p:slideViewPr>
    <p:cSldViewPr>
      <p:cViewPr>
        <p:scale>
          <a:sx n="73" d="100"/>
          <a:sy n="73" d="100"/>
        </p:scale>
        <p:origin x="0" y="0"/>
      </p:cViewPr>
    </p:cSldViewPr>
  </p:slideViewPr>
  <p:notesViewPr>
    <p:cSldViewPr>
      <p:cViewPr>
        <p:scale>
          <a:sx n="1" d="100"/>
          <a:sy n="1" d="100"/>
        </p:scale>
        <p:origin x="0" y="0"/>
      </p:cViewPr>
    </p:cSldViewPr>
  </p:notesViewPr>
</p:viewPr>
</file>

<file path=ppt/_rels/presentation.xml.rels>&#65279;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 /><Relationship Id="rId10" Type="http://schemas.openxmlformats.org/officeDocument/2006/relationships/font" Target="fonts/font2.fntdata" /><Relationship Id="rId11" Type="http://schemas.openxmlformats.org/officeDocument/2006/relationships/font" Target="fonts/font3.fntdata" /><Relationship Id="rId12" Type="http://schemas.openxmlformats.org/officeDocument/2006/relationships/font" Target="fonts/font4.fntdata" /><Relationship Id="rId13" Type="http://schemas.openxmlformats.org/officeDocument/2006/relationships/presProps" Target="presProps.xml" /><Relationship Id="rId14" Type="http://schemas.openxmlformats.org/officeDocument/2006/relationships/viewProps" Target="viewProps.xml" /><Relationship Id="rId15" Type="http://schemas.openxmlformats.org/officeDocument/2006/relationships/theme" Target="theme/theme1.xml" /><Relationship Id="rId16" Type="http://schemas.openxmlformats.org/officeDocument/2006/relationships/tableStyles" Target="tableStyles.xml" /><Relationship Id="rId2" Type="http://schemas.openxmlformats.org/officeDocument/2006/relationships/slideMaster" Target="slideMasters/slideMaster2.xml" /><Relationship Id="rId3" Type="http://schemas.openxmlformats.org/officeDocument/2006/relationships/notesMaster" Target="notesMasters/notesMaster1.xml" /><Relationship Id="rId4" Type="http://schemas.openxmlformats.org/officeDocument/2006/relationships/slide" Target="slides/slide1.xml" /><Relationship Id="rId5" Type="http://schemas.openxmlformats.org/officeDocument/2006/relationships/slide" Target="slides/slide2.xml" /><Relationship Id="rId6" Type="http://schemas.openxmlformats.org/officeDocument/2006/relationships/slide" Target="slides/slide3.xml" /><Relationship Id="rId7" Type="http://schemas.openxmlformats.org/officeDocument/2006/relationships/slide" Target="slides/slide4.xml" /><Relationship Id="rId8" Type="http://schemas.openxmlformats.org/officeDocument/2006/relationships/tags" Target="tags/tag1.xml" /><Relationship Id="rId9" Type="http://schemas.openxmlformats.org/officeDocument/2006/relationships/font" Target="fonts/font1.fntdata" /></Relationships>
</file>

<file path=ppt/notesMasters/_rels/notesMaster1.xml.rels>&#65279;<?xml version="1.0" encoding="utf-8" standalone="yes"?><Relationships xmlns="http://schemas.openxmlformats.org/package/2006/relationships"><Relationship Id="rId1" Type="http://schemas.openxmlformats.org/officeDocument/2006/relationships/theme" Target="../theme/theme3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2" name="Shape 2"/>
        <p:cNvGrpSpPr/>
        <p:nvPr/>
      </p:nvGrpSpPr>
      <p:grpSpPr>
        <a:xfrm>
          <a:off x="0" y="0"/>
          <a:ext cx="0" cy="0"/>
        </a:xfrm>
      </p:grpSpPr>
      <p:sp>
        <p:nvSpPr>
          <p:cNvPr id="3" name="Google Shape;3;n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.xml" /><Relationship Id="rId2" Type="http://schemas.openxmlformats.org/officeDocument/2006/relationships/notesMaster" Target="../notesMasters/notesMaster1.xml" /></Relationships>
</file>

<file path=ppt/notesSlides/_rels/notesSlide2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.xml" /><Relationship Id="rId2" Type="http://schemas.openxmlformats.org/officeDocument/2006/relationships/notesMaster" Target="../notesMasters/notesMaster1.xml" /></Relationships>
</file>

<file path=ppt/notesSlides/_rels/notesSlide3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3.xml" /><Relationship Id="rId2" Type="http://schemas.openxmlformats.org/officeDocument/2006/relationships/notesMaster" Target="../notesMasters/notesMaster1.xml" /></Relationships>
</file>

<file path=ppt/notesSlides/_rels/notesSlide4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4.xml" /><Relationship Id="rId2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67" name="Shape 167"/>
        <p:cNvGrpSpPr/>
        <p:nvPr/>
      </p:nvGrpSpPr>
      <p:grpSpPr>
        <a:xfrm>
          <a:off x="0" y="0"/>
          <a:ext cx="0" cy="0"/>
        </a:xfrm>
      </p:grpSpPr>
      <p:sp>
        <p:nvSpPr>
          <p:cNvPr id="168" name="Google Shape;168;g279934fec8d_0_131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279934fec8d_0_131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260" name="Shape 260"/>
        <p:cNvGrpSpPr/>
        <p:nvPr/>
      </p:nvGrpSpPr>
      <p:grpSpPr>
        <a:xfrm>
          <a:off x="0" y="0"/>
          <a:ext cx="0" cy="0"/>
        </a:xfrm>
      </p:grpSpPr>
      <p:sp>
        <p:nvSpPr>
          <p:cNvPr id="261" name="Google Shape;261;g2b4729713f8_0_67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2" name="Google Shape;262;g2b4729713f8_0_67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391" name="Shape 391"/>
        <p:cNvGrpSpPr/>
        <p:nvPr/>
      </p:nvGrpSpPr>
      <p:grpSpPr>
        <a:xfrm>
          <a:off x="0" y="0"/>
          <a:ext cx="0" cy="0"/>
        </a:xfrm>
      </p:grpSpPr>
      <p:sp>
        <p:nvSpPr>
          <p:cNvPr id="392" name="Google Shape;392;g2b4729713f8_0_279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3" name="Google Shape;393;g2b4729713f8_0_279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430" name="Shape 430"/>
        <p:cNvGrpSpPr/>
        <p:nvPr/>
      </p:nvGrpSpPr>
      <p:grpSpPr>
        <a:xfrm>
          <a:off x="0" y="0"/>
          <a:ext cx="0" cy="0"/>
        </a:xfrm>
      </p:grpSpPr>
      <p:sp>
        <p:nvSpPr>
          <p:cNvPr id="431" name="Google Shape;431;g279934fec8d_0_136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2" name="Google Shape;432;g279934fec8d_0_136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1.xml" /></Relationships>
</file>

<file path=ppt/slideLayouts/_rels/slideLayout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1.xml" /></Relationships>
</file>

<file path=ppt/slideLayouts/_rels/slideLayout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8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5.png" /><Relationship Id="rId4" Type="http://schemas.openxmlformats.org/officeDocument/2006/relationships/image" Target="../media/image6.png" /><Relationship Id="rId5" Type="http://schemas.openxmlformats.org/officeDocument/2006/relationships/slideMaster" Target="../slideMasters/slideMaster2.xml" /></Relationships>
</file>

<file path=ppt/slideLayouts/_rels/slideLayout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slideMaster" Target="../slideMasters/slideMaster2.xml" /></Relationships>
</file>

<file path=ppt/slideLayouts/_rels/slideLayout10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6.png" /><Relationship Id="rId3" Type="http://schemas.openxmlformats.org/officeDocument/2006/relationships/slideMaster" Target="../slideMasters/slideMaster2.xml" /></Relationships>
</file>

<file path=ppt/slideLayouts/_rels/slideLayout1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6.png" /><Relationship Id="rId3" Type="http://schemas.openxmlformats.org/officeDocument/2006/relationships/hyperlink" Target="https://www.nationalarchives.gov.uk/doc/open-government-licence/version/3/" TargetMode="External" /><Relationship Id="rId4" Type="http://schemas.openxmlformats.org/officeDocument/2006/relationships/hyperlink" Target="https://www.thenational.academy/legal/terms-and-conditions" TargetMode="External" /><Relationship Id="rId5" Type="http://schemas.openxmlformats.org/officeDocument/2006/relationships/slideMaster" Target="../slideMasters/slideMaster2.xml" /></Relationships>
</file>

<file path=ppt/slideLayouts/_rels/slideLayout1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hyperlink" Target="https://www.nationalarchives.gov.uk/doc/open-government-licence/version/3/" TargetMode="External" /><Relationship Id="rId6" Type="http://schemas.openxmlformats.org/officeDocument/2006/relationships/hyperlink" Target="https://www.thenational.academy/legal/terms-and-conditions" TargetMode="External" /><Relationship Id="rId7" Type="http://schemas.openxmlformats.org/officeDocument/2006/relationships/slideMaster" Target="../slideMasters/slideMaster2.xml" /></Relationships>
</file>

<file path=ppt/slideLayouts/_rels/slideLayout1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hyperlink" Target="https://www.nationalarchives.gov.uk/doc/open-government-licence/version/3/" TargetMode="External" /><Relationship Id="rId6" Type="http://schemas.openxmlformats.org/officeDocument/2006/relationships/hyperlink" Target="https://www.thenational.academy/legal/terms-and-conditions" TargetMode="External" /><Relationship Id="rId7" Type="http://schemas.openxmlformats.org/officeDocument/2006/relationships/slideMaster" Target="../slideMasters/slideMaster2.xml" /></Relationships>
</file>

<file path=ppt/slideLayouts/_rels/slideLayout1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slideMaster" Target="../slideMasters/slideMaster2.xml" /></Relationships>
</file>

<file path=ppt/slideLayouts/_rels/slideLayout1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6.png" /><Relationship Id="rId3" Type="http://schemas.openxmlformats.org/officeDocument/2006/relationships/slideMaster" Target="../slideMasters/slideMaster2.xml" /></Relationships>
</file>

<file path=ppt/slideLayouts/_rels/slideLayout1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6.png" /><Relationship Id="rId3" Type="http://schemas.openxmlformats.org/officeDocument/2006/relationships/hyperlink" Target="https://www.nationalarchives.gov.uk/doc/open-government-licence/version/3/" TargetMode="External" /><Relationship Id="rId4" Type="http://schemas.openxmlformats.org/officeDocument/2006/relationships/hyperlink" Target="https://www.thenational.academy/legal/terms-and-conditions" TargetMode="External" /><Relationship Id="rId5" Type="http://schemas.openxmlformats.org/officeDocument/2006/relationships/slideMaster" Target="../slideMasters/slideMaster2.xml" /></Relationships>
</file>

<file path=ppt/slideLayouts/_rels/slideLayout1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hyperlink" Target="https://www.nationalarchives.gov.uk/doc/open-government-licence/version/3/" TargetMode="External" /><Relationship Id="rId6" Type="http://schemas.openxmlformats.org/officeDocument/2006/relationships/hyperlink" Target="https://www.thenational.academy/legal/terms-and-conditions" TargetMode="External" /><Relationship Id="rId7" Type="http://schemas.openxmlformats.org/officeDocument/2006/relationships/slideMaster" Target="../slideMasters/slideMaster2.xml" /></Relationships>
</file>

<file path=ppt/slideLayouts/slideLayout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SEC FRONT Answers 1">
  <p:cSld name="SECTION_HEADER_1_1_1_1_1_1_1_1_1_2_2">
    <p:spTree>
      <p:nvGrpSpPr>
        <p:cNvPr id="9" name="Shape 9"/>
        <p:cNvGrpSpPr/>
        <p:nvPr/>
      </p:nvGrpSpPr>
      <p:grpSpPr>
        <a:xfrm>
          <a:off x="0" y="0"/>
          <a: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468000" y="266700"/>
            <a:ext cx="5577000" cy="4320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1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type="subTitle" idx="1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2" name="Google Shape;12;p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2"/>
          <p:cNvPicPr preferRelativeResize="0"/>
          <p:nvPr/>
        </p:nvPicPr>
        <p:blipFill>
          <a:blip r:embed="rId2">
            <a:alphaModFix/>
          </a:blip>
          <a:srcRect l="4603" r="4603"/>
          <a:stretch>
            <a:fillRect/>
          </a:stretch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Google Shape;14;p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61625" y="161271"/>
            <a:ext cx="805956" cy="498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544">
          <p15:clr>
            <a:srgbClr val="D9D9D9"/>
          </p15:clr>
        </p15:guide>
        <p15:guide id="2" orient="horz" pos="1916">
          <p15:clr>
            <a:srgbClr val="D9D9D9"/>
          </p15:clr>
        </p15:guide>
        <p15:guide id="3" orient="horz" pos="3368">
          <p15:clr>
            <a:srgbClr val="D9D9D9"/>
          </p15:clr>
        </p15:guide>
        <p15:guide id="4" orient="horz" pos="4762">
          <p15:clr>
            <a:srgbClr val="D9D9D9"/>
          </p15:clr>
        </p15:guide>
        <p15:guide id="5" pos="295">
          <p15:clr>
            <a:srgbClr val="FF0000"/>
          </p15:clr>
        </p15:guide>
        <p15:guide id="6" pos="4467">
          <p15:clr>
            <a:srgbClr val="FF0000"/>
          </p15:clr>
        </p15:guide>
        <p15:guide id="7" pos="1519">
          <p15:clr>
            <a:srgbClr val="D9D9D9"/>
          </p15:clr>
        </p15:guide>
        <p15:guide id="8" pos="1764">
          <p15:clr>
            <a:srgbClr val="D9D9D9"/>
          </p15:clr>
        </p15:guide>
        <p15:guide id="9" pos="3243">
          <p15:clr>
            <a:srgbClr val="D9D9D9"/>
          </p15:clr>
        </p15:guide>
        <p15:guide id="10" pos="2998">
          <p15:clr>
            <a:srgbClr val="D9D9D9"/>
          </p15:clr>
        </p15:guide>
        <p15:guide id="11" pos="3120">
          <p15:clr>
            <a:srgbClr val="D9D9D9"/>
          </p15:clr>
        </p15:guide>
        <p15:guide id="12" pos="1642">
          <p15:clr>
            <a:srgbClr val="D9D9D9"/>
          </p15:clr>
        </p15:guide>
        <p15:guide id="13" pos="2381">
          <p15:clr>
            <a:srgbClr val="D9D9D9"/>
          </p15:clr>
        </p15:guide>
        <p15:guide id="14" pos="2154">
          <p15:clr>
            <a:srgbClr val="FF0000"/>
          </p15:clr>
        </p15:guide>
        <p15:guide id="15" pos="2608">
          <p15:clr>
            <a:srgbClr val="FF0000"/>
          </p15:clr>
        </p15:guide>
        <p15:guide id="16" orient="horz" pos="227">
          <p15:clr>
            <a:srgbClr val="FF000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SEC FRONT Answers 1 1">
  <p:cSld name="SECTION_HEADER_1_1_1_1_1_1_1_1_1_2_1">
    <p:spTree>
      <p:nvGrpSpPr>
        <p:cNvPr id="15" name="Shape 15"/>
        <p:cNvGrpSpPr/>
        <p:nvPr/>
      </p:nvGrpSpPr>
      <p:grpSpPr>
        <a:xfrm>
          <a:off x="0" y="0"/>
          <a:ext cx="0" cy="0"/>
        </a:xfrm>
      </p:grpSpPr>
      <p:sp>
        <p:nvSpPr>
          <p:cNvPr id="16" name="Google Shape;16;p3"/>
          <p:cNvSpPr txBox="1"/>
          <p:nvPr>
            <p:ph type="title"/>
          </p:nvPr>
        </p:nvSpPr>
        <p:spPr>
          <a:xfrm>
            <a:off x="468000" y="266700"/>
            <a:ext cx="5577000" cy="4320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1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type="subTitle" idx="1"/>
          </p:nvPr>
        </p:nvSpPr>
        <p:spPr>
          <a:xfrm>
            <a:off x="466825" y="178015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3"/>
          <p:cNvSpPr txBox="1"/>
          <p:nvPr>
            <p:ph type="subTitle" idx="2"/>
          </p:nvPr>
        </p:nvSpPr>
        <p:spPr>
          <a:xfrm>
            <a:off x="2807400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type="subTitle" idx="3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type="subTitle" idx="4"/>
          </p:nvPr>
        </p:nvSpPr>
        <p:spPr>
          <a:xfrm>
            <a:off x="4127250" y="30420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type="subTitle" idx="5"/>
          </p:nvPr>
        </p:nvSpPr>
        <p:spPr>
          <a:xfrm>
            <a:off x="468000" y="5866375"/>
            <a:ext cx="6581700" cy="41058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type="subTitle" idx="6"/>
          </p:nvPr>
        </p:nvSpPr>
        <p:spPr>
          <a:xfrm>
            <a:off x="466825" y="30420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type="subTitle" idx="7"/>
          </p:nvPr>
        </p:nvSpPr>
        <p:spPr>
          <a:xfrm>
            <a:off x="466825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type="subTitle" idx="8"/>
          </p:nvPr>
        </p:nvSpPr>
        <p:spPr>
          <a:xfrm>
            <a:off x="5147975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5" name="Google Shape;25;p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6" name="Google Shape;26;p3"/>
          <p:cNvPicPr preferRelativeResize="0"/>
          <p:nvPr/>
        </p:nvPicPr>
        <p:blipFill>
          <a:blip r:embed="rId2">
            <a:alphaModFix/>
          </a:blip>
          <a:srcRect l="4603" r="4603"/>
          <a:stretch>
            <a:fillRect/>
          </a:stretch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7" name="Google Shape;27;p3"/>
          <p:cNvGrpSpPr/>
          <p:nvPr/>
        </p:nvGrpSpPr>
        <p:grpSpPr>
          <a:xfrm>
            <a:off x="466900" y="962525"/>
            <a:ext cx="2953200" cy="162000"/>
            <a:chOff x="466900" y="962525"/>
            <a:chExt cx="2953200" cy="162000"/>
          </a:xfrm>
        </p:grpSpPr>
        <p:sp>
          <p:nvSpPr>
            <p:cNvPr id="28" name="Google Shape;28;p3"/>
            <p:cNvSpPr txBox="1"/>
            <p:nvPr/>
          </p:nvSpPr>
          <p:spPr>
            <a:xfrm>
              <a:off x="466900" y="962525"/>
              <a:ext cx="29532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000" b="1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Name: </a:t>
              </a:r>
              <a:endParaRPr sz="1000" b="1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29" name="Google Shape;29;p3"/>
            <p:cNvCxnSpPr/>
            <p:nvPr/>
          </p:nvCxnSpPr>
          <p:spPr>
            <a:xfrm rot="10800000" flipH="1">
              <a:off x="943904" y="1116425"/>
              <a:ext cx="1998900" cy="81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pic>
        <p:nvPicPr>
          <p:cNvPr id="30" name="Google Shape;30;p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61625" y="161271"/>
            <a:ext cx="805956" cy="498600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Google Shape;31;p3"/>
          <p:cNvSpPr txBox="1"/>
          <p:nvPr>
            <p:ph type="subTitle" idx="9"/>
          </p:nvPr>
        </p:nvSpPr>
        <p:spPr>
          <a:xfrm>
            <a:off x="466825" y="13698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544">
          <p15:clr>
            <a:srgbClr val="D9D9D9"/>
          </p15:clr>
        </p15:guide>
        <p15:guide id="2" orient="horz" pos="1916">
          <p15:clr>
            <a:srgbClr val="D9D9D9"/>
          </p15:clr>
        </p15:guide>
        <p15:guide id="3" orient="horz" pos="3368">
          <p15:clr>
            <a:srgbClr val="D9D9D9"/>
          </p15:clr>
        </p15:guide>
        <p15:guide id="4" orient="horz" pos="4762">
          <p15:clr>
            <a:srgbClr val="D9D9D9"/>
          </p15:clr>
        </p15:guide>
        <p15:guide id="5" pos="295">
          <p15:clr>
            <a:srgbClr val="FF0000"/>
          </p15:clr>
        </p15:guide>
        <p15:guide id="6" pos="4467">
          <p15:clr>
            <a:srgbClr val="FF0000"/>
          </p15:clr>
        </p15:guide>
        <p15:guide id="7" pos="1519">
          <p15:clr>
            <a:srgbClr val="D9D9D9"/>
          </p15:clr>
        </p15:guide>
        <p15:guide id="8" pos="1764">
          <p15:clr>
            <a:srgbClr val="D9D9D9"/>
          </p15:clr>
        </p15:guide>
        <p15:guide id="9" pos="3243">
          <p15:clr>
            <a:srgbClr val="D9D9D9"/>
          </p15:clr>
        </p15:guide>
        <p15:guide id="10" pos="2998">
          <p15:clr>
            <a:srgbClr val="D9D9D9"/>
          </p15:clr>
        </p15:guide>
        <p15:guide id="11" pos="3120">
          <p15:clr>
            <a:srgbClr val="D9D9D9"/>
          </p15:clr>
        </p15:guide>
        <p15:guide id="12" pos="1642">
          <p15:clr>
            <a:srgbClr val="D9D9D9"/>
          </p15:clr>
        </p15:guide>
        <p15:guide id="13" pos="2381">
          <p15:clr>
            <a:srgbClr val="D9D9D9"/>
          </p15:clr>
        </p15:guide>
        <p15:guide id="14" pos="2154">
          <p15:clr>
            <a:srgbClr val="FF0000"/>
          </p15:clr>
        </p15:guide>
        <p15:guide id="15" pos="2608">
          <p15:clr>
            <a:srgbClr val="FF0000"/>
          </p15:clr>
        </p15:guide>
        <p15:guide id="16" orient="horz" pos="227">
          <p15:clr>
            <a:srgbClr val="FF000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1">
  <p:cSld name="SECTION_HEADER_1_1_1_1_1_1_1_1_1_1">
    <p:spTree>
      <p:nvGrpSpPr>
        <p:cNvPr id="32" name="Shape 32"/>
        <p:cNvGrpSpPr/>
        <p:nvPr/>
      </p:nvGrpSpPr>
      <p:grpSpPr>
        <a:xfrm>
          <a:off x="0" y="0"/>
          <a:ext cx="0" cy="0"/>
        </a:xfrm>
      </p:grpSpPr>
      <p:sp>
        <p:nvSpPr>
          <p:cNvPr id="33" name="Google Shape;33;p4"/>
          <p:cNvSpPr txBox="1"/>
          <p:nvPr>
            <p:ph type="subTitle" idx="1"/>
          </p:nvPr>
        </p:nvSpPr>
        <p:spPr>
          <a:xfrm>
            <a:off x="466825" y="162775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4"/>
          <p:cNvSpPr txBox="1"/>
          <p:nvPr>
            <p:ph type="subTitle" idx="2"/>
          </p:nvPr>
        </p:nvSpPr>
        <p:spPr>
          <a:xfrm>
            <a:off x="4127250" y="28896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"/>
          <p:cNvSpPr txBox="1"/>
          <p:nvPr>
            <p:ph type="subTitle" idx="3"/>
          </p:nvPr>
        </p:nvSpPr>
        <p:spPr>
          <a:xfrm>
            <a:off x="466825" y="28896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6" name="Google Shape;36;p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37" name="Google Shape;37;p4"/>
          <p:cNvSpPr txBox="1"/>
          <p:nvPr>
            <p:ph type="subTitle" idx="4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2">
  <p:cSld name="SECTION_HEADER_1_1_1_1_1_1_1_1_1_1_1">
    <p:spTree>
      <p:nvGrpSpPr>
        <p:cNvPr id="38" name="Shape 38"/>
        <p:cNvGrpSpPr/>
        <p:nvPr/>
      </p:nvGrpSpPr>
      <p:grpSpPr>
        <a:xfrm>
          <a:off x="0" y="0"/>
          <a:ext cx="0" cy="0"/>
        </a:xfrm>
      </p:grpSpPr>
      <p:sp>
        <p:nvSpPr>
          <p:cNvPr id="39" name="Google Shape;39;p5"/>
          <p:cNvSpPr txBox="1"/>
          <p:nvPr>
            <p:ph type="subTitle" idx="1"/>
          </p:nvPr>
        </p:nvSpPr>
        <p:spPr>
          <a:xfrm>
            <a:off x="2807400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5"/>
          <p:cNvSpPr txBox="1"/>
          <p:nvPr>
            <p:ph type="subTitle" idx="2"/>
          </p:nvPr>
        </p:nvSpPr>
        <p:spPr>
          <a:xfrm>
            <a:off x="467950" y="2493013"/>
            <a:ext cx="6624000" cy="41058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type="subTitle" idx="3"/>
          </p:nvPr>
        </p:nvSpPr>
        <p:spPr>
          <a:xfrm>
            <a:off x="466825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type="subTitle" idx="4"/>
          </p:nvPr>
        </p:nvSpPr>
        <p:spPr>
          <a:xfrm>
            <a:off x="5147975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3" name="Google Shape;43;p5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44" name="Google Shape;44;p5"/>
          <p:cNvSpPr txBox="1"/>
          <p:nvPr>
            <p:ph type="subTitle" idx="5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3">
  <p:cSld name="SECTION_HEADER_1_1_1_1_1_1_1_1_1_1_1_2">
    <p:spTree>
      <p:nvGrpSpPr>
        <p:cNvPr id="45" name="Shape 45"/>
        <p:cNvGrpSpPr/>
        <p:nvPr/>
      </p:nvGrpSpPr>
      <p:grpSpPr>
        <a:xfrm>
          <a:off x="0" y="0"/>
          <a:ext cx="0" cy="0"/>
        </a:xfrm>
      </p:grpSpPr>
      <p:sp>
        <p:nvSpPr>
          <p:cNvPr id="46" name="Google Shape;46;p6"/>
          <p:cNvSpPr txBox="1"/>
          <p:nvPr>
            <p:ph type="subTitle" idx="1"/>
          </p:nvPr>
        </p:nvSpPr>
        <p:spPr>
          <a:xfrm>
            <a:off x="466825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>
            <p:ph type="subTitle" idx="2"/>
          </p:nvPr>
        </p:nvSpPr>
        <p:spPr>
          <a:xfrm>
            <a:off x="2807400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type="subTitle" idx="3"/>
          </p:nvPr>
        </p:nvSpPr>
        <p:spPr>
          <a:xfrm>
            <a:off x="5147975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type="subTitle" idx="4"/>
          </p:nvPr>
        </p:nvSpPr>
        <p:spPr>
          <a:xfrm>
            <a:off x="466825" y="170220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type="subTitle" idx="5"/>
          </p:nvPr>
        </p:nvSpPr>
        <p:spPr>
          <a:xfrm>
            <a:off x="466825" y="296405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type="subTitle" idx="6"/>
          </p:nvPr>
        </p:nvSpPr>
        <p:spPr>
          <a:xfrm>
            <a:off x="4127250" y="296405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2" name="Google Shape;52;p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6"/>
          <p:cNvSpPr txBox="1"/>
          <p:nvPr>
            <p:ph type="subTitle" idx="7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4">
  <p:cSld name="SECTION_HEADER_1_1_1_1_1_1_1_1_1_1_1_2_1">
    <p:spTree>
      <p:nvGrpSpPr>
        <p:cNvPr id="54" name="Shape 54"/>
        <p:cNvGrpSpPr/>
        <p:nvPr/>
      </p:nvGrpSpPr>
      <p:grpSpPr>
        <a:xfrm>
          <a:off x="0" y="0"/>
          <a:ext cx="0" cy="0"/>
        </a:xfrm>
      </p:grpSpPr>
      <p:sp>
        <p:nvSpPr>
          <p:cNvPr id="55" name="Google Shape;55;p7"/>
          <p:cNvSpPr txBox="1"/>
          <p:nvPr>
            <p:ph type="subTitle" idx="1"/>
          </p:nvPr>
        </p:nvSpPr>
        <p:spPr>
          <a:xfrm>
            <a:off x="468000" y="1327649"/>
            <a:ext cx="6624000" cy="38436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6" name="Google Shape;56;p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7"/>
          <p:cNvSpPr txBox="1"/>
          <p:nvPr>
            <p:ph type="subTitle" idx="2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Elements to copy and paste">
  <p:cSld name="SECTION_HEADER_1_1_1_1_1_1_1_1_1_1_1_2_1_1">
    <p:spTree>
      <p:nvGrpSpPr>
        <p:cNvPr id="58" name="Shape 58"/>
        <p:cNvGrpSpPr/>
        <p:nvPr/>
      </p:nvGrpSpPr>
      <p:grpSpPr>
        <a:xfrm>
          <a:off x="0" y="0"/>
          <a:ext cx="0" cy="0"/>
        </a:xfrm>
      </p:grpSpPr>
      <p:sp>
        <p:nvSpPr>
          <p:cNvPr id="59" name="Google Shape;59;p8"/>
          <p:cNvSpPr txBox="1"/>
          <p:nvPr/>
        </p:nvSpPr>
        <p:spPr>
          <a:xfrm>
            <a:off x="493450" y="416654"/>
            <a:ext cx="662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latin typeface="Lexend"/>
                <a:ea typeface="Lexend"/>
                <a:cs typeface="Lexend"/>
                <a:sym typeface="Lexend"/>
              </a:rPr>
              <a:t>Elements to copy and paste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0" name="Google Shape;60;p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 Title page">
  <p:cSld name="SECTION_HEADER_1_1_1_1_1_1_1_1_1_1_1_2_1_1_1_1_1_2">
    <p:bg>
      <p:bgPr>
        <a:solidFill>
          <a:schemeClr val="lt1"/>
        </a:solid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</a:xfrm>
      </p:grpSpPr>
      <p:pic>
        <p:nvPicPr>
          <p:cNvPr id="66" name="Google Shape;66;p10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10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8" name="Google Shape;68;p10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69" name="Google Shape;69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10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2" name="Google Shape;72;p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10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1 Title page with long title">
  <p:cSld name="SECTION_HEADER_1_1_1_1_1_1_1_1_1_1_1_2_1_1_1_1_1_1_2">
    <p:bg>
      <p:bgPr>
        <a:solidFill>
          <a:schemeClr val="lt1"/>
        </a:solidFill>
      </p:bgPr>
    </p:bg>
    <p:spTree>
      <p:nvGrpSpPr>
        <p:cNvPr id="74" name="Shape 74"/>
        <p:cNvGrpSpPr/>
        <p:nvPr/>
      </p:nvGrpSpPr>
      <p:grpSpPr>
        <a:xfrm>
          <a:off x="0" y="0"/>
          <a:ext cx="0" cy="0"/>
        </a:xfrm>
      </p:grpSpPr>
      <p:pic>
        <p:nvPicPr>
          <p:cNvPr id="75" name="Google Shape;75;p1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1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7" name="Google Shape;77;p11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78" name="Google Shape;78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Google Shape;79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1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1" name="Google Shape;81;p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11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 Middle page">
  <p:cSld name="SECTION_HEADER_1_1_1_1_1_1_1_1_1_1_1_2_1_1_1_1_1_1_1_1_2">
    <p:bg>
      <p:bgPr>
        <a:solidFill>
          <a:schemeClr val="lt1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</a:xfrm>
      </p:grpSpPr>
      <p:pic>
        <p:nvPicPr>
          <p:cNvPr id="84" name="Google Shape;84;p1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2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6" name="Google Shape;86;p12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" name="Google Shape;87;p12"/>
          <p:cNvSpPr txBox="1"/>
          <p:nvPr>
            <p:ph type="subTitle" idx="1"/>
          </p:nvPr>
        </p:nvSpPr>
        <p:spPr>
          <a:xfrm>
            <a:off x="1463400" y="360000"/>
            <a:ext cx="47826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8" name="Google Shape;88;p1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2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1 Last page">
  <p:cSld name="SECTION_HEADER_1_1_1_1_1_1_1_1_1_1_1_2_1_1_1_1_1_1_1_1_1_3">
    <p:bg>
      <p:bgPr>
        <a:solidFill>
          <a:schemeClr val="lt1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</a:xfrm>
      </p:grpSpPr>
      <p:pic>
        <p:nvPicPr>
          <p:cNvPr id="91" name="Google Shape;91;p1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3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3" name="Google Shape;93;p13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4" name="Google Shape;94;p13"/>
          <p:cNvSpPr txBox="1"/>
          <p:nvPr>
            <p:ph type="subTitle" idx="1"/>
          </p:nvPr>
        </p:nvSpPr>
        <p:spPr>
          <a:xfrm>
            <a:off x="1463400" y="360000"/>
            <a:ext cx="47826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95" name="Google Shape;95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3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" name="Google Shape;97;p13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8" name="Google Shape;98;p13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9" name="Google Shape;99;p13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00" name="Google Shape;100;p13"/>
          <p:cNvSpPr txBox="1"/>
          <p:nvPr>
            <p:ph type="subTitle" idx="2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 Single page worksheet">
  <p:cSld name="SECTION_HEADER_1_1_1_1_1_1_1_1_1_1_1_2_1_1_1_1_1_2_1">
    <p:bg>
      <p:bgPr>
        <a:solidFill>
          <a:schemeClr val="lt1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</a:xfrm>
      </p:grpSpPr>
      <p:pic>
        <p:nvPicPr>
          <p:cNvPr id="102" name="Google Shape;102;p1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4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4" name="Google Shape;104;p14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05" name="Google Shape;105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4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08" name="Google Shape;108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4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" name="Google Shape;110;p14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1" name="Google Shape;111;p14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2" name="Google Shape;112;p14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3" name="Google Shape;113;p14"/>
          <p:cNvSpPr txBox="1"/>
          <p:nvPr>
            <p:ph type="subTitle" idx="1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1 Single page worksheet with long title">
  <p:cSld name="SECTION_HEADER_1_1_1_1_1_1_1_1_1_1_1_2_1_1_1_1_1_1_1">
    <p:bg>
      <p:bgPr>
        <a:solidFill>
          <a:schemeClr val="lt1"/>
        </a:soli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</a:xfrm>
      </p:grpSpPr>
      <p:pic>
        <p:nvPicPr>
          <p:cNvPr id="115" name="Google Shape;115;p15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5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17" name="Google Shape;117;p15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18" name="Google Shape;118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5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21" name="Google Shape;121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5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3" name="Google Shape;123;p15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4" name="Google Shape;124;p15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5" name="Google Shape;125;p15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6" name="Google Shape;126;p15"/>
          <p:cNvSpPr txBox="1"/>
          <p:nvPr>
            <p:ph type="subTitle" idx="1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 Landscape title page">
  <p:cSld name="SECTION_HEADER_1_1_1_1_1_1_1_1_1_1_1_2_1_1_1_1_1_1_1_1_1_1">
    <p:bg>
      <p:bgPr>
        <a:solidFill>
          <a:schemeClr val="lt1"/>
        </a:solid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</a:xfrm>
      </p:grpSpPr>
      <p:pic>
        <p:nvPicPr>
          <p:cNvPr id="128" name="Google Shape;128;p1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0" name="Google Shape;130;p16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31" name="Google Shape;131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6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34" name="Google Shape;134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16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1 Landscape middle page">
  <p:cSld name="SECTION_HEADER_1_1_1_1_1_1_1_1_1_1_1_2_1_1_1_1_1_1_1_1_1_1_1_2">
    <p:bg>
      <p:bgPr>
        <a:solidFill>
          <a:schemeClr val="lt1"/>
        </a:solidFill>
      </p:bgPr>
    </p:bg>
    <p:spTree>
      <p:nvGrpSpPr>
        <p:cNvPr id="136" name="Shape 136"/>
        <p:cNvGrpSpPr/>
        <p:nvPr/>
      </p:nvGrpSpPr>
      <p:grpSpPr>
        <a:xfrm>
          <a:off x="0" y="0"/>
          <a:ext cx="0" cy="0"/>
        </a:xfrm>
      </p:grpSpPr>
      <p:pic>
        <p:nvPicPr>
          <p:cNvPr id="137" name="Google Shape;137;p1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17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9" name="Google Shape;139;p17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0" name="Google Shape;140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17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" name="Google Shape;142;p17"/>
          <p:cNvSpPr txBox="1"/>
          <p:nvPr>
            <p:ph type="subTitle" idx="1"/>
          </p:nvPr>
        </p:nvSpPr>
        <p:spPr>
          <a:xfrm rot="-5400000">
            <a:off x="-3498000" y="5128425"/>
            <a:ext cx="80706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2 Landscape last page">
  <p:cSld name="SECTION_HEADER_1_1_1_1_1_1_1_1_1_1_1_2_1_1_1_1_1_1_1_1_1_1_1_1_1">
    <p:bg>
      <p:bgPr>
        <a:solidFill>
          <a:schemeClr val="lt1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</a:xfrm>
      </p:grpSpPr>
      <p:pic>
        <p:nvPicPr>
          <p:cNvPr id="144" name="Google Shape;144;p1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8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46" name="Google Shape;146;p18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7" name="Google Shape;147;p1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8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9" name="Google Shape;149;p18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0" name="Google Shape;150;p18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1" name="Google Shape;151;p18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2" name="Google Shape;152;p18"/>
          <p:cNvSpPr txBox="1"/>
          <p:nvPr>
            <p:ph type="subTitle" idx="1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3" name="Google Shape;153;p18"/>
          <p:cNvSpPr txBox="1"/>
          <p:nvPr>
            <p:ph type="subTitle" idx="2"/>
          </p:nvPr>
        </p:nvSpPr>
        <p:spPr>
          <a:xfrm rot="-5400000">
            <a:off x="-3498000" y="5128425"/>
            <a:ext cx="80706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5.0 Landscape single page worksheet">
  <p:cSld name="SECTION_HEADER_1_1_1_1_1_1_1_1_1_1_1_2_1_1_1_1_1_1_1_1_1_1_2">
    <p:bg>
      <p:bgPr>
        <a:solidFill>
          <a:schemeClr val="lt1"/>
        </a:solidFill>
      </p:bgPr>
    </p:bg>
    <p:spTree>
      <p:nvGrpSpPr>
        <p:cNvPr id="154" name="Shape 154"/>
        <p:cNvGrpSpPr/>
        <p:nvPr/>
      </p:nvGrpSpPr>
      <p:grpSpPr>
        <a:xfrm>
          <a:off x="0" y="0"/>
          <a:ext cx="0" cy="0"/>
        </a:xfrm>
      </p:grpSpPr>
      <p:pic>
        <p:nvPicPr>
          <p:cNvPr id="155" name="Google Shape;155;p19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19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57" name="Google Shape;157;p19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58" name="Google Shape;158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19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61" name="Google Shape;161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19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" name="Google Shape;163;p19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4" name="Google Shape;164;p19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5" name="Google Shape;165;p19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6" name="Google Shape;166;p19"/>
          <p:cNvSpPr txBox="1"/>
          <p:nvPr>
            <p:ph type="subTitle" idx="1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Masters/_rels/slideMaster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slideLayout" Target="../slideLayouts/slideLayout2.xml" /><Relationship Id="rId3" Type="http://schemas.openxmlformats.org/officeDocument/2006/relationships/slideLayout" Target="../slideLayouts/slideLayout3.xml" /><Relationship Id="rId4" Type="http://schemas.openxmlformats.org/officeDocument/2006/relationships/slideLayout" Target="../slideLayouts/slideLayout4.xml" /><Relationship Id="rId5" Type="http://schemas.openxmlformats.org/officeDocument/2006/relationships/slideLayout" Target="../slideLayouts/slideLayout5.xml" /><Relationship Id="rId6" Type="http://schemas.openxmlformats.org/officeDocument/2006/relationships/slideLayout" Target="../slideLayouts/slideLayout6.xml" /><Relationship Id="rId7" Type="http://schemas.openxmlformats.org/officeDocument/2006/relationships/slideLayout" Target="../slideLayouts/slideLayout7.xml" /><Relationship Id="rId8" Type="http://schemas.openxmlformats.org/officeDocument/2006/relationships/theme" Target="../theme/theme1.xml" /></Relationships>
</file>

<file path=ppt/slideMasters/_rels/slideMaster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 /><Relationship Id="rId10" Type="http://schemas.openxmlformats.org/officeDocument/2006/relationships/slideLayout" Target="../slideLayouts/slideLayout17.xml" /><Relationship Id="rId11" Type="http://schemas.openxmlformats.org/officeDocument/2006/relationships/theme" Target="../theme/theme2.xml" /><Relationship Id="rId2" Type="http://schemas.openxmlformats.org/officeDocument/2006/relationships/slideLayout" Target="../slideLayouts/slideLayout9.xml" /><Relationship Id="rId3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12.xml" /><Relationship Id="rId6" Type="http://schemas.openxmlformats.org/officeDocument/2006/relationships/slideLayout" Target="../slideLayouts/slideLayout13.xml" /><Relationship Id="rId7" Type="http://schemas.openxmlformats.org/officeDocument/2006/relationships/slideLayout" Target="../slideLayouts/slideLayout14.xml" /><Relationship Id="rId8" Type="http://schemas.openxmlformats.org/officeDocument/2006/relationships/slideLayout" Target="../slideLayouts/slideLayout15.xml" /><Relationship Id="rId9" Type="http://schemas.openxmlformats.org/officeDocument/2006/relationships/slideLayout" Target="../slideLayouts/slideLayout16.xml" /></Relationships>
</file>

<file path=ppt/slideMasters/slideMaster1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type="body" idx="1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800"/>
              <a:buFont typeface="Lexend"/>
              <a:buChar char="●"/>
              <a:defRPr sz="18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Kalam"/>
              <a:buChar char="■"/>
              <a:defRPr sz="1400" i="0" u="none" strike="noStrike" cap="non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0" marR="0" lvl="1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0" marR="0" lvl="2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0" marR="0" lvl="3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0" marR="0" lvl="4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0" marR="0" lvl="5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0" marR="0" lvl="6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0" marR="0" lvl="7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0" marR="0" lvl="8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0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</a:xfrm>
      </p:grpSpPr>
      <p:sp>
        <p:nvSpPr>
          <p:cNvPr id="62" name="Google Shape;62;p9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3" name="Google Shape;63;p9"/>
          <p:cNvSpPr txBox="1"/>
          <p:nvPr>
            <p:ph type="body" idx="1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800"/>
              <a:buFont typeface="Lexend"/>
              <a:buChar char="●"/>
              <a:defRPr sz="18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Kalam"/>
              <a:buChar char="■"/>
              <a:defRPr sz="1400" i="0" u="none" strike="noStrike" cap="non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64" name="Google Shape;64;p9"/>
          <p:cNvSpPr txBox="1"/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0" marR="0" lvl="1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0" marR="0" lvl="2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0" marR="0" lvl="3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0" marR="0" lvl="4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0" marR="0" lvl="5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0" marR="0" lvl="6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0" marR="0" lvl="7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0" marR="0" lvl="8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0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notesSlide" Target="../notesSlides/notesSlide1.xml" /><Relationship Id="rId3" Type="http://schemas.openxmlformats.org/officeDocument/2006/relationships/image" Target="../media/image7.png" /><Relationship Id="rId4" Type="http://schemas.openxmlformats.org/officeDocument/2006/relationships/image" Target="../media/image8.png" /></Relationships>
</file>

<file path=ppt/slides/_rels/slide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0.xml" /><Relationship Id="rId2" Type="http://schemas.openxmlformats.org/officeDocument/2006/relationships/notesSlide" Target="../notesSlides/notesSlide2.xml" /><Relationship Id="rId3" Type="http://schemas.openxmlformats.org/officeDocument/2006/relationships/image" Target="../media/image7.png" /><Relationship Id="rId4" Type="http://schemas.openxmlformats.org/officeDocument/2006/relationships/image" Target="../media/image9.png" /></Relationships>
</file>

<file path=ppt/slides/_rels/slide3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0.xml" /><Relationship Id="rId2" Type="http://schemas.openxmlformats.org/officeDocument/2006/relationships/notesSlide" Target="../notesSlides/notesSlide3.xml" /><Relationship Id="rId3" Type="http://schemas.openxmlformats.org/officeDocument/2006/relationships/image" Target="../media/image10.png" /><Relationship Id="rId4" Type="http://schemas.openxmlformats.org/officeDocument/2006/relationships/image" Target="../media/image11.png" /></Relationships>
</file>

<file path=ppt/slides/_rels/slide4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1.xml" /><Relationship Id="rId2" Type="http://schemas.openxmlformats.org/officeDocument/2006/relationships/notesSlide" Target="../notesSlides/notesSlide4.xml" /></Relationships>
</file>

<file path=ppt/slides/slide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70" name="Shape 170"/>
        <p:cNvGrpSpPr/>
        <p:nvPr/>
      </p:nvGrpSpPr>
      <p:grpSpPr>
        <a:xfrm>
          <a:off x="0" y="0"/>
          <a:ext cx="0" cy="0"/>
        </a:xfrm>
      </p:grpSpPr>
      <p:sp>
        <p:nvSpPr>
          <p:cNvPr id="171" name="Google Shape;171;p20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1</a:t>
            </a:fld>
            <a:endParaRPr/>
          </a:p>
        </p:txBody>
      </p:sp>
      <p:sp>
        <p:nvSpPr>
          <p:cNvPr id="172" name="Google Shape;172;p20"/>
          <p:cNvSpPr txBox="1"/>
          <p:nvPr>
            <p:ph type="title"/>
          </p:nvPr>
        </p:nvSpPr>
        <p:spPr>
          <a:xfrm>
            <a:off x="468000" y="864000"/>
            <a:ext cx="6624000" cy="2772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Problem solving with expressions and formulae</a:t>
            </a:r>
            <a:endParaRPr/>
          </a:p>
        </p:txBody>
      </p:sp>
      <p:sp>
        <p:nvSpPr>
          <p:cNvPr id="173" name="Google Shape;173;p20"/>
          <p:cNvSpPr txBox="1"/>
          <p:nvPr/>
        </p:nvSpPr>
        <p:spPr>
          <a:xfrm>
            <a:off x="468000" y="1427850"/>
            <a:ext cx="6624000" cy="30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Task A: Forming expressions for area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4" name="Google Shape;174;p20"/>
          <p:cNvSpPr txBox="1"/>
          <p:nvPr/>
        </p:nvSpPr>
        <p:spPr>
          <a:xfrm>
            <a:off x="468000" y="1729050"/>
            <a:ext cx="6610500" cy="41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Here are some formula for the area of 2D shapes which may help you with the following task.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5" name="Google Shape;175;p20"/>
          <p:cNvSpPr/>
          <p:nvPr/>
        </p:nvSpPr>
        <p:spPr>
          <a:xfrm>
            <a:off x="829752" y="2263011"/>
            <a:ext cx="735000" cy="1034400"/>
          </a:xfrm>
          <a:prstGeom prst="parallelogram">
            <a:avLst>
              <a:gd name="adj" fmla="val 0"/>
            </a:avLst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6" name="Google Shape;176;p20"/>
          <p:cNvSpPr txBox="1"/>
          <p:nvPr/>
        </p:nvSpPr>
        <p:spPr>
          <a:xfrm>
            <a:off x="630479" y="2683671"/>
            <a:ext cx="162600" cy="22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 i="1">
                <a:latin typeface="Times"/>
                <a:ea typeface="Times"/>
                <a:cs typeface="Times"/>
                <a:sym typeface="Times"/>
              </a:rPr>
              <a:t>l</a:t>
            </a:r>
            <a:endParaRPr sz="1200" i="1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77" name="Google Shape;177;p20"/>
          <p:cNvSpPr txBox="1"/>
          <p:nvPr/>
        </p:nvSpPr>
        <p:spPr>
          <a:xfrm>
            <a:off x="1116025" y="3324121"/>
            <a:ext cx="162600" cy="22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 i="1">
                <a:latin typeface="Times"/>
                <a:ea typeface="Times"/>
                <a:cs typeface="Times"/>
                <a:sym typeface="Times"/>
              </a:rPr>
              <a:t>w</a:t>
            </a:r>
            <a:endParaRPr sz="1200" i="1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78" name="Google Shape;178;p20"/>
          <p:cNvSpPr txBox="1"/>
          <p:nvPr/>
        </p:nvSpPr>
        <p:spPr>
          <a:xfrm>
            <a:off x="468000" y="3577315"/>
            <a:ext cx="1921800" cy="28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area </a:t>
            </a:r>
            <a:r>
              <a:rPr lang="en-GB" sz="12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</a:t>
            </a:r>
            <a:r>
              <a:rPr lang="en-GB" sz="1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 width </a:t>
            </a:r>
            <a:r>
              <a:rPr lang="en-GB" sz="1200" i="1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×</a:t>
            </a:r>
            <a:r>
              <a:rPr lang="en-GB" sz="1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 length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79" name="Google Shape;179;p20"/>
          <p:cNvCxnSpPr/>
          <p:nvPr/>
        </p:nvCxnSpPr>
        <p:spPr>
          <a:xfrm flipH="1">
            <a:off x="746683" y="2263025"/>
            <a:ext cx="0" cy="10359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180" name="Google Shape;180;p20"/>
          <p:cNvCxnSpPr/>
          <p:nvPr/>
        </p:nvCxnSpPr>
        <p:spPr>
          <a:xfrm flipH="1">
            <a:off x="834505" y="3374165"/>
            <a:ext cx="731700" cy="60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grpSp>
        <p:nvGrpSpPr>
          <p:cNvPr id="181" name="Google Shape;181;p20"/>
          <p:cNvGrpSpPr/>
          <p:nvPr/>
        </p:nvGrpSpPr>
        <p:grpSpPr>
          <a:xfrm rot="5400000" flipH="1">
            <a:off x="1417534" y="3142327"/>
            <a:ext cx="147951" cy="147937"/>
            <a:chOff x="3397534" y="3193326"/>
            <a:chExt cx="179400" cy="172200"/>
          </a:xfrm>
        </p:grpSpPr>
        <p:cxnSp>
          <p:nvCxnSpPr>
            <p:cNvPr id="182" name="Google Shape;182;p20"/>
            <p:cNvCxnSpPr/>
            <p:nvPr/>
          </p:nvCxnSpPr>
          <p:spPr>
            <a:xfrm>
              <a:off x="3397534" y="3363142"/>
              <a:ext cx="179400" cy="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83" name="Google Shape;183;p20"/>
            <p:cNvCxnSpPr/>
            <p:nvPr/>
          </p:nvCxnSpPr>
          <p:spPr>
            <a:xfrm rot="10800000" flipH="1">
              <a:off x="3571988" y="3193326"/>
              <a:ext cx="0" cy="17220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184" name="Google Shape;184;p20"/>
          <p:cNvGrpSpPr/>
          <p:nvPr/>
        </p:nvGrpSpPr>
        <p:grpSpPr>
          <a:xfrm rot="-5400000">
            <a:off x="829884" y="3142323"/>
            <a:ext cx="147951" cy="147937"/>
            <a:chOff x="3397534" y="3193326"/>
            <a:chExt cx="179400" cy="172200"/>
          </a:xfrm>
        </p:grpSpPr>
        <p:cxnSp>
          <p:nvCxnSpPr>
            <p:cNvPr id="185" name="Google Shape;185;p20"/>
            <p:cNvCxnSpPr/>
            <p:nvPr/>
          </p:nvCxnSpPr>
          <p:spPr>
            <a:xfrm>
              <a:off x="3397534" y="3363142"/>
              <a:ext cx="179400" cy="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86" name="Google Shape;186;p20"/>
            <p:cNvCxnSpPr/>
            <p:nvPr/>
          </p:nvCxnSpPr>
          <p:spPr>
            <a:xfrm rot="10800000" flipH="1">
              <a:off x="3571988" y="3193326"/>
              <a:ext cx="0" cy="17220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187" name="Google Shape;187;p20"/>
          <p:cNvGrpSpPr/>
          <p:nvPr/>
        </p:nvGrpSpPr>
        <p:grpSpPr>
          <a:xfrm rot="5400000">
            <a:off x="1417534" y="2263090"/>
            <a:ext cx="147951" cy="147937"/>
            <a:chOff x="3397534" y="3193326"/>
            <a:chExt cx="179400" cy="172200"/>
          </a:xfrm>
        </p:grpSpPr>
        <p:cxnSp>
          <p:nvCxnSpPr>
            <p:cNvPr id="188" name="Google Shape;188;p20"/>
            <p:cNvCxnSpPr/>
            <p:nvPr/>
          </p:nvCxnSpPr>
          <p:spPr>
            <a:xfrm>
              <a:off x="3397534" y="3363142"/>
              <a:ext cx="179400" cy="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89" name="Google Shape;189;p20"/>
            <p:cNvCxnSpPr/>
            <p:nvPr/>
          </p:nvCxnSpPr>
          <p:spPr>
            <a:xfrm rot="10800000" flipH="1">
              <a:off x="3571988" y="3193326"/>
              <a:ext cx="0" cy="17220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190" name="Google Shape;190;p20"/>
          <p:cNvGrpSpPr/>
          <p:nvPr/>
        </p:nvGrpSpPr>
        <p:grpSpPr>
          <a:xfrm rot="-5400000" flipH="1">
            <a:off x="829884" y="2283329"/>
            <a:ext cx="147951" cy="147937"/>
            <a:chOff x="3397534" y="3193326"/>
            <a:chExt cx="179400" cy="172200"/>
          </a:xfrm>
        </p:grpSpPr>
        <p:cxnSp>
          <p:nvCxnSpPr>
            <p:cNvPr id="191" name="Google Shape;191;p20"/>
            <p:cNvCxnSpPr/>
            <p:nvPr/>
          </p:nvCxnSpPr>
          <p:spPr>
            <a:xfrm>
              <a:off x="3397534" y="3363142"/>
              <a:ext cx="179400" cy="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92" name="Google Shape;192;p20"/>
            <p:cNvCxnSpPr/>
            <p:nvPr/>
          </p:nvCxnSpPr>
          <p:spPr>
            <a:xfrm rot="10800000" flipH="1">
              <a:off x="3571988" y="3193326"/>
              <a:ext cx="0" cy="17220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193" name="Google Shape;193;p20"/>
          <p:cNvSpPr/>
          <p:nvPr/>
        </p:nvSpPr>
        <p:spPr>
          <a:xfrm rot="5400000">
            <a:off x="3084885" y="2320752"/>
            <a:ext cx="1022100" cy="1025400"/>
          </a:xfrm>
          <a:prstGeom prst="triangle">
            <a:avLst>
              <a:gd name="adj" fmla="val 29739"/>
            </a:avLst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4" name="Google Shape;194;p20"/>
          <p:cNvSpPr txBox="1"/>
          <p:nvPr/>
        </p:nvSpPr>
        <p:spPr>
          <a:xfrm>
            <a:off x="2878612" y="2695300"/>
            <a:ext cx="153000" cy="21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 i="1">
                <a:latin typeface="Times"/>
                <a:ea typeface="Times"/>
                <a:cs typeface="Times"/>
                <a:sym typeface="Times"/>
              </a:rPr>
              <a:t>b</a:t>
            </a:r>
            <a:endParaRPr sz="1200" i="1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95" name="Google Shape;195;p20"/>
          <p:cNvSpPr txBox="1"/>
          <p:nvPr/>
        </p:nvSpPr>
        <p:spPr>
          <a:xfrm>
            <a:off x="3542744" y="3363861"/>
            <a:ext cx="153000" cy="21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 i="1">
                <a:latin typeface="Times"/>
                <a:ea typeface="Times"/>
                <a:cs typeface="Times"/>
                <a:sym typeface="Times"/>
              </a:rPr>
              <a:t>h</a:t>
            </a:r>
            <a:endParaRPr sz="1200" i="1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cxnSp>
        <p:nvCxnSpPr>
          <p:cNvPr id="196" name="Google Shape;196;p20"/>
          <p:cNvCxnSpPr/>
          <p:nvPr/>
        </p:nvCxnSpPr>
        <p:spPr>
          <a:xfrm>
            <a:off x="3086118" y="3385687"/>
            <a:ext cx="10257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197" name="Google Shape;197;p20"/>
          <p:cNvSpPr txBox="1"/>
          <p:nvPr/>
        </p:nvSpPr>
        <p:spPr>
          <a:xfrm>
            <a:off x="2436632" y="3572406"/>
            <a:ext cx="2074200" cy="26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area </a:t>
            </a:r>
            <a:r>
              <a:rPr lang="en-GB" sz="12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</a:t>
            </a:r>
            <a:r>
              <a:rPr lang="en-GB" sz="1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    </a:t>
            </a:r>
            <a:r>
              <a:rPr lang="en-GB" sz="1200" i="1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× </a:t>
            </a:r>
            <a:r>
              <a:rPr lang="en-GB" sz="1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base </a:t>
            </a:r>
            <a:r>
              <a:rPr lang="en-GB" sz="1200" i="1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×</a:t>
            </a:r>
            <a:r>
              <a:rPr lang="en-GB" sz="1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 height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98" name="Google Shape;198;p20" descr="&lt;math xmlns=&quot;http://www.w3.org/1998/Math/MathML&quot; display=&quot;block&quot; data-is-equatio=&quot;1&quot; data-latex=&quot;\begin{array}{l}=\ 4\ \times5\\&amp;#13;&amp;#10;=\ 20\\&amp;#13;&amp;#10;\begin{array}{l}=\ 4\ \times5\\&amp;#13;&amp;#10;=\ 20\end{array}\\&amp;#13;&amp;#10;\begin{array}{l}=\ \frac{1}{2}\times5\ \times6\\&amp;#13;&amp;#10;=\ 15\end{array}\end{array}&quot;&gt;&lt;mtable columnalign=&quot;left&quot; columnspacing=&quot;1em&quot; rowspacing=&quot;4pt&quot;&gt;&lt;mtr&gt;&lt;mtd&gt;&lt;mo&gt;=&lt;/mo&gt;&lt;mtext&gt;&lt;/mtext&gt;&lt;mn&gt;4&lt;/mn&gt;&lt;mtext&gt;&lt;/mtext&gt;&lt;mo&gt;×&lt;/mo&gt;&lt;mn&gt;5&lt;/mn&gt;&lt;/mtd&gt;&lt;/mtr&gt;&lt;mtr&gt;&lt;mtd&gt;&lt;mo&gt;=&lt;/mo&gt;&lt;mtext&gt;&lt;/mtext&gt;&lt;mn&gt;20&lt;/mn&gt;&lt;/mtd&gt;&lt;/mtr&gt;&lt;mtr&gt;&lt;mtd&gt;&lt;mtable columnspacing=&quot;1em&quot; rowspacing=&quot;4pt&quot;&gt;&lt;mtr&gt;&lt;mtd&gt;&lt;mo&gt;=&lt;/mo&gt;&lt;mtext&gt;&lt;/mtext&gt;&lt;mn&gt;4&lt;/mn&gt;&lt;mtext&gt;&lt;/mtext&gt;&lt;mo&gt;×&lt;/mo&gt;&lt;mn&gt;5&lt;/mn&gt;&lt;/mtd&gt;&lt;/mtr&gt;&lt;mtr&gt;&lt;mtd&gt;&lt;mo&gt;=&lt;/mo&gt;&lt;mtext&gt;&lt;/mtext&gt;&lt;mn&gt;20&lt;/mn&gt;&lt;/mtd&gt;&lt;/mtr&gt;&lt;/mtable&gt;&lt;/mtd&gt;&lt;/mtr&gt;&lt;mtr&gt;&lt;mtd&gt;&lt;mtable columnspacing=&quot;1em&quot; rowspacing=&quot;4pt&quot;&gt;&lt;mtr&gt;&lt;mtd&gt;&lt;mo&gt;=&lt;/mo&gt;&lt;mtext&gt;&lt;/mtext&gt;&lt;mfrac&gt;&lt;mn&gt;1&lt;/mn&gt;&lt;mn&gt;2&lt;/mn&gt;&lt;/mfrac&gt;&lt;mo&gt;×&lt;/mo&gt;&lt;mn&gt;5&lt;/mn&gt;&lt;mtext&gt;&lt;/mtext&gt;&lt;mo&gt;×&lt;/mo&gt;&lt;mn&gt;6&lt;/mn&gt;&lt;/mtd&gt;&lt;/mtr&gt;&lt;mtr&gt;&lt;mtd&gt;&lt;mo&gt;=&lt;/mo&gt;&lt;mtext&gt;&lt;/mtext&gt;&lt;mn&gt;15&lt;/mn&gt;&lt;/mtd&gt;&lt;/mtr&gt;&lt;/mtable&gt;&lt;/mtd&gt;&lt;/mtr&gt;&lt;/mtable&gt;&lt;/math&gt;" title="4 lines Line 1: equals 4 times 5 Line 2: equals 20 Line 3: Line 1: equals 4 times 5 Line 2: equals 20 Line 4: Line 1: equals one half times 5 times 6 Line 2: equals 15"/>
          <p:cNvPicPr preferRelativeResize="0"/>
          <p:nvPr/>
        </p:nvPicPr>
        <p:blipFill>
          <a:blip r:embed="rId3">
            <a:alphaModFix/>
          </a:blip>
          <a:srcRect l="18915" t="67326" r="59200" b="13790"/>
          <a:stretch>
            <a:fillRect/>
          </a:stretch>
        </p:blipFill>
        <p:spPr>
          <a:xfrm>
            <a:off x="2895473" y="3547566"/>
            <a:ext cx="236654" cy="302829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99" name="Google Shape;199;p20"/>
          <p:cNvCxnSpPr/>
          <p:nvPr/>
        </p:nvCxnSpPr>
        <p:spPr>
          <a:xfrm flipH="1">
            <a:off x="2992445" y="2328861"/>
            <a:ext cx="0" cy="10134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200" name="Google Shape;200;p20"/>
          <p:cNvSpPr txBox="1"/>
          <p:nvPr/>
        </p:nvSpPr>
        <p:spPr>
          <a:xfrm>
            <a:off x="4743498" y="3585139"/>
            <a:ext cx="2199900" cy="26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area </a:t>
            </a:r>
            <a:r>
              <a:rPr lang="en-GB" sz="12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   </a:t>
            </a:r>
            <a:r>
              <a:rPr lang="en-GB" sz="1200" i="1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×</a:t>
            </a:r>
            <a:r>
              <a:rPr lang="en-GB" sz="1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    </a:t>
            </a:r>
            <a:r>
              <a:rPr lang="en-GB" sz="1200" i="1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×</a:t>
            </a:r>
            <a:r>
              <a:rPr lang="en-GB" sz="1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 height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01" name="Google Shape;201;p20" descr="&lt;math xmlns=&quot;http://www.w3.org/1998/Math/MathML&quot; display=&quot;block&quot; data-is-equatio=&quot;1&quot; data-latex=&quot;A\ =\ \frac{1}{2}\left(a+b\right)h&quot;&gt;&lt;mi&gt;A&lt;/mi&gt;&lt;mtext&gt;&lt;/mtext&gt;&lt;mo&gt;=&lt;/mo&gt;&lt;mtext&gt;&lt;/mtext&gt;&lt;mfrac&gt;&lt;mn&gt;1&lt;/mn&gt;&lt;mn&gt;2&lt;/mn&gt;&lt;/mfrac&gt;&lt;mrow data-mjx-texclass=&quot;INNER&quot;&gt;&lt;mo data-mjx-texclass=&quot;OPEN&quot;&gt;(&lt;/mo&gt;&lt;mi&gt;a&lt;/mi&gt;&lt;mo&gt;+&lt;/mo&gt;&lt;mi&gt;b&lt;/mi&gt;&lt;mo data-mjx-texclass=&quot;CLOSE&quot;&gt;)&lt;/mo&gt;&lt;/mrow&gt;&lt;mi&gt;h&lt;/mi&gt;&lt;/math&gt;" title="A equals one half times open paren a plus b close paren times h"/>
          <p:cNvPicPr preferRelativeResize="0"/>
          <p:nvPr/>
        </p:nvPicPr>
        <p:blipFill>
          <a:blip r:embed="rId4">
            <a:alphaModFix/>
          </a:blip>
          <a:srcRect l="47488" r="7656"/>
          <a:stretch>
            <a:fillRect/>
          </a:stretch>
        </p:blipFill>
        <p:spPr>
          <a:xfrm>
            <a:off x="5467901" y="3464587"/>
            <a:ext cx="560436" cy="384677"/>
          </a:xfrm>
          <a:prstGeom prst="rect">
            <a:avLst/>
          </a:prstGeom>
          <a:noFill/>
          <a:ln>
            <a:noFill/>
          </a:ln>
        </p:spPr>
      </p:pic>
      <p:pic>
        <p:nvPicPr>
          <p:cNvPr id="202" name="Google Shape;202;p20" descr="&lt;math xmlns=&quot;http://www.w3.org/1998/Math/MathML&quot; display=&quot;block&quot; data-is-equatio=&quot;1&quot; data-latex=&quot;\begin{array}{l}=\ 4\ \times5\\&amp;#13;&amp;#10;=\ 20\\&amp;#13;&amp;#10;\begin{array}{l}=\ 4\ \times5\\&amp;#13;&amp;#10;=\ 20\end{array}\\&amp;#13;&amp;#10;\begin{array}{l}=\ \frac{1}{2}\times5\ \times6\\&amp;#13;&amp;#10;=\ 15\end{array}\end{array}&quot;&gt;&lt;mtable columnalign=&quot;left&quot; columnspacing=&quot;1em&quot; rowspacing=&quot;4pt&quot;&gt;&lt;mtr&gt;&lt;mtd&gt;&lt;mo&gt;=&lt;/mo&gt;&lt;mtext&gt;&lt;/mtext&gt;&lt;mn&gt;4&lt;/mn&gt;&lt;mtext&gt;&lt;/mtext&gt;&lt;mo&gt;×&lt;/mo&gt;&lt;mn&gt;5&lt;/mn&gt;&lt;/mtd&gt;&lt;/mtr&gt;&lt;mtr&gt;&lt;mtd&gt;&lt;mo&gt;=&lt;/mo&gt;&lt;mtext&gt;&lt;/mtext&gt;&lt;mn&gt;20&lt;/mn&gt;&lt;/mtd&gt;&lt;/mtr&gt;&lt;mtr&gt;&lt;mtd&gt;&lt;mtable columnspacing=&quot;1em&quot; rowspacing=&quot;4pt&quot;&gt;&lt;mtr&gt;&lt;mtd&gt;&lt;mo&gt;=&lt;/mo&gt;&lt;mtext&gt;&lt;/mtext&gt;&lt;mn&gt;4&lt;/mn&gt;&lt;mtext&gt;&lt;/mtext&gt;&lt;mo&gt;×&lt;/mo&gt;&lt;mn&gt;5&lt;/mn&gt;&lt;/mtd&gt;&lt;/mtr&gt;&lt;mtr&gt;&lt;mtd&gt;&lt;mo&gt;=&lt;/mo&gt;&lt;mtext&gt;&lt;/mtext&gt;&lt;mn&gt;20&lt;/mn&gt;&lt;/mtd&gt;&lt;/mtr&gt;&lt;/mtable&gt;&lt;/mtd&gt;&lt;/mtr&gt;&lt;mtr&gt;&lt;mtd&gt;&lt;mtable columnspacing=&quot;1em&quot; rowspacing=&quot;4pt&quot;&gt;&lt;mtr&gt;&lt;mtd&gt;&lt;mo&gt;=&lt;/mo&gt;&lt;mtext&gt;&lt;/mtext&gt;&lt;mfrac&gt;&lt;mn&gt;1&lt;/mn&gt;&lt;mn&gt;2&lt;/mn&gt;&lt;/mfrac&gt;&lt;mo&gt;×&lt;/mo&gt;&lt;mn&gt;5&lt;/mn&gt;&lt;mtext&gt;&lt;/mtext&gt;&lt;mo&gt;×&lt;/mo&gt;&lt;mn&gt;6&lt;/mn&gt;&lt;/mtd&gt;&lt;/mtr&gt;&lt;mtr&gt;&lt;mtd&gt;&lt;mo&gt;=&lt;/mo&gt;&lt;mtext&gt;&lt;/mtext&gt;&lt;mn&gt;15&lt;/mn&gt;&lt;/mtd&gt;&lt;/mtr&gt;&lt;/mtable&gt;&lt;/mtd&gt;&lt;/mtr&gt;&lt;/mtable&gt;&lt;/math&gt;" title="4 lines Line 1: equals 4 times 5 Line 2: equals 20 Line 3: Line 1: equals 4 times 5 Line 2: equals 20 Line 4: Line 1: equals one half times 5 times 6 Line 2: equals 15"/>
          <p:cNvPicPr preferRelativeResize="0"/>
          <p:nvPr/>
        </p:nvPicPr>
        <p:blipFill>
          <a:blip r:embed="rId3">
            <a:alphaModFix/>
          </a:blip>
          <a:srcRect l="18915" t="67326" r="59200" b="13790"/>
          <a:stretch>
            <a:fillRect/>
          </a:stretch>
        </p:blipFill>
        <p:spPr>
          <a:xfrm>
            <a:off x="5148213" y="3512694"/>
            <a:ext cx="236652" cy="302853"/>
          </a:xfrm>
          <a:prstGeom prst="rect">
            <a:avLst/>
          </a:prstGeom>
          <a:noFill/>
          <a:ln>
            <a:noFill/>
          </a:ln>
        </p:spPr>
      </p:pic>
      <p:sp>
        <p:nvSpPr>
          <p:cNvPr id="203" name="Google Shape;203;p20"/>
          <p:cNvSpPr txBox="1"/>
          <p:nvPr/>
        </p:nvSpPr>
        <p:spPr>
          <a:xfrm>
            <a:off x="4739967" y="3916496"/>
            <a:ext cx="2291100" cy="33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Where 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and 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are the parallel sides.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4" name="Google Shape;204;p20"/>
          <p:cNvSpPr/>
          <p:nvPr/>
        </p:nvSpPr>
        <p:spPr>
          <a:xfrm>
            <a:off x="4830781" y="2397757"/>
            <a:ext cx="1399800" cy="810600"/>
          </a:xfrm>
          <a:prstGeom prst="trapezoid">
            <a:avLst>
              <a:gd name="adj" fmla="val 42122"/>
            </a:avLst>
          </a:prstGeom>
          <a:solidFill>
            <a:srgbClr val="FFFFFF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05" name="Google Shape;205;p20"/>
          <p:cNvCxnSpPr/>
          <p:nvPr/>
        </p:nvCxnSpPr>
        <p:spPr>
          <a:xfrm>
            <a:off x="4830781" y="3271142"/>
            <a:ext cx="13959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206" name="Google Shape;206;p20"/>
          <p:cNvSpPr txBox="1"/>
          <p:nvPr/>
        </p:nvSpPr>
        <p:spPr>
          <a:xfrm>
            <a:off x="5507742" y="3290014"/>
            <a:ext cx="162600" cy="21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b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7" name="Google Shape;207;p20"/>
          <p:cNvSpPr txBox="1"/>
          <p:nvPr/>
        </p:nvSpPr>
        <p:spPr>
          <a:xfrm>
            <a:off x="5493298" y="2114252"/>
            <a:ext cx="191400" cy="21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a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08" name="Google Shape;208;p20"/>
          <p:cNvCxnSpPr/>
          <p:nvPr/>
        </p:nvCxnSpPr>
        <p:spPr>
          <a:xfrm>
            <a:off x="6226786" y="3208324"/>
            <a:ext cx="313800" cy="0"/>
          </a:xfrm>
          <a:prstGeom prst="straightConnector1">
            <a:avLst/>
          </a:prstGeom>
          <a:noFill/>
          <a:ln w="28575" cap="flat" cmpd="sng">
            <a:solidFill>
              <a:srgbClr val="808080"/>
            </a:solidFill>
            <a:prstDash val="dash"/>
            <a:round/>
            <a:headEnd type="none" w="med" len="med"/>
            <a:tailEnd type="none" w="med" len="med"/>
          </a:ln>
        </p:spPr>
      </p:cxnSp>
      <p:grpSp>
        <p:nvGrpSpPr>
          <p:cNvPr id="209" name="Google Shape;209;p20"/>
          <p:cNvGrpSpPr/>
          <p:nvPr/>
        </p:nvGrpSpPr>
        <p:grpSpPr>
          <a:xfrm rot="5400000" flipH="1">
            <a:off x="6415275" y="3083031"/>
            <a:ext cx="127787" cy="122641"/>
            <a:chOff x="3397534" y="3193326"/>
            <a:chExt cx="179400" cy="172200"/>
          </a:xfrm>
        </p:grpSpPr>
        <p:cxnSp>
          <p:nvCxnSpPr>
            <p:cNvPr id="210" name="Google Shape;210;p20"/>
            <p:cNvCxnSpPr/>
            <p:nvPr/>
          </p:nvCxnSpPr>
          <p:spPr>
            <a:xfrm>
              <a:off x="3397534" y="3363142"/>
              <a:ext cx="179400" cy="0"/>
            </a:xfrm>
            <a:prstGeom prst="straightConnector1">
              <a:avLst/>
            </a:prstGeom>
            <a:noFill/>
            <a:ln w="28575" cap="flat" cmpd="sng">
              <a:solidFill>
                <a:srgbClr val="80808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11" name="Google Shape;211;p20"/>
            <p:cNvCxnSpPr/>
            <p:nvPr/>
          </p:nvCxnSpPr>
          <p:spPr>
            <a:xfrm rot="10800000" flipH="1">
              <a:off x="3571988" y="3193326"/>
              <a:ext cx="0" cy="172200"/>
            </a:xfrm>
            <a:prstGeom prst="straightConnector1">
              <a:avLst/>
            </a:prstGeom>
            <a:noFill/>
            <a:ln w="28575" cap="flat" cmpd="sng">
              <a:solidFill>
                <a:srgbClr val="808080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cxnSp>
        <p:nvCxnSpPr>
          <p:cNvPr id="212" name="Google Shape;212;p20"/>
          <p:cNvCxnSpPr/>
          <p:nvPr/>
        </p:nvCxnSpPr>
        <p:spPr>
          <a:xfrm flipH="1">
            <a:off x="6540356" y="2417616"/>
            <a:ext cx="1800" cy="7908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213" name="Google Shape;213;p20"/>
          <p:cNvSpPr txBox="1"/>
          <p:nvPr/>
        </p:nvSpPr>
        <p:spPr>
          <a:xfrm>
            <a:off x="6610191" y="2696278"/>
            <a:ext cx="481800" cy="21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h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14" name="Google Shape;214;p20"/>
          <p:cNvCxnSpPr/>
          <p:nvPr/>
        </p:nvCxnSpPr>
        <p:spPr>
          <a:xfrm>
            <a:off x="5154526" y="2332446"/>
            <a:ext cx="7167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215" name="Google Shape;215;p20"/>
          <p:cNvSpPr/>
          <p:nvPr/>
        </p:nvSpPr>
        <p:spPr>
          <a:xfrm>
            <a:off x="5192318" y="4977952"/>
            <a:ext cx="1096800" cy="1096800"/>
          </a:xfrm>
          <a:prstGeom prst="rect">
            <a:avLst/>
          </a:prstGeom>
          <a:solidFill>
            <a:srgbClr val="845AD9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6" name="Google Shape;216;p20"/>
          <p:cNvSpPr txBox="1"/>
          <p:nvPr/>
        </p:nvSpPr>
        <p:spPr>
          <a:xfrm>
            <a:off x="468000" y="4452050"/>
            <a:ext cx="6431400" cy="235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Write a sentence explaining why the area of this shape can be written in each of the following ways: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17" name="Google Shape;217;p20"/>
          <p:cNvCxnSpPr/>
          <p:nvPr/>
        </p:nvCxnSpPr>
        <p:spPr>
          <a:xfrm rot="-5400000">
            <a:off x="5915325" y="5526251"/>
            <a:ext cx="10824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218" name="Google Shape;218;p20"/>
          <p:cNvSpPr txBox="1"/>
          <p:nvPr/>
        </p:nvSpPr>
        <p:spPr>
          <a:xfrm>
            <a:off x="6528634" y="5403479"/>
            <a:ext cx="554400" cy="24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− 4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19" name="Google Shape;219;p20"/>
          <p:cNvGrpSpPr/>
          <p:nvPr/>
        </p:nvGrpSpPr>
        <p:grpSpPr>
          <a:xfrm rot="5400000" flipH="1">
            <a:off x="6135578" y="5921025"/>
            <a:ext cx="153548" cy="153534"/>
            <a:chOff x="3397534" y="3193326"/>
            <a:chExt cx="179400" cy="172200"/>
          </a:xfrm>
        </p:grpSpPr>
        <p:cxnSp>
          <p:nvCxnSpPr>
            <p:cNvPr id="220" name="Google Shape;220;p20"/>
            <p:cNvCxnSpPr/>
            <p:nvPr/>
          </p:nvCxnSpPr>
          <p:spPr>
            <a:xfrm>
              <a:off x="3397534" y="3363142"/>
              <a:ext cx="179400" cy="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21" name="Google Shape;221;p20"/>
            <p:cNvCxnSpPr/>
            <p:nvPr/>
          </p:nvCxnSpPr>
          <p:spPr>
            <a:xfrm rot="10800000" flipH="1">
              <a:off x="3571988" y="3193326"/>
              <a:ext cx="0" cy="17220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222" name="Google Shape;222;p20"/>
          <p:cNvGrpSpPr/>
          <p:nvPr/>
        </p:nvGrpSpPr>
        <p:grpSpPr>
          <a:xfrm rot="-5400000">
            <a:off x="5203847" y="5905485"/>
            <a:ext cx="153548" cy="153534"/>
            <a:chOff x="3397534" y="3193326"/>
            <a:chExt cx="179400" cy="172200"/>
          </a:xfrm>
        </p:grpSpPr>
        <p:cxnSp>
          <p:nvCxnSpPr>
            <p:cNvPr id="223" name="Google Shape;223;p20"/>
            <p:cNvCxnSpPr/>
            <p:nvPr/>
          </p:nvCxnSpPr>
          <p:spPr>
            <a:xfrm>
              <a:off x="3397534" y="3363142"/>
              <a:ext cx="179400" cy="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24" name="Google Shape;224;p20"/>
            <p:cNvCxnSpPr/>
            <p:nvPr/>
          </p:nvCxnSpPr>
          <p:spPr>
            <a:xfrm rot="10800000" flipH="1">
              <a:off x="3571988" y="3193326"/>
              <a:ext cx="0" cy="17220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225" name="Google Shape;225;p20"/>
          <p:cNvGrpSpPr/>
          <p:nvPr/>
        </p:nvGrpSpPr>
        <p:grpSpPr>
          <a:xfrm rot="5400000">
            <a:off x="6135578" y="4977154"/>
            <a:ext cx="153548" cy="153534"/>
            <a:chOff x="3397534" y="3193326"/>
            <a:chExt cx="179400" cy="172200"/>
          </a:xfrm>
        </p:grpSpPr>
        <p:cxnSp>
          <p:nvCxnSpPr>
            <p:cNvPr id="226" name="Google Shape;226;p20"/>
            <p:cNvCxnSpPr/>
            <p:nvPr/>
          </p:nvCxnSpPr>
          <p:spPr>
            <a:xfrm>
              <a:off x="3397534" y="3363142"/>
              <a:ext cx="179400" cy="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27" name="Google Shape;227;p20"/>
            <p:cNvCxnSpPr/>
            <p:nvPr/>
          </p:nvCxnSpPr>
          <p:spPr>
            <a:xfrm rot="10800000" flipH="1">
              <a:off x="3571988" y="3193326"/>
              <a:ext cx="0" cy="17220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228" name="Google Shape;228;p20"/>
          <p:cNvGrpSpPr/>
          <p:nvPr/>
        </p:nvGrpSpPr>
        <p:grpSpPr>
          <a:xfrm rot="-5400000" flipH="1">
            <a:off x="5203847" y="4992695"/>
            <a:ext cx="153548" cy="153534"/>
            <a:chOff x="3397534" y="3193326"/>
            <a:chExt cx="179400" cy="172200"/>
          </a:xfrm>
        </p:grpSpPr>
        <p:cxnSp>
          <p:nvCxnSpPr>
            <p:cNvPr id="229" name="Google Shape;229;p20"/>
            <p:cNvCxnSpPr/>
            <p:nvPr/>
          </p:nvCxnSpPr>
          <p:spPr>
            <a:xfrm>
              <a:off x="3397534" y="3363142"/>
              <a:ext cx="179400" cy="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30" name="Google Shape;230;p20"/>
            <p:cNvCxnSpPr/>
            <p:nvPr/>
          </p:nvCxnSpPr>
          <p:spPr>
            <a:xfrm rot="10800000" flipH="1">
              <a:off x="3571988" y="3193326"/>
              <a:ext cx="0" cy="17220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cxnSp>
        <p:nvCxnSpPr>
          <p:cNvPr id="231" name="Google Shape;231;p20"/>
          <p:cNvCxnSpPr/>
          <p:nvPr/>
        </p:nvCxnSpPr>
        <p:spPr>
          <a:xfrm flipH="1">
            <a:off x="5736243" y="5998755"/>
            <a:ext cx="0" cy="1704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32" name="Google Shape;232;p20"/>
          <p:cNvCxnSpPr/>
          <p:nvPr/>
        </p:nvCxnSpPr>
        <p:spPr>
          <a:xfrm flipH="1">
            <a:off x="5736243" y="4922187"/>
            <a:ext cx="0" cy="1704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33" name="Google Shape;233;p20"/>
          <p:cNvCxnSpPr/>
          <p:nvPr/>
        </p:nvCxnSpPr>
        <p:spPr>
          <a:xfrm flipH="1">
            <a:off x="6299210" y="5470478"/>
            <a:ext cx="0" cy="1704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34" name="Google Shape;234;p20"/>
          <p:cNvCxnSpPr/>
          <p:nvPr/>
        </p:nvCxnSpPr>
        <p:spPr>
          <a:xfrm flipH="1">
            <a:off x="5184948" y="5470478"/>
            <a:ext cx="0" cy="1704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35" name="Google Shape;235;p20"/>
          <p:cNvSpPr txBox="1"/>
          <p:nvPr/>
        </p:nvSpPr>
        <p:spPr>
          <a:xfrm>
            <a:off x="478774" y="4927666"/>
            <a:ext cx="4734000" cy="210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 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(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− 4)</a:t>
            </a:r>
            <a:r>
              <a:rPr lang="en-GB" sz="1200" baseline="30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endParaRPr sz="1200" baseline="300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 sz="1200" baseline="30000"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 sz="200" baseline="30000"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(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− 4)(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− 4)</a:t>
            </a:r>
            <a:endParaRPr sz="12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 sz="12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 sz="1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 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 baseline="30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− 8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+ 16</a:t>
            </a:r>
            <a:endParaRPr sz="12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6" name="Google Shape;236;p20"/>
          <p:cNvSpPr txBox="1"/>
          <p:nvPr/>
        </p:nvSpPr>
        <p:spPr>
          <a:xfrm>
            <a:off x="468075" y="5250025"/>
            <a:ext cx="4484700" cy="47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The shape is a square so the area can be found by squaring one side length. 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37" name="Google Shape;237;p20"/>
          <p:cNvSpPr txBox="1"/>
          <p:nvPr/>
        </p:nvSpPr>
        <p:spPr>
          <a:xfrm>
            <a:off x="468075" y="6046925"/>
            <a:ext cx="4484700" cy="47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Squaring an expression is the same as multiplying that expression by itself. 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(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− 4)</a:t>
            </a:r>
            <a:r>
              <a:rPr lang="en-GB" sz="1200" baseline="30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≡ 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(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− 4)(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− 4)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38" name="Google Shape;238;p20"/>
          <p:cNvSpPr txBox="1"/>
          <p:nvPr/>
        </p:nvSpPr>
        <p:spPr>
          <a:xfrm>
            <a:off x="477025" y="6810352"/>
            <a:ext cx="6615000" cy="47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We can multiply the binomials using the distributive law:                       </a:t>
            </a:r>
            <a:br>
              <a:rPr lang="en-GB" sz="1200">
                <a:latin typeface="Kalam"/>
                <a:ea typeface="Kalam"/>
                <a:cs typeface="Kalam"/>
                <a:sym typeface="Kalam"/>
              </a:rPr>
            </a:b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(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− 4)(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− 4) 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≡ </a:t>
            </a:r>
            <a:r>
              <a:rPr lang="en-GB" sz="12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(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− 4) − 4(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− 4) 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≡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 baseline="30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− 4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 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− 4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+ 16 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≡ 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 baseline="30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− 8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+ 16 </a:t>
            </a:r>
            <a:endParaRPr sz="1200" i="1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39" name="Google Shape;239;p20"/>
          <p:cNvSpPr/>
          <p:nvPr/>
        </p:nvSpPr>
        <p:spPr>
          <a:xfrm>
            <a:off x="835052" y="8439068"/>
            <a:ext cx="1479900" cy="1127400"/>
          </a:xfrm>
          <a:prstGeom prst="rect">
            <a:avLst/>
          </a:prstGeom>
          <a:solidFill>
            <a:srgbClr val="845AD9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40" name="Google Shape;240;p20"/>
          <p:cNvCxnSpPr/>
          <p:nvPr/>
        </p:nvCxnSpPr>
        <p:spPr>
          <a:xfrm rot="-5400000">
            <a:off x="1930666" y="9002722"/>
            <a:ext cx="11124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241" name="Google Shape;241;p20"/>
          <p:cNvSpPr txBox="1"/>
          <p:nvPr/>
        </p:nvSpPr>
        <p:spPr>
          <a:xfrm>
            <a:off x="1275087" y="8009297"/>
            <a:ext cx="569700" cy="2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6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+ y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42" name="Google Shape;242;p20"/>
          <p:cNvGrpSpPr/>
          <p:nvPr/>
        </p:nvGrpSpPr>
        <p:grpSpPr>
          <a:xfrm rot="5400000" flipH="1">
            <a:off x="2157098" y="9408563"/>
            <a:ext cx="157818" cy="157804"/>
            <a:chOff x="3397534" y="3193326"/>
            <a:chExt cx="179400" cy="172200"/>
          </a:xfrm>
        </p:grpSpPr>
        <p:cxnSp>
          <p:nvCxnSpPr>
            <p:cNvPr id="243" name="Google Shape;243;p20"/>
            <p:cNvCxnSpPr/>
            <p:nvPr/>
          </p:nvCxnSpPr>
          <p:spPr>
            <a:xfrm>
              <a:off x="3397534" y="3363142"/>
              <a:ext cx="179400" cy="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44" name="Google Shape;244;p20"/>
            <p:cNvCxnSpPr/>
            <p:nvPr/>
          </p:nvCxnSpPr>
          <p:spPr>
            <a:xfrm rot="10800000" flipH="1">
              <a:off x="3571988" y="3193326"/>
              <a:ext cx="0" cy="17220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245" name="Google Shape;245;p20"/>
          <p:cNvGrpSpPr/>
          <p:nvPr/>
        </p:nvGrpSpPr>
        <p:grpSpPr>
          <a:xfrm rot="-5400000">
            <a:off x="843295" y="9392590"/>
            <a:ext cx="157818" cy="157804"/>
            <a:chOff x="3397534" y="3193326"/>
            <a:chExt cx="179400" cy="172200"/>
          </a:xfrm>
        </p:grpSpPr>
        <p:cxnSp>
          <p:nvCxnSpPr>
            <p:cNvPr id="246" name="Google Shape;246;p20"/>
            <p:cNvCxnSpPr/>
            <p:nvPr/>
          </p:nvCxnSpPr>
          <p:spPr>
            <a:xfrm>
              <a:off x="3397534" y="3363142"/>
              <a:ext cx="179400" cy="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47" name="Google Shape;247;p20"/>
            <p:cNvCxnSpPr/>
            <p:nvPr/>
          </p:nvCxnSpPr>
          <p:spPr>
            <a:xfrm rot="10800000" flipH="1">
              <a:off x="3571988" y="3193326"/>
              <a:ext cx="0" cy="17220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248" name="Google Shape;248;p20"/>
          <p:cNvGrpSpPr/>
          <p:nvPr/>
        </p:nvGrpSpPr>
        <p:grpSpPr>
          <a:xfrm rot="5400000">
            <a:off x="2157098" y="8438116"/>
            <a:ext cx="157818" cy="157804"/>
            <a:chOff x="3397534" y="3193326"/>
            <a:chExt cx="179400" cy="172200"/>
          </a:xfrm>
        </p:grpSpPr>
        <p:cxnSp>
          <p:nvCxnSpPr>
            <p:cNvPr id="249" name="Google Shape;249;p20"/>
            <p:cNvCxnSpPr/>
            <p:nvPr/>
          </p:nvCxnSpPr>
          <p:spPr>
            <a:xfrm>
              <a:off x="3397534" y="3363142"/>
              <a:ext cx="179400" cy="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50" name="Google Shape;250;p20"/>
            <p:cNvCxnSpPr/>
            <p:nvPr/>
          </p:nvCxnSpPr>
          <p:spPr>
            <a:xfrm rot="10800000" flipH="1">
              <a:off x="3571988" y="3193326"/>
              <a:ext cx="0" cy="17220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251" name="Google Shape;251;p20"/>
          <p:cNvGrpSpPr/>
          <p:nvPr/>
        </p:nvGrpSpPr>
        <p:grpSpPr>
          <a:xfrm rot="-5400000" flipH="1">
            <a:off x="843295" y="8454090"/>
            <a:ext cx="157818" cy="157804"/>
            <a:chOff x="3397534" y="3193326"/>
            <a:chExt cx="179400" cy="172200"/>
          </a:xfrm>
        </p:grpSpPr>
        <p:cxnSp>
          <p:nvCxnSpPr>
            <p:cNvPr id="252" name="Google Shape;252;p20"/>
            <p:cNvCxnSpPr/>
            <p:nvPr/>
          </p:nvCxnSpPr>
          <p:spPr>
            <a:xfrm>
              <a:off x="3397534" y="3363142"/>
              <a:ext cx="179400" cy="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53" name="Google Shape;253;p20"/>
            <p:cNvCxnSpPr/>
            <p:nvPr/>
          </p:nvCxnSpPr>
          <p:spPr>
            <a:xfrm rot="10800000" flipH="1">
              <a:off x="3571988" y="3193326"/>
              <a:ext cx="0" cy="17220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254" name="Google Shape;254;p20"/>
          <p:cNvSpPr txBox="1"/>
          <p:nvPr/>
        </p:nvSpPr>
        <p:spPr>
          <a:xfrm>
            <a:off x="468000" y="7402475"/>
            <a:ext cx="6610500" cy="47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Draw a rectangle with an area of 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(6 + 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)(2 + 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)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write a different expression for the area of your rectangle.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55" name="Google Shape;255;p20"/>
          <p:cNvCxnSpPr/>
          <p:nvPr/>
        </p:nvCxnSpPr>
        <p:spPr>
          <a:xfrm>
            <a:off x="835044" y="8327393"/>
            <a:ext cx="14466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256" name="Google Shape;256;p20"/>
          <p:cNvSpPr txBox="1"/>
          <p:nvPr/>
        </p:nvSpPr>
        <p:spPr>
          <a:xfrm>
            <a:off x="2524893" y="8835660"/>
            <a:ext cx="569700" cy="2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+ y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7" name="Google Shape;257;p20"/>
          <p:cNvSpPr txBox="1"/>
          <p:nvPr/>
        </p:nvSpPr>
        <p:spPr>
          <a:xfrm>
            <a:off x="3438121" y="8297894"/>
            <a:ext cx="3321000" cy="2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(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y 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+ 6)(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y + 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2)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or equivalent binomials.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8" name="Google Shape;258;p20"/>
          <p:cNvSpPr txBox="1"/>
          <p:nvPr/>
        </p:nvSpPr>
        <p:spPr>
          <a:xfrm>
            <a:off x="3461412" y="8783227"/>
            <a:ext cx="3321000" cy="2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1200" baseline="30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+ 2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+ 6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+ 12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9" name="Google Shape;259;p20"/>
          <p:cNvSpPr txBox="1"/>
          <p:nvPr/>
        </p:nvSpPr>
        <p:spPr>
          <a:xfrm>
            <a:off x="3470701" y="9210622"/>
            <a:ext cx="3321000" cy="2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1200" baseline="30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+ 8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+ 12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>
</file>

<file path=ppt/slides/slide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263" name="Shape 263"/>
        <p:cNvGrpSpPr/>
        <p:nvPr/>
      </p:nvGrpSpPr>
      <p:grpSpPr>
        <a:xfrm>
          <a:off x="0" y="0"/>
          <a:ext cx="0" cy="0"/>
        </a:xfrm>
      </p:grpSpPr>
      <p:sp>
        <p:nvSpPr>
          <p:cNvPr id="264" name="Google Shape;264;p21"/>
          <p:cNvSpPr txBox="1"/>
          <p:nvPr>
            <p:ph type="subTitle" idx="1"/>
          </p:nvPr>
        </p:nvSpPr>
        <p:spPr>
          <a:xfrm>
            <a:off x="1463400" y="360000"/>
            <a:ext cx="4782600" cy="1386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Problem solving with expressions and formulae</a:t>
            </a:r>
            <a:endParaRPr/>
          </a:p>
        </p:txBody>
      </p:sp>
      <p:cxnSp>
        <p:nvCxnSpPr>
          <p:cNvPr id="265" name="Google Shape;265;p21"/>
          <p:cNvCxnSpPr/>
          <p:nvPr/>
        </p:nvCxnSpPr>
        <p:spPr>
          <a:xfrm>
            <a:off x="474757" y="9971988"/>
            <a:ext cx="6610500" cy="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66" name="Google Shape;266;p21"/>
          <p:cNvSpPr txBox="1"/>
          <p:nvPr/>
        </p:nvSpPr>
        <p:spPr>
          <a:xfrm>
            <a:off x="474750" y="721650"/>
            <a:ext cx="6038100" cy="86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3a) Explain why the area of this shape be written as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67" name="Google Shape;267;p21"/>
          <p:cNvCxnSpPr/>
          <p:nvPr/>
        </p:nvCxnSpPr>
        <p:spPr>
          <a:xfrm>
            <a:off x="5704944" y="2377142"/>
            <a:ext cx="13020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268" name="Google Shape;268;p21"/>
          <p:cNvSpPr txBox="1"/>
          <p:nvPr/>
        </p:nvSpPr>
        <p:spPr>
          <a:xfrm>
            <a:off x="6089117" y="2377142"/>
            <a:ext cx="666900" cy="29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4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+ 5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9" name="Google Shape;269;p21"/>
          <p:cNvSpPr/>
          <p:nvPr/>
        </p:nvSpPr>
        <p:spPr>
          <a:xfrm>
            <a:off x="5704944" y="1191803"/>
            <a:ext cx="1256700" cy="1086900"/>
          </a:xfrm>
          <a:prstGeom prst="triangle">
            <a:avLst>
              <a:gd name="adj" fmla="val 35391"/>
            </a:avLst>
          </a:prstGeom>
          <a:solidFill>
            <a:srgbClr val="845AD9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70" name="Google Shape;270;p21"/>
          <p:cNvCxnSpPr/>
          <p:nvPr/>
        </p:nvCxnSpPr>
        <p:spPr>
          <a:xfrm flipH="1">
            <a:off x="5270896" y="1221049"/>
            <a:ext cx="2400" cy="10944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271" name="Google Shape;271;p21"/>
          <p:cNvCxnSpPr/>
          <p:nvPr/>
        </p:nvCxnSpPr>
        <p:spPr>
          <a:xfrm rot="10800000">
            <a:off x="5270850" y="2278743"/>
            <a:ext cx="434100" cy="0"/>
          </a:xfrm>
          <a:prstGeom prst="straightConnector1">
            <a:avLst/>
          </a:prstGeom>
          <a:noFill/>
          <a:ln w="28575" cap="flat" cmpd="sng">
            <a:solidFill>
              <a:srgbClr val="808080"/>
            </a:solidFill>
            <a:prstDash val="dash"/>
            <a:round/>
            <a:headEnd type="none" w="med" len="med"/>
            <a:tailEnd type="none" w="med" len="med"/>
          </a:ln>
        </p:spPr>
      </p:cxnSp>
      <p:grpSp>
        <p:nvGrpSpPr>
          <p:cNvPr id="272" name="Google Shape;272;p21"/>
          <p:cNvGrpSpPr/>
          <p:nvPr/>
        </p:nvGrpSpPr>
        <p:grpSpPr>
          <a:xfrm rot="-5400000">
            <a:off x="5267364" y="2105294"/>
            <a:ext cx="176870" cy="169755"/>
            <a:chOff x="3397534" y="3193326"/>
            <a:chExt cx="179400" cy="172200"/>
          </a:xfrm>
        </p:grpSpPr>
        <p:cxnSp>
          <p:nvCxnSpPr>
            <p:cNvPr id="273" name="Google Shape;273;p21"/>
            <p:cNvCxnSpPr/>
            <p:nvPr/>
          </p:nvCxnSpPr>
          <p:spPr>
            <a:xfrm>
              <a:off x="3397534" y="3363142"/>
              <a:ext cx="179400" cy="0"/>
            </a:xfrm>
            <a:prstGeom prst="straightConnector1">
              <a:avLst/>
            </a:prstGeom>
            <a:noFill/>
            <a:ln w="28575" cap="flat" cmpd="sng">
              <a:solidFill>
                <a:srgbClr val="80808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74" name="Google Shape;274;p21"/>
            <p:cNvCxnSpPr/>
            <p:nvPr/>
          </p:nvCxnSpPr>
          <p:spPr>
            <a:xfrm rot="10800000" flipH="1">
              <a:off x="3571988" y="3193326"/>
              <a:ext cx="0" cy="172200"/>
            </a:xfrm>
            <a:prstGeom prst="straightConnector1">
              <a:avLst/>
            </a:prstGeom>
            <a:noFill/>
            <a:ln w="28575" cap="flat" cmpd="sng">
              <a:solidFill>
                <a:srgbClr val="808080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275" name="Google Shape;275;p21"/>
          <p:cNvSpPr txBox="1"/>
          <p:nvPr/>
        </p:nvSpPr>
        <p:spPr>
          <a:xfrm>
            <a:off x="4690356" y="1587502"/>
            <a:ext cx="666900" cy="29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6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+ 2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6" name="Google Shape;276;p21"/>
          <p:cNvSpPr txBox="1"/>
          <p:nvPr/>
        </p:nvSpPr>
        <p:spPr>
          <a:xfrm>
            <a:off x="4549009" y="718677"/>
            <a:ext cx="2168700" cy="29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(4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+ 5)(6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+ 2)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77" name="Google Shape;277;p21" descr="&lt;math xmlns=&quot;http://www.w3.org/1998/Math/MathML&quot; display=&quot;block&quot; data-is-equatio=&quot;1&quot; data-latex=&quot;\begin{array}{l}=\ 4\ \times5\\&amp;#13;&amp;#10;=\ 20\\&amp;#13;&amp;#10;\begin{array}{l}=\ 4\ \times5\\&amp;#13;&amp;#10;=\ 20\end{array}\\&amp;#13;&amp;#10;\begin{array}{l}=\ \frac{1}{2}\times5\ \times6\\&amp;#13;&amp;#10;=\ 15\end{array}\end{array}&quot;&gt;&lt;mtable columnalign=&quot;left&quot; columnspacing=&quot;1em&quot; rowspacing=&quot;4pt&quot;&gt;&lt;mtr&gt;&lt;mtd&gt;&lt;mo&gt;=&lt;/mo&gt;&lt;mtext&gt;&lt;/mtext&gt;&lt;mn&gt;4&lt;/mn&gt;&lt;mtext&gt;&lt;/mtext&gt;&lt;mo&gt;×&lt;/mo&gt;&lt;mn&gt;5&lt;/mn&gt;&lt;/mtd&gt;&lt;/mtr&gt;&lt;mtr&gt;&lt;mtd&gt;&lt;mo&gt;=&lt;/mo&gt;&lt;mtext&gt;&lt;/mtext&gt;&lt;mn&gt;20&lt;/mn&gt;&lt;/mtd&gt;&lt;/mtr&gt;&lt;mtr&gt;&lt;mtd&gt;&lt;mtable columnspacing=&quot;1em&quot; rowspacing=&quot;4pt&quot;&gt;&lt;mtr&gt;&lt;mtd&gt;&lt;mo&gt;=&lt;/mo&gt;&lt;mtext&gt;&lt;/mtext&gt;&lt;mn&gt;4&lt;/mn&gt;&lt;mtext&gt;&lt;/mtext&gt;&lt;mo&gt;×&lt;/mo&gt;&lt;mn&gt;5&lt;/mn&gt;&lt;/mtd&gt;&lt;/mtr&gt;&lt;mtr&gt;&lt;mtd&gt;&lt;mo&gt;=&lt;/mo&gt;&lt;mtext&gt;&lt;/mtext&gt;&lt;mn&gt;20&lt;/mn&gt;&lt;/mtd&gt;&lt;/mtr&gt;&lt;/mtable&gt;&lt;/mtd&gt;&lt;/mtr&gt;&lt;mtr&gt;&lt;mtd&gt;&lt;mtable columnspacing=&quot;1em&quot; rowspacing=&quot;4pt&quot;&gt;&lt;mtr&gt;&lt;mtd&gt;&lt;mo&gt;=&lt;/mo&gt;&lt;mtext&gt;&lt;/mtext&gt;&lt;mfrac&gt;&lt;mn&gt;1&lt;/mn&gt;&lt;mn&gt;2&lt;/mn&gt;&lt;/mfrac&gt;&lt;mo&gt;×&lt;/mo&gt;&lt;mn&gt;5&lt;/mn&gt;&lt;mtext&gt;&lt;/mtext&gt;&lt;mo&gt;×&lt;/mo&gt;&lt;mn&gt;6&lt;/mn&gt;&lt;/mtd&gt;&lt;/mtr&gt;&lt;mtr&gt;&lt;mtd&gt;&lt;mo&gt;=&lt;/mo&gt;&lt;mtext&gt;&lt;/mtext&gt;&lt;mn&gt;15&lt;/mn&gt;&lt;/mtd&gt;&lt;/mtr&gt;&lt;/mtable&gt;&lt;/mtd&gt;&lt;/mtr&gt;&lt;/mtable&gt;&lt;/math&gt;" title="4 lines Line 1: equals 4 times 5 Line 2: equals 20 Line 3: Line 1: equals 4 times 5 Line 2: equals 20 Line 4: Line 1: equals one half times 5 times 6 Line 2: equals 15"/>
          <p:cNvPicPr preferRelativeResize="0"/>
          <p:nvPr/>
        </p:nvPicPr>
        <p:blipFill>
          <a:blip r:embed="rId3">
            <a:alphaModFix/>
          </a:blip>
          <a:srcRect l="18915" t="67326" r="59200" b="13790"/>
          <a:stretch>
            <a:fillRect/>
          </a:stretch>
        </p:blipFill>
        <p:spPr>
          <a:xfrm>
            <a:off x="4298617" y="693303"/>
            <a:ext cx="260886" cy="333834"/>
          </a:xfrm>
          <a:prstGeom prst="rect">
            <a:avLst/>
          </a:prstGeom>
          <a:noFill/>
          <a:ln>
            <a:noFill/>
          </a:ln>
        </p:spPr>
      </p:pic>
      <p:sp>
        <p:nvSpPr>
          <p:cNvPr id="278" name="Google Shape;278;p21"/>
          <p:cNvSpPr txBox="1"/>
          <p:nvPr/>
        </p:nvSpPr>
        <p:spPr>
          <a:xfrm>
            <a:off x="474750" y="1635057"/>
            <a:ext cx="3910800" cy="42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 Write the expression for the area of this shape in two different ways.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9" name="Google Shape;279;p21"/>
          <p:cNvSpPr txBox="1"/>
          <p:nvPr/>
        </p:nvSpPr>
        <p:spPr>
          <a:xfrm>
            <a:off x="474750" y="1040919"/>
            <a:ext cx="3847200" cy="67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The area of a triangle can be calculated by multiplying the base by the height and multiplying by a half. 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80" name="Google Shape;280;p21"/>
          <p:cNvSpPr txBox="1"/>
          <p:nvPr/>
        </p:nvSpPr>
        <p:spPr>
          <a:xfrm>
            <a:off x="896916" y="2219015"/>
            <a:ext cx="2168700" cy="29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(4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+ 5)(3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+ 1)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1" name="Google Shape;281;p21"/>
          <p:cNvSpPr txBox="1"/>
          <p:nvPr/>
        </p:nvSpPr>
        <p:spPr>
          <a:xfrm>
            <a:off x="896916" y="2581941"/>
            <a:ext cx="2168700" cy="29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12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 baseline="30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+ 4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 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+ 15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 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+ 5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2" name="Google Shape;282;p21"/>
          <p:cNvSpPr txBox="1"/>
          <p:nvPr/>
        </p:nvSpPr>
        <p:spPr>
          <a:xfrm>
            <a:off x="896916" y="2932132"/>
            <a:ext cx="2168700" cy="29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12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 baseline="30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+ 19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 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+ 5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3" name="Google Shape;283;p21"/>
          <p:cNvSpPr txBox="1"/>
          <p:nvPr/>
        </p:nvSpPr>
        <p:spPr>
          <a:xfrm>
            <a:off x="571527" y="2219023"/>
            <a:ext cx="325500" cy="29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E.g.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84" name="Google Shape;284;p21"/>
          <p:cNvSpPr txBox="1"/>
          <p:nvPr/>
        </p:nvSpPr>
        <p:spPr>
          <a:xfrm>
            <a:off x="2953579" y="2219015"/>
            <a:ext cx="2168700" cy="29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(2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+ 2.5)(6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+ 2)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85" name="Google Shape;285;p21" descr="&lt;math xmlns=&quot;http://www.w3.org/1998/Math/MathML&quot; display=&quot;block&quot; data-is-equatio=&quot;1&quot; data-latex=&quot;\frac{\left(4x\ +\ 5\right)\left(6x\ +\ 2\right)}{2}&quot;&gt;&lt;mfrac&gt;&lt;mrow&gt;&lt;mrow data-mjx-texclass=&quot;INNER&quot;&gt;&lt;mo data-mjx-texclass=&quot;OPEN&quot;&gt;(&lt;/mo&gt;&lt;mn&gt;4&lt;/mn&gt;&lt;mi&gt;x&lt;/mi&gt;&lt;mtext&gt;&lt;/mtext&gt;&lt;mo&gt;+&lt;/mo&gt;&lt;mtext&gt;&lt;/mtext&gt;&lt;mn&gt;5&lt;/mn&gt;&lt;mo data-mjx-texclass=&quot;CLOSE&quot;&gt;)&lt;/mo&gt;&lt;/mrow&gt;&lt;mrow data-mjx-texclass=&quot;INNER&quot;&gt;&lt;mo data-mjx-texclass=&quot;OPEN&quot;&gt;(&lt;/mo&gt;&lt;mn&gt;6&lt;/mn&gt;&lt;mi&gt;x&lt;/mi&gt;&lt;mtext&gt;&lt;/mtext&gt;&lt;mo&gt;+&lt;/mo&gt;&lt;mtext&gt;&lt;/mtext&gt;&lt;mn&gt;2&lt;/mn&gt;&lt;mo data-mjx-texclass=&quot;CLOSE&quot;&gt;)&lt;/mo&gt;&lt;/mrow&gt;&lt;/mrow&gt;&lt;mn&gt;2&lt;/mn&gt;&lt;/mfrac&gt;&lt;/math&gt;" title="open paren 4 x plus 5 close paren times open paren 6 x plus 2 close paren over 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976846" y="2739063"/>
            <a:ext cx="1368983" cy="35800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86" name="Google Shape;286;p21"/>
          <p:cNvCxnSpPr/>
          <p:nvPr/>
        </p:nvCxnSpPr>
        <p:spPr>
          <a:xfrm>
            <a:off x="1287249" y="4650505"/>
            <a:ext cx="9987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287" name="Google Shape;287;p21"/>
          <p:cNvSpPr txBox="1"/>
          <p:nvPr/>
        </p:nvSpPr>
        <p:spPr>
          <a:xfrm>
            <a:off x="1582007" y="4650505"/>
            <a:ext cx="511800" cy="22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+ 1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8" name="Google Shape;288;p21"/>
          <p:cNvSpPr/>
          <p:nvPr/>
        </p:nvSpPr>
        <p:spPr>
          <a:xfrm>
            <a:off x="1287249" y="3741059"/>
            <a:ext cx="964200" cy="833700"/>
          </a:xfrm>
          <a:prstGeom prst="triangle">
            <a:avLst>
              <a:gd name="adj" fmla="val 35391"/>
            </a:avLst>
          </a:prstGeom>
          <a:solidFill>
            <a:srgbClr val="845AD9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89" name="Google Shape;289;p21"/>
          <p:cNvCxnSpPr/>
          <p:nvPr/>
        </p:nvCxnSpPr>
        <p:spPr>
          <a:xfrm flipH="1">
            <a:off x="954266" y="3763498"/>
            <a:ext cx="1800" cy="8397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290" name="Google Shape;290;p21"/>
          <p:cNvCxnSpPr/>
          <p:nvPr/>
        </p:nvCxnSpPr>
        <p:spPr>
          <a:xfrm rot="10800000">
            <a:off x="954254" y="4575008"/>
            <a:ext cx="333000" cy="0"/>
          </a:xfrm>
          <a:prstGeom prst="straightConnector1">
            <a:avLst/>
          </a:prstGeom>
          <a:noFill/>
          <a:ln w="28575" cap="flat" cmpd="sng">
            <a:solidFill>
              <a:srgbClr val="808080"/>
            </a:solidFill>
            <a:prstDash val="dash"/>
            <a:round/>
            <a:headEnd type="none" w="med" len="med"/>
            <a:tailEnd type="none" w="med" len="med"/>
          </a:ln>
        </p:spPr>
      </p:cxnSp>
      <p:grpSp>
        <p:nvGrpSpPr>
          <p:cNvPr id="291" name="Google Shape;291;p21"/>
          <p:cNvGrpSpPr/>
          <p:nvPr/>
        </p:nvGrpSpPr>
        <p:grpSpPr>
          <a:xfrm rot="-5400000">
            <a:off x="951654" y="4442020"/>
            <a:ext cx="135698" cy="130252"/>
            <a:chOff x="3397534" y="3193326"/>
            <a:chExt cx="179400" cy="172200"/>
          </a:xfrm>
        </p:grpSpPr>
        <p:cxnSp>
          <p:nvCxnSpPr>
            <p:cNvPr id="292" name="Google Shape;292;p21"/>
            <p:cNvCxnSpPr/>
            <p:nvPr/>
          </p:nvCxnSpPr>
          <p:spPr>
            <a:xfrm>
              <a:off x="3397534" y="3363142"/>
              <a:ext cx="179400" cy="0"/>
            </a:xfrm>
            <a:prstGeom prst="straightConnector1">
              <a:avLst/>
            </a:prstGeom>
            <a:noFill/>
            <a:ln w="28575" cap="flat" cmpd="sng">
              <a:solidFill>
                <a:srgbClr val="80808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93" name="Google Shape;293;p21"/>
            <p:cNvCxnSpPr/>
            <p:nvPr/>
          </p:nvCxnSpPr>
          <p:spPr>
            <a:xfrm rot="10800000" flipH="1">
              <a:off x="3571988" y="3193326"/>
              <a:ext cx="0" cy="172200"/>
            </a:xfrm>
            <a:prstGeom prst="straightConnector1">
              <a:avLst/>
            </a:prstGeom>
            <a:noFill/>
            <a:ln w="28575" cap="flat" cmpd="sng">
              <a:solidFill>
                <a:srgbClr val="808080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294" name="Google Shape;294;p21"/>
          <p:cNvSpPr txBox="1"/>
          <p:nvPr/>
        </p:nvSpPr>
        <p:spPr>
          <a:xfrm>
            <a:off x="489355" y="4044658"/>
            <a:ext cx="511800" cy="22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6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− 4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5" name="Google Shape;295;p21"/>
          <p:cNvSpPr txBox="1"/>
          <p:nvPr/>
        </p:nvSpPr>
        <p:spPr>
          <a:xfrm>
            <a:off x="468000" y="3282300"/>
            <a:ext cx="4485600" cy="41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c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) Draw and label a triangle with area 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(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+ 1)(3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− 2)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96" name="Google Shape;296;p21"/>
          <p:cNvCxnSpPr/>
          <p:nvPr/>
        </p:nvCxnSpPr>
        <p:spPr>
          <a:xfrm>
            <a:off x="3881616" y="4650505"/>
            <a:ext cx="9987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297" name="Google Shape;297;p21"/>
          <p:cNvSpPr txBox="1"/>
          <p:nvPr/>
        </p:nvSpPr>
        <p:spPr>
          <a:xfrm>
            <a:off x="4176373" y="4650505"/>
            <a:ext cx="511800" cy="22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3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− 2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8" name="Google Shape;298;p21"/>
          <p:cNvSpPr/>
          <p:nvPr/>
        </p:nvSpPr>
        <p:spPr>
          <a:xfrm>
            <a:off x="3881616" y="3741059"/>
            <a:ext cx="964200" cy="833700"/>
          </a:xfrm>
          <a:prstGeom prst="triangle">
            <a:avLst>
              <a:gd name="adj" fmla="val 35391"/>
            </a:avLst>
          </a:prstGeom>
          <a:solidFill>
            <a:srgbClr val="845AD9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99" name="Google Shape;299;p21"/>
          <p:cNvCxnSpPr/>
          <p:nvPr/>
        </p:nvCxnSpPr>
        <p:spPr>
          <a:xfrm flipH="1">
            <a:off x="3548632" y="3763498"/>
            <a:ext cx="1800" cy="8397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300" name="Google Shape;300;p21"/>
          <p:cNvCxnSpPr/>
          <p:nvPr/>
        </p:nvCxnSpPr>
        <p:spPr>
          <a:xfrm rot="10800000">
            <a:off x="3548620" y="4575008"/>
            <a:ext cx="333000" cy="0"/>
          </a:xfrm>
          <a:prstGeom prst="straightConnector1">
            <a:avLst/>
          </a:prstGeom>
          <a:noFill/>
          <a:ln w="28575" cap="flat" cmpd="sng">
            <a:solidFill>
              <a:srgbClr val="808080"/>
            </a:solidFill>
            <a:prstDash val="dash"/>
            <a:round/>
            <a:headEnd type="none" w="med" len="med"/>
            <a:tailEnd type="none" w="med" len="med"/>
          </a:ln>
        </p:spPr>
      </p:cxnSp>
      <p:grpSp>
        <p:nvGrpSpPr>
          <p:cNvPr id="301" name="Google Shape;301;p21"/>
          <p:cNvGrpSpPr/>
          <p:nvPr/>
        </p:nvGrpSpPr>
        <p:grpSpPr>
          <a:xfrm rot="-5400000">
            <a:off x="3546020" y="4442020"/>
            <a:ext cx="135698" cy="130252"/>
            <a:chOff x="3397534" y="3193326"/>
            <a:chExt cx="179400" cy="172200"/>
          </a:xfrm>
        </p:grpSpPr>
        <p:cxnSp>
          <p:nvCxnSpPr>
            <p:cNvPr id="302" name="Google Shape;302;p21"/>
            <p:cNvCxnSpPr/>
            <p:nvPr/>
          </p:nvCxnSpPr>
          <p:spPr>
            <a:xfrm>
              <a:off x="3397534" y="3363142"/>
              <a:ext cx="179400" cy="0"/>
            </a:xfrm>
            <a:prstGeom prst="straightConnector1">
              <a:avLst/>
            </a:prstGeom>
            <a:noFill/>
            <a:ln w="28575" cap="flat" cmpd="sng">
              <a:solidFill>
                <a:srgbClr val="80808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03" name="Google Shape;303;p21"/>
            <p:cNvCxnSpPr/>
            <p:nvPr/>
          </p:nvCxnSpPr>
          <p:spPr>
            <a:xfrm rot="10800000" flipH="1">
              <a:off x="3571988" y="3193326"/>
              <a:ext cx="0" cy="172200"/>
            </a:xfrm>
            <a:prstGeom prst="straightConnector1">
              <a:avLst/>
            </a:prstGeom>
            <a:noFill/>
            <a:ln w="28575" cap="flat" cmpd="sng">
              <a:solidFill>
                <a:srgbClr val="808080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304" name="Google Shape;304;p21"/>
          <p:cNvSpPr txBox="1"/>
          <p:nvPr/>
        </p:nvSpPr>
        <p:spPr>
          <a:xfrm>
            <a:off x="3083721" y="4044658"/>
            <a:ext cx="511800" cy="22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+ 2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5" name="Google Shape;305;p21"/>
          <p:cNvSpPr txBox="1"/>
          <p:nvPr/>
        </p:nvSpPr>
        <p:spPr>
          <a:xfrm>
            <a:off x="468000" y="5065910"/>
            <a:ext cx="4485600" cy="2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The binomials can be on either dimension.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6" name="Google Shape;306;p21"/>
          <p:cNvSpPr txBox="1"/>
          <p:nvPr/>
        </p:nvSpPr>
        <p:spPr>
          <a:xfrm>
            <a:off x="2563155" y="4047565"/>
            <a:ext cx="382500" cy="2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or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7" name="Google Shape;307;p21"/>
          <p:cNvSpPr txBox="1"/>
          <p:nvPr/>
        </p:nvSpPr>
        <p:spPr>
          <a:xfrm>
            <a:off x="677674" y="7420654"/>
            <a:ext cx="1355100" cy="28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(2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2)(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+ 2)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8" name="Google Shape;308;p21"/>
          <p:cNvSpPr txBox="1"/>
          <p:nvPr/>
        </p:nvSpPr>
        <p:spPr>
          <a:xfrm>
            <a:off x="677674" y="7144738"/>
            <a:ext cx="1355100" cy="28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(4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4)(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+ 2)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309" name="Google Shape;309;p21" descr="&lt;math xmlns=&quot;http://www.w3.org/1998/Math/MathML&quot; display=&quot;block&quot; data-is-equatio=&quot;1&quot; data-latex=&quot;\begin{array}{l}=\ 4\ \times5\\&amp;#13;&amp;#10;=\ 20\\&amp;#13;&amp;#10;\begin{array}{l}=\ 4\ \times5\\&amp;#13;&amp;#10;=\ 20\end{array}\\&amp;#13;&amp;#10;\begin{array}{l}=\ \frac{1}{2}\times5\ \times6\\&amp;#13;&amp;#10;=\ 15\end{array}\end{array}&quot;&gt;&lt;mtable columnalign=&quot;left&quot; columnspacing=&quot;1em&quot; rowspacing=&quot;4pt&quot;&gt;&lt;mtr&gt;&lt;mtd&gt;&lt;mo&gt;=&lt;/mo&gt;&lt;mtext&gt;&lt;/mtext&gt;&lt;mn&gt;4&lt;/mn&gt;&lt;mtext&gt;&lt;/mtext&gt;&lt;mo&gt;×&lt;/mo&gt;&lt;mn&gt;5&lt;/mn&gt;&lt;/mtd&gt;&lt;/mtr&gt;&lt;mtr&gt;&lt;mtd&gt;&lt;mo&gt;=&lt;/mo&gt;&lt;mtext&gt;&lt;/mtext&gt;&lt;mn&gt;20&lt;/mn&gt;&lt;/mtd&gt;&lt;/mtr&gt;&lt;mtr&gt;&lt;mtd&gt;&lt;mtable columnspacing=&quot;1em&quot; rowspacing=&quot;4pt&quot;&gt;&lt;mtr&gt;&lt;mtd&gt;&lt;mo&gt;=&lt;/mo&gt;&lt;mtext&gt;&lt;/mtext&gt;&lt;mn&gt;4&lt;/mn&gt;&lt;mtext&gt;&lt;/mtext&gt;&lt;mo&gt;×&lt;/mo&gt;&lt;mn&gt;5&lt;/mn&gt;&lt;/mtd&gt;&lt;/mtr&gt;&lt;mtr&gt;&lt;mtd&gt;&lt;mo&gt;=&lt;/mo&gt;&lt;mtext&gt;&lt;/mtext&gt;&lt;mn&gt;20&lt;/mn&gt;&lt;/mtd&gt;&lt;/mtr&gt;&lt;/mtable&gt;&lt;/mtd&gt;&lt;/mtr&gt;&lt;mtr&gt;&lt;mtd&gt;&lt;mtable columnspacing=&quot;1em&quot; rowspacing=&quot;4pt&quot;&gt;&lt;mtr&gt;&lt;mtd&gt;&lt;mo&gt;=&lt;/mo&gt;&lt;mtext&gt;&lt;/mtext&gt;&lt;mfrac&gt;&lt;mn&gt;1&lt;/mn&gt;&lt;mn&gt;2&lt;/mn&gt;&lt;/mfrac&gt;&lt;mo&gt;×&lt;/mo&gt;&lt;mn&gt;5&lt;/mn&gt;&lt;mtext&gt;&lt;/mtext&gt;&lt;mo&gt;×&lt;/mo&gt;&lt;mn&gt;6&lt;/mn&gt;&lt;/mtd&gt;&lt;/mtr&gt;&lt;mtr&gt;&lt;mtd&gt;&lt;mo&gt;=&lt;/mo&gt;&lt;mtext&gt;&lt;/mtext&gt;&lt;mn&gt;15&lt;/mn&gt;&lt;/mtd&gt;&lt;/mtr&gt;&lt;/mtable&gt;&lt;/mtd&gt;&lt;/mtr&gt;&lt;/mtable&gt;&lt;/math&gt;" title="4 lines Line 1: equals 4 times 5 Line 2: equals 20 Line 3: Line 1: equals 4 times 5 Line 2: equals 20 Line 4: Line 1: equals one half times 5 times 6 Line 2: equals 15"/>
          <p:cNvPicPr preferRelativeResize="0"/>
          <p:nvPr/>
        </p:nvPicPr>
        <p:blipFill>
          <a:blip r:embed="rId3">
            <a:alphaModFix/>
          </a:blip>
          <a:srcRect l="18915" t="67326" r="59200" b="13790"/>
          <a:stretch>
            <a:fillRect/>
          </a:stretch>
        </p:blipFill>
        <p:spPr>
          <a:xfrm>
            <a:off x="474747" y="7109788"/>
            <a:ext cx="255910" cy="327467"/>
          </a:xfrm>
          <a:prstGeom prst="rect">
            <a:avLst/>
          </a:prstGeom>
          <a:noFill/>
          <a:ln>
            <a:noFill/>
          </a:ln>
        </p:spPr>
      </p:pic>
      <p:sp>
        <p:nvSpPr>
          <p:cNvPr id="310" name="Google Shape;310;p21"/>
          <p:cNvSpPr txBox="1"/>
          <p:nvPr/>
        </p:nvSpPr>
        <p:spPr>
          <a:xfrm>
            <a:off x="677674" y="7667621"/>
            <a:ext cx="1355100" cy="28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 baseline="30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+ 4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 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− 2</a:t>
            </a:r>
            <a:r>
              <a:rPr lang="en-GB" sz="12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− 4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1" name="Google Shape;311;p21"/>
          <p:cNvSpPr txBox="1"/>
          <p:nvPr/>
        </p:nvSpPr>
        <p:spPr>
          <a:xfrm>
            <a:off x="2266517" y="7420654"/>
            <a:ext cx="1293000" cy="28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(3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1)(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+ 1)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2" name="Google Shape;312;p21"/>
          <p:cNvSpPr txBox="1"/>
          <p:nvPr/>
        </p:nvSpPr>
        <p:spPr>
          <a:xfrm>
            <a:off x="2266517" y="7156969"/>
            <a:ext cx="1293000" cy="28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(6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2)(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+ 1)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313" name="Google Shape;313;p21" descr="&lt;math xmlns=&quot;http://www.w3.org/1998/Math/MathML&quot; display=&quot;block&quot; data-is-equatio=&quot;1&quot; data-latex=&quot;\begin{array}{l}=\ 4\ \times5\\&amp;#13;&amp;#10;=\ 20\\&amp;#13;&amp;#10;\begin{array}{l}=\ 4\ \times5\\&amp;#13;&amp;#10;=\ 20\end{array}\\&amp;#13;&amp;#10;\begin{array}{l}=\ \frac{1}{2}\times5\ \times6\\&amp;#13;&amp;#10;=\ 15\end{array}\end{array}&quot;&gt;&lt;mtable columnalign=&quot;left&quot; columnspacing=&quot;1em&quot; rowspacing=&quot;4pt&quot;&gt;&lt;mtr&gt;&lt;mtd&gt;&lt;mo&gt;=&lt;/mo&gt;&lt;mtext&gt;&lt;/mtext&gt;&lt;mn&gt;4&lt;/mn&gt;&lt;mtext&gt;&lt;/mtext&gt;&lt;mo&gt;×&lt;/mo&gt;&lt;mn&gt;5&lt;/mn&gt;&lt;/mtd&gt;&lt;/mtr&gt;&lt;mtr&gt;&lt;mtd&gt;&lt;mo&gt;=&lt;/mo&gt;&lt;mtext&gt;&lt;/mtext&gt;&lt;mn&gt;20&lt;/mn&gt;&lt;/mtd&gt;&lt;/mtr&gt;&lt;mtr&gt;&lt;mtd&gt;&lt;mtable columnspacing=&quot;1em&quot; rowspacing=&quot;4pt&quot;&gt;&lt;mtr&gt;&lt;mtd&gt;&lt;mo&gt;=&lt;/mo&gt;&lt;mtext&gt;&lt;/mtext&gt;&lt;mn&gt;4&lt;/mn&gt;&lt;mtext&gt;&lt;/mtext&gt;&lt;mo&gt;×&lt;/mo&gt;&lt;mn&gt;5&lt;/mn&gt;&lt;/mtd&gt;&lt;/mtr&gt;&lt;mtr&gt;&lt;mtd&gt;&lt;mo&gt;=&lt;/mo&gt;&lt;mtext&gt;&lt;/mtext&gt;&lt;mn&gt;20&lt;/mn&gt;&lt;/mtd&gt;&lt;/mtr&gt;&lt;/mtable&gt;&lt;/mtd&gt;&lt;/mtr&gt;&lt;mtr&gt;&lt;mtd&gt;&lt;mtable columnspacing=&quot;1em&quot; rowspacing=&quot;4pt&quot;&gt;&lt;mtr&gt;&lt;mtd&gt;&lt;mo&gt;=&lt;/mo&gt;&lt;mtext&gt;&lt;/mtext&gt;&lt;mfrac&gt;&lt;mn&gt;1&lt;/mn&gt;&lt;mn&gt;2&lt;/mn&gt;&lt;/mfrac&gt;&lt;mo&gt;×&lt;/mo&gt;&lt;mn&gt;5&lt;/mn&gt;&lt;mtext&gt;&lt;/mtext&gt;&lt;mo&gt;×&lt;/mo&gt;&lt;mn&gt;6&lt;/mn&gt;&lt;/mtd&gt;&lt;/mtr&gt;&lt;mtr&gt;&lt;mtd&gt;&lt;mo&gt;=&lt;/mo&gt;&lt;mtext&gt;&lt;/mtext&gt;&lt;mn&gt;15&lt;/mn&gt;&lt;/mtd&gt;&lt;/mtr&gt;&lt;/mtable&gt;&lt;/mtd&gt;&lt;/mtr&gt;&lt;/mtable&gt;&lt;/math&gt;" title="4 lines Line 1: equals 4 times 5 Line 2: equals 20 Line 3: Line 1: equals 4 times 5 Line 2: equals 20 Line 4: Line 1: equals one half times 5 times 6 Line 2: equals 15"/>
          <p:cNvPicPr preferRelativeResize="0"/>
          <p:nvPr/>
        </p:nvPicPr>
        <p:blipFill>
          <a:blip r:embed="rId3">
            <a:alphaModFix/>
          </a:blip>
          <a:srcRect l="18915" t="67326" r="59200" b="13790"/>
          <a:stretch>
            <a:fillRect/>
          </a:stretch>
        </p:blipFill>
        <p:spPr>
          <a:xfrm>
            <a:off x="2032673" y="7138183"/>
            <a:ext cx="255910" cy="327467"/>
          </a:xfrm>
          <a:prstGeom prst="rect">
            <a:avLst/>
          </a:prstGeom>
          <a:noFill/>
          <a:ln>
            <a:noFill/>
          </a:ln>
        </p:spPr>
      </p:pic>
      <p:sp>
        <p:nvSpPr>
          <p:cNvPr id="314" name="Google Shape;314;p21"/>
          <p:cNvSpPr txBox="1"/>
          <p:nvPr/>
        </p:nvSpPr>
        <p:spPr>
          <a:xfrm>
            <a:off x="2266517" y="7667621"/>
            <a:ext cx="1293000" cy="28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3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 baseline="30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+ 3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 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 </a:t>
            </a:r>
            <a:r>
              <a:rPr lang="en-GB" sz="12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− 1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5" name="Google Shape;315;p21"/>
          <p:cNvSpPr txBox="1"/>
          <p:nvPr/>
        </p:nvSpPr>
        <p:spPr>
          <a:xfrm>
            <a:off x="3745785" y="7156969"/>
            <a:ext cx="1409700" cy="28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(4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4)(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+ 2)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6" name="Google Shape;316;p21"/>
          <p:cNvSpPr txBox="1"/>
          <p:nvPr/>
        </p:nvSpPr>
        <p:spPr>
          <a:xfrm>
            <a:off x="3745785" y="7420654"/>
            <a:ext cx="1409700" cy="28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4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 baseline="30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+ 8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 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− 4</a:t>
            </a:r>
            <a:r>
              <a:rPr lang="en-GB" sz="12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− 8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7" name="Google Shape;317;p21"/>
          <p:cNvSpPr txBox="1"/>
          <p:nvPr/>
        </p:nvSpPr>
        <p:spPr>
          <a:xfrm>
            <a:off x="5389415" y="7420654"/>
            <a:ext cx="1324500" cy="28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(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1)(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+ 1)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8" name="Google Shape;318;p21"/>
          <p:cNvSpPr txBox="1"/>
          <p:nvPr/>
        </p:nvSpPr>
        <p:spPr>
          <a:xfrm>
            <a:off x="5369788" y="7156969"/>
            <a:ext cx="1324500" cy="28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(2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2)(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+ 1)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319" name="Google Shape;319;p21" descr="&lt;math xmlns=&quot;http://www.w3.org/1998/Math/MathML&quot; display=&quot;block&quot; data-is-equatio=&quot;1&quot; data-latex=&quot;\begin{array}{l}=\ 4\ \times5\\&amp;#13;&amp;#10;=\ 20\\&amp;#13;&amp;#10;\begin{array}{l}=\ 4\ \times5\\&amp;#13;&amp;#10;=\ 20\end{array}\\&amp;#13;&amp;#10;\begin{array}{l}=\ \frac{1}{2}\times5\ \times6\\&amp;#13;&amp;#10;=\ 15\end{array}\end{array}&quot;&gt;&lt;mtable columnalign=&quot;left&quot; columnspacing=&quot;1em&quot; rowspacing=&quot;4pt&quot;&gt;&lt;mtr&gt;&lt;mtd&gt;&lt;mo&gt;=&lt;/mo&gt;&lt;mtext&gt;&lt;/mtext&gt;&lt;mn&gt;4&lt;/mn&gt;&lt;mtext&gt;&lt;/mtext&gt;&lt;mo&gt;×&lt;/mo&gt;&lt;mn&gt;5&lt;/mn&gt;&lt;/mtd&gt;&lt;/mtr&gt;&lt;mtr&gt;&lt;mtd&gt;&lt;mo&gt;=&lt;/mo&gt;&lt;mtext&gt;&lt;/mtext&gt;&lt;mn&gt;20&lt;/mn&gt;&lt;/mtd&gt;&lt;/mtr&gt;&lt;mtr&gt;&lt;mtd&gt;&lt;mtable columnspacing=&quot;1em&quot; rowspacing=&quot;4pt&quot;&gt;&lt;mtr&gt;&lt;mtd&gt;&lt;mo&gt;=&lt;/mo&gt;&lt;mtext&gt;&lt;/mtext&gt;&lt;mn&gt;4&lt;/mn&gt;&lt;mtext&gt;&lt;/mtext&gt;&lt;mo&gt;×&lt;/mo&gt;&lt;mn&gt;5&lt;/mn&gt;&lt;/mtd&gt;&lt;/mtr&gt;&lt;mtr&gt;&lt;mtd&gt;&lt;mo&gt;=&lt;/mo&gt;&lt;mtext&gt;&lt;/mtext&gt;&lt;mn&gt;20&lt;/mn&gt;&lt;/mtd&gt;&lt;/mtr&gt;&lt;/mtable&gt;&lt;/mtd&gt;&lt;/mtr&gt;&lt;mtr&gt;&lt;mtd&gt;&lt;mtable columnspacing=&quot;1em&quot; rowspacing=&quot;4pt&quot;&gt;&lt;mtr&gt;&lt;mtd&gt;&lt;mo&gt;=&lt;/mo&gt;&lt;mtext&gt;&lt;/mtext&gt;&lt;mfrac&gt;&lt;mn&gt;1&lt;/mn&gt;&lt;mn&gt;2&lt;/mn&gt;&lt;/mfrac&gt;&lt;mo&gt;×&lt;/mo&gt;&lt;mn&gt;5&lt;/mn&gt;&lt;mtext&gt;&lt;/mtext&gt;&lt;mo&gt;×&lt;/mo&gt;&lt;mn&gt;6&lt;/mn&gt;&lt;/mtd&gt;&lt;/mtr&gt;&lt;mtr&gt;&lt;mtd&gt;&lt;mo&gt;=&lt;/mo&gt;&lt;mtext&gt;&lt;/mtext&gt;&lt;mn&gt;15&lt;/mn&gt;&lt;/mtd&gt;&lt;/mtr&gt;&lt;/mtable&gt;&lt;/mtd&gt;&lt;/mtr&gt;&lt;/mtable&gt;&lt;/math&gt;" title="4 lines Line 1: equals 4 times 5 Line 2: equals 20 Line 3: Line 1: equals 4 times 5 Line 2: equals 20 Line 4: Line 1: equals one half times 5 times 6 Line 2: equals 15"/>
          <p:cNvPicPr preferRelativeResize="0"/>
          <p:nvPr/>
        </p:nvPicPr>
        <p:blipFill>
          <a:blip r:embed="rId3">
            <a:alphaModFix/>
          </a:blip>
          <a:srcRect l="18915" t="67326" r="59200" b="13790"/>
          <a:stretch>
            <a:fillRect/>
          </a:stretch>
        </p:blipFill>
        <p:spPr>
          <a:xfrm>
            <a:off x="5155572" y="7138183"/>
            <a:ext cx="255910" cy="327467"/>
          </a:xfrm>
          <a:prstGeom prst="rect">
            <a:avLst/>
          </a:prstGeom>
          <a:noFill/>
          <a:ln>
            <a:noFill/>
          </a:ln>
        </p:spPr>
      </p:pic>
      <p:sp>
        <p:nvSpPr>
          <p:cNvPr id="320" name="Google Shape;320;p21"/>
          <p:cNvSpPr txBox="1"/>
          <p:nvPr/>
        </p:nvSpPr>
        <p:spPr>
          <a:xfrm>
            <a:off x="5389417" y="7667621"/>
            <a:ext cx="1695900" cy="28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 baseline="30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+ 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 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 </a:t>
            </a:r>
            <a:r>
              <a:rPr lang="en-GB" sz="12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− 1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1" name="Google Shape;321;p21"/>
          <p:cNvSpPr/>
          <p:nvPr/>
        </p:nvSpPr>
        <p:spPr>
          <a:xfrm>
            <a:off x="5211986" y="5735777"/>
            <a:ext cx="1401900" cy="1330200"/>
          </a:xfrm>
          <a:prstGeom prst="roundRect">
            <a:avLst>
              <a:gd name="adj" fmla="val 8270"/>
            </a:avLst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2" name="Google Shape;322;p21"/>
          <p:cNvSpPr/>
          <p:nvPr/>
        </p:nvSpPr>
        <p:spPr>
          <a:xfrm>
            <a:off x="3498115" y="5735777"/>
            <a:ext cx="1647600" cy="1330200"/>
          </a:xfrm>
          <a:prstGeom prst="roundRect">
            <a:avLst>
              <a:gd name="adj" fmla="val 8270"/>
            </a:avLst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3" name="Google Shape;323;p21"/>
          <p:cNvSpPr/>
          <p:nvPr/>
        </p:nvSpPr>
        <p:spPr>
          <a:xfrm>
            <a:off x="1757082" y="5735777"/>
            <a:ext cx="1673100" cy="1330200"/>
          </a:xfrm>
          <a:prstGeom prst="roundRect">
            <a:avLst>
              <a:gd name="adj" fmla="val 8270"/>
            </a:avLst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4" name="Google Shape;324;p21"/>
          <p:cNvSpPr/>
          <p:nvPr/>
        </p:nvSpPr>
        <p:spPr>
          <a:xfrm>
            <a:off x="520839" y="5735777"/>
            <a:ext cx="1169100" cy="1330200"/>
          </a:xfrm>
          <a:prstGeom prst="roundRect">
            <a:avLst>
              <a:gd name="adj" fmla="val 8270"/>
            </a:avLst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5" name="Google Shape;325;p21"/>
          <p:cNvSpPr txBox="1"/>
          <p:nvPr/>
        </p:nvSpPr>
        <p:spPr>
          <a:xfrm>
            <a:off x="505384" y="5489250"/>
            <a:ext cx="5922900" cy="164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4) Match these shapes to the correct expression for their area.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326" name="Google Shape;326;p21"/>
          <p:cNvCxnSpPr/>
          <p:nvPr/>
        </p:nvCxnSpPr>
        <p:spPr>
          <a:xfrm>
            <a:off x="5692834" y="6849076"/>
            <a:ext cx="7500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327" name="Google Shape;327;p21"/>
          <p:cNvSpPr txBox="1"/>
          <p:nvPr/>
        </p:nvSpPr>
        <p:spPr>
          <a:xfrm>
            <a:off x="5810282" y="6849076"/>
            <a:ext cx="654300" cy="28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2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8" name="Google Shape;328;p21"/>
          <p:cNvSpPr/>
          <p:nvPr/>
        </p:nvSpPr>
        <p:spPr>
          <a:xfrm>
            <a:off x="790176" y="6024271"/>
            <a:ext cx="854400" cy="738900"/>
          </a:xfrm>
          <a:prstGeom prst="triangle">
            <a:avLst>
              <a:gd name="adj" fmla="val 0"/>
            </a:avLst>
          </a:prstGeom>
          <a:solidFill>
            <a:srgbClr val="845AD9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329" name="Google Shape;329;p21"/>
          <p:cNvCxnSpPr/>
          <p:nvPr/>
        </p:nvCxnSpPr>
        <p:spPr>
          <a:xfrm flipH="1">
            <a:off x="5427505" y="6095654"/>
            <a:ext cx="0" cy="6984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330" name="Google Shape;330;p21"/>
          <p:cNvCxnSpPr/>
          <p:nvPr/>
        </p:nvCxnSpPr>
        <p:spPr>
          <a:xfrm rot="10800000">
            <a:off x="5427819" y="6774714"/>
            <a:ext cx="288900" cy="0"/>
          </a:xfrm>
          <a:prstGeom prst="straightConnector1">
            <a:avLst/>
          </a:prstGeom>
          <a:noFill/>
          <a:ln w="28575" cap="flat" cmpd="sng">
            <a:solidFill>
              <a:srgbClr val="808080"/>
            </a:solidFill>
            <a:prstDash val="dash"/>
            <a:round/>
            <a:headEnd type="none" w="med" len="med"/>
            <a:tailEnd type="none" w="med" len="med"/>
          </a:ln>
        </p:spPr>
      </p:cxnSp>
      <p:grpSp>
        <p:nvGrpSpPr>
          <p:cNvPr id="331" name="Google Shape;331;p21"/>
          <p:cNvGrpSpPr/>
          <p:nvPr/>
        </p:nvGrpSpPr>
        <p:grpSpPr>
          <a:xfrm rot="-5400000">
            <a:off x="5425132" y="6659236"/>
            <a:ext cx="117830" cy="113101"/>
            <a:chOff x="3397534" y="3193326"/>
            <a:chExt cx="179400" cy="172200"/>
          </a:xfrm>
        </p:grpSpPr>
        <p:cxnSp>
          <p:nvCxnSpPr>
            <p:cNvPr id="332" name="Google Shape;332;p21"/>
            <p:cNvCxnSpPr/>
            <p:nvPr/>
          </p:nvCxnSpPr>
          <p:spPr>
            <a:xfrm>
              <a:off x="3397534" y="3363142"/>
              <a:ext cx="179400" cy="0"/>
            </a:xfrm>
            <a:prstGeom prst="straightConnector1">
              <a:avLst/>
            </a:prstGeom>
            <a:noFill/>
            <a:ln w="28575" cap="flat" cmpd="sng">
              <a:solidFill>
                <a:srgbClr val="80808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33" name="Google Shape;333;p21"/>
            <p:cNvCxnSpPr/>
            <p:nvPr/>
          </p:nvCxnSpPr>
          <p:spPr>
            <a:xfrm rot="10800000" flipH="1">
              <a:off x="3571988" y="3193326"/>
              <a:ext cx="0" cy="172200"/>
            </a:xfrm>
            <a:prstGeom prst="straightConnector1">
              <a:avLst/>
            </a:prstGeom>
            <a:noFill/>
            <a:ln w="28575" cap="flat" cmpd="sng">
              <a:solidFill>
                <a:srgbClr val="808080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334" name="Google Shape;334;p21"/>
          <p:cNvSpPr txBox="1"/>
          <p:nvPr/>
        </p:nvSpPr>
        <p:spPr>
          <a:xfrm rot="-5400000">
            <a:off x="5054761" y="6188932"/>
            <a:ext cx="519300" cy="22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+ 1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5" name="Google Shape;335;p21"/>
          <p:cNvSpPr/>
          <p:nvPr/>
        </p:nvSpPr>
        <p:spPr>
          <a:xfrm>
            <a:off x="2122115" y="6138417"/>
            <a:ext cx="1243200" cy="637500"/>
          </a:xfrm>
          <a:prstGeom prst="trapezoid">
            <a:avLst>
              <a:gd name="adj" fmla="val 42122"/>
            </a:avLst>
          </a:prstGeom>
          <a:solidFill>
            <a:srgbClr val="845AD9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6" name="Google Shape;336;p21"/>
          <p:cNvSpPr/>
          <p:nvPr/>
        </p:nvSpPr>
        <p:spPr>
          <a:xfrm>
            <a:off x="3784083" y="6044493"/>
            <a:ext cx="1243200" cy="741900"/>
          </a:xfrm>
          <a:prstGeom prst="rect">
            <a:avLst/>
          </a:prstGeom>
          <a:solidFill>
            <a:srgbClr val="845AD9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7" name="Google Shape;337;p21"/>
          <p:cNvSpPr/>
          <p:nvPr/>
        </p:nvSpPr>
        <p:spPr>
          <a:xfrm>
            <a:off x="5692834" y="6099087"/>
            <a:ext cx="714000" cy="676800"/>
          </a:xfrm>
          <a:prstGeom prst="triangle">
            <a:avLst>
              <a:gd name="adj" fmla="val 35391"/>
            </a:avLst>
          </a:prstGeom>
          <a:solidFill>
            <a:srgbClr val="845AD9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338" name="Google Shape;338;p21"/>
          <p:cNvCxnSpPr/>
          <p:nvPr/>
        </p:nvCxnSpPr>
        <p:spPr>
          <a:xfrm>
            <a:off x="3759812" y="6878110"/>
            <a:ext cx="12492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339" name="Google Shape;339;p21"/>
          <p:cNvSpPr txBox="1"/>
          <p:nvPr/>
        </p:nvSpPr>
        <p:spPr>
          <a:xfrm>
            <a:off x="4202536" y="6878110"/>
            <a:ext cx="654300" cy="28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4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4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340" name="Google Shape;340;p21"/>
          <p:cNvCxnSpPr/>
          <p:nvPr/>
        </p:nvCxnSpPr>
        <p:spPr>
          <a:xfrm flipH="1">
            <a:off x="3693017" y="6049297"/>
            <a:ext cx="0" cy="7446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341" name="Google Shape;341;p21"/>
          <p:cNvSpPr txBox="1"/>
          <p:nvPr/>
        </p:nvSpPr>
        <p:spPr>
          <a:xfrm rot="-5400000">
            <a:off x="3320287" y="6243720"/>
            <a:ext cx="519300" cy="22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+ 2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342" name="Google Shape;342;p21"/>
          <p:cNvCxnSpPr/>
          <p:nvPr/>
        </p:nvCxnSpPr>
        <p:spPr>
          <a:xfrm flipH="1">
            <a:off x="1938051" y="6111832"/>
            <a:ext cx="0" cy="6660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343" name="Google Shape;343;p21"/>
          <p:cNvCxnSpPr/>
          <p:nvPr/>
        </p:nvCxnSpPr>
        <p:spPr>
          <a:xfrm rot="10800000">
            <a:off x="1956602" y="6774696"/>
            <a:ext cx="216000" cy="0"/>
          </a:xfrm>
          <a:prstGeom prst="straightConnector1">
            <a:avLst/>
          </a:prstGeom>
          <a:noFill/>
          <a:ln w="28575" cap="flat" cmpd="sng">
            <a:solidFill>
              <a:srgbClr val="808080"/>
            </a:solidFill>
            <a:prstDash val="dash"/>
            <a:round/>
            <a:headEnd type="none" w="med" len="med"/>
            <a:tailEnd type="none" w="med" len="med"/>
          </a:ln>
        </p:spPr>
      </p:cxnSp>
      <p:grpSp>
        <p:nvGrpSpPr>
          <p:cNvPr id="344" name="Google Shape;344;p21"/>
          <p:cNvGrpSpPr/>
          <p:nvPr/>
        </p:nvGrpSpPr>
        <p:grpSpPr>
          <a:xfrm rot="-5400000">
            <a:off x="1935678" y="6659254"/>
            <a:ext cx="117830" cy="113101"/>
            <a:chOff x="3397534" y="3193326"/>
            <a:chExt cx="179400" cy="172200"/>
          </a:xfrm>
        </p:grpSpPr>
        <p:cxnSp>
          <p:nvCxnSpPr>
            <p:cNvPr id="345" name="Google Shape;345;p21"/>
            <p:cNvCxnSpPr/>
            <p:nvPr/>
          </p:nvCxnSpPr>
          <p:spPr>
            <a:xfrm>
              <a:off x="3397534" y="3363142"/>
              <a:ext cx="179400" cy="0"/>
            </a:xfrm>
            <a:prstGeom prst="straightConnector1">
              <a:avLst/>
            </a:prstGeom>
            <a:noFill/>
            <a:ln w="28575" cap="flat" cmpd="sng">
              <a:solidFill>
                <a:srgbClr val="80808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46" name="Google Shape;346;p21"/>
            <p:cNvCxnSpPr/>
            <p:nvPr/>
          </p:nvCxnSpPr>
          <p:spPr>
            <a:xfrm rot="10800000" flipH="1">
              <a:off x="3571988" y="3193326"/>
              <a:ext cx="0" cy="172200"/>
            </a:xfrm>
            <a:prstGeom prst="straightConnector1">
              <a:avLst/>
            </a:prstGeom>
            <a:noFill/>
            <a:ln w="28575" cap="flat" cmpd="sng">
              <a:solidFill>
                <a:srgbClr val="808080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347" name="Google Shape;347;p21"/>
          <p:cNvSpPr txBox="1"/>
          <p:nvPr/>
        </p:nvSpPr>
        <p:spPr>
          <a:xfrm rot="-5400000">
            <a:off x="1582624" y="6224987"/>
            <a:ext cx="519300" cy="22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+ 1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348" name="Google Shape;348;p21"/>
          <p:cNvCxnSpPr/>
          <p:nvPr/>
        </p:nvCxnSpPr>
        <p:spPr>
          <a:xfrm flipH="1">
            <a:off x="715485" y="6012138"/>
            <a:ext cx="0" cy="7446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349" name="Google Shape;349;p21"/>
          <p:cNvSpPr txBox="1"/>
          <p:nvPr/>
        </p:nvSpPr>
        <p:spPr>
          <a:xfrm rot="-5400000">
            <a:off x="342974" y="6180281"/>
            <a:ext cx="519300" cy="22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+ 2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350" name="Google Shape;350;p21"/>
          <p:cNvCxnSpPr/>
          <p:nvPr/>
        </p:nvCxnSpPr>
        <p:spPr>
          <a:xfrm>
            <a:off x="2112900" y="6878110"/>
            <a:ext cx="12492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351" name="Google Shape;351;p21"/>
          <p:cNvSpPr txBox="1"/>
          <p:nvPr/>
        </p:nvSpPr>
        <p:spPr>
          <a:xfrm>
            <a:off x="2474359" y="6878110"/>
            <a:ext cx="654300" cy="28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4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4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352" name="Google Shape;352;p21"/>
          <p:cNvCxnSpPr/>
          <p:nvPr/>
        </p:nvCxnSpPr>
        <p:spPr>
          <a:xfrm>
            <a:off x="782538" y="6849071"/>
            <a:ext cx="8580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353" name="Google Shape;353;p21"/>
          <p:cNvSpPr txBox="1"/>
          <p:nvPr/>
        </p:nvSpPr>
        <p:spPr>
          <a:xfrm>
            <a:off x="942009" y="6849071"/>
            <a:ext cx="593700" cy="28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4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4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354" name="Google Shape;354;p21"/>
          <p:cNvCxnSpPr/>
          <p:nvPr/>
        </p:nvCxnSpPr>
        <p:spPr>
          <a:xfrm>
            <a:off x="2406358" y="6022637"/>
            <a:ext cx="6660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355" name="Google Shape;355;p21"/>
          <p:cNvSpPr txBox="1"/>
          <p:nvPr/>
        </p:nvSpPr>
        <p:spPr>
          <a:xfrm>
            <a:off x="2510397" y="5802533"/>
            <a:ext cx="654300" cy="28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+ 2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356" name="Google Shape;356;p21"/>
          <p:cNvGrpSpPr/>
          <p:nvPr/>
        </p:nvGrpSpPr>
        <p:grpSpPr>
          <a:xfrm rot="5400000">
            <a:off x="4868922" y="6052125"/>
            <a:ext cx="141403" cy="141393"/>
            <a:chOff x="3397534" y="3193326"/>
            <a:chExt cx="179400" cy="172200"/>
          </a:xfrm>
        </p:grpSpPr>
        <p:cxnSp>
          <p:nvCxnSpPr>
            <p:cNvPr id="357" name="Google Shape;357;p21"/>
            <p:cNvCxnSpPr/>
            <p:nvPr/>
          </p:nvCxnSpPr>
          <p:spPr>
            <a:xfrm>
              <a:off x="3397534" y="3363142"/>
              <a:ext cx="179400" cy="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58" name="Google Shape;358;p21"/>
            <p:cNvCxnSpPr/>
            <p:nvPr/>
          </p:nvCxnSpPr>
          <p:spPr>
            <a:xfrm rot="10800000" flipH="1">
              <a:off x="3571988" y="3193326"/>
              <a:ext cx="0" cy="17220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359" name="Google Shape;359;p21"/>
          <p:cNvGrpSpPr/>
          <p:nvPr/>
        </p:nvGrpSpPr>
        <p:grpSpPr>
          <a:xfrm rot="-5400000" flipH="1">
            <a:off x="3791634" y="6052125"/>
            <a:ext cx="141403" cy="141393"/>
            <a:chOff x="3397534" y="3193326"/>
            <a:chExt cx="179400" cy="172200"/>
          </a:xfrm>
        </p:grpSpPr>
        <p:cxnSp>
          <p:nvCxnSpPr>
            <p:cNvPr id="360" name="Google Shape;360;p21"/>
            <p:cNvCxnSpPr/>
            <p:nvPr/>
          </p:nvCxnSpPr>
          <p:spPr>
            <a:xfrm>
              <a:off x="3397534" y="3363142"/>
              <a:ext cx="179400" cy="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61" name="Google Shape;361;p21"/>
            <p:cNvCxnSpPr/>
            <p:nvPr/>
          </p:nvCxnSpPr>
          <p:spPr>
            <a:xfrm rot="10800000" flipH="1">
              <a:off x="3571988" y="3193326"/>
              <a:ext cx="0" cy="17220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362" name="Google Shape;362;p21"/>
          <p:cNvGrpSpPr/>
          <p:nvPr/>
        </p:nvGrpSpPr>
        <p:grpSpPr>
          <a:xfrm rot="5400000" flipH="1">
            <a:off x="4868922" y="6634461"/>
            <a:ext cx="141403" cy="141393"/>
            <a:chOff x="3397534" y="3193326"/>
            <a:chExt cx="179400" cy="172200"/>
          </a:xfrm>
        </p:grpSpPr>
        <p:cxnSp>
          <p:nvCxnSpPr>
            <p:cNvPr id="363" name="Google Shape;363;p21"/>
            <p:cNvCxnSpPr/>
            <p:nvPr/>
          </p:nvCxnSpPr>
          <p:spPr>
            <a:xfrm>
              <a:off x="3397534" y="3363142"/>
              <a:ext cx="179400" cy="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64" name="Google Shape;364;p21"/>
            <p:cNvCxnSpPr/>
            <p:nvPr/>
          </p:nvCxnSpPr>
          <p:spPr>
            <a:xfrm rot="10800000" flipH="1">
              <a:off x="3571988" y="3193326"/>
              <a:ext cx="0" cy="17220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365" name="Google Shape;365;p21"/>
          <p:cNvGrpSpPr/>
          <p:nvPr/>
        </p:nvGrpSpPr>
        <p:grpSpPr>
          <a:xfrm rot="-5400000">
            <a:off x="3791634" y="6634461"/>
            <a:ext cx="141403" cy="141393"/>
            <a:chOff x="3397534" y="3193326"/>
            <a:chExt cx="179400" cy="172200"/>
          </a:xfrm>
        </p:grpSpPr>
        <p:cxnSp>
          <p:nvCxnSpPr>
            <p:cNvPr id="366" name="Google Shape;366;p21"/>
            <p:cNvCxnSpPr/>
            <p:nvPr/>
          </p:nvCxnSpPr>
          <p:spPr>
            <a:xfrm>
              <a:off x="3397534" y="3363142"/>
              <a:ext cx="179400" cy="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67" name="Google Shape;367;p21"/>
            <p:cNvCxnSpPr/>
            <p:nvPr/>
          </p:nvCxnSpPr>
          <p:spPr>
            <a:xfrm rot="10800000" flipH="1">
              <a:off x="3571988" y="3193326"/>
              <a:ext cx="0" cy="17220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368" name="Google Shape;368;p21"/>
          <p:cNvGrpSpPr/>
          <p:nvPr/>
        </p:nvGrpSpPr>
        <p:grpSpPr>
          <a:xfrm rot="-5400000">
            <a:off x="780179" y="6634461"/>
            <a:ext cx="141403" cy="141393"/>
            <a:chOff x="3397534" y="3193326"/>
            <a:chExt cx="179400" cy="172200"/>
          </a:xfrm>
        </p:grpSpPr>
        <p:cxnSp>
          <p:nvCxnSpPr>
            <p:cNvPr id="369" name="Google Shape;369;p21"/>
            <p:cNvCxnSpPr/>
            <p:nvPr/>
          </p:nvCxnSpPr>
          <p:spPr>
            <a:xfrm>
              <a:off x="3397534" y="3363142"/>
              <a:ext cx="179400" cy="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70" name="Google Shape;370;p21"/>
            <p:cNvCxnSpPr/>
            <p:nvPr/>
          </p:nvCxnSpPr>
          <p:spPr>
            <a:xfrm rot="10800000" flipH="1">
              <a:off x="3571988" y="3193326"/>
              <a:ext cx="0" cy="17220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371" name="Google Shape;371;p21"/>
          <p:cNvSpPr/>
          <p:nvPr/>
        </p:nvSpPr>
        <p:spPr>
          <a:xfrm>
            <a:off x="521408" y="5735768"/>
            <a:ext cx="193500" cy="194700"/>
          </a:xfrm>
          <a:prstGeom prst="ellipse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2" name="Google Shape;372;p21"/>
          <p:cNvSpPr/>
          <p:nvPr/>
        </p:nvSpPr>
        <p:spPr>
          <a:xfrm>
            <a:off x="1762649" y="5742616"/>
            <a:ext cx="193500" cy="194700"/>
          </a:xfrm>
          <a:prstGeom prst="ellipse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b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3" name="Google Shape;373;p21"/>
          <p:cNvSpPr/>
          <p:nvPr/>
        </p:nvSpPr>
        <p:spPr>
          <a:xfrm>
            <a:off x="3504012" y="5742616"/>
            <a:ext cx="193500" cy="194700"/>
          </a:xfrm>
          <a:prstGeom prst="ellipse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c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4" name="Google Shape;374;p21"/>
          <p:cNvSpPr/>
          <p:nvPr/>
        </p:nvSpPr>
        <p:spPr>
          <a:xfrm>
            <a:off x="5216514" y="5740205"/>
            <a:ext cx="193500" cy="194700"/>
          </a:xfrm>
          <a:prstGeom prst="ellipse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d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5" name="Google Shape;375;p21"/>
          <p:cNvSpPr/>
          <p:nvPr/>
        </p:nvSpPr>
        <p:spPr>
          <a:xfrm>
            <a:off x="5137569" y="7993004"/>
            <a:ext cx="1243200" cy="417000"/>
          </a:xfrm>
          <a:prstGeom prst="roundRect">
            <a:avLst>
              <a:gd name="adj" fmla="val 25625"/>
            </a:avLst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6" name="Google Shape;376;p21"/>
          <p:cNvSpPr/>
          <p:nvPr/>
        </p:nvSpPr>
        <p:spPr>
          <a:xfrm>
            <a:off x="535402" y="7993004"/>
            <a:ext cx="964500" cy="417000"/>
          </a:xfrm>
          <a:prstGeom prst="roundRect">
            <a:avLst>
              <a:gd name="adj" fmla="val 25625"/>
            </a:avLst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7" name="Google Shape;377;p21"/>
          <p:cNvSpPr txBox="1"/>
          <p:nvPr/>
        </p:nvSpPr>
        <p:spPr>
          <a:xfrm>
            <a:off x="5331050" y="8075941"/>
            <a:ext cx="1004700" cy="28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4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 baseline="30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+ 4</a:t>
            </a:r>
            <a:r>
              <a:rPr lang="en-GB" sz="12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− 8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8" name="Google Shape;378;p21"/>
          <p:cNvSpPr txBox="1"/>
          <p:nvPr/>
        </p:nvSpPr>
        <p:spPr>
          <a:xfrm>
            <a:off x="800515" y="8099434"/>
            <a:ext cx="750000" cy="17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 baseline="30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− 1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9" name="Google Shape;379;p21"/>
          <p:cNvSpPr/>
          <p:nvPr/>
        </p:nvSpPr>
        <p:spPr>
          <a:xfrm>
            <a:off x="540881" y="7999853"/>
            <a:ext cx="193500" cy="194700"/>
          </a:xfrm>
          <a:prstGeom prst="ellipse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e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80" name="Google Shape;380;p21"/>
          <p:cNvSpPr/>
          <p:nvPr/>
        </p:nvSpPr>
        <p:spPr>
          <a:xfrm>
            <a:off x="1905094" y="7993004"/>
            <a:ext cx="1243200" cy="417000"/>
          </a:xfrm>
          <a:prstGeom prst="roundRect">
            <a:avLst>
              <a:gd name="adj" fmla="val 25625"/>
            </a:avLst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81" name="Google Shape;381;p21"/>
          <p:cNvSpPr/>
          <p:nvPr/>
        </p:nvSpPr>
        <p:spPr>
          <a:xfrm>
            <a:off x="1911943" y="7999853"/>
            <a:ext cx="193500" cy="194700"/>
          </a:xfrm>
          <a:prstGeom prst="ellipse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f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82" name="Google Shape;382;p21"/>
          <p:cNvSpPr txBox="1"/>
          <p:nvPr/>
        </p:nvSpPr>
        <p:spPr>
          <a:xfrm>
            <a:off x="2108479" y="8105474"/>
            <a:ext cx="1004700" cy="28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 baseline="30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+ 2</a:t>
            </a:r>
            <a:r>
              <a:rPr lang="en-GB" sz="12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− 4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83" name="Google Shape;383;p21"/>
          <p:cNvSpPr/>
          <p:nvPr/>
        </p:nvSpPr>
        <p:spPr>
          <a:xfrm>
            <a:off x="3658301" y="7993004"/>
            <a:ext cx="1243200" cy="417000"/>
          </a:xfrm>
          <a:prstGeom prst="roundRect">
            <a:avLst>
              <a:gd name="adj" fmla="val 25625"/>
            </a:avLst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84" name="Google Shape;384;p21"/>
          <p:cNvSpPr/>
          <p:nvPr/>
        </p:nvSpPr>
        <p:spPr>
          <a:xfrm>
            <a:off x="3663780" y="7999853"/>
            <a:ext cx="193500" cy="194700"/>
          </a:xfrm>
          <a:prstGeom prst="ellipse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g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85" name="Google Shape;385;p21"/>
          <p:cNvSpPr txBox="1"/>
          <p:nvPr/>
        </p:nvSpPr>
        <p:spPr>
          <a:xfrm>
            <a:off x="3851784" y="8081513"/>
            <a:ext cx="964500" cy="28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3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 baseline="30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+ 2</a:t>
            </a:r>
            <a:r>
              <a:rPr lang="en-GB" sz="12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− 1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86" name="Google Shape;386;p21"/>
          <p:cNvSpPr/>
          <p:nvPr/>
        </p:nvSpPr>
        <p:spPr>
          <a:xfrm>
            <a:off x="5144418" y="7999853"/>
            <a:ext cx="193500" cy="194700"/>
          </a:xfrm>
          <a:prstGeom prst="ellipse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h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387" name="Google Shape;387;p21"/>
          <p:cNvCxnSpPr/>
          <p:nvPr/>
        </p:nvCxnSpPr>
        <p:spPr>
          <a:xfrm>
            <a:off x="1686878" y="7062547"/>
            <a:ext cx="527400" cy="926700"/>
          </a:xfrm>
          <a:prstGeom prst="straightConnector1">
            <a:avLst/>
          </a:prstGeom>
          <a:noFill/>
          <a:ln w="38100" cap="flat" cmpd="sng">
            <a:solidFill>
              <a:srgbClr val="845AD9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88" name="Google Shape;388;p21"/>
          <p:cNvCxnSpPr/>
          <p:nvPr/>
        </p:nvCxnSpPr>
        <p:spPr>
          <a:xfrm>
            <a:off x="3332990" y="7067472"/>
            <a:ext cx="576600" cy="931500"/>
          </a:xfrm>
          <a:prstGeom prst="straightConnector1">
            <a:avLst/>
          </a:prstGeom>
          <a:noFill/>
          <a:ln w="38100" cap="flat" cmpd="sng">
            <a:solidFill>
              <a:srgbClr val="845AD9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89" name="Google Shape;389;p21"/>
          <p:cNvCxnSpPr>
            <a:stCxn id="339" idx="3"/>
          </p:cNvCxnSpPr>
          <p:nvPr/>
        </p:nvCxnSpPr>
        <p:spPr>
          <a:xfrm>
            <a:off x="4856836" y="7023010"/>
            <a:ext cx="570600" cy="951300"/>
          </a:xfrm>
          <a:prstGeom prst="straightConnector1">
            <a:avLst/>
          </a:prstGeom>
          <a:noFill/>
          <a:ln w="38100" cap="flat" cmpd="sng">
            <a:solidFill>
              <a:srgbClr val="845AD9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90" name="Google Shape;390;p21"/>
          <p:cNvCxnSpPr>
            <a:endCxn id="376" idx="0"/>
          </p:cNvCxnSpPr>
          <p:nvPr/>
        </p:nvCxnSpPr>
        <p:spPr>
          <a:xfrm flipH="1">
            <a:off x="1017652" y="7072304"/>
            <a:ext cx="4917600" cy="920700"/>
          </a:xfrm>
          <a:prstGeom prst="straightConnector1">
            <a:avLst/>
          </a:prstGeom>
          <a:noFill/>
          <a:ln w="38100" cap="flat" cmpd="sng">
            <a:solidFill>
              <a:srgbClr val="845AD9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  <p:transition/>
  <p:timing/>
</p:sld>
</file>

<file path=ppt/slides/slide3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394" name="Shape 394"/>
        <p:cNvGrpSpPr/>
        <p:nvPr/>
      </p:nvGrpSpPr>
      <p:grpSpPr>
        <a:xfrm>
          <a:off x="0" y="0"/>
          <a:ext cx="0" cy="0"/>
        </a:xfrm>
      </p:grpSpPr>
      <p:sp>
        <p:nvSpPr>
          <p:cNvPr id="395" name="Google Shape;395;p22"/>
          <p:cNvSpPr txBox="1"/>
          <p:nvPr>
            <p:ph type="subTitle" idx="1"/>
          </p:nvPr>
        </p:nvSpPr>
        <p:spPr>
          <a:xfrm>
            <a:off x="1463400" y="360000"/>
            <a:ext cx="4782600" cy="1386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Problem solving with expressions and formulae</a:t>
            </a:r>
            <a:endParaRPr/>
          </a:p>
        </p:txBody>
      </p:sp>
      <p:sp>
        <p:nvSpPr>
          <p:cNvPr id="396" name="Google Shape;396;p22"/>
          <p:cNvSpPr txBox="1"/>
          <p:nvPr/>
        </p:nvSpPr>
        <p:spPr>
          <a:xfrm>
            <a:off x="468000" y="1040700"/>
            <a:ext cx="3115500" cy="63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Calculate a simplified  expression for the area of this shape.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97" name="Google Shape;397;p22"/>
          <p:cNvSpPr txBox="1"/>
          <p:nvPr/>
        </p:nvSpPr>
        <p:spPr>
          <a:xfrm>
            <a:off x="468000" y="720000"/>
            <a:ext cx="6624000" cy="32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Task B: Area of compound shapes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398" name="Google Shape;398;p22"/>
          <p:cNvCxnSpPr/>
          <p:nvPr/>
        </p:nvCxnSpPr>
        <p:spPr>
          <a:xfrm flipH="1">
            <a:off x="3742576" y="1074381"/>
            <a:ext cx="0" cy="3211800"/>
          </a:xfrm>
          <a:prstGeom prst="straightConnector1">
            <a:avLst/>
          </a:prstGeom>
          <a:noFill/>
          <a:ln w="38100" cap="flat" cmpd="sng">
            <a:solidFill>
              <a:srgbClr val="037B7D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99" name="Google Shape;399;p22"/>
          <p:cNvSpPr txBox="1"/>
          <p:nvPr/>
        </p:nvSpPr>
        <p:spPr>
          <a:xfrm>
            <a:off x="3973200" y="1040700"/>
            <a:ext cx="3115500" cy="63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Calculate a simplified  expression for the area of this shape.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00" name="Google Shape;400;p22"/>
          <p:cNvSpPr txBox="1"/>
          <p:nvPr/>
        </p:nvSpPr>
        <p:spPr>
          <a:xfrm>
            <a:off x="468000" y="3382704"/>
            <a:ext cx="4150800" cy="29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(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+ 10)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(</a:t>
            </a:r>
            <a:r>
              <a:rPr lang="en-GB" sz="12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+ 3) + 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(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+ 6)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(</a:t>
            </a:r>
            <a:r>
              <a:rPr lang="en-GB" sz="12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+ 3)  </a:t>
            </a:r>
            <a:endParaRPr sz="12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401" name="Google Shape;401;p22"/>
          <p:cNvSpPr/>
          <p:nvPr/>
        </p:nvSpPr>
        <p:spPr>
          <a:xfrm>
            <a:off x="1030875" y="2554953"/>
            <a:ext cx="1073700" cy="446100"/>
          </a:xfrm>
          <a:prstGeom prst="rect">
            <a:avLst/>
          </a:prstGeom>
          <a:solidFill>
            <a:srgbClr val="037B7D">
              <a:alpha val="53800"/>
            </a:srgbClr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02" name="Google Shape;402;p22"/>
          <p:cNvSpPr txBox="1"/>
          <p:nvPr/>
        </p:nvSpPr>
        <p:spPr>
          <a:xfrm>
            <a:off x="468000" y="3679755"/>
            <a:ext cx="4150800" cy="29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(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 baseline="30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+ 13</a:t>
            </a:r>
            <a:r>
              <a:rPr lang="en-GB" sz="12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+ 30) + 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(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 i="1" baseline="30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+ 9</a:t>
            </a:r>
            <a:r>
              <a:rPr lang="en-GB" sz="12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+ 18)  </a:t>
            </a:r>
            <a:endParaRPr sz="12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403" name="Google Shape;403;p22"/>
          <p:cNvSpPr txBox="1"/>
          <p:nvPr/>
        </p:nvSpPr>
        <p:spPr>
          <a:xfrm>
            <a:off x="468000" y="3969477"/>
            <a:ext cx="4150800" cy="24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 baseline="30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+ 22</a:t>
            </a:r>
            <a:r>
              <a:rPr lang="en-GB" sz="12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+ 48 </a:t>
            </a:r>
            <a:endParaRPr sz="12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404" name="Google Shape;404;p22"/>
          <p:cNvSpPr/>
          <p:nvPr/>
        </p:nvSpPr>
        <p:spPr>
          <a:xfrm>
            <a:off x="4332682" y="2097725"/>
            <a:ext cx="729900" cy="677700"/>
          </a:xfrm>
          <a:prstGeom prst="rect">
            <a:avLst/>
          </a:prstGeom>
          <a:solidFill>
            <a:srgbClr val="037B7D">
              <a:alpha val="53800"/>
            </a:srgbClr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05" name="Google Shape;405;p22"/>
          <p:cNvSpPr txBox="1"/>
          <p:nvPr/>
        </p:nvSpPr>
        <p:spPr>
          <a:xfrm>
            <a:off x="5799380" y="1801903"/>
            <a:ext cx="1289100" cy="19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5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+ 4 − (3</a:t>
            </a:r>
            <a:r>
              <a:rPr lang="en-GB" sz="12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+ 2)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06" name="Google Shape;406;p22"/>
          <p:cNvSpPr txBox="1"/>
          <p:nvPr/>
        </p:nvSpPr>
        <p:spPr>
          <a:xfrm>
            <a:off x="6456830" y="2081080"/>
            <a:ext cx="631800" cy="19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+ 2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07" name="Google Shape;407;p22"/>
          <p:cNvSpPr txBox="1"/>
          <p:nvPr/>
        </p:nvSpPr>
        <p:spPr>
          <a:xfrm>
            <a:off x="3854380" y="3204474"/>
            <a:ext cx="3237600" cy="29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(3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+ 2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)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(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+ 8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) + 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(2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+ 2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)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(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3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+ 5)  </a:t>
            </a:r>
            <a:endParaRPr sz="12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408" name="Google Shape;408;p22"/>
          <p:cNvSpPr txBox="1"/>
          <p:nvPr/>
        </p:nvSpPr>
        <p:spPr>
          <a:xfrm>
            <a:off x="3854380" y="3501525"/>
            <a:ext cx="3237600" cy="29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(3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 baseline="30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+ 24</a:t>
            </a:r>
            <a:r>
              <a:rPr lang="en-GB" sz="12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+ 2</a:t>
            </a:r>
            <a:r>
              <a:rPr lang="en-GB" sz="12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+ 16) + 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(6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 i="1" baseline="30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+ 10</a:t>
            </a:r>
            <a:r>
              <a:rPr lang="en-GB" sz="12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+ 6</a:t>
            </a:r>
            <a:r>
              <a:rPr lang="en-GB" sz="12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+ 10)  </a:t>
            </a:r>
            <a:endParaRPr sz="12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409" name="Google Shape;409;p22"/>
          <p:cNvSpPr txBox="1"/>
          <p:nvPr/>
        </p:nvSpPr>
        <p:spPr>
          <a:xfrm>
            <a:off x="3854380" y="4028887"/>
            <a:ext cx="3237600" cy="24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9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 baseline="30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+ 42</a:t>
            </a:r>
            <a:r>
              <a:rPr lang="en-GB" sz="12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+ 26 </a:t>
            </a:r>
            <a:endParaRPr sz="12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410" name="Google Shape;410;p22"/>
          <p:cNvSpPr txBox="1"/>
          <p:nvPr/>
        </p:nvSpPr>
        <p:spPr>
          <a:xfrm>
            <a:off x="3854380" y="3766510"/>
            <a:ext cx="3237600" cy="29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(3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 baseline="30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+ 26</a:t>
            </a:r>
            <a:r>
              <a:rPr lang="en-GB" sz="12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+ 16) + 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(6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 i="1" baseline="30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+ 16</a:t>
            </a:r>
            <a:r>
              <a:rPr lang="en-GB" sz="12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+ 10)  </a:t>
            </a:r>
            <a:endParaRPr sz="12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pic>
        <p:nvPicPr>
          <p:cNvPr id="411" name="Google Shape;411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6759" y="1530015"/>
            <a:ext cx="2117851" cy="1913347"/>
          </a:xfrm>
          <a:prstGeom prst="rect">
            <a:avLst/>
          </a:prstGeom>
          <a:noFill/>
          <a:ln>
            <a:noFill/>
          </a:ln>
        </p:spPr>
      </p:pic>
      <p:pic>
        <p:nvPicPr>
          <p:cNvPr id="412" name="Google Shape;412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956827" y="1732103"/>
            <a:ext cx="2022850" cy="1468597"/>
          </a:xfrm>
          <a:prstGeom prst="rect">
            <a:avLst/>
          </a:prstGeom>
          <a:noFill/>
          <a:ln>
            <a:noFill/>
          </a:ln>
        </p:spPr>
      </p:pic>
      <p:sp>
        <p:nvSpPr>
          <p:cNvPr id="413" name="Google Shape;413;p22"/>
          <p:cNvSpPr txBox="1"/>
          <p:nvPr/>
        </p:nvSpPr>
        <p:spPr>
          <a:xfrm>
            <a:off x="478427" y="6695800"/>
            <a:ext cx="6624000" cy="25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 The area of the shaded shape is 149 square units. Use this to find the value of 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endParaRPr sz="1200" i="1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414" name="Google Shape;414;p22"/>
          <p:cNvSpPr txBox="1"/>
          <p:nvPr/>
        </p:nvSpPr>
        <p:spPr>
          <a:xfrm>
            <a:off x="478424" y="4538375"/>
            <a:ext cx="6624000" cy="63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3a) Calculate a simplified expression for the area of the shaded shape.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15" name="Google Shape;415;p22"/>
          <p:cNvSpPr/>
          <p:nvPr/>
        </p:nvSpPr>
        <p:spPr>
          <a:xfrm>
            <a:off x="860585" y="4905717"/>
            <a:ext cx="1524900" cy="1217700"/>
          </a:xfrm>
          <a:prstGeom prst="rect">
            <a:avLst/>
          </a:prstGeom>
          <a:solidFill>
            <a:srgbClr val="037B7D">
              <a:alpha val="53800"/>
            </a:srgbClr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16" name="Google Shape;416;p22"/>
          <p:cNvSpPr/>
          <p:nvPr/>
        </p:nvSpPr>
        <p:spPr>
          <a:xfrm>
            <a:off x="1638604" y="5363675"/>
            <a:ext cx="568500" cy="576600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417" name="Google Shape;417;p22"/>
          <p:cNvCxnSpPr/>
          <p:nvPr/>
        </p:nvCxnSpPr>
        <p:spPr>
          <a:xfrm rot="10800000">
            <a:off x="860333" y="6190173"/>
            <a:ext cx="15255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418" name="Google Shape;418;p22"/>
          <p:cNvSpPr txBox="1"/>
          <p:nvPr/>
        </p:nvSpPr>
        <p:spPr>
          <a:xfrm>
            <a:off x="1395059" y="6190182"/>
            <a:ext cx="595200" cy="2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+ 12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419" name="Google Shape;419;p22"/>
          <p:cNvCxnSpPr/>
          <p:nvPr/>
        </p:nvCxnSpPr>
        <p:spPr>
          <a:xfrm rot="-5400000">
            <a:off x="145936" y="5516779"/>
            <a:ext cx="12552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420" name="Google Shape;420;p22"/>
          <p:cNvSpPr txBox="1"/>
          <p:nvPr/>
        </p:nvSpPr>
        <p:spPr>
          <a:xfrm rot="-5400000">
            <a:off x="398944" y="5413568"/>
            <a:ext cx="468000" cy="2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+ 7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21" name="Google Shape;421;p22"/>
          <p:cNvSpPr txBox="1"/>
          <p:nvPr/>
        </p:nvSpPr>
        <p:spPr>
          <a:xfrm>
            <a:off x="1724046" y="5657071"/>
            <a:ext cx="456000" cy="2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2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22" name="Google Shape;422;p22"/>
          <p:cNvSpPr txBox="1"/>
          <p:nvPr/>
        </p:nvSpPr>
        <p:spPr>
          <a:xfrm rot="-5400000" flipH="1">
            <a:off x="1196922" y="5535255"/>
            <a:ext cx="456000" cy="2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2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423" name="Google Shape;423;p22"/>
          <p:cNvCxnSpPr/>
          <p:nvPr/>
        </p:nvCxnSpPr>
        <p:spPr>
          <a:xfrm>
            <a:off x="1638604" y="5889691"/>
            <a:ext cx="5586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424" name="Google Shape;424;p22"/>
          <p:cNvCxnSpPr/>
          <p:nvPr/>
        </p:nvCxnSpPr>
        <p:spPr>
          <a:xfrm rot="5400000">
            <a:off x="1302974" y="5636247"/>
            <a:ext cx="5586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425" name="Google Shape;425;p22"/>
          <p:cNvSpPr txBox="1"/>
          <p:nvPr/>
        </p:nvSpPr>
        <p:spPr>
          <a:xfrm>
            <a:off x="2854134" y="4991436"/>
            <a:ext cx="3239100" cy="29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(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+ 12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)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(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+ 7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) − 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(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− 2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)(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− 2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)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 </a:t>
            </a:r>
            <a:endParaRPr sz="12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426" name="Google Shape;426;p22"/>
          <p:cNvSpPr txBox="1"/>
          <p:nvPr/>
        </p:nvSpPr>
        <p:spPr>
          <a:xfrm>
            <a:off x="2854134" y="5288634"/>
            <a:ext cx="3239100" cy="29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(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 baseline="30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+ 7</a:t>
            </a:r>
            <a:r>
              <a:rPr lang="en-GB" sz="12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+12</a:t>
            </a:r>
            <a:r>
              <a:rPr lang="en-GB" sz="12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 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+ 84) − 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(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 i="1" baseline="30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− 2</a:t>
            </a:r>
            <a:r>
              <a:rPr lang="en-GB" sz="12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 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− 2</a:t>
            </a:r>
            <a:r>
              <a:rPr lang="en-GB" sz="12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 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+ 4)  </a:t>
            </a:r>
            <a:endParaRPr sz="12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427" name="Google Shape;427;p22"/>
          <p:cNvSpPr txBox="1"/>
          <p:nvPr/>
        </p:nvSpPr>
        <p:spPr>
          <a:xfrm>
            <a:off x="2854134" y="5887573"/>
            <a:ext cx="3239100" cy="25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23</a:t>
            </a:r>
            <a:r>
              <a:rPr lang="en-GB" sz="12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+ 80 </a:t>
            </a:r>
            <a:endParaRPr sz="12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428" name="Google Shape;428;p22"/>
          <p:cNvSpPr txBox="1"/>
          <p:nvPr/>
        </p:nvSpPr>
        <p:spPr>
          <a:xfrm>
            <a:off x="2854134" y="5553750"/>
            <a:ext cx="3239100" cy="29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(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 baseline="30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+ 19</a:t>
            </a:r>
            <a:r>
              <a:rPr lang="en-GB" sz="12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+ 84) − 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(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 i="1" baseline="30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− 4</a:t>
            </a:r>
            <a:r>
              <a:rPr lang="en-GB" sz="12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 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+ 4)  </a:t>
            </a:r>
            <a:endParaRPr sz="12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graphicFrame>
        <p:nvGraphicFramePr>
          <p:cNvPr id="429" name="Google Shape;429;p22"/>
          <p:cNvGraphicFramePr>
            <a:graphicFrameLocks noGrp="1"/>
          </p:cNvGraphicFramePr>
          <p:nvPr/>
        </p:nvGraphicFramePr>
        <p:xfrm>
          <a:off x="2627797" y="72669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{B6F647B3-9569-4EB7-A100-5391595FD910}</a:tableStyleId>
              </a:tblPr>
              <a:tblGrid>
                <a:gridCol w="996625"/>
                <a:gridCol w="272000"/>
                <a:gridCol w="1035775"/>
              </a:tblGrid>
              <a:tr h="299300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23</a:t>
                      </a:r>
                      <a:r>
                        <a:rPr lang="en-GB" sz="1200" i="1">
                          <a:solidFill>
                            <a:srgbClr val="222222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r>
                        <a:rPr lang="en-GB" sz="1200">
                          <a:solidFill>
                            <a:srgbClr val="222222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+ 80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0" marB="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Times"/>
                          <a:ea typeface="Times"/>
                          <a:cs typeface="Times"/>
                          <a:sym typeface="Times"/>
                        </a:rPr>
                        <a:t>=</a:t>
                      </a:r>
                      <a:endParaRPr sz="12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36000" marR="36000" marT="0" marB="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lnSpc>
                          <a:spcPct val="13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GB" sz="1200">
                          <a:latin typeface="Times"/>
                          <a:ea typeface="Times"/>
                          <a:cs typeface="Times"/>
                          <a:sym typeface="Times"/>
                        </a:rPr>
                        <a:t>149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0" marB="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99300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23</a:t>
                      </a:r>
                      <a:r>
                        <a:rPr lang="en-GB" sz="1200" i="1">
                          <a:solidFill>
                            <a:srgbClr val="222222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r>
                        <a:rPr lang="en-GB" sz="1200">
                          <a:solidFill>
                            <a:srgbClr val="222222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+ 80</a:t>
                      </a:r>
                      <a:r>
                        <a:rPr lang="en-GB" sz="1200">
                          <a:latin typeface="Times"/>
                          <a:ea typeface="Times"/>
                          <a:cs typeface="Times"/>
                          <a:sym typeface="Times"/>
                        </a:rPr>
                        <a:t> </a:t>
                      </a:r>
                      <a:r>
                        <a:rPr lang="en-GB" sz="1200">
                          <a:solidFill>
                            <a:srgbClr val="037B7D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− 80</a:t>
                      </a:r>
                      <a:endParaRPr sz="1200">
                        <a:solidFill>
                          <a:srgbClr val="037B7D"/>
                        </a:solidFill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36000" marR="36000" marT="0" marB="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Times"/>
                          <a:ea typeface="Times"/>
                          <a:cs typeface="Times"/>
                          <a:sym typeface="Times"/>
                        </a:rPr>
                        <a:t>=</a:t>
                      </a:r>
                      <a:endParaRPr sz="12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36000" marR="36000" marT="0" marB="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Times"/>
                          <a:ea typeface="Times"/>
                          <a:cs typeface="Times"/>
                          <a:sym typeface="Times"/>
                        </a:rPr>
                        <a:t>149 </a:t>
                      </a:r>
                      <a:r>
                        <a:rPr lang="en-GB" sz="1200">
                          <a:solidFill>
                            <a:srgbClr val="037B7D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− 80</a:t>
                      </a:r>
                      <a:endParaRPr sz="1200">
                        <a:solidFill>
                          <a:srgbClr val="037B7D"/>
                        </a:solidFill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36000" marR="36000" marT="0" marB="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80250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23</a:t>
                      </a:r>
                      <a:r>
                        <a:rPr lang="en-GB" sz="1200" i="1">
                          <a:solidFill>
                            <a:srgbClr val="222222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r>
                        <a:rPr lang="en-GB" sz="12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0" marB="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Times"/>
                          <a:ea typeface="Times"/>
                          <a:cs typeface="Times"/>
                          <a:sym typeface="Times"/>
                        </a:rPr>
                        <a:t>=</a:t>
                      </a:r>
                      <a:endParaRPr sz="12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36000" marR="36000" marT="0" marB="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Times"/>
                          <a:ea typeface="Times"/>
                          <a:cs typeface="Times"/>
                          <a:sym typeface="Times"/>
                        </a:rPr>
                        <a:t>69</a:t>
                      </a:r>
                      <a:endParaRPr sz="12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0" marB="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80250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 i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endParaRPr sz="1200" i="1">
                        <a:solidFill>
                          <a:srgbClr val="037B7D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0" marB="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Times"/>
                          <a:ea typeface="Times"/>
                          <a:cs typeface="Times"/>
                          <a:sym typeface="Times"/>
                        </a:rPr>
                        <a:t>=</a:t>
                      </a:r>
                      <a:endParaRPr sz="12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36000" marR="36000" marT="0" marB="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Times"/>
                          <a:ea typeface="Times"/>
                          <a:cs typeface="Times"/>
                          <a:sym typeface="Times"/>
                        </a:rPr>
                        <a:t>3</a:t>
                      </a:r>
                      <a:endParaRPr sz="1200">
                        <a:solidFill>
                          <a:srgbClr val="037B7D"/>
                        </a:solidFill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36000" marR="36000" marT="0" marB="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ransition/>
  <p:timing/>
</p:sld>
</file>

<file path=ppt/slides/slide4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433" name="Shape 433"/>
        <p:cNvGrpSpPr/>
        <p:nvPr/>
      </p:nvGrpSpPr>
      <p:grpSpPr>
        <a:xfrm>
          <a:off x="0" y="0"/>
          <a:ext cx="0" cy="0"/>
        </a:xfrm>
      </p:grpSpPr>
      <p:sp>
        <p:nvSpPr>
          <p:cNvPr id="434" name="Google Shape;434;p23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4</a:t>
            </a:fld>
            <a:endParaRPr/>
          </a:p>
        </p:txBody>
      </p:sp>
      <p:sp>
        <p:nvSpPr>
          <p:cNvPr id="435" name="Google Shape;435;p23"/>
          <p:cNvSpPr txBox="1"/>
          <p:nvPr>
            <p:ph type="subTitle" idx="1"/>
          </p:nvPr>
        </p:nvSpPr>
        <p:spPr>
          <a:xfrm>
            <a:off x="1463400" y="360000"/>
            <a:ext cx="4782600" cy="1386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Problem solving with expressions and formulae</a:t>
            </a:r>
            <a:endParaRPr/>
          </a:p>
        </p:txBody>
      </p:sp>
      <p:sp>
        <p:nvSpPr>
          <p:cNvPr id="436" name="Google Shape;436;p23"/>
          <p:cNvSpPr txBox="1"/>
          <p:nvPr/>
        </p:nvSpPr>
        <p:spPr>
          <a:xfrm>
            <a:off x="6744600" y="10447800"/>
            <a:ext cx="815400" cy="24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v2.3</a:t>
            </a:r>
            <a:endParaRPr sz="1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37" name="Google Shape;437;p23"/>
          <p:cNvSpPr txBox="1"/>
          <p:nvPr>
            <p:ph type="subTitle" idx="2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Mathematics in Education and Industry</a:t>
            </a:r>
            <a:endParaRPr/>
          </a:p>
        </p:txBody>
      </p:sp>
      <p:sp>
        <p:nvSpPr>
          <p:cNvPr id="438" name="Google Shape;438;p23"/>
          <p:cNvSpPr txBox="1"/>
          <p:nvPr/>
        </p:nvSpPr>
        <p:spPr>
          <a:xfrm>
            <a:off x="468000" y="2922850"/>
            <a:ext cx="6621900" cy="81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 The area of the shaded shape is 99 square units. Use this to find the value of 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endParaRPr sz="1200" i="1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439" name="Google Shape;439;p23"/>
          <p:cNvSpPr txBox="1"/>
          <p:nvPr/>
        </p:nvSpPr>
        <p:spPr>
          <a:xfrm>
            <a:off x="470100" y="719997"/>
            <a:ext cx="6621900" cy="63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4a) Calculate a simplified expression for the area of the shaded shape.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40" name="Google Shape;440;p23"/>
          <p:cNvSpPr/>
          <p:nvPr/>
        </p:nvSpPr>
        <p:spPr>
          <a:xfrm>
            <a:off x="796914" y="1187239"/>
            <a:ext cx="1670400" cy="1235100"/>
          </a:xfrm>
          <a:prstGeom prst="rect">
            <a:avLst/>
          </a:prstGeom>
          <a:solidFill>
            <a:srgbClr val="037B7D">
              <a:alpha val="53800"/>
            </a:srgbClr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41" name="Google Shape;441;p23"/>
          <p:cNvSpPr/>
          <p:nvPr/>
        </p:nvSpPr>
        <p:spPr>
          <a:xfrm>
            <a:off x="1110744" y="1159207"/>
            <a:ext cx="1042800" cy="939900"/>
          </a:xfrm>
          <a:prstGeom prst="rect">
            <a:avLst/>
          </a:prstGeom>
          <a:solidFill>
            <a:srgbClr val="E6F2F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442" name="Google Shape;442;p23"/>
          <p:cNvCxnSpPr/>
          <p:nvPr/>
        </p:nvCxnSpPr>
        <p:spPr>
          <a:xfrm flipH="1">
            <a:off x="1103122" y="1172386"/>
            <a:ext cx="0" cy="94080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43" name="Google Shape;443;p23"/>
          <p:cNvCxnSpPr/>
          <p:nvPr/>
        </p:nvCxnSpPr>
        <p:spPr>
          <a:xfrm flipH="1">
            <a:off x="2156026" y="1172386"/>
            <a:ext cx="0" cy="94080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44" name="Google Shape;444;p23"/>
          <p:cNvCxnSpPr/>
          <p:nvPr/>
        </p:nvCxnSpPr>
        <p:spPr>
          <a:xfrm rot="10800000">
            <a:off x="1088360" y="2115939"/>
            <a:ext cx="1081800" cy="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45" name="Google Shape;445;p23"/>
          <p:cNvCxnSpPr/>
          <p:nvPr/>
        </p:nvCxnSpPr>
        <p:spPr>
          <a:xfrm rot="10800000">
            <a:off x="796595" y="2497717"/>
            <a:ext cx="16710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446" name="Google Shape;446;p23"/>
          <p:cNvSpPr txBox="1"/>
          <p:nvPr/>
        </p:nvSpPr>
        <p:spPr>
          <a:xfrm>
            <a:off x="1382352" y="2497726"/>
            <a:ext cx="773700" cy="22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6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9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447" name="Google Shape;447;p23"/>
          <p:cNvCxnSpPr/>
          <p:nvPr/>
        </p:nvCxnSpPr>
        <p:spPr>
          <a:xfrm rot="10800000" flipH="1">
            <a:off x="2568735" y="1274931"/>
            <a:ext cx="0" cy="11385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448" name="Google Shape;448;p23"/>
          <p:cNvSpPr txBox="1"/>
          <p:nvPr/>
        </p:nvSpPr>
        <p:spPr>
          <a:xfrm>
            <a:off x="2670230" y="1733488"/>
            <a:ext cx="773700" cy="22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+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7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49" name="Google Shape;449;p23"/>
          <p:cNvSpPr txBox="1"/>
          <p:nvPr/>
        </p:nvSpPr>
        <p:spPr>
          <a:xfrm>
            <a:off x="1377004" y="1823808"/>
            <a:ext cx="624300" cy="22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4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1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50" name="Google Shape;450;p23"/>
          <p:cNvSpPr txBox="1"/>
          <p:nvPr/>
        </p:nvSpPr>
        <p:spPr>
          <a:xfrm>
            <a:off x="1859552" y="1472247"/>
            <a:ext cx="216300" cy="22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3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451" name="Google Shape;451;p23"/>
          <p:cNvCxnSpPr/>
          <p:nvPr/>
        </p:nvCxnSpPr>
        <p:spPr>
          <a:xfrm rot="10800000">
            <a:off x="1125587" y="2049227"/>
            <a:ext cx="10080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452" name="Google Shape;452;p23"/>
          <p:cNvCxnSpPr/>
          <p:nvPr/>
        </p:nvCxnSpPr>
        <p:spPr>
          <a:xfrm rot="10800000" flipH="1">
            <a:off x="2075941" y="1194695"/>
            <a:ext cx="0" cy="8820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453" name="Google Shape;453;p23"/>
          <p:cNvSpPr txBox="1"/>
          <p:nvPr/>
        </p:nvSpPr>
        <p:spPr>
          <a:xfrm>
            <a:off x="3584541" y="1086433"/>
            <a:ext cx="3238200" cy="29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(6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− 9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)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(2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+ 7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) − 3</a:t>
            </a:r>
            <a:r>
              <a:rPr lang="en-GB" sz="12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(4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− 1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)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 </a:t>
            </a:r>
            <a:endParaRPr sz="12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454" name="Google Shape;454;p23"/>
          <p:cNvSpPr txBox="1"/>
          <p:nvPr/>
        </p:nvSpPr>
        <p:spPr>
          <a:xfrm>
            <a:off x="3584541" y="1383535"/>
            <a:ext cx="3238200" cy="29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(12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 baseline="30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+ 42</a:t>
            </a:r>
            <a:r>
              <a:rPr lang="en-GB" sz="12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− 18</a:t>
            </a:r>
            <a:r>
              <a:rPr lang="en-GB" sz="12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− 63) − 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(12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 i="1" baseline="30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− 3</a:t>
            </a:r>
            <a:r>
              <a:rPr lang="en-GB" sz="12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)  </a:t>
            </a:r>
            <a:endParaRPr sz="12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455" name="Google Shape;455;p23"/>
          <p:cNvSpPr txBox="1"/>
          <p:nvPr/>
        </p:nvSpPr>
        <p:spPr>
          <a:xfrm>
            <a:off x="3584541" y="1934870"/>
            <a:ext cx="3238200" cy="25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27</a:t>
            </a:r>
            <a:r>
              <a:rPr lang="en-GB" sz="12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− 63 </a:t>
            </a:r>
            <a:endParaRPr sz="12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456" name="Google Shape;456;p23"/>
          <p:cNvSpPr txBox="1"/>
          <p:nvPr/>
        </p:nvSpPr>
        <p:spPr>
          <a:xfrm>
            <a:off x="3584541" y="1648566"/>
            <a:ext cx="3238200" cy="29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(12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 baseline="30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+ 24</a:t>
            </a:r>
            <a:r>
              <a:rPr lang="en-GB" sz="12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− 63) − 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(12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 i="1" baseline="30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− 3</a:t>
            </a:r>
            <a:r>
              <a:rPr lang="en-GB" sz="12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)  </a:t>
            </a:r>
            <a:endParaRPr sz="12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graphicFrame>
        <p:nvGraphicFramePr>
          <p:cNvPr id="457" name="Google Shape;457;p23"/>
          <p:cNvGraphicFramePr>
            <a:graphicFrameLocks noGrp="1"/>
          </p:cNvGraphicFramePr>
          <p:nvPr/>
        </p:nvGraphicFramePr>
        <p:xfrm>
          <a:off x="2859938" y="32483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{B6F647B3-9569-4EB7-A100-5391595FD910}</a:tableStyleId>
              </a:tblPr>
              <a:tblGrid>
                <a:gridCol w="842225"/>
                <a:gridCol w="272000"/>
                <a:gridCol w="875275"/>
              </a:tblGrid>
              <a:tr h="299300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27</a:t>
                      </a:r>
                      <a:r>
                        <a:rPr lang="en-GB" sz="1200" i="1">
                          <a:solidFill>
                            <a:srgbClr val="222222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r>
                        <a:rPr lang="en-GB" sz="1200">
                          <a:solidFill>
                            <a:srgbClr val="222222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− 63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0" marB="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Times"/>
                          <a:ea typeface="Times"/>
                          <a:cs typeface="Times"/>
                          <a:sym typeface="Times"/>
                        </a:rPr>
                        <a:t>=</a:t>
                      </a:r>
                      <a:endParaRPr sz="12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36000" marR="36000" marT="0" marB="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lnSpc>
                          <a:spcPct val="13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GB" sz="1200">
                          <a:latin typeface="Times"/>
                          <a:ea typeface="Times"/>
                          <a:cs typeface="Times"/>
                          <a:sym typeface="Times"/>
                        </a:rPr>
                        <a:t>99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0" marB="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99300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(27</a:t>
                      </a:r>
                      <a:r>
                        <a:rPr lang="en-GB" sz="1200" i="1">
                          <a:solidFill>
                            <a:srgbClr val="222222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r>
                        <a:rPr lang="en-GB" sz="1200">
                          <a:solidFill>
                            <a:srgbClr val="222222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− 63)</a:t>
                      </a:r>
                      <a:r>
                        <a:rPr lang="en-GB" sz="1200">
                          <a:latin typeface="Times"/>
                          <a:ea typeface="Times"/>
                          <a:cs typeface="Times"/>
                          <a:sym typeface="Times"/>
                        </a:rPr>
                        <a:t> </a:t>
                      </a:r>
                      <a:r>
                        <a:rPr lang="en-GB" sz="1200">
                          <a:solidFill>
                            <a:srgbClr val="037B7D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÷ 9</a:t>
                      </a:r>
                      <a:endParaRPr sz="1200">
                        <a:solidFill>
                          <a:srgbClr val="037B7D"/>
                        </a:solidFill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36000" marR="36000" marT="0" marB="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Times"/>
                          <a:ea typeface="Times"/>
                          <a:cs typeface="Times"/>
                          <a:sym typeface="Times"/>
                        </a:rPr>
                        <a:t>=</a:t>
                      </a:r>
                      <a:endParaRPr sz="12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36000" marR="36000" marT="0" marB="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Times"/>
                          <a:ea typeface="Times"/>
                          <a:cs typeface="Times"/>
                          <a:sym typeface="Times"/>
                        </a:rPr>
                        <a:t>99 </a:t>
                      </a:r>
                      <a:r>
                        <a:rPr lang="en-GB" sz="1200">
                          <a:solidFill>
                            <a:srgbClr val="037B7D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÷ 9</a:t>
                      </a:r>
                      <a:endParaRPr sz="1200">
                        <a:solidFill>
                          <a:srgbClr val="037B7D"/>
                        </a:solidFill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36000" marR="36000" marT="0" marB="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80250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r>
                        <a:rPr lang="en-GB" sz="12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1200">
                          <a:solidFill>
                            <a:srgbClr val="222222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− 7</a:t>
                      </a:r>
                      <a:r>
                        <a:rPr lang="en-GB" sz="12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0" marB="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Times"/>
                          <a:ea typeface="Times"/>
                          <a:cs typeface="Times"/>
                          <a:sym typeface="Times"/>
                        </a:rPr>
                        <a:t>=</a:t>
                      </a:r>
                      <a:endParaRPr sz="12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36000" marR="36000" marT="0" marB="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Times"/>
                          <a:ea typeface="Times"/>
                          <a:cs typeface="Times"/>
                          <a:sym typeface="Times"/>
                        </a:rPr>
                        <a:t>11</a:t>
                      </a:r>
                      <a:endParaRPr sz="12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0" marB="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80250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r>
                        <a:rPr lang="en-GB" sz="1200" i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1200">
                          <a:solidFill>
                            <a:srgbClr val="222222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− 7 </a:t>
                      </a:r>
                      <a:r>
                        <a:rPr lang="en-GB" sz="1200">
                          <a:solidFill>
                            <a:srgbClr val="037B7D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+ 7</a:t>
                      </a:r>
                      <a:endParaRPr sz="1200" i="1">
                        <a:solidFill>
                          <a:srgbClr val="037B7D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0" marB="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Times"/>
                          <a:ea typeface="Times"/>
                          <a:cs typeface="Times"/>
                          <a:sym typeface="Times"/>
                        </a:rPr>
                        <a:t>=</a:t>
                      </a:r>
                      <a:endParaRPr sz="12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36000" marR="36000" marT="0" marB="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Times"/>
                          <a:ea typeface="Times"/>
                          <a:cs typeface="Times"/>
                          <a:sym typeface="Times"/>
                        </a:rPr>
                        <a:t>11 </a:t>
                      </a:r>
                      <a:r>
                        <a:rPr lang="en-GB" sz="1200">
                          <a:solidFill>
                            <a:srgbClr val="037B7D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+ 7</a:t>
                      </a:r>
                      <a:endParaRPr sz="1200">
                        <a:solidFill>
                          <a:srgbClr val="037B7D"/>
                        </a:solidFill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36000" marR="36000" marT="0" marB="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80250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r>
                        <a:rPr lang="en-GB" sz="1200" i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endParaRPr sz="1200" i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0" marB="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Times"/>
                          <a:ea typeface="Times"/>
                          <a:cs typeface="Times"/>
                          <a:sym typeface="Times"/>
                        </a:rPr>
                        <a:t>=</a:t>
                      </a:r>
                      <a:endParaRPr sz="12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36000" marR="36000" marT="0" marB="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Times"/>
                          <a:ea typeface="Times"/>
                          <a:cs typeface="Times"/>
                          <a:sym typeface="Times"/>
                        </a:rPr>
                        <a:t>18</a:t>
                      </a:r>
                      <a:endParaRPr sz="1200">
                        <a:solidFill>
                          <a:srgbClr val="000000"/>
                        </a:solidFill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36000" marR="36000" marT="0" marB="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80250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 i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 sz="1200" i="1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0" marB="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Times"/>
                          <a:ea typeface="Times"/>
                          <a:cs typeface="Times"/>
                          <a:sym typeface="Times"/>
                        </a:rPr>
                        <a:t>=</a:t>
                      </a:r>
                      <a:endParaRPr sz="12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36000" marR="36000" marT="0" marB="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Times"/>
                          <a:ea typeface="Times"/>
                          <a:cs typeface="Times"/>
                          <a:sym typeface="Times"/>
                        </a:rPr>
                        <a:t>6</a:t>
                      </a:r>
                      <a:endParaRPr sz="12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36000" marR="36000" marT="0" marB="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458" name="Google Shape;458;p23"/>
          <p:cNvSpPr/>
          <p:nvPr/>
        </p:nvSpPr>
        <p:spPr>
          <a:xfrm>
            <a:off x="796563" y="1191744"/>
            <a:ext cx="84300" cy="843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59" name="Google Shape;459;p23"/>
          <p:cNvSpPr/>
          <p:nvPr/>
        </p:nvSpPr>
        <p:spPr>
          <a:xfrm>
            <a:off x="1013445" y="1191744"/>
            <a:ext cx="84300" cy="843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60" name="Google Shape;460;p23"/>
          <p:cNvSpPr/>
          <p:nvPr/>
        </p:nvSpPr>
        <p:spPr>
          <a:xfrm>
            <a:off x="812550" y="2296045"/>
            <a:ext cx="108000" cy="1080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61" name="Google Shape;461;p23"/>
          <p:cNvSpPr/>
          <p:nvPr/>
        </p:nvSpPr>
        <p:spPr>
          <a:xfrm>
            <a:off x="2340297" y="2296045"/>
            <a:ext cx="108000" cy="1080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62" name="Google Shape;462;p23"/>
          <p:cNvSpPr/>
          <p:nvPr/>
        </p:nvSpPr>
        <p:spPr>
          <a:xfrm>
            <a:off x="2150548" y="1191744"/>
            <a:ext cx="84300" cy="843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63" name="Google Shape;463;p23"/>
          <p:cNvSpPr/>
          <p:nvPr/>
        </p:nvSpPr>
        <p:spPr>
          <a:xfrm>
            <a:off x="2377645" y="1191744"/>
            <a:ext cx="84300" cy="843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64" name="Google Shape;464;p23"/>
          <p:cNvSpPr txBox="1"/>
          <p:nvPr/>
        </p:nvSpPr>
        <p:spPr>
          <a:xfrm>
            <a:off x="468007" y="5482382"/>
            <a:ext cx="5704200" cy="286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 Find a simplified expression for the area of one rectangle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30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30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30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 Find a simplified expression for the area of the whole shape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30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30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3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 Find a simplified expression for the area of the shaded square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65" name="Google Shape;465;p23"/>
          <p:cNvSpPr txBox="1"/>
          <p:nvPr/>
        </p:nvSpPr>
        <p:spPr>
          <a:xfrm>
            <a:off x="488115" y="5768405"/>
            <a:ext cx="3236700" cy="29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(2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+ 3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)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(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+ 2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) ≡ 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 baseline="30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+ 4</a:t>
            </a:r>
            <a:r>
              <a:rPr lang="en-GB" sz="12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+ 3</a:t>
            </a:r>
            <a:r>
              <a:rPr lang="en-GB" sz="12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+ 6   </a:t>
            </a:r>
            <a:endParaRPr sz="12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466" name="Google Shape;466;p23"/>
          <p:cNvSpPr txBox="1"/>
          <p:nvPr/>
        </p:nvSpPr>
        <p:spPr>
          <a:xfrm>
            <a:off x="1573799" y="6124750"/>
            <a:ext cx="3236700" cy="29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≡ 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 baseline="30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+ 7</a:t>
            </a:r>
            <a:r>
              <a:rPr lang="en-GB" sz="12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+ 6   </a:t>
            </a:r>
            <a:endParaRPr sz="12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467" name="Google Shape;467;p23"/>
          <p:cNvSpPr txBox="1"/>
          <p:nvPr/>
        </p:nvSpPr>
        <p:spPr>
          <a:xfrm>
            <a:off x="468007" y="5146750"/>
            <a:ext cx="6618600" cy="42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5) Four identical rectangles sit round the outside of a shaded square.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68" name="Google Shape;468;p23"/>
          <p:cNvSpPr/>
          <p:nvPr/>
        </p:nvSpPr>
        <p:spPr>
          <a:xfrm>
            <a:off x="6023598" y="5661274"/>
            <a:ext cx="759300" cy="252900"/>
          </a:xfrm>
          <a:prstGeom prst="rect">
            <a:avLst/>
          </a:prstGeom>
          <a:solidFill>
            <a:srgbClr val="FFFFFF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69" name="Google Shape;469;p23"/>
          <p:cNvSpPr/>
          <p:nvPr/>
        </p:nvSpPr>
        <p:spPr>
          <a:xfrm rot="5400000">
            <a:off x="6529813" y="5914474"/>
            <a:ext cx="759300" cy="252900"/>
          </a:xfrm>
          <a:prstGeom prst="rect">
            <a:avLst/>
          </a:prstGeom>
          <a:solidFill>
            <a:srgbClr val="FFFFFF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70" name="Google Shape;470;p23"/>
          <p:cNvSpPr/>
          <p:nvPr/>
        </p:nvSpPr>
        <p:spPr>
          <a:xfrm flipH="1">
            <a:off x="6276613" y="6427898"/>
            <a:ext cx="759300" cy="252900"/>
          </a:xfrm>
          <a:prstGeom prst="rect">
            <a:avLst/>
          </a:prstGeom>
          <a:solidFill>
            <a:srgbClr val="FFFFFF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71" name="Google Shape;471;p23"/>
          <p:cNvSpPr/>
          <p:nvPr/>
        </p:nvSpPr>
        <p:spPr>
          <a:xfrm rot="5400000">
            <a:off x="5770576" y="6174939"/>
            <a:ext cx="759300" cy="252900"/>
          </a:xfrm>
          <a:prstGeom prst="rect">
            <a:avLst/>
          </a:prstGeom>
          <a:solidFill>
            <a:srgbClr val="FFFFFF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72" name="Google Shape;472;p23"/>
          <p:cNvSpPr/>
          <p:nvPr/>
        </p:nvSpPr>
        <p:spPr>
          <a:xfrm rot="5400000">
            <a:off x="6280256" y="5920018"/>
            <a:ext cx="494100" cy="494400"/>
          </a:xfrm>
          <a:prstGeom prst="rect">
            <a:avLst/>
          </a:prstGeom>
          <a:solidFill>
            <a:srgbClr val="037B7D">
              <a:alpha val="53800"/>
            </a:srgbClr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473" name="Google Shape;473;p23"/>
          <p:cNvCxnSpPr/>
          <p:nvPr/>
        </p:nvCxnSpPr>
        <p:spPr>
          <a:xfrm rot="10800000">
            <a:off x="6008883" y="6743200"/>
            <a:ext cx="2826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474" name="Google Shape;474;p23"/>
          <p:cNvSpPr txBox="1"/>
          <p:nvPr/>
        </p:nvSpPr>
        <p:spPr>
          <a:xfrm>
            <a:off x="5964240" y="6787677"/>
            <a:ext cx="623700" cy="20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+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2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75" name="Google Shape;475;p23"/>
          <p:cNvSpPr txBox="1"/>
          <p:nvPr/>
        </p:nvSpPr>
        <p:spPr>
          <a:xfrm>
            <a:off x="6164062" y="5378564"/>
            <a:ext cx="623700" cy="20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+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3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476" name="Google Shape;476;p23"/>
          <p:cNvCxnSpPr/>
          <p:nvPr/>
        </p:nvCxnSpPr>
        <p:spPr>
          <a:xfrm rot="10800000">
            <a:off x="6028088" y="5593269"/>
            <a:ext cx="7182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477" name="Google Shape;477;p23"/>
          <p:cNvSpPr txBox="1"/>
          <p:nvPr/>
        </p:nvSpPr>
        <p:spPr>
          <a:xfrm>
            <a:off x="468007" y="6886464"/>
            <a:ext cx="3236700" cy="29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+ 3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+ 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+ 2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≡ 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3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+ 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5   </a:t>
            </a:r>
            <a:endParaRPr sz="12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478" name="Google Shape;478;p23"/>
          <p:cNvSpPr txBox="1"/>
          <p:nvPr/>
        </p:nvSpPr>
        <p:spPr>
          <a:xfrm>
            <a:off x="479419" y="7206144"/>
            <a:ext cx="3236700" cy="29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(3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+ 5)</a:t>
            </a:r>
            <a:r>
              <a:rPr lang="en-GB" sz="1200" baseline="30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≡ 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9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 baseline="30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+ 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30</a:t>
            </a:r>
            <a:r>
              <a:rPr lang="en-GB" sz="12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 +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25   </a:t>
            </a:r>
            <a:endParaRPr sz="12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479" name="Google Shape;479;p23"/>
          <p:cNvSpPr txBox="1"/>
          <p:nvPr/>
        </p:nvSpPr>
        <p:spPr>
          <a:xfrm>
            <a:off x="467997" y="8038259"/>
            <a:ext cx="3236700" cy="29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4(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 baseline="30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+ 7</a:t>
            </a:r>
            <a:r>
              <a:rPr lang="en-GB" sz="12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+ 6) ≡ 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8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 baseline="30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+ 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28</a:t>
            </a:r>
            <a:r>
              <a:rPr lang="en-GB" sz="12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 +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24   </a:t>
            </a:r>
            <a:endParaRPr sz="12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480" name="Google Shape;480;p23"/>
          <p:cNvSpPr txBox="1"/>
          <p:nvPr/>
        </p:nvSpPr>
        <p:spPr>
          <a:xfrm>
            <a:off x="468009" y="8423130"/>
            <a:ext cx="4038900" cy="29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9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 baseline="30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+ 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30</a:t>
            </a:r>
            <a:r>
              <a:rPr lang="en-GB" sz="12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 +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25 − (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8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 baseline="30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+ 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28</a:t>
            </a:r>
            <a:r>
              <a:rPr lang="en-GB" sz="12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 +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24) ≡ 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 baseline="30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+ 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12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 +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1   </a:t>
            </a:r>
            <a:endParaRPr sz="12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481" name="Google Shape;481;p23"/>
          <p:cNvSpPr txBox="1"/>
          <p:nvPr/>
        </p:nvSpPr>
        <p:spPr>
          <a:xfrm>
            <a:off x="4606243" y="8083854"/>
            <a:ext cx="2483700" cy="29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+ 3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(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+ 2)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≡ 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+ 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1   </a:t>
            </a:r>
            <a:endParaRPr sz="12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482" name="Google Shape;482;p23"/>
          <p:cNvSpPr txBox="1"/>
          <p:nvPr/>
        </p:nvSpPr>
        <p:spPr>
          <a:xfrm>
            <a:off x="4606243" y="8397877"/>
            <a:ext cx="1981800" cy="29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(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+ 1)</a:t>
            </a:r>
            <a:r>
              <a:rPr lang="en-GB" sz="1200" baseline="30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≡ 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 baseline="30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+ 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12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 + 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1   </a:t>
            </a:r>
            <a:endParaRPr sz="12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483" name="Google Shape;483;p23"/>
          <p:cNvSpPr txBox="1"/>
          <p:nvPr/>
        </p:nvSpPr>
        <p:spPr>
          <a:xfrm>
            <a:off x="4095975" y="8203369"/>
            <a:ext cx="282600" cy="29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or</a:t>
            </a:r>
            <a:r>
              <a:rPr lang="en-GB" sz="1200">
                <a:solidFill>
                  <a:srgbClr val="222222"/>
                </a:solidFill>
                <a:latin typeface="Kalam"/>
                <a:ea typeface="Kalam"/>
                <a:cs typeface="Kalam"/>
                <a:sym typeface="Kalam"/>
              </a:rPr>
              <a:t>   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ransition/>
  <p:timing/>
</p:sld>
</file>

<file path=ppt/tags/tag1.xml><?xml version="1.0" encoding="utf-8"?>
<p:tagLst xmlns:p="http://schemas.openxmlformats.org/presentationml/2006/main">
  <p:tag name="AS_NET" val="3.1.32"/>
  <p:tag name="AS_OS" val="Microsoft Windows NT 6.2.9200.0"/>
  <p:tag name="AS_RELEASE_DATE" val="2024.01.14"/>
  <p:tag name="AS_TITLE" val="Aspose.Slides for .NET Standard 2.0"/>
  <p:tag name="AS_VERSION" val="24.1"/>
</p:tagLst>
</file>

<file path=ppt/theme/theme1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r="http://schemas.openxmlformats.org/officeDocument/2006/relationships" xmlns:a="http://schemas.openxmlformats.org/drawingml/2006/main" name="simple-light-2 override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:vt="http://schemas.openxmlformats.org/officeDocument/2006/docPropsVTypes" xmlns="http://schemas.openxmlformats.org/officeDocument/2006/extended-properties">
  <Company/>
  <Paragraphs>133</Paragraphs>
  <Slides>4</Slides>
  <Notes>4</Notes>
  <TotalTime>0</TotalTime>
  <HiddenSlides>0</HiddenSlides>
  <MMClips>0</MMClips>
  <ScaleCrop>0</ScaleCrop>
  <HeadingPairs>
    <vt:vector baseType="variant" size="6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baseType="lpstr" size="13">
      <vt:lpstr>Arial</vt:lpstr>
      <vt:lpstr>Lexend</vt:lpstr>
      <vt:lpstr>Kalam</vt:lpstr>
      <vt:lpstr>Lexend Medium</vt:lpstr>
      <vt:lpstr>Lexend Light</vt:lpstr>
      <vt:lpstr>Calibri</vt:lpstr>
      <vt:lpstr>Times</vt:lpstr>
      <vt:lpstr>Times New Roman</vt:lpstr>
      <vt:lpstr>simple-light-2</vt:lpstr>
      <vt:lpstr>Problem solving with expressions and formulae</vt:lpstr>
      <vt:lpstr>PowerPoint Presentation</vt:lpstr>
      <vt:lpstr>PowerPoint Presentation</vt:lpstr>
      <vt:lpstr>PowerPoint Presentation</vt:lpstr>
    </vt:vector>
  </TitlesOfParts>
  <LinksUpToDate>0</LinksUpToDate>
  <SharedDoc>0</SharedDoc>
  <HyperlinksChanged>0</HyperlinksChanged>
  <Application>Aspose.Slides for .NET</Application>
  <AppVersion>24.0100</AppVersion>
</Properties>
</file>

<file path=docProps/core.xml><?xml version="1.0" encoding="utf-8"?>
<cp:coreProperties xmlns:dc="http://purl.org/dc/elements/1.1/" xmlns:dcterms="http://purl.org/dc/terms/" xmlns:dcmitype="http://purl.org/dc/dcmitype/" xmlns:xsi="http://www.w3.org/2001/XMLSchema-instance" xmlns:cp="http://schemas.openxmlformats.org/package/2006/metadata/core-properties">
  <cp:revision>1</cp:revision>
  <cp:lastPrinted>2024-02-06T11:44:03.403</cp:lastPrinted>
  <dcterms:created xsi:type="dcterms:W3CDTF">2024-02-06T11:44:03Z</dcterms:created>
  <dcterms:modified xsi:type="dcterms:W3CDTF">2024-02-06T11:44:14Z</dcterms:modified>
</cp:coreProperties>
</file>