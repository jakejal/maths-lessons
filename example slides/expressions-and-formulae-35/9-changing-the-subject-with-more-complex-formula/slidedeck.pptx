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69" r:id="rId1"/>
    <p:sldMasterId id="2147483770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2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7" name="Shape 1487"/>
        <p:cNvGrpSpPr/>
        <p:nvPr/>
      </p:nvGrpSpPr>
      <p:grpSpPr>
        <a:xfrm>
          <a:off x="0" y="0"/>
          <a:ext cx="0" cy="0"/>
        </a:xfrm>
      </p:grpSpPr>
      <p:sp>
        <p:nvSpPr>
          <p:cNvPr id="1488" name="Google Shape;1488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g1ef8e372046_0_7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1ef8e372046_0_7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g1ef8e372046_0_15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ef8e372046_0_15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g1ef8e372046_0_15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1ef8e372046_0_15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8" name="Shape 1538"/>
        <p:cNvGrpSpPr/>
        <p:nvPr/>
      </p:nvGrpSpPr>
      <p:grpSpPr>
        <a:xfrm>
          <a:off x="0" y="0"/>
          <a:ext cx="0" cy="0"/>
        </a:xfrm>
      </p:grpSpPr>
      <p:sp>
        <p:nvSpPr>
          <p:cNvPr id="1539" name="Google Shape;1539;g1ef8e372046_0_23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1ef8e372046_0_23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6" name="Shape 1556"/>
        <p:cNvGrpSpPr/>
        <p:nvPr/>
      </p:nvGrpSpPr>
      <p:grpSpPr>
        <a:xfrm>
          <a:off x="0" y="0"/>
          <a:ext cx="0" cy="0"/>
        </a:xfrm>
      </p:grpSpPr>
      <p:sp>
        <p:nvSpPr>
          <p:cNvPr id="1557" name="Google Shape;1557;g2b2b4ec1c6b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b2b4ec1c6b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7" name="Shape 1577"/>
        <p:cNvGrpSpPr/>
        <p:nvPr/>
      </p:nvGrpSpPr>
      <p:grpSpPr>
        <a:xfrm>
          <a:off x="0" y="0"/>
          <a:ext cx="0" cy="0"/>
        </a:xfrm>
      </p:grpSpPr>
      <p:sp>
        <p:nvSpPr>
          <p:cNvPr id="1578" name="Google Shape;1578;g2b2b4ec1c6b_0_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b2b4ec1c6b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3" name="Shape 1593"/>
        <p:cNvGrpSpPr/>
        <p:nvPr/>
      </p:nvGrpSpPr>
      <p:grpSpPr>
        <a:xfrm>
          <a:off x="0" y="0"/>
          <a:ext cx="0" cy="0"/>
        </a:xfrm>
      </p:grpSpPr>
      <p:sp>
        <p:nvSpPr>
          <p:cNvPr id="1594" name="Google Shape;1594;g2b2b4ec1c6b_0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b2b4ec1c6b_0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7" name="Shape 1607"/>
        <p:cNvGrpSpPr/>
        <p:nvPr/>
      </p:nvGrpSpPr>
      <p:grpSpPr>
        <a:xfrm>
          <a:off x="0" y="0"/>
          <a:ext cx="0" cy="0"/>
        </a:xfrm>
      </p:grpSpPr>
      <p:sp>
        <p:nvSpPr>
          <p:cNvPr id="1608" name="Google Shape;1608;g2b2b4ec1c6b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2b2b4ec1c6b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6" name="Shape 1626"/>
        <p:cNvGrpSpPr/>
        <p:nvPr/>
      </p:nvGrpSpPr>
      <p:grpSpPr>
        <a:xfrm>
          <a:off x="0" y="0"/>
          <a:ext cx="0" cy="0"/>
        </a:xfrm>
      </p:grpSpPr>
      <p:sp>
        <p:nvSpPr>
          <p:cNvPr id="1627" name="Google Shape;1627;g1ef8e372046_0_23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1ef8e372046_0_23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1" name="Shape 1641"/>
        <p:cNvGrpSpPr/>
        <p:nvPr/>
      </p:nvGrpSpPr>
      <p:grpSpPr>
        <a:xfrm>
          <a:off x="0" y="0"/>
          <a:ext cx="0" cy="0"/>
        </a:xfrm>
      </p:grpSpPr>
      <p:sp>
        <p:nvSpPr>
          <p:cNvPr id="1642" name="Google Shape;1642;g2b2b4ec1c6b_0_1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2b2b4ec1c6b_0_1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9" name="Shape 1659"/>
        <p:cNvGrpSpPr/>
        <p:nvPr/>
      </p:nvGrpSpPr>
      <p:grpSpPr>
        <a:xfrm>
          <a:off x="0" y="0"/>
          <a:ext cx="0" cy="0"/>
        </a:xfrm>
      </p:grpSpPr>
      <p:sp>
        <p:nvSpPr>
          <p:cNvPr id="1660" name="Google Shape;1660;g2b2b4ec1c6b_0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2b2b4ec1c6b_0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0" name="Shape 1670"/>
        <p:cNvGrpSpPr/>
        <p:nvPr/>
      </p:nvGrpSpPr>
      <p:grpSpPr>
        <a:xfrm>
          <a:off x="0" y="0"/>
          <a:ext cx="0" cy="0"/>
        </a:xfrm>
      </p:grpSpPr>
      <p:sp>
        <p:nvSpPr>
          <p:cNvPr id="1671" name="Google Shape;1671;g2b2b4ec1c6b_1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2b2b4ec1c6b_1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1" name="Shape 1691"/>
        <p:cNvGrpSpPr/>
        <p:nvPr/>
      </p:nvGrpSpPr>
      <p:grpSpPr>
        <a:xfrm>
          <a:off x="0" y="0"/>
          <a:ext cx="0" cy="0"/>
        </a:xfrm>
      </p:grpSpPr>
      <p:sp>
        <p:nvSpPr>
          <p:cNvPr id="1692" name="Google Shape;1692;g2b2b4ec1c6b_1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2b2b4ec1c6b_1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3" name="Shape 1703"/>
        <p:cNvGrpSpPr/>
        <p:nvPr/>
      </p:nvGrpSpPr>
      <p:grpSpPr>
        <a:xfrm>
          <a:off x="0" y="0"/>
          <a:ext cx="0" cy="0"/>
        </a:xfrm>
      </p:grpSpPr>
      <p:sp>
        <p:nvSpPr>
          <p:cNvPr id="1704" name="Google Shape;1704;g2b2b4ec1c6b_0_2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b2b4ec1c6b_0_2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3" name="Shape 1723"/>
        <p:cNvGrpSpPr/>
        <p:nvPr/>
      </p:nvGrpSpPr>
      <p:grpSpPr>
        <a:xfrm>
          <a:off x="0" y="0"/>
          <a:ext cx="0" cy="0"/>
        </a:xfrm>
      </p:grpSpPr>
      <p:sp>
        <p:nvSpPr>
          <p:cNvPr id="1724" name="Google Shape;1724;g2b2b4ec1c6b_1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b2b4ec1c6b_1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3" name="Shape 1743"/>
        <p:cNvGrpSpPr/>
        <p:nvPr/>
      </p:nvGrpSpPr>
      <p:grpSpPr>
        <a:xfrm>
          <a:off x="0" y="0"/>
          <a:ext cx="0" cy="0"/>
        </a:xfrm>
      </p:grpSpPr>
      <p:sp>
        <p:nvSpPr>
          <p:cNvPr id="1744" name="Google Shape;1744;g2b2b4ec1c6b_1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b2b4ec1c6b_1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1" name="Shape 1761"/>
        <p:cNvGrpSpPr/>
        <p:nvPr/>
      </p:nvGrpSpPr>
      <p:grpSpPr>
        <a:xfrm>
          <a:off x="0" y="0"/>
          <a:ext cx="0" cy="0"/>
        </a:xfrm>
      </p:grpSpPr>
      <p:sp>
        <p:nvSpPr>
          <p:cNvPr id="1762" name="Google Shape;1762;g2b2b4ec1c6b_1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b2b4ec1c6b_1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5" name="Shape 1785"/>
        <p:cNvGrpSpPr/>
        <p:nvPr/>
      </p:nvGrpSpPr>
      <p:grpSpPr>
        <a:xfrm>
          <a:off x="0" y="0"/>
          <a:ext cx="0" cy="0"/>
        </a:xfrm>
      </p:grpSpPr>
      <p:sp>
        <p:nvSpPr>
          <p:cNvPr id="1786" name="Google Shape;1786;g2b2b4ec1c6b_1_1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b2b4ec1c6b_1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8" name="Shape 1808"/>
        <p:cNvGrpSpPr/>
        <p:nvPr/>
      </p:nvGrpSpPr>
      <p:grpSpPr>
        <a:xfrm>
          <a:off x="0" y="0"/>
          <a:ext cx="0" cy="0"/>
        </a:xfrm>
      </p:grpSpPr>
      <p:sp>
        <p:nvSpPr>
          <p:cNvPr id="1809" name="Google Shape;1809;g2b2b4ec1c6b_1_1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2b2b4ec1c6b_1_1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3" name="Shape 1823"/>
        <p:cNvGrpSpPr/>
        <p:nvPr/>
      </p:nvGrpSpPr>
      <p:grpSpPr>
        <a:xfrm>
          <a:off x="0" y="0"/>
          <a:ext cx="0" cy="0"/>
        </a:xfrm>
      </p:grpSpPr>
      <p:sp>
        <p:nvSpPr>
          <p:cNvPr id="1824" name="Google Shape;1824;g2b2b4ec1c6b_1_2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b2b4ec1c6b_1_2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0" name="Shape 1850"/>
        <p:cNvGrpSpPr/>
        <p:nvPr/>
      </p:nvGrpSpPr>
      <p:grpSpPr>
        <a:xfrm>
          <a:off x="0" y="0"/>
          <a:ext cx="0" cy="0"/>
        </a:xfrm>
      </p:grpSpPr>
      <p:sp>
        <p:nvSpPr>
          <p:cNvPr id="1851" name="Google Shape;1851;g2b2b4ec1c6b_1_2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b2b4ec1c6b_1_2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8" name="Shape 1858"/>
        <p:cNvGrpSpPr/>
        <p:nvPr/>
      </p:nvGrpSpPr>
      <p:grpSpPr>
        <a:xfrm>
          <a:off x="0" y="0"/>
          <a:ext cx="0" cy="0"/>
        </a:xfrm>
      </p:grpSpPr>
      <p:sp>
        <p:nvSpPr>
          <p:cNvPr id="1859" name="Google Shape;1859;g2b2b4ec1c6b_1_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b2b4ec1c6b_1_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7" name="Shape 1867"/>
        <p:cNvGrpSpPr/>
        <p:nvPr/>
      </p:nvGrpSpPr>
      <p:grpSpPr>
        <a:xfrm>
          <a:off x="0" y="0"/>
          <a:ext cx="0" cy="0"/>
        </a:xfrm>
      </p:grpSpPr>
      <p:sp>
        <p:nvSpPr>
          <p:cNvPr id="1868" name="Google Shape;1868;g2b2b4ec1c6b_1_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b2b4ec1c6b_1_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1" name="Shape 1881"/>
        <p:cNvGrpSpPr/>
        <p:nvPr/>
      </p:nvGrpSpPr>
      <p:grpSpPr>
        <a:xfrm>
          <a:off x="0" y="0"/>
          <a:ext cx="0" cy="0"/>
        </a:xfrm>
      </p:grpSpPr>
      <p:sp>
        <p:nvSpPr>
          <p:cNvPr id="1882" name="Google Shape;1882;g2b2b4ec1c6b_1_2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2b2b4ec1c6b_1_2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9" name="Shape 1899"/>
        <p:cNvGrpSpPr/>
        <p:nvPr/>
      </p:nvGrpSpPr>
      <p:grpSpPr>
        <a:xfrm>
          <a:off x="0" y="0"/>
          <a:ext cx="0" cy="0"/>
        </a:xfrm>
      </p:grpSpPr>
      <p:sp>
        <p:nvSpPr>
          <p:cNvPr id="1900" name="Google Shape;1900;g2b2b4ec1c6b_1_3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b2b4ec1c6b_1_3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0" name="Shape 1920"/>
        <p:cNvGrpSpPr/>
        <p:nvPr/>
      </p:nvGrpSpPr>
      <p:grpSpPr>
        <a:xfrm>
          <a:off x="0" y="0"/>
          <a:ext cx="0" cy="0"/>
        </a:xfrm>
      </p:grpSpPr>
      <p:sp>
        <p:nvSpPr>
          <p:cNvPr id="1921" name="Google Shape;1921;g2b2b4ec1c6b_1_3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b2b4ec1c6b_1_3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6" name="Shape 1936"/>
        <p:cNvGrpSpPr/>
        <p:nvPr/>
      </p:nvGrpSpPr>
      <p:grpSpPr>
        <a:xfrm>
          <a:off x="0" y="0"/>
          <a:ext cx="0" cy="0"/>
        </a:xfrm>
      </p:grpSpPr>
      <p:sp>
        <p:nvSpPr>
          <p:cNvPr id="1937" name="Google Shape;1937;g2b2b4ec1c6b_1_3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b2b4ec1c6b_1_3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0" name="Shape 1950"/>
        <p:cNvGrpSpPr/>
        <p:nvPr/>
      </p:nvGrpSpPr>
      <p:grpSpPr>
        <a:xfrm>
          <a:off x="0" y="0"/>
          <a:ext cx="0" cy="0"/>
        </a:xfrm>
      </p:grpSpPr>
      <p:sp>
        <p:nvSpPr>
          <p:cNvPr id="1951" name="Google Shape;1951;g2b2b4ec1c6b_1_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2b2b4ec1c6b_1_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1" name="Shape 1971"/>
        <p:cNvGrpSpPr/>
        <p:nvPr/>
      </p:nvGrpSpPr>
      <p:grpSpPr>
        <a:xfrm>
          <a:off x="0" y="0"/>
          <a:ext cx="0" cy="0"/>
        </a:xfrm>
      </p:grpSpPr>
      <p:sp>
        <p:nvSpPr>
          <p:cNvPr id="1972" name="Google Shape;1972;g2b2b4ec1c6b_1_4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b2b4ec1c6b_1_4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9" name="Shape 1989"/>
        <p:cNvGrpSpPr/>
        <p:nvPr/>
      </p:nvGrpSpPr>
      <p:grpSpPr>
        <a:xfrm>
          <a:off x="0" y="0"/>
          <a:ext cx="0" cy="0"/>
        </a:xfrm>
      </p:grpSpPr>
      <p:sp>
        <p:nvSpPr>
          <p:cNvPr id="1990" name="Google Shape;1990;g2b2b4ec1c6b_1_4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b2b4ec1c6b_1_4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4" name="Shape 2004"/>
        <p:cNvGrpSpPr/>
        <p:nvPr/>
      </p:nvGrpSpPr>
      <p:grpSpPr>
        <a:xfrm>
          <a:off x="0" y="0"/>
          <a:ext cx="0" cy="0"/>
        </a:xfrm>
      </p:grpSpPr>
      <p:sp>
        <p:nvSpPr>
          <p:cNvPr id="2005" name="Google Shape;2005;g2b2b4ec1c6b_1_4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2b2b4ec1c6b_1_4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5" name="Shape 2035"/>
        <p:cNvGrpSpPr/>
        <p:nvPr/>
      </p:nvGrpSpPr>
      <p:grpSpPr>
        <a:xfrm>
          <a:off x="0" y="0"/>
          <a:ext cx="0" cy="0"/>
        </a:xfrm>
      </p:grpSpPr>
      <p:sp>
        <p:nvSpPr>
          <p:cNvPr id="2036" name="Google Shape;2036;g2b2b4ec1c6b_1_4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2b2b4ec1c6b_1_4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2" name="Shape 2052"/>
        <p:cNvGrpSpPr/>
        <p:nvPr/>
      </p:nvGrpSpPr>
      <p:grpSpPr>
        <a:xfrm>
          <a:off x="0" y="0"/>
          <a:ext cx="0" cy="0"/>
        </a:xfrm>
      </p:grpSpPr>
      <p:sp>
        <p:nvSpPr>
          <p:cNvPr id="2053" name="Google Shape;2053;g2b2b4ec1c6b_1_5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2b2b4ec1c6b_1_5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7" name="Shape 2077"/>
        <p:cNvGrpSpPr/>
        <p:nvPr/>
      </p:nvGrpSpPr>
      <p:grpSpPr>
        <a:xfrm>
          <a:off x="0" y="0"/>
          <a:ext cx="0" cy="0"/>
        </a:xfrm>
      </p:grpSpPr>
      <p:sp>
        <p:nvSpPr>
          <p:cNvPr id="2078" name="Google Shape;2078;g2b2b4ec1c6b_1_5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2b2b4ec1c6b_1_5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4" name="Shape 2094"/>
        <p:cNvGrpSpPr/>
        <p:nvPr/>
      </p:nvGrpSpPr>
      <p:grpSpPr>
        <a:xfrm>
          <a:off x="0" y="0"/>
          <a:ext cx="0" cy="0"/>
        </a:xfrm>
      </p:grpSpPr>
      <p:sp>
        <p:nvSpPr>
          <p:cNvPr id="2095" name="Google Shape;2095;g2b2b4ec1c6b_1_5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2b2b4ec1c6b_1_5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8" name="Shape 2118"/>
        <p:cNvGrpSpPr/>
        <p:nvPr/>
      </p:nvGrpSpPr>
      <p:grpSpPr>
        <a:xfrm>
          <a:off x="0" y="0"/>
          <a:ext cx="0" cy="0"/>
        </a:xfrm>
      </p:grpSpPr>
      <p:sp>
        <p:nvSpPr>
          <p:cNvPr id="2119" name="Google Shape;2119;g2b2b4ec1c6b_1_6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2b2b4ec1c6b_1_6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7" name="Shape 2137"/>
        <p:cNvGrpSpPr/>
        <p:nvPr/>
      </p:nvGrpSpPr>
      <p:grpSpPr>
        <a:xfrm>
          <a:off x="0" y="0"/>
          <a:ext cx="0" cy="0"/>
        </a:xfrm>
      </p:grpSpPr>
      <p:sp>
        <p:nvSpPr>
          <p:cNvPr id="2138" name="Google Shape;2138;g2b2b4ec1c6b_1_5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2b2b4ec1c6b_1_5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7" name="Shape 2157"/>
        <p:cNvGrpSpPr/>
        <p:nvPr/>
      </p:nvGrpSpPr>
      <p:grpSpPr>
        <a:xfrm>
          <a:off x="0" y="0"/>
          <a:ext cx="0" cy="0"/>
        </a:xfrm>
      </p:grpSpPr>
      <p:sp>
        <p:nvSpPr>
          <p:cNvPr id="2158" name="Google Shape;2158;g2b2b4ec1c6b_1_6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2b2b4ec1c6b_1_6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5" name="Shape 2175"/>
        <p:cNvGrpSpPr/>
        <p:nvPr/>
      </p:nvGrpSpPr>
      <p:grpSpPr>
        <a:xfrm>
          <a:off x="0" y="0"/>
          <a:ext cx="0" cy="0"/>
        </a:xfrm>
      </p:grpSpPr>
      <p:sp>
        <p:nvSpPr>
          <p:cNvPr id="2176" name="Google Shape;2176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4" name="Shape 2184"/>
        <p:cNvGrpSpPr/>
        <p:nvPr/>
      </p:nvGrpSpPr>
      <p:grpSpPr>
        <a:xfrm>
          <a:off x="0" y="0"/>
          <a:ext cx="0" cy="0"/>
        </a:xfrm>
      </p:grpSpPr>
      <p:sp>
        <p:nvSpPr>
          <p:cNvPr id="2185" name="Google Shape;218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pic>
        <p:nvPicPr>
          <p:cNvPr id="747" name="Google Shape;747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pic>
        <p:nvPicPr>
          <p:cNvPr id="755" name="Google Shape;755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pic>
        <p:nvPicPr>
          <p:cNvPr id="763" name="Google Shape;763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pic>
        <p:nvPicPr>
          <p:cNvPr id="771" name="Google Shape;771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pic>
        <p:nvPicPr>
          <p:cNvPr id="782" name="Google Shape;782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pic>
        <p:nvPicPr>
          <p:cNvPr id="801" name="Google Shape;801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pic>
        <p:nvPicPr>
          <p:cNvPr id="809" name="Google Shape;809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pic>
        <p:nvPicPr>
          <p:cNvPr id="820" name="Google Shape;820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p7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44" name="Google Shape;84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pic>
        <p:nvPicPr>
          <p:cNvPr id="921" name="Google Shape;921;p8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5" name="Google Shape;945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pic>
        <p:nvPicPr>
          <p:cNvPr id="950" name="Google Shape;950;p8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2" name="Google Shape;95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pic>
        <p:nvPicPr>
          <p:cNvPr id="957" name="Google Shape;957;p8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9" name="Google Shape;95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pic>
        <p:nvPicPr>
          <p:cNvPr id="964" name="Google Shape;96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6" name="Google Shape;96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8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8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0" name="Google Shape;1000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3" name="Google Shape;1013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pic>
        <p:nvPicPr>
          <p:cNvPr id="1046" name="Google Shape;1046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pic>
        <p:nvPicPr>
          <p:cNvPr id="1069" name="Google Shape;1069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pic>
        <p:nvPicPr>
          <p:cNvPr id="1092" name="Google Shape;1092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pic>
        <p:nvPicPr>
          <p:cNvPr id="1134" name="Google Shape;1134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pic>
        <p:nvPicPr>
          <p:cNvPr id="1153" name="Google Shape;1153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pic>
        <p:nvPicPr>
          <p:cNvPr id="1172" name="Google Shape;1172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pic>
        <p:nvPicPr>
          <p:cNvPr id="1214" name="Google Shape;1214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pic>
        <p:nvPicPr>
          <p:cNvPr id="1237" name="Google Shape;1237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pic>
        <p:nvPicPr>
          <p:cNvPr id="1260" name="Google Shape;1260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0" name="Google Shape;1290;p10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1" name="Google Shape;1291;p10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pic>
        <p:nvPicPr>
          <p:cNvPr id="1302" name="Google Shape;1302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09" name="Google Shape;1309;p10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0" name="Google Shape;1310;p10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pic>
        <p:nvPicPr>
          <p:cNvPr id="1321" name="Google Shape;1321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8" name="Google Shape;1328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29" name="Google Shape;1329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pic>
        <p:nvPicPr>
          <p:cNvPr id="1340" name="Google Shape;1340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7" name="Google Shape;1347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8" name="Google Shape;1348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1" name="Google Shape;1361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pic>
        <p:nvPicPr>
          <p:cNvPr id="1366" name="Google Shape;1366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8" name="Google Shape;1368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pic>
        <p:nvPicPr>
          <p:cNvPr id="1373" name="Google Shape;1373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5" name="Google Shape;137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pic>
        <p:nvPicPr>
          <p:cNvPr id="1380" name="Google Shape;1380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2" name="Google Shape;1382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9" name="Google Shape;1389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3" name="Google Shape;1393;p10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7" name="Google Shape;1397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9" name="Google Shape;1399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1" name="Google Shape;1401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9" name="Google Shape;1409;p1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7" name="Google Shape;1417;p11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22" name="Google Shape;1422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5" name="Google Shape;1425;p1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1" name="Google Shape;1431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3" name="Google Shape;1433;p11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1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p1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2" name="Google Shape;1482;p12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3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5" name="Google Shape;1485;p123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23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slideLayout" Target="../slideLayouts/slideLayout121.xml" /><Relationship Id="rId62" Type="http://schemas.openxmlformats.org/officeDocument/2006/relationships/image" Target="../media/image42.png" /><Relationship Id="rId63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3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51.png" /><Relationship Id="rId7" Type="http://schemas.openxmlformats.org/officeDocument/2006/relationships/image" Target="../media/image52.png" /><Relationship Id="rId8" Type="http://schemas.openxmlformats.org/officeDocument/2006/relationships/image" Target="../media/image53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10" Type="http://schemas.openxmlformats.org/officeDocument/2006/relationships/image" Target="../media/image68.png" /><Relationship Id="rId11" Type="http://schemas.openxmlformats.org/officeDocument/2006/relationships/image" Target="../media/image69.png" /><Relationship Id="rId12" Type="http://schemas.openxmlformats.org/officeDocument/2006/relationships/image" Target="../media/image70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60.png" /><Relationship Id="rId4" Type="http://schemas.openxmlformats.org/officeDocument/2006/relationships/image" Target="../media/image62.png" /><Relationship Id="rId5" Type="http://schemas.openxmlformats.org/officeDocument/2006/relationships/image" Target="../media/image63.png" /><Relationship Id="rId6" Type="http://schemas.openxmlformats.org/officeDocument/2006/relationships/image" Target="../media/image64.png" /><Relationship Id="rId7" Type="http://schemas.openxmlformats.org/officeDocument/2006/relationships/image" Target="../media/image65.png" /><Relationship Id="rId8" Type="http://schemas.openxmlformats.org/officeDocument/2006/relationships/image" Target="../media/image66.png" /><Relationship Id="rId9" Type="http://schemas.openxmlformats.org/officeDocument/2006/relationships/image" Target="../media/image6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60.png" /><Relationship Id="rId4" Type="http://schemas.openxmlformats.org/officeDocument/2006/relationships/image" Target="../media/image71.png" /><Relationship Id="rId5" Type="http://schemas.openxmlformats.org/officeDocument/2006/relationships/image" Target="../media/image72.png" /><Relationship Id="rId6" Type="http://schemas.openxmlformats.org/officeDocument/2006/relationships/image" Target="../media/image67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9.xml" /><Relationship Id="rId10" Type="http://schemas.openxmlformats.org/officeDocument/2006/relationships/image" Target="../media/image79.png" /><Relationship Id="rId11" Type="http://schemas.openxmlformats.org/officeDocument/2006/relationships/image" Target="../media/image80.png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1.png" /><Relationship Id="rId4" Type="http://schemas.openxmlformats.org/officeDocument/2006/relationships/image" Target="../media/image73.png" /><Relationship Id="rId5" Type="http://schemas.openxmlformats.org/officeDocument/2006/relationships/image" Target="../media/image74.png" /><Relationship Id="rId6" Type="http://schemas.openxmlformats.org/officeDocument/2006/relationships/image" Target="../media/image75.png" /><Relationship Id="rId7" Type="http://schemas.openxmlformats.org/officeDocument/2006/relationships/image" Target="../media/image76.png" /><Relationship Id="rId8" Type="http://schemas.openxmlformats.org/officeDocument/2006/relationships/image" Target="../media/image77.png" /><Relationship Id="rId9" Type="http://schemas.openxmlformats.org/officeDocument/2006/relationships/image" Target="../media/image78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81.png" /><Relationship Id="rId4" Type="http://schemas.openxmlformats.org/officeDocument/2006/relationships/image" Target="../media/image82.png" /><Relationship Id="rId5" Type="http://schemas.openxmlformats.org/officeDocument/2006/relationships/image" Target="../media/image83.png" /><Relationship Id="rId6" Type="http://schemas.openxmlformats.org/officeDocument/2006/relationships/image" Target="../media/image84.png" /><Relationship Id="rId7" Type="http://schemas.openxmlformats.org/officeDocument/2006/relationships/image" Target="../media/image85.png" /><Relationship Id="rId8" Type="http://schemas.openxmlformats.org/officeDocument/2006/relationships/image" Target="../media/image86.png" /><Relationship Id="rId9" Type="http://schemas.openxmlformats.org/officeDocument/2006/relationships/image" Target="../media/image87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88.png" /><Relationship Id="rId4" Type="http://schemas.openxmlformats.org/officeDocument/2006/relationships/image" Target="../media/image8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Relationship Id="rId6" Type="http://schemas.openxmlformats.org/officeDocument/2006/relationships/image" Target="../media/image84.png" /><Relationship Id="rId7" Type="http://schemas.openxmlformats.org/officeDocument/2006/relationships/image" Target="../media/image5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93.png" /><Relationship Id="rId4" Type="http://schemas.openxmlformats.org/officeDocument/2006/relationships/image" Target="../media/image94.png" /><Relationship Id="rId5" Type="http://schemas.openxmlformats.org/officeDocument/2006/relationships/image" Target="../media/image95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88.png" /><Relationship Id="rId4" Type="http://schemas.openxmlformats.org/officeDocument/2006/relationships/image" Target="../media/image89.png" /><Relationship Id="rId5" Type="http://schemas.openxmlformats.org/officeDocument/2006/relationships/image" Target="../media/image96.png" /><Relationship Id="rId6" Type="http://schemas.openxmlformats.org/officeDocument/2006/relationships/image" Target="../media/image97.png" /><Relationship Id="rId7" Type="http://schemas.openxmlformats.org/officeDocument/2006/relationships/image" Target="../media/image98.png" /><Relationship Id="rId8" Type="http://schemas.openxmlformats.org/officeDocument/2006/relationships/image" Target="../media/image99.png" /><Relationship Id="rId9" Type="http://schemas.openxmlformats.org/officeDocument/2006/relationships/image" Target="../media/image10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Relationship Id="rId6" Type="http://schemas.openxmlformats.org/officeDocument/2006/relationships/image" Target="../media/image8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5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101.png" /><Relationship Id="rId4" Type="http://schemas.openxmlformats.org/officeDocument/2006/relationships/image" Target="../media/image102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7.png" /><Relationship Id="rId4" Type="http://schemas.openxmlformats.org/officeDocument/2006/relationships/image" Target="../media/image103.png" /><Relationship Id="rId5" Type="http://schemas.openxmlformats.org/officeDocument/2006/relationships/image" Target="../media/image92.png" /><Relationship Id="rId6" Type="http://schemas.openxmlformats.org/officeDocument/2006/relationships/image" Target="../media/image58.png" /><Relationship Id="rId7" Type="http://schemas.openxmlformats.org/officeDocument/2006/relationships/image" Target="../media/image104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7.png" /><Relationship Id="rId4" Type="http://schemas.openxmlformats.org/officeDocument/2006/relationships/image" Target="../media/image103.png" /><Relationship Id="rId5" Type="http://schemas.openxmlformats.org/officeDocument/2006/relationships/image" Target="../media/image92.png" /><Relationship Id="rId6" Type="http://schemas.openxmlformats.org/officeDocument/2006/relationships/image" Target="../media/image58.png" /><Relationship Id="rId7" Type="http://schemas.openxmlformats.org/officeDocument/2006/relationships/image" Target="../media/image104.png" /><Relationship Id="rId8" Type="http://schemas.openxmlformats.org/officeDocument/2006/relationships/image" Target="../media/image105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7.png" /><Relationship Id="rId4" Type="http://schemas.openxmlformats.org/officeDocument/2006/relationships/image" Target="../media/image92.png" /><Relationship Id="rId5" Type="http://schemas.openxmlformats.org/officeDocument/2006/relationships/image" Target="../media/image58.png" /><Relationship Id="rId6" Type="http://schemas.openxmlformats.org/officeDocument/2006/relationships/image" Target="../media/image105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106.png" /><Relationship Id="rId4" Type="http://schemas.openxmlformats.org/officeDocument/2006/relationships/image" Target="../media/image10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4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106.png" /><Relationship Id="rId4" Type="http://schemas.openxmlformats.org/officeDocument/2006/relationships/image" Target="../media/image107.png" /><Relationship Id="rId5" Type="http://schemas.openxmlformats.org/officeDocument/2006/relationships/image" Target="../media/image108.png" /><Relationship Id="rId6" Type="http://schemas.openxmlformats.org/officeDocument/2006/relationships/image" Target="../media/image109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110.png" /><Relationship Id="rId4" Type="http://schemas.openxmlformats.org/officeDocument/2006/relationships/image" Target="../media/image111.png" /><Relationship Id="rId5" Type="http://schemas.openxmlformats.org/officeDocument/2006/relationships/image" Target="../media/image112.png" /><Relationship Id="rId6" Type="http://schemas.openxmlformats.org/officeDocument/2006/relationships/image" Target="../media/image113.png" /><Relationship Id="rId7" Type="http://schemas.openxmlformats.org/officeDocument/2006/relationships/image" Target="../media/image83.png" /><Relationship Id="rId8" Type="http://schemas.openxmlformats.org/officeDocument/2006/relationships/image" Target="../media/image84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112.png" /><Relationship Id="rId4" Type="http://schemas.openxmlformats.org/officeDocument/2006/relationships/image" Target="../media/image113.png" /><Relationship Id="rId5" Type="http://schemas.openxmlformats.org/officeDocument/2006/relationships/image" Target="../media/image83.png" /><Relationship Id="rId6" Type="http://schemas.openxmlformats.org/officeDocument/2006/relationships/image" Target="../media/image8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112.png" /><Relationship Id="rId4" Type="http://schemas.openxmlformats.org/officeDocument/2006/relationships/image" Target="../media/image113.png" /><Relationship Id="rId5" Type="http://schemas.openxmlformats.org/officeDocument/2006/relationships/image" Target="../media/image83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114.png" /><Relationship Id="rId4" Type="http://schemas.openxmlformats.org/officeDocument/2006/relationships/image" Target="../media/image115.png" /><Relationship Id="rId5" Type="http://schemas.openxmlformats.org/officeDocument/2006/relationships/image" Target="../media/image83.png" /><Relationship Id="rId6" Type="http://schemas.openxmlformats.org/officeDocument/2006/relationships/image" Target="../media/image84.png" /><Relationship Id="rId7" Type="http://schemas.openxmlformats.org/officeDocument/2006/relationships/image" Target="../media/image116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0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110.png" /><Relationship Id="rId4" Type="http://schemas.openxmlformats.org/officeDocument/2006/relationships/image" Target="../media/image111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114.png" /><Relationship Id="rId4" Type="http://schemas.openxmlformats.org/officeDocument/2006/relationships/image" Target="../media/image83.png" /><Relationship Id="rId5" Type="http://schemas.openxmlformats.org/officeDocument/2006/relationships/image" Target="../media/image84.png" /><Relationship Id="rId6" Type="http://schemas.openxmlformats.org/officeDocument/2006/relationships/image" Target="../media/image116.png" /><Relationship Id="rId7" Type="http://schemas.openxmlformats.org/officeDocument/2006/relationships/image" Target="../media/image117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8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118.png" /><Relationship Id="rId4" Type="http://schemas.openxmlformats.org/officeDocument/2006/relationships/image" Target="../media/image119.png" /><Relationship Id="rId5" Type="http://schemas.openxmlformats.org/officeDocument/2006/relationships/image" Target="../media/image120.png" /><Relationship Id="rId6" Type="http://schemas.openxmlformats.org/officeDocument/2006/relationships/image" Target="../media/image121.png" /><Relationship Id="rId7" Type="http://schemas.openxmlformats.org/officeDocument/2006/relationships/image" Target="../media/image122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123.png" /><Relationship Id="rId4" Type="http://schemas.openxmlformats.org/officeDocument/2006/relationships/image" Target="../media/image124.png" /><Relationship Id="rId5" Type="http://schemas.openxmlformats.org/officeDocument/2006/relationships/image" Target="../media/image125.png" /><Relationship Id="rId6" Type="http://schemas.openxmlformats.org/officeDocument/2006/relationships/image" Target="../media/image126.png" /><Relationship Id="rId7" Type="http://schemas.openxmlformats.org/officeDocument/2006/relationships/image" Target="../media/image127.png" /><Relationship Id="rId8" Type="http://schemas.openxmlformats.org/officeDocument/2006/relationships/image" Target="../media/image128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10" Type="http://schemas.openxmlformats.org/officeDocument/2006/relationships/image" Target="../media/image134.png" /><Relationship Id="rId11" Type="http://schemas.openxmlformats.org/officeDocument/2006/relationships/image" Target="../media/image135.png" /><Relationship Id="rId12" Type="http://schemas.openxmlformats.org/officeDocument/2006/relationships/image" Target="../media/image136.png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119.png" /><Relationship Id="rId4" Type="http://schemas.openxmlformats.org/officeDocument/2006/relationships/image" Target="../media/image120.png" /><Relationship Id="rId5" Type="http://schemas.openxmlformats.org/officeDocument/2006/relationships/image" Target="../media/image129.png" /><Relationship Id="rId6" Type="http://schemas.openxmlformats.org/officeDocument/2006/relationships/image" Target="../media/image130.png" /><Relationship Id="rId7" Type="http://schemas.openxmlformats.org/officeDocument/2006/relationships/image" Target="../media/image131.png" /><Relationship Id="rId8" Type="http://schemas.openxmlformats.org/officeDocument/2006/relationships/image" Target="../media/image132.png" /><Relationship Id="rId9" Type="http://schemas.openxmlformats.org/officeDocument/2006/relationships/image" Target="../media/image133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2.xml" /><Relationship Id="rId10" Type="http://schemas.openxmlformats.org/officeDocument/2006/relationships/image" Target="../media/image141.png" /><Relationship Id="rId11" Type="http://schemas.openxmlformats.org/officeDocument/2006/relationships/image" Target="../media/image142.png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118.png" /><Relationship Id="rId4" Type="http://schemas.openxmlformats.org/officeDocument/2006/relationships/image" Target="../media/image121.png" /><Relationship Id="rId5" Type="http://schemas.openxmlformats.org/officeDocument/2006/relationships/image" Target="../media/image122.png" /><Relationship Id="rId6" Type="http://schemas.openxmlformats.org/officeDocument/2006/relationships/image" Target="../media/image137.png" /><Relationship Id="rId7" Type="http://schemas.openxmlformats.org/officeDocument/2006/relationships/image" Target="../media/image138.png" /><Relationship Id="rId8" Type="http://schemas.openxmlformats.org/officeDocument/2006/relationships/image" Target="../media/image139.png" /><Relationship Id="rId9" Type="http://schemas.openxmlformats.org/officeDocument/2006/relationships/image" Target="../media/image140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42.xml" /><Relationship Id="rId3" Type="http://schemas.openxmlformats.org/officeDocument/2006/relationships/image" Target="../media/image143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14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0" name="Shape 1490"/>
        <p:cNvGrpSpPr/>
        <p:nvPr/>
      </p:nvGrpSpPr>
      <p:grpSpPr>
        <a:xfrm>
          <a:off x="0" y="0"/>
          <a:ext cx="0" cy="0"/>
        </a:xfrm>
      </p:grpSpPr>
      <p:sp>
        <p:nvSpPr>
          <p:cNvPr id="1491" name="Google Shape;1491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sp>
        <p:nvSpPr>
          <p:cNvPr id="1492" name="Google Shape;1492;p12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p12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p12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apply an understanding of inverse operations to a complex formula in order to make a specific variable the subject.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p127"/>
          <p:cNvSpPr txBox="1"/>
          <p:nvPr>
            <p:ph type="subTitle" idx="1"/>
          </p:nvPr>
        </p:nvSpPr>
        <p:spPr>
          <a:xfrm>
            <a:off x="324000" y="2551372"/>
            <a:ext cx="6042300" cy="3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 example,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is the subject of this formula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8" name="Google Shape;1508;p127"/>
          <p:cNvSpPr txBox="1"/>
          <p:nvPr>
            <p:ph type="subTitle" idx="1"/>
          </p:nvPr>
        </p:nvSpPr>
        <p:spPr>
          <a:xfrm>
            <a:off x="324000" y="1092072"/>
            <a:ext cx="8496000" cy="9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subject of an equation/a formula is a variable that is expressed in terms of other variables. It should have an exponent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and a coefficient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9" name="Google Shape;1509;p127"/>
          <p:cNvSpPr txBox="1"/>
          <p:nvPr>
            <p:ph type="subTitle" idx="1"/>
          </p:nvPr>
        </p:nvSpPr>
        <p:spPr>
          <a:xfrm>
            <a:off x="324000" y="3172475"/>
            <a:ext cx="60423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but,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not the subject of this formula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10" name="Google Shape;1510;p127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906" y="3171575"/>
            <a:ext cx="1549157" cy="28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127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151" y="2521901"/>
            <a:ext cx="1656880" cy="37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p1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17" name="Google Shape;1517;p12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formulae</a:t>
            </a:r>
            <a:endParaRPr/>
          </a:p>
        </p:txBody>
      </p:sp>
      <p:sp>
        <p:nvSpPr>
          <p:cNvPr id="1518" name="Google Shape;1518;p12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pic>
        <p:nvPicPr>
          <p:cNvPr id="1519" name="Google Shape;1519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543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3" name="Shape 1523"/>
        <p:cNvGrpSpPr/>
        <p:nvPr/>
      </p:nvGrpSpPr>
      <p:grpSpPr>
        <a:xfrm>
          <a:off x="0" y="0"/>
          <a:ext cx="0" cy="0"/>
        </a:xfrm>
      </p:grpSpPr>
      <p:sp>
        <p:nvSpPr>
          <p:cNvPr id="1524" name="Google Shape;1524;p129"/>
          <p:cNvSpPr txBox="1"/>
          <p:nvPr>
            <p:ph type="body" idx="1"/>
          </p:nvPr>
        </p:nvSpPr>
        <p:spPr>
          <a:xfrm>
            <a:off x="324000" y="759300"/>
            <a:ext cx="7135200" cy="12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Rearranging is a key skill in mathematics. It helps us in a lot of situations.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 how we solve this equation.</a:t>
            </a:r>
            <a:endParaRPr sz="2000"/>
          </a:p>
        </p:txBody>
      </p:sp>
      <p:sp>
        <p:nvSpPr>
          <p:cNvPr id="1525" name="Google Shape;1525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26" name="Google Shape;1526;p129"/>
          <p:cNvSpPr txBox="1"/>
          <p:nvPr>
            <p:ph type="body" idx="1"/>
          </p:nvPr>
        </p:nvSpPr>
        <p:spPr>
          <a:xfrm>
            <a:off x="910568" y="2013025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129"/>
          <p:cNvSpPr txBox="1"/>
          <p:nvPr>
            <p:ph type="body" idx="1"/>
          </p:nvPr>
        </p:nvSpPr>
        <p:spPr>
          <a:xfrm>
            <a:off x="323982" y="2517293"/>
            <a:ext cx="2591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42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129"/>
          <p:cNvSpPr txBox="1"/>
          <p:nvPr>
            <p:ph type="body" idx="1"/>
          </p:nvPr>
        </p:nvSpPr>
        <p:spPr>
          <a:xfrm>
            <a:off x="1478495" y="3478524"/>
            <a:ext cx="1493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129"/>
          <p:cNvSpPr txBox="1"/>
          <p:nvPr>
            <p:ph type="body" idx="1"/>
          </p:nvPr>
        </p:nvSpPr>
        <p:spPr>
          <a:xfrm>
            <a:off x="1630901" y="4527618"/>
            <a:ext cx="777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129"/>
          <p:cNvSpPr txBox="1"/>
          <p:nvPr>
            <p:ph type="body" idx="1"/>
          </p:nvPr>
        </p:nvSpPr>
        <p:spPr>
          <a:xfrm>
            <a:off x="1466982" y="3007242"/>
            <a:ext cx="1650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42 − 12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1" name="Google Shape;1531;p129" descr="&lt;math xmlns=&quot;http://www.w3.org/1998/Math/MathML&quot; display=&quot;block&quot; data-is-equatio=&quot;1&quot; data-latex=&quot;5x\times\frac{1}{5}=30\times\frac{1}{5}&quot;&gt;&lt;mn&gt;5&lt;/mn&gt;&lt;mi&gt;x&lt;/mi&gt;&lt;mo&gt;×&lt;/mo&gt;&lt;mfrac&gt;&lt;mn&gt;1&lt;/mn&gt;&lt;mn&gt;5&lt;/mn&gt;&lt;/mfrac&gt;&lt;mo&gt;=&lt;/mo&gt;&lt;mn&gt;30&lt;/mn&gt;&lt;mo&gt;×&lt;/mo&gt;&lt;mfrac&gt;&lt;mn&gt;1&lt;/mn&gt;&lt;mn&gt;5&lt;/mn&gt;&lt;/mfrac&gt;&lt;/math&gt;" title="5 x times one fifth equals 30 times 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305" y="3933953"/>
            <a:ext cx="1838925" cy="5444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29"/>
          <p:cNvSpPr txBox="1"/>
          <p:nvPr>
            <p:ph type="body" idx="1"/>
          </p:nvPr>
        </p:nvSpPr>
        <p:spPr>
          <a:xfrm>
            <a:off x="3360500" y="2537728"/>
            <a:ext cx="54594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Same operation both sides to maintain equality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3" name="Google Shape;1533;p129"/>
          <p:cNvSpPr txBox="1"/>
          <p:nvPr>
            <p:ph type="body" idx="1"/>
          </p:nvPr>
        </p:nvSpPr>
        <p:spPr>
          <a:xfrm>
            <a:off x="3360500" y="3505300"/>
            <a:ext cx="4526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RHS simplified but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is not yet isolated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129"/>
          <p:cNvSpPr txBox="1"/>
          <p:nvPr>
            <p:ph type="body" idx="1"/>
          </p:nvPr>
        </p:nvSpPr>
        <p:spPr>
          <a:xfrm>
            <a:off x="3360497" y="2027343"/>
            <a:ext cx="34146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are trying to isolate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5" name="Google Shape;1535;p129"/>
          <p:cNvSpPr txBox="1"/>
          <p:nvPr>
            <p:ph type="body" idx="1"/>
          </p:nvPr>
        </p:nvSpPr>
        <p:spPr>
          <a:xfrm>
            <a:off x="3360500" y="3006423"/>
            <a:ext cx="38805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rearrangement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6" name="Google Shape;1536;p129"/>
          <p:cNvSpPr txBox="1"/>
          <p:nvPr>
            <p:ph type="body" idx="1"/>
          </p:nvPr>
        </p:nvSpPr>
        <p:spPr>
          <a:xfrm>
            <a:off x="3360500" y="4518925"/>
            <a:ext cx="2027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is now isolated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129"/>
          <p:cNvSpPr txBox="1"/>
          <p:nvPr>
            <p:ph type="body" idx="1"/>
          </p:nvPr>
        </p:nvSpPr>
        <p:spPr>
          <a:xfrm>
            <a:off x="3360500" y="4061725"/>
            <a:ext cx="4526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Multiply both sides by the reciprocal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p130"/>
          <p:cNvSpPr txBox="1"/>
          <p:nvPr>
            <p:ph type="body" idx="1"/>
          </p:nvPr>
        </p:nvSpPr>
        <p:spPr>
          <a:xfrm>
            <a:off x="324000" y="759300"/>
            <a:ext cx="7135200" cy="12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Rearranging is a key skill in mathematics. It helps us in a lot of situations.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 how we solve this equation.</a:t>
            </a:r>
            <a:endParaRPr sz="2000"/>
          </a:p>
        </p:txBody>
      </p:sp>
      <p:sp>
        <p:nvSpPr>
          <p:cNvPr id="1543" name="Google Shape;1543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44" name="Google Shape;1544;p130"/>
          <p:cNvSpPr txBox="1"/>
          <p:nvPr>
            <p:ph type="body" idx="1"/>
          </p:nvPr>
        </p:nvSpPr>
        <p:spPr>
          <a:xfrm>
            <a:off x="910568" y="2013025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5" name="Google Shape;1545;p130"/>
          <p:cNvSpPr txBox="1"/>
          <p:nvPr>
            <p:ph type="body" idx="1"/>
          </p:nvPr>
        </p:nvSpPr>
        <p:spPr>
          <a:xfrm>
            <a:off x="1466982" y="2736962"/>
            <a:ext cx="1650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42 − 12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130"/>
          <p:cNvSpPr txBox="1"/>
          <p:nvPr>
            <p:ph type="body" idx="1"/>
          </p:nvPr>
        </p:nvSpPr>
        <p:spPr>
          <a:xfrm>
            <a:off x="3360500" y="1951150"/>
            <a:ext cx="5238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performed two inverse operations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−12</a:t>
            </a:r>
            <a:r>
              <a:rPr lang="en-GB" sz="1800"/>
              <a:t> and       in order to isolate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7" name="Google Shape;1547;p130"/>
          <p:cNvSpPr txBox="1"/>
          <p:nvPr>
            <p:ph type="body" idx="1"/>
          </p:nvPr>
        </p:nvSpPr>
        <p:spPr>
          <a:xfrm>
            <a:off x="3360500" y="2747652"/>
            <a:ext cx="38805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rearrangement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8" name="Google Shape;1548;p130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800" y="2273862"/>
            <a:ext cx="262077" cy="4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30" descr="&lt;math xmlns=&quot;http://www.w3.org/1998/Math/MathML&quot; display=&quot;block&quot; data-is-equatio=&quot;1&quot; data-latex=&quot;x=\frac{42-12}{5}&quot;&gt;&lt;mi&gt;x&lt;/mi&gt;&lt;mo&gt;=&lt;/mo&gt;&lt;mfrac&gt;&lt;mrow&gt;&lt;mn&gt;42&lt;/mn&gt;&lt;mo&gt;−&lt;/mo&gt;&lt;mn&gt;12&lt;/mn&gt;&lt;/mrow&gt;&lt;mn&gt;5&lt;/mn&gt;&lt;/mfrac&gt;&lt;/math&gt;" title="x equals the fraction with numerator 42 minus 12 and denominato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954" y="3275931"/>
            <a:ext cx="1341047" cy="54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30"/>
          <p:cNvSpPr txBox="1"/>
          <p:nvPr>
            <p:ph type="body" idx="1"/>
          </p:nvPr>
        </p:nvSpPr>
        <p:spPr>
          <a:xfrm>
            <a:off x="3360500" y="3387425"/>
            <a:ext cx="48486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rearrangement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42 − 12 </a:t>
            </a:r>
            <a:r>
              <a:rPr lang="en-GB" sz="1800"/>
              <a:t>whereby…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1" name="Google Shape;1551;p130"/>
          <p:cNvSpPr/>
          <p:nvPr/>
        </p:nvSpPr>
        <p:spPr>
          <a:xfrm>
            <a:off x="7793187" y="1931235"/>
            <a:ext cx="685200" cy="3645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130"/>
          <p:cNvSpPr/>
          <p:nvPr/>
        </p:nvSpPr>
        <p:spPr>
          <a:xfrm>
            <a:off x="3789113" y="2213012"/>
            <a:ext cx="494400" cy="5445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30"/>
          <p:cNvSpPr/>
          <p:nvPr/>
        </p:nvSpPr>
        <p:spPr>
          <a:xfrm>
            <a:off x="1480107" y="3390532"/>
            <a:ext cx="352500" cy="3645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0"/>
          <p:cNvSpPr txBox="1"/>
          <p:nvPr>
            <p:ph type="body" idx="1"/>
          </p:nvPr>
        </p:nvSpPr>
        <p:spPr>
          <a:xfrm>
            <a:off x="332482" y="4237132"/>
            <a:ext cx="8020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rearranging the subject can often be thought of as the unknown you are trying to find the value of.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130"/>
          <p:cNvSpPr txBox="1"/>
          <p:nvPr>
            <p:ph type="body" idx="1"/>
          </p:nvPr>
        </p:nvSpPr>
        <p:spPr>
          <a:xfrm>
            <a:off x="3360500" y="3387425"/>
            <a:ext cx="54594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rearrangement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42 − 12 </a:t>
            </a:r>
            <a:r>
              <a:rPr lang="en-GB" sz="1800"/>
              <a:t>whereby…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is now the subject.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9" name="Shape 1559"/>
        <p:cNvGrpSpPr/>
        <p:nvPr/>
      </p:nvGrpSpPr>
      <p:grpSpPr>
        <a:xfrm>
          <a:off x="0" y="0"/>
          <a:ext cx="0" cy="0"/>
        </a:xfrm>
      </p:grpSpPr>
      <p:sp>
        <p:nvSpPr>
          <p:cNvPr id="1560" name="Google Shape;1560;p131"/>
          <p:cNvSpPr txBox="1"/>
          <p:nvPr>
            <p:ph type="body" idx="1"/>
          </p:nvPr>
        </p:nvSpPr>
        <p:spPr>
          <a:xfrm>
            <a:off x="324000" y="759300"/>
            <a:ext cx="7135200" cy="12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are not always seeking to find a given value, like a solution to an equation, when rearranging.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example, the linear function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endParaRPr sz="1800"/>
          </a:p>
        </p:txBody>
      </p:sp>
      <p:sp>
        <p:nvSpPr>
          <p:cNvPr id="1561" name="Google Shape;1561;p131"/>
          <p:cNvSpPr/>
          <p:nvPr/>
        </p:nvSpPr>
        <p:spPr>
          <a:xfrm>
            <a:off x="2965213" y="3023899"/>
            <a:ext cx="1650300" cy="3612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1"/>
          <p:cNvSpPr/>
          <p:nvPr/>
        </p:nvSpPr>
        <p:spPr>
          <a:xfrm>
            <a:off x="2965213" y="2595245"/>
            <a:ext cx="1650300" cy="3612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1"/>
          <p:cNvSpPr/>
          <p:nvPr/>
        </p:nvSpPr>
        <p:spPr>
          <a:xfrm>
            <a:off x="3773227" y="1492700"/>
            <a:ext cx="1534500" cy="3645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65" name="Google Shape;1565;p131"/>
          <p:cNvSpPr txBox="1"/>
          <p:nvPr>
            <p:ph type="body" idx="1"/>
          </p:nvPr>
        </p:nvSpPr>
        <p:spPr>
          <a:xfrm>
            <a:off x="332475" y="2202738"/>
            <a:ext cx="84876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any additive relationship like this we can quickly see four arrangements.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6" name="Google Shape;1566;p131"/>
          <p:cNvSpPr txBox="1"/>
          <p:nvPr/>
        </p:nvSpPr>
        <p:spPr>
          <a:xfrm>
            <a:off x="914400" y="2595147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endParaRPr sz="1200"/>
          </a:p>
        </p:txBody>
      </p:sp>
      <p:sp>
        <p:nvSpPr>
          <p:cNvPr id="1567" name="Google Shape;1567;p131"/>
          <p:cNvSpPr txBox="1"/>
          <p:nvPr/>
        </p:nvSpPr>
        <p:spPr>
          <a:xfrm>
            <a:off x="914400" y="3029325"/>
            <a:ext cx="160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endParaRPr sz="1200"/>
          </a:p>
        </p:txBody>
      </p:sp>
      <p:sp>
        <p:nvSpPr>
          <p:cNvPr id="1568" name="Google Shape;1568;p131"/>
          <p:cNvSpPr txBox="1"/>
          <p:nvPr/>
        </p:nvSpPr>
        <p:spPr>
          <a:xfrm>
            <a:off x="3200400" y="2595150"/>
            <a:ext cx="129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12 − 2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/>
          </a:p>
        </p:txBody>
      </p:sp>
      <p:sp>
        <p:nvSpPr>
          <p:cNvPr id="1569" name="Google Shape;1569;p131"/>
          <p:cNvSpPr txBox="1"/>
          <p:nvPr/>
        </p:nvSpPr>
        <p:spPr>
          <a:xfrm>
            <a:off x="3200400" y="3029325"/>
            <a:ext cx="129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/>
          </a:p>
        </p:txBody>
      </p:sp>
      <p:sp>
        <p:nvSpPr>
          <p:cNvPr id="1570" name="Google Shape;1570;p131"/>
          <p:cNvSpPr txBox="1"/>
          <p:nvPr>
            <p:ph type="body" idx="1"/>
          </p:nvPr>
        </p:nvSpPr>
        <p:spPr>
          <a:xfrm>
            <a:off x="5761559" y="1246675"/>
            <a:ext cx="2857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form enables us to efficiently graph the line.</a:t>
            </a:r>
            <a:endParaRPr sz="1800"/>
          </a:p>
        </p:txBody>
      </p:sp>
      <p:sp>
        <p:nvSpPr>
          <p:cNvPr id="1571" name="Google Shape;1571;p131"/>
          <p:cNvSpPr txBox="1"/>
          <p:nvPr/>
        </p:nvSpPr>
        <p:spPr>
          <a:xfrm>
            <a:off x="6259907" y="1833138"/>
            <a:ext cx="77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(0, 12)</a:t>
            </a:r>
            <a:endParaRPr sz="1200"/>
          </a:p>
        </p:txBody>
      </p:sp>
      <p:sp>
        <p:nvSpPr>
          <p:cNvPr id="1572" name="Google Shape;1572;p131"/>
          <p:cNvSpPr txBox="1"/>
          <p:nvPr/>
        </p:nvSpPr>
        <p:spPr>
          <a:xfrm>
            <a:off x="7402907" y="1833138"/>
            <a:ext cx="77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(6, 0)</a:t>
            </a:r>
            <a:endParaRPr sz="1200"/>
          </a:p>
        </p:txBody>
      </p:sp>
      <p:sp>
        <p:nvSpPr>
          <p:cNvPr id="1573" name="Google Shape;1573;p131"/>
          <p:cNvSpPr txBox="1"/>
          <p:nvPr>
            <p:ph type="body" idx="1"/>
          </p:nvPr>
        </p:nvSpPr>
        <p:spPr>
          <a:xfrm>
            <a:off x="4828282" y="2572232"/>
            <a:ext cx="3905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With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as the subject we immediately know the gradient,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−2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4" name="Google Shape;1574;p131" descr="&lt;math xmlns=&quot;http://www.w3.org/1998/Math/MathML&quot; display=&quot;block&quot; data-is-equatio=&quot;1&quot; data-latex=&quot;2x\times\frac{1}{2}=\left(12-y\right)\times\frac{1}{2}&quot;&gt;&lt;mn&gt;2&lt;/mn&gt;&lt;mi&gt;x&lt;/mi&gt;&lt;mo&gt;×&lt;/mo&gt;&lt;mfrac&gt;&lt;mn&gt;1&lt;/mn&gt;&lt;mn&gt;2&lt;/mn&gt;&lt;/mfrac&gt;&lt;mo&gt;=&lt;/mo&gt;&lt;mrow data-mjx-texclass=&quot;INNER&quot;&gt;&lt;mo data-mjx-texclass=&quot;OPEN&quot;&gt;(&lt;/mo&gt;&lt;mn&gt;12&lt;/mn&gt;&lt;mo&gt;−&lt;/mo&gt;&lt;mi&gt;y&lt;/mi&gt;&lt;mo data-mjx-texclass=&quot;CLOSE&quot;&gt;)&lt;/mo&gt;&lt;/mrow&gt;&lt;mo&gt;×&lt;/mo&gt;&lt;mfrac&gt;&lt;mn&gt;1&lt;/mn&gt;&lt;mn&gt;2&lt;/mn&gt;&lt;/mfrac&gt;&lt;/math&gt;" title="2 x times one half equals open paren 12 minus y close paren time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027" y="3578284"/>
            <a:ext cx="2312459" cy="511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131" descr="&lt;math xmlns=&quot;http://www.w3.org/1998/Math/MathML&quot; display=&quot;block&quot; data-is-equatio=&quot;1&quot; data-latex=&quot;x=\frac{12-y}{2}&quot;&gt;&lt;mi&gt;x&lt;/mi&gt;&lt;mo&gt;=&lt;/mo&gt;&lt;mfrac&gt;&lt;mrow&gt;&lt;mn&gt;12&lt;/mn&gt;&lt;mo&gt;−&lt;/mo&gt;&lt;mi&gt;y&lt;/mi&gt;&lt;/mrow&gt;&lt;mn&gt;2&lt;/mn&gt;&lt;/mfrac&gt;&lt;/math&gt;" title="x equals the fraction with numerator 12 minus y and denominato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888" y="4313400"/>
            <a:ext cx="1117003" cy="5005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1"/>
          <p:cNvSpPr txBox="1"/>
          <p:nvPr>
            <p:ph type="body" idx="1"/>
          </p:nvPr>
        </p:nvSpPr>
        <p:spPr>
          <a:xfrm>
            <a:off x="5578775" y="3814445"/>
            <a:ext cx="28578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With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as the subject we can efficiently find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 if we know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p132"/>
          <p:cNvSpPr txBox="1"/>
          <p:nvPr>
            <p:ph type="body" idx="1"/>
          </p:nvPr>
        </p:nvSpPr>
        <p:spPr>
          <a:xfrm>
            <a:off x="324000" y="759300"/>
            <a:ext cx="8237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the linear function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r>
              <a:rPr lang="en-GB" sz="1800"/>
              <a:t>make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the subject.</a:t>
            </a:r>
            <a:endParaRPr sz="1800"/>
          </a:p>
        </p:txBody>
      </p:sp>
      <p:sp>
        <p:nvSpPr>
          <p:cNvPr id="1582" name="Google Shape;1582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83" name="Google Shape;1583;p132"/>
          <p:cNvSpPr txBox="1"/>
          <p:nvPr>
            <p:ph type="body" idx="1"/>
          </p:nvPr>
        </p:nvSpPr>
        <p:spPr>
          <a:xfrm>
            <a:off x="4828275" y="1417737"/>
            <a:ext cx="3398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Option two: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four arrangements of this additive relationship.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4" name="Google Shape;1584;p132"/>
          <p:cNvSpPr txBox="1"/>
          <p:nvPr/>
        </p:nvSpPr>
        <p:spPr>
          <a:xfrm>
            <a:off x="990600" y="233637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</a:t>
            </a:r>
            <a:endParaRPr sz="1200"/>
          </a:p>
        </p:txBody>
      </p:sp>
      <p:sp>
        <p:nvSpPr>
          <p:cNvPr id="1585" name="Google Shape;1585;p132"/>
          <p:cNvSpPr txBox="1"/>
          <p:nvPr>
            <p:ph type="body" idx="1"/>
          </p:nvPr>
        </p:nvSpPr>
        <p:spPr>
          <a:xfrm>
            <a:off x="332475" y="1406230"/>
            <a:ext cx="25548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Option one: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Inverse operations.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p132"/>
          <p:cNvSpPr txBox="1"/>
          <p:nvPr/>
        </p:nvSpPr>
        <p:spPr>
          <a:xfrm>
            <a:off x="480213" y="2846758"/>
            <a:ext cx="237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587" name="Google Shape;1587;p132"/>
          <p:cNvSpPr txBox="1"/>
          <p:nvPr/>
        </p:nvSpPr>
        <p:spPr>
          <a:xfrm>
            <a:off x="1500993" y="3357141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15 − 3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88" name="Google Shape;1588;p132"/>
          <p:cNvSpPr txBox="1"/>
          <p:nvPr/>
        </p:nvSpPr>
        <p:spPr>
          <a:xfrm>
            <a:off x="4823613" y="233637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</a:t>
            </a:r>
            <a:endParaRPr sz="1200"/>
          </a:p>
        </p:txBody>
      </p:sp>
      <p:sp>
        <p:nvSpPr>
          <p:cNvPr id="1589" name="Google Shape;1589;p132"/>
          <p:cNvSpPr txBox="1"/>
          <p:nvPr/>
        </p:nvSpPr>
        <p:spPr>
          <a:xfrm>
            <a:off x="6705607" y="2869768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15 − 3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90" name="Google Shape;1590;p132"/>
          <p:cNvSpPr txBox="1"/>
          <p:nvPr/>
        </p:nvSpPr>
        <p:spPr>
          <a:xfrm>
            <a:off x="4823613" y="286977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 sz="1200"/>
          </a:p>
        </p:txBody>
      </p:sp>
      <p:sp>
        <p:nvSpPr>
          <p:cNvPr id="1591" name="Google Shape;1591;p132"/>
          <p:cNvSpPr txBox="1"/>
          <p:nvPr/>
        </p:nvSpPr>
        <p:spPr>
          <a:xfrm>
            <a:off x="6705607" y="2336368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92" name="Google Shape;1592;p132"/>
          <p:cNvSpPr/>
          <p:nvPr/>
        </p:nvSpPr>
        <p:spPr>
          <a:xfrm>
            <a:off x="6433081" y="2869871"/>
            <a:ext cx="1650300" cy="3612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6" name="Shape 1596"/>
        <p:cNvGrpSpPr/>
        <p:nvPr/>
      </p:nvGrpSpPr>
      <p:grpSpPr>
        <a:xfrm>
          <a:off x="0" y="0"/>
          <a:ext cx="0" cy="0"/>
        </a:xfrm>
      </p:grpSpPr>
      <p:sp>
        <p:nvSpPr>
          <p:cNvPr id="1597" name="Google Shape;1597;p133"/>
          <p:cNvSpPr txBox="1"/>
          <p:nvPr>
            <p:ph type="subTitle" idx="1"/>
          </p:nvPr>
        </p:nvSpPr>
        <p:spPr>
          <a:xfrm>
            <a:off x="337825" y="810000"/>
            <a:ext cx="3982200" cy="10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the linear function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r>
              <a:rPr lang="en-GB"/>
              <a:t>use inverse operations to make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598" name="Google Shape;1598;p13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599" name="Google Shape;1599;p133"/>
          <p:cNvSpPr txBox="1"/>
          <p:nvPr/>
        </p:nvSpPr>
        <p:spPr>
          <a:xfrm>
            <a:off x="704466" y="191369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</a:t>
            </a:r>
            <a:endParaRPr sz="1200"/>
          </a:p>
        </p:txBody>
      </p:sp>
      <p:sp>
        <p:nvSpPr>
          <p:cNvPr id="1600" name="Google Shape;1600;p133"/>
          <p:cNvSpPr txBox="1"/>
          <p:nvPr/>
        </p:nvSpPr>
        <p:spPr>
          <a:xfrm>
            <a:off x="323477" y="2424070"/>
            <a:ext cx="21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601" name="Google Shape;1601;p133"/>
          <p:cNvSpPr txBox="1"/>
          <p:nvPr/>
        </p:nvSpPr>
        <p:spPr>
          <a:xfrm>
            <a:off x="1096980" y="2934462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chemeClr val="dk1"/>
              </a:solidFill>
            </a:endParaRPr>
          </a:p>
        </p:txBody>
      </p:sp>
      <p:pic>
        <p:nvPicPr>
          <p:cNvPr id="1602" name="Google Shape;1602;p133" descr="&lt;math xmlns=&quot;http://www.w3.org/1998/Math/MathML&quot; display=&quot;block&quot; data-is-equatio=&quot;1&quot; data-latex=&quot;x=\frac{15-y}{3}&quot;&gt;&lt;mi&gt;x&lt;/mi&gt;&lt;mo&gt;=&lt;/mo&gt;&lt;mfrac&gt;&lt;mrow&gt;&lt;mn&gt;15&lt;/mn&gt;&lt;mo&gt;−&lt;/mo&gt;&lt;mi&gt;y&lt;/mi&gt;&lt;/mrow&gt;&lt;mn&gt;3&lt;/mn&gt;&lt;/mfrac&gt;&lt;/math&gt;" title="x equals the fraction with numerator 15 minus y and denominato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61" y="4120611"/>
            <a:ext cx="1032622" cy="47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133" descr="&lt;math xmlns=&quot;http://www.w3.org/1998/Math/MathML&quot; display=&quot;block&quot; data-is-equatio=&quot;1&quot; data-latex=&quot;3x\times\frac{1}{3}=\left(15-y\right)\times\frac{1}{3}&quot;&gt;&lt;mn&gt;3&lt;/mn&gt;&lt;mi&gt;x&lt;/mi&gt;&lt;mo&gt;×&lt;/mo&gt;&lt;mfrac&gt;&lt;mn&gt;1&lt;/mn&gt;&lt;mn&gt;3&lt;/mn&gt;&lt;/mfrac&gt;&lt;mo&gt;=&lt;/mo&gt;&lt;mrow data-mjx-texclass=&quot;INNER&quot;&gt;&lt;mo data-mjx-texclass=&quot;OPEN&quot;&gt;(&lt;/mo&gt;&lt;mn&gt;15&lt;/mn&gt;&lt;mo&gt;−&lt;/mo&gt;&lt;mi&gt;y&lt;/mi&gt;&lt;mo data-mjx-texclass=&quot;CLOSE&quot;&gt;)&lt;/mo&gt;&lt;/mrow&gt;&lt;mo&gt;×&lt;/mo&gt;&lt;mfrac&gt;&lt;mn&gt;1&lt;/mn&gt;&lt;mn&gt;3&lt;/mn&gt;&lt;/mfrac&gt;&lt;/math&gt;" title="3 x times one third equals open paren 15 minus y close paren 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896" y="3429400"/>
            <a:ext cx="2147853" cy="478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p133" descr="&lt;math xmlns=&quot;http://www.w3.org/1998/Math/MathML&quot; display=&quot;block&quot; data-is-equatio=&quot;1&quot; data-latex=&quot;=5-\frac{y}{3}&quot;&gt;&lt;mo&gt;=&lt;/mo&gt;&lt;mn&gt;5&lt;/mn&gt;&lt;mo&gt;−&lt;/mo&gt;&lt;mfrac&gt;&lt;mi&gt;y&lt;/mi&gt;&lt;mn&gt;3&lt;/mn&gt;&lt;/mfrac&gt;&lt;/math&gt;" title="equals 5 minus y over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2588" y="4148914"/>
            <a:ext cx="831957" cy="47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133"/>
          <p:cNvSpPr txBox="1"/>
          <p:nvPr>
            <p:ph type="subTitle" idx="1"/>
          </p:nvPr>
        </p:nvSpPr>
        <p:spPr>
          <a:xfrm>
            <a:off x="2776225" y="2410200"/>
            <a:ext cx="1650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Inverse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606" name="Google Shape;1606;p133"/>
          <p:cNvSpPr txBox="1"/>
          <p:nvPr>
            <p:ph type="subTitle" idx="1"/>
          </p:nvPr>
        </p:nvSpPr>
        <p:spPr>
          <a:xfrm>
            <a:off x="3233425" y="3359125"/>
            <a:ext cx="9192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Inverse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×3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0" name="Shape 1610"/>
        <p:cNvGrpSpPr/>
        <p:nvPr/>
      </p:nvGrpSpPr>
      <p:grpSpPr>
        <a:xfrm>
          <a:off x="0" y="0"/>
          <a:ext cx="0" cy="0"/>
        </a:xfrm>
      </p:grpSpPr>
      <p:sp>
        <p:nvSpPr>
          <p:cNvPr id="1611" name="Google Shape;1611;p134"/>
          <p:cNvSpPr txBox="1"/>
          <p:nvPr>
            <p:ph type="subTitle" idx="1"/>
          </p:nvPr>
        </p:nvSpPr>
        <p:spPr>
          <a:xfrm>
            <a:off x="337825" y="810000"/>
            <a:ext cx="3982200" cy="10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the linear function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r>
              <a:rPr lang="en-GB"/>
              <a:t>use inverse operations to make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612" name="Google Shape;1612;p134"/>
          <p:cNvSpPr txBox="1"/>
          <p:nvPr>
            <p:ph type="subTitle" idx="2"/>
          </p:nvPr>
        </p:nvSpPr>
        <p:spPr>
          <a:xfrm>
            <a:off x="4824000" y="810000"/>
            <a:ext cx="3982200" cy="10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the linear function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28 </a:t>
            </a:r>
            <a:r>
              <a:rPr lang="en-GB"/>
              <a:t>use inverse operations to make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613" name="Google Shape;1613;p13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614" name="Google Shape;1614;p134"/>
          <p:cNvSpPr txBox="1"/>
          <p:nvPr/>
        </p:nvSpPr>
        <p:spPr>
          <a:xfrm>
            <a:off x="704466" y="191369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</a:t>
            </a:r>
            <a:endParaRPr sz="1200"/>
          </a:p>
        </p:txBody>
      </p:sp>
      <p:sp>
        <p:nvSpPr>
          <p:cNvPr id="1615" name="Google Shape;1615;p134"/>
          <p:cNvSpPr txBox="1"/>
          <p:nvPr/>
        </p:nvSpPr>
        <p:spPr>
          <a:xfrm>
            <a:off x="323477" y="2424070"/>
            <a:ext cx="21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616" name="Google Shape;1616;p134"/>
          <p:cNvSpPr txBox="1"/>
          <p:nvPr/>
        </p:nvSpPr>
        <p:spPr>
          <a:xfrm>
            <a:off x="1096980" y="2934462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15 −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chemeClr val="dk1"/>
              </a:solidFill>
            </a:endParaRPr>
          </a:p>
        </p:txBody>
      </p:sp>
      <p:sp>
        <p:nvSpPr>
          <p:cNvPr id="1617" name="Google Shape;1617;p134"/>
          <p:cNvSpPr txBox="1"/>
          <p:nvPr/>
        </p:nvSpPr>
        <p:spPr>
          <a:xfrm>
            <a:off x="5558253" y="1913694"/>
            <a:ext cx="165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28</a:t>
            </a:r>
            <a:endParaRPr sz="1200"/>
          </a:p>
        </p:txBody>
      </p:sp>
      <p:sp>
        <p:nvSpPr>
          <p:cNvPr id="1618" name="Google Shape;1618;p134"/>
          <p:cNvSpPr txBox="1"/>
          <p:nvPr/>
        </p:nvSpPr>
        <p:spPr>
          <a:xfrm>
            <a:off x="5177263" y="2424070"/>
            <a:ext cx="21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28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0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619" name="Google Shape;1619;p134"/>
          <p:cNvSpPr txBox="1"/>
          <p:nvPr/>
        </p:nvSpPr>
        <p:spPr>
          <a:xfrm>
            <a:off x="5939271" y="2934450"/>
            <a:ext cx="137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28 +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20" name="Google Shape;1620;p134" descr="&lt;math xmlns=&quot;http://www.w3.org/1998/Math/MathML&quot; display=&quot;block&quot; data-is-equatio=&quot;1&quot; data-latex=&quot;7x\times\frac{1}{7}=\left(y+28\right)\times\frac{1}{7}&quot;&gt;&lt;mn&gt;7&lt;/mn&gt;&lt;mi&gt;x&lt;/mi&gt;&lt;mo&gt;×&lt;/mo&gt;&lt;mfrac&gt;&lt;mn&gt;1&lt;/mn&gt;&lt;mn&gt;7&lt;/mn&gt;&lt;/mfrac&gt;&lt;mo&gt;=&lt;/mo&gt;&lt;mrow data-mjx-texclass=&quot;INNER&quot;&gt;&lt;mo data-mjx-texclass=&quot;OPEN&quot;&gt;(&lt;/mo&gt;&lt;mi&gt;y&lt;/mi&gt;&lt;mo&gt;+&lt;/mo&gt;&lt;mn&gt;28&lt;/mn&gt;&lt;mo data-mjx-texclass=&quot;CLOSE&quot;&gt;)&lt;/mo&gt;&lt;/mrow&gt;&lt;mo&gt;×&lt;/mo&gt;&lt;mfrac&gt;&lt;mn&gt;1&lt;/mn&gt;&lt;mn&gt;7&lt;/mn&gt;&lt;/mfrac&gt;&lt;/math&gt;" title="7 x times one seventh equals open paren y plus 28 close paren times one sev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643" y="3398842"/>
            <a:ext cx="2322431" cy="51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134" descr="&lt;math xmlns=&quot;http://www.w3.org/1998/Math/MathML&quot; display=&quot;block&quot; data-is-equatio=&quot;1&quot; data-latex=&quot;x=\frac{y+28}{7}&quot;&gt;&lt;mi&gt;x&lt;/mi&gt;&lt;mo&gt;=&lt;/mo&gt;&lt;mfrac&gt;&lt;mrow&gt;&lt;mi&gt;y&lt;/mi&gt;&lt;mo&gt;+&lt;/mo&gt;&lt;mn&gt;28&lt;/mn&gt;&lt;/mrow&gt;&lt;mn&gt;7&lt;/mn&gt;&lt;/mfrac&gt;&lt;/math&gt;" title="x equals the fraction with numerator y plus 28 and denominator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7550" y="4054782"/>
            <a:ext cx="1173775" cy="52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134" descr="&lt;math xmlns=&quot;http://www.w3.org/1998/Math/MathML&quot; display=&quot;block&quot; data-is-equatio=&quot;1&quot; data-latex=&quot;=\frac{y}{7}+4&quot;&gt;&lt;mo&gt;=&lt;/mo&gt;&lt;mfrac&gt;&lt;mi&gt;y&lt;/mi&gt;&lt;mn&gt;7&lt;/mn&gt;&lt;/mfrac&gt;&lt;mo&gt;+&lt;/mo&gt;&lt;mn&gt;4&lt;/mn&gt;&lt;/math&gt;" title="equals y over 7 plu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908" y="4106926"/>
            <a:ext cx="876418" cy="47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34" descr="&lt;math xmlns=&quot;http://www.w3.org/1998/Math/MathML&quot; display=&quot;block&quot; data-is-equatio=&quot;1&quot; data-latex=&quot;x=\frac{15-y}{3}&quot;&gt;&lt;mi&gt;x&lt;/mi&gt;&lt;mo&gt;=&lt;/mo&gt;&lt;mfrac&gt;&lt;mrow&gt;&lt;mn&gt;15&lt;/mn&gt;&lt;mo&gt;−&lt;/mo&gt;&lt;mi&gt;y&lt;/mi&gt;&lt;/mrow&gt;&lt;mn&gt;3&lt;/mn&gt;&lt;/mfrac&gt;&lt;/math&gt;" title="x equals the fraction with numerator 15 minus y and denominator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0761" y="4120611"/>
            <a:ext cx="1032622" cy="47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34" descr="&lt;math xmlns=&quot;http://www.w3.org/1998/Math/MathML&quot; display=&quot;block&quot; data-is-equatio=&quot;1&quot; data-latex=&quot;3x\times\frac{1}{3}=\left(15-y\right)\times\frac{1}{3}&quot;&gt;&lt;mn&gt;3&lt;/mn&gt;&lt;mi&gt;x&lt;/mi&gt;&lt;mo&gt;×&lt;/mo&gt;&lt;mfrac&gt;&lt;mn&gt;1&lt;/mn&gt;&lt;mn&gt;3&lt;/mn&gt;&lt;/mfrac&gt;&lt;mo&gt;=&lt;/mo&gt;&lt;mrow data-mjx-texclass=&quot;INNER&quot;&gt;&lt;mo data-mjx-texclass=&quot;OPEN&quot;&gt;(&lt;/mo&gt;&lt;mn&gt;15&lt;/mn&gt;&lt;mo&gt;−&lt;/mo&gt;&lt;mi&gt;y&lt;/mi&gt;&lt;mo data-mjx-texclass=&quot;CLOSE&quot;&gt;)&lt;/mo&gt;&lt;/mrow&gt;&lt;mo&gt;×&lt;/mo&gt;&lt;mfrac&gt;&lt;mn&gt;1&lt;/mn&gt;&lt;mn&gt;3&lt;/mn&gt;&lt;/mfrac&gt;&lt;/math&gt;" title="3 x times one third equals open paren 15 minus y close paren times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896" y="3429400"/>
            <a:ext cx="2147853" cy="478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134" descr="&lt;math xmlns=&quot;http://www.w3.org/1998/Math/MathML&quot; display=&quot;block&quot; data-is-equatio=&quot;1&quot; data-latex=&quot;=5-\frac{y}{3}&quot;&gt;&lt;mo&gt;=&lt;/mo&gt;&lt;mn&gt;5&lt;/mn&gt;&lt;mo&gt;−&lt;/mo&gt;&lt;mfrac&gt;&lt;mi&gt;y&lt;/mi&gt;&lt;mn&gt;3&lt;/mn&gt;&lt;/mfrac&gt;&lt;/math&gt;" title="equals 5 minus y ove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2588" y="4148914"/>
            <a:ext cx="831957" cy="471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9" name="Shape 1629"/>
        <p:cNvGrpSpPr/>
        <p:nvPr/>
      </p:nvGrpSpPr>
      <p:grpSpPr>
        <a:xfrm>
          <a:off x="0" y="0"/>
          <a:ext cx="0" cy="0"/>
        </a:xfrm>
      </p:grpSpPr>
      <p:pic>
        <p:nvPicPr>
          <p:cNvPr id="1630" name="Google Shape;1630;p13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474450" y="2609375"/>
            <a:ext cx="2967450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35"/>
          <p:cNvSpPr txBox="1"/>
          <p:nvPr/>
        </p:nvSpPr>
        <p:spPr>
          <a:xfrm flipH="1">
            <a:off x="5565500" y="2664600"/>
            <a:ext cx="26808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we’ll get two very different formulae!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2" name="Google Shape;1632;p13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252189" y="2984552"/>
            <a:ext cx="5031450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135"/>
          <p:cNvSpPr txBox="1"/>
          <p:nvPr>
            <p:ph type="body" idx="1"/>
          </p:nvPr>
        </p:nvSpPr>
        <p:spPr>
          <a:xfrm>
            <a:off x="324000" y="759300"/>
            <a:ext cx="54504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and Aisha are writing formula. </a:t>
            </a:r>
            <a:endParaRPr sz="2000"/>
          </a:p>
        </p:txBody>
      </p:sp>
      <p:sp>
        <p:nvSpPr>
          <p:cNvPr id="1634" name="Google Shape;1634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with two steps</a:t>
            </a:r>
            <a:endParaRPr/>
          </a:p>
        </p:txBody>
      </p:sp>
      <p:pic>
        <p:nvPicPr>
          <p:cNvPr id="1635" name="Google Shape;1635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44005" y="3297851"/>
            <a:ext cx="666732" cy="1258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8951" y="3861679"/>
            <a:ext cx="831088" cy="958467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135"/>
          <p:cNvSpPr txBox="1"/>
          <p:nvPr>
            <p:ph type="body" idx="1"/>
          </p:nvPr>
        </p:nvSpPr>
        <p:spPr>
          <a:xfrm>
            <a:off x="324000" y="1414930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one: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then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sp>
        <p:nvSpPr>
          <p:cNvPr id="1638" name="Google Shape;1638;p135"/>
          <p:cNvSpPr txBox="1"/>
          <p:nvPr>
            <p:ph type="body" idx="1"/>
          </p:nvPr>
        </p:nvSpPr>
        <p:spPr>
          <a:xfrm>
            <a:off x="324000" y="2070557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two: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then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sp>
        <p:nvSpPr>
          <p:cNvPr id="1639" name="Google Shape;1639;p135"/>
          <p:cNvSpPr txBox="1"/>
          <p:nvPr/>
        </p:nvSpPr>
        <p:spPr>
          <a:xfrm flipH="1">
            <a:off x="652325" y="3003920"/>
            <a:ext cx="4608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both say, “plus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” and “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 by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 so I think we’ll get the same formula.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0" name="Google Shape;1640;p135"/>
          <p:cNvSpPr txBox="1"/>
          <p:nvPr>
            <p:ph type="body" idx="1"/>
          </p:nvPr>
        </p:nvSpPr>
        <p:spPr>
          <a:xfrm>
            <a:off x="3360493" y="4081927"/>
            <a:ext cx="32808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4" name="Shape 1644"/>
        <p:cNvGrpSpPr/>
        <p:nvPr/>
      </p:nvGrpSpPr>
      <p:grpSpPr>
        <a:xfrm>
          <a:off x="0" y="0"/>
          <a:ext cx="0" cy="0"/>
        </a:xfrm>
      </p:grpSpPr>
      <p:pic>
        <p:nvPicPr>
          <p:cNvPr id="1645" name="Google Shape;1645;p13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252189" y="2984552"/>
            <a:ext cx="5031450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136"/>
          <p:cNvSpPr txBox="1"/>
          <p:nvPr>
            <p:ph type="body" idx="1"/>
          </p:nvPr>
        </p:nvSpPr>
        <p:spPr>
          <a:xfrm>
            <a:off x="324000" y="759300"/>
            <a:ext cx="54504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and Aisha are writing formula. </a:t>
            </a:r>
            <a:endParaRPr sz="2000"/>
          </a:p>
        </p:txBody>
      </p:sp>
      <p:sp>
        <p:nvSpPr>
          <p:cNvPr id="1647" name="Google Shape;1647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pic>
        <p:nvPicPr>
          <p:cNvPr id="1648" name="Google Shape;164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44005" y="3297851"/>
            <a:ext cx="666732" cy="1258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38951" y="3861679"/>
            <a:ext cx="831088" cy="958467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36"/>
          <p:cNvSpPr txBox="1"/>
          <p:nvPr>
            <p:ph type="body" idx="1"/>
          </p:nvPr>
        </p:nvSpPr>
        <p:spPr>
          <a:xfrm>
            <a:off x="324000" y="1414930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one: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then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sp>
        <p:nvSpPr>
          <p:cNvPr id="1651" name="Google Shape;1651;p136"/>
          <p:cNvSpPr txBox="1"/>
          <p:nvPr>
            <p:ph type="body" idx="1"/>
          </p:nvPr>
        </p:nvSpPr>
        <p:spPr>
          <a:xfrm>
            <a:off x="324000" y="2070557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two: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then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sp>
        <p:nvSpPr>
          <p:cNvPr id="1652" name="Google Shape;1652;p136"/>
          <p:cNvSpPr txBox="1"/>
          <p:nvPr/>
        </p:nvSpPr>
        <p:spPr>
          <a:xfrm flipH="1">
            <a:off x="652325" y="3003920"/>
            <a:ext cx="4608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both say, “plus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” and “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 by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 so I think we’ll get the same formula.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3" name="Google Shape;1653;p136" descr="&lt;math xmlns=&quot;http://www.w3.org/1998/Math/MathML&quot; display=&quot;block&quot; data-is-equatio=&quot;1&quot; data-latex=&quot;\frac{d+5}{2}=e&quot;&gt;&lt;mfrac&gt;&lt;mrow&gt;&lt;mi&gt;d&lt;/mi&gt;&lt;mo&gt;+&lt;/mo&gt;&lt;mn&gt;5&lt;/mn&gt;&lt;/mrow&gt;&lt;mn&gt;2&lt;/mn&gt;&lt;/mfrac&gt;&lt;mo&gt;=&lt;/mo&gt;&lt;mi&gt;e&lt;/mi&gt;&lt;/math&gt;" title="the fraction with numerator d plus 5 and denominator 2 equals 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1778" y="1339032"/>
            <a:ext cx="1032304" cy="5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p136" descr="&lt;math xmlns=&quot;http://www.w3.org/1998/Math/MathML&quot; display=&quot;block&quot; data-is-equatio=&quot;1&quot; data-latex=&quot;\frac{d}{2}+5=e&quot;&gt;&lt;mfrac&gt;&lt;mi&gt;d&lt;/mi&gt;&lt;mn&gt;2&lt;/mn&gt;&lt;/mfrac&gt;&lt;mo&gt;+&lt;/mo&gt;&lt;mn&gt;5&lt;/mn&gt;&lt;mo&gt;=&lt;/mo&gt;&lt;mi&gt;e&lt;/mi&gt;&lt;/math&gt;" title="d over 2 plus 5 equals 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1631" y="2008382"/>
            <a:ext cx="104037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3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536093" y="3765212"/>
            <a:ext cx="3024399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36"/>
          <p:cNvSpPr txBox="1"/>
          <p:nvPr/>
        </p:nvSpPr>
        <p:spPr>
          <a:xfrm flipH="1">
            <a:off x="1795575" y="3842125"/>
            <a:ext cx="2738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Thanks Aisha! I can see that order matters now.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7" name="Google Shape;1657;p13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474450" y="2609375"/>
            <a:ext cx="2967450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36"/>
          <p:cNvSpPr txBox="1"/>
          <p:nvPr/>
        </p:nvSpPr>
        <p:spPr>
          <a:xfrm flipH="1">
            <a:off x="5565500" y="2664600"/>
            <a:ext cx="26808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we’ll get two very different formulae!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2" name="Shape 1662"/>
        <p:cNvGrpSpPr/>
        <p:nvPr/>
      </p:nvGrpSpPr>
      <p:grpSpPr>
        <a:xfrm>
          <a:off x="0" y="0"/>
          <a:ext cx="0" cy="0"/>
        </a:xfrm>
      </p:grpSpPr>
      <p:sp>
        <p:nvSpPr>
          <p:cNvPr id="1663" name="Google Shape;1663;p137"/>
          <p:cNvSpPr txBox="1"/>
          <p:nvPr>
            <p:ph type="body" idx="1"/>
          </p:nvPr>
        </p:nvSpPr>
        <p:spPr>
          <a:xfrm>
            <a:off x="324000" y="759300"/>
            <a:ext cx="71352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order will matter when we rearrange these formula.</a:t>
            </a:r>
            <a:endParaRPr sz="2000"/>
          </a:p>
        </p:txBody>
      </p:sp>
      <p:sp>
        <p:nvSpPr>
          <p:cNvPr id="1664" name="Google Shape;1664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665" name="Google Shape;1665;p137"/>
          <p:cNvSpPr txBox="1"/>
          <p:nvPr>
            <p:ph type="body" idx="1"/>
          </p:nvPr>
        </p:nvSpPr>
        <p:spPr>
          <a:xfrm>
            <a:off x="324000" y="1414930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one: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then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sp>
        <p:nvSpPr>
          <p:cNvPr id="1666" name="Google Shape;1666;p137"/>
          <p:cNvSpPr txBox="1"/>
          <p:nvPr>
            <p:ph type="body" idx="1"/>
          </p:nvPr>
        </p:nvSpPr>
        <p:spPr>
          <a:xfrm>
            <a:off x="324000" y="2070557"/>
            <a:ext cx="62955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two: 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divided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then plus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makes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/>
          </a:p>
        </p:txBody>
      </p:sp>
      <p:pic>
        <p:nvPicPr>
          <p:cNvPr id="1667" name="Google Shape;1667;p137" descr="&lt;math xmlns=&quot;http://www.w3.org/1998/Math/MathML&quot; display=&quot;block&quot; data-is-equatio=&quot;1&quot; data-latex=&quot;\frac{d+5}{2}=e&quot;&gt;&lt;mfrac&gt;&lt;mrow&gt;&lt;mi&gt;d&lt;/mi&gt;&lt;mo&gt;+&lt;/mo&gt;&lt;mn&gt;5&lt;/mn&gt;&lt;/mrow&gt;&lt;mn&gt;2&lt;/mn&gt;&lt;/mfrac&gt;&lt;mo&gt;=&lt;/mo&gt;&lt;mi&gt;e&lt;/mi&gt;&lt;/math&gt;" title="the fraction with numerator d plus 5 and denominator 2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778" y="1339032"/>
            <a:ext cx="1032304" cy="5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137" descr="&lt;math xmlns=&quot;http://www.w3.org/1998/Math/MathML&quot; display=&quot;block&quot; data-is-equatio=&quot;1&quot; data-latex=&quot;\frac{d}{2}+5=e&quot;&gt;&lt;mfrac&gt;&lt;mi&gt;d&lt;/mi&gt;&lt;mn&gt;2&lt;/mn&gt;&lt;/mfrac&gt;&lt;mo&gt;+&lt;/mo&gt;&lt;mn&gt;5&lt;/mn&gt;&lt;mo&gt;=&lt;/mo&gt;&lt;mi&gt;e&lt;/mi&gt;&lt;/math&gt;" title="d over 2 plus 5 equals 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1631" y="2008382"/>
            <a:ext cx="1040376" cy="5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37"/>
          <p:cNvSpPr txBox="1"/>
          <p:nvPr>
            <p:ph type="body" idx="1"/>
          </p:nvPr>
        </p:nvSpPr>
        <p:spPr>
          <a:xfrm>
            <a:off x="324000" y="2680150"/>
            <a:ext cx="5639700" cy="10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we wanted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the subject the inverse operations for both are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/>
              <a:t>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r>
              <a:rPr lang="en-GB" sz="2000"/>
              <a:t> but the order in which we apply them matters.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3" name="Shape 1673"/>
        <p:cNvGrpSpPr/>
        <p:nvPr/>
      </p:nvGrpSpPr>
      <p:grpSpPr>
        <a:xfrm>
          <a:off x="0" y="0"/>
          <a:ext cx="0" cy="0"/>
        </a:xfrm>
      </p:grpSpPr>
      <p:sp>
        <p:nvSpPr>
          <p:cNvPr id="1674" name="Google Shape;1674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675" name="Google Shape;1675;p138"/>
          <p:cNvSpPr txBox="1"/>
          <p:nvPr>
            <p:ph type="body" idx="1"/>
          </p:nvPr>
        </p:nvSpPr>
        <p:spPr>
          <a:xfrm>
            <a:off x="324000" y="828337"/>
            <a:ext cx="19116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one:</a:t>
            </a:r>
            <a:endParaRPr sz="2000"/>
          </a:p>
        </p:txBody>
      </p:sp>
      <p:sp>
        <p:nvSpPr>
          <p:cNvPr id="1676" name="Google Shape;1676;p138"/>
          <p:cNvSpPr txBox="1"/>
          <p:nvPr>
            <p:ph type="body" idx="1"/>
          </p:nvPr>
        </p:nvSpPr>
        <p:spPr>
          <a:xfrm>
            <a:off x="324000" y="1354577"/>
            <a:ext cx="13608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/>
              <a:t>first</a:t>
            </a:r>
            <a:endParaRPr sz="2000"/>
          </a:p>
        </p:txBody>
      </p:sp>
      <p:pic>
        <p:nvPicPr>
          <p:cNvPr id="1677" name="Google Shape;1677;p138" descr="&lt;math xmlns=&quot;http://www.w3.org/1998/Math/MathML&quot; display=&quot;block&quot; data-is-equatio=&quot;1&quot; data-latex=&quot;\frac{d+5}{2}=e&quot;&gt;&lt;mfrac&gt;&lt;mrow&gt;&lt;mi&gt;d&lt;/mi&gt;&lt;mo&gt;+&lt;/mo&gt;&lt;mn&gt;5&lt;/mn&gt;&lt;/mrow&gt;&lt;mn&gt;2&lt;/mn&gt;&lt;/mfrac&gt;&lt;mo&gt;=&lt;/mo&gt;&lt;mi&gt;e&lt;/mi&gt;&lt;/math&gt;" title="the fraction with numerator d plus 5 and denominator 2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778" y="1080259"/>
            <a:ext cx="1032304" cy="5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38" descr="&lt;math xmlns=&quot;http://www.w3.org/1998/Math/MathML&quot; display=&quot;block&quot; data-is-equatio=&quot;1&quot; data-latex=&quot;\frac{d+5}{2}-5=e-5&quot;&gt;&lt;mfrac&gt;&lt;mrow&gt;&lt;mi&gt;d&lt;/mi&gt;&lt;mo&gt;+&lt;/mo&gt;&lt;mn&gt;5&lt;/mn&gt;&lt;/mrow&gt;&lt;mn&gt;2&lt;/mn&gt;&lt;/mfrac&gt;&lt;mo&gt;−&lt;/mo&gt;&lt;mn&gt;5&lt;/mn&gt;&lt;mo&gt;=&lt;/mo&gt;&lt;mi&gt;e&lt;/mi&gt;&lt;mo&gt;−&lt;/mo&gt;&lt;mn&gt;5&lt;/mn&gt;&lt;/math&gt;" title="the fraction with numerator d plus 5 and denominator 2 minus 5 equals e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1262" y="1699915"/>
            <a:ext cx="1850405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38" descr="&lt;math xmlns=&quot;http://www.w3.org/1998/Math/MathML&quot; display=&quot;block&quot; data-is-equatio=&quot;1&quot; data-latex=&quot;\frac{d+5}{2}-\frac{10}{2}=e-5&quot;&gt;&lt;mfrac&gt;&lt;mrow&gt;&lt;mi&gt;d&lt;/mi&gt;&lt;mo&gt;+&lt;/mo&gt;&lt;mn&gt;5&lt;/mn&gt;&lt;/mrow&gt;&lt;mn&gt;2&lt;/mn&gt;&lt;/mfrac&gt;&lt;mo&gt;−&lt;/mo&gt;&lt;mfrac&gt;&lt;mn&gt;10&lt;/mn&gt;&lt;mn&gt;2&lt;/mn&gt;&lt;/mfrac&gt;&lt;mo&gt;=&lt;/mo&gt;&lt;mi&gt;e&lt;/mi&gt;&lt;mo&gt;−&lt;/mo&gt;&lt;mn&gt;5&lt;/mn&gt;&lt;/math&gt;" title="the fraction with numerator d plus 5 and denominator 2 minus ten halves equals e min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1405" y="2333626"/>
            <a:ext cx="2068540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38" descr="&lt;math xmlns=&quot;http://www.w3.org/1998/Math/MathML&quot; display=&quot;block&quot; data-is-equatio=&quot;1&quot; data-latex=&quot;\frac{d-5}{2}=e-5&quot;&gt;&lt;mfrac&gt;&lt;mrow&gt;&lt;mi&gt;d&lt;/mi&gt;&lt;mo&gt;−&lt;/mo&gt;&lt;mn&gt;5&lt;/mn&gt;&lt;/mrow&gt;&lt;mn&gt;2&lt;/mn&gt;&lt;/mfrac&gt;&lt;mo&gt;=&lt;/mo&gt;&lt;mi&gt;e&lt;/mi&gt;&lt;mo&gt;−&lt;/mo&gt;&lt;mn&gt;5&lt;/mn&gt;&lt;/math&gt;" title="the fraction with numerator d minus 5 and denominator 2 equals e min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7458" y="2985986"/>
            <a:ext cx="1380383" cy="505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138" descr="&lt;math xmlns=&quot;http://www.w3.org/1998/Math/MathML&quot; display=&quot;block&quot; data-is-equatio=&quot;1&quot; data-latex=&quot;2\times\left(\frac{d-5}{2}\right)=2\times\left(e-5\right)&quot;&gt;&lt;mn&gt;2&lt;/mn&gt;&lt;mo&gt;×&lt;/mo&gt;&lt;mrow data-mjx-texclass=&quot;INNER&quot;&gt;&lt;mo data-mjx-texclass=&quot;OPEN&quot;&gt;(&lt;/mo&gt;&lt;mfrac&gt;&lt;mrow&gt;&lt;mi&gt;d&lt;/mi&gt;&lt;mo&gt;−&lt;/mo&gt;&lt;mn&gt;5&lt;/mn&gt;&lt;/mrow&gt;&lt;mn&gt;2&lt;/mn&gt;&lt;/mfrac&gt;&lt;mo data-mjx-texclass=&quot;CLOSE&quot;&gt;)&lt;/mo&gt;&lt;/mrow&gt;&lt;mo&gt;=&lt;/mo&gt;&lt;mn&gt;2&lt;/mn&gt;&lt;mo&gt;×&lt;/mo&gt;&lt;mrow data-mjx-texclass=&quot;INNER&quot;&gt;&lt;mo data-mjx-texclass=&quot;OPEN&quot;&gt;(&lt;/mo&gt;&lt;mi&gt;e&lt;/mi&gt;&lt;mo&gt;−&lt;/mo&gt;&lt;mn&gt;5&lt;/mn&gt;&lt;mo data-mjx-texclass=&quot;CLOSE&quot;&gt;)&lt;/mo&gt;&lt;/mrow&gt;&lt;/math&gt;" title="2 times open paren the fraction with numerator d minus 5 and denominator 2 close paren equals 2 times open paren e minus 5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5275" y="3567080"/>
            <a:ext cx="2524700" cy="56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138" descr="&lt;math xmlns=&quot;http://www.w3.org/1998/Math/MathML&quot; display=&quot;block&quot; data-is-equatio=&quot;1&quot; data-latex=&quot;d-5=2e-10&quot;&gt;&lt;mi&gt;d&lt;/mi&gt;&lt;mo&gt;−&lt;/mo&gt;&lt;mn&gt;5&lt;/mn&gt;&lt;mo&gt;=&lt;/mo&gt;&lt;mn&gt;2&lt;/mn&gt;&lt;mi&gt;e&lt;/mi&gt;&lt;mo&gt;−&lt;/mo&gt;&lt;mn&gt;10&lt;/mn&gt;&lt;/math&gt;" title="d minus 5 equals 2 e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50550" y="4206125"/>
            <a:ext cx="1628876" cy="1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138" descr="&lt;math xmlns=&quot;http://www.w3.org/1998/Math/MathML&quot; display=&quot;block&quot; data-is-equatio=&quot;1&quot; data-latex=&quot;d=2e-5&quot;&gt;&lt;mi&gt;d&lt;/mi&gt;&lt;mo&gt;=&lt;/mo&gt;&lt;mn&gt;2&lt;/mn&gt;&lt;mi&gt;e&lt;/mi&gt;&lt;mo&gt;−&lt;/mo&gt;&lt;mn&gt;5&lt;/mn&gt;&lt;/math&gt;" title="d equals 2 e minus 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4088" y="4622268"/>
            <a:ext cx="1164725" cy="1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138" descr="&lt;math xmlns=&quot;http://www.w3.org/1998/Math/MathML&quot; display=&quot;block&quot; data-is-equatio=&quot;1&quot; data-latex=&quot;\frac{d+5}{2}=e&quot;&gt;&lt;mfrac&gt;&lt;mrow&gt;&lt;mi&gt;d&lt;/mi&gt;&lt;mo&gt;+&lt;/mo&gt;&lt;mn&gt;5&lt;/mn&gt;&lt;/mrow&gt;&lt;mn&gt;2&lt;/mn&gt;&lt;/mfrac&gt;&lt;mo&gt;=&lt;/mo&gt;&lt;mi&gt;e&lt;/mi&gt;&lt;/math&gt;" title="the fraction with numerator d plus 5 and denominator 2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592" y="1872432"/>
            <a:ext cx="1032304" cy="5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138" descr="&lt;math xmlns=&quot;http://www.w3.org/1998/Math/MathML&quot; display=&quot;block&quot; data-is-equatio=&quot;1&quot; data-latex=&quot;\frac{d}{2}+\frac{5}{2}=e&quot;&gt;&lt;mfrac&gt;&lt;mi&gt;d&lt;/mi&gt;&lt;mn&gt;2&lt;/mn&gt;&lt;/mfrac&gt;&lt;mo&gt;+&lt;/mo&gt;&lt;mfrac&gt;&lt;mn&gt;5&lt;/mn&gt;&lt;mn&gt;2&lt;/mn&gt;&lt;/mfrac&gt;&lt;mo&gt;=&lt;/mo&gt;&lt;mi&gt;e&lt;/mi&gt;&lt;/math&gt;" title="d over 2 plus five halves equals e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83255" y="2529652"/>
            <a:ext cx="1076335" cy="50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138" descr="&lt;math xmlns=&quot;http://www.w3.org/1998/Math/MathML&quot; display=&quot;block&quot; data-is-equatio=&quot;1&quot; data-latex=&quot;\frac{d}{2}=e-\frac{5}{2}&quot;&gt;&lt;mfrac&gt;&lt;mi&gt;d&lt;/mi&gt;&lt;mn&gt;2&lt;/mn&gt;&lt;/mfrac&gt;&lt;mo&gt;=&lt;/mo&gt;&lt;mi&gt;e&lt;/mi&gt;&lt;mo&gt;−&lt;/mo&gt;&lt;mfrac&gt;&lt;mn&gt;5&lt;/mn&gt;&lt;mn&gt;2&lt;/mn&gt;&lt;/mfrac&gt;&lt;/math&gt;" title="d over 2 equals e minus five halve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82135" y="3190418"/>
            <a:ext cx="1057649" cy="50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38"/>
          <p:cNvSpPr txBox="1"/>
          <p:nvPr>
            <p:ph type="body" idx="1"/>
          </p:nvPr>
        </p:nvSpPr>
        <p:spPr>
          <a:xfrm>
            <a:off x="4309413" y="1075591"/>
            <a:ext cx="43884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was really inefficient because this is not really 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8" name="Google Shape;1688;p138"/>
          <p:cNvSpPr/>
          <p:nvPr/>
        </p:nvSpPr>
        <p:spPr>
          <a:xfrm>
            <a:off x="2375800" y="1006550"/>
            <a:ext cx="458100" cy="3612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9" name="Google Shape;1689;p138" descr="&lt;math xmlns=&quot;http://www.w3.org/1998/Math/MathML&quot; display=&quot;block&quot; data-is-equatio=&quot;1&quot; data-latex=&quot;2\times\frac{d}{2}=2\times\left(e-\frac{5}{2}\right)&quot;&gt;&lt;mn&gt;2&lt;/mn&gt;&lt;mo&gt;×&lt;/mo&gt;&lt;mfrac&gt;&lt;mi&gt;d&lt;/mi&gt;&lt;mn&gt;2&lt;/mn&gt;&lt;/mfrac&gt;&lt;mo&gt;=&lt;/mo&gt;&lt;mn&gt;2&lt;/mn&gt;&lt;mo&gt;×&lt;/mo&gt;&lt;mrow data-mjx-texclass=&quot;INNER&quot;&gt;&lt;mo data-mjx-texclass=&quot;OPEN&quot;&gt;(&lt;/mo&gt;&lt;mi&gt;e&lt;/mi&gt;&lt;mo&gt;−&lt;/mo&gt;&lt;mfrac&gt;&lt;mn&gt;5&lt;/mn&gt;&lt;mn&gt;2&lt;/mn&gt;&lt;/mfrac&gt;&lt;mo data-mjx-texclass=&quot;CLOSE&quot;&gt;)&lt;/mo&gt;&lt;/mrow&gt;&lt;/math&gt;" title="2 times d over 2 equals 2 times open paren e minus five halves close pare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60235" y="3824212"/>
            <a:ext cx="223572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0" name="Google Shape;1690;p138" descr="&lt;math xmlns=&quot;http://www.w3.org/1998/Math/MathML&quot; display=&quot;block&quot; data-is-equatio=&quot;1&quot; data-latex=&quot;d=2e-5&quot;&gt;&lt;mi&gt;d&lt;/mi&gt;&lt;mo&gt;=&lt;/mo&gt;&lt;mn&gt;2&lt;/mn&gt;&lt;mi&gt;e&lt;/mi&gt;&lt;mo&gt;−&lt;/mo&gt;&lt;mn&gt;5&lt;/mn&gt;&lt;/math&gt;" title="d equals 2 e minus 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18394" y="4622268"/>
            <a:ext cx="1164725" cy="1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4" name="Shape 1694"/>
        <p:cNvGrpSpPr/>
        <p:nvPr/>
      </p:nvGrpSpPr>
      <p:grpSpPr>
        <a:xfrm>
          <a:off x="0" y="0"/>
          <a:ext cx="0" cy="0"/>
        </a:xfrm>
      </p:grpSpPr>
      <p:sp>
        <p:nvSpPr>
          <p:cNvPr id="1695" name="Google Shape;1695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696" name="Google Shape;1696;p139"/>
          <p:cNvSpPr txBox="1"/>
          <p:nvPr>
            <p:ph type="body" idx="1"/>
          </p:nvPr>
        </p:nvSpPr>
        <p:spPr>
          <a:xfrm>
            <a:off x="324000" y="828337"/>
            <a:ext cx="19116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one:</a:t>
            </a:r>
            <a:endParaRPr sz="2000"/>
          </a:p>
        </p:txBody>
      </p:sp>
      <p:sp>
        <p:nvSpPr>
          <p:cNvPr id="1697" name="Google Shape;1697;p139"/>
          <p:cNvSpPr txBox="1"/>
          <p:nvPr>
            <p:ph type="body" idx="1"/>
          </p:nvPr>
        </p:nvSpPr>
        <p:spPr>
          <a:xfrm>
            <a:off x="324000" y="1354577"/>
            <a:ext cx="13608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×2 </a:t>
            </a:r>
            <a:r>
              <a:rPr lang="en-GB" sz="2000"/>
              <a:t>first</a:t>
            </a:r>
            <a:endParaRPr sz="2000"/>
          </a:p>
        </p:txBody>
      </p:sp>
      <p:pic>
        <p:nvPicPr>
          <p:cNvPr id="1698" name="Google Shape;1698;p139" descr="&lt;math xmlns=&quot;http://www.w3.org/1998/Math/MathML&quot; display=&quot;block&quot; data-is-equatio=&quot;1&quot; data-latex=&quot;\frac{d+5}{2}=e&quot;&gt;&lt;mfrac&gt;&lt;mrow&gt;&lt;mi&gt;d&lt;/mi&gt;&lt;mo&gt;+&lt;/mo&gt;&lt;mn&gt;5&lt;/mn&gt;&lt;/mrow&gt;&lt;mn&gt;2&lt;/mn&gt;&lt;/mfrac&gt;&lt;mo&gt;=&lt;/mo&gt;&lt;mi&gt;e&lt;/mi&gt;&lt;/math&gt;" title="the fraction with numerator d plus 5 and denominator 2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472" y="1080259"/>
            <a:ext cx="1032304" cy="5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139" descr="&lt;math xmlns=&quot;http://www.w3.org/1998/Math/MathML&quot; display=&quot;block&quot; data-is-equatio=&quot;1&quot; data-latex=&quot;2\times\left(\frac{d+5}{2}\right)=2\times e&quot;&gt;&lt;mn&gt;2&lt;/mn&gt;&lt;mo&gt;×&lt;/mo&gt;&lt;mrow data-mjx-texclass=&quot;INNER&quot;&gt;&lt;mo data-mjx-texclass=&quot;OPEN&quot;&gt;(&lt;/mo&gt;&lt;mfrac&gt;&lt;mrow&gt;&lt;mi&gt;d&lt;/mi&gt;&lt;mo&gt;+&lt;/mo&gt;&lt;mn&gt;5&lt;/mn&gt;&lt;/mrow&gt;&lt;mn&gt;2&lt;/mn&gt;&lt;/mfrac&gt;&lt;mo data-mjx-texclass=&quot;CLOSE&quot;&gt;)&lt;/mo&gt;&lt;/mrow&gt;&lt;mo&gt;=&lt;/mo&gt;&lt;mn&gt;2&lt;/mn&gt;&lt;mo&gt;×&lt;/mo&gt;&lt;mi&gt;e&lt;/mi&gt;&lt;/math&gt;" title="2 times open paren the fraction with numerator d plus 5 and denominator 2 close paren equals 2 times 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493" y="1709400"/>
            <a:ext cx="2309941" cy="6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139" descr="&lt;math xmlns=&quot;http://www.w3.org/1998/Math/MathML&quot; display=&quot;block&quot; data-is-equatio=&quot;1&quot; data-latex=&quot;d+5=2e&quot;&gt;&lt;mi&gt;d&lt;/mi&gt;&lt;mo&gt;+&lt;/mo&gt;&lt;mn&gt;5&lt;/mn&gt;&lt;mo&gt;=&lt;/mo&gt;&lt;mn&gt;2&lt;/mn&gt;&lt;mi&gt;e&lt;/mi&gt;&lt;/math&gt;" title="d plus 5 equals 2 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7407" y="2554325"/>
            <a:ext cx="1117248" cy="1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39" descr="&lt;math xmlns=&quot;http://www.w3.org/1998/Math/MathML&quot; display=&quot;block&quot; data-is-equatio=&quot;1&quot; data-latex=&quot;d=2e-5&quot;&gt;&lt;mi&gt;d&lt;/mi&gt;&lt;mo&gt;=&lt;/mo&gt;&lt;mn&gt;2&lt;/mn&gt;&lt;mi&gt;e&lt;/mi&gt;&lt;mo&gt;−&lt;/mo&gt;&lt;mn&gt;5&lt;/mn&gt;&lt;/math&gt;" title="d equals 2 e min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0288" y="3098268"/>
            <a:ext cx="1164725" cy="1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39"/>
          <p:cNvSpPr txBox="1"/>
          <p:nvPr>
            <p:ph type="body" idx="1"/>
          </p:nvPr>
        </p:nvSpPr>
        <p:spPr>
          <a:xfrm>
            <a:off x="324000" y="3610400"/>
            <a:ext cx="75381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This method is much more efficient!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When rearranging equations and formula involving fractions it’s sensible to consider which order to proceed with.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6" name="Shape 1706"/>
        <p:cNvGrpSpPr/>
        <p:nvPr/>
      </p:nvGrpSpPr>
      <p:grpSpPr>
        <a:xfrm>
          <a:off x="0" y="0"/>
          <a:ext cx="0" cy="0"/>
        </a:xfrm>
      </p:grpSpPr>
      <p:sp>
        <p:nvSpPr>
          <p:cNvPr id="1707" name="Google Shape;1707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708" name="Google Shape;1708;p140"/>
          <p:cNvSpPr txBox="1"/>
          <p:nvPr>
            <p:ph type="body" idx="1"/>
          </p:nvPr>
        </p:nvSpPr>
        <p:spPr>
          <a:xfrm>
            <a:off x="324000" y="828337"/>
            <a:ext cx="19116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Formula two:</a:t>
            </a:r>
            <a:endParaRPr sz="2000"/>
          </a:p>
        </p:txBody>
      </p:sp>
      <p:pic>
        <p:nvPicPr>
          <p:cNvPr id="1709" name="Google Shape;1709;p140" descr="&lt;math xmlns=&quot;http://www.w3.org/1998/Math/MathML&quot; display=&quot;block&quot; data-is-equatio=&quot;1&quot; data-latex=&quot;\frac{d}{2}+5=e&quot;&gt;&lt;mfrac&gt;&lt;mi&gt;d&lt;/mi&gt;&lt;mn&gt;2&lt;/mn&gt;&lt;/mfrac&gt;&lt;mo&gt;+&lt;/mo&gt;&lt;mn&gt;5&lt;/mn&gt;&lt;mo&gt;=&lt;/mo&gt;&lt;mi&gt;e&lt;/mi&gt;&lt;/math&gt;" title="d over 2 plus 5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631" y="1299569"/>
            <a:ext cx="1040376" cy="5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140"/>
          <p:cNvSpPr txBox="1"/>
          <p:nvPr>
            <p:ph type="body" idx="1"/>
          </p:nvPr>
        </p:nvSpPr>
        <p:spPr>
          <a:xfrm>
            <a:off x="324000" y="1354577"/>
            <a:ext cx="13608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/>
              <a:t>first</a:t>
            </a:r>
            <a:endParaRPr sz="2000"/>
          </a:p>
        </p:txBody>
      </p:sp>
      <p:pic>
        <p:nvPicPr>
          <p:cNvPr id="1711" name="Google Shape;1711;p140" descr="&lt;math xmlns=&quot;http://www.w3.org/1998/Math/MathML&quot; display=&quot;block&quot; data-is-equatio=&quot;1&quot; data-latex=&quot;\frac{d}{2}+5-5=e-5&quot;&gt;&lt;mfrac&gt;&lt;mi&gt;d&lt;/mi&gt;&lt;mn&gt;2&lt;/mn&gt;&lt;/mfrac&gt;&lt;mo&gt;+&lt;/mo&gt;&lt;mn&gt;5&lt;/mn&gt;&lt;mo&gt;−&lt;/mo&gt;&lt;mn&gt;5&lt;/mn&gt;&lt;mo&gt;=&lt;/mo&gt;&lt;mi&gt;e&lt;/mi&gt;&lt;mo&gt;−&lt;/mo&gt;&lt;mn&gt;5&lt;/mn&gt;&lt;/math&gt;" title="d over 2 plus 5 minus 5 equals e minu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280" y="1920036"/>
            <a:ext cx="1824630" cy="51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40" descr="&lt;math xmlns=&quot;http://www.w3.org/1998/Math/MathML&quot; display=&quot;block&quot; data-is-equatio=&quot;1&quot; data-latex=&quot;\frac{d}{2}\times2=\left(e-5\right)\times2&quot;&gt;&lt;mfrac&gt;&lt;mi&gt;d&lt;/mi&gt;&lt;mn&gt;2&lt;/mn&gt;&lt;/mfrac&gt;&lt;mo&gt;×&lt;/mo&gt;&lt;mn&gt;2&lt;/mn&gt;&lt;mo&gt;=&lt;/mo&gt;&lt;mrow data-mjx-texclass=&quot;INNER&quot;&gt;&lt;mo data-mjx-texclass=&quot;OPEN&quot;&gt;(&lt;/mo&gt;&lt;mi&gt;e&lt;/mi&gt;&lt;mo&gt;−&lt;/mo&gt;&lt;mn&gt;5&lt;/mn&gt;&lt;mo data-mjx-texclass=&quot;CLOSE&quot;&gt;)&lt;/mo&gt;&lt;/mrow&gt;&lt;mo&gt;×&lt;/mo&gt;&lt;mn&gt;2&lt;/mn&gt;&lt;/math&gt;" title="d over 2 times 2 equals open paren e minus 5 close paren time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9620" y="3211525"/>
            <a:ext cx="1981027" cy="513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140" descr="&lt;math xmlns=&quot;http://www.w3.org/1998/Math/MathML&quot; display=&quot;block&quot; data-is-equatio=&quot;1&quot; data-latex=&quot;d=2\left(e-5\right)&quot;&gt;&lt;mi&gt;d&lt;/mi&gt;&lt;mo&gt;=&lt;/mo&gt;&lt;mn&gt;2&lt;/mn&gt;&lt;mrow data-mjx-texclass=&quot;INNER&quot;&gt;&lt;mo data-mjx-texclass=&quot;OPEN&quot;&gt;(&lt;/mo&gt;&lt;mi&gt;e&lt;/mi&gt;&lt;mo&gt;−&lt;/mo&gt;&lt;mn&gt;5&lt;/mn&gt;&lt;mo data-mjx-texclass=&quot;CLOSE&quot;&gt;)&lt;/mo&gt;&lt;/mrow&gt;&lt;/math&gt;" title="d equals 2 times open paren e minus 5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7890" y="4013582"/>
            <a:ext cx="1280965" cy="2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140" descr="&lt;math xmlns=&quot;http://www.w3.org/1998/Math/MathML&quot; display=&quot;block&quot; data-is-equatio=&quot;1&quot; data-latex=&quot;\frac{d}{2}=e-5&quot;&gt;&lt;mfrac&gt;&lt;mi&gt;d&lt;/mi&gt;&lt;mn&gt;2&lt;/mn&gt;&lt;/mfrac&gt;&lt;mo&gt;=&lt;/mo&gt;&lt;mi&gt;e&lt;/mi&gt;&lt;mo&gt;−&lt;/mo&gt;&lt;mn&gt;5&lt;/mn&gt;&lt;/math&gt;" title="d over 2 equals e minu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4236" y="2577960"/>
            <a:ext cx="1032740" cy="5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40"/>
          <p:cNvSpPr txBox="1"/>
          <p:nvPr>
            <p:ph type="body" idx="1"/>
          </p:nvPr>
        </p:nvSpPr>
        <p:spPr>
          <a:xfrm>
            <a:off x="4831307" y="1354577"/>
            <a:ext cx="13608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×2 </a:t>
            </a:r>
            <a:r>
              <a:rPr lang="en-GB" sz="2000"/>
              <a:t>first</a:t>
            </a:r>
            <a:endParaRPr sz="2000"/>
          </a:p>
        </p:txBody>
      </p:sp>
      <p:pic>
        <p:nvPicPr>
          <p:cNvPr id="1716" name="Google Shape;1716;p140" descr="&lt;math xmlns=&quot;http://www.w3.org/1998/Math/MathML&quot; display=&quot;block&quot; data-is-equatio=&quot;1&quot; data-latex=&quot;\frac{d}{2}+5=e&quot;&gt;&lt;mfrac&gt;&lt;mi&gt;d&lt;/mi&gt;&lt;mn&gt;2&lt;/mn&gt;&lt;/mfrac&gt;&lt;mo&gt;+&lt;/mo&gt;&lt;mn&gt;5&lt;/mn&gt;&lt;mo&gt;=&lt;/mo&gt;&lt;mi&gt;e&lt;/mi&gt;&lt;/math&gt;" title="d over 2 plus 5 equals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631" y="1299569"/>
            <a:ext cx="1040376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140" descr="&lt;math xmlns=&quot;http://www.w3.org/1998/Math/MathML&quot; display=&quot;block&quot; data-is-equatio=&quot;1&quot; data-latex=&quot;2\times\left(\frac{d}{2}+5\right)=2\times e&quot;&gt;&lt;mn&gt;2&lt;/mn&gt;&lt;mo&gt;×&lt;/mo&gt;&lt;mrow data-mjx-texclass=&quot;INNER&quot;&gt;&lt;mo data-mjx-texclass=&quot;OPEN&quot;&gt;(&lt;/mo&gt;&lt;mfrac&gt;&lt;mi&gt;d&lt;/mi&gt;&lt;mn&gt;2&lt;/mn&gt;&lt;/mfrac&gt;&lt;mo&gt;+&lt;/mo&gt;&lt;mn&gt;5&lt;/mn&gt;&lt;mo data-mjx-texclass=&quot;CLOSE&quot;&gt;)&lt;/mo&gt;&lt;/mrow&gt;&lt;mo&gt;=&lt;/mo&gt;&lt;mn&gt;2&lt;/mn&gt;&lt;mo&gt;×&lt;/mo&gt;&lt;mi&gt;e&lt;/mi&gt;&lt;/math&gt;" title="2 times open paren d over 2 plus 5 close paren equals 2 times 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05950" y="2027311"/>
            <a:ext cx="218678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140" descr="&lt;math xmlns=&quot;http://www.w3.org/1998/Math/MathML&quot; display=&quot;block&quot; data-is-equatio=&quot;1&quot; data-latex=&quot;d+10=2e&quot;&gt;&lt;mi&gt;d&lt;/mi&gt;&lt;mo&gt;+&lt;/mo&gt;&lt;mn&gt;10&lt;/mn&gt;&lt;mo&gt;=&lt;/mo&gt;&lt;mn&gt;2&lt;/mn&gt;&lt;mi&gt;e&lt;/mi&gt;&lt;/math&gt;" title="d plus 10 equals 2 e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1974" y="2866482"/>
            <a:ext cx="1197557" cy="1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140" descr="&lt;math xmlns=&quot;http://www.w3.org/1998/Math/MathML&quot; display=&quot;block&quot; data-is-equatio=&quot;1&quot; data-latex=&quot;d=2e-10&quot;&gt;&lt;mi&gt;d&lt;/mi&gt;&lt;mo&gt;=&lt;/mo&gt;&lt;mn&gt;2&lt;/mn&gt;&lt;mi&gt;e&lt;/mi&gt;&lt;mo&gt;−&lt;/mo&gt;&lt;mn&gt;10&lt;/mn&gt;&lt;/math&gt;" title="d equals 2 e minus 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56707" y="3480196"/>
            <a:ext cx="1201701" cy="17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140" descr="&lt;math xmlns=&quot;http://www.w3.org/1998/Math/MathML&quot; display=&quot;block&quot; data-is-equatio=&quot;1&quot; data-latex=&quot;=2e-10&quot;&gt;&lt;mo&gt;=&lt;/mo&gt;&lt;mn&gt;2&lt;/mn&gt;&lt;mi&gt;e&lt;/mi&gt;&lt;mo&gt;−&lt;/mo&gt;&lt;mn&gt;10&lt;/mn&gt;&lt;/math&gt;" title="equals 2 e minus 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95027" y="4017998"/>
            <a:ext cx="953073" cy="169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40"/>
          <p:cNvSpPr txBox="1"/>
          <p:nvPr>
            <p:ph type="body" idx="1"/>
          </p:nvPr>
        </p:nvSpPr>
        <p:spPr>
          <a:xfrm>
            <a:off x="349603" y="4501800"/>
            <a:ext cx="78432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Not much difference in efficiency between the two methods.</a:t>
            </a:r>
            <a:endParaRPr sz="2000"/>
          </a:p>
        </p:txBody>
      </p:sp>
      <p:sp>
        <p:nvSpPr>
          <p:cNvPr id="1722" name="Google Shape;1722;p140"/>
          <p:cNvSpPr txBox="1"/>
          <p:nvPr>
            <p:ph type="body" idx="1"/>
          </p:nvPr>
        </p:nvSpPr>
        <p:spPr>
          <a:xfrm>
            <a:off x="4582275" y="1869331"/>
            <a:ext cx="1360800" cy="9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 sure to multiply </a:t>
            </a:r>
            <a:r>
              <a:rPr lang="en-GB" sz="1800">
                <a:solidFill>
                  <a:schemeClr val="accent4"/>
                </a:solidFill>
              </a:rPr>
              <a:t>all </a:t>
            </a:r>
            <a:r>
              <a:rPr lang="en-GB" sz="1800"/>
              <a:t>terms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6" name="Shape 1726"/>
        <p:cNvGrpSpPr/>
        <p:nvPr/>
      </p:nvGrpSpPr>
      <p:grpSpPr>
        <a:xfrm>
          <a:off x="0" y="0"/>
          <a:ext cx="0" cy="0"/>
        </a:xfrm>
      </p:grpSpPr>
      <p:sp>
        <p:nvSpPr>
          <p:cNvPr id="1727" name="Google Shape;1727;p1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728" name="Google Shape;1728;p141"/>
          <p:cNvSpPr txBox="1"/>
          <p:nvPr>
            <p:ph type="subTitle" idx="3"/>
          </p:nvPr>
        </p:nvSpPr>
        <p:spPr>
          <a:xfrm>
            <a:off x="939559" y="3796357"/>
            <a:ext cx="2095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×3 </a:t>
            </a:r>
            <a:r>
              <a:rPr lang="en-GB" sz="2000"/>
              <a:t>on both sides</a:t>
            </a:r>
            <a:endParaRPr sz="2000"/>
          </a:p>
        </p:txBody>
      </p:sp>
      <p:sp>
        <p:nvSpPr>
          <p:cNvPr id="1729" name="Google Shape;1729;p1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is the most efficient first step to take when rearranging this formula?</a:t>
            </a:r>
            <a:endParaRPr/>
          </a:p>
        </p:txBody>
      </p:sp>
      <p:pic>
        <p:nvPicPr>
          <p:cNvPr id="1730" name="Google Shape;1730;p141" descr="&lt;math xmlns=&quot;http://www.w3.org/1998/Math/MathML&quot; display=&quot;block&quot; data-is-equatio=&quot;1&quot; data-latex=&quot;\frac{y+7}{3}=x&quot;&gt;&lt;mfrac&gt;&lt;mrow&gt;&lt;mi&gt;y&lt;/mi&gt;&lt;mo&gt;+&lt;/mo&gt;&lt;mn&gt;7&lt;/mn&gt;&lt;/mrow&gt;&lt;mn&gt;3&lt;/mn&gt;&lt;/mfrac&gt;&lt;mo&gt;=&lt;/mo&gt;&lt;mi&gt;x&lt;/mi&gt;&lt;/math&gt;" title="the fraction with numerator y plus 7 and denominator 3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250" y="1156201"/>
            <a:ext cx="121797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41"/>
          <p:cNvSpPr txBox="1"/>
          <p:nvPr>
            <p:ph type="subTitle" idx="3"/>
          </p:nvPr>
        </p:nvSpPr>
        <p:spPr>
          <a:xfrm>
            <a:off x="939559" y="1849677"/>
            <a:ext cx="20958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−7</a:t>
            </a:r>
            <a:r>
              <a:rPr lang="en-GB" sz="2000"/>
              <a:t> on both sides</a:t>
            </a:r>
            <a:endParaRPr sz="2000"/>
          </a:p>
        </p:txBody>
      </p:sp>
      <p:sp>
        <p:nvSpPr>
          <p:cNvPr id="1732" name="Google Shape;1732;p141"/>
          <p:cNvSpPr txBox="1"/>
          <p:nvPr>
            <p:ph type="subTitle" idx="3"/>
          </p:nvPr>
        </p:nvSpPr>
        <p:spPr>
          <a:xfrm>
            <a:off x="1350732" y="2824425"/>
            <a:ext cx="17490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on both sides</a:t>
            </a:r>
            <a:endParaRPr sz="2000"/>
          </a:p>
        </p:txBody>
      </p:sp>
      <p:pic>
        <p:nvPicPr>
          <p:cNvPr id="1733" name="Google Shape;1733;p141" descr="&lt;math xmlns=&quot;http://www.w3.org/1998/Math/MathML&quot; display=&quot;block&quot; data-is-equatio=&quot;1&quot; data-latex=&quot;-\frac{7}{3}&quot;&gt;&lt;mo&gt;−&lt;/mo&gt;&lt;mfrac&gt;&lt;mn&gt;7&lt;/mn&gt;&lt;mn&gt;3&lt;/mn&gt;&lt;/mfrac&gt;&lt;/math&gt;" title="negative sev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4955" y="2744968"/>
            <a:ext cx="324046" cy="4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1354" y="379400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6633" y="28087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6633" y="18181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7" name="Google Shape;1737;p141" descr="&lt;math xmlns=&quot;http://www.w3.org/1998/Math/MathML&quot; display=&quot;block&quot; data-is-equatio=&quot;1&quot; data-latex=&quot;\frac{y+7}{3}-7=x-7&quot;&gt;&lt;mfrac&gt;&lt;mrow&gt;&lt;mi&gt;y&lt;/mi&gt;&lt;mo&gt;+&lt;/mo&gt;&lt;mn&gt;7&lt;/mn&gt;&lt;/mrow&gt;&lt;mn&gt;3&lt;/mn&gt;&lt;/mfrac&gt;&lt;mo&gt;−&lt;/mo&gt;&lt;mn&gt;7&lt;/mn&gt;&lt;mo&gt;=&lt;/mo&gt;&lt;mi&gt;x&lt;/mi&gt;&lt;mo&gt;−&lt;/mo&gt;&lt;mn&gt;7&lt;/mn&gt;&lt;/math&gt;" title="the fraction with numerator y plus 7 and denominator 3 minus 7 equals x min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0132" y="1735580"/>
            <a:ext cx="1935849" cy="54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141" descr="&lt;math xmlns=&quot;http://www.w3.org/1998/Math/MathML&quot; display=&quot;block&quot; data-is-equatio=&quot;1&quot; data-latex=&quot;\frac{y}{3}=x-\frac{7}{3}&quot;&gt;&lt;mfrac&gt;&lt;mi&gt;y&lt;/mi&gt;&lt;mn&gt;3&lt;/mn&gt;&lt;/mfrac&gt;&lt;mo&gt;=&lt;/mo&gt;&lt;mi&gt;x&lt;/mi&gt;&lt;mo&gt;−&lt;/mo&gt;&lt;mfrac&gt;&lt;mn&gt;7&lt;/mn&gt;&lt;mn&gt;3&lt;/mn&gt;&lt;/mfrac&gt;&lt;/math&gt;" title="y over 3 equals x minus seven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08332" y="2804528"/>
            <a:ext cx="1195317" cy="559427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141"/>
          <p:cNvSpPr txBox="1"/>
          <p:nvPr/>
        </p:nvSpPr>
        <p:spPr>
          <a:xfrm flipH="1">
            <a:off x="3678448" y="1879580"/>
            <a:ext cx="19929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Really inefficient!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0" name="Google Shape;1740;p141"/>
          <p:cNvSpPr txBox="1"/>
          <p:nvPr/>
        </p:nvSpPr>
        <p:spPr>
          <a:xfrm flipH="1">
            <a:off x="3697266" y="2770962"/>
            <a:ext cx="2779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will work but it’s not the most efficient.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41" name="Google Shape;1741;p141" descr="&lt;math xmlns=&quot;http://www.w3.org/1998/Math/MathML&quot; display=&quot;block&quot; data-is-equatio=&quot;1&quot; data-latex=&quot;y+7=3x&quot;&gt;&lt;mi&gt;y&lt;/mi&gt;&lt;mo&gt;+&lt;/mo&gt;&lt;mn&gt;7&lt;/mn&gt;&lt;mo&gt;=&lt;/mo&gt;&lt;mn&gt;3&lt;/mn&gt;&lt;mi&gt;x&lt;/mi&gt;&lt;/math&gt;" title="y plus 7 equals 3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29551" y="3854345"/>
            <a:ext cx="1485265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41"/>
          <p:cNvSpPr txBox="1"/>
          <p:nvPr/>
        </p:nvSpPr>
        <p:spPr>
          <a:xfrm flipH="1">
            <a:off x="3678448" y="3837766"/>
            <a:ext cx="19929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Highly efficient!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6" name="Shape 1746"/>
        <p:cNvGrpSpPr/>
        <p:nvPr/>
      </p:nvGrpSpPr>
      <p:grpSpPr>
        <a:xfrm>
          <a:off x="0" y="0"/>
          <a:ext cx="0" cy="0"/>
        </a:xfrm>
      </p:grpSpPr>
      <p:sp>
        <p:nvSpPr>
          <p:cNvPr id="1747" name="Google Shape;1747;p142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 subject.</a:t>
            </a:r>
            <a:endParaRPr/>
          </a:p>
        </p:txBody>
      </p:sp>
      <p:sp>
        <p:nvSpPr>
          <p:cNvPr id="1748" name="Google Shape;1748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749" name="Google Shape;1749;p142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2"/>
          <p:cNvSpPr txBox="1"/>
          <p:nvPr/>
        </p:nvSpPr>
        <p:spPr>
          <a:xfrm>
            <a:off x="324000" y="24357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42"/>
          <p:cNvSpPr txBox="1"/>
          <p:nvPr/>
        </p:nvSpPr>
        <p:spPr>
          <a:xfrm>
            <a:off x="4568187" y="24357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42"/>
          <p:cNvSpPr txBox="1"/>
          <p:nvPr/>
        </p:nvSpPr>
        <p:spPr>
          <a:xfrm>
            <a:off x="4579693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42"/>
          <p:cNvSpPr txBox="1"/>
          <p:nvPr/>
        </p:nvSpPr>
        <p:spPr>
          <a:xfrm>
            <a:off x="324000" y="3731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42"/>
          <p:cNvSpPr txBox="1"/>
          <p:nvPr/>
        </p:nvSpPr>
        <p:spPr>
          <a:xfrm>
            <a:off x="4568187" y="3731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2"/>
          <p:cNvSpPr txBox="1"/>
          <p:nvPr>
            <p:ph type="body" idx="4294967295"/>
          </p:nvPr>
        </p:nvSpPr>
        <p:spPr>
          <a:xfrm>
            <a:off x="834368" y="12049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142"/>
          <p:cNvSpPr txBox="1"/>
          <p:nvPr/>
        </p:nvSpPr>
        <p:spPr>
          <a:xfrm>
            <a:off x="5101060" y="1186220"/>
            <a:ext cx="140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600" i="1"/>
          </a:p>
        </p:txBody>
      </p:sp>
      <p:sp>
        <p:nvSpPr>
          <p:cNvPr id="1757" name="Google Shape;1757;p142"/>
          <p:cNvSpPr txBox="1"/>
          <p:nvPr>
            <p:ph type="body" idx="4294967295"/>
          </p:nvPr>
        </p:nvSpPr>
        <p:spPr>
          <a:xfrm>
            <a:off x="834368" y="24241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8" name="Google Shape;1758;p142"/>
          <p:cNvSpPr txBox="1"/>
          <p:nvPr>
            <p:ph type="body" idx="4294967295"/>
          </p:nvPr>
        </p:nvSpPr>
        <p:spPr>
          <a:xfrm>
            <a:off x="5101060" y="24241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9" name="Google Shape;1759;p142" descr="&lt;math xmlns=&quot;http://www.w3.org/1998/Math/MathML&quot; display=&quot;block&quot; data-is-equatio=&quot;1&quot; data-latex=&quot;\frac{c+3}{9}=d&quot;&gt;&lt;mfrac&gt;&lt;mrow&gt;&lt;mi&gt;c&lt;/mi&gt;&lt;mo&gt;+&lt;/mo&gt;&lt;mn&gt;3&lt;/mn&gt;&lt;/mrow&gt;&lt;mn&gt;9&lt;/mn&gt;&lt;/mfrac&gt;&lt;mo&gt;=&lt;/mo&gt;&lt;mi&gt;d&lt;/mi&gt;&lt;/math&gt;" title="the fraction with numerator c plus 3 and denominator 9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060" y="3790800"/>
            <a:ext cx="1040375" cy="53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142" descr="&lt;math xmlns=&quot;http://www.w3.org/1998/Math/MathML&quot; display=&quot;block&quot; data-is-equatio=&quot;1&quot; data-latex=&quot;\frac{c}{9}+3=d&quot;&gt;&lt;mfrac&gt;&lt;mi&gt;c&lt;/mi&gt;&lt;mn&gt;9&lt;/mn&gt;&lt;/mfrac&gt;&lt;mo&gt;+&lt;/mo&gt;&lt;mn&gt;3&lt;/mn&gt;&lt;mo&gt;=&lt;/mo&gt;&lt;mi&gt;d&lt;/mi&gt;&lt;/math&gt;" title="c over 9 plus 3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368" y="3787525"/>
            <a:ext cx="1181043" cy="5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4" name="Shape 1764"/>
        <p:cNvGrpSpPr/>
        <p:nvPr/>
      </p:nvGrpSpPr>
      <p:grpSpPr>
        <a:xfrm>
          <a:off x="0" y="0"/>
          <a:ext cx="0" cy="0"/>
        </a:xfrm>
      </p:grpSpPr>
      <p:sp>
        <p:nvSpPr>
          <p:cNvPr id="1765" name="Google Shape;1765;p143"/>
          <p:cNvSpPr txBox="1"/>
          <p:nvPr>
            <p:ph type="body" idx="1"/>
          </p:nvPr>
        </p:nvSpPr>
        <p:spPr>
          <a:xfrm>
            <a:off x="324000" y="759300"/>
            <a:ext cx="71352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Laura has been rearranging these equations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</a:t>
            </a:r>
            <a:endParaRPr/>
          </a:p>
        </p:txBody>
      </p:sp>
      <p:sp>
        <p:nvSpPr>
          <p:cNvPr id="1766" name="Google Shape;1766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767" name="Google Shape;1767;p143"/>
          <p:cNvSpPr txBox="1"/>
          <p:nvPr/>
        </p:nvSpPr>
        <p:spPr>
          <a:xfrm>
            <a:off x="324000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43"/>
          <p:cNvSpPr txBox="1"/>
          <p:nvPr/>
        </p:nvSpPr>
        <p:spPr>
          <a:xfrm>
            <a:off x="3512893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43"/>
          <p:cNvSpPr txBox="1"/>
          <p:nvPr/>
        </p:nvSpPr>
        <p:spPr>
          <a:xfrm>
            <a:off x="6256093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43"/>
          <p:cNvSpPr txBox="1"/>
          <p:nvPr>
            <p:ph type="body" idx="4294967295"/>
          </p:nvPr>
        </p:nvSpPr>
        <p:spPr>
          <a:xfrm>
            <a:off x="834368" y="162767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1" name="Google Shape;1771;p143"/>
          <p:cNvSpPr txBox="1"/>
          <p:nvPr>
            <p:ph type="body" idx="4294967295"/>
          </p:nvPr>
        </p:nvSpPr>
        <p:spPr>
          <a:xfrm>
            <a:off x="1443968" y="2195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18 − 3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2" name="Google Shape;1772;p143" descr="&lt;math xmlns=&quot;http://www.w3.org/1998/Math/MathML&quot; display=&quot;block&quot; data-is-equatio=&quot;1&quot; data-latex=&quot;\frac{y}{2}-5=x&quot;&gt;&lt;mfrac&gt;&lt;mi&gt;y&lt;/mi&gt;&lt;mn&gt;2&lt;/mn&gt;&lt;/mfrac&gt;&lt;mo&gt;−&lt;/mo&gt;&lt;mn&gt;5&lt;/mn&gt;&lt;mo&gt;=&lt;/mo&gt;&lt;mi&gt;x&lt;/mi&gt;&lt;/math&gt;" title="y over 2 minus 5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1579330"/>
            <a:ext cx="1205472" cy="5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43"/>
          <p:cNvSpPr txBox="1"/>
          <p:nvPr>
            <p:ph type="body" idx="4294967295"/>
          </p:nvPr>
        </p:nvSpPr>
        <p:spPr>
          <a:xfrm>
            <a:off x="4129625" y="2348000"/>
            <a:ext cx="1412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4" name="Google Shape;1774;p143"/>
          <p:cNvSpPr txBox="1"/>
          <p:nvPr>
            <p:ph type="body" idx="4294967295"/>
          </p:nvPr>
        </p:nvSpPr>
        <p:spPr>
          <a:xfrm>
            <a:off x="4598332" y="2957600"/>
            <a:ext cx="1412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5" name="Google Shape;1775;p143"/>
          <p:cNvSpPr txBox="1"/>
          <p:nvPr>
            <p:ph type="body" idx="4294967295"/>
          </p:nvPr>
        </p:nvSpPr>
        <p:spPr>
          <a:xfrm>
            <a:off x="6701768" y="162767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6" name="Google Shape;1776;p143"/>
          <p:cNvSpPr txBox="1"/>
          <p:nvPr>
            <p:ph type="body" idx="4294967295"/>
          </p:nvPr>
        </p:nvSpPr>
        <p:spPr>
          <a:xfrm>
            <a:off x="7181981" y="2195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7" name="Google Shape;1777;p143" descr="&lt;math xmlns=&quot;http://www.w3.org/1998/Math/MathML&quot; display=&quot;block&quot; data-is-equatio=&quot;1&quot; data-latex=&quot;y=\frac{7x+3}{2}&quot;&gt;&lt;mi&gt;y&lt;/mi&gt;&lt;mo&gt;=&lt;/mo&gt;&lt;mfrac&gt;&lt;mrow&gt;&lt;mn&gt;7&lt;/mn&gt;&lt;mi&gt;x&lt;/mi&gt;&lt;mo&gt;+&lt;/mo&gt;&lt;mn&gt;3&lt;/mn&gt;&lt;/mrow&gt;&lt;mn&gt;2&lt;/mn&gt;&lt;/mfrac&gt;&lt;/math&gt;" title="y equals the fraction with numerator 7 x plus 3 and denominato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714" y="2801541"/>
            <a:ext cx="1205450" cy="536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951" y="3872525"/>
            <a:ext cx="721749" cy="94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2827" y="2352281"/>
            <a:ext cx="323400" cy="34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6027" y="3061095"/>
            <a:ext cx="323400" cy="34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6827" y="3213495"/>
            <a:ext cx="323400" cy="34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143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827476" y="2782480"/>
            <a:ext cx="3450849" cy="15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43"/>
          <p:cNvSpPr txBox="1"/>
          <p:nvPr/>
        </p:nvSpPr>
        <p:spPr>
          <a:xfrm flipH="1">
            <a:off x="1104750" y="2817000"/>
            <a:ext cx="31356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checked my answers and they are all wrong. Can you help me spot where I went wrong?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4" name="Google Shape;1784;p143"/>
          <p:cNvSpPr txBox="1"/>
          <p:nvPr/>
        </p:nvSpPr>
        <p:spPr>
          <a:xfrm flipH="1">
            <a:off x="4434462" y="3784587"/>
            <a:ext cx="4097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 each case circle Laura’s errors and write a sentence to explain what she should do differently.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8" name="Shape 1788"/>
        <p:cNvGrpSpPr/>
        <p:nvPr/>
      </p:nvGrpSpPr>
      <p:grpSpPr>
        <a:xfrm>
          <a:off x="0" y="0"/>
          <a:ext cx="0" cy="0"/>
        </a:xfrm>
      </p:grpSpPr>
      <p:sp>
        <p:nvSpPr>
          <p:cNvPr id="1789" name="Google Shape;1789;p144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 subject.</a:t>
            </a:r>
            <a:endParaRPr/>
          </a:p>
        </p:txBody>
      </p:sp>
      <p:sp>
        <p:nvSpPr>
          <p:cNvPr id="1790" name="Google Shape;1790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791" name="Google Shape;1791;p144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44"/>
          <p:cNvSpPr txBox="1"/>
          <p:nvPr/>
        </p:nvSpPr>
        <p:spPr>
          <a:xfrm>
            <a:off x="324000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44"/>
          <p:cNvSpPr txBox="1"/>
          <p:nvPr/>
        </p:nvSpPr>
        <p:spPr>
          <a:xfrm>
            <a:off x="4568187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4"/>
          <p:cNvSpPr txBox="1"/>
          <p:nvPr/>
        </p:nvSpPr>
        <p:spPr>
          <a:xfrm>
            <a:off x="4579693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44"/>
          <p:cNvSpPr txBox="1"/>
          <p:nvPr>
            <p:ph type="body" idx="4294967295"/>
          </p:nvPr>
        </p:nvSpPr>
        <p:spPr>
          <a:xfrm>
            <a:off x="834368" y="12049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6" name="Google Shape;1796;p144"/>
          <p:cNvSpPr txBox="1"/>
          <p:nvPr/>
        </p:nvSpPr>
        <p:spPr>
          <a:xfrm>
            <a:off x="5101060" y="1186220"/>
            <a:ext cx="140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600" i="1"/>
          </a:p>
        </p:txBody>
      </p:sp>
      <p:sp>
        <p:nvSpPr>
          <p:cNvPr id="1797" name="Google Shape;1797;p144"/>
          <p:cNvSpPr txBox="1"/>
          <p:nvPr>
            <p:ph type="body" idx="4294967295"/>
          </p:nvPr>
        </p:nvSpPr>
        <p:spPr>
          <a:xfrm>
            <a:off x="834368" y="2957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8" name="Google Shape;1798;p144"/>
          <p:cNvSpPr txBox="1"/>
          <p:nvPr>
            <p:ph type="body" idx="4294967295"/>
          </p:nvPr>
        </p:nvSpPr>
        <p:spPr>
          <a:xfrm>
            <a:off x="5101060" y="2957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9" name="Google Shape;1799;p144"/>
          <p:cNvSpPr txBox="1"/>
          <p:nvPr>
            <p:ph type="body" idx="4294967295"/>
          </p:nvPr>
        </p:nvSpPr>
        <p:spPr>
          <a:xfrm>
            <a:off x="1314581" y="1639185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19 − 7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0" name="Google Shape;1800;p144" descr="&lt;math xmlns=&quot;http://www.w3.org/1998/Math/MathML&quot; display=&quot;block&quot; data-is-equatio=&quot;1&quot; data-latex=&quot;c=\frac{19-7}{6}&quot;&gt;&lt;mi&gt;c&lt;/mi&gt;&lt;mo&gt;=&lt;/mo&gt;&lt;mfrac&gt;&lt;mrow&gt;&lt;mn&gt;19&lt;/mn&gt;&lt;mo&gt;−&lt;/mo&gt;&lt;mn&gt;7&lt;/mn&gt;&lt;/mrow&gt;&lt;mn&gt;6&lt;/mn&gt;&lt;/mfrac&gt;&lt;/math&gt;" title="c equals the fraction with numerator 19 minus 7 and denominato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226" y="2156086"/>
            <a:ext cx="1215218" cy="5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44"/>
          <p:cNvSpPr txBox="1"/>
          <p:nvPr/>
        </p:nvSpPr>
        <p:spPr>
          <a:xfrm>
            <a:off x="5581274" y="1643420"/>
            <a:ext cx="140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− 8</a:t>
            </a:r>
            <a:endParaRPr sz="1600" i="1"/>
          </a:p>
        </p:txBody>
      </p:sp>
      <p:pic>
        <p:nvPicPr>
          <p:cNvPr id="1802" name="Google Shape;1802;p144" descr="&lt;math xmlns=&quot;http://www.w3.org/1998/Math/MathML&quot; display=&quot;block&quot; data-is-equatio=&quot;1&quot; data-latex=&quot;c=\frac{d-8}{3}&quot;&gt;&lt;mi&gt;c&lt;/mi&gt;&lt;mo&gt;=&lt;/mo&gt;&lt;mfrac&gt;&lt;mrow&gt;&lt;mi&gt;d&lt;/mi&gt;&lt;mo&gt;−&lt;/mo&gt;&lt;mn&gt;8&lt;/mn&gt;&lt;/mrow&gt;&lt;mn&gt;3&lt;/mn&gt;&lt;/mfrac&gt;&lt;/math&gt;" title="c equals the fraction with numerator d minus 8 and denominator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6680" y="2151575"/>
            <a:ext cx="1088418" cy="5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44"/>
          <p:cNvSpPr txBox="1"/>
          <p:nvPr>
            <p:ph type="body" idx="4294967295"/>
          </p:nvPr>
        </p:nvSpPr>
        <p:spPr>
          <a:xfrm>
            <a:off x="1291568" y="34909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144"/>
          <p:cNvSpPr txBox="1"/>
          <p:nvPr>
            <p:ph type="body" idx="4294967295"/>
          </p:nvPr>
        </p:nvSpPr>
        <p:spPr>
          <a:xfrm>
            <a:off x="681968" y="40243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144"/>
          <p:cNvSpPr txBox="1"/>
          <p:nvPr>
            <p:ph type="body" idx="4294967295"/>
          </p:nvPr>
        </p:nvSpPr>
        <p:spPr>
          <a:xfrm>
            <a:off x="5722675" y="3357265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19 + 3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6" name="Google Shape;1806;p144"/>
          <p:cNvSpPr txBox="1"/>
          <p:nvPr>
            <p:ph type="body" idx="4294967295"/>
          </p:nvPr>
        </p:nvSpPr>
        <p:spPr>
          <a:xfrm>
            <a:off x="5113075" y="3807305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− 19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7" name="Google Shape;1807;p144" descr="&lt;math xmlns=&quot;http://www.w3.org/1998/Math/MathML&quot; display=&quot;block&quot; data-is-equatio=&quot;1&quot; data-latex=&quot;\frac{d-19}{3}=c&quot;&gt;&lt;mfrac&gt;&lt;mrow&gt;&lt;mi&gt;d&lt;/mi&gt;&lt;mo&gt;−&lt;/mo&gt;&lt;mn&gt;19&lt;/mn&gt;&lt;/mrow&gt;&lt;mn&gt;3&lt;/mn&gt;&lt;/mfrac&gt;&lt;mo&gt;=&lt;/mo&gt;&lt;mi&gt;c&lt;/mi&gt;&lt;/math&gt;" title="the fraction with numerator d minus 19 and denominator 3 equals 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1773" y="4258300"/>
            <a:ext cx="1231971" cy="5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1" name="Shape 1811"/>
        <p:cNvGrpSpPr/>
        <p:nvPr/>
      </p:nvGrpSpPr>
      <p:grpSpPr>
        <a:xfrm>
          <a:off x="0" y="0"/>
          <a:ext cx="0" cy="0"/>
        </a:xfrm>
      </p:grpSpPr>
      <p:sp>
        <p:nvSpPr>
          <p:cNvPr id="1812" name="Google Shape;1812;p145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the subject.</a:t>
            </a:r>
            <a:endParaRPr/>
          </a:p>
        </p:txBody>
      </p:sp>
      <p:sp>
        <p:nvSpPr>
          <p:cNvPr id="1813" name="Google Shape;1813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814" name="Google Shape;1814;p145"/>
          <p:cNvSpPr txBox="1"/>
          <p:nvPr/>
        </p:nvSpPr>
        <p:spPr>
          <a:xfrm>
            <a:off x="324000" y="1826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45"/>
          <p:cNvSpPr txBox="1"/>
          <p:nvPr/>
        </p:nvSpPr>
        <p:spPr>
          <a:xfrm>
            <a:off x="4568187" y="1826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6" name="Google Shape;1816;p145" descr="&lt;math xmlns=&quot;http://www.w3.org/1998/Math/MathML&quot; display=&quot;block&quot; data-is-equatio=&quot;1&quot; data-latex=&quot;\frac{c+3}{9}=d&quot;&gt;&lt;mfrac&gt;&lt;mrow&gt;&lt;mi&gt;c&lt;/mi&gt;&lt;mo&gt;+&lt;/mo&gt;&lt;mn&gt;3&lt;/mn&gt;&lt;/mrow&gt;&lt;mn&gt;9&lt;/mn&gt;&lt;/mfrac&gt;&lt;mo&gt;=&lt;/mo&gt;&lt;mi&gt;d&lt;/mi&gt;&lt;/math&gt;" title="the fraction with numerator c plus 3 and denominator 9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060" y="1885800"/>
            <a:ext cx="1040375" cy="53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145" descr="&lt;math xmlns=&quot;http://www.w3.org/1998/Math/MathML&quot; display=&quot;block&quot; data-is-equatio=&quot;1&quot; data-latex=&quot;\frac{c}{9}+3=d&quot;&gt;&lt;mfrac&gt;&lt;mi&gt;c&lt;/mi&gt;&lt;mn&gt;9&lt;/mn&gt;&lt;/mfrac&gt;&lt;mo&gt;+&lt;/mo&gt;&lt;mn&gt;3&lt;/mn&gt;&lt;mo&gt;=&lt;/mo&gt;&lt;mi&gt;d&lt;/mi&gt;&lt;/math&gt;" title="c over 9 plus 3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368" y="1882525"/>
            <a:ext cx="1181043" cy="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145" descr="&lt;math xmlns=&quot;http://www.w3.org/1998/Math/MathML&quot; display=&quot;block&quot; data-is-equatio=&quot;1&quot; data-latex=&quot;\frac{c}{9}=d-3&quot;&gt;&lt;mfrac&gt;&lt;mi&gt;c&lt;/mi&gt;&lt;mn&gt;9&lt;/mn&gt;&lt;/mfrac&gt;&lt;mo&gt;=&lt;/mo&gt;&lt;mi&gt;d&lt;/mi&gt;&lt;mo&gt;−&lt;/mo&gt;&lt;mn&gt;3&lt;/mn&gt;&lt;/math&gt;" title="c over 9 equals d minu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0880" y="2651962"/>
            <a:ext cx="1243012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p145" descr="&lt;math xmlns=&quot;http://www.w3.org/1998/Math/MathML&quot; display=&quot;block&quot; data-is-equatio=&quot;1&quot; data-latex=&quot;=9d-27&quot;&gt;&lt;mo&gt;=&lt;/mo&gt;&lt;mn&gt;9&lt;/mn&gt;&lt;mi&gt;d&lt;/mi&gt;&lt;mo&gt;−&lt;/mo&gt;&lt;mn&gt;27&lt;/mn&gt;&lt;/math&gt;" title="equals 9 d minus 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6100" y="3490525"/>
            <a:ext cx="1337825" cy="2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145" descr="&lt;math xmlns=&quot;http://www.w3.org/1998/Math/MathML&quot; display=&quot;block&quot; data-is-equatio=&quot;1&quot; data-latex=&quot;c=9\left(d-3\right)&quot;&gt;&lt;mi&gt;c&lt;/mi&gt;&lt;mo&gt;=&lt;/mo&gt;&lt;mn&gt;9&lt;/mn&gt;&lt;mrow data-mjx-texclass=&quot;INNER&quot;&gt;&lt;mo data-mjx-texclass=&quot;OPEN&quot;&gt;(&lt;/mo&gt;&lt;mi&gt;d&lt;/mi&gt;&lt;mo&gt;−&lt;/mo&gt;&lt;mn&gt;3&lt;/mn&gt;&lt;mo data-mjx-texclass=&quot;CLOSE&quot;&gt;)&lt;/mo&gt;&lt;/mrow&gt;&lt;/math&gt;" title="c equals 9 times open paren d minus 3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1500" y="3492282"/>
            <a:ext cx="1611900" cy="27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145" descr="&lt;math xmlns=&quot;http://www.w3.org/1998/Math/MathML&quot; display=&quot;block&quot; data-is-equatio=&quot;1&quot; data-latex=&quot;c+3=9d&quot;&gt;&lt;mi&gt;c&lt;/mi&gt;&lt;mo&gt;+&lt;/mo&gt;&lt;mn&gt;3&lt;/mn&gt;&lt;mo&gt;=&lt;/mo&gt;&lt;mn&gt;9&lt;/mn&gt;&lt;mi&gt;d&lt;/mi&gt;&lt;/math&gt;" title="c plus 3 equals 9 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1630" y="2646400"/>
            <a:ext cx="1171177" cy="19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145" descr="&lt;math xmlns=&quot;http://www.w3.org/1998/Math/MathML&quot; display=&quot;block&quot; data-is-equatio=&quot;1&quot; data-latex=&quot;c=9d-3&quot;&gt;&lt;mi&gt;c&lt;/mi&gt;&lt;mo&gt;=&lt;/mo&gt;&lt;mn&gt;9&lt;/mn&gt;&lt;mi&gt;d&lt;/mi&gt;&lt;mo&gt;−&lt;/mo&gt;&lt;mn&gt;3&lt;/mn&gt;&lt;/math&gt;" title="c equals 9 d minus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77687" y="3212309"/>
            <a:ext cx="1153089" cy="19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6" name="Shape 1826"/>
        <p:cNvGrpSpPr/>
        <p:nvPr/>
      </p:nvGrpSpPr>
      <p:grpSpPr>
        <a:xfrm>
          <a:off x="0" y="0"/>
          <a:ext cx="0" cy="0"/>
        </a:xfrm>
      </p:grpSpPr>
      <p:sp>
        <p:nvSpPr>
          <p:cNvPr id="1827" name="Google Shape;1827;p146"/>
          <p:cNvSpPr txBox="1"/>
          <p:nvPr>
            <p:ph type="body" idx="1"/>
          </p:nvPr>
        </p:nvSpPr>
        <p:spPr>
          <a:xfrm>
            <a:off x="324000" y="759300"/>
            <a:ext cx="71352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Laura has been rearranging these equations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the subject.</a:t>
            </a:r>
            <a:endParaRPr/>
          </a:p>
        </p:txBody>
      </p:sp>
      <p:sp>
        <p:nvSpPr>
          <p:cNvPr id="1828" name="Google Shape;1828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829" name="Google Shape;1829;p146"/>
          <p:cNvSpPr txBox="1"/>
          <p:nvPr/>
        </p:nvSpPr>
        <p:spPr>
          <a:xfrm>
            <a:off x="324000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46"/>
          <p:cNvSpPr txBox="1"/>
          <p:nvPr/>
        </p:nvSpPr>
        <p:spPr>
          <a:xfrm>
            <a:off x="3512893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46"/>
          <p:cNvSpPr txBox="1"/>
          <p:nvPr/>
        </p:nvSpPr>
        <p:spPr>
          <a:xfrm>
            <a:off x="6256093" y="162051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46"/>
          <p:cNvSpPr txBox="1"/>
          <p:nvPr>
            <p:ph type="body" idx="4294967295"/>
          </p:nvPr>
        </p:nvSpPr>
        <p:spPr>
          <a:xfrm>
            <a:off x="834368" y="162767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3" name="Google Shape;1833;p146"/>
          <p:cNvSpPr txBox="1"/>
          <p:nvPr>
            <p:ph type="body" idx="4294967295"/>
          </p:nvPr>
        </p:nvSpPr>
        <p:spPr>
          <a:xfrm>
            <a:off x="1443968" y="2195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18 − 3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4" name="Google Shape;1834;p146" descr="&lt;math xmlns=&quot;http://www.w3.org/1998/Math/MathML&quot; display=&quot;block&quot; data-is-equatio=&quot;1&quot; data-latex=&quot;\frac{y}{2}-5=x&quot;&gt;&lt;mfrac&gt;&lt;mi&gt;y&lt;/mi&gt;&lt;mn&gt;2&lt;/mn&gt;&lt;/mfrac&gt;&lt;mo&gt;−&lt;/mo&gt;&lt;mn&gt;5&lt;/mn&gt;&lt;mo&gt;=&lt;/mo&gt;&lt;mi&gt;x&lt;/mi&gt;&lt;/math&gt;" title="y over 2 minus 5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1579330"/>
            <a:ext cx="1205472" cy="5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46"/>
          <p:cNvSpPr txBox="1"/>
          <p:nvPr>
            <p:ph type="body" idx="4294967295"/>
          </p:nvPr>
        </p:nvSpPr>
        <p:spPr>
          <a:xfrm>
            <a:off x="4129625" y="2348000"/>
            <a:ext cx="1412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146"/>
          <p:cNvSpPr txBox="1"/>
          <p:nvPr>
            <p:ph type="body" idx="4294967295"/>
          </p:nvPr>
        </p:nvSpPr>
        <p:spPr>
          <a:xfrm>
            <a:off x="4598332" y="2957600"/>
            <a:ext cx="1412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7" name="Google Shape;1837;p146"/>
          <p:cNvSpPr txBox="1"/>
          <p:nvPr>
            <p:ph type="body" idx="4294967295"/>
          </p:nvPr>
        </p:nvSpPr>
        <p:spPr>
          <a:xfrm>
            <a:off x="6701768" y="162767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8" name="Google Shape;1838;p146"/>
          <p:cNvSpPr txBox="1"/>
          <p:nvPr>
            <p:ph type="body" idx="4294967295"/>
          </p:nvPr>
        </p:nvSpPr>
        <p:spPr>
          <a:xfrm>
            <a:off x="7181981" y="219559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9" name="Google Shape;1839;p146" descr="&lt;math xmlns=&quot;http://www.w3.org/1998/Math/MathML&quot; display=&quot;block&quot; data-is-equatio=&quot;1&quot; data-latex=&quot;y=\frac{7x+3}{2}&quot;&gt;&lt;mi&gt;y&lt;/mi&gt;&lt;mo&gt;=&lt;/mo&gt;&lt;mfrac&gt;&lt;mrow&gt;&lt;mn&gt;7&lt;/mn&gt;&lt;mi&gt;x&lt;/mi&gt;&lt;mo&gt;+&lt;/mo&gt;&lt;mn&gt;3&lt;/mn&gt;&lt;/mrow&gt;&lt;mn&gt;2&lt;/mn&gt;&lt;/mfrac&gt;&lt;/math&gt;" title="y equals the fraction with numerator 7 x plus 3 and denominato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714" y="2801541"/>
            <a:ext cx="1205450" cy="536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951" y="3872525"/>
            <a:ext cx="721749" cy="94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1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2827" y="2352281"/>
            <a:ext cx="323400" cy="34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1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6027" y="3061095"/>
            <a:ext cx="323400" cy="342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1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6827" y="3213495"/>
            <a:ext cx="323400" cy="3427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46"/>
          <p:cNvSpPr txBox="1"/>
          <p:nvPr/>
        </p:nvSpPr>
        <p:spPr>
          <a:xfrm flipH="1">
            <a:off x="336905" y="2671750"/>
            <a:ext cx="31740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be the subject the coefficient needs to be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Divide both sides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5" name="Google Shape;1845;p146"/>
          <p:cNvSpPr/>
          <p:nvPr/>
        </p:nvSpPr>
        <p:spPr>
          <a:xfrm>
            <a:off x="1350668" y="2168210"/>
            <a:ext cx="458100" cy="480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46"/>
          <p:cNvSpPr/>
          <p:nvPr/>
        </p:nvSpPr>
        <p:spPr>
          <a:xfrm>
            <a:off x="4322468" y="2320610"/>
            <a:ext cx="458100" cy="480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46"/>
          <p:cNvSpPr txBox="1"/>
          <p:nvPr/>
        </p:nvSpPr>
        <p:spPr>
          <a:xfrm flipH="1">
            <a:off x="3384905" y="3456763"/>
            <a:ext cx="31740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multiplying both sides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be sure to multiply all terms. This line should read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 = 2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8" name="Google Shape;1848;p146"/>
          <p:cNvSpPr/>
          <p:nvPr/>
        </p:nvSpPr>
        <p:spPr>
          <a:xfrm>
            <a:off x="8079288" y="2156700"/>
            <a:ext cx="553800" cy="4806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46"/>
          <p:cNvSpPr txBox="1"/>
          <p:nvPr/>
        </p:nvSpPr>
        <p:spPr>
          <a:xfrm flipH="1">
            <a:off x="7194900" y="3685375"/>
            <a:ext cx="14127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meant to add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both sides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3" name="Shape 1853"/>
        <p:cNvGrpSpPr/>
        <p:nvPr/>
      </p:nvGrpSpPr>
      <p:grpSpPr>
        <a:xfrm>
          <a:off x="0" y="0"/>
          <a:ext cx="0" cy="0"/>
        </a:xfrm>
      </p:grpSpPr>
      <p:sp>
        <p:nvSpPr>
          <p:cNvPr id="1854" name="Google Shape;1854;p14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two steps</a:t>
            </a:r>
            <a:endParaRPr/>
          </a:p>
        </p:txBody>
      </p:sp>
      <p:sp>
        <p:nvSpPr>
          <p:cNvPr id="1855" name="Google Shape;1855;p14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formulae</a:t>
            </a:r>
            <a:endParaRPr/>
          </a:p>
        </p:txBody>
      </p:sp>
      <p:sp>
        <p:nvSpPr>
          <p:cNvPr id="1856" name="Google Shape;1856;p14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pic>
        <p:nvPicPr>
          <p:cNvPr id="1857" name="Google Shape;1857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1" name="Shape 1861"/>
        <p:cNvGrpSpPr/>
        <p:nvPr/>
      </p:nvGrpSpPr>
      <p:grpSpPr>
        <a:xfrm>
          <a:off x="0" y="0"/>
          <a:ext cx="0" cy="0"/>
        </a:xfrm>
      </p:grpSpPr>
      <p:sp>
        <p:nvSpPr>
          <p:cNvPr id="1862" name="Google Shape;1862;p148"/>
          <p:cNvSpPr txBox="1"/>
          <p:nvPr>
            <p:ph type="body" idx="1"/>
          </p:nvPr>
        </p:nvSpPr>
        <p:spPr>
          <a:xfrm>
            <a:off x="327427" y="1627675"/>
            <a:ext cx="4500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example, make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" name="Google Shape;1863;p148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 of the formula we need to rearrange will involve exponents.</a:t>
            </a:r>
            <a:endParaRPr/>
          </a:p>
        </p:txBody>
      </p:sp>
      <p:sp>
        <p:nvSpPr>
          <p:cNvPr id="1864" name="Google Shape;1864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865" name="Google Shape;1865;p148"/>
          <p:cNvSpPr txBox="1"/>
          <p:nvPr>
            <p:ph type="body" idx="1"/>
          </p:nvPr>
        </p:nvSpPr>
        <p:spPr>
          <a:xfrm>
            <a:off x="2510768" y="216107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6" name="Google Shape;1866;p148"/>
          <p:cNvSpPr txBox="1"/>
          <p:nvPr>
            <p:ph type="body" idx="1"/>
          </p:nvPr>
        </p:nvSpPr>
        <p:spPr>
          <a:xfrm>
            <a:off x="324000" y="2969100"/>
            <a:ext cx="4788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treat this case no differently. We still use inverse operations.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0" name="Shape 1870"/>
        <p:cNvGrpSpPr/>
        <p:nvPr/>
      </p:nvGrpSpPr>
      <p:grpSpPr>
        <a:xfrm>
          <a:off x="0" y="0"/>
          <a:ext cx="0" cy="0"/>
        </a:xfrm>
      </p:grpSpPr>
      <p:sp>
        <p:nvSpPr>
          <p:cNvPr id="1871" name="Google Shape;1871;p149"/>
          <p:cNvSpPr txBox="1"/>
          <p:nvPr>
            <p:ph type="body" idx="1"/>
          </p:nvPr>
        </p:nvSpPr>
        <p:spPr>
          <a:xfrm>
            <a:off x="327427" y="1627675"/>
            <a:ext cx="4500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example, make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2" name="Google Shape;1872;p149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 of the formula we need to rearrange will involve exponents.</a:t>
            </a:r>
            <a:endParaRPr/>
          </a:p>
        </p:txBody>
      </p:sp>
      <p:sp>
        <p:nvSpPr>
          <p:cNvPr id="1873" name="Google Shape;1873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874" name="Google Shape;1874;p149"/>
          <p:cNvSpPr txBox="1"/>
          <p:nvPr>
            <p:ph type="body" idx="1"/>
          </p:nvPr>
        </p:nvSpPr>
        <p:spPr>
          <a:xfrm>
            <a:off x="2510768" y="2115051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49"/>
          <p:cNvSpPr txBox="1"/>
          <p:nvPr>
            <p:ph type="body" idx="1"/>
          </p:nvPr>
        </p:nvSpPr>
        <p:spPr>
          <a:xfrm>
            <a:off x="2042061" y="265995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6" name="Google Shape;1876;p149"/>
          <p:cNvSpPr txBox="1"/>
          <p:nvPr>
            <p:ph type="body" idx="1"/>
          </p:nvPr>
        </p:nvSpPr>
        <p:spPr>
          <a:xfrm>
            <a:off x="4320000" y="2613928"/>
            <a:ext cx="4500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+(−5)</a:t>
            </a:r>
            <a:r>
              <a:rPr lang="en-GB"/>
              <a:t> to both sides.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7" name="Google Shape;1877;p149"/>
          <p:cNvSpPr txBox="1"/>
          <p:nvPr>
            <p:ph type="body" idx="1"/>
          </p:nvPr>
        </p:nvSpPr>
        <p:spPr>
          <a:xfrm>
            <a:off x="4320000" y="3170341"/>
            <a:ext cx="4500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Next we need the inverse of squaring.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8" name="Google Shape;1878;p149" descr="&lt;math xmlns=&quot;http://www.w3.org/1998/Math/MathML&quot; display=&quot;block&quot; data-is-equatio=&quot;1&quot; data-latex=&quot;\sqrt{y-5}=\sqrt{x^2}&quot;&gt;&lt;msqrt&gt;&lt;mi&gt;y&lt;/mi&gt;&lt;mo&gt;−&lt;/mo&gt;&lt;mn&gt;5&lt;/mn&gt;&lt;/msqrt&gt;&lt;mo&gt;=&lt;/mo&gt;&lt;msqrt&gt;&lt;msup&gt;&lt;mi&gt;x&lt;/mi&gt;&lt;mn&gt;2&lt;/mn&gt;&lt;/msup&gt;&lt;/msqrt&gt;&lt;/math&gt;" title="the square root of y minus 5 equals the square root of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107" y="3234534"/>
            <a:ext cx="1794326" cy="4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9" name="Google Shape;1879;p149" descr="&lt;math xmlns=&quot;http://www.w3.org/1998/Math/MathML&quot; display=&quot;block&quot; data-is-equatio=&quot;1&quot; data-latex=&quot;\sqrt{y-5}=x&quot;&gt;&lt;msqrt&gt;&lt;mi&gt;y&lt;/mi&gt;&lt;mo&gt;−&lt;/mo&gt;&lt;mn&gt;5&lt;/mn&gt;&lt;/msqrt&gt;&lt;mo&gt;=&lt;/mo&gt;&lt;mi&gt;x&lt;/mi&gt;&lt;/math&gt;" title="the square root of y minus 5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740" y="4054067"/>
            <a:ext cx="1417617" cy="376714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149"/>
          <p:cNvSpPr txBox="1"/>
          <p:nvPr>
            <p:ph type="body" idx="1"/>
          </p:nvPr>
        </p:nvSpPr>
        <p:spPr>
          <a:xfrm>
            <a:off x="4320000" y="4031562"/>
            <a:ext cx="29439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is now the subject.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4" name="Shape 1884"/>
        <p:cNvGrpSpPr/>
        <p:nvPr/>
      </p:nvGrpSpPr>
      <p:grpSpPr>
        <a:xfrm>
          <a:off x="0" y="0"/>
          <a:ext cx="0" cy="0"/>
        </a:xfrm>
      </p:grpSpPr>
      <p:pic>
        <p:nvPicPr>
          <p:cNvPr id="1885" name="Google Shape;1885;p15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979876" y="3011075"/>
            <a:ext cx="3340124" cy="14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50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Laura is rearranging this equation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887" name="Google Shape;1887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888" name="Google Shape;1888;p150"/>
          <p:cNvSpPr txBox="1"/>
          <p:nvPr>
            <p:ph type="body" idx="1"/>
          </p:nvPr>
        </p:nvSpPr>
        <p:spPr>
          <a:xfrm>
            <a:off x="2510768" y="1311371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9" name="Google Shape;1889;p150"/>
          <p:cNvSpPr txBox="1"/>
          <p:nvPr>
            <p:ph type="body" idx="1"/>
          </p:nvPr>
        </p:nvSpPr>
        <p:spPr>
          <a:xfrm>
            <a:off x="2042061" y="186343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50"/>
          <p:cNvSpPr txBox="1"/>
          <p:nvPr>
            <p:ph type="body" idx="1"/>
          </p:nvPr>
        </p:nvSpPr>
        <p:spPr>
          <a:xfrm>
            <a:off x="1272000" y="3094150"/>
            <a:ext cx="2943900" cy="10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inverse of squaring is to square root so can I do this?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1" name="Google Shape;1891;p150" descr="&lt;math xmlns=&quot;http://www.w3.org/1998/Math/MathML&quot; display=&quot;block&quot; data-is-equatio=&quot;1&quot; data-latex=&quot;\sqrt{y}\ +\ \sqrt{9}=\sqrt{x^2}&quot;&gt;&lt;msqrt&gt;&lt;mi&gt;y&lt;/mi&gt;&lt;/msqrt&gt;&lt;mtext&gt;&lt;/mtext&gt;&lt;mo&gt;+&lt;/mo&gt;&lt;mtext&gt;&lt;/mtext&gt;&lt;msqrt&gt;&lt;mn&gt;9&lt;/mn&gt;&lt;/msqrt&gt;&lt;mo&gt;=&lt;/mo&gt;&lt;msqrt&gt;&lt;msup&gt;&lt;mi&gt;x&lt;/mi&gt;&lt;mn&gt;2&lt;/mn&gt;&lt;/msup&gt;&lt;/msqrt&gt;&lt;/math&gt;" title="the square root of y plus the square root of 9 equals the square root of x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00" y="2451431"/>
            <a:ext cx="2060025" cy="4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249" y="3728725"/>
            <a:ext cx="831550" cy="10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1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52260" y="3491004"/>
            <a:ext cx="702627" cy="13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15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900595" y="3011075"/>
            <a:ext cx="2866150" cy="14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50"/>
          <p:cNvSpPr txBox="1"/>
          <p:nvPr>
            <p:ph type="body" idx="1"/>
          </p:nvPr>
        </p:nvSpPr>
        <p:spPr>
          <a:xfrm>
            <a:off x="5005800" y="3094150"/>
            <a:ext cx="2943900" cy="10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 don’t know but we could test it with a numerical example.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p150"/>
          <p:cNvSpPr txBox="1"/>
          <p:nvPr>
            <p:ph type="body" idx="1"/>
          </p:nvPr>
        </p:nvSpPr>
        <p:spPr>
          <a:xfrm>
            <a:off x="5230954" y="186343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 + 9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7" name="Google Shape;1897;p150" descr="&lt;math xmlns=&quot;http://www.w3.org/1998/Math/MathML&quot; display=&quot;block&quot; data-is-equatio=&quot;1&quot; data-latex=&quot;\sqrt{16}\ +\ \sqrt{9}=\sqrt{25}&quot;&gt;&lt;msqrt&gt;&lt;mn&gt;16&lt;/mn&gt;&lt;/msqrt&gt;&lt;mtext&gt;&lt;/mtext&gt;&lt;mo&gt;+&lt;/mo&gt;&lt;mtext&gt;&lt;/mtext&gt;&lt;msqrt&gt;&lt;mn&gt;9&lt;/mn&gt;&lt;/msqrt&gt;&lt;mo&gt;=&lt;/mo&gt;&lt;msqrt&gt;&lt;mn&gt;25&lt;/mn&gt;&lt;/msqrt&gt;&lt;/math&gt;" title="the square root of 16 plus the square root of 9 equals the square root of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1292" y="2468036"/>
            <a:ext cx="2331961" cy="366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50"/>
          <p:cNvSpPr txBox="1"/>
          <p:nvPr>
            <p:ph type="body" idx="1"/>
          </p:nvPr>
        </p:nvSpPr>
        <p:spPr>
          <a:xfrm>
            <a:off x="7467213" y="2255950"/>
            <a:ext cx="1718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Is this an equation?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2" name="Shape 1902"/>
        <p:cNvGrpSpPr/>
        <p:nvPr/>
      </p:nvGrpSpPr>
      <p:grpSpPr>
        <a:xfrm>
          <a:off x="0" y="0"/>
          <a:ext cx="0" cy="0"/>
        </a:xfrm>
      </p:grpSpPr>
      <p:pic>
        <p:nvPicPr>
          <p:cNvPr id="1903" name="Google Shape;1903;p15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979876" y="3011075"/>
            <a:ext cx="3340124" cy="14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51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Laura is rearranging this equation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905" name="Google Shape;190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06" name="Google Shape;1906;p151"/>
          <p:cNvSpPr txBox="1"/>
          <p:nvPr>
            <p:ph type="body" idx="1"/>
          </p:nvPr>
        </p:nvSpPr>
        <p:spPr>
          <a:xfrm>
            <a:off x="2510768" y="1311371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7" name="Google Shape;1907;p151"/>
          <p:cNvSpPr txBox="1"/>
          <p:nvPr>
            <p:ph type="body" idx="1"/>
          </p:nvPr>
        </p:nvSpPr>
        <p:spPr>
          <a:xfrm>
            <a:off x="2042061" y="186343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8" name="Google Shape;1908;p151"/>
          <p:cNvSpPr txBox="1"/>
          <p:nvPr>
            <p:ph type="body" idx="1"/>
          </p:nvPr>
        </p:nvSpPr>
        <p:spPr>
          <a:xfrm>
            <a:off x="1272000" y="3094150"/>
            <a:ext cx="2943900" cy="10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So, I can’t take the root of each term. I have to group them.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9" name="Google Shape;1909;p151" descr="&lt;math xmlns=&quot;http://www.w3.org/1998/Math/MathML&quot; display=&quot;block&quot; data-is-equatio=&quot;1&quot; data-latex=&quot;\sqrt{y}\ +\ \sqrt{9}=\sqrt{x^2}&quot;&gt;&lt;msqrt&gt;&lt;mi&gt;y&lt;/mi&gt;&lt;/msqrt&gt;&lt;mtext&gt;&lt;/mtext&gt;&lt;mo&gt;+&lt;/mo&gt;&lt;mtext&gt;&lt;/mtext&gt;&lt;msqrt&gt;&lt;mn&gt;9&lt;/mn&gt;&lt;/msqrt&gt;&lt;mo&gt;=&lt;/mo&gt;&lt;msqrt&gt;&lt;msup&gt;&lt;mi&gt;x&lt;/mi&gt;&lt;mn&gt;2&lt;/mn&gt;&lt;/msup&gt;&lt;/msqrt&gt;&lt;/math&gt;" title="the square root of y plus the square root of 9 equals the square root of x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00" y="2451431"/>
            <a:ext cx="2060025" cy="4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249" y="3728725"/>
            <a:ext cx="831550" cy="10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1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52260" y="3491004"/>
            <a:ext cx="702627" cy="13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5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683107" y="3525807"/>
            <a:ext cx="2988774" cy="10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151"/>
          <p:cNvSpPr txBox="1"/>
          <p:nvPr>
            <p:ph type="body" idx="1"/>
          </p:nvPr>
        </p:nvSpPr>
        <p:spPr>
          <a:xfrm>
            <a:off x="4853400" y="3551350"/>
            <a:ext cx="1779300" cy="7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becomes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151"/>
          <p:cNvSpPr txBox="1"/>
          <p:nvPr>
            <p:ph type="body" idx="1"/>
          </p:nvPr>
        </p:nvSpPr>
        <p:spPr>
          <a:xfrm>
            <a:off x="5230954" y="186343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 + 9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5" name="Google Shape;1915;p151" descr="&lt;math xmlns=&quot;http://www.w3.org/1998/Math/MathML&quot; display=&quot;block&quot; data-is-equatio=&quot;1&quot; data-latex=&quot;\sqrt{16}\ +\ \sqrt{9}=\sqrt{25}&quot;&gt;&lt;msqrt&gt;&lt;mn&gt;16&lt;/mn&gt;&lt;/msqrt&gt;&lt;mtext&gt;&lt;/mtext&gt;&lt;mo&gt;+&lt;/mo&gt;&lt;mtext&gt;&lt;/mtext&gt;&lt;msqrt&gt;&lt;mn&gt;9&lt;/mn&gt;&lt;/msqrt&gt;&lt;mo&gt;=&lt;/mo&gt;&lt;msqrt&gt;&lt;mn&gt;25&lt;/mn&gt;&lt;/msqrt&gt;&lt;/math&gt;" title="the square root of 16 plus the square root of 9 equals the square root of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1292" y="2468036"/>
            <a:ext cx="2331961" cy="366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151"/>
          <p:cNvSpPr txBox="1"/>
          <p:nvPr>
            <p:ph type="body" idx="1"/>
          </p:nvPr>
        </p:nvSpPr>
        <p:spPr>
          <a:xfrm>
            <a:off x="5383351" y="3006450"/>
            <a:ext cx="1204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+ 3 ≠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17" name="Google Shape;1917;p151"/>
          <p:cNvCxnSpPr/>
          <p:nvPr/>
        </p:nvCxnSpPr>
        <p:spPr>
          <a:xfrm flipH="1">
            <a:off x="6130129" y="2558763"/>
            <a:ext cx="76200" cy="22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8" name="Google Shape;1918;p151"/>
          <p:cNvCxnSpPr/>
          <p:nvPr/>
        </p:nvCxnSpPr>
        <p:spPr>
          <a:xfrm flipH="1">
            <a:off x="2772567" y="2558763"/>
            <a:ext cx="76200" cy="22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19" name="Google Shape;1919;p151" descr="&lt;math xmlns=&quot;http://www.w3.org/1998/Math/MathML&quot; display=&quot;block&quot; data-is-equatio=&quot;1&quot; data-latex=&quot;\sqrt{y+9}=x&quot;&gt;&lt;msqrt&gt;&lt;mi&gt;y&lt;/mi&gt;&lt;mo&gt;+&lt;/mo&gt;&lt;mn&gt;9&lt;/mn&gt;&lt;/msqrt&gt;&lt;mo&gt;=&lt;/mo&gt;&lt;mi&gt;x&lt;/mi&gt;&lt;/math&gt;" title="the square root of y plus 9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9147" y="3943612"/>
            <a:ext cx="1378997" cy="3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3" name="Shape 1923"/>
        <p:cNvGrpSpPr/>
        <p:nvPr/>
      </p:nvGrpSpPr>
      <p:grpSpPr>
        <a:xfrm>
          <a:off x="0" y="0"/>
          <a:ext cx="0" cy="0"/>
        </a:xfrm>
      </p:grpSpPr>
      <p:pic>
        <p:nvPicPr>
          <p:cNvPr id="1924" name="Google Shape;1924;p15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002887" y="3034088"/>
            <a:ext cx="2210627" cy="10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52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Laura is rearranging this equation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1926" name="Google Shape;1926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27" name="Google Shape;1927;p152"/>
          <p:cNvSpPr txBox="1"/>
          <p:nvPr>
            <p:ph type="body" idx="1"/>
          </p:nvPr>
        </p:nvSpPr>
        <p:spPr>
          <a:xfrm>
            <a:off x="2510768" y="1311371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52"/>
          <p:cNvSpPr txBox="1"/>
          <p:nvPr>
            <p:ph type="body" idx="1"/>
          </p:nvPr>
        </p:nvSpPr>
        <p:spPr>
          <a:xfrm>
            <a:off x="2042061" y="1863438"/>
            <a:ext cx="1779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152"/>
          <p:cNvSpPr txBox="1"/>
          <p:nvPr>
            <p:ph type="body" idx="1"/>
          </p:nvPr>
        </p:nvSpPr>
        <p:spPr>
          <a:xfrm>
            <a:off x="1272000" y="3094150"/>
            <a:ext cx="1861800" cy="7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Wonderful. Thanks Aisha!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0" name="Google Shape;1930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49" y="3728725"/>
            <a:ext cx="831550" cy="10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52260" y="3491004"/>
            <a:ext cx="702627" cy="13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15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683107" y="3525807"/>
            <a:ext cx="2988774" cy="10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52"/>
          <p:cNvSpPr txBox="1"/>
          <p:nvPr>
            <p:ph type="body" idx="1"/>
          </p:nvPr>
        </p:nvSpPr>
        <p:spPr>
          <a:xfrm>
            <a:off x="4853400" y="3551350"/>
            <a:ext cx="1779300" cy="7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becomes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4" name="Google Shape;1934;p152" descr="&lt;math xmlns=&quot;http://www.w3.org/1998/Math/MathML&quot; display=&quot;block&quot; data-is-equatio=&quot;1&quot; data-latex=&quot;\sqrt{y+9}=x&quot;&gt;&lt;msqrt&gt;&lt;mi&gt;y&lt;/mi&gt;&lt;mo&gt;+&lt;/mo&gt;&lt;mn&gt;9&lt;/mn&gt;&lt;/msqrt&gt;&lt;mo&gt;=&lt;/mo&gt;&lt;mi&gt;x&lt;/mi&gt;&lt;/math&gt;" title="the square root of y plus 9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9147" y="3943612"/>
            <a:ext cx="1378997" cy="36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152" descr="&lt;math xmlns=&quot;http://www.w3.org/1998/Math/MathML&quot; display=&quot;block&quot; data-is-equatio=&quot;1&quot; data-latex=&quot;\sqrt{y+9}=x&quot;&gt;&lt;msqrt&gt;&lt;mi&gt;y&lt;/mi&gt;&lt;mo&gt;+&lt;/mo&gt;&lt;mn&gt;9&lt;/mn&gt;&lt;/msqrt&gt;&lt;mo&gt;=&lt;/mo&gt;&lt;mi&gt;x&lt;/mi&gt;&lt;/math&gt;" title="the square root of y plus 9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4961" y="2484305"/>
            <a:ext cx="1378997" cy="3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9" name="Shape 1939"/>
        <p:cNvGrpSpPr/>
        <p:nvPr/>
      </p:nvGrpSpPr>
      <p:grpSpPr>
        <a:xfrm>
          <a:off x="0" y="0"/>
          <a:ext cx="0" cy="0"/>
        </a:xfrm>
      </p:grpSpPr>
      <p:sp>
        <p:nvSpPr>
          <p:cNvPr id="1940" name="Google Shape;1940;p153"/>
          <p:cNvSpPr txBox="1"/>
          <p:nvPr>
            <p:ph type="subTitle" idx="1"/>
          </p:nvPr>
        </p:nvSpPr>
        <p:spPr>
          <a:xfrm>
            <a:off x="337825" y="810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41" name="Google Shape;1941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42" name="Google Shape;1942;p153"/>
          <p:cNvSpPr txBox="1"/>
          <p:nvPr/>
        </p:nvSpPr>
        <p:spPr>
          <a:xfrm>
            <a:off x="1466464" y="1166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/>
          </a:p>
        </p:txBody>
      </p:sp>
      <p:sp>
        <p:nvSpPr>
          <p:cNvPr id="1943" name="Google Shape;1943;p153"/>
          <p:cNvSpPr txBox="1"/>
          <p:nvPr>
            <p:ph type="subTitle" idx="1"/>
          </p:nvPr>
        </p:nvSpPr>
        <p:spPr>
          <a:xfrm>
            <a:off x="337825" y="2715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44" name="Google Shape;1944;p153"/>
          <p:cNvSpPr txBox="1"/>
          <p:nvPr/>
        </p:nvSpPr>
        <p:spPr>
          <a:xfrm>
            <a:off x="1466464" y="3071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endParaRPr/>
          </a:p>
        </p:txBody>
      </p:sp>
      <p:sp>
        <p:nvSpPr>
          <p:cNvPr id="1945" name="Google Shape;1945;p153"/>
          <p:cNvSpPr txBox="1"/>
          <p:nvPr/>
        </p:nvSpPr>
        <p:spPr>
          <a:xfrm>
            <a:off x="997757" y="1646227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946" name="Google Shape;1946;p153"/>
          <p:cNvSpPr txBox="1"/>
          <p:nvPr/>
        </p:nvSpPr>
        <p:spPr>
          <a:xfrm>
            <a:off x="1009264" y="36044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pic>
        <p:nvPicPr>
          <p:cNvPr id="1947" name="Google Shape;1947;p153" descr="&lt;math xmlns=&quot;http://www.w3.org/1998/Math/MathML&quot; display=&quot;block&quot; data-is-equatio=&quot;1&quot; data-latex=&quot;\sqrt{y-7}=x&quot;&gt;&lt;msqrt&gt;&lt;mi&gt;y&lt;/mi&gt;&lt;mo&gt;−&lt;/mo&gt;&lt;mn&gt;7&lt;/mn&gt;&lt;/msqrt&gt;&lt;mo&gt;=&lt;/mo&gt;&lt;mi&gt;x&lt;/mi&gt;&lt;/math&gt;" title="the square root of y minus 7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507" y="2179052"/>
            <a:ext cx="1304576" cy="34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53" descr="&lt;math xmlns=&quot;http://www.w3.org/1998/Math/MathML&quot; display=&quot;block&quot; data-is-equatio=&quot;1&quot; data-latex=&quot;^3\sqrt{y+7}=x\ &quot;&gt;&lt;msup&gt;&lt;mi/&gt;&lt;mn&gt;3&lt;/mn&gt;&lt;/msup&gt;&lt;msqrt&gt;&lt;mi&gt;y&lt;/mi&gt;&lt;mo&gt;+&lt;/mo&gt;&lt;mn&gt;7&lt;/mn&gt;&lt;/msqrt&gt;&lt;mo&gt;=&lt;/mo&gt;&lt;mi&gt;x&lt;/mi&gt;&lt;mtext&gt;&lt;/mtext&gt;&lt;/math&gt;" title="cubed the square root of y plus 7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310" y="4191778"/>
            <a:ext cx="1455104" cy="3603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53"/>
          <p:cNvSpPr txBox="1"/>
          <p:nvPr>
            <p:ph type="body" idx="4294967295"/>
          </p:nvPr>
        </p:nvSpPr>
        <p:spPr>
          <a:xfrm>
            <a:off x="2361825" y="4103425"/>
            <a:ext cx="2210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Cube root, the inverse of cubing.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3" name="Shape 1953"/>
        <p:cNvGrpSpPr/>
        <p:nvPr/>
      </p:nvGrpSpPr>
      <p:grpSpPr>
        <a:xfrm>
          <a:off x="0" y="0"/>
          <a:ext cx="0" cy="0"/>
        </a:xfrm>
      </p:grpSpPr>
      <p:sp>
        <p:nvSpPr>
          <p:cNvPr id="1954" name="Google Shape;1954;p154"/>
          <p:cNvSpPr txBox="1"/>
          <p:nvPr>
            <p:ph type="subTitle" idx="1"/>
          </p:nvPr>
        </p:nvSpPr>
        <p:spPr>
          <a:xfrm>
            <a:off x="337825" y="810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55" name="Google Shape;195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56" name="Google Shape;1956;p154"/>
          <p:cNvSpPr txBox="1"/>
          <p:nvPr/>
        </p:nvSpPr>
        <p:spPr>
          <a:xfrm>
            <a:off x="1466464" y="1166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/>
          </a:p>
        </p:txBody>
      </p:sp>
      <p:sp>
        <p:nvSpPr>
          <p:cNvPr id="1957" name="Google Shape;1957;p154"/>
          <p:cNvSpPr txBox="1"/>
          <p:nvPr>
            <p:ph type="subTitle" idx="1"/>
          </p:nvPr>
        </p:nvSpPr>
        <p:spPr>
          <a:xfrm>
            <a:off x="337825" y="2715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58" name="Google Shape;1958;p154"/>
          <p:cNvSpPr txBox="1"/>
          <p:nvPr/>
        </p:nvSpPr>
        <p:spPr>
          <a:xfrm>
            <a:off x="1466464" y="3071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endParaRPr/>
          </a:p>
        </p:txBody>
      </p:sp>
      <p:sp>
        <p:nvSpPr>
          <p:cNvPr id="1959" name="Google Shape;1959;p154"/>
          <p:cNvSpPr txBox="1"/>
          <p:nvPr/>
        </p:nvSpPr>
        <p:spPr>
          <a:xfrm>
            <a:off x="997757" y="1646227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960" name="Google Shape;1960;p154"/>
          <p:cNvSpPr txBox="1"/>
          <p:nvPr/>
        </p:nvSpPr>
        <p:spPr>
          <a:xfrm>
            <a:off x="1009264" y="36044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pic>
        <p:nvPicPr>
          <p:cNvPr id="1961" name="Google Shape;1961;p154" descr="&lt;math xmlns=&quot;http://www.w3.org/1998/Math/MathML&quot; display=&quot;block&quot; data-is-equatio=&quot;1&quot; data-latex=&quot;\sqrt{y-7}=x&quot;&gt;&lt;msqrt&gt;&lt;mi&gt;y&lt;/mi&gt;&lt;mo&gt;−&lt;/mo&gt;&lt;mn&gt;7&lt;/mn&gt;&lt;/msqrt&gt;&lt;mo&gt;=&lt;/mo&gt;&lt;mi&gt;x&lt;/mi&gt;&lt;/math&gt;" title="the square root of y minus 7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507" y="2179052"/>
            <a:ext cx="1304576" cy="34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154" descr="&lt;math xmlns=&quot;http://www.w3.org/1998/Math/MathML&quot; display=&quot;block&quot; data-is-equatio=&quot;1&quot; data-latex=&quot;^3\sqrt{y+7}=x\ &quot;&gt;&lt;msup&gt;&lt;mi/&gt;&lt;mn&gt;3&lt;/mn&gt;&lt;/msup&gt;&lt;msqrt&gt;&lt;mi&gt;y&lt;/mi&gt;&lt;mo&gt;+&lt;/mo&gt;&lt;mn&gt;7&lt;/mn&gt;&lt;/msqrt&gt;&lt;mo&gt;=&lt;/mo&gt;&lt;mi&gt;x&lt;/mi&gt;&lt;mtext&gt;&lt;/mtext&gt;&lt;/math&gt;" title="cubed the square root of y plus 7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310" y="4191778"/>
            <a:ext cx="1455104" cy="360356"/>
          </a:xfrm>
          <a:prstGeom prst="rect">
            <a:avLst/>
          </a:prstGeom>
          <a:noFill/>
          <a:ln>
            <a:noFill/>
          </a:ln>
        </p:spPr>
      </p:pic>
      <p:sp>
        <p:nvSpPr>
          <p:cNvPr id="1963" name="Google Shape;1963;p154"/>
          <p:cNvSpPr txBox="1"/>
          <p:nvPr>
            <p:ph type="subTitle" idx="1"/>
          </p:nvPr>
        </p:nvSpPr>
        <p:spPr>
          <a:xfrm>
            <a:off x="4822118" y="810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64" name="Google Shape;1964;p154"/>
          <p:cNvSpPr txBox="1"/>
          <p:nvPr/>
        </p:nvSpPr>
        <p:spPr>
          <a:xfrm>
            <a:off x="5950757" y="1166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/>
          </a:p>
        </p:txBody>
      </p:sp>
      <p:sp>
        <p:nvSpPr>
          <p:cNvPr id="1965" name="Google Shape;1965;p154"/>
          <p:cNvSpPr txBox="1"/>
          <p:nvPr>
            <p:ph type="subTitle" idx="1"/>
          </p:nvPr>
        </p:nvSpPr>
        <p:spPr>
          <a:xfrm>
            <a:off x="4822118" y="2715000"/>
            <a:ext cx="23004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 </a:t>
            </a:r>
            <a:endParaRPr/>
          </a:p>
        </p:txBody>
      </p:sp>
      <p:sp>
        <p:nvSpPr>
          <p:cNvPr id="1966" name="Google Shape;1966;p154"/>
          <p:cNvSpPr txBox="1"/>
          <p:nvPr/>
        </p:nvSpPr>
        <p:spPr>
          <a:xfrm>
            <a:off x="5950757" y="30710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/>
          </a:p>
        </p:txBody>
      </p:sp>
      <p:sp>
        <p:nvSpPr>
          <p:cNvPr id="1967" name="Google Shape;1967;p154"/>
          <p:cNvSpPr txBox="1"/>
          <p:nvPr/>
        </p:nvSpPr>
        <p:spPr>
          <a:xfrm>
            <a:off x="5470544" y="1646227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968" name="Google Shape;1968;p154"/>
          <p:cNvSpPr txBox="1"/>
          <p:nvPr/>
        </p:nvSpPr>
        <p:spPr>
          <a:xfrm>
            <a:off x="5463384" y="3604413"/>
            <a:ext cx="14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id="1969" name="Google Shape;1969;p154" descr="&lt;math xmlns=&quot;http://www.w3.org/1998/Math/MathML&quot; display=&quot;block&quot; data-is-equatio=&quot;1&quot; data-latex=&quot;\sqrt{y-z}=x\ &quot;&gt;&lt;msqrt&gt;&lt;mi&gt;y&lt;/mi&gt;&lt;mo&gt;−&lt;/mo&gt;&lt;mi&gt;z&lt;/mi&gt;&lt;/msqrt&gt;&lt;mo&gt;=&lt;/mo&gt;&lt;mi&gt;x&lt;/mi&gt;&lt;mtext&gt;&lt;/mtext&gt;&lt;/math&gt;" title="the square root of y minus z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6016" y="2202082"/>
            <a:ext cx="1381728" cy="365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154" descr="&lt;math xmlns=&quot;http://www.w3.org/1998/Math/MathML&quot; display=&quot;block&quot; data-is-equatio=&quot;1&quot; data-latex=&quot;^4\sqrt{y+1}=x\ &quot;&gt;&lt;msup&gt;&lt;mi/&gt;&lt;mn&gt;4&lt;/mn&gt;&lt;/msup&gt;&lt;msqrt&gt;&lt;mi&gt;y&lt;/mi&gt;&lt;mo&gt;+&lt;/mo&gt;&lt;mn&gt;1&lt;/mn&gt;&lt;/msqrt&gt;&lt;mo&gt;=&lt;/mo&gt;&lt;mi&gt;x&lt;/mi&gt;&lt;mtext&gt;&lt;/mtext&gt;&lt;/math&gt;" title="to the fourth power the square root of y plus 1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1561" y="4183282"/>
            <a:ext cx="1540603" cy="3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4" name="Shape 1974"/>
        <p:cNvGrpSpPr/>
        <p:nvPr/>
      </p:nvGrpSpPr>
      <p:grpSpPr>
        <a:xfrm>
          <a:off x="0" y="0"/>
          <a:ext cx="0" cy="0"/>
        </a:xfrm>
      </p:grpSpPr>
      <p:sp>
        <p:nvSpPr>
          <p:cNvPr id="1975" name="Google Shape;1975;p155"/>
          <p:cNvSpPr txBox="1"/>
          <p:nvPr>
            <p:ph type="body" idx="1"/>
          </p:nvPr>
        </p:nvSpPr>
        <p:spPr>
          <a:xfrm>
            <a:off x="327427" y="1780075"/>
            <a:ext cx="45000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For example, make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6" name="Google Shape;1976;p155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the term with exponent that is not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has a coefficient that is not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then order really matters.</a:t>
            </a:r>
            <a:endParaRPr/>
          </a:p>
        </p:txBody>
      </p:sp>
      <p:sp>
        <p:nvSpPr>
          <p:cNvPr id="1977" name="Google Shape;197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78" name="Google Shape;1978;p155"/>
          <p:cNvSpPr txBox="1"/>
          <p:nvPr>
            <p:ph type="body" idx="1"/>
          </p:nvPr>
        </p:nvSpPr>
        <p:spPr>
          <a:xfrm>
            <a:off x="2510774" y="2313475"/>
            <a:ext cx="1646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9" name="Google Shape;1979;p155"/>
          <p:cNvSpPr txBox="1"/>
          <p:nvPr>
            <p:ph type="body" idx="1"/>
          </p:nvPr>
        </p:nvSpPr>
        <p:spPr>
          <a:xfrm>
            <a:off x="327426" y="2869888"/>
            <a:ext cx="1148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0" name="Google Shape;1980;p155" descr="&lt;math xmlns=&quot;http://www.w3.org/1998/Math/MathML&quot; display=&quot;block&quot; data-is-equatio=&quot;1&quot; data-latex=&quot;\sqrt{y}=3x&quot;&gt;&lt;msqrt&gt;&lt;mi&gt;y&lt;/mi&gt;&lt;/msqrt&gt;&lt;mo&gt;=&lt;/mo&gt;&lt;mn&gt;3&lt;/mn&gt;&lt;mi&gt;x&lt;/mi&gt;&lt;/math&gt;" title="the square root of y equals 3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135" y="3052520"/>
            <a:ext cx="1088000" cy="38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1" name="Google Shape;1981;p155" descr="&lt;math xmlns=&quot;http://www.w3.org/1998/Math/MathML&quot; display=&quot;block&quot; data-is-equatio=&quot;1&quot; data-latex=&quot;\frac{\sqrt{y}}{3}=x&quot;&gt;&lt;mfrac&gt;&lt;msqrt&gt;&lt;mi&gt;y&lt;/mi&gt;&lt;/msqrt&gt;&lt;mn&gt;3&lt;/mn&gt;&lt;/mfrac&gt;&lt;mo&gt;=&lt;/mo&gt;&lt;mi&gt;x&lt;/mi&gt;&lt;/math&gt;" title="the fraction with numerator the square root of y and denominator 3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400" y="3583186"/>
            <a:ext cx="1087991" cy="783994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155"/>
          <p:cNvSpPr txBox="1"/>
          <p:nvPr>
            <p:ph type="body" idx="1"/>
          </p:nvPr>
        </p:nvSpPr>
        <p:spPr>
          <a:xfrm>
            <a:off x="6267588" y="2313475"/>
            <a:ext cx="1646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3" name="Google Shape;1983;p155"/>
          <p:cNvSpPr txBox="1"/>
          <p:nvPr>
            <p:ph type="body" idx="1"/>
          </p:nvPr>
        </p:nvSpPr>
        <p:spPr>
          <a:xfrm>
            <a:off x="4324346" y="2869888"/>
            <a:ext cx="11487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or…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4" name="Google Shape;1984;p155" descr="&lt;math xmlns=&quot;http://www.w3.org/1998/Math/MathML&quot; display=&quot;block&quot; data-is-equatio=&quot;1&quot; data-latex=&quot;\frac{y}{3}=x^2&quot;&gt;&lt;mfrac&gt;&lt;mi&gt;y&lt;/mi&gt;&lt;mn&gt;3&lt;/mn&gt;&lt;/mfrac&gt;&lt;mo&gt;=&lt;/mo&gt;&lt;msup&gt;&lt;mi&gt;x&lt;/mi&gt;&lt;mn&gt;2&lt;/mn&gt;&lt;/msup&gt;&lt;/math&gt;" title="y over 3 equals x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3070" y="2947755"/>
            <a:ext cx="882070" cy="56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5" name="Google Shape;1985;p155" descr="&lt;math xmlns=&quot;http://www.w3.org/1998/Math/MathML&quot; display=&quot;block&quot; data-is-equatio=&quot;1&quot; data-latex=&quot;\sqrt{\frac{y}{3}}=x&quot;&gt;&lt;msqrt&gt;&lt;mfrac&gt;&lt;mi&gt;y&lt;/mi&gt;&lt;mn&gt;3&lt;/mn&gt;&lt;/mfrac&gt;&lt;/msqrt&gt;&lt;mo&gt;=&lt;/mo&gt;&lt;mi&gt;x&lt;/mi&gt;&lt;/math&gt;" title="the square root of y over 3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3389" y="3714602"/>
            <a:ext cx="1103743" cy="748157"/>
          </a:xfrm>
          <a:prstGeom prst="rect">
            <a:avLst/>
          </a:prstGeom>
          <a:noFill/>
          <a:ln>
            <a:noFill/>
          </a:ln>
        </p:spPr>
      </p:pic>
      <p:sp>
        <p:nvSpPr>
          <p:cNvPr id="1986" name="Google Shape;1986;p155"/>
          <p:cNvSpPr txBox="1"/>
          <p:nvPr>
            <p:ph type="body" idx="1"/>
          </p:nvPr>
        </p:nvSpPr>
        <p:spPr>
          <a:xfrm>
            <a:off x="2967976" y="4539140"/>
            <a:ext cx="2532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is correct?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7" name="Google Shape;1987;p1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6154" y="392339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1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1433" y="3951725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2" name="Shape 1992"/>
        <p:cNvGrpSpPr/>
        <p:nvPr/>
      </p:nvGrpSpPr>
      <p:grpSpPr>
        <a:xfrm>
          <a:off x="0" y="0"/>
          <a:ext cx="0" cy="0"/>
        </a:xfrm>
      </p:grpSpPr>
      <p:sp>
        <p:nvSpPr>
          <p:cNvPr id="1993" name="Google Shape;1993;p156"/>
          <p:cNvSpPr txBox="1"/>
          <p:nvPr>
            <p:ph type="body" idx="1"/>
          </p:nvPr>
        </p:nvSpPr>
        <p:spPr>
          <a:xfrm>
            <a:off x="327425" y="2237275"/>
            <a:ext cx="53136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squared then multiplied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4" name="Google Shape;1994;p156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useful in helping us understand why this rearrangement is correct.</a:t>
            </a:r>
            <a:endParaRPr/>
          </a:p>
        </p:txBody>
      </p:sp>
      <p:sp>
        <p:nvSpPr>
          <p:cNvPr id="1995" name="Google Shape;199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1996" name="Google Shape;1996;p156"/>
          <p:cNvSpPr txBox="1"/>
          <p:nvPr>
            <p:ph type="body" idx="1"/>
          </p:nvPr>
        </p:nvSpPr>
        <p:spPr>
          <a:xfrm>
            <a:off x="6267588" y="2313475"/>
            <a:ext cx="1646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7" name="Google Shape;1997;p156" descr="&lt;math xmlns=&quot;http://www.w3.org/1998/Math/MathML&quot; display=&quot;block&quot; data-is-equatio=&quot;1&quot; data-latex=&quot;\frac{y}{3}=x^2&quot;&gt;&lt;mfrac&gt;&lt;mi&gt;y&lt;/mi&gt;&lt;mn&gt;3&lt;/mn&gt;&lt;/mfrac&gt;&lt;mo&gt;=&lt;/mo&gt;&lt;msup&gt;&lt;mi&gt;x&lt;/mi&gt;&lt;mn&gt;2&lt;/mn&gt;&lt;/msup&gt;&lt;/math&gt;" title="y over 3 equal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070" y="2947755"/>
            <a:ext cx="882070" cy="56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156" descr="&lt;math xmlns=&quot;http://www.w3.org/1998/Math/MathML&quot; display=&quot;block&quot; data-is-equatio=&quot;1&quot; data-latex=&quot;\sqrt{\frac{y}{3}}=x&quot;&gt;&lt;msqrt&gt;&lt;mfrac&gt;&lt;mi&gt;y&lt;/mi&gt;&lt;mn&gt;3&lt;/mn&gt;&lt;/mfrac&gt;&lt;/msqrt&gt;&lt;mo&gt;=&lt;/mo&gt;&lt;mi&gt;x&lt;/mi&gt;&lt;/math&gt;" title="the square root of y over 3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389" y="3714602"/>
            <a:ext cx="1103743" cy="74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154" y="392339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0" name="Google Shape;2000;p156"/>
          <p:cNvSpPr txBox="1"/>
          <p:nvPr>
            <p:ph type="body" idx="1"/>
          </p:nvPr>
        </p:nvSpPr>
        <p:spPr>
          <a:xfrm>
            <a:off x="327425" y="2999275"/>
            <a:ext cx="51183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Or,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multiplied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/>
              <a:t>then squared?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1" name="Google Shape;2001;p156"/>
          <p:cNvSpPr txBox="1"/>
          <p:nvPr>
            <p:ph type="body" idx="1"/>
          </p:nvPr>
        </p:nvSpPr>
        <p:spPr>
          <a:xfrm>
            <a:off x="2446085" y="1703875"/>
            <a:ext cx="544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2" name="Google Shape;2002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2940" y="227000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3" name="Google Shape;2003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4033" y="3113525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7" name="Shape 2007"/>
        <p:cNvGrpSpPr/>
        <p:nvPr/>
      </p:nvGrpSpPr>
      <p:grpSpPr>
        <a:xfrm>
          <a:off x="0" y="0"/>
          <a:ext cx="0" cy="0"/>
        </a:xfrm>
      </p:grpSpPr>
      <p:sp>
        <p:nvSpPr>
          <p:cNvPr id="2008" name="Google Shape;2008;p157"/>
          <p:cNvSpPr txBox="1"/>
          <p:nvPr/>
        </p:nvSpPr>
        <p:spPr>
          <a:xfrm>
            <a:off x="3458475" y="3774600"/>
            <a:ext cx="544200" cy="419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9" name="Google Shape;2009;p157"/>
          <p:cNvSpPr txBox="1"/>
          <p:nvPr/>
        </p:nvSpPr>
        <p:spPr>
          <a:xfrm>
            <a:off x="1324875" y="3774600"/>
            <a:ext cx="1447500" cy="419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7"/>
          <p:cNvSpPr txBox="1"/>
          <p:nvPr>
            <p:ph type="body" idx="1"/>
          </p:nvPr>
        </p:nvSpPr>
        <p:spPr>
          <a:xfrm>
            <a:off x="327425" y="2237275"/>
            <a:ext cx="53136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Is this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squared then multiplied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1" name="Google Shape;2011;p157"/>
          <p:cNvSpPr txBox="1"/>
          <p:nvPr>
            <p:ph type="body" idx="1"/>
          </p:nvPr>
        </p:nvSpPr>
        <p:spPr>
          <a:xfrm>
            <a:off x="324000" y="759300"/>
            <a:ext cx="7135200" cy="8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Understanding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is useful in helping us understand why this rearrangement is correct.</a:t>
            </a:r>
            <a:endParaRPr/>
          </a:p>
        </p:txBody>
      </p:sp>
      <p:sp>
        <p:nvSpPr>
          <p:cNvPr id="2012" name="Google Shape;2012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013" name="Google Shape;2013;p157"/>
          <p:cNvSpPr txBox="1"/>
          <p:nvPr>
            <p:ph type="body" idx="1"/>
          </p:nvPr>
        </p:nvSpPr>
        <p:spPr>
          <a:xfrm>
            <a:off x="6267588" y="2313475"/>
            <a:ext cx="16464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4" name="Google Shape;2014;p157" descr="&lt;math xmlns=&quot;http://www.w3.org/1998/Math/MathML&quot; display=&quot;block&quot; data-is-equatio=&quot;1&quot; data-latex=&quot;\frac{y}{3}=x^2&quot;&gt;&lt;mfrac&gt;&lt;mi&gt;y&lt;/mi&gt;&lt;mn&gt;3&lt;/mn&gt;&lt;/mfrac&gt;&lt;mo&gt;=&lt;/mo&gt;&lt;msup&gt;&lt;mi&gt;x&lt;/mi&gt;&lt;mn&gt;2&lt;/mn&gt;&lt;/msup&gt;&lt;/math&gt;" title="y over 3 equal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070" y="2947755"/>
            <a:ext cx="882070" cy="56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157" descr="&lt;math xmlns=&quot;http://www.w3.org/1998/Math/MathML&quot; display=&quot;block&quot; data-is-equatio=&quot;1&quot; data-latex=&quot;\sqrt{\frac{y}{3}}=x&quot;&gt;&lt;msqrt&gt;&lt;mfrac&gt;&lt;mi&gt;y&lt;/mi&gt;&lt;mn&gt;3&lt;/mn&gt;&lt;/mfrac&gt;&lt;/msqrt&gt;&lt;mo&gt;=&lt;/mo&gt;&lt;mi&gt;x&lt;/mi&gt;&lt;/math&gt;" title="the square root of y over 3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389" y="3714602"/>
            <a:ext cx="1103743" cy="74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154" y="392339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157"/>
          <p:cNvSpPr txBox="1"/>
          <p:nvPr>
            <p:ph type="body" idx="1"/>
          </p:nvPr>
        </p:nvSpPr>
        <p:spPr>
          <a:xfrm>
            <a:off x="2446085" y="1703875"/>
            <a:ext cx="544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8" name="Google Shape;2018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2940" y="227000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9" name="Google Shape;2019;p157"/>
          <p:cNvSpPr txBox="1"/>
          <p:nvPr>
            <p:ph type="body" idx="1"/>
          </p:nvPr>
        </p:nvSpPr>
        <p:spPr>
          <a:xfrm>
            <a:off x="388681" y="2923075"/>
            <a:ext cx="245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0" name="Google Shape;2020;p157"/>
          <p:cNvSpPr txBox="1"/>
          <p:nvPr/>
        </p:nvSpPr>
        <p:spPr>
          <a:xfrm>
            <a:off x="3458475" y="2936400"/>
            <a:ext cx="5442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1" name="Google Shape;2021;p157"/>
          <p:cNvSpPr txBox="1"/>
          <p:nvPr/>
        </p:nvSpPr>
        <p:spPr>
          <a:xfrm>
            <a:off x="1324875" y="2936400"/>
            <a:ext cx="14475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2" name="Google Shape;2022;p157"/>
          <p:cNvCxnSpPr>
            <a:endCxn id="2020" idx="1"/>
          </p:cNvCxnSpPr>
          <p:nvPr/>
        </p:nvCxnSpPr>
        <p:spPr>
          <a:xfrm>
            <a:off x="2772375" y="31459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3" name="Google Shape;2023;p157"/>
          <p:cNvCxnSpPr/>
          <p:nvPr/>
        </p:nvCxnSpPr>
        <p:spPr>
          <a:xfrm>
            <a:off x="638775" y="31459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4" name="Google Shape;2024;p157"/>
          <p:cNvCxnSpPr/>
          <p:nvPr/>
        </p:nvCxnSpPr>
        <p:spPr>
          <a:xfrm>
            <a:off x="3991575" y="31459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5" name="Google Shape;2025;p157"/>
          <p:cNvSpPr txBox="1"/>
          <p:nvPr>
            <p:ph type="body" idx="1"/>
          </p:nvPr>
        </p:nvSpPr>
        <p:spPr>
          <a:xfrm>
            <a:off x="4826952" y="2923075"/>
            <a:ext cx="544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157"/>
          <p:cNvSpPr txBox="1"/>
          <p:nvPr>
            <p:ph type="body" idx="1"/>
          </p:nvPr>
        </p:nvSpPr>
        <p:spPr>
          <a:xfrm>
            <a:off x="388681" y="3761275"/>
            <a:ext cx="245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157"/>
          <p:cNvSpPr txBox="1"/>
          <p:nvPr/>
        </p:nvSpPr>
        <p:spPr>
          <a:xfrm>
            <a:off x="3458475" y="3774600"/>
            <a:ext cx="5442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157"/>
          <p:cNvSpPr txBox="1"/>
          <p:nvPr/>
        </p:nvSpPr>
        <p:spPr>
          <a:xfrm>
            <a:off x="1324875" y="3774600"/>
            <a:ext cx="14475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root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9" name="Google Shape;2029;p157"/>
          <p:cNvCxnSpPr/>
          <p:nvPr/>
        </p:nvCxnSpPr>
        <p:spPr>
          <a:xfrm rot="10800000">
            <a:off x="2772375" y="3984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0" name="Google Shape;2030;p157"/>
          <p:cNvCxnSpPr/>
          <p:nvPr/>
        </p:nvCxnSpPr>
        <p:spPr>
          <a:xfrm rot="10800000">
            <a:off x="3991575" y="3984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1" name="Google Shape;2031;p157"/>
          <p:cNvCxnSpPr/>
          <p:nvPr/>
        </p:nvCxnSpPr>
        <p:spPr>
          <a:xfrm rot="10800000">
            <a:off x="638775" y="3984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2" name="Google Shape;2032;p157"/>
          <p:cNvSpPr txBox="1"/>
          <p:nvPr>
            <p:ph type="body" idx="1"/>
          </p:nvPr>
        </p:nvSpPr>
        <p:spPr>
          <a:xfrm>
            <a:off x="4826952" y="3761275"/>
            <a:ext cx="5442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3" name="Google Shape;2033;p157"/>
          <p:cNvSpPr txBox="1"/>
          <p:nvPr/>
        </p:nvSpPr>
        <p:spPr>
          <a:xfrm>
            <a:off x="7573275" y="2784000"/>
            <a:ext cx="5442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4" name="Google Shape;2034;p157"/>
          <p:cNvSpPr txBox="1"/>
          <p:nvPr/>
        </p:nvSpPr>
        <p:spPr>
          <a:xfrm>
            <a:off x="7160568" y="3488466"/>
            <a:ext cx="14475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root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8" name="Shape 2038"/>
        <p:cNvGrpSpPr/>
        <p:nvPr/>
      </p:nvGrpSpPr>
      <p:grpSpPr>
        <a:xfrm>
          <a:off x="0" y="0"/>
          <a:ext cx="0" cy="0"/>
        </a:xfrm>
      </p:grpSpPr>
      <p:sp>
        <p:nvSpPr>
          <p:cNvPr id="2039" name="Google Shape;2039;p158"/>
          <p:cNvSpPr txBox="1"/>
          <p:nvPr>
            <p:ph type="title"/>
          </p:nvPr>
        </p:nvSpPr>
        <p:spPr>
          <a:xfrm>
            <a:off x="324000" y="748775"/>
            <a:ext cx="7135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is the correct rearrangement of this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the subject?</a:t>
            </a:r>
            <a:endParaRPr/>
          </a:p>
        </p:txBody>
      </p:sp>
      <p:sp>
        <p:nvSpPr>
          <p:cNvPr id="2040" name="Google Shape;2040;p15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041" name="Google Shape;2041;p158"/>
          <p:cNvSpPr txBox="1"/>
          <p:nvPr>
            <p:ph type="title"/>
          </p:nvPr>
        </p:nvSpPr>
        <p:spPr>
          <a:xfrm>
            <a:off x="4831293" y="1205968"/>
            <a:ext cx="1121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8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600"/>
          </a:p>
        </p:txBody>
      </p:sp>
      <p:pic>
        <p:nvPicPr>
          <p:cNvPr id="2042" name="Google Shape;2042;p158" descr="&lt;math xmlns=&quot;http://www.w3.org/1998/Math/MathML&quot; display=&quot;block&quot; data-is-equatio=&quot;1&quot; data-latex=&quot;\sqrt{\frac{a}{5}}=b&quot;&gt;&lt;msqrt&gt;&lt;mfrac&gt;&lt;mi&gt;a&lt;/mi&gt;&lt;mn&gt;5&lt;/mn&gt;&lt;/mfrac&gt;&lt;/msqrt&gt;&lt;mo&gt;=&lt;/mo&gt;&lt;mi&gt;b&lt;/mi&gt;&lt;/math&gt;" title="the square root of a over 5 equals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427" y="2620912"/>
            <a:ext cx="1179958" cy="81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3" name="Google Shape;2043;p158" descr="&lt;math xmlns=&quot;http://www.w3.org/1998/Math/MathML&quot; display=&quot;block&quot; data-is-equatio=&quot;1&quot; data-latex=&quot;\frac{a}{5}=b^2&quot;&gt;&lt;mfrac&gt;&lt;mi&gt;a&lt;/mi&gt;&lt;mn&gt;5&lt;/mn&gt;&lt;/mfrac&gt;&lt;mo&gt;=&lt;/mo&gt;&lt;msup&gt;&lt;mi&gt;b&lt;/mi&gt;&lt;mn&gt;2&lt;/mn&gt;&lt;/msup&gt;&lt;/math&gt;" title="a over 5 equal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427" y="1717246"/>
            <a:ext cx="956400" cy="635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740" y="284508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8433" y="189432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2339" y="391004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58"/>
          <p:cNvSpPr txBox="1"/>
          <p:nvPr/>
        </p:nvSpPr>
        <p:spPr>
          <a:xfrm flipH="1">
            <a:off x="3038700" y="1761700"/>
            <a:ext cx="32181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÷5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the correct first step but the exponent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must be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48" name="Google Shape;2048;p158" descr="&lt;math xmlns=&quot;http://www.w3.org/1998/Math/MathML&quot; display=&quot;block&quot; data-is-equatio=&quot;1&quot; data-latex=&quot;\frac{\sqrt{a}}{5}=b&quot;&gt;&lt;mfrac&gt;&lt;msqrt&gt;&lt;mi&gt;a&lt;/mi&gt;&lt;/msqrt&gt;&lt;mn&gt;5&lt;/mn&gt;&lt;/mfrac&gt;&lt;mo&gt;=&lt;/mo&gt;&lt;mi&gt;b&lt;/mi&gt;&lt;/math&gt;" title="the fraction with numerator the square root of a and denominator 5 equals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745" y="3632504"/>
            <a:ext cx="1101513" cy="8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158"/>
          <p:cNvSpPr txBox="1"/>
          <p:nvPr>
            <p:ph type="title"/>
          </p:nvPr>
        </p:nvSpPr>
        <p:spPr>
          <a:xfrm>
            <a:off x="6888693" y="1967968"/>
            <a:ext cx="1121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8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600"/>
          </a:p>
        </p:txBody>
      </p:sp>
      <p:pic>
        <p:nvPicPr>
          <p:cNvPr id="2050" name="Google Shape;2050;p158" descr="&lt;math xmlns=&quot;http://www.w3.org/1998/Math/MathML&quot; display=&quot;block&quot; data-is-equatio=&quot;1&quot; data-latex=&quot;\frac{a}{5}=b^2&quot;&gt;&lt;mfrac&gt;&lt;mi&gt;a&lt;/mi&gt;&lt;mn&gt;5&lt;/mn&gt;&lt;/mfrac&gt;&lt;mo&gt;=&lt;/mo&gt;&lt;msup&gt;&lt;mi&gt;b&lt;/mi&gt;&lt;mn&gt;2&lt;/mn&gt;&lt;/msup&gt;&lt;/math&gt;" title="a over 5 equals b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2600" y="2643153"/>
            <a:ext cx="956400" cy="635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58" descr="&lt;math xmlns=&quot;http://www.w3.org/1998/Math/MathML&quot; display=&quot;block&quot; data-is-equatio=&quot;1&quot; data-latex=&quot;\sqrt{\frac{a}{5}}=b&quot;&gt;&lt;msqrt&gt;&lt;mfrac&gt;&lt;mi&gt;a&lt;/mi&gt;&lt;mn&gt;5&lt;/mn&gt;&lt;/mfrac&gt;&lt;/msqrt&gt;&lt;mo&gt;=&lt;/mo&gt;&lt;mi&gt;b&lt;/mi&gt;&lt;/math&gt;" title="the square root of a over 5 equals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454" y="3436098"/>
            <a:ext cx="1179958" cy="81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5" name="Shape 2055"/>
        <p:cNvGrpSpPr/>
        <p:nvPr/>
      </p:nvGrpSpPr>
      <p:grpSpPr>
        <a:xfrm>
          <a:off x="0" y="0"/>
          <a:ext cx="0" cy="0"/>
        </a:xfrm>
      </p:grpSpPr>
      <p:sp>
        <p:nvSpPr>
          <p:cNvPr id="2056" name="Google Shape;2056;p159"/>
          <p:cNvSpPr txBox="1"/>
          <p:nvPr>
            <p:ph type="body" idx="1"/>
          </p:nvPr>
        </p:nvSpPr>
        <p:spPr>
          <a:xfrm>
            <a:off x="324000" y="759300"/>
            <a:ext cx="71352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Making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 is different for this formula.</a:t>
            </a:r>
            <a:endParaRPr/>
          </a:p>
        </p:txBody>
      </p:sp>
      <p:sp>
        <p:nvSpPr>
          <p:cNvPr id="2057" name="Google Shape;2057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058" name="Google Shape;2058;p159"/>
          <p:cNvSpPr txBox="1"/>
          <p:nvPr>
            <p:ph type="body" idx="1"/>
          </p:nvPr>
        </p:nvSpPr>
        <p:spPr>
          <a:xfrm>
            <a:off x="388681" y="3380275"/>
            <a:ext cx="245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159"/>
          <p:cNvSpPr txBox="1"/>
          <p:nvPr/>
        </p:nvSpPr>
        <p:spPr>
          <a:xfrm>
            <a:off x="1324875" y="3393600"/>
            <a:ext cx="5442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×3</a:t>
            </a:r>
            <a:endParaRPr sz="24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159"/>
          <p:cNvSpPr txBox="1"/>
          <p:nvPr/>
        </p:nvSpPr>
        <p:spPr>
          <a:xfrm>
            <a:off x="2544075" y="3393600"/>
            <a:ext cx="14475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1" name="Google Shape;2061;p159"/>
          <p:cNvCxnSpPr>
            <a:endCxn id="2059" idx="1"/>
          </p:cNvCxnSpPr>
          <p:nvPr/>
        </p:nvCxnSpPr>
        <p:spPr>
          <a:xfrm>
            <a:off x="638775" y="3603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2" name="Google Shape;2062;p159"/>
          <p:cNvCxnSpPr/>
          <p:nvPr/>
        </p:nvCxnSpPr>
        <p:spPr>
          <a:xfrm>
            <a:off x="1857975" y="3603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3" name="Google Shape;2063;p159"/>
          <p:cNvCxnSpPr/>
          <p:nvPr/>
        </p:nvCxnSpPr>
        <p:spPr>
          <a:xfrm>
            <a:off x="3991575" y="36031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4" name="Google Shape;2064;p159"/>
          <p:cNvSpPr txBox="1"/>
          <p:nvPr>
            <p:ph type="body" idx="1"/>
          </p:nvPr>
        </p:nvSpPr>
        <p:spPr>
          <a:xfrm>
            <a:off x="4826950" y="3380275"/>
            <a:ext cx="686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159"/>
          <p:cNvSpPr txBox="1"/>
          <p:nvPr>
            <p:ph type="body" idx="1"/>
          </p:nvPr>
        </p:nvSpPr>
        <p:spPr>
          <a:xfrm>
            <a:off x="388681" y="4218475"/>
            <a:ext cx="245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159"/>
          <p:cNvSpPr txBox="1"/>
          <p:nvPr/>
        </p:nvSpPr>
        <p:spPr>
          <a:xfrm>
            <a:off x="1324875" y="4231800"/>
            <a:ext cx="5442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159"/>
          <p:cNvSpPr txBox="1"/>
          <p:nvPr/>
        </p:nvSpPr>
        <p:spPr>
          <a:xfrm>
            <a:off x="2544075" y="4231800"/>
            <a:ext cx="1447500" cy="419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root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8" name="Google Shape;2068;p159"/>
          <p:cNvCxnSpPr/>
          <p:nvPr/>
        </p:nvCxnSpPr>
        <p:spPr>
          <a:xfrm rot="10800000">
            <a:off x="1857975" y="44413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9" name="Google Shape;2069;p159"/>
          <p:cNvCxnSpPr/>
          <p:nvPr/>
        </p:nvCxnSpPr>
        <p:spPr>
          <a:xfrm rot="10800000">
            <a:off x="3991575" y="44413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0" name="Google Shape;2070;p159"/>
          <p:cNvCxnSpPr/>
          <p:nvPr/>
        </p:nvCxnSpPr>
        <p:spPr>
          <a:xfrm rot="10800000">
            <a:off x="638775" y="4441350"/>
            <a:ext cx="686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1" name="Google Shape;2071;p159"/>
          <p:cNvSpPr txBox="1"/>
          <p:nvPr>
            <p:ph type="body" idx="1"/>
          </p:nvPr>
        </p:nvSpPr>
        <p:spPr>
          <a:xfrm>
            <a:off x="4826950" y="4218475"/>
            <a:ext cx="686100" cy="3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2" name="Google Shape;2072;p159"/>
          <p:cNvSpPr txBox="1"/>
          <p:nvPr/>
        </p:nvSpPr>
        <p:spPr>
          <a:xfrm>
            <a:off x="4343413" y="1318405"/>
            <a:ext cx="126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pic>
        <p:nvPicPr>
          <p:cNvPr id="2073" name="Google Shape;2073;p159" descr="&lt;math xmlns=&quot;http://www.w3.org/1998/Math/MathML&quot; display=&quot;block&quot; data-is-equatio=&quot;1&quot; data-latex=&quot;\sqrt{y}=3x&quot;&gt;&lt;msqrt&gt;&lt;mi&gt;y&lt;/mi&gt;&lt;/msqrt&gt;&lt;mo&gt;=&lt;/mo&gt;&lt;mn&gt;3&lt;/mn&gt;&lt;mi&gt;x&lt;/mi&gt;&lt;/math&gt;" title="the square root of y equals 3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538" y="1918663"/>
            <a:ext cx="1100308" cy="384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4" name="Google Shape;2074;p159" descr="&lt;math xmlns=&quot;http://www.w3.org/1998/Math/MathML&quot; display=&quot;block&quot; data-is-equatio=&quot;1&quot; data-latex=&quot;\frac{\sqrt{y}}{3}=x&quot;&gt;&lt;mfrac&gt;&lt;msqrt&gt;&lt;mi&gt;y&lt;/mi&gt;&lt;/msqrt&gt;&lt;mn&gt;3&lt;/mn&gt;&lt;/mfrac&gt;&lt;mo&gt;=&lt;/mo&gt;&lt;mi&gt;x&lt;/mi&gt;&lt;/math&gt;" title="the fraction with numerator the square root of y and denominator 3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57" y="2441887"/>
            <a:ext cx="961850" cy="6931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159"/>
          <p:cNvSpPr/>
          <p:nvPr/>
        </p:nvSpPr>
        <p:spPr>
          <a:xfrm>
            <a:off x="2505187" y="4217727"/>
            <a:ext cx="1529400" cy="4728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59"/>
          <p:cNvSpPr/>
          <p:nvPr/>
        </p:nvSpPr>
        <p:spPr>
          <a:xfrm>
            <a:off x="1278822" y="4217725"/>
            <a:ext cx="648300" cy="4728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0" name="Shape 2080"/>
        <p:cNvGrpSpPr/>
        <p:nvPr/>
      </p:nvGrpSpPr>
      <p:grpSpPr>
        <a:xfrm>
          <a:off x="0" y="0"/>
          <a:ext cx="0" cy="0"/>
        </a:xfrm>
      </p:grpSpPr>
      <p:sp>
        <p:nvSpPr>
          <p:cNvPr id="2081" name="Google Shape;2081;p160"/>
          <p:cNvSpPr txBox="1"/>
          <p:nvPr>
            <p:ph type="title"/>
          </p:nvPr>
        </p:nvSpPr>
        <p:spPr>
          <a:xfrm>
            <a:off x="324000" y="748775"/>
            <a:ext cx="7135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is the correct rearrangement of this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the subject?</a:t>
            </a:r>
            <a:endParaRPr/>
          </a:p>
        </p:txBody>
      </p:sp>
      <p:sp>
        <p:nvSpPr>
          <p:cNvPr id="2082" name="Google Shape;2082;p16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083" name="Google Shape;2083;p160"/>
          <p:cNvSpPr txBox="1"/>
          <p:nvPr>
            <p:ph type="title"/>
          </p:nvPr>
        </p:nvSpPr>
        <p:spPr>
          <a:xfrm>
            <a:off x="4831302" y="1205975"/>
            <a:ext cx="1425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= (5</a:t>
            </a: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8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600"/>
          </a:p>
        </p:txBody>
      </p:sp>
      <p:pic>
        <p:nvPicPr>
          <p:cNvPr id="2084" name="Google Shape;2084;p160" descr="&lt;math xmlns=&quot;http://www.w3.org/1998/Math/MathML&quot; display=&quot;block&quot; data-is-equatio=&quot;1&quot; data-latex=&quot;\sqrt{\frac{a}{5}}=b&quot;&gt;&lt;msqrt&gt;&lt;mfrac&gt;&lt;mi&gt;a&lt;/mi&gt;&lt;mn&gt;5&lt;/mn&gt;&lt;/mfrac&gt;&lt;/msqrt&gt;&lt;mo&gt;=&lt;/mo&gt;&lt;mi&gt;b&lt;/mi&gt;&lt;/math&gt;" title="the square root of a over 5 equals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745" y="2620912"/>
            <a:ext cx="1179958" cy="81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5" name="Google Shape;2085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540" y="391188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6" name="Google Shape;2086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5006" y="1859805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" name="Google Shape;2087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2339" y="2843245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160"/>
          <p:cNvSpPr txBox="1"/>
          <p:nvPr/>
        </p:nvSpPr>
        <p:spPr>
          <a:xfrm flipH="1">
            <a:off x="3038563" y="1761700"/>
            <a:ext cx="35652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Square root is the correct first step but the exponent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must be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89" name="Google Shape;2089;p160" descr="&lt;math xmlns=&quot;http://www.w3.org/1998/Math/MathML&quot; display=&quot;block&quot; data-is-equatio=&quot;1&quot; data-latex=&quot;\frac{\sqrt{a}}{5}=b&quot;&gt;&lt;mfrac&gt;&lt;msqrt&gt;&lt;mi&gt;a&lt;/mi&gt;&lt;/msqrt&gt;&lt;mn&gt;5&lt;/mn&gt;&lt;/mfrac&gt;&lt;mo&gt;=&lt;/mo&gt;&lt;mi&gt;b&lt;/mi&gt;&lt;/math&gt;" title="the fraction with numerator the square root of a and denominator 5 equals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745" y="3632504"/>
            <a:ext cx="1101513" cy="8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160" descr="&lt;math xmlns=&quot;http://www.w3.org/1998/Math/MathML&quot; display=&quot;block&quot; data-is-equatio=&quot;1&quot; data-latex=&quot;\sqrt{a}=5b&quot;&gt;&lt;msqrt&gt;&lt;mi&gt;a&lt;/mi&gt;&lt;/msqrt&gt;&lt;mo&gt;=&lt;/mo&gt;&lt;mn&gt;5&lt;/mn&gt;&lt;mi&gt;b&lt;/mi&gt;&lt;/math&gt;" title="the square root of a equals 5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745" y="1789945"/>
            <a:ext cx="1199286" cy="4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160"/>
          <p:cNvSpPr txBox="1"/>
          <p:nvPr>
            <p:ph type="title"/>
          </p:nvPr>
        </p:nvSpPr>
        <p:spPr>
          <a:xfrm>
            <a:off x="5288502" y="2729975"/>
            <a:ext cx="1425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= (5</a:t>
            </a:r>
            <a:r>
              <a:rPr lang="en-GB" sz="28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8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600"/>
          </a:p>
        </p:txBody>
      </p:sp>
      <p:pic>
        <p:nvPicPr>
          <p:cNvPr id="2092" name="Google Shape;2092;p160" descr="&lt;math xmlns=&quot;http://www.w3.org/1998/Math/MathML&quot; display=&quot;block&quot; data-is-equatio=&quot;1&quot; data-latex=&quot;\frac{\sqrt{a}}{5}=b&quot;&gt;&lt;mfrac&gt;&lt;msqrt&gt;&lt;mi&gt;a&lt;/mi&gt;&lt;/msqrt&gt;&lt;mn&gt;5&lt;/mn&gt;&lt;/mfrac&gt;&lt;mo&gt;=&lt;/mo&gt;&lt;mi&gt;b&lt;/mi&gt;&lt;/math&gt;" title="the fraction with numerator the square root of a and denominator 5 equals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1945" y="4017851"/>
            <a:ext cx="1101513" cy="8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3" name="Google Shape;2093;p160" descr="&lt;math xmlns=&quot;http://www.w3.org/1998/Math/MathML&quot; display=&quot;block&quot; data-is-equatio=&quot;1&quot; data-latex=&quot;\sqrt{a}=5b&quot;&gt;&lt;msqrt&gt;&lt;mi&gt;a&lt;/mi&gt;&lt;/msqrt&gt;&lt;mo&gt;=&lt;/mo&gt;&lt;mn&gt;5&lt;/mn&gt;&lt;mi&gt;b&lt;/mi&gt;&lt;/math&gt;" title="the square root of a equals 5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8145" y="3417506"/>
            <a:ext cx="1199286" cy="41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7" name="Shape 2097"/>
        <p:cNvGrpSpPr/>
        <p:nvPr/>
      </p:nvGrpSpPr>
      <p:grpSpPr>
        <a:xfrm>
          <a:off x="0" y="0"/>
          <a:ext cx="0" cy="0"/>
        </a:xfrm>
      </p:grpSpPr>
      <p:pic>
        <p:nvPicPr>
          <p:cNvPr id="2098" name="Google Shape;2098;p161" descr="&lt;math xmlns=&quot;http://www.w3.org/1998/Math/MathML&quot; display=&quot;block&quot; data-is-equatio=&quot;1&quot; data-latex=&quot;\sqrt{3x}=y&quot;&gt;&lt;msqrt&gt;&lt;mn&gt;3&lt;/mn&gt;&lt;mi&gt;x&lt;/mi&gt;&lt;/msqrt&gt;&lt;mo&gt;=&lt;/mo&gt;&lt;mi&gt;y&lt;/mi&gt;&lt;/math&gt;" title="the square root of 3 x equals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670" y="3792436"/>
            <a:ext cx="1154329" cy="397664"/>
          </a:xfrm>
          <a:prstGeom prst="rect">
            <a:avLst/>
          </a:prstGeom>
          <a:noFill/>
          <a:ln>
            <a:noFill/>
          </a:ln>
        </p:spPr>
      </p:pic>
      <p:sp>
        <p:nvSpPr>
          <p:cNvPr id="2099" name="Google Shape;2099;p161"/>
          <p:cNvSpPr txBox="1"/>
          <p:nvPr>
            <p:ph type="body" idx="1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2100" name="Google Shape;2100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101" name="Google Shape;2101;p161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61"/>
          <p:cNvSpPr txBox="1"/>
          <p:nvPr/>
        </p:nvSpPr>
        <p:spPr>
          <a:xfrm>
            <a:off x="324000" y="24357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161"/>
          <p:cNvSpPr txBox="1"/>
          <p:nvPr/>
        </p:nvSpPr>
        <p:spPr>
          <a:xfrm>
            <a:off x="3360493" y="24357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61"/>
          <p:cNvSpPr txBox="1"/>
          <p:nvPr/>
        </p:nvSpPr>
        <p:spPr>
          <a:xfrm>
            <a:off x="3348987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161"/>
          <p:cNvSpPr txBox="1"/>
          <p:nvPr/>
        </p:nvSpPr>
        <p:spPr>
          <a:xfrm>
            <a:off x="324000" y="3731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61"/>
          <p:cNvSpPr txBox="1"/>
          <p:nvPr/>
        </p:nvSpPr>
        <p:spPr>
          <a:xfrm>
            <a:off x="3360493" y="3731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61"/>
          <p:cNvSpPr txBox="1"/>
          <p:nvPr/>
        </p:nvSpPr>
        <p:spPr>
          <a:xfrm>
            <a:off x="6248934" y="24357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61"/>
          <p:cNvSpPr txBox="1"/>
          <p:nvPr/>
        </p:nvSpPr>
        <p:spPr>
          <a:xfrm>
            <a:off x="6237427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61"/>
          <p:cNvSpPr txBox="1"/>
          <p:nvPr/>
        </p:nvSpPr>
        <p:spPr>
          <a:xfrm>
            <a:off x="762032" y="1242200"/>
            <a:ext cx="202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sp>
        <p:nvSpPr>
          <p:cNvPr id="2110" name="Google Shape;2110;p161"/>
          <p:cNvSpPr txBox="1"/>
          <p:nvPr/>
        </p:nvSpPr>
        <p:spPr>
          <a:xfrm>
            <a:off x="3798525" y="1242200"/>
            <a:ext cx="202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sp>
        <p:nvSpPr>
          <p:cNvPr id="2111" name="Google Shape;2111;p161"/>
          <p:cNvSpPr txBox="1"/>
          <p:nvPr/>
        </p:nvSpPr>
        <p:spPr>
          <a:xfrm>
            <a:off x="6705626" y="1242200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400"/>
          </a:p>
        </p:txBody>
      </p:sp>
      <p:sp>
        <p:nvSpPr>
          <p:cNvPr id="2112" name="Google Shape;2112;p161"/>
          <p:cNvSpPr txBox="1"/>
          <p:nvPr/>
        </p:nvSpPr>
        <p:spPr>
          <a:xfrm>
            <a:off x="762026" y="2461400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4(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2400"/>
          </a:p>
        </p:txBody>
      </p:sp>
      <p:pic>
        <p:nvPicPr>
          <p:cNvPr id="2113" name="Google Shape;2113;p161" descr="&lt;math xmlns=&quot;http://www.w3.org/1998/Math/MathML&quot; display=&quot;block&quot; data-is-equatio=&quot;1&quot; data-latex=&quot;y=\frac{4}{x^2}&quot;&gt;&lt;mi&gt;y&lt;/mi&gt;&lt;mo&gt;=&lt;/mo&gt;&lt;mfrac&gt;&lt;mn&gt;4&lt;/mn&gt;&lt;msup&gt;&lt;mi&gt;x&lt;/mi&gt;&lt;mn&gt;2&lt;/mn&gt;&lt;/msup&gt;&lt;/mfrac&gt;&lt;/math&gt;" title="y equals the fraction with numerator 4 and denominator x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1420" y="2538956"/>
            <a:ext cx="885557" cy="64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4" name="Google Shape;2114;p161" descr="&lt;math xmlns=&quot;http://www.w3.org/1998/Math/MathML&quot; display=&quot;block&quot; data-is-equatio=&quot;1&quot; data-latex=&quot;y=\frac{x^2}{4}&quot;&gt;&lt;mi&gt;y&lt;/mi&gt;&lt;mo&gt;=&lt;/mo&gt;&lt;mfrac&gt;&lt;msup&gt;&lt;mi&gt;x&lt;/mi&gt;&lt;mn&gt;2&lt;/mn&gt;&lt;/msup&gt;&lt;mn&gt;4&lt;/mn&gt;&lt;/mfrac&gt;&lt;/math&gt;" title="y equals the fraction with numerator x squared and denominato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1409" y="2481738"/>
            <a:ext cx="908861" cy="6804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5" name="Google Shape;2115;p161"/>
          <p:cNvSpPr txBox="1"/>
          <p:nvPr/>
        </p:nvSpPr>
        <p:spPr>
          <a:xfrm>
            <a:off x="6256093" y="3731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6" name="Google Shape;2116;p161" descr="&lt;math xmlns=&quot;http://www.w3.org/1998/Math/MathML&quot; display=&quot;block&quot; data-is-equatio=&quot;1&quot; data-latex=&quot;3x=\sqrt{y}&quot;&gt;&lt;mn&gt;3&lt;/mn&gt;&lt;mi&gt;x&lt;/mi&gt;&lt;mo&gt;=&lt;/mo&gt;&lt;msqrt&gt;&lt;mi&gt;y&lt;/mi&gt;&lt;/msqrt&gt;&lt;/math&gt;" title="3 x equals the square root of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500" y="3782536"/>
            <a:ext cx="1154330" cy="39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7" name="Google Shape;2117;p161" descr="&lt;math xmlns=&quot;http://www.w3.org/1998/Math/MathML&quot; display=&quot;block&quot; data-is-equatio=&quot;1&quot; data-latex=&quot;3\sqrt{x}=y&quot;&gt;&lt;mn&gt;3&lt;/mn&gt;&lt;msqrt&gt;&lt;mi&gt;x&lt;/mi&gt;&lt;/msqrt&gt;&lt;mo&gt;=&lt;/mo&gt;&lt;mi&gt;y&lt;/mi&gt;&lt;/math&gt;" title="3 the square root of x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7887" y="3788285"/>
            <a:ext cx="1154325" cy="392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1" name="Shape 2121"/>
        <p:cNvGrpSpPr/>
        <p:nvPr/>
      </p:nvGrpSpPr>
      <p:grpSpPr>
        <a:xfrm>
          <a:off x="0" y="0"/>
          <a:ext cx="0" cy="0"/>
        </a:xfrm>
      </p:grpSpPr>
      <p:sp>
        <p:nvSpPr>
          <p:cNvPr id="2122" name="Google Shape;2122;p162"/>
          <p:cNvSpPr txBox="1"/>
          <p:nvPr>
            <p:ph type="body" idx="1"/>
          </p:nvPr>
        </p:nvSpPr>
        <p:spPr>
          <a:xfrm>
            <a:off x="324000" y="759300"/>
            <a:ext cx="82377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2123" name="Google Shape;2123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124" name="Google Shape;2124;p162"/>
          <p:cNvSpPr txBox="1"/>
          <p:nvPr/>
        </p:nvSpPr>
        <p:spPr>
          <a:xfrm>
            <a:off x="324000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62"/>
          <p:cNvSpPr txBox="1"/>
          <p:nvPr/>
        </p:nvSpPr>
        <p:spPr>
          <a:xfrm>
            <a:off x="3348987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62"/>
          <p:cNvSpPr txBox="1"/>
          <p:nvPr/>
        </p:nvSpPr>
        <p:spPr>
          <a:xfrm>
            <a:off x="6237427" y="120499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7" name="Google Shape;2127;p162"/>
          <p:cNvSpPr txBox="1"/>
          <p:nvPr/>
        </p:nvSpPr>
        <p:spPr>
          <a:xfrm>
            <a:off x="762032" y="1242200"/>
            <a:ext cx="202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sp>
        <p:nvSpPr>
          <p:cNvPr id="2128" name="Google Shape;2128;p162"/>
          <p:cNvSpPr txBox="1"/>
          <p:nvPr/>
        </p:nvSpPr>
        <p:spPr>
          <a:xfrm>
            <a:off x="3798525" y="1242200"/>
            <a:ext cx="202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sp>
        <p:nvSpPr>
          <p:cNvPr id="2129" name="Google Shape;2129;p162"/>
          <p:cNvSpPr txBox="1"/>
          <p:nvPr/>
        </p:nvSpPr>
        <p:spPr>
          <a:xfrm>
            <a:off x="6705626" y="1242200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400"/>
          </a:p>
        </p:txBody>
      </p:sp>
      <p:pic>
        <p:nvPicPr>
          <p:cNvPr id="2130" name="Google Shape;2130;p162" descr="&lt;math xmlns=&quot;http://www.w3.org/1998/Math/MathML&quot; display=&quot;block&quot; data-is-equatio=&quot;1&quot; data-latex=&quot;\frac{y}{4}=x^2&quot;&gt;&lt;mfrac&gt;&lt;mi&gt;y&lt;/mi&gt;&lt;mn&gt;4&lt;/mn&gt;&lt;/mfrac&gt;&lt;mo&gt;=&lt;/mo&gt;&lt;msup&gt;&lt;mi&gt;x&lt;/mi&gt;&lt;mn&gt;2&lt;/mn&gt;&lt;/msup&gt;&lt;/math&gt;" title="y over 4 equal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120" y="1888640"/>
            <a:ext cx="854003" cy="54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1" name="Google Shape;2131;p162" descr="&lt;math xmlns=&quot;http://www.w3.org/1998/Math/MathML&quot; display=&quot;block&quot; data-is-equatio=&quot;1&quot; data-latex=&quot;\sqrt{\frac{y}{4}}=x&quot;&gt;&lt;msqrt&gt;&lt;mfrac&gt;&lt;mi&gt;y&lt;/mi&gt;&lt;mn&gt;4&lt;/mn&gt;&lt;/mfrac&gt;&lt;/msqrt&gt;&lt;mo&gt;=&lt;/mo&gt;&lt;mi&gt;x&lt;/mi&gt;&lt;/math&gt;" title="the square root of y over 4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460" y="2650640"/>
            <a:ext cx="1091480" cy="74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" name="Google Shape;2132;p162" descr="&lt;math xmlns=&quot;http://www.w3.org/1998/Math/MathML&quot; display=&quot;block&quot; data-is-equatio=&quot;1&quot; data-latex=&quot;\frac{\sqrt{y}}{4}=x&quot;&gt;&lt;mfrac&gt;&lt;msqrt&gt;&lt;mi&gt;y&lt;/mi&gt;&lt;/msqrt&gt;&lt;mn&gt;4&lt;/mn&gt;&lt;/mfrac&gt;&lt;mo&gt;=&lt;/mo&gt;&lt;mi&gt;x&lt;/mi&gt;&lt;/math&gt;" title="the fraction with numerator the square root of y and denominator 4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6986" y="2541577"/>
            <a:ext cx="972646" cy="701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3" name="Google Shape;2133;p162" descr="&lt;math xmlns=&quot;http://www.w3.org/1998/Math/MathML&quot; display=&quot;block&quot; data-is-equatio=&quot;1&quot; data-latex=&quot;\sqrt{y}=4x&quot;&gt;&lt;msqrt&gt;&lt;mi&gt;y&lt;/mi&gt;&lt;/msqrt&gt;&lt;mo&gt;=&lt;/mo&gt;&lt;mn&gt;4&lt;/mn&gt;&lt;mi&gt;x&lt;/mi&gt;&lt;/math&gt;" title="the square root of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213" y="1940851"/>
            <a:ext cx="1061625" cy="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162"/>
          <p:cNvSpPr txBox="1"/>
          <p:nvPr/>
        </p:nvSpPr>
        <p:spPr>
          <a:xfrm>
            <a:off x="6301613" y="1886320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− 1= 4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/>
          </a:p>
        </p:txBody>
      </p:sp>
      <p:pic>
        <p:nvPicPr>
          <p:cNvPr id="2135" name="Google Shape;2135;p162" descr="&lt;math xmlns=&quot;http://www.w3.org/1998/Math/MathML&quot; display=&quot;block&quot; data-is-equatio=&quot;1&quot; data-latex=&quot;\frac{y-1}{4}=x^2&quot;&gt;&lt;mfrac&gt;&lt;mrow&gt;&lt;mi&gt;y&lt;/mi&gt;&lt;mo&gt;−&lt;/mo&gt;&lt;mn&gt;1&lt;/mn&gt;&lt;/mrow&gt;&lt;mn&gt;4&lt;/mn&gt;&lt;/mfrac&gt;&lt;mo&gt;=&lt;/mo&gt;&lt;msup&gt;&lt;mi&gt;x&lt;/mi&gt;&lt;mn&gt;2&lt;/mn&gt;&lt;/msup&gt;&lt;/math&gt;" title="the fraction with numerator y minus 1 and denominator 4 equals x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6230" y="2554457"/>
            <a:ext cx="1193929" cy="55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6" name="Google Shape;2136;p162" descr="&lt;math xmlns=&quot;http://www.w3.org/1998/Math/MathML&quot; display=&quot;block&quot; data-is-equatio=&quot;1&quot; data-latex=&quot;\sqrt{\frac{y-1}{4}}=x&quot;&gt;&lt;msqrt&gt;&lt;mfrac&gt;&lt;mrow&gt;&lt;mi&gt;y&lt;/mi&gt;&lt;mo&gt;−&lt;/mo&gt;&lt;mn&gt;1&lt;/mn&gt;&lt;/mrow&gt;&lt;mn&gt;4&lt;/mn&gt;&lt;/mfrac&gt;&lt;/msqrt&gt;&lt;mo&gt;=&lt;/mo&gt;&lt;mi&gt;x&lt;/mi&gt;&lt;/math&gt;" title="the square root of the fraction with numerator y minus 1 and denominator 4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9160" y="3332258"/>
            <a:ext cx="1420364" cy="66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0" name="Shape 2140"/>
        <p:cNvGrpSpPr/>
        <p:nvPr/>
      </p:nvGrpSpPr>
      <p:grpSpPr>
        <a:xfrm>
          <a:off x="0" y="0"/>
          <a:ext cx="0" cy="0"/>
        </a:xfrm>
      </p:grpSpPr>
      <p:sp>
        <p:nvSpPr>
          <p:cNvPr id="2141" name="Google Shape;2141;p163"/>
          <p:cNvSpPr txBox="1"/>
          <p:nvPr>
            <p:ph type="body" idx="1"/>
          </p:nvPr>
        </p:nvSpPr>
        <p:spPr>
          <a:xfrm>
            <a:off x="324000" y="759300"/>
            <a:ext cx="82377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2142" name="Google Shape;2142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143" name="Google Shape;2143;p163"/>
          <p:cNvSpPr txBox="1"/>
          <p:nvPr/>
        </p:nvSpPr>
        <p:spPr>
          <a:xfrm>
            <a:off x="324000" y="132287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163"/>
          <p:cNvSpPr txBox="1"/>
          <p:nvPr/>
        </p:nvSpPr>
        <p:spPr>
          <a:xfrm>
            <a:off x="3360493" y="132287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63"/>
          <p:cNvSpPr txBox="1"/>
          <p:nvPr/>
        </p:nvSpPr>
        <p:spPr>
          <a:xfrm>
            <a:off x="6248934" y="1322873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63"/>
          <p:cNvSpPr txBox="1"/>
          <p:nvPr/>
        </p:nvSpPr>
        <p:spPr>
          <a:xfrm>
            <a:off x="1120013" y="1348573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4(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2400"/>
          </a:p>
        </p:txBody>
      </p:sp>
      <p:pic>
        <p:nvPicPr>
          <p:cNvPr id="2147" name="Google Shape;2147;p163" descr="&lt;math xmlns=&quot;http://www.w3.org/1998/Math/MathML&quot; display=&quot;block&quot; data-is-equatio=&quot;1&quot; data-latex=&quot;y=\frac{4}{x^2}&quot;&gt;&lt;mi&gt;y&lt;/mi&gt;&lt;mo&gt;=&lt;/mo&gt;&lt;mfrac&gt;&lt;mn&gt;4&lt;/mn&gt;&lt;msup&gt;&lt;mi&gt;x&lt;/mi&gt;&lt;mn&gt;2&lt;/mn&gt;&lt;/msup&gt;&lt;/mfrac&gt;&lt;/math&gt;" title="y equals the fraction with numerator 4 and denominator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420" y="1426130"/>
            <a:ext cx="885557" cy="64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8" name="Google Shape;2148;p163" descr="&lt;math xmlns=&quot;http://www.w3.org/1998/Math/MathML&quot; display=&quot;block&quot; data-is-equatio=&quot;1&quot; data-latex=&quot;y=\frac{x^2}{4}&quot;&gt;&lt;mi&gt;y&lt;/mi&gt;&lt;mo&gt;=&lt;/mo&gt;&lt;mfrac&gt;&lt;msup&gt;&lt;mi&gt;x&lt;/mi&gt;&lt;mn&gt;2&lt;/mn&gt;&lt;/msup&gt;&lt;mn&gt;4&lt;/mn&gt;&lt;/mfrac&gt;&lt;/math&gt;" title="y equals the fraction with numerator x squared and denominato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1409" y="1368912"/>
            <a:ext cx="908861" cy="680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9" name="Google Shape;2149;p163" descr="&lt;math xmlns=&quot;http://www.w3.org/1998/Math/MathML&quot; display=&quot;block&quot; data-is-equatio=&quot;1&quot; data-latex=&quot;\frac{y}{4}=x^2+1&quot;&gt;&lt;mfrac&gt;&lt;mi&gt;y&lt;/mi&gt;&lt;mn&gt;4&lt;/mn&gt;&lt;/mfrac&gt;&lt;mo&gt;=&lt;/mo&gt;&lt;msup&gt;&lt;mi&gt;x&lt;/mi&gt;&lt;mn&gt;2&lt;/mn&gt;&lt;/msup&gt;&lt;mo&gt;+&lt;/mo&gt;&lt;mn&gt;1&lt;/mn&gt;&lt;/math&gt;" title="y over 4 equals x squared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787" y="1958200"/>
            <a:ext cx="1240455" cy="50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0" name="Google Shape;2150;p163" descr="&lt;math xmlns=&quot;http://www.w3.org/1998/Math/MathML&quot; display=&quot;block&quot; data-is-equatio=&quot;1&quot; data-latex=&quot;\frac{y}{4}-1=x^2&quot;&gt;&lt;mfrac&gt;&lt;mi&gt;y&lt;/mi&gt;&lt;mn&gt;4&lt;/mn&gt;&lt;/mfrac&gt;&lt;mo&gt;−&lt;/mo&gt;&lt;mn&gt;1&lt;/mn&gt;&lt;mo&gt;=&lt;/mo&gt;&lt;msup&gt;&lt;mi&gt;x&lt;/mi&gt;&lt;mn&gt;2&lt;/mn&gt;&lt;/msup&gt;&lt;/math&gt;" title="y over 4 minus 1 equals x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43" y="2720200"/>
            <a:ext cx="1236236" cy="50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1" name="Google Shape;2151;p163" descr="&lt;math xmlns=&quot;http://www.w3.org/1998/Math/MathML&quot; display=&quot;block&quot; data-is-equatio=&quot;1&quot; data-latex=&quot;\sqrt{\frac{y}{4}-1}=x&quot;&gt;&lt;msqrt&gt;&lt;mfrac&gt;&lt;mi&gt;y&lt;/mi&gt;&lt;mn&gt;4&lt;/mn&gt;&lt;/mfrac&gt;&lt;mo&gt;−&lt;/mo&gt;&lt;mn&gt;1&lt;/mn&gt;&lt;/msqrt&gt;&lt;mo&gt;=&lt;/mo&gt;&lt;mi&gt;x&lt;/mi&gt;&lt;/math&gt;" title="the square root of y over 4 minus 1 equals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466" y="3446423"/>
            <a:ext cx="1381566" cy="650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2" name="Google Shape;2152;p163" descr="&lt;math xmlns=&quot;http://www.w3.org/1998/Math/MathML&quot; display=&quot;block&quot; data-is-equatio=&quot;1&quot; data-latex=&quot;4y=x^2&quot;&gt;&lt;mn&gt;4&lt;/mn&gt;&lt;mi&gt;y&lt;/mi&gt;&lt;mo&gt;=&lt;/mo&gt;&lt;msup&gt;&lt;mi&gt;x&lt;/mi&gt;&lt;mn&gt;2&lt;/mn&gt;&lt;/msup&gt;&lt;/math&gt;" title="4 y equals x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17195" y="2382272"/>
            <a:ext cx="954635" cy="329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3" name="Google Shape;2153;p163" descr="&lt;math xmlns=&quot;http://www.w3.org/1998/Math/MathML&quot; display=&quot;block&quot; data-is-equatio=&quot;1&quot; data-latex=&quot;\sqrt{4y}=x&quot;&gt;&lt;msqrt&gt;&lt;mn&gt;4&lt;/mn&gt;&lt;mi&gt;y&lt;/mi&gt;&lt;/msqrt&gt;&lt;mo&gt;=&lt;/mo&gt;&lt;mi&gt;x&lt;/mi&gt;&lt;/math&gt;" title="the square root of 4 y equals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71232" y="3120152"/>
            <a:ext cx="1089584" cy="379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4" name="Google Shape;2154;p163" descr="&lt;math xmlns=&quot;http://www.w3.org/1998/Math/MathML&quot; display=&quot;block&quot; data-is-equatio=&quot;1&quot; data-latex=&quot;x^2y=4&quot;&gt;&lt;msup&gt;&lt;mi&gt;x&lt;/mi&gt;&lt;mn&gt;2&lt;/mn&gt;&lt;/msup&gt;&lt;mi&gt;y&lt;/mi&gt;&lt;mo&gt;=&lt;/mo&gt;&lt;mn&gt;4&lt;/mn&gt;&lt;/math&gt;" title="x squared y equals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62513" y="2397725"/>
            <a:ext cx="995961" cy="337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5" name="Google Shape;2155;p163" descr="&lt;math xmlns=&quot;http://www.w3.org/1998/Math/MathML&quot; display=&quot;block&quot; data-is-equatio=&quot;1&quot; data-latex=&quot;x^2=\frac{4}{y}&quot;&gt;&lt;msup&gt;&lt;mi&gt;x&lt;/mi&gt;&lt;mn&gt;2&lt;/mn&gt;&lt;/msup&gt;&lt;mo&gt;=&lt;/mo&gt;&lt;mfrac&gt;&lt;mn&gt;4&lt;/mn&gt;&lt;mi&gt;y&lt;/mi&gt;&lt;/mfrac&gt;&lt;/math&gt;" title="x squared equals 4 over y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04948" y="2971039"/>
            <a:ext cx="945581" cy="71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6" name="Google Shape;2156;p163" descr="&lt;math xmlns=&quot;http://www.w3.org/1998/Math/MathML&quot; display=&quot;block&quot; data-is-equatio=&quot;1&quot; data-latex=&quot;x=\sqrt{\frac{4}{y}}&quot;&gt;&lt;mi&gt;x&lt;/mi&gt;&lt;mo&gt;=&lt;/mo&gt;&lt;msqrt&gt;&lt;mfrac&gt;&lt;mn&gt;4&lt;/mn&gt;&lt;mi&gt;y&lt;/mi&gt;&lt;/mfrac&gt;&lt;/msqrt&gt;&lt;/math&gt;" title="x equals the square root of 4 over y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47309" y="3913031"/>
            <a:ext cx="1134872" cy="746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0" name="Shape 2160"/>
        <p:cNvGrpSpPr/>
        <p:nvPr/>
      </p:nvGrpSpPr>
      <p:grpSpPr>
        <a:xfrm>
          <a:off x="0" y="0"/>
          <a:ext cx="0" cy="0"/>
        </a:xfrm>
      </p:grpSpPr>
      <p:pic>
        <p:nvPicPr>
          <p:cNvPr id="2161" name="Google Shape;2161;p164" descr="&lt;math xmlns=&quot;http://www.w3.org/1998/Math/MathML&quot; display=&quot;block&quot; data-is-equatio=&quot;1&quot; data-latex=&quot;\sqrt{3x}=y&quot;&gt;&lt;msqrt&gt;&lt;mn&gt;3&lt;/mn&gt;&lt;mi&gt;x&lt;/mi&gt;&lt;/msqrt&gt;&lt;mo&gt;=&lt;/mo&gt;&lt;mi&gt;y&lt;/mi&gt;&lt;/math&gt;" title="the square root of 3 x equals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364" y="1323863"/>
            <a:ext cx="1154329" cy="397664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164"/>
          <p:cNvSpPr txBox="1"/>
          <p:nvPr>
            <p:ph type="body" idx="1"/>
          </p:nvPr>
        </p:nvSpPr>
        <p:spPr>
          <a:xfrm>
            <a:off x="324000" y="759300"/>
            <a:ext cx="82377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Rearrange each formula to make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the subject.</a:t>
            </a:r>
            <a:endParaRPr/>
          </a:p>
        </p:txBody>
      </p:sp>
      <p:sp>
        <p:nvSpPr>
          <p:cNvPr id="2163" name="Google Shape;2163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Rearranging more complex formula</a:t>
            </a:r>
            <a:endParaRPr/>
          </a:p>
        </p:txBody>
      </p:sp>
      <p:sp>
        <p:nvSpPr>
          <p:cNvPr id="2164" name="Google Shape;2164;p164"/>
          <p:cNvSpPr txBox="1"/>
          <p:nvPr/>
        </p:nvSpPr>
        <p:spPr>
          <a:xfrm>
            <a:off x="324000" y="12625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64"/>
          <p:cNvSpPr txBox="1"/>
          <p:nvPr/>
        </p:nvSpPr>
        <p:spPr>
          <a:xfrm>
            <a:off x="3360493" y="12625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64"/>
          <p:cNvSpPr txBox="1"/>
          <p:nvPr/>
        </p:nvSpPr>
        <p:spPr>
          <a:xfrm>
            <a:off x="6256093" y="1262527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7" name="Google Shape;2167;p164" descr="&lt;math xmlns=&quot;http://www.w3.org/1998/Math/MathML&quot; display=&quot;block&quot; data-is-equatio=&quot;1&quot; data-latex=&quot;3x=\sqrt{y}&quot;&gt;&lt;mn&gt;3&lt;/mn&gt;&lt;mi&gt;x&lt;/mi&gt;&lt;mo&gt;=&lt;/mo&gt;&lt;msqrt&gt;&lt;mi&gt;y&lt;/mi&gt;&lt;/msqrt&gt;&lt;/math&gt;" title="3 x equals the square root of 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207" y="1344136"/>
            <a:ext cx="1154330" cy="39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8" name="Google Shape;2168;p164" descr="&lt;math xmlns=&quot;http://www.w3.org/1998/Math/MathML&quot; display=&quot;block&quot; data-is-equatio=&quot;1&quot; data-latex=&quot;3\sqrt{x}=y&quot;&gt;&lt;mn&gt;3&lt;/mn&gt;&lt;msqrt&gt;&lt;mi&gt;x&lt;/mi&gt;&lt;/msqrt&gt;&lt;mo&gt;=&lt;/mo&gt;&lt;mi&gt;y&lt;/mi&gt;&lt;/math&gt;" title="3 the square root of x equals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7887" y="1319712"/>
            <a:ext cx="1154325" cy="39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164" descr="&lt;math xmlns=&quot;http://www.w3.org/1998/Math/MathML&quot; display=&quot;block&quot; data-is-equatio=&quot;1&quot; data-latex=&quot;3x=y^2&quot;&gt;&lt;mn&gt;3&lt;/mn&gt;&lt;mi&gt;x&lt;/mi&gt;&lt;mo&gt;=&lt;/mo&gt;&lt;msup&gt;&lt;mi&gt;y&lt;/mi&gt;&lt;mn&gt;2&lt;/mn&gt;&lt;/msup&gt;&lt;/math&gt;" title="3 x equals y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5896" y="2047067"/>
            <a:ext cx="997150" cy="348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0" name="Google Shape;2170;p164" descr="&lt;math xmlns=&quot;http://www.w3.org/1998/Math/MathML&quot; display=&quot;block&quot; data-is-equatio=&quot;1&quot; data-latex=&quot;x=\frac{y^2}{3}&quot;&gt;&lt;mi&gt;x&lt;/mi&gt;&lt;mo&gt;=&lt;/mo&gt;&lt;mfrac&gt;&lt;msup&gt;&lt;mi&gt;y&lt;/mi&gt;&lt;mn&gt;2&lt;/mn&gt;&lt;/msup&gt;&lt;mn&gt;3&lt;/mn&gt;&lt;/mfrac&gt;&lt;/math&gt;" title="x equals the fraction with numerator y squared and denominato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4885" y="2722803"/>
            <a:ext cx="880367" cy="673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1" name="Google Shape;2171;p164" descr="&lt;math xmlns=&quot;http://www.w3.org/1998/Math/MathML&quot; display=&quot;block&quot; data-is-equatio=&quot;1&quot; data-latex=&quot;x=\frac{\sqrt{y}}{3}&quot;&gt;&lt;mi&gt;x&lt;/mi&gt;&lt;mo&gt;=&lt;/mo&gt;&lt;mfrac&gt;&lt;msqrt&gt;&lt;mi&gt;y&lt;/mi&gt;&lt;/msqrt&gt;&lt;mn&gt;3&lt;/mn&gt;&lt;/mfrac&gt;&lt;/math&gt;" title="x equals the fraction with numerator the square root of y and denominato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1425" y="2094524"/>
            <a:ext cx="997150" cy="71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2" name="Google Shape;2172;p164" descr="&lt;math xmlns=&quot;http://www.w3.org/1998/Math/MathML&quot; display=&quot;block&quot; data-is-equatio=&quot;1&quot; data-latex=&quot;\sqrt{x}=\frac{y}{3}&quot;&gt;&lt;msqrt&gt;&lt;mi&gt;x&lt;/mi&gt;&lt;/msqrt&gt;&lt;mo&gt;=&lt;/mo&gt;&lt;mfrac&gt;&lt;mi&gt;y&lt;/mi&gt;&lt;mn&gt;3&lt;/mn&gt;&lt;/mfrac&gt;&lt;/math&gt;" title="the square root of x equals y over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34600" y="2001947"/>
            <a:ext cx="997150" cy="55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164" descr="&lt;math xmlns=&quot;http://www.w3.org/1998/Math/MathML&quot; display=&quot;block&quot; data-is-equatio=&quot;1&quot; data-latex=&quot;x=\left(\frac{y}{3}\right)^2&quot;&gt;&lt;mi&gt;x&lt;/mi&gt;&lt;mo&gt;=&lt;/mo&gt;&lt;msup&gt;&lt;mrow data-mjx-texclass=&quot;INNER&quot;&gt;&lt;mo data-mjx-texclass=&quot;OPEN&quot;&gt;(&lt;/mo&gt;&lt;mfrac&gt;&lt;mi&gt;y&lt;/mi&gt;&lt;mn&gt;3&lt;/mn&gt;&lt;/mfrac&gt;&lt;mo data-mjx-texclass=&quot;CLOSE&quot;&gt;)&lt;/mo&gt;&lt;/mrow&gt;&lt;mn&gt;2&lt;/mn&gt;&lt;/msup&gt;&lt;/math&gt;" title="x equals open paren y over 3 close paren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76923" y="2798467"/>
            <a:ext cx="1221734" cy="615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4" name="Google Shape;2174;p164" descr="&lt;math xmlns=&quot;http://www.w3.org/1998/Math/MathML&quot; display=&quot;block&quot; data-is-equatio=&quot;1&quot; data-latex=&quot;x=\frac{y^2}{9}&quot;&gt;&lt;mi&gt;x&lt;/mi&gt;&lt;mo&gt;=&lt;/mo&gt;&lt;mfrac&gt;&lt;msup&gt;&lt;mi&gt;y&lt;/mi&gt;&lt;mn&gt;2&lt;/mn&gt;&lt;/msup&gt;&lt;mn&gt;9&lt;/mn&gt;&lt;/mfrac&gt;&lt;/math&gt;" title="x equals the fraction with numerator y squared and denominator 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93485" y="3653057"/>
            <a:ext cx="857908" cy="655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8" name="Shape 2178"/>
        <p:cNvGrpSpPr/>
        <p:nvPr/>
      </p:nvGrpSpPr>
      <p:grpSpPr>
        <a:xfrm>
          <a:off x="0" y="0"/>
          <a:ext cx="0" cy="0"/>
        </a:xfrm>
      </p:grpSpPr>
      <p:sp>
        <p:nvSpPr>
          <p:cNvPr id="2179" name="Google Shape;2179;p165"/>
          <p:cNvSpPr txBox="1"/>
          <p:nvPr>
            <p:ph type="body" idx="1"/>
          </p:nvPr>
        </p:nvSpPr>
        <p:spPr>
          <a:xfrm>
            <a:off x="324000" y="1080000"/>
            <a:ext cx="8113800" cy="16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apply an understanding of inverse operations to a complex formula in order to make a specific variable the subject.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to make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000"/>
              <a:t> the subject of this formula we will subtract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/>
              <a:t> from both sides, then divide both sides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80" name="Google Shape;2180;p165"/>
          <p:cNvSpPr txBox="1"/>
          <p:nvPr>
            <p:ph type="title"/>
          </p:nvPr>
        </p:nvSpPr>
        <p:spPr>
          <a:xfrm>
            <a:off x="1684800" y="3486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sp>
        <p:nvSpPr>
          <p:cNvPr id="2181" name="Google Shape;2181;p165"/>
          <p:cNvSpPr txBox="1"/>
          <p:nvPr/>
        </p:nvSpPr>
        <p:spPr>
          <a:xfrm>
            <a:off x="3334160" y="2872573"/>
            <a:ext cx="167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i="1"/>
          </a:p>
        </p:txBody>
      </p:sp>
      <p:sp>
        <p:nvSpPr>
          <p:cNvPr id="2182" name="Google Shape;2182;p165"/>
          <p:cNvSpPr txBox="1"/>
          <p:nvPr/>
        </p:nvSpPr>
        <p:spPr>
          <a:xfrm>
            <a:off x="3802859" y="34821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sz="2400" i="1"/>
          </a:p>
        </p:txBody>
      </p:sp>
      <p:pic>
        <p:nvPicPr>
          <p:cNvPr id="2183" name="Google Shape;2183;p165" descr="&lt;math xmlns=&quot;http://www.w3.org/1998/Math/MathML&quot; display=&quot;block&quot; data-is-equatio=&quot;1&quot; data-latex=&quot;e=\frac{d-8}{5}&quot;&gt;&lt;mi&gt;e&lt;/mi&gt;&lt;mo&gt;=&lt;/mo&gt;&lt;mfrac&gt;&lt;mrow&gt;&lt;mi&gt;d&lt;/mi&gt;&lt;mo&gt;−&lt;/mo&gt;&lt;mn&gt;8&lt;/mn&gt;&lt;/mrow&gt;&lt;mn&gt;5&lt;/mn&gt;&lt;/mfrac&gt;&lt;/math&gt;" title="e equals the fraction with numerator d minus 8 and denominato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674" y="4097612"/>
            <a:ext cx="1266025" cy="6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7" name="Shape 2187"/>
        <p:cNvGrpSpPr/>
        <p:nvPr/>
      </p:nvGrpSpPr>
      <p:grpSpPr>
        <a:xfrm>
          <a:off x="0" y="0"/>
          <a:ext cx="0" cy="0"/>
        </a:xfrm>
      </p:grpSpPr>
      <p:sp>
        <p:nvSpPr>
          <p:cNvPr id="2188" name="Google Shape;2188;p16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89" name="Google Shape;2189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331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Changing the subject with more complex formula</vt:lpstr>
      <vt:lpstr>PowerPoint Presentation</vt:lpstr>
      <vt:lpstr>PowerPoint Presentation</vt:lpstr>
      <vt:lpstr>PowerPoint Presentation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Changing the subject with two steps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Rearranging more complex formula</vt:lpstr>
      <vt:lpstr>Which is the correct rearrangement of this formula to make b the subject?</vt:lpstr>
      <vt:lpstr>Rearranging more complex formula</vt:lpstr>
      <vt:lpstr>Which is the correct rearrangement of this formula to make b the subject?</vt:lpstr>
      <vt:lpstr>Rearranging more complex formula</vt:lpstr>
      <vt:lpstr>Rearranging more complex formula</vt:lpstr>
      <vt:lpstr>Rearranging more complex formula</vt:lpstr>
      <vt:lpstr>Rearranging more complex formula</vt:lpstr>
      <vt:lpstr>Changing the subject with more complex formula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2024-02-06T11:40:06.804</cp:lastPrinted>
  <dcterms:created xsi:type="dcterms:W3CDTF">2024-02-06T11:40:06Z</dcterms:created>
  <dcterms:modified xsi:type="dcterms:W3CDTF">2024-02-06T11:40:27Z</dcterms:modified>
</cp:coreProperties>
</file>