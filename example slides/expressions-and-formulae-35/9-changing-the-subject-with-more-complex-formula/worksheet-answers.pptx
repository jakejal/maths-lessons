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27" name="Shape 227"/>
        <p:cNvGrpSpPr/>
        <p:nvPr/>
      </p:nvGrpSpPr>
      <p:grpSpPr>
        <a:xfrm>
          <a:off x="0" y="0"/>
          <a:ext cx="0" cy="0"/>
        </a:xfrm>
      </p:grpSpPr>
      <p:sp>
        <p:nvSpPr>
          <p:cNvPr id="228" name="Google Shape;228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image" Target="../media/image14.png" /><Relationship Id="rId11" Type="http://schemas.openxmlformats.org/officeDocument/2006/relationships/image" Target="../media/image15.png" /><Relationship Id="rId12" Type="http://schemas.openxmlformats.org/officeDocument/2006/relationships/image" Target="../media/image16.png" /><Relationship Id="rId13" Type="http://schemas.openxmlformats.org/officeDocument/2006/relationships/image" Target="../media/image17.png" /><Relationship Id="rId14" Type="http://schemas.openxmlformats.org/officeDocument/2006/relationships/image" Target="../media/image18.png" /><Relationship Id="rId15" Type="http://schemas.openxmlformats.org/officeDocument/2006/relationships/image" Target="../media/image19.png" /><Relationship Id="rId16" Type="http://schemas.openxmlformats.org/officeDocument/2006/relationships/image" Target="../media/image20.png" /><Relationship Id="rId17" Type="http://schemas.openxmlformats.org/officeDocument/2006/relationships/image" Target="../media/image21.png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Relationship Id="rId6" Type="http://schemas.openxmlformats.org/officeDocument/2006/relationships/image" Target="../media/image10.png" /><Relationship Id="rId7" Type="http://schemas.openxmlformats.org/officeDocument/2006/relationships/image" Target="../media/image11.png" /><Relationship Id="rId8" Type="http://schemas.openxmlformats.org/officeDocument/2006/relationships/image" Target="../media/image12.png" /><Relationship Id="rId9" Type="http://schemas.openxmlformats.org/officeDocument/2006/relationships/image" Target="../media/image13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10" Type="http://schemas.openxmlformats.org/officeDocument/2006/relationships/image" Target="../media/image29.png" /><Relationship Id="rId11" Type="http://schemas.openxmlformats.org/officeDocument/2006/relationships/image" Target="../media/image30.png" /><Relationship Id="rId12" Type="http://schemas.openxmlformats.org/officeDocument/2006/relationships/image" Target="../media/image31.png" /><Relationship Id="rId13" Type="http://schemas.openxmlformats.org/officeDocument/2006/relationships/image" Target="../media/image32.png" /><Relationship Id="rId14" Type="http://schemas.openxmlformats.org/officeDocument/2006/relationships/image" Target="../media/image33.png" /><Relationship Id="rId15" Type="http://schemas.openxmlformats.org/officeDocument/2006/relationships/image" Target="../media/image34.png" /><Relationship Id="rId16" Type="http://schemas.openxmlformats.org/officeDocument/2006/relationships/image" Target="../media/image35.png" /><Relationship Id="rId17" Type="http://schemas.openxmlformats.org/officeDocument/2006/relationships/image" Target="../media/image36.png" /><Relationship Id="rId18" Type="http://schemas.openxmlformats.org/officeDocument/2006/relationships/image" Target="../media/image37.png" /><Relationship Id="rId19" Type="http://schemas.openxmlformats.org/officeDocument/2006/relationships/image" Target="../media/image38.png" /><Relationship Id="rId2" Type="http://schemas.openxmlformats.org/officeDocument/2006/relationships/notesSlide" Target="../notesSlides/notesSlide2.xml" /><Relationship Id="rId20" Type="http://schemas.openxmlformats.org/officeDocument/2006/relationships/image" Target="../media/image39.png" /><Relationship Id="rId21" Type="http://schemas.openxmlformats.org/officeDocument/2006/relationships/image" Target="../media/image40.png" /><Relationship Id="rId22" Type="http://schemas.openxmlformats.org/officeDocument/2006/relationships/image" Target="../media/image41.png" /><Relationship Id="rId23" Type="http://schemas.openxmlformats.org/officeDocument/2006/relationships/image" Target="../media/image42.png" /><Relationship Id="rId24" Type="http://schemas.openxmlformats.org/officeDocument/2006/relationships/image" Target="../media/image43.png" /><Relationship Id="rId25" Type="http://schemas.openxmlformats.org/officeDocument/2006/relationships/image" Target="../media/image44.png" /><Relationship Id="rId26" Type="http://schemas.openxmlformats.org/officeDocument/2006/relationships/image" Target="../media/image45.png" /><Relationship Id="rId27" Type="http://schemas.openxmlformats.org/officeDocument/2006/relationships/image" Target="../media/image46.png" /><Relationship Id="rId3" Type="http://schemas.openxmlformats.org/officeDocument/2006/relationships/image" Target="../media/image22.png" /><Relationship Id="rId4" Type="http://schemas.openxmlformats.org/officeDocument/2006/relationships/image" Target="../media/image23.png" /><Relationship Id="rId5" Type="http://schemas.openxmlformats.org/officeDocument/2006/relationships/image" Target="../media/image24.png" /><Relationship Id="rId6" Type="http://schemas.openxmlformats.org/officeDocument/2006/relationships/image" Target="../media/image25.png" /><Relationship Id="rId7" Type="http://schemas.openxmlformats.org/officeDocument/2006/relationships/image" Target="../media/image26.png" /><Relationship Id="rId8" Type="http://schemas.openxmlformats.org/officeDocument/2006/relationships/image" Target="../media/image27.png" /><Relationship Id="rId9" Type="http://schemas.openxmlformats.org/officeDocument/2006/relationships/image" Target="../media/image28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Changing the subject with more complex formula</a:t>
            </a:r>
            <a:endParaRPr/>
          </a:p>
        </p:txBody>
      </p:sp>
      <p:cxnSp>
        <p:nvCxnSpPr>
          <p:cNvPr id="173" name="Google Shape;173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4" name="Google Shape;174;p20"/>
          <p:cNvSpPr txBox="1"/>
          <p:nvPr/>
        </p:nvSpPr>
        <p:spPr>
          <a:xfrm>
            <a:off x="468000" y="1723372"/>
            <a:ext cx="66105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Rearrange each formula to make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the subject.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68000" y="1374475"/>
            <a:ext cx="66240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Changing the subject with two steps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468000" y="2081027"/>
            <a:ext cx="2595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468000" y="3344268"/>
            <a:ext cx="2595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3873829" y="3344268"/>
            <a:ext cx="2595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3883063" y="2081027"/>
            <a:ext cx="2595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877554" y="2081031"/>
            <a:ext cx="14277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+ 7 = 19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4301443" y="2065962"/>
            <a:ext cx="1123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+ 8 =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sz="1200" i="1"/>
          </a:p>
        </p:txBody>
      </p:sp>
      <p:sp>
        <p:nvSpPr>
          <p:cNvPr id="182" name="Google Shape;182;p20"/>
          <p:cNvSpPr txBox="1"/>
          <p:nvPr/>
        </p:nvSpPr>
        <p:spPr>
          <a:xfrm>
            <a:off x="877554" y="3335038"/>
            <a:ext cx="14277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19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4301443" y="3335038"/>
            <a:ext cx="14277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− 3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19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1137208" y="2429452"/>
            <a:ext cx="14277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19 − 7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5" name="Google Shape;185;p20" descr="&lt;math xmlns=&quot;http://www.w3.org/1998/Math/MathML&quot; display=&quot;block&quot; data-is-equatio=&quot;1&quot; data-latex=&quot;c=\frac{19-7}{6}&quot;&gt;&lt;mi&gt;c&lt;/mi&gt;&lt;mo&gt;=&lt;/mo&gt;&lt;mfrac&gt;&lt;mrow&gt;&lt;mn&gt;19&lt;/mn&gt;&lt;mo&gt;−&lt;/mo&gt;&lt;mn&gt;7&lt;/mn&gt;&lt;/mrow&gt;&lt;mn&gt;6&lt;/mn&gt;&lt;/mfrac&gt;&lt;/math&gt;" title="c equals the fraction with numerator 19 minus 7 and denominator 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4372" y="2767460"/>
            <a:ext cx="817484" cy="378163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0"/>
          <p:cNvSpPr txBox="1"/>
          <p:nvPr/>
        </p:nvSpPr>
        <p:spPr>
          <a:xfrm>
            <a:off x="4557207" y="2432851"/>
            <a:ext cx="1123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− 8</a:t>
            </a:r>
            <a:endParaRPr sz="1200" i="1"/>
          </a:p>
        </p:txBody>
      </p:sp>
      <p:pic>
        <p:nvPicPr>
          <p:cNvPr id="187" name="Google Shape;187;p20" descr="&lt;math xmlns=&quot;http://www.w3.org/1998/Math/MathML&quot; display=&quot;block&quot; data-is-equatio=&quot;1&quot; data-latex=&quot;c=\frac{d-8}{3}&quot;&gt;&lt;mi&gt;c&lt;/mi&gt;&lt;mo&gt;=&lt;/mo&gt;&lt;mfrac&gt;&lt;mrow&gt;&lt;mi&gt;d&lt;/mi&gt;&lt;mo&gt;−&lt;/mo&gt;&lt;mn&gt;8&lt;/mn&gt;&lt;/mrow&gt;&lt;mn&gt;3&lt;/mn&gt;&lt;/mfrac&gt;&lt;/math&gt;" title="c equals the fraction with numerator d minus 8 and denominator 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19169" y="2773883"/>
            <a:ext cx="732185" cy="378163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0"/>
          <p:cNvSpPr txBox="1"/>
          <p:nvPr/>
        </p:nvSpPr>
        <p:spPr>
          <a:xfrm>
            <a:off x="1141547" y="3763075"/>
            <a:ext cx="14277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19 +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831458" y="4191112"/>
            <a:ext cx="14277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− 19 =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4621173" y="3655758"/>
            <a:ext cx="14277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19 + 3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4311085" y="4016902"/>
            <a:ext cx="14277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− 19 = 3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2" name="Google Shape;192;p20" descr="&lt;math xmlns=&quot;http://www.w3.org/1998/Math/MathML&quot; display=&quot;block&quot; data-is-equatio=&quot;1&quot; data-latex=&quot;\frac{d-19}{3}=c&quot;&gt;&lt;mfrac&gt;&lt;mrow&gt;&lt;mi&gt;d&lt;/mi&gt;&lt;mo&gt;−&lt;/mo&gt;&lt;mn&gt;19&lt;/mn&gt;&lt;/mrow&gt;&lt;mn&gt;3&lt;/mn&gt;&lt;/mfrac&gt;&lt;mo&gt;=&lt;/mo&gt;&lt;mi&gt;c&lt;/mi&gt;&lt;/math&gt;" title="the fraction with numerator d minus 19 and denominator 3 equals c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45292" y="4334037"/>
            <a:ext cx="828753" cy="378163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0"/>
          <p:cNvSpPr txBox="1"/>
          <p:nvPr/>
        </p:nvSpPr>
        <p:spPr>
          <a:xfrm>
            <a:off x="468000" y="4965175"/>
            <a:ext cx="263100" cy="3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3921367" y="4965175"/>
            <a:ext cx="263100" cy="3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5" name="Google Shape;195;p20" descr="&lt;math xmlns=&quot;http://www.w3.org/1998/Math/MathML&quot; display=&quot;block&quot; data-is-equatio=&quot;1&quot; data-latex=&quot;\frac{c+3}{9}=d&quot;&gt;&lt;mfrac&gt;&lt;mrow&gt;&lt;mi&gt;c&lt;/mi&gt;&lt;mo&gt;+&lt;/mo&gt;&lt;mn&gt;3&lt;/mn&gt;&lt;/mrow&gt;&lt;mn&gt;9&lt;/mn&gt;&lt;/mfrac&gt;&lt;mo&gt;=&lt;/mo&gt;&lt;mi&gt;d&lt;/mi&gt;&lt;/math&gt;" title="the fraction with numerator c plus 3 and denominator 9 equals d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54950" y="5013751"/>
            <a:ext cx="846522" cy="4328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0" descr="&lt;math xmlns=&quot;http://www.w3.org/1998/Math/MathML&quot; display=&quot;block&quot; data-is-equatio=&quot;1&quot; data-latex=&quot;\frac{c}{9}+3=d&quot;&gt;&lt;mfrac&gt;&lt;mi&gt;c&lt;/mi&gt;&lt;mn&gt;9&lt;/mn&gt;&lt;/mfrac&gt;&lt;mo&gt;+&lt;/mo&gt;&lt;mn&gt;3&lt;/mn&gt;&lt;mo&gt;=&lt;/mo&gt;&lt;mi&gt;d&lt;/mi&gt;&lt;/math&gt;" title="c over 9 plus 3 equals d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83275" y="5011076"/>
            <a:ext cx="837377" cy="37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0" descr="&lt;math xmlns=&quot;http://www.w3.org/1998/Math/MathML&quot; display=&quot;block&quot; data-is-equatio=&quot;1&quot; data-latex=&quot;\frac{c}{9}=d-3&quot;&gt;&lt;mfrac&gt;&lt;mi&gt;c&lt;/mi&gt;&lt;mn&gt;9&lt;/mn&gt;&lt;/mfrac&gt;&lt;mo&gt;=&lt;/mo&gt;&lt;mi&gt;d&lt;/mi&gt;&lt;mo&gt;−&lt;/mo&gt;&lt;mn&gt;3&lt;/mn&gt;&lt;/math&gt;" title="c over 9 equals d minus 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85678" y="5556624"/>
            <a:ext cx="881315" cy="3984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0" descr="&lt;math xmlns=&quot;http://www.w3.org/1998/Math/MathML&quot; display=&quot;block&quot; data-is-equatio=&quot;1&quot; data-latex=&quot;=9d-27&quot;&gt;&lt;mo&gt;=&lt;/mo&gt;&lt;mn&gt;9&lt;/mn&gt;&lt;mi&gt;d&lt;/mi&gt;&lt;mo&gt;−&lt;/mo&gt;&lt;mn&gt;27&lt;/mn&gt;&lt;/math&gt;" title="equals 9 d minus 2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479786" y="6151184"/>
            <a:ext cx="948538" cy="1671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0" descr="&lt;math xmlns=&quot;http://www.w3.org/1998/Math/MathML&quot; display=&quot;block&quot; data-is-equatio=&quot;1&quot; data-latex=&quot;c=9\left(d-3\right)&quot;&gt;&lt;mi&gt;c&lt;/mi&gt;&lt;mo&gt;=&lt;/mo&gt;&lt;mn&gt;9&lt;/mn&gt;&lt;mrow data-mjx-texclass=&quot;INNER&quot;&gt;&lt;mo data-mjx-texclass=&quot;OPEN&quot;&gt;(&lt;/mo&gt;&lt;mi&gt;d&lt;/mi&gt;&lt;mo&gt;−&lt;/mo&gt;&lt;mn&gt;3&lt;/mn&gt;&lt;mo data-mjx-texclass=&quot;CLOSE&quot;&gt;)&lt;/mo&gt;&lt;/mrow&gt;&lt;/math&gt;" title="c equals 9 times open paren d minus 3 close paren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249929" y="6152430"/>
            <a:ext cx="1142861" cy="1971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0" descr="&lt;math xmlns=&quot;http://www.w3.org/1998/Math/MathML&quot; display=&quot;block&quot; data-is-equatio=&quot;1&quot; data-latex=&quot;c+3=9d&quot;&gt;&lt;mi&gt;c&lt;/mi&gt;&lt;mo&gt;+&lt;/mo&gt;&lt;mn&gt;3&lt;/mn&gt;&lt;mo&gt;=&lt;/mo&gt;&lt;mn&gt;9&lt;/mn&gt;&lt;mi&gt;d&lt;/mi&gt;&lt;/math&gt;" title="c plus 3 equals 9 d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371687" y="5632628"/>
            <a:ext cx="952951" cy="1618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0" descr="&lt;math xmlns=&quot;http://www.w3.org/1998/Math/MathML&quot; display=&quot;block&quot; data-is-equatio=&quot;1&quot; data-latex=&quot;c=9d-3&quot;&gt;&lt;mi&gt;c&lt;/mi&gt;&lt;mo&gt;=&lt;/mo&gt;&lt;mn&gt;9&lt;/mn&gt;&lt;mi&gt;d&lt;/mi&gt;&lt;mo&gt;−&lt;/mo&gt;&lt;mn&gt;3&lt;/mn&gt;&lt;/math&gt;" title="c equals 9 d minus 3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742766" y="6093091"/>
            <a:ext cx="938234" cy="158212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0"/>
          <p:cNvSpPr txBox="1"/>
          <p:nvPr/>
        </p:nvSpPr>
        <p:spPr>
          <a:xfrm>
            <a:off x="472925" y="6546925"/>
            <a:ext cx="5472000" cy="5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Laura has been rearranging these equations to make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the subject.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472925" y="7207397"/>
            <a:ext cx="248100" cy="2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2918512" y="7207397"/>
            <a:ext cx="248100" cy="2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5022294" y="7207397"/>
            <a:ext cx="248100" cy="2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864330" y="7212892"/>
            <a:ext cx="1364700" cy="2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+ 3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18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1215592" y="7572234"/>
            <a:ext cx="1364700" cy="2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18 − 3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8" name="Google Shape;208;p20" descr="&lt;math xmlns=&quot;http://www.w3.org/1998/Math/MathML&quot; display=&quot;block&quot; data-is-equatio=&quot;1&quot; data-latex=&quot;\frac{y}{2}-5=x&quot;&gt;&lt;mfrac&gt;&lt;mi&gt;y&lt;/mi&gt;&lt;mn&gt;2&lt;/mn&gt;&lt;/mfrac&gt;&lt;mo&gt;−&lt;/mo&gt;&lt;mn&gt;5&lt;/mn&gt;&lt;mo&gt;=&lt;/mo&gt;&lt;mi&gt;x&lt;/mi&gt;&lt;/math&gt;" title="y over 2 minus 5 equals x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321681" y="7175813"/>
            <a:ext cx="924486" cy="41089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0"/>
          <p:cNvSpPr txBox="1"/>
          <p:nvPr/>
        </p:nvSpPr>
        <p:spPr>
          <a:xfrm>
            <a:off x="3686831" y="7765313"/>
            <a:ext cx="1083300" cy="2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− 5 = 2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0" name="Google Shape;210;p20"/>
          <p:cNvSpPr txBox="1"/>
          <p:nvPr/>
        </p:nvSpPr>
        <p:spPr>
          <a:xfrm>
            <a:off x="3915014" y="8232820"/>
            <a:ext cx="1083300" cy="2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+ 5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1" name="Google Shape;211;p20"/>
          <p:cNvSpPr txBox="1"/>
          <p:nvPr/>
        </p:nvSpPr>
        <p:spPr>
          <a:xfrm>
            <a:off x="5364086" y="7212892"/>
            <a:ext cx="1364700" cy="2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+ 3 = 7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5616120" y="7648434"/>
            <a:ext cx="1364700" cy="2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7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+ 3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3" name="Google Shape;213;p20" descr="&lt;math xmlns=&quot;http://www.w3.org/1998/Math/MathML&quot; display=&quot;block&quot; data-is-equatio=&quot;1&quot; data-latex=&quot;y=\frac{7x+3}{2}&quot;&gt;&lt;mi&gt;y&lt;/mi&gt;&lt;mo&gt;=&lt;/mo&gt;&lt;mfrac&gt;&lt;mrow&gt;&lt;mn&gt;7&lt;/mn&gt;&lt;mi&gt;x&lt;/mi&gt;&lt;mo&gt;+&lt;/mo&gt;&lt;mn&gt;3&lt;/mn&gt;&lt;/mrow&gt;&lt;mn&gt;2&lt;/mn&gt;&lt;/mfrac&gt;&lt;/math&gt;" title="y equals the fraction with numerator 7 x plus 3 and denominator 2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5861001" y="8113137"/>
            <a:ext cx="924469" cy="4112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0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478255" y="9239284"/>
            <a:ext cx="553516" cy="7249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0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2032774" y="7539996"/>
            <a:ext cx="248018" cy="2628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0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4593756" y="8159791"/>
            <a:ext cx="248018" cy="2628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0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6733062" y="8352868"/>
            <a:ext cx="248018" cy="262893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0"/>
          <p:cNvSpPr txBox="1"/>
          <p:nvPr/>
        </p:nvSpPr>
        <p:spPr>
          <a:xfrm flipH="1">
            <a:off x="482787" y="7937399"/>
            <a:ext cx="2434200" cy="2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For </a:t>
            </a: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to be the subject the coefficient needs to be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. Divide both sides by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9" name="Google Shape;219;p20"/>
          <p:cNvSpPr/>
          <p:nvPr/>
        </p:nvSpPr>
        <p:spPr>
          <a:xfrm>
            <a:off x="1107885" y="7475030"/>
            <a:ext cx="351300" cy="368700"/>
          </a:xfrm>
          <a:prstGeom prst="ellipse">
            <a:avLst/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0"/>
          <p:cNvSpPr/>
          <p:nvPr/>
        </p:nvSpPr>
        <p:spPr>
          <a:xfrm>
            <a:off x="3758523" y="7668107"/>
            <a:ext cx="351300" cy="368700"/>
          </a:xfrm>
          <a:prstGeom prst="ellipse">
            <a:avLst/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0"/>
          <p:cNvSpPr txBox="1"/>
          <p:nvPr/>
        </p:nvSpPr>
        <p:spPr>
          <a:xfrm flipH="1">
            <a:off x="3420025" y="8615625"/>
            <a:ext cx="1834500" cy="2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When multiplying both sides by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be sure to multiply all terms. This line should read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− 10 = 2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2" name="Google Shape;222;p20"/>
          <p:cNvSpPr/>
          <p:nvPr/>
        </p:nvSpPr>
        <p:spPr>
          <a:xfrm>
            <a:off x="6039517" y="7542403"/>
            <a:ext cx="424800" cy="368700"/>
          </a:xfrm>
          <a:prstGeom prst="ellipse">
            <a:avLst/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0"/>
          <p:cNvSpPr txBox="1"/>
          <p:nvPr/>
        </p:nvSpPr>
        <p:spPr>
          <a:xfrm flipH="1">
            <a:off x="5742384" y="8790957"/>
            <a:ext cx="1083300" cy="2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You meant to add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−3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to both sides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4" name="Google Shape;224;p20"/>
          <p:cNvPicPr preferRelativeResize="0"/>
          <p:nvPr/>
        </p:nvPicPr>
        <p:blipFill>
          <a:blip r:embed="rId17">
            <a:alphaModFix/>
          </a:blip>
          <a:srcRect r="57905" b="43690"/>
          <a:stretch>
            <a:fillRect/>
          </a:stretch>
        </p:blipFill>
        <p:spPr>
          <a:xfrm flipH="1">
            <a:off x="1031775" y="8615625"/>
            <a:ext cx="2134825" cy="1348601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0"/>
          <p:cNvSpPr txBox="1"/>
          <p:nvPr/>
        </p:nvSpPr>
        <p:spPr>
          <a:xfrm flipH="1">
            <a:off x="1249900" y="8678400"/>
            <a:ext cx="1834500" cy="90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 have checked my answers and they are all wrong. Can you help me spot where I went wrong?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6" name="Google Shape;226;p20"/>
          <p:cNvSpPr txBox="1"/>
          <p:nvPr/>
        </p:nvSpPr>
        <p:spPr>
          <a:xfrm flipH="1">
            <a:off x="467993" y="6768150"/>
            <a:ext cx="6624000" cy="6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In each case circle Laura’s errors and write a sentence to explain what she should do differently.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30" name="Shape 230"/>
        <p:cNvGrpSpPr/>
        <p:nvPr/>
      </p:nvGrpSpPr>
      <p:grpSpPr>
        <a:xfrm>
          <a:off x="0" y="0"/>
          <a:ext cx="0" cy="0"/>
        </a:xfrm>
      </p:grpSpPr>
      <p:sp>
        <p:nvSpPr>
          <p:cNvPr id="231" name="Google Shape;231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32" name="Google Shape;232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Changing the subject with more complex formula</a:t>
            </a:r>
            <a:endParaRPr/>
          </a:p>
        </p:txBody>
      </p:sp>
      <p:sp>
        <p:nvSpPr>
          <p:cNvPr id="233" name="Google Shape;233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35" name="Google Shape;235;p21"/>
          <p:cNvSpPr txBox="1"/>
          <p:nvPr/>
        </p:nvSpPr>
        <p:spPr>
          <a:xfrm>
            <a:off x="491671" y="1068010"/>
            <a:ext cx="6600300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Rearrange each formula to make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the subject.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1"/>
          <p:cNvSpPr txBox="1"/>
          <p:nvPr/>
        </p:nvSpPr>
        <p:spPr>
          <a:xfrm>
            <a:off x="467998" y="720000"/>
            <a:ext cx="6441900" cy="3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Rearranging more complex formula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1"/>
          <p:cNvSpPr txBox="1"/>
          <p:nvPr/>
        </p:nvSpPr>
        <p:spPr>
          <a:xfrm>
            <a:off x="491671" y="1425115"/>
            <a:ext cx="259200" cy="3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21"/>
          <p:cNvSpPr txBox="1"/>
          <p:nvPr/>
        </p:nvSpPr>
        <p:spPr>
          <a:xfrm>
            <a:off x="2915395" y="1425115"/>
            <a:ext cx="259200" cy="3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" name="Google Shape;239;p21"/>
          <p:cNvSpPr txBox="1"/>
          <p:nvPr/>
        </p:nvSpPr>
        <p:spPr>
          <a:xfrm>
            <a:off x="5229714" y="1425115"/>
            <a:ext cx="259200" cy="3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1"/>
          <p:cNvSpPr txBox="1"/>
          <p:nvPr/>
        </p:nvSpPr>
        <p:spPr>
          <a:xfrm>
            <a:off x="1071237" y="1454927"/>
            <a:ext cx="162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4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200"/>
          </a:p>
        </p:txBody>
      </p:sp>
      <p:sp>
        <p:nvSpPr>
          <p:cNvPr id="241" name="Google Shape;241;p21"/>
          <p:cNvSpPr txBox="1"/>
          <p:nvPr/>
        </p:nvSpPr>
        <p:spPr>
          <a:xfrm>
            <a:off x="3427981" y="1454927"/>
            <a:ext cx="162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(4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200"/>
          </a:p>
        </p:txBody>
      </p:sp>
      <p:sp>
        <p:nvSpPr>
          <p:cNvPr id="242" name="Google Shape;242;p21"/>
          <p:cNvSpPr txBox="1"/>
          <p:nvPr/>
        </p:nvSpPr>
        <p:spPr>
          <a:xfrm>
            <a:off x="5985851" y="1454927"/>
            <a:ext cx="1340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4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+ 1</a:t>
            </a:r>
            <a:endParaRPr sz="1200"/>
          </a:p>
        </p:txBody>
      </p:sp>
      <p:pic>
        <p:nvPicPr>
          <p:cNvPr id="243" name="Google Shape;243;p21" descr="&lt;math xmlns=&quot;http://www.w3.org/1998/Math/MathML&quot; display=&quot;block&quot; data-is-equatio=&quot;1&quot; data-latex=&quot;\frac{y}{4}=x^2&quot;&gt;&lt;mfrac&gt;&lt;mi&gt;y&lt;/mi&gt;&lt;mn&gt;4&lt;/mn&gt;&lt;/mfrac&gt;&lt;mo&gt;=&lt;/mo&gt;&lt;msup&gt;&lt;mi&gt;x&lt;/mi&gt;&lt;mn&gt;2&lt;/mn&gt;&lt;/msup&gt;&lt;/math&gt;" title="y over 4 equals x squar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7685" y="1744275"/>
            <a:ext cx="539865" cy="3464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1" descr="&lt;math xmlns=&quot;http://www.w3.org/1998/Math/MathML&quot; display=&quot;block&quot; data-is-equatio=&quot;1&quot; data-latex=&quot;\sqrt{\frac{y}{4}}=x&quot;&gt;&lt;msqrt&gt;&lt;mfrac&gt;&lt;mi&gt;y&lt;/mi&gt;&lt;mn&gt;4&lt;/mn&gt;&lt;/mfrac&gt;&lt;/msqrt&gt;&lt;mo&gt;=&lt;/mo&gt;&lt;mi&gt;x&lt;/mi&gt;&lt;/math&gt;" title="the square root of y over 4 equals 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6645" y="2225985"/>
            <a:ext cx="689988" cy="4705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1" descr="&lt;math xmlns=&quot;http://www.w3.org/1998/Math/MathML&quot; display=&quot;block&quot; data-is-equatio=&quot;1&quot; data-latex=&quot;\frac{\sqrt{y}}{4}=x&quot;&gt;&lt;mfrac&gt;&lt;msqrt&gt;&lt;mi&gt;y&lt;/mi&gt;&lt;/msqrt&gt;&lt;mn&gt;4&lt;/mn&gt;&lt;/mfrac&gt;&lt;mo&gt;=&lt;/mo&gt;&lt;mi&gt;x&lt;/mi&gt;&lt;/math&gt;" title="the fraction with numerator the square root of y and denominator 4 equals 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86738" y="2157039"/>
            <a:ext cx="614865" cy="4435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1" descr="&lt;math xmlns=&quot;http://www.w3.org/1998/Math/MathML&quot; display=&quot;block&quot; data-is-equatio=&quot;1&quot; data-latex=&quot;\sqrt{y}=4x&quot;&gt;&lt;msqrt&gt;&lt;mi&gt;y&lt;/mi&gt;&lt;/msqrt&gt;&lt;mo&gt;=&lt;/mo&gt;&lt;mn&gt;4&lt;/mn&gt;&lt;mi&gt;x&lt;/mi&gt;&lt;/math&gt;" title="the square root of y equals 4 x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38086" y="1777281"/>
            <a:ext cx="671114" cy="234711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1"/>
          <p:cNvSpPr txBox="1"/>
          <p:nvPr/>
        </p:nvSpPr>
        <p:spPr>
          <a:xfrm>
            <a:off x="5738342" y="1818619"/>
            <a:ext cx="1340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− 1= 4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200"/>
          </a:p>
        </p:txBody>
      </p:sp>
      <p:pic>
        <p:nvPicPr>
          <p:cNvPr id="248" name="Google Shape;248;p21" descr="&lt;math xmlns=&quot;http://www.w3.org/1998/Math/MathML&quot; display=&quot;block&quot; data-is-equatio=&quot;1&quot; data-latex=&quot;\frac{y-1}{4}=x^2&quot;&gt;&lt;mfrac&gt;&lt;mrow&gt;&lt;mi&gt;y&lt;/mi&gt;&lt;mo&gt;−&lt;/mo&gt;&lt;mn&gt;1&lt;/mn&gt;&lt;/mrow&gt;&lt;mn&gt;4&lt;/mn&gt;&lt;/mfrac&gt;&lt;mo&gt;=&lt;/mo&gt;&lt;msup&gt;&lt;mi&gt;x&lt;/mi&gt;&lt;mn&gt;2&lt;/mn&gt;&lt;/msup&gt;&lt;/math&gt;" title="the fraction with numerator y minus 1 and denominator 4 equals x squared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597145" y="2088982"/>
            <a:ext cx="754752" cy="348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1" descr="&lt;math xmlns=&quot;http://www.w3.org/1998/Math/MathML&quot; display=&quot;block&quot; data-is-equatio=&quot;1&quot; data-latex=&quot;\sqrt{\frac{y-1}{4}}=x&quot;&gt;&lt;msqrt&gt;&lt;mfrac&gt;&lt;mrow&gt;&lt;mi&gt;y&lt;/mi&gt;&lt;mo&gt;−&lt;/mo&gt;&lt;mn&gt;1&lt;/mn&gt;&lt;/mrow&gt;&lt;mn&gt;4&lt;/mn&gt;&lt;/mfrac&gt;&lt;/msqrt&gt;&lt;mo&gt;=&lt;/mo&gt;&lt;mi&gt;x&lt;/mi&gt;&lt;/math&gt;" title="the square root of the fraction with numerator y minus 1 and denominator 4 equals x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396706" y="2580680"/>
            <a:ext cx="897894" cy="421626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1"/>
          <p:cNvSpPr txBox="1"/>
          <p:nvPr/>
        </p:nvSpPr>
        <p:spPr>
          <a:xfrm>
            <a:off x="468473" y="3393850"/>
            <a:ext cx="287100" cy="3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1"/>
          <p:cNvSpPr txBox="1"/>
          <p:nvPr/>
        </p:nvSpPr>
        <p:spPr>
          <a:xfrm>
            <a:off x="2915395" y="3393850"/>
            <a:ext cx="287100" cy="3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1"/>
          <p:cNvSpPr txBox="1"/>
          <p:nvPr/>
        </p:nvSpPr>
        <p:spPr>
          <a:xfrm>
            <a:off x="5229714" y="3393850"/>
            <a:ext cx="287100" cy="3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" name="Google Shape;253;p21"/>
          <p:cNvSpPr txBox="1"/>
          <p:nvPr/>
        </p:nvSpPr>
        <p:spPr>
          <a:xfrm>
            <a:off x="1327803" y="3416674"/>
            <a:ext cx="1485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4(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+ 1)</a:t>
            </a:r>
            <a:endParaRPr sz="1200"/>
          </a:p>
        </p:txBody>
      </p:sp>
      <p:pic>
        <p:nvPicPr>
          <p:cNvPr id="254" name="Google Shape;254;p21" descr="&lt;math xmlns=&quot;http://www.w3.org/1998/Math/MathML&quot; display=&quot;block&quot; data-is-equatio=&quot;1&quot; data-latex=&quot;y=\frac{4}{x^2}&quot;&gt;&lt;mi&gt;y&lt;/mi&gt;&lt;mo&gt;=&lt;/mo&gt;&lt;mfrac&gt;&lt;mn&gt;4&lt;/mn&gt;&lt;msup&gt;&lt;mi&gt;x&lt;/mi&gt;&lt;mn&gt;2&lt;/mn&gt;&lt;/msup&gt;&lt;/mfrac&gt;&lt;/math&gt;" title="y equals the fraction with numerator 4 and denominator x squared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692886" y="3397257"/>
            <a:ext cx="599436" cy="4385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1" descr="&lt;math xmlns=&quot;http://www.w3.org/1998/Math/MathML&quot; display=&quot;block&quot; data-is-equatio=&quot;1&quot; data-latex=&quot;y=\frac{x^2}{4}&quot;&gt;&lt;mi&gt;y&lt;/mi&gt;&lt;mo&gt;=&lt;/mo&gt;&lt;mfrac&gt;&lt;msup&gt;&lt;mi&gt;x&lt;/mi&gt;&lt;mn&gt;2&lt;/mn&gt;&lt;/msup&gt;&lt;mn&gt;4&lt;/mn&gt;&lt;/mfrac&gt;&lt;/math&gt;" title="y equals the fraction with numerator x squared and denominator 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404753" y="3358525"/>
            <a:ext cx="615211" cy="46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1" descr="&lt;math xmlns=&quot;http://www.w3.org/1998/Math/MathML&quot; display=&quot;block&quot; data-is-equatio=&quot;1&quot; data-latex=&quot;\frac{y}{4}=x^2+1&quot;&gt;&lt;mfrac&gt;&lt;mi&gt;y&lt;/mi&gt;&lt;mn&gt;4&lt;/mn&gt;&lt;/mfrac&gt;&lt;mo&gt;=&lt;/mo&gt;&lt;msup&gt;&lt;mi&gt;x&lt;/mi&gt;&lt;mn&gt;2&lt;/mn&gt;&lt;/msup&gt;&lt;mo&gt;+&lt;/mo&gt;&lt;mn&gt;1&lt;/mn&gt;&lt;/math&gt;" title="y over 4 equals x squared plus 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260387" y="3757420"/>
            <a:ext cx="839668" cy="3427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1" descr="&lt;math xmlns=&quot;http://www.w3.org/1998/Math/MathML&quot; display=&quot;block&quot; data-is-equatio=&quot;1&quot; data-latex=&quot;\frac{y}{4}-1=x^2&quot;&gt;&lt;mfrac&gt;&lt;mi&gt;y&lt;/mi&gt;&lt;mn&gt;4&lt;/mn&gt;&lt;/mfrac&gt;&lt;mo&gt;−&lt;/mo&gt;&lt;mn&gt;1&lt;/mn&gt;&lt;mo&gt;=&lt;/mo&gt;&lt;msup&gt;&lt;mi&gt;x&lt;/mi&gt;&lt;mn&gt;2&lt;/mn&gt;&lt;/msup&gt;&lt;/math&gt;" title="y over 4 minus 1 equals x squared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951622" y="4273224"/>
            <a:ext cx="836812" cy="3427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1" descr="&lt;math xmlns=&quot;http://www.w3.org/1998/Math/MathML&quot; display=&quot;block&quot; data-is-equatio=&quot;1&quot; data-latex=&quot;\sqrt{\frac{y}{4}-1}=x&quot;&gt;&lt;msqrt&gt;&lt;mfrac&gt;&lt;mi&gt;y&lt;/mi&gt;&lt;mn&gt;4&lt;/mn&gt;&lt;/mfrac&gt;&lt;mo&gt;−&lt;/mo&gt;&lt;mn&gt;1&lt;/mn&gt;&lt;/msqrt&gt;&lt;mo&gt;=&lt;/mo&gt;&lt;mi&gt;x&lt;/mi&gt;&lt;/math&gt;" title="the square root of y over 4 minus 1 equals x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772800" y="4764811"/>
            <a:ext cx="935186" cy="440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1" descr="&lt;math xmlns=&quot;http://www.w3.org/1998/Math/MathML&quot; display=&quot;block&quot; data-is-equatio=&quot;1&quot; data-latex=&quot;4y=x^2&quot;&gt;&lt;mn&gt;4&lt;/mn&gt;&lt;mi&gt;y&lt;/mi&gt;&lt;mo&gt;=&lt;/mo&gt;&lt;msup&gt;&lt;mi&gt;x&lt;/mi&gt;&lt;mn&gt;2&lt;/mn&gt;&lt;/msup&gt;&lt;/math&gt;" title="4 y equals x squared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3307134" y="4044478"/>
            <a:ext cx="646195" cy="2232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1" descr="&lt;math xmlns=&quot;http://www.w3.org/1998/Math/MathML&quot; display=&quot;block&quot; data-is-equatio=&quot;1&quot; data-latex=&quot;\sqrt{4y}=x&quot;&gt;&lt;msqrt&gt;&lt;mn&gt;4&lt;/mn&gt;&lt;mi&gt;y&lt;/mi&gt;&lt;/msqrt&gt;&lt;mo&gt;=&lt;/mo&gt;&lt;mi&gt;x&lt;/mi&gt;&lt;/math&gt;" title="the square root of 4 y equals x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3140641" y="4543955"/>
            <a:ext cx="737542" cy="257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1" descr="&lt;math xmlns=&quot;http://www.w3.org/1998/Math/MathML&quot; display=&quot;block&quot; data-is-equatio=&quot;1&quot; data-latex=&quot;x^2y=4&quot;&gt;&lt;msup&gt;&lt;mi&gt;x&lt;/mi&gt;&lt;mn&gt;2&lt;/mn&gt;&lt;/msup&gt;&lt;mi&gt;y&lt;/mi&gt;&lt;mo&gt;=&lt;/mo&gt;&lt;mn&gt;4&lt;/mn&gt;&lt;/math&gt;" title="x squared y equals 4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5470247" y="4054938"/>
            <a:ext cx="674169" cy="2281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1" descr="&lt;math xmlns=&quot;http://www.w3.org/1998/Math/MathML&quot; display=&quot;block&quot; data-is-equatio=&quot;1&quot; data-latex=&quot;x^2=\frac{4}{y}&quot;&gt;&lt;msup&gt;&lt;mi&gt;x&lt;/mi&gt;&lt;mn&gt;2&lt;/mn&gt;&lt;/msup&gt;&lt;mo&gt;=&lt;/mo&gt;&lt;mfrac&gt;&lt;mn&gt;4&lt;/mn&gt;&lt;mi&gt;y&lt;/mi&gt;&lt;/mfrac&gt;&lt;/math&gt;" title="x squared equals 4 over y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5566662" y="4443019"/>
            <a:ext cx="640067" cy="4816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1" descr="&lt;math xmlns=&quot;http://www.w3.org/1998/Math/MathML&quot; display=&quot;block&quot; data-is-equatio=&quot;1&quot; data-latex=&quot;x=\sqrt{\frac{4}{y}}&quot;&gt;&lt;mi&gt;x&lt;/mi&gt;&lt;mo&gt;=&lt;/mo&gt;&lt;msqrt&gt;&lt;mfrac&gt;&lt;mn&gt;4&lt;/mn&gt;&lt;mi&gt;y&lt;/mi&gt;&lt;/mfrac&gt;&lt;/msqrt&gt;&lt;/math&gt;" title="x equals the square root of 4 over y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5663027" y="5080662"/>
            <a:ext cx="768199" cy="505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1" descr="&lt;math xmlns=&quot;http://www.w3.org/1998/Math/MathML&quot; display=&quot;block&quot; data-is-equatio=&quot;1&quot; data-latex=&quot;\sqrt{3x}=y&quot;&gt;&lt;msqrt&gt;&lt;mn&gt;3&lt;/mn&gt;&lt;mi&gt;x&lt;/mi&gt;&lt;/msqrt&gt;&lt;mo&gt;=&lt;/mo&gt;&lt;mi&gt;y&lt;/mi&gt;&lt;/math&gt;" title="the square root of 3 x equals y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3298573" y="5821196"/>
            <a:ext cx="798523" cy="27508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1"/>
          <p:cNvSpPr txBox="1"/>
          <p:nvPr/>
        </p:nvSpPr>
        <p:spPr>
          <a:xfrm>
            <a:off x="468000" y="5770825"/>
            <a:ext cx="268500" cy="3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g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6" name="Google Shape;266;p21"/>
          <p:cNvSpPr txBox="1"/>
          <p:nvPr/>
        </p:nvSpPr>
        <p:spPr>
          <a:xfrm>
            <a:off x="2990206" y="5770825"/>
            <a:ext cx="268500" cy="3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" name="Google Shape;267;p21"/>
          <p:cNvSpPr txBox="1"/>
          <p:nvPr/>
        </p:nvSpPr>
        <p:spPr>
          <a:xfrm>
            <a:off x="5395383" y="5770825"/>
            <a:ext cx="268500" cy="3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8" name="Google Shape;268;p21" descr="&lt;math xmlns=&quot;http://www.w3.org/1998/Math/MathML&quot; display=&quot;block&quot; data-is-equatio=&quot;1&quot; data-latex=&quot;3x=\sqrt{y}&quot;&gt;&lt;mn&gt;3&lt;/mn&gt;&lt;mi&gt;x&lt;/mi&gt;&lt;mo&gt;=&lt;/mo&gt;&lt;msqrt&gt;&lt;mi&gt;y&lt;/mi&gt;&lt;/msqrt&gt;&lt;/math&gt;" title="3 x equals the square root of y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930825" y="5835221"/>
            <a:ext cx="798524" cy="271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1" descr="&lt;math xmlns=&quot;http://www.w3.org/1998/Math/MathML&quot; display=&quot;block&quot; data-is-equatio=&quot;1&quot; data-latex=&quot;3\sqrt{x}=y&quot;&gt;&lt;mn&gt;3&lt;/mn&gt;&lt;msqrt&gt;&lt;mi&gt;x&lt;/mi&gt;&lt;/msqrt&gt;&lt;mo&gt;=&lt;/mo&gt;&lt;mi&gt;y&lt;/mi&gt;&lt;/math&gt;" title="3 the square root of x equals y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5675088" y="5818325"/>
            <a:ext cx="798520" cy="2716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1" descr="&lt;math xmlns=&quot;http://www.w3.org/1998/Math/MathML&quot; display=&quot;block&quot; data-is-equatio=&quot;1&quot; data-latex=&quot;3x=y^2&quot;&gt;&lt;mn&gt;3&lt;/mn&gt;&lt;mi&gt;x&lt;/mi&gt;&lt;mo&gt;=&lt;/mo&gt;&lt;msup&gt;&lt;mi&gt;y&lt;/mi&gt;&lt;mn&gt;2&lt;/mn&gt;&lt;/msup&gt;&lt;/math&gt;" title="3 x equals y squared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3494019" y="6321482"/>
            <a:ext cx="689792" cy="2408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1" descr="&lt;math xmlns=&quot;http://www.w3.org/1998/Math/MathML&quot; display=&quot;block&quot; data-is-equatio=&quot;1&quot; data-latex=&quot;x=\frac{y^2}{3}&quot;&gt;&lt;mi&gt;x&lt;/mi&gt;&lt;mo&gt;=&lt;/mo&gt;&lt;mfrac&gt;&lt;msup&gt;&lt;mi&gt;y&lt;/mi&gt;&lt;mn&gt;2&lt;/mn&gt;&lt;/msup&gt;&lt;mn&gt;3&lt;/mn&gt;&lt;/mfrac&gt;&lt;/math&gt;" title="x equals the fraction with numerator y squared and denominator 3"/>
          <p:cNvPicPr preferRelativeResize="0"/>
          <p:nvPr/>
        </p:nvPicPr>
        <p:blipFill>
          <a:blip r:embed="rId23">
            <a:alphaModFix/>
          </a:blip>
          <a:stretch>
            <a:fillRect/>
          </a:stretch>
        </p:blipFill>
        <p:spPr>
          <a:xfrm>
            <a:off x="3610919" y="6788930"/>
            <a:ext cx="609006" cy="4660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1" descr="&lt;math xmlns=&quot;http://www.w3.org/1998/Math/MathML&quot; display=&quot;block&quot; data-is-equatio=&quot;1&quot; data-latex=&quot;x=\frac{\sqrt{y}}{3}&quot;&gt;&lt;mi&gt;x&lt;/mi&gt;&lt;mo&gt;=&lt;/mo&gt;&lt;mfrac&gt;&lt;msqrt&gt;&lt;mi&gt;y&lt;/mi&gt;&lt;/msqrt&gt;&lt;mn&gt;3&lt;/mn&gt;&lt;/mfrac&gt;&lt;/math&gt;" title="x equals the fraction with numerator the square root of y and denominator 3"/>
          <p:cNvPicPr preferRelativeResize="0"/>
          <p:nvPr/>
        </p:nvPicPr>
        <p:blipFill>
          <a:blip r:embed="rId24">
            <a:alphaModFix/>
          </a:blip>
          <a:stretch>
            <a:fillRect/>
          </a:stretch>
        </p:blipFill>
        <p:spPr>
          <a:xfrm>
            <a:off x="1020905" y="6354311"/>
            <a:ext cx="689792" cy="4970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1" descr="&lt;math xmlns=&quot;http://www.w3.org/1998/Math/MathML&quot; display=&quot;block&quot; data-is-equatio=&quot;1&quot; data-latex=&quot;\sqrt{x}=\frac{y}{3}&quot;&gt;&lt;msqrt&gt;&lt;mi&gt;x&lt;/mi&gt;&lt;/msqrt&gt;&lt;mo&gt;=&lt;/mo&gt;&lt;mfrac&gt;&lt;mi&gt;y&lt;/mi&gt;&lt;mn&gt;3&lt;/mn&gt;&lt;/mfrac&gt;&lt;/math&gt;" title="the square root of x equals y over 3"/>
          <p:cNvPicPr preferRelativeResize="0"/>
          <p:nvPr/>
        </p:nvPicPr>
        <p:blipFill>
          <a:blip r:embed="rId25">
            <a:alphaModFix/>
          </a:blip>
          <a:stretch>
            <a:fillRect/>
          </a:stretch>
        </p:blipFill>
        <p:spPr>
          <a:xfrm>
            <a:off x="5811167" y="6290270"/>
            <a:ext cx="689792" cy="3821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21" descr="&lt;math xmlns=&quot;http://www.w3.org/1998/Math/MathML&quot; display=&quot;block&quot; data-is-equatio=&quot;1&quot; data-latex=&quot;x=\left(\frac{y}{3}\right)^2&quot;&gt;&lt;mi&gt;x&lt;/mi&gt;&lt;mo&gt;=&lt;/mo&gt;&lt;msup&gt;&lt;mrow data-mjx-texclass=&quot;INNER&quot;&gt;&lt;mo data-mjx-texclass=&quot;OPEN&quot;&gt;(&lt;/mo&gt;&lt;mfrac&gt;&lt;mi&gt;y&lt;/mi&gt;&lt;mn&gt;3&lt;/mn&gt;&lt;/mfrac&gt;&lt;mo data-mjx-texclass=&quot;CLOSE&quot;&gt;)&lt;/mo&gt;&lt;/mrow&gt;&lt;mn&gt;2&lt;/mn&gt;&lt;/msup&gt;&lt;/math&gt;" title="x equals open paren y over 3 close paren squared"/>
          <p:cNvPicPr preferRelativeResize="0"/>
          <p:nvPr/>
        </p:nvPicPr>
        <p:blipFill>
          <a:blip r:embed="rId26">
            <a:alphaModFix/>
          </a:blip>
          <a:stretch>
            <a:fillRect/>
          </a:stretch>
        </p:blipFill>
        <p:spPr>
          <a:xfrm>
            <a:off x="5978798" y="6841272"/>
            <a:ext cx="845151" cy="4256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1" descr="&lt;math xmlns=&quot;http://www.w3.org/1998/Math/MathML&quot; display=&quot;block&quot; data-is-equatio=&quot;1&quot; data-latex=&quot;x=\frac{y^2}{9}&quot;&gt;&lt;mi&gt;x&lt;/mi&gt;&lt;mo&gt;=&lt;/mo&gt;&lt;mfrac&gt;&lt;msup&gt;&lt;mi&gt;y&lt;/mi&gt;&lt;mn&gt;2&lt;/mn&gt;&lt;/msup&gt;&lt;mn&gt;9&lt;/mn&gt;&lt;/mfrac&gt;&lt;/math&gt;" title="x equals the fraction with numerator y squared and denominator 9"/>
          <p:cNvPicPr preferRelativeResize="0"/>
          <p:nvPr/>
        </p:nvPicPr>
        <p:blipFill>
          <a:blip r:embed="rId27">
            <a:alphaModFix/>
          </a:blip>
          <a:stretch>
            <a:fillRect/>
          </a:stretch>
        </p:blipFill>
        <p:spPr>
          <a:xfrm>
            <a:off x="5990254" y="7432445"/>
            <a:ext cx="593470" cy="4536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55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Times New Roman</vt:lpstr>
      <vt:lpstr>simple-light-2</vt:lpstr>
      <vt:lpstr>Changing the subject with more complex formula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2024-02-06T11:43:09.710</cp:lastPrinted>
  <dcterms:created xsi:type="dcterms:W3CDTF">2024-02-06T11:43:09Z</dcterms:created>
  <dcterms:modified xsi:type="dcterms:W3CDTF">2024-02-06T11:40:08Z</dcterms:modified>
</cp:coreProperties>
</file>