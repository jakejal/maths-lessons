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sp>
        <p:nvSpPr>
          <p:cNvPr id="216" name="Google Shape;21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27.png" /><Relationship Id="rId11" Type="http://schemas.openxmlformats.org/officeDocument/2006/relationships/image" Target="../media/image28.png" /><Relationship Id="rId12" Type="http://schemas.openxmlformats.org/officeDocument/2006/relationships/image" Target="../media/image29.png" /><Relationship Id="rId13" Type="http://schemas.openxmlformats.org/officeDocument/2006/relationships/image" Target="../media/image30.png" /><Relationship Id="rId14" Type="http://schemas.openxmlformats.org/officeDocument/2006/relationships/image" Target="../media/image31.png" /><Relationship Id="rId15" Type="http://schemas.openxmlformats.org/officeDocument/2006/relationships/image" Target="../media/image32.png" /><Relationship Id="rId16" Type="http://schemas.openxmlformats.org/officeDocument/2006/relationships/image" Target="../media/image33.png" /><Relationship Id="rId17" Type="http://schemas.openxmlformats.org/officeDocument/2006/relationships/image" Target="../media/image34.png" /><Relationship Id="rId18" Type="http://schemas.openxmlformats.org/officeDocument/2006/relationships/image" Target="../media/image35.png" /><Relationship Id="rId19" Type="http://schemas.openxmlformats.org/officeDocument/2006/relationships/image" Target="../media/image36.png" /><Relationship Id="rId2" Type="http://schemas.openxmlformats.org/officeDocument/2006/relationships/notesSlide" Target="../notesSlides/notesSlide2.xml" /><Relationship Id="rId20" Type="http://schemas.openxmlformats.org/officeDocument/2006/relationships/image" Target="../media/image37.png" /><Relationship Id="rId21" Type="http://schemas.openxmlformats.org/officeDocument/2006/relationships/image" Target="../media/image38.png" /><Relationship Id="rId22" Type="http://schemas.openxmlformats.org/officeDocument/2006/relationships/image" Target="../media/image39.png" /><Relationship Id="rId23" Type="http://schemas.openxmlformats.org/officeDocument/2006/relationships/image" Target="../media/image40.png" /><Relationship Id="rId24" Type="http://schemas.openxmlformats.org/officeDocument/2006/relationships/image" Target="../media/image41.png" /><Relationship Id="rId25" Type="http://schemas.openxmlformats.org/officeDocument/2006/relationships/image" Target="../media/image42.png" /><Relationship Id="rId26" Type="http://schemas.openxmlformats.org/officeDocument/2006/relationships/image" Target="../media/image43.png" /><Relationship Id="rId27" Type="http://schemas.openxmlformats.org/officeDocument/2006/relationships/image" Target="../media/image44.png" /><Relationship Id="rId28" Type="http://schemas.openxmlformats.org/officeDocument/2006/relationships/image" Target="../media/image45.png" /><Relationship Id="rId3" Type="http://schemas.openxmlformats.org/officeDocument/2006/relationships/image" Target="../media/image20.png" /><Relationship Id="rId4" Type="http://schemas.openxmlformats.org/officeDocument/2006/relationships/image" Target="../media/image21.png" /><Relationship Id="rId5" Type="http://schemas.openxmlformats.org/officeDocument/2006/relationships/image" Target="../media/image22.png" /><Relationship Id="rId6" Type="http://schemas.openxmlformats.org/officeDocument/2006/relationships/image" Target="../media/image23.png" /><Relationship Id="rId7" Type="http://schemas.openxmlformats.org/officeDocument/2006/relationships/image" Target="../media/image24.png" /><Relationship Id="rId8" Type="http://schemas.openxmlformats.org/officeDocument/2006/relationships/image" Target="../media/image25.png" /><Relationship Id="rId9" Type="http://schemas.openxmlformats.org/officeDocument/2006/relationships/image" Target="../media/image2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between terms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824025"/>
            <a:ext cx="66240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family of rearrangements for the below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41225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The structure of multiplicative relationships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715377" y="2319072"/>
            <a:ext cx="2642400" cy="1240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865918" y="2432688"/>
            <a:ext cx="12828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× 7 = 84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865918" y="3026792"/>
            <a:ext cx="12828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× 12 = 84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712248" y="3735955"/>
            <a:ext cx="2642400" cy="1240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865929" y="3817058"/>
            <a:ext cx="11382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×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865929" y="4470572"/>
            <a:ext cx="11382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7 =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2121077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3546924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607768" y="2121077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3607768" y="3546924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863239" y="2319072"/>
            <a:ext cx="3228600" cy="1240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983600" y="2432688"/>
            <a:ext cx="16608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0.3 × 2.7 = 0.81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3983597" y="3026792"/>
            <a:ext cx="17046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2.7 × 0.3 = 0.81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859915" y="3735954"/>
            <a:ext cx="2476200" cy="1240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192898" y="3817058"/>
            <a:ext cx="11382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192898" y="4470572"/>
            <a:ext cx="11382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" name="Google Shape;191;p20" descr="&lt;math xmlns=&quot;http://www.w3.org/1998/Math/MathML&quot; display=&quot;block&quot; data-is-equatio=&quot;1&quot; data-latex=&quot;\frac{84}{7}=12&quot;&gt;&lt;mfrac&gt;&lt;mn&gt;84&lt;/mn&gt;&lt;mn&gt;7&lt;/mn&gt;&lt;/mfrac&gt;&lt;mo&gt;=&lt;/mo&gt;&lt;mn&gt;12&lt;/mn&gt;&lt;/math&gt;" title="84 over 7 equals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627" y="2382575"/>
            <a:ext cx="717750" cy="42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&lt;math xmlns=&quot;http://www.w3.org/1998/Math/MathML&quot; display=&quot;block&quot; data-is-equatio=&quot;1&quot; data-latex=&quot;\frac{84}{12}=7&quot;&gt;&lt;mfrac&gt;&lt;mn&gt;84&lt;/mn&gt;&lt;mn&gt;12&lt;/mn&gt;&lt;/mfrac&gt;&lt;mo&gt;=&lt;/mo&gt;&lt;mn&gt;7&lt;/mn&gt;&lt;/math&gt;" title="84 over 12 equals 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8457" y="2965767"/>
            <a:ext cx="603772" cy="425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&lt;math xmlns=&quot;http://www.w3.org/1998/Math/MathML&quot; display=&quot;block&quot; data-is-equatio=&quot;1&quot; data-latex=&quot;\frac{0.81}{2.7}=0.3&quot;&gt;&lt;mfrac&gt;&lt;mn&gt;0.81&lt;/mn&gt;&lt;mn&gt;2.7&lt;/mn&gt;&lt;/mfrac&gt;&lt;mo&gt;=&lt;/mo&gt;&lt;mn&gt;0.3&lt;/mn&gt;&lt;/math&gt;" title="0.81 over 2.7 equals 0.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1555" y="2382250"/>
            <a:ext cx="903303" cy="424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&lt;math xmlns=&quot;http://www.w3.org/1998/Math/MathML&quot; display=&quot;block&quot; data-is-equatio=&quot;1&quot; data-latex=&quot;\frac{0.81}{0.3}=2.7&quot;&gt;&lt;mfrac&gt;&lt;mn&gt;0.81&lt;/mn&gt;&lt;mn&gt;0.3&lt;/mn&gt;&lt;/mfrac&gt;&lt;mo&gt;=&lt;/mo&gt;&lt;mn&gt;2.7&lt;/mn&gt;&lt;/math&gt;" title="0.81 over 0.3 equals 2.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2942" y="3007963"/>
            <a:ext cx="909407" cy="424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&lt;math xmlns=&quot;http://www.w3.org/1998/Math/MathML&quot; display=&quot;block&quot; data-is-equatio=&quot;1&quot; data-latex=&quot;\frac{3}{7}=y&quot;&gt;&lt;mfrac&gt;&lt;mn&gt;3&lt;/mn&gt;&lt;mn&gt;7&lt;/mn&gt;&lt;/mfrac&gt;&lt;mo&gt;=&lt;/mo&gt;&lt;mi&gt;y&lt;/mi&gt;&lt;/math&gt;" title="three sevenths equals y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65731" y="4432336"/>
            <a:ext cx="504306" cy="419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&lt;math xmlns=&quot;http://www.w3.org/1998/Math/MathML&quot; display=&quot;block&quot; data-is-equatio=&quot;1&quot; data-latex=&quot;\frac{3}{y}=7&quot;&gt;&lt;mfrac&gt;&lt;mn&gt;3&lt;/mn&gt;&lt;mi&gt;y&lt;/mi&gt;&lt;/mfrac&gt;&lt;mo&gt;=&lt;/mo&gt;&lt;mn&gt;7&lt;/mn&gt;&lt;/math&gt;" title="3 over y equals 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74852" y="3828095"/>
            <a:ext cx="468428" cy="428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&lt;math xmlns=&quot;http://www.w3.org/1998/Math/MathML&quot; display=&quot;block&quot; data-is-equatio=&quot;1&quot; data-latex=&quot;\frac{d}{s}=t&quot;&gt;&lt;mfrac&gt;&lt;mi&gt;d&lt;/mi&gt;&lt;mi&gt;s&lt;/mi&gt;&lt;/mfrac&gt;&lt;mo&gt;=&lt;/mo&gt;&lt;mi&gt;t&lt;/mi&gt;&lt;/math&gt;" title="d over s equals t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29548" y="4412449"/>
            <a:ext cx="503476" cy="44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&lt;math xmlns=&quot;http://www.w3.org/1998/Math/MathML&quot; display=&quot;block&quot; data-is-equatio=&quot;1&quot; data-latex=&quot;\frac{d}{t}=s&quot;&gt;&lt;mfrac&gt;&lt;mi&gt;d&lt;/mi&gt;&lt;mi&gt;t&lt;/mi&gt;&lt;/mfrac&gt;&lt;mo&gt;=&lt;/mo&gt;&lt;mi&gt;s&lt;/mi&gt;&lt;/math&gt;" title="d over t equals 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31968" y="3804036"/>
            <a:ext cx="529462" cy="45151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480797" y="5290872"/>
            <a:ext cx="5520000" cy="5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volume of a cuboid can be calculated as ‘length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width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height’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84428" y="5910137"/>
            <a:ext cx="1139291" cy="1764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20"/>
          <p:cNvCxnSpPr/>
          <p:nvPr/>
        </p:nvCxnSpPr>
        <p:spPr>
          <a:xfrm>
            <a:off x="517573" y="7530810"/>
            <a:ext cx="266700" cy="14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2" name="Google Shape;202;p20"/>
          <p:cNvCxnSpPr/>
          <p:nvPr/>
        </p:nvCxnSpPr>
        <p:spPr>
          <a:xfrm rot="10800000" flipH="1">
            <a:off x="881720" y="7263989"/>
            <a:ext cx="725400" cy="41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3" name="Google Shape;203;p20"/>
          <p:cNvCxnSpPr/>
          <p:nvPr/>
        </p:nvCxnSpPr>
        <p:spPr>
          <a:xfrm rot="10800000">
            <a:off x="1620588" y="6108084"/>
            <a:ext cx="900" cy="110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4" name="Google Shape;204;p20"/>
          <p:cNvSpPr txBox="1"/>
          <p:nvPr/>
        </p:nvSpPr>
        <p:spPr>
          <a:xfrm>
            <a:off x="1652697" y="6544501"/>
            <a:ext cx="162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288443" y="7447826"/>
            <a:ext cx="162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81145" y="7581093"/>
            <a:ext cx="162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1932813" y="5907070"/>
            <a:ext cx="51720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parts of these rearrangements.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8" name="Google Shape;208;p20" descr="&lt;math xmlns=&quot;http://www.w3.org/1998/Math/MathML&quot; display=&quot;block&quot; data-is-equatio=&quot;1&quot; data-latex=&quot;\frac{V}{w}=lh&quot;&gt;&lt;mfrac&gt;&lt;mi&gt;V&lt;/mi&gt;&lt;mi&gt;w&lt;/mi&gt;&lt;/mfrac&gt;&lt;mo&gt;=&lt;/mo&gt;&lt;mi&gt;l&lt;/mi&gt;&lt;mi&gt;h&lt;/mi&gt;&lt;/math&gt;" title="V over w equals l h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101177" y="6388030"/>
            <a:ext cx="708646" cy="471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&lt;math xmlns=&quot;http://www.w3.org/1998/Math/MathML&quot; display=&quot;block&quot; data-is-equatio=&quot;1&quot; data-latex=&quot;\frac{V}{h}=lw&quot;&gt;&lt;mfrac&gt;&lt;mi&gt;V&lt;/mi&gt;&lt;mi&gt;h&lt;/mi&gt;&lt;/mfrac&gt;&lt;mo&gt;=&lt;/mo&gt;&lt;mi&gt;l&lt;/mi&gt;&lt;mi&gt;w&lt;/mi&gt;&lt;/math&gt;" title="V over h equals l w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766750" y="6385600"/>
            <a:ext cx="767126" cy="471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&lt;math xmlns=&quot;http://www.w3.org/1998/Math/MathML&quot; display=&quot;block&quot; data-is-equatio=&quot;1&quot; data-latex=&quot;\frac{V}{lw}=h&quot;&gt;&lt;mfrac&gt;&lt;mi&gt;V&lt;/mi&gt;&lt;mrow&gt;&lt;mi&gt;l&lt;/mi&gt;&lt;mi&gt;w&lt;/mi&gt;&lt;/mrow&gt;&lt;/mfrac&gt;&lt;mo&gt;=&lt;/mo&gt;&lt;mi&gt;h&lt;/mi&gt;&lt;/math&gt;" title="V over l w equals h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766750" y="7208671"/>
            <a:ext cx="700405" cy="465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&lt;math xmlns=&quot;http://www.w3.org/1998/Math/MathML&quot; display=&quot;block&quot; data-is-equatio=&quot;1&quot; data-latex=&quot;\frac{V}{wh}=l&quot;&gt;&lt;mfrac&gt;&lt;mi&gt;V&lt;/mi&gt;&lt;mrow&gt;&lt;mi&gt;w&lt;/mi&gt;&lt;mi&gt;h&lt;/mi&gt;&lt;/mrow&gt;&lt;/mfrac&gt;&lt;mo&gt;=&lt;/mo&gt;&lt;mi&gt;l&lt;/mi&gt;&lt;/math&gt;" title="V over w h equals l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106023" y="7207116"/>
            <a:ext cx="708646" cy="47128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2340463" y="6307453"/>
            <a:ext cx="11139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= lwh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 flipH="1">
            <a:off x="1811244" y="6936143"/>
            <a:ext cx="17253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, the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product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of the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original multiplicative relationship remained the numerator.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4" name="Google Shape;214;p20"/>
          <p:cNvCxnSpPr/>
          <p:nvPr/>
        </p:nvCxnSpPr>
        <p:spPr>
          <a:xfrm>
            <a:off x="4285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8" name="Shape 218"/>
        <p:cNvGrpSpPr/>
        <p:nvPr/>
      </p:nvGrpSpPr>
      <p:grpSpPr>
        <a:xfrm>
          <a:off x="0" y="0"/>
          <a:ext cx="0" cy="0"/>
        </a:xfrm>
      </p:grpSpPr>
      <p:sp>
        <p:nvSpPr>
          <p:cNvPr id="219" name="Google Shape;21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20" name="Google Shape;22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Multiplicative relationships between terms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3863239" y="1597846"/>
            <a:ext cx="3228600" cy="1240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4" name="Google Shape;224;p21" descr="&lt;math xmlns=&quot;http://www.w3.org/1998/Math/MathML&quot; display=&quot;block&quot; data-is-equatio=&quot;1&quot; data-latex=&quot;\frac{0.82}{0.2}=4.1&quot;&gt;&lt;mfrac&gt;&lt;mn&gt;0.82&lt;/mn&gt;&lt;mn&gt;0.2&lt;/mn&gt;&lt;/mfrac&gt;&lt;mo&gt;=&lt;/mo&gt;&lt;mn&gt;4.1&lt;/mn&gt;&lt;/math&gt;" title="0.82 over 0.2 equals 4.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1080" y="2255264"/>
            <a:ext cx="999993" cy="47278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468000" y="1102800"/>
            <a:ext cx="66240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the family of rearrangements for the below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468000" y="7200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Rearranging multiplicative relationships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715377" y="1597846"/>
            <a:ext cx="2642400" cy="12408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865918" y="1711462"/>
            <a:ext cx="12828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× 5 = 95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865918" y="2305564"/>
            <a:ext cx="12828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× 19 = 95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712248" y="2921515"/>
            <a:ext cx="2642400" cy="1334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865929" y="3095828"/>
            <a:ext cx="11382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×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865929" y="3749340"/>
            <a:ext cx="11382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7 = 56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68000" y="1399851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68000" y="2825695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3607768" y="1399851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3607768" y="2825695"/>
            <a:ext cx="2520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3983600" y="1711462"/>
            <a:ext cx="16608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 × 4.1 = 0.82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3983597" y="2305564"/>
            <a:ext cx="1704600" cy="3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 × 0.2 = 0.82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3859915" y="2921398"/>
            <a:ext cx="2808300" cy="13341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014668" y="3095828"/>
            <a:ext cx="11382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014668" y="3749340"/>
            <a:ext cx="1138200" cy="3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2" name="Google Shape;242;p21" descr="&lt;math xmlns=&quot;http://www.w3.org/1998/Math/MathML&quot; display=&quot;block&quot; data-is-equatio=&quot;1&quot; data-latex=&quot;\frac{95}{19}=5&quot;&gt;&lt;mfrac&gt;&lt;mn&gt;95&lt;/mn&gt;&lt;mn&gt;19&lt;/mn&gt;&lt;/mfrac&gt;&lt;mo&gt;=&lt;/mo&gt;&lt;mn&gt;5&lt;/mn&gt;&lt;/math&gt;" title="95 over 19 equals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5016" y="2260838"/>
            <a:ext cx="663980" cy="470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 descr="&lt;math xmlns=&quot;http://www.w3.org/1998/Math/MathML&quot; display=&quot;block&quot; data-is-equatio=&quot;1&quot; data-latex=&quot;\frac{95}{5}=19&quot;&gt;&lt;mfrac&gt;&lt;mn&gt;95&lt;/mn&gt;&lt;mn&gt;5&lt;/mn&gt;&lt;/mfrac&gt;&lt;mo&gt;=&lt;/mo&gt;&lt;mn&gt;19&lt;/mn&gt;&lt;/math&gt;" title="95 over 5 equals 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438" y="1653900"/>
            <a:ext cx="782420" cy="473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&lt;math xmlns=&quot;http://www.w3.org/1998/Math/MathML&quot; display=&quot;block&quot; data-is-equatio=&quot;1&quot; data-latex=&quot;\frac{0.82}{4.1}=0.2&quot;&gt;&lt;mfrac&gt;&lt;mn&gt;0.82&lt;/mn&gt;&lt;mn&gt;4.1&lt;/mn&gt;&lt;/mfrac&gt;&lt;mo&gt;=&lt;/mo&gt;&lt;mn&gt;0.2&lt;/mn&gt;&lt;/math&gt;" title="0.82 over 4.1 equals 0.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5978" y="1661885"/>
            <a:ext cx="1010197" cy="469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&lt;math xmlns=&quot;http://www.w3.org/1998/Math/MathML&quot; display=&quot;block&quot; data-is-equatio=&quot;1&quot; data-latex=&quot;\begin{array}{l}\frac{56}{y}=7\end{array}&quot;&gt;&lt;mtable columnalign=&quot;left&quot; columnspacing=&quot;1em&quot; rowspacing=&quot;4pt&quot;&gt;&lt;mtr&gt;&lt;mtd&gt;&lt;mfrac&gt;&lt;mn&gt;56&lt;/mn&gt;&lt;mi&gt;y&lt;/mi&gt;&lt;/mfrac&gt;&lt;mo&gt;=&lt;/mo&gt;&lt;mn&gt;7&lt;/mn&gt;&lt;/mtd&gt;&lt;/mtr&gt;&lt;/mtable&gt;&lt;/math&gt;" title="1 lines Line 1: 56 over y equals 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98800" y="3039598"/>
            <a:ext cx="765134" cy="411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&lt;math xmlns=&quot;http://www.w3.org/1998/Math/MathML&quot; display=&quot;block&quot; data-is-equatio=&quot;1&quot; data-latex=&quot;\begin{array}{l}\frac{P}{F}=A\end{array}&quot;&gt;&lt;mtable columnalign=&quot;left&quot; columnspacing=&quot;1em&quot; rowspacing=&quot;4pt&quot;&gt;&lt;mtr&gt;&lt;mtd&gt;&lt;mfrac&gt;&lt;mi&gt;P&lt;/mi&gt;&lt;mi&gt;F&lt;/mi&gt;&lt;/mfrac&gt;&lt;mo&gt;=&lt;/mo&gt;&lt;mi&gt;A&lt;/mi&gt;&lt;/mtd&gt;&lt;/mtr&gt;&lt;/mtable&gt;&lt;/math&gt;" title="1 lines Line 1: P over F equals A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40167" y="3663934"/>
            <a:ext cx="769976" cy="382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&lt;math xmlns=&quot;http://www.w3.org/1998/Math/MathML&quot; display=&quot;block&quot; data-is-equatio=&quot;1&quot; data-latex=&quot;\begin{array}{l}\frac{P}{A}=F\end{array}&quot;&gt;&lt;mtable columnalign=&quot;left&quot; columnspacing=&quot;1em&quot; rowspacing=&quot;4pt&quot;&gt;&lt;mtr&gt;&lt;mtd&gt;&lt;mfrac&gt;&lt;mi&gt;P&lt;/mi&gt;&lt;mi&gt;A&lt;/mi&gt;&lt;/mfrac&gt;&lt;mo&gt;=&lt;/mo&gt;&lt;mi&gt;F&lt;/mi&gt;&lt;/mtd&gt;&lt;/mtr&gt;&lt;/mtable&gt;&lt;/math&gt;" title="1 lines Line 1: P over A equals 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40553" y="3015385"/>
            <a:ext cx="779661" cy="382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&lt;math xmlns=&quot;http://www.w3.org/1998/Math/MathML&quot; display=&quot;block&quot; data-is-equatio=&quot;1&quot; data-latex=&quot;\begin{array}{l}\frac{56}{7}=y\end{array}&quot;&gt;&lt;mtable columnalign=&quot;left&quot; columnspacing=&quot;1em&quot; rowspacing=&quot;4pt&quot;&gt;&lt;mtr&gt;&lt;mtd&gt;&lt;mfrac&gt;&lt;mn&gt;56&lt;/mn&gt;&lt;mn&gt;7&lt;/mn&gt;&lt;/mfrac&gt;&lt;mo&gt;=&lt;/mo&gt;&lt;mi&gt;y&lt;/mi&gt;&lt;/mtd&gt;&lt;/mtr&gt;&lt;/mtable&gt;&lt;/math&gt;" title="1 lines Line 1: 56 over 7 equals y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6027" y="3657997"/>
            <a:ext cx="755203" cy="3825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>
          <a:blip r:embed="rId11">
            <a:alphaModFix/>
          </a:blip>
          <a:srcRect r="57905" b="43690"/>
          <a:stretch>
            <a:fillRect/>
          </a:stretch>
        </p:blipFill>
        <p:spPr>
          <a:xfrm>
            <a:off x="768225" y="6436174"/>
            <a:ext cx="3208924" cy="64747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476958" y="4459400"/>
            <a:ext cx="64140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Lucas is rearranging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76958" y="5585293"/>
            <a:ext cx="2517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476958" y="7188024"/>
            <a:ext cx="2517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467999" y="6391138"/>
            <a:ext cx="2517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4" name="Google Shape;254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936476" y="4747476"/>
            <a:ext cx="418169" cy="46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/>
          <p:cNvPicPr preferRelativeResize="0"/>
          <p:nvPr/>
        </p:nvPicPr>
        <p:blipFill>
          <a:blip r:embed="rId11">
            <a:alphaModFix/>
          </a:blip>
          <a:srcRect r="57905" b="43690"/>
          <a:stretch>
            <a:fillRect/>
          </a:stretch>
        </p:blipFill>
        <p:spPr>
          <a:xfrm flipH="1">
            <a:off x="3267601" y="4479275"/>
            <a:ext cx="2385024" cy="5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 flipH="1">
            <a:off x="3540504" y="4505346"/>
            <a:ext cx="2590800" cy="5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just ‘swap positions’ in the equation.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p21"/>
          <p:cNvPicPr preferRelativeResize="0"/>
          <p:nvPr/>
        </p:nvPicPr>
        <p:blipFill>
          <a:blip r:embed="rId11">
            <a:alphaModFix/>
          </a:blip>
          <a:srcRect r="57905" b="43690"/>
          <a:stretch>
            <a:fillRect/>
          </a:stretch>
        </p:blipFill>
        <p:spPr>
          <a:xfrm>
            <a:off x="768225" y="5632525"/>
            <a:ext cx="3145124" cy="64747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 flipH="1">
            <a:off x="1692109" y="5831803"/>
            <a:ext cx="10713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21"/>
          <p:cNvPicPr preferRelativeResize="0"/>
          <p:nvPr/>
        </p:nvPicPr>
        <p:blipFill>
          <a:blip r:embed="rId11">
            <a:alphaModFix/>
          </a:blip>
          <a:srcRect r="57905" b="43690"/>
          <a:stretch>
            <a:fillRect/>
          </a:stretch>
        </p:blipFill>
        <p:spPr>
          <a:xfrm>
            <a:off x="768225" y="7256549"/>
            <a:ext cx="3208924" cy="64747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479125" y="5269575"/>
            <a:ext cx="66240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each case decide if Lucas is correct and write a sentence to justify your decision.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1" name="Google Shape;261;p21" descr="&lt;math xmlns=&quot;http://www.w3.org/1998/Math/MathML&quot; display=&quot;block&quot; data-is-equatio=&quot;1&quot; data-latex=&quot;\begin{array}{l}\frac{72}{9}=8\end{array}&quot;&gt;&lt;mtable columnalign=&quot;left&quot; columnspacing=&quot;1em&quot; rowspacing=&quot;4pt&quot;&gt;&lt;mtr&gt;&lt;mtd&gt;&lt;mfrac&gt;&lt;mn&gt;72&lt;/mn&gt;&lt;mn&gt;9&lt;/mn&gt;&lt;/mfrac&gt;&lt;mo&gt;=&lt;/mo&gt;&lt;mn&gt;8&lt;/mn&gt;&lt;/mtd&gt;&lt;/mtr&gt;&lt;/mtable&gt;&lt;/math&gt;" title="1 lines Line 1: 72 over 9 equals 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23663" y="5763049"/>
            <a:ext cx="687648" cy="35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1" descr="&lt;math xmlns=&quot;http://www.w3.org/1998/Math/MathML&quot; display=&quot;block&quot; data-is-equatio=&quot;1&quot; data-latex=&quot;\begin{array}{l}\frac{72}{8}=9\end{array}&quot;&gt;&lt;mtable columnalign=&quot;left&quot; columnspacing=&quot;1em&quot; rowspacing=&quot;4pt&quot;&gt;&lt;mtr&gt;&lt;mtd&gt;&lt;mfrac&gt;&lt;mn&gt;72&lt;/mn&gt;&lt;mn&gt;8&lt;/mn&gt;&lt;/mfrac&gt;&lt;mo&gt;=&lt;/mo&gt;&lt;mn&gt;9&lt;/mn&gt;&lt;/mtd&gt;&lt;/mtr&gt;&lt;/mtable&gt;&lt;/math&gt;" title="1 lines Line 1: 72 over 8 equals 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659291" y="5756225"/>
            <a:ext cx="697932" cy="35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 descr="&lt;math xmlns=&quot;http://www.w3.org/1998/Math/MathML&quot; display=&quot;block&quot; data-is-equatio=&quot;1&quot; data-latex=&quot;\begin{array}{l}\frac{5}{b}=h\end{array}&quot;&gt;&lt;mtable columnalign=&quot;left&quot; columnspacing=&quot;1em&quot; rowspacing=&quot;4pt&quot;&gt;&lt;mtr&gt;&lt;mtd&gt;&lt;mfrac&gt;&lt;mn&gt;5&lt;/mn&gt;&lt;mi&gt;b&lt;/mi&gt;&lt;/mfrac&gt;&lt;mo&gt;=&lt;/mo&gt;&lt;mi&gt;h&lt;/mi&gt;&lt;/mtd&gt;&lt;/mtr&gt;&lt;/mtable&gt;&lt;/math&gt;" title="1 lines Line 1: 5 over b equals h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696914" y="6562098"/>
            <a:ext cx="601692" cy="358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 descr="&lt;math xmlns=&quot;http://www.w3.org/1998/Math/MathML&quot; display=&quot;block&quot; data-is-equatio=&quot;1&quot; data-latex=&quot;\begin{array}{l}\frac{5}{h}=b\end{array}&quot;&gt;&lt;mtable columnalign=&quot;left&quot; columnspacing=&quot;1em&quot; rowspacing=&quot;4pt&quot;&gt;&lt;mtr&gt;&lt;mtd&gt;&lt;mfrac&gt;&lt;mn&gt;5&lt;/mn&gt;&lt;mi&gt;h&lt;/mi&gt;&lt;/mfrac&gt;&lt;mo&gt;=&lt;/mo&gt;&lt;mi&gt;b&lt;/mi&gt;&lt;/mtd&gt;&lt;/mtr&gt;&lt;/mtable&gt;&lt;/math&gt;" title="1 lines Line 1: 5 over h equals b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936553" y="6561419"/>
            <a:ext cx="601687" cy="35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 descr="&lt;math xmlns=&quot;http://www.w3.org/1998/Math/MathML&quot; display=&quot;block&quot; data-is-equatio=&quot;1&quot; data-latex=&quot;\begin{array}{l}\frac{13}{x}=2\end{array}&quot;&gt;&lt;mtable columnalign=&quot;left&quot; columnspacing=&quot;1em&quot; rowspacing=&quot;4pt&quot;&gt;&lt;mtr&gt;&lt;mtd&gt;&lt;mfrac&gt;&lt;mn&gt;13&lt;/mn&gt;&lt;mi&gt;x&lt;/mi&gt;&lt;/mfrac&gt;&lt;mo&gt;=&lt;/mo&gt;&lt;mn&gt;2&lt;/mn&gt;&lt;/mtd&gt;&lt;/mtr&gt;&lt;/mtable&gt;&lt;/math&gt;" title="1 lines Line 1: 13 over x equals 2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890950" y="7394270"/>
            <a:ext cx="698619" cy="342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 descr="&lt;math xmlns=&quot;http://www.w3.org/1998/Math/MathML&quot; display=&quot;block&quot; data-is-equatio=&quot;1&quot; data-latex=&quot;\begin{array}{l}\frac{2}{x}=13\end{array}&quot;&gt;&lt;mtable columnalign=&quot;left&quot; columnspacing=&quot;1em&quot; rowspacing=&quot;4pt&quot;&gt;&lt;mtr&gt;&lt;mtd&gt;&lt;mfrac&gt;&lt;mn&gt;2&lt;/mn&gt;&lt;mi&gt;x&lt;/mi&gt;&lt;/mfrac&gt;&lt;mo&gt;=&lt;/mo&gt;&lt;mn&gt;13&lt;/mn&gt;&lt;/mtd&gt;&lt;/mtr&gt;&lt;/mtable&gt;&lt;/math&gt;" title="1 lines Line 1: 2 over x equals 1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2692183" y="7400223"/>
            <a:ext cx="738668" cy="33818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 flipH="1">
            <a:off x="1692109" y="6634264"/>
            <a:ext cx="10713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 flipH="1">
            <a:off x="1692109" y="7463603"/>
            <a:ext cx="1071300" cy="1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can swap to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79138" y="7984897"/>
            <a:ext cx="55179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Rearrange each equation into the form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× b = c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5235021" y="8833854"/>
            <a:ext cx="1200300" cy="1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3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yz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3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yz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479138" y="8287683"/>
            <a:ext cx="2502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2827417" y="8287683"/>
            <a:ext cx="2502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704261" y="8287683"/>
            <a:ext cx="2502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4" name="Google Shape;274;p21" descr="&lt;math xmlns=&quot;http://www.w3.org/1998/Math/MathML&quot; display=&quot;block&quot; data-is-equatio=&quot;1&quot; data-latex=&quot;\frac{x}{8}=y&quot;&gt;&lt;mfrac&gt;&lt;mi&gt;x&lt;/mi&gt;&lt;mn&gt;8&lt;/mn&gt;&lt;/mfrac&gt;&lt;mo&gt;=&lt;/mo&gt;&lt;mi&gt;y&lt;/mi&gt;&lt;/math&gt;" title="x over 8 equals y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962308" y="8269537"/>
            <a:ext cx="480166" cy="348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 descr="&lt;math xmlns=&quot;http://www.w3.org/1998/Math/MathML&quot; display=&quot;block&quot; data-is-equatio=&quot;1&quot; data-latex=&quot;x\times\frac{1}{8}=y&quot;&gt;&lt;mi&gt;x&lt;/mi&gt;&lt;mo&gt;×&lt;/mo&gt;&lt;mfrac&gt;&lt;mn&gt;1&lt;/mn&gt;&lt;mn&gt;8&lt;/mn&gt;&lt;/mfrac&gt;&lt;mo&gt;=&lt;/mo&gt;&lt;mi&gt;y&lt;/mi&gt;&lt;/math&gt;" title="x times one eighth equals y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720974" y="8746137"/>
            <a:ext cx="705765" cy="347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 descr="&lt;math xmlns=&quot;http://www.w3.org/1998/Math/MathML&quot; display=&quot;block&quot; data-is-equatio=&quot;1&quot; data-latex=&quot;x\times\frac{1}{8}&quot;&gt;&lt;mi&gt;x&lt;/mi&gt;&lt;mo&gt;×&lt;/mo&gt;&lt;mfrac&gt;&lt;mn&gt;1&lt;/mn&gt;&lt;mn&gt;8&lt;/mn&gt;&lt;/mfrac&gt;&lt;/math&gt;" title="x times one eighth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535543" y="9194082"/>
            <a:ext cx="392927" cy="34787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>
            <a:off x="959512" y="9277033"/>
            <a:ext cx="840300" cy="1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8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8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1090498" y="9634465"/>
            <a:ext cx="624900" cy="1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9" name="Google Shape;279;p21" descr="&lt;math xmlns=&quot;http://www.w3.org/1998/Math/MathML&quot; display=&quot;block&quot; data-is-equatio=&quot;1&quot; data-latex=&quot;\frac{x}{3y}=y&quot;&gt;&lt;mfrac&gt;&lt;mi&gt;x&lt;/mi&gt;&lt;mrow&gt;&lt;mn&gt;3&lt;/mn&gt;&lt;mi&gt;y&lt;/mi&gt;&lt;/mrow&gt;&lt;/mfrac&gt;&lt;mo&gt;=&lt;/mo&gt;&lt;mi&gt;y&lt;/mi&gt;&lt;/math&gt;" title="x over 3 y equals y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586639" y="8285341"/>
            <a:ext cx="517755" cy="348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 descr="&lt;math xmlns=&quot;http://www.w3.org/1998/Math/MathML&quot; display=&quot;block&quot; data-is-equatio=&quot;1&quot; data-latex=&quot;x\times\frac{1}{3y}=y&quot;&gt;&lt;mi&gt;x&lt;/mi&gt;&lt;mo&gt;×&lt;/mo&gt;&lt;mfrac&gt;&lt;mn&gt;1&lt;/mn&gt;&lt;mrow&gt;&lt;mn&gt;3&lt;/mn&gt;&lt;mi&gt;y&lt;/mi&gt;&lt;/mrow&gt;&lt;/mfrac&gt;&lt;mo&gt;=&lt;/mo&gt;&lt;mi&gt;y&lt;/mi&gt;&lt;/math&gt;" title="x times 1 over 3 y equals y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3347658" y="8765909"/>
            <a:ext cx="729929" cy="348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 descr="&lt;math xmlns=&quot;http://www.w3.org/1998/Math/MathML&quot; display=&quot;block&quot; data-is-equatio=&quot;1&quot; data-latex=&quot;x\times\frac{1}{3y}&quot;&gt;&lt;mi&gt;x&lt;/mi&gt;&lt;mo&gt;×&lt;/mo&gt;&lt;mfrac&gt;&lt;mn&gt;1&lt;/mn&gt;&lt;mrow&gt;&lt;mn&gt;3&lt;/mn&gt;&lt;mi&gt;y&lt;/mi&gt;&lt;/mrow&gt;&lt;/mfrac&gt;&lt;/math&gt;" title="x times 1 over 3 y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3040573" y="9207682"/>
            <a:ext cx="441677" cy="34868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1"/>
          <p:cNvSpPr txBox="1"/>
          <p:nvPr/>
        </p:nvSpPr>
        <p:spPr>
          <a:xfrm>
            <a:off x="3512533" y="9282986"/>
            <a:ext cx="1127400" cy="1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3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3</a:t>
            </a:r>
            <a:r>
              <a:rPr lang="en-GB" sz="1200" i="1">
                <a:solidFill>
                  <a:srgbClr val="037B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3734816" y="9710665"/>
            <a:ext cx="624900" cy="1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200" i="1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4" name="Google Shape;284;p21" descr="&lt;math xmlns=&quot;http://www.w3.org/1998/Math/MathML&quot; display=&quot;block&quot; data-is-equatio=&quot;1&quot; data-latex=&quot;\frac{5x}{3yz}=4z^2&quot;&gt;&lt;mfrac&gt;&lt;mrow&gt;&lt;mn&gt;5&lt;/mn&gt;&lt;mi&gt;x&lt;/mi&gt;&lt;/mrow&gt;&lt;mrow&gt;&lt;mn&gt;3&lt;/mn&gt;&lt;mi&gt;y&lt;/mi&gt;&lt;mi&gt;z&lt;/mi&gt;&lt;/mrow&gt;&lt;/mfrac&gt;&lt;mo&gt;=&lt;/mo&gt;&lt;mn&gt;4&lt;/mn&gt;&lt;msup&gt;&lt;mi&gt;z&lt;/mi&gt;&lt;mn&gt;2&lt;/mn&gt;&lt;/msup&gt;&lt;/math&gt;" title="5 x over 3 y z equals 4 z squared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326398" y="8273600"/>
            <a:ext cx="668730" cy="348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 descr="&lt;math xmlns=&quot;http://www.w3.org/1998/Math/MathML&quot; display=&quot;block&quot; data-is-equatio=&quot;1&quot; data-latex=&quot;\frac{5x}{3yz}&quot;&gt;&lt;mfrac&gt;&lt;mrow&gt;&lt;mn&gt;5&lt;/mn&gt;&lt;mi&gt;x&lt;/mi&gt;&lt;/mrow&gt;&lt;mrow&gt;&lt;mn&gt;3&lt;/mn&gt;&lt;mi&gt;y&lt;/mi&gt;&lt;mi&gt;z&lt;/mi&gt;&lt;/mrow&gt;&lt;/mfrac&gt;&lt;/math&gt;" title="5 x over 3 y z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4937349" y="8775178"/>
            <a:ext cx="252572" cy="34787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1"/>
          <p:cNvSpPr txBox="1"/>
          <p:nvPr/>
        </p:nvSpPr>
        <p:spPr>
          <a:xfrm>
            <a:off x="5441696" y="9267492"/>
            <a:ext cx="8403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yz</a:t>
            </a:r>
            <a:r>
              <a:rPr lang="en-GB" sz="1200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7" name="Google Shape;287;p2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3952925" y="5684746"/>
            <a:ext cx="317087" cy="335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1"/>
          <p:cNvSpPr txBox="1"/>
          <p:nvPr/>
        </p:nvSpPr>
        <p:spPr>
          <a:xfrm flipH="1">
            <a:off x="4527750" y="5632950"/>
            <a:ext cx="25641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Both are rearrangements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9 = 72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where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the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product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89" name="Google Shape;289;p21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3941364" y="7343061"/>
            <a:ext cx="317075" cy="33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3894014" y="6505187"/>
            <a:ext cx="317075" cy="33557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 txBox="1"/>
          <p:nvPr/>
        </p:nvSpPr>
        <p:spPr>
          <a:xfrm flipH="1">
            <a:off x="4457350" y="6523950"/>
            <a:ext cx="26424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Both are rearrangements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where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is the </a:t>
            </a:r>
            <a:r>
              <a:rPr lang="en-GB" sz="12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product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 flipH="1">
            <a:off x="4457350" y="7330025"/>
            <a:ext cx="26424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One is a rearrangement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 the other is a rearrangement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Multiplicative relationships between terms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2024-02-06T11:39:14.906</cp:lastPrinted>
  <dcterms:created xsi:type="dcterms:W3CDTF">2024-02-06T11:39:14Z</dcterms:created>
  <dcterms:modified xsi:type="dcterms:W3CDTF">2024-02-06T11:39:24Z</dcterms:modified>
</cp:coreProperties>
</file>