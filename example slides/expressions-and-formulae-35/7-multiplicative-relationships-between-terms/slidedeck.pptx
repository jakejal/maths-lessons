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7A32CA-C581-4DC1-A799-BD3375EA923A}">
  <a:tblStyle styleId="{CE7A32CA-C581-4DC1-A799-BD3375EA92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678a40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678a40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b0678a40ef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0678a40ef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b0678a40ef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0678a40ef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b0678a40ef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b0678a40ef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b0678a40ef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b0678a40ef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b0678a40ef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b0678a40ef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b0678a40ef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b0678a40ef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b0678a40ef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b0678a40ef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b0678a40ef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b0678a40ef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b0678a40ef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b0678a40ef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b06ec9b38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b06ec9b38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b06ec9b389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b06ec9b38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b06ec9b389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b06ec9b389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b06ec9b38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b06ec9b38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b06ec9b389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b06ec9b389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b06ec9b389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b06ec9b389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b06ec9b38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b06ec9b38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b06ec9b38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b06ec9b38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b0678a40ef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b0678a40ef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2b0807f70a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2b0807f70a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b0807f70a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b0807f70a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b0807f70a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b0807f70a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2b0807f70a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2b0807f70a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b0807f70a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b0807f70a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2b0807f70a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2b0807f70a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b0807f70a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b0807f70a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b0807f70a4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b0807f70a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2b0807f70a4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2b0807f70a4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b0807f70a4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b0807f70a4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2b0807f70a4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2b0807f70a4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2b0807f70a4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2b0807f70a4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b0807f70a4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b0807f70a4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b0807f70a4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b0807f70a4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b06ec9b389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2b06ec9b389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b0b5e650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b0b5e650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2b0807f70a4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2b0807f70a4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b0807f70a4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b0807f70a4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2b0807f70a4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2b0807f70a4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b2d0c294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b2d0c294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2b0b5e650c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2b0b5e650c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6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6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6.png"/><Relationship Id="rId4" Type="http://schemas.openxmlformats.org/officeDocument/2006/relationships/image" Target="../media/image33.png"/><Relationship Id="rId11" Type="http://schemas.openxmlformats.org/officeDocument/2006/relationships/image" Target="../media/image22.png"/><Relationship Id="rId10" Type="http://schemas.openxmlformats.org/officeDocument/2006/relationships/image" Target="../media/image38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67.png"/><Relationship Id="rId5" Type="http://schemas.openxmlformats.org/officeDocument/2006/relationships/image" Target="../media/image62.png"/><Relationship Id="rId6" Type="http://schemas.openxmlformats.org/officeDocument/2006/relationships/image" Target="../media/image65.png"/><Relationship Id="rId7" Type="http://schemas.openxmlformats.org/officeDocument/2006/relationships/image" Target="../media/image64.png"/><Relationship Id="rId8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6.png"/><Relationship Id="rId4" Type="http://schemas.openxmlformats.org/officeDocument/2006/relationships/image" Target="../media/image70.png"/><Relationship Id="rId9" Type="http://schemas.openxmlformats.org/officeDocument/2006/relationships/image" Target="../media/image73.png"/><Relationship Id="rId5" Type="http://schemas.openxmlformats.org/officeDocument/2006/relationships/image" Target="../media/image68.png"/><Relationship Id="rId6" Type="http://schemas.openxmlformats.org/officeDocument/2006/relationships/image" Target="../media/image74.png"/><Relationship Id="rId7" Type="http://schemas.openxmlformats.org/officeDocument/2006/relationships/image" Target="../media/image69.png"/><Relationship Id="rId8" Type="http://schemas.openxmlformats.org/officeDocument/2006/relationships/image" Target="../media/image72.png"/><Relationship Id="rId10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5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Relationship Id="rId4" Type="http://schemas.openxmlformats.org/officeDocument/2006/relationships/image" Target="../media/image70.png"/><Relationship Id="rId9" Type="http://schemas.openxmlformats.org/officeDocument/2006/relationships/image" Target="../media/image73.png"/><Relationship Id="rId5" Type="http://schemas.openxmlformats.org/officeDocument/2006/relationships/image" Target="../media/image68.png"/><Relationship Id="rId6" Type="http://schemas.openxmlformats.org/officeDocument/2006/relationships/image" Target="../media/image74.png"/><Relationship Id="rId7" Type="http://schemas.openxmlformats.org/officeDocument/2006/relationships/image" Target="../media/image69.png"/><Relationship Id="rId8" Type="http://schemas.openxmlformats.org/officeDocument/2006/relationships/image" Target="../media/image72.png"/><Relationship Id="rId10" Type="http://schemas.openxmlformats.org/officeDocument/2006/relationships/image" Target="../media/image7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5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2.png"/><Relationship Id="rId4" Type="http://schemas.openxmlformats.org/officeDocument/2006/relationships/image" Target="../media/image8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2.png"/><Relationship Id="rId4" Type="http://schemas.openxmlformats.org/officeDocument/2006/relationships/image" Target="../media/image8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6.png"/><Relationship Id="rId4" Type="http://schemas.openxmlformats.org/officeDocument/2006/relationships/image" Target="../media/image84.png"/><Relationship Id="rId5" Type="http://schemas.openxmlformats.org/officeDocument/2006/relationships/image" Target="../media/image8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Relationship Id="rId5" Type="http://schemas.openxmlformats.org/officeDocument/2006/relationships/image" Target="../media/image84.png"/><Relationship Id="rId6" Type="http://schemas.openxmlformats.org/officeDocument/2006/relationships/image" Target="../media/image8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1.png"/><Relationship Id="rId4" Type="http://schemas.openxmlformats.org/officeDocument/2006/relationships/image" Target="../media/image88.png"/><Relationship Id="rId5" Type="http://schemas.openxmlformats.org/officeDocument/2006/relationships/image" Target="../media/image90.png"/><Relationship Id="rId6" Type="http://schemas.openxmlformats.org/officeDocument/2006/relationships/image" Target="../media/image56.png"/><Relationship Id="rId7" Type="http://schemas.openxmlformats.org/officeDocument/2006/relationships/image" Target="../media/image84.png"/><Relationship Id="rId8" Type="http://schemas.openxmlformats.org/officeDocument/2006/relationships/image" Target="../media/image8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88.png"/><Relationship Id="rId5" Type="http://schemas.openxmlformats.org/officeDocument/2006/relationships/image" Target="../media/image90.png"/><Relationship Id="rId6" Type="http://schemas.openxmlformats.org/officeDocument/2006/relationships/image" Target="../media/image7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4.png"/><Relationship Id="rId5" Type="http://schemas.openxmlformats.org/officeDocument/2006/relationships/image" Target="../media/image93.png"/><Relationship Id="rId6" Type="http://schemas.openxmlformats.org/officeDocument/2006/relationships/image" Target="../media/image98.png"/><Relationship Id="rId7" Type="http://schemas.openxmlformats.org/officeDocument/2006/relationships/image" Target="../media/image64.png"/><Relationship Id="rId8" Type="http://schemas.openxmlformats.org/officeDocument/2006/relationships/image" Target="../media/image60.png"/><Relationship Id="rId10" Type="http://schemas.openxmlformats.org/officeDocument/2006/relationships/image" Target="../media/image10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1.png"/><Relationship Id="rId4" Type="http://schemas.openxmlformats.org/officeDocument/2006/relationships/image" Target="../media/image99.png"/><Relationship Id="rId5" Type="http://schemas.openxmlformats.org/officeDocument/2006/relationships/image" Target="../media/image103.png"/><Relationship Id="rId6" Type="http://schemas.openxmlformats.org/officeDocument/2006/relationships/image" Target="../media/image102.png"/><Relationship Id="rId7" Type="http://schemas.openxmlformats.org/officeDocument/2006/relationships/image" Target="../media/image64.png"/><Relationship Id="rId8" Type="http://schemas.openxmlformats.org/officeDocument/2006/relationships/image" Target="../media/image6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0.png"/><Relationship Id="rId4" Type="http://schemas.openxmlformats.org/officeDocument/2006/relationships/image" Target="../media/image64.png"/><Relationship Id="rId5" Type="http://schemas.openxmlformats.org/officeDocument/2006/relationships/image" Target="../media/image101.png"/><Relationship Id="rId6" Type="http://schemas.openxmlformats.org/officeDocument/2006/relationships/image" Target="../media/image9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9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101.png"/><Relationship Id="rId7" Type="http://schemas.openxmlformats.org/officeDocument/2006/relationships/image" Target="../media/image10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Relationship Id="rId4" Type="http://schemas.openxmlformats.org/officeDocument/2006/relationships/image" Target="../media/image64.png"/><Relationship Id="rId5" Type="http://schemas.openxmlformats.org/officeDocument/2006/relationships/image" Target="../media/image10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6.png"/><Relationship Id="rId4" Type="http://schemas.openxmlformats.org/officeDocument/2006/relationships/image" Target="../media/image109.png"/><Relationship Id="rId9" Type="http://schemas.openxmlformats.org/officeDocument/2006/relationships/image" Target="../media/image112.png"/><Relationship Id="rId5" Type="http://schemas.openxmlformats.org/officeDocument/2006/relationships/image" Target="../media/image105.png"/><Relationship Id="rId6" Type="http://schemas.openxmlformats.org/officeDocument/2006/relationships/image" Target="../media/image111.png"/><Relationship Id="rId7" Type="http://schemas.openxmlformats.org/officeDocument/2006/relationships/image" Target="../media/image110.png"/><Relationship Id="rId8" Type="http://schemas.openxmlformats.org/officeDocument/2006/relationships/image" Target="../media/image108.png"/><Relationship Id="rId10" Type="http://schemas.openxmlformats.org/officeDocument/2006/relationships/image" Target="../media/image1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7.png"/><Relationship Id="rId4" Type="http://schemas.openxmlformats.org/officeDocument/2006/relationships/image" Target="../media/image115.png"/><Relationship Id="rId9" Type="http://schemas.openxmlformats.org/officeDocument/2006/relationships/image" Target="../media/image119.png"/><Relationship Id="rId5" Type="http://schemas.openxmlformats.org/officeDocument/2006/relationships/image" Target="../media/image118.png"/><Relationship Id="rId6" Type="http://schemas.openxmlformats.org/officeDocument/2006/relationships/image" Target="../media/image113.png"/><Relationship Id="rId7" Type="http://schemas.openxmlformats.org/officeDocument/2006/relationships/image" Target="../media/image117.png"/><Relationship Id="rId8" Type="http://schemas.openxmlformats.org/officeDocument/2006/relationships/image" Target="../media/image114.png"/><Relationship Id="rId10" Type="http://schemas.openxmlformats.org/officeDocument/2006/relationships/image" Target="../media/image1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2.png"/><Relationship Id="rId4" Type="http://schemas.openxmlformats.org/officeDocument/2006/relationships/image" Target="../media/image121.png"/><Relationship Id="rId5" Type="http://schemas.openxmlformats.org/officeDocument/2006/relationships/image" Target="../media/image1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6.png"/><Relationship Id="rId4" Type="http://schemas.openxmlformats.org/officeDocument/2006/relationships/image" Target="../media/image109.png"/><Relationship Id="rId9" Type="http://schemas.openxmlformats.org/officeDocument/2006/relationships/image" Target="../media/image112.png"/><Relationship Id="rId5" Type="http://schemas.openxmlformats.org/officeDocument/2006/relationships/image" Target="../media/image105.png"/><Relationship Id="rId6" Type="http://schemas.openxmlformats.org/officeDocument/2006/relationships/image" Target="../media/image111.png"/><Relationship Id="rId7" Type="http://schemas.openxmlformats.org/officeDocument/2006/relationships/image" Target="../media/image110.png"/><Relationship Id="rId8" Type="http://schemas.openxmlformats.org/officeDocument/2006/relationships/image" Target="../media/image108.png"/><Relationship Id="rId10" Type="http://schemas.openxmlformats.org/officeDocument/2006/relationships/image" Target="../media/image1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7.png"/><Relationship Id="rId4" Type="http://schemas.openxmlformats.org/officeDocument/2006/relationships/image" Target="../media/image115.png"/><Relationship Id="rId9" Type="http://schemas.openxmlformats.org/officeDocument/2006/relationships/image" Target="../media/image119.png"/><Relationship Id="rId5" Type="http://schemas.openxmlformats.org/officeDocument/2006/relationships/image" Target="../media/image118.png"/><Relationship Id="rId6" Type="http://schemas.openxmlformats.org/officeDocument/2006/relationships/image" Target="../media/image113.png"/><Relationship Id="rId7" Type="http://schemas.openxmlformats.org/officeDocument/2006/relationships/image" Target="../media/image117.png"/><Relationship Id="rId8" Type="http://schemas.openxmlformats.org/officeDocument/2006/relationships/image" Target="../media/image114.png"/><Relationship Id="rId11" Type="http://schemas.openxmlformats.org/officeDocument/2006/relationships/image" Target="../media/image64.png"/><Relationship Id="rId10" Type="http://schemas.openxmlformats.org/officeDocument/2006/relationships/image" Target="../media/image1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7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5" Type="http://schemas.openxmlformats.org/officeDocument/2006/relationships/image" Target="../media/image113.png"/><Relationship Id="rId6" Type="http://schemas.openxmlformats.org/officeDocument/2006/relationships/image" Target="../media/image117.png"/><Relationship Id="rId7" Type="http://schemas.openxmlformats.org/officeDocument/2006/relationships/image" Target="../media/image114.png"/><Relationship Id="rId8" Type="http://schemas.openxmlformats.org/officeDocument/2006/relationships/image" Target="../media/image119.png"/><Relationship Id="rId11" Type="http://schemas.openxmlformats.org/officeDocument/2006/relationships/image" Target="../media/image64.png"/><Relationship Id="rId10" Type="http://schemas.openxmlformats.org/officeDocument/2006/relationships/image" Target="../media/image6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5.png"/><Relationship Id="rId4" Type="http://schemas.openxmlformats.org/officeDocument/2006/relationships/image" Target="../media/image10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2.png"/><Relationship Id="rId4" Type="http://schemas.openxmlformats.org/officeDocument/2006/relationships/image" Target="../media/image126.png"/><Relationship Id="rId9" Type="http://schemas.openxmlformats.org/officeDocument/2006/relationships/image" Target="../media/image120.png"/><Relationship Id="rId5" Type="http://schemas.openxmlformats.org/officeDocument/2006/relationships/image" Target="../media/image125.png"/><Relationship Id="rId6" Type="http://schemas.openxmlformats.org/officeDocument/2006/relationships/image" Target="../media/image121.png"/><Relationship Id="rId7" Type="http://schemas.openxmlformats.org/officeDocument/2006/relationships/image" Target="../media/image124.png"/><Relationship Id="rId8" Type="http://schemas.openxmlformats.org/officeDocument/2006/relationships/image" Target="../media/image127.png"/><Relationship Id="rId10" Type="http://schemas.openxmlformats.org/officeDocument/2006/relationships/image" Target="../media/image1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between terms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can appreciate that a multiplicative relationship between variables can be written in a number of different ways.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297659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equation is used to show two expressions that are equal to each other.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24000" y="2440659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product</a:t>
            </a:r>
            <a:r>
              <a:rPr lang="en-GB"/>
              <a:t> in algebra is the result of two or more terms multiplied together.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6150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idx="1" type="body"/>
          </p:nvPr>
        </p:nvSpPr>
        <p:spPr>
          <a:xfrm>
            <a:off x="324000" y="759300"/>
            <a:ext cx="61689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a visual representation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× 3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graphicFrame>
        <p:nvGraphicFramePr>
          <p:cNvPr id="786" name="Google Shape;786;p68"/>
          <p:cNvGraphicFramePr/>
          <p:nvPr/>
        </p:nvGraphicFramePr>
        <p:xfrm>
          <a:off x="10287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{CE7A32CA-C581-4DC1-A799-BD3375EA923A}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4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787" name="Google Shape;787;p68"/>
          <p:cNvSpPr txBox="1"/>
          <p:nvPr>
            <p:ph idx="1" type="body"/>
          </p:nvPr>
        </p:nvSpPr>
        <p:spPr>
          <a:xfrm>
            <a:off x="324000" y="3491000"/>
            <a:ext cx="6732000" cy="8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other facts does it show us?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might have heard this called a ‘Fact Family’.</a:t>
            </a:r>
            <a:endParaRPr/>
          </a:p>
        </p:txBody>
      </p:sp>
      <p:sp>
        <p:nvSpPr>
          <p:cNvPr id="788" name="Google Shape;788;p68"/>
          <p:cNvSpPr txBox="1"/>
          <p:nvPr>
            <p:ph idx="1" type="body"/>
          </p:nvPr>
        </p:nvSpPr>
        <p:spPr>
          <a:xfrm>
            <a:off x="3852213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× 3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68"/>
          <p:cNvSpPr txBox="1"/>
          <p:nvPr>
            <p:ph idx="1" type="body"/>
          </p:nvPr>
        </p:nvSpPr>
        <p:spPr>
          <a:xfrm>
            <a:off x="3852213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4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5780227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 =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68"/>
          <p:cNvSpPr txBox="1"/>
          <p:nvPr>
            <p:ph idx="1" type="body"/>
          </p:nvPr>
        </p:nvSpPr>
        <p:spPr>
          <a:xfrm>
            <a:off x="5780227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 4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92" name="Google Shape;792;p68"/>
          <p:cNvGrpSpPr/>
          <p:nvPr/>
        </p:nvGrpSpPr>
        <p:grpSpPr>
          <a:xfrm>
            <a:off x="3841656" y="2308500"/>
            <a:ext cx="1266542" cy="321600"/>
            <a:chOff x="4310363" y="2308500"/>
            <a:chExt cx="1266542" cy="321600"/>
          </a:xfrm>
        </p:grpSpPr>
        <p:sp>
          <p:nvSpPr>
            <p:cNvPr id="793" name="Google Shape;793;p68"/>
            <p:cNvSpPr/>
            <p:nvPr/>
          </p:nvSpPr>
          <p:spPr>
            <a:xfrm>
              <a:off x="4310363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4" name="Google Shape;794;p68"/>
            <p:cNvSpPr/>
            <p:nvPr/>
          </p:nvSpPr>
          <p:spPr>
            <a:xfrm>
              <a:off x="4767563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8"/>
            <p:cNvSpPr/>
            <p:nvPr/>
          </p:nvSpPr>
          <p:spPr>
            <a:xfrm>
              <a:off x="53105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6" name="Google Shape;796;p68"/>
          <p:cNvGrpSpPr/>
          <p:nvPr/>
        </p:nvGrpSpPr>
        <p:grpSpPr>
          <a:xfrm>
            <a:off x="5832397" y="2308500"/>
            <a:ext cx="1223721" cy="321600"/>
            <a:chOff x="6301104" y="2308500"/>
            <a:chExt cx="1223721" cy="321600"/>
          </a:xfrm>
        </p:grpSpPr>
        <p:sp>
          <p:nvSpPr>
            <p:cNvPr id="797" name="Google Shape;797;p68"/>
            <p:cNvSpPr/>
            <p:nvPr/>
          </p:nvSpPr>
          <p:spPr>
            <a:xfrm>
              <a:off x="63011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8"/>
            <p:cNvSpPr/>
            <p:nvPr/>
          </p:nvSpPr>
          <p:spPr>
            <a:xfrm>
              <a:off x="6848775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9" name="Google Shape;799;p68"/>
            <p:cNvSpPr/>
            <p:nvPr/>
          </p:nvSpPr>
          <p:spPr>
            <a:xfrm>
              <a:off x="7325025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0" name="Google Shape;800;p68"/>
          <p:cNvSpPr txBox="1"/>
          <p:nvPr>
            <p:ph idx="1" type="body"/>
          </p:nvPr>
        </p:nvSpPr>
        <p:spPr>
          <a:xfrm>
            <a:off x="3372000" y="2729000"/>
            <a:ext cx="2072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commutativity of multiplication.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1" name="Google Shape;801;p68"/>
          <p:cNvSpPr txBox="1"/>
          <p:nvPr>
            <p:ph idx="1" type="body"/>
          </p:nvPr>
        </p:nvSpPr>
        <p:spPr>
          <a:xfrm>
            <a:off x="7334400" y="1357400"/>
            <a:ext cx="1485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÷3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02" name="Google Shape;802;p68"/>
          <p:cNvGrpSpPr/>
          <p:nvPr/>
        </p:nvGrpSpPr>
        <p:grpSpPr>
          <a:xfrm>
            <a:off x="5832397" y="1579838"/>
            <a:ext cx="1242771" cy="321600"/>
            <a:chOff x="6301104" y="1579838"/>
            <a:chExt cx="1242771" cy="321600"/>
          </a:xfrm>
        </p:grpSpPr>
        <p:sp>
          <p:nvSpPr>
            <p:cNvPr id="803" name="Google Shape;803;p68"/>
            <p:cNvSpPr/>
            <p:nvPr/>
          </p:nvSpPr>
          <p:spPr>
            <a:xfrm>
              <a:off x="6301104" y="1579838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68"/>
            <p:cNvSpPr/>
            <p:nvPr/>
          </p:nvSpPr>
          <p:spPr>
            <a:xfrm>
              <a:off x="6853538" y="1579838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68"/>
            <p:cNvSpPr/>
            <p:nvPr/>
          </p:nvSpPr>
          <p:spPr>
            <a:xfrm>
              <a:off x="7344075" y="1579838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6" name="Google Shape;806;p68"/>
          <p:cNvSpPr txBox="1"/>
          <p:nvPr>
            <p:ph idx="1" type="body"/>
          </p:nvPr>
        </p:nvSpPr>
        <p:spPr>
          <a:xfrm>
            <a:off x="7334400" y="2271800"/>
            <a:ext cx="1485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÷4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graphicFrame>
        <p:nvGraphicFramePr>
          <p:cNvPr id="812" name="Google Shape;812;p69"/>
          <p:cNvGraphicFramePr/>
          <p:nvPr/>
        </p:nvGraphicFramePr>
        <p:xfrm>
          <a:off x="10287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{CE7A32CA-C581-4DC1-A799-BD3375EA923A}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4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324000" y="747800"/>
            <a:ext cx="6732000" cy="29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might have heard this called a ‘Fact Family’.</a:t>
            </a:r>
            <a:endParaRPr/>
          </a:p>
        </p:txBody>
      </p:sp>
      <p:sp>
        <p:nvSpPr>
          <p:cNvPr id="814" name="Google Shape;814;p69"/>
          <p:cNvSpPr txBox="1"/>
          <p:nvPr>
            <p:ph idx="1" type="body"/>
          </p:nvPr>
        </p:nvSpPr>
        <p:spPr>
          <a:xfrm>
            <a:off x="3852213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× 3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69"/>
          <p:cNvSpPr txBox="1"/>
          <p:nvPr>
            <p:ph idx="1" type="body"/>
          </p:nvPr>
        </p:nvSpPr>
        <p:spPr>
          <a:xfrm>
            <a:off x="3852213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× 4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5780227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 3 =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69"/>
          <p:cNvSpPr txBox="1"/>
          <p:nvPr>
            <p:ph idx="1" type="body"/>
          </p:nvPr>
        </p:nvSpPr>
        <p:spPr>
          <a:xfrm>
            <a:off x="5780227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 4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69"/>
          <p:cNvSpPr txBox="1"/>
          <p:nvPr>
            <p:ph idx="1" type="body"/>
          </p:nvPr>
        </p:nvSpPr>
        <p:spPr>
          <a:xfrm>
            <a:off x="324000" y="3514019"/>
            <a:ext cx="7077900" cy="6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</a:t>
            </a:r>
            <a:r>
              <a:rPr lang="en-GB"/>
              <a:t>could</a:t>
            </a:r>
            <a:r>
              <a:rPr lang="en-GB"/>
              <a:t> also call it the family of </a:t>
            </a:r>
            <a:r>
              <a:rPr lang="en-GB">
                <a:solidFill>
                  <a:schemeClr val="accent4"/>
                </a:solidFill>
              </a:rPr>
              <a:t>rearrangements</a:t>
            </a:r>
            <a:r>
              <a:rPr lang="en-GB"/>
              <a:t> of the multiplicative relationship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× 3 = 12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graphicFrame>
        <p:nvGraphicFramePr>
          <p:cNvPr id="824" name="Google Shape;824;p70"/>
          <p:cNvGraphicFramePr/>
          <p:nvPr/>
        </p:nvGraphicFramePr>
        <p:xfrm>
          <a:off x="10287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{CE7A32CA-C581-4DC1-A799-BD3375EA923A}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4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324000" y="747800"/>
            <a:ext cx="6732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might have heard this called a ‘Fact Family’.</a:t>
            </a:r>
            <a:endParaRPr/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3852213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× 3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3852213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× 4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5780227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 3 =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70"/>
          <p:cNvSpPr txBox="1"/>
          <p:nvPr>
            <p:ph idx="1" type="body"/>
          </p:nvPr>
        </p:nvSpPr>
        <p:spPr>
          <a:xfrm>
            <a:off x="5780227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 4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324000" y="3502516"/>
            <a:ext cx="7664700" cy="3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algebra you won’t see division facts written like this.</a:t>
            </a:r>
            <a:endParaRPr/>
          </a:p>
        </p:txBody>
      </p:sp>
      <p:grpSp>
        <p:nvGrpSpPr>
          <p:cNvPr id="831" name="Google Shape;831;p70"/>
          <p:cNvGrpSpPr/>
          <p:nvPr/>
        </p:nvGrpSpPr>
        <p:grpSpPr>
          <a:xfrm>
            <a:off x="5666469" y="1493462"/>
            <a:ext cx="1518900" cy="1228587"/>
            <a:chOff x="5666469" y="1493462"/>
            <a:chExt cx="1518900" cy="1228587"/>
          </a:xfrm>
        </p:grpSpPr>
        <p:sp>
          <p:nvSpPr>
            <p:cNvPr id="832" name="Google Shape;832;p70"/>
            <p:cNvSpPr/>
            <p:nvPr/>
          </p:nvSpPr>
          <p:spPr>
            <a:xfrm>
              <a:off x="5666469" y="1493462"/>
              <a:ext cx="1518900" cy="4896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70"/>
            <p:cNvSpPr/>
            <p:nvPr/>
          </p:nvSpPr>
          <p:spPr>
            <a:xfrm>
              <a:off x="5666469" y="2232448"/>
              <a:ext cx="1518900" cy="4896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graphicFrame>
        <p:nvGraphicFramePr>
          <p:cNvPr id="839" name="Google Shape;839;p71"/>
          <p:cNvGraphicFramePr/>
          <p:nvPr/>
        </p:nvGraphicFramePr>
        <p:xfrm>
          <a:off x="10287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{CE7A32CA-C581-4DC1-A799-BD3375EA923A}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4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840" name="Google Shape;840;p71"/>
          <p:cNvSpPr txBox="1"/>
          <p:nvPr>
            <p:ph idx="1" type="body"/>
          </p:nvPr>
        </p:nvSpPr>
        <p:spPr>
          <a:xfrm>
            <a:off x="324000" y="747800"/>
            <a:ext cx="6732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might have heard this called a ‘Fact Family’.</a:t>
            </a:r>
            <a:endParaRPr/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852213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× 3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2" name="Google Shape;842;p71"/>
          <p:cNvSpPr txBox="1"/>
          <p:nvPr>
            <p:ph idx="1" type="body"/>
          </p:nvPr>
        </p:nvSpPr>
        <p:spPr>
          <a:xfrm>
            <a:off x="3852213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× 4 = 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71"/>
          <p:cNvSpPr txBox="1"/>
          <p:nvPr>
            <p:ph idx="1" type="body"/>
          </p:nvPr>
        </p:nvSpPr>
        <p:spPr>
          <a:xfrm>
            <a:off x="324000" y="3502525"/>
            <a:ext cx="7181400" cy="7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algebra y</a:t>
            </a:r>
            <a:r>
              <a:rPr lang="en-GB"/>
              <a:t>ou will see division facts written with a fraction bar. We use this generalisation: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}{3}=4&quot;&gt;&lt;mfrac&gt;&lt;mn&gt;12&lt;/mn&gt;&lt;mn&gt;3&lt;/mn&gt;&lt;/mfrac&gt;&lt;mo&gt;=&lt;/mo&gt;&lt;mn&gt;4&lt;/mn&gt;&lt;/math&gt;" id="844" name="Google Shape;844;p71" title="twelve thirds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8275" y="1412903"/>
            <a:ext cx="854907" cy="600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4}=3&quot;&gt;&lt;mfrac&gt;&lt;mn&gt;12&lt;/mn&gt;&lt;mn&gt;4&lt;/mn&gt;&lt;/mfrac&gt;&lt;mo&gt;=&lt;/mo&gt;&lt;mn&gt;3&lt;/mn&gt;&lt;/math&gt;" id="845" name="Google Shape;845;p71" title="twelve fourths equal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9917" y="2151120"/>
            <a:ext cx="854906" cy="60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div b=\frac{a}{b}&quot;&gt;&lt;mi&gt;a&lt;/mi&gt;&lt;mo&gt;÷&lt;/mo&gt;&lt;mi&gt;b&lt;/mi&gt;&lt;mo&gt;=&lt;/mo&gt;&lt;mfrac&gt;&lt;mi&gt;a&lt;/mi&gt;&lt;mi&gt;b&lt;/mi&gt;&lt;/mfrac&gt;&lt;/math&gt;" id="846" name="Google Shape;846;p71" title="a divided by b equals a over b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3213" y="3962448"/>
            <a:ext cx="1518900" cy="712345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5780227" y="15399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 3 =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5780227" y="2283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÷ 4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49" name="Google Shape;849;p71"/>
          <p:cNvGrpSpPr/>
          <p:nvPr/>
        </p:nvGrpSpPr>
        <p:grpSpPr>
          <a:xfrm>
            <a:off x="5666469" y="1493462"/>
            <a:ext cx="1518900" cy="1228587"/>
            <a:chOff x="5666469" y="1493462"/>
            <a:chExt cx="1518900" cy="1228587"/>
          </a:xfrm>
        </p:grpSpPr>
        <p:sp>
          <p:nvSpPr>
            <p:cNvPr id="850" name="Google Shape;850;p71"/>
            <p:cNvSpPr/>
            <p:nvPr/>
          </p:nvSpPr>
          <p:spPr>
            <a:xfrm>
              <a:off x="5666469" y="1493462"/>
              <a:ext cx="1518900" cy="4896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71"/>
            <p:cNvSpPr/>
            <p:nvPr/>
          </p:nvSpPr>
          <p:spPr>
            <a:xfrm>
              <a:off x="5666469" y="2232448"/>
              <a:ext cx="1518900" cy="4896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2"/>
          <p:cNvSpPr/>
          <p:nvPr/>
        </p:nvSpPr>
        <p:spPr>
          <a:xfrm>
            <a:off x="3553075" y="1786756"/>
            <a:ext cx="3682200" cy="2081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857" name="Google Shape;857;p72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708" y="2014041"/>
            <a:ext cx="87323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5}=2&quot;&gt;&lt;mfrac&gt;&lt;mn&gt;10&lt;/mn&gt;&lt;mn&gt;5&lt;/mn&gt;&lt;/mfrac&gt;&lt;mo&gt;=&lt;/mo&gt;&lt;mn&gt;2&lt;/mn&gt;&lt;/math&gt;" id="858" name="Google Shape;858;p72" title="ten fifths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4688" y="2916935"/>
            <a:ext cx="864280" cy="604544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graphicFrame>
        <p:nvGraphicFramePr>
          <p:cNvPr id="860" name="Google Shape;860;p72"/>
          <p:cNvGraphicFramePr/>
          <p:nvPr/>
        </p:nvGraphicFramePr>
        <p:xfrm>
          <a:off x="72390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{CE7A32CA-C581-4DC1-A799-BD3375EA923A}</a:tableStyleId>
              </a:tblPr>
              <a:tblGrid>
                <a:gridCol w="468175"/>
                <a:gridCol w="468175"/>
                <a:gridCol w="468175"/>
                <a:gridCol w="468175"/>
                <a:gridCol w="468175"/>
              </a:tblGrid>
              <a:tr h="4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861" name="Google Shape;861;p72"/>
          <p:cNvSpPr txBox="1"/>
          <p:nvPr>
            <p:ph idx="1" type="body"/>
          </p:nvPr>
        </p:nvSpPr>
        <p:spPr>
          <a:xfrm>
            <a:off x="324000" y="759300"/>
            <a:ext cx="71352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</a:t>
            </a:r>
            <a:r>
              <a:rPr lang="en-GB"/>
              <a:t> this family of rearrangements for the multiplicative relationship you see here.</a:t>
            </a:r>
            <a:endParaRPr/>
          </a:p>
        </p:txBody>
      </p:sp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3852213" y="21495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2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3852213" y="3045300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5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64" name="Google Shape;864;p72"/>
          <p:cNvGrpSpPr/>
          <p:nvPr/>
        </p:nvGrpSpPr>
        <p:grpSpPr>
          <a:xfrm>
            <a:off x="3830149" y="2167607"/>
            <a:ext cx="1266542" cy="321600"/>
            <a:chOff x="4310363" y="2308500"/>
            <a:chExt cx="1266542" cy="321600"/>
          </a:xfrm>
        </p:grpSpPr>
        <p:sp>
          <p:nvSpPr>
            <p:cNvPr id="865" name="Google Shape;865;p72"/>
            <p:cNvSpPr/>
            <p:nvPr/>
          </p:nvSpPr>
          <p:spPr>
            <a:xfrm>
              <a:off x="4310363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6" name="Google Shape;866;p72"/>
            <p:cNvSpPr/>
            <p:nvPr/>
          </p:nvSpPr>
          <p:spPr>
            <a:xfrm>
              <a:off x="4767563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7" name="Google Shape;867;p72"/>
            <p:cNvSpPr/>
            <p:nvPr/>
          </p:nvSpPr>
          <p:spPr>
            <a:xfrm>
              <a:off x="53105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8" name="Google Shape;868;p72"/>
          <p:cNvGrpSpPr/>
          <p:nvPr/>
        </p:nvGrpSpPr>
        <p:grpSpPr>
          <a:xfrm>
            <a:off x="3830149" y="3058993"/>
            <a:ext cx="1266542" cy="321600"/>
            <a:chOff x="4310363" y="2308500"/>
            <a:chExt cx="1266542" cy="321600"/>
          </a:xfrm>
        </p:grpSpPr>
        <p:sp>
          <p:nvSpPr>
            <p:cNvPr id="869" name="Google Shape;869;p72"/>
            <p:cNvSpPr/>
            <p:nvPr/>
          </p:nvSpPr>
          <p:spPr>
            <a:xfrm>
              <a:off x="4310363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0" name="Google Shape;870;p72"/>
            <p:cNvSpPr/>
            <p:nvPr/>
          </p:nvSpPr>
          <p:spPr>
            <a:xfrm>
              <a:off x="4767563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1" name="Google Shape;871;p72"/>
            <p:cNvSpPr/>
            <p:nvPr/>
          </p:nvSpPr>
          <p:spPr>
            <a:xfrm>
              <a:off x="53105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2" name="Google Shape;872;p72"/>
          <p:cNvGrpSpPr/>
          <p:nvPr/>
        </p:nvGrpSpPr>
        <p:grpSpPr>
          <a:xfrm>
            <a:off x="6060997" y="2876420"/>
            <a:ext cx="841538" cy="725613"/>
            <a:chOff x="5310504" y="2308500"/>
            <a:chExt cx="841538" cy="725613"/>
          </a:xfrm>
        </p:grpSpPr>
        <p:sp>
          <p:nvSpPr>
            <p:cNvPr id="873" name="Google Shape;873;p72"/>
            <p:cNvSpPr/>
            <p:nvPr/>
          </p:nvSpPr>
          <p:spPr>
            <a:xfrm>
              <a:off x="5952242" y="249542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4" name="Google Shape;874;p72"/>
            <p:cNvSpPr/>
            <p:nvPr/>
          </p:nvSpPr>
          <p:spPr>
            <a:xfrm>
              <a:off x="5335483" y="2712513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5" name="Google Shape;875;p72"/>
            <p:cNvSpPr/>
            <p:nvPr/>
          </p:nvSpPr>
          <p:spPr>
            <a:xfrm>
              <a:off x="53105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6" name="Google Shape;876;p72"/>
          <p:cNvGrpSpPr/>
          <p:nvPr/>
        </p:nvGrpSpPr>
        <p:grpSpPr>
          <a:xfrm>
            <a:off x="6060997" y="1973527"/>
            <a:ext cx="841538" cy="725613"/>
            <a:chOff x="5310504" y="2308500"/>
            <a:chExt cx="841538" cy="725613"/>
          </a:xfrm>
        </p:grpSpPr>
        <p:sp>
          <p:nvSpPr>
            <p:cNvPr id="877" name="Google Shape;877;p72"/>
            <p:cNvSpPr/>
            <p:nvPr/>
          </p:nvSpPr>
          <p:spPr>
            <a:xfrm>
              <a:off x="5952242" y="249542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72"/>
            <p:cNvSpPr/>
            <p:nvPr/>
          </p:nvSpPr>
          <p:spPr>
            <a:xfrm>
              <a:off x="5335483" y="2712513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9" name="Google Shape;879;p72"/>
            <p:cNvSpPr/>
            <p:nvPr/>
          </p:nvSpPr>
          <p:spPr>
            <a:xfrm>
              <a:off x="53105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3"/>
          <p:cNvSpPr/>
          <p:nvPr/>
        </p:nvSpPr>
        <p:spPr>
          <a:xfrm>
            <a:off x="489235" y="1241846"/>
            <a:ext cx="36822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3"/>
          <p:cNvSpPr txBox="1"/>
          <p:nvPr>
            <p:ph idx="1" type="body"/>
          </p:nvPr>
        </p:nvSpPr>
        <p:spPr>
          <a:xfrm>
            <a:off x="758187" y="14637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 × 2 = 10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886" name="Google Shape;886;p73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1681" y="1328241"/>
            <a:ext cx="87323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5}=2&quot;&gt;&lt;mfrac&gt;&lt;mn&gt;10&lt;/mn&gt;&lt;mn&gt;5&lt;/mn&gt;&lt;/mfrac&gt;&lt;mo&gt;=&lt;/mo&gt;&lt;mn&gt;2&lt;/mn&gt;&lt;/math&gt;" id="887" name="Google Shape;887;p73" title="ten fifths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0661" y="2097401"/>
            <a:ext cx="864280" cy="604544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324000" y="759300"/>
            <a:ext cx="82377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consider the structure of this family.</a:t>
            </a:r>
            <a:endParaRPr/>
          </a:p>
        </p:txBody>
      </p:sp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758187" y="22257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 × 5 = 10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73"/>
          <p:cNvSpPr txBox="1"/>
          <p:nvPr>
            <p:ph idx="1" type="body"/>
          </p:nvPr>
        </p:nvSpPr>
        <p:spPr>
          <a:xfrm>
            <a:off x="5059898" y="3128662"/>
            <a:ext cx="1868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 × 2 = 10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476400" y="3197700"/>
            <a:ext cx="3131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we multiply two numbers we can say…</a:t>
            </a:r>
            <a:endParaRPr/>
          </a:p>
        </p:txBody>
      </p:sp>
      <p:sp>
        <p:nvSpPr>
          <p:cNvPr id="893" name="Google Shape;893;p73"/>
          <p:cNvSpPr txBox="1"/>
          <p:nvPr>
            <p:ph idx="1" type="body"/>
          </p:nvPr>
        </p:nvSpPr>
        <p:spPr>
          <a:xfrm>
            <a:off x="3852225" y="40359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 </a:t>
            </a:r>
            <a:endParaRPr/>
          </a:p>
        </p:txBody>
      </p:sp>
      <p:sp>
        <p:nvSpPr>
          <p:cNvPr id="894" name="Google Shape;894;p73"/>
          <p:cNvSpPr txBox="1"/>
          <p:nvPr>
            <p:ph idx="1" type="body"/>
          </p:nvPr>
        </p:nvSpPr>
        <p:spPr>
          <a:xfrm>
            <a:off x="5376225" y="40359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</a:t>
            </a:r>
            <a:endParaRPr/>
          </a:p>
        </p:txBody>
      </p:sp>
      <p:sp>
        <p:nvSpPr>
          <p:cNvPr id="895" name="Google Shape;895;p73"/>
          <p:cNvSpPr txBox="1"/>
          <p:nvPr>
            <p:ph idx="1" type="body"/>
          </p:nvPr>
        </p:nvSpPr>
        <p:spPr>
          <a:xfrm>
            <a:off x="6999427" y="4035900"/>
            <a:ext cx="1255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product</a:t>
            </a:r>
            <a:endParaRPr b="1"/>
          </a:p>
        </p:txBody>
      </p:sp>
      <p:sp>
        <p:nvSpPr>
          <p:cNvPr id="896" name="Google Shape;896;p73"/>
          <p:cNvSpPr txBox="1"/>
          <p:nvPr>
            <p:ph idx="1" type="body"/>
          </p:nvPr>
        </p:nvSpPr>
        <p:spPr>
          <a:xfrm>
            <a:off x="6625589" y="40359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7" name="Google Shape;897;p73"/>
          <p:cNvSpPr txBox="1"/>
          <p:nvPr>
            <p:ph idx="1" type="body"/>
          </p:nvPr>
        </p:nvSpPr>
        <p:spPr>
          <a:xfrm>
            <a:off x="5078576" y="40359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98" name="Google Shape;898;p73"/>
          <p:cNvCxnSpPr>
            <a:stCxn id="893" idx="0"/>
          </p:cNvCxnSpPr>
          <p:nvPr/>
        </p:nvCxnSpPr>
        <p:spPr>
          <a:xfrm flipH="1" rot="10800000">
            <a:off x="4418925" y="3576300"/>
            <a:ext cx="608100" cy="459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3"/>
          <p:cNvCxnSpPr>
            <a:stCxn id="894" idx="0"/>
          </p:cNvCxnSpPr>
          <p:nvPr/>
        </p:nvCxnSpPr>
        <p:spPr>
          <a:xfrm rot="10800000">
            <a:off x="5712825" y="3576300"/>
            <a:ext cx="230100" cy="459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73"/>
          <p:cNvCxnSpPr/>
          <p:nvPr/>
        </p:nvCxnSpPr>
        <p:spPr>
          <a:xfrm rot="10800000">
            <a:off x="6525225" y="3576350"/>
            <a:ext cx="669600" cy="471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4"/>
          <p:cNvSpPr/>
          <p:nvPr/>
        </p:nvSpPr>
        <p:spPr>
          <a:xfrm>
            <a:off x="489235" y="1241846"/>
            <a:ext cx="36822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4"/>
          <p:cNvSpPr txBox="1"/>
          <p:nvPr>
            <p:ph idx="1" type="body"/>
          </p:nvPr>
        </p:nvSpPr>
        <p:spPr>
          <a:xfrm>
            <a:off x="758187" y="14637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 × 2 = 10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907" name="Google Shape;907;p74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1681" y="1328241"/>
            <a:ext cx="87323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5}=2&quot;&gt;&lt;mfrac&gt;&lt;mn&gt;10&lt;/mn&gt;&lt;mn&gt;5&lt;/mn&gt;&lt;/mfrac&gt;&lt;mo&gt;=&lt;/mo&gt;&lt;mn&gt;2&lt;/mn&gt;&lt;/math&gt;" id="908" name="Google Shape;908;p74" title="ten fifths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0661" y="2097401"/>
            <a:ext cx="864280" cy="604544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910" name="Google Shape;910;p74"/>
          <p:cNvSpPr txBox="1"/>
          <p:nvPr>
            <p:ph idx="1" type="body"/>
          </p:nvPr>
        </p:nvSpPr>
        <p:spPr>
          <a:xfrm>
            <a:off x="324000" y="759300"/>
            <a:ext cx="82377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consider the structure of this family.</a:t>
            </a:r>
            <a:endParaRPr/>
          </a:p>
        </p:txBody>
      </p:sp>
      <p:sp>
        <p:nvSpPr>
          <p:cNvPr id="911" name="Google Shape;911;p74"/>
          <p:cNvSpPr txBox="1"/>
          <p:nvPr>
            <p:ph idx="1" type="body"/>
          </p:nvPr>
        </p:nvSpPr>
        <p:spPr>
          <a:xfrm>
            <a:off x="758187" y="22257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 × 5 = 10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2" name="Google Shape;912;p74"/>
          <p:cNvSpPr txBox="1"/>
          <p:nvPr>
            <p:ph idx="1" type="body"/>
          </p:nvPr>
        </p:nvSpPr>
        <p:spPr>
          <a:xfrm>
            <a:off x="5059898" y="3128662"/>
            <a:ext cx="1868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 × 2 = 10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3" name="Google Shape;913;p74"/>
          <p:cNvSpPr txBox="1"/>
          <p:nvPr>
            <p:ph idx="1" type="body"/>
          </p:nvPr>
        </p:nvSpPr>
        <p:spPr>
          <a:xfrm>
            <a:off x="476400" y="3197700"/>
            <a:ext cx="31311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we multiply two numbers we can say…</a:t>
            </a:r>
            <a:endParaRPr/>
          </a:p>
        </p:txBody>
      </p:sp>
      <p:sp>
        <p:nvSpPr>
          <p:cNvPr id="914" name="Google Shape;914;p74"/>
          <p:cNvSpPr txBox="1"/>
          <p:nvPr>
            <p:ph idx="1" type="body"/>
          </p:nvPr>
        </p:nvSpPr>
        <p:spPr>
          <a:xfrm>
            <a:off x="3852225" y="40359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1  </a:t>
            </a:r>
            <a:endParaRPr/>
          </a:p>
        </p:txBody>
      </p:sp>
      <p:sp>
        <p:nvSpPr>
          <p:cNvPr id="915" name="Google Shape;915;p74"/>
          <p:cNvSpPr txBox="1"/>
          <p:nvPr>
            <p:ph idx="1" type="body"/>
          </p:nvPr>
        </p:nvSpPr>
        <p:spPr>
          <a:xfrm>
            <a:off x="5376225" y="40359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2 </a:t>
            </a:r>
            <a:endParaRPr/>
          </a:p>
        </p:txBody>
      </p:sp>
      <p:sp>
        <p:nvSpPr>
          <p:cNvPr id="916" name="Google Shape;916;p74"/>
          <p:cNvSpPr txBox="1"/>
          <p:nvPr>
            <p:ph idx="1" type="body"/>
          </p:nvPr>
        </p:nvSpPr>
        <p:spPr>
          <a:xfrm>
            <a:off x="6999609" y="4035900"/>
            <a:ext cx="1134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product</a:t>
            </a:r>
            <a:endParaRPr b="1"/>
          </a:p>
        </p:txBody>
      </p:sp>
      <p:sp>
        <p:nvSpPr>
          <p:cNvPr id="917" name="Google Shape;917;p74"/>
          <p:cNvSpPr txBox="1"/>
          <p:nvPr>
            <p:ph idx="1" type="body"/>
          </p:nvPr>
        </p:nvSpPr>
        <p:spPr>
          <a:xfrm>
            <a:off x="6625589" y="40359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74"/>
          <p:cNvSpPr txBox="1"/>
          <p:nvPr>
            <p:ph idx="1" type="body"/>
          </p:nvPr>
        </p:nvSpPr>
        <p:spPr>
          <a:xfrm>
            <a:off x="5078576" y="40359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19" name="Google Shape;919;p74"/>
          <p:cNvCxnSpPr>
            <a:stCxn id="914" idx="0"/>
          </p:cNvCxnSpPr>
          <p:nvPr/>
        </p:nvCxnSpPr>
        <p:spPr>
          <a:xfrm flipH="1" rot="10800000">
            <a:off x="4418925" y="3576300"/>
            <a:ext cx="608100" cy="459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0" name="Google Shape;920;p74"/>
          <p:cNvCxnSpPr>
            <a:stCxn id="915" idx="0"/>
          </p:cNvCxnSpPr>
          <p:nvPr/>
        </p:nvCxnSpPr>
        <p:spPr>
          <a:xfrm rot="10800000">
            <a:off x="5712825" y="3576300"/>
            <a:ext cx="230100" cy="459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1" name="Google Shape;921;p74"/>
          <p:cNvCxnSpPr/>
          <p:nvPr/>
        </p:nvCxnSpPr>
        <p:spPr>
          <a:xfrm rot="10800000">
            <a:off x="6525225" y="3576350"/>
            <a:ext cx="669600" cy="471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2" name="Google Shape;922;p74"/>
          <p:cNvSpPr txBox="1"/>
          <p:nvPr>
            <p:ph idx="1" type="body"/>
          </p:nvPr>
        </p:nvSpPr>
        <p:spPr>
          <a:xfrm>
            <a:off x="5025387" y="1216500"/>
            <a:ext cx="1134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product</a:t>
            </a:r>
            <a:endParaRPr b="1"/>
          </a:p>
        </p:txBody>
      </p:sp>
      <p:sp>
        <p:nvSpPr>
          <p:cNvPr id="923" name="Google Shape;923;p74"/>
          <p:cNvSpPr txBox="1"/>
          <p:nvPr>
            <p:ph idx="1" type="body"/>
          </p:nvPr>
        </p:nvSpPr>
        <p:spPr>
          <a:xfrm>
            <a:off x="5029745" y="1609007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2 </a:t>
            </a:r>
            <a:endParaRPr/>
          </a:p>
        </p:txBody>
      </p:sp>
      <p:sp>
        <p:nvSpPr>
          <p:cNvPr id="924" name="Google Shape;924;p74"/>
          <p:cNvSpPr txBox="1"/>
          <p:nvPr>
            <p:ph idx="1" type="body"/>
          </p:nvPr>
        </p:nvSpPr>
        <p:spPr>
          <a:xfrm>
            <a:off x="6473189" y="1380407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74"/>
          <p:cNvSpPr txBox="1"/>
          <p:nvPr>
            <p:ph idx="1" type="body"/>
          </p:nvPr>
        </p:nvSpPr>
        <p:spPr>
          <a:xfrm>
            <a:off x="6808172" y="141058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1  </a:t>
            </a:r>
            <a:endParaRPr/>
          </a:p>
        </p:txBody>
      </p:sp>
      <p:cxnSp>
        <p:nvCxnSpPr>
          <p:cNvPr id="926" name="Google Shape;926;p74"/>
          <p:cNvCxnSpPr/>
          <p:nvPr/>
        </p:nvCxnSpPr>
        <p:spPr>
          <a:xfrm flipH="1" rot="10800000">
            <a:off x="4978113" y="1584913"/>
            <a:ext cx="1238700" cy="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74"/>
          <p:cNvSpPr/>
          <p:nvPr/>
        </p:nvSpPr>
        <p:spPr>
          <a:xfrm>
            <a:off x="2671662" y="1195804"/>
            <a:ext cx="1238700" cy="867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2671662" y="1969311"/>
            <a:ext cx="1238700" cy="8670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4"/>
          <p:cNvSpPr txBox="1"/>
          <p:nvPr>
            <p:ph idx="1" type="body"/>
          </p:nvPr>
        </p:nvSpPr>
        <p:spPr>
          <a:xfrm>
            <a:off x="5025387" y="2153913"/>
            <a:ext cx="1134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product</a:t>
            </a:r>
            <a:endParaRPr b="1"/>
          </a:p>
        </p:txBody>
      </p:sp>
      <p:sp>
        <p:nvSpPr>
          <p:cNvPr id="930" name="Google Shape;930;p74"/>
          <p:cNvSpPr txBox="1"/>
          <p:nvPr>
            <p:ph idx="1" type="body"/>
          </p:nvPr>
        </p:nvSpPr>
        <p:spPr>
          <a:xfrm>
            <a:off x="5029745" y="254642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1 </a:t>
            </a:r>
            <a:endParaRPr/>
          </a:p>
        </p:txBody>
      </p:sp>
      <p:sp>
        <p:nvSpPr>
          <p:cNvPr id="931" name="Google Shape;931;p74"/>
          <p:cNvSpPr txBox="1"/>
          <p:nvPr>
            <p:ph idx="1" type="body"/>
          </p:nvPr>
        </p:nvSpPr>
        <p:spPr>
          <a:xfrm>
            <a:off x="6473189" y="231782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74"/>
          <p:cNvSpPr txBox="1"/>
          <p:nvPr>
            <p:ph idx="1" type="body"/>
          </p:nvPr>
        </p:nvSpPr>
        <p:spPr>
          <a:xfrm>
            <a:off x="6808172" y="2347993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2  </a:t>
            </a:r>
            <a:endParaRPr/>
          </a:p>
        </p:txBody>
      </p:sp>
      <p:cxnSp>
        <p:nvCxnSpPr>
          <p:cNvPr id="933" name="Google Shape;933;p74"/>
          <p:cNvCxnSpPr/>
          <p:nvPr/>
        </p:nvCxnSpPr>
        <p:spPr>
          <a:xfrm flipH="1" rot="10800000">
            <a:off x="4978113" y="2522326"/>
            <a:ext cx="1238700" cy="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5"/>
          <p:cNvSpPr txBox="1"/>
          <p:nvPr>
            <p:ph idx="1" type="body"/>
          </p:nvPr>
        </p:nvSpPr>
        <p:spPr>
          <a:xfrm>
            <a:off x="324000" y="3121500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>
                <a:solidFill>
                  <a:schemeClr val="accent4"/>
                </a:solidFill>
              </a:rPr>
              <a:t>generalisation</a:t>
            </a:r>
            <a:r>
              <a:rPr lang="en-GB"/>
              <a:t> for rearranging multiplicative relationships.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c}{b}=a&quot;&gt;&lt;mfrac&gt;&lt;mi&gt;c&lt;/mi&gt;&lt;mi&gt;b&lt;/mi&gt;&lt;/mfrac&gt;&lt;mo&gt;=&lt;/mo&gt;&lt;mi&gt;a&lt;/mi&gt;&lt;/math&gt;" id="939" name="Google Shape;939;p75" title="c over b equals 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176" y="1368161"/>
            <a:ext cx="8112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c}{a}=b&quot;&gt;&lt;mfrac&gt;&lt;mi&gt;c&lt;/mi&gt;&lt;mi&gt;a&lt;/mi&gt;&lt;/mfrac&gt;&lt;mo&gt;=&lt;/mo&gt;&lt;mi&gt;b&lt;/mi&gt;&lt;/math&gt;" id="940" name="Google Shape;940;p75" title="c over a equals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0142" y="2130161"/>
            <a:ext cx="816312" cy="60843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5"/>
          <p:cNvSpPr/>
          <p:nvPr/>
        </p:nvSpPr>
        <p:spPr>
          <a:xfrm>
            <a:off x="489235" y="1241846"/>
            <a:ext cx="36822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5"/>
          <p:cNvSpPr txBox="1"/>
          <p:nvPr>
            <p:ph idx="1" type="body"/>
          </p:nvPr>
        </p:nvSpPr>
        <p:spPr>
          <a:xfrm>
            <a:off x="758187" y="14637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944" name="Google Shape;944;p75"/>
          <p:cNvSpPr txBox="1"/>
          <p:nvPr>
            <p:ph idx="1" type="body"/>
          </p:nvPr>
        </p:nvSpPr>
        <p:spPr>
          <a:xfrm>
            <a:off x="324000" y="759300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This allows us to </a:t>
            </a:r>
            <a:r>
              <a:rPr lang="en-GB">
                <a:solidFill>
                  <a:schemeClr val="accent4"/>
                </a:solidFill>
              </a:rPr>
              <a:t>generalise</a:t>
            </a:r>
            <a:r>
              <a:rPr lang="en-GB"/>
              <a:t> a rule.</a:t>
            </a:r>
            <a:endParaRPr/>
          </a:p>
        </p:txBody>
      </p:sp>
      <p:sp>
        <p:nvSpPr>
          <p:cNvPr id="945" name="Google Shape;945;p75"/>
          <p:cNvSpPr txBox="1"/>
          <p:nvPr>
            <p:ph idx="1" type="body"/>
          </p:nvPr>
        </p:nvSpPr>
        <p:spPr>
          <a:xfrm>
            <a:off x="758187" y="2225766"/>
            <a:ext cx="1459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75"/>
          <p:cNvSpPr txBox="1"/>
          <p:nvPr>
            <p:ph idx="1" type="body"/>
          </p:nvPr>
        </p:nvSpPr>
        <p:spPr>
          <a:xfrm>
            <a:off x="324000" y="3654900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,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</a:t>
            </a:r>
            <a:r>
              <a:rPr lang="en-GB"/>
              <a:t>can take the form of any term be it a number or an algebraic variable.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952" name="Google Shape;952;p76"/>
          <p:cNvSpPr txBox="1"/>
          <p:nvPr>
            <p:ph idx="1" type="body"/>
          </p:nvPr>
        </p:nvSpPr>
        <p:spPr>
          <a:xfrm>
            <a:off x="324000" y="759300"/>
            <a:ext cx="61689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family of rearrangements for this multiplicative relationship.</a:t>
            </a:r>
            <a:endParaRPr/>
          </a:p>
        </p:txBody>
      </p:sp>
      <p:sp>
        <p:nvSpPr>
          <p:cNvPr id="953" name="Google Shape;953;p76"/>
          <p:cNvSpPr txBox="1"/>
          <p:nvPr/>
        </p:nvSpPr>
        <p:spPr>
          <a:xfrm>
            <a:off x="2903750" y="1659925"/>
            <a:ext cx="3696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ircumference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6"/>
          <p:cNvSpPr/>
          <p:nvPr/>
        </p:nvSpPr>
        <p:spPr>
          <a:xfrm>
            <a:off x="522520" y="1757911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5" name="Google Shape;955;p76"/>
          <p:cNvCxnSpPr/>
          <p:nvPr/>
        </p:nvCxnSpPr>
        <p:spPr>
          <a:xfrm>
            <a:off x="565681" y="2460139"/>
            <a:ext cx="1807800" cy="49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6" name="Google Shape;956;p76"/>
          <p:cNvSpPr/>
          <p:nvPr/>
        </p:nvSpPr>
        <p:spPr>
          <a:xfrm>
            <a:off x="1446323" y="2681780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6"/>
          <p:cNvSpPr txBox="1"/>
          <p:nvPr/>
        </p:nvSpPr>
        <p:spPr>
          <a:xfrm>
            <a:off x="1412258" y="2316517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8" name="Google Shape;958;p76"/>
          <p:cNvSpPr txBox="1"/>
          <p:nvPr/>
        </p:nvSpPr>
        <p:spPr>
          <a:xfrm>
            <a:off x="2210807" y="18223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d}=\pi&quot;&gt;&lt;mfrac&gt;&lt;mi&gt;C&lt;/mi&gt;&lt;mi&gt;d&lt;/mi&gt;&lt;/mfrac&gt;&lt;mo&gt;=&lt;/mo&gt;&lt;mi&gt;π&lt;/mi&gt;&lt;/math&gt;" id="959" name="Google Shape;959;p76" title="C over d equals pi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4099" y="2460678"/>
            <a:ext cx="795775" cy="588348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6"/>
          <p:cNvSpPr/>
          <p:nvPr/>
        </p:nvSpPr>
        <p:spPr>
          <a:xfrm>
            <a:off x="3400675" y="2243950"/>
            <a:ext cx="3529500" cy="1909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6"/>
          <p:cNvSpPr txBox="1"/>
          <p:nvPr/>
        </p:nvSpPr>
        <p:spPr>
          <a:xfrm>
            <a:off x="3717323" y="3266850"/>
            <a:ext cx="1359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62" name="Google Shape;962;p76"/>
          <p:cNvGrpSpPr/>
          <p:nvPr/>
        </p:nvGrpSpPr>
        <p:grpSpPr>
          <a:xfrm>
            <a:off x="5539104" y="2389047"/>
            <a:ext cx="853045" cy="760134"/>
            <a:chOff x="5310504" y="2308500"/>
            <a:chExt cx="853045" cy="760134"/>
          </a:xfrm>
        </p:grpSpPr>
        <p:sp>
          <p:nvSpPr>
            <p:cNvPr id="963" name="Google Shape;963;p76"/>
            <p:cNvSpPr/>
            <p:nvPr/>
          </p:nvSpPr>
          <p:spPr>
            <a:xfrm>
              <a:off x="5963749" y="2518434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6"/>
            <p:cNvSpPr/>
            <p:nvPr/>
          </p:nvSpPr>
          <p:spPr>
            <a:xfrm>
              <a:off x="5346989" y="2747034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6"/>
            <p:cNvSpPr/>
            <p:nvPr/>
          </p:nvSpPr>
          <p:spPr>
            <a:xfrm>
              <a:off x="53105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6" name="Google Shape;966;p76"/>
          <p:cNvSpPr txBox="1"/>
          <p:nvPr/>
        </p:nvSpPr>
        <p:spPr>
          <a:xfrm>
            <a:off x="3717323" y="2428650"/>
            <a:ext cx="1359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\pi}=d&quot;&gt;&lt;mfrac&gt;&lt;mi&gt;C&lt;/mi&gt;&lt;mi&gt;π&lt;/mi&gt;&lt;/mfrac&gt;&lt;mo&gt;=&lt;/mo&gt;&lt;mi&gt;d&lt;/mi&gt;&lt;/math&gt;" id="967" name="Google Shape;967;p76" title="C over pi equals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415" y="3276773"/>
            <a:ext cx="795782" cy="5979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8" name="Google Shape;968;p76"/>
          <p:cNvGrpSpPr/>
          <p:nvPr/>
        </p:nvGrpSpPr>
        <p:grpSpPr>
          <a:xfrm>
            <a:off x="3687291" y="3299100"/>
            <a:ext cx="1238392" cy="321600"/>
            <a:chOff x="3751984" y="2308500"/>
            <a:chExt cx="1238392" cy="321600"/>
          </a:xfrm>
        </p:grpSpPr>
        <p:sp>
          <p:nvSpPr>
            <p:cNvPr id="969" name="Google Shape;969;p76"/>
            <p:cNvSpPr/>
            <p:nvPr/>
          </p:nvSpPr>
          <p:spPr>
            <a:xfrm>
              <a:off x="4310363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0" name="Google Shape;970;p76"/>
            <p:cNvSpPr/>
            <p:nvPr/>
          </p:nvSpPr>
          <p:spPr>
            <a:xfrm>
              <a:off x="4790576" y="2308500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1" name="Google Shape;971;p76"/>
            <p:cNvSpPr/>
            <p:nvPr/>
          </p:nvSpPr>
          <p:spPr>
            <a:xfrm>
              <a:off x="375198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76"/>
          <p:cNvGrpSpPr/>
          <p:nvPr/>
        </p:nvGrpSpPr>
        <p:grpSpPr>
          <a:xfrm>
            <a:off x="5539104" y="3227247"/>
            <a:ext cx="853045" cy="760134"/>
            <a:chOff x="5310504" y="2308500"/>
            <a:chExt cx="853045" cy="760134"/>
          </a:xfrm>
        </p:grpSpPr>
        <p:sp>
          <p:nvSpPr>
            <p:cNvPr id="973" name="Google Shape;973;p76"/>
            <p:cNvSpPr/>
            <p:nvPr/>
          </p:nvSpPr>
          <p:spPr>
            <a:xfrm>
              <a:off x="5963749" y="2518434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76"/>
            <p:cNvSpPr/>
            <p:nvPr/>
          </p:nvSpPr>
          <p:spPr>
            <a:xfrm>
              <a:off x="5346989" y="2747034"/>
              <a:ext cx="1998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5" name="Google Shape;975;p76"/>
            <p:cNvSpPr/>
            <p:nvPr/>
          </p:nvSpPr>
          <p:spPr>
            <a:xfrm>
              <a:off x="5310504" y="2308500"/>
              <a:ext cx="266400" cy="321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6" name="Google Shape;976;p76"/>
          <p:cNvSpPr txBox="1"/>
          <p:nvPr/>
        </p:nvSpPr>
        <p:spPr>
          <a:xfrm flipH="1">
            <a:off x="1444686" y="4188618"/>
            <a:ext cx="6954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Notice that in both ‘division’ rearrangements that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the numerator, was the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product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the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multiplicative relationship.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77" name="Google Shape;977;p76"/>
          <p:cNvGrpSpPr/>
          <p:nvPr/>
        </p:nvGrpSpPr>
        <p:grpSpPr>
          <a:xfrm>
            <a:off x="5411377" y="2336670"/>
            <a:ext cx="517879" cy="1278426"/>
            <a:chOff x="5380363" y="2313012"/>
            <a:chExt cx="571800" cy="1399481"/>
          </a:xfrm>
        </p:grpSpPr>
        <p:sp>
          <p:nvSpPr>
            <p:cNvPr id="978" name="Google Shape;978;p76"/>
            <p:cNvSpPr/>
            <p:nvPr/>
          </p:nvSpPr>
          <p:spPr>
            <a:xfrm>
              <a:off x="5380363" y="2313012"/>
              <a:ext cx="571800" cy="4983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9" name="Google Shape;979;p76"/>
            <p:cNvSpPr/>
            <p:nvPr/>
          </p:nvSpPr>
          <p:spPr>
            <a:xfrm>
              <a:off x="5380363" y="3214193"/>
              <a:ext cx="571800" cy="4983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985" name="Google Shape;985;p77"/>
          <p:cNvSpPr txBox="1"/>
          <p:nvPr>
            <p:ph idx="1" type="body"/>
          </p:nvPr>
        </p:nvSpPr>
        <p:spPr>
          <a:xfrm>
            <a:off x="324000" y="759300"/>
            <a:ext cx="7135200" cy="7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we will need to consider the product of two terms as a term when rearranging.</a:t>
            </a:r>
            <a:endParaRPr/>
          </a:p>
        </p:txBody>
      </p:sp>
      <p:sp>
        <p:nvSpPr>
          <p:cNvPr id="986" name="Google Shape;986;p77"/>
          <p:cNvSpPr txBox="1"/>
          <p:nvPr/>
        </p:nvSpPr>
        <p:spPr>
          <a:xfrm>
            <a:off x="2903750" y="1549205"/>
            <a:ext cx="4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ircumference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× π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radius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7"/>
          <p:cNvSpPr/>
          <p:nvPr/>
        </p:nvSpPr>
        <p:spPr>
          <a:xfrm>
            <a:off x="522520" y="1757911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8" name="Google Shape;988;p77"/>
          <p:cNvCxnSpPr/>
          <p:nvPr/>
        </p:nvCxnSpPr>
        <p:spPr>
          <a:xfrm>
            <a:off x="565658" y="2460217"/>
            <a:ext cx="846300" cy="23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9" name="Google Shape;989;p77"/>
          <p:cNvSpPr/>
          <p:nvPr/>
        </p:nvSpPr>
        <p:spPr>
          <a:xfrm>
            <a:off x="1446323" y="2681780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7"/>
          <p:cNvSpPr txBox="1"/>
          <p:nvPr/>
        </p:nvSpPr>
        <p:spPr>
          <a:xfrm>
            <a:off x="955050" y="2262825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77"/>
          <p:cNvSpPr txBox="1"/>
          <p:nvPr/>
        </p:nvSpPr>
        <p:spPr>
          <a:xfrm>
            <a:off x="2210807" y="18223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77"/>
          <p:cNvSpPr txBox="1"/>
          <p:nvPr/>
        </p:nvSpPr>
        <p:spPr>
          <a:xfrm>
            <a:off x="3656978" y="1982957"/>
            <a:ext cx="11214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7"/>
          <p:cNvSpPr txBox="1"/>
          <p:nvPr/>
        </p:nvSpPr>
        <p:spPr>
          <a:xfrm>
            <a:off x="3192619" y="2440157"/>
            <a:ext cx="1987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77"/>
          <p:cNvSpPr txBox="1"/>
          <p:nvPr/>
        </p:nvSpPr>
        <p:spPr>
          <a:xfrm>
            <a:off x="3188272" y="2897357"/>
            <a:ext cx="1435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77"/>
          <p:cNvSpPr txBox="1"/>
          <p:nvPr/>
        </p:nvSpPr>
        <p:spPr>
          <a:xfrm>
            <a:off x="2719565" y="3354557"/>
            <a:ext cx="2260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6" name="Google Shape;996;p77"/>
          <p:cNvSpPr txBox="1"/>
          <p:nvPr/>
        </p:nvSpPr>
        <p:spPr>
          <a:xfrm>
            <a:off x="2719570" y="3811757"/>
            <a:ext cx="1727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 ÷ 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id="997" name="Google Shape;997;p77" title="C over 2 pi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5225" y="4268950"/>
            <a:ext cx="778700" cy="5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1003" name="Google Shape;1003;p78"/>
          <p:cNvSpPr txBox="1"/>
          <p:nvPr>
            <p:ph idx="1" type="body"/>
          </p:nvPr>
        </p:nvSpPr>
        <p:spPr>
          <a:xfrm>
            <a:off x="324000" y="759300"/>
            <a:ext cx="7135200" cy="7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we will need to consider the product of two terms as a term when rearranging.</a:t>
            </a:r>
            <a:endParaRPr/>
          </a:p>
        </p:txBody>
      </p:sp>
      <p:sp>
        <p:nvSpPr>
          <p:cNvPr id="1004" name="Google Shape;1004;p78"/>
          <p:cNvSpPr txBox="1"/>
          <p:nvPr/>
        </p:nvSpPr>
        <p:spPr>
          <a:xfrm>
            <a:off x="2903750" y="1549205"/>
            <a:ext cx="4026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ircumference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× π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radius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8"/>
          <p:cNvSpPr/>
          <p:nvPr/>
        </p:nvSpPr>
        <p:spPr>
          <a:xfrm>
            <a:off x="522520" y="1757911"/>
            <a:ext cx="1909500" cy="1909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6" name="Google Shape;1006;p78"/>
          <p:cNvCxnSpPr/>
          <p:nvPr/>
        </p:nvCxnSpPr>
        <p:spPr>
          <a:xfrm>
            <a:off x="565658" y="2460217"/>
            <a:ext cx="846300" cy="23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07" name="Google Shape;1007;p78"/>
          <p:cNvSpPr/>
          <p:nvPr/>
        </p:nvSpPr>
        <p:spPr>
          <a:xfrm>
            <a:off x="1446323" y="2681780"/>
            <a:ext cx="61200" cy="612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8"/>
          <p:cNvSpPr txBox="1"/>
          <p:nvPr/>
        </p:nvSpPr>
        <p:spPr>
          <a:xfrm>
            <a:off x="955050" y="2262825"/>
            <a:ext cx="1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9" name="Google Shape;1009;p78"/>
          <p:cNvSpPr txBox="1"/>
          <p:nvPr/>
        </p:nvSpPr>
        <p:spPr>
          <a:xfrm>
            <a:off x="2210807" y="1822350"/>
            <a:ext cx="381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78"/>
          <p:cNvSpPr txBox="1"/>
          <p:nvPr/>
        </p:nvSpPr>
        <p:spPr>
          <a:xfrm>
            <a:off x="3656978" y="1982957"/>
            <a:ext cx="11214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78"/>
          <p:cNvSpPr txBox="1"/>
          <p:nvPr/>
        </p:nvSpPr>
        <p:spPr>
          <a:xfrm>
            <a:off x="3192619" y="2440157"/>
            <a:ext cx="1987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2" name="Google Shape;1012;p78"/>
          <p:cNvSpPr txBox="1"/>
          <p:nvPr/>
        </p:nvSpPr>
        <p:spPr>
          <a:xfrm>
            <a:off x="3188272" y="2897357"/>
            <a:ext cx="1435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78"/>
          <p:cNvSpPr txBox="1"/>
          <p:nvPr/>
        </p:nvSpPr>
        <p:spPr>
          <a:xfrm>
            <a:off x="2719565" y="3354557"/>
            <a:ext cx="2260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4" name="Google Shape;1014;p78"/>
          <p:cNvSpPr txBox="1"/>
          <p:nvPr/>
        </p:nvSpPr>
        <p:spPr>
          <a:xfrm>
            <a:off x="2719570" y="3811757"/>
            <a:ext cx="1727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π ÷ 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id="1015" name="Google Shape;1015;p78" title="C over 2 pi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5225" y="4268950"/>
            <a:ext cx="778700" cy="54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78"/>
          <p:cNvSpPr txBox="1"/>
          <p:nvPr/>
        </p:nvSpPr>
        <p:spPr>
          <a:xfrm>
            <a:off x="6247762" y="1982950"/>
            <a:ext cx="1775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p78"/>
          <p:cNvSpPr txBox="1"/>
          <p:nvPr/>
        </p:nvSpPr>
        <p:spPr>
          <a:xfrm>
            <a:off x="6247767" y="2440150"/>
            <a:ext cx="1510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78"/>
          <p:cNvSpPr txBox="1"/>
          <p:nvPr/>
        </p:nvSpPr>
        <p:spPr>
          <a:xfrm>
            <a:off x="5626662" y="2897350"/>
            <a:ext cx="2560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2π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2π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78"/>
          <p:cNvSpPr txBox="1"/>
          <p:nvPr/>
        </p:nvSpPr>
        <p:spPr>
          <a:xfrm>
            <a:off x="5626662" y="3354550"/>
            <a:ext cx="1510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2π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id="1020" name="Google Shape;1020;p78" title="C over 2 pi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025" y="3811750"/>
            <a:ext cx="778700" cy="54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78"/>
          <p:cNvSpPr txBox="1"/>
          <p:nvPr/>
        </p:nvSpPr>
        <p:spPr>
          <a:xfrm>
            <a:off x="5200275" y="4465625"/>
            <a:ext cx="332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more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efficient.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1027" name="Google Shape;1027;p79"/>
          <p:cNvSpPr/>
          <p:nvPr/>
        </p:nvSpPr>
        <p:spPr>
          <a:xfrm>
            <a:off x="7045551" y="1141142"/>
            <a:ext cx="1570500" cy="1570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8" name="Google Shape;1028;p79"/>
          <p:cNvCxnSpPr/>
          <p:nvPr/>
        </p:nvCxnSpPr>
        <p:spPr>
          <a:xfrm>
            <a:off x="7081034" y="1718813"/>
            <a:ext cx="696000" cy="191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9" name="Google Shape;1029;p79"/>
          <p:cNvSpPr/>
          <p:nvPr/>
        </p:nvSpPr>
        <p:spPr>
          <a:xfrm>
            <a:off x="7805405" y="1901056"/>
            <a:ext cx="50400" cy="504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9"/>
          <p:cNvSpPr txBox="1"/>
          <p:nvPr/>
        </p:nvSpPr>
        <p:spPr>
          <a:xfrm>
            <a:off x="7401319" y="1556451"/>
            <a:ext cx="139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79"/>
          <p:cNvSpPr txBox="1"/>
          <p:nvPr/>
        </p:nvSpPr>
        <p:spPr>
          <a:xfrm>
            <a:off x="8457229" y="1171132"/>
            <a:ext cx="3135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79"/>
          <p:cNvSpPr txBox="1"/>
          <p:nvPr/>
        </p:nvSpPr>
        <p:spPr>
          <a:xfrm>
            <a:off x="5698525" y="1590450"/>
            <a:ext cx="11214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id="1033" name="Google Shape;1033;p79" title="C over 2 pi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3526" y="2401274"/>
            <a:ext cx="887175" cy="621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C}{2r}=\pi&quot;&gt;&lt;mfrac&gt;&lt;mi&gt;C&lt;/mi&gt;&lt;mrow&gt;&lt;mn&gt;2&lt;/mn&gt;&lt;mi&gt;r&lt;/mi&gt;&lt;/mrow&gt;&lt;/mfrac&gt;&lt;mo&gt;=&lt;/mo&gt;&lt;mi&gt;π&lt;/mi&gt;&lt;/math&gt;" id="1034" name="Google Shape;1034;p79" title="C over 2 r equals p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825" y="2686751"/>
            <a:ext cx="88717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r}{2\pi}=C&quot;&gt;&lt;mfrac&gt;&lt;mi&gt;r&lt;/mi&gt;&lt;mrow&gt;&lt;mn&gt;2&lt;/mn&gt;&lt;mi&gt;π&lt;/mi&gt;&lt;/mrow&gt;&lt;/mfrac&gt;&lt;mo&gt;=&lt;/mo&gt;&lt;mi&gt;C&lt;/mi&gt;&lt;/math&gt;" id="1035" name="Google Shape;1035;p79" title="r over 2 pi equals C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846" y="1769466"/>
            <a:ext cx="960452" cy="543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C}=\pi r&quot;&gt;&lt;mfrac&gt;&lt;mn&gt;2&lt;/mn&gt;&lt;mi&gt;C&lt;/mi&gt;&lt;/mfrac&gt;&lt;mo&gt;=&lt;/mo&gt;&lt;mi&gt;π&lt;/mi&gt;&lt;mi&gt;r&lt;/mi&gt;&lt;/math&gt;" id="1036" name="Google Shape;1036;p79" title="2 over C equals pi 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00" y="3667507"/>
            <a:ext cx="946988" cy="6193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7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other rearrangement belongs in this family?</a:t>
            </a:r>
            <a:endParaRPr/>
          </a:p>
        </p:txBody>
      </p:sp>
      <p:pic>
        <p:nvPicPr>
          <p:cNvPr id="1038" name="Google Shape;1038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12983" y="2843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9764" y="18528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9764" y="3780830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79"/>
          <p:cNvSpPr txBox="1"/>
          <p:nvPr/>
        </p:nvSpPr>
        <p:spPr>
          <a:xfrm>
            <a:off x="3352162" y="2211550"/>
            <a:ext cx="1775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79"/>
          <p:cNvSpPr txBox="1"/>
          <p:nvPr/>
        </p:nvSpPr>
        <p:spPr>
          <a:xfrm>
            <a:off x="3352167" y="2645737"/>
            <a:ext cx="1510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79"/>
          <p:cNvSpPr txBox="1"/>
          <p:nvPr/>
        </p:nvSpPr>
        <p:spPr>
          <a:xfrm>
            <a:off x="2754075" y="3079923"/>
            <a:ext cx="2560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</a:t>
            </a:r>
            <a:r>
              <a:rPr i="1"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</a:t>
            </a:r>
            <a:r>
              <a:rPr i="1"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79"/>
          <p:cNvSpPr txBox="1"/>
          <p:nvPr/>
        </p:nvSpPr>
        <p:spPr>
          <a:xfrm>
            <a:off x="2754075" y="3537123"/>
            <a:ext cx="1510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45" name="Google Shape;1045;p79"/>
          <p:cNvGrpSpPr/>
          <p:nvPr/>
        </p:nvGrpSpPr>
        <p:grpSpPr>
          <a:xfrm>
            <a:off x="850037" y="2335132"/>
            <a:ext cx="5821607" cy="1066220"/>
            <a:chOff x="850037" y="2335132"/>
            <a:chExt cx="5821607" cy="1066220"/>
          </a:xfrm>
        </p:grpSpPr>
        <p:sp>
          <p:nvSpPr>
            <p:cNvPr id="1046" name="Google Shape;1046;p79"/>
            <p:cNvSpPr/>
            <p:nvPr/>
          </p:nvSpPr>
          <p:spPr>
            <a:xfrm>
              <a:off x="5509743" y="2335132"/>
              <a:ext cx="1161900" cy="8031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9"/>
            <p:cNvSpPr/>
            <p:nvPr/>
          </p:nvSpPr>
          <p:spPr>
            <a:xfrm>
              <a:off x="850037" y="2598252"/>
              <a:ext cx="1161900" cy="803100"/>
            </a:xfrm>
            <a:prstGeom prst="ellipse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8" name="Google Shape;1048;p79"/>
          <p:cNvSpPr txBox="1"/>
          <p:nvPr/>
        </p:nvSpPr>
        <p:spPr>
          <a:xfrm flipH="1">
            <a:off x="4569899" y="3784600"/>
            <a:ext cx="4250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Note in both correct rearrangements that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numerator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was the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product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the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multiplicative relationship.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0"/>
          <p:cNvSpPr txBox="1"/>
          <p:nvPr>
            <p:ph idx="1" type="body"/>
          </p:nvPr>
        </p:nvSpPr>
        <p:spPr>
          <a:xfrm>
            <a:off x="324000" y="7593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Write the family of rearrangements for the below equations.</a:t>
            </a:r>
            <a:endParaRPr/>
          </a:p>
        </p:txBody>
      </p:sp>
      <p:sp>
        <p:nvSpPr>
          <p:cNvPr id="1054" name="Google Shape;1054;p80"/>
          <p:cNvSpPr txBox="1"/>
          <p:nvPr>
            <p:ph type="title"/>
          </p:nvPr>
        </p:nvSpPr>
        <p:spPr>
          <a:xfrm>
            <a:off x="1479300" y="39650"/>
            <a:ext cx="5071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1055" name="Google Shape;1055;p80"/>
          <p:cNvSpPr/>
          <p:nvPr/>
        </p:nvSpPr>
        <p:spPr>
          <a:xfrm>
            <a:off x="641288" y="1394250"/>
            <a:ext cx="3389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0"/>
          <p:cNvSpPr txBox="1"/>
          <p:nvPr>
            <p:ph idx="4294967295" type="body"/>
          </p:nvPr>
        </p:nvSpPr>
        <p:spPr>
          <a:xfrm>
            <a:off x="834374" y="1539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7 = 84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7" name="Google Shape;1057;p80"/>
          <p:cNvSpPr txBox="1"/>
          <p:nvPr>
            <p:ph idx="4294967295" type="body"/>
          </p:nvPr>
        </p:nvSpPr>
        <p:spPr>
          <a:xfrm>
            <a:off x="834373" y="2301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12 = 84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8" name="Google Shape;1058;p80"/>
          <p:cNvSpPr/>
          <p:nvPr/>
        </p:nvSpPr>
        <p:spPr>
          <a:xfrm>
            <a:off x="637275" y="3211552"/>
            <a:ext cx="3389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0"/>
          <p:cNvSpPr txBox="1"/>
          <p:nvPr>
            <p:ph idx="4294967295" type="body"/>
          </p:nvPr>
        </p:nvSpPr>
        <p:spPr>
          <a:xfrm>
            <a:off x="8343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/>
          </a:p>
        </p:txBody>
      </p:sp>
      <p:sp>
        <p:nvSpPr>
          <p:cNvPr id="1060" name="Google Shape;1060;p80"/>
          <p:cNvSpPr txBox="1"/>
          <p:nvPr>
            <p:ph idx="4294967295" type="body"/>
          </p:nvPr>
        </p:nvSpPr>
        <p:spPr>
          <a:xfrm>
            <a:off x="8343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× 7 = 3</a:t>
            </a:r>
            <a:endParaRPr/>
          </a:p>
        </p:txBody>
      </p:sp>
      <p:sp>
        <p:nvSpPr>
          <p:cNvPr id="1061" name="Google Shape;1061;p80"/>
          <p:cNvSpPr txBox="1"/>
          <p:nvPr/>
        </p:nvSpPr>
        <p:spPr>
          <a:xfrm>
            <a:off x="324000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0"/>
          <p:cNvSpPr txBox="1"/>
          <p:nvPr/>
        </p:nvSpPr>
        <p:spPr>
          <a:xfrm>
            <a:off x="324000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0"/>
          <p:cNvSpPr txBox="1"/>
          <p:nvPr/>
        </p:nvSpPr>
        <p:spPr>
          <a:xfrm>
            <a:off x="4351093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0"/>
          <p:cNvSpPr txBox="1"/>
          <p:nvPr/>
        </p:nvSpPr>
        <p:spPr>
          <a:xfrm>
            <a:off x="4351093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0"/>
          <p:cNvSpPr/>
          <p:nvPr/>
        </p:nvSpPr>
        <p:spPr>
          <a:xfrm>
            <a:off x="4678763" y="1394250"/>
            <a:ext cx="41412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0"/>
          <p:cNvSpPr txBox="1"/>
          <p:nvPr>
            <p:ph idx="4294967295" type="body"/>
          </p:nvPr>
        </p:nvSpPr>
        <p:spPr>
          <a:xfrm>
            <a:off x="4833139" y="1539975"/>
            <a:ext cx="2130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2.7 = 0.81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7" name="Google Shape;1067;p80"/>
          <p:cNvSpPr txBox="1"/>
          <p:nvPr>
            <p:ph idx="4294967295" type="body"/>
          </p:nvPr>
        </p:nvSpPr>
        <p:spPr>
          <a:xfrm>
            <a:off x="4833135" y="2301975"/>
            <a:ext cx="21864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2.7 × 0.3 = 0.81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8" name="Google Shape;1068;p80"/>
          <p:cNvSpPr/>
          <p:nvPr/>
        </p:nvSpPr>
        <p:spPr>
          <a:xfrm>
            <a:off x="4674500" y="3211550"/>
            <a:ext cx="3176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0"/>
          <p:cNvSpPr txBox="1"/>
          <p:nvPr>
            <p:ph idx="4294967295" type="body"/>
          </p:nvPr>
        </p:nvSpPr>
        <p:spPr>
          <a:xfrm>
            <a:off x="51015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070" name="Google Shape;1070;p80"/>
          <p:cNvSpPr txBox="1"/>
          <p:nvPr>
            <p:ph idx="4294967295" type="body"/>
          </p:nvPr>
        </p:nvSpPr>
        <p:spPr>
          <a:xfrm>
            <a:off x="51015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84}{7}=12&quot;&gt;&lt;mfrac&gt;&lt;mn&gt;84&lt;/mn&gt;&lt;mn&gt;7&lt;/mn&gt;&lt;/mfrac&gt;&lt;mo&gt;=&lt;/mo&gt;&lt;mn&gt;12&lt;/mn&gt;&lt;/math&gt;" id="1071" name="Google Shape;1071;p80" title="84 over 7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380" y="1475702"/>
            <a:ext cx="1125180" cy="671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4}{12}=7&quot;&gt;&lt;mfrac&gt;&lt;mn&gt;84&lt;/mn&gt;&lt;mn&gt;12&lt;/mn&gt;&lt;/mfrac&gt;&lt;mo&gt;=&lt;/mo&gt;&lt;mn&gt;7&lt;/mn&gt;&lt;/math&gt;" id="1072" name="Google Shape;1072;p80" title="84 over 12 equals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9249" y="2270498"/>
            <a:ext cx="946504" cy="666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81}{2.7}=0.3&quot;&gt;&lt;mfrac&gt;&lt;mn&gt;0.81&lt;/mn&gt;&lt;mn&gt;2.7&lt;/mn&gt;&lt;/mfrac&gt;&lt;mo&gt;=&lt;/mo&gt;&lt;mn&gt;0.3&lt;/mn&gt;&lt;/math&gt;" id="1073" name="Google Shape;1073;p80" title="0.81 over 2.7 equals 0.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3180" y="1475282"/>
            <a:ext cx="1348782" cy="633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81}{0.3}=2.7&quot;&gt;&lt;mfrac&gt;&lt;mn&gt;0.81&lt;/mn&gt;&lt;mn&gt;0.3&lt;/mn&gt;&lt;/mfrac&gt;&lt;mo&gt;=&lt;/mo&gt;&lt;mn&gt;2.7&lt;/mn&gt;&lt;/math&gt;" id="1074" name="Google Shape;1074;p80" title="0.81 over 0.3 equals 2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5251" y="2295785"/>
            <a:ext cx="1357896" cy="633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=y&quot;&gt;&lt;mfrac&gt;&lt;mn&gt;3&lt;/mn&gt;&lt;mn&gt;7&lt;/mn&gt;&lt;/mfrac&gt;&lt;mo&gt;=&lt;/mo&gt;&lt;mi&gt;y&lt;/mi&gt;&lt;/math&gt;" id="1075" name="Google Shape;1075;p80" title="three sevenths equals 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0652" y="4091771"/>
            <a:ext cx="790575" cy="657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y}=7&quot;&gt;&lt;mfrac&gt;&lt;mn&gt;3&lt;/mn&gt;&lt;mi&gt;y&lt;/mi&gt;&lt;/mfrac&gt;&lt;mo&gt;=&lt;/mo&gt;&lt;mn&gt;7&lt;/mn&gt;&lt;/math&gt;" id="1076" name="Google Shape;1076;p80" title="3 over y equals 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74950" y="3263975"/>
            <a:ext cx="734331" cy="67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7" name="Google Shape;1077;p80"/>
          <p:cNvGrpSpPr/>
          <p:nvPr/>
        </p:nvGrpSpPr>
        <p:grpSpPr>
          <a:xfrm>
            <a:off x="694853" y="2325325"/>
            <a:ext cx="1731516" cy="369600"/>
            <a:chOff x="694853" y="2325325"/>
            <a:chExt cx="1731516" cy="369600"/>
          </a:xfrm>
        </p:grpSpPr>
        <p:sp>
          <p:nvSpPr>
            <p:cNvPr id="1078" name="Google Shape;1078;p80"/>
            <p:cNvSpPr/>
            <p:nvPr/>
          </p:nvSpPr>
          <p:spPr>
            <a:xfrm>
              <a:off x="20249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9" name="Google Shape;1079;p80"/>
            <p:cNvSpPr/>
            <p:nvPr/>
          </p:nvSpPr>
          <p:spPr>
            <a:xfrm>
              <a:off x="131886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80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1" name="Google Shape;1081;p80"/>
          <p:cNvGrpSpPr/>
          <p:nvPr/>
        </p:nvGrpSpPr>
        <p:grpSpPr>
          <a:xfrm>
            <a:off x="2716648" y="2258994"/>
            <a:ext cx="1150505" cy="729320"/>
            <a:chOff x="2716648" y="2258994"/>
            <a:chExt cx="1150505" cy="729320"/>
          </a:xfrm>
        </p:grpSpPr>
        <p:sp>
          <p:nvSpPr>
            <p:cNvPr id="1082" name="Google Shape;1082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80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5" name="Google Shape;1085;p80"/>
          <p:cNvGrpSpPr/>
          <p:nvPr/>
        </p:nvGrpSpPr>
        <p:grpSpPr>
          <a:xfrm>
            <a:off x="2716648" y="1473981"/>
            <a:ext cx="1150505" cy="729320"/>
            <a:chOff x="2716648" y="2258994"/>
            <a:chExt cx="1150505" cy="729320"/>
          </a:xfrm>
        </p:grpSpPr>
        <p:sp>
          <p:nvSpPr>
            <p:cNvPr id="1086" name="Google Shape;1086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80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80"/>
          <p:cNvGrpSpPr/>
          <p:nvPr/>
        </p:nvGrpSpPr>
        <p:grpSpPr>
          <a:xfrm>
            <a:off x="7269883" y="1450961"/>
            <a:ext cx="1348737" cy="729320"/>
            <a:chOff x="2716648" y="2258994"/>
            <a:chExt cx="1150505" cy="729320"/>
          </a:xfrm>
        </p:grpSpPr>
        <p:sp>
          <p:nvSpPr>
            <p:cNvPr id="1090" name="Google Shape;1090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80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3" name="Google Shape;1093;p80"/>
          <p:cNvGrpSpPr/>
          <p:nvPr/>
        </p:nvGrpSpPr>
        <p:grpSpPr>
          <a:xfrm>
            <a:off x="7269883" y="2270494"/>
            <a:ext cx="1348737" cy="729320"/>
            <a:chOff x="2716648" y="2258994"/>
            <a:chExt cx="1150505" cy="729320"/>
          </a:xfrm>
        </p:grpSpPr>
        <p:sp>
          <p:nvSpPr>
            <p:cNvPr id="1094" name="Google Shape;1094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80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7" name="Google Shape;1097;p80"/>
          <p:cNvGrpSpPr/>
          <p:nvPr/>
        </p:nvGrpSpPr>
        <p:grpSpPr>
          <a:xfrm>
            <a:off x="4809624" y="2325327"/>
            <a:ext cx="2060897" cy="369600"/>
            <a:chOff x="694853" y="2325325"/>
            <a:chExt cx="1675390" cy="369600"/>
          </a:xfrm>
        </p:grpSpPr>
        <p:sp>
          <p:nvSpPr>
            <p:cNvPr id="1098" name="Google Shape;1098;p80"/>
            <p:cNvSpPr/>
            <p:nvPr/>
          </p:nvSpPr>
          <p:spPr>
            <a:xfrm>
              <a:off x="1968843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80"/>
            <p:cNvSpPr/>
            <p:nvPr/>
          </p:nvSpPr>
          <p:spPr>
            <a:xfrm>
              <a:off x="131886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80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1" name="Google Shape;1101;p80"/>
          <p:cNvGrpSpPr/>
          <p:nvPr/>
        </p:nvGrpSpPr>
        <p:grpSpPr>
          <a:xfrm>
            <a:off x="671840" y="4184298"/>
            <a:ext cx="1579116" cy="369602"/>
            <a:chOff x="694853" y="2325325"/>
            <a:chExt cx="1579116" cy="369602"/>
          </a:xfrm>
        </p:grpSpPr>
        <p:sp>
          <p:nvSpPr>
            <p:cNvPr id="1102" name="Google Shape;1102;p80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0"/>
            <p:cNvSpPr/>
            <p:nvPr/>
          </p:nvSpPr>
          <p:spPr>
            <a:xfrm>
              <a:off x="1295850" y="2325327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0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5" name="Google Shape;1105;p80"/>
          <p:cNvGrpSpPr/>
          <p:nvPr/>
        </p:nvGrpSpPr>
        <p:grpSpPr>
          <a:xfrm>
            <a:off x="2647608" y="4087794"/>
            <a:ext cx="1092971" cy="729320"/>
            <a:chOff x="2716648" y="2258994"/>
            <a:chExt cx="1092971" cy="729320"/>
          </a:xfrm>
        </p:grpSpPr>
        <p:sp>
          <p:nvSpPr>
            <p:cNvPr id="1106" name="Google Shape;1106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0"/>
            <p:cNvSpPr/>
            <p:nvPr/>
          </p:nvSpPr>
          <p:spPr>
            <a:xfrm>
              <a:off x="3452619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9" name="Google Shape;1109;p80"/>
          <p:cNvGrpSpPr/>
          <p:nvPr/>
        </p:nvGrpSpPr>
        <p:grpSpPr>
          <a:xfrm>
            <a:off x="2647608" y="3238087"/>
            <a:ext cx="1092971" cy="729320"/>
            <a:chOff x="2716648" y="2258994"/>
            <a:chExt cx="1092971" cy="729320"/>
          </a:xfrm>
        </p:grpSpPr>
        <p:sp>
          <p:nvSpPr>
            <p:cNvPr id="1110" name="Google Shape;1110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80"/>
            <p:cNvSpPr/>
            <p:nvPr/>
          </p:nvSpPr>
          <p:spPr>
            <a:xfrm>
              <a:off x="3452619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id="1113" name="Google Shape;1113;p80" title="d over s equals t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87712" y="4051555"/>
            <a:ext cx="751774" cy="669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id="1114" name="Google Shape;1114;p80" title="d over t equals 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91325" y="3256883"/>
            <a:ext cx="790575" cy="6741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5" name="Google Shape;1115;p80"/>
          <p:cNvGrpSpPr/>
          <p:nvPr/>
        </p:nvGrpSpPr>
        <p:grpSpPr>
          <a:xfrm>
            <a:off x="6579834" y="3238087"/>
            <a:ext cx="1092971" cy="729320"/>
            <a:chOff x="2716648" y="2258994"/>
            <a:chExt cx="1092971" cy="729320"/>
          </a:xfrm>
        </p:grpSpPr>
        <p:sp>
          <p:nvSpPr>
            <p:cNvPr id="1116" name="Google Shape;1116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80"/>
            <p:cNvSpPr/>
            <p:nvPr/>
          </p:nvSpPr>
          <p:spPr>
            <a:xfrm>
              <a:off x="3452619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80"/>
          <p:cNvGrpSpPr/>
          <p:nvPr/>
        </p:nvGrpSpPr>
        <p:grpSpPr>
          <a:xfrm>
            <a:off x="6579834" y="4053274"/>
            <a:ext cx="1081464" cy="729320"/>
            <a:chOff x="2716648" y="2258994"/>
            <a:chExt cx="1081464" cy="729320"/>
          </a:xfrm>
        </p:grpSpPr>
        <p:sp>
          <p:nvSpPr>
            <p:cNvPr id="1120" name="Google Shape;1120;p80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80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80"/>
            <p:cNvSpPr/>
            <p:nvPr/>
          </p:nvSpPr>
          <p:spPr>
            <a:xfrm>
              <a:off x="3441112" y="2457421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3" name="Google Shape;1123;p80"/>
          <p:cNvGrpSpPr/>
          <p:nvPr/>
        </p:nvGrpSpPr>
        <p:grpSpPr>
          <a:xfrm>
            <a:off x="4973524" y="4184338"/>
            <a:ext cx="1404308" cy="369602"/>
            <a:chOff x="694853" y="2325325"/>
            <a:chExt cx="1579116" cy="369602"/>
          </a:xfrm>
        </p:grpSpPr>
        <p:sp>
          <p:nvSpPr>
            <p:cNvPr id="1124" name="Google Shape;1124;p80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80"/>
            <p:cNvSpPr/>
            <p:nvPr/>
          </p:nvSpPr>
          <p:spPr>
            <a:xfrm>
              <a:off x="1295850" y="2325327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80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1"/>
          <p:cNvSpPr txBox="1"/>
          <p:nvPr>
            <p:ph idx="1" type="body"/>
          </p:nvPr>
        </p:nvSpPr>
        <p:spPr>
          <a:xfrm>
            <a:off x="324000" y="759300"/>
            <a:ext cx="7135200" cy="5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The volume of a cuboid can be calculated as ‘length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/>
              <a:t> width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/>
              <a:t> height’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2" name="Google Shape;113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403" y="1682725"/>
            <a:ext cx="1719383" cy="2662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3" name="Google Shape;1133;p81"/>
          <p:cNvCxnSpPr/>
          <p:nvPr/>
        </p:nvCxnSpPr>
        <p:spPr>
          <a:xfrm>
            <a:off x="379425" y="4128618"/>
            <a:ext cx="402300" cy="22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4" name="Google Shape;1134;p81"/>
          <p:cNvCxnSpPr/>
          <p:nvPr/>
        </p:nvCxnSpPr>
        <p:spPr>
          <a:xfrm flipH="1" rot="10800000">
            <a:off x="928984" y="3726106"/>
            <a:ext cx="1095000" cy="6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5" name="Google Shape;1135;p81"/>
          <p:cNvCxnSpPr/>
          <p:nvPr/>
        </p:nvCxnSpPr>
        <p:spPr>
          <a:xfrm rot="10800000">
            <a:off x="2048787" y="1896043"/>
            <a:ext cx="0" cy="171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6" name="Google Shape;1136;p81"/>
          <p:cNvSpPr txBox="1"/>
          <p:nvPr/>
        </p:nvSpPr>
        <p:spPr>
          <a:xfrm>
            <a:off x="2092519" y="2640097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81"/>
          <p:cNvSpPr txBox="1"/>
          <p:nvPr/>
        </p:nvSpPr>
        <p:spPr>
          <a:xfrm>
            <a:off x="1542799" y="4003380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8" name="Google Shape;1138;p81"/>
          <p:cNvSpPr txBox="1"/>
          <p:nvPr/>
        </p:nvSpPr>
        <p:spPr>
          <a:xfrm>
            <a:off x="324449" y="4204505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9" name="Google Shape;1139;p81"/>
          <p:cNvSpPr txBox="1"/>
          <p:nvPr>
            <p:ph idx="1" type="body"/>
          </p:nvPr>
        </p:nvSpPr>
        <p:spPr>
          <a:xfrm>
            <a:off x="2200930" y="1555825"/>
            <a:ext cx="6685500" cy="5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in the missing parts of these rearrangements.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V}{w}=lh&quot;&gt;&lt;mfrac&gt;&lt;mi&gt;V&lt;/mi&gt;&lt;mi&gt;w&lt;/mi&gt;&lt;/mfrac&gt;&lt;mo&gt;=&lt;/mo&gt;&lt;mi&gt;l&lt;/mi&gt;&lt;mi&gt;h&lt;/mi&gt;&lt;/math&gt;" id="1140" name="Google Shape;1140;p81" title="V over w equals l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6222" y="2178434"/>
            <a:ext cx="1176105" cy="782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V}{h}=lw&quot;&gt;&lt;mfrac&gt;&lt;mi&gt;V&lt;/mi&gt;&lt;mi&gt;h&lt;/mi&gt;&lt;/mfrac&gt;&lt;mo&gt;=&lt;/mo&gt;&lt;mi&gt;l&lt;/mi&gt;&lt;mi&gt;w&lt;/mi&gt;&lt;/math&gt;" id="1141" name="Google Shape;1141;p81" title="V over h equals l w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538" y="2174400"/>
            <a:ext cx="1273163" cy="782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V}{lw}=h&quot;&gt;&lt;mfrac&gt;&lt;mi&gt;V&lt;/mi&gt;&lt;mrow&gt;&lt;mi&gt;l&lt;/mi&gt;&lt;mi&gt;w&lt;/mi&gt;&lt;/mrow&gt;&lt;/mfrac&gt;&lt;mo&gt;=&lt;/mo&gt;&lt;mi&gt;h&lt;/mi&gt;&lt;/math&gt;" id="1142" name="Google Shape;1142;p81" title="V over l w equal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538" y="3540413"/>
            <a:ext cx="1162428" cy="773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V}{wh}=l&quot;&gt;&lt;mfrac&gt;&lt;mi&gt;V&lt;/mi&gt;&lt;mrow&gt;&lt;mi&gt;w&lt;/mi&gt;&lt;mi&gt;h&lt;/mi&gt;&lt;/mrow&gt;&lt;/mfrac&gt;&lt;mo&gt;=&lt;/mo&gt;&lt;mi&gt;l&lt;/mi&gt;&lt;/math&gt;" id="1143" name="Google Shape;1143;p81" title="V over w h equals l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4266" y="3537832"/>
            <a:ext cx="1176106" cy="782169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81"/>
          <p:cNvSpPr txBox="1"/>
          <p:nvPr>
            <p:ph idx="1" type="body"/>
          </p:nvPr>
        </p:nvSpPr>
        <p:spPr>
          <a:xfrm>
            <a:off x="2727874" y="2073378"/>
            <a:ext cx="1439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V = lwh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81"/>
          <p:cNvSpPr/>
          <p:nvPr/>
        </p:nvSpPr>
        <p:spPr>
          <a:xfrm>
            <a:off x="4555119" y="4036247"/>
            <a:ext cx="4938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1"/>
          <p:cNvSpPr/>
          <p:nvPr/>
        </p:nvSpPr>
        <p:spPr>
          <a:xfrm>
            <a:off x="7623113" y="2390020"/>
            <a:ext cx="4392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1"/>
          <p:cNvSpPr/>
          <p:nvPr/>
        </p:nvSpPr>
        <p:spPr>
          <a:xfrm>
            <a:off x="4569523" y="2694825"/>
            <a:ext cx="3471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1"/>
          <p:cNvSpPr/>
          <p:nvPr/>
        </p:nvSpPr>
        <p:spPr>
          <a:xfrm>
            <a:off x="7820212" y="3742954"/>
            <a:ext cx="4938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2"/>
          <p:cNvSpPr txBox="1"/>
          <p:nvPr>
            <p:ph idx="1" type="body"/>
          </p:nvPr>
        </p:nvSpPr>
        <p:spPr>
          <a:xfrm>
            <a:off x="324000" y="759300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family of rearrangements for the below equations.</a:t>
            </a:r>
            <a:endParaRPr/>
          </a:p>
        </p:txBody>
      </p:sp>
      <p:sp>
        <p:nvSpPr>
          <p:cNvPr id="1155" name="Google Shape;1155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1156" name="Google Shape;1156;p82"/>
          <p:cNvSpPr/>
          <p:nvPr/>
        </p:nvSpPr>
        <p:spPr>
          <a:xfrm>
            <a:off x="641288" y="1394250"/>
            <a:ext cx="3389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2"/>
          <p:cNvSpPr txBox="1"/>
          <p:nvPr>
            <p:ph idx="4294967295" type="body"/>
          </p:nvPr>
        </p:nvSpPr>
        <p:spPr>
          <a:xfrm>
            <a:off x="834374" y="1539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12 × 7 = 84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8" name="Google Shape;1158;p82"/>
          <p:cNvSpPr txBox="1"/>
          <p:nvPr>
            <p:ph idx="4294967295" type="body"/>
          </p:nvPr>
        </p:nvSpPr>
        <p:spPr>
          <a:xfrm>
            <a:off x="834373" y="2301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 × 12 = 84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82"/>
          <p:cNvSpPr/>
          <p:nvPr/>
        </p:nvSpPr>
        <p:spPr>
          <a:xfrm>
            <a:off x="637275" y="3211552"/>
            <a:ext cx="3389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2"/>
          <p:cNvSpPr txBox="1"/>
          <p:nvPr>
            <p:ph idx="4294967295" type="body"/>
          </p:nvPr>
        </p:nvSpPr>
        <p:spPr>
          <a:xfrm>
            <a:off x="8343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/>
          </a:p>
        </p:txBody>
      </p:sp>
      <p:sp>
        <p:nvSpPr>
          <p:cNvPr id="1161" name="Google Shape;1161;p82"/>
          <p:cNvSpPr txBox="1"/>
          <p:nvPr>
            <p:ph idx="4294967295" type="body"/>
          </p:nvPr>
        </p:nvSpPr>
        <p:spPr>
          <a:xfrm>
            <a:off x="8343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× 7 = 3</a:t>
            </a:r>
            <a:endParaRPr/>
          </a:p>
        </p:txBody>
      </p:sp>
      <p:sp>
        <p:nvSpPr>
          <p:cNvPr id="1162" name="Google Shape;1162;p82"/>
          <p:cNvSpPr txBox="1"/>
          <p:nvPr/>
        </p:nvSpPr>
        <p:spPr>
          <a:xfrm>
            <a:off x="324000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2"/>
          <p:cNvSpPr txBox="1"/>
          <p:nvPr/>
        </p:nvSpPr>
        <p:spPr>
          <a:xfrm>
            <a:off x="324000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2"/>
          <p:cNvSpPr txBox="1"/>
          <p:nvPr/>
        </p:nvSpPr>
        <p:spPr>
          <a:xfrm>
            <a:off x="4351093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2"/>
          <p:cNvSpPr txBox="1"/>
          <p:nvPr/>
        </p:nvSpPr>
        <p:spPr>
          <a:xfrm>
            <a:off x="4351093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2"/>
          <p:cNvSpPr/>
          <p:nvPr/>
        </p:nvSpPr>
        <p:spPr>
          <a:xfrm>
            <a:off x="4678763" y="1394250"/>
            <a:ext cx="41412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2"/>
          <p:cNvSpPr txBox="1"/>
          <p:nvPr>
            <p:ph idx="4294967295" type="body"/>
          </p:nvPr>
        </p:nvSpPr>
        <p:spPr>
          <a:xfrm>
            <a:off x="4833139" y="1539975"/>
            <a:ext cx="2130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0.3 × 2.7 = 0.81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8" name="Google Shape;1168;p82"/>
          <p:cNvSpPr txBox="1"/>
          <p:nvPr>
            <p:ph idx="4294967295" type="body"/>
          </p:nvPr>
        </p:nvSpPr>
        <p:spPr>
          <a:xfrm>
            <a:off x="4833135" y="2301975"/>
            <a:ext cx="21864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2.7 × 0.3 = 0.81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82"/>
          <p:cNvSpPr/>
          <p:nvPr/>
        </p:nvSpPr>
        <p:spPr>
          <a:xfrm>
            <a:off x="4674500" y="3211550"/>
            <a:ext cx="3176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2"/>
          <p:cNvSpPr txBox="1"/>
          <p:nvPr>
            <p:ph idx="4294967295" type="body"/>
          </p:nvPr>
        </p:nvSpPr>
        <p:spPr>
          <a:xfrm>
            <a:off x="51015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171" name="Google Shape;1171;p82"/>
          <p:cNvSpPr txBox="1"/>
          <p:nvPr>
            <p:ph idx="4294967295" type="body"/>
          </p:nvPr>
        </p:nvSpPr>
        <p:spPr>
          <a:xfrm>
            <a:off x="51015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84}{7}=12&quot;&gt;&lt;mfrac&gt;&lt;mn&gt;84&lt;/mn&gt;&lt;mn&gt;7&lt;/mn&gt;&lt;/mfrac&gt;&lt;mo&gt;=&lt;/mo&gt;&lt;mn&gt;12&lt;/mn&gt;&lt;/math&gt;" id="1172" name="Google Shape;1172;p82" title="84 over 7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380" y="1475702"/>
            <a:ext cx="1125180" cy="671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4}{12}=7&quot;&gt;&lt;mfrac&gt;&lt;mn&gt;84&lt;/mn&gt;&lt;mn&gt;12&lt;/mn&gt;&lt;/mfrac&gt;&lt;mo&gt;=&lt;/mo&gt;&lt;mn&gt;7&lt;/mn&gt;&lt;/math&gt;" id="1173" name="Google Shape;1173;p82" title="84 over 12 equals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9249" y="2270498"/>
            <a:ext cx="946504" cy="666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81}{2.7}=0.3&quot;&gt;&lt;mfrac&gt;&lt;mn&gt;0.81&lt;/mn&gt;&lt;mn&gt;2.7&lt;/mn&gt;&lt;/mfrac&gt;&lt;mo&gt;=&lt;/mo&gt;&lt;mn&gt;0.3&lt;/mn&gt;&lt;/math&gt;" id="1174" name="Google Shape;1174;p82" title="0.81 over 2.7 equals 0.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3180" y="1475282"/>
            <a:ext cx="1348782" cy="633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81}{0.3}=2.7&quot;&gt;&lt;mfrac&gt;&lt;mn&gt;0.81&lt;/mn&gt;&lt;mn&gt;0.3&lt;/mn&gt;&lt;/mfrac&gt;&lt;mo&gt;=&lt;/mo&gt;&lt;mn&gt;2.7&lt;/mn&gt;&lt;/math&gt;" id="1175" name="Google Shape;1175;p82" title="0.81 over 0.3 equals 2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5251" y="2295785"/>
            <a:ext cx="1357896" cy="633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=y&quot;&gt;&lt;mfrac&gt;&lt;mn&gt;3&lt;/mn&gt;&lt;mn&gt;7&lt;/mn&gt;&lt;/mfrac&gt;&lt;mo&gt;=&lt;/mo&gt;&lt;mi&gt;y&lt;/mi&gt;&lt;/math&gt;" id="1176" name="Google Shape;1176;p82" title="three sevenths equals 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0652" y="4091771"/>
            <a:ext cx="790575" cy="657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y}=7&quot;&gt;&lt;mfrac&gt;&lt;mn&gt;3&lt;/mn&gt;&lt;mi&gt;y&lt;/mi&gt;&lt;/mfrac&gt;&lt;mo&gt;=&lt;/mo&gt;&lt;mn&gt;7&lt;/mn&gt;&lt;/math&gt;" id="1177" name="Google Shape;1177;p82" title="3 over y equals 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74950" y="3263975"/>
            <a:ext cx="734331" cy="67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8" name="Google Shape;1178;p82"/>
          <p:cNvGrpSpPr/>
          <p:nvPr/>
        </p:nvGrpSpPr>
        <p:grpSpPr>
          <a:xfrm>
            <a:off x="694853" y="2325325"/>
            <a:ext cx="1731516" cy="369600"/>
            <a:chOff x="694853" y="2325325"/>
            <a:chExt cx="1731516" cy="369600"/>
          </a:xfrm>
        </p:grpSpPr>
        <p:sp>
          <p:nvSpPr>
            <p:cNvPr id="1179" name="Google Shape;1179;p82"/>
            <p:cNvSpPr/>
            <p:nvPr/>
          </p:nvSpPr>
          <p:spPr>
            <a:xfrm>
              <a:off x="20249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82"/>
            <p:cNvSpPr/>
            <p:nvPr/>
          </p:nvSpPr>
          <p:spPr>
            <a:xfrm>
              <a:off x="131886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82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2" name="Google Shape;1182;p82"/>
          <p:cNvGrpSpPr/>
          <p:nvPr/>
        </p:nvGrpSpPr>
        <p:grpSpPr>
          <a:xfrm>
            <a:off x="2716648" y="2258994"/>
            <a:ext cx="1150505" cy="729320"/>
            <a:chOff x="2716648" y="2258994"/>
            <a:chExt cx="1150505" cy="729320"/>
          </a:xfrm>
        </p:grpSpPr>
        <p:sp>
          <p:nvSpPr>
            <p:cNvPr id="1183" name="Google Shape;1183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82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6" name="Google Shape;1186;p82"/>
          <p:cNvGrpSpPr/>
          <p:nvPr/>
        </p:nvGrpSpPr>
        <p:grpSpPr>
          <a:xfrm>
            <a:off x="2716648" y="1473981"/>
            <a:ext cx="1150505" cy="729320"/>
            <a:chOff x="2716648" y="2258994"/>
            <a:chExt cx="1150505" cy="729320"/>
          </a:xfrm>
        </p:grpSpPr>
        <p:sp>
          <p:nvSpPr>
            <p:cNvPr id="1187" name="Google Shape;1187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9" name="Google Shape;1189;p82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82"/>
          <p:cNvGrpSpPr/>
          <p:nvPr/>
        </p:nvGrpSpPr>
        <p:grpSpPr>
          <a:xfrm>
            <a:off x="7269883" y="1450961"/>
            <a:ext cx="1348737" cy="729320"/>
            <a:chOff x="2716648" y="2258994"/>
            <a:chExt cx="1150505" cy="729320"/>
          </a:xfrm>
        </p:grpSpPr>
        <p:sp>
          <p:nvSpPr>
            <p:cNvPr id="1191" name="Google Shape;1191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2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82"/>
          <p:cNvGrpSpPr/>
          <p:nvPr/>
        </p:nvGrpSpPr>
        <p:grpSpPr>
          <a:xfrm>
            <a:off x="7269883" y="2270494"/>
            <a:ext cx="1348737" cy="729320"/>
            <a:chOff x="2716648" y="2258994"/>
            <a:chExt cx="1150505" cy="729320"/>
          </a:xfrm>
        </p:grpSpPr>
        <p:sp>
          <p:nvSpPr>
            <p:cNvPr id="1195" name="Google Shape;1195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82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82"/>
          <p:cNvGrpSpPr/>
          <p:nvPr/>
        </p:nvGrpSpPr>
        <p:grpSpPr>
          <a:xfrm>
            <a:off x="4809624" y="2325327"/>
            <a:ext cx="2060897" cy="369600"/>
            <a:chOff x="694853" y="2325325"/>
            <a:chExt cx="1675390" cy="369600"/>
          </a:xfrm>
        </p:grpSpPr>
        <p:sp>
          <p:nvSpPr>
            <p:cNvPr id="1199" name="Google Shape;1199;p82"/>
            <p:cNvSpPr/>
            <p:nvPr/>
          </p:nvSpPr>
          <p:spPr>
            <a:xfrm>
              <a:off x="1968843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82"/>
            <p:cNvSpPr/>
            <p:nvPr/>
          </p:nvSpPr>
          <p:spPr>
            <a:xfrm>
              <a:off x="131886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82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82"/>
          <p:cNvGrpSpPr/>
          <p:nvPr/>
        </p:nvGrpSpPr>
        <p:grpSpPr>
          <a:xfrm>
            <a:off x="671840" y="4184298"/>
            <a:ext cx="1579116" cy="369602"/>
            <a:chOff x="694853" y="2325325"/>
            <a:chExt cx="1579116" cy="369602"/>
          </a:xfrm>
        </p:grpSpPr>
        <p:sp>
          <p:nvSpPr>
            <p:cNvPr id="1203" name="Google Shape;1203;p82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82"/>
            <p:cNvSpPr/>
            <p:nvPr/>
          </p:nvSpPr>
          <p:spPr>
            <a:xfrm>
              <a:off x="1295850" y="2325327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2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6" name="Google Shape;1206;p82"/>
          <p:cNvGrpSpPr/>
          <p:nvPr/>
        </p:nvGrpSpPr>
        <p:grpSpPr>
          <a:xfrm>
            <a:off x="2647608" y="4087794"/>
            <a:ext cx="1092971" cy="729320"/>
            <a:chOff x="2716648" y="2258994"/>
            <a:chExt cx="1092971" cy="729320"/>
          </a:xfrm>
        </p:grpSpPr>
        <p:sp>
          <p:nvSpPr>
            <p:cNvPr id="1207" name="Google Shape;1207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8" name="Google Shape;1208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82"/>
            <p:cNvSpPr/>
            <p:nvPr/>
          </p:nvSpPr>
          <p:spPr>
            <a:xfrm>
              <a:off x="3452619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82"/>
          <p:cNvGrpSpPr/>
          <p:nvPr/>
        </p:nvGrpSpPr>
        <p:grpSpPr>
          <a:xfrm>
            <a:off x="2647608" y="3238087"/>
            <a:ext cx="1092971" cy="729320"/>
            <a:chOff x="2716648" y="2258994"/>
            <a:chExt cx="1092971" cy="729320"/>
          </a:xfrm>
        </p:grpSpPr>
        <p:sp>
          <p:nvSpPr>
            <p:cNvPr id="1211" name="Google Shape;1211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82"/>
            <p:cNvSpPr/>
            <p:nvPr/>
          </p:nvSpPr>
          <p:spPr>
            <a:xfrm>
              <a:off x="3452619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id="1214" name="Google Shape;1214;p82" title="d over s equals t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87712" y="4051555"/>
            <a:ext cx="751774" cy="669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id="1215" name="Google Shape;1215;p82" title="d over t equals 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91325" y="3256883"/>
            <a:ext cx="790575" cy="6741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6" name="Google Shape;1216;p82"/>
          <p:cNvGrpSpPr/>
          <p:nvPr/>
        </p:nvGrpSpPr>
        <p:grpSpPr>
          <a:xfrm>
            <a:off x="6579834" y="3238087"/>
            <a:ext cx="1092971" cy="729320"/>
            <a:chOff x="2716648" y="2258994"/>
            <a:chExt cx="1092971" cy="729320"/>
          </a:xfrm>
        </p:grpSpPr>
        <p:sp>
          <p:nvSpPr>
            <p:cNvPr id="1217" name="Google Shape;1217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82"/>
            <p:cNvSpPr/>
            <p:nvPr/>
          </p:nvSpPr>
          <p:spPr>
            <a:xfrm>
              <a:off x="3452619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0" name="Google Shape;1220;p82"/>
          <p:cNvGrpSpPr/>
          <p:nvPr/>
        </p:nvGrpSpPr>
        <p:grpSpPr>
          <a:xfrm>
            <a:off x="6579834" y="4053274"/>
            <a:ext cx="1081464" cy="729320"/>
            <a:chOff x="2716648" y="2258994"/>
            <a:chExt cx="1081464" cy="729320"/>
          </a:xfrm>
        </p:grpSpPr>
        <p:sp>
          <p:nvSpPr>
            <p:cNvPr id="1221" name="Google Shape;1221;p82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2" name="Google Shape;1222;p82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2"/>
            <p:cNvSpPr/>
            <p:nvPr/>
          </p:nvSpPr>
          <p:spPr>
            <a:xfrm>
              <a:off x="3441112" y="2457421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4" name="Google Shape;1224;p82"/>
          <p:cNvGrpSpPr/>
          <p:nvPr/>
        </p:nvGrpSpPr>
        <p:grpSpPr>
          <a:xfrm>
            <a:off x="4973524" y="4184338"/>
            <a:ext cx="1404308" cy="369602"/>
            <a:chOff x="694853" y="2325325"/>
            <a:chExt cx="1579116" cy="369602"/>
          </a:xfrm>
        </p:grpSpPr>
        <p:sp>
          <p:nvSpPr>
            <p:cNvPr id="1225" name="Google Shape;1225;p82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82"/>
            <p:cNvSpPr/>
            <p:nvPr/>
          </p:nvSpPr>
          <p:spPr>
            <a:xfrm>
              <a:off x="1295850" y="2325327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82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3"/>
          <p:cNvSpPr txBox="1"/>
          <p:nvPr>
            <p:ph idx="1" type="body"/>
          </p:nvPr>
        </p:nvSpPr>
        <p:spPr>
          <a:xfrm>
            <a:off x="324000" y="759300"/>
            <a:ext cx="7135200" cy="7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The volume of a cuboid can be calculated as ‘length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/>
              <a:t> width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/>
              <a:t> height’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3" name="Google Shape;123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93" y="1559790"/>
            <a:ext cx="1472689" cy="228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4" name="Google Shape;1234;p83"/>
          <p:cNvCxnSpPr/>
          <p:nvPr/>
        </p:nvCxnSpPr>
        <p:spPr>
          <a:xfrm>
            <a:off x="371538" y="3654743"/>
            <a:ext cx="344700" cy="19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5" name="Google Shape;1235;p83"/>
          <p:cNvCxnSpPr/>
          <p:nvPr/>
        </p:nvCxnSpPr>
        <p:spPr>
          <a:xfrm flipH="1" rot="10800000">
            <a:off x="842248" y="3309940"/>
            <a:ext cx="937800" cy="5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6" name="Google Shape;1236;p83"/>
          <p:cNvCxnSpPr/>
          <p:nvPr/>
        </p:nvCxnSpPr>
        <p:spPr>
          <a:xfrm rot="10800000">
            <a:off x="1797300" y="1815578"/>
            <a:ext cx="1200" cy="142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7" name="Google Shape;1237;p83"/>
          <p:cNvSpPr txBox="1"/>
          <p:nvPr/>
        </p:nvSpPr>
        <p:spPr>
          <a:xfrm>
            <a:off x="1838841" y="2379797"/>
            <a:ext cx="2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83"/>
          <p:cNvSpPr txBox="1"/>
          <p:nvPr/>
        </p:nvSpPr>
        <p:spPr>
          <a:xfrm>
            <a:off x="1367993" y="3547474"/>
            <a:ext cx="2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9" name="Google Shape;1239;p83"/>
          <p:cNvSpPr txBox="1"/>
          <p:nvPr/>
        </p:nvSpPr>
        <p:spPr>
          <a:xfrm>
            <a:off x="324450" y="3719741"/>
            <a:ext cx="2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83"/>
          <p:cNvSpPr txBox="1"/>
          <p:nvPr>
            <p:ph idx="1" type="body"/>
          </p:nvPr>
        </p:nvSpPr>
        <p:spPr>
          <a:xfrm>
            <a:off x="2200930" y="1555825"/>
            <a:ext cx="6685500" cy="5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in the missing parts of these rearrangements.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V}{w}=lh&quot;&gt;&lt;mfrac&gt;&lt;mi&gt;V&lt;/mi&gt;&lt;mi&gt;w&lt;/mi&gt;&lt;/mfrac&gt;&lt;mo&gt;=&lt;/mo&gt;&lt;mi&gt;l&lt;/mi&gt;&lt;mi&gt;h&lt;/mi&gt;&lt;/math&gt;" id="1241" name="Google Shape;1241;p83" title="V over w equals l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6222" y="2178434"/>
            <a:ext cx="1176105" cy="782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V}{h}=lw&quot;&gt;&lt;mfrac&gt;&lt;mi&gt;V&lt;/mi&gt;&lt;mi&gt;h&lt;/mi&gt;&lt;/mfrac&gt;&lt;mo&gt;=&lt;/mo&gt;&lt;mi&gt;l&lt;/mi&gt;&lt;mi&gt;w&lt;/mi&gt;&lt;/math&gt;" id="1242" name="Google Shape;1242;p83" title="V over h equals l w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538" y="2174400"/>
            <a:ext cx="1273163" cy="782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V}{lw}=h&quot;&gt;&lt;mfrac&gt;&lt;mi&gt;V&lt;/mi&gt;&lt;mrow&gt;&lt;mi&gt;l&lt;/mi&gt;&lt;mi&gt;w&lt;/mi&gt;&lt;/mrow&gt;&lt;/mfrac&gt;&lt;mo&gt;=&lt;/mo&gt;&lt;mi&gt;h&lt;/mi&gt;&lt;/math&gt;" id="1243" name="Google Shape;1243;p83" title="V over l w equal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538" y="3540413"/>
            <a:ext cx="1162428" cy="773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V}{wh}=l&quot;&gt;&lt;mfrac&gt;&lt;mi&gt;V&lt;/mi&gt;&lt;mrow&gt;&lt;mi&gt;w&lt;/mi&gt;&lt;mi&gt;h&lt;/mi&gt;&lt;/mrow&gt;&lt;/mfrac&gt;&lt;mo&gt;=&lt;/mo&gt;&lt;mi&gt;l&lt;/mi&gt;&lt;/math&gt;" id="1244" name="Google Shape;1244;p83" title="V over w h equals l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4266" y="3537832"/>
            <a:ext cx="1176106" cy="78216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83"/>
          <p:cNvSpPr txBox="1"/>
          <p:nvPr>
            <p:ph idx="1" type="body"/>
          </p:nvPr>
        </p:nvSpPr>
        <p:spPr>
          <a:xfrm>
            <a:off x="2727874" y="2073378"/>
            <a:ext cx="1439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V = lwh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83"/>
          <p:cNvSpPr/>
          <p:nvPr/>
        </p:nvSpPr>
        <p:spPr>
          <a:xfrm>
            <a:off x="4555119" y="4036247"/>
            <a:ext cx="4938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3"/>
          <p:cNvSpPr/>
          <p:nvPr/>
        </p:nvSpPr>
        <p:spPr>
          <a:xfrm>
            <a:off x="7623113" y="2390020"/>
            <a:ext cx="4392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3"/>
          <p:cNvSpPr/>
          <p:nvPr/>
        </p:nvSpPr>
        <p:spPr>
          <a:xfrm>
            <a:off x="4569523" y="2694825"/>
            <a:ext cx="3471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3"/>
          <p:cNvSpPr/>
          <p:nvPr/>
        </p:nvSpPr>
        <p:spPr>
          <a:xfrm>
            <a:off x="7820212" y="3742954"/>
            <a:ext cx="493800" cy="36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0" name="Google Shape;1250;p83"/>
          <p:cNvGrpSpPr/>
          <p:nvPr/>
        </p:nvGrpSpPr>
        <p:grpSpPr>
          <a:xfrm>
            <a:off x="4485470" y="2073550"/>
            <a:ext cx="2801067" cy="1811826"/>
            <a:chOff x="4485470" y="2073550"/>
            <a:chExt cx="2801067" cy="1811826"/>
          </a:xfrm>
        </p:grpSpPr>
        <p:grpSp>
          <p:nvGrpSpPr>
            <p:cNvPr id="1251" name="Google Shape;1251;p83"/>
            <p:cNvGrpSpPr/>
            <p:nvPr/>
          </p:nvGrpSpPr>
          <p:grpSpPr>
            <a:xfrm>
              <a:off x="4485470" y="2073550"/>
              <a:ext cx="552399" cy="1811826"/>
              <a:chOff x="5380363" y="2313012"/>
              <a:chExt cx="609914" cy="1983389"/>
            </a:xfrm>
          </p:grpSpPr>
          <p:sp>
            <p:nvSpPr>
              <p:cNvPr id="1252" name="Google Shape;1252;p83"/>
              <p:cNvSpPr/>
              <p:nvPr/>
            </p:nvSpPr>
            <p:spPr>
              <a:xfrm>
                <a:off x="5380363" y="2313012"/>
                <a:ext cx="571800" cy="498300"/>
              </a:xfrm>
              <a:prstGeom prst="ellipse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3" name="Google Shape;1253;p83"/>
              <p:cNvSpPr/>
              <p:nvPr/>
            </p:nvSpPr>
            <p:spPr>
              <a:xfrm>
                <a:off x="5418478" y="3798101"/>
                <a:ext cx="571800" cy="498300"/>
              </a:xfrm>
              <a:prstGeom prst="ellipse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54" name="Google Shape;1254;p83"/>
            <p:cNvGrpSpPr/>
            <p:nvPr/>
          </p:nvGrpSpPr>
          <p:grpSpPr>
            <a:xfrm>
              <a:off x="6688110" y="2073550"/>
              <a:ext cx="598426" cy="1811826"/>
              <a:chOff x="5380363" y="2313012"/>
              <a:chExt cx="660733" cy="1983389"/>
            </a:xfrm>
          </p:grpSpPr>
          <p:sp>
            <p:nvSpPr>
              <p:cNvPr id="1255" name="Google Shape;1255;p83"/>
              <p:cNvSpPr/>
              <p:nvPr/>
            </p:nvSpPr>
            <p:spPr>
              <a:xfrm>
                <a:off x="5380363" y="2313012"/>
                <a:ext cx="571800" cy="498300"/>
              </a:xfrm>
              <a:prstGeom prst="ellipse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6" name="Google Shape;1256;p83"/>
              <p:cNvSpPr/>
              <p:nvPr/>
            </p:nvSpPr>
            <p:spPr>
              <a:xfrm>
                <a:off x="5469297" y="3798101"/>
                <a:ext cx="571800" cy="498300"/>
              </a:xfrm>
              <a:prstGeom prst="ellipse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257" name="Google Shape;1257;p83"/>
          <p:cNvSpPr txBox="1"/>
          <p:nvPr/>
        </p:nvSpPr>
        <p:spPr>
          <a:xfrm flipH="1">
            <a:off x="2043773" y="2886050"/>
            <a:ext cx="22302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b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product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the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multiplicative relationship remained the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numerator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8" name="Google Shape;1258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structure of multiplicative relationships</a:t>
            </a:r>
            <a:endParaRPr/>
          </a:p>
        </p:txBody>
      </p:sp>
      <p:sp>
        <p:nvSpPr>
          <p:cNvPr id="1264" name="Google Shape;1264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265" name="Google Shape;1265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pic>
        <p:nvPicPr>
          <p:cNvPr id="1266" name="Google Shape;126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85"/>
          <p:cNvSpPr txBox="1"/>
          <p:nvPr>
            <p:ph idx="1" type="body"/>
          </p:nvPr>
        </p:nvSpPr>
        <p:spPr>
          <a:xfrm>
            <a:off x="324000" y="759300"/>
            <a:ext cx="5932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Multiplicative relationships are made up of:</a:t>
            </a:r>
            <a:endParaRPr sz="2000"/>
          </a:p>
        </p:txBody>
      </p:sp>
      <p:sp>
        <p:nvSpPr>
          <p:cNvPr id="1272" name="Google Shape;127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273" name="Google Shape;1273;p85"/>
          <p:cNvSpPr txBox="1"/>
          <p:nvPr>
            <p:ph idx="1" type="body"/>
          </p:nvPr>
        </p:nvSpPr>
        <p:spPr>
          <a:xfrm>
            <a:off x="3436685" y="1071262"/>
            <a:ext cx="1868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× 8 = 48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4" name="Google Shape;1274;p85"/>
          <p:cNvSpPr txBox="1"/>
          <p:nvPr>
            <p:ph idx="1" type="body"/>
          </p:nvPr>
        </p:nvSpPr>
        <p:spPr>
          <a:xfrm>
            <a:off x="2229012" y="19785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1  </a:t>
            </a:r>
            <a:endParaRPr/>
          </a:p>
        </p:txBody>
      </p:sp>
      <p:sp>
        <p:nvSpPr>
          <p:cNvPr id="1275" name="Google Shape;1275;p85"/>
          <p:cNvSpPr txBox="1"/>
          <p:nvPr>
            <p:ph idx="1" type="body"/>
          </p:nvPr>
        </p:nvSpPr>
        <p:spPr>
          <a:xfrm>
            <a:off x="3753012" y="19785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2 </a:t>
            </a:r>
            <a:endParaRPr/>
          </a:p>
        </p:txBody>
      </p:sp>
      <p:sp>
        <p:nvSpPr>
          <p:cNvPr id="1276" name="Google Shape;1276;p85"/>
          <p:cNvSpPr txBox="1"/>
          <p:nvPr>
            <p:ph idx="1" type="body"/>
          </p:nvPr>
        </p:nvSpPr>
        <p:spPr>
          <a:xfrm>
            <a:off x="5002376" y="19785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7" name="Google Shape;1277;p85"/>
          <p:cNvSpPr txBox="1"/>
          <p:nvPr>
            <p:ph idx="1" type="body"/>
          </p:nvPr>
        </p:nvSpPr>
        <p:spPr>
          <a:xfrm>
            <a:off x="3455362" y="19785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8" name="Google Shape;1278;p85"/>
          <p:cNvCxnSpPr>
            <a:stCxn id="1274" idx="0"/>
          </p:cNvCxnSpPr>
          <p:nvPr/>
        </p:nvCxnSpPr>
        <p:spPr>
          <a:xfrm flipH="1" rot="10800000">
            <a:off x="2795712" y="1518900"/>
            <a:ext cx="608100" cy="459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9" name="Google Shape;1279;p85"/>
          <p:cNvCxnSpPr>
            <a:stCxn id="1275" idx="0"/>
          </p:cNvCxnSpPr>
          <p:nvPr/>
        </p:nvCxnSpPr>
        <p:spPr>
          <a:xfrm rot="10800000">
            <a:off x="4089612" y="1518900"/>
            <a:ext cx="230100" cy="459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0" name="Google Shape;1280;p85"/>
          <p:cNvCxnSpPr/>
          <p:nvPr/>
        </p:nvCxnSpPr>
        <p:spPr>
          <a:xfrm rot="10800000">
            <a:off x="4902012" y="1518950"/>
            <a:ext cx="669600" cy="471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1" name="Google Shape;1281;p85"/>
          <p:cNvSpPr txBox="1"/>
          <p:nvPr>
            <p:ph idx="1" type="body"/>
          </p:nvPr>
        </p:nvSpPr>
        <p:spPr>
          <a:xfrm>
            <a:off x="5376396" y="1978500"/>
            <a:ext cx="1134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product</a:t>
            </a:r>
            <a:endParaRPr b="1"/>
          </a:p>
        </p:txBody>
      </p:sp>
      <p:sp>
        <p:nvSpPr>
          <p:cNvPr id="1282" name="Google Shape;1282;p85"/>
          <p:cNvSpPr txBox="1"/>
          <p:nvPr>
            <p:ph idx="1" type="body"/>
          </p:nvPr>
        </p:nvSpPr>
        <p:spPr>
          <a:xfrm>
            <a:off x="324000" y="2511912"/>
            <a:ext cx="23142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</a:t>
            </a:r>
            <a:r>
              <a:rPr lang="en-GB" sz="2000"/>
              <a:t>rearrange</a:t>
            </a:r>
            <a:r>
              <a:rPr lang="en-GB" sz="2000"/>
              <a:t> by first commuting…</a:t>
            </a:r>
            <a:endParaRPr sz="2000"/>
          </a:p>
        </p:txBody>
      </p:sp>
      <p:sp>
        <p:nvSpPr>
          <p:cNvPr id="1283" name="Google Shape;1283;p85"/>
          <p:cNvSpPr txBox="1"/>
          <p:nvPr>
            <p:ph idx="1" type="body"/>
          </p:nvPr>
        </p:nvSpPr>
        <p:spPr>
          <a:xfrm>
            <a:off x="974838" y="4061716"/>
            <a:ext cx="1585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6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4" name="Google Shape;1284;p85"/>
          <p:cNvSpPr txBox="1"/>
          <p:nvPr>
            <p:ph idx="1" type="body"/>
          </p:nvPr>
        </p:nvSpPr>
        <p:spPr>
          <a:xfrm>
            <a:off x="972451" y="3311223"/>
            <a:ext cx="1585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× 8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85"/>
          <p:cNvSpPr txBox="1"/>
          <p:nvPr>
            <p:ph idx="1" type="body"/>
          </p:nvPr>
        </p:nvSpPr>
        <p:spPr>
          <a:xfrm>
            <a:off x="4320920" y="2523418"/>
            <a:ext cx="3325200" cy="6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Then by </a:t>
            </a:r>
            <a:r>
              <a:rPr lang="en-GB" sz="2000"/>
              <a:t>doing</a:t>
            </a:r>
            <a:r>
              <a:rPr lang="en-GB" sz="2000"/>
              <a:t> the inverse of multiplication.</a:t>
            </a:r>
            <a:endParaRPr sz="2000"/>
          </a:p>
        </p:txBody>
      </p:sp>
      <p:sp>
        <p:nvSpPr>
          <p:cNvPr id="1286" name="Google Shape;1286;p85"/>
          <p:cNvSpPr txBox="1"/>
          <p:nvPr>
            <p:ph idx="1" type="body"/>
          </p:nvPr>
        </p:nvSpPr>
        <p:spPr>
          <a:xfrm>
            <a:off x="3445370" y="3315685"/>
            <a:ext cx="1585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× 8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85"/>
          <p:cNvSpPr txBox="1"/>
          <p:nvPr>
            <p:ph idx="1" type="body"/>
          </p:nvPr>
        </p:nvSpPr>
        <p:spPr>
          <a:xfrm>
            <a:off x="2988170" y="3768412"/>
            <a:ext cx="2386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× 8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48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85"/>
          <p:cNvSpPr txBox="1"/>
          <p:nvPr>
            <p:ph idx="1" type="body"/>
          </p:nvPr>
        </p:nvSpPr>
        <p:spPr>
          <a:xfrm>
            <a:off x="3937093" y="4225600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= 48 ÷ 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85"/>
          <p:cNvSpPr txBox="1"/>
          <p:nvPr>
            <p:ph idx="1" type="body"/>
          </p:nvPr>
        </p:nvSpPr>
        <p:spPr>
          <a:xfrm>
            <a:off x="6230250" y="3315685"/>
            <a:ext cx="1585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6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85"/>
          <p:cNvSpPr txBox="1"/>
          <p:nvPr>
            <p:ph idx="1" type="body"/>
          </p:nvPr>
        </p:nvSpPr>
        <p:spPr>
          <a:xfrm>
            <a:off x="5773050" y="3768412"/>
            <a:ext cx="2386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6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6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48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85"/>
          <p:cNvSpPr txBox="1"/>
          <p:nvPr>
            <p:ph idx="1" type="body"/>
          </p:nvPr>
        </p:nvSpPr>
        <p:spPr>
          <a:xfrm>
            <a:off x="6721973" y="4225600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48 ÷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8=\frac{48}{6}&quot;&gt;&lt;mn&gt;8&lt;/mn&gt;&lt;mo&gt;=&lt;/mo&gt;&lt;mfrac&gt;&lt;mn&gt;48&lt;/mn&gt;&lt;mn&gt;6&lt;/mn&gt;&lt;/mfrac&gt;&lt;/math&gt;" id="1296" name="Google Shape;1296;p86" title="8 equals 48 ove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693" y="4229912"/>
            <a:ext cx="820128" cy="580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86"/>
          <p:cNvSpPr txBox="1"/>
          <p:nvPr>
            <p:ph idx="1" type="body"/>
          </p:nvPr>
        </p:nvSpPr>
        <p:spPr>
          <a:xfrm>
            <a:off x="324000" y="759300"/>
            <a:ext cx="5932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Multiplicative relationships are made up of:</a:t>
            </a:r>
            <a:endParaRPr sz="2000"/>
          </a:p>
        </p:txBody>
      </p:sp>
      <p:sp>
        <p:nvSpPr>
          <p:cNvPr id="1298" name="Google Shape;129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299" name="Google Shape;1299;p86"/>
          <p:cNvSpPr txBox="1"/>
          <p:nvPr>
            <p:ph idx="1" type="body"/>
          </p:nvPr>
        </p:nvSpPr>
        <p:spPr>
          <a:xfrm>
            <a:off x="3436685" y="1071262"/>
            <a:ext cx="1868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6 × 8 = 48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0" name="Google Shape;1300;p86"/>
          <p:cNvSpPr txBox="1"/>
          <p:nvPr>
            <p:ph idx="1" type="body"/>
          </p:nvPr>
        </p:nvSpPr>
        <p:spPr>
          <a:xfrm>
            <a:off x="2229012" y="19785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1  </a:t>
            </a:r>
            <a:endParaRPr/>
          </a:p>
        </p:txBody>
      </p:sp>
      <p:sp>
        <p:nvSpPr>
          <p:cNvPr id="1301" name="Google Shape;1301;p86"/>
          <p:cNvSpPr txBox="1"/>
          <p:nvPr>
            <p:ph idx="1" type="body"/>
          </p:nvPr>
        </p:nvSpPr>
        <p:spPr>
          <a:xfrm>
            <a:off x="3753012" y="19785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2 </a:t>
            </a:r>
            <a:endParaRPr/>
          </a:p>
        </p:txBody>
      </p:sp>
      <p:sp>
        <p:nvSpPr>
          <p:cNvPr id="1302" name="Google Shape;1302;p86"/>
          <p:cNvSpPr txBox="1"/>
          <p:nvPr>
            <p:ph idx="1" type="body"/>
          </p:nvPr>
        </p:nvSpPr>
        <p:spPr>
          <a:xfrm>
            <a:off x="5002376" y="19785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86"/>
          <p:cNvSpPr txBox="1"/>
          <p:nvPr>
            <p:ph idx="1" type="body"/>
          </p:nvPr>
        </p:nvSpPr>
        <p:spPr>
          <a:xfrm>
            <a:off x="3455362" y="19785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4" name="Google Shape;1304;p86"/>
          <p:cNvCxnSpPr>
            <a:stCxn id="1300" idx="0"/>
          </p:cNvCxnSpPr>
          <p:nvPr/>
        </p:nvCxnSpPr>
        <p:spPr>
          <a:xfrm flipH="1" rot="10800000">
            <a:off x="2795712" y="1518900"/>
            <a:ext cx="608100" cy="459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5" name="Google Shape;1305;p86"/>
          <p:cNvCxnSpPr>
            <a:stCxn id="1301" idx="0"/>
          </p:cNvCxnSpPr>
          <p:nvPr/>
        </p:nvCxnSpPr>
        <p:spPr>
          <a:xfrm rot="10800000">
            <a:off x="4089612" y="1518900"/>
            <a:ext cx="230100" cy="459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6" name="Google Shape;1306;p86"/>
          <p:cNvCxnSpPr/>
          <p:nvPr/>
        </p:nvCxnSpPr>
        <p:spPr>
          <a:xfrm rot="10800000">
            <a:off x="4902012" y="1518950"/>
            <a:ext cx="669600" cy="471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7" name="Google Shape;1307;p86"/>
          <p:cNvSpPr txBox="1"/>
          <p:nvPr>
            <p:ph idx="1" type="body"/>
          </p:nvPr>
        </p:nvSpPr>
        <p:spPr>
          <a:xfrm>
            <a:off x="5376396" y="1978500"/>
            <a:ext cx="1134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product</a:t>
            </a:r>
            <a:endParaRPr b="1"/>
          </a:p>
        </p:txBody>
      </p:sp>
      <p:sp>
        <p:nvSpPr>
          <p:cNvPr id="1308" name="Google Shape;1308;p86"/>
          <p:cNvSpPr txBox="1"/>
          <p:nvPr>
            <p:ph idx="1" type="body"/>
          </p:nvPr>
        </p:nvSpPr>
        <p:spPr>
          <a:xfrm>
            <a:off x="324000" y="2511912"/>
            <a:ext cx="23142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rearrange by first commuting…</a:t>
            </a:r>
            <a:endParaRPr sz="2000"/>
          </a:p>
        </p:txBody>
      </p:sp>
      <p:sp>
        <p:nvSpPr>
          <p:cNvPr id="1309" name="Google Shape;1309;p86"/>
          <p:cNvSpPr txBox="1"/>
          <p:nvPr>
            <p:ph idx="1" type="body"/>
          </p:nvPr>
        </p:nvSpPr>
        <p:spPr>
          <a:xfrm>
            <a:off x="974838" y="4061716"/>
            <a:ext cx="1585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× 6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86"/>
          <p:cNvSpPr txBox="1"/>
          <p:nvPr>
            <p:ph idx="1" type="body"/>
          </p:nvPr>
        </p:nvSpPr>
        <p:spPr>
          <a:xfrm>
            <a:off x="972451" y="3311223"/>
            <a:ext cx="1585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× 8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1" name="Google Shape;1311;p86"/>
          <p:cNvSpPr txBox="1"/>
          <p:nvPr>
            <p:ph idx="1" type="body"/>
          </p:nvPr>
        </p:nvSpPr>
        <p:spPr>
          <a:xfrm>
            <a:off x="4320920" y="2523418"/>
            <a:ext cx="3325200" cy="6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Then by doing the inverse of multiplication.</a:t>
            </a:r>
            <a:endParaRPr sz="2000"/>
          </a:p>
        </p:txBody>
      </p:sp>
      <p:sp>
        <p:nvSpPr>
          <p:cNvPr id="1312" name="Google Shape;1312;p86"/>
          <p:cNvSpPr txBox="1"/>
          <p:nvPr>
            <p:ph idx="1" type="body"/>
          </p:nvPr>
        </p:nvSpPr>
        <p:spPr>
          <a:xfrm>
            <a:off x="3445370" y="3315685"/>
            <a:ext cx="1585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× 8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86"/>
          <p:cNvSpPr txBox="1"/>
          <p:nvPr>
            <p:ph idx="1" type="body"/>
          </p:nvPr>
        </p:nvSpPr>
        <p:spPr>
          <a:xfrm>
            <a:off x="2988170" y="3768412"/>
            <a:ext cx="2386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× 8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48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4" name="Google Shape;1314;p86"/>
          <p:cNvSpPr txBox="1"/>
          <p:nvPr>
            <p:ph idx="1" type="body"/>
          </p:nvPr>
        </p:nvSpPr>
        <p:spPr>
          <a:xfrm>
            <a:off x="6230250" y="3315685"/>
            <a:ext cx="1585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× 6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5" name="Google Shape;1315;p86"/>
          <p:cNvSpPr txBox="1"/>
          <p:nvPr>
            <p:ph idx="1" type="body"/>
          </p:nvPr>
        </p:nvSpPr>
        <p:spPr>
          <a:xfrm>
            <a:off x="5773050" y="3768412"/>
            <a:ext cx="2386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× 6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6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48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6=\frac{48}{8}&quot;&gt;&lt;mn&gt;6&lt;/mn&gt;&lt;mo&gt;=&lt;/mo&gt;&lt;mfrac&gt;&lt;mn&gt;48&lt;/mn&gt;&lt;mn&gt;8&lt;/mn&gt;&lt;/mfrac&gt;&lt;/math&gt;" id="1316" name="Google Shape;1316;p86" title="6 equals 48 over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1106" y="4225599"/>
            <a:ext cx="825729" cy="580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8=\frac{48}{6}&quot;&gt;&lt;mn&gt;8&lt;/mn&gt;&lt;mo&gt;=&lt;/mo&gt;&lt;mfrac&gt;&lt;mn&gt;48&lt;/mn&gt;&lt;mn&gt;6&lt;/mn&gt;&lt;/mfrac&gt;&lt;/math&gt;" id="1321" name="Google Shape;1321;p87" title="8 equals 48 ove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693" y="4229912"/>
            <a:ext cx="820128" cy="580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7"/>
          <p:cNvSpPr txBox="1"/>
          <p:nvPr>
            <p:ph idx="1" type="body"/>
          </p:nvPr>
        </p:nvSpPr>
        <p:spPr>
          <a:xfrm>
            <a:off x="324000" y="759300"/>
            <a:ext cx="5932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Multiplicative relationships are made up of:</a:t>
            </a:r>
            <a:endParaRPr sz="2000"/>
          </a:p>
        </p:txBody>
      </p:sp>
      <p:sp>
        <p:nvSpPr>
          <p:cNvPr id="1323" name="Google Shape;132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324" name="Google Shape;1324;p87"/>
          <p:cNvSpPr txBox="1"/>
          <p:nvPr>
            <p:ph idx="1" type="body"/>
          </p:nvPr>
        </p:nvSpPr>
        <p:spPr>
          <a:xfrm>
            <a:off x="3436685" y="1071262"/>
            <a:ext cx="1868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6 × 8 = 48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5" name="Google Shape;1325;p87"/>
          <p:cNvSpPr txBox="1"/>
          <p:nvPr>
            <p:ph idx="1" type="body"/>
          </p:nvPr>
        </p:nvSpPr>
        <p:spPr>
          <a:xfrm>
            <a:off x="2229012" y="19785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1  </a:t>
            </a:r>
            <a:endParaRPr/>
          </a:p>
        </p:txBody>
      </p:sp>
      <p:sp>
        <p:nvSpPr>
          <p:cNvPr id="1326" name="Google Shape;1326;p87"/>
          <p:cNvSpPr txBox="1"/>
          <p:nvPr>
            <p:ph idx="1" type="body"/>
          </p:nvPr>
        </p:nvSpPr>
        <p:spPr>
          <a:xfrm>
            <a:off x="3753012" y="1978500"/>
            <a:ext cx="11334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 2 </a:t>
            </a:r>
            <a:endParaRPr/>
          </a:p>
        </p:txBody>
      </p:sp>
      <p:sp>
        <p:nvSpPr>
          <p:cNvPr id="1327" name="Google Shape;1327;p87"/>
          <p:cNvSpPr txBox="1"/>
          <p:nvPr>
            <p:ph idx="1" type="body"/>
          </p:nvPr>
        </p:nvSpPr>
        <p:spPr>
          <a:xfrm>
            <a:off x="5002376" y="19785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87"/>
          <p:cNvSpPr txBox="1"/>
          <p:nvPr>
            <p:ph idx="1" type="body"/>
          </p:nvPr>
        </p:nvSpPr>
        <p:spPr>
          <a:xfrm>
            <a:off x="3455362" y="1978500"/>
            <a:ext cx="2763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29" name="Google Shape;1329;p87"/>
          <p:cNvCxnSpPr>
            <a:stCxn id="1325" idx="0"/>
          </p:cNvCxnSpPr>
          <p:nvPr/>
        </p:nvCxnSpPr>
        <p:spPr>
          <a:xfrm flipH="1" rot="10800000">
            <a:off x="2795712" y="1518900"/>
            <a:ext cx="608100" cy="459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87"/>
          <p:cNvCxnSpPr>
            <a:stCxn id="1326" idx="0"/>
          </p:cNvCxnSpPr>
          <p:nvPr/>
        </p:nvCxnSpPr>
        <p:spPr>
          <a:xfrm rot="10800000">
            <a:off x="4089612" y="1518900"/>
            <a:ext cx="230100" cy="459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87"/>
          <p:cNvCxnSpPr/>
          <p:nvPr/>
        </p:nvCxnSpPr>
        <p:spPr>
          <a:xfrm rot="10800000">
            <a:off x="4902012" y="1518950"/>
            <a:ext cx="669600" cy="471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2" name="Google Shape;1332;p87"/>
          <p:cNvSpPr txBox="1"/>
          <p:nvPr>
            <p:ph idx="1" type="body"/>
          </p:nvPr>
        </p:nvSpPr>
        <p:spPr>
          <a:xfrm>
            <a:off x="5376396" y="1978500"/>
            <a:ext cx="1134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product</a:t>
            </a:r>
            <a:endParaRPr b="1"/>
          </a:p>
        </p:txBody>
      </p:sp>
      <p:sp>
        <p:nvSpPr>
          <p:cNvPr id="1333" name="Google Shape;1333;p87"/>
          <p:cNvSpPr txBox="1"/>
          <p:nvPr>
            <p:ph idx="1" type="body"/>
          </p:nvPr>
        </p:nvSpPr>
        <p:spPr>
          <a:xfrm>
            <a:off x="324000" y="2511912"/>
            <a:ext cx="23142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rearrange by first commuting…</a:t>
            </a:r>
            <a:endParaRPr sz="2000"/>
          </a:p>
        </p:txBody>
      </p:sp>
      <p:sp>
        <p:nvSpPr>
          <p:cNvPr id="1334" name="Google Shape;1334;p87"/>
          <p:cNvSpPr txBox="1"/>
          <p:nvPr>
            <p:ph idx="1" type="body"/>
          </p:nvPr>
        </p:nvSpPr>
        <p:spPr>
          <a:xfrm>
            <a:off x="974838" y="4061716"/>
            <a:ext cx="1585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× 6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5" name="Google Shape;1335;p87"/>
          <p:cNvSpPr txBox="1"/>
          <p:nvPr>
            <p:ph idx="1" type="body"/>
          </p:nvPr>
        </p:nvSpPr>
        <p:spPr>
          <a:xfrm>
            <a:off x="972451" y="3311223"/>
            <a:ext cx="15858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× 8 = 48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87"/>
          <p:cNvSpPr txBox="1"/>
          <p:nvPr>
            <p:ph idx="1" type="body"/>
          </p:nvPr>
        </p:nvSpPr>
        <p:spPr>
          <a:xfrm>
            <a:off x="4320920" y="2523418"/>
            <a:ext cx="3325200" cy="6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Then by doing the inverse of multiplication.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6=\frac{48}{8}&quot;&gt;&lt;mn&gt;6&lt;/mn&gt;&lt;mo&gt;=&lt;/mo&gt;&lt;mfrac&gt;&lt;mn&gt;48&lt;/mn&gt;&lt;mn&gt;8&lt;/mn&gt;&lt;/mfrac&gt;&lt;/math&gt;" id="1337" name="Google Shape;1337;p87" title="6 equals 48 over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1106" y="4225599"/>
            <a:ext cx="825729" cy="580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87"/>
          <p:cNvSpPr txBox="1"/>
          <p:nvPr>
            <p:ph idx="1" type="body"/>
          </p:nvPr>
        </p:nvSpPr>
        <p:spPr>
          <a:xfrm>
            <a:off x="2718725" y="3361625"/>
            <a:ext cx="6101400" cy="6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Notice that the </a:t>
            </a:r>
            <a:r>
              <a:rPr b="1" lang="en-GB" sz="2000"/>
              <a:t>product</a:t>
            </a:r>
            <a:r>
              <a:rPr lang="en-GB" sz="2000"/>
              <a:t> is anchored in the numerator position. The factors change positions.</a:t>
            </a:r>
            <a:endParaRPr sz="2000"/>
          </a:p>
        </p:txBody>
      </p:sp>
      <p:sp>
        <p:nvSpPr>
          <p:cNvPr id="1339" name="Google Shape;1339;p87"/>
          <p:cNvSpPr/>
          <p:nvPr/>
        </p:nvSpPr>
        <p:spPr>
          <a:xfrm>
            <a:off x="4348918" y="4134644"/>
            <a:ext cx="517800" cy="386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7"/>
          <p:cNvSpPr/>
          <p:nvPr/>
        </p:nvSpPr>
        <p:spPr>
          <a:xfrm>
            <a:off x="7168318" y="4134644"/>
            <a:ext cx="517800" cy="386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88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Sometimes we have to rearrange from ‘</a:t>
            </a:r>
            <a:r>
              <a:rPr b="1" lang="en-GB" sz="1900"/>
              <a:t>product</a:t>
            </a:r>
            <a:r>
              <a:rPr lang="en-GB" sz="1900"/>
              <a:t> over factor’.</a:t>
            </a:r>
            <a:endParaRPr sz="1900"/>
          </a:p>
        </p:txBody>
      </p:sp>
      <p:sp>
        <p:nvSpPr>
          <p:cNvPr id="1346" name="Google Shape;134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347" name="Google Shape;1347;p88"/>
          <p:cNvSpPr txBox="1"/>
          <p:nvPr>
            <p:ph idx="1" type="body"/>
          </p:nvPr>
        </p:nvSpPr>
        <p:spPr>
          <a:xfrm>
            <a:off x="835907" y="2960373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÷ 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88"/>
          <p:cNvSpPr txBox="1"/>
          <p:nvPr>
            <p:ph idx="1" type="body"/>
          </p:nvPr>
        </p:nvSpPr>
        <p:spPr>
          <a:xfrm>
            <a:off x="324000" y="1902300"/>
            <a:ext cx="49263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many ways to consider this.</a:t>
            </a:r>
            <a:endParaRPr sz="2000"/>
          </a:p>
        </p:txBody>
      </p:sp>
      <p:sp>
        <p:nvSpPr>
          <p:cNvPr id="1349" name="Google Shape;1349;p88"/>
          <p:cNvSpPr txBox="1"/>
          <p:nvPr>
            <p:ph idx="1" type="body"/>
          </p:nvPr>
        </p:nvSpPr>
        <p:spPr>
          <a:xfrm>
            <a:off x="324000" y="1288350"/>
            <a:ext cx="18885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i.e. Rearrange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1350" name="Google Shape;1350;p88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1173307"/>
            <a:ext cx="829188" cy="582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88"/>
          <p:cNvSpPr txBox="1"/>
          <p:nvPr>
            <p:ph idx="1" type="body"/>
          </p:nvPr>
        </p:nvSpPr>
        <p:spPr>
          <a:xfrm>
            <a:off x="378713" y="3417573"/>
            <a:ext cx="2320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÷ 2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2" name="Google Shape;1352;p88"/>
          <p:cNvSpPr txBox="1"/>
          <p:nvPr>
            <p:ph idx="1" type="body"/>
          </p:nvPr>
        </p:nvSpPr>
        <p:spPr>
          <a:xfrm>
            <a:off x="1316127" y="3950973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= 5 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1353" name="Google Shape;1353;p88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213" y="2263120"/>
            <a:ext cx="829188" cy="582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88"/>
          <p:cNvSpPr txBox="1"/>
          <p:nvPr>
            <p:ph idx="1" type="body"/>
          </p:nvPr>
        </p:nvSpPr>
        <p:spPr>
          <a:xfrm>
            <a:off x="5384900" y="4354987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= 5 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1355" name="Google Shape;1355;p88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493" y="2263120"/>
            <a:ext cx="829188" cy="582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88"/>
          <p:cNvSpPr txBox="1"/>
          <p:nvPr/>
        </p:nvSpPr>
        <p:spPr>
          <a:xfrm flipH="1">
            <a:off x="6997000" y="2352650"/>
            <a:ext cx="152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Half of 10 is 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\times\frac{1}{2}=5&quot;&gt;&lt;mn&gt;10&lt;/mn&gt;&lt;mo&gt;×&lt;/mo&gt;&lt;mfrac&gt;&lt;mn&gt;1&lt;/mn&gt;&lt;mn&gt;2&lt;/mn&gt;&lt;/mfrac&gt;&lt;mo&gt;=&lt;/mo&gt;&lt;mn&gt;5&lt;/mn&gt;&lt;/math&gt;" id="1357" name="Google Shape;1357;p88" title="10 times one half equal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2455" y="2963087"/>
            <a:ext cx="1197679" cy="546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times\frac{1}{2}&quot;&gt;&lt;mn&gt;10&lt;/mn&gt;&lt;mo&gt;×&lt;/mo&gt;&lt;mfrac&gt;&lt;mn&gt;1&lt;/mn&gt;&lt;mn&gt;2&lt;/mn&gt;&lt;/mfrac&gt;&lt;/math&gt;" id="1358" name="Google Shape;1358;p88" title="10 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8699" y="3635490"/>
            <a:ext cx="718608" cy="546935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88"/>
          <p:cNvSpPr txBox="1"/>
          <p:nvPr/>
        </p:nvSpPr>
        <p:spPr>
          <a:xfrm flipH="1">
            <a:off x="6997000" y="3114650"/>
            <a:ext cx="152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Half of 10 is 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0" name="Google Shape;1360;p88"/>
          <p:cNvSpPr txBox="1"/>
          <p:nvPr>
            <p:ph idx="1" type="body"/>
          </p:nvPr>
        </p:nvSpPr>
        <p:spPr>
          <a:xfrm>
            <a:off x="5285687" y="3733880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1" name="Google Shape;1361;p88"/>
          <p:cNvSpPr txBox="1"/>
          <p:nvPr/>
        </p:nvSpPr>
        <p:spPr>
          <a:xfrm flipH="1">
            <a:off x="6911713" y="3685383"/>
            <a:ext cx="1888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Multiply by the reciprocal of a half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89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Sometimes we have to rearrange from ‘</a:t>
            </a:r>
            <a:r>
              <a:rPr b="1" lang="en-GB" sz="1900"/>
              <a:t>product</a:t>
            </a:r>
            <a:r>
              <a:rPr lang="en-GB" sz="1900"/>
              <a:t> over factor’.</a:t>
            </a:r>
            <a:endParaRPr sz="1900"/>
          </a:p>
        </p:txBody>
      </p:sp>
      <p:sp>
        <p:nvSpPr>
          <p:cNvPr id="1367" name="Google Shape;136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368" name="Google Shape;1368;p89"/>
          <p:cNvSpPr txBox="1"/>
          <p:nvPr>
            <p:ph idx="1" type="body"/>
          </p:nvPr>
        </p:nvSpPr>
        <p:spPr>
          <a:xfrm>
            <a:off x="324000" y="1902300"/>
            <a:ext cx="49263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many ways to consider this.</a:t>
            </a:r>
            <a:endParaRPr sz="2000"/>
          </a:p>
        </p:txBody>
      </p:sp>
      <p:sp>
        <p:nvSpPr>
          <p:cNvPr id="1369" name="Google Shape;1369;p89"/>
          <p:cNvSpPr txBox="1"/>
          <p:nvPr>
            <p:ph idx="1" type="body"/>
          </p:nvPr>
        </p:nvSpPr>
        <p:spPr>
          <a:xfrm>
            <a:off x="324000" y="1288350"/>
            <a:ext cx="18885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i.e. Rearrange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1370" name="Google Shape;1370;p89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1173307"/>
            <a:ext cx="829188" cy="582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5}=2&quot;&gt;&lt;mfrac&gt;&lt;mn&gt;10&lt;/mn&gt;&lt;mn&gt;5&lt;/mn&gt;&lt;/mfrac&gt;&lt;mo&gt;=&lt;/mo&gt;&lt;mn&gt;2&lt;/mn&gt;&lt;/math&gt;" id="1371" name="Google Shape;1371;p89" title="ten fifths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5585" y="2964888"/>
            <a:ext cx="820683" cy="5740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89"/>
          <p:cNvSpPr txBox="1"/>
          <p:nvPr>
            <p:ph idx="1" type="body"/>
          </p:nvPr>
        </p:nvSpPr>
        <p:spPr>
          <a:xfrm>
            <a:off x="5384900" y="4354987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= 5 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1373" name="Google Shape;1373;p89" title="ten halves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493" y="2263120"/>
            <a:ext cx="829188" cy="582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89"/>
          <p:cNvSpPr txBox="1"/>
          <p:nvPr/>
        </p:nvSpPr>
        <p:spPr>
          <a:xfrm flipH="1">
            <a:off x="6997000" y="2352650"/>
            <a:ext cx="152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Half of 10 is 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\times\frac{1}{2}=5&quot;&gt;&lt;mn&gt;10&lt;/mn&gt;&lt;mo&gt;×&lt;/mo&gt;&lt;mfrac&gt;&lt;mn&gt;1&lt;/mn&gt;&lt;mn&gt;2&lt;/mn&gt;&lt;/mfrac&gt;&lt;mo&gt;=&lt;/mo&gt;&lt;mn&gt;5&lt;/mn&gt;&lt;/math&gt;" id="1375" name="Google Shape;1375;p89" title="10 times one half equal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2455" y="2963087"/>
            <a:ext cx="1197679" cy="546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times\frac{1}{2}&quot;&gt;&lt;mn&gt;10&lt;/mn&gt;&lt;mo&gt;×&lt;/mo&gt;&lt;mfrac&gt;&lt;mn&gt;1&lt;/mn&gt;&lt;mn&gt;2&lt;/mn&gt;&lt;/mfrac&gt;&lt;/math&gt;" id="1376" name="Google Shape;1376;p89" title="10 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8699" y="3635490"/>
            <a:ext cx="718608" cy="546935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89"/>
          <p:cNvSpPr txBox="1"/>
          <p:nvPr/>
        </p:nvSpPr>
        <p:spPr>
          <a:xfrm flipH="1">
            <a:off x="6997000" y="3114650"/>
            <a:ext cx="152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Half of 10 is 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8" name="Google Shape;1378;p89"/>
          <p:cNvSpPr txBox="1"/>
          <p:nvPr>
            <p:ph idx="1" type="body"/>
          </p:nvPr>
        </p:nvSpPr>
        <p:spPr>
          <a:xfrm>
            <a:off x="5285687" y="3733880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89"/>
          <p:cNvSpPr txBox="1"/>
          <p:nvPr>
            <p:ph idx="1" type="body"/>
          </p:nvPr>
        </p:nvSpPr>
        <p:spPr>
          <a:xfrm>
            <a:off x="1300273" y="2396800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= 2 ×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80" name="Google Shape;1380;p89"/>
          <p:cNvGrpSpPr/>
          <p:nvPr/>
        </p:nvGrpSpPr>
        <p:grpSpPr>
          <a:xfrm>
            <a:off x="1063594" y="1059103"/>
            <a:ext cx="5843420" cy="3713247"/>
            <a:chOff x="1063594" y="1059103"/>
            <a:chExt cx="5843420" cy="3713247"/>
          </a:xfrm>
        </p:grpSpPr>
        <p:sp>
          <p:nvSpPr>
            <p:cNvPr id="1381" name="Google Shape;1381;p89"/>
            <p:cNvSpPr/>
            <p:nvPr/>
          </p:nvSpPr>
          <p:spPr>
            <a:xfrm>
              <a:off x="1063594" y="2370357"/>
              <a:ext cx="1770300" cy="4323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89"/>
            <p:cNvSpPr/>
            <p:nvPr/>
          </p:nvSpPr>
          <p:spPr>
            <a:xfrm>
              <a:off x="5136715" y="4340050"/>
              <a:ext cx="1770300" cy="4323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9"/>
            <p:cNvSpPr/>
            <p:nvPr/>
          </p:nvSpPr>
          <p:spPr>
            <a:xfrm>
              <a:off x="1082271" y="2834716"/>
              <a:ext cx="1118700" cy="8415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89"/>
            <p:cNvSpPr/>
            <p:nvPr/>
          </p:nvSpPr>
          <p:spPr>
            <a:xfrm>
              <a:off x="2019685" y="1059103"/>
              <a:ext cx="1118700" cy="8415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5" name="Google Shape;1385;p89"/>
          <p:cNvSpPr txBox="1"/>
          <p:nvPr/>
        </p:nvSpPr>
        <p:spPr>
          <a:xfrm flipH="1">
            <a:off x="1151450" y="3765925"/>
            <a:ext cx="2464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four rearrangements.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6" name="Google Shape;1386;p89"/>
          <p:cNvSpPr txBox="1"/>
          <p:nvPr/>
        </p:nvSpPr>
        <p:spPr>
          <a:xfrm flipH="1">
            <a:off x="6911713" y="3685383"/>
            <a:ext cx="1888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Multiply by the reciprocal of a half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id="1391" name="Google Shape;1391;p90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890" y="1590423"/>
            <a:ext cx="784449" cy="6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90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R</a:t>
            </a:r>
            <a:r>
              <a:rPr lang="en-GB" sz="1900"/>
              <a:t>earranging from ‘</a:t>
            </a:r>
            <a:r>
              <a:rPr b="1" lang="en-GB" sz="1900"/>
              <a:t>product</a:t>
            </a:r>
            <a:r>
              <a:rPr lang="en-GB" sz="1900"/>
              <a:t> over factor’ </a:t>
            </a:r>
            <a:r>
              <a:rPr lang="en-GB" sz="1900"/>
              <a:t>with</a:t>
            </a:r>
            <a:r>
              <a:rPr lang="en-GB" sz="1900"/>
              <a:t> algebraic variables in the </a:t>
            </a:r>
            <a:r>
              <a:rPr lang="en-GB" sz="1900"/>
              <a:t>equation</a:t>
            </a:r>
            <a:r>
              <a:rPr lang="en-GB" sz="1900"/>
              <a:t> is no different.</a:t>
            </a:r>
            <a:endParaRPr sz="1900"/>
          </a:p>
        </p:txBody>
      </p:sp>
      <p:sp>
        <p:nvSpPr>
          <p:cNvPr id="1393" name="Google Shape;139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394" name="Google Shape;1394;p90"/>
          <p:cNvSpPr txBox="1"/>
          <p:nvPr>
            <p:ph idx="1" type="body"/>
          </p:nvPr>
        </p:nvSpPr>
        <p:spPr>
          <a:xfrm>
            <a:off x="324000" y="1745550"/>
            <a:ext cx="18885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i.e. Rearrange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d\times\frac{1}{t}=s&quot;&gt;&lt;mi&gt;d&lt;/mi&gt;&lt;mo&gt;×&lt;/mo&gt;&lt;mfrac&gt;&lt;mn&gt;1&lt;/mn&gt;&lt;mi&gt;t&lt;/mi&gt;&lt;/mfrac&gt;&lt;mo&gt;=&lt;/mo&gt;&lt;mi&gt;s&lt;/mi&gt;&lt;/math&gt;" id="1395" name="Google Shape;1395;p90" title="d times 1 over t equals 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276" y="2499885"/>
            <a:ext cx="1318518" cy="66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\times\frac{1}{t}&quot;&gt;&lt;mi&gt;d&lt;/mi&gt;&lt;mo&gt;×&lt;/mo&gt;&lt;mfrac&gt;&lt;mn&gt;1&lt;/mn&gt;&lt;mi&gt;t&lt;/mi&gt;&lt;/mfrac&gt;&lt;/math&gt;" id="1396" name="Google Shape;1396;p90" title="d times 1 over 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0987" y="3423850"/>
            <a:ext cx="718600" cy="639784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90"/>
          <p:cNvSpPr txBox="1"/>
          <p:nvPr>
            <p:ph idx="1" type="body"/>
          </p:nvPr>
        </p:nvSpPr>
        <p:spPr>
          <a:xfrm>
            <a:off x="2313887" y="3561279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8" name="Google Shape;1398;p90"/>
          <p:cNvSpPr txBox="1"/>
          <p:nvPr>
            <p:ph idx="1" type="body"/>
          </p:nvPr>
        </p:nvSpPr>
        <p:spPr>
          <a:xfrm>
            <a:off x="2477785" y="4247075"/>
            <a:ext cx="1055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=5&quot;&gt;&lt;mfrac&gt;&lt;mn&gt;10&lt;/mn&gt;&lt;mn&gt;2&lt;/mn&gt;&lt;/mfrac&gt;&lt;mo&gt;=&lt;/mo&gt;&lt;mn&gt;5&lt;/mn&gt;&lt;/math&gt;" id="1399" name="Google Shape;1399;p90" title="ten halves equal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4893" y="1653520"/>
            <a:ext cx="829188" cy="582561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90"/>
          <p:cNvSpPr txBox="1"/>
          <p:nvPr/>
        </p:nvSpPr>
        <p:spPr>
          <a:xfrm flipH="1">
            <a:off x="7149400" y="1743050"/>
            <a:ext cx="152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Half of 10 is 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1" name="Google Shape;1401;p90"/>
          <p:cNvSpPr txBox="1"/>
          <p:nvPr>
            <p:ph idx="1" type="body"/>
          </p:nvPr>
        </p:nvSpPr>
        <p:spPr>
          <a:xfrm>
            <a:off x="5537300" y="4252960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= 5 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\times\frac{1}{2}=5&quot;&gt;&lt;mn&gt;10&lt;/mn&gt;&lt;mo&gt;×&lt;/mo&gt;&lt;mfrac&gt;&lt;mn&gt;1&lt;/mn&gt;&lt;mn&gt;2&lt;/mn&gt;&lt;/mfrac&gt;&lt;mo&gt;=&lt;/mo&gt;&lt;mn&gt;5&lt;/mn&gt;&lt;/math&gt;" id="1402" name="Google Shape;1402;p90" title="10 times one half equal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4855" y="2582087"/>
            <a:ext cx="1197679" cy="546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times\frac{1}{2}&quot;&gt;&lt;mn&gt;10&lt;/mn&gt;&lt;mo&gt;×&lt;/mo&gt;&lt;mfrac&gt;&lt;mn&gt;1&lt;/mn&gt;&lt;mn&gt;2&lt;/mn&gt;&lt;/mfrac&gt;&lt;/math&gt;" id="1403" name="Google Shape;1403;p90" title="10 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11099" y="3464423"/>
            <a:ext cx="718608" cy="546935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90"/>
          <p:cNvSpPr txBox="1"/>
          <p:nvPr/>
        </p:nvSpPr>
        <p:spPr>
          <a:xfrm flipH="1">
            <a:off x="7149400" y="2733650"/>
            <a:ext cx="152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Half of 10 is 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5" name="Google Shape;1405;p90"/>
          <p:cNvSpPr txBox="1"/>
          <p:nvPr>
            <p:ph idx="1" type="body"/>
          </p:nvPr>
        </p:nvSpPr>
        <p:spPr>
          <a:xfrm>
            <a:off x="5438087" y="3562813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6" name="Google Shape;1406;p90"/>
          <p:cNvSpPr txBox="1"/>
          <p:nvPr/>
        </p:nvSpPr>
        <p:spPr>
          <a:xfrm flipH="1">
            <a:off x="7064113" y="3514316"/>
            <a:ext cx="1888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Multiply by the reciprocal of a half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id="1411" name="Google Shape;1411;p91" title="d over t equals 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890" y="1590423"/>
            <a:ext cx="784449" cy="6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91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Rearranging from ‘</a:t>
            </a:r>
            <a:r>
              <a:rPr b="1" lang="en-GB" sz="1900"/>
              <a:t>product</a:t>
            </a:r>
            <a:r>
              <a:rPr lang="en-GB" sz="1900"/>
              <a:t> over factor’ with algebraic variables in the equation is no different.</a:t>
            </a:r>
            <a:endParaRPr sz="1900"/>
          </a:p>
        </p:txBody>
      </p:sp>
      <p:sp>
        <p:nvSpPr>
          <p:cNvPr id="1413" name="Google Shape;141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414" name="Google Shape;1414;p91"/>
          <p:cNvSpPr txBox="1"/>
          <p:nvPr>
            <p:ph idx="1" type="body"/>
          </p:nvPr>
        </p:nvSpPr>
        <p:spPr>
          <a:xfrm>
            <a:off x="324000" y="1745550"/>
            <a:ext cx="18885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i.e. Rearrange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d\times\frac{1}{t}=s&quot;&gt;&lt;mi&gt;d&lt;/mi&gt;&lt;mo&gt;×&lt;/mo&gt;&lt;mfrac&gt;&lt;mn&gt;1&lt;/mn&gt;&lt;mi&gt;t&lt;/mi&gt;&lt;/mfrac&gt;&lt;mo&gt;=&lt;/mo&gt;&lt;mi&gt;s&lt;/mi&gt;&lt;/math&gt;" id="1415" name="Google Shape;1415;p91" title="d times 1 over t equals 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276" y="2499885"/>
            <a:ext cx="1318518" cy="66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\times\frac{1}{t}&quot;&gt;&lt;mi&gt;d&lt;/mi&gt;&lt;mo&gt;×&lt;/mo&gt;&lt;mfrac&gt;&lt;mn&gt;1&lt;/mn&gt;&lt;mi&gt;t&lt;/mi&gt;&lt;/mfrac&gt;&lt;/math&gt;" id="1416" name="Google Shape;1416;p91" title="d times 1 over 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0987" y="3423850"/>
            <a:ext cx="718600" cy="639784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91"/>
          <p:cNvSpPr txBox="1"/>
          <p:nvPr>
            <p:ph idx="1" type="body"/>
          </p:nvPr>
        </p:nvSpPr>
        <p:spPr>
          <a:xfrm>
            <a:off x="2313887" y="3561279"/>
            <a:ext cx="1431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8" name="Google Shape;1418;p91"/>
          <p:cNvSpPr txBox="1"/>
          <p:nvPr>
            <p:ph idx="1" type="body"/>
          </p:nvPr>
        </p:nvSpPr>
        <p:spPr>
          <a:xfrm>
            <a:off x="2477785" y="4247075"/>
            <a:ext cx="1055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91"/>
          <p:cNvSpPr txBox="1"/>
          <p:nvPr>
            <p:ph idx="1" type="body"/>
          </p:nvPr>
        </p:nvSpPr>
        <p:spPr>
          <a:xfrm>
            <a:off x="4828478" y="4247075"/>
            <a:ext cx="10557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id="1420" name="Google Shape;1420;p91" title="d over s equals 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5450" y="1606834"/>
            <a:ext cx="718600" cy="639796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91"/>
          <p:cNvSpPr txBox="1"/>
          <p:nvPr>
            <p:ph idx="1" type="body"/>
          </p:nvPr>
        </p:nvSpPr>
        <p:spPr>
          <a:xfrm>
            <a:off x="3862800" y="2569450"/>
            <a:ext cx="4500000" cy="6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Again</a:t>
            </a:r>
            <a:r>
              <a:rPr lang="en-GB" sz="2000"/>
              <a:t> the </a:t>
            </a:r>
            <a:r>
              <a:rPr b="1" lang="en-GB" sz="2000"/>
              <a:t>product</a:t>
            </a:r>
            <a:r>
              <a:rPr lang="en-GB" sz="2000"/>
              <a:t> is anchored in the numerator position. The factors change positions.</a:t>
            </a:r>
            <a:endParaRPr sz="2000"/>
          </a:p>
        </p:txBody>
      </p:sp>
      <p:sp>
        <p:nvSpPr>
          <p:cNvPr id="1422" name="Google Shape;1422;p91"/>
          <p:cNvSpPr/>
          <p:nvPr/>
        </p:nvSpPr>
        <p:spPr>
          <a:xfrm>
            <a:off x="2215312" y="1543850"/>
            <a:ext cx="451200" cy="386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1"/>
          <p:cNvSpPr/>
          <p:nvPr/>
        </p:nvSpPr>
        <p:spPr>
          <a:xfrm>
            <a:off x="4718409" y="1543850"/>
            <a:ext cx="451200" cy="386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92"/>
          <p:cNvSpPr txBox="1"/>
          <p:nvPr>
            <p:ph type="title"/>
          </p:nvPr>
        </p:nvSpPr>
        <p:spPr>
          <a:xfrm>
            <a:off x="324000" y="748775"/>
            <a:ext cx="6537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is the correct manipulation of this equation?</a:t>
            </a:r>
            <a:endParaRPr/>
          </a:p>
        </p:txBody>
      </p:sp>
      <p:sp>
        <p:nvSpPr>
          <p:cNvPr id="1429" name="Google Shape;1429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d=\frac{m}{V}&quot;&gt;&lt;mi&gt;d&lt;/mi&gt;&lt;mo&gt;=&lt;/mo&gt;&lt;mfrac&gt;&lt;mi&gt;m&lt;/mi&gt;&lt;mi&gt;V&lt;/mi&gt;&lt;/mfrac&gt;&lt;/math&gt;" id="1430" name="Google Shape;1430;p92" title="d equals m over V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823" y="1168537"/>
            <a:ext cx="832022" cy="560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m\times\frac{1}{V}&quot;&gt;&lt;mi&gt;d&lt;/mi&gt;&lt;mo&gt;=&lt;/mo&gt;&lt;mi&gt;m&lt;/mi&gt;&lt;mo&gt;×&lt;/mo&gt;&lt;mfrac&gt;&lt;mn&gt;1&lt;/mn&gt;&lt;mi&gt;V&lt;/mi&gt;&lt;/mfrac&gt;&lt;/math&gt;" id="1431" name="Google Shape;1431;p92" title="d equals m times 1 over V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9681" y="2653601"/>
            <a:ext cx="1397429" cy="638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V\times\frac{1}{m}&quot;&gt;&lt;mi&gt;d&lt;/mi&gt;&lt;mo&gt;=&lt;/mo&gt;&lt;mi&gt;V&lt;/mi&gt;&lt;mo&gt;×&lt;/mo&gt;&lt;mfrac&gt;&lt;mn&gt;1&lt;/mn&gt;&lt;mi&gt;m&lt;/mi&gt;&lt;/mfrac&gt;&lt;/math&gt;" id="1432" name="Google Shape;1432;p92" title="d equals V times 1 over 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9681" y="1704312"/>
            <a:ext cx="1392833" cy="634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m\times\frac{m}{V}&quot;&gt;&lt;mi&gt;d&lt;/mi&gt;&lt;mo&gt;=&lt;/mo&gt;&lt;mi&gt;m&lt;/mi&gt;&lt;mo&gt;×&lt;/mo&gt;&lt;mfrac&gt;&lt;mi&gt;m&lt;/mi&gt;&lt;mi&gt;V&lt;/mi&gt;&lt;/mfrac&gt;&lt;/math&gt;" id="1433" name="Google Shape;1433;p92" title="d equals m times m over V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9681" y="3707171"/>
            <a:ext cx="1379042" cy="560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3983" y="2843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70764" y="18528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70764" y="378083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\frac{V}{m}&quot;&gt;&lt;mi&gt;d&lt;/mi&gt;&lt;mo&gt;=&lt;/mo&gt;&lt;mfrac&gt;&lt;mi&gt;V&lt;/mi&gt;&lt;mi&gt;m&lt;/mi&gt;&lt;/mfrac&gt;&lt;/math&gt;" id="1437" name="Google Shape;1437;p92" title="d equals V over m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72548" y="1719417"/>
            <a:ext cx="827594" cy="616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\frac{m^2}{V}&quot;&gt;&lt;mi&gt;d&lt;/mi&gt;&lt;mo&gt;=&lt;/mo&gt;&lt;mfrac&gt;&lt;msup&gt;&lt;mi&gt;m&lt;/mi&gt;&lt;mn&gt;2&lt;/mn&gt;&lt;/msup&gt;&lt;mi&gt;V&lt;/mi&gt;&lt;/mfrac&gt;&lt;/math&gt;" id="1438" name="Google Shape;1438;p92" title="d equals the fraction with numerator m squared and denominator V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87880" y="3598168"/>
            <a:ext cx="935541" cy="661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=\frac{m}{V}&quot;&gt;&lt;mi&gt;d&lt;/mi&gt;&lt;mo&gt;=&lt;/mo&gt;&lt;mfrac&gt;&lt;mi&gt;m&lt;/mi&gt;&lt;mi&gt;V&lt;/mi&gt;&lt;/mfrac&gt;&lt;/math&gt;" id="1439" name="Google Shape;1439;p92" title="d equals m over V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916" y="2722710"/>
            <a:ext cx="832022" cy="560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93"/>
          <p:cNvSpPr txBox="1"/>
          <p:nvPr>
            <p:ph idx="1" type="body"/>
          </p:nvPr>
        </p:nvSpPr>
        <p:spPr>
          <a:xfrm>
            <a:off x="324000" y="7593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Rearranging from ‘</a:t>
            </a:r>
            <a:r>
              <a:rPr b="1" lang="en-GB" sz="1900"/>
              <a:t>product</a:t>
            </a:r>
            <a:r>
              <a:rPr lang="en-GB" sz="1900"/>
              <a:t> over factor’ with multiple terms grouped as one term is no different.</a:t>
            </a:r>
            <a:endParaRPr sz="1900"/>
          </a:p>
        </p:txBody>
      </p:sp>
      <p:sp>
        <p:nvSpPr>
          <p:cNvPr id="1445" name="Google Shape;14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446" name="Google Shape;1446;p93"/>
          <p:cNvSpPr txBox="1"/>
          <p:nvPr>
            <p:ph idx="1" type="body"/>
          </p:nvPr>
        </p:nvSpPr>
        <p:spPr>
          <a:xfrm>
            <a:off x="324000" y="1745550"/>
            <a:ext cx="18885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i.e. Rearrange</a:t>
            </a:r>
            <a:endParaRPr sz="2000"/>
          </a:p>
        </p:txBody>
      </p:sp>
      <p:sp>
        <p:nvSpPr>
          <p:cNvPr id="1447" name="Google Shape;1447;p93"/>
          <p:cNvSpPr txBox="1"/>
          <p:nvPr>
            <p:ph idx="1" type="body"/>
          </p:nvPr>
        </p:nvSpPr>
        <p:spPr>
          <a:xfrm>
            <a:off x="2161471" y="3561275"/>
            <a:ext cx="19593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𝜋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𝜋</a:t>
            </a:r>
            <a:r>
              <a:rPr i="1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V}{\pi r^2}=h&quot;&gt;&lt;mfrac&gt;&lt;mi&gt;V&lt;/mi&gt;&lt;mrow&gt;&lt;mi&gt;π&lt;/mi&gt;&lt;msup&gt;&lt;mi&gt;r&lt;/mi&gt;&lt;mn&gt;2&lt;/mn&gt;&lt;/msup&gt;&lt;/mrow&gt;&lt;/mfrac&gt;&lt;mo&gt;=&lt;/mo&gt;&lt;mi&gt;h&lt;/mi&gt;&lt;/math&gt;" id="1448" name="Google Shape;1448;p93" title="V over pi r squared equal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230" y="1622102"/>
            <a:ext cx="1073172" cy="679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V\times\frac{1}{\pi r^2}=h&quot;&gt;&lt;mi&gt;V&lt;/mi&gt;&lt;mo&gt;×&lt;/mo&gt;&lt;mfrac&gt;&lt;mn&gt;1&lt;/mn&gt;&lt;mrow&gt;&lt;mi&gt;π&lt;/mi&gt;&lt;msup&gt;&lt;mi&gt;r&lt;/mi&gt;&lt;mn&gt;2&lt;/mn&gt;&lt;/msup&gt;&lt;/mrow&gt;&lt;/mfrac&gt;&lt;mo&gt;=&lt;/mo&gt;&lt;mi&gt;h&lt;/mi&gt;&lt;/math&gt;" id="1449" name="Google Shape;1449;p93" title="V times 1 over pi r squared equal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2025" y="2567142"/>
            <a:ext cx="1668832" cy="679355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93"/>
          <p:cNvSpPr/>
          <p:nvPr/>
        </p:nvSpPr>
        <p:spPr>
          <a:xfrm>
            <a:off x="7160300" y="1354100"/>
            <a:ext cx="1150675" cy="1482825"/>
          </a:xfrm>
          <a:prstGeom prst="flowChartMagneticDisk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V\times\frac{1}{\pi r^2}&quot;&gt;&lt;mi&gt;V&lt;/mi&gt;&lt;mo&gt;×&lt;/mo&gt;&lt;mfrac&gt;&lt;mn&gt;1&lt;/mn&gt;&lt;mrow&gt;&lt;mi&gt;π&lt;/mi&gt;&lt;msup&gt;&lt;mi&gt;r&lt;/mi&gt;&lt;mn&gt;2&lt;/mn&gt;&lt;/msup&gt;&lt;/mrow&gt;&lt;/mfrac&gt;&lt;/math&gt;" id="1451" name="Google Shape;1451;p93" title="V times 1 over pi r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168" y="3421356"/>
            <a:ext cx="1073175" cy="670108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93"/>
          <p:cNvSpPr txBox="1"/>
          <p:nvPr>
            <p:ph idx="1" type="body"/>
          </p:nvPr>
        </p:nvSpPr>
        <p:spPr>
          <a:xfrm>
            <a:off x="2611514" y="4326088"/>
            <a:ext cx="12081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𝜋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3" name="Google Shape;1453;p93"/>
          <p:cNvSpPr txBox="1"/>
          <p:nvPr>
            <p:ph idx="1" type="body"/>
          </p:nvPr>
        </p:nvSpPr>
        <p:spPr>
          <a:xfrm>
            <a:off x="5773047" y="1864674"/>
            <a:ext cx="12081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𝜋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xy^3}=5&quot;&gt;&lt;mfrac&gt;&lt;mn&gt;7&lt;/mn&gt;&lt;mrow&gt;&lt;mi&gt;x&lt;/mi&gt;&lt;msup&gt;&lt;mi&gt;y&lt;/mi&gt;&lt;mn&gt;3&lt;/mn&gt;&lt;/msup&gt;&lt;/mrow&gt;&lt;/mfrac&gt;&lt;mo&gt;=&lt;/mo&gt;&lt;mn&gt;5&lt;/mn&gt;&lt;/math&gt;" id="1459" name="Google Shape;1459;p94" title="7 over x y cubed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525" y="1173375"/>
            <a:ext cx="1148500" cy="7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94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Which of these is the first step to r</a:t>
            </a:r>
            <a:r>
              <a:rPr lang="en-GB" sz="1900"/>
              <a:t>earranging this equation?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\times\frac{1}{xy^3}=5&quot;&gt;&lt;mn&gt;7&lt;/mn&gt;&lt;mo&gt;×&lt;/mo&gt;&lt;mfrac&gt;&lt;mn&gt;1&lt;/mn&gt;&lt;mrow&gt;&lt;mi&gt;x&lt;/mi&gt;&lt;msup&gt;&lt;mi&gt;y&lt;/mi&gt;&lt;mn&gt;3&lt;/mn&gt;&lt;/msup&gt;&lt;/mrow&gt;&lt;/mfrac&gt;&lt;mo&gt;=&lt;/mo&gt;&lt;mn&gt;5&lt;/mn&gt;&lt;/math&gt;" id="1461" name="Google Shape;1461;p94" title="7 times 1 over x y cubed equal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1273" y="1695702"/>
            <a:ext cx="1391819" cy="635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y^3\times\frac{1}{7}=5&quot;&gt;&lt;mi&gt;x&lt;/mi&gt;&lt;msup&gt;&lt;mi&gt;y&lt;/mi&gt;&lt;mn&gt;3&lt;/mn&gt;&lt;/msup&gt;&lt;mo&gt;×&lt;/mo&gt;&lt;mfrac&gt;&lt;mn&gt;1&lt;/mn&gt;&lt;mn&gt;7&lt;/mn&gt;&lt;/mfrac&gt;&lt;mo&gt;=&lt;/mo&gt;&lt;mn&gt;5&lt;/mn&gt;&lt;/math&gt;" id="1462" name="Google Shape;1462;p94" title="x y cubed times one seventh equal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1273" y="2682817"/>
            <a:ext cx="1420901" cy="5733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times\frac{xy^3}{7}=5&quot;&gt;&lt;mn&gt;1&lt;/mn&gt;&lt;mo&gt;×&lt;/mo&gt;&lt;mfrac&gt;&lt;mrow&gt;&lt;mi&gt;x&lt;/mi&gt;&lt;msup&gt;&lt;mi&gt;y&lt;/mi&gt;&lt;mn&gt;3&lt;/mn&gt;&lt;/msup&gt;&lt;/mrow&gt;&lt;mn&gt;7&lt;/mn&gt;&lt;/mfrac&gt;&lt;mo&gt;=&lt;/mo&gt;&lt;mn&gt;5&lt;/mn&gt;&lt;/math&gt;" id="1463" name="Google Shape;1463;p94" title="1 times x y cubed over 7 equal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1273" y="3655980"/>
            <a:ext cx="1379355" cy="61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0356" y="183013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77138" y="282040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77138" y="3811003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312" y="3811003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95"/>
          <p:cNvSpPr txBox="1"/>
          <p:nvPr>
            <p:ph type="title"/>
          </p:nvPr>
        </p:nvSpPr>
        <p:spPr>
          <a:xfrm>
            <a:off x="1771800" y="2912548"/>
            <a:ext cx="170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on both sides.</a:t>
            </a:r>
            <a:endParaRPr/>
          </a:p>
        </p:txBody>
      </p:sp>
      <p:sp>
        <p:nvSpPr>
          <p:cNvPr id="1473" name="Google Shape;1473;p95"/>
          <p:cNvSpPr txBox="1"/>
          <p:nvPr>
            <p:ph type="title"/>
          </p:nvPr>
        </p:nvSpPr>
        <p:spPr>
          <a:xfrm>
            <a:off x="1771800" y="3826950"/>
            <a:ext cx="204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on the LHS only.</a:t>
            </a:r>
            <a:endParaRPr/>
          </a:p>
        </p:txBody>
      </p:sp>
      <p:pic>
        <p:nvPicPr>
          <p:cNvPr id="1474" name="Google Shape;147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9890" y="2843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xy^3}=5&quot;&gt;&lt;mfrac&gt;&lt;mn&gt;7&lt;/mn&gt;&lt;mrow&gt;&lt;mi&gt;x&lt;/mi&gt;&lt;msup&gt;&lt;mi&gt;y&lt;/mi&gt;&lt;mn&gt;3&lt;/mn&gt;&lt;/msup&gt;&lt;/mrow&gt;&lt;/mfrac&gt;&lt;mo&gt;=&lt;/mo&gt;&lt;mn&gt;5&lt;/mn&gt;&lt;/math&gt;" id="1476" name="Google Shape;1476;p95" title="7 over x y cubed equal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8525" y="1173375"/>
            <a:ext cx="1148500" cy="7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95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is the next step to rearranging this equation?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\times\frac{1}{xy^3}=5&quot;&gt;&lt;mn&gt;7&lt;/mn&gt;&lt;mo&gt;×&lt;/mo&gt;&lt;mfrac&gt;&lt;mn&gt;1&lt;/mn&gt;&lt;mrow&gt;&lt;mi&gt;x&lt;/mi&gt;&lt;msup&gt;&lt;mi&gt;y&lt;/mi&gt;&lt;mn&gt;3&lt;/mn&gt;&lt;/msup&gt;&lt;/mrow&gt;&lt;/mfrac&gt;&lt;mo&gt;=&lt;/mo&gt;&lt;mn&gt;5&lt;/mn&gt;&lt;/math&gt;" id="1478" name="Google Shape;1478;p95" title="7 times 1 over x y cubed equal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6069" y="2229100"/>
            <a:ext cx="1702358" cy="7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9" name="Google Shape;147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658" y="1906003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95"/>
          <p:cNvSpPr txBox="1"/>
          <p:nvPr>
            <p:ph idx="4" type="subTitle"/>
          </p:nvPr>
        </p:nvSpPr>
        <p:spPr>
          <a:xfrm>
            <a:off x="1034425" y="1861975"/>
            <a:ext cx="77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÷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1" name="Google Shape;1481;p95"/>
          <p:cNvSpPr txBox="1"/>
          <p:nvPr>
            <p:ph idx="4" type="subTitle"/>
          </p:nvPr>
        </p:nvSpPr>
        <p:spPr>
          <a:xfrm>
            <a:off x="1034425" y="2829562"/>
            <a:ext cx="77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2" name="Google Shape;1482;p95"/>
          <p:cNvSpPr txBox="1"/>
          <p:nvPr>
            <p:ph type="title"/>
          </p:nvPr>
        </p:nvSpPr>
        <p:spPr>
          <a:xfrm>
            <a:off x="1771800" y="1944962"/>
            <a:ext cx="170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on both sides.</a:t>
            </a:r>
            <a:endParaRPr/>
          </a:p>
        </p:txBody>
      </p:sp>
      <p:sp>
        <p:nvSpPr>
          <p:cNvPr id="1483" name="Google Shape;1483;p95"/>
          <p:cNvSpPr txBox="1"/>
          <p:nvPr>
            <p:ph idx="4" type="subTitle"/>
          </p:nvPr>
        </p:nvSpPr>
        <p:spPr>
          <a:xfrm>
            <a:off x="1034425" y="3743962"/>
            <a:ext cx="77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4" name="Google Shape;1484;p95"/>
          <p:cNvSpPr txBox="1"/>
          <p:nvPr/>
        </p:nvSpPr>
        <p:spPr>
          <a:xfrm flipH="1">
            <a:off x="4930600" y="3209525"/>
            <a:ext cx="2736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Multiply both sides by the reciprocal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96"/>
          <p:cNvSpPr txBox="1"/>
          <p:nvPr>
            <p:ph idx="4" type="subTitle"/>
          </p:nvPr>
        </p:nvSpPr>
        <p:spPr>
          <a:xfrm>
            <a:off x="988398" y="2852575"/>
            <a:ext cx="170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 = 5 ×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7\times\frac{1}{xy^3}=5&quot;&gt;&lt;mn&gt;7&lt;/mn&gt;&lt;mo&gt;×&lt;/mo&gt;&lt;mfrac&gt;&lt;mn&gt;1&lt;/mn&gt;&lt;mrow&gt;&lt;mi&gt;x&lt;/mi&gt;&lt;msup&gt;&lt;mi&gt;y&lt;/mi&gt;&lt;mn&gt;3&lt;/mn&gt;&lt;/msup&gt;&lt;/mrow&gt;&lt;/mfrac&gt;&lt;mo&gt;=&lt;/mo&gt;&lt;mn&gt;5&lt;/mn&gt;&lt;/math&gt;" id="1490" name="Google Shape;1490;p96" title="7 times 1 over x y cubed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069" y="2229100"/>
            <a:ext cx="1702358" cy="7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512" y="289660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9356" y="38113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xy^3}=5&quot;&gt;&lt;mfrac&gt;&lt;mn&gt;7&lt;/mn&gt;&lt;mrow&gt;&lt;mi&gt;x&lt;/mi&gt;&lt;msup&gt;&lt;mi&gt;y&lt;/mi&gt;&lt;mn&gt;3&lt;/mn&gt;&lt;/msup&gt;&lt;/mrow&gt;&lt;/mfrac&gt;&lt;mo&gt;=&lt;/mo&gt;&lt;mn&gt;5&lt;/mn&gt;&lt;/math&gt;" id="1494" name="Google Shape;1494;p96" title="7 over x y cubed equal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8525" y="1173375"/>
            <a:ext cx="1148500" cy="77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times\frac{1}{xy^3}&quot;&gt;&lt;mn&gt;7&lt;/mn&gt;&lt;mo&gt;×&lt;/mo&gt;&lt;mfrac&gt;&lt;mn&gt;1&lt;/mn&gt;&lt;mrow&gt;&lt;mi&gt;x&lt;/mi&gt;&lt;msup&gt;&lt;mi&gt;y&lt;/mi&gt;&lt;mn&gt;3&lt;/mn&gt;&lt;/msup&gt;&lt;/mrow&gt;&lt;/mfrac&gt;&lt;/math&gt;" id="1495" name="Google Shape;1495;p96" title="7 times 1 over x y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62568" y="3334808"/>
            <a:ext cx="1148500" cy="806056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96"/>
          <p:cNvSpPr txBox="1"/>
          <p:nvPr>
            <p:ph type="title"/>
          </p:nvPr>
        </p:nvSpPr>
        <p:spPr>
          <a:xfrm>
            <a:off x="324000" y="748775"/>
            <a:ext cx="476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is the our final rearrangement?</a:t>
            </a:r>
            <a:endParaRPr/>
          </a:p>
        </p:txBody>
      </p:sp>
      <p:pic>
        <p:nvPicPr>
          <p:cNvPr id="1497" name="Google Shape;1497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0658" y="1906003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96"/>
          <p:cNvSpPr txBox="1"/>
          <p:nvPr>
            <p:ph idx="4" type="subTitle"/>
          </p:nvPr>
        </p:nvSpPr>
        <p:spPr>
          <a:xfrm>
            <a:off x="5377825" y="3462175"/>
            <a:ext cx="2179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9" name="Google Shape;1499;p96"/>
          <p:cNvSpPr txBox="1"/>
          <p:nvPr>
            <p:ph idx="4" type="subTitle"/>
          </p:nvPr>
        </p:nvSpPr>
        <p:spPr>
          <a:xfrm>
            <a:off x="988400" y="3743950"/>
            <a:ext cx="1281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 = 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0" name="Google Shape;1500;p96"/>
          <p:cNvSpPr txBox="1"/>
          <p:nvPr>
            <p:ph idx="4" type="subTitle"/>
          </p:nvPr>
        </p:nvSpPr>
        <p:spPr>
          <a:xfrm>
            <a:off x="988400" y="1815950"/>
            <a:ext cx="1342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1" name="Google Shape;1501;p96"/>
          <p:cNvSpPr txBox="1"/>
          <p:nvPr/>
        </p:nvSpPr>
        <p:spPr>
          <a:xfrm flipH="1">
            <a:off x="3189482" y="2851538"/>
            <a:ext cx="1060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fully simplified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97"/>
          <p:cNvSpPr txBox="1"/>
          <p:nvPr>
            <p:ph idx="4" type="subTitle"/>
          </p:nvPr>
        </p:nvSpPr>
        <p:spPr>
          <a:xfrm>
            <a:off x="988398" y="2852575"/>
            <a:ext cx="170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 = 5 ×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7" name="Google Shape;150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512" y="289660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9356" y="38113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xy^3}=5&quot;&gt;&lt;mfrac&gt;&lt;mn&gt;7&lt;/mn&gt;&lt;mrow&gt;&lt;mi&gt;x&lt;/mi&gt;&lt;msup&gt;&lt;mi&gt;y&lt;/mi&gt;&lt;mn&gt;3&lt;/mn&gt;&lt;/msup&gt;&lt;/mrow&gt;&lt;/mfrac&gt;&lt;mo&gt;=&lt;/mo&gt;&lt;mn&gt;5&lt;/mn&gt;&lt;/math&gt;" id="1510" name="Google Shape;1510;p97" title="7 over x y cubed equal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8525" y="1173375"/>
            <a:ext cx="1148500" cy="7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97"/>
          <p:cNvSpPr txBox="1"/>
          <p:nvPr>
            <p:ph type="title"/>
          </p:nvPr>
        </p:nvSpPr>
        <p:spPr>
          <a:xfrm>
            <a:off x="324000" y="748775"/>
            <a:ext cx="476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is the our final rearrangement?</a:t>
            </a:r>
            <a:endParaRPr/>
          </a:p>
        </p:txBody>
      </p:sp>
      <p:pic>
        <p:nvPicPr>
          <p:cNvPr id="1512" name="Google Shape;151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0658" y="1906003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97"/>
          <p:cNvSpPr txBox="1"/>
          <p:nvPr>
            <p:ph idx="4" type="subTitle"/>
          </p:nvPr>
        </p:nvSpPr>
        <p:spPr>
          <a:xfrm>
            <a:off x="988398" y="3743962"/>
            <a:ext cx="170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 = 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4" name="Google Shape;1514;p97"/>
          <p:cNvSpPr txBox="1"/>
          <p:nvPr>
            <p:ph idx="4" type="subTitle"/>
          </p:nvPr>
        </p:nvSpPr>
        <p:spPr>
          <a:xfrm>
            <a:off x="988398" y="1815948"/>
            <a:ext cx="170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5 = 7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5" name="Google Shape;1515;p97"/>
          <p:cNvSpPr txBox="1"/>
          <p:nvPr>
            <p:ph idx="4" type="subTitle"/>
          </p:nvPr>
        </p:nvSpPr>
        <p:spPr>
          <a:xfrm>
            <a:off x="5906878" y="2296162"/>
            <a:ext cx="170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 = 5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6" name="Google Shape;1516;p97"/>
          <p:cNvSpPr txBox="1"/>
          <p:nvPr/>
        </p:nvSpPr>
        <p:spPr>
          <a:xfrm flipH="1">
            <a:off x="4789751" y="3156350"/>
            <a:ext cx="3057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When you become really confident you could do this in one quick step,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xy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98"/>
          <p:cNvSpPr/>
          <p:nvPr/>
        </p:nvSpPr>
        <p:spPr>
          <a:xfrm>
            <a:off x="4678763" y="1394250"/>
            <a:ext cx="41412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0.82}{0.2}=4.1&quot;&gt;&lt;mfrac&gt;&lt;mn&gt;0.82&lt;/mn&gt;&lt;mn&gt;0.2&lt;/mn&gt;&lt;/mfrac&gt;&lt;mo&gt;=&lt;/mo&gt;&lt;mn&gt;4.1&lt;/mn&gt;&lt;/math&gt;" id="1522" name="Google Shape;1522;p98" title="0.82 over 0.2 equals 4.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967" y="2253134"/>
            <a:ext cx="1369464" cy="647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98"/>
          <p:cNvSpPr txBox="1"/>
          <p:nvPr>
            <p:ph idx="1" type="body"/>
          </p:nvPr>
        </p:nvSpPr>
        <p:spPr>
          <a:xfrm>
            <a:off x="324000" y="759300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family of rearrangements for the below equations.</a:t>
            </a:r>
            <a:endParaRPr/>
          </a:p>
        </p:txBody>
      </p:sp>
      <p:sp>
        <p:nvSpPr>
          <p:cNvPr id="1524" name="Google Shape;1524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</a:t>
            </a:r>
            <a:r>
              <a:rPr lang="en-GB"/>
              <a:t> multiplicative relationships</a:t>
            </a:r>
            <a:endParaRPr/>
          </a:p>
        </p:txBody>
      </p:sp>
      <p:sp>
        <p:nvSpPr>
          <p:cNvPr id="1525" name="Google Shape;1525;p98"/>
          <p:cNvSpPr/>
          <p:nvPr/>
        </p:nvSpPr>
        <p:spPr>
          <a:xfrm>
            <a:off x="641288" y="1394250"/>
            <a:ext cx="3389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8"/>
          <p:cNvSpPr txBox="1"/>
          <p:nvPr>
            <p:ph idx="4294967295" type="body"/>
          </p:nvPr>
        </p:nvSpPr>
        <p:spPr>
          <a:xfrm>
            <a:off x="834374" y="1539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19 × 5 = 95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7" name="Google Shape;1527;p98"/>
          <p:cNvSpPr txBox="1"/>
          <p:nvPr>
            <p:ph idx="4294967295" type="body"/>
          </p:nvPr>
        </p:nvSpPr>
        <p:spPr>
          <a:xfrm>
            <a:off x="834373" y="2301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19 = 95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8" name="Google Shape;1528;p98"/>
          <p:cNvSpPr/>
          <p:nvPr/>
        </p:nvSpPr>
        <p:spPr>
          <a:xfrm>
            <a:off x="637275" y="3092000"/>
            <a:ext cx="3389100" cy="171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98"/>
          <p:cNvSpPr txBox="1"/>
          <p:nvPr>
            <p:ph idx="4294967295" type="body"/>
          </p:nvPr>
        </p:nvSpPr>
        <p:spPr>
          <a:xfrm>
            <a:off x="8343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56</a:t>
            </a:r>
            <a:endParaRPr/>
          </a:p>
        </p:txBody>
      </p:sp>
      <p:sp>
        <p:nvSpPr>
          <p:cNvPr id="1530" name="Google Shape;1530;p98"/>
          <p:cNvSpPr txBox="1"/>
          <p:nvPr>
            <p:ph idx="4294967295" type="body"/>
          </p:nvPr>
        </p:nvSpPr>
        <p:spPr>
          <a:xfrm>
            <a:off x="8343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× 7 = 56</a:t>
            </a:r>
            <a:endParaRPr/>
          </a:p>
        </p:txBody>
      </p:sp>
      <p:sp>
        <p:nvSpPr>
          <p:cNvPr id="1531" name="Google Shape;1531;p98"/>
          <p:cNvSpPr txBox="1"/>
          <p:nvPr/>
        </p:nvSpPr>
        <p:spPr>
          <a:xfrm>
            <a:off x="324000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8"/>
          <p:cNvSpPr txBox="1"/>
          <p:nvPr/>
        </p:nvSpPr>
        <p:spPr>
          <a:xfrm>
            <a:off x="324000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8"/>
          <p:cNvSpPr txBox="1"/>
          <p:nvPr/>
        </p:nvSpPr>
        <p:spPr>
          <a:xfrm>
            <a:off x="4351093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8"/>
          <p:cNvSpPr txBox="1"/>
          <p:nvPr/>
        </p:nvSpPr>
        <p:spPr>
          <a:xfrm>
            <a:off x="4351093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8"/>
          <p:cNvSpPr txBox="1"/>
          <p:nvPr>
            <p:ph idx="4294967295" type="body"/>
          </p:nvPr>
        </p:nvSpPr>
        <p:spPr>
          <a:xfrm>
            <a:off x="4833139" y="1539975"/>
            <a:ext cx="2130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0.2 × 4.1 = 0.82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6" name="Google Shape;1536;p98"/>
          <p:cNvSpPr txBox="1"/>
          <p:nvPr>
            <p:ph idx="4294967295" type="body"/>
          </p:nvPr>
        </p:nvSpPr>
        <p:spPr>
          <a:xfrm>
            <a:off x="4833135" y="2301975"/>
            <a:ext cx="21864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.1 × 0.2 = 0.82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7" name="Google Shape;1537;p98"/>
          <p:cNvSpPr/>
          <p:nvPr/>
        </p:nvSpPr>
        <p:spPr>
          <a:xfrm>
            <a:off x="4674500" y="3092150"/>
            <a:ext cx="3602100" cy="171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98"/>
          <p:cNvSpPr txBox="1"/>
          <p:nvPr>
            <p:ph idx="4294967295" type="body"/>
          </p:nvPr>
        </p:nvSpPr>
        <p:spPr>
          <a:xfrm>
            <a:off x="48729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539" name="Google Shape;1539;p98"/>
          <p:cNvSpPr txBox="1"/>
          <p:nvPr>
            <p:ph idx="4294967295" type="body"/>
          </p:nvPr>
        </p:nvSpPr>
        <p:spPr>
          <a:xfrm>
            <a:off x="48729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95}{19}=5&quot;&gt;&lt;mfrac&gt;&lt;mn&gt;95&lt;/mn&gt;&lt;mn&gt;19&lt;/mn&gt;&lt;/mfrac&gt;&lt;mo&gt;=&lt;/mo&gt;&lt;mn&gt;5&lt;/mn&gt;&lt;/math&gt;" id="1540" name="Google Shape;1540;p98" title="95 over 19 equal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486" y="2260768"/>
            <a:ext cx="909303" cy="643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5}{5}=19&quot;&gt;&lt;mfrac&gt;&lt;mn&gt;95&lt;/mn&gt;&lt;mn&gt;5&lt;/mn&gt;&lt;/mfrac&gt;&lt;mo&gt;=&lt;/mo&gt;&lt;mn&gt;19&lt;/mn&gt;&lt;/math&gt;" id="1541" name="Google Shape;1541;p98" title="95 over 5 equals 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586" y="1466138"/>
            <a:ext cx="1071503" cy="648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82}{4.1}=0.2&quot;&gt;&lt;mfrac&gt;&lt;mn&gt;0.82&lt;/mn&gt;&lt;mn&gt;4.1&lt;/mn&gt;&lt;/mfrac&gt;&lt;mo&gt;=&lt;/mo&gt;&lt;mn&gt;0.2&lt;/mn&gt;&lt;/math&gt;" id="1542" name="Google Shape;1542;p98" title="0.82 over 4.1 equals 0.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4980" y="1477073"/>
            <a:ext cx="1383438" cy="642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6}{y}=7\end{array}&quot;&gt;&lt;mtable columnalign=&quot;left&quot; columnspacing=&quot;1em&quot; rowspacing=&quot;4pt&quot;&gt;&lt;mtr&gt;&lt;mtd&gt;&lt;mfrac&gt;&lt;mn&gt;56&lt;/mn&gt;&lt;mi&gt;y&lt;/mi&gt;&lt;/mfrac&gt;&lt;mo&gt;=&lt;/mo&gt;&lt;mn&gt;7&lt;/mn&gt;&lt;/mtd&gt;&lt;/mtr&gt;&lt;/mtable&gt;&lt;/math&gt;" id="1543" name="Google Shape;1543;p98" title="1 lines Line 1: 56 over y equal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2194" y="3327266"/>
            <a:ext cx="1047830" cy="563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P}{F}=A\end{array}&quot;&gt;&lt;mtable columnalign=&quot;left&quot; columnspacing=&quot;1em&quot; rowspacing=&quot;4pt&quot;&gt;&lt;mtr&gt;&lt;mtd&gt;&lt;mfrac&gt;&lt;mi&gt;P&lt;/mi&gt;&lt;mi&gt;F&lt;/mi&gt;&lt;/mfrac&gt;&lt;mo&gt;=&lt;/mo&gt;&lt;mi&gt;A&lt;/mi&gt;&lt;/mtd&gt;&lt;/mtr&gt;&lt;/mtable&gt;&lt;/math&gt;" id="1544" name="Google Shape;1544;p98" title="1 lines Line 1: P over F equals 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00318" y="4109161"/>
            <a:ext cx="1054461" cy="523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P}{A}=F\end{array}&quot;&gt;&lt;mtable columnalign=&quot;left&quot; columnspacing=&quot;1em&quot; rowspacing=&quot;4pt&quot;&gt;&lt;mtr&gt;&lt;mtd&gt;&lt;mfrac&gt;&lt;mi&gt;P&lt;/mi&gt;&lt;mi&gt;A&lt;/mi&gt;&lt;/mfrac&gt;&lt;mo&gt;=&lt;/mo&gt;&lt;mi&gt;F&lt;/mi&gt;&lt;/mtd&gt;&lt;/mtr&gt;&lt;/mtable&gt;&lt;/math&gt;" id="1545" name="Google Shape;1545;p98" title="1 lines Line 1: P over A equals 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0846" y="3294106"/>
            <a:ext cx="1067725" cy="523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6}{7}=y\end{array}&quot;&gt;&lt;mtable columnalign=&quot;left&quot; columnspacing=&quot;1em&quot; rowspacing=&quot;4pt&quot;&gt;&lt;mtr&gt;&lt;mtd&gt;&lt;mfrac&gt;&lt;mn&gt;56&lt;/mn&gt;&lt;mn&gt;7&lt;/mn&gt;&lt;/mfrac&gt;&lt;mo&gt;=&lt;/mo&gt;&lt;mi&gt;y&lt;/mi&gt;&lt;/mtd&gt;&lt;/mtr&gt;&lt;/mtable&gt;&lt;/math&gt;" id="1546" name="Google Shape;1546;p98" title="1 lines Line 1: 56 over 7 equals y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82092" y="4101031"/>
            <a:ext cx="1034230" cy="523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7" name="Google Shape;1547;p98"/>
          <p:cNvGrpSpPr/>
          <p:nvPr/>
        </p:nvGrpSpPr>
        <p:grpSpPr>
          <a:xfrm>
            <a:off x="697666" y="2305124"/>
            <a:ext cx="1731516" cy="369600"/>
            <a:chOff x="694853" y="2325325"/>
            <a:chExt cx="1731516" cy="369600"/>
          </a:xfrm>
        </p:grpSpPr>
        <p:sp>
          <p:nvSpPr>
            <p:cNvPr id="1548" name="Google Shape;1548;p98"/>
            <p:cNvSpPr/>
            <p:nvPr/>
          </p:nvSpPr>
          <p:spPr>
            <a:xfrm>
              <a:off x="20249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98"/>
            <p:cNvSpPr/>
            <p:nvPr/>
          </p:nvSpPr>
          <p:spPr>
            <a:xfrm>
              <a:off x="131886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0" name="Google Shape;1550;p98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1" name="Google Shape;1551;p98"/>
          <p:cNvGrpSpPr/>
          <p:nvPr/>
        </p:nvGrpSpPr>
        <p:grpSpPr>
          <a:xfrm>
            <a:off x="2684940" y="2238793"/>
            <a:ext cx="1150505" cy="729320"/>
            <a:chOff x="2716648" y="2258994"/>
            <a:chExt cx="1150505" cy="729320"/>
          </a:xfrm>
        </p:grpSpPr>
        <p:sp>
          <p:nvSpPr>
            <p:cNvPr id="1552" name="Google Shape;1552;p98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3" name="Google Shape;1553;p98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4" name="Google Shape;1554;p98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5" name="Google Shape;1555;p98"/>
          <p:cNvGrpSpPr/>
          <p:nvPr/>
        </p:nvGrpSpPr>
        <p:grpSpPr>
          <a:xfrm>
            <a:off x="778213" y="1543124"/>
            <a:ext cx="1662475" cy="369601"/>
            <a:chOff x="763893" y="2325325"/>
            <a:chExt cx="1662475" cy="369601"/>
          </a:xfrm>
        </p:grpSpPr>
        <p:sp>
          <p:nvSpPr>
            <p:cNvPr id="1556" name="Google Shape;1556;p98"/>
            <p:cNvSpPr/>
            <p:nvPr/>
          </p:nvSpPr>
          <p:spPr>
            <a:xfrm>
              <a:off x="20249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98"/>
            <p:cNvSpPr/>
            <p:nvPr/>
          </p:nvSpPr>
          <p:spPr>
            <a:xfrm>
              <a:off x="1453475" y="2325326"/>
              <a:ext cx="245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98"/>
            <p:cNvSpPr/>
            <p:nvPr/>
          </p:nvSpPr>
          <p:spPr>
            <a:xfrm>
              <a:off x="76389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9" name="Google Shape;1559;p98"/>
          <p:cNvGrpSpPr/>
          <p:nvPr/>
        </p:nvGrpSpPr>
        <p:grpSpPr>
          <a:xfrm>
            <a:off x="7249672" y="1442236"/>
            <a:ext cx="1413733" cy="729320"/>
            <a:chOff x="2752924" y="2258994"/>
            <a:chExt cx="1114229" cy="729320"/>
          </a:xfrm>
        </p:grpSpPr>
        <p:sp>
          <p:nvSpPr>
            <p:cNvPr id="1560" name="Google Shape;1560;p98"/>
            <p:cNvSpPr/>
            <p:nvPr/>
          </p:nvSpPr>
          <p:spPr>
            <a:xfrm>
              <a:off x="2752924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1" name="Google Shape;1561;p98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2" name="Google Shape;1562;p98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3" name="Google Shape;1563;p98"/>
          <p:cNvGrpSpPr/>
          <p:nvPr/>
        </p:nvGrpSpPr>
        <p:grpSpPr>
          <a:xfrm>
            <a:off x="4846957" y="2305125"/>
            <a:ext cx="2116117" cy="369602"/>
            <a:chOff x="694853" y="2325323"/>
            <a:chExt cx="1952858" cy="369602"/>
          </a:xfrm>
        </p:grpSpPr>
        <p:sp>
          <p:nvSpPr>
            <p:cNvPr id="1564" name="Google Shape;1564;p98"/>
            <p:cNvSpPr/>
            <p:nvPr/>
          </p:nvSpPr>
          <p:spPr>
            <a:xfrm>
              <a:off x="2099312" y="2325323"/>
              <a:ext cx="548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98"/>
            <p:cNvSpPr/>
            <p:nvPr/>
          </p:nvSpPr>
          <p:spPr>
            <a:xfrm>
              <a:off x="141042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98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7" name="Google Shape;1567;p98"/>
          <p:cNvGrpSpPr/>
          <p:nvPr/>
        </p:nvGrpSpPr>
        <p:grpSpPr>
          <a:xfrm>
            <a:off x="4846957" y="1566138"/>
            <a:ext cx="2116117" cy="369602"/>
            <a:chOff x="694853" y="2325323"/>
            <a:chExt cx="1952858" cy="369602"/>
          </a:xfrm>
        </p:grpSpPr>
        <p:sp>
          <p:nvSpPr>
            <p:cNvPr id="1568" name="Google Shape;1568;p98"/>
            <p:cNvSpPr/>
            <p:nvPr/>
          </p:nvSpPr>
          <p:spPr>
            <a:xfrm>
              <a:off x="2099312" y="2325323"/>
              <a:ext cx="548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98"/>
            <p:cNvSpPr/>
            <p:nvPr/>
          </p:nvSpPr>
          <p:spPr>
            <a:xfrm>
              <a:off x="141042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98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1" name="Google Shape;1571;p98"/>
          <p:cNvGrpSpPr/>
          <p:nvPr/>
        </p:nvGrpSpPr>
        <p:grpSpPr>
          <a:xfrm>
            <a:off x="697666" y="3348900"/>
            <a:ext cx="1579116" cy="369611"/>
            <a:chOff x="694853" y="2325314"/>
            <a:chExt cx="1579116" cy="369611"/>
          </a:xfrm>
        </p:grpSpPr>
        <p:sp>
          <p:nvSpPr>
            <p:cNvPr id="1572" name="Google Shape;1572;p98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98"/>
            <p:cNvSpPr/>
            <p:nvPr/>
          </p:nvSpPr>
          <p:spPr>
            <a:xfrm>
              <a:off x="1284348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98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5" name="Google Shape;1575;p98"/>
          <p:cNvGrpSpPr/>
          <p:nvPr/>
        </p:nvGrpSpPr>
        <p:grpSpPr>
          <a:xfrm>
            <a:off x="2638914" y="4010060"/>
            <a:ext cx="1185025" cy="729320"/>
            <a:chOff x="2716648" y="2258994"/>
            <a:chExt cx="1185025" cy="729320"/>
          </a:xfrm>
        </p:grpSpPr>
        <p:sp>
          <p:nvSpPr>
            <p:cNvPr id="1576" name="Google Shape;1576;p98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98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98"/>
            <p:cNvSpPr/>
            <p:nvPr/>
          </p:nvSpPr>
          <p:spPr>
            <a:xfrm>
              <a:off x="354467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9" name="Google Shape;1579;p98"/>
          <p:cNvGrpSpPr/>
          <p:nvPr/>
        </p:nvGrpSpPr>
        <p:grpSpPr>
          <a:xfrm>
            <a:off x="686159" y="4164087"/>
            <a:ext cx="1579116" cy="369611"/>
            <a:chOff x="694853" y="2325314"/>
            <a:chExt cx="1579116" cy="369611"/>
          </a:xfrm>
        </p:grpSpPr>
        <p:sp>
          <p:nvSpPr>
            <p:cNvPr id="1580" name="Google Shape;1580;p98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1" name="Google Shape;1581;p98"/>
            <p:cNvSpPr/>
            <p:nvPr/>
          </p:nvSpPr>
          <p:spPr>
            <a:xfrm>
              <a:off x="1284348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2" name="Google Shape;1582;p98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3" name="Google Shape;1583;p98"/>
          <p:cNvGrpSpPr/>
          <p:nvPr/>
        </p:nvGrpSpPr>
        <p:grpSpPr>
          <a:xfrm>
            <a:off x="4766439" y="4164087"/>
            <a:ext cx="1510071" cy="369613"/>
            <a:chOff x="694853" y="2325314"/>
            <a:chExt cx="1510071" cy="369613"/>
          </a:xfrm>
        </p:grpSpPr>
        <p:sp>
          <p:nvSpPr>
            <p:cNvPr id="1584" name="Google Shape;1584;p98"/>
            <p:cNvSpPr/>
            <p:nvPr/>
          </p:nvSpPr>
          <p:spPr>
            <a:xfrm>
              <a:off x="1881525" y="2325328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5" name="Google Shape;1585;p98"/>
            <p:cNvSpPr/>
            <p:nvPr/>
          </p:nvSpPr>
          <p:spPr>
            <a:xfrm>
              <a:off x="1307361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98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7" name="Google Shape;1587;p98"/>
          <p:cNvGrpSpPr/>
          <p:nvPr/>
        </p:nvGrpSpPr>
        <p:grpSpPr>
          <a:xfrm>
            <a:off x="4766439" y="3337393"/>
            <a:ext cx="1510071" cy="369613"/>
            <a:chOff x="694853" y="2325314"/>
            <a:chExt cx="1510071" cy="369613"/>
          </a:xfrm>
        </p:grpSpPr>
        <p:sp>
          <p:nvSpPr>
            <p:cNvPr id="1588" name="Google Shape;1588;p98"/>
            <p:cNvSpPr/>
            <p:nvPr/>
          </p:nvSpPr>
          <p:spPr>
            <a:xfrm>
              <a:off x="1881525" y="2325328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9" name="Google Shape;1589;p98"/>
            <p:cNvSpPr/>
            <p:nvPr/>
          </p:nvSpPr>
          <p:spPr>
            <a:xfrm>
              <a:off x="1307361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0" name="Google Shape;1590;p98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1" name="Google Shape;1591;p98"/>
          <p:cNvGrpSpPr/>
          <p:nvPr/>
        </p:nvGrpSpPr>
        <p:grpSpPr>
          <a:xfrm>
            <a:off x="6598501" y="3190526"/>
            <a:ext cx="1185025" cy="729320"/>
            <a:chOff x="2716648" y="2258994"/>
            <a:chExt cx="1185025" cy="729320"/>
          </a:xfrm>
        </p:grpSpPr>
        <p:sp>
          <p:nvSpPr>
            <p:cNvPr id="1592" name="Google Shape;1592;p98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3" name="Google Shape;1593;p98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4" name="Google Shape;1594;p98"/>
            <p:cNvSpPr/>
            <p:nvPr/>
          </p:nvSpPr>
          <p:spPr>
            <a:xfrm>
              <a:off x="354467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9" name="Google Shape;1599;p9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5" y="2417332"/>
            <a:ext cx="4121349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9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Lucas is rearranging equations.</a:t>
            </a:r>
            <a:endParaRPr/>
          </a:p>
        </p:txBody>
      </p:sp>
      <p:sp>
        <p:nvSpPr>
          <p:cNvPr id="1601" name="Google Shape;1601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602" name="Google Shape;1602;p99"/>
          <p:cNvSpPr txBox="1"/>
          <p:nvPr>
            <p:ph idx="1" type="body"/>
          </p:nvPr>
        </p:nvSpPr>
        <p:spPr>
          <a:xfrm>
            <a:off x="324000" y="11287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603" name="Google Shape;1603;p99"/>
          <p:cNvSpPr txBox="1"/>
          <p:nvPr>
            <p:ph idx="1" type="body"/>
          </p:nvPr>
        </p:nvSpPr>
        <p:spPr>
          <a:xfrm>
            <a:off x="324000" y="3578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604" name="Google Shape;1604;p99"/>
          <p:cNvSpPr txBox="1"/>
          <p:nvPr>
            <p:ph idx="1" type="body"/>
          </p:nvPr>
        </p:nvSpPr>
        <p:spPr>
          <a:xfrm>
            <a:off x="312493" y="2359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id="1605" name="Google Shape;160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294" y="2201354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" name="Google Shape;1606;p9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044284" y="1250625"/>
            <a:ext cx="3754675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99"/>
          <p:cNvSpPr txBox="1"/>
          <p:nvPr/>
        </p:nvSpPr>
        <p:spPr>
          <a:xfrm flipH="1">
            <a:off x="5377780" y="1293000"/>
            <a:ext cx="3327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just ‘swap positions’ in the equation.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8" name="Google Shape;1608;p9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6" y="1189450"/>
            <a:ext cx="4039414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99"/>
          <p:cNvSpPr txBox="1"/>
          <p:nvPr/>
        </p:nvSpPr>
        <p:spPr>
          <a:xfrm flipH="1">
            <a:off x="1884468" y="144539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0" name="Google Shape;1610;p9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5" y="3666702"/>
            <a:ext cx="4121349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99"/>
          <p:cNvSpPr txBox="1"/>
          <p:nvPr>
            <p:ph idx="1" type="body"/>
          </p:nvPr>
        </p:nvSpPr>
        <p:spPr>
          <a:xfrm>
            <a:off x="4819425" y="3243725"/>
            <a:ext cx="40005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each case decide if Lucas is correct and write a sentence to justify your decision.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\frac{72}{9}=8\end{array}&quot;&gt;&lt;mtable columnalign=&quot;left&quot; columnspacing=&quot;1em&quot; rowspacing=&quot;4pt&quot;&gt;&lt;mtr&gt;&lt;mtd&gt;&lt;mfrac&gt;&lt;mn&gt;72&lt;/mn&gt;&lt;mn&gt;9&lt;/mn&gt;&lt;/mfrac&gt;&lt;mo&gt;=&lt;/mo&gt;&lt;mn&gt;8&lt;/mn&gt;&lt;/mtd&gt;&lt;/mtr&gt;&lt;/mtable&gt;&lt;/math&gt;" id="1612" name="Google Shape;1612;p99" title="1 lines Line 1: 72 over 9 equals 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216" y="1358205"/>
            <a:ext cx="995664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2}{8}=9\end{array}&quot;&gt;&lt;mtable columnalign=&quot;left&quot; columnspacing=&quot;1em&quot; rowspacing=&quot;4pt&quot;&gt;&lt;mtr&gt;&lt;mtd&gt;&lt;mfrac&gt;&lt;mn&gt;72&lt;/mn&gt;&lt;mn&gt;8&lt;/mn&gt;&lt;/mfrac&gt;&lt;mo&gt;=&lt;/mo&gt;&lt;mn&gt;9&lt;/mn&gt;&lt;/mtd&gt;&lt;/mtr&gt;&lt;/mtable&gt;&lt;/math&gt;" id="1613" name="Google Shape;1613;p99" title="1 lines Line 1: 72 over 8 equals 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8280" y="1348325"/>
            <a:ext cx="1010556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b}=h\end{array}&quot;&gt;&lt;mtable columnalign=&quot;left&quot; columnspacing=&quot;1em&quot; rowspacing=&quot;4pt&quot;&gt;&lt;mtr&gt;&lt;mtd&gt;&lt;mfrac&gt;&lt;mn&gt;5&lt;/mn&gt;&lt;mi&gt;b&lt;/mi&gt;&lt;/mfrac&gt;&lt;mo&gt;=&lt;/mo&gt;&lt;mi&gt;h&lt;/mi&gt;&lt;/mtd&gt;&lt;/mtr&gt;&lt;/mtable&gt;&lt;/math&gt;" id="1614" name="Google Shape;1614;p99" title="1 lines Line 1: 5 over b equals 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2756" y="2567525"/>
            <a:ext cx="871206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h}=b\end{array}&quot;&gt;&lt;mtable columnalign=&quot;left&quot; columnspacing=&quot;1em&quot; rowspacing=&quot;4pt&quot;&gt;&lt;mtr&gt;&lt;mtd&gt;&lt;mfrac&gt;&lt;mn&gt;5&lt;/mn&gt;&lt;mi&gt;h&lt;/mi&gt;&lt;/mfrac&gt;&lt;mo&gt;=&lt;/mo&gt;&lt;mi&gt;b&lt;/mi&gt;&lt;/mtd&gt;&lt;/mtr&gt;&lt;/mtable&gt;&lt;/math&gt;" id="1615" name="Google Shape;1615;p99" title="1 lines Line 1: 5 over h equals b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880" y="2566541"/>
            <a:ext cx="871200" cy="519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x}=2\end{array}&quot;&gt;&lt;mtable columnalign=&quot;left&quot; columnspacing=&quot;1em&quot; rowspacing=&quot;4pt&quot;&gt;&lt;mtr&gt;&lt;mtd&gt;&lt;mfrac&gt;&lt;mn&gt;13&lt;/mn&gt;&lt;mi&gt;x&lt;/mi&gt;&lt;/mfrac&gt;&lt;mo&gt;=&lt;/mo&gt;&lt;mn&gt;2&lt;/mn&gt;&lt;/mtd&gt;&lt;/mtr&gt;&lt;/mtable&gt;&lt;/math&gt;" id="1616" name="Google Shape;1616;p99" title="1 lines Line 1: 13 over x equals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7850" y="3844130"/>
            <a:ext cx="1011550" cy="496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x}=13\end{array}&quot;&gt;&lt;mtable columnalign=&quot;left&quot; columnspacing=&quot;1em&quot; rowspacing=&quot;4pt&quot;&gt;&lt;mtr&gt;&lt;mtd&gt;&lt;mfrac&gt;&lt;mn&gt;2&lt;/mn&gt;&lt;mi&gt;x&lt;/mi&gt;&lt;/mfrac&gt;&lt;mo&gt;=&lt;/mo&gt;&lt;mn&gt;13&lt;/mn&gt;&lt;/mtd&gt;&lt;/mtr&gt;&lt;/mtable&gt;&lt;/math&gt;" id="1617" name="Google Shape;1617;p99" title="1 lines Line 1: 2 over x equals 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65905" y="3852749"/>
            <a:ext cx="1069537" cy="489672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99"/>
          <p:cNvSpPr txBox="1"/>
          <p:nvPr/>
        </p:nvSpPr>
        <p:spPr>
          <a:xfrm flipH="1">
            <a:off x="1884468" y="267175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9" name="Google Shape;1619;p99"/>
          <p:cNvSpPr txBox="1"/>
          <p:nvPr/>
        </p:nvSpPr>
        <p:spPr>
          <a:xfrm flipH="1">
            <a:off x="1884468" y="393263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625" name="Google Shape;1625;p100"/>
          <p:cNvSpPr txBox="1"/>
          <p:nvPr>
            <p:ph idx="4294967295" type="title"/>
          </p:nvPr>
        </p:nvSpPr>
        <p:spPr>
          <a:xfrm>
            <a:off x="324000" y="748775"/>
            <a:ext cx="71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100"/>
              <a:t>3) Re</a:t>
            </a:r>
            <a:r>
              <a:rPr b="0" lang="en-GB" sz="2100"/>
              <a:t>arrange each equation into the form </a:t>
            </a:r>
            <a:r>
              <a:rPr b="0" lang="en-GB" sz="2300">
                <a:latin typeface="Times New Roman"/>
                <a:ea typeface="Times New Roman"/>
                <a:cs typeface="Times New Roman"/>
                <a:sym typeface="Times New Roman"/>
              </a:rPr>
              <a:t>a × b = c</a:t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6" name="Google Shape;1626;p100"/>
          <p:cNvSpPr txBox="1"/>
          <p:nvPr/>
        </p:nvSpPr>
        <p:spPr>
          <a:xfrm>
            <a:off x="324000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00"/>
          <p:cNvSpPr txBox="1"/>
          <p:nvPr/>
        </p:nvSpPr>
        <p:spPr>
          <a:xfrm>
            <a:off x="3360493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00"/>
          <p:cNvSpPr txBox="1"/>
          <p:nvPr/>
        </p:nvSpPr>
        <p:spPr>
          <a:xfrm>
            <a:off x="5787387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x}{8}=y&quot;&gt;&lt;mfrac&gt;&lt;mi&gt;x&lt;/mi&gt;&lt;mn&gt;8&lt;/mn&gt;&lt;/mfrac&gt;&lt;mo&gt;=&lt;/mo&gt;&lt;mi&gt;y&lt;/mi&gt;&lt;/math&gt;" id="1629" name="Google Shape;1629;p100" title="x over 8 equals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014" y="1237650"/>
            <a:ext cx="928131" cy="6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3y}=y&quot;&gt;&lt;mfrac&gt;&lt;mi&gt;x&lt;/mi&gt;&lt;mrow&gt;&lt;mn&gt;3&lt;/mn&gt;&lt;mi&gt;y&lt;/mi&gt;&lt;/mrow&gt;&lt;/mfrac&gt;&lt;mo&gt;=&lt;/mo&gt;&lt;mi&gt;y&lt;/mi&gt;&lt;/math&gt;" id="1630" name="Google Shape;1630;p100" title="x over 3 y equals 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336" y="1268200"/>
            <a:ext cx="1000788" cy="6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x}{3yz}=4z^2&quot;&gt;&lt;mfrac&gt;&lt;mrow&gt;&lt;mn&gt;5&lt;/mn&gt;&lt;mi&gt;x&lt;/mi&gt;&lt;/mrow&gt;&lt;mrow&gt;&lt;mn&gt;3&lt;/mn&gt;&lt;mi&gt;y&lt;/mi&gt;&lt;mi&gt;z&lt;/mi&gt;&lt;/mrow&gt;&lt;/mfrac&gt;&lt;mo&gt;=&lt;/mo&gt;&lt;mn&gt;4&lt;/mn&gt;&lt;msup&gt;&lt;mi&gt;z&lt;/mi&gt;&lt;mn&gt;2&lt;/mn&gt;&lt;/msup&gt;&lt;/math&gt;" id="1631" name="Google Shape;1631;p100" title="5 x over 3 y z equals 4 z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5731" y="1245505"/>
            <a:ext cx="1292612" cy="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01"/>
          <p:cNvSpPr/>
          <p:nvPr/>
        </p:nvSpPr>
        <p:spPr>
          <a:xfrm>
            <a:off x="4678763" y="1394250"/>
            <a:ext cx="41412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0.82}{0.2}=4.1&quot;&gt;&lt;mfrac&gt;&lt;mn&gt;0.82&lt;/mn&gt;&lt;mn&gt;0.2&lt;/mn&gt;&lt;/mfrac&gt;&lt;mo&gt;=&lt;/mo&gt;&lt;mn&gt;4.1&lt;/mn&gt;&lt;/math&gt;" id="1637" name="Google Shape;1637;p101" title="0.82 over 0.2 equals 4.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967" y="2253134"/>
            <a:ext cx="1369464" cy="647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101"/>
          <p:cNvSpPr txBox="1"/>
          <p:nvPr>
            <p:ph idx="1" type="body"/>
          </p:nvPr>
        </p:nvSpPr>
        <p:spPr>
          <a:xfrm>
            <a:off x="324000" y="759300"/>
            <a:ext cx="84960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family of rearrangements for the below equations.</a:t>
            </a:r>
            <a:endParaRPr/>
          </a:p>
        </p:txBody>
      </p:sp>
      <p:sp>
        <p:nvSpPr>
          <p:cNvPr id="1639" name="Google Shape;1639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640" name="Google Shape;1640;p101"/>
          <p:cNvSpPr/>
          <p:nvPr/>
        </p:nvSpPr>
        <p:spPr>
          <a:xfrm>
            <a:off x="641288" y="1394250"/>
            <a:ext cx="3389100" cy="159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01"/>
          <p:cNvSpPr txBox="1"/>
          <p:nvPr>
            <p:ph idx="4294967295" type="body"/>
          </p:nvPr>
        </p:nvSpPr>
        <p:spPr>
          <a:xfrm>
            <a:off x="834374" y="1539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19 × 5 = 95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2" name="Google Shape;1642;p101"/>
          <p:cNvSpPr txBox="1"/>
          <p:nvPr>
            <p:ph idx="4294967295" type="body"/>
          </p:nvPr>
        </p:nvSpPr>
        <p:spPr>
          <a:xfrm>
            <a:off x="834373" y="2301975"/>
            <a:ext cx="16455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 × 19 = 95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3" name="Google Shape;1643;p101"/>
          <p:cNvSpPr/>
          <p:nvPr/>
        </p:nvSpPr>
        <p:spPr>
          <a:xfrm>
            <a:off x="637275" y="3092000"/>
            <a:ext cx="3389100" cy="171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01"/>
          <p:cNvSpPr txBox="1"/>
          <p:nvPr>
            <p:ph idx="4294967295" type="body"/>
          </p:nvPr>
        </p:nvSpPr>
        <p:spPr>
          <a:xfrm>
            <a:off x="8343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7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56</a:t>
            </a:r>
            <a:endParaRPr/>
          </a:p>
        </p:txBody>
      </p:sp>
      <p:sp>
        <p:nvSpPr>
          <p:cNvPr id="1645" name="Google Shape;1645;p101"/>
          <p:cNvSpPr txBox="1"/>
          <p:nvPr>
            <p:ph idx="4294967295" type="body"/>
          </p:nvPr>
        </p:nvSpPr>
        <p:spPr>
          <a:xfrm>
            <a:off x="8343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× 7 = 56</a:t>
            </a:r>
            <a:endParaRPr/>
          </a:p>
        </p:txBody>
      </p:sp>
      <p:sp>
        <p:nvSpPr>
          <p:cNvPr id="1646" name="Google Shape;1646;p101"/>
          <p:cNvSpPr txBox="1"/>
          <p:nvPr/>
        </p:nvSpPr>
        <p:spPr>
          <a:xfrm>
            <a:off x="324000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01"/>
          <p:cNvSpPr txBox="1"/>
          <p:nvPr/>
        </p:nvSpPr>
        <p:spPr>
          <a:xfrm>
            <a:off x="324000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01"/>
          <p:cNvSpPr txBox="1"/>
          <p:nvPr/>
        </p:nvSpPr>
        <p:spPr>
          <a:xfrm>
            <a:off x="4351093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01"/>
          <p:cNvSpPr txBox="1"/>
          <p:nvPr/>
        </p:nvSpPr>
        <p:spPr>
          <a:xfrm>
            <a:off x="4351093" y="29691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01"/>
          <p:cNvSpPr txBox="1"/>
          <p:nvPr>
            <p:ph idx="4294967295" type="body"/>
          </p:nvPr>
        </p:nvSpPr>
        <p:spPr>
          <a:xfrm>
            <a:off x="4833139" y="1539975"/>
            <a:ext cx="2130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0.2 × 4.1 = 0.82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1" name="Google Shape;1651;p101"/>
          <p:cNvSpPr txBox="1"/>
          <p:nvPr>
            <p:ph idx="4294967295" type="body"/>
          </p:nvPr>
        </p:nvSpPr>
        <p:spPr>
          <a:xfrm>
            <a:off x="4833135" y="2301975"/>
            <a:ext cx="21864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4.1 × 0.2 = 0.82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2" name="Google Shape;1652;p101"/>
          <p:cNvSpPr/>
          <p:nvPr/>
        </p:nvSpPr>
        <p:spPr>
          <a:xfrm>
            <a:off x="4674500" y="3091850"/>
            <a:ext cx="3602100" cy="171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01"/>
          <p:cNvSpPr txBox="1"/>
          <p:nvPr>
            <p:ph idx="4294967295" type="body"/>
          </p:nvPr>
        </p:nvSpPr>
        <p:spPr>
          <a:xfrm>
            <a:off x="4872987" y="33155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654" name="Google Shape;1654;p101"/>
          <p:cNvSpPr txBox="1"/>
          <p:nvPr>
            <p:ph idx="4294967295" type="body"/>
          </p:nvPr>
        </p:nvSpPr>
        <p:spPr>
          <a:xfrm>
            <a:off x="4872987" y="4153775"/>
            <a:ext cx="1459800" cy="3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95}{19}=5&quot;&gt;&lt;mfrac&gt;&lt;mn&gt;95&lt;/mn&gt;&lt;mn&gt;19&lt;/mn&gt;&lt;/mfrac&gt;&lt;mo&gt;=&lt;/mo&gt;&lt;mn&gt;5&lt;/mn&gt;&lt;/math&gt;" id="1655" name="Google Shape;1655;p101" title="95 over 19 equal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486" y="2260768"/>
            <a:ext cx="909303" cy="643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5}{5}=19&quot;&gt;&lt;mfrac&gt;&lt;mn&gt;95&lt;/mn&gt;&lt;mn&gt;5&lt;/mn&gt;&lt;/mfrac&gt;&lt;mo&gt;=&lt;/mo&gt;&lt;mn&gt;19&lt;/mn&gt;&lt;/math&gt;" id="1656" name="Google Shape;1656;p101" title="95 over 5 equals 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586" y="1466138"/>
            <a:ext cx="1071503" cy="648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82}{4.1}=0.2&quot;&gt;&lt;mfrac&gt;&lt;mn&gt;0.82&lt;/mn&gt;&lt;mn&gt;4.1&lt;/mn&gt;&lt;/mfrac&gt;&lt;mo&gt;=&lt;/mo&gt;&lt;mn&gt;0.2&lt;/mn&gt;&lt;/math&gt;" id="1657" name="Google Shape;1657;p101" title="0.82 over 4.1 equals 0.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4980" y="1477073"/>
            <a:ext cx="1383438" cy="642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6}{y}=7\end{array}&quot;&gt;&lt;mtable columnalign=&quot;left&quot; columnspacing=&quot;1em&quot; rowspacing=&quot;4pt&quot;&gt;&lt;mtr&gt;&lt;mtd&gt;&lt;mfrac&gt;&lt;mn&gt;56&lt;/mn&gt;&lt;mi&gt;y&lt;/mi&gt;&lt;/mfrac&gt;&lt;mo&gt;=&lt;/mo&gt;&lt;mn&gt;7&lt;/mn&gt;&lt;/mtd&gt;&lt;/mtr&gt;&lt;/mtable&gt;&lt;/math&gt;" id="1658" name="Google Shape;1658;p101" title="1 lines Line 1: 56 over y equal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2194" y="3327266"/>
            <a:ext cx="1047830" cy="563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P}{F}=A\end{array}&quot;&gt;&lt;mtable columnalign=&quot;left&quot; columnspacing=&quot;1em&quot; rowspacing=&quot;4pt&quot;&gt;&lt;mtr&gt;&lt;mtd&gt;&lt;mfrac&gt;&lt;mi&gt;P&lt;/mi&gt;&lt;mi&gt;F&lt;/mi&gt;&lt;/mfrac&gt;&lt;mo&gt;=&lt;/mo&gt;&lt;mi&gt;A&lt;/mi&gt;&lt;/mtd&gt;&lt;/mtr&gt;&lt;/mtable&gt;&lt;/math&gt;" id="1659" name="Google Shape;1659;p101" title="1 lines Line 1: P over F equals 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00318" y="4109161"/>
            <a:ext cx="1054461" cy="523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P}{A}=F\end{array}&quot;&gt;&lt;mtable columnalign=&quot;left&quot; columnspacing=&quot;1em&quot; rowspacing=&quot;4pt&quot;&gt;&lt;mtr&gt;&lt;mtd&gt;&lt;mfrac&gt;&lt;mi&gt;P&lt;/mi&gt;&lt;mi&gt;A&lt;/mi&gt;&lt;/mfrac&gt;&lt;mo&gt;=&lt;/mo&gt;&lt;mi&gt;F&lt;/mi&gt;&lt;/mtd&gt;&lt;/mtr&gt;&lt;/mtable&gt;&lt;/math&gt;" id="1660" name="Google Shape;1660;p101" title="1 lines Line 1: P over A equals 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0846" y="3294106"/>
            <a:ext cx="1067725" cy="523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6}{7}=y\end{array}&quot;&gt;&lt;mtable columnalign=&quot;left&quot; columnspacing=&quot;1em&quot; rowspacing=&quot;4pt&quot;&gt;&lt;mtr&gt;&lt;mtd&gt;&lt;mfrac&gt;&lt;mn&gt;56&lt;/mn&gt;&lt;mn&gt;7&lt;/mn&gt;&lt;/mfrac&gt;&lt;mo&gt;=&lt;/mo&gt;&lt;mi&gt;y&lt;/mi&gt;&lt;/mtd&gt;&lt;/mtr&gt;&lt;/mtable&gt;&lt;/math&gt;" id="1661" name="Google Shape;1661;p101" title="1 lines Line 1: 56 over 7 equals y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82092" y="4101031"/>
            <a:ext cx="1034230" cy="523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2" name="Google Shape;1662;p101"/>
          <p:cNvGrpSpPr/>
          <p:nvPr/>
        </p:nvGrpSpPr>
        <p:grpSpPr>
          <a:xfrm>
            <a:off x="697666" y="2305124"/>
            <a:ext cx="1731516" cy="369600"/>
            <a:chOff x="694853" y="2325325"/>
            <a:chExt cx="1731516" cy="369600"/>
          </a:xfrm>
        </p:grpSpPr>
        <p:sp>
          <p:nvSpPr>
            <p:cNvPr id="1663" name="Google Shape;1663;p101"/>
            <p:cNvSpPr/>
            <p:nvPr/>
          </p:nvSpPr>
          <p:spPr>
            <a:xfrm>
              <a:off x="20249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101"/>
            <p:cNvSpPr/>
            <p:nvPr/>
          </p:nvSpPr>
          <p:spPr>
            <a:xfrm>
              <a:off x="131886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5" name="Google Shape;1665;p101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6" name="Google Shape;1666;p101"/>
          <p:cNvGrpSpPr/>
          <p:nvPr/>
        </p:nvGrpSpPr>
        <p:grpSpPr>
          <a:xfrm>
            <a:off x="2684940" y="2238793"/>
            <a:ext cx="1150505" cy="729320"/>
            <a:chOff x="2716648" y="2258994"/>
            <a:chExt cx="1150505" cy="729320"/>
          </a:xfrm>
        </p:grpSpPr>
        <p:sp>
          <p:nvSpPr>
            <p:cNvPr id="1667" name="Google Shape;1667;p101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8" name="Google Shape;1668;p101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9" name="Google Shape;1669;p101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0" name="Google Shape;1670;p101"/>
          <p:cNvGrpSpPr/>
          <p:nvPr/>
        </p:nvGrpSpPr>
        <p:grpSpPr>
          <a:xfrm>
            <a:off x="778213" y="1543124"/>
            <a:ext cx="1662475" cy="369601"/>
            <a:chOff x="763893" y="2325325"/>
            <a:chExt cx="1662475" cy="369601"/>
          </a:xfrm>
        </p:grpSpPr>
        <p:sp>
          <p:nvSpPr>
            <p:cNvPr id="1671" name="Google Shape;1671;p101"/>
            <p:cNvSpPr/>
            <p:nvPr/>
          </p:nvSpPr>
          <p:spPr>
            <a:xfrm>
              <a:off x="20249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2" name="Google Shape;1672;p101"/>
            <p:cNvSpPr/>
            <p:nvPr/>
          </p:nvSpPr>
          <p:spPr>
            <a:xfrm>
              <a:off x="1453475" y="2325326"/>
              <a:ext cx="245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3" name="Google Shape;1673;p101"/>
            <p:cNvSpPr/>
            <p:nvPr/>
          </p:nvSpPr>
          <p:spPr>
            <a:xfrm>
              <a:off x="76389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4" name="Google Shape;1674;p101"/>
          <p:cNvGrpSpPr/>
          <p:nvPr/>
        </p:nvGrpSpPr>
        <p:grpSpPr>
          <a:xfrm>
            <a:off x="7249672" y="1442236"/>
            <a:ext cx="1413733" cy="729320"/>
            <a:chOff x="2752924" y="2258994"/>
            <a:chExt cx="1114229" cy="729320"/>
          </a:xfrm>
        </p:grpSpPr>
        <p:sp>
          <p:nvSpPr>
            <p:cNvPr id="1675" name="Google Shape;1675;p101"/>
            <p:cNvSpPr/>
            <p:nvPr/>
          </p:nvSpPr>
          <p:spPr>
            <a:xfrm>
              <a:off x="2752924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6" name="Google Shape;1676;p101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7" name="Google Shape;1677;p101"/>
            <p:cNvSpPr/>
            <p:nvPr/>
          </p:nvSpPr>
          <p:spPr>
            <a:xfrm>
              <a:off x="351015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8" name="Google Shape;1678;p101"/>
          <p:cNvGrpSpPr/>
          <p:nvPr/>
        </p:nvGrpSpPr>
        <p:grpSpPr>
          <a:xfrm>
            <a:off x="4846957" y="2305125"/>
            <a:ext cx="2116117" cy="369602"/>
            <a:chOff x="694853" y="2325323"/>
            <a:chExt cx="1952858" cy="369602"/>
          </a:xfrm>
        </p:grpSpPr>
        <p:sp>
          <p:nvSpPr>
            <p:cNvPr id="1679" name="Google Shape;1679;p101"/>
            <p:cNvSpPr/>
            <p:nvPr/>
          </p:nvSpPr>
          <p:spPr>
            <a:xfrm>
              <a:off x="2099312" y="2325323"/>
              <a:ext cx="548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101"/>
            <p:cNvSpPr/>
            <p:nvPr/>
          </p:nvSpPr>
          <p:spPr>
            <a:xfrm>
              <a:off x="141042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1" name="Google Shape;1681;p101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2" name="Google Shape;1682;p101"/>
          <p:cNvGrpSpPr/>
          <p:nvPr/>
        </p:nvGrpSpPr>
        <p:grpSpPr>
          <a:xfrm>
            <a:off x="4846957" y="1566138"/>
            <a:ext cx="2116117" cy="369602"/>
            <a:chOff x="694853" y="2325323"/>
            <a:chExt cx="1952858" cy="369602"/>
          </a:xfrm>
        </p:grpSpPr>
        <p:sp>
          <p:nvSpPr>
            <p:cNvPr id="1683" name="Google Shape;1683;p101"/>
            <p:cNvSpPr/>
            <p:nvPr/>
          </p:nvSpPr>
          <p:spPr>
            <a:xfrm>
              <a:off x="2099312" y="2325323"/>
              <a:ext cx="548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4" name="Google Shape;1684;p101"/>
            <p:cNvSpPr/>
            <p:nvPr/>
          </p:nvSpPr>
          <p:spPr>
            <a:xfrm>
              <a:off x="141042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5" name="Google Shape;1685;p101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6" name="Google Shape;1686;p101"/>
          <p:cNvGrpSpPr/>
          <p:nvPr/>
        </p:nvGrpSpPr>
        <p:grpSpPr>
          <a:xfrm>
            <a:off x="697666" y="3348900"/>
            <a:ext cx="1579116" cy="369611"/>
            <a:chOff x="694853" y="2325314"/>
            <a:chExt cx="1579116" cy="369611"/>
          </a:xfrm>
        </p:grpSpPr>
        <p:sp>
          <p:nvSpPr>
            <p:cNvPr id="1687" name="Google Shape;1687;p101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8" name="Google Shape;1688;p101"/>
            <p:cNvSpPr/>
            <p:nvPr/>
          </p:nvSpPr>
          <p:spPr>
            <a:xfrm>
              <a:off x="1284348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9" name="Google Shape;1689;p101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0" name="Google Shape;1690;p101"/>
          <p:cNvGrpSpPr/>
          <p:nvPr/>
        </p:nvGrpSpPr>
        <p:grpSpPr>
          <a:xfrm>
            <a:off x="2638914" y="4010060"/>
            <a:ext cx="1185025" cy="729320"/>
            <a:chOff x="2716648" y="2258994"/>
            <a:chExt cx="1185025" cy="729320"/>
          </a:xfrm>
        </p:grpSpPr>
        <p:sp>
          <p:nvSpPr>
            <p:cNvPr id="1691" name="Google Shape;1691;p101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2" name="Google Shape;1692;p101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3" name="Google Shape;1693;p101"/>
            <p:cNvSpPr/>
            <p:nvPr/>
          </p:nvSpPr>
          <p:spPr>
            <a:xfrm>
              <a:off x="354467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4" name="Google Shape;1694;p101"/>
          <p:cNvGrpSpPr/>
          <p:nvPr/>
        </p:nvGrpSpPr>
        <p:grpSpPr>
          <a:xfrm>
            <a:off x="686159" y="4164087"/>
            <a:ext cx="1579116" cy="369611"/>
            <a:chOff x="694853" y="2325314"/>
            <a:chExt cx="1579116" cy="369611"/>
          </a:xfrm>
        </p:grpSpPr>
        <p:sp>
          <p:nvSpPr>
            <p:cNvPr id="1695" name="Google Shape;1695;p101"/>
            <p:cNvSpPr/>
            <p:nvPr/>
          </p:nvSpPr>
          <p:spPr>
            <a:xfrm>
              <a:off x="1872569" y="2325325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6" name="Google Shape;1696;p101"/>
            <p:cNvSpPr/>
            <p:nvPr/>
          </p:nvSpPr>
          <p:spPr>
            <a:xfrm>
              <a:off x="1284348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7" name="Google Shape;1697;p101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8" name="Google Shape;1698;p101"/>
          <p:cNvGrpSpPr/>
          <p:nvPr/>
        </p:nvGrpSpPr>
        <p:grpSpPr>
          <a:xfrm>
            <a:off x="4766439" y="4164087"/>
            <a:ext cx="1510071" cy="369613"/>
            <a:chOff x="694853" y="2325314"/>
            <a:chExt cx="1510071" cy="369613"/>
          </a:xfrm>
        </p:grpSpPr>
        <p:sp>
          <p:nvSpPr>
            <p:cNvPr id="1699" name="Google Shape;1699;p101"/>
            <p:cNvSpPr/>
            <p:nvPr/>
          </p:nvSpPr>
          <p:spPr>
            <a:xfrm>
              <a:off x="1881525" y="2325328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101"/>
            <p:cNvSpPr/>
            <p:nvPr/>
          </p:nvSpPr>
          <p:spPr>
            <a:xfrm>
              <a:off x="1307361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101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2" name="Google Shape;1702;p101"/>
          <p:cNvGrpSpPr/>
          <p:nvPr/>
        </p:nvGrpSpPr>
        <p:grpSpPr>
          <a:xfrm>
            <a:off x="4766439" y="3337393"/>
            <a:ext cx="1510071" cy="369613"/>
            <a:chOff x="694853" y="2325314"/>
            <a:chExt cx="1510071" cy="369613"/>
          </a:xfrm>
        </p:grpSpPr>
        <p:sp>
          <p:nvSpPr>
            <p:cNvPr id="1703" name="Google Shape;1703;p101"/>
            <p:cNvSpPr/>
            <p:nvPr/>
          </p:nvSpPr>
          <p:spPr>
            <a:xfrm>
              <a:off x="1881525" y="2325328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4" name="Google Shape;1704;p101"/>
            <p:cNvSpPr/>
            <p:nvPr/>
          </p:nvSpPr>
          <p:spPr>
            <a:xfrm>
              <a:off x="1307361" y="2325314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101"/>
            <p:cNvSpPr/>
            <p:nvPr/>
          </p:nvSpPr>
          <p:spPr>
            <a:xfrm>
              <a:off x="694853" y="2325325"/>
              <a:ext cx="357000" cy="369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6" name="Google Shape;1706;p101"/>
          <p:cNvGrpSpPr/>
          <p:nvPr/>
        </p:nvGrpSpPr>
        <p:grpSpPr>
          <a:xfrm>
            <a:off x="6598501" y="3190526"/>
            <a:ext cx="1185025" cy="729320"/>
            <a:chOff x="2716648" y="2258994"/>
            <a:chExt cx="1185025" cy="729320"/>
          </a:xfrm>
        </p:grpSpPr>
        <p:sp>
          <p:nvSpPr>
            <p:cNvPr id="1707" name="Google Shape;1707;p101"/>
            <p:cNvSpPr/>
            <p:nvPr/>
          </p:nvSpPr>
          <p:spPr>
            <a:xfrm>
              <a:off x="2716648" y="2258994"/>
              <a:ext cx="4014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8" name="Google Shape;1708;p101"/>
            <p:cNvSpPr/>
            <p:nvPr/>
          </p:nvSpPr>
          <p:spPr>
            <a:xfrm>
              <a:off x="2758219" y="26745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9" name="Google Shape;1709;p101"/>
            <p:cNvSpPr/>
            <p:nvPr/>
          </p:nvSpPr>
          <p:spPr>
            <a:xfrm>
              <a:off x="3544673" y="2445914"/>
              <a:ext cx="357000" cy="31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4" name="Google Shape;1714;p10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5" y="2417332"/>
            <a:ext cx="4121349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02"/>
          <p:cNvSpPr txBox="1"/>
          <p:nvPr>
            <p:ph idx="1" type="body"/>
          </p:nvPr>
        </p:nvSpPr>
        <p:spPr>
          <a:xfrm>
            <a:off x="324000" y="759300"/>
            <a:ext cx="48009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Lucas is rearranging equations.</a:t>
            </a:r>
            <a:endParaRPr/>
          </a:p>
        </p:txBody>
      </p:sp>
      <p:sp>
        <p:nvSpPr>
          <p:cNvPr id="1716" name="Google Shape;1716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717" name="Google Shape;1717;p102"/>
          <p:cNvSpPr txBox="1"/>
          <p:nvPr>
            <p:ph idx="1" type="body"/>
          </p:nvPr>
        </p:nvSpPr>
        <p:spPr>
          <a:xfrm>
            <a:off x="324000" y="11287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718" name="Google Shape;1718;p102"/>
          <p:cNvSpPr txBox="1"/>
          <p:nvPr>
            <p:ph idx="1" type="body"/>
          </p:nvPr>
        </p:nvSpPr>
        <p:spPr>
          <a:xfrm>
            <a:off x="324000" y="3578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719" name="Google Shape;1719;p102"/>
          <p:cNvSpPr txBox="1"/>
          <p:nvPr>
            <p:ph idx="1" type="body"/>
          </p:nvPr>
        </p:nvSpPr>
        <p:spPr>
          <a:xfrm>
            <a:off x="312493" y="2359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id="1720" name="Google Shape;1720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294" y="2201354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10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6" y="1189450"/>
            <a:ext cx="4039414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102"/>
          <p:cNvSpPr txBox="1"/>
          <p:nvPr/>
        </p:nvSpPr>
        <p:spPr>
          <a:xfrm flipH="1">
            <a:off x="1884468" y="144539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3" name="Google Shape;1723;p10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5" y="3666702"/>
            <a:ext cx="4121349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p102"/>
          <p:cNvSpPr txBox="1"/>
          <p:nvPr>
            <p:ph idx="1" type="body"/>
          </p:nvPr>
        </p:nvSpPr>
        <p:spPr>
          <a:xfrm>
            <a:off x="4819425" y="3243725"/>
            <a:ext cx="40005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each case decide if Lucas is correct and write a sentence to justify your decision.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\frac{72}{9}=8\end{array}&quot;&gt;&lt;mtable columnalign=&quot;left&quot; columnspacing=&quot;1em&quot; rowspacing=&quot;4pt&quot;&gt;&lt;mtr&gt;&lt;mtd&gt;&lt;mfrac&gt;&lt;mn&gt;72&lt;/mn&gt;&lt;mn&gt;9&lt;/mn&gt;&lt;/mfrac&gt;&lt;mo&gt;=&lt;/mo&gt;&lt;mn&gt;8&lt;/mn&gt;&lt;/mtd&gt;&lt;/mtr&gt;&lt;/mtable&gt;&lt;/math&gt;" id="1725" name="Google Shape;1725;p102" title="1 lines Line 1: 72 over 9 equals 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216" y="1358205"/>
            <a:ext cx="995664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2}{8}=9\end{array}&quot;&gt;&lt;mtable columnalign=&quot;left&quot; columnspacing=&quot;1em&quot; rowspacing=&quot;4pt&quot;&gt;&lt;mtr&gt;&lt;mtd&gt;&lt;mfrac&gt;&lt;mn&gt;72&lt;/mn&gt;&lt;mn&gt;8&lt;/mn&gt;&lt;/mfrac&gt;&lt;mo&gt;=&lt;/mo&gt;&lt;mn&gt;9&lt;/mn&gt;&lt;/mtd&gt;&lt;/mtr&gt;&lt;/mtable&gt;&lt;/math&gt;" id="1726" name="Google Shape;1726;p102" title="1 lines Line 1: 72 over 8 equals 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8280" y="1348325"/>
            <a:ext cx="1010556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b}=h\end{array}&quot;&gt;&lt;mtable columnalign=&quot;left&quot; columnspacing=&quot;1em&quot; rowspacing=&quot;4pt&quot;&gt;&lt;mtr&gt;&lt;mtd&gt;&lt;mfrac&gt;&lt;mn&gt;5&lt;/mn&gt;&lt;mi&gt;b&lt;/mi&gt;&lt;/mfrac&gt;&lt;mo&gt;=&lt;/mo&gt;&lt;mi&gt;h&lt;/mi&gt;&lt;/mtd&gt;&lt;/mtr&gt;&lt;/mtable&gt;&lt;/math&gt;" id="1727" name="Google Shape;1727;p102" title="1 lines Line 1: 5 over b equals 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2756" y="2567525"/>
            <a:ext cx="871206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h}=b\end{array}&quot;&gt;&lt;mtable columnalign=&quot;left&quot; columnspacing=&quot;1em&quot; rowspacing=&quot;4pt&quot;&gt;&lt;mtr&gt;&lt;mtd&gt;&lt;mfrac&gt;&lt;mn&gt;5&lt;/mn&gt;&lt;mi&gt;h&lt;/mi&gt;&lt;/mfrac&gt;&lt;mo&gt;=&lt;/mo&gt;&lt;mi&gt;b&lt;/mi&gt;&lt;/mtd&gt;&lt;/mtr&gt;&lt;/mtable&gt;&lt;/math&gt;" id="1728" name="Google Shape;1728;p102" title="1 lines Line 1: 5 over h equals b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880" y="2566541"/>
            <a:ext cx="871200" cy="519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x}=2\end{array}&quot;&gt;&lt;mtable columnalign=&quot;left&quot; columnspacing=&quot;1em&quot; rowspacing=&quot;4pt&quot;&gt;&lt;mtr&gt;&lt;mtd&gt;&lt;mfrac&gt;&lt;mn&gt;13&lt;/mn&gt;&lt;mi&gt;x&lt;/mi&gt;&lt;/mfrac&gt;&lt;mo&gt;=&lt;/mo&gt;&lt;mn&gt;2&lt;/mn&gt;&lt;/mtd&gt;&lt;/mtr&gt;&lt;/mtable&gt;&lt;/math&gt;" id="1729" name="Google Shape;1729;p102" title="1 lines Line 1: 13 over x equals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7850" y="3844130"/>
            <a:ext cx="1011550" cy="496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x}=13\end{array}&quot;&gt;&lt;mtable columnalign=&quot;left&quot; columnspacing=&quot;1em&quot; rowspacing=&quot;4pt&quot;&gt;&lt;mtr&gt;&lt;mtd&gt;&lt;mfrac&gt;&lt;mn&gt;2&lt;/mn&gt;&lt;mi&gt;x&lt;/mi&gt;&lt;/mfrac&gt;&lt;mo&gt;=&lt;/mo&gt;&lt;mn&gt;13&lt;/mn&gt;&lt;/mtd&gt;&lt;/mtr&gt;&lt;/mtable&gt;&lt;/math&gt;" id="1730" name="Google Shape;1730;p102" title="1 lines Line 1: 2 over x equals 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65905" y="3852749"/>
            <a:ext cx="1069537" cy="4896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02"/>
          <p:cNvSpPr txBox="1"/>
          <p:nvPr/>
        </p:nvSpPr>
        <p:spPr>
          <a:xfrm flipH="1">
            <a:off x="1884468" y="267175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2" name="Google Shape;1732;p102"/>
          <p:cNvSpPr txBox="1"/>
          <p:nvPr/>
        </p:nvSpPr>
        <p:spPr>
          <a:xfrm flipH="1">
            <a:off x="1884468" y="393263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3" name="Google Shape;1733;p10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81556" y="14491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102"/>
          <p:cNvSpPr txBox="1"/>
          <p:nvPr/>
        </p:nvSpPr>
        <p:spPr>
          <a:xfrm flipH="1">
            <a:off x="5399350" y="1098950"/>
            <a:ext cx="2789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are rearrangements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= 72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where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product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9" name="Google Shape;1739;p10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5" y="2417332"/>
            <a:ext cx="4121349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103"/>
          <p:cNvSpPr txBox="1"/>
          <p:nvPr>
            <p:ph idx="1" type="body"/>
          </p:nvPr>
        </p:nvSpPr>
        <p:spPr>
          <a:xfrm>
            <a:off x="324000" y="759300"/>
            <a:ext cx="48009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Lucas is rearranging equations.</a:t>
            </a:r>
            <a:endParaRPr/>
          </a:p>
        </p:txBody>
      </p:sp>
      <p:sp>
        <p:nvSpPr>
          <p:cNvPr id="1741" name="Google Shape;1741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742" name="Google Shape;1742;p103"/>
          <p:cNvSpPr txBox="1"/>
          <p:nvPr>
            <p:ph idx="1" type="body"/>
          </p:nvPr>
        </p:nvSpPr>
        <p:spPr>
          <a:xfrm>
            <a:off x="324000" y="11287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743" name="Google Shape;1743;p103"/>
          <p:cNvSpPr txBox="1"/>
          <p:nvPr>
            <p:ph idx="1" type="body"/>
          </p:nvPr>
        </p:nvSpPr>
        <p:spPr>
          <a:xfrm>
            <a:off x="324000" y="3578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744" name="Google Shape;1744;p103"/>
          <p:cNvSpPr txBox="1"/>
          <p:nvPr>
            <p:ph idx="1" type="body"/>
          </p:nvPr>
        </p:nvSpPr>
        <p:spPr>
          <a:xfrm>
            <a:off x="312493" y="2359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id="1745" name="Google Shape;1745;p10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6" y="1189450"/>
            <a:ext cx="4039414" cy="98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03"/>
          <p:cNvSpPr txBox="1"/>
          <p:nvPr/>
        </p:nvSpPr>
        <p:spPr>
          <a:xfrm flipH="1">
            <a:off x="1884468" y="144539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7" name="Google Shape;1747;p10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5" y="3666702"/>
            <a:ext cx="4121349" cy="984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2}{9}=8\end{array}&quot;&gt;&lt;mtable columnalign=&quot;left&quot; columnspacing=&quot;1em&quot; rowspacing=&quot;4pt&quot;&gt;&lt;mtr&gt;&lt;mtd&gt;&lt;mfrac&gt;&lt;mn&gt;72&lt;/mn&gt;&lt;mn&gt;9&lt;/mn&gt;&lt;/mfrac&gt;&lt;mo&gt;=&lt;/mo&gt;&lt;mn&gt;8&lt;/mn&gt;&lt;/mtd&gt;&lt;/mtr&gt;&lt;/mtable&gt;&lt;/math&gt;" id="1748" name="Google Shape;1748;p103" title="1 lines Line 1: 72 over 9 equals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216" y="1358205"/>
            <a:ext cx="995664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2}{8}=9\end{array}&quot;&gt;&lt;mtable columnalign=&quot;left&quot; columnspacing=&quot;1em&quot; rowspacing=&quot;4pt&quot;&gt;&lt;mtr&gt;&lt;mtd&gt;&lt;mfrac&gt;&lt;mn&gt;72&lt;/mn&gt;&lt;mn&gt;8&lt;/mn&gt;&lt;/mfrac&gt;&lt;mo&gt;=&lt;/mo&gt;&lt;mn&gt;9&lt;/mn&gt;&lt;/mtd&gt;&lt;/mtr&gt;&lt;/mtable&gt;&lt;/math&gt;" id="1749" name="Google Shape;1749;p103" title="1 lines Line 1: 72 over 8 equals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8280" y="1348325"/>
            <a:ext cx="1010556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b}=h\end{array}&quot;&gt;&lt;mtable columnalign=&quot;left&quot; columnspacing=&quot;1em&quot; rowspacing=&quot;4pt&quot;&gt;&lt;mtr&gt;&lt;mtd&gt;&lt;mfrac&gt;&lt;mn&gt;5&lt;/mn&gt;&lt;mi&gt;b&lt;/mi&gt;&lt;/mfrac&gt;&lt;mo&gt;=&lt;/mo&gt;&lt;mi&gt;h&lt;/mi&gt;&lt;/mtd&gt;&lt;/mtr&gt;&lt;/mtable&gt;&lt;/math&gt;" id="1750" name="Google Shape;1750;p103" title="1 lines Line 1: 5 over b equal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2756" y="2567525"/>
            <a:ext cx="871206" cy="51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h}=b\end{array}&quot;&gt;&lt;mtable columnalign=&quot;left&quot; columnspacing=&quot;1em&quot; rowspacing=&quot;4pt&quot;&gt;&lt;mtr&gt;&lt;mtd&gt;&lt;mfrac&gt;&lt;mn&gt;5&lt;/mn&gt;&lt;mi&gt;h&lt;/mi&gt;&lt;/mfrac&gt;&lt;mo&gt;=&lt;/mo&gt;&lt;mi&gt;b&lt;/mi&gt;&lt;/mtd&gt;&lt;/mtr&gt;&lt;/mtable&gt;&lt;/math&gt;" id="1751" name="Google Shape;1751;p103" title="1 lines Line 1: 5 over h equals 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3880" y="2566541"/>
            <a:ext cx="871200" cy="519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x}=2\end{array}&quot;&gt;&lt;mtable columnalign=&quot;left&quot; columnspacing=&quot;1em&quot; rowspacing=&quot;4pt&quot;&gt;&lt;mtr&gt;&lt;mtd&gt;&lt;mfrac&gt;&lt;mn&gt;13&lt;/mn&gt;&lt;mi&gt;x&lt;/mi&gt;&lt;/mfrac&gt;&lt;mo&gt;=&lt;/mo&gt;&lt;mn&gt;2&lt;/mn&gt;&lt;/mtd&gt;&lt;/mtr&gt;&lt;/mtable&gt;&lt;/math&gt;" id="1752" name="Google Shape;1752;p103" title="1 lines Line 1: 13 over x equal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7850" y="3844130"/>
            <a:ext cx="1011550" cy="496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x}=13\end{array}&quot;&gt;&lt;mtable columnalign=&quot;left&quot; columnspacing=&quot;1em&quot; rowspacing=&quot;4pt&quot;&gt;&lt;mtr&gt;&lt;mtd&gt;&lt;mfrac&gt;&lt;mn&gt;2&lt;/mn&gt;&lt;mi&gt;x&lt;/mi&gt;&lt;/mfrac&gt;&lt;mo&gt;=&lt;/mo&gt;&lt;mn&gt;13&lt;/mn&gt;&lt;/mtd&gt;&lt;/mtr&gt;&lt;/mtable&gt;&lt;/math&gt;" id="1753" name="Google Shape;1753;p103" title="1 lines Line 1: 2 over x equals 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65905" y="3852749"/>
            <a:ext cx="1069537" cy="489672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103"/>
          <p:cNvSpPr txBox="1"/>
          <p:nvPr/>
        </p:nvSpPr>
        <p:spPr>
          <a:xfrm flipH="1">
            <a:off x="1884468" y="267175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5" name="Google Shape;1755;p103"/>
          <p:cNvSpPr txBox="1"/>
          <p:nvPr/>
        </p:nvSpPr>
        <p:spPr>
          <a:xfrm flipH="1">
            <a:off x="1884468" y="3932635"/>
            <a:ext cx="1376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6" name="Google Shape;1756;p10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28912" y="396340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10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81556" y="14491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103"/>
          <p:cNvSpPr txBox="1"/>
          <p:nvPr/>
        </p:nvSpPr>
        <p:spPr>
          <a:xfrm flipH="1">
            <a:off x="5399350" y="1098950"/>
            <a:ext cx="2789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are rearrangements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9 = 72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where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product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59" name="Google Shape;1759;p10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81556" y="274453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103"/>
          <p:cNvSpPr txBox="1"/>
          <p:nvPr/>
        </p:nvSpPr>
        <p:spPr>
          <a:xfrm flipH="1">
            <a:off x="5399350" y="2394350"/>
            <a:ext cx="2789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are rearrangements of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where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product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1" name="Google Shape;1761;p103"/>
          <p:cNvSpPr txBox="1"/>
          <p:nvPr/>
        </p:nvSpPr>
        <p:spPr>
          <a:xfrm flipH="1">
            <a:off x="5399275" y="3689750"/>
            <a:ext cx="3049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is a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rearrangement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 the other is a rearrangement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104"/>
          <p:cNvSpPr txBox="1"/>
          <p:nvPr>
            <p:ph idx="1" type="body"/>
          </p:nvPr>
        </p:nvSpPr>
        <p:spPr>
          <a:xfrm>
            <a:off x="324000" y="759300"/>
            <a:ext cx="4074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may have written some advice for Lucas: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important to rearrange equations correctly.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not just about swapping the terms around.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7" name="Google Shape;1767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multiplicative relationships</a:t>
            </a:r>
            <a:endParaRPr/>
          </a:p>
        </p:txBody>
      </p:sp>
      <p:pic>
        <p:nvPicPr>
          <p:cNvPr id="1768" name="Google Shape;1768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294" y="2201354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9" name="Google Shape;1769;p10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5044284" y="1250625"/>
            <a:ext cx="3754675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104"/>
          <p:cNvSpPr txBox="1"/>
          <p:nvPr/>
        </p:nvSpPr>
        <p:spPr>
          <a:xfrm flipH="1">
            <a:off x="5377780" y="1293000"/>
            <a:ext cx="3327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just ‘swap positions’ in the equation.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multiplicative relationships</a:t>
            </a:r>
            <a:endParaRPr/>
          </a:p>
        </p:txBody>
      </p:sp>
      <p:sp>
        <p:nvSpPr>
          <p:cNvPr id="1776" name="Google Shape;1776;p105"/>
          <p:cNvSpPr txBox="1"/>
          <p:nvPr>
            <p:ph idx="4294967295" type="title"/>
          </p:nvPr>
        </p:nvSpPr>
        <p:spPr>
          <a:xfrm>
            <a:off x="324000" y="748775"/>
            <a:ext cx="71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100"/>
              <a:t>3) Rearrange each equation into the form </a:t>
            </a:r>
            <a:r>
              <a:rPr b="0" lang="en-GB" sz="2300">
                <a:latin typeface="Times New Roman"/>
                <a:ea typeface="Times New Roman"/>
                <a:cs typeface="Times New Roman"/>
                <a:sym typeface="Times New Roman"/>
              </a:rPr>
              <a:t>a × b = c</a:t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7" name="Google Shape;1777;p105"/>
          <p:cNvSpPr txBox="1"/>
          <p:nvPr>
            <p:ph idx="4294967295" type="subTitle"/>
          </p:nvPr>
        </p:nvSpPr>
        <p:spPr>
          <a:xfrm>
            <a:off x="6569104" y="2328463"/>
            <a:ext cx="2320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i="1"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yz</a:t>
            </a: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aseline="30000"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i="1"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yz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8" name="Google Shape;1778;p105"/>
          <p:cNvSpPr txBox="1"/>
          <p:nvPr/>
        </p:nvSpPr>
        <p:spPr>
          <a:xfrm>
            <a:off x="324000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05"/>
          <p:cNvSpPr txBox="1"/>
          <p:nvPr/>
        </p:nvSpPr>
        <p:spPr>
          <a:xfrm>
            <a:off x="3360493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05"/>
          <p:cNvSpPr txBox="1"/>
          <p:nvPr/>
        </p:nvSpPr>
        <p:spPr>
          <a:xfrm>
            <a:off x="5787387" y="1140300"/>
            <a:ext cx="323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x}{8}=y&quot;&gt;&lt;mfrac&gt;&lt;mi&gt;x&lt;/mi&gt;&lt;mn&gt;8&lt;/mn&gt;&lt;/mfrac&gt;&lt;mo&gt;=&lt;/mo&gt;&lt;mi&gt;y&lt;/mi&gt;&lt;/math&gt;" id="1781" name="Google Shape;1781;p105" title="x over 8 equals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014" y="1237650"/>
            <a:ext cx="928131" cy="6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times\frac{1}{8}=y&quot;&gt;&lt;mi&gt;x&lt;/mi&gt;&lt;mo&gt;×&lt;/mo&gt;&lt;mfrac&gt;&lt;mn&gt;1&lt;/mn&gt;&lt;mn&gt;8&lt;/mn&gt;&lt;/mfrac&gt;&lt;mo&gt;=&lt;/mo&gt;&lt;mi&gt;y&lt;/mi&gt;&lt;/math&gt;" id="1782" name="Google Shape;1782;p105" title="x times one eighth equals 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532" y="2158907"/>
            <a:ext cx="1364200" cy="67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times\frac{1}{8}&quot;&gt;&lt;mi&gt;x&lt;/mi&gt;&lt;mo&gt;×&lt;/mo&gt;&lt;mfrac&gt;&lt;mn&gt;1&lt;/mn&gt;&lt;mn&gt;8&lt;/mn&gt;&lt;/mfrac&gt;&lt;/math&gt;" id="1783" name="Google Shape;1783;p105" title="x times one eigh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900" y="3024775"/>
            <a:ext cx="759504" cy="6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105"/>
          <p:cNvSpPr txBox="1"/>
          <p:nvPr>
            <p:ph idx="4294967295" type="subTitle"/>
          </p:nvPr>
        </p:nvSpPr>
        <p:spPr>
          <a:xfrm>
            <a:off x="1147404" y="3185118"/>
            <a:ext cx="1624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8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8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5" name="Google Shape;1785;p105"/>
          <p:cNvSpPr txBox="1"/>
          <p:nvPr>
            <p:ph idx="4294967295" type="subTitle"/>
          </p:nvPr>
        </p:nvSpPr>
        <p:spPr>
          <a:xfrm>
            <a:off x="1452196" y="4023318"/>
            <a:ext cx="120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x}{3y}=y&quot;&gt;&lt;mfrac&gt;&lt;mi&gt;x&lt;/mi&gt;&lt;mrow&gt;&lt;mn&gt;3&lt;/mn&gt;&lt;mi&gt;y&lt;/mi&gt;&lt;/mrow&gt;&lt;/mfrac&gt;&lt;mo&gt;=&lt;/mo&gt;&lt;mi&gt;y&lt;/mi&gt;&lt;/math&gt;" id="1786" name="Google Shape;1786;p105" title="x over 3 y equals 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9336" y="1268200"/>
            <a:ext cx="1000788" cy="6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times\frac{1}{3y}=y&quot;&gt;&lt;mi&gt;x&lt;/mi&gt;&lt;mo&gt;×&lt;/mo&gt;&lt;mfrac&gt;&lt;mn&gt;1&lt;/mn&gt;&lt;mrow&gt;&lt;mn&gt;3&lt;/mn&gt;&lt;mi&gt;y&lt;/mi&gt;&lt;/mrow&gt;&lt;/mfrac&gt;&lt;mo&gt;=&lt;/mo&gt;&lt;mi&gt;y&lt;/mi&gt;&lt;/math&gt;" id="1787" name="Google Shape;1787;p105" title="x times 1 over 3 y equals 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7399" y="2197126"/>
            <a:ext cx="1410906" cy="6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times\frac{1}{3y}&quot;&gt;&lt;mi&gt;x&lt;/mi&gt;&lt;mo&gt;×&lt;/mo&gt;&lt;mfrac&gt;&lt;mn&gt;1&lt;/mn&gt;&lt;mrow&gt;&lt;mn&gt;3&lt;/mn&gt;&lt;mi&gt;y&lt;/mi&gt;&lt;/mrow&gt;&lt;/mfrac&gt;&lt;/math&gt;" id="1788" name="Google Shape;1788;p105" title="x times 1 over 3 y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63824" y="3051063"/>
            <a:ext cx="853733" cy="6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9" name="Google Shape;1789;p105"/>
          <p:cNvSpPr txBox="1"/>
          <p:nvPr>
            <p:ph idx="4294967295" type="subTitle"/>
          </p:nvPr>
        </p:nvSpPr>
        <p:spPr>
          <a:xfrm>
            <a:off x="3976092" y="3196624"/>
            <a:ext cx="2179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i="1"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i="1" lang="en-GB" sz="2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0" name="Google Shape;1790;p105"/>
          <p:cNvSpPr txBox="1"/>
          <p:nvPr>
            <p:ph idx="4294967295" type="subTitle"/>
          </p:nvPr>
        </p:nvSpPr>
        <p:spPr>
          <a:xfrm>
            <a:off x="4405751" y="4023318"/>
            <a:ext cx="120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x}{3yz}=4z^2&quot;&gt;&lt;mfrac&gt;&lt;mrow&gt;&lt;mn&gt;5&lt;/mn&gt;&lt;mi&gt;x&lt;/mi&gt;&lt;/mrow&gt;&lt;mrow&gt;&lt;mn&gt;3&lt;/mn&gt;&lt;mi&gt;y&lt;/mi&gt;&lt;mi&gt;z&lt;/mi&gt;&lt;/mrow&gt;&lt;/mfrac&gt;&lt;mo&gt;=&lt;/mo&gt;&lt;mn&gt;4&lt;/mn&gt;&lt;msup&gt;&lt;mi&gt;z&lt;/mi&gt;&lt;mn&gt;2&lt;/mn&gt;&lt;/msup&gt;&lt;/math&gt;" id="1791" name="Google Shape;1791;p105" title="5 x over 3 y z equals 4 z squar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45731" y="1245505"/>
            <a:ext cx="1292612" cy="6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x}{3yz}&quot;&gt;&lt;mfrac&gt;&lt;mrow&gt;&lt;mn&gt;5&lt;/mn&gt;&lt;mi&gt;x&lt;/mi&gt;&lt;/mrow&gt;&lt;mrow&gt;&lt;mn&gt;3&lt;/mn&gt;&lt;mi&gt;y&lt;/mi&gt;&lt;mi&gt;z&lt;/mi&gt;&lt;/mrow&gt;&lt;/mfrac&gt;&lt;/math&gt;" id="1792" name="Google Shape;1792;p105" title="5 x over 3 y z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93723" y="2215044"/>
            <a:ext cx="488206" cy="6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3" name="Google Shape;1793;p105"/>
          <p:cNvSpPr txBox="1"/>
          <p:nvPr>
            <p:ph idx="4294967295" type="subTitle"/>
          </p:nvPr>
        </p:nvSpPr>
        <p:spPr>
          <a:xfrm>
            <a:off x="6968595" y="3166675"/>
            <a:ext cx="1624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12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yz</a:t>
            </a:r>
            <a:r>
              <a:rPr baseline="30000" lang="en-GB" sz="2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06"/>
          <p:cNvSpPr txBox="1"/>
          <p:nvPr>
            <p:ph idx="1" type="body"/>
          </p:nvPr>
        </p:nvSpPr>
        <p:spPr>
          <a:xfrm>
            <a:off x="324000" y="1080000"/>
            <a:ext cx="81138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M</a:t>
            </a:r>
            <a:r>
              <a:rPr lang="en-GB" sz="2000"/>
              <a:t>ultiplicative relationships between variables can be written in a number of different ways.</a:t>
            </a:r>
            <a:endParaRPr/>
          </a:p>
        </p:txBody>
      </p:sp>
      <p:sp>
        <p:nvSpPr>
          <p:cNvPr id="1799" name="Google Shape;1799;p10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between terms</a:t>
            </a:r>
            <a:endParaRPr/>
          </a:p>
        </p:txBody>
      </p:sp>
      <p:sp>
        <p:nvSpPr>
          <p:cNvPr id="1800" name="Google Shape;1800;p106"/>
          <p:cNvSpPr txBox="1"/>
          <p:nvPr>
            <p:ph idx="1" type="body"/>
          </p:nvPr>
        </p:nvSpPr>
        <p:spPr>
          <a:xfrm>
            <a:off x="324000" y="2146800"/>
            <a:ext cx="81138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example, from the equation                  we can find a family of rearrangements.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5}{c}=d&quot;&gt;&lt;mfrac&gt;&lt;mn&gt;15&lt;/mn&gt;&lt;mi&gt;c&lt;/mi&gt;&lt;/mfrac&gt;&lt;mo&gt;=&lt;/mo&gt;&lt;mi&gt;d&lt;/mi&gt;&lt;/math&gt;" id="1801" name="Google Shape;1801;p106" title="15 over c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372" y="1965174"/>
            <a:ext cx="968051" cy="66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d}=c&quot;&gt;&lt;mfrac&gt;&lt;mn&gt;15&lt;/mn&gt;&lt;mi&gt;d&lt;/mi&gt;&lt;/mfrac&gt;&lt;mo&gt;=&lt;/mo&gt;&lt;mi&gt;c&lt;/mi&gt;&lt;/math&gt;" id="1802" name="Google Shape;1802;p106" title="15 over d equals c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6519" y="2962934"/>
            <a:ext cx="923372" cy="66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c}=d&quot;&gt;&lt;mfrac&gt;&lt;mn&gt;15&lt;/mn&gt;&lt;mi&gt;c&lt;/mi&gt;&lt;/mfrac&gt;&lt;mo&gt;=&lt;/mo&gt;&lt;mi&gt;d&lt;/mi&gt;&lt;/math&gt;" id="1803" name="Google Shape;1803;p106" title="15 over c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572" y="2967281"/>
            <a:ext cx="968051" cy="6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4" name="Google Shape;1804;p106"/>
          <p:cNvSpPr txBox="1"/>
          <p:nvPr>
            <p:ph idx="4294967295" type="subTitle"/>
          </p:nvPr>
        </p:nvSpPr>
        <p:spPr>
          <a:xfrm>
            <a:off x="2641652" y="4023325"/>
            <a:ext cx="145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c × d</a:t>
            </a:r>
            <a:endParaRPr baseline="30000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5" name="Google Shape;1805;p106"/>
          <p:cNvSpPr txBox="1"/>
          <p:nvPr>
            <p:ph idx="4294967295" type="subTitle"/>
          </p:nvPr>
        </p:nvSpPr>
        <p:spPr>
          <a:xfrm>
            <a:off x="5091559" y="4023325"/>
            <a:ext cx="145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15 =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 × c</a:t>
            </a:r>
            <a:endParaRPr baseline="30000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11" name="Google Shape;1811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