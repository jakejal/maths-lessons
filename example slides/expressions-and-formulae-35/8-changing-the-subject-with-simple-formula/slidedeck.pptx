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69" r:id="rId3"/>
    <p:sldMasterId id="21474837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b123eea255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b123eea255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b123eea255_0_2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b123eea255_0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b123eea255_0_2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b123eea255_0_2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2b123eea255_0_2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b123eea255_0_2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b123eea255_0_2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b123eea255_0_2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b123eea255_0_2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b123eea255_0_2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b123eea255_0_2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b123eea255_0_2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2b123eea255_0_2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2b123eea255_0_2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b123eea255_0_2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b123eea255_0_2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b123eea255_0_2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b123eea255_0_2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2b123eea255_0_2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2b123eea255_0_2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2b123eea255_0_2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2b123eea255_0_2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b123eea255_0_2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b123eea255_0_2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b123eea255_0_2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b123eea255_0_2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b123eea255_0_2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b123eea255_0_2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2b123eea255_0_2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2b123eea255_0_2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b123eea255_0_2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b123eea255_0_2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2b123eea255_0_2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2b123eea255_0_2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2b123eea255_0_2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2b123eea255_0_2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2b123eea255_0_2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2b123eea255_0_2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2b142c17a8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2b142c17a8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2b142c17a8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2b142c17a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b142c17a8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b142c17a8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b142c17a8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b142c17a8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2b142c17a8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2b142c17a8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2b142c17a8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2b142c17a8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b142c17a8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b142c17a8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b142c17a8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b142c17a8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2b142c17a8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2b142c17a8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2b142c17a8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2b142c17a8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2b142c17a8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2b142c17a8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2b142c17a8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b142c17a8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b1d7c7db2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b1d7c7db2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2b1d7c7db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2b1d7c7db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2b1d7c7db2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2b1d7c7db2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g2b1d7c7db2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1" name="Google Shape;2051;g2b1d7c7db2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b1d7c7db2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b1d7c7db2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g2b1d7c7db2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5" name="Google Shape;2085;g2b1d7c7db2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g2b1d7c7db2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1" name="Google Shape;2101;g2b1d7c7db2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8" name="Google Shape;211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0" name="Google Shape;213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9.png"/><Relationship Id="rId4" Type="http://schemas.openxmlformats.org/officeDocument/2006/relationships/image" Target="../media/image9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97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97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40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9.png"/><Relationship Id="rId4" Type="http://schemas.openxmlformats.org/officeDocument/2006/relationships/image" Target="../media/image9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97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97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40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44" name="Google Shape;84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8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2" name="Google Shape;1172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7" name="Google Shape;1237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0" name="Google Shape;1290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1" name="Google Shape;1291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Google Shape;1302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9" name="Google Shape;1309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7" name="Google Shape;1347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8" name="Google Shape;1348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3" name="Google Shape;1393;p10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9" name="Google Shape;1399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1" name="Google Shape;1401;p11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7" name="Google Shape;1407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9" name="Google Shape;1409;p11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7" name="Google Shape;1417;p11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22" name="Google Shape;142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5" name="Google Shape;1425;p11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1" name="Google Shape;143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3" name="Google Shape;1433;p11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9" name="Google Shape;143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1" name="Google Shape;1441;p11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7" name="Google Shape;144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2" name="Google Shape;1482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2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5" name="Google Shape;1485;p12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6" name="Google Shape;1486;p12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3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1.png"/><Relationship Id="rId4" Type="http://schemas.openxmlformats.org/officeDocument/2006/relationships/image" Target="../media/image10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Relationship Id="rId5" Type="http://schemas.openxmlformats.org/officeDocument/2006/relationships/image" Target="../media/image10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Relationship Id="rId5" Type="http://schemas.openxmlformats.org/officeDocument/2006/relationships/image" Target="../media/image10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Relationship Id="rId5" Type="http://schemas.openxmlformats.org/officeDocument/2006/relationships/image" Target="../media/image10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Relationship Id="rId5" Type="http://schemas.openxmlformats.org/officeDocument/2006/relationships/image" Target="../media/image10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Relationship Id="rId5" Type="http://schemas.openxmlformats.org/officeDocument/2006/relationships/image" Target="../media/image10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8.png"/><Relationship Id="rId4" Type="http://schemas.openxmlformats.org/officeDocument/2006/relationships/image" Target="../media/image1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9" Type="http://schemas.openxmlformats.org/officeDocument/2006/relationships/image" Target="../media/image120.png"/><Relationship Id="rId5" Type="http://schemas.openxmlformats.org/officeDocument/2006/relationships/image" Target="../media/image116.png"/><Relationship Id="rId6" Type="http://schemas.openxmlformats.org/officeDocument/2006/relationships/image" Target="../media/image115.png"/><Relationship Id="rId7" Type="http://schemas.openxmlformats.org/officeDocument/2006/relationships/image" Target="../media/image114.png"/><Relationship Id="rId8" Type="http://schemas.openxmlformats.org/officeDocument/2006/relationships/image" Target="../media/image117.png"/><Relationship Id="rId10" Type="http://schemas.openxmlformats.org/officeDocument/2006/relationships/image" Target="../media/image1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2.png"/><Relationship Id="rId4" Type="http://schemas.openxmlformats.org/officeDocument/2006/relationships/image" Target="../media/image10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9" Type="http://schemas.openxmlformats.org/officeDocument/2006/relationships/image" Target="../media/image120.png"/><Relationship Id="rId5" Type="http://schemas.openxmlformats.org/officeDocument/2006/relationships/image" Target="../media/image116.png"/><Relationship Id="rId6" Type="http://schemas.openxmlformats.org/officeDocument/2006/relationships/image" Target="../media/image115.png"/><Relationship Id="rId7" Type="http://schemas.openxmlformats.org/officeDocument/2006/relationships/image" Target="../media/image114.png"/><Relationship Id="rId8" Type="http://schemas.openxmlformats.org/officeDocument/2006/relationships/image" Target="../media/image117.png"/><Relationship Id="rId10" Type="http://schemas.openxmlformats.org/officeDocument/2006/relationships/image" Target="../media/image1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2.png"/><Relationship Id="rId4" Type="http://schemas.openxmlformats.org/officeDocument/2006/relationships/image" Target="../media/image10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with simple formula</a:t>
            </a:r>
            <a:endParaRPr/>
          </a:p>
        </p:txBody>
      </p:sp>
      <p:sp>
        <p:nvSpPr>
          <p:cNvPr id="1492" name="Google Shape;1492;p12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apply an understanding of inverse operations to a simple formula in order to make a specific variable the subject.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27"/>
          <p:cNvSpPr txBox="1"/>
          <p:nvPr>
            <p:ph idx="1" type="subTitle"/>
          </p:nvPr>
        </p:nvSpPr>
        <p:spPr>
          <a:xfrm>
            <a:off x="324000" y="2551372"/>
            <a:ext cx="6042300" cy="3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</a:t>
            </a:r>
            <a:r>
              <a:rPr b="1" lang="en-GB"/>
              <a:t>subject </a:t>
            </a:r>
            <a:r>
              <a:rPr lang="en-GB"/>
              <a:t>of this formula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8" name="Google Shape;1508;p127"/>
          <p:cNvSpPr txBox="1"/>
          <p:nvPr>
            <p:ph idx="1" type="subTitle"/>
          </p:nvPr>
        </p:nvSpPr>
        <p:spPr>
          <a:xfrm>
            <a:off x="324000" y="1092077"/>
            <a:ext cx="8496000" cy="1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subject</a:t>
            </a:r>
            <a:r>
              <a:rPr lang="en-GB"/>
              <a:t> of an equation/a formula is a variable that is expressed in terms of other variables. It should have an 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and a coefficient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9" name="Google Shape;1509;p127"/>
          <p:cNvSpPr txBox="1"/>
          <p:nvPr>
            <p:ph idx="1" type="subTitle"/>
          </p:nvPr>
        </p:nvSpPr>
        <p:spPr>
          <a:xfrm>
            <a:off x="324000" y="3172475"/>
            <a:ext cx="60423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is not the </a:t>
            </a:r>
            <a:r>
              <a:rPr b="1" lang="en-GB"/>
              <a:t>subject </a:t>
            </a:r>
            <a:r>
              <a:rPr lang="en-GB"/>
              <a:t>of this formula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a^2=c^2-b^2&quot;&gt;&lt;msup&gt;&lt;mi&gt;a&lt;/mi&gt;&lt;mn&gt;2&lt;/mn&gt;&lt;/msup&gt;&lt;mo&gt;=&lt;/mo&gt;&lt;msup&gt;&lt;mi&gt;c&lt;/mi&gt;&lt;mn&gt;2&lt;/mn&gt;&lt;/msup&gt;&lt;mo&gt;−&lt;/mo&gt;&lt;msup&gt;&lt;mi&gt;b&lt;/mi&gt;&lt;mn&gt;2&lt;/mn&gt;&lt;/msup&gt;&lt;/math&gt;" id="1510" name="Google Shape;1510;p127" title="a squared equals c squared minus b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906" y="3171575"/>
            <a:ext cx="1549157" cy="282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=\sqrt{c^2-b^2}&quot;&gt;&lt;mi&gt;a&lt;/mi&gt;&lt;mo&gt;=&lt;/mo&gt;&lt;msqrt&gt;&lt;msup&gt;&lt;mi&gt;c&lt;/mi&gt;&lt;mn&gt;2&lt;/mn&gt;&lt;/msup&gt;&lt;mo&gt;−&lt;/mo&gt;&lt;msup&gt;&lt;mi&gt;b&lt;/mi&gt;&lt;mn&gt;2&lt;/mn&gt;&lt;/msup&gt;&lt;/msqrt&gt;&lt;/math&gt;" id="1511" name="Google Shape;1511;p127" title="a equals the square root of c squared minu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151" y="2521901"/>
            <a:ext cx="1656880" cy="37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517" name="Google Shape;1517;p1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518" name="Google Shape;1518;p128"/>
          <p:cNvSpPr txBox="1"/>
          <p:nvPr>
            <p:ph idx="3" type="title"/>
          </p:nvPr>
        </p:nvSpPr>
        <p:spPr>
          <a:xfrm>
            <a:off x="324000" y="657600"/>
            <a:ext cx="57414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with simple formula</a:t>
            </a:r>
            <a:endParaRPr/>
          </a:p>
        </p:txBody>
      </p:sp>
      <p:pic>
        <p:nvPicPr>
          <p:cNvPr id="1519" name="Google Shape;1519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6150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29"/>
          <p:cNvSpPr txBox="1"/>
          <p:nvPr>
            <p:ph idx="1" type="body"/>
          </p:nvPr>
        </p:nvSpPr>
        <p:spPr>
          <a:xfrm>
            <a:off x="324000" y="759300"/>
            <a:ext cx="71352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Rearranging equations and formula is a valuable skill in mathematics.</a:t>
            </a:r>
            <a:endParaRPr/>
          </a:p>
        </p:txBody>
      </p:sp>
      <p:sp>
        <p:nvSpPr>
          <p:cNvPr id="1525" name="Google Shape;1525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526" name="Google Shape;1526;p129"/>
          <p:cNvSpPr txBox="1"/>
          <p:nvPr/>
        </p:nvSpPr>
        <p:spPr>
          <a:xfrm>
            <a:off x="324000" y="1611819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7" name="Google Shape;1527;p129"/>
          <p:cNvSpPr txBox="1"/>
          <p:nvPr>
            <p:ph idx="1" type="body"/>
          </p:nvPr>
        </p:nvSpPr>
        <p:spPr>
          <a:xfrm>
            <a:off x="2880280" y="1609007"/>
            <a:ext cx="55332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expressed in terms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/>
              <a:t>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8" name="Google Shape;1528;p129"/>
          <p:cNvSpPr txBox="1"/>
          <p:nvPr>
            <p:ph idx="1" type="body"/>
          </p:nvPr>
        </p:nvSpPr>
        <p:spPr>
          <a:xfrm>
            <a:off x="2880275" y="2283300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would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/>
              <a:t> expressed in terms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/>
              <a:t> look like?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9" name="Google Shape;1529;p129"/>
          <p:cNvSpPr txBox="1"/>
          <p:nvPr>
            <p:ph idx="1" type="body"/>
          </p:nvPr>
        </p:nvSpPr>
        <p:spPr>
          <a:xfrm>
            <a:off x="2880275" y="3483834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would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/>
              <a:t> expressed in terms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/>
              <a:t> look like?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129"/>
          <p:cNvSpPr txBox="1"/>
          <p:nvPr/>
        </p:nvSpPr>
        <p:spPr>
          <a:xfrm>
            <a:off x="324000" y="2286125"/>
            <a:ext cx="202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=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1" name="Google Shape;1531;p129"/>
          <p:cNvSpPr txBox="1"/>
          <p:nvPr/>
        </p:nvSpPr>
        <p:spPr>
          <a:xfrm>
            <a:off x="324000" y="3493818"/>
            <a:ext cx="202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30"/>
          <p:cNvSpPr txBox="1"/>
          <p:nvPr>
            <p:ph idx="1" type="body"/>
          </p:nvPr>
        </p:nvSpPr>
        <p:spPr>
          <a:xfrm>
            <a:off x="324000" y="759300"/>
            <a:ext cx="71352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generalise the rule for rearranging additive relationships.</a:t>
            </a:r>
            <a:endParaRPr/>
          </a:p>
        </p:txBody>
      </p:sp>
      <p:sp>
        <p:nvSpPr>
          <p:cNvPr id="1537" name="Google Shape;1537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538" name="Google Shape;1538;p130"/>
          <p:cNvSpPr txBox="1"/>
          <p:nvPr>
            <p:ph idx="1" type="body"/>
          </p:nvPr>
        </p:nvSpPr>
        <p:spPr>
          <a:xfrm>
            <a:off x="331158" y="1609000"/>
            <a:ext cx="2508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then…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9" name="Google Shape;1539;p130"/>
          <p:cNvSpPr txBox="1"/>
          <p:nvPr>
            <p:ph idx="1" type="body"/>
          </p:nvPr>
        </p:nvSpPr>
        <p:spPr>
          <a:xfrm>
            <a:off x="2880275" y="2283300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expressed in terms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0" name="Google Shape;1540;p130"/>
          <p:cNvSpPr txBox="1"/>
          <p:nvPr/>
        </p:nvSpPr>
        <p:spPr>
          <a:xfrm>
            <a:off x="324000" y="2286125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1" name="Google Shape;1541;p130"/>
          <p:cNvSpPr txBox="1"/>
          <p:nvPr/>
        </p:nvSpPr>
        <p:spPr>
          <a:xfrm>
            <a:off x="324000" y="3493823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2" name="Google Shape;1542;p130"/>
          <p:cNvSpPr txBox="1"/>
          <p:nvPr>
            <p:ph idx="1" type="body"/>
          </p:nvPr>
        </p:nvSpPr>
        <p:spPr>
          <a:xfrm>
            <a:off x="2880275" y="3483834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expressed in terms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3" name="Google Shape;1543;p130"/>
          <p:cNvSpPr txBox="1"/>
          <p:nvPr>
            <p:ph idx="1" type="body"/>
          </p:nvPr>
        </p:nvSpPr>
        <p:spPr>
          <a:xfrm>
            <a:off x="2880275" y="2816700"/>
            <a:ext cx="61803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4" name="Google Shape;1544;p130"/>
          <p:cNvSpPr/>
          <p:nvPr/>
        </p:nvSpPr>
        <p:spPr>
          <a:xfrm>
            <a:off x="191568" y="2289757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0"/>
          <p:cNvSpPr/>
          <p:nvPr/>
        </p:nvSpPr>
        <p:spPr>
          <a:xfrm>
            <a:off x="191568" y="3478784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0"/>
          <p:cNvSpPr txBox="1"/>
          <p:nvPr>
            <p:ph idx="1" type="body"/>
          </p:nvPr>
        </p:nvSpPr>
        <p:spPr>
          <a:xfrm>
            <a:off x="2880275" y="3959700"/>
            <a:ext cx="61803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552" name="Google Shape;1552;p131"/>
          <p:cNvSpPr txBox="1"/>
          <p:nvPr>
            <p:ph idx="1" type="body"/>
          </p:nvPr>
        </p:nvSpPr>
        <p:spPr>
          <a:xfrm>
            <a:off x="2880275" y="2283300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expressed in terms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3" name="Google Shape;1553;p131"/>
          <p:cNvSpPr txBox="1"/>
          <p:nvPr/>
        </p:nvSpPr>
        <p:spPr>
          <a:xfrm>
            <a:off x="324000" y="2286125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4" name="Google Shape;1554;p131"/>
          <p:cNvSpPr txBox="1"/>
          <p:nvPr/>
        </p:nvSpPr>
        <p:spPr>
          <a:xfrm>
            <a:off x="324000" y="3493823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131"/>
          <p:cNvSpPr txBox="1"/>
          <p:nvPr>
            <p:ph idx="1" type="body"/>
          </p:nvPr>
        </p:nvSpPr>
        <p:spPr>
          <a:xfrm>
            <a:off x="2880275" y="3483834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expressed in terms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6" name="Google Shape;1556;p131"/>
          <p:cNvSpPr txBox="1"/>
          <p:nvPr>
            <p:ph idx="1" type="body"/>
          </p:nvPr>
        </p:nvSpPr>
        <p:spPr>
          <a:xfrm>
            <a:off x="2880275" y="2816700"/>
            <a:ext cx="61518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7" name="Google Shape;1557;p131"/>
          <p:cNvSpPr txBox="1"/>
          <p:nvPr>
            <p:ph idx="1" type="body"/>
          </p:nvPr>
        </p:nvSpPr>
        <p:spPr>
          <a:xfrm>
            <a:off x="2880275" y="3959700"/>
            <a:ext cx="61518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8" name="Google Shape;1558;p131"/>
          <p:cNvSpPr txBox="1"/>
          <p:nvPr>
            <p:ph idx="4294967295" type="subTitle"/>
          </p:nvPr>
        </p:nvSpPr>
        <p:spPr>
          <a:xfrm>
            <a:off x="324000" y="752752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subject</a:t>
            </a:r>
            <a:r>
              <a:rPr lang="en-GB"/>
              <a:t> of an equation/a formula is a variable that is expressed in terms of other variables. It should have an 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and a coefficient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564" name="Google Shape;1564;p132"/>
          <p:cNvSpPr txBox="1"/>
          <p:nvPr>
            <p:ph idx="1" type="body"/>
          </p:nvPr>
        </p:nvSpPr>
        <p:spPr>
          <a:xfrm>
            <a:off x="331154" y="3490993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5" name="Google Shape;1565;p132"/>
          <p:cNvSpPr txBox="1"/>
          <p:nvPr>
            <p:ph idx="4294967295" type="subTitle"/>
          </p:nvPr>
        </p:nvSpPr>
        <p:spPr>
          <a:xfrm>
            <a:off x="324000" y="752752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subject</a:t>
            </a:r>
            <a:r>
              <a:rPr lang="en-GB"/>
              <a:t> of an equation/a formula is a variable that is expressed in terms of other variables. It should have an 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and a coefficient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6" name="Google Shape;1566;p132"/>
          <p:cNvSpPr txBox="1"/>
          <p:nvPr>
            <p:ph idx="1" type="body"/>
          </p:nvPr>
        </p:nvSpPr>
        <p:spPr>
          <a:xfrm>
            <a:off x="331158" y="2271787"/>
            <a:ext cx="2508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7" name="Google Shape;1567;p132"/>
          <p:cNvSpPr txBox="1"/>
          <p:nvPr>
            <p:ph idx="1" type="body"/>
          </p:nvPr>
        </p:nvSpPr>
        <p:spPr>
          <a:xfrm>
            <a:off x="4316566" y="2271775"/>
            <a:ext cx="1575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8" name="Google Shape;1568;p132"/>
          <p:cNvSpPr txBox="1"/>
          <p:nvPr>
            <p:ph idx="1" type="body"/>
          </p:nvPr>
        </p:nvSpPr>
        <p:spPr>
          <a:xfrm>
            <a:off x="1215380" y="2869868"/>
            <a:ext cx="1575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78 − 35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9" name="Google Shape;1569;p132"/>
          <p:cNvSpPr txBox="1"/>
          <p:nvPr>
            <p:ph idx="1" type="body"/>
          </p:nvPr>
        </p:nvSpPr>
        <p:spPr>
          <a:xfrm>
            <a:off x="4316566" y="2869868"/>
            <a:ext cx="1575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 = 78 −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0" name="Google Shape;1570;p132"/>
          <p:cNvSpPr/>
          <p:nvPr/>
        </p:nvSpPr>
        <p:spPr>
          <a:xfrm>
            <a:off x="995251" y="2782868"/>
            <a:ext cx="1891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32"/>
          <p:cNvSpPr txBox="1"/>
          <p:nvPr>
            <p:ph idx="1" type="body"/>
          </p:nvPr>
        </p:nvSpPr>
        <p:spPr>
          <a:xfrm>
            <a:off x="331150" y="4047425"/>
            <a:ext cx="84960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context of this equation we can immediately calculate the unknown because it is the </a:t>
            </a:r>
            <a:r>
              <a:rPr b="1" lang="en-GB"/>
              <a:t>subject</a:t>
            </a:r>
            <a:r>
              <a:rPr lang="en-GB"/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2" name="Google Shape;1572;p132"/>
          <p:cNvSpPr txBox="1"/>
          <p:nvPr>
            <p:ph idx="1" type="body"/>
          </p:nvPr>
        </p:nvSpPr>
        <p:spPr>
          <a:xfrm>
            <a:off x="6263248" y="4405375"/>
            <a:ext cx="8343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33"/>
          <p:cNvSpPr txBox="1"/>
          <p:nvPr>
            <p:ph idx="1" type="body"/>
          </p:nvPr>
        </p:nvSpPr>
        <p:spPr>
          <a:xfrm>
            <a:off x="324000" y="759300"/>
            <a:ext cx="71352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</a:t>
            </a:r>
            <a:r>
              <a:rPr lang="en-GB"/>
              <a:t> generalisation for additive relationships.</a:t>
            </a:r>
            <a:endParaRPr/>
          </a:p>
        </p:txBody>
      </p:sp>
      <p:sp>
        <p:nvSpPr>
          <p:cNvPr id="1578" name="Google Shape;157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579" name="Google Shape;1579;p133"/>
          <p:cNvSpPr txBox="1"/>
          <p:nvPr/>
        </p:nvSpPr>
        <p:spPr>
          <a:xfrm>
            <a:off x="628800" y="1863445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0" name="Google Shape;1580;p133"/>
          <p:cNvSpPr txBox="1"/>
          <p:nvPr/>
        </p:nvSpPr>
        <p:spPr>
          <a:xfrm>
            <a:off x="3753000" y="1870610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1" name="Google Shape;1581;p133"/>
          <p:cNvSpPr txBox="1"/>
          <p:nvPr>
            <p:ph idx="1" type="body"/>
          </p:nvPr>
        </p:nvSpPr>
        <p:spPr>
          <a:xfrm>
            <a:off x="319648" y="2477380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2" name="Google Shape;1582;p133"/>
          <p:cNvSpPr/>
          <p:nvPr/>
        </p:nvSpPr>
        <p:spPr>
          <a:xfrm>
            <a:off x="496368" y="1867077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3"/>
          <p:cNvSpPr/>
          <p:nvPr/>
        </p:nvSpPr>
        <p:spPr>
          <a:xfrm>
            <a:off x="3620568" y="185557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3"/>
          <p:cNvSpPr txBox="1"/>
          <p:nvPr>
            <p:ph idx="1" type="body"/>
          </p:nvPr>
        </p:nvSpPr>
        <p:spPr>
          <a:xfrm>
            <a:off x="323995" y="2946087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5" name="Google Shape;1585;p133"/>
          <p:cNvSpPr txBox="1"/>
          <p:nvPr>
            <p:ph idx="1" type="body"/>
          </p:nvPr>
        </p:nvSpPr>
        <p:spPr>
          <a:xfrm>
            <a:off x="617287" y="1327213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6" name="Google Shape;1586;p133"/>
          <p:cNvSpPr txBox="1"/>
          <p:nvPr>
            <p:ph idx="1" type="body"/>
          </p:nvPr>
        </p:nvSpPr>
        <p:spPr>
          <a:xfrm>
            <a:off x="3761688" y="1327213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7" name="Google Shape;1587;p133"/>
          <p:cNvSpPr txBox="1"/>
          <p:nvPr>
            <p:ph idx="1" type="body"/>
          </p:nvPr>
        </p:nvSpPr>
        <p:spPr>
          <a:xfrm>
            <a:off x="323995" y="3498153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what is</a:t>
            </a:r>
            <a:r>
              <a:rPr lang="en-GB"/>
              <a:t> the </a:t>
            </a:r>
            <a:r>
              <a:rPr b="1" lang="en-GB"/>
              <a:t>subject</a:t>
            </a:r>
            <a:r>
              <a:rPr lang="en-GB"/>
              <a:t> of the original form?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8" name="Google Shape;1588;p133"/>
          <p:cNvSpPr/>
          <p:nvPr/>
        </p:nvSpPr>
        <p:spPr>
          <a:xfrm>
            <a:off x="374143" y="1312062"/>
            <a:ext cx="1650300" cy="4848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13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92075" y="1260775"/>
            <a:ext cx="2817126" cy="13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134"/>
          <p:cNvSpPr txBox="1"/>
          <p:nvPr>
            <p:ph idx="1" type="body"/>
          </p:nvPr>
        </p:nvSpPr>
        <p:spPr>
          <a:xfrm>
            <a:off x="324000" y="759300"/>
            <a:ext cx="71352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generalisation for additive relationships.</a:t>
            </a:r>
            <a:endParaRPr/>
          </a:p>
        </p:txBody>
      </p:sp>
      <p:sp>
        <p:nvSpPr>
          <p:cNvPr id="1595" name="Google Shape;1595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596" name="Google Shape;1596;p134"/>
          <p:cNvSpPr txBox="1"/>
          <p:nvPr>
            <p:ph idx="1" type="body"/>
          </p:nvPr>
        </p:nvSpPr>
        <p:spPr>
          <a:xfrm>
            <a:off x="617287" y="1327213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7" name="Google Shape;1597;p134"/>
          <p:cNvSpPr txBox="1"/>
          <p:nvPr>
            <p:ph idx="1" type="body"/>
          </p:nvPr>
        </p:nvSpPr>
        <p:spPr>
          <a:xfrm>
            <a:off x="323995" y="3498153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what is the </a:t>
            </a:r>
            <a:r>
              <a:rPr b="1" lang="en-GB"/>
              <a:t>subject</a:t>
            </a:r>
            <a:r>
              <a:rPr lang="en-GB"/>
              <a:t> of the original form?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8" name="Google Shape;1598;p134"/>
          <p:cNvSpPr/>
          <p:nvPr/>
        </p:nvSpPr>
        <p:spPr>
          <a:xfrm>
            <a:off x="374143" y="1312062"/>
            <a:ext cx="1650300" cy="4848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4"/>
          <p:cNvSpPr txBox="1"/>
          <p:nvPr/>
        </p:nvSpPr>
        <p:spPr>
          <a:xfrm flipH="1">
            <a:off x="5481900" y="1293000"/>
            <a:ext cx="25299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because it is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thing on the LHS.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0" name="Google Shape;1600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6169" y="23302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134"/>
          <p:cNvSpPr txBox="1"/>
          <p:nvPr/>
        </p:nvSpPr>
        <p:spPr>
          <a:xfrm>
            <a:off x="79295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34"/>
          <p:cNvSpPr txBox="1"/>
          <p:nvPr>
            <p:ph idx="1" type="body"/>
          </p:nvPr>
        </p:nvSpPr>
        <p:spPr>
          <a:xfrm>
            <a:off x="5433744" y="2713137"/>
            <a:ext cx="21159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you agree</a:t>
            </a:r>
            <a:r>
              <a:rPr lang="en-GB"/>
              <a:t>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35"/>
          <p:cNvSpPr txBox="1"/>
          <p:nvPr/>
        </p:nvSpPr>
        <p:spPr>
          <a:xfrm flipH="1">
            <a:off x="840300" y="2740800"/>
            <a:ext cx="27069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Look at the definition of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again Andeep.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8" name="Google Shape;1608;p13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98676" y="2698432"/>
            <a:ext cx="3052099" cy="86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3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92075" y="1260775"/>
            <a:ext cx="2817126" cy="13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35"/>
          <p:cNvSpPr txBox="1"/>
          <p:nvPr>
            <p:ph idx="1" type="body"/>
          </p:nvPr>
        </p:nvSpPr>
        <p:spPr>
          <a:xfrm>
            <a:off x="324000" y="759300"/>
            <a:ext cx="71352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generalisation for additive relationships.</a:t>
            </a:r>
            <a:endParaRPr/>
          </a:p>
        </p:txBody>
      </p:sp>
      <p:sp>
        <p:nvSpPr>
          <p:cNvPr id="1611" name="Google Shape;1611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612" name="Google Shape;1612;p135"/>
          <p:cNvSpPr txBox="1"/>
          <p:nvPr>
            <p:ph idx="1" type="body"/>
          </p:nvPr>
        </p:nvSpPr>
        <p:spPr>
          <a:xfrm>
            <a:off x="617287" y="1327213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3" name="Google Shape;1613;p135"/>
          <p:cNvSpPr/>
          <p:nvPr/>
        </p:nvSpPr>
        <p:spPr>
          <a:xfrm>
            <a:off x="374143" y="1312062"/>
            <a:ext cx="1650300" cy="4848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5"/>
          <p:cNvSpPr txBox="1"/>
          <p:nvPr/>
        </p:nvSpPr>
        <p:spPr>
          <a:xfrm flipH="1">
            <a:off x="5481900" y="1293000"/>
            <a:ext cx="25299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because it is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thing on the LHS.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5" name="Google Shape;1615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6169" y="23302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35"/>
          <p:cNvSpPr txBox="1"/>
          <p:nvPr/>
        </p:nvSpPr>
        <p:spPr>
          <a:xfrm>
            <a:off x="79295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7" name="Google Shape;1617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5963" y="364956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135"/>
          <p:cNvSpPr txBox="1"/>
          <p:nvPr/>
        </p:nvSpPr>
        <p:spPr>
          <a:xfrm>
            <a:off x="152803" y="457973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35"/>
          <p:cNvSpPr txBox="1"/>
          <p:nvPr>
            <p:ph idx="4294967295" type="subTitle"/>
          </p:nvPr>
        </p:nvSpPr>
        <p:spPr>
          <a:xfrm>
            <a:off x="1547540" y="3717388"/>
            <a:ext cx="64785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subject</a:t>
            </a:r>
            <a:r>
              <a:rPr lang="en-GB" sz="2000"/>
              <a:t> of an equation/a formula is a variable that is expressed in terms of other variables. It should have an exponent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and a coefficient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36"/>
          <p:cNvSpPr txBox="1"/>
          <p:nvPr/>
        </p:nvSpPr>
        <p:spPr>
          <a:xfrm flipH="1">
            <a:off x="652350" y="2664600"/>
            <a:ext cx="5666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Well corrected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Andeep!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on the left or right hand side.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5" name="Google Shape;1625;p13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229166" y="2633732"/>
            <a:ext cx="5951800" cy="86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13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135125" y="1173068"/>
            <a:ext cx="3417498" cy="13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136"/>
          <p:cNvSpPr txBox="1"/>
          <p:nvPr/>
        </p:nvSpPr>
        <p:spPr>
          <a:xfrm flipH="1">
            <a:off x="5260635" y="1216800"/>
            <a:ext cx="30015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must be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because this is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expressed in terms of other variables.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8" name="Google Shape;1628;p136"/>
          <p:cNvSpPr txBox="1"/>
          <p:nvPr>
            <p:ph idx="1" type="body"/>
          </p:nvPr>
        </p:nvSpPr>
        <p:spPr>
          <a:xfrm>
            <a:off x="324000" y="759300"/>
            <a:ext cx="71352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generalisation for additive relationships.</a:t>
            </a:r>
            <a:endParaRPr/>
          </a:p>
        </p:txBody>
      </p:sp>
      <p:sp>
        <p:nvSpPr>
          <p:cNvPr id="1629" name="Google Shape;1629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630" name="Google Shape;1630;p136"/>
          <p:cNvSpPr txBox="1"/>
          <p:nvPr>
            <p:ph idx="1" type="body"/>
          </p:nvPr>
        </p:nvSpPr>
        <p:spPr>
          <a:xfrm>
            <a:off x="617287" y="1327213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1" name="Google Shape;1631;p136"/>
          <p:cNvSpPr/>
          <p:nvPr/>
        </p:nvSpPr>
        <p:spPr>
          <a:xfrm>
            <a:off x="374143" y="1312062"/>
            <a:ext cx="1650300" cy="4848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2" name="Google Shape;163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6169" y="23302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136"/>
          <p:cNvSpPr txBox="1"/>
          <p:nvPr/>
        </p:nvSpPr>
        <p:spPr>
          <a:xfrm>
            <a:off x="79295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4" name="Google Shape;1634;p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5963" y="364956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36"/>
          <p:cNvSpPr txBox="1"/>
          <p:nvPr/>
        </p:nvSpPr>
        <p:spPr>
          <a:xfrm>
            <a:off x="152803" y="457973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36"/>
          <p:cNvSpPr txBox="1"/>
          <p:nvPr>
            <p:ph idx="4294967295" type="subTitle"/>
          </p:nvPr>
        </p:nvSpPr>
        <p:spPr>
          <a:xfrm>
            <a:off x="1547540" y="3717388"/>
            <a:ext cx="64785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subject</a:t>
            </a:r>
            <a:r>
              <a:rPr lang="en-GB" sz="2000"/>
              <a:t> of an equation/a formula is a variable that is expressed in terms of other variables. It should have an exponent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and a coefficient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37" name="Google Shape;1637;p136"/>
          <p:cNvSpPr/>
          <p:nvPr/>
        </p:nvSpPr>
        <p:spPr>
          <a:xfrm>
            <a:off x="1422275" y="1333677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Google Shape;1642;p13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77537" y="2341898"/>
            <a:ext cx="2942326" cy="81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13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79657" y="3190850"/>
            <a:ext cx="5025377" cy="8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137"/>
          <p:cNvSpPr txBox="1"/>
          <p:nvPr/>
        </p:nvSpPr>
        <p:spPr>
          <a:xfrm flipH="1">
            <a:off x="1384175" y="3259888"/>
            <a:ext cx="4689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Yes. That’s right. You can rearrange this like you would any additive relationship.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5" name="Google Shape;1645;p137"/>
          <p:cNvSpPr txBox="1"/>
          <p:nvPr/>
        </p:nvSpPr>
        <p:spPr>
          <a:xfrm flipH="1">
            <a:off x="4975425" y="1216800"/>
            <a:ext cx="33486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was learning about right-angle triangles recently and saw this formula.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6" name="Google Shape;1646;p13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81550" y="1168725"/>
            <a:ext cx="3625052" cy="12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648" name="Google Shape;1648;p137"/>
          <p:cNvSpPr txBox="1"/>
          <p:nvPr>
            <p:ph idx="1" type="body"/>
          </p:nvPr>
        </p:nvSpPr>
        <p:spPr>
          <a:xfrm>
            <a:off x="617272" y="10454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9" name="Google Shape;1649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6169" y="23302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137"/>
          <p:cNvSpPr txBox="1"/>
          <p:nvPr/>
        </p:nvSpPr>
        <p:spPr>
          <a:xfrm>
            <a:off x="79295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1" name="Google Shape;1651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5963" y="364956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137"/>
          <p:cNvSpPr txBox="1"/>
          <p:nvPr/>
        </p:nvSpPr>
        <p:spPr>
          <a:xfrm>
            <a:off x="152803" y="457973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7"/>
          <p:cNvSpPr txBox="1"/>
          <p:nvPr>
            <p:ph idx="1" type="body"/>
          </p:nvPr>
        </p:nvSpPr>
        <p:spPr>
          <a:xfrm>
            <a:off x="2884606" y="10454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4" name="Google Shape;1654;p137"/>
          <p:cNvSpPr txBox="1"/>
          <p:nvPr>
            <p:ph idx="1" type="body"/>
          </p:nvPr>
        </p:nvSpPr>
        <p:spPr>
          <a:xfrm>
            <a:off x="617272" y="15788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5" name="Google Shape;1655;p137"/>
          <p:cNvSpPr txBox="1"/>
          <p:nvPr>
            <p:ph idx="1" type="body"/>
          </p:nvPr>
        </p:nvSpPr>
        <p:spPr>
          <a:xfrm>
            <a:off x="2880259" y="15788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6" name="Google Shape;1656;p137"/>
          <p:cNvSpPr txBox="1"/>
          <p:nvPr/>
        </p:nvSpPr>
        <p:spPr>
          <a:xfrm flipH="1">
            <a:off x="4571362" y="2389973"/>
            <a:ext cx="2848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I can rearrange this relationship like this.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1" name="Google Shape;1661;p13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98677" y="2698425"/>
            <a:ext cx="3346698" cy="86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2" name="Google Shape;1662;p13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77200" y="1103025"/>
            <a:ext cx="3937326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138"/>
          <p:cNvSpPr txBox="1"/>
          <p:nvPr/>
        </p:nvSpPr>
        <p:spPr>
          <a:xfrm flipH="1">
            <a:off x="4992696" y="1140607"/>
            <a:ext cx="3579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I can have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4" name="Google Shape;1664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665" name="Google Shape;1665;p138"/>
          <p:cNvSpPr txBox="1"/>
          <p:nvPr>
            <p:ph idx="1" type="body"/>
          </p:nvPr>
        </p:nvSpPr>
        <p:spPr>
          <a:xfrm>
            <a:off x="617272" y="10454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6" name="Google Shape;1666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6169" y="23302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138"/>
          <p:cNvSpPr txBox="1"/>
          <p:nvPr/>
        </p:nvSpPr>
        <p:spPr>
          <a:xfrm>
            <a:off x="79295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8" name="Google Shape;1668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5963" y="364956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38"/>
          <p:cNvSpPr txBox="1"/>
          <p:nvPr/>
        </p:nvSpPr>
        <p:spPr>
          <a:xfrm>
            <a:off x="152803" y="457973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38"/>
          <p:cNvSpPr txBox="1"/>
          <p:nvPr>
            <p:ph idx="4294967295" type="subTitle"/>
          </p:nvPr>
        </p:nvSpPr>
        <p:spPr>
          <a:xfrm>
            <a:off x="1547540" y="3717388"/>
            <a:ext cx="64785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subject</a:t>
            </a:r>
            <a:r>
              <a:rPr lang="en-GB" sz="2000"/>
              <a:t> of an equation/a formula is a variable that is expressed in terms of other variables. It should have an exponent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and a coefficient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71" name="Google Shape;1671;p138"/>
          <p:cNvSpPr txBox="1"/>
          <p:nvPr>
            <p:ph idx="1" type="body"/>
          </p:nvPr>
        </p:nvSpPr>
        <p:spPr>
          <a:xfrm>
            <a:off x="2884606" y="10454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2" name="Google Shape;1672;p138"/>
          <p:cNvSpPr txBox="1"/>
          <p:nvPr>
            <p:ph idx="1" type="body"/>
          </p:nvPr>
        </p:nvSpPr>
        <p:spPr>
          <a:xfrm>
            <a:off x="617272" y="15788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3" name="Google Shape;1673;p138"/>
          <p:cNvSpPr txBox="1"/>
          <p:nvPr>
            <p:ph idx="1" type="body"/>
          </p:nvPr>
        </p:nvSpPr>
        <p:spPr>
          <a:xfrm>
            <a:off x="2880259" y="15788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4" name="Google Shape;1674;p138"/>
          <p:cNvSpPr/>
          <p:nvPr/>
        </p:nvSpPr>
        <p:spPr>
          <a:xfrm>
            <a:off x="1639368" y="1028877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5" name="Google Shape;1675;p13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20000" y="1724124"/>
            <a:ext cx="3131551" cy="127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38"/>
          <p:cNvSpPr txBox="1"/>
          <p:nvPr/>
        </p:nvSpPr>
        <p:spPr>
          <a:xfrm flipH="1">
            <a:off x="4535475" y="1715680"/>
            <a:ext cx="27399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 I can make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It depends what I want to work out.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7" name="Google Shape;1677;p138"/>
          <p:cNvSpPr/>
          <p:nvPr/>
        </p:nvSpPr>
        <p:spPr>
          <a:xfrm>
            <a:off x="507875" y="1565090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138"/>
          <p:cNvSpPr txBox="1"/>
          <p:nvPr/>
        </p:nvSpPr>
        <p:spPr>
          <a:xfrm flipH="1">
            <a:off x="863603" y="2740793"/>
            <a:ext cx="2968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check that definition of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again Andeep.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3" name="Google Shape;1683;p13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430419" y="2698425"/>
            <a:ext cx="4755077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4" name="Google Shape;1684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685" name="Google Shape;1685;p139"/>
          <p:cNvSpPr txBox="1"/>
          <p:nvPr>
            <p:ph idx="1" type="body"/>
          </p:nvPr>
        </p:nvSpPr>
        <p:spPr>
          <a:xfrm>
            <a:off x="617272" y="10454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6" name="Google Shape;1686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6169" y="23302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39"/>
          <p:cNvSpPr txBox="1"/>
          <p:nvPr/>
        </p:nvSpPr>
        <p:spPr>
          <a:xfrm>
            <a:off x="79295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8" name="Google Shape;1688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5963" y="364956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139"/>
          <p:cNvSpPr txBox="1"/>
          <p:nvPr/>
        </p:nvSpPr>
        <p:spPr>
          <a:xfrm>
            <a:off x="152803" y="457973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39"/>
          <p:cNvSpPr txBox="1"/>
          <p:nvPr>
            <p:ph idx="4294967295" type="subTitle"/>
          </p:nvPr>
        </p:nvSpPr>
        <p:spPr>
          <a:xfrm>
            <a:off x="1547540" y="3717388"/>
            <a:ext cx="64785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subject</a:t>
            </a:r>
            <a:r>
              <a:rPr lang="en-GB" sz="2000"/>
              <a:t> of an equation/a formula is a variable that is expressed in terms of other variables. It should have an exponent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and a coefficient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91" name="Google Shape;1691;p139"/>
          <p:cNvSpPr txBox="1"/>
          <p:nvPr>
            <p:ph idx="1" type="body"/>
          </p:nvPr>
        </p:nvSpPr>
        <p:spPr>
          <a:xfrm>
            <a:off x="2884606" y="10454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2" name="Google Shape;1692;p139"/>
          <p:cNvSpPr txBox="1"/>
          <p:nvPr>
            <p:ph idx="1" type="body"/>
          </p:nvPr>
        </p:nvSpPr>
        <p:spPr>
          <a:xfrm>
            <a:off x="617272" y="15788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3" name="Google Shape;1693;p139"/>
          <p:cNvSpPr txBox="1"/>
          <p:nvPr>
            <p:ph idx="1" type="body"/>
          </p:nvPr>
        </p:nvSpPr>
        <p:spPr>
          <a:xfrm>
            <a:off x="2880259" y="1578838"/>
            <a:ext cx="1503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4" name="Google Shape;1694;p139"/>
          <p:cNvSpPr/>
          <p:nvPr/>
        </p:nvSpPr>
        <p:spPr>
          <a:xfrm>
            <a:off x="1639368" y="1028877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5" name="Google Shape;1695;p13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43020" y="1151836"/>
            <a:ext cx="4079427" cy="13168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139"/>
          <p:cNvSpPr txBox="1"/>
          <p:nvPr/>
        </p:nvSpPr>
        <p:spPr>
          <a:xfrm flipH="1">
            <a:off x="4536995" y="1154905"/>
            <a:ext cx="3697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see now! We can’t call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it doesn’t have an exponent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7" name="Google Shape;1697;p139"/>
          <p:cNvSpPr/>
          <p:nvPr/>
        </p:nvSpPr>
        <p:spPr>
          <a:xfrm>
            <a:off x="507875" y="1565090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39"/>
          <p:cNvSpPr txBox="1"/>
          <p:nvPr/>
        </p:nvSpPr>
        <p:spPr>
          <a:xfrm flipH="1">
            <a:off x="787775" y="2740800"/>
            <a:ext cx="4363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Well done.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should have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exponent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a coefficient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140"/>
          <p:cNvSpPr txBox="1"/>
          <p:nvPr>
            <p:ph idx="4294967295" type="body"/>
          </p:nvPr>
        </p:nvSpPr>
        <p:spPr>
          <a:xfrm>
            <a:off x="1018488" y="3340457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4" name="Google Shape;1704;p1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705" name="Google Shape;1705;p140"/>
          <p:cNvSpPr txBox="1"/>
          <p:nvPr>
            <p:ph type="title"/>
          </p:nvPr>
        </p:nvSpPr>
        <p:spPr>
          <a:xfrm>
            <a:off x="324000" y="810000"/>
            <a:ext cx="6318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which of these rearrangements of the equation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000"/>
              <a:t> is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706" name="Google Shape;1706;p140"/>
          <p:cNvSpPr txBox="1"/>
          <p:nvPr/>
        </p:nvSpPr>
        <p:spPr>
          <a:xfrm>
            <a:off x="1018488" y="2476767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7" name="Google Shape;1707;p140"/>
          <p:cNvSpPr txBox="1"/>
          <p:nvPr>
            <p:ph idx="4294967295" type="body"/>
          </p:nvPr>
        </p:nvSpPr>
        <p:spPr>
          <a:xfrm>
            <a:off x="1018488" y="1678040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8" name="Google Shape;1708;p140"/>
          <p:cNvSpPr txBox="1"/>
          <p:nvPr/>
        </p:nvSpPr>
        <p:spPr>
          <a:xfrm>
            <a:off x="1018488" y="4126437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9" name="Google Shape;1709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154" y="416350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0" name="Google Shape;1710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8433" y="334212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8433" y="250392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8433" y="171891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40"/>
          <p:cNvSpPr txBox="1"/>
          <p:nvPr/>
        </p:nvSpPr>
        <p:spPr>
          <a:xfrm flipH="1">
            <a:off x="2886273" y="4123900"/>
            <a:ext cx="4055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only rearrangement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expressed in terms of other variables.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719" name="Google Shape;1719;p141"/>
          <p:cNvSpPr txBox="1"/>
          <p:nvPr>
            <p:ph type="title"/>
          </p:nvPr>
        </p:nvSpPr>
        <p:spPr>
          <a:xfrm>
            <a:off x="324000" y="810000"/>
            <a:ext cx="6318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which of these rearrangements of the equation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000"/>
              <a:t> is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720" name="Google Shape;1720;p141"/>
          <p:cNvSpPr txBox="1"/>
          <p:nvPr>
            <p:ph idx="4294967295" type="body"/>
          </p:nvPr>
        </p:nvSpPr>
        <p:spPr>
          <a:xfrm>
            <a:off x="1018488" y="1678040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1" name="Google Shape;1721;p141"/>
          <p:cNvSpPr txBox="1"/>
          <p:nvPr/>
        </p:nvSpPr>
        <p:spPr>
          <a:xfrm>
            <a:off x="1018488" y="4126437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2" name="Google Shape;1722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154" y="169058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3" name="Google Shape;1723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8433" y="418032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8433" y="2503925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41"/>
          <p:cNvSpPr txBox="1"/>
          <p:nvPr/>
        </p:nvSpPr>
        <p:spPr>
          <a:xfrm flipH="1">
            <a:off x="2886301" y="1650975"/>
            <a:ext cx="56088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expressed in terms of other variables. The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be on the RHS of an equation or formula.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6" name="Google Shape;1726;p141"/>
          <p:cNvSpPr txBox="1"/>
          <p:nvPr>
            <p:ph idx="4294967295" type="body"/>
          </p:nvPr>
        </p:nvSpPr>
        <p:spPr>
          <a:xfrm>
            <a:off x="1018488" y="3340457"/>
            <a:ext cx="12441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7" name="Google Shape;1727;p141"/>
          <p:cNvSpPr txBox="1"/>
          <p:nvPr/>
        </p:nvSpPr>
        <p:spPr>
          <a:xfrm>
            <a:off x="1018488" y="2476767"/>
            <a:ext cx="12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8" name="Google Shape;1728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154" y="337848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141"/>
          <p:cNvSpPr txBox="1"/>
          <p:nvPr/>
        </p:nvSpPr>
        <p:spPr>
          <a:xfrm flipH="1">
            <a:off x="2886301" y="3251175"/>
            <a:ext cx="56088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expressed in terms of other variables. The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be on the RHS of an equation or formula.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142"/>
          <p:cNvSpPr txBox="1"/>
          <p:nvPr>
            <p:ph idx="3" type="subTitle"/>
          </p:nvPr>
        </p:nvSpPr>
        <p:spPr>
          <a:xfrm>
            <a:off x="980575" y="4021684"/>
            <a:ext cx="5121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/>
              <a:t>is</a:t>
            </a:r>
            <a:r>
              <a:rPr lang="en-GB" sz="2000"/>
              <a:t> the </a:t>
            </a:r>
            <a:r>
              <a:rPr b="1" lang="en-GB" sz="2000"/>
              <a:t>subject </a:t>
            </a:r>
            <a:r>
              <a:rPr lang="en-GB" sz="2000"/>
              <a:t>because it is expressed in terms of the other variables.</a:t>
            </a:r>
            <a:endParaRPr sz="2000"/>
          </a:p>
        </p:txBody>
      </p:sp>
      <p:sp>
        <p:nvSpPr>
          <p:cNvPr id="1735" name="Google Shape;1735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736" name="Google Shape;1736;p142"/>
          <p:cNvSpPr txBox="1"/>
          <p:nvPr>
            <p:ph idx="4294967295" type="title"/>
          </p:nvPr>
        </p:nvSpPr>
        <p:spPr>
          <a:xfrm>
            <a:off x="324000" y="1038600"/>
            <a:ext cx="5932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In the equation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b="0" lang="en-GB" sz="2000"/>
              <a:t> </a:t>
            </a:r>
            <a:r>
              <a:rPr b="0" lang="en-GB" sz="2000"/>
              <a:t>the </a:t>
            </a:r>
            <a:r>
              <a:rPr lang="en-GB" sz="2000"/>
              <a:t>subject </a:t>
            </a:r>
            <a:r>
              <a:rPr b="0" lang="en-GB" sz="2000"/>
              <a:t>is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lang="en-GB" sz="2000"/>
              <a:t> </a:t>
            </a:r>
            <a:endParaRPr b="0" sz="2000"/>
          </a:p>
        </p:txBody>
      </p:sp>
      <p:pic>
        <p:nvPicPr>
          <p:cNvPr id="1737" name="Google Shape;1737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07" y="315423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433" y="1818125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142"/>
          <p:cNvSpPr txBox="1"/>
          <p:nvPr/>
        </p:nvSpPr>
        <p:spPr>
          <a:xfrm flipH="1">
            <a:off x="5231400" y="2371300"/>
            <a:ext cx="35886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We would need to continue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rearranging until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was on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its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own.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0" name="Google Shape;1740;p142"/>
          <p:cNvSpPr txBox="1"/>
          <p:nvPr>
            <p:ph idx="3" type="subTitle"/>
          </p:nvPr>
        </p:nvSpPr>
        <p:spPr>
          <a:xfrm>
            <a:off x="980575" y="3049750"/>
            <a:ext cx="54489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not the </a:t>
            </a:r>
            <a:r>
              <a:rPr b="1" lang="en-GB" sz="2000"/>
              <a:t>subject </a:t>
            </a:r>
            <a:r>
              <a:rPr lang="en-GB" sz="2000"/>
              <a:t>because it does not have an exponent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or coefficient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43"/>
          <p:cNvSpPr txBox="1"/>
          <p:nvPr>
            <p:ph idx="1" type="body"/>
          </p:nvPr>
        </p:nvSpPr>
        <p:spPr>
          <a:xfrm>
            <a:off x="324000" y="759300"/>
            <a:ext cx="713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also identify the subject in multiplicative relationships.</a:t>
            </a:r>
            <a:endParaRPr/>
          </a:p>
        </p:txBody>
      </p:sp>
      <p:sp>
        <p:nvSpPr>
          <p:cNvPr id="1746" name="Google Shape;1746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747" name="Google Shape;1747;p143"/>
          <p:cNvSpPr txBox="1"/>
          <p:nvPr/>
        </p:nvSpPr>
        <p:spPr>
          <a:xfrm>
            <a:off x="331166" y="1623325"/>
            <a:ext cx="2635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then…</a:t>
            </a:r>
            <a:endParaRPr/>
          </a:p>
        </p:txBody>
      </p:sp>
      <p:sp>
        <p:nvSpPr>
          <p:cNvPr id="1748" name="Google Shape;1748;p143"/>
          <p:cNvSpPr txBox="1"/>
          <p:nvPr/>
        </p:nvSpPr>
        <p:spPr>
          <a:xfrm>
            <a:off x="647466" y="2138060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4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9" name="Google Shape;1749;p143"/>
          <p:cNvSpPr txBox="1"/>
          <p:nvPr/>
        </p:nvSpPr>
        <p:spPr>
          <a:xfrm>
            <a:off x="3794680" y="1623326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÷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0" name="Google Shape;1750;p143"/>
          <p:cNvSpPr txBox="1"/>
          <p:nvPr/>
        </p:nvSpPr>
        <p:spPr>
          <a:xfrm>
            <a:off x="3794680" y="2138060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÷ 4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b}=a&quot;&gt;&lt;mfrac&gt;&lt;mi&gt;c&lt;/mi&gt;&lt;mi&gt;b&lt;/mi&gt;&lt;/mfrac&gt;&lt;mo&gt;=&lt;/mo&gt;&lt;mi&gt;a&lt;/mi&gt;&lt;/math&gt;" id="1751" name="Google Shape;1751;p143" title="c over b equals 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6563" y="3289015"/>
            <a:ext cx="8112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c}{a}=b&quot;&gt;&lt;mfrac&gt;&lt;mi&gt;c&lt;/mi&gt;&lt;mi&gt;a&lt;/mi&gt;&lt;/mfrac&gt;&lt;mo&gt;=&lt;/mo&gt;&lt;mi&gt;b&lt;/mi&gt;&lt;/math&gt;" id="1752" name="Google Shape;1752;p143" title="c over a equals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4529" y="4051015"/>
            <a:ext cx="816312" cy="60843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43"/>
          <p:cNvSpPr/>
          <p:nvPr/>
        </p:nvSpPr>
        <p:spPr>
          <a:xfrm>
            <a:off x="2539475" y="3184295"/>
            <a:ext cx="3682200" cy="1583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43"/>
          <p:cNvSpPr txBox="1"/>
          <p:nvPr/>
        </p:nvSpPr>
        <p:spPr>
          <a:xfrm>
            <a:off x="2792573" y="3384620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5" name="Google Shape;1755;p143"/>
          <p:cNvSpPr txBox="1"/>
          <p:nvPr/>
        </p:nvSpPr>
        <p:spPr>
          <a:xfrm>
            <a:off x="2792573" y="4146620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6" name="Google Shape;1756;p143"/>
          <p:cNvSpPr txBox="1"/>
          <p:nvPr>
            <p:ph idx="1" type="body"/>
          </p:nvPr>
        </p:nvSpPr>
        <p:spPr>
          <a:xfrm>
            <a:off x="324000" y="2698820"/>
            <a:ext cx="7135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generalisation for</a:t>
            </a:r>
            <a:r>
              <a:rPr lang="en-GB"/>
              <a:t> multiplicative relationships.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44"/>
          <p:cNvSpPr txBox="1"/>
          <p:nvPr>
            <p:ph idx="1" type="body"/>
          </p:nvPr>
        </p:nvSpPr>
        <p:spPr>
          <a:xfrm>
            <a:off x="324000" y="759300"/>
            <a:ext cx="713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also identify the subject in multiplicative relationships.</a:t>
            </a:r>
            <a:endParaRPr/>
          </a:p>
        </p:txBody>
      </p:sp>
      <p:sp>
        <p:nvSpPr>
          <p:cNvPr id="1762" name="Google Shape;1762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c}{b}=a&quot;&gt;&lt;mfrac&gt;&lt;mi&gt;c&lt;/mi&gt;&lt;mi&gt;b&lt;/mi&gt;&lt;/mfrac&gt;&lt;mo&gt;=&lt;/mo&gt;&lt;mi&gt;a&lt;/mi&gt;&lt;/math&gt;" id="1763" name="Google Shape;1763;p144" title="c over b equals 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25" y="2317075"/>
            <a:ext cx="838257" cy="633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c}{a}=b&quot;&gt;&lt;mfrac&gt;&lt;mi&gt;c&lt;/mi&gt;&lt;mi&gt;a&lt;/mi&gt;&lt;/mfrac&gt;&lt;mo&gt;=&lt;/mo&gt;&lt;mi&gt;b&lt;/mi&gt;&lt;/math&gt;" id="1764" name="Google Shape;1764;p144" title="c over a equals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29" y="4018149"/>
            <a:ext cx="843496" cy="62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144"/>
          <p:cNvSpPr txBox="1"/>
          <p:nvPr/>
        </p:nvSpPr>
        <p:spPr>
          <a:xfrm>
            <a:off x="331160" y="1578834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6" name="Google Shape;1766;p144"/>
          <p:cNvSpPr txBox="1"/>
          <p:nvPr/>
        </p:nvSpPr>
        <p:spPr>
          <a:xfrm>
            <a:off x="331160" y="3220713"/>
            <a:ext cx="1459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7" name="Google Shape;1767;p144"/>
          <p:cNvSpPr txBox="1"/>
          <p:nvPr>
            <p:ph idx="1" type="body"/>
          </p:nvPr>
        </p:nvSpPr>
        <p:spPr>
          <a:xfrm>
            <a:off x="2875928" y="1593153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8" name="Google Shape;1768;p144"/>
          <p:cNvSpPr/>
          <p:nvPr/>
        </p:nvSpPr>
        <p:spPr>
          <a:xfrm>
            <a:off x="1231008" y="1608304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44"/>
          <p:cNvSpPr txBox="1"/>
          <p:nvPr>
            <p:ph idx="1" type="body"/>
          </p:nvPr>
        </p:nvSpPr>
        <p:spPr>
          <a:xfrm>
            <a:off x="2875928" y="2408340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0" name="Google Shape;1770;p144"/>
          <p:cNvSpPr/>
          <p:nvPr/>
        </p:nvSpPr>
        <p:spPr>
          <a:xfrm>
            <a:off x="873021" y="242349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44"/>
          <p:cNvSpPr txBox="1"/>
          <p:nvPr>
            <p:ph idx="1" type="body"/>
          </p:nvPr>
        </p:nvSpPr>
        <p:spPr>
          <a:xfrm>
            <a:off x="2875928" y="3235033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2" name="Google Shape;1772;p144"/>
          <p:cNvSpPr/>
          <p:nvPr/>
        </p:nvSpPr>
        <p:spPr>
          <a:xfrm>
            <a:off x="1231008" y="3250184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44"/>
          <p:cNvSpPr txBox="1"/>
          <p:nvPr>
            <p:ph idx="1" type="body"/>
          </p:nvPr>
        </p:nvSpPr>
        <p:spPr>
          <a:xfrm>
            <a:off x="2875928" y="4107753"/>
            <a:ext cx="5939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is the </a:t>
            </a:r>
            <a:r>
              <a:rPr b="1" lang="en-GB"/>
              <a:t>subject</a:t>
            </a:r>
            <a:r>
              <a:rPr lang="en-GB"/>
              <a:t> of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4" name="Google Shape;1774;p144"/>
          <p:cNvSpPr/>
          <p:nvPr/>
        </p:nvSpPr>
        <p:spPr>
          <a:xfrm>
            <a:off x="884528" y="409989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145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each rearrangement of this formula identify the variable which is the </a:t>
            </a:r>
            <a:r>
              <a:rPr b="1" lang="en-GB"/>
              <a:t>subject</a:t>
            </a:r>
            <a:r>
              <a:rPr lang="en-GB"/>
              <a:t>.</a:t>
            </a:r>
            <a:endParaRPr/>
          </a:p>
        </p:txBody>
      </p:sp>
      <p:sp>
        <p:nvSpPr>
          <p:cNvPr id="1780" name="Google Shape;1780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781" name="Google Shape;1781;p145"/>
          <p:cNvSpPr/>
          <p:nvPr/>
        </p:nvSpPr>
        <p:spPr>
          <a:xfrm>
            <a:off x="6775524" y="1249427"/>
            <a:ext cx="1726200" cy="868500"/>
          </a:xfrm>
          <a:prstGeom prst="rect">
            <a:avLst/>
          </a:prstGeom>
          <a:solidFill>
            <a:srgbClr val="845AD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2" name="Google Shape;1782;p145"/>
          <p:cNvCxnSpPr/>
          <p:nvPr/>
        </p:nvCxnSpPr>
        <p:spPr>
          <a:xfrm>
            <a:off x="6769319" y="2185158"/>
            <a:ext cx="1726200" cy="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3" name="Google Shape;1783;p145"/>
          <p:cNvCxnSpPr/>
          <p:nvPr/>
        </p:nvCxnSpPr>
        <p:spPr>
          <a:xfrm flipH="1">
            <a:off x="8562626" y="1244823"/>
            <a:ext cx="4200" cy="86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4" name="Google Shape;1784;p145"/>
          <p:cNvSpPr txBox="1"/>
          <p:nvPr/>
        </p:nvSpPr>
        <p:spPr>
          <a:xfrm>
            <a:off x="7496830" y="2160364"/>
            <a:ext cx="31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5" name="Google Shape;1785;p145"/>
          <p:cNvSpPr txBox="1"/>
          <p:nvPr/>
        </p:nvSpPr>
        <p:spPr>
          <a:xfrm>
            <a:off x="8562464" y="1463665"/>
            <a:ext cx="31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45"/>
          <p:cNvSpPr txBox="1"/>
          <p:nvPr/>
        </p:nvSpPr>
        <p:spPr>
          <a:xfrm>
            <a:off x="324000" y="1551468"/>
            <a:ext cx="1459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45"/>
          <p:cNvSpPr txBox="1"/>
          <p:nvPr/>
        </p:nvSpPr>
        <p:spPr>
          <a:xfrm>
            <a:off x="324000" y="3213719"/>
            <a:ext cx="1459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8" name="Google Shape;1788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902300"/>
            <a:ext cx="877342" cy="671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A}{h}=b&quot;&gt;&lt;mfrac&gt;&lt;mi&gt;A&lt;/mi&gt;&lt;mi&gt;h&lt;/mi&gt;&lt;/mfrac&gt;&lt;mo&gt;=&lt;/mo&gt;&lt;mi&gt;b&lt;/mi&gt;&lt;/math&gt;" id="1789" name="Google Shape;1789;p145" title="A over h equals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240049"/>
            <a:ext cx="867753" cy="671189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Google Shape;1790;p145"/>
          <p:cNvSpPr txBox="1"/>
          <p:nvPr/>
        </p:nvSpPr>
        <p:spPr>
          <a:xfrm flipH="1">
            <a:off x="2886000" y="1574775"/>
            <a:ext cx="2319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1" name="Google Shape;1791;p145"/>
          <p:cNvSpPr/>
          <p:nvPr/>
        </p:nvSpPr>
        <p:spPr>
          <a:xfrm>
            <a:off x="217394" y="1573784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45"/>
          <p:cNvSpPr txBox="1"/>
          <p:nvPr/>
        </p:nvSpPr>
        <p:spPr>
          <a:xfrm flipH="1">
            <a:off x="2886000" y="2389962"/>
            <a:ext cx="2319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3" name="Google Shape;1793;p145"/>
          <p:cNvSpPr/>
          <p:nvPr/>
        </p:nvSpPr>
        <p:spPr>
          <a:xfrm>
            <a:off x="914701" y="238897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45"/>
          <p:cNvSpPr txBox="1"/>
          <p:nvPr/>
        </p:nvSpPr>
        <p:spPr>
          <a:xfrm flipH="1">
            <a:off x="2886000" y="3228162"/>
            <a:ext cx="2319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5" name="Google Shape;1795;p145"/>
          <p:cNvSpPr/>
          <p:nvPr/>
        </p:nvSpPr>
        <p:spPr>
          <a:xfrm>
            <a:off x="205888" y="322717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45"/>
          <p:cNvSpPr txBox="1"/>
          <p:nvPr/>
        </p:nvSpPr>
        <p:spPr>
          <a:xfrm flipH="1">
            <a:off x="2886000" y="4043348"/>
            <a:ext cx="2319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7" name="Google Shape;1797;p145"/>
          <p:cNvSpPr/>
          <p:nvPr/>
        </p:nvSpPr>
        <p:spPr>
          <a:xfrm>
            <a:off x="914701" y="4042357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C}{\pi}=d&quot;&gt;&lt;mfrac&gt;&lt;mi&gt;C&lt;/mi&gt;&lt;mi&gt;π&lt;/mi&gt;&lt;/mfrac&gt;&lt;mo&gt;=&lt;/mo&gt;&lt;mi&gt;d&lt;/mi&gt;&lt;/math&gt;" id="1802" name="Google Shape;1802;p146" title="C over pi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470" y="2045585"/>
            <a:ext cx="913300" cy="6862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46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Identify the </a:t>
            </a:r>
            <a:r>
              <a:rPr b="1" lang="en-GB"/>
              <a:t>subject </a:t>
            </a:r>
            <a:r>
              <a:rPr lang="en-GB"/>
              <a:t>in each of these formula/equations.</a:t>
            </a:r>
            <a:endParaRPr/>
          </a:p>
        </p:txBody>
      </p:sp>
      <p:sp>
        <p:nvSpPr>
          <p:cNvPr id="1804" name="Google Shape;1804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805" name="Google Shape;1805;p146"/>
          <p:cNvSpPr txBox="1"/>
          <p:nvPr/>
        </p:nvSpPr>
        <p:spPr>
          <a:xfrm>
            <a:off x="324000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46"/>
          <p:cNvSpPr txBox="1"/>
          <p:nvPr/>
        </p:nvSpPr>
        <p:spPr>
          <a:xfrm>
            <a:off x="324000" y="2207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146"/>
          <p:cNvSpPr txBox="1"/>
          <p:nvPr/>
        </p:nvSpPr>
        <p:spPr>
          <a:xfrm>
            <a:off x="4568187" y="2207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146"/>
          <p:cNvSpPr txBox="1"/>
          <p:nvPr/>
        </p:nvSpPr>
        <p:spPr>
          <a:xfrm>
            <a:off x="4579693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146"/>
          <p:cNvSpPr txBox="1"/>
          <p:nvPr/>
        </p:nvSpPr>
        <p:spPr>
          <a:xfrm>
            <a:off x="324000" y="32739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146"/>
          <p:cNvSpPr txBox="1"/>
          <p:nvPr/>
        </p:nvSpPr>
        <p:spPr>
          <a:xfrm>
            <a:off x="4568187" y="32739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id="1811" name="Google Shape;1811;p146" title="A equals one half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813" y="1997650"/>
            <a:ext cx="1258343" cy="695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=\frac{A}{b}&quot;&gt;&lt;mi&gt;h&lt;/mi&gt;&lt;mo&gt;=&lt;/mo&gt;&lt;mfrac&gt;&lt;mi&gt;A&lt;/mi&gt;&lt;mi&gt;b&lt;/mi&gt;&lt;/mfrac&gt;&lt;/math&gt;" id="1812" name="Google Shape;1812;p146" title="h equals A over b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4470" y="3098970"/>
            <a:ext cx="923462" cy="710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=\pi d&quot;&gt;&lt;mi&gt;C&lt;/mi&gt;&lt;mo&gt;=&lt;/mo&gt;&lt;mi&gt;π&lt;/mi&gt;&lt;mi&gt;d&lt;/mi&gt;&lt;/math&gt;" id="1813" name="Google Shape;1813;p146" title="C equals pi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4470" y="1263575"/>
            <a:ext cx="933610" cy="213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P=2\left(b+h\right)&quot;&gt;&lt;mi&gt;P&lt;/mi&gt;&lt;mo&gt;=&lt;/mo&gt;&lt;mn&gt;2&lt;/mn&gt;&lt;mrow data-mjx-texclass=&quot;INNER&quot;&gt;&lt;mo data-mjx-texclass=&quot;OPEN&quot;&gt;(&lt;/mo&gt;&lt;mi&gt;b&lt;/mi&gt;&lt;mo&gt;+&lt;/mo&gt;&lt;mi&gt;h&lt;/mi&gt;&lt;mo data-mjx-texclass=&quot;CLOSE&quot;&gt;)&lt;/mo&gt;&lt;/mrow&gt;&lt;/math&gt;" id="1814" name="Google Shape;1814;p146" title="P equals 2 times open paren b plus h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2813" y="4397184"/>
            <a:ext cx="1821553" cy="299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7x-5&quot;&gt;&lt;mi&gt;y&lt;/mi&gt;&lt;mo&gt;=&lt;/mo&gt;&lt;mn&gt;7&lt;/mn&gt;&lt;mi&gt;x&lt;/mi&gt;&lt;mo&gt;−&lt;/mo&gt;&lt;mn&gt;5&lt;/mn&gt;&lt;/math&gt;" id="1815" name="Google Shape;1815;p146" title="y equals 7 x minus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62813" y="1252068"/>
            <a:ext cx="1309083" cy="263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F}{m}=a&quot;&gt;&lt;mfrac&gt;&lt;mi&gt;F&lt;/mi&gt;&lt;mi&gt;m&lt;/mi&gt;&lt;/mfrac&gt;&lt;mo&gt;=&lt;/mo&gt;&lt;mi&gt;a&lt;/mi&gt;&lt;/math&gt;" id="1816" name="Google Shape;1816;p146" title="F over m equals a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2813" y="3098970"/>
            <a:ext cx="913314" cy="695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s\ \times t&quot;&gt;&lt;mi&gt;d&lt;/mi&gt;&lt;mo&gt;=&lt;/mo&gt;&lt;mi&gt;s&lt;/mi&gt;&lt;mtext&gt;&lt;/mtext&gt;&lt;mo&gt;×&lt;/mo&gt;&lt;mi&gt;t&lt;/mi&gt;&lt;/math&gt;" id="1817" name="Google Shape;1817;p146" title="d equals s times 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4470" y="4388025"/>
            <a:ext cx="1411291" cy="2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146"/>
          <p:cNvSpPr txBox="1"/>
          <p:nvPr/>
        </p:nvSpPr>
        <p:spPr>
          <a:xfrm>
            <a:off x="324000" y="4386727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46"/>
          <p:cNvSpPr txBox="1"/>
          <p:nvPr/>
        </p:nvSpPr>
        <p:spPr>
          <a:xfrm>
            <a:off x="4568187" y="4386727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47"/>
          <p:cNvSpPr txBox="1"/>
          <p:nvPr>
            <p:ph idx="1" type="body"/>
          </p:nvPr>
        </p:nvSpPr>
        <p:spPr>
          <a:xfrm>
            <a:off x="324000" y="759300"/>
            <a:ext cx="6134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Aisha is solving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5" name="Google Shape;1825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826" name="Google Shape;1826;p147"/>
          <p:cNvSpPr txBox="1"/>
          <p:nvPr>
            <p:ph idx="1" type="body"/>
          </p:nvPr>
        </p:nvSpPr>
        <p:spPr>
          <a:xfrm>
            <a:off x="324000" y="1292700"/>
            <a:ext cx="659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equation can be rearranged in these forms: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7" name="Google Shape;1827;p147"/>
          <p:cNvSpPr txBox="1"/>
          <p:nvPr>
            <p:ph idx="1" type="body"/>
          </p:nvPr>
        </p:nvSpPr>
        <p:spPr>
          <a:xfrm>
            <a:off x="1672587" y="182610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8" name="Google Shape;1828;p147"/>
          <p:cNvSpPr txBox="1"/>
          <p:nvPr>
            <p:ph idx="1" type="body"/>
          </p:nvPr>
        </p:nvSpPr>
        <p:spPr>
          <a:xfrm>
            <a:off x="4568187" y="182610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85 − 17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9" name="Google Shape;1829;p147"/>
          <p:cNvSpPr txBox="1"/>
          <p:nvPr>
            <p:ph idx="1" type="body"/>
          </p:nvPr>
        </p:nvSpPr>
        <p:spPr>
          <a:xfrm>
            <a:off x="1672587" y="240118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= 17 + 3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0" name="Google Shape;1830;p147"/>
          <p:cNvSpPr txBox="1"/>
          <p:nvPr>
            <p:ph idx="1" type="body"/>
          </p:nvPr>
        </p:nvSpPr>
        <p:spPr>
          <a:xfrm>
            <a:off x="4586853" y="240118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=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1" name="Google Shape;1831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87" y="3639205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14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792949" y="2862343"/>
            <a:ext cx="3670451" cy="13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147"/>
          <p:cNvSpPr txBox="1"/>
          <p:nvPr/>
        </p:nvSpPr>
        <p:spPr>
          <a:xfrm flipH="1">
            <a:off x="1104600" y="2893200"/>
            <a:ext cx="32916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form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best rearrangement because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4" name="Google Shape;1834;p147"/>
          <p:cNvSpPr txBox="1"/>
          <p:nvPr>
            <p:ph idx="1" type="body"/>
          </p:nvPr>
        </p:nvSpPr>
        <p:spPr>
          <a:xfrm>
            <a:off x="4831313" y="2969100"/>
            <a:ext cx="3957300" cy="7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a sentence explaining what is wrong with Aisha’s statement.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C}{\pi}=d&quot;&gt;&lt;mfrac&gt;&lt;mi&gt;C&lt;/mi&gt;&lt;mi&gt;π&lt;/mi&gt;&lt;/mfrac&gt;&lt;mo&gt;=&lt;/mo&gt;&lt;mi&gt;d&lt;/mi&gt;&lt;/math&gt;" id="1839" name="Google Shape;1839;p148" title="C over pi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470" y="2045585"/>
            <a:ext cx="913300" cy="6862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148"/>
          <p:cNvSpPr txBox="1"/>
          <p:nvPr>
            <p:ph idx="1" type="body"/>
          </p:nvPr>
        </p:nvSpPr>
        <p:spPr>
          <a:xfrm>
            <a:off x="324000" y="759300"/>
            <a:ext cx="8237700" cy="29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Identify the </a:t>
            </a:r>
            <a:r>
              <a:rPr b="1" lang="en-GB"/>
              <a:t>subject </a:t>
            </a:r>
            <a:r>
              <a:rPr lang="en-GB"/>
              <a:t>in each of these formula/equations.</a:t>
            </a:r>
            <a:endParaRPr/>
          </a:p>
        </p:txBody>
      </p:sp>
      <p:sp>
        <p:nvSpPr>
          <p:cNvPr id="1841" name="Google Shape;1841;p1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842" name="Google Shape;1842;p148"/>
          <p:cNvSpPr txBox="1"/>
          <p:nvPr/>
        </p:nvSpPr>
        <p:spPr>
          <a:xfrm>
            <a:off x="324000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48"/>
          <p:cNvSpPr txBox="1"/>
          <p:nvPr/>
        </p:nvSpPr>
        <p:spPr>
          <a:xfrm>
            <a:off x="324000" y="2207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48"/>
          <p:cNvSpPr txBox="1"/>
          <p:nvPr/>
        </p:nvSpPr>
        <p:spPr>
          <a:xfrm>
            <a:off x="4568187" y="2207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48"/>
          <p:cNvSpPr txBox="1"/>
          <p:nvPr/>
        </p:nvSpPr>
        <p:spPr>
          <a:xfrm>
            <a:off x="4579693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48"/>
          <p:cNvSpPr txBox="1"/>
          <p:nvPr/>
        </p:nvSpPr>
        <p:spPr>
          <a:xfrm>
            <a:off x="324000" y="32739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48"/>
          <p:cNvSpPr txBox="1"/>
          <p:nvPr/>
        </p:nvSpPr>
        <p:spPr>
          <a:xfrm>
            <a:off x="4568187" y="32739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id="1848" name="Google Shape;1848;p148" title="A equals one half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1306" y="2032170"/>
            <a:ext cx="1258343" cy="695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=\frac{A}{b}&quot;&gt;&lt;mi&gt;h&lt;/mi&gt;&lt;mo&gt;=&lt;/mo&gt;&lt;mfrac&gt;&lt;mi&gt;A&lt;/mi&gt;&lt;mi&gt;b&lt;/mi&gt;&lt;/mfrac&gt;&lt;/math&gt;" id="1849" name="Google Shape;1849;p148" title="h equals A over b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4470" y="3098970"/>
            <a:ext cx="923462" cy="710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=\pi d&quot;&gt;&lt;mi&gt;C&lt;/mi&gt;&lt;mo&gt;=&lt;/mo&gt;&lt;mi&gt;π&lt;/mi&gt;&lt;mi&gt;d&lt;/mi&gt;&lt;/math&gt;" id="1850" name="Google Shape;1850;p148" title="C equals pi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4470" y="1263575"/>
            <a:ext cx="933610" cy="213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P=2\left(b+h\right)&quot;&gt;&lt;mi&gt;P&lt;/mi&gt;&lt;mo&gt;=&lt;/mo&gt;&lt;mn&gt;2&lt;/mn&gt;&lt;mrow data-mjx-texclass=&quot;INNER&quot;&gt;&lt;mo data-mjx-texclass=&quot;OPEN&quot;&gt;(&lt;/mo&gt;&lt;mi&gt;b&lt;/mi&gt;&lt;mo&gt;+&lt;/mo&gt;&lt;mi&gt;h&lt;/mi&gt;&lt;mo data-mjx-texclass=&quot;CLOSE&quot;&gt;)&lt;/mo&gt;&lt;/mrow&gt;&lt;/math&gt;" id="1851" name="Google Shape;1851;p148" title="P equals 2 times open paren b plus h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2813" y="4397184"/>
            <a:ext cx="1821553" cy="299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7x-5&quot;&gt;&lt;mi&gt;y&lt;/mi&gt;&lt;mo&gt;=&lt;/mo&gt;&lt;mn&gt;7&lt;/mn&gt;&lt;mi&gt;x&lt;/mi&gt;&lt;mo&gt;−&lt;/mo&gt;&lt;mn&gt;5&lt;/mn&gt;&lt;/math&gt;" id="1852" name="Google Shape;1852;p148" title="y equals 7 x minus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62813" y="1252068"/>
            <a:ext cx="1309083" cy="263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F}{m}=a&quot;&gt;&lt;mfrac&gt;&lt;mi&gt;F&lt;/mi&gt;&lt;mi&gt;m&lt;/mi&gt;&lt;/mfrac&gt;&lt;mo&gt;=&lt;/mo&gt;&lt;mi&gt;a&lt;/mi&gt;&lt;/math&gt;" id="1853" name="Google Shape;1853;p148" title="F over m equals a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2813" y="3098970"/>
            <a:ext cx="913314" cy="695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s\ \times t&quot;&gt;&lt;mi&gt;d&lt;/mi&gt;&lt;mo&gt;=&lt;/mo&gt;&lt;mi&gt;s&lt;/mi&gt;&lt;mtext&gt;&lt;/mtext&gt;&lt;mo&gt;×&lt;/mo&gt;&lt;mi&gt;t&lt;/mi&gt;&lt;/math&gt;" id="1854" name="Google Shape;1854;p148" title="d equals s times 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4470" y="4388025"/>
            <a:ext cx="1411291" cy="2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48"/>
          <p:cNvSpPr txBox="1"/>
          <p:nvPr/>
        </p:nvSpPr>
        <p:spPr>
          <a:xfrm>
            <a:off x="324000" y="4386727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48"/>
          <p:cNvSpPr txBox="1"/>
          <p:nvPr/>
        </p:nvSpPr>
        <p:spPr>
          <a:xfrm>
            <a:off x="4568187" y="4386727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48"/>
          <p:cNvSpPr/>
          <p:nvPr/>
        </p:nvSpPr>
        <p:spPr>
          <a:xfrm>
            <a:off x="838501" y="116977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48"/>
          <p:cNvSpPr/>
          <p:nvPr/>
        </p:nvSpPr>
        <p:spPr>
          <a:xfrm>
            <a:off x="4930288" y="116977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48"/>
          <p:cNvSpPr/>
          <p:nvPr/>
        </p:nvSpPr>
        <p:spPr>
          <a:xfrm>
            <a:off x="1570328" y="219489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48"/>
          <p:cNvSpPr/>
          <p:nvPr/>
        </p:nvSpPr>
        <p:spPr>
          <a:xfrm>
            <a:off x="4964808" y="219489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8"/>
          <p:cNvSpPr/>
          <p:nvPr/>
        </p:nvSpPr>
        <p:spPr>
          <a:xfrm>
            <a:off x="808328" y="326169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48"/>
          <p:cNvSpPr/>
          <p:nvPr/>
        </p:nvSpPr>
        <p:spPr>
          <a:xfrm>
            <a:off x="5685128" y="326169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48"/>
          <p:cNvSpPr/>
          <p:nvPr/>
        </p:nvSpPr>
        <p:spPr>
          <a:xfrm>
            <a:off x="831341" y="4328491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48"/>
          <p:cNvSpPr/>
          <p:nvPr/>
        </p:nvSpPr>
        <p:spPr>
          <a:xfrm>
            <a:off x="4969155" y="4316984"/>
            <a:ext cx="444300" cy="4323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49"/>
          <p:cNvSpPr txBox="1"/>
          <p:nvPr>
            <p:ph idx="1" type="body"/>
          </p:nvPr>
        </p:nvSpPr>
        <p:spPr>
          <a:xfrm>
            <a:off x="324000" y="759300"/>
            <a:ext cx="66867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Aisha is solving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0" name="Google Shape;1870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871" name="Google Shape;1871;p149"/>
          <p:cNvSpPr txBox="1"/>
          <p:nvPr>
            <p:ph idx="1" type="body"/>
          </p:nvPr>
        </p:nvSpPr>
        <p:spPr>
          <a:xfrm>
            <a:off x="324000" y="1292700"/>
            <a:ext cx="659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equation can be rearranged in these forms: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2" name="Google Shape;1872;p149"/>
          <p:cNvSpPr txBox="1"/>
          <p:nvPr>
            <p:ph idx="1" type="body"/>
          </p:nvPr>
        </p:nvSpPr>
        <p:spPr>
          <a:xfrm>
            <a:off x="1672587" y="182610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3" name="Google Shape;1873;p149"/>
          <p:cNvSpPr txBox="1"/>
          <p:nvPr>
            <p:ph idx="1" type="body"/>
          </p:nvPr>
        </p:nvSpPr>
        <p:spPr>
          <a:xfrm>
            <a:off x="4568187" y="182610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4" name="Google Shape;1874;p149"/>
          <p:cNvSpPr txBox="1"/>
          <p:nvPr>
            <p:ph idx="1" type="body"/>
          </p:nvPr>
        </p:nvSpPr>
        <p:spPr>
          <a:xfrm>
            <a:off x="1672587" y="240118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= 17 + 3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p149"/>
          <p:cNvSpPr txBox="1"/>
          <p:nvPr>
            <p:ph idx="1" type="body"/>
          </p:nvPr>
        </p:nvSpPr>
        <p:spPr>
          <a:xfrm>
            <a:off x="4586853" y="2401180"/>
            <a:ext cx="17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85 =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6" name="Google Shape;1876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87" y="3639205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7" name="Google Shape;1877;p149"/>
          <p:cNvSpPr txBox="1"/>
          <p:nvPr>
            <p:ph idx="1" type="body"/>
          </p:nvPr>
        </p:nvSpPr>
        <p:spPr>
          <a:xfrm>
            <a:off x="4586850" y="2892900"/>
            <a:ext cx="4047000" cy="7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Whilst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the best form from which to solve we can not call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because the coefficient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not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78" name="Google Shape;1878;p14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792949" y="2862343"/>
            <a:ext cx="3670451" cy="13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149"/>
          <p:cNvSpPr txBox="1"/>
          <p:nvPr/>
        </p:nvSpPr>
        <p:spPr>
          <a:xfrm flipH="1">
            <a:off x="1104600" y="2893200"/>
            <a:ext cx="32916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form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best rearrangement because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5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subject of the formula</a:t>
            </a:r>
            <a:endParaRPr/>
          </a:p>
        </p:txBody>
      </p:sp>
      <p:sp>
        <p:nvSpPr>
          <p:cNvPr id="1885" name="Google Shape;1885;p15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886" name="Google Shape;1886;p150"/>
          <p:cNvSpPr txBox="1"/>
          <p:nvPr>
            <p:ph idx="3" type="title"/>
          </p:nvPr>
        </p:nvSpPr>
        <p:spPr>
          <a:xfrm>
            <a:off x="324000" y="657600"/>
            <a:ext cx="57414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with simple formula</a:t>
            </a:r>
            <a:endParaRPr/>
          </a:p>
        </p:txBody>
      </p:sp>
      <p:pic>
        <p:nvPicPr>
          <p:cNvPr id="1887" name="Google Shape;188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51"/>
          <p:cNvSpPr txBox="1"/>
          <p:nvPr>
            <p:ph idx="1" type="body"/>
          </p:nvPr>
        </p:nvSpPr>
        <p:spPr>
          <a:xfrm>
            <a:off x="324000" y="759300"/>
            <a:ext cx="71712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rearrange equations and formula using inverse operations.</a:t>
            </a:r>
            <a:endParaRPr/>
          </a:p>
        </p:txBody>
      </p:sp>
      <p:sp>
        <p:nvSpPr>
          <p:cNvPr id="1893" name="Google Shape;1893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894" name="Google Shape;1894;p151"/>
          <p:cNvSpPr txBox="1"/>
          <p:nvPr>
            <p:ph idx="4294967295" type="body"/>
          </p:nvPr>
        </p:nvSpPr>
        <p:spPr>
          <a:xfrm>
            <a:off x="1321770" y="1611825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+ 12 = 37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p151"/>
          <p:cNvSpPr txBox="1"/>
          <p:nvPr>
            <p:ph idx="4294967295" type="body"/>
          </p:nvPr>
        </p:nvSpPr>
        <p:spPr>
          <a:xfrm>
            <a:off x="331168" y="2377409"/>
            <a:ext cx="355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(−12)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37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(−12)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6" name="Google Shape;1896;p151"/>
          <p:cNvSpPr txBox="1"/>
          <p:nvPr>
            <p:ph idx="1" type="body"/>
          </p:nvPr>
        </p:nvSpPr>
        <p:spPr>
          <a:xfrm>
            <a:off x="4065000" y="1643530"/>
            <a:ext cx="3430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+12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897" name="Google Shape;1897;p151"/>
          <p:cNvSpPr txBox="1"/>
          <p:nvPr>
            <p:ph idx="4294967295" type="body"/>
          </p:nvPr>
        </p:nvSpPr>
        <p:spPr>
          <a:xfrm>
            <a:off x="1965888" y="4114918"/>
            <a:ext cx="104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8" name="Google Shape;1898;p151"/>
          <p:cNvSpPr txBox="1"/>
          <p:nvPr>
            <p:ph idx="4294967295" type="body"/>
          </p:nvPr>
        </p:nvSpPr>
        <p:spPr>
          <a:xfrm>
            <a:off x="1961543" y="3371593"/>
            <a:ext cx="160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37 − 12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9" name="Google Shape;1899;p151"/>
          <p:cNvSpPr txBox="1"/>
          <p:nvPr>
            <p:ph idx="1" type="body"/>
          </p:nvPr>
        </p:nvSpPr>
        <p:spPr>
          <a:xfrm>
            <a:off x="4065000" y="2142400"/>
            <a:ext cx="475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expressions on each side remain equal because we have performed the same operation to both sides.</a:t>
            </a:r>
            <a:endParaRPr sz="2000"/>
          </a:p>
        </p:txBody>
      </p:sp>
      <p:sp>
        <p:nvSpPr>
          <p:cNvPr id="1900" name="Google Shape;1900;p151"/>
          <p:cNvSpPr txBox="1"/>
          <p:nvPr>
            <p:ph idx="1" type="body"/>
          </p:nvPr>
        </p:nvSpPr>
        <p:spPr>
          <a:xfrm>
            <a:off x="4065000" y="3361600"/>
            <a:ext cx="475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is now the </a:t>
            </a:r>
            <a:r>
              <a:rPr b="1" lang="en-GB" sz="2000"/>
              <a:t>subject</a:t>
            </a:r>
            <a:r>
              <a:rPr lang="en-GB" sz="2000"/>
              <a:t> of the equation.</a:t>
            </a:r>
            <a:endParaRPr sz="2000"/>
          </a:p>
        </p:txBody>
      </p:sp>
      <p:sp>
        <p:nvSpPr>
          <p:cNvPr id="1901" name="Google Shape;1901;p151"/>
          <p:cNvSpPr txBox="1"/>
          <p:nvPr>
            <p:ph idx="1" type="body"/>
          </p:nvPr>
        </p:nvSpPr>
        <p:spPr>
          <a:xfrm>
            <a:off x="4065000" y="4047400"/>
            <a:ext cx="355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From this position we have the solution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52"/>
          <p:cNvSpPr txBox="1"/>
          <p:nvPr>
            <p:ph idx="1" type="body"/>
          </p:nvPr>
        </p:nvSpPr>
        <p:spPr>
          <a:xfrm>
            <a:off x="324000" y="759300"/>
            <a:ext cx="71352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rearrange </a:t>
            </a:r>
            <a:r>
              <a:rPr lang="en-GB"/>
              <a:t>equations</a:t>
            </a:r>
            <a:r>
              <a:rPr lang="en-GB"/>
              <a:t> and formula using inverse operations.</a:t>
            </a:r>
            <a:endParaRPr/>
          </a:p>
        </p:txBody>
      </p:sp>
      <p:sp>
        <p:nvSpPr>
          <p:cNvPr id="1907" name="Google Shape;1907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908" name="Google Shape;1908;p152"/>
          <p:cNvSpPr txBox="1"/>
          <p:nvPr>
            <p:ph idx="4294967295" type="body"/>
          </p:nvPr>
        </p:nvSpPr>
        <p:spPr>
          <a:xfrm>
            <a:off x="1420983" y="1611825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− 2.7 = 8.1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9" name="Google Shape;1909;p152"/>
          <p:cNvSpPr txBox="1"/>
          <p:nvPr>
            <p:ph idx="4294967295" type="body"/>
          </p:nvPr>
        </p:nvSpPr>
        <p:spPr>
          <a:xfrm>
            <a:off x="712175" y="2377400"/>
            <a:ext cx="3124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− 2.7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+ 2.7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8.1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+ 2.7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0" name="Google Shape;1910;p152"/>
          <p:cNvSpPr txBox="1"/>
          <p:nvPr>
            <p:ph idx="1" type="body"/>
          </p:nvPr>
        </p:nvSpPr>
        <p:spPr>
          <a:xfrm>
            <a:off x="4316613" y="1643530"/>
            <a:ext cx="3430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−2.7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911" name="Google Shape;1911;p152"/>
          <p:cNvSpPr txBox="1"/>
          <p:nvPr>
            <p:ph idx="4294967295" type="body"/>
          </p:nvPr>
        </p:nvSpPr>
        <p:spPr>
          <a:xfrm>
            <a:off x="2141302" y="4191118"/>
            <a:ext cx="104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10.8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p152"/>
          <p:cNvSpPr txBox="1"/>
          <p:nvPr>
            <p:ph idx="4294967295" type="body"/>
          </p:nvPr>
        </p:nvSpPr>
        <p:spPr>
          <a:xfrm>
            <a:off x="2136956" y="3371593"/>
            <a:ext cx="160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8.1 + 2.7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p152"/>
          <p:cNvSpPr txBox="1"/>
          <p:nvPr>
            <p:ph idx="1" type="body"/>
          </p:nvPr>
        </p:nvSpPr>
        <p:spPr>
          <a:xfrm>
            <a:off x="4316613" y="2142400"/>
            <a:ext cx="4579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expressions on each side remain equal because we have performed the same operation to both sides.</a:t>
            </a:r>
            <a:endParaRPr sz="2000"/>
          </a:p>
        </p:txBody>
      </p:sp>
      <p:sp>
        <p:nvSpPr>
          <p:cNvPr id="1914" name="Google Shape;1914;p152"/>
          <p:cNvSpPr txBox="1"/>
          <p:nvPr>
            <p:ph idx="1" type="body"/>
          </p:nvPr>
        </p:nvSpPr>
        <p:spPr>
          <a:xfrm>
            <a:off x="4316613" y="3361600"/>
            <a:ext cx="475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is now the </a:t>
            </a:r>
            <a:r>
              <a:rPr b="1" lang="en-GB" sz="2000"/>
              <a:t>subject</a:t>
            </a:r>
            <a:r>
              <a:rPr lang="en-GB" sz="2000"/>
              <a:t> of the equation.</a:t>
            </a:r>
            <a:endParaRPr sz="2000"/>
          </a:p>
        </p:txBody>
      </p:sp>
      <p:sp>
        <p:nvSpPr>
          <p:cNvPr id="1915" name="Google Shape;1915;p152"/>
          <p:cNvSpPr txBox="1"/>
          <p:nvPr>
            <p:ph idx="1" type="body"/>
          </p:nvPr>
        </p:nvSpPr>
        <p:spPr>
          <a:xfrm>
            <a:off x="4305107" y="4070413"/>
            <a:ext cx="355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From this position we have the solution.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153"/>
          <p:cNvSpPr txBox="1"/>
          <p:nvPr>
            <p:ph idx="1" type="body"/>
          </p:nvPr>
        </p:nvSpPr>
        <p:spPr>
          <a:xfrm>
            <a:off x="324000" y="759300"/>
            <a:ext cx="82377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we will need to</a:t>
            </a:r>
            <a:r>
              <a:rPr lang="en-GB"/>
              <a:t> use multiple operations.</a:t>
            </a:r>
            <a:endParaRPr/>
          </a:p>
        </p:txBody>
      </p:sp>
      <p:sp>
        <p:nvSpPr>
          <p:cNvPr id="1921" name="Google Shape;1921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922" name="Google Shape;1922;p153"/>
          <p:cNvSpPr txBox="1"/>
          <p:nvPr>
            <p:ph idx="4294967295" type="body"/>
          </p:nvPr>
        </p:nvSpPr>
        <p:spPr>
          <a:xfrm>
            <a:off x="2019076" y="1307025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p153"/>
          <p:cNvSpPr txBox="1"/>
          <p:nvPr>
            <p:ph idx="4294967295" type="body"/>
          </p:nvPr>
        </p:nvSpPr>
        <p:spPr>
          <a:xfrm>
            <a:off x="1577727" y="1905125"/>
            <a:ext cx="2398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4" name="Google Shape;1924;p153"/>
          <p:cNvSpPr txBox="1"/>
          <p:nvPr>
            <p:ph idx="4294967295" type="body"/>
          </p:nvPr>
        </p:nvSpPr>
        <p:spPr>
          <a:xfrm>
            <a:off x="2494943" y="2503215"/>
            <a:ext cx="160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 = 4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5" name="Google Shape;1925;p153"/>
          <p:cNvSpPr txBox="1"/>
          <p:nvPr>
            <p:ph idx="4294967295" type="body"/>
          </p:nvPr>
        </p:nvSpPr>
        <p:spPr>
          <a:xfrm>
            <a:off x="1642707" y="3101310"/>
            <a:ext cx="299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(−4)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(−4)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6" name="Google Shape;1926;p153"/>
          <p:cNvSpPr txBox="1"/>
          <p:nvPr>
            <p:ph idx="4294967295" type="body"/>
          </p:nvPr>
        </p:nvSpPr>
        <p:spPr>
          <a:xfrm>
            <a:off x="2026236" y="3699405"/>
            <a:ext cx="160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17 − 4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7" name="Google Shape;1927;p153"/>
          <p:cNvSpPr txBox="1"/>
          <p:nvPr>
            <p:ph idx="4294967295" type="body"/>
          </p:nvPr>
        </p:nvSpPr>
        <p:spPr>
          <a:xfrm>
            <a:off x="2494936" y="4297500"/>
            <a:ext cx="10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13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153"/>
          <p:cNvSpPr txBox="1"/>
          <p:nvPr>
            <p:ph idx="1" type="body"/>
          </p:nvPr>
        </p:nvSpPr>
        <p:spPr>
          <a:xfrm>
            <a:off x="3935613" y="3742600"/>
            <a:ext cx="475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is now the </a:t>
            </a:r>
            <a:r>
              <a:rPr b="1" lang="en-GB" sz="2000"/>
              <a:t>subject</a:t>
            </a:r>
            <a:r>
              <a:rPr lang="en-GB" sz="2000"/>
              <a:t> of the equation.</a:t>
            </a:r>
            <a:endParaRPr sz="2000"/>
          </a:p>
        </p:txBody>
      </p:sp>
      <p:sp>
        <p:nvSpPr>
          <p:cNvPr id="1929" name="Google Shape;1929;p153"/>
          <p:cNvSpPr txBox="1"/>
          <p:nvPr>
            <p:ph idx="1" type="body"/>
          </p:nvPr>
        </p:nvSpPr>
        <p:spPr>
          <a:xfrm>
            <a:off x="3935613" y="4329187"/>
            <a:ext cx="475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solution.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54"/>
          <p:cNvSpPr txBox="1"/>
          <p:nvPr>
            <p:ph idx="1" type="body"/>
          </p:nvPr>
        </p:nvSpPr>
        <p:spPr>
          <a:xfrm>
            <a:off x="324000" y="759300"/>
            <a:ext cx="71352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rearrange multiplicative relationships using the same principles.</a:t>
            </a:r>
            <a:endParaRPr/>
          </a:p>
        </p:txBody>
      </p:sp>
      <p:sp>
        <p:nvSpPr>
          <p:cNvPr id="1935" name="Google Shape;193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936" name="Google Shape;1936;p154"/>
          <p:cNvSpPr txBox="1"/>
          <p:nvPr>
            <p:ph idx="4294967295" type="body"/>
          </p:nvPr>
        </p:nvSpPr>
        <p:spPr>
          <a:xfrm>
            <a:off x="1446803" y="1630482"/>
            <a:ext cx="128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7" name="Google Shape;1937;p154"/>
          <p:cNvSpPr txBox="1"/>
          <p:nvPr>
            <p:ph idx="4294967295" type="body"/>
          </p:nvPr>
        </p:nvSpPr>
        <p:spPr>
          <a:xfrm>
            <a:off x="1047140" y="2339307"/>
            <a:ext cx="188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8" name="Google Shape;1938;p154"/>
          <p:cNvSpPr txBox="1"/>
          <p:nvPr>
            <p:ph idx="1" type="body"/>
          </p:nvPr>
        </p:nvSpPr>
        <p:spPr>
          <a:xfrm>
            <a:off x="4316624" y="3144507"/>
            <a:ext cx="450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000"/>
              <a:t> is now the </a:t>
            </a:r>
            <a:r>
              <a:rPr b="1" lang="en-GB" sz="2000"/>
              <a:t>subject</a:t>
            </a:r>
            <a:r>
              <a:rPr lang="en-GB" sz="2000"/>
              <a:t> of the formula.</a:t>
            </a:r>
            <a:endParaRPr sz="2000"/>
          </a:p>
        </p:txBody>
      </p:sp>
      <p:sp>
        <p:nvSpPr>
          <p:cNvPr id="1939" name="Google Shape;1939;p154"/>
          <p:cNvSpPr txBox="1"/>
          <p:nvPr>
            <p:ph idx="1" type="body"/>
          </p:nvPr>
        </p:nvSpPr>
        <p:spPr>
          <a:xfrm>
            <a:off x="4319434" y="1620512"/>
            <a:ext cx="237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inverse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/>
          </a:p>
        </p:txBody>
      </p:sp>
      <p:sp>
        <p:nvSpPr>
          <p:cNvPr id="1940" name="Google Shape;1940;p154"/>
          <p:cNvSpPr txBox="1"/>
          <p:nvPr>
            <p:ph idx="1" type="body"/>
          </p:nvPr>
        </p:nvSpPr>
        <p:spPr>
          <a:xfrm>
            <a:off x="4316618" y="2188427"/>
            <a:ext cx="426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</a:t>
            </a:r>
            <a:r>
              <a:rPr lang="en-GB" sz="2000"/>
              <a:t>ame operation both sides to maintain equality.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id="1941" name="Google Shape;1941;p154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573" y="3041007"/>
            <a:ext cx="789950" cy="673638"/>
          </a:xfrm>
          <a:prstGeom prst="rect">
            <a:avLst/>
          </a:prstGeom>
          <a:noFill/>
          <a:ln>
            <a:noFill/>
          </a:ln>
        </p:spPr>
      </p:pic>
      <p:sp>
        <p:nvSpPr>
          <p:cNvPr id="1942" name="Google Shape;1942;p154"/>
          <p:cNvSpPr txBox="1"/>
          <p:nvPr>
            <p:ph idx="1" type="body"/>
          </p:nvPr>
        </p:nvSpPr>
        <p:spPr>
          <a:xfrm>
            <a:off x="342175" y="3982700"/>
            <a:ext cx="788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started with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expressed in terms of</a:t>
            </a:r>
            <a:r>
              <a:rPr lang="en-GB" sz="2000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000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/>
              <a:t> and ended up with a different perspective;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000"/>
              <a:t> expressed in terms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155"/>
          <p:cNvSpPr txBox="1"/>
          <p:nvPr>
            <p:ph idx="1" type="body"/>
          </p:nvPr>
        </p:nvSpPr>
        <p:spPr>
          <a:xfrm>
            <a:off x="324000" y="759300"/>
            <a:ext cx="71352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command you will typically see in algebra is: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/>
              <a:t> the </a:t>
            </a:r>
            <a:r>
              <a:rPr b="1" lang="en-GB"/>
              <a:t>subject </a:t>
            </a:r>
            <a:r>
              <a:rPr lang="en-GB"/>
              <a:t>of the formula.</a:t>
            </a:r>
            <a:endParaRPr/>
          </a:p>
        </p:txBody>
      </p:sp>
      <p:sp>
        <p:nvSpPr>
          <p:cNvPr id="1948" name="Google Shape;1948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949" name="Google Shape;1949;p155"/>
          <p:cNvSpPr txBox="1"/>
          <p:nvPr>
            <p:ph idx="4294967295" type="body"/>
          </p:nvPr>
        </p:nvSpPr>
        <p:spPr>
          <a:xfrm>
            <a:off x="1446803" y="2011482"/>
            <a:ext cx="128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p155"/>
          <p:cNvSpPr txBox="1"/>
          <p:nvPr>
            <p:ph idx="4294967295" type="body"/>
          </p:nvPr>
        </p:nvSpPr>
        <p:spPr>
          <a:xfrm>
            <a:off x="1047140" y="2720307"/>
            <a:ext cx="188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1" name="Google Shape;1951;p155"/>
          <p:cNvSpPr txBox="1"/>
          <p:nvPr>
            <p:ph idx="1" type="body"/>
          </p:nvPr>
        </p:nvSpPr>
        <p:spPr>
          <a:xfrm>
            <a:off x="4316625" y="3525500"/>
            <a:ext cx="3948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By rearranging we made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 of the formula.</a:t>
            </a:r>
            <a:endParaRPr sz="2000"/>
          </a:p>
        </p:txBody>
      </p:sp>
      <p:sp>
        <p:nvSpPr>
          <p:cNvPr id="1952" name="Google Shape;1952;p155"/>
          <p:cNvSpPr txBox="1"/>
          <p:nvPr>
            <p:ph idx="1" type="body"/>
          </p:nvPr>
        </p:nvSpPr>
        <p:spPr>
          <a:xfrm>
            <a:off x="4316618" y="2721827"/>
            <a:ext cx="426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Inverse operation to isolate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id="1953" name="Google Shape;1953;p155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573" y="3422007"/>
            <a:ext cx="789950" cy="673638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155"/>
          <p:cNvSpPr txBox="1"/>
          <p:nvPr>
            <p:ph idx="1" type="body"/>
          </p:nvPr>
        </p:nvSpPr>
        <p:spPr>
          <a:xfrm>
            <a:off x="4316624" y="2024520"/>
            <a:ext cx="450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is currently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156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</a:t>
            </a:r>
            <a:r>
              <a:rPr b="1" lang="en-GB"/>
              <a:t>subject</a:t>
            </a:r>
            <a:r>
              <a:rPr lang="en-GB"/>
              <a:t>:</a:t>
            </a:r>
            <a:endParaRPr/>
          </a:p>
        </p:txBody>
      </p:sp>
      <p:sp>
        <p:nvSpPr>
          <p:cNvPr id="1960" name="Google Shape;1960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961" name="Google Shape;1961;p156"/>
          <p:cNvSpPr txBox="1"/>
          <p:nvPr>
            <p:ph idx="1" type="subTitle"/>
          </p:nvPr>
        </p:nvSpPr>
        <p:spPr>
          <a:xfrm>
            <a:off x="337825" y="2627293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/>
              <a:t> the </a:t>
            </a:r>
            <a:r>
              <a:rPr b="1" lang="en-GB"/>
              <a:t>subject</a:t>
            </a:r>
            <a:r>
              <a:rPr lang="en-GB"/>
              <a:t>:</a:t>
            </a:r>
            <a:endParaRPr/>
          </a:p>
        </p:txBody>
      </p:sp>
      <p:sp>
        <p:nvSpPr>
          <p:cNvPr id="1962" name="Google Shape;1962;p156"/>
          <p:cNvSpPr txBox="1"/>
          <p:nvPr>
            <p:ph idx="1" type="subTitle"/>
          </p:nvPr>
        </p:nvSpPr>
        <p:spPr>
          <a:xfrm>
            <a:off x="1469318" y="3160700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 × a</a:t>
            </a:r>
            <a:endParaRPr/>
          </a:p>
        </p:txBody>
      </p:sp>
      <p:sp>
        <p:nvSpPr>
          <p:cNvPr id="1963" name="Google Shape;1963;p156"/>
          <p:cNvSpPr txBox="1"/>
          <p:nvPr>
            <p:ph idx="1" type="subTitle"/>
          </p:nvPr>
        </p:nvSpPr>
        <p:spPr>
          <a:xfrm>
            <a:off x="1122838" y="1255700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/>
          </a:p>
        </p:txBody>
      </p:sp>
      <p:sp>
        <p:nvSpPr>
          <p:cNvPr id="1964" name="Google Shape;1964;p156"/>
          <p:cNvSpPr txBox="1"/>
          <p:nvPr>
            <p:ph idx="1" type="subTitle"/>
          </p:nvPr>
        </p:nvSpPr>
        <p:spPr>
          <a:xfrm>
            <a:off x="437050" y="1659713"/>
            <a:ext cx="2574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965" name="Google Shape;1965;p156"/>
          <p:cNvSpPr txBox="1"/>
          <p:nvPr>
            <p:ph idx="1" type="subTitle"/>
          </p:nvPr>
        </p:nvSpPr>
        <p:spPr>
          <a:xfrm>
            <a:off x="1503850" y="2116925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10 −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966" name="Google Shape;1966;p156"/>
          <p:cNvSpPr txBox="1"/>
          <p:nvPr>
            <p:ph idx="1" type="subTitle"/>
          </p:nvPr>
        </p:nvSpPr>
        <p:spPr>
          <a:xfrm>
            <a:off x="1076821" y="3617900"/>
            <a:ext cx="1900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 × a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F}{a}=m&quot;&gt;&lt;mfrac&gt;&lt;mi&gt;F&lt;/mi&gt;&lt;mi&gt;a&lt;/mi&gt;&lt;/mfrac&gt;&lt;mo&gt;=&lt;/mo&gt;&lt;mi&gt;m&lt;/mi&gt;&lt;/math&gt;" id="1967" name="Google Shape;1967;p156" title="F over a equals m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813" y="4075099"/>
            <a:ext cx="722475" cy="5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A}{w}=l&quot;&gt;&lt;mfrac&gt;&lt;mi&gt;A&lt;/mi&gt;&lt;mi&gt;w&lt;/mi&gt;&lt;/mfrac&gt;&lt;mo&gt;=&lt;/mo&gt;&lt;mi&gt;l&lt;/mi&gt;&lt;/math&gt;" id="1972" name="Google Shape;1972;p157" title="A over w equals 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8744" y="4109000"/>
            <a:ext cx="76251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157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</a:t>
            </a:r>
            <a:r>
              <a:rPr b="1" lang="en-GB"/>
              <a:t>subject</a:t>
            </a:r>
            <a:r>
              <a:rPr lang="en-GB"/>
              <a:t>:</a:t>
            </a:r>
            <a:endParaRPr/>
          </a:p>
        </p:txBody>
      </p:sp>
      <p:sp>
        <p:nvSpPr>
          <p:cNvPr id="1974" name="Google Shape;1974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975" name="Google Shape;1975;p157"/>
          <p:cNvSpPr txBox="1"/>
          <p:nvPr>
            <p:ph idx="1" type="subTitle"/>
          </p:nvPr>
        </p:nvSpPr>
        <p:spPr>
          <a:xfrm>
            <a:off x="337825" y="2627293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/>
              <a:t> the </a:t>
            </a:r>
            <a:r>
              <a:rPr b="1" lang="en-GB"/>
              <a:t>subject</a:t>
            </a:r>
            <a:r>
              <a:rPr lang="en-GB"/>
              <a:t>:</a:t>
            </a:r>
            <a:endParaRPr/>
          </a:p>
        </p:txBody>
      </p:sp>
      <p:sp>
        <p:nvSpPr>
          <p:cNvPr id="1976" name="Google Shape;1976;p157"/>
          <p:cNvSpPr txBox="1"/>
          <p:nvPr>
            <p:ph idx="1" type="subTitle"/>
          </p:nvPr>
        </p:nvSpPr>
        <p:spPr>
          <a:xfrm>
            <a:off x="1469318" y="3160700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 × a</a:t>
            </a:r>
            <a:endParaRPr/>
          </a:p>
        </p:txBody>
      </p:sp>
      <p:sp>
        <p:nvSpPr>
          <p:cNvPr id="1977" name="Google Shape;1977;p157"/>
          <p:cNvSpPr txBox="1"/>
          <p:nvPr>
            <p:ph idx="1" type="subTitle"/>
          </p:nvPr>
        </p:nvSpPr>
        <p:spPr>
          <a:xfrm>
            <a:off x="1122838" y="1255700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/>
          </a:p>
        </p:txBody>
      </p:sp>
      <p:sp>
        <p:nvSpPr>
          <p:cNvPr id="1978" name="Google Shape;1978;p157"/>
          <p:cNvSpPr txBox="1"/>
          <p:nvPr>
            <p:ph idx="1" type="subTitle"/>
          </p:nvPr>
        </p:nvSpPr>
        <p:spPr>
          <a:xfrm>
            <a:off x="437050" y="1659713"/>
            <a:ext cx="2574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979" name="Google Shape;1979;p157"/>
          <p:cNvSpPr txBox="1"/>
          <p:nvPr>
            <p:ph idx="1" type="subTitle"/>
          </p:nvPr>
        </p:nvSpPr>
        <p:spPr>
          <a:xfrm>
            <a:off x="1503850" y="2116925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10 −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980" name="Google Shape;1980;p157"/>
          <p:cNvSpPr txBox="1"/>
          <p:nvPr>
            <p:ph idx="1" type="subTitle"/>
          </p:nvPr>
        </p:nvSpPr>
        <p:spPr>
          <a:xfrm>
            <a:off x="1076821" y="3617900"/>
            <a:ext cx="1900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 × a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/>
          </a:p>
        </p:txBody>
      </p:sp>
      <p:sp>
        <p:nvSpPr>
          <p:cNvPr id="1981" name="Google Shape;1981;p157"/>
          <p:cNvSpPr txBox="1"/>
          <p:nvPr>
            <p:ph idx="1" type="subTitle"/>
          </p:nvPr>
        </p:nvSpPr>
        <p:spPr>
          <a:xfrm>
            <a:off x="482646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</a:t>
            </a:r>
            <a:r>
              <a:rPr b="1" lang="en-GB"/>
              <a:t>subject</a:t>
            </a:r>
            <a:r>
              <a:rPr lang="en-GB"/>
              <a:t>:</a:t>
            </a:r>
            <a:endParaRPr/>
          </a:p>
        </p:txBody>
      </p:sp>
      <p:sp>
        <p:nvSpPr>
          <p:cNvPr id="1982" name="Google Shape;1982;p157"/>
          <p:cNvSpPr txBox="1"/>
          <p:nvPr>
            <p:ph idx="1" type="subTitle"/>
          </p:nvPr>
        </p:nvSpPr>
        <p:spPr>
          <a:xfrm>
            <a:off x="4826465" y="2627293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/>
              <a:t> the </a:t>
            </a:r>
            <a:r>
              <a:rPr b="1" lang="en-GB"/>
              <a:t>subject</a:t>
            </a:r>
            <a:r>
              <a:rPr lang="en-GB"/>
              <a:t>:</a:t>
            </a:r>
            <a:endParaRPr/>
          </a:p>
        </p:txBody>
      </p:sp>
      <p:sp>
        <p:nvSpPr>
          <p:cNvPr id="1983" name="Google Shape;1983;p157"/>
          <p:cNvSpPr txBox="1"/>
          <p:nvPr>
            <p:ph idx="1" type="subTitle"/>
          </p:nvPr>
        </p:nvSpPr>
        <p:spPr>
          <a:xfrm>
            <a:off x="5957959" y="3160700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× w</a:t>
            </a:r>
            <a:endParaRPr/>
          </a:p>
        </p:txBody>
      </p:sp>
      <p:sp>
        <p:nvSpPr>
          <p:cNvPr id="1984" name="Google Shape;1984;p157"/>
          <p:cNvSpPr txBox="1"/>
          <p:nvPr>
            <p:ph idx="1" type="subTitle"/>
          </p:nvPr>
        </p:nvSpPr>
        <p:spPr>
          <a:xfrm>
            <a:off x="5611479" y="1255700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/>
          </a:p>
        </p:txBody>
      </p:sp>
      <p:sp>
        <p:nvSpPr>
          <p:cNvPr id="1985" name="Google Shape;1985;p157"/>
          <p:cNvSpPr txBox="1"/>
          <p:nvPr>
            <p:ph idx="1" type="subTitle"/>
          </p:nvPr>
        </p:nvSpPr>
        <p:spPr>
          <a:xfrm>
            <a:off x="4925690" y="1659713"/>
            <a:ext cx="2574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8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986" name="Google Shape;1986;p157"/>
          <p:cNvSpPr txBox="1"/>
          <p:nvPr>
            <p:ph idx="1" type="subTitle"/>
          </p:nvPr>
        </p:nvSpPr>
        <p:spPr>
          <a:xfrm>
            <a:off x="5992490" y="2116925"/>
            <a:ext cx="1347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8 −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987" name="Google Shape;1987;p157"/>
          <p:cNvSpPr txBox="1"/>
          <p:nvPr>
            <p:ph idx="1" type="subTitle"/>
          </p:nvPr>
        </p:nvSpPr>
        <p:spPr>
          <a:xfrm>
            <a:off x="5565461" y="3617900"/>
            <a:ext cx="1900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× w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F}{a}=m&quot;&gt;&lt;mfrac&gt;&lt;mi&gt;F&lt;/mi&gt;&lt;mi&gt;a&lt;/mi&gt;&lt;/mfrac&gt;&lt;mo&gt;=&lt;/mo&gt;&lt;mi&gt;m&lt;/mi&gt;&lt;/math&gt;" id="1988" name="Google Shape;1988;p157" title="F over a equals m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813" y="4075099"/>
            <a:ext cx="722475" cy="5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158"/>
          <p:cNvSpPr txBox="1"/>
          <p:nvPr>
            <p:ph idx="1" type="body"/>
          </p:nvPr>
        </p:nvSpPr>
        <p:spPr>
          <a:xfrm>
            <a:off x="324000" y="759300"/>
            <a:ext cx="7860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In each equation/formula change the </a:t>
            </a:r>
            <a:r>
              <a:rPr b="1" lang="en-GB" sz="2000"/>
              <a:t>subject </a:t>
            </a:r>
            <a:r>
              <a:rPr lang="en-GB" sz="2000"/>
              <a:t>as instructed.</a:t>
            </a:r>
            <a:endParaRPr sz="2000"/>
          </a:p>
        </p:txBody>
      </p:sp>
      <p:sp>
        <p:nvSpPr>
          <p:cNvPr id="1994" name="Google Shape;1994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1995" name="Google Shape;1995;p158"/>
          <p:cNvSpPr txBox="1"/>
          <p:nvPr>
            <p:ph idx="4294967295" type="subTitle"/>
          </p:nvPr>
        </p:nvSpPr>
        <p:spPr>
          <a:xfrm>
            <a:off x="5805555" y="4021913"/>
            <a:ext cx="1085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400"/>
          </a:p>
        </p:txBody>
      </p:sp>
      <p:sp>
        <p:nvSpPr>
          <p:cNvPr id="1996" name="Google Shape;1996;p158"/>
          <p:cNvSpPr txBox="1"/>
          <p:nvPr>
            <p:ph idx="4294967295" type="subTitle"/>
          </p:nvPr>
        </p:nvSpPr>
        <p:spPr>
          <a:xfrm>
            <a:off x="5812728" y="2861348"/>
            <a:ext cx="1170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 × w</a:t>
            </a:r>
            <a:endParaRPr sz="2400"/>
          </a:p>
        </p:txBody>
      </p:sp>
      <p:sp>
        <p:nvSpPr>
          <p:cNvPr id="1997" name="Google Shape;1997;p158"/>
          <p:cNvSpPr txBox="1"/>
          <p:nvPr>
            <p:ph idx="4294967295" type="subTitle"/>
          </p:nvPr>
        </p:nvSpPr>
        <p:spPr>
          <a:xfrm>
            <a:off x="5824235" y="1700783"/>
            <a:ext cx="1170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2400"/>
          </a:p>
        </p:txBody>
      </p:sp>
      <p:sp>
        <p:nvSpPr>
          <p:cNvPr id="1998" name="Google Shape;1998;p158"/>
          <p:cNvSpPr txBox="1"/>
          <p:nvPr>
            <p:ph idx="4294967295" type="subTitle"/>
          </p:nvPr>
        </p:nvSpPr>
        <p:spPr>
          <a:xfrm>
            <a:off x="1462155" y="4033420"/>
            <a:ext cx="1269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endParaRPr sz="2400"/>
          </a:p>
        </p:txBody>
      </p:sp>
      <p:sp>
        <p:nvSpPr>
          <p:cNvPr id="1999" name="Google Shape;1999;p158"/>
          <p:cNvSpPr txBox="1"/>
          <p:nvPr>
            <p:ph idx="1" type="body"/>
          </p:nvPr>
        </p:nvSpPr>
        <p:spPr>
          <a:xfrm>
            <a:off x="758200" y="1682804"/>
            <a:ext cx="190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− 2.7 = 8.1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0" name="Google Shape;2000;p158"/>
          <p:cNvSpPr txBox="1"/>
          <p:nvPr>
            <p:ph idx="1" type="body"/>
          </p:nvPr>
        </p:nvSpPr>
        <p:spPr>
          <a:xfrm>
            <a:off x="834396" y="2858112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1" name="Google Shape;2001;p158"/>
          <p:cNvSpPr txBox="1"/>
          <p:nvPr>
            <p:ph idx="1" type="body"/>
          </p:nvPr>
        </p:nvSpPr>
        <p:spPr>
          <a:xfrm>
            <a:off x="324000" y="1064100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02" name="Google Shape;2002;p158"/>
          <p:cNvSpPr txBox="1"/>
          <p:nvPr>
            <p:ph idx="1" type="body"/>
          </p:nvPr>
        </p:nvSpPr>
        <p:spPr>
          <a:xfrm>
            <a:off x="4579748" y="1064100"/>
            <a:ext cx="3087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</a:t>
            </a:r>
            <a:r>
              <a:rPr lang="en-GB" sz="2000"/>
              <a:t>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03" name="Google Shape;2003;p158"/>
          <p:cNvSpPr txBox="1"/>
          <p:nvPr>
            <p:ph idx="1" type="body"/>
          </p:nvPr>
        </p:nvSpPr>
        <p:spPr>
          <a:xfrm>
            <a:off x="324000" y="2239408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04" name="Google Shape;2004;p158"/>
          <p:cNvSpPr txBox="1"/>
          <p:nvPr>
            <p:ph idx="1" type="body"/>
          </p:nvPr>
        </p:nvSpPr>
        <p:spPr>
          <a:xfrm>
            <a:off x="4579748" y="2224665"/>
            <a:ext cx="3087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05" name="Google Shape;2005;p158"/>
          <p:cNvSpPr txBox="1"/>
          <p:nvPr>
            <p:ph idx="1" type="body"/>
          </p:nvPr>
        </p:nvSpPr>
        <p:spPr>
          <a:xfrm>
            <a:off x="324000" y="3414716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r>
              <a:rPr lang="en-GB" sz="2000"/>
              <a:t>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06" name="Google Shape;2006;p158"/>
          <p:cNvSpPr txBox="1"/>
          <p:nvPr>
            <p:ph idx="1" type="body"/>
          </p:nvPr>
        </p:nvSpPr>
        <p:spPr>
          <a:xfrm>
            <a:off x="4579693" y="3385231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</a:t>
            </a:r>
            <a:r>
              <a:rPr lang="en-GB" sz="2000"/>
              <a:t>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59"/>
          <p:cNvSpPr txBox="1"/>
          <p:nvPr>
            <p:ph idx="1" type="body"/>
          </p:nvPr>
        </p:nvSpPr>
        <p:spPr>
          <a:xfrm>
            <a:off x="324000" y="759300"/>
            <a:ext cx="7860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Rearrange this formula as instructed.</a:t>
            </a:r>
            <a:endParaRPr sz="2000"/>
          </a:p>
        </p:txBody>
      </p:sp>
      <p:sp>
        <p:nvSpPr>
          <p:cNvPr id="2012" name="Google Shape;2012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2013" name="Google Shape;2013;p159"/>
          <p:cNvSpPr txBox="1"/>
          <p:nvPr>
            <p:ph idx="1" type="body"/>
          </p:nvPr>
        </p:nvSpPr>
        <p:spPr>
          <a:xfrm>
            <a:off x="3044200" y="1105500"/>
            <a:ext cx="1849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4" name="Google Shape;2014;p159"/>
          <p:cNvSpPr txBox="1"/>
          <p:nvPr>
            <p:ph idx="1" type="body"/>
          </p:nvPr>
        </p:nvSpPr>
        <p:spPr>
          <a:xfrm>
            <a:off x="324000" y="1627673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15" name="Google Shape;2015;p159"/>
          <p:cNvSpPr txBox="1"/>
          <p:nvPr>
            <p:ph idx="1" type="body"/>
          </p:nvPr>
        </p:nvSpPr>
        <p:spPr>
          <a:xfrm>
            <a:off x="324000" y="2590574"/>
            <a:ext cx="3087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16" name="Google Shape;2016;p159"/>
          <p:cNvSpPr txBox="1"/>
          <p:nvPr>
            <p:ph idx="1" type="body"/>
          </p:nvPr>
        </p:nvSpPr>
        <p:spPr>
          <a:xfrm>
            <a:off x="324000" y="3553474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16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In each equation/formula change the </a:t>
            </a:r>
            <a:r>
              <a:rPr b="1" lang="en-GB" sz="2000"/>
              <a:t>subject </a:t>
            </a:r>
            <a:r>
              <a:rPr lang="en-GB" sz="2000"/>
              <a:t>as instructed.</a:t>
            </a:r>
            <a:endParaRPr sz="2000"/>
          </a:p>
        </p:txBody>
      </p:sp>
      <p:sp>
        <p:nvSpPr>
          <p:cNvPr id="2022" name="Google Shape;2022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2023" name="Google Shape;2023;p160"/>
          <p:cNvSpPr txBox="1"/>
          <p:nvPr>
            <p:ph idx="4294967295" type="subTitle"/>
          </p:nvPr>
        </p:nvSpPr>
        <p:spPr>
          <a:xfrm>
            <a:off x="5584119" y="1994068"/>
            <a:ext cx="2130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× l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3</a:t>
            </a:r>
            <a:endParaRPr/>
          </a:p>
        </p:txBody>
      </p:sp>
      <p:sp>
        <p:nvSpPr>
          <p:cNvPr id="2024" name="Google Shape;2024;p160"/>
          <p:cNvSpPr txBox="1"/>
          <p:nvPr>
            <p:ph idx="1" type="body"/>
          </p:nvPr>
        </p:nvSpPr>
        <p:spPr>
          <a:xfrm>
            <a:off x="1238413" y="1987600"/>
            <a:ext cx="329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− 2.7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+ 2.7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8.1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5" name="Google Shape;2025;p160"/>
          <p:cNvSpPr txBox="1"/>
          <p:nvPr>
            <p:ph idx="1" type="body"/>
          </p:nvPr>
        </p:nvSpPr>
        <p:spPr>
          <a:xfrm>
            <a:off x="324000" y="1064100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26" name="Google Shape;2026;p160"/>
          <p:cNvSpPr txBox="1"/>
          <p:nvPr>
            <p:ph idx="1" type="body"/>
          </p:nvPr>
        </p:nvSpPr>
        <p:spPr>
          <a:xfrm>
            <a:off x="4579748" y="1064100"/>
            <a:ext cx="3087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27" name="Google Shape;2027;p160"/>
          <p:cNvSpPr txBox="1"/>
          <p:nvPr>
            <p:ph idx="1" type="body"/>
          </p:nvPr>
        </p:nvSpPr>
        <p:spPr>
          <a:xfrm>
            <a:off x="2533819" y="2433293"/>
            <a:ext cx="150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8.1 + 2.7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8" name="Google Shape;2028;p160"/>
          <p:cNvSpPr txBox="1"/>
          <p:nvPr>
            <p:ph idx="1" type="body"/>
          </p:nvPr>
        </p:nvSpPr>
        <p:spPr>
          <a:xfrm>
            <a:off x="2533824" y="2878975"/>
            <a:ext cx="117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10.8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P}{3}=l&quot;&gt;&lt;mfrac&gt;&lt;mi&gt;P&lt;/mi&gt;&lt;mn&gt;3&lt;/mn&gt;&lt;/mfrac&gt;&lt;mo&gt;=&lt;/mo&gt;&lt;mi&gt;l&lt;/mi&gt;&lt;/math&gt;" id="2029" name="Google Shape;2029;p160" title="P over 3 equals 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199" y="2472200"/>
            <a:ext cx="741679" cy="617313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60"/>
          <p:cNvSpPr txBox="1"/>
          <p:nvPr>
            <p:ph idx="4294967295" type="subTitle"/>
          </p:nvPr>
        </p:nvSpPr>
        <p:spPr>
          <a:xfrm>
            <a:off x="6006803" y="1548375"/>
            <a:ext cx="12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2031" name="Google Shape;2031;p160"/>
          <p:cNvSpPr txBox="1"/>
          <p:nvPr>
            <p:ph idx="1" type="body"/>
          </p:nvPr>
        </p:nvSpPr>
        <p:spPr>
          <a:xfrm>
            <a:off x="1882539" y="1541907"/>
            <a:ext cx="164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− 2.7 = 8.1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16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In each equation/formula change the </a:t>
            </a:r>
            <a:r>
              <a:rPr b="1" lang="en-GB" sz="2000"/>
              <a:t>subject </a:t>
            </a:r>
            <a:r>
              <a:rPr lang="en-GB" sz="2000"/>
              <a:t>as instructed.</a:t>
            </a:r>
            <a:endParaRPr sz="2000"/>
          </a:p>
        </p:txBody>
      </p:sp>
      <p:sp>
        <p:nvSpPr>
          <p:cNvPr id="2037" name="Google Shape;2037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2038" name="Google Shape;2038;p161"/>
          <p:cNvSpPr txBox="1"/>
          <p:nvPr>
            <p:ph idx="4294967295" type="subTitle"/>
          </p:nvPr>
        </p:nvSpPr>
        <p:spPr>
          <a:xfrm>
            <a:off x="6011155" y="2041814"/>
            <a:ext cx="1170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 × w</a:t>
            </a:r>
            <a:endParaRPr/>
          </a:p>
        </p:txBody>
      </p:sp>
      <p:sp>
        <p:nvSpPr>
          <p:cNvPr id="2039" name="Google Shape;2039;p161"/>
          <p:cNvSpPr txBox="1"/>
          <p:nvPr>
            <p:ph idx="1" type="body"/>
          </p:nvPr>
        </p:nvSpPr>
        <p:spPr>
          <a:xfrm>
            <a:off x="1947223" y="2038579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0" name="Google Shape;2040;p161"/>
          <p:cNvSpPr txBox="1"/>
          <p:nvPr>
            <p:ph idx="1" type="body"/>
          </p:nvPr>
        </p:nvSpPr>
        <p:spPr>
          <a:xfrm>
            <a:off x="324000" y="1634155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41" name="Google Shape;2041;p161"/>
          <p:cNvSpPr txBox="1"/>
          <p:nvPr>
            <p:ph idx="1" type="body"/>
          </p:nvPr>
        </p:nvSpPr>
        <p:spPr>
          <a:xfrm>
            <a:off x="4579748" y="1619412"/>
            <a:ext cx="3087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42" name="Google Shape;2042;p161"/>
          <p:cNvSpPr txBox="1"/>
          <p:nvPr>
            <p:ph idx="1" type="body"/>
          </p:nvPr>
        </p:nvSpPr>
        <p:spPr>
          <a:xfrm>
            <a:off x="1543210" y="2511018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3" name="Google Shape;2043;p161"/>
          <p:cNvSpPr txBox="1"/>
          <p:nvPr>
            <p:ph idx="4294967295" type="subTitle"/>
          </p:nvPr>
        </p:nvSpPr>
        <p:spPr>
          <a:xfrm>
            <a:off x="5641653" y="2575220"/>
            <a:ext cx="2034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 × w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A}{l}=w&quot;&gt;&lt;mfrac&gt;&lt;mi&gt;A&lt;/mi&gt;&lt;mi&gt;l&lt;/mi&gt;&lt;/mfrac&gt;&lt;mo&gt;=&lt;/mo&gt;&lt;mi&gt;w&lt;/mi&gt;&lt;/math&gt;" id="2044" name="Google Shape;2044;p161" title="A over l equals w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870" y="3091618"/>
            <a:ext cx="764100" cy="5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161"/>
          <p:cNvSpPr txBox="1"/>
          <p:nvPr>
            <p:ph idx="1" type="body"/>
          </p:nvPr>
        </p:nvSpPr>
        <p:spPr>
          <a:xfrm>
            <a:off x="2381403" y="2983457"/>
            <a:ext cx="1344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= 4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6" name="Google Shape;2046;p161"/>
          <p:cNvSpPr txBox="1"/>
          <p:nvPr>
            <p:ph idx="1" type="body"/>
          </p:nvPr>
        </p:nvSpPr>
        <p:spPr>
          <a:xfrm>
            <a:off x="1947214" y="3455896"/>
            <a:ext cx="219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7" name="Google Shape;2047;p161"/>
          <p:cNvSpPr txBox="1"/>
          <p:nvPr>
            <p:ph idx="1" type="body"/>
          </p:nvPr>
        </p:nvSpPr>
        <p:spPr>
          <a:xfrm>
            <a:off x="1947221" y="3928336"/>
            <a:ext cx="142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17 − 4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8" name="Google Shape;2048;p161"/>
          <p:cNvSpPr txBox="1"/>
          <p:nvPr>
            <p:ph idx="1" type="body"/>
          </p:nvPr>
        </p:nvSpPr>
        <p:spPr>
          <a:xfrm>
            <a:off x="2381410" y="4400775"/>
            <a:ext cx="76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16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In each equation/formula change the </a:t>
            </a:r>
            <a:r>
              <a:rPr b="1" lang="en-GB" sz="2000"/>
              <a:t>subject </a:t>
            </a:r>
            <a:r>
              <a:rPr lang="en-GB" sz="2000"/>
              <a:t>as instructed.</a:t>
            </a:r>
            <a:endParaRPr sz="2000"/>
          </a:p>
        </p:txBody>
      </p:sp>
      <p:sp>
        <p:nvSpPr>
          <p:cNvPr id="2054" name="Google Shape;2054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2055" name="Google Shape;2055;p162"/>
          <p:cNvSpPr txBox="1"/>
          <p:nvPr>
            <p:ph idx="1" type="body"/>
          </p:nvPr>
        </p:nvSpPr>
        <p:spPr>
          <a:xfrm>
            <a:off x="1947223" y="2038579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6" name="Google Shape;2056;p162"/>
          <p:cNvSpPr txBox="1"/>
          <p:nvPr>
            <p:ph idx="1" type="body"/>
          </p:nvPr>
        </p:nvSpPr>
        <p:spPr>
          <a:xfrm>
            <a:off x="324000" y="1634155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57" name="Google Shape;2057;p162"/>
          <p:cNvSpPr txBox="1"/>
          <p:nvPr>
            <p:ph idx="1" type="body"/>
          </p:nvPr>
        </p:nvSpPr>
        <p:spPr>
          <a:xfrm>
            <a:off x="4579751" y="1619400"/>
            <a:ext cx="3981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After lots of practice you will be able to instantly see the 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amily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rearrangements when you see an equation in this form.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8" name="Google Shape;2058;p162"/>
          <p:cNvSpPr txBox="1"/>
          <p:nvPr>
            <p:ph idx="1" type="body"/>
          </p:nvPr>
        </p:nvSpPr>
        <p:spPr>
          <a:xfrm>
            <a:off x="1543210" y="2511018"/>
            <a:ext cx="203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9" name="Google Shape;2059;p162"/>
          <p:cNvSpPr txBox="1"/>
          <p:nvPr>
            <p:ph idx="1" type="body"/>
          </p:nvPr>
        </p:nvSpPr>
        <p:spPr>
          <a:xfrm>
            <a:off x="2381403" y="2983457"/>
            <a:ext cx="1344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= 4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0" name="Google Shape;2060;p162"/>
          <p:cNvSpPr txBox="1"/>
          <p:nvPr>
            <p:ph idx="1" type="body"/>
          </p:nvPr>
        </p:nvSpPr>
        <p:spPr>
          <a:xfrm>
            <a:off x="1947214" y="3455896"/>
            <a:ext cx="219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1" name="Google Shape;2061;p162"/>
          <p:cNvSpPr txBox="1"/>
          <p:nvPr>
            <p:ph idx="1" type="body"/>
          </p:nvPr>
        </p:nvSpPr>
        <p:spPr>
          <a:xfrm>
            <a:off x="1947221" y="3928336"/>
            <a:ext cx="142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17 − 4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2" name="Google Shape;2062;p162"/>
          <p:cNvSpPr txBox="1"/>
          <p:nvPr>
            <p:ph idx="1" type="body"/>
          </p:nvPr>
        </p:nvSpPr>
        <p:spPr>
          <a:xfrm>
            <a:off x="2381410" y="4400775"/>
            <a:ext cx="76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3" name="Google Shape;2063;p162"/>
          <p:cNvSpPr txBox="1"/>
          <p:nvPr>
            <p:ph idx="1" type="body"/>
          </p:nvPr>
        </p:nvSpPr>
        <p:spPr>
          <a:xfrm>
            <a:off x="5071424" y="3105375"/>
            <a:ext cx="123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4" name="Google Shape;2064;p162"/>
          <p:cNvSpPr txBox="1"/>
          <p:nvPr>
            <p:ph idx="1" type="body"/>
          </p:nvPr>
        </p:nvSpPr>
        <p:spPr>
          <a:xfrm>
            <a:off x="6747824" y="3105375"/>
            <a:ext cx="123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5" name="Google Shape;2065;p162"/>
          <p:cNvSpPr txBox="1"/>
          <p:nvPr>
            <p:ph idx="1" type="body"/>
          </p:nvPr>
        </p:nvSpPr>
        <p:spPr>
          <a:xfrm>
            <a:off x="6747824" y="3562575"/>
            <a:ext cx="123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+ 4 = 17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6" name="Google Shape;2066;p162"/>
          <p:cNvSpPr txBox="1"/>
          <p:nvPr>
            <p:ph idx="1" type="body"/>
          </p:nvPr>
        </p:nvSpPr>
        <p:spPr>
          <a:xfrm>
            <a:off x="5071424" y="3585588"/>
            <a:ext cx="123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17 − 4 =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7" name="Google Shape;2067;p162"/>
          <p:cNvSpPr txBox="1"/>
          <p:nvPr>
            <p:ph idx="1" type="body"/>
          </p:nvPr>
        </p:nvSpPr>
        <p:spPr>
          <a:xfrm>
            <a:off x="4579751" y="4134000"/>
            <a:ext cx="3981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Notice 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have swapped positions.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8" name="Google Shape;2068;p162"/>
          <p:cNvSpPr/>
          <p:nvPr/>
        </p:nvSpPr>
        <p:spPr>
          <a:xfrm>
            <a:off x="5269605" y="3033100"/>
            <a:ext cx="1237500" cy="977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16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In each equation/formula change the </a:t>
            </a:r>
            <a:r>
              <a:rPr b="1" lang="en-GB" sz="2000"/>
              <a:t>subject </a:t>
            </a:r>
            <a:r>
              <a:rPr lang="en-GB" sz="2000"/>
              <a:t>as instructed.</a:t>
            </a:r>
            <a:endParaRPr sz="2000"/>
          </a:p>
        </p:txBody>
      </p:sp>
      <p:sp>
        <p:nvSpPr>
          <p:cNvPr id="2074" name="Google Shape;2074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2075" name="Google Shape;2075;p163"/>
          <p:cNvSpPr txBox="1"/>
          <p:nvPr>
            <p:ph idx="4294967295" type="subTitle"/>
          </p:nvPr>
        </p:nvSpPr>
        <p:spPr>
          <a:xfrm>
            <a:off x="5840075" y="2421713"/>
            <a:ext cx="1085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076" name="Google Shape;2076;p163"/>
          <p:cNvSpPr txBox="1"/>
          <p:nvPr>
            <p:ph idx="4294967295" type="subTitle"/>
          </p:nvPr>
        </p:nvSpPr>
        <p:spPr>
          <a:xfrm>
            <a:off x="1462155" y="2433220"/>
            <a:ext cx="1269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endParaRPr/>
          </a:p>
        </p:txBody>
      </p:sp>
      <p:sp>
        <p:nvSpPr>
          <p:cNvPr id="2077" name="Google Shape;2077;p163"/>
          <p:cNvSpPr txBox="1"/>
          <p:nvPr>
            <p:ph idx="1" type="body"/>
          </p:nvPr>
        </p:nvSpPr>
        <p:spPr>
          <a:xfrm>
            <a:off x="324000" y="1890716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78" name="Google Shape;2078;p163"/>
          <p:cNvSpPr txBox="1"/>
          <p:nvPr>
            <p:ph idx="1" type="body"/>
          </p:nvPr>
        </p:nvSpPr>
        <p:spPr>
          <a:xfrm>
            <a:off x="4579693" y="1861231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79" name="Google Shape;2079;p163"/>
          <p:cNvSpPr txBox="1"/>
          <p:nvPr>
            <p:ph idx="4294967295" type="subTitle"/>
          </p:nvPr>
        </p:nvSpPr>
        <p:spPr>
          <a:xfrm>
            <a:off x="970426" y="2890425"/>
            <a:ext cx="231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endParaRPr i="1"/>
          </a:p>
        </p:txBody>
      </p:sp>
      <p:sp>
        <p:nvSpPr>
          <p:cNvPr id="2080" name="Google Shape;2080;p163"/>
          <p:cNvSpPr txBox="1"/>
          <p:nvPr>
            <p:ph idx="4294967295" type="subTitle"/>
          </p:nvPr>
        </p:nvSpPr>
        <p:spPr>
          <a:xfrm>
            <a:off x="970426" y="3423825"/>
            <a:ext cx="231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i="1"/>
          </a:p>
        </p:txBody>
      </p:sp>
      <p:sp>
        <p:nvSpPr>
          <p:cNvPr id="2081" name="Google Shape;2081;p163"/>
          <p:cNvSpPr txBox="1"/>
          <p:nvPr>
            <p:ph idx="4294967295" type="subTitle"/>
          </p:nvPr>
        </p:nvSpPr>
        <p:spPr>
          <a:xfrm>
            <a:off x="5195951" y="2924952"/>
            <a:ext cx="2413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2π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id="2082" name="Google Shape;2082;p163" title="C over 2 pi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078" y="3393652"/>
            <a:ext cx="823825" cy="5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164"/>
          <p:cNvSpPr txBox="1"/>
          <p:nvPr>
            <p:ph idx="1" type="body"/>
          </p:nvPr>
        </p:nvSpPr>
        <p:spPr>
          <a:xfrm>
            <a:off x="324000" y="759300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Rearrange this formula as instructed.</a:t>
            </a:r>
            <a:endParaRPr sz="2000"/>
          </a:p>
        </p:txBody>
      </p:sp>
      <p:sp>
        <p:nvSpPr>
          <p:cNvPr id="2088" name="Google Shape;2088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2089" name="Google Shape;2089;p164"/>
          <p:cNvSpPr txBox="1"/>
          <p:nvPr>
            <p:ph idx="1" type="body"/>
          </p:nvPr>
        </p:nvSpPr>
        <p:spPr>
          <a:xfrm>
            <a:off x="3044200" y="1105500"/>
            <a:ext cx="1849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0" name="Google Shape;2090;p164"/>
          <p:cNvSpPr txBox="1"/>
          <p:nvPr>
            <p:ph idx="1" type="body"/>
          </p:nvPr>
        </p:nvSpPr>
        <p:spPr>
          <a:xfrm>
            <a:off x="324000" y="1627673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91" name="Google Shape;2091;p164"/>
          <p:cNvSpPr txBox="1"/>
          <p:nvPr>
            <p:ph idx="1" type="body"/>
          </p:nvPr>
        </p:nvSpPr>
        <p:spPr>
          <a:xfrm>
            <a:off x="324000" y="3146987"/>
            <a:ext cx="3087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92" name="Google Shape;2092;p164"/>
          <p:cNvSpPr txBox="1"/>
          <p:nvPr>
            <p:ph idx="1" type="body"/>
          </p:nvPr>
        </p:nvSpPr>
        <p:spPr>
          <a:xfrm>
            <a:off x="324000" y="4467874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93" name="Google Shape;2093;p164"/>
          <p:cNvSpPr txBox="1"/>
          <p:nvPr>
            <p:ph idx="1" type="body"/>
          </p:nvPr>
        </p:nvSpPr>
        <p:spPr>
          <a:xfrm>
            <a:off x="4796800" y="1539687"/>
            <a:ext cx="345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4" name="Google Shape;2094;p164"/>
          <p:cNvSpPr txBox="1"/>
          <p:nvPr>
            <p:ph idx="1" type="body"/>
          </p:nvPr>
        </p:nvSpPr>
        <p:spPr>
          <a:xfrm>
            <a:off x="3783187" y="2019900"/>
            <a:ext cx="417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5" name="Google Shape;2095;p164"/>
          <p:cNvSpPr txBox="1"/>
          <p:nvPr>
            <p:ph idx="1" type="body"/>
          </p:nvPr>
        </p:nvSpPr>
        <p:spPr>
          <a:xfrm>
            <a:off x="5817568" y="2523127"/>
            <a:ext cx="180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6" name="Google Shape;2096;p164"/>
          <p:cNvSpPr txBox="1"/>
          <p:nvPr>
            <p:ph idx="1" type="body"/>
          </p:nvPr>
        </p:nvSpPr>
        <p:spPr>
          <a:xfrm>
            <a:off x="4796800" y="3086700"/>
            <a:ext cx="345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7" name="Google Shape;2097;p164"/>
          <p:cNvSpPr txBox="1"/>
          <p:nvPr>
            <p:ph idx="1" type="body"/>
          </p:nvPr>
        </p:nvSpPr>
        <p:spPr>
          <a:xfrm>
            <a:off x="3783187" y="3566913"/>
            <a:ext cx="417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8" name="Google Shape;2098;p164"/>
          <p:cNvSpPr txBox="1"/>
          <p:nvPr>
            <p:ph idx="1" type="body"/>
          </p:nvPr>
        </p:nvSpPr>
        <p:spPr>
          <a:xfrm>
            <a:off x="5817568" y="4070140"/>
            <a:ext cx="180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165"/>
          <p:cNvSpPr txBox="1"/>
          <p:nvPr>
            <p:ph idx="1" type="body"/>
          </p:nvPr>
        </p:nvSpPr>
        <p:spPr>
          <a:xfrm>
            <a:off x="324000" y="759300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Rearrange this formula as instructed.</a:t>
            </a:r>
            <a:endParaRPr sz="2000"/>
          </a:p>
        </p:txBody>
      </p:sp>
      <p:sp>
        <p:nvSpPr>
          <p:cNvPr id="2104" name="Google Shape;2104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of simple formula</a:t>
            </a:r>
            <a:endParaRPr/>
          </a:p>
        </p:txBody>
      </p:sp>
      <p:sp>
        <p:nvSpPr>
          <p:cNvPr id="2105" name="Google Shape;2105;p165"/>
          <p:cNvSpPr txBox="1"/>
          <p:nvPr>
            <p:ph idx="1" type="body"/>
          </p:nvPr>
        </p:nvSpPr>
        <p:spPr>
          <a:xfrm>
            <a:off x="3044200" y="1105500"/>
            <a:ext cx="1849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6" name="Google Shape;2106;p165"/>
          <p:cNvSpPr txBox="1"/>
          <p:nvPr>
            <p:ph idx="1" type="body"/>
          </p:nvPr>
        </p:nvSpPr>
        <p:spPr>
          <a:xfrm>
            <a:off x="324000" y="1627673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07" name="Google Shape;2107;p165"/>
          <p:cNvSpPr txBox="1"/>
          <p:nvPr>
            <p:ph idx="1" type="body"/>
          </p:nvPr>
        </p:nvSpPr>
        <p:spPr>
          <a:xfrm>
            <a:off x="324000" y="2080187"/>
            <a:ext cx="3087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08" name="Google Shape;2108;p165"/>
          <p:cNvSpPr txBox="1"/>
          <p:nvPr>
            <p:ph idx="1" type="body"/>
          </p:nvPr>
        </p:nvSpPr>
        <p:spPr>
          <a:xfrm>
            <a:off x="324000" y="2703768"/>
            <a:ext cx="3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Make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/>
              <a:t>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09" name="Google Shape;2109;p165"/>
          <p:cNvSpPr txBox="1"/>
          <p:nvPr>
            <p:ph idx="1" type="body"/>
          </p:nvPr>
        </p:nvSpPr>
        <p:spPr>
          <a:xfrm>
            <a:off x="5817568" y="1608727"/>
            <a:ext cx="180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0" name="Google Shape;2110;p165"/>
          <p:cNvSpPr txBox="1"/>
          <p:nvPr>
            <p:ph idx="1" type="body"/>
          </p:nvPr>
        </p:nvSpPr>
        <p:spPr>
          <a:xfrm>
            <a:off x="4796800" y="2694193"/>
            <a:ext cx="345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1" name="Google Shape;2111;p165"/>
          <p:cNvSpPr txBox="1"/>
          <p:nvPr>
            <p:ph idx="1" type="body"/>
          </p:nvPr>
        </p:nvSpPr>
        <p:spPr>
          <a:xfrm>
            <a:off x="4293573" y="3138095"/>
            <a:ext cx="417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2" name="Google Shape;2112;p165"/>
          <p:cNvSpPr txBox="1"/>
          <p:nvPr>
            <p:ph idx="1" type="body"/>
          </p:nvPr>
        </p:nvSpPr>
        <p:spPr>
          <a:xfrm>
            <a:off x="5817568" y="2088940"/>
            <a:ext cx="180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3" name="Google Shape;2113;p165"/>
          <p:cNvSpPr txBox="1"/>
          <p:nvPr>
            <p:ph idx="1" type="body"/>
          </p:nvPr>
        </p:nvSpPr>
        <p:spPr>
          <a:xfrm>
            <a:off x="5307188" y="3581997"/>
            <a:ext cx="303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4" name="Google Shape;2114;p165"/>
          <p:cNvSpPr txBox="1"/>
          <p:nvPr>
            <p:ph idx="1" type="body"/>
          </p:nvPr>
        </p:nvSpPr>
        <p:spPr>
          <a:xfrm>
            <a:off x="4849988" y="4025898"/>
            <a:ext cx="303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5" name="Google Shape;2115;p165"/>
          <p:cNvSpPr txBox="1"/>
          <p:nvPr>
            <p:ph idx="1" type="body"/>
          </p:nvPr>
        </p:nvSpPr>
        <p:spPr>
          <a:xfrm>
            <a:off x="4849988" y="4469800"/>
            <a:ext cx="303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166"/>
          <p:cNvSpPr txBox="1"/>
          <p:nvPr>
            <p:ph idx="1" type="body"/>
          </p:nvPr>
        </p:nvSpPr>
        <p:spPr>
          <a:xfrm>
            <a:off x="324000" y="1080000"/>
            <a:ext cx="81138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</a:t>
            </a:r>
            <a:r>
              <a:rPr lang="en-GB" sz="2000"/>
              <a:t> can apply inverse operations to simple formula in order to make a specific variable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/>
          </a:p>
        </p:txBody>
      </p:sp>
      <p:sp>
        <p:nvSpPr>
          <p:cNvPr id="2121" name="Google Shape;2121;p16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with simple formula</a:t>
            </a:r>
            <a:endParaRPr/>
          </a:p>
        </p:txBody>
      </p:sp>
      <p:sp>
        <p:nvSpPr>
          <p:cNvPr id="2122" name="Google Shape;2122;p166"/>
          <p:cNvSpPr txBox="1"/>
          <p:nvPr>
            <p:ph idx="4294967295" type="body"/>
          </p:nvPr>
        </p:nvSpPr>
        <p:spPr>
          <a:xfrm>
            <a:off x="7055430" y="1870588"/>
            <a:ext cx="128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3" name="Google Shape;2123;p166"/>
          <p:cNvSpPr txBox="1"/>
          <p:nvPr>
            <p:ph idx="4294967295" type="body"/>
          </p:nvPr>
        </p:nvSpPr>
        <p:spPr>
          <a:xfrm>
            <a:off x="6628415" y="2625434"/>
            <a:ext cx="225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4" name="Google Shape;2124;p166"/>
          <p:cNvSpPr txBox="1"/>
          <p:nvPr>
            <p:ph idx="1" type="body"/>
          </p:nvPr>
        </p:nvSpPr>
        <p:spPr>
          <a:xfrm>
            <a:off x="324000" y="1883680"/>
            <a:ext cx="5858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example, in this</a:t>
            </a:r>
            <a:r>
              <a:rPr lang="en-GB" sz="2000"/>
              <a:t> formula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is the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/>
          </a:p>
        </p:txBody>
      </p:sp>
      <p:sp>
        <p:nvSpPr>
          <p:cNvPr id="2125" name="Google Shape;2125;p166"/>
          <p:cNvSpPr txBox="1"/>
          <p:nvPr>
            <p:ph idx="1" type="body"/>
          </p:nvPr>
        </p:nvSpPr>
        <p:spPr>
          <a:xfrm>
            <a:off x="324000" y="2645680"/>
            <a:ext cx="5858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inverse of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×s</a:t>
            </a:r>
            <a:r>
              <a:rPr lang="en-GB" sz="2000"/>
              <a:t> will make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GB" sz="2000"/>
              <a:t>the</a:t>
            </a:r>
            <a:r>
              <a:rPr lang="en-GB" sz="2000"/>
              <a:t> </a:t>
            </a:r>
            <a:r>
              <a:rPr b="1" lang="en-GB" sz="2000"/>
              <a:t>subject</a:t>
            </a:r>
            <a:r>
              <a:rPr lang="en-GB" sz="2000"/>
              <a:t>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id="2126" name="Google Shape;2126;p166" title="d over s equals 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4825" y="3323317"/>
            <a:ext cx="704425" cy="6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166"/>
          <p:cNvSpPr txBox="1"/>
          <p:nvPr>
            <p:ph idx="1" type="body"/>
          </p:nvPr>
        </p:nvSpPr>
        <p:spPr>
          <a:xfrm>
            <a:off x="324000" y="3331475"/>
            <a:ext cx="5819400" cy="6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There will be times when this will be really useful.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16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33" name="Google Shape;2133;p1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