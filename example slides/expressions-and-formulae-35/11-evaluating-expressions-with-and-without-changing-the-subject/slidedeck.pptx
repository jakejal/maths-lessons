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69" r:id="rId1"/>
    <p:sldMasterId id="2147483770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6858000" cy="9144000"/>
  <p:embeddedFontLst>
    <p:embeddedFont>
      <p:font typeface="Lexend" panose="00000000000000000000"/>
      <p:regular r:id="rId35"/>
    </p:embeddedFont>
    <p:embeddedFont>
      <p:font typeface="Lexend Medium" panose="00000000000000000000"/>
      <p:regular r:id="rId36"/>
    </p:embeddedFont>
    <p:embeddedFont>
      <p:font typeface="Kalam" panose="02000000000000000000"/>
      <p:regular r:id="rId37"/>
    </p:embeddedFont>
    <p:embeddedFont>
      <p:font typeface="Lexend Light" panose="00000000000000000000"/>
      <p:regular r:id="rId38"/>
    </p:embeddedFont>
  </p:embeddedFontLst>
  <p:custDataLst>
    <p:tags r:id="rId34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tags" Target="tags/tag1.xml" /><Relationship Id="rId35" Type="http://schemas.openxmlformats.org/officeDocument/2006/relationships/font" Target="fonts/font1.fntdata" /><Relationship Id="rId36" Type="http://schemas.openxmlformats.org/officeDocument/2006/relationships/font" Target="fonts/font2.fntdata" /><Relationship Id="rId37" Type="http://schemas.openxmlformats.org/officeDocument/2006/relationships/font" Target="fonts/font3.fntdata" /><Relationship Id="rId38" Type="http://schemas.openxmlformats.org/officeDocument/2006/relationships/font" Target="fonts/font4.fntdata" /><Relationship Id="rId39" Type="http://schemas.openxmlformats.org/officeDocument/2006/relationships/presProps" Target="presProps.xml" /><Relationship Id="rId4" Type="http://schemas.openxmlformats.org/officeDocument/2006/relationships/slide" Target="slides/slide1.xml" /><Relationship Id="rId40" Type="http://schemas.openxmlformats.org/officeDocument/2006/relationships/viewProps" Target="viewProps.xml" /><Relationship Id="rId41" Type="http://schemas.openxmlformats.org/officeDocument/2006/relationships/theme" Target="theme/theme1.xml" /><Relationship Id="rId42" Type="http://schemas.openxmlformats.org/officeDocument/2006/relationships/tableStyles" Target="tableStyles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7" name="Shape 1487"/>
        <p:cNvGrpSpPr/>
        <p:nvPr/>
      </p:nvGrpSpPr>
      <p:grpSpPr>
        <a:xfrm>
          <a:off x="0" y="0"/>
          <a:ext cx="0" cy="0"/>
        </a:xfrm>
      </p:grpSpPr>
      <p:sp>
        <p:nvSpPr>
          <p:cNvPr id="1488" name="Google Shape;1488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3" name="Shape 1493"/>
        <p:cNvGrpSpPr/>
        <p:nvPr/>
      </p:nvGrpSpPr>
      <p:grpSpPr>
        <a:xfrm>
          <a:off x="0" y="0"/>
          <a:ext cx="0" cy="0"/>
        </a:xfrm>
      </p:grpSpPr>
      <p:sp>
        <p:nvSpPr>
          <p:cNvPr id="1494" name="Google Shape;1494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8" name="Shape 1498"/>
        <p:cNvGrpSpPr/>
        <p:nvPr/>
      </p:nvGrpSpPr>
      <p:grpSpPr>
        <a:xfrm>
          <a:off x="0" y="0"/>
          <a:ext cx="0" cy="0"/>
        </a:xfrm>
      </p:grpSpPr>
      <p:sp>
        <p:nvSpPr>
          <p:cNvPr id="1499" name="Google Shape;1499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sp>
        <p:nvSpPr>
          <p:cNvPr id="1504" name="Google Shape;1504;g1efa79a0cc2_0_7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1efa79a0cc2_0_7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2" name="Shape 1512"/>
        <p:cNvGrpSpPr/>
        <p:nvPr/>
      </p:nvGrpSpPr>
      <p:grpSpPr>
        <a:xfrm>
          <a:off x="0" y="0"/>
          <a:ext cx="0" cy="0"/>
        </a:xfrm>
      </p:grpSpPr>
      <p:sp>
        <p:nvSpPr>
          <p:cNvPr id="1513" name="Google Shape;1513;g1efa79a0cc2_0_15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1efa79a0cc2_0_15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0" name="Shape 1520"/>
        <p:cNvGrpSpPr/>
        <p:nvPr/>
      </p:nvGrpSpPr>
      <p:grpSpPr>
        <a:xfrm>
          <a:off x="0" y="0"/>
          <a:ext cx="0" cy="0"/>
        </a:xfrm>
      </p:grpSpPr>
      <p:sp>
        <p:nvSpPr>
          <p:cNvPr id="1521" name="Google Shape;1521;g1efa79a0cc2_0_15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1efa79a0cc2_0_15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1" name="Shape 1541"/>
        <p:cNvGrpSpPr/>
        <p:nvPr/>
      </p:nvGrpSpPr>
      <p:grpSpPr>
        <a:xfrm>
          <a:off x="0" y="0"/>
          <a:ext cx="0" cy="0"/>
        </a:xfrm>
      </p:grpSpPr>
      <p:sp>
        <p:nvSpPr>
          <p:cNvPr id="1542" name="Google Shape;1542;g1efa79a0cc2_0_15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1efa79a0cc2_0_15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62" name="Shape 1562"/>
        <p:cNvGrpSpPr/>
        <p:nvPr/>
      </p:nvGrpSpPr>
      <p:grpSpPr>
        <a:xfrm>
          <a:off x="0" y="0"/>
          <a:ext cx="0" cy="0"/>
        </a:xfrm>
      </p:grpSpPr>
      <p:sp>
        <p:nvSpPr>
          <p:cNvPr id="1563" name="Google Shape;1563;g1efa79a0cc2_0_15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1efa79a0cc2_0_15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6" name="Shape 1586"/>
        <p:cNvGrpSpPr/>
        <p:nvPr/>
      </p:nvGrpSpPr>
      <p:grpSpPr>
        <a:xfrm>
          <a:off x="0" y="0"/>
          <a:ext cx="0" cy="0"/>
        </a:xfrm>
      </p:grpSpPr>
      <p:sp>
        <p:nvSpPr>
          <p:cNvPr id="1587" name="Google Shape;1587;g1efa79a0cc2_0_15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1efa79a0cc2_0_15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9" name="Shape 1599"/>
        <p:cNvGrpSpPr/>
        <p:nvPr/>
      </p:nvGrpSpPr>
      <p:grpSpPr>
        <a:xfrm>
          <a:off x="0" y="0"/>
          <a:ext cx="0" cy="0"/>
        </a:xfrm>
      </p:grpSpPr>
      <p:sp>
        <p:nvSpPr>
          <p:cNvPr id="1600" name="Google Shape;1600;g1efa79a0cc2_0_16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1efa79a0cc2_0_16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9" name="Shape 1609"/>
        <p:cNvGrpSpPr/>
        <p:nvPr/>
      </p:nvGrpSpPr>
      <p:grpSpPr>
        <a:xfrm>
          <a:off x="0" y="0"/>
          <a:ext cx="0" cy="0"/>
        </a:xfrm>
      </p:grpSpPr>
      <p:sp>
        <p:nvSpPr>
          <p:cNvPr id="1610" name="Google Shape;1610;g1efa79a0cc2_0_16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1efa79a0cc2_0_16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1" name="Shape 1631"/>
        <p:cNvGrpSpPr/>
        <p:nvPr/>
      </p:nvGrpSpPr>
      <p:grpSpPr>
        <a:xfrm>
          <a:off x="0" y="0"/>
          <a:ext cx="0" cy="0"/>
        </a:xfrm>
      </p:grpSpPr>
      <p:sp>
        <p:nvSpPr>
          <p:cNvPr id="1632" name="Google Shape;1632;g1efa79a0cc2_0_17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1efa79a0cc2_0_17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1" name="Shape 1651"/>
        <p:cNvGrpSpPr/>
        <p:nvPr/>
      </p:nvGrpSpPr>
      <p:grpSpPr>
        <a:xfrm>
          <a:off x="0" y="0"/>
          <a:ext cx="0" cy="0"/>
        </a:xfrm>
      </p:grpSpPr>
      <p:sp>
        <p:nvSpPr>
          <p:cNvPr id="1652" name="Google Shape;1652;g1efa79a0cc2_0_17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1efa79a0cc2_0_17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6" name="Shape 1666"/>
        <p:cNvGrpSpPr/>
        <p:nvPr/>
      </p:nvGrpSpPr>
      <p:grpSpPr>
        <a:xfrm>
          <a:off x="0" y="0"/>
          <a:ext cx="0" cy="0"/>
        </a:xfrm>
      </p:grpSpPr>
      <p:sp>
        <p:nvSpPr>
          <p:cNvPr id="1667" name="Google Shape;1667;g1efa79a0cc2_0_17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1efa79a0cc2_0_17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8" name="Shape 1678"/>
        <p:cNvGrpSpPr/>
        <p:nvPr/>
      </p:nvGrpSpPr>
      <p:grpSpPr>
        <a:xfrm>
          <a:off x="0" y="0"/>
          <a:ext cx="0" cy="0"/>
        </a:xfrm>
      </p:grpSpPr>
      <p:sp>
        <p:nvSpPr>
          <p:cNvPr id="1679" name="Google Shape;1679;g1efa79a0cc2_0_17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1efa79a0cc2_0_17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7" name="Shape 1697"/>
        <p:cNvGrpSpPr/>
        <p:nvPr/>
      </p:nvGrpSpPr>
      <p:grpSpPr>
        <a:xfrm>
          <a:off x="0" y="0"/>
          <a:ext cx="0" cy="0"/>
        </a:xfrm>
      </p:grpSpPr>
      <p:sp>
        <p:nvSpPr>
          <p:cNvPr id="1698" name="Google Shape;1698;g1efa79a0cc2_0_17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1efa79a0cc2_0_17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4" name="Shape 1714"/>
        <p:cNvGrpSpPr/>
        <p:nvPr/>
      </p:nvGrpSpPr>
      <p:grpSpPr>
        <a:xfrm>
          <a:off x="0" y="0"/>
          <a:ext cx="0" cy="0"/>
        </a:xfrm>
      </p:grpSpPr>
      <p:sp>
        <p:nvSpPr>
          <p:cNvPr id="1715" name="Google Shape;1715;g1efa79a0cc2_0_18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1efa79a0cc2_0_18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2" name="Shape 1722"/>
        <p:cNvGrpSpPr/>
        <p:nvPr/>
      </p:nvGrpSpPr>
      <p:grpSpPr>
        <a:xfrm>
          <a:off x="0" y="0"/>
          <a:ext cx="0" cy="0"/>
        </a:xfrm>
      </p:grpSpPr>
      <p:sp>
        <p:nvSpPr>
          <p:cNvPr id="1723" name="Google Shape;1723;g1efa79a0cc2_0_18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1efa79a0cc2_0_18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4" name="Shape 1744"/>
        <p:cNvGrpSpPr/>
        <p:nvPr/>
      </p:nvGrpSpPr>
      <p:grpSpPr>
        <a:xfrm>
          <a:off x="0" y="0"/>
          <a:ext cx="0" cy="0"/>
        </a:xfrm>
      </p:grpSpPr>
      <p:sp>
        <p:nvSpPr>
          <p:cNvPr id="1745" name="Google Shape;1745;g1efa79a0cc2_0_18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1efa79a0cc2_0_18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0" name="Shape 1770"/>
        <p:cNvGrpSpPr/>
        <p:nvPr/>
      </p:nvGrpSpPr>
      <p:grpSpPr>
        <a:xfrm>
          <a:off x="0" y="0"/>
          <a:ext cx="0" cy="0"/>
        </a:xfrm>
      </p:grpSpPr>
      <p:sp>
        <p:nvSpPr>
          <p:cNvPr id="1771" name="Google Shape;1771;g1efa99fef5b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1efa99fef5b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7" name="Shape 1797"/>
        <p:cNvGrpSpPr/>
        <p:nvPr/>
      </p:nvGrpSpPr>
      <p:grpSpPr>
        <a:xfrm>
          <a:off x="0" y="0"/>
          <a:ext cx="0" cy="0"/>
        </a:xfrm>
      </p:grpSpPr>
      <p:sp>
        <p:nvSpPr>
          <p:cNvPr id="1798" name="Google Shape;1798;g1efa99fef5b_0_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9" name="Google Shape;1799;g1efa99fef5b_0_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6" name="Shape 1816"/>
        <p:cNvGrpSpPr/>
        <p:nvPr/>
      </p:nvGrpSpPr>
      <p:grpSpPr>
        <a:xfrm>
          <a:off x="0" y="0"/>
          <a:ext cx="0" cy="0"/>
        </a:xfrm>
      </p:grpSpPr>
      <p:sp>
        <p:nvSpPr>
          <p:cNvPr id="1817" name="Google Shape;1817;g1efa99fef5b_0_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1efa99fef5b_0_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7" name="Shape 1837"/>
        <p:cNvGrpSpPr/>
        <p:nvPr/>
      </p:nvGrpSpPr>
      <p:grpSpPr>
        <a:xfrm>
          <a:off x="0" y="0"/>
          <a:ext cx="0" cy="0"/>
        </a:xfrm>
      </p:grpSpPr>
      <p:sp>
        <p:nvSpPr>
          <p:cNvPr id="1838" name="Google Shape;1838;g1efa99fef5b_0_2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1efa99fef5b_0_2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5" name="Shape 1855"/>
        <p:cNvGrpSpPr/>
        <p:nvPr/>
      </p:nvGrpSpPr>
      <p:grpSpPr>
        <a:xfrm>
          <a:off x="0" y="0"/>
          <a:ext cx="0" cy="0"/>
        </a:xfrm>
      </p:grpSpPr>
      <p:sp>
        <p:nvSpPr>
          <p:cNvPr id="1856" name="Google Shape;1856;g1efa99fef5b_0_1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1efa99fef5b_0_1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7" name="Shape 1877"/>
        <p:cNvGrpSpPr/>
        <p:nvPr/>
      </p:nvGrpSpPr>
      <p:grpSpPr>
        <a:xfrm>
          <a:off x="0" y="0"/>
          <a:ext cx="0" cy="0"/>
        </a:xfrm>
      </p:grpSpPr>
      <p:sp>
        <p:nvSpPr>
          <p:cNvPr id="1878" name="Google Shape;1878;g1efa99fef5b_0_1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efa99fef5b_0_1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6" name="Shape 1906"/>
        <p:cNvGrpSpPr/>
        <p:nvPr/>
      </p:nvGrpSpPr>
      <p:grpSpPr>
        <a:xfrm>
          <a:off x="0" y="0"/>
          <a:ext cx="0" cy="0"/>
        </a:xfrm>
      </p:grpSpPr>
      <p:sp>
        <p:nvSpPr>
          <p:cNvPr id="1907" name="Google Shape;1907;g1efa99fef5b_0_2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1efa99fef5b_0_2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7" name="Shape 1927"/>
        <p:cNvGrpSpPr/>
        <p:nvPr/>
      </p:nvGrpSpPr>
      <p:grpSpPr>
        <a:xfrm>
          <a:off x="0" y="0"/>
          <a:ext cx="0" cy="0"/>
        </a:xfrm>
      </p:grpSpPr>
      <p:sp>
        <p:nvSpPr>
          <p:cNvPr id="1928" name="Google Shape;1928;g1efa99fef5b_0_2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1efa99fef5b_0_2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9" name="Shape 1949"/>
        <p:cNvGrpSpPr/>
        <p:nvPr/>
      </p:nvGrpSpPr>
      <p:grpSpPr>
        <a:xfrm>
          <a:off x="0" y="0"/>
          <a:ext cx="0" cy="0"/>
        </a:xfrm>
      </p:grpSpPr>
      <p:sp>
        <p:nvSpPr>
          <p:cNvPr id="1950" name="Google Shape;1950;g1efa99fef5b_0_3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1efa99fef5b_0_3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7" name="Shape 1977"/>
        <p:cNvGrpSpPr/>
        <p:nvPr/>
      </p:nvGrpSpPr>
      <p:grpSpPr>
        <a:xfrm>
          <a:off x="0" y="0"/>
          <a:ext cx="0" cy="0"/>
        </a:xfrm>
      </p:grpSpPr>
      <p:sp>
        <p:nvSpPr>
          <p:cNvPr id="1978" name="Google Shape;1978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3" name="Shape 1983"/>
        <p:cNvGrpSpPr/>
        <p:nvPr/>
      </p:nvGrpSpPr>
      <p:grpSpPr>
        <a:xfrm>
          <a:off x="0" y="0"/>
          <a:ext cx="0" cy="0"/>
        </a:xfrm>
      </p:grpSpPr>
      <p:sp>
        <p:nvSpPr>
          <p:cNvPr id="1984" name="Google Shape;1984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pic>
        <p:nvPicPr>
          <p:cNvPr id="747" name="Google Shape;747;p63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pic>
        <p:nvPicPr>
          <p:cNvPr id="755" name="Google Shape;755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pic>
        <p:nvPicPr>
          <p:cNvPr id="763" name="Google Shape;763;p6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pic>
        <p:nvPicPr>
          <p:cNvPr id="771" name="Google Shape;771;p66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</a:xfrm>
      </p:grpSpPr>
      <p:pic>
        <p:nvPicPr>
          <p:cNvPr id="782" name="Google Shape;782;p6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pic>
        <p:nvPicPr>
          <p:cNvPr id="801" name="Google Shape;801;p6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</a:xfrm>
      </p:grpSpPr>
      <p:pic>
        <p:nvPicPr>
          <p:cNvPr id="809" name="Google Shape;809;p7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pic>
        <p:nvPicPr>
          <p:cNvPr id="820" name="Google Shape;820;p71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p7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44" name="Google Shape;844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pic>
        <p:nvPicPr>
          <p:cNvPr id="903" name="Google Shape;903;p7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pic>
        <p:nvPicPr>
          <p:cNvPr id="921" name="Google Shape;921;p8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5" name="Google Shape;945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pic>
        <p:nvPicPr>
          <p:cNvPr id="950" name="Google Shape;950;p8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2" name="Google Shape;952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pic>
        <p:nvPicPr>
          <p:cNvPr id="957" name="Google Shape;957;p8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9" name="Google Shape;959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</a:xfrm>
      </p:grpSpPr>
      <p:pic>
        <p:nvPicPr>
          <p:cNvPr id="964" name="Google Shape;964;p8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6" name="Google Shape;966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4" name="Google Shape;974;p8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7" name="Google Shape;987;p8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0" name="Google Shape;1000;p8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3" name="Google Shape;1013;p8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pic>
        <p:nvPicPr>
          <p:cNvPr id="1046" name="Google Shape;1046;p9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pic>
        <p:nvPicPr>
          <p:cNvPr id="1069" name="Google Shape;1069;p9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</a:xfrm>
      </p:grpSpPr>
      <p:pic>
        <p:nvPicPr>
          <p:cNvPr id="1092" name="Google Shape;1092;p9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pic>
        <p:nvPicPr>
          <p:cNvPr id="1134" name="Google Shape;1134;p9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pic>
        <p:nvPicPr>
          <p:cNvPr id="1153" name="Google Shape;1153;p9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</a:xfrm>
      </p:grpSpPr>
      <p:pic>
        <p:nvPicPr>
          <p:cNvPr id="1172" name="Google Shape;1172;p9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</a:xfrm>
      </p:grpSpPr>
      <p:pic>
        <p:nvPicPr>
          <p:cNvPr id="1214" name="Google Shape;1214;p9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pic>
        <p:nvPicPr>
          <p:cNvPr id="1237" name="Google Shape;1237;p9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</a:xfrm>
      </p:grpSpPr>
      <p:pic>
        <p:nvPicPr>
          <p:cNvPr id="1260" name="Google Shape;1260;p10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0" name="Google Shape;1290;p10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1" name="Google Shape;1291;p10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pic>
        <p:nvPicPr>
          <p:cNvPr id="1302" name="Google Shape;1302;p10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09" name="Google Shape;1309;p10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0" name="Google Shape;1310;p10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</a:xfrm>
      </p:grpSpPr>
      <p:pic>
        <p:nvPicPr>
          <p:cNvPr id="1321" name="Google Shape;1321;p10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28" name="Google Shape;1328;p10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29" name="Google Shape;1329;p10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</a:xfrm>
      </p:grpSpPr>
      <p:pic>
        <p:nvPicPr>
          <p:cNvPr id="1340" name="Google Shape;1340;p10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7" name="Google Shape;1347;p10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8" name="Google Shape;1348;p10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1" name="Google Shape;1361;p10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</a:xfrm>
      </p:grpSpPr>
      <p:pic>
        <p:nvPicPr>
          <p:cNvPr id="1366" name="Google Shape;1366;p10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8" name="Google Shape;1368;p10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</a:xfrm>
      </p:grpSpPr>
      <p:pic>
        <p:nvPicPr>
          <p:cNvPr id="1373" name="Google Shape;1373;p10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5" name="Google Shape;1375;p10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</a:xfrm>
      </p:grpSpPr>
      <p:pic>
        <p:nvPicPr>
          <p:cNvPr id="1380" name="Google Shape;1380;p10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2" name="Google Shape;1382;p10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9" name="Google Shape;1389;p10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3" name="Google Shape;1393;p10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</a:xfrm>
      </p:grpSpPr>
      <p:pic>
        <p:nvPicPr>
          <p:cNvPr id="1395" name="Google Shape;1395;p11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7" name="Google Shape;1397;p11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9" name="Google Shape;1399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1" name="Google Shape;1401;p11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</a:xfrm>
      </p:grpSpPr>
      <p:pic>
        <p:nvPicPr>
          <p:cNvPr id="1403" name="Google Shape;1403;p11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5" name="Google Shape;1405;p11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7" name="Google Shape;1407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9" name="Google Shape;1409;p11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</a:xfrm>
      </p:grpSpPr>
      <p:pic>
        <p:nvPicPr>
          <p:cNvPr id="1411" name="Google Shape;1411;p11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11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5" name="Google Shape;1415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7" name="Google Shape;1417;p11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1" name="Google Shape;1421;p11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22" name="Google Shape;1422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5" name="Google Shape;1425;p11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pic>
        <p:nvPicPr>
          <p:cNvPr id="1427" name="Google Shape;1427;p11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11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1" name="Google Shape;1431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3" name="Google Shape;1433;p11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</a:xfrm>
      </p:grpSpPr>
      <p:pic>
        <p:nvPicPr>
          <p:cNvPr id="1435" name="Google Shape;1435;p11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7" name="Google Shape;1437;p11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9" name="Google Shape;1439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1" name="Google Shape;1441;p11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</a:xfrm>
      </p:grpSpPr>
      <p:pic>
        <p:nvPicPr>
          <p:cNvPr id="1443" name="Google Shape;1443;p11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5" name="Google Shape;1445;p11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7" name="Google Shape;1447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1480" name="Shape 1480"/>
        <p:cNvGrpSpPr/>
        <p:nvPr/>
      </p:nvGrpSpPr>
      <p:grpSpPr>
        <a:xfrm>
          <a:off x="0" y="0"/>
          <a:ext cx="0" cy="0"/>
        </a:xfrm>
      </p:grpSpPr>
      <p:sp>
        <p:nvSpPr>
          <p:cNvPr id="1481" name="Google Shape;1481;p1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2" name="Google Shape;1482;p12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1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23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5" name="Google Shape;1485;p123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6" name="Google Shape;1486;p123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10" Type="http://schemas.openxmlformats.org/officeDocument/2006/relationships/slideLayout" Target="../slideLayouts/slideLayout70.xml" /><Relationship Id="rId11" Type="http://schemas.openxmlformats.org/officeDocument/2006/relationships/slideLayout" Target="../slideLayouts/slideLayout71.xml" /><Relationship Id="rId12" Type="http://schemas.openxmlformats.org/officeDocument/2006/relationships/slideLayout" Target="../slideLayouts/slideLayout72.xml" /><Relationship Id="rId13" Type="http://schemas.openxmlformats.org/officeDocument/2006/relationships/slideLayout" Target="../slideLayouts/slideLayout73.xml" /><Relationship Id="rId14" Type="http://schemas.openxmlformats.org/officeDocument/2006/relationships/slideLayout" Target="../slideLayouts/slideLayout74.xml" /><Relationship Id="rId15" Type="http://schemas.openxmlformats.org/officeDocument/2006/relationships/slideLayout" Target="../slideLayouts/slideLayout75.xml" /><Relationship Id="rId16" Type="http://schemas.openxmlformats.org/officeDocument/2006/relationships/slideLayout" Target="../slideLayouts/slideLayout76.xml" /><Relationship Id="rId17" Type="http://schemas.openxmlformats.org/officeDocument/2006/relationships/slideLayout" Target="../slideLayouts/slideLayout77.xml" /><Relationship Id="rId18" Type="http://schemas.openxmlformats.org/officeDocument/2006/relationships/slideLayout" Target="../slideLayouts/slideLayout78.xml" /><Relationship Id="rId19" Type="http://schemas.openxmlformats.org/officeDocument/2006/relationships/slideLayout" Target="../slideLayouts/slideLayout79.xml" /><Relationship Id="rId2" Type="http://schemas.openxmlformats.org/officeDocument/2006/relationships/slideLayout" Target="../slideLayouts/slideLayout62.xml" /><Relationship Id="rId20" Type="http://schemas.openxmlformats.org/officeDocument/2006/relationships/slideLayout" Target="../slideLayouts/slideLayout80.xml" /><Relationship Id="rId21" Type="http://schemas.openxmlformats.org/officeDocument/2006/relationships/slideLayout" Target="../slideLayouts/slideLayout81.xml" /><Relationship Id="rId22" Type="http://schemas.openxmlformats.org/officeDocument/2006/relationships/slideLayout" Target="../slideLayouts/slideLayout82.xml" /><Relationship Id="rId23" Type="http://schemas.openxmlformats.org/officeDocument/2006/relationships/slideLayout" Target="../slideLayouts/slideLayout83.xml" /><Relationship Id="rId24" Type="http://schemas.openxmlformats.org/officeDocument/2006/relationships/slideLayout" Target="../slideLayouts/slideLayout84.xml" /><Relationship Id="rId25" Type="http://schemas.openxmlformats.org/officeDocument/2006/relationships/slideLayout" Target="../slideLayouts/slideLayout85.xml" /><Relationship Id="rId26" Type="http://schemas.openxmlformats.org/officeDocument/2006/relationships/slideLayout" Target="../slideLayouts/slideLayout86.xml" /><Relationship Id="rId27" Type="http://schemas.openxmlformats.org/officeDocument/2006/relationships/slideLayout" Target="../slideLayouts/slideLayout87.xml" /><Relationship Id="rId28" Type="http://schemas.openxmlformats.org/officeDocument/2006/relationships/slideLayout" Target="../slideLayouts/slideLayout88.xml" /><Relationship Id="rId29" Type="http://schemas.openxmlformats.org/officeDocument/2006/relationships/slideLayout" Target="../slideLayouts/slideLayout89.xml" /><Relationship Id="rId3" Type="http://schemas.openxmlformats.org/officeDocument/2006/relationships/slideLayout" Target="../slideLayouts/slideLayout63.xml" /><Relationship Id="rId30" Type="http://schemas.openxmlformats.org/officeDocument/2006/relationships/slideLayout" Target="../slideLayouts/slideLayout90.xml" /><Relationship Id="rId31" Type="http://schemas.openxmlformats.org/officeDocument/2006/relationships/slideLayout" Target="../slideLayouts/slideLayout91.xml" /><Relationship Id="rId32" Type="http://schemas.openxmlformats.org/officeDocument/2006/relationships/slideLayout" Target="../slideLayouts/slideLayout92.xml" /><Relationship Id="rId33" Type="http://schemas.openxmlformats.org/officeDocument/2006/relationships/slideLayout" Target="../slideLayouts/slideLayout93.xml" /><Relationship Id="rId34" Type="http://schemas.openxmlformats.org/officeDocument/2006/relationships/slideLayout" Target="../slideLayouts/slideLayout94.xml" /><Relationship Id="rId35" Type="http://schemas.openxmlformats.org/officeDocument/2006/relationships/slideLayout" Target="../slideLayouts/slideLayout95.xml" /><Relationship Id="rId36" Type="http://schemas.openxmlformats.org/officeDocument/2006/relationships/slideLayout" Target="../slideLayouts/slideLayout96.xml" /><Relationship Id="rId37" Type="http://schemas.openxmlformats.org/officeDocument/2006/relationships/slideLayout" Target="../slideLayouts/slideLayout97.xml" /><Relationship Id="rId38" Type="http://schemas.openxmlformats.org/officeDocument/2006/relationships/slideLayout" Target="../slideLayouts/slideLayout98.xml" /><Relationship Id="rId39" Type="http://schemas.openxmlformats.org/officeDocument/2006/relationships/slideLayout" Target="../slideLayouts/slideLayout99.xml" /><Relationship Id="rId4" Type="http://schemas.openxmlformats.org/officeDocument/2006/relationships/slideLayout" Target="../slideLayouts/slideLayout64.xml" /><Relationship Id="rId40" Type="http://schemas.openxmlformats.org/officeDocument/2006/relationships/slideLayout" Target="../slideLayouts/slideLayout100.xml" /><Relationship Id="rId41" Type="http://schemas.openxmlformats.org/officeDocument/2006/relationships/slideLayout" Target="../slideLayouts/slideLayout101.xml" /><Relationship Id="rId42" Type="http://schemas.openxmlformats.org/officeDocument/2006/relationships/slideLayout" Target="../slideLayouts/slideLayout102.xml" /><Relationship Id="rId43" Type="http://schemas.openxmlformats.org/officeDocument/2006/relationships/slideLayout" Target="../slideLayouts/slideLayout103.xml" /><Relationship Id="rId44" Type="http://schemas.openxmlformats.org/officeDocument/2006/relationships/slideLayout" Target="../slideLayouts/slideLayout104.xml" /><Relationship Id="rId45" Type="http://schemas.openxmlformats.org/officeDocument/2006/relationships/slideLayout" Target="../slideLayouts/slideLayout105.xml" /><Relationship Id="rId46" Type="http://schemas.openxmlformats.org/officeDocument/2006/relationships/slideLayout" Target="../slideLayouts/slideLayout106.xml" /><Relationship Id="rId47" Type="http://schemas.openxmlformats.org/officeDocument/2006/relationships/slideLayout" Target="../slideLayouts/slideLayout107.xml" /><Relationship Id="rId48" Type="http://schemas.openxmlformats.org/officeDocument/2006/relationships/slideLayout" Target="../slideLayouts/slideLayout108.xml" /><Relationship Id="rId49" Type="http://schemas.openxmlformats.org/officeDocument/2006/relationships/slideLayout" Target="../slideLayouts/slideLayout109.xml" /><Relationship Id="rId5" Type="http://schemas.openxmlformats.org/officeDocument/2006/relationships/slideLayout" Target="../slideLayouts/slideLayout65.xml" /><Relationship Id="rId50" Type="http://schemas.openxmlformats.org/officeDocument/2006/relationships/slideLayout" Target="../slideLayouts/slideLayout110.xml" /><Relationship Id="rId51" Type="http://schemas.openxmlformats.org/officeDocument/2006/relationships/slideLayout" Target="../slideLayouts/slideLayout111.xml" /><Relationship Id="rId52" Type="http://schemas.openxmlformats.org/officeDocument/2006/relationships/slideLayout" Target="../slideLayouts/slideLayout112.xml" /><Relationship Id="rId53" Type="http://schemas.openxmlformats.org/officeDocument/2006/relationships/slideLayout" Target="../slideLayouts/slideLayout113.xml" /><Relationship Id="rId54" Type="http://schemas.openxmlformats.org/officeDocument/2006/relationships/slideLayout" Target="../slideLayouts/slideLayout114.xml" /><Relationship Id="rId55" Type="http://schemas.openxmlformats.org/officeDocument/2006/relationships/slideLayout" Target="../slideLayouts/slideLayout115.xml" /><Relationship Id="rId56" Type="http://schemas.openxmlformats.org/officeDocument/2006/relationships/slideLayout" Target="../slideLayouts/slideLayout116.xml" /><Relationship Id="rId57" Type="http://schemas.openxmlformats.org/officeDocument/2006/relationships/slideLayout" Target="../slideLayouts/slideLayout117.xml" /><Relationship Id="rId58" Type="http://schemas.openxmlformats.org/officeDocument/2006/relationships/slideLayout" Target="../slideLayouts/slideLayout118.xml" /><Relationship Id="rId59" Type="http://schemas.openxmlformats.org/officeDocument/2006/relationships/slideLayout" Target="../slideLayouts/slideLayout119.xml" /><Relationship Id="rId6" Type="http://schemas.openxmlformats.org/officeDocument/2006/relationships/slideLayout" Target="../slideLayouts/slideLayout66.xml" /><Relationship Id="rId60" Type="http://schemas.openxmlformats.org/officeDocument/2006/relationships/slideLayout" Target="../slideLayouts/slideLayout120.xml" /><Relationship Id="rId61" Type="http://schemas.openxmlformats.org/officeDocument/2006/relationships/slideLayout" Target="../slideLayouts/slideLayout121.xml" /><Relationship Id="rId62" Type="http://schemas.openxmlformats.org/officeDocument/2006/relationships/image" Target="../media/image42.png" /><Relationship Id="rId63" Type="http://schemas.openxmlformats.org/officeDocument/2006/relationships/theme" Target="../theme/theme2.xml" /><Relationship Id="rId7" Type="http://schemas.openxmlformats.org/officeDocument/2006/relationships/slideLayout" Target="../slideLayouts/slideLayout67.xml" /><Relationship Id="rId8" Type="http://schemas.openxmlformats.org/officeDocument/2006/relationships/slideLayout" Target="../slideLayouts/slideLayout68.xml" /><Relationship Id="rId9" Type="http://schemas.openxmlformats.org/officeDocument/2006/relationships/slideLayout" Target="../slideLayouts/slideLayout6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Relationship Id="rId4" Type="http://schemas.openxmlformats.org/officeDocument/2006/relationships/image" Target="../media/image4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50.png" /><Relationship Id="rId8" Type="http://schemas.openxmlformats.org/officeDocument/2006/relationships/image" Target="../media/image51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52.png" /><Relationship Id="rId8" Type="http://schemas.openxmlformats.org/officeDocument/2006/relationships/image" Target="../media/image53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9.png" /><Relationship Id="rId4" Type="http://schemas.openxmlformats.org/officeDocument/2006/relationships/image" Target="../media/image54.png" /><Relationship Id="rId5" Type="http://schemas.openxmlformats.org/officeDocument/2006/relationships/image" Target="../media/image55.png" /><Relationship Id="rId6" Type="http://schemas.openxmlformats.org/officeDocument/2006/relationships/image" Target="../media/image5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46.png" /><Relationship Id="rId7" Type="http://schemas.openxmlformats.org/officeDocument/2006/relationships/image" Target="../media/image56.png" /><Relationship Id="rId8" Type="http://schemas.openxmlformats.org/officeDocument/2006/relationships/image" Target="../media/image57.png" /><Relationship Id="rId9" Type="http://schemas.openxmlformats.org/officeDocument/2006/relationships/image" Target="../media/image5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3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9.png" /><Relationship Id="rId4" Type="http://schemas.openxmlformats.org/officeDocument/2006/relationships/image" Target="../media/image49.png" /><Relationship Id="rId5" Type="http://schemas.openxmlformats.org/officeDocument/2006/relationships/image" Target="../media/image54.png" /><Relationship Id="rId6" Type="http://schemas.openxmlformats.org/officeDocument/2006/relationships/image" Target="../media/image55.png" /><Relationship Id="rId7" Type="http://schemas.openxmlformats.org/officeDocument/2006/relationships/image" Target="../media/image60.png" /><Relationship Id="rId8" Type="http://schemas.openxmlformats.org/officeDocument/2006/relationships/image" Target="../media/image61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62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Relationship Id="rId6" Type="http://schemas.openxmlformats.org/officeDocument/2006/relationships/image" Target="../media/image6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Relationship Id="rId5" Type="http://schemas.openxmlformats.org/officeDocument/2006/relationships/image" Target="../media/image68.png" /><Relationship Id="rId6" Type="http://schemas.openxmlformats.org/officeDocument/2006/relationships/image" Target="../media/image69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6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5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70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10" Type="http://schemas.openxmlformats.org/officeDocument/2006/relationships/image" Target="../media/image46.png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71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70.png" /><Relationship Id="rId7" Type="http://schemas.openxmlformats.org/officeDocument/2006/relationships/image" Target="../media/image72.png" /><Relationship Id="rId8" Type="http://schemas.openxmlformats.org/officeDocument/2006/relationships/image" Target="../media/image73.png" /><Relationship Id="rId9" Type="http://schemas.openxmlformats.org/officeDocument/2006/relationships/image" Target="../media/image7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70.png" /><Relationship Id="rId6" Type="http://schemas.openxmlformats.org/officeDocument/2006/relationships/image" Target="../media/image75.png" /><Relationship Id="rId7" Type="http://schemas.openxmlformats.org/officeDocument/2006/relationships/image" Target="../media/image46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4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76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8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70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8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77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70.png" /><Relationship Id="rId4" Type="http://schemas.openxmlformats.org/officeDocument/2006/relationships/image" Target="../media/image78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70.png" /><Relationship Id="rId4" Type="http://schemas.openxmlformats.org/officeDocument/2006/relationships/image" Target="../media/image79.png" /><Relationship Id="rId5" Type="http://schemas.openxmlformats.org/officeDocument/2006/relationships/image" Target="../media/image80.png" /><Relationship Id="rId6" Type="http://schemas.openxmlformats.org/officeDocument/2006/relationships/image" Target="../media/image81.png" /><Relationship Id="rId7" Type="http://schemas.openxmlformats.org/officeDocument/2006/relationships/image" Target="../media/image82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77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77.png" /><Relationship Id="rId4" Type="http://schemas.openxmlformats.org/officeDocument/2006/relationships/image" Target="../media/image43.png" /><Relationship Id="rId5" Type="http://schemas.openxmlformats.org/officeDocument/2006/relationships/image" Target="../media/image44.png" /><Relationship Id="rId6" Type="http://schemas.openxmlformats.org/officeDocument/2006/relationships/image" Target="../media/image83.png" /><Relationship Id="rId7" Type="http://schemas.openxmlformats.org/officeDocument/2006/relationships/image" Target="../media/image84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77.png" /><Relationship Id="rId4" Type="http://schemas.openxmlformats.org/officeDocument/2006/relationships/image" Target="../media/image43.png" /><Relationship Id="rId5" Type="http://schemas.openxmlformats.org/officeDocument/2006/relationships/image" Target="../media/image44.png" /><Relationship Id="rId6" Type="http://schemas.openxmlformats.org/officeDocument/2006/relationships/image" Target="../media/image83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8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0" name="Shape 1490"/>
        <p:cNvGrpSpPr/>
        <p:nvPr/>
      </p:nvGrpSpPr>
      <p:grpSpPr>
        <a:xfrm>
          <a:off x="0" y="0"/>
          <a:ext cx="0" cy="0"/>
        </a:xfrm>
      </p:grpSpPr>
      <p:sp>
        <p:nvSpPr>
          <p:cNvPr id="1491" name="Google Shape;1491;p12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expressions with and without changing the subject</a:t>
            </a:r>
            <a:endParaRPr/>
          </a:p>
        </p:txBody>
      </p:sp>
      <p:sp>
        <p:nvSpPr>
          <p:cNvPr id="1492" name="Google Shape;1492;p12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sp>
        <p:nvSpPr>
          <p:cNvPr id="1497" name="Google Shape;1497;p12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1" name="Shape 1501"/>
        <p:cNvGrpSpPr/>
        <p:nvPr/>
      </p:nvGrpSpPr>
      <p:grpSpPr>
        <a:xfrm>
          <a:off x="0" y="0"/>
          <a:ext cx="0" cy="0"/>
        </a:xfrm>
      </p:grpSpPr>
      <p:sp>
        <p:nvSpPr>
          <p:cNvPr id="1502" name="Google Shape;1502;p12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evaluate an expression where the subject has been changed and where it has not.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6" name="Shape 1506"/>
        <p:cNvGrpSpPr/>
        <p:nvPr/>
      </p:nvGrpSpPr>
      <p:grpSpPr>
        <a:xfrm>
          <a:off x="0" y="0"/>
          <a:ext cx="0" cy="0"/>
        </a:xfrm>
      </p:grpSpPr>
      <p:sp>
        <p:nvSpPr>
          <p:cNvPr id="1507" name="Google Shape;1507;p127"/>
          <p:cNvSpPr txBox="1"/>
          <p:nvPr>
            <p:ph type="subTitle" idx="1"/>
          </p:nvPr>
        </p:nvSpPr>
        <p:spPr>
          <a:xfrm>
            <a:off x="324000" y="2551372"/>
            <a:ext cx="6042300" cy="3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 example,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is the subject of this formula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8" name="Google Shape;1508;p127"/>
          <p:cNvSpPr txBox="1"/>
          <p:nvPr>
            <p:ph type="subTitle" idx="1"/>
          </p:nvPr>
        </p:nvSpPr>
        <p:spPr>
          <a:xfrm>
            <a:off x="324000" y="1092072"/>
            <a:ext cx="8496000" cy="90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subject of an equation/a formula is a variable that is expressed in terms of other variables. It should have an exponent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and a coefficient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9" name="Google Shape;1509;p127"/>
          <p:cNvSpPr txBox="1"/>
          <p:nvPr>
            <p:ph type="subTitle" idx="1"/>
          </p:nvPr>
        </p:nvSpPr>
        <p:spPr>
          <a:xfrm>
            <a:off x="324000" y="3172475"/>
            <a:ext cx="6042300" cy="4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but,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is not the subject of this formula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10" name="Google Shape;1510;p127" descr="&lt;math xmlns=&quot;http://www.w3.org/1998/Math/MathML&quot; display=&quot;block&quot; data-is-equatio=&quot;1&quot; data-latex=&quot;a^2=c^2-b^2&quot;&gt;&lt;msup&gt;&lt;mi&gt;a&lt;/mi&gt;&lt;mn&gt;2&lt;/mn&gt;&lt;/msup&gt;&lt;mo&gt;=&lt;/mo&gt;&lt;msup&gt;&lt;mi&gt;c&lt;/mi&gt;&lt;mn&gt;2&lt;/mn&gt;&lt;/msup&gt;&lt;mo&gt;−&lt;/mo&gt;&lt;msup&gt;&lt;mi&gt;b&lt;/mi&gt;&lt;mn&gt;2&lt;/mn&gt;&lt;/msup&gt;&lt;/math&gt;" title="a squared equals c squared minus b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7906" y="3171575"/>
            <a:ext cx="1549157" cy="28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127" descr="&lt;math xmlns=&quot;http://www.w3.org/1998/Math/MathML&quot; display=&quot;block&quot; data-is-equatio=&quot;1&quot; data-latex=&quot;a=\sqrt{c^2-b^2}&quot;&gt;&lt;mi&gt;a&lt;/mi&gt;&lt;mo&gt;=&lt;/mo&gt;&lt;msqrt&gt;&lt;msup&gt;&lt;mi&gt;c&lt;/mi&gt;&lt;mn&gt;2&lt;/mn&gt;&lt;/msup&gt;&lt;mo&gt;−&lt;/mo&gt;&lt;msup&gt;&lt;mi&gt;b&lt;/mi&gt;&lt;mn&gt;2&lt;/mn&gt;&lt;/msup&gt;&lt;/msqrt&gt;&lt;/math&gt;" title="a equals the square root of c squared minus b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3151" y="2521901"/>
            <a:ext cx="1656880" cy="374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p1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517" name="Google Shape;1517;p12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sp>
        <p:nvSpPr>
          <p:cNvPr id="1518" name="Google Shape;1518;p128"/>
          <p:cNvSpPr txBox="1"/>
          <p:nvPr>
            <p:ph type="title" idx="3"/>
          </p:nvPr>
        </p:nvSpPr>
        <p:spPr>
          <a:xfrm>
            <a:off x="324000" y="657600"/>
            <a:ext cx="82413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expressions with and without changing the subject.</a:t>
            </a:r>
            <a:endParaRPr/>
          </a:p>
        </p:txBody>
      </p:sp>
      <p:pic>
        <p:nvPicPr>
          <p:cNvPr id="1519" name="Google Shape;1519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06150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3" name="Shape 1523"/>
        <p:cNvGrpSpPr/>
        <p:nvPr/>
      </p:nvGrpSpPr>
      <p:grpSpPr>
        <a:xfrm>
          <a:off x="0" y="0"/>
          <a:ext cx="0" cy="0"/>
        </a:xfrm>
      </p:grpSpPr>
      <p:pic>
        <p:nvPicPr>
          <p:cNvPr id="1524" name="Google Shape;1524;p129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571515" y="2172875"/>
            <a:ext cx="3340124" cy="17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129"/>
          <p:cNvSpPr txBox="1"/>
          <p:nvPr>
            <p:ph type="body" idx="1"/>
          </p:nvPr>
        </p:nvSpPr>
        <p:spPr>
          <a:xfrm>
            <a:off x="324000" y="759300"/>
            <a:ext cx="82377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and Sam are studying geometry.</a:t>
            </a:r>
            <a:endParaRPr/>
          </a:p>
        </p:txBody>
      </p:sp>
      <p:sp>
        <p:nvSpPr>
          <p:cNvPr id="1526" name="Google Shape;1526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pic>
        <p:nvPicPr>
          <p:cNvPr id="1527" name="Google Shape;1527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07418" y="3783163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1556" y="3801063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129"/>
          <p:cNvSpPr txBox="1"/>
          <p:nvPr/>
        </p:nvSpPr>
        <p:spPr>
          <a:xfrm>
            <a:off x="5968881" y="1482630"/>
            <a:ext cx="558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 cm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129"/>
          <p:cNvSpPr txBox="1"/>
          <p:nvPr/>
        </p:nvSpPr>
        <p:spPr>
          <a:xfrm>
            <a:off x="6822907" y="2471593"/>
            <a:ext cx="599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1" name="Google Shape;1531;p129"/>
          <p:cNvCxnSpPr/>
          <p:nvPr/>
        </p:nvCxnSpPr>
        <p:spPr>
          <a:xfrm flipH="1">
            <a:off x="6485672" y="957970"/>
            <a:ext cx="0" cy="13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32" name="Google Shape;1532;p129"/>
          <p:cNvCxnSpPr/>
          <p:nvPr/>
        </p:nvCxnSpPr>
        <p:spPr>
          <a:xfrm flipH="1">
            <a:off x="6602514" y="2435076"/>
            <a:ext cx="972600" cy="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33" name="Google Shape;1533;p129"/>
          <p:cNvSpPr/>
          <p:nvPr/>
        </p:nvSpPr>
        <p:spPr>
          <a:xfrm>
            <a:off x="6614137" y="969262"/>
            <a:ext cx="938100" cy="1342800"/>
          </a:xfrm>
          <a:prstGeom prst="rtTriangl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4" name="Google Shape;1534;p129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0480" y="2971500"/>
            <a:ext cx="972600" cy="53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129"/>
          <p:cNvSpPr txBox="1"/>
          <p:nvPr/>
        </p:nvSpPr>
        <p:spPr>
          <a:xfrm>
            <a:off x="821950" y="2255950"/>
            <a:ext cx="30480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use this formula to work out the area.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6" name="Google Shape;1536;p129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129200" y="3310487"/>
            <a:ext cx="2518477" cy="71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129"/>
          <p:cNvSpPr txBox="1"/>
          <p:nvPr/>
        </p:nvSpPr>
        <p:spPr>
          <a:xfrm>
            <a:off x="5234400" y="3412450"/>
            <a:ext cx="22095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area is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9 cm</a:t>
            </a:r>
            <a:r>
              <a:rPr lang="en-GB" sz="2200" i="1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8" name="Google Shape;1538;p129" title="A equals one half times 3 times 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80742" y="1970204"/>
            <a:ext cx="1482419" cy="516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129" descr="&lt;math xmlns=&quot;http://www.w3.org/1998/Math/MathML&quot; display=&quot;block&quot; data-is-equatio=&quot;1&quot; data-latex=&quot;A=\frac{1}{2}\times18&quot;&gt;&lt;mi&gt;A&lt;/mi&gt;&lt;mo&gt;=&lt;/mo&gt;&lt;mfrac&gt;&lt;mn&gt;1&lt;/mn&gt;&lt;mn&gt;2&lt;/mn&gt;&lt;/mfrac&gt;&lt;mo&gt;×&lt;/mo&gt;&lt;mn&gt;18&lt;/mn&gt;&lt;/math&gt;" title="A equals one half times 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79488" y="2713752"/>
            <a:ext cx="1207058" cy="516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29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3640" y="1249073"/>
            <a:ext cx="972600" cy="53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4" name="Shape 1544"/>
        <p:cNvGrpSpPr/>
        <p:nvPr/>
      </p:nvGrpSpPr>
      <p:grpSpPr>
        <a:xfrm>
          <a:off x="0" y="0"/>
          <a:ext cx="0" cy="0"/>
        </a:xfrm>
      </p:grpSpPr>
      <p:pic>
        <p:nvPicPr>
          <p:cNvPr id="1545" name="Google Shape;1545;p13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4074750" y="2992975"/>
            <a:ext cx="3688428" cy="134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3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711224" y="2901625"/>
            <a:ext cx="2949827" cy="9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30"/>
          <p:cNvSpPr txBox="1"/>
          <p:nvPr>
            <p:ph type="body" idx="1"/>
          </p:nvPr>
        </p:nvSpPr>
        <p:spPr>
          <a:xfrm>
            <a:off x="324000" y="759300"/>
            <a:ext cx="6498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Working backwards is where pupils frequently make mistakes with formula.</a:t>
            </a:r>
            <a:endParaRPr/>
          </a:p>
        </p:txBody>
      </p:sp>
      <p:sp>
        <p:nvSpPr>
          <p:cNvPr id="1548" name="Google Shape;1548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pic>
        <p:nvPicPr>
          <p:cNvPr id="1549" name="Google Shape;1549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07418" y="3783163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1556" y="3801063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130"/>
          <p:cNvSpPr txBox="1"/>
          <p:nvPr/>
        </p:nvSpPr>
        <p:spPr>
          <a:xfrm>
            <a:off x="8224708" y="1635030"/>
            <a:ext cx="558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 cm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130"/>
          <p:cNvSpPr txBox="1"/>
          <p:nvPr/>
        </p:nvSpPr>
        <p:spPr>
          <a:xfrm>
            <a:off x="6899105" y="2624000"/>
            <a:ext cx="1866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3" name="Google Shape;1553;p130"/>
          <p:cNvCxnSpPr/>
          <p:nvPr/>
        </p:nvCxnSpPr>
        <p:spPr>
          <a:xfrm flipH="1">
            <a:off x="8131899" y="1110370"/>
            <a:ext cx="0" cy="13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54" name="Google Shape;1554;p130"/>
          <p:cNvCxnSpPr/>
          <p:nvPr/>
        </p:nvCxnSpPr>
        <p:spPr>
          <a:xfrm flipH="1">
            <a:off x="5814050" y="2572282"/>
            <a:ext cx="2173200" cy="1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55" name="Google Shape;1555;p130"/>
          <p:cNvSpPr/>
          <p:nvPr/>
        </p:nvSpPr>
        <p:spPr>
          <a:xfrm flipH="1">
            <a:off x="5789277" y="1121650"/>
            <a:ext cx="2209500" cy="1342800"/>
          </a:xfrm>
          <a:prstGeom prst="rtTriangl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30"/>
          <p:cNvSpPr txBox="1"/>
          <p:nvPr/>
        </p:nvSpPr>
        <p:spPr>
          <a:xfrm>
            <a:off x="974350" y="2941750"/>
            <a:ext cx="2699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think we start with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÷ 6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7" name="Google Shape;1557;p130"/>
          <p:cNvSpPr txBox="1"/>
          <p:nvPr/>
        </p:nvSpPr>
        <p:spPr>
          <a:xfrm>
            <a:off x="4167600" y="3031450"/>
            <a:ext cx="33162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Yes. Then it’s something to do with ‘halving’ so I think the base is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2.5 cm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8" name="Google Shape;1558;p130"/>
          <p:cNvSpPr txBox="1"/>
          <p:nvPr/>
        </p:nvSpPr>
        <p:spPr>
          <a:xfrm>
            <a:off x="6606000" y="1964650"/>
            <a:ext cx="1371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A = 30 cm</a:t>
            </a:r>
            <a:r>
              <a:rPr lang="en-GB" sz="22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9" name="Google Shape;1559;p130"/>
          <p:cNvSpPr txBox="1"/>
          <p:nvPr>
            <p:ph type="body" idx="1"/>
          </p:nvPr>
        </p:nvSpPr>
        <p:spPr>
          <a:xfrm>
            <a:off x="324000" y="1627673"/>
            <a:ext cx="54504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area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 cm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, the height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cm</a:t>
            </a:r>
            <a:r>
              <a:rPr lang="en-GB"/>
              <a:t>. Find the base.</a:t>
            </a:r>
            <a:endParaRPr/>
          </a:p>
        </p:txBody>
      </p:sp>
      <p:pic>
        <p:nvPicPr>
          <p:cNvPr id="1560" name="Google Shape;1560;p130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8440" y="1249073"/>
            <a:ext cx="972600" cy="53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130"/>
          <p:cNvSpPr txBox="1"/>
          <p:nvPr>
            <p:ph type="body" idx="1"/>
          </p:nvPr>
        </p:nvSpPr>
        <p:spPr>
          <a:xfrm>
            <a:off x="1517800" y="4421674"/>
            <a:ext cx="54504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Do you agree with Andeep and Sam?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5" name="Shape 1565"/>
        <p:cNvGrpSpPr/>
        <p:nvPr/>
      </p:nvGrpSpPr>
      <p:grpSpPr>
        <a:xfrm>
          <a:off x="0" y="0"/>
          <a:ext cx="0" cy="0"/>
        </a:xfrm>
      </p:grpSpPr>
      <p:pic>
        <p:nvPicPr>
          <p:cNvPr id="1566" name="Google Shape;1566;p13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4074750" y="2992975"/>
            <a:ext cx="3688428" cy="134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3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685823" y="3118425"/>
            <a:ext cx="2949827" cy="72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pic>
        <p:nvPicPr>
          <p:cNvPr id="1569" name="Google Shape;1569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07418" y="3783163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1556" y="3801063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131"/>
          <p:cNvSpPr txBox="1"/>
          <p:nvPr/>
        </p:nvSpPr>
        <p:spPr>
          <a:xfrm>
            <a:off x="8224708" y="1635030"/>
            <a:ext cx="558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 cm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2" name="Google Shape;1572;p131"/>
          <p:cNvSpPr txBox="1"/>
          <p:nvPr/>
        </p:nvSpPr>
        <p:spPr>
          <a:xfrm>
            <a:off x="6899105" y="2624000"/>
            <a:ext cx="1866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3" name="Google Shape;1573;p131"/>
          <p:cNvCxnSpPr/>
          <p:nvPr/>
        </p:nvCxnSpPr>
        <p:spPr>
          <a:xfrm flipH="1">
            <a:off x="8131899" y="1110370"/>
            <a:ext cx="0" cy="13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74" name="Google Shape;1574;p131"/>
          <p:cNvCxnSpPr/>
          <p:nvPr/>
        </p:nvCxnSpPr>
        <p:spPr>
          <a:xfrm flipH="1">
            <a:off x="5814050" y="2572282"/>
            <a:ext cx="2173200" cy="1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75" name="Google Shape;1575;p131"/>
          <p:cNvSpPr/>
          <p:nvPr/>
        </p:nvSpPr>
        <p:spPr>
          <a:xfrm flipH="1">
            <a:off x="5789277" y="1121650"/>
            <a:ext cx="2209500" cy="1342800"/>
          </a:xfrm>
          <a:prstGeom prst="rtTriangl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31"/>
          <p:cNvSpPr txBox="1"/>
          <p:nvPr/>
        </p:nvSpPr>
        <p:spPr>
          <a:xfrm>
            <a:off x="974350" y="3240000"/>
            <a:ext cx="24834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I’ll test our answer.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7" name="Google Shape;1577;p131"/>
          <p:cNvSpPr txBox="1"/>
          <p:nvPr/>
        </p:nvSpPr>
        <p:spPr>
          <a:xfrm>
            <a:off x="4167600" y="3031450"/>
            <a:ext cx="33162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Yes. Then it’s something to do with ‘halving’ so I think the base is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2.5 cm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8" name="Google Shape;1578;p131"/>
          <p:cNvSpPr txBox="1"/>
          <p:nvPr/>
        </p:nvSpPr>
        <p:spPr>
          <a:xfrm>
            <a:off x="6606000" y="1964650"/>
            <a:ext cx="1371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A = 30 cm</a:t>
            </a:r>
            <a:r>
              <a:rPr lang="en-GB" sz="22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9" name="Google Shape;1579;p131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8440" y="1249073"/>
            <a:ext cx="972600" cy="53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0" name="Google Shape;1580;p131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0440" y="817273"/>
            <a:ext cx="972600" cy="53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1" name="Google Shape;1581;p131" descr="&lt;math xmlns=&quot;http://www.w3.org/1998/Math/MathML&quot; display=&quot;block&quot; data-is-equatio=&quot;1&quot; data-latex=&quot;A=\frac{1}{2}\times2.5\times6&quot;&gt;&lt;mi&gt;A&lt;/mi&gt;&lt;mo&gt;=&lt;/mo&gt;&lt;mfrac&gt;&lt;mn&gt;1&lt;/mn&gt;&lt;mn&gt;2&lt;/mn&gt;&lt;/mfrac&gt;&lt;mo&gt;×&lt;/mo&gt;&lt;mn&gt;2.5&lt;/mn&gt;&lt;mo&gt;×&lt;/mo&gt;&lt;mn&gt;6&lt;/mn&gt;&lt;/math&gt;" title="A equals one half times 2.5 times 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35100" y="1533050"/>
            <a:ext cx="1582149" cy="489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131" descr="&lt;math xmlns=&quot;http://www.w3.org/1998/Math/MathML&quot; display=&quot;block&quot; data-is-equatio=&quot;1&quot; data-latex=&quot;A=\frac{1}{2}\times15&quot;&gt;&lt;mi&gt;A&lt;/mi&gt;&lt;mo&gt;=&lt;/mo&gt;&lt;mfrac&gt;&lt;mn&gt;1&lt;/mn&gt;&lt;mn&gt;2&lt;/mn&gt;&lt;/mfrac&gt;&lt;mo&gt;×&lt;/mo&gt;&lt;mn&gt;15&lt;/mn&gt;&lt;/math&gt;" title="A equals one half times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55804" y="2195658"/>
            <a:ext cx="1139290" cy="48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31"/>
          <p:cNvSpPr txBox="1"/>
          <p:nvPr/>
        </p:nvSpPr>
        <p:spPr>
          <a:xfrm>
            <a:off x="2910300" y="2294850"/>
            <a:ext cx="1139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7.5 cm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4" name="Google Shape;1584;p13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1206523" y="3889225"/>
            <a:ext cx="2771927" cy="53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31"/>
          <p:cNvSpPr txBox="1"/>
          <p:nvPr/>
        </p:nvSpPr>
        <p:spPr>
          <a:xfrm>
            <a:off x="1431550" y="3925800"/>
            <a:ext cx="24834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cannot be right!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9" name="Shape 1589"/>
        <p:cNvGrpSpPr/>
        <p:nvPr/>
      </p:nvGrpSpPr>
      <p:grpSpPr>
        <a:xfrm>
          <a:off x="0" y="0"/>
          <a:ext cx="0" cy="0"/>
        </a:xfrm>
      </p:grpSpPr>
      <p:sp>
        <p:nvSpPr>
          <p:cNvPr id="1590" name="Google Shape;1590;p132"/>
          <p:cNvSpPr txBox="1"/>
          <p:nvPr>
            <p:ph type="body" idx="1"/>
          </p:nvPr>
        </p:nvSpPr>
        <p:spPr>
          <a:xfrm>
            <a:off x="324000" y="759300"/>
            <a:ext cx="54504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reason the area was easy to find in the first problem we saw was because area was the subject of the formula.</a:t>
            </a:r>
            <a:endParaRPr/>
          </a:p>
        </p:txBody>
      </p:sp>
      <p:sp>
        <p:nvSpPr>
          <p:cNvPr id="1591" name="Google Shape;1591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592" name="Google Shape;1592;p132"/>
          <p:cNvSpPr txBox="1"/>
          <p:nvPr/>
        </p:nvSpPr>
        <p:spPr>
          <a:xfrm>
            <a:off x="5968881" y="1482630"/>
            <a:ext cx="558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 cm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3" name="Google Shape;1593;p132"/>
          <p:cNvSpPr txBox="1"/>
          <p:nvPr/>
        </p:nvSpPr>
        <p:spPr>
          <a:xfrm>
            <a:off x="6822907" y="2471593"/>
            <a:ext cx="599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4" name="Google Shape;1594;p132"/>
          <p:cNvCxnSpPr/>
          <p:nvPr/>
        </p:nvCxnSpPr>
        <p:spPr>
          <a:xfrm flipH="1">
            <a:off x="6485672" y="957970"/>
            <a:ext cx="0" cy="13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95" name="Google Shape;1595;p132"/>
          <p:cNvCxnSpPr/>
          <p:nvPr/>
        </p:nvCxnSpPr>
        <p:spPr>
          <a:xfrm flipH="1">
            <a:off x="6602514" y="2435076"/>
            <a:ext cx="972600" cy="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96" name="Google Shape;1596;p132"/>
          <p:cNvSpPr/>
          <p:nvPr/>
        </p:nvSpPr>
        <p:spPr>
          <a:xfrm>
            <a:off x="6614137" y="969262"/>
            <a:ext cx="938100" cy="1342800"/>
          </a:xfrm>
          <a:prstGeom prst="rtTriangl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7" name="Google Shape;1597;p132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552" y="2163475"/>
            <a:ext cx="111058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132"/>
          <p:cNvSpPr txBox="1"/>
          <p:nvPr>
            <p:ph type="body" idx="1"/>
          </p:nvPr>
        </p:nvSpPr>
        <p:spPr>
          <a:xfrm>
            <a:off x="324000" y="3185000"/>
            <a:ext cx="72282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the unknown we are trying to work out is the subject of the formulae we can work more efficiently.</a:t>
            </a:r>
            <a:endParaRPr/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2" name="Shape 1602"/>
        <p:cNvGrpSpPr/>
        <p:nvPr/>
      </p:nvGrpSpPr>
      <p:grpSpPr>
        <a:xfrm>
          <a:off x="0" y="0"/>
          <a:ext cx="0" cy="0"/>
        </a:xfrm>
      </p:grpSpPr>
      <p:sp>
        <p:nvSpPr>
          <p:cNvPr id="1603" name="Google Shape;1603;p133"/>
          <p:cNvSpPr txBox="1"/>
          <p:nvPr>
            <p:ph type="body" idx="1"/>
          </p:nvPr>
        </p:nvSpPr>
        <p:spPr>
          <a:xfrm>
            <a:off x="324000" y="759300"/>
            <a:ext cx="71352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Making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the subject of the formula can make Andeep and Sam’s problem more straightforward.</a:t>
            </a:r>
            <a:endParaRPr/>
          </a:p>
        </p:txBody>
      </p:sp>
      <p:sp>
        <p:nvSpPr>
          <p:cNvPr id="1604" name="Google Shape;1604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pic>
        <p:nvPicPr>
          <p:cNvPr id="1605" name="Google Shape;1605;p133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552" y="1630075"/>
            <a:ext cx="111058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6" name="Google Shape;1606;p133" descr="&lt;math xmlns=&quot;http://www.w3.org/1998/Math/MathML&quot; display=&quot;block&quot; data-is-equatio=&quot;1&quot; data-latex=&quot;2\times A=2\times\frac{1}{2}bh&quot;&gt;&lt;mn&gt;2&lt;/mn&gt;&lt;mo&gt;×&lt;/mo&gt;&lt;mi&gt;A&lt;/mi&gt;&lt;mo&gt;=&lt;/mo&gt;&lt;mn&gt;2&lt;/mn&gt;&lt;mo&gt;×&lt;/mo&gt;&lt;mfrac&gt;&lt;mn&gt;1&lt;/mn&gt;&lt;mn&gt;2&lt;/mn&gt;&lt;/mfrac&gt;&lt;mi&gt;b&lt;/mi&gt;&lt;mi&gt;h&lt;/mi&gt;&lt;/math&gt;" title="2 times A equals 2 times one half b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600" y="2463065"/>
            <a:ext cx="2040008" cy="60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133" descr="&lt;math xmlns=&quot;http://www.w3.org/1998/Math/MathML&quot; display=&quot;block&quot; data-is-equatio=&quot;1&quot; data-latex=&quot;2A=bh&quot;&gt;&lt;mn&gt;2&lt;/mn&gt;&lt;mi&gt;A&lt;/mi&gt;&lt;mo&gt;=&lt;/mo&gt;&lt;mi&gt;b&lt;/mi&gt;&lt;mi&gt;h&lt;/mi&gt;&lt;/math&gt;" title="2 A equals b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0950" y="3423400"/>
            <a:ext cx="960000" cy="196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8" name="Google Shape;1608;p133" descr="&lt;math xmlns=&quot;http://www.w3.org/1998/Math/MathML&quot; display=&quot;block&quot; data-is-equatio=&quot;1&quot; data-latex=&quot;\frac{2A}{h}=b&quot;&gt;&lt;mfrac&gt;&lt;mrow&gt;&lt;mn&gt;2&lt;/mn&gt;&lt;mi&gt;A&lt;/mi&gt;&lt;/mrow&gt;&lt;mi&gt;h&lt;/mi&gt;&lt;/mfrac&gt;&lt;mo&gt;=&lt;/mo&gt;&lt;mi&gt;b&lt;/mi&gt;&lt;/math&gt;" title="2 A over h equals 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9350" y="4010205"/>
            <a:ext cx="932732" cy="60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2" name="Shape 1612"/>
        <p:cNvGrpSpPr/>
        <p:nvPr/>
      </p:nvGrpSpPr>
      <p:grpSpPr>
        <a:xfrm>
          <a:off x="0" y="0"/>
          <a:ext cx="0" cy="0"/>
        </a:xfrm>
      </p:grpSpPr>
      <p:sp>
        <p:nvSpPr>
          <p:cNvPr id="1613" name="Google Shape;1613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pic>
        <p:nvPicPr>
          <p:cNvPr id="1614" name="Google Shape;1614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595912" y="3794670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1556" y="33208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134"/>
          <p:cNvSpPr txBox="1"/>
          <p:nvPr/>
        </p:nvSpPr>
        <p:spPr>
          <a:xfrm>
            <a:off x="8224708" y="1635030"/>
            <a:ext cx="558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 cm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7" name="Google Shape;1617;p134"/>
          <p:cNvSpPr txBox="1"/>
          <p:nvPr/>
        </p:nvSpPr>
        <p:spPr>
          <a:xfrm>
            <a:off x="6899105" y="2624000"/>
            <a:ext cx="1866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8" name="Google Shape;1618;p134"/>
          <p:cNvCxnSpPr/>
          <p:nvPr/>
        </p:nvCxnSpPr>
        <p:spPr>
          <a:xfrm flipH="1">
            <a:off x="8131899" y="1110370"/>
            <a:ext cx="0" cy="13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19" name="Google Shape;1619;p134"/>
          <p:cNvCxnSpPr/>
          <p:nvPr/>
        </p:nvCxnSpPr>
        <p:spPr>
          <a:xfrm flipH="1">
            <a:off x="5814050" y="2572282"/>
            <a:ext cx="2173200" cy="1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20" name="Google Shape;1620;p134"/>
          <p:cNvSpPr/>
          <p:nvPr/>
        </p:nvSpPr>
        <p:spPr>
          <a:xfrm flipH="1">
            <a:off x="5789277" y="1121650"/>
            <a:ext cx="2209500" cy="1342800"/>
          </a:xfrm>
          <a:prstGeom prst="rtTriangl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34"/>
          <p:cNvSpPr txBox="1"/>
          <p:nvPr/>
        </p:nvSpPr>
        <p:spPr>
          <a:xfrm>
            <a:off x="6606000" y="1964650"/>
            <a:ext cx="1371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A = 30 cm</a:t>
            </a:r>
            <a:r>
              <a:rPr lang="en-GB" sz="22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2" name="Google Shape;1622;p134"/>
          <p:cNvSpPr txBox="1"/>
          <p:nvPr>
            <p:ph type="body" idx="1"/>
          </p:nvPr>
        </p:nvSpPr>
        <p:spPr>
          <a:xfrm>
            <a:off x="324000" y="759300"/>
            <a:ext cx="54504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area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 cm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, the height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cm</a:t>
            </a:r>
            <a:r>
              <a:rPr lang="en-GB"/>
              <a:t>. Find the base.</a:t>
            </a:r>
            <a:endParaRPr/>
          </a:p>
        </p:txBody>
      </p:sp>
      <p:pic>
        <p:nvPicPr>
          <p:cNvPr id="1623" name="Google Shape;1623;p134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8440" y="1249073"/>
            <a:ext cx="972600" cy="53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134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327074" y="1727180"/>
            <a:ext cx="4565151" cy="1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34"/>
          <p:cNvSpPr txBox="1"/>
          <p:nvPr/>
        </p:nvSpPr>
        <p:spPr>
          <a:xfrm>
            <a:off x="669550" y="1775737"/>
            <a:ext cx="41379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use this arrangement of the formula to work out the base.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6" name="Google Shape;1626;p134" descr="&lt;math xmlns=&quot;http://www.w3.org/1998/Math/MathML&quot; display=&quot;block&quot; data-is-equatio=&quot;1&quot; data-latex=&quot;\frac{2A}{h}=b&quot;&gt;&lt;mfrac&gt;&lt;mrow&gt;&lt;mn&gt;2&lt;/mn&gt;&lt;mi&gt;A&lt;/mi&gt;&lt;/mrow&gt;&lt;mi&gt;h&lt;/mi&gt;&lt;/mfrac&gt;&lt;mo&gt;=&lt;/mo&gt;&lt;mi&gt;b&lt;/mi&gt;&lt;/math&gt;" title="2 A over h equals b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52830" y="2463192"/>
            <a:ext cx="932732" cy="60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7" name="Google Shape;1627;p134" descr="&lt;math xmlns=&quot;http://www.w3.org/1998/Math/MathML&quot; display=&quot;block&quot; data-is-equatio=&quot;1&quot; data-latex=&quot;\frac{60}{6}=b&quot;&gt;&lt;mfrac&gt;&lt;mn&gt;60&lt;/mn&gt;&lt;mn&gt;6&lt;/mn&gt;&lt;/mfrac&gt;&lt;mo&gt;=&lt;/mo&gt;&lt;mi&gt;b&lt;/mi&gt;&lt;/math&gt;" title="60 over 6 equals b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6672" y="4190686"/>
            <a:ext cx="86799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8" name="Google Shape;1628;p134" descr="&lt;math xmlns=&quot;http://www.w3.org/1998/Math/MathML&quot; display=&quot;block&quot; data-is-equatio=&quot;1&quot; data-latex=&quot;\frac{2\times\left(30\right)}{\left(6\right)}=b&quot;&gt;&lt;mfrac&gt;&lt;mrow&gt;&lt;mn&gt;2&lt;/mn&gt;&lt;mo&gt;×&lt;/mo&gt;&lt;mrow data-mjx-texclass=&quot;INNER&quot;&gt;&lt;mo data-mjx-texclass=&quot;OPEN&quot;&gt;(&lt;/mo&gt;&lt;mn&gt;30&lt;/mn&gt;&lt;mo data-mjx-texclass=&quot;CLOSE&quot;&gt;)&lt;/mo&gt;&lt;/mrow&gt;&lt;/mrow&gt;&lt;mrow data-mjx-texclass=&quot;INNER&quot;&gt;&lt;mo data-mjx-texclass=&quot;OPEN&quot;&gt;(&lt;/mo&gt;&lt;mn&gt;6&lt;/mn&gt;&lt;mo data-mjx-texclass=&quot;CLOSE&quot;&gt;)&lt;/mo&gt;&lt;/mrow&gt;&lt;/mfrac&gt;&lt;mo&gt;=&lt;/mo&gt;&lt;mi&gt;b&lt;/mi&gt;&lt;/math&gt;" title="the fraction with numerator 2 times 30 and denominator 6 equals b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17838" y="3357787"/>
            <a:ext cx="1444480" cy="6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9" name="Google Shape;1629;p134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>
            <a:off x="3835382" y="3234275"/>
            <a:ext cx="3783552" cy="1342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134"/>
          <p:cNvSpPr txBox="1"/>
          <p:nvPr/>
        </p:nvSpPr>
        <p:spPr>
          <a:xfrm>
            <a:off x="3939000" y="3260050"/>
            <a:ext cx="34170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base is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 cm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was much easier after rearranging the formula!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4" name="Shape 1634"/>
        <p:cNvGrpSpPr/>
        <p:nvPr/>
      </p:nvGrpSpPr>
      <p:grpSpPr>
        <a:xfrm>
          <a:off x="0" y="0"/>
          <a:ext cx="0" cy="0"/>
        </a:xfrm>
      </p:grpSpPr>
      <p:sp>
        <p:nvSpPr>
          <p:cNvPr id="1635" name="Google Shape;1635;p135"/>
          <p:cNvSpPr txBox="1"/>
          <p:nvPr>
            <p:ph type="body" idx="1"/>
          </p:nvPr>
        </p:nvSpPr>
        <p:spPr>
          <a:xfrm>
            <a:off x="324000" y="1345875"/>
            <a:ext cx="5616600" cy="7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Rearrange the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/>
              <a:t> the subject, then evaluate to find the height.</a:t>
            </a:r>
            <a:endParaRPr/>
          </a:p>
        </p:txBody>
      </p:sp>
      <p:pic>
        <p:nvPicPr>
          <p:cNvPr id="1636" name="Google Shape;1636;p135" descr="&lt;math xmlns=&quot;http://www.w3.org/1998/Math/MathML&quot; display=&quot;block&quot; data-is-equatio=&quot;1&quot; data-latex=&quot;\frac{2A}{b}=h&quot;&gt;&lt;mfrac&gt;&lt;mrow&gt;&lt;mn&gt;2&lt;/mn&gt;&lt;mi&gt;A&lt;/mi&gt;&lt;/mrow&gt;&lt;mi&gt;b&lt;/mi&gt;&lt;/mfrac&gt;&lt;mo&gt;=&lt;/mo&gt;&lt;mi&gt;h&lt;/mi&gt;&lt;/math&gt;" title="2 A over b equal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696" y="4211372"/>
            <a:ext cx="932725" cy="60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7" name="Google Shape;1637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638" name="Google Shape;1638;p135"/>
          <p:cNvSpPr txBox="1"/>
          <p:nvPr/>
        </p:nvSpPr>
        <p:spPr>
          <a:xfrm>
            <a:off x="8670398" y="1886638"/>
            <a:ext cx="22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9" name="Google Shape;1639;p135"/>
          <p:cNvSpPr txBox="1"/>
          <p:nvPr/>
        </p:nvSpPr>
        <p:spPr>
          <a:xfrm>
            <a:off x="7227108" y="2600987"/>
            <a:ext cx="558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cm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0" name="Google Shape;1640;p135"/>
          <p:cNvCxnSpPr/>
          <p:nvPr/>
        </p:nvCxnSpPr>
        <p:spPr>
          <a:xfrm flipH="1">
            <a:off x="8589100" y="1490649"/>
            <a:ext cx="0" cy="99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41" name="Google Shape;1641;p135"/>
          <p:cNvCxnSpPr/>
          <p:nvPr/>
        </p:nvCxnSpPr>
        <p:spPr>
          <a:xfrm flipH="1">
            <a:off x="6271250" y="2572282"/>
            <a:ext cx="2173200" cy="1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42" name="Google Shape;1642;p135"/>
          <p:cNvSpPr/>
          <p:nvPr/>
        </p:nvSpPr>
        <p:spPr>
          <a:xfrm flipH="1">
            <a:off x="6246478" y="1498813"/>
            <a:ext cx="2209500" cy="972000"/>
          </a:xfrm>
          <a:prstGeom prst="rtTriangl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5"/>
          <p:cNvSpPr txBox="1"/>
          <p:nvPr/>
        </p:nvSpPr>
        <p:spPr>
          <a:xfrm>
            <a:off x="7063200" y="2117050"/>
            <a:ext cx="1371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A = 10 cm</a:t>
            </a:r>
            <a:r>
              <a:rPr lang="en-GB" sz="22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4" name="Google Shape;1644;p135"/>
          <p:cNvSpPr txBox="1"/>
          <p:nvPr>
            <p:ph type="body" idx="1"/>
          </p:nvPr>
        </p:nvSpPr>
        <p:spPr>
          <a:xfrm>
            <a:off x="324000" y="759300"/>
            <a:ext cx="8237700" cy="38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area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cm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, the base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cm</a:t>
            </a:r>
            <a:r>
              <a:rPr lang="en-GB"/>
              <a:t>. Find the height.</a:t>
            </a:r>
            <a:endParaRPr/>
          </a:p>
        </p:txBody>
      </p:sp>
      <p:pic>
        <p:nvPicPr>
          <p:cNvPr id="1645" name="Google Shape;1645;p135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1306" y="2205153"/>
            <a:ext cx="972600" cy="53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135" descr="&lt;math xmlns=&quot;http://www.w3.org/1998/Math/MathML&quot; display=&quot;block&quot; data-is-equatio=&quot;1&quot; data-latex=&quot;2\times A=2\times\frac{1}{2}bh&quot;&gt;&lt;mn&gt;2&lt;/mn&gt;&lt;mo&gt;×&lt;/mo&gt;&lt;mi&gt;A&lt;/mi&gt;&lt;mo&gt;=&lt;/mo&gt;&lt;mn&gt;2&lt;/mn&gt;&lt;mo&gt;×&lt;/mo&gt;&lt;mfrac&gt;&lt;mn&gt;1&lt;/mn&gt;&lt;mn&gt;2&lt;/mn&gt;&lt;/mfrac&gt;&lt;mi&gt;b&lt;/mi&gt;&lt;mi&gt;h&lt;/mi&gt;&lt;/math&gt;" title="2 times A equals 2 times one half b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987" y="2885745"/>
            <a:ext cx="2040008" cy="60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135" descr="&lt;math xmlns=&quot;http://www.w3.org/1998/Math/MathML&quot; display=&quot;block&quot; data-is-equatio=&quot;1&quot; data-latex=&quot;2A=bh&quot;&gt;&lt;mn&gt;2&lt;/mn&gt;&lt;mi&gt;A&lt;/mi&gt;&lt;mo&gt;=&lt;/mo&gt;&lt;mi&gt;b&lt;/mi&gt;&lt;mi&gt;h&lt;/mi&gt;&lt;/math&gt;" title="2 A equals b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4337" y="3716693"/>
            <a:ext cx="960000" cy="196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p135" descr="&lt;math xmlns=&quot;http://www.w3.org/1998/Math/MathML&quot; display=&quot;block&quot; data-is-equatio=&quot;1&quot; data-latex=&quot;\frac{2\left(10\right)}{8}=h&quot;&gt;&lt;mfrac&gt;&lt;mrow&gt;&lt;mn&gt;2&lt;/mn&gt;&lt;mrow data-mjx-texclass=&quot;INNER&quot;&gt;&lt;mo data-mjx-texclass=&quot;OPEN&quot;&gt;(&lt;/mo&gt;&lt;mn&gt;10&lt;/mn&gt;&lt;mo data-mjx-texclass=&quot;CLOSE&quot;&gt;)&lt;/mo&gt;&lt;/mrow&gt;&lt;/mrow&gt;&lt;mn&gt;8&lt;/mn&gt;&lt;/mfrac&gt;&lt;mo&gt;=&lt;/mo&gt;&lt;mi&gt;h&lt;/mi&gt;&lt;/math&gt;" title="2 times 10 over 8 equals 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5681" y="2696082"/>
            <a:ext cx="1180015" cy="576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135" descr="&lt;math xmlns=&quot;http://www.w3.org/1998/Math/MathML&quot; display=&quot;block&quot; data-is-equatio=&quot;1&quot; data-latex=&quot;\frac{20}{8}=h&quot;&gt;&lt;mfrac&gt;&lt;mn&gt;20&lt;/mn&gt;&lt;mn&gt;8&lt;/mn&gt;&lt;/mfrac&gt;&lt;mo&gt;=&lt;/mo&gt;&lt;mi&gt;h&lt;/mi&gt;&lt;/math&gt;" title="20 over 8 equals 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8483" y="3370375"/>
            <a:ext cx="796010" cy="556003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p135"/>
          <p:cNvSpPr txBox="1"/>
          <p:nvPr/>
        </p:nvSpPr>
        <p:spPr>
          <a:xfrm>
            <a:off x="4202120" y="4174450"/>
            <a:ext cx="13713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2.5 cm</a:t>
            </a:r>
            <a:endParaRPr sz="24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4" name="Shape 1654"/>
        <p:cNvGrpSpPr/>
        <p:nvPr/>
      </p:nvGrpSpPr>
      <p:grpSpPr>
        <a:xfrm>
          <a:off x="0" y="0"/>
          <a:ext cx="0" cy="0"/>
        </a:xfrm>
      </p:grpSpPr>
      <p:pic>
        <p:nvPicPr>
          <p:cNvPr id="1655" name="Google Shape;1655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6403" y="1149325"/>
            <a:ext cx="1719383" cy="26625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6" name="Google Shape;1656;p136"/>
          <p:cNvCxnSpPr/>
          <p:nvPr/>
        </p:nvCxnSpPr>
        <p:spPr>
          <a:xfrm>
            <a:off x="6856425" y="3595218"/>
            <a:ext cx="402300" cy="22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57" name="Google Shape;1657;p136"/>
          <p:cNvCxnSpPr/>
          <p:nvPr/>
        </p:nvCxnSpPr>
        <p:spPr>
          <a:xfrm rot="10800000" flipH="1">
            <a:off x="7405984" y="3192706"/>
            <a:ext cx="1095000" cy="61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58" name="Google Shape;1658;p136"/>
          <p:cNvCxnSpPr/>
          <p:nvPr/>
        </p:nvCxnSpPr>
        <p:spPr>
          <a:xfrm rot="10800000" flipH="1">
            <a:off x="8525787" y="1362643"/>
            <a:ext cx="0" cy="1717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59" name="Google Shape;1659;p136"/>
          <p:cNvSpPr txBox="1"/>
          <p:nvPr/>
        </p:nvSpPr>
        <p:spPr>
          <a:xfrm>
            <a:off x="8569519" y="2106697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0" name="Google Shape;1660;p136"/>
          <p:cNvSpPr txBox="1"/>
          <p:nvPr/>
        </p:nvSpPr>
        <p:spPr>
          <a:xfrm>
            <a:off x="8019799" y="3469980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1" name="Google Shape;1661;p136"/>
          <p:cNvSpPr txBox="1"/>
          <p:nvPr/>
        </p:nvSpPr>
        <p:spPr>
          <a:xfrm>
            <a:off x="6801449" y="3671105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2" name="Google Shape;1662;p136"/>
          <p:cNvSpPr txBox="1"/>
          <p:nvPr>
            <p:ph type="body" idx="1"/>
          </p:nvPr>
        </p:nvSpPr>
        <p:spPr>
          <a:xfrm>
            <a:off x="324000" y="759300"/>
            <a:ext cx="61689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The formula for volume of a cuboid can be written as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lwh</a:t>
            </a:r>
            <a:endParaRPr sz="1600"/>
          </a:p>
        </p:txBody>
      </p:sp>
      <p:sp>
        <p:nvSpPr>
          <p:cNvPr id="1663" name="Google Shape;1663;p13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664" name="Google Shape;1664;p136"/>
          <p:cNvSpPr txBox="1"/>
          <p:nvPr>
            <p:ph type="body" idx="1"/>
          </p:nvPr>
        </p:nvSpPr>
        <p:spPr>
          <a:xfrm>
            <a:off x="324000" y="1544325"/>
            <a:ext cx="62610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Rearrange the formula to make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the subject. Then evaluate to find the width of a cuboid with length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1.6 cm</a:t>
            </a:r>
            <a:r>
              <a:rPr lang="en-GB" sz="2000"/>
              <a:t>, height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2.25 cm</a:t>
            </a:r>
            <a:r>
              <a:rPr lang="en-GB" sz="2000"/>
              <a:t>, and volume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1.44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665" name="Google Shape;1665;p136"/>
          <p:cNvSpPr txBox="1"/>
          <p:nvPr>
            <p:ph type="body" idx="1"/>
          </p:nvPr>
        </p:nvSpPr>
        <p:spPr>
          <a:xfrm>
            <a:off x="324000" y="3220725"/>
            <a:ext cx="51102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You may use a calculator to do the substitution.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69" name="Shape 1669"/>
        <p:cNvGrpSpPr/>
        <p:nvPr/>
      </p:nvGrpSpPr>
      <p:grpSpPr>
        <a:xfrm>
          <a:off x="0" y="0"/>
          <a:ext cx="0" cy="0"/>
        </a:xfrm>
      </p:grpSpPr>
      <p:sp>
        <p:nvSpPr>
          <p:cNvPr id="1670" name="Google Shape;1670;p137"/>
          <p:cNvSpPr txBox="1"/>
          <p:nvPr>
            <p:ph type="body" idx="1"/>
          </p:nvPr>
        </p:nvSpPr>
        <p:spPr>
          <a:xfrm>
            <a:off x="324000" y="759300"/>
            <a:ext cx="61689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The formula for the area of a circle is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/>
          </a:p>
        </p:txBody>
      </p:sp>
      <p:sp>
        <p:nvSpPr>
          <p:cNvPr id="1671" name="Google Shape;1671;p13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672" name="Google Shape;1672;p137"/>
          <p:cNvSpPr txBox="1"/>
          <p:nvPr>
            <p:ph type="body" idx="1"/>
          </p:nvPr>
        </p:nvSpPr>
        <p:spPr>
          <a:xfrm>
            <a:off x="324000" y="1345900"/>
            <a:ext cx="57201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Rearrange the formula to make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the subject. Then evaluate to find the radius of a circle with area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80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Give your answer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d.p.</a:t>
            </a:r>
            <a:endParaRPr baseline="30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3" name="Google Shape;1673;p137"/>
          <p:cNvSpPr txBox="1"/>
          <p:nvPr>
            <p:ph type="body" idx="1"/>
          </p:nvPr>
        </p:nvSpPr>
        <p:spPr>
          <a:xfrm>
            <a:off x="324000" y="3220725"/>
            <a:ext cx="57549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You may use a calculator to do the substitution.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4" name="Google Shape;1674;p137"/>
          <p:cNvSpPr/>
          <p:nvPr/>
        </p:nvSpPr>
        <p:spPr>
          <a:xfrm>
            <a:off x="7220968" y="1189982"/>
            <a:ext cx="1478100" cy="1478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5" name="Google Shape;1675;p137"/>
          <p:cNvCxnSpPr/>
          <p:nvPr/>
        </p:nvCxnSpPr>
        <p:spPr>
          <a:xfrm>
            <a:off x="7254362" y="1733655"/>
            <a:ext cx="655200" cy="18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76" name="Google Shape;1676;p137"/>
          <p:cNvSpPr/>
          <p:nvPr/>
        </p:nvSpPr>
        <p:spPr>
          <a:xfrm>
            <a:off x="7936098" y="1905173"/>
            <a:ext cx="47400" cy="474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37"/>
          <p:cNvSpPr txBox="1"/>
          <p:nvPr/>
        </p:nvSpPr>
        <p:spPr>
          <a:xfrm>
            <a:off x="7466570" y="1729425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1" name="Shape 1681"/>
        <p:cNvGrpSpPr/>
        <p:nvPr/>
      </p:nvGrpSpPr>
      <p:grpSpPr>
        <a:xfrm>
          <a:off x="0" y="0"/>
          <a:ext cx="0" cy="0"/>
        </a:xfrm>
      </p:grpSpPr>
      <p:pic>
        <p:nvPicPr>
          <p:cNvPr id="1682" name="Google Shape;1682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6403" y="1149325"/>
            <a:ext cx="1719383" cy="26625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3" name="Google Shape;1683;p138"/>
          <p:cNvCxnSpPr/>
          <p:nvPr/>
        </p:nvCxnSpPr>
        <p:spPr>
          <a:xfrm>
            <a:off x="6856425" y="3595218"/>
            <a:ext cx="402300" cy="22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84" name="Google Shape;1684;p138"/>
          <p:cNvCxnSpPr/>
          <p:nvPr/>
        </p:nvCxnSpPr>
        <p:spPr>
          <a:xfrm rot="10800000" flipH="1">
            <a:off x="7405984" y="3192706"/>
            <a:ext cx="1095000" cy="61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85" name="Google Shape;1685;p138"/>
          <p:cNvCxnSpPr/>
          <p:nvPr/>
        </p:nvCxnSpPr>
        <p:spPr>
          <a:xfrm rot="10800000" flipH="1">
            <a:off x="8525787" y="1362643"/>
            <a:ext cx="0" cy="1717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86" name="Google Shape;1686;p138"/>
          <p:cNvSpPr txBox="1"/>
          <p:nvPr/>
        </p:nvSpPr>
        <p:spPr>
          <a:xfrm>
            <a:off x="8569519" y="2106697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7" name="Google Shape;1687;p138"/>
          <p:cNvSpPr txBox="1"/>
          <p:nvPr/>
        </p:nvSpPr>
        <p:spPr>
          <a:xfrm>
            <a:off x="8019799" y="3469980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8" name="Google Shape;1688;p138"/>
          <p:cNvSpPr txBox="1"/>
          <p:nvPr/>
        </p:nvSpPr>
        <p:spPr>
          <a:xfrm>
            <a:off x="6801449" y="3671105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9" name="Google Shape;1689;p138"/>
          <p:cNvSpPr txBox="1"/>
          <p:nvPr>
            <p:ph type="body" idx="1"/>
          </p:nvPr>
        </p:nvSpPr>
        <p:spPr>
          <a:xfrm>
            <a:off x="324000" y="759300"/>
            <a:ext cx="5932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The formula for volume of a cuboid can be written as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lwh</a:t>
            </a:r>
            <a:endParaRPr sz="1600"/>
          </a:p>
        </p:txBody>
      </p:sp>
      <p:sp>
        <p:nvSpPr>
          <p:cNvPr id="1690" name="Google Shape;1690;p13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691" name="Google Shape;1691;p138"/>
          <p:cNvSpPr txBox="1"/>
          <p:nvPr/>
        </p:nvSpPr>
        <p:spPr>
          <a:xfrm>
            <a:off x="1252713" y="2946098"/>
            <a:ext cx="1439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lwh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2" name="Google Shape;1692;p138"/>
          <p:cNvSpPr txBox="1"/>
          <p:nvPr>
            <p:ph type="body" idx="1"/>
          </p:nvPr>
        </p:nvSpPr>
        <p:spPr>
          <a:xfrm>
            <a:off x="324000" y="1544325"/>
            <a:ext cx="62724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Rearrange the formula to make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the subject. Then evaluate to find the width of a cuboid with length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1.6 cm</a:t>
            </a:r>
            <a:r>
              <a:rPr lang="en-GB" sz="2000"/>
              <a:t>, height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2.25 cm</a:t>
            </a:r>
            <a:r>
              <a:rPr lang="en-GB" sz="2000"/>
              <a:t>, and volume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1.44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pic>
        <p:nvPicPr>
          <p:cNvPr id="1693" name="Google Shape;1693;p138" descr="&lt;math xmlns=&quot;http://www.w3.org/1998/Math/MathML&quot; display=&quot;block&quot; data-is-equatio=&quot;1&quot; data-latex=&quot;\frac{V}{lh}=w&quot;&gt;&lt;mfrac&gt;&lt;mi&gt;V&lt;/mi&gt;&lt;mrow&gt;&lt;mi&gt;l&lt;/mi&gt;&lt;mi&gt;h&lt;/mi&gt;&lt;/mrow&gt;&lt;/mfrac&gt;&lt;mo&gt;=&lt;/mo&gt;&lt;mi&gt;w&lt;/mi&gt;&lt;/math&gt;" title="V over l h equals w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122" y="3568931"/>
            <a:ext cx="935579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4" name="Google Shape;1694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0848" y="2935202"/>
            <a:ext cx="2609193" cy="163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5" name="Google Shape;1695;p1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3318" y="2930605"/>
            <a:ext cx="2609200" cy="162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138"/>
          <p:cNvSpPr txBox="1"/>
          <p:nvPr>
            <p:ph type="body" idx="1"/>
          </p:nvPr>
        </p:nvSpPr>
        <p:spPr>
          <a:xfrm>
            <a:off x="5757213" y="4188312"/>
            <a:ext cx="14397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0.4 cm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0" name="Shape 1700"/>
        <p:cNvGrpSpPr/>
        <p:nvPr/>
      </p:nvGrpSpPr>
      <p:grpSpPr>
        <a:xfrm>
          <a:off x="0" y="0"/>
          <a:ext cx="0" cy="0"/>
        </a:xfrm>
      </p:grpSpPr>
      <p:pic>
        <p:nvPicPr>
          <p:cNvPr id="1701" name="Google Shape;1701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000" y="2933363"/>
            <a:ext cx="2538175" cy="162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39"/>
          <p:cNvSpPr txBox="1"/>
          <p:nvPr>
            <p:ph type="body" idx="1"/>
          </p:nvPr>
        </p:nvSpPr>
        <p:spPr>
          <a:xfrm>
            <a:off x="324000" y="759300"/>
            <a:ext cx="5932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The formula for the area of a circle is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/>
          </a:p>
        </p:txBody>
      </p:sp>
      <p:sp>
        <p:nvSpPr>
          <p:cNvPr id="1703" name="Google Shape;1703;p13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704" name="Google Shape;1704;p139"/>
          <p:cNvSpPr txBox="1"/>
          <p:nvPr>
            <p:ph type="body" idx="1"/>
          </p:nvPr>
        </p:nvSpPr>
        <p:spPr>
          <a:xfrm>
            <a:off x="324000" y="1345900"/>
            <a:ext cx="57201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Rearrange the formula to make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the subject. Then evaluate to find the radius of a circle with area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80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705" name="Google Shape;1705;p139"/>
          <p:cNvSpPr/>
          <p:nvPr/>
        </p:nvSpPr>
        <p:spPr>
          <a:xfrm>
            <a:off x="7220968" y="1189982"/>
            <a:ext cx="1478100" cy="1478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6" name="Google Shape;1706;p139"/>
          <p:cNvCxnSpPr/>
          <p:nvPr/>
        </p:nvCxnSpPr>
        <p:spPr>
          <a:xfrm>
            <a:off x="7254362" y="1733655"/>
            <a:ext cx="655200" cy="18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07" name="Google Shape;1707;p139"/>
          <p:cNvSpPr/>
          <p:nvPr/>
        </p:nvSpPr>
        <p:spPr>
          <a:xfrm>
            <a:off x="7936098" y="1905173"/>
            <a:ext cx="47400" cy="474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39"/>
          <p:cNvSpPr txBox="1"/>
          <p:nvPr/>
        </p:nvSpPr>
        <p:spPr>
          <a:xfrm>
            <a:off x="7466570" y="1729425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9" name="Google Shape;1709;p139"/>
          <p:cNvSpPr txBox="1"/>
          <p:nvPr>
            <p:ph type="body" idx="1"/>
          </p:nvPr>
        </p:nvSpPr>
        <p:spPr>
          <a:xfrm>
            <a:off x="1432480" y="2576593"/>
            <a:ext cx="933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/>
          </a:p>
        </p:txBody>
      </p:sp>
      <p:pic>
        <p:nvPicPr>
          <p:cNvPr id="1710" name="Google Shape;1710;p139" descr="&lt;math xmlns=&quot;http://www.w3.org/1998/Math/MathML&quot; display=&quot;block&quot; data-is-equatio=&quot;1&quot; data-latex=&quot;\frac{A}{\pi}=r^2&quot;&gt;&lt;mfrac&gt;&lt;mi&gt;A&lt;/mi&gt;&lt;mi&gt;π&lt;/mi&gt;&lt;/mfrac&gt;&lt;mo&gt;=&lt;/mo&gt;&lt;msup&gt;&lt;mi&gt;r&lt;/mi&gt;&lt;mn&gt;2&lt;/mn&gt;&lt;/msup&gt;&lt;/math&gt;" title="A over pi equals r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760" y="3187709"/>
            <a:ext cx="796125" cy="5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139" descr="&lt;math xmlns=&quot;http://www.w3.org/1998/Math/MathML&quot; display=&quot;block&quot; data-is-equatio=&quot;1&quot; data-latex=&quot;\sqrt{\frac{A}{\pi}}=r&quot;&gt;&lt;msqrt&gt;&lt;mfrac&gt;&lt;mi&gt;A&lt;/mi&gt;&lt;mi&gt;π&lt;/mi&gt;&lt;/mfrac&gt;&lt;/msqrt&gt;&lt;mo&gt;=&lt;/mo&gt;&lt;mi&gt;r&lt;/mi&gt;&lt;/math&gt;" title="the square root of A over pi equals 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419" y="3995736"/>
            <a:ext cx="970402" cy="64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8425" y="2901926"/>
            <a:ext cx="2538175" cy="1654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39"/>
          <p:cNvSpPr txBox="1"/>
          <p:nvPr>
            <p:ph type="body" idx="1"/>
          </p:nvPr>
        </p:nvSpPr>
        <p:spPr>
          <a:xfrm>
            <a:off x="5757225" y="4035900"/>
            <a:ext cx="277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5.05 cm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800"/>
              <a:t>to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d.p.)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7" name="Shape 1717"/>
        <p:cNvGrpSpPr/>
        <p:nvPr/>
      </p:nvGrpSpPr>
      <p:grpSpPr>
        <a:xfrm>
          <a:off x="0" y="0"/>
          <a:ext cx="0" cy="0"/>
        </a:xfrm>
      </p:grpSpPr>
      <p:sp>
        <p:nvSpPr>
          <p:cNvPr id="1718" name="Google Shape;1718;p14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719" name="Google Shape;1719;p140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sp>
        <p:nvSpPr>
          <p:cNvPr id="1720" name="Google Shape;1720;p140"/>
          <p:cNvSpPr txBox="1"/>
          <p:nvPr>
            <p:ph type="title" idx="3"/>
          </p:nvPr>
        </p:nvSpPr>
        <p:spPr>
          <a:xfrm>
            <a:off x="324000" y="657600"/>
            <a:ext cx="80361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expressions with and without changing the subject.</a:t>
            </a:r>
            <a:endParaRPr/>
          </a:p>
        </p:txBody>
      </p:sp>
      <p:pic>
        <p:nvPicPr>
          <p:cNvPr id="1721" name="Google Shape;1721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5" name="Shape 1725"/>
        <p:cNvGrpSpPr/>
        <p:nvPr/>
      </p:nvGrpSpPr>
      <p:grpSpPr>
        <a:xfrm>
          <a:off x="0" y="0"/>
          <a:ext cx="0" cy="0"/>
        </a:xfrm>
      </p:grpSpPr>
      <p:sp>
        <p:nvSpPr>
          <p:cNvPr id="1726" name="Google Shape;1726;p141"/>
          <p:cNvSpPr txBox="1"/>
          <p:nvPr>
            <p:ph type="body" idx="4294967295"/>
          </p:nvPr>
        </p:nvSpPr>
        <p:spPr>
          <a:xfrm>
            <a:off x="324000" y="1262527"/>
            <a:ext cx="61803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area of a trapezium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, the lower base length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 cm</a:t>
            </a:r>
            <a:r>
              <a:rPr lang="en-GB" sz="2000" i="1"/>
              <a:t> </a:t>
            </a:r>
            <a:r>
              <a:rPr lang="en-GB" sz="2000"/>
              <a:t>and the upper base length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cm</a:t>
            </a:r>
            <a:endParaRPr sz="2000"/>
          </a:p>
        </p:txBody>
      </p:sp>
      <p:sp>
        <p:nvSpPr>
          <p:cNvPr id="1727" name="Google Shape;1727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pic>
        <p:nvPicPr>
          <p:cNvPr id="1728" name="Google Shape;1728;p14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1023176" y="2444432"/>
            <a:ext cx="4308849" cy="171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36018" y="3783163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1556" y="3801063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41"/>
          <p:cNvSpPr txBox="1"/>
          <p:nvPr/>
        </p:nvSpPr>
        <p:spPr>
          <a:xfrm>
            <a:off x="1355350" y="2484550"/>
            <a:ext cx="39192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rearrange this formula for area to make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subject.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32" name="Google Shape;1732;p141"/>
          <p:cNvGrpSpPr/>
          <p:nvPr/>
        </p:nvGrpSpPr>
        <p:grpSpPr>
          <a:xfrm>
            <a:off x="7123052" y="1507927"/>
            <a:ext cx="1694203" cy="878499"/>
            <a:chOff x="3858850" y="3948492"/>
            <a:chExt cx="1155900" cy="691242"/>
          </a:xfrm>
        </p:grpSpPr>
        <p:cxnSp>
          <p:nvCxnSpPr>
            <p:cNvPr id="1733" name="Google Shape;1733;p141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4" name="Google Shape;1734;p141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5" name="Google Shape;1735;p141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6" name="Google Shape;1736;p141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37" name="Google Shape;1737;p141"/>
          <p:cNvSpPr txBox="1"/>
          <p:nvPr/>
        </p:nvSpPr>
        <p:spPr>
          <a:xfrm>
            <a:off x="7781277" y="2364915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8" name="Google Shape;1738;p141"/>
          <p:cNvSpPr txBox="1"/>
          <p:nvPr/>
        </p:nvSpPr>
        <p:spPr>
          <a:xfrm>
            <a:off x="7709309" y="119857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9" name="Google Shape;1739;p141"/>
          <p:cNvSpPr txBox="1"/>
          <p:nvPr/>
        </p:nvSpPr>
        <p:spPr>
          <a:xfrm>
            <a:off x="6746927" y="1749834"/>
            <a:ext cx="236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0" name="Google Shape;1740;p141"/>
          <p:cNvCxnSpPr/>
          <p:nvPr/>
        </p:nvCxnSpPr>
        <p:spPr>
          <a:xfrm flipH="1">
            <a:off x="6987852" y="1499473"/>
            <a:ext cx="0" cy="89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741" name="Google Shape;1741;p141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7650" y="3246263"/>
            <a:ext cx="1694200" cy="521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41"/>
          <p:cNvSpPr txBox="1"/>
          <p:nvPr>
            <p:ph type="body" idx="4294967295"/>
          </p:nvPr>
        </p:nvSpPr>
        <p:spPr>
          <a:xfrm>
            <a:off x="324000" y="2077713"/>
            <a:ext cx="27630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Calculate the height.</a:t>
            </a:r>
            <a:endParaRPr sz="2000"/>
          </a:p>
        </p:txBody>
      </p:sp>
      <p:sp>
        <p:nvSpPr>
          <p:cNvPr id="1743" name="Google Shape;1743;p141"/>
          <p:cNvSpPr txBox="1"/>
          <p:nvPr>
            <p:ph type="body" idx="4294967295"/>
          </p:nvPr>
        </p:nvSpPr>
        <p:spPr>
          <a:xfrm>
            <a:off x="324000" y="812477"/>
            <a:ext cx="61803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Andeep and Sam are now studying trapeziums.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7" name="Shape 1747"/>
        <p:cNvGrpSpPr/>
        <p:nvPr/>
      </p:nvGrpSpPr>
      <p:grpSpPr>
        <a:xfrm>
          <a:off x="0" y="0"/>
          <a:ext cx="0" cy="0"/>
        </a:xfrm>
      </p:grpSpPr>
      <p:pic>
        <p:nvPicPr>
          <p:cNvPr id="1748" name="Google Shape;1748;p142" descr="&lt;math xmlns=&quot;http://www.w3.org/1998/Math/MathML&quot; display=&quot;block&quot; data-is-equatio=&quot;1&quot; data-latex=&quot;\frac{2\left(70\right)}{\left(9\right)+\left(5\right)}=h&quot;&gt;&lt;mfrac&gt;&lt;mrow&gt;&lt;mn&gt;2&lt;/mn&gt;&lt;mrow data-mjx-texclass=&quot;INNER&quot;&gt;&lt;mo data-mjx-texclass=&quot;OPEN&quot;&gt;(&lt;/mo&gt;&lt;mn&gt;70&lt;/mn&gt;&lt;mo data-mjx-texclass=&quot;CLOSE&quot;&gt;)&lt;/mo&gt;&lt;/mrow&gt;&lt;/mrow&gt;&lt;mrow&gt;&lt;mrow data-mjx-texclass=&quot;INNER&quot;&gt;&lt;mo data-mjx-texclass=&quot;OPEN&quot;&gt;(&lt;/mo&gt;&lt;mn&gt;9&lt;/mn&gt;&lt;mo data-mjx-texclass=&quot;CLOSE&quot;&gt;)&lt;/mo&gt;&lt;/mrow&gt;&lt;mo&gt;+&lt;/mo&gt;&lt;mrow data-mjx-texclass=&quot;INNER&quot;&gt;&lt;mo data-mjx-texclass=&quot;OPEN&quot;&gt;(&lt;/mo&gt;&lt;mn&gt;5&lt;/mn&gt;&lt;mo data-mjx-texclass=&quot;CLOSE&quot;&gt;)&lt;/mo&gt;&lt;/mrow&gt;&lt;/mrow&gt;&lt;/mfrac&gt;&lt;mo&gt;=&lt;/mo&gt;&lt;mi&gt;h&lt;/mi&gt;&lt;/math&gt;" title="the fraction with numerator 2 times 70 and denominator 9 plus 5 equal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898" y="2168775"/>
            <a:ext cx="1367978" cy="5708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142"/>
          <p:cNvSpPr txBox="1"/>
          <p:nvPr>
            <p:ph type="body" idx="4294967295"/>
          </p:nvPr>
        </p:nvSpPr>
        <p:spPr>
          <a:xfrm>
            <a:off x="324000" y="816834"/>
            <a:ext cx="61803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area of a trapezium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, the lower base length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 cm</a:t>
            </a:r>
            <a:r>
              <a:rPr lang="en-GB" sz="2000" i="1"/>
              <a:t> </a:t>
            </a:r>
            <a:r>
              <a:rPr lang="en-GB" sz="2000"/>
              <a:t>and the upper base length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cm</a:t>
            </a:r>
            <a:endParaRPr sz="2000"/>
          </a:p>
        </p:txBody>
      </p:sp>
      <p:sp>
        <p:nvSpPr>
          <p:cNvPr id="1750" name="Google Shape;1750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pic>
        <p:nvPicPr>
          <p:cNvPr id="1751" name="Google Shape;1751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36018" y="3783163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2" name="Google Shape;1752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1556" y="3801063"/>
            <a:ext cx="788350" cy="10165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3" name="Google Shape;1753;p142"/>
          <p:cNvGrpSpPr/>
          <p:nvPr/>
        </p:nvGrpSpPr>
        <p:grpSpPr>
          <a:xfrm>
            <a:off x="7123052" y="1507927"/>
            <a:ext cx="1694203" cy="878499"/>
            <a:chOff x="3858850" y="3948492"/>
            <a:chExt cx="1155900" cy="691242"/>
          </a:xfrm>
        </p:grpSpPr>
        <p:cxnSp>
          <p:nvCxnSpPr>
            <p:cNvPr id="1754" name="Google Shape;1754;p142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5" name="Google Shape;1755;p142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6" name="Google Shape;1756;p142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142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58" name="Google Shape;1758;p142"/>
          <p:cNvSpPr txBox="1"/>
          <p:nvPr/>
        </p:nvSpPr>
        <p:spPr>
          <a:xfrm>
            <a:off x="7781277" y="2364915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9" name="Google Shape;1759;p142"/>
          <p:cNvSpPr txBox="1"/>
          <p:nvPr/>
        </p:nvSpPr>
        <p:spPr>
          <a:xfrm>
            <a:off x="7709309" y="119857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0" name="Google Shape;1760;p142"/>
          <p:cNvSpPr txBox="1"/>
          <p:nvPr/>
        </p:nvSpPr>
        <p:spPr>
          <a:xfrm>
            <a:off x="6746927" y="1749834"/>
            <a:ext cx="236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61" name="Google Shape;1761;p142"/>
          <p:cNvCxnSpPr/>
          <p:nvPr/>
        </p:nvCxnSpPr>
        <p:spPr>
          <a:xfrm flipH="1">
            <a:off x="6987852" y="1499473"/>
            <a:ext cx="0" cy="89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762" name="Google Shape;1762;p142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5823" y="2156462"/>
            <a:ext cx="1694200" cy="52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142"/>
          <p:cNvSpPr txBox="1"/>
          <p:nvPr>
            <p:ph type="body" idx="4294967295"/>
          </p:nvPr>
        </p:nvSpPr>
        <p:spPr>
          <a:xfrm>
            <a:off x="324000" y="1632020"/>
            <a:ext cx="27630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Calculate the height.</a:t>
            </a:r>
            <a:endParaRPr sz="2000"/>
          </a:p>
        </p:txBody>
      </p:sp>
      <p:pic>
        <p:nvPicPr>
          <p:cNvPr id="1764" name="Google Shape;1764;p142" descr="&lt;math xmlns=&quot;http://www.w3.org/1998/Math/MathML&quot; display=&quot;block&quot; data-is-equatio=&quot;1&quot; data-latex=&quot;2A\ =\left(a+b\right)h&quot;&gt;&lt;mn&gt;2&lt;/mn&gt;&lt;mi&gt;A&lt;/mi&gt;&lt;mtext&gt;&lt;/mtext&gt;&lt;mo&gt;=&lt;/mo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2 A equals open paren a plus b close paren times 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0906" y="2948737"/>
            <a:ext cx="1585784" cy="22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142" descr="&lt;math xmlns=&quot;http://www.w3.org/1998/Math/MathML&quot; display=&quot;block&quot; data-is-equatio=&quot;1&quot; data-latex=&quot;\frac{2A}{a+b}=h&quot;&gt;&lt;mfrac&gt;&lt;mrow&gt;&lt;mn&gt;2&lt;/mn&gt;&lt;mi&gt;A&lt;/mi&gt;&lt;/mrow&gt;&lt;mrow&gt;&lt;mi&gt;a&lt;/mi&gt;&lt;mo&gt;+&lt;/mo&gt;&lt;mi&gt;b&lt;/mi&gt;&lt;/mrow&gt;&lt;/mfrac&gt;&lt;mo&gt;=&lt;/mo&gt;&lt;mi&gt;h&lt;/mi&gt;&lt;/math&gt;" title="the fraction with numerator 2 A and denominator a plus b equals 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6462" y="3464175"/>
            <a:ext cx="1013918" cy="5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142" descr="&lt;math xmlns=&quot;http://www.w3.org/1998/Math/MathML&quot; display=&quot;block&quot; data-is-equatio=&quot;1&quot; data-latex=&quot;\frac{140}{14}=h&quot;&gt;&lt;mfrac&gt;&lt;mn&gt;140&lt;/mn&gt;&lt;mn&gt;14&lt;/mn&gt;&lt;/mfrac&gt;&lt;mo&gt;=&lt;/mo&gt;&lt;mi&gt;h&lt;/mi&gt;&lt;/math&gt;" title="140 over 14 equals 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91003" y="2962083"/>
            <a:ext cx="832994" cy="495492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42"/>
          <p:cNvSpPr txBox="1"/>
          <p:nvPr>
            <p:ph type="body" idx="4294967295"/>
          </p:nvPr>
        </p:nvSpPr>
        <p:spPr>
          <a:xfrm>
            <a:off x="4489201" y="3731100"/>
            <a:ext cx="11112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 cm</a:t>
            </a:r>
            <a:endParaRPr sz="2000"/>
          </a:p>
        </p:txBody>
      </p:sp>
      <p:pic>
        <p:nvPicPr>
          <p:cNvPr id="1768" name="Google Shape;1768;p142"/>
          <p:cNvPicPr preferRelativeResize="0"/>
          <p:nvPr/>
        </p:nvPicPr>
        <p:blipFill>
          <a:blip r:embed="rId10">
            <a:alphaModFix/>
          </a:blip>
          <a:srcRect r="57905" b="43690"/>
          <a:stretch>
            <a:fillRect/>
          </a:stretch>
        </p:blipFill>
        <p:spPr>
          <a:xfrm>
            <a:off x="5697963" y="2665168"/>
            <a:ext cx="2161075" cy="1637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142"/>
          <p:cNvSpPr txBox="1"/>
          <p:nvPr/>
        </p:nvSpPr>
        <p:spPr>
          <a:xfrm>
            <a:off x="5767800" y="2726650"/>
            <a:ext cx="2000700" cy="13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not sure that method was any more efficient on this problem!</a:t>
            </a:r>
            <a:endParaRPr sz="22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3" name="Shape 1773"/>
        <p:cNvGrpSpPr/>
        <p:nvPr/>
      </p:nvGrpSpPr>
      <p:grpSpPr>
        <a:xfrm>
          <a:off x="0" y="0"/>
          <a:ext cx="0" cy="0"/>
        </a:xfrm>
      </p:grpSpPr>
      <p:sp>
        <p:nvSpPr>
          <p:cNvPr id="1774" name="Google Shape;1774;p143"/>
          <p:cNvSpPr txBox="1"/>
          <p:nvPr>
            <p:ph type="body" idx="4294967295"/>
          </p:nvPr>
        </p:nvSpPr>
        <p:spPr>
          <a:xfrm>
            <a:off x="324000" y="816834"/>
            <a:ext cx="61803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area of a trapezium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, the lower base length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 cm</a:t>
            </a:r>
            <a:r>
              <a:rPr lang="en-GB" sz="2000" i="1"/>
              <a:t> </a:t>
            </a:r>
            <a:r>
              <a:rPr lang="en-GB" sz="2000"/>
              <a:t>and the upper base length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cm</a:t>
            </a:r>
            <a:endParaRPr sz="2000"/>
          </a:p>
        </p:txBody>
      </p:sp>
      <p:sp>
        <p:nvSpPr>
          <p:cNvPr id="1775" name="Google Shape;1775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pic>
        <p:nvPicPr>
          <p:cNvPr id="1776" name="Google Shape;1776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36018" y="3783163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1556" y="3801063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143"/>
          <p:cNvSpPr txBox="1"/>
          <p:nvPr>
            <p:ph type="body" idx="4294967295"/>
          </p:nvPr>
        </p:nvSpPr>
        <p:spPr>
          <a:xfrm>
            <a:off x="324000" y="1632020"/>
            <a:ext cx="27630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Calculate the height.</a:t>
            </a:r>
            <a:endParaRPr sz="2000"/>
          </a:p>
        </p:txBody>
      </p:sp>
      <p:pic>
        <p:nvPicPr>
          <p:cNvPr id="1779" name="Google Shape;1779;p143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9863" y="1623062"/>
            <a:ext cx="1694200" cy="5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143" descr="&lt;math xmlns=&quot;http://www.w3.org/1998/Math/MathML&quot; display=&quot;block&quot; data-is-equatio=&quot;1&quot; data-latex=&quot;70\ =\ \frac{1}{2}\left(5+9\right)h&quot;&gt;&lt;mn&gt;70&lt;/mn&gt;&lt;mtext&gt;&lt;/mtext&gt;&lt;mo&gt;=&lt;/mo&gt;&lt;mtext&gt;&lt;/mtext&gt;&lt;mfrac&gt;&lt;mn&gt;1&lt;/mn&gt;&lt;mn&gt;2&lt;/mn&gt;&lt;/mfrac&gt;&lt;mrow data-mjx-texclass=&quot;INNER&quot;&gt;&lt;mo data-mjx-texclass=&quot;OPEN&quot;&gt;(&lt;/mo&gt;&lt;mn&gt;5&lt;/mn&gt;&lt;mo&gt;+&lt;/mo&gt;&lt;mn&gt;9&lt;/mn&gt;&lt;mo data-mjx-texclass=&quot;CLOSE&quot;&gt;)&lt;/mo&gt;&lt;/mrow&gt;&lt;mi&gt;h&lt;/mi&gt;&lt;/math&gt;" title="70 equals one half times open paren 5 plus 9 close paren times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7186" y="2330348"/>
            <a:ext cx="1774123" cy="52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143"/>
          <p:cNvSpPr txBox="1"/>
          <p:nvPr>
            <p:ph type="body" idx="4294967295"/>
          </p:nvPr>
        </p:nvSpPr>
        <p:spPr>
          <a:xfrm>
            <a:off x="3574798" y="3033793"/>
            <a:ext cx="907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/>
          </a:p>
        </p:txBody>
      </p:sp>
      <p:sp>
        <p:nvSpPr>
          <p:cNvPr id="1782" name="Google Shape;1782;p143"/>
          <p:cNvSpPr txBox="1"/>
          <p:nvPr>
            <p:ph type="body" idx="4294967295"/>
          </p:nvPr>
        </p:nvSpPr>
        <p:spPr>
          <a:xfrm>
            <a:off x="3692668" y="3583047"/>
            <a:ext cx="10602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 cm</a:t>
            </a:r>
            <a:endParaRPr sz="2000"/>
          </a:p>
        </p:txBody>
      </p:sp>
      <p:grpSp>
        <p:nvGrpSpPr>
          <p:cNvPr id="1783" name="Google Shape;1783;p143"/>
          <p:cNvGrpSpPr/>
          <p:nvPr/>
        </p:nvGrpSpPr>
        <p:grpSpPr>
          <a:xfrm>
            <a:off x="7123052" y="1507927"/>
            <a:ext cx="1694203" cy="878499"/>
            <a:chOff x="3858850" y="3948492"/>
            <a:chExt cx="1155900" cy="691242"/>
          </a:xfrm>
        </p:grpSpPr>
        <p:cxnSp>
          <p:nvCxnSpPr>
            <p:cNvPr id="1784" name="Google Shape;1784;p143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5" name="Google Shape;1785;p143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6" name="Google Shape;1786;p143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7" name="Google Shape;1787;p143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88" name="Google Shape;1788;p143"/>
          <p:cNvSpPr txBox="1"/>
          <p:nvPr/>
        </p:nvSpPr>
        <p:spPr>
          <a:xfrm>
            <a:off x="7781277" y="2364915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9" name="Google Shape;1789;p143"/>
          <p:cNvSpPr txBox="1"/>
          <p:nvPr/>
        </p:nvSpPr>
        <p:spPr>
          <a:xfrm>
            <a:off x="7709309" y="119857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0" name="Google Shape;1790;p143"/>
          <p:cNvSpPr txBox="1"/>
          <p:nvPr/>
        </p:nvSpPr>
        <p:spPr>
          <a:xfrm>
            <a:off x="6746927" y="1749834"/>
            <a:ext cx="236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91" name="Google Shape;1791;p143"/>
          <p:cNvCxnSpPr/>
          <p:nvPr/>
        </p:nvCxnSpPr>
        <p:spPr>
          <a:xfrm flipH="1">
            <a:off x="6987852" y="1499473"/>
            <a:ext cx="0" cy="89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792" name="Google Shape;1792;p143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>
            <a:off x="5697975" y="2928974"/>
            <a:ext cx="2161075" cy="13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3" name="Google Shape;1793;p143"/>
          <p:cNvSpPr txBox="1"/>
          <p:nvPr/>
        </p:nvSpPr>
        <p:spPr>
          <a:xfrm>
            <a:off x="5767800" y="3014500"/>
            <a:ext cx="2000700" cy="10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could evaluate without first rearranging.</a:t>
            </a:r>
            <a:endParaRPr sz="22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4" name="Google Shape;1794;p143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787408" y="2257518"/>
            <a:ext cx="2493373" cy="1637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43"/>
          <p:cNvSpPr txBox="1"/>
          <p:nvPr/>
        </p:nvSpPr>
        <p:spPr>
          <a:xfrm>
            <a:off x="1027537" y="2320643"/>
            <a:ext cx="21612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Well done Sam! Your method was much more efficient this time!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6" name="Google Shape;1796;p143"/>
          <p:cNvSpPr txBox="1"/>
          <p:nvPr>
            <p:ph type="body" idx="4294967295"/>
          </p:nvPr>
        </p:nvSpPr>
        <p:spPr>
          <a:xfrm>
            <a:off x="1314600" y="4211323"/>
            <a:ext cx="5742300" cy="56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We can evaluate without changing the subject and on occasions this may be more efficient.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0" name="Shape 1800"/>
        <p:cNvGrpSpPr/>
        <p:nvPr/>
      </p:nvGrpSpPr>
      <p:grpSpPr>
        <a:xfrm>
          <a:off x="0" y="0"/>
          <a:ext cx="0" cy="0"/>
        </a:xfrm>
      </p:grpSpPr>
      <p:pic>
        <p:nvPicPr>
          <p:cNvPr id="1801" name="Google Shape;1801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6403" y="1149325"/>
            <a:ext cx="1719383" cy="26625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2" name="Google Shape;1802;p144"/>
          <p:cNvCxnSpPr/>
          <p:nvPr/>
        </p:nvCxnSpPr>
        <p:spPr>
          <a:xfrm>
            <a:off x="6856425" y="3595218"/>
            <a:ext cx="402300" cy="22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3" name="Google Shape;1803;p144"/>
          <p:cNvCxnSpPr/>
          <p:nvPr/>
        </p:nvCxnSpPr>
        <p:spPr>
          <a:xfrm rot="10800000" flipH="1">
            <a:off x="7405984" y="3192706"/>
            <a:ext cx="1095000" cy="61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4" name="Google Shape;1804;p144"/>
          <p:cNvCxnSpPr/>
          <p:nvPr/>
        </p:nvCxnSpPr>
        <p:spPr>
          <a:xfrm rot="10800000" flipH="1">
            <a:off x="8525787" y="1362643"/>
            <a:ext cx="0" cy="1717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05" name="Google Shape;1805;p144"/>
          <p:cNvSpPr txBox="1"/>
          <p:nvPr/>
        </p:nvSpPr>
        <p:spPr>
          <a:xfrm>
            <a:off x="8569519" y="2106697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6" name="Google Shape;1806;p144"/>
          <p:cNvSpPr txBox="1"/>
          <p:nvPr/>
        </p:nvSpPr>
        <p:spPr>
          <a:xfrm>
            <a:off x="8019799" y="3469980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7" name="Google Shape;1807;p144"/>
          <p:cNvSpPr txBox="1"/>
          <p:nvPr/>
        </p:nvSpPr>
        <p:spPr>
          <a:xfrm>
            <a:off x="6801449" y="3671105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8" name="Google Shape;1808;p144"/>
          <p:cNvSpPr txBox="1"/>
          <p:nvPr>
            <p:ph type="body" idx="4294967295"/>
          </p:nvPr>
        </p:nvSpPr>
        <p:spPr>
          <a:xfrm>
            <a:off x="3113227" y="2496046"/>
            <a:ext cx="9564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lwh</a:t>
            </a:r>
            <a:endParaRPr sz="1600"/>
          </a:p>
        </p:txBody>
      </p:sp>
      <p:sp>
        <p:nvSpPr>
          <p:cNvPr id="1809" name="Google Shape;1809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in order to solve</a:t>
            </a:r>
            <a:endParaRPr/>
          </a:p>
        </p:txBody>
      </p:sp>
      <p:sp>
        <p:nvSpPr>
          <p:cNvPr id="1810" name="Google Shape;1810;p144"/>
          <p:cNvSpPr txBox="1"/>
          <p:nvPr>
            <p:ph type="body" idx="4294967295"/>
          </p:nvPr>
        </p:nvSpPr>
        <p:spPr>
          <a:xfrm>
            <a:off x="324000" y="805350"/>
            <a:ext cx="56511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 cuboid has width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4.5 cm</a:t>
            </a:r>
            <a:r>
              <a:rPr lang="en-GB" sz="2000"/>
              <a:t>, height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cm</a:t>
            </a:r>
            <a:r>
              <a:rPr lang="en-GB" sz="2000"/>
              <a:t>, and volume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630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811" name="Google Shape;1811;p144"/>
          <p:cNvSpPr txBox="1"/>
          <p:nvPr>
            <p:ph type="body" idx="4294967295"/>
          </p:nvPr>
        </p:nvSpPr>
        <p:spPr>
          <a:xfrm>
            <a:off x="324000" y="1632032"/>
            <a:ext cx="62610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Substitute into the formula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lwh</a:t>
            </a:r>
            <a:r>
              <a:rPr lang="en-GB" sz="2000"/>
              <a:t> and evaluate without rearranging to find the length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.</a:t>
            </a:r>
            <a:endParaRPr/>
          </a:p>
        </p:txBody>
      </p:sp>
      <p:sp>
        <p:nvSpPr>
          <p:cNvPr id="1812" name="Google Shape;1812;p144"/>
          <p:cNvSpPr txBox="1"/>
          <p:nvPr>
            <p:ph type="body" idx="4294967295"/>
          </p:nvPr>
        </p:nvSpPr>
        <p:spPr>
          <a:xfrm>
            <a:off x="2873119" y="3105638"/>
            <a:ext cx="21486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630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4.5 × 20</a:t>
            </a:r>
            <a:endParaRPr sz="1600"/>
          </a:p>
        </p:txBody>
      </p:sp>
      <p:sp>
        <p:nvSpPr>
          <p:cNvPr id="1813" name="Google Shape;1813;p144"/>
          <p:cNvSpPr txBox="1"/>
          <p:nvPr>
            <p:ph type="body" idx="4294967295"/>
          </p:nvPr>
        </p:nvSpPr>
        <p:spPr>
          <a:xfrm>
            <a:off x="2873119" y="3715238"/>
            <a:ext cx="21486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630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600"/>
          </a:p>
        </p:txBody>
      </p:sp>
      <p:sp>
        <p:nvSpPr>
          <p:cNvPr id="1814" name="Google Shape;1814;p144"/>
          <p:cNvSpPr txBox="1"/>
          <p:nvPr>
            <p:ph type="body" idx="4294967295"/>
          </p:nvPr>
        </p:nvSpPr>
        <p:spPr>
          <a:xfrm>
            <a:off x="3212442" y="4324850"/>
            <a:ext cx="10950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 cm</a:t>
            </a:r>
            <a:endParaRPr sz="1600" baseline="30000"/>
          </a:p>
        </p:txBody>
      </p:sp>
      <p:sp>
        <p:nvSpPr>
          <p:cNvPr id="1815" name="Google Shape;1815;p144"/>
          <p:cNvSpPr txBox="1"/>
          <p:nvPr/>
        </p:nvSpPr>
        <p:spPr>
          <a:xfrm flipH="1">
            <a:off x="4557450" y="4430775"/>
            <a:ext cx="35349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This method was very efficient.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9" name="Shape 1819"/>
        <p:cNvGrpSpPr/>
        <p:nvPr/>
      </p:nvGrpSpPr>
      <p:grpSpPr>
        <a:xfrm>
          <a:off x="0" y="0"/>
          <a:ext cx="0" cy="0"/>
        </a:xfrm>
      </p:grpSpPr>
      <p:sp>
        <p:nvSpPr>
          <p:cNvPr id="1820" name="Google Shape;1820;p145"/>
          <p:cNvSpPr txBox="1"/>
          <p:nvPr>
            <p:ph type="body" idx="1"/>
          </p:nvPr>
        </p:nvSpPr>
        <p:spPr>
          <a:xfrm>
            <a:off x="324000" y="752132"/>
            <a:ext cx="47190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1) Missing dimensions in a trapezium.</a:t>
            </a:r>
            <a:endParaRPr sz="1900"/>
          </a:p>
        </p:txBody>
      </p:sp>
      <p:sp>
        <p:nvSpPr>
          <p:cNvPr id="1821" name="Google Shape;1821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sp>
        <p:nvSpPr>
          <p:cNvPr id="1822" name="Google Shape;1822;p145"/>
          <p:cNvSpPr txBox="1"/>
          <p:nvPr>
            <p:ph type="body" idx="1"/>
          </p:nvPr>
        </p:nvSpPr>
        <p:spPr>
          <a:xfrm>
            <a:off x="324000" y="1209332"/>
            <a:ext cx="62379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a) A trapezium has area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95 cm</a:t>
            </a:r>
            <a:r>
              <a:rPr lang="en-GB" sz="21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/>
              <a:t>, a lower base length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23 cm</a:t>
            </a:r>
            <a:r>
              <a:rPr lang="en-GB" sz="1900" i="1"/>
              <a:t> </a:t>
            </a:r>
            <a:r>
              <a:rPr lang="en-GB" sz="1900"/>
              <a:t>and an upper base length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15 cm</a:t>
            </a:r>
            <a:endParaRPr sz="1900"/>
          </a:p>
        </p:txBody>
      </p:sp>
      <p:pic>
        <p:nvPicPr>
          <p:cNvPr id="1823" name="Google Shape;1823;p145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903" y="2872435"/>
            <a:ext cx="1694200" cy="52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4" name="Google Shape;1824;p145"/>
          <p:cNvGrpSpPr/>
          <p:nvPr/>
        </p:nvGrpSpPr>
        <p:grpSpPr>
          <a:xfrm>
            <a:off x="7427869" y="1431721"/>
            <a:ext cx="1395056" cy="878499"/>
            <a:chOff x="3858850" y="3948492"/>
            <a:chExt cx="1155900" cy="691242"/>
          </a:xfrm>
        </p:grpSpPr>
        <p:cxnSp>
          <p:nvCxnSpPr>
            <p:cNvPr id="1825" name="Google Shape;1825;p145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6" name="Google Shape;1826;p145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7" name="Google Shape;1827;p145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8" name="Google Shape;1828;p145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29" name="Google Shape;1829;p145"/>
          <p:cNvSpPr txBox="1"/>
          <p:nvPr/>
        </p:nvSpPr>
        <p:spPr>
          <a:xfrm>
            <a:off x="8009877" y="2288715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0" name="Google Shape;1830;p145"/>
          <p:cNvSpPr txBox="1"/>
          <p:nvPr/>
        </p:nvSpPr>
        <p:spPr>
          <a:xfrm>
            <a:off x="7937909" y="112237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1" name="Google Shape;1831;p145"/>
          <p:cNvSpPr txBox="1"/>
          <p:nvPr/>
        </p:nvSpPr>
        <p:spPr>
          <a:xfrm>
            <a:off x="7127927" y="1673634"/>
            <a:ext cx="236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32" name="Google Shape;1832;p145"/>
          <p:cNvCxnSpPr/>
          <p:nvPr/>
        </p:nvCxnSpPr>
        <p:spPr>
          <a:xfrm flipH="1">
            <a:off x="7334331" y="1423273"/>
            <a:ext cx="0" cy="89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33" name="Google Shape;1833;p145"/>
          <p:cNvSpPr txBox="1"/>
          <p:nvPr>
            <p:ph type="body" idx="1"/>
          </p:nvPr>
        </p:nvSpPr>
        <p:spPr>
          <a:xfrm>
            <a:off x="324000" y="2013007"/>
            <a:ext cx="65286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Substitute without rearranging to find the height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1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834" name="Google Shape;1834;p145"/>
          <p:cNvSpPr txBox="1"/>
          <p:nvPr>
            <p:ph type="body" idx="1"/>
          </p:nvPr>
        </p:nvSpPr>
        <p:spPr>
          <a:xfrm>
            <a:off x="324000" y="2603945"/>
            <a:ext cx="61344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b) A trapezium has area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88 cm</a:t>
            </a:r>
            <a:r>
              <a:rPr lang="en-GB" sz="21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/>
              <a:t>, a lower base length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14 cm</a:t>
            </a:r>
            <a:r>
              <a:rPr lang="en-GB" sz="1900" i="1"/>
              <a:t> </a:t>
            </a:r>
            <a:r>
              <a:rPr lang="en-GB" sz="1900"/>
              <a:t>and a height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 cm</a:t>
            </a:r>
            <a:endParaRPr sz="1900"/>
          </a:p>
        </p:txBody>
      </p:sp>
      <p:sp>
        <p:nvSpPr>
          <p:cNvPr id="1835" name="Google Shape;1835;p145"/>
          <p:cNvSpPr txBox="1"/>
          <p:nvPr>
            <p:ph type="body" idx="1"/>
          </p:nvPr>
        </p:nvSpPr>
        <p:spPr>
          <a:xfrm>
            <a:off x="324000" y="3407625"/>
            <a:ext cx="68040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Substitute without rearranging to find the upper base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1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836" name="Google Shape;1836;p145"/>
          <p:cNvSpPr txBox="1"/>
          <p:nvPr>
            <p:ph type="body" idx="1"/>
          </p:nvPr>
        </p:nvSpPr>
        <p:spPr>
          <a:xfrm>
            <a:off x="324000" y="4028732"/>
            <a:ext cx="7850700" cy="58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c) Which was the harder problem, (a) or (b)? Write a sentence explaining why and suggest an alternative method for solving.</a:t>
            </a:r>
            <a:endParaRPr sz="1900"/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0" name="Shape 1840"/>
        <p:cNvGrpSpPr/>
        <p:nvPr/>
      </p:nvGrpSpPr>
      <p:grpSpPr>
        <a:xfrm>
          <a:off x="0" y="0"/>
          <a:ext cx="0" cy="0"/>
        </a:xfrm>
      </p:grpSpPr>
      <p:sp>
        <p:nvSpPr>
          <p:cNvPr id="1841" name="Google Shape;1841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sp>
        <p:nvSpPr>
          <p:cNvPr id="1842" name="Google Shape;1842;p146"/>
          <p:cNvSpPr txBox="1"/>
          <p:nvPr>
            <p:ph type="body" idx="1"/>
          </p:nvPr>
        </p:nvSpPr>
        <p:spPr>
          <a:xfrm>
            <a:off x="324000" y="740625"/>
            <a:ext cx="6237900" cy="73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2) A right triangle has hypotenuse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 cm</a:t>
            </a:r>
            <a:r>
              <a:rPr lang="en-GB" sz="2000"/>
              <a:t>, and one shorter length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 cm</a:t>
            </a:r>
            <a:endParaRPr sz="2000"/>
          </a:p>
        </p:txBody>
      </p:sp>
      <p:sp>
        <p:nvSpPr>
          <p:cNvPr id="1843" name="Google Shape;1843;p146"/>
          <p:cNvSpPr txBox="1"/>
          <p:nvPr>
            <p:ph type="body" idx="1"/>
          </p:nvPr>
        </p:nvSpPr>
        <p:spPr>
          <a:xfrm>
            <a:off x="324000" y="1620500"/>
            <a:ext cx="59328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a) Substitute and evaluate without rearranging to find the remaining shorter length.</a:t>
            </a:r>
            <a:endParaRPr sz="2000"/>
          </a:p>
        </p:txBody>
      </p:sp>
      <p:sp>
        <p:nvSpPr>
          <p:cNvPr id="1844" name="Google Shape;1844;p146"/>
          <p:cNvSpPr/>
          <p:nvPr/>
        </p:nvSpPr>
        <p:spPr>
          <a:xfrm>
            <a:off x="7315721" y="1290212"/>
            <a:ext cx="1451700" cy="969900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46"/>
          <p:cNvSpPr/>
          <p:nvPr/>
        </p:nvSpPr>
        <p:spPr>
          <a:xfrm>
            <a:off x="7315725" y="2031655"/>
            <a:ext cx="210300" cy="22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6" name="Google Shape;1846;p146"/>
          <p:cNvCxnSpPr/>
          <p:nvPr/>
        </p:nvCxnSpPr>
        <p:spPr>
          <a:xfrm>
            <a:off x="7180125" y="1287175"/>
            <a:ext cx="4500" cy="97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47" name="Google Shape;1847;p146"/>
          <p:cNvCxnSpPr/>
          <p:nvPr/>
        </p:nvCxnSpPr>
        <p:spPr>
          <a:xfrm>
            <a:off x="7305581" y="2383711"/>
            <a:ext cx="1471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48" name="Google Shape;1848;p146"/>
          <p:cNvCxnSpPr/>
          <p:nvPr/>
        </p:nvCxnSpPr>
        <p:spPr>
          <a:xfrm rot="10800000">
            <a:off x="7396683" y="1152099"/>
            <a:ext cx="1446300" cy="96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49" name="Google Shape;1849;p146"/>
          <p:cNvSpPr txBox="1"/>
          <p:nvPr/>
        </p:nvSpPr>
        <p:spPr>
          <a:xfrm>
            <a:off x="7891997" y="235340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0" name="Google Shape;1850;p146"/>
          <p:cNvSpPr txBox="1"/>
          <p:nvPr/>
        </p:nvSpPr>
        <p:spPr>
          <a:xfrm>
            <a:off x="8124829" y="130929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1" name="Google Shape;1851;p146"/>
          <p:cNvSpPr txBox="1"/>
          <p:nvPr/>
        </p:nvSpPr>
        <p:spPr>
          <a:xfrm>
            <a:off x="6981829" y="1644272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2" name="Google Shape;1852;p146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387" y="2772193"/>
            <a:ext cx="1436785" cy="271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46"/>
          <p:cNvSpPr txBox="1"/>
          <p:nvPr>
            <p:ph type="body" idx="1"/>
          </p:nvPr>
        </p:nvSpPr>
        <p:spPr>
          <a:xfrm>
            <a:off x="324000" y="2687300"/>
            <a:ext cx="59328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b) Rearrange to make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the subject, then substitute to find the remaining shorter length.</a:t>
            </a:r>
            <a:endParaRPr sz="2000"/>
          </a:p>
        </p:txBody>
      </p:sp>
      <p:sp>
        <p:nvSpPr>
          <p:cNvPr id="1854" name="Google Shape;1854;p146"/>
          <p:cNvSpPr txBox="1"/>
          <p:nvPr>
            <p:ph type="body" idx="1"/>
          </p:nvPr>
        </p:nvSpPr>
        <p:spPr>
          <a:xfrm>
            <a:off x="324000" y="3754100"/>
            <a:ext cx="59328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c) Compare the approaches in parts a) and b)</a:t>
            </a:r>
            <a:endParaRPr sz="2000"/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8" name="Shape 1858"/>
        <p:cNvGrpSpPr/>
        <p:nvPr/>
      </p:nvGrpSpPr>
      <p:grpSpPr>
        <a:xfrm>
          <a:off x="0" y="0"/>
          <a:ext cx="0" cy="0"/>
        </a:xfrm>
      </p:grpSpPr>
      <p:sp>
        <p:nvSpPr>
          <p:cNvPr id="1859" name="Google Shape;1859;p147"/>
          <p:cNvSpPr txBox="1"/>
          <p:nvPr>
            <p:ph type="body" idx="1"/>
          </p:nvPr>
        </p:nvSpPr>
        <p:spPr>
          <a:xfrm>
            <a:off x="324000" y="759300"/>
            <a:ext cx="49953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Missing dimensions in a trapezium.</a:t>
            </a:r>
            <a:endParaRPr sz="2000"/>
          </a:p>
        </p:txBody>
      </p:sp>
      <p:sp>
        <p:nvSpPr>
          <p:cNvPr id="1860" name="Google Shape;1860;p14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sp>
        <p:nvSpPr>
          <p:cNvPr id="1861" name="Google Shape;1861;p147"/>
          <p:cNvSpPr txBox="1"/>
          <p:nvPr>
            <p:ph type="body" idx="1"/>
          </p:nvPr>
        </p:nvSpPr>
        <p:spPr>
          <a:xfrm>
            <a:off x="324000" y="1197825"/>
            <a:ext cx="62379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a) A trapezium has area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95 cm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, a lower base length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23 cm</a:t>
            </a:r>
            <a:r>
              <a:rPr lang="en-GB" sz="2000" i="1"/>
              <a:t> </a:t>
            </a:r>
            <a:r>
              <a:rPr lang="en-GB" sz="2000"/>
              <a:t>and an upper base length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15 cm</a:t>
            </a:r>
            <a:endParaRPr sz="2000"/>
          </a:p>
        </p:txBody>
      </p:sp>
      <p:pic>
        <p:nvPicPr>
          <p:cNvPr id="1862" name="Google Shape;1862;p147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903" y="2567635"/>
            <a:ext cx="1694200" cy="52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3" name="Google Shape;1863;p147"/>
          <p:cNvGrpSpPr/>
          <p:nvPr/>
        </p:nvGrpSpPr>
        <p:grpSpPr>
          <a:xfrm>
            <a:off x="7427869" y="1309495"/>
            <a:ext cx="1395056" cy="878499"/>
            <a:chOff x="3858850" y="3948492"/>
            <a:chExt cx="1155900" cy="691242"/>
          </a:xfrm>
        </p:grpSpPr>
        <p:cxnSp>
          <p:nvCxnSpPr>
            <p:cNvPr id="1864" name="Google Shape;1864;p147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5" name="Google Shape;1865;p147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6" name="Google Shape;1866;p147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7" name="Google Shape;1867;p147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68" name="Google Shape;1868;p147"/>
          <p:cNvSpPr txBox="1"/>
          <p:nvPr/>
        </p:nvSpPr>
        <p:spPr>
          <a:xfrm>
            <a:off x="8009877" y="2166488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9" name="Google Shape;1869;p147"/>
          <p:cNvSpPr txBox="1"/>
          <p:nvPr/>
        </p:nvSpPr>
        <p:spPr>
          <a:xfrm>
            <a:off x="7937909" y="1000152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0" name="Google Shape;1870;p147"/>
          <p:cNvSpPr txBox="1"/>
          <p:nvPr/>
        </p:nvSpPr>
        <p:spPr>
          <a:xfrm>
            <a:off x="7127927" y="1551407"/>
            <a:ext cx="236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71" name="Google Shape;1871;p147"/>
          <p:cNvCxnSpPr/>
          <p:nvPr/>
        </p:nvCxnSpPr>
        <p:spPr>
          <a:xfrm flipH="1">
            <a:off x="7334331" y="1301046"/>
            <a:ext cx="0" cy="89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72" name="Google Shape;1872;p147"/>
          <p:cNvSpPr txBox="1"/>
          <p:nvPr>
            <p:ph type="body" idx="1"/>
          </p:nvPr>
        </p:nvSpPr>
        <p:spPr>
          <a:xfrm>
            <a:off x="324000" y="2001500"/>
            <a:ext cx="65286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Substitute without rearranging to find the height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873" name="Google Shape;1873;p147" descr="&lt;math xmlns=&quot;http://www.w3.org/1998/Math/MathML&quot; display=&quot;block&quot; data-is-equatio=&quot;1&quot; data-latex=&quot;95\ =\ \frac{1}{2}\left(23+15\right)h&quot;&gt;&lt;mn&gt;95&lt;/mn&gt;&lt;mtext&gt;&lt;/mtext&gt;&lt;mo&gt;=&lt;/mo&gt;&lt;mtext&gt;&lt;/mtext&gt;&lt;mfrac&gt;&lt;mn&gt;1&lt;/mn&gt;&lt;mn&gt;2&lt;/mn&gt;&lt;/mfrac&gt;&lt;mrow data-mjx-texclass=&quot;INNER&quot;&gt;&lt;mo data-mjx-texclass=&quot;OPEN&quot;&gt;(&lt;/mo&gt;&lt;mn&gt;23&lt;/mn&gt;&lt;mo&gt;+&lt;/mo&gt;&lt;mn&gt;15&lt;/mn&gt;&lt;mo data-mjx-texclass=&quot;CLOSE&quot;&gt;)&lt;/mo&gt;&lt;/mrow&gt;&lt;mi&gt;h&lt;/mi&gt;&lt;/math&gt;" title="95 equals one half times open paren 23 plus 15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632" y="3145126"/>
            <a:ext cx="2029166" cy="52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147"/>
          <p:cNvSpPr txBox="1"/>
          <p:nvPr>
            <p:ph type="body" idx="1"/>
          </p:nvPr>
        </p:nvSpPr>
        <p:spPr>
          <a:xfrm>
            <a:off x="598651" y="3848980"/>
            <a:ext cx="907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/>
          </a:p>
        </p:txBody>
      </p:sp>
      <p:sp>
        <p:nvSpPr>
          <p:cNvPr id="1875" name="Google Shape;1875;p147"/>
          <p:cNvSpPr txBox="1"/>
          <p:nvPr>
            <p:ph type="body" idx="1"/>
          </p:nvPr>
        </p:nvSpPr>
        <p:spPr>
          <a:xfrm>
            <a:off x="716521" y="4398234"/>
            <a:ext cx="10602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 cm</a:t>
            </a:r>
            <a:endParaRPr sz="2000"/>
          </a:p>
        </p:txBody>
      </p:sp>
      <p:pic>
        <p:nvPicPr>
          <p:cNvPr id="1876" name="Google Shape;1876;p147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988" y="2496188"/>
            <a:ext cx="1694127" cy="5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0" name="Shape 1880"/>
        <p:cNvGrpSpPr/>
        <p:nvPr/>
      </p:nvGrpSpPr>
      <p:grpSpPr>
        <a:xfrm>
          <a:off x="0" y="0"/>
          <a:ext cx="0" cy="0"/>
        </a:xfrm>
      </p:grpSpPr>
      <p:sp>
        <p:nvSpPr>
          <p:cNvPr id="1881" name="Google Shape;1881;p148"/>
          <p:cNvSpPr txBox="1"/>
          <p:nvPr>
            <p:ph type="body" idx="1"/>
          </p:nvPr>
        </p:nvSpPr>
        <p:spPr>
          <a:xfrm>
            <a:off x="324000" y="759300"/>
            <a:ext cx="49953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1) Missing dimensions in a trapezium.</a:t>
            </a:r>
            <a:endParaRPr sz="1900"/>
          </a:p>
        </p:txBody>
      </p:sp>
      <p:sp>
        <p:nvSpPr>
          <p:cNvPr id="1882" name="Google Shape;1882;p1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pic>
        <p:nvPicPr>
          <p:cNvPr id="1883" name="Google Shape;1883;p148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903" y="2567635"/>
            <a:ext cx="1694200" cy="52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4" name="Google Shape;1884;p148"/>
          <p:cNvGrpSpPr/>
          <p:nvPr/>
        </p:nvGrpSpPr>
        <p:grpSpPr>
          <a:xfrm>
            <a:off x="7427869" y="1321001"/>
            <a:ext cx="1395056" cy="878499"/>
            <a:chOff x="3858850" y="3948492"/>
            <a:chExt cx="1155900" cy="691242"/>
          </a:xfrm>
        </p:grpSpPr>
        <p:cxnSp>
          <p:nvCxnSpPr>
            <p:cNvPr id="1885" name="Google Shape;1885;p148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6" name="Google Shape;1886;p148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7" name="Google Shape;1887;p148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8" name="Google Shape;1888;p148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89" name="Google Shape;1889;p148"/>
          <p:cNvSpPr txBox="1"/>
          <p:nvPr/>
        </p:nvSpPr>
        <p:spPr>
          <a:xfrm>
            <a:off x="8009877" y="2177995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148"/>
          <p:cNvSpPr txBox="1"/>
          <p:nvPr/>
        </p:nvSpPr>
        <p:spPr>
          <a:xfrm>
            <a:off x="7937909" y="101165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1" name="Google Shape;1891;p148"/>
          <p:cNvSpPr txBox="1"/>
          <p:nvPr/>
        </p:nvSpPr>
        <p:spPr>
          <a:xfrm>
            <a:off x="7127927" y="1562913"/>
            <a:ext cx="236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92" name="Google Shape;1892;p148"/>
          <p:cNvCxnSpPr/>
          <p:nvPr/>
        </p:nvCxnSpPr>
        <p:spPr>
          <a:xfrm flipH="1">
            <a:off x="7334331" y="1312553"/>
            <a:ext cx="0" cy="89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93" name="Google Shape;1893;p148"/>
          <p:cNvSpPr txBox="1"/>
          <p:nvPr>
            <p:ph type="body" idx="1"/>
          </p:nvPr>
        </p:nvSpPr>
        <p:spPr>
          <a:xfrm>
            <a:off x="324000" y="1186318"/>
            <a:ext cx="61344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b) A trapezium has area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88 cm</a:t>
            </a:r>
            <a:r>
              <a:rPr lang="en-GB" sz="21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/>
              <a:t>, a lower base length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14 cm</a:t>
            </a:r>
            <a:r>
              <a:rPr lang="en-GB" sz="1900" i="1"/>
              <a:t> </a:t>
            </a:r>
            <a:r>
              <a:rPr lang="en-GB" sz="1900"/>
              <a:t>and a height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 cm</a:t>
            </a:r>
            <a:endParaRPr sz="1900"/>
          </a:p>
        </p:txBody>
      </p:sp>
      <p:sp>
        <p:nvSpPr>
          <p:cNvPr id="1894" name="Google Shape;1894;p148"/>
          <p:cNvSpPr txBox="1"/>
          <p:nvPr>
            <p:ph type="body" idx="1"/>
          </p:nvPr>
        </p:nvSpPr>
        <p:spPr>
          <a:xfrm>
            <a:off x="324000" y="1939663"/>
            <a:ext cx="67998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Substitute without rearranging to find the upper base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1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900"/>
              <a:t>.</a:t>
            </a:r>
            <a:endParaRPr sz="19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/>
          </a:p>
        </p:txBody>
      </p:sp>
      <p:pic>
        <p:nvPicPr>
          <p:cNvPr id="1895" name="Google Shape;1895;p148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64" y="2392232"/>
            <a:ext cx="1505973" cy="463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6" name="Google Shape;1896;p148" descr="&lt;math xmlns=&quot;http://www.w3.org/1998/Math/MathML&quot; display=&quot;block&quot; data-is-equatio=&quot;1&quot; data-latex=&quot;88\ =\ \frac{1}{2}\left(14+b\right)8&quot;&gt;&lt;mn&gt;88&lt;/mn&gt;&lt;mtext&gt;&lt;/mtext&gt;&lt;mo&gt;=&lt;/mo&gt;&lt;mtext&gt;&lt;/mtext&gt;&lt;mfrac&gt;&lt;mn&gt;1&lt;/mn&gt;&lt;mn&gt;2&lt;/mn&gt;&lt;/mfrac&gt;&lt;mrow data-mjx-texclass=&quot;INNER&quot;&gt;&lt;mo data-mjx-texclass=&quot;OPEN&quot;&gt;(&lt;/mo&gt;&lt;mn&gt;14&lt;/mn&gt;&lt;mo&gt;+&lt;/mo&gt;&lt;mi&gt;b&lt;/mi&gt;&lt;mo data-mjx-texclass=&quot;CLOSE&quot;&gt;)&lt;/mo&gt;&lt;/mrow&gt;&lt;mn&gt;8&lt;/mn&gt;&lt;/math&gt;" title="88 equals one half times open paren 14 plus b close paren times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63" y="2941532"/>
            <a:ext cx="1673037" cy="4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7" name="Google Shape;1897;p148" descr="&lt;math xmlns=&quot;http://www.w3.org/1998/Math/MathML&quot; display=&quot;block&quot; data-is-equatio=&quot;1&quot; data-latex=&quot;88\ =\ 4\left(14+b\right)&quot;&gt;&lt;mn&gt;88&lt;/mn&gt;&lt;mtext&gt;&lt;/mtext&gt;&lt;mo&gt;=&lt;/mo&gt;&lt;mtext&gt;&lt;/mtext&gt;&lt;mn&gt;4&lt;/mn&gt;&lt;mrow data-mjx-texclass=&quot;INNER&quot;&gt;&lt;mo data-mjx-texclass=&quot;OPEN&quot;&gt;(&lt;/mo&gt;&lt;mn&gt;14&lt;/mn&gt;&lt;mo&gt;+&lt;/mo&gt;&lt;mi&gt;b&lt;/mi&gt;&lt;mo data-mjx-texclass=&quot;CLOSE&quot;&gt;)&lt;/mo&gt;&lt;/mrow&gt;&lt;/math&gt;" title="88 equals 4 times open paren 14 plus b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849" y="3546542"/>
            <a:ext cx="1579125" cy="209857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48"/>
          <p:cNvSpPr txBox="1"/>
          <p:nvPr>
            <p:ph type="body" idx="1"/>
          </p:nvPr>
        </p:nvSpPr>
        <p:spPr>
          <a:xfrm>
            <a:off x="446250" y="3860098"/>
            <a:ext cx="13569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88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56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/>
          </a:p>
        </p:txBody>
      </p:sp>
      <p:sp>
        <p:nvSpPr>
          <p:cNvPr id="1899" name="Google Shape;1899;p148"/>
          <p:cNvSpPr txBox="1"/>
          <p:nvPr>
            <p:ph type="body" idx="1"/>
          </p:nvPr>
        </p:nvSpPr>
        <p:spPr>
          <a:xfrm>
            <a:off x="446250" y="4202998"/>
            <a:ext cx="13569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/>
          </a:p>
        </p:txBody>
      </p:sp>
      <p:sp>
        <p:nvSpPr>
          <p:cNvPr id="1900" name="Google Shape;1900;p148"/>
          <p:cNvSpPr txBox="1"/>
          <p:nvPr>
            <p:ph type="body" idx="1"/>
          </p:nvPr>
        </p:nvSpPr>
        <p:spPr>
          <a:xfrm>
            <a:off x="579600" y="4569295"/>
            <a:ext cx="13569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8 cm</a:t>
            </a:r>
            <a:endParaRPr sz="2000"/>
          </a:p>
        </p:txBody>
      </p:sp>
      <p:sp>
        <p:nvSpPr>
          <p:cNvPr id="1901" name="Google Shape;1901;p148"/>
          <p:cNvSpPr txBox="1"/>
          <p:nvPr/>
        </p:nvSpPr>
        <p:spPr>
          <a:xfrm flipH="1">
            <a:off x="2500025" y="2447500"/>
            <a:ext cx="45222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Part (b) was the harder problem. It had more steps and involved more skills, therefore more opportunities to make an error.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2" name="Google Shape;1902;p148"/>
          <p:cNvSpPr txBox="1"/>
          <p:nvPr/>
        </p:nvSpPr>
        <p:spPr>
          <a:xfrm flipH="1">
            <a:off x="2500025" y="3514300"/>
            <a:ext cx="45222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 alternative method would be to rearrange the formula to 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the subject…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03" name="Google Shape;1903;p148" descr="&lt;math xmlns=&quot;http://www.w3.org/1998/Math/MathML&quot; display=&quot;block&quot; data-is-equatio=&quot;1&quot; data-latex=&quot;\frac{2A}{h}\ -a=\ b&quot;&gt;&lt;mfrac&gt;&lt;mrow&gt;&lt;mn&gt;2&lt;/mn&gt;&lt;mi&gt;A&lt;/mi&gt;&lt;/mrow&gt;&lt;mi&gt;h&lt;/mi&gt;&lt;/mfrac&gt;&lt;mtext&gt;&lt;/mtext&gt;&lt;mo&gt;−&lt;/mo&gt;&lt;mi&gt;a&lt;/mi&gt;&lt;mo&gt;=&lt;/mo&gt;&lt;mtext&gt;&lt;/mtext&gt;&lt;mi&gt;b&lt;/mi&gt;&lt;/math&gt;" title="2 A over h negative a equals 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61629" y="3209072"/>
            <a:ext cx="1335385" cy="52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48"/>
          <p:cNvSpPr txBox="1"/>
          <p:nvPr/>
        </p:nvSpPr>
        <p:spPr>
          <a:xfrm flipH="1">
            <a:off x="4633625" y="4352500"/>
            <a:ext cx="17979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…and substitute.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05" name="Google Shape;1905;p1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1160" y="3800530"/>
            <a:ext cx="1874400" cy="101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9" name="Shape 1909"/>
        <p:cNvGrpSpPr/>
        <p:nvPr/>
      </p:nvGrpSpPr>
      <p:grpSpPr>
        <a:xfrm>
          <a:off x="0" y="0"/>
          <a:ext cx="0" cy="0"/>
        </a:xfrm>
      </p:grpSpPr>
      <p:sp>
        <p:nvSpPr>
          <p:cNvPr id="1910" name="Google Shape;1910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sp>
        <p:nvSpPr>
          <p:cNvPr id="1911" name="Google Shape;1911;p149"/>
          <p:cNvSpPr txBox="1"/>
          <p:nvPr>
            <p:ph type="body" idx="1"/>
          </p:nvPr>
        </p:nvSpPr>
        <p:spPr>
          <a:xfrm>
            <a:off x="324000" y="759300"/>
            <a:ext cx="6318600" cy="6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2) A right triangle has hypotenuse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 cm</a:t>
            </a:r>
            <a:r>
              <a:rPr lang="en-GB" sz="2000"/>
              <a:t>, and one shorter length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 cm</a:t>
            </a:r>
            <a:endParaRPr sz="2000"/>
          </a:p>
        </p:txBody>
      </p:sp>
      <p:sp>
        <p:nvSpPr>
          <p:cNvPr id="1912" name="Google Shape;1912;p149"/>
          <p:cNvSpPr txBox="1"/>
          <p:nvPr>
            <p:ph type="body" idx="1"/>
          </p:nvPr>
        </p:nvSpPr>
        <p:spPr>
          <a:xfrm>
            <a:off x="324000" y="1620500"/>
            <a:ext cx="59328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a) Substitute and evaluate without rearranging to find the remaining shorter length.</a:t>
            </a:r>
            <a:endParaRPr sz="2000"/>
          </a:p>
        </p:txBody>
      </p:sp>
      <p:sp>
        <p:nvSpPr>
          <p:cNvPr id="1913" name="Google Shape;1913;p149"/>
          <p:cNvSpPr/>
          <p:nvPr/>
        </p:nvSpPr>
        <p:spPr>
          <a:xfrm>
            <a:off x="7315721" y="1290212"/>
            <a:ext cx="1451700" cy="969900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49"/>
          <p:cNvSpPr/>
          <p:nvPr/>
        </p:nvSpPr>
        <p:spPr>
          <a:xfrm>
            <a:off x="7315725" y="2031655"/>
            <a:ext cx="210300" cy="22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5" name="Google Shape;1915;p149"/>
          <p:cNvCxnSpPr/>
          <p:nvPr/>
        </p:nvCxnSpPr>
        <p:spPr>
          <a:xfrm>
            <a:off x="7180125" y="1287175"/>
            <a:ext cx="4500" cy="97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16" name="Google Shape;1916;p149"/>
          <p:cNvCxnSpPr/>
          <p:nvPr/>
        </p:nvCxnSpPr>
        <p:spPr>
          <a:xfrm>
            <a:off x="7305581" y="2383711"/>
            <a:ext cx="1471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17" name="Google Shape;1917;p149"/>
          <p:cNvCxnSpPr/>
          <p:nvPr/>
        </p:nvCxnSpPr>
        <p:spPr>
          <a:xfrm rot="10800000">
            <a:off x="7396683" y="1152099"/>
            <a:ext cx="1446300" cy="96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8" name="Google Shape;1918;p149"/>
          <p:cNvSpPr txBox="1"/>
          <p:nvPr/>
        </p:nvSpPr>
        <p:spPr>
          <a:xfrm>
            <a:off x="7891997" y="235340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9" name="Google Shape;1919;p149"/>
          <p:cNvSpPr txBox="1"/>
          <p:nvPr/>
        </p:nvSpPr>
        <p:spPr>
          <a:xfrm>
            <a:off x="8124829" y="130929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0" name="Google Shape;1920;p149"/>
          <p:cNvSpPr txBox="1"/>
          <p:nvPr/>
        </p:nvSpPr>
        <p:spPr>
          <a:xfrm>
            <a:off x="6981829" y="1644272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1" name="Google Shape;1921;p149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387" y="2772193"/>
            <a:ext cx="1436785" cy="271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22" name="Google Shape;1922;p149"/>
          <p:cNvSpPr txBox="1"/>
          <p:nvPr>
            <p:ph type="body" idx="1"/>
          </p:nvPr>
        </p:nvSpPr>
        <p:spPr>
          <a:xfrm>
            <a:off x="810722" y="2451581"/>
            <a:ext cx="14367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13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/>
          </a:p>
        </p:txBody>
      </p:sp>
      <p:sp>
        <p:nvSpPr>
          <p:cNvPr id="1923" name="Google Shape;1923;p149"/>
          <p:cNvSpPr txBox="1"/>
          <p:nvPr>
            <p:ph type="body" idx="1"/>
          </p:nvPr>
        </p:nvSpPr>
        <p:spPr>
          <a:xfrm>
            <a:off x="1420322" y="2908780"/>
            <a:ext cx="14367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13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− 12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924" name="Google Shape;1924;p149"/>
          <p:cNvSpPr txBox="1"/>
          <p:nvPr>
            <p:ph type="body" idx="1"/>
          </p:nvPr>
        </p:nvSpPr>
        <p:spPr>
          <a:xfrm>
            <a:off x="1420318" y="3365978"/>
            <a:ext cx="1567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169 − 144</a:t>
            </a:r>
            <a:endParaRPr sz="2000"/>
          </a:p>
        </p:txBody>
      </p:sp>
      <p:sp>
        <p:nvSpPr>
          <p:cNvPr id="1925" name="Google Shape;1925;p149"/>
          <p:cNvSpPr txBox="1"/>
          <p:nvPr>
            <p:ph type="body" idx="1"/>
          </p:nvPr>
        </p:nvSpPr>
        <p:spPr>
          <a:xfrm>
            <a:off x="1420322" y="3823177"/>
            <a:ext cx="14367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25</a:t>
            </a:r>
            <a:endParaRPr sz="2000"/>
          </a:p>
        </p:txBody>
      </p:sp>
      <p:sp>
        <p:nvSpPr>
          <p:cNvPr id="1926" name="Google Shape;1926;p149"/>
          <p:cNvSpPr txBox="1"/>
          <p:nvPr>
            <p:ph type="body" idx="1"/>
          </p:nvPr>
        </p:nvSpPr>
        <p:spPr>
          <a:xfrm>
            <a:off x="1496525" y="4280375"/>
            <a:ext cx="11832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 cm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0" name="Shape 1930"/>
        <p:cNvGrpSpPr/>
        <p:nvPr/>
      </p:nvGrpSpPr>
      <p:grpSpPr>
        <a:xfrm>
          <a:off x="0" y="0"/>
          <a:ext cx="0" cy="0"/>
        </a:xfrm>
      </p:grpSpPr>
      <p:sp>
        <p:nvSpPr>
          <p:cNvPr id="1931" name="Google Shape;1931;p150"/>
          <p:cNvSpPr txBox="1"/>
          <p:nvPr>
            <p:ph type="body" idx="1"/>
          </p:nvPr>
        </p:nvSpPr>
        <p:spPr>
          <a:xfrm>
            <a:off x="324000" y="1597487"/>
            <a:ext cx="59328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b) Rearrange to make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the subject, then substitute to find the remaining shorter length.</a:t>
            </a:r>
            <a:endParaRPr sz="2000"/>
          </a:p>
        </p:txBody>
      </p:sp>
      <p:sp>
        <p:nvSpPr>
          <p:cNvPr id="1932" name="Google Shape;1932;p1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sp>
        <p:nvSpPr>
          <p:cNvPr id="1933" name="Google Shape;1933;p150"/>
          <p:cNvSpPr txBox="1"/>
          <p:nvPr>
            <p:ph type="body" idx="1"/>
          </p:nvPr>
        </p:nvSpPr>
        <p:spPr>
          <a:xfrm>
            <a:off x="324000" y="759300"/>
            <a:ext cx="6318600" cy="6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2) A right triangle has hypotenuse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 cm</a:t>
            </a:r>
            <a:r>
              <a:rPr lang="en-GB" sz="2000"/>
              <a:t>, and one shorter length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 cm</a:t>
            </a:r>
            <a:endParaRPr sz="2000"/>
          </a:p>
        </p:txBody>
      </p:sp>
      <p:sp>
        <p:nvSpPr>
          <p:cNvPr id="1934" name="Google Shape;1934;p150"/>
          <p:cNvSpPr/>
          <p:nvPr/>
        </p:nvSpPr>
        <p:spPr>
          <a:xfrm>
            <a:off x="7315721" y="1290212"/>
            <a:ext cx="1451700" cy="969900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50"/>
          <p:cNvSpPr/>
          <p:nvPr/>
        </p:nvSpPr>
        <p:spPr>
          <a:xfrm>
            <a:off x="7315725" y="2031655"/>
            <a:ext cx="210300" cy="22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6" name="Google Shape;1936;p150"/>
          <p:cNvCxnSpPr/>
          <p:nvPr/>
        </p:nvCxnSpPr>
        <p:spPr>
          <a:xfrm>
            <a:off x="7180125" y="1287175"/>
            <a:ext cx="4500" cy="97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7" name="Google Shape;1937;p150"/>
          <p:cNvCxnSpPr/>
          <p:nvPr/>
        </p:nvCxnSpPr>
        <p:spPr>
          <a:xfrm>
            <a:off x="7305581" y="2383711"/>
            <a:ext cx="1471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8" name="Google Shape;1938;p150"/>
          <p:cNvCxnSpPr/>
          <p:nvPr/>
        </p:nvCxnSpPr>
        <p:spPr>
          <a:xfrm rot="10800000">
            <a:off x="7396683" y="1152099"/>
            <a:ext cx="1446300" cy="96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39" name="Google Shape;1939;p150"/>
          <p:cNvSpPr txBox="1"/>
          <p:nvPr/>
        </p:nvSpPr>
        <p:spPr>
          <a:xfrm>
            <a:off x="7891997" y="235340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150"/>
          <p:cNvSpPr txBox="1"/>
          <p:nvPr/>
        </p:nvSpPr>
        <p:spPr>
          <a:xfrm>
            <a:off x="8124829" y="130929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1" name="Google Shape;1941;p150"/>
          <p:cNvSpPr txBox="1"/>
          <p:nvPr/>
        </p:nvSpPr>
        <p:spPr>
          <a:xfrm>
            <a:off x="6981829" y="1644272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2" name="Google Shape;1942;p150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387" y="2772193"/>
            <a:ext cx="1436785" cy="27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3" name="Google Shape;1943;p150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987" y="2467393"/>
            <a:ext cx="1436785" cy="27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4" name="Google Shape;1944;p150" descr="&lt;math xmlns=&quot;http://www.w3.org/1998/Math/MathML&quot; display=&quot;block&quot; data-is-equatio=&quot;1&quot; data-latex=&quot;a^2=c^2-b^2&quot;&gt;&lt;msup&gt;&lt;mi&gt;a&lt;/mi&gt;&lt;mn&gt;2&lt;/mn&gt;&lt;/msup&gt;&lt;mo&gt;=&lt;/mo&gt;&lt;msup&gt;&lt;mi&gt;c&lt;/mi&gt;&lt;mn&gt;2&lt;/mn&gt;&lt;/msup&gt;&lt;mo&gt;−&lt;/mo&gt;&lt;msup&gt;&lt;mi&gt;b&lt;/mi&gt;&lt;mn&gt;2&lt;/mn&gt;&lt;/msup&gt;&lt;/math&gt;" title="a squared equals c squared minus b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413" y="2992926"/>
            <a:ext cx="1436785" cy="261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5" name="Google Shape;1945;p150" descr="&lt;math xmlns=&quot;http://www.w3.org/1998/Math/MathML&quot; display=&quot;block&quot; data-is-equatio=&quot;1&quot; data-latex=&quot;a=\sqrt{c^2-b^2}&quot;&gt;&lt;mi&gt;a&lt;/mi&gt;&lt;mo&gt;=&lt;/mo&gt;&lt;msqrt&gt;&lt;msup&gt;&lt;mi&gt;c&lt;/mi&gt;&lt;mn&gt;2&lt;/mn&gt;&lt;/msup&gt;&lt;mo&gt;−&lt;/mo&gt;&lt;msup&gt;&lt;mi&gt;b&lt;/mi&gt;&lt;mn&gt;2&lt;/mn&gt;&lt;/msup&gt;&lt;/msqrt&gt;&lt;/math&gt;" title="a equals the square root of c squared minus b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9720" y="3488166"/>
            <a:ext cx="1536693" cy="34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6" name="Google Shape;1946;p150" descr="&lt;math xmlns=&quot;http://www.w3.org/1998/Math/MathML&quot; display=&quot;block&quot; data-is-equatio=&quot;1&quot; data-latex=&quot;a=\sqrt{13^2-12^2}&quot;&gt;&lt;mi&gt;a&lt;/mi&gt;&lt;mo&gt;=&lt;/mo&gt;&lt;msqrt&gt;&lt;msup&gt;&lt;mn&gt;13&lt;/mn&gt;&lt;mn&gt;2&lt;/mn&gt;&lt;/msup&gt;&lt;mo&gt;−&lt;/mo&gt;&lt;msup&gt;&lt;mn&gt;12&lt;/mn&gt;&lt;mn&gt;2&lt;/mn&gt;&lt;/msup&gt;&lt;/msqrt&gt;&lt;/math&gt;" title="a equals the square root of 13 squared minus 12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1475" y="4031269"/>
            <a:ext cx="1606175" cy="2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7" name="Google Shape;1947;p1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9376" y="2738577"/>
            <a:ext cx="2520994" cy="15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8" name="Google Shape;1948;p150"/>
          <p:cNvSpPr txBox="1"/>
          <p:nvPr>
            <p:ph type="body" idx="1"/>
          </p:nvPr>
        </p:nvSpPr>
        <p:spPr>
          <a:xfrm>
            <a:off x="1496525" y="4504628"/>
            <a:ext cx="11832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 cm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2" name="Shape 1952"/>
        <p:cNvGrpSpPr/>
        <p:nvPr/>
      </p:nvGrpSpPr>
      <p:grpSpPr>
        <a:xfrm>
          <a:off x="0" y="0"/>
          <a:ext cx="0" cy="0"/>
        </a:xfrm>
      </p:grpSpPr>
      <p:sp>
        <p:nvSpPr>
          <p:cNvPr id="1953" name="Google Shape;1953;p1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without changing the subject</a:t>
            </a:r>
            <a:endParaRPr/>
          </a:p>
        </p:txBody>
      </p:sp>
      <p:sp>
        <p:nvSpPr>
          <p:cNvPr id="1954" name="Google Shape;1954;p151"/>
          <p:cNvSpPr txBox="1"/>
          <p:nvPr>
            <p:ph type="body" idx="1"/>
          </p:nvPr>
        </p:nvSpPr>
        <p:spPr>
          <a:xfrm>
            <a:off x="324000" y="759300"/>
            <a:ext cx="6318600" cy="6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2c) A right triangle has hypotenuse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 cm</a:t>
            </a:r>
            <a:r>
              <a:rPr lang="en-GB" sz="2000"/>
              <a:t>, and one shorter length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 cm</a:t>
            </a:r>
            <a:endParaRPr sz="2000"/>
          </a:p>
        </p:txBody>
      </p:sp>
      <p:sp>
        <p:nvSpPr>
          <p:cNvPr id="1955" name="Google Shape;1955;p151"/>
          <p:cNvSpPr txBox="1"/>
          <p:nvPr>
            <p:ph type="body" idx="1"/>
          </p:nvPr>
        </p:nvSpPr>
        <p:spPr>
          <a:xfrm>
            <a:off x="324000" y="1620500"/>
            <a:ext cx="24408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a) Evaluate without rearranging…</a:t>
            </a:r>
            <a:endParaRPr sz="2000"/>
          </a:p>
        </p:txBody>
      </p:sp>
      <p:sp>
        <p:nvSpPr>
          <p:cNvPr id="1956" name="Google Shape;1956;p151"/>
          <p:cNvSpPr/>
          <p:nvPr/>
        </p:nvSpPr>
        <p:spPr>
          <a:xfrm>
            <a:off x="7315721" y="1290212"/>
            <a:ext cx="1451700" cy="969900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51"/>
          <p:cNvSpPr/>
          <p:nvPr/>
        </p:nvSpPr>
        <p:spPr>
          <a:xfrm>
            <a:off x="7315725" y="2031655"/>
            <a:ext cx="210300" cy="22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8" name="Google Shape;1958;p151"/>
          <p:cNvCxnSpPr/>
          <p:nvPr/>
        </p:nvCxnSpPr>
        <p:spPr>
          <a:xfrm>
            <a:off x="7180125" y="1287175"/>
            <a:ext cx="4500" cy="97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59" name="Google Shape;1959;p151"/>
          <p:cNvCxnSpPr/>
          <p:nvPr/>
        </p:nvCxnSpPr>
        <p:spPr>
          <a:xfrm>
            <a:off x="7305581" y="2383711"/>
            <a:ext cx="1471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60" name="Google Shape;1960;p151"/>
          <p:cNvCxnSpPr/>
          <p:nvPr/>
        </p:nvCxnSpPr>
        <p:spPr>
          <a:xfrm rot="10800000">
            <a:off x="7396683" y="1152099"/>
            <a:ext cx="1446300" cy="96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61" name="Google Shape;1961;p151"/>
          <p:cNvSpPr txBox="1"/>
          <p:nvPr/>
        </p:nvSpPr>
        <p:spPr>
          <a:xfrm>
            <a:off x="7891997" y="235340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2" name="Google Shape;1962;p151"/>
          <p:cNvSpPr txBox="1"/>
          <p:nvPr/>
        </p:nvSpPr>
        <p:spPr>
          <a:xfrm>
            <a:off x="8124829" y="1309299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3" name="Google Shape;1963;p151"/>
          <p:cNvSpPr txBox="1"/>
          <p:nvPr/>
        </p:nvSpPr>
        <p:spPr>
          <a:xfrm>
            <a:off x="6981829" y="1644272"/>
            <a:ext cx="23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4" name="Google Shape;1964;p151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387" y="2772193"/>
            <a:ext cx="1436785" cy="271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151"/>
          <p:cNvSpPr txBox="1"/>
          <p:nvPr>
            <p:ph type="body" idx="1"/>
          </p:nvPr>
        </p:nvSpPr>
        <p:spPr>
          <a:xfrm>
            <a:off x="353522" y="2451581"/>
            <a:ext cx="14367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13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/>
          </a:p>
        </p:txBody>
      </p:sp>
      <p:sp>
        <p:nvSpPr>
          <p:cNvPr id="1966" name="Google Shape;1966;p151"/>
          <p:cNvSpPr txBox="1"/>
          <p:nvPr>
            <p:ph type="body" idx="1"/>
          </p:nvPr>
        </p:nvSpPr>
        <p:spPr>
          <a:xfrm>
            <a:off x="963122" y="2908780"/>
            <a:ext cx="14367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13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− 12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967" name="Google Shape;1967;p151"/>
          <p:cNvSpPr txBox="1"/>
          <p:nvPr>
            <p:ph type="body" idx="1"/>
          </p:nvPr>
        </p:nvSpPr>
        <p:spPr>
          <a:xfrm>
            <a:off x="963118" y="3365978"/>
            <a:ext cx="1567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169 − 144</a:t>
            </a:r>
            <a:endParaRPr sz="2000"/>
          </a:p>
        </p:txBody>
      </p:sp>
      <p:sp>
        <p:nvSpPr>
          <p:cNvPr id="1968" name="Google Shape;1968;p151"/>
          <p:cNvSpPr txBox="1"/>
          <p:nvPr>
            <p:ph type="body" idx="1"/>
          </p:nvPr>
        </p:nvSpPr>
        <p:spPr>
          <a:xfrm>
            <a:off x="963122" y="3823177"/>
            <a:ext cx="14367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25</a:t>
            </a:r>
            <a:endParaRPr sz="2000"/>
          </a:p>
        </p:txBody>
      </p:sp>
      <p:sp>
        <p:nvSpPr>
          <p:cNvPr id="1969" name="Google Shape;1969;p151"/>
          <p:cNvSpPr txBox="1"/>
          <p:nvPr>
            <p:ph type="body" idx="1"/>
          </p:nvPr>
        </p:nvSpPr>
        <p:spPr>
          <a:xfrm>
            <a:off x="1039325" y="4280375"/>
            <a:ext cx="11832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 cm</a:t>
            </a:r>
            <a:endParaRPr sz="2000"/>
          </a:p>
        </p:txBody>
      </p:sp>
      <p:sp>
        <p:nvSpPr>
          <p:cNvPr id="1970" name="Google Shape;1970;p151"/>
          <p:cNvSpPr txBox="1"/>
          <p:nvPr>
            <p:ph type="body" idx="1"/>
          </p:nvPr>
        </p:nvSpPr>
        <p:spPr>
          <a:xfrm>
            <a:off x="3219600" y="1597475"/>
            <a:ext cx="22233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b) Rearranging first…</a:t>
            </a:r>
            <a:endParaRPr sz="2000"/>
          </a:p>
        </p:txBody>
      </p:sp>
      <p:pic>
        <p:nvPicPr>
          <p:cNvPr id="1971" name="Google Shape;1971;p151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066" y="2444380"/>
            <a:ext cx="1436785" cy="27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" name="Google Shape;1972;p151" descr="&lt;math xmlns=&quot;http://www.w3.org/1998/Math/MathML&quot; display=&quot;block&quot; data-is-equatio=&quot;1&quot; data-latex=&quot;a^2=c^2-b^2&quot;&gt;&lt;msup&gt;&lt;mi&gt;a&lt;/mi&gt;&lt;mn&gt;2&lt;/mn&gt;&lt;/msup&gt;&lt;mo&gt;=&lt;/mo&gt;&lt;msup&gt;&lt;mi&gt;c&lt;/mi&gt;&lt;mn&gt;2&lt;/mn&gt;&lt;/msup&gt;&lt;mo&gt;−&lt;/mo&gt;&lt;msup&gt;&lt;mi&gt;b&lt;/mi&gt;&lt;mn&gt;2&lt;/mn&gt;&lt;/msup&gt;&lt;/math&gt;" title="a squared equals c squared minus b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8493" y="2969912"/>
            <a:ext cx="1436785" cy="261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151" descr="&lt;math xmlns=&quot;http://www.w3.org/1998/Math/MathML&quot; display=&quot;block&quot; data-is-equatio=&quot;1&quot; data-latex=&quot;a=\sqrt{c^2-b^2}&quot;&gt;&lt;mi&gt;a&lt;/mi&gt;&lt;mo&gt;=&lt;/mo&gt;&lt;msqrt&gt;&lt;msup&gt;&lt;mi&gt;c&lt;/mi&gt;&lt;mn&gt;2&lt;/mn&gt;&lt;/msup&gt;&lt;mo&gt;−&lt;/mo&gt;&lt;msup&gt;&lt;mi&gt;b&lt;/mi&gt;&lt;mn&gt;2&lt;/mn&gt;&lt;/msup&gt;&lt;/msqrt&gt;&lt;/math&gt;" title="a equals the square root of c squared minus b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9799" y="3465153"/>
            <a:ext cx="1536693" cy="34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4" name="Google Shape;1974;p151" descr="&lt;math xmlns=&quot;http://www.w3.org/1998/Math/MathML&quot; display=&quot;block&quot; data-is-equatio=&quot;1&quot; data-latex=&quot;a=\sqrt{13^2-12^2}&quot;&gt;&lt;mi&gt;a&lt;/mi&gt;&lt;mo&gt;=&lt;/mo&gt;&lt;msqrt&gt;&lt;msup&gt;&lt;mn&gt;13&lt;/mn&gt;&lt;mn&gt;2&lt;/mn&gt;&lt;/msup&gt;&lt;mo&gt;−&lt;/mo&gt;&lt;msup&gt;&lt;mn&gt;12&lt;/mn&gt;&lt;mn&gt;2&lt;/mn&gt;&lt;/msup&gt;&lt;/msqrt&gt;&lt;/math&gt;" title="a equals the square root of 13 squared minus 12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1555" y="4008256"/>
            <a:ext cx="1606175" cy="29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5" name="Google Shape;1975;p151"/>
          <p:cNvSpPr txBox="1"/>
          <p:nvPr>
            <p:ph type="body" idx="1"/>
          </p:nvPr>
        </p:nvSpPr>
        <p:spPr>
          <a:xfrm>
            <a:off x="3976604" y="4481615"/>
            <a:ext cx="11832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 cm</a:t>
            </a:r>
            <a:endParaRPr sz="2000"/>
          </a:p>
        </p:txBody>
      </p:sp>
      <p:sp>
        <p:nvSpPr>
          <p:cNvPr id="1976" name="Google Shape;1976;p151"/>
          <p:cNvSpPr txBox="1"/>
          <p:nvPr/>
        </p:nvSpPr>
        <p:spPr>
          <a:xfrm flipH="1">
            <a:off x="5788125" y="3235323"/>
            <a:ext cx="26745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There’s a lot of similarity between 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he two methods. They give us the same result with a similar level of effort in this problem.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0" name="Shape 1980"/>
        <p:cNvGrpSpPr/>
        <p:nvPr/>
      </p:nvGrpSpPr>
      <p:grpSpPr>
        <a:xfrm>
          <a:off x="0" y="0"/>
          <a:ext cx="0" cy="0"/>
        </a:xfrm>
      </p:grpSpPr>
      <p:sp>
        <p:nvSpPr>
          <p:cNvPr id="1981" name="Google Shape;1981;p152"/>
          <p:cNvSpPr txBox="1"/>
          <p:nvPr>
            <p:ph type="body" idx="1"/>
          </p:nvPr>
        </p:nvSpPr>
        <p:spPr>
          <a:xfrm>
            <a:off x="324000" y="1308600"/>
            <a:ext cx="8113800" cy="265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When finding unknowns in equations and formula we can first change the subject, or evaluate an expression where the subject has not been changed. </a:t>
            </a:r>
            <a:br>
              <a:rPr lang="en-GB" sz="2000"/>
            </a:br>
            <a:br>
              <a:rPr lang="en-GB" sz="2000"/>
            </a:br>
            <a:r>
              <a:rPr lang="en-GB" sz="2000"/>
              <a:t>Both methods will give us the same result. </a:t>
            </a:r>
            <a:br>
              <a:rPr lang="en-GB" sz="2000"/>
            </a:br>
            <a:br>
              <a:rPr lang="en-GB" sz="2000"/>
            </a:br>
            <a:r>
              <a:rPr lang="en-GB" sz="2000"/>
              <a:t>It is down to us to decide when each method is most appropriate.</a:t>
            </a:r>
            <a:endParaRPr sz="2000"/>
          </a:p>
        </p:txBody>
      </p:sp>
      <p:sp>
        <p:nvSpPr>
          <p:cNvPr id="1982" name="Google Shape;1982;p152"/>
          <p:cNvSpPr txBox="1"/>
          <p:nvPr>
            <p:ph type="title"/>
          </p:nvPr>
        </p:nvSpPr>
        <p:spPr>
          <a:xfrm>
            <a:off x="1684800" y="337125"/>
            <a:ext cx="71352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expressions with and without changing the subject</a:t>
            </a:r>
            <a:endParaRPr/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6" name="Shape 1986"/>
        <p:cNvGrpSpPr/>
        <p:nvPr/>
      </p:nvGrpSpPr>
      <p:grpSpPr>
        <a:xfrm>
          <a:off x="0" y="0"/>
          <a:ext cx="0" cy="0"/>
        </a:xfrm>
      </p:grpSpPr>
      <p:sp>
        <p:nvSpPr>
          <p:cNvPr id="1987" name="Google Shape;1987;p153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88" name="Google Shape;1988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200</Paragraphs>
  <Slides>30</Slides>
  <Notes>30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baseType="lpstr" size="39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Evaluating expressions with and without changing the subject</vt:lpstr>
      <vt:lpstr>PowerPoint Presentation</vt:lpstr>
      <vt:lpstr>PowerPoint Presentation</vt:lpstr>
      <vt:lpstr>PowerPoint Presentation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Rearranging in order to solve</vt:lpstr>
      <vt:lpstr>Evaluating without changing the subject</vt:lpstr>
      <vt:lpstr>Evaluating without changing the subject</vt:lpstr>
      <vt:lpstr>Evaluating without changing the subject</vt:lpstr>
      <vt:lpstr>Rearranging in order to solve</vt:lpstr>
      <vt:lpstr>Evaluating without changing the subject</vt:lpstr>
      <vt:lpstr>Evaluating without changing the subject</vt:lpstr>
      <vt:lpstr>Evaluating without changing the subject</vt:lpstr>
      <vt:lpstr>Evaluating without changing the subject</vt:lpstr>
      <vt:lpstr>Evaluating without changing the subject</vt:lpstr>
      <vt:lpstr>Evaluating without changing the subject</vt:lpstr>
      <vt:lpstr>Evaluating without changing the subject</vt:lpstr>
      <vt:lpstr>Evaluating expressions with and without changing the subject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2024-02-06T11:44:38.438</cp:lastPrinted>
  <dcterms:created xsi:type="dcterms:W3CDTF">2024-02-06T11:44:38Z</dcterms:created>
  <dcterms:modified xsi:type="dcterms:W3CDTF">2024-02-06T11:44:56Z</dcterms:modified>
</cp:coreProperties>
</file>