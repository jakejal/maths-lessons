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sp>
        <p:nvSpPr>
          <p:cNvPr id="220" name="Google Shape;22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3.png" /><Relationship Id="rId11" Type="http://schemas.openxmlformats.org/officeDocument/2006/relationships/image" Target="../media/image24.png" /><Relationship Id="rId12" Type="http://schemas.openxmlformats.org/officeDocument/2006/relationships/image" Target="../media/image25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Relationship Id="rId4" Type="http://schemas.openxmlformats.org/officeDocument/2006/relationships/image" Target="../media/image17.png" /><Relationship Id="rId5" Type="http://schemas.openxmlformats.org/officeDocument/2006/relationships/image" Target="../media/image18.png" /><Relationship Id="rId6" Type="http://schemas.openxmlformats.org/officeDocument/2006/relationships/image" Target="../media/image19.png" /><Relationship Id="rId7" Type="http://schemas.openxmlformats.org/officeDocument/2006/relationships/image" Target="../media/image20.png" /><Relationship Id="rId8" Type="http://schemas.openxmlformats.org/officeDocument/2006/relationships/image" Target="../media/image21.png" /><Relationship Id="rId9" Type="http://schemas.openxmlformats.org/officeDocument/2006/relationships/image" Target="../media/image2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Evaluating expressions without changing the subject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69285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4750" y="1427875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Rearranging in order to solve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569" y="2200700"/>
            <a:ext cx="1302823" cy="20175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0"/>
          <p:cNvCxnSpPr/>
          <p:nvPr/>
        </p:nvCxnSpPr>
        <p:spPr>
          <a:xfrm>
            <a:off x="5601472" y="4054019"/>
            <a:ext cx="304800" cy="168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7" name="Google Shape;177;p20"/>
          <p:cNvCxnSpPr/>
          <p:nvPr/>
        </p:nvCxnSpPr>
        <p:spPr>
          <a:xfrm rot="10800000" flipH="1">
            <a:off x="6017888" y="3749009"/>
            <a:ext cx="829800" cy="46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8" name="Google Shape;178;p20"/>
          <p:cNvCxnSpPr/>
          <p:nvPr/>
        </p:nvCxnSpPr>
        <p:spPr>
          <a:xfrm rot="10800000" flipH="1">
            <a:off x="6866393" y="2362405"/>
            <a:ext cx="0" cy="1301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9" name="Google Shape;179;p20"/>
          <p:cNvSpPr txBox="1"/>
          <p:nvPr/>
        </p:nvSpPr>
        <p:spPr>
          <a:xfrm>
            <a:off x="6899530" y="2926126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482992" y="3959122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559815" y="4111520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1810675"/>
            <a:ext cx="59328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formula for volume of a cuboid can be written as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lwh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834811" y="2727938"/>
            <a:ext cx="10908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lwh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2062300"/>
            <a:ext cx="627240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Rearrange the formula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 Then evaluate to find the width of a cuboid with length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height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2.25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volume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1.44 cm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 descr="&lt;math xmlns=&quot;http://www.w3.org/1998/Math/MathML&quot; display=&quot;block&quot; data-is-equatio=&quot;1&quot; data-latex=&quot;\frac{V}{lh}=w&quot;&gt;&lt;mfrac&gt;&lt;mi&gt;V&lt;/mi&gt;&lt;mrow&gt;&lt;mi&gt;l&lt;/mi&gt;&lt;mi&gt;h&lt;/mi&gt;&lt;/mrow&gt;&lt;/mfrac&gt;&lt;mo&gt;=&lt;/mo&gt;&lt;mi&gt;w&lt;/mi&gt;&lt;/math&gt;" title="V over l h equals w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361" y="3274546"/>
            <a:ext cx="483300" cy="319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6071" y="2719682"/>
            <a:ext cx="1977057" cy="1239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70365" y="2716199"/>
            <a:ext cx="1977063" cy="123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247994" y="3669196"/>
            <a:ext cx="10908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15740" y="5542665"/>
            <a:ext cx="1955144" cy="125274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468000" y="4600438"/>
            <a:ext cx="59328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formula for the area of a circle is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68000" y="4882238"/>
            <a:ext cx="572010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Rearrange the formula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 Then evaluate to find the radius of a circle with area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 cm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946650" y="5031124"/>
            <a:ext cx="1138500" cy="1138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>
            <a:off x="5972373" y="5449912"/>
            <a:ext cx="504600" cy="138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0"/>
          <p:cNvSpPr/>
          <p:nvPr/>
        </p:nvSpPr>
        <p:spPr>
          <a:xfrm>
            <a:off x="6497512" y="5582031"/>
            <a:ext cx="36600" cy="366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135836" y="5446654"/>
            <a:ext cx="1302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195330" y="5496448"/>
            <a:ext cx="718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" name="Google Shape;197;p20" descr="&lt;math xmlns=&quot;http://www.w3.org/1998/Math/MathML&quot; display=&quot;block&quot; data-is-equatio=&quot;1&quot; data-latex=&quot;\frac{A}{\pi}=r^2&quot;&gt;&lt;mfrac&gt;&lt;mi&gt;A&lt;/mi&gt;&lt;mi&gt;π&lt;/mi&gt;&lt;/mfrac&gt;&lt;mo&gt;=&lt;/mo&gt;&lt;msup&gt;&lt;mi&gt;r&lt;/mi&gt;&lt;mn&gt;2&lt;/mn&gt;&lt;/msup&gt;&lt;/math&gt;" title="A over pi equals r squar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1408" y="5814778"/>
            <a:ext cx="463613" cy="322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&lt;math xmlns=&quot;http://www.w3.org/1998/Math/MathML&quot; display=&quot;block&quot; data-is-equatio=&quot;1&quot; data-latex=&quot;\sqrt{\frac{A}{\pi}}=r&quot;&gt;&lt;msqrt&gt;&lt;mfrac&gt;&lt;mi&gt;A&lt;/mi&gt;&lt;mi&gt;π&lt;/mi&gt;&lt;/mfrac&gt;&lt;/msqrt&gt;&lt;mo&gt;=&lt;/mo&gt;&lt;mi&gt;r&lt;/mi&gt;&lt;/math&gt;" title="the square root of A over pi equals 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60484" y="6285320"/>
            <a:ext cx="565100" cy="375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16837" y="5518450"/>
            <a:ext cx="1955145" cy="127483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4526661" y="6391943"/>
            <a:ext cx="21354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5.05 cm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8000" y="7394014"/>
            <a:ext cx="38934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Missing dimensions in a trapezium.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74750" y="7061725"/>
            <a:ext cx="6610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Evaluating without changing the subject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68000" y="7659596"/>
            <a:ext cx="48618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 trapezium has area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 cm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lower base length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 cm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an upper base length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0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86795" y="8727214"/>
            <a:ext cx="1320446" cy="4065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0"/>
          <p:cNvGrpSpPr/>
          <p:nvPr/>
        </p:nvGrpSpPr>
        <p:grpSpPr>
          <a:xfrm>
            <a:off x="5623515" y="7746519"/>
            <a:ext cx="1087240" cy="684675"/>
            <a:chOff x="3858850" y="3948492"/>
            <a:chExt cx="1155900" cy="691242"/>
          </a:xfrm>
        </p:grpSpPr>
        <p:cxnSp>
          <p:nvCxnSpPr>
            <p:cNvPr id="206" name="Google Shape;206;p20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0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20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0" name="Google Shape;210;p20"/>
          <p:cNvSpPr txBox="1"/>
          <p:nvPr/>
        </p:nvSpPr>
        <p:spPr>
          <a:xfrm>
            <a:off x="6077316" y="8414564"/>
            <a:ext cx="184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021225" y="7505532"/>
            <a:ext cx="184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389931" y="7935175"/>
            <a:ext cx="1845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3" name="Google Shape;213;p20"/>
          <p:cNvCxnSpPr/>
          <p:nvPr/>
        </p:nvCxnSpPr>
        <p:spPr>
          <a:xfrm flipH="1">
            <a:off x="5550801" y="7740046"/>
            <a:ext cx="0" cy="696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4" name="Google Shape;214;p20"/>
          <p:cNvSpPr txBox="1"/>
          <p:nvPr/>
        </p:nvSpPr>
        <p:spPr>
          <a:xfrm>
            <a:off x="468000" y="8133574"/>
            <a:ext cx="50883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Substitute without rearranging to find the height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0" descr="&lt;math xmlns=&quot;http://www.w3.org/1998/Math/MathML&quot; display=&quot;block&quot; data-is-equatio=&quot;1&quot; data-latex=&quot;95\ =\ \frac{1}{2}\left(23+15\right)h&quot;&gt;&lt;mn&gt;95&lt;/mn&gt;&lt;mtext&gt;&lt;/mtext&gt;&lt;mo&gt;=&lt;/mo&gt;&lt;mtext&gt;&lt;/mtext&gt;&lt;mfrac&gt;&lt;mn&gt;1&lt;/mn&gt;&lt;mn&gt;2&lt;/mn&gt;&lt;/mfrac&gt;&lt;mrow data-mjx-texclass=&quot;INNER&quot;&gt;&lt;mo data-mjx-texclass=&quot;OPEN&quot;&gt;(&lt;/mo&gt;&lt;mn&gt;23&lt;/mn&gt;&lt;mo&gt;+&lt;/mo&gt;&lt;mn&gt;15&lt;/mn&gt;&lt;mo data-mjx-texclass=&quot;CLOSE&quot;&gt;)&lt;/mo&gt;&lt;/mrow&gt;&lt;mi&gt;h&lt;/mi&gt;&lt;/math&gt;" title="95 equals one half times open paren 23 plus 15 close paren times 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2950" y="8807028"/>
            <a:ext cx="1138500" cy="2926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668296" y="9201950"/>
            <a:ext cx="7188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734441" y="9510113"/>
            <a:ext cx="5949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" name="Google Shape;218;p20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4668" y="8442925"/>
            <a:ext cx="950521" cy="292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sp>
        <p:nvSpPr>
          <p:cNvPr id="223" name="Google Shape;22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4" name="Google Shape;22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Evaluating expressions without changing the subject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227" name="Google Shape;227;p21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4999" y="2466125"/>
            <a:ext cx="1087225" cy="3347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1"/>
          <p:cNvGrpSpPr/>
          <p:nvPr/>
        </p:nvGrpSpPr>
        <p:grpSpPr>
          <a:xfrm>
            <a:off x="5852115" y="960969"/>
            <a:ext cx="1087240" cy="684675"/>
            <a:chOff x="3858850" y="3948492"/>
            <a:chExt cx="1155900" cy="691242"/>
          </a:xfrm>
        </p:grpSpPr>
        <p:cxnSp>
          <p:nvCxnSpPr>
            <p:cNvPr id="229" name="Google Shape;229;p21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21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" name="Google Shape;231;p21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Google Shape;232;p21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3" name="Google Shape;233;p21"/>
          <p:cNvSpPr txBox="1"/>
          <p:nvPr/>
        </p:nvSpPr>
        <p:spPr>
          <a:xfrm>
            <a:off x="6305916" y="1629039"/>
            <a:ext cx="184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249825" y="720002"/>
            <a:ext cx="184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618531" y="1149647"/>
            <a:ext cx="1845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 flipH="1">
            <a:off x="5779401" y="954518"/>
            <a:ext cx="0" cy="696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7" name="Google Shape;237;p21"/>
          <p:cNvSpPr txBox="1"/>
          <p:nvPr/>
        </p:nvSpPr>
        <p:spPr>
          <a:xfrm>
            <a:off x="468000" y="856125"/>
            <a:ext cx="50301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trapezium has area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88 cm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lower base length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cm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68000" y="1367075"/>
            <a:ext cx="50301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Substitute without rearranging to find the upper base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1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875" y="1796023"/>
            <a:ext cx="965891" cy="297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&lt;math xmlns=&quot;http://www.w3.org/1998/Math/MathML&quot; display=&quot;block&quot; data-is-equatio=&quot;1&quot; data-latex=&quot;88\ =\ \frac{1}{2}\left(14+b\right)8&quot;&gt;&lt;mn&gt;88&lt;/mn&gt;&lt;mtext&gt;&lt;/mtext&gt;&lt;mo&gt;=&lt;/mo&gt;&lt;mtext&gt;&lt;/mtext&gt;&lt;mfrac&gt;&lt;mn&gt;1&lt;/mn&gt;&lt;mn&gt;2&lt;/mn&gt;&lt;/mfrac&gt;&lt;mrow data-mjx-texclass=&quot;INNER&quot;&gt;&lt;mo data-mjx-texclass=&quot;OPEN&quot;&gt;(&lt;/mo&gt;&lt;mn&gt;14&lt;/mn&gt;&lt;mo&gt;+&lt;/mo&gt;&lt;mi&gt;b&lt;/mi&gt;&lt;mo data-mjx-texclass=&quot;CLOSE&quot;&gt;)&lt;/mo&gt;&lt;/mrow&gt;&lt;mn&gt;8&lt;/mn&gt;&lt;/math&gt;" title="88 equals one half times open paren 14 plus b close paren times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82" y="2148335"/>
            <a:ext cx="1073042" cy="29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&lt;math xmlns=&quot;http://www.w3.org/1998/Math/MathML&quot; display=&quot;block&quot; data-is-equatio=&quot;1&quot; data-latex=&quot;88\ =\ 4\left(14+b\right)&quot;&gt;&lt;mn&gt;88&lt;/mn&gt;&lt;mtext&gt;&lt;/mtext&gt;&lt;mo&gt;=&lt;/mo&gt;&lt;mtext&gt;&lt;/mtext&gt;&lt;mn&gt;4&lt;/mn&gt;&lt;mrow data-mjx-texclass=&quot;INNER&quot;&gt;&lt;mo data-mjx-texclass=&quot;OPEN&quot;&gt;(&lt;/mo&gt;&lt;mn&gt;14&lt;/mn&gt;&lt;mo&gt;+&lt;/mo&gt;&lt;mi&gt;b&lt;/mi&gt;&lt;mo data-mjx-texclass=&quot;CLOSE&quot;&gt;)&lt;/mo&gt;&lt;/mrow&gt;&lt;/math&gt;" title="88 equals 4 times open paren 14 plus b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899" y="2536377"/>
            <a:ext cx="1012810" cy="13459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576629" y="2814359"/>
            <a:ext cx="10575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76629" y="3081614"/>
            <a:ext cx="10575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680561" y="3367104"/>
            <a:ext cx="10575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 flipH="1">
            <a:off x="468002" y="3728775"/>
            <a:ext cx="6624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Compare the approaches in parts a) and b)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Part (b) was the harder problem. It had more steps and involved more skills, therefore more opportunities to make an error.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 flipH="1">
            <a:off x="2163901" y="1832350"/>
            <a:ext cx="4928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 alternative method would be to rearrange the formula to make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the subject…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7" name="Google Shape;247;p21" descr="&lt;math xmlns=&quot;http://www.w3.org/1998/Math/MathML&quot; display=&quot;block&quot; data-is-equatio=&quot;1&quot; data-latex=&quot;\frac{2A}{h}\ -a=\ b&quot;&gt;&lt;mfrac&gt;&lt;mrow&gt;&lt;mn&gt;2&lt;/mn&gt;&lt;mi&gt;A&lt;/mi&gt;&lt;/mrow&gt;&lt;mi&gt;h&lt;/mi&gt;&lt;/mfrac&gt;&lt;mtext&gt;&lt;/mtext&gt;&lt;mo&gt;−&lt;/mo&gt;&lt;mi&gt;a&lt;/mi&gt;&lt;mo&gt;=&lt;/mo&gt;&lt;mtext&gt;&lt;/mtext&gt;&lt;mi&gt;b&lt;/mi&gt;&lt;/math&gt;" title="2 A over h negative a equals 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9209" y="2877759"/>
            <a:ext cx="856962" cy="33471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 flipH="1">
            <a:off x="4221260" y="2714276"/>
            <a:ext cx="14013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…and substitute.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9" name="Google Shape;24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1100" y="2284073"/>
            <a:ext cx="1460893" cy="78841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468000" y="4431025"/>
            <a:ext cx="6624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right triangle has hypotenuse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one shorter length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68000" y="4719658"/>
            <a:ext cx="46131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Substitute and evaluate without rearranging to find the remaining shorter length.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5973374" y="4706805"/>
            <a:ext cx="951000" cy="635400"/>
          </a:xfrm>
          <a:prstGeom prst="rtTriangle">
            <a:avLst/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973377" y="5192507"/>
            <a:ext cx="137700" cy="149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" name="Google Shape;254;p21"/>
          <p:cNvCxnSpPr/>
          <p:nvPr/>
        </p:nvCxnSpPr>
        <p:spPr>
          <a:xfrm>
            <a:off x="5884549" y="4704816"/>
            <a:ext cx="3000" cy="64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5" name="Google Shape;255;p21"/>
          <p:cNvCxnSpPr/>
          <p:nvPr/>
        </p:nvCxnSpPr>
        <p:spPr>
          <a:xfrm>
            <a:off x="5966732" y="5423131"/>
            <a:ext cx="964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6" name="Google Shape;256;p21"/>
          <p:cNvCxnSpPr/>
          <p:nvPr/>
        </p:nvCxnSpPr>
        <p:spPr>
          <a:xfrm rot="10800000">
            <a:off x="6026449" y="4616487"/>
            <a:ext cx="947400" cy="62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7" name="Google Shape;257;p21"/>
          <p:cNvSpPr txBox="1"/>
          <p:nvPr/>
        </p:nvSpPr>
        <p:spPr>
          <a:xfrm>
            <a:off x="6350880" y="5403281"/>
            <a:ext cx="1548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6503403" y="4719308"/>
            <a:ext cx="1548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5754649" y="4938742"/>
            <a:ext cx="1548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0" name="Google Shape;260;p21" descr="&lt;math xmlns=&quot;http://www.w3.org/1998/Math/MathML&quot; display=&quot;block&quot; data-is-equatio=&quot;1&quot; data-latex=&quot;a^2+b^2=c^2&quot;&gt;&lt;msup&gt;&lt;mi&gt;a&lt;/mi&gt;&lt;mn&gt;2&lt;/mn&gt;&lt;/msup&gt;&lt;mo&gt;+&lt;/mo&gt;&lt;msup&gt;&lt;mi&gt;b&lt;/mi&gt;&lt;mn&gt;2&lt;/mn&gt;&lt;/msup&gt;&lt;mo&gt;=&lt;/mo&gt;&lt;msup&gt;&lt;mi&gt;c&lt;/mi&gt;&lt;mn&gt;2&lt;/mn&gt;&lt;/msup&gt;&lt;/math&gt;" title="a squared plus b squared equals c squar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07874" y="5677617"/>
            <a:ext cx="941205" cy="177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3082951" y="5137273"/>
            <a:ext cx="1117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+ 12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13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3454054" y="5492771"/>
            <a:ext cx="1117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13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− 12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3454051" y="5848269"/>
            <a:ext cx="1219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169 − 144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3454054" y="6203768"/>
            <a:ext cx="1117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3513305" y="6559266"/>
            <a:ext cx="920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80300" y="6855100"/>
            <a:ext cx="66240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Rearrange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subject, then substitute to find the remaining shorter length.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7" name="Google Shape;267;p21" descr="&lt;math xmlns=&quot;http://www.w3.org/1998/Math/MathML&quot; display=&quot;block&quot; data-is-equatio=&quot;1&quot; data-latex=&quot;a^2+b^2=c^2&quot;&gt;&lt;msup&gt;&lt;mi&gt;a&lt;/mi&gt;&lt;mn&gt;2&lt;/mn&gt;&lt;/msup&gt;&lt;mo&gt;+&lt;/mo&gt;&lt;msup&gt;&lt;mi&gt;b&lt;/mi&gt;&lt;mn&gt;2&lt;/mn&gt;&lt;/msup&gt;&lt;mo&gt;=&lt;/mo&gt;&lt;msup&gt;&lt;mi&gt;c&lt;/mi&gt;&lt;mn&gt;2&lt;/mn&gt;&lt;/msup&gt;&lt;/math&gt;" title="a squared plus b squared equals c squar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3797" y="7282410"/>
            <a:ext cx="1083328" cy="204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&lt;math xmlns=&quot;http://www.w3.org/1998/Math/MathML&quot; display=&quot;block&quot; data-is-equatio=&quot;1&quot; data-latex=&quot;a^2=c^2-b^2&quot;&gt;&lt;msup&gt;&lt;mi&gt;a&lt;/mi&gt;&lt;mn&gt;2&lt;/mn&gt;&lt;/msup&gt;&lt;mo&gt;=&lt;/mo&gt;&lt;msup&gt;&lt;mi&gt;c&lt;/mi&gt;&lt;mn&gt;2&lt;/mn&gt;&lt;/msup&gt;&lt;mo&gt;−&lt;/mo&gt;&lt;msup&gt;&lt;mi&gt;b&lt;/mi&gt;&lt;mn&gt;2&lt;/mn&gt;&lt;/msup&gt;&lt;/math&gt;" title="a squared equals c squared minus b square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20682" y="7678659"/>
            <a:ext cx="1083328" cy="197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&lt;math xmlns=&quot;http://www.w3.org/1998/Math/MathML&quot; display=&quot;block&quot; data-is-equatio=&quot;1&quot; data-latex=&quot;a=\sqrt{c^2-b^2}&quot;&gt;&lt;mi&gt;a&lt;/mi&gt;&lt;mo&gt;=&lt;/mo&gt;&lt;msqrt&gt;&lt;msup&gt;&lt;mi&gt;c&lt;/mi&gt;&lt;mn&gt;2&lt;/mn&gt;&lt;/msup&gt;&lt;mo&gt;−&lt;/mo&gt;&lt;msup&gt;&lt;mi&gt;b&lt;/mi&gt;&lt;mn&gt;2&lt;/mn&gt;&lt;/msup&gt;&lt;/msqrt&gt;&lt;/math&gt;" title="a equals the square root of c squared minus b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27226" y="8052069"/>
            <a:ext cx="1158659" cy="261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&lt;math xmlns=&quot;http://www.w3.org/1998/Math/MathML&quot; display=&quot;block&quot; data-is-equatio=&quot;1&quot; data-latex=&quot;a=\sqrt{13^2-12^2}&quot;&gt;&lt;mi&gt;a&lt;/mi&gt;&lt;mo&gt;=&lt;/mo&gt;&lt;msqrt&gt;&lt;msup&gt;&lt;mn&gt;13&lt;/mn&gt;&lt;mn&gt;2&lt;/mn&gt;&lt;/msup&gt;&lt;mo&gt;−&lt;/mo&gt;&lt;msup&gt;&lt;mn&gt;12&lt;/mn&gt;&lt;mn&gt;2&lt;/mn&gt;&lt;/msup&gt;&lt;/msqrt&gt;&lt;/math&gt;" title="a equals the square root of 13 squared minus 12 square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51169" y="8461567"/>
            <a:ext cx="1211048" cy="22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932976" y="7486882"/>
            <a:ext cx="1900817" cy="119210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2354977" y="8818478"/>
            <a:ext cx="892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80300" y="9130500"/>
            <a:ext cx="66240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Compare the approaches in parts a) and 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There’s a lot of similarity between the two methods. They give us the same result with a similar level of effort in this problem.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Evaluating expressions without changing the subject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2024-02-06T11:44:23.034</cp:lastPrinted>
  <dcterms:created xsi:type="dcterms:W3CDTF">2024-02-06T11:44:23Z</dcterms:created>
  <dcterms:modified xsi:type="dcterms:W3CDTF">2024-02-06T11:44:33Z</dcterms:modified>
</cp:coreProperties>
</file>