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494A562-7960-4675-8932-F0052F9F0670}">
  <a:tblStyle styleId="{0494A562-7960-4675-8932-F0052F9F067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a9103db77d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a9103db77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a9103db77d_1_4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a9103db77d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a9103db77d_1_117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a9103db77d_1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5881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 Mathematics in Education and Industry.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3" name="Google Shape;103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7" name="Google Shape;107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6" name="Google Shape;116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7" name="Google Shape;11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0" name="Google Shape;12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9" name="Google Shape;129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0" name="Google Shape;13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3" name="Google Shape;13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9" name="Google Shape;13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" name="Google Shape;141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5" name="Google Shape;145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6" name="Google Shape;14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" name="Google Shape;148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6" name="Google Shape;15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0" name="Google Shape;16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 txBox="1"/>
          <p:nvPr>
            <p:ph type="title"/>
          </p:nvPr>
        </p:nvSpPr>
        <p:spPr>
          <a:xfrm>
            <a:off x="468000" y="864000"/>
            <a:ext cx="6624000" cy="83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ratio as a multiplicative relationship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468000" y="1766250"/>
            <a:ext cx="53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Reviewing ratio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468000" y="2152200"/>
            <a:ext cx="65319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1a) Construct a ratio table for the following recipes.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3" name="Google Shape;173;p20"/>
          <p:cNvGraphicFramePr/>
          <p:nvPr/>
        </p:nvGraphicFramePr>
        <p:xfrm>
          <a:off x="2710800" y="2528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{0494A562-7960-4675-8932-F0052F9F0670}</a:tableStyleId>
              </a:tblPr>
              <a:tblGrid>
                <a:gridCol w="650825"/>
                <a:gridCol w="614375"/>
                <a:gridCol w="629650"/>
                <a:gridCol w="842575"/>
                <a:gridCol w="913575"/>
                <a:gridCol w="730200"/>
              </a:tblGrid>
              <a:tr h="438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Cake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Flour (g)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Eggs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Vanilla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(ml)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Sugar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(g)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Butter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(g)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0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4" name="Google Shape;174;p20"/>
          <p:cNvGraphicFramePr/>
          <p:nvPr/>
        </p:nvGraphicFramePr>
        <p:xfrm>
          <a:off x="2710788" y="34731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{0494A562-7960-4675-8932-F0052F9F0670}</a:tableStyleId>
              </a:tblPr>
              <a:tblGrid>
                <a:gridCol w="650825"/>
                <a:gridCol w="614400"/>
                <a:gridCol w="629650"/>
                <a:gridCol w="842575"/>
                <a:gridCol w="913575"/>
                <a:gridCol w="730200"/>
              </a:tblGrid>
              <a:tr h="413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1000\div250\ =\ 4&quot;&gt;&lt;mn&gt;1000&lt;/mn&gt;&lt;mo&gt;÷&lt;/mo&gt;&lt;mn&gt;250&lt;/mn&gt;&lt;mtext&gt;&lt;/mtext&gt;&lt;mo&gt;=&lt;/mo&gt;&lt;mtext&gt;&lt;/mtext&gt;&lt;mn&gt;4&lt;/mn&gt;&lt;/math&gt;" id="175" name="Google Shape;175;p20" title="1000 divided by 250 equals 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7125" y="4019950"/>
            <a:ext cx="1576475" cy="170216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/>
          <p:nvPr/>
        </p:nvSpPr>
        <p:spPr>
          <a:xfrm>
            <a:off x="2467743" y="3150225"/>
            <a:ext cx="292275" cy="518850"/>
          </a:xfrm>
          <a:custGeom>
            <a:rect b="b" l="l" r="r" t="t"/>
            <a:pathLst>
              <a:path extrusionOk="0" h="20754" w="11691">
                <a:moveTo>
                  <a:pt x="11691" y="0"/>
                </a:moveTo>
                <a:cubicBezTo>
                  <a:pt x="5975" y="1140"/>
                  <a:pt x="-1339" y="7629"/>
                  <a:pt x="261" y="13234"/>
                </a:cubicBezTo>
                <a:cubicBezTo>
                  <a:pt x="1400" y="17226"/>
                  <a:pt x="6731" y="18454"/>
                  <a:pt x="10187" y="20754"/>
                </a:cubicBezTo>
              </a:path>
            </a:pathLst>
          </a:custGeom>
          <a:noFill/>
          <a:ln cap="flat" cmpd="sng" w="19050">
            <a:solidFill>
              <a:srgbClr val="575756"/>
            </a:solidFill>
            <a:prstDash val="solid"/>
            <a:round/>
            <a:headEnd len="med" w="med" type="none"/>
            <a:tailEnd len="med" w="med" type="triangle"/>
          </a:ln>
        </p:spPr>
      </p:sp>
      <p:pic>
        <p:nvPicPr>
          <p:cNvPr descr="&lt;math xmlns=&quot;http://www.w3.org/1998/Math/MathML&quot; display=&quot;block&quot; data-is-equatio=&quot;1&quot; data-latex=&quot;\times4&quot;&gt;&lt;mo&gt;×&lt;/mo&gt;&lt;mn&gt;4&lt;/mn&gt;&lt;/math&gt;" id="177" name="Google Shape;177;p20" title="times 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65863" y="3150221"/>
            <a:ext cx="292275" cy="189729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498000" y="8376050"/>
            <a:ext cx="653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 vanilla cakes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(see ratio table above for other ingredients)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79" name="Google Shape;179;p20"/>
          <p:cNvGraphicFramePr/>
          <p:nvPr/>
        </p:nvGraphicFramePr>
        <p:xfrm>
          <a:off x="2710800" y="4349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{0494A562-7960-4675-8932-F0052F9F0670}</a:tableStyleId>
              </a:tblPr>
              <a:tblGrid>
                <a:gridCol w="650800"/>
                <a:gridCol w="614400"/>
                <a:gridCol w="629650"/>
                <a:gridCol w="1031850"/>
                <a:gridCol w="724300"/>
                <a:gridCol w="730200"/>
              </a:tblGrid>
              <a:tr h="68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Cake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Flour (g)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Eggs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Bananas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Sugar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(g)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Butter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(g)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0" name="Google Shape;180;p20"/>
          <p:cNvGraphicFramePr/>
          <p:nvPr/>
        </p:nvGraphicFramePr>
        <p:xfrm>
          <a:off x="2710813" y="55081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{0494A562-7960-4675-8932-F0052F9F0670}</a:tableStyleId>
              </a:tblPr>
              <a:tblGrid>
                <a:gridCol w="650800"/>
                <a:gridCol w="614400"/>
                <a:gridCol w="629650"/>
                <a:gridCol w="1031850"/>
                <a:gridCol w="724300"/>
                <a:gridCol w="730200"/>
              </a:tblGrid>
              <a:tr h="413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1" name="Google Shape;181;p20"/>
          <p:cNvSpPr/>
          <p:nvPr/>
        </p:nvSpPr>
        <p:spPr>
          <a:xfrm>
            <a:off x="2434096" y="5256613"/>
            <a:ext cx="292275" cy="518850"/>
          </a:xfrm>
          <a:custGeom>
            <a:rect b="b" l="l" r="r" t="t"/>
            <a:pathLst>
              <a:path extrusionOk="0" h="20754" w="11691">
                <a:moveTo>
                  <a:pt x="11691" y="0"/>
                </a:moveTo>
                <a:cubicBezTo>
                  <a:pt x="5975" y="1140"/>
                  <a:pt x="-1339" y="7629"/>
                  <a:pt x="261" y="13234"/>
                </a:cubicBezTo>
                <a:cubicBezTo>
                  <a:pt x="1400" y="17226"/>
                  <a:pt x="6731" y="18454"/>
                  <a:pt x="10187" y="20754"/>
                </a:cubicBezTo>
              </a:path>
            </a:pathLst>
          </a:custGeom>
          <a:noFill/>
          <a:ln cap="flat" cmpd="sng" w="19050">
            <a:solidFill>
              <a:srgbClr val="575756"/>
            </a:solidFill>
            <a:prstDash val="solid"/>
            <a:round/>
            <a:headEnd len="med" w="med" type="none"/>
            <a:tailEnd len="med" w="med" type="triangle"/>
          </a:ln>
        </p:spPr>
      </p:sp>
      <p:pic>
        <p:nvPicPr>
          <p:cNvPr descr="&lt;math xmlns=&quot;http://www.w3.org/1998/Math/MathML&quot; display=&quot;block&quot; data-is-equatio=&quot;1&quot; data-latex=&quot;\times5&quot;&gt;&lt;mo&gt;×&lt;/mo&gt;&lt;mn&gt;5&lt;/mn&gt;&lt;/math&gt;" id="182" name="Google Shape;182;p20" title="times 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56200" y="4988077"/>
            <a:ext cx="292275" cy="203554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498000" y="8719638"/>
            <a:ext cx="653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 banana cakes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(see ratio table above for other ingredients)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84" name="Google Shape;184;p20"/>
          <p:cNvGraphicFramePr/>
          <p:nvPr/>
        </p:nvGraphicFramePr>
        <p:xfrm>
          <a:off x="2695649" y="6136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{0494A562-7960-4675-8932-F0052F9F0670}</a:tableStyleId>
              </a:tblPr>
              <a:tblGrid>
                <a:gridCol w="650800"/>
                <a:gridCol w="614400"/>
                <a:gridCol w="629650"/>
                <a:gridCol w="842575"/>
                <a:gridCol w="913575"/>
                <a:gridCol w="730200"/>
              </a:tblGrid>
              <a:tr h="683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Cake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Flour (g)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Eggs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Grape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fruit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Sugar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(g)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Butter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(g)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</a:tr>
              <a:tr h="47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5" name="Google Shape;185;p20"/>
          <p:cNvGraphicFramePr/>
          <p:nvPr/>
        </p:nvGraphicFramePr>
        <p:xfrm>
          <a:off x="2695650" y="7294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{0494A562-7960-4675-8932-F0052F9F0670}</a:tableStyleId>
              </a:tblPr>
              <a:tblGrid>
                <a:gridCol w="650800"/>
                <a:gridCol w="614400"/>
                <a:gridCol w="629650"/>
                <a:gridCol w="842575"/>
                <a:gridCol w="913575"/>
                <a:gridCol w="730200"/>
              </a:tblGrid>
              <a:tr h="294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6" name="Google Shape;186;p20"/>
          <p:cNvSpPr/>
          <p:nvPr/>
        </p:nvSpPr>
        <p:spPr>
          <a:xfrm>
            <a:off x="2434105" y="7068350"/>
            <a:ext cx="292275" cy="518850"/>
          </a:xfrm>
          <a:custGeom>
            <a:rect b="b" l="l" r="r" t="t"/>
            <a:pathLst>
              <a:path extrusionOk="0" h="20754" w="11691">
                <a:moveTo>
                  <a:pt x="11691" y="0"/>
                </a:moveTo>
                <a:cubicBezTo>
                  <a:pt x="5975" y="1140"/>
                  <a:pt x="-1339" y="7629"/>
                  <a:pt x="261" y="13234"/>
                </a:cubicBezTo>
                <a:cubicBezTo>
                  <a:pt x="1400" y="17226"/>
                  <a:pt x="6731" y="18454"/>
                  <a:pt x="10187" y="20754"/>
                </a:cubicBezTo>
              </a:path>
            </a:pathLst>
          </a:custGeom>
          <a:noFill/>
          <a:ln cap="flat" cmpd="sng" w="19050">
            <a:solidFill>
              <a:srgbClr val="575756"/>
            </a:solidFill>
            <a:prstDash val="solid"/>
            <a:round/>
            <a:headEnd len="med" w="med" type="none"/>
            <a:tailEnd len="med" w="med" type="triangle"/>
          </a:ln>
        </p:spPr>
      </p:sp>
      <p:pic>
        <p:nvPicPr>
          <p:cNvPr descr="&lt;math xmlns=&quot;http://www.w3.org/1998/Math/MathML&quot; display=&quot;block&quot; data-is-equatio=&quot;1&quot; data-latex=&quot;\times8&quot;&gt;&lt;mo&gt;×&lt;/mo&gt;&lt;mn&gt;8&lt;/mn&gt;&lt;/math&gt;" id="187" name="Google Shape;187;p20" title="times 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85609" y="6819388"/>
            <a:ext cx="344437" cy="23372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468000" y="7899475"/>
            <a:ext cx="66240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For each cake, how many cakes can you make with 1 kg of flour and how much of each other ingredient is needed?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498000" y="9063225"/>
            <a:ext cx="653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 grapefruit cakes (see ratio table abo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ve for other ingredients)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508776" y="2572500"/>
            <a:ext cx="1461600" cy="1334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574200" y="2610625"/>
            <a:ext cx="1312800" cy="12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vanilla cake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250 g of flour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eggs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ml of vanilla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75 g of sugar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75 g of butter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498000" y="4311400"/>
            <a:ext cx="1461600" cy="1334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604225" y="4374275"/>
            <a:ext cx="1312800" cy="12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banana cake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200 g of flour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eggs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bananas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200 g of sugar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200 g of butter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534050" y="6170300"/>
            <a:ext cx="1461600" cy="1238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587350" y="6171725"/>
            <a:ext cx="1461600" cy="12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grapefruit cake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125 g of flour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egg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grapefruit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300 g of sugar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150 g of butter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6" name="Google Shape;196;p20"/>
          <p:cNvCxnSpPr/>
          <p:nvPr/>
        </p:nvCxnSpPr>
        <p:spPr>
          <a:xfrm>
            <a:off x="676300" y="6449663"/>
            <a:ext cx="1248900" cy="1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" name="Google Shape;197;p20"/>
          <p:cNvCxnSpPr/>
          <p:nvPr/>
        </p:nvCxnSpPr>
        <p:spPr>
          <a:xfrm>
            <a:off x="708900" y="4652088"/>
            <a:ext cx="1043400" cy="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" name="Google Shape;198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ratio as a multiplicative relationship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468000" y="759300"/>
            <a:ext cx="6179100" cy="6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Jacob has spilt chocolate sauce all over his ratio table for making chocolate brownies. Work out the missing values.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5" name="Google Shape;205;p21"/>
          <p:cNvGraphicFramePr/>
          <p:nvPr/>
        </p:nvGraphicFramePr>
        <p:xfrm>
          <a:off x="546200" y="1336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{0494A562-7960-4675-8932-F0052F9F0670}</a:tableStyleId>
              </a:tblPr>
              <a:tblGrid>
                <a:gridCol w="1111175"/>
                <a:gridCol w="855625"/>
                <a:gridCol w="801825"/>
                <a:gridCol w="889275"/>
                <a:gridCol w="687500"/>
                <a:gridCol w="727900"/>
                <a:gridCol w="1346550"/>
              </a:tblGrid>
              <a:tr h="747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Serves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(people)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Butter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(g)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Cocoa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(g)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Sugar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(g)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Eggs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Flour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Vanilla extract (ml)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F0F0F0"/>
                    </a:solidFill>
                  </a:tcPr>
                </a:tc>
              </a:tr>
              <a:tr h="467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67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87.5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1.5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  <a:tr h="467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400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400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350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200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  <a:tr h="467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262.5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4.5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150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206" name="Google Shape;20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6293" y="5748849"/>
            <a:ext cx="244580" cy="267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6293" y="6111712"/>
            <a:ext cx="244580" cy="267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7838" y="6474575"/>
            <a:ext cx="244580" cy="267624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484748" y="4089150"/>
            <a:ext cx="64695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Identify if each statement is true or false for the following using this ratio table.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0" name="Google Shape;210;p21"/>
          <p:cNvGraphicFramePr/>
          <p:nvPr/>
        </p:nvGraphicFramePr>
        <p:xfrm>
          <a:off x="604738" y="4673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{0494A562-7960-4675-8932-F0052F9F0670}</a:tableStyleId>
              </a:tblPr>
              <a:tblGrid>
                <a:gridCol w="747600"/>
                <a:gridCol w="1588050"/>
                <a:gridCol w="1479500"/>
                <a:gridCol w="1240300"/>
                <a:gridCol w="1263850"/>
              </a:tblGrid>
              <a:tr h="289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Burger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Veggie patty (g)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Lettuce (slices)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Cheese slice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Tomato slice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200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1" name="Google Shape;211;p21"/>
          <p:cNvGraphicFramePr/>
          <p:nvPr/>
        </p:nvGraphicFramePr>
        <p:xfrm>
          <a:off x="604750" y="52612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{0494A562-7960-4675-8932-F0052F9F0670}</a:tableStyleId>
              </a:tblPr>
              <a:tblGrid>
                <a:gridCol w="5530575"/>
                <a:gridCol w="394350"/>
                <a:gridCol w="394350"/>
              </a:tblGrid>
              <a:tr h="27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Statement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289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For every 4 slices of lettuce there are 6 slices of cheese.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Tomato slices are double the lettuce slices.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For every 60 g of veggie patty, there are 2 slices of tomatoes.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12" name="Google Shape;212;p21"/>
          <p:cNvCxnSpPr/>
          <p:nvPr/>
        </p:nvCxnSpPr>
        <p:spPr>
          <a:xfrm>
            <a:off x="474757" y="994250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" name="Google Shape;213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2"/>
          <p:cNvSpPr txBox="1"/>
          <p:nvPr/>
        </p:nvSpPr>
        <p:spPr>
          <a:xfrm>
            <a:off x="549325" y="4921523"/>
            <a:ext cx="63348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Orange paint is made using 2 tins of yellow for every one tin of red.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Sam, Jacob and Aisha are given an orange paint made in this ratio.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They each add three more tins to the mix, using only red and yellow.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results after they mixed the extra tins are below.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colours were in each of their three tins?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Sam’s paint turns lighter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Jacob’s paint stays the same colour.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Aisha’s paint turns darker.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707239" y="6615242"/>
            <a:ext cx="1083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2"/>
          <p:cNvSpPr txBox="1"/>
          <p:nvPr/>
        </p:nvSpPr>
        <p:spPr>
          <a:xfrm>
            <a:off x="3076900" y="6609117"/>
            <a:ext cx="10830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Jacob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2"/>
          <p:cNvSpPr txBox="1"/>
          <p:nvPr/>
        </p:nvSpPr>
        <p:spPr>
          <a:xfrm>
            <a:off x="5109250" y="6614082"/>
            <a:ext cx="80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Aisha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2"/>
          <p:cNvSpPr txBox="1"/>
          <p:nvPr>
            <p:ph idx="1" type="subTitle"/>
          </p:nvPr>
        </p:nvSpPr>
        <p:spPr>
          <a:xfrm>
            <a:off x="1463400" y="360000"/>
            <a:ext cx="4782600" cy="29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ratio as a multiplicative relationship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549325" y="952093"/>
            <a:ext cx="396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4" name="Google Shape;224;p22"/>
          <p:cNvGraphicFramePr/>
          <p:nvPr/>
        </p:nvGraphicFramePr>
        <p:xfrm>
          <a:off x="499388" y="28801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{0494A562-7960-4675-8932-F0052F9F0670}</a:tableStyleId>
              </a:tblPr>
              <a:tblGrid>
                <a:gridCol w="3441625"/>
                <a:gridCol w="1022175"/>
                <a:gridCol w="1282800"/>
                <a:gridCol w="814950"/>
              </a:tblGrid>
              <a:tr h="389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Ratio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Too sweet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Too bitter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Perfect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469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 lemons, 1000 ml of water and 3 tablespoons of sugar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 lemons, 2000 ml of water and 9 tablespoons of sugar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 lemons, 1500 ml of water and 6 tablespoons of sugar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5" name="Google Shape;225;p22"/>
          <p:cNvGraphicFramePr/>
          <p:nvPr/>
        </p:nvGraphicFramePr>
        <p:xfrm>
          <a:off x="1933033" y="9850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{0494A562-7960-4675-8932-F0052F9F0670}</a:tableStyleId>
              </a:tblPr>
              <a:tblGrid>
                <a:gridCol w="1385750"/>
                <a:gridCol w="1385750"/>
                <a:gridCol w="1385750"/>
              </a:tblGrid>
              <a:tr h="246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Lemons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Water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Sugar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246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6" name="Google Shape;226;p22"/>
          <p:cNvGraphicFramePr/>
          <p:nvPr/>
        </p:nvGraphicFramePr>
        <p:xfrm>
          <a:off x="1933016" y="1722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{0494A562-7960-4675-8932-F0052F9F0670}</a:tableStyleId>
              </a:tblPr>
              <a:tblGrid>
                <a:gridCol w="1385750"/>
                <a:gridCol w="1385750"/>
                <a:gridCol w="1385750"/>
              </a:tblGrid>
              <a:tr h="149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7" name="Google Shape;227;p22"/>
          <p:cNvGraphicFramePr/>
          <p:nvPr/>
        </p:nvGraphicFramePr>
        <p:xfrm>
          <a:off x="1933016" y="20928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{0494A562-7960-4675-8932-F0052F9F0670}</a:tableStyleId>
              </a:tblPr>
              <a:tblGrid>
                <a:gridCol w="1385750"/>
                <a:gridCol w="1385750"/>
                <a:gridCol w="1385750"/>
              </a:tblGrid>
              <a:tr h="88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8" name="Google Shape;228;p22"/>
          <p:cNvGraphicFramePr/>
          <p:nvPr/>
        </p:nvGraphicFramePr>
        <p:xfrm>
          <a:off x="1933016" y="24688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{0494A562-7960-4675-8932-F0052F9F0670}</a:tableStyleId>
              </a:tblPr>
              <a:tblGrid>
                <a:gridCol w="1385750"/>
                <a:gridCol w="1385750"/>
                <a:gridCol w="1385750"/>
              </a:tblGrid>
              <a:tr h="105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29" name="Google Shape;2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9608" y="3335268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6021" y="3914406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0058" y="4455081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2308" y="6083463"/>
            <a:ext cx="344959" cy="62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0449" y="6083463"/>
            <a:ext cx="344959" cy="62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78590" y="6083463"/>
            <a:ext cx="344959" cy="62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57400" y="6083463"/>
            <a:ext cx="344959" cy="62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55541" y="6083463"/>
            <a:ext cx="344959" cy="62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3682" y="6083463"/>
            <a:ext cx="344959" cy="62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2492" y="6102325"/>
            <a:ext cx="344959" cy="62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9325" y="5789348"/>
            <a:ext cx="527944" cy="940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4417" y="5789348"/>
            <a:ext cx="527944" cy="940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99509" y="5808210"/>
            <a:ext cx="527944" cy="940703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2"/>
          <p:cNvSpPr txBox="1"/>
          <p:nvPr/>
        </p:nvSpPr>
        <p:spPr>
          <a:xfrm>
            <a:off x="563150" y="7779273"/>
            <a:ext cx="64965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ratio of paint must include more yellow than red, and it must be a higher proportion of yellow than the original. Since there are three cans used, they must all be yellow as one red and two yellow would maintain the original colour.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542708" y="8723604"/>
            <a:ext cx="66240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paint stays the same colour so the paint added must be the same as the original mix, so two yellow and one red.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4" name="Google Shape;244;p22"/>
          <p:cNvSpPr txBox="1"/>
          <p:nvPr/>
        </p:nvSpPr>
        <p:spPr>
          <a:xfrm>
            <a:off x="564000" y="9438123"/>
            <a:ext cx="6432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paint becomes more red, so either all three cans are red, or two are red and one is yellow. It's not possible to tell which.</a:t>
            </a:r>
            <a:endParaRPr sz="800"/>
          </a:p>
        </p:txBody>
      </p:sp>
      <p:sp>
        <p:nvSpPr>
          <p:cNvPr id="245" name="Google Shape;245;p22"/>
          <p:cNvSpPr txBox="1"/>
          <p:nvPr/>
        </p:nvSpPr>
        <p:spPr>
          <a:xfrm>
            <a:off x="468000" y="693288"/>
            <a:ext cx="53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Using reasoning with ratios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2" name="Google Shape;252;p23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ratio as a multiplicative relationship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Mathematics in Education and Industry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55" name="Google Shape;255;p23"/>
          <p:cNvSpPr txBox="1"/>
          <p:nvPr/>
        </p:nvSpPr>
        <p:spPr>
          <a:xfrm>
            <a:off x="468000" y="1064100"/>
            <a:ext cx="80937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Tick if the statement is true o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r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false.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56" name="Google Shape;256;p23"/>
          <p:cNvGraphicFramePr/>
          <p:nvPr/>
        </p:nvGraphicFramePr>
        <p:xfrm>
          <a:off x="528875" y="138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{0494A562-7960-4675-8932-F0052F9F0670}</a:tableStyleId>
              </a:tblPr>
              <a:tblGrid>
                <a:gridCol w="5225850"/>
                <a:gridCol w="594900"/>
                <a:gridCol w="716475"/>
              </a:tblGrid>
              <a:tr h="70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Statement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True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False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70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ratio describes the relationship between values.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Ratio uses an additive relationship.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3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Adding the same amount to each part in a ratio keeps the ratio the same.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2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Multiplying by the same amount 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for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each part in a ratio keeps the ratio the same.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57" name="Google Shape;25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0008" y="22210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0333" y="2960763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0333" y="36365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0008" y="431737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3"/>
          <p:cNvSpPr txBox="1"/>
          <p:nvPr/>
        </p:nvSpPr>
        <p:spPr>
          <a:xfrm>
            <a:off x="468000" y="693288"/>
            <a:ext cx="53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Using reasoning with ratios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