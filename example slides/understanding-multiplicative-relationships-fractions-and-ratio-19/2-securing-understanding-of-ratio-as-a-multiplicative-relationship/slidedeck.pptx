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289EE7-7605-4351-86E5-59BD12E9DEE6}">
  <a:tblStyle styleId="{0B289EE7-7605-4351-86E5-59BD12E9DE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a27436bf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27436bf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a27436bfd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a27436bfd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a27436bfd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a27436bfd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a27436bfdf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a27436bfdf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a27436bfd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a27436bfd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a27436bfd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a27436bfd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a27436bfdf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a27436bfdf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a27436bfdf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a27436bfdf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a27436bfdf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a27436bfdf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27436bfdf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27436bfdf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a27436bfdf_2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a27436bfdf_2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a27436bfdf_2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a27436bfdf_2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a27436bfdf_2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a27436bfdf_2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a27436bfdf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a27436bfdf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a27436bfdf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a27436bfdf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a27436bfdf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a27436bfdf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a27436bfdf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a27436bfdf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a27436bfdf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a27436bfdf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a2ef1972a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a2ef1972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a2ef1972a7_1_3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a2ef1972a7_1_3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a31b8330a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a31b8330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a36253504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a36253504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a36253504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a36253504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a362535044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a36253504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a2ef1972a7_1_3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a2ef1972a7_1_3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a36253504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a3625350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a2ef1972a7_1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a2ef1972a7_1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a2ef1972a7_1_3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a2ef1972a7_1_3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a2ef1972a7_1_2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a2ef1972a7_1_2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a2ef1972a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a2ef1972a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a36253504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a36253504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a362535044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a36253504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a2ef1972a7_1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a2ef1972a7_1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a2ef1972a7_1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a2ef1972a7_1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a2ef1972a7_1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a2ef1972a7_1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a2ef1972a7_1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a2ef1972a7_1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a863a281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a863a281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7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3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9.png"/><Relationship Id="rId4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reason about ratios in a context.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58525" y="993650"/>
            <a:ext cx="81915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ratio shows the relative sizes of 2 or more values and allows you to compare a part with another part in a whole.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8180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780" name="Google Shape;780;p69"/>
          <p:cNvSpPr txBox="1"/>
          <p:nvPr/>
        </p:nvSpPr>
        <p:spPr>
          <a:xfrm>
            <a:off x="324000" y="666125"/>
            <a:ext cx="762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Proportions relate one number to another.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9"/>
          <p:cNvSpPr txBox="1"/>
          <p:nvPr/>
        </p:nvSpPr>
        <p:spPr>
          <a:xfrm>
            <a:off x="324000" y="1199525"/>
            <a:ext cx="815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Fractions, decimals, percentages and ratio are common forms to show proportion because proportion is a part to whole (sometimes part to part) comparison.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2" name="Google Shape;782;p69"/>
          <p:cNvGrpSpPr/>
          <p:nvPr/>
        </p:nvGrpSpPr>
        <p:grpSpPr>
          <a:xfrm>
            <a:off x="256325" y="2491263"/>
            <a:ext cx="1347900" cy="1223181"/>
            <a:chOff x="256325" y="2491263"/>
            <a:chExt cx="1347900" cy="1223181"/>
          </a:xfrm>
        </p:grpSpPr>
        <p:sp>
          <p:nvSpPr>
            <p:cNvPr id="783" name="Google Shape;783;p69"/>
            <p:cNvSpPr txBox="1"/>
            <p:nvPr/>
          </p:nvSpPr>
          <p:spPr>
            <a:xfrm>
              <a:off x="256325" y="2491263"/>
              <a:ext cx="13479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784" name="Google Shape;784;p69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9307" y="3071021"/>
              <a:ext cx="201950" cy="6434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5" name="Google Shape;785;p69"/>
          <p:cNvGrpSpPr/>
          <p:nvPr/>
        </p:nvGrpSpPr>
        <p:grpSpPr>
          <a:xfrm>
            <a:off x="1129225" y="2751850"/>
            <a:ext cx="3294175" cy="1236875"/>
            <a:chOff x="1129225" y="2751850"/>
            <a:chExt cx="3294175" cy="1236875"/>
          </a:xfrm>
        </p:grpSpPr>
        <p:cxnSp>
          <p:nvCxnSpPr>
            <p:cNvPr id="786" name="Google Shape;786;p69"/>
            <p:cNvCxnSpPr/>
            <p:nvPr/>
          </p:nvCxnSpPr>
          <p:spPr>
            <a:xfrm flipH="1">
              <a:off x="1129225" y="2963650"/>
              <a:ext cx="1030200" cy="278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69"/>
            <p:cNvCxnSpPr/>
            <p:nvPr/>
          </p:nvCxnSpPr>
          <p:spPr>
            <a:xfrm rot="10800000">
              <a:off x="1197625" y="3567525"/>
              <a:ext cx="991500" cy="199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8" name="Google Shape;788;p69"/>
            <p:cNvSpPr txBox="1"/>
            <p:nvPr/>
          </p:nvSpPr>
          <p:spPr>
            <a:xfrm>
              <a:off x="2264325" y="2751850"/>
              <a:ext cx="2067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There is 1 part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9" name="Google Shape;789;p69"/>
            <p:cNvSpPr txBox="1"/>
            <p:nvPr/>
          </p:nvSpPr>
          <p:spPr>
            <a:xfrm>
              <a:off x="2355500" y="3567525"/>
              <a:ext cx="2067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 is the whole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0" name="Google Shape;790;p69"/>
          <p:cNvGrpSpPr/>
          <p:nvPr/>
        </p:nvGrpSpPr>
        <p:grpSpPr>
          <a:xfrm>
            <a:off x="2626141" y="2488018"/>
            <a:ext cx="1347900" cy="1163075"/>
            <a:chOff x="728175" y="810000"/>
            <a:chExt cx="1347900" cy="1163075"/>
          </a:xfrm>
        </p:grpSpPr>
        <p:sp>
          <p:nvSpPr>
            <p:cNvPr id="791" name="Google Shape;791;p69"/>
            <p:cNvSpPr txBox="1"/>
            <p:nvPr/>
          </p:nvSpPr>
          <p:spPr>
            <a:xfrm>
              <a:off x="728175" y="810000"/>
              <a:ext cx="13479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Decimal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9"/>
            <p:cNvSpPr txBox="1"/>
            <p:nvPr/>
          </p:nvSpPr>
          <p:spPr>
            <a:xfrm>
              <a:off x="865875" y="1449875"/>
              <a:ext cx="1072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0.25</a:t>
              </a:r>
              <a:endParaRPr/>
            </a:p>
          </p:txBody>
        </p:sp>
      </p:grpSp>
      <p:grpSp>
        <p:nvGrpSpPr>
          <p:cNvPr id="793" name="Google Shape;793;p69"/>
          <p:cNvGrpSpPr/>
          <p:nvPr/>
        </p:nvGrpSpPr>
        <p:grpSpPr>
          <a:xfrm>
            <a:off x="3717766" y="2744818"/>
            <a:ext cx="3428900" cy="1236875"/>
            <a:chOff x="1819800" y="1066800"/>
            <a:chExt cx="3428900" cy="1236875"/>
          </a:xfrm>
        </p:grpSpPr>
        <p:cxnSp>
          <p:nvCxnSpPr>
            <p:cNvPr id="794" name="Google Shape;794;p69"/>
            <p:cNvCxnSpPr/>
            <p:nvPr/>
          </p:nvCxnSpPr>
          <p:spPr>
            <a:xfrm flipH="1">
              <a:off x="1837200" y="1278600"/>
              <a:ext cx="1030200" cy="278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69"/>
            <p:cNvCxnSpPr/>
            <p:nvPr/>
          </p:nvCxnSpPr>
          <p:spPr>
            <a:xfrm rot="10800000">
              <a:off x="1819800" y="1834775"/>
              <a:ext cx="1077300" cy="247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6" name="Google Shape;796;p69"/>
            <p:cNvSpPr txBox="1"/>
            <p:nvPr/>
          </p:nvSpPr>
          <p:spPr>
            <a:xfrm>
              <a:off x="2972300" y="1066800"/>
              <a:ext cx="22764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0.25 is the part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9"/>
            <p:cNvSpPr txBox="1"/>
            <p:nvPr/>
          </p:nvSpPr>
          <p:spPr>
            <a:xfrm>
              <a:off x="3063475" y="1882475"/>
              <a:ext cx="2067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 is the whole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8" name="Google Shape;798;p69"/>
          <p:cNvGrpSpPr/>
          <p:nvPr/>
        </p:nvGrpSpPr>
        <p:grpSpPr>
          <a:xfrm>
            <a:off x="4757650" y="2493600"/>
            <a:ext cx="1620900" cy="1869600"/>
            <a:chOff x="5062450" y="2950800"/>
            <a:chExt cx="1620900" cy="1869600"/>
          </a:xfrm>
        </p:grpSpPr>
        <p:sp>
          <p:nvSpPr>
            <p:cNvPr id="799" name="Google Shape;799;p69"/>
            <p:cNvSpPr txBox="1"/>
            <p:nvPr/>
          </p:nvSpPr>
          <p:spPr>
            <a:xfrm>
              <a:off x="5062450" y="2950800"/>
              <a:ext cx="1620900" cy="18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Example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 txBox="1"/>
            <p:nvPr/>
          </p:nvSpPr>
          <p:spPr>
            <a:xfrm>
              <a:off x="5394850" y="3545675"/>
              <a:ext cx="1072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25%</a:t>
              </a:r>
              <a:endParaRPr/>
            </a:p>
          </p:txBody>
        </p:sp>
      </p:grpSp>
      <p:grpSp>
        <p:nvGrpSpPr>
          <p:cNvPr id="801" name="Google Shape;801;p69"/>
          <p:cNvGrpSpPr/>
          <p:nvPr/>
        </p:nvGrpSpPr>
        <p:grpSpPr>
          <a:xfrm>
            <a:off x="6975570" y="2494941"/>
            <a:ext cx="1888500" cy="1483475"/>
            <a:chOff x="4986850" y="764900"/>
            <a:chExt cx="1888500" cy="1483475"/>
          </a:xfrm>
        </p:grpSpPr>
        <p:sp>
          <p:nvSpPr>
            <p:cNvPr id="802" name="Google Shape;802;p69"/>
            <p:cNvSpPr txBox="1"/>
            <p:nvPr/>
          </p:nvSpPr>
          <p:spPr>
            <a:xfrm>
              <a:off x="5120650" y="764900"/>
              <a:ext cx="16209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Ratio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 txBox="1"/>
            <p:nvPr/>
          </p:nvSpPr>
          <p:spPr>
            <a:xfrm>
              <a:off x="4986850" y="1232575"/>
              <a:ext cx="1888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For every 1 shaded there are 3 unshaded</a:t>
              </a:r>
              <a:endParaRPr sz="1800"/>
            </a:p>
          </p:txBody>
        </p:sp>
      </p:grpSp>
      <p:sp>
        <p:nvSpPr>
          <p:cNvPr id="804" name="Google Shape;804;p69"/>
          <p:cNvSpPr txBox="1"/>
          <p:nvPr/>
        </p:nvSpPr>
        <p:spPr>
          <a:xfrm>
            <a:off x="1204100" y="1871604"/>
            <a:ext cx="367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sometimes part to part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805" name="Google Shape;805;p69"/>
          <p:cNvGrpSpPr/>
          <p:nvPr/>
        </p:nvGrpSpPr>
        <p:grpSpPr>
          <a:xfrm>
            <a:off x="5952000" y="2704363"/>
            <a:ext cx="3428900" cy="1236875"/>
            <a:chOff x="6256800" y="3161563"/>
            <a:chExt cx="3428900" cy="1236875"/>
          </a:xfrm>
        </p:grpSpPr>
        <p:cxnSp>
          <p:nvCxnSpPr>
            <p:cNvPr id="806" name="Google Shape;806;p69"/>
            <p:cNvCxnSpPr/>
            <p:nvPr/>
          </p:nvCxnSpPr>
          <p:spPr>
            <a:xfrm flipH="1">
              <a:off x="6274200" y="3373363"/>
              <a:ext cx="1030200" cy="278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69"/>
            <p:cNvCxnSpPr/>
            <p:nvPr/>
          </p:nvCxnSpPr>
          <p:spPr>
            <a:xfrm rot="10800000">
              <a:off x="6256800" y="3929538"/>
              <a:ext cx="1077300" cy="247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8" name="Google Shape;808;p69"/>
            <p:cNvSpPr txBox="1"/>
            <p:nvPr/>
          </p:nvSpPr>
          <p:spPr>
            <a:xfrm>
              <a:off x="7409300" y="3161563"/>
              <a:ext cx="22764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25 is the part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9"/>
            <p:cNvSpPr txBox="1"/>
            <p:nvPr/>
          </p:nvSpPr>
          <p:spPr>
            <a:xfrm>
              <a:off x="7500475" y="3977238"/>
              <a:ext cx="2067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 is the whole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900" y="3510526"/>
            <a:ext cx="1429501" cy="112909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324000" y="683100"/>
            <a:ext cx="8237700" cy="7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Bar models and ratio tables are excellent visual ways to see the multiplicative relationship between parts and the whole.</a:t>
            </a:r>
            <a:endParaRPr sz="2000"/>
          </a:p>
        </p:txBody>
      </p:sp>
      <p:sp>
        <p:nvSpPr>
          <p:cNvPr id="816" name="Google Shape;81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817" name="Google Shape;817;p70"/>
          <p:cNvSpPr txBox="1"/>
          <p:nvPr/>
        </p:nvSpPr>
        <p:spPr>
          <a:xfrm>
            <a:off x="324000" y="1315200"/>
            <a:ext cx="371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here is a sandwich. How many slices of each ingredient are needed to make this sandwich?</a:t>
            </a:r>
            <a:endParaRPr sz="1200"/>
          </a:p>
        </p:txBody>
      </p:sp>
      <p:graphicFrame>
        <p:nvGraphicFramePr>
          <p:cNvPr id="818" name="Google Shape;818;p70"/>
          <p:cNvGraphicFramePr/>
          <p:nvPr/>
        </p:nvGraphicFramePr>
        <p:xfrm>
          <a:off x="338336" y="36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19" name="Google Shape;819;p70"/>
          <p:cNvSpPr/>
          <p:nvPr/>
        </p:nvSpPr>
        <p:spPr>
          <a:xfrm rot="5400000">
            <a:off x="2340274" y="1337175"/>
            <a:ext cx="323100" cy="432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0"/>
          <p:cNvSpPr txBox="1"/>
          <p:nvPr/>
        </p:nvSpPr>
        <p:spPr>
          <a:xfrm>
            <a:off x="1679599" y="29922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 sandwich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 rot="-5400000">
            <a:off x="654814" y="3980675"/>
            <a:ext cx="323100" cy="96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0"/>
          <p:cNvSpPr/>
          <p:nvPr/>
        </p:nvSpPr>
        <p:spPr>
          <a:xfrm rot="-5400000">
            <a:off x="1851803" y="3775250"/>
            <a:ext cx="323100" cy="1429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0"/>
          <p:cNvSpPr/>
          <p:nvPr/>
        </p:nvSpPr>
        <p:spPr>
          <a:xfrm rot="-5400000">
            <a:off x="3522172" y="3535550"/>
            <a:ext cx="323100" cy="1908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0"/>
          <p:cNvSpPr txBox="1"/>
          <p:nvPr/>
        </p:nvSpPr>
        <p:spPr>
          <a:xfrm>
            <a:off x="-2939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bread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1194036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cheese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2864411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tomato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7" name="Google Shape;827;p70"/>
          <p:cNvGraphicFramePr/>
          <p:nvPr/>
        </p:nvGraphicFramePr>
        <p:xfrm>
          <a:off x="4659458" y="145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25675"/>
                <a:gridCol w="793775"/>
                <a:gridCol w="945800"/>
                <a:gridCol w="983375"/>
              </a:tblGrid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28" name="Google Shape;828;p70"/>
          <p:cNvGrpSpPr/>
          <p:nvPr/>
        </p:nvGrpSpPr>
        <p:grpSpPr>
          <a:xfrm>
            <a:off x="5963200" y="2922525"/>
            <a:ext cx="2782325" cy="552750"/>
            <a:chOff x="5963200" y="2922525"/>
            <a:chExt cx="2782325" cy="552750"/>
          </a:xfrm>
        </p:grpSpPr>
        <p:sp>
          <p:nvSpPr>
            <p:cNvPr id="829" name="Google Shape;829;p70"/>
            <p:cNvSpPr txBox="1"/>
            <p:nvPr/>
          </p:nvSpPr>
          <p:spPr>
            <a:xfrm>
              <a:off x="6085125" y="3120675"/>
              <a:ext cx="26604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For every 1 sandwich, there are 2 slices of bread.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30" name="Google Shape;830;p70"/>
            <p:cNvGrpSpPr/>
            <p:nvPr/>
          </p:nvGrpSpPr>
          <p:grpSpPr>
            <a:xfrm>
              <a:off x="5963200" y="2922525"/>
              <a:ext cx="706800" cy="250800"/>
              <a:chOff x="5963200" y="2922525"/>
              <a:chExt cx="706800" cy="250800"/>
            </a:xfrm>
          </p:grpSpPr>
          <p:cxnSp>
            <p:nvCxnSpPr>
              <p:cNvPr id="831" name="Google Shape;831;p70"/>
              <p:cNvCxnSpPr/>
              <p:nvPr/>
            </p:nvCxnSpPr>
            <p:spPr>
              <a:xfrm rot="10800000">
                <a:off x="5963200" y="2970225"/>
                <a:ext cx="706800" cy="20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70"/>
              <p:cNvCxnSpPr/>
              <p:nvPr/>
            </p:nvCxnSpPr>
            <p:spPr>
              <a:xfrm rot="10800000">
                <a:off x="6645400" y="2922525"/>
                <a:ext cx="24600" cy="250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33" name="Google Shape;833;p70"/>
          <p:cNvGrpSpPr/>
          <p:nvPr/>
        </p:nvGrpSpPr>
        <p:grpSpPr>
          <a:xfrm>
            <a:off x="6083400" y="2891443"/>
            <a:ext cx="2660400" cy="558032"/>
            <a:chOff x="4407000" y="2891443"/>
            <a:chExt cx="2660400" cy="558032"/>
          </a:xfrm>
        </p:grpSpPr>
        <p:grpSp>
          <p:nvGrpSpPr>
            <p:cNvPr id="834" name="Google Shape;834;p70"/>
            <p:cNvGrpSpPr/>
            <p:nvPr/>
          </p:nvGrpSpPr>
          <p:grpSpPr>
            <a:xfrm>
              <a:off x="5002679" y="2891443"/>
              <a:ext cx="706800" cy="250800"/>
              <a:chOff x="4515400" y="2922525"/>
              <a:chExt cx="706800" cy="250800"/>
            </a:xfrm>
          </p:grpSpPr>
          <p:cxnSp>
            <p:nvCxnSpPr>
              <p:cNvPr id="835" name="Google Shape;835;p70"/>
              <p:cNvCxnSpPr/>
              <p:nvPr/>
            </p:nvCxnSpPr>
            <p:spPr>
              <a:xfrm rot="10800000">
                <a:off x="4515400" y="2970225"/>
                <a:ext cx="706800" cy="20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6" name="Google Shape;836;p70"/>
              <p:cNvCxnSpPr/>
              <p:nvPr/>
            </p:nvCxnSpPr>
            <p:spPr>
              <a:xfrm rot="10800000">
                <a:off x="5197600" y="2922525"/>
                <a:ext cx="24600" cy="250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37" name="Google Shape;837;p70"/>
            <p:cNvSpPr txBox="1"/>
            <p:nvPr/>
          </p:nvSpPr>
          <p:spPr>
            <a:xfrm>
              <a:off x="4407000" y="3094875"/>
              <a:ext cx="26604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For every 2 slices of bread, there are 3 slices of cheese.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8" name="Google Shape;838;p70"/>
          <p:cNvGrpSpPr/>
          <p:nvPr/>
        </p:nvGrpSpPr>
        <p:grpSpPr>
          <a:xfrm>
            <a:off x="6085125" y="2880043"/>
            <a:ext cx="2660400" cy="595232"/>
            <a:chOff x="5094525" y="2880043"/>
            <a:chExt cx="2660400" cy="595232"/>
          </a:xfrm>
        </p:grpSpPr>
        <p:grpSp>
          <p:nvGrpSpPr>
            <p:cNvPr id="839" name="Google Shape;839;p70"/>
            <p:cNvGrpSpPr/>
            <p:nvPr/>
          </p:nvGrpSpPr>
          <p:grpSpPr>
            <a:xfrm>
              <a:off x="5656979" y="2880043"/>
              <a:ext cx="1511400" cy="262200"/>
              <a:chOff x="5169700" y="2911125"/>
              <a:chExt cx="1511400" cy="262200"/>
            </a:xfrm>
          </p:grpSpPr>
          <p:cxnSp>
            <p:nvCxnSpPr>
              <p:cNvPr id="840" name="Google Shape;840;p70"/>
              <p:cNvCxnSpPr/>
              <p:nvPr/>
            </p:nvCxnSpPr>
            <p:spPr>
              <a:xfrm rot="10800000">
                <a:off x="5169700" y="2926125"/>
                <a:ext cx="1500300" cy="247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" name="Google Shape;841;p70"/>
              <p:cNvCxnSpPr/>
              <p:nvPr/>
            </p:nvCxnSpPr>
            <p:spPr>
              <a:xfrm flipH="1" rot="10800000">
                <a:off x="6670000" y="2911125"/>
                <a:ext cx="11100" cy="262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42" name="Google Shape;842;p70"/>
            <p:cNvSpPr txBox="1"/>
            <p:nvPr/>
          </p:nvSpPr>
          <p:spPr>
            <a:xfrm>
              <a:off x="5094525" y="3120675"/>
              <a:ext cx="26604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For every 4 slices of 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tomato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there are 2 slices of bread.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324000" y="683100"/>
            <a:ext cx="8237700" cy="7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Bar models and ratio tables are excellent visual ways to see the multiplicative relationship between parts and the whole.</a:t>
            </a:r>
            <a:endParaRPr sz="2000"/>
          </a:p>
        </p:txBody>
      </p:sp>
      <p:sp>
        <p:nvSpPr>
          <p:cNvPr id="848" name="Google Shape;84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849" name="Google Shape;849;p71"/>
          <p:cNvSpPr txBox="1"/>
          <p:nvPr/>
        </p:nvSpPr>
        <p:spPr>
          <a:xfrm>
            <a:off x="324000" y="1467600"/>
            <a:ext cx="3714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sandwiches and how much of each ingredient would there be if there are 15 slices of cheese?</a:t>
            </a:r>
            <a:endParaRPr sz="1200"/>
          </a:p>
        </p:txBody>
      </p:sp>
      <p:graphicFrame>
        <p:nvGraphicFramePr>
          <p:cNvPr id="850" name="Google Shape;850;p71"/>
          <p:cNvGraphicFramePr/>
          <p:nvPr/>
        </p:nvGraphicFramePr>
        <p:xfrm>
          <a:off x="338336" y="36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  <a:gridCol w="4801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51" name="Google Shape;851;p71"/>
          <p:cNvSpPr/>
          <p:nvPr/>
        </p:nvSpPr>
        <p:spPr>
          <a:xfrm rot="5400000">
            <a:off x="2340274" y="1337175"/>
            <a:ext cx="323100" cy="432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1"/>
          <p:cNvSpPr txBox="1"/>
          <p:nvPr/>
        </p:nvSpPr>
        <p:spPr>
          <a:xfrm>
            <a:off x="1679599" y="29922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 rot="-5400000">
            <a:off x="654814" y="3980675"/>
            <a:ext cx="323100" cy="96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1"/>
          <p:cNvSpPr/>
          <p:nvPr/>
        </p:nvSpPr>
        <p:spPr>
          <a:xfrm rot="-5400000">
            <a:off x="1851803" y="3775250"/>
            <a:ext cx="323100" cy="1429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1"/>
          <p:cNvSpPr/>
          <p:nvPr/>
        </p:nvSpPr>
        <p:spPr>
          <a:xfrm rot="-5400000">
            <a:off x="3522172" y="3535550"/>
            <a:ext cx="323100" cy="1908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-2939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bread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1194036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cheese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2864411" y="45434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tomato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9" name="Google Shape;859;p71"/>
          <p:cNvGraphicFramePr/>
          <p:nvPr/>
        </p:nvGraphicFramePr>
        <p:xfrm>
          <a:off x="4659458" y="145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25675"/>
                <a:gridCol w="793775"/>
                <a:gridCol w="945800"/>
                <a:gridCol w="983375"/>
              </a:tblGrid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0" name="Google Shape;860;p71"/>
          <p:cNvGraphicFramePr/>
          <p:nvPr/>
        </p:nvGraphicFramePr>
        <p:xfrm>
          <a:off x="4659458" y="2830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25675"/>
                <a:gridCol w="793775"/>
                <a:gridCol w="945800"/>
                <a:gridCol w="9833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1" name="Google Shape;861;p71"/>
          <p:cNvSpPr txBox="1"/>
          <p:nvPr/>
        </p:nvSpPr>
        <p:spPr>
          <a:xfrm>
            <a:off x="-729400" y="3690600"/>
            <a:ext cx="3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2" name="Google Shape;862;p71"/>
          <p:cNvGrpSpPr/>
          <p:nvPr/>
        </p:nvGrpSpPr>
        <p:grpSpPr>
          <a:xfrm>
            <a:off x="1357500" y="3788589"/>
            <a:ext cx="1343120" cy="338400"/>
            <a:chOff x="1357500" y="3788589"/>
            <a:chExt cx="1343120" cy="338400"/>
          </a:xfrm>
        </p:grpSpPr>
        <p:sp>
          <p:nvSpPr>
            <p:cNvPr id="863" name="Google Shape;863;p71"/>
            <p:cNvSpPr txBox="1"/>
            <p:nvPr/>
          </p:nvSpPr>
          <p:spPr>
            <a:xfrm>
              <a:off x="13575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64" name="Google Shape;864;p71"/>
            <p:cNvSpPr txBox="1"/>
            <p:nvPr/>
          </p:nvSpPr>
          <p:spPr>
            <a:xfrm>
              <a:off x="18147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65" name="Google Shape;865;p71"/>
            <p:cNvSpPr txBox="1"/>
            <p:nvPr/>
          </p:nvSpPr>
          <p:spPr>
            <a:xfrm>
              <a:off x="227942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866" name="Google Shape;866;p71"/>
          <p:cNvGrpSpPr/>
          <p:nvPr/>
        </p:nvGrpSpPr>
        <p:grpSpPr>
          <a:xfrm>
            <a:off x="420541" y="3788589"/>
            <a:ext cx="4185079" cy="338400"/>
            <a:chOff x="420541" y="3788589"/>
            <a:chExt cx="4185079" cy="338400"/>
          </a:xfrm>
        </p:grpSpPr>
        <p:sp>
          <p:nvSpPr>
            <p:cNvPr id="867" name="Google Shape;867;p71"/>
            <p:cNvSpPr txBox="1"/>
            <p:nvPr/>
          </p:nvSpPr>
          <p:spPr>
            <a:xfrm>
              <a:off x="28053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68" name="Google Shape;868;p71"/>
            <p:cNvSpPr txBox="1"/>
            <p:nvPr/>
          </p:nvSpPr>
          <p:spPr>
            <a:xfrm>
              <a:off x="32625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69" name="Google Shape;869;p71"/>
            <p:cNvSpPr txBox="1"/>
            <p:nvPr/>
          </p:nvSpPr>
          <p:spPr>
            <a:xfrm>
              <a:off x="372722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70" name="Google Shape;870;p71"/>
            <p:cNvSpPr txBox="1"/>
            <p:nvPr/>
          </p:nvSpPr>
          <p:spPr>
            <a:xfrm>
              <a:off x="418442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71" name="Google Shape;871;p71"/>
            <p:cNvSpPr txBox="1"/>
            <p:nvPr/>
          </p:nvSpPr>
          <p:spPr>
            <a:xfrm>
              <a:off x="877741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72" name="Google Shape;872;p71"/>
            <p:cNvSpPr txBox="1"/>
            <p:nvPr/>
          </p:nvSpPr>
          <p:spPr>
            <a:xfrm>
              <a:off x="420541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873" name="Google Shape;873;p71"/>
          <p:cNvSpPr txBox="1"/>
          <p:nvPr/>
        </p:nvSpPr>
        <p:spPr>
          <a:xfrm>
            <a:off x="1755799" y="2992225"/>
            <a:ext cx="1638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1"/>
          <p:cNvSpPr txBox="1"/>
          <p:nvPr/>
        </p:nvSpPr>
        <p:spPr>
          <a:xfrm>
            <a:off x="7071561" y="2824749"/>
            <a:ext cx="55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5\ \div3\ =\ 5&quot;&gt;&lt;mn&gt;15&lt;/mn&gt;&lt;mtext&gt;&lt;/mtext&gt;&lt;mo&gt;÷&lt;/mo&gt;&lt;mn&gt;3&lt;/mn&gt;&lt;mtext&gt;&lt;/mtext&gt;&lt;mo&gt;=&lt;/mo&gt;&lt;mtext&gt;&lt;/mtext&gt;&lt;mn&gt;5&lt;/mn&gt;&lt;/math&gt;" id="875" name="Google Shape;875;p71" title="15 division sign 3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675" y="3888175"/>
            <a:ext cx="1429500" cy="2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1"/>
          <p:cNvPicPr preferRelativeResize="0"/>
          <p:nvPr/>
        </p:nvPicPr>
        <p:blipFill rotWithShape="1">
          <a:blip r:embed="rId4">
            <a:alphaModFix/>
          </a:blip>
          <a:srcRect b="18856" l="0" r="0" t="62991"/>
          <a:stretch/>
        </p:blipFill>
        <p:spPr>
          <a:xfrm flipH="1" rot="-5400000">
            <a:off x="3955239" y="2562104"/>
            <a:ext cx="784100" cy="54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5&quot;&gt;&lt;mo&gt;×&lt;/mo&gt;&lt;mn&gt;5&lt;/mn&gt;&lt;/math&gt;" id="877" name="Google Shape;877;p71" title="time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8325" y="2724375"/>
            <a:ext cx="261659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4900" y="3510526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2"/>
          <p:cNvSpPr txBox="1"/>
          <p:nvPr>
            <p:ph idx="1" type="body"/>
          </p:nvPr>
        </p:nvSpPr>
        <p:spPr>
          <a:xfrm>
            <a:off x="4002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Draw a ratio table or a bar model to calculate the following: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Work out how many sandwiches can be made and how many of each ingredient is needed if you have 12 pieces of cheese.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How many </a:t>
            </a:r>
            <a:r>
              <a:rPr lang="en-GB" sz="2000">
                <a:solidFill>
                  <a:schemeClr val="accent4"/>
                </a:solidFill>
              </a:rPr>
              <a:t>full</a:t>
            </a:r>
            <a:r>
              <a:rPr lang="en-GB" sz="2000"/>
              <a:t> sandwiches can you make if you have 15 pieces of bread?</a:t>
            </a:r>
            <a:endParaRPr sz="2000"/>
          </a:p>
        </p:txBody>
      </p:sp>
      <p:sp>
        <p:nvSpPr>
          <p:cNvPr id="884" name="Google Shape;88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885" name="Google Shape;885;p72"/>
          <p:cNvSpPr txBox="1"/>
          <p:nvPr/>
        </p:nvSpPr>
        <p:spPr>
          <a:xfrm>
            <a:off x="361950" y="2487525"/>
            <a:ext cx="6331500" cy="23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whole sandwich is made using: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pieces of bread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lettuce leaf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slices of cheese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slices of tomato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6" name="Google Shape;88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063" y="3791853"/>
            <a:ext cx="1773704" cy="93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584" y="4104792"/>
            <a:ext cx="1914434" cy="68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67539">
            <a:off x="3817928" y="3951234"/>
            <a:ext cx="1161973" cy="556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3981817"/>
            <a:ext cx="1914434" cy="68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5181" y="3772514"/>
            <a:ext cx="1773705" cy="642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0592" y="3817849"/>
            <a:ext cx="1914434" cy="68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567" y="3817849"/>
            <a:ext cx="1914434" cy="68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055" y="3299951"/>
            <a:ext cx="1773704" cy="93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idx="1" type="body"/>
          </p:nvPr>
        </p:nvSpPr>
        <p:spPr>
          <a:xfrm>
            <a:off x="4002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Draw a ratio table or a bar model to calculate the following: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Work out how many sandwiches can be made and how many of each ingredient is needed if you have 12 pieces of cheese.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99" name="Google Shape;89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900" name="Google Shape;900;p73"/>
          <p:cNvSpPr txBox="1"/>
          <p:nvPr/>
        </p:nvSpPr>
        <p:spPr>
          <a:xfrm>
            <a:off x="361950" y="2487525"/>
            <a:ext cx="6331500" cy="23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whole sandwich is made using: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pieces of bread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lettuce leaf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slices of chees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slices of tomato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1" name="Google Shape;901;p73"/>
          <p:cNvGraphicFramePr/>
          <p:nvPr/>
        </p:nvGraphicFramePr>
        <p:xfrm>
          <a:off x="4492911" y="343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02" name="Google Shape;902;p73"/>
          <p:cNvSpPr/>
          <p:nvPr/>
        </p:nvSpPr>
        <p:spPr>
          <a:xfrm rot="5400000">
            <a:off x="6494849" y="1083075"/>
            <a:ext cx="323100" cy="432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3"/>
          <p:cNvSpPr txBox="1"/>
          <p:nvPr/>
        </p:nvSpPr>
        <p:spPr>
          <a:xfrm>
            <a:off x="5834174" y="27381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3"/>
          <p:cNvSpPr/>
          <p:nvPr/>
        </p:nvSpPr>
        <p:spPr>
          <a:xfrm rot="-5400000">
            <a:off x="4809389" y="3726575"/>
            <a:ext cx="323100" cy="96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3"/>
          <p:cNvSpPr/>
          <p:nvPr/>
        </p:nvSpPr>
        <p:spPr>
          <a:xfrm rot="-5400000">
            <a:off x="6771724" y="3288330"/>
            <a:ext cx="323100" cy="1880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3"/>
          <p:cNvSpPr/>
          <p:nvPr/>
        </p:nvSpPr>
        <p:spPr>
          <a:xfrm rot="-5400000">
            <a:off x="8171374" y="3768630"/>
            <a:ext cx="323100" cy="919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3"/>
          <p:cNvSpPr txBox="1"/>
          <p:nvPr/>
        </p:nvSpPr>
        <p:spPr>
          <a:xfrm>
            <a:off x="4151636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bread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3"/>
          <p:cNvSpPr txBox="1"/>
          <p:nvPr/>
        </p:nvSpPr>
        <p:spPr>
          <a:xfrm>
            <a:off x="6034411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cheese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 txBox="1"/>
          <p:nvPr/>
        </p:nvSpPr>
        <p:spPr>
          <a:xfrm>
            <a:off x="7388450" y="426805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tomato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 txBox="1"/>
          <p:nvPr/>
        </p:nvSpPr>
        <p:spPr>
          <a:xfrm>
            <a:off x="4913636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lettuce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/>
          <p:nvPr/>
        </p:nvSpPr>
        <p:spPr>
          <a:xfrm rot="-5400000">
            <a:off x="5567795" y="3958775"/>
            <a:ext cx="323100" cy="49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2" name="Google Shape;912;p73"/>
          <p:cNvGrpSpPr/>
          <p:nvPr/>
        </p:nvGrpSpPr>
        <p:grpSpPr>
          <a:xfrm>
            <a:off x="6055888" y="3529713"/>
            <a:ext cx="1792800" cy="338400"/>
            <a:chOff x="6055888" y="3568314"/>
            <a:chExt cx="1792800" cy="338400"/>
          </a:xfrm>
        </p:grpSpPr>
        <p:grpSp>
          <p:nvGrpSpPr>
            <p:cNvPr id="913" name="Google Shape;913;p73"/>
            <p:cNvGrpSpPr/>
            <p:nvPr/>
          </p:nvGrpSpPr>
          <p:grpSpPr>
            <a:xfrm>
              <a:off x="6055887" y="3568314"/>
              <a:ext cx="1343120" cy="338400"/>
              <a:chOff x="1357500" y="3788589"/>
              <a:chExt cx="1343120" cy="338400"/>
            </a:xfrm>
          </p:grpSpPr>
          <p:sp>
            <p:nvSpPr>
              <p:cNvPr id="914" name="Google Shape;914;p73"/>
              <p:cNvSpPr txBox="1"/>
              <p:nvPr/>
            </p:nvSpPr>
            <p:spPr>
              <a:xfrm>
                <a:off x="1357500" y="3788589"/>
                <a:ext cx="421200" cy="3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915" name="Google Shape;915;p73"/>
              <p:cNvSpPr txBox="1"/>
              <p:nvPr/>
            </p:nvSpPr>
            <p:spPr>
              <a:xfrm>
                <a:off x="1814700" y="3788589"/>
                <a:ext cx="421200" cy="3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  <p:sp>
            <p:nvSpPr>
              <p:cNvPr id="916" name="Google Shape;916;p73"/>
              <p:cNvSpPr txBox="1"/>
              <p:nvPr/>
            </p:nvSpPr>
            <p:spPr>
              <a:xfrm>
                <a:off x="2279420" y="3788589"/>
                <a:ext cx="421200" cy="3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</p:grpSp>
        <p:sp>
          <p:nvSpPr>
            <p:cNvPr id="917" name="Google Shape;917;p73"/>
            <p:cNvSpPr txBox="1"/>
            <p:nvPr/>
          </p:nvSpPr>
          <p:spPr>
            <a:xfrm>
              <a:off x="7427488" y="3568314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18" name="Google Shape;918;p73"/>
          <p:cNvGrpSpPr/>
          <p:nvPr/>
        </p:nvGrpSpPr>
        <p:grpSpPr>
          <a:xfrm>
            <a:off x="4608088" y="3529713"/>
            <a:ext cx="1343120" cy="338400"/>
            <a:chOff x="1357500" y="3788589"/>
            <a:chExt cx="1343120" cy="338400"/>
          </a:xfrm>
        </p:grpSpPr>
        <p:sp>
          <p:nvSpPr>
            <p:cNvPr id="919" name="Google Shape;919;p73"/>
            <p:cNvSpPr txBox="1"/>
            <p:nvPr/>
          </p:nvSpPr>
          <p:spPr>
            <a:xfrm>
              <a:off x="13575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20" name="Google Shape;920;p73"/>
            <p:cNvSpPr txBox="1"/>
            <p:nvPr/>
          </p:nvSpPr>
          <p:spPr>
            <a:xfrm>
              <a:off x="181470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21" name="Google Shape;921;p73"/>
            <p:cNvSpPr txBox="1"/>
            <p:nvPr/>
          </p:nvSpPr>
          <p:spPr>
            <a:xfrm>
              <a:off x="2279420" y="3788589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22" name="Google Shape;922;p73"/>
          <p:cNvSpPr txBox="1"/>
          <p:nvPr/>
        </p:nvSpPr>
        <p:spPr>
          <a:xfrm>
            <a:off x="7892207" y="3529713"/>
            <a:ext cx="42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3" name="Google Shape;923;p73"/>
          <p:cNvSpPr txBox="1"/>
          <p:nvPr/>
        </p:nvSpPr>
        <p:spPr>
          <a:xfrm>
            <a:off x="8425607" y="3529713"/>
            <a:ext cx="42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5834174" y="27381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5" name="Google Shape;92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077" y="3678946"/>
            <a:ext cx="1263734" cy="66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987" y="3901912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67548">
            <a:off x="3311001" y="3792503"/>
            <a:ext cx="827887" cy="39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575" y="3814293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9549" y="3665167"/>
            <a:ext cx="1263735" cy="457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0781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399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283" y="3328470"/>
            <a:ext cx="1263734" cy="66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938" name="Google Shape;938;p74"/>
          <p:cNvSpPr txBox="1"/>
          <p:nvPr/>
        </p:nvSpPr>
        <p:spPr>
          <a:xfrm>
            <a:off x="361950" y="2487525"/>
            <a:ext cx="6331500" cy="23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whole sandwich is made using: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pieces of bread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lettuce leaf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slices of cheese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slices of tomato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9" name="Google Shape;939;p74"/>
          <p:cNvGraphicFramePr/>
          <p:nvPr/>
        </p:nvGraphicFramePr>
        <p:xfrm>
          <a:off x="1590358" y="73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2525"/>
                <a:gridCol w="1017550"/>
                <a:gridCol w="1112250"/>
                <a:gridCol w="1112250"/>
                <a:gridCol w="1156450"/>
              </a:tblGrid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lettuce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0" name="Google Shape;940;p74"/>
          <p:cNvSpPr txBox="1"/>
          <p:nvPr/>
        </p:nvSpPr>
        <p:spPr>
          <a:xfrm>
            <a:off x="5204668" y="1960161"/>
            <a:ext cx="132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/>
          </a:p>
        </p:txBody>
      </p:sp>
      <p:graphicFrame>
        <p:nvGraphicFramePr>
          <p:cNvPr id="941" name="Google Shape;941;p74"/>
          <p:cNvGraphicFramePr/>
          <p:nvPr/>
        </p:nvGraphicFramePr>
        <p:xfrm>
          <a:off x="1590358" y="1960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2525"/>
                <a:gridCol w="1017550"/>
                <a:gridCol w="1112250"/>
                <a:gridCol w="1112250"/>
                <a:gridCol w="1156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2\ \div4\ =\ 3&quot;&gt;&lt;mn&gt;12&lt;/mn&gt;&lt;mtext&gt;&lt;/mtext&gt;&lt;mo&gt;÷&lt;/mo&gt;&lt;mn&gt;4&lt;/mn&gt;&lt;mtext&gt;&lt;/mtext&gt;&lt;mo&gt;=&lt;/mo&gt;&lt;mtext&gt;&lt;/mtext&gt;&lt;mn&gt;3&lt;/mn&gt;&lt;/math&gt;" id="942" name="Google Shape;942;p74" title="12 division sign 4 equal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125" y="2571750"/>
            <a:ext cx="1352550" cy="2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3" name="Google Shape;943;p74"/>
          <p:cNvGrpSpPr/>
          <p:nvPr/>
        </p:nvGrpSpPr>
        <p:grpSpPr>
          <a:xfrm>
            <a:off x="762003" y="1691950"/>
            <a:ext cx="749482" cy="518850"/>
            <a:chOff x="762003" y="1691950"/>
            <a:chExt cx="749482" cy="518850"/>
          </a:xfrm>
        </p:grpSpPr>
        <p:sp>
          <p:nvSpPr>
            <p:cNvPr id="944" name="Google Shape;944;p74"/>
            <p:cNvSpPr/>
            <p:nvPr/>
          </p:nvSpPr>
          <p:spPr>
            <a:xfrm>
              <a:off x="1219209" y="1691950"/>
              <a:ext cx="292275" cy="518850"/>
            </a:xfrm>
            <a:custGeom>
              <a:rect b="b" l="l" r="r" t="t"/>
              <a:pathLst>
                <a:path extrusionOk="0" h="20754" w="11691">
                  <a:moveTo>
                    <a:pt x="11691" y="0"/>
                  </a:moveTo>
                  <a:cubicBezTo>
                    <a:pt x="5975" y="1140"/>
                    <a:pt x="-1339" y="7629"/>
                    <a:pt x="261" y="13234"/>
                  </a:cubicBezTo>
                  <a:cubicBezTo>
                    <a:pt x="1400" y="17226"/>
                    <a:pt x="6731" y="18454"/>
                    <a:pt x="10187" y="20754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pic>
          <p:nvPicPr>
            <p:cNvPr descr="&lt;math xmlns=&quot;http://www.w3.org/1998/Math/MathML&quot; display=&quot;block&quot; data-is-equatio=&quot;1&quot; data-latex=&quot;\times3&quot;&gt;&lt;mo&gt;×&lt;/mo&gt;&lt;mn&gt;3&lt;/mn&gt;&lt;/math&gt;" id="945" name="Google Shape;945;p74" title="times 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2003" y="1798050"/>
              <a:ext cx="359450" cy="243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6" name="Google Shape;94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3077" y="3678946"/>
            <a:ext cx="1263734" cy="66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9987" y="3901912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67548">
            <a:off x="3311001" y="3792503"/>
            <a:ext cx="827887" cy="39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1575" y="3814293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9549" y="3665167"/>
            <a:ext cx="1263735" cy="457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0781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8399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2283" y="3328470"/>
            <a:ext cx="1263734" cy="66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5"/>
          <p:cNvSpPr txBox="1"/>
          <p:nvPr>
            <p:ph idx="1" type="body"/>
          </p:nvPr>
        </p:nvSpPr>
        <p:spPr>
          <a:xfrm>
            <a:off x="4002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 a ratio table or a bar model to calculate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/>
              <a:t>How many </a:t>
            </a:r>
            <a:r>
              <a:rPr lang="en-GB">
                <a:solidFill>
                  <a:schemeClr val="accent4"/>
                </a:solidFill>
              </a:rPr>
              <a:t>full</a:t>
            </a:r>
            <a:r>
              <a:rPr lang="en-GB"/>
              <a:t> sandwiches can you make if you have 15 pieces of bread?</a:t>
            </a:r>
            <a:endParaRPr/>
          </a:p>
        </p:txBody>
      </p:sp>
      <p:sp>
        <p:nvSpPr>
          <p:cNvPr id="959" name="Google Shape;95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960" name="Google Shape;960;p75"/>
          <p:cNvSpPr txBox="1"/>
          <p:nvPr/>
        </p:nvSpPr>
        <p:spPr>
          <a:xfrm>
            <a:off x="361950" y="2487525"/>
            <a:ext cx="6331500" cy="23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whole sandwich is made using: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pieces of bread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lettuce leaf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slices of cheese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slices of tomato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1" name="Google Shape;961;p75"/>
          <p:cNvGraphicFramePr/>
          <p:nvPr/>
        </p:nvGraphicFramePr>
        <p:xfrm>
          <a:off x="4492911" y="343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  <a:gridCol w="4843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62" name="Google Shape;962;p75"/>
          <p:cNvSpPr/>
          <p:nvPr/>
        </p:nvSpPr>
        <p:spPr>
          <a:xfrm rot="5400000">
            <a:off x="6494849" y="1083075"/>
            <a:ext cx="323100" cy="432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75"/>
          <p:cNvSpPr txBox="1"/>
          <p:nvPr/>
        </p:nvSpPr>
        <p:spPr>
          <a:xfrm>
            <a:off x="5834174" y="27381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5"/>
          <p:cNvSpPr/>
          <p:nvPr/>
        </p:nvSpPr>
        <p:spPr>
          <a:xfrm rot="-5400000">
            <a:off x="4809389" y="3726575"/>
            <a:ext cx="323100" cy="96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75"/>
          <p:cNvSpPr/>
          <p:nvPr/>
        </p:nvSpPr>
        <p:spPr>
          <a:xfrm rot="-5400000">
            <a:off x="6771724" y="3288330"/>
            <a:ext cx="323100" cy="1880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5"/>
          <p:cNvSpPr/>
          <p:nvPr/>
        </p:nvSpPr>
        <p:spPr>
          <a:xfrm rot="-5400000">
            <a:off x="8171374" y="3768630"/>
            <a:ext cx="323100" cy="919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5"/>
          <p:cNvSpPr txBox="1"/>
          <p:nvPr/>
        </p:nvSpPr>
        <p:spPr>
          <a:xfrm>
            <a:off x="4151636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bread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5"/>
          <p:cNvSpPr txBox="1"/>
          <p:nvPr/>
        </p:nvSpPr>
        <p:spPr>
          <a:xfrm>
            <a:off x="6034411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cheese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5"/>
          <p:cNvSpPr txBox="1"/>
          <p:nvPr/>
        </p:nvSpPr>
        <p:spPr>
          <a:xfrm>
            <a:off x="7388450" y="426805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tomato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5"/>
          <p:cNvSpPr txBox="1"/>
          <p:nvPr/>
        </p:nvSpPr>
        <p:spPr>
          <a:xfrm>
            <a:off x="4913636" y="4289300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lettuce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5"/>
          <p:cNvSpPr/>
          <p:nvPr/>
        </p:nvSpPr>
        <p:spPr>
          <a:xfrm rot="-5400000">
            <a:off x="5567795" y="3958775"/>
            <a:ext cx="323100" cy="49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2" name="Google Shape;972;p75"/>
          <p:cNvGrpSpPr/>
          <p:nvPr/>
        </p:nvGrpSpPr>
        <p:grpSpPr>
          <a:xfrm>
            <a:off x="4608088" y="3529713"/>
            <a:ext cx="878400" cy="338400"/>
            <a:chOff x="4608088" y="3529713"/>
            <a:chExt cx="878400" cy="338400"/>
          </a:xfrm>
        </p:grpSpPr>
        <p:sp>
          <p:nvSpPr>
            <p:cNvPr id="973" name="Google Shape;973;p75"/>
            <p:cNvSpPr txBox="1"/>
            <p:nvPr/>
          </p:nvSpPr>
          <p:spPr>
            <a:xfrm>
              <a:off x="4608088" y="3529713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74" name="Google Shape;974;p75"/>
            <p:cNvSpPr txBox="1"/>
            <p:nvPr/>
          </p:nvSpPr>
          <p:spPr>
            <a:xfrm>
              <a:off x="5065288" y="3529713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75" name="Google Shape;975;p75"/>
          <p:cNvGrpSpPr/>
          <p:nvPr/>
        </p:nvGrpSpPr>
        <p:grpSpPr>
          <a:xfrm>
            <a:off x="5530007" y="3529713"/>
            <a:ext cx="3316800" cy="338400"/>
            <a:chOff x="5530007" y="3529713"/>
            <a:chExt cx="3316800" cy="338400"/>
          </a:xfrm>
        </p:grpSpPr>
        <p:grpSp>
          <p:nvGrpSpPr>
            <p:cNvPr id="976" name="Google Shape;976;p75"/>
            <p:cNvGrpSpPr/>
            <p:nvPr/>
          </p:nvGrpSpPr>
          <p:grpSpPr>
            <a:xfrm>
              <a:off x="6055888" y="3529713"/>
              <a:ext cx="1792800" cy="338400"/>
              <a:chOff x="6055888" y="3568314"/>
              <a:chExt cx="1792800" cy="338400"/>
            </a:xfrm>
          </p:grpSpPr>
          <p:grpSp>
            <p:nvGrpSpPr>
              <p:cNvPr id="977" name="Google Shape;977;p75"/>
              <p:cNvGrpSpPr/>
              <p:nvPr/>
            </p:nvGrpSpPr>
            <p:grpSpPr>
              <a:xfrm>
                <a:off x="6055887" y="3568314"/>
                <a:ext cx="1343120" cy="338400"/>
                <a:chOff x="1357500" y="3788589"/>
                <a:chExt cx="1343120" cy="338400"/>
              </a:xfrm>
            </p:grpSpPr>
            <p:sp>
              <p:nvSpPr>
                <p:cNvPr id="978" name="Google Shape;978;p75"/>
                <p:cNvSpPr txBox="1"/>
                <p:nvPr/>
              </p:nvSpPr>
              <p:spPr>
                <a:xfrm>
                  <a:off x="1357500" y="3788589"/>
                  <a:ext cx="421200" cy="3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Kalam"/>
                      <a:ea typeface="Kalam"/>
                      <a:cs typeface="Kalam"/>
                      <a:sym typeface="Kalam"/>
                    </a:rPr>
                    <a:t>7</a:t>
                  </a:r>
                  <a:endParaRPr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endParaRPr>
                </a:p>
              </p:txBody>
            </p:sp>
            <p:sp>
              <p:nvSpPr>
                <p:cNvPr id="979" name="Google Shape;979;p75"/>
                <p:cNvSpPr txBox="1"/>
                <p:nvPr/>
              </p:nvSpPr>
              <p:spPr>
                <a:xfrm>
                  <a:off x="1814700" y="3788589"/>
                  <a:ext cx="421200" cy="3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Kalam"/>
                      <a:ea typeface="Kalam"/>
                      <a:cs typeface="Kalam"/>
                      <a:sym typeface="Kalam"/>
                    </a:rPr>
                    <a:t>7</a:t>
                  </a:r>
                  <a:endParaRPr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endParaRPr>
                </a:p>
              </p:txBody>
            </p:sp>
            <p:sp>
              <p:nvSpPr>
                <p:cNvPr id="980" name="Google Shape;980;p75"/>
                <p:cNvSpPr txBox="1"/>
                <p:nvPr/>
              </p:nvSpPr>
              <p:spPr>
                <a:xfrm>
                  <a:off x="2279420" y="3788589"/>
                  <a:ext cx="421200" cy="3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Kalam"/>
                      <a:ea typeface="Kalam"/>
                      <a:cs typeface="Kalam"/>
                      <a:sym typeface="Kalam"/>
                    </a:rPr>
                    <a:t>7</a:t>
                  </a:r>
                  <a:endParaRPr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endParaRPr>
                </a:p>
              </p:txBody>
            </p:sp>
          </p:grpSp>
          <p:sp>
            <p:nvSpPr>
              <p:cNvPr id="981" name="Google Shape;981;p75"/>
              <p:cNvSpPr txBox="1"/>
              <p:nvPr/>
            </p:nvSpPr>
            <p:spPr>
              <a:xfrm>
                <a:off x="7427488" y="3568314"/>
                <a:ext cx="421200" cy="3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7</a:t>
                </a:r>
                <a:endParaRPr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endParaRPr>
              </a:p>
            </p:txBody>
          </p:sp>
        </p:grpSp>
        <p:sp>
          <p:nvSpPr>
            <p:cNvPr id="982" name="Google Shape;982;p75"/>
            <p:cNvSpPr txBox="1"/>
            <p:nvPr/>
          </p:nvSpPr>
          <p:spPr>
            <a:xfrm>
              <a:off x="5530007" y="3529713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83" name="Google Shape;983;p75"/>
            <p:cNvSpPr txBox="1"/>
            <p:nvPr/>
          </p:nvSpPr>
          <p:spPr>
            <a:xfrm>
              <a:off x="7892207" y="3529713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84" name="Google Shape;984;p75"/>
            <p:cNvSpPr txBox="1"/>
            <p:nvPr/>
          </p:nvSpPr>
          <p:spPr>
            <a:xfrm>
              <a:off x="8425607" y="3529713"/>
              <a:ext cx="421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85" name="Google Shape;985;p75"/>
          <p:cNvSpPr txBox="1"/>
          <p:nvPr/>
        </p:nvSpPr>
        <p:spPr>
          <a:xfrm>
            <a:off x="5910374" y="2738125"/>
            <a:ext cx="16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sandwiches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6" name="Google Shape;98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077" y="3678946"/>
            <a:ext cx="1263734" cy="66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987" y="3901912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67548">
            <a:off x="3311001" y="3792503"/>
            <a:ext cx="827887" cy="39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575" y="3814293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9549" y="3665167"/>
            <a:ext cx="1263735" cy="457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0781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399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283" y="3328470"/>
            <a:ext cx="1263734" cy="66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999" name="Google Shape;999;p76"/>
          <p:cNvSpPr txBox="1"/>
          <p:nvPr/>
        </p:nvSpPr>
        <p:spPr>
          <a:xfrm>
            <a:off x="361950" y="2487525"/>
            <a:ext cx="6331500" cy="23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whole sandwich is made using: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pieces of bread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lettuce leaf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slices of cheese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slices of tomato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0" name="Google Shape;1000;p76"/>
          <p:cNvGraphicFramePr/>
          <p:nvPr/>
        </p:nvGraphicFramePr>
        <p:xfrm>
          <a:off x="1590358" y="73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2525"/>
                <a:gridCol w="1017550"/>
                <a:gridCol w="1112250"/>
                <a:gridCol w="1112250"/>
                <a:gridCol w="1156450"/>
              </a:tblGrid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lettuce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1" name="Google Shape;1001;p76"/>
          <p:cNvSpPr txBox="1"/>
          <p:nvPr/>
        </p:nvSpPr>
        <p:spPr>
          <a:xfrm>
            <a:off x="3071068" y="1960161"/>
            <a:ext cx="132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/>
          </a:p>
        </p:txBody>
      </p:sp>
      <p:graphicFrame>
        <p:nvGraphicFramePr>
          <p:cNvPr id="1002" name="Google Shape;1002;p76"/>
          <p:cNvGraphicFramePr/>
          <p:nvPr/>
        </p:nvGraphicFramePr>
        <p:xfrm>
          <a:off x="1590358" y="1960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2525"/>
                <a:gridCol w="1017550"/>
                <a:gridCol w="1112250"/>
                <a:gridCol w="1112250"/>
                <a:gridCol w="1156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5\ \div2\ =\ 7.5&quot;&gt;&lt;mn&gt;15&lt;/mn&gt;&lt;mtext&gt;&lt;/mtext&gt;&lt;mo&gt;÷&lt;/mo&gt;&lt;mn&gt;2&lt;/mn&gt;&lt;mtext&gt;&lt;/mtext&gt;&lt;mo&gt;=&lt;/mo&gt;&lt;mtext&gt;&lt;/mtext&gt;&lt;mn&gt;7.5&lt;/mn&gt;&lt;/math&gt;" id="1003" name="Google Shape;1003;p76" title="15 division sign 2 equals 7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218" y="2503632"/>
            <a:ext cx="1378715" cy="176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7&quot;&gt;&lt;mo&gt;×&lt;/mo&gt;&lt;mn&gt;7&lt;/mn&gt;&lt;/math&gt;" id="1004" name="Google Shape;1004;p76" title="time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25" y="1813677"/>
            <a:ext cx="401500" cy="263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76"/>
          <p:cNvSpPr/>
          <p:nvPr/>
        </p:nvSpPr>
        <p:spPr>
          <a:xfrm>
            <a:off x="1219209" y="1691950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id="1006" name="Google Shape;100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3077" y="3678946"/>
            <a:ext cx="1263734" cy="66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9987" y="3901912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67548">
            <a:off x="3311001" y="3792503"/>
            <a:ext cx="827887" cy="39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1575" y="3814293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9549" y="3665167"/>
            <a:ext cx="1263735" cy="457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0781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8399" y="3697468"/>
            <a:ext cx="1364000" cy="4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2283" y="3328470"/>
            <a:ext cx="1263734" cy="66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7"/>
          <p:cNvSpPr txBox="1"/>
          <p:nvPr>
            <p:ph idx="1" type="body"/>
          </p:nvPr>
        </p:nvSpPr>
        <p:spPr>
          <a:xfrm>
            <a:off x="324000" y="759300"/>
            <a:ext cx="823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1a) </a:t>
            </a:r>
            <a:r>
              <a:rPr lang="en-GB" sz="1800"/>
              <a:t>Construct</a:t>
            </a:r>
            <a:r>
              <a:rPr lang="en-GB" sz="1800"/>
              <a:t> a ratio table for the following recipes.</a:t>
            </a:r>
            <a:endParaRPr sz="1800"/>
          </a:p>
        </p:txBody>
      </p:sp>
      <p:sp>
        <p:nvSpPr>
          <p:cNvPr id="1019" name="Google Shape;1019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77"/>
          <p:cNvSpPr/>
          <p:nvPr/>
        </p:nvSpPr>
        <p:spPr>
          <a:xfrm>
            <a:off x="421100" y="1145191"/>
            <a:ext cx="2744700" cy="199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7"/>
          <p:cNvSpPr/>
          <p:nvPr/>
        </p:nvSpPr>
        <p:spPr>
          <a:xfrm>
            <a:off x="3240500" y="1145191"/>
            <a:ext cx="2744700" cy="199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7"/>
          <p:cNvSpPr/>
          <p:nvPr/>
        </p:nvSpPr>
        <p:spPr>
          <a:xfrm>
            <a:off x="6059900" y="1148525"/>
            <a:ext cx="2744700" cy="199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 txBox="1"/>
          <p:nvPr>
            <p:ph idx="1" type="body"/>
          </p:nvPr>
        </p:nvSpPr>
        <p:spPr>
          <a:xfrm>
            <a:off x="297500" y="3355400"/>
            <a:ext cx="84441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For each cake, how many cakes can you make with 1 kg of flour and how much of each other ingredient is needed?</a:t>
            </a:r>
            <a:endParaRPr sz="1800"/>
          </a:p>
        </p:txBody>
      </p:sp>
      <p:sp>
        <p:nvSpPr>
          <p:cNvPr id="1024" name="Google Shape;1024;p77"/>
          <p:cNvSpPr txBox="1"/>
          <p:nvPr/>
        </p:nvSpPr>
        <p:spPr>
          <a:xfrm>
            <a:off x="663750" y="1124950"/>
            <a:ext cx="24591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vanilla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cake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250 g of flour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ml of vanilla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g of sugar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g of butter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7"/>
          <p:cNvSpPr txBox="1"/>
          <p:nvPr/>
        </p:nvSpPr>
        <p:spPr>
          <a:xfrm>
            <a:off x="3483150" y="1124950"/>
            <a:ext cx="24591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banana cake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flour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bananas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sugar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butter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7"/>
          <p:cNvSpPr txBox="1"/>
          <p:nvPr/>
        </p:nvSpPr>
        <p:spPr>
          <a:xfrm>
            <a:off x="6158675" y="1124950"/>
            <a:ext cx="25269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grapefruit cake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 of flour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egg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grapefruit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300 g of sugar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150 g of butter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7" name="Google Shape;1027;p77"/>
          <p:cNvCxnSpPr/>
          <p:nvPr/>
        </p:nvCxnSpPr>
        <p:spPr>
          <a:xfrm>
            <a:off x="784325" y="1509050"/>
            <a:ext cx="162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77"/>
          <p:cNvCxnSpPr/>
          <p:nvPr/>
        </p:nvCxnSpPr>
        <p:spPr>
          <a:xfrm flipH="1" rot="10800000">
            <a:off x="3620050" y="1517675"/>
            <a:ext cx="1771200" cy="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77"/>
          <p:cNvCxnSpPr/>
          <p:nvPr/>
        </p:nvCxnSpPr>
        <p:spPr>
          <a:xfrm>
            <a:off x="6285475" y="1517575"/>
            <a:ext cx="2078400" cy="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" name="Google Shape;1034;p78"/>
          <p:cNvGraphicFramePr/>
          <p:nvPr/>
        </p:nvGraphicFramePr>
        <p:xfrm>
          <a:off x="1101025" y="152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201525"/>
                <a:gridCol w="925250"/>
                <a:gridCol w="867025"/>
                <a:gridCol w="961600"/>
                <a:gridCol w="743425"/>
                <a:gridCol w="787075"/>
                <a:gridCol w="1456050"/>
              </a:tblGrid>
              <a:tr h="889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Serves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(people)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Cocoa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extract (ml)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>
                    <a:solidFill>
                      <a:schemeClr val="lt2"/>
                    </a:solidFill>
                  </a:tcPr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324000" y="759300"/>
            <a:ext cx="823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Jacob has </a:t>
            </a:r>
            <a:r>
              <a:rPr lang="en-GB" sz="1800"/>
              <a:t>spilt</a:t>
            </a:r>
            <a:r>
              <a:rPr lang="en-GB" sz="1800"/>
              <a:t> chocolate sauce all over his ratio table for making </a:t>
            </a:r>
            <a:r>
              <a:rPr lang="en-GB" sz="1800"/>
              <a:t>chocolate</a:t>
            </a:r>
            <a:r>
              <a:rPr lang="en-GB" sz="1800"/>
              <a:t> brownies. Work out the missing values.</a:t>
            </a:r>
            <a:endParaRPr sz="1800"/>
          </a:p>
        </p:txBody>
      </p:sp>
      <p:sp>
        <p:nvSpPr>
          <p:cNvPr id="1036" name="Google Shape;103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pic>
        <p:nvPicPr>
          <p:cNvPr id="1037" name="Google Shape;103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8974" y="24116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849" y="30069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799" y="29798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849" y="30069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849" y="35403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5249" y="35403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649" y="35403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849" y="35403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649" y="35403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049" y="40737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849" y="40737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649" y="40737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249" y="4073750"/>
            <a:ext cx="665549" cy="5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849" y="4073750"/>
            <a:ext cx="665549" cy="5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9"/>
          <p:cNvSpPr txBox="1"/>
          <p:nvPr>
            <p:ph idx="1" type="body"/>
          </p:nvPr>
        </p:nvSpPr>
        <p:spPr>
          <a:xfrm>
            <a:off x="324000" y="683100"/>
            <a:ext cx="8586900" cy="8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Identify if each statement is true or false for the following using this ratio table.</a:t>
            </a:r>
            <a:endParaRPr sz="1800"/>
          </a:p>
        </p:txBody>
      </p:sp>
      <p:sp>
        <p:nvSpPr>
          <p:cNvPr id="1056" name="Google Shape;1056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7" name="Google Shape;1057;p79"/>
          <p:cNvGraphicFramePr/>
          <p:nvPr/>
        </p:nvGraphicFramePr>
        <p:xfrm>
          <a:off x="377163" y="142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957825"/>
                <a:gridCol w="2034600"/>
                <a:gridCol w="1895525"/>
                <a:gridCol w="1589050"/>
                <a:gridCol w="1619225"/>
              </a:tblGrid>
              <a:tr h="5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Burger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Veggie patty (g)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Lettuce 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Cheese 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8" name="Google Shape;1058;p79"/>
          <p:cNvGraphicFramePr/>
          <p:nvPr/>
        </p:nvGraphicFramePr>
        <p:xfrm>
          <a:off x="377150" y="2403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187850"/>
                <a:gridCol w="418225"/>
                <a:gridCol w="490175"/>
              </a:tblGrid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4 slices of lettuce there are 6 slices of cheese.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slices are double the lettuce slices.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60 g of veggie patty, there are 2 slices of tomato.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a</a:t>
            </a:r>
            <a:r>
              <a:rPr lang="en-GB" sz="1800"/>
              <a:t>) </a:t>
            </a:r>
            <a:r>
              <a:rPr lang="en-GB" sz="1800"/>
              <a:t>Construct a ratio table for the following recipes.</a:t>
            </a:r>
            <a:endParaRPr sz="1800"/>
          </a:p>
        </p:txBody>
      </p:sp>
      <p:sp>
        <p:nvSpPr>
          <p:cNvPr id="1064" name="Google Shape;106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1065" name="Google Shape;1065;p80"/>
          <p:cNvSpPr/>
          <p:nvPr/>
        </p:nvSpPr>
        <p:spPr>
          <a:xfrm>
            <a:off x="421100" y="1300925"/>
            <a:ext cx="2376300" cy="23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0"/>
          <p:cNvSpPr txBox="1"/>
          <p:nvPr>
            <p:ph idx="1" type="body"/>
          </p:nvPr>
        </p:nvSpPr>
        <p:spPr>
          <a:xfrm>
            <a:off x="324000" y="3731100"/>
            <a:ext cx="8353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For each cake, how many cakes can you make with 1 kg of flour and how much of each other ingredient is needed?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7" name="Google Shape;1067;p80"/>
          <p:cNvSpPr txBox="1"/>
          <p:nvPr/>
        </p:nvSpPr>
        <p:spPr>
          <a:xfrm>
            <a:off x="511350" y="1353550"/>
            <a:ext cx="24591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vanilla cake</a:t>
            </a:r>
            <a:endParaRPr sz="2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250 g of flour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ml of vanilla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g of sugar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 g of butter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8" name="Google Shape;1068;p80"/>
          <p:cNvGraphicFramePr/>
          <p:nvPr/>
        </p:nvGraphicFramePr>
        <p:xfrm>
          <a:off x="3250450" y="13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071100"/>
                <a:gridCol w="1161375"/>
                <a:gridCol w="928250"/>
              </a:tblGrid>
              <a:tr h="6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69" name="Google Shape;1069;p80"/>
          <p:cNvGraphicFramePr/>
          <p:nvPr/>
        </p:nvGraphicFramePr>
        <p:xfrm>
          <a:off x="3250450" y="25682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071100"/>
                <a:gridCol w="1161375"/>
                <a:gridCol w="928250"/>
              </a:tblGrid>
              <a:tr h="50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0" name="Google Shape;1070;p80"/>
          <p:cNvSpPr txBox="1"/>
          <p:nvPr/>
        </p:nvSpPr>
        <p:spPr>
          <a:xfrm>
            <a:off x="3628800" y="2556039"/>
            <a:ext cx="166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00\div250\ =\ 4&quot;&gt;&lt;mn&gt;1000&lt;/mn&gt;&lt;mo&gt;÷&lt;/mo&gt;&lt;mn&gt;250&lt;/mn&gt;&lt;mtext&gt;&lt;/mtext&gt;&lt;mo&gt;=&lt;/mo&gt;&lt;mtext&gt;&lt;/mtext&gt;&lt;mn&gt;4&lt;/mn&gt;&lt;/math&gt;" id="1071" name="Google Shape;1071;p80" title="1000 divided by 250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800" y="3176702"/>
            <a:ext cx="2164672" cy="2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0"/>
          <p:cNvSpPr/>
          <p:nvPr/>
        </p:nvSpPr>
        <p:spPr>
          <a:xfrm>
            <a:off x="2972055" y="2319000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&lt;math xmlns=&quot;http://www.w3.org/1998/Math/MathML&quot; display=&quot;block&quot; data-is-equatio=&quot;1&quot; data-latex=&quot;\times4&quot;&gt;&lt;mo&gt;×&lt;/mo&gt;&lt;mn&gt;4&lt;/mn&gt;&lt;/math&gt;" id="1073" name="Google Shape;1073;p80" title="time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3900" y="2085275"/>
            <a:ext cx="360050" cy="233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0"/>
          <p:cNvSpPr txBox="1"/>
          <p:nvPr/>
        </p:nvSpPr>
        <p:spPr>
          <a:xfrm>
            <a:off x="3638200" y="43073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vanilla cakes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1"/>
          <p:cNvSpPr txBox="1"/>
          <p:nvPr>
            <p:ph idx="1" type="body"/>
          </p:nvPr>
        </p:nvSpPr>
        <p:spPr>
          <a:xfrm>
            <a:off x="324000" y="3807300"/>
            <a:ext cx="8353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For each cake, how many cakes can you make with 1 kg of flour and how much of each other ingredient is needed?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</p:txBody>
      </p:sp>
      <p:sp>
        <p:nvSpPr>
          <p:cNvPr id="1080" name="Google Shape;1080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1a) Construct a ratio table for the following recipes.</a:t>
            </a:r>
            <a:endParaRPr sz="1800"/>
          </a:p>
        </p:txBody>
      </p:sp>
      <p:sp>
        <p:nvSpPr>
          <p:cNvPr id="1081" name="Google Shape;108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graphicFrame>
        <p:nvGraphicFramePr>
          <p:cNvPr id="1082" name="Google Shape;1082;p81"/>
          <p:cNvGraphicFramePr/>
          <p:nvPr/>
        </p:nvGraphicFramePr>
        <p:xfrm>
          <a:off x="3250450" y="13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311725"/>
                <a:gridCol w="920750"/>
                <a:gridCol w="928250"/>
              </a:tblGrid>
              <a:tr h="6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Bananas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3" name="Google Shape;1083;p81"/>
          <p:cNvGraphicFramePr/>
          <p:nvPr/>
        </p:nvGraphicFramePr>
        <p:xfrm>
          <a:off x="3250450" y="25682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311725"/>
                <a:gridCol w="920750"/>
                <a:gridCol w="928250"/>
              </a:tblGrid>
              <a:tr h="50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4" name="Google Shape;1084;p81"/>
          <p:cNvSpPr txBox="1"/>
          <p:nvPr/>
        </p:nvSpPr>
        <p:spPr>
          <a:xfrm>
            <a:off x="3628800" y="2556039"/>
            <a:ext cx="166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  <p:sp>
        <p:nvSpPr>
          <p:cNvPr id="1085" name="Google Shape;1085;p81"/>
          <p:cNvSpPr/>
          <p:nvPr/>
        </p:nvSpPr>
        <p:spPr>
          <a:xfrm>
            <a:off x="2972055" y="2319000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86" name="Google Shape;1086;p81"/>
          <p:cNvSpPr/>
          <p:nvPr/>
        </p:nvSpPr>
        <p:spPr>
          <a:xfrm>
            <a:off x="421100" y="1300925"/>
            <a:ext cx="2271000" cy="23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1"/>
          <p:cNvSpPr txBox="1"/>
          <p:nvPr/>
        </p:nvSpPr>
        <p:spPr>
          <a:xfrm>
            <a:off x="435150" y="1353550"/>
            <a:ext cx="24591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banana cake</a:t>
            </a:r>
            <a:endParaRPr sz="2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flour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bananas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sugar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g of butter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00\div200\ =\ 5&quot;&gt;&lt;mn&gt;1000&lt;/mn&gt;&lt;mo&gt;÷&lt;/mo&gt;&lt;mn&gt;200&lt;/mn&gt;&lt;mtext&gt;&lt;/mtext&gt;&lt;mo&gt;=&lt;/mo&gt;&lt;mtext&gt;&lt;/mtext&gt;&lt;mn&gt;5&lt;/mn&gt;&lt;/math&gt;" id="1088" name="Google Shape;1088;p81" title="1000 divided by 200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4825" y="3240000"/>
            <a:ext cx="2271000" cy="251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5&quot;&gt;&lt;mo&gt;×&lt;/mo&gt;&lt;mn&gt;5&lt;/mn&gt;&lt;/math&gt;" id="1089" name="Google Shape;1089;p81" title="time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675" y="2050472"/>
            <a:ext cx="360410" cy="2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1"/>
          <p:cNvSpPr txBox="1"/>
          <p:nvPr/>
        </p:nvSpPr>
        <p:spPr>
          <a:xfrm>
            <a:off x="3638200" y="43835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banana cakes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1a) Construct a ratio table for the following recipes.</a:t>
            </a:r>
            <a:endParaRPr sz="1800"/>
          </a:p>
        </p:txBody>
      </p:sp>
      <p:sp>
        <p:nvSpPr>
          <p:cNvPr id="1096" name="Google Shape;1096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82"/>
          <p:cNvSpPr txBox="1"/>
          <p:nvPr>
            <p:ph idx="1" type="body"/>
          </p:nvPr>
        </p:nvSpPr>
        <p:spPr>
          <a:xfrm>
            <a:off x="324000" y="3731100"/>
            <a:ext cx="8353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For each cake, how many cakes can you make with 1 kg of flour and how much of each other ingredient is needed?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graphicFrame>
        <p:nvGraphicFramePr>
          <p:cNvPr id="1098" name="Google Shape;1098;p82"/>
          <p:cNvGraphicFramePr/>
          <p:nvPr/>
        </p:nvGraphicFramePr>
        <p:xfrm>
          <a:off x="3250450" y="13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308050"/>
                <a:gridCol w="924425"/>
                <a:gridCol w="928250"/>
              </a:tblGrid>
              <a:tr h="6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Grapefruit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9" name="Google Shape;1099;p82"/>
          <p:cNvGraphicFramePr/>
          <p:nvPr/>
        </p:nvGraphicFramePr>
        <p:xfrm>
          <a:off x="3250450" y="25682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827325"/>
                <a:gridCol w="781050"/>
                <a:gridCol w="800425"/>
                <a:gridCol w="1308050"/>
                <a:gridCol w="924425"/>
                <a:gridCol w="928250"/>
              </a:tblGrid>
              <a:tr h="50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0" name="Google Shape;1100;p82"/>
          <p:cNvSpPr txBox="1"/>
          <p:nvPr/>
        </p:nvSpPr>
        <p:spPr>
          <a:xfrm>
            <a:off x="3628800" y="2556039"/>
            <a:ext cx="166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  <p:sp>
        <p:nvSpPr>
          <p:cNvPr id="1101" name="Google Shape;1101;p82"/>
          <p:cNvSpPr/>
          <p:nvPr/>
        </p:nvSpPr>
        <p:spPr>
          <a:xfrm>
            <a:off x="2972055" y="2319000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02" name="Google Shape;1102;p82"/>
          <p:cNvSpPr/>
          <p:nvPr/>
        </p:nvSpPr>
        <p:spPr>
          <a:xfrm>
            <a:off x="322341" y="1224725"/>
            <a:ext cx="2526900" cy="23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2"/>
          <p:cNvSpPr txBox="1"/>
          <p:nvPr/>
        </p:nvSpPr>
        <p:spPr>
          <a:xfrm>
            <a:off x="344916" y="1277350"/>
            <a:ext cx="25269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grapefruit cake</a:t>
            </a:r>
            <a:endParaRPr sz="2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125g of flour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egg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grapefruit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300 g of sugar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150 g of butter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00\div125\ =\ 8&quot;&gt;&lt;mn&gt;1000&lt;/mn&gt;&lt;mo&gt;÷&lt;/mo&gt;&lt;mn&gt;125&lt;/mn&gt;&lt;mtext&gt;&lt;/mtext&gt;&lt;mo&gt;=&lt;/mo&gt;&lt;mtext&gt;&lt;/mtext&gt;&lt;mn&gt;8&lt;/mn&gt;&lt;/math&gt;" id="1104" name="Google Shape;1104;p82" title="1000 divided by 125 equal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473" y="3206348"/>
            <a:ext cx="2114602" cy="2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8&quot;&gt;&lt;mo&gt;×&lt;/mo&gt;&lt;mn&gt;8&lt;/mn&gt;&lt;/math&gt;" id="1105" name="Google Shape;1105;p82" title="time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7634" y="2043138"/>
            <a:ext cx="344437" cy="2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2"/>
          <p:cNvSpPr txBox="1"/>
          <p:nvPr/>
        </p:nvSpPr>
        <p:spPr>
          <a:xfrm>
            <a:off x="3485800" y="43073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grapefruit cakes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1" name="Google Shape;1111;p83"/>
          <p:cNvGraphicFramePr/>
          <p:nvPr/>
        </p:nvGraphicFramePr>
        <p:xfrm>
          <a:off x="905900" y="152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257450"/>
                <a:gridCol w="968300"/>
                <a:gridCol w="907375"/>
                <a:gridCol w="1006350"/>
                <a:gridCol w="778025"/>
                <a:gridCol w="823725"/>
                <a:gridCol w="1523825"/>
              </a:tblGrid>
              <a:tr h="889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Serves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(people)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Cocoa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 extract (ml)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2" name="Google Shape;1112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Jacob has spilt chocolate sauce all over his ratio table for making chocolate brownies. Work out the missing values.</a:t>
            </a:r>
            <a:endParaRPr sz="1800"/>
          </a:p>
        </p:txBody>
      </p:sp>
      <p:sp>
        <p:nvSpPr>
          <p:cNvPr id="1113" name="Google Shape;111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14" name="Google Shape;111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924" y="2411650"/>
            <a:ext cx="665549" cy="52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5" name="Google Shape;1115;p83"/>
          <p:cNvGrpSpPr/>
          <p:nvPr/>
        </p:nvGrpSpPr>
        <p:grpSpPr>
          <a:xfrm>
            <a:off x="2332749" y="2979850"/>
            <a:ext cx="5237549" cy="520300"/>
            <a:chOff x="2370849" y="3083150"/>
            <a:chExt cx="5237549" cy="520300"/>
          </a:xfrm>
        </p:grpSpPr>
        <p:pic>
          <p:nvPicPr>
            <p:cNvPr id="1116" name="Google Shape;1116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46949" y="30831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70849" y="30831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8" name="Google Shape;111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2849" y="30831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9" name="Google Shape;1119;p83"/>
          <p:cNvGrpSpPr/>
          <p:nvPr/>
        </p:nvGrpSpPr>
        <p:grpSpPr>
          <a:xfrm>
            <a:off x="2370849" y="3519850"/>
            <a:ext cx="5261999" cy="520300"/>
            <a:chOff x="2370849" y="3616550"/>
            <a:chExt cx="5261999" cy="520300"/>
          </a:xfrm>
        </p:grpSpPr>
        <p:pic>
          <p:nvPicPr>
            <p:cNvPr id="1120" name="Google Shape;1120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70849" y="36165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5249" y="36165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99649" y="36165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3" name="Google Shape;112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99849" y="36165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4" name="Google Shape;1124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67299" y="36165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5" name="Google Shape;1125;p83"/>
          <p:cNvGrpSpPr/>
          <p:nvPr/>
        </p:nvGrpSpPr>
        <p:grpSpPr>
          <a:xfrm>
            <a:off x="1380249" y="4067125"/>
            <a:ext cx="6228149" cy="532375"/>
            <a:chOff x="1380249" y="4137875"/>
            <a:chExt cx="6228149" cy="532375"/>
          </a:xfrm>
        </p:grpSpPr>
        <p:pic>
          <p:nvPicPr>
            <p:cNvPr id="1126" name="Google Shape;1126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76049" y="41499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7" name="Google Shape;1127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37849" y="41499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8" name="Google Shape;112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99649" y="4137875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9" name="Google Shape;1129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0249" y="41499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0" name="Google Shape;1130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2849" y="41499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36" name="Google Shape;113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2601" y="2829893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2601" y="3287093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640" y="3744293"/>
            <a:ext cx="31861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4"/>
          <p:cNvSpPr txBox="1"/>
          <p:nvPr>
            <p:ph idx="1" type="body"/>
          </p:nvPr>
        </p:nvSpPr>
        <p:spPr>
          <a:xfrm>
            <a:off x="324000" y="683100"/>
            <a:ext cx="8586900" cy="8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Identify if each statement is true or false for the following using this ratio table.</a:t>
            </a:r>
            <a:endParaRPr sz="1800"/>
          </a:p>
        </p:txBody>
      </p:sp>
      <p:graphicFrame>
        <p:nvGraphicFramePr>
          <p:cNvPr id="1140" name="Google Shape;1140;p84"/>
          <p:cNvGraphicFramePr/>
          <p:nvPr/>
        </p:nvGraphicFramePr>
        <p:xfrm>
          <a:off x="377163" y="142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957825"/>
                <a:gridCol w="2034600"/>
                <a:gridCol w="1895525"/>
                <a:gridCol w="1589050"/>
                <a:gridCol w="1619225"/>
              </a:tblGrid>
              <a:tr h="5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Burger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Veggie patty (g)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Lettuce 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Cheese 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1" name="Google Shape;1141;p84"/>
          <p:cNvGraphicFramePr/>
          <p:nvPr/>
        </p:nvGraphicFramePr>
        <p:xfrm>
          <a:off x="377150" y="2403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187850"/>
                <a:gridCol w="418225"/>
                <a:gridCol w="490175"/>
              </a:tblGrid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4 slices of lettuce there are 6 slices of cheese.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slices are double the lettuce slices.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60 g of veggie patty, there are 2 slices of tomato.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ratio</a:t>
            </a:r>
            <a:endParaRPr/>
          </a:p>
        </p:txBody>
      </p:sp>
      <p:sp>
        <p:nvSpPr>
          <p:cNvPr id="1147" name="Google Shape;1147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sp>
        <p:nvSpPr>
          <p:cNvPr id="1148" name="Google Shape;1148;p85"/>
          <p:cNvSpPr txBox="1"/>
          <p:nvPr>
            <p:ph idx="3" type="title"/>
          </p:nvPr>
        </p:nvSpPr>
        <p:spPr>
          <a:xfrm>
            <a:off x="324000" y="657600"/>
            <a:ext cx="8180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</p:txBody>
      </p:sp>
      <p:pic>
        <p:nvPicPr>
          <p:cNvPr id="1149" name="Google Shape;114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6"/>
          <p:cNvSpPr txBox="1"/>
          <p:nvPr>
            <p:ph idx="1" type="body"/>
          </p:nvPr>
        </p:nvSpPr>
        <p:spPr>
          <a:xfrm>
            <a:off x="356425" y="759300"/>
            <a:ext cx="82377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Recognising that ratio shows the relative sizes of 2 or more values and allows you to compare a part with another part in a whole is important. As is k</a:t>
            </a:r>
            <a:r>
              <a:rPr lang="en-GB" sz="2000"/>
              <a:t>nowing that t</a:t>
            </a:r>
            <a:r>
              <a:rPr lang="en-GB" sz="2000"/>
              <a:t>he multiplicative relationship between the parts is constant for things in the same ratio.</a:t>
            </a:r>
            <a:endParaRPr sz="2000"/>
          </a:p>
        </p:txBody>
      </p:sp>
      <p:sp>
        <p:nvSpPr>
          <p:cNvPr id="1155" name="Google Shape;115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aphicFrame>
        <p:nvGraphicFramePr>
          <p:cNvPr id="1156" name="Google Shape;1156;p86"/>
          <p:cNvGraphicFramePr/>
          <p:nvPr/>
        </p:nvGraphicFramePr>
        <p:xfrm>
          <a:off x="2584458" y="30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7" name="Google Shape;1157;p86"/>
          <p:cNvSpPr txBox="1"/>
          <p:nvPr/>
        </p:nvSpPr>
        <p:spPr>
          <a:xfrm>
            <a:off x="356425" y="2225100"/>
            <a:ext cx="8142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how many multiplicative relationships can you see between these ingredients?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8" name="Google Shape;115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5" y="3086714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aphicFrame>
        <p:nvGraphicFramePr>
          <p:cNvPr id="1164" name="Google Shape;1164;p87"/>
          <p:cNvGraphicFramePr/>
          <p:nvPr/>
        </p:nvGraphicFramePr>
        <p:xfrm>
          <a:off x="2584458" y="30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5" name="Google Shape;1165;p87"/>
          <p:cNvSpPr txBox="1"/>
          <p:nvPr/>
        </p:nvSpPr>
        <p:spPr>
          <a:xfrm>
            <a:off x="356425" y="2301300"/>
            <a:ext cx="8142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can you find any multiplicative relationships between these ingredients?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66" name="Google Shape;1166;p87"/>
          <p:cNvGraphicFramePr/>
          <p:nvPr/>
        </p:nvGraphicFramePr>
        <p:xfrm>
          <a:off x="1507775" y="12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1167" name="Google Shape;1167;p87"/>
          <p:cNvSpPr/>
          <p:nvPr/>
        </p:nvSpPr>
        <p:spPr>
          <a:xfrm rot="-5400000">
            <a:off x="2046786" y="1197250"/>
            <a:ext cx="323100" cy="139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7"/>
          <p:cNvSpPr/>
          <p:nvPr/>
        </p:nvSpPr>
        <p:spPr>
          <a:xfrm rot="-5400000">
            <a:off x="3883024" y="854100"/>
            <a:ext cx="323100" cy="211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7"/>
          <p:cNvSpPr/>
          <p:nvPr/>
        </p:nvSpPr>
        <p:spPr>
          <a:xfrm rot="-5400000">
            <a:off x="6409570" y="505950"/>
            <a:ext cx="323100" cy="2816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7"/>
          <p:cNvSpPr txBox="1"/>
          <p:nvPr/>
        </p:nvSpPr>
        <p:spPr>
          <a:xfrm>
            <a:off x="1371699" y="1974925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bread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7"/>
          <p:cNvSpPr txBox="1"/>
          <p:nvPr/>
        </p:nvSpPr>
        <p:spPr>
          <a:xfrm>
            <a:off x="3218711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7"/>
          <p:cNvSpPr txBox="1"/>
          <p:nvPr/>
        </p:nvSpPr>
        <p:spPr>
          <a:xfrm>
            <a:off x="5827713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tomato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7"/>
          <p:cNvSpPr/>
          <p:nvPr/>
        </p:nvSpPr>
        <p:spPr>
          <a:xfrm rot="5400000">
            <a:off x="4601526" y="-2166500"/>
            <a:ext cx="323100" cy="651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87"/>
          <p:cNvSpPr txBox="1"/>
          <p:nvPr/>
        </p:nvSpPr>
        <p:spPr>
          <a:xfrm>
            <a:off x="3861149" y="579150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sandwich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5" name="Google Shape;117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5" y="3086714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aphicFrame>
        <p:nvGraphicFramePr>
          <p:cNvPr id="1181" name="Google Shape;1181;p88"/>
          <p:cNvGraphicFramePr/>
          <p:nvPr/>
        </p:nvGraphicFramePr>
        <p:xfrm>
          <a:off x="2584458" y="30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2" name="Google Shape;1182;p88"/>
          <p:cNvGraphicFramePr/>
          <p:nvPr/>
        </p:nvGraphicFramePr>
        <p:xfrm>
          <a:off x="1507775" y="12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1183" name="Google Shape;1183;p88"/>
          <p:cNvSpPr/>
          <p:nvPr/>
        </p:nvSpPr>
        <p:spPr>
          <a:xfrm rot="-5400000">
            <a:off x="2046786" y="1197250"/>
            <a:ext cx="323100" cy="139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8"/>
          <p:cNvSpPr/>
          <p:nvPr/>
        </p:nvSpPr>
        <p:spPr>
          <a:xfrm rot="-5400000">
            <a:off x="3883024" y="854100"/>
            <a:ext cx="323100" cy="211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8"/>
          <p:cNvSpPr/>
          <p:nvPr/>
        </p:nvSpPr>
        <p:spPr>
          <a:xfrm rot="-5400000">
            <a:off x="6409570" y="505950"/>
            <a:ext cx="323100" cy="2816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8"/>
          <p:cNvSpPr txBox="1"/>
          <p:nvPr/>
        </p:nvSpPr>
        <p:spPr>
          <a:xfrm>
            <a:off x="1371699" y="1974925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bread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8"/>
          <p:cNvSpPr txBox="1"/>
          <p:nvPr/>
        </p:nvSpPr>
        <p:spPr>
          <a:xfrm>
            <a:off x="3218711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8"/>
          <p:cNvSpPr txBox="1"/>
          <p:nvPr/>
        </p:nvSpPr>
        <p:spPr>
          <a:xfrm>
            <a:off x="5827713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tomato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9" name="Google Shape;1189;p88"/>
          <p:cNvGrpSpPr/>
          <p:nvPr/>
        </p:nvGrpSpPr>
        <p:grpSpPr>
          <a:xfrm>
            <a:off x="508475" y="1273971"/>
            <a:ext cx="7558800" cy="1445622"/>
            <a:chOff x="508475" y="969171"/>
            <a:chExt cx="7558800" cy="1445622"/>
          </a:xfrm>
        </p:grpSpPr>
        <p:sp>
          <p:nvSpPr>
            <p:cNvPr id="1190" name="Google Shape;1190;p88"/>
            <p:cNvSpPr txBox="1"/>
            <p:nvPr/>
          </p:nvSpPr>
          <p:spPr>
            <a:xfrm>
              <a:off x="508475" y="1953093"/>
              <a:ext cx="75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For every 2 pieces of bread, there are 4 tomatoes.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91" name="Google Shape;1191;p88"/>
            <p:cNvSpPr/>
            <p:nvPr/>
          </p:nvSpPr>
          <p:spPr>
            <a:xfrm>
              <a:off x="1496125" y="969171"/>
              <a:ext cx="14250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8"/>
            <p:cNvSpPr/>
            <p:nvPr/>
          </p:nvSpPr>
          <p:spPr>
            <a:xfrm>
              <a:off x="5127275" y="971900"/>
              <a:ext cx="28956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3" name="Google Shape;1193;p88"/>
          <p:cNvGrpSpPr/>
          <p:nvPr/>
        </p:nvGrpSpPr>
        <p:grpSpPr>
          <a:xfrm>
            <a:off x="508475" y="1276700"/>
            <a:ext cx="7558800" cy="1814115"/>
            <a:chOff x="508475" y="971900"/>
            <a:chExt cx="7558800" cy="1814115"/>
          </a:xfrm>
        </p:grpSpPr>
        <p:sp>
          <p:nvSpPr>
            <p:cNvPr id="1194" name="Google Shape;1194;p88"/>
            <p:cNvSpPr txBox="1"/>
            <p:nvPr/>
          </p:nvSpPr>
          <p:spPr>
            <a:xfrm>
              <a:off x="508475" y="2324315"/>
              <a:ext cx="75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For every 1 piece of bread, there are 2 tomatoes.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95" name="Google Shape;1195;p88"/>
            <p:cNvSpPr/>
            <p:nvPr/>
          </p:nvSpPr>
          <p:spPr>
            <a:xfrm>
              <a:off x="1484425" y="972857"/>
              <a:ext cx="6963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8"/>
            <p:cNvSpPr/>
            <p:nvPr/>
          </p:nvSpPr>
          <p:spPr>
            <a:xfrm>
              <a:off x="5104474" y="971900"/>
              <a:ext cx="14706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7" name="Google Shape;1197;p88"/>
          <p:cNvGrpSpPr/>
          <p:nvPr/>
        </p:nvGrpSpPr>
        <p:grpSpPr>
          <a:xfrm>
            <a:off x="4693700" y="4205850"/>
            <a:ext cx="1936125" cy="721582"/>
            <a:chOff x="4693700" y="4205850"/>
            <a:chExt cx="1936125" cy="721582"/>
          </a:xfrm>
        </p:grpSpPr>
        <p:sp>
          <p:nvSpPr>
            <p:cNvPr id="1198" name="Google Shape;1198;p88"/>
            <p:cNvSpPr/>
            <p:nvPr/>
          </p:nvSpPr>
          <p:spPr>
            <a:xfrm>
              <a:off x="4693700" y="4205850"/>
              <a:ext cx="1936125" cy="334875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199" name="Google Shape;1199;p88"/>
            <p:cNvSpPr txBox="1"/>
            <p:nvPr/>
          </p:nvSpPr>
          <p:spPr>
            <a:xfrm>
              <a:off x="5397739" y="4391632"/>
              <a:ext cx="5964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×2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0" name="Google Shape;1200;p88"/>
          <p:cNvSpPr/>
          <p:nvPr/>
        </p:nvSpPr>
        <p:spPr>
          <a:xfrm rot="5400000">
            <a:off x="4601526" y="-2166500"/>
            <a:ext cx="323100" cy="651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8"/>
          <p:cNvSpPr txBox="1"/>
          <p:nvPr/>
        </p:nvSpPr>
        <p:spPr>
          <a:xfrm>
            <a:off x="3861149" y="579150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sandwich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8"/>
          <p:cNvSpPr txBox="1"/>
          <p:nvPr/>
        </p:nvSpPr>
        <p:spPr>
          <a:xfrm>
            <a:off x="508475" y="2257893"/>
            <a:ext cx="75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2 pieces of bread, there are 4 tomatoes.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03" name="Google Shape;120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5" y="3086714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aphicFrame>
        <p:nvGraphicFramePr>
          <p:cNvPr id="1209" name="Google Shape;1209;p89"/>
          <p:cNvGraphicFramePr/>
          <p:nvPr/>
        </p:nvGraphicFramePr>
        <p:xfrm>
          <a:off x="2584458" y="30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0" name="Google Shape;1210;p89"/>
          <p:cNvGraphicFramePr/>
          <p:nvPr/>
        </p:nvGraphicFramePr>
        <p:xfrm>
          <a:off x="1507775" y="12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1211" name="Google Shape;1211;p89"/>
          <p:cNvSpPr/>
          <p:nvPr/>
        </p:nvSpPr>
        <p:spPr>
          <a:xfrm rot="-5400000">
            <a:off x="2046786" y="1197250"/>
            <a:ext cx="323100" cy="139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89"/>
          <p:cNvSpPr/>
          <p:nvPr/>
        </p:nvSpPr>
        <p:spPr>
          <a:xfrm rot="-5400000">
            <a:off x="3883024" y="854100"/>
            <a:ext cx="323100" cy="211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89"/>
          <p:cNvSpPr/>
          <p:nvPr/>
        </p:nvSpPr>
        <p:spPr>
          <a:xfrm rot="-5400000">
            <a:off x="6409570" y="505950"/>
            <a:ext cx="323100" cy="2816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9"/>
          <p:cNvSpPr txBox="1"/>
          <p:nvPr/>
        </p:nvSpPr>
        <p:spPr>
          <a:xfrm>
            <a:off x="1371699" y="1974925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bread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9"/>
          <p:cNvSpPr txBox="1"/>
          <p:nvPr/>
        </p:nvSpPr>
        <p:spPr>
          <a:xfrm>
            <a:off x="3218711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9"/>
          <p:cNvSpPr txBox="1"/>
          <p:nvPr/>
        </p:nvSpPr>
        <p:spPr>
          <a:xfrm>
            <a:off x="5827713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tomato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9"/>
          <p:cNvSpPr/>
          <p:nvPr/>
        </p:nvSpPr>
        <p:spPr>
          <a:xfrm>
            <a:off x="1496125" y="1273971"/>
            <a:ext cx="1425000" cy="4479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9"/>
          <p:cNvSpPr/>
          <p:nvPr/>
        </p:nvSpPr>
        <p:spPr>
          <a:xfrm>
            <a:off x="2955575" y="1276300"/>
            <a:ext cx="2119800" cy="4479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9"/>
          <p:cNvSpPr txBox="1"/>
          <p:nvPr/>
        </p:nvSpPr>
        <p:spPr>
          <a:xfrm>
            <a:off x="508475" y="2193500"/>
            <a:ext cx="75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2 pieces of bread, there are 3 cheese slices.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20" name="Google Shape;1220;p89"/>
          <p:cNvGrpSpPr/>
          <p:nvPr/>
        </p:nvGrpSpPr>
        <p:grpSpPr>
          <a:xfrm>
            <a:off x="508475" y="1289150"/>
            <a:ext cx="7558800" cy="1759488"/>
            <a:chOff x="508475" y="971913"/>
            <a:chExt cx="7558800" cy="1759488"/>
          </a:xfrm>
        </p:grpSpPr>
        <p:sp>
          <p:nvSpPr>
            <p:cNvPr id="1221" name="Google Shape;1221;p89"/>
            <p:cNvSpPr txBox="1"/>
            <p:nvPr/>
          </p:nvSpPr>
          <p:spPr>
            <a:xfrm>
              <a:off x="508475" y="2269700"/>
              <a:ext cx="755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For every 1 piece of bread, there are 1.5 cheese slices.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22" name="Google Shape;1222;p89"/>
            <p:cNvSpPr/>
            <p:nvPr/>
          </p:nvSpPr>
          <p:spPr>
            <a:xfrm>
              <a:off x="1484425" y="972857"/>
              <a:ext cx="6963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9"/>
            <p:cNvSpPr/>
            <p:nvPr/>
          </p:nvSpPr>
          <p:spPr>
            <a:xfrm>
              <a:off x="2936150" y="971913"/>
              <a:ext cx="1142400" cy="447900"/>
            </a:xfrm>
            <a:prstGeom prst="rect">
              <a:avLst/>
            </a:prstGeom>
            <a:noFill/>
            <a:ln cap="flat" cmpd="sng" w="762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4" name="Google Shape;1224;p89"/>
          <p:cNvGrpSpPr/>
          <p:nvPr/>
        </p:nvGrpSpPr>
        <p:grpSpPr>
          <a:xfrm>
            <a:off x="4541475" y="4205895"/>
            <a:ext cx="1392074" cy="645380"/>
            <a:chOff x="4693694" y="4205854"/>
            <a:chExt cx="1936125" cy="645380"/>
          </a:xfrm>
        </p:grpSpPr>
        <p:sp>
          <p:nvSpPr>
            <p:cNvPr id="1225" name="Google Shape;1225;p89"/>
            <p:cNvSpPr/>
            <p:nvPr/>
          </p:nvSpPr>
          <p:spPr>
            <a:xfrm>
              <a:off x="4693694" y="4205854"/>
              <a:ext cx="1936125" cy="185789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26" name="Google Shape;1226;p89"/>
            <p:cNvSpPr txBox="1"/>
            <p:nvPr/>
          </p:nvSpPr>
          <p:spPr>
            <a:xfrm>
              <a:off x="5079787" y="4315434"/>
              <a:ext cx="9738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×1.5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7" name="Google Shape;1227;p89"/>
          <p:cNvSpPr/>
          <p:nvPr/>
        </p:nvSpPr>
        <p:spPr>
          <a:xfrm rot="5400000">
            <a:off x="4601526" y="-2166500"/>
            <a:ext cx="323100" cy="651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9"/>
          <p:cNvSpPr txBox="1"/>
          <p:nvPr/>
        </p:nvSpPr>
        <p:spPr>
          <a:xfrm>
            <a:off x="3861149" y="579150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sandwich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9" name="Google Shape;122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5" y="3086714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aphicFrame>
        <p:nvGraphicFramePr>
          <p:cNvPr id="1235" name="Google Shape;1235;p90"/>
          <p:cNvGraphicFramePr/>
          <p:nvPr/>
        </p:nvGraphicFramePr>
        <p:xfrm>
          <a:off x="2584458" y="30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6" name="Google Shape;1236;p90"/>
          <p:cNvGraphicFramePr/>
          <p:nvPr/>
        </p:nvGraphicFramePr>
        <p:xfrm>
          <a:off x="1507775" y="12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1237" name="Google Shape;1237;p90"/>
          <p:cNvSpPr/>
          <p:nvPr/>
        </p:nvSpPr>
        <p:spPr>
          <a:xfrm rot="-5400000">
            <a:off x="2046786" y="1197250"/>
            <a:ext cx="323100" cy="139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90"/>
          <p:cNvSpPr/>
          <p:nvPr/>
        </p:nvSpPr>
        <p:spPr>
          <a:xfrm rot="-5400000">
            <a:off x="3883024" y="854100"/>
            <a:ext cx="323100" cy="211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0"/>
          <p:cNvSpPr/>
          <p:nvPr/>
        </p:nvSpPr>
        <p:spPr>
          <a:xfrm rot="-5400000">
            <a:off x="6409570" y="505950"/>
            <a:ext cx="323100" cy="2816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0"/>
          <p:cNvSpPr txBox="1"/>
          <p:nvPr/>
        </p:nvSpPr>
        <p:spPr>
          <a:xfrm>
            <a:off x="1371699" y="1974925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bread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>
            <a:off x="3218711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0"/>
          <p:cNvSpPr txBox="1"/>
          <p:nvPr/>
        </p:nvSpPr>
        <p:spPr>
          <a:xfrm>
            <a:off x="5827713" y="1994888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tomato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0"/>
          <p:cNvSpPr txBox="1"/>
          <p:nvPr/>
        </p:nvSpPr>
        <p:spPr>
          <a:xfrm>
            <a:off x="508475" y="2345900"/>
            <a:ext cx="75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more multiplicative relationships!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44" name="Google Shape;1244;p90"/>
          <p:cNvGrpSpPr/>
          <p:nvPr/>
        </p:nvGrpSpPr>
        <p:grpSpPr>
          <a:xfrm>
            <a:off x="3441971" y="4205955"/>
            <a:ext cx="3647660" cy="645370"/>
            <a:chOff x="4693694" y="4205854"/>
            <a:chExt cx="1936125" cy="645370"/>
          </a:xfrm>
        </p:grpSpPr>
        <p:sp>
          <p:nvSpPr>
            <p:cNvPr id="1245" name="Google Shape;1245;p90"/>
            <p:cNvSpPr/>
            <p:nvPr/>
          </p:nvSpPr>
          <p:spPr>
            <a:xfrm>
              <a:off x="4693694" y="4205854"/>
              <a:ext cx="1936125" cy="185789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46" name="Google Shape;1246;p90"/>
            <p:cNvSpPr txBox="1"/>
            <p:nvPr/>
          </p:nvSpPr>
          <p:spPr>
            <a:xfrm>
              <a:off x="5444932" y="4315425"/>
              <a:ext cx="6087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4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7" name="Google Shape;1247;p90"/>
          <p:cNvSpPr/>
          <p:nvPr/>
        </p:nvSpPr>
        <p:spPr>
          <a:xfrm rot="5400000">
            <a:off x="4601526" y="-2166500"/>
            <a:ext cx="323100" cy="651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90"/>
          <p:cNvSpPr txBox="1"/>
          <p:nvPr/>
        </p:nvSpPr>
        <p:spPr>
          <a:xfrm>
            <a:off x="3861149" y="579150"/>
            <a:ext cx="16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sandwich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9" name="Google Shape;1249;p90"/>
          <p:cNvGrpSpPr/>
          <p:nvPr/>
        </p:nvGrpSpPr>
        <p:grpSpPr>
          <a:xfrm>
            <a:off x="3441836" y="4205921"/>
            <a:ext cx="2385693" cy="645370"/>
            <a:chOff x="4693694" y="4205854"/>
            <a:chExt cx="1936125" cy="645370"/>
          </a:xfrm>
        </p:grpSpPr>
        <p:sp>
          <p:nvSpPr>
            <p:cNvPr id="1250" name="Google Shape;1250;p90"/>
            <p:cNvSpPr/>
            <p:nvPr/>
          </p:nvSpPr>
          <p:spPr>
            <a:xfrm>
              <a:off x="4693694" y="4205854"/>
              <a:ext cx="1936125" cy="185789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51" name="Google Shape;1251;p90"/>
            <p:cNvSpPr txBox="1"/>
            <p:nvPr/>
          </p:nvSpPr>
          <p:spPr>
            <a:xfrm>
              <a:off x="5444932" y="4315425"/>
              <a:ext cx="6087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3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2" name="Google Shape;1252;p90"/>
          <p:cNvGrpSpPr/>
          <p:nvPr/>
        </p:nvGrpSpPr>
        <p:grpSpPr>
          <a:xfrm>
            <a:off x="5804025" y="4205921"/>
            <a:ext cx="1343864" cy="645379"/>
            <a:chOff x="5804025" y="4205921"/>
            <a:chExt cx="1343864" cy="645379"/>
          </a:xfrm>
        </p:grpSpPr>
        <p:grpSp>
          <p:nvGrpSpPr>
            <p:cNvPr id="1253" name="Google Shape;1253;p90"/>
            <p:cNvGrpSpPr/>
            <p:nvPr/>
          </p:nvGrpSpPr>
          <p:grpSpPr>
            <a:xfrm>
              <a:off x="5804025" y="4205921"/>
              <a:ext cx="1343864" cy="645379"/>
              <a:chOff x="4693694" y="4205854"/>
              <a:chExt cx="1936125" cy="645379"/>
            </a:xfrm>
          </p:grpSpPr>
          <p:sp>
            <p:nvSpPr>
              <p:cNvPr id="1254" name="Google Shape;1254;p90"/>
              <p:cNvSpPr/>
              <p:nvPr/>
            </p:nvSpPr>
            <p:spPr>
              <a:xfrm>
                <a:off x="4693694" y="4205854"/>
                <a:ext cx="1936125" cy="185789"/>
              </a:xfrm>
              <a:custGeom>
                <a:rect b="b" l="l" r="r" t="t"/>
                <a:pathLst>
                  <a:path extrusionOk="0" h="13395" w="77445">
                    <a:moveTo>
                      <a:pt x="0" y="782"/>
                    </a:moveTo>
                    <a:cubicBezTo>
                      <a:pt x="15663" y="13320"/>
                      <a:pt x="40422" y="16522"/>
                      <a:pt x="59453" y="10170"/>
                    </a:cubicBezTo>
                    <a:cubicBezTo>
                      <a:pt x="65988" y="7989"/>
                      <a:pt x="74364" y="6162"/>
                      <a:pt x="77445" y="0"/>
                    </a:cubicBezTo>
                  </a:path>
                </a:pathLst>
              </a:cu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1255" name="Google Shape;1255;p90"/>
              <p:cNvSpPr txBox="1"/>
              <p:nvPr/>
            </p:nvSpPr>
            <p:spPr>
              <a:xfrm>
                <a:off x="5150869" y="4315434"/>
                <a:ext cx="972000" cy="53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3}&quot;&gt;&lt;mfrac&gt;&lt;mn&gt;4&lt;/mn&gt;&lt;mn&gt;3&lt;/mn&gt;&lt;/mfrac&gt;&lt;/math&gt;" id="1256" name="Google Shape;1256;p90" title="four third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77050" y="4353138"/>
              <a:ext cx="141729" cy="472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57" name="Google Shape;125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875" y="3086714"/>
            <a:ext cx="1429501" cy="11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2" name="Google Shape;1262;p91"/>
          <p:cNvGraphicFramePr/>
          <p:nvPr/>
        </p:nvGraphicFramePr>
        <p:xfrm>
          <a:off x="2584458" y="24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494175"/>
                <a:gridCol w="1041250"/>
                <a:gridCol w="1240675"/>
                <a:gridCol w="1289950"/>
              </a:tblGrid>
              <a:tr h="60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sandwiches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bread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cheese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Slices of tomato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3" name="Google Shape;1263;p91"/>
          <p:cNvSpPr txBox="1"/>
          <p:nvPr/>
        </p:nvSpPr>
        <p:spPr>
          <a:xfrm>
            <a:off x="356425" y="624900"/>
            <a:ext cx="8142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this multiplicative relationship change if we now look at 3 sandwiches or any multiple of the sandwiches?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1"/>
          <p:cNvSpPr txBox="1"/>
          <p:nvPr>
            <p:ph idx="1" type="body"/>
          </p:nvPr>
        </p:nvSpPr>
        <p:spPr>
          <a:xfrm>
            <a:off x="369200" y="1559100"/>
            <a:ext cx="82377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multiplicative relationship remains the same or constant for the parts in the ratio.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5" name="Google Shape;126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grpSp>
        <p:nvGrpSpPr>
          <p:cNvPr id="1266" name="Google Shape;1266;p91"/>
          <p:cNvGrpSpPr/>
          <p:nvPr/>
        </p:nvGrpSpPr>
        <p:grpSpPr>
          <a:xfrm>
            <a:off x="4541475" y="4053495"/>
            <a:ext cx="1392074" cy="645380"/>
            <a:chOff x="4693694" y="4205854"/>
            <a:chExt cx="1936125" cy="645380"/>
          </a:xfrm>
        </p:grpSpPr>
        <p:sp>
          <p:nvSpPr>
            <p:cNvPr id="1267" name="Google Shape;1267;p91"/>
            <p:cNvSpPr/>
            <p:nvPr/>
          </p:nvSpPr>
          <p:spPr>
            <a:xfrm>
              <a:off x="4693694" y="4205854"/>
              <a:ext cx="1936125" cy="185789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68" name="Google Shape;1268;p91"/>
            <p:cNvSpPr txBox="1"/>
            <p:nvPr/>
          </p:nvSpPr>
          <p:spPr>
            <a:xfrm>
              <a:off x="5079787" y="4315434"/>
              <a:ext cx="9738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×1.5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9" name="Google Shape;1269;p91"/>
          <p:cNvGrpSpPr/>
          <p:nvPr/>
        </p:nvGrpSpPr>
        <p:grpSpPr>
          <a:xfrm>
            <a:off x="4693700" y="4053450"/>
            <a:ext cx="1936125" cy="721582"/>
            <a:chOff x="4693700" y="4205850"/>
            <a:chExt cx="1936125" cy="721582"/>
          </a:xfrm>
        </p:grpSpPr>
        <p:sp>
          <p:nvSpPr>
            <p:cNvPr id="1270" name="Google Shape;1270;p91"/>
            <p:cNvSpPr/>
            <p:nvPr/>
          </p:nvSpPr>
          <p:spPr>
            <a:xfrm>
              <a:off x="4693700" y="4205850"/>
              <a:ext cx="1936125" cy="334875"/>
            </a:xfrm>
            <a:custGeom>
              <a:rect b="b" l="l" r="r" t="t"/>
              <a:pathLst>
                <a:path extrusionOk="0" h="13395" w="77445">
                  <a:moveTo>
                    <a:pt x="0" y="782"/>
                  </a:moveTo>
                  <a:cubicBezTo>
                    <a:pt x="15663" y="13320"/>
                    <a:pt x="40422" y="16522"/>
                    <a:pt x="59453" y="10170"/>
                  </a:cubicBezTo>
                  <a:cubicBezTo>
                    <a:pt x="65988" y="7989"/>
                    <a:pt x="74364" y="6162"/>
                    <a:pt x="77445" y="0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71" name="Google Shape;1271;p91"/>
            <p:cNvSpPr txBox="1"/>
            <p:nvPr/>
          </p:nvSpPr>
          <p:spPr>
            <a:xfrm>
              <a:off x="5397739" y="4391632"/>
              <a:ext cx="5964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×2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72" name="Google Shape;127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099" y="3141103"/>
            <a:ext cx="1590516" cy="842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866" y="3421726"/>
            <a:ext cx="1716709" cy="61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67547">
            <a:off x="977374" y="3284025"/>
            <a:ext cx="1041962" cy="499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350" y="3311450"/>
            <a:ext cx="1716709" cy="61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830" y="3123761"/>
            <a:ext cx="1590515" cy="57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08" y="3164415"/>
            <a:ext cx="1716709" cy="61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857" y="2700000"/>
            <a:ext cx="1590516" cy="84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</p:txBody>
      </p:sp>
      <p:sp>
        <p:nvSpPr>
          <p:cNvPr id="1284" name="Google Shape;1284;p92"/>
          <p:cNvSpPr txBox="1"/>
          <p:nvPr>
            <p:ph idx="1" type="body"/>
          </p:nvPr>
        </p:nvSpPr>
        <p:spPr>
          <a:xfrm>
            <a:off x="323100" y="2054700"/>
            <a:ext cx="8237700" cy="8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context of the question will help identify the consequence of a change in ratio.</a:t>
            </a:r>
            <a:endParaRPr/>
          </a:p>
        </p:txBody>
      </p:sp>
      <p:sp>
        <p:nvSpPr>
          <p:cNvPr id="1285" name="Google Shape;1285;p92"/>
          <p:cNvSpPr txBox="1"/>
          <p:nvPr/>
        </p:nvSpPr>
        <p:spPr>
          <a:xfrm>
            <a:off x="323100" y="849138"/>
            <a:ext cx="81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Understanding the multiplicative relationship between the parts allows you to reason if the ratio is correct, and if not, how it impacts the context of the whole.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3"/>
          <p:cNvSpPr txBox="1"/>
          <p:nvPr>
            <p:ph idx="1" type="body"/>
          </p:nvPr>
        </p:nvSpPr>
        <p:spPr>
          <a:xfrm>
            <a:off x="324000" y="683100"/>
            <a:ext cx="8616900" cy="6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</a:t>
            </a:r>
            <a:r>
              <a:rPr lang="en-GB" sz="1800"/>
              <a:t>) Laura has a recipe for lemonade. It is the perfect mix of water, lemon and sugar. “For every 1 lemon, use 500 ml of water and 2 tablespoons of sugar.”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Fill in the table below to identify if the ratios below give a mixture that is too sweet (too much sugar), too bitter (not enough sugar) or perfect.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1" name="Google Shape;129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92" name="Google Shape;1292;p93"/>
          <p:cNvGraphicFramePr/>
          <p:nvPr/>
        </p:nvGraphicFramePr>
        <p:xfrm>
          <a:off x="324000" y="19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253475"/>
                <a:gridCol w="1287475"/>
                <a:gridCol w="1293725"/>
                <a:gridCol w="126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lemons, 1500 ml of water and 6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4"/>
          <p:cNvSpPr txBox="1"/>
          <p:nvPr>
            <p:ph idx="1" type="body"/>
          </p:nvPr>
        </p:nvSpPr>
        <p:spPr>
          <a:xfrm>
            <a:off x="324000" y="606375"/>
            <a:ext cx="8616900" cy="42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Orange paint is made using 2 tins of yellow for every one tin of red.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Sam, Jacob and Aisha are given an orange paint made in this ratio.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each add three more tins to the mix, using only red and yellow.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results after they mixed the extra tins are below. What colours were in each of their three tins?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Sam’s paint turns lighter.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Jacob’s paint stays the same colour.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Aisha’s paint turns darker.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8" name="Google Shape;1298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299" name="Google Shape;129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94"/>
          <p:cNvSpPr txBox="1"/>
          <p:nvPr/>
        </p:nvSpPr>
        <p:spPr>
          <a:xfrm>
            <a:off x="10053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1" name="Google Shape;130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94"/>
          <p:cNvSpPr txBox="1"/>
          <p:nvPr/>
        </p:nvSpPr>
        <p:spPr>
          <a:xfrm>
            <a:off x="4129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4"/>
          <p:cNvSpPr txBox="1"/>
          <p:nvPr/>
        </p:nvSpPr>
        <p:spPr>
          <a:xfrm>
            <a:off x="7177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1" name="Google Shape;131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95"/>
          <p:cNvSpPr txBox="1"/>
          <p:nvPr>
            <p:ph idx="4294967295" type="body"/>
          </p:nvPr>
        </p:nvSpPr>
        <p:spPr>
          <a:xfrm>
            <a:off x="324000" y="759300"/>
            <a:ext cx="8237700" cy="5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Tick if the statement is true or false.</a:t>
            </a:r>
            <a:endParaRPr sz="1800"/>
          </a:p>
        </p:txBody>
      </p:sp>
      <p:graphicFrame>
        <p:nvGraphicFramePr>
          <p:cNvPr id="1319" name="Google Shape;1319;p95"/>
          <p:cNvGraphicFramePr/>
          <p:nvPr/>
        </p:nvGraphicFramePr>
        <p:xfrm>
          <a:off x="349925" y="118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6632000"/>
                <a:gridCol w="754975"/>
                <a:gridCol w="909250"/>
              </a:tblGrid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ratio describes the relationship between values.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uses an additive relationship.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Adding the same amount to each part in a ratio keeps the ratio the same.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Multiplying by the same amount for each part in a ratio keeps the ratio the same.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0" name="Google Shape;1320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6"/>
          <p:cNvSpPr txBox="1"/>
          <p:nvPr>
            <p:ph idx="1" type="body"/>
          </p:nvPr>
        </p:nvSpPr>
        <p:spPr>
          <a:xfrm>
            <a:off x="324000" y="759300"/>
            <a:ext cx="3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6" name="Google Shape;132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27" name="Google Shape;1327;p96"/>
          <p:cNvGraphicFramePr/>
          <p:nvPr/>
        </p:nvGraphicFramePr>
        <p:xfrm>
          <a:off x="324000" y="2179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253475"/>
                <a:gridCol w="1287475"/>
                <a:gridCol w="1293725"/>
                <a:gridCol w="126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lemons, 1500 ml of water and 6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28" name="Google Shape;132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758" y="2778237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9" name="Google Shape;1329;p96"/>
          <p:cNvGraphicFramePr/>
          <p:nvPr/>
        </p:nvGraphicFramePr>
        <p:xfrm>
          <a:off x="2430458" y="70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0" name="Google Shape;1330;p96"/>
          <p:cNvGraphicFramePr/>
          <p:nvPr/>
        </p:nvGraphicFramePr>
        <p:xfrm>
          <a:off x="2431191" y="1581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7"/>
          <p:cNvSpPr txBox="1"/>
          <p:nvPr>
            <p:ph idx="1" type="body"/>
          </p:nvPr>
        </p:nvSpPr>
        <p:spPr>
          <a:xfrm>
            <a:off x="324000" y="759300"/>
            <a:ext cx="3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6" name="Google Shape;1336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37" name="Google Shape;1337;p97"/>
          <p:cNvGraphicFramePr/>
          <p:nvPr/>
        </p:nvGraphicFramePr>
        <p:xfrm>
          <a:off x="324000" y="2179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253475"/>
                <a:gridCol w="1287475"/>
                <a:gridCol w="1293725"/>
                <a:gridCol w="126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lemons, 1500 ml of water and 6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38" name="Google Shape;133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758" y="2778237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9" name="Google Shape;1339;p97"/>
          <p:cNvGraphicFramePr/>
          <p:nvPr/>
        </p:nvGraphicFramePr>
        <p:xfrm>
          <a:off x="2430458" y="70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0" name="Google Shape;1340;p97"/>
          <p:cNvGraphicFramePr/>
          <p:nvPr/>
        </p:nvGraphicFramePr>
        <p:xfrm>
          <a:off x="2431191" y="1581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41" name="Google Shape;134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483" y="3527962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8"/>
          <p:cNvSpPr txBox="1"/>
          <p:nvPr>
            <p:ph idx="1" type="body"/>
          </p:nvPr>
        </p:nvSpPr>
        <p:spPr>
          <a:xfrm>
            <a:off x="324000" y="759300"/>
            <a:ext cx="3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7" name="Google Shape;1347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8" name="Google Shape;1348;p98"/>
          <p:cNvGraphicFramePr/>
          <p:nvPr/>
        </p:nvGraphicFramePr>
        <p:xfrm>
          <a:off x="324000" y="2179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4253475"/>
                <a:gridCol w="1287475"/>
                <a:gridCol w="1293725"/>
                <a:gridCol w="126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lemons, 1500 ml of water and 6 tablespoons of sugar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49" name="Google Shape;134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758" y="2778237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0" name="Google Shape;1350;p98"/>
          <p:cNvGraphicFramePr/>
          <p:nvPr/>
        </p:nvGraphicFramePr>
        <p:xfrm>
          <a:off x="2430458" y="70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1" name="Google Shape;1351;p98"/>
          <p:cNvGraphicFramePr/>
          <p:nvPr/>
        </p:nvGraphicFramePr>
        <p:xfrm>
          <a:off x="2431191" y="1581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1595700"/>
                <a:gridCol w="1595700"/>
                <a:gridCol w="1595700"/>
              </a:tblGrid>
              <a:tr h="3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2" name="Google Shape;135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483" y="352796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8083" y="4213762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Orange paint is made using 2 tins of yellow for every one tin of red.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Sam, Jacob and Aisha are given an orange paint made in this ratio.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each add three more tins to the mix, using only red and yellow.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Sam’s paint turns lighter.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59" name="Google Shape;135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99"/>
          <p:cNvSpPr txBox="1"/>
          <p:nvPr/>
        </p:nvSpPr>
        <p:spPr>
          <a:xfrm>
            <a:off x="10053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1" name="Google Shape;13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99"/>
          <p:cNvSpPr txBox="1"/>
          <p:nvPr/>
        </p:nvSpPr>
        <p:spPr>
          <a:xfrm>
            <a:off x="4129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99"/>
          <p:cNvSpPr txBox="1"/>
          <p:nvPr/>
        </p:nvSpPr>
        <p:spPr>
          <a:xfrm>
            <a:off x="7177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1" name="Google Shape;137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99"/>
          <p:cNvSpPr txBox="1"/>
          <p:nvPr/>
        </p:nvSpPr>
        <p:spPr>
          <a:xfrm>
            <a:off x="247800" y="3631025"/>
            <a:ext cx="849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ratio of paint must include more yellow than red, and it must be a higher proportion of yellow than the original. Since there are three cans used, they must all be yellow as one red and two yellow would maintain the original colour.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375" name="Google Shape;137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</a:t>
            </a:r>
            <a:r>
              <a:rPr lang="en-GB" sz="1800"/>
              <a:t>Orange paint is made using 2 tins of yellow for every one tin of red.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Sam, Jacob and Aisha are given an orange paint made in this ratio.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each add three more tins to the mix, using only red and yellow.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Jacob’s paint stays the same colour.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81" name="Google Shape;138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0"/>
          <p:cNvSpPr txBox="1"/>
          <p:nvPr/>
        </p:nvSpPr>
        <p:spPr>
          <a:xfrm>
            <a:off x="10053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3" name="Google Shape;138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0"/>
          <p:cNvSpPr txBox="1"/>
          <p:nvPr/>
        </p:nvSpPr>
        <p:spPr>
          <a:xfrm>
            <a:off x="4129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0"/>
          <p:cNvSpPr txBox="1"/>
          <p:nvPr/>
        </p:nvSpPr>
        <p:spPr>
          <a:xfrm>
            <a:off x="7177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3" name="Google Shape;139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00"/>
          <p:cNvSpPr txBox="1"/>
          <p:nvPr/>
        </p:nvSpPr>
        <p:spPr>
          <a:xfrm>
            <a:off x="247800" y="3631025"/>
            <a:ext cx="849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paint stays the same colour so the paint added must be the same as the original mix, so two yellow and one red.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7" name="Google Shape;139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</a:t>
            </a:r>
            <a:r>
              <a:rPr lang="en-GB" sz="1800"/>
              <a:t>Orange paint is made using 2 tins of yellow for every one tin of red.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Sam, Jacob and Aisha are given an orange paint made in this ratio.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each add three more tins to the mix, using only red and yellow.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Aisha’s paint turns darker.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paint becomes more red, so either all three cans are red, or two are red and one is yellow. It's not possible to tell which.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03" name="Google Shape;140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01"/>
          <p:cNvSpPr txBox="1"/>
          <p:nvPr/>
        </p:nvSpPr>
        <p:spPr>
          <a:xfrm>
            <a:off x="10053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5" name="Google Shape;140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125" y="2242801"/>
            <a:ext cx="462150" cy="821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01"/>
          <p:cNvSpPr txBox="1"/>
          <p:nvPr/>
        </p:nvSpPr>
        <p:spPr>
          <a:xfrm>
            <a:off x="4129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01"/>
          <p:cNvSpPr txBox="1"/>
          <p:nvPr/>
        </p:nvSpPr>
        <p:spPr>
          <a:xfrm>
            <a:off x="7177575" y="1812900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74" y="1858374"/>
            <a:ext cx="707300" cy="122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2"/>
          <p:cNvSpPr txBox="1"/>
          <p:nvPr>
            <p:ph idx="4294967295" type="body"/>
          </p:nvPr>
        </p:nvSpPr>
        <p:spPr>
          <a:xfrm>
            <a:off x="324000" y="759300"/>
            <a:ext cx="8237700" cy="5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Tick if the statement is true or false.</a:t>
            </a:r>
            <a:endParaRPr sz="1800"/>
          </a:p>
        </p:txBody>
      </p:sp>
      <p:graphicFrame>
        <p:nvGraphicFramePr>
          <p:cNvPr id="1424" name="Google Shape;1424;p102"/>
          <p:cNvGraphicFramePr/>
          <p:nvPr/>
        </p:nvGraphicFramePr>
        <p:xfrm>
          <a:off x="349925" y="118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{0B289EE7-7605-4351-86E5-59BD12E9DEE6}</a:tableStyleId>
              </a:tblPr>
              <a:tblGrid>
                <a:gridCol w="6632000"/>
                <a:gridCol w="754975"/>
                <a:gridCol w="909250"/>
              </a:tblGrid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ratio describes the relationship between values.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uses an additive relationship.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Adding the same amount to each part in a ratio keeps the ratio the same.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Multiplying by the same amount for each part in a ratio keeps the ratio the same.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25" name="Google Shape;142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5008" y="18396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3958" y="2458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183" y="31219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5008" y="38233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reasoning with ratios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0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103"/>
          <p:cNvSpPr txBox="1"/>
          <p:nvPr>
            <p:ph idx="1" type="body"/>
          </p:nvPr>
        </p:nvSpPr>
        <p:spPr>
          <a:xfrm>
            <a:off x="392680" y="1156200"/>
            <a:ext cx="8113800" cy="8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ratio shows the relative sizes of 2 or more values and allows you to compare a part with another part in a whole.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03"/>
          <p:cNvSpPr txBox="1"/>
          <p:nvPr/>
        </p:nvSpPr>
        <p:spPr>
          <a:xfrm>
            <a:off x="392680" y="2051400"/>
            <a:ext cx="8219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multiplicative relationship between the parts is constant for things in the same ratio.</a:t>
            </a:r>
            <a:endParaRPr sz="1600"/>
          </a:p>
        </p:txBody>
      </p:sp>
      <p:sp>
        <p:nvSpPr>
          <p:cNvPr id="1437" name="Google Shape;1437;p103"/>
          <p:cNvSpPr txBox="1"/>
          <p:nvPr/>
        </p:nvSpPr>
        <p:spPr>
          <a:xfrm>
            <a:off x="392680" y="3006600"/>
            <a:ext cx="82191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multiplicative relationship between the parts of the ratio is not additive. Adding the same amount to each part of the ratio can change the ratio.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43" name="Google Shape;144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