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DAC25E-7DB9-4AB2-8D69-F96916489494}">
  <a:tblStyle styleId="{31DAC25E-7DB9-4AB2-8D69-F969164894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a90fe76657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a90fe766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90fe76657_0_3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90fe7665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90fe76657_0_21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a90fe7665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70550" y="9972000"/>
            <a:ext cx="5806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 Mathematics in Education and Industry.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6" name="Google Shape;106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" name="Google Shape;114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8" name="Google Shape;118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" name="Google Shape;126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8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766250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Reviewing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2152200"/>
            <a:ext cx="653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Construct a ratio table for the following recipes.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7752750"/>
            <a:ext cx="66240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For each cake, how many cakes can you make with 1 kg of flour and how much of each other ingredient is needed?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08776" y="2572500"/>
            <a:ext cx="1461600" cy="133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74200" y="2610625"/>
            <a:ext cx="13128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vanilla cake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ml of vanilla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g of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g of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98000" y="4311400"/>
            <a:ext cx="1461600" cy="133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04225" y="4374275"/>
            <a:ext cx="13128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banana cake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bananas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of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of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34050" y="6170300"/>
            <a:ext cx="1461600" cy="123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87350" y="6171725"/>
            <a:ext cx="14616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grapefruit cake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egg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grapefruit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g of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150 g of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676300" y="6449663"/>
            <a:ext cx="1248900" cy="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/>
          <p:nvPr/>
        </p:nvCxnSpPr>
        <p:spPr>
          <a:xfrm>
            <a:off x="708900" y="4652088"/>
            <a:ext cx="1043400" cy="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0"/>
          <p:cNvCxnSpPr/>
          <p:nvPr/>
        </p:nvCxnSpPr>
        <p:spPr>
          <a:xfrm>
            <a:off x="676300" y="2881688"/>
            <a:ext cx="979200" cy="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21"/>
          <p:cNvGraphicFramePr/>
          <p:nvPr/>
        </p:nvGraphicFramePr>
        <p:xfrm>
          <a:off x="604750" y="5261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{31DAC25E-7DB9-4AB2-8D69-F96916489494}</a:tableStyleId>
              </a:tblPr>
              <a:tblGrid>
                <a:gridCol w="5530575"/>
                <a:gridCol w="394350"/>
                <a:gridCol w="394350"/>
              </a:tblGrid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4 slices of lettuce there are 6 slices of cheese.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slices are double the lettuce slices.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60 g of veggie patty, there are 2 slices of tomatoes.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759300"/>
            <a:ext cx="61791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has spilt chocolate sauce all over his ratio table for making chocolate brownies. Work out the missing values.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1"/>
          <p:cNvGraphicFramePr/>
          <p:nvPr/>
        </p:nvGraphicFramePr>
        <p:xfrm>
          <a:off x="546200" y="133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{31DAC25E-7DB9-4AB2-8D69-F96916489494}</a:tableStyleId>
              </a:tblPr>
              <a:tblGrid>
                <a:gridCol w="1111175"/>
                <a:gridCol w="855625"/>
                <a:gridCol w="801825"/>
                <a:gridCol w="889275"/>
                <a:gridCol w="687500"/>
                <a:gridCol w="727900"/>
                <a:gridCol w="1346550"/>
              </a:tblGrid>
              <a:tr h="74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Serves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(people)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Cocoa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Vanilla extract (ml)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3" name="Google Shape;183;p21"/>
          <p:cNvGraphicFramePr/>
          <p:nvPr/>
        </p:nvGraphicFramePr>
        <p:xfrm>
          <a:off x="604738" y="467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{31DAC25E-7DB9-4AB2-8D69-F96916489494}</a:tableStyleId>
              </a:tblPr>
              <a:tblGrid>
                <a:gridCol w="747600"/>
                <a:gridCol w="1588050"/>
                <a:gridCol w="1479500"/>
                <a:gridCol w="1240300"/>
                <a:gridCol w="1263850"/>
              </a:tblGrid>
              <a:tr h="289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Burger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Veggie patty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Lettuce (slices)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Cheese slice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4" name="Google Shape;184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5" name="Google Shape;185;p21"/>
          <p:cNvGrpSpPr/>
          <p:nvPr/>
        </p:nvGrpSpPr>
        <p:grpSpPr>
          <a:xfrm>
            <a:off x="981993" y="2089098"/>
            <a:ext cx="5564813" cy="1864267"/>
            <a:chOff x="1532649" y="2564050"/>
            <a:chExt cx="6252599" cy="2187850"/>
          </a:xfrm>
        </p:grpSpPr>
        <p:pic>
          <p:nvPicPr>
            <p:cNvPr id="186" name="Google Shape;186;p21"/>
            <p:cNvPicPr preferRelativeResize="0"/>
            <p:nvPr/>
          </p:nvPicPr>
          <p:blipFill>
            <a:blip r:embed="rId3">
              <a:alphaModFix amt="13000"/>
            </a:blip>
            <a:stretch>
              <a:fillRect/>
            </a:stretch>
          </p:blipFill>
          <p:spPr>
            <a:xfrm>
              <a:off x="6042324" y="2564050"/>
              <a:ext cx="665549" cy="520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" name="Google Shape;187;p21"/>
            <p:cNvGrpSpPr/>
            <p:nvPr/>
          </p:nvGrpSpPr>
          <p:grpSpPr>
            <a:xfrm>
              <a:off x="2485149" y="3132250"/>
              <a:ext cx="5237549" cy="520300"/>
              <a:chOff x="2370849" y="3083150"/>
              <a:chExt cx="5237549" cy="520300"/>
            </a:xfrm>
          </p:grpSpPr>
          <p:pic>
            <p:nvPicPr>
              <p:cNvPr id="188" name="Google Shape;188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5146949" y="30831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9" name="Google Shape;189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2370849" y="30831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6942849" y="30831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1" name="Google Shape;191;p21"/>
            <p:cNvGrpSpPr/>
            <p:nvPr/>
          </p:nvGrpSpPr>
          <p:grpSpPr>
            <a:xfrm>
              <a:off x="2523249" y="3672250"/>
              <a:ext cx="5261999" cy="520300"/>
              <a:chOff x="2370849" y="3616550"/>
              <a:chExt cx="5261999" cy="520300"/>
            </a:xfrm>
          </p:grpSpPr>
          <p:pic>
            <p:nvPicPr>
              <p:cNvPr id="192" name="Google Shape;192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2370849" y="36165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3" name="Google Shape;193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3285249" y="36165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4199649" y="36165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" name="Google Shape;195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5799849" y="36165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" name="Google Shape;196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6967299" y="36165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" name="Google Shape;197;p21"/>
            <p:cNvGrpSpPr/>
            <p:nvPr/>
          </p:nvGrpSpPr>
          <p:grpSpPr>
            <a:xfrm>
              <a:off x="1532649" y="4219525"/>
              <a:ext cx="6228149" cy="532375"/>
              <a:chOff x="1380249" y="4137875"/>
              <a:chExt cx="6228149" cy="532375"/>
            </a:xfrm>
          </p:grpSpPr>
          <p:pic>
            <p:nvPicPr>
              <p:cNvPr id="198" name="Google Shape;198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5876049" y="41499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5037849" y="41499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" name="Google Shape;200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4199649" y="4137875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" name="Google Shape;201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1380249" y="41499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2" name="Google Shape;202;p21"/>
              <p:cNvPicPr preferRelativeResize="0"/>
              <p:nvPr/>
            </p:nvPicPr>
            <p:blipFill>
              <a:blip r:embed="rId3">
                <a:alphaModFix amt="13000"/>
              </a:blip>
              <a:stretch>
                <a:fillRect/>
              </a:stretch>
            </p:blipFill>
            <p:spPr>
              <a:xfrm>
                <a:off x="6942849" y="4149950"/>
                <a:ext cx="665549" cy="52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3" name="Google Shape;203;p21"/>
          <p:cNvSpPr txBox="1"/>
          <p:nvPr/>
        </p:nvSpPr>
        <p:spPr>
          <a:xfrm>
            <a:off x="484748" y="4089150"/>
            <a:ext cx="64695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Identify if each statement is true or false for the following using this ratio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understanding of ratio as a multiplicative relationship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30625" y="1068600"/>
            <a:ext cx="6554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 has a recipe for lemonade. It is the perfect mix of water, lemon and sugar. “For every 1 lemon, use 500 ml of water and 2 tablespoons of sugar.”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table below to identify if the ratios below give a mixture that is too sweet (too much sugar), too bitter (not enough sugar)  or perfect.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" name="Google Shape;211;p22"/>
          <p:cNvGraphicFramePr/>
          <p:nvPr/>
        </p:nvGraphicFramePr>
        <p:xfrm>
          <a:off x="530613" y="2193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{31DAC25E-7DB9-4AB2-8D69-F96916489494}</a:tableStyleId>
              </a:tblPr>
              <a:tblGrid>
                <a:gridCol w="3438025"/>
                <a:gridCol w="1021125"/>
                <a:gridCol w="1281450"/>
                <a:gridCol w="814100"/>
              </a:tblGrid>
              <a:tr h="44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sweet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bitter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6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lemons, 1000 ml of water and 3 tablespoons of 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lemons, 2000 ml of water and 9 tablespoons of 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lemons, 1500 ml of water and 6 tablespoons of 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2"/>
          <p:cNvSpPr txBox="1"/>
          <p:nvPr/>
        </p:nvSpPr>
        <p:spPr>
          <a:xfrm>
            <a:off x="549325" y="4769123"/>
            <a:ext cx="63348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Orange paint is made using 2 tins of yellow for every one tin of 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Sam, Jacob and Aisha are given an orange paint made in this ratio.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each add three more tins to the mix, using only red and yellow.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results after they mixed the extra tins are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colours were in each of their three tins?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Sam’s paint turns lighter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Jacob’s paint stays the same colour.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Aisha’s paint turns darker.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736225" y="5719407"/>
            <a:ext cx="5428125" cy="1473594"/>
            <a:chOff x="888625" y="5795607"/>
            <a:chExt cx="5428125" cy="1473594"/>
          </a:xfrm>
        </p:grpSpPr>
        <p:sp>
          <p:nvSpPr>
            <p:cNvPr id="214" name="Google Shape;214;p22"/>
            <p:cNvSpPr txBox="1"/>
            <p:nvPr/>
          </p:nvSpPr>
          <p:spPr>
            <a:xfrm>
              <a:off x="1046539" y="6621501"/>
              <a:ext cx="1083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2"/>
            <p:cNvSpPr txBox="1"/>
            <p:nvPr/>
          </p:nvSpPr>
          <p:spPr>
            <a:xfrm>
              <a:off x="3416200" y="6615376"/>
              <a:ext cx="10830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5448550" y="6620341"/>
              <a:ext cx="807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Aisha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7" name="Google Shape;21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21608" y="6089722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9749" y="6089722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17890" y="6089722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6700" y="6089722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94841" y="6089722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92982" y="6089722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71792" y="6108584"/>
              <a:ext cx="344959" cy="628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8625" y="5795607"/>
              <a:ext cx="527944" cy="940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3717" y="5795607"/>
              <a:ext cx="527944" cy="940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38809" y="5814468"/>
              <a:ext cx="527944" cy="9407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22"/>
          <p:cNvSpPr txBox="1"/>
          <p:nvPr/>
        </p:nvSpPr>
        <p:spPr>
          <a:xfrm>
            <a:off x="468000" y="693288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reasoning with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/>
        </p:nvSpPr>
        <p:spPr>
          <a:xfrm>
            <a:off x="468000" y="1064100"/>
            <a:ext cx="809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Tick if the statement is true 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false.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4" name="Google Shape;234;p23"/>
          <p:cNvGraphicFramePr/>
          <p:nvPr/>
        </p:nvGraphicFramePr>
        <p:xfrm>
          <a:off x="528875" y="138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{31DAC25E-7DB9-4AB2-8D69-F96916489494}</a:tableStyleId>
              </a:tblPr>
              <a:tblGrid>
                <a:gridCol w="5225850"/>
                <a:gridCol w="594900"/>
                <a:gridCol w="716475"/>
              </a:tblGrid>
              <a:tr h="7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7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ratio describes the relationship between values.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uses an additive relationship.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Adding the same amount to each part in a ratio keeps the ratio the same.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Multiplying by the same amount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each part in a ratio keeps the ratio the same.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3"/>
          <p:cNvSpPr txBox="1"/>
          <p:nvPr/>
        </p:nvSpPr>
        <p:spPr>
          <a:xfrm>
            <a:off x="468000" y="693288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reasoning with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3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