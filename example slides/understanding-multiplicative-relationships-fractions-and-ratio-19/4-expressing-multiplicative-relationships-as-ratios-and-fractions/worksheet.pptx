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AA33BC-186C-44C3-91CD-1237F69278A4}">
  <a:tblStyle styleId="{F0AA33BC-186C-44C3-91CD-1237F69278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ed8ea7731a_0_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ed8ea773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ed8ea7731a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ed8ea773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1108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multiplicative relationships as ratios and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1633900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Multiplicative relationships as ratios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2012075"/>
            <a:ext cx="66240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ratio table,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1532300" y="241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1243150"/>
                <a:gridCol w="1243150"/>
                <a:gridCol w="1243150"/>
                <a:gridCol w="1243150"/>
              </a:tblGrid>
              <a:tr h="45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28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514500" y="3471575"/>
            <a:ext cx="68553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eggs ×          = Flour (g)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egg, there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 of water (ml) ×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= Sugar (g)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ml of water, there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 of sugar (g) 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= Flour (g)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g of sugar,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5593288"/>
            <a:ext cx="4749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the following bar models,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Shorts  × …………   = 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shirts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pair of shorts, there are ………………………..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Cat  × ………… = Mice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cat, there are ………………………..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House × …………. = Phone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house , there are ……………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2347275" y="699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531625"/>
                <a:gridCol w="531625"/>
                <a:gridCol w="531625"/>
                <a:gridCol w="531625"/>
                <a:gridCol w="531625"/>
                <a:gridCol w="53162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C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/>
                        <a:t>C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/>
                        <a:t>M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M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/>
                        <a:t>M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/>
                        <a:t>M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/>
          <p:nvPr/>
        </p:nvGraphicFramePr>
        <p:xfrm>
          <a:off x="1455850" y="593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621575"/>
                <a:gridCol w="621575"/>
                <a:gridCol w="621575"/>
                <a:gridCol w="621575"/>
                <a:gridCol w="621575"/>
                <a:gridCol w="621575"/>
                <a:gridCol w="62157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</a:rPr>
                        <a:t>S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</a:rPr>
                        <a:t>S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</a:rPr>
                        <a:t>S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</a:rPr>
                        <a:t>S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</a:rPr>
                        <a:t>S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</a:rPr>
                        <a:t>S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</a:rPr>
                        <a:t>T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/>
          <p:nvPr/>
        </p:nvGraphicFramePr>
        <p:xfrm>
          <a:off x="2377375" y="81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547075"/>
                <a:gridCol w="547075"/>
                <a:gridCol w="547075"/>
                <a:gridCol w="547075"/>
                <a:gridCol w="547075"/>
                <a:gridCol w="54707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H</a:t>
                      </a:r>
                      <a:endParaRPr sz="22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H</a:t>
                      </a:r>
                      <a:endParaRPr sz="22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</a:t>
                      </a:r>
                      <a:endParaRPr sz="2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</a:t>
                      </a:r>
                      <a:endParaRPr sz="2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</a:t>
                      </a:r>
                      <a:endParaRPr sz="22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/>
                        <a:t>P</a:t>
                      </a:r>
                      <a:endParaRPr sz="22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20"/>
          <p:cNvSpPr/>
          <p:nvPr/>
        </p:nvSpPr>
        <p:spPr>
          <a:xfrm>
            <a:off x="2077425" y="3471575"/>
            <a:ext cx="339300" cy="193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239700" y="3773525"/>
            <a:ext cx="421200" cy="23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457700" y="4083025"/>
            <a:ext cx="421200" cy="23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775450" y="4391975"/>
            <a:ext cx="421200" cy="23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347275" y="4691150"/>
            <a:ext cx="390300" cy="23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214175" y="5000388"/>
            <a:ext cx="2259600" cy="23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multiplicative relationships as ratios and fractions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1294825"/>
            <a:ext cx="82377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spills ink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all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 his work.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work out what was under the ink splats?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1098025" y="2210075"/>
            <a:ext cx="69702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Here is a bar model showing the ratio water, glue and paper.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1"/>
          <p:cNvGraphicFramePr/>
          <p:nvPr/>
        </p:nvGraphicFramePr>
        <p:xfrm>
          <a:off x="1243025" y="2663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21"/>
          <p:cNvGraphicFramePr/>
          <p:nvPr/>
        </p:nvGraphicFramePr>
        <p:xfrm>
          <a:off x="524100" y="377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664925"/>
                <a:gridCol w="664925"/>
                <a:gridCol w="664925"/>
              </a:tblGrid>
              <a:tr h="33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46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1"/>
          <p:cNvSpPr txBox="1"/>
          <p:nvPr/>
        </p:nvSpPr>
        <p:spPr>
          <a:xfrm>
            <a:off x="2606400" y="3595600"/>
            <a:ext cx="60792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part water, there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3 parts glue.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part paper, there are 2 parts glue.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part glue, there are 0.5 parts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are 1.5 parts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690783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Multiplicative relationships as ratios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1875" y="5387025"/>
            <a:ext cx="66867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Laura, Lucas and Alex are making papier mache.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instructions are: for every 4 tablespoons of white flour use 240 ml of water.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use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8 tablespoons of flour and 480 ml of water.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used 6 tablespoons of flour and 242 ml of water.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used 2 tablespoons of flour and 238 ml of water.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used the correct ratio for making papier mache? Explain the error of the other pupils.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Whose mixture will be too watery?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xplain why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1269275" y="2569450"/>
            <a:ext cx="5071896" cy="606204"/>
          </a:xfrm>
          <a:prstGeom prst="cloud">
            <a:avLst/>
          </a:prstGeom>
          <a:solidFill>
            <a:srgbClr val="999999">
              <a:alpha val="28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 rot="-425692">
            <a:off x="1129793" y="4113537"/>
            <a:ext cx="1476868" cy="606198"/>
          </a:xfrm>
          <a:prstGeom prst="cloud">
            <a:avLst/>
          </a:prstGeom>
          <a:solidFill>
            <a:srgbClr val="999999">
              <a:alpha val="28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 rot="361858">
            <a:off x="3330295" y="4435956"/>
            <a:ext cx="899434" cy="482748"/>
          </a:xfrm>
          <a:prstGeom prst="cloud">
            <a:avLst/>
          </a:prstGeom>
          <a:solidFill>
            <a:srgbClr val="999999">
              <a:alpha val="28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 rot="361760">
            <a:off x="5624445" y="4096336"/>
            <a:ext cx="637486" cy="482748"/>
          </a:xfrm>
          <a:prstGeom prst="cloud">
            <a:avLst/>
          </a:prstGeom>
          <a:solidFill>
            <a:srgbClr val="999999">
              <a:alpha val="28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1"/>
          <p:cNvCxnSpPr/>
          <p:nvPr/>
        </p:nvCxnSpPr>
        <p:spPr>
          <a:xfrm>
            <a:off x="474757" y="991393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/>
        </p:nvSpPr>
        <p:spPr>
          <a:xfrm>
            <a:off x="468000" y="1077950"/>
            <a:ext cx="6566700" cy="3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bar model,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Cat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__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 Dog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cat,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dogs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Present ×       =  Heart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present, there are 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hearts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 Orange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apple, there are 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oranges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196" name="Google Shape;196;p22" title="fiv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147" y="2975238"/>
            <a:ext cx="144738" cy="46948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/>
          <p:nvPr/>
        </p:nvSpPr>
        <p:spPr>
          <a:xfrm>
            <a:off x="1635376" y="2986773"/>
            <a:ext cx="200700" cy="19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1635376" y="3275765"/>
            <a:ext cx="200700" cy="19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22"/>
          <p:cNvSpPr txBox="1"/>
          <p:nvPr>
            <p:ph idx="1" type="subTitle"/>
          </p:nvPr>
        </p:nvSpPr>
        <p:spPr>
          <a:xfrm>
            <a:off x="466825" y="360000"/>
            <a:ext cx="5779200" cy="6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multiplicative relationships as ratios and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468000" y="720000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Multiplicative relationships as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2"/>
          <p:cNvGraphicFramePr/>
          <p:nvPr/>
        </p:nvGraphicFramePr>
        <p:xfrm>
          <a:off x="760600" y="376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501375"/>
                <a:gridCol w="501375"/>
                <a:gridCol w="501375"/>
                <a:gridCol w="501375"/>
                <a:gridCol w="501375"/>
                <a:gridCol w="50137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5" name="Google Shape;205;p22"/>
          <p:cNvGraphicFramePr/>
          <p:nvPr/>
        </p:nvGraphicFramePr>
        <p:xfrm>
          <a:off x="760600" y="244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471825"/>
                <a:gridCol w="471825"/>
                <a:gridCol w="471825"/>
                <a:gridCol w="471825"/>
                <a:gridCol w="471825"/>
                <a:gridCol w="471825"/>
                <a:gridCol w="47182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" name="Google Shape;206;p22"/>
          <p:cNvGraphicFramePr/>
          <p:nvPr/>
        </p:nvGraphicFramePr>
        <p:xfrm>
          <a:off x="968925" y="138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{F0AA33BC-186C-44C3-91CD-1237F69278A4}</a:tableStyleId>
              </a:tblPr>
              <a:tblGrid>
                <a:gridCol w="543650"/>
                <a:gridCol w="543650"/>
                <a:gridCol w="543650"/>
                <a:gridCol w="543650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22"/>
          <p:cNvSpPr/>
          <p:nvPr/>
        </p:nvSpPr>
        <p:spPr>
          <a:xfrm>
            <a:off x="2045600" y="5502100"/>
            <a:ext cx="1259400" cy="1173600"/>
          </a:xfrm>
          <a:prstGeom prst="flowChartAlternateProcess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457125" y="5502100"/>
            <a:ext cx="1616700" cy="1173600"/>
          </a:xfrm>
          <a:prstGeom prst="flowChartAlternateProcess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378925" y="5497175"/>
            <a:ext cx="2018700" cy="1173600"/>
          </a:xfrm>
          <a:prstGeom prst="flowChartAlternateProcess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96200" y="5497175"/>
            <a:ext cx="1505100" cy="1173600"/>
          </a:xfrm>
          <a:prstGeom prst="flowChartAlternateProcess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68000" y="4966900"/>
            <a:ext cx="65667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types of smoothies for sale all containing strawberries, apples and banana.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00300" y="5563600"/>
            <a:ext cx="1401000" cy="13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strawberry, there are 2 slices of apples and 5 slices of banana.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117825" y="5626013"/>
            <a:ext cx="8490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fruit is equally split.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3434563" y="5502100"/>
            <a:ext cx="18930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Banana ×   = Apples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strawberry, there are 2 slices of banana.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517525" y="5603750"/>
            <a:ext cx="1318200" cy="14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 and banana have the same ratio. Strawberry is 50% of banana.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1577775" y="5390425"/>
            <a:ext cx="3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17" name="Google Shape;217;p22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0277" y="5661670"/>
            <a:ext cx="111125" cy="36778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2890125" y="5447088"/>
            <a:ext cx="7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010925" y="5416900"/>
            <a:ext cx="33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6673475" y="5432324"/>
            <a:ext cx="393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66813" y="6769600"/>
            <a:ext cx="84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Jacob likes strawberries, which smoothie should he pick?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66825" y="7462883"/>
            <a:ext cx="84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Sofia likes apple, which smoothie should she pick?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496198" y="8136742"/>
            <a:ext cx="610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smoothie has the least banana?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005699" y="9265628"/>
            <a:ext cx="69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22"/>
          <p:cNvGrpSpPr/>
          <p:nvPr/>
        </p:nvGrpSpPr>
        <p:grpSpPr>
          <a:xfrm>
            <a:off x="3226625" y="1325875"/>
            <a:ext cx="4199700" cy="589095"/>
            <a:chOff x="3226625" y="1325875"/>
            <a:chExt cx="4199700" cy="589095"/>
          </a:xfrm>
        </p:grpSpPr>
        <p:sp>
          <p:nvSpPr>
            <p:cNvPr id="226" name="Google Shape;226;p22"/>
            <p:cNvSpPr txBox="1"/>
            <p:nvPr/>
          </p:nvSpPr>
          <p:spPr>
            <a:xfrm>
              <a:off x="3226625" y="1423338"/>
              <a:ext cx="41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Fraction of dogs =</a:t>
              </a:r>
              <a:endParaRPr sz="1200"/>
            </a:p>
          </p:txBody>
        </p:sp>
        <p:pic>
          <p:nvPicPr>
            <p:cNvPr descr="&lt;math xmlns=&quot;http://www.w3.org/1998/Math/MathML&quot; display=&quot;block&quot; data-is-equatio=&quot;1&quot; data-latex=&quot;\frac{3}{4}&quot;&gt;&lt;mfrac&gt;&lt;mn&gt;3&lt;/mn&gt;&lt;mn&gt;4&lt;/mn&gt;&lt;/mfrac&gt;&lt;/math&gt;" id="227" name="Google Shape;227;p22" title="three four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75123" y="1351250"/>
              <a:ext cx="278700" cy="517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2"/>
            <p:cNvSpPr/>
            <p:nvPr/>
          </p:nvSpPr>
          <p:spPr>
            <a:xfrm>
              <a:off x="4759200" y="1692970"/>
              <a:ext cx="278700" cy="22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4759200" y="1325875"/>
              <a:ext cx="278700" cy="22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" name="Google Shape;230;p22"/>
          <p:cNvGrpSpPr/>
          <p:nvPr/>
        </p:nvGrpSpPr>
        <p:grpSpPr>
          <a:xfrm>
            <a:off x="4140000" y="2362950"/>
            <a:ext cx="3123900" cy="589095"/>
            <a:chOff x="4140000" y="2362950"/>
            <a:chExt cx="3123900" cy="589095"/>
          </a:xfrm>
        </p:grpSpPr>
        <p:sp>
          <p:nvSpPr>
            <p:cNvPr id="231" name="Google Shape;231;p22"/>
            <p:cNvSpPr txBox="1"/>
            <p:nvPr/>
          </p:nvSpPr>
          <p:spPr>
            <a:xfrm>
              <a:off x="4140000" y="2472850"/>
              <a:ext cx="312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Fraction of hearts =</a:t>
              </a:r>
              <a:endParaRPr sz="1200"/>
            </a:p>
          </p:txBody>
        </p:sp>
        <p:pic>
          <p:nvPicPr>
            <p:cNvPr descr="&lt;math xmlns=&quot;http://www.w3.org/1998/Math/MathML&quot; display=&quot;block&quot; data-is-equatio=&quot;1&quot; data-latex=&quot;\frac{3}{4}&quot;&gt;&lt;mfrac&gt;&lt;mn&gt;3&lt;/mn&gt;&lt;mn&gt;4&lt;/mn&gt;&lt;/mfrac&gt;&lt;/math&gt;" id="232" name="Google Shape;232;p22" title="three four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84623" y="2388325"/>
              <a:ext cx="278700" cy="517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22"/>
            <p:cNvSpPr/>
            <p:nvPr/>
          </p:nvSpPr>
          <p:spPr>
            <a:xfrm>
              <a:off x="5768700" y="2730045"/>
              <a:ext cx="278700" cy="22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5768700" y="2362950"/>
              <a:ext cx="278700" cy="22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4022739" y="3709423"/>
            <a:ext cx="2722800" cy="589095"/>
            <a:chOff x="4022740" y="3709423"/>
            <a:chExt cx="2722800" cy="589095"/>
          </a:xfrm>
        </p:grpSpPr>
        <p:pic>
          <p:nvPicPr>
            <p:cNvPr descr="&lt;math xmlns=&quot;http://www.w3.org/1998/Math/MathML&quot; display=&quot;block&quot; data-is-equatio=&quot;1&quot; data-latex=&quot;\frac{3}{4}&quot;&gt;&lt;mfrac&gt;&lt;mn&gt;3&lt;/mn&gt;&lt;mn&gt;4&lt;/mn&gt;&lt;/mfrac&gt;&lt;/math&gt;" id="236" name="Google Shape;236;p22" title="three four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6687" y="3734798"/>
              <a:ext cx="278700" cy="517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2"/>
            <p:cNvSpPr/>
            <p:nvPr/>
          </p:nvSpPr>
          <p:spPr>
            <a:xfrm>
              <a:off x="5776665" y="4076518"/>
              <a:ext cx="278700" cy="22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2"/>
            <p:cNvSpPr txBox="1"/>
            <p:nvPr/>
          </p:nvSpPr>
          <p:spPr>
            <a:xfrm>
              <a:off x="4022740" y="3851973"/>
              <a:ext cx="2722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Fraction of oranges =</a:t>
              </a:r>
              <a:endParaRPr sz="1200"/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5776665" y="3709423"/>
              <a:ext cx="278700" cy="22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0" name="Google Shape;240;p22"/>
          <p:cNvSpPr txBox="1"/>
          <p:nvPr/>
        </p:nvSpPr>
        <p:spPr>
          <a:xfrm>
            <a:off x="496200" y="8848975"/>
            <a:ext cx="6566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Create your own smoothie so the ratio of banana &gt; ratio of apple &gt; ratio of strawberries.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