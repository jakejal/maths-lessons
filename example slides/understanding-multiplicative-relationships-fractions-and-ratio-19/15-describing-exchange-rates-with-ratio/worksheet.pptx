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8F53D4-4168-4D5C-8362-1C102D4ADCE0}">
  <a:tblStyle styleId="{838F53D4-4168-4D5C-8362-1C102D4ADC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exchange rates with ratio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0"/>
          <p:cNvSpPr txBox="1"/>
          <p:nvPr/>
        </p:nvSpPr>
        <p:spPr>
          <a:xfrm>
            <a:off x="468000" y="1343475"/>
            <a:ext cx="448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 Representations of exchange rates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1597500"/>
            <a:ext cx="381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graph and estimate the conversions.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£10 = $15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701400" y="4817900"/>
            <a:ext cx="1786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£8 = $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701400" y="5290425"/>
            <a:ext cx="1786800" cy="40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$6 = £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" name="Google Shape;166;p20"/>
          <p:cNvGrpSpPr/>
          <p:nvPr/>
        </p:nvGrpSpPr>
        <p:grpSpPr>
          <a:xfrm>
            <a:off x="544196" y="2254880"/>
            <a:ext cx="3122088" cy="2452272"/>
            <a:chOff x="1721554" y="1847350"/>
            <a:chExt cx="4161120" cy="3683750"/>
          </a:xfrm>
        </p:grpSpPr>
        <p:pic>
          <p:nvPicPr>
            <p:cNvPr id="167" name="Google Shape;16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87725" y="1937650"/>
              <a:ext cx="3692960" cy="3568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20"/>
            <p:cNvSpPr txBox="1"/>
            <p:nvPr/>
          </p:nvSpPr>
          <p:spPr>
            <a:xfrm>
              <a:off x="1721554" y="1847350"/>
              <a:ext cx="325800" cy="27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$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5480674" y="5253600"/>
              <a:ext cx="402000" cy="27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" name="Google Shape;170;p20"/>
          <p:cNvSpPr txBox="1"/>
          <p:nvPr/>
        </p:nvSpPr>
        <p:spPr>
          <a:xfrm>
            <a:off x="3802860" y="1555410"/>
            <a:ext cx="12912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£8 = €10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368775" y="4817900"/>
            <a:ext cx="1786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£6 = €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368775" y="5290425"/>
            <a:ext cx="1786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€4 = £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3" name="Google Shape;173;p20"/>
          <p:cNvGrpSpPr/>
          <p:nvPr/>
        </p:nvGrpSpPr>
        <p:grpSpPr>
          <a:xfrm>
            <a:off x="4139986" y="2161644"/>
            <a:ext cx="2951973" cy="2628518"/>
            <a:chOff x="2379607" y="1161550"/>
            <a:chExt cx="4109094" cy="3658850"/>
          </a:xfrm>
        </p:grpSpPr>
        <p:pic>
          <p:nvPicPr>
            <p:cNvPr id="174" name="Google Shape;174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73525" y="1251850"/>
              <a:ext cx="3692960" cy="3568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20"/>
            <p:cNvSpPr txBox="1"/>
            <p:nvPr/>
          </p:nvSpPr>
          <p:spPr>
            <a:xfrm>
              <a:off x="2379607" y="1161550"/>
              <a:ext cx="3258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€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6162901" y="4557900"/>
              <a:ext cx="3258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7" name="Google Shape;177;p20"/>
          <p:cNvSpPr txBox="1"/>
          <p:nvPr/>
        </p:nvSpPr>
        <p:spPr>
          <a:xfrm>
            <a:off x="552600" y="5483700"/>
            <a:ext cx="12912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£14 = €18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914925" y="8898525"/>
            <a:ext cx="1786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£5 = €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816326" y="9331205"/>
            <a:ext cx="18639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€16 = £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2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" name="Google Shape;180;p20"/>
          <p:cNvGrpSpPr/>
          <p:nvPr/>
        </p:nvGrpSpPr>
        <p:grpSpPr>
          <a:xfrm>
            <a:off x="628236" y="6117606"/>
            <a:ext cx="3306904" cy="2628518"/>
            <a:chOff x="2266550" y="1161550"/>
            <a:chExt cx="4603152" cy="3658850"/>
          </a:xfrm>
        </p:grpSpPr>
        <p:pic>
          <p:nvPicPr>
            <p:cNvPr id="181" name="Google Shape;18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73525" y="1251850"/>
              <a:ext cx="3692960" cy="3568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20"/>
            <p:cNvSpPr txBox="1"/>
            <p:nvPr/>
          </p:nvSpPr>
          <p:spPr>
            <a:xfrm>
              <a:off x="2266550" y="1161550"/>
              <a:ext cx="3258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€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5774402" y="4481700"/>
              <a:ext cx="10953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4" name="Google Shape;184;p20"/>
          <p:cNvSpPr txBox="1"/>
          <p:nvPr/>
        </p:nvSpPr>
        <p:spPr>
          <a:xfrm>
            <a:off x="3802850" y="5483700"/>
            <a:ext cx="14178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£16 = $18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368775" y="8898525"/>
            <a:ext cx="1786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£11 = $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432400" y="9331205"/>
            <a:ext cx="1786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$8 = £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" name="Google Shape;187;p20"/>
          <p:cNvGrpSpPr/>
          <p:nvPr/>
        </p:nvGrpSpPr>
        <p:grpSpPr>
          <a:xfrm>
            <a:off x="4099464" y="6078843"/>
            <a:ext cx="3306904" cy="2628518"/>
            <a:chOff x="2266550" y="1161550"/>
            <a:chExt cx="4603152" cy="3658850"/>
          </a:xfrm>
        </p:grpSpPr>
        <p:pic>
          <p:nvPicPr>
            <p:cNvPr id="188" name="Google Shape;18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73525" y="1251850"/>
              <a:ext cx="3692960" cy="3568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20"/>
            <p:cNvSpPr txBox="1"/>
            <p:nvPr/>
          </p:nvSpPr>
          <p:spPr>
            <a:xfrm>
              <a:off x="2266550" y="1161550"/>
              <a:ext cx="3258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$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5774402" y="4481700"/>
              <a:ext cx="10953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6" name="Google Shape;196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exchange rates with ratio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466825" y="733875"/>
            <a:ext cx="44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 Writing exchange rates as a ratio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76400" y="987900"/>
            <a:ext cx="6615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missing values in the following tables given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exchange rate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the top row.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76393" y="1543800"/>
            <a:ext cx="28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2850189" y="1543800"/>
            <a:ext cx="28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5276993" y="1543800"/>
            <a:ext cx="28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4" name="Google Shape;204;p21"/>
          <p:cNvGraphicFramePr/>
          <p:nvPr/>
        </p:nvGraphicFramePr>
        <p:xfrm>
          <a:off x="3111863" y="329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{838F53D4-4168-4D5C-8362-1C102D4ADCE0}</a:tableStyleId>
              </a:tblPr>
              <a:tblGrid>
                <a:gridCol w="759300"/>
                <a:gridCol w="759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¥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2312.50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21"/>
          <p:cNvSpPr txBox="1"/>
          <p:nvPr/>
        </p:nvSpPr>
        <p:spPr>
          <a:xfrm>
            <a:off x="476393" y="3296400"/>
            <a:ext cx="28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2850189" y="3296400"/>
            <a:ext cx="28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276993" y="3296400"/>
            <a:ext cx="28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8" name="Google Shape;208;p21"/>
          <p:cNvGraphicFramePr/>
          <p:nvPr/>
        </p:nvGraphicFramePr>
        <p:xfrm>
          <a:off x="777875" y="158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{838F53D4-4168-4D5C-8362-1C102D4ADCE0}</a:tableStyleId>
              </a:tblPr>
              <a:tblGrid>
                <a:gridCol w="718325"/>
                <a:gridCol w="71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9" name="Google Shape;209;p21"/>
          <p:cNvGraphicFramePr/>
          <p:nvPr/>
        </p:nvGraphicFramePr>
        <p:xfrm>
          <a:off x="3111863" y="158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{838F53D4-4168-4D5C-8362-1C102D4ADCE0}</a:tableStyleId>
              </a:tblPr>
              <a:tblGrid>
                <a:gridCol w="759300"/>
                <a:gridCol w="759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0" name="Google Shape;210;p21"/>
          <p:cNvGraphicFramePr/>
          <p:nvPr/>
        </p:nvGraphicFramePr>
        <p:xfrm>
          <a:off x="5527800" y="158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{838F53D4-4168-4D5C-8362-1C102D4ADCE0}</a:tableStyleId>
              </a:tblPr>
              <a:tblGrid>
                <a:gridCol w="718325"/>
                <a:gridCol w="71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¥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1" name="Google Shape;211;p21"/>
          <p:cNvGraphicFramePr/>
          <p:nvPr/>
        </p:nvGraphicFramePr>
        <p:xfrm>
          <a:off x="777875" y="329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{838F53D4-4168-4D5C-8362-1C102D4ADCE0}</a:tableStyleId>
              </a:tblPr>
              <a:tblGrid>
                <a:gridCol w="718325"/>
                <a:gridCol w="71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2" name="Google Shape;212;p21"/>
          <p:cNvGraphicFramePr/>
          <p:nvPr/>
        </p:nvGraphicFramePr>
        <p:xfrm>
          <a:off x="5527800" y="329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{838F53D4-4168-4D5C-8362-1C102D4ADCE0}</a:tableStyleId>
              </a:tblPr>
              <a:tblGrid>
                <a:gridCol w="718325"/>
                <a:gridCol w="71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108.75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" name="Google Shape;213;p21"/>
          <p:cNvSpPr txBox="1"/>
          <p:nvPr/>
        </p:nvSpPr>
        <p:spPr>
          <a:xfrm>
            <a:off x="476400" y="4797900"/>
            <a:ext cx="65424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 is comparing prices of sunglasses in the UK, the USA and France.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Rank the following from cheapest to most expensive.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871899" y="5380800"/>
            <a:ext cx="1220100" cy="184800"/>
          </a:xfrm>
          <a:prstGeom prst="rect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 : €1.20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7900" y="5802575"/>
            <a:ext cx="1049529" cy="43533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/>
          <p:nvPr/>
        </p:nvSpPr>
        <p:spPr>
          <a:xfrm rot="1444677">
            <a:off x="568923" y="5550085"/>
            <a:ext cx="952254" cy="249014"/>
          </a:xfrm>
          <a:prstGeom prst="homePlate">
            <a:avLst>
              <a:gd fmla="val 50000" name="adj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£45.00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" name="Google Shape;2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0727" y="5802575"/>
            <a:ext cx="1049529" cy="43533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/>
          <p:nvPr/>
        </p:nvSpPr>
        <p:spPr>
          <a:xfrm rot="1444677">
            <a:off x="5020322" y="5550085"/>
            <a:ext cx="952254" cy="249014"/>
          </a:xfrm>
          <a:prstGeom prst="homePlate">
            <a:avLst>
              <a:gd fmla="val 50000" name="adj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€54.24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9" name="Google Shape;219;p21"/>
          <p:cNvGraphicFramePr/>
          <p:nvPr/>
        </p:nvGraphicFramePr>
        <p:xfrm>
          <a:off x="5179000" y="663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{838F53D4-4168-4D5C-8362-1C102D4ADCE0}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54.24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0" name="Google Shape;2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4314" y="5802575"/>
            <a:ext cx="1049529" cy="43533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/>
          <p:nvPr/>
        </p:nvSpPr>
        <p:spPr>
          <a:xfrm rot="1444677">
            <a:off x="2765383" y="5550085"/>
            <a:ext cx="952254" cy="249014"/>
          </a:xfrm>
          <a:prstGeom prst="homePlate">
            <a:avLst>
              <a:gd fmla="val 50000" name="adj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$57.00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3741374" y="5374200"/>
            <a:ext cx="1119600" cy="184800"/>
          </a:xfrm>
          <a:prstGeom prst="rect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 : $1.25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3" name="Google Shape;223;p21"/>
          <p:cNvGraphicFramePr/>
          <p:nvPr/>
        </p:nvGraphicFramePr>
        <p:xfrm>
          <a:off x="2827750" y="663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{838F53D4-4168-4D5C-8362-1C102D4ADCE0}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