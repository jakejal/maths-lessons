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B874B4-372D-4683-83B7-952F8854DAA0}">
  <a:tblStyle styleId="{E2B874B4-372D-4683-83B7-952F8854DA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exchange rates with ratio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20900" y="1343471"/>
            <a:ext cx="443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Representations of exchange rates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55260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0"/>
          <p:cNvSpPr txBox="1"/>
          <p:nvPr/>
        </p:nvSpPr>
        <p:spPr>
          <a:xfrm>
            <a:off x="476400" y="1597500"/>
            <a:ext cx="381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graph and estimate the conversions.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£10 = $15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701400" y="4817900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£8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$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701400" y="5290425"/>
            <a:ext cx="1786800" cy="40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$6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802860" y="1555410"/>
            <a:ext cx="12912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£8 = €10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368775" y="4817900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£6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€7.20 to €7.80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368775" y="5290425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€4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£3 to £3.40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52600" y="5483700"/>
            <a:ext cx="16104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£14 = €18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914925" y="8898525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£5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€6.20 to €6.80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16326" y="9331205"/>
            <a:ext cx="1863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€16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£12.20 to £12.70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753000" y="5483700"/>
            <a:ext cx="16104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£16 = $18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368775" y="8898525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£11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$12.20 to $12.70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432400" y="9331205"/>
            <a:ext cx="178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$8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£6.80 to £7.20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619185" y="2212206"/>
            <a:ext cx="3184000" cy="2530828"/>
            <a:chOff x="2266550" y="1161550"/>
            <a:chExt cx="4603152" cy="3658852"/>
          </a:xfrm>
        </p:grpSpPr>
        <p:pic>
          <p:nvPicPr>
            <p:cNvPr id="188" name="Google Shape;18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37850" y="1164026"/>
              <a:ext cx="3808347" cy="3656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0"/>
            <p:cNvSpPr txBox="1"/>
            <p:nvPr/>
          </p:nvSpPr>
          <p:spPr>
            <a:xfrm>
              <a:off x="2266550" y="1161550"/>
              <a:ext cx="3258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$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5774402" y="4481700"/>
              <a:ext cx="10953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3955575" y="2111618"/>
            <a:ext cx="3315650" cy="2635469"/>
            <a:chOff x="2266550" y="1161550"/>
            <a:chExt cx="4603152" cy="3658850"/>
          </a:xfrm>
        </p:grpSpPr>
        <p:pic>
          <p:nvPicPr>
            <p:cNvPr id="192" name="Google Shape;19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40890" y="1244100"/>
              <a:ext cx="3747911" cy="35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0"/>
            <p:cNvSpPr txBox="1"/>
            <p:nvPr/>
          </p:nvSpPr>
          <p:spPr>
            <a:xfrm>
              <a:off x="2266550" y="1161550"/>
              <a:ext cx="3258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5774402" y="4481700"/>
              <a:ext cx="10953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" name="Google Shape;195;p20"/>
          <p:cNvGrpSpPr/>
          <p:nvPr/>
        </p:nvGrpSpPr>
        <p:grpSpPr>
          <a:xfrm>
            <a:off x="701300" y="6055753"/>
            <a:ext cx="3184000" cy="2530826"/>
            <a:chOff x="2266550" y="1161550"/>
            <a:chExt cx="4603152" cy="3658849"/>
          </a:xfrm>
        </p:grpSpPr>
        <p:pic>
          <p:nvPicPr>
            <p:cNvPr id="196" name="Google Shape;19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472426" y="1255825"/>
              <a:ext cx="3713102" cy="3564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0"/>
            <p:cNvSpPr txBox="1"/>
            <p:nvPr/>
          </p:nvSpPr>
          <p:spPr>
            <a:xfrm>
              <a:off x="2266550" y="1161550"/>
              <a:ext cx="3258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5774402" y="4481700"/>
              <a:ext cx="10953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" name="Google Shape;199;p20"/>
          <p:cNvGrpSpPr/>
          <p:nvPr/>
        </p:nvGrpSpPr>
        <p:grpSpPr>
          <a:xfrm>
            <a:off x="4140004" y="6137426"/>
            <a:ext cx="3245682" cy="2579854"/>
            <a:chOff x="2266550" y="1161550"/>
            <a:chExt cx="4603152" cy="3658848"/>
          </a:xfrm>
        </p:grpSpPr>
        <p:pic>
          <p:nvPicPr>
            <p:cNvPr id="200" name="Google Shape;200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89175" y="1204124"/>
              <a:ext cx="3735507" cy="3616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0"/>
            <p:cNvSpPr txBox="1"/>
            <p:nvPr/>
          </p:nvSpPr>
          <p:spPr>
            <a:xfrm>
              <a:off x="2266550" y="1161550"/>
              <a:ext cx="325800" cy="2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$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5774402" y="4481700"/>
              <a:ext cx="1095300" cy="2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8" name="Google Shape;20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exchange rates with ratio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76500" y="733875"/>
            <a:ext cx="447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Writing exchange rates as a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6400" y="987900"/>
            <a:ext cx="6615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values in the following tables given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exchange rate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top 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76393" y="15438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2850189" y="15438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276993" y="15438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6" name="Google Shape;216;p21"/>
          <p:cNvGraphicFramePr/>
          <p:nvPr/>
        </p:nvGraphicFramePr>
        <p:xfrm>
          <a:off x="3111863" y="32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{E2B874B4-372D-4683-83B7-952F8854DAA0}</a:tableStyleId>
              </a:tblPr>
              <a:tblGrid>
                <a:gridCol w="759300"/>
                <a:gridCol w="759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¥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12.50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2312.50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1"/>
          <p:cNvSpPr txBox="1"/>
          <p:nvPr/>
        </p:nvSpPr>
        <p:spPr>
          <a:xfrm>
            <a:off x="476393" y="32964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2850189" y="32964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276993" y="3296400"/>
            <a:ext cx="28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" name="Google Shape;220;p21"/>
          <p:cNvGraphicFramePr/>
          <p:nvPr/>
        </p:nvGraphicFramePr>
        <p:xfrm>
          <a:off x="777875" y="158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{E2B874B4-372D-4683-83B7-952F8854DAA0}</a:tableStyleId>
              </a:tblPr>
              <a:tblGrid>
                <a:gridCol w="718325"/>
                <a:gridCol w="71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322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" name="Google Shape;221;p21"/>
          <p:cNvGraphicFramePr/>
          <p:nvPr/>
        </p:nvGraphicFramePr>
        <p:xfrm>
          <a:off x="3111863" y="158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{E2B874B4-372D-4683-83B7-952F8854DAA0}</a:tableStyleId>
              </a:tblPr>
              <a:tblGrid>
                <a:gridCol w="759300"/>
                <a:gridCol w="759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39.50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2" name="Google Shape;222;p21"/>
          <p:cNvGraphicFramePr/>
          <p:nvPr/>
        </p:nvGraphicFramePr>
        <p:xfrm>
          <a:off x="5527800" y="158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{E2B874B4-372D-4683-83B7-952F8854DAA0}</a:tableStyleId>
              </a:tblPr>
              <a:tblGrid>
                <a:gridCol w="718325"/>
                <a:gridCol w="71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¥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2775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21"/>
          <p:cNvGraphicFramePr/>
          <p:nvPr/>
        </p:nvGraphicFramePr>
        <p:xfrm>
          <a:off x="777875" y="32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{E2B874B4-372D-4683-83B7-952F8854DAA0}</a:tableStyleId>
              </a:tblPr>
              <a:tblGrid>
                <a:gridCol w="718325"/>
                <a:gridCol w="71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Google Shape;224;p21"/>
          <p:cNvGraphicFramePr/>
          <p:nvPr/>
        </p:nvGraphicFramePr>
        <p:xfrm>
          <a:off x="5527800" y="32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{E2B874B4-372D-4683-83B7-952F8854DAA0}</a:tableStyleId>
              </a:tblPr>
              <a:tblGrid>
                <a:gridCol w="718325"/>
                <a:gridCol w="71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1"/>
          <p:cNvSpPr txBox="1"/>
          <p:nvPr/>
        </p:nvSpPr>
        <p:spPr>
          <a:xfrm>
            <a:off x="476400" y="4797900"/>
            <a:ext cx="65424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 is comparing prices of sunglasses in the UK, the USA and France.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Rank the following from cheapest to most expensive.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871899" y="5380800"/>
            <a:ext cx="1220100" cy="1848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: €1.20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6200" y="5802575"/>
            <a:ext cx="1049529" cy="43533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 rot="1444677">
            <a:off x="568923" y="5550085"/>
            <a:ext cx="952254" cy="249014"/>
          </a:xfrm>
          <a:prstGeom prst="homePlate">
            <a:avLst>
              <a:gd fmla="val 50000" name="adj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£45.00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727" y="5802575"/>
            <a:ext cx="1049529" cy="43533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 rot="1444677">
            <a:off x="5020322" y="5550085"/>
            <a:ext cx="952254" cy="249014"/>
          </a:xfrm>
          <a:prstGeom prst="homePlate">
            <a:avLst>
              <a:gd fmla="val 50000" name="adj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€54.24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1" name="Google Shape;231;p21"/>
          <p:cNvGraphicFramePr/>
          <p:nvPr/>
        </p:nvGraphicFramePr>
        <p:xfrm>
          <a:off x="5179000" y="663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{E2B874B4-372D-4683-83B7-952F8854DAA0}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45.20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54.24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21"/>
          <p:cNvSpPr txBox="1"/>
          <p:nvPr/>
        </p:nvSpPr>
        <p:spPr>
          <a:xfrm>
            <a:off x="476499" y="8587200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 order from cheapest to most expensive: UK, France &amp; USA.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314" y="5802575"/>
            <a:ext cx="1049529" cy="43533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/>
          <p:nvPr/>
        </p:nvSpPr>
        <p:spPr>
          <a:xfrm rot="1444677">
            <a:off x="2765383" y="5550085"/>
            <a:ext cx="952254" cy="249014"/>
          </a:xfrm>
          <a:prstGeom prst="homePlate">
            <a:avLst>
              <a:gd fmla="val 50000" name="adj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$57.00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741374" y="5374200"/>
            <a:ext cx="1119600" cy="1848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: $1.25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6" name="Google Shape;236;p21"/>
          <p:cNvGraphicFramePr/>
          <p:nvPr/>
        </p:nvGraphicFramePr>
        <p:xfrm>
          <a:off x="2827750" y="663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{E2B874B4-372D-4683-83B7-952F8854DAA0}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45.60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