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1BFFB5-1405-464F-8179-D40A586887F4}">
  <a:tblStyle styleId="{0F1BFFB5-1405-464F-8179-D40A586887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7f0fc76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7f0fc76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fb7b089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9fb7b089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9fb7b0890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9fb7b0890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a3d756df5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a3d756df5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9fb7b0890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9fb7b0890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9fb7b0890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9fb7b0890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9fb7b0890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9fb7b0890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9fb7b0890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29fb7b0890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9fb7b0890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9fb7b0890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9fb7b0890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9fb7b0890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2a86662a62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8" name="Google Shape;968;g2a86662a62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9fb7b0890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9fb7b0890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a5fac4f646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a5fac4f646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a5fac4f646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a5fac4f646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a5fac4f646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a5fac4f646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a5fac4f646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a5fac4f646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29fb7b0890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29fb7b0890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a5fac4f646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a5fac4f646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a5fac4f646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a5fac4f646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a5fac4f646_0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a5fac4f646_0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9fb7b0890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9fb7b0890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9fb7b0890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9fb7b0890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9fb7b08908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9fb7b08908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9fb7b08908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9fb7b0890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29fb7b0890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29fb7b0890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29fb7b0890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29fb7b0890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2a57ed5cf89_1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2a57ed5cf89_1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9fb7b0890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9fb7b0890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a5fac4f64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a5fac4f64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9fb7b08908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29fb7b08908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9fb7b0890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9fb7b0890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g2a5fac4f64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0" name="Google Shape;1330;g2a5fac4f64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a5fac4f646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a5fac4f646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a5fac4f64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a5fac4f64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g2a5fac4f64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7" name="Google Shape;1377;g2a5fac4f64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a5fac4f646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a5fac4f646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2a5fac4f646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2a5fac4f646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9fb7b0890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29fb7b0890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a5fac4f646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a5fac4f646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4.png"/><Relationship Id="rId5" Type="http://schemas.openxmlformats.org/officeDocument/2006/relationships/image" Target="../media/image26.png"/><Relationship Id="rId6" Type="http://schemas.openxmlformats.org/officeDocument/2006/relationships/image" Target="../media/image31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4.png"/><Relationship Id="rId4" Type="http://schemas.openxmlformats.org/officeDocument/2006/relationships/image" Target="../media/image24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74.png"/><Relationship Id="rId4" Type="http://schemas.openxmlformats.org/officeDocument/2006/relationships/image" Target="../media/image30.png"/><Relationship Id="rId11" Type="http://schemas.openxmlformats.org/officeDocument/2006/relationships/image" Target="../media/image22.png"/><Relationship Id="rId10" Type="http://schemas.openxmlformats.org/officeDocument/2006/relationships/image" Target="../media/image40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51.png"/><Relationship Id="rId6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8.png"/><Relationship Id="rId4" Type="http://schemas.openxmlformats.org/officeDocument/2006/relationships/image" Target="../media/image60.png"/><Relationship Id="rId5" Type="http://schemas.openxmlformats.org/officeDocument/2006/relationships/image" Target="../media/image59.png"/><Relationship Id="rId6" Type="http://schemas.openxmlformats.org/officeDocument/2006/relationships/image" Target="../media/image4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7.png"/><Relationship Id="rId4" Type="http://schemas.openxmlformats.org/officeDocument/2006/relationships/image" Target="../media/image54.png"/><Relationship Id="rId5" Type="http://schemas.openxmlformats.org/officeDocument/2006/relationships/image" Target="../media/image70.png"/><Relationship Id="rId6" Type="http://schemas.openxmlformats.org/officeDocument/2006/relationships/image" Target="../media/image5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7.png"/><Relationship Id="rId4" Type="http://schemas.openxmlformats.org/officeDocument/2006/relationships/image" Target="../media/image54.png"/><Relationship Id="rId5" Type="http://schemas.openxmlformats.org/officeDocument/2006/relationships/image" Target="../media/image70.png"/><Relationship Id="rId6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1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0.png"/><Relationship Id="rId4" Type="http://schemas.openxmlformats.org/officeDocument/2006/relationships/image" Target="../media/image5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0.png"/><Relationship Id="rId4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ratio to describe exchange rates.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exchange rate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is the rate at which one currency is exchanged for another. The two currencies are in proportion because they have a constant multiplicative relationship.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8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784" name="Google Shape;784;p68"/>
          <p:cNvSpPr txBox="1"/>
          <p:nvPr>
            <p:ph idx="1" type="body"/>
          </p:nvPr>
        </p:nvSpPr>
        <p:spPr>
          <a:xfrm>
            <a:off x="324000" y="708675"/>
            <a:ext cx="8237700" cy="6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relationship between the number of boxes of pens bought and the total cost of the boxes is shown on a graph below:</a:t>
            </a:r>
            <a:endParaRPr sz="1900"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4400150" y="1620000"/>
            <a:ext cx="4100100" cy="12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Does it show a </a:t>
            </a:r>
            <a:r>
              <a:rPr lang="en-GB">
                <a:solidFill>
                  <a:schemeClr val="accent4"/>
                </a:solidFill>
              </a:rPr>
              <a:t>multiplicative</a:t>
            </a:r>
            <a:r>
              <a:rPr lang="en-GB"/>
              <a:t> relationship?</a:t>
            </a:r>
            <a:endParaRPr/>
          </a:p>
        </p:txBody>
      </p:sp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4400100" y="2605850"/>
            <a:ext cx="4419900" cy="12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does. As the number of boxes doubles so does the cost.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787" name="Google Shape;78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325" y="1396575"/>
            <a:ext cx="3509034" cy="34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8"/>
          <p:cNvSpPr txBox="1"/>
          <p:nvPr/>
        </p:nvSpPr>
        <p:spPr>
          <a:xfrm rot="-5400000">
            <a:off x="-146100" y="1866675"/>
            <a:ext cx="1271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Cost (£)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8"/>
          <p:cNvSpPr txBox="1"/>
          <p:nvPr/>
        </p:nvSpPr>
        <p:spPr>
          <a:xfrm>
            <a:off x="4055250" y="4298700"/>
            <a:ext cx="12714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Number of boxes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4" name="Google Shape;79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00" y="679438"/>
            <a:ext cx="3045600" cy="2974323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796" name="Google Shape;796;p69"/>
          <p:cNvSpPr txBox="1"/>
          <p:nvPr>
            <p:ph idx="1" type="body"/>
          </p:nvPr>
        </p:nvSpPr>
        <p:spPr>
          <a:xfrm>
            <a:off x="4708525" y="606900"/>
            <a:ext cx="4080900" cy="16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graph shows the relationship between 2 currencies used in a computer game.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Does it show a multiplicative relationship?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797" name="Google Shape;797;p69"/>
          <p:cNvGraphicFramePr/>
          <p:nvPr/>
        </p:nvGraphicFramePr>
        <p:xfrm>
          <a:off x="495338" y="4439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1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8" name="Google Shape;798;p69"/>
          <p:cNvGraphicFramePr/>
          <p:nvPr/>
        </p:nvGraphicFramePr>
        <p:xfrm>
          <a:off x="495338" y="4080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14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799" name="Google Shape;799;p69"/>
          <p:cNvGrpSpPr/>
          <p:nvPr/>
        </p:nvGrpSpPr>
        <p:grpSpPr>
          <a:xfrm>
            <a:off x="422472" y="3815569"/>
            <a:ext cx="7909223" cy="478250"/>
            <a:chOff x="422472" y="3815569"/>
            <a:chExt cx="7909223" cy="478250"/>
          </a:xfrm>
        </p:grpSpPr>
        <p:sp>
          <p:nvSpPr>
            <p:cNvPr id="800" name="Google Shape;800;p69"/>
            <p:cNvSpPr txBox="1"/>
            <p:nvPr/>
          </p:nvSpPr>
          <p:spPr>
            <a:xfrm>
              <a:off x="7802194" y="4016619"/>
              <a:ext cx="529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zag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9"/>
            <p:cNvSpPr txBox="1"/>
            <p:nvPr/>
          </p:nvSpPr>
          <p:spPr>
            <a:xfrm>
              <a:off x="42247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69"/>
            <p:cNvSpPr txBox="1"/>
            <p:nvPr/>
          </p:nvSpPr>
          <p:spPr>
            <a:xfrm>
              <a:off x="1242859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9"/>
            <p:cNvSpPr txBox="1"/>
            <p:nvPr/>
          </p:nvSpPr>
          <p:spPr>
            <a:xfrm>
              <a:off x="2037934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69"/>
            <p:cNvSpPr txBox="1"/>
            <p:nvPr/>
          </p:nvSpPr>
          <p:spPr>
            <a:xfrm>
              <a:off x="2835428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69"/>
            <p:cNvSpPr txBox="1"/>
            <p:nvPr/>
          </p:nvSpPr>
          <p:spPr>
            <a:xfrm>
              <a:off x="6861428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6" name="Google Shape;806;p69"/>
            <p:cNvSpPr txBox="1"/>
            <p:nvPr/>
          </p:nvSpPr>
          <p:spPr>
            <a:xfrm>
              <a:off x="765892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7" name="Google Shape;807;p69"/>
            <p:cNvSpPr txBox="1"/>
            <p:nvPr/>
          </p:nvSpPr>
          <p:spPr>
            <a:xfrm>
              <a:off x="362287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69"/>
            <p:cNvSpPr txBox="1"/>
            <p:nvPr/>
          </p:nvSpPr>
          <p:spPr>
            <a:xfrm>
              <a:off x="4443259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9"/>
            <p:cNvSpPr txBox="1"/>
            <p:nvPr/>
          </p:nvSpPr>
          <p:spPr>
            <a:xfrm>
              <a:off x="5245965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69"/>
            <p:cNvSpPr txBox="1"/>
            <p:nvPr/>
          </p:nvSpPr>
          <p:spPr>
            <a:xfrm>
              <a:off x="6058722" y="3815569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1" name="Google Shape;811;p69"/>
          <p:cNvGrpSpPr/>
          <p:nvPr/>
        </p:nvGrpSpPr>
        <p:grpSpPr>
          <a:xfrm>
            <a:off x="430103" y="4374857"/>
            <a:ext cx="7814591" cy="478312"/>
            <a:chOff x="430103" y="4374857"/>
            <a:chExt cx="7814591" cy="478312"/>
          </a:xfrm>
        </p:grpSpPr>
        <p:sp>
          <p:nvSpPr>
            <p:cNvPr id="812" name="Google Shape;812;p69"/>
            <p:cNvSpPr txBox="1"/>
            <p:nvPr/>
          </p:nvSpPr>
          <p:spPr>
            <a:xfrm>
              <a:off x="7802194" y="4374857"/>
              <a:ext cx="4425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zig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3" name="Google Shape;813;p69"/>
            <p:cNvSpPr txBox="1"/>
            <p:nvPr/>
          </p:nvSpPr>
          <p:spPr>
            <a:xfrm>
              <a:off x="430103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4" name="Google Shape;814;p69"/>
            <p:cNvSpPr txBox="1"/>
            <p:nvPr/>
          </p:nvSpPr>
          <p:spPr>
            <a:xfrm>
              <a:off x="1639447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9"/>
            <p:cNvSpPr txBox="1"/>
            <p:nvPr/>
          </p:nvSpPr>
          <p:spPr>
            <a:xfrm>
              <a:off x="2841159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69"/>
            <p:cNvSpPr txBox="1"/>
            <p:nvPr/>
          </p:nvSpPr>
          <p:spPr>
            <a:xfrm>
              <a:off x="4058135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7" name="Google Shape;817;p69"/>
            <p:cNvSpPr txBox="1"/>
            <p:nvPr/>
          </p:nvSpPr>
          <p:spPr>
            <a:xfrm>
              <a:off x="5251372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8" name="Google Shape;818;p69"/>
            <p:cNvSpPr txBox="1"/>
            <p:nvPr/>
          </p:nvSpPr>
          <p:spPr>
            <a:xfrm>
              <a:off x="6468347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9" name="Google Shape;819;p69"/>
            <p:cNvSpPr txBox="1"/>
            <p:nvPr/>
          </p:nvSpPr>
          <p:spPr>
            <a:xfrm>
              <a:off x="7670060" y="4575968"/>
              <a:ext cx="181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20" name="Google Shape;820;p69"/>
          <p:cNvCxnSpPr/>
          <p:nvPr/>
        </p:nvCxnSpPr>
        <p:spPr>
          <a:xfrm rot="10800000">
            <a:off x="1359450" y="2633525"/>
            <a:ext cx="2400" cy="747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69"/>
          <p:cNvCxnSpPr/>
          <p:nvPr/>
        </p:nvCxnSpPr>
        <p:spPr>
          <a:xfrm flipH="1" rot="10800000">
            <a:off x="847650" y="2616050"/>
            <a:ext cx="522000" cy="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2" name="Google Shape;822;p69"/>
          <p:cNvSpPr txBox="1"/>
          <p:nvPr/>
        </p:nvSpPr>
        <p:spPr>
          <a:xfrm>
            <a:off x="4708525" y="2149650"/>
            <a:ext cx="193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 zigs = 3 zags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 txBox="1"/>
          <p:nvPr/>
        </p:nvSpPr>
        <p:spPr>
          <a:xfrm>
            <a:off x="4708525" y="2519908"/>
            <a:ext cx="193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zigs = 6 zags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4" name="Google Shape;824;p69"/>
          <p:cNvCxnSpPr/>
          <p:nvPr/>
        </p:nvCxnSpPr>
        <p:spPr>
          <a:xfrm rot="10800000">
            <a:off x="1873275" y="1853895"/>
            <a:ext cx="0" cy="1536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69"/>
          <p:cNvCxnSpPr/>
          <p:nvPr/>
        </p:nvCxnSpPr>
        <p:spPr>
          <a:xfrm>
            <a:off x="847650" y="1848244"/>
            <a:ext cx="1026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6" name="Google Shape;826;p69"/>
          <p:cNvSpPr txBox="1"/>
          <p:nvPr/>
        </p:nvSpPr>
        <p:spPr>
          <a:xfrm>
            <a:off x="4708525" y="2890167"/>
            <a:ext cx="193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So, yes it does.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69"/>
          <p:cNvSpPr txBox="1"/>
          <p:nvPr/>
        </p:nvSpPr>
        <p:spPr>
          <a:xfrm>
            <a:off x="4708525" y="3260425"/>
            <a:ext cx="4111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could also represent this on a double number line.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9"/>
          <p:cNvSpPr txBox="1"/>
          <p:nvPr/>
        </p:nvSpPr>
        <p:spPr>
          <a:xfrm rot="-5400000">
            <a:off x="-154525" y="1534650"/>
            <a:ext cx="1271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zags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3589525" y="3238350"/>
            <a:ext cx="127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zigs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835" name="Google Shape;835;p70"/>
          <p:cNvSpPr txBox="1"/>
          <p:nvPr>
            <p:ph idx="1" type="body"/>
          </p:nvPr>
        </p:nvSpPr>
        <p:spPr>
          <a:xfrm>
            <a:off x="324000" y="606900"/>
            <a:ext cx="8237700" cy="119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Izzy and Jun are going on a school trip.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They need to exchange their spending money from pounds into euros.</a:t>
            </a:r>
            <a:endParaRPr sz="2000"/>
          </a:p>
        </p:txBody>
      </p:sp>
      <p:pic>
        <p:nvPicPr>
          <p:cNvPr id="836" name="Google Shape;83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538258" y="2378362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5338" y="22093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70"/>
          <p:cNvSpPr txBox="1"/>
          <p:nvPr/>
        </p:nvSpPr>
        <p:spPr>
          <a:xfrm>
            <a:off x="403325" y="3287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0"/>
          <p:cNvSpPr txBox="1"/>
          <p:nvPr/>
        </p:nvSpPr>
        <p:spPr>
          <a:xfrm>
            <a:off x="7459200" y="3287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0" name="Google Shape;840;p70"/>
          <p:cNvGrpSpPr/>
          <p:nvPr/>
        </p:nvGrpSpPr>
        <p:grpSpPr>
          <a:xfrm>
            <a:off x="5524400" y="1486975"/>
            <a:ext cx="1955251" cy="1498775"/>
            <a:chOff x="5524400" y="1867975"/>
            <a:chExt cx="1955251" cy="1498775"/>
          </a:xfrm>
        </p:grpSpPr>
        <p:pic>
          <p:nvPicPr>
            <p:cNvPr id="841" name="Google Shape;841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524400" y="1867975"/>
              <a:ext cx="1955251" cy="149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2" name="Google Shape;842;p70"/>
            <p:cNvSpPr txBox="1"/>
            <p:nvPr/>
          </p:nvSpPr>
          <p:spPr>
            <a:xfrm>
              <a:off x="5646125" y="1894075"/>
              <a:ext cx="1740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got £75, how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many euros will I get?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43" name="Google Shape;843;p70"/>
          <p:cNvGrpSpPr/>
          <p:nvPr/>
        </p:nvGrpSpPr>
        <p:grpSpPr>
          <a:xfrm>
            <a:off x="1531498" y="1715575"/>
            <a:ext cx="1566802" cy="1316250"/>
            <a:chOff x="1531498" y="2096575"/>
            <a:chExt cx="1566802" cy="1316250"/>
          </a:xfrm>
        </p:grpSpPr>
        <p:pic>
          <p:nvPicPr>
            <p:cNvPr id="844" name="Google Shape;844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31498" y="20965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5" name="Google Shape;845;p70"/>
            <p:cNvSpPr txBox="1"/>
            <p:nvPr/>
          </p:nvSpPr>
          <p:spPr>
            <a:xfrm>
              <a:off x="1698900" y="2252075"/>
              <a:ext cx="1269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changed £100 and I got €117.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46" name="Google Shape;846;p70"/>
          <p:cNvSpPr txBox="1"/>
          <p:nvPr>
            <p:ph idx="1" type="body"/>
          </p:nvPr>
        </p:nvSpPr>
        <p:spPr>
          <a:xfrm>
            <a:off x="324000" y="3742800"/>
            <a:ext cx="8237700" cy="9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could represent this exchange graphically or on a double number line.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Let’s take a look at that.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425" y="1240012"/>
            <a:ext cx="3425687" cy="358687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853" name="Google Shape;853;p71"/>
          <p:cNvSpPr txBox="1"/>
          <p:nvPr>
            <p:ph idx="1" type="body"/>
          </p:nvPr>
        </p:nvSpPr>
        <p:spPr>
          <a:xfrm>
            <a:off x="324000" y="6831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Often </a:t>
            </a:r>
            <a:r>
              <a:rPr b="1" lang="en-GB"/>
              <a:t>exchange rates</a:t>
            </a:r>
            <a:r>
              <a:rPr lang="en-GB"/>
              <a:t> are shown graphically.</a:t>
            </a:r>
            <a:endParaRPr/>
          </a:p>
        </p:txBody>
      </p:sp>
      <p:sp>
        <p:nvSpPr>
          <p:cNvPr id="854" name="Google Shape;854;p71"/>
          <p:cNvSpPr txBox="1"/>
          <p:nvPr/>
        </p:nvSpPr>
        <p:spPr>
          <a:xfrm>
            <a:off x="3587919" y="1219057"/>
            <a:ext cx="29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5" name="Google Shape;855;p71"/>
          <p:cNvCxnSpPr/>
          <p:nvPr/>
        </p:nvCxnSpPr>
        <p:spPr>
          <a:xfrm rot="10800000">
            <a:off x="3069600" y="2229550"/>
            <a:ext cx="0" cy="241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71"/>
          <p:cNvCxnSpPr/>
          <p:nvPr/>
        </p:nvCxnSpPr>
        <p:spPr>
          <a:xfrm>
            <a:off x="1015625" y="2239300"/>
            <a:ext cx="2046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57" name="Google Shape;857;p71"/>
          <p:cNvSpPr txBox="1"/>
          <p:nvPr/>
        </p:nvSpPr>
        <p:spPr>
          <a:xfrm>
            <a:off x="5469600" y="1873000"/>
            <a:ext cx="30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could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estimate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 value of £75.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8" name="Google Shape;858;p71"/>
          <p:cNvCxnSpPr/>
          <p:nvPr/>
        </p:nvCxnSpPr>
        <p:spPr>
          <a:xfrm flipH="1">
            <a:off x="3839575" y="1243675"/>
            <a:ext cx="2414100" cy="21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9" name="Google Shape;859;p71"/>
          <p:cNvSpPr txBox="1"/>
          <p:nvPr/>
        </p:nvSpPr>
        <p:spPr>
          <a:xfrm>
            <a:off x="6364500" y="980900"/>
            <a:ext cx="245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the point we know and used to draw the line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 txBox="1"/>
          <p:nvPr/>
        </p:nvSpPr>
        <p:spPr>
          <a:xfrm>
            <a:off x="5454325" y="2549400"/>
            <a:ext cx="22305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£75 would be approximately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€87.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1" name="Google Shape;861;p71"/>
          <p:cNvSpPr txBox="1"/>
          <p:nvPr/>
        </p:nvSpPr>
        <p:spPr>
          <a:xfrm>
            <a:off x="5469600" y="3287600"/>
            <a:ext cx="30456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An alternative representation would be a double number line we will take a look at that now.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1"/>
          <p:cNvSpPr txBox="1"/>
          <p:nvPr/>
        </p:nvSpPr>
        <p:spPr>
          <a:xfrm rot="-5400000">
            <a:off x="-117025" y="1747496"/>
            <a:ext cx="126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Euros (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1"/>
          <p:cNvSpPr txBox="1"/>
          <p:nvPr/>
        </p:nvSpPr>
        <p:spPr>
          <a:xfrm>
            <a:off x="4213377" y="4200400"/>
            <a:ext cx="1095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Pounds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(£)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pic>
        <p:nvPicPr>
          <p:cNvPr id="869" name="Google Shape;869;p7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1531498" y="572575"/>
            <a:ext cx="1566802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538258" y="1463962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5338" y="10663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2" name="Google Shape;872;p72"/>
          <p:cNvSpPr txBox="1"/>
          <p:nvPr/>
        </p:nvSpPr>
        <p:spPr>
          <a:xfrm>
            <a:off x="403325" y="2144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7459200" y="2373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4" name="Google Shape;874;p7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5524400" y="572575"/>
            <a:ext cx="1955251" cy="149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2"/>
          <p:cNvSpPr txBox="1"/>
          <p:nvPr/>
        </p:nvSpPr>
        <p:spPr>
          <a:xfrm>
            <a:off x="5646125" y="598675"/>
            <a:ext cx="17406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I’ve got £75, how many euros will I get?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2"/>
          <p:cNvSpPr txBox="1"/>
          <p:nvPr/>
        </p:nvSpPr>
        <p:spPr>
          <a:xfrm>
            <a:off x="1698900" y="728075"/>
            <a:ext cx="12699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changed £100 and I got €117.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7" name="Google Shape;877;p72"/>
          <p:cNvGrpSpPr/>
          <p:nvPr/>
        </p:nvGrpSpPr>
        <p:grpSpPr>
          <a:xfrm>
            <a:off x="1288614" y="2227050"/>
            <a:ext cx="5569543" cy="1357500"/>
            <a:chOff x="487775" y="2912838"/>
            <a:chExt cx="4922700" cy="1357500"/>
          </a:xfrm>
        </p:grpSpPr>
        <p:grpSp>
          <p:nvGrpSpPr>
            <p:cNvPr id="878" name="Google Shape;878;p72"/>
            <p:cNvGrpSpPr/>
            <p:nvPr/>
          </p:nvGrpSpPr>
          <p:grpSpPr>
            <a:xfrm>
              <a:off x="487775" y="2912838"/>
              <a:ext cx="3074500" cy="1357500"/>
              <a:chOff x="441900" y="3572013"/>
              <a:chExt cx="3074500" cy="1357500"/>
            </a:xfrm>
          </p:grpSpPr>
          <p:cxnSp>
            <p:nvCxnSpPr>
              <p:cNvPr id="879" name="Google Shape;879;p72"/>
              <p:cNvCxnSpPr/>
              <p:nvPr/>
            </p:nvCxnSpPr>
            <p:spPr>
              <a:xfrm>
                <a:off x="441900" y="3572013"/>
                <a:ext cx="0" cy="1357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" name="Google Shape;880;p72"/>
              <p:cNvCxnSpPr/>
              <p:nvPr/>
            </p:nvCxnSpPr>
            <p:spPr>
              <a:xfrm>
                <a:off x="455200" y="3950800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881" name="Google Shape;881;p72"/>
              <p:cNvCxnSpPr/>
              <p:nvPr/>
            </p:nvCxnSpPr>
            <p:spPr>
              <a:xfrm>
                <a:off x="455200" y="4555638"/>
                <a:ext cx="3061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grpSp>
          <p:nvGrpSpPr>
            <p:cNvPr id="882" name="Google Shape;882;p72"/>
            <p:cNvGrpSpPr/>
            <p:nvPr/>
          </p:nvGrpSpPr>
          <p:grpSpPr>
            <a:xfrm>
              <a:off x="2816388" y="3107975"/>
              <a:ext cx="63300" cy="1000200"/>
              <a:chOff x="941713" y="3767150"/>
              <a:chExt cx="63300" cy="1000200"/>
            </a:xfrm>
          </p:grpSpPr>
          <p:cxnSp>
            <p:nvCxnSpPr>
              <p:cNvPr id="883" name="Google Shape;883;p72"/>
              <p:cNvCxnSpPr/>
              <p:nvPr/>
            </p:nvCxnSpPr>
            <p:spPr>
              <a:xfrm>
                <a:off x="975300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4" name="Google Shape;884;p72"/>
              <p:cNvSpPr/>
              <p:nvPr/>
            </p:nvSpPr>
            <p:spPr>
              <a:xfrm>
                <a:off x="941713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5" name="Google Shape;885;p72"/>
            <p:cNvGrpSpPr/>
            <p:nvPr/>
          </p:nvGrpSpPr>
          <p:grpSpPr>
            <a:xfrm>
              <a:off x="2112706" y="3107975"/>
              <a:ext cx="63300" cy="1000200"/>
              <a:chOff x="1381031" y="3767150"/>
              <a:chExt cx="63300" cy="1000200"/>
            </a:xfrm>
          </p:grpSpPr>
          <p:cxnSp>
            <p:nvCxnSpPr>
              <p:cNvPr id="886" name="Google Shape;886;p72"/>
              <p:cNvCxnSpPr/>
              <p:nvPr/>
            </p:nvCxnSpPr>
            <p:spPr>
              <a:xfrm>
                <a:off x="1414619" y="3767150"/>
                <a:ext cx="0" cy="1000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87" name="Google Shape;887;p72"/>
              <p:cNvSpPr/>
              <p:nvPr/>
            </p:nvSpPr>
            <p:spPr>
              <a:xfrm>
                <a:off x="1381031" y="3976875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88" name="Google Shape;888;p72"/>
            <p:cNvSpPr txBox="1"/>
            <p:nvPr/>
          </p:nvSpPr>
          <p:spPr>
            <a:xfrm>
              <a:off x="3607175" y="3148425"/>
              <a:ext cx="180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Pounds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(£)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72"/>
            <p:cNvSpPr txBox="1"/>
            <p:nvPr/>
          </p:nvSpPr>
          <p:spPr>
            <a:xfrm>
              <a:off x="3636374" y="3755750"/>
              <a:ext cx="1566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Euros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(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)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90" name="Google Shape;890;p72"/>
          <p:cNvSpPr txBox="1"/>
          <p:nvPr/>
        </p:nvSpPr>
        <p:spPr>
          <a:xfrm>
            <a:off x="3007050" y="2048400"/>
            <a:ext cx="396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2"/>
          <p:cNvSpPr txBox="1"/>
          <p:nvPr/>
        </p:nvSpPr>
        <p:spPr>
          <a:xfrm>
            <a:off x="2814300" y="3386714"/>
            <a:ext cx="78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87.75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2"/>
          <p:cNvSpPr txBox="1"/>
          <p:nvPr/>
        </p:nvSpPr>
        <p:spPr>
          <a:xfrm>
            <a:off x="3747787" y="3392191"/>
            <a:ext cx="50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117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2"/>
          <p:cNvSpPr/>
          <p:nvPr/>
        </p:nvSpPr>
        <p:spPr>
          <a:xfrm flipH="1" rot="-130785">
            <a:off x="3098309" y="1845342"/>
            <a:ext cx="954391" cy="281307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2"/>
          <p:cNvSpPr txBox="1"/>
          <p:nvPr/>
        </p:nvSpPr>
        <p:spPr>
          <a:xfrm>
            <a:off x="3098309" y="3780002"/>
            <a:ext cx="13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2"/>
          <p:cNvSpPr txBox="1"/>
          <p:nvPr/>
        </p:nvSpPr>
        <p:spPr>
          <a:xfrm>
            <a:off x="3722709" y="2010650"/>
            <a:ext cx="66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2"/>
          <p:cNvSpPr txBox="1"/>
          <p:nvPr/>
        </p:nvSpPr>
        <p:spPr>
          <a:xfrm>
            <a:off x="324000" y="4320000"/>
            <a:ext cx="250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Jun will get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€87.75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97" name="Google Shape;897;p72"/>
          <p:cNvGrpSpPr/>
          <p:nvPr/>
        </p:nvGrpSpPr>
        <p:grpSpPr>
          <a:xfrm>
            <a:off x="3369592" y="1344950"/>
            <a:ext cx="624533" cy="399993"/>
            <a:chOff x="3424242" y="1725775"/>
            <a:chExt cx="624533" cy="399993"/>
          </a:xfrm>
        </p:grpSpPr>
        <p:sp>
          <p:nvSpPr>
            <p:cNvPr id="898" name="Google Shape;898;p72"/>
            <p:cNvSpPr txBox="1"/>
            <p:nvPr/>
          </p:nvSpPr>
          <p:spPr>
            <a:xfrm>
              <a:off x="3424242" y="1756413"/>
              <a:ext cx="503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×  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75}{100}&quot;&gt;&lt;mfrac&gt;&lt;mn&gt;75&lt;/mn&gt;&lt;mn&gt;100&lt;/mn&gt;&lt;/mfrac&gt;&lt;/math&gt;" id="899" name="Google Shape;899;p72" title="75 over 1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34075" y="1725775"/>
              <a:ext cx="314700" cy="399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0" name="Google Shape;900;p72"/>
          <p:cNvGrpSpPr/>
          <p:nvPr/>
        </p:nvGrpSpPr>
        <p:grpSpPr>
          <a:xfrm>
            <a:off x="3098291" y="3584559"/>
            <a:ext cx="844200" cy="778343"/>
            <a:chOff x="3184750" y="4014425"/>
            <a:chExt cx="844200" cy="778343"/>
          </a:xfrm>
        </p:grpSpPr>
        <p:sp>
          <p:nvSpPr>
            <p:cNvPr id="901" name="Google Shape;901;p72"/>
            <p:cNvSpPr/>
            <p:nvPr/>
          </p:nvSpPr>
          <p:spPr>
            <a:xfrm rot="10800000">
              <a:off x="3184750" y="4014425"/>
              <a:ext cx="844200" cy="241200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2" name="Google Shape;902;p72"/>
            <p:cNvGrpSpPr/>
            <p:nvPr/>
          </p:nvGrpSpPr>
          <p:grpSpPr>
            <a:xfrm>
              <a:off x="3409700" y="4392775"/>
              <a:ext cx="503100" cy="399993"/>
              <a:chOff x="3409700" y="1725775"/>
              <a:chExt cx="503100" cy="399993"/>
            </a:xfrm>
          </p:grpSpPr>
          <p:sp>
            <p:nvSpPr>
              <p:cNvPr id="903" name="Google Shape;903;p72"/>
              <p:cNvSpPr txBox="1"/>
              <p:nvPr/>
            </p:nvSpPr>
            <p:spPr>
              <a:xfrm>
                <a:off x="3409700" y="1756413"/>
                <a:ext cx="5031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solidFill>
                      <a:srgbClr val="00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×  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\frac{75}{100}&quot;&gt;&lt;mfrac&gt;&lt;mn&gt;75&lt;/mn&gt;&lt;mn&gt;100&lt;/mn&gt;&lt;/mfrac&gt;&lt;/math&gt;" id="904" name="Google Shape;904;p72" title="75 over 10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581675" y="1725775"/>
                <a:ext cx="314700" cy="3999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05" name="Google Shape;905;p72"/>
          <p:cNvSpPr txBox="1"/>
          <p:nvPr>
            <p:ph idx="1" type="body"/>
          </p:nvPr>
        </p:nvSpPr>
        <p:spPr>
          <a:xfrm>
            <a:off x="4903600" y="3891500"/>
            <a:ext cx="3555000" cy="9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Notice using the double number line we are able to find the exact value.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descr="&lt;math xmlns=&quot;http://www.w3.org/1998/Math/MathML&quot; data-is-equatio=&quot;1&quot; data-equatio-url=&quot;https://equatio-api.texthelp.com/desmos/get/08-12-2023/914d3a1b-3562-4d05-934c-739f152502ca&quot; data-equatio-type=&quot;desmos&quot;&gt;&lt;mglyph src=&quot;https://equatio-api.texthelp.com/desmos/get/08-12-2023/914d3a1b-3562-4d05-934c-739f152502ca&quot; alt=&quot;Equatio Desmos Graph&quot;/&gt;&lt;/math&gt;" id="911" name="Google Shape;911;p73" title="Equatio Desmos Graph"/>
          <p:cNvSpPr txBox="1"/>
          <p:nvPr>
            <p:ph idx="1" type="body"/>
          </p:nvPr>
        </p:nvSpPr>
        <p:spPr>
          <a:xfrm>
            <a:off x="324000" y="606900"/>
            <a:ext cx="8237700" cy="12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Exchange rates</a:t>
            </a:r>
            <a:r>
              <a:rPr lang="en-GB" sz="2000"/>
              <a:t> are always changing.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What would happen to the graph if the </a:t>
            </a:r>
            <a:r>
              <a:rPr b="1" lang="en-GB" sz="2000"/>
              <a:t>exchange rate</a:t>
            </a:r>
            <a:r>
              <a:rPr lang="en-GB" sz="2000"/>
              <a:t> </a:t>
            </a:r>
            <a:r>
              <a:rPr lang="en-GB" sz="2000"/>
              <a:t>changed</a:t>
            </a:r>
            <a:r>
              <a:rPr lang="en-GB" sz="2000"/>
              <a:t> and Izzy got €185?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Would it get steeper?</a:t>
            </a:r>
            <a:endParaRPr sz="2000"/>
          </a:p>
        </p:txBody>
      </p:sp>
      <p:pic>
        <p:nvPicPr>
          <p:cNvPr id="912" name="Google Shape;91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600" y="1935325"/>
            <a:ext cx="3755200" cy="28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3"/>
          <p:cNvSpPr txBox="1"/>
          <p:nvPr/>
        </p:nvSpPr>
        <p:spPr>
          <a:xfrm>
            <a:off x="5516100" y="2732100"/>
            <a:ext cx="304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higher the </a:t>
            </a:r>
            <a:r>
              <a:rPr b="1" lang="en-GB" sz="2200">
                <a:latin typeface="Kalam"/>
                <a:ea typeface="Kalam"/>
                <a:cs typeface="Kalam"/>
                <a:sym typeface="Kalam"/>
              </a:rPr>
              <a:t>exchange rate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the steeper the graph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919" name="Google Shape;919;p74"/>
          <p:cNvSpPr txBox="1"/>
          <p:nvPr>
            <p:ph idx="4294967295" type="title"/>
          </p:nvPr>
        </p:nvSpPr>
        <p:spPr>
          <a:xfrm>
            <a:off x="324000" y="748775"/>
            <a:ext cx="788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Given that these are plotted on axes that have the same scale, m</a:t>
            </a:r>
            <a:r>
              <a:rPr b="0" lang="en-GB"/>
              <a:t>atch</a:t>
            </a:r>
            <a:r>
              <a:rPr b="0" lang="en-GB"/>
              <a:t> each exchange rate to the correct graph.</a:t>
            </a:r>
            <a:endParaRPr b="0"/>
          </a:p>
        </p:txBody>
      </p:sp>
      <p:sp>
        <p:nvSpPr>
          <p:cNvPr id="920" name="Google Shape;920;p74"/>
          <p:cNvSpPr txBox="1"/>
          <p:nvPr>
            <p:ph idx="4294967295" type="title"/>
          </p:nvPr>
        </p:nvSpPr>
        <p:spPr>
          <a:xfrm>
            <a:off x="862200" y="1780800"/>
            <a:ext cx="16452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£100 = $125</a:t>
            </a:r>
            <a:endParaRPr b="0"/>
          </a:p>
        </p:txBody>
      </p:sp>
      <p:sp>
        <p:nvSpPr>
          <p:cNvPr id="921" name="Google Shape;921;p74"/>
          <p:cNvSpPr txBox="1"/>
          <p:nvPr>
            <p:ph idx="4294967295" type="title"/>
          </p:nvPr>
        </p:nvSpPr>
        <p:spPr>
          <a:xfrm>
            <a:off x="3978000" y="1780800"/>
            <a:ext cx="16452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£100 = $150</a:t>
            </a:r>
            <a:endParaRPr b="0"/>
          </a:p>
        </p:txBody>
      </p:sp>
      <p:sp>
        <p:nvSpPr>
          <p:cNvPr id="922" name="Google Shape;922;p74"/>
          <p:cNvSpPr txBox="1"/>
          <p:nvPr>
            <p:ph idx="4294967295" type="title"/>
          </p:nvPr>
        </p:nvSpPr>
        <p:spPr>
          <a:xfrm>
            <a:off x="6940500" y="1780800"/>
            <a:ext cx="16452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£100 = $175</a:t>
            </a:r>
            <a:endParaRPr b="0"/>
          </a:p>
        </p:txBody>
      </p:sp>
      <p:pic>
        <p:nvPicPr>
          <p:cNvPr descr="&lt;math xmlns=&quot;http://www.w3.org/1998/Math/MathML&quot; data-is-equatio=&quot;1&quot; data-equatio-url=&quot;https://equatio-api.texthelp.com/desmos/get/11-12-2023/b50d9da2-f4f6-4afd-b14e-606d4acecf48&quot; data-equatio-type=&quot;desmos&quot;&gt;&lt;mglyph src=&quot;https://equatio-api.texthelp.com/desmos/get/11-12-2023/b50d9da2-f4f6-4afd-b14e-606d4acecf48&quot; alt=&quot;Equatio Desmos Graph&quot;/&gt;&lt;/math&gt;" id="923" name="Google Shape;923;p7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0" y="2365325"/>
            <a:ext cx="2548198" cy="1911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2-2023/dd2436aa-6cd3-48ae-8a32-02aeae32b387&quot; data-equatio-type=&quot;desmos&quot;&gt;&lt;mglyph src=&quot;https://equatio-api.texthelp.com/desmos/get/11-12-2023/dd2436aa-6cd3-48ae-8a32-02aeae32b387&quot; alt=&quot;Equatio Desmos Graph&quot;/&gt;&lt;/math&gt;" id="924" name="Google Shape;924;p74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14" y="2326050"/>
            <a:ext cx="2548198" cy="1911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2-2023/f429d1df-6a87-4ce0-ad77-5f02cac581ff&quot; data-equatio-type=&quot;desmos&quot;&gt;&lt;mglyph src=&quot;https://equatio-api.texthelp.com/desmos/get/11-12-2023/f429d1df-6a87-4ce0-ad77-5f02cac581ff&quot; alt=&quot;Equatio Desmos Graph&quot;/&gt;&lt;/math&gt;" id="925" name="Google Shape;925;p74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599" y="2365335"/>
            <a:ext cx="2548198" cy="1911141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4"/>
          <p:cNvSpPr txBox="1"/>
          <p:nvPr>
            <p:ph idx="4294967295" type="title"/>
          </p:nvPr>
        </p:nvSpPr>
        <p:spPr>
          <a:xfrm>
            <a:off x="7013100" y="3658012"/>
            <a:ext cx="16452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Kalam"/>
                <a:ea typeface="Kalam"/>
                <a:cs typeface="Kalam"/>
                <a:sym typeface="Kalam"/>
              </a:rPr>
              <a:t>£100 = $125</a:t>
            </a:r>
            <a:endParaRPr b="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7" name="Google Shape;927;p74"/>
          <p:cNvSpPr txBox="1"/>
          <p:nvPr>
            <p:ph idx="4294967295" type="title"/>
          </p:nvPr>
        </p:nvSpPr>
        <p:spPr>
          <a:xfrm>
            <a:off x="1083900" y="3658012"/>
            <a:ext cx="16452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Kalam"/>
                <a:ea typeface="Kalam"/>
                <a:cs typeface="Kalam"/>
                <a:sym typeface="Kalam"/>
              </a:rPr>
              <a:t>£100 = $150</a:t>
            </a:r>
            <a:endParaRPr b="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8" name="Google Shape;928;p74"/>
          <p:cNvSpPr txBox="1"/>
          <p:nvPr>
            <p:ph idx="4294967295" type="title"/>
          </p:nvPr>
        </p:nvSpPr>
        <p:spPr>
          <a:xfrm>
            <a:off x="4048500" y="3658012"/>
            <a:ext cx="1645200" cy="2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>
                <a:latin typeface="Kalam"/>
                <a:ea typeface="Kalam"/>
                <a:cs typeface="Kalam"/>
                <a:sym typeface="Kalam"/>
              </a:rPr>
              <a:t>£100 = $175</a:t>
            </a:r>
            <a:endParaRPr b="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29" name="Google Shape;929;p74"/>
          <p:cNvGrpSpPr/>
          <p:nvPr/>
        </p:nvGrpSpPr>
        <p:grpSpPr>
          <a:xfrm>
            <a:off x="323991" y="1696200"/>
            <a:ext cx="457200" cy="457200"/>
            <a:chOff x="1020916" y="1442088"/>
            <a:chExt cx="457200" cy="457200"/>
          </a:xfrm>
        </p:grpSpPr>
        <p:pic>
          <p:nvPicPr>
            <p:cNvPr id="930" name="Google Shape;930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2" name="Google Shape;932;p74"/>
          <p:cNvGrpSpPr/>
          <p:nvPr/>
        </p:nvGrpSpPr>
        <p:grpSpPr>
          <a:xfrm>
            <a:off x="3369591" y="1696200"/>
            <a:ext cx="457200" cy="457200"/>
            <a:chOff x="1020916" y="1442088"/>
            <a:chExt cx="457200" cy="457200"/>
          </a:xfrm>
        </p:grpSpPr>
        <p:pic>
          <p:nvPicPr>
            <p:cNvPr id="933" name="Google Shape;933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4" name="Google Shape;934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5" name="Google Shape;935;p74"/>
          <p:cNvGrpSpPr/>
          <p:nvPr/>
        </p:nvGrpSpPr>
        <p:grpSpPr>
          <a:xfrm>
            <a:off x="6256791" y="1696200"/>
            <a:ext cx="457200" cy="457200"/>
            <a:chOff x="1020916" y="1442088"/>
            <a:chExt cx="457200" cy="457200"/>
          </a:xfrm>
        </p:grpSpPr>
        <p:pic>
          <p:nvPicPr>
            <p:cNvPr id="936" name="Google Shape;936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7" name="Google Shape;937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8" name="Google Shape;938;p74"/>
          <p:cNvGrpSpPr/>
          <p:nvPr/>
        </p:nvGrpSpPr>
        <p:grpSpPr>
          <a:xfrm>
            <a:off x="1384503" y="4363200"/>
            <a:ext cx="457200" cy="457200"/>
            <a:chOff x="1020916" y="1442088"/>
            <a:chExt cx="457200" cy="457200"/>
          </a:xfrm>
        </p:grpSpPr>
        <p:pic>
          <p:nvPicPr>
            <p:cNvPr id="939" name="Google Shape;939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0" name="Google Shape;940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1" name="Google Shape;941;p74"/>
          <p:cNvGrpSpPr/>
          <p:nvPr/>
        </p:nvGrpSpPr>
        <p:grpSpPr>
          <a:xfrm>
            <a:off x="4337691" y="4363188"/>
            <a:ext cx="457200" cy="457200"/>
            <a:chOff x="1020916" y="1442088"/>
            <a:chExt cx="457200" cy="457200"/>
          </a:xfrm>
        </p:grpSpPr>
        <p:pic>
          <p:nvPicPr>
            <p:cNvPr id="942" name="Google Shape;942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3" name="Google Shape;94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44" name="Google Shape;944;p74"/>
          <p:cNvGrpSpPr/>
          <p:nvPr/>
        </p:nvGrpSpPr>
        <p:grpSpPr>
          <a:xfrm>
            <a:off x="7230591" y="4363188"/>
            <a:ext cx="457200" cy="457200"/>
            <a:chOff x="1020916" y="1442088"/>
            <a:chExt cx="457200" cy="457200"/>
          </a:xfrm>
        </p:grpSpPr>
        <p:pic>
          <p:nvPicPr>
            <p:cNvPr id="945" name="Google Shape;945;p7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1" name="Google Shape;95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875" y="1032850"/>
            <a:ext cx="4517276" cy="36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953" name="Google Shape;953;p75"/>
          <p:cNvSpPr txBox="1"/>
          <p:nvPr>
            <p:ph idx="1" type="body"/>
          </p:nvPr>
        </p:nvSpPr>
        <p:spPr>
          <a:xfrm>
            <a:off x="324000" y="606900"/>
            <a:ext cx="82377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know a conversion of currencies we can draw our own conversion graph.</a:t>
            </a:r>
            <a:endParaRPr sz="2000"/>
          </a:p>
        </p:txBody>
      </p:sp>
      <p:pic>
        <p:nvPicPr>
          <p:cNvPr id="954" name="Google Shape;95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5338" y="16759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5"/>
          <p:cNvSpPr txBox="1"/>
          <p:nvPr/>
        </p:nvSpPr>
        <p:spPr>
          <a:xfrm>
            <a:off x="403325" y="2754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6" name="Google Shape;956;p75"/>
          <p:cNvGrpSpPr/>
          <p:nvPr/>
        </p:nvGrpSpPr>
        <p:grpSpPr>
          <a:xfrm>
            <a:off x="1531498" y="1182175"/>
            <a:ext cx="1566902" cy="1316250"/>
            <a:chOff x="1531498" y="2096575"/>
            <a:chExt cx="1566902" cy="1316250"/>
          </a:xfrm>
        </p:grpSpPr>
        <p:pic>
          <p:nvPicPr>
            <p:cNvPr id="957" name="Google Shape;957;p7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31498" y="20965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75"/>
            <p:cNvSpPr txBox="1"/>
            <p:nvPr/>
          </p:nvSpPr>
          <p:spPr>
            <a:xfrm>
              <a:off x="1698900" y="22520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changed £100 and I got $125.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9" name="Google Shape;959;p75"/>
          <p:cNvSpPr txBox="1"/>
          <p:nvPr/>
        </p:nvSpPr>
        <p:spPr>
          <a:xfrm>
            <a:off x="7155447" y="1366201"/>
            <a:ext cx="14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5"/>
          <p:cNvSpPr txBox="1"/>
          <p:nvPr>
            <p:ph idx="1" type="body"/>
          </p:nvPr>
        </p:nvSpPr>
        <p:spPr>
          <a:xfrm>
            <a:off x="324000" y="3083457"/>
            <a:ext cx="2812500" cy="11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Estimate how many dollars you would get with £60.</a:t>
            </a:r>
            <a:endParaRPr sz="2000"/>
          </a:p>
        </p:txBody>
      </p:sp>
      <p:cxnSp>
        <p:nvCxnSpPr>
          <p:cNvPr id="961" name="Google Shape;961;p75"/>
          <p:cNvCxnSpPr/>
          <p:nvPr/>
        </p:nvCxnSpPr>
        <p:spPr>
          <a:xfrm rot="10800000">
            <a:off x="5805700" y="2674925"/>
            <a:ext cx="0" cy="178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75"/>
          <p:cNvCxnSpPr/>
          <p:nvPr/>
        </p:nvCxnSpPr>
        <p:spPr>
          <a:xfrm rot="10800000">
            <a:off x="3634300" y="2678525"/>
            <a:ext cx="2171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3" name="Google Shape;963;p75"/>
          <p:cNvSpPr txBox="1"/>
          <p:nvPr>
            <p:ph idx="1" type="body"/>
          </p:nvPr>
        </p:nvSpPr>
        <p:spPr>
          <a:xfrm>
            <a:off x="324000" y="4142512"/>
            <a:ext cx="22554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would get approximately $75.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75"/>
          <p:cNvSpPr txBox="1"/>
          <p:nvPr/>
        </p:nvSpPr>
        <p:spPr>
          <a:xfrm>
            <a:off x="3136500" y="974125"/>
            <a:ext cx="32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$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5"/>
          <p:cNvSpPr txBox="1"/>
          <p:nvPr/>
        </p:nvSpPr>
        <p:spPr>
          <a:xfrm>
            <a:off x="7398727" y="4384550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0" name="Google Shape;97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875" y="1032850"/>
            <a:ext cx="4517276" cy="36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1" name="Google Shape;97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972" name="Google Shape;972;p76"/>
          <p:cNvSpPr txBox="1"/>
          <p:nvPr>
            <p:ph idx="1" type="body"/>
          </p:nvPr>
        </p:nvSpPr>
        <p:spPr>
          <a:xfrm>
            <a:off x="324000" y="606900"/>
            <a:ext cx="82377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we know a conversion of currencies we can draw our own conversion graph.</a:t>
            </a:r>
            <a:endParaRPr sz="2000"/>
          </a:p>
        </p:txBody>
      </p:sp>
      <p:pic>
        <p:nvPicPr>
          <p:cNvPr id="973" name="Google Shape;973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5338" y="16759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76"/>
          <p:cNvSpPr txBox="1"/>
          <p:nvPr/>
        </p:nvSpPr>
        <p:spPr>
          <a:xfrm>
            <a:off x="403325" y="27543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75" name="Google Shape;975;p76"/>
          <p:cNvGrpSpPr/>
          <p:nvPr/>
        </p:nvGrpSpPr>
        <p:grpSpPr>
          <a:xfrm>
            <a:off x="1531498" y="1182175"/>
            <a:ext cx="1566902" cy="1316250"/>
            <a:chOff x="1531498" y="2096575"/>
            <a:chExt cx="1566902" cy="1316250"/>
          </a:xfrm>
        </p:grpSpPr>
        <p:pic>
          <p:nvPicPr>
            <p:cNvPr id="976" name="Google Shape;976;p76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531498" y="20965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76"/>
            <p:cNvSpPr txBox="1"/>
            <p:nvPr/>
          </p:nvSpPr>
          <p:spPr>
            <a:xfrm>
              <a:off x="1698900" y="22520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changed £100 and I got $125.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8" name="Google Shape;978;p76"/>
          <p:cNvSpPr txBox="1"/>
          <p:nvPr/>
        </p:nvSpPr>
        <p:spPr>
          <a:xfrm>
            <a:off x="7155447" y="1366201"/>
            <a:ext cx="14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6"/>
          <p:cNvSpPr txBox="1"/>
          <p:nvPr>
            <p:ph idx="1" type="body"/>
          </p:nvPr>
        </p:nvSpPr>
        <p:spPr>
          <a:xfrm>
            <a:off x="324000" y="3083457"/>
            <a:ext cx="2812500" cy="11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Estimate how many pounds you would get with $100.</a:t>
            </a:r>
            <a:endParaRPr sz="2000"/>
          </a:p>
        </p:txBody>
      </p:sp>
      <p:sp>
        <p:nvSpPr>
          <p:cNvPr id="980" name="Google Shape;980;p76"/>
          <p:cNvSpPr txBox="1"/>
          <p:nvPr>
            <p:ph idx="1" type="body"/>
          </p:nvPr>
        </p:nvSpPr>
        <p:spPr>
          <a:xfrm>
            <a:off x="324000" y="4142512"/>
            <a:ext cx="2255400" cy="7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would get approximately £80.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1" name="Google Shape;981;p76"/>
          <p:cNvCxnSpPr/>
          <p:nvPr/>
        </p:nvCxnSpPr>
        <p:spPr>
          <a:xfrm rot="10800000">
            <a:off x="6521500" y="2087025"/>
            <a:ext cx="0" cy="238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76"/>
          <p:cNvCxnSpPr/>
          <p:nvPr/>
        </p:nvCxnSpPr>
        <p:spPr>
          <a:xfrm rot="10800000">
            <a:off x="3673300" y="2078700"/>
            <a:ext cx="2848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83" name="Google Shape;983;p76"/>
          <p:cNvSpPr txBox="1"/>
          <p:nvPr/>
        </p:nvSpPr>
        <p:spPr>
          <a:xfrm>
            <a:off x="3136500" y="974125"/>
            <a:ext cx="32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$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6"/>
          <p:cNvSpPr txBox="1"/>
          <p:nvPr/>
        </p:nvSpPr>
        <p:spPr>
          <a:xfrm>
            <a:off x="7398727" y="4384550"/>
            <a:ext cx="109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9" name="Google Shape;98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399" y="875950"/>
            <a:ext cx="4940774" cy="33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991" name="Google Shape;991;p77"/>
          <p:cNvSpPr txBox="1"/>
          <p:nvPr>
            <p:ph idx="1" type="body"/>
          </p:nvPr>
        </p:nvSpPr>
        <p:spPr>
          <a:xfrm>
            <a:off x="324000" y="735025"/>
            <a:ext cx="3476400" cy="14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Spot the mistake.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Use the graph to estimate the number of pounds you would get for $50.  </a:t>
            </a:r>
            <a:endParaRPr sz="2100"/>
          </a:p>
        </p:txBody>
      </p:sp>
      <p:cxnSp>
        <p:nvCxnSpPr>
          <p:cNvPr id="992" name="Google Shape;992;p77"/>
          <p:cNvCxnSpPr/>
          <p:nvPr/>
        </p:nvCxnSpPr>
        <p:spPr>
          <a:xfrm rot="10800000">
            <a:off x="6982500" y="2412225"/>
            <a:ext cx="0" cy="1424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77"/>
          <p:cNvCxnSpPr/>
          <p:nvPr/>
        </p:nvCxnSpPr>
        <p:spPr>
          <a:xfrm rot="10800000">
            <a:off x="4324500" y="2412225"/>
            <a:ext cx="26580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4" name="Google Shape;994;p77"/>
          <p:cNvSpPr txBox="1"/>
          <p:nvPr>
            <p:ph idx="1" type="body"/>
          </p:nvPr>
        </p:nvSpPr>
        <p:spPr>
          <a:xfrm>
            <a:off x="324000" y="2526600"/>
            <a:ext cx="34764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Approximately £40.</a:t>
            </a:r>
            <a:endParaRPr sz="2100"/>
          </a:p>
        </p:txBody>
      </p:sp>
      <p:sp>
        <p:nvSpPr>
          <p:cNvPr id="995" name="Google Shape;995;p77"/>
          <p:cNvSpPr txBox="1"/>
          <p:nvPr>
            <p:ph idx="1" type="body"/>
          </p:nvPr>
        </p:nvSpPr>
        <p:spPr>
          <a:xfrm>
            <a:off x="324000" y="2961000"/>
            <a:ext cx="3681000" cy="15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lines on the graph shows £50 is approximately $40.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They started on the wrong axis.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96" name="Google Shape;996;p77"/>
          <p:cNvCxnSpPr/>
          <p:nvPr/>
        </p:nvCxnSpPr>
        <p:spPr>
          <a:xfrm rot="10800000">
            <a:off x="7659225" y="2064350"/>
            <a:ext cx="0" cy="176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97" name="Google Shape;997;p77"/>
          <p:cNvCxnSpPr/>
          <p:nvPr/>
        </p:nvCxnSpPr>
        <p:spPr>
          <a:xfrm rot="10800000">
            <a:off x="4319950" y="2064350"/>
            <a:ext cx="3317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98" name="Google Shape;998;p77"/>
          <p:cNvSpPr txBox="1"/>
          <p:nvPr>
            <p:ph idx="1" type="body"/>
          </p:nvPr>
        </p:nvSpPr>
        <p:spPr>
          <a:xfrm>
            <a:off x="324000" y="3826250"/>
            <a:ext cx="2978400" cy="3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$50 is approximately £63.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7"/>
          <p:cNvSpPr txBox="1"/>
          <p:nvPr/>
        </p:nvSpPr>
        <p:spPr>
          <a:xfrm>
            <a:off x="8679600" y="3666800"/>
            <a:ext cx="2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7"/>
          <p:cNvSpPr txBox="1"/>
          <p:nvPr/>
        </p:nvSpPr>
        <p:spPr>
          <a:xfrm>
            <a:off x="3724200" y="666000"/>
            <a:ext cx="2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$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8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estimate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a)	£10 = $15</a:t>
            </a:r>
            <a:endParaRPr/>
          </a:p>
        </p:txBody>
      </p:sp>
      <p:sp>
        <p:nvSpPr>
          <p:cNvPr id="1006" name="Google Shape;1006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07" name="Google Shape;1007;p78"/>
          <p:cNvSpPr txBox="1"/>
          <p:nvPr>
            <p:ph idx="4294967295" type="body"/>
          </p:nvPr>
        </p:nvSpPr>
        <p:spPr>
          <a:xfrm>
            <a:off x="6976150" y="16146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£8 = $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08" name="Google Shape;1008;p78"/>
          <p:cNvSpPr txBox="1"/>
          <p:nvPr>
            <p:ph idx="4294967295" type="body"/>
          </p:nvPr>
        </p:nvSpPr>
        <p:spPr>
          <a:xfrm>
            <a:off x="6976150" y="2605200"/>
            <a:ext cx="1786800" cy="401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$6 = £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grpSp>
        <p:nvGrpSpPr>
          <p:cNvPr id="1009" name="Google Shape;1009;p78"/>
          <p:cNvGrpSpPr/>
          <p:nvPr/>
        </p:nvGrpSpPr>
        <p:grpSpPr>
          <a:xfrm>
            <a:off x="2571350" y="1161550"/>
            <a:ext cx="4603152" cy="3658850"/>
            <a:chOff x="2495150" y="1161550"/>
            <a:chExt cx="4603152" cy="3658850"/>
          </a:xfrm>
        </p:grpSpPr>
        <p:pic>
          <p:nvPicPr>
            <p:cNvPr id="1010" name="Google Shape;1010;p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2125" y="12518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78"/>
            <p:cNvSpPr txBox="1"/>
            <p:nvPr/>
          </p:nvSpPr>
          <p:spPr>
            <a:xfrm>
              <a:off x="24951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78"/>
            <p:cNvSpPr txBox="1"/>
            <p:nvPr/>
          </p:nvSpPr>
          <p:spPr>
            <a:xfrm>
              <a:off x="60030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estimate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	£8 = €10</a:t>
            </a:r>
            <a:endParaRPr/>
          </a:p>
        </p:txBody>
      </p:sp>
      <p:sp>
        <p:nvSpPr>
          <p:cNvPr id="1018" name="Google Shape;1018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19" name="Google Shape;1019;p79"/>
          <p:cNvSpPr txBox="1"/>
          <p:nvPr>
            <p:ph idx="4294967295" type="body"/>
          </p:nvPr>
        </p:nvSpPr>
        <p:spPr>
          <a:xfrm>
            <a:off x="6976150" y="16146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£6 = €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20" name="Google Shape;1020;p79"/>
          <p:cNvSpPr txBox="1"/>
          <p:nvPr>
            <p:ph idx="4294967295" type="body"/>
          </p:nvPr>
        </p:nvSpPr>
        <p:spPr>
          <a:xfrm>
            <a:off x="6976150" y="26052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€4 = £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grpSp>
        <p:nvGrpSpPr>
          <p:cNvPr id="1021" name="Google Shape;1021;p79"/>
          <p:cNvGrpSpPr/>
          <p:nvPr/>
        </p:nvGrpSpPr>
        <p:grpSpPr>
          <a:xfrm>
            <a:off x="2495150" y="1161550"/>
            <a:ext cx="4603152" cy="3658850"/>
            <a:chOff x="2266550" y="1161550"/>
            <a:chExt cx="4603152" cy="3658850"/>
          </a:xfrm>
        </p:grpSpPr>
        <p:pic>
          <p:nvPicPr>
            <p:cNvPr id="1022" name="Google Shape;1022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3525" y="12518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3" name="Google Shape;1023;p79"/>
            <p:cNvSpPr txBox="1"/>
            <p:nvPr/>
          </p:nvSpPr>
          <p:spPr>
            <a:xfrm>
              <a:off x="22665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24" name="Google Shape;1024;p79"/>
            <p:cNvSpPr txBox="1"/>
            <p:nvPr/>
          </p:nvSpPr>
          <p:spPr>
            <a:xfrm>
              <a:off x="57744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estimate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	£14 = €18</a:t>
            </a:r>
            <a:endParaRPr/>
          </a:p>
        </p:txBody>
      </p:sp>
      <p:sp>
        <p:nvSpPr>
          <p:cNvPr id="1030" name="Google Shape;1030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31" name="Google Shape;1031;p80"/>
          <p:cNvSpPr txBox="1"/>
          <p:nvPr>
            <p:ph idx="4294967295" type="body"/>
          </p:nvPr>
        </p:nvSpPr>
        <p:spPr>
          <a:xfrm>
            <a:off x="6976150" y="16146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£5 = €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32" name="Google Shape;1032;p80"/>
          <p:cNvSpPr txBox="1"/>
          <p:nvPr>
            <p:ph idx="4294967295" type="body"/>
          </p:nvPr>
        </p:nvSpPr>
        <p:spPr>
          <a:xfrm>
            <a:off x="6976150" y="2605200"/>
            <a:ext cx="18639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€16 = £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u="sng"/>
              <a:t>          </a:t>
            </a:r>
            <a:r>
              <a:rPr lang="en-GB">
                <a:solidFill>
                  <a:srgbClr val="EBEDFE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grpSp>
        <p:nvGrpSpPr>
          <p:cNvPr id="1033" name="Google Shape;1033;p80"/>
          <p:cNvGrpSpPr/>
          <p:nvPr/>
        </p:nvGrpSpPr>
        <p:grpSpPr>
          <a:xfrm>
            <a:off x="2495150" y="1161550"/>
            <a:ext cx="4603152" cy="3658850"/>
            <a:chOff x="2266550" y="1161550"/>
            <a:chExt cx="4603152" cy="3658850"/>
          </a:xfrm>
        </p:grpSpPr>
        <p:pic>
          <p:nvPicPr>
            <p:cNvPr id="1034" name="Google Shape;1034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3525" y="12518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5" name="Google Shape;1035;p80"/>
            <p:cNvSpPr txBox="1"/>
            <p:nvPr/>
          </p:nvSpPr>
          <p:spPr>
            <a:xfrm>
              <a:off x="22665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6" name="Google Shape;1036;p80"/>
            <p:cNvSpPr txBox="1"/>
            <p:nvPr/>
          </p:nvSpPr>
          <p:spPr>
            <a:xfrm>
              <a:off x="57744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estimate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	£16 = $18</a:t>
            </a:r>
            <a:endParaRPr/>
          </a:p>
        </p:txBody>
      </p:sp>
      <p:sp>
        <p:nvSpPr>
          <p:cNvPr id="1042" name="Google Shape;1042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43" name="Google Shape;1043;p81"/>
          <p:cNvSpPr txBox="1"/>
          <p:nvPr>
            <p:ph idx="4294967295" type="body"/>
          </p:nvPr>
        </p:nvSpPr>
        <p:spPr>
          <a:xfrm>
            <a:off x="6976150" y="16146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£11 = $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44" name="Google Shape;1044;p81"/>
          <p:cNvSpPr txBox="1"/>
          <p:nvPr>
            <p:ph idx="4294967295" type="body"/>
          </p:nvPr>
        </p:nvSpPr>
        <p:spPr>
          <a:xfrm>
            <a:off x="6976150" y="26052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$8 = £</a:t>
            </a:r>
            <a:r>
              <a:rPr lang="en-GB" u="sng"/>
              <a:t>          </a:t>
            </a:r>
            <a:r>
              <a:rPr lang="en-GB">
                <a:solidFill>
                  <a:schemeClr val="lt1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grpSp>
        <p:nvGrpSpPr>
          <p:cNvPr id="1045" name="Google Shape;1045;p81"/>
          <p:cNvGrpSpPr/>
          <p:nvPr/>
        </p:nvGrpSpPr>
        <p:grpSpPr>
          <a:xfrm>
            <a:off x="2495150" y="1161550"/>
            <a:ext cx="4603152" cy="3658850"/>
            <a:chOff x="2266550" y="1161550"/>
            <a:chExt cx="4603152" cy="3658850"/>
          </a:xfrm>
        </p:grpSpPr>
        <p:pic>
          <p:nvPicPr>
            <p:cNvPr id="1046" name="Google Shape;1046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3525" y="1251850"/>
              <a:ext cx="3692960" cy="3568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81"/>
            <p:cNvSpPr txBox="1"/>
            <p:nvPr/>
          </p:nvSpPr>
          <p:spPr>
            <a:xfrm>
              <a:off x="22665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8" name="Google Shape;1048;p81"/>
            <p:cNvSpPr txBox="1"/>
            <p:nvPr/>
          </p:nvSpPr>
          <p:spPr>
            <a:xfrm>
              <a:off x="57744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82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</a:t>
            </a:r>
            <a:r>
              <a:rPr lang="en-GB"/>
              <a:t>estimate</a:t>
            </a:r>
            <a:r>
              <a:rPr lang="en-GB"/>
              <a:t>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	£10 = $15 </a:t>
            </a:r>
            <a:endParaRPr/>
          </a:p>
        </p:txBody>
      </p:sp>
      <p:sp>
        <p:nvSpPr>
          <p:cNvPr id="1054" name="Google Shape;1054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55" name="Google Shape;1055;p82"/>
          <p:cNvSpPr txBox="1"/>
          <p:nvPr/>
        </p:nvSpPr>
        <p:spPr>
          <a:xfrm>
            <a:off x="7881125" y="1951950"/>
            <a:ext cx="127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2"/>
          <p:cNvSpPr txBox="1"/>
          <p:nvPr>
            <p:ph idx="4294967295" type="body"/>
          </p:nvPr>
        </p:nvSpPr>
        <p:spPr>
          <a:xfrm>
            <a:off x="7357150" y="16146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£8 = $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>
                <a:solidFill>
                  <a:srgbClr val="EBEDFE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57" name="Google Shape;1057;p82"/>
          <p:cNvSpPr txBox="1"/>
          <p:nvPr>
            <p:ph idx="4294967295" type="body"/>
          </p:nvPr>
        </p:nvSpPr>
        <p:spPr>
          <a:xfrm>
            <a:off x="7357150" y="26052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$</a:t>
            </a:r>
            <a:r>
              <a:rPr lang="en-GB"/>
              <a:t>6 = £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          </a:t>
            </a:r>
            <a:r>
              <a:rPr lang="en-GB">
                <a:solidFill>
                  <a:srgbClr val="EBEDFE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grpSp>
        <p:nvGrpSpPr>
          <p:cNvPr id="1058" name="Google Shape;1058;p82"/>
          <p:cNvGrpSpPr/>
          <p:nvPr/>
        </p:nvGrpSpPr>
        <p:grpSpPr>
          <a:xfrm>
            <a:off x="2647550" y="1161550"/>
            <a:ext cx="4603152" cy="3658852"/>
            <a:chOff x="2266550" y="1161550"/>
            <a:chExt cx="4603152" cy="3658852"/>
          </a:xfrm>
        </p:grpSpPr>
        <p:pic>
          <p:nvPicPr>
            <p:cNvPr id="1059" name="Google Shape;1059;p8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37850" y="1164026"/>
              <a:ext cx="3808347" cy="3656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0" name="Google Shape;1060;p82"/>
            <p:cNvSpPr txBox="1"/>
            <p:nvPr/>
          </p:nvSpPr>
          <p:spPr>
            <a:xfrm>
              <a:off x="22665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61" name="Google Shape;1061;p82"/>
            <p:cNvSpPr txBox="1"/>
            <p:nvPr/>
          </p:nvSpPr>
          <p:spPr>
            <a:xfrm>
              <a:off x="57744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estimate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b)	</a:t>
            </a:r>
            <a:r>
              <a:rPr lang="en-GB"/>
              <a:t>£8 = €10</a:t>
            </a:r>
            <a:r>
              <a:rPr lang="en-GB"/>
              <a:t> </a:t>
            </a:r>
            <a:endParaRPr/>
          </a:p>
        </p:txBody>
      </p:sp>
      <p:sp>
        <p:nvSpPr>
          <p:cNvPr id="1067" name="Google Shape;1067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68" name="Google Shape;1068;p83"/>
          <p:cNvSpPr txBox="1"/>
          <p:nvPr/>
        </p:nvSpPr>
        <p:spPr>
          <a:xfrm>
            <a:off x="7881125" y="1951950"/>
            <a:ext cx="127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3"/>
          <p:cNvSpPr txBox="1"/>
          <p:nvPr>
            <p:ph idx="4294967295" type="body"/>
          </p:nvPr>
        </p:nvSpPr>
        <p:spPr>
          <a:xfrm>
            <a:off x="6976150" y="1614600"/>
            <a:ext cx="1786800" cy="7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£6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€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7.20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to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€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7.80  </a:t>
            </a:r>
            <a:r>
              <a:rPr lang="en-GB"/>
              <a:t>        </a:t>
            </a:r>
            <a:r>
              <a:rPr lang="en-GB">
                <a:solidFill>
                  <a:srgbClr val="EBEDFE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70" name="Google Shape;1070;p83"/>
          <p:cNvSpPr txBox="1"/>
          <p:nvPr>
            <p:ph idx="4294967295" type="body"/>
          </p:nvPr>
        </p:nvSpPr>
        <p:spPr>
          <a:xfrm>
            <a:off x="6976150" y="26052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€4</a:t>
            </a:r>
            <a:r>
              <a:rPr lang="en-GB"/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£3 to £3.40   </a:t>
            </a:r>
            <a:r>
              <a:rPr lang="en-GB"/>
              <a:t>     </a:t>
            </a:r>
            <a:r>
              <a:rPr lang="en-GB">
                <a:solidFill>
                  <a:srgbClr val="EBEDFE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grpSp>
        <p:nvGrpSpPr>
          <p:cNvPr id="1071" name="Google Shape;1071;p83"/>
          <p:cNvGrpSpPr/>
          <p:nvPr/>
        </p:nvGrpSpPr>
        <p:grpSpPr>
          <a:xfrm>
            <a:off x="2418950" y="1161550"/>
            <a:ext cx="4603152" cy="3658850"/>
            <a:chOff x="2266550" y="1161550"/>
            <a:chExt cx="4603152" cy="3658850"/>
          </a:xfrm>
        </p:grpSpPr>
        <p:pic>
          <p:nvPicPr>
            <p:cNvPr id="1072" name="Google Shape;1072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40890" y="1244100"/>
              <a:ext cx="3747911" cy="3576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3" name="Google Shape;1073;p83"/>
            <p:cNvSpPr txBox="1"/>
            <p:nvPr/>
          </p:nvSpPr>
          <p:spPr>
            <a:xfrm>
              <a:off x="22665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4" name="Google Shape;1074;p83"/>
            <p:cNvSpPr txBox="1"/>
            <p:nvPr/>
          </p:nvSpPr>
          <p:spPr>
            <a:xfrm>
              <a:off x="57744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estimate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c)	£14 = €18 </a:t>
            </a:r>
            <a:endParaRPr/>
          </a:p>
        </p:txBody>
      </p:sp>
      <p:sp>
        <p:nvSpPr>
          <p:cNvPr id="1080" name="Google Shape;1080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81" name="Google Shape;1081;p84"/>
          <p:cNvSpPr txBox="1"/>
          <p:nvPr/>
        </p:nvSpPr>
        <p:spPr>
          <a:xfrm>
            <a:off x="7881125" y="1951950"/>
            <a:ext cx="127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4"/>
          <p:cNvSpPr txBox="1"/>
          <p:nvPr>
            <p:ph idx="4294967295" type="body"/>
          </p:nvPr>
        </p:nvSpPr>
        <p:spPr>
          <a:xfrm>
            <a:off x="6976150" y="16146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£5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€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6.20 to €6.80</a:t>
            </a:r>
            <a:r>
              <a:rPr lang="en-GB">
                <a:solidFill>
                  <a:srgbClr val="EBEDFE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>
                <a:solidFill>
                  <a:srgbClr val="EBEDFE"/>
                </a:solidFill>
              </a:rPr>
              <a:t> To 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83" name="Google Shape;1083;p84"/>
          <p:cNvSpPr txBox="1"/>
          <p:nvPr>
            <p:ph idx="4294967295" type="body"/>
          </p:nvPr>
        </p:nvSpPr>
        <p:spPr>
          <a:xfrm>
            <a:off x="6976150" y="26052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€16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£12.20 to £12.70</a:t>
            </a:r>
            <a:r>
              <a:rPr lang="en-GB" u="sng"/>
              <a:t>          </a:t>
            </a:r>
            <a:r>
              <a:rPr lang="en-GB">
                <a:solidFill>
                  <a:srgbClr val="EBEDFE"/>
                </a:solidFill>
              </a:rPr>
              <a:t>.</a:t>
            </a:r>
            <a:r>
              <a:rPr lang="en-GB" sz="1600"/>
              <a:t>	</a:t>
            </a:r>
            <a:endParaRPr sz="1600"/>
          </a:p>
        </p:txBody>
      </p:sp>
      <p:grpSp>
        <p:nvGrpSpPr>
          <p:cNvPr id="1084" name="Google Shape;1084;p84"/>
          <p:cNvGrpSpPr/>
          <p:nvPr/>
        </p:nvGrpSpPr>
        <p:grpSpPr>
          <a:xfrm>
            <a:off x="2495150" y="1161550"/>
            <a:ext cx="4603152" cy="3658850"/>
            <a:chOff x="2266550" y="1161550"/>
            <a:chExt cx="4603152" cy="3658850"/>
          </a:xfrm>
        </p:grpSpPr>
        <p:pic>
          <p:nvPicPr>
            <p:cNvPr id="1085" name="Google Shape;1085;p8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72426" y="1255825"/>
              <a:ext cx="3713102" cy="35645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84"/>
            <p:cNvSpPr txBox="1"/>
            <p:nvPr/>
          </p:nvSpPr>
          <p:spPr>
            <a:xfrm>
              <a:off x="22665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7" name="Google Shape;1087;p84"/>
            <p:cNvSpPr txBox="1"/>
            <p:nvPr/>
          </p:nvSpPr>
          <p:spPr>
            <a:xfrm>
              <a:off x="57744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Draw a graph and estimate the conversions.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	</a:t>
            </a:r>
            <a:r>
              <a:rPr lang="en-GB"/>
              <a:t>£16 = $18</a:t>
            </a:r>
            <a:r>
              <a:rPr lang="en-GB"/>
              <a:t> </a:t>
            </a:r>
            <a:endParaRPr/>
          </a:p>
        </p:txBody>
      </p:sp>
      <p:sp>
        <p:nvSpPr>
          <p:cNvPr id="1093" name="Google Shape;1093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094" name="Google Shape;1094;p85"/>
          <p:cNvSpPr txBox="1"/>
          <p:nvPr/>
        </p:nvSpPr>
        <p:spPr>
          <a:xfrm>
            <a:off x="7881125" y="1951950"/>
            <a:ext cx="127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5"/>
          <p:cNvSpPr txBox="1"/>
          <p:nvPr>
            <p:ph idx="4294967295" type="body"/>
          </p:nvPr>
        </p:nvSpPr>
        <p:spPr>
          <a:xfrm>
            <a:off x="6976150" y="1614600"/>
            <a:ext cx="1786800" cy="40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£11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$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12.20 to $12.70</a:t>
            </a:r>
            <a:r>
              <a:rPr lang="en-GB">
                <a:solidFill>
                  <a:srgbClr val="EBEDFE"/>
                </a:solidFill>
                <a:latin typeface="Kalam"/>
                <a:ea typeface="Kalam"/>
                <a:cs typeface="Kalam"/>
                <a:sym typeface="Kalam"/>
              </a:rPr>
              <a:t>. </a:t>
            </a:r>
            <a:r>
              <a:rPr lang="en-GB" sz="1600"/>
              <a:t>	</a:t>
            </a:r>
            <a:endParaRPr sz="1600"/>
          </a:p>
        </p:txBody>
      </p:sp>
      <p:sp>
        <p:nvSpPr>
          <p:cNvPr id="1096" name="Google Shape;1096;p85"/>
          <p:cNvSpPr txBox="1"/>
          <p:nvPr>
            <p:ph idx="4294967295" type="body"/>
          </p:nvPr>
        </p:nvSpPr>
        <p:spPr>
          <a:xfrm>
            <a:off x="6976150" y="2605200"/>
            <a:ext cx="1786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$8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£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6.80 to £7.20</a:t>
            </a:r>
            <a:r>
              <a:rPr lang="en-GB">
                <a:solidFill>
                  <a:srgbClr val="EBEDFE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1600">
                <a:latin typeface="Kalam"/>
                <a:ea typeface="Kalam"/>
                <a:cs typeface="Kalam"/>
                <a:sym typeface="Kalam"/>
              </a:rPr>
              <a:t>	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97" name="Google Shape;1097;p85"/>
          <p:cNvGrpSpPr/>
          <p:nvPr/>
        </p:nvGrpSpPr>
        <p:grpSpPr>
          <a:xfrm>
            <a:off x="2418950" y="1161550"/>
            <a:ext cx="4603152" cy="3658850"/>
            <a:chOff x="2266550" y="1161550"/>
            <a:chExt cx="4603152" cy="3658850"/>
          </a:xfrm>
        </p:grpSpPr>
        <p:pic>
          <p:nvPicPr>
            <p:cNvPr id="1098" name="Google Shape;1098;p8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89175" y="1204124"/>
              <a:ext cx="3735507" cy="36162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9" name="Google Shape;1099;p85"/>
            <p:cNvSpPr txBox="1"/>
            <p:nvPr/>
          </p:nvSpPr>
          <p:spPr>
            <a:xfrm>
              <a:off x="2266550" y="1161550"/>
              <a:ext cx="3258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$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0" name="Google Shape;1100;p85"/>
            <p:cNvSpPr txBox="1"/>
            <p:nvPr/>
          </p:nvSpPr>
          <p:spPr>
            <a:xfrm>
              <a:off x="5774402" y="4481700"/>
              <a:ext cx="109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£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Representations of exchange rates</a:t>
            </a:r>
            <a:endParaRPr/>
          </a:p>
        </p:txBody>
      </p:sp>
      <p:sp>
        <p:nvSpPr>
          <p:cNvPr id="1106" name="Google Shape;1106;p8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107" name="Google Shape;1107;p8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pic>
        <p:nvPicPr>
          <p:cNvPr id="1108" name="Google Shape;110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7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114" name="Google Shape;1114;p87"/>
          <p:cNvSpPr txBox="1"/>
          <p:nvPr>
            <p:ph idx="1" type="body"/>
          </p:nvPr>
        </p:nvSpPr>
        <p:spPr>
          <a:xfrm>
            <a:off x="324000" y="759300"/>
            <a:ext cx="8237700" cy="13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Andeep, Jun and Sofia are going on holiday.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They all </a:t>
            </a:r>
            <a:r>
              <a:rPr lang="en-GB"/>
              <a:t>exchange</a:t>
            </a:r>
            <a:r>
              <a:rPr lang="en-GB"/>
              <a:t> some pounds for euros.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Who got the best deal?</a:t>
            </a:r>
            <a:endParaRPr/>
          </a:p>
        </p:txBody>
      </p:sp>
      <p:pic>
        <p:nvPicPr>
          <p:cNvPr id="1115" name="Google Shape;111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715" y="2776525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6" name="Google Shape;111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89208" y="277653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7" name="Google Shape;1117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6076" y="2680837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87"/>
          <p:cNvSpPr txBox="1"/>
          <p:nvPr/>
        </p:nvSpPr>
        <p:spPr>
          <a:xfrm>
            <a:off x="385750" y="3684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7"/>
          <p:cNvSpPr txBox="1"/>
          <p:nvPr/>
        </p:nvSpPr>
        <p:spPr>
          <a:xfrm>
            <a:off x="5110150" y="3684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7"/>
          <p:cNvSpPr txBox="1"/>
          <p:nvPr/>
        </p:nvSpPr>
        <p:spPr>
          <a:xfrm>
            <a:off x="7700950" y="36840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1" name="Google Shape;1121;p87"/>
          <p:cNvGrpSpPr/>
          <p:nvPr/>
        </p:nvGrpSpPr>
        <p:grpSpPr>
          <a:xfrm>
            <a:off x="1379098" y="2096575"/>
            <a:ext cx="1566902" cy="1316250"/>
            <a:chOff x="1531498" y="2096575"/>
            <a:chExt cx="1566902" cy="1316250"/>
          </a:xfrm>
        </p:grpSpPr>
        <p:pic>
          <p:nvPicPr>
            <p:cNvPr id="1122" name="Google Shape;1122;p87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531498" y="20965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3" name="Google Shape;1123;p87"/>
            <p:cNvSpPr txBox="1"/>
            <p:nvPr/>
          </p:nvSpPr>
          <p:spPr>
            <a:xfrm>
              <a:off x="1698900" y="21758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changed </a:t>
              </a:r>
              <a:r>
                <a:rPr lang="en-GB" sz="1800">
                  <a:solidFill>
                    <a:schemeClr val="dk1"/>
                  </a:solidFill>
                </a:rPr>
                <a:t>€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120 and I got £100.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24" name="Google Shape;1124;p87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3162200" y="2172775"/>
            <a:ext cx="1955251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7"/>
          <p:cNvSpPr txBox="1"/>
          <p:nvPr/>
        </p:nvSpPr>
        <p:spPr>
          <a:xfrm>
            <a:off x="3283925" y="2259925"/>
            <a:ext cx="17406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received €30 for £20.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6" name="Google Shape;1126;p87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829200" y="2020375"/>
            <a:ext cx="1955251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7" name="Google Shape;1127;p87"/>
          <p:cNvSpPr txBox="1"/>
          <p:nvPr/>
        </p:nvSpPr>
        <p:spPr>
          <a:xfrm>
            <a:off x="5950925" y="2107525"/>
            <a:ext cx="17406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received €90 for £60.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7"/>
          <p:cNvSpPr txBox="1"/>
          <p:nvPr>
            <p:ph idx="1" type="body"/>
          </p:nvPr>
        </p:nvSpPr>
        <p:spPr>
          <a:xfrm>
            <a:off x="324000" y="4096850"/>
            <a:ext cx="3957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 can we compare these?</a:t>
            </a:r>
            <a:endParaRPr/>
          </a:p>
        </p:txBody>
      </p:sp>
      <p:sp>
        <p:nvSpPr>
          <p:cNvPr id="1129" name="Google Shape;1129;p87"/>
          <p:cNvSpPr txBox="1"/>
          <p:nvPr>
            <p:ph idx="1" type="body"/>
          </p:nvPr>
        </p:nvSpPr>
        <p:spPr>
          <a:xfrm>
            <a:off x="324000" y="4477850"/>
            <a:ext cx="3957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We can write them as ratios.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135" name="Google Shape;1135;p88"/>
          <p:cNvSpPr txBox="1"/>
          <p:nvPr>
            <p:ph idx="1" type="body"/>
          </p:nvPr>
        </p:nvSpPr>
        <p:spPr>
          <a:xfrm>
            <a:off x="324000" y="7593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Andeep:	</a:t>
            </a:r>
            <a:endParaRPr/>
          </a:p>
        </p:txBody>
      </p:sp>
      <p:pic>
        <p:nvPicPr>
          <p:cNvPr id="1136" name="Google Shape;113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715" y="3614725"/>
            <a:ext cx="807760" cy="896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189208" y="3614737"/>
            <a:ext cx="727174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66076" y="3519037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8"/>
          <p:cNvSpPr txBox="1"/>
          <p:nvPr/>
        </p:nvSpPr>
        <p:spPr>
          <a:xfrm>
            <a:off x="385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8"/>
          <p:cNvSpPr txBox="1"/>
          <p:nvPr/>
        </p:nvSpPr>
        <p:spPr>
          <a:xfrm>
            <a:off x="51101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1" name="Google Shape;1141;p88"/>
          <p:cNvSpPr txBox="1"/>
          <p:nvPr/>
        </p:nvSpPr>
        <p:spPr>
          <a:xfrm>
            <a:off x="77009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2" name="Google Shape;1142;p88"/>
          <p:cNvGrpSpPr/>
          <p:nvPr/>
        </p:nvGrpSpPr>
        <p:grpSpPr>
          <a:xfrm>
            <a:off x="1379098" y="2934775"/>
            <a:ext cx="1566902" cy="1316250"/>
            <a:chOff x="1531498" y="2096575"/>
            <a:chExt cx="1566902" cy="1316250"/>
          </a:xfrm>
        </p:grpSpPr>
        <p:pic>
          <p:nvPicPr>
            <p:cNvPr id="1143" name="Google Shape;1143;p88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531498" y="20965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4" name="Google Shape;1144;p88"/>
            <p:cNvSpPr txBox="1"/>
            <p:nvPr/>
          </p:nvSpPr>
          <p:spPr>
            <a:xfrm>
              <a:off x="1698900" y="21758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changed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€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120 and I got £100.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45" name="Google Shape;1145;p88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3162200" y="3010975"/>
            <a:ext cx="1955251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88"/>
          <p:cNvSpPr txBox="1"/>
          <p:nvPr/>
        </p:nvSpPr>
        <p:spPr>
          <a:xfrm>
            <a:off x="3283925" y="3098125"/>
            <a:ext cx="17406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received €30 for £20.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47" name="Google Shape;1147;p88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829200" y="2858575"/>
            <a:ext cx="1955251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88"/>
          <p:cNvSpPr txBox="1"/>
          <p:nvPr/>
        </p:nvSpPr>
        <p:spPr>
          <a:xfrm>
            <a:off x="5950925" y="2945725"/>
            <a:ext cx="17406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 received €90 for £60.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8"/>
          <p:cNvSpPr txBox="1"/>
          <p:nvPr/>
        </p:nvSpPr>
        <p:spPr>
          <a:xfrm>
            <a:off x="1532400" y="651900"/>
            <a:ext cx="14136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: 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88"/>
          <p:cNvSpPr txBox="1"/>
          <p:nvPr>
            <p:ph idx="1" type="body"/>
          </p:nvPr>
        </p:nvSpPr>
        <p:spPr>
          <a:xfrm>
            <a:off x="3829200" y="7593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</a:t>
            </a:r>
            <a:r>
              <a:rPr lang="en-GB"/>
              <a:t>:	</a:t>
            </a:r>
            <a:endParaRPr/>
          </a:p>
        </p:txBody>
      </p:sp>
      <p:sp>
        <p:nvSpPr>
          <p:cNvPr id="1151" name="Google Shape;1151;p88"/>
          <p:cNvSpPr txBox="1"/>
          <p:nvPr/>
        </p:nvSpPr>
        <p:spPr>
          <a:xfrm>
            <a:off x="4351800" y="65190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: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8"/>
          <p:cNvSpPr txBox="1"/>
          <p:nvPr>
            <p:ph idx="1" type="body"/>
          </p:nvPr>
        </p:nvSpPr>
        <p:spPr>
          <a:xfrm>
            <a:off x="6343800" y="7593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</a:t>
            </a:r>
            <a:r>
              <a:rPr lang="en-GB"/>
              <a:t>:	</a:t>
            </a:r>
            <a:endParaRPr/>
          </a:p>
        </p:txBody>
      </p:sp>
      <p:sp>
        <p:nvSpPr>
          <p:cNvPr id="1153" name="Google Shape;1153;p88"/>
          <p:cNvSpPr txBox="1"/>
          <p:nvPr/>
        </p:nvSpPr>
        <p:spPr>
          <a:xfrm>
            <a:off x="7171200" y="65190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 : 60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8"/>
          <p:cNvSpPr txBox="1"/>
          <p:nvPr>
            <p:ph idx="1" type="body"/>
          </p:nvPr>
        </p:nvSpPr>
        <p:spPr>
          <a:xfrm>
            <a:off x="324000" y="1673700"/>
            <a:ext cx="8496000" cy="121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Has this helped?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No,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we need to create equivalent ratios where one of the currencies is the same in all three.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	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160" name="Google Shape;1160;p89"/>
          <p:cNvSpPr txBox="1"/>
          <p:nvPr>
            <p:ph idx="1" type="body"/>
          </p:nvPr>
        </p:nvSpPr>
        <p:spPr>
          <a:xfrm>
            <a:off x="324000" y="2029925"/>
            <a:ext cx="8237700" cy="72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They are all multiples of 10 so we could find how many euros each of them would have received for £10. </a:t>
            </a:r>
            <a:endParaRPr/>
          </a:p>
        </p:txBody>
      </p:sp>
      <p:sp>
        <p:nvSpPr>
          <p:cNvPr id="1161" name="Google Shape;1161;p89"/>
          <p:cNvSpPr txBox="1"/>
          <p:nvPr>
            <p:ph idx="1" type="body"/>
          </p:nvPr>
        </p:nvSpPr>
        <p:spPr>
          <a:xfrm>
            <a:off x="324000" y="7593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Andeep:	</a:t>
            </a:r>
            <a:endParaRPr/>
          </a:p>
        </p:txBody>
      </p:sp>
      <p:sp>
        <p:nvSpPr>
          <p:cNvPr id="1162" name="Google Shape;1162;p89"/>
          <p:cNvSpPr txBox="1"/>
          <p:nvPr/>
        </p:nvSpPr>
        <p:spPr>
          <a:xfrm>
            <a:off x="1532400" y="651900"/>
            <a:ext cx="13548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 : 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89"/>
          <p:cNvSpPr txBox="1"/>
          <p:nvPr>
            <p:ph idx="1" type="body"/>
          </p:nvPr>
        </p:nvSpPr>
        <p:spPr>
          <a:xfrm>
            <a:off x="3829200" y="7593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Jun:	</a:t>
            </a:r>
            <a:endParaRPr/>
          </a:p>
        </p:txBody>
      </p:sp>
      <p:sp>
        <p:nvSpPr>
          <p:cNvPr id="1164" name="Google Shape;1164;p89"/>
          <p:cNvSpPr txBox="1"/>
          <p:nvPr/>
        </p:nvSpPr>
        <p:spPr>
          <a:xfrm>
            <a:off x="4351800" y="65190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 : 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9"/>
          <p:cNvSpPr txBox="1"/>
          <p:nvPr>
            <p:ph idx="1" type="body"/>
          </p:nvPr>
        </p:nvSpPr>
        <p:spPr>
          <a:xfrm>
            <a:off x="6343800" y="7593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Sofia:	</a:t>
            </a:r>
            <a:endParaRPr/>
          </a:p>
        </p:txBody>
      </p:sp>
      <p:sp>
        <p:nvSpPr>
          <p:cNvPr id="1166" name="Google Shape;1166;p89"/>
          <p:cNvSpPr txBox="1"/>
          <p:nvPr/>
        </p:nvSpPr>
        <p:spPr>
          <a:xfrm>
            <a:off x="7171200" y="65190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 : 60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172" name="Google Shape;1172;p90"/>
          <p:cNvSpPr txBox="1"/>
          <p:nvPr>
            <p:ph idx="1" type="body"/>
          </p:nvPr>
        </p:nvSpPr>
        <p:spPr>
          <a:xfrm>
            <a:off x="400200" y="652575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Andeep:	</a:t>
            </a:r>
            <a:endParaRPr/>
          </a:p>
        </p:txBody>
      </p:sp>
      <p:sp>
        <p:nvSpPr>
          <p:cNvPr id="1173" name="Google Shape;1173;p90"/>
          <p:cNvSpPr txBox="1"/>
          <p:nvPr/>
        </p:nvSpPr>
        <p:spPr>
          <a:xfrm>
            <a:off x="1608600" y="545175"/>
            <a:ext cx="12915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: 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90"/>
          <p:cNvSpPr txBox="1"/>
          <p:nvPr>
            <p:ph idx="1" type="body"/>
          </p:nvPr>
        </p:nvSpPr>
        <p:spPr>
          <a:xfrm>
            <a:off x="400200" y="2146163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Jun:	</a:t>
            </a:r>
            <a:endParaRPr/>
          </a:p>
        </p:txBody>
      </p:sp>
      <p:sp>
        <p:nvSpPr>
          <p:cNvPr id="1175" name="Google Shape;1175;p90"/>
          <p:cNvSpPr txBox="1"/>
          <p:nvPr/>
        </p:nvSpPr>
        <p:spPr>
          <a:xfrm>
            <a:off x="1608600" y="202350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: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0"/>
          <p:cNvSpPr txBox="1"/>
          <p:nvPr>
            <p:ph idx="1" type="body"/>
          </p:nvPr>
        </p:nvSpPr>
        <p:spPr>
          <a:xfrm>
            <a:off x="400200" y="363975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Sofia:	</a:t>
            </a:r>
            <a:endParaRPr/>
          </a:p>
        </p:txBody>
      </p:sp>
      <p:sp>
        <p:nvSpPr>
          <p:cNvPr id="1177" name="Google Shape;1177;p90"/>
          <p:cNvSpPr txBox="1"/>
          <p:nvPr/>
        </p:nvSpPr>
        <p:spPr>
          <a:xfrm>
            <a:off x="1562925" y="353235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 : 60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90"/>
          <p:cNvSpPr txBox="1"/>
          <p:nvPr/>
        </p:nvSpPr>
        <p:spPr>
          <a:xfrm>
            <a:off x="1608600" y="1535775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: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90"/>
          <p:cNvSpPr txBox="1"/>
          <p:nvPr/>
        </p:nvSpPr>
        <p:spPr>
          <a:xfrm>
            <a:off x="1567350" y="3014100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: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0"/>
          <p:cNvSpPr txBox="1"/>
          <p:nvPr/>
        </p:nvSpPr>
        <p:spPr>
          <a:xfrm>
            <a:off x="1562925" y="4522950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: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0"/>
          <p:cNvSpPr/>
          <p:nvPr/>
        </p:nvSpPr>
        <p:spPr>
          <a:xfrm rot="5400000">
            <a:off x="2633275" y="1191575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90"/>
          <p:cNvSpPr/>
          <p:nvPr/>
        </p:nvSpPr>
        <p:spPr>
          <a:xfrm rot="5400000">
            <a:off x="2286425" y="2693100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90"/>
          <p:cNvSpPr/>
          <p:nvPr/>
        </p:nvSpPr>
        <p:spPr>
          <a:xfrm rot="5400000">
            <a:off x="2321025" y="4178750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4" name="Google Shape;1184;p90"/>
          <p:cNvGrpSpPr/>
          <p:nvPr/>
        </p:nvGrpSpPr>
        <p:grpSpPr>
          <a:xfrm>
            <a:off x="369688" y="1209413"/>
            <a:ext cx="1391312" cy="561300"/>
            <a:chOff x="2808088" y="1209413"/>
            <a:chExt cx="1391312" cy="561300"/>
          </a:xfrm>
        </p:grpSpPr>
        <p:sp>
          <p:nvSpPr>
            <p:cNvPr id="1185" name="Google Shape;1185;p90"/>
            <p:cNvSpPr/>
            <p:nvPr/>
          </p:nvSpPr>
          <p:spPr>
            <a:xfrm flipH="1" rot="-5400000">
              <a:off x="3569100" y="1140413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90"/>
            <p:cNvSpPr txBox="1"/>
            <p:nvPr/>
          </p:nvSpPr>
          <p:spPr>
            <a:xfrm>
              <a:off x="2808088" y="13521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10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7" name="Google Shape;1187;p90"/>
          <p:cNvSpPr txBox="1"/>
          <p:nvPr/>
        </p:nvSpPr>
        <p:spPr>
          <a:xfrm>
            <a:off x="3189088" y="1316731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10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8" name="Google Shape;1188;p90"/>
          <p:cNvGrpSpPr/>
          <p:nvPr/>
        </p:nvGrpSpPr>
        <p:grpSpPr>
          <a:xfrm>
            <a:off x="522088" y="2687738"/>
            <a:ext cx="1467512" cy="561300"/>
            <a:chOff x="2960488" y="2687738"/>
            <a:chExt cx="1467512" cy="561300"/>
          </a:xfrm>
        </p:grpSpPr>
        <p:sp>
          <p:nvSpPr>
            <p:cNvPr id="1189" name="Google Shape;1189;p90"/>
            <p:cNvSpPr/>
            <p:nvPr/>
          </p:nvSpPr>
          <p:spPr>
            <a:xfrm flipH="1" rot="-5400000">
              <a:off x="3797700" y="2618738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90"/>
            <p:cNvSpPr txBox="1"/>
            <p:nvPr/>
          </p:nvSpPr>
          <p:spPr>
            <a:xfrm>
              <a:off x="2960488" y="27999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2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1" name="Google Shape;1191;p90"/>
          <p:cNvSpPr txBox="1"/>
          <p:nvPr/>
        </p:nvSpPr>
        <p:spPr>
          <a:xfrm>
            <a:off x="2884288" y="2833381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2" name="Google Shape;1192;p90"/>
          <p:cNvGrpSpPr/>
          <p:nvPr/>
        </p:nvGrpSpPr>
        <p:grpSpPr>
          <a:xfrm>
            <a:off x="522088" y="4196588"/>
            <a:ext cx="1421837" cy="561300"/>
            <a:chOff x="2960488" y="4196588"/>
            <a:chExt cx="1421837" cy="561300"/>
          </a:xfrm>
        </p:grpSpPr>
        <p:sp>
          <p:nvSpPr>
            <p:cNvPr id="1193" name="Google Shape;1193;p90"/>
            <p:cNvSpPr/>
            <p:nvPr/>
          </p:nvSpPr>
          <p:spPr>
            <a:xfrm flipH="1" rot="-5400000">
              <a:off x="3752025" y="4127588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90"/>
            <p:cNvSpPr txBox="1"/>
            <p:nvPr/>
          </p:nvSpPr>
          <p:spPr>
            <a:xfrm>
              <a:off x="2960488" y="43239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5" name="Google Shape;1195;p90"/>
          <p:cNvSpPr txBox="1"/>
          <p:nvPr/>
        </p:nvSpPr>
        <p:spPr>
          <a:xfrm>
            <a:off x="2884288" y="4283850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0"/>
          <p:cNvSpPr txBox="1"/>
          <p:nvPr/>
        </p:nvSpPr>
        <p:spPr>
          <a:xfrm>
            <a:off x="4085650" y="1285975"/>
            <a:ext cx="989400" cy="338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0"/>
          <p:cNvSpPr txBox="1"/>
          <p:nvPr/>
        </p:nvSpPr>
        <p:spPr>
          <a:xfrm>
            <a:off x="4085650" y="2802628"/>
            <a:ext cx="989400" cy="338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: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90"/>
          <p:cNvSpPr txBox="1"/>
          <p:nvPr/>
        </p:nvSpPr>
        <p:spPr>
          <a:xfrm>
            <a:off x="4085650" y="4253100"/>
            <a:ext cx="989400" cy="338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 :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90"/>
          <p:cNvSpPr txBox="1"/>
          <p:nvPr>
            <p:ph idx="1" type="body"/>
          </p:nvPr>
        </p:nvSpPr>
        <p:spPr>
          <a:xfrm>
            <a:off x="5377575" y="1773750"/>
            <a:ext cx="3320400" cy="18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 received €12 for every £10.  Jun and Sofia both get €15 for every £10.  Therefore,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Jun and Sofia both got the best deal.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	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205" name="Google Shape;1205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If they had not all been multiples of 10 we would need to create equivalent ratios where a currency is set to 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211" name="Google Shape;1211;p92"/>
          <p:cNvSpPr txBox="1"/>
          <p:nvPr>
            <p:ph idx="1" type="body"/>
          </p:nvPr>
        </p:nvSpPr>
        <p:spPr>
          <a:xfrm>
            <a:off x="400200" y="652575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Andeep:	</a:t>
            </a:r>
            <a:endParaRPr/>
          </a:p>
        </p:txBody>
      </p:sp>
      <p:sp>
        <p:nvSpPr>
          <p:cNvPr id="1212" name="Google Shape;1212;p92"/>
          <p:cNvSpPr txBox="1"/>
          <p:nvPr/>
        </p:nvSpPr>
        <p:spPr>
          <a:xfrm>
            <a:off x="1456200" y="545175"/>
            <a:ext cx="12786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: 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2"/>
          <p:cNvSpPr txBox="1"/>
          <p:nvPr>
            <p:ph idx="1" type="body"/>
          </p:nvPr>
        </p:nvSpPr>
        <p:spPr>
          <a:xfrm>
            <a:off x="400200" y="2146163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Jun:	</a:t>
            </a:r>
            <a:endParaRPr/>
          </a:p>
        </p:txBody>
      </p:sp>
      <p:sp>
        <p:nvSpPr>
          <p:cNvPr id="1214" name="Google Shape;1214;p92"/>
          <p:cNvSpPr txBox="1"/>
          <p:nvPr/>
        </p:nvSpPr>
        <p:spPr>
          <a:xfrm>
            <a:off x="1608600" y="202350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: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2"/>
          <p:cNvSpPr txBox="1"/>
          <p:nvPr>
            <p:ph idx="1" type="body"/>
          </p:nvPr>
        </p:nvSpPr>
        <p:spPr>
          <a:xfrm>
            <a:off x="400200" y="363975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Sofia:	</a:t>
            </a:r>
            <a:endParaRPr/>
          </a:p>
        </p:txBody>
      </p:sp>
      <p:sp>
        <p:nvSpPr>
          <p:cNvPr id="1216" name="Google Shape;1216;p92"/>
          <p:cNvSpPr txBox="1"/>
          <p:nvPr/>
        </p:nvSpPr>
        <p:spPr>
          <a:xfrm>
            <a:off x="1562925" y="353235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 : 60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92"/>
          <p:cNvSpPr txBox="1"/>
          <p:nvPr/>
        </p:nvSpPr>
        <p:spPr>
          <a:xfrm>
            <a:off x="1608600" y="1535775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2"/>
          <p:cNvSpPr txBox="1"/>
          <p:nvPr/>
        </p:nvSpPr>
        <p:spPr>
          <a:xfrm>
            <a:off x="1567350" y="3014100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2"/>
          <p:cNvSpPr txBox="1"/>
          <p:nvPr/>
        </p:nvSpPr>
        <p:spPr>
          <a:xfrm>
            <a:off x="1562925" y="4522950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92"/>
          <p:cNvSpPr/>
          <p:nvPr/>
        </p:nvSpPr>
        <p:spPr>
          <a:xfrm rot="5400000">
            <a:off x="2480875" y="1191575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92"/>
          <p:cNvSpPr/>
          <p:nvPr/>
        </p:nvSpPr>
        <p:spPr>
          <a:xfrm rot="5400000">
            <a:off x="2286425" y="2693100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92"/>
          <p:cNvSpPr/>
          <p:nvPr/>
        </p:nvSpPr>
        <p:spPr>
          <a:xfrm rot="5400000">
            <a:off x="2321025" y="4178750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3" name="Google Shape;1223;p92"/>
          <p:cNvGrpSpPr/>
          <p:nvPr/>
        </p:nvGrpSpPr>
        <p:grpSpPr>
          <a:xfrm>
            <a:off x="369688" y="1209413"/>
            <a:ext cx="1391312" cy="561300"/>
            <a:chOff x="2808088" y="1209413"/>
            <a:chExt cx="1391312" cy="561300"/>
          </a:xfrm>
        </p:grpSpPr>
        <p:sp>
          <p:nvSpPr>
            <p:cNvPr id="1224" name="Google Shape;1224;p92"/>
            <p:cNvSpPr/>
            <p:nvPr/>
          </p:nvSpPr>
          <p:spPr>
            <a:xfrm flipH="1" rot="-5400000">
              <a:off x="3569100" y="1140413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92"/>
            <p:cNvSpPr txBox="1"/>
            <p:nvPr/>
          </p:nvSpPr>
          <p:spPr>
            <a:xfrm>
              <a:off x="2808088" y="13521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100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6" name="Google Shape;1226;p92"/>
          <p:cNvSpPr txBox="1"/>
          <p:nvPr/>
        </p:nvSpPr>
        <p:spPr>
          <a:xfrm>
            <a:off x="3112888" y="1316731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100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27" name="Google Shape;1227;p92"/>
          <p:cNvGrpSpPr/>
          <p:nvPr/>
        </p:nvGrpSpPr>
        <p:grpSpPr>
          <a:xfrm>
            <a:off x="522088" y="2687738"/>
            <a:ext cx="1467512" cy="561300"/>
            <a:chOff x="2960488" y="2687738"/>
            <a:chExt cx="1467512" cy="561300"/>
          </a:xfrm>
        </p:grpSpPr>
        <p:sp>
          <p:nvSpPr>
            <p:cNvPr id="1228" name="Google Shape;1228;p92"/>
            <p:cNvSpPr/>
            <p:nvPr/>
          </p:nvSpPr>
          <p:spPr>
            <a:xfrm flipH="1" rot="-5400000">
              <a:off x="3797700" y="2618738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92"/>
            <p:cNvSpPr txBox="1"/>
            <p:nvPr/>
          </p:nvSpPr>
          <p:spPr>
            <a:xfrm>
              <a:off x="2960488" y="27999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20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0" name="Google Shape;1230;p92"/>
          <p:cNvSpPr txBox="1"/>
          <p:nvPr/>
        </p:nvSpPr>
        <p:spPr>
          <a:xfrm>
            <a:off x="2884288" y="2833381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1" name="Google Shape;1231;p92"/>
          <p:cNvGrpSpPr/>
          <p:nvPr/>
        </p:nvGrpSpPr>
        <p:grpSpPr>
          <a:xfrm>
            <a:off x="522088" y="4196588"/>
            <a:ext cx="1421837" cy="561300"/>
            <a:chOff x="2960488" y="4196588"/>
            <a:chExt cx="1421837" cy="561300"/>
          </a:xfrm>
        </p:grpSpPr>
        <p:sp>
          <p:nvSpPr>
            <p:cNvPr id="1232" name="Google Shape;1232;p92"/>
            <p:cNvSpPr/>
            <p:nvPr/>
          </p:nvSpPr>
          <p:spPr>
            <a:xfrm flipH="1" rot="-5400000">
              <a:off x="3752025" y="4127588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92"/>
            <p:cNvSpPr txBox="1"/>
            <p:nvPr/>
          </p:nvSpPr>
          <p:spPr>
            <a:xfrm>
              <a:off x="2960488" y="43239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60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4" name="Google Shape;1234;p92"/>
          <p:cNvSpPr txBox="1"/>
          <p:nvPr/>
        </p:nvSpPr>
        <p:spPr>
          <a:xfrm>
            <a:off x="2884288" y="4283850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60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2"/>
          <p:cNvSpPr txBox="1"/>
          <p:nvPr/>
        </p:nvSpPr>
        <p:spPr>
          <a:xfrm>
            <a:off x="4314250" y="1285975"/>
            <a:ext cx="894300" cy="338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1.2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2"/>
          <p:cNvSpPr txBox="1"/>
          <p:nvPr/>
        </p:nvSpPr>
        <p:spPr>
          <a:xfrm>
            <a:off x="4314250" y="2802625"/>
            <a:ext cx="894300" cy="338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1.5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2"/>
          <p:cNvSpPr txBox="1"/>
          <p:nvPr/>
        </p:nvSpPr>
        <p:spPr>
          <a:xfrm>
            <a:off x="4314250" y="4253100"/>
            <a:ext cx="894300" cy="338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1.5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2"/>
          <p:cNvSpPr txBox="1"/>
          <p:nvPr>
            <p:ph idx="1" type="body"/>
          </p:nvPr>
        </p:nvSpPr>
        <p:spPr>
          <a:xfrm>
            <a:off x="5316525" y="907375"/>
            <a:ext cx="3045600" cy="15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we have the ratio in the form 1 : n this is the </a:t>
            </a:r>
            <a:r>
              <a:rPr b="1" lang="en-GB"/>
              <a:t>exchange rate</a:t>
            </a:r>
            <a:r>
              <a:rPr lang="en-GB"/>
              <a:t>.</a:t>
            </a:r>
            <a:r>
              <a:rPr lang="en-GB"/>
              <a:t>	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244" name="Google Shape;1244;p93"/>
          <p:cNvSpPr txBox="1"/>
          <p:nvPr>
            <p:ph idx="1" type="body"/>
          </p:nvPr>
        </p:nvSpPr>
        <p:spPr>
          <a:xfrm>
            <a:off x="324000" y="759300"/>
            <a:ext cx="82377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also could have worked out the </a:t>
            </a:r>
            <a:r>
              <a:rPr b="1" lang="en-GB"/>
              <a:t>exchange rate</a:t>
            </a:r>
            <a:r>
              <a:rPr lang="en-GB"/>
              <a:t> of euros to pounds.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94"/>
          <p:cNvSpPr txBox="1"/>
          <p:nvPr>
            <p:ph idx="1" type="body"/>
          </p:nvPr>
        </p:nvSpPr>
        <p:spPr>
          <a:xfrm>
            <a:off x="4130000" y="2811175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:	</a:t>
            </a:r>
            <a:endParaRPr/>
          </a:p>
        </p:txBody>
      </p:sp>
      <p:sp>
        <p:nvSpPr>
          <p:cNvPr id="1250" name="Google Shape;1250;p94"/>
          <p:cNvSpPr/>
          <p:nvPr/>
        </p:nvSpPr>
        <p:spPr>
          <a:xfrm>
            <a:off x="4021675" y="2635350"/>
            <a:ext cx="906900" cy="732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1" name="Google Shape;1251;p94"/>
          <p:cNvSpPr/>
          <p:nvPr/>
        </p:nvSpPr>
        <p:spPr>
          <a:xfrm>
            <a:off x="4021675" y="1141875"/>
            <a:ext cx="906900" cy="732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2" name="Google Shape;125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253" name="Google Shape;1253;p94"/>
          <p:cNvSpPr txBox="1"/>
          <p:nvPr>
            <p:ph idx="1" type="body"/>
          </p:nvPr>
        </p:nvSpPr>
        <p:spPr>
          <a:xfrm>
            <a:off x="400200" y="652575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Andeep:	</a:t>
            </a:r>
            <a:endParaRPr/>
          </a:p>
        </p:txBody>
      </p:sp>
      <p:sp>
        <p:nvSpPr>
          <p:cNvPr id="1254" name="Google Shape;1254;p94"/>
          <p:cNvSpPr txBox="1"/>
          <p:nvPr>
            <p:ph idx="1" type="body"/>
          </p:nvPr>
        </p:nvSpPr>
        <p:spPr>
          <a:xfrm>
            <a:off x="400200" y="2146163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Jun:	</a:t>
            </a:r>
            <a:endParaRPr/>
          </a:p>
        </p:txBody>
      </p:sp>
      <p:sp>
        <p:nvSpPr>
          <p:cNvPr id="1255" name="Google Shape;1255;p94"/>
          <p:cNvSpPr txBox="1"/>
          <p:nvPr>
            <p:ph idx="1" type="body"/>
          </p:nvPr>
        </p:nvSpPr>
        <p:spPr>
          <a:xfrm>
            <a:off x="400200" y="363975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Sofia:	</a:t>
            </a:r>
            <a:endParaRPr/>
          </a:p>
        </p:txBody>
      </p:sp>
      <p:sp>
        <p:nvSpPr>
          <p:cNvPr id="1256" name="Google Shape;1256;p94"/>
          <p:cNvSpPr/>
          <p:nvPr/>
        </p:nvSpPr>
        <p:spPr>
          <a:xfrm rot="5400000">
            <a:off x="2480875" y="1191575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94"/>
          <p:cNvSpPr/>
          <p:nvPr/>
        </p:nvSpPr>
        <p:spPr>
          <a:xfrm rot="5400000">
            <a:off x="2286425" y="2693100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94"/>
          <p:cNvSpPr/>
          <p:nvPr/>
        </p:nvSpPr>
        <p:spPr>
          <a:xfrm rot="5400000">
            <a:off x="2321025" y="4178750"/>
            <a:ext cx="561300" cy="5970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9" name="Google Shape;1259;p94"/>
          <p:cNvGrpSpPr/>
          <p:nvPr/>
        </p:nvGrpSpPr>
        <p:grpSpPr>
          <a:xfrm>
            <a:off x="369688" y="1209413"/>
            <a:ext cx="1391312" cy="561300"/>
            <a:chOff x="2808088" y="1209413"/>
            <a:chExt cx="1391312" cy="561300"/>
          </a:xfrm>
        </p:grpSpPr>
        <p:sp>
          <p:nvSpPr>
            <p:cNvPr id="1260" name="Google Shape;1260;p94"/>
            <p:cNvSpPr/>
            <p:nvPr/>
          </p:nvSpPr>
          <p:spPr>
            <a:xfrm flipH="1" rot="-5400000">
              <a:off x="3569100" y="1140413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94"/>
            <p:cNvSpPr txBox="1"/>
            <p:nvPr/>
          </p:nvSpPr>
          <p:spPr>
            <a:xfrm>
              <a:off x="2808088" y="13521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120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2" name="Google Shape;1262;p94"/>
          <p:cNvSpPr txBox="1"/>
          <p:nvPr/>
        </p:nvSpPr>
        <p:spPr>
          <a:xfrm>
            <a:off x="3112888" y="1316731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120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3" name="Google Shape;1263;p94"/>
          <p:cNvGrpSpPr/>
          <p:nvPr/>
        </p:nvGrpSpPr>
        <p:grpSpPr>
          <a:xfrm>
            <a:off x="522088" y="2687738"/>
            <a:ext cx="1467512" cy="561300"/>
            <a:chOff x="2960488" y="2687738"/>
            <a:chExt cx="1467512" cy="561300"/>
          </a:xfrm>
        </p:grpSpPr>
        <p:sp>
          <p:nvSpPr>
            <p:cNvPr id="1264" name="Google Shape;1264;p94"/>
            <p:cNvSpPr/>
            <p:nvPr/>
          </p:nvSpPr>
          <p:spPr>
            <a:xfrm flipH="1" rot="-5400000">
              <a:off x="3797700" y="2618738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94"/>
            <p:cNvSpPr txBox="1"/>
            <p:nvPr/>
          </p:nvSpPr>
          <p:spPr>
            <a:xfrm>
              <a:off x="2960488" y="27999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30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6" name="Google Shape;1266;p94"/>
          <p:cNvSpPr txBox="1"/>
          <p:nvPr/>
        </p:nvSpPr>
        <p:spPr>
          <a:xfrm>
            <a:off x="2884288" y="2833381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30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67" name="Google Shape;1267;p94"/>
          <p:cNvGrpSpPr/>
          <p:nvPr/>
        </p:nvGrpSpPr>
        <p:grpSpPr>
          <a:xfrm>
            <a:off x="522088" y="4196588"/>
            <a:ext cx="1421837" cy="561300"/>
            <a:chOff x="2960488" y="4196588"/>
            <a:chExt cx="1421837" cy="561300"/>
          </a:xfrm>
        </p:grpSpPr>
        <p:sp>
          <p:nvSpPr>
            <p:cNvPr id="1268" name="Google Shape;1268;p94"/>
            <p:cNvSpPr/>
            <p:nvPr/>
          </p:nvSpPr>
          <p:spPr>
            <a:xfrm flipH="1" rot="-5400000">
              <a:off x="3752025" y="4127588"/>
              <a:ext cx="561300" cy="6993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94"/>
            <p:cNvSpPr txBox="1"/>
            <p:nvPr/>
          </p:nvSpPr>
          <p:spPr>
            <a:xfrm>
              <a:off x="2960488" y="4323963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÷ 90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70" name="Google Shape;1270;p94"/>
          <p:cNvSpPr txBox="1"/>
          <p:nvPr/>
        </p:nvSpPr>
        <p:spPr>
          <a:xfrm>
            <a:off x="2884288" y="4283850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90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4"/>
          <p:cNvSpPr txBox="1"/>
          <p:nvPr>
            <p:ph idx="1" type="body"/>
          </p:nvPr>
        </p:nvSpPr>
        <p:spPr>
          <a:xfrm>
            <a:off x="5316525" y="907375"/>
            <a:ext cx="3045600" cy="154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we have the ratio in the form 1 : n this is the </a:t>
            </a:r>
            <a:r>
              <a:rPr b="1" lang="en-GB"/>
              <a:t>exchange rate</a:t>
            </a:r>
            <a:r>
              <a:rPr lang="en-GB"/>
              <a:t>.	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 \frac{2}{3}&quot;&gt;&lt;mfrac&gt;&lt;mn&gt;5&lt;/mn&gt;&lt;mn&gt;6&lt;/mn&gt;&lt;/mfrac&gt;&lt;mtext&gt;&lt;/mtext&gt;&lt;mfrac&gt;&lt;mn&gt;2&lt;/mn&gt;&lt;mn&gt;3&lt;/mn&gt;&lt;/mfrac&gt;&lt;/math&gt;" id="1272" name="Google Shape;1272;p94" title="five sixths two thirds"/>
          <p:cNvPicPr preferRelativeResize="0"/>
          <p:nvPr/>
        </p:nvPicPr>
        <p:blipFill rotWithShape="1">
          <a:blip r:embed="rId3">
            <a:alphaModFix/>
          </a:blip>
          <a:srcRect b="0" l="57374" r="0" t="0"/>
          <a:stretch/>
        </p:blipFill>
        <p:spPr>
          <a:xfrm>
            <a:off x="4524356" y="2721000"/>
            <a:ext cx="200900" cy="56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frac{2}{3}&quot;&gt;&lt;mfrac&gt;&lt;mn&gt;5&lt;/mn&gt;&lt;mn&gt;6&lt;/mn&gt;&lt;/mfrac&gt;&lt;mtext&gt;&lt;/mtext&gt;&lt;mfrac&gt;&lt;mn&gt;2&lt;/mn&gt;&lt;mn&gt;3&lt;/mn&gt;&lt;/mfrac&gt;&lt;/math&gt;" id="1273" name="Google Shape;1273;p94" title="five sixths two thirds"/>
          <p:cNvPicPr preferRelativeResize="0"/>
          <p:nvPr/>
        </p:nvPicPr>
        <p:blipFill rotWithShape="1">
          <a:blip r:embed="rId3">
            <a:alphaModFix/>
          </a:blip>
          <a:srcRect b="0" l="57374" r="0" t="0"/>
          <a:stretch/>
        </p:blipFill>
        <p:spPr>
          <a:xfrm>
            <a:off x="4578931" y="4125250"/>
            <a:ext cx="200900" cy="561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 \frac{2}{3}&quot;&gt;&lt;mfrac&gt;&lt;mn&gt;5&lt;/mn&gt;&lt;mn&gt;6&lt;/mn&gt;&lt;/mfrac&gt;&lt;mtext&gt;&lt;/mtext&gt;&lt;mfrac&gt;&lt;mn&gt;2&lt;/mn&gt;&lt;mn&gt;3&lt;/mn&gt;&lt;/mfrac&gt;&lt;/math&gt;" id="1274" name="Google Shape;1274;p94" title="five sixths two thirds"/>
          <p:cNvPicPr preferRelativeResize="0"/>
          <p:nvPr/>
        </p:nvPicPr>
        <p:blipFill rotWithShape="1">
          <a:blip r:embed="rId3">
            <a:alphaModFix/>
          </a:blip>
          <a:srcRect b="0" l="0" r="57374" t="0"/>
          <a:stretch/>
        </p:blipFill>
        <p:spPr>
          <a:xfrm>
            <a:off x="4534950" y="1214500"/>
            <a:ext cx="200900" cy="5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94"/>
          <p:cNvSpPr txBox="1"/>
          <p:nvPr>
            <p:ph idx="1" type="body"/>
          </p:nvPr>
        </p:nvSpPr>
        <p:spPr>
          <a:xfrm>
            <a:off x="4130000" y="13177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: </a:t>
            </a:r>
            <a:r>
              <a:rPr lang="en-GB"/>
              <a:t>	</a:t>
            </a:r>
            <a:endParaRPr/>
          </a:p>
        </p:txBody>
      </p:sp>
      <p:sp>
        <p:nvSpPr>
          <p:cNvPr id="1276" name="Google Shape;1276;p94"/>
          <p:cNvSpPr/>
          <p:nvPr/>
        </p:nvSpPr>
        <p:spPr>
          <a:xfrm>
            <a:off x="4030481" y="4026575"/>
            <a:ext cx="906900" cy="732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94"/>
          <p:cNvSpPr txBox="1"/>
          <p:nvPr>
            <p:ph idx="1" type="body"/>
          </p:nvPr>
        </p:nvSpPr>
        <p:spPr>
          <a:xfrm>
            <a:off x="4148163" y="4202400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:	</a:t>
            </a:r>
            <a:endParaRPr/>
          </a:p>
        </p:txBody>
      </p:sp>
      <p:sp>
        <p:nvSpPr>
          <p:cNvPr id="1278" name="Google Shape;1278;p94"/>
          <p:cNvSpPr txBox="1"/>
          <p:nvPr/>
        </p:nvSpPr>
        <p:spPr>
          <a:xfrm>
            <a:off x="1456200" y="545175"/>
            <a:ext cx="12786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120 : 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94"/>
          <p:cNvSpPr txBox="1"/>
          <p:nvPr/>
        </p:nvSpPr>
        <p:spPr>
          <a:xfrm>
            <a:off x="1608600" y="202350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 : 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0" name="Google Shape;1280;p94"/>
          <p:cNvSpPr txBox="1"/>
          <p:nvPr/>
        </p:nvSpPr>
        <p:spPr>
          <a:xfrm>
            <a:off x="1562925" y="3532350"/>
            <a:ext cx="10269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90 : 60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1" name="Google Shape;1281;p94"/>
          <p:cNvSpPr txBox="1"/>
          <p:nvPr/>
        </p:nvSpPr>
        <p:spPr>
          <a:xfrm>
            <a:off x="1608600" y="1535775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: 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2" name="Google Shape;1282;p94"/>
          <p:cNvSpPr txBox="1"/>
          <p:nvPr/>
        </p:nvSpPr>
        <p:spPr>
          <a:xfrm>
            <a:off x="1567350" y="3014100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: 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4"/>
          <p:cNvSpPr txBox="1"/>
          <p:nvPr/>
        </p:nvSpPr>
        <p:spPr>
          <a:xfrm>
            <a:off x="1562925" y="4522950"/>
            <a:ext cx="102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: 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95"/>
          <p:cNvSpPr txBox="1"/>
          <p:nvPr>
            <p:ph idx="1" type="body"/>
          </p:nvPr>
        </p:nvSpPr>
        <p:spPr>
          <a:xfrm>
            <a:off x="3291800" y="1927300"/>
            <a:ext cx="7605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€ : £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:</a:t>
            </a:r>
            <a:endParaRPr/>
          </a:p>
        </p:txBody>
      </p:sp>
      <p:sp>
        <p:nvSpPr>
          <p:cNvPr id="1289" name="Google Shape;128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290" name="Google Shape;1290;p95"/>
          <p:cNvSpPr txBox="1"/>
          <p:nvPr>
            <p:ph idx="1" type="body"/>
          </p:nvPr>
        </p:nvSpPr>
        <p:spPr>
          <a:xfrm>
            <a:off x="324000" y="606900"/>
            <a:ext cx="82377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are the </a:t>
            </a:r>
            <a:r>
              <a:rPr b="1" lang="en-GB" sz="1800"/>
              <a:t>exchange rates</a:t>
            </a:r>
            <a:r>
              <a:rPr lang="en-GB" sz="1800"/>
              <a:t> we have just calculated.</a:t>
            </a:r>
            <a:endParaRPr sz="1800"/>
          </a:p>
        </p:txBody>
      </p:sp>
      <p:sp>
        <p:nvSpPr>
          <p:cNvPr id="1291" name="Google Shape;1291;p95"/>
          <p:cNvSpPr txBox="1"/>
          <p:nvPr>
            <p:ph idx="1" type="body"/>
          </p:nvPr>
        </p:nvSpPr>
        <p:spPr>
          <a:xfrm>
            <a:off x="400200" y="881175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Andeep:	</a:t>
            </a:r>
            <a:endParaRPr sz="1800"/>
          </a:p>
        </p:txBody>
      </p:sp>
      <p:sp>
        <p:nvSpPr>
          <p:cNvPr id="1292" name="Google Shape;1292;p95"/>
          <p:cNvSpPr txBox="1"/>
          <p:nvPr>
            <p:ph idx="1" type="body"/>
          </p:nvPr>
        </p:nvSpPr>
        <p:spPr>
          <a:xfrm>
            <a:off x="2568738" y="881175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Jun:	</a:t>
            </a:r>
            <a:endParaRPr sz="1800"/>
          </a:p>
        </p:txBody>
      </p:sp>
      <p:sp>
        <p:nvSpPr>
          <p:cNvPr id="1293" name="Google Shape;1293;p95"/>
          <p:cNvSpPr txBox="1"/>
          <p:nvPr>
            <p:ph idx="1" type="body"/>
          </p:nvPr>
        </p:nvSpPr>
        <p:spPr>
          <a:xfrm>
            <a:off x="4356275" y="881175"/>
            <a:ext cx="1149000" cy="35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Sofia:	</a:t>
            </a:r>
            <a:endParaRPr sz="1800"/>
          </a:p>
        </p:txBody>
      </p:sp>
      <p:sp>
        <p:nvSpPr>
          <p:cNvPr id="1294" name="Google Shape;1294;p95"/>
          <p:cNvSpPr txBox="1"/>
          <p:nvPr/>
        </p:nvSpPr>
        <p:spPr>
          <a:xfrm>
            <a:off x="1531621" y="893700"/>
            <a:ext cx="970500" cy="85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1.2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5"/>
          <p:cNvSpPr txBox="1"/>
          <p:nvPr/>
        </p:nvSpPr>
        <p:spPr>
          <a:xfrm>
            <a:off x="3189600" y="939250"/>
            <a:ext cx="976200" cy="85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1.5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5"/>
          <p:cNvSpPr txBox="1"/>
          <p:nvPr/>
        </p:nvSpPr>
        <p:spPr>
          <a:xfrm>
            <a:off x="5182733" y="893700"/>
            <a:ext cx="976200" cy="85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1.5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 \frac{2}{3}&quot;&gt;&lt;mfrac&gt;&lt;mn&gt;5&lt;/mn&gt;&lt;mn&gt;6&lt;/mn&gt;&lt;/mfrac&gt;&lt;mtext&gt;&lt;/mtext&gt;&lt;mfrac&gt;&lt;mn&gt;2&lt;/mn&gt;&lt;mn&gt;3&lt;/mn&gt;&lt;/mfrac&gt;&lt;/math&gt;" id="1297" name="Google Shape;1297;p95" title="five sixths two thirds"/>
          <p:cNvPicPr preferRelativeResize="0"/>
          <p:nvPr/>
        </p:nvPicPr>
        <p:blipFill rotWithShape="1">
          <a:blip r:embed="rId3">
            <a:alphaModFix/>
          </a:blip>
          <a:srcRect b="0" l="0" r="57374" t="0"/>
          <a:stretch/>
        </p:blipFill>
        <p:spPr>
          <a:xfrm>
            <a:off x="2085950" y="2317050"/>
            <a:ext cx="200900" cy="5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95"/>
          <p:cNvSpPr txBox="1"/>
          <p:nvPr>
            <p:ph idx="1" type="body"/>
          </p:nvPr>
        </p:nvSpPr>
        <p:spPr>
          <a:xfrm>
            <a:off x="1615400" y="1927300"/>
            <a:ext cx="7605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€ : £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:	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 \frac{2}{3}&quot;&gt;&lt;mfrac&gt;&lt;mn&gt;5&lt;/mn&gt;&lt;mn&gt;6&lt;/mn&gt;&lt;/mfrac&gt;&lt;mtext&gt;&lt;/mtext&gt;&lt;mfrac&gt;&lt;mn&gt;2&lt;/mn&gt;&lt;mn&gt;3&lt;/mn&gt;&lt;/mfrac&gt;&lt;/math&gt;" id="1299" name="Google Shape;1299;p95" title="five sixths two thirds"/>
          <p:cNvPicPr preferRelativeResize="0"/>
          <p:nvPr/>
        </p:nvPicPr>
        <p:blipFill rotWithShape="1">
          <a:blip r:embed="rId3">
            <a:alphaModFix/>
          </a:blip>
          <a:srcRect b="0" l="57374" r="0" t="0"/>
          <a:stretch/>
        </p:blipFill>
        <p:spPr>
          <a:xfrm>
            <a:off x="3737406" y="2317050"/>
            <a:ext cx="200900" cy="5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95"/>
          <p:cNvSpPr txBox="1"/>
          <p:nvPr>
            <p:ph idx="1" type="body"/>
          </p:nvPr>
        </p:nvSpPr>
        <p:spPr>
          <a:xfrm>
            <a:off x="5288284" y="1927300"/>
            <a:ext cx="682500" cy="85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€ : £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: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6}\ \frac{2}{3}&quot;&gt;&lt;mfrac&gt;&lt;mn&gt;5&lt;/mn&gt;&lt;mn&gt;6&lt;/mn&gt;&lt;/mfrac&gt;&lt;mtext&gt;&lt;/mtext&gt;&lt;mfrac&gt;&lt;mn&gt;2&lt;/mn&gt;&lt;mn&gt;3&lt;/mn&gt;&lt;/mfrac&gt;&lt;/math&gt;" id="1301" name="Google Shape;1301;p95" title="five sixths two thirds"/>
          <p:cNvPicPr preferRelativeResize="0"/>
          <p:nvPr/>
        </p:nvPicPr>
        <p:blipFill rotWithShape="1">
          <a:blip r:embed="rId3">
            <a:alphaModFix/>
          </a:blip>
          <a:srcRect b="0" l="57374" r="0" t="0"/>
          <a:stretch/>
        </p:blipFill>
        <p:spPr>
          <a:xfrm>
            <a:off x="5657669" y="2317050"/>
            <a:ext cx="200900" cy="56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95"/>
          <p:cNvSpPr/>
          <p:nvPr/>
        </p:nvSpPr>
        <p:spPr>
          <a:xfrm>
            <a:off x="1549200" y="1927300"/>
            <a:ext cx="970500" cy="1014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95"/>
          <p:cNvSpPr/>
          <p:nvPr/>
        </p:nvSpPr>
        <p:spPr>
          <a:xfrm>
            <a:off x="3189600" y="1894500"/>
            <a:ext cx="976200" cy="1014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4" name="Google Shape;1304;p95"/>
          <p:cNvSpPr/>
          <p:nvPr/>
        </p:nvSpPr>
        <p:spPr>
          <a:xfrm>
            <a:off x="5182725" y="1927300"/>
            <a:ext cx="976200" cy="10146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5" name="Google Shape;1305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65338" y="3352387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95"/>
          <p:cNvSpPr txBox="1"/>
          <p:nvPr/>
        </p:nvSpPr>
        <p:spPr>
          <a:xfrm>
            <a:off x="403325" y="44307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7" name="Google Shape;1307;p95"/>
          <p:cNvGrpSpPr/>
          <p:nvPr/>
        </p:nvGrpSpPr>
        <p:grpSpPr>
          <a:xfrm>
            <a:off x="1394149" y="2878350"/>
            <a:ext cx="2772552" cy="1645376"/>
            <a:chOff x="1394149" y="2878350"/>
            <a:chExt cx="2772552" cy="1645376"/>
          </a:xfrm>
        </p:grpSpPr>
        <p:pic>
          <p:nvPicPr>
            <p:cNvPr id="1308" name="Google Shape;1308;p95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1394149" y="2878350"/>
              <a:ext cx="2772552" cy="16453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9" name="Google Shape;1309;p95"/>
            <p:cNvSpPr txBox="1"/>
            <p:nvPr/>
          </p:nvSpPr>
          <p:spPr>
            <a:xfrm>
              <a:off x="1628544" y="3014075"/>
              <a:ext cx="2454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Earlier you said Jun &amp; Sofia had the best deal. But now Andeep’s is better!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10" name="Google Shape;1310;p95"/>
          <p:cNvSpPr txBox="1"/>
          <p:nvPr>
            <p:ph idx="1" type="body"/>
          </p:nvPr>
        </p:nvSpPr>
        <p:spPr>
          <a:xfrm>
            <a:off x="4387150" y="3223025"/>
            <a:ext cx="3975600" cy="15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What do you think about Izzy’s comment?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This is why it is important we know what the ratio is telling us.	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	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316" name="Google Shape;1316;p96"/>
          <p:cNvSpPr txBox="1"/>
          <p:nvPr>
            <p:ph idx="1" type="body"/>
          </p:nvPr>
        </p:nvSpPr>
        <p:spPr>
          <a:xfrm>
            <a:off x="1168500" y="932850"/>
            <a:ext cx="514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means for every £1 you get €1.2. </a:t>
            </a:r>
            <a:endParaRPr/>
          </a:p>
        </p:txBody>
      </p:sp>
      <p:sp>
        <p:nvSpPr>
          <p:cNvPr id="1317" name="Google Shape;1317;p96"/>
          <p:cNvSpPr txBox="1"/>
          <p:nvPr/>
        </p:nvSpPr>
        <p:spPr>
          <a:xfrm>
            <a:off x="310200" y="665100"/>
            <a:ext cx="750000" cy="85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1.2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6"/>
          <p:cNvSpPr txBox="1"/>
          <p:nvPr>
            <p:ph idx="1" type="body"/>
          </p:nvPr>
        </p:nvSpPr>
        <p:spPr>
          <a:xfrm>
            <a:off x="1168500" y="1999650"/>
            <a:ext cx="514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means for every £1 you get €1.5. </a:t>
            </a:r>
            <a:endParaRPr/>
          </a:p>
        </p:txBody>
      </p:sp>
      <p:sp>
        <p:nvSpPr>
          <p:cNvPr id="1319" name="Google Shape;1319;p96"/>
          <p:cNvSpPr txBox="1"/>
          <p:nvPr/>
        </p:nvSpPr>
        <p:spPr>
          <a:xfrm>
            <a:off x="310200" y="1746233"/>
            <a:ext cx="750000" cy="856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 : £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1.5 : 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0" name="Google Shape;1320;p96"/>
          <p:cNvCxnSpPr/>
          <p:nvPr/>
        </p:nvCxnSpPr>
        <p:spPr>
          <a:xfrm flipH="1">
            <a:off x="6213900" y="1755550"/>
            <a:ext cx="394800" cy="39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1" name="Google Shape;1321;p96"/>
          <p:cNvSpPr txBox="1"/>
          <p:nvPr>
            <p:ph idx="1" type="body"/>
          </p:nvPr>
        </p:nvSpPr>
        <p:spPr>
          <a:xfrm>
            <a:off x="6678075" y="1088550"/>
            <a:ext cx="2142000" cy="112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get more euros for each pound.</a:t>
            </a:r>
            <a:endParaRPr/>
          </a:p>
        </p:txBody>
      </p:sp>
      <p:sp>
        <p:nvSpPr>
          <p:cNvPr id="1322" name="Google Shape;1322;p96"/>
          <p:cNvSpPr txBox="1"/>
          <p:nvPr>
            <p:ph idx="1" type="body"/>
          </p:nvPr>
        </p:nvSpPr>
        <p:spPr>
          <a:xfrm>
            <a:off x="1305850" y="3095125"/>
            <a:ext cx="514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means for every 83p you get €1.</a:t>
            </a:r>
            <a:endParaRPr/>
          </a:p>
        </p:txBody>
      </p:sp>
      <p:sp>
        <p:nvSpPr>
          <p:cNvPr id="1323" name="Google Shape;1323;p96"/>
          <p:cNvSpPr txBox="1"/>
          <p:nvPr>
            <p:ph idx="1" type="body"/>
          </p:nvPr>
        </p:nvSpPr>
        <p:spPr>
          <a:xfrm>
            <a:off x="310200" y="2827366"/>
            <a:ext cx="940500" cy="8562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€ : £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: 0.83	</a:t>
            </a:r>
            <a:endParaRPr/>
          </a:p>
        </p:txBody>
      </p:sp>
      <p:sp>
        <p:nvSpPr>
          <p:cNvPr id="1324" name="Google Shape;1324;p96"/>
          <p:cNvSpPr txBox="1"/>
          <p:nvPr>
            <p:ph idx="1" type="body"/>
          </p:nvPr>
        </p:nvSpPr>
        <p:spPr>
          <a:xfrm>
            <a:off x="310200" y="3908499"/>
            <a:ext cx="969900" cy="8562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€ : £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1 : 0.67</a:t>
            </a:r>
            <a:endParaRPr/>
          </a:p>
        </p:txBody>
      </p:sp>
      <p:sp>
        <p:nvSpPr>
          <p:cNvPr id="1325" name="Google Shape;1325;p96"/>
          <p:cNvSpPr txBox="1"/>
          <p:nvPr>
            <p:ph idx="1" type="body"/>
          </p:nvPr>
        </p:nvSpPr>
        <p:spPr>
          <a:xfrm>
            <a:off x="1305850" y="4190600"/>
            <a:ext cx="514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means for every 67p you get €1.</a:t>
            </a:r>
            <a:endParaRPr/>
          </a:p>
        </p:txBody>
      </p:sp>
      <p:cxnSp>
        <p:nvCxnSpPr>
          <p:cNvPr id="1326" name="Google Shape;1326;p96"/>
          <p:cNvCxnSpPr/>
          <p:nvPr/>
        </p:nvCxnSpPr>
        <p:spPr>
          <a:xfrm rot="10800000">
            <a:off x="6366225" y="3315050"/>
            <a:ext cx="273000" cy="40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7" name="Google Shape;1327;p96"/>
          <p:cNvSpPr txBox="1"/>
          <p:nvPr>
            <p:ph idx="1" type="body"/>
          </p:nvPr>
        </p:nvSpPr>
        <p:spPr>
          <a:xfrm>
            <a:off x="6678075" y="3603150"/>
            <a:ext cx="2142000" cy="7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euro costs you more here.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333" name="Google Shape;1333;p97"/>
          <p:cNvSpPr txBox="1"/>
          <p:nvPr>
            <p:ph idx="1" type="subTitle"/>
          </p:nvPr>
        </p:nvSpPr>
        <p:spPr>
          <a:xfrm>
            <a:off x="2398850" y="639600"/>
            <a:ext cx="996000" cy="98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£ : €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0.78 : 1</a:t>
            </a:r>
            <a:endParaRPr/>
          </a:p>
        </p:txBody>
      </p:sp>
      <p:sp>
        <p:nvSpPr>
          <p:cNvPr id="1334" name="Google Shape;1334;p97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euro costs more.</a:t>
            </a:r>
            <a:endParaRPr/>
          </a:p>
        </p:txBody>
      </p:sp>
      <p:sp>
        <p:nvSpPr>
          <p:cNvPr id="1335" name="Google Shape;1335;p97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Each euro costs less.</a:t>
            </a:r>
            <a:endParaRPr/>
          </a:p>
        </p:txBody>
      </p:sp>
      <p:sp>
        <p:nvSpPr>
          <p:cNvPr id="1336" name="Google Shape;1336;p97"/>
          <p:cNvSpPr txBox="1"/>
          <p:nvPr>
            <p:ph idx="1" type="subTitle"/>
          </p:nvPr>
        </p:nvSpPr>
        <p:spPr>
          <a:xfrm>
            <a:off x="3839650" y="868200"/>
            <a:ext cx="2792100" cy="32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a better deal than</a:t>
            </a:r>
            <a:endParaRPr/>
          </a:p>
        </p:txBody>
      </p:sp>
      <p:sp>
        <p:nvSpPr>
          <p:cNvPr id="1337" name="Google Shape;1337;p97"/>
          <p:cNvSpPr txBox="1"/>
          <p:nvPr>
            <p:ph idx="1" type="subTitle"/>
          </p:nvPr>
        </p:nvSpPr>
        <p:spPr>
          <a:xfrm>
            <a:off x="6430900" y="639600"/>
            <a:ext cx="1392900" cy="98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£ : €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0.87 : 1</a:t>
            </a:r>
            <a:endParaRPr/>
          </a:p>
        </p:txBody>
      </p:sp>
      <p:pic>
        <p:nvPicPr>
          <p:cNvPr id="1338" name="Google Shape;133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808" y="1819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008" y="4040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98"/>
          <p:cNvSpPr txBox="1"/>
          <p:nvPr>
            <p:ph idx="1" type="body"/>
          </p:nvPr>
        </p:nvSpPr>
        <p:spPr>
          <a:xfrm>
            <a:off x="324000" y="759300"/>
            <a:ext cx="8237700" cy="82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exchange rate</a:t>
            </a:r>
            <a:r>
              <a:rPr lang="en-GB"/>
              <a:t> for </a:t>
            </a:r>
            <a:r>
              <a:rPr lang="en-GB"/>
              <a:t>pounds</a:t>
            </a:r>
            <a:r>
              <a:rPr lang="en-GB"/>
              <a:t> to Australian dollars is: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£1 : $1.92</a:t>
            </a:r>
            <a:endParaRPr/>
          </a:p>
        </p:txBody>
      </p:sp>
      <p:sp>
        <p:nvSpPr>
          <p:cNvPr id="1345" name="Google Shape;134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Writing exchange rates as a ratio</a:t>
            </a:r>
            <a:endParaRPr/>
          </a:p>
        </p:txBody>
      </p:sp>
      <p:pic>
        <p:nvPicPr>
          <p:cNvPr id="1346" name="Google Shape;134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076" y="3519037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98"/>
          <p:cNvSpPr txBox="1"/>
          <p:nvPr/>
        </p:nvSpPr>
        <p:spPr>
          <a:xfrm>
            <a:off x="385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8" name="Google Shape;1348;p98"/>
          <p:cNvGrpSpPr/>
          <p:nvPr/>
        </p:nvGrpSpPr>
        <p:grpSpPr>
          <a:xfrm>
            <a:off x="1379119" y="2934772"/>
            <a:ext cx="2940731" cy="1600823"/>
            <a:chOff x="1531498" y="2096575"/>
            <a:chExt cx="1566802" cy="1316250"/>
          </a:xfrm>
        </p:grpSpPr>
        <p:pic>
          <p:nvPicPr>
            <p:cNvPr id="1349" name="Google Shape;1349;p98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531498" y="2096575"/>
              <a:ext cx="1566802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0" name="Google Shape;1350;p98"/>
            <p:cNvSpPr txBox="1"/>
            <p:nvPr/>
          </p:nvSpPr>
          <p:spPr>
            <a:xfrm>
              <a:off x="1658301" y="2175875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have £120 spending money for my holiday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  How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many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dollars will I get?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351" name="Google Shape;1351;p98"/>
          <p:cNvGraphicFramePr/>
          <p:nvPr/>
        </p:nvGraphicFramePr>
        <p:xfrm>
          <a:off x="54583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1130575"/>
                <a:gridCol w="113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2" name="Google Shape;1352;p98"/>
          <p:cNvSpPr/>
          <p:nvPr/>
        </p:nvSpPr>
        <p:spPr>
          <a:xfrm flipH="1" rot="-5400000">
            <a:off x="5085000" y="2537044"/>
            <a:ext cx="561300" cy="6993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98"/>
          <p:cNvSpPr txBox="1"/>
          <p:nvPr/>
        </p:nvSpPr>
        <p:spPr>
          <a:xfrm>
            <a:off x="4310838" y="2776788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54" name="Google Shape;1354;p98"/>
          <p:cNvGrpSpPr/>
          <p:nvPr/>
        </p:nvGrpSpPr>
        <p:grpSpPr>
          <a:xfrm>
            <a:off x="7526375" y="2634750"/>
            <a:ext cx="1317913" cy="561300"/>
            <a:chOff x="6764375" y="1872750"/>
            <a:chExt cx="1317913" cy="561300"/>
          </a:xfrm>
        </p:grpSpPr>
        <p:sp>
          <p:nvSpPr>
            <p:cNvPr id="1355" name="Google Shape;1355;p98"/>
            <p:cNvSpPr/>
            <p:nvPr/>
          </p:nvSpPr>
          <p:spPr>
            <a:xfrm rot="5400000">
              <a:off x="6782225" y="1854900"/>
              <a:ext cx="561300" cy="5970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98"/>
            <p:cNvSpPr txBox="1"/>
            <p:nvPr/>
          </p:nvSpPr>
          <p:spPr>
            <a:xfrm>
              <a:off x="7382988" y="2014788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120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357" name="Google Shape;1357;p98"/>
          <p:cNvGraphicFramePr/>
          <p:nvPr/>
        </p:nvGraphicFramePr>
        <p:xfrm>
          <a:off x="54583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1130575"/>
                <a:gridCol w="113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230.40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99"/>
          <p:cNvSpPr txBox="1"/>
          <p:nvPr>
            <p:ph idx="1" type="body"/>
          </p:nvPr>
        </p:nvSpPr>
        <p:spPr>
          <a:xfrm>
            <a:off x="324000" y="759300"/>
            <a:ext cx="8237700" cy="82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exchange rate</a:t>
            </a:r>
            <a:r>
              <a:rPr lang="en-GB"/>
              <a:t> for pounds to Australian dollars is: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£1 : $1.92</a:t>
            </a:r>
            <a:endParaRPr/>
          </a:p>
        </p:txBody>
      </p:sp>
      <p:sp>
        <p:nvSpPr>
          <p:cNvPr id="1363" name="Google Shape;1363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pic>
        <p:nvPicPr>
          <p:cNvPr id="1364" name="Google Shape;136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66076" y="3519037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99"/>
          <p:cNvSpPr txBox="1"/>
          <p:nvPr/>
        </p:nvSpPr>
        <p:spPr>
          <a:xfrm>
            <a:off x="385750" y="4522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66" name="Google Shape;1366;p99"/>
          <p:cNvGraphicFramePr/>
          <p:nvPr/>
        </p:nvGraphicFramePr>
        <p:xfrm>
          <a:off x="47725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1571275"/>
                <a:gridCol w="1571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7" name="Google Shape;1367;p99"/>
          <p:cNvGraphicFramePr/>
          <p:nvPr/>
        </p:nvGraphicFramePr>
        <p:xfrm>
          <a:off x="47725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1571275"/>
                <a:gridCol w="1571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1.92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68" name="Google Shape;1368;p99"/>
          <p:cNvGrpSpPr/>
          <p:nvPr/>
        </p:nvGrpSpPr>
        <p:grpSpPr>
          <a:xfrm>
            <a:off x="1150529" y="2007800"/>
            <a:ext cx="2940721" cy="2297499"/>
            <a:chOff x="1409707" y="1334388"/>
            <a:chExt cx="1566797" cy="1889080"/>
          </a:xfrm>
        </p:grpSpPr>
        <p:pic>
          <p:nvPicPr>
            <p:cNvPr id="1369" name="Google Shape;1369;p9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409707" y="1334388"/>
              <a:ext cx="1566797" cy="1889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0" name="Google Shape;1370;p99"/>
            <p:cNvSpPr txBox="1"/>
            <p:nvPr/>
          </p:nvSpPr>
          <p:spPr>
            <a:xfrm>
              <a:off x="1536505" y="1486679"/>
              <a:ext cx="1399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didn’t spend all of my money.  I have brought home $48.  How much will I have after I have converted it back into pounds?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71" name="Google Shape;1371;p99"/>
          <p:cNvSpPr txBox="1"/>
          <p:nvPr/>
        </p:nvSpPr>
        <p:spPr>
          <a:xfrm>
            <a:off x="5994163" y="2159988"/>
            <a:ext cx="699300" cy="2772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1.92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72" name="Google Shape;1372;p99"/>
          <p:cNvCxnSpPr/>
          <p:nvPr/>
        </p:nvCxnSpPr>
        <p:spPr>
          <a:xfrm>
            <a:off x="6051625" y="2594575"/>
            <a:ext cx="5496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3" name="Google Shape;1373;p99"/>
          <p:cNvCxnSpPr/>
          <p:nvPr/>
        </p:nvCxnSpPr>
        <p:spPr>
          <a:xfrm rot="10800000">
            <a:off x="6057750" y="3156200"/>
            <a:ext cx="558600" cy="10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99"/>
          <p:cNvSpPr txBox="1"/>
          <p:nvPr/>
        </p:nvSpPr>
        <p:spPr>
          <a:xfrm>
            <a:off x="5994163" y="2777275"/>
            <a:ext cx="699300" cy="2772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1.92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00"/>
          <p:cNvSpPr txBox="1"/>
          <p:nvPr>
            <p:ph idx="1" type="body"/>
          </p:nvPr>
        </p:nvSpPr>
        <p:spPr>
          <a:xfrm>
            <a:off x="324000" y="759300"/>
            <a:ext cx="8237700" cy="13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Spot the mistake.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/>
              <a:t>£1 : €1.15</a:t>
            </a:r>
            <a:endParaRPr sz="2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Use this </a:t>
            </a:r>
            <a:r>
              <a:rPr b="1" lang="en-GB"/>
              <a:t>exchange rate</a:t>
            </a:r>
            <a:r>
              <a:rPr lang="en-GB"/>
              <a:t> to convert </a:t>
            </a:r>
            <a:r>
              <a:rPr lang="en-GB"/>
              <a:t>€</a:t>
            </a:r>
            <a:r>
              <a:rPr lang="en-GB"/>
              <a:t>46 into pounds.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380" name="Google Shape;1380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graphicFrame>
        <p:nvGraphicFramePr>
          <p:cNvPr id="1381" name="Google Shape;1381;p100"/>
          <p:cNvGraphicFramePr/>
          <p:nvPr/>
        </p:nvGraphicFramePr>
        <p:xfrm>
          <a:off x="3049200" y="222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1522800"/>
                <a:gridCol w="1522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52.90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2" name="Google Shape;1382;p100"/>
          <p:cNvSpPr/>
          <p:nvPr/>
        </p:nvSpPr>
        <p:spPr>
          <a:xfrm flipH="1" rot="-5400000">
            <a:off x="2622225" y="2941969"/>
            <a:ext cx="561300" cy="699300"/>
          </a:xfrm>
          <a:prstGeom prst="arc">
            <a:avLst>
              <a:gd fmla="val 10729459" name="adj1"/>
              <a:gd fmla="val 4766" name="adj2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00"/>
          <p:cNvSpPr txBox="1"/>
          <p:nvPr/>
        </p:nvSpPr>
        <p:spPr>
          <a:xfrm>
            <a:off x="1848063" y="3181713"/>
            <a:ext cx="69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46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84" name="Google Shape;1384;p100"/>
          <p:cNvGrpSpPr/>
          <p:nvPr/>
        </p:nvGrpSpPr>
        <p:grpSpPr>
          <a:xfrm>
            <a:off x="5978000" y="3039675"/>
            <a:ext cx="1317913" cy="561300"/>
            <a:chOff x="6764375" y="1872750"/>
            <a:chExt cx="1317913" cy="561300"/>
          </a:xfrm>
        </p:grpSpPr>
        <p:sp>
          <p:nvSpPr>
            <p:cNvPr id="1385" name="Google Shape;1385;p100"/>
            <p:cNvSpPr/>
            <p:nvPr/>
          </p:nvSpPr>
          <p:spPr>
            <a:xfrm rot="5400000">
              <a:off x="6782225" y="1854900"/>
              <a:ext cx="561300" cy="597000"/>
            </a:xfrm>
            <a:prstGeom prst="arc">
              <a:avLst>
                <a:gd fmla="val 10729459" name="adj1"/>
                <a:gd fmla="val 4766" name="adj2"/>
              </a:avLst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00"/>
            <p:cNvSpPr txBox="1"/>
            <p:nvPr/>
          </p:nvSpPr>
          <p:spPr>
            <a:xfrm>
              <a:off x="7382988" y="2014788"/>
              <a:ext cx="69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 46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7" name="Google Shape;1387;p100"/>
          <p:cNvSpPr txBox="1"/>
          <p:nvPr/>
        </p:nvSpPr>
        <p:spPr>
          <a:xfrm>
            <a:off x="324125" y="4091400"/>
            <a:ext cx="83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46 was €46 so should have been in the right column under 1.15.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the missing values in the following tables given the </a:t>
            </a:r>
            <a:r>
              <a:rPr b="1" lang="en-GB"/>
              <a:t>exchange rate</a:t>
            </a:r>
            <a:r>
              <a:rPr lang="en-GB"/>
              <a:t> in the top row.</a:t>
            </a:r>
            <a:endParaRPr/>
          </a:p>
        </p:txBody>
      </p:sp>
      <p:sp>
        <p:nvSpPr>
          <p:cNvPr id="1393" name="Google Shape;1393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394" name="Google Shape;1394;p101"/>
          <p:cNvSpPr txBox="1"/>
          <p:nvPr/>
        </p:nvSpPr>
        <p:spPr>
          <a:xfrm>
            <a:off x="323993" y="16200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01"/>
          <p:cNvSpPr txBox="1"/>
          <p:nvPr/>
        </p:nvSpPr>
        <p:spPr>
          <a:xfrm>
            <a:off x="3219593" y="16200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6" name="Google Shape;1396;p101"/>
          <p:cNvSpPr txBox="1"/>
          <p:nvPr/>
        </p:nvSpPr>
        <p:spPr>
          <a:xfrm>
            <a:off x="6115193" y="16200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97" name="Google Shape;1397;p101"/>
          <p:cNvGraphicFramePr/>
          <p:nvPr/>
        </p:nvGraphicFramePr>
        <p:xfrm>
          <a:off x="3851400" y="33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2312.50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8" name="Google Shape;1398;p101"/>
          <p:cNvSpPr txBox="1"/>
          <p:nvPr/>
        </p:nvSpPr>
        <p:spPr>
          <a:xfrm>
            <a:off x="323993" y="33726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01"/>
          <p:cNvSpPr txBox="1"/>
          <p:nvPr/>
        </p:nvSpPr>
        <p:spPr>
          <a:xfrm>
            <a:off x="3219593" y="33726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0" name="Google Shape;1400;p101"/>
          <p:cNvSpPr txBox="1"/>
          <p:nvPr/>
        </p:nvSpPr>
        <p:spPr>
          <a:xfrm>
            <a:off x="6115193" y="33726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01" name="Google Shape;1401;p101"/>
          <p:cNvGraphicFramePr/>
          <p:nvPr/>
        </p:nvGraphicFramePr>
        <p:xfrm>
          <a:off x="930275" y="16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2" name="Google Shape;1402;p101"/>
          <p:cNvGraphicFramePr/>
          <p:nvPr/>
        </p:nvGraphicFramePr>
        <p:xfrm>
          <a:off x="3838638" y="16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3" name="Google Shape;1403;p101"/>
          <p:cNvGraphicFramePr/>
          <p:nvPr/>
        </p:nvGraphicFramePr>
        <p:xfrm>
          <a:off x="6747000" y="16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4" name="Google Shape;1404;p101"/>
          <p:cNvGraphicFramePr/>
          <p:nvPr/>
        </p:nvGraphicFramePr>
        <p:xfrm>
          <a:off x="930275" y="33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22.50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5" name="Google Shape;1405;p101"/>
          <p:cNvGraphicFramePr/>
          <p:nvPr/>
        </p:nvGraphicFramePr>
        <p:xfrm>
          <a:off x="6747000" y="33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Andeep is comparing prices of sunglasses in the UK, the USA and France.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Rank the following from cheapest to most expensive.</a:t>
            </a:r>
            <a:endParaRPr/>
          </a:p>
        </p:txBody>
      </p:sp>
      <p:sp>
        <p:nvSpPr>
          <p:cNvPr id="1411" name="Google Shape;1411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412" name="Google Shape;1412;p102"/>
          <p:cNvSpPr txBox="1"/>
          <p:nvPr/>
        </p:nvSpPr>
        <p:spPr>
          <a:xfrm>
            <a:off x="7412925" y="2021400"/>
            <a:ext cx="1219800" cy="3387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 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€1.20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3" name="Google Shape;141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2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02"/>
          <p:cNvSpPr/>
          <p:nvPr/>
        </p:nvSpPr>
        <p:spPr>
          <a:xfrm rot="1964670">
            <a:off x="5552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£45.00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5" name="Google Shape;141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1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02"/>
          <p:cNvSpPr/>
          <p:nvPr/>
        </p:nvSpPr>
        <p:spPr>
          <a:xfrm rot="1964670">
            <a:off x="61940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€54.24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7" name="Google Shape;141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8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8" name="Google Shape;1418;p102"/>
          <p:cNvSpPr/>
          <p:nvPr/>
        </p:nvSpPr>
        <p:spPr>
          <a:xfrm rot="1964670">
            <a:off x="34508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$57.00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02"/>
          <p:cNvSpPr txBox="1"/>
          <p:nvPr/>
        </p:nvSpPr>
        <p:spPr>
          <a:xfrm>
            <a:off x="4503374" y="2021400"/>
            <a:ext cx="1281900" cy="27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 : $1.25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03"/>
          <p:cNvSpPr txBox="1"/>
          <p:nvPr>
            <p:ph idx="1" type="body"/>
          </p:nvPr>
        </p:nvSpPr>
        <p:spPr>
          <a:xfrm>
            <a:off x="324000" y="759300"/>
            <a:ext cx="8237700" cy="7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Find the missing values in the following tables given the </a:t>
            </a:r>
            <a:r>
              <a:rPr b="1" lang="en-GB"/>
              <a:t>exchange rate</a:t>
            </a:r>
            <a:r>
              <a:rPr lang="en-GB"/>
              <a:t> in the top row.</a:t>
            </a:r>
            <a:endParaRPr/>
          </a:p>
        </p:txBody>
      </p:sp>
      <p:sp>
        <p:nvSpPr>
          <p:cNvPr id="1425" name="Google Shape;1425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426" name="Google Shape;1426;p103"/>
          <p:cNvSpPr txBox="1"/>
          <p:nvPr/>
        </p:nvSpPr>
        <p:spPr>
          <a:xfrm>
            <a:off x="323993" y="16200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03"/>
          <p:cNvSpPr txBox="1"/>
          <p:nvPr/>
        </p:nvSpPr>
        <p:spPr>
          <a:xfrm>
            <a:off x="3219593" y="16200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8" name="Google Shape;1428;p103"/>
          <p:cNvSpPr txBox="1"/>
          <p:nvPr/>
        </p:nvSpPr>
        <p:spPr>
          <a:xfrm>
            <a:off x="6115193" y="16200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29" name="Google Shape;1429;p103"/>
          <p:cNvGraphicFramePr/>
          <p:nvPr/>
        </p:nvGraphicFramePr>
        <p:xfrm>
          <a:off x="3851400" y="33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12.50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2312.50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0" name="Google Shape;1430;p103"/>
          <p:cNvSpPr txBox="1"/>
          <p:nvPr/>
        </p:nvSpPr>
        <p:spPr>
          <a:xfrm>
            <a:off x="323993" y="33726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1" name="Google Shape;1431;p103"/>
          <p:cNvSpPr txBox="1"/>
          <p:nvPr/>
        </p:nvSpPr>
        <p:spPr>
          <a:xfrm>
            <a:off x="3219593" y="33726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2" name="Google Shape;1432;p103"/>
          <p:cNvSpPr txBox="1"/>
          <p:nvPr/>
        </p:nvSpPr>
        <p:spPr>
          <a:xfrm>
            <a:off x="6115193" y="3372600"/>
            <a:ext cx="281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33" name="Google Shape;1433;p103"/>
          <p:cNvGraphicFramePr/>
          <p:nvPr/>
        </p:nvGraphicFramePr>
        <p:xfrm>
          <a:off x="930275" y="16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322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4" name="Google Shape;1434;p103"/>
          <p:cNvGraphicFramePr/>
          <p:nvPr/>
        </p:nvGraphicFramePr>
        <p:xfrm>
          <a:off x="3838638" y="16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0.79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39.50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5" name="Google Shape;1435;p103"/>
          <p:cNvGraphicFramePr/>
          <p:nvPr/>
        </p:nvGraphicFramePr>
        <p:xfrm>
          <a:off x="6747000" y="166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¥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2775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6" name="Google Shape;1436;p103"/>
          <p:cNvGraphicFramePr/>
          <p:nvPr/>
        </p:nvGraphicFramePr>
        <p:xfrm>
          <a:off x="930275" y="33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22.50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7" name="Google Shape;1437;p103"/>
          <p:cNvGraphicFramePr/>
          <p:nvPr/>
        </p:nvGraphicFramePr>
        <p:xfrm>
          <a:off x="6747000" y="337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04"/>
          <p:cNvSpPr txBox="1"/>
          <p:nvPr>
            <p:ph idx="1" type="body"/>
          </p:nvPr>
        </p:nvSpPr>
        <p:spPr>
          <a:xfrm>
            <a:off x="324000" y="759300"/>
            <a:ext cx="8237700" cy="130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 Andeep is comparing prices of sunglasses in the UK, the USA and France.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Rank the following from cheapest to most expensive.</a:t>
            </a:r>
            <a:endParaRPr/>
          </a:p>
        </p:txBody>
      </p:sp>
      <p:sp>
        <p:nvSpPr>
          <p:cNvPr id="1443" name="Google Shape;1443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Writing exchange rates as a ratio</a:t>
            </a:r>
            <a:endParaRPr/>
          </a:p>
        </p:txBody>
      </p:sp>
      <p:sp>
        <p:nvSpPr>
          <p:cNvPr id="1444" name="Google Shape;1444;p104"/>
          <p:cNvSpPr txBox="1"/>
          <p:nvPr/>
        </p:nvSpPr>
        <p:spPr>
          <a:xfrm>
            <a:off x="7348824" y="2021400"/>
            <a:ext cx="1220100" cy="27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 : €1.20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2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104"/>
          <p:cNvSpPr/>
          <p:nvPr/>
        </p:nvSpPr>
        <p:spPr>
          <a:xfrm rot="1964670">
            <a:off x="5552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£45.00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7" name="Google Shape;144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91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04"/>
          <p:cNvSpPr/>
          <p:nvPr/>
        </p:nvSpPr>
        <p:spPr>
          <a:xfrm rot="1964670">
            <a:off x="61940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€54.24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49" name="Google Shape;1449;p104"/>
          <p:cNvGraphicFramePr/>
          <p:nvPr/>
        </p:nvGraphicFramePr>
        <p:xfrm>
          <a:off x="6645275" y="3341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€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45.20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54.24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0" name="Google Shape;1450;p104"/>
          <p:cNvSpPr txBox="1"/>
          <p:nvPr/>
        </p:nvSpPr>
        <p:spPr>
          <a:xfrm>
            <a:off x="324125" y="4548600"/>
            <a:ext cx="83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 order from cheapest to most expensive: UK, France &amp; USA.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51" name="Google Shape;145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800" y="2525975"/>
            <a:ext cx="1219950" cy="50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2" name="Google Shape;1452;p104"/>
          <p:cNvSpPr/>
          <p:nvPr/>
        </p:nvSpPr>
        <p:spPr>
          <a:xfrm rot="1964670">
            <a:off x="3450867" y="2334958"/>
            <a:ext cx="1114267" cy="337108"/>
          </a:xfrm>
          <a:prstGeom prst="homePlate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$57.00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104"/>
          <p:cNvSpPr txBox="1"/>
          <p:nvPr/>
        </p:nvSpPr>
        <p:spPr>
          <a:xfrm>
            <a:off x="4579574" y="2021400"/>
            <a:ext cx="1119600" cy="277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£1 : $1.25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54" name="Google Shape;1454;p104"/>
          <p:cNvGraphicFramePr/>
          <p:nvPr/>
        </p:nvGraphicFramePr>
        <p:xfrm>
          <a:off x="3622800" y="329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{0F1BFFB5-1405-464F-8179-D40A586887F4}</a:tableStyleId>
              </a:tblPr>
              <a:tblGrid>
                <a:gridCol w="956550"/>
                <a:gridCol w="956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$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45.60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105"/>
          <p:cNvSpPr txBox="1"/>
          <p:nvPr>
            <p:ph idx="1" type="body"/>
          </p:nvPr>
        </p:nvSpPr>
        <p:spPr>
          <a:xfrm>
            <a:off x="324000" y="622800"/>
            <a:ext cx="8113800" cy="41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Exchanges rates</a:t>
            </a:r>
            <a:r>
              <a:rPr lang="en-GB" sz="2000"/>
              <a:t> can be represented graphically.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Exchange rates can be represented on a double number line.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	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Any </a:t>
            </a:r>
            <a:r>
              <a:rPr b="1" lang="en-GB" sz="2000"/>
              <a:t>exchange rate</a:t>
            </a:r>
            <a:r>
              <a:rPr lang="en-GB" sz="2000"/>
              <a:t> can be shown as a ratio.  E.g. </a:t>
            </a:r>
            <a:r>
              <a:rPr lang="en-GB" sz="1800"/>
              <a:t>£1</a:t>
            </a:r>
            <a:r>
              <a:rPr lang="en-GB"/>
              <a:t> </a:t>
            </a:r>
            <a:r>
              <a:rPr lang="en-GB" sz="1800"/>
              <a:t>:</a:t>
            </a:r>
            <a:r>
              <a:rPr lang="en-GB"/>
              <a:t> </a:t>
            </a:r>
            <a:r>
              <a:rPr lang="en-GB" sz="1800"/>
              <a:t>$1.25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		</a:t>
            </a:r>
            <a:endParaRPr sz="2000"/>
          </a:p>
        </p:txBody>
      </p:sp>
      <p:sp>
        <p:nvSpPr>
          <p:cNvPr id="1460" name="Google Shape;1460;p105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Describing exchange rates with ratio</a:t>
            </a:r>
            <a:endParaRPr/>
          </a:p>
        </p:txBody>
      </p:sp>
      <p:pic>
        <p:nvPicPr>
          <p:cNvPr id="1461" name="Google Shape;1461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750" y="1080625"/>
            <a:ext cx="1929647" cy="144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2" name="Google Shape;1462;p105"/>
          <p:cNvSpPr txBox="1"/>
          <p:nvPr/>
        </p:nvSpPr>
        <p:spPr>
          <a:xfrm>
            <a:off x="3369600" y="1121800"/>
            <a:ext cx="3891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can be used to estimate                 conversions.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Exchange rates represented on a number line, taken from Slide 11." id="1463" name="Google Shape;1463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50" y="2903273"/>
            <a:ext cx="2036150" cy="135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9" name="Google Shape;1469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