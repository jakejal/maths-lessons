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5" r:id="rId4"/>
    <p:sldMasterId id="2147483666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</p:sldIdLst>
  <p:sldSz cy="10692000" cx="7560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7507C816-9995-43A5-901E-04537D8B1C4D}">
  <a:tblStyle styleId="{7507C816-9995-43A5-901E-04537D8B1C4D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9" Type="http://schemas.openxmlformats.org/officeDocument/2006/relationships/slide" Target="slides/slide3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279934fec8d_0_131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279934fec8d_0_1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2a919d4e248_0_0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2a919d4e24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g2a919d4e248_0_173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8" name="Google Shape;338;g2a919d4e248_0_1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g279934fec8d_0_136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8" name="Google Shape;368;g279934fec8d_0_1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7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3.png"/><Relationship Id="rId5" Type="http://schemas.openxmlformats.org/officeDocument/2006/relationships/image" Target="../media/image7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7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7.png"/><Relationship Id="rId4" Type="http://schemas.openxmlformats.org/officeDocument/2006/relationships/hyperlink" Target="https://www.nationalarchives.gov.uk/doc/open-government-licence/version/3/" TargetMode="External"/><Relationship Id="rId5" Type="http://schemas.openxmlformats.org/officeDocument/2006/relationships/hyperlink" Target="https://www.thenational.academy/legal/terms-and-conditions" TargetMode="Externa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3.png"/><Relationship Id="rId5" Type="http://schemas.openxmlformats.org/officeDocument/2006/relationships/image" Target="../media/image7.png"/><Relationship Id="rId6" Type="http://schemas.openxmlformats.org/officeDocument/2006/relationships/hyperlink" Target="https://www.nationalarchives.gov.uk/doc/open-government-licence/version/3/" TargetMode="External"/><Relationship Id="rId7" Type="http://schemas.openxmlformats.org/officeDocument/2006/relationships/hyperlink" Target="https://www.thenational.academy/legal/terms-and-conditions" TargetMode="Externa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3.png"/><Relationship Id="rId5" Type="http://schemas.openxmlformats.org/officeDocument/2006/relationships/image" Target="../media/image7.png"/><Relationship Id="rId6" Type="http://schemas.openxmlformats.org/officeDocument/2006/relationships/hyperlink" Target="https://www.nationalarchives.gov.uk/doc/open-government-licence/version/3/" TargetMode="External"/><Relationship Id="rId7" Type="http://schemas.openxmlformats.org/officeDocument/2006/relationships/hyperlink" Target="https://www.thenational.academy/legal/terms-and-conditions" TargetMode="Externa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3.png"/><Relationship Id="rId5" Type="http://schemas.openxmlformats.org/officeDocument/2006/relationships/image" Target="../media/image7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7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7.png"/><Relationship Id="rId4" Type="http://schemas.openxmlformats.org/officeDocument/2006/relationships/hyperlink" Target="https://www.nationalarchives.gov.uk/doc/open-government-licence/version/3/" TargetMode="External"/><Relationship Id="rId5" Type="http://schemas.openxmlformats.org/officeDocument/2006/relationships/hyperlink" Target="https://www.thenational.academy/legal/terms-and-conditions" TargetMode="Externa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3.png"/><Relationship Id="rId5" Type="http://schemas.openxmlformats.org/officeDocument/2006/relationships/image" Target="../media/image7.png"/><Relationship Id="rId6" Type="http://schemas.openxmlformats.org/officeDocument/2006/relationships/hyperlink" Target="https://www.nationalarchives.gov.uk/doc/open-government-licence/version/3/" TargetMode="External"/><Relationship Id="rId7" Type="http://schemas.openxmlformats.org/officeDocument/2006/relationships/hyperlink" Target="https://www.thenational.academy/legal/terms-and-conditions" TargetMode="Externa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 FRONT Answers 1">
  <p:cSld name="SECTION_HEADER_1_1_1_1_1_1_1_1_1_2_2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468000" y="266700"/>
            <a:ext cx="5577000" cy="4320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1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2" name="Google Shape;12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2"/>
          <p:cNvPicPr preferRelativeResize="0"/>
          <p:nvPr/>
        </p:nvPicPr>
        <p:blipFill rotWithShape="1">
          <a:blip r:embed="rId3">
            <a:alphaModFix/>
          </a:blip>
          <a:srcRect b="0" l="4603" r="4603" t="0"/>
          <a:stretch/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Google Shape;14;p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61625" y="161271"/>
            <a:ext cx="805956" cy="498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544">
          <p15:clr>
            <a:srgbClr val="D9D9D9"/>
          </p15:clr>
        </p15:guide>
        <p15:guide id="2" orient="horz" pos="1916">
          <p15:clr>
            <a:srgbClr val="D9D9D9"/>
          </p15:clr>
        </p15:guide>
        <p15:guide id="3" orient="horz" pos="3368">
          <p15:clr>
            <a:srgbClr val="D9D9D9"/>
          </p15:clr>
        </p15:guide>
        <p15:guide id="4" orient="horz" pos="4762">
          <p15:clr>
            <a:srgbClr val="D9D9D9"/>
          </p15:clr>
        </p15:guide>
        <p15:guide id="5" pos="295">
          <p15:clr>
            <a:srgbClr val="FF0000"/>
          </p15:clr>
        </p15:guide>
        <p15:guide id="6" pos="4467">
          <p15:clr>
            <a:srgbClr val="FF0000"/>
          </p15:clr>
        </p15:guide>
        <p15:guide id="7" pos="1519">
          <p15:clr>
            <a:srgbClr val="D9D9D9"/>
          </p15:clr>
        </p15:guide>
        <p15:guide id="8" pos="1764">
          <p15:clr>
            <a:srgbClr val="D9D9D9"/>
          </p15:clr>
        </p15:guide>
        <p15:guide id="9" pos="3243">
          <p15:clr>
            <a:srgbClr val="D9D9D9"/>
          </p15:clr>
        </p15:guide>
        <p15:guide id="10" pos="2998">
          <p15:clr>
            <a:srgbClr val="D9D9D9"/>
          </p15:clr>
        </p15:guide>
        <p15:guide id="11" pos="3120">
          <p15:clr>
            <a:srgbClr val="D9D9D9"/>
          </p15:clr>
        </p15:guide>
        <p15:guide id="12" pos="1642">
          <p15:clr>
            <a:srgbClr val="D9D9D9"/>
          </p15:clr>
        </p15:guide>
        <p15:guide id="13" pos="2381">
          <p15:clr>
            <a:srgbClr val="D9D9D9"/>
          </p15:clr>
        </p15:guide>
        <p15:guide id="14" pos="2154">
          <p15:clr>
            <a:srgbClr val="FF0000"/>
          </p15:clr>
        </p15:guide>
        <p15:guide id="15" pos="2608">
          <p15:clr>
            <a:srgbClr val="FF0000"/>
          </p15:clr>
        </p15:guide>
        <p15:guide id="16" orient="horz" pos="227">
          <p15:clr>
            <a:srgbClr val="FF000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 FRONT Answers 1 1">
  <p:cSld name="SECTION_HEADER_1_1_1_1_1_1_1_1_1_2_1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title"/>
          </p:nvPr>
        </p:nvSpPr>
        <p:spPr>
          <a:xfrm>
            <a:off x="468000" y="266700"/>
            <a:ext cx="5577000" cy="4320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1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466825" y="178015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3"/>
          <p:cNvSpPr txBox="1"/>
          <p:nvPr>
            <p:ph idx="2" type="subTitle"/>
          </p:nvPr>
        </p:nvSpPr>
        <p:spPr>
          <a:xfrm>
            <a:off x="2807400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3" type="subTitle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4" type="subTitle"/>
          </p:nvPr>
        </p:nvSpPr>
        <p:spPr>
          <a:xfrm>
            <a:off x="4127250" y="30420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5" type="subTitle"/>
          </p:nvPr>
        </p:nvSpPr>
        <p:spPr>
          <a:xfrm>
            <a:off x="468000" y="5866375"/>
            <a:ext cx="6581700" cy="41058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idx="6" type="subTitle"/>
          </p:nvPr>
        </p:nvSpPr>
        <p:spPr>
          <a:xfrm>
            <a:off x="466825" y="30420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7" type="subTitle"/>
          </p:nvPr>
        </p:nvSpPr>
        <p:spPr>
          <a:xfrm>
            <a:off x="466825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8" type="subTitle"/>
          </p:nvPr>
        </p:nvSpPr>
        <p:spPr>
          <a:xfrm>
            <a:off x="5147975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5" name="Google Shape;25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6" name="Google Shape;26;p3"/>
          <p:cNvPicPr preferRelativeResize="0"/>
          <p:nvPr/>
        </p:nvPicPr>
        <p:blipFill rotWithShape="1">
          <a:blip r:embed="rId3">
            <a:alphaModFix/>
          </a:blip>
          <a:srcRect b="0" l="4603" r="4603" t="0"/>
          <a:stretch/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7" name="Google Shape;27;p3"/>
          <p:cNvGrpSpPr/>
          <p:nvPr/>
        </p:nvGrpSpPr>
        <p:grpSpPr>
          <a:xfrm>
            <a:off x="466900" y="962525"/>
            <a:ext cx="2953200" cy="162000"/>
            <a:chOff x="466900" y="962525"/>
            <a:chExt cx="2953200" cy="162000"/>
          </a:xfrm>
        </p:grpSpPr>
        <p:sp>
          <p:nvSpPr>
            <p:cNvPr id="28" name="Google Shape;28;p3"/>
            <p:cNvSpPr txBox="1"/>
            <p:nvPr/>
          </p:nvSpPr>
          <p:spPr>
            <a:xfrm>
              <a:off x="466900" y="962525"/>
              <a:ext cx="29532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</a:t>
              </a: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: </a:t>
              </a:r>
              <a:endParaRPr b="1" sz="10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29" name="Google Shape;29;p3"/>
            <p:cNvCxnSpPr/>
            <p:nvPr/>
          </p:nvCxnSpPr>
          <p:spPr>
            <a:xfrm flipH="1" rot="10800000">
              <a:off x="943904" y="1116425"/>
              <a:ext cx="1998900" cy="81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pic>
        <p:nvPicPr>
          <p:cNvPr id="30" name="Google Shape;30;p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61625" y="161271"/>
            <a:ext cx="805956" cy="498600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Google Shape;31;p3"/>
          <p:cNvSpPr txBox="1"/>
          <p:nvPr>
            <p:ph idx="9" type="subTitle"/>
          </p:nvPr>
        </p:nvSpPr>
        <p:spPr>
          <a:xfrm>
            <a:off x="466825" y="13698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544">
          <p15:clr>
            <a:srgbClr val="D9D9D9"/>
          </p15:clr>
        </p15:guide>
        <p15:guide id="2" orient="horz" pos="1916">
          <p15:clr>
            <a:srgbClr val="D9D9D9"/>
          </p15:clr>
        </p15:guide>
        <p15:guide id="3" orient="horz" pos="3368">
          <p15:clr>
            <a:srgbClr val="D9D9D9"/>
          </p15:clr>
        </p15:guide>
        <p15:guide id="4" orient="horz" pos="4762">
          <p15:clr>
            <a:srgbClr val="D9D9D9"/>
          </p15:clr>
        </p15:guide>
        <p15:guide id="5" pos="295">
          <p15:clr>
            <a:srgbClr val="FF0000"/>
          </p15:clr>
        </p15:guide>
        <p15:guide id="6" pos="4467">
          <p15:clr>
            <a:srgbClr val="FF0000"/>
          </p15:clr>
        </p15:guide>
        <p15:guide id="7" pos="1519">
          <p15:clr>
            <a:srgbClr val="D9D9D9"/>
          </p15:clr>
        </p15:guide>
        <p15:guide id="8" pos="1764">
          <p15:clr>
            <a:srgbClr val="D9D9D9"/>
          </p15:clr>
        </p15:guide>
        <p15:guide id="9" pos="3243">
          <p15:clr>
            <a:srgbClr val="D9D9D9"/>
          </p15:clr>
        </p15:guide>
        <p15:guide id="10" pos="2998">
          <p15:clr>
            <a:srgbClr val="D9D9D9"/>
          </p15:clr>
        </p15:guide>
        <p15:guide id="11" pos="3120">
          <p15:clr>
            <a:srgbClr val="D9D9D9"/>
          </p15:clr>
        </p15:guide>
        <p15:guide id="12" pos="1642">
          <p15:clr>
            <a:srgbClr val="D9D9D9"/>
          </p15:clr>
        </p15:guide>
        <p15:guide id="13" pos="2381">
          <p15:clr>
            <a:srgbClr val="D9D9D9"/>
          </p15:clr>
        </p15:guide>
        <p15:guide id="14" pos="2154">
          <p15:clr>
            <a:srgbClr val="FF0000"/>
          </p15:clr>
        </p15:guide>
        <p15:guide id="15" pos="2608">
          <p15:clr>
            <a:srgbClr val="FF0000"/>
          </p15:clr>
        </p15:guide>
        <p15:guide id="16" orient="horz" pos="227">
          <p15:clr>
            <a:srgbClr val="FF000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1">
  <p:cSld name="SECTION_HEADER_1_1_1_1_1_1_1_1_1_1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4"/>
          <p:cNvSpPr txBox="1"/>
          <p:nvPr>
            <p:ph idx="1" type="subTitle"/>
          </p:nvPr>
        </p:nvSpPr>
        <p:spPr>
          <a:xfrm>
            <a:off x="466825" y="162775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4"/>
          <p:cNvSpPr txBox="1"/>
          <p:nvPr>
            <p:ph idx="2" type="subTitle"/>
          </p:nvPr>
        </p:nvSpPr>
        <p:spPr>
          <a:xfrm>
            <a:off x="4127250" y="28896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"/>
          <p:cNvSpPr txBox="1"/>
          <p:nvPr>
            <p:ph idx="3" type="subTitle"/>
          </p:nvPr>
        </p:nvSpPr>
        <p:spPr>
          <a:xfrm>
            <a:off x="466825" y="28896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6" name="Google Shape;36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37" name="Google Shape;37;p4"/>
          <p:cNvSpPr txBox="1"/>
          <p:nvPr>
            <p:ph idx="4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2">
  <p:cSld name="SECTION_HEADER_1_1_1_1_1_1_1_1_1_1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5"/>
          <p:cNvSpPr txBox="1"/>
          <p:nvPr>
            <p:ph idx="1" type="subTitle"/>
          </p:nvPr>
        </p:nvSpPr>
        <p:spPr>
          <a:xfrm>
            <a:off x="2807400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5"/>
          <p:cNvSpPr txBox="1"/>
          <p:nvPr>
            <p:ph idx="2" type="subTitle"/>
          </p:nvPr>
        </p:nvSpPr>
        <p:spPr>
          <a:xfrm>
            <a:off x="467950" y="2493013"/>
            <a:ext cx="6624000" cy="41058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idx="3" type="subTitle"/>
          </p:nvPr>
        </p:nvSpPr>
        <p:spPr>
          <a:xfrm>
            <a:off x="466825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idx="4" type="subTitle"/>
          </p:nvPr>
        </p:nvSpPr>
        <p:spPr>
          <a:xfrm>
            <a:off x="5147975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43" name="Google Shape;43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44" name="Google Shape;44;p5"/>
          <p:cNvSpPr txBox="1"/>
          <p:nvPr>
            <p:ph idx="5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3">
  <p:cSld name="SECTION_HEADER_1_1_1_1_1_1_1_1_1_1_1_2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6"/>
          <p:cNvSpPr txBox="1"/>
          <p:nvPr>
            <p:ph idx="1" type="subTitle"/>
          </p:nvPr>
        </p:nvSpPr>
        <p:spPr>
          <a:xfrm>
            <a:off x="466825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>
            <p:ph idx="2" type="subTitle"/>
          </p:nvPr>
        </p:nvSpPr>
        <p:spPr>
          <a:xfrm>
            <a:off x="2807400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idx="3" type="subTitle"/>
          </p:nvPr>
        </p:nvSpPr>
        <p:spPr>
          <a:xfrm>
            <a:off x="5147975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6"/>
          <p:cNvSpPr txBox="1"/>
          <p:nvPr>
            <p:ph idx="4" type="subTitle"/>
          </p:nvPr>
        </p:nvSpPr>
        <p:spPr>
          <a:xfrm>
            <a:off x="466825" y="170220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idx="5" type="subTitle"/>
          </p:nvPr>
        </p:nvSpPr>
        <p:spPr>
          <a:xfrm>
            <a:off x="466825" y="296405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idx="6" type="subTitle"/>
          </p:nvPr>
        </p:nvSpPr>
        <p:spPr>
          <a:xfrm>
            <a:off x="4127250" y="296405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2" name="Google Shape;52;p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6"/>
          <p:cNvSpPr txBox="1"/>
          <p:nvPr>
            <p:ph idx="7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4">
  <p:cSld name="SECTION_HEADER_1_1_1_1_1_1_1_1_1_1_1_2_1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7"/>
          <p:cNvSpPr txBox="1"/>
          <p:nvPr>
            <p:ph idx="1" type="subTitle"/>
          </p:nvPr>
        </p:nvSpPr>
        <p:spPr>
          <a:xfrm>
            <a:off x="468000" y="1327649"/>
            <a:ext cx="6624000" cy="38436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6" name="Google Shape;56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7"/>
          <p:cNvSpPr txBox="1"/>
          <p:nvPr>
            <p:ph idx="2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lements to copy and paste">
  <p:cSld name="SECTION_HEADER_1_1_1_1_1_1_1_1_1_1_1_2_1_1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8"/>
          <p:cNvSpPr txBox="1"/>
          <p:nvPr/>
        </p:nvSpPr>
        <p:spPr>
          <a:xfrm>
            <a:off x="493450" y="416654"/>
            <a:ext cx="662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Lexend"/>
                <a:ea typeface="Lexend"/>
                <a:cs typeface="Lexend"/>
                <a:sym typeface="Lexend"/>
              </a:rPr>
              <a:t>Elements to copy and paste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0" name="Google Shape;60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 Title page">
  <p:cSld name="SECTION_HEADER_1_1_1_1_1_1_1_1_1_1_1_2_1_1_1_1_1_2">
    <p:bg>
      <p:bgPr>
        <a:solidFill>
          <a:schemeClr val="lt1"/>
        </a:solidFill>
      </p:bgPr>
    </p:bg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Google Shape;66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8" name="Google Shape;68;p10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69" name="Google Shape;69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0" name="Google Shape;70;p1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10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2" name="Google Shape;72;p1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10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1 Title page with long title">
  <p:cSld name="SECTION_HEADER_1_1_1_1_1_1_1_1_1_1_1_2_1_1_1_1_1_1_2">
    <p:bg>
      <p:bgPr>
        <a:solidFill>
          <a:schemeClr val="lt1"/>
        </a:solidFill>
      </p:bgPr>
    </p:bg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" name="Google Shape;75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1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7" name="Google Shape;77;p11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78" name="Google Shape;78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79" name="Google Shape;79;p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1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81" name="Google Shape;81;p1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11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 Middle page">
  <p:cSld name="SECTION_HEADER_1_1_1_1_1_1_1_1_1_1_1_2_1_1_1_1_1_1_1_1_2">
    <p:bg>
      <p:bgPr>
        <a:solidFill>
          <a:schemeClr val="lt1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2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6" name="Google Shape;86;p12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" name="Google Shape;87;p12"/>
          <p:cNvSpPr txBox="1"/>
          <p:nvPr>
            <p:ph idx="1" type="subTitle"/>
          </p:nvPr>
        </p:nvSpPr>
        <p:spPr>
          <a:xfrm>
            <a:off x="1463400" y="360000"/>
            <a:ext cx="4782600" cy="24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8" name="Google Shape;88;p1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2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1 Last page">
  <p:cSld name="SECTION_HEADER_1_1_1_1_1_1_1_1_1_1_1_2_1_1_1_1_1_1_1_1_1_3">
    <p:bg>
      <p:bgPr>
        <a:solidFill>
          <a:schemeClr val="lt1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3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3" name="Google Shape;93;p13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4" name="Google Shape;94;p13"/>
          <p:cNvSpPr txBox="1"/>
          <p:nvPr>
            <p:ph idx="1" type="subTitle"/>
          </p:nvPr>
        </p:nvSpPr>
        <p:spPr>
          <a:xfrm>
            <a:off x="1463400" y="360000"/>
            <a:ext cx="4782600" cy="24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95" name="Google Shape;95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3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" name="Google Shape;97;p13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8" name="Google Shape;98;p13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9" name="Google Shape;99;p13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00" name="Google Shape;100;p13"/>
          <p:cNvSpPr txBox="1"/>
          <p:nvPr>
            <p:ph idx="2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 Single page worksheet">
  <p:cSld name="SECTION_HEADER_1_1_1_1_1_1_1_1_1_1_1_2_1_1_1_1_1_2_1">
    <p:bg>
      <p:bgPr>
        <a:solidFill>
          <a:schemeClr val="lt1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" name="Google Shape;102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4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4" name="Google Shape;104;p14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05" name="Google Shape;105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4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08" name="Google Shape;108;p1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4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" name="Google Shape;110;p14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1" name="Google Shape;111;p14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2" name="Google Shape;112;p14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3" name="Google Shape;113;p14"/>
          <p:cNvSpPr txBox="1"/>
          <p:nvPr>
            <p:ph idx="1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1 Single page worksheet with long title">
  <p:cSld name="SECTION_HEADER_1_1_1_1_1_1_1_1_1_1_1_2_1_1_1_1_1_1_1">
    <p:bg>
      <p:bgPr>
        <a:solidFill>
          <a:schemeClr val="lt1"/>
        </a:solid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5" name="Google Shape;115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5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17" name="Google Shape;117;p15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18" name="Google Shape;118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5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21" name="Google Shape;121;p1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5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3" name="Google Shape;123;p15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4" name="Google Shape;124;p15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5" name="Google Shape;125;p15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6" name="Google Shape;126;p15"/>
          <p:cNvSpPr txBox="1"/>
          <p:nvPr>
            <p:ph idx="1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 Landscape title page">
  <p:cSld name="SECTION_HEADER_1_1_1_1_1_1_1_1_1_1_1_2_1_1_1_1_1_1_1_1_1_1">
    <p:bg>
      <p:bgPr>
        <a:solidFill>
          <a:schemeClr val="lt1"/>
        </a:solidFill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8" name="Google Shape;128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0" name="Google Shape;130;p16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31" name="Google Shape;131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6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34" name="Google Shape;134;p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16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1 Landscape middle page">
  <p:cSld name="SECTION_HEADER_1_1_1_1_1_1_1_1_1_1_1_2_1_1_1_1_1_1_1_1_1_1_1_2">
    <p:bg>
      <p:bgPr>
        <a:solidFill>
          <a:schemeClr val="lt1"/>
        </a:solidFill>
      </p:bgPr>
    </p:bg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7" name="Google Shape;137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17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9" name="Google Shape;139;p17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0" name="Google Shape;140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17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" name="Google Shape;142;p17"/>
          <p:cNvSpPr txBox="1"/>
          <p:nvPr>
            <p:ph idx="1" type="subTitle"/>
          </p:nvPr>
        </p:nvSpPr>
        <p:spPr>
          <a:xfrm rot="-5400000">
            <a:off x="-3498000" y="5128425"/>
            <a:ext cx="8070600" cy="246300"/>
          </a:xfrm>
          <a:prstGeom prst="rect">
            <a:avLst/>
          </a:prstGeom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2 Landscape last page">
  <p:cSld name="SECTION_HEADER_1_1_1_1_1_1_1_1_1_1_1_2_1_1_1_1_1_1_1_1_1_1_1_1_1">
    <p:bg>
      <p:bgPr>
        <a:solidFill>
          <a:schemeClr val="lt1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4" name="Google Shape;144;p1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8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46" name="Google Shape;146;p18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7" name="Google Shape;147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8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9" name="Google Shape;149;p18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0" name="Google Shape;150;p18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1" name="Google Shape;151;p18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2" name="Google Shape;152;p18"/>
          <p:cNvSpPr txBox="1"/>
          <p:nvPr>
            <p:ph idx="1" type="subTitle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3" name="Google Shape;153;p18"/>
          <p:cNvSpPr txBox="1"/>
          <p:nvPr>
            <p:ph idx="2" type="subTitle"/>
          </p:nvPr>
        </p:nvSpPr>
        <p:spPr>
          <a:xfrm rot="-5400000">
            <a:off x="-3498000" y="5128425"/>
            <a:ext cx="8070600" cy="246300"/>
          </a:xfrm>
          <a:prstGeom prst="rect">
            <a:avLst/>
          </a:prstGeom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.0 Landscape single page worksheet">
  <p:cSld name="SECTION_HEADER_1_1_1_1_1_1_1_1_1_1_1_2_1_1_1_1_1_1_1_1_1_1_2">
    <p:bg>
      <p:bgPr>
        <a:solidFill>
          <a:schemeClr val="lt1"/>
        </a:solidFill>
      </p:bgPr>
    </p:bg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5" name="Google Shape;155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19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57" name="Google Shape;157;p19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58" name="Google Shape;158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19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61" name="Google Shape;161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19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3" name="Google Shape;163;p19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4" name="Google Shape;164;p19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5" name="Google Shape;165;p19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6" name="Google Shape;166;p19"/>
          <p:cNvSpPr txBox="1"/>
          <p:nvPr>
            <p:ph idx="1" type="subTitle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slideLayout" Target="../slideLayouts/slideLayout9.xml"/><Relationship Id="rId3" Type="http://schemas.openxmlformats.org/officeDocument/2006/relationships/slideLayout" Target="../slideLayouts/slideLayout10.xml"/><Relationship Id="rId4" Type="http://schemas.openxmlformats.org/officeDocument/2006/relationships/slideLayout" Target="../slideLayouts/slideLayout11.xml"/><Relationship Id="rId11" Type="http://schemas.openxmlformats.org/officeDocument/2006/relationships/theme" Target="../theme/theme3.xml"/><Relationship Id="rId10" Type="http://schemas.openxmlformats.org/officeDocument/2006/relationships/slideLayout" Target="../slideLayouts/slideLayout17.xml"/><Relationship Id="rId9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3.xml"/><Relationship Id="rId7" Type="http://schemas.openxmlformats.org/officeDocument/2006/relationships/slideLayout" Target="../slideLayouts/slideLayout14.xml"/><Relationship Id="rId8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i="0" sz="22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exend"/>
              <a:buChar char="●"/>
              <a:defRPr i="0" sz="18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Kalam"/>
              <a:buChar char="■"/>
              <a:defRPr i="0" sz="1400" u="none" cap="none" strike="noStrik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i="0" sz="22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3" name="Google Shape;63;p9"/>
          <p:cNvSpPr txBox="1"/>
          <p:nvPr>
            <p:ph idx="1" type="body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exend"/>
              <a:buChar char="●"/>
              <a:defRPr i="0" sz="18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Kalam"/>
              <a:buChar char="■"/>
              <a:defRPr i="0" sz="1400" u="none" cap="none" strike="noStrik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64" name="Google Shape;64;p9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0.png"/><Relationship Id="rId4" Type="http://schemas.openxmlformats.org/officeDocument/2006/relationships/image" Target="../media/image14.png"/><Relationship Id="rId5" Type="http://schemas.openxmlformats.org/officeDocument/2006/relationships/image" Target="../media/image9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8.png"/><Relationship Id="rId4" Type="http://schemas.openxmlformats.org/officeDocument/2006/relationships/image" Target="../media/image1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6.png"/><Relationship Id="rId4" Type="http://schemas.openxmlformats.org/officeDocument/2006/relationships/image" Target="../media/image17.png"/><Relationship Id="rId5" Type="http://schemas.openxmlformats.org/officeDocument/2006/relationships/image" Target="../media/image1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0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72" name="Google Shape;172;p20"/>
          <p:cNvSpPr txBox="1"/>
          <p:nvPr>
            <p:ph type="title"/>
          </p:nvPr>
        </p:nvSpPr>
        <p:spPr>
          <a:xfrm>
            <a:off x="468000" y="864000"/>
            <a:ext cx="6624000" cy="277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Equivalent multiplicative relationships</a:t>
            </a:r>
            <a:endParaRPr/>
          </a:p>
        </p:txBody>
      </p:sp>
      <p:sp>
        <p:nvSpPr>
          <p:cNvPr id="173" name="Google Shape;173;p20"/>
          <p:cNvSpPr txBox="1"/>
          <p:nvPr/>
        </p:nvSpPr>
        <p:spPr>
          <a:xfrm>
            <a:off x="468000" y="1368254"/>
            <a:ext cx="53007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Lexend"/>
                <a:ea typeface="Lexend"/>
                <a:cs typeface="Lexend"/>
                <a:sym typeface="Lexend"/>
              </a:rPr>
              <a:t>Task A: 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Equivalent ratios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4" name="Google Shape;174;p20"/>
          <p:cNvSpPr txBox="1"/>
          <p:nvPr/>
        </p:nvSpPr>
        <p:spPr>
          <a:xfrm>
            <a:off x="398550" y="1680550"/>
            <a:ext cx="6610500" cy="73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AutoNum type="arabi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Tick which ratio tables 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are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equivalent to the statement: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“For every 3 ticks, there are 4 crosses.”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175" name="Google Shape;175;p20"/>
          <p:cNvGraphicFramePr/>
          <p:nvPr/>
        </p:nvGraphicFramePr>
        <p:xfrm>
          <a:off x="513063" y="24972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{7507C816-9995-43A5-901E-04537D8B1C4D}</a:tableStyleId>
              </a:tblPr>
              <a:tblGrid>
                <a:gridCol w="921450"/>
                <a:gridCol w="873225"/>
              </a:tblGrid>
              <a:tr h="3282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Ticks</a:t>
                      </a:r>
                      <a:endParaRPr sz="12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Crosses</a:t>
                      </a:r>
                      <a:endParaRPr sz="12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</a:tr>
              <a:tr h="2536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76" name="Google Shape;176;p20"/>
          <p:cNvGraphicFramePr/>
          <p:nvPr/>
        </p:nvGraphicFramePr>
        <p:xfrm>
          <a:off x="513063" y="40281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{7507C816-9995-43A5-901E-04537D8B1C4D}</a:tableStyleId>
              </a:tblPr>
              <a:tblGrid>
                <a:gridCol w="921450"/>
                <a:gridCol w="873225"/>
              </a:tblGrid>
              <a:tr h="447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Ticks</a:t>
                      </a:r>
                      <a:endParaRPr sz="12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Crosses</a:t>
                      </a:r>
                      <a:endParaRPr sz="12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</a:tr>
              <a:tr h="345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15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77" name="Google Shape;177;p20"/>
          <p:cNvGraphicFramePr/>
          <p:nvPr/>
        </p:nvGraphicFramePr>
        <p:xfrm>
          <a:off x="2827663" y="45288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{7507C816-9995-43A5-901E-04537D8B1C4D}</a:tableStyleId>
              </a:tblPr>
              <a:tblGrid>
                <a:gridCol w="904450"/>
                <a:gridCol w="857125"/>
              </a:tblGrid>
              <a:tr h="2951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Ticks</a:t>
                      </a:r>
                      <a:endParaRPr sz="12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Crosses</a:t>
                      </a:r>
                      <a:endParaRPr sz="12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</a:tr>
              <a:tr h="2280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9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12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78" name="Google Shape;178;p20"/>
          <p:cNvGraphicFramePr/>
          <p:nvPr/>
        </p:nvGraphicFramePr>
        <p:xfrm>
          <a:off x="2792013" y="31308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{7507C816-9995-43A5-901E-04537D8B1C4D}</a:tableStyleId>
              </a:tblPr>
              <a:tblGrid>
                <a:gridCol w="887500"/>
                <a:gridCol w="841025"/>
              </a:tblGrid>
              <a:tr h="2951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Ticks</a:t>
                      </a:r>
                      <a:endParaRPr sz="12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Crosses</a:t>
                      </a:r>
                      <a:endParaRPr sz="12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</a:tr>
              <a:tr h="2280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9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79" name="Google Shape;179;p20"/>
          <p:cNvGraphicFramePr/>
          <p:nvPr/>
        </p:nvGraphicFramePr>
        <p:xfrm>
          <a:off x="5004813" y="26937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{7507C816-9995-43A5-901E-04537D8B1C4D}</a:tableStyleId>
              </a:tblPr>
              <a:tblGrid>
                <a:gridCol w="921475"/>
                <a:gridCol w="873200"/>
              </a:tblGrid>
              <a:tr h="4554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Ticks</a:t>
                      </a:r>
                      <a:endParaRPr sz="12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Crosses</a:t>
                      </a:r>
                      <a:endParaRPr sz="12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</a:tr>
              <a:tr h="2960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1.5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80" name="Google Shape;180;p20"/>
          <p:cNvGraphicFramePr/>
          <p:nvPr/>
        </p:nvGraphicFramePr>
        <p:xfrm>
          <a:off x="5017413" y="41401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{7507C816-9995-43A5-901E-04537D8B1C4D}</a:tableStyleId>
              </a:tblPr>
              <a:tblGrid>
                <a:gridCol w="921475"/>
                <a:gridCol w="873200"/>
              </a:tblGrid>
              <a:tr h="4802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Ticks</a:t>
                      </a:r>
                      <a:endParaRPr sz="12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Crosses</a:t>
                      </a:r>
                      <a:endParaRPr sz="12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</a:tr>
              <a:tr h="3121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id="181" name="Google Shape;181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35771" y="2873850"/>
            <a:ext cx="39600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2" name="Google Shape;182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35771" y="4494650"/>
            <a:ext cx="39600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3" name="Google Shape;183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63196" y="5019563"/>
            <a:ext cx="396000" cy="419100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20"/>
          <p:cNvSpPr txBox="1"/>
          <p:nvPr/>
        </p:nvSpPr>
        <p:spPr>
          <a:xfrm>
            <a:off x="3511050" y="4140138"/>
            <a:ext cx="527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×3</a:t>
            </a:r>
            <a:endParaRPr sz="1200"/>
          </a:p>
        </p:txBody>
      </p:sp>
      <p:sp>
        <p:nvSpPr>
          <p:cNvPr id="185" name="Google Shape;185;p20"/>
          <p:cNvSpPr txBox="1"/>
          <p:nvPr/>
        </p:nvSpPr>
        <p:spPr>
          <a:xfrm>
            <a:off x="1199775" y="3675663"/>
            <a:ext cx="527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×5</a:t>
            </a:r>
            <a:endParaRPr sz="1200"/>
          </a:p>
        </p:txBody>
      </p:sp>
      <p:pic>
        <p:nvPicPr>
          <p:cNvPr descr="&lt;math xmlns=&quot;http://www.w3.org/1998/Math/MathML&quot; display=&quot;block&quot; data-is-equatio=&quot;1&quot; data-latex=&quot;\times\frac{1}{2}&quot;&gt;&lt;mo&gt;×&lt;/mo&gt;&lt;mfrac&gt;&lt;mn&gt;1&lt;/mn&gt;&lt;mn&gt;2&lt;/mn&gt;&lt;/mfrac&gt;&lt;/math&gt;" id="186" name="Google Shape;186;p20" title="times one half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805497" y="2254831"/>
            <a:ext cx="277321" cy="4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7" name="Google Shape;187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10171" y="3224938"/>
            <a:ext cx="396000" cy="4191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88" name="Google Shape;188;p20"/>
          <p:cNvCxnSpPr>
            <a:endCxn id="189" idx="1"/>
          </p:cNvCxnSpPr>
          <p:nvPr/>
        </p:nvCxnSpPr>
        <p:spPr>
          <a:xfrm flipH="1" rot="10800000">
            <a:off x="2987992" y="7802224"/>
            <a:ext cx="1592700" cy="12801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0" name="Google Shape;190;p20"/>
          <p:cNvCxnSpPr>
            <a:stCxn id="191" idx="3"/>
            <a:endCxn id="192" idx="1"/>
          </p:cNvCxnSpPr>
          <p:nvPr/>
        </p:nvCxnSpPr>
        <p:spPr>
          <a:xfrm>
            <a:off x="2953173" y="8470071"/>
            <a:ext cx="1627500" cy="6072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93" name="Google Shape;193;p20"/>
          <p:cNvSpPr txBox="1"/>
          <p:nvPr/>
        </p:nvSpPr>
        <p:spPr>
          <a:xfrm>
            <a:off x="513075" y="6016547"/>
            <a:ext cx="6624000" cy="58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Pair the equivalent function machines, left to right, and identify the multiplier.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94" name="Google Shape;194;p20"/>
          <p:cNvCxnSpPr/>
          <p:nvPr/>
        </p:nvCxnSpPr>
        <p:spPr>
          <a:xfrm>
            <a:off x="1717858" y="7144190"/>
            <a:ext cx="11274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5" name="Google Shape;195;p20"/>
          <p:cNvCxnSpPr/>
          <p:nvPr/>
        </p:nvCxnSpPr>
        <p:spPr>
          <a:xfrm>
            <a:off x="1243460" y="7144190"/>
            <a:ext cx="9132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96" name="Google Shape;196;p20"/>
          <p:cNvCxnSpPr/>
          <p:nvPr/>
        </p:nvCxnSpPr>
        <p:spPr>
          <a:xfrm>
            <a:off x="1616359" y="7144190"/>
            <a:ext cx="4017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97" name="Google Shape;197;p20"/>
          <p:cNvSpPr/>
          <p:nvPr/>
        </p:nvSpPr>
        <p:spPr>
          <a:xfrm>
            <a:off x="1039249" y="6874277"/>
            <a:ext cx="552300" cy="547500"/>
          </a:xfrm>
          <a:prstGeom prst="ellipse">
            <a:avLst/>
          </a:prstGeom>
          <a:solidFill>
            <a:srgbClr val="F0F0F0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8" name="Google Shape;198;p20"/>
          <p:cNvSpPr/>
          <p:nvPr/>
        </p:nvSpPr>
        <p:spPr>
          <a:xfrm>
            <a:off x="2450415" y="6874277"/>
            <a:ext cx="552300" cy="547500"/>
          </a:xfrm>
          <a:prstGeom prst="ellipse">
            <a:avLst/>
          </a:prstGeom>
          <a:solidFill>
            <a:srgbClr val="F0F0F0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9" name="Google Shape;199;p20"/>
          <p:cNvSpPr/>
          <p:nvPr/>
        </p:nvSpPr>
        <p:spPr>
          <a:xfrm>
            <a:off x="1843626" y="6614021"/>
            <a:ext cx="401700" cy="4143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0" name="Google Shape;200;p20"/>
          <p:cNvSpPr txBox="1"/>
          <p:nvPr/>
        </p:nvSpPr>
        <p:spPr>
          <a:xfrm>
            <a:off x="1785976" y="6549134"/>
            <a:ext cx="349800" cy="25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×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1" name="Google Shape;201;p20"/>
          <p:cNvSpPr txBox="1"/>
          <p:nvPr/>
        </p:nvSpPr>
        <p:spPr>
          <a:xfrm>
            <a:off x="1120016" y="6949577"/>
            <a:ext cx="401700" cy="3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4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2" name="Google Shape;202;p20"/>
          <p:cNvSpPr txBox="1"/>
          <p:nvPr/>
        </p:nvSpPr>
        <p:spPr>
          <a:xfrm>
            <a:off x="2551473" y="6949577"/>
            <a:ext cx="401700" cy="3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8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03" name="Google Shape;203;p20"/>
          <p:cNvCxnSpPr/>
          <p:nvPr/>
        </p:nvCxnSpPr>
        <p:spPr>
          <a:xfrm>
            <a:off x="1717858" y="7812037"/>
            <a:ext cx="11274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4" name="Google Shape;204;p20"/>
          <p:cNvCxnSpPr/>
          <p:nvPr/>
        </p:nvCxnSpPr>
        <p:spPr>
          <a:xfrm>
            <a:off x="1243460" y="7812037"/>
            <a:ext cx="9132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05" name="Google Shape;205;p20"/>
          <p:cNvCxnSpPr/>
          <p:nvPr/>
        </p:nvCxnSpPr>
        <p:spPr>
          <a:xfrm>
            <a:off x="1616359" y="7812037"/>
            <a:ext cx="4017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06" name="Google Shape;206;p20"/>
          <p:cNvSpPr/>
          <p:nvPr/>
        </p:nvSpPr>
        <p:spPr>
          <a:xfrm>
            <a:off x="1039249" y="7542124"/>
            <a:ext cx="552300" cy="547500"/>
          </a:xfrm>
          <a:prstGeom prst="ellipse">
            <a:avLst/>
          </a:prstGeom>
          <a:solidFill>
            <a:srgbClr val="F0F0F0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7" name="Google Shape;207;p20"/>
          <p:cNvSpPr/>
          <p:nvPr/>
        </p:nvSpPr>
        <p:spPr>
          <a:xfrm>
            <a:off x="2450415" y="7542124"/>
            <a:ext cx="552300" cy="547500"/>
          </a:xfrm>
          <a:prstGeom prst="ellipse">
            <a:avLst/>
          </a:prstGeom>
          <a:solidFill>
            <a:srgbClr val="F0F0F0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8" name="Google Shape;208;p20"/>
          <p:cNvSpPr/>
          <p:nvPr/>
        </p:nvSpPr>
        <p:spPr>
          <a:xfrm>
            <a:off x="1843626" y="7281868"/>
            <a:ext cx="401700" cy="4143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9" name="Google Shape;209;p20"/>
          <p:cNvSpPr txBox="1"/>
          <p:nvPr/>
        </p:nvSpPr>
        <p:spPr>
          <a:xfrm>
            <a:off x="1785965" y="7228632"/>
            <a:ext cx="349800" cy="25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×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0" name="Google Shape;210;p20"/>
          <p:cNvSpPr txBox="1"/>
          <p:nvPr/>
        </p:nvSpPr>
        <p:spPr>
          <a:xfrm>
            <a:off x="1120016" y="7617424"/>
            <a:ext cx="401700" cy="3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9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1" name="Google Shape;211;p20"/>
          <p:cNvSpPr txBox="1"/>
          <p:nvPr/>
        </p:nvSpPr>
        <p:spPr>
          <a:xfrm>
            <a:off x="2551473" y="7617424"/>
            <a:ext cx="401700" cy="3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27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12" name="Google Shape;212;p20"/>
          <p:cNvCxnSpPr/>
          <p:nvPr/>
        </p:nvCxnSpPr>
        <p:spPr>
          <a:xfrm>
            <a:off x="1717858" y="8479884"/>
            <a:ext cx="11274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3" name="Google Shape;213;p20"/>
          <p:cNvCxnSpPr/>
          <p:nvPr/>
        </p:nvCxnSpPr>
        <p:spPr>
          <a:xfrm>
            <a:off x="1243460" y="8479884"/>
            <a:ext cx="9132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14" name="Google Shape;214;p20"/>
          <p:cNvCxnSpPr/>
          <p:nvPr/>
        </p:nvCxnSpPr>
        <p:spPr>
          <a:xfrm>
            <a:off x="1616359" y="8479884"/>
            <a:ext cx="4017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15" name="Google Shape;215;p20"/>
          <p:cNvSpPr/>
          <p:nvPr/>
        </p:nvSpPr>
        <p:spPr>
          <a:xfrm>
            <a:off x="1039249" y="8209971"/>
            <a:ext cx="552300" cy="547500"/>
          </a:xfrm>
          <a:prstGeom prst="ellipse">
            <a:avLst/>
          </a:prstGeom>
          <a:solidFill>
            <a:srgbClr val="F0F0F0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6" name="Google Shape;216;p20"/>
          <p:cNvSpPr/>
          <p:nvPr/>
        </p:nvSpPr>
        <p:spPr>
          <a:xfrm>
            <a:off x="2450415" y="8209971"/>
            <a:ext cx="552300" cy="547500"/>
          </a:xfrm>
          <a:prstGeom prst="ellipse">
            <a:avLst/>
          </a:prstGeom>
          <a:solidFill>
            <a:srgbClr val="F0F0F0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7" name="Google Shape;217;p20"/>
          <p:cNvSpPr/>
          <p:nvPr/>
        </p:nvSpPr>
        <p:spPr>
          <a:xfrm>
            <a:off x="1843626" y="7949715"/>
            <a:ext cx="401700" cy="4143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8" name="Google Shape;218;p20"/>
          <p:cNvSpPr txBox="1"/>
          <p:nvPr/>
        </p:nvSpPr>
        <p:spPr>
          <a:xfrm>
            <a:off x="1785965" y="7896466"/>
            <a:ext cx="349800" cy="25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×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9" name="Google Shape;219;p20"/>
          <p:cNvSpPr txBox="1"/>
          <p:nvPr/>
        </p:nvSpPr>
        <p:spPr>
          <a:xfrm>
            <a:off x="1120016" y="8285271"/>
            <a:ext cx="401700" cy="3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10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1" name="Google Shape;191;p20"/>
          <p:cNvSpPr txBox="1"/>
          <p:nvPr/>
        </p:nvSpPr>
        <p:spPr>
          <a:xfrm>
            <a:off x="2551473" y="8285271"/>
            <a:ext cx="401700" cy="3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40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20" name="Google Shape;220;p20"/>
          <p:cNvCxnSpPr/>
          <p:nvPr/>
        </p:nvCxnSpPr>
        <p:spPr>
          <a:xfrm>
            <a:off x="1717858" y="9087018"/>
            <a:ext cx="11274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1" name="Google Shape;221;p20"/>
          <p:cNvCxnSpPr/>
          <p:nvPr/>
        </p:nvCxnSpPr>
        <p:spPr>
          <a:xfrm>
            <a:off x="1243460" y="9087018"/>
            <a:ext cx="9132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22" name="Google Shape;222;p20"/>
          <p:cNvCxnSpPr/>
          <p:nvPr/>
        </p:nvCxnSpPr>
        <p:spPr>
          <a:xfrm>
            <a:off x="1616359" y="9087018"/>
            <a:ext cx="4017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23" name="Google Shape;223;p20"/>
          <p:cNvSpPr/>
          <p:nvPr/>
        </p:nvSpPr>
        <p:spPr>
          <a:xfrm>
            <a:off x="1039249" y="8817105"/>
            <a:ext cx="552300" cy="547500"/>
          </a:xfrm>
          <a:prstGeom prst="ellipse">
            <a:avLst/>
          </a:prstGeom>
          <a:solidFill>
            <a:srgbClr val="F0F0F0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4" name="Google Shape;224;p20"/>
          <p:cNvSpPr/>
          <p:nvPr/>
        </p:nvSpPr>
        <p:spPr>
          <a:xfrm>
            <a:off x="2450415" y="8817105"/>
            <a:ext cx="552300" cy="547500"/>
          </a:xfrm>
          <a:prstGeom prst="ellipse">
            <a:avLst/>
          </a:prstGeom>
          <a:solidFill>
            <a:srgbClr val="F0F0F0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5" name="Google Shape;225;p20"/>
          <p:cNvSpPr/>
          <p:nvPr/>
        </p:nvSpPr>
        <p:spPr>
          <a:xfrm>
            <a:off x="1843626" y="8556849"/>
            <a:ext cx="401700" cy="4143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6" name="Google Shape;226;p20"/>
          <p:cNvSpPr txBox="1"/>
          <p:nvPr/>
        </p:nvSpPr>
        <p:spPr>
          <a:xfrm>
            <a:off x="1785965" y="8501725"/>
            <a:ext cx="349800" cy="25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×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7" name="Google Shape;227;p20"/>
          <p:cNvSpPr txBox="1"/>
          <p:nvPr/>
        </p:nvSpPr>
        <p:spPr>
          <a:xfrm>
            <a:off x="1120016" y="8892405"/>
            <a:ext cx="401700" cy="3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30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8" name="Google Shape;228;p20"/>
          <p:cNvSpPr txBox="1"/>
          <p:nvPr/>
        </p:nvSpPr>
        <p:spPr>
          <a:xfrm>
            <a:off x="2551473" y="8892405"/>
            <a:ext cx="401700" cy="3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15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29" name="Google Shape;229;p20"/>
          <p:cNvCxnSpPr/>
          <p:nvPr/>
        </p:nvCxnSpPr>
        <p:spPr>
          <a:xfrm>
            <a:off x="5178534" y="7144190"/>
            <a:ext cx="11274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0" name="Google Shape;230;p20"/>
          <p:cNvCxnSpPr/>
          <p:nvPr/>
        </p:nvCxnSpPr>
        <p:spPr>
          <a:xfrm>
            <a:off x="4704137" y="7144190"/>
            <a:ext cx="9132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31" name="Google Shape;231;p20"/>
          <p:cNvCxnSpPr/>
          <p:nvPr/>
        </p:nvCxnSpPr>
        <p:spPr>
          <a:xfrm>
            <a:off x="5077036" y="7144190"/>
            <a:ext cx="4017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32" name="Google Shape;232;p20"/>
          <p:cNvSpPr/>
          <p:nvPr/>
        </p:nvSpPr>
        <p:spPr>
          <a:xfrm>
            <a:off x="4499926" y="6874277"/>
            <a:ext cx="552300" cy="547500"/>
          </a:xfrm>
          <a:prstGeom prst="ellipse">
            <a:avLst/>
          </a:prstGeom>
          <a:solidFill>
            <a:srgbClr val="F0F0F0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3" name="Google Shape;233;p20"/>
          <p:cNvSpPr/>
          <p:nvPr/>
        </p:nvSpPr>
        <p:spPr>
          <a:xfrm>
            <a:off x="5911092" y="6874277"/>
            <a:ext cx="552300" cy="547500"/>
          </a:xfrm>
          <a:prstGeom prst="ellipse">
            <a:avLst/>
          </a:prstGeom>
          <a:solidFill>
            <a:srgbClr val="F0F0F0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4" name="Google Shape;234;p20"/>
          <p:cNvSpPr/>
          <p:nvPr/>
        </p:nvSpPr>
        <p:spPr>
          <a:xfrm>
            <a:off x="5304302" y="6614021"/>
            <a:ext cx="401700" cy="4143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5" name="Google Shape;235;p20"/>
          <p:cNvSpPr txBox="1"/>
          <p:nvPr/>
        </p:nvSpPr>
        <p:spPr>
          <a:xfrm>
            <a:off x="5240403" y="6559622"/>
            <a:ext cx="349800" cy="25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×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6" name="Google Shape;236;p20"/>
          <p:cNvSpPr txBox="1"/>
          <p:nvPr/>
        </p:nvSpPr>
        <p:spPr>
          <a:xfrm>
            <a:off x="4580692" y="6949577"/>
            <a:ext cx="401700" cy="3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7" name="Google Shape;237;p20"/>
          <p:cNvSpPr txBox="1"/>
          <p:nvPr/>
        </p:nvSpPr>
        <p:spPr>
          <a:xfrm>
            <a:off x="6012150" y="6949577"/>
            <a:ext cx="401700" cy="3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9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38" name="Google Shape;238;p20"/>
          <p:cNvCxnSpPr/>
          <p:nvPr/>
        </p:nvCxnSpPr>
        <p:spPr>
          <a:xfrm>
            <a:off x="5178534" y="7812037"/>
            <a:ext cx="11274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9" name="Google Shape;239;p20"/>
          <p:cNvCxnSpPr/>
          <p:nvPr/>
        </p:nvCxnSpPr>
        <p:spPr>
          <a:xfrm>
            <a:off x="4704137" y="7812037"/>
            <a:ext cx="9132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40" name="Google Shape;240;p20"/>
          <p:cNvCxnSpPr/>
          <p:nvPr/>
        </p:nvCxnSpPr>
        <p:spPr>
          <a:xfrm>
            <a:off x="5077036" y="7812037"/>
            <a:ext cx="4017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41" name="Google Shape;241;p20"/>
          <p:cNvSpPr/>
          <p:nvPr/>
        </p:nvSpPr>
        <p:spPr>
          <a:xfrm>
            <a:off x="4499926" y="7542124"/>
            <a:ext cx="552300" cy="547500"/>
          </a:xfrm>
          <a:prstGeom prst="ellipse">
            <a:avLst/>
          </a:prstGeom>
          <a:solidFill>
            <a:srgbClr val="F0F0F0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2" name="Google Shape;242;p20"/>
          <p:cNvSpPr/>
          <p:nvPr/>
        </p:nvSpPr>
        <p:spPr>
          <a:xfrm>
            <a:off x="5911092" y="7542124"/>
            <a:ext cx="552300" cy="547500"/>
          </a:xfrm>
          <a:prstGeom prst="ellipse">
            <a:avLst/>
          </a:prstGeom>
          <a:solidFill>
            <a:srgbClr val="F0F0F0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3" name="Google Shape;243;p20"/>
          <p:cNvSpPr/>
          <p:nvPr/>
        </p:nvSpPr>
        <p:spPr>
          <a:xfrm>
            <a:off x="5304302" y="7281868"/>
            <a:ext cx="401700" cy="4143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4" name="Google Shape;244;p20"/>
          <p:cNvSpPr txBox="1"/>
          <p:nvPr/>
        </p:nvSpPr>
        <p:spPr>
          <a:xfrm>
            <a:off x="5257416" y="7228707"/>
            <a:ext cx="349800" cy="25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×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9" name="Google Shape;189;p20"/>
          <p:cNvSpPr txBox="1"/>
          <p:nvPr/>
        </p:nvSpPr>
        <p:spPr>
          <a:xfrm>
            <a:off x="4580692" y="7617424"/>
            <a:ext cx="401700" cy="3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36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5" name="Google Shape;245;p20"/>
          <p:cNvSpPr txBox="1"/>
          <p:nvPr/>
        </p:nvSpPr>
        <p:spPr>
          <a:xfrm>
            <a:off x="6012150" y="7617424"/>
            <a:ext cx="401700" cy="3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18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46" name="Google Shape;246;p20"/>
          <p:cNvCxnSpPr/>
          <p:nvPr/>
        </p:nvCxnSpPr>
        <p:spPr>
          <a:xfrm>
            <a:off x="5178534" y="8479884"/>
            <a:ext cx="11274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47" name="Google Shape;247;p20"/>
          <p:cNvCxnSpPr/>
          <p:nvPr/>
        </p:nvCxnSpPr>
        <p:spPr>
          <a:xfrm>
            <a:off x="4704137" y="8479884"/>
            <a:ext cx="9132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48" name="Google Shape;248;p20"/>
          <p:cNvCxnSpPr/>
          <p:nvPr/>
        </p:nvCxnSpPr>
        <p:spPr>
          <a:xfrm>
            <a:off x="5077036" y="8479884"/>
            <a:ext cx="4017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49" name="Google Shape;249;p20"/>
          <p:cNvSpPr/>
          <p:nvPr/>
        </p:nvSpPr>
        <p:spPr>
          <a:xfrm>
            <a:off x="4499926" y="8209971"/>
            <a:ext cx="552300" cy="547500"/>
          </a:xfrm>
          <a:prstGeom prst="ellipse">
            <a:avLst/>
          </a:prstGeom>
          <a:solidFill>
            <a:srgbClr val="F0F0F0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0" name="Google Shape;250;p20"/>
          <p:cNvSpPr/>
          <p:nvPr/>
        </p:nvSpPr>
        <p:spPr>
          <a:xfrm>
            <a:off x="5911092" y="8209971"/>
            <a:ext cx="552300" cy="547500"/>
          </a:xfrm>
          <a:prstGeom prst="ellipse">
            <a:avLst/>
          </a:prstGeom>
          <a:solidFill>
            <a:srgbClr val="F0F0F0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1" name="Google Shape;251;p20"/>
          <p:cNvSpPr/>
          <p:nvPr/>
        </p:nvSpPr>
        <p:spPr>
          <a:xfrm>
            <a:off x="5304302" y="7949715"/>
            <a:ext cx="401700" cy="4143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2" name="Google Shape;252;p20"/>
          <p:cNvSpPr txBox="1"/>
          <p:nvPr/>
        </p:nvSpPr>
        <p:spPr>
          <a:xfrm>
            <a:off x="5257416" y="7908366"/>
            <a:ext cx="349800" cy="25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×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3" name="Google Shape;253;p20"/>
          <p:cNvSpPr txBox="1"/>
          <p:nvPr/>
        </p:nvSpPr>
        <p:spPr>
          <a:xfrm>
            <a:off x="4580692" y="8285271"/>
            <a:ext cx="401700" cy="3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4" name="Google Shape;254;p20"/>
          <p:cNvSpPr txBox="1"/>
          <p:nvPr/>
        </p:nvSpPr>
        <p:spPr>
          <a:xfrm>
            <a:off x="6012150" y="8285271"/>
            <a:ext cx="401700" cy="3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4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55" name="Google Shape;255;p20"/>
          <p:cNvCxnSpPr/>
          <p:nvPr/>
        </p:nvCxnSpPr>
        <p:spPr>
          <a:xfrm>
            <a:off x="5178534" y="9087018"/>
            <a:ext cx="11274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56" name="Google Shape;256;p20"/>
          <p:cNvCxnSpPr/>
          <p:nvPr/>
        </p:nvCxnSpPr>
        <p:spPr>
          <a:xfrm>
            <a:off x="4704137" y="9087018"/>
            <a:ext cx="9132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57" name="Google Shape;257;p20"/>
          <p:cNvCxnSpPr/>
          <p:nvPr/>
        </p:nvCxnSpPr>
        <p:spPr>
          <a:xfrm>
            <a:off x="5077036" y="9087018"/>
            <a:ext cx="4017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58" name="Google Shape;258;p20"/>
          <p:cNvSpPr/>
          <p:nvPr/>
        </p:nvSpPr>
        <p:spPr>
          <a:xfrm>
            <a:off x="4499926" y="8817105"/>
            <a:ext cx="552300" cy="547500"/>
          </a:xfrm>
          <a:prstGeom prst="ellipse">
            <a:avLst/>
          </a:prstGeom>
          <a:solidFill>
            <a:srgbClr val="F0F0F0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9" name="Google Shape;259;p20"/>
          <p:cNvSpPr/>
          <p:nvPr/>
        </p:nvSpPr>
        <p:spPr>
          <a:xfrm>
            <a:off x="5911092" y="8817105"/>
            <a:ext cx="552300" cy="547500"/>
          </a:xfrm>
          <a:prstGeom prst="ellipse">
            <a:avLst/>
          </a:prstGeom>
          <a:solidFill>
            <a:srgbClr val="F0F0F0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0" name="Google Shape;260;p20"/>
          <p:cNvSpPr/>
          <p:nvPr/>
        </p:nvSpPr>
        <p:spPr>
          <a:xfrm>
            <a:off x="5304302" y="8556849"/>
            <a:ext cx="401700" cy="4143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1" name="Google Shape;261;p20"/>
          <p:cNvSpPr txBox="1"/>
          <p:nvPr/>
        </p:nvSpPr>
        <p:spPr>
          <a:xfrm>
            <a:off x="5240391" y="8515900"/>
            <a:ext cx="349800" cy="25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×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2" name="Google Shape;192;p20"/>
          <p:cNvSpPr txBox="1"/>
          <p:nvPr/>
        </p:nvSpPr>
        <p:spPr>
          <a:xfrm>
            <a:off x="4580692" y="8892405"/>
            <a:ext cx="401700" cy="3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2" name="Google Shape;262;p20"/>
          <p:cNvSpPr txBox="1"/>
          <p:nvPr/>
        </p:nvSpPr>
        <p:spPr>
          <a:xfrm>
            <a:off x="6012150" y="8892405"/>
            <a:ext cx="401700" cy="3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8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63" name="Google Shape;263;p20"/>
          <p:cNvCxnSpPr>
            <a:stCxn id="198" idx="6"/>
            <a:endCxn id="249" idx="2"/>
          </p:cNvCxnSpPr>
          <p:nvPr/>
        </p:nvCxnSpPr>
        <p:spPr>
          <a:xfrm>
            <a:off x="3002715" y="7148027"/>
            <a:ext cx="1497300" cy="13356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64" name="Google Shape;264;p20"/>
          <p:cNvCxnSpPr>
            <a:stCxn id="207" idx="6"/>
            <a:endCxn id="232" idx="2"/>
          </p:cNvCxnSpPr>
          <p:nvPr/>
        </p:nvCxnSpPr>
        <p:spPr>
          <a:xfrm flipH="1" rot="10800000">
            <a:off x="3002715" y="7148074"/>
            <a:ext cx="1497300" cy="6678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65" name="Google Shape;265;p20"/>
          <p:cNvSpPr txBox="1"/>
          <p:nvPr/>
        </p:nvSpPr>
        <p:spPr>
          <a:xfrm>
            <a:off x="1979716" y="6645218"/>
            <a:ext cx="349800" cy="25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2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6" name="Google Shape;266;p20"/>
          <p:cNvSpPr txBox="1"/>
          <p:nvPr/>
        </p:nvSpPr>
        <p:spPr>
          <a:xfrm>
            <a:off x="5478718" y="8000425"/>
            <a:ext cx="349800" cy="25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2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7" name="Google Shape;267;p20"/>
          <p:cNvSpPr txBox="1"/>
          <p:nvPr/>
        </p:nvSpPr>
        <p:spPr>
          <a:xfrm>
            <a:off x="1991466" y="7313066"/>
            <a:ext cx="349800" cy="25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3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8" name="Google Shape;268;p20"/>
          <p:cNvSpPr txBox="1"/>
          <p:nvPr/>
        </p:nvSpPr>
        <p:spPr>
          <a:xfrm>
            <a:off x="5478718" y="6645393"/>
            <a:ext cx="349800" cy="25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3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9" name="Google Shape;269;p20"/>
          <p:cNvSpPr txBox="1"/>
          <p:nvPr/>
        </p:nvSpPr>
        <p:spPr>
          <a:xfrm>
            <a:off x="2018041" y="8000413"/>
            <a:ext cx="349800" cy="25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4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0" name="Google Shape;270;p20"/>
          <p:cNvSpPr txBox="1"/>
          <p:nvPr/>
        </p:nvSpPr>
        <p:spPr>
          <a:xfrm>
            <a:off x="5455693" y="8599372"/>
            <a:ext cx="349800" cy="25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4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1}{2}&quot;&gt;&lt;mfrac&gt;&lt;mn&gt;1&lt;/mn&gt;&lt;mn&gt;2&lt;/mn&gt;&lt;/mfrac&gt;&lt;/math&gt;" id="271" name="Google Shape;271;p20" title="one half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064737" y="8588132"/>
            <a:ext cx="115987" cy="36953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2}&quot;&gt;&lt;mfrac&gt;&lt;mn&gt;1&lt;/mn&gt;&lt;mn&gt;2&lt;/mn&gt;&lt;/mfrac&gt;&lt;/math&gt;" id="272" name="Google Shape;272;p20" title="one half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525414" y="7313151"/>
            <a:ext cx="115987" cy="36953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21"/>
          <p:cNvSpPr txBox="1"/>
          <p:nvPr>
            <p:ph idx="1" type="subTitle"/>
          </p:nvPr>
        </p:nvSpPr>
        <p:spPr>
          <a:xfrm>
            <a:off x="1463400" y="360000"/>
            <a:ext cx="4782600" cy="297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Equivalent multiplicative relationships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278" name="Google Shape;278;p21"/>
          <p:cNvGraphicFramePr/>
          <p:nvPr/>
        </p:nvGraphicFramePr>
        <p:xfrm>
          <a:off x="777325" y="11450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{7507C816-9995-43A5-901E-04537D8B1C4D}</a:tableStyleId>
              </a:tblPr>
              <a:tblGrid>
                <a:gridCol w="382850"/>
                <a:gridCol w="382850"/>
              </a:tblGrid>
              <a:tr h="3011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11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08080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79" name="Google Shape;279;p21"/>
          <p:cNvGraphicFramePr/>
          <p:nvPr/>
        </p:nvGraphicFramePr>
        <p:xfrm>
          <a:off x="2984375" y="33997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{7507C816-9995-43A5-901E-04537D8B1C4D}</a:tableStyleId>
              </a:tblPr>
              <a:tblGrid>
                <a:gridCol w="385000"/>
                <a:gridCol w="385000"/>
                <a:gridCol w="385000"/>
                <a:gridCol w="385000"/>
              </a:tblGrid>
              <a:tr h="4181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103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103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103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280" name="Google Shape;280;p21"/>
          <p:cNvGraphicFramePr/>
          <p:nvPr/>
        </p:nvGraphicFramePr>
        <p:xfrm>
          <a:off x="654000" y="21210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{7507C816-9995-43A5-901E-04537D8B1C4D}</a:tableStyleId>
              </a:tblPr>
              <a:tblGrid>
                <a:gridCol w="382850"/>
                <a:gridCol w="382850"/>
                <a:gridCol w="382850"/>
                <a:gridCol w="382850"/>
                <a:gridCol w="382850"/>
              </a:tblGrid>
              <a:tr h="2957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957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957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957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957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81" name="Google Shape;281;p21"/>
          <p:cNvSpPr txBox="1"/>
          <p:nvPr/>
        </p:nvSpPr>
        <p:spPr>
          <a:xfrm>
            <a:off x="1762600" y="1181250"/>
            <a:ext cx="5196600" cy="2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3a) Shade in to make the letter “L” using the ratio: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lnSpc>
                <a:spcPct val="13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 shaded to 1 unshaded.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2" name="Google Shape;282;p21"/>
          <p:cNvSpPr txBox="1"/>
          <p:nvPr/>
        </p:nvSpPr>
        <p:spPr>
          <a:xfrm>
            <a:off x="4682400" y="3599450"/>
            <a:ext cx="2311500" cy="1020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c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) Shade in to make the letter “C” using the ratio: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lnSpc>
                <a:spcPct val="13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 shaded to 1 unshaded.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3" name="Google Shape;283;p21"/>
          <p:cNvSpPr txBox="1"/>
          <p:nvPr/>
        </p:nvSpPr>
        <p:spPr>
          <a:xfrm>
            <a:off x="2728300" y="2262400"/>
            <a:ext cx="4363800" cy="2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 Shade in to make the letter “H” using the ratio: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lnSpc>
                <a:spcPct val="13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12 shaded to 13 unshaded.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4" name="Google Shape;284;p21"/>
          <p:cNvSpPr txBox="1"/>
          <p:nvPr/>
        </p:nvSpPr>
        <p:spPr>
          <a:xfrm>
            <a:off x="576000" y="5557000"/>
            <a:ext cx="6231300" cy="23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4) Identify the multipliers and 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missing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numbers for the following function machines.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85" name="Google Shape;285;p21"/>
          <p:cNvCxnSpPr/>
          <p:nvPr/>
        </p:nvCxnSpPr>
        <p:spPr>
          <a:xfrm>
            <a:off x="5325954" y="8598345"/>
            <a:ext cx="12510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86" name="Google Shape;286;p21"/>
          <p:cNvCxnSpPr/>
          <p:nvPr/>
        </p:nvCxnSpPr>
        <p:spPr>
          <a:xfrm>
            <a:off x="4799631" y="8598345"/>
            <a:ext cx="10131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87" name="Google Shape;287;p21"/>
          <p:cNvCxnSpPr/>
          <p:nvPr/>
        </p:nvCxnSpPr>
        <p:spPr>
          <a:xfrm>
            <a:off x="5213346" y="8598345"/>
            <a:ext cx="4455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88" name="Google Shape;288;p21"/>
          <p:cNvSpPr/>
          <p:nvPr/>
        </p:nvSpPr>
        <p:spPr>
          <a:xfrm>
            <a:off x="4547720" y="8240525"/>
            <a:ext cx="612300" cy="656100"/>
          </a:xfrm>
          <a:prstGeom prst="ellipse">
            <a:avLst/>
          </a:prstGeom>
          <a:solidFill>
            <a:srgbClr val="F0F0F0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9" name="Google Shape;289;p21"/>
          <p:cNvSpPr/>
          <p:nvPr/>
        </p:nvSpPr>
        <p:spPr>
          <a:xfrm>
            <a:off x="6113346" y="8240525"/>
            <a:ext cx="612300" cy="656100"/>
          </a:xfrm>
          <a:prstGeom prst="ellipse">
            <a:avLst/>
          </a:prstGeom>
          <a:solidFill>
            <a:srgbClr val="F0F0F0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0" name="Google Shape;290;p21"/>
          <p:cNvSpPr/>
          <p:nvPr/>
        </p:nvSpPr>
        <p:spPr>
          <a:xfrm>
            <a:off x="5440140" y="8068310"/>
            <a:ext cx="445200" cy="4428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1" name="Google Shape;291;p21"/>
          <p:cNvSpPr txBox="1"/>
          <p:nvPr/>
        </p:nvSpPr>
        <p:spPr>
          <a:xfrm>
            <a:off x="4613528" y="8350719"/>
            <a:ext cx="549900" cy="44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50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2" name="Google Shape;292;p21"/>
          <p:cNvSpPr txBox="1"/>
          <p:nvPr/>
        </p:nvSpPr>
        <p:spPr>
          <a:xfrm>
            <a:off x="6238787" y="8350718"/>
            <a:ext cx="445500" cy="44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30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3" name="Google Shape;293;p21"/>
          <p:cNvSpPr txBox="1"/>
          <p:nvPr/>
        </p:nvSpPr>
        <p:spPr>
          <a:xfrm>
            <a:off x="5374157" y="7993713"/>
            <a:ext cx="388200" cy="30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×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4" name="Google Shape;294;p21"/>
          <p:cNvSpPr txBox="1"/>
          <p:nvPr/>
        </p:nvSpPr>
        <p:spPr>
          <a:xfrm>
            <a:off x="5517323" y="8033308"/>
            <a:ext cx="388200" cy="30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5" name="Google Shape;295;p21"/>
          <p:cNvSpPr txBox="1"/>
          <p:nvPr/>
        </p:nvSpPr>
        <p:spPr>
          <a:xfrm>
            <a:off x="4118107" y="8243109"/>
            <a:ext cx="445200" cy="63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d</a:t>
            </a: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)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96" name="Google Shape;296;p21"/>
          <p:cNvCxnSpPr/>
          <p:nvPr/>
        </p:nvCxnSpPr>
        <p:spPr>
          <a:xfrm>
            <a:off x="1783845" y="8598345"/>
            <a:ext cx="12510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97" name="Google Shape;297;p21"/>
          <p:cNvCxnSpPr/>
          <p:nvPr/>
        </p:nvCxnSpPr>
        <p:spPr>
          <a:xfrm>
            <a:off x="1257522" y="8598345"/>
            <a:ext cx="10131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98" name="Google Shape;298;p21"/>
          <p:cNvCxnSpPr/>
          <p:nvPr/>
        </p:nvCxnSpPr>
        <p:spPr>
          <a:xfrm>
            <a:off x="1671237" y="8598345"/>
            <a:ext cx="4455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99" name="Google Shape;299;p21"/>
          <p:cNvSpPr/>
          <p:nvPr/>
        </p:nvSpPr>
        <p:spPr>
          <a:xfrm>
            <a:off x="1005611" y="8240525"/>
            <a:ext cx="612300" cy="656100"/>
          </a:xfrm>
          <a:prstGeom prst="ellipse">
            <a:avLst/>
          </a:prstGeom>
          <a:solidFill>
            <a:srgbClr val="F0F0F0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0" name="Google Shape;300;p21"/>
          <p:cNvSpPr/>
          <p:nvPr/>
        </p:nvSpPr>
        <p:spPr>
          <a:xfrm>
            <a:off x="2571237" y="8240525"/>
            <a:ext cx="612300" cy="656100"/>
          </a:xfrm>
          <a:prstGeom prst="ellipse">
            <a:avLst/>
          </a:prstGeom>
          <a:solidFill>
            <a:srgbClr val="F0F0F0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1" name="Google Shape;301;p21"/>
          <p:cNvSpPr/>
          <p:nvPr/>
        </p:nvSpPr>
        <p:spPr>
          <a:xfrm>
            <a:off x="1898031" y="7982401"/>
            <a:ext cx="445200" cy="4428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2" name="Google Shape;302;p21"/>
          <p:cNvSpPr txBox="1"/>
          <p:nvPr/>
        </p:nvSpPr>
        <p:spPr>
          <a:xfrm>
            <a:off x="1071419" y="8350719"/>
            <a:ext cx="549900" cy="44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15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3" name="Google Shape;303;p21"/>
          <p:cNvSpPr txBox="1"/>
          <p:nvPr/>
        </p:nvSpPr>
        <p:spPr>
          <a:xfrm>
            <a:off x="2696678" y="8350718"/>
            <a:ext cx="445500" cy="44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10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4" name="Google Shape;304;p21"/>
          <p:cNvSpPr txBox="1"/>
          <p:nvPr/>
        </p:nvSpPr>
        <p:spPr>
          <a:xfrm>
            <a:off x="1832048" y="7993713"/>
            <a:ext cx="388200" cy="30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×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5" name="Google Shape;305;p21"/>
          <p:cNvSpPr txBox="1"/>
          <p:nvPr/>
        </p:nvSpPr>
        <p:spPr>
          <a:xfrm>
            <a:off x="1988474" y="8033308"/>
            <a:ext cx="388200" cy="30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6" name="Google Shape;306;p21"/>
          <p:cNvSpPr txBox="1"/>
          <p:nvPr/>
        </p:nvSpPr>
        <p:spPr>
          <a:xfrm>
            <a:off x="575998" y="8243109"/>
            <a:ext cx="445200" cy="63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c</a:t>
            </a: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)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2}{3}\ \ \ \frac{3}{2}\ \ \frac{1}{3}\ \ \frac{3}{5}\ \ \frac{5}{3}&quot;&gt;&lt;mfrac&gt;&lt;mn&gt;2&lt;/mn&gt;&lt;mn&gt;3&lt;/mn&gt;&lt;/mfrac&gt;&lt;mtext&gt;&lt;/mtext&gt;&lt;mtext&gt;&lt;/mtext&gt;&lt;mtext&gt;&lt;/mtext&gt;&lt;mfrac&gt;&lt;mn&gt;3&lt;/mn&gt;&lt;mn&gt;2&lt;/mn&gt;&lt;/mfrac&gt;&lt;mtext&gt;&lt;/mtext&gt;&lt;mtext&gt;&lt;/mtext&gt;&lt;mfrac&gt;&lt;mn&gt;1&lt;/mn&gt;&lt;mn&gt;3&lt;/mn&gt;&lt;/mfrac&gt;&lt;mtext&gt;&lt;/mtext&gt;&lt;mtext&gt;&lt;/mtext&gt;&lt;mfrac&gt;&lt;mn&gt;3&lt;/mn&gt;&lt;mn&gt;5&lt;/mn&gt;&lt;/mfrac&gt;&lt;mtext&gt;&lt;/mtext&gt;&lt;mtext&gt;&lt;/mtext&gt;&lt;mfrac&gt;&lt;mn&gt;5&lt;/mn&gt;&lt;mn&gt;3&lt;/mn&gt;&lt;/mfrac&gt;&lt;/math&gt;" id="307" name="Google Shape;307;p21" title="two thirds three halves one third three fifths five thirds"/>
          <p:cNvPicPr preferRelativeResize="0"/>
          <p:nvPr/>
        </p:nvPicPr>
        <p:blipFill rotWithShape="1">
          <a:blip r:embed="rId3">
            <a:alphaModFix/>
          </a:blip>
          <a:srcRect b="0" l="0" r="87100" t="0"/>
          <a:stretch/>
        </p:blipFill>
        <p:spPr>
          <a:xfrm>
            <a:off x="2094536" y="8023733"/>
            <a:ext cx="128685" cy="35732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2}{3}\ \ \ \frac{3}{2}\ \ \frac{1}{3}\ \ \frac{3}{5}\ \ \frac{5}{3}&quot;&gt;&lt;mfrac&gt;&lt;mn&gt;2&lt;/mn&gt;&lt;mn&gt;3&lt;/mn&gt;&lt;/mfrac&gt;&lt;mtext&gt;&lt;/mtext&gt;&lt;mtext&gt;&lt;/mtext&gt;&lt;mtext&gt;&lt;/mtext&gt;&lt;mfrac&gt;&lt;mn&gt;3&lt;/mn&gt;&lt;mn&gt;2&lt;/mn&gt;&lt;/mfrac&gt;&lt;mtext&gt;&lt;/mtext&gt;&lt;mtext&gt;&lt;/mtext&gt;&lt;mfrac&gt;&lt;mn&gt;1&lt;/mn&gt;&lt;mn&gt;3&lt;/mn&gt;&lt;/mfrac&gt;&lt;mtext&gt;&lt;/mtext&gt;&lt;mtext&gt;&lt;/mtext&gt;&lt;mfrac&gt;&lt;mn&gt;3&lt;/mn&gt;&lt;mn&gt;5&lt;/mn&gt;&lt;/mfrac&gt;&lt;mtext&gt;&lt;/mtext&gt;&lt;mtext&gt;&lt;/mtext&gt;&lt;mfrac&gt;&lt;mn&gt;5&lt;/mn&gt;&lt;mn&gt;3&lt;/mn&gt;&lt;/mfrac&gt;&lt;/math&gt;" id="308" name="Google Shape;308;p21" title="two thirds three halves one third three fifths five thirds"/>
          <p:cNvPicPr preferRelativeResize="0"/>
          <p:nvPr/>
        </p:nvPicPr>
        <p:blipFill rotWithShape="1">
          <a:blip r:embed="rId3">
            <a:alphaModFix/>
          </a:blip>
          <a:srcRect b="0" l="66627" r="20473" t="0"/>
          <a:stretch/>
        </p:blipFill>
        <p:spPr>
          <a:xfrm>
            <a:off x="5627759" y="8096469"/>
            <a:ext cx="128685" cy="357332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09" name="Google Shape;309;p21"/>
          <p:cNvCxnSpPr/>
          <p:nvPr/>
        </p:nvCxnSpPr>
        <p:spPr>
          <a:xfrm>
            <a:off x="5325954" y="7037685"/>
            <a:ext cx="12510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10" name="Google Shape;310;p21"/>
          <p:cNvCxnSpPr/>
          <p:nvPr/>
        </p:nvCxnSpPr>
        <p:spPr>
          <a:xfrm>
            <a:off x="4799631" y="7037685"/>
            <a:ext cx="10131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11" name="Google Shape;311;p21"/>
          <p:cNvCxnSpPr/>
          <p:nvPr/>
        </p:nvCxnSpPr>
        <p:spPr>
          <a:xfrm>
            <a:off x="5213346" y="7037685"/>
            <a:ext cx="4455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12" name="Google Shape;312;p21"/>
          <p:cNvSpPr/>
          <p:nvPr/>
        </p:nvSpPr>
        <p:spPr>
          <a:xfrm>
            <a:off x="4547720" y="6679865"/>
            <a:ext cx="612300" cy="656100"/>
          </a:xfrm>
          <a:prstGeom prst="ellipse">
            <a:avLst/>
          </a:prstGeom>
          <a:solidFill>
            <a:srgbClr val="F0F0F0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3" name="Google Shape;313;p21"/>
          <p:cNvSpPr/>
          <p:nvPr/>
        </p:nvSpPr>
        <p:spPr>
          <a:xfrm>
            <a:off x="6113346" y="6679865"/>
            <a:ext cx="612300" cy="656100"/>
          </a:xfrm>
          <a:prstGeom prst="ellipse">
            <a:avLst/>
          </a:prstGeom>
          <a:solidFill>
            <a:srgbClr val="F0F0F0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4" name="Google Shape;314;p21"/>
          <p:cNvSpPr/>
          <p:nvPr/>
        </p:nvSpPr>
        <p:spPr>
          <a:xfrm>
            <a:off x="5440140" y="6507650"/>
            <a:ext cx="445200" cy="4428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5" name="Google Shape;315;p21"/>
          <p:cNvSpPr txBox="1"/>
          <p:nvPr/>
        </p:nvSpPr>
        <p:spPr>
          <a:xfrm>
            <a:off x="4723353" y="6790059"/>
            <a:ext cx="549900" cy="44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Lexend"/>
                <a:ea typeface="Lexend"/>
                <a:cs typeface="Lexend"/>
                <a:sym typeface="Lexend"/>
              </a:rPr>
              <a:t>9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6" name="Google Shape;316;p21"/>
          <p:cNvSpPr txBox="1"/>
          <p:nvPr/>
        </p:nvSpPr>
        <p:spPr>
          <a:xfrm>
            <a:off x="6238787" y="6790058"/>
            <a:ext cx="445500" cy="44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Lexend"/>
                <a:ea typeface="Lexend"/>
                <a:cs typeface="Lexend"/>
                <a:sym typeface="Lexend"/>
              </a:rPr>
              <a:t>10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7" name="Google Shape;317;p21"/>
          <p:cNvSpPr txBox="1"/>
          <p:nvPr/>
        </p:nvSpPr>
        <p:spPr>
          <a:xfrm>
            <a:off x="5517323" y="6396447"/>
            <a:ext cx="388200" cy="30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8" name="Google Shape;318;p21"/>
          <p:cNvSpPr txBox="1"/>
          <p:nvPr/>
        </p:nvSpPr>
        <p:spPr>
          <a:xfrm>
            <a:off x="4118107" y="6682449"/>
            <a:ext cx="445200" cy="63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b</a:t>
            </a: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)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319" name="Google Shape;319;p21"/>
          <p:cNvCxnSpPr/>
          <p:nvPr/>
        </p:nvCxnSpPr>
        <p:spPr>
          <a:xfrm>
            <a:off x="1783845" y="7037685"/>
            <a:ext cx="12510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20" name="Google Shape;320;p21"/>
          <p:cNvCxnSpPr/>
          <p:nvPr/>
        </p:nvCxnSpPr>
        <p:spPr>
          <a:xfrm>
            <a:off x="1257522" y="7037685"/>
            <a:ext cx="10131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21" name="Google Shape;321;p21"/>
          <p:cNvCxnSpPr/>
          <p:nvPr/>
        </p:nvCxnSpPr>
        <p:spPr>
          <a:xfrm>
            <a:off x="1671237" y="7037685"/>
            <a:ext cx="4455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22" name="Google Shape;322;p21"/>
          <p:cNvSpPr/>
          <p:nvPr/>
        </p:nvSpPr>
        <p:spPr>
          <a:xfrm>
            <a:off x="1005611" y="6679865"/>
            <a:ext cx="612300" cy="656100"/>
          </a:xfrm>
          <a:prstGeom prst="ellipse">
            <a:avLst/>
          </a:prstGeom>
          <a:solidFill>
            <a:srgbClr val="F0F0F0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3" name="Google Shape;323;p21"/>
          <p:cNvSpPr/>
          <p:nvPr/>
        </p:nvSpPr>
        <p:spPr>
          <a:xfrm>
            <a:off x="2571237" y="6679865"/>
            <a:ext cx="612300" cy="656100"/>
          </a:xfrm>
          <a:prstGeom prst="ellipse">
            <a:avLst/>
          </a:prstGeom>
          <a:solidFill>
            <a:srgbClr val="F0F0F0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4" name="Google Shape;324;p21"/>
          <p:cNvSpPr/>
          <p:nvPr/>
        </p:nvSpPr>
        <p:spPr>
          <a:xfrm>
            <a:off x="1898031" y="6421741"/>
            <a:ext cx="445200" cy="4428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5" name="Google Shape;325;p21"/>
          <p:cNvSpPr txBox="1"/>
          <p:nvPr/>
        </p:nvSpPr>
        <p:spPr>
          <a:xfrm>
            <a:off x="1071419" y="6790059"/>
            <a:ext cx="549900" cy="44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Lexend"/>
                <a:ea typeface="Lexend"/>
                <a:cs typeface="Lexend"/>
                <a:sym typeface="Lexend"/>
              </a:rPr>
              <a:t>1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6" name="Google Shape;326;p21"/>
          <p:cNvSpPr txBox="1"/>
          <p:nvPr/>
        </p:nvSpPr>
        <p:spPr>
          <a:xfrm>
            <a:off x="2696678" y="6790058"/>
            <a:ext cx="445500" cy="44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Lexend"/>
                <a:ea typeface="Lexend"/>
                <a:cs typeface="Lexend"/>
                <a:sym typeface="Lexend"/>
              </a:rPr>
              <a:t>5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7" name="Google Shape;327;p21"/>
          <p:cNvSpPr txBox="1"/>
          <p:nvPr/>
        </p:nvSpPr>
        <p:spPr>
          <a:xfrm>
            <a:off x="1988474" y="6396447"/>
            <a:ext cx="388200" cy="30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8" name="Google Shape;328;p21"/>
          <p:cNvSpPr txBox="1"/>
          <p:nvPr/>
        </p:nvSpPr>
        <p:spPr>
          <a:xfrm>
            <a:off x="575998" y="6682449"/>
            <a:ext cx="445200" cy="63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a</a:t>
            </a: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)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9" name="Google Shape;329;p21"/>
          <p:cNvSpPr txBox="1"/>
          <p:nvPr/>
        </p:nvSpPr>
        <p:spPr>
          <a:xfrm>
            <a:off x="5449964" y="6488460"/>
            <a:ext cx="388200" cy="30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×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0" name="Google Shape;330;p21"/>
          <p:cNvSpPr txBox="1"/>
          <p:nvPr/>
        </p:nvSpPr>
        <p:spPr>
          <a:xfrm>
            <a:off x="2070598" y="6396461"/>
            <a:ext cx="388200" cy="30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5</a:t>
            </a:r>
            <a:endParaRPr sz="18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1}{5}\ \ \frac{9}{10}\ \ \frac{10}{9}&quot;&gt;&lt;mfrac&gt;&lt;mn&gt;1&lt;/mn&gt;&lt;mn&gt;5&lt;/mn&gt;&lt;/mfrac&gt;&lt;mtext&gt;&lt;/mtext&gt;&lt;mtext&gt;&lt;/mtext&gt;&lt;mfrac&gt;&lt;mn&gt;9&lt;/mn&gt;&lt;mn&gt;10&lt;/mn&gt;&lt;/mfrac&gt;&lt;mtext&gt;&lt;/mtext&gt;&lt;mtext&gt;&lt;/mtext&gt;&lt;mfrac&gt;&lt;mn&gt;10&lt;/mn&gt;&lt;mn&gt;9&lt;/mn&gt;&lt;/mfrac&gt;&lt;/math&gt;" id="331" name="Google Shape;331;p21" title="one fifth nine tenths ten ninths"/>
          <p:cNvPicPr preferRelativeResize="0"/>
          <p:nvPr/>
        </p:nvPicPr>
        <p:blipFill rotWithShape="1">
          <a:blip r:embed="rId4">
            <a:alphaModFix/>
          </a:blip>
          <a:srcRect b="0" l="66654" r="-11825" t="0"/>
          <a:stretch/>
        </p:blipFill>
        <p:spPr>
          <a:xfrm>
            <a:off x="5598307" y="6515576"/>
            <a:ext cx="360044" cy="410560"/>
          </a:xfrm>
          <a:prstGeom prst="rect">
            <a:avLst/>
          </a:prstGeom>
          <a:noFill/>
          <a:ln>
            <a:noFill/>
          </a:ln>
        </p:spPr>
      </p:pic>
      <p:sp>
        <p:nvSpPr>
          <p:cNvPr id="332" name="Google Shape;332;p21"/>
          <p:cNvSpPr txBox="1"/>
          <p:nvPr/>
        </p:nvSpPr>
        <p:spPr>
          <a:xfrm>
            <a:off x="1900467" y="6396449"/>
            <a:ext cx="388200" cy="30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×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cxnSp>
        <p:nvCxnSpPr>
          <p:cNvPr id="333" name="Google Shape;333;p21"/>
          <p:cNvCxnSpPr/>
          <p:nvPr/>
        </p:nvCxnSpPr>
        <p:spPr>
          <a:xfrm>
            <a:off x="474757" y="9942508"/>
            <a:ext cx="66105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34" name="Google Shape;334;p21"/>
          <p:cNvSpPr txBox="1"/>
          <p:nvPr/>
        </p:nvSpPr>
        <p:spPr>
          <a:xfrm>
            <a:off x="468000" y="679479"/>
            <a:ext cx="53007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Lexend"/>
                <a:ea typeface="Lexend"/>
                <a:cs typeface="Lexend"/>
                <a:sym typeface="Lexend"/>
              </a:rPr>
              <a:t>Task A: Equivalent ratios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5" name="Google Shape;335;p21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22"/>
          <p:cNvSpPr txBox="1"/>
          <p:nvPr>
            <p:ph idx="1" type="subTitle"/>
          </p:nvPr>
        </p:nvSpPr>
        <p:spPr>
          <a:xfrm>
            <a:off x="1463400" y="360000"/>
            <a:ext cx="4782600" cy="45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Equivalent multiplicative relationships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1" name="Google Shape;341;p22"/>
          <p:cNvSpPr txBox="1"/>
          <p:nvPr/>
        </p:nvSpPr>
        <p:spPr>
          <a:xfrm>
            <a:off x="4358200" y="1349425"/>
            <a:ext cx="2675700" cy="163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For every 2 stars, there are 3 hearts.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      is the fraction of stars.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2" name="Google Shape;342;p22"/>
          <p:cNvSpPr txBox="1"/>
          <p:nvPr/>
        </p:nvSpPr>
        <p:spPr>
          <a:xfrm>
            <a:off x="497525" y="1079950"/>
            <a:ext cx="8155200" cy="52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1)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Using the ratio table, fill in the blanks.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343" name="Google Shape;343;p22"/>
          <p:cNvGraphicFramePr/>
          <p:nvPr/>
        </p:nvGraphicFramePr>
        <p:xfrm>
          <a:off x="854613" y="141721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{7507C816-9995-43A5-901E-04537D8B1C4D}</a:tableStyleId>
              </a:tblPr>
              <a:tblGrid>
                <a:gridCol w="1210075"/>
                <a:gridCol w="1146750"/>
                <a:gridCol w="1146750"/>
              </a:tblGrid>
              <a:tr h="3872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Stars</a:t>
                      </a:r>
                      <a:endParaRPr sz="12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Hearts</a:t>
                      </a:r>
                      <a:endParaRPr sz="12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Total</a:t>
                      </a:r>
                      <a:endParaRPr sz="12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</a:tr>
              <a:tr h="361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1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descr="&lt;math xmlns=&quot;http://www.w3.org/1998/Math/MathML&quot; display=&quot;block&quot; data-is-equatio=&quot;1&quot; data-latex=&quot;\frac{2}{3}\times\frac{4}{4}=\frac{8}{12}&quot;&gt;&lt;mfrac&gt;&lt;mn&gt;2&lt;/mn&gt;&lt;mn&gt;3&lt;/mn&gt;&lt;/mfrac&gt;&lt;mo&gt;×&lt;/mo&gt;&lt;mfrac&gt;&lt;mn&gt;4&lt;/mn&gt;&lt;mn&gt;4&lt;/mn&gt;&lt;/mfrac&gt;&lt;mo&gt;=&lt;/mo&gt;&lt;mfrac&gt;&lt;mn&gt;8&lt;/mn&gt;&lt;mn&gt;12&lt;/mn&gt;&lt;/mfrac&gt;&lt;/math&gt;" id="344" name="Google Shape;344;p22" title="two thirds times four fourths equals 8 over 12"/>
          <p:cNvPicPr preferRelativeResize="0"/>
          <p:nvPr/>
        </p:nvPicPr>
        <p:blipFill rotWithShape="1">
          <a:blip r:embed="rId3">
            <a:alphaModFix/>
          </a:blip>
          <a:srcRect b="0" l="0" r="83215" t="0"/>
          <a:stretch/>
        </p:blipFill>
        <p:spPr>
          <a:xfrm>
            <a:off x="4559812" y="2170175"/>
            <a:ext cx="224925" cy="539100"/>
          </a:xfrm>
          <a:prstGeom prst="rect">
            <a:avLst/>
          </a:prstGeom>
          <a:noFill/>
          <a:ln>
            <a:noFill/>
          </a:ln>
        </p:spPr>
      </p:pic>
      <p:sp>
        <p:nvSpPr>
          <p:cNvPr id="345" name="Google Shape;345;p22"/>
          <p:cNvSpPr txBox="1"/>
          <p:nvPr/>
        </p:nvSpPr>
        <p:spPr>
          <a:xfrm>
            <a:off x="497525" y="2953300"/>
            <a:ext cx="8101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When there are 50 shapes, there are 20 stars and 30 hearts.</a:t>
            </a:r>
            <a:endParaRPr sz="1200"/>
          </a:p>
        </p:txBody>
      </p:sp>
      <p:sp>
        <p:nvSpPr>
          <p:cNvPr id="346" name="Google Shape;346;p22"/>
          <p:cNvSpPr txBox="1"/>
          <p:nvPr/>
        </p:nvSpPr>
        <p:spPr>
          <a:xfrm>
            <a:off x="497525" y="3485050"/>
            <a:ext cx="655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</a:t>
            </a:r>
            <a:endParaRPr sz="1200"/>
          </a:p>
        </p:txBody>
      </p:sp>
      <p:grpSp>
        <p:nvGrpSpPr>
          <p:cNvPr id="347" name="Google Shape;347;p22"/>
          <p:cNvGrpSpPr/>
          <p:nvPr/>
        </p:nvGrpSpPr>
        <p:grpSpPr>
          <a:xfrm>
            <a:off x="889263" y="1841350"/>
            <a:ext cx="3454500" cy="750300"/>
            <a:chOff x="931200" y="1557325"/>
            <a:chExt cx="3454500" cy="750300"/>
          </a:xfrm>
        </p:grpSpPr>
        <p:sp>
          <p:nvSpPr>
            <p:cNvPr id="348" name="Google Shape;348;p22"/>
            <p:cNvSpPr txBox="1"/>
            <p:nvPr/>
          </p:nvSpPr>
          <p:spPr>
            <a:xfrm>
              <a:off x="3293400" y="1557325"/>
              <a:ext cx="10923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rgbClr val="000000"/>
                  </a:solidFill>
                  <a:latin typeface="Kalam"/>
                  <a:ea typeface="Kalam"/>
                  <a:cs typeface="Kalam"/>
                  <a:sym typeface="Kalam"/>
                </a:rPr>
                <a:t>5</a:t>
              </a:r>
              <a:endParaRPr sz="1200">
                <a:latin typeface="Kalam"/>
                <a:ea typeface="Kalam"/>
                <a:cs typeface="Kalam"/>
                <a:sym typeface="Kalam"/>
              </a:endParaRPr>
            </a:p>
          </p:txBody>
        </p:sp>
        <p:sp>
          <p:nvSpPr>
            <p:cNvPr id="349" name="Google Shape;349;p22"/>
            <p:cNvSpPr txBox="1"/>
            <p:nvPr/>
          </p:nvSpPr>
          <p:spPr>
            <a:xfrm>
              <a:off x="931200" y="1938325"/>
              <a:ext cx="10923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rgbClr val="000000"/>
                  </a:solidFill>
                  <a:latin typeface="Kalam"/>
                  <a:ea typeface="Kalam"/>
                  <a:cs typeface="Kalam"/>
                  <a:sym typeface="Kalam"/>
                </a:rPr>
                <a:t>20</a:t>
              </a:r>
              <a:endParaRPr sz="1200">
                <a:latin typeface="Kalam"/>
                <a:ea typeface="Kalam"/>
                <a:cs typeface="Kalam"/>
                <a:sym typeface="Kalam"/>
              </a:endParaRPr>
            </a:p>
          </p:txBody>
        </p:sp>
        <p:sp>
          <p:nvSpPr>
            <p:cNvPr id="350" name="Google Shape;350;p22"/>
            <p:cNvSpPr txBox="1"/>
            <p:nvPr/>
          </p:nvSpPr>
          <p:spPr>
            <a:xfrm>
              <a:off x="2074200" y="1938325"/>
              <a:ext cx="10923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rgbClr val="000000"/>
                  </a:solidFill>
                  <a:latin typeface="Kalam"/>
                  <a:ea typeface="Kalam"/>
                  <a:cs typeface="Kalam"/>
                  <a:sym typeface="Kalam"/>
                </a:rPr>
                <a:t>30</a:t>
              </a:r>
              <a:endParaRPr sz="1200">
                <a:latin typeface="Kalam"/>
                <a:ea typeface="Kalam"/>
                <a:cs typeface="Kalam"/>
                <a:sym typeface="Kalam"/>
              </a:endParaRPr>
            </a:p>
          </p:txBody>
        </p:sp>
      </p:grpSp>
      <p:sp>
        <p:nvSpPr>
          <p:cNvPr id="351" name="Google Shape;351;p22"/>
          <p:cNvSpPr txBox="1"/>
          <p:nvPr/>
        </p:nvSpPr>
        <p:spPr>
          <a:xfrm>
            <a:off x="4291600" y="3524400"/>
            <a:ext cx="2742300" cy="142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For every  6 boys, there are 5 girls.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      is the fraction of girls.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352" name="Google Shape;352;p22"/>
          <p:cNvGraphicFramePr/>
          <p:nvPr/>
        </p:nvGraphicFramePr>
        <p:xfrm>
          <a:off x="836250" y="33773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{7507C816-9995-43A5-901E-04537D8B1C4D}</a:tableStyleId>
              </a:tblPr>
              <a:tblGrid>
                <a:gridCol w="1182400"/>
                <a:gridCol w="1120525"/>
                <a:gridCol w="1120525"/>
              </a:tblGrid>
              <a:tr h="4973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Boys</a:t>
                      </a:r>
                      <a:endParaRPr sz="12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Girls</a:t>
                      </a:r>
                      <a:endParaRPr sz="12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Total</a:t>
                      </a:r>
                      <a:endParaRPr sz="12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</a:tr>
              <a:tr h="4646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646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88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353" name="Google Shape;353;p22"/>
          <p:cNvSpPr txBox="1"/>
          <p:nvPr/>
        </p:nvSpPr>
        <p:spPr>
          <a:xfrm>
            <a:off x="468000" y="4944888"/>
            <a:ext cx="8101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When there are 88 pupils, there are 48 boys and 40 girls.</a:t>
            </a:r>
            <a:endParaRPr sz="1200"/>
          </a:p>
        </p:txBody>
      </p:sp>
      <p:grpSp>
        <p:nvGrpSpPr>
          <p:cNvPr id="354" name="Google Shape;354;p22"/>
          <p:cNvGrpSpPr/>
          <p:nvPr/>
        </p:nvGrpSpPr>
        <p:grpSpPr>
          <a:xfrm>
            <a:off x="801325" y="3889923"/>
            <a:ext cx="3454500" cy="857400"/>
            <a:chOff x="778800" y="3493385"/>
            <a:chExt cx="3454500" cy="857400"/>
          </a:xfrm>
        </p:grpSpPr>
        <p:sp>
          <p:nvSpPr>
            <p:cNvPr id="355" name="Google Shape;355;p22"/>
            <p:cNvSpPr txBox="1"/>
            <p:nvPr/>
          </p:nvSpPr>
          <p:spPr>
            <a:xfrm>
              <a:off x="3141000" y="3493385"/>
              <a:ext cx="10923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>
                  <a:solidFill>
                    <a:srgbClr val="000000"/>
                  </a:solidFill>
                  <a:latin typeface="Kalam"/>
                  <a:ea typeface="Kalam"/>
                  <a:cs typeface="Kalam"/>
                  <a:sym typeface="Kalam"/>
                </a:rPr>
                <a:t>11</a:t>
              </a:r>
              <a:endParaRPr>
                <a:latin typeface="Kalam"/>
                <a:ea typeface="Kalam"/>
                <a:cs typeface="Kalam"/>
                <a:sym typeface="Kalam"/>
              </a:endParaRPr>
            </a:p>
          </p:txBody>
        </p:sp>
        <p:sp>
          <p:nvSpPr>
            <p:cNvPr id="356" name="Google Shape;356;p22"/>
            <p:cNvSpPr txBox="1"/>
            <p:nvPr/>
          </p:nvSpPr>
          <p:spPr>
            <a:xfrm>
              <a:off x="778800" y="3950585"/>
              <a:ext cx="10923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>
                  <a:solidFill>
                    <a:srgbClr val="000000"/>
                  </a:solidFill>
                  <a:latin typeface="Kalam"/>
                  <a:ea typeface="Kalam"/>
                  <a:cs typeface="Kalam"/>
                  <a:sym typeface="Kalam"/>
                </a:rPr>
                <a:t>48</a:t>
              </a:r>
              <a:endParaRPr>
                <a:latin typeface="Kalam"/>
                <a:ea typeface="Kalam"/>
                <a:cs typeface="Kalam"/>
                <a:sym typeface="Kalam"/>
              </a:endParaRPr>
            </a:p>
          </p:txBody>
        </p:sp>
        <p:sp>
          <p:nvSpPr>
            <p:cNvPr id="357" name="Google Shape;357;p22"/>
            <p:cNvSpPr txBox="1"/>
            <p:nvPr/>
          </p:nvSpPr>
          <p:spPr>
            <a:xfrm>
              <a:off x="1921800" y="3950585"/>
              <a:ext cx="10923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>
                  <a:solidFill>
                    <a:srgbClr val="000000"/>
                  </a:solidFill>
                  <a:latin typeface="Kalam"/>
                  <a:ea typeface="Kalam"/>
                  <a:cs typeface="Kalam"/>
                  <a:sym typeface="Kalam"/>
                </a:rPr>
                <a:t>40</a:t>
              </a:r>
              <a:endParaRPr>
                <a:latin typeface="Kalam"/>
                <a:ea typeface="Kalam"/>
                <a:cs typeface="Kalam"/>
                <a:sym typeface="Kalam"/>
              </a:endParaRPr>
            </a:p>
          </p:txBody>
        </p:sp>
      </p:grpSp>
      <p:pic>
        <p:nvPicPr>
          <p:cNvPr descr="&lt;math xmlns=&quot;http://www.w3.org/1998/Math/MathML&quot; display=&quot;block&quot; data-is-equatio=&quot;1&quot; data-latex=&quot;\frac{5}{11}&quot;&gt;&lt;mfrac&gt;&lt;mn&gt;5&lt;/mn&gt;&lt;mn&gt;11&lt;/mn&gt;&lt;/mfrac&gt;&lt;/math&gt;" id="358" name="Google Shape;358;p22" title="5 over 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421236" y="4224361"/>
            <a:ext cx="253775" cy="462373"/>
          </a:xfrm>
          <a:prstGeom prst="rect">
            <a:avLst/>
          </a:prstGeom>
          <a:noFill/>
          <a:ln>
            <a:noFill/>
          </a:ln>
        </p:spPr>
      </p:pic>
      <p:sp>
        <p:nvSpPr>
          <p:cNvPr id="359" name="Google Shape;359;p22"/>
          <p:cNvSpPr txBox="1"/>
          <p:nvPr/>
        </p:nvSpPr>
        <p:spPr>
          <a:xfrm>
            <a:off x="468000" y="682454"/>
            <a:ext cx="53007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Lexend"/>
                <a:ea typeface="Lexend"/>
                <a:cs typeface="Lexend"/>
                <a:sym typeface="Lexend"/>
              </a:rPr>
              <a:t>Task B: 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Using equivalent ratios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0" name="Google Shape;360;p22"/>
          <p:cNvSpPr txBox="1"/>
          <p:nvPr/>
        </p:nvSpPr>
        <p:spPr>
          <a:xfrm>
            <a:off x="478672" y="6003800"/>
            <a:ext cx="6475200" cy="312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To make screed, the ratio of sand to cement is for every 1 kg of sand, use 4 kg of cement.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) Show this in a ratio table.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b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) Andeep needs 15kg in total.  How many kg of sand will he need?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c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) What fraction of the screed is sand?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361" name="Google Shape;361;p22"/>
          <p:cNvGraphicFramePr/>
          <p:nvPr/>
        </p:nvGraphicFramePr>
        <p:xfrm>
          <a:off x="3835013" y="65328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{7507C816-9995-43A5-901E-04537D8B1C4D}</a:tableStyleId>
              </a:tblPr>
              <a:tblGrid>
                <a:gridCol w="998250"/>
                <a:gridCol w="946000"/>
                <a:gridCol w="946000"/>
              </a:tblGrid>
              <a:tr h="3872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Sand</a:t>
                      </a:r>
                      <a:endParaRPr sz="12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Cement</a:t>
                      </a:r>
                      <a:endParaRPr sz="12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Total</a:t>
                      </a:r>
                      <a:endParaRPr sz="12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</a:tr>
              <a:tr h="361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362" name="Google Shape;362;p22"/>
          <p:cNvGraphicFramePr/>
          <p:nvPr/>
        </p:nvGraphicFramePr>
        <p:xfrm>
          <a:off x="3835013" y="730584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{7507C816-9995-43A5-901E-04537D8B1C4D}</a:tableStyleId>
              </a:tblPr>
              <a:tblGrid>
                <a:gridCol w="998250"/>
                <a:gridCol w="946000"/>
                <a:gridCol w="946000"/>
              </a:tblGrid>
              <a:tr h="361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12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15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363" name="Google Shape;363;p22"/>
          <p:cNvSpPr txBox="1"/>
          <p:nvPr/>
        </p:nvSpPr>
        <p:spPr>
          <a:xfrm>
            <a:off x="727453" y="8337750"/>
            <a:ext cx="2484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He would need 3 kg of sand.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1}{5}&quot;&gt;&lt;mfrac&gt;&lt;mn&gt;1&lt;/mn&gt;&lt;mn&gt;5&lt;/mn&gt;&lt;/mfrac&gt;&lt;/math&gt;" id="364" name="Google Shape;364;p22" title="one fifth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419997" y="8737950"/>
            <a:ext cx="184032" cy="591600"/>
          </a:xfrm>
          <a:prstGeom prst="rect">
            <a:avLst/>
          </a:prstGeom>
          <a:noFill/>
          <a:ln>
            <a:noFill/>
          </a:ln>
        </p:spPr>
      </p:pic>
      <p:sp>
        <p:nvSpPr>
          <p:cNvPr id="365" name="Google Shape;365;p22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23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371" name="Google Shape;371;p23"/>
          <p:cNvSpPr txBox="1"/>
          <p:nvPr>
            <p:ph idx="1" type="subTitle"/>
          </p:nvPr>
        </p:nvSpPr>
        <p:spPr>
          <a:xfrm>
            <a:off x="1463400" y="360000"/>
            <a:ext cx="47826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Equivalent multiplicative relationships</a:t>
            </a:r>
            <a:endParaRPr/>
          </a:p>
        </p:txBody>
      </p:sp>
      <p:sp>
        <p:nvSpPr>
          <p:cNvPr id="372" name="Google Shape;372;p23"/>
          <p:cNvSpPr txBox="1"/>
          <p:nvPr/>
        </p:nvSpPr>
        <p:spPr>
          <a:xfrm>
            <a:off x="6744600" y="10447800"/>
            <a:ext cx="815400" cy="24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v2</a:t>
            </a:r>
            <a:r>
              <a:rPr lang="en-GB" sz="1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.3</a:t>
            </a:r>
            <a:endParaRPr sz="1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3" name="Google Shape;373;p23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Mathematics in Education and Industry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374" name="Google Shape;374;p23"/>
          <p:cNvSpPr txBox="1"/>
          <p:nvPr/>
        </p:nvSpPr>
        <p:spPr>
          <a:xfrm>
            <a:off x="468000" y="959125"/>
            <a:ext cx="6419400" cy="78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3) Jacob spilt ink all over the maths question and his working out, but he correctly shaded in the grid. Work out the maths questions and working out.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375" name="Google Shape;375;p23"/>
          <p:cNvGraphicFramePr/>
          <p:nvPr/>
        </p:nvGraphicFramePr>
        <p:xfrm>
          <a:off x="536250" y="19196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{7507C816-9995-43A5-901E-04537D8B1C4D}</a:tableStyleId>
              </a:tblPr>
              <a:tblGrid>
                <a:gridCol w="431675"/>
                <a:gridCol w="431675"/>
                <a:gridCol w="431675"/>
                <a:gridCol w="431675"/>
                <a:gridCol w="431675"/>
                <a:gridCol w="431675"/>
              </a:tblGrid>
              <a:tr h="4022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08080"/>
                    </a:solidFill>
                  </a:tcPr>
                </a:tc>
              </a:tr>
              <a:tr h="4022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08080"/>
                    </a:solidFill>
                  </a:tcPr>
                </a:tc>
              </a:tr>
              <a:tr h="4022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022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022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022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76" name="Google Shape;376;p23"/>
          <p:cNvSpPr txBox="1"/>
          <p:nvPr/>
        </p:nvSpPr>
        <p:spPr>
          <a:xfrm>
            <a:off x="3245050" y="1895763"/>
            <a:ext cx="5835300" cy="57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For every 2 shaded there are 1 unshaded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The fraction that is shaded is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2}{3}\times\frac{12}{12}=\frac{24}{36}&quot;&gt;&lt;mfrac&gt;&lt;mn&gt;2&lt;/mn&gt;&lt;mn&gt;3&lt;/mn&gt;&lt;/mfrac&gt;&lt;mo&gt;×&lt;/mo&gt;&lt;mfrac&gt;&lt;mn&gt;12&lt;/mn&gt;&lt;mn&gt;12&lt;/mn&gt;&lt;/mfrac&gt;&lt;mo&gt;=&lt;/mo&gt;&lt;mfrac&gt;&lt;mn&gt;24&lt;/mn&gt;&lt;mn&gt;36&lt;/mn&gt;&lt;/mfrac&gt;&lt;/math&gt;" id="377" name="Google Shape;377;p23" title="two thirds times 12 over 12 equals 24 over 36"/>
          <p:cNvPicPr preferRelativeResize="0"/>
          <p:nvPr/>
        </p:nvPicPr>
        <p:blipFill rotWithShape="1">
          <a:blip r:embed="rId3">
            <a:alphaModFix/>
          </a:blip>
          <a:srcRect b="0" l="0" r="85249" t="0"/>
          <a:stretch/>
        </p:blipFill>
        <p:spPr>
          <a:xfrm>
            <a:off x="5430500" y="2119952"/>
            <a:ext cx="192768" cy="480400"/>
          </a:xfrm>
          <a:prstGeom prst="rect">
            <a:avLst/>
          </a:prstGeom>
          <a:noFill/>
          <a:ln>
            <a:noFill/>
          </a:ln>
        </p:spPr>
      </p:pic>
      <p:sp>
        <p:nvSpPr>
          <p:cNvPr id="378" name="Google Shape;378;p23"/>
          <p:cNvSpPr txBox="1"/>
          <p:nvPr/>
        </p:nvSpPr>
        <p:spPr>
          <a:xfrm>
            <a:off x="3285000" y="4077775"/>
            <a:ext cx="3550500" cy="57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I need to shade in 24 squares.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9" name="Google Shape;379;p23"/>
          <p:cNvSpPr txBox="1"/>
          <p:nvPr/>
        </p:nvSpPr>
        <p:spPr>
          <a:xfrm>
            <a:off x="3285000" y="3163375"/>
            <a:ext cx="5835300" cy="57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Using 36 squares,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2}{3}\times\frac{12}{12}=\frac{24}{36}&quot;&gt;&lt;mfrac&gt;&lt;mn&gt;2&lt;/mn&gt;&lt;mn&gt;3&lt;/mn&gt;&lt;/mfrac&gt;&lt;mo&gt;×&lt;/mo&gt;&lt;mfrac&gt;&lt;mn&gt;12&lt;/mn&gt;&lt;mn&gt;12&lt;/mn&gt;&lt;/mfrac&gt;&lt;mo&gt;=&lt;/mo&gt;&lt;mfrac&gt;&lt;mn&gt;24&lt;/mn&gt;&lt;mn&gt;36&lt;/mn&gt;&lt;/mfrac&gt;&lt;/math&gt;" id="380" name="Google Shape;380;p23" title="two thirds times 12 over 12 equals 24 over 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11263" y="3098860"/>
            <a:ext cx="1307031" cy="480400"/>
          </a:xfrm>
          <a:prstGeom prst="rect">
            <a:avLst/>
          </a:prstGeom>
          <a:noFill/>
          <a:ln>
            <a:noFill/>
          </a:ln>
        </p:spPr>
      </p:pic>
      <p:sp>
        <p:nvSpPr>
          <p:cNvPr id="381" name="Google Shape;381;p23"/>
          <p:cNvSpPr txBox="1"/>
          <p:nvPr/>
        </p:nvSpPr>
        <p:spPr>
          <a:xfrm>
            <a:off x="468000" y="682454"/>
            <a:ext cx="53007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Lexend"/>
                <a:ea typeface="Lexend"/>
                <a:cs typeface="Lexend"/>
                <a:sym typeface="Lexend"/>
              </a:rPr>
              <a:t>Task B: Using equivalent ratios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82" name="Google Shape;382;p23"/>
          <p:cNvSpPr txBox="1"/>
          <p:nvPr/>
        </p:nvSpPr>
        <p:spPr>
          <a:xfrm>
            <a:off x="536238" y="5539550"/>
            <a:ext cx="8237700" cy="30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4) The ratio of the three different panels of fencing are: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Panel length A × 1.5 = panel length B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Panel length A × 2 = panel length C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The total length of the fencing is 36 cm. Work out the length of each panel.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383" name="Google Shape;383;p23"/>
          <p:cNvGraphicFramePr/>
          <p:nvPr/>
        </p:nvGraphicFramePr>
        <p:xfrm>
          <a:off x="1135038" y="71521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{7507C816-9995-43A5-901E-04537D8B1C4D}</a:tableStyleId>
              </a:tblPr>
              <a:tblGrid>
                <a:gridCol w="1379000"/>
                <a:gridCol w="1306825"/>
                <a:gridCol w="1306825"/>
              </a:tblGrid>
              <a:tr h="3872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A</a:t>
                      </a:r>
                      <a:endParaRPr sz="12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B</a:t>
                      </a:r>
                      <a:endParaRPr sz="12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C</a:t>
                      </a:r>
                      <a:endParaRPr sz="12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</a:tr>
              <a:tr h="361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384" name="Google Shape;384;p23"/>
          <p:cNvGraphicFramePr/>
          <p:nvPr/>
        </p:nvGraphicFramePr>
        <p:xfrm>
          <a:off x="5118144" y="71521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{7507C816-9995-43A5-901E-04537D8B1C4D}</a:tableStyleId>
              </a:tblPr>
              <a:tblGrid>
                <a:gridCol w="1306825"/>
              </a:tblGrid>
              <a:tr h="3872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Perimeter</a:t>
                      </a:r>
                      <a:endParaRPr sz="12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</a:tr>
              <a:tr h="361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9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385" name="Google Shape;385;p23"/>
          <p:cNvGraphicFramePr/>
          <p:nvPr/>
        </p:nvGraphicFramePr>
        <p:xfrm>
          <a:off x="5118144" y="793410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{7507C816-9995-43A5-901E-04537D8B1C4D}</a:tableStyleId>
              </a:tblPr>
              <a:tblGrid>
                <a:gridCol w="1306825"/>
              </a:tblGrid>
              <a:tr h="361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36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386" name="Google Shape;386;p23"/>
          <p:cNvGraphicFramePr/>
          <p:nvPr/>
        </p:nvGraphicFramePr>
        <p:xfrm>
          <a:off x="1135038" y="793410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{7507C816-9995-43A5-901E-04537D8B1C4D}</a:tableStyleId>
              </a:tblPr>
              <a:tblGrid>
                <a:gridCol w="1379000"/>
                <a:gridCol w="1306825"/>
                <a:gridCol w="1306825"/>
              </a:tblGrid>
              <a:tr h="361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12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16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387" name="Google Shape;387;p23"/>
          <p:cNvSpPr txBox="1"/>
          <p:nvPr/>
        </p:nvSpPr>
        <p:spPr>
          <a:xfrm>
            <a:off x="639295" y="8560250"/>
            <a:ext cx="5300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A has length 8 cm, B has length 12 cm and C has length 16 cm.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LD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Worksheet Answers September 2023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