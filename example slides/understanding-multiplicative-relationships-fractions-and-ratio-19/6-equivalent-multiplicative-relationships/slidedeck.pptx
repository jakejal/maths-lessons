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1" r:id="rId4"/>
    <p:sldMasterId id="21474837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CF5448-D9C0-438B-8069-6978497CE366}">
  <a:tblStyle styleId="{31CF5448-D9C0-438B-8069-6978497CE3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1ec3e5c46cb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3" name="Google Shape;1493;g1ec3e5c46cb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12e5d7dc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312e5d7dc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1ec3e5c46cb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1ec3e5c46cb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a3ebddf8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a3ebddf8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2a3ebddf8fa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2a3ebddf8fa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a3ebddf8fa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a3ebddf8fa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a3ebddf8fa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a3ebddf8fa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a3ebddf8fa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a3ebddf8fa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2a560491ff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2a560491ff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2a560491ff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a560491ff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a3ebddf8fa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a3ebddf8fa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2a560491ff4_0_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2a560491ff4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2a8b017c7b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2a8b017c7b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a8b017c7b4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a8b017c7b4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a8b017c7b4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a8b017c7b4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g2a8b017c7b4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7" name="Google Shape;1847;g2a8b017c7b4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2a8b017c7b4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2a8b017c7b4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a8b017c7b4_1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a8b017c7b4_1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a8b017c7b4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a8b017c7b4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2a560491ff4_0_2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2a560491ff4_0_2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2a560491ff4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a560491ff4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g2a560491ff4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2" name="Google Shape;2022;g2a560491ff4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g2a560491ff4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0" name="Google Shape;2100;g2a560491ff4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2a3ebddf8fa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2a3ebddf8fa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2a560491ff4_0_2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2a560491ff4_0_2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g2a560491ff4_0_2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6" name="Google Shape;2186;g2a560491ff4_0_2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2a560491ff4_0_2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2a560491ff4_0_2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2a560491ff4_0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2a560491ff4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g2a3ebddf8fa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6" name="Google Shape;2346;g2a3ebddf8fa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2a560491ff4_0_2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2a560491ff4_0_2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2a3ebddf8fa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2" name="Google Shape;2372;g2a3ebddf8f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g2a560491ff4_0_2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" name="Google Shape;2388;g2a560491ff4_0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g2a560491ff4_0_2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0" name="Google Shape;2400;g2a560491ff4_0_2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g2a560491ff4_0_2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4" name="Google Shape;2414;g2a560491ff4_0_2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g2a560491ff4_0_2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3" name="Google Shape;2433;g2a560491ff4_0_2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g2a560491ff4_0_2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7" name="Google Shape;2457;g2a560491ff4_0_2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g2a560491ff4_0_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3" name="Google Shape;2463;g2a560491ff4_0_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2a560491ff4_0_2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1" name="Google Shape;2481;g2a560491ff4_0_2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g2a560491ff4_0_2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7" name="Google Shape;2487;g2a560491ff4_0_2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0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2a560491ff4_0_2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2a560491ff4_0_2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2a560491ff4_0_2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2" name="Google Shape;2532;g2a560491ff4_0_2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2a560491ff4_0_2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0" name="Google Shape;2550;g2a560491ff4_0_2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" name="Google Shape;2560;g1ec3e5c46cb_0_1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1" name="Google Shape;2561;g1ec3e5c46cb_0_1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g1ec3e5c46cb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9" name="Google Shape;2569;g1ec3e5c46cb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77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7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7.png"/><Relationship Id="rId4" Type="http://schemas.openxmlformats.org/officeDocument/2006/relationships/image" Target="../media/image29.png"/><Relationship Id="rId11" Type="http://schemas.openxmlformats.org/officeDocument/2006/relationships/image" Target="../media/image18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77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8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77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77.png"/><Relationship Id="rId4" Type="http://schemas.openxmlformats.org/officeDocument/2006/relationships/image" Target="../media/image29.png"/><Relationship Id="rId11" Type="http://schemas.openxmlformats.org/officeDocument/2006/relationships/image" Target="../media/image18.png"/><Relationship Id="rId10" Type="http://schemas.openxmlformats.org/officeDocument/2006/relationships/image" Target="../media/image38.png"/><Relationship Id="rId9" Type="http://schemas.openxmlformats.org/officeDocument/2006/relationships/image" Target="../media/image33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5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6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7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7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8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8" name="Google Shape;878;p78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9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9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9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0" name="Google Shape;890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3" name="Google Shape;893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0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0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80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7" name="Google Shape;897;p80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8" name="Google Shape;898;p80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9" name="Google Shape;899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1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1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81"/>
          <p:cNvCxnSpPr>
            <a:endCxn id="90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7" name="Google Shape;907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6" name="Google Shape;90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2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0" name="Google Shape;920;p82"/>
          <p:cNvCxnSpPr>
            <a:endCxn id="92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4" name="Google Shape;924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5" name="Google Shape;925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6" name="Google Shape;92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2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2" name="Google Shape;932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3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3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0" name="Google Shape;940;p83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1" name="Google Shape;941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3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5" name="Google Shape;945;p83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6" name="Google Shape;946;p83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7" name="Google Shape;947;p83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8" name="Google Shape;948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83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3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8" name="Google Shape;95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8" name="Google Shape;978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80" name="Google Shape;980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3" name="Google Shape;983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6" name="Google Shape;986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7" name="Google Shape;987;p88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8" name="Google Shape;988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9" name="Google Shape;989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2" name="Google Shape;992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6" name="Google Shape;996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9" name="Google Shape;999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0" name="Google Shape;100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1" name="Google Shape;1001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2" name="Google Shape;100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4" name="Google Shape;1004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5" name="Google Shape;1005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90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9" name="Google Shape;1009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0" name="Google Shape;1010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2" name="Google Shape;1012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3" name="Google Shape;101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4" name="Google Shape;1014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5" name="Google Shape;1015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8" name="Google Shape;101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7" name="Google Shape;1027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8" name="Google Shape;1028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0" name="Google Shape;1030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1" name="Google Shape;1031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Google Shape;1034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9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3" name="Google Shape;104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4" name="Google Shape;1044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0" name="Google Shape;1050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4" name="Google Shape;106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8" name="Google Shape;1068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9" name="Google Shape;1069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5" name="Google Shape;107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6" name="Google Shape;1086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7" name="Google Shape;1087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0" name="Google Shape;1090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91" name="Google Shape;1091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92" name="Google Shape;1092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3" name="Google Shape;109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5" name="Google Shape;1095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6" name="Google Shape;109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7" name="Google Shape;109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8" name="Google Shape;109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9" name="Google Shape;1109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10" name="Google Shape;1110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3" name="Google Shape;1113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4" name="Google Shape;111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5" name="Google Shape;1115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6" name="Google Shape;111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8" name="Google Shape;1118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9" name="Google Shape;111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9" name="Google Shape;1129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3" name="Google Shape;1133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4" name="Google Shape;1134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5" name="Google Shape;1135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6" name="Google Shape;1136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9" name="Google Shape;113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1" name="Google Shape;1141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42" name="Google Shape;114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oogle Shape;1145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8" name="Google Shape;1148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1" name="Google Shape;1151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2" name="Google Shape;1152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4" name="Google Shape;1154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3" name="Google Shape;1173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4" name="Google Shape;117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7" name="Google Shape;117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9" name="Google Shape;1179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0" name="Google Shape;118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3" name="Google Shape;1183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6" name="Google Shape;11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0" name="Google Shape;1190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1" name="Google Shape;1191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2" name="Google Shape;1192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3" name="Google Shape;119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6" name="Google Shape;119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9" name="Google Shape;119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5" name="Google Shape;120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9" name="Google Shape;120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0" name="Google Shape;121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2" name="Google Shape;1212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3" name="Google Shape;1213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2" name="Google Shape;1232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3" name="Google Shape;1233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4" name="Google Shape;1234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5" name="Google Shape;1235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42" name="Google Shape;124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5" name="Google Shape;124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6" name="Google Shape;124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51" name="Google Shape;1251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4" name="Google Shape;1254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7" name="Google Shape;1257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8" name="Google Shape;1258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7" name="Google Shape;1267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8" name="Google Shape;126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4" name="Google Shape;127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7" name="Google Shape;1277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8" name="Google Shape;1278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9" name="Google Shape;1279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80" name="Google Shape;1280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81" name="Google Shape;1281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0" name="Google Shape;1290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91" name="Google Shape;129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2" name="Google Shape;129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4" name="Google Shape;1294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7" name="Google Shape;129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0" name="Google Shape;1300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1" name="Google Shape;1301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02" name="Google Shape;1302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3" name="Google Shape;1303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10" name="Google Shape;1310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6" name="Google Shape;1316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0" name="Google Shape;1320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1" name="Google Shape;1321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2" name="Google Shape;1322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9" name="Google Shape;132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0" name="Google Shape;133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" name="Google Shape;1332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5" name="Google Shape;133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8" name="Google Shape;1338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0" name="Google Shape;1340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41" name="Google Shape;1341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7" name="Google Shape;1347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8" name="Google Shape;134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4" name="Google Shape;135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7" name="Google Shape;1357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8" name="Google Shape;1358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9" name="Google Shape;1359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0" name="Google Shape;1360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7" name="Google Shape;136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4" name="Google Shape;1394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1" name="Google Shape;1401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3" name="Google Shape;1403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9" name="Google Shape;1409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2" name="Google Shape;141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7" name="Google Shape;141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4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0" name="Google Shape;142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5" name="Google Shape;1425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0" name="Google Shape;1430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1" name="Google Shape;1431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3" name="Google Shape;1433;p116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5" name="Google Shape;1435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1" name="Google Shape;1441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3" name="Google Shape;1443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4" name="Google Shape;1444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9" name="Google Shape;1449;p118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1" name="Google Shape;1451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2" name="Google Shape;1452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7" name="Google Shape;1457;p119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9" name="Google Shape;1459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0" name="Google Shape;146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2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3" name="Google Shape;1463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5" name="Google Shape;1465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12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9" name="Google Shape;146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1" name="Google Shape;147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12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2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2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12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2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2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  <p:sldLayoutId id="2147483770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5.png"/><Relationship Id="rId4" Type="http://schemas.openxmlformats.org/officeDocument/2006/relationships/image" Target="../media/image9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5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3.png"/><Relationship Id="rId4" Type="http://schemas.openxmlformats.org/officeDocument/2006/relationships/image" Target="../media/image10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1.png"/><Relationship Id="rId4" Type="http://schemas.openxmlformats.org/officeDocument/2006/relationships/image" Target="../media/image10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1.png"/><Relationship Id="rId4" Type="http://schemas.openxmlformats.org/officeDocument/2006/relationships/image" Target="../media/image1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6.png"/><Relationship Id="rId4" Type="http://schemas.openxmlformats.org/officeDocument/2006/relationships/image" Target="../media/image10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</p:txBody>
      </p:sp>
      <p:sp>
        <p:nvSpPr>
          <p:cNvPr id="1496" name="Google Shape;1496;p12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27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there are an infinite number of pairs of numbers for any given multiplicative relationship.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29"/>
          <p:cNvSpPr txBox="1"/>
          <p:nvPr>
            <p:ph idx="1" type="subTitle"/>
          </p:nvPr>
        </p:nvSpPr>
        <p:spPr>
          <a:xfrm>
            <a:off x="383151" y="1872400"/>
            <a:ext cx="822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ratio shows the relative sizes of 2 or more values and allows you to compare a part with another part in a whole.</a:t>
            </a:r>
            <a:endParaRPr b="0"/>
          </a:p>
        </p:txBody>
      </p:sp>
      <p:sp>
        <p:nvSpPr>
          <p:cNvPr id="1512" name="Google Shape;1512;p129"/>
          <p:cNvSpPr txBox="1"/>
          <p:nvPr/>
        </p:nvSpPr>
        <p:spPr>
          <a:xfrm>
            <a:off x="383150" y="2930225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Two fractions are equivalent if they have the same value.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129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Proportionality means when variables are in proportion if they have a constant multiplicative relationship.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sp>
        <p:nvSpPr>
          <p:cNvPr id="1519" name="Google Shape;1519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sp>
        <p:nvSpPr>
          <p:cNvPr id="1520" name="Google Shape;1520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1" name="Google Shape;152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22" y="206284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3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same and what is different with the following ratios?</a:t>
            </a:r>
            <a:endParaRPr/>
          </a:p>
        </p:txBody>
      </p:sp>
      <p:sp>
        <p:nvSpPr>
          <p:cNvPr id="1527" name="Google Shape;1527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aphicFrame>
        <p:nvGraphicFramePr>
          <p:cNvPr id="1528" name="Google Shape;1528;p131"/>
          <p:cNvGraphicFramePr/>
          <p:nvPr/>
        </p:nvGraphicFramePr>
        <p:xfrm>
          <a:off x="394950" y="177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  <a:gridCol w="464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9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2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9" name="Google Shape;1529;p131"/>
          <p:cNvGraphicFramePr/>
          <p:nvPr/>
        </p:nvGraphicFramePr>
        <p:xfrm>
          <a:off x="394950" y="391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80775"/>
                <a:gridCol w="480775"/>
                <a:gridCol w="480775"/>
                <a:gridCol w="480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0" name="Google Shape;1530;p131"/>
          <p:cNvGraphicFramePr/>
          <p:nvPr/>
        </p:nvGraphicFramePr>
        <p:xfrm>
          <a:off x="416825" y="284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83575"/>
                <a:gridCol w="483575"/>
                <a:gridCol w="483575"/>
                <a:gridCol w="483575"/>
                <a:gridCol w="483575"/>
                <a:gridCol w="483575"/>
                <a:gridCol w="483575"/>
                <a:gridCol w="4835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1" name="Google Shape;1531;p131"/>
          <p:cNvGraphicFramePr/>
          <p:nvPr/>
        </p:nvGraphicFramePr>
        <p:xfrm>
          <a:off x="6419525" y="17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 shirts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2" name="Google Shape;1532;p131"/>
          <p:cNvGraphicFramePr/>
          <p:nvPr/>
        </p:nvGraphicFramePr>
        <p:xfrm>
          <a:off x="6419525" y="268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33" name="Google Shape;1533;p131"/>
          <p:cNvGraphicFramePr/>
          <p:nvPr/>
        </p:nvGraphicFramePr>
        <p:xfrm>
          <a:off x="6419525" y="313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4" name="Google Shape;1534;p131"/>
          <p:cNvSpPr txBox="1"/>
          <p:nvPr/>
        </p:nvSpPr>
        <p:spPr>
          <a:xfrm>
            <a:off x="2656200" y="3615500"/>
            <a:ext cx="6163800" cy="12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proportions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 the same.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1 T-shirt, there are 3 shorts.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35" name="Google Shape;1535;p131"/>
          <p:cNvGrpSpPr/>
          <p:nvPr/>
        </p:nvGrpSpPr>
        <p:grpSpPr>
          <a:xfrm>
            <a:off x="416825" y="3957692"/>
            <a:ext cx="1876237" cy="422700"/>
            <a:chOff x="416825" y="3957692"/>
            <a:chExt cx="1876237" cy="422700"/>
          </a:xfrm>
        </p:grpSpPr>
        <p:sp>
          <p:nvSpPr>
            <p:cNvPr id="1536" name="Google Shape;1536;p131"/>
            <p:cNvSpPr/>
            <p:nvPr/>
          </p:nvSpPr>
          <p:spPr>
            <a:xfrm>
              <a:off x="416825" y="3957692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131"/>
            <p:cNvSpPr/>
            <p:nvPr/>
          </p:nvSpPr>
          <p:spPr>
            <a:xfrm>
              <a:off x="903560" y="3957692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131"/>
            <p:cNvSpPr/>
            <p:nvPr/>
          </p:nvSpPr>
          <p:spPr>
            <a:xfrm>
              <a:off x="1382911" y="3957692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131"/>
            <p:cNvSpPr/>
            <p:nvPr/>
          </p:nvSpPr>
          <p:spPr>
            <a:xfrm>
              <a:off x="1862262" y="3957692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0" name="Google Shape;1540;p131"/>
          <p:cNvGrpSpPr/>
          <p:nvPr/>
        </p:nvGrpSpPr>
        <p:grpSpPr>
          <a:xfrm>
            <a:off x="445842" y="2884350"/>
            <a:ext cx="2358922" cy="424184"/>
            <a:chOff x="445842" y="2884350"/>
            <a:chExt cx="2358922" cy="424184"/>
          </a:xfrm>
        </p:grpSpPr>
        <p:sp>
          <p:nvSpPr>
            <p:cNvPr id="1541" name="Google Shape;1541;p131"/>
            <p:cNvSpPr/>
            <p:nvPr/>
          </p:nvSpPr>
          <p:spPr>
            <a:xfrm>
              <a:off x="445842" y="2885834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131"/>
            <p:cNvSpPr/>
            <p:nvPr/>
          </p:nvSpPr>
          <p:spPr>
            <a:xfrm>
              <a:off x="1413966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131"/>
            <p:cNvSpPr/>
            <p:nvPr/>
          </p:nvSpPr>
          <p:spPr>
            <a:xfrm>
              <a:off x="1896498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4" name="Google Shape;1544;p131"/>
            <p:cNvSpPr/>
            <p:nvPr/>
          </p:nvSpPr>
          <p:spPr>
            <a:xfrm>
              <a:off x="2373964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5" name="Google Shape;1545;p131"/>
          <p:cNvGrpSpPr/>
          <p:nvPr/>
        </p:nvGrpSpPr>
        <p:grpSpPr>
          <a:xfrm>
            <a:off x="928374" y="2884350"/>
            <a:ext cx="3334323" cy="424184"/>
            <a:chOff x="928374" y="2884350"/>
            <a:chExt cx="3334323" cy="424184"/>
          </a:xfrm>
        </p:grpSpPr>
        <p:sp>
          <p:nvSpPr>
            <p:cNvPr id="1546" name="Google Shape;1546;p131"/>
            <p:cNvSpPr/>
            <p:nvPr/>
          </p:nvSpPr>
          <p:spPr>
            <a:xfrm>
              <a:off x="928374" y="2885834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131"/>
            <p:cNvSpPr/>
            <p:nvPr/>
          </p:nvSpPr>
          <p:spPr>
            <a:xfrm>
              <a:off x="2871899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131"/>
            <p:cNvSpPr/>
            <p:nvPr/>
          </p:nvSpPr>
          <p:spPr>
            <a:xfrm>
              <a:off x="3354431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9" name="Google Shape;1549;p131"/>
            <p:cNvSpPr/>
            <p:nvPr/>
          </p:nvSpPr>
          <p:spPr>
            <a:xfrm>
              <a:off x="3831897" y="2884350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0" name="Google Shape;1550;p131"/>
          <p:cNvGrpSpPr/>
          <p:nvPr/>
        </p:nvGrpSpPr>
        <p:grpSpPr>
          <a:xfrm>
            <a:off x="875717" y="1807648"/>
            <a:ext cx="3697049" cy="426316"/>
            <a:chOff x="875717" y="1807417"/>
            <a:chExt cx="3697049" cy="426316"/>
          </a:xfrm>
        </p:grpSpPr>
        <p:sp>
          <p:nvSpPr>
            <p:cNvPr id="1551" name="Google Shape;1551;p131"/>
            <p:cNvSpPr/>
            <p:nvPr/>
          </p:nvSpPr>
          <p:spPr>
            <a:xfrm>
              <a:off x="875717" y="1811034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131"/>
            <p:cNvSpPr/>
            <p:nvPr/>
          </p:nvSpPr>
          <p:spPr>
            <a:xfrm>
              <a:off x="3181968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3" name="Google Shape;1553;p131"/>
            <p:cNvSpPr/>
            <p:nvPr/>
          </p:nvSpPr>
          <p:spPr>
            <a:xfrm>
              <a:off x="3664501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131"/>
            <p:cNvSpPr/>
            <p:nvPr/>
          </p:nvSpPr>
          <p:spPr>
            <a:xfrm>
              <a:off x="4141966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5" name="Google Shape;1555;p131"/>
          <p:cNvGrpSpPr/>
          <p:nvPr/>
        </p:nvGrpSpPr>
        <p:grpSpPr>
          <a:xfrm>
            <a:off x="1332917" y="1807648"/>
            <a:ext cx="4621785" cy="422700"/>
            <a:chOff x="1332917" y="1802351"/>
            <a:chExt cx="4621785" cy="422700"/>
          </a:xfrm>
        </p:grpSpPr>
        <p:sp>
          <p:nvSpPr>
            <p:cNvPr id="1556" name="Google Shape;1556;p131"/>
            <p:cNvSpPr/>
            <p:nvPr/>
          </p:nvSpPr>
          <p:spPr>
            <a:xfrm>
              <a:off x="1332917" y="1802351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131"/>
            <p:cNvSpPr/>
            <p:nvPr/>
          </p:nvSpPr>
          <p:spPr>
            <a:xfrm>
              <a:off x="4609299" y="1802351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8" name="Google Shape;1558;p131"/>
            <p:cNvSpPr/>
            <p:nvPr/>
          </p:nvSpPr>
          <p:spPr>
            <a:xfrm>
              <a:off x="5041370" y="1802351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9" name="Google Shape;1559;p131"/>
            <p:cNvSpPr/>
            <p:nvPr/>
          </p:nvSpPr>
          <p:spPr>
            <a:xfrm>
              <a:off x="5523902" y="1802351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0" name="Google Shape;1560;p131"/>
          <p:cNvSpPr txBox="1"/>
          <p:nvPr/>
        </p:nvSpPr>
        <p:spPr>
          <a:xfrm>
            <a:off x="2656200" y="4329300"/>
            <a:ext cx="496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total clothing is different.</a:t>
            </a:r>
            <a:endParaRPr/>
          </a:p>
        </p:txBody>
      </p:sp>
      <p:grpSp>
        <p:nvGrpSpPr>
          <p:cNvPr id="1561" name="Google Shape;1561;p131"/>
          <p:cNvGrpSpPr/>
          <p:nvPr/>
        </p:nvGrpSpPr>
        <p:grpSpPr>
          <a:xfrm>
            <a:off x="416817" y="1807648"/>
            <a:ext cx="2763881" cy="426316"/>
            <a:chOff x="416817" y="1807417"/>
            <a:chExt cx="2763881" cy="426316"/>
          </a:xfrm>
        </p:grpSpPr>
        <p:sp>
          <p:nvSpPr>
            <p:cNvPr id="1562" name="Google Shape;1562;p131"/>
            <p:cNvSpPr/>
            <p:nvPr/>
          </p:nvSpPr>
          <p:spPr>
            <a:xfrm>
              <a:off x="416817" y="1811034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3" name="Google Shape;1563;p131"/>
            <p:cNvSpPr/>
            <p:nvPr/>
          </p:nvSpPr>
          <p:spPr>
            <a:xfrm>
              <a:off x="1800032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131"/>
            <p:cNvSpPr/>
            <p:nvPr/>
          </p:nvSpPr>
          <p:spPr>
            <a:xfrm>
              <a:off x="2282565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131"/>
            <p:cNvSpPr/>
            <p:nvPr/>
          </p:nvSpPr>
          <p:spPr>
            <a:xfrm>
              <a:off x="2749898" y="1807417"/>
              <a:ext cx="430800" cy="4227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0" name="Google Shape;1570;p132"/>
          <p:cNvGraphicFramePr/>
          <p:nvPr/>
        </p:nvGraphicFramePr>
        <p:xfrm>
          <a:off x="2025550" y="222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80775"/>
                <a:gridCol w="480775"/>
                <a:gridCol w="480775"/>
                <a:gridCol w="480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3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71" name="Google Shape;1571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sp>
        <p:nvSpPr>
          <p:cNvPr id="1572" name="Google Shape;1572;p132"/>
          <p:cNvSpPr txBox="1"/>
          <p:nvPr>
            <p:ph idx="1" type="body"/>
          </p:nvPr>
        </p:nvSpPr>
        <p:spPr>
          <a:xfrm>
            <a:off x="324000" y="835500"/>
            <a:ext cx="5599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think of any more equivalent ratios to the T-shirts and shorts?</a:t>
            </a:r>
            <a:endParaRPr/>
          </a:p>
        </p:txBody>
      </p:sp>
      <p:graphicFrame>
        <p:nvGraphicFramePr>
          <p:cNvPr id="1573" name="Google Shape;1573;p132"/>
          <p:cNvGraphicFramePr/>
          <p:nvPr/>
        </p:nvGraphicFramePr>
        <p:xfrm>
          <a:off x="6419525" y="85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 shirts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4" name="Google Shape;1574;p132"/>
          <p:cNvSpPr txBox="1"/>
          <p:nvPr>
            <p:ph idx="1" type="body"/>
          </p:nvPr>
        </p:nvSpPr>
        <p:spPr>
          <a:xfrm>
            <a:off x="324000" y="3502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an infinite number of equivalent ratios, but they show the same proportion; for every 1 T-shirt, there are 3 shorts. </a:t>
            </a:r>
            <a:endParaRPr/>
          </a:p>
        </p:txBody>
      </p:sp>
      <p:sp>
        <p:nvSpPr>
          <p:cNvPr id="1575" name="Google Shape;1575;p132"/>
          <p:cNvSpPr txBox="1"/>
          <p:nvPr/>
        </p:nvSpPr>
        <p:spPr>
          <a:xfrm>
            <a:off x="2887200" y="3958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76" name="Google Shape;1576;p132"/>
          <p:cNvGraphicFramePr/>
          <p:nvPr/>
        </p:nvGraphicFramePr>
        <p:xfrm>
          <a:off x="6419525" y="176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7" name="Google Shape;1577;p132"/>
          <p:cNvGraphicFramePr/>
          <p:nvPr/>
        </p:nvGraphicFramePr>
        <p:xfrm>
          <a:off x="6419525" y="222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8" name="Google Shape;1578;p132"/>
          <p:cNvGraphicFramePr/>
          <p:nvPr/>
        </p:nvGraphicFramePr>
        <p:xfrm>
          <a:off x="6419525" y="268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9917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However, how do we know if the ratios are equivalent?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here is a a bar model and ratio table. How can you identify if these ratios are </a:t>
            </a:r>
            <a:r>
              <a:rPr lang="en-GB"/>
              <a:t>equivalent?</a:t>
            </a:r>
            <a:endParaRPr/>
          </a:p>
        </p:txBody>
      </p:sp>
      <p:sp>
        <p:nvSpPr>
          <p:cNvPr id="1584" name="Google Shape;1584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aphicFrame>
        <p:nvGraphicFramePr>
          <p:cNvPr id="1585" name="Google Shape;1585;p133"/>
          <p:cNvGraphicFramePr/>
          <p:nvPr/>
        </p:nvGraphicFramePr>
        <p:xfrm>
          <a:off x="317216" y="334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6" name="Google Shape;1586;p133"/>
          <p:cNvGraphicFramePr/>
          <p:nvPr/>
        </p:nvGraphicFramePr>
        <p:xfrm>
          <a:off x="311975" y="40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39775"/>
                <a:gridCol w="439775"/>
                <a:gridCol w="439775"/>
                <a:gridCol w="439775"/>
                <a:gridCol w="43977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7" name="Google Shape;1587;p133"/>
          <p:cNvGraphicFramePr/>
          <p:nvPr/>
        </p:nvGraphicFramePr>
        <p:xfrm>
          <a:off x="317216" y="244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  <a:gridCol w="419325"/>
              </a:tblGrid>
              <a:tr h="50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88" name="Google Shape;1588;p133"/>
          <p:cNvGraphicFramePr/>
          <p:nvPr/>
        </p:nvGraphicFramePr>
        <p:xfrm>
          <a:off x="6710525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9" name="Google Shape;1589;p133"/>
          <p:cNvGraphicFramePr/>
          <p:nvPr/>
        </p:nvGraphicFramePr>
        <p:xfrm>
          <a:off x="6710525" y="30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0" name="Google Shape;1590;p133"/>
          <p:cNvGraphicFramePr/>
          <p:nvPr/>
        </p:nvGraphicFramePr>
        <p:xfrm>
          <a:off x="6710525" y="353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34"/>
          <p:cNvSpPr txBox="1"/>
          <p:nvPr>
            <p:ph idx="1" type="body"/>
          </p:nvPr>
        </p:nvSpPr>
        <p:spPr>
          <a:xfrm>
            <a:off x="304800" y="759300"/>
            <a:ext cx="82377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different ways.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sp>
        <p:nvSpPr>
          <p:cNvPr id="1597" name="Google Shape;1597;p134"/>
          <p:cNvSpPr txBox="1"/>
          <p:nvPr>
            <p:ph idx="1" type="body"/>
          </p:nvPr>
        </p:nvSpPr>
        <p:spPr>
          <a:xfrm>
            <a:off x="304800" y="1967100"/>
            <a:ext cx="5268000" cy="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or dividing apples and bananas by a constant gives the same proportion. </a:t>
            </a:r>
            <a:endParaRPr/>
          </a:p>
        </p:txBody>
      </p:sp>
      <p:sp>
        <p:nvSpPr>
          <p:cNvPr id="1598" name="Google Shape;1598;p134"/>
          <p:cNvSpPr txBox="1"/>
          <p:nvPr>
            <p:ph idx="1" type="body"/>
          </p:nvPr>
        </p:nvSpPr>
        <p:spPr>
          <a:xfrm>
            <a:off x="304800" y="3426300"/>
            <a:ext cx="6005700" cy="9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the ratios </a:t>
            </a:r>
            <a:r>
              <a:rPr lang="en-GB">
                <a:solidFill>
                  <a:schemeClr val="accent4"/>
                </a:solidFill>
              </a:rPr>
              <a:t>simplify</a:t>
            </a:r>
            <a:r>
              <a:rPr lang="en-GB"/>
              <a:t> to,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every 2 apples there are 3 bananas.</a:t>
            </a:r>
            <a:endParaRPr/>
          </a:p>
        </p:txBody>
      </p:sp>
      <p:sp>
        <p:nvSpPr>
          <p:cNvPr id="1599" name="Google Shape;1599;p134"/>
          <p:cNvSpPr txBox="1"/>
          <p:nvPr/>
        </p:nvSpPr>
        <p:spPr>
          <a:xfrm>
            <a:off x="304800" y="1219200"/>
            <a:ext cx="833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multiplier from apples to bananas is 1.5</a:t>
            </a:r>
            <a:endParaRPr/>
          </a:p>
        </p:txBody>
      </p:sp>
      <p:graphicFrame>
        <p:nvGraphicFramePr>
          <p:cNvPr id="1600" name="Google Shape;1600;p134"/>
          <p:cNvGraphicFramePr/>
          <p:nvPr/>
        </p:nvGraphicFramePr>
        <p:xfrm>
          <a:off x="5948525" y="307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01" name="Google Shape;1601;p134"/>
          <p:cNvGraphicFramePr/>
          <p:nvPr/>
        </p:nvGraphicFramePr>
        <p:xfrm>
          <a:off x="5948525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Apples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Bananas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02" name="Google Shape;1602;p134"/>
          <p:cNvGrpSpPr/>
          <p:nvPr/>
        </p:nvGrpSpPr>
        <p:grpSpPr>
          <a:xfrm>
            <a:off x="6646600" y="2546012"/>
            <a:ext cx="755100" cy="1407000"/>
            <a:chOff x="7408600" y="2546012"/>
            <a:chExt cx="755100" cy="1407000"/>
          </a:xfrm>
        </p:grpSpPr>
        <p:grpSp>
          <p:nvGrpSpPr>
            <p:cNvPr id="1603" name="Google Shape;1603;p134"/>
            <p:cNvGrpSpPr/>
            <p:nvPr/>
          </p:nvGrpSpPr>
          <p:grpSpPr>
            <a:xfrm>
              <a:off x="7408600" y="2546012"/>
              <a:ext cx="755100" cy="492600"/>
              <a:chOff x="2455600" y="1403012"/>
              <a:chExt cx="755100" cy="492600"/>
            </a:xfrm>
          </p:grpSpPr>
          <p:cxnSp>
            <p:nvCxnSpPr>
              <p:cNvPr id="1604" name="Google Shape;1604;p134"/>
              <p:cNvCxnSpPr/>
              <p:nvPr/>
            </p:nvCxnSpPr>
            <p:spPr>
              <a:xfrm>
                <a:off x="2455600" y="1801750"/>
                <a:ext cx="7551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05" name="Google Shape;1605;p134"/>
              <p:cNvSpPr txBox="1"/>
              <p:nvPr/>
            </p:nvSpPr>
            <p:spPr>
              <a:xfrm>
                <a:off x="2469350" y="1403012"/>
                <a:ext cx="672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1.5</a:t>
                </a: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200"/>
              </a:p>
            </p:txBody>
          </p:sp>
        </p:grpSp>
        <p:grpSp>
          <p:nvGrpSpPr>
            <p:cNvPr id="1606" name="Google Shape;1606;p134"/>
            <p:cNvGrpSpPr/>
            <p:nvPr/>
          </p:nvGrpSpPr>
          <p:grpSpPr>
            <a:xfrm>
              <a:off x="7408600" y="3003212"/>
              <a:ext cx="755100" cy="492600"/>
              <a:chOff x="2455600" y="1403012"/>
              <a:chExt cx="755100" cy="492600"/>
            </a:xfrm>
          </p:grpSpPr>
          <p:cxnSp>
            <p:nvCxnSpPr>
              <p:cNvPr id="1607" name="Google Shape;1607;p134"/>
              <p:cNvCxnSpPr/>
              <p:nvPr/>
            </p:nvCxnSpPr>
            <p:spPr>
              <a:xfrm>
                <a:off x="2455600" y="1801750"/>
                <a:ext cx="7551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08" name="Google Shape;1608;p134"/>
              <p:cNvSpPr txBox="1"/>
              <p:nvPr/>
            </p:nvSpPr>
            <p:spPr>
              <a:xfrm>
                <a:off x="2469350" y="1403012"/>
                <a:ext cx="672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1.5</a:t>
                </a: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200"/>
              </a:p>
            </p:txBody>
          </p:sp>
        </p:grpSp>
        <p:grpSp>
          <p:nvGrpSpPr>
            <p:cNvPr id="1609" name="Google Shape;1609;p134"/>
            <p:cNvGrpSpPr/>
            <p:nvPr/>
          </p:nvGrpSpPr>
          <p:grpSpPr>
            <a:xfrm>
              <a:off x="7408600" y="3460412"/>
              <a:ext cx="755100" cy="492600"/>
              <a:chOff x="2455600" y="1403012"/>
              <a:chExt cx="755100" cy="492600"/>
            </a:xfrm>
          </p:grpSpPr>
          <p:cxnSp>
            <p:nvCxnSpPr>
              <p:cNvPr id="1610" name="Google Shape;1610;p134"/>
              <p:cNvCxnSpPr/>
              <p:nvPr/>
            </p:nvCxnSpPr>
            <p:spPr>
              <a:xfrm>
                <a:off x="2455600" y="1801750"/>
                <a:ext cx="7551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1" name="Google Shape;1611;p134"/>
              <p:cNvSpPr txBox="1"/>
              <p:nvPr/>
            </p:nvSpPr>
            <p:spPr>
              <a:xfrm>
                <a:off x="2469350" y="1403012"/>
                <a:ext cx="6720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r>
                  <a:rPr lang="en-GB" sz="2000">
                    <a:latin typeface="Lexend"/>
                    <a:ea typeface="Lexend"/>
                    <a:cs typeface="Lexend"/>
                    <a:sym typeface="Lexend"/>
                  </a:rPr>
                  <a:t>1.5</a:t>
                </a: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 </a:t>
                </a:r>
                <a:endParaRPr sz="1200"/>
              </a:p>
            </p:txBody>
          </p:sp>
        </p:grpSp>
      </p:grpSp>
      <p:graphicFrame>
        <p:nvGraphicFramePr>
          <p:cNvPr id="1612" name="Google Shape;1612;p134"/>
          <p:cNvGraphicFramePr/>
          <p:nvPr/>
        </p:nvGraphicFramePr>
        <p:xfrm>
          <a:off x="5948525" y="353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991750"/>
                <a:gridCol w="12071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13" name="Google Shape;1613;p134"/>
          <p:cNvGrpSpPr/>
          <p:nvPr/>
        </p:nvGrpSpPr>
        <p:grpSpPr>
          <a:xfrm>
            <a:off x="5203975" y="2794925"/>
            <a:ext cx="3679125" cy="1029541"/>
            <a:chOff x="5432575" y="2794925"/>
            <a:chExt cx="3679125" cy="1029541"/>
          </a:xfrm>
        </p:grpSpPr>
        <p:sp>
          <p:nvSpPr>
            <p:cNvPr id="1614" name="Google Shape;1614;p134"/>
            <p:cNvSpPr/>
            <p:nvPr/>
          </p:nvSpPr>
          <p:spPr>
            <a:xfrm>
              <a:off x="5893175" y="2794925"/>
              <a:ext cx="259675" cy="985091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615" name="Google Shape;1615;p134"/>
            <p:cNvSpPr txBox="1"/>
            <p:nvPr/>
          </p:nvSpPr>
          <p:spPr>
            <a:xfrm>
              <a:off x="5432575" y="3041375"/>
              <a:ext cx="633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÷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/>
            </a:p>
          </p:txBody>
        </p:sp>
        <p:grpSp>
          <p:nvGrpSpPr>
            <p:cNvPr id="1616" name="Google Shape;1616;p134"/>
            <p:cNvGrpSpPr/>
            <p:nvPr/>
          </p:nvGrpSpPr>
          <p:grpSpPr>
            <a:xfrm>
              <a:off x="8400301" y="2818783"/>
              <a:ext cx="711399" cy="1005683"/>
              <a:chOff x="4306225" y="1606350"/>
              <a:chExt cx="711399" cy="522650"/>
            </a:xfrm>
          </p:grpSpPr>
          <p:sp>
            <p:nvSpPr>
              <p:cNvPr id="1617" name="Google Shape;1617;p134"/>
              <p:cNvSpPr/>
              <p:nvPr/>
            </p:nvSpPr>
            <p:spPr>
              <a:xfrm flipH="1">
                <a:off x="4306225" y="1606350"/>
                <a:ext cx="259675" cy="522650"/>
              </a:xfrm>
              <a:custGeom>
                <a:rect b="b" l="l" r="r" t="t"/>
                <a:pathLst>
                  <a:path extrusionOk="0" h="20906" w="10387">
                    <a:moveTo>
                      <a:pt x="10387" y="0"/>
                    </a:moveTo>
                    <a:cubicBezTo>
                      <a:pt x="4584" y="1452"/>
                      <a:pt x="-1668" y="9331"/>
                      <a:pt x="432" y="14933"/>
                    </a:cubicBezTo>
                    <a:cubicBezTo>
                      <a:pt x="1757" y="18468"/>
                      <a:pt x="7385" y="18236"/>
                      <a:pt x="10055" y="20906"/>
                    </a:cubicBezTo>
                  </a:path>
                </a:pathLst>
              </a:cu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1618" name="Google Shape;1618;p134"/>
              <p:cNvSpPr txBox="1"/>
              <p:nvPr/>
            </p:nvSpPr>
            <p:spPr>
              <a:xfrm>
                <a:off x="4489324" y="1731632"/>
                <a:ext cx="528300" cy="27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÷</a:t>
                </a:r>
                <a:r>
                  <a:rPr lang="en-GB" sz="22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endParaRPr/>
              </a:p>
            </p:txBody>
          </p:sp>
        </p:grpSp>
      </p:grpSp>
      <p:grpSp>
        <p:nvGrpSpPr>
          <p:cNvPr id="1619" name="Google Shape;1619;p134"/>
          <p:cNvGrpSpPr/>
          <p:nvPr/>
        </p:nvGrpSpPr>
        <p:grpSpPr>
          <a:xfrm>
            <a:off x="5203976" y="3252051"/>
            <a:ext cx="3615893" cy="659089"/>
            <a:chOff x="5431774" y="2794925"/>
            <a:chExt cx="3679924" cy="1285526"/>
          </a:xfrm>
        </p:grpSpPr>
        <p:sp>
          <p:nvSpPr>
            <p:cNvPr id="1620" name="Google Shape;1620;p134"/>
            <p:cNvSpPr/>
            <p:nvPr/>
          </p:nvSpPr>
          <p:spPr>
            <a:xfrm>
              <a:off x="5893175" y="2794925"/>
              <a:ext cx="259675" cy="985091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621" name="Google Shape;1621;p134"/>
            <p:cNvSpPr txBox="1"/>
            <p:nvPr/>
          </p:nvSpPr>
          <p:spPr>
            <a:xfrm>
              <a:off x="5431774" y="3041363"/>
              <a:ext cx="579300" cy="102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÷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/>
            </a:p>
          </p:txBody>
        </p:sp>
        <p:grpSp>
          <p:nvGrpSpPr>
            <p:cNvPr id="1622" name="Google Shape;1622;p134"/>
            <p:cNvGrpSpPr/>
            <p:nvPr/>
          </p:nvGrpSpPr>
          <p:grpSpPr>
            <a:xfrm>
              <a:off x="8400301" y="2818783"/>
              <a:ext cx="711398" cy="1261668"/>
              <a:chOff x="4306225" y="1606350"/>
              <a:chExt cx="711398" cy="655684"/>
            </a:xfrm>
          </p:grpSpPr>
          <p:sp>
            <p:nvSpPr>
              <p:cNvPr id="1623" name="Google Shape;1623;p134"/>
              <p:cNvSpPr/>
              <p:nvPr/>
            </p:nvSpPr>
            <p:spPr>
              <a:xfrm flipH="1">
                <a:off x="4306225" y="1606350"/>
                <a:ext cx="259675" cy="522650"/>
              </a:xfrm>
              <a:custGeom>
                <a:rect b="b" l="l" r="r" t="t"/>
                <a:pathLst>
                  <a:path extrusionOk="0" h="20906" w="10387">
                    <a:moveTo>
                      <a:pt x="10387" y="0"/>
                    </a:moveTo>
                    <a:cubicBezTo>
                      <a:pt x="4584" y="1452"/>
                      <a:pt x="-1668" y="9331"/>
                      <a:pt x="432" y="14933"/>
                    </a:cubicBezTo>
                    <a:cubicBezTo>
                      <a:pt x="1757" y="18468"/>
                      <a:pt x="7385" y="18236"/>
                      <a:pt x="10055" y="20906"/>
                    </a:cubicBezTo>
                  </a:path>
                </a:pathLst>
              </a:custGeom>
              <a:noFill/>
              <a:ln cap="flat" cmpd="sng" w="28575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sp>
          <p:sp>
            <p:nvSpPr>
              <p:cNvPr id="1624" name="Google Shape;1624;p134"/>
              <p:cNvSpPr txBox="1"/>
              <p:nvPr/>
            </p:nvSpPr>
            <p:spPr>
              <a:xfrm>
                <a:off x="4489322" y="1731634"/>
                <a:ext cx="528300" cy="5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÷</a:t>
                </a:r>
                <a:r>
                  <a:rPr lang="en-GB" sz="2200">
                    <a:latin typeface="Kalam"/>
                    <a:ea typeface="Kalam"/>
                    <a:cs typeface="Kalam"/>
                    <a:sym typeface="Kalam"/>
                  </a:rPr>
                  <a:t>2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135"/>
          <p:cNvSpPr txBox="1"/>
          <p:nvPr>
            <p:ph type="title"/>
          </p:nvPr>
        </p:nvSpPr>
        <p:spPr>
          <a:xfrm>
            <a:off x="324000" y="7337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equivalent to;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every 3 stars, there are 4 moons.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sp>
        <p:nvSpPr>
          <p:cNvPr id="1631" name="Google Shape;1631;p13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every 9 stars, there are 12 moons.</a:t>
            </a:r>
            <a:endParaRPr/>
          </a:p>
        </p:txBody>
      </p:sp>
      <p:sp>
        <p:nvSpPr>
          <p:cNvPr id="1632" name="Google Shape;1632;p13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every 15 stars, there are 20 moons.</a:t>
            </a:r>
            <a:endParaRPr/>
          </a:p>
        </p:txBody>
      </p:sp>
      <p:sp>
        <p:nvSpPr>
          <p:cNvPr id="1633" name="Google Shape;1633;p13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every 1 stars, there are 3 moons.</a:t>
            </a:r>
            <a:endParaRPr/>
          </a:p>
        </p:txBody>
      </p:sp>
      <p:sp>
        <p:nvSpPr>
          <p:cNvPr id="1634" name="Google Shape;1634;p13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every 1.5 stars, there are 2 moons.</a:t>
            </a:r>
            <a:endParaRPr/>
          </a:p>
        </p:txBody>
      </p:sp>
      <p:pic>
        <p:nvPicPr>
          <p:cNvPr id="1635" name="Google Shape;1635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008" y="15498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408" y="23880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533" y="397185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8" name="Google Shape;1638;p135"/>
          <p:cNvGrpSpPr/>
          <p:nvPr/>
        </p:nvGrpSpPr>
        <p:grpSpPr>
          <a:xfrm>
            <a:off x="6555527" y="1275382"/>
            <a:ext cx="863700" cy="544404"/>
            <a:chOff x="4306225" y="1577146"/>
            <a:chExt cx="863700" cy="551854"/>
          </a:xfrm>
        </p:grpSpPr>
        <p:sp>
          <p:nvSpPr>
            <p:cNvPr id="1639" name="Google Shape;1639;p135"/>
            <p:cNvSpPr/>
            <p:nvPr/>
          </p:nvSpPr>
          <p:spPr>
            <a:xfrm flipH="1">
              <a:off x="4306225" y="1606350"/>
              <a:ext cx="259675" cy="522650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1640" name="Google Shape;1640;p135"/>
            <p:cNvSpPr txBox="1"/>
            <p:nvPr/>
          </p:nvSpPr>
          <p:spPr>
            <a:xfrm>
              <a:off x="4586725" y="1577146"/>
              <a:ext cx="5832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×3</a:t>
              </a:r>
              <a:endParaRPr/>
            </a:p>
          </p:txBody>
        </p:sp>
      </p:grpSp>
      <p:grpSp>
        <p:nvGrpSpPr>
          <p:cNvPr id="1641" name="Google Shape;1641;p135"/>
          <p:cNvGrpSpPr/>
          <p:nvPr/>
        </p:nvGrpSpPr>
        <p:grpSpPr>
          <a:xfrm>
            <a:off x="6645075" y="1310775"/>
            <a:ext cx="1162351" cy="1327350"/>
            <a:chOff x="6645075" y="1310775"/>
            <a:chExt cx="1162351" cy="1327350"/>
          </a:xfrm>
        </p:grpSpPr>
        <p:sp>
          <p:nvSpPr>
            <p:cNvPr id="1642" name="Google Shape;1642;p135"/>
            <p:cNvSpPr txBox="1"/>
            <p:nvPr/>
          </p:nvSpPr>
          <p:spPr>
            <a:xfrm>
              <a:off x="7224226" y="1819767"/>
              <a:ext cx="583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×5</a:t>
              </a:r>
              <a:endParaRPr/>
            </a:p>
          </p:txBody>
        </p:sp>
        <p:sp>
          <p:nvSpPr>
            <p:cNvPr id="1643" name="Google Shape;1643;p135"/>
            <p:cNvSpPr/>
            <p:nvPr/>
          </p:nvSpPr>
          <p:spPr>
            <a:xfrm>
              <a:off x="6645075" y="1310775"/>
              <a:ext cx="579150" cy="1327350"/>
            </a:xfrm>
            <a:custGeom>
              <a:rect b="b" l="l" r="r" t="t"/>
              <a:pathLst>
                <a:path extrusionOk="0" h="53094" w="23166">
                  <a:moveTo>
                    <a:pt x="0" y="0"/>
                  </a:moveTo>
                  <a:cubicBezTo>
                    <a:pt x="6026" y="3011"/>
                    <a:pt x="13672" y="4473"/>
                    <a:pt x="17587" y="9955"/>
                  </a:cubicBezTo>
                  <a:cubicBezTo>
                    <a:pt x="20840" y="14509"/>
                    <a:pt x="21976" y="20363"/>
                    <a:pt x="22897" y="25883"/>
                  </a:cubicBezTo>
                  <a:cubicBezTo>
                    <a:pt x="24746" y="36969"/>
                    <a:pt x="14225" y="53094"/>
                    <a:pt x="2986" y="5309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sp>
      </p:grpSp>
      <p:grpSp>
        <p:nvGrpSpPr>
          <p:cNvPr id="1644" name="Google Shape;1644;p135"/>
          <p:cNvGrpSpPr/>
          <p:nvPr/>
        </p:nvGrpSpPr>
        <p:grpSpPr>
          <a:xfrm>
            <a:off x="6639563" y="1343690"/>
            <a:ext cx="1173380" cy="2949504"/>
            <a:chOff x="6555525" y="1297990"/>
            <a:chExt cx="1173380" cy="2949504"/>
          </a:xfrm>
        </p:grpSpPr>
        <p:sp>
          <p:nvSpPr>
            <p:cNvPr id="1645" name="Google Shape;1645;p135"/>
            <p:cNvSpPr txBox="1"/>
            <p:nvPr/>
          </p:nvSpPr>
          <p:spPr>
            <a:xfrm>
              <a:off x="7145705" y="2725506"/>
              <a:ext cx="583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÷2</a:t>
              </a:r>
              <a:endParaRPr/>
            </a:p>
          </p:txBody>
        </p:sp>
        <p:sp>
          <p:nvSpPr>
            <p:cNvPr id="1646" name="Google Shape;1646;p135"/>
            <p:cNvSpPr/>
            <p:nvPr/>
          </p:nvSpPr>
          <p:spPr>
            <a:xfrm>
              <a:off x="6555525" y="1297990"/>
              <a:ext cx="579150" cy="2949504"/>
            </a:xfrm>
            <a:custGeom>
              <a:rect b="b" l="l" r="r" t="t"/>
              <a:pathLst>
                <a:path extrusionOk="0" h="53094" w="23166">
                  <a:moveTo>
                    <a:pt x="0" y="0"/>
                  </a:moveTo>
                  <a:cubicBezTo>
                    <a:pt x="6026" y="3011"/>
                    <a:pt x="13672" y="4473"/>
                    <a:pt x="17587" y="9955"/>
                  </a:cubicBezTo>
                  <a:cubicBezTo>
                    <a:pt x="20840" y="14509"/>
                    <a:pt x="21976" y="20363"/>
                    <a:pt x="22897" y="25883"/>
                  </a:cubicBezTo>
                  <a:cubicBezTo>
                    <a:pt x="24746" y="36969"/>
                    <a:pt x="14225" y="53094"/>
                    <a:pt x="2986" y="5309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sp>
      </p:grpSp>
      <p:grpSp>
        <p:nvGrpSpPr>
          <p:cNvPr id="1647" name="Google Shape;1647;p135"/>
          <p:cNvGrpSpPr/>
          <p:nvPr/>
        </p:nvGrpSpPr>
        <p:grpSpPr>
          <a:xfrm>
            <a:off x="6631725" y="1357598"/>
            <a:ext cx="1059075" cy="2949504"/>
            <a:chOff x="7546125" y="1450390"/>
            <a:chExt cx="1059075" cy="2949504"/>
          </a:xfrm>
        </p:grpSpPr>
        <p:pic>
          <p:nvPicPr>
  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1648" name="Google Shape;1648;p135" title="times one hal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09200" y="2994981"/>
              <a:ext cx="396000" cy="598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9" name="Google Shape;1649;p135"/>
            <p:cNvSpPr/>
            <p:nvPr/>
          </p:nvSpPr>
          <p:spPr>
            <a:xfrm>
              <a:off x="7546125" y="1450390"/>
              <a:ext cx="579150" cy="2949504"/>
            </a:xfrm>
            <a:custGeom>
              <a:rect b="b" l="l" r="r" t="t"/>
              <a:pathLst>
                <a:path extrusionOk="0" h="53094" w="23166">
                  <a:moveTo>
                    <a:pt x="0" y="0"/>
                  </a:moveTo>
                  <a:cubicBezTo>
                    <a:pt x="6026" y="3011"/>
                    <a:pt x="13672" y="4473"/>
                    <a:pt x="17587" y="9955"/>
                  </a:cubicBezTo>
                  <a:cubicBezTo>
                    <a:pt x="20840" y="14509"/>
                    <a:pt x="21976" y="20363"/>
                    <a:pt x="22897" y="25883"/>
                  </a:cubicBezTo>
                  <a:cubicBezTo>
                    <a:pt x="24746" y="36969"/>
                    <a:pt x="14225" y="53094"/>
                    <a:pt x="2986" y="5309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cxnSp>
        <p:nvCxnSpPr>
          <p:cNvPr id="1655" name="Google Shape;1655;p136"/>
          <p:cNvCxnSpPr/>
          <p:nvPr/>
        </p:nvCxnSpPr>
        <p:spPr>
          <a:xfrm>
            <a:off x="6072502" y="23677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136"/>
          <p:cNvCxnSpPr/>
          <p:nvPr/>
        </p:nvCxnSpPr>
        <p:spPr>
          <a:xfrm>
            <a:off x="5477099" y="23677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7" name="Google Shape;1657;p136"/>
          <p:cNvCxnSpPr/>
          <p:nvPr/>
        </p:nvCxnSpPr>
        <p:spPr>
          <a:xfrm>
            <a:off x="5945114" y="23677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136"/>
          <p:cNvSpPr txBox="1"/>
          <p:nvPr>
            <p:ph idx="1" type="body"/>
          </p:nvPr>
        </p:nvSpPr>
        <p:spPr>
          <a:xfrm>
            <a:off x="324000" y="639500"/>
            <a:ext cx="8237700" cy="39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</a:t>
            </a:r>
            <a:r>
              <a:rPr lang="en-GB"/>
              <a:t> two pairs of numbers and the multiplicative relationship between them.</a:t>
            </a:r>
            <a:endParaRPr/>
          </a:p>
        </p:txBody>
      </p:sp>
      <p:cxnSp>
        <p:nvCxnSpPr>
          <p:cNvPr id="1659" name="Google Shape;1659;p136"/>
          <p:cNvCxnSpPr/>
          <p:nvPr/>
        </p:nvCxnSpPr>
        <p:spPr>
          <a:xfrm>
            <a:off x="2291177" y="24038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136"/>
          <p:cNvCxnSpPr/>
          <p:nvPr/>
        </p:nvCxnSpPr>
        <p:spPr>
          <a:xfrm>
            <a:off x="1695774" y="24038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1" name="Google Shape;1661;p136"/>
          <p:cNvCxnSpPr/>
          <p:nvPr/>
        </p:nvCxnSpPr>
        <p:spPr>
          <a:xfrm>
            <a:off x="2163789" y="24038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2" name="Google Shape;1662;p136"/>
          <p:cNvSpPr/>
          <p:nvPr/>
        </p:nvSpPr>
        <p:spPr>
          <a:xfrm>
            <a:off x="1410799" y="2029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136"/>
          <p:cNvSpPr/>
          <p:nvPr/>
        </p:nvSpPr>
        <p:spPr>
          <a:xfrm>
            <a:off x="3181915" y="2029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136"/>
          <p:cNvSpPr/>
          <p:nvPr/>
        </p:nvSpPr>
        <p:spPr>
          <a:xfrm>
            <a:off x="2420350" y="1732825"/>
            <a:ext cx="488400" cy="48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6"/>
          <p:cNvSpPr txBox="1"/>
          <p:nvPr/>
        </p:nvSpPr>
        <p:spPr>
          <a:xfrm>
            <a:off x="2378790" y="17025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136"/>
          <p:cNvSpPr txBox="1"/>
          <p:nvPr/>
        </p:nvSpPr>
        <p:spPr>
          <a:xfrm>
            <a:off x="2558949" y="1752309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6"/>
          <p:cNvSpPr txBox="1"/>
          <p:nvPr/>
        </p:nvSpPr>
        <p:spPr>
          <a:xfrm>
            <a:off x="1588367" y="2123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6"/>
          <p:cNvSpPr txBox="1"/>
          <p:nvPr/>
        </p:nvSpPr>
        <p:spPr>
          <a:xfrm>
            <a:off x="3308750" y="2123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6"/>
          <p:cNvSpPr/>
          <p:nvPr/>
        </p:nvSpPr>
        <p:spPr>
          <a:xfrm>
            <a:off x="5220799" y="2029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136"/>
          <p:cNvSpPr/>
          <p:nvPr/>
        </p:nvSpPr>
        <p:spPr>
          <a:xfrm>
            <a:off x="6991915" y="20290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136"/>
          <p:cNvSpPr/>
          <p:nvPr/>
        </p:nvSpPr>
        <p:spPr>
          <a:xfrm>
            <a:off x="6230350" y="17023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6"/>
          <p:cNvSpPr txBox="1"/>
          <p:nvPr/>
        </p:nvSpPr>
        <p:spPr>
          <a:xfrm>
            <a:off x="6248472" y="17025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6"/>
          <p:cNvSpPr txBox="1"/>
          <p:nvPr/>
        </p:nvSpPr>
        <p:spPr>
          <a:xfrm>
            <a:off x="6422310" y="175668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36"/>
          <p:cNvSpPr txBox="1"/>
          <p:nvPr/>
        </p:nvSpPr>
        <p:spPr>
          <a:xfrm>
            <a:off x="5322167" y="2123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136"/>
          <p:cNvSpPr txBox="1"/>
          <p:nvPr/>
        </p:nvSpPr>
        <p:spPr>
          <a:xfrm>
            <a:off x="7118750" y="21235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136"/>
          <p:cNvSpPr txBox="1"/>
          <p:nvPr>
            <p:ph idx="1" type="body"/>
          </p:nvPr>
        </p:nvSpPr>
        <p:spPr>
          <a:xfrm>
            <a:off x="2033200" y="3674450"/>
            <a:ext cx="51618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 to 18 is the same ratio as 24 to 72.</a:t>
            </a:r>
            <a:endParaRPr/>
          </a:p>
        </p:txBody>
      </p:sp>
      <p:sp>
        <p:nvSpPr>
          <p:cNvPr id="1677" name="Google Shape;1677;p136"/>
          <p:cNvSpPr txBox="1"/>
          <p:nvPr>
            <p:ph idx="1" type="body"/>
          </p:nvPr>
        </p:nvSpPr>
        <p:spPr>
          <a:xfrm>
            <a:off x="324000" y="3120675"/>
            <a:ext cx="1709100" cy="39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72</a:t>
            </a:r>
            <a:r>
              <a:rPr lang="en-GB"/>
              <a:t> ÷ 24 = 3</a:t>
            </a:r>
            <a:endParaRPr/>
          </a:p>
        </p:txBody>
      </p:sp>
      <p:sp>
        <p:nvSpPr>
          <p:cNvPr id="1678" name="Google Shape;1678;p136"/>
          <p:cNvSpPr txBox="1"/>
          <p:nvPr>
            <p:ph idx="1" type="body"/>
          </p:nvPr>
        </p:nvSpPr>
        <p:spPr>
          <a:xfrm>
            <a:off x="2033200" y="3200550"/>
            <a:ext cx="51618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multiplier from 24 to 72 is 3.</a:t>
            </a:r>
            <a:endParaRPr/>
          </a:p>
        </p:txBody>
      </p:sp>
      <p:graphicFrame>
        <p:nvGraphicFramePr>
          <p:cNvPr id="1679" name="Google Shape;1679;p136"/>
          <p:cNvGraphicFramePr/>
          <p:nvPr/>
        </p:nvGraphicFramePr>
        <p:xfrm>
          <a:off x="7467575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681425"/>
                <a:gridCol w="645750"/>
              </a:tblGrid>
              <a:tr h="41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41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0" name="Google Shape;1680;p136"/>
          <p:cNvGraphicFramePr/>
          <p:nvPr/>
        </p:nvGraphicFramePr>
        <p:xfrm>
          <a:off x="7467575" y="393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681425"/>
                <a:gridCol w="645750"/>
              </a:tblGrid>
              <a:tr h="41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1" name="Google Shape;1681;p136"/>
          <p:cNvSpPr txBox="1"/>
          <p:nvPr/>
        </p:nvSpPr>
        <p:spPr>
          <a:xfrm>
            <a:off x="324000" y="4234375"/>
            <a:ext cx="721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 ratios have equivalent multipliers.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37"/>
          <p:cNvSpPr txBox="1"/>
          <p:nvPr>
            <p:ph idx="1" type="body"/>
          </p:nvPr>
        </p:nvSpPr>
        <p:spPr>
          <a:xfrm>
            <a:off x="324000" y="759300"/>
            <a:ext cx="82377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two pairs of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Are they in the same ratio?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87" name="Google Shape;1687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cxnSp>
        <p:nvCxnSpPr>
          <p:cNvPr id="1688" name="Google Shape;1688;p137"/>
          <p:cNvCxnSpPr/>
          <p:nvPr/>
        </p:nvCxnSpPr>
        <p:spPr>
          <a:xfrm>
            <a:off x="2291177" y="22514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137"/>
          <p:cNvCxnSpPr/>
          <p:nvPr/>
        </p:nvCxnSpPr>
        <p:spPr>
          <a:xfrm>
            <a:off x="1695774" y="22514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0" name="Google Shape;1690;p137"/>
          <p:cNvCxnSpPr/>
          <p:nvPr/>
        </p:nvCxnSpPr>
        <p:spPr>
          <a:xfrm>
            <a:off x="2163789" y="22514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1" name="Google Shape;1691;p137"/>
          <p:cNvSpPr/>
          <p:nvPr/>
        </p:nvSpPr>
        <p:spPr>
          <a:xfrm>
            <a:off x="1410799" y="187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37"/>
          <p:cNvSpPr/>
          <p:nvPr/>
        </p:nvSpPr>
        <p:spPr>
          <a:xfrm>
            <a:off x="3181915" y="187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7"/>
          <p:cNvSpPr/>
          <p:nvPr/>
        </p:nvSpPr>
        <p:spPr>
          <a:xfrm>
            <a:off x="2420350" y="1580425"/>
            <a:ext cx="488400" cy="489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37"/>
          <p:cNvSpPr txBox="1"/>
          <p:nvPr/>
        </p:nvSpPr>
        <p:spPr>
          <a:xfrm>
            <a:off x="2378790" y="155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37"/>
          <p:cNvSpPr txBox="1"/>
          <p:nvPr/>
        </p:nvSpPr>
        <p:spPr>
          <a:xfrm>
            <a:off x="2524228" y="1667813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37"/>
          <p:cNvSpPr txBox="1"/>
          <p:nvPr/>
        </p:nvSpPr>
        <p:spPr>
          <a:xfrm>
            <a:off x="1588367" y="197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37"/>
          <p:cNvSpPr txBox="1"/>
          <p:nvPr/>
        </p:nvSpPr>
        <p:spPr>
          <a:xfrm>
            <a:off x="3308750" y="197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8" name="Google Shape;1698;p137"/>
          <p:cNvCxnSpPr/>
          <p:nvPr/>
        </p:nvCxnSpPr>
        <p:spPr>
          <a:xfrm>
            <a:off x="6072502" y="22153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137"/>
          <p:cNvCxnSpPr/>
          <p:nvPr/>
        </p:nvCxnSpPr>
        <p:spPr>
          <a:xfrm>
            <a:off x="5477099" y="22153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0" name="Google Shape;1700;p137"/>
          <p:cNvCxnSpPr/>
          <p:nvPr/>
        </p:nvCxnSpPr>
        <p:spPr>
          <a:xfrm>
            <a:off x="5945114" y="22153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1" name="Google Shape;1701;p137"/>
          <p:cNvSpPr/>
          <p:nvPr/>
        </p:nvSpPr>
        <p:spPr>
          <a:xfrm>
            <a:off x="5220799" y="187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137"/>
          <p:cNvSpPr/>
          <p:nvPr/>
        </p:nvSpPr>
        <p:spPr>
          <a:xfrm>
            <a:off x="6991915" y="187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137"/>
          <p:cNvSpPr/>
          <p:nvPr/>
        </p:nvSpPr>
        <p:spPr>
          <a:xfrm>
            <a:off x="6230350" y="15499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137"/>
          <p:cNvSpPr txBox="1"/>
          <p:nvPr/>
        </p:nvSpPr>
        <p:spPr>
          <a:xfrm>
            <a:off x="6248472" y="155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137"/>
          <p:cNvSpPr txBox="1"/>
          <p:nvPr/>
        </p:nvSpPr>
        <p:spPr>
          <a:xfrm>
            <a:off x="5322167" y="197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137"/>
          <p:cNvSpPr txBox="1"/>
          <p:nvPr/>
        </p:nvSpPr>
        <p:spPr>
          <a:xfrm>
            <a:off x="7118750" y="197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&quot;&gt;&lt;mfrac&gt;&lt;mn&gt;2&lt;/mn&gt;&lt;mn&gt;3&lt;/mn&gt;&lt;/mfrac&gt;&lt;mtext&gt;&lt;/mtext&gt;&lt;mtext&gt;&lt;/mtext&gt;&lt;mtext&gt;&lt;/mtext&gt;&lt;mfrac&gt;&lt;mn&gt;3&lt;/mn&gt;&lt;mn&gt;2&lt;/mn&gt;&lt;/mfrac&gt;&lt;/math&gt;" id="1707" name="Google Shape;1707;p137" title="two thirds three halves"/>
          <p:cNvPicPr preferRelativeResize="0"/>
          <p:nvPr/>
        </p:nvPicPr>
        <p:blipFill rotWithShape="1">
          <a:blip r:embed="rId3">
            <a:alphaModFix/>
          </a:blip>
          <a:srcRect b="0" l="50000" r="0" t="0"/>
          <a:stretch/>
        </p:blipFill>
        <p:spPr>
          <a:xfrm>
            <a:off x="2587897" y="1594650"/>
            <a:ext cx="244200" cy="4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37"/>
          <p:cNvSpPr txBox="1"/>
          <p:nvPr/>
        </p:nvSpPr>
        <p:spPr>
          <a:xfrm>
            <a:off x="775495" y="3792538"/>
            <a:ext cx="769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because 6 to 9 has the same multiplier as 12 to 18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&quot;&gt;&lt;mfrac&gt;&lt;mn&gt;2&lt;/mn&gt;&lt;mn&gt;3&lt;/mn&gt;&lt;/mfrac&gt;&lt;mtext&gt;&lt;/mtext&gt;&lt;mtext&gt;&lt;/mtext&gt;&lt;mtext&gt;&lt;/mtext&gt;&lt;mfrac&gt;&lt;mn&gt;3&lt;/mn&gt;&lt;mn&gt;2&lt;/mn&gt;&lt;/mfrac&gt;&lt;/math&gt;" id="1709" name="Google Shape;1709;p137" title="two thirds three halves"/>
          <p:cNvPicPr preferRelativeResize="0"/>
          <p:nvPr/>
        </p:nvPicPr>
        <p:blipFill rotWithShape="1">
          <a:blip r:embed="rId3">
            <a:alphaModFix/>
          </a:blip>
          <a:srcRect b="0" l="50000" r="0" t="0"/>
          <a:stretch/>
        </p:blipFill>
        <p:spPr>
          <a:xfrm>
            <a:off x="6443930" y="1594650"/>
            <a:ext cx="244200" cy="4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38"/>
          <p:cNvSpPr/>
          <p:nvPr/>
        </p:nvSpPr>
        <p:spPr>
          <a:xfrm>
            <a:off x="6078010" y="2672550"/>
            <a:ext cx="1092900" cy="550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38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can find equivalent ratios using the same multiplier </a:t>
            </a:r>
            <a:r>
              <a:rPr lang="en-GB" sz="2000">
                <a:solidFill>
                  <a:schemeClr val="accent4"/>
                </a:solidFill>
              </a:rPr>
              <a:t>within</a:t>
            </a:r>
            <a:r>
              <a:rPr lang="en-GB" sz="2000">
                <a:solidFill>
                  <a:schemeClr val="accent4"/>
                </a:solidFill>
              </a:rPr>
              <a:t> </a:t>
            </a:r>
            <a:r>
              <a:rPr lang="en-GB" sz="2000"/>
              <a:t>the ratio or using the same multiplier on each part </a:t>
            </a:r>
            <a:r>
              <a:rPr lang="en-GB" sz="2000"/>
              <a:t>between</a:t>
            </a:r>
            <a:r>
              <a:rPr lang="en-GB" sz="2000"/>
              <a:t> the equivalent ratios.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sp>
        <p:nvSpPr>
          <p:cNvPr id="1716" name="Google Shape;1716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717" name="Google Shape;1717;p138"/>
          <p:cNvGrpSpPr/>
          <p:nvPr/>
        </p:nvGrpSpPr>
        <p:grpSpPr>
          <a:xfrm>
            <a:off x="3524762" y="1964967"/>
            <a:ext cx="2094465" cy="550800"/>
            <a:chOff x="1947424" y="3053267"/>
            <a:chExt cx="2094465" cy="550800"/>
          </a:xfrm>
        </p:grpSpPr>
        <p:grpSp>
          <p:nvGrpSpPr>
            <p:cNvPr id="1718" name="Google Shape;1718;p138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19" name="Google Shape;1719;p138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0" name="Google Shape;1720;p138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21" name="Google Shape;1721;p138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2" name="Google Shape;1722;p138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23" name="Google Shape;1723;p138"/>
          <p:cNvSpPr txBox="1"/>
          <p:nvPr/>
        </p:nvSpPr>
        <p:spPr>
          <a:xfrm>
            <a:off x="4336650" y="1620000"/>
            <a:ext cx="470700" cy="51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724" name="Google Shape;1724;p138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4592487" y="1650598"/>
            <a:ext cx="249709" cy="45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5" name="Google Shape;1725;p138"/>
          <p:cNvGrpSpPr/>
          <p:nvPr/>
        </p:nvGrpSpPr>
        <p:grpSpPr>
          <a:xfrm>
            <a:off x="3524749" y="2672559"/>
            <a:ext cx="2094465" cy="550800"/>
            <a:chOff x="1947424" y="3053267"/>
            <a:chExt cx="2094465" cy="550800"/>
          </a:xfrm>
        </p:grpSpPr>
        <p:grpSp>
          <p:nvGrpSpPr>
            <p:cNvPr id="1726" name="Google Shape;1726;p138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27" name="Google Shape;1727;p138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8" name="Google Shape;1728;p138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29" name="Google Shape;1729;p138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138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1" name="Google Shape;1731;p138"/>
          <p:cNvGrpSpPr/>
          <p:nvPr/>
        </p:nvGrpSpPr>
        <p:grpSpPr>
          <a:xfrm>
            <a:off x="3524762" y="4087742"/>
            <a:ext cx="2094465" cy="550800"/>
            <a:chOff x="1947424" y="3053267"/>
            <a:chExt cx="2094465" cy="550800"/>
          </a:xfrm>
        </p:grpSpPr>
        <p:grpSp>
          <p:nvGrpSpPr>
            <p:cNvPr id="1732" name="Google Shape;1732;p138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33" name="Google Shape;1733;p138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4" name="Google Shape;1734;p138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35" name="Google Shape;1735;p138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6" name="Google Shape;1736;p138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7" name="Google Shape;1737;p138"/>
          <p:cNvGrpSpPr/>
          <p:nvPr/>
        </p:nvGrpSpPr>
        <p:grpSpPr>
          <a:xfrm>
            <a:off x="3524762" y="3380150"/>
            <a:ext cx="2094465" cy="550800"/>
            <a:chOff x="1947424" y="3053267"/>
            <a:chExt cx="2094465" cy="550800"/>
          </a:xfrm>
        </p:grpSpPr>
        <p:grpSp>
          <p:nvGrpSpPr>
            <p:cNvPr id="1738" name="Google Shape;1738;p138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39" name="Google Shape;1739;p138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138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41" name="Google Shape;1741;p138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2" name="Google Shape;1742;p138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3" name="Google Shape;1743;p138"/>
          <p:cNvSpPr txBox="1"/>
          <p:nvPr>
            <p:ph idx="1" type="body"/>
          </p:nvPr>
        </p:nvSpPr>
        <p:spPr>
          <a:xfrm>
            <a:off x="324000" y="2571750"/>
            <a:ext cx="29109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all of these have the same multiplicative relationship, you could just use the multiplier </a:t>
            </a:r>
            <a:r>
              <a:rPr lang="en-GB" sz="2000">
                <a:solidFill>
                  <a:schemeClr val="accent4"/>
                </a:solidFill>
              </a:rPr>
              <a:t>within</a:t>
            </a:r>
            <a:r>
              <a:rPr lang="en-GB" sz="2000"/>
              <a:t> the ratio to find the missing numbers. </a:t>
            </a:r>
            <a:endParaRPr sz="2000"/>
          </a:p>
        </p:txBody>
      </p:sp>
      <p:grpSp>
        <p:nvGrpSpPr>
          <p:cNvPr id="1744" name="Google Shape;1744;p138"/>
          <p:cNvGrpSpPr/>
          <p:nvPr/>
        </p:nvGrpSpPr>
        <p:grpSpPr>
          <a:xfrm>
            <a:off x="6056025" y="4137098"/>
            <a:ext cx="1114871" cy="452113"/>
            <a:chOff x="6056025" y="4137098"/>
            <a:chExt cx="1114871" cy="452113"/>
          </a:xfrm>
        </p:grpSpPr>
        <p:sp>
          <p:nvSpPr>
            <p:cNvPr id="1745" name="Google Shape;1745;p138"/>
            <p:cNvSpPr txBox="1"/>
            <p:nvPr/>
          </p:nvSpPr>
          <p:spPr>
            <a:xfrm>
              <a:off x="6550500" y="41371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746" name="Google Shape;1746;p138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4137098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7" name="Google Shape;1747;p138"/>
            <p:cNvSpPr txBox="1"/>
            <p:nvPr/>
          </p:nvSpPr>
          <p:spPr>
            <a:xfrm>
              <a:off x="6056025" y="4253650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8" name="Google Shape;1748;p138"/>
          <p:cNvSpPr/>
          <p:nvPr/>
        </p:nvSpPr>
        <p:spPr>
          <a:xfrm>
            <a:off x="5068415" y="2672571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49" name="Google Shape;1749;p138"/>
          <p:cNvGrpSpPr/>
          <p:nvPr/>
        </p:nvGrpSpPr>
        <p:grpSpPr>
          <a:xfrm>
            <a:off x="6056025" y="2709487"/>
            <a:ext cx="1114871" cy="452102"/>
            <a:chOff x="6056025" y="2709487"/>
            <a:chExt cx="1114871" cy="452102"/>
          </a:xfrm>
        </p:grpSpPr>
        <p:sp>
          <p:nvSpPr>
            <p:cNvPr id="1750" name="Google Shape;1750;p138"/>
            <p:cNvSpPr txBox="1"/>
            <p:nvPr/>
          </p:nvSpPr>
          <p:spPr>
            <a:xfrm>
              <a:off x="6550500" y="2709489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1" name="Google Shape;1751;p138"/>
            <p:cNvSpPr txBox="1"/>
            <p:nvPr/>
          </p:nvSpPr>
          <p:spPr>
            <a:xfrm>
              <a:off x="6056025" y="2826038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752" name="Google Shape;1752;p138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2709487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3" name="Google Shape;1753;p138"/>
          <p:cNvGrpSpPr/>
          <p:nvPr/>
        </p:nvGrpSpPr>
        <p:grpSpPr>
          <a:xfrm>
            <a:off x="6056025" y="3412712"/>
            <a:ext cx="1114871" cy="468887"/>
            <a:chOff x="6056025" y="3412712"/>
            <a:chExt cx="1114871" cy="468887"/>
          </a:xfrm>
        </p:grpSpPr>
        <p:sp>
          <p:nvSpPr>
            <p:cNvPr id="1754" name="Google Shape;1754;p138"/>
            <p:cNvSpPr txBox="1"/>
            <p:nvPr/>
          </p:nvSpPr>
          <p:spPr>
            <a:xfrm>
              <a:off x="6550500" y="34127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755" name="Google Shape;1755;p138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3429498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6" name="Google Shape;1756;p138"/>
            <p:cNvSpPr txBox="1"/>
            <p:nvPr/>
          </p:nvSpPr>
          <p:spPr>
            <a:xfrm>
              <a:off x="6056025" y="3546050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7" name="Google Shape;1757;p138"/>
          <p:cNvGrpSpPr/>
          <p:nvPr/>
        </p:nvGrpSpPr>
        <p:grpSpPr>
          <a:xfrm>
            <a:off x="3524740" y="3380146"/>
            <a:ext cx="3646170" cy="550804"/>
            <a:chOff x="3524740" y="3380146"/>
            <a:chExt cx="3646170" cy="550804"/>
          </a:xfrm>
        </p:grpSpPr>
        <p:sp>
          <p:nvSpPr>
            <p:cNvPr id="1758" name="Google Shape;1758;p138"/>
            <p:cNvSpPr/>
            <p:nvPr/>
          </p:nvSpPr>
          <p:spPr>
            <a:xfrm>
              <a:off x="6078010" y="3380150"/>
              <a:ext cx="1092900" cy="550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9" name="Google Shape;1759;p138"/>
            <p:cNvSpPr/>
            <p:nvPr/>
          </p:nvSpPr>
          <p:spPr>
            <a:xfrm>
              <a:off x="3524740" y="3380146"/>
              <a:ext cx="550800" cy="550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0" name="Google Shape;1760;p138"/>
          <p:cNvGrpSpPr/>
          <p:nvPr/>
        </p:nvGrpSpPr>
        <p:grpSpPr>
          <a:xfrm>
            <a:off x="5068415" y="4087721"/>
            <a:ext cx="2102495" cy="550829"/>
            <a:chOff x="5068415" y="4087721"/>
            <a:chExt cx="2102495" cy="550829"/>
          </a:xfrm>
        </p:grpSpPr>
        <p:sp>
          <p:nvSpPr>
            <p:cNvPr id="1761" name="Google Shape;1761;p138"/>
            <p:cNvSpPr/>
            <p:nvPr/>
          </p:nvSpPr>
          <p:spPr>
            <a:xfrm>
              <a:off x="6078010" y="4087750"/>
              <a:ext cx="1092900" cy="550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2" name="Google Shape;1762;p138"/>
            <p:cNvSpPr/>
            <p:nvPr/>
          </p:nvSpPr>
          <p:spPr>
            <a:xfrm>
              <a:off x="5068415" y="4087721"/>
              <a:ext cx="550800" cy="550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p139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can find equivalent ratios using the same multiplier within the ratio or using the same multiplier on each part </a:t>
            </a:r>
            <a:r>
              <a:rPr lang="en-GB" sz="2000">
                <a:solidFill>
                  <a:schemeClr val="accent4"/>
                </a:solidFill>
              </a:rPr>
              <a:t>between</a:t>
            </a:r>
            <a:r>
              <a:rPr lang="en-GB" sz="2000"/>
              <a:t> the equivalent ratios.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sp>
        <p:nvSpPr>
          <p:cNvPr id="1768" name="Google Shape;1768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769" name="Google Shape;1769;p139"/>
          <p:cNvGrpSpPr/>
          <p:nvPr/>
        </p:nvGrpSpPr>
        <p:grpSpPr>
          <a:xfrm>
            <a:off x="3524762" y="1964967"/>
            <a:ext cx="2094465" cy="550800"/>
            <a:chOff x="1947424" y="3053267"/>
            <a:chExt cx="2094465" cy="550800"/>
          </a:xfrm>
        </p:grpSpPr>
        <p:grpSp>
          <p:nvGrpSpPr>
            <p:cNvPr id="1770" name="Google Shape;1770;p139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71" name="Google Shape;1771;p139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2" name="Google Shape;1772;p139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73" name="Google Shape;1773;p139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4" name="Google Shape;1774;p139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5" name="Google Shape;1775;p139"/>
          <p:cNvSpPr txBox="1"/>
          <p:nvPr/>
        </p:nvSpPr>
        <p:spPr>
          <a:xfrm>
            <a:off x="4336650" y="1620000"/>
            <a:ext cx="470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776" name="Google Shape;1776;p139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4592487" y="1650598"/>
            <a:ext cx="249709" cy="45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7" name="Google Shape;1777;p139"/>
          <p:cNvGrpSpPr/>
          <p:nvPr/>
        </p:nvGrpSpPr>
        <p:grpSpPr>
          <a:xfrm>
            <a:off x="3524749" y="2672559"/>
            <a:ext cx="2094465" cy="550800"/>
            <a:chOff x="1947424" y="3053267"/>
            <a:chExt cx="2094465" cy="550800"/>
          </a:xfrm>
        </p:grpSpPr>
        <p:grpSp>
          <p:nvGrpSpPr>
            <p:cNvPr id="1778" name="Google Shape;1778;p139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79" name="Google Shape;1779;p139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0" name="Google Shape;1780;p139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81" name="Google Shape;1781;p139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2" name="Google Shape;1782;p139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3" name="Google Shape;1783;p139"/>
          <p:cNvGrpSpPr/>
          <p:nvPr/>
        </p:nvGrpSpPr>
        <p:grpSpPr>
          <a:xfrm>
            <a:off x="3524762" y="4087742"/>
            <a:ext cx="2094465" cy="550800"/>
            <a:chOff x="1947424" y="3053267"/>
            <a:chExt cx="2094465" cy="550800"/>
          </a:xfrm>
        </p:grpSpPr>
        <p:grpSp>
          <p:nvGrpSpPr>
            <p:cNvPr id="1784" name="Google Shape;1784;p139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85" name="Google Shape;1785;p139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86" name="Google Shape;1786;p139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87" name="Google Shape;1787;p139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8" name="Google Shape;1788;p139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89" name="Google Shape;1789;p139"/>
          <p:cNvGrpSpPr/>
          <p:nvPr/>
        </p:nvGrpSpPr>
        <p:grpSpPr>
          <a:xfrm>
            <a:off x="3524762" y="3380150"/>
            <a:ext cx="2094465" cy="550800"/>
            <a:chOff x="1947424" y="3053267"/>
            <a:chExt cx="2094465" cy="550800"/>
          </a:xfrm>
        </p:grpSpPr>
        <p:grpSp>
          <p:nvGrpSpPr>
            <p:cNvPr id="1790" name="Google Shape;1790;p139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791" name="Google Shape;1791;p139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2" name="Google Shape;1792;p139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793" name="Google Shape;1793;p139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4" name="Google Shape;1794;p139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5" name="Google Shape;1795;p139"/>
          <p:cNvSpPr txBox="1"/>
          <p:nvPr>
            <p:ph idx="1" type="body"/>
          </p:nvPr>
        </p:nvSpPr>
        <p:spPr>
          <a:xfrm>
            <a:off x="350500" y="2412825"/>
            <a:ext cx="23229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</a:t>
            </a:r>
            <a:r>
              <a:rPr lang="en-GB" sz="2000"/>
              <a:t>ou could also use the multiplicative relationship </a:t>
            </a:r>
            <a:r>
              <a:rPr lang="en-GB" sz="2000">
                <a:solidFill>
                  <a:schemeClr val="accent4"/>
                </a:solidFill>
              </a:rPr>
              <a:t>between </a:t>
            </a:r>
            <a:r>
              <a:rPr lang="en-GB" sz="2000"/>
              <a:t>the equivalent ratios to find the missing numbers. </a:t>
            </a:r>
            <a:endParaRPr sz="2000"/>
          </a:p>
        </p:txBody>
      </p:sp>
      <p:sp>
        <p:nvSpPr>
          <p:cNvPr id="1796" name="Google Shape;1796;p139"/>
          <p:cNvSpPr/>
          <p:nvPr/>
        </p:nvSpPr>
        <p:spPr>
          <a:xfrm>
            <a:off x="5068415" y="2672559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139"/>
          <p:cNvSpPr/>
          <p:nvPr/>
        </p:nvSpPr>
        <p:spPr>
          <a:xfrm>
            <a:off x="3231863" y="2217725"/>
            <a:ext cx="275469" cy="773435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798" name="Google Shape;1798;p139"/>
          <p:cNvSpPr/>
          <p:nvPr/>
        </p:nvSpPr>
        <p:spPr>
          <a:xfrm flipH="1">
            <a:off x="5636650" y="2217725"/>
            <a:ext cx="275469" cy="773435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799" name="Google Shape;1799;p139"/>
          <p:cNvSpPr txBox="1"/>
          <p:nvPr/>
        </p:nvSpPr>
        <p:spPr>
          <a:xfrm>
            <a:off x="2689600" y="2315100"/>
            <a:ext cx="470700" cy="51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39"/>
          <p:cNvSpPr txBox="1"/>
          <p:nvPr/>
        </p:nvSpPr>
        <p:spPr>
          <a:xfrm>
            <a:off x="5983675" y="2315100"/>
            <a:ext cx="470700" cy="51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139"/>
          <p:cNvSpPr/>
          <p:nvPr/>
        </p:nvSpPr>
        <p:spPr>
          <a:xfrm>
            <a:off x="5068415" y="2672559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40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can find equivalent ratios using the same multiplier within the ratio or using the same multiplier on each part </a:t>
            </a:r>
            <a:r>
              <a:rPr lang="en-GB" sz="2000">
                <a:solidFill>
                  <a:schemeClr val="accent4"/>
                </a:solidFill>
              </a:rPr>
              <a:t>between</a:t>
            </a:r>
            <a:r>
              <a:rPr lang="en-GB" sz="2000"/>
              <a:t> the equivalent ratios.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sp>
        <p:nvSpPr>
          <p:cNvPr id="1807" name="Google Shape;1807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808" name="Google Shape;1808;p140"/>
          <p:cNvGrpSpPr/>
          <p:nvPr/>
        </p:nvGrpSpPr>
        <p:grpSpPr>
          <a:xfrm>
            <a:off x="3524762" y="1964967"/>
            <a:ext cx="2094465" cy="550800"/>
            <a:chOff x="1947424" y="3053267"/>
            <a:chExt cx="2094465" cy="550800"/>
          </a:xfrm>
        </p:grpSpPr>
        <p:grpSp>
          <p:nvGrpSpPr>
            <p:cNvPr id="1809" name="Google Shape;1809;p140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10" name="Google Shape;1810;p140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1" name="Google Shape;1811;p140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12" name="Google Shape;1812;p140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3" name="Google Shape;1813;p140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4" name="Google Shape;1814;p140"/>
          <p:cNvSpPr txBox="1"/>
          <p:nvPr/>
        </p:nvSpPr>
        <p:spPr>
          <a:xfrm>
            <a:off x="4336650" y="1620000"/>
            <a:ext cx="470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815" name="Google Shape;1815;p140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4592487" y="1650598"/>
            <a:ext cx="249709" cy="45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6" name="Google Shape;1816;p140"/>
          <p:cNvGrpSpPr/>
          <p:nvPr/>
        </p:nvGrpSpPr>
        <p:grpSpPr>
          <a:xfrm>
            <a:off x="3524749" y="2672559"/>
            <a:ext cx="2094465" cy="550800"/>
            <a:chOff x="1947424" y="3053267"/>
            <a:chExt cx="2094465" cy="550800"/>
          </a:xfrm>
        </p:grpSpPr>
        <p:grpSp>
          <p:nvGrpSpPr>
            <p:cNvPr id="1817" name="Google Shape;1817;p140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18" name="Google Shape;1818;p140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19" name="Google Shape;1819;p140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20" name="Google Shape;1820;p140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140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2" name="Google Shape;1822;p140"/>
          <p:cNvGrpSpPr/>
          <p:nvPr/>
        </p:nvGrpSpPr>
        <p:grpSpPr>
          <a:xfrm>
            <a:off x="3524762" y="4087742"/>
            <a:ext cx="2094465" cy="550800"/>
            <a:chOff x="1947424" y="3053267"/>
            <a:chExt cx="2094465" cy="550800"/>
          </a:xfrm>
        </p:grpSpPr>
        <p:grpSp>
          <p:nvGrpSpPr>
            <p:cNvPr id="1823" name="Google Shape;1823;p140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24" name="Google Shape;1824;p140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25" name="Google Shape;1825;p140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26" name="Google Shape;1826;p140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7" name="Google Shape;1827;p140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8" name="Google Shape;1828;p140"/>
          <p:cNvGrpSpPr/>
          <p:nvPr/>
        </p:nvGrpSpPr>
        <p:grpSpPr>
          <a:xfrm>
            <a:off x="3524762" y="3380150"/>
            <a:ext cx="2094465" cy="550800"/>
            <a:chOff x="1947424" y="3053267"/>
            <a:chExt cx="2094465" cy="550800"/>
          </a:xfrm>
        </p:grpSpPr>
        <p:grpSp>
          <p:nvGrpSpPr>
            <p:cNvPr id="1829" name="Google Shape;1829;p140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30" name="Google Shape;1830;p140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31" name="Google Shape;1831;p140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32" name="Google Shape;1832;p140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3" name="Google Shape;1833;p140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4" name="Google Shape;1834;p140"/>
          <p:cNvSpPr/>
          <p:nvPr/>
        </p:nvSpPr>
        <p:spPr>
          <a:xfrm>
            <a:off x="5068415" y="2672559"/>
            <a:ext cx="550800" cy="550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40"/>
          <p:cNvSpPr/>
          <p:nvPr/>
        </p:nvSpPr>
        <p:spPr>
          <a:xfrm>
            <a:off x="3524740" y="3380146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40"/>
          <p:cNvSpPr/>
          <p:nvPr/>
        </p:nvSpPr>
        <p:spPr>
          <a:xfrm>
            <a:off x="3231875" y="2217725"/>
            <a:ext cx="275469" cy="1472667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37" name="Google Shape;1837;p140"/>
          <p:cNvSpPr/>
          <p:nvPr/>
        </p:nvSpPr>
        <p:spPr>
          <a:xfrm flipH="1">
            <a:off x="5636656" y="2217725"/>
            <a:ext cx="275469" cy="1451343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1838" name="Google Shape;1838;p140"/>
          <p:cNvGrpSpPr/>
          <p:nvPr/>
        </p:nvGrpSpPr>
        <p:grpSpPr>
          <a:xfrm>
            <a:off x="5978375" y="2691300"/>
            <a:ext cx="470700" cy="513300"/>
            <a:chOff x="5978375" y="2691300"/>
            <a:chExt cx="470700" cy="513300"/>
          </a:xfrm>
        </p:grpSpPr>
        <p:sp>
          <p:nvSpPr>
            <p:cNvPr id="1839" name="Google Shape;1839;p140"/>
            <p:cNvSpPr txBox="1"/>
            <p:nvPr/>
          </p:nvSpPr>
          <p:spPr>
            <a:xfrm>
              <a:off x="5978375" y="2691300"/>
              <a:ext cx="470700" cy="5133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7200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840" name="Google Shape;1840;p140" title="one hal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29698" y="2722151"/>
              <a:ext cx="145572" cy="463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1" name="Google Shape;1841;p140"/>
          <p:cNvGrpSpPr/>
          <p:nvPr/>
        </p:nvGrpSpPr>
        <p:grpSpPr>
          <a:xfrm>
            <a:off x="2694900" y="2686750"/>
            <a:ext cx="470700" cy="513300"/>
            <a:chOff x="2694900" y="2686750"/>
            <a:chExt cx="470700" cy="513300"/>
          </a:xfrm>
        </p:grpSpPr>
        <p:sp>
          <p:nvSpPr>
            <p:cNvPr id="1842" name="Google Shape;1842;p140"/>
            <p:cNvSpPr txBox="1"/>
            <p:nvPr/>
          </p:nvSpPr>
          <p:spPr>
            <a:xfrm>
              <a:off x="2694900" y="2686750"/>
              <a:ext cx="470700" cy="513300"/>
            </a:xfrm>
            <a:prstGeom prst="rect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7200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}{2}&quot;&gt;&lt;mfrac&gt;&lt;mn&gt;1&lt;/mn&gt;&lt;mn&gt;2&lt;/mn&gt;&lt;/mfrac&gt;&lt;/math&gt;" id="1843" name="Google Shape;1843;p140" title="one half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23073" y="2711488"/>
              <a:ext cx="145572" cy="46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4" name="Google Shape;1844;p140"/>
          <p:cNvSpPr/>
          <p:nvPr/>
        </p:nvSpPr>
        <p:spPr>
          <a:xfrm>
            <a:off x="3524740" y="3380146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41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can find equivalent ratios using the same multiplier within the ratio or using the same multiplier on each part </a:t>
            </a:r>
            <a:r>
              <a:rPr lang="en-GB" sz="2000">
                <a:solidFill>
                  <a:schemeClr val="accent4"/>
                </a:solidFill>
              </a:rPr>
              <a:t>between</a:t>
            </a:r>
            <a:r>
              <a:rPr lang="en-GB" sz="2000"/>
              <a:t> the equivalent ratios.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</a:t>
            </a:r>
            <a:endParaRPr sz="2000"/>
          </a:p>
        </p:txBody>
      </p:sp>
      <p:sp>
        <p:nvSpPr>
          <p:cNvPr id="1850" name="Google Shape;1850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851" name="Google Shape;1851;p141"/>
          <p:cNvGrpSpPr/>
          <p:nvPr/>
        </p:nvGrpSpPr>
        <p:grpSpPr>
          <a:xfrm>
            <a:off x="3524762" y="1964967"/>
            <a:ext cx="2094465" cy="550800"/>
            <a:chOff x="1947424" y="3053267"/>
            <a:chExt cx="2094465" cy="550800"/>
          </a:xfrm>
        </p:grpSpPr>
        <p:grpSp>
          <p:nvGrpSpPr>
            <p:cNvPr id="1852" name="Google Shape;1852;p141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53" name="Google Shape;1853;p141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4" name="Google Shape;1854;p141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55" name="Google Shape;1855;p141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6" name="Google Shape;1856;p141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7" name="Google Shape;1857;p141"/>
          <p:cNvSpPr txBox="1"/>
          <p:nvPr/>
        </p:nvSpPr>
        <p:spPr>
          <a:xfrm>
            <a:off x="4336650" y="1620000"/>
            <a:ext cx="470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858" name="Google Shape;1858;p141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4592487" y="1650598"/>
            <a:ext cx="249709" cy="45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9" name="Google Shape;1859;p141"/>
          <p:cNvGrpSpPr/>
          <p:nvPr/>
        </p:nvGrpSpPr>
        <p:grpSpPr>
          <a:xfrm>
            <a:off x="3524749" y="2672559"/>
            <a:ext cx="2094465" cy="550800"/>
            <a:chOff x="1947424" y="3053267"/>
            <a:chExt cx="2094465" cy="550800"/>
          </a:xfrm>
        </p:grpSpPr>
        <p:grpSp>
          <p:nvGrpSpPr>
            <p:cNvPr id="1860" name="Google Shape;1860;p141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61" name="Google Shape;1861;p141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2" name="Google Shape;1862;p141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63" name="Google Shape;1863;p141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4" name="Google Shape;1864;p141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5" name="Google Shape;1865;p141"/>
          <p:cNvGrpSpPr/>
          <p:nvPr/>
        </p:nvGrpSpPr>
        <p:grpSpPr>
          <a:xfrm>
            <a:off x="3524762" y="4087742"/>
            <a:ext cx="2094465" cy="550800"/>
            <a:chOff x="1947424" y="3053267"/>
            <a:chExt cx="2094465" cy="550800"/>
          </a:xfrm>
        </p:grpSpPr>
        <p:grpSp>
          <p:nvGrpSpPr>
            <p:cNvPr id="1866" name="Google Shape;1866;p141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67" name="Google Shape;1867;p141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68" name="Google Shape;1868;p141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69" name="Google Shape;1869;p141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0" name="Google Shape;1870;p141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1" name="Google Shape;1871;p141"/>
          <p:cNvGrpSpPr/>
          <p:nvPr/>
        </p:nvGrpSpPr>
        <p:grpSpPr>
          <a:xfrm>
            <a:off x="3524762" y="3380150"/>
            <a:ext cx="2094465" cy="550800"/>
            <a:chOff x="1947424" y="3053267"/>
            <a:chExt cx="2094465" cy="550800"/>
          </a:xfrm>
        </p:grpSpPr>
        <p:grpSp>
          <p:nvGrpSpPr>
            <p:cNvPr id="1872" name="Google Shape;1872;p141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73" name="Google Shape;1873;p141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4" name="Google Shape;1874;p141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75" name="Google Shape;1875;p141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6" name="Google Shape;1876;p141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7" name="Google Shape;1877;p141"/>
          <p:cNvSpPr/>
          <p:nvPr/>
        </p:nvSpPr>
        <p:spPr>
          <a:xfrm>
            <a:off x="5068415" y="2672559"/>
            <a:ext cx="550800" cy="550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41"/>
          <p:cNvSpPr/>
          <p:nvPr/>
        </p:nvSpPr>
        <p:spPr>
          <a:xfrm>
            <a:off x="3231875" y="2217725"/>
            <a:ext cx="275469" cy="2171756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79" name="Google Shape;1879;p141"/>
          <p:cNvSpPr/>
          <p:nvPr/>
        </p:nvSpPr>
        <p:spPr>
          <a:xfrm flipH="1">
            <a:off x="5661081" y="3626822"/>
            <a:ext cx="275469" cy="762629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80" name="Google Shape;1880;p141"/>
          <p:cNvSpPr txBox="1"/>
          <p:nvPr/>
        </p:nvSpPr>
        <p:spPr>
          <a:xfrm>
            <a:off x="5978400" y="3751488"/>
            <a:ext cx="470700" cy="51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141"/>
          <p:cNvSpPr txBox="1"/>
          <p:nvPr/>
        </p:nvSpPr>
        <p:spPr>
          <a:xfrm>
            <a:off x="2716100" y="3751488"/>
            <a:ext cx="470700" cy="51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3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41"/>
          <p:cNvSpPr/>
          <p:nvPr/>
        </p:nvSpPr>
        <p:spPr>
          <a:xfrm>
            <a:off x="3231875" y="3626819"/>
            <a:ext cx="275469" cy="762629"/>
          </a:xfrm>
          <a:custGeom>
            <a:rect b="b" l="l" r="r" t="t"/>
            <a:pathLst>
              <a:path extrusionOk="0" h="57633" w="18871">
                <a:moveTo>
                  <a:pt x="18236" y="0"/>
                </a:moveTo>
                <a:cubicBezTo>
                  <a:pt x="15199" y="5050"/>
                  <a:pt x="-93" y="20695"/>
                  <a:pt x="13" y="30300"/>
                </a:cubicBezTo>
                <a:cubicBezTo>
                  <a:pt x="119" y="39906"/>
                  <a:pt x="15728" y="53078"/>
                  <a:pt x="18871" y="57633"/>
                </a:cubicBezTo>
              </a:path>
            </a:pathLst>
          </a:cu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883" name="Google Shape;1883;p141"/>
          <p:cNvSpPr/>
          <p:nvPr/>
        </p:nvSpPr>
        <p:spPr>
          <a:xfrm>
            <a:off x="5068427" y="4087742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141"/>
          <p:cNvSpPr/>
          <p:nvPr/>
        </p:nvSpPr>
        <p:spPr>
          <a:xfrm>
            <a:off x="5068427" y="4087742"/>
            <a:ext cx="550800" cy="55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141"/>
          <p:cNvSpPr txBox="1"/>
          <p:nvPr>
            <p:ph idx="1" type="body"/>
          </p:nvPr>
        </p:nvSpPr>
        <p:spPr>
          <a:xfrm>
            <a:off x="350500" y="2412825"/>
            <a:ext cx="23229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Because these are all equivalent ratios you can use any pair to help find missing parts in equivalent ratios.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142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These are all still equivalent to using the multiplier within the ratio. </a:t>
            </a:r>
            <a:endParaRPr sz="2000"/>
          </a:p>
        </p:txBody>
      </p:sp>
      <p:sp>
        <p:nvSpPr>
          <p:cNvPr id="1891" name="Google Shape;1891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892" name="Google Shape;1892;p142"/>
          <p:cNvGrpSpPr/>
          <p:nvPr/>
        </p:nvGrpSpPr>
        <p:grpSpPr>
          <a:xfrm>
            <a:off x="3524762" y="1964967"/>
            <a:ext cx="2094465" cy="550800"/>
            <a:chOff x="1947424" y="3053267"/>
            <a:chExt cx="2094465" cy="550800"/>
          </a:xfrm>
        </p:grpSpPr>
        <p:grpSp>
          <p:nvGrpSpPr>
            <p:cNvPr id="1893" name="Google Shape;1893;p142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894" name="Google Shape;1894;p142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95" name="Google Shape;1895;p142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896" name="Google Shape;1896;p142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7" name="Google Shape;1897;p14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8" name="Google Shape;1898;p142"/>
          <p:cNvSpPr txBox="1"/>
          <p:nvPr/>
        </p:nvSpPr>
        <p:spPr>
          <a:xfrm>
            <a:off x="4336650" y="1620000"/>
            <a:ext cx="470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72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899" name="Google Shape;1899;p142" title="two fifths five halves"/>
          <p:cNvPicPr preferRelativeResize="0"/>
          <p:nvPr/>
        </p:nvPicPr>
        <p:blipFill rotWithShape="1">
          <a:blip r:embed="rId3">
            <a:alphaModFix/>
          </a:blip>
          <a:srcRect b="0" l="0" r="48657" t="0"/>
          <a:stretch/>
        </p:blipFill>
        <p:spPr>
          <a:xfrm>
            <a:off x="4592487" y="1650598"/>
            <a:ext cx="249709" cy="45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0" name="Google Shape;1900;p142"/>
          <p:cNvGrpSpPr/>
          <p:nvPr/>
        </p:nvGrpSpPr>
        <p:grpSpPr>
          <a:xfrm>
            <a:off x="3524749" y="2672559"/>
            <a:ext cx="2094465" cy="550800"/>
            <a:chOff x="1947424" y="3053267"/>
            <a:chExt cx="2094465" cy="550800"/>
          </a:xfrm>
        </p:grpSpPr>
        <p:grpSp>
          <p:nvGrpSpPr>
            <p:cNvPr id="1901" name="Google Shape;1901;p142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902" name="Google Shape;1902;p142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3" name="Google Shape;1903;p142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04" name="Google Shape;1904;p142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5" name="Google Shape;1905;p14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06" name="Google Shape;1906;p142"/>
          <p:cNvGrpSpPr/>
          <p:nvPr/>
        </p:nvGrpSpPr>
        <p:grpSpPr>
          <a:xfrm>
            <a:off x="3524762" y="4087742"/>
            <a:ext cx="2094465" cy="550800"/>
            <a:chOff x="1947424" y="3053267"/>
            <a:chExt cx="2094465" cy="550800"/>
          </a:xfrm>
        </p:grpSpPr>
        <p:grpSp>
          <p:nvGrpSpPr>
            <p:cNvPr id="1907" name="Google Shape;1907;p142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908" name="Google Shape;1908;p142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9" name="Google Shape;1909;p142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10" name="Google Shape;1910;p142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1" name="Google Shape;1911;p14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2" name="Google Shape;1912;p142"/>
          <p:cNvGrpSpPr/>
          <p:nvPr/>
        </p:nvGrpSpPr>
        <p:grpSpPr>
          <a:xfrm>
            <a:off x="3524762" y="3380150"/>
            <a:ext cx="2094465" cy="550800"/>
            <a:chOff x="1947424" y="3053267"/>
            <a:chExt cx="2094465" cy="550800"/>
          </a:xfrm>
        </p:grpSpPr>
        <p:grpSp>
          <p:nvGrpSpPr>
            <p:cNvPr id="1913" name="Google Shape;1913;p142"/>
            <p:cNvGrpSpPr/>
            <p:nvPr/>
          </p:nvGrpSpPr>
          <p:grpSpPr>
            <a:xfrm flipH="1" rot="10800000">
              <a:off x="2340200" y="3330528"/>
              <a:ext cx="1213208" cy="0"/>
              <a:chOff x="2366656" y="2089957"/>
              <a:chExt cx="1213208" cy="0"/>
            </a:xfrm>
          </p:grpSpPr>
          <p:cxnSp>
            <p:nvCxnSpPr>
              <p:cNvPr id="1914" name="Google Shape;1914;p142"/>
              <p:cNvCxnSpPr/>
              <p:nvPr/>
            </p:nvCxnSpPr>
            <p:spPr>
              <a:xfrm>
                <a:off x="2366665" y="2089957"/>
                <a:ext cx="1213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15" name="Google Shape;1915;p142"/>
              <p:cNvCxnSpPr/>
              <p:nvPr/>
            </p:nvCxnSpPr>
            <p:spPr>
              <a:xfrm>
                <a:off x="2366656" y="2089957"/>
                <a:ext cx="847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16" name="Google Shape;1916;p142"/>
            <p:cNvSpPr/>
            <p:nvPr/>
          </p:nvSpPr>
          <p:spPr>
            <a:xfrm>
              <a:off x="3491090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7" name="Google Shape;1917;p142"/>
            <p:cNvSpPr/>
            <p:nvPr/>
          </p:nvSpPr>
          <p:spPr>
            <a:xfrm>
              <a:off x="1947424" y="3053267"/>
              <a:ext cx="550800" cy="5508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18" name="Google Shape;1918;p142"/>
          <p:cNvSpPr/>
          <p:nvPr/>
        </p:nvSpPr>
        <p:spPr>
          <a:xfrm>
            <a:off x="5068415" y="2672559"/>
            <a:ext cx="550800" cy="550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9" name="Google Shape;1919;p142"/>
          <p:cNvGrpSpPr/>
          <p:nvPr/>
        </p:nvGrpSpPr>
        <p:grpSpPr>
          <a:xfrm>
            <a:off x="6056025" y="4137098"/>
            <a:ext cx="1114871" cy="452113"/>
            <a:chOff x="6056025" y="4137098"/>
            <a:chExt cx="1114871" cy="452113"/>
          </a:xfrm>
        </p:grpSpPr>
        <p:sp>
          <p:nvSpPr>
            <p:cNvPr id="1920" name="Google Shape;1920;p142"/>
            <p:cNvSpPr txBox="1"/>
            <p:nvPr/>
          </p:nvSpPr>
          <p:spPr>
            <a:xfrm>
              <a:off x="6550500" y="41371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921" name="Google Shape;1921;p142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4137098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2" name="Google Shape;1922;p142"/>
            <p:cNvSpPr txBox="1"/>
            <p:nvPr/>
          </p:nvSpPr>
          <p:spPr>
            <a:xfrm>
              <a:off x="6056025" y="4253650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3" name="Google Shape;1923;p142"/>
          <p:cNvGrpSpPr/>
          <p:nvPr/>
        </p:nvGrpSpPr>
        <p:grpSpPr>
          <a:xfrm>
            <a:off x="6056025" y="2709487"/>
            <a:ext cx="1114871" cy="452102"/>
            <a:chOff x="6056025" y="2709487"/>
            <a:chExt cx="1114871" cy="452102"/>
          </a:xfrm>
        </p:grpSpPr>
        <p:sp>
          <p:nvSpPr>
            <p:cNvPr id="1924" name="Google Shape;1924;p142"/>
            <p:cNvSpPr txBox="1"/>
            <p:nvPr/>
          </p:nvSpPr>
          <p:spPr>
            <a:xfrm>
              <a:off x="6550500" y="2709489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5" name="Google Shape;1925;p142"/>
            <p:cNvSpPr txBox="1"/>
            <p:nvPr/>
          </p:nvSpPr>
          <p:spPr>
            <a:xfrm>
              <a:off x="6056025" y="2826038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20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926" name="Google Shape;1926;p142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2709487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7" name="Google Shape;1927;p142"/>
          <p:cNvGrpSpPr/>
          <p:nvPr/>
        </p:nvGrpSpPr>
        <p:grpSpPr>
          <a:xfrm>
            <a:off x="6056025" y="3412712"/>
            <a:ext cx="1114871" cy="468887"/>
            <a:chOff x="6056025" y="3412712"/>
            <a:chExt cx="1114871" cy="468887"/>
          </a:xfrm>
        </p:grpSpPr>
        <p:sp>
          <p:nvSpPr>
            <p:cNvPr id="1928" name="Google Shape;1928;p142"/>
            <p:cNvSpPr txBox="1"/>
            <p:nvPr/>
          </p:nvSpPr>
          <p:spPr>
            <a:xfrm>
              <a:off x="6550500" y="3412712"/>
              <a:ext cx="6039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\ \ \ \frac{5}{2}&quot;&gt;&lt;mfrac&gt;&lt;mn&gt;2&lt;/mn&gt;&lt;mn&gt;5&lt;/mn&gt;&lt;/mfrac&gt;&lt;mtext&gt;&lt;/mtext&gt;&lt;mtext&gt;&lt;/mtext&gt;&lt;mtext&gt;&lt;/mtext&gt;&lt;mfrac&gt;&lt;mn&gt;5&lt;/mn&gt;&lt;mn&gt;2&lt;/mn&gt;&lt;/mfrac&gt;&lt;/math&gt;" id="1929" name="Google Shape;1929;p142" title="two fifths five halves"/>
            <p:cNvPicPr preferRelativeResize="0"/>
            <p:nvPr/>
          </p:nvPicPr>
          <p:blipFill rotWithShape="1">
            <a:blip r:embed="rId3">
              <a:alphaModFix/>
            </a:blip>
            <a:srcRect b="0" l="0" r="48657" t="0"/>
            <a:stretch/>
          </p:blipFill>
          <p:spPr>
            <a:xfrm>
              <a:off x="6921187" y="3429498"/>
              <a:ext cx="249709" cy="45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0" name="Google Shape;1930;p142"/>
            <p:cNvSpPr txBox="1"/>
            <p:nvPr/>
          </p:nvSpPr>
          <p:spPr>
            <a:xfrm>
              <a:off x="6056025" y="3546050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1" name="Google Shape;1931;p142"/>
          <p:cNvGrpSpPr/>
          <p:nvPr/>
        </p:nvGrpSpPr>
        <p:grpSpPr>
          <a:xfrm>
            <a:off x="3524762" y="2672550"/>
            <a:ext cx="2094475" cy="1965987"/>
            <a:chOff x="3524762" y="2672550"/>
            <a:chExt cx="2094475" cy="1965987"/>
          </a:xfrm>
        </p:grpSpPr>
        <p:sp>
          <p:nvSpPr>
            <p:cNvPr id="1932" name="Google Shape;1932;p142"/>
            <p:cNvSpPr/>
            <p:nvPr/>
          </p:nvSpPr>
          <p:spPr>
            <a:xfrm>
              <a:off x="5068437" y="2672550"/>
              <a:ext cx="550800" cy="550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3" name="Google Shape;1933;p142"/>
            <p:cNvSpPr/>
            <p:nvPr/>
          </p:nvSpPr>
          <p:spPr>
            <a:xfrm>
              <a:off x="3524762" y="3380138"/>
              <a:ext cx="550800" cy="550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4" name="Google Shape;1934;p142"/>
            <p:cNvSpPr/>
            <p:nvPr/>
          </p:nvSpPr>
          <p:spPr>
            <a:xfrm>
              <a:off x="5068437" y="4087738"/>
              <a:ext cx="550800" cy="550800"/>
            </a:xfrm>
            <a:prstGeom prst="ellipse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5" name="Google Shape;1935;p142"/>
          <p:cNvGrpSpPr/>
          <p:nvPr/>
        </p:nvGrpSpPr>
        <p:grpSpPr>
          <a:xfrm>
            <a:off x="7220175" y="2826026"/>
            <a:ext cx="551400" cy="1646625"/>
            <a:chOff x="7220175" y="2826026"/>
            <a:chExt cx="551400" cy="1646625"/>
          </a:xfrm>
        </p:grpSpPr>
        <p:sp>
          <p:nvSpPr>
            <p:cNvPr id="1936" name="Google Shape;1936;p142"/>
            <p:cNvSpPr txBox="1"/>
            <p:nvPr/>
          </p:nvSpPr>
          <p:spPr>
            <a:xfrm>
              <a:off x="7220175" y="2826026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8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7" name="Google Shape;1937;p142"/>
            <p:cNvSpPr txBox="1"/>
            <p:nvPr/>
          </p:nvSpPr>
          <p:spPr>
            <a:xfrm>
              <a:off x="7220175" y="3546051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8" name="Google Shape;1938;p142"/>
            <p:cNvSpPr txBox="1"/>
            <p:nvPr/>
          </p:nvSpPr>
          <p:spPr>
            <a:xfrm>
              <a:off x="7220175" y="4253651"/>
              <a:ext cx="5514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= 6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9" name="Google Shape;1939;p142"/>
          <p:cNvSpPr txBox="1"/>
          <p:nvPr>
            <p:ph idx="1" type="body"/>
          </p:nvPr>
        </p:nvSpPr>
        <p:spPr>
          <a:xfrm>
            <a:off x="350500" y="2412825"/>
            <a:ext cx="23229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calculating mentally you may prefer to work either way. 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43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pairs of numbers are all in the same ratio. Find the missing numbers. </a:t>
            </a:r>
            <a:endParaRPr/>
          </a:p>
        </p:txBody>
      </p:sp>
      <p:sp>
        <p:nvSpPr>
          <p:cNvPr id="1945" name="Google Shape;1945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946" name="Google Shape;1946;p143"/>
          <p:cNvGrpSpPr/>
          <p:nvPr/>
        </p:nvGrpSpPr>
        <p:grpSpPr>
          <a:xfrm flipH="1" rot="10800000">
            <a:off x="3917538" y="2242228"/>
            <a:ext cx="1213208" cy="0"/>
            <a:chOff x="2366656" y="2089957"/>
            <a:chExt cx="1213208" cy="0"/>
          </a:xfrm>
        </p:grpSpPr>
        <p:cxnSp>
          <p:nvCxnSpPr>
            <p:cNvPr id="1947" name="Google Shape;1947;p143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8" name="Google Shape;1948;p143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49" name="Google Shape;1949;p143"/>
          <p:cNvSpPr/>
          <p:nvPr/>
        </p:nvSpPr>
        <p:spPr>
          <a:xfrm>
            <a:off x="5095492" y="1964967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43"/>
          <p:cNvSpPr/>
          <p:nvPr/>
        </p:nvSpPr>
        <p:spPr>
          <a:xfrm>
            <a:off x="3524762" y="1964967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1" name="Google Shape;1951;p143"/>
          <p:cNvGrpSpPr/>
          <p:nvPr/>
        </p:nvGrpSpPr>
        <p:grpSpPr>
          <a:xfrm flipH="1" rot="10800000">
            <a:off x="3917525" y="2949819"/>
            <a:ext cx="1213208" cy="0"/>
            <a:chOff x="2366656" y="2089957"/>
            <a:chExt cx="1213208" cy="0"/>
          </a:xfrm>
        </p:grpSpPr>
        <p:cxnSp>
          <p:nvCxnSpPr>
            <p:cNvPr id="1952" name="Google Shape;1952;p143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3" name="Google Shape;1953;p143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54" name="Google Shape;1954;p143"/>
          <p:cNvSpPr/>
          <p:nvPr/>
        </p:nvSpPr>
        <p:spPr>
          <a:xfrm>
            <a:off x="5094292" y="2672559"/>
            <a:ext cx="561600" cy="56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43"/>
          <p:cNvSpPr/>
          <p:nvPr/>
        </p:nvSpPr>
        <p:spPr>
          <a:xfrm>
            <a:off x="3524749" y="268504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6" name="Google Shape;1956;p143"/>
          <p:cNvGrpSpPr/>
          <p:nvPr/>
        </p:nvGrpSpPr>
        <p:grpSpPr>
          <a:xfrm flipH="1" rot="10800000">
            <a:off x="3917538" y="4365003"/>
            <a:ext cx="1213208" cy="0"/>
            <a:chOff x="2366656" y="2089957"/>
            <a:chExt cx="1213208" cy="0"/>
          </a:xfrm>
        </p:grpSpPr>
        <p:cxnSp>
          <p:nvCxnSpPr>
            <p:cNvPr id="1957" name="Google Shape;1957;p143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8" name="Google Shape;1958;p143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59" name="Google Shape;1959;p143"/>
          <p:cNvSpPr/>
          <p:nvPr/>
        </p:nvSpPr>
        <p:spPr>
          <a:xfrm>
            <a:off x="5095492" y="4125205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0" name="Google Shape;1960;p143"/>
          <p:cNvSpPr/>
          <p:nvPr/>
        </p:nvSpPr>
        <p:spPr>
          <a:xfrm>
            <a:off x="3524762" y="4125205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1" name="Google Shape;1961;p143"/>
          <p:cNvGrpSpPr/>
          <p:nvPr/>
        </p:nvGrpSpPr>
        <p:grpSpPr>
          <a:xfrm flipH="1" rot="10800000">
            <a:off x="3917538" y="3657411"/>
            <a:ext cx="1213208" cy="0"/>
            <a:chOff x="2366656" y="2089957"/>
            <a:chExt cx="1213208" cy="0"/>
          </a:xfrm>
        </p:grpSpPr>
        <p:cxnSp>
          <p:nvCxnSpPr>
            <p:cNvPr id="1962" name="Google Shape;1962;p143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3" name="Google Shape;1963;p143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64" name="Google Shape;1964;p143"/>
          <p:cNvSpPr/>
          <p:nvPr/>
        </p:nvSpPr>
        <p:spPr>
          <a:xfrm>
            <a:off x="5095492" y="340512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43"/>
          <p:cNvSpPr/>
          <p:nvPr/>
        </p:nvSpPr>
        <p:spPr>
          <a:xfrm>
            <a:off x="3524762" y="340512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144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pairs of numbers are all in the same ratio. Find the missing numbers. </a:t>
            </a:r>
            <a:endParaRPr/>
          </a:p>
        </p:txBody>
      </p:sp>
      <p:sp>
        <p:nvSpPr>
          <p:cNvPr id="1971" name="Google Shape;1971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pSp>
        <p:nvGrpSpPr>
          <p:cNvPr id="1972" name="Google Shape;1972;p144"/>
          <p:cNvGrpSpPr/>
          <p:nvPr/>
        </p:nvGrpSpPr>
        <p:grpSpPr>
          <a:xfrm flipH="1" rot="10800000">
            <a:off x="3917538" y="2242228"/>
            <a:ext cx="1213208" cy="0"/>
            <a:chOff x="2366656" y="2089957"/>
            <a:chExt cx="1213208" cy="0"/>
          </a:xfrm>
        </p:grpSpPr>
        <p:cxnSp>
          <p:nvCxnSpPr>
            <p:cNvPr id="1973" name="Google Shape;1973;p144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4" name="Google Shape;1974;p144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75" name="Google Shape;1975;p144"/>
          <p:cNvSpPr/>
          <p:nvPr/>
        </p:nvSpPr>
        <p:spPr>
          <a:xfrm>
            <a:off x="5095492" y="1964967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44"/>
          <p:cNvSpPr/>
          <p:nvPr/>
        </p:nvSpPr>
        <p:spPr>
          <a:xfrm>
            <a:off x="3524762" y="1964967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7" name="Google Shape;1977;p144"/>
          <p:cNvGrpSpPr/>
          <p:nvPr/>
        </p:nvGrpSpPr>
        <p:grpSpPr>
          <a:xfrm flipH="1" rot="10800000">
            <a:off x="3917525" y="2949819"/>
            <a:ext cx="1213208" cy="0"/>
            <a:chOff x="2366656" y="2089957"/>
            <a:chExt cx="1213208" cy="0"/>
          </a:xfrm>
        </p:grpSpPr>
        <p:cxnSp>
          <p:nvCxnSpPr>
            <p:cNvPr id="1978" name="Google Shape;1978;p144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9" name="Google Shape;1979;p144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0" name="Google Shape;1980;p144"/>
          <p:cNvSpPr/>
          <p:nvPr/>
        </p:nvSpPr>
        <p:spPr>
          <a:xfrm>
            <a:off x="5094292" y="2672559"/>
            <a:ext cx="561600" cy="56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44"/>
          <p:cNvSpPr/>
          <p:nvPr/>
        </p:nvSpPr>
        <p:spPr>
          <a:xfrm>
            <a:off x="3524749" y="268504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2" name="Google Shape;1982;p144"/>
          <p:cNvGrpSpPr/>
          <p:nvPr/>
        </p:nvGrpSpPr>
        <p:grpSpPr>
          <a:xfrm flipH="1" rot="10800000">
            <a:off x="3917538" y="4365003"/>
            <a:ext cx="1213208" cy="0"/>
            <a:chOff x="2366656" y="2089957"/>
            <a:chExt cx="1213208" cy="0"/>
          </a:xfrm>
        </p:grpSpPr>
        <p:cxnSp>
          <p:nvCxnSpPr>
            <p:cNvPr id="1983" name="Google Shape;1983;p144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4" name="Google Shape;1984;p144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5" name="Google Shape;1985;p144"/>
          <p:cNvSpPr/>
          <p:nvPr/>
        </p:nvSpPr>
        <p:spPr>
          <a:xfrm>
            <a:off x="5095492" y="4125205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6" name="Google Shape;1986;p144"/>
          <p:cNvSpPr/>
          <p:nvPr/>
        </p:nvSpPr>
        <p:spPr>
          <a:xfrm>
            <a:off x="3524762" y="4125205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4.5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7" name="Google Shape;1987;p144"/>
          <p:cNvGrpSpPr/>
          <p:nvPr/>
        </p:nvGrpSpPr>
        <p:grpSpPr>
          <a:xfrm flipH="1" rot="10800000">
            <a:off x="3917538" y="3657411"/>
            <a:ext cx="1213208" cy="0"/>
            <a:chOff x="2366656" y="2089957"/>
            <a:chExt cx="1213208" cy="0"/>
          </a:xfrm>
        </p:grpSpPr>
        <p:cxnSp>
          <p:nvCxnSpPr>
            <p:cNvPr id="1988" name="Google Shape;1988;p144"/>
            <p:cNvCxnSpPr/>
            <p:nvPr/>
          </p:nvCxnSpPr>
          <p:spPr>
            <a:xfrm>
              <a:off x="2366665" y="2089957"/>
              <a:ext cx="1213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9" name="Google Shape;1989;p144"/>
            <p:cNvCxnSpPr/>
            <p:nvPr/>
          </p:nvCxnSpPr>
          <p:spPr>
            <a:xfrm>
              <a:off x="2366656" y="2089957"/>
              <a:ext cx="8478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90" name="Google Shape;1990;p144"/>
          <p:cNvSpPr/>
          <p:nvPr/>
        </p:nvSpPr>
        <p:spPr>
          <a:xfrm>
            <a:off x="5095492" y="340512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44"/>
          <p:cNvSpPr/>
          <p:nvPr/>
        </p:nvSpPr>
        <p:spPr>
          <a:xfrm>
            <a:off x="3524762" y="3405126"/>
            <a:ext cx="560400" cy="5604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2" name="Google Shape;1992;p144"/>
          <p:cNvSpPr/>
          <p:nvPr/>
        </p:nvSpPr>
        <p:spPr>
          <a:xfrm>
            <a:off x="5094905" y="2685046"/>
            <a:ext cx="560400" cy="5604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18000" spcFirstLastPara="1" rIns="18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45"/>
          <p:cNvSpPr txBox="1"/>
          <p:nvPr>
            <p:ph idx="1" type="body"/>
          </p:nvPr>
        </p:nvSpPr>
        <p:spPr>
          <a:xfrm>
            <a:off x="324000" y="1064100"/>
            <a:ext cx="2719800" cy="4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 and Alex both draw the following on squared paper. </a:t>
            </a:r>
            <a:endParaRPr/>
          </a:p>
        </p:txBody>
      </p:sp>
      <p:sp>
        <p:nvSpPr>
          <p:cNvPr id="1998" name="Google Shape;1998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graphicFrame>
        <p:nvGraphicFramePr>
          <p:cNvPr id="1999" name="Google Shape;1999;p145"/>
          <p:cNvGraphicFramePr/>
          <p:nvPr/>
        </p:nvGraphicFramePr>
        <p:xfrm>
          <a:off x="3201788" y="1168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96425"/>
                <a:gridCol w="496425"/>
                <a:gridCol w="496425"/>
                <a:gridCol w="496425"/>
                <a:gridCol w="496425"/>
              </a:tblGrid>
              <a:tr h="48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8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00" name="Google Shape;2000;p145"/>
          <p:cNvSpPr txBox="1"/>
          <p:nvPr>
            <p:ph idx="1" type="body"/>
          </p:nvPr>
        </p:nvSpPr>
        <p:spPr>
          <a:xfrm>
            <a:off x="324000" y="3273900"/>
            <a:ext cx="8600400" cy="4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the ratio of shaded to </a:t>
            </a:r>
            <a:r>
              <a:rPr lang="en-GB"/>
              <a:t>unshaded</a:t>
            </a:r>
            <a:r>
              <a:rPr lang="en-GB"/>
              <a:t> the same in both pictures?</a:t>
            </a:r>
            <a:endParaRPr/>
          </a:p>
        </p:txBody>
      </p:sp>
      <p:sp>
        <p:nvSpPr>
          <p:cNvPr id="2001" name="Google Shape;2001;p145"/>
          <p:cNvSpPr txBox="1"/>
          <p:nvPr>
            <p:ph idx="1" type="body"/>
          </p:nvPr>
        </p:nvSpPr>
        <p:spPr>
          <a:xfrm>
            <a:off x="324000" y="3651844"/>
            <a:ext cx="8237700" cy="12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Jun: for every 8 shaded, there are 12 unshaded.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Alex: for every 2 shaded, there are 3 unshaded.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ratio is the same.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02" name="Google Shape;2002;p145"/>
          <p:cNvGraphicFramePr/>
          <p:nvPr/>
        </p:nvGraphicFramePr>
        <p:xfrm>
          <a:off x="6048513" y="163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522650"/>
                <a:gridCol w="522650"/>
                <a:gridCol w="522650"/>
                <a:gridCol w="522650"/>
                <a:gridCol w="522650"/>
              </a:tblGrid>
              <a:tr h="52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003" name="Google Shape;2003;p145"/>
          <p:cNvSpPr txBox="1"/>
          <p:nvPr/>
        </p:nvSpPr>
        <p:spPr>
          <a:xfrm>
            <a:off x="3124200" y="6867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Jun</a:t>
            </a:r>
            <a:endParaRPr/>
          </a:p>
        </p:txBody>
      </p:sp>
      <p:sp>
        <p:nvSpPr>
          <p:cNvPr id="2004" name="Google Shape;2004;p145"/>
          <p:cNvSpPr txBox="1"/>
          <p:nvPr/>
        </p:nvSpPr>
        <p:spPr>
          <a:xfrm>
            <a:off x="5986405" y="1199547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/>
          </a:p>
        </p:txBody>
      </p:sp>
      <p:grpSp>
        <p:nvGrpSpPr>
          <p:cNvPr id="2005" name="Google Shape;2005;p145"/>
          <p:cNvGrpSpPr/>
          <p:nvPr/>
        </p:nvGrpSpPr>
        <p:grpSpPr>
          <a:xfrm>
            <a:off x="5264580" y="3651851"/>
            <a:ext cx="1162351" cy="613501"/>
            <a:chOff x="6645075" y="1310775"/>
            <a:chExt cx="1162351" cy="1327350"/>
          </a:xfrm>
        </p:grpSpPr>
        <p:sp>
          <p:nvSpPr>
            <p:cNvPr id="2006" name="Google Shape;2006;p145"/>
            <p:cNvSpPr txBox="1"/>
            <p:nvPr/>
          </p:nvSpPr>
          <p:spPr>
            <a:xfrm>
              <a:off x="7224226" y="1490039"/>
              <a:ext cx="583200" cy="113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÷</a:t>
              </a: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/>
            </a:p>
          </p:txBody>
        </p:sp>
        <p:sp>
          <p:nvSpPr>
            <p:cNvPr id="2007" name="Google Shape;2007;p145"/>
            <p:cNvSpPr/>
            <p:nvPr/>
          </p:nvSpPr>
          <p:spPr>
            <a:xfrm>
              <a:off x="6645075" y="1310775"/>
              <a:ext cx="579150" cy="1327350"/>
            </a:xfrm>
            <a:custGeom>
              <a:rect b="b" l="l" r="r" t="t"/>
              <a:pathLst>
                <a:path extrusionOk="0" h="53094" w="23166">
                  <a:moveTo>
                    <a:pt x="0" y="0"/>
                  </a:moveTo>
                  <a:cubicBezTo>
                    <a:pt x="6026" y="3011"/>
                    <a:pt x="13672" y="4473"/>
                    <a:pt x="17587" y="9955"/>
                  </a:cubicBezTo>
                  <a:cubicBezTo>
                    <a:pt x="20840" y="14509"/>
                    <a:pt x="21976" y="20363"/>
                    <a:pt x="22897" y="25883"/>
                  </a:cubicBezTo>
                  <a:cubicBezTo>
                    <a:pt x="24746" y="36969"/>
                    <a:pt x="14225" y="53094"/>
                    <a:pt x="2986" y="53094"/>
                  </a:cubicBezTo>
                </a:path>
              </a:pathLst>
            </a:cu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146"/>
          <p:cNvSpPr txBox="1"/>
          <p:nvPr/>
        </p:nvSpPr>
        <p:spPr>
          <a:xfrm>
            <a:off x="362375" y="641900"/>
            <a:ext cx="83136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rabi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 which ratio tables are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the statement: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“For every 3 ticks, there are 4 crosses.”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4" name="Google Shape;2014;p146"/>
          <p:cNvGraphicFramePr/>
          <p:nvPr/>
        </p:nvGraphicFramePr>
        <p:xfrm>
          <a:off x="570838" y="183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5" name="Google Shape;2015;p146"/>
          <p:cNvGraphicFramePr/>
          <p:nvPr/>
        </p:nvGraphicFramePr>
        <p:xfrm>
          <a:off x="799438" y="336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6" name="Google Shape;2016;p146"/>
          <p:cNvGraphicFramePr/>
          <p:nvPr/>
        </p:nvGraphicFramePr>
        <p:xfrm>
          <a:off x="3618838" y="351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7" name="Google Shape;2017;p146"/>
          <p:cNvGraphicFramePr/>
          <p:nvPr/>
        </p:nvGraphicFramePr>
        <p:xfrm>
          <a:off x="3695038" y="191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8" name="Google Shape;2018;p146"/>
          <p:cNvGraphicFramePr/>
          <p:nvPr/>
        </p:nvGraphicFramePr>
        <p:xfrm>
          <a:off x="6514438" y="183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9" name="Google Shape;2019;p146"/>
          <p:cNvGraphicFramePr/>
          <p:nvPr/>
        </p:nvGraphicFramePr>
        <p:xfrm>
          <a:off x="6362038" y="320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47"/>
          <p:cNvSpPr txBox="1"/>
          <p:nvPr/>
        </p:nvSpPr>
        <p:spPr>
          <a:xfrm>
            <a:off x="362375" y="641900"/>
            <a:ext cx="8313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Pair the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function machines, left to right, and identify the multiplier.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6" name="Google Shape;2026;p147"/>
          <p:cNvCxnSpPr/>
          <p:nvPr/>
        </p:nvCxnSpPr>
        <p:spPr>
          <a:xfrm>
            <a:off x="1874465" y="20571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7" name="Google Shape;2027;p147"/>
          <p:cNvCxnSpPr/>
          <p:nvPr/>
        </p:nvCxnSpPr>
        <p:spPr>
          <a:xfrm>
            <a:off x="1279061" y="20571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8" name="Google Shape;2028;p147"/>
          <p:cNvCxnSpPr/>
          <p:nvPr/>
        </p:nvCxnSpPr>
        <p:spPr>
          <a:xfrm>
            <a:off x="1747077" y="20571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9" name="Google Shape;2029;p147"/>
          <p:cNvSpPr/>
          <p:nvPr/>
        </p:nvSpPr>
        <p:spPr>
          <a:xfrm>
            <a:off x="1022762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47"/>
          <p:cNvSpPr/>
          <p:nvPr/>
        </p:nvSpPr>
        <p:spPr>
          <a:xfrm>
            <a:off x="2793877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147"/>
          <p:cNvSpPr/>
          <p:nvPr/>
        </p:nvSpPr>
        <p:spPr>
          <a:xfrm>
            <a:off x="2032313" y="13917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147"/>
          <p:cNvSpPr txBox="1"/>
          <p:nvPr/>
        </p:nvSpPr>
        <p:spPr>
          <a:xfrm>
            <a:off x="1974235" y="13919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147"/>
          <p:cNvSpPr txBox="1"/>
          <p:nvPr/>
        </p:nvSpPr>
        <p:spPr>
          <a:xfrm>
            <a:off x="1124129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47"/>
          <p:cNvSpPr txBox="1"/>
          <p:nvPr/>
        </p:nvSpPr>
        <p:spPr>
          <a:xfrm>
            <a:off x="2920712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5" name="Google Shape;2035;p147"/>
          <p:cNvCxnSpPr/>
          <p:nvPr/>
        </p:nvCxnSpPr>
        <p:spPr>
          <a:xfrm>
            <a:off x="1874465" y="28953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147"/>
          <p:cNvCxnSpPr/>
          <p:nvPr/>
        </p:nvCxnSpPr>
        <p:spPr>
          <a:xfrm>
            <a:off x="1279061" y="28953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7" name="Google Shape;2037;p147"/>
          <p:cNvCxnSpPr/>
          <p:nvPr/>
        </p:nvCxnSpPr>
        <p:spPr>
          <a:xfrm>
            <a:off x="1747077" y="28953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8" name="Google Shape;2038;p147"/>
          <p:cNvSpPr/>
          <p:nvPr/>
        </p:nvSpPr>
        <p:spPr>
          <a:xfrm>
            <a:off x="1022762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9" name="Google Shape;2039;p147"/>
          <p:cNvSpPr/>
          <p:nvPr/>
        </p:nvSpPr>
        <p:spPr>
          <a:xfrm>
            <a:off x="2793877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0" name="Google Shape;2040;p147"/>
          <p:cNvSpPr/>
          <p:nvPr/>
        </p:nvSpPr>
        <p:spPr>
          <a:xfrm>
            <a:off x="2032313" y="22299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1" name="Google Shape;2041;p147"/>
          <p:cNvSpPr txBox="1"/>
          <p:nvPr/>
        </p:nvSpPr>
        <p:spPr>
          <a:xfrm>
            <a:off x="2050435" y="223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47"/>
          <p:cNvSpPr txBox="1"/>
          <p:nvPr/>
        </p:nvSpPr>
        <p:spPr>
          <a:xfrm>
            <a:off x="1124129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47"/>
          <p:cNvSpPr txBox="1"/>
          <p:nvPr/>
        </p:nvSpPr>
        <p:spPr>
          <a:xfrm>
            <a:off x="2920712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4" name="Google Shape;2044;p147"/>
          <p:cNvCxnSpPr/>
          <p:nvPr/>
        </p:nvCxnSpPr>
        <p:spPr>
          <a:xfrm>
            <a:off x="1874465" y="3733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147"/>
          <p:cNvCxnSpPr/>
          <p:nvPr/>
        </p:nvCxnSpPr>
        <p:spPr>
          <a:xfrm>
            <a:off x="1279061" y="3733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6" name="Google Shape;2046;p147"/>
          <p:cNvCxnSpPr/>
          <p:nvPr/>
        </p:nvCxnSpPr>
        <p:spPr>
          <a:xfrm>
            <a:off x="1747077" y="3733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7" name="Google Shape;2047;p147"/>
          <p:cNvSpPr/>
          <p:nvPr/>
        </p:nvSpPr>
        <p:spPr>
          <a:xfrm>
            <a:off x="1022762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47"/>
          <p:cNvSpPr/>
          <p:nvPr/>
        </p:nvSpPr>
        <p:spPr>
          <a:xfrm>
            <a:off x="2793877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147"/>
          <p:cNvSpPr/>
          <p:nvPr/>
        </p:nvSpPr>
        <p:spPr>
          <a:xfrm>
            <a:off x="2032313" y="3068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147"/>
          <p:cNvSpPr txBox="1"/>
          <p:nvPr/>
        </p:nvSpPr>
        <p:spPr>
          <a:xfrm>
            <a:off x="2050435" y="3068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47"/>
          <p:cNvSpPr txBox="1"/>
          <p:nvPr/>
        </p:nvSpPr>
        <p:spPr>
          <a:xfrm>
            <a:off x="1124129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47"/>
          <p:cNvSpPr txBox="1"/>
          <p:nvPr/>
        </p:nvSpPr>
        <p:spPr>
          <a:xfrm>
            <a:off x="2920712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3" name="Google Shape;2053;p147"/>
          <p:cNvCxnSpPr/>
          <p:nvPr/>
        </p:nvCxnSpPr>
        <p:spPr>
          <a:xfrm>
            <a:off x="1874465" y="4495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4" name="Google Shape;2054;p147"/>
          <p:cNvCxnSpPr/>
          <p:nvPr/>
        </p:nvCxnSpPr>
        <p:spPr>
          <a:xfrm>
            <a:off x="1279061" y="4495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5" name="Google Shape;2055;p147"/>
          <p:cNvCxnSpPr/>
          <p:nvPr/>
        </p:nvCxnSpPr>
        <p:spPr>
          <a:xfrm>
            <a:off x="1747077" y="4495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6" name="Google Shape;2056;p147"/>
          <p:cNvSpPr/>
          <p:nvPr/>
        </p:nvSpPr>
        <p:spPr>
          <a:xfrm>
            <a:off x="1022762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147"/>
          <p:cNvSpPr/>
          <p:nvPr/>
        </p:nvSpPr>
        <p:spPr>
          <a:xfrm>
            <a:off x="2793877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47"/>
          <p:cNvSpPr/>
          <p:nvPr/>
        </p:nvSpPr>
        <p:spPr>
          <a:xfrm>
            <a:off x="2032313" y="3830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47"/>
          <p:cNvSpPr txBox="1"/>
          <p:nvPr/>
        </p:nvSpPr>
        <p:spPr>
          <a:xfrm>
            <a:off x="2050435" y="3830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47"/>
          <p:cNvSpPr txBox="1"/>
          <p:nvPr/>
        </p:nvSpPr>
        <p:spPr>
          <a:xfrm>
            <a:off x="1124129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47"/>
          <p:cNvSpPr txBox="1"/>
          <p:nvPr/>
        </p:nvSpPr>
        <p:spPr>
          <a:xfrm>
            <a:off x="2920712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2" name="Google Shape;2062;p147"/>
          <p:cNvCxnSpPr/>
          <p:nvPr/>
        </p:nvCxnSpPr>
        <p:spPr>
          <a:xfrm>
            <a:off x="6217865" y="20571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3" name="Google Shape;2063;p147"/>
          <p:cNvCxnSpPr/>
          <p:nvPr/>
        </p:nvCxnSpPr>
        <p:spPr>
          <a:xfrm>
            <a:off x="5622461" y="20571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4" name="Google Shape;2064;p147"/>
          <p:cNvCxnSpPr/>
          <p:nvPr/>
        </p:nvCxnSpPr>
        <p:spPr>
          <a:xfrm>
            <a:off x="6090477" y="20571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5" name="Google Shape;2065;p147"/>
          <p:cNvSpPr/>
          <p:nvPr/>
        </p:nvSpPr>
        <p:spPr>
          <a:xfrm>
            <a:off x="5366162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47"/>
          <p:cNvSpPr/>
          <p:nvPr/>
        </p:nvSpPr>
        <p:spPr>
          <a:xfrm>
            <a:off x="7137277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147"/>
          <p:cNvSpPr/>
          <p:nvPr/>
        </p:nvSpPr>
        <p:spPr>
          <a:xfrm>
            <a:off x="6375713" y="13917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8" name="Google Shape;2068;p147"/>
          <p:cNvSpPr txBox="1"/>
          <p:nvPr/>
        </p:nvSpPr>
        <p:spPr>
          <a:xfrm>
            <a:off x="6317635" y="13919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47"/>
          <p:cNvSpPr txBox="1"/>
          <p:nvPr/>
        </p:nvSpPr>
        <p:spPr>
          <a:xfrm>
            <a:off x="5467529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147"/>
          <p:cNvSpPr txBox="1"/>
          <p:nvPr/>
        </p:nvSpPr>
        <p:spPr>
          <a:xfrm>
            <a:off x="7264112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1" name="Google Shape;2071;p147"/>
          <p:cNvCxnSpPr/>
          <p:nvPr/>
        </p:nvCxnSpPr>
        <p:spPr>
          <a:xfrm>
            <a:off x="6217865" y="28953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147"/>
          <p:cNvCxnSpPr/>
          <p:nvPr/>
        </p:nvCxnSpPr>
        <p:spPr>
          <a:xfrm>
            <a:off x="5622461" y="28953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3" name="Google Shape;2073;p147"/>
          <p:cNvCxnSpPr/>
          <p:nvPr/>
        </p:nvCxnSpPr>
        <p:spPr>
          <a:xfrm>
            <a:off x="6090477" y="28953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4" name="Google Shape;2074;p147"/>
          <p:cNvSpPr/>
          <p:nvPr/>
        </p:nvSpPr>
        <p:spPr>
          <a:xfrm>
            <a:off x="5366162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47"/>
          <p:cNvSpPr/>
          <p:nvPr/>
        </p:nvSpPr>
        <p:spPr>
          <a:xfrm>
            <a:off x="7137277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47"/>
          <p:cNvSpPr/>
          <p:nvPr/>
        </p:nvSpPr>
        <p:spPr>
          <a:xfrm>
            <a:off x="6375713" y="22299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47"/>
          <p:cNvSpPr txBox="1"/>
          <p:nvPr/>
        </p:nvSpPr>
        <p:spPr>
          <a:xfrm>
            <a:off x="6393835" y="223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47"/>
          <p:cNvSpPr txBox="1"/>
          <p:nvPr/>
        </p:nvSpPr>
        <p:spPr>
          <a:xfrm>
            <a:off x="5467529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47"/>
          <p:cNvSpPr txBox="1"/>
          <p:nvPr/>
        </p:nvSpPr>
        <p:spPr>
          <a:xfrm>
            <a:off x="7264112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0" name="Google Shape;2080;p147"/>
          <p:cNvCxnSpPr/>
          <p:nvPr/>
        </p:nvCxnSpPr>
        <p:spPr>
          <a:xfrm>
            <a:off x="6217865" y="3733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147"/>
          <p:cNvCxnSpPr/>
          <p:nvPr/>
        </p:nvCxnSpPr>
        <p:spPr>
          <a:xfrm>
            <a:off x="5622461" y="3733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2" name="Google Shape;2082;p147"/>
          <p:cNvCxnSpPr/>
          <p:nvPr/>
        </p:nvCxnSpPr>
        <p:spPr>
          <a:xfrm>
            <a:off x="6090477" y="3733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3" name="Google Shape;2083;p147"/>
          <p:cNvSpPr/>
          <p:nvPr/>
        </p:nvSpPr>
        <p:spPr>
          <a:xfrm>
            <a:off x="5366162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4" name="Google Shape;2084;p147"/>
          <p:cNvSpPr/>
          <p:nvPr/>
        </p:nvSpPr>
        <p:spPr>
          <a:xfrm>
            <a:off x="7137277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5" name="Google Shape;2085;p147"/>
          <p:cNvSpPr/>
          <p:nvPr/>
        </p:nvSpPr>
        <p:spPr>
          <a:xfrm>
            <a:off x="6375713" y="3068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147"/>
          <p:cNvSpPr txBox="1"/>
          <p:nvPr/>
        </p:nvSpPr>
        <p:spPr>
          <a:xfrm>
            <a:off x="6393835" y="3068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7" name="Google Shape;2087;p147"/>
          <p:cNvSpPr txBox="1"/>
          <p:nvPr/>
        </p:nvSpPr>
        <p:spPr>
          <a:xfrm>
            <a:off x="5467529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147"/>
          <p:cNvSpPr txBox="1"/>
          <p:nvPr/>
        </p:nvSpPr>
        <p:spPr>
          <a:xfrm>
            <a:off x="7264112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9" name="Google Shape;2089;p147"/>
          <p:cNvCxnSpPr/>
          <p:nvPr/>
        </p:nvCxnSpPr>
        <p:spPr>
          <a:xfrm>
            <a:off x="6217865" y="4495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0" name="Google Shape;2090;p147"/>
          <p:cNvCxnSpPr/>
          <p:nvPr/>
        </p:nvCxnSpPr>
        <p:spPr>
          <a:xfrm>
            <a:off x="5622461" y="4495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1" name="Google Shape;2091;p147"/>
          <p:cNvCxnSpPr/>
          <p:nvPr/>
        </p:nvCxnSpPr>
        <p:spPr>
          <a:xfrm>
            <a:off x="6090477" y="4495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2" name="Google Shape;2092;p147"/>
          <p:cNvSpPr/>
          <p:nvPr/>
        </p:nvSpPr>
        <p:spPr>
          <a:xfrm>
            <a:off x="5366162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147"/>
          <p:cNvSpPr/>
          <p:nvPr/>
        </p:nvSpPr>
        <p:spPr>
          <a:xfrm>
            <a:off x="7137277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147"/>
          <p:cNvSpPr/>
          <p:nvPr/>
        </p:nvSpPr>
        <p:spPr>
          <a:xfrm>
            <a:off x="6375713" y="3830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5" name="Google Shape;2095;p147"/>
          <p:cNvSpPr txBox="1"/>
          <p:nvPr/>
        </p:nvSpPr>
        <p:spPr>
          <a:xfrm>
            <a:off x="6393835" y="3830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6" name="Google Shape;2096;p147"/>
          <p:cNvSpPr txBox="1"/>
          <p:nvPr/>
        </p:nvSpPr>
        <p:spPr>
          <a:xfrm>
            <a:off x="5467529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47"/>
          <p:cNvSpPr txBox="1"/>
          <p:nvPr/>
        </p:nvSpPr>
        <p:spPr>
          <a:xfrm>
            <a:off x="7264112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03" name="Google Shape;2103;p148"/>
          <p:cNvGraphicFramePr/>
          <p:nvPr/>
        </p:nvGraphicFramePr>
        <p:xfrm>
          <a:off x="777325" y="91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</a:tblGrid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4" name="Google Shape;2104;p148"/>
          <p:cNvGraphicFramePr/>
          <p:nvPr/>
        </p:nvGraphicFramePr>
        <p:xfrm>
          <a:off x="2984375" y="31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5000"/>
                <a:gridCol w="385000"/>
                <a:gridCol w="385000"/>
                <a:gridCol w="385000"/>
              </a:tblGrid>
              <a:tr h="4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5" name="Google Shape;2105;p148"/>
          <p:cNvGraphicFramePr/>
          <p:nvPr/>
        </p:nvGraphicFramePr>
        <p:xfrm>
          <a:off x="654000" y="189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06" name="Google Shape;2106;p148"/>
          <p:cNvSpPr txBox="1"/>
          <p:nvPr>
            <p:ph idx="4294967295" type="body"/>
          </p:nvPr>
        </p:nvSpPr>
        <p:spPr>
          <a:xfrm>
            <a:off x="1864000" y="707525"/>
            <a:ext cx="69561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3a) Shade in to make the letter “L” using the ratio: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3 shaded to 1 unshaded.</a:t>
            </a:r>
            <a:endParaRPr/>
          </a:p>
        </p:txBody>
      </p:sp>
      <p:sp>
        <p:nvSpPr>
          <p:cNvPr id="2107" name="Google Shape;2107;p148"/>
          <p:cNvSpPr txBox="1"/>
          <p:nvPr>
            <p:ph idx="4294967295" type="body"/>
          </p:nvPr>
        </p:nvSpPr>
        <p:spPr>
          <a:xfrm>
            <a:off x="4762900" y="3355400"/>
            <a:ext cx="3763200" cy="5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 </a:t>
            </a:r>
            <a:r>
              <a:rPr lang="en-GB"/>
              <a:t>Shade in to make the letter “C” using the ratio: 1 shaded to 1 unshaded.</a:t>
            </a:r>
            <a:endParaRPr/>
          </a:p>
        </p:txBody>
      </p:sp>
      <p:sp>
        <p:nvSpPr>
          <p:cNvPr id="2108" name="Google Shape;2108;p148"/>
          <p:cNvSpPr txBox="1"/>
          <p:nvPr>
            <p:ph idx="4294967295" type="body"/>
          </p:nvPr>
        </p:nvSpPr>
        <p:spPr>
          <a:xfrm>
            <a:off x="2826425" y="2061900"/>
            <a:ext cx="5663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Shade in to make the letter “H” using the ratio: 12 shaded to 13 unshaded.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49"/>
          <p:cNvSpPr txBox="1"/>
          <p:nvPr>
            <p:ph idx="4294967295" type="body"/>
          </p:nvPr>
        </p:nvSpPr>
        <p:spPr>
          <a:xfrm>
            <a:off x="324000" y="707525"/>
            <a:ext cx="81465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Identify the multipliers and missing numbers for the following function machines.</a:t>
            </a:r>
            <a:endParaRPr/>
          </a:p>
        </p:txBody>
      </p:sp>
      <p:cxnSp>
        <p:nvCxnSpPr>
          <p:cNvPr id="2114" name="Google Shape;2114;p149"/>
          <p:cNvCxnSpPr/>
          <p:nvPr/>
        </p:nvCxnSpPr>
        <p:spPr>
          <a:xfrm>
            <a:off x="6177377" y="4038866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149"/>
          <p:cNvCxnSpPr/>
          <p:nvPr/>
        </p:nvCxnSpPr>
        <p:spPr>
          <a:xfrm>
            <a:off x="5581974" y="4038866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6" name="Google Shape;2116;p149"/>
          <p:cNvCxnSpPr/>
          <p:nvPr/>
        </p:nvCxnSpPr>
        <p:spPr>
          <a:xfrm>
            <a:off x="6049989" y="4038866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7" name="Google Shape;2117;p149"/>
          <p:cNvSpPr/>
          <p:nvPr/>
        </p:nvSpPr>
        <p:spPr>
          <a:xfrm>
            <a:off x="5296999" y="36640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49"/>
          <p:cNvSpPr/>
          <p:nvPr/>
        </p:nvSpPr>
        <p:spPr>
          <a:xfrm>
            <a:off x="7068115" y="36640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49"/>
          <p:cNvSpPr/>
          <p:nvPr/>
        </p:nvSpPr>
        <p:spPr>
          <a:xfrm>
            <a:off x="6306550" y="3483587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49"/>
          <p:cNvSpPr txBox="1"/>
          <p:nvPr/>
        </p:nvSpPr>
        <p:spPr>
          <a:xfrm>
            <a:off x="5356375" y="3758512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49"/>
          <p:cNvSpPr txBox="1"/>
          <p:nvPr/>
        </p:nvSpPr>
        <p:spPr>
          <a:xfrm>
            <a:off x="7194950" y="375851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49"/>
          <p:cNvSpPr txBox="1"/>
          <p:nvPr/>
        </p:nvSpPr>
        <p:spPr>
          <a:xfrm>
            <a:off x="6231907" y="340543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3" name="Google Shape;2123;p149"/>
          <p:cNvSpPr txBox="1"/>
          <p:nvPr/>
        </p:nvSpPr>
        <p:spPr>
          <a:xfrm>
            <a:off x="6393863" y="344691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4" name="Google Shape;2124;p149"/>
          <p:cNvSpPr txBox="1"/>
          <p:nvPr/>
        </p:nvSpPr>
        <p:spPr>
          <a:xfrm>
            <a:off x="4811000" y="3666711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5" name="Google Shape;2125;p149"/>
          <p:cNvCxnSpPr/>
          <p:nvPr/>
        </p:nvCxnSpPr>
        <p:spPr>
          <a:xfrm>
            <a:off x="1910177" y="4038866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149"/>
          <p:cNvCxnSpPr/>
          <p:nvPr/>
        </p:nvCxnSpPr>
        <p:spPr>
          <a:xfrm>
            <a:off x="1314774" y="4038866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7" name="Google Shape;2127;p149"/>
          <p:cNvCxnSpPr/>
          <p:nvPr/>
        </p:nvCxnSpPr>
        <p:spPr>
          <a:xfrm>
            <a:off x="1782789" y="4038866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149"/>
          <p:cNvSpPr/>
          <p:nvPr/>
        </p:nvSpPr>
        <p:spPr>
          <a:xfrm>
            <a:off x="1029799" y="36640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49"/>
          <p:cNvSpPr/>
          <p:nvPr/>
        </p:nvSpPr>
        <p:spPr>
          <a:xfrm>
            <a:off x="2800915" y="36640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49"/>
          <p:cNvSpPr/>
          <p:nvPr/>
        </p:nvSpPr>
        <p:spPr>
          <a:xfrm>
            <a:off x="2039350" y="3393587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149"/>
          <p:cNvSpPr txBox="1"/>
          <p:nvPr/>
        </p:nvSpPr>
        <p:spPr>
          <a:xfrm>
            <a:off x="1089175" y="3758512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49"/>
          <p:cNvSpPr txBox="1"/>
          <p:nvPr/>
        </p:nvSpPr>
        <p:spPr>
          <a:xfrm>
            <a:off x="2927750" y="375851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149"/>
          <p:cNvSpPr txBox="1"/>
          <p:nvPr/>
        </p:nvSpPr>
        <p:spPr>
          <a:xfrm>
            <a:off x="1964707" y="340543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149"/>
          <p:cNvSpPr txBox="1"/>
          <p:nvPr/>
        </p:nvSpPr>
        <p:spPr>
          <a:xfrm>
            <a:off x="2141663" y="344691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149"/>
          <p:cNvSpPr txBox="1"/>
          <p:nvPr/>
        </p:nvSpPr>
        <p:spPr>
          <a:xfrm>
            <a:off x="543800" y="3666711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136" name="Google Shape;2136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261647" y="3436887"/>
            <a:ext cx="145575" cy="37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137" name="Google Shape;2137;p149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6518794" y="3513087"/>
            <a:ext cx="145575" cy="37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8" name="Google Shape;2138;p149"/>
          <p:cNvCxnSpPr/>
          <p:nvPr/>
        </p:nvCxnSpPr>
        <p:spPr>
          <a:xfrm>
            <a:off x="6177377" y="2327679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149"/>
          <p:cNvCxnSpPr/>
          <p:nvPr/>
        </p:nvCxnSpPr>
        <p:spPr>
          <a:xfrm>
            <a:off x="5581974" y="2327679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0" name="Google Shape;2140;p149"/>
          <p:cNvCxnSpPr/>
          <p:nvPr/>
        </p:nvCxnSpPr>
        <p:spPr>
          <a:xfrm>
            <a:off x="6049989" y="2327679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149"/>
          <p:cNvSpPr/>
          <p:nvPr/>
        </p:nvSpPr>
        <p:spPr>
          <a:xfrm>
            <a:off x="5296999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149"/>
          <p:cNvSpPr/>
          <p:nvPr/>
        </p:nvSpPr>
        <p:spPr>
          <a:xfrm>
            <a:off x="7068115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149"/>
          <p:cNvSpPr/>
          <p:nvPr/>
        </p:nvSpPr>
        <p:spPr>
          <a:xfrm>
            <a:off x="6306550" y="1772400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149"/>
          <p:cNvSpPr txBox="1"/>
          <p:nvPr/>
        </p:nvSpPr>
        <p:spPr>
          <a:xfrm>
            <a:off x="5480614" y="2047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149"/>
          <p:cNvSpPr txBox="1"/>
          <p:nvPr/>
        </p:nvSpPr>
        <p:spPr>
          <a:xfrm>
            <a:off x="7194950" y="2047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149"/>
          <p:cNvSpPr txBox="1"/>
          <p:nvPr/>
        </p:nvSpPr>
        <p:spPr>
          <a:xfrm>
            <a:off x="6393863" y="1735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149"/>
          <p:cNvSpPr txBox="1"/>
          <p:nvPr/>
        </p:nvSpPr>
        <p:spPr>
          <a:xfrm>
            <a:off x="4811000" y="1955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8" name="Google Shape;2148;p149"/>
          <p:cNvCxnSpPr/>
          <p:nvPr/>
        </p:nvCxnSpPr>
        <p:spPr>
          <a:xfrm>
            <a:off x="1910177" y="2327679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149"/>
          <p:cNvCxnSpPr/>
          <p:nvPr/>
        </p:nvCxnSpPr>
        <p:spPr>
          <a:xfrm>
            <a:off x="1314774" y="2327679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0" name="Google Shape;2150;p149"/>
          <p:cNvCxnSpPr/>
          <p:nvPr/>
        </p:nvCxnSpPr>
        <p:spPr>
          <a:xfrm>
            <a:off x="1782789" y="2327679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1" name="Google Shape;2151;p149"/>
          <p:cNvSpPr/>
          <p:nvPr/>
        </p:nvSpPr>
        <p:spPr>
          <a:xfrm>
            <a:off x="1029799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49"/>
          <p:cNvSpPr/>
          <p:nvPr/>
        </p:nvSpPr>
        <p:spPr>
          <a:xfrm>
            <a:off x="2800915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49"/>
          <p:cNvSpPr/>
          <p:nvPr/>
        </p:nvSpPr>
        <p:spPr>
          <a:xfrm>
            <a:off x="2039350" y="1682400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49"/>
          <p:cNvSpPr txBox="1"/>
          <p:nvPr/>
        </p:nvSpPr>
        <p:spPr>
          <a:xfrm>
            <a:off x="1089175" y="2047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149"/>
          <p:cNvSpPr txBox="1"/>
          <p:nvPr/>
        </p:nvSpPr>
        <p:spPr>
          <a:xfrm>
            <a:off x="2927750" y="2047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6" name="Google Shape;2156;p149"/>
          <p:cNvSpPr txBox="1"/>
          <p:nvPr/>
        </p:nvSpPr>
        <p:spPr>
          <a:xfrm>
            <a:off x="2141663" y="1735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149"/>
          <p:cNvSpPr txBox="1"/>
          <p:nvPr/>
        </p:nvSpPr>
        <p:spPr>
          <a:xfrm>
            <a:off x="543800" y="1955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8" name="Google Shape;2158;p149"/>
          <p:cNvSpPr txBox="1"/>
          <p:nvPr/>
        </p:nvSpPr>
        <p:spPr>
          <a:xfrm>
            <a:off x="6317663" y="17522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149"/>
          <p:cNvSpPr/>
          <p:nvPr/>
        </p:nvSpPr>
        <p:spPr>
          <a:xfrm>
            <a:off x="5422847" y="3800517"/>
            <a:ext cx="407400" cy="37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0" name="Google Shape;2160;p149"/>
          <p:cNvSpPr/>
          <p:nvPr/>
        </p:nvSpPr>
        <p:spPr>
          <a:xfrm>
            <a:off x="2899703" y="3745004"/>
            <a:ext cx="503400" cy="46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49"/>
          <p:cNvSpPr txBox="1"/>
          <p:nvPr/>
        </p:nvSpPr>
        <p:spPr>
          <a:xfrm>
            <a:off x="2050463" y="16760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2" name="Google Shape;2162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Equivalent ratios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150"/>
          <p:cNvSpPr txBox="1"/>
          <p:nvPr/>
        </p:nvSpPr>
        <p:spPr>
          <a:xfrm>
            <a:off x="362375" y="641900"/>
            <a:ext cx="8313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AutoNum type="arabi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 which ratio tables are equivalent to the statement: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“For every 3 ticks, there are 4 crosses.”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69" name="Google Shape;2169;p150"/>
          <p:cNvGraphicFramePr/>
          <p:nvPr/>
        </p:nvGraphicFramePr>
        <p:xfrm>
          <a:off x="570838" y="183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0" name="Google Shape;2170;p150"/>
          <p:cNvGraphicFramePr/>
          <p:nvPr/>
        </p:nvGraphicFramePr>
        <p:xfrm>
          <a:off x="799438" y="336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1" name="Google Shape;2171;p150"/>
          <p:cNvGraphicFramePr/>
          <p:nvPr/>
        </p:nvGraphicFramePr>
        <p:xfrm>
          <a:off x="3618838" y="351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2" name="Google Shape;2172;p150"/>
          <p:cNvGraphicFramePr/>
          <p:nvPr/>
        </p:nvGraphicFramePr>
        <p:xfrm>
          <a:off x="3695038" y="191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3" name="Google Shape;2173;p150"/>
          <p:cNvGraphicFramePr/>
          <p:nvPr/>
        </p:nvGraphicFramePr>
        <p:xfrm>
          <a:off x="6514438" y="183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4" name="Google Shape;2174;p150"/>
          <p:cNvGraphicFramePr/>
          <p:nvPr/>
        </p:nvGraphicFramePr>
        <p:xfrm>
          <a:off x="6362038" y="3209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43900"/>
                <a:gridCol w="1084025"/>
              </a:tblGrid>
              <a:tr h="51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Crosses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5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75" name="Google Shape;2175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821" y="228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6" name="Google Shape;217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621" y="2357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7" name="Google Shape;2177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621" y="3881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8" name="Google Shape;2178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021" y="39573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9" name="Google Shape;2179;p150"/>
          <p:cNvSpPr txBox="1"/>
          <p:nvPr/>
        </p:nvSpPr>
        <p:spPr>
          <a:xfrm>
            <a:off x="4560438" y="3050788"/>
            <a:ext cx="5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×3</a:t>
            </a:r>
            <a:endParaRPr/>
          </a:p>
        </p:txBody>
      </p:sp>
      <p:sp>
        <p:nvSpPr>
          <p:cNvPr id="2180" name="Google Shape;2180;p150"/>
          <p:cNvSpPr txBox="1"/>
          <p:nvPr/>
        </p:nvSpPr>
        <p:spPr>
          <a:xfrm>
            <a:off x="1726063" y="2883538"/>
            <a:ext cx="5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imes\frac{1}{2}&quot;&gt;&lt;mo&gt;×&lt;/mo&gt;&lt;mfrac&gt;&lt;mn&gt;1&lt;/mn&gt;&lt;mn&gt;2&lt;/mn&gt;&lt;/mfrac&gt;&lt;/math&gt;" id="2181" name="Google Shape;2181;p150" title="times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4250" y="1294648"/>
            <a:ext cx="34625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2" name="Google Shape;2182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4800" y="1551604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7113" y="41101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8" name="Google Shape;2188;p151"/>
          <p:cNvCxnSpPr>
            <a:endCxn id="2189" idx="1"/>
          </p:cNvCxnSpPr>
          <p:nvPr/>
        </p:nvCxnSpPr>
        <p:spPr>
          <a:xfrm flipH="1" rot="10800000">
            <a:off x="3468629" y="2883024"/>
            <a:ext cx="1998900" cy="160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51"/>
          <p:cNvCxnSpPr>
            <a:stCxn id="2191" idx="3"/>
            <a:endCxn id="2192" idx="1"/>
          </p:cNvCxnSpPr>
          <p:nvPr/>
        </p:nvCxnSpPr>
        <p:spPr>
          <a:xfrm>
            <a:off x="3424712" y="3721224"/>
            <a:ext cx="20427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3" name="Google Shape;2193;p1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151"/>
          <p:cNvSpPr txBox="1"/>
          <p:nvPr/>
        </p:nvSpPr>
        <p:spPr>
          <a:xfrm>
            <a:off x="362375" y="641900"/>
            <a:ext cx="8313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Pair the equivalent function machines, left to right, and identify the multiplier.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5" name="Google Shape;2195;p151"/>
          <p:cNvCxnSpPr/>
          <p:nvPr/>
        </p:nvCxnSpPr>
        <p:spPr>
          <a:xfrm>
            <a:off x="1874465" y="20571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6" name="Google Shape;2196;p151"/>
          <p:cNvCxnSpPr/>
          <p:nvPr/>
        </p:nvCxnSpPr>
        <p:spPr>
          <a:xfrm>
            <a:off x="1279061" y="20571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7" name="Google Shape;2197;p151"/>
          <p:cNvCxnSpPr/>
          <p:nvPr/>
        </p:nvCxnSpPr>
        <p:spPr>
          <a:xfrm>
            <a:off x="1747077" y="20571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8" name="Google Shape;2198;p151"/>
          <p:cNvSpPr/>
          <p:nvPr/>
        </p:nvSpPr>
        <p:spPr>
          <a:xfrm>
            <a:off x="1022762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9" name="Google Shape;2199;p151"/>
          <p:cNvSpPr/>
          <p:nvPr/>
        </p:nvSpPr>
        <p:spPr>
          <a:xfrm>
            <a:off x="2793877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0" name="Google Shape;2200;p151"/>
          <p:cNvSpPr/>
          <p:nvPr/>
        </p:nvSpPr>
        <p:spPr>
          <a:xfrm>
            <a:off x="2032313" y="13917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1" name="Google Shape;2201;p151"/>
          <p:cNvSpPr txBox="1"/>
          <p:nvPr/>
        </p:nvSpPr>
        <p:spPr>
          <a:xfrm>
            <a:off x="1974235" y="13919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51"/>
          <p:cNvSpPr txBox="1"/>
          <p:nvPr/>
        </p:nvSpPr>
        <p:spPr>
          <a:xfrm>
            <a:off x="1124129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51"/>
          <p:cNvSpPr txBox="1"/>
          <p:nvPr/>
        </p:nvSpPr>
        <p:spPr>
          <a:xfrm>
            <a:off x="2920712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4" name="Google Shape;2204;p151"/>
          <p:cNvCxnSpPr/>
          <p:nvPr/>
        </p:nvCxnSpPr>
        <p:spPr>
          <a:xfrm>
            <a:off x="1874465" y="28953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151"/>
          <p:cNvCxnSpPr/>
          <p:nvPr/>
        </p:nvCxnSpPr>
        <p:spPr>
          <a:xfrm>
            <a:off x="1279061" y="28953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6" name="Google Shape;2206;p151"/>
          <p:cNvCxnSpPr/>
          <p:nvPr/>
        </p:nvCxnSpPr>
        <p:spPr>
          <a:xfrm>
            <a:off x="1747077" y="28953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7" name="Google Shape;2207;p151"/>
          <p:cNvSpPr/>
          <p:nvPr/>
        </p:nvSpPr>
        <p:spPr>
          <a:xfrm>
            <a:off x="1022762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51"/>
          <p:cNvSpPr/>
          <p:nvPr/>
        </p:nvSpPr>
        <p:spPr>
          <a:xfrm>
            <a:off x="2793877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51"/>
          <p:cNvSpPr/>
          <p:nvPr/>
        </p:nvSpPr>
        <p:spPr>
          <a:xfrm>
            <a:off x="2032313" y="22299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51"/>
          <p:cNvSpPr txBox="1"/>
          <p:nvPr/>
        </p:nvSpPr>
        <p:spPr>
          <a:xfrm>
            <a:off x="2050435" y="223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51"/>
          <p:cNvSpPr txBox="1"/>
          <p:nvPr/>
        </p:nvSpPr>
        <p:spPr>
          <a:xfrm>
            <a:off x="1124129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2" name="Google Shape;2212;p151"/>
          <p:cNvSpPr txBox="1"/>
          <p:nvPr/>
        </p:nvSpPr>
        <p:spPr>
          <a:xfrm>
            <a:off x="2920712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13" name="Google Shape;2213;p151"/>
          <p:cNvCxnSpPr/>
          <p:nvPr/>
        </p:nvCxnSpPr>
        <p:spPr>
          <a:xfrm>
            <a:off x="1874465" y="3733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4" name="Google Shape;2214;p151"/>
          <p:cNvCxnSpPr/>
          <p:nvPr/>
        </p:nvCxnSpPr>
        <p:spPr>
          <a:xfrm>
            <a:off x="1279061" y="3733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5" name="Google Shape;2215;p151"/>
          <p:cNvCxnSpPr/>
          <p:nvPr/>
        </p:nvCxnSpPr>
        <p:spPr>
          <a:xfrm>
            <a:off x="1747077" y="3733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6" name="Google Shape;2216;p151"/>
          <p:cNvSpPr/>
          <p:nvPr/>
        </p:nvSpPr>
        <p:spPr>
          <a:xfrm>
            <a:off x="1022762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7" name="Google Shape;2217;p151"/>
          <p:cNvSpPr/>
          <p:nvPr/>
        </p:nvSpPr>
        <p:spPr>
          <a:xfrm>
            <a:off x="2793877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151"/>
          <p:cNvSpPr/>
          <p:nvPr/>
        </p:nvSpPr>
        <p:spPr>
          <a:xfrm>
            <a:off x="2032313" y="3068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9" name="Google Shape;2219;p151"/>
          <p:cNvSpPr txBox="1"/>
          <p:nvPr/>
        </p:nvSpPr>
        <p:spPr>
          <a:xfrm>
            <a:off x="2050435" y="3068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0" name="Google Shape;2220;p151"/>
          <p:cNvSpPr txBox="1"/>
          <p:nvPr/>
        </p:nvSpPr>
        <p:spPr>
          <a:xfrm>
            <a:off x="1124129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1" name="Google Shape;2191;p151"/>
          <p:cNvSpPr txBox="1"/>
          <p:nvPr/>
        </p:nvSpPr>
        <p:spPr>
          <a:xfrm>
            <a:off x="2920712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1" name="Google Shape;2221;p151"/>
          <p:cNvCxnSpPr/>
          <p:nvPr/>
        </p:nvCxnSpPr>
        <p:spPr>
          <a:xfrm>
            <a:off x="1874465" y="4495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2" name="Google Shape;2222;p151"/>
          <p:cNvCxnSpPr/>
          <p:nvPr/>
        </p:nvCxnSpPr>
        <p:spPr>
          <a:xfrm>
            <a:off x="1279061" y="4495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3" name="Google Shape;2223;p151"/>
          <p:cNvCxnSpPr/>
          <p:nvPr/>
        </p:nvCxnSpPr>
        <p:spPr>
          <a:xfrm>
            <a:off x="1747077" y="4495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4" name="Google Shape;2224;p151"/>
          <p:cNvSpPr/>
          <p:nvPr/>
        </p:nvSpPr>
        <p:spPr>
          <a:xfrm>
            <a:off x="1022762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51"/>
          <p:cNvSpPr/>
          <p:nvPr/>
        </p:nvSpPr>
        <p:spPr>
          <a:xfrm>
            <a:off x="2793877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51"/>
          <p:cNvSpPr/>
          <p:nvPr/>
        </p:nvSpPr>
        <p:spPr>
          <a:xfrm>
            <a:off x="2032313" y="3830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51"/>
          <p:cNvSpPr txBox="1"/>
          <p:nvPr/>
        </p:nvSpPr>
        <p:spPr>
          <a:xfrm>
            <a:off x="2050435" y="3830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51"/>
          <p:cNvSpPr txBox="1"/>
          <p:nvPr/>
        </p:nvSpPr>
        <p:spPr>
          <a:xfrm>
            <a:off x="1124129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151"/>
          <p:cNvSpPr txBox="1"/>
          <p:nvPr/>
        </p:nvSpPr>
        <p:spPr>
          <a:xfrm>
            <a:off x="2920712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0" name="Google Shape;2230;p151"/>
          <p:cNvCxnSpPr/>
          <p:nvPr/>
        </p:nvCxnSpPr>
        <p:spPr>
          <a:xfrm>
            <a:off x="6217865" y="20571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151"/>
          <p:cNvCxnSpPr/>
          <p:nvPr/>
        </p:nvCxnSpPr>
        <p:spPr>
          <a:xfrm>
            <a:off x="5622461" y="20571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2" name="Google Shape;2232;p151"/>
          <p:cNvCxnSpPr/>
          <p:nvPr/>
        </p:nvCxnSpPr>
        <p:spPr>
          <a:xfrm>
            <a:off x="6090477" y="20571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151"/>
          <p:cNvSpPr/>
          <p:nvPr/>
        </p:nvSpPr>
        <p:spPr>
          <a:xfrm>
            <a:off x="5366162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51"/>
          <p:cNvSpPr/>
          <p:nvPr/>
        </p:nvSpPr>
        <p:spPr>
          <a:xfrm>
            <a:off x="7137277" y="17184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51"/>
          <p:cNvSpPr/>
          <p:nvPr/>
        </p:nvSpPr>
        <p:spPr>
          <a:xfrm>
            <a:off x="6375713" y="13917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51"/>
          <p:cNvSpPr txBox="1"/>
          <p:nvPr/>
        </p:nvSpPr>
        <p:spPr>
          <a:xfrm>
            <a:off x="6317635" y="13919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51"/>
          <p:cNvSpPr txBox="1"/>
          <p:nvPr/>
        </p:nvSpPr>
        <p:spPr>
          <a:xfrm>
            <a:off x="5467529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51"/>
          <p:cNvSpPr txBox="1"/>
          <p:nvPr/>
        </p:nvSpPr>
        <p:spPr>
          <a:xfrm>
            <a:off x="7264112" y="18129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9" name="Google Shape;2239;p151"/>
          <p:cNvCxnSpPr/>
          <p:nvPr/>
        </p:nvCxnSpPr>
        <p:spPr>
          <a:xfrm>
            <a:off x="6217865" y="28953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0" name="Google Shape;2240;p151"/>
          <p:cNvCxnSpPr/>
          <p:nvPr/>
        </p:nvCxnSpPr>
        <p:spPr>
          <a:xfrm>
            <a:off x="5622461" y="28953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1" name="Google Shape;2241;p151"/>
          <p:cNvCxnSpPr/>
          <p:nvPr/>
        </p:nvCxnSpPr>
        <p:spPr>
          <a:xfrm>
            <a:off x="6090477" y="28953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2" name="Google Shape;2242;p151"/>
          <p:cNvSpPr/>
          <p:nvPr/>
        </p:nvSpPr>
        <p:spPr>
          <a:xfrm>
            <a:off x="5366162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51"/>
          <p:cNvSpPr/>
          <p:nvPr/>
        </p:nvSpPr>
        <p:spPr>
          <a:xfrm>
            <a:off x="7137277" y="25566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151"/>
          <p:cNvSpPr/>
          <p:nvPr/>
        </p:nvSpPr>
        <p:spPr>
          <a:xfrm>
            <a:off x="6375713" y="22299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51"/>
          <p:cNvSpPr txBox="1"/>
          <p:nvPr/>
        </p:nvSpPr>
        <p:spPr>
          <a:xfrm>
            <a:off x="6393835" y="22301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9" name="Google Shape;2189;p151"/>
          <p:cNvSpPr txBox="1"/>
          <p:nvPr/>
        </p:nvSpPr>
        <p:spPr>
          <a:xfrm>
            <a:off x="5467529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51"/>
          <p:cNvSpPr txBox="1"/>
          <p:nvPr/>
        </p:nvSpPr>
        <p:spPr>
          <a:xfrm>
            <a:off x="7264112" y="26511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7" name="Google Shape;2247;p151"/>
          <p:cNvCxnSpPr/>
          <p:nvPr/>
        </p:nvCxnSpPr>
        <p:spPr>
          <a:xfrm>
            <a:off x="6217865" y="3733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151"/>
          <p:cNvCxnSpPr/>
          <p:nvPr/>
        </p:nvCxnSpPr>
        <p:spPr>
          <a:xfrm>
            <a:off x="5622461" y="3733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9" name="Google Shape;2249;p151"/>
          <p:cNvCxnSpPr/>
          <p:nvPr/>
        </p:nvCxnSpPr>
        <p:spPr>
          <a:xfrm>
            <a:off x="6090477" y="3733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0" name="Google Shape;2250;p151"/>
          <p:cNvSpPr/>
          <p:nvPr/>
        </p:nvSpPr>
        <p:spPr>
          <a:xfrm>
            <a:off x="5366162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1" name="Google Shape;2251;p151"/>
          <p:cNvSpPr/>
          <p:nvPr/>
        </p:nvSpPr>
        <p:spPr>
          <a:xfrm>
            <a:off x="7137277" y="3394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2" name="Google Shape;2252;p151"/>
          <p:cNvSpPr/>
          <p:nvPr/>
        </p:nvSpPr>
        <p:spPr>
          <a:xfrm>
            <a:off x="6375713" y="3068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151"/>
          <p:cNvSpPr txBox="1"/>
          <p:nvPr/>
        </p:nvSpPr>
        <p:spPr>
          <a:xfrm>
            <a:off x="6393835" y="3068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151"/>
          <p:cNvSpPr txBox="1"/>
          <p:nvPr/>
        </p:nvSpPr>
        <p:spPr>
          <a:xfrm>
            <a:off x="5467529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51"/>
          <p:cNvSpPr txBox="1"/>
          <p:nvPr/>
        </p:nvSpPr>
        <p:spPr>
          <a:xfrm>
            <a:off x="7264112" y="3489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6" name="Google Shape;2256;p151"/>
          <p:cNvCxnSpPr/>
          <p:nvPr/>
        </p:nvCxnSpPr>
        <p:spPr>
          <a:xfrm>
            <a:off x="6217865" y="4495579"/>
            <a:ext cx="1415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7" name="Google Shape;2257;p151"/>
          <p:cNvCxnSpPr/>
          <p:nvPr/>
        </p:nvCxnSpPr>
        <p:spPr>
          <a:xfrm>
            <a:off x="5622461" y="4495579"/>
            <a:ext cx="1146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8" name="Google Shape;2258;p151"/>
          <p:cNvCxnSpPr/>
          <p:nvPr/>
        </p:nvCxnSpPr>
        <p:spPr>
          <a:xfrm>
            <a:off x="6090477" y="4495579"/>
            <a:ext cx="50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9" name="Google Shape;2259;p151"/>
          <p:cNvSpPr/>
          <p:nvPr/>
        </p:nvSpPr>
        <p:spPr>
          <a:xfrm>
            <a:off x="5366162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51"/>
          <p:cNvSpPr/>
          <p:nvPr/>
        </p:nvSpPr>
        <p:spPr>
          <a:xfrm>
            <a:off x="7137277" y="4156817"/>
            <a:ext cx="693000" cy="68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51"/>
          <p:cNvSpPr/>
          <p:nvPr/>
        </p:nvSpPr>
        <p:spPr>
          <a:xfrm>
            <a:off x="6375713" y="3830175"/>
            <a:ext cx="504000" cy="51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51"/>
          <p:cNvSpPr txBox="1"/>
          <p:nvPr/>
        </p:nvSpPr>
        <p:spPr>
          <a:xfrm>
            <a:off x="6393835" y="3830334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51"/>
          <p:cNvSpPr txBox="1"/>
          <p:nvPr/>
        </p:nvSpPr>
        <p:spPr>
          <a:xfrm>
            <a:off x="5467529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51"/>
          <p:cNvSpPr txBox="1"/>
          <p:nvPr/>
        </p:nvSpPr>
        <p:spPr>
          <a:xfrm>
            <a:off x="7264112" y="4251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4" name="Google Shape;2264;p151"/>
          <p:cNvCxnSpPr>
            <a:stCxn id="2199" idx="6"/>
            <a:endCxn id="2250" idx="2"/>
          </p:cNvCxnSpPr>
          <p:nvPr/>
        </p:nvCxnSpPr>
        <p:spPr>
          <a:xfrm>
            <a:off x="3486877" y="2061917"/>
            <a:ext cx="187920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151"/>
          <p:cNvCxnSpPr>
            <a:stCxn id="2208" idx="6"/>
            <a:endCxn id="2233" idx="2"/>
          </p:cNvCxnSpPr>
          <p:nvPr/>
        </p:nvCxnSpPr>
        <p:spPr>
          <a:xfrm flipH="1" rot="10800000">
            <a:off x="3486877" y="2061917"/>
            <a:ext cx="18792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6" name="Google Shape;2266;p151"/>
          <p:cNvSpPr txBox="1"/>
          <p:nvPr/>
        </p:nvSpPr>
        <p:spPr>
          <a:xfrm>
            <a:off x="2217863" y="1430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151"/>
          <p:cNvSpPr txBox="1"/>
          <p:nvPr/>
        </p:nvSpPr>
        <p:spPr>
          <a:xfrm>
            <a:off x="6561263" y="3107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8" name="Google Shape;2268;p151"/>
          <p:cNvSpPr txBox="1"/>
          <p:nvPr/>
        </p:nvSpPr>
        <p:spPr>
          <a:xfrm>
            <a:off x="2217863" y="22691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51"/>
          <p:cNvSpPr txBox="1"/>
          <p:nvPr/>
        </p:nvSpPr>
        <p:spPr>
          <a:xfrm>
            <a:off x="6561263" y="14309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151"/>
          <p:cNvSpPr txBox="1"/>
          <p:nvPr/>
        </p:nvSpPr>
        <p:spPr>
          <a:xfrm>
            <a:off x="2217863" y="3107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151"/>
          <p:cNvSpPr txBox="1"/>
          <p:nvPr/>
        </p:nvSpPr>
        <p:spPr>
          <a:xfrm>
            <a:off x="6561263" y="38693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72" name="Google Shape;2272;p15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23" y="3869438"/>
            <a:ext cx="145572" cy="46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73" name="Google Shape;2273;p151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3223" y="2269238"/>
            <a:ext cx="145572" cy="46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79" name="Google Shape;2279;p152"/>
          <p:cNvGraphicFramePr/>
          <p:nvPr/>
        </p:nvGraphicFramePr>
        <p:xfrm>
          <a:off x="777325" y="91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</a:tblGrid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0" name="Google Shape;2280;p152"/>
          <p:cNvGraphicFramePr/>
          <p:nvPr/>
        </p:nvGraphicFramePr>
        <p:xfrm>
          <a:off x="2984375" y="31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5000"/>
                <a:gridCol w="385000"/>
                <a:gridCol w="385000"/>
                <a:gridCol w="385000"/>
              </a:tblGrid>
              <a:tr h="4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1" name="Google Shape;2281;p152"/>
          <p:cNvGraphicFramePr/>
          <p:nvPr/>
        </p:nvGraphicFramePr>
        <p:xfrm>
          <a:off x="654000" y="189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82" name="Google Shape;2282;p152"/>
          <p:cNvSpPr txBox="1"/>
          <p:nvPr>
            <p:ph idx="4294967295" type="body"/>
          </p:nvPr>
        </p:nvSpPr>
        <p:spPr>
          <a:xfrm>
            <a:off x="1864000" y="707525"/>
            <a:ext cx="69561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3a) Shade in to make the letter “L” using the ratio: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3 shaded to 1 unshaded.</a:t>
            </a:r>
            <a:endParaRPr/>
          </a:p>
        </p:txBody>
      </p:sp>
      <p:sp>
        <p:nvSpPr>
          <p:cNvPr id="2283" name="Google Shape;2283;p152"/>
          <p:cNvSpPr txBox="1"/>
          <p:nvPr>
            <p:ph idx="4294967295" type="body"/>
          </p:nvPr>
        </p:nvSpPr>
        <p:spPr>
          <a:xfrm>
            <a:off x="4762900" y="3355400"/>
            <a:ext cx="3763200" cy="5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 Shade in to make the letter “C” using the ratio: 1 shaded to 1 unshaded.</a:t>
            </a:r>
            <a:endParaRPr/>
          </a:p>
        </p:txBody>
      </p:sp>
      <p:sp>
        <p:nvSpPr>
          <p:cNvPr id="2284" name="Google Shape;2284;p152"/>
          <p:cNvSpPr txBox="1"/>
          <p:nvPr>
            <p:ph idx="4294967295" type="body"/>
          </p:nvPr>
        </p:nvSpPr>
        <p:spPr>
          <a:xfrm>
            <a:off x="2826425" y="2061900"/>
            <a:ext cx="5663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Shade in to make the letter “H” using the ratio: 12 shaded to 13 unshaded.</a:t>
            </a:r>
            <a:endParaRPr/>
          </a:p>
        </p:txBody>
      </p:sp>
      <p:graphicFrame>
        <p:nvGraphicFramePr>
          <p:cNvPr id="2285" name="Google Shape;2285;p152"/>
          <p:cNvGraphicFramePr/>
          <p:nvPr/>
        </p:nvGraphicFramePr>
        <p:xfrm>
          <a:off x="777325" y="91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</a:tblGrid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6" name="Google Shape;2286;p152"/>
          <p:cNvGraphicFramePr/>
          <p:nvPr/>
        </p:nvGraphicFramePr>
        <p:xfrm>
          <a:off x="2984375" y="31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5000"/>
                <a:gridCol w="385000"/>
                <a:gridCol w="385000"/>
                <a:gridCol w="385000"/>
              </a:tblGrid>
              <a:tr h="41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87" name="Google Shape;2287;p152"/>
          <p:cNvGraphicFramePr/>
          <p:nvPr/>
        </p:nvGraphicFramePr>
        <p:xfrm>
          <a:off x="654000" y="189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</a:tblGrid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5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153"/>
          <p:cNvSpPr txBox="1"/>
          <p:nvPr>
            <p:ph idx="4294967295" type="body"/>
          </p:nvPr>
        </p:nvSpPr>
        <p:spPr>
          <a:xfrm>
            <a:off x="324000" y="707525"/>
            <a:ext cx="85587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Identify the multipliers and missing numbers for the following function machines.</a:t>
            </a:r>
            <a:endParaRPr/>
          </a:p>
        </p:txBody>
      </p:sp>
      <p:cxnSp>
        <p:nvCxnSpPr>
          <p:cNvPr id="2293" name="Google Shape;2293;p153"/>
          <p:cNvCxnSpPr/>
          <p:nvPr/>
        </p:nvCxnSpPr>
        <p:spPr>
          <a:xfrm>
            <a:off x="6177377" y="3962666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4" name="Google Shape;2294;p153"/>
          <p:cNvCxnSpPr/>
          <p:nvPr/>
        </p:nvCxnSpPr>
        <p:spPr>
          <a:xfrm>
            <a:off x="5581974" y="3962666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5" name="Google Shape;2295;p153"/>
          <p:cNvCxnSpPr/>
          <p:nvPr/>
        </p:nvCxnSpPr>
        <p:spPr>
          <a:xfrm>
            <a:off x="6049989" y="3962666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6" name="Google Shape;2296;p153"/>
          <p:cNvSpPr/>
          <p:nvPr/>
        </p:nvSpPr>
        <p:spPr>
          <a:xfrm>
            <a:off x="5296999" y="35878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153"/>
          <p:cNvSpPr/>
          <p:nvPr/>
        </p:nvSpPr>
        <p:spPr>
          <a:xfrm>
            <a:off x="7068115" y="35878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8" name="Google Shape;2298;p153"/>
          <p:cNvSpPr/>
          <p:nvPr/>
        </p:nvSpPr>
        <p:spPr>
          <a:xfrm>
            <a:off x="6306550" y="3407387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9" name="Google Shape;2299;p153"/>
          <p:cNvSpPr txBox="1"/>
          <p:nvPr/>
        </p:nvSpPr>
        <p:spPr>
          <a:xfrm>
            <a:off x="5356375" y="3682312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0" name="Google Shape;2300;p153"/>
          <p:cNvSpPr txBox="1"/>
          <p:nvPr/>
        </p:nvSpPr>
        <p:spPr>
          <a:xfrm>
            <a:off x="7194950" y="368231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1" name="Google Shape;2301;p153"/>
          <p:cNvSpPr txBox="1"/>
          <p:nvPr/>
        </p:nvSpPr>
        <p:spPr>
          <a:xfrm>
            <a:off x="6231907" y="332923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2" name="Google Shape;2302;p153"/>
          <p:cNvSpPr txBox="1"/>
          <p:nvPr/>
        </p:nvSpPr>
        <p:spPr>
          <a:xfrm>
            <a:off x="6393863" y="337071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153"/>
          <p:cNvSpPr txBox="1"/>
          <p:nvPr/>
        </p:nvSpPr>
        <p:spPr>
          <a:xfrm>
            <a:off x="4811000" y="3590511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4" name="Google Shape;2304;p153"/>
          <p:cNvCxnSpPr/>
          <p:nvPr/>
        </p:nvCxnSpPr>
        <p:spPr>
          <a:xfrm>
            <a:off x="1910177" y="3962666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5" name="Google Shape;2305;p153"/>
          <p:cNvCxnSpPr/>
          <p:nvPr/>
        </p:nvCxnSpPr>
        <p:spPr>
          <a:xfrm>
            <a:off x="1314774" y="3962666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6" name="Google Shape;2306;p153"/>
          <p:cNvCxnSpPr/>
          <p:nvPr/>
        </p:nvCxnSpPr>
        <p:spPr>
          <a:xfrm>
            <a:off x="1782789" y="3962666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7" name="Google Shape;2307;p153"/>
          <p:cNvSpPr/>
          <p:nvPr/>
        </p:nvSpPr>
        <p:spPr>
          <a:xfrm>
            <a:off x="1029799" y="35878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53"/>
          <p:cNvSpPr/>
          <p:nvPr/>
        </p:nvSpPr>
        <p:spPr>
          <a:xfrm>
            <a:off x="2800915" y="3587804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9" name="Google Shape;2309;p153"/>
          <p:cNvSpPr/>
          <p:nvPr/>
        </p:nvSpPr>
        <p:spPr>
          <a:xfrm>
            <a:off x="2039350" y="3317387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0" name="Google Shape;2310;p153"/>
          <p:cNvSpPr txBox="1"/>
          <p:nvPr/>
        </p:nvSpPr>
        <p:spPr>
          <a:xfrm>
            <a:off x="1089175" y="3682312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1" name="Google Shape;2311;p153"/>
          <p:cNvSpPr txBox="1"/>
          <p:nvPr/>
        </p:nvSpPr>
        <p:spPr>
          <a:xfrm>
            <a:off x="2927750" y="3682311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2" name="Google Shape;2312;p153"/>
          <p:cNvSpPr txBox="1"/>
          <p:nvPr/>
        </p:nvSpPr>
        <p:spPr>
          <a:xfrm>
            <a:off x="1964707" y="332923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3" name="Google Shape;2313;p153"/>
          <p:cNvSpPr txBox="1"/>
          <p:nvPr/>
        </p:nvSpPr>
        <p:spPr>
          <a:xfrm>
            <a:off x="2141663" y="3370718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4" name="Google Shape;2314;p153"/>
          <p:cNvSpPr txBox="1"/>
          <p:nvPr/>
        </p:nvSpPr>
        <p:spPr>
          <a:xfrm>
            <a:off x="543800" y="3590511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315" name="Google Shape;2315;p153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2261647" y="3360687"/>
            <a:ext cx="145575" cy="37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2316" name="Google Shape;2316;p153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6518794" y="3436887"/>
            <a:ext cx="145575" cy="374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7" name="Google Shape;2317;p153"/>
          <p:cNvCxnSpPr/>
          <p:nvPr/>
        </p:nvCxnSpPr>
        <p:spPr>
          <a:xfrm>
            <a:off x="6177377" y="2327679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153"/>
          <p:cNvCxnSpPr/>
          <p:nvPr/>
        </p:nvCxnSpPr>
        <p:spPr>
          <a:xfrm>
            <a:off x="5581974" y="2327679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9" name="Google Shape;2319;p153"/>
          <p:cNvCxnSpPr/>
          <p:nvPr/>
        </p:nvCxnSpPr>
        <p:spPr>
          <a:xfrm>
            <a:off x="6049989" y="2327679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0" name="Google Shape;2320;p153"/>
          <p:cNvSpPr/>
          <p:nvPr/>
        </p:nvSpPr>
        <p:spPr>
          <a:xfrm>
            <a:off x="5296999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1" name="Google Shape;2321;p153"/>
          <p:cNvSpPr/>
          <p:nvPr/>
        </p:nvSpPr>
        <p:spPr>
          <a:xfrm>
            <a:off x="7068115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2" name="Google Shape;2322;p153"/>
          <p:cNvSpPr/>
          <p:nvPr/>
        </p:nvSpPr>
        <p:spPr>
          <a:xfrm>
            <a:off x="6306550" y="1772400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153"/>
          <p:cNvSpPr txBox="1"/>
          <p:nvPr/>
        </p:nvSpPr>
        <p:spPr>
          <a:xfrm>
            <a:off x="5480614" y="2047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4" name="Google Shape;2324;p153"/>
          <p:cNvSpPr txBox="1"/>
          <p:nvPr/>
        </p:nvSpPr>
        <p:spPr>
          <a:xfrm>
            <a:off x="7194950" y="2047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153"/>
          <p:cNvSpPr txBox="1"/>
          <p:nvPr/>
        </p:nvSpPr>
        <p:spPr>
          <a:xfrm>
            <a:off x="6393863" y="1735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153"/>
          <p:cNvSpPr txBox="1"/>
          <p:nvPr/>
        </p:nvSpPr>
        <p:spPr>
          <a:xfrm>
            <a:off x="4811000" y="1955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7" name="Google Shape;2327;p153"/>
          <p:cNvCxnSpPr/>
          <p:nvPr/>
        </p:nvCxnSpPr>
        <p:spPr>
          <a:xfrm>
            <a:off x="1910177" y="2327679"/>
            <a:ext cx="14151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8" name="Google Shape;2328;p153"/>
          <p:cNvCxnSpPr/>
          <p:nvPr/>
        </p:nvCxnSpPr>
        <p:spPr>
          <a:xfrm>
            <a:off x="1314774" y="2327679"/>
            <a:ext cx="1146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9" name="Google Shape;2329;p153"/>
          <p:cNvCxnSpPr/>
          <p:nvPr/>
        </p:nvCxnSpPr>
        <p:spPr>
          <a:xfrm>
            <a:off x="1782789" y="2327679"/>
            <a:ext cx="504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0" name="Google Shape;2330;p153"/>
          <p:cNvSpPr/>
          <p:nvPr/>
        </p:nvSpPr>
        <p:spPr>
          <a:xfrm>
            <a:off x="1029799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53"/>
          <p:cNvSpPr/>
          <p:nvPr/>
        </p:nvSpPr>
        <p:spPr>
          <a:xfrm>
            <a:off x="2800915" y="1952817"/>
            <a:ext cx="693000" cy="6870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53"/>
          <p:cNvSpPr/>
          <p:nvPr/>
        </p:nvSpPr>
        <p:spPr>
          <a:xfrm>
            <a:off x="2039350" y="1682400"/>
            <a:ext cx="503400" cy="463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53"/>
          <p:cNvSpPr txBox="1"/>
          <p:nvPr/>
        </p:nvSpPr>
        <p:spPr>
          <a:xfrm>
            <a:off x="1089175" y="2047325"/>
            <a:ext cx="622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4" name="Google Shape;2334;p153"/>
          <p:cNvSpPr txBox="1"/>
          <p:nvPr/>
        </p:nvSpPr>
        <p:spPr>
          <a:xfrm>
            <a:off x="2927750" y="2047324"/>
            <a:ext cx="504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153"/>
          <p:cNvSpPr txBox="1"/>
          <p:nvPr/>
        </p:nvSpPr>
        <p:spPr>
          <a:xfrm>
            <a:off x="2141663" y="1735731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153"/>
          <p:cNvSpPr txBox="1"/>
          <p:nvPr/>
        </p:nvSpPr>
        <p:spPr>
          <a:xfrm>
            <a:off x="543800" y="1955524"/>
            <a:ext cx="5034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7" name="Google Shape;2337;p153"/>
          <p:cNvSpPr txBox="1"/>
          <p:nvPr/>
        </p:nvSpPr>
        <p:spPr>
          <a:xfrm>
            <a:off x="6317663" y="17522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8" name="Google Shape;2338;p153"/>
          <p:cNvSpPr txBox="1"/>
          <p:nvPr/>
        </p:nvSpPr>
        <p:spPr>
          <a:xfrm>
            <a:off x="2180803" y="1678990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 \ \frac{9}{10}\ \ \frac{10}{9}&quot;&gt;&lt;mfrac&gt;&lt;mn&gt;1&lt;/mn&gt;&lt;mn&gt;5&lt;/mn&gt;&lt;/mfrac&gt;&lt;mtext&gt;&lt;/mtext&gt;&lt;mtext&gt;&lt;/mtext&gt;&lt;mfrac&gt;&lt;mn&gt;9&lt;/mn&gt;&lt;mn&gt;10&lt;/mn&gt;&lt;/mfrac&gt;&lt;mtext&gt;&lt;/mtext&gt;&lt;mtext&gt;&lt;/mtext&gt;&lt;mfrac&gt;&lt;mn&gt;10&lt;/mn&gt;&lt;mn&gt;9&lt;/mn&gt;&lt;/mfrac&gt;&lt;/math&gt;" id="2339" name="Google Shape;2339;p153" title="one fifth nine tenths ten ninths"/>
          <p:cNvPicPr preferRelativeResize="0"/>
          <p:nvPr/>
        </p:nvPicPr>
        <p:blipFill rotWithShape="1">
          <a:blip r:embed="rId4">
            <a:alphaModFix/>
          </a:blip>
          <a:srcRect b="0" l="66654" r="-11825" t="0"/>
          <a:stretch/>
        </p:blipFill>
        <p:spPr>
          <a:xfrm>
            <a:off x="6485476" y="1780704"/>
            <a:ext cx="407300" cy="430113"/>
          </a:xfrm>
          <a:prstGeom prst="rect">
            <a:avLst/>
          </a:prstGeom>
          <a:noFill/>
          <a:ln>
            <a:noFill/>
          </a:ln>
        </p:spPr>
      </p:pic>
      <p:sp>
        <p:nvSpPr>
          <p:cNvPr id="2340" name="Google Shape;2340;p153"/>
          <p:cNvSpPr txBox="1"/>
          <p:nvPr/>
        </p:nvSpPr>
        <p:spPr>
          <a:xfrm>
            <a:off x="2050463" y="1676096"/>
            <a:ext cx="439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1" name="Google Shape;2341;p153"/>
          <p:cNvSpPr/>
          <p:nvPr/>
        </p:nvSpPr>
        <p:spPr>
          <a:xfrm>
            <a:off x="5422847" y="3724317"/>
            <a:ext cx="407400" cy="37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2" name="Google Shape;2342;p1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153"/>
          <p:cNvSpPr/>
          <p:nvPr/>
        </p:nvSpPr>
        <p:spPr>
          <a:xfrm>
            <a:off x="2899703" y="3668804"/>
            <a:ext cx="503400" cy="463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15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ratios</a:t>
            </a:r>
            <a:endParaRPr/>
          </a:p>
        </p:txBody>
      </p:sp>
      <p:sp>
        <p:nvSpPr>
          <p:cNvPr id="2349" name="Google Shape;2349;p15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sp>
        <p:nvSpPr>
          <p:cNvPr id="2350" name="Google Shape;2350;p15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1" name="Google Shape;2351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22" y="298836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Knowing there are an infinite number of equivalent ratios, allows us to compare to the whole.</a:t>
            </a:r>
            <a:endParaRPr/>
          </a:p>
        </p:txBody>
      </p:sp>
      <p:sp>
        <p:nvSpPr>
          <p:cNvPr id="2357" name="Google Shape;2357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sp>
        <p:nvSpPr>
          <p:cNvPr id="2358" name="Google Shape;2358;p155"/>
          <p:cNvSpPr txBox="1"/>
          <p:nvPr>
            <p:ph idx="1" type="body"/>
          </p:nvPr>
        </p:nvSpPr>
        <p:spPr>
          <a:xfrm>
            <a:off x="324000" y="1749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 the only pets in a street are cats and dogs. </a:t>
            </a:r>
            <a:r>
              <a:rPr lang="en-GB"/>
              <a:t>For </a:t>
            </a:r>
            <a:r>
              <a:rPr lang="en-GB"/>
              <a:t>every 1 cat, there are 2 dogs. If there are 33 pets in total, how many are cats?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59" name="Google Shape;2359;p155"/>
          <p:cNvGraphicFramePr/>
          <p:nvPr/>
        </p:nvGraphicFramePr>
        <p:xfrm>
          <a:off x="2533225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Dogs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0" name="Google Shape;2360;p155"/>
          <p:cNvGraphicFramePr/>
          <p:nvPr/>
        </p:nvGraphicFramePr>
        <p:xfrm>
          <a:off x="4656472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1" name="Google Shape;2361;p155"/>
          <p:cNvGrpSpPr/>
          <p:nvPr/>
        </p:nvGrpSpPr>
        <p:grpSpPr>
          <a:xfrm>
            <a:off x="5685077" y="3675457"/>
            <a:ext cx="863700" cy="544404"/>
            <a:chOff x="4306225" y="1577146"/>
            <a:chExt cx="863700" cy="551854"/>
          </a:xfrm>
        </p:grpSpPr>
        <p:sp>
          <p:nvSpPr>
            <p:cNvPr id="2362" name="Google Shape;2362;p155"/>
            <p:cNvSpPr/>
            <p:nvPr/>
          </p:nvSpPr>
          <p:spPr>
            <a:xfrm flipH="1">
              <a:off x="4306225" y="1606350"/>
              <a:ext cx="259675" cy="522650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2363" name="Google Shape;2363;p155"/>
            <p:cNvSpPr txBox="1"/>
            <p:nvPr/>
          </p:nvSpPr>
          <p:spPr>
            <a:xfrm>
              <a:off x="4586725" y="1577146"/>
              <a:ext cx="5832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×11</a:t>
              </a:r>
              <a:endParaRPr/>
            </a:p>
          </p:txBody>
        </p:sp>
      </p:grpSp>
      <p:graphicFrame>
        <p:nvGraphicFramePr>
          <p:cNvPr id="2364" name="Google Shape;2364;p155"/>
          <p:cNvGraphicFramePr/>
          <p:nvPr/>
        </p:nvGraphicFramePr>
        <p:xfrm>
          <a:off x="2533225" y="3942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65" name="Google Shape;2365;p155"/>
          <p:cNvGraphicFramePr/>
          <p:nvPr/>
        </p:nvGraphicFramePr>
        <p:xfrm>
          <a:off x="4656472" y="3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66" name="Google Shape;2366;p155"/>
          <p:cNvGrpSpPr/>
          <p:nvPr/>
        </p:nvGrpSpPr>
        <p:grpSpPr>
          <a:xfrm>
            <a:off x="1774578" y="3675457"/>
            <a:ext cx="786015" cy="544412"/>
            <a:chOff x="4586725" y="1577146"/>
            <a:chExt cx="786015" cy="551862"/>
          </a:xfrm>
        </p:grpSpPr>
        <p:sp>
          <p:nvSpPr>
            <p:cNvPr id="2367" name="Google Shape;2367;p155"/>
            <p:cNvSpPr/>
            <p:nvPr/>
          </p:nvSpPr>
          <p:spPr>
            <a:xfrm>
              <a:off x="5099302" y="1606358"/>
              <a:ext cx="273438" cy="522650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2368" name="Google Shape;2368;p155"/>
            <p:cNvSpPr txBox="1"/>
            <p:nvPr/>
          </p:nvSpPr>
          <p:spPr>
            <a:xfrm>
              <a:off x="4586725" y="1577146"/>
              <a:ext cx="5832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×11</a:t>
              </a:r>
              <a:endParaRPr/>
            </a:p>
          </p:txBody>
        </p:sp>
      </p:grpSp>
      <p:sp>
        <p:nvSpPr>
          <p:cNvPr id="2369" name="Google Shape;2369;p155"/>
          <p:cNvSpPr txBox="1"/>
          <p:nvPr/>
        </p:nvSpPr>
        <p:spPr>
          <a:xfrm>
            <a:off x="7089025" y="3177075"/>
            <a:ext cx="1576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cats out of 33 pets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156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is clear the </a:t>
            </a:r>
            <a:r>
              <a:rPr lang="en-GB"/>
              <a:t>equivalent</a:t>
            </a:r>
            <a:r>
              <a:rPr lang="en-GB"/>
              <a:t> ratios of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For every 1 cat there are 2 dogs = For every 11 cats there are 22 dogs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has the same multiplier.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Cat(s) × 2 = Dogs(s)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graphicFrame>
        <p:nvGraphicFramePr>
          <p:cNvPr id="2376" name="Google Shape;2376;p156"/>
          <p:cNvGraphicFramePr/>
          <p:nvPr/>
        </p:nvGraphicFramePr>
        <p:xfrm>
          <a:off x="2533225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Dogs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77" name="Google Shape;2377;p156"/>
          <p:cNvGraphicFramePr/>
          <p:nvPr/>
        </p:nvGraphicFramePr>
        <p:xfrm>
          <a:off x="4656472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78" name="Google Shape;2378;p156"/>
          <p:cNvGrpSpPr/>
          <p:nvPr/>
        </p:nvGrpSpPr>
        <p:grpSpPr>
          <a:xfrm>
            <a:off x="5685077" y="3675457"/>
            <a:ext cx="863700" cy="544404"/>
            <a:chOff x="4306225" y="1577146"/>
            <a:chExt cx="863700" cy="551854"/>
          </a:xfrm>
        </p:grpSpPr>
        <p:sp>
          <p:nvSpPr>
            <p:cNvPr id="2379" name="Google Shape;2379;p156"/>
            <p:cNvSpPr/>
            <p:nvPr/>
          </p:nvSpPr>
          <p:spPr>
            <a:xfrm flipH="1">
              <a:off x="4306225" y="1606350"/>
              <a:ext cx="259675" cy="522650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2380" name="Google Shape;2380;p156"/>
            <p:cNvSpPr txBox="1"/>
            <p:nvPr/>
          </p:nvSpPr>
          <p:spPr>
            <a:xfrm>
              <a:off x="4586725" y="1577146"/>
              <a:ext cx="5832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×11</a:t>
              </a:r>
              <a:endParaRPr/>
            </a:p>
          </p:txBody>
        </p:sp>
      </p:grpSp>
      <p:graphicFrame>
        <p:nvGraphicFramePr>
          <p:cNvPr id="2381" name="Google Shape;2381;p156"/>
          <p:cNvGraphicFramePr/>
          <p:nvPr/>
        </p:nvGraphicFramePr>
        <p:xfrm>
          <a:off x="2533225" y="39428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82" name="Google Shape;2382;p156"/>
          <p:cNvGraphicFramePr/>
          <p:nvPr/>
        </p:nvGraphicFramePr>
        <p:xfrm>
          <a:off x="4656472" y="3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83" name="Google Shape;2383;p156"/>
          <p:cNvGrpSpPr/>
          <p:nvPr/>
        </p:nvGrpSpPr>
        <p:grpSpPr>
          <a:xfrm>
            <a:off x="1774578" y="3675457"/>
            <a:ext cx="786015" cy="544412"/>
            <a:chOff x="4586725" y="1577146"/>
            <a:chExt cx="786015" cy="551862"/>
          </a:xfrm>
        </p:grpSpPr>
        <p:sp>
          <p:nvSpPr>
            <p:cNvPr id="2384" name="Google Shape;2384;p156"/>
            <p:cNvSpPr/>
            <p:nvPr/>
          </p:nvSpPr>
          <p:spPr>
            <a:xfrm>
              <a:off x="5099302" y="1606358"/>
              <a:ext cx="273438" cy="522650"/>
            </a:xfrm>
            <a:custGeom>
              <a:rect b="b" l="l" r="r" t="t"/>
              <a:pathLst>
                <a:path extrusionOk="0" h="20906" w="10387">
                  <a:moveTo>
                    <a:pt x="10387" y="0"/>
                  </a:moveTo>
                  <a:cubicBezTo>
                    <a:pt x="4584" y="1452"/>
                    <a:pt x="-1668" y="9331"/>
                    <a:pt x="432" y="14933"/>
                  </a:cubicBezTo>
                  <a:cubicBezTo>
                    <a:pt x="1757" y="18468"/>
                    <a:pt x="7385" y="18236"/>
                    <a:pt x="10055" y="20906"/>
                  </a:cubicBezTo>
                </a:path>
              </a:pathLst>
            </a:cu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sp>
        <p:sp>
          <p:nvSpPr>
            <p:cNvPr id="2385" name="Google Shape;2385;p156"/>
            <p:cNvSpPr txBox="1"/>
            <p:nvPr/>
          </p:nvSpPr>
          <p:spPr>
            <a:xfrm>
              <a:off x="4586725" y="1577146"/>
              <a:ext cx="5832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Kalam"/>
                  <a:ea typeface="Kalam"/>
                  <a:cs typeface="Kalam"/>
                  <a:sym typeface="Kalam"/>
                </a:rPr>
                <a:t>×11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15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Given fractions, decimals, percentages and ratio all represent proportion, we can interchange between them to help us solve problems.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the same ratio table, what fraction are cats?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graphicFrame>
        <p:nvGraphicFramePr>
          <p:cNvPr id="2392" name="Google Shape;2392;p157"/>
          <p:cNvGraphicFramePr/>
          <p:nvPr/>
        </p:nvGraphicFramePr>
        <p:xfrm>
          <a:off x="2533225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Dogs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393" name="Google Shape;2393;p157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300" y="3094250"/>
            <a:ext cx="260060" cy="86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94" name="Google Shape;2394;p157"/>
          <p:cNvCxnSpPr/>
          <p:nvPr/>
        </p:nvCxnSpPr>
        <p:spPr>
          <a:xfrm flipH="1">
            <a:off x="5738150" y="2913000"/>
            <a:ext cx="383100" cy="25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5" name="Google Shape;2395;p157"/>
          <p:cNvSpPr txBox="1"/>
          <p:nvPr/>
        </p:nvSpPr>
        <p:spPr>
          <a:xfrm>
            <a:off x="6216050" y="37140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/>
          </a:p>
        </p:txBody>
      </p:sp>
      <p:sp>
        <p:nvSpPr>
          <p:cNvPr id="2396" name="Google Shape;2396;p157"/>
          <p:cNvSpPr txBox="1"/>
          <p:nvPr/>
        </p:nvSpPr>
        <p:spPr>
          <a:xfrm>
            <a:off x="6216050" y="25710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Cats</a:t>
            </a:r>
            <a:endParaRPr/>
          </a:p>
        </p:txBody>
      </p:sp>
      <p:cxnSp>
        <p:nvCxnSpPr>
          <p:cNvPr id="2397" name="Google Shape;2397;p157"/>
          <p:cNvCxnSpPr/>
          <p:nvPr/>
        </p:nvCxnSpPr>
        <p:spPr>
          <a:xfrm rot="10800000">
            <a:off x="5764400" y="3707900"/>
            <a:ext cx="406800" cy="230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15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to find out the number of cats, when 33 pets represents the whole, what do we need to change?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Writing an equivalent fraction with a </a:t>
            </a:r>
            <a:r>
              <a:rPr lang="en-GB"/>
              <a:t>denominator of 33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graphicFrame>
        <p:nvGraphicFramePr>
          <p:cNvPr id="2404" name="Google Shape;2404;p158"/>
          <p:cNvGraphicFramePr/>
          <p:nvPr/>
        </p:nvGraphicFramePr>
        <p:xfrm>
          <a:off x="2533225" y="30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085425"/>
                <a:gridCol w="1028600"/>
              </a:tblGrid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Dogs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405" name="Google Shape;2405;p158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300" y="3094250"/>
            <a:ext cx="260060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\frac{11}{11}=\frac{11}{33}&quot;&gt;&lt;mfrac&gt;&lt;mn&gt;1&lt;/mn&gt;&lt;mn&gt;3&lt;/mn&gt;&lt;/mfrac&gt;&lt;mo&gt;×&lt;/mo&gt;&lt;mfrac&gt;&lt;mn&gt;11&lt;/mn&gt;&lt;mn&gt;11&lt;/mn&gt;&lt;/mfrac&gt;&lt;mo&gt;=&lt;/mo&gt;&lt;mfrac&gt;&lt;mn&gt;11&lt;/mn&gt;&lt;mn&gt;33&lt;/mn&gt;&lt;/mfrac&gt;&lt;/math&gt;" id="2406" name="Google Shape;2406;p158" title="one third times 11 over 11 equals 11 over 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7082" y="3094250"/>
            <a:ext cx="2353009" cy="860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7" name="Google Shape;2407;p158"/>
          <p:cNvCxnSpPr/>
          <p:nvPr/>
        </p:nvCxnSpPr>
        <p:spPr>
          <a:xfrm flipH="1">
            <a:off x="7795550" y="2913000"/>
            <a:ext cx="383100" cy="258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8" name="Google Shape;2408;p158"/>
          <p:cNvSpPr txBox="1"/>
          <p:nvPr/>
        </p:nvSpPr>
        <p:spPr>
          <a:xfrm>
            <a:off x="8115300" y="3651925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endParaRPr/>
          </a:p>
        </p:txBody>
      </p:sp>
      <p:sp>
        <p:nvSpPr>
          <p:cNvPr id="2409" name="Google Shape;2409;p158"/>
          <p:cNvSpPr txBox="1"/>
          <p:nvPr/>
        </p:nvSpPr>
        <p:spPr>
          <a:xfrm>
            <a:off x="7973225" y="2494850"/>
            <a:ext cx="10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Cats</a:t>
            </a:r>
            <a:endParaRPr/>
          </a:p>
        </p:txBody>
      </p:sp>
      <p:cxnSp>
        <p:nvCxnSpPr>
          <p:cNvPr id="2410" name="Google Shape;2410;p158"/>
          <p:cNvCxnSpPr/>
          <p:nvPr/>
        </p:nvCxnSpPr>
        <p:spPr>
          <a:xfrm rot="10800000">
            <a:off x="7821800" y="3707900"/>
            <a:ext cx="406800" cy="230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1" name="Google Shape;2411;p158"/>
          <p:cNvSpPr txBox="1"/>
          <p:nvPr/>
        </p:nvSpPr>
        <p:spPr>
          <a:xfrm>
            <a:off x="5389425" y="4175125"/>
            <a:ext cx="335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 cats out of 33 pets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59"/>
          <p:cNvSpPr/>
          <p:nvPr/>
        </p:nvSpPr>
        <p:spPr>
          <a:xfrm>
            <a:off x="5463625" y="1635338"/>
            <a:ext cx="3356400" cy="247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7" name="Google Shape;2417;p159"/>
          <p:cNvSpPr/>
          <p:nvPr/>
        </p:nvSpPr>
        <p:spPr>
          <a:xfrm>
            <a:off x="372725" y="1635463"/>
            <a:ext cx="4928100" cy="247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8" name="Google Shape;2418;p159"/>
          <p:cNvSpPr txBox="1"/>
          <p:nvPr>
            <p:ph idx="1" type="body"/>
          </p:nvPr>
        </p:nvSpPr>
        <p:spPr>
          <a:xfrm>
            <a:off x="324000" y="683100"/>
            <a:ext cx="86109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Aisha and Sofia need to shade</a:t>
            </a:r>
            <a:r>
              <a:rPr lang="en-GB" sz="1900"/>
              <a:t> </a:t>
            </a:r>
            <a:r>
              <a:rPr lang="en-GB" sz="1900"/>
              <a:t>a grid containing 25 small squares according</a:t>
            </a:r>
            <a:r>
              <a:rPr lang="en-GB" sz="1900"/>
              <a:t> to the ratio: for every 1 shaded, there are 4 unshaded.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Who is correct?</a:t>
            </a:r>
            <a:endParaRPr sz="1900"/>
          </a:p>
        </p:txBody>
      </p:sp>
      <p:sp>
        <p:nvSpPr>
          <p:cNvPr id="2419" name="Google Shape;2419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graphicFrame>
        <p:nvGraphicFramePr>
          <p:cNvPr id="2420" name="Google Shape;2420;p159"/>
          <p:cNvGraphicFramePr/>
          <p:nvPr/>
        </p:nvGraphicFramePr>
        <p:xfrm>
          <a:off x="523850" y="209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5125"/>
                <a:gridCol w="1303150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Shaded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Unshaded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1" name="Google Shape;2421;p159"/>
          <p:cNvGraphicFramePr/>
          <p:nvPr/>
        </p:nvGraphicFramePr>
        <p:xfrm>
          <a:off x="523850" y="3083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5125"/>
                <a:gridCol w="1303150"/>
              </a:tblGrid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2" name="Google Shape;2422;p159"/>
          <p:cNvGraphicFramePr/>
          <p:nvPr/>
        </p:nvGraphicFramePr>
        <p:xfrm>
          <a:off x="3202125" y="209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03150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23" name="Google Shape;2423;p159"/>
          <p:cNvGraphicFramePr/>
          <p:nvPr/>
        </p:nvGraphicFramePr>
        <p:xfrm>
          <a:off x="3202125" y="30781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03150"/>
              </a:tblGrid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4" name="Google Shape;2424;p159"/>
          <p:cNvSpPr txBox="1"/>
          <p:nvPr/>
        </p:nvSpPr>
        <p:spPr>
          <a:xfrm>
            <a:off x="368550" y="3576425"/>
            <a:ext cx="492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need to shade 5 squares from the grid.</a:t>
            </a:r>
            <a:endParaRPr sz="1100"/>
          </a:p>
        </p:txBody>
      </p:sp>
      <p:pic>
        <p:nvPicPr>
          <p:cNvPr descr="&lt;math xmlns=&quot;http://www.w3.org/1998/Math/MathML&quot; display=&quot;block&quot; data-is-equatio=&quot;1&quot; data-latex=&quot;\frac{1}{5}\times\frac{5}{5}=\frac{5}{25}&quot;&gt;&lt;mfrac&gt;&lt;mn&gt;1&lt;/mn&gt;&lt;mn&gt;5&lt;/mn&gt;&lt;/mfrac&gt;&lt;mo&gt;×&lt;/mo&gt;&lt;mfrac&gt;&lt;mn&gt;5&lt;/mn&gt;&lt;mn&gt;5&lt;/mn&gt;&lt;/mfrac&gt;&lt;mo&gt;=&lt;/mo&gt;&lt;mfrac&gt;&lt;mn&gt;5&lt;/mn&gt;&lt;mn&gt;25&lt;/mn&gt;&lt;/mfrac&gt;&lt;/math&gt;" id="2425" name="Google Shape;2425;p159" title="one fifth times five fifths equals 5 over 25"/>
          <p:cNvPicPr preferRelativeResize="0"/>
          <p:nvPr/>
        </p:nvPicPr>
        <p:blipFill rotWithShape="1">
          <a:blip r:embed="rId3">
            <a:alphaModFix/>
          </a:blip>
          <a:srcRect b="-14384" l="-11819" r="-2820" t="-13935"/>
          <a:stretch/>
        </p:blipFill>
        <p:spPr>
          <a:xfrm>
            <a:off x="6022725" y="2024063"/>
            <a:ext cx="2270225" cy="10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6" name="Google Shape;2426;p159"/>
          <p:cNvSpPr txBox="1"/>
          <p:nvPr/>
        </p:nvSpPr>
        <p:spPr>
          <a:xfrm>
            <a:off x="5656175" y="3181688"/>
            <a:ext cx="29055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need to shade       of the grid.</a:t>
            </a:r>
            <a:endParaRPr sz="1100"/>
          </a:p>
        </p:txBody>
      </p:sp>
      <p:pic>
        <p:nvPicPr>
          <p:cNvPr descr="&lt;math xmlns=&quot;http://www.w3.org/1998/Math/MathML&quot; display=&quot;block&quot; data-is-equatio=&quot;1&quot; data-latex=&quot;\frac{1}{5}\times\frac{5}{5}=\frac{5}{25}&quot;&gt;&lt;mfrac&gt;&lt;mn&gt;1&lt;/mn&gt;&lt;mn&gt;5&lt;/mn&gt;&lt;/mfrac&gt;&lt;mo&gt;×&lt;/mo&gt;&lt;mfrac&gt;&lt;mn&gt;5&lt;/mn&gt;&lt;mn&gt;5&lt;/mn&gt;&lt;/mfrac&gt;&lt;mo&gt;=&lt;/mo&gt;&lt;mfrac&gt;&lt;mn&gt;5&lt;/mn&gt;&lt;mn&gt;25&lt;/mn&gt;&lt;/mfrac&gt;&lt;/math&gt;" id="2427" name="Google Shape;2427;p159" title="one fifth times five fifths equals 5 over 25"/>
          <p:cNvPicPr preferRelativeResize="0"/>
          <p:nvPr/>
        </p:nvPicPr>
        <p:blipFill rotWithShape="1">
          <a:blip r:embed="rId3">
            <a:alphaModFix/>
          </a:blip>
          <a:srcRect b="-14383" l="73258" r="-2820" t="-5578"/>
          <a:stretch/>
        </p:blipFill>
        <p:spPr>
          <a:xfrm>
            <a:off x="7666268" y="3083138"/>
            <a:ext cx="37334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159"/>
          <p:cNvSpPr txBox="1"/>
          <p:nvPr/>
        </p:nvSpPr>
        <p:spPr>
          <a:xfrm>
            <a:off x="2272500" y="1635338"/>
            <a:ext cx="85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100"/>
          </a:p>
        </p:txBody>
      </p:sp>
      <p:sp>
        <p:nvSpPr>
          <p:cNvPr id="2429" name="Google Shape;2429;p159"/>
          <p:cNvSpPr txBox="1"/>
          <p:nvPr/>
        </p:nvSpPr>
        <p:spPr>
          <a:xfrm>
            <a:off x="6615900" y="1635338"/>
            <a:ext cx="852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100"/>
          </a:p>
        </p:txBody>
      </p:sp>
      <p:sp>
        <p:nvSpPr>
          <p:cNvPr id="2430" name="Google Shape;2430;p159"/>
          <p:cNvSpPr txBox="1"/>
          <p:nvPr>
            <p:ph idx="1" type="body"/>
          </p:nvPr>
        </p:nvSpPr>
        <p:spPr>
          <a:xfrm>
            <a:off x="324000" y="4213250"/>
            <a:ext cx="8237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Both are correct. Aisha is stating how many squares she needs to shade and Sofia is stating the proportion of squares that need shading.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60"/>
          <p:cNvSpPr txBox="1"/>
          <p:nvPr/>
        </p:nvSpPr>
        <p:spPr>
          <a:xfrm>
            <a:off x="4482950" y="1057000"/>
            <a:ext cx="41619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2 stars, there are 3 hearts.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is the fraction of stars.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6" name="Google Shape;2436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160"/>
          <p:cNvSpPr txBox="1"/>
          <p:nvPr/>
        </p:nvSpPr>
        <p:spPr>
          <a:xfrm>
            <a:off x="324000" y="646225"/>
            <a:ext cx="8155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rabi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38" name="Google Shape;2438;p160"/>
          <p:cNvGraphicFramePr/>
          <p:nvPr/>
        </p:nvGraphicFramePr>
        <p:xfrm>
          <a:off x="896550" y="113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210075"/>
                <a:gridCol w="1146750"/>
                <a:gridCol w="1146750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\times\frac{4}{4}=\frac{8}{12}&quot;&gt;&lt;mfrac&gt;&lt;mn&gt;2&lt;/mn&gt;&lt;mn&gt;3&lt;/mn&gt;&lt;/mfrac&gt;&lt;mo&gt;×&lt;/mo&gt;&lt;mfrac&gt;&lt;mn&gt;4&lt;/mn&gt;&lt;mn&gt;4&lt;/mn&gt;&lt;/mfrac&gt;&lt;mo&gt;=&lt;/mo&gt;&lt;mfrac&gt;&lt;mn&gt;8&lt;/mn&gt;&lt;mn&gt;12&lt;/mn&gt;&lt;/mfrac&gt;&lt;/math&gt;" id="2439" name="Google Shape;2439;p160" title="two thirds times four fourths equals 8 over 12"/>
          <p:cNvPicPr preferRelativeResize="0"/>
          <p:nvPr/>
        </p:nvPicPr>
        <p:blipFill rotWithShape="1">
          <a:blip r:embed="rId3">
            <a:alphaModFix/>
          </a:blip>
          <a:srcRect b="0" l="0" r="83215" t="0"/>
          <a:stretch/>
        </p:blipFill>
        <p:spPr>
          <a:xfrm>
            <a:off x="4923148" y="1917650"/>
            <a:ext cx="262832" cy="6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0" name="Google Shape;2440;p160"/>
          <p:cNvSpPr txBox="1"/>
          <p:nvPr/>
        </p:nvSpPr>
        <p:spPr>
          <a:xfrm>
            <a:off x="324000" y="2519575"/>
            <a:ext cx="810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50 shapes, there are 20 stars and 30 hearts.</a:t>
            </a:r>
            <a:endParaRPr sz="1300"/>
          </a:p>
        </p:txBody>
      </p:sp>
      <p:sp>
        <p:nvSpPr>
          <p:cNvPr id="2441" name="Google Shape;2441;p160"/>
          <p:cNvSpPr txBox="1"/>
          <p:nvPr/>
        </p:nvSpPr>
        <p:spPr>
          <a:xfrm>
            <a:off x="4400125" y="2951275"/>
            <a:ext cx="41619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 6 boys, there are 5 girls.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is the fraction of girls.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42" name="Google Shape;2442;p160"/>
          <p:cNvGraphicFramePr/>
          <p:nvPr/>
        </p:nvGraphicFramePr>
        <p:xfrm>
          <a:off x="813725" y="3027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82400"/>
                <a:gridCol w="1120525"/>
                <a:gridCol w="1120525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Boys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Girls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43" name="Google Shape;2443;p160"/>
          <p:cNvSpPr txBox="1"/>
          <p:nvPr/>
        </p:nvSpPr>
        <p:spPr>
          <a:xfrm>
            <a:off x="241175" y="4413850"/>
            <a:ext cx="810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88 pupils, there are 48 boys and 40 girls.</a:t>
            </a:r>
            <a:endParaRPr sz="1300"/>
          </a:p>
        </p:txBody>
      </p:sp>
      <p:sp>
        <p:nvSpPr>
          <p:cNvPr id="2444" name="Google Shape;2444;p160"/>
          <p:cNvSpPr txBox="1"/>
          <p:nvPr/>
        </p:nvSpPr>
        <p:spPr>
          <a:xfrm>
            <a:off x="324000" y="3051325"/>
            <a:ext cx="6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445" name="Google Shape;2445;p160"/>
          <p:cNvSpPr/>
          <p:nvPr/>
        </p:nvSpPr>
        <p:spPr>
          <a:xfrm>
            <a:off x="5808969" y="11435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6" name="Google Shape;2446;p160"/>
          <p:cNvSpPr/>
          <p:nvPr/>
        </p:nvSpPr>
        <p:spPr>
          <a:xfrm>
            <a:off x="8091242" y="1143553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7" name="Google Shape;2447;p160"/>
          <p:cNvSpPr/>
          <p:nvPr/>
        </p:nvSpPr>
        <p:spPr>
          <a:xfrm>
            <a:off x="4866275" y="1825896"/>
            <a:ext cx="262800" cy="74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8" name="Google Shape;2448;p160"/>
          <p:cNvSpPr/>
          <p:nvPr/>
        </p:nvSpPr>
        <p:spPr>
          <a:xfrm>
            <a:off x="5206682" y="2607448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160"/>
          <p:cNvSpPr/>
          <p:nvPr/>
        </p:nvSpPr>
        <p:spPr>
          <a:xfrm>
            <a:off x="6862375" y="2607448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0" name="Google Shape;2450;p160"/>
          <p:cNvSpPr/>
          <p:nvPr/>
        </p:nvSpPr>
        <p:spPr>
          <a:xfrm>
            <a:off x="5777909" y="3038200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1" name="Google Shape;2451;p160"/>
          <p:cNvSpPr/>
          <p:nvPr/>
        </p:nvSpPr>
        <p:spPr>
          <a:xfrm>
            <a:off x="8060182" y="3038200"/>
            <a:ext cx="26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2" name="Google Shape;2452;p160"/>
          <p:cNvSpPr/>
          <p:nvPr/>
        </p:nvSpPr>
        <p:spPr>
          <a:xfrm>
            <a:off x="4835215" y="3720543"/>
            <a:ext cx="262800" cy="74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3" name="Google Shape;2453;p160"/>
          <p:cNvSpPr/>
          <p:nvPr/>
        </p:nvSpPr>
        <p:spPr>
          <a:xfrm>
            <a:off x="4936676" y="4502100"/>
            <a:ext cx="32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4" name="Google Shape;2454;p160"/>
          <p:cNvSpPr/>
          <p:nvPr/>
        </p:nvSpPr>
        <p:spPr>
          <a:xfrm>
            <a:off x="6602728" y="4502100"/>
            <a:ext cx="322800" cy="3372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161"/>
          <p:cNvSpPr txBox="1"/>
          <p:nvPr/>
        </p:nvSpPr>
        <p:spPr>
          <a:xfrm>
            <a:off x="324000" y="798625"/>
            <a:ext cx="8155200" cy="3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To make screed, the ratio of sand to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cement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for every 1 kg of sand, use 4 kg of cement.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Show this in a ratio table.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Andeep needs 15 kg in total.  How many kg of sand will he need?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fraction of the screed is sand?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162"/>
          <p:cNvSpPr txBox="1"/>
          <p:nvPr>
            <p:ph idx="1" type="body"/>
          </p:nvPr>
        </p:nvSpPr>
        <p:spPr>
          <a:xfrm>
            <a:off x="324000" y="759300"/>
            <a:ext cx="8652300" cy="50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Jacob spilt ink all over the maths question and his working out, but he correctly shaded in the grid. Work out the maths questions and working out.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67" name="Google Shape;2467;p162"/>
          <p:cNvGraphicFramePr/>
          <p:nvPr/>
        </p:nvGraphicFramePr>
        <p:xfrm>
          <a:off x="536250" y="214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31675"/>
                <a:gridCol w="431675"/>
                <a:gridCol w="431675"/>
                <a:gridCol w="431675"/>
                <a:gridCol w="431675"/>
                <a:gridCol w="431675"/>
              </a:tblGrid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68" name="Google Shape;2468;p162"/>
          <p:cNvSpPr txBox="1"/>
          <p:nvPr/>
        </p:nvSpPr>
        <p:spPr>
          <a:xfrm>
            <a:off x="3217200" y="21253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2 shaded there are 1 unshaded.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fraction that is shaded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2469" name="Google Shape;2469;p162" title="two thirds times 12 over 12 equals 24 over 36"/>
          <p:cNvPicPr preferRelativeResize="0"/>
          <p:nvPr/>
        </p:nvPicPr>
        <p:blipFill rotWithShape="1">
          <a:blip r:embed="rId3">
            <a:alphaModFix/>
          </a:blip>
          <a:srcRect b="0" l="0" r="85249" t="0"/>
          <a:stretch/>
        </p:blipFill>
        <p:spPr>
          <a:xfrm>
            <a:off x="7231249" y="2504357"/>
            <a:ext cx="278800" cy="6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0" name="Google Shape;2470;p162"/>
          <p:cNvSpPr txBox="1"/>
          <p:nvPr/>
        </p:nvSpPr>
        <p:spPr>
          <a:xfrm>
            <a:off x="3217200" y="41827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need to shade in 24 squares.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1" name="Google Shape;2471;p162"/>
          <p:cNvSpPr txBox="1"/>
          <p:nvPr/>
        </p:nvSpPr>
        <p:spPr>
          <a:xfrm>
            <a:off x="3217200" y="34969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36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squares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2472" name="Google Shape;2472;p162" title="two thirds times 12 over 12 equals 24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925" y="3347025"/>
            <a:ext cx="1682616" cy="6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3" name="Google Shape;2473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388" y="2158863"/>
            <a:ext cx="25552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4" name="Google Shape;2474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1299" y="1924043"/>
            <a:ext cx="789083" cy="6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5" name="Google Shape;2475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004150" y="2564500"/>
            <a:ext cx="732977" cy="57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6" name="Google Shape;2476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300" y="3161100"/>
            <a:ext cx="1086001" cy="893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129" y="3272701"/>
            <a:ext cx="430242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554" y="4151401"/>
            <a:ext cx="430242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2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p163"/>
          <p:cNvSpPr txBox="1"/>
          <p:nvPr>
            <p:ph idx="1" type="body"/>
          </p:nvPr>
        </p:nvSpPr>
        <p:spPr>
          <a:xfrm>
            <a:off x="324000" y="759300"/>
            <a:ext cx="8237700" cy="12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4) The ratio of the three different panels of fencing are: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Panel length A × 1.5 = panel length 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Panel length A × 2 = panel length 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total length of the fencing is 36 cm. Work out the length of each panel.</a:t>
            </a:r>
            <a:endParaRPr/>
          </a:p>
        </p:txBody>
      </p:sp>
      <p:sp>
        <p:nvSpPr>
          <p:cNvPr id="2484" name="Google Shape;2484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164"/>
          <p:cNvSpPr txBox="1"/>
          <p:nvPr/>
        </p:nvSpPr>
        <p:spPr>
          <a:xfrm>
            <a:off x="4482950" y="1057000"/>
            <a:ext cx="41619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2 stars, there are 3 hearts.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is the fraction of stars.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0" name="Google Shape;2490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164"/>
          <p:cNvSpPr txBox="1"/>
          <p:nvPr/>
        </p:nvSpPr>
        <p:spPr>
          <a:xfrm>
            <a:off x="324000" y="646225"/>
            <a:ext cx="81552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AutoNum type="arabicParenR"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92" name="Google Shape;2492;p164"/>
          <p:cNvGraphicFramePr/>
          <p:nvPr/>
        </p:nvGraphicFramePr>
        <p:xfrm>
          <a:off x="896550" y="1133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210075"/>
                <a:gridCol w="1146750"/>
                <a:gridCol w="1146750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Hearts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3}\times\frac{4}{4}=\frac{8}{12}&quot;&gt;&lt;mfrac&gt;&lt;mn&gt;2&lt;/mn&gt;&lt;mn&gt;3&lt;/mn&gt;&lt;/mfrac&gt;&lt;mo&gt;×&lt;/mo&gt;&lt;mfrac&gt;&lt;mn&gt;4&lt;/mn&gt;&lt;mn&gt;4&lt;/mn&gt;&lt;/mfrac&gt;&lt;mo&gt;=&lt;/mo&gt;&lt;mfrac&gt;&lt;mn&gt;8&lt;/mn&gt;&lt;mn&gt;12&lt;/mn&gt;&lt;/mfrac&gt;&lt;/math&gt;" id="2493" name="Google Shape;2493;p164" title="two thirds times four fourths equals 8 over 12"/>
          <p:cNvPicPr preferRelativeResize="0"/>
          <p:nvPr/>
        </p:nvPicPr>
        <p:blipFill rotWithShape="1">
          <a:blip r:embed="rId3">
            <a:alphaModFix/>
          </a:blip>
          <a:srcRect b="0" l="0" r="83215" t="0"/>
          <a:stretch/>
        </p:blipFill>
        <p:spPr>
          <a:xfrm>
            <a:off x="4923148" y="1917650"/>
            <a:ext cx="262832" cy="62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4" name="Google Shape;2494;p164"/>
          <p:cNvSpPr txBox="1"/>
          <p:nvPr/>
        </p:nvSpPr>
        <p:spPr>
          <a:xfrm>
            <a:off x="324000" y="2519575"/>
            <a:ext cx="810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50 shapes, there are 20 stars and 30 hearts.</a:t>
            </a:r>
            <a:endParaRPr sz="1300"/>
          </a:p>
        </p:txBody>
      </p:sp>
      <p:sp>
        <p:nvSpPr>
          <p:cNvPr id="2495" name="Google Shape;2495;p164"/>
          <p:cNvSpPr txBox="1"/>
          <p:nvPr/>
        </p:nvSpPr>
        <p:spPr>
          <a:xfrm>
            <a:off x="324000" y="3051325"/>
            <a:ext cx="6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grpSp>
        <p:nvGrpSpPr>
          <p:cNvPr id="2496" name="Google Shape;2496;p164"/>
          <p:cNvGrpSpPr/>
          <p:nvPr/>
        </p:nvGrpSpPr>
        <p:grpSpPr>
          <a:xfrm>
            <a:off x="931200" y="1557325"/>
            <a:ext cx="3454500" cy="980400"/>
            <a:chOff x="931200" y="1557325"/>
            <a:chExt cx="3454500" cy="980400"/>
          </a:xfrm>
        </p:grpSpPr>
        <p:sp>
          <p:nvSpPr>
            <p:cNvPr id="2497" name="Google Shape;2497;p164"/>
            <p:cNvSpPr txBox="1"/>
            <p:nvPr/>
          </p:nvSpPr>
          <p:spPr>
            <a:xfrm>
              <a:off x="3293400" y="155732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98" name="Google Shape;2498;p164"/>
            <p:cNvSpPr txBox="1"/>
            <p:nvPr/>
          </p:nvSpPr>
          <p:spPr>
            <a:xfrm>
              <a:off x="931200" y="201452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20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499" name="Google Shape;2499;p164"/>
            <p:cNvSpPr txBox="1"/>
            <p:nvPr/>
          </p:nvSpPr>
          <p:spPr>
            <a:xfrm>
              <a:off x="2074200" y="201452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3</a:t>
              </a: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500" name="Google Shape;2500;p164"/>
          <p:cNvSpPr txBox="1"/>
          <p:nvPr/>
        </p:nvSpPr>
        <p:spPr>
          <a:xfrm>
            <a:off x="4400125" y="2951275"/>
            <a:ext cx="41619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 6 boys, there are 5 girls.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is the fraction of girls.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01" name="Google Shape;2501;p164"/>
          <p:cNvGraphicFramePr/>
          <p:nvPr/>
        </p:nvGraphicFramePr>
        <p:xfrm>
          <a:off x="813725" y="3027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182400"/>
                <a:gridCol w="1120525"/>
                <a:gridCol w="1120525"/>
              </a:tblGrid>
              <a:tr h="497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Boys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Girls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2" name="Google Shape;2502;p164"/>
          <p:cNvSpPr txBox="1"/>
          <p:nvPr/>
        </p:nvSpPr>
        <p:spPr>
          <a:xfrm>
            <a:off x="241175" y="4413850"/>
            <a:ext cx="810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there are 88 pupils, there are 48 boys and 40 girls.</a:t>
            </a:r>
            <a:endParaRPr sz="1300"/>
          </a:p>
        </p:txBody>
      </p:sp>
      <p:grpSp>
        <p:nvGrpSpPr>
          <p:cNvPr id="2503" name="Google Shape;2503;p164"/>
          <p:cNvGrpSpPr/>
          <p:nvPr/>
        </p:nvGrpSpPr>
        <p:grpSpPr>
          <a:xfrm>
            <a:off x="778800" y="3493385"/>
            <a:ext cx="3454500" cy="980400"/>
            <a:chOff x="778800" y="3493385"/>
            <a:chExt cx="3454500" cy="980400"/>
          </a:xfrm>
        </p:grpSpPr>
        <p:sp>
          <p:nvSpPr>
            <p:cNvPr id="2504" name="Google Shape;2504;p164"/>
            <p:cNvSpPr txBox="1"/>
            <p:nvPr/>
          </p:nvSpPr>
          <p:spPr>
            <a:xfrm>
              <a:off x="3141000" y="349338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11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505" name="Google Shape;2505;p164"/>
            <p:cNvSpPr txBox="1"/>
            <p:nvPr/>
          </p:nvSpPr>
          <p:spPr>
            <a:xfrm>
              <a:off x="778800" y="395058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48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506" name="Google Shape;2506;p164"/>
            <p:cNvSpPr txBox="1"/>
            <p:nvPr/>
          </p:nvSpPr>
          <p:spPr>
            <a:xfrm>
              <a:off x="1921800" y="3950585"/>
              <a:ext cx="1092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40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5}{11}&quot;&gt;&lt;mfrac&gt;&lt;mn&gt;5&lt;/mn&gt;&lt;mn&gt;11&lt;/mn&gt;&lt;/mfrac&gt;&lt;/math&gt;" id="2507" name="Google Shape;2507;p164" title="5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794" y="3779994"/>
            <a:ext cx="345762" cy="629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8" name="Google Shape;2508;p164"/>
          <p:cNvGrpSpPr/>
          <p:nvPr/>
        </p:nvGrpSpPr>
        <p:grpSpPr>
          <a:xfrm>
            <a:off x="4866275" y="1143553"/>
            <a:ext cx="3487767" cy="1801095"/>
            <a:chOff x="4866275" y="1143553"/>
            <a:chExt cx="3487767" cy="1801095"/>
          </a:xfrm>
        </p:grpSpPr>
        <p:sp>
          <p:nvSpPr>
            <p:cNvPr id="2509" name="Google Shape;2509;p164"/>
            <p:cNvSpPr/>
            <p:nvPr/>
          </p:nvSpPr>
          <p:spPr>
            <a:xfrm>
              <a:off x="5808969" y="1143553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0" name="Google Shape;2510;p164"/>
            <p:cNvSpPr/>
            <p:nvPr/>
          </p:nvSpPr>
          <p:spPr>
            <a:xfrm>
              <a:off x="8091242" y="1143553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1" name="Google Shape;2511;p164"/>
            <p:cNvSpPr/>
            <p:nvPr/>
          </p:nvSpPr>
          <p:spPr>
            <a:xfrm>
              <a:off x="4866275" y="1825896"/>
              <a:ext cx="262800" cy="7458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2" name="Google Shape;2512;p164"/>
            <p:cNvSpPr/>
            <p:nvPr/>
          </p:nvSpPr>
          <p:spPr>
            <a:xfrm>
              <a:off x="5206682" y="2607448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3" name="Google Shape;2513;p164"/>
            <p:cNvSpPr/>
            <p:nvPr/>
          </p:nvSpPr>
          <p:spPr>
            <a:xfrm>
              <a:off x="6862375" y="2607448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4" name="Google Shape;2514;p164"/>
          <p:cNvGrpSpPr/>
          <p:nvPr/>
        </p:nvGrpSpPr>
        <p:grpSpPr>
          <a:xfrm>
            <a:off x="4821135" y="3038200"/>
            <a:ext cx="3553613" cy="1801100"/>
            <a:chOff x="4769368" y="3038200"/>
            <a:chExt cx="3553613" cy="1801100"/>
          </a:xfrm>
        </p:grpSpPr>
        <p:sp>
          <p:nvSpPr>
            <p:cNvPr id="2515" name="Google Shape;2515;p164"/>
            <p:cNvSpPr/>
            <p:nvPr/>
          </p:nvSpPr>
          <p:spPr>
            <a:xfrm>
              <a:off x="5777909" y="3038200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6" name="Google Shape;2516;p164"/>
            <p:cNvSpPr/>
            <p:nvPr/>
          </p:nvSpPr>
          <p:spPr>
            <a:xfrm>
              <a:off x="8060182" y="3038200"/>
              <a:ext cx="26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7" name="Google Shape;2517;p164"/>
            <p:cNvSpPr/>
            <p:nvPr/>
          </p:nvSpPr>
          <p:spPr>
            <a:xfrm>
              <a:off x="4769368" y="3720543"/>
              <a:ext cx="262800" cy="7458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8" name="Google Shape;2518;p164"/>
            <p:cNvSpPr/>
            <p:nvPr/>
          </p:nvSpPr>
          <p:spPr>
            <a:xfrm>
              <a:off x="4936676" y="4502100"/>
              <a:ext cx="32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9" name="Google Shape;2519;p164"/>
            <p:cNvSpPr/>
            <p:nvPr/>
          </p:nvSpPr>
          <p:spPr>
            <a:xfrm>
              <a:off x="6561315" y="4502100"/>
              <a:ext cx="322800" cy="33720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165"/>
          <p:cNvSpPr txBox="1"/>
          <p:nvPr/>
        </p:nvSpPr>
        <p:spPr>
          <a:xfrm>
            <a:off x="324000" y="798625"/>
            <a:ext cx="8155200" cy="3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To make screed, the ratio of sand to cement is for every 1 kg of sand, use 4 kg of cement.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Show this in a ratio table.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Andeep needs 15 kg in total.  How many kg of sand will he need?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fraction of the screed is sand?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26" name="Google Shape;2526;p165"/>
          <p:cNvGraphicFramePr/>
          <p:nvPr/>
        </p:nvGraphicFramePr>
        <p:xfrm>
          <a:off x="4794750" y="1249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9000"/>
                <a:gridCol w="1306825"/>
                <a:gridCol w="1306825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Sand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Cement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27" name="Google Shape;2527;p165"/>
          <p:cNvGraphicFramePr/>
          <p:nvPr/>
        </p:nvGraphicFramePr>
        <p:xfrm>
          <a:off x="4794750" y="2164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9000"/>
                <a:gridCol w="1306825"/>
                <a:gridCol w="1306825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8" name="Google Shape;2528;p165"/>
          <p:cNvSpPr txBox="1"/>
          <p:nvPr/>
        </p:nvSpPr>
        <p:spPr>
          <a:xfrm>
            <a:off x="1142125" y="3413300"/>
            <a:ext cx="716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would need 3 kg of sand.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2529" name="Google Shape;2529;p165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975" y="3799375"/>
            <a:ext cx="234225" cy="752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66"/>
          <p:cNvSpPr txBox="1"/>
          <p:nvPr>
            <p:ph idx="1" type="body"/>
          </p:nvPr>
        </p:nvSpPr>
        <p:spPr>
          <a:xfrm>
            <a:off x="324000" y="759300"/>
            <a:ext cx="8324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Jacob spilt ink all over the maths question and his working out, but he correctly shaded in the grid. Work out the maths questions and working out.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equivalent ratios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536" name="Google Shape;2536;p166"/>
          <p:cNvGraphicFramePr/>
          <p:nvPr/>
        </p:nvGraphicFramePr>
        <p:xfrm>
          <a:off x="536250" y="214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431675"/>
                <a:gridCol w="431675"/>
                <a:gridCol w="431675"/>
                <a:gridCol w="431675"/>
                <a:gridCol w="431675"/>
                <a:gridCol w="431675"/>
              </a:tblGrid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37" name="Google Shape;2537;p166"/>
          <p:cNvSpPr txBox="1"/>
          <p:nvPr/>
        </p:nvSpPr>
        <p:spPr>
          <a:xfrm>
            <a:off x="3217200" y="21253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2 shaded there are 1 unshaded.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fraction that is shaded is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2538" name="Google Shape;2538;p166" title="two thirds times 12 over 12 equals 24 over 36"/>
          <p:cNvPicPr preferRelativeResize="0"/>
          <p:nvPr/>
        </p:nvPicPr>
        <p:blipFill rotWithShape="1">
          <a:blip r:embed="rId3">
            <a:alphaModFix/>
          </a:blip>
          <a:srcRect b="0" l="0" r="85249" t="0"/>
          <a:stretch/>
        </p:blipFill>
        <p:spPr>
          <a:xfrm>
            <a:off x="7231249" y="2504357"/>
            <a:ext cx="278800" cy="6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9" name="Google Shape;2539;p166"/>
          <p:cNvSpPr txBox="1"/>
          <p:nvPr/>
        </p:nvSpPr>
        <p:spPr>
          <a:xfrm>
            <a:off x="3217200" y="41827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need to shade in 24 squares.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0" name="Google Shape;2540;p166"/>
          <p:cNvSpPr txBox="1"/>
          <p:nvPr/>
        </p:nvSpPr>
        <p:spPr>
          <a:xfrm>
            <a:off x="3217200" y="3496950"/>
            <a:ext cx="583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36 squares,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times\frac{12}{12}=\frac{24}{36}&quot;&gt;&lt;mfrac&gt;&lt;mn&gt;2&lt;/mn&gt;&lt;mn&gt;3&lt;/mn&gt;&lt;/mfrac&gt;&lt;mo&gt;×&lt;/mo&gt;&lt;mfrac&gt;&lt;mn&gt;12&lt;/mn&gt;&lt;mn&gt;12&lt;/mn&gt;&lt;/mfrac&gt;&lt;mo&gt;=&lt;/mo&gt;&lt;mfrac&gt;&lt;mn&gt;24&lt;/mn&gt;&lt;mn&gt;36&lt;/mn&gt;&lt;/mfrac&gt;&lt;/math&gt;" id="2541" name="Google Shape;2541;p166" title="two thirds times 12 over 12 equals 24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925" y="3347025"/>
            <a:ext cx="1682616" cy="61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2" name="Google Shape;2542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150" y="2134175"/>
            <a:ext cx="335399" cy="33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3" name="Google Shape;2543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025" y="2025088"/>
            <a:ext cx="789101" cy="48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055250" y="2564500"/>
            <a:ext cx="732977" cy="574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5" name="Google Shape;2545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21944">
            <a:off x="5549925" y="3199073"/>
            <a:ext cx="1086100" cy="851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6" name="Google Shape;2546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129" y="3272701"/>
            <a:ext cx="430242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7" name="Google Shape;2547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554" y="4151401"/>
            <a:ext cx="430242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The ratio of the three different panels of fencing are: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Panel length A × 1.5 = panel length B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Panel length A × 2 = panel length C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total length of the fencing is 36 cm. Work out the length of each panel.</a:t>
            </a:r>
            <a:endParaRPr/>
          </a:p>
        </p:txBody>
      </p:sp>
      <p:sp>
        <p:nvSpPr>
          <p:cNvPr id="2553" name="Google Shape;2553;p1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equivalent ratios</a:t>
            </a:r>
            <a:endParaRPr/>
          </a:p>
        </p:txBody>
      </p:sp>
      <p:graphicFrame>
        <p:nvGraphicFramePr>
          <p:cNvPr id="2554" name="Google Shape;2554;p167"/>
          <p:cNvGraphicFramePr/>
          <p:nvPr/>
        </p:nvGraphicFramePr>
        <p:xfrm>
          <a:off x="2827675" y="2782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9000"/>
                <a:gridCol w="1306825"/>
                <a:gridCol w="1306825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5" name="Google Shape;2555;p167"/>
          <p:cNvGraphicFramePr/>
          <p:nvPr/>
        </p:nvGraphicFramePr>
        <p:xfrm>
          <a:off x="6810782" y="2782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06825"/>
              </a:tblGrid>
              <a:tr h="38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6" name="Google Shape;2556;p167"/>
          <p:cNvGraphicFramePr/>
          <p:nvPr/>
        </p:nvGraphicFramePr>
        <p:xfrm>
          <a:off x="6810782" y="369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06825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57" name="Google Shape;2557;p167"/>
          <p:cNvGraphicFramePr/>
          <p:nvPr/>
        </p:nvGraphicFramePr>
        <p:xfrm>
          <a:off x="2827675" y="369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{31CF5448-D9C0-438B-8069-6978497CE366}</a:tableStyleId>
              </a:tblPr>
              <a:tblGrid>
                <a:gridCol w="1379000"/>
                <a:gridCol w="1306825"/>
                <a:gridCol w="1306825"/>
              </a:tblGrid>
              <a:tr h="361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8" name="Google Shape;2558;p167"/>
          <p:cNvSpPr txBox="1"/>
          <p:nvPr/>
        </p:nvSpPr>
        <p:spPr>
          <a:xfrm>
            <a:off x="433075" y="4221225"/>
            <a:ext cx="848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has length 8 cm, B has length 12 cm and C has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length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16 cm.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16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Equivalent 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4" name="Google Shape;2564;p168"/>
          <p:cNvGrpSpPr/>
          <p:nvPr/>
        </p:nvGrpSpPr>
        <p:grpSpPr>
          <a:xfrm>
            <a:off x="503100" y="836400"/>
            <a:ext cx="7821900" cy="3735600"/>
            <a:chOff x="503100" y="836400"/>
            <a:chExt cx="7821900" cy="3735600"/>
          </a:xfrm>
        </p:grpSpPr>
        <p:sp>
          <p:nvSpPr>
            <p:cNvPr id="2565" name="Google Shape;2565;p168"/>
            <p:cNvSpPr txBox="1"/>
            <p:nvPr/>
          </p:nvSpPr>
          <p:spPr>
            <a:xfrm>
              <a:off x="503100" y="836400"/>
              <a:ext cx="77673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Proportionality means when variables are in proportion if they have a constant multiplicative relationship.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Given fractions, decimals, percentages and ratio all represent proportion, we can interchange between them to help us solve problems.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6" name="Google Shape;2566;p168"/>
            <p:cNvSpPr txBox="1"/>
            <p:nvPr/>
          </p:nvSpPr>
          <p:spPr>
            <a:xfrm>
              <a:off x="503100" y="3454500"/>
              <a:ext cx="7821900" cy="11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Knowing there are an infinite number of equivalent ratios allows us to compare to the whole and problems can be solved more easily.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72" name="Google Shape;2572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