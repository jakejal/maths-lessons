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2F488E-18F0-4D8F-8872-80CE8DE3ECD9}">
  <a:tblStyle styleId="{F32F488E-18F0-4D8F-8872-80CE8DE3EC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a91bf4a8e9_0_10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a91bf4a8e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a91bf4a8e9_0_10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a91bf4a8e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68254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Equivalent ratios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" name="Google Shape;162;p20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20"/>
          <p:cNvSpPr txBox="1"/>
          <p:nvPr/>
        </p:nvSpPr>
        <p:spPr>
          <a:xfrm>
            <a:off x="474750" y="1680550"/>
            <a:ext cx="66240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Tick which ratio tables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equivalent to the statement: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“For every 3 ticks, there are 4 crosses.”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/>
          <p:nvPr/>
        </p:nvGraphicFramePr>
        <p:xfrm>
          <a:off x="513063" y="234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{F32F488E-18F0-4D8F-8872-80CE8DE3ECD9}</a:tableStyleId>
              </a:tblPr>
              <a:tblGrid>
                <a:gridCol w="921450"/>
                <a:gridCol w="873225"/>
              </a:tblGrid>
              <a:tr h="32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5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/>
          <p:nvPr/>
        </p:nvGraphicFramePr>
        <p:xfrm>
          <a:off x="513063" y="387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{F32F488E-18F0-4D8F-8872-80CE8DE3ECD9}</a:tableStyleId>
              </a:tblPr>
              <a:tblGrid>
                <a:gridCol w="921450"/>
                <a:gridCol w="873225"/>
              </a:tblGrid>
              <a:tr h="44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6" name="Google Shape;166;p20"/>
          <p:cNvGraphicFramePr/>
          <p:nvPr/>
        </p:nvGraphicFramePr>
        <p:xfrm>
          <a:off x="2827663" y="437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{F32F488E-18F0-4D8F-8872-80CE8DE3ECD9}</a:tableStyleId>
              </a:tblPr>
              <a:tblGrid>
                <a:gridCol w="904450"/>
                <a:gridCol w="857125"/>
              </a:tblGrid>
              <a:tr h="295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2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7" name="Google Shape;167;p20"/>
          <p:cNvGraphicFramePr/>
          <p:nvPr/>
        </p:nvGraphicFramePr>
        <p:xfrm>
          <a:off x="2792013" y="297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{F32F488E-18F0-4D8F-8872-80CE8DE3ECD9}</a:tableStyleId>
              </a:tblPr>
              <a:tblGrid>
                <a:gridCol w="887500"/>
                <a:gridCol w="841025"/>
              </a:tblGrid>
              <a:tr h="295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2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" name="Google Shape;168;p20"/>
          <p:cNvGraphicFramePr/>
          <p:nvPr/>
        </p:nvGraphicFramePr>
        <p:xfrm>
          <a:off x="5004813" y="254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{F32F488E-18F0-4D8F-8872-80CE8DE3ECD9}</a:tableStyleId>
              </a:tblPr>
              <a:tblGrid>
                <a:gridCol w="921475"/>
                <a:gridCol w="873200"/>
              </a:tblGrid>
              <a:tr h="45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9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" name="Google Shape;169;p20"/>
          <p:cNvGraphicFramePr/>
          <p:nvPr/>
        </p:nvGraphicFramePr>
        <p:xfrm>
          <a:off x="5017413" y="398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{F32F488E-18F0-4D8F-8872-80CE8DE3ECD9}</a:tableStyleId>
              </a:tblPr>
              <a:tblGrid>
                <a:gridCol w="921475"/>
                <a:gridCol w="873200"/>
              </a:tblGrid>
              <a:tr h="48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1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20"/>
          <p:cNvSpPr txBox="1"/>
          <p:nvPr/>
        </p:nvSpPr>
        <p:spPr>
          <a:xfrm>
            <a:off x="513075" y="6016547"/>
            <a:ext cx="66240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Pair the equivalent function machines, left to right, and identify the multiplier.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" name="Google Shape;171;p20"/>
          <p:cNvCxnSpPr/>
          <p:nvPr/>
        </p:nvCxnSpPr>
        <p:spPr>
          <a:xfrm>
            <a:off x="1717858" y="7067990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0"/>
          <p:cNvCxnSpPr/>
          <p:nvPr/>
        </p:nvCxnSpPr>
        <p:spPr>
          <a:xfrm>
            <a:off x="1243460" y="7067990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0"/>
          <p:cNvCxnSpPr/>
          <p:nvPr/>
        </p:nvCxnSpPr>
        <p:spPr>
          <a:xfrm>
            <a:off x="1616359" y="7067990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/>
          <p:nvPr/>
        </p:nvSpPr>
        <p:spPr>
          <a:xfrm>
            <a:off x="1039249" y="6798077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450415" y="6798077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843626" y="6537821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776551" y="6458459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161741" y="6900664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581773" y="6886877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1717858" y="7735837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1243460" y="7735837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1616359" y="7735837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0"/>
          <p:cNvSpPr/>
          <p:nvPr/>
        </p:nvSpPr>
        <p:spPr>
          <a:xfrm>
            <a:off x="1039249" y="7465924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450415" y="7465924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843626" y="7205668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776540" y="7146069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161741" y="7554874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551473" y="7554874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>
            <a:off x="1717858" y="8403684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1243460" y="8403684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0"/>
          <p:cNvCxnSpPr/>
          <p:nvPr/>
        </p:nvCxnSpPr>
        <p:spPr>
          <a:xfrm>
            <a:off x="1616359" y="8403684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/>
          <p:nvPr/>
        </p:nvSpPr>
        <p:spPr>
          <a:xfrm>
            <a:off x="1039249" y="8133771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450415" y="8133771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1843626" y="7873515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776540" y="7813416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120016" y="8209071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544223" y="8230008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>
            <a:off x="1717858" y="9010818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0"/>
          <p:cNvCxnSpPr/>
          <p:nvPr/>
        </p:nvCxnSpPr>
        <p:spPr>
          <a:xfrm>
            <a:off x="1243460" y="9010818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0"/>
          <p:cNvCxnSpPr/>
          <p:nvPr/>
        </p:nvCxnSpPr>
        <p:spPr>
          <a:xfrm>
            <a:off x="1616359" y="9010818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0"/>
          <p:cNvSpPr/>
          <p:nvPr/>
        </p:nvSpPr>
        <p:spPr>
          <a:xfrm>
            <a:off x="1039249" y="8740905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2450415" y="8740905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1843626" y="8480649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776540" y="8412125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120016" y="8816205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551473" y="8816205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0"/>
          <p:cNvCxnSpPr/>
          <p:nvPr/>
        </p:nvCxnSpPr>
        <p:spPr>
          <a:xfrm>
            <a:off x="5178534" y="7067990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0"/>
          <p:cNvCxnSpPr/>
          <p:nvPr/>
        </p:nvCxnSpPr>
        <p:spPr>
          <a:xfrm>
            <a:off x="4704137" y="7067990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0"/>
          <p:cNvCxnSpPr/>
          <p:nvPr/>
        </p:nvCxnSpPr>
        <p:spPr>
          <a:xfrm>
            <a:off x="5077036" y="7067990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0"/>
          <p:cNvSpPr/>
          <p:nvPr/>
        </p:nvSpPr>
        <p:spPr>
          <a:xfrm>
            <a:off x="4499926" y="6798077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911092" y="6798077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304302" y="6537821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240703" y="6458459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615717" y="6886889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035725" y="6886877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20"/>
          <p:cNvCxnSpPr/>
          <p:nvPr/>
        </p:nvCxnSpPr>
        <p:spPr>
          <a:xfrm>
            <a:off x="5178534" y="7735837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0"/>
          <p:cNvCxnSpPr/>
          <p:nvPr/>
        </p:nvCxnSpPr>
        <p:spPr>
          <a:xfrm>
            <a:off x="4704137" y="7735837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20"/>
          <p:cNvCxnSpPr/>
          <p:nvPr/>
        </p:nvCxnSpPr>
        <p:spPr>
          <a:xfrm>
            <a:off x="5077036" y="7735837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0"/>
          <p:cNvSpPr/>
          <p:nvPr/>
        </p:nvSpPr>
        <p:spPr>
          <a:xfrm>
            <a:off x="4499926" y="7465924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911092" y="7465924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304302" y="7205668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267516" y="7165994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580692" y="7541224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012150" y="7541224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" name="Google Shape;225;p20"/>
          <p:cNvCxnSpPr/>
          <p:nvPr/>
        </p:nvCxnSpPr>
        <p:spPr>
          <a:xfrm>
            <a:off x="5178534" y="8403684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0"/>
          <p:cNvCxnSpPr/>
          <p:nvPr/>
        </p:nvCxnSpPr>
        <p:spPr>
          <a:xfrm>
            <a:off x="4704137" y="8403684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0"/>
          <p:cNvCxnSpPr/>
          <p:nvPr/>
        </p:nvCxnSpPr>
        <p:spPr>
          <a:xfrm>
            <a:off x="5077036" y="8403684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0"/>
          <p:cNvSpPr/>
          <p:nvPr/>
        </p:nvSpPr>
        <p:spPr>
          <a:xfrm>
            <a:off x="4499926" y="8133771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911092" y="8133771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304302" y="7873515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5240691" y="7823329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4615717" y="8230008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035725" y="8209071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" name="Google Shape;234;p20"/>
          <p:cNvCxnSpPr/>
          <p:nvPr/>
        </p:nvCxnSpPr>
        <p:spPr>
          <a:xfrm>
            <a:off x="5178534" y="9010818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0"/>
          <p:cNvCxnSpPr/>
          <p:nvPr/>
        </p:nvCxnSpPr>
        <p:spPr>
          <a:xfrm>
            <a:off x="4704137" y="9010818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20"/>
          <p:cNvCxnSpPr/>
          <p:nvPr/>
        </p:nvCxnSpPr>
        <p:spPr>
          <a:xfrm>
            <a:off x="5077036" y="9010818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20"/>
          <p:cNvSpPr/>
          <p:nvPr/>
        </p:nvSpPr>
        <p:spPr>
          <a:xfrm>
            <a:off x="4499926" y="8740905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5911092" y="8740905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5304302" y="8480649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5240691" y="8417100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615717" y="8816180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6035725" y="8826017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/>
          <p:nvPr/>
        </p:nvSpPr>
        <p:spPr>
          <a:xfrm>
            <a:off x="1898031" y="6421741"/>
            <a:ext cx="445200" cy="44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1762600" y="1181250"/>
            <a:ext cx="5196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Shade in to make the letter “L” using the ratio: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shaded to 1 unshaded.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682400" y="3599450"/>
            <a:ext cx="23115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Shade in to make the letter “C” using the ratio: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shaded to 1 unshaded.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2728300" y="2262400"/>
            <a:ext cx="43638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Shade in to make the letter “H” using the ratio: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shaded to 13 unshaded.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76000" y="5557000"/>
            <a:ext cx="62313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Identify the multipliers and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missing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 for the following function machines.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3" name="Google Shape;253;p21"/>
          <p:cNvCxnSpPr/>
          <p:nvPr/>
        </p:nvCxnSpPr>
        <p:spPr>
          <a:xfrm>
            <a:off x="5325954" y="8598345"/>
            <a:ext cx="1251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1"/>
          <p:cNvCxnSpPr/>
          <p:nvPr/>
        </p:nvCxnSpPr>
        <p:spPr>
          <a:xfrm>
            <a:off x="4799631" y="8598345"/>
            <a:ext cx="1013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21"/>
          <p:cNvCxnSpPr/>
          <p:nvPr/>
        </p:nvCxnSpPr>
        <p:spPr>
          <a:xfrm>
            <a:off x="5213346" y="8598345"/>
            <a:ext cx="44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1"/>
          <p:cNvSpPr/>
          <p:nvPr/>
        </p:nvSpPr>
        <p:spPr>
          <a:xfrm>
            <a:off x="4547720" y="824052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6113346" y="824052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5440140" y="8068310"/>
            <a:ext cx="445200" cy="44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238787" y="8350718"/>
            <a:ext cx="445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374157" y="7993713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5517323" y="8033308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118107" y="8243109"/>
            <a:ext cx="4452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3" name="Google Shape;263;p21"/>
          <p:cNvCxnSpPr/>
          <p:nvPr/>
        </p:nvCxnSpPr>
        <p:spPr>
          <a:xfrm>
            <a:off x="1783845" y="8598345"/>
            <a:ext cx="1251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1"/>
          <p:cNvCxnSpPr/>
          <p:nvPr/>
        </p:nvCxnSpPr>
        <p:spPr>
          <a:xfrm>
            <a:off x="1257522" y="8598345"/>
            <a:ext cx="1013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21"/>
          <p:cNvCxnSpPr/>
          <p:nvPr/>
        </p:nvCxnSpPr>
        <p:spPr>
          <a:xfrm>
            <a:off x="1671237" y="8598345"/>
            <a:ext cx="44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21"/>
          <p:cNvSpPr/>
          <p:nvPr/>
        </p:nvSpPr>
        <p:spPr>
          <a:xfrm>
            <a:off x="1005611" y="824052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2571237" y="824052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1898031" y="7982401"/>
            <a:ext cx="445200" cy="44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1071419" y="8350719"/>
            <a:ext cx="549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1832048" y="7993713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1988474" y="8033308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575998" y="8243109"/>
            <a:ext cx="4452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73" name="Google Shape;273;p21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0" r="87100" t="0"/>
          <a:stretch/>
        </p:blipFill>
        <p:spPr>
          <a:xfrm>
            <a:off x="2094536" y="8023733"/>
            <a:ext cx="128685" cy="3573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74" name="Google Shape;274;p21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66627" r="20473" t="0"/>
          <a:stretch/>
        </p:blipFill>
        <p:spPr>
          <a:xfrm>
            <a:off x="5627759" y="8096469"/>
            <a:ext cx="128685" cy="3573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21"/>
          <p:cNvCxnSpPr/>
          <p:nvPr/>
        </p:nvCxnSpPr>
        <p:spPr>
          <a:xfrm>
            <a:off x="5325954" y="7037685"/>
            <a:ext cx="1251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1"/>
          <p:cNvCxnSpPr/>
          <p:nvPr/>
        </p:nvCxnSpPr>
        <p:spPr>
          <a:xfrm>
            <a:off x="4799631" y="7037685"/>
            <a:ext cx="1013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21"/>
          <p:cNvCxnSpPr/>
          <p:nvPr/>
        </p:nvCxnSpPr>
        <p:spPr>
          <a:xfrm>
            <a:off x="5213346" y="7037685"/>
            <a:ext cx="44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1"/>
          <p:cNvSpPr/>
          <p:nvPr/>
        </p:nvSpPr>
        <p:spPr>
          <a:xfrm>
            <a:off x="4547720" y="667986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6113346" y="667986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5440140" y="6507650"/>
            <a:ext cx="445200" cy="44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723353" y="6790059"/>
            <a:ext cx="549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6238787" y="6790058"/>
            <a:ext cx="445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5517323" y="6396447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118107" y="6682449"/>
            <a:ext cx="4452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5" name="Google Shape;285;p21"/>
          <p:cNvCxnSpPr/>
          <p:nvPr/>
        </p:nvCxnSpPr>
        <p:spPr>
          <a:xfrm>
            <a:off x="1783845" y="7037685"/>
            <a:ext cx="1251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1"/>
          <p:cNvCxnSpPr/>
          <p:nvPr/>
        </p:nvCxnSpPr>
        <p:spPr>
          <a:xfrm>
            <a:off x="1257522" y="7037685"/>
            <a:ext cx="1013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21"/>
          <p:cNvCxnSpPr/>
          <p:nvPr/>
        </p:nvCxnSpPr>
        <p:spPr>
          <a:xfrm>
            <a:off x="1671237" y="7037685"/>
            <a:ext cx="44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21"/>
          <p:cNvSpPr/>
          <p:nvPr/>
        </p:nvSpPr>
        <p:spPr>
          <a:xfrm>
            <a:off x="1005611" y="667986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2571237" y="667986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1071419" y="6790059"/>
            <a:ext cx="549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2696678" y="6790058"/>
            <a:ext cx="445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575998" y="6682449"/>
            <a:ext cx="4452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5402151" y="6492110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1832042" y="6396449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68000" y="679479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Equivalent ratios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6" name="Google Shape;296;p21"/>
          <p:cNvGraphicFramePr/>
          <p:nvPr/>
        </p:nvGraphicFramePr>
        <p:xfrm>
          <a:off x="853525" y="106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{F32F488E-18F0-4D8F-8872-80CE8DE3ECD9}</a:tableStyleId>
              </a:tblPr>
              <a:tblGrid>
                <a:gridCol w="382850"/>
                <a:gridCol w="382850"/>
              </a:tblGrid>
              <a:tr h="30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7" name="Google Shape;297;p21"/>
          <p:cNvGraphicFramePr/>
          <p:nvPr/>
        </p:nvGraphicFramePr>
        <p:xfrm>
          <a:off x="2984375" y="339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{F32F488E-18F0-4D8F-8872-80CE8DE3ECD9}</a:tableStyleId>
              </a:tblPr>
              <a:tblGrid>
                <a:gridCol w="385000"/>
                <a:gridCol w="385000"/>
                <a:gridCol w="385000"/>
                <a:gridCol w="385000"/>
              </a:tblGrid>
              <a:tr h="41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8" name="Google Shape;298;p21"/>
          <p:cNvGraphicFramePr/>
          <p:nvPr/>
        </p:nvGraphicFramePr>
        <p:xfrm>
          <a:off x="730200" y="212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{F32F488E-18F0-4D8F-8872-80CE8DE3ECD9}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99" name="Google Shape;299;p21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4358200" y="1349425"/>
            <a:ext cx="2675700" cy="16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stars, there are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hearts.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is the fraction of stars.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497525" y="1079950"/>
            <a:ext cx="81552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ratio table,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8" name="Google Shape;308;p22"/>
          <p:cNvGraphicFramePr/>
          <p:nvPr/>
        </p:nvGraphicFramePr>
        <p:xfrm>
          <a:off x="854613" y="141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{F32F488E-18F0-4D8F-8872-80CE8DE3ECD9}</a:tableStyleId>
              </a:tblPr>
              <a:tblGrid>
                <a:gridCol w="1210075"/>
                <a:gridCol w="1146750"/>
                <a:gridCol w="1146750"/>
              </a:tblGrid>
              <a:tr h="38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Hearts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9" name="Google Shape;309;p22"/>
          <p:cNvSpPr txBox="1"/>
          <p:nvPr/>
        </p:nvSpPr>
        <p:spPr>
          <a:xfrm>
            <a:off x="497525" y="2953300"/>
            <a:ext cx="81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there are 50 shapes, there are 20 stars and 30 hearts</a:t>
            </a:r>
            <a:endParaRPr sz="1200"/>
          </a:p>
        </p:txBody>
      </p:sp>
      <p:sp>
        <p:nvSpPr>
          <p:cNvPr id="310" name="Google Shape;310;p22"/>
          <p:cNvSpPr txBox="1"/>
          <p:nvPr/>
        </p:nvSpPr>
        <p:spPr>
          <a:xfrm>
            <a:off x="497525" y="3485050"/>
            <a:ext cx="65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grpSp>
        <p:nvGrpSpPr>
          <p:cNvPr id="311" name="Google Shape;311;p22"/>
          <p:cNvGrpSpPr/>
          <p:nvPr/>
        </p:nvGrpSpPr>
        <p:grpSpPr>
          <a:xfrm>
            <a:off x="889263" y="1841350"/>
            <a:ext cx="3454500" cy="781200"/>
            <a:chOff x="931200" y="1557325"/>
            <a:chExt cx="3454500" cy="781200"/>
          </a:xfrm>
        </p:grpSpPr>
        <p:sp>
          <p:nvSpPr>
            <p:cNvPr id="312" name="Google Shape;312;p22"/>
            <p:cNvSpPr txBox="1"/>
            <p:nvPr/>
          </p:nvSpPr>
          <p:spPr>
            <a:xfrm>
              <a:off x="3293400" y="1557325"/>
              <a:ext cx="109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13" name="Google Shape;313;p22"/>
            <p:cNvSpPr txBox="1"/>
            <p:nvPr/>
          </p:nvSpPr>
          <p:spPr>
            <a:xfrm>
              <a:off x="931200" y="1938325"/>
              <a:ext cx="109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2074200" y="1938325"/>
              <a:ext cx="109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315" name="Google Shape;315;p22"/>
          <p:cNvSpPr txBox="1"/>
          <p:nvPr/>
        </p:nvSpPr>
        <p:spPr>
          <a:xfrm>
            <a:off x="4402750" y="3377375"/>
            <a:ext cx="2586600" cy="16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boys, there are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girls.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is the fraction of girls.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16" name="Google Shape;316;p22"/>
          <p:cNvGraphicFramePr/>
          <p:nvPr/>
        </p:nvGraphicFramePr>
        <p:xfrm>
          <a:off x="836250" y="337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{F32F488E-18F0-4D8F-8872-80CE8DE3ECD9}</a:tableStyleId>
              </a:tblPr>
              <a:tblGrid>
                <a:gridCol w="1182400"/>
                <a:gridCol w="1120525"/>
                <a:gridCol w="1120525"/>
              </a:tblGrid>
              <a:tr h="49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Boys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Girls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p22"/>
          <p:cNvSpPr txBox="1"/>
          <p:nvPr/>
        </p:nvSpPr>
        <p:spPr>
          <a:xfrm>
            <a:off x="414700" y="5152375"/>
            <a:ext cx="81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there are 88 pupils, there are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boys and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girls.</a:t>
            </a:r>
            <a:endParaRPr sz="1200"/>
          </a:p>
        </p:txBody>
      </p:sp>
      <p:grpSp>
        <p:nvGrpSpPr>
          <p:cNvPr id="318" name="Google Shape;318;p22"/>
          <p:cNvGrpSpPr/>
          <p:nvPr/>
        </p:nvGrpSpPr>
        <p:grpSpPr>
          <a:xfrm>
            <a:off x="801325" y="3889923"/>
            <a:ext cx="3454500" cy="857400"/>
            <a:chOff x="778800" y="3493385"/>
            <a:chExt cx="3454500" cy="857400"/>
          </a:xfrm>
        </p:grpSpPr>
        <p:sp>
          <p:nvSpPr>
            <p:cNvPr id="319" name="Google Shape;319;p22"/>
            <p:cNvSpPr txBox="1"/>
            <p:nvPr/>
          </p:nvSpPr>
          <p:spPr>
            <a:xfrm>
              <a:off x="3141000" y="3493385"/>
              <a:ext cx="109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20" name="Google Shape;320;p22"/>
            <p:cNvSpPr txBox="1"/>
            <p:nvPr/>
          </p:nvSpPr>
          <p:spPr>
            <a:xfrm>
              <a:off x="778800" y="3950585"/>
              <a:ext cx="109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21" name="Google Shape;321;p22"/>
            <p:cNvSpPr txBox="1"/>
            <p:nvPr/>
          </p:nvSpPr>
          <p:spPr>
            <a:xfrm>
              <a:off x="1921800" y="3950585"/>
              <a:ext cx="109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322" name="Google Shape;322;p22"/>
          <p:cNvSpPr txBox="1"/>
          <p:nvPr/>
        </p:nvSpPr>
        <p:spPr>
          <a:xfrm>
            <a:off x="468000" y="682454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Using equivalent ratios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478672" y="6003800"/>
            <a:ext cx="6475200" cy="3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To make screed, the ratio of sand to cement is for every 1 kg of sand, use 4 kg of cement.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Show this in a ratio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Andeep needs 15kg in total.  How many kg of sand will he need?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What fraction of the screed is sand?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5252069" y="1268053"/>
            <a:ext cx="26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6771094" y="1268053"/>
            <a:ext cx="26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4452477" y="2170173"/>
            <a:ext cx="336900" cy="497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4452477" y="4245411"/>
            <a:ext cx="336900" cy="497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5252069" y="3408853"/>
            <a:ext cx="26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6691069" y="3408853"/>
            <a:ext cx="26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3139169" y="5152366"/>
            <a:ext cx="26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4255819" y="5199803"/>
            <a:ext cx="26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2" name="Google Shape;332;p22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9" name="Google Shape;339;p23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468000" y="959125"/>
            <a:ext cx="64194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spilt ink all over the maths question and his working out, but he correctly shaded in the grid. Work out the maths questions and working out.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3" name="Google Shape;343;p23"/>
          <p:cNvGraphicFramePr/>
          <p:nvPr/>
        </p:nvGraphicFramePr>
        <p:xfrm>
          <a:off x="474750" y="166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{F32F488E-18F0-4D8F-8872-80CE8DE3ECD9}</a:tableStyleId>
              </a:tblPr>
              <a:tblGrid>
                <a:gridCol w="431675"/>
                <a:gridCol w="431675"/>
                <a:gridCol w="431675"/>
                <a:gridCol w="431675"/>
                <a:gridCol w="431675"/>
                <a:gridCol w="431675"/>
              </a:tblGrid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4" name="Google Shape;344;p23"/>
          <p:cNvSpPr txBox="1"/>
          <p:nvPr/>
        </p:nvSpPr>
        <p:spPr>
          <a:xfrm>
            <a:off x="3245050" y="1895763"/>
            <a:ext cx="583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shaded there are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unshaded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fraction that is shaded is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3285000" y="3717663"/>
            <a:ext cx="35505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need to shade in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squares.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3285000" y="3163375"/>
            <a:ext cx="583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36 squares,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times\frac{12}{12}=\frac{24}{36}&quot;&gt;&lt;mfrac&gt;&lt;mn&gt;2&lt;/mn&gt;&lt;mn&gt;3&lt;/mn&gt;&lt;/mfrac&gt;&lt;mo&gt;×&lt;/mo&gt;&lt;mfrac&gt;&lt;mn&gt;12&lt;/mn&gt;&lt;mn&gt;12&lt;/mn&gt;&lt;/mfrac&gt;&lt;mo&gt;=&lt;/mo&gt;&lt;mfrac&gt;&lt;mn&gt;24&lt;/mn&gt;&lt;mn&gt;36&lt;/mn&gt;&lt;/mfrac&gt;&lt;/math&gt;" id="347" name="Google Shape;347;p23" title="two thirds times 12 over 12 equals 24 over 36"/>
          <p:cNvPicPr preferRelativeResize="0"/>
          <p:nvPr/>
        </p:nvPicPr>
        <p:blipFill rotWithShape="1">
          <a:blip r:embed="rId3">
            <a:alphaModFix/>
          </a:blip>
          <a:srcRect b="0" l="59924" r="0" t="33488"/>
          <a:stretch/>
        </p:blipFill>
        <p:spPr>
          <a:xfrm>
            <a:off x="5561000" y="3176800"/>
            <a:ext cx="523800" cy="3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3"/>
          <p:cNvSpPr txBox="1"/>
          <p:nvPr/>
        </p:nvSpPr>
        <p:spPr>
          <a:xfrm>
            <a:off x="468000" y="682454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Using equivalent ratios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3"/>
          <p:cNvSpPr txBox="1"/>
          <p:nvPr/>
        </p:nvSpPr>
        <p:spPr>
          <a:xfrm>
            <a:off x="536250" y="5539550"/>
            <a:ext cx="8237700" cy="14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ratio of the three different panels of fencing are: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Panel length A × 1.5 = panel length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Panel length A × 2 = panel length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total length of the fencing is 36 cm. Work out the length of each panel.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0" name="Google Shape;350;p23"/>
          <p:cNvPicPr preferRelativeResize="0"/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5675452" y="2820913"/>
            <a:ext cx="564151" cy="4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3"/>
          <p:cNvPicPr preferRelativeResize="0"/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4624799" y="2921856"/>
            <a:ext cx="870899" cy="682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3"/>
          <p:cNvPicPr preferRelativeResize="0"/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3955526" y="1769200"/>
            <a:ext cx="412826" cy="4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3"/>
          <p:cNvPicPr preferRelativeResize="0"/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5675450" y="1766713"/>
            <a:ext cx="294900" cy="4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3"/>
          <p:cNvPicPr preferRelativeResize="0"/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5406202" y="2153175"/>
            <a:ext cx="564151" cy="4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3"/>
          <p:cNvPicPr preferRelativeResize="0"/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4624801" y="3604425"/>
            <a:ext cx="412826" cy="4421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6" name="Google Shape;356;p23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