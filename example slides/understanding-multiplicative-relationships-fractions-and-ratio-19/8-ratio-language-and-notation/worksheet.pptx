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E4D1BC-0B56-4A91-B666-58A9946B61B1}">
  <a:tblStyle styleId="{4FE4D1BC-0B56-4A91-B666-58A9946B61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ed90b63d34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ed90b63d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ed90b63d34_0_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ed90b63d3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0"/>
          <p:cNvGraphicFramePr/>
          <p:nvPr/>
        </p:nvGraphicFramePr>
        <p:xfrm>
          <a:off x="496300" y="214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2150100"/>
                <a:gridCol w="2400350"/>
                <a:gridCol w="2006700"/>
              </a:tblGrid>
              <a:tr h="4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model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notation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words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6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: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: 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of books to hearts is 3 to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: Circles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 : 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: A : 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0"/>
          <p:cNvSpPr/>
          <p:nvPr/>
        </p:nvSpPr>
        <p:spPr>
          <a:xfrm>
            <a:off x="2889549" y="8397724"/>
            <a:ext cx="933900" cy="90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67200"/>
            <a:ext cx="679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table. The first has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628086" y="2722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76475"/>
                <a:gridCol w="476475"/>
                <a:gridCol w="476475"/>
                <a:gridCol w="476475"/>
              </a:tblGrid>
              <a:tr h="42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/>
          <p:nvPr/>
        </p:nvGraphicFramePr>
        <p:xfrm>
          <a:off x="739099" y="3355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561300"/>
                <a:gridCol w="561300"/>
                <a:gridCol w="561300"/>
              </a:tblGrid>
              <a:tr h="39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⬛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⚫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⚫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/>
          <p:nvPr/>
        </p:nvGraphicFramePr>
        <p:xfrm>
          <a:off x="531974" y="4026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12975"/>
                <a:gridCol w="412975"/>
                <a:gridCol w="412975"/>
                <a:gridCol w="412975"/>
                <a:gridCol w="412975"/>
              </a:tblGrid>
              <a:tr h="1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/>
          <p:nvPr/>
        </p:nvGraphicFramePr>
        <p:xfrm>
          <a:off x="493292" y="47167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28825"/>
                <a:gridCol w="428825"/>
                <a:gridCol w="428825"/>
                <a:gridCol w="428825"/>
                <a:gridCol w="428825"/>
              </a:tblGrid>
              <a:tr h="393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>
            <a:off x="468000" y="5608675"/>
            <a:ext cx="823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these represent the same ratio.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521854" y="7861819"/>
            <a:ext cx="2992464" cy="1370608"/>
            <a:chOff x="1050057" y="1398000"/>
            <a:chExt cx="3932795" cy="1791644"/>
          </a:xfrm>
        </p:grpSpPr>
        <p:grpSp>
          <p:nvGrpSpPr>
            <p:cNvPr id="170" name="Google Shape;170;p20"/>
            <p:cNvGrpSpPr/>
            <p:nvPr/>
          </p:nvGrpSpPr>
          <p:grpSpPr>
            <a:xfrm>
              <a:off x="1291597" y="1398000"/>
              <a:ext cx="3691255" cy="1791644"/>
              <a:chOff x="352483" y="2160000"/>
              <a:chExt cx="3691255" cy="1791644"/>
            </a:xfrm>
          </p:grpSpPr>
          <p:grpSp>
            <p:nvGrpSpPr>
              <p:cNvPr id="171" name="Google Shape;171;p20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72" name="Google Shape;172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4" name="Google Shape;174;p20"/>
              <p:cNvSpPr txBox="1"/>
              <p:nvPr/>
            </p:nvSpPr>
            <p:spPr>
              <a:xfrm>
                <a:off x="2641838" y="2564356"/>
                <a:ext cx="14019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£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5" name="Google Shape;175;p20"/>
              <p:cNvSpPr txBox="1"/>
              <p:nvPr/>
            </p:nvSpPr>
            <p:spPr>
              <a:xfrm>
                <a:off x="2619190" y="3151779"/>
                <a:ext cx="1348500" cy="26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>
                    <a:latin typeface="Lexend"/>
                    <a:ea typeface="Lexend"/>
                    <a:cs typeface="Lexend"/>
                    <a:sym typeface="Lexend"/>
                  </a:rPr>
                  <a:t>$</a:t>
                </a:r>
                <a:endParaRPr sz="13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6" name="Google Shape;176;p20"/>
              <p:cNvSpPr txBox="1"/>
              <p:nvPr/>
            </p:nvSpPr>
            <p:spPr>
              <a:xfrm>
                <a:off x="798874" y="2160000"/>
                <a:ext cx="199800" cy="2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" name="Google Shape;177;p20"/>
              <p:cNvSpPr txBox="1"/>
              <p:nvPr/>
            </p:nvSpPr>
            <p:spPr>
              <a:xfrm>
                <a:off x="1404662" y="3508844"/>
                <a:ext cx="492900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" name="Google Shape;178;p20"/>
              <p:cNvSpPr txBox="1"/>
              <p:nvPr/>
            </p:nvSpPr>
            <p:spPr>
              <a:xfrm>
                <a:off x="772411" y="3508844"/>
                <a:ext cx="492900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" name="Google Shape;179;p20"/>
              <p:cNvSpPr txBox="1"/>
              <p:nvPr/>
            </p:nvSpPr>
            <p:spPr>
              <a:xfrm>
                <a:off x="1372170" y="2160000"/>
                <a:ext cx="253500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" name="Google Shape;180;p20"/>
              <p:cNvSpPr txBox="1"/>
              <p:nvPr/>
            </p:nvSpPr>
            <p:spPr>
              <a:xfrm>
                <a:off x="1948172" y="2160000"/>
                <a:ext cx="253500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" name="Google Shape;181;p20"/>
              <p:cNvSpPr txBox="1"/>
              <p:nvPr/>
            </p:nvSpPr>
            <p:spPr>
              <a:xfrm>
                <a:off x="1951646" y="3508844"/>
                <a:ext cx="492900" cy="4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82" name="Google Shape;182;p20"/>
              <p:cNvCxnSpPr/>
              <p:nvPr/>
            </p:nvCxnSpPr>
            <p:spPr>
              <a:xfrm>
                <a:off x="397280" y="2355125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83" name="Google Shape;183;p20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4" name="Google Shape;184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5" name="Google Shape;185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6" name="Google Shape;186;p20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87" name="Google Shape;187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8" name="Google Shape;188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9" name="Google Shape;189;p20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190" name="Google Shape;190;p2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1" name="Google Shape;191;p2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92" name="Google Shape;192;p20"/>
              <p:cNvCxnSpPr/>
              <p:nvPr/>
            </p:nvCxnSpPr>
            <p:spPr>
              <a:xfrm>
                <a:off x="404738" y="2776614"/>
                <a:ext cx="2237100" cy="8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3" name="Google Shape;193;p20"/>
              <p:cNvCxnSpPr/>
              <p:nvPr/>
            </p:nvCxnSpPr>
            <p:spPr>
              <a:xfrm>
                <a:off x="352483" y="3303431"/>
                <a:ext cx="2273400" cy="13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4" name="Google Shape;194;p20"/>
            <p:cNvSpPr/>
            <p:nvPr/>
          </p:nvSpPr>
          <p:spPr>
            <a:xfrm>
              <a:off x="1050057" y="1767126"/>
              <a:ext cx="253500" cy="100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1757865" y="2051407"/>
              <a:ext cx="1288800" cy="46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96" name="Google Shape;196;p20"/>
          <p:cNvGraphicFramePr/>
          <p:nvPr/>
        </p:nvGraphicFramePr>
        <p:xfrm>
          <a:off x="1379659" y="6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942650"/>
                <a:gridCol w="942650"/>
              </a:tblGrid>
              <a:tr h="39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9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7" name="Google Shape;1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300" y="6472550"/>
            <a:ext cx="2824499" cy="3318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20"/>
          <p:cNvGraphicFramePr/>
          <p:nvPr/>
        </p:nvGraphicFramePr>
        <p:xfrm>
          <a:off x="953510" y="59949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593475"/>
                <a:gridCol w="593475"/>
                <a:gridCol w="593475"/>
                <a:gridCol w="593475"/>
                <a:gridCol w="593475"/>
              </a:tblGrid>
              <a:tr h="35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20"/>
          <p:cNvSpPr txBox="1"/>
          <p:nvPr/>
        </p:nvSpPr>
        <p:spPr>
          <a:xfrm>
            <a:off x="3048300" y="8446925"/>
            <a:ext cx="9339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 : $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715067" y="9474636"/>
            <a:ext cx="33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920875" y="6380625"/>
            <a:ext cx="33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68000" y="147147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Ratio language and notation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039025" y="607754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634269" y="607754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229513" y="607754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824756" y="607754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420000" y="607754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598438" y="7117219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003146" y="8929597"/>
            <a:ext cx="247500" cy="2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360171" y="8929597"/>
            <a:ext cx="247500" cy="2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347413" y="782463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815725" y="7824644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347413" y="8883569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815725" y="8883582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879113" y="8883569"/>
            <a:ext cx="404700" cy="35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22" name="Google Shape;222;p21"/>
          <p:cNvGraphicFramePr/>
          <p:nvPr/>
        </p:nvGraphicFramePr>
        <p:xfrm>
          <a:off x="5043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09200"/>
                <a:gridCol w="409200"/>
              </a:tblGrid>
              <a:tr h="23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3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21"/>
          <p:cNvSpPr txBox="1"/>
          <p:nvPr/>
        </p:nvSpPr>
        <p:spPr>
          <a:xfrm>
            <a:off x="512150" y="1136575"/>
            <a:ext cx="82377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the ratio table with the ratio notation.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184030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514975"/>
                <a:gridCol w="514975"/>
              </a:tblGrid>
              <a:tr h="29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21"/>
          <p:cNvGraphicFramePr/>
          <p:nvPr/>
        </p:nvGraphicFramePr>
        <p:xfrm>
          <a:off x="48477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25325"/>
                <a:gridCol w="425325"/>
              </a:tblGrid>
              <a:tr h="30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8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6" name="Google Shape;226;p21"/>
          <p:cNvGraphicFramePr/>
          <p:nvPr/>
        </p:nvGraphicFramePr>
        <p:xfrm>
          <a:off x="61431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46725"/>
                <a:gridCol w="446725"/>
              </a:tblGrid>
              <a:tr h="30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21"/>
          <p:cNvSpPr txBox="1"/>
          <p:nvPr/>
        </p:nvSpPr>
        <p:spPr>
          <a:xfrm>
            <a:off x="474750" y="333690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: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847750" y="333690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363800" y="333690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: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808225" y="3336750"/>
            <a:ext cx="1094100" cy="58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: 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143150" y="3336900"/>
            <a:ext cx="850500" cy="58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: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: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1"/>
          <p:cNvGraphicFramePr/>
          <p:nvPr/>
        </p:nvGraphicFramePr>
        <p:xfrm>
          <a:off x="1840309" y="2352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514975"/>
                <a:gridCol w="514975"/>
              </a:tblGrid>
              <a:tr h="45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Google Shape;233;p21"/>
          <p:cNvGraphicFramePr/>
          <p:nvPr/>
        </p:nvGraphicFramePr>
        <p:xfrm>
          <a:off x="4847759" y="2352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25325"/>
                <a:gridCol w="425325"/>
              </a:tblGrid>
              <a:tr h="439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Google Shape;234;p21"/>
          <p:cNvGraphicFramePr/>
          <p:nvPr/>
        </p:nvGraphicFramePr>
        <p:xfrm>
          <a:off x="6143159" y="2340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46725"/>
                <a:gridCol w="4467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Google Shape;235;p21"/>
          <p:cNvGraphicFramePr/>
          <p:nvPr/>
        </p:nvGraphicFramePr>
        <p:xfrm>
          <a:off x="3552359" y="162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09200"/>
                <a:gridCol w="409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6" name="Google Shape;236;p21"/>
          <p:cNvGraphicFramePr/>
          <p:nvPr/>
        </p:nvGraphicFramePr>
        <p:xfrm>
          <a:off x="3552359" y="239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{4FE4D1BC-0B56-4A91-B666-58A9946B61B1}</a:tableStyleId>
              </a:tblPr>
              <a:tblGrid>
                <a:gridCol w="409200"/>
                <a:gridCol w="409200"/>
              </a:tblGrid>
              <a:tr h="337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21"/>
          <p:cNvSpPr txBox="1"/>
          <p:nvPr/>
        </p:nvSpPr>
        <p:spPr>
          <a:xfrm>
            <a:off x="468000" y="87662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Ratio language and notation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4419825"/>
            <a:ext cx="57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Work out the equivalent ratios.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2591064" y="5269138"/>
            <a:ext cx="1744632" cy="953748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 rot="10800000">
            <a:off x="1637798" y="5339178"/>
            <a:ext cx="861000" cy="25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1"/>
          <p:cNvCxnSpPr/>
          <p:nvPr/>
        </p:nvCxnSpPr>
        <p:spPr>
          <a:xfrm flipH="1">
            <a:off x="1885948" y="6058617"/>
            <a:ext cx="899700" cy="34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1"/>
          <p:cNvCxnSpPr/>
          <p:nvPr/>
        </p:nvCxnSpPr>
        <p:spPr>
          <a:xfrm rot="10800000">
            <a:off x="3555891" y="6217599"/>
            <a:ext cx="295800" cy="358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1"/>
          <p:cNvCxnSpPr/>
          <p:nvPr/>
        </p:nvCxnSpPr>
        <p:spPr>
          <a:xfrm rot="10800000">
            <a:off x="4111355" y="5965002"/>
            <a:ext cx="908700" cy="23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1"/>
          <p:cNvCxnSpPr/>
          <p:nvPr/>
        </p:nvCxnSpPr>
        <p:spPr>
          <a:xfrm flipH="1">
            <a:off x="4245821" y="5074828"/>
            <a:ext cx="827100" cy="32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1"/>
          <p:cNvCxnSpPr/>
          <p:nvPr/>
        </p:nvCxnSpPr>
        <p:spPr>
          <a:xfrm>
            <a:off x="3056298" y="4908653"/>
            <a:ext cx="231900" cy="37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1"/>
          <p:cNvSpPr txBox="1"/>
          <p:nvPr/>
        </p:nvSpPr>
        <p:spPr>
          <a:xfrm>
            <a:off x="3023558" y="5432201"/>
            <a:ext cx="1087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: 5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467110" y="4626296"/>
            <a:ext cx="108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031770" y="4811792"/>
            <a:ext cx="1166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957246" y="6043023"/>
            <a:ext cx="1166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624892" y="6493762"/>
            <a:ext cx="108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1129399" y="6223189"/>
            <a:ext cx="128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045494" y="5080650"/>
            <a:ext cx="108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74750" y="6946625"/>
            <a:ext cx="4793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Work out the equivalent ratios.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2846709" y="7914018"/>
            <a:ext cx="1749924" cy="989064"/>
          </a:xfrm>
          <a:prstGeom prst="cloud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 rot="10800000">
            <a:off x="2269616" y="7994954"/>
            <a:ext cx="723000" cy="215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1"/>
          <p:cNvCxnSpPr>
            <a:endCxn id="257" idx="3"/>
          </p:cNvCxnSpPr>
          <p:nvPr/>
        </p:nvCxnSpPr>
        <p:spPr>
          <a:xfrm flipH="1">
            <a:off x="1885950" y="8680813"/>
            <a:ext cx="1064700" cy="32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>
            <a:stCxn id="259" idx="1"/>
          </p:cNvCxnSpPr>
          <p:nvPr/>
        </p:nvCxnSpPr>
        <p:spPr>
          <a:xfrm rot="10800000">
            <a:off x="3790589" y="8903390"/>
            <a:ext cx="385800" cy="438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1"/>
          <p:cNvCxnSpPr/>
          <p:nvPr/>
        </p:nvCxnSpPr>
        <p:spPr>
          <a:xfrm rot="10800000">
            <a:off x="4348225" y="8601975"/>
            <a:ext cx="726300" cy="20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/>
          <p:nvPr/>
        </p:nvCxnSpPr>
        <p:spPr>
          <a:xfrm flipH="1">
            <a:off x="4428700" y="7773182"/>
            <a:ext cx="694200" cy="27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>
            <a:stCxn id="263" idx="2"/>
          </p:cNvCxnSpPr>
          <p:nvPr/>
        </p:nvCxnSpPr>
        <p:spPr>
          <a:xfrm>
            <a:off x="3590856" y="7522050"/>
            <a:ext cx="281100" cy="42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1"/>
          <p:cNvSpPr txBox="1"/>
          <p:nvPr/>
        </p:nvSpPr>
        <p:spPr>
          <a:xfrm>
            <a:off x="3108460" y="8120563"/>
            <a:ext cx="1226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3 : 1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2887206" y="7204950"/>
            <a:ext cx="14073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5043556" y="7497981"/>
            <a:ext cx="12264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117799" y="8613225"/>
            <a:ext cx="14385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176389" y="9182840"/>
            <a:ext cx="11988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521263" y="8941307"/>
            <a:ext cx="10779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327995" y="7821206"/>
            <a:ext cx="11391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: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:\ 1\ :\ \frac{1}{3}&quot;&gt;&lt;mfrac&gt;&lt;mn&gt;2&lt;/mn&gt;&lt;mn&gt;3&lt;/mn&gt;&lt;/mfrac&gt;&lt;mo&gt;:&lt;/mo&gt;&lt;mtext&gt;&lt;/mtext&gt;&lt;mn&gt;1&lt;/mn&gt;&lt;mtext&gt;&lt;/mtext&gt;&lt;mo&gt;:&lt;/mo&gt;&lt;mtext&gt;&lt;/mtext&gt;&lt;mfrac&gt;&lt;mn&gt;1&lt;/mn&gt;&lt;mn&gt;3&lt;/mn&gt;&lt;/mfrac&gt;&lt;/math&gt;" id="257" name="Google Shape;257;p21" title="two thirds colon 1 colon one third"/>
          <p:cNvPicPr preferRelativeResize="0"/>
          <p:nvPr/>
        </p:nvPicPr>
        <p:blipFill rotWithShape="1">
          <a:blip r:embed="rId3">
            <a:alphaModFix/>
          </a:blip>
          <a:srcRect b="0" l="15667" r="13536" t="0"/>
          <a:stretch/>
        </p:blipFill>
        <p:spPr>
          <a:xfrm>
            <a:off x="1394475" y="8817425"/>
            <a:ext cx="491475" cy="3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/>
          <p:nvPr/>
        </p:nvSpPr>
        <p:spPr>
          <a:xfrm>
            <a:off x="2562155" y="4718385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080930" y="4909472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080930" y="6132797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947855" y="6564997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1207480" y="6292497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373980" y="5162460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188105" y="7245897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536930" y="7245897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108794" y="7581268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466494" y="7581268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5157119" y="8696518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540794" y="8696518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595419" y="9257531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957244" y="9257531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781605" y="8889022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1162430" y="8889022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1678555" y="7893572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1997524" y="7893583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language and notation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468000" y="720002"/>
            <a:ext cx="53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Comparing different representations of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466825" y="1106100"/>
            <a:ext cx="6625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complete the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2"/>
          <p:cNvCxnSpPr/>
          <p:nvPr/>
        </p:nvCxnSpPr>
        <p:spPr>
          <a:xfrm>
            <a:off x="2647964" y="1577217"/>
            <a:ext cx="0" cy="2508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2"/>
          <p:cNvCxnSpPr/>
          <p:nvPr/>
        </p:nvCxnSpPr>
        <p:spPr>
          <a:xfrm>
            <a:off x="5147988" y="1516286"/>
            <a:ext cx="0" cy="2508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2"/>
          <p:cNvSpPr txBox="1"/>
          <p:nvPr/>
        </p:nvSpPr>
        <p:spPr>
          <a:xfrm>
            <a:off x="474750" y="1585153"/>
            <a:ext cx="21732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Cheese : Tomato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: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: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total of 35 g means there is 15 g of cheese and 20 g of tomato.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5148000" y="1585150"/>
            <a:ext cx="19440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Star : Tick : Stars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: 3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total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s. 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stars,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ticks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2678430" y="1585153"/>
            <a:ext cx="2406900" cy="23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Yoghurt : Strawberry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: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total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ml means there is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ml of yoghurt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ml of strawberries.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0" name="Google Shape;300;p22"/>
          <p:cNvGrpSpPr/>
          <p:nvPr/>
        </p:nvGrpSpPr>
        <p:grpSpPr>
          <a:xfrm>
            <a:off x="1794175" y="2022235"/>
            <a:ext cx="538787" cy="699484"/>
            <a:chOff x="7835180" y="3962175"/>
            <a:chExt cx="673820" cy="739100"/>
          </a:xfrm>
        </p:grpSpPr>
        <p:pic>
          <p:nvPicPr>
            <p:cNvPr id="301" name="Google Shape;301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78867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22"/>
            <p:cNvSpPr txBox="1"/>
            <p:nvPr/>
          </p:nvSpPr>
          <p:spPr>
            <a:xfrm>
              <a:off x="7835180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3" name="Google Shape;303;p22"/>
          <p:cNvGrpSpPr/>
          <p:nvPr/>
        </p:nvGrpSpPr>
        <p:grpSpPr>
          <a:xfrm>
            <a:off x="782994" y="2035302"/>
            <a:ext cx="531094" cy="699484"/>
            <a:chOff x="4041150" y="3949475"/>
            <a:chExt cx="664200" cy="739100"/>
          </a:xfrm>
        </p:grpSpPr>
        <p:pic>
          <p:nvPicPr>
            <p:cNvPr id="304" name="Google Shape;304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6" name="Google Shape;306;p22"/>
          <p:cNvGrpSpPr/>
          <p:nvPr/>
        </p:nvGrpSpPr>
        <p:grpSpPr>
          <a:xfrm>
            <a:off x="4274655" y="2022124"/>
            <a:ext cx="548866" cy="809462"/>
            <a:chOff x="8003549" y="3962175"/>
            <a:chExt cx="686426" cy="739100"/>
          </a:xfrm>
        </p:grpSpPr>
        <p:pic>
          <p:nvPicPr>
            <p:cNvPr id="307" name="Google Shape;307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78867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9" name="Google Shape;309;p22"/>
          <p:cNvGrpSpPr/>
          <p:nvPr/>
        </p:nvGrpSpPr>
        <p:grpSpPr>
          <a:xfrm>
            <a:off x="3128846" y="2037246"/>
            <a:ext cx="531094" cy="809462"/>
            <a:chOff x="4041150" y="3949475"/>
            <a:chExt cx="664200" cy="739100"/>
          </a:xfrm>
        </p:grpSpPr>
        <p:pic>
          <p:nvPicPr>
            <p:cNvPr id="310" name="Google Shape;310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6478335" y="2022124"/>
            <a:ext cx="548866" cy="809462"/>
            <a:chOff x="8003549" y="3962175"/>
            <a:chExt cx="686426" cy="739100"/>
          </a:xfrm>
        </p:grpSpPr>
        <p:pic>
          <p:nvPicPr>
            <p:cNvPr id="313" name="Google Shape;313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rot="5400000">
              <a:off x="7886725" y="4078999"/>
              <a:ext cx="739100" cy="505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2"/>
            <p:cNvSpPr txBox="1"/>
            <p:nvPr/>
          </p:nvSpPr>
          <p:spPr>
            <a:xfrm>
              <a:off x="8025775" y="4072137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5" name="Google Shape;315;p22"/>
          <p:cNvGrpSpPr/>
          <p:nvPr/>
        </p:nvGrpSpPr>
        <p:grpSpPr>
          <a:xfrm>
            <a:off x="5332526" y="2037246"/>
            <a:ext cx="531094" cy="809462"/>
            <a:chOff x="4041150" y="3949475"/>
            <a:chExt cx="664200" cy="739100"/>
          </a:xfrm>
        </p:grpSpPr>
        <p:pic>
          <p:nvPicPr>
            <p:cNvPr id="316" name="Google Shape;316;p22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-5400000">
              <a:off x="3924323" y="4076450"/>
              <a:ext cx="739100" cy="485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22"/>
            <p:cNvSpPr txBox="1"/>
            <p:nvPr/>
          </p:nvSpPr>
          <p:spPr>
            <a:xfrm>
              <a:off x="4041150" y="4060593"/>
              <a:ext cx="6642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8" name="Google Shape;318;p22"/>
          <p:cNvSpPr txBox="1"/>
          <p:nvPr/>
        </p:nvSpPr>
        <p:spPr>
          <a:xfrm>
            <a:off x="474750" y="5108975"/>
            <a:ext cx="43605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a bag, there are only stars and circles.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ratio of stars to circles is 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there are 20 stars, how many circles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there 65 shapes in total, how many stars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9" name="Google Shape;3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099" y="5013300"/>
            <a:ext cx="1339558" cy="144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/>
          <p:nvPr/>
        </p:nvSpPr>
        <p:spPr>
          <a:xfrm>
            <a:off x="1012705" y="2254385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2018680" y="2254385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3624530" y="2596385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3949592" y="2596376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6300955" y="1915826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697205" y="2596376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6022752" y="2596376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3472005" y="3229351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257705" y="3464576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2684855" y="3464576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6069055" y="3229339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6159005" y="3464564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6022755" y="3699801"/>
            <a:ext cx="231900" cy="23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9" name="Google Shape;339;p23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Ratio language and notation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468000" y="720002"/>
            <a:ext cx="530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Comparing different representations of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473100" y="1151125"/>
            <a:ext cx="50082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chocolates in this box either have red or blue wrappers.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red to blue is 2 :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there are 10 red chocolates, how many blue chocolates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4" name="Google Shape;3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951" y="1014026"/>
            <a:ext cx="20193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3"/>
          <p:cNvSpPr txBox="1"/>
          <p:nvPr/>
        </p:nvSpPr>
        <p:spPr>
          <a:xfrm>
            <a:off x="474750" y="4322225"/>
            <a:ext cx="636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there are 10 blue chocolates, how many red chocolates are there?</a:t>
            </a:r>
            <a:endParaRPr sz="1200"/>
          </a:p>
        </p:txBody>
      </p:sp>
      <p:sp>
        <p:nvSpPr>
          <p:cNvPr id="346" name="Google Shape;346;p23"/>
          <p:cNvSpPr txBox="1"/>
          <p:nvPr/>
        </p:nvSpPr>
        <p:spPr>
          <a:xfrm>
            <a:off x="474750" y="6589350"/>
            <a:ext cx="64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Is it possible for there to be 10 chocolates in total? Why or why not?</a:t>
            </a:r>
            <a:endParaRPr sz="700"/>
          </a:p>
        </p:txBody>
      </p:sp>
      <p:sp>
        <p:nvSpPr>
          <p:cNvPr id="347" name="Google Shape;347;p23"/>
          <p:cNvSpPr txBox="1"/>
          <p:nvPr/>
        </p:nvSpPr>
        <p:spPr>
          <a:xfrm>
            <a:off x="474750" y="7977900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There are 10 more red chocolates than blue. How many are there in total?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