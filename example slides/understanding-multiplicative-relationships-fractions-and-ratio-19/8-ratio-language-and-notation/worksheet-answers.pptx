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8FA30B-21B0-4CCB-AE38-CBEA36748E8A}">
  <a:tblStyle styleId="{268FA30B-21B0-4CCB-AE38-CBEA36748E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a92147c12d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a92147c1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a92147c12d_0_17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a92147c12d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2889549" y="8397724"/>
            <a:ext cx="933900" cy="90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language and notation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71479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Ratio language and notation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767200"/>
            <a:ext cx="67977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table. The first has been done for you.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5608675"/>
            <a:ext cx="82377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All these represent the same ratio. Fill in the blanks.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" name="Google Shape;177;p20"/>
          <p:cNvGrpSpPr/>
          <p:nvPr/>
        </p:nvGrpSpPr>
        <p:grpSpPr>
          <a:xfrm>
            <a:off x="521854" y="7861819"/>
            <a:ext cx="2992464" cy="1216613"/>
            <a:chOff x="1050057" y="1398000"/>
            <a:chExt cx="3932795" cy="1590344"/>
          </a:xfrm>
        </p:grpSpPr>
        <p:grpSp>
          <p:nvGrpSpPr>
            <p:cNvPr id="178" name="Google Shape;178;p20"/>
            <p:cNvGrpSpPr/>
            <p:nvPr/>
          </p:nvGrpSpPr>
          <p:grpSpPr>
            <a:xfrm>
              <a:off x="1291597" y="1398000"/>
              <a:ext cx="3691255" cy="1590344"/>
              <a:chOff x="352483" y="2160000"/>
              <a:chExt cx="3691255" cy="1590344"/>
            </a:xfrm>
          </p:grpSpPr>
          <p:grpSp>
            <p:nvGrpSpPr>
              <p:cNvPr id="179" name="Google Shape;179;p20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80" name="Google Shape;180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81" name="Google Shape;181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82" name="Google Shape;182;p20"/>
              <p:cNvSpPr txBox="1"/>
              <p:nvPr/>
            </p:nvSpPr>
            <p:spPr>
              <a:xfrm>
                <a:off x="2641838" y="2564356"/>
                <a:ext cx="1401900" cy="2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£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3" name="Google Shape;183;p20"/>
              <p:cNvSpPr txBox="1"/>
              <p:nvPr/>
            </p:nvSpPr>
            <p:spPr>
              <a:xfrm>
                <a:off x="2619190" y="3151779"/>
                <a:ext cx="1348500" cy="2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$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4" name="Google Shape;184;p20"/>
              <p:cNvSpPr txBox="1"/>
              <p:nvPr/>
            </p:nvSpPr>
            <p:spPr>
              <a:xfrm>
                <a:off x="798874" y="2160000"/>
                <a:ext cx="199800" cy="2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5" name="Google Shape;185;p20"/>
              <p:cNvSpPr txBox="1"/>
              <p:nvPr/>
            </p:nvSpPr>
            <p:spPr>
              <a:xfrm>
                <a:off x="1404662" y="3508844"/>
                <a:ext cx="492900" cy="2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6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186" name="Google Shape;186;p20"/>
              <p:cNvSpPr txBox="1"/>
              <p:nvPr/>
            </p:nvSpPr>
            <p:spPr>
              <a:xfrm>
                <a:off x="772411" y="3508844"/>
                <a:ext cx="492900" cy="2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3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187" name="Google Shape;187;p20"/>
              <p:cNvSpPr txBox="1"/>
              <p:nvPr/>
            </p:nvSpPr>
            <p:spPr>
              <a:xfrm>
                <a:off x="1372170" y="2160000"/>
                <a:ext cx="253500" cy="2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4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188" name="Google Shape;188;p20"/>
              <p:cNvSpPr txBox="1"/>
              <p:nvPr/>
            </p:nvSpPr>
            <p:spPr>
              <a:xfrm>
                <a:off x="1948172" y="2160000"/>
                <a:ext cx="253500" cy="2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6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189" name="Google Shape;189;p20"/>
              <p:cNvSpPr txBox="1"/>
              <p:nvPr/>
            </p:nvSpPr>
            <p:spPr>
              <a:xfrm>
                <a:off x="1951646" y="3508844"/>
                <a:ext cx="492900" cy="2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9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cxnSp>
            <p:nvCxnSpPr>
              <p:cNvPr id="190" name="Google Shape;190;p20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91" name="Google Shape;191;p20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2" name="Google Shape;192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3" name="Google Shape;193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4" name="Google Shape;194;p20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5" name="Google Shape;195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6" name="Google Shape;196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7" name="Google Shape;197;p20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8" name="Google Shape;198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9" name="Google Shape;199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00" name="Google Shape;200;p20"/>
              <p:cNvCxnSpPr>
                <a:endCxn id="182" idx="1"/>
              </p:cNvCxnSpPr>
              <p:nvPr/>
            </p:nvCxnSpPr>
            <p:spPr>
              <a:xfrm>
                <a:off x="404738" y="2677006"/>
                <a:ext cx="2237100" cy="8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01" name="Google Shape;201;p20"/>
              <p:cNvCxnSpPr/>
              <p:nvPr/>
            </p:nvCxnSpPr>
            <p:spPr>
              <a:xfrm>
                <a:off x="352483" y="3303431"/>
                <a:ext cx="2273400" cy="13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02" name="Google Shape;202;p20"/>
            <p:cNvSpPr/>
            <p:nvPr/>
          </p:nvSpPr>
          <p:spPr>
            <a:xfrm>
              <a:off x="1050057" y="1767126"/>
              <a:ext cx="253500" cy="1004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1757865" y="2020198"/>
              <a:ext cx="1288800" cy="491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04" name="Google Shape;204;p20"/>
          <p:cNvGraphicFramePr/>
          <p:nvPr/>
        </p:nvGraphicFramePr>
        <p:xfrm>
          <a:off x="1379659" y="66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{268FA30B-21B0-4CCB-AE38-CBEA36748E8A}</a:tableStyleId>
              </a:tblPr>
              <a:tblGrid>
                <a:gridCol w="942650"/>
                <a:gridCol w="942650"/>
              </a:tblGrid>
              <a:tr h="39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9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05" name="Google Shape;2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7300" y="6472550"/>
            <a:ext cx="2824499" cy="3318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p20"/>
          <p:cNvGraphicFramePr/>
          <p:nvPr/>
        </p:nvGraphicFramePr>
        <p:xfrm>
          <a:off x="953510" y="60711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{268FA30B-21B0-4CCB-AE38-CBEA36748E8A}</a:tableStyleId>
              </a:tblPr>
              <a:tblGrid>
                <a:gridCol w="593475"/>
                <a:gridCol w="593475"/>
                <a:gridCol w="593475"/>
                <a:gridCol w="593475"/>
                <a:gridCol w="593475"/>
              </a:tblGrid>
              <a:tr h="35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£</a:t>
                      </a:r>
                      <a:endParaRPr sz="24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£</a:t>
                      </a:r>
                      <a:endParaRPr sz="19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$</a:t>
                      </a:r>
                      <a:endParaRPr sz="19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$</a:t>
                      </a:r>
                      <a:endParaRPr sz="19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$</a:t>
                      </a:r>
                      <a:endParaRPr sz="19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7" name="Google Shape;207;p20"/>
          <p:cNvSpPr txBox="1"/>
          <p:nvPr/>
        </p:nvSpPr>
        <p:spPr>
          <a:xfrm>
            <a:off x="3048300" y="8446925"/>
            <a:ext cx="9339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 : $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: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715067" y="9474636"/>
            <a:ext cx="3384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3920875" y="6380625"/>
            <a:ext cx="3384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$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0" name="Google Shape;210;p20"/>
          <p:cNvGraphicFramePr/>
          <p:nvPr/>
        </p:nvGraphicFramePr>
        <p:xfrm>
          <a:off x="496300" y="2140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{268FA30B-21B0-4CCB-AE38-CBEA36748E8A}</a:tableStyleId>
              </a:tblPr>
              <a:tblGrid>
                <a:gridCol w="2150100"/>
                <a:gridCol w="2400350"/>
                <a:gridCol w="2006700"/>
              </a:tblGrid>
              <a:tr h="49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Bar model</a:t>
                      </a:r>
                      <a:endParaRPr b="1"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notation</a:t>
                      </a:r>
                      <a:endParaRPr b="1"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 words</a:t>
                      </a:r>
                      <a:endParaRPr b="1"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6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Books : Hearts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: 1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of books to hearts is 3 to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 : Circles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 : 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Ratio of squares to circles is 1 to 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T-shirts : Shorts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 : 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Ratio of t-shirts to shorts is 2 to 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Carrots : Apples : Oranges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 : 2 : 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Ratio of carrots to apples to oranges is 1 to 2 to 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1" name="Google Shape;211;p20"/>
          <p:cNvGraphicFramePr/>
          <p:nvPr/>
        </p:nvGraphicFramePr>
        <p:xfrm>
          <a:off x="628086" y="27228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{268FA30B-21B0-4CCB-AE38-CBEA36748E8A}</a:tableStyleId>
              </a:tblPr>
              <a:tblGrid>
                <a:gridCol w="476475"/>
                <a:gridCol w="476475"/>
                <a:gridCol w="476475"/>
                <a:gridCol w="476475"/>
              </a:tblGrid>
              <a:tr h="42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2" name="Google Shape;212;p20"/>
          <p:cNvGraphicFramePr/>
          <p:nvPr/>
        </p:nvGraphicFramePr>
        <p:xfrm>
          <a:off x="739099" y="33552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{268FA30B-21B0-4CCB-AE38-CBEA36748E8A}</a:tableStyleId>
              </a:tblPr>
              <a:tblGrid>
                <a:gridCol w="561300"/>
                <a:gridCol w="561300"/>
                <a:gridCol w="561300"/>
              </a:tblGrid>
              <a:tr h="393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⬛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⚫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⚫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3" name="Google Shape;213;p20"/>
          <p:cNvGraphicFramePr/>
          <p:nvPr/>
        </p:nvGraphicFramePr>
        <p:xfrm>
          <a:off x="531974" y="40260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{268FA30B-21B0-4CCB-AE38-CBEA36748E8A}</a:tableStyleId>
              </a:tblPr>
              <a:tblGrid>
                <a:gridCol w="412975"/>
                <a:gridCol w="412975"/>
                <a:gridCol w="412975"/>
                <a:gridCol w="412975"/>
                <a:gridCol w="412975"/>
              </a:tblGrid>
              <a:tr h="13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4" name="Google Shape;214;p20"/>
          <p:cNvGraphicFramePr/>
          <p:nvPr/>
        </p:nvGraphicFramePr>
        <p:xfrm>
          <a:off x="493292" y="47167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{268FA30B-21B0-4CCB-AE38-CBEA36748E8A}</a:tableStyleId>
              </a:tblPr>
              <a:tblGrid>
                <a:gridCol w="428825"/>
                <a:gridCol w="428825"/>
                <a:gridCol w="428825"/>
                <a:gridCol w="428825"/>
                <a:gridCol w="428825"/>
              </a:tblGrid>
              <a:tr h="393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Google Shape;219;p21"/>
          <p:cNvCxnSpPr>
            <a:endCxn id="220" idx="0"/>
          </p:cNvCxnSpPr>
          <p:nvPr/>
        </p:nvCxnSpPr>
        <p:spPr>
          <a:xfrm>
            <a:off x="3966200" y="2777700"/>
            <a:ext cx="1428600" cy="559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1"/>
          <p:cNvCxnSpPr>
            <a:stCxn id="222" idx="0"/>
          </p:cNvCxnSpPr>
          <p:nvPr/>
        </p:nvCxnSpPr>
        <p:spPr>
          <a:xfrm flipH="1" rot="10800000">
            <a:off x="3910850" y="2795700"/>
            <a:ext cx="1362300" cy="54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1"/>
          <p:cNvCxnSpPr>
            <a:endCxn id="224" idx="0"/>
          </p:cNvCxnSpPr>
          <p:nvPr/>
        </p:nvCxnSpPr>
        <p:spPr>
          <a:xfrm>
            <a:off x="813575" y="2423250"/>
            <a:ext cx="1541700" cy="913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21"/>
          <p:cNvCxnSpPr>
            <a:endCxn id="226" idx="0"/>
          </p:cNvCxnSpPr>
          <p:nvPr/>
        </p:nvCxnSpPr>
        <p:spPr>
          <a:xfrm flipH="1">
            <a:off x="1021800" y="2802900"/>
            <a:ext cx="1187700" cy="534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language and notation</a:t>
            </a:r>
            <a:endParaRPr/>
          </a:p>
        </p:txBody>
      </p:sp>
      <p:cxnSp>
        <p:nvCxnSpPr>
          <p:cNvPr id="228" name="Google Shape;228;p21"/>
          <p:cNvCxnSpPr/>
          <p:nvPr/>
        </p:nvCxnSpPr>
        <p:spPr>
          <a:xfrm>
            <a:off x="474757" y="994250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29" name="Google Shape;229;p21"/>
          <p:cNvGraphicFramePr/>
          <p:nvPr/>
        </p:nvGraphicFramePr>
        <p:xfrm>
          <a:off x="504359" y="1620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{268FA30B-21B0-4CCB-AE38-CBEA36748E8A}</a:tableStyleId>
              </a:tblPr>
              <a:tblGrid>
                <a:gridCol w="409200"/>
                <a:gridCol w="409200"/>
              </a:tblGrid>
              <a:tr h="23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3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0" name="Google Shape;230;p21"/>
          <p:cNvSpPr txBox="1"/>
          <p:nvPr/>
        </p:nvSpPr>
        <p:spPr>
          <a:xfrm>
            <a:off x="512150" y="1136575"/>
            <a:ext cx="82377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Match the ratio table with the ratio notation.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1" name="Google Shape;231;p21"/>
          <p:cNvGraphicFramePr/>
          <p:nvPr/>
        </p:nvGraphicFramePr>
        <p:xfrm>
          <a:off x="1840309" y="1620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{268FA30B-21B0-4CCB-AE38-CBEA36748E8A}</a:tableStyleId>
              </a:tblPr>
              <a:tblGrid>
                <a:gridCol w="514975"/>
                <a:gridCol w="514975"/>
              </a:tblGrid>
              <a:tr h="29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9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2" name="Google Shape;232;p21"/>
          <p:cNvGraphicFramePr/>
          <p:nvPr/>
        </p:nvGraphicFramePr>
        <p:xfrm>
          <a:off x="4847759" y="1620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{268FA30B-21B0-4CCB-AE38-CBEA36748E8A}</a:tableStyleId>
              </a:tblPr>
              <a:tblGrid>
                <a:gridCol w="425325"/>
                <a:gridCol w="425325"/>
              </a:tblGrid>
              <a:tr h="308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08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3" name="Google Shape;233;p21"/>
          <p:cNvGraphicFramePr/>
          <p:nvPr/>
        </p:nvGraphicFramePr>
        <p:xfrm>
          <a:off x="6143159" y="1620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{268FA30B-21B0-4CCB-AE38-CBEA36748E8A}</a:tableStyleId>
              </a:tblPr>
              <a:tblGrid>
                <a:gridCol w="446725"/>
                <a:gridCol w="446725"/>
              </a:tblGrid>
              <a:tr h="30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0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21"/>
          <p:cNvSpPr txBox="1"/>
          <p:nvPr/>
        </p:nvSpPr>
        <p:spPr>
          <a:xfrm>
            <a:off x="474750" y="3336900"/>
            <a:ext cx="1094100" cy="581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: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: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847750" y="3336900"/>
            <a:ext cx="1094100" cy="581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: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: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3363800" y="3336900"/>
            <a:ext cx="1094100" cy="581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: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: 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1808225" y="3336750"/>
            <a:ext cx="1094100" cy="581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: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 : 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143150" y="3336900"/>
            <a:ext cx="850500" cy="581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: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 :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3730800" y="3918142"/>
            <a:ext cx="8184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2197200" y="3918142"/>
            <a:ext cx="8184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3424476" y="4268225"/>
            <a:ext cx="946200" cy="337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: 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1908576" y="4268225"/>
            <a:ext cx="893400" cy="337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: 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6273600" y="3918142"/>
            <a:ext cx="8184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6115250" y="4268225"/>
            <a:ext cx="850500" cy="337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: 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41" name="Google Shape;241;p21"/>
          <p:cNvGraphicFramePr/>
          <p:nvPr/>
        </p:nvGraphicFramePr>
        <p:xfrm>
          <a:off x="1840309" y="23452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{268FA30B-21B0-4CCB-AE38-CBEA36748E8A}</a:tableStyleId>
              </a:tblPr>
              <a:tblGrid>
                <a:gridCol w="514975"/>
                <a:gridCol w="514975"/>
              </a:tblGrid>
              <a:tr h="439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2" name="Google Shape;242;p21"/>
          <p:cNvGraphicFramePr/>
          <p:nvPr/>
        </p:nvGraphicFramePr>
        <p:xfrm>
          <a:off x="4847759" y="23452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{268FA30B-21B0-4CCB-AE38-CBEA36748E8A}</a:tableStyleId>
              </a:tblPr>
              <a:tblGrid>
                <a:gridCol w="425325"/>
                <a:gridCol w="425325"/>
              </a:tblGrid>
              <a:tr h="439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3" name="Google Shape;243;p21"/>
          <p:cNvGraphicFramePr/>
          <p:nvPr/>
        </p:nvGraphicFramePr>
        <p:xfrm>
          <a:off x="6143159" y="23274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{268FA30B-21B0-4CCB-AE38-CBEA36748E8A}</a:tableStyleId>
              </a:tblPr>
              <a:tblGrid>
                <a:gridCol w="446725"/>
                <a:gridCol w="4467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4" name="Google Shape;244;p21"/>
          <p:cNvGraphicFramePr/>
          <p:nvPr/>
        </p:nvGraphicFramePr>
        <p:xfrm>
          <a:off x="3552359" y="1620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{268FA30B-21B0-4CCB-AE38-CBEA36748E8A}</a:tableStyleId>
              </a:tblPr>
              <a:tblGrid>
                <a:gridCol w="409200"/>
                <a:gridCol w="4092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5" name="Google Shape;245;p21"/>
          <p:cNvGraphicFramePr/>
          <p:nvPr/>
        </p:nvGraphicFramePr>
        <p:xfrm>
          <a:off x="3552884" y="240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{268FA30B-21B0-4CCB-AE38-CBEA36748E8A}</a:tableStyleId>
              </a:tblPr>
              <a:tblGrid>
                <a:gridCol w="409200"/>
                <a:gridCol w="409200"/>
              </a:tblGrid>
              <a:tr h="337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46" name="Google Shape;246;p21"/>
          <p:cNvCxnSpPr>
            <a:stCxn id="234" idx="0"/>
          </p:cNvCxnSpPr>
          <p:nvPr/>
        </p:nvCxnSpPr>
        <p:spPr>
          <a:xfrm flipH="1" rot="10800000">
            <a:off x="6568400" y="2729700"/>
            <a:ext cx="41100" cy="607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21"/>
          <p:cNvSpPr txBox="1"/>
          <p:nvPr/>
        </p:nvSpPr>
        <p:spPr>
          <a:xfrm>
            <a:off x="468000" y="876629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Ratio language and notation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504350" y="4953234"/>
            <a:ext cx="577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Work out the equivalent ratios.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2667264" y="5802538"/>
            <a:ext cx="1744632" cy="953748"/>
          </a:xfrm>
          <a:prstGeom prst="cloud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0" name="Google Shape;250;p21"/>
          <p:cNvCxnSpPr/>
          <p:nvPr/>
        </p:nvCxnSpPr>
        <p:spPr>
          <a:xfrm rot="10800000">
            <a:off x="1713998" y="5872578"/>
            <a:ext cx="861000" cy="256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21"/>
          <p:cNvCxnSpPr/>
          <p:nvPr/>
        </p:nvCxnSpPr>
        <p:spPr>
          <a:xfrm flipH="1">
            <a:off x="1962148" y="6592017"/>
            <a:ext cx="899700" cy="34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1"/>
          <p:cNvCxnSpPr/>
          <p:nvPr/>
        </p:nvCxnSpPr>
        <p:spPr>
          <a:xfrm rot="10800000">
            <a:off x="3632091" y="6750999"/>
            <a:ext cx="295800" cy="358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1"/>
          <p:cNvCxnSpPr/>
          <p:nvPr/>
        </p:nvCxnSpPr>
        <p:spPr>
          <a:xfrm rot="10800000">
            <a:off x="4187555" y="6498402"/>
            <a:ext cx="908700" cy="235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21"/>
          <p:cNvCxnSpPr/>
          <p:nvPr/>
        </p:nvCxnSpPr>
        <p:spPr>
          <a:xfrm flipH="1">
            <a:off x="4322021" y="5608228"/>
            <a:ext cx="827100" cy="32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21"/>
          <p:cNvCxnSpPr/>
          <p:nvPr/>
        </p:nvCxnSpPr>
        <p:spPr>
          <a:xfrm>
            <a:off x="3132498" y="5442053"/>
            <a:ext cx="231900" cy="37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1"/>
          <p:cNvSpPr txBox="1"/>
          <p:nvPr/>
        </p:nvSpPr>
        <p:spPr>
          <a:xfrm>
            <a:off x="3099758" y="5965601"/>
            <a:ext cx="10878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: 5</a:t>
            </a:r>
            <a:endParaRPr sz="2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2591085" y="5175221"/>
            <a:ext cx="1087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5107970" y="5345192"/>
            <a:ext cx="11664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5033446" y="6576423"/>
            <a:ext cx="11664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3779992" y="7010612"/>
            <a:ext cx="1087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: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1205599" y="6756589"/>
            <a:ext cx="12840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0.5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1121694" y="5614050"/>
            <a:ext cx="1087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: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3730800" y="6677999"/>
            <a:ext cx="5733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2319738" y="6646323"/>
            <a:ext cx="57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2035388" y="5698667"/>
            <a:ext cx="57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3189585" y="5377891"/>
            <a:ext cx="82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4325037" y="5437335"/>
            <a:ext cx="82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504167" y="6279125"/>
            <a:ext cx="82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00838" y="7251413"/>
            <a:ext cx="48435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Work out the equivalent ratios.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2922909" y="8218818"/>
            <a:ext cx="1749924" cy="989064"/>
          </a:xfrm>
          <a:prstGeom prst="cloud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1" name="Google Shape;271;p21"/>
          <p:cNvCxnSpPr/>
          <p:nvPr/>
        </p:nvCxnSpPr>
        <p:spPr>
          <a:xfrm rot="10800000">
            <a:off x="2345816" y="8299754"/>
            <a:ext cx="723000" cy="215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21"/>
          <p:cNvCxnSpPr>
            <a:endCxn id="273" idx="3"/>
          </p:cNvCxnSpPr>
          <p:nvPr/>
        </p:nvCxnSpPr>
        <p:spPr>
          <a:xfrm flipH="1">
            <a:off x="2164875" y="9027909"/>
            <a:ext cx="932700" cy="283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21"/>
          <p:cNvCxnSpPr>
            <a:stCxn id="275" idx="1"/>
          </p:cNvCxnSpPr>
          <p:nvPr/>
        </p:nvCxnSpPr>
        <p:spPr>
          <a:xfrm rot="10800000">
            <a:off x="3866789" y="9208190"/>
            <a:ext cx="385800" cy="438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1"/>
          <p:cNvCxnSpPr/>
          <p:nvPr/>
        </p:nvCxnSpPr>
        <p:spPr>
          <a:xfrm rot="10800000">
            <a:off x="4424425" y="8906775"/>
            <a:ext cx="726300" cy="20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21"/>
          <p:cNvCxnSpPr/>
          <p:nvPr/>
        </p:nvCxnSpPr>
        <p:spPr>
          <a:xfrm flipH="1">
            <a:off x="4504900" y="8077982"/>
            <a:ext cx="694200" cy="27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21"/>
          <p:cNvCxnSpPr>
            <a:stCxn id="279" idx="2"/>
          </p:cNvCxnSpPr>
          <p:nvPr/>
        </p:nvCxnSpPr>
        <p:spPr>
          <a:xfrm>
            <a:off x="3419988" y="7826853"/>
            <a:ext cx="281100" cy="42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21"/>
          <p:cNvSpPr txBox="1"/>
          <p:nvPr/>
        </p:nvSpPr>
        <p:spPr>
          <a:xfrm>
            <a:off x="3184660" y="8425363"/>
            <a:ext cx="12264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: 3 : 1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2963388" y="7509753"/>
            <a:ext cx="9132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: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5119756" y="7802781"/>
            <a:ext cx="12264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5194003" y="8918017"/>
            <a:ext cx="10779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0.5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4252589" y="9487640"/>
            <a:ext cx="11988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: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1597463" y="9246107"/>
            <a:ext cx="10779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1404195" y="8126006"/>
            <a:ext cx="11391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: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:\ 1\ :\ \frac{1}{3}&quot;&gt;&lt;mfrac&gt;&lt;mn&gt;2&lt;/mn&gt;&lt;mn&gt;3&lt;/mn&gt;&lt;/mfrac&gt;&lt;mo&gt;:&lt;/mo&gt;&lt;mtext&gt;&lt;/mtext&gt;&lt;mn&gt;1&lt;/mn&gt;&lt;mtext&gt;&lt;/mtext&gt;&lt;mo&gt;:&lt;/mo&gt;&lt;mtext&gt;&lt;/mtext&gt;&lt;mfrac&gt;&lt;mn&gt;1&lt;/mn&gt;&lt;mn&gt;3&lt;/mn&gt;&lt;/mfrac&gt;&lt;/math&gt;" id="273" name="Google Shape;273;p21" title="two thirds colon 1 colon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1878" y="9122226"/>
            <a:ext cx="802997" cy="37836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1"/>
          <p:cNvSpPr txBox="1"/>
          <p:nvPr/>
        </p:nvSpPr>
        <p:spPr>
          <a:xfrm>
            <a:off x="2543304" y="9152070"/>
            <a:ext cx="481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672817" y="8713547"/>
            <a:ext cx="481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3552872" y="7845651"/>
            <a:ext cx="689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4759200" y="8079130"/>
            <a:ext cx="689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11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3979205" y="9170971"/>
            <a:ext cx="689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2577911" y="8077652"/>
            <a:ext cx="689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language and notation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468000" y="720002"/>
            <a:ext cx="530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Comparing different representations of ratio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474750" y="1106100"/>
            <a:ext cx="6516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to complete the work.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9" name="Google Shape;299;p22"/>
          <p:cNvCxnSpPr/>
          <p:nvPr/>
        </p:nvCxnSpPr>
        <p:spPr>
          <a:xfrm>
            <a:off x="2647964" y="1577217"/>
            <a:ext cx="0" cy="25083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22"/>
          <p:cNvCxnSpPr/>
          <p:nvPr/>
        </p:nvCxnSpPr>
        <p:spPr>
          <a:xfrm>
            <a:off x="5071788" y="1516286"/>
            <a:ext cx="0" cy="25083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22"/>
          <p:cNvSpPr txBox="1"/>
          <p:nvPr/>
        </p:nvSpPr>
        <p:spPr>
          <a:xfrm>
            <a:off x="474750" y="1585153"/>
            <a:ext cx="21732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Cheese : Tomato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: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: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total of 35 g means there is 15 g of cheese and 20 g of tomato.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5054748" y="1585153"/>
            <a:ext cx="20922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Star : Tick : Stars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: 3 :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total of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shapes means there are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stars,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ticks and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squares.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2678430" y="1585153"/>
            <a:ext cx="24069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Yoghurt : Strawberry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: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total of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ml means there is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ml of yoghurt and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ml of strawberries.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4" name="Google Shape;304;p22"/>
          <p:cNvGrpSpPr/>
          <p:nvPr/>
        </p:nvGrpSpPr>
        <p:grpSpPr>
          <a:xfrm>
            <a:off x="1928803" y="2022235"/>
            <a:ext cx="548866" cy="699484"/>
            <a:chOff x="8003549" y="3962175"/>
            <a:chExt cx="686426" cy="739100"/>
          </a:xfrm>
        </p:grpSpPr>
        <p:pic>
          <p:nvPicPr>
            <p:cNvPr id="305" name="Google Shape;305;p2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rot="5400000">
              <a:off x="7886725" y="4078999"/>
              <a:ext cx="739100" cy="505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2"/>
            <p:cNvSpPr txBox="1"/>
            <p:nvPr/>
          </p:nvSpPr>
          <p:spPr>
            <a:xfrm>
              <a:off x="8025775" y="4072137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307" name="Google Shape;307;p22"/>
          <p:cNvGrpSpPr/>
          <p:nvPr/>
        </p:nvGrpSpPr>
        <p:grpSpPr>
          <a:xfrm>
            <a:off x="782994" y="2035302"/>
            <a:ext cx="531094" cy="699484"/>
            <a:chOff x="4041150" y="3949475"/>
            <a:chExt cx="664200" cy="739100"/>
          </a:xfrm>
        </p:grpSpPr>
        <p:pic>
          <p:nvPicPr>
            <p:cNvPr id="308" name="Google Shape;308;p2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-5400000">
              <a:off x="3924323" y="4076450"/>
              <a:ext cx="739100" cy="4851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" name="Google Shape;309;p22"/>
            <p:cNvSpPr txBox="1"/>
            <p:nvPr/>
          </p:nvSpPr>
          <p:spPr>
            <a:xfrm>
              <a:off x="4041150" y="4060593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310" name="Google Shape;310;p22"/>
          <p:cNvGrpSpPr/>
          <p:nvPr/>
        </p:nvGrpSpPr>
        <p:grpSpPr>
          <a:xfrm>
            <a:off x="4274655" y="2022124"/>
            <a:ext cx="548866" cy="809462"/>
            <a:chOff x="8003549" y="3962175"/>
            <a:chExt cx="686426" cy="739100"/>
          </a:xfrm>
        </p:grpSpPr>
        <p:pic>
          <p:nvPicPr>
            <p:cNvPr id="311" name="Google Shape;311;p2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rot="5400000">
              <a:off x="7886725" y="4078999"/>
              <a:ext cx="739100" cy="505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22"/>
            <p:cNvSpPr txBox="1"/>
            <p:nvPr/>
          </p:nvSpPr>
          <p:spPr>
            <a:xfrm>
              <a:off x="8025775" y="4072137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313" name="Google Shape;313;p22"/>
          <p:cNvGrpSpPr/>
          <p:nvPr/>
        </p:nvGrpSpPr>
        <p:grpSpPr>
          <a:xfrm>
            <a:off x="3128846" y="2037246"/>
            <a:ext cx="531094" cy="809462"/>
            <a:chOff x="4041150" y="3949475"/>
            <a:chExt cx="664200" cy="739100"/>
          </a:xfrm>
        </p:grpSpPr>
        <p:pic>
          <p:nvPicPr>
            <p:cNvPr id="314" name="Google Shape;314;p2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-5400000">
              <a:off x="3924323" y="4076450"/>
              <a:ext cx="739100" cy="4851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22"/>
            <p:cNvSpPr txBox="1"/>
            <p:nvPr/>
          </p:nvSpPr>
          <p:spPr>
            <a:xfrm>
              <a:off x="4041150" y="4060593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316" name="Google Shape;316;p22"/>
          <p:cNvGrpSpPr/>
          <p:nvPr/>
        </p:nvGrpSpPr>
        <p:grpSpPr>
          <a:xfrm>
            <a:off x="6478335" y="2022124"/>
            <a:ext cx="548866" cy="809462"/>
            <a:chOff x="8003549" y="3962175"/>
            <a:chExt cx="686426" cy="739100"/>
          </a:xfrm>
        </p:grpSpPr>
        <p:pic>
          <p:nvPicPr>
            <p:cNvPr id="317" name="Google Shape;317;p2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rot="5400000">
              <a:off x="7886725" y="4078999"/>
              <a:ext cx="739100" cy="505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" name="Google Shape;318;p22"/>
            <p:cNvSpPr txBox="1"/>
            <p:nvPr/>
          </p:nvSpPr>
          <p:spPr>
            <a:xfrm>
              <a:off x="8025775" y="4072137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319" name="Google Shape;319;p22"/>
          <p:cNvGrpSpPr/>
          <p:nvPr/>
        </p:nvGrpSpPr>
        <p:grpSpPr>
          <a:xfrm>
            <a:off x="5332526" y="2037246"/>
            <a:ext cx="531094" cy="809462"/>
            <a:chOff x="4041150" y="3949475"/>
            <a:chExt cx="664200" cy="739100"/>
          </a:xfrm>
        </p:grpSpPr>
        <p:pic>
          <p:nvPicPr>
            <p:cNvPr id="320" name="Google Shape;320;p2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-5400000">
              <a:off x="3924323" y="4076450"/>
              <a:ext cx="739100" cy="4851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1" name="Google Shape;321;p22"/>
            <p:cNvSpPr txBox="1"/>
            <p:nvPr/>
          </p:nvSpPr>
          <p:spPr>
            <a:xfrm>
              <a:off x="4041150" y="4060593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322" name="Google Shape;322;p22"/>
          <p:cNvSpPr txBox="1"/>
          <p:nvPr/>
        </p:nvSpPr>
        <p:spPr>
          <a:xfrm>
            <a:off x="474750" y="5108975"/>
            <a:ext cx="43605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 a bag, there are only stars and circles.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ratio of stars to circles is 2 :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there are 20 stars, how many circles are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there 65 shapes in total, how many stars are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3" name="Google Shape;32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5099" y="5013300"/>
            <a:ext cx="1339558" cy="144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2"/>
          <p:cNvSpPr txBox="1"/>
          <p:nvPr/>
        </p:nvSpPr>
        <p:spPr>
          <a:xfrm>
            <a:off x="1928796" y="6460288"/>
            <a:ext cx="15798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stars : circles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: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 : 30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5" name="Google Shape;325;p22"/>
          <p:cNvSpPr txBox="1"/>
          <p:nvPr/>
        </p:nvSpPr>
        <p:spPr>
          <a:xfrm>
            <a:off x="2164042" y="7452857"/>
            <a:ext cx="11748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 circles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26" name="Google Shape;326;p22"/>
          <p:cNvGrpSpPr/>
          <p:nvPr/>
        </p:nvGrpSpPr>
        <p:grpSpPr>
          <a:xfrm>
            <a:off x="3029188" y="6797977"/>
            <a:ext cx="664200" cy="596897"/>
            <a:chOff x="8025775" y="3962175"/>
            <a:chExt cx="664200" cy="739100"/>
          </a:xfrm>
        </p:grpSpPr>
        <p:pic>
          <p:nvPicPr>
            <p:cNvPr id="327" name="Google Shape;327;p2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rot="5400000">
              <a:off x="8039125" y="4078999"/>
              <a:ext cx="739100" cy="505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22"/>
            <p:cNvSpPr txBox="1"/>
            <p:nvPr/>
          </p:nvSpPr>
          <p:spPr>
            <a:xfrm>
              <a:off x="8025775" y="4072137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×10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329" name="Google Shape;329;p22"/>
          <p:cNvGrpSpPr/>
          <p:nvPr/>
        </p:nvGrpSpPr>
        <p:grpSpPr>
          <a:xfrm>
            <a:off x="1802513" y="6766802"/>
            <a:ext cx="664200" cy="596897"/>
            <a:chOff x="4041150" y="3949475"/>
            <a:chExt cx="664200" cy="739100"/>
          </a:xfrm>
        </p:grpSpPr>
        <p:pic>
          <p:nvPicPr>
            <p:cNvPr id="330" name="Google Shape;330;p2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-5400000">
              <a:off x="3924323" y="4076450"/>
              <a:ext cx="739100" cy="4851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22"/>
            <p:cNvSpPr txBox="1"/>
            <p:nvPr/>
          </p:nvSpPr>
          <p:spPr>
            <a:xfrm>
              <a:off x="4041150" y="4060593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× 10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332" name="Google Shape;332;p22"/>
          <p:cNvSpPr txBox="1"/>
          <p:nvPr/>
        </p:nvSpPr>
        <p:spPr>
          <a:xfrm>
            <a:off x="1586582" y="8344049"/>
            <a:ext cx="22326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stars : circles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: 3  total = 5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26 : 39  total = 65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33" name="Google Shape;333;p22"/>
          <p:cNvGrpSpPr/>
          <p:nvPr/>
        </p:nvGrpSpPr>
        <p:grpSpPr>
          <a:xfrm>
            <a:off x="3400638" y="8729621"/>
            <a:ext cx="664200" cy="724835"/>
            <a:chOff x="8025775" y="3962175"/>
            <a:chExt cx="664200" cy="739100"/>
          </a:xfrm>
        </p:grpSpPr>
        <p:pic>
          <p:nvPicPr>
            <p:cNvPr id="334" name="Google Shape;334;p2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rot="5400000">
              <a:off x="8039125" y="4078999"/>
              <a:ext cx="739100" cy="505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22"/>
            <p:cNvSpPr txBox="1"/>
            <p:nvPr/>
          </p:nvSpPr>
          <p:spPr>
            <a:xfrm>
              <a:off x="8025775" y="4072137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×13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336" name="Google Shape;336;p22"/>
          <p:cNvGrpSpPr/>
          <p:nvPr/>
        </p:nvGrpSpPr>
        <p:grpSpPr>
          <a:xfrm>
            <a:off x="1526338" y="8771349"/>
            <a:ext cx="664200" cy="724835"/>
            <a:chOff x="4041150" y="3949475"/>
            <a:chExt cx="664200" cy="739100"/>
          </a:xfrm>
        </p:grpSpPr>
        <p:pic>
          <p:nvPicPr>
            <p:cNvPr id="337" name="Google Shape;337;p2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-5400000">
              <a:off x="3924323" y="4076450"/>
              <a:ext cx="739100" cy="4851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" name="Google Shape;338;p22"/>
            <p:cNvSpPr txBox="1"/>
            <p:nvPr/>
          </p:nvSpPr>
          <p:spPr>
            <a:xfrm>
              <a:off x="4041150" y="4060593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× 13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339" name="Google Shape;339;p22"/>
          <p:cNvSpPr txBox="1"/>
          <p:nvPr/>
        </p:nvSpPr>
        <p:spPr>
          <a:xfrm>
            <a:off x="2274592" y="9572583"/>
            <a:ext cx="11748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26 stars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6" name="Google Shape;346;p23"/>
          <p:cNvSpPr txBox="1"/>
          <p:nvPr>
            <p:ph idx="1" type="subTitle"/>
          </p:nvPr>
        </p:nvSpPr>
        <p:spPr>
          <a:xfrm>
            <a:off x="1463400" y="360000"/>
            <a:ext cx="47826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language and notation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3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49" name="Google Shape;349;p2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0" name="Google Shape;350;p23"/>
          <p:cNvSpPr txBox="1"/>
          <p:nvPr/>
        </p:nvSpPr>
        <p:spPr>
          <a:xfrm>
            <a:off x="468000" y="720002"/>
            <a:ext cx="530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B: Comparing different representations of ratio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3"/>
          <p:cNvSpPr txBox="1"/>
          <p:nvPr/>
        </p:nvSpPr>
        <p:spPr>
          <a:xfrm>
            <a:off x="473100" y="1151125"/>
            <a:ext cx="4977600" cy="18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chocolates in this box either have red or blue wrappers.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ratio of red to blue is 2 :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there are 10 red chocolates, how many blue chocolates are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2" name="Google Shape;3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601" y="918776"/>
            <a:ext cx="201930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3"/>
          <p:cNvSpPr txBox="1"/>
          <p:nvPr/>
        </p:nvSpPr>
        <p:spPr>
          <a:xfrm>
            <a:off x="1429205" y="2260225"/>
            <a:ext cx="28536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red : blue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: 1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 : 5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54" name="Google Shape;354;p23"/>
          <p:cNvGrpSpPr/>
          <p:nvPr/>
        </p:nvGrpSpPr>
        <p:grpSpPr>
          <a:xfrm>
            <a:off x="3155095" y="2698443"/>
            <a:ext cx="733201" cy="724835"/>
            <a:chOff x="8155949" y="3962175"/>
            <a:chExt cx="733201" cy="739100"/>
          </a:xfrm>
        </p:grpSpPr>
        <p:pic>
          <p:nvPicPr>
            <p:cNvPr id="355" name="Google Shape;355;p23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rot="5400000">
              <a:off x="8039125" y="4078999"/>
              <a:ext cx="739100" cy="505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6" name="Google Shape;356;p23"/>
            <p:cNvSpPr txBox="1"/>
            <p:nvPr/>
          </p:nvSpPr>
          <p:spPr>
            <a:xfrm>
              <a:off x="8224950" y="4083200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×5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357" name="Google Shape;357;p23"/>
          <p:cNvGrpSpPr/>
          <p:nvPr/>
        </p:nvGrpSpPr>
        <p:grpSpPr>
          <a:xfrm>
            <a:off x="2136588" y="2682049"/>
            <a:ext cx="664200" cy="724835"/>
            <a:chOff x="4041150" y="3949475"/>
            <a:chExt cx="664200" cy="739100"/>
          </a:xfrm>
        </p:grpSpPr>
        <p:pic>
          <p:nvPicPr>
            <p:cNvPr id="358" name="Google Shape;358;p23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-5400000">
              <a:off x="3924323" y="4076450"/>
              <a:ext cx="739100" cy="4851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23"/>
            <p:cNvSpPr txBox="1"/>
            <p:nvPr/>
          </p:nvSpPr>
          <p:spPr>
            <a:xfrm>
              <a:off x="4041150" y="4060593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×5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360" name="Google Shape;360;p23"/>
          <p:cNvSpPr txBox="1"/>
          <p:nvPr/>
        </p:nvSpPr>
        <p:spPr>
          <a:xfrm>
            <a:off x="1234800" y="3569950"/>
            <a:ext cx="35295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5 blue.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1" name="Google Shape;361;p23"/>
          <p:cNvSpPr txBox="1"/>
          <p:nvPr/>
        </p:nvSpPr>
        <p:spPr>
          <a:xfrm>
            <a:off x="474750" y="4322225"/>
            <a:ext cx="636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If there are 10 blue chocolates, how many red chocolates are there?</a:t>
            </a:r>
            <a:endParaRPr sz="1200"/>
          </a:p>
        </p:txBody>
      </p:sp>
      <p:sp>
        <p:nvSpPr>
          <p:cNvPr id="362" name="Google Shape;362;p23"/>
          <p:cNvSpPr txBox="1"/>
          <p:nvPr/>
        </p:nvSpPr>
        <p:spPr>
          <a:xfrm>
            <a:off x="1657805" y="4722425"/>
            <a:ext cx="28536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red : blue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: 1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 : 10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63" name="Google Shape;363;p23"/>
          <p:cNvGrpSpPr/>
          <p:nvPr/>
        </p:nvGrpSpPr>
        <p:grpSpPr>
          <a:xfrm>
            <a:off x="3355163" y="5052621"/>
            <a:ext cx="664200" cy="724835"/>
            <a:chOff x="8025775" y="3962175"/>
            <a:chExt cx="664200" cy="739100"/>
          </a:xfrm>
        </p:grpSpPr>
        <p:pic>
          <p:nvPicPr>
            <p:cNvPr id="364" name="Google Shape;364;p23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rot="5400000">
              <a:off x="8039125" y="4078999"/>
              <a:ext cx="739100" cy="505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23"/>
            <p:cNvSpPr txBox="1"/>
            <p:nvPr/>
          </p:nvSpPr>
          <p:spPr>
            <a:xfrm>
              <a:off x="8025775" y="4072137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×10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366" name="Google Shape;366;p23"/>
          <p:cNvGrpSpPr/>
          <p:nvPr/>
        </p:nvGrpSpPr>
        <p:grpSpPr>
          <a:xfrm>
            <a:off x="2257938" y="5052624"/>
            <a:ext cx="664200" cy="724835"/>
            <a:chOff x="4041150" y="3949475"/>
            <a:chExt cx="664200" cy="739100"/>
          </a:xfrm>
        </p:grpSpPr>
        <p:pic>
          <p:nvPicPr>
            <p:cNvPr id="367" name="Google Shape;367;p23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-5400000">
              <a:off x="3924323" y="4076450"/>
              <a:ext cx="739100" cy="4851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23"/>
            <p:cNvSpPr txBox="1"/>
            <p:nvPr/>
          </p:nvSpPr>
          <p:spPr>
            <a:xfrm>
              <a:off x="4041150" y="4060593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×10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369" name="Google Shape;369;p23"/>
          <p:cNvSpPr txBox="1"/>
          <p:nvPr/>
        </p:nvSpPr>
        <p:spPr>
          <a:xfrm>
            <a:off x="1429200" y="5813625"/>
            <a:ext cx="35295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20 red.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0" name="Google Shape;370;p23"/>
          <p:cNvSpPr txBox="1"/>
          <p:nvPr/>
        </p:nvSpPr>
        <p:spPr>
          <a:xfrm>
            <a:off x="474750" y="6589350"/>
            <a:ext cx="64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Is it possible for there to be 10 chocolates in total? Why or why not?</a:t>
            </a:r>
            <a:endParaRPr sz="1200"/>
          </a:p>
        </p:txBody>
      </p:sp>
      <p:sp>
        <p:nvSpPr>
          <p:cNvPr id="371" name="Google Shape;371;p23"/>
          <p:cNvSpPr txBox="1"/>
          <p:nvPr/>
        </p:nvSpPr>
        <p:spPr>
          <a:xfrm>
            <a:off x="474750" y="6961475"/>
            <a:ext cx="6360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No, as the total parts for chocolates is three. 10 is not a multiple of three. Every two red needs one blue, meaning that chocolates are ‘added’ in groups of three.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474750" y="7977900"/>
            <a:ext cx="661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There are 10 more red chocolates than blue. How many are there in total?</a:t>
            </a:r>
            <a:endParaRPr sz="1200"/>
          </a:p>
        </p:txBody>
      </p:sp>
      <p:sp>
        <p:nvSpPr>
          <p:cNvPr id="373" name="Google Shape;373;p23"/>
          <p:cNvSpPr txBox="1"/>
          <p:nvPr/>
        </p:nvSpPr>
        <p:spPr>
          <a:xfrm>
            <a:off x="2228405" y="8248538"/>
            <a:ext cx="28536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red : blue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: 1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 : 10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74" name="Google Shape;374;p23"/>
          <p:cNvGrpSpPr/>
          <p:nvPr/>
        </p:nvGrpSpPr>
        <p:grpSpPr>
          <a:xfrm>
            <a:off x="3847200" y="8630871"/>
            <a:ext cx="664200" cy="724835"/>
            <a:chOff x="8025775" y="3962175"/>
            <a:chExt cx="664200" cy="739100"/>
          </a:xfrm>
        </p:grpSpPr>
        <p:pic>
          <p:nvPicPr>
            <p:cNvPr id="375" name="Google Shape;375;p23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rot="5400000">
              <a:off x="8039125" y="4078999"/>
              <a:ext cx="739100" cy="505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" name="Google Shape;376;p23"/>
            <p:cNvSpPr txBox="1"/>
            <p:nvPr/>
          </p:nvSpPr>
          <p:spPr>
            <a:xfrm>
              <a:off x="8025775" y="4072137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×10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377" name="Google Shape;377;p23"/>
          <p:cNvGrpSpPr/>
          <p:nvPr/>
        </p:nvGrpSpPr>
        <p:grpSpPr>
          <a:xfrm>
            <a:off x="2752500" y="8630874"/>
            <a:ext cx="664200" cy="724835"/>
            <a:chOff x="4041150" y="3949475"/>
            <a:chExt cx="664200" cy="739100"/>
          </a:xfrm>
        </p:grpSpPr>
        <p:pic>
          <p:nvPicPr>
            <p:cNvPr id="378" name="Google Shape;378;p23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-5400000">
              <a:off x="3924323" y="4076450"/>
              <a:ext cx="739100" cy="4851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" name="Google Shape;379;p23"/>
            <p:cNvSpPr txBox="1"/>
            <p:nvPr/>
          </p:nvSpPr>
          <p:spPr>
            <a:xfrm>
              <a:off x="4041150" y="4060593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×10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380" name="Google Shape;380;p23"/>
          <p:cNvSpPr txBox="1"/>
          <p:nvPr/>
        </p:nvSpPr>
        <p:spPr>
          <a:xfrm>
            <a:off x="506825" y="9353100"/>
            <a:ext cx="636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are 20 red and 10 blue. This makes a difference of 10 chocolates between red and blue.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