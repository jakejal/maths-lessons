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904">
          <p15:clr>
            <a:srgbClr val="747775"/>
          </p15:clr>
        </p15:guide>
        <p15:guide id="2" orient="horz" pos="292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948374-6AAA-404F-9DE8-2BB181859924}">
  <a:tblStyle styleId="{13948374-6AAA-404F-9DE8-2BB18185992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04"/>
        <p:guide pos="292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9fe96fbb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9fe96fbb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9fe96fbb4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9fe96fbb4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9fe96fbb4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9fe96fbb4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a609c53e5d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a609c53e5d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a609c53e5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a609c53e5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a609c53e5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a609c53e5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a609c53e5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2a609c53e5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a609c53e5d_0_1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a609c53e5d_0_1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2a609c53e5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2a609c53e5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a609c53e5d_0_1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a609c53e5d_0_1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a609c53e5d_0_1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a609c53e5d_0_1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a609c53e5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2a609c53e5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a609c53e5d_0_1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a609c53e5d_0_1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a609c53e5d_0_1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a609c53e5d_0_1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a609c53e5d_0_1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a609c53e5d_0_1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a609c53e5d_0_1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a609c53e5d_0_1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2a609c53e5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2a609c53e5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2a609c53e5d_0_1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2a609c53e5d_0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a609c53e5d_0_1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a609c53e5d_0_1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a6456eeb1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a6456eeb1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a6456eeb10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a6456eeb10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a6456eeb10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2a6456eeb10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2a6456eeb10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2a6456eeb10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2a6456eeb10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2a6456eeb10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2a6456eeb10_1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1" name="Google Shape;1281;g2a6456eeb10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2a6456eeb10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2a6456eeb10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2a609c53e5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2a609c53e5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2a609c53e5d_0_2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6" name="Google Shape;1366;g2a609c53e5d_0_2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2a609c53e5d_0_2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2a609c53e5d_0_2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a8766bc5c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a8766bc5c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2a6456eeb10_1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7" name="Google Shape;1387;g2a6456eeb10_1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2a6456eeb10_1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2a6456eeb10_1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2a6456eeb10_1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7" name="Google Shape;1447;g2a6456eeb10_1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2a6456eeb10_1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2a6456eeb10_1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2a6456eeb10_1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2a6456eeb10_1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2a6456eeb10_1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2a6456eeb10_1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2a6456eeb10_1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2a6456eeb10_1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2a6456eeb10_1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5" name="Google Shape;1565;g2a6456eeb10_1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2a6456eeb10_1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2a6456eeb10_1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2a6456eeb10_1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2a6456eeb10_1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2a6456eeb10_1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8" name="Google Shape;1618;g2a6456eeb10_1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2a6456eeb10_1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6" name="Google Shape;1626;g2a6456eeb10_1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29fe96fbb4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1" name="Google Shape;1641;g29fe96fbb4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29fe96fbb4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29fe96fbb4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9.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65.png"/><Relationship Id="rId5" Type="http://schemas.openxmlformats.org/officeDocument/2006/relationships/image" Target="../media/image26.png"/><Relationship Id="rId6" Type="http://schemas.openxmlformats.org/officeDocument/2006/relationships/image" Target="../media/image33.png"/><Relationship Id="rId7"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5.png"/><Relationship Id="rId4" Type="http://schemas.openxmlformats.org/officeDocument/2006/relationships/image" Target="../media/image13.png"/><Relationship Id="rId9"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image" Target="../media/image40.png"/><Relationship Id="rId7" Type="http://schemas.openxmlformats.org/officeDocument/2006/relationships/image" Target="../media/image26.png"/><Relationship Id="rId8"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5.png"/><Relationship Id="rId4" Type="http://schemas.openxmlformats.org/officeDocument/2006/relationships/image" Target="../media/image30.png"/><Relationship Id="rId11" Type="http://schemas.openxmlformats.org/officeDocument/2006/relationships/image" Target="../media/image14.png"/><Relationship Id="rId10" Type="http://schemas.openxmlformats.org/officeDocument/2006/relationships/image" Target="../media/image44.png"/><Relationship Id="rId9" Type="http://schemas.openxmlformats.org/officeDocument/2006/relationships/image" Target="../media/image33.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image" Target="../media/image40.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3" name="Google Shape;653;p48"/>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4" name="Google Shape;654;p4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5" name="Google Shape;655;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6" name="Google Shape;656;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2" name="Google Shape;662;p49"/>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3" name="Google Shape;663;p4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4" name="Google Shape;664;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0" name="Google Shape;670;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1" name="Google Shape;671;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2" name="Google Shape;672;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78" name="Google Shape;678;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79" name="Google Shape;679;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0" name="Google Shape;680;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5" name="Google Shape;685;p52"/>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6" name="Google Shape;686;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7" name="Google Shape;687;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8" name="Google Shape;688;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4" name="Google Shape;694;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5" name="Google Shape;695;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6" name="Google Shape;69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2" name="Google Shape;702;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3" name="Google Shape;703;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4" name="Google Shape;70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0" name="Google Shape;710;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1" name="Google Shape;711;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2" name="Google Shape;712;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5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 Id="rId3" Type="http://schemas.openxmlformats.org/officeDocument/2006/relationships/image" Target="../media/image52.png"/><Relationship Id="rId4" Type="http://schemas.openxmlformats.org/officeDocument/2006/relationships/image" Target="../media/image50.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3.png"/><Relationship Id="rId8"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 Id="rId3"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5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 Id="rId3"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3.xml"/><Relationship Id="rId3" Type="http://schemas.openxmlformats.org/officeDocument/2006/relationships/image" Target="../media/image64.png"/><Relationship Id="rId4" Type="http://schemas.openxmlformats.org/officeDocument/2006/relationships/image" Target="../media/image50.png"/><Relationship Id="rId5" Type="http://schemas.openxmlformats.org/officeDocument/2006/relationships/image" Target="../media/image6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5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 Id="rId3" Type="http://schemas.openxmlformats.org/officeDocument/2006/relationships/image" Target="../media/image6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 Id="rId3" Type="http://schemas.openxmlformats.org/officeDocument/2006/relationships/image" Target="../media/image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 Id="rId3" Type="http://schemas.openxmlformats.org/officeDocument/2006/relationships/image" Target="../media/image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image" Target="../media/image66.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 Id="rId3" Type="http://schemas.openxmlformats.org/officeDocument/2006/relationships/image" Target="../media/image60.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 Id="rId3" Type="http://schemas.openxmlformats.org/officeDocument/2006/relationships/image" Target="../media/image60.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 Id="rId3" Type="http://schemas.openxmlformats.org/officeDocument/2006/relationships/image" Target="../media/image6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 Id="rId3" Type="http://schemas.openxmlformats.org/officeDocument/2006/relationships/image" Target="../media/image60.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fractions and ratio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and use the language and notation of ratio and use a ratio table to represent a multiplicative relationship and connect this to other known representations.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83151" y="2177200"/>
            <a:ext cx="82260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A ratio shows the relative sizes of 2 or more values and allows you to compare a part with another part in a whole.</a:t>
            </a:r>
            <a:endParaRPr sz="2200">
              <a:solidFill>
                <a:srgbClr val="282828"/>
              </a:solidFill>
              <a:latin typeface="Lexend"/>
              <a:ea typeface="Lexend"/>
              <a:cs typeface="Lexend"/>
              <a:sym typeface="Lexend"/>
            </a:endParaRPr>
          </a:p>
        </p:txBody>
      </p:sp>
      <p:sp>
        <p:nvSpPr>
          <p:cNvPr id="771" name="Google Shape;771;p66"/>
          <p:cNvSpPr txBox="1"/>
          <p:nvPr/>
        </p:nvSpPr>
        <p:spPr>
          <a:xfrm>
            <a:off x="383150" y="836400"/>
            <a:ext cx="70761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Proportionality means when variables are in proportion if they have a constant multiplicative relationship.</a:t>
            </a:r>
            <a:endParaRPr sz="2200">
              <a:solidFill>
                <a:srgbClr val="282828"/>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777" name="Google Shape;777;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a:t>
            </a:r>
            <a:r>
              <a:rPr lang="en-GB"/>
              <a:t> </a:t>
            </a:r>
            <a:r>
              <a:rPr lang="en-GB"/>
              <a:t>different</a:t>
            </a:r>
            <a:r>
              <a:rPr lang="en-GB"/>
              <a:t> representations of ratio</a:t>
            </a:r>
            <a:endParaRPr/>
          </a:p>
        </p:txBody>
      </p:sp>
      <p:sp>
        <p:nvSpPr>
          <p:cNvPr id="778" name="Google Shape;778;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p:txBody>
      </p:sp>
      <p:pic>
        <p:nvPicPr>
          <p:cNvPr id="779" name="Google Shape;779;p67"/>
          <p:cNvPicPr preferRelativeResize="0"/>
          <p:nvPr/>
        </p:nvPicPr>
        <p:blipFill>
          <a:blip r:embed="rId3">
            <a:alphaModFix/>
          </a:blip>
          <a:stretch>
            <a:fillRect/>
          </a:stretch>
        </p:blipFill>
        <p:spPr>
          <a:xfrm>
            <a:off x="420958" y="2054001"/>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8"/>
          <p:cNvSpPr txBox="1"/>
          <p:nvPr>
            <p:ph idx="1" type="body"/>
          </p:nvPr>
        </p:nvSpPr>
        <p:spPr>
          <a:xfrm>
            <a:off x="324000" y="759300"/>
            <a:ext cx="82377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Notation in mathematics is very important.</a:t>
            </a:r>
            <a:endParaRPr/>
          </a:p>
        </p:txBody>
      </p:sp>
      <p:sp>
        <p:nvSpPr>
          <p:cNvPr id="785" name="Google Shape;785;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786" name="Google Shape;786;p68"/>
          <p:cNvSpPr txBox="1"/>
          <p:nvPr>
            <p:ph idx="1" type="body"/>
          </p:nvPr>
        </p:nvSpPr>
        <p:spPr>
          <a:xfrm>
            <a:off x="324000" y="1292700"/>
            <a:ext cx="82377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We use symbols and notation because:</a:t>
            </a:r>
            <a:endParaRPr/>
          </a:p>
        </p:txBody>
      </p:sp>
      <p:sp>
        <p:nvSpPr>
          <p:cNvPr id="787" name="Google Shape;787;p68"/>
          <p:cNvSpPr txBox="1"/>
          <p:nvPr/>
        </p:nvSpPr>
        <p:spPr>
          <a:xfrm>
            <a:off x="252000" y="1734300"/>
            <a:ext cx="9144000" cy="5232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they are easier to read and understand</a:t>
            </a:r>
            <a:endParaRPr sz="2200">
              <a:solidFill>
                <a:schemeClr val="dk1"/>
              </a:solidFill>
              <a:latin typeface="Lexend"/>
              <a:ea typeface="Lexend"/>
              <a:cs typeface="Lexend"/>
              <a:sym typeface="Lexend"/>
            </a:endParaRPr>
          </a:p>
        </p:txBody>
      </p:sp>
      <p:sp>
        <p:nvSpPr>
          <p:cNvPr id="788" name="Google Shape;788;p68"/>
          <p:cNvSpPr txBox="1"/>
          <p:nvPr/>
        </p:nvSpPr>
        <p:spPr>
          <a:xfrm>
            <a:off x="252000" y="2437500"/>
            <a:ext cx="8561700" cy="5232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they are concise and take up less space</a:t>
            </a:r>
            <a:endParaRPr/>
          </a:p>
        </p:txBody>
      </p:sp>
      <p:sp>
        <p:nvSpPr>
          <p:cNvPr id="789" name="Google Shape;789;p68"/>
          <p:cNvSpPr txBox="1"/>
          <p:nvPr/>
        </p:nvSpPr>
        <p:spPr>
          <a:xfrm>
            <a:off x="252000" y="3140700"/>
            <a:ext cx="8561700" cy="5232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they can be used to represent complex concepts</a:t>
            </a:r>
            <a:endParaRPr/>
          </a:p>
        </p:txBody>
      </p:sp>
      <p:sp>
        <p:nvSpPr>
          <p:cNvPr id="790" name="Google Shape;790;p68"/>
          <p:cNvSpPr txBox="1"/>
          <p:nvPr/>
        </p:nvSpPr>
        <p:spPr>
          <a:xfrm>
            <a:off x="252000" y="3843900"/>
            <a:ext cx="7658700" cy="9126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it allows mathematical ideas to be communicated more effectively than words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69"/>
          <p:cNvSpPr txBox="1"/>
          <p:nvPr>
            <p:ph idx="1" type="body"/>
          </p:nvPr>
        </p:nvSpPr>
        <p:spPr>
          <a:xfrm>
            <a:off x="324000" y="759300"/>
            <a:ext cx="8237700" cy="49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can be said with ratio notation too.</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796" name="Google Shape;796;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797" name="Google Shape;797;p69"/>
          <p:cNvSpPr txBox="1"/>
          <p:nvPr>
            <p:ph idx="1" type="body"/>
          </p:nvPr>
        </p:nvSpPr>
        <p:spPr>
          <a:xfrm>
            <a:off x="324000" y="1216500"/>
            <a:ext cx="5524800" cy="143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For example, here are the different representations of the ratio of circles to squares:</a:t>
            </a:r>
            <a:endParaRPr/>
          </a:p>
          <a:p>
            <a:pPr indent="0" lvl="0" marL="0" rtl="0" algn="l">
              <a:spcBef>
                <a:spcPts val="1000"/>
              </a:spcBef>
              <a:spcAft>
                <a:spcPts val="0"/>
              </a:spcAft>
              <a:buNone/>
            </a:pPr>
            <a:r>
              <a:rPr lang="en-GB"/>
              <a:t>For every 3 circles, there are 4 squares.</a:t>
            </a:r>
            <a:endParaRPr/>
          </a:p>
          <a:p>
            <a:pPr indent="0" lvl="0" marL="0" rtl="0" algn="l">
              <a:spcBef>
                <a:spcPts val="1000"/>
              </a:spcBef>
              <a:spcAft>
                <a:spcPts val="1000"/>
              </a:spcAft>
              <a:buNone/>
            </a:pPr>
            <a:r>
              <a:t/>
            </a:r>
            <a:endParaRPr/>
          </a:p>
        </p:txBody>
      </p:sp>
      <p:graphicFrame>
        <p:nvGraphicFramePr>
          <p:cNvPr id="798" name="Google Shape;798;p69"/>
          <p:cNvGraphicFramePr/>
          <p:nvPr/>
        </p:nvGraphicFramePr>
        <p:xfrm>
          <a:off x="324000" y="3029100"/>
          <a:ext cx="3000000" cy="3000000"/>
        </p:xfrm>
        <a:graphic>
          <a:graphicData uri="http://schemas.openxmlformats.org/drawingml/2006/table">
            <a:tbl>
              <a:tblPr>
                <a:noFill/>
                <a:tableStyleId>{13948374-6AAA-404F-9DE8-2BB181859924}</a:tableStyleId>
              </a:tblPr>
              <a:tblGrid>
                <a:gridCol w="507750"/>
                <a:gridCol w="507750"/>
                <a:gridCol w="507750"/>
                <a:gridCol w="507750"/>
                <a:gridCol w="507750"/>
                <a:gridCol w="507750"/>
                <a:gridCol w="507750"/>
              </a:tblGrid>
              <a:tr h="500075">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799" name="Google Shape;799;p69"/>
          <p:cNvGraphicFramePr/>
          <p:nvPr/>
        </p:nvGraphicFramePr>
        <p:xfrm>
          <a:off x="343584" y="3754375"/>
          <a:ext cx="3000000" cy="3000000"/>
        </p:xfrm>
        <a:graphic>
          <a:graphicData uri="http://schemas.openxmlformats.org/drawingml/2006/table">
            <a:tbl>
              <a:tblPr>
                <a:noFill/>
                <a:tableStyleId>{13948374-6AAA-404F-9DE8-2BB181859924}</a:tableStyleId>
              </a:tblPr>
              <a:tblGrid>
                <a:gridCol w="1378775"/>
                <a:gridCol w="1378775"/>
              </a:tblGrid>
              <a:tr h="36217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Circles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Squares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362175">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pSp>
        <p:nvGrpSpPr>
          <p:cNvPr id="800" name="Google Shape;800;p69"/>
          <p:cNvGrpSpPr/>
          <p:nvPr/>
        </p:nvGrpSpPr>
        <p:grpSpPr>
          <a:xfrm>
            <a:off x="5650275" y="718650"/>
            <a:ext cx="2967412" cy="4057627"/>
            <a:chOff x="5650275" y="718650"/>
            <a:chExt cx="2967412" cy="4057627"/>
          </a:xfrm>
        </p:grpSpPr>
        <p:pic>
          <p:nvPicPr>
            <p:cNvPr id="801" name="Google Shape;801;p69"/>
            <p:cNvPicPr preferRelativeResize="0"/>
            <p:nvPr/>
          </p:nvPicPr>
          <p:blipFill>
            <a:blip r:embed="rId3">
              <a:alphaModFix/>
            </a:blip>
            <a:stretch>
              <a:fillRect/>
            </a:stretch>
          </p:blipFill>
          <p:spPr>
            <a:xfrm>
              <a:off x="5774404" y="1080000"/>
              <a:ext cx="2604600" cy="3658459"/>
            </a:xfrm>
            <a:prstGeom prst="rect">
              <a:avLst/>
            </a:prstGeom>
            <a:noFill/>
            <a:ln>
              <a:noFill/>
            </a:ln>
          </p:spPr>
        </p:pic>
        <p:sp>
          <p:nvSpPr>
            <p:cNvPr id="802" name="Google Shape;802;p69"/>
            <p:cNvSpPr txBox="1"/>
            <p:nvPr/>
          </p:nvSpPr>
          <p:spPr>
            <a:xfrm>
              <a:off x="8084587" y="4383577"/>
              <a:ext cx="5331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803" name="Google Shape;803;p69"/>
            <p:cNvSpPr txBox="1"/>
            <p:nvPr/>
          </p:nvSpPr>
          <p:spPr>
            <a:xfrm>
              <a:off x="5650275" y="718650"/>
              <a:ext cx="5331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Lexend"/>
                  <a:ea typeface="Lexend"/>
                  <a:cs typeface="Lexend"/>
                  <a:sym typeface="Lexend"/>
                </a:rPr>
                <a:t>⬜</a:t>
              </a:r>
              <a:endParaRPr sz="2200">
                <a:solidFill>
                  <a:srgbClr val="000000"/>
                </a:solidFill>
                <a:latin typeface="Lexend"/>
                <a:ea typeface="Lexend"/>
                <a:cs typeface="Lexend"/>
                <a:sym typeface="Lexend"/>
              </a:endParaRPr>
            </a:p>
          </p:txBody>
        </p:sp>
        <p:cxnSp>
          <p:nvCxnSpPr>
            <p:cNvPr id="804" name="Google Shape;804;p69"/>
            <p:cNvCxnSpPr/>
            <p:nvPr/>
          </p:nvCxnSpPr>
          <p:spPr>
            <a:xfrm rot="10800000">
              <a:off x="6147700" y="968300"/>
              <a:ext cx="3900" cy="158100"/>
            </a:xfrm>
            <a:prstGeom prst="straightConnector1">
              <a:avLst/>
            </a:prstGeom>
            <a:noFill/>
            <a:ln cap="flat" cmpd="sng" w="19050">
              <a:solidFill>
                <a:schemeClr val="dk1"/>
              </a:solidFill>
              <a:prstDash val="solid"/>
              <a:round/>
              <a:headEnd len="med" w="med" type="none"/>
              <a:tailEnd len="med" w="med" type="triangle"/>
            </a:ln>
          </p:spPr>
        </p:cxnSp>
        <p:cxnSp>
          <p:nvCxnSpPr>
            <p:cNvPr id="805" name="Google Shape;805;p69"/>
            <p:cNvCxnSpPr/>
            <p:nvPr/>
          </p:nvCxnSpPr>
          <p:spPr>
            <a:xfrm flipH="1" rot="10800000">
              <a:off x="8325650" y="4449000"/>
              <a:ext cx="152400" cy="3600"/>
            </a:xfrm>
            <a:prstGeom prst="straightConnector1">
              <a:avLst/>
            </a:prstGeom>
            <a:noFill/>
            <a:ln cap="flat" cmpd="sng" w="19050">
              <a:solidFill>
                <a:schemeClr val="dk1"/>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pic>
        <p:nvPicPr>
          <p:cNvPr id="810" name="Google Shape;810;p70"/>
          <p:cNvPicPr preferRelativeResize="0"/>
          <p:nvPr/>
        </p:nvPicPr>
        <p:blipFill rotWithShape="1">
          <a:blip r:embed="rId3">
            <a:alphaModFix/>
          </a:blip>
          <a:srcRect b="43690" l="0" r="57905" t="0"/>
          <a:stretch/>
        </p:blipFill>
        <p:spPr>
          <a:xfrm flipH="1">
            <a:off x="5318552" y="1433750"/>
            <a:ext cx="3132698" cy="1431249"/>
          </a:xfrm>
          <a:prstGeom prst="rect">
            <a:avLst/>
          </a:prstGeom>
          <a:noFill/>
          <a:ln>
            <a:noFill/>
          </a:ln>
        </p:spPr>
      </p:pic>
      <p:sp>
        <p:nvSpPr>
          <p:cNvPr id="811" name="Google Shape;811;p70"/>
          <p:cNvSpPr txBox="1"/>
          <p:nvPr>
            <p:ph idx="1" type="body"/>
          </p:nvPr>
        </p:nvSpPr>
        <p:spPr>
          <a:xfrm>
            <a:off x="324000" y="759300"/>
            <a:ext cx="5450400" cy="210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concise way to write a ratio is to use a colon.</a:t>
            </a:r>
            <a:endParaRPr/>
          </a:p>
          <a:p>
            <a:pPr indent="0" lvl="0" marL="0" rtl="0" algn="ctr">
              <a:spcBef>
                <a:spcPts val="1000"/>
              </a:spcBef>
              <a:spcAft>
                <a:spcPts val="0"/>
              </a:spcAft>
              <a:buNone/>
            </a:pPr>
            <a:r>
              <a:rPr lang="en-GB"/>
              <a:t>Circles : Squares</a:t>
            </a:r>
            <a:endParaRPr/>
          </a:p>
          <a:p>
            <a:pPr indent="0" lvl="0" marL="0" rtl="0" algn="ctr">
              <a:spcBef>
                <a:spcPts val="1000"/>
              </a:spcBef>
              <a:spcAft>
                <a:spcPts val="1000"/>
              </a:spcAft>
              <a:buNone/>
            </a:pPr>
            <a:r>
              <a:rPr lang="en-GB"/>
              <a:t>3 : 4</a:t>
            </a:r>
            <a:endParaRPr/>
          </a:p>
        </p:txBody>
      </p:sp>
      <p:sp>
        <p:nvSpPr>
          <p:cNvPr id="812" name="Google Shape;81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813" name="Google Shape;813;p70"/>
          <p:cNvSpPr txBox="1"/>
          <p:nvPr>
            <p:ph idx="1" type="body"/>
          </p:nvPr>
        </p:nvSpPr>
        <p:spPr>
          <a:xfrm>
            <a:off x="5581400" y="1031175"/>
            <a:ext cx="2770500" cy="151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We say: </a:t>
            </a:r>
            <a:endParaRPr/>
          </a:p>
          <a:p>
            <a:pPr indent="0" lvl="0" marL="0" rtl="0" algn="ctr">
              <a:spcBef>
                <a:spcPts val="1000"/>
              </a:spcBef>
              <a:spcAft>
                <a:spcPts val="1000"/>
              </a:spcAft>
              <a:buNone/>
            </a:pPr>
            <a:r>
              <a:rPr lang="en-GB"/>
              <a:t>“The ratio of c</a:t>
            </a:r>
            <a:r>
              <a:rPr lang="en-GB"/>
              <a:t>ircles</a:t>
            </a:r>
            <a:r>
              <a:rPr lang="en-GB"/>
              <a:t> to squares is 3 to 4.”</a:t>
            </a:r>
            <a:endParaRPr/>
          </a:p>
        </p:txBody>
      </p:sp>
      <p:sp>
        <p:nvSpPr>
          <p:cNvPr id="814" name="Google Shape;814;p70"/>
          <p:cNvSpPr txBox="1"/>
          <p:nvPr>
            <p:ph idx="1" type="body"/>
          </p:nvPr>
        </p:nvSpPr>
        <p:spPr>
          <a:xfrm>
            <a:off x="324000" y="2811400"/>
            <a:ext cx="8087700" cy="182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much more:</a:t>
            </a:r>
            <a:endParaRPr/>
          </a:p>
          <a:p>
            <a:pPr indent="-368300" lvl="0" marL="457200" rtl="0" algn="l">
              <a:spcBef>
                <a:spcPts val="1000"/>
              </a:spcBef>
              <a:spcAft>
                <a:spcPts val="0"/>
              </a:spcAft>
              <a:buSzPts val="2200"/>
              <a:buChar char="●"/>
            </a:pPr>
            <a:r>
              <a:rPr lang="en-GB"/>
              <a:t>efficient</a:t>
            </a:r>
            <a:endParaRPr/>
          </a:p>
          <a:p>
            <a:pPr indent="-368300" lvl="0" marL="457200" rtl="0" algn="l">
              <a:spcBef>
                <a:spcPts val="0"/>
              </a:spcBef>
              <a:spcAft>
                <a:spcPts val="0"/>
              </a:spcAft>
              <a:buSzPts val="2200"/>
              <a:buChar char="●"/>
            </a:pPr>
            <a:r>
              <a:rPr lang="en-GB"/>
              <a:t>concise and takes up less space</a:t>
            </a:r>
            <a:endParaRPr/>
          </a:p>
          <a:p>
            <a:pPr indent="-368300" lvl="0" marL="457200" rtl="0" algn="l">
              <a:spcBef>
                <a:spcPts val="0"/>
              </a:spcBef>
              <a:spcAft>
                <a:spcPts val="0"/>
              </a:spcAft>
              <a:buSzPts val="2200"/>
              <a:buChar char="●"/>
            </a:pPr>
            <a:r>
              <a:rPr lang="en-GB"/>
              <a:t>and uses mathematical notation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graphicFrame>
        <p:nvGraphicFramePr>
          <p:cNvPr id="819" name="Google Shape;819;p71"/>
          <p:cNvGraphicFramePr/>
          <p:nvPr/>
        </p:nvGraphicFramePr>
        <p:xfrm>
          <a:off x="429050" y="1156225"/>
          <a:ext cx="3000000" cy="3000000"/>
        </p:xfrm>
        <a:graphic>
          <a:graphicData uri="http://schemas.openxmlformats.org/drawingml/2006/table">
            <a:tbl>
              <a:tblPr>
                <a:noFill/>
                <a:tableStyleId>{13948374-6AAA-404F-9DE8-2BB181859924}</a:tableStyleId>
              </a:tblPr>
              <a:tblGrid>
                <a:gridCol w="2593025"/>
                <a:gridCol w="2433550"/>
                <a:gridCol w="2753575"/>
              </a:tblGrid>
              <a:tr h="4269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Bar model</a:t>
                      </a:r>
                      <a:endParaRPr sz="1800">
                        <a:solidFill>
                          <a:schemeClr val="lt1"/>
                        </a:solidFill>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Ratio notation</a:t>
                      </a:r>
                      <a:endParaRPr sz="1800">
                        <a:solidFill>
                          <a:schemeClr val="lt1"/>
                        </a:solidFill>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In words</a:t>
                      </a:r>
                      <a:endParaRPr sz="1800">
                        <a:solidFill>
                          <a:schemeClr val="lt1"/>
                        </a:solidFill>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734750">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Triangles</a:t>
                      </a:r>
                      <a:r>
                        <a:rPr lang="en-GB" sz="1800">
                          <a:latin typeface="Lexend"/>
                          <a:ea typeface="Lexend"/>
                          <a:cs typeface="Lexend"/>
                          <a:sym typeface="Lexend"/>
                        </a:rPr>
                        <a:t> : Squares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3</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triangles to squares is 1 to 3</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734750">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Cats : Dogs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1 </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cats to dogs is 1 to 1</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734750">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Apples : Bananas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2 : 3</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apples to bananas is 2 to 3</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814050">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Stars : Hearts : Circles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1 : 2</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stars to hearts to circles is 1 to 1 to 2</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820" name="Google Shape;820;p71"/>
          <p:cNvSpPr txBox="1"/>
          <p:nvPr>
            <p:ph idx="1" type="body"/>
          </p:nvPr>
        </p:nvSpPr>
        <p:spPr>
          <a:xfrm>
            <a:off x="400200" y="683100"/>
            <a:ext cx="8237700" cy="45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Fill in the table. The first has been done for you.</a:t>
            </a:r>
            <a:endParaRPr/>
          </a:p>
        </p:txBody>
      </p:sp>
      <p:sp>
        <p:nvSpPr>
          <p:cNvPr id="821" name="Google Shape;82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graphicFrame>
        <p:nvGraphicFramePr>
          <p:cNvPr id="822" name="Google Shape;822;p71"/>
          <p:cNvGraphicFramePr/>
          <p:nvPr/>
        </p:nvGraphicFramePr>
        <p:xfrm>
          <a:off x="533210" y="1705664"/>
          <a:ext cx="3000000" cy="3000000"/>
        </p:xfrm>
        <a:graphic>
          <a:graphicData uri="http://schemas.openxmlformats.org/drawingml/2006/table">
            <a:tbl>
              <a:tblPr>
                <a:noFill/>
                <a:tableStyleId>{13948374-6AAA-404F-9DE8-2BB181859924}</a:tableStyleId>
              </a:tblPr>
              <a:tblGrid>
                <a:gridCol w="507750"/>
                <a:gridCol w="507750"/>
                <a:gridCol w="507750"/>
                <a:gridCol w="507750"/>
              </a:tblGrid>
              <a:tr h="450300">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a:t>
                      </a:r>
                      <a:endParaRPr sz="33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800">
                          <a:solidFill>
                            <a:schemeClr val="dk1"/>
                          </a:solidFill>
                          <a:latin typeface="Lexend"/>
                          <a:ea typeface="Lexend"/>
                          <a:cs typeface="Lexend"/>
                          <a:sym typeface="Lexend"/>
                        </a:rPr>
                        <a:t>⬛</a:t>
                      </a:r>
                      <a:endParaRPr sz="2800">
                        <a:solidFill>
                          <a:srgbClr val="000000"/>
                        </a:solidFill>
                        <a:latin typeface="Lexend"/>
                        <a:ea typeface="Lexend"/>
                        <a:cs typeface="Lexend"/>
                        <a:sym typeface="Lexend"/>
                      </a:endParaRPr>
                    </a:p>
                  </a:txBody>
                  <a:tcPr marT="3600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800">
                          <a:solidFill>
                            <a:schemeClr val="dk1"/>
                          </a:solidFill>
                          <a:latin typeface="Lexend"/>
                          <a:ea typeface="Lexend"/>
                          <a:cs typeface="Lexend"/>
                          <a:sym typeface="Lexend"/>
                        </a:rPr>
                        <a:t>⬛</a:t>
                      </a:r>
                      <a:endParaRPr sz="2800">
                        <a:solidFill>
                          <a:srgbClr val="000000"/>
                        </a:solidFill>
                        <a:latin typeface="Lexend"/>
                        <a:ea typeface="Lexend"/>
                        <a:cs typeface="Lexend"/>
                        <a:sym typeface="Lexend"/>
                      </a:endParaRPr>
                    </a:p>
                  </a:txBody>
                  <a:tcPr marT="3600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800">
                          <a:solidFill>
                            <a:schemeClr val="dk1"/>
                          </a:solidFill>
                          <a:latin typeface="Lexend"/>
                          <a:ea typeface="Lexend"/>
                          <a:cs typeface="Lexend"/>
                          <a:sym typeface="Lexend"/>
                        </a:rPr>
                        <a:t>⬛</a:t>
                      </a:r>
                      <a:endParaRPr sz="2800">
                        <a:solidFill>
                          <a:srgbClr val="000000"/>
                        </a:solidFill>
                        <a:latin typeface="Lexend"/>
                        <a:ea typeface="Lexend"/>
                        <a:cs typeface="Lexend"/>
                        <a:sym typeface="Lexend"/>
                      </a:endParaRPr>
                    </a:p>
                  </a:txBody>
                  <a:tcPr marT="3600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823" name="Google Shape;823;p71"/>
          <p:cNvGraphicFramePr/>
          <p:nvPr/>
        </p:nvGraphicFramePr>
        <p:xfrm>
          <a:off x="533210" y="2437720"/>
          <a:ext cx="3000000" cy="3000000"/>
        </p:xfrm>
        <a:graphic>
          <a:graphicData uri="http://schemas.openxmlformats.org/drawingml/2006/table">
            <a:tbl>
              <a:tblPr>
                <a:noFill/>
                <a:tableStyleId>{13948374-6AAA-404F-9DE8-2BB181859924}</a:tableStyleId>
              </a:tblPr>
              <a:tblGrid>
                <a:gridCol w="507750"/>
                <a:gridCol w="507750"/>
              </a:tblGrid>
              <a:tr h="500075">
                <a:tc>
                  <a:txBody>
                    <a:bodyPr/>
                    <a:lstStyle/>
                    <a:p>
                      <a:pPr indent="0" lvl="0" marL="0" rtl="0" algn="ctr">
                        <a:spcBef>
                          <a:spcPts val="0"/>
                        </a:spcBef>
                        <a:spcAft>
                          <a:spcPts val="0"/>
                        </a:spcAft>
                        <a:buNone/>
                      </a:pPr>
                      <a:r>
                        <a:rPr lang="en-GB" sz="3100">
                          <a:latin typeface="Lexend"/>
                          <a:ea typeface="Lexend"/>
                          <a:cs typeface="Lexend"/>
                          <a:sym typeface="Lexend"/>
                        </a:rPr>
                        <a:t>C</a:t>
                      </a:r>
                      <a:endParaRPr sz="31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100">
                          <a:solidFill>
                            <a:schemeClr val="dk1"/>
                          </a:solidFill>
                          <a:latin typeface="Lexend"/>
                          <a:ea typeface="Lexend"/>
                          <a:cs typeface="Lexend"/>
                          <a:sym typeface="Lexend"/>
                        </a:rPr>
                        <a:t>D</a:t>
                      </a:r>
                      <a:endParaRPr sz="31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824" name="Google Shape;824;p71"/>
          <p:cNvGraphicFramePr/>
          <p:nvPr/>
        </p:nvGraphicFramePr>
        <p:xfrm>
          <a:off x="533210" y="3173580"/>
          <a:ext cx="3000000" cy="3000000"/>
        </p:xfrm>
        <a:graphic>
          <a:graphicData uri="http://schemas.openxmlformats.org/drawingml/2006/table">
            <a:tbl>
              <a:tblPr>
                <a:noFill/>
                <a:tableStyleId>{13948374-6AAA-404F-9DE8-2BB181859924}</a:tableStyleId>
              </a:tblPr>
              <a:tblGrid>
                <a:gridCol w="478625"/>
                <a:gridCol w="478625"/>
                <a:gridCol w="478625"/>
                <a:gridCol w="478625"/>
                <a:gridCol w="478625"/>
              </a:tblGrid>
              <a:tr h="500075">
                <a:tc>
                  <a:txBody>
                    <a:bodyPr/>
                    <a:lstStyle/>
                    <a:p>
                      <a:pPr indent="0" lvl="0" marL="0" rtl="0" algn="ctr">
                        <a:spcBef>
                          <a:spcPts val="0"/>
                        </a:spcBef>
                        <a:spcAft>
                          <a:spcPts val="0"/>
                        </a:spcAft>
                        <a:buNone/>
                      </a:pPr>
                      <a:r>
                        <a:rPr lang="en-GB" sz="2900">
                          <a:latin typeface="Lexend"/>
                          <a:ea typeface="Lexend"/>
                          <a:cs typeface="Lexend"/>
                          <a:sym typeface="Lexend"/>
                        </a:rPr>
                        <a:t>A</a:t>
                      </a:r>
                      <a:endParaRPr sz="29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A</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2900">
                          <a:solidFill>
                            <a:schemeClr val="dk1"/>
                          </a:solidFill>
                          <a:latin typeface="Lexend"/>
                          <a:ea typeface="Lexend"/>
                          <a:cs typeface="Lexend"/>
                          <a:sym typeface="Lexend"/>
                        </a:rPr>
                        <a:t>B</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B</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B</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825" name="Google Shape;825;p71"/>
          <p:cNvGraphicFramePr/>
          <p:nvPr/>
        </p:nvGraphicFramePr>
        <p:xfrm>
          <a:off x="533210" y="3953947"/>
          <a:ext cx="3000000" cy="3000000"/>
        </p:xfrm>
        <a:graphic>
          <a:graphicData uri="http://schemas.openxmlformats.org/drawingml/2006/table">
            <a:tbl>
              <a:tblPr>
                <a:noFill/>
                <a:tableStyleId>{13948374-6AAA-404F-9DE8-2BB181859924}</a:tableStyleId>
              </a:tblPr>
              <a:tblGrid>
                <a:gridCol w="507750"/>
                <a:gridCol w="507750"/>
                <a:gridCol w="507750"/>
                <a:gridCol w="507750"/>
              </a:tblGrid>
              <a:tr h="500075">
                <a:tc>
                  <a:txBody>
                    <a:bodyPr/>
                    <a:lstStyle/>
                    <a:p>
                      <a:pPr indent="0" lvl="0" marL="0" rtl="0" algn="ctr">
                        <a:spcBef>
                          <a:spcPts val="0"/>
                        </a:spcBef>
                        <a:spcAft>
                          <a:spcPts val="0"/>
                        </a:spcAft>
                        <a:buNone/>
                      </a:pPr>
                      <a:r>
                        <a:rPr lang="en-GB" sz="2900">
                          <a:latin typeface="Lexend"/>
                          <a:ea typeface="Lexend"/>
                          <a:cs typeface="Lexend"/>
                          <a:sym typeface="Lexend"/>
                        </a:rPr>
                        <a:t>S</a:t>
                      </a:r>
                      <a:endParaRPr sz="29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H</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C</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C</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pic>
        <p:nvPicPr>
          <p:cNvPr id="826" name="Google Shape;826;p71"/>
          <p:cNvPicPr preferRelativeResize="0"/>
          <p:nvPr/>
        </p:nvPicPr>
        <p:blipFill>
          <a:blip r:embed="rId3">
            <a:alphaModFix/>
          </a:blip>
          <a:stretch>
            <a:fillRect/>
          </a:stretch>
        </p:blipFill>
        <p:spPr>
          <a:xfrm>
            <a:off x="3130625" y="2380175"/>
            <a:ext cx="2241600" cy="613500"/>
          </a:xfrm>
          <a:prstGeom prst="rect">
            <a:avLst/>
          </a:prstGeom>
          <a:noFill/>
          <a:ln>
            <a:noFill/>
          </a:ln>
        </p:spPr>
      </p:pic>
      <p:pic>
        <p:nvPicPr>
          <p:cNvPr id="827" name="Google Shape;827;p71"/>
          <p:cNvPicPr preferRelativeResize="0"/>
          <p:nvPr/>
        </p:nvPicPr>
        <p:blipFill>
          <a:blip r:embed="rId3">
            <a:alphaModFix/>
          </a:blip>
          <a:stretch>
            <a:fillRect/>
          </a:stretch>
        </p:blipFill>
        <p:spPr>
          <a:xfrm>
            <a:off x="3096200" y="3097750"/>
            <a:ext cx="2310450" cy="613500"/>
          </a:xfrm>
          <a:prstGeom prst="rect">
            <a:avLst/>
          </a:prstGeom>
          <a:noFill/>
          <a:ln>
            <a:noFill/>
          </a:ln>
        </p:spPr>
      </p:pic>
      <p:pic>
        <p:nvPicPr>
          <p:cNvPr id="828" name="Google Shape;828;p71"/>
          <p:cNvPicPr preferRelativeResize="0"/>
          <p:nvPr/>
        </p:nvPicPr>
        <p:blipFill>
          <a:blip r:embed="rId3">
            <a:alphaModFix/>
          </a:blip>
          <a:stretch>
            <a:fillRect/>
          </a:stretch>
        </p:blipFill>
        <p:spPr>
          <a:xfrm>
            <a:off x="3127975" y="3815325"/>
            <a:ext cx="2241600" cy="762250"/>
          </a:xfrm>
          <a:prstGeom prst="rect">
            <a:avLst/>
          </a:prstGeom>
          <a:noFill/>
          <a:ln>
            <a:noFill/>
          </a:ln>
        </p:spPr>
      </p:pic>
      <p:pic>
        <p:nvPicPr>
          <p:cNvPr id="829" name="Google Shape;829;p71"/>
          <p:cNvPicPr preferRelativeResize="0"/>
          <p:nvPr/>
        </p:nvPicPr>
        <p:blipFill>
          <a:blip r:embed="rId3">
            <a:alphaModFix/>
          </a:blip>
          <a:stretch>
            <a:fillRect/>
          </a:stretch>
        </p:blipFill>
        <p:spPr>
          <a:xfrm>
            <a:off x="5558800" y="2416750"/>
            <a:ext cx="2589100" cy="613500"/>
          </a:xfrm>
          <a:prstGeom prst="rect">
            <a:avLst/>
          </a:prstGeom>
          <a:noFill/>
          <a:ln>
            <a:noFill/>
          </a:ln>
        </p:spPr>
      </p:pic>
      <p:pic>
        <p:nvPicPr>
          <p:cNvPr id="830" name="Google Shape;830;p71"/>
          <p:cNvPicPr preferRelativeResize="0"/>
          <p:nvPr/>
        </p:nvPicPr>
        <p:blipFill>
          <a:blip r:embed="rId3">
            <a:alphaModFix/>
          </a:blip>
          <a:stretch>
            <a:fillRect/>
          </a:stretch>
        </p:blipFill>
        <p:spPr>
          <a:xfrm>
            <a:off x="5558803" y="3097750"/>
            <a:ext cx="2554347" cy="613500"/>
          </a:xfrm>
          <a:prstGeom prst="rect">
            <a:avLst/>
          </a:prstGeom>
          <a:noFill/>
          <a:ln>
            <a:noFill/>
          </a:ln>
        </p:spPr>
      </p:pic>
      <p:pic>
        <p:nvPicPr>
          <p:cNvPr id="831" name="Google Shape;831;p71"/>
          <p:cNvPicPr preferRelativeResize="0"/>
          <p:nvPr/>
        </p:nvPicPr>
        <p:blipFill>
          <a:blip r:embed="rId3">
            <a:alphaModFix/>
          </a:blip>
          <a:stretch>
            <a:fillRect/>
          </a:stretch>
        </p:blipFill>
        <p:spPr>
          <a:xfrm>
            <a:off x="5558803" y="3876950"/>
            <a:ext cx="2554347" cy="6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graphicFrame>
        <p:nvGraphicFramePr>
          <p:cNvPr id="837" name="Google Shape;837;p72"/>
          <p:cNvGraphicFramePr/>
          <p:nvPr/>
        </p:nvGraphicFramePr>
        <p:xfrm>
          <a:off x="428500" y="1156200"/>
          <a:ext cx="3000000" cy="3000000"/>
        </p:xfrm>
        <a:graphic>
          <a:graphicData uri="http://schemas.openxmlformats.org/drawingml/2006/table">
            <a:tbl>
              <a:tblPr>
                <a:noFill/>
                <a:tableStyleId>{13948374-6AAA-404F-9DE8-2BB181859924}</a:tableStyleId>
              </a:tblPr>
              <a:tblGrid>
                <a:gridCol w="2593575"/>
                <a:gridCol w="2459400"/>
                <a:gridCol w="2727750"/>
              </a:tblGrid>
              <a:tr h="55202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Bar model</a:t>
                      </a:r>
                      <a:endParaRPr sz="1800">
                        <a:solidFill>
                          <a:schemeClr val="lt1"/>
                        </a:solidFill>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Ratio notation</a:t>
                      </a:r>
                      <a:endParaRPr sz="1800">
                        <a:solidFill>
                          <a:schemeClr val="lt1"/>
                        </a:solidFill>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In words</a:t>
                      </a:r>
                      <a:endParaRPr sz="1800">
                        <a:solidFill>
                          <a:schemeClr val="lt1"/>
                        </a:solidFill>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7333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Triangles : Squares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3</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triangles to squares is 1 to 3</a:t>
                      </a:r>
                      <a:endParaRPr sz="1800">
                        <a:latin typeface="Lexend"/>
                        <a:ea typeface="Lexend"/>
                        <a:cs typeface="Lexend"/>
                        <a:sym typeface="Lexend"/>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7333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C</a:t>
                      </a:r>
                      <a:r>
                        <a:rPr lang="en-GB" sz="1800">
                          <a:latin typeface="Lexend"/>
                          <a:ea typeface="Lexend"/>
                          <a:cs typeface="Lexend"/>
                          <a:sym typeface="Lexend"/>
                        </a:rPr>
                        <a:t> : D</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1 </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C to D is 1 to 1</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7333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A</a:t>
                      </a:r>
                      <a:r>
                        <a:rPr lang="en-GB" sz="1800">
                          <a:latin typeface="Lexend"/>
                          <a:ea typeface="Lexend"/>
                          <a:cs typeface="Lexend"/>
                          <a:sym typeface="Lexend"/>
                        </a:rPr>
                        <a:t> : B</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2 : 3</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A to B is 2 to 3</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7333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S</a:t>
                      </a:r>
                      <a:r>
                        <a:rPr lang="en-GB" sz="1800">
                          <a:latin typeface="Lexend"/>
                          <a:ea typeface="Lexend"/>
                          <a:cs typeface="Lexend"/>
                          <a:sym typeface="Lexend"/>
                        </a:rPr>
                        <a:t> : H : C</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1 : 2</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Ratio of S to H to C is 1 to 1 to 2</a:t>
                      </a:r>
                      <a:endParaRPr sz="1800">
                        <a:latin typeface="Lexend"/>
                        <a:ea typeface="Lexend"/>
                        <a:cs typeface="Lexend"/>
                        <a:sym typeface="Lexend"/>
                      </a:endParaRPr>
                    </a:p>
                  </a:txBody>
                  <a:tcPr marT="0" marB="0" marR="0" marL="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838" name="Google Shape;838;p72"/>
          <p:cNvSpPr txBox="1"/>
          <p:nvPr>
            <p:ph idx="1" type="body"/>
          </p:nvPr>
        </p:nvSpPr>
        <p:spPr>
          <a:xfrm>
            <a:off x="324000" y="683100"/>
            <a:ext cx="8496000" cy="45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order of the ratio must match between the words and notation.</a:t>
            </a:r>
            <a:endParaRPr sz="2000"/>
          </a:p>
        </p:txBody>
      </p:sp>
      <p:graphicFrame>
        <p:nvGraphicFramePr>
          <p:cNvPr id="839" name="Google Shape;839;p72"/>
          <p:cNvGraphicFramePr/>
          <p:nvPr/>
        </p:nvGraphicFramePr>
        <p:xfrm>
          <a:off x="533210" y="1705664"/>
          <a:ext cx="3000000" cy="3000000"/>
        </p:xfrm>
        <a:graphic>
          <a:graphicData uri="http://schemas.openxmlformats.org/drawingml/2006/table">
            <a:tbl>
              <a:tblPr>
                <a:noFill/>
                <a:tableStyleId>{13948374-6AAA-404F-9DE8-2BB181859924}</a:tableStyleId>
              </a:tblPr>
              <a:tblGrid>
                <a:gridCol w="507750"/>
                <a:gridCol w="507750"/>
                <a:gridCol w="507750"/>
                <a:gridCol w="507750"/>
              </a:tblGrid>
              <a:tr h="450300">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a:t>
                      </a:r>
                      <a:endParaRPr sz="33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800">
                          <a:solidFill>
                            <a:schemeClr val="dk1"/>
                          </a:solidFill>
                          <a:latin typeface="Lexend"/>
                          <a:ea typeface="Lexend"/>
                          <a:cs typeface="Lexend"/>
                          <a:sym typeface="Lexend"/>
                        </a:rPr>
                        <a:t>⬛</a:t>
                      </a:r>
                      <a:endParaRPr sz="2800">
                        <a:solidFill>
                          <a:srgbClr val="000000"/>
                        </a:solidFill>
                        <a:latin typeface="Lexend"/>
                        <a:ea typeface="Lexend"/>
                        <a:cs typeface="Lexend"/>
                        <a:sym typeface="Lexend"/>
                      </a:endParaRPr>
                    </a:p>
                  </a:txBody>
                  <a:tcPr marT="3600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800">
                          <a:solidFill>
                            <a:schemeClr val="dk1"/>
                          </a:solidFill>
                          <a:latin typeface="Lexend"/>
                          <a:ea typeface="Lexend"/>
                          <a:cs typeface="Lexend"/>
                          <a:sym typeface="Lexend"/>
                        </a:rPr>
                        <a:t>⬛</a:t>
                      </a:r>
                      <a:endParaRPr sz="2800">
                        <a:solidFill>
                          <a:srgbClr val="000000"/>
                        </a:solidFill>
                        <a:latin typeface="Lexend"/>
                        <a:ea typeface="Lexend"/>
                        <a:cs typeface="Lexend"/>
                        <a:sym typeface="Lexend"/>
                      </a:endParaRPr>
                    </a:p>
                  </a:txBody>
                  <a:tcPr marT="3600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800">
                          <a:solidFill>
                            <a:schemeClr val="dk1"/>
                          </a:solidFill>
                          <a:latin typeface="Lexend"/>
                          <a:ea typeface="Lexend"/>
                          <a:cs typeface="Lexend"/>
                          <a:sym typeface="Lexend"/>
                        </a:rPr>
                        <a:t>⬛</a:t>
                      </a:r>
                      <a:endParaRPr sz="2800">
                        <a:solidFill>
                          <a:srgbClr val="000000"/>
                        </a:solidFill>
                        <a:latin typeface="Lexend"/>
                        <a:ea typeface="Lexend"/>
                        <a:cs typeface="Lexend"/>
                        <a:sym typeface="Lexend"/>
                      </a:endParaRPr>
                    </a:p>
                  </a:txBody>
                  <a:tcPr marT="3600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840" name="Google Shape;840;p72"/>
          <p:cNvGraphicFramePr/>
          <p:nvPr/>
        </p:nvGraphicFramePr>
        <p:xfrm>
          <a:off x="533210" y="2437720"/>
          <a:ext cx="3000000" cy="3000000"/>
        </p:xfrm>
        <a:graphic>
          <a:graphicData uri="http://schemas.openxmlformats.org/drawingml/2006/table">
            <a:tbl>
              <a:tblPr>
                <a:noFill/>
                <a:tableStyleId>{13948374-6AAA-404F-9DE8-2BB181859924}</a:tableStyleId>
              </a:tblPr>
              <a:tblGrid>
                <a:gridCol w="507750"/>
                <a:gridCol w="507750"/>
              </a:tblGrid>
              <a:tr h="500075">
                <a:tc>
                  <a:txBody>
                    <a:bodyPr/>
                    <a:lstStyle/>
                    <a:p>
                      <a:pPr indent="0" lvl="0" marL="0" rtl="0" algn="ctr">
                        <a:spcBef>
                          <a:spcPts val="0"/>
                        </a:spcBef>
                        <a:spcAft>
                          <a:spcPts val="0"/>
                        </a:spcAft>
                        <a:buNone/>
                      </a:pPr>
                      <a:r>
                        <a:rPr lang="en-GB" sz="3100">
                          <a:latin typeface="Lexend"/>
                          <a:ea typeface="Lexend"/>
                          <a:cs typeface="Lexend"/>
                          <a:sym typeface="Lexend"/>
                        </a:rPr>
                        <a:t>C</a:t>
                      </a:r>
                      <a:endParaRPr sz="31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100">
                          <a:solidFill>
                            <a:schemeClr val="dk1"/>
                          </a:solidFill>
                          <a:latin typeface="Lexend"/>
                          <a:ea typeface="Lexend"/>
                          <a:cs typeface="Lexend"/>
                          <a:sym typeface="Lexend"/>
                        </a:rPr>
                        <a:t>D</a:t>
                      </a:r>
                      <a:endParaRPr sz="31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841" name="Google Shape;841;p72"/>
          <p:cNvGraphicFramePr/>
          <p:nvPr/>
        </p:nvGraphicFramePr>
        <p:xfrm>
          <a:off x="533210" y="3173580"/>
          <a:ext cx="3000000" cy="3000000"/>
        </p:xfrm>
        <a:graphic>
          <a:graphicData uri="http://schemas.openxmlformats.org/drawingml/2006/table">
            <a:tbl>
              <a:tblPr>
                <a:noFill/>
                <a:tableStyleId>{13948374-6AAA-404F-9DE8-2BB181859924}</a:tableStyleId>
              </a:tblPr>
              <a:tblGrid>
                <a:gridCol w="478625"/>
                <a:gridCol w="478625"/>
                <a:gridCol w="478625"/>
                <a:gridCol w="478625"/>
                <a:gridCol w="478625"/>
              </a:tblGrid>
              <a:tr h="500075">
                <a:tc>
                  <a:txBody>
                    <a:bodyPr/>
                    <a:lstStyle/>
                    <a:p>
                      <a:pPr indent="0" lvl="0" marL="0" rtl="0" algn="ctr">
                        <a:spcBef>
                          <a:spcPts val="0"/>
                        </a:spcBef>
                        <a:spcAft>
                          <a:spcPts val="0"/>
                        </a:spcAft>
                        <a:buNone/>
                      </a:pPr>
                      <a:r>
                        <a:rPr lang="en-GB" sz="2900">
                          <a:latin typeface="Lexend"/>
                          <a:ea typeface="Lexend"/>
                          <a:cs typeface="Lexend"/>
                          <a:sym typeface="Lexend"/>
                        </a:rPr>
                        <a:t>A</a:t>
                      </a:r>
                      <a:endParaRPr sz="29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A</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2900">
                          <a:solidFill>
                            <a:schemeClr val="dk1"/>
                          </a:solidFill>
                          <a:latin typeface="Lexend"/>
                          <a:ea typeface="Lexend"/>
                          <a:cs typeface="Lexend"/>
                          <a:sym typeface="Lexend"/>
                        </a:rPr>
                        <a:t>B</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B</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B</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842" name="Google Shape;842;p72"/>
          <p:cNvGraphicFramePr/>
          <p:nvPr/>
        </p:nvGraphicFramePr>
        <p:xfrm>
          <a:off x="533210" y="3953947"/>
          <a:ext cx="3000000" cy="3000000"/>
        </p:xfrm>
        <a:graphic>
          <a:graphicData uri="http://schemas.openxmlformats.org/drawingml/2006/table">
            <a:tbl>
              <a:tblPr>
                <a:noFill/>
                <a:tableStyleId>{13948374-6AAA-404F-9DE8-2BB181859924}</a:tableStyleId>
              </a:tblPr>
              <a:tblGrid>
                <a:gridCol w="507750"/>
                <a:gridCol w="507750"/>
                <a:gridCol w="507750"/>
                <a:gridCol w="507750"/>
              </a:tblGrid>
              <a:tr h="500075">
                <a:tc>
                  <a:txBody>
                    <a:bodyPr/>
                    <a:lstStyle/>
                    <a:p>
                      <a:pPr indent="0" lvl="0" marL="0" rtl="0" algn="ctr">
                        <a:spcBef>
                          <a:spcPts val="0"/>
                        </a:spcBef>
                        <a:spcAft>
                          <a:spcPts val="0"/>
                        </a:spcAft>
                        <a:buNone/>
                      </a:pPr>
                      <a:r>
                        <a:rPr lang="en-GB" sz="2900">
                          <a:latin typeface="Lexend"/>
                          <a:ea typeface="Lexend"/>
                          <a:cs typeface="Lexend"/>
                          <a:sym typeface="Lexend"/>
                        </a:rPr>
                        <a:t>S</a:t>
                      </a:r>
                      <a:endParaRPr sz="29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H</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C</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900">
                          <a:solidFill>
                            <a:schemeClr val="dk1"/>
                          </a:solidFill>
                          <a:latin typeface="Lexend"/>
                          <a:ea typeface="Lexend"/>
                          <a:cs typeface="Lexend"/>
                          <a:sym typeface="Lexend"/>
                        </a:rPr>
                        <a:t>C</a:t>
                      </a:r>
                      <a:endParaRPr sz="29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3"/>
          <p:cNvSpPr/>
          <p:nvPr/>
        </p:nvSpPr>
        <p:spPr>
          <a:xfrm>
            <a:off x="476400" y="1379700"/>
            <a:ext cx="2471400" cy="3516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8" name="Google Shape;848;p73"/>
          <p:cNvSpPr txBox="1"/>
          <p:nvPr>
            <p:ph idx="1" type="body"/>
          </p:nvPr>
        </p:nvSpPr>
        <p:spPr>
          <a:xfrm>
            <a:off x="400200" y="759300"/>
            <a:ext cx="8237700" cy="45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Fill in the gaps for the ratio and the double number line.</a:t>
            </a:r>
            <a:endParaRPr/>
          </a:p>
        </p:txBody>
      </p:sp>
      <p:sp>
        <p:nvSpPr>
          <p:cNvPr id="849" name="Google Shape;849;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grpSp>
        <p:nvGrpSpPr>
          <p:cNvPr id="850" name="Google Shape;850;p73"/>
          <p:cNvGrpSpPr/>
          <p:nvPr/>
        </p:nvGrpSpPr>
        <p:grpSpPr>
          <a:xfrm>
            <a:off x="1704124" y="3304361"/>
            <a:ext cx="31897" cy="1000200"/>
            <a:chOff x="941713" y="3767150"/>
            <a:chExt cx="63300" cy="1000200"/>
          </a:xfrm>
        </p:grpSpPr>
        <p:cxnSp>
          <p:nvCxnSpPr>
            <p:cNvPr id="851" name="Google Shape;851;p73"/>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52" name="Google Shape;852;p73"/>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3" name="Google Shape;853;p73"/>
          <p:cNvSpPr txBox="1"/>
          <p:nvPr/>
        </p:nvSpPr>
        <p:spPr>
          <a:xfrm>
            <a:off x="2640273" y="3344800"/>
            <a:ext cx="314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R</a:t>
            </a:r>
            <a:endParaRPr sz="1900">
              <a:solidFill>
                <a:srgbClr val="000000"/>
              </a:solidFill>
              <a:latin typeface="Lexend"/>
              <a:ea typeface="Lexend"/>
              <a:cs typeface="Lexend"/>
              <a:sym typeface="Lexend"/>
            </a:endParaRPr>
          </a:p>
        </p:txBody>
      </p:sp>
      <p:sp>
        <p:nvSpPr>
          <p:cNvPr id="854" name="Google Shape;854;p73"/>
          <p:cNvSpPr txBox="1"/>
          <p:nvPr/>
        </p:nvSpPr>
        <p:spPr>
          <a:xfrm>
            <a:off x="2643578" y="3952125"/>
            <a:ext cx="302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C</a:t>
            </a:r>
            <a:endParaRPr sz="1900">
              <a:solidFill>
                <a:srgbClr val="000000"/>
              </a:solidFill>
              <a:latin typeface="Lexend"/>
              <a:ea typeface="Lexend"/>
              <a:cs typeface="Lexend"/>
              <a:sym typeface="Lexend"/>
            </a:endParaRPr>
          </a:p>
        </p:txBody>
      </p:sp>
      <p:sp>
        <p:nvSpPr>
          <p:cNvPr id="855" name="Google Shape;855;p73"/>
          <p:cNvSpPr txBox="1"/>
          <p:nvPr/>
        </p:nvSpPr>
        <p:spPr>
          <a:xfrm>
            <a:off x="1109040" y="2930586"/>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a:t>
            </a:r>
            <a:endParaRPr sz="2200">
              <a:solidFill>
                <a:srgbClr val="000000"/>
              </a:solidFill>
              <a:latin typeface="Lexend"/>
              <a:ea typeface="Lexend"/>
              <a:cs typeface="Lexend"/>
              <a:sym typeface="Lexend"/>
            </a:endParaRPr>
          </a:p>
        </p:txBody>
      </p:sp>
      <p:sp>
        <p:nvSpPr>
          <p:cNvPr id="856" name="Google Shape;856;p73"/>
          <p:cNvSpPr txBox="1"/>
          <p:nvPr/>
        </p:nvSpPr>
        <p:spPr>
          <a:xfrm>
            <a:off x="1646648" y="4281617"/>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857" name="Google Shape;857;p73"/>
          <p:cNvSpPr txBox="1"/>
          <p:nvPr/>
        </p:nvSpPr>
        <p:spPr>
          <a:xfrm>
            <a:off x="1074601" y="4281617"/>
            <a:ext cx="69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sz="2200">
              <a:solidFill>
                <a:srgbClr val="000000"/>
              </a:solidFill>
              <a:latin typeface="Lexend"/>
              <a:ea typeface="Lexend"/>
              <a:cs typeface="Lexend"/>
              <a:sym typeface="Lexend"/>
            </a:endParaRPr>
          </a:p>
        </p:txBody>
      </p:sp>
      <p:sp>
        <p:nvSpPr>
          <p:cNvPr id="858" name="Google Shape;858;p73"/>
          <p:cNvSpPr txBox="1"/>
          <p:nvPr/>
        </p:nvSpPr>
        <p:spPr>
          <a:xfrm>
            <a:off x="1682335" y="2930586"/>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sz="2200">
              <a:solidFill>
                <a:srgbClr val="000000"/>
              </a:solidFill>
              <a:latin typeface="Lexend"/>
              <a:ea typeface="Lexend"/>
              <a:cs typeface="Lexend"/>
              <a:sym typeface="Lexend"/>
            </a:endParaRPr>
          </a:p>
        </p:txBody>
      </p:sp>
      <p:sp>
        <p:nvSpPr>
          <p:cNvPr id="859" name="Google Shape;859;p73"/>
          <p:cNvSpPr txBox="1"/>
          <p:nvPr/>
        </p:nvSpPr>
        <p:spPr>
          <a:xfrm>
            <a:off x="2258338" y="2930586"/>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sz="2200">
              <a:solidFill>
                <a:srgbClr val="000000"/>
              </a:solidFill>
              <a:latin typeface="Lexend"/>
              <a:ea typeface="Lexend"/>
              <a:cs typeface="Lexend"/>
              <a:sym typeface="Lexend"/>
            </a:endParaRPr>
          </a:p>
        </p:txBody>
      </p:sp>
      <p:sp>
        <p:nvSpPr>
          <p:cNvPr id="860" name="Google Shape;860;p73"/>
          <p:cNvSpPr txBox="1"/>
          <p:nvPr/>
        </p:nvSpPr>
        <p:spPr>
          <a:xfrm>
            <a:off x="2222651" y="4281617"/>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a:t>
            </a:r>
            <a:endParaRPr sz="2200">
              <a:solidFill>
                <a:srgbClr val="000000"/>
              </a:solidFill>
              <a:latin typeface="Lexend"/>
              <a:ea typeface="Lexend"/>
              <a:cs typeface="Lexend"/>
              <a:sym typeface="Lexend"/>
            </a:endParaRPr>
          </a:p>
        </p:txBody>
      </p:sp>
      <p:cxnSp>
        <p:nvCxnSpPr>
          <p:cNvPr id="861" name="Google Shape;861;p73"/>
          <p:cNvCxnSpPr/>
          <p:nvPr/>
        </p:nvCxnSpPr>
        <p:spPr>
          <a:xfrm>
            <a:off x="668302" y="3125711"/>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862" name="Google Shape;862;p73"/>
          <p:cNvGrpSpPr/>
          <p:nvPr/>
        </p:nvGrpSpPr>
        <p:grpSpPr>
          <a:xfrm>
            <a:off x="1128010" y="3304361"/>
            <a:ext cx="31897" cy="1000200"/>
            <a:chOff x="941713" y="3767150"/>
            <a:chExt cx="63300" cy="1000200"/>
          </a:xfrm>
        </p:grpSpPr>
        <p:cxnSp>
          <p:nvCxnSpPr>
            <p:cNvPr id="863" name="Google Shape;863;p73"/>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64" name="Google Shape;864;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 name="Google Shape;865;p73"/>
          <p:cNvGrpSpPr/>
          <p:nvPr/>
        </p:nvGrpSpPr>
        <p:grpSpPr>
          <a:xfrm>
            <a:off x="2279925" y="3304361"/>
            <a:ext cx="31897" cy="1000200"/>
            <a:chOff x="941713" y="3767150"/>
            <a:chExt cx="63300" cy="1000200"/>
          </a:xfrm>
        </p:grpSpPr>
        <p:cxnSp>
          <p:nvCxnSpPr>
            <p:cNvPr id="866" name="Google Shape;866;p73"/>
            <p:cNvCxnSpPr/>
            <p:nvPr/>
          </p:nvCxnSpPr>
          <p:spPr>
            <a:xfrm>
              <a:off x="975300" y="3767150"/>
              <a:ext cx="0" cy="1000200"/>
            </a:xfrm>
            <a:prstGeom prst="straightConnector1">
              <a:avLst/>
            </a:prstGeom>
            <a:noFill/>
            <a:ln cap="flat" cmpd="sng" w="28575">
              <a:solidFill>
                <a:srgbClr val="000000"/>
              </a:solidFill>
              <a:prstDash val="solid"/>
              <a:round/>
              <a:headEnd len="med" w="med" type="none"/>
              <a:tailEnd len="med" w="med" type="none"/>
            </a:ln>
          </p:spPr>
        </p:cxnSp>
        <p:sp>
          <p:nvSpPr>
            <p:cNvPr id="867" name="Google Shape;867;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73"/>
          <p:cNvGrpSpPr/>
          <p:nvPr/>
        </p:nvGrpSpPr>
        <p:grpSpPr>
          <a:xfrm>
            <a:off x="1703968" y="3304361"/>
            <a:ext cx="31897" cy="1000200"/>
            <a:chOff x="941713" y="3767150"/>
            <a:chExt cx="63300" cy="1000200"/>
          </a:xfrm>
        </p:grpSpPr>
        <p:cxnSp>
          <p:nvCxnSpPr>
            <p:cNvPr id="869" name="Google Shape;869;p73"/>
            <p:cNvCxnSpPr/>
            <p:nvPr/>
          </p:nvCxnSpPr>
          <p:spPr>
            <a:xfrm>
              <a:off x="975300" y="3767150"/>
              <a:ext cx="0" cy="1000200"/>
            </a:xfrm>
            <a:prstGeom prst="straightConnector1">
              <a:avLst/>
            </a:prstGeom>
            <a:noFill/>
            <a:ln cap="flat" cmpd="sng" w="28575">
              <a:solidFill>
                <a:srgbClr val="000000"/>
              </a:solidFill>
              <a:prstDash val="solid"/>
              <a:round/>
              <a:headEnd len="med" w="med" type="none"/>
              <a:tailEnd len="med" w="med" type="none"/>
            </a:ln>
          </p:spPr>
        </p:cxnSp>
        <p:sp>
          <p:nvSpPr>
            <p:cNvPr id="870" name="Google Shape;870;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1" name="Google Shape;871;p73"/>
          <p:cNvCxnSpPr>
            <a:endCxn id="853" idx="1"/>
          </p:cNvCxnSpPr>
          <p:nvPr/>
        </p:nvCxnSpPr>
        <p:spPr>
          <a:xfrm>
            <a:off x="679473" y="3491050"/>
            <a:ext cx="1960800" cy="0"/>
          </a:xfrm>
          <a:prstGeom prst="straightConnector1">
            <a:avLst/>
          </a:prstGeom>
          <a:noFill/>
          <a:ln cap="flat" cmpd="sng" w="38100">
            <a:solidFill>
              <a:srgbClr val="000000"/>
            </a:solidFill>
            <a:prstDash val="solid"/>
            <a:round/>
            <a:headEnd len="med" w="med" type="none"/>
            <a:tailEnd len="med" w="med" type="triangle"/>
          </a:ln>
        </p:spPr>
      </p:cxnSp>
      <p:cxnSp>
        <p:nvCxnSpPr>
          <p:cNvPr id="872" name="Google Shape;872;p73"/>
          <p:cNvCxnSpPr/>
          <p:nvPr/>
        </p:nvCxnSpPr>
        <p:spPr>
          <a:xfrm>
            <a:off x="652825" y="4097675"/>
            <a:ext cx="2016300" cy="0"/>
          </a:xfrm>
          <a:prstGeom prst="straightConnector1">
            <a:avLst/>
          </a:prstGeom>
          <a:noFill/>
          <a:ln cap="flat" cmpd="sng" w="38100">
            <a:solidFill>
              <a:srgbClr val="000000"/>
            </a:solidFill>
            <a:prstDash val="solid"/>
            <a:round/>
            <a:headEnd len="med" w="med" type="none"/>
            <a:tailEnd len="med" w="med" type="triangle"/>
          </a:ln>
        </p:spPr>
      </p:cxnSp>
      <p:sp>
        <p:nvSpPr>
          <p:cNvPr id="873" name="Google Shape;873;p73"/>
          <p:cNvSpPr/>
          <p:nvPr/>
        </p:nvSpPr>
        <p:spPr>
          <a:xfrm>
            <a:off x="3295800" y="1379700"/>
            <a:ext cx="2471400" cy="3516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74" name="Google Shape;874;p73"/>
          <p:cNvGrpSpPr/>
          <p:nvPr/>
        </p:nvGrpSpPr>
        <p:grpSpPr>
          <a:xfrm>
            <a:off x="4523524" y="3304361"/>
            <a:ext cx="31897" cy="1000200"/>
            <a:chOff x="941713" y="3767150"/>
            <a:chExt cx="63300" cy="1000200"/>
          </a:xfrm>
        </p:grpSpPr>
        <p:cxnSp>
          <p:nvCxnSpPr>
            <p:cNvPr id="875" name="Google Shape;875;p73"/>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76" name="Google Shape;876;p73"/>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7" name="Google Shape;877;p73"/>
          <p:cNvSpPr txBox="1"/>
          <p:nvPr/>
        </p:nvSpPr>
        <p:spPr>
          <a:xfrm>
            <a:off x="5459673" y="3344800"/>
            <a:ext cx="314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R</a:t>
            </a:r>
            <a:endParaRPr sz="1900">
              <a:solidFill>
                <a:srgbClr val="000000"/>
              </a:solidFill>
              <a:latin typeface="Lexend"/>
              <a:ea typeface="Lexend"/>
              <a:cs typeface="Lexend"/>
              <a:sym typeface="Lexend"/>
            </a:endParaRPr>
          </a:p>
        </p:txBody>
      </p:sp>
      <p:sp>
        <p:nvSpPr>
          <p:cNvPr id="878" name="Google Shape;878;p73"/>
          <p:cNvSpPr txBox="1"/>
          <p:nvPr/>
        </p:nvSpPr>
        <p:spPr>
          <a:xfrm>
            <a:off x="5462978" y="3952125"/>
            <a:ext cx="302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C</a:t>
            </a:r>
            <a:endParaRPr sz="1900">
              <a:solidFill>
                <a:srgbClr val="000000"/>
              </a:solidFill>
              <a:latin typeface="Lexend"/>
              <a:ea typeface="Lexend"/>
              <a:cs typeface="Lexend"/>
              <a:sym typeface="Lexend"/>
            </a:endParaRPr>
          </a:p>
        </p:txBody>
      </p:sp>
      <p:sp>
        <p:nvSpPr>
          <p:cNvPr id="879" name="Google Shape;879;p73"/>
          <p:cNvSpPr txBox="1"/>
          <p:nvPr/>
        </p:nvSpPr>
        <p:spPr>
          <a:xfrm>
            <a:off x="3871102" y="2930586"/>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sz="2200">
              <a:solidFill>
                <a:srgbClr val="000000"/>
              </a:solidFill>
              <a:latin typeface="Lexend"/>
              <a:ea typeface="Lexend"/>
              <a:cs typeface="Lexend"/>
              <a:sym typeface="Lexend"/>
            </a:endParaRPr>
          </a:p>
        </p:txBody>
      </p:sp>
      <p:sp>
        <p:nvSpPr>
          <p:cNvPr id="880" name="Google Shape;880;p73"/>
          <p:cNvSpPr txBox="1"/>
          <p:nvPr/>
        </p:nvSpPr>
        <p:spPr>
          <a:xfrm>
            <a:off x="4466048" y="4281617"/>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881" name="Google Shape;881;p73"/>
          <p:cNvSpPr txBox="1"/>
          <p:nvPr/>
        </p:nvSpPr>
        <p:spPr>
          <a:xfrm>
            <a:off x="3894001" y="4281617"/>
            <a:ext cx="69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sz="2200">
              <a:solidFill>
                <a:srgbClr val="000000"/>
              </a:solidFill>
              <a:latin typeface="Lexend"/>
              <a:ea typeface="Lexend"/>
              <a:cs typeface="Lexend"/>
              <a:sym typeface="Lexend"/>
            </a:endParaRPr>
          </a:p>
        </p:txBody>
      </p:sp>
      <p:sp>
        <p:nvSpPr>
          <p:cNvPr id="882" name="Google Shape;882;p73"/>
          <p:cNvSpPr txBox="1"/>
          <p:nvPr/>
        </p:nvSpPr>
        <p:spPr>
          <a:xfrm>
            <a:off x="4444397" y="2930586"/>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4</a:t>
            </a:r>
            <a:endParaRPr sz="2200">
              <a:solidFill>
                <a:srgbClr val="000000"/>
              </a:solidFill>
              <a:latin typeface="Lexend"/>
              <a:ea typeface="Lexend"/>
              <a:cs typeface="Lexend"/>
              <a:sym typeface="Lexend"/>
            </a:endParaRPr>
          </a:p>
        </p:txBody>
      </p:sp>
      <p:sp>
        <p:nvSpPr>
          <p:cNvPr id="883" name="Google Shape;883;p73"/>
          <p:cNvSpPr txBox="1"/>
          <p:nvPr/>
        </p:nvSpPr>
        <p:spPr>
          <a:xfrm>
            <a:off x="5020399" y="2930586"/>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884" name="Google Shape;884;p73"/>
          <p:cNvSpPr txBox="1"/>
          <p:nvPr/>
        </p:nvSpPr>
        <p:spPr>
          <a:xfrm>
            <a:off x="5042051" y="4281617"/>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a:t>
            </a:r>
            <a:endParaRPr sz="2200">
              <a:solidFill>
                <a:srgbClr val="000000"/>
              </a:solidFill>
              <a:latin typeface="Lexend"/>
              <a:ea typeface="Lexend"/>
              <a:cs typeface="Lexend"/>
              <a:sym typeface="Lexend"/>
            </a:endParaRPr>
          </a:p>
        </p:txBody>
      </p:sp>
      <p:cxnSp>
        <p:nvCxnSpPr>
          <p:cNvPr id="885" name="Google Shape;885;p73"/>
          <p:cNvCxnSpPr/>
          <p:nvPr/>
        </p:nvCxnSpPr>
        <p:spPr>
          <a:xfrm>
            <a:off x="3487702" y="3125711"/>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886" name="Google Shape;886;p73"/>
          <p:cNvGrpSpPr/>
          <p:nvPr/>
        </p:nvGrpSpPr>
        <p:grpSpPr>
          <a:xfrm>
            <a:off x="3947410" y="3304361"/>
            <a:ext cx="31897" cy="1000200"/>
            <a:chOff x="941713" y="3767150"/>
            <a:chExt cx="63300" cy="1000200"/>
          </a:xfrm>
        </p:grpSpPr>
        <p:cxnSp>
          <p:nvCxnSpPr>
            <p:cNvPr id="887" name="Google Shape;887;p73"/>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88" name="Google Shape;888;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 name="Google Shape;889;p73"/>
          <p:cNvGrpSpPr/>
          <p:nvPr/>
        </p:nvGrpSpPr>
        <p:grpSpPr>
          <a:xfrm>
            <a:off x="5099325" y="3304361"/>
            <a:ext cx="31897" cy="1000200"/>
            <a:chOff x="941713" y="3767150"/>
            <a:chExt cx="63300" cy="1000200"/>
          </a:xfrm>
        </p:grpSpPr>
        <p:cxnSp>
          <p:nvCxnSpPr>
            <p:cNvPr id="890" name="Google Shape;890;p73"/>
            <p:cNvCxnSpPr/>
            <p:nvPr/>
          </p:nvCxnSpPr>
          <p:spPr>
            <a:xfrm>
              <a:off x="975300" y="3767150"/>
              <a:ext cx="0" cy="1000200"/>
            </a:xfrm>
            <a:prstGeom prst="straightConnector1">
              <a:avLst/>
            </a:prstGeom>
            <a:noFill/>
            <a:ln cap="flat" cmpd="sng" w="28575">
              <a:solidFill>
                <a:srgbClr val="000000"/>
              </a:solidFill>
              <a:prstDash val="solid"/>
              <a:round/>
              <a:headEnd len="med" w="med" type="none"/>
              <a:tailEnd len="med" w="med" type="none"/>
            </a:ln>
          </p:spPr>
        </p:cxnSp>
        <p:sp>
          <p:nvSpPr>
            <p:cNvPr id="891" name="Google Shape;891;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 name="Google Shape;892;p73"/>
          <p:cNvGrpSpPr/>
          <p:nvPr/>
        </p:nvGrpSpPr>
        <p:grpSpPr>
          <a:xfrm>
            <a:off x="4523368" y="3304361"/>
            <a:ext cx="31897" cy="1000200"/>
            <a:chOff x="941713" y="3767150"/>
            <a:chExt cx="63300" cy="1000200"/>
          </a:xfrm>
        </p:grpSpPr>
        <p:cxnSp>
          <p:nvCxnSpPr>
            <p:cNvPr id="893" name="Google Shape;893;p73"/>
            <p:cNvCxnSpPr/>
            <p:nvPr/>
          </p:nvCxnSpPr>
          <p:spPr>
            <a:xfrm>
              <a:off x="975300" y="3767150"/>
              <a:ext cx="0" cy="1000200"/>
            </a:xfrm>
            <a:prstGeom prst="straightConnector1">
              <a:avLst/>
            </a:prstGeom>
            <a:noFill/>
            <a:ln cap="flat" cmpd="sng" w="28575">
              <a:solidFill>
                <a:srgbClr val="000000"/>
              </a:solidFill>
              <a:prstDash val="solid"/>
              <a:round/>
              <a:headEnd len="med" w="med" type="none"/>
              <a:tailEnd len="med" w="med" type="none"/>
            </a:ln>
          </p:spPr>
        </p:cxnSp>
        <p:sp>
          <p:nvSpPr>
            <p:cNvPr id="894" name="Google Shape;894;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95" name="Google Shape;895;p73"/>
          <p:cNvCxnSpPr>
            <a:endCxn id="877" idx="1"/>
          </p:cNvCxnSpPr>
          <p:nvPr/>
        </p:nvCxnSpPr>
        <p:spPr>
          <a:xfrm>
            <a:off x="3498873" y="3491050"/>
            <a:ext cx="1960800" cy="0"/>
          </a:xfrm>
          <a:prstGeom prst="straightConnector1">
            <a:avLst/>
          </a:prstGeom>
          <a:noFill/>
          <a:ln cap="flat" cmpd="sng" w="38100">
            <a:solidFill>
              <a:srgbClr val="000000"/>
            </a:solidFill>
            <a:prstDash val="solid"/>
            <a:round/>
            <a:headEnd len="med" w="med" type="none"/>
            <a:tailEnd len="med" w="med" type="triangle"/>
          </a:ln>
        </p:spPr>
      </p:cxnSp>
      <p:cxnSp>
        <p:nvCxnSpPr>
          <p:cNvPr id="896" name="Google Shape;896;p73"/>
          <p:cNvCxnSpPr/>
          <p:nvPr/>
        </p:nvCxnSpPr>
        <p:spPr>
          <a:xfrm>
            <a:off x="3472225" y="4097675"/>
            <a:ext cx="2016300" cy="0"/>
          </a:xfrm>
          <a:prstGeom prst="straightConnector1">
            <a:avLst/>
          </a:prstGeom>
          <a:noFill/>
          <a:ln cap="flat" cmpd="sng" w="38100">
            <a:solidFill>
              <a:srgbClr val="000000"/>
            </a:solidFill>
            <a:prstDash val="solid"/>
            <a:round/>
            <a:headEnd len="med" w="med" type="none"/>
            <a:tailEnd len="med" w="med" type="triangle"/>
          </a:ln>
        </p:spPr>
      </p:cxnSp>
      <p:sp>
        <p:nvSpPr>
          <p:cNvPr id="897" name="Google Shape;897;p73"/>
          <p:cNvSpPr/>
          <p:nvPr/>
        </p:nvSpPr>
        <p:spPr>
          <a:xfrm>
            <a:off x="5962800" y="1379700"/>
            <a:ext cx="2471400" cy="3516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98" name="Google Shape;898;p73"/>
          <p:cNvGrpSpPr/>
          <p:nvPr/>
        </p:nvGrpSpPr>
        <p:grpSpPr>
          <a:xfrm>
            <a:off x="7190524" y="3304361"/>
            <a:ext cx="31897" cy="1000200"/>
            <a:chOff x="941713" y="3767150"/>
            <a:chExt cx="63300" cy="1000200"/>
          </a:xfrm>
        </p:grpSpPr>
        <p:cxnSp>
          <p:nvCxnSpPr>
            <p:cNvPr id="899" name="Google Shape;899;p73"/>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900" name="Google Shape;900;p73"/>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1" name="Google Shape;901;p73"/>
          <p:cNvSpPr txBox="1"/>
          <p:nvPr/>
        </p:nvSpPr>
        <p:spPr>
          <a:xfrm>
            <a:off x="8126673" y="3344800"/>
            <a:ext cx="314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R</a:t>
            </a:r>
            <a:endParaRPr sz="1900">
              <a:solidFill>
                <a:srgbClr val="000000"/>
              </a:solidFill>
              <a:latin typeface="Lexend"/>
              <a:ea typeface="Lexend"/>
              <a:cs typeface="Lexend"/>
              <a:sym typeface="Lexend"/>
            </a:endParaRPr>
          </a:p>
        </p:txBody>
      </p:sp>
      <p:sp>
        <p:nvSpPr>
          <p:cNvPr id="902" name="Google Shape;902;p73"/>
          <p:cNvSpPr txBox="1"/>
          <p:nvPr/>
        </p:nvSpPr>
        <p:spPr>
          <a:xfrm>
            <a:off x="8129978" y="3952125"/>
            <a:ext cx="302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C</a:t>
            </a:r>
            <a:endParaRPr sz="1900">
              <a:solidFill>
                <a:srgbClr val="000000"/>
              </a:solidFill>
              <a:latin typeface="Lexend"/>
              <a:ea typeface="Lexend"/>
              <a:cs typeface="Lexend"/>
              <a:sym typeface="Lexend"/>
            </a:endParaRPr>
          </a:p>
        </p:txBody>
      </p:sp>
      <p:sp>
        <p:nvSpPr>
          <p:cNvPr id="903" name="Google Shape;903;p73"/>
          <p:cNvSpPr txBox="1"/>
          <p:nvPr/>
        </p:nvSpPr>
        <p:spPr>
          <a:xfrm>
            <a:off x="6538856" y="2930586"/>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sz="2200">
              <a:solidFill>
                <a:srgbClr val="000000"/>
              </a:solidFill>
              <a:latin typeface="Lexend"/>
              <a:ea typeface="Lexend"/>
              <a:cs typeface="Lexend"/>
              <a:sym typeface="Lexend"/>
            </a:endParaRPr>
          </a:p>
        </p:txBody>
      </p:sp>
      <p:sp>
        <p:nvSpPr>
          <p:cNvPr id="904" name="Google Shape;904;p73"/>
          <p:cNvSpPr txBox="1"/>
          <p:nvPr/>
        </p:nvSpPr>
        <p:spPr>
          <a:xfrm>
            <a:off x="7049011" y="4281625"/>
            <a:ext cx="408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14</a:t>
            </a:r>
            <a:endParaRPr sz="2200">
              <a:solidFill>
                <a:srgbClr val="000000"/>
              </a:solidFill>
              <a:latin typeface="Lexend"/>
              <a:ea typeface="Lexend"/>
              <a:cs typeface="Lexend"/>
              <a:sym typeface="Lexend"/>
            </a:endParaRPr>
          </a:p>
        </p:txBody>
      </p:sp>
      <p:sp>
        <p:nvSpPr>
          <p:cNvPr id="905" name="Google Shape;905;p73"/>
          <p:cNvSpPr txBox="1"/>
          <p:nvPr/>
        </p:nvSpPr>
        <p:spPr>
          <a:xfrm>
            <a:off x="6561001" y="4281617"/>
            <a:ext cx="69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7</a:t>
            </a:r>
            <a:endParaRPr sz="2200">
              <a:solidFill>
                <a:srgbClr val="000000"/>
              </a:solidFill>
              <a:latin typeface="Lexend"/>
              <a:ea typeface="Lexend"/>
              <a:cs typeface="Lexend"/>
              <a:sym typeface="Lexend"/>
            </a:endParaRPr>
          </a:p>
        </p:txBody>
      </p:sp>
      <p:sp>
        <p:nvSpPr>
          <p:cNvPr id="906" name="Google Shape;906;p73"/>
          <p:cNvSpPr txBox="1"/>
          <p:nvPr/>
        </p:nvSpPr>
        <p:spPr>
          <a:xfrm>
            <a:off x="7045380" y="2930575"/>
            <a:ext cx="408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a:t>
            </a:r>
            <a:endParaRPr sz="2200">
              <a:solidFill>
                <a:srgbClr val="000000"/>
              </a:solidFill>
              <a:latin typeface="Lexend"/>
              <a:ea typeface="Lexend"/>
              <a:cs typeface="Lexend"/>
              <a:sym typeface="Lexend"/>
            </a:endParaRPr>
          </a:p>
        </p:txBody>
      </p:sp>
      <p:sp>
        <p:nvSpPr>
          <p:cNvPr id="907" name="Google Shape;907;p73"/>
          <p:cNvSpPr txBox="1"/>
          <p:nvPr/>
        </p:nvSpPr>
        <p:spPr>
          <a:xfrm>
            <a:off x="7650425" y="2930575"/>
            <a:ext cx="408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15</a:t>
            </a:r>
            <a:endParaRPr sz="2200">
              <a:solidFill>
                <a:srgbClr val="000000"/>
              </a:solidFill>
              <a:latin typeface="Lexend"/>
              <a:ea typeface="Lexend"/>
              <a:cs typeface="Lexend"/>
              <a:sym typeface="Lexend"/>
            </a:endParaRPr>
          </a:p>
        </p:txBody>
      </p:sp>
      <p:sp>
        <p:nvSpPr>
          <p:cNvPr id="908" name="Google Shape;908;p73"/>
          <p:cNvSpPr txBox="1"/>
          <p:nvPr/>
        </p:nvSpPr>
        <p:spPr>
          <a:xfrm>
            <a:off x="7632849" y="4281625"/>
            <a:ext cx="408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21</a:t>
            </a:r>
            <a:endParaRPr sz="2200">
              <a:solidFill>
                <a:srgbClr val="000000"/>
              </a:solidFill>
              <a:latin typeface="Lexend"/>
              <a:ea typeface="Lexend"/>
              <a:cs typeface="Lexend"/>
              <a:sym typeface="Lexend"/>
            </a:endParaRPr>
          </a:p>
        </p:txBody>
      </p:sp>
      <p:cxnSp>
        <p:nvCxnSpPr>
          <p:cNvPr id="909" name="Google Shape;909;p73"/>
          <p:cNvCxnSpPr/>
          <p:nvPr/>
        </p:nvCxnSpPr>
        <p:spPr>
          <a:xfrm>
            <a:off x="6154702" y="3125711"/>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910" name="Google Shape;910;p73"/>
          <p:cNvGrpSpPr/>
          <p:nvPr/>
        </p:nvGrpSpPr>
        <p:grpSpPr>
          <a:xfrm>
            <a:off x="6614410" y="3304361"/>
            <a:ext cx="31897" cy="1000200"/>
            <a:chOff x="941713" y="3767150"/>
            <a:chExt cx="63300" cy="1000200"/>
          </a:xfrm>
        </p:grpSpPr>
        <p:cxnSp>
          <p:nvCxnSpPr>
            <p:cNvPr id="911" name="Google Shape;911;p73"/>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912" name="Google Shape;912;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3" name="Google Shape;913;p73"/>
          <p:cNvGrpSpPr/>
          <p:nvPr/>
        </p:nvGrpSpPr>
        <p:grpSpPr>
          <a:xfrm>
            <a:off x="7766325" y="3304361"/>
            <a:ext cx="31897" cy="1000200"/>
            <a:chOff x="941713" y="3767150"/>
            <a:chExt cx="63300" cy="1000200"/>
          </a:xfrm>
        </p:grpSpPr>
        <p:cxnSp>
          <p:nvCxnSpPr>
            <p:cNvPr id="914" name="Google Shape;914;p73"/>
            <p:cNvCxnSpPr/>
            <p:nvPr/>
          </p:nvCxnSpPr>
          <p:spPr>
            <a:xfrm>
              <a:off x="975300" y="3767150"/>
              <a:ext cx="0" cy="1000200"/>
            </a:xfrm>
            <a:prstGeom prst="straightConnector1">
              <a:avLst/>
            </a:prstGeom>
            <a:noFill/>
            <a:ln cap="flat" cmpd="sng" w="28575">
              <a:solidFill>
                <a:srgbClr val="000000"/>
              </a:solidFill>
              <a:prstDash val="solid"/>
              <a:round/>
              <a:headEnd len="med" w="med" type="none"/>
              <a:tailEnd len="med" w="med" type="none"/>
            </a:ln>
          </p:spPr>
        </p:cxnSp>
        <p:sp>
          <p:nvSpPr>
            <p:cNvPr id="915" name="Google Shape;915;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 name="Google Shape;916;p73"/>
          <p:cNvGrpSpPr/>
          <p:nvPr/>
        </p:nvGrpSpPr>
        <p:grpSpPr>
          <a:xfrm>
            <a:off x="7190368" y="3304361"/>
            <a:ext cx="31897" cy="1000200"/>
            <a:chOff x="941713" y="3767150"/>
            <a:chExt cx="63300" cy="1000200"/>
          </a:xfrm>
        </p:grpSpPr>
        <p:cxnSp>
          <p:nvCxnSpPr>
            <p:cNvPr id="917" name="Google Shape;917;p73"/>
            <p:cNvCxnSpPr/>
            <p:nvPr/>
          </p:nvCxnSpPr>
          <p:spPr>
            <a:xfrm>
              <a:off x="975300" y="3767150"/>
              <a:ext cx="0" cy="1000200"/>
            </a:xfrm>
            <a:prstGeom prst="straightConnector1">
              <a:avLst/>
            </a:prstGeom>
            <a:noFill/>
            <a:ln cap="flat" cmpd="sng" w="28575">
              <a:solidFill>
                <a:srgbClr val="000000"/>
              </a:solidFill>
              <a:prstDash val="solid"/>
              <a:round/>
              <a:headEnd len="med" w="med" type="none"/>
              <a:tailEnd len="med" w="med" type="none"/>
            </a:ln>
          </p:spPr>
        </p:cxnSp>
        <p:sp>
          <p:nvSpPr>
            <p:cNvPr id="918" name="Google Shape;918;p73"/>
            <p:cNvSpPr/>
            <p:nvPr/>
          </p:nvSpPr>
          <p:spPr>
            <a:xfrm>
              <a:off x="941713" y="3976875"/>
              <a:ext cx="63300" cy="552600"/>
            </a:xfrm>
            <a:prstGeom prst="rect">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19" name="Google Shape;919;p73"/>
          <p:cNvCxnSpPr>
            <a:endCxn id="901" idx="1"/>
          </p:cNvCxnSpPr>
          <p:nvPr/>
        </p:nvCxnSpPr>
        <p:spPr>
          <a:xfrm>
            <a:off x="6165873" y="3491050"/>
            <a:ext cx="1960800" cy="0"/>
          </a:xfrm>
          <a:prstGeom prst="straightConnector1">
            <a:avLst/>
          </a:prstGeom>
          <a:noFill/>
          <a:ln cap="flat" cmpd="sng" w="38100">
            <a:solidFill>
              <a:srgbClr val="000000"/>
            </a:solidFill>
            <a:prstDash val="solid"/>
            <a:round/>
            <a:headEnd len="med" w="med" type="none"/>
            <a:tailEnd len="med" w="med" type="triangle"/>
          </a:ln>
        </p:spPr>
      </p:cxnSp>
      <p:cxnSp>
        <p:nvCxnSpPr>
          <p:cNvPr id="920" name="Google Shape;920;p73"/>
          <p:cNvCxnSpPr/>
          <p:nvPr/>
        </p:nvCxnSpPr>
        <p:spPr>
          <a:xfrm>
            <a:off x="6139225" y="4097675"/>
            <a:ext cx="2016300" cy="0"/>
          </a:xfrm>
          <a:prstGeom prst="straightConnector1">
            <a:avLst/>
          </a:prstGeom>
          <a:noFill/>
          <a:ln cap="flat" cmpd="sng" w="38100">
            <a:solidFill>
              <a:srgbClr val="000000"/>
            </a:solidFill>
            <a:prstDash val="solid"/>
            <a:round/>
            <a:headEnd len="med" w="med" type="none"/>
            <a:tailEnd len="med" w="med" type="triangle"/>
          </a:ln>
        </p:spPr>
      </p:cxnSp>
      <p:sp>
        <p:nvSpPr>
          <p:cNvPr id="921" name="Google Shape;921;p73"/>
          <p:cNvSpPr txBox="1"/>
          <p:nvPr/>
        </p:nvSpPr>
        <p:spPr>
          <a:xfrm>
            <a:off x="745025" y="1618438"/>
            <a:ext cx="1829700" cy="9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Ratio of </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R : C</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1 : 3</a:t>
            </a:r>
            <a:endParaRPr sz="2200">
              <a:solidFill>
                <a:schemeClr val="dk1"/>
              </a:solidFill>
              <a:latin typeface="Lexend"/>
              <a:ea typeface="Lexend"/>
              <a:cs typeface="Lexend"/>
              <a:sym typeface="Lexend"/>
            </a:endParaRPr>
          </a:p>
        </p:txBody>
      </p:sp>
      <p:sp>
        <p:nvSpPr>
          <p:cNvPr id="922" name="Google Shape;922;p73"/>
          <p:cNvSpPr txBox="1"/>
          <p:nvPr/>
        </p:nvSpPr>
        <p:spPr>
          <a:xfrm>
            <a:off x="3564425" y="1618438"/>
            <a:ext cx="1829700" cy="9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Ratio of </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R : C</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2 : 3</a:t>
            </a:r>
            <a:endParaRPr sz="2200">
              <a:solidFill>
                <a:schemeClr val="dk1"/>
              </a:solidFill>
              <a:latin typeface="Lexend"/>
              <a:ea typeface="Lexend"/>
              <a:cs typeface="Lexend"/>
              <a:sym typeface="Lexend"/>
            </a:endParaRPr>
          </a:p>
        </p:txBody>
      </p:sp>
      <p:sp>
        <p:nvSpPr>
          <p:cNvPr id="923" name="Google Shape;923;p73"/>
          <p:cNvSpPr txBox="1"/>
          <p:nvPr/>
        </p:nvSpPr>
        <p:spPr>
          <a:xfrm>
            <a:off x="6307625" y="1618438"/>
            <a:ext cx="1829700" cy="9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Ratio of </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R : C</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5 : 7</a:t>
            </a:r>
            <a:endParaRPr sz="2200">
              <a:solidFill>
                <a:schemeClr val="dk1"/>
              </a:solidFill>
              <a:latin typeface="Lexend"/>
              <a:ea typeface="Lexend"/>
              <a:cs typeface="Lexend"/>
              <a:sym typeface="Lexend"/>
            </a:endParaRPr>
          </a:p>
        </p:txBody>
      </p:sp>
      <p:sp>
        <p:nvSpPr>
          <p:cNvPr id="924" name="Google Shape;924;p73"/>
          <p:cNvSpPr/>
          <p:nvPr/>
        </p:nvSpPr>
        <p:spPr>
          <a:xfrm>
            <a:off x="2119450" y="2885854"/>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25" name="Google Shape;925;p73"/>
          <p:cNvGrpSpPr/>
          <p:nvPr/>
        </p:nvGrpSpPr>
        <p:grpSpPr>
          <a:xfrm>
            <a:off x="1550800" y="4339629"/>
            <a:ext cx="932700" cy="352200"/>
            <a:chOff x="1550800" y="4339629"/>
            <a:chExt cx="932700" cy="352200"/>
          </a:xfrm>
        </p:grpSpPr>
        <p:sp>
          <p:nvSpPr>
            <p:cNvPr id="926" name="Google Shape;926;p73"/>
            <p:cNvSpPr/>
            <p:nvPr/>
          </p:nvSpPr>
          <p:spPr>
            <a:xfrm>
              <a:off x="1550800" y="433962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7" name="Google Shape;927;p73"/>
            <p:cNvSpPr/>
            <p:nvPr/>
          </p:nvSpPr>
          <p:spPr>
            <a:xfrm>
              <a:off x="2078800" y="433962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28" name="Google Shape;928;p73"/>
          <p:cNvSpPr/>
          <p:nvPr/>
        </p:nvSpPr>
        <p:spPr>
          <a:xfrm>
            <a:off x="4343300" y="2885854"/>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29" name="Google Shape;929;p73"/>
          <p:cNvGrpSpPr/>
          <p:nvPr/>
        </p:nvGrpSpPr>
        <p:grpSpPr>
          <a:xfrm>
            <a:off x="4348900" y="4274879"/>
            <a:ext cx="978363" cy="352200"/>
            <a:chOff x="4348900" y="4274879"/>
            <a:chExt cx="978363" cy="352200"/>
          </a:xfrm>
        </p:grpSpPr>
        <p:sp>
          <p:nvSpPr>
            <p:cNvPr id="930" name="Google Shape;930;p73"/>
            <p:cNvSpPr/>
            <p:nvPr/>
          </p:nvSpPr>
          <p:spPr>
            <a:xfrm>
              <a:off x="4348900" y="427487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1" name="Google Shape;931;p73"/>
            <p:cNvSpPr/>
            <p:nvPr/>
          </p:nvSpPr>
          <p:spPr>
            <a:xfrm>
              <a:off x="4922563" y="427487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32" name="Google Shape;932;p73"/>
          <p:cNvGrpSpPr/>
          <p:nvPr/>
        </p:nvGrpSpPr>
        <p:grpSpPr>
          <a:xfrm>
            <a:off x="3979288" y="2384896"/>
            <a:ext cx="997400" cy="362958"/>
            <a:chOff x="3979288" y="2384896"/>
            <a:chExt cx="997400" cy="362958"/>
          </a:xfrm>
        </p:grpSpPr>
        <p:sp>
          <p:nvSpPr>
            <p:cNvPr id="933" name="Google Shape;933;p73"/>
            <p:cNvSpPr/>
            <p:nvPr/>
          </p:nvSpPr>
          <p:spPr>
            <a:xfrm>
              <a:off x="3979288" y="2395654"/>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4" name="Google Shape;934;p73"/>
            <p:cNvSpPr/>
            <p:nvPr/>
          </p:nvSpPr>
          <p:spPr>
            <a:xfrm>
              <a:off x="4571988" y="2384896"/>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35" name="Google Shape;935;p73"/>
          <p:cNvGrpSpPr/>
          <p:nvPr/>
        </p:nvGrpSpPr>
        <p:grpSpPr>
          <a:xfrm>
            <a:off x="6728080" y="2383569"/>
            <a:ext cx="997400" cy="362958"/>
            <a:chOff x="6728080" y="2383569"/>
            <a:chExt cx="997400" cy="362958"/>
          </a:xfrm>
        </p:grpSpPr>
        <p:sp>
          <p:nvSpPr>
            <p:cNvPr id="936" name="Google Shape;936;p73"/>
            <p:cNvSpPr/>
            <p:nvPr/>
          </p:nvSpPr>
          <p:spPr>
            <a:xfrm>
              <a:off x="6728080" y="239432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7" name="Google Shape;937;p73"/>
            <p:cNvSpPr/>
            <p:nvPr/>
          </p:nvSpPr>
          <p:spPr>
            <a:xfrm>
              <a:off x="7320780" y="238356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38" name="Google Shape;938;p73"/>
          <p:cNvGrpSpPr/>
          <p:nvPr/>
        </p:nvGrpSpPr>
        <p:grpSpPr>
          <a:xfrm>
            <a:off x="6397692" y="2930589"/>
            <a:ext cx="1568400" cy="364300"/>
            <a:chOff x="6397692" y="2930589"/>
            <a:chExt cx="1568400" cy="364300"/>
          </a:xfrm>
        </p:grpSpPr>
        <p:sp>
          <p:nvSpPr>
            <p:cNvPr id="939" name="Google Shape;939;p73"/>
            <p:cNvSpPr/>
            <p:nvPr/>
          </p:nvSpPr>
          <p:spPr>
            <a:xfrm>
              <a:off x="6397692" y="294268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0" name="Google Shape;940;p73"/>
            <p:cNvSpPr/>
            <p:nvPr/>
          </p:nvSpPr>
          <p:spPr>
            <a:xfrm>
              <a:off x="7561392" y="2930589"/>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41" name="Google Shape;941;p73"/>
          <p:cNvSpPr/>
          <p:nvPr/>
        </p:nvSpPr>
        <p:spPr>
          <a:xfrm>
            <a:off x="7555792" y="4274864"/>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4"/>
          <p:cNvSpPr txBox="1"/>
          <p:nvPr/>
        </p:nvSpPr>
        <p:spPr>
          <a:xfrm>
            <a:off x="3658850" y="967875"/>
            <a:ext cx="1860600" cy="15729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For every 9 ticks, there are 3 crosses.</a:t>
            </a:r>
            <a:endParaRPr sz="2200">
              <a:solidFill>
                <a:schemeClr val="dk1"/>
              </a:solidFill>
              <a:latin typeface="Lexend"/>
              <a:ea typeface="Lexend"/>
              <a:cs typeface="Lexend"/>
              <a:sym typeface="Lexend"/>
            </a:endParaRPr>
          </a:p>
        </p:txBody>
      </p:sp>
      <p:sp>
        <p:nvSpPr>
          <p:cNvPr id="947" name="Google Shape;947;p74"/>
          <p:cNvSpPr txBox="1"/>
          <p:nvPr/>
        </p:nvSpPr>
        <p:spPr>
          <a:xfrm>
            <a:off x="3658850" y="967875"/>
            <a:ext cx="1860600" cy="15729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For every 3 ticks, there are 1 crosses.</a:t>
            </a:r>
            <a:endParaRPr sz="2200">
              <a:solidFill>
                <a:schemeClr val="dk1"/>
              </a:solidFill>
              <a:latin typeface="Lexend"/>
              <a:ea typeface="Lexend"/>
              <a:cs typeface="Lexend"/>
              <a:sym typeface="Lexend"/>
            </a:endParaRPr>
          </a:p>
        </p:txBody>
      </p:sp>
      <p:sp>
        <p:nvSpPr>
          <p:cNvPr id="948" name="Google Shape;948;p74"/>
          <p:cNvSpPr txBox="1"/>
          <p:nvPr>
            <p:ph idx="1" type="body"/>
          </p:nvPr>
        </p:nvSpPr>
        <p:spPr>
          <a:xfrm>
            <a:off x="324000" y="4102600"/>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is correct? Explain</a:t>
            </a:r>
            <a:endParaRPr/>
          </a:p>
        </p:txBody>
      </p:sp>
      <p:sp>
        <p:nvSpPr>
          <p:cNvPr id="949" name="Google Shape;949;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pic>
        <p:nvPicPr>
          <p:cNvPr id="950" name="Google Shape;950;p74"/>
          <p:cNvPicPr preferRelativeResize="0"/>
          <p:nvPr/>
        </p:nvPicPr>
        <p:blipFill>
          <a:blip r:embed="rId3">
            <a:alphaModFix/>
          </a:blip>
          <a:stretch>
            <a:fillRect/>
          </a:stretch>
        </p:blipFill>
        <p:spPr>
          <a:xfrm flipH="1">
            <a:off x="328299" y="2473625"/>
            <a:ext cx="856757" cy="988049"/>
          </a:xfrm>
          <a:prstGeom prst="rect">
            <a:avLst/>
          </a:prstGeom>
          <a:noFill/>
          <a:ln>
            <a:noFill/>
          </a:ln>
        </p:spPr>
      </p:pic>
      <p:sp>
        <p:nvSpPr>
          <p:cNvPr id="951" name="Google Shape;951;p74"/>
          <p:cNvSpPr txBox="1"/>
          <p:nvPr/>
        </p:nvSpPr>
        <p:spPr>
          <a:xfrm>
            <a:off x="402925" y="35841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952" name="Google Shape;952;p74"/>
          <p:cNvGrpSpPr/>
          <p:nvPr/>
        </p:nvGrpSpPr>
        <p:grpSpPr>
          <a:xfrm>
            <a:off x="1288233" y="1876809"/>
            <a:ext cx="2116950" cy="1890003"/>
            <a:chOff x="619423" y="3442375"/>
            <a:chExt cx="1955251" cy="1316250"/>
          </a:xfrm>
        </p:grpSpPr>
        <p:pic>
          <p:nvPicPr>
            <p:cNvPr id="953" name="Google Shape;953;p74"/>
            <p:cNvPicPr preferRelativeResize="0"/>
            <p:nvPr/>
          </p:nvPicPr>
          <p:blipFill rotWithShape="1">
            <a:blip r:embed="rId4">
              <a:alphaModFix/>
            </a:blip>
            <a:srcRect b="0" l="0" r="69082" t="56280"/>
            <a:stretch/>
          </p:blipFill>
          <p:spPr>
            <a:xfrm flipH="1">
              <a:off x="619423" y="3442375"/>
              <a:ext cx="1955251" cy="1316250"/>
            </a:xfrm>
            <a:prstGeom prst="rect">
              <a:avLst/>
            </a:prstGeom>
            <a:noFill/>
            <a:ln>
              <a:noFill/>
            </a:ln>
          </p:spPr>
        </p:pic>
        <p:sp>
          <p:nvSpPr>
            <p:cNvPr id="954" name="Google Shape;954;p74"/>
            <p:cNvSpPr txBox="1"/>
            <p:nvPr/>
          </p:nvSpPr>
          <p:spPr>
            <a:xfrm>
              <a:off x="963930" y="3644007"/>
              <a:ext cx="1457700" cy="7728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All these ratios are the same.</a:t>
              </a:r>
              <a:endParaRPr sz="2200">
                <a:solidFill>
                  <a:schemeClr val="dk1"/>
                </a:solidFill>
                <a:latin typeface="Lexend"/>
                <a:ea typeface="Lexend"/>
                <a:cs typeface="Lexend"/>
                <a:sym typeface="Lexend"/>
              </a:endParaRPr>
            </a:p>
            <a:p>
              <a:pPr indent="0" lvl="0" marL="0" rtl="0" algn="l">
                <a:spcBef>
                  <a:spcPts val="1000"/>
                </a:spcBef>
                <a:spcAft>
                  <a:spcPts val="0"/>
                </a:spcAft>
                <a:buNone/>
              </a:pPr>
              <a:r>
                <a:t/>
              </a:r>
              <a:endParaRPr>
                <a:latin typeface="Lexend"/>
                <a:ea typeface="Lexend"/>
                <a:cs typeface="Lexend"/>
                <a:sym typeface="Lexend"/>
              </a:endParaRPr>
            </a:p>
          </p:txBody>
        </p:sp>
      </p:grpSp>
      <p:grpSp>
        <p:nvGrpSpPr>
          <p:cNvPr id="955" name="Google Shape;955;p74"/>
          <p:cNvGrpSpPr/>
          <p:nvPr/>
        </p:nvGrpSpPr>
        <p:grpSpPr>
          <a:xfrm>
            <a:off x="3710700" y="2601625"/>
            <a:ext cx="3893630" cy="1890000"/>
            <a:chOff x="4194095" y="2041876"/>
            <a:chExt cx="3893630" cy="1381175"/>
          </a:xfrm>
        </p:grpSpPr>
        <p:pic>
          <p:nvPicPr>
            <p:cNvPr id="956" name="Google Shape;956;p74"/>
            <p:cNvPicPr preferRelativeResize="0"/>
            <p:nvPr/>
          </p:nvPicPr>
          <p:blipFill rotWithShape="1">
            <a:blip r:embed="rId4">
              <a:alphaModFix/>
            </a:blip>
            <a:srcRect b="0" l="0" r="70143" t="56280"/>
            <a:stretch/>
          </p:blipFill>
          <p:spPr>
            <a:xfrm>
              <a:off x="4194095" y="2041876"/>
              <a:ext cx="3665024" cy="1381175"/>
            </a:xfrm>
            <a:prstGeom prst="rect">
              <a:avLst/>
            </a:prstGeom>
            <a:noFill/>
            <a:ln>
              <a:noFill/>
            </a:ln>
          </p:spPr>
        </p:pic>
        <p:sp>
          <p:nvSpPr>
            <p:cNvPr id="957" name="Google Shape;957;p74"/>
            <p:cNvSpPr txBox="1"/>
            <p:nvPr/>
          </p:nvSpPr>
          <p:spPr>
            <a:xfrm>
              <a:off x="4572025" y="2243312"/>
              <a:ext cx="3515700" cy="7329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All these ratios are different as they have different numbers.</a:t>
              </a:r>
              <a:endParaRPr sz="2200">
                <a:solidFill>
                  <a:schemeClr val="dk1"/>
                </a:solidFill>
                <a:latin typeface="Lexend"/>
                <a:ea typeface="Lexend"/>
                <a:cs typeface="Lexend"/>
                <a:sym typeface="Lexend"/>
              </a:endParaRPr>
            </a:p>
            <a:p>
              <a:pPr indent="0" lvl="0" marL="0" rtl="0" algn="l">
                <a:spcBef>
                  <a:spcPts val="1000"/>
                </a:spcBef>
                <a:spcAft>
                  <a:spcPts val="0"/>
                </a:spcAft>
                <a:buNone/>
              </a:pPr>
              <a:r>
                <a:t/>
              </a:r>
              <a:endParaRPr>
                <a:latin typeface="Lexend"/>
                <a:ea typeface="Lexend"/>
                <a:cs typeface="Lexend"/>
                <a:sym typeface="Lexend"/>
              </a:endParaRPr>
            </a:p>
          </p:txBody>
        </p:sp>
      </p:grpSp>
      <p:pic>
        <p:nvPicPr>
          <p:cNvPr id="958" name="Google Shape;958;p74"/>
          <p:cNvPicPr preferRelativeResize="0"/>
          <p:nvPr/>
        </p:nvPicPr>
        <p:blipFill>
          <a:blip r:embed="rId5">
            <a:alphaModFix/>
          </a:blip>
          <a:stretch>
            <a:fillRect/>
          </a:stretch>
        </p:blipFill>
        <p:spPr>
          <a:xfrm flipH="1">
            <a:off x="7531086" y="3332868"/>
            <a:ext cx="623346" cy="1177024"/>
          </a:xfrm>
          <a:prstGeom prst="rect">
            <a:avLst/>
          </a:prstGeom>
          <a:noFill/>
          <a:ln>
            <a:noFill/>
          </a:ln>
        </p:spPr>
      </p:pic>
      <p:sp>
        <p:nvSpPr>
          <p:cNvPr id="959" name="Google Shape;959;p74"/>
          <p:cNvSpPr txBox="1"/>
          <p:nvPr/>
        </p:nvSpPr>
        <p:spPr>
          <a:xfrm>
            <a:off x="7323900" y="4509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graphicFrame>
        <p:nvGraphicFramePr>
          <p:cNvPr id="960" name="Google Shape;960;p74"/>
          <p:cNvGraphicFramePr/>
          <p:nvPr/>
        </p:nvGraphicFramePr>
        <p:xfrm>
          <a:off x="402913" y="1006575"/>
          <a:ext cx="3000000" cy="3000000"/>
        </p:xfrm>
        <a:graphic>
          <a:graphicData uri="http://schemas.openxmlformats.org/drawingml/2006/table">
            <a:tbl>
              <a:tblPr>
                <a:noFill/>
                <a:tableStyleId>{13948374-6AAA-404F-9DE8-2BB181859924}</a:tableStyleId>
              </a:tblPr>
              <a:tblGrid>
                <a:gridCol w="382850"/>
                <a:gridCol w="382850"/>
                <a:gridCol w="382850"/>
                <a:gridCol w="382850"/>
                <a:gridCol w="382850"/>
                <a:gridCol w="382850"/>
                <a:gridCol w="382850"/>
                <a:gridCol w="382850"/>
              </a:tblGrid>
              <a:tr h="613500">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pic>
        <p:nvPicPr>
          <p:cNvPr id="961" name="Google Shape;961;p74"/>
          <p:cNvPicPr preferRelativeResize="0"/>
          <p:nvPr/>
        </p:nvPicPr>
        <p:blipFill>
          <a:blip r:embed="rId6">
            <a:alphaModFix/>
          </a:blip>
          <a:stretch>
            <a:fillRect/>
          </a:stretch>
        </p:blipFill>
        <p:spPr>
          <a:xfrm>
            <a:off x="402933" y="1144097"/>
            <a:ext cx="296225" cy="313991"/>
          </a:xfrm>
          <a:prstGeom prst="rect">
            <a:avLst/>
          </a:prstGeom>
          <a:noFill/>
          <a:ln>
            <a:noFill/>
          </a:ln>
        </p:spPr>
      </p:pic>
      <p:sp>
        <p:nvSpPr>
          <p:cNvPr id="962" name="Google Shape;962;p74"/>
          <p:cNvSpPr txBox="1"/>
          <p:nvPr/>
        </p:nvSpPr>
        <p:spPr>
          <a:xfrm>
            <a:off x="6543600" y="1997525"/>
            <a:ext cx="2276400" cy="7047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Ticks : Crosses</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15 : 5</a:t>
            </a:r>
            <a:endParaRPr sz="2000">
              <a:solidFill>
                <a:schemeClr val="dk1"/>
              </a:solidFill>
              <a:latin typeface="Lexend"/>
              <a:ea typeface="Lexend"/>
              <a:cs typeface="Lexend"/>
              <a:sym typeface="Lexend"/>
            </a:endParaRPr>
          </a:p>
        </p:txBody>
      </p:sp>
      <p:pic>
        <p:nvPicPr>
          <p:cNvPr id="963" name="Google Shape;963;p74"/>
          <p:cNvPicPr preferRelativeResize="0"/>
          <p:nvPr/>
        </p:nvPicPr>
        <p:blipFill>
          <a:blip r:embed="rId6">
            <a:alphaModFix/>
          </a:blip>
          <a:stretch>
            <a:fillRect/>
          </a:stretch>
        </p:blipFill>
        <p:spPr>
          <a:xfrm>
            <a:off x="1973548" y="1164347"/>
            <a:ext cx="296225" cy="313991"/>
          </a:xfrm>
          <a:prstGeom prst="rect">
            <a:avLst/>
          </a:prstGeom>
          <a:noFill/>
          <a:ln>
            <a:noFill/>
          </a:ln>
        </p:spPr>
      </p:pic>
      <p:pic>
        <p:nvPicPr>
          <p:cNvPr id="964" name="Google Shape;964;p74"/>
          <p:cNvPicPr preferRelativeResize="0"/>
          <p:nvPr/>
        </p:nvPicPr>
        <p:blipFill>
          <a:blip r:embed="rId7">
            <a:alphaModFix/>
          </a:blip>
          <a:stretch>
            <a:fillRect/>
          </a:stretch>
        </p:blipFill>
        <p:spPr>
          <a:xfrm>
            <a:off x="1603338" y="1163211"/>
            <a:ext cx="296220" cy="313500"/>
          </a:xfrm>
          <a:prstGeom prst="rect">
            <a:avLst/>
          </a:prstGeom>
          <a:noFill/>
          <a:ln>
            <a:noFill/>
          </a:ln>
        </p:spPr>
      </p:pic>
      <p:pic>
        <p:nvPicPr>
          <p:cNvPr id="965" name="Google Shape;965;p74"/>
          <p:cNvPicPr preferRelativeResize="0"/>
          <p:nvPr/>
        </p:nvPicPr>
        <p:blipFill>
          <a:blip r:embed="rId7">
            <a:alphaModFix/>
          </a:blip>
          <a:stretch>
            <a:fillRect/>
          </a:stretch>
        </p:blipFill>
        <p:spPr>
          <a:xfrm>
            <a:off x="2365338" y="1163211"/>
            <a:ext cx="296220" cy="313500"/>
          </a:xfrm>
          <a:prstGeom prst="rect">
            <a:avLst/>
          </a:prstGeom>
          <a:noFill/>
          <a:ln>
            <a:noFill/>
          </a:ln>
        </p:spPr>
      </p:pic>
      <p:pic>
        <p:nvPicPr>
          <p:cNvPr id="966" name="Google Shape;966;p74"/>
          <p:cNvPicPr preferRelativeResize="0"/>
          <p:nvPr/>
        </p:nvPicPr>
        <p:blipFill>
          <a:blip r:embed="rId7">
            <a:alphaModFix/>
          </a:blip>
          <a:stretch>
            <a:fillRect/>
          </a:stretch>
        </p:blipFill>
        <p:spPr>
          <a:xfrm>
            <a:off x="2746338" y="1163211"/>
            <a:ext cx="296220" cy="313500"/>
          </a:xfrm>
          <a:prstGeom prst="rect">
            <a:avLst/>
          </a:prstGeom>
          <a:noFill/>
          <a:ln>
            <a:noFill/>
          </a:ln>
        </p:spPr>
      </p:pic>
      <p:pic>
        <p:nvPicPr>
          <p:cNvPr id="967" name="Google Shape;967;p74"/>
          <p:cNvPicPr preferRelativeResize="0"/>
          <p:nvPr/>
        </p:nvPicPr>
        <p:blipFill>
          <a:blip r:embed="rId7">
            <a:alphaModFix/>
          </a:blip>
          <a:stretch>
            <a:fillRect/>
          </a:stretch>
        </p:blipFill>
        <p:spPr>
          <a:xfrm>
            <a:off x="3127338" y="1163211"/>
            <a:ext cx="296220" cy="313500"/>
          </a:xfrm>
          <a:prstGeom prst="rect">
            <a:avLst/>
          </a:prstGeom>
          <a:noFill/>
          <a:ln>
            <a:noFill/>
          </a:ln>
        </p:spPr>
      </p:pic>
      <p:sp>
        <p:nvSpPr>
          <p:cNvPr id="968" name="Google Shape;968;p74"/>
          <p:cNvSpPr txBox="1"/>
          <p:nvPr/>
        </p:nvSpPr>
        <p:spPr>
          <a:xfrm>
            <a:off x="328300" y="4467625"/>
            <a:ext cx="80457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Alex. When simplified, all the ratio are the same.</a:t>
            </a:r>
            <a:endParaRPr>
              <a:latin typeface="Kalam"/>
              <a:ea typeface="Kalam"/>
              <a:cs typeface="Kalam"/>
              <a:sym typeface="Kalam"/>
            </a:endParaRPr>
          </a:p>
        </p:txBody>
      </p:sp>
      <p:pic>
        <p:nvPicPr>
          <p:cNvPr id="969" name="Google Shape;969;p74"/>
          <p:cNvPicPr preferRelativeResize="0"/>
          <p:nvPr/>
        </p:nvPicPr>
        <p:blipFill>
          <a:blip r:embed="rId7">
            <a:alphaModFix/>
          </a:blip>
          <a:stretch>
            <a:fillRect/>
          </a:stretch>
        </p:blipFill>
        <p:spPr>
          <a:xfrm>
            <a:off x="1222338" y="1163211"/>
            <a:ext cx="296220" cy="313500"/>
          </a:xfrm>
          <a:prstGeom prst="rect">
            <a:avLst/>
          </a:prstGeom>
          <a:noFill/>
          <a:ln>
            <a:noFill/>
          </a:ln>
        </p:spPr>
      </p:pic>
      <p:pic>
        <p:nvPicPr>
          <p:cNvPr id="970" name="Google Shape;970;p74"/>
          <p:cNvPicPr preferRelativeResize="0"/>
          <p:nvPr/>
        </p:nvPicPr>
        <p:blipFill>
          <a:blip r:embed="rId7">
            <a:alphaModFix/>
          </a:blip>
          <a:stretch>
            <a:fillRect/>
          </a:stretch>
        </p:blipFill>
        <p:spPr>
          <a:xfrm>
            <a:off x="812639" y="1163211"/>
            <a:ext cx="296220" cy="313500"/>
          </a:xfrm>
          <a:prstGeom prst="rect">
            <a:avLst/>
          </a:prstGeom>
          <a:noFill/>
          <a:ln>
            <a:noFill/>
          </a:ln>
        </p:spPr>
      </p:pic>
      <p:sp>
        <p:nvSpPr>
          <p:cNvPr id="971" name="Google Shape;971;p74"/>
          <p:cNvSpPr txBox="1"/>
          <p:nvPr/>
        </p:nvSpPr>
        <p:spPr>
          <a:xfrm>
            <a:off x="1603350" y="5902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a:t>
            </a:r>
            <a:endParaRPr sz="2200">
              <a:solidFill>
                <a:schemeClr val="dk1"/>
              </a:solidFill>
              <a:latin typeface="Lexend"/>
              <a:ea typeface="Lexend"/>
              <a:cs typeface="Lexend"/>
              <a:sym typeface="Lexend"/>
            </a:endParaRPr>
          </a:p>
        </p:txBody>
      </p:sp>
      <p:sp>
        <p:nvSpPr>
          <p:cNvPr id="972" name="Google Shape;972;p74"/>
          <p:cNvSpPr txBox="1"/>
          <p:nvPr/>
        </p:nvSpPr>
        <p:spPr>
          <a:xfrm>
            <a:off x="4270350" y="5140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sz="2200">
              <a:solidFill>
                <a:schemeClr val="dk1"/>
              </a:solidFill>
              <a:latin typeface="Lexend"/>
              <a:ea typeface="Lexend"/>
              <a:cs typeface="Lexend"/>
              <a:sym typeface="Lexend"/>
            </a:endParaRPr>
          </a:p>
        </p:txBody>
      </p:sp>
      <p:sp>
        <p:nvSpPr>
          <p:cNvPr id="973" name="Google Shape;973;p74"/>
          <p:cNvSpPr txBox="1"/>
          <p:nvPr/>
        </p:nvSpPr>
        <p:spPr>
          <a:xfrm>
            <a:off x="6937350" y="5140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÷10</a:t>
            </a:r>
            <a:endParaRPr sz="2200">
              <a:solidFill>
                <a:schemeClr val="dk1"/>
              </a:solidFill>
              <a:latin typeface="Lexend"/>
              <a:ea typeface="Lexend"/>
              <a:cs typeface="Lexend"/>
              <a:sym typeface="Lexend"/>
            </a:endParaRPr>
          </a:p>
        </p:txBody>
      </p:sp>
      <p:graphicFrame>
        <p:nvGraphicFramePr>
          <p:cNvPr id="974" name="Google Shape;974;p74"/>
          <p:cNvGraphicFramePr/>
          <p:nvPr/>
        </p:nvGraphicFramePr>
        <p:xfrm>
          <a:off x="5851759" y="962663"/>
          <a:ext cx="3000000" cy="3000000"/>
        </p:xfrm>
        <a:graphic>
          <a:graphicData uri="http://schemas.openxmlformats.org/drawingml/2006/table">
            <a:tbl>
              <a:tblPr>
                <a:noFill/>
                <a:tableStyleId>{13948374-6AAA-404F-9DE8-2BB181859924}</a:tableStyleId>
              </a:tblPr>
              <a:tblGrid>
                <a:gridCol w="1378775"/>
                <a:gridCol w="1378775"/>
              </a:tblGrid>
              <a:tr h="36217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Ticks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Crosses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362175">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975" name="Google Shape;975;p74"/>
          <p:cNvGraphicFramePr/>
          <p:nvPr/>
        </p:nvGraphicFramePr>
        <p:xfrm>
          <a:off x="5857359" y="962663"/>
          <a:ext cx="3000000" cy="3000000"/>
        </p:xfrm>
        <a:graphic>
          <a:graphicData uri="http://schemas.openxmlformats.org/drawingml/2006/table">
            <a:tbl>
              <a:tblPr>
                <a:noFill/>
                <a:tableStyleId>{13948374-6AAA-404F-9DE8-2BB181859924}</a:tableStyleId>
              </a:tblPr>
              <a:tblGrid>
                <a:gridCol w="1378775"/>
                <a:gridCol w="1378775"/>
              </a:tblGrid>
              <a:tr h="36217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Ticks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Crosses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362175">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pic>
        <p:nvPicPr>
          <p:cNvPr id="976" name="Google Shape;976;p74"/>
          <p:cNvPicPr preferRelativeResize="0"/>
          <p:nvPr/>
        </p:nvPicPr>
        <p:blipFill>
          <a:blip r:embed="rId8">
            <a:alphaModFix/>
          </a:blip>
          <a:stretch>
            <a:fillRect/>
          </a:stretch>
        </p:blipFill>
        <p:spPr>
          <a:xfrm>
            <a:off x="368710" y="968475"/>
            <a:ext cx="3132587" cy="743825"/>
          </a:xfrm>
          <a:prstGeom prst="rect">
            <a:avLst/>
          </a:prstGeom>
          <a:noFill/>
          <a:ln>
            <a:noFill/>
          </a:ln>
        </p:spPr>
      </p:pic>
      <p:graphicFrame>
        <p:nvGraphicFramePr>
          <p:cNvPr id="977" name="Google Shape;977;p74"/>
          <p:cNvGraphicFramePr/>
          <p:nvPr/>
        </p:nvGraphicFramePr>
        <p:xfrm>
          <a:off x="1088713" y="1082775"/>
          <a:ext cx="3000000" cy="3000000"/>
        </p:xfrm>
        <a:graphic>
          <a:graphicData uri="http://schemas.openxmlformats.org/drawingml/2006/table">
            <a:tbl>
              <a:tblPr>
                <a:noFill/>
                <a:tableStyleId>{13948374-6AAA-404F-9DE8-2BB181859924}</a:tableStyleId>
              </a:tblPr>
              <a:tblGrid>
                <a:gridCol w="382850"/>
                <a:gridCol w="382850"/>
                <a:gridCol w="382850"/>
                <a:gridCol w="382850"/>
              </a:tblGrid>
              <a:tr h="613500">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pic>
        <p:nvPicPr>
          <p:cNvPr id="978" name="Google Shape;978;p74"/>
          <p:cNvPicPr preferRelativeResize="0"/>
          <p:nvPr/>
        </p:nvPicPr>
        <p:blipFill>
          <a:blip r:embed="rId6">
            <a:alphaModFix/>
          </a:blip>
          <a:stretch>
            <a:fillRect/>
          </a:stretch>
        </p:blipFill>
        <p:spPr>
          <a:xfrm>
            <a:off x="1088733" y="1220297"/>
            <a:ext cx="296225" cy="313991"/>
          </a:xfrm>
          <a:prstGeom prst="rect">
            <a:avLst/>
          </a:prstGeom>
          <a:noFill/>
          <a:ln>
            <a:noFill/>
          </a:ln>
        </p:spPr>
      </p:pic>
      <p:pic>
        <p:nvPicPr>
          <p:cNvPr id="979" name="Google Shape;979;p74"/>
          <p:cNvPicPr preferRelativeResize="0"/>
          <p:nvPr/>
        </p:nvPicPr>
        <p:blipFill>
          <a:blip r:embed="rId7">
            <a:alphaModFix/>
          </a:blip>
          <a:stretch>
            <a:fillRect/>
          </a:stretch>
        </p:blipFill>
        <p:spPr>
          <a:xfrm>
            <a:off x="2289138" y="1239411"/>
            <a:ext cx="296220" cy="313500"/>
          </a:xfrm>
          <a:prstGeom prst="rect">
            <a:avLst/>
          </a:prstGeom>
          <a:noFill/>
          <a:ln>
            <a:noFill/>
          </a:ln>
        </p:spPr>
      </p:pic>
      <p:pic>
        <p:nvPicPr>
          <p:cNvPr id="980" name="Google Shape;980;p74"/>
          <p:cNvPicPr preferRelativeResize="0"/>
          <p:nvPr/>
        </p:nvPicPr>
        <p:blipFill>
          <a:blip r:embed="rId7">
            <a:alphaModFix/>
          </a:blip>
          <a:stretch>
            <a:fillRect/>
          </a:stretch>
        </p:blipFill>
        <p:spPr>
          <a:xfrm>
            <a:off x="1908138" y="1239411"/>
            <a:ext cx="296220" cy="313500"/>
          </a:xfrm>
          <a:prstGeom prst="rect">
            <a:avLst/>
          </a:prstGeom>
          <a:noFill/>
          <a:ln>
            <a:noFill/>
          </a:ln>
        </p:spPr>
      </p:pic>
      <p:pic>
        <p:nvPicPr>
          <p:cNvPr id="981" name="Google Shape;981;p74"/>
          <p:cNvPicPr preferRelativeResize="0"/>
          <p:nvPr/>
        </p:nvPicPr>
        <p:blipFill>
          <a:blip r:embed="rId7">
            <a:alphaModFix/>
          </a:blip>
          <a:stretch>
            <a:fillRect/>
          </a:stretch>
        </p:blipFill>
        <p:spPr>
          <a:xfrm>
            <a:off x="1498439" y="1239411"/>
            <a:ext cx="296220" cy="313500"/>
          </a:xfrm>
          <a:prstGeom prst="rect">
            <a:avLst/>
          </a:prstGeom>
          <a:noFill/>
          <a:ln>
            <a:noFill/>
          </a:ln>
        </p:spPr>
      </p:pic>
      <p:sp>
        <p:nvSpPr>
          <p:cNvPr id="982" name="Google Shape;982;p74"/>
          <p:cNvSpPr txBox="1"/>
          <p:nvPr/>
        </p:nvSpPr>
        <p:spPr>
          <a:xfrm>
            <a:off x="6022950" y="21142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sp>
        <p:nvSpPr>
          <p:cNvPr id="983" name="Google Shape;983;p74"/>
          <p:cNvSpPr txBox="1"/>
          <p:nvPr/>
        </p:nvSpPr>
        <p:spPr>
          <a:xfrm>
            <a:off x="6543600" y="1997525"/>
            <a:ext cx="2276400" cy="7047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Ticks : Crosses</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3 : 1</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989" name="Google Shape;989;p75"/>
          <p:cNvSpPr txBox="1"/>
          <p:nvPr>
            <p:ph idx="1" type="body"/>
          </p:nvPr>
        </p:nvSpPr>
        <p:spPr>
          <a:xfrm>
            <a:off x="327000" y="1762250"/>
            <a:ext cx="2563200" cy="43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Jun says </a:t>
            </a:r>
            <a:endParaRPr/>
          </a:p>
          <a:p>
            <a:pPr indent="0" lvl="0" marL="0" rtl="0" algn="ctr">
              <a:spcBef>
                <a:spcPts val="1000"/>
              </a:spcBef>
              <a:spcAft>
                <a:spcPts val="0"/>
              </a:spcAft>
              <a:buNone/>
            </a:pPr>
            <a:r>
              <a:rPr lang="en-GB"/>
              <a:t>“These ratios are the same because 4 × 1.5 = 6</a:t>
            </a:r>
            <a:endParaRPr/>
          </a:p>
          <a:p>
            <a:pPr indent="0" lvl="0" marL="0" rtl="0" algn="ctr">
              <a:spcBef>
                <a:spcPts val="1000"/>
              </a:spcBef>
              <a:spcAft>
                <a:spcPts val="1000"/>
              </a:spcAft>
              <a:buNone/>
            </a:pPr>
            <a:r>
              <a:rPr lang="en-GB"/>
              <a:t>2</a:t>
            </a:r>
            <a:r>
              <a:rPr lang="en-GB"/>
              <a:t> × 1.5 = 3</a:t>
            </a:r>
            <a:r>
              <a:rPr lang="en-GB"/>
              <a:t>”</a:t>
            </a:r>
            <a:endParaRPr/>
          </a:p>
        </p:txBody>
      </p:sp>
      <p:sp>
        <p:nvSpPr>
          <p:cNvPr id="990" name="Google Shape;990;p75"/>
          <p:cNvSpPr txBox="1"/>
          <p:nvPr>
            <p:ph idx="1" type="body"/>
          </p:nvPr>
        </p:nvSpPr>
        <p:spPr>
          <a:xfrm>
            <a:off x="3219600" y="1762250"/>
            <a:ext cx="2563200" cy="43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Lucas</a:t>
            </a:r>
            <a:r>
              <a:rPr lang="en-GB"/>
              <a:t> says </a:t>
            </a:r>
            <a:endParaRPr/>
          </a:p>
          <a:p>
            <a:pPr indent="0" lvl="0" marL="0" rtl="0" algn="ctr">
              <a:spcBef>
                <a:spcPts val="1000"/>
              </a:spcBef>
              <a:spcAft>
                <a:spcPts val="0"/>
              </a:spcAft>
              <a:buNone/>
            </a:pPr>
            <a:r>
              <a:rPr lang="en-GB"/>
              <a:t>“These ratios are the same because 4 ÷ 2 = 2</a:t>
            </a:r>
            <a:endParaRPr/>
          </a:p>
          <a:p>
            <a:pPr indent="0" lvl="0" marL="0" rtl="0" algn="ctr">
              <a:spcBef>
                <a:spcPts val="1000"/>
              </a:spcBef>
              <a:spcAft>
                <a:spcPts val="1000"/>
              </a:spcAft>
              <a:buNone/>
            </a:pPr>
            <a:r>
              <a:rPr lang="en-GB"/>
              <a:t>6</a:t>
            </a:r>
            <a:r>
              <a:rPr lang="en-GB"/>
              <a:t> ÷ 2 = 3</a:t>
            </a:r>
            <a:r>
              <a:rPr lang="en-GB"/>
              <a:t>”</a:t>
            </a:r>
            <a:endParaRPr/>
          </a:p>
        </p:txBody>
      </p:sp>
      <p:grpSp>
        <p:nvGrpSpPr>
          <p:cNvPr id="991" name="Google Shape;991;p75"/>
          <p:cNvGrpSpPr/>
          <p:nvPr/>
        </p:nvGrpSpPr>
        <p:grpSpPr>
          <a:xfrm>
            <a:off x="1958700" y="807300"/>
            <a:ext cx="5494800" cy="722700"/>
            <a:chOff x="1958700" y="807300"/>
            <a:chExt cx="5494800" cy="722700"/>
          </a:xfrm>
        </p:grpSpPr>
        <p:sp>
          <p:nvSpPr>
            <p:cNvPr id="992" name="Google Shape;992;p75"/>
            <p:cNvSpPr/>
            <p:nvPr/>
          </p:nvSpPr>
          <p:spPr>
            <a:xfrm>
              <a:off x="1958700" y="807300"/>
              <a:ext cx="4641900" cy="722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3" name="Google Shape;993;p75"/>
            <p:cNvSpPr txBox="1"/>
            <p:nvPr/>
          </p:nvSpPr>
          <p:spPr>
            <a:xfrm>
              <a:off x="2194500" y="861100"/>
              <a:ext cx="52590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Lexend"/>
                  <a:ea typeface="Lexend"/>
                  <a:cs typeface="Lexend"/>
                  <a:sym typeface="Lexend"/>
                </a:rPr>
                <a:t>Is 4 : 6 the same as 2 : 3?</a:t>
              </a:r>
              <a:endParaRPr sz="2600">
                <a:solidFill>
                  <a:schemeClr val="dk1"/>
                </a:solidFill>
                <a:latin typeface="Lexend"/>
                <a:ea typeface="Lexend"/>
                <a:cs typeface="Lexend"/>
                <a:sym typeface="Lexend"/>
              </a:endParaRPr>
            </a:p>
          </p:txBody>
        </p:sp>
      </p:grpSp>
      <p:sp>
        <p:nvSpPr>
          <p:cNvPr id="994" name="Google Shape;994;p75"/>
          <p:cNvSpPr txBox="1"/>
          <p:nvPr/>
        </p:nvSpPr>
        <p:spPr>
          <a:xfrm>
            <a:off x="6037700" y="1762250"/>
            <a:ext cx="3000000" cy="2024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2200">
                <a:solidFill>
                  <a:schemeClr val="dk1"/>
                </a:solidFill>
                <a:latin typeface="Lexend"/>
                <a:ea typeface="Lexend"/>
                <a:cs typeface="Lexend"/>
                <a:sym typeface="Lexend"/>
              </a:rPr>
              <a:t>Aisha</a:t>
            </a:r>
            <a:r>
              <a:rPr lang="en-GB" sz="2200">
                <a:solidFill>
                  <a:schemeClr val="dk1"/>
                </a:solidFill>
                <a:latin typeface="Lexend"/>
                <a:ea typeface="Lexend"/>
                <a:cs typeface="Lexend"/>
                <a:sym typeface="Lexend"/>
              </a:rPr>
              <a:t> says </a:t>
            </a:r>
            <a:endParaRPr sz="22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2200">
                <a:solidFill>
                  <a:schemeClr val="dk1"/>
                </a:solidFill>
                <a:latin typeface="Lexend"/>
                <a:ea typeface="Lexend"/>
                <a:cs typeface="Lexend"/>
                <a:sym typeface="Lexend"/>
              </a:rPr>
              <a:t>“These ratios are different because they have different numbers.”</a:t>
            </a:r>
            <a:endParaRPr sz="2200">
              <a:solidFill>
                <a:schemeClr val="dk1"/>
              </a:solidFill>
              <a:latin typeface="Lexend"/>
              <a:ea typeface="Lexend"/>
              <a:cs typeface="Lexend"/>
              <a:sym typeface="Lexend"/>
            </a:endParaRPr>
          </a:p>
        </p:txBody>
      </p:sp>
      <p:sp>
        <p:nvSpPr>
          <p:cNvPr id="995" name="Google Shape;995;p75"/>
          <p:cNvSpPr txBox="1"/>
          <p:nvPr>
            <p:ph idx="1" type="body"/>
          </p:nvPr>
        </p:nvSpPr>
        <p:spPr>
          <a:xfrm>
            <a:off x="324000" y="4255000"/>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is correct? Explain.</a:t>
            </a:r>
            <a:endParaRPr/>
          </a:p>
        </p:txBody>
      </p:sp>
      <p:sp>
        <p:nvSpPr>
          <p:cNvPr id="996" name="Google Shape;996;p75"/>
          <p:cNvSpPr txBox="1"/>
          <p:nvPr/>
        </p:nvSpPr>
        <p:spPr>
          <a:xfrm>
            <a:off x="3546525" y="4171300"/>
            <a:ext cx="26382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Jun and Lucas</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1002" name="Google Shape;1002;p76"/>
          <p:cNvSpPr txBox="1"/>
          <p:nvPr>
            <p:ph idx="1" type="body"/>
          </p:nvPr>
        </p:nvSpPr>
        <p:spPr>
          <a:xfrm>
            <a:off x="327000" y="1762250"/>
            <a:ext cx="2563200" cy="43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Jun says </a:t>
            </a:r>
            <a:endParaRPr/>
          </a:p>
          <a:p>
            <a:pPr indent="0" lvl="0" marL="0" rtl="0" algn="ctr">
              <a:spcBef>
                <a:spcPts val="1000"/>
              </a:spcBef>
              <a:spcAft>
                <a:spcPts val="0"/>
              </a:spcAft>
              <a:buNone/>
            </a:pPr>
            <a:r>
              <a:rPr lang="en-GB"/>
              <a:t>“These ratios are the same because 4 × 1.5 = 6</a:t>
            </a:r>
            <a:endParaRPr/>
          </a:p>
          <a:p>
            <a:pPr indent="0" lvl="0" marL="0" rtl="0" algn="ctr">
              <a:spcBef>
                <a:spcPts val="1000"/>
              </a:spcBef>
              <a:spcAft>
                <a:spcPts val="1000"/>
              </a:spcAft>
              <a:buNone/>
            </a:pPr>
            <a:r>
              <a:rPr lang="en-GB"/>
              <a:t>2 × 1.5 = 3”</a:t>
            </a:r>
            <a:endParaRPr/>
          </a:p>
        </p:txBody>
      </p:sp>
      <p:grpSp>
        <p:nvGrpSpPr>
          <p:cNvPr id="1003" name="Google Shape;1003;p76"/>
          <p:cNvGrpSpPr/>
          <p:nvPr/>
        </p:nvGrpSpPr>
        <p:grpSpPr>
          <a:xfrm>
            <a:off x="1958700" y="807300"/>
            <a:ext cx="5494800" cy="722700"/>
            <a:chOff x="1958700" y="807300"/>
            <a:chExt cx="5494800" cy="722700"/>
          </a:xfrm>
        </p:grpSpPr>
        <p:sp>
          <p:nvSpPr>
            <p:cNvPr id="1004" name="Google Shape;1004;p76"/>
            <p:cNvSpPr/>
            <p:nvPr/>
          </p:nvSpPr>
          <p:spPr>
            <a:xfrm>
              <a:off x="1958700" y="807300"/>
              <a:ext cx="4641900" cy="722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5" name="Google Shape;1005;p76"/>
            <p:cNvSpPr txBox="1"/>
            <p:nvPr/>
          </p:nvSpPr>
          <p:spPr>
            <a:xfrm>
              <a:off x="2194500" y="861100"/>
              <a:ext cx="52590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Lexend"/>
                  <a:ea typeface="Lexend"/>
                  <a:cs typeface="Lexend"/>
                  <a:sym typeface="Lexend"/>
                </a:rPr>
                <a:t>Is 4 : 6 the same as 2 : 3?</a:t>
              </a:r>
              <a:endParaRPr sz="2600">
                <a:solidFill>
                  <a:schemeClr val="dk1"/>
                </a:solidFill>
                <a:latin typeface="Lexend"/>
                <a:ea typeface="Lexend"/>
                <a:cs typeface="Lexend"/>
                <a:sym typeface="Lexend"/>
              </a:endParaRPr>
            </a:p>
          </p:txBody>
        </p:sp>
      </p:grpSp>
      <p:sp>
        <p:nvSpPr>
          <p:cNvPr id="1006" name="Google Shape;1006;p76"/>
          <p:cNvSpPr txBox="1"/>
          <p:nvPr>
            <p:ph idx="1" type="body"/>
          </p:nvPr>
        </p:nvSpPr>
        <p:spPr>
          <a:xfrm>
            <a:off x="324000" y="4255000"/>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is correct? Explain.</a:t>
            </a:r>
            <a:endParaRPr/>
          </a:p>
        </p:txBody>
      </p:sp>
      <p:sp>
        <p:nvSpPr>
          <p:cNvPr id="1007" name="Google Shape;1007;p76"/>
          <p:cNvSpPr txBox="1"/>
          <p:nvPr/>
        </p:nvSpPr>
        <p:spPr>
          <a:xfrm>
            <a:off x="3546525" y="4171300"/>
            <a:ext cx="26382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Jun and Lucas</a:t>
            </a:r>
            <a:endParaRPr>
              <a:latin typeface="Kalam"/>
              <a:ea typeface="Kalam"/>
              <a:cs typeface="Kalam"/>
              <a:sym typeface="Kalam"/>
            </a:endParaRPr>
          </a:p>
        </p:txBody>
      </p:sp>
      <p:sp>
        <p:nvSpPr>
          <p:cNvPr id="1008" name="Google Shape;1008;p76"/>
          <p:cNvSpPr txBox="1"/>
          <p:nvPr/>
        </p:nvSpPr>
        <p:spPr>
          <a:xfrm>
            <a:off x="3369600" y="1990850"/>
            <a:ext cx="4089600" cy="169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Jun has identified that the multiplier between the parts is 1.5, this means they are </a:t>
            </a:r>
            <a:r>
              <a:rPr lang="en-GB" sz="2200">
                <a:solidFill>
                  <a:schemeClr val="dk1"/>
                </a:solidFill>
                <a:latin typeface="Kalam"/>
                <a:ea typeface="Kalam"/>
                <a:cs typeface="Kalam"/>
                <a:sym typeface="Kalam"/>
              </a:rPr>
              <a:t>equivalent</a:t>
            </a:r>
            <a:r>
              <a:rPr lang="en-GB" sz="2200">
                <a:solidFill>
                  <a:schemeClr val="dk1"/>
                </a:solidFill>
                <a:latin typeface="Kalam"/>
                <a:ea typeface="Kalam"/>
                <a:cs typeface="Kalam"/>
                <a:sym typeface="Kalam"/>
              </a:rPr>
              <a:t> ratios.</a:t>
            </a:r>
            <a:endParaRPr>
              <a:latin typeface="Kalam"/>
              <a:ea typeface="Kalam"/>
              <a:cs typeface="Kalam"/>
              <a:sym typeface="Kala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1014" name="Google Shape;1014;p77"/>
          <p:cNvSpPr txBox="1"/>
          <p:nvPr>
            <p:ph idx="1" type="body"/>
          </p:nvPr>
        </p:nvSpPr>
        <p:spPr>
          <a:xfrm>
            <a:off x="3219600" y="1762250"/>
            <a:ext cx="2563200" cy="43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Lucas says </a:t>
            </a:r>
            <a:endParaRPr/>
          </a:p>
          <a:p>
            <a:pPr indent="0" lvl="0" marL="0" rtl="0" algn="ctr">
              <a:spcBef>
                <a:spcPts val="1000"/>
              </a:spcBef>
              <a:spcAft>
                <a:spcPts val="0"/>
              </a:spcAft>
              <a:buNone/>
            </a:pPr>
            <a:r>
              <a:rPr lang="en-GB"/>
              <a:t>“These ratios are the same because 4 ÷ 2 = 2</a:t>
            </a:r>
            <a:endParaRPr/>
          </a:p>
          <a:p>
            <a:pPr indent="0" lvl="0" marL="0" rtl="0" algn="ctr">
              <a:spcBef>
                <a:spcPts val="1000"/>
              </a:spcBef>
              <a:spcAft>
                <a:spcPts val="1000"/>
              </a:spcAft>
              <a:buNone/>
            </a:pPr>
            <a:r>
              <a:rPr lang="en-GB"/>
              <a:t>6 ÷ 2 = 3”</a:t>
            </a:r>
            <a:endParaRPr/>
          </a:p>
        </p:txBody>
      </p:sp>
      <p:grpSp>
        <p:nvGrpSpPr>
          <p:cNvPr id="1015" name="Google Shape;1015;p77"/>
          <p:cNvGrpSpPr/>
          <p:nvPr/>
        </p:nvGrpSpPr>
        <p:grpSpPr>
          <a:xfrm>
            <a:off x="1958700" y="807300"/>
            <a:ext cx="5494800" cy="722700"/>
            <a:chOff x="1958700" y="807300"/>
            <a:chExt cx="5494800" cy="722700"/>
          </a:xfrm>
        </p:grpSpPr>
        <p:sp>
          <p:nvSpPr>
            <p:cNvPr id="1016" name="Google Shape;1016;p77"/>
            <p:cNvSpPr/>
            <p:nvPr/>
          </p:nvSpPr>
          <p:spPr>
            <a:xfrm>
              <a:off x="1958700" y="807300"/>
              <a:ext cx="4641900" cy="722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7" name="Google Shape;1017;p77"/>
            <p:cNvSpPr txBox="1"/>
            <p:nvPr/>
          </p:nvSpPr>
          <p:spPr>
            <a:xfrm>
              <a:off x="2194500" y="861100"/>
              <a:ext cx="52590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Lexend"/>
                  <a:ea typeface="Lexend"/>
                  <a:cs typeface="Lexend"/>
                  <a:sym typeface="Lexend"/>
                </a:rPr>
                <a:t>Is 4 : 6 the same as 2 : 3?</a:t>
              </a:r>
              <a:endParaRPr sz="2600">
                <a:solidFill>
                  <a:schemeClr val="dk1"/>
                </a:solidFill>
                <a:latin typeface="Lexend"/>
                <a:ea typeface="Lexend"/>
                <a:cs typeface="Lexend"/>
                <a:sym typeface="Lexend"/>
              </a:endParaRPr>
            </a:p>
          </p:txBody>
        </p:sp>
      </p:grpSp>
      <p:sp>
        <p:nvSpPr>
          <p:cNvPr id="1018" name="Google Shape;1018;p77"/>
          <p:cNvSpPr txBox="1"/>
          <p:nvPr>
            <p:ph idx="1" type="body"/>
          </p:nvPr>
        </p:nvSpPr>
        <p:spPr>
          <a:xfrm>
            <a:off x="324000" y="4255000"/>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is correct? Explain.</a:t>
            </a:r>
            <a:endParaRPr/>
          </a:p>
        </p:txBody>
      </p:sp>
      <p:sp>
        <p:nvSpPr>
          <p:cNvPr id="1019" name="Google Shape;1019;p77"/>
          <p:cNvSpPr txBox="1"/>
          <p:nvPr/>
        </p:nvSpPr>
        <p:spPr>
          <a:xfrm>
            <a:off x="3546525" y="4171300"/>
            <a:ext cx="26382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Jun and Lucas</a:t>
            </a:r>
            <a:endParaRPr>
              <a:latin typeface="Kalam"/>
              <a:ea typeface="Kalam"/>
              <a:cs typeface="Kalam"/>
              <a:sym typeface="Kalam"/>
            </a:endParaRPr>
          </a:p>
        </p:txBody>
      </p:sp>
      <p:sp>
        <p:nvSpPr>
          <p:cNvPr id="1020" name="Google Shape;1020;p77"/>
          <p:cNvSpPr txBox="1"/>
          <p:nvPr/>
        </p:nvSpPr>
        <p:spPr>
          <a:xfrm>
            <a:off x="324000" y="1952400"/>
            <a:ext cx="2887200" cy="169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Lucas has simplified the parts using the highest common factor of 2.</a:t>
            </a:r>
            <a:endParaRPr>
              <a:latin typeface="Kalam"/>
              <a:ea typeface="Kalam"/>
              <a:cs typeface="Kalam"/>
              <a:sym typeface="Kala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grpSp>
        <p:nvGrpSpPr>
          <p:cNvPr id="1026" name="Google Shape;1026;p78"/>
          <p:cNvGrpSpPr/>
          <p:nvPr/>
        </p:nvGrpSpPr>
        <p:grpSpPr>
          <a:xfrm>
            <a:off x="1958700" y="807300"/>
            <a:ext cx="5494800" cy="722700"/>
            <a:chOff x="1958700" y="807300"/>
            <a:chExt cx="5494800" cy="722700"/>
          </a:xfrm>
        </p:grpSpPr>
        <p:sp>
          <p:nvSpPr>
            <p:cNvPr id="1027" name="Google Shape;1027;p78"/>
            <p:cNvSpPr/>
            <p:nvPr/>
          </p:nvSpPr>
          <p:spPr>
            <a:xfrm>
              <a:off x="1958700" y="807300"/>
              <a:ext cx="4641900" cy="7227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8" name="Google Shape;1028;p78"/>
            <p:cNvSpPr txBox="1"/>
            <p:nvPr/>
          </p:nvSpPr>
          <p:spPr>
            <a:xfrm>
              <a:off x="2194500" y="861100"/>
              <a:ext cx="52590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1"/>
                  </a:solidFill>
                  <a:latin typeface="Lexend"/>
                  <a:ea typeface="Lexend"/>
                  <a:cs typeface="Lexend"/>
                  <a:sym typeface="Lexend"/>
                </a:rPr>
                <a:t>Is 4 : 6 the same as 2 : 3?</a:t>
              </a:r>
              <a:endParaRPr sz="2600">
                <a:solidFill>
                  <a:schemeClr val="dk1"/>
                </a:solidFill>
                <a:latin typeface="Lexend"/>
                <a:ea typeface="Lexend"/>
                <a:cs typeface="Lexend"/>
                <a:sym typeface="Lexend"/>
              </a:endParaRPr>
            </a:p>
          </p:txBody>
        </p:sp>
      </p:grpSp>
      <p:sp>
        <p:nvSpPr>
          <p:cNvPr id="1029" name="Google Shape;1029;p78"/>
          <p:cNvSpPr txBox="1"/>
          <p:nvPr/>
        </p:nvSpPr>
        <p:spPr>
          <a:xfrm>
            <a:off x="6037700" y="1762250"/>
            <a:ext cx="3000000" cy="2024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2200">
                <a:solidFill>
                  <a:schemeClr val="dk1"/>
                </a:solidFill>
                <a:latin typeface="Lexend"/>
                <a:ea typeface="Lexend"/>
                <a:cs typeface="Lexend"/>
                <a:sym typeface="Lexend"/>
              </a:rPr>
              <a:t>Aisha says </a:t>
            </a:r>
            <a:endParaRPr sz="22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2200">
                <a:solidFill>
                  <a:schemeClr val="dk1"/>
                </a:solidFill>
                <a:latin typeface="Lexend"/>
                <a:ea typeface="Lexend"/>
                <a:cs typeface="Lexend"/>
                <a:sym typeface="Lexend"/>
              </a:rPr>
              <a:t>“These ratios are different because they have different numbers.”</a:t>
            </a:r>
            <a:endParaRPr sz="2200">
              <a:solidFill>
                <a:schemeClr val="dk1"/>
              </a:solidFill>
              <a:latin typeface="Lexend"/>
              <a:ea typeface="Lexend"/>
              <a:cs typeface="Lexend"/>
              <a:sym typeface="Lexend"/>
            </a:endParaRPr>
          </a:p>
        </p:txBody>
      </p:sp>
      <p:sp>
        <p:nvSpPr>
          <p:cNvPr id="1030" name="Google Shape;1030;p78"/>
          <p:cNvSpPr txBox="1"/>
          <p:nvPr>
            <p:ph idx="1" type="body"/>
          </p:nvPr>
        </p:nvSpPr>
        <p:spPr>
          <a:xfrm>
            <a:off x="324000" y="4255000"/>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is correct? Explain.</a:t>
            </a:r>
            <a:endParaRPr/>
          </a:p>
        </p:txBody>
      </p:sp>
      <p:sp>
        <p:nvSpPr>
          <p:cNvPr id="1031" name="Google Shape;1031;p78"/>
          <p:cNvSpPr txBox="1"/>
          <p:nvPr/>
        </p:nvSpPr>
        <p:spPr>
          <a:xfrm>
            <a:off x="3546525" y="4171300"/>
            <a:ext cx="26382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Jun and Lucas</a:t>
            </a:r>
            <a:endParaRPr>
              <a:latin typeface="Kalam"/>
              <a:ea typeface="Kalam"/>
              <a:cs typeface="Kalam"/>
              <a:sym typeface="Kalam"/>
            </a:endParaRPr>
          </a:p>
        </p:txBody>
      </p:sp>
      <p:sp>
        <p:nvSpPr>
          <p:cNvPr id="1032" name="Google Shape;1032;p78"/>
          <p:cNvSpPr txBox="1"/>
          <p:nvPr/>
        </p:nvSpPr>
        <p:spPr>
          <a:xfrm>
            <a:off x="820375" y="1854150"/>
            <a:ext cx="5028900" cy="169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Kalam"/>
                <a:ea typeface="Kalam"/>
                <a:cs typeface="Kalam"/>
                <a:sym typeface="Kalam"/>
              </a:rPr>
              <a:t>There are an infinite number of equivalent ratios. All using different numbers, but the multiplicative relationship is the same.</a:t>
            </a:r>
            <a:endParaRPr>
              <a:latin typeface="Kalam"/>
              <a:ea typeface="Kalam"/>
              <a:cs typeface="Kalam"/>
              <a:sym typeface="Kala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7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038" name="Google Shape;1038;p79"/>
          <p:cNvSpPr txBox="1"/>
          <p:nvPr>
            <p:ph idx="4294967295" type="body"/>
          </p:nvPr>
        </p:nvSpPr>
        <p:spPr>
          <a:xfrm>
            <a:off x="400200" y="683100"/>
            <a:ext cx="8237700" cy="4503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table. The first has been done for you.</a:t>
            </a:r>
            <a:endParaRPr/>
          </a:p>
        </p:txBody>
      </p:sp>
      <p:graphicFrame>
        <p:nvGraphicFramePr>
          <p:cNvPr id="1039" name="Google Shape;1039;p79"/>
          <p:cNvGraphicFramePr/>
          <p:nvPr/>
        </p:nvGraphicFramePr>
        <p:xfrm>
          <a:off x="428500" y="1156200"/>
          <a:ext cx="3000000" cy="3000000"/>
        </p:xfrm>
        <a:graphic>
          <a:graphicData uri="http://schemas.openxmlformats.org/drawingml/2006/table">
            <a:tbl>
              <a:tblPr>
                <a:noFill/>
                <a:tableStyleId>{13948374-6AAA-404F-9DE8-2BB181859924}</a:tableStyleId>
              </a:tblPr>
              <a:tblGrid>
                <a:gridCol w="2622175"/>
                <a:gridCol w="2912275"/>
                <a:gridCol w="2462375"/>
              </a:tblGrid>
              <a:tr h="51942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Bar model</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Ratio notation</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In words</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6524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B</a:t>
                      </a:r>
                      <a:r>
                        <a:rPr lang="en-GB" sz="1800">
                          <a:latin typeface="Lexend"/>
                          <a:ea typeface="Lexend"/>
                          <a:cs typeface="Lexend"/>
                          <a:sym typeface="Lexend"/>
                        </a:rPr>
                        <a:t> : H</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3 : 1</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Ratio of B to H is 3 to 1</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524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Squares : Circles</a:t>
                      </a:r>
                      <a:endParaRPr sz="1800">
                        <a:latin typeface="Lexend"/>
                        <a:ea typeface="Lexend"/>
                        <a:cs typeface="Lexend"/>
                        <a:sym typeface="Lexend"/>
                      </a:endParaRPr>
                    </a:p>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524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T-shirts : Shorts</a:t>
                      </a:r>
                      <a:endParaRPr sz="1800">
                        <a:latin typeface="Lexend"/>
                        <a:ea typeface="Lexend"/>
                        <a:cs typeface="Lexend"/>
                        <a:sym typeface="Lexend"/>
                      </a:endParaRPr>
                    </a:p>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8971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Carrots</a:t>
                      </a:r>
                      <a:r>
                        <a:rPr lang="en-GB" sz="1700">
                          <a:latin typeface="Lexend"/>
                          <a:ea typeface="Lexend"/>
                          <a:cs typeface="Lexend"/>
                          <a:sym typeface="Lexend"/>
                        </a:rPr>
                        <a:t> : Apples : Oranges</a:t>
                      </a:r>
                      <a:endParaRPr sz="1700">
                        <a:latin typeface="Lexend"/>
                        <a:ea typeface="Lexend"/>
                        <a:cs typeface="Lexend"/>
                        <a:sym typeface="Lexend"/>
                      </a:endParaRPr>
                    </a:p>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graphicFrame>
        <p:nvGraphicFramePr>
          <p:cNvPr id="1040" name="Google Shape;1040;p79"/>
          <p:cNvGraphicFramePr/>
          <p:nvPr/>
        </p:nvGraphicFramePr>
        <p:xfrm>
          <a:off x="438318" y="1788888"/>
          <a:ext cx="3000000" cy="3000000"/>
        </p:xfrm>
        <a:graphic>
          <a:graphicData uri="http://schemas.openxmlformats.org/drawingml/2006/table">
            <a:tbl>
              <a:tblPr>
                <a:noFill/>
                <a:tableStyleId>{13948374-6AAA-404F-9DE8-2BB181859924}</a:tableStyleId>
              </a:tblPr>
              <a:tblGrid>
                <a:gridCol w="648400"/>
                <a:gridCol w="648400"/>
                <a:gridCol w="648400"/>
                <a:gridCol w="648400"/>
              </a:tblGrid>
              <a:tr h="500075">
                <a:tc>
                  <a:txBody>
                    <a:bodyPr/>
                    <a:lstStyle/>
                    <a:p>
                      <a:pPr indent="0" lvl="0" marL="0" rtl="0" algn="ctr">
                        <a:spcBef>
                          <a:spcPts val="0"/>
                        </a:spcBef>
                        <a:spcAft>
                          <a:spcPts val="0"/>
                        </a:spcAft>
                        <a:buNone/>
                      </a:pPr>
                      <a:r>
                        <a:rPr lang="en-GB" sz="3100">
                          <a:latin typeface="Lexend"/>
                          <a:ea typeface="Lexend"/>
                          <a:cs typeface="Lexend"/>
                          <a:sym typeface="Lexend"/>
                        </a:rPr>
                        <a:t>B</a:t>
                      </a:r>
                      <a:endParaRPr sz="3100">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100">
                          <a:solidFill>
                            <a:schemeClr val="dk1"/>
                          </a:solidFill>
                          <a:latin typeface="Lexend"/>
                          <a:ea typeface="Lexend"/>
                          <a:cs typeface="Lexend"/>
                          <a:sym typeface="Lexend"/>
                        </a:rPr>
                        <a:t>B</a:t>
                      </a:r>
                      <a:endParaRPr sz="31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100">
                          <a:solidFill>
                            <a:schemeClr val="dk1"/>
                          </a:solidFill>
                          <a:latin typeface="Lexend"/>
                          <a:ea typeface="Lexend"/>
                          <a:cs typeface="Lexend"/>
                          <a:sym typeface="Lexend"/>
                        </a:rPr>
                        <a:t>B</a:t>
                      </a:r>
                      <a:endParaRPr sz="31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2900">
                          <a:solidFill>
                            <a:schemeClr val="dk1"/>
                          </a:solidFill>
                          <a:latin typeface="Lexend"/>
                          <a:ea typeface="Lexend"/>
                          <a:cs typeface="Lexend"/>
                          <a:sym typeface="Lexend"/>
                        </a:rPr>
                        <a:t>H</a:t>
                      </a:r>
                      <a:endParaRPr sz="31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1041" name="Google Shape;1041;p79"/>
          <p:cNvGraphicFramePr/>
          <p:nvPr/>
        </p:nvGraphicFramePr>
        <p:xfrm>
          <a:off x="660332" y="2502130"/>
          <a:ext cx="3000000" cy="3000000"/>
        </p:xfrm>
        <a:graphic>
          <a:graphicData uri="http://schemas.openxmlformats.org/drawingml/2006/table">
            <a:tbl>
              <a:tblPr>
                <a:noFill/>
                <a:tableStyleId>{13948374-6AAA-404F-9DE8-2BB181859924}</a:tableStyleId>
              </a:tblPr>
              <a:tblGrid>
                <a:gridCol w="682975"/>
                <a:gridCol w="682975"/>
                <a:gridCol w="682975"/>
              </a:tblGrid>
              <a:tr h="548600">
                <a:tc>
                  <a:txBody>
                    <a:bodyPr/>
                    <a:lstStyle/>
                    <a:p>
                      <a:pPr indent="0" lvl="0" marL="0" rtl="0" algn="ctr">
                        <a:spcBef>
                          <a:spcPts val="0"/>
                        </a:spcBef>
                        <a:spcAft>
                          <a:spcPts val="0"/>
                        </a:spcAft>
                        <a:buClr>
                          <a:schemeClr val="dk1"/>
                        </a:buClr>
                        <a:buSzPts val="1100"/>
                        <a:buFont typeface="Arial"/>
                        <a:buNone/>
                      </a:pPr>
                      <a:r>
                        <a:rPr lang="en-GB" sz="2800">
                          <a:solidFill>
                            <a:schemeClr val="dk1"/>
                          </a:solidFill>
                          <a:latin typeface="Lexend"/>
                          <a:ea typeface="Lexend"/>
                          <a:cs typeface="Lexend"/>
                          <a:sym typeface="Lexend"/>
                        </a:rPr>
                        <a:t>⬛</a:t>
                      </a:r>
                      <a:endParaRPr sz="3400">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3400">
                          <a:solidFill>
                            <a:schemeClr val="dk1"/>
                          </a:solidFill>
                          <a:latin typeface="Lexend"/>
                          <a:ea typeface="Lexend"/>
                          <a:cs typeface="Lexend"/>
                          <a:sym typeface="Lexend"/>
                        </a:rPr>
                        <a:t>⚫</a:t>
                      </a:r>
                      <a:endParaRPr sz="34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400">
                          <a:solidFill>
                            <a:schemeClr val="dk1"/>
                          </a:solidFill>
                          <a:latin typeface="Lexend"/>
                          <a:ea typeface="Lexend"/>
                          <a:cs typeface="Lexend"/>
                          <a:sym typeface="Lexend"/>
                        </a:rPr>
                        <a:t>⚫</a:t>
                      </a:r>
                      <a:endParaRPr sz="34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1042" name="Google Shape;1042;p79"/>
          <p:cNvGraphicFramePr/>
          <p:nvPr/>
        </p:nvGraphicFramePr>
        <p:xfrm>
          <a:off x="438313" y="3258443"/>
          <a:ext cx="3000000" cy="3000000"/>
        </p:xfrm>
        <a:graphic>
          <a:graphicData uri="http://schemas.openxmlformats.org/drawingml/2006/table">
            <a:tbl>
              <a:tblPr>
                <a:noFill/>
                <a:tableStyleId>{13948374-6AAA-404F-9DE8-2BB181859924}</a:tableStyleId>
              </a:tblPr>
              <a:tblGrid>
                <a:gridCol w="518725"/>
                <a:gridCol w="518725"/>
                <a:gridCol w="518725"/>
                <a:gridCol w="518725"/>
                <a:gridCol w="518725"/>
              </a:tblGrid>
              <a:tr h="500075">
                <a:tc>
                  <a:txBody>
                    <a:bodyPr/>
                    <a:lstStyle/>
                    <a:p>
                      <a:pPr indent="0" lvl="0" marL="0" rtl="0" algn="ctr">
                        <a:spcBef>
                          <a:spcPts val="0"/>
                        </a:spcBef>
                        <a:spcAft>
                          <a:spcPts val="0"/>
                        </a:spcAft>
                        <a:buNone/>
                      </a:pPr>
                      <a:r>
                        <a:rPr lang="en-GB" sz="3200">
                          <a:latin typeface="Lexend"/>
                          <a:ea typeface="Lexend"/>
                          <a:cs typeface="Lexend"/>
                          <a:sym typeface="Lexend"/>
                        </a:rPr>
                        <a:t>T</a:t>
                      </a:r>
                      <a:endParaRPr sz="32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T</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S</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S</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S</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1043" name="Google Shape;1043;p79"/>
          <p:cNvGraphicFramePr/>
          <p:nvPr/>
        </p:nvGraphicFramePr>
        <p:xfrm>
          <a:off x="438314" y="4076101"/>
          <a:ext cx="3000000" cy="3000000"/>
        </p:xfrm>
        <a:graphic>
          <a:graphicData uri="http://schemas.openxmlformats.org/drawingml/2006/table">
            <a:tbl>
              <a:tblPr>
                <a:noFill/>
                <a:tableStyleId>{13948374-6AAA-404F-9DE8-2BB181859924}</a:tableStyleId>
              </a:tblPr>
              <a:tblGrid>
                <a:gridCol w="518725"/>
                <a:gridCol w="518725"/>
                <a:gridCol w="518725"/>
                <a:gridCol w="518725"/>
                <a:gridCol w="518725"/>
              </a:tblGrid>
              <a:tr h="500075">
                <a:tc>
                  <a:txBody>
                    <a:bodyPr/>
                    <a:lstStyle/>
                    <a:p>
                      <a:pPr indent="0" lvl="0" marL="0" rtl="0" algn="ctr">
                        <a:spcBef>
                          <a:spcPts val="0"/>
                        </a:spcBef>
                        <a:spcAft>
                          <a:spcPts val="0"/>
                        </a:spcAft>
                        <a:buNone/>
                      </a:pPr>
                      <a:r>
                        <a:rPr lang="en-GB" sz="3000">
                          <a:latin typeface="Lexend"/>
                          <a:ea typeface="Lexend"/>
                          <a:cs typeface="Lexend"/>
                          <a:sym typeface="Lexend"/>
                        </a:rPr>
                        <a:t>C</a:t>
                      </a:r>
                      <a:endParaRPr sz="30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000">
                          <a:solidFill>
                            <a:schemeClr val="dk1"/>
                          </a:solidFill>
                          <a:latin typeface="Lexend"/>
                          <a:ea typeface="Lexend"/>
                          <a:cs typeface="Lexend"/>
                          <a:sym typeface="Lexend"/>
                        </a:rPr>
                        <a:t>A</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A</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000">
                          <a:solidFill>
                            <a:schemeClr val="dk1"/>
                          </a:solidFill>
                          <a:latin typeface="Lexend"/>
                          <a:ea typeface="Lexend"/>
                          <a:cs typeface="Lexend"/>
                          <a:sym typeface="Lexend"/>
                        </a:rPr>
                        <a:t>O</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000">
                          <a:solidFill>
                            <a:schemeClr val="dk1"/>
                          </a:solidFill>
                          <a:latin typeface="Lexend"/>
                          <a:ea typeface="Lexend"/>
                          <a:cs typeface="Lexend"/>
                          <a:sym typeface="Lexend"/>
                        </a:rPr>
                        <a:t>O</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8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049" name="Google Shape;1049;p80"/>
          <p:cNvSpPr txBox="1"/>
          <p:nvPr>
            <p:ph idx="4294967295" type="body"/>
          </p:nvPr>
        </p:nvSpPr>
        <p:spPr>
          <a:xfrm>
            <a:off x="400200" y="759300"/>
            <a:ext cx="8237700" cy="45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All these represent the same ratio. Fill in the blanks.</a:t>
            </a:r>
            <a:endParaRPr/>
          </a:p>
        </p:txBody>
      </p:sp>
      <p:grpSp>
        <p:nvGrpSpPr>
          <p:cNvPr id="1050" name="Google Shape;1050;p80"/>
          <p:cNvGrpSpPr/>
          <p:nvPr/>
        </p:nvGrpSpPr>
        <p:grpSpPr>
          <a:xfrm>
            <a:off x="468222" y="3012425"/>
            <a:ext cx="3641617" cy="1687544"/>
            <a:chOff x="1068647" y="1398000"/>
            <a:chExt cx="3641617" cy="1687544"/>
          </a:xfrm>
        </p:grpSpPr>
        <p:grpSp>
          <p:nvGrpSpPr>
            <p:cNvPr id="1051" name="Google Shape;1051;p80"/>
            <p:cNvGrpSpPr/>
            <p:nvPr/>
          </p:nvGrpSpPr>
          <p:grpSpPr>
            <a:xfrm>
              <a:off x="1171164" y="1398000"/>
              <a:ext cx="3539100" cy="1687544"/>
              <a:chOff x="232050" y="2160000"/>
              <a:chExt cx="3539100" cy="1687544"/>
            </a:xfrm>
          </p:grpSpPr>
          <p:grpSp>
            <p:nvGrpSpPr>
              <p:cNvPr id="1052" name="Google Shape;1052;p80"/>
              <p:cNvGrpSpPr/>
              <p:nvPr/>
            </p:nvGrpSpPr>
            <p:grpSpPr>
              <a:xfrm>
                <a:off x="1433102" y="2533775"/>
                <a:ext cx="31897" cy="1000200"/>
                <a:chOff x="941713" y="3767150"/>
                <a:chExt cx="63300" cy="1000200"/>
              </a:xfrm>
            </p:grpSpPr>
            <p:cxnSp>
              <p:nvCxnSpPr>
                <p:cNvPr id="1053" name="Google Shape;1053;p80"/>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054" name="Google Shape;1054;p8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5" name="Google Shape;1055;p80"/>
              <p:cNvSpPr txBox="1"/>
              <p:nvPr/>
            </p:nvSpPr>
            <p:spPr>
              <a:xfrm>
                <a:off x="2369250" y="2574225"/>
                <a:ext cx="14019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1056" name="Google Shape;1056;p80"/>
              <p:cNvSpPr txBox="1"/>
              <p:nvPr/>
            </p:nvSpPr>
            <p:spPr>
              <a:xfrm>
                <a:off x="2383975" y="3181550"/>
                <a:ext cx="13485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1057" name="Google Shape;1057;p80"/>
              <p:cNvSpPr txBox="1"/>
              <p:nvPr/>
            </p:nvSpPr>
            <p:spPr>
              <a:xfrm>
                <a:off x="798874" y="2160000"/>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sz="2200">
                  <a:solidFill>
                    <a:srgbClr val="000000"/>
                  </a:solidFill>
                  <a:latin typeface="Lexend"/>
                  <a:ea typeface="Lexend"/>
                  <a:cs typeface="Lexend"/>
                  <a:sym typeface="Lexend"/>
                </a:endParaRPr>
              </a:p>
            </p:txBody>
          </p:sp>
          <p:sp>
            <p:nvSpPr>
              <p:cNvPr id="1058" name="Google Shape;1058;p80"/>
              <p:cNvSpPr txBox="1"/>
              <p:nvPr/>
            </p:nvSpPr>
            <p:spPr>
              <a:xfrm>
                <a:off x="1404662" y="3508844"/>
                <a:ext cx="492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1059" name="Google Shape;1059;p80"/>
              <p:cNvSpPr txBox="1"/>
              <p:nvPr/>
            </p:nvSpPr>
            <p:spPr>
              <a:xfrm>
                <a:off x="772411" y="3508844"/>
                <a:ext cx="492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sz="2200">
                  <a:solidFill>
                    <a:srgbClr val="000000"/>
                  </a:solidFill>
                  <a:latin typeface="Lexend"/>
                  <a:ea typeface="Lexend"/>
                  <a:cs typeface="Lexend"/>
                  <a:sym typeface="Lexend"/>
                </a:endParaRPr>
              </a:p>
            </p:txBody>
          </p:sp>
          <p:sp>
            <p:nvSpPr>
              <p:cNvPr id="1060" name="Google Shape;1060;p80"/>
              <p:cNvSpPr txBox="1"/>
              <p:nvPr/>
            </p:nvSpPr>
            <p:spPr>
              <a:xfrm>
                <a:off x="1372170" y="2160000"/>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4</a:t>
                </a:r>
                <a:endParaRPr sz="2200">
                  <a:solidFill>
                    <a:srgbClr val="000000"/>
                  </a:solidFill>
                  <a:latin typeface="Lexend"/>
                  <a:ea typeface="Lexend"/>
                  <a:cs typeface="Lexend"/>
                  <a:sym typeface="Lexend"/>
                </a:endParaRPr>
              </a:p>
            </p:txBody>
          </p:sp>
          <p:sp>
            <p:nvSpPr>
              <p:cNvPr id="1061" name="Google Shape;1061;p80"/>
              <p:cNvSpPr txBox="1"/>
              <p:nvPr/>
            </p:nvSpPr>
            <p:spPr>
              <a:xfrm>
                <a:off x="1948172" y="2160000"/>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1062" name="Google Shape;1062;p80"/>
              <p:cNvSpPr txBox="1"/>
              <p:nvPr/>
            </p:nvSpPr>
            <p:spPr>
              <a:xfrm>
                <a:off x="1951646" y="3508844"/>
                <a:ext cx="492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a:t>
                </a:r>
                <a:endParaRPr sz="2200">
                  <a:solidFill>
                    <a:srgbClr val="000000"/>
                  </a:solidFill>
                  <a:latin typeface="Lexend"/>
                  <a:ea typeface="Lexend"/>
                  <a:cs typeface="Lexend"/>
                  <a:sym typeface="Lexend"/>
                </a:endParaRPr>
              </a:p>
            </p:txBody>
          </p:sp>
          <p:cxnSp>
            <p:nvCxnSpPr>
              <p:cNvPr id="1063" name="Google Shape;1063;p80"/>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1064" name="Google Shape;1064;p80"/>
              <p:cNvGrpSpPr/>
              <p:nvPr/>
            </p:nvGrpSpPr>
            <p:grpSpPr>
              <a:xfrm>
                <a:off x="856988" y="2533775"/>
                <a:ext cx="31897" cy="1000200"/>
                <a:chOff x="941713" y="3767150"/>
                <a:chExt cx="63300" cy="1000200"/>
              </a:xfrm>
            </p:grpSpPr>
            <p:cxnSp>
              <p:nvCxnSpPr>
                <p:cNvPr id="1065" name="Google Shape;1065;p80"/>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066" name="Google Shape;1066;p8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7" name="Google Shape;1067;p80"/>
              <p:cNvGrpSpPr/>
              <p:nvPr/>
            </p:nvGrpSpPr>
            <p:grpSpPr>
              <a:xfrm>
                <a:off x="2008903" y="2533775"/>
                <a:ext cx="31897" cy="1000200"/>
                <a:chOff x="941713" y="3767150"/>
                <a:chExt cx="63300" cy="1000200"/>
              </a:xfrm>
            </p:grpSpPr>
            <p:cxnSp>
              <p:nvCxnSpPr>
                <p:cNvPr id="1068" name="Google Shape;1068;p80"/>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069" name="Google Shape;1069;p8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80"/>
              <p:cNvGrpSpPr/>
              <p:nvPr/>
            </p:nvGrpSpPr>
            <p:grpSpPr>
              <a:xfrm>
                <a:off x="1432946" y="2533775"/>
                <a:ext cx="31897" cy="1000200"/>
                <a:chOff x="941713" y="3767150"/>
                <a:chExt cx="63300" cy="1000200"/>
              </a:xfrm>
            </p:grpSpPr>
            <p:cxnSp>
              <p:nvCxnSpPr>
                <p:cNvPr id="1071" name="Google Shape;1071;p80"/>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072" name="Google Shape;1072;p8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73" name="Google Shape;1073;p80"/>
              <p:cNvCxnSpPr>
                <a:endCxn id="1055" idx="1"/>
              </p:cNvCxnSpPr>
              <p:nvPr/>
            </p:nvCxnSpPr>
            <p:spPr>
              <a:xfrm>
                <a:off x="268350" y="2717475"/>
                <a:ext cx="2100900" cy="3000"/>
              </a:xfrm>
              <a:prstGeom prst="straightConnector1">
                <a:avLst/>
              </a:prstGeom>
              <a:noFill/>
              <a:ln cap="flat" cmpd="sng" w="38100">
                <a:solidFill>
                  <a:srgbClr val="000000"/>
                </a:solidFill>
                <a:prstDash val="solid"/>
                <a:round/>
                <a:headEnd len="med" w="med" type="none"/>
                <a:tailEnd len="med" w="med" type="triangle"/>
              </a:ln>
            </p:spPr>
          </p:cxnSp>
          <p:cxnSp>
            <p:nvCxnSpPr>
              <p:cNvPr id="1074" name="Google Shape;1074;p80"/>
              <p:cNvCxnSpPr/>
              <p:nvPr/>
            </p:nvCxnSpPr>
            <p:spPr>
              <a:xfrm>
                <a:off x="232050" y="3313300"/>
                <a:ext cx="2166000" cy="13800"/>
              </a:xfrm>
              <a:prstGeom prst="straightConnector1">
                <a:avLst/>
              </a:prstGeom>
              <a:noFill/>
              <a:ln cap="flat" cmpd="sng" w="38100">
                <a:solidFill>
                  <a:srgbClr val="000000"/>
                </a:solidFill>
                <a:prstDash val="solid"/>
                <a:round/>
                <a:headEnd len="med" w="med" type="none"/>
                <a:tailEnd len="med" w="med" type="triangle"/>
              </a:ln>
            </p:spPr>
          </p:cxnSp>
        </p:grpSp>
        <p:sp>
          <p:nvSpPr>
            <p:cNvPr id="1075" name="Google Shape;1075;p80"/>
            <p:cNvSpPr/>
            <p:nvPr/>
          </p:nvSpPr>
          <p:spPr>
            <a:xfrm>
              <a:off x="1068647" y="1767125"/>
              <a:ext cx="244500" cy="1004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6" name="Google Shape;1076;p80"/>
            <p:cNvSpPr/>
            <p:nvPr/>
          </p:nvSpPr>
          <p:spPr>
            <a:xfrm>
              <a:off x="1757875" y="2004275"/>
              <a:ext cx="1301700" cy="529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aphicFrame>
        <p:nvGraphicFramePr>
          <p:cNvPr id="1077" name="Google Shape;1077;p80"/>
          <p:cNvGraphicFramePr/>
          <p:nvPr/>
        </p:nvGraphicFramePr>
        <p:xfrm>
          <a:off x="1826934" y="1946100"/>
          <a:ext cx="3000000" cy="3000000"/>
        </p:xfrm>
        <a:graphic>
          <a:graphicData uri="http://schemas.openxmlformats.org/drawingml/2006/table">
            <a:tbl>
              <a:tblPr>
                <a:noFill/>
                <a:tableStyleId>{13948374-6AAA-404F-9DE8-2BB181859924}</a:tableStyleId>
              </a:tblPr>
              <a:tblGrid>
                <a:gridCol w="1060275"/>
                <a:gridCol w="1060275"/>
              </a:tblGrid>
              <a:tr h="38902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389025">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pic>
        <p:nvPicPr>
          <p:cNvPr id="1078" name="Google Shape;1078;p80"/>
          <p:cNvPicPr preferRelativeResize="0"/>
          <p:nvPr/>
        </p:nvPicPr>
        <p:blipFill>
          <a:blip r:embed="rId3">
            <a:alphaModFix/>
          </a:blip>
          <a:stretch>
            <a:fillRect/>
          </a:stretch>
        </p:blipFill>
        <p:spPr>
          <a:xfrm>
            <a:off x="5284975" y="1180800"/>
            <a:ext cx="3140341" cy="3639600"/>
          </a:xfrm>
          <a:prstGeom prst="rect">
            <a:avLst/>
          </a:prstGeom>
          <a:noFill/>
          <a:ln>
            <a:noFill/>
          </a:ln>
        </p:spPr>
      </p:pic>
      <p:graphicFrame>
        <p:nvGraphicFramePr>
          <p:cNvPr id="1079" name="Google Shape;1079;p80"/>
          <p:cNvGraphicFramePr/>
          <p:nvPr/>
        </p:nvGraphicFramePr>
        <p:xfrm>
          <a:off x="885710" y="1221823"/>
          <a:ext cx="3000000" cy="3000000"/>
        </p:xfrm>
        <a:graphic>
          <a:graphicData uri="http://schemas.openxmlformats.org/drawingml/2006/table">
            <a:tbl>
              <a:tblPr>
                <a:noFill/>
                <a:tableStyleId>{13948374-6AAA-404F-9DE8-2BB181859924}</a:tableStyleId>
              </a:tblPr>
              <a:tblGrid>
                <a:gridCol w="728325"/>
                <a:gridCol w="728325"/>
                <a:gridCol w="728325"/>
                <a:gridCol w="728325"/>
                <a:gridCol w="728325"/>
              </a:tblGrid>
              <a:tr h="500075">
                <a:tc>
                  <a:txBody>
                    <a:bodyPr/>
                    <a:lstStyle/>
                    <a:p>
                      <a:pPr indent="0" lvl="0" marL="0" rtl="0" algn="ctr">
                        <a:spcBef>
                          <a:spcPts val="0"/>
                        </a:spcBef>
                        <a:spcAft>
                          <a:spcPts val="0"/>
                        </a:spcAft>
                        <a:buNone/>
                      </a:pPr>
                      <a:r>
                        <a:rPr lang="en-GB" sz="2100">
                          <a:latin typeface="Lexend"/>
                          <a:ea typeface="Lexend"/>
                          <a:cs typeface="Lexend"/>
                          <a:sym typeface="Lexend"/>
                        </a:rPr>
                        <a:t>£</a:t>
                      </a:r>
                      <a:endParaRPr sz="26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sp>
        <p:nvSpPr>
          <p:cNvPr id="1080" name="Google Shape;1080;p80"/>
          <p:cNvSpPr txBox="1"/>
          <p:nvPr/>
        </p:nvSpPr>
        <p:spPr>
          <a:xfrm>
            <a:off x="3853050" y="3310350"/>
            <a:ext cx="933900" cy="10917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GB" sz="2200">
                <a:solidFill>
                  <a:schemeClr val="dk1"/>
                </a:solidFill>
                <a:latin typeface="Lexend"/>
                <a:ea typeface="Lexend"/>
                <a:cs typeface="Lexend"/>
                <a:sym typeface="Lexend"/>
              </a:rPr>
              <a:t>£ : $</a:t>
            </a:r>
            <a:endParaRPr sz="2200">
              <a:solidFill>
                <a:schemeClr val="dk1"/>
              </a:solidFill>
              <a:latin typeface="Lexend"/>
              <a:ea typeface="Lexend"/>
              <a:cs typeface="Lexend"/>
              <a:sym typeface="Lexend"/>
            </a:endParaRPr>
          </a:p>
          <a:p>
            <a:pPr indent="0" lvl="0" marL="0" rtl="0" algn="l">
              <a:lnSpc>
                <a:spcPct val="130000"/>
              </a:lnSpc>
              <a:spcBef>
                <a:spcPts val="1000"/>
              </a:spcBef>
              <a:spcAft>
                <a:spcPts val="1000"/>
              </a:spcAft>
              <a:buNone/>
            </a:pPr>
            <a:r>
              <a:rPr lang="en-GB" sz="2200">
                <a:solidFill>
                  <a:schemeClr val="dk1"/>
                </a:solidFill>
                <a:latin typeface="Lexend"/>
                <a:ea typeface="Lexend"/>
                <a:cs typeface="Lexend"/>
                <a:sym typeface="Lexend"/>
              </a:rPr>
              <a:t>2 : 3</a:t>
            </a:r>
            <a:endParaRPr sz="2200">
              <a:solidFill>
                <a:schemeClr val="dk1"/>
              </a:solidFill>
              <a:latin typeface="Lexend"/>
              <a:ea typeface="Lexend"/>
              <a:cs typeface="Lexend"/>
              <a:sym typeface="Lexend"/>
            </a:endParaRPr>
          </a:p>
        </p:txBody>
      </p:sp>
      <p:sp>
        <p:nvSpPr>
          <p:cNvPr id="1081" name="Google Shape;1081;p80"/>
          <p:cNvSpPr/>
          <p:nvPr/>
        </p:nvSpPr>
        <p:spPr>
          <a:xfrm>
            <a:off x="3568546" y="3262346"/>
            <a:ext cx="1295700" cy="1179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2" name="Google Shape;1082;p80"/>
          <p:cNvSpPr/>
          <p:nvPr/>
        </p:nvSpPr>
        <p:spPr>
          <a:xfrm>
            <a:off x="10141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3" name="Google Shape;1083;p80"/>
          <p:cNvSpPr/>
          <p:nvPr/>
        </p:nvSpPr>
        <p:spPr>
          <a:xfrm>
            <a:off x="17761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4" name="Google Shape;1084;p80"/>
          <p:cNvSpPr/>
          <p:nvPr/>
        </p:nvSpPr>
        <p:spPr>
          <a:xfrm>
            <a:off x="24619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5" name="Google Shape;1085;p80"/>
          <p:cNvSpPr/>
          <p:nvPr/>
        </p:nvSpPr>
        <p:spPr>
          <a:xfrm>
            <a:off x="32239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6" name="Google Shape;1086;p80"/>
          <p:cNvSpPr/>
          <p:nvPr/>
        </p:nvSpPr>
        <p:spPr>
          <a:xfrm>
            <a:off x="39097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7" name="Google Shape;1087;p80"/>
          <p:cNvSpPr/>
          <p:nvPr/>
        </p:nvSpPr>
        <p:spPr>
          <a:xfrm>
            <a:off x="3210560" y="2440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8" name="Google Shape;1088;p80"/>
          <p:cNvSpPr/>
          <p:nvPr/>
        </p:nvSpPr>
        <p:spPr>
          <a:xfrm>
            <a:off x="3667760" y="3964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9" name="Google Shape;1089;p80"/>
          <p:cNvSpPr/>
          <p:nvPr/>
        </p:nvSpPr>
        <p:spPr>
          <a:xfrm>
            <a:off x="4326729" y="3964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0" name="Google Shape;1090;p80"/>
          <p:cNvSpPr/>
          <p:nvPr/>
        </p:nvSpPr>
        <p:spPr>
          <a:xfrm>
            <a:off x="1574415" y="29581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1" name="Google Shape;1091;p80"/>
          <p:cNvSpPr/>
          <p:nvPr/>
        </p:nvSpPr>
        <p:spPr>
          <a:xfrm>
            <a:off x="2184015" y="29581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2" name="Google Shape;1092;p80"/>
          <p:cNvSpPr/>
          <p:nvPr/>
        </p:nvSpPr>
        <p:spPr>
          <a:xfrm>
            <a:off x="1014185" y="44059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3" name="Google Shape;1093;p80"/>
          <p:cNvSpPr/>
          <p:nvPr/>
        </p:nvSpPr>
        <p:spPr>
          <a:xfrm>
            <a:off x="1574415" y="44059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4" name="Google Shape;1094;p80"/>
          <p:cNvSpPr/>
          <p:nvPr/>
        </p:nvSpPr>
        <p:spPr>
          <a:xfrm>
            <a:off x="2184015" y="44059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5" name="Google Shape;1095;p80"/>
          <p:cNvSpPr txBox="1"/>
          <p:nvPr/>
        </p:nvSpPr>
        <p:spPr>
          <a:xfrm>
            <a:off x="8173000" y="4472900"/>
            <a:ext cx="397800" cy="4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096" name="Google Shape;1096;p80"/>
          <p:cNvSpPr txBox="1"/>
          <p:nvPr/>
        </p:nvSpPr>
        <p:spPr>
          <a:xfrm>
            <a:off x="4887175" y="1080000"/>
            <a:ext cx="397800" cy="4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8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graphicFrame>
        <p:nvGraphicFramePr>
          <p:cNvPr id="1102" name="Google Shape;1102;p81"/>
          <p:cNvGraphicFramePr/>
          <p:nvPr/>
        </p:nvGraphicFramePr>
        <p:xfrm>
          <a:off x="3162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
        <p:nvSpPr>
          <p:cNvPr id="1103" name="Google Shape;1103;p81"/>
          <p:cNvSpPr txBox="1"/>
          <p:nvPr>
            <p:ph idx="4294967295" type="body"/>
          </p:nvPr>
        </p:nvSpPr>
        <p:spPr>
          <a:xfrm>
            <a:off x="324000" y="819075"/>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a:t>
            </a:r>
            <a:r>
              <a:rPr lang="en-GB" sz="2000"/>
              <a:t>Match the ratio table with the ratio notation. </a:t>
            </a:r>
            <a:endParaRPr sz="2000"/>
          </a:p>
        </p:txBody>
      </p:sp>
      <p:graphicFrame>
        <p:nvGraphicFramePr>
          <p:cNvPr id="1104" name="Google Shape;1104;p81"/>
          <p:cNvGraphicFramePr/>
          <p:nvPr/>
        </p:nvGraphicFramePr>
        <p:xfrm>
          <a:off x="20688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105" name="Google Shape;1105;p81"/>
          <p:cNvGraphicFramePr/>
          <p:nvPr/>
        </p:nvGraphicFramePr>
        <p:xfrm>
          <a:off x="55740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106" name="Google Shape;1106;p81"/>
          <p:cNvGraphicFramePr/>
          <p:nvPr/>
        </p:nvGraphicFramePr>
        <p:xfrm>
          <a:off x="74028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
        <p:nvSpPr>
          <p:cNvPr id="1107" name="Google Shape;1107;p81"/>
          <p:cNvSpPr txBox="1"/>
          <p:nvPr/>
        </p:nvSpPr>
        <p:spPr>
          <a:xfrm>
            <a:off x="286600" y="30057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3 : 1</a:t>
            </a:r>
            <a:endParaRPr sz="2000">
              <a:solidFill>
                <a:schemeClr val="dk1"/>
              </a:solidFill>
              <a:latin typeface="Lexend"/>
              <a:ea typeface="Lexend"/>
              <a:cs typeface="Lexend"/>
              <a:sym typeface="Lexend"/>
            </a:endParaRPr>
          </a:p>
        </p:txBody>
      </p:sp>
      <p:sp>
        <p:nvSpPr>
          <p:cNvPr id="1108" name="Google Shape;1108;p81"/>
          <p:cNvSpPr txBox="1"/>
          <p:nvPr/>
        </p:nvSpPr>
        <p:spPr>
          <a:xfrm>
            <a:off x="5591475" y="30246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2 : 3</a:t>
            </a:r>
            <a:endParaRPr sz="2000">
              <a:solidFill>
                <a:schemeClr val="dk1"/>
              </a:solidFill>
              <a:latin typeface="Lexend"/>
              <a:ea typeface="Lexend"/>
              <a:cs typeface="Lexend"/>
              <a:sym typeface="Lexend"/>
            </a:endParaRPr>
          </a:p>
        </p:txBody>
      </p:sp>
      <p:sp>
        <p:nvSpPr>
          <p:cNvPr id="1109" name="Google Shape;1109;p81"/>
          <p:cNvSpPr txBox="1"/>
          <p:nvPr/>
        </p:nvSpPr>
        <p:spPr>
          <a:xfrm>
            <a:off x="3791800" y="30057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15 : 25</a:t>
            </a:r>
            <a:endParaRPr sz="2000">
              <a:solidFill>
                <a:schemeClr val="dk1"/>
              </a:solidFill>
              <a:latin typeface="Lexend"/>
              <a:ea typeface="Lexend"/>
              <a:cs typeface="Lexend"/>
              <a:sym typeface="Lexend"/>
            </a:endParaRPr>
          </a:p>
        </p:txBody>
      </p:sp>
      <p:sp>
        <p:nvSpPr>
          <p:cNvPr id="1110" name="Google Shape;1110;p81"/>
          <p:cNvSpPr txBox="1"/>
          <p:nvPr/>
        </p:nvSpPr>
        <p:spPr>
          <a:xfrm>
            <a:off x="2115400" y="30057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24 : 80</a:t>
            </a:r>
            <a:endParaRPr sz="2000">
              <a:solidFill>
                <a:schemeClr val="dk1"/>
              </a:solidFill>
              <a:latin typeface="Lexend"/>
              <a:ea typeface="Lexend"/>
              <a:cs typeface="Lexend"/>
              <a:sym typeface="Lexend"/>
            </a:endParaRPr>
          </a:p>
        </p:txBody>
      </p:sp>
      <p:sp>
        <p:nvSpPr>
          <p:cNvPr id="1111" name="Google Shape;1111;p81"/>
          <p:cNvSpPr txBox="1"/>
          <p:nvPr/>
        </p:nvSpPr>
        <p:spPr>
          <a:xfrm>
            <a:off x="7373200" y="29295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25 : 5</a:t>
            </a:r>
            <a:endParaRPr sz="2000">
              <a:solidFill>
                <a:schemeClr val="dk1"/>
              </a:solidFill>
              <a:latin typeface="Lexend"/>
              <a:ea typeface="Lexend"/>
              <a:cs typeface="Lexend"/>
              <a:sym typeface="Lexend"/>
            </a:endParaRPr>
          </a:p>
        </p:txBody>
      </p:sp>
      <p:graphicFrame>
        <p:nvGraphicFramePr>
          <p:cNvPr id="1112" name="Google Shape;1112;p81"/>
          <p:cNvGraphicFramePr/>
          <p:nvPr/>
        </p:nvGraphicFramePr>
        <p:xfrm>
          <a:off x="37452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8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118" name="Google Shape;1118;p82"/>
          <p:cNvSpPr txBox="1"/>
          <p:nvPr>
            <p:ph idx="4294967295" type="body"/>
          </p:nvPr>
        </p:nvSpPr>
        <p:spPr>
          <a:xfrm>
            <a:off x="324000" y="819075"/>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a:t>
            </a:r>
            <a:r>
              <a:rPr lang="en-GB"/>
              <a:t>) Work out the equivalent ratios.</a:t>
            </a:r>
            <a:endParaRPr/>
          </a:p>
        </p:txBody>
      </p:sp>
      <p:sp>
        <p:nvSpPr>
          <p:cNvPr id="1119" name="Google Shape;1119;p82"/>
          <p:cNvSpPr/>
          <p:nvPr/>
        </p:nvSpPr>
        <p:spPr>
          <a:xfrm>
            <a:off x="3083925" y="2152250"/>
            <a:ext cx="2976156" cy="1682100"/>
          </a:xfrm>
          <a:prstGeom prst="cloud">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20" name="Google Shape;1120;p82"/>
          <p:cNvCxnSpPr/>
          <p:nvPr/>
        </p:nvCxnSpPr>
        <p:spPr>
          <a:xfrm rot="10800000">
            <a:off x="2102675" y="2290150"/>
            <a:ext cx="1229400" cy="366600"/>
          </a:xfrm>
          <a:prstGeom prst="straightConnector1">
            <a:avLst/>
          </a:prstGeom>
          <a:noFill/>
          <a:ln cap="flat" cmpd="sng" w="28575">
            <a:solidFill>
              <a:schemeClr val="dk1"/>
            </a:solidFill>
            <a:prstDash val="solid"/>
            <a:round/>
            <a:headEnd len="med" w="med" type="none"/>
            <a:tailEnd len="med" w="med" type="none"/>
          </a:ln>
        </p:spPr>
      </p:cxnSp>
      <p:cxnSp>
        <p:nvCxnSpPr>
          <p:cNvPr id="1121" name="Google Shape;1121;p82"/>
          <p:cNvCxnSpPr/>
          <p:nvPr/>
        </p:nvCxnSpPr>
        <p:spPr>
          <a:xfrm flipH="1">
            <a:off x="2047475" y="3513900"/>
            <a:ext cx="1284600" cy="494700"/>
          </a:xfrm>
          <a:prstGeom prst="straightConnector1">
            <a:avLst/>
          </a:prstGeom>
          <a:noFill/>
          <a:ln cap="flat" cmpd="sng" w="28575">
            <a:solidFill>
              <a:schemeClr val="dk1"/>
            </a:solidFill>
            <a:prstDash val="solid"/>
            <a:round/>
            <a:headEnd len="med" w="med" type="none"/>
            <a:tailEnd len="med" w="med" type="none"/>
          </a:ln>
        </p:spPr>
      </p:cxnSp>
      <p:cxnSp>
        <p:nvCxnSpPr>
          <p:cNvPr id="1122" name="Google Shape;1122;p82"/>
          <p:cNvCxnSpPr/>
          <p:nvPr/>
        </p:nvCxnSpPr>
        <p:spPr>
          <a:xfrm rot="10800000">
            <a:off x="4689150" y="3834350"/>
            <a:ext cx="422100" cy="512100"/>
          </a:xfrm>
          <a:prstGeom prst="straightConnector1">
            <a:avLst/>
          </a:prstGeom>
          <a:noFill/>
          <a:ln cap="flat" cmpd="sng" w="28575">
            <a:solidFill>
              <a:schemeClr val="dk1"/>
            </a:solidFill>
            <a:prstDash val="solid"/>
            <a:round/>
            <a:headEnd len="med" w="med" type="none"/>
            <a:tailEnd len="med" w="med" type="none"/>
          </a:ln>
        </p:spPr>
      </p:cxnSp>
      <p:cxnSp>
        <p:nvCxnSpPr>
          <p:cNvPr id="1123" name="Google Shape;1123;p82"/>
          <p:cNvCxnSpPr/>
          <p:nvPr/>
        </p:nvCxnSpPr>
        <p:spPr>
          <a:xfrm rot="10800000">
            <a:off x="5637975" y="3322275"/>
            <a:ext cx="1241700" cy="197100"/>
          </a:xfrm>
          <a:prstGeom prst="straightConnector1">
            <a:avLst/>
          </a:prstGeom>
          <a:noFill/>
          <a:ln cap="flat" cmpd="sng" w="28575">
            <a:solidFill>
              <a:schemeClr val="dk1"/>
            </a:solidFill>
            <a:prstDash val="solid"/>
            <a:round/>
            <a:headEnd len="med" w="med" type="none"/>
            <a:tailEnd len="med" w="med" type="none"/>
          </a:ln>
        </p:spPr>
      </p:cxnSp>
      <p:cxnSp>
        <p:nvCxnSpPr>
          <p:cNvPr id="1124" name="Google Shape;1124;p82"/>
          <p:cNvCxnSpPr/>
          <p:nvPr/>
        </p:nvCxnSpPr>
        <p:spPr>
          <a:xfrm flipH="1">
            <a:off x="5774350" y="1912725"/>
            <a:ext cx="1180800" cy="462300"/>
          </a:xfrm>
          <a:prstGeom prst="straightConnector1">
            <a:avLst/>
          </a:prstGeom>
          <a:noFill/>
          <a:ln cap="flat" cmpd="sng" w="28575">
            <a:solidFill>
              <a:schemeClr val="dk1"/>
            </a:solidFill>
            <a:prstDash val="solid"/>
            <a:round/>
            <a:headEnd len="med" w="med" type="none"/>
            <a:tailEnd len="med" w="med" type="none"/>
          </a:ln>
        </p:spPr>
      </p:cxnSp>
      <p:cxnSp>
        <p:nvCxnSpPr>
          <p:cNvPr id="1125" name="Google Shape;1125;p82"/>
          <p:cNvCxnSpPr/>
          <p:nvPr/>
        </p:nvCxnSpPr>
        <p:spPr>
          <a:xfrm>
            <a:off x="4076100" y="1675484"/>
            <a:ext cx="331200" cy="539100"/>
          </a:xfrm>
          <a:prstGeom prst="straightConnector1">
            <a:avLst/>
          </a:prstGeom>
          <a:noFill/>
          <a:ln cap="flat" cmpd="sng" w="28575">
            <a:solidFill>
              <a:schemeClr val="dk1"/>
            </a:solidFill>
            <a:prstDash val="solid"/>
            <a:round/>
            <a:headEnd len="med" w="med" type="none"/>
            <a:tailEnd len="med" w="med" type="none"/>
          </a:ln>
        </p:spPr>
      </p:cxnSp>
      <p:sp>
        <p:nvSpPr>
          <p:cNvPr id="1126" name="Google Shape;1126;p82"/>
          <p:cNvSpPr txBox="1"/>
          <p:nvPr/>
        </p:nvSpPr>
        <p:spPr>
          <a:xfrm>
            <a:off x="3969700" y="2600675"/>
            <a:ext cx="1552800" cy="7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400">
                <a:solidFill>
                  <a:schemeClr val="dk1"/>
                </a:solidFill>
                <a:latin typeface="Lexend"/>
                <a:ea typeface="Lexend"/>
                <a:cs typeface="Lexend"/>
                <a:sym typeface="Lexend"/>
              </a:rPr>
              <a:t>4 : 5</a:t>
            </a:r>
            <a:endParaRPr sz="3400">
              <a:solidFill>
                <a:schemeClr val="dk1"/>
              </a:solidFill>
              <a:latin typeface="Lexend"/>
              <a:ea typeface="Lexend"/>
              <a:cs typeface="Lexend"/>
              <a:sym typeface="Lexend"/>
            </a:endParaRPr>
          </a:p>
        </p:txBody>
      </p:sp>
      <p:sp>
        <p:nvSpPr>
          <p:cNvPr id="1127" name="Google Shape;1127;p82"/>
          <p:cNvSpPr txBox="1"/>
          <p:nvPr/>
        </p:nvSpPr>
        <p:spPr>
          <a:xfrm>
            <a:off x="3543600" y="12324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8</a:t>
            </a:r>
            <a:r>
              <a:rPr lang="en-GB" sz="2700">
                <a:solidFill>
                  <a:schemeClr val="dk1"/>
                </a:solidFill>
                <a:latin typeface="Lexend"/>
                <a:ea typeface="Lexend"/>
                <a:cs typeface="Lexend"/>
                <a:sym typeface="Lexend"/>
              </a:rPr>
              <a:t> : </a:t>
            </a:r>
            <a:r>
              <a:rPr lang="en-GB" sz="2700">
                <a:solidFill>
                  <a:schemeClr val="dk1"/>
                </a:solidFill>
                <a:latin typeface="Lexend"/>
                <a:ea typeface="Lexend"/>
                <a:cs typeface="Lexend"/>
                <a:sym typeface="Lexend"/>
              </a:rPr>
              <a:t>10</a:t>
            </a:r>
            <a:endParaRPr sz="2700">
              <a:solidFill>
                <a:schemeClr val="dk1"/>
              </a:solidFill>
              <a:latin typeface="Lexend"/>
              <a:ea typeface="Lexend"/>
              <a:cs typeface="Lexend"/>
              <a:sym typeface="Lexend"/>
            </a:endParaRPr>
          </a:p>
        </p:txBody>
      </p:sp>
      <p:sp>
        <p:nvSpPr>
          <p:cNvPr id="1128" name="Google Shape;1128;p82"/>
          <p:cNvSpPr txBox="1"/>
          <p:nvPr/>
        </p:nvSpPr>
        <p:spPr>
          <a:xfrm>
            <a:off x="6896400" y="1537200"/>
            <a:ext cx="16653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20</a:t>
            </a:r>
            <a:r>
              <a:rPr lang="en-GB" sz="2700">
                <a:solidFill>
                  <a:schemeClr val="dk1"/>
                </a:solidFill>
                <a:latin typeface="Lexend"/>
                <a:ea typeface="Lexend"/>
                <a:cs typeface="Lexend"/>
                <a:sym typeface="Lexend"/>
              </a:rPr>
              <a:t> : 25</a:t>
            </a:r>
            <a:endParaRPr sz="2700">
              <a:solidFill>
                <a:schemeClr val="dk1"/>
              </a:solidFill>
              <a:latin typeface="Lexend"/>
              <a:ea typeface="Lexend"/>
              <a:cs typeface="Lexend"/>
              <a:sym typeface="Lexend"/>
            </a:endParaRPr>
          </a:p>
        </p:txBody>
      </p:sp>
      <p:sp>
        <p:nvSpPr>
          <p:cNvPr id="1129" name="Google Shape;1129;p82"/>
          <p:cNvSpPr txBox="1"/>
          <p:nvPr/>
        </p:nvSpPr>
        <p:spPr>
          <a:xfrm>
            <a:off x="6820200" y="3137400"/>
            <a:ext cx="16653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32</a:t>
            </a:r>
            <a:r>
              <a:rPr lang="en-GB" sz="2700">
                <a:solidFill>
                  <a:schemeClr val="dk1"/>
                </a:solidFill>
                <a:latin typeface="Lexend"/>
                <a:ea typeface="Lexend"/>
                <a:cs typeface="Lexend"/>
                <a:sym typeface="Lexend"/>
              </a:rPr>
              <a:t> : 40</a:t>
            </a:r>
            <a:endParaRPr sz="2700">
              <a:solidFill>
                <a:schemeClr val="dk1"/>
              </a:solidFill>
              <a:latin typeface="Lexend"/>
              <a:ea typeface="Lexend"/>
              <a:cs typeface="Lexend"/>
              <a:sym typeface="Lexend"/>
            </a:endParaRPr>
          </a:p>
        </p:txBody>
      </p:sp>
      <p:sp>
        <p:nvSpPr>
          <p:cNvPr id="1130" name="Google Shape;1130;p82"/>
          <p:cNvSpPr txBox="1"/>
          <p:nvPr/>
        </p:nvSpPr>
        <p:spPr>
          <a:xfrm>
            <a:off x="5067600" y="40518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1</a:t>
            </a:r>
            <a:r>
              <a:rPr lang="en-GB" sz="2700">
                <a:solidFill>
                  <a:schemeClr val="dk1"/>
                </a:solidFill>
                <a:latin typeface="Lexend"/>
                <a:ea typeface="Lexend"/>
                <a:cs typeface="Lexend"/>
                <a:sym typeface="Lexend"/>
              </a:rPr>
              <a:t> : 1.25</a:t>
            </a:r>
            <a:endParaRPr sz="2700">
              <a:solidFill>
                <a:schemeClr val="dk1"/>
              </a:solidFill>
              <a:latin typeface="Lexend"/>
              <a:ea typeface="Lexend"/>
              <a:cs typeface="Lexend"/>
              <a:sym typeface="Lexend"/>
            </a:endParaRPr>
          </a:p>
        </p:txBody>
      </p:sp>
      <p:sp>
        <p:nvSpPr>
          <p:cNvPr id="1131" name="Google Shape;1131;p82"/>
          <p:cNvSpPr txBox="1"/>
          <p:nvPr/>
        </p:nvSpPr>
        <p:spPr>
          <a:xfrm>
            <a:off x="829675" y="3899400"/>
            <a:ext cx="18330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0.</a:t>
            </a:r>
            <a:r>
              <a:rPr lang="en-GB" sz="2700">
                <a:solidFill>
                  <a:schemeClr val="dk1"/>
                </a:solidFill>
                <a:latin typeface="Lexend"/>
                <a:ea typeface="Lexend"/>
                <a:cs typeface="Lexend"/>
                <a:sym typeface="Lexend"/>
              </a:rPr>
              <a:t>4 : 0.5</a:t>
            </a:r>
            <a:endParaRPr sz="2700">
              <a:solidFill>
                <a:schemeClr val="dk1"/>
              </a:solidFill>
              <a:latin typeface="Lexend"/>
              <a:ea typeface="Lexend"/>
              <a:cs typeface="Lexend"/>
              <a:sym typeface="Lexend"/>
            </a:endParaRPr>
          </a:p>
        </p:txBody>
      </p:sp>
      <p:sp>
        <p:nvSpPr>
          <p:cNvPr id="1132" name="Google Shape;1132;p82"/>
          <p:cNvSpPr txBox="1"/>
          <p:nvPr/>
        </p:nvSpPr>
        <p:spPr>
          <a:xfrm>
            <a:off x="1038000" y="19182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a:t>
            </a:r>
            <a:r>
              <a:rPr lang="en-GB" sz="2700">
                <a:solidFill>
                  <a:schemeClr val="dk1"/>
                </a:solidFill>
                <a:latin typeface="Lexend"/>
                <a:ea typeface="Lexend"/>
                <a:cs typeface="Lexend"/>
                <a:sym typeface="Lexend"/>
              </a:rPr>
              <a:t> : 2.5</a:t>
            </a:r>
            <a:endParaRPr sz="2700">
              <a:solidFill>
                <a:schemeClr val="dk1"/>
              </a:solidFill>
              <a:latin typeface="Lexend"/>
              <a:ea typeface="Lexend"/>
              <a:cs typeface="Lexend"/>
              <a:sym typeface="Lexend"/>
            </a:endParaRPr>
          </a:p>
        </p:txBody>
      </p:sp>
      <p:sp>
        <p:nvSpPr>
          <p:cNvPr id="1133" name="Google Shape;1133;p82"/>
          <p:cNvSpPr/>
          <p:nvPr/>
        </p:nvSpPr>
        <p:spPr>
          <a:xfrm>
            <a:off x="3480135" y="13258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4" name="Google Shape;1134;p82"/>
          <p:cNvSpPr/>
          <p:nvPr/>
        </p:nvSpPr>
        <p:spPr>
          <a:xfrm>
            <a:off x="6985335" y="16306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5" name="Google Shape;1135;p82"/>
          <p:cNvSpPr/>
          <p:nvPr/>
        </p:nvSpPr>
        <p:spPr>
          <a:xfrm>
            <a:off x="6909135" y="33070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6" name="Google Shape;1136;p82"/>
          <p:cNvSpPr/>
          <p:nvPr/>
        </p:nvSpPr>
        <p:spPr>
          <a:xfrm>
            <a:off x="5613719" y="4145250"/>
            <a:ext cx="6432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7" name="Google Shape;1137;p82"/>
          <p:cNvSpPr/>
          <p:nvPr/>
        </p:nvSpPr>
        <p:spPr>
          <a:xfrm>
            <a:off x="813119" y="4003633"/>
            <a:ext cx="6432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8" name="Google Shape;1138;p82"/>
          <p:cNvSpPr/>
          <p:nvPr/>
        </p:nvSpPr>
        <p:spPr>
          <a:xfrm>
            <a:off x="1575119" y="2022433"/>
            <a:ext cx="6432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144" name="Google Shape;1144;p83"/>
          <p:cNvSpPr txBox="1"/>
          <p:nvPr>
            <p:ph idx="4294967295" type="body"/>
          </p:nvPr>
        </p:nvSpPr>
        <p:spPr>
          <a:xfrm>
            <a:off x="324000" y="819075"/>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5</a:t>
            </a:r>
            <a:r>
              <a:rPr lang="en-GB"/>
              <a:t>) Work out the equivalent ratios.</a:t>
            </a:r>
            <a:endParaRPr/>
          </a:p>
        </p:txBody>
      </p:sp>
      <p:sp>
        <p:nvSpPr>
          <p:cNvPr id="1145" name="Google Shape;1145;p83"/>
          <p:cNvSpPr/>
          <p:nvPr/>
        </p:nvSpPr>
        <p:spPr>
          <a:xfrm>
            <a:off x="3083925" y="2152250"/>
            <a:ext cx="2976156" cy="1682100"/>
          </a:xfrm>
          <a:prstGeom prst="cloud">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46" name="Google Shape;1146;p83"/>
          <p:cNvCxnSpPr/>
          <p:nvPr/>
        </p:nvCxnSpPr>
        <p:spPr>
          <a:xfrm rot="10800000">
            <a:off x="2102675" y="2290150"/>
            <a:ext cx="1229400" cy="366600"/>
          </a:xfrm>
          <a:prstGeom prst="straightConnector1">
            <a:avLst/>
          </a:prstGeom>
          <a:noFill/>
          <a:ln cap="flat" cmpd="sng" w="28575">
            <a:solidFill>
              <a:schemeClr val="dk1"/>
            </a:solidFill>
            <a:prstDash val="solid"/>
            <a:round/>
            <a:headEnd len="med" w="med" type="none"/>
            <a:tailEnd len="med" w="med" type="none"/>
          </a:ln>
        </p:spPr>
      </p:cxnSp>
      <p:cxnSp>
        <p:nvCxnSpPr>
          <p:cNvPr id="1147" name="Google Shape;1147;p83"/>
          <p:cNvCxnSpPr/>
          <p:nvPr/>
        </p:nvCxnSpPr>
        <p:spPr>
          <a:xfrm flipH="1">
            <a:off x="2047475" y="3513900"/>
            <a:ext cx="1284600" cy="494700"/>
          </a:xfrm>
          <a:prstGeom prst="straightConnector1">
            <a:avLst/>
          </a:prstGeom>
          <a:noFill/>
          <a:ln cap="flat" cmpd="sng" w="28575">
            <a:solidFill>
              <a:schemeClr val="dk1"/>
            </a:solidFill>
            <a:prstDash val="solid"/>
            <a:round/>
            <a:headEnd len="med" w="med" type="none"/>
            <a:tailEnd len="med" w="med" type="none"/>
          </a:ln>
        </p:spPr>
      </p:cxnSp>
      <p:cxnSp>
        <p:nvCxnSpPr>
          <p:cNvPr id="1148" name="Google Shape;1148;p83"/>
          <p:cNvCxnSpPr/>
          <p:nvPr/>
        </p:nvCxnSpPr>
        <p:spPr>
          <a:xfrm rot="10800000">
            <a:off x="4689150" y="3834350"/>
            <a:ext cx="422100" cy="512100"/>
          </a:xfrm>
          <a:prstGeom prst="straightConnector1">
            <a:avLst/>
          </a:prstGeom>
          <a:noFill/>
          <a:ln cap="flat" cmpd="sng" w="28575">
            <a:solidFill>
              <a:schemeClr val="dk1"/>
            </a:solidFill>
            <a:prstDash val="solid"/>
            <a:round/>
            <a:headEnd len="med" w="med" type="none"/>
            <a:tailEnd len="med" w="med" type="none"/>
          </a:ln>
        </p:spPr>
      </p:cxnSp>
      <p:cxnSp>
        <p:nvCxnSpPr>
          <p:cNvPr id="1149" name="Google Shape;1149;p83"/>
          <p:cNvCxnSpPr/>
          <p:nvPr/>
        </p:nvCxnSpPr>
        <p:spPr>
          <a:xfrm rot="10800000">
            <a:off x="5637975" y="3322275"/>
            <a:ext cx="1241700" cy="197100"/>
          </a:xfrm>
          <a:prstGeom prst="straightConnector1">
            <a:avLst/>
          </a:prstGeom>
          <a:noFill/>
          <a:ln cap="flat" cmpd="sng" w="28575">
            <a:solidFill>
              <a:schemeClr val="dk1"/>
            </a:solidFill>
            <a:prstDash val="solid"/>
            <a:round/>
            <a:headEnd len="med" w="med" type="none"/>
            <a:tailEnd len="med" w="med" type="none"/>
          </a:ln>
        </p:spPr>
      </p:cxnSp>
      <p:cxnSp>
        <p:nvCxnSpPr>
          <p:cNvPr id="1150" name="Google Shape;1150;p83"/>
          <p:cNvCxnSpPr/>
          <p:nvPr/>
        </p:nvCxnSpPr>
        <p:spPr>
          <a:xfrm flipH="1">
            <a:off x="5774350" y="1912725"/>
            <a:ext cx="1180800" cy="462300"/>
          </a:xfrm>
          <a:prstGeom prst="straightConnector1">
            <a:avLst/>
          </a:prstGeom>
          <a:noFill/>
          <a:ln cap="flat" cmpd="sng" w="28575">
            <a:solidFill>
              <a:schemeClr val="dk1"/>
            </a:solidFill>
            <a:prstDash val="solid"/>
            <a:round/>
            <a:headEnd len="med" w="med" type="none"/>
            <a:tailEnd len="med" w="med" type="none"/>
          </a:ln>
        </p:spPr>
      </p:cxnSp>
      <p:cxnSp>
        <p:nvCxnSpPr>
          <p:cNvPr id="1151" name="Google Shape;1151;p83"/>
          <p:cNvCxnSpPr/>
          <p:nvPr/>
        </p:nvCxnSpPr>
        <p:spPr>
          <a:xfrm>
            <a:off x="4076100" y="1675484"/>
            <a:ext cx="331200" cy="539100"/>
          </a:xfrm>
          <a:prstGeom prst="straightConnector1">
            <a:avLst/>
          </a:prstGeom>
          <a:noFill/>
          <a:ln cap="flat" cmpd="sng" w="28575">
            <a:solidFill>
              <a:schemeClr val="dk1"/>
            </a:solidFill>
            <a:prstDash val="solid"/>
            <a:round/>
            <a:headEnd len="med" w="med" type="none"/>
            <a:tailEnd len="med" w="med" type="none"/>
          </a:ln>
        </p:spPr>
      </p:cxnSp>
      <p:sp>
        <p:nvSpPr>
          <p:cNvPr id="1152" name="Google Shape;1152;p83"/>
          <p:cNvSpPr txBox="1"/>
          <p:nvPr/>
        </p:nvSpPr>
        <p:spPr>
          <a:xfrm>
            <a:off x="3795600" y="2631475"/>
            <a:ext cx="1552800" cy="7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400">
                <a:solidFill>
                  <a:schemeClr val="dk1"/>
                </a:solidFill>
                <a:latin typeface="Lexend"/>
                <a:ea typeface="Lexend"/>
                <a:cs typeface="Lexend"/>
                <a:sym typeface="Lexend"/>
              </a:rPr>
              <a:t>2 : 3</a:t>
            </a:r>
            <a:r>
              <a:rPr lang="en-GB" sz="3400">
                <a:solidFill>
                  <a:schemeClr val="dk1"/>
                </a:solidFill>
                <a:latin typeface="Lexend"/>
                <a:ea typeface="Lexend"/>
                <a:cs typeface="Lexend"/>
                <a:sym typeface="Lexend"/>
              </a:rPr>
              <a:t> : 1</a:t>
            </a:r>
            <a:endParaRPr sz="3400">
              <a:solidFill>
                <a:schemeClr val="dk1"/>
              </a:solidFill>
              <a:latin typeface="Lexend"/>
              <a:ea typeface="Lexend"/>
              <a:cs typeface="Lexend"/>
              <a:sym typeface="Lexend"/>
            </a:endParaRPr>
          </a:p>
        </p:txBody>
      </p:sp>
      <p:sp>
        <p:nvSpPr>
          <p:cNvPr id="1153" name="Google Shape;1153;p83"/>
          <p:cNvSpPr txBox="1"/>
          <p:nvPr/>
        </p:nvSpPr>
        <p:spPr>
          <a:xfrm>
            <a:off x="3543600" y="12324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8</a:t>
            </a:r>
            <a:r>
              <a:rPr lang="en-GB" sz="2700">
                <a:solidFill>
                  <a:schemeClr val="dk1"/>
                </a:solidFill>
                <a:latin typeface="Lexend"/>
                <a:ea typeface="Lexend"/>
                <a:cs typeface="Lexend"/>
                <a:sym typeface="Lexend"/>
              </a:rPr>
              <a:t> : 12 : 4</a:t>
            </a:r>
            <a:endParaRPr sz="2700">
              <a:solidFill>
                <a:schemeClr val="dk1"/>
              </a:solidFill>
              <a:latin typeface="Lexend"/>
              <a:ea typeface="Lexend"/>
              <a:cs typeface="Lexend"/>
              <a:sym typeface="Lexend"/>
            </a:endParaRPr>
          </a:p>
        </p:txBody>
      </p:sp>
      <p:sp>
        <p:nvSpPr>
          <p:cNvPr id="1154" name="Google Shape;1154;p83"/>
          <p:cNvSpPr txBox="1"/>
          <p:nvPr/>
        </p:nvSpPr>
        <p:spPr>
          <a:xfrm>
            <a:off x="6896400" y="1537200"/>
            <a:ext cx="20859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22</a:t>
            </a:r>
            <a:r>
              <a:rPr lang="en-GB" sz="2700">
                <a:solidFill>
                  <a:schemeClr val="dk1"/>
                </a:solidFill>
                <a:latin typeface="Lexend"/>
                <a:ea typeface="Lexend"/>
                <a:cs typeface="Lexend"/>
                <a:sym typeface="Lexend"/>
              </a:rPr>
              <a:t> : 33 : 11</a:t>
            </a:r>
            <a:endParaRPr sz="2700">
              <a:solidFill>
                <a:schemeClr val="dk1"/>
              </a:solidFill>
              <a:latin typeface="Lexend"/>
              <a:ea typeface="Lexend"/>
              <a:cs typeface="Lexend"/>
              <a:sym typeface="Lexend"/>
            </a:endParaRPr>
          </a:p>
        </p:txBody>
      </p:sp>
      <p:sp>
        <p:nvSpPr>
          <p:cNvPr id="1155" name="Google Shape;1155;p83"/>
          <p:cNvSpPr txBox="1"/>
          <p:nvPr/>
        </p:nvSpPr>
        <p:spPr>
          <a:xfrm>
            <a:off x="6820200" y="3137400"/>
            <a:ext cx="18330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1</a:t>
            </a:r>
            <a:r>
              <a:rPr lang="en-GB" sz="2700">
                <a:solidFill>
                  <a:schemeClr val="dk1"/>
                </a:solidFill>
                <a:latin typeface="Lexend"/>
                <a:ea typeface="Lexend"/>
                <a:cs typeface="Lexend"/>
                <a:sym typeface="Lexend"/>
              </a:rPr>
              <a:t> : 1.5 : 0.5 </a:t>
            </a:r>
            <a:endParaRPr sz="2700">
              <a:solidFill>
                <a:schemeClr val="dk1"/>
              </a:solidFill>
              <a:latin typeface="Lexend"/>
              <a:ea typeface="Lexend"/>
              <a:cs typeface="Lexend"/>
              <a:sym typeface="Lexend"/>
            </a:endParaRPr>
          </a:p>
        </p:txBody>
      </p:sp>
      <p:sp>
        <p:nvSpPr>
          <p:cNvPr id="1156" name="Google Shape;1156;p83"/>
          <p:cNvSpPr txBox="1"/>
          <p:nvPr/>
        </p:nvSpPr>
        <p:spPr>
          <a:xfrm>
            <a:off x="5067600" y="4051800"/>
            <a:ext cx="20385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20</a:t>
            </a:r>
            <a:r>
              <a:rPr lang="en-GB" sz="2700">
                <a:solidFill>
                  <a:schemeClr val="dk1"/>
                </a:solidFill>
                <a:latin typeface="Lexend"/>
                <a:ea typeface="Lexend"/>
                <a:cs typeface="Lexend"/>
                <a:sym typeface="Lexend"/>
              </a:rPr>
              <a:t> : 30 : 10</a:t>
            </a:r>
            <a:endParaRPr sz="2700">
              <a:solidFill>
                <a:schemeClr val="dk1"/>
              </a:solidFill>
              <a:latin typeface="Lexend"/>
              <a:ea typeface="Lexend"/>
              <a:cs typeface="Lexend"/>
              <a:sym typeface="Lexend"/>
            </a:endParaRPr>
          </a:p>
        </p:txBody>
      </p:sp>
      <p:sp>
        <p:nvSpPr>
          <p:cNvPr id="1157" name="Google Shape;1157;p83"/>
          <p:cNvSpPr txBox="1"/>
          <p:nvPr/>
        </p:nvSpPr>
        <p:spPr>
          <a:xfrm>
            <a:off x="829675" y="3899400"/>
            <a:ext cx="18330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700">
              <a:solidFill>
                <a:schemeClr val="dk1"/>
              </a:solidFill>
              <a:latin typeface="Lexend"/>
              <a:ea typeface="Lexend"/>
              <a:cs typeface="Lexend"/>
              <a:sym typeface="Lexend"/>
            </a:endParaRPr>
          </a:p>
        </p:txBody>
      </p:sp>
      <p:sp>
        <p:nvSpPr>
          <p:cNvPr id="1158" name="Google Shape;1158;p83"/>
          <p:cNvSpPr txBox="1"/>
          <p:nvPr/>
        </p:nvSpPr>
        <p:spPr>
          <a:xfrm>
            <a:off x="500975" y="1994400"/>
            <a:ext cx="19374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10 : 15 : 5</a:t>
            </a:r>
            <a:endParaRPr sz="27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3}:\ 1\ :\ \frac{1}{3}&quot;&gt;&lt;mfrac&gt;&lt;mn&gt;2&lt;/mn&gt;&lt;mn&gt;3&lt;/mn&gt;&lt;/mfrac&gt;&lt;mo&gt;:&lt;/mo&gt;&lt;mtext&gt;&lt;/mtext&gt;&lt;mn&gt;1&lt;/mn&gt;&lt;mtext&gt;&lt;/mtext&gt;&lt;mo&gt;:&lt;/mo&gt;&lt;mtext&gt;&lt;/mtext&gt;&lt;mfrac&gt;&lt;mn&gt;1&lt;/mn&gt;&lt;mn&gt;3&lt;/mn&gt;&lt;/mfrac&gt;&lt;/math&gt;" id="1159" name="Google Shape;1159;p83" title="two thirds colon 1 colon one third"/>
          <p:cNvPicPr preferRelativeResize="0"/>
          <p:nvPr/>
        </p:nvPicPr>
        <p:blipFill>
          <a:blip r:embed="rId3">
            <a:alphaModFix/>
          </a:blip>
          <a:stretch>
            <a:fillRect/>
          </a:stretch>
        </p:blipFill>
        <p:spPr>
          <a:xfrm>
            <a:off x="653376" y="3752701"/>
            <a:ext cx="1365695" cy="643500"/>
          </a:xfrm>
          <a:prstGeom prst="rect">
            <a:avLst/>
          </a:prstGeom>
          <a:noFill/>
          <a:ln>
            <a:noFill/>
          </a:ln>
        </p:spPr>
      </p:pic>
      <p:sp>
        <p:nvSpPr>
          <p:cNvPr id="1160" name="Google Shape;1160;p83"/>
          <p:cNvSpPr/>
          <p:nvPr/>
        </p:nvSpPr>
        <p:spPr>
          <a:xfrm>
            <a:off x="4086881" y="1319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83"/>
          <p:cNvSpPr/>
          <p:nvPr/>
        </p:nvSpPr>
        <p:spPr>
          <a:xfrm>
            <a:off x="4696481" y="1319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2" name="Google Shape;1162;p83"/>
          <p:cNvSpPr/>
          <p:nvPr/>
        </p:nvSpPr>
        <p:spPr>
          <a:xfrm>
            <a:off x="6982481" y="1700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83"/>
          <p:cNvSpPr/>
          <p:nvPr/>
        </p:nvSpPr>
        <p:spPr>
          <a:xfrm>
            <a:off x="7592081" y="1700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4" name="Google Shape;1164;p83"/>
          <p:cNvSpPr/>
          <p:nvPr/>
        </p:nvSpPr>
        <p:spPr>
          <a:xfrm>
            <a:off x="6721532" y="32790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5" name="Google Shape;1165;p83"/>
          <p:cNvSpPr/>
          <p:nvPr/>
        </p:nvSpPr>
        <p:spPr>
          <a:xfrm>
            <a:off x="7363481" y="3268234"/>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6" name="Google Shape;1166;p83"/>
          <p:cNvSpPr/>
          <p:nvPr/>
        </p:nvSpPr>
        <p:spPr>
          <a:xfrm>
            <a:off x="5807132" y="41934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7" name="Google Shape;1167;p83"/>
          <p:cNvSpPr/>
          <p:nvPr/>
        </p:nvSpPr>
        <p:spPr>
          <a:xfrm>
            <a:off x="6416732" y="41934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8" name="Google Shape;1168;p83"/>
          <p:cNvSpPr/>
          <p:nvPr/>
        </p:nvSpPr>
        <p:spPr>
          <a:xfrm>
            <a:off x="538325" y="3752707"/>
            <a:ext cx="422100" cy="6435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9" name="Google Shape;1169;p83"/>
          <p:cNvSpPr/>
          <p:nvPr/>
        </p:nvSpPr>
        <p:spPr>
          <a:xfrm>
            <a:off x="1684800" y="3752707"/>
            <a:ext cx="422100" cy="6435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0" name="Google Shape;1170;p83"/>
          <p:cNvSpPr/>
          <p:nvPr/>
        </p:nvSpPr>
        <p:spPr>
          <a:xfrm>
            <a:off x="1223630" y="21360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1" name="Google Shape;1171;p83"/>
          <p:cNvSpPr/>
          <p:nvPr/>
        </p:nvSpPr>
        <p:spPr>
          <a:xfrm>
            <a:off x="1833230" y="21360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177" name="Google Shape;1177;p84"/>
          <p:cNvSpPr txBox="1"/>
          <p:nvPr>
            <p:ph idx="4294967295" type="body"/>
          </p:nvPr>
        </p:nvSpPr>
        <p:spPr>
          <a:xfrm>
            <a:off x="400200" y="683100"/>
            <a:ext cx="8237700" cy="4503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table. The first has been done for you.</a:t>
            </a:r>
            <a:endParaRPr/>
          </a:p>
        </p:txBody>
      </p:sp>
      <p:graphicFrame>
        <p:nvGraphicFramePr>
          <p:cNvPr id="1178" name="Google Shape;1178;p84"/>
          <p:cNvGraphicFramePr/>
          <p:nvPr/>
        </p:nvGraphicFramePr>
        <p:xfrm>
          <a:off x="428500" y="1156200"/>
          <a:ext cx="3000000" cy="3000000"/>
        </p:xfrm>
        <a:graphic>
          <a:graphicData uri="http://schemas.openxmlformats.org/drawingml/2006/table">
            <a:tbl>
              <a:tblPr>
                <a:noFill/>
                <a:tableStyleId>{13948374-6AAA-404F-9DE8-2BB181859924}</a:tableStyleId>
              </a:tblPr>
              <a:tblGrid>
                <a:gridCol w="2622175"/>
                <a:gridCol w="2927350"/>
                <a:gridCol w="2447300"/>
              </a:tblGrid>
              <a:tr h="51942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Bar model</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Ratio notation</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In words</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6524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Books : Hearts</a:t>
                      </a:r>
                      <a:endParaRPr sz="18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 : 1</a:t>
                      </a:r>
                      <a:endParaRPr sz="1800">
                        <a:solidFill>
                          <a:schemeClr val="dk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Ratio of books to hearts is 3 to 1</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524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Squares</a:t>
                      </a:r>
                      <a:r>
                        <a:rPr lang="en-GB" sz="1800">
                          <a:latin typeface="Lexend"/>
                          <a:ea typeface="Lexend"/>
                          <a:cs typeface="Lexend"/>
                          <a:sym typeface="Lexend"/>
                        </a:rPr>
                        <a:t> : Circles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2</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Ratio of squares to circles is 1 to 2</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524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T-shirts : Shorts</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2 : 3</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Ratio of t-shirts to shorts is 2 to 3</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897175">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Carrots : Apples : Oranges</a:t>
                      </a:r>
                      <a:endParaRPr sz="17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1 : 2 : 2</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700">
                          <a:latin typeface="Lexend"/>
                          <a:ea typeface="Lexend"/>
                          <a:cs typeface="Lexend"/>
                          <a:sym typeface="Lexend"/>
                        </a:rPr>
                        <a:t>Ratio of carrots to apples to oranges is  1 to 2 to 2</a:t>
                      </a:r>
                      <a:endParaRPr sz="17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grpSp>
        <p:nvGrpSpPr>
          <p:cNvPr id="1179" name="Google Shape;1179;p84"/>
          <p:cNvGrpSpPr/>
          <p:nvPr/>
        </p:nvGrpSpPr>
        <p:grpSpPr>
          <a:xfrm>
            <a:off x="4110000" y="2430159"/>
            <a:ext cx="4261250" cy="667200"/>
            <a:chOff x="4033800" y="2415075"/>
            <a:chExt cx="4261250" cy="667200"/>
          </a:xfrm>
        </p:grpSpPr>
        <p:sp>
          <p:nvSpPr>
            <p:cNvPr id="1180" name="Google Shape;1180;p84"/>
            <p:cNvSpPr/>
            <p:nvPr/>
          </p:nvSpPr>
          <p:spPr>
            <a:xfrm>
              <a:off x="5942150" y="2415075"/>
              <a:ext cx="2352900" cy="6672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1" name="Google Shape;1181;p84"/>
            <p:cNvSpPr/>
            <p:nvPr/>
          </p:nvSpPr>
          <p:spPr>
            <a:xfrm>
              <a:off x="4033800" y="2740750"/>
              <a:ext cx="778200" cy="2880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182" name="Google Shape;1182;p84"/>
          <p:cNvGrpSpPr/>
          <p:nvPr/>
        </p:nvGrpSpPr>
        <p:grpSpPr>
          <a:xfrm>
            <a:off x="4033800" y="3166225"/>
            <a:ext cx="4337500" cy="667200"/>
            <a:chOff x="4033800" y="3177076"/>
            <a:chExt cx="4337500" cy="667200"/>
          </a:xfrm>
        </p:grpSpPr>
        <p:sp>
          <p:nvSpPr>
            <p:cNvPr id="1183" name="Google Shape;1183;p84"/>
            <p:cNvSpPr/>
            <p:nvPr/>
          </p:nvSpPr>
          <p:spPr>
            <a:xfrm>
              <a:off x="6025900" y="3177076"/>
              <a:ext cx="2345400" cy="6672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84"/>
            <p:cNvSpPr/>
            <p:nvPr/>
          </p:nvSpPr>
          <p:spPr>
            <a:xfrm>
              <a:off x="4033800" y="3502750"/>
              <a:ext cx="778200" cy="2880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185" name="Google Shape;1185;p84"/>
          <p:cNvGrpSpPr/>
          <p:nvPr/>
        </p:nvGrpSpPr>
        <p:grpSpPr>
          <a:xfrm>
            <a:off x="3957600" y="3959450"/>
            <a:ext cx="4413475" cy="723000"/>
            <a:chOff x="3957600" y="3959450"/>
            <a:chExt cx="4413475" cy="723000"/>
          </a:xfrm>
        </p:grpSpPr>
        <p:sp>
          <p:nvSpPr>
            <p:cNvPr id="1186" name="Google Shape;1186;p84"/>
            <p:cNvSpPr/>
            <p:nvPr/>
          </p:nvSpPr>
          <p:spPr>
            <a:xfrm>
              <a:off x="6040975" y="3959450"/>
              <a:ext cx="2330100" cy="7230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7" name="Google Shape;1187;p84"/>
            <p:cNvSpPr/>
            <p:nvPr/>
          </p:nvSpPr>
          <p:spPr>
            <a:xfrm>
              <a:off x="3957600" y="4264750"/>
              <a:ext cx="979200" cy="2880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aphicFrame>
        <p:nvGraphicFramePr>
          <p:cNvPr id="1188" name="Google Shape;1188;p84"/>
          <p:cNvGraphicFramePr/>
          <p:nvPr/>
        </p:nvGraphicFramePr>
        <p:xfrm>
          <a:off x="660332" y="2502130"/>
          <a:ext cx="3000000" cy="3000000"/>
        </p:xfrm>
        <a:graphic>
          <a:graphicData uri="http://schemas.openxmlformats.org/drawingml/2006/table">
            <a:tbl>
              <a:tblPr>
                <a:noFill/>
                <a:tableStyleId>{13948374-6AAA-404F-9DE8-2BB181859924}</a:tableStyleId>
              </a:tblPr>
              <a:tblGrid>
                <a:gridCol w="682975"/>
                <a:gridCol w="682975"/>
                <a:gridCol w="682975"/>
              </a:tblGrid>
              <a:tr h="548600">
                <a:tc>
                  <a:txBody>
                    <a:bodyPr/>
                    <a:lstStyle/>
                    <a:p>
                      <a:pPr indent="0" lvl="0" marL="0" rtl="0" algn="ctr">
                        <a:spcBef>
                          <a:spcPts val="0"/>
                        </a:spcBef>
                        <a:spcAft>
                          <a:spcPts val="0"/>
                        </a:spcAft>
                        <a:buClr>
                          <a:schemeClr val="dk1"/>
                        </a:buClr>
                        <a:buSzPts val="1100"/>
                        <a:buFont typeface="Arial"/>
                        <a:buNone/>
                      </a:pPr>
                      <a:r>
                        <a:rPr lang="en-GB" sz="2800">
                          <a:solidFill>
                            <a:schemeClr val="dk1"/>
                          </a:solidFill>
                          <a:latin typeface="Lexend"/>
                          <a:ea typeface="Lexend"/>
                          <a:cs typeface="Lexend"/>
                          <a:sym typeface="Lexend"/>
                        </a:rPr>
                        <a:t>⬛</a:t>
                      </a:r>
                      <a:endParaRPr sz="3400">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3400">
                          <a:solidFill>
                            <a:schemeClr val="dk1"/>
                          </a:solidFill>
                          <a:latin typeface="Lexend"/>
                          <a:ea typeface="Lexend"/>
                          <a:cs typeface="Lexend"/>
                          <a:sym typeface="Lexend"/>
                        </a:rPr>
                        <a:t>⚫</a:t>
                      </a:r>
                      <a:endParaRPr sz="34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400">
                          <a:solidFill>
                            <a:schemeClr val="dk1"/>
                          </a:solidFill>
                          <a:latin typeface="Lexend"/>
                          <a:ea typeface="Lexend"/>
                          <a:cs typeface="Lexend"/>
                          <a:sym typeface="Lexend"/>
                        </a:rPr>
                        <a:t>⚫</a:t>
                      </a:r>
                      <a:endParaRPr sz="34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1189" name="Google Shape;1189;p84"/>
          <p:cNvGraphicFramePr/>
          <p:nvPr/>
        </p:nvGraphicFramePr>
        <p:xfrm>
          <a:off x="438318" y="1788888"/>
          <a:ext cx="3000000" cy="3000000"/>
        </p:xfrm>
        <a:graphic>
          <a:graphicData uri="http://schemas.openxmlformats.org/drawingml/2006/table">
            <a:tbl>
              <a:tblPr>
                <a:noFill/>
                <a:tableStyleId>{13948374-6AAA-404F-9DE8-2BB181859924}</a:tableStyleId>
              </a:tblPr>
              <a:tblGrid>
                <a:gridCol w="648400"/>
                <a:gridCol w="648400"/>
                <a:gridCol w="648400"/>
                <a:gridCol w="648400"/>
              </a:tblGrid>
              <a:tr h="500075">
                <a:tc>
                  <a:txBody>
                    <a:bodyPr/>
                    <a:lstStyle/>
                    <a:p>
                      <a:pPr indent="0" lvl="0" marL="0" rtl="0" algn="ctr">
                        <a:spcBef>
                          <a:spcPts val="0"/>
                        </a:spcBef>
                        <a:spcAft>
                          <a:spcPts val="0"/>
                        </a:spcAft>
                        <a:buNone/>
                      </a:pPr>
                      <a:r>
                        <a:rPr lang="en-GB" sz="3100">
                          <a:latin typeface="Lexend"/>
                          <a:ea typeface="Lexend"/>
                          <a:cs typeface="Lexend"/>
                          <a:sym typeface="Lexend"/>
                        </a:rPr>
                        <a:t>B</a:t>
                      </a:r>
                      <a:endParaRPr sz="3100">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100">
                          <a:solidFill>
                            <a:schemeClr val="dk1"/>
                          </a:solidFill>
                          <a:latin typeface="Lexend"/>
                          <a:ea typeface="Lexend"/>
                          <a:cs typeface="Lexend"/>
                          <a:sym typeface="Lexend"/>
                        </a:rPr>
                        <a:t>B</a:t>
                      </a:r>
                      <a:endParaRPr sz="31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100">
                          <a:solidFill>
                            <a:schemeClr val="dk1"/>
                          </a:solidFill>
                          <a:latin typeface="Lexend"/>
                          <a:ea typeface="Lexend"/>
                          <a:cs typeface="Lexend"/>
                          <a:sym typeface="Lexend"/>
                        </a:rPr>
                        <a:t>B</a:t>
                      </a:r>
                      <a:endParaRPr sz="31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2900">
                          <a:solidFill>
                            <a:schemeClr val="dk1"/>
                          </a:solidFill>
                          <a:latin typeface="Lexend"/>
                          <a:ea typeface="Lexend"/>
                          <a:cs typeface="Lexend"/>
                          <a:sym typeface="Lexend"/>
                        </a:rPr>
                        <a:t>H</a:t>
                      </a:r>
                      <a:endParaRPr sz="3100">
                        <a:solidFill>
                          <a:srgbClr val="000000"/>
                        </a:solidFill>
                        <a:latin typeface="Lexend"/>
                        <a:ea typeface="Lexend"/>
                        <a:cs typeface="Lexend"/>
                        <a:sym typeface="Lexend"/>
                      </a:endParaRPr>
                    </a:p>
                  </a:txBody>
                  <a:tcPr marT="0" marB="0" marR="0" marL="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1190" name="Google Shape;1190;p84"/>
          <p:cNvGraphicFramePr/>
          <p:nvPr/>
        </p:nvGraphicFramePr>
        <p:xfrm>
          <a:off x="438313" y="3258443"/>
          <a:ext cx="3000000" cy="3000000"/>
        </p:xfrm>
        <a:graphic>
          <a:graphicData uri="http://schemas.openxmlformats.org/drawingml/2006/table">
            <a:tbl>
              <a:tblPr>
                <a:noFill/>
                <a:tableStyleId>{13948374-6AAA-404F-9DE8-2BB181859924}</a:tableStyleId>
              </a:tblPr>
              <a:tblGrid>
                <a:gridCol w="518725"/>
                <a:gridCol w="518725"/>
                <a:gridCol w="518725"/>
                <a:gridCol w="518725"/>
                <a:gridCol w="518725"/>
              </a:tblGrid>
              <a:tr h="500075">
                <a:tc>
                  <a:txBody>
                    <a:bodyPr/>
                    <a:lstStyle/>
                    <a:p>
                      <a:pPr indent="0" lvl="0" marL="0" rtl="0" algn="ctr">
                        <a:spcBef>
                          <a:spcPts val="0"/>
                        </a:spcBef>
                        <a:spcAft>
                          <a:spcPts val="0"/>
                        </a:spcAft>
                        <a:buNone/>
                      </a:pPr>
                      <a:r>
                        <a:rPr lang="en-GB" sz="3200">
                          <a:latin typeface="Lexend"/>
                          <a:ea typeface="Lexend"/>
                          <a:cs typeface="Lexend"/>
                          <a:sym typeface="Lexend"/>
                        </a:rPr>
                        <a:t>T</a:t>
                      </a:r>
                      <a:endParaRPr sz="32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T</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S</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S</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200">
                          <a:solidFill>
                            <a:schemeClr val="dk1"/>
                          </a:solidFill>
                          <a:latin typeface="Lexend"/>
                          <a:ea typeface="Lexend"/>
                          <a:cs typeface="Lexend"/>
                          <a:sym typeface="Lexend"/>
                        </a:rPr>
                        <a:t>S</a:t>
                      </a:r>
                      <a:endParaRPr sz="32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graphicFrame>
        <p:nvGraphicFramePr>
          <p:cNvPr id="1191" name="Google Shape;1191;p84"/>
          <p:cNvGraphicFramePr/>
          <p:nvPr/>
        </p:nvGraphicFramePr>
        <p:xfrm>
          <a:off x="438314" y="4076101"/>
          <a:ext cx="3000000" cy="3000000"/>
        </p:xfrm>
        <a:graphic>
          <a:graphicData uri="http://schemas.openxmlformats.org/drawingml/2006/table">
            <a:tbl>
              <a:tblPr>
                <a:noFill/>
                <a:tableStyleId>{13948374-6AAA-404F-9DE8-2BB181859924}</a:tableStyleId>
              </a:tblPr>
              <a:tblGrid>
                <a:gridCol w="518725"/>
                <a:gridCol w="518725"/>
                <a:gridCol w="518725"/>
                <a:gridCol w="518725"/>
                <a:gridCol w="518725"/>
              </a:tblGrid>
              <a:tr h="500075">
                <a:tc>
                  <a:txBody>
                    <a:bodyPr/>
                    <a:lstStyle/>
                    <a:p>
                      <a:pPr indent="0" lvl="0" marL="0" rtl="0" algn="ctr">
                        <a:spcBef>
                          <a:spcPts val="0"/>
                        </a:spcBef>
                        <a:spcAft>
                          <a:spcPts val="0"/>
                        </a:spcAft>
                        <a:buNone/>
                      </a:pPr>
                      <a:r>
                        <a:rPr lang="en-GB" sz="3000">
                          <a:latin typeface="Lexend"/>
                          <a:ea typeface="Lexend"/>
                          <a:cs typeface="Lexend"/>
                          <a:sym typeface="Lexend"/>
                        </a:rPr>
                        <a:t>C</a:t>
                      </a:r>
                      <a:endParaRPr sz="3000">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000">
                          <a:solidFill>
                            <a:schemeClr val="dk1"/>
                          </a:solidFill>
                          <a:latin typeface="Lexend"/>
                          <a:ea typeface="Lexend"/>
                          <a:cs typeface="Lexend"/>
                          <a:sym typeface="Lexend"/>
                        </a:rPr>
                        <a:t>A</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A</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000">
                          <a:solidFill>
                            <a:schemeClr val="dk1"/>
                          </a:solidFill>
                          <a:latin typeface="Lexend"/>
                          <a:ea typeface="Lexend"/>
                          <a:cs typeface="Lexend"/>
                          <a:sym typeface="Lexend"/>
                        </a:rPr>
                        <a:t>O</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3000">
                          <a:solidFill>
                            <a:schemeClr val="dk1"/>
                          </a:solidFill>
                          <a:latin typeface="Lexend"/>
                          <a:ea typeface="Lexend"/>
                          <a:cs typeface="Lexend"/>
                          <a:sym typeface="Lexend"/>
                        </a:rPr>
                        <a:t>O</a:t>
                      </a:r>
                      <a:endParaRPr sz="3000">
                        <a:solidFill>
                          <a:srgbClr val="000000"/>
                        </a:solidFill>
                        <a:latin typeface="Lexend"/>
                        <a:ea typeface="Lexend"/>
                        <a:cs typeface="Lexend"/>
                        <a:sym typeface="Lexend"/>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197" name="Google Shape;1197;p85"/>
          <p:cNvSpPr txBox="1"/>
          <p:nvPr>
            <p:ph idx="4294967295" type="body"/>
          </p:nvPr>
        </p:nvSpPr>
        <p:spPr>
          <a:xfrm>
            <a:off x="400200" y="759300"/>
            <a:ext cx="8237700" cy="45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All these represent the same ratio. Fill in the blanks.</a:t>
            </a:r>
            <a:endParaRPr/>
          </a:p>
        </p:txBody>
      </p:sp>
      <p:grpSp>
        <p:nvGrpSpPr>
          <p:cNvPr id="1198" name="Google Shape;1198;p85"/>
          <p:cNvGrpSpPr/>
          <p:nvPr/>
        </p:nvGrpSpPr>
        <p:grpSpPr>
          <a:xfrm>
            <a:off x="468222" y="3012425"/>
            <a:ext cx="3641617" cy="1687544"/>
            <a:chOff x="1068647" y="1398000"/>
            <a:chExt cx="3641617" cy="1687544"/>
          </a:xfrm>
        </p:grpSpPr>
        <p:grpSp>
          <p:nvGrpSpPr>
            <p:cNvPr id="1199" name="Google Shape;1199;p85"/>
            <p:cNvGrpSpPr/>
            <p:nvPr/>
          </p:nvGrpSpPr>
          <p:grpSpPr>
            <a:xfrm>
              <a:off x="1171164" y="1398000"/>
              <a:ext cx="3539100" cy="1687544"/>
              <a:chOff x="232050" y="2160000"/>
              <a:chExt cx="3539100" cy="1687544"/>
            </a:xfrm>
          </p:grpSpPr>
          <p:grpSp>
            <p:nvGrpSpPr>
              <p:cNvPr id="1200" name="Google Shape;1200;p85"/>
              <p:cNvGrpSpPr/>
              <p:nvPr/>
            </p:nvGrpSpPr>
            <p:grpSpPr>
              <a:xfrm>
                <a:off x="1433102" y="2533775"/>
                <a:ext cx="31897" cy="1000200"/>
                <a:chOff x="941713" y="3767150"/>
                <a:chExt cx="63300" cy="1000200"/>
              </a:xfrm>
            </p:grpSpPr>
            <p:cxnSp>
              <p:nvCxnSpPr>
                <p:cNvPr id="1201" name="Google Shape;1201;p85"/>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202" name="Google Shape;1202;p8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3" name="Google Shape;1203;p85"/>
              <p:cNvSpPr txBox="1"/>
              <p:nvPr/>
            </p:nvSpPr>
            <p:spPr>
              <a:xfrm>
                <a:off x="2369250" y="2574225"/>
                <a:ext cx="14019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1204" name="Google Shape;1204;p85"/>
              <p:cNvSpPr txBox="1"/>
              <p:nvPr/>
            </p:nvSpPr>
            <p:spPr>
              <a:xfrm>
                <a:off x="2383975" y="3181550"/>
                <a:ext cx="13485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1205" name="Google Shape;1205;p85"/>
              <p:cNvSpPr txBox="1"/>
              <p:nvPr/>
            </p:nvSpPr>
            <p:spPr>
              <a:xfrm>
                <a:off x="798874" y="2160000"/>
                <a:ext cx="199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a:t>
                </a:r>
                <a:endParaRPr sz="2200">
                  <a:solidFill>
                    <a:srgbClr val="000000"/>
                  </a:solidFill>
                  <a:latin typeface="Lexend"/>
                  <a:ea typeface="Lexend"/>
                  <a:cs typeface="Lexend"/>
                  <a:sym typeface="Lexend"/>
                </a:endParaRPr>
              </a:p>
            </p:txBody>
          </p:sp>
          <p:sp>
            <p:nvSpPr>
              <p:cNvPr id="1206" name="Google Shape;1206;p85"/>
              <p:cNvSpPr txBox="1"/>
              <p:nvPr/>
            </p:nvSpPr>
            <p:spPr>
              <a:xfrm>
                <a:off x="1404662" y="3508844"/>
                <a:ext cx="492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1207" name="Google Shape;1207;p85"/>
              <p:cNvSpPr txBox="1"/>
              <p:nvPr/>
            </p:nvSpPr>
            <p:spPr>
              <a:xfrm>
                <a:off x="772411" y="3508844"/>
                <a:ext cx="492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a:t>
                </a:r>
                <a:endParaRPr sz="2200">
                  <a:solidFill>
                    <a:srgbClr val="000000"/>
                  </a:solidFill>
                  <a:latin typeface="Lexend"/>
                  <a:ea typeface="Lexend"/>
                  <a:cs typeface="Lexend"/>
                  <a:sym typeface="Lexend"/>
                </a:endParaRPr>
              </a:p>
            </p:txBody>
          </p:sp>
          <p:sp>
            <p:nvSpPr>
              <p:cNvPr id="1208" name="Google Shape;1208;p85"/>
              <p:cNvSpPr txBox="1"/>
              <p:nvPr/>
            </p:nvSpPr>
            <p:spPr>
              <a:xfrm>
                <a:off x="1372170" y="2160000"/>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4</a:t>
                </a:r>
                <a:endParaRPr sz="2200">
                  <a:solidFill>
                    <a:srgbClr val="000000"/>
                  </a:solidFill>
                  <a:latin typeface="Lexend"/>
                  <a:ea typeface="Lexend"/>
                  <a:cs typeface="Lexend"/>
                  <a:sym typeface="Lexend"/>
                </a:endParaRPr>
              </a:p>
            </p:txBody>
          </p:sp>
          <p:sp>
            <p:nvSpPr>
              <p:cNvPr id="1209" name="Google Shape;1209;p85"/>
              <p:cNvSpPr txBox="1"/>
              <p:nvPr/>
            </p:nvSpPr>
            <p:spPr>
              <a:xfrm>
                <a:off x="1948172" y="2160000"/>
                <a:ext cx="253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solidFill>
                    <a:srgbClr val="000000"/>
                  </a:solidFill>
                  <a:latin typeface="Lexend"/>
                  <a:ea typeface="Lexend"/>
                  <a:cs typeface="Lexend"/>
                  <a:sym typeface="Lexend"/>
                </a:endParaRPr>
              </a:p>
            </p:txBody>
          </p:sp>
          <p:sp>
            <p:nvSpPr>
              <p:cNvPr id="1210" name="Google Shape;1210;p85"/>
              <p:cNvSpPr txBox="1"/>
              <p:nvPr/>
            </p:nvSpPr>
            <p:spPr>
              <a:xfrm>
                <a:off x="1951646" y="3508844"/>
                <a:ext cx="492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a:t>
                </a:r>
                <a:endParaRPr sz="2200">
                  <a:solidFill>
                    <a:srgbClr val="000000"/>
                  </a:solidFill>
                  <a:latin typeface="Lexend"/>
                  <a:ea typeface="Lexend"/>
                  <a:cs typeface="Lexend"/>
                  <a:sym typeface="Lexend"/>
                </a:endParaRPr>
              </a:p>
            </p:txBody>
          </p:sp>
          <p:cxnSp>
            <p:nvCxnSpPr>
              <p:cNvPr id="1211" name="Google Shape;1211;p85"/>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1212" name="Google Shape;1212;p85"/>
              <p:cNvGrpSpPr/>
              <p:nvPr/>
            </p:nvGrpSpPr>
            <p:grpSpPr>
              <a:xfrm>
                <a:off x="856988" y="2533775"/>
                <a:ext cx="31897" cy="1000200"/>
                <a:chOff x="941713" y="3767150"/>
                <a:chExt cx="63300" cy="1000200"/>
              </a:xfrm>
            </p:grpSpPr>
            <p:cxnSp>
              <p:nvCxnSpPr>
                <p:cNvPr id="1213" name="Google Shape;1213;p85"/>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214" name="Google Shape;1214;p8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85"/>
              <p:cNvGrpSpPr/>
              <p:nvPr/>
            </p:nvGrpSpPr>
            <p:grpSpPr>
              <a:xfrm>
                <a:off x="2008903" y="2533775"/>
                <a:ext cx="31897" cy="1000200"/>
                <a:chOff x="941713" y="3767150"/>
                <a:chExt cx="63300" cy="1000200"/>
              </a:xfrm>
            </p:grpSpPr>
            <p:cxnSp>
              <p:nvCxnSpPr>
                <p:cNvPr id="1216" name="Google Shape;1216;p85"/>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217" name="Google Shape;1217;p8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85"/>
              <p:cNvGrpSpPr/>
              <p:nvPr/>
            </p:nvGrpSpPr>
            <p:grpSpPr>
              <a:xfrm>
                <a:off x="1432946" y="2533775"/>
                <a:ext cx="31897" cy="1000200"/>
                <a:chOff x="941713" y="3767150"/>
                <a:chExt cx="63300" cy="1000200"/>
              </a:xfrm>
            </p:grpSpPr>
            <p:cxnSp>
              <p:nvCxnSpPr>
                <p:cNvPr id="1219" name="Google Shape;1219;p85"/>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1220" name="Google Shape;1220;p8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21" name="Google Shape;1221;p85"/>
              <p:cNvCxnSpPr>
                <a:endCxn id="1203" idx="1"/>
              </p:cNvCxnSpPr>
              <p:nvPr/>
            </p:nvCxnSpPr>
            <p:spPr>
              <a:xfrm>
                <a:off x="268350" y="2717475"/>
                <a:ext cx="2100900" cy="3000"/>
              </a:xfrm>
              <a:prstGeom prst="straightConnector1">
                <a:avLst/>
              </a:prstGeom>
              <a:noFill/>
              <a:ln cap="flat" cmpd="sng" w="38100">
                <a:solidFill>
                  <a:srgbClr val="000000"/>
                </a:solidFill>
                <a:prstDash val="solid"/>
                <a:round/>
                <a:headEnd len="med" w="med" type="none"/>
                <a:tailEnd len="med" w="med" type="triangle"/>
              </a:ln>
            </p:spPr>
          </p:cxnSp>
          <p:cxnSp>
            <p:nvCxnSpPr>
              <p:cNvPr id="1222" name="Google Shape;1222;p85"/>
              <p:cNvCxnSpPr/>
              <p:nvPr/>
            </p:nvCxnSpPr>
            <p:spPr>
              <a:xfrm>
                <a:off x="232050" y="3313300"/>
                <a:ext cx="2166000" cy="13800"/>
              </a:xfrm>
              <a:prstGeom prst="straightConnector1">
                <a:avLst/>
              </a:prstGeom>
              <a:noFill/>
              <a:ln cap="flat" cmpd="sng" w="38100">
                <a:solidFill>
                  <a:srgbClr val="000000"/>
                </a:solidFill>
                <a:prstDash val="solid"/>
                <a:round/>
                <a:headEnd len="med" w="med" type="none"/>
                <a:tailEnd len="med" w="med" type="triangle"/>
              </a:ln>
            </p:spPr>
          </p:cxnSp>
        </p:grpSp>
        <p:sp>
          <p:nvSpPr>
            <p:cNvPr id="1223" name="Google Shape;1223;p85"/>
            <p:cNvSpPr/>
            <p:nvPr/>
          </p:nvSpPr>
          <p:spPr>
            <a:xfrm>
              <a:off x="1068647" y="1767125"/>
              <a:ext cx="244500" cy="10041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4" name="Google Shape;1224;p85"/>
            <p:cNvSpPr/>
            <p:nvPr/>
          </p:nvSpPr>
          <p:spPr>
            <a:xfrm>
              <a:off x="1757875" y="2004275"/>
              <a:ext cx="1301700" cy="5298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aphicFrame>
        <p:nvGraphicFramePr>
          <p:cNvPr id="1225" name="Google Shape;1225;p85"/>
          <p:cNvGraphicFramePr/>
          <p:nvPr/>
        </p:nvGraphicFramePr>
        <p:xfrm>
          <a:off x="1826934" y="1946100"/>
          <a:ext cx="3000000" cy="3000000"/>
        </p:xfrm>
        <a:graphic>
          <a:graphicData uri="http://schemas.openxmlformats.org/drawingml/2006/table">
            <a:tbl>
              <a:tblPr>
                <a:noFill/>
                <a:tableStyleId>{13948374-6AAA-404F-9DE8-2BB181859924}</a:tableStyleId>
              </a:tblPr>
              <a:tblGrid>
                <a:gridCol w="1060275"/>
                <a:gridCol w="1060275"/>
              </a:tblGrid>
              <a:tr h="38902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389025">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pic>
        <p:nvPicPr>
          <p:cNvPr id="1226" name="Google Shape;1226;p85"/>
          <p:cNvPicPr preferRelativeResize="0"/>
          <p:nvPr/>
        </p:nvPicPr>
        <p:blipFill>
          <a:blip r:embed="rId3">
            <a:alphaModFix/>
          </a:blip>
          <a:stretch>
            <a:fillRect/>
          </a:stretch>
        </p:blipFill>
        <p:spPr>
          <a:xfrm>
            <a:off x="5284975" y="1180800"/>
            <a:ext cx="3140341" cy="3639600"/>
          </a:xfrm>
          <a:prstGeom prst="rect">
            <a:avLst/>
          </a:prstGeom>
          <a:noFill/>
          <a:ln>
            <a:noFill/>
          </a:ln>
        </p:spPr>
      </p:pic>
      <p:graphicFrame>
        <p:nvGraphicFramePr>
          <p:cNvPr id="1227" name="Google Shape;1227;p85"/>
          <p:cNvGraphicFramePr/>
          <p:nvPr/>
        </p:nvGraphicFramePr>
        <p:xfrm>
          <a:off x="885710" y="1221823"/>
          <a:ext cx="3000000" cy="3000000"/>
        </p:xfrm>
        <a:graphic>
          <a:graphicData uri="http://schemas.openxmlformats.org/drawingml/2006/table">
            <a:tbl>
              <a:tblPr>
                <a:noFill/>
                <a:tableStyleId>{13948374-6AAA-404F-9DE8-2BB181859924}</a:tableStyleId>
              </a:tblPr>
              <a:tblGrid>
                <a:gridCol w="728325"/>
                <a:gridCol w="728325"/>
                <a:gridCol w="728325"/>
                <a:gridCol w="728325"/>
                <a:gridCol w="728325"/>
              </a:tblGrid>
              <a:tr h="500075">
                <a:tc>
                  <a:txBody>
                    <a:bodyPr/>
                    <a:lstStyle/>
                    <a:p>
                      <a:pPr indent="0" lvl="0" marL="0" rtl="0" algn="ctr">
                        <a:spcBef>
                          <a:spcPts val="0"/>
                        </a:spcBef>
                        <a:spcAft>
                          <a:spcPts val="0"/>
                        </a:spcAft>
                        <a:buNone/>
                      </a:pPr>
                      <a:r>
                        <a:rPr lang="en-GB" sz="2100">
                          <a:latin typeface="Lexend"/>
                          <a:ea typeface="Lexend"/>
                          <a:cs typeface="Lexend"/>
                          <a:sym typeface="Lexend"/>
                        </a:rPr>
                        <a:t>£</a:t>
                      </a:r>
                      <a:endParaRPr sz="26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a:t>
                      </a:r>
                      <a:endParaRPr sz="2100">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bl>
          </a:graphicData>
        </a:graphic>
      </p:graphicFrame>
      <p:sp>
        <p:nvSpPr>
          <p:cNvPr id="1228" name="Google Shape;1228;p85"/>
          <p:cNvSpPr txBox="1"/>
          <p:nvPr/>
        </p:nvSpPr>
        <p:spPr>
          <a:xfrm>
            <a:off x="3853050" y="3310350"/>
            <a:ext cx="933900" cy="10917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GB" sz="2200">
                <a:solidFill>
                  <a:schemeClr val="dk1"/>
                </a:solidFill>
                <a:latin typeface="Lexend"/>
                <a:ea typeface="Lexend"/>
                <a:cs typeface="Lexend"/>
                <a:sym typeface="Lexend"/>
              </a:rPr>
              <a:t>£ : $</a:t>
            </a:r>
            <a:endParaRPr sz="2200">
              <a:solidFill>
                <a:schemeClr val="dk1"/>
              </a:solidFill>
              <a:latin typeface="Lexend"/>
              <a:ea typeface="Lexend"/>
              <a:cs typeface="Lexend"/>
              <a:sym typeface="Lexend"/>
            </a:endParaRPr>
          </a:p>
          <a:p>
            <a:pPr indent="0" lvl="0" marL="0" rtl="0" algn="l">
              <a:lnSpc>
                <a:spcPct val="130000"/>
              </a:lnSpc>
              <a:spcBef>
                <a:spcPts val="1000"/>
              </a:spcBef>
              <a:spcAft>
                <a:spcPts val="1000"/>
              </a:spcAft>
              <a:buNone/>
            </a:pPr>
            <a:r>
              <a:rPr lang="en-GB" sz="2200">
                <a:solidFill>
                  <a:schemeClr val="dk1"/>
                </a:solidFill>
                <a:latin typeface="Lexend"/>
                <a:ea typeface="Lexend"/>
                <a:cs typeface="Lexend"/>
                <a:sym typeface="Lexend"/>
              </a:rPr>
              <a:t>2 : 3</a:t>
            </a:r>
            <a:endParaRPr sz="2200">
              <a:solidFill>
                <a:schemeClr val="dk1"/>
              </a:solidFill>
              <a:latin typeface="Lexend"/>
              <a:ea typeface="Lexend"/>
              <a:cs typeface="Lexend"/>
              <a:sym typeface="Lexend"/>
            </a:endParaRPr>
          </a:p>
        </p:txBody>
      </p:sp>
      <p:sp>
        <p:nvSpPr>
          <p:cNvPr id="1229" name="Google Shape;1229;p85"/>
          <p:cNvSpPr/>
          <p:nvPr/>
        </p:nvSpPr>
        <p:spPr>
          <a:xfrm>
            <a:off x="3568546" y="3262346"/>
            <a:ext cx="1295700" cy="1179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30" name="Google Shape;1230;p85"/>
          <p:cNvGrpSpPr/>
          <p:nvPr/>
        </p:nvGrpSpPr>
        <p:grpSpPr>
          <a:xfrm>
            <a:off x="1014175" y="1297167"/>
            <a:ext cx="3300300" cy="352200"/>
            <a:chOff x="1014175" y="1297167"/>
            <a:chExt cx="3300300" cy="352200"/>
          </a:xfrm>
        </p:grpSpPr>
        <p:sp>
          <p:nvSpPr>
            <p:cNvPr id="1231" name="Google Shape;1231;p85"/>
            <p:cNvSpPr/>
            <p:nvPr/>
          </p:nvSpPr>
          <p:spPr>
            <a:xfrm>
              <a:off x="10141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2" name="Google Shape;1232;p85"/>
            <p:cNvSpPr/>
            <p:nvPr/>
          </p:nvSpPr>
          <p:spPr>
            <a:xfrm>
              <a:off x="17761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3" name="Google Shape;1233;p85"/>
            <p:cNvSpPr/>
            <p:nvPr/>
          </p:nvSpPr>
          <p:spPr>
            <a:xfrm>
              <a:off x="24619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4" name="Google Shape;1234;p85"/>
            <p:cNvSpPr/>
            <p:nvPr/>
          </p:nvSpPr>
          <p:spPr>
            <a:xfrm>
              <a:off x="32239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5" name="Google Shape;1235;p85"/>
            <p:cNvSpPr/>
            <p:nvPr/>
          </p:nvSpPr>
          <p:spPr>
            <a:xfrm>
              <a:off x="3909775" y="1297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36" name="Google Shape;1236;p85"/>
          <p:cNvSpPr/>
          <p:nvPr/>
        </p:nvSpPr>
        <p:spPr>
          <a:xfrm>
            <a:off x="3210560" y="2440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37" name="Google Shape;1237;p85"/>
          <p:cNvGrpSpPr/>
          <p:nvPr/>
        </p:nvGrpSpPr>
        <p:grpSpPr>
          <a:xfrm>
            <a:off x="1014185" y="3964167"/>
            <a:ext cx="3717244" cy="793975"/>
            <a:chOff x="1014185" y="3964167"/>
            <a:chExt cx="3717244" cy="793975"/>
          </a:xfrm>
        </p:grpSpPr>
        <p:sp>
          <p:nvSpPr>
            <p:cNvPr id="1238" name="Google Shape;1238;p85"/>
            <p:cNvSpPr/>
            <p:nvPr/>
          </p:nvSpPr>
          <p:spPr>
            <a:xfrm>
              <a:off x="3667760" y="3964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9" name="Google Shape;1239;p85"/>
            <p:cNvSpPr/>
            <p:nvPr/>
          </p:nvSpPr>
          <p:spPr>
            <a:xfrm>
              <a:off x="4326729" y="3964167"/>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0" name="Google Shape;1240;p85"/>
            <p:cNvSpPr/>
            <p:nvPr/>
          </p:nvSpPr>
          <p:spPr>
            <a:xfrm>
              <a:off x="1014185" y="44059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41" name="Google Shape;1241;p85"/>
          <p:cNvGrpSpPr/>
          <p:nvPr/>
        </p:nvGrpSpPr>
        <p:grpSpPr>
          <a:xfrm>
            <a:off x="1574415" y="2958142"/>
            <a:ext cx="1014300" cy="1800000"/>
            <a:chOff x="1574415" y="2958142"/>
            <a:chExt cx="1014300" cy="1800000"/>
          </a:xfrm>
        </p:grpSpPr>
        <p:sp>
          <p:nvSpPr>
            <p:cNvPr id="1242" name="Google Shape;1242;p85"/>
            <p:cNvSpPr/>
            <p:nvPr/>
          </p:nvSpPr>
          <p:spPr>
            <a:xfrm>
              <a:off x="1574415" y="29581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3" name="Google Shape;1243;p85"/>
            <p:cNvSpPr/>
            <p:nvPr/>
          </p:nvSpPr>
          <p:spPr>
            <a:xfrm>
              <a:off x="2184015" y="29581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4" name="Google Shape;1244;p85"/>
            <p:cNvSpPr/>
            <p:nvPr/>
          </p:nvSpPr>
          <p:spPr>
            <a:xfrm>
              <a:off x="1574415" y="44059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5" name="Google Shape;1245;p85"/>
            <p:cNvSpPr/>
            <p:nvPr/>
          </p:nvSpPr>
          <p:spPr>
            <a:xfrm>
              <a:off x="2184015" y="44059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46" name="Google Shape;1246;p85"/>
          <p:cNvSpPr txBox="1"/>
          <p:nvPr/>
        </p:nvSpPr>
        <p:spPr>
          <a:xfrm>
            <a:off x="8173000" y="4472900"/>
            <a:ext cx="397800" cy="4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247" name="Google Shape;1247;p85"/>
          <p:cNvSpPr txBox="1"/>
          <p:nvPr/>
        </p:nvSpPr>
        <p:spPr>
          <a:xfrm>
            <a:off x="4887175" y="1080000"/>
            <a:ext cx="397800" cy="4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cxnSp>
        <p:nvCxnSpPr>
          <p:cNvPr id="1252" name="Google Shape;1252;p86"/>
          <p:cNvCxnSpPr>
            <a:endCxn id="1253" idx="0"/>
          </p:cNvCxnSpPr>
          <p:nvPr/>
        </p:nvCxnSpPr>
        <p:spPr>
          <a:xfrm>
            <a:off x="1434250" y="2255700"/>
            <a:ext cx="1228200" cy="750000"/>
          </a:xfrm>
          <a:prstGeom prst="straightConnector1">
            <a:avLst/>
          </a:prstGeom>
          <a:noFill/>
          <a:ln cap="flat" cmpd="sng" w="28575">
            <a:solidFill>
              <a:schemeClr val="dk1"/>
            </a:solidFill>
            <a:prstDash val="solid"/>
            <a:round/>
            <a:headEnd len="med" w="med" type="none"/>
            <a:tailEnd len="med" w="med" type="none"/>
          </a:ln>
        </p:spPr>
      </p:cxnSp>
      <p:sp>
        <p:nvSpPr>
          <p:cNvPr id="1254" name="Google Shape;1254;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graphicFrame>
        <p:nvGraphicFramePr>
          <p:cNvPr id="1255" name="Google Shape;1255;p86"/>
          <p:cNvGraphicFramePr/>
          <p:nvPr/>
        </p:nvGraphicFramePr>
        <p:xfrm>
          <a:off x="3162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
        <p:nvSpPr>
          <p:cNvPr id="1256" name="Google Shape;1256;p86"/>
          <p:cNvSpPr txBox="1"/>
          <p:nvPr>
            <p:ph idx="4294967295" type="body"/>
          </p:nvPr>
        </p:nvSpPr>
        <p:spPr>
          <a:xfrm>
            <a:off x="324000" y="819075"/>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Match the ratio table with the ratio notation.</a:t>
            </a:r>
            <a:endParaRPr sz="2000"/>
          </a:p>
        </p:txBody>
      </p:sp>
      <p:graphicFrame>
        <p:nvGraphicFramePr>
          <p:cNvPr id="1257" name="Google Shape;1257;p86"/>
          <p:cNvGraphicFramePr/>
          <p:nvPr/>
        </p:nvGraphicFramePr>
        <p:xfrm>
          <a:off x="20688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258" name="Google Shape;1258;p86"/>
          <p:cNvGraphicFramePr/>
          <p:nvPr/>
        </p:nvGraphicFramePr>
        <p:xfrm>
          <a:off x="55740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259" name="Google Shape;1259;p86"/>
          <p:cNvGraphicFramePr/>
          <p:nvPr/>
        </p:nvGraphicFramePr>
        <p:xfrm>
          <a:off x="74028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
        <p:nvSpPr>
          <p:cNvPr id="1260" name="Google Shape;1260;p86"/>
          <p:cNvSpPr txBox="1"/>
          <p:nvPr/>
        </p:nvSpPr>
        <p:spPr>
          <a:xfrm>
            <a:off x="286600" y="30057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3 : 1</a:t>
            </a:r>
            <a:endParaRPr sz="2000">
              <a:solidFill>
                <a:schemeClr val="dk1"/>
              </a:solidFill>
              <a:latin typeface="Lexend"/>
              <a:ea typeface="Lexend"/>
              <a:cs typeface="Lexend"/>
              <a:sym typeface="Lexend"/>
            </a:endParaRPr>
          </a:p>
        </p:txBody>
      </p:sp>
      <p:sp>
        <p:nvSpPr>
          <p:cNvPr id="1261" name="Google Shape;1261;p86"/>
          <p:cNvSpPr txBox="1"/>
          <p:nvPr/>
        </p:nvSpPr>
        <p:spPr>
          <a:xfrm>
            <a:off x="5591475" y="30246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2 : 3</a:t>
            </a:r>
            <a:endParaRPr sz="2000">
              <a:solidFill>
                <a:schemeClr val="dk1"/>
              </a:solidFill>
              <a:latin typeface="Lexend"/>
              <a:ea typeface="Lexend"/>
              <a:cs typeface="Lexend"/>
              <a:sym typeface="Lexend"/>
            </a:endParaRPr>
          </a:p>
        </p:txBody>
      </p:sp>
      <p:sp>
        <p:nvSpPr>
          <p:cNvPr id="1262" name="Google Shape;1262;p86"/>
          <p:cNvSpPr txBox="1"/>
          <p:nvPr/>
        </p:nvSpPr>
        <p:spPr>
          <a:xfrm>
            <a:off x="3791800" y="30057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15 : 25</a:t>
            </a:r>
            <a:endParaRPr sz="2000">
              <a:solidFill>
                <a:schemeClr val="dk1"/>
              </a:solidFill>
              <a:latin typeface="Lexend"/>
              <a:ea typeface="Lexend"/>
              <a:cs typeface="Lexend"/>
              <a:sym typeface="Lexend"/>
            </a:endParaRPr>
          </a:p>
        </p:txBody>
      </p:sp>
      <p:sp>
        <p:nvSpPr>
          <p:cNvPr id="1253" name="Google Shape;1253;p86"/>
          <p:cNvSpPr txBox="1"/>
          <p:nvPr/>
        </p:nvSpPr>
        <p:spPr>
          <a:xfrm>
            <a:off x="2115400" y="30057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24 : 80</a:t>
            </a:r>
            <a:endParaRPr sz="2000">
              <a:solidFill>
                <a:schemeClr val="dk1"/>
              </a:solidFill>
              <a:latin typeface="Lexend"/>
              <a:ea typeface="Lexend"/>
              <a:cs typeface="Lexend"/>
              <a:sym typeface="Lexend"/>
            </a:endParaRPr>
          </a:p>
        </p:txBody>
      </p:sp>
      <p:sp>
        <p:nvSpPr>
          <p:cNvPr id="1263" name="Google Shape;1263;p86"/>
          <p:cNvSpPr txBox="1"/>
          <p:nvPr/>
        </p:nvSpPr>
        <p:spPr>
          <a:xfrm>
            <a:off x="7373200" y="2929500"/>
            <a:ext cx="1094100" cy="8286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A : B</a:t>
            </a:r>
            <a:endParaRPr sz="2000">
              <a:solidFill>
                <a:schemeClr val="dk1"/>
              </a:solidFill>
              <a:latin typeface="Lexend"/>
              <a:ea typeface="Lexend"/>
              <a:cs typeface="Lexend"/>
              <a:sym typeface="Lexend"/>
            </a:endParaRPr>
          </a:p>
          <a:p>
            <a:pPr indent="0" lvl="0" marL="0" rtl="0" algn="ctr">
              <a:spcBef>
                <a:spcPts val="0"/>
              </a:spcBef>
              <a:spcAft>
                <a:spcPts val="0"/>
              </a:spcAft>
              <a:buNone/>
            </a:pPr>
            <a:r>
              <a:rPr lang="en-GB" sz="2000">
                <a:solidFill>
                  <a:schemeClr val="dk1"/>
                </a:solidFill>
                <a:latin typeface="Lexend"/>
                <a:ea typeface="Lexend"/>
                <a:cs typeface="Lexend"/>
                <a:sym typeface="Lexend"/>
              </a:rPr>
              <a:t>25 : 5</a:t>
            </a:r>
            <a:endParaRPr sz="2000">
              <a:solidFill>
                <a:schemeClr val="dk1"/>
              </a:solidFill>
              <a:latin typeface="Lexend"/>
              <a:ea typeface="Lexend"/>
              <a:cs typeface="Lexend"/>
              <a:sym typeface="Lexend"/>
            </a:endParaRPr>
          </a:p>
        </p:txBody>
      </p:sp>
      <p:sp>
        <p:nvSpPr>
          <p:cNvPr id="1264" name="Google Shape;1264;p86"/>
          <p:cNvSpPr txBox="1"/>
          <p:nvPr/>
        </p:nvSpPr>
        <p:spPr>
          <a:xfrm>
            <a:off x="4109850" y="376889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sp>
        <p:nvSpPr>
          <p:cNvPr id="1265" name="Google Shape;1265;p86"/>
          <p:cNvSpPr txBox="1"/>
          <p:nvPr/>
        </p:nvSpPr>
        <p:spPr>
          <a:xfrm>
            <a:off x="2357250" y="376889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a:t>
            </a:r>
            <a:endParaRPr sz="2200">
              <a:solidFill>
                <a:schemeClr val="dk1"/>
              </a:solidFill>
              <a:latin typeface="Lexend"/>
              <a:ea typeface="Lexend"/>
              <a:cs typeface="Lexend"/>
              <a:sym typeface="Lexend"/>
            </a:endParaRPr>
          </a:p>
        </p:txBody>
      </p:sp>
      <p:sp>
        <p:nvSpPr>
          <p:cNvPr id="1266" name="Google Shape;1266;p86"/>
          <p:cNvSpPr txBox="1"/>
          <p:nvPr/>
        </p:nvSpPr>
        <p:spPr>
          <a:xfrm>
            <a:off x="3818631" y="4260854"/>
            <a:ext cx="1094100" cy="4752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3 : 5</a:t>
            </a:r>
            <a:endParaRPr sz="2000">
              <a:solidFill>
                <a:schemeClr val="dk1"/>
              </a:solidFill>
              <a:latin typeface="Lexend"/>
              <a:ea typeface="Lexend"/>
              <a:cs typeface="Lexend"/>
              <a:sym typeface="Lexend"/>
            </a:endParaRPr>
          </a:p>
        </p:txBody>
      </p:sp>
      <p:sp>
        <p:nvSpPr>
          <p:cNvPr id="1267" name="Google Shape;1267;p86"/>
          <p:cNvSpPr txBox="1"/>
          <p:nvPr/>
        </p:nvSpPr>
        <p:spPr>
          <a:xfrm>
            <a:off x="2142231" y="4260854"/>
            <a:ext cx="1094100" cy="4752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3 : 10</a:t>
            </a:r>
            <a:endParaRPr sz="2000">
              <a:solidFill>
                <a:schemeClr val="dk1"/>
              </a:solidFill>
              <a:latin typeface="Lexend"/>
              <a:ea typeface="Lexend"/>
              <a:cs typeface="Lexend"/>
              <a:sym typeface="Lexend"/>
            </a:endParaRPr>
          </a:p>
        </p:txBody>
      </p:sp>
      <p:sp>
        <p:nvSpPr>
          <p:cNvPr id="1268" name="Google Shape;1268;p86"/>
          <p:cNvSpPr txBox="1"/>
          <p:nvPr/>
        </p:nvSpPr>
        <p:spPr>
          <a:xfrm>
            <a:off x="7691250" y="369269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sp>
        <p:nvSpPr>
          <p:cNvPr id="1269" name="Google Shape;1269;p86"/>
          <p:cNvSpPr txBox="1"/>
          <p:nvPr/>
        </p:nvSpPr>
        <p:spPr>
          <a:xfrm>
            <a:off x="7400031" y="4184654"/>
            <a:ext cx="1094100" cy="4752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5 : 1</a:t>
            </a:r>
            <a:endParaRPr sz="2000">
              <a:solidFill>
                <a:schemeClr val="dk1"/>
              </a:solidFill>
              <a:latin typeface="Lexend"/>
              <a:ea typeface="Lexend"/>
              <a:cs typeface="Lexend"/>
              <a:sym typeface="Lexend"/>
            </a:endParaRPr>
          </a:p>
        </p:txBody>
      </p:sp>
      <p:graphicFrame>
        <p:nvGraphicFramePr>
          <p:cNvPr id="1270" name="Google Shape;1270;p86"/>
          <p:cNvGraphicFramePr/>
          <p:nvPr/>
        </p:nvGraphicFramePr>
        <p:xfrm>
          <a:off x="2068809" y="2244343"/>
          <a:ext cx="3000000" cy="3000000"/>
        </p:xfrm>
        <a:graphic>
          <a:graphicData uri="http://schemas.openxmlformats.org/drawingml/2006/table">
            <a:tbl>
              <a:tblPr>
                <a:noFill/>
                <a:tableStyleId>{13948374-6AAA-404F-9DE8-2BB181859924}</a:tableStyleId>
              </a:tblPr>
              <a:tblGrid>
                <a:gridCol w="547100"/>
                <a:gridCol w="547100"/>
              </a:tblGrid>
              <a:tr h="4752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271" name="Google Shape;1271;p86"/>
          <p:cNvGraphicFramePr/>
          <p:nvPr/>
        </p:nvGraphicFramePr>
        <p:xfrm>
          <a:off x="5574009" y="2244343"/>
          <a:ext cx="3000000" cy="3000000"/>
        </p:xfrm>
        <a:graphic>
          <a:graphicData uri="http://schemas.openxmlformats.org/drawingml/2006/table">
            <a:tbl>
              <a:tblPr>
                <a:noFill/>
                <a:tableStyleId>{13948374-6AAA-404F-9DE8-2BB181859924}</a:tableStyleId>
              </a:tblPr>
              <a:tblGrid>
                <a:gridCol w="547100"/>
                <a:gridCol w="547100"/>
              </a:tblGrid>
              <a:tr h="4752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272" name="Google Shape;1272;p86"/>
          <p:cNvGraphicFramePr/>
          <p:nvPr/>
        </p:nvGraphicFramePr>
        <p:xfrm>
          <a:off x="7402809" y="2266882"/>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cxnSp>
        <p:nvCxnSpPr>
          <p:cNvPr id="1273" name="Google Shape;1273;p86"/>
          <p:cNvCxnSpPr>
            <a:endCxn id="1261" idx="0"/>
          </p:cNvCxnSpPr>
          <p:nvPr/>
        </p:nvCxnSpPr>
        <p:spPr>
          <a:xfrm>
            <a:off x="4863225" y="2686800"/>
            <a:ext cx="1275300" cy="337800"/>
          </a:xfrm>
          <a:prstGeom prst="straightConnector1">
            <a:avLst/>
          </a:prstGeom>
          <a:noFill/>
          <a:ln cap="flat" cmpd="sng" w="28575">
            <a:solidFill>
              <a:schemeClr val="dk1"/>
            </a:solidFill>
            <a:prstDash val="solid"/>
            <a:round/>
            <a:headEnd len="med" w="med" type="none"/>
            <a:tailEnd len="med" w="med" type="none"/>
          </a:ln>
        </p:spPr>
      </p:cxnSp>
      <p:cxnSp>
        <p:nvCxnSpPr>
          <p:cNvPr id="1274" name="Google Shape;1274;p86"/>
          <p:cNvCxnSpPr>
            <a:endCxn id="1260" idx="0"/>
          </p:cNvCxnSpPr>
          <p:nvPr/>
        </p:nvCxnSpPr>
        <p:spPr>
          <a:xfrm flipH="1">
            <a:off x="833650" y="2719200"/>
            <a:ext cx="1258200" cy="286500"/>
          </a:xfrm>
          <a:prstGeom prst="straightConnector1">
            <a:avLst/>
          </a:prstGeom>
          <a:noFill/>
          <a:ln cap="flat" cmpd="sng" w="28575">
            <a:solidFill>
              <a:schemeClr val="dk1"/>
            </a:solidFill>
            <a:prstDash val="solid"/>
            <a:round/>
            <a:headEnd len="med" w="med" type="none"/>
            <a:tailEnd len="med" w="med" type="none"/>
          </a:ln>
        </p:spPr>
      </p:cxnSp>
      <p:graphicFrame>
        <p:nvGraphicFramePr>
          <p:cNvPr id="1275" name="Google Shape;1275;p86"/>
          <p:cNvGraphicFramePr/>
          <p:nvPr/>
        </p:nvGraphicFramePr>
        <p:xfrm>
          <a:off x="3745209" y="13031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B</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45AD9"/>
                    </a:solidFill>
                  </a:tcPr>
                </a:tc>
              </a:tr>
              <a:tr h="4751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276" name="Google Shape;1276;p86"/>
          <p:cNvGraphicFramePr/>
          <p:nvPr/>
        </p:nvGraphicFramePr>
        <p:xfrm>
          <a:off x="3745209" y="2217513"/>
          <a:ext cx="3000000" cy="3000000"/>
        </p:xfrm>
        <a:graphic>
          <a:graphicData uri="http://schemas.openxmlformats.org/drawingml/2006/table">
            <a:tbl>
              <a:tblPr>
                <a:noFill/>
                <a:tableStyleId>{13948374-6AAA-404F-9DE8-2BB181859924}</a:tableStyleId>
              </a:tblPr>
              <a:tblGrid>
                <a:gridCol w="547100"/>
                <a:gridCol w="547100"/>
              </a:tblGrid>
              <a:tr h="4751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cxnSp>
        <p:nvCxnSpPr>
          <p:cNvPr id="1277" name="Google Shape;1277;p86"/>
          <p:cNvCxnSpPr>
            <a:stCxn id="1262" idx="0"/>
          </p:cNvCxnSpPr>
          <p:nvPr/>
        </p:nvCxnSpPr>
        <p:spPr>
          <a:xfrm flipH="1" rot="10800000">
            <a:off x="4338850" y="2719200"/>
            <a:ext cx="1246800" cy="286500"/>
          </a:xfrm>
          <a:prstGeom prst="straightConnector1">
            <a:avLst/>
          </a:prstGeom>
          <a:noFill/>
          <a:ln cap="flat" cmpd="sng" w="28575">
            <a:solidFill>
              <a:schemeClr val="dk1"/>
            </a:solidFill>
            <a:prstDash val="solid"/>
            <a:round/>
            <a:headEnd len="med" w="med" type="none"/>
            <a:tailEnd len="med" w="med" type="none"/>
          </a:ln>
        </p:spPr>
      </p:cxnSp>
      <p:cxnSp>
        <p:nvCxnSpPr>
          <p:cNvPr id="1278" name="Google Shape;1278;p86"/>
          <p:cNvCxnSpPr/>
          <p:nvPr/>
        </p:nvCxnSpPr>
        <p:spPr>
          <a:xfrm rot="10800000">
            <a:off x="7968750" y="2740825"/>
            <a:ext cx="27000" cy="1887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284" name="Google Shape;1284;p87"/>
          <p:cNvSpPr txBox="1"/>
          <p:nvPr>
            <p:ph idx="4294967295" type="body"/>
          </p:nvPr>
        </p:nvSpPr>
        <p:spPr>
          <a:xfrm>
            <a:off x="324000" y="819075"/>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 Work out the equivalent ratios.</a:t>
            </a:r>
            <a:endParaRPr/>
          </a:p>
        </p:txBody>
      </p:sp>
      <p:sp>
        <p:nvSpPr>
          <p:cNvPr id="1285" name="Google Shape;1285;p87"/>
          <p:cNvSpPr/>
          <p:nvPr/>
        </p:nvSpPr>
        <p:spPr>
          <a:xfrm>
            <a:off x="3083925" y="2152250"/>
            <a:ext cx="2976156" cy="1682100"/>
          </a:xfrm>
          <a:prstGeom prst="cloud">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86" name="Google Shape;1286;p87"/>
          <p:cNvCxnSpPr/>
          <p:nvPr/>
        </p:nvCxnSpPr>
        <p:spPr>
          <a:xfrm rot="10800000">
            <a:off x="2102675" y="2290150"/>
            <a:ext cx="1229400" cy="366600"/>
          </a:xfrm>
          <a:prstGeom prst="straightConnector1">
            <a:avLst/>
          </a:prstGeom>
          <a:noFill/>
          <a:ln cap="flat" cmpd="sng" w="28575">
            <a:solidFill>
              <a:schemeClr val="dk1"/>
            </a:solidFill>
            <a:prstDash val="solid"/>
            <a:round/>
            <a:headEnd len="med" w="med" type="none"/>
            <a:tailEnd len="med" w="med" type="none"/>
          </a:ln>
        </p:spPr>
      </p:cxnSp>
      <p:cxnSp>
        <p:nvCxnSpPr>
          <p:cNvPr id="1287" name="Google Shape;1287;p87"/>
          <p:cNvCxnSpPr/>
          <p:nvPr/>
        </p:nvCxnSpPr>
        <p:spPr>
          <a:xfrm flipH="1">
            <a:off x="2047475" y="3513900"/>
            <a:ext cx="1284600" cy="494700"/>
          </a:xfrm>
          <a:prstGeom prst="straightConnector1">
            <a:avLst/>
          </a:prstGeom>
          <a:noFill/>
          <a:ln cap="flat" cmpd="sng" w="28575">
            <a:solidFill>
              <a:schemeClr val="dk1"/>
            </a:solidFill>
            <a:prstDash val="solid"/>
            <a:round/>
            <a:headEnd len="med" w="med" type="none"/>
            <a:tailEnd len="med" w="med" type="none"/>
          </a:ln>
        </p:spPr>
      </p:cxnSp>
      <p:cxnSp>
        <p:nvCxnSpPr>
          <p:cNvPr id="1288" name="Google Shape;1288;p87"/>
          <p:cNvCxnSpPr/>
          <p:nvPr/>
        </p:nvCxnSpPr>
        <p:spPr>
          <a:xfrm rot="10800000">
            <a:off x="4689150" y="3834350"/>
            <a:ext cx="422100" cy="512100"/>
          </a:xfrm>
          <a:prstGeom prst="straightConnector1">
            <a:avLst/>
          </a:prstGeom>
          <a:noFill/>
          <a:ln cap="flat" cmpd="sng" w="28575">
            <a:solidFill>
              <a:schemeClr val="dk1"/>
            </a:solidFill>
            <a:prstDash val="solid"/>
            <a:round/>
            <a:headEnd len="med" w="med" type="none"/>
            <a:tailEnd len="med" w="med" type="none"/>
          </a:ln>
        </p:spPr>
      </p:cxnSp>
      <p:cxnSp>
        <p:nvCxnSpPr>
          <p:cNvPr id="1289" name="Google Shape;1289;p87"/>
          <p:cNvCxnSpPr/>
          <p:nvPr/>
        </p:nvCxnSpPr>
        <p:spPr>
          <a:xfrm rot="10800000">
            <a:off x="5637975" y="3322275"/>
            <a:ext cx="1241700" cy="197100"/>
          </a:xfrm>
          <a:prstGeom prst="straightConnector1">
            <a:avLst/>
          </a:prstGeom>
          <a:noFill/>
          <a:ln cap="flat" cmpd="sng" w="28575">
            <a:solidFill>
              <a:schemeClr val="dk1"/>
            </a:solidFill>
            <a:prstDash val="solid"/>
            <a:round/>
            <a:headEnd len="med" w="med" type="none"/>
            <a:tailEnd len="med" w="med" type="none"/>
          </a:ln>
        </p:spPr>
      </p:cxnSp>
      <p:cxnSp>
        <p:nvCxnSpPr>
          <p:cNvPr id="1290" name="Google Shape;1290;p87"/>
          <p:cNvCxnSpPr/>
          <p:nvPr/>
        </p:nvCxnSpPr>
        <p:spPr>
          <a:xfrm flipH="1">
            <a:off x="5774350" y="1912725"/>
            <a:ext cx="1180800" cy="462300"/>
          </a:xfrm>
          <a:prstGeom prst="straightConnector1">
            <a:avLst/>
          </a:prstGeom>
          <a:noFill/>
          <a:ln cap="flat" cmpd="sng" w="28575">
            <a:solidFill>
              <a:schemeClr val="dk1"/>
            </a:solidFill>
            <a:prstDash val="solid"/>
            <a:round/>
            <a:headEnd len="med" w="med" type="none"/>
            <a:tailEnd len="med" w="med" type="none"/>
          </a:ln>
        </p:spPr>
      </p:cxnSp>
      <p:cxnSp>
        <p:nvCxnSpPr>
          <p:cNvPr id="1291" name="Google Shape;1291;p87"/>
          <p:cNvCxnSpPr/>
          <p:nvPr/>
        </p:nvCxnSpPr>
        <p:spPr>
          <a:xfrm>
            <a:off x="4076100" y="1675484"/>
            <a:ext cx="331200" cy="539100"/>
          </a:xfrm>
          <a:prstGeom prst="straightConnector1">
            <a:avLst/>
          </a:prstGeom>
          <a:noFill/>
          <a:ln cap="flat" cmpd="sng" w="28575">
            <a:solidFill>
              <a:schemeClr val="dk1"/>
            </a:solidFill>
            <a:prstDash val="solid"/>
            <a:round/>
            <a:headEnd len="med" w="med" type="none"/>
            <a:tailEnd len="med" w="med" type="none"/>
          </a:ln>
        </p:spPr>
      </p:cxnSp>
      <p:sp>
        <p:nvSpPr>
          <p:cNvPr id="1292" name="Google Shape;1292;p87"/>
          <p:cNvSpPr txBox="1"/>
          <p:nvPr/>
        </p:nvSpPr>
        <p:spPr>
          <a:xfrm>
            <a:off x="3969700" y="2600675"/>
            <a:ext cx="1552800" cy="7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400">
                <a:solidFill>
                  <a:schemeClr val="dk1"/>
                </a:solidFill>
                <a:latin typeface="Lexend"/>
                <a:ea typeface="Lexend"/>
                <a:cs typeface="Lexend"/>
                <a:sym typeface="Lexend"/>
              </a:rPr>
              <a:t>4 : 5</a:t>
            </a:r>
            <a:endParaRPr sz="3400">
              <a:solidFill>
                <a:schemeClr val="dk1"/>
              </a:solidFill>
              <a:latin typeface="Lexend"/>
              <a:ea typeface="Lexend"/>
              <a:cs typeface="Lexend"/>
              <a:sym typeface="Lexend"/>
            </a:endParaRPr>
          </a:p>
        </p:txBody>
      </p:sp>
      <p:sp>
        <p:nvSpPr>
          <p:cNvPr id="1293" name="Google Shape;1293;p87"/>
          <p:cNvSpPr txBox="1"/>
          <p:nvPr/>
        </p:nvSpPr>
        <p:spPr>
          <a:xfrm>
            <a:off x="3543600" y="12324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8 : 10</a:t>
            </a:r>
            <a:endParaRPr sz="2700">
              <a:solidFill>
                <a:schemeClr val="dk1"/>
              </a:solidFill>
              <a:latin typeface="Lexend"/>
              <a:ea typeface="Lexend"/>
              <a:cs typeface="Lexend"/>
              <a:sym typeface="Lexend"/>
            </a:endParaRPr>
          </a:p>
        </p:txBody>
      </p:sp>
      <p:sp>
        <p:nvSpPr>
          <p:cNvPr id="1294" name="Google Shape;1294;p87"/>
          <p:cNvSpPr txBox="1"/>
          <p:nvPr/>
        </p:nvSpPr>
        <p:spPr>
          <a:xfrm>
            <a:off x="6896400" y="1537200"/>
            <a:ext cx="16653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20 : 25</a:t>
            </a:r>
            <a:endParaRPr sz="2700">
              <a:solidFill>
                <a:schemeClr val="dk1"/>
              </a:solidFill>
              <a:latin typeface="Lexend"/>
              <a:ea typeface="Lexend"/>
              <a:cs typeface="Lexend"/>
              <a:sym typeface="Lexend"/>
            </a:endParaRPr>
          </a:p>
        </p:txBody>
      </p:sp>
      <p:sp>
        <p:nvSpPr>
          <p:cNvPr id="1295" name="Google Shape;1295;p87"/>
          <p:cNvSpPr txBox="1"/>
          <p:nvPr/>
        </p:nvSpPr>
        <p:spPr>
          <a:xfrm>
            <a:off x="6820200" y="3137400"/>
            <a:ext cx="16653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32 : 40</a:t>
            </a:r>
            <a:endParaRPr sz="2700">
              <a:solidFill>
                <a:schemeClr val="dk1"/>
              </a:solidFill>
              <a:latin typeface="Lexend"/>
              <a:ea typeface="Lexend"/>
              <a:cs typeface="Lexend"/>
              <a:sym typeface="Lexend"/>
            </a:endParaRPr>
          </a:p>
        </p:txBody>
      </p:sp>
      <p:sp>
        <p:nvSpPr>
          <p:cNvPr id="1296" name="Google Shape;1296;p87"/>
          <p:cNvSpPr txBox="1"/>
          <p:nvPr/>
        </p:nvSpPr>
        <p:spPr>
          <a:xfrm>
            <a:off x="5067600" y="40518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1 : 1.25</a:t>
            </a:r>
            <a:endParaRPr sz="2700">
              <a:solidFill>
                <a:schemeClr val="dk1"/>
              </a:solidFill>
              <a:latin typeface="Lexend"/>
              <a:ea typeface="Lexend"/>
              <a:cs typeface="Lexend"/>
              <a:sym typeface="Lexend"/>
            </a:endParaRPr>
          </a:p>
        </p:txBody>
      </p:sp>
      <p:sp>
        <p:nvSpPr>
          <p:cNvPr id="1297" name="Google Shape;1297;p87"/>
          <p:cNvSpPr txBox="1"/>
          <p:nvPr/>
        </p:nvSpPr>
        <p:spPr>
          <a:xfrm>
            <a:off x="829675" y="3899400"/>
            <a:ext cx="18330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0.4 : 0.5</a:t>
            </a:r>
            <a:endParaRPr sz="2700">
              <a:solidFill>
                <a:schemeClr val="dk1"/>
              </a:solidFill>
              <a:latin typeface="Lexend"/>
              <a:ea typeface="Lexend"/>
              <a:cs typeface="Lexend"/>
              <a:sym typeface="Lexend"/>
            </a:endParaRPr>
          </a:p>
        </p:txBody>
      </p:sp>
      <p:sp>
        <p:nvSpPr>
          <p:cNvPr id="1298" name="Google Shape;1298;p87"/>
          <p:cNvSpPr txBox="1"/>
          <p:nvPr/>
        </p:nvSpPr>
        <p:spPr>
          <a:xfrm>
            <a:off x="1038000" y="19182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 : 2.5</a:t>
            </a:r>
            <a:endParaRPr sz="2700">
              <a:solidFill>
                <a:schemeClr val="dk1"/>
              </a:solidFill>
              <a:latin typeface="Lexend"/>
              <a:ea typeface="Lexend"/>
              <a:cs typeface="Lexend"/>
              <a:sym typeface="Lexend"/>
            </a:endParaRPr>
          </a:p>
        </p:txBody>
      </p:sp>
      <p:sp>
        <p:nvSpPr>
          <p:cNvPr id="1299" name="Google Shape;1299;p87"/>
          <p:cNvSpPr/>
          <p:nvPr/>
        </p:nvSpPr>
        <p:spPr>
          <a:xfrm>
            <a:off x="3480135" y="13258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0" name="Google Shape;1300;p87"/>
          <p:cNvSpPr/>
          <p:nvPr/>
        </p:nvSpPr>
        <p:spPr>
          <a:xfrm>
            <a:off x="6985335" y="16306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1" name="Google Shape;1301;p87"/>
          <p:cNvSpPr/>
          <p:nvPr/>
        </p:nvSpPr>
        <p:spPr>
          <a:xfrm>
            <a:off x="6909135" y="3307042"/>
            <a:ext cx="4047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2" name="Google Shape;1302;p87"/>
          <p:cNvSpPr/>
          <p:nvPr/>
        </p:nvSpPr>
        <p:spPr>
          <a:xfrm>
            <a:off x="5613719" y="4145250"/>
            <a:ext cx="6432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3" name="Google Shape;1303;p87"/>
          <p:cNvSpPr/>
          <p:nvPr/>
        </p:nvSpPr>
        <p:spPr>
          <a:xfrm>
            <a:off x="813119" y="4003633"/>
            <a:ext cx="6432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4" name="Google Shape;1304;p87"/>
          <p:cNvSpPr/>
          <p:nvPr/>
        </p:nvSpPr>
        <p:spPr>
          <a:xfrm>
            <a:off x="1575119" y="2022433"/>
            <a:ext cx="6432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5" name="Google Shape;1305;p87"/>
          <p:cNvSpPr txBox="1"/>
          <p:nvPr/>
        </p:nvSpPr>
        <p:spPr>
          <a:xfrm>
            <a:off x="4262400" y="38706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4</a:t>
            </a:r>
            <a:endParaRPr sz="2200">
              <a:solidFill>
                <a:schemeClr val="dk1"/>
              </a:solidFill>
              <a:latin typeface="Lexend"/>
              <a:ea typeface="Lexend"/>
              <a:cs typeface="Lexend"/>
              <a:sym typeface="Lexend"/>
            </a:endParaRPr>
          </a:p>
        </p:txBody>
      </p:sp>
      <p:sp>
        <p:nvSpPr>
          <p:cNvPr id="1306" name="Google Shape;1306;p87"/>
          <p:cNvSpPr txBox="1"/>
          <p:nvPr/>
        </p:nvSpPr>
        <p:spPr>
          <a:xfrm>
            <a:off x="2509800" y="36420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10</a:t>
            </a:r>
            <a:endParaRPr sz="2200">
              <a:solidFill>
                <a:schemeClr val="dk1"/>
              </a:solidFill>
              <a:latin typeface="Lexend"/>
              <a:ea typeface="Lexend"/>
              <a:cs typeface="Lexend"/>
              <a:sym typeface="Lexend"/>
            </a:endParaRPr>
          </a:p>
        </p:txBody>
      </p:sp>
      <p:sp>
        <p:nvSpPr>
          <p:cNvPr id="1307" name="Google Shape;1307;p87"/>
          <p:cNvSpPr txBox="1"/>
          <p:nvPr/>
        </p:nvSpPr>
        <p:spPr>
          <a:xfrm>
            <a:off x="2509800" y="204184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2</a:t>
            </a:r>
            <a:endParaRPr sz="2200">
              <a:solidFill>
                <a:schemeClr val="dk1"/>
              </a:solidFill>
              <a:latin typeface="Lexend"/>
              <a:ea typeface="Lexend"/>
              <a:cs typeface="Lexend"/>
              <a:sym typeface="Lexend"/>
            </a:endParaRPr>
          </a:p>
        </p:txBody>
      </p:sp>
      <p:sp>
        <p:nvSpPr>
          <p:cNvPr id="1308" name="Google Shape;1308;p87"/>
          <p:cNvSpPr txBox="1"/>
          <p:nvPr/>
        </p:nvSpPr>
        <p:spPr>
          <a:xfrm>
            <a:off x="4218275" y="1605475"/>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2</a:t>
            </a:r>
            <a:endParaRPr sz="2200">
              <a:solidFill>
                <a:schemeClr val="dk1"/>
              </a:solidFill>
              <a:latin typeface="Lexend"/>
              <a:ea typeface="Lexend"/>
              <a:cs typeface="Lexend"/>
              <a:sym typeface="Lexend"/>
            </a:endParaRPr>
          </a:p>
        </p:txBody>
      </p:sp>
      <p:sp>
        <p:nvSpPr>
          <p:cNvPr id="1309" name="Google Shape;1309;p87"/>
          <p:cNvSpPr txBox="1"/>
          <p:nvPr/>
        </p:nvSpPr>
        <p:spPr>
          <a:xfrm>
            <a:off x="6123275" y="2062675"/>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5</a:t>
            </a:r>
            <a:endParaRPr sz="2200">
              <a:solidFill>
                <a:schemeClr val="dk1"/>
              </a:solidFill>
              <a:latin typeface="Lexend"/>
              <a:ea typeface="Lexend"/>
              <a:cs typeface="Lexend"/>
              <a:sym typeface="Lexend"/>
            </a:endParaRPr>
          </a:p>
        </p:txBody>
      </p:sp>
      <p:sp>
        <p:nvSpPr>
          <p:cNvPr id="1310" name="Google Shape;1310;p87"/>
          <p:cNvSpPr txBox="1"/>
          <p:nvPr/>
        </p:nvSpPr>
        <p:spPr>
          <a:xfrm>
            <a:off x="6034375" y="2981038"/>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8</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a:p>
            <a:pPr indent="0" lvl="0" marL="0" rtl="0" algn="l">
              <a:spcBef>
                <a:spcPts val="1000"/>
              </a:spcBef>
              <a:spcAft>
                <a:spcPts val="1000"/>
              </a:spcAft>
              <a:buNone/>
            </a:pPr>
            <a:r>
              <a:t/>
            </a:r>
            <a:endParaRPr/>
          </a:p>
        </p:txBody>
      </p:sp>
      <p:sp>
        <p:nvSpPr>
          <p:cNvPr id="1316" name="Google Shape;1316;p88"/>
          <p:cNvSpPr txBox="1"/>
          <p:nvPr>
            <p:ph idx="4294967295" type="body"/>
          </p:nvPr>
        </p:nvSpPr>
        <p:spPr>
          <a:xfrm>
            <a:off x="324000" y="819075"/>
            <a:ext cx="8237700" cy="4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5</a:t>
            </a:r>
            <a:r>
              <a:rPr lang="en-GB"/>
              <a:t>) Work out the equivalent ratios.</a:t>
            </a:r>
            <a:endParaRPr/>
          </a:p>
        </p:txBody>
      </p:sp>
      <p:sp>
        <p:nvSpPr>
          <p:cNvPr id="1317" name="Google Shape;1317;p88"/>
          <p:cNvSpPr/>
          <p:nvPr/>
        </p:nvSpPr>
        <p:spPr>
          <a:xfrm>
            <a:off x="3083925" y="2152250"/>
            <a:ext cx="2976156" cy="1682100"/>
          </a:xfrm>
          <a:prstGeom prst="cloud">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18" name="Google Shape;1318;p88"/>
          <p:cNvCxnSpPr/>
          <p:nvPr/>
        </p:nvCxnSpPr>
        <p:spPr>
          <a:xfrm rot="10800000">
            <a:off x="2102675" y="2290150"/>
            <a:ext cx="1229400" cy="366600"/>
          </a:xfrm>
          <a:prstGeom prst="straightConnector1">
            <a:avLst/>
          </a:prstGeom>
          <a:noFill/>
          <a:ln cap="flat" cmpd="sng" w="28575">
            <a:solidFill>
              <a:schemeClr val="dk1"/>
            </a:solidFill>
            <a:prstDash val="solid"/>
            <a:round/>
            <a:headEnd len="med" w="med" type="none"/>
            <a:tailEnd len="med" w="med" type="none"/>
          </a:ln>
        </p:spPr>
      </p:cxnSp>
      <p:cxnSp>
        <p:nvCxnSpPr>
          <p:cNvPr id="1319" name="Google Shape;1319;p88"/>
          <p:cNvCxnSpPr/>
          <p:nvPr/>
        </p:nvCxnSpPr>
        <p:spPr>
          <a:xfrm flipH="1">
            <a:off x="2047475" y="3513900"/>
            <a:ext cx="1284600" cy="494700"/>
          </a:xfrm>
          <a:prstGeom prst="straightConnector1">
            <a:avLst/>
          </a:prstGeom>
          <a:noFill/>
          <a:ln cap="flat" cmpd="sng" w="28575">
            <a:solidFill>
              <a:schemeClr val="dk1"/>
            </a:solidFill>
            <a:prstDash val="solid"/>
            <a:round/>
            <a:headEnd len="med" w="med" type="none"/>
            <a:tailEnd len="med" w="med" type="none"/>
          </a:ln>
        </p:spPr>
      </p:cxnSp>
      <p:cxnSp>
        <p:nvCxnSpPr>
          <p:cNvPr id="1320" name="Google Shape;1320;p88"/>
          <p:cNvCxnSpPr/>
          <p:nvPr/>
        </p:nvCxnSpPr>
        <p:spPr>
          <a:xfrm rot="10800000">
            <a:off x="4689150" y="3834350"/>
            <a:ext cx="422100" cy="512100"/>
          </a:xfrm>
          <a:prstGeom prst="straightConnector1">
            <a:avLst/>
          </a:prstGeom>
          <a:noFill/>
          <a:ln cap="flat" cmpd="sng" w="28575">
            <a:solidFill>
              <a:schemeClr val="dk1"/>
            </a:solidFill>
            <a:prstDash val="solid"/>
            <a:round/>
            <a:headEnd len="med" w="med" type="none"/>
            <a:tailEnd len="med" w="med" type="none"/>
          </a:ln>
        </p:spPr>
      </p:cxnSp>
      <p:cxnSp>
        <p:nvCxnSpPr>
          <p:cNvPr id="1321" name="Google Shape;1321;p88"/>
          <p:cNvCxnSpPr/>
          <p:nvPr/>
        </p:nvCxnSpPr>
        <p:spPr>
          <a:xfrm rot="10800000">
            <a:off x="5637975" y="3322275"/>
            <a:ext cx="1241700" cy="197100"/>
          </a:xfrm>
          <a:prstGeom prst="straightConnector1">
            <a:avLst/>
          </a:prstGeom>
          <a:noFill/>
          <a:ln cap="flat" cmpd="sng" w="28575">
            <a:solidFill>
              <a:schemeClr val="dk1"/>
            </a:solidFill>
            <a:prstDash val="solid"/>
            <a:round/>
            <a:headEnd len="med" w="med" type="none"/>
            <a:tailEnd len="med" w="med" type="none"/>
          </a:ln>
        </p:spPr>
      </p:cxnSp>
      <p:cxnSp>
        <p:nvCxnSpPr>
          <p:cNvPr id="1322" name="Google Shape;1322;p88"/>
          <p:cNvCxnSpPr/>
          <p:nvPr/>
        </p:nvCxnSpPr>
        <p:spPr>
          <a:xfrm flipH="1">
            <a:off x="5774350" y="1912725"/>
            <a:ext cx="1180800" cy="462300"/>
          </a:xfrm>
          <a:prstGeom prst="straightConnector1">
            <a:avLst/>
          </a:prstGeom>
          <a:noFill/>
          <a:ln cap="flat" cmpd="sng" w="28575">
            <a:solidFill>
              <a:schemeClr val="dk1"/>
            </a:solidFill>
            <a:prstDash val="solid"/>
            <a:round/>
            <a:headEnd len="med" w="med" type="none"/>
            <a:tailEnd len="med" w="med" type="none"/>
          </a:ln>
        </p:spPr>
      </p:cxnSp>
      <p:cxnSp>
        <p:nvCxnSpPr>
          <p:cNvPr id="1323" name="Google Shape;1323;p88"/>
          <p:cNvCxnSpPr/>
          <p:nvPr/>
        </p:nvCxnSpPr>
        <p:spPr>
          <a:xfrm>
            <a:off x="4076100" y="1675484"/>
            <a:ext cx="331200" cy="539100"/>
          </a:xfrm>
          <a:prstGeom prst="straightConnector1">
            <a:avLst/>
          </a:prstGeom>
          <a:noFill/>
          <a:ln cap="flat" cmpd="sng" w="28575">
            <a:solidFill>
              <a:schemeClr val="dk1"/>
            </a:solidFill>
            <a:prstDash val="solid"/>
            <a:round/>
            <a:headEnd len="med" w="med" type="none"/>
            <a:tailEnd len="med" w="med" type="none"/>
          </a:ln>
        </p:spPr>
      </p:cxnSp>
      <p:sp>
        <p:nvSpPr>
          <p:cNvPr id="1324" name="Google Shape;1324;p88"/>
          <p:cNvSpPr txBox="1"/>
          <p:nvPr/>
        </p:nvSpPr>
        <p:spPr>
          <a:xfrm>
            <a:off x="3795600" y="2631475"/>
            <a:ext cx="1552800" cy="7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400">
                <a:solidFill>
                  <a:schemeClr val="dk1"/>
                </a:solidFill>
                <a:latin typeface="Lexend"/>
                <a:ea typeface="Lexend"/>
                <a:cs typeface="Lexend"/>
                <a:sym typeface="Lexend"/>
              </a:rPr>
              <a:t>2 : 3 : 1</a:t>
            </a:r>
            <a:endParaRPr sz="3400">
              <a:solidFill>
                <a:schemeClr val="dk1"/>
              </a:solidFill>
              <a:latin typeface="Lexend"/>
              <a:ea typeface="Lexend"/>
              <a:cs typeface="Lexend"/>
              <a:sym typeface="Lexend"/>
            </a:endParaRPr>
          </a:p>
        </p:txBody>
      </p:sp>
      <p:sp>
        <p:nvSpPr>
          <p:cNvPr id="1325" name="Google Shape;1325;p88"/>
          <p:cNvSpPr txBox="1"/>
          <p:nvPr/>
        </p:nvSpPr>
        <p:spPr>
          <a:xfrm>
            <a:off x="3543600" y="1232400"/>
            <a:ext cx="15528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8 : 12 : 4</a:t>
            </a:r>
            <a:endParaRPr sz="2700">
              <a:solidFill>
                <a:schemeClr val="dk1"/>
              </a:solidFill>
              <a:latin typeface="Lexend"/>
              <a:ea typeface="Lexend"/>
              <a:cs typeface="Lexend"/>
              <a:sym typeface="Lexend"/>
            </a:endParaRPr>
          </a:p>
        </p:txBody>
      </p:sp>
      <p:sp>
        <p:nvSpPr>
          <p:cNvPr id="1326" name="Google Shape;1326;p88"/>
          <p:cNvSpPr txBox="1"/>
          <p:nvPr/>
        </p:nvSpPr>
        <p:spPr>
          <a:xfrm>
            <a:off x="6896400" y="1537200"/>
            <a:ext cx="20859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22 : 33 : 11</a:t>
            </a:r>
            <a:endParaRPr sz="2700">
              <a:solidFill>
                <a:schemeClr val="dk1"/>
              </a:solidFill>
              <a:latin typeface="Lexend"/>
              <a:ea typeface="Lexend"/>
              <a:cs typeface="Lexend"/>
              <a:sym typeface="Lexend"/>
            </a:endParaRPr>
          </a:p>
        </p:txBody>
      </p:sp>
      <p:sp>
        <p:nvSpPr>
          <p:cNvPr id="1327" name="Google Shape;1327;p88"/>
          <p:cNvSpPr txBox="1"/>
          <p:nvPr/>
        </p:nvSpPr>
        <p:spPr>
          <a:xfrm>
            <a:off x="6820200" y="3137400"/>
            <a:ext cx="18330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1 : 1.5 : 0.5 </a:t>
            </a:r>
            <a:endParaRPr sz="2700">
              <a:solidFill>
                <a:schemeClr val="dk1"/>
              </a:solidFill>
              <a:latin typeface="Lexend"/>
              <a:ea typeface="Lexend"/>
              <a:cs typeface="Lexend"/>
              <a:sym typeface="Lexend"/>
            </a:endParaRPr>
          </a:p>
        </p:txBody>
      </p:sp>
      <p:sp>
        <p:nvSpPr>
          <p:cNvPr id="1328" name="Google Shape;1328;p88"/>
          <p:cNvSpPr txBox="1"/>
          <p:nvPr/>
        </p:nvSpPr>
        <p:spPr>
          <a:xfrm>
            <a:off x="5067600" y="4051800"/>
            <a:ext cx="20385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20 : 30 : 10</a:t>
            </a:r>
            <a:endParaRPr sz="2700">
              <a:solidFill>
                <a:schemeClr val="dk1"/>
              </a:solidFill>
              <a:latin typeface="Lexend"/>
              <a:ea typeface="Lexend"/>
              <a:cs typeface="Lexend"/>
              <a:sym typeface="Lexend"/>
            </a:endParaRPr>
          </a:p>
        </p:txBody>
      </p:sp>
      <p:sp>
        <p:nvSpPr>
          <p:cNvPr id="1329" name="Google Shape;1329;p88"/>
          <p:cNvSpPr txBox="1"/>
          <p:nvPr/>
        </p:nvSpPr>
        <p:spPr>
          <a:xfrm>
            <a:off x="829675" y="3899400"/>
            <a:ext cx="18330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700">
              <a:solidFill>
                <a:schemeClr val="dk1"/>
              </a:solidFill>
              <a:latin typeface="Lexend"/>
              <a:ea typeface="Lexend"/>
              <a:cs typeface="Lexend"/>
              <a:sym typeface="Lexend"/>
            </a:endParaRPr>
          </a:p>
        </p:txBody>
      </p:sp>
      <p:sp>
        <p:nvSpPr>
          <p:cNvPr id="1330" name="Google Shape;1330;p88"/>
          <p:cNvSpPr txBox="1"/>
          <p:nvPr/>
        </p:nvSpPr>
        <p:spPr>
          <a:xfrm>
            <a:off x="500975" y="1994400"/>
            <a:ext cx="1937400" cy="5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chemeClr val="dk1"/>
                </a:solidFill>
                <a:latin typeface="Lexend"/>
                <a:ea typeface="Lexend"/>
                <a:cs typeface="Lexend"/>
                <a:sym typeface="Lexend"/>
              </a:rPr>
              <a:t>10 : 15 : 5</a:t>
            </a:r>
            <a:endParaRPr sz="27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3}:\ 1\ :\ \frac{1}{3}&quot;&gt;&lt;mfrac&gt;&lt;mn&gt;2&lt;/mn&gt;&lt;mn&gt;3&lt;/mn&gt;&lt;/mfrac&gt;&lt;mo&gt;:&lt;/mo&gt;&lt;mtext&gt;&lt;/mtext&gt;&lt;mn&gt;1&lt;/mn&gt;&lt;mtext&gt;&lt;/mtext&gt;&lt;mo&gt;:&lt;/mo&gt;&lt;mtext&gt;&lt;/mtext&gt;&lt;mfrac&gt;&lt;mn&gt;1&lt;/mn&gt;&lt;mn&gt;3&lt;/mn&gt;&lt;/mfrac&gt;&lt;/math&gt;" id="1331" name="Google Shape;1331;p88" title="two thirds colon 1 colon one third"/>
          <p:cNvPicPr preferRelativeResize="0"/>
          <p:nvPr/>
        </p:nvPicPr>
        <p:blipFill>
          <a:blip r:embed="rId3">
            <a:alphaModFix/>
          </a:blip>
          <a:stretch>
            <a:fillRect/>
          </a:stretch>
        </p:blipFill>
        <p:spPr>
          <a:xfrm>
            <a:off x="653376" y="3752701"/>
            <a:ext cx="1365695" cy="643500"/>
          </a:xfrm>
          <a:prstGeom prst="rect">
            <a:avLst/>
          </a:prstGeom>
          <a:noFill/>
          <a:ln>
            <a:noFill/>
          </a:ln>
        </p:spPr>
      </p:pic>
      <p:grpSp>
        <p:nvGrpSpPr>
          <p:cNvPr id="1332" name="Google Shape;1332;p88"/>
          <p:cNvGrpSpPr/>
          <p:nvPr/>
        </p:nvGrpSpPr>
        <p:grpSpPr>
          <a:xfrm>
            <a:off x="4086881" y="1319383"/>
            <a:ext cx="1031700" cy="352200"/>
            <a:chOff x="4086881" y="1319383"/>
            <a:chExt cx="1031700" cy="352200"/>
          </a:xfrm>
        </p:grpSpPr>
        <p:sp>
          <p:nvSpPr>
            <p:cNvPr id="1333" name="Google Shape;1333;p88"/>
            <p:cNvSpPr/>
            <p:nvPr/>
          </p:nvSpPr>
          <p:spPr>
            <a:xfrm>
              <a:off x="4086881" y="1319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4" name="Google Shape;1334;p88"/>
            <p:cNvSpPr/>
            <p:nvPr/>
          </p:nvSpPr>
          <p:spPr>
            <a:xfrm>
              <a:off x="4696481" y="1319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35" name="Google Shape;1335;p88"/>
          <p:cNvGrpSpPr/>
          <p:nvPr/>
        </p:nvGrpSpPr>
        <p:grpSpPr>
          <a:xfrm>
            <a:off x="6982481" y="1700383"/>
            <a:ext cx="1031700" cy="352200"/>
            <a:chOff x="6982481" y="1700383"/>
            <a:chExt cx="1031700" cy="352200"/>
          </a:xfrm>
        </p:grpSpPr>
        <p:sp>
          <p:nvSpPr>
            <p:cNvPr id="1336" name="Google Shape;1336;p88"/>
            <p:cNvSpPr/>
            <p:nvPr/>
          </p:nvSpPr>
          <p:spPr>
            <a:xfrm>
              <a:off x="6982481" y="1700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7" name="Google Shape;1337;p88"/>
            <p:cNvSpPr/>
            <p:nvPr/>
          </p:nvSpPr>
          <p:spPr>
            <a:xfrm>
              <a:off x="7592081" y="1700383"/>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38" name="Google Shape;1338;p88"/>
          <p:cNvGrpSpPr/>
          <p:nvPr/>
        </p:nvGrpSpPr>
        <p:grpSpPr>
          <a:xfrm>
            <a:off x="6721532" y="3268234"/>
            <a:ext cx="1064049" cy="362983"/>
            <a:chOff x="6721532" y="3268234"/>
            <a:chExt cx="1064049" cy="362983"/>
          </a:xfrm>
        </p:grpSpPr>
        <p:sp>
          <p:nvSpPr>
            <p:cNvPr id="1339" name="Google Shape;1339;p88"/>
            <p:cNvSpPr/>
            <p:nvPr/>
          </p:nvSpPr>
          <p:spPr>
            <a:xfrm>
              <a:off x="6721532" y="32790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0" name="Google Shape;1340;p88"/>
            <p:cNvSpPr/>
            <p:nvPr/>
          </p:nvSpPr>
          <p:spPr>
            <a:xfrm>
              <a:off x="7363481" y="3268234"/>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41" name="Google Shape;1341;p88"/>
          <p:cNvGrpSpPr/>
          <p:nvPr/>
        </p:nvGrpSpPr>
        <p:grpSpPr>
          <a:xfrm>
            <a:off x="5807132" y="4193417"/>
            <a:ext cx="1031700" cy="352200"/>
            <a:chOff x="5807132" y="4193417"/>
            <a:chExt cx="1031700" cy="352200"/>
          </a:xfrm>
        </p:grpSpPr>
        <p:sp>
          <p:nvSpPr>
            <p:cNvPr id="1342" name="Google Shape;1342;p88"/>
            <p:cNvSpPr/>
            <p:nvPr/>
          </p:nvSpPr>
          <p:spPr>
            <a:xfrm>
              <a:off x="5807132" y="41934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3" name="Google Shape;1343;p88"/>
            <p:cNvSpPr/>
            <p:nvPr/>
          </p:nvSpPr>
          <p:spPr>
            <a:xfrm>
              <a:off x="6416732" y="41934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44" name="Google Shape;1344;p88"/>
          <p:cNvGrpSpPr/>
          <p:nvPr/>
        </p:nvGrpSpPr>
        <p:grpSpPr>
          <a:xfrm>
            <a:off x="538325" y="3752707"/>
            <a:ext cx="1568575" cy="643500"/>
            <a:chOff x="538325" y="3752707"/>
            <a:chExt cx="1568575" cy="643500"/>
          </a:xfrm>
        </p:grpSpPr>
        <p:sp>
          <p:nvSpPr>
            <p:cNvPr id="1345" name="Google Shape;1345;p88"/>
            <p:cNvSpPr/>
            <p:nvPr/>
          </p:nvSpPr>
          <p:spPr>
            <a:xfrm>
              <a:off x="538325" y="3752707"/>
              <a:ext cx="422100" cy="6435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6" name="Google Shape;1346;p88"/>
            <p:cNvSpPr/>
            <p:nvPr/>
          </p:nvSpPr>
          <p:spPr>
            <a:xfrm>
              <a:off x="1684800" y="3752707"/>
              <a:ext cx="422100" cy="6435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47" name="Google Shape;1347;p88"/>
          <p:cNvGrpSpPr/>
          <p:nvPr/>
        </p:nvGrpSpPr>
        <p:grpSpPr>
          <a:xfrm>
            <a:off x="1223630" y="2136017"/>
            <a:ext cx="1031700" cy="352200"/>
            <a:chOff x="1223630" y="2136017"/>
            <a:chExt cx="1031700" cy="352200"/>
          </a:xfrm>
        </p:grpSpPr>
        <p:sp>
          <p:nvSpPr>
            <p:cNvPr id="1348" name="Google Shape;1348;p88"/>
            <p:cNvSpPr/>
            <p:nvPr/>
          </p:nvSpPr>
          <p:spPr>
            <a:xfrm>
              <a:off x="1223630" y="21360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88"/>
            <p:cNvSpPr/>
            <p:nvPr/>
          </p:nvSpPr>
          <p:spPr>
            <a:xfrm>
              <a:off x="1833230" y="2136017"/>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50" name="Google Shape;1350;p88"/>
          <p:cNvSpPr txBox="1"/>
          <p:nvPr/>
        </p:nvSpPr>
        <p:spPr>
          <a:xfrm>
            <a:off x="2551200" y="3752692"/>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3</a:t>
            </a:r>
            <a:endParaRPr sz="2200">
              <a:solidFill>
                <a:schemeClr val="dk1"/>
              </a:solidFill>
              <a:latin typeface="Lexend"/>
              <a:ea typeface="Lexend"/>
              <a:cs typeface="Lexend"/>
              <a:sym typeface="Lexend"/>
            </a:endParaRPr>
          </a:p>
        </p:txBody>
      </p:sp>
      <p:sp>
        <p:nvSpPr>
          <p:cNvPr id="1351" name="Google Shape;1351;p88"/>
          <p:cNvSpPr txBox="1"/>
          <p:nvPr/>
        </p:nvSpPr>
        <p:spPr>
          <a:xfrm>
            <a:off x="6060075" y="2993654"/>
            <a:ext cx="818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2</a:t>
            </a:r>
            <a:endParaRPr sz="2200">
              <a:solidFill>
                <a:schemeClr val="dk1"/>
              </a:solidFill>
              <a:latin typeface="Lexend"/>
              <a:ea typeface="Lexend"/>
              <a:cs typeface="Lexend"/>
              <a:sym typeface="Lexend"/>
            </a:endParaRPr>
          </a:p>
        </p:txBody>
      </p:sp>
      <p:sp>
        <p:nvSpPr>
          <p:cNvPr id="1352" name="Google Shape;1352;p88"/>
          <p:cNvSpPr txBox="1"/>
          <p:nvPr/>
        </p:nvSpPr>
        <p:spPr>
          <a:xfrm>
            <a:off x="4233588" y="1692150"/>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4</a:t>
            </a:r>
            <a:endParaRPr sz="2200">
              <a:solidFill>
                <a:schemeClr val="dk1"/>
              </a:solidFill>
              <a:latin typeface="Lexend"/>
              <a:ea typeface="Lexend"/>
              <a:cs typeface="Lexend"/>
              <a:sym typeface="Lexend"/>
            </a:endParaRPr>
          </a:p>
        </p:txBody>
      </p:sp>
      <p:sp>
        <p:nvSpPr>
          <p:cNvPr id="1353" name="Google Shape;1353;p88"/>
          <p:cNvSpPr txBox="1"/>
          <p:nvPr/>
        </p:nvSpPr>
        <p:spPr>
          <a:xfrm>
            <a:off x="6197425" y="2028563"/>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11</a:t>
            </a:r>
            <a:endParaRPr sz="2200">
              <a:solidFill>
                <a:schemeClr val="dk1"/>
              </a:solidFill>
              <a:latin typeface="Lexend"/>
              <a:ea typeface="Lexend"/>
              <a:cs typeface="Lexend"/>
              <a:sym typeface="Lexend"/>
            </a:endParaRPr>
          </a:p>
        </p:txBody>
      </p:sp>
      <p:sp>
        <p:nvSpPr>
          <p:cNvPr id="1354" name="Google Shape;1354;p88"/>
          <p:cNvSpPr txBox="1"/>
          <p:nvPr/>
        </p:nvSpPr>
        <p:spPr>
          <a:xfrm>
            <a:off x="4772675" y="3636638"/>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10</a:t>
            </a:r>
            <a:endParaRPr sz="2200">
              <a:solidFill>
                <a:schemeClr val="dk1"/>
              </a:solidFill>
              <a:latin typeface="Lexend"/>
              <a:ea typeface="Lexend"/>
              <a:cs typeface="Lexend"/>
              <a:sym typeface="Lexend"/>
            </a:endParaRPr>
          </a:p>
        </p:txBody>
      </p:sp>
      <p:sp>
        <p:nvSpPr>
          <p:cNvPr id="1355" name="Google Shape;1355;p88"/>
          <p:cNvSpPr txBox="1"/>
          <p:nvPr/>
        </p:nvSpPr>
        <p:spPr>
          <a:xfrm>
            <a:off x="2519025" y="2016163"/>
            <a:ext cx="11724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5</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89"/>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1361" name="Google Shape;1361;p8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Comparing </a:t>
            </a:r>
            <a:r>
              <a:rPr lang="en-GB"/>
              <a:t>different</a:t>
            </a:r>
            <a:r>
              <a:rPr lang="en-GB"/>
              <a:t> representations of ratio</a:t>
            </a:r>
            <a:endParaRPr/>
          </a:p>
        </p:txBody>
      </p:sp>
      <p:sp>
        <p:nvSpPr>
          <p:cNvPr id="1362" name="Google Shape;1362;p8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p:txBody>
      </p:sp>
      <p:pic>
        <p:nvPicPr>
          <p:cNvPr id="1363" name="Google Shape;1363;p89"/>
          <p:cNvPicPr preferRelativeResize="0"/>
          <p:nvPr/>
        </p:nvPicPr>
        <p:blipFill>
          <a:blip r:embed="rId3">
            <a:alphaModFix/>
          </a:blip>
          <a:stretch>
            <a:fillRect/>
          </a:stretch>
        </p:blipFill>
        <p:spPr>
          <a:xfrm>
            <a:off x="420958" y="2991185"/>
            <a:ext cx="450575" cy="446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90"/>
          <p:cNvSpPr txBox="1"/>
          <p:nvPr>
            <p:ph idx="1" type="body"/>
          </p:nvPr>
        </p:nvSpPr>
        <p:spPr>
          <a:xfrm>
            <a:off x="324000" y="835500"/>
            <a:ext cx="8237700" cy="11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Knowing the different forms of writing ratios is important as it deepens understanding of how the multiplicative relationship can be seen.</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Regardless of how the ratio is represented, the multiplicative </a:t>
            </a:r>
            <a:r>
              <a:rPr lang="en-GB"/>
              <a:t>relationship</a:t>
            </a:r>
            <a:r>
              <a:rPr lang="en-GB"/>
              <a:t> is the same for all equivalent ratios. They represent the same proportion.</a:t>
            </a:r>
            <a:endParaRPr/>
          </a:p>
        </p:txBody>
      </p:sp>
      <p:sp>
        <p:nvSpPr>
          <p:cNvPr id="1369" name="Google Shape;1369;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different representations of ratio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graphicFrame>
        <p:nvGraphicFramePr>
          <p:cNvPr id="1374" name="Google Shape;1374;p91"/>
          <p:cNvGraphicFramePr/>
          <p:nvPr/>
        </p:nvGraphicFramePr>
        <p:xfrm>
          <a:off x="324000" y="1380875"/>
          <a:ext cx="3000000" cy="3000000"/>
        </p:xfrm>
        <a:graphic>
          <a:graphicData uri="http://schemas.openxmlformats.org/drawingml/2006/table">
            <a:tbl>
              <a:tblPr>
                <a:noFill/>
                <a:tableStyleId>{13948374-6AAA-404F-9DE8-2BB181859924}</a:tableStyleId>
              </a:tblPr>
              <a:tblGrid>
                <a:gridCol w="2603175"/>
                <a:gridCol w="3093600"/>
                <a:gridCol w="2750575"/>
              </a:tblGrid>
              <a:tr h="326550">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Ratio representation</a:t>
                      </a:r>
                      <a:endParaRPr sz="1800">
                        <a:solidFill>
                          <a:schemeClr val="lt1"/>
                        </a:solidFill>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Advantages</a:t>
                      </a:r>
                      <a:endParaRPr sz="1800">
                        <a:solidFill>
                          <a:schemeClr val="lt1"/>
                        </a:solidFill>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Disadvantages</a:t>
                      </a:r>
                      <a:endParaRPr sz="1800">
                        <a:solidFill>
                          <a:schemeClr val="lt1"/>
                        </a:solidFill>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728050">
                <a:tc>
                  <a:txBody>
                    <a:bodyPr/>
                    <a:lstStyle/>
                    <a:p>
                      <a:pPr indent="0" lvl="0" marL="0" rtl="0" algn="l">
                        <a:spcBef>
                          <a:spcPts val="0"/>
                        </a:spcBef>
                        <a:spcAft>
                          <a:spcPts val="0"/>
                        </a:spcAft>
                        <a:buNone/>
                      </a:pPr>
                      <a:r>
                        <a:rPr lang="en-GB" sz="1900">
                          <a:latin typeface="Lexend"/>
                          <a:ea typeface="Lexend"/>
                          <a:cs typeface="Lexend"/>
                          <a:sym typeface="Lexend"/>
                        </a:rPr>
                        <a:t>Bar model</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Graph</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Ratio table</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Double number line</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Ratio notation </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375" name="Google Shape;1375;p91"/>
          <p:cNvSpPr txBox="1"/>
          <p:nvPr>
            <p:ph idx="1" type="body"/>
          </p:nvPr>
        </p:nvSpPr>
        <p:spPr>
          <a:xfrm>
            <a:off x="324000" y="759300"/>
            <a:ext cx="8496000" cy="36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you think of some advantages and disadvantages with using each type of representation?</a:t>
            </a:r>
            <a:endParaRPr sz="1800"/>
          </a:p>
        </p:txBody>
      </p:sp>
      <p:sp>
        <p:nvSpPr>
          <p:cNvPr id="1376" name="Google Shape;1376;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different representations of ratio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graphicFrame>
        <p:nvGraphicFramePr>
          <p:cNvPr id="1381" name="Google Shape;1381;p92"/>
          <p:cNvGraphicFramePr/>
          <p:nvPr/>
        </p:nvGraphicFramePr>
        <p:xfrm>
          <a:off x="324000" y="1380875"/>
          <a:ext cx="3000000" cy="3000000"/>
        </p:xfrm>
        <a:graphic>
          <a:graphicData uri="http://schemas.openxmlformats.org/drawingml/2006/table">
            <a:tbl>
              <a:tblPr>
                <a:noFill/>
                <a:tableStyleId>{13948374-6AAA-404F-9DE8-2BB181859924}</a:tableStyleId>
              </a:tblPr>
              <a:tblGrid>
                <a:gridCol w="2603175"/>
                <a:gridCol w="3093600"/>
                <a:gridCol w="2750575"/>
              </a:tblGrid>
              <a:tr h="326550">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Ratio representation</a:t>
                      </a:r>
                      <a:endParaRPr sz="1800">
                        <a:solidFill>
                          <a:schemeClr val="lt1"/>
                        </a:solidFill>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Advantages</a:t>
                      </a:r>
                      <a:endParaRPr sz="1800">
                        <a:solidFill>
                          <a:schemeClr val="lt1"/>
                        </a:solidFill>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Disadvantages</a:t>
                      </a:r>
                      <a:endParaRPr sz="1800">
                        <a:solidFill>
                          <a:schemeClr val="lt1"/>
                        </a:solidFill>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728050">
                <a:tc>
                  <a:txBody>
                    <a:bodyPr/>
                    <a:lstStyle/>
                    <a:p>
                      <a:pPr indent="0" lvl="0" marL="0" rtl="0" algn="l">
                        <a:spcBef>
                          <a:spcPts val="0"/>
                        </a:spcBef>
                        <a:spcAft>
                          <a:spcPts val="0"/>
                        </a:spcAft>
                        <a:buNone/>
                      </a:pPr>
                      <a:r>
                        <a:rPr lang="en-GB" sz="1900">
                          <a:latin typeface="Lexend"/>
                          <a:ea typeface="Lexend"/>
                          <a:cs typeface="Lexend"/>
                          <a:sym typeface="Lexend"/>
                        </a:rPr>
                        <a:t>Bar model</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Good visual representation</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Takes a little time to draw</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Graph</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Shows lots of equivalent ratios</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Accuracy depends on axis</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Ratio table</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Multipliers can be easily found</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Can lose the visual relationships</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Double number line</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Shows the relationships well</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Difficult to get the scale correct</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79025">
                <a:tc>
                  <a:txBody>
                    <a:bodyPr/>
                    <a:lstStyle/>
                    <a:p>
                      <a:pPr indent="0" lvl="0" marL="0" rtl="0" algn="l">
                        <a:spcBef>
                          <a:spcPts val="0"/>
                        </a:spcBef>
                        <a:spcAft>
                          <a:spcPts val="0"/>
                        </a:spcAft>
                        <a:buNone/>
                      </a:pPr>
                      <a:r>
                        <a:rPr lang="en-GB" sz="1900">
                          <a:latin typeface="Lexend"/>
                          <a:ea typeface="Lexend"/>
                          <a:cs typeface="Lexend"/>
                          <a:sym typeface="Lexend"/>
                        </a:rPr>
                        <a:t>Ratio notation </a:t>
                      </a:r>
                      <a:endParaRPr sz="1900">
                        <a:latin typeface="Lexend"/>
                        <a:ea typeface="Lexend"/>
                        <a:cs typeface="Lexend"/>
                        <a:sym typeface="Lexend"/>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solidFill>
                            <a:schemeClr val="dk1"/>
                          </a:solidFill>
                          <a:latin typeface="Kalam"/>
                          <a:ea typeface="Kalam"/>
                          <a:cs typeface="Kalam"/>
                          <a:sym typeface="Kalam"/>
                        </a:rPr>
                        <a:t>Efficient and concise</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Harder to see relationships</a:t>
                      </a:r>
                      <a:endParaRPr sz="2000">
                        <a:latin typeface="Kalam"/>
                        <a:ea typeface="Kalam"/>
                        <a:cs typeface="Kalam"/>
                        <a:sym typeface="Kalam"/>
                      </a:endParaRPr>
                    </a:p>
                  </a:txBody>
                  <a:tcPr marT="0" marB="0" marR="0" marL="3600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382" name="Google Shape;1382;p92"/>
          <p:cNvSpPr txBox="1"/>
          <p:nvPr>
            <p:ph idx="1" type="body"/>
          </p:nvPr>
        </p:nvSpPr>
        <p:spPr>
          <a:xfrm>
            <a:off x="324000" y="759300"/>
            <a:ext cx="8496000" cy="36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you think of some advantages and disadvantages with using each type of representation?</a:t>
            </a:r>
            <a:endParaRPr sz="1800"/>
          </a:p>
        </p:txBody>
      </p:sp>
      <p:sp>
        <p:nvSpPr>
          <p:cNvPr id="1383" name="Google Shape;1383;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different representations of ratio</a:t>
            </a:r>
            <a:endParaRPr/>
          </a:p>
        </p:txBody>
      </p:sp>
      <p:sp>
        <p:nvSpPr>
          <p:cNvPr id="1384" name="Google Shape;1384;p92"/>
          <p:cNvSpPr txBox="1"/>
          <p:nvPr/>
        </p:nvSpPr>
        <p:spPr>
          <a:xfrm>
            <a:off x="2842775" y="918475"/>
            <a:ext cx="2791500" cy="2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You might have said: </a:t>
            </a:r>
            <a:endParaRPr sz="2000">
              <a:solidFill>
                <a:schemeClr val="dk1"/>
              </a:solidFill>
              <a:latin typeface="Kalam"/>
              <a:ea typeface="Kalam"/>
              <a:cs typeface="Kalam"/>
              <a:sym typeface="Kala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different representations of ratio</a:t>
            </a:r>
            <a:endParaRPr/>
          </a:p>
        </p:txBody>
      </p:sp>
      <p:graphicFrame>
        <p:nvGraphicFramePr>
          <p:cNvPr id="1390" name="Google Shape;1390;p93"/>
          <p:cNvGraphicFramePr/>
          <p:nvPr/>
        </p:nvGraphicFramePr>
        <p:xfrm>
          <a:off x="3873859" y="1792200"/>
          <a:ext cx="3000000" cy="3000000"/>
        </p:xfrm>
        <a:graphic>
          <a:graphicData uri="http://schemas.openxmlformats.org/drawingml/2006/table">
            <a:tbl>
              <a:tblPr>
                <a:noFill/>
                <a:tableStyleId>{13948374-6AAA-404F-9DE8-2BB181859924}</a:tableStyleId>
              </a:tblPr>
              <a:tblGrid>
                <a:gridCol w="1425400"/>
                <a:gridCol w="1425400"/>
              </a:tblGrid>
              <a:tr h="38902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Raisins</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Chocolate</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accent5"/>
                    </a:solidFill>
                  </a:tcPr>
                </a:tc>
              </a:tr>
              <a:tr h="389025">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
        <p:nvSpPr>
          <p:cNvPr id="1391" name="Google Shape;1391;p93"/>
          <p:cNvSpPr txBox="1"/>
          <p:nvPr/>
        </p:nvSpPr>
        <p:spPr>
          <a:xfrm>
            <a:off x="324000" y="695100"/>
            <a:ext cx="8388300" cy="1117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a:t>
            </a:r>
            <a:r>
              <a:rPr lang="en-GB" sz="22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chocolate</a:t>
            </a:r>
            <a:r>
              <a:rPr lang="en-GB" sz="2200">
                <a:solidFill>
                  <a:schemeClr val="dk1"/>
                </a:solidFill>
                <a:latin typeface="Lexend"/>
                <a:ea typeface="Lexend"/>
                <a:cs typeface="Lexend"/>
                <a:sym typeface="Lexend"/>
              </a:rPr>
              <a:t> bar is made up of 3 parts raisins and 4 parts </a:t>
            </a:r>
            <a:r>
              <a:rPr lang="en-GB" sz="2200">
                <a:solidFill>
                  <a:schemeClr val="dk1"/>
                </a:solidFill>
                <a:latin typeface="Lexend"/>
                <a:ea typeface="Lexend"/>
                <a:cs typeface="Lexend"/>
                <a:sym typeface="Lexend"/>
              </a:rPr>
              <a:t>chocolate. How many grams of raisins will be in a 35 g chocolate bar?</a:t>
            </a:r>
            <a:endParaRPr/>
          </a:p>
        </p:txBody>
      </p:sp>
      <p:graphicFrame>
        <p:nvGraphicFramePr>
          <p:cNvPr id="1392" name="Google Shape;1392;p93"/>
          <p:cNvGraphicFramePr/>
          <p:nvPr/>
        </p:nvGraphicFramePr>
        <p:xfrm>
          <a:off x="6731359" y="1792200"/>
          <a:ext cx="3000000" cy="3000000"/>
        </p:xfrm>
        <a:graphic>
          <a:graphicData uri="http://schemas.openxmlformats.org/drawingml/2006/table">
            <a:tbl>
              <a:tblPr>
                <a:noFill/>
                <a:tableStyleId>{13948374-6AAA-404F-9DE8-2BB181859924}</a:tableStyleId>
              </a:tblPr>
              <a:tblGrid>
                <a:gridCol w="1325450"/>
              </a:tblGrid>
              <a:tr h="38902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Total</a:t>
                      </a:r>
                      <a:endParaRPr sz="1800">
                        <a:solidFill>
                          <a:srgbClr val="FFFFFF"/>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accent5"/>
                    </a:solidFill>
                  </a:tcPr>
                </a:tc>
              </a:tr>
              <a:tr h="389025">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393" name="Google Shape;1393;p93"/>
          <p:cNvGraphicFramePr/>
          <p:nvPr/>
        </p:nvGraphicFramePr>
        <p:xfrm>
          <a:off x="6731359" y="2706600"/>
          <a:ext cx="3000000" cy="3000000"/>
        </p:xfrm>
        <a:graphic>
          <a:graphicData uri="http://schemas.openxmlformats.org/drawingml/2006/table">
            <a:tbl>
              <a:tblPr>
                <a:noFill/>
                <a:tableStyleId>{13948374-6AAA-404F-9DE8-2BB181859924}</a:tableStyleId>
              </a:tblPr>
              <a:tblGrid>
                <a:gridCol w="1325450"/>
              </a:tblGrid>
              <a:tr h="389025">
                <a:tc>
                  <a:txBody>
                    <a:bodyPr/>
                    <a:lstStyle/>
                    <a:p>
                      <a:pPr indent="0" lvl="0" marL="0" rtl="0" algn="ctr">
                        <a:spcBef>
                          <a:spcPts val="0"/>
                        </a:spcBef>
                        <a:spcAft>
                          <a:spcPts val="0"/>
                        </a:spcAft>
                        <a:buNone/>
                      </a:pPr>
                      <a:r>
                        <a:rPr lang="en-GB" sz="1800">
                          <a:latin typeface="Lexend"/>
                          <a:ea typeface="Lexend"/>
                          <a:cs typeface="Lexend"/>
                          <a:sym typeface="Lexend"/>
                        </a:rPr>
                        <a:t>35</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graphicFrame>
        <p:nvGraphicFramePr>
          <p:cNvPr id="1394" name="Google Shape;1394;p93"/>
          <p:cNvGraphicFramePr/>
          <p:nvPr/>
        </p:nvGraphicFramePr>
        <p:xfrm>
          <a:off x="3873859" y="2706600"/>
          <a:ext cx="3000000" cy="3000000"/>
        </p:xfrm>
        <a:graphic>
          <a:graphicData uri="http://schemas.openxmlformats.org/drawingml/2006/table">
            <a:tbl>
              <a:tblPr>
                <a:noFill/>
                <a:tableStyleId>{13948374-6AAA-404F-9DE8-2BB181859924}</a:tableStyleId>
              </a:tblPr>
              <a:tblGrid>
                <a:gridCol w="1425400"/>
                <a:gridCol w="1425400"/>
              </a:tblGrid>
              <a:tr h="389025">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lt1"/>
                    </a:solidFill>
                  </a:tcPr>
                </a:tc>
              </a:tr>
            </a:tbl>
          </a:graphicData>
        </a:graphic>
      </p:graphicFrame>
      <p:sp>
        <p:nvSpPr>
          <p:cNvPr id="1395" name="Google Shape;1395;p93"/>
          <p:cNvSpPr txBox="1"/>
          <p:nvPr/>
        </p:nvSpPr>
        <p:spPr>
          <a:xfrm>
            <a:off x="141000" y="2700000"/>
            <a:ext cx="30000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15 g will be raisins</a:t>
            </a:r>
            <a:endParaRPr/>
          </a:p>
        </p:txBody>
      </p:sp>
      <p:sp>
        <p:nvSpPr>
          <p:cNvPr id="1396" name="Google Shape;1396;p93"/>
          <p:cNvSpPr txBox="1"/>
          <p:nvPr/>
        </p:nvSpPr>
        <p:spPr>
          <a:xfrm>
            <a:off x="141000" y="2166600"/>
            <a:ext cx="30000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Using a ratio table</a:t>
            </a:r>
            <a:endParaRPr/>
          </a:p>
        </p:txBody>
      </p:sp>
      <p:sp>
        <p:nvSpPr>
          <p:cNvPr id="1397" name="Google Shape;1397;p93"/>
          <p:cNvSpPr txBox="1"/>
          <p:nvPr/>
        </p:nvSpPr>
        <p:spPr>
          <a:xfrm>
            <a:off x="369600" y="3614400"/>
            <a:ext cx="33138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Using a ratio notation</a:t>
            </a:r>
            <a:endParaRPr/>
          </a:p>
        </p:txBody>
      </p:sp>
      <p:sp>
        <p:nvSpPr>
          <p:cNvPr id="1398" name="Google Shape;1398;p93"/>
          <p:cNvSpPr txBox="1"/>
          <p:nvPr/>
        </p:nvSpPr>
        <p:spPr>
          <a:xfrm>
            <a:off x="4179600" y="3538200"/>
            <a:ext cx="33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Raisins : Chocolate</a:t>
            </a:r>
            <a:endParaRPr/>
          </a:p>
        </p:txBody>
      </p:sp>
      <p:sp>
        <p:nvSpPr>
          <p:cNvPr id="1399" name="Google Shape;1399;p93"/>
          <p:cNvSpPr txBox="1"/>
          <p:nvPr/>
        </p:nvSpPr>
        <p:spPr>
          <a:xfrm>
            <a:off x="4991100" y="3843000"/>
            <a:ext cx="1054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3</a:t>
            </a:r>
            <a:r>
              <a:rPr lang="en-GB" sz="2200">
                <a:solidFill>
                  <a:schemeClr val="dk1"/>
                </a:solidFill>
                <a:latin typeface="Lexend"/>
                <a:ea typeface="Lexend"/>
                <a:cs typeface="Lexend"/>
                <a:sym typeface="Lexend"/>
              </a:rPr>
              <a:t> : 4</a:t>
            </a:r>
            <a:endParaRPr/>
          </a:p>
        </p:txBody>
      </p:sp>
      <p:sp>
        <p:nvSpPr>
          <p:cNvPr id="1400" name="Google Shape;1400;p93"/>
          <p:cNvSpPr txBox="1"/>
          <p:nvPr/>
        </p:nvSpPr>
        <p:spPr>
          <a:xfrm>
            <a:off x="6591300" y="3843000"/>
            <a:ext cx="2247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Total = 7 </a:t>
            </a:r>
            <a:endParaRPr/>
          </a:p>
        </p:txBody>
      </p:sp>
      <p:sp>
        <p:nvSpPr>
          <p:cNvPr id="1401" name="Google Shape;1401;p93"/>
          <p:cNvSpPr txBox="1"/>
          <p:nvPr/>
        </p:nvSpPr>
        <p:spPr>
          <a:xfrm>
            <a:off x="6591300" y="4224000"/>
            <a:ext cx="2247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Total = 35 </a:t>
            </a:r>
            <a:endParaRPr/>
          </a:p>
        </p:txBody>
      </p:sp>
      <p:sp>
        <p:nvSpPr>
          <p:cNvPr id="1402" name="Google Shape;1402;p93"/>
          <p:cNvSpPr txBox="1"/>
          <p:nvPr/>
        </p:nvSpPr>
        <p:spPr>
          <a:xfrm>
            <a:off x="4838700" y="4224000"/>
            <a:ext cx="1054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15</a:t>
            </a:r>
            <a:r>
              <a:rPr lang="en-GB" sz="2200">
                <a:solidFill>
                  <a:schemeClr val="dk1"/>
                </a:solidFill>
                <a:latin typeface="Lexend"/>
                <a:ea typeface="Lexend"/>
                <a:cs typeface="Lexend"/>
                <a:sym typeface="Lexend"/>
              </a:rPr>
              <a:t> : 20</a:t>
            </a:r>
            <a:endParaRPr/>
          </a:p>
        </p:txBody>
      </p:sp>
      <p:sp>
        <p:nvSpPr>
          <p:cNvPr id="1403" name="Google Shape;1403;p93"/>
          <p:cNvSpPr txBox="1"/>
          <p:nvPr/>
        </p:nvSpPr>
        <p:spPr>
          <a:xfrm>
            <a:off x="369600" y="4071600"/>
            <a:ext cx="3000000" cy="338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15 g will be raisins</a:t>
            </a:r>
            <a:endParaRPr/>
          </a:p>
        </p:txBody>
      </p:sp>
      <p:grpSp>
        <p:nvGrpSpPr>
          <p:cNvPr id="1404" name="Google Shape;1404;p93"/>
          <p:cNvGrpSpPr/>
          <p:nvPr/>
        </p:nvGrpSpPr>
        <p:grpSpPr>
          <a:xfrm>
            <a:off x="8003549" y="2285775"/>
            <a:ext cx="1096801" cy="739100"/>
            <a:chOff x="8155949" y="2285775"/>
            <a:chExt cx="1096801" cy="739100"/>
          </a:xfrm>
        </p:grpSpPr>
        <p:pic>
          <p:nvPicPr>
            <p:cNvPr id="1405" name="Google Shape;1405;p93"/>
            <p:cNvPicPr preferRelativeResize="0"/>
            <p:nvPr/>
          </p:nvPicPr>
          <p:blipFill rotWithShape="1">
            <a:blip r:embed="rId3">
              <a:alphaModFix/>
            </a:blip>
            <a:srcRect b="59597" l="61559" r="13951" t="27330"/>
            <a:stretch/>
          </p:blipFill>
          <p:spPr>
            <a:xfrm rot="5400000">
              <a:off x="8039125" y="2402599"/>
              <a:ext cx="739100" cy="505451"/>
            </a:xfrm>
            <a:prstGeom prst="rect">
              <a:avLst/>
            </a:prstGeom>
            <a:noFill/>
            <a:ln>
              <a:noFill/>
            </a:ln>
          </p:spPr>
        </p:pic>
        <p:sp>
          <p:nvSpPr>
            <p:cNvPr id="1406" name="Google Shape;1406;p93"/>
            <p:cNvSpPr txBox="1"/>
            <p:nvPr/>
          </p:nvSpPr>
          <p:spPr>
            <a:xfrm>
              <a:off x="8588550" y="2352000"/>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grpSp>
      <p:grpSp>
        <p:nvGrpSpPr>
          <p:cNvPr id="1407" name="Google Shape;1407;p93"/>
          <p:cNvGrpSpPr/>
          <p:nvPr/>
        </p:nvGrpSpPr>
        <p:grpSpPr>
          <a:xfrm>
            <a:off x="3087250" y="2273075"/>
            <a:ext cx="839598" cy="739100"/>
            <a:chOff x="3239650" y="2273075"/>
            <a:chExt cx="839598" cy="739100"/>
          </a:xfrm>
        </p:grpSpPr>
        <p:pic>
          <p:nvPicPr>
            <p:cNvPr id="1408" name="Google Shape;1408;p93"/>
            <p:cNvPicPr preferRelativeResize="0"/>
            <p:nvPr/>
          </p:nvPicPr>
          <p:blipFill rotWithShape="1">
            <a:blip r:embed="rId3">
              <a:alphaModFix/>
            </a:blip>
            <a:srcRect b="59597" l="61559" r="13951" t="27330"/>
            <a:stretch/>
          </p:blipFill>
          <p:spPr>
            <a:xfrm flipH="1" rot="-5400000">
              <a:off x="3467123" y="2400050"/>
              <a:ext cx="739100" cy="485149"/>
            </a:xfrm>
            <a:prstGeom prst="rect">
              <a:avLst/>
            </a:prstGeom>
            <a:noFill/>
            <a:ln>
              <a:noFill/>
            </a:ln>
          </p:spPr>
        </p:pic>
        <p:sp>
          <p:nvSpPr>
            <p:cNvPr id="1409" name="Google Shape;1409;p93"/>
            <p:cNvSpPr txBox="1"/>
            <p:nvPr/>
          </p:nvSpPr>
          <p:spPr>
            <a:xfrm>
              <a:off x="3239650" y="2352000"/>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grpSp>
      <p:grpSp>
        <p:nvGrpSpPr>
          <p:cNvPr id="1410" name="Google Shape;1410;p93"/>
          <p:cNvGrpSpPr/>
          <p:nvPr/>
        </p:nvGrpSpPr>
        <p:grpSpPr>
          <a:xfrm>
            <a:off x="8003549" y="3962175"/>
            <a:ext cx="1045576" cy="739100"/>
            <a:chOff x="8003549" y="3962175"/>
            <a:chExt cx="1045576" cy="739100"/>
          </a:xfrm>
        </p:grpSpPr>
        <p:pic>
          <p:nvPicPr>
            <p:cNvPr id="1411" name="Google Shape;1411;p93"/>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412" name="Google Shape;1412;p93"/>
            <p:cNvSpPr txBox="1"/>
            <p:nvPr/>
          </p:nvSpPr>
          <p:spPr>
            <a:xfrm>
              <a:off x="8384925" y="4021200"/>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grpSp>
      <p:grpSp>
        <p:nvGrpSpPr>
          <p:cNvPr id="1413" name="Google Shape;1413;p93"/>
          <p:cNvGrpSpPr/>
          <p:nvPr/>
        </p:nvGrpSpPr>
        <p:grpSpPr>
          <a:xfrm>
            <a:off x="3926850" y="3949475"/>
            <a:ext cx="914398" cy="739100"/>
            <a:chOff x="3926850" y="3949475"/>
            <a:chExt cx="914398" cy="739100"/>
          </a:xfrm>
        </p:grpSpPr>
        <p:pic>
          <p:nvPicPr>
            <p:cNvPr id="1414" name="Google Shape;1414;p93"/>
            <p:cNvPicPr preferRelativeResize="0"/>
            <p:nvPr/>
          </p:nvPicPr>
          <p:blipFill rotWithShape="1">
            <a:blip r:embed="rId3">
              <a:alphaModFix/>
            </a:blip>
            <a:srcRect b="59597" l="61559" r="13951" t="27330"/>
            <a:stretch/>
          </p:blipFill>
          <p:spPr>
            <a:xfrm flipH="1" rot="-5400000">
              <a:off x="4229123" y="4076450"/>
              <a:ext cx="739100" cy="485149"/>
            </a:xfrm>
            <a:prstGeom prst="rect">
              <a:avLst/>
            </a:prstGeom>
            <a:noFill/>
            <a:ln>
              <a:noFill/>
            </a:ln>
          </p:spPr>
        </p:pic>
        <p:sp>
          <p:nvSpPr>
            <p:cNvPr id="1415" name="Google Shape;1415;p93"/>
            <p:cNvSpPr txBox="1"/>
            <p:nvPr/>
          </p:nvSpPr>
          <p:spPr>
            <a:xfrm>
              <a:off x="3926850" y="4021200"/>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94"/>
          <p:cNvSpPr txBox="1"/>
          <p:nvPr>
            <p:ph idx="1" type="subTitle"/>
          </p:nvPr>
        </p:nvSpPr>
        <p:spPr>
          <a:xfrm>
            <a:off x="337825" y="810000"/>
            <a:ext cx="3982200" cy="197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orange smoothie is made up of 2 parts orange juice and 3 parts milk. </a:t>
            </a:r>
            <a:endParaRPr/>
          </a:p>
          <a:p>
            <a:pPr indent="0" lvl="0" marL="0" rtl="0" algn="l">
              <a:spcBef>
                <a:spcPts val="1000"/>
              </a:spcBef>
              <a:spcAft>
                <a:spcPts val="0"/>
              </a:spcAft>
              <a:buNone/>
            </a:pPr>
            <a:r>
              <a:rPr lang="en-GB"/>
              <a:t>Laura only has 120 ml of of milk. How much orange juice does she need?</a:t>
            </a:r>
            <a:endParaRPr/>
          </a:p>
          <a:p>
            <a:pPr indent="0" lvl="0" marL="0" rtl="0" algn="l">
              <a:spcBef>
                <a:spcPts val="1000"/>
              </a:spcBef>
              <a:spcAft>
                <a:spcPts val="1000"/>
              </a:spcAft>
              <a:buNone/>
            </a:pPr>
            <a:r>
              <a:t/>
            </a:r>
            <a:endParaRPr/>
          </a:p>
        </p:txBody>
      </p:sp>
      <p:sp>
        <p:nvSpPr>
          <p:cNvPr id="1421" name="Google Shape;1421;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different representations of ratio</a:t>
            </a:r>
            <a:endParaRPr/>
          </a:p>
        </p:txBody>
      </p:sp>
      <p:sp>
        <p:nvSpPr>
          <p:cNvPr id="1422" name="Google Shape;1422;p94"/>
          <p:cNvSpPr txBox="1"/>
          <p:nvPr/>
        </p:nvSpPr>
        <p:spPr>
          <a:xfrm>
            <a:off x="1207800" y="2547600"/>
            <a:ext cx="33138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Orange</a:t>
            </a:r>
            <a:r>
              <a:rPr lang="en-GB" sz="1900">
                <a:solidFill>
                  <a:schemeClr val="dk1"/>
                </a:solidFill>
                <a:latin typeface="Lexend"/>
                <a:ea typeface="Lexend"/>
                <a:cs typeface="Lexend"/>
                <a:sym typeface="Lexend"/>
              </a:rPr>
              <a:t> : Milk</a:t>
            </a:r>
            <a:endParaRPr sz="1900"/>
          </a:p>
        </p:txBody>
      </p:sp>
      <p:sp>
        <p:nvSpPr>
          <p:cNvPr id="1423" name="Google Shape;1423;p94"/>
          <p:cNvSpPr txBox="1"/>
          <p:nvPr/>
        </p:nvSpPr>
        <p:spPr>
          <a:xfrm>
            <a:off x="1962336" y="3004800"/>
            <a:ext cx="1187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a:t>
            </a:r>
            <a:r>
              <a:rPr lang="en-GB" sz="2000">
                <a:solidFill>
                  <a:schemeClr val="dk1"/>
                </a:solidFill>
                <a:latin typeface="Lexend"/>
                <a:ea typeface="Lexend"/>
                <a:cs typeface="Lexend"/>
                <a:sym typeface="Lexend"/>
              </a:rPr>
              <a:t> : 3</a:t>
            </a:r>
            <a:endParaRPr sz="2000"/>
          </a:p>
        </p:txBody>
      </p:sp>
      <p:sp>
        <p:nvSpPr>
          <p:cNvPr id="1424" name="Google Shape;1424;p94"/>
          <p:cNvSpPr txBox="1"/>
          <p:nvPr/>
        </p:nvSpPr>
        <p:spPr>
          <a:xfrm>
            <a:off x="1828800" y="3500100"/>
            <a:ext cx="1187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     </a:t>
            </a:r>
            <a:r>
              <a:rPr lang="en-GB" sz="2000">
                <a:solidFill>
                  <a:schemeClr val="dk1"/>
                </a:solidFill>
                <a:latin typeface="Lexend"/>
                <a:ea typeface="Lexend"/>
                <a:cs typeface="Lexend"/>
                <a:sym typeface="Lexend"/>
              </a:rPr>
              <a:t>: 120</a:t>
            </a:r>
            <a:endParaRPr sz="2000"/>
          </a:p>
        </p:txBody>
      </p:sp>
      <p:sp>
        <p:nvSpPr>
          <p:cNvPr id="1425" name="Google Shape;1425;p94"/>
          <p:cNvSpPr txBox="1"/>
          <p:nvPr/>
        </p:nvSpPr>
        <p:spPr>
          <a:xfrm>
            <a:off x="1600200" y="3500100"/>
            <a:ext cx="1676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   80 : 120</a:t>
            </a:r>
            <a:endParaRPr sz="2000"/>
          </a:p>
        </p:txBody>
      </p:sp>
      <p:grpSp>
        <p:nvGrpSpPr>
          <p:cNvPr id="1426" name="Google Shape;1426;p94"/>
          <p:cNvGrpSpPr/>
          <p:nvPr/>
        </p:nvGrpSpPr>
        <p:grpSpPr>
          <a:xfrm>
            <a:off x="2836912" y="3069049"/>
            <a:ext cx="1065363" cy="874725"/>
            <a:chOff x="8003549" y="3962175"/>
            <a:chExt cx="1065363" cy="739100"/>
          </a:xfrm>
        </p:grpSpPr>
        <p:pic>
          <p:nvPicPr>
            <p:cNvPr id="1427" name="Google Shape;1427;p94"/>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428" name="Google Shape;1428;p94"/>
            <p:cNvSpPr txBox="1"/>
            <p:nvPr/>
          </p:nvSpPr>
          <p:spPr>
            <a:xfrm>
              <a:off x="8404713" y="4032878"/>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×40</a:t>
              </a:r>
              <a:endParaRPr sz="2200">
                <a:solidFill>
                  <a:schemeClr val="dk1"/>
                </a:solidFill>
                <a:latin typeface="Lexend"/>
                <a:ea typeface="Lexend"/>
                <a:cs typeface="Lexend"/>
                <a:sym typeface="Lexend"/>
              </a:endParaRPr>
            </a:p>
          </p:txBody>
        </p:sp>
      </p:grpSp>
      <p:grpSp>
        <p:nvGrpSpPr>
          <p:cNvPr id="1429" name="Google Shape;1429;p94"/>
          <p:cNvGrpSpPr/>
          <p:nvPr/>
        </p:nvGrpSpPr>
        <p:grpSpPr>
          <a:xfrm>
            <a:off x="845775" y="3117966"/>
            <a:ext cx="1025023" cy="874725"/>
            <a:chOff x="3511425" y="3949475"/>
            <a:chExt cx="1025023" cy="739100"/>
          </a:xfrm>
        </p:grpSpPr>
        <p:pic>
          <p:nvPicPr>
            <p:cNvPr id="1430" name="Google Shape;1430;p94"/>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431" name="Google Shape;1431;p94"/>
            <p:cNvSpPr txBox="1"/>
            <p:nvPr/>
          </p:nvSpPr>
          <p:spPr>
            <a:xfrm>
              <a:off x="3511425" y="4039046"/>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×40</a:t>
              </a:r>
              <a:endParaRPr sz="2200">
                <a:solidFill>
                  <a:schemeClr val="dk1"/>
                </a:solidFill>
                <a:latin typeface="Lexend"/>
                <a:ea typeface="Lexend"/>
                <a:cs typeface="Lexend"/>
                <a:sym typeface="Lexend"/>
              </a:endParaRPr>
            </a:p>
          </p:txBody>
        </p:sp>
      </p:grpSp>
      <p:sp>
        <p:nvSpPr>
          <p:cNvPr id="1432" name="Google Shape;1432;p94"/>
          <p:cNvSpPr txBox="1"/>
          <p:nvPr/>
        </p:nvSpPr>
        <p:spPr>
          <a:xfrm>
            <a:off x="369600" y="4229100"/>
            <a:ext cx="3707100" cy="4617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1000"/>
              </a:spcAft>
              <a:buNone/>
            </a:pPr>
            <a:r>
              <a:rPr lang="en-GB" sz="1800">
                <a:solidFill>
                  <a:schemeClr val="dk1"/>
                </a:solidFill>
                <a:latin typeface="Lexend"/>
                <a:ea typeface="Lexend"/>
                <a:cs typeface="Lexend"/>
                <a:sym typeface="Lexend"/>
              </a:rPr>
              <a:t>Laura needs 80 ml of orange.</a:t>
            </a:r>
            <a:endParaRPr/>
          </a:p>
        </p:txBody>
      </p:sp>
      <p:sp>
        <p:nvSpPr>
          <p:cNvPr id="1433" name="Google Shape;1433;p94"/>
          <p:cNvSpPr txBox="1"/>
          <p:nvPr>
            <p:ph idx="1" type="subTitle"/>
          </p:nvPr>
        </p:nvSpPr>
        <p:spPr>
          <a:xfrm>
            <a:off x="4757425" y="810000"/>
            <a:ext cx="3982200" cy="197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To make a glue, 5 parts are PVA and 2 parts are water.</a:t>
            </a:r>
            <a:endParaRPr/>
          </a:p>
          <a:p>
            <a:pPr indent="0" lvl="0" marL="0" rtl="0" algn="l">
              <a:spcBef>
                <a:spcPts val="1000"/>
              </a:spcBef>
              <a:spcAft>
                <a:spcPts val="0"/>
              </a:spcAft>
              <a:buNone/>
            </a:pPr>
            <a:r>
              <a:rPr lang="en-GB"/>
              <a:t>Andeep only has 20 ml of PVA. How much water should he add to make the glue?</a:t>
            </a:r>
            <a:endParaRPr/>
          </a:p>
          <a:p>
            <a:pPr indent="0" lvl="0" marL="0" rtl="0" algn="l">
              <a:spcBef>
                <a:spcPts val="1000"/>
              </a:spcBef>
              <a:spcAft>
                <a:spcPts val="1000"/>
              </a:spcAft>
              <a:buNone/>
            </a:pPr>
            <a:r>
              <a:t/>
            </a:r>
            <a:endParaRPr/>
          </a:p>
        </p:txBody>
      </p:sp>
      <p:sp>
        <p:nvSpPr>
          <p:cNvPr id="1434" name="Google Shape;1434;p94"/>
          <p:cNvSpPr txBox="1"/>
          <p:nvPr/>
        </p:nvSpPr>
        <p:spPr>
          <a:xfrm>
            <a:off x="6008400" y="2547600"/>
            <a:ext cx="33138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PVA</a:t>
            </a:r>
            <a:r>
              <a:rPr lang="en-GB" sz="1900">
                <a:solidFill>
                  <a:schemeClr val="dk1"/>
                </a:solidFill>
                <a:latin typeface="Lexend"/>
                <a:ea typeface="Lexend"/>
                <a:cs typeface="Lexend"/>
                <a:sym typeface="Lexend"/>
              </a:rPr>
              <a:t> : Water</a:t>
            </a:r>
            <a:endParaRPr sz="1900"/>
          </a:p>
        </p:txBody>
      </p:sp>
      <p:sp>
        <p:nvSpPr>
          <p:cNvPr id="1435" name="Google Shape;1435;p94"/>
          <p:cNvSpPr txBox="1"/>
          <p:nvPr/>
        </p:nvSpPr>
        <p:spPr>
          <a:xfrm>
            <a:off x="6381936" y="3004800"/>
            <a:ext cx="1187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5 </a:t>
            </a:r>
            <a:r>
              <a:rPr lang="en-GB" sz="2000">
                <a:solidFill>
                  <a:schemeClr val="dk1"/>
                </a:solidFill>
                <a:latin typeface="Lexend"/>
                <a:ea typeface="Lexend"/>
                <a:cs typeface="Lexend"/>
                <a:sym typeface="Lexend"/>
              </a:rPr>
              <a:t>: 2</a:t>
            </a:r>
            <a:endParaRPr sz="2000"/>
          </a:p>
        </p:txBody>
      </p:sp>
      <p:sp>
        <p:nvSpPr>
          <p:cNvPr id="1436" name="Google Shape;1436;p94"/>
          <p:cNvSpPr txBox="1"/>
          <p:nvPr/>
        </p:nvSpPr>
        <p:spPr>
          <a:xfrm>
            <a:off x="6248400" y="3500100"/>
            <a:ext cx="1187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20 </a:t>
            </a:r>
            <a:r>
              <a:rPr lang="en-GB" sz="2000">
                <a:solidFill>
                  <a:schemeClr val="dk1"/>
                </a:solidFill>
                <a:latin typeface="Lexend"/>
                <a:ea typeface="Lexend"/>
                <a:cs typeface="Lexend"/>
                <a:sym typeface="Lexend"/>
              </a:rPr>
              <a:t>: </a:t>
            </a:r>
            <a:endParaRPr sz="2000"/>
          </a:p>
        </p:txBody>
      </p:sp>
      <p:grpSp>
        <p:nvGrpSpPr>
          <p:cNvPr id="1437" name="Google Shape;1437;p94"/>
          <p:cNvGrpSpPr/>
          <p:nvPr/>
        </p:nvGrpSpPr>
        <p:grpSpPr>
          <a:xfrm>
            <a:off x="6975024" y="3069037"/>
            <a:ext cx="1044876" cy="874725"/>
            <a:chOff x="7470474" y="3957105"/>
            <a:chExt cx="1044876" cy="739100"/>
          </a:xfrm>
        </p:grpSpPr>
        <p:pic>
          <p:nvPicPr>
            <p:cNvPr id="1438" name="Google Shape;1438;p94"/>
            <p:cNvPicPr preferRelativeResize="0"/>
            <p:nvPr/>
          </p:nvPicPr>
          <p:blipFill rotWithShape="1">
            <a:blip r:embed="rId3">
              <a:alphaModFix/>
            </a:blip>
            <a:srcRect b="59597" l="61559" r="13951" t="27330"/>
            <a:stretch/>
          </p:blipFill>
          <p:spPr>
            <a:xfrm rot="5400000">
              <a:off x="7353650" y="4073930"/>
              <a:ext cx="739100" cy="505451"/>
            </a:xfrm>
            <a:prstGeom prst="rect">
              <a:avLst/>
            </a:prstGeom>
            <a:noFill/>
            <a:ln>
              <a:noFill/>
            </a:ln>
          </p:spPr>
        </p:pic>
        <p:sp>
          <p:nvSpPr>
            <p:cNvPr id="1439" name="Google Shape;1439;p94"/>
            <p:cNvSpPr txBox="1"/>
            <p:nvPr/>
          </p:nvSpPr>
          <p:spPr>
            <a:xfrm>
              <a:off x="7851150" y="4028400"/>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sz="2200">
                <a:solidFill>
                  <a:schemeClr val="dk1"/>
                </a:solidFill>
                <a:latin typeface="Lexend"/>
                <a:ea typeface="Lexend"/>
                <a:cs typeface="Lexend"/>
                <a:sym typeface="Lexend"/>
              </a:endParaRPr>
            </a:p>
          </p:txBody>
        </p:sp>
      </p:grpSp>
      <p:grpSp>
        <p:nvGrpSpPr>
          <p:cNvPr id="1440" name="Google Shape;1440;p94"/>
          <p:cNvGrpSpPr/>
          <p:nvPr/>
        </p:nvGrpSpPr>
        <p:grpSpPr>
          <a:xfrm>
            <a:off x="5429138" y="3069028"/>
            <a:ext cx="866560" cy="874725"/>
            <a:chOff x="3669888" y="3949475"/>
            <a:chExt cx="866560" cy="739100"/>
          </a:xfrm>
        </p:grpSpPr>
        <p:pic>
          <p:nvPicPr>
            <p:cNvPr id="1441" name="Google Shape;1441;p94"/>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442" name="Google Shape;1442;p94"/>
            <p:cNvSpPr txBox="1"/>
            <p:nvPr/>
          </p:nvSpPr>
          <p:spPr>
            <a:xfrm>
              <a:off x="3669888" y="4039046"/>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sz="2200">
                <a:solidFill>
                  <a:schemeClr val="dk1"/>
                </a:solidFill>
                <a:latin typeface="Lexend"/>
                <a:ea typeface="Lexend"/>
                <a:cs typeface="Lexend"/>
                <a:sym typeface="Lexend"/>
              </a:endParaRPr>
            </a:p>
          </p:txBody>
        </p:sp>
      </p:grpSp>
      <p:sp>
        <p:nvSpPr>
          <p:cNvPr id="1443" name="Google Shape;1443;p94"/>
          <p:cNvSpPr txBox="1"/>
          <p:nvPr/>
        </p:nvSpPr>
        <p:spPr>
          <a:xfrm>
            <a:off x="4789200" y="4229100"/>
            <a:ext cx="3707100" cy="4617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1000"/>
              </a:spcAft>
              <a:buNone/>
            </a:pPr>
            <a:r>
              <a:rPr lang="en-GB" sz="1800">
                <a:solidFill>
                  <a:schemeClr val="dk1"/>
                </a:solidFill>
                <a:latin typeface="Lexend"/>
                <a:ea typeface="Lexend"/>
                <a:cs typeface="Lexend"/>
                <a:sym typeface="Lexend"/>
              </a:rPr>
              <a:t>Andeep </a:t>
            </a:r>
            <a:r>
              <a:rPr lang="en-GB" sz="1800">
                <a:solidFill>
                  <a:schemeClr val="dk1"/>
                </a:solidFill>
                <a:latin typeface="Lexend"/>
                <a:ea typeface="Lexend"/>
                <a:cs typeface="Lexend"/>
                <a:sym typeface="Lexend"/>
              </a:rPr>
              <a:t>needs 8 ml of water.</a:t>
            </a:r>
            <a:endParaRPr/>
          </a:p>
        </p:txBody>
      </p:sp>
      <p:sp>
        <p:nvSpPr>
          <p:cNvPr id="1444" name="Google Shape;1444;p94"/>
          <p:cNvSpPr txBox="1"/>
          <p:nvPr/>
        </p:nvSpPr>
        <p:spPr>
          <a:xfrm>
            <a:off x="6248400" y="3500100"/>
            <a:ext cx="1187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20 : 8</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95"/>
          <p:cNvSpPr txBox="1"/>
          <p:nvPr>
            <p:ph idx="1" type="body"/>
          </p:nvPr>
        </p:nvSpPr>
        <p:spPr>
          <a:xfrm>
            <a:off x="324000" y="6069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 a bag there are only </a:t>
            </a:r>
            <a:r>
              <a:rPr lang="en-GB"/>
              <a:t>triangles</a:t>
            </a:r>
            <a:r>
              <a:rPr lang="en-GB"/>
              <a:t> and squares. The ratio of </a:t>
            </a:r>
            <a:r>
              <a:rPr lang="en-GB"/>
              <a:t>triangles</a:t>
            </a:r>
            <a:r>
              <a:rPr lang="en-GB"/>
              <a:t> to squares is 4 : 1. There are 40 shapes in total.</a:t>
            </a:r>
            <a:endParaRPr/>
          </a:p>
          <a:p>
            <a:pPr indent="0" lvl="0" marL="0" rtl="0" algn="l">
              <a:spcBef>
                <a:spcPts val="1000"/>
              </a:spcBef>
              <a:spcAft>
                <a:spcPts val="0"/>
              </a:spcAft>
              <a:buNone/>
            </a:pPr>
            <a:r>
              <a:t/>
            </a:r>
            <a:endParaRPr sz="17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sz="1000"/>
          </a:p>
          <a:p>
            <a:pPr indent="0" lvl="0" marL="0" rtl="0" algn="l">
              <a:spcBef>
                <a:spcPts val="1000"/>
              </a:spcBef>
              <a:spcAft>
                <a:spcPts val="1000"/>
              </a:spcAft>
              <a:buNone/>
            </a:pPr>
            <a:r>
              <a:rPr lang="en-GB"/>
              <a:t>Who is correct? Explain </a:t>
            </a:r>
            <a:r>
              <a:rPr lang="en-GB"/>
              <a:t>where the other pupil made their mistake.</a:t>
            </a:r>
            <a:endParaRPr/>
          </a:p>
        </p:txBody>
      </p:sp>
      <p:sp>
        <p:nvSpPr>
          <p:cNvPr id="1450" name="Google Shape;1450;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different representations of ratio</a:t>
            </a:r>
            <a:endParaRPr/>
          </a:p>
        </p:txBody>
      </p:sp>
      <p:sp>
        <p:nvSpPr>
          <p:cNvPr id="1451" name="Google Shape;1451;p95"/>
          <p:cNvSpPr txBox="1"/>
          <p:nvPr/>
        </p:nvSpPr>
        <p:spPr>
          <a:xfrm>
            <a:off x="20744" y="32018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b="1" sz="1800">
              <a:latin typeface="Lexend"/>
              <a:ea typeface="Lexend"/>
              <a:cs typeface="Lexend"/>
              <a:sym typeface="Lexend"/>
            </a:endParaRPr>
          </a:p>
        </p:txBody>
      </p:sp>
      <p:pic>
        <p:nvPicPr>
          <p:cNvPr id="1452" name="Google Shape;1452;p95"/>
          <p:cNvPicPr preferRelativeResize="0"/>
          <p:nvPr/>
        </p:nvPicPr>
        <p:blipFill>
          <a:blip r:embed="rId3">
            <a:alphaModFix/>
          </a:blip>
          <a:stretch>
            <a:fillRect/>
          </a:stretch>
        </p:blipFill>
        <p:spPr>
          <a:xfrm>
            <a:off x="348732" y="2286850"/>
            <a:ext cx="705943" cy="1016575"/>
          </a:xfrm>
          <a:prstGeom prst="rect">
            <a:avLst/>
          </a:prstGeom>
          <a:noFill/>
          <a:ln>
            <a:noFill/>
          </a:ln>
        </p:spPr>
      </p:pic>
      <p:pic>
        <p:nvPicPr>
          <p:cNvPr id="1453" name="Google Shape;1453;p95"/>
          <p:cNvPicPr preferRelativeResize="0"/>
          <p:nvPr/>
        </p:nvPicPr>
        <p:blipFill rotWithShape="1">
          <a:blip r:embed="rId4">
            <a:alphaModFix/>
          </a:blip>
          <a:srcRect b="43690" l="0" r="57905" t="0"/>
          <a:stretch/>
        </p:blipFill>
        <p:spPr>
          <a:xfrm flipH="1">
            <a:off x="946573" y="1476075"/>
            <a:ext cx="3498327" cy="2387000"/>
          </a:xfrm>
          <a:prstGeom prst="rect">
            <a:avLst/>
          </a:prstGeom>
          <a:noFill/>
          <a:ln>
            <a:noFill/>
          </a:ln>
        </p:spPr>
      </p:pic>
      <p:sp>
        <p:nvSpPr>
          <p:cNvPr id="1454" name="Google Shape;1454;p95"/>
          <p:cNvSpPr txBox="1"/>
          <p:nvPr/>
        </p:nvSpPr>
        <p:spPr>
          <a:xfrm>
            <a:off x="1155700" y="1551675"/>
            <a:ext cx="3289200" cy="189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Triangles :  Squares</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4 : 1</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40 : 10</a:t>
            </a:r>
            <a:endParaRPr sz="22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There are 40 </a:t>
            </a:r>
            <a:r>
              <a:rPr lang="en-GB" sz="2200">
                <a:solidFill>
                  <a:schemeClr val="dk1"/>
                </a:solidFill>
                <a:latin typeface="Lexend"/>
                <a:ea typeface="Lexend"/>
                <a:cs typeface="Lexend"/>
                <a:sym typeface="Lexend"/>
              </a:rPr>
              <a:t>triangles</a:t>
            </a:r>
            <a:r>
              <a:rPr lang="en-GB" sz="2200">
                <a:solidFill>
                  <a:schemeClr val="dk1"/>
                </a:solidFill>
                <a:latin typeface="Lexend"/>
                <a:ea typeface="Lexend"/>
                <a:cs typeface="Lexend"/>
                <a:sym typeface="Lexend"/>
              </a:rPr>
              <a:t> and 10 squares.</a:t>
            </a:r>
            <a:endParaRPr sz="2200">
              <a:solidFill>
                <a:schemeClr val="dk1"/>
              </a:solidFill>
              <a:latin typeface="Lexend"/>
              <a:ea typeface="Lexend"/>
              <a:cs typeface="Lexend"/>
              <a:sym typeface="Lexend"/>
            </a:endParaRPr>
          </a:p>
        </p:txBody>
      </p:sp>
      <p:pic>
        <p:nvPicPr>
          <p:cNvPr id="1455" name="Google Shape;1455;p95"/>
          <p:cNvPicPr preferRelativeResize="0"/>
          <p:nvPr/>
        </p:nvPicPr>
        <p:blipFill>
          <a:blip r:embed="rId5">
            <a:alphaModFix/>
          </a:blip>
          <a:stretch>
            <a:fillRect/>
          </a:stretch>
        </p:blipFill>
        <p:spPr>
          <a:xfrm>
            <a:off x="7915790" y="2490713"/>
            <a:ext cx="807760" cy="896090"/>
          </a:xfrm>
          <a:prstGeom prst="rect">
            <a:avLst/>
          </a:prstGeom>
          <a:noFill/>
          <a:ln>
            <a:noFill/>
          </a:ln>
        </p:spPr>
      </p:pic>
      <p:sp>
        <p:nvSpPr>
          <p:cNvPr id="1456" name="Google Shape;1456;p95"/>
          <p:cNvSpPr txBox="1"/>
          <p:nvPr/>
        </p:nvSpPr>
        <p:spPr>
          <a:xfrm>
            <a:off x="7700950" y="34554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p:txBody>
      </p:sp>
      <p:pic>
        <p:nvPicPr>
          <p:cNvPr id="1457" name="Google Shape;1457;p95"/>
          <p:cNvPicPr preferRelativeResize="0"/>
          <p:nvPr/>
        </p:nvPicPr>
        <p:blipFill rotWithShape="1">
          <a:blip r:embed="rId4">
            <a:alphaModFix/>
          </a:blip>
          <a:srcRect b="43690" l="0" r="57905" t="0"/>
          <a:stretch/>
        </p:blipFill>
        <p:spPr>
          <a:xfrm>
            <a:off x="4566175" y="1476075"/>
            <a:ext cx="3498327" cy="2387000"/>
          </a:xfrm>
          <a:prstGeom prst="rect">
            <a:avLst/>
          </a:prstGeom>
          <a:noFill/>
          <a:ln>
            <a:noFill/>
          </a:ln>
        </p:spPr>
      </p:pic>
      <p:sp>
        <p:nvSpPr>
          <p:cNvPr id="1458" name="Google Shape;1458;p95"/>
          <p:cNvSpPr txBox="1"/>
          <p:nvPr/>
        </p:nvSpPr>
        <p:spPr>
          <a:xfrm>
            <a:off x="4584700" y="1551675"/>
            <a:ext cx="3289200" cy="189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Triangles :  Squares</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4 : 1          total = 5</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32 : 8          total = 40</a:t>
            </a:r>
            <a:endParaRPr sz="1900">
              <a:solidFill>
                <a:schemeClr val="dk1"/>
              </a:solidFill>
              <a:latin typeface="Lexend"/>
              <a:ea typeface="Lexend"/>
              <a:cs typeface="Lexend"/>
              <a:sym typeface="Lexend"/>
            </a:endParaRPr>
          </a:p>
          <a:p>
            <a:pPr indent="0" lvl="0" marL="0" rtl="0" algn="ctr">
              <a:spcBef>
                <a:spcPts val="0"/>
              </a:spcBef>
              <a:spcAft>
                <a:spcPts val="0"/>
              </a:spcAft>
              <a:buNone/>
            </a:pPr>
            <a:r>
              <a:t/>
            </a:r>
            <a:endParaRPr sz="10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There are 32 triangles and 8 squares.</a:t>
            </a:r>
            <a:endParaRPr sz="1900">
              <a:solidFill>
                <a:schemeClr val="dk1"/>
              </a:solidFill>
              <a:latin typeface="Lexend"/>
              <a:ea typeface="Lexend"/>
              <a:cs typeface="Lexend"/>
              <a:sym typeface="Lexend"/>
            </a:endParaRPr>
          </a:p>
        </p:txBody>
      </p:sp>
      <p:sp>
        <p:nvSpPr>
          <p:cNvPr id="1459" name="Google Shape;1459;p95"/>
          <p:cNvSpPr txBox="1"/>
          <p:nvPr/>
        </p:nvSpPr>
        <p:spPr>
          <a:xfrm>
            <a:off x="1508500" y="4091400"/>
            <a:ext cx="68481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Sofia. Sam misunderstood as there are a total of 40 shapes, not 40 triangles.</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96"/>
          <p:cNvSpPr txBox="1"/>
          <p:nvPr>
            <p:ph idx="1" type="body"/>
          </p:nvPr>
        </p:nvSpPr>
        <p:spPr>
          <a:xfrm>
            <a:off x="324000" y="759300"/>
            <a:ext cx="8237700" cy="4494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blanks to complete the work.</a:t>
            </a:r>
            <a:endParaRPr/>
          </a:p>
          <a:p>
            <a:pPr indent="0" lvl="0" marL="0" rtl="0" algn="l">
              <a:spcBef>
                <a:spcPts val="1000"/>
              </a:spcBef>
              <a:spcAft>
                <a:spcPts val="1000"/>
              </a:spcAft>
              <a:buNone/>
            </a:pPr>
            <a:r>
              <a:t/>
            </a:r>
            <a:endParaRPr/>
          </a:p>
        </p:txBody>
      </p:sp>
      <p:sp>
        <p:nvSpPr>
          <p:cNvPr id="1465" name="Google Shape;1465;p9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cxnSp>
        <p:nvCxnSpPr>
          <p:cNvPr id="1466" name="Google Shape;1466;p96"/>
          <p:cNvCxnSpPr/>
          <p:nvPr/>
        </p:nvCxnSpPr>
        <p:spPr>
          <a:xfrm>
            <a:off x="2971800" y="1348475"/>
            <a:ext cx="0" cy="3136800"/>
          </a:xfrm>
          <a:prstGeom prst="straightConnector1">
            <a:avLst/>
          </a:prstGeom>
          <a:noFill/>
          <a:ln cap="flat" cmpd="sng" w="19050">
            <a:solidFill>
              <a:schemeClr val="dk2"/>
            </a:solidFill>
            <a:prstDash val="solid"/>
            <a:round/>
            <a:headEnd len="med" w="med" type="none"/>
            <a:tailEnd len="med" w="med" type="none"/>
          </a:ln>
        </p:spPr>
      </p:cxnSp>
      <p:cxnSp>
        <p:nvCxnSpPr>
          <p:cNvPr id="1467" name="Google Shape;1467;p96"/>
          <p:cNvCxnSpPr/>
          <p:nvPr/>
        </p:nvCxnSpPr>
        <p:spPr>
          <a:xfrm>
            <a:off x="6019800" y="1272275"/>
            <a:ext cx="0" cy="3136800"/>
          </a:xfrm>
          <a:prstGeom prst="straightConnector1">
            <a:avLst/>
          </a:prstGeom>
          <a:noFill/>
          <a:ln cap="flat" cmpd="sng" w="19050">
            <a:solidFill>
              <a:schemeClr val="dk2"/>
            </a:solidFill>
            <a:prstDash val="solid"/>
            <a:round/>
            <a:headEnd len="med" w="med" type="none"/>
            <a:tailEnd len="med" w="med" type="none"/>
          </a:ln>
        </p:spPr>
      </p:cxnSp>
      <p:sp>
        <p:nvSpPr>
          <p:cNvPr id="1468" name="Google Shape;1468;p96"/>
          <p:cNvSpPr txBox="1"/>
          <p:nvPr/>
        </p:nvSpPr>
        <p:spPr>
          <a:xfrm>
            <a:off x="254000" y="1358400"/>
            <a:ext cx="2717700" cy="2794800"/>
          </a:xfrm>
          <a:prstGeom prst="rect">
            <a:avLst/>
          </a:prstGeom>
          <a:noFill/>
          <a:ln>
            <a:noFill/>
          </a:ln>
        </p:spPr>
        <p:txBody>
          <a:bodyPr anchorCtr="0" anchor="t" bIns="0" lIns="0" spcFirstLastPara="1" rIns="0" wrap="square" tIns="0">
            <a:spAutoFit/>
          </a:bodyPr>
          <a:lstStyle/>
          <a:p>
            <a:pPr indent="-342900" lvl="0" marL="457200" rtl="0" algn="ctr">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 Cheese : Tomato</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3 : 4</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9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15 : 20</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1800">
                <a:solidFill>
                  <a:schemeClr val="dk1"/>
                </a:solidFill>
                <a:latin typeface="Lexend"/>
                <a:ea typeface="Lexend"/>
                <a:cs typeface="Lexend"/>
                <a:sym typeface="Lexend"/>
              </a:rPr>
              <a:t>A total of 35 g means there is 15 g of cheese and 20 g of </a:t>
            </a:r>
            <a:r>
              <a:rPr lang="en-GB" sz="1800">
                <a:solidFill>
                  <a:schemeClr val="dk1"/>
                </a:solidFill>
                <a:latin typeface="Lexend"/>
                <a:ea typeface="Lexend"/>
                <a:cs typeface="Lexend"/>
                <a:sym typeface="Lexend"/>
              </a:rPr>
              <a:t>tomato.</a:t>
            </a:r>
            <a:endParaRPr sz="1800">
              <a:solidFill>
                <a:schemeClr val="dk1"/>
              </a:solidFill>
              <a:latin typeface="Lexend"/>
              <a:ea typeface="Lexend"/>
              <a:cs typeface="Lexend"/>
              <a:sym typeface="Lexend"/>
            </a:endParaRPr>
          </a:p>
        </p:txBody>
      </p:sp>
      <p:sp>
        <p:nvSpPr>
          <p:cNvPr id="1469" name="Google Shape;1469;p96"/>
          <p:cNvSpPr txBox="1"/>
          <p:nvPr/>
        </p:nvSpPr>
        <p:spPr>
          <a:xfrm>
            <a:off x="5981700" y="1358400"/>
            <a:ext cx="2616300" cy="3272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1800">
                <a:solidFill>
                  <a:schemeClr val="dk1"/>
                </a:solidFill>
                <a:latin typeface="Lexend"/>
                <a:ea typeface="Lexend"/>
                <a:cs typeface="Lexend"/>
                <a:sym typeface="Lexend"/>
              </a:rPr>
              <a:t>c) </a:t>
            </a:r>
            <a:r>
              <a:rPr lang="en-GB" sz="1800">
                <a:solidFill>
                  <a:schemeClr val="dk1"/>
                </a:solidFill>
                <a:latin typeface="Lexend"/>
                <a:ea typeface="Lexend"/>
                <a:cs typeface="Lexend"/>
                <a:sym typeface="Lexend"/>
              </a:rPr>
              <a:t> Star : Tick : </a:t>
            </a:r>
            <a:r>
              <a:rPr lang="en-GB" sz="1800">
                <a:solidFill>
                  <a:schemeClr val="dk1"/>
                </a:solidFill>
                <a:latin typeface="Lexend"/>
                <a:ea typeface="Lexend"/>
                <a:cs typeface="Lexend"/>
                <a:sym typeface="Lexend"/>
              </a:rPr>
              <a:t>Square</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2 : 3 : 1</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12 : 18 : 6</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1800">
                <a:solidFill>
                  <a:schemeClr val="dk1"/>
                </a:solidFill>
                <a:latin typeface="Lexend"/>
                <a:ea typeface="Lexend"/>
                <a:cs typeface="Lexend"/>
                <a:sym typeface="Lexend"/>
              </a:rPr>
              <a:t>A total of 36 shapes means there are 12 stars, 18 ticks and 6 squares.</a:t>
            </a:r>
            <a:endParaRPr sz="1800">
              <a:solidFill>
                <a:schemeClr val="dk1"/>
              </a:solidFill>
              <a:latin typeface="Lexend"/>
              <a:ea typeface="Lexend"/>
              <a:cs typeface="Lexend"/>
              <a:sym typeface="Lexend"/>
            </a:endParaRPr>
          </a:p>
        </p:txBody>
      </p:sp>
      <p:sp>
        <p:nvSpPr>
          <p:cNvPr id="1470" name="Google Shape;1470;p96"/>
          <p:cNvSpPr txBox="1"/>
          <p:nvPr/>
        </p:nvSpPr>
        <p:spPr>
          <a:xfrm>
            <a:off x="3009900" y="1358400"/>
            <a:ext cx="3009900" cy="2954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1800">
                <a:solidFill>
                  <a:schemeClr val="dk1"/>
                </a:solidFill>
                <a:latin typeface="Lexend"/>
                <a:ea typeface="Lexend"/>
                <a:cs typeface="Lexend"/>
                <a:sym typeface="Lexend"/>
              </a:rPr>
              <a:t>b)  Yoghurt : Strawberry</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5 : 9</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20 :  36</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1800">
                <a:solidFill>
                  <a:schemeClr val="dk1"/>
                </a:solidFill>
                <a:latin typeface="Lexend"/>
                <a:ea typeface="Lexend"/>
                <a:cs typeface="Lexend"/>
                <a:sym typeface="Lexend"/>
              </a:rPr>
              <a:t>A total of 56 ml means there is 20 ml of yoghurt and 36 ml of strawberries.</a:t>
            </a:r>
            <a:endParaRPr sz="1800">
              <a:solidFill>
                <a:schemeClr val="dk1"/>
              </a:solidFill>
              <a:latin typeface="Lexend"/>
              <a:ea typeface="Lexend"/>
              <a:cs typeface="Lexend"/>
              <a:sym typeface="Lexend"/>
            </a:endParaRPr>
          </a:p>
        </p:txBody>
      </p:sp>
      <p:grpSp>
        <p:nvGrpSpPr>
          <p:cNvPr id="1471" name="Google Shape;1471;p96"/>
          <p:cNvGrpSpPr/>
          <p:nvPr/>
        </p:nvGrpSpPr>
        <p:grpSpPr>
          <a:xfrm>
            <a:off x="1916599" y="1904774"/>
            <a:ext cx="1055201" cy="874725"/>
            <a:chOff x="7847499" y="3962175"/>
            <a:chExt cx="1055201" cy="739100"/>
          </a:xfrm>
        </p:grpSpPr>
        <p:pic>
          <p:nvPicPr>
            <p:cNvPr id="1472" name="Google Shape;1472;p96"/>
            <p:cNvPicPr preferRelativeResize="0"/>
            <p:nvPr/>
          </p:nvPicPr>
          <p:blipFill rotWithShape="1">
            <a:blip r:embed="rId3">
              <a:alphaModFix/>
            </a:blip>
            <a:srcRect b="59597" l="61559" r="13951" t="27330"/>
            <a:stretch/>
          </p:blipFill>
          <p:spPr>
            <a:xfrm rot="5400000">
              <a:off x="7730675" y="4078999"/>
              <a:ext cx="739100" cy="505451"/>
            </a:xfrm>
            <a:prstGeom prst="rect">
              <a:avLst/>
            </a:prstGeom>
            <a:noFill/>
            <a:ln>
              <a:noFill/>
            </a:ln>
          </p:spPr>
        </p:pic>
        <p:sp>
          <p:nvSpPr>
            <p:cNvPr id="1473" name="Google Shape;1473;p96"/>
            <p:cNvSpPr txBox="1"/>
            <p:nvPr/>
          </p:nvSpPr>
          <p:spPr>
            <a:xfrm>
              <a:off x="8238500" y="4058311"/>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grpSp>
      <p:grpSp>
        <p:nvGrpSpPr>
          <p:cNvPr id="1474" name="Google Shape;1474;p96"/>
          <p:cNvGrpSpPr/>
          <p:nvPr/>
        </p:nvGrpSpPr>
        <p:grpSpPr>
          <a:xfrm>
            <a:off x="440525" y="1921116"/>
            <a:ext cx="926323" cy="874725"/>
            <a:chOff x="3842075" y="3949475"/>
            <a:chExt cx="926323" cy="739100"/>
          </a:xfrm>
        </p:grpSpPr>
        <p:pic>
          <p:nvPicPr>
            <p:cNvPr id="1475" name="Google Shape;1475;p96"/>
            <p:cNvPicPr preferRelativeResize="0"/>
            <p:nvPr/>
          </p:nvPicPr>
          <p:blipFill rotWithShape="1">
            <a:blip r:embed="rId3">
              <a:alphaModFix/>
            </a:blip>
            <a:srcRect b="59597" l="61559" r="13951" t="27330"/>
            <a:stretch/>
          </p:blipFill>
          <p:spPr>
            <a:xfrm flipH="1" rot="-5400000">
              <a:off x="4156273" y="4076450"/>
              <a:ext cx="739100" cy="485149"/>
            </a:xfrm>
            <a:prstGeom prst="rect">
              <a:avLst/>
            </a:prstGeom>
            <a:noFill/>
            <a:ln>
              <a:noFill/>
            </a:ln>
          </p:spPr>
        </p:pic>
        <p:sp>
          <p:nvSpPr>
            <p:cNvPr id="1476" name="Google Shape;1476;p96"/>
            <p:cNvSpPr txBox="1"/>
            <p:nvPr/>
          </p:nvSpPr>
          <p:spPr>
            <a:xfrm>
              <a:off x="3842075" y="405972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5</a:t>
              </a:r>
              <a:endParaRPr sz="1800">
                <a:solidFill>
                  <a:schemeClr val="dk1"/>
                </a:solidFill>
                <a:latin typeface="Lexend"/>
                <a:ea typeface="Lexend"/>
                <a:cs typeface="Lexend"/>
                <a:sym typeface="Lexend"/>
              </a:endParaRPr>
            </a:p>
          </p:txBody>
        </p:sp>
      </p:grpSp>
      <p:grpSp>
        <p:nvGrpSpPr>
          <p:cNvPr id="1477" name="Google Shape;1477;p96"/>
          <p:cNvGrpSpPr/>
          <p:nvPr/>
        </p:nvGrpSpPr>
        <p:grpSpPr>
          <a:xfrm>
            <a:off x="5006349" y="1904682"/>
            <a:ext cx="686426" cy="1012271"/>
            <a:chOff x="8003549" y="3962175"/>
            <a:chExt cx="686426" cy="739100"/>
          </a:xfrm>
        </p:grpSpPr>
        <p:pic>
          <p:nvPicPr>
            <p:cNvPr id="1478" name="Google Shape;1478;p96"/>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479" name="Google Shape;1479;p96"/>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grpSp>
      <p:grpSp>
        <p:nvGrpSpPr>
          <p:cNvPr id="1480" name="Google Shape;1480;p96"/>
          <p:cNvGrpSpPr/>
          <p:nvPr/>
        </p:nvGrpSpPr>
        <p:grpSpPr>
          <a:xfrm>
            <a:off x="3573300" y="1923594"/>
            <a:ext cx="664200" cy="1012271"/>
            <a:chOff x="4041150" y="3949475"/>
            <a:chExt cx="664200" cy="739100"/>
          </a:xfrm>
        </p:grpSpPr>
        <p:pic>
          <p:nvPicPr>
            <p:cNvPr id="1481" name="Google Shape;1481;p96"/>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482" name="Google Shape;1482;p96"/>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4</a:t>
              </a:r>
              <a:endParaRPr sz="1800">
                <a:solidFill>
                  <a:schemeClr val="dk1"/>
                </a:solidFill>
                <a:latin typeface="Lexend"/>
                <a:ea typeface="Lexend"/>
                <a:cs typeface="Lexend"/>
                <a:sym typeface="Lexend"/>
              </a:endParaRPr>
            </a:p>
          </p:txBody>
        </p:sp>
      </p:grpSp>
      <p:grpSp>
        <p:nvGrpSpPr>
          <p:cNvPr id="1483" name="Google Shape;1483;p96"/>
          <p:cNvGrpSpPr/>
          <p:nvPr/>
        </p:nvGrpSpPr>
        <p:grpSpPr>
          <a:xfrm>
            <a:off x="7762249" y="1904682"/>
            <a:ext cx="686426" cy="1012271"/>
            <a:chOff x="8003549" y="3962175"/>
            <a:chExt cx="686426" cy="739100"/>
          </a:xfrm>
        </p:grpSpPr>
        <p:pic>
          <p:nvPicPr>
            <p:cNvPr id="1484" name="Google Shape;1484;p96"/>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485" name="Google Shape;1485;p96"/>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grpSp>
      <p:grpSp>
        <p:nvGrpSpPr>
          <p:cNvPr id="1486" name="Google Shape;1486;p96"/>
          <p:cNvGrpSpPr/>
          <p:nvPr/>
        </p:nvGrpSpPr>
        <p:grpSpPr>
          <a:xfrm>
            <a:off x="6329200" y="1923594"/>
            <a:ext cx="664200" cy="1012271"/>
            <a:chOff x="4041150" y="3949475"/>
            <a:chExt cx="664200" cy="739100"/>
          </a:xfrm>
        </p:grpSpPr>
        <p:pic>
          <p:nvPicPr>
            <p:cNvPr id="1487" name="Google Shape;1487;p96"/>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488" name="Google Shape;1488;p96"/>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6</a:t>
              </a:r>
              <a:endParaRPr sz="1800">
                <a:solidFill>
                  <a:schemeClr val="dk1"/>
                </a:solidFill>
                <a:latin typeface="Lexend"/>
                <a:ea typeface="Lexend"/>
                <a:cs typeface="Lexend"/>
                <a:sym typeface="Lexend"/>
              </a:endParaRPr>
            </a:p>
          </p:txBody>
        </p:sp>
      </p:grpSp>
      <p:sp>
        <p:nvSpPr>
          <p:cNvPr id="1489" name="Google Shape;1489;p96"/>
          <p:cNvSpPr/>
          <p:nvPr/>
        </p:nvSpPr>
        <p:spPr>
          <a:xfrm>
            <a:off x="500301" y="2102525"/>
            <a:ext cx="3456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0" name="Google Shape;1490;p96"/>
          <p:cNvSpPr/>
          <p:nvPr/>
        </p:nvSpPr>
        <p:spPr>
          <a:xfrm>
            <a:off x="2414130" y="2102529"/>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1" name="Google Shape;1491;p96"/>
          <p:cNvSpPr/>
          <p:nvPr/>
        </p:nvSpPr>
        <p:spPr>
          <a:xfrm>
            <a:off x="4360951" y="332957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2" name="Google Shape;1492;p96"/>
          <p:cNvSpPr/>
          <p:nvPr/>
        </p:nvSpPr>
        <p:spPr>
          <a:xfrm>
            <a:off x="4057051" y="365077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3" name="Google Shape;1493;p96"/>
          <p:cNvSpPr/>
          <p:nvPr/>
        </p:nvSpPr>
        <p:spPr>
          <a:xfrm>
            <a:off x="3573301" y="3960300"/>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4" name="Google Shape;1494;p96"/>
          <p:cNvSpPr/>
          <p:nvPr/>
        </p:nvSpPr>
        <p:spPr>
          <a:xfrm>
            <a:off x="4104126" y="2659350"/>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5" name="Google Shape;1495;p96"/>
          <p:cNvSpPr/>
          <p:nvPr/>
        </p:nvSpPr>
        <p:spPr>
          <a:xfrm>
            <a:off x="4639801" y="266457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6" name="Google Shape;1496;p96"/>
          <p:cNvSpPr/>
          <p:nvPr/>
        </p:nvSpPr>
        <p:spPr>
          <a:xfrm>
            <a:off x="6739076" y="2659338"/>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7" name="Google Shape;1497;p96"/>
          <p:cNvSpPr/>
          <p:nvPr/>
        </p:nvSpPr>
        <p:spPr>
          <a:xfrm>
            <a:off x="7225876" y="2664563"/>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8" name="Google Shape;1498;p96"/>
          <p:cNvSpPr/>
          <p:nvPr/>
        </p:nvSpPr>
        <p:spPr>
          <a:xfrm>
            <a:off x="7529776" y="176052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9" name="Google Shape;1499;p96"/>
          <p:cNvSpPr/>
          <p:nvPr/>
        </p:nvSpPr>
        <p:spPr>
          <a:xfrm>
            <a:off x="7263976" y="3316200"/>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0" name="Google Shape;1500;p96"/>
          <p:cNvSpPr/>
          <p:nvPr/>
        </p:nvSpPr>
        <p:spPr>
          <a:xfrm>
            <a:off x="8140275" y="3695325"/>
            <a:ext cx="303900" cy="2631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1" name="Google Shape;1501;p96"/>
          <p:cNvSpPr/>
          <p:nvPr/>
        </p:nvSpPr>
        <p:spPr>
          <a:xfrm>
            <a:off x="8216475" y="4044375"/>
            <a:ext cx="216000" cy="2040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2" name="Google Shape;1502;p96"/>
          <p:cNvSpPr/>
          <p:nvPr/>
        </p:nvSpPr>
        <p:spPr>
          <a:xfrm>
            <a:off x="6834300" y="4000125"/>
            <a:ext cx="303900" cy="2631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97"/>
          <p:cNvSpPr txBox="1"/>
          <p:nvPr>
            <p:ph idx="1" type="body"/>
          </p:nvPr>
        </p:nvSpPr>
        <p:spPr>
          <a:xfrm>
            <a:off x="324000" y="759300"/>
            <a:ext cx="6800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a:t>
            </a:r>
            <a:r>
              <a:rPr lang="en-GB"/>
              <a:t>In a bag, there are only stars and circles. The ratio of stars to circles is 2 : 3</a:t>
            </a:r>
            <a:endParaRPr/>
          </a:p>
          <a:p>
            <a:pPr indent="0" lvl="0" marL="45720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If there are 20 stars, how many circles are there?</a:t>
            </a:r>
            <a:endParaRPr/>
          </a:p>
          <a:p>
            <a:pPr indent="0" lvl="0" marL="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If there 65 shapes in total, how many stars are there?</a:t>
            </a:r>
            <a:endParaRPr/>
          </a:p>
        </p:txBody>
      </p:sp>
      <p:sp>
        <p:nvSpPr>
          <p:cNvPr id="1508" name="Google Shape;1508;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509" name="Google Shape;1509;p97"/>
          <p:cNvPicPr preferRelativeResize="0"/>
          <p:nvPr/>
        </p:nvPicPr>
        <p:blipFill>
          <a:blip r:embed="rId3">
            <a:alphaModFix/>
          </a:blip>
          <a:stretch>
            <a:fillRect/>
          </a:stretch>
        </p:blipFill>
        <p:spPr>
          <a:xfrm>
            <a:off x="7023395" y="759300"/>
            <a:ext cx="1796607" cy="1940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98"/>
          <p:cNvSpPr txBox="1"/>
          <p:nvPr>
            <p:ph idx="1" type="body"/>
          </p:nvPr>
        </p:nvSpPr>
        <p:spPr>
          <a:xfrm>
            <a:off x="242973" y="733800"/>
            <a:ext cx="72162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 The chocolates in this box either have red or blue wrappers. </a:t>
            </a:r>
            <a:endParaRPr sz="1900"/>
          </a:p>
          <a:p>
            <a:pPr indent="0" lvl="0" marL="0" rtl="0" algn="l">
              <a:spcBef>
                <a:spcPts val="1000"/>
              </a:spcBef>
              <a:spcAft>
                <a:spcPts val="0"/>
              </a:spcAft>
              <a:buNone/>
            </a:pPr>
            <a:r>
              <a:rPr lang="en-GB" sz="1900"/>
              <a:t>The ratio of red to blue is 2 : 1</a:t>
            </a:r>
            <a:endParaRPr sz="1900"/>
          </a:p>
          <a:p>
            <a:pPr indent="-349250" lvl="0" marL="457200" rtl="0" algn="l">
              <a:spcBef>
                <a:spcPts val="1000"/>
              </a:spcBef>
              <a:spcAft>
                <a:spcPts val="0"/>
              </a:spcAft>
              <a:buSzPts val="1900"/>
              <a:buAutoNum type="alphaLcParenR"/>
            </a:pPr>
            <a:r>
              <a:rPr lang="en-GB" sz="1900"/>
              <a:t>If there are 10 red chocolates, how many blue chocolates are there?</a:t>
            </a:r>
            <a:endParaRPr sz="1900"/>
          </a:p>
          <a:p>
            <a:pPr indent="-349250" lvl="0" marL="457200" rtl="0" algn="l">
              <a:spcBef>
                <a:spcPts val="0"/>
              </a:spcBef>
              <a:spcAft>
                <a:spcPts val="0"/>
              </a:spcAft>
              <a:buSzPts val="1900"/>
              <a:buAutoNum type="alphaLcParenR"/>
            </a:pPr>
            <a:r>
              <a:rPr lang="en-GB" sz="1900"/>
              <a:t>If there are 10 blue chocolates, how many red chocolates are there?</a:t>
            </a:r>
            <a:endParaRPr sz="1900"/>
          </a:p>
          <a:p>
            <a:pPr indent="-349250" lvl="0" marL="457200" rtl="0" algn="l">
              <a:spcBef>
                <a:spcPts val="0"/>
              </a:spcBef>
              <a:spcAft>
                <a:spcPts val="0"/>
              </a:spcAft>
              <a:buSzPts val="1900"/>
              <a:buAutoNum type="alphaLcParenR"/>
            </a:pPr>
            <a:r>
              <a:rPr lang="en-GB" sz="1900"/>
              <a:t>Is it possible for there to be 10 chocolates in total? Why or why not?</a:t>
            </a:r>
            <a:endParaRPr sz="1900"/>
          </a:p>
          <a:p>
            <a:pPr indent="-349250" lvl="0" marL="457200" rtl="0" algn="l">
              <a:spcBef>
                <a:spcPts val="0"/>
              </a:spcBef>
              <a:spcAft>
                <a:spcPts val="0"/>
              </a:spcAft>
              <a:buSzPts val="1900"/>
              <a:buAutoNum type="alphaLcParenR"/>
            </a:pPr>
            <a:r>
              <a:rPr lang="en-GB" sz="1900"/>
              <a:t>There are 10 more red chocolates than blue. How many are there in total?</a:t>
            </a:r>
            <a:endParaRPr sz="1900"/>
          </a:p>
          <a:p>
            <a:pPr indent="0" lvl="0" marL="0" rtl="0" algn="l">
              <a:spcBef>
                <a:spcPts val="1000"/>
              </a:spcBef>
              <a:spcAft>
                <a:spcPts val="1000"/>
              </a:spcAft>
              <a:buNone/>
            </a:pPr>
            <a:r>
              <a:t/>
            </a:r>
            <a:endParaRPr/>
          </a:p>
        </p:txBody>
      </p:sp>
      <p:sp>
        <p:nvSpPr>
          <p:cNvPr id="1515" name="Google Shape;1515;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516" name="Google Shape;1516;p98"/>
          <p:cNvPicPr preferRelativeResize="0"/>
          <p:nvPr/>
        </p:nvPicPr>
        <p:blipFill>
          <a:blip r:embed="rId3">
            <a:alphaModFix/>
          </a:blip>
          <a:stretch>
            <a:fillRect/>
          </a:stretch>
        </p:blipFill>
        <p:spPr>
          <a:xfrm>
            <a:off x="6876901" y="472176"/>
            <a:ext cx="2019300" cy="2019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9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blanks to complete the work.</a:t>
            </a:r>
            <a:endParaRPr/>
          </a:p>
          <a:p>
            <a:pPr indent="0" lvl="0" marL="0" rtl="0" algn="l">
              <a:spcBef>
                <a:spcPts val="1000"/>
              </a:spcBef>
              <a:spcAft>
                <a:spcPts val="1000"/>
              </a:spcAft>
              <a:buNone/>
            </a:pPr>
            <a:r>
              <a:t/>
            </a:r>
            <a:endParaRPr/>
          </a:p>
        </p:txBody>
      </p:sp>
      <p:sp>
        <p:nvSpPr>
          <p:cNvPr id="1522" name="Google Shape;1522;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cxnSp>
        <p:nvCxnSpPr>
          <p:cNvPr id="1523" name="Google Shape;1523;p99"/>
          <p:cNvCxnSpPr/>
          <p:nvPr/>
        </p:nvCxnSpPr>
        <p:spPr>
          <a:xfrm>
            <a:off x="2971800" y="1348475"/>
            <a:ext cx="0" cy="3136800"/>
          </a:xfrm>
          <a:prstGeom prst="straightConnector1">
            <a:avLst/>
          </a:prstGeom>
          <a:noFill/>
          <a:ln cap="flat" cmpd="sng" w="19050">
            <a:solidFill>
              <a:schemeClr val="dk2"/>
            </a:solidFill>
            <a:prstDash val="solid"/>
            <a:round/>
            <a:headEnd len="med" w="med" type="none"/>
            <a:tailEnd len="med" w="med" type="none"/>
          </a:ln>
        </p:spPr>
      </p:cxnSp>
      <p:cxnSp>
        <p:nvCxnSpPr>
          <p:cNvPr id="1524" name="Google Shape;1524;p99"/>
          <p:cNvCxnSpPr/>
          <p:nvPr/>
        </p:nvCxnSpPr>
        <p:spPr>
          <a:xfrm>
            <a:off x="6019800" y="1272275"/>
            <a:ext cx="0" cy="3136800"/>
          </a:xfrm>
          <a:prstGeom prst="straightConnector1">
            <a:avLst/>
          </a:prstGeom>
          <a:noFill/>
          <a:ln cap="flat" cmpd="sng" w="19050">
            <a:solidFill>
              <a:schemeClr val="dk2"/>
            </a:solidFill>
            <a:prstDash val="solid"/>
            <a:round/>
            <a:headEnd len="med" w="med" type="none"/>
            <a:tailEnd len="med" w="med" type="none"/>
          </a:ln>
        </p:spPr>
      </p:cxnSp>
      <p:sp>
        <p:nvSpPr>
          <p:cNvPr id="1525" name="Google Shape;1525;p99"/>
          <p:cNvSpPr txBox="1"/>
          <p:nvPr/>
        </p:nvSpPr>
        <p:spPr>
          <a:xfrm>
            <a:off x="254000" y="1358400"/>
            <a:ext cx="2717700" cy="2954100"/>
          </a:xfrm>
          <a:prstGeom prst="rect">
            <a:avLst/>
          </a:prstGeom>
          <a:noFill/>
          <a:ln>
            <a:noFill/>
          </a:ln>
        </p:spPr>
        <p:txBody>
          <a:bodyPr anchorCtr="0" anchor="t" bIns="0" lIns="0" spcFirstLastPara="1" rIns="0" wrap="square" tIns="0">
            <a:spAutoFit/>
          </a:bodyPr>
          <a:lstStyle/>
          <a:p>
            <a:pPr indent="-342900" lvl="0" marL="457200" rtl="0" algn="ctr">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 Cheese : Tomato</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3 : 4</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15 : 20</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1800">
                <a:solidFill>
                  <a:schemeClr val="dk1"/>
                </a:solidFill>
                <a:latin typeface="Lexend"/>
                <a:ea typeface="Lexend"/>
                <a:cs typeface="Lexend"/>
                <a:sym typeface="Lexend"/>
              </a:rPr>
              <a:t>A total of 35 g means there is 15 g of cheese and 20 g of tomato</a:t>
            </a:r>
            <a:endParaRPr sz="1800">
              <a:solidFill>
                <a:schemeClr val="dk1"/>
              </a:solidFill>
              <a:latin typeface="Lexend"/>
              <a:ea typeface="Lexend"/>
              <a:cs typeface="Lexend"/>
              <a:sym typeface="Lexend"/>
            </a:endParaRPr>
          </a:p>
        </p:txBody>
      </p:sp>
      <p:sp>
        <p:nvSpPr>
          <p:cNvPr id="1526" name="Google Shape;1526;p99"/>
          <p:cNvSpPr txBox="1"/>
          <p:nvPr/>
        </p:nvSpPr>
        <p:spPr>
          <a:xfrm>
            <a:off x="5981700" y="1358400"/>
            <a:ext cx="2616300" cy="3272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1800">
                <a:solidFill>
                  <a:schemeClr val="dk1"/>
                </a:solidFill>
                <a:latin typeface="Lexend"/>
                <a:ea typeface="Lexend"/>
                <a:cs typeface="Lexend"/>
                <a:sym typeface="Lexend"/>
              </a:rPr>
              <a:t>c)  Star : Tick : Squares</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2 : 3 : 1</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12 : 18 : 6</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1800">
                <a:solidFill>
                  <a:schemeClr val="dk1"/>
                </a:solidFill>
                <a:latin typeface="Lexend"/>
                <a:ea typeface="Lexend"/>
                <a:cs typeface="Lexend"/>
                <a:sym typeface="Lexend"/>
              </a:rPr>
              <a:t>A total of 36 shapes means there are 12 stars, 18 ticks and 6 squares.</a:t>
            </a:r>
            <a:endParaRPr sz="1800">
              <a:solidFill>
                <a:schemeClr val="dk1"/>
              </a:solidFill>
              <a:latin typeface="Lexend"/>
              <a:ea typeface="Lexend"/>
              <a:cs typeface="Lexend"/>
              <a:sym typeface="Lexend"/>
            </a:endParaRPr>
          </a:p>
        </p:txBody>
      </p:sp>
      <p:sp>
        <p:nvSpPr>
          <p:cNvPr id="1527" name="Google Shape;1527;p99"/>
          <p:cNvSpPr txBox="1"/>
          <p:nvPr/>
        </p:nvSpPr>
        <p:spPr>
          <a:xfrm>
            <a:off x="3009900" y="1358400"/>
            <a:ext cx="3009900" cy="2954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1800">
                <a:solidFill>
                  <a:schemeClr val="dk1"/>
                </a:solidFill>
                <a:latin typeface="Lexend"/>
                <a:ea typeface="Lexend"/>
                <a:cs typeface="Lexend"/>
                <a:sym typeface="Lexend"/>
              </a:rPr>
              <a:t>b)  Yoghurt : Strawberry</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5 : 9</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ctr">
              <a:lnSpc>
                <a:spcPct val="115000"/>
              </a:lnSpc>
              <a:spcBef>
                <a:spcPts val="1000"/>
              </a:spcBef>
              <a:spcAft>
                <a:spcPts val="0"/>
              </a:spcAft>
              <a:buNone/>
            </a:pPr>
            <a:r>
              <a:rPr lang="en-GB" sz="1800">
                <a:solidFill>
                  <a:schemeClr val="dk1"/>
                </a:solidFill>
                <a:latin typeface="Lexend"/>
                <a:ea typeface="Lexend"/>
                <a:cs typeface="Lexend"/>
                <a:sym typeface="Lexend"/>
              </a:rPr>
              <a:t>20 :  36</a:t>
            </a:r>
            <a:endParaRPr sz="1800">
              <a:solidFill>
                <a:schemeClr val="dk1"/>
              </a:solidFill>
              <a:latin typeface="Lexend"/>
              <a:ea typeface="Lexend"/>
              <a:cs typeface="Lexend"/>
              <a:sym typeface="Lexend"/>
            </a:endParaRPr>
          </a:p>
          <a:p>
            <a:pPr indent="0" lvl="0" marL="457200" rtl="0" algn="ctr">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ctr">
              <a:lnSpc>
                <a:spcPct val="115000"/>
              </a:lnSpc>
              <a:spcBef>
                <a:spcPts val="1000"/>
              </a:spcBef>
              <a:spcAft>
                <a:spcPts val="1000"/>
              </a:spcAft>
              <a:buNone/>
            </a:pPr>
            <a:r>
              <a:rPr lang="en-GB" sz="1800">
                <a:solidFill>
                  <a:schemeClr val="dk1"/>
                </a:solidFill>
                <a:latin typeface="Lexend"/>
                <a:ea typeface="Lexend"/>
                <a:cs typeface="Lexend"/>
                <a:sym typeface="Lexend"/>
              </a:rPr>
              <a:t>A total of 56 ml means there is 20 ml of yoghurt and 36 ml of strawberries.</a:t>
            </a:r>
            <a:endParaRPr sz="1800">
              <a:solidFill>
                <a:schemeClr val="dk1"/>
              </a:solidFill>
              <a:latin typeface="Lexend"/>
              <a:ea typeface="Lexend"/>
              <a:cs typeface="Lexend"/>
              <a:sym typeface="Lexend"/>
            </a:endParaRPr>
          </a:p>
        </p:txBody>
      </p:sp>
      <p:grpSp>
        <p:nvGrpSpPr>
          <p:cNvPr id="1528" name="Google Shape;1528;p99"/>
          <p:cNvGrpSpPr/>
          <p:nvPr/>
        </p:nvGrpSpPr>
        <p:grpSpPr>
          <a:xfrm>
            <a:off x="2072649" y="1904774"/>
            <a:ext cx="686426" cy="874725"/>
            <a:chOff x="8003549" y="3962175"/>
            <a:chExt cx="686426" cy="739100"/>
          </a:xfrm>
        </p:grpSpPr>
        <p:pic>
          <p:nvPicPr>
            <p:cNvPr id="1529" name="Google Shape;1529;p99"/>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530" name="Google Shape;1530;p99"/>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grpSp>
      <p:grpSp>
        <p:nvGrpSpPr>
          <p:cNvPr id="1531" name="Google Shape;1531;p99"/>
          <p:cNvGrpSpPr/>
          <p:nvPr/>
        </p:nvGrpSpPr>
        <p:grpSpPr>
          <a:xfrm>
            <a:off x="639600" y="1921116"/>
            <a:ext cx="664200" cy="874725"/>
            <a:chOff x="4041150" y="3949475"/>
            <a:chExt cx="664200" cy="739100"/>
          </a:xfrm>
        </p:grpSpPr>
        <p:pic>
          <p:nvPicPr>
            <p:cNvPr id="1532" name="Google Shape;1532;p99"/>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533" name="Google Shape;1533;p99"/>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5</a:t>
              </a:r>
              <a:endParaRPr sz="1800">
                <a:solidFill>
                  <a:schemeClr val="dk1"/>
                </a:solidFill>
                <a:latin typeface="Lexend"/>
                <a:ea typeface="Lexend"/>
                <a:cs typeface="Lexend"/>
                <a:sym typeface="Lexend"/>
              </a:endParaRPr>
            </a:p>
          </p:txBody>
        </p:sp>
      </p:grpSp>
      <p:grpSp>
        <p:nvGrpSpPr>
          <p:cNvPr id="1534" name="Google Shape;1534;p99"/>
          <p:cNvGrpSpPr/>
          <p:nvPr/>
        </p:nvGrpSpPr>
        <p:grpSpPr>
          <a:xfrm>
            <a:off x="5006349" y="1904682"/>
            <a:ext cx="686426" cy="1012271"/>
            <a:chOff x="8003549" y="3962175"/>
            <a:chExt cx="686426" cy="739100"/>
          </a:xfrm>
        </p:grpSpPr>
        <p:pic>
          <p:nvPicPr>
            <p:cNvPr id="1535" name="Google Shape;1535;p99"/>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536" name="Google Shape;1536;p99"/>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grpSp>
      <p:grpSp>
        <p:nvGrpSpPr>
          <p:cNvPr id="1537" name="Google Shape;1537;p99"/>
          <p:cNvGrpSpPr/>
          <p:nvPr/>
        </p:nvGrpSpPr>
        <p:grpSpPr>
          <a:xfrm>
            <a:off x="3573300" y="1923594"/>
            <a:ext cx="664200" cy="1012271"/>
            <a:chOff x="4041150" y="3949475"/>
            <a:chExt cx="664200" cy="739100"/>
          </a:xfrm>
        </p:grpSpPr>
        <p:pic>
          <p:nvPicPr>
            <p:cNvPr id="1538" name="Google Shape;1538;p99"/>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539" name="Google Shape;1539;p99"/>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4</a:t>
              </a:r>
              <a:endParaRPr sz="1800">
                <a:solidFill>
                  <a:schemeClr val="dk1"/>
                </a:solidFill>
                <a:latin typeface="Lexend"/>
                <a:ea typeface="Lexend"/>
                <a:cs typeface="Lexend"/>
                <a:sym typeface="Lexend"/>
              </a:endParaRPr>
            </a:p>
          </p:txBody>
        </p:sp>
      </p:grpSp>
      <p:grpSp>
        <p:nvGrpSpPr>
          <p:cNvPr id="1540" name="Google Shape;1540;p99"/>
          <p:cNvGrpSpPr/>
          <p:nvPr/>
        </p:nvGrpSpPr>
        <p:grpSpPr>
          <a:xfrm>
            <a:off x="7762249" y="1904682"/>
            <a:ext cx="686426" cy="1012271"/>
            <a:chOff x="8003549" y="3962175"/>
            <a:chExt cx="686426" cy="739100"/>
          </a:xfrm>
        </p:grpSpPr>
        <p:pic>
          <p:nvPicPr>
            <p:cNvPr id="1541" name="Google Shape;1541;p99"/>
            <p:cNvPicPr preferRelativeResize="0"/>
            <p:nvPr/>
          </p:nvPicPr>
          <p:blipFill rotWithShape="1">
            <a:blip r:embed="rId3">
              <a:alphaModFix/>
            </a:blip>
            <a:srcRect b="59597" l="61559" r="13951" t="27330"/>
            <a:stretch/>
          </p:blipFill>
          <p:spPr>
            <a:xfrm rot="5400000">
              <a:off x="7886725" y="4078999"/>
              <a:ext cx="739100" cy="505451"/>
            </a:xfrm>
            <a:prstGeom prst="rect">
              <a:avLst/>
            </a:prstGeom>
            <a:noFill/>
            <a:ln>
              <a:noFill/>
            </a:ln>
          </p:spPr>
        </p:pic>
        <p:sp>
          <p:nvSpPr>
            <p:cNvPr id="1542" name="Google Shape;1542;p99"/>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grpSp>
      <p:grpSp>
        <p:nvGrpSpPr>
          <p:cNvPr id="1543" name="Google Shape;1543;p99"/>
          <p:cNvGrpSpPr/>
          <p:nvPr/>
        </p:nvGrpSpPr>
        <p:grpSpPr>
          <a:xfrm>
            <a:off x="6329200" y="1923594"/>
            <a:ext cx="664200" cy="1012271"/>
            <a:chOff x="4041150" y="3949475"/>
            <a:chExt cx="664200" cy="739100"/>
          </a:xfrm>
        </p:grpSpPr>
        <p:pic>
          <p:nvPicPr>
            <p:cNvPr id="1544" name="Google Shape;1544;p99"/>
            <p:cNvPicPr preferRelativeResize="0"/>
            <p:nvPr/>
          </p:nvPicPr>
          <p:blipFill rotWithShape="1">
            <a:blip r:embed="rId3">
              <a:alphaModFix/>
            </a:blip>
            <a:srcRect b="59597" l="61559" r="13951" t="27330"/>
            <a:stretch/>
          </p:blipFill>
          <p:spPr>
            <a:xfrm flipH="1" rot="-5400000">
              <a:off x="3924323" y="4076450"/>
              <a:ext cx="739100" cy="485149"/>
            </a:xfrm>
            <a:prstGeom prst="rect">
              <a:avLst/>
            </a:prstGeom>
            <a:noFill/>
            <a:ln>
              <a:noFill/>
            </a:ln>
          </p:spPr>
        </p:pic>
        <p:sp>
          <p:nvSpPr>
            <p:cNvPr id="1545" name="Google Shape;1545;p99"/>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6</a:t>
              </a:r>
              <a:endParaRPr sz="1800">
                <a:solidFill>
                  <a:schemeClr val="dk1"/>
                </a:solidFill>
                <a:latin typeface="Lexend"/>
                <a:ea typeface="Lexend"/>
                <a:cs typeface="Lexend"/>
                <a:sym typeface="Lexend"/>
              </a:endParaRPr>
            </a:p>
          </p:txBody>
        </p:sp>
      </p:grpSp>
      <p:grpSp>
        <p:nvGrpSpPr>
          <p:cNvPr id="1546" name="Google Shape;1546;p99"/>
          <p:cNvGrpSpPr/>
          <p:nvPr/>
        </p:nvGrpSpPr>
        <p:grpSpPr>
          <a:xfrm>
            <a:off x="881705" y="2102529"/>
            <a:ext cx="1818800" cy="364900"/>
            <a:chOff x="881705" y="2102529"/>
            <a:chExt cx="1818800" cy="364900"/>
          </a:xfrm>
        </p:grpSpPr>
        <p:sp>
          <p:nvSpPr>
            <p:cNvPr id="1547" name="Google Shape;1547;p99"/>
            <p:cNvSpPr/>
            <p:nvPr/>
          </p:nvSpPr>
          <p:spPr>
            <a:xfrm>
              <a:off x="881705" y="2115229"/>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8" name="Google Shape;1548;p99"/>
            <p:cNvSpPr/>
            <p:nvPr/>
          </p:nvSpPr>
          <p:spPr>
            <a:xfrm>
              <a:off x="2278405" y="2102529"/>
              <a:ext cx="4221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49" name="Google Shape;1549;p99"/>
          <p:cNvSpPr/>
          <p:nvPr/>
        </p:nvSpPr>
        <p:spPr>
          <a:xfrm>
            <a:off x="4360951" y="332957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0" name="Google Shape;1550;p99"/>
          <p:cNvSpPr/>
          <p:nvPr/>
        </p:nvSpPr>
        <p:spPr>
          <a:xfrm>
            <a:off x="4057051" y="365077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1" name="Google Shape;1551;p99"/>
          <p:cNvSpPr/>
          <p:nvPr/>
        </p:nvSpPr>
        <p:spPr>
          <a:xfrm>
            <a:off x="3573301" y="3960300"/>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552" name="Google Shape;1552;p99"/>
          <p:cNvGrpSpPr/>
          <p:nvPr/>
        </p:nvGrpSpPr>
        <p:grpSpPr>
          <a:xfrm>
            <a:off x="4104126" y="2659350"/>
            <a:ext cx="839575" cy="357425"/>
            <a:chOff x="4104126" y="2659350"/>
            <a:chExt cx="839575" cy="357425"/>
          </a:xfrm>
        </p:grpSpPr>
        <p:sp>
          <p:nvSpPr>
            <p:cNvPr id="1553" name="Google Shape;1553;p99"/>
            <p:cNvSpPr/>
            <p:nvPr/>
          </p:nvSpPr>
          <p:spPr>
            <a:xfrm>
              <a:off x="4104126" y="2659350"/>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4" name="Google Shape;1554;p99"/>
            <p:cNvSpPr/>
            <p:nvPr/>
          </p:nvSpPr>
          <p:spPr>
            <a:xfrm>
              <a:off x="4639801" y="266457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55" name="Google Shape;1555;p99"/>
          <p:cNvGrpSpPr/>
          <p:nvPr/>
        </p:nvGrpSpPr>
        <p:grpSpPr>
          <a:xfrm>
            <a:off x="6739076" y="2659338"/>
            <a:ext cx="790700" cy="357425"/>
            <a:chOff x="6739076" y="2659338"/>
            <a:chExt cx="790700" cy="357425"/>
          </a:xfrm>
        </p:grpSpPr>
        <p:sp>
          <p:nvSpPr>
            <p:cNvPr id="1556" name="Google Shape;1556;p99"/>
            <p:cNvSpPr/>
            <p:nvPr/>
          </p:nvSpPr>
          <p:spPr>
            <a:xfrm>
              <a:off x="6739076" y="2659338"/>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7" name="Google Shape;1557;p99"/>
            <p:cNvSpPr/>
            <p:nvPr/>
          </p:nvSpPr>
          <p:spPr>
            <a:xfrm>
              <a:off x="7225876" y="2664563"/>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58" name="Google Shape;1558;p99"/>
          <p:cNvSpPr/>
          <p:nvPr/>
        </p:nvSpPr>
        <p:spPr>
          <a:xfrm>
            <a:off x="7529776" y="1760525"/>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9" name="Google Shape;1559;p99"/>
          <p:cNvSpPr/>
          <p:nvPr/>
        </p:nvSpPr>
        <p:spPr>
          <a:xfrm>
            <a:off x="7263976" y="3316200"/>
            <a:ext cx="303900" cy="3522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0" name="Google Shape;1560;p99"/>
          <p:cNvSpPr/>
          <p:nvPr/>
        </p:nvSpPr>
        <p:spPr>
          <a:xfrm>
            <a:off x="8102175" y="3697200"/>
            <a:ext cx="303900" cy="2631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1" name="Google Shape;1561;p99"/>
          <p:cNvSpPr/>
          <p:nvPr/>
        </p:nvSpPr>
        <p:spPr>
          <a:xfrm>
            <a:off x="8254575" y="4002000"/>
            <a:ext cx="303900" cy="2631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2" name="Google Shape;1562;p99"/>
          <p:cNvSpPr/>
          <p:nvPr/>
        </p:nvSpPr>
        <p:spPr>
          <a:xfrm>
            <a:off x="6857575" y="4002000"/>
            <a:ext cx="303900" cy="2631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100"/>
          <p:cNvSpPr txBox="1"/>
          <p:nvPr>
            <p:ph idx="1" type="body"/>
          </p:nvPr>
        </p:nvSpPr>
        <p:spPr>
          <a:xfrm>
            <a:off x="324000" y="759300"/>
            <a:ext cx="5573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In a bag, there are only stars and circles. The ratio of stars to circles is 2 : 3</a:t>
            </a:r>
            <a:endParaRPr/>
          </a:p>
          <a:p>
            <a:pPr indent="0" lvl="0" marL="457200" rtl="0" algn="l">
              <a:spcBef>
                <a:spcPts val="1000"/>
              </a:spcBef>
              <a:spcAft>
                <a:spcPts val="0"/>
              </a:spcAft>
              <a:buNone/>
            </a:pPr>
            <a:r>
              <a:t/>
            </a:r>
            <a:endParaRPr sz="300"/>
          </a:p>
          <a:p>
            <a:pPr indent="-368300" lvl="0" marL="457200" rtl="0" algn="l">
              <a:spcBef>
                <a:spcPts val="1000"/>
              </a:spcBef>
              <a:spcAft>
                <a:spcPts val="0"/>
              </a:spcAft>
              <a:buSzPts val="2200"/>
              <a:buAutoNum type="alphaLcParenR"/>
            </a:pPr>
            <a:r>
              <a:rPr lang="en-GB"/>
              <a:t>If there are 20 stars, how many circles are there?</a:t>
            </a:r>
            <a:endParaRPr/>
          </a:p>
          <a:p>
            <a:pPr indent="0" lvl="0" marL="457200" rtl="0" algn="l">
              <a:spcBef>
                <a:spcPts val="1000"/>
              </a:spcBef>
              <a:spcAft>
                <a:spcPts val="0"/>
              </a:spcAft>
              <a:buNone/>
            </a:pPr>
            <a:r>
              <a:t/>
            </a:r>
            <a:endParaRPr/>
          </a:p>
          <a:p>
            <a:pPr indent="0" lvl="0" marL="0" rtl="0" algn="l">
              <a:spcBef>
                <a:spcPts val="1000"/>
              </a:spcBef>
              <a:spcAft>
                <a:spcPts val="0"/>
              </a:spcAft>
              <a:buNone/>
            </a:pPr>
            <a:r>
              <a:t/>
            </a:r>
            <a:endParaRPr sz="500"/>
          </a:p>
          <a:p>
            <a:pPr indent="-368300" lvl="0" marL="457200" rtl="0" algn="l">
              <a:spcBef>
                <a:spcPts val="1000"/>
              </a:spcBef>
              <a:spcAft>
                <a:spcPts val="0"/>
              </a:spcAft>
              <a:buSzPts val="2200"/>
              <a:buAutoNum type="alphaLcParenR"/>
            </a:pPr>
            <a:r>
              <a:rPr lang="en-GB"/>
              <a:t>If there 65 shapes in total, </a:t>
            </a:r>
            <a:endParaRPr/>
          </a:p>
          <a:p>
            <a:pPr indent="0" lvl="0" marL="457200" rtl="0" algn="l">
              <a:spcBef>
                <a:spcPts val="0"/>
              </a:spcBef>
              <a:spcAft>
                <a:spcPts val="1000"/>
              </a:spcAft>
              <a:buNone/>
            </a:pPr>
            <a:r>
              <a:rPr lang="en-GB"/>
              <a:t>how many stars are there?</a:t>
            </a:r>
            <a:endParaRPr/>
          </a:p>
        </p:txBody>
      </p:sp>
      <p:sp>
        <p:nvSpPr>
          <p:cNvPr id="1568" name="Google Shape;1568;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569" name="Google Shape;1569;p100"/>
          <p:cNvPicPr preferRelativeResize="0"/>
          <p:nvPr/>
        </p:nvPicPr>
        <p:blipFill>
          <a:blip r:embed="rId3">
            <a:alphaModFix/>
          </a:blip>
          <a:stretch>
            <a:fillRect/>
          </a:stretch>
        </p:blipFill>
        <p:spPr>
          <a:xfrm>
            <a:off x="6560895" y="759300"/>
            <a:ext cx="1796607" cy="1940700"/>
          </a:xfrm>
          <a:prstGeom prst="rect">
            <a:avLst/>
          </a:prstGeom>
          <a:noFill/>
          <a:ln>
            <a:noFill/>
          </a:ln>
        </p:spPr>
      </p:pic>
      <p:sp>
        <p:nvSpPr>
          <p:cNvPr id="1570" name="Google Shape;1570;p100"/>
          <p:cNvSpPr txBox="1"/>
          <p:nvPr/>
        </p:nvSpPr>
        <p:spPr>
          <a:xfrm>
            <a:off x="3819700" y="2165350"/>
            <a:ext cx="2019300" cy="9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stars : circles</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 : 3</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8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20 : 30 </a:t>
            </a:r>
            <a:endParaRPr sz="2200">
              <a:solidFill>
                <a:schemeClr val="dk1"/>
              </a:solidFill>
              <a:latin typeface="Kalam"/>
              <a:ea typeface="Kalam"/>
              <a:cs typeface="Kalam"/>
              <a:sym typeface="Kalam"/>
            </a:endParaRPr>
          </a:p>
        </p:txBody>
      </p:sp>
      <p:sp>
        <p:nvSpPr>
          <p:cNvPr id="1571" name="Google Shape;1571;p100"/>
          <p:cNvSpPr txBox="1"/>
          <p:nvPr/>
        </p:nvSpPr>
        <p:spPr>
          <a:xfrm>
            <a:off x="1868100" y="2486550"/>
            <a:ext cx="15015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30 circles</a:t>
            </a:r>
            <a:endParaRPr sz="2200">
              <a:solidFill>
                <a:schemeClr val="dk1"/>
              </a:solidFill>
              <a:latin typeface="Kalam"/>
              <a:ea typeface="Kalam"/>
              <a:cs typeface="Kalam"/>
              <a:sym typeface="Kalam"/>
            </a:endParaRPr>
          </a:p>
        </p:txBody>
      </p:sp>
      <p:grpSp>
        <p:nvGrpSpPr>
          <p:cNvPr id="1572" name="Google Shape;1572;p100"/>
          <p:cNvGrpSpPr/>
          <p:nvPr/>
        </p:nvGrpSpPr>
        <p:grpSpPr>
          <a:xfrm>
            <a:off x="5295275" y="2666783"/>
            <a:ext cx="664200" cy="724835"/>
            <a:chOff x="8025775" y="3962175"/>
            <a:chExt cx="664200" cy="739100"/>
          </a:xfrm>
        </p:grpSpPr>
        <p:pic>
          <p:nvPicPr>
            <p:cNvPr id="1573" name="Google Shape;1573;p100"/>
            <p:cNvPicPr preferRelativeResize="0"/>
            <p:nvPr/>
          </p:nvPicPr>
          <p:blipFill rotWithShape="1">
            <a:blip r:embed="rId4">
              <a:alphaModFix/>
            </a:blip>
            <a:srcRect b="59597" l="61559" r="13951" t="27330"/>
            <a:stretch/>
          </p:blipFill>
          <p:spPr>
            <a:xfrm rot="5400000">
              <a:off x="8039125" y="4078999"/>
              <a:ext cx="739100" cy="505451"/>
            </a:xfrm>
            <a:prstGeom prst="rect">
              <a:avLst/>
            </a:prstGeom>
            <a:noFill/>
            <a:ln>
              <a:noFill/>
            </a:ln>
          </p:spPr>
        </p:pic>
        <p:sp>
          <p:nvSpPr>
            <p:cNvPr id="1574" name="Google Shape;1574;p100"/>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×10</a:t>
              </a:r>
              <a:endParaRPr sz="1800">
                <a:solidFill>
                  <a:schemeClr val="dk1"/>
                </a:solidFill>
                <a:latin typeface="Kalam"/>
                <a:ea typeface="Kalam"/>
                <a:cs typeface="Kalam"/>
                <a:sym typeface="Kalam"/>
              </a:endParaRPr>
            </a:p>
          </p:txBody>
        </p:sp>
      </p:grpSp>
      <p:grpSp>
        <p:nvGrpSpPr>
          <p:cNvPr id="1575" name="Google Shape;1575;p100"/>
          <p:cNvGrpSpPr/>
          <p:nvPr/>
        </p:nvGrpSpPr>
        <p:grpSpPr>
          <a:xfrm>
            <a:off x="3751100" y="2680324"/>
            <a:ext cx="664200" cy="724835"/>
            <a:chOff x="4041150" y="3949475"/>
            <a:chExt cx="664200" cy="739100"/>
          </a:xfrm>
        </p:grpSpPr>
        <p:pic>
          <p:nvPicPr>
            <p:cNvPr id="1576" name="Google Shape;1576;p100"/>
            <p:cNvPicPr preferRelativeResize="0"/>
            <p:nvPr/>
          </p:nvPicPr>
          <p:blipFill rotWithShape="1">
            <a:blip r:embed="rId4">
              <a:alphaModFix/>
            </a:blip>
            <a:srcRect b="59597" l="61559" r="13951" t="27330"/>
            <a:stretch/>
          </p:blipFill>
          <p:spPr>
            <a:xfrm flipH="1" rot="-5400000">
              <a:off x="3924323" y="4076450"/>
              <a:ext cx="739100" cy="485149"/>
            </a:xfrm>
            <a:prstGeom prst="rect">
              <a:avLst/>
            </a:prstGeom>
            <a:noFill/>
            <a:ln>
              <a:noFill/>
            </a:ln>
          </p:spPr>
        </p:pic>
        <p:sp>
          <p:nvSpPr>
            <p:cNvPr id="1577" name="Google Shape;1577;p100"/>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10</a:t>
              </a:r>
              <a:endParaRPr sz="1800">
                <a:solidFill>
                  <a:schemeClr val="dk1"/>
                </a:solidFill>
                <a:latin typeface="Kalam"/>
                <a:ea typeface="Kalam"/>
                <a:cs typeface="Kalam"/>
                <a:sym typeface="Kalam"/>
              </a:endParaRPr>
            </a:p>
          </p:txBody>
        </p:sp>
      </p:grpSp>
      <p:sp>
        <p:nvSpPr>
          <p:cNvPr id="1578" name="Google Shape;1578;p100"/>
          <p:cNvSpPr txBox="1"/>
          <p:nvPr/>
        </p:nvSpPr>
        <p:spPr>
          <a:xfrm>
            <a:off x="5442305" y="3468600"/>
            <a:ext cx="2853600" cy="9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stars : circles</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 : 3  total = 5 </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8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26</a:t>
            </a:r>
            <a:r>
              <a:rPr lang="en-GB" sz="2200">
                <a:solidFill>
                  <a:schemeClr val="dk1"/>
                </a:solidFill>
                <a:latin typeface="Kalam"/>
                <a:ea typeface="Kalam"/>
                <a:cs typeface="Kalam"/>
                <a:sym typeface="Kalam"/>
              </a:rPr>
              <a:t> : 39  total = 65</a:t>
            </a:r>
            <a:endParaRPr sz="2200">
              <a:solidFill>
                <a:schemeClr val="dk1"/>
              </a:solidFill>
              <a:latin typeface="Kalam"/>
              <a:ea typeface="Kalam"/>
              <a:cs typeface="Kalam"/>
              <a:sym typeface="Kalam"/>
            </a:endParaRPr>
          </a:p>
        </p:txBody>
      </p:sp>
      <p:grpSp>
        <p:nvGrpSpPr>
          <p:cNvPr id="1579" name="Google Shape;1579;p100"/>
          <p:cNvGrpSpPr/>
          <p:nvPr/>
        </p:nvGrpSpPr>
        <p:grpSpPr>
          <a:xfrm>
            <a:off x="8051588" y="3886433"/>
            <a:ext cx="664200" cy="724835"/>
            <a:chOff x="8025775" y="3962175"/>
            <a:chExt cx="664200" cy="739100"/>
          </a:xfrm>
        </p:grpSpPr>
        <p:pic>
          <p:nvPicPr>
            <p:cNvPr id="1580" name="Google Shape;1580;p100"/>
            <p:cNvPicPr preferRelativeResize="0"/>
            <p:nvPr/>
          </p:nvPicPr>
          <p:blipFill rotWithShape="1">
            <a:blip r:embed="rId4">
              <a:alphaModFix/>
            </a:blip>
            <a:srcRect b="59597" l="61559" r="13951" t="27330"/>
            <a:stretch/>
          </p:blipFill>
          <p:spPr>
            <a:xfrm rot="5400000">
              <a:off x="8039125" y="4078999"/>
              <a:ext cx="739100" cy="505451"/>
            </a:xfrm>
            <a:prstGeom prst="rect">
              <a:avLst/>
            </a:prstGeom>
            <a:noFill/>
            <a:ln>
              <a:noFill/>
            </a:ln>
          </p:spPr>
        </p:pic>
        <p:sp>
          <p:nvSpPr>
            <p:cNvPr id="1581" name="Google Shape;1581;p100"/>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×13</a:t>
              </a:r>
              <a:endParaRPr sz="1800">
                <a:solidFill>
                  <a:schemeClr val="dk1"/>
                </a:solidFill>
                <a:latin typeface="Kalam"/>
                <a:ea typeface="Kalam"/>
                <a:cs typeface="Kalam"/>
                <a:sym typeface="Kalam"/>
              </a:endParaRPr>
            </a:p>
          </p:txBody>
        </p:sp>
      </p:grpSp>
      <p:grpSp>
        <p:nvGrpSpPr>
          <p:cNvPr id="1582" name="Google Shape;1582;p100"/>
          <p:cNvGrpSpPr/>
          <p:nvPr/>
        </p:nvGrpSpPr>
        <p:grpSpPr>
          <a:xfrm>
            <a:off x="5135813" y="3899974"/>
            <a:ext cx="664200" cy="724835"/>
            <a:chOff x="4041150" y="3949475"/>
            <a:chExt cx="664200" cy="739100"/>
          </a:xfrm>
        </p:grpSpPr>
        <p:pic>
          <p:nvPicPr>
            <p:cNvPr id="1583" name="Google Shape;1583;p100"/>
            <p:cNvPicPr preferRelativeResize="0"/>
            <p:nvPr/>
          </p:nvPicPr>
          <p:blipFill rotWithShape="1">
            <a:blip r:embed="rId4">
              <a:alphaModFix/>
            </a:blip>
            <a:srcRect b="59597" l="61559" r="13951" t="27330"/>
            <a:stretch/>
          </p:blipFill>
          <p:spPr>
            <a:xfrm flipH="1" rot="-5400000">
              <a:off x="3924323" y="4076450"/>
              <a:ext cx="739100" cy="485149"/>
            </a:xfrm>
            <a:prstGeom prst="rect">
              <a:avLst/>
            </a:prstGeom>
            <a:noFill/>
            <a:ln>
              <a:noFill/>
            </a:ln>
          </p:spPr>
        </p:pic>
        <p:sp>
          <p:nvSpPr>
            <p:cNvPr id="1584" name="Google Shape;1584;p100"/>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13</a:t>
              </a:r>
              <a:endParaRPr sz="1800">
                <a:solidFill>
                  <a:schemeClr val="dk1"/>
                </a:solidFill>
                <a:latin typeface="Kalam"/>
                <a:ea typeface="Kalam"/>
                <a:cs typeface="Kalam"/>
                <a:sym typeface="Kalam"/>
              </a:endParaRPr>
            </a:p>
          </p:txBody>
        </p:sp>
      </p:grpSp>
      <p:sp>
        <p:nvSpPr>
          <p:cNvPr id="1585" name="Google Shape;1585;p100"/>
          <p:cNvSpPr txBox="1"/>
          <p:nvPr/>
        </p:nvSpPr>
        <p:spPr>
          <a:xfrm>
            <a:off x="1868100" y="4256100"/>
            <a:ext cx="15015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26</a:t>
            </a:r>
            <a:r>
              <a:rPr lang="en-GB" sz="2200">
                <a:solidFill>
                  <a:schemeClr val="dk1"/>
                </a:solidFill>
                <a:latin typeface="Kalam"/>
                <a:ea typeface="Kalam"/>
                <a:cs typeface="Kalam"/>
                <a:sym typeface="Kalam"/>
              </a:rPr>
              <a:t> stars</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01"/>
          <p:cNvSpPr txBox="1"/>
          <p:nvPr>
            <p:ph idx="1" type="body"/>
          </p:nvPr>
        </p:nvSpPr>
        <p:spPr>
          <a:xfrm>
            <a:off x="324000" y="759300"/>
            <a:ext cx="6800700" cy="188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 The chocolates in this box either have red or blue wrappers. </a:t>
            </a:r>
            <a:endParaRPr sz="1900"/>
          </a:p>
          <a:p>
            <a:pPr indent="0" lvl="0" marL="0" rtl="0" algn="l">
              <a:spcBef>
                <a:spcPts val="1000"/>
              </a:spcBef>
              <a:spcAft>
                <a:spcPts val="0"/>
              </a:spcAft>
              <a:buNone/>
            </a:pPr>
            <a:r>
              <a:rPr lang="en-GB" sz="1900"/>
              <a:t>The ratio of red to blue is 2 : 1</a:t>
            </a:r>
            <a:endParaRPr sz="1900"/>
          </a:p>
          <a:p>
            <a:pPr indent="-349250" lvl="0" marL="457200" rtl="0" algn="l">
              <a:spcBef>
                <a:spcPts val="1000"/>
              </a:spcBef>
              <a:spcAft>
                <a:spcPts val="0"/>
              </a:spcAft>
              <a:buSzPts val="1900"/>
              <a:buAutoNum type="alphaLcParenR"/>
            </a:pPr>
            <a:r>
              <a:rPr lang="en-GB" sz="1900"/>
              <a:t>If there are 10 red chocolates, how many blue chocolates are there?</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a:p>
        </p:txBody>
      </p:sp>
      <p:sp>
        <p:nvSpPr>
          <p:cNvPr id="1591" name="Google Shape;1591;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592" name="Google Shape;1592;p101"/>
          <p:cNvPicPr preferRelativeResize="0"/>
          <p:nvPr/>
        </p:nvPicPr>
        <p:blipFill>
          <a:blip r:embed="rId3">
            <a:alphaModFix/>
          </a:blip>
          <a:stretch>
            <a:fillRect/>
          </a:stretch>
        </p:blipFill>
        <p:spPr>
          <a:xfrm>
            <a:off x="6876901" y="472176"/>
            <a:ext cx="2019300" cy="2019300"/>
          </a:xfrm>
          <a:prstGeom prst="rect">
            <a:avLst/>
          </a:prstGeom>
          <a:noFill/>
          <a:ln>
            <a:noFill/>
          </a:ln>
        </p:spPr>
      </p:pic>
      <p:sp>
        <p:nvSpPr>
          <p:cNvPr id="1593" name="Google Shape;1593;p101"/>
          <p:cNvSpPr txBox="1"/>
          <p:nvPr/>
        </p:nvSpPr>
        <p:spPr>
          <a:xfrm>
            <a:off x="1046505" y="2757400"/>
            <a:ext cx="2853600" cy="9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red</a:t>
            </a:r>
            <a:r>
              <a:rPr lang="en-GB" sz="2200">
                <a:solidFill>
                  <a:schemeClr val="dk1"/>
                </a:solidFill>
                <a:latin typeface="Kalam"/>
                <a:ea typeface="Kalam"/>
                <a:cs typeface="Kalam"/>
                <a:sym typeface="Kalam"/>
              </a:rPr>
              <a:t> : blue</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 : 1  </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8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10</a:t>
            </a:r>
            <a:r>
              <a:rPr lang="en-GB" sz="2200">
                <a:solidFill>
                  <a:schemeClr val="dk1"/>
                </a:solidFill>
                <a:latin typeface="Kalam"/>
                <a:ea typeface="Kalam"/>
                <a:cs typeface="Kalam"/>
                <a:sym typeface="Kalam"/>
              </a:rPr>
              <a:t> : 5  </a:t>
            </a:r>
            <a:endParaRPr sz="2200">
              <a:solidFill>
                <a:schemeClr val="dk1"/>
              </a:solidFill>
              <a:latin typeface="Kalam"/>
              <a:ea typeface="Kalam"/>
              <a:cs typeface="Kalam"/>
              <a:sym typeface="Kalam"/>
            </a:endParaRPr>
          </a:p>
        </p:txBody>
      </p:sp>
      <p:grpSp>
        <p:nvGrpSpPr>
          <p:cNvPr id="1594" name="Google Shape;1594;p101"/>
          <p:cNvGrpSpPr/>
          <p:nvPr/>
        </p:nvGrpSpPr>
        <p:grpSpPr>
          <a:xfrm>
            <a:off x="2887188" y="3284121"/>
            <a:ext cx="664200" cy="724835"/>
            <a:chOff x="8025775" y="3962175"/>
            <a:chExt cx="664200" cy="739100"/>
          </a:xfrm>
        </p:grpSpPr>
        <p:pic>
          <p:nvPicPr>
            <p:cNvPr id="1595" name="Google Shape;1595;p101"/>
            <p:cNvPicPr preferRelativeResize="0"/>
            <p:nvPr/>
          </p:nvPicPr>
          <p:blipFill rotWithShape="1">
            <a:blip r:embed="rId4">
              <a:alphaModFix/>
            </a:blip>
            <a:srcRect b="59597" l="61559" r="13951" t="27330"/>
            <a:stretch/>
          </p:blipFill>
          <p:spPr>
            <a:xfrm rot="5400000">
              <a:off x="8039125" y="4078999"/>
              <a:ext cx="739100" cy="505451"/>
            </a:xfrm>
            <a:prstGeom prst="rect">
              <a:avLst/>
            </a:prstGeom>
            <a:noFill/>
            <a:ln>
              <a:noFill/>
            </a:ln>
          </p:spPr>
        </p:pic>
        <p:sp>
          <p:nvSpPr>
            <p:cNvPr id="1596" name="Google Shape;1596;p101"/>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×5</a:t>
              </a:r>
              <a:endParaRPr sz="1800">
                <a:solidFill>
                  <a:schemeClr val="dk1"/>
                </a:solidFill>
                <a:latin typeface="Kalam"/>
                <a:ea typeface="Kalam"/>
                <a:cs typeface="Kalam"/>
                <a:sym typeface="Kalam"/>
              </a:endParaRPr>
            </a:p>
          </p:txBody>
        </p:sp>
      </p:grpSp>
      <p:grpSp>
        <p:nvGrpSpPr>
          <p:cNvPr id="1597" name="Google Shape;1597;p101"/>
          <p:cNvGrpSpPr/>
          <p:nvPr/>
        </p:nvGrpSpPr>
        <p:grpSpPr>
          <a:xfrm>
            <a:off x="1449838" y="3284124"/>
            <a:ext cx="664200" cy="724835"/>
            <a:chOff x="4041150" y="3949475"/>
            <a:chExt cx="664200" cy="739100"/>
          </a:xfrm>
        </p:grpSpPr>
        <p:pic>
          <p:nvPicPr>
            <p:cNvPr id="1598" name="Google Shape;1598;p101"/>
            <p:cNvPicPr preferRelativeResize="0"/>
            <p:nvPr/>
          </p:nvPicPr>
          <p:blipFill rotWithShape="1">
            <a:blip r:embed="rId4">
              <a:alphaModFix/>
            </a:blip>
            <a:srcRect b="59597" l="61559" r="13951" t="27330"/>
            <a:stretch/>
          </p:blipFill>
          <p:spPr>
            <a:xfrm flipH="1" rot="-5400000">
              <a:off x="3924323" y="4076450"/>
              <a:ext cx="739100" cy="485149"/>
            </a:xfrm>
            <a:prstGeom prst="rect">
              <a:avLst/>
            </a:prstGeom>
            <a:noFill/>
            <a:ln>
              <a:noFill/>
            </a:ln>
          </p:spPr>
        </p:pic>
        <p:sp>
          <p:nvSpPr>
            <p:cNvPr id="1599" name="Google Shape;1599;p101"/>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5</a:t>
              </a:r>
              <a:endParaRPr sz="1800">
                <a:solidFill>
                  <a:schemeClr val="dk1"/>
                </a:solidFill>
                <a:latin typeface="Kalam"/>
                <a:ea typeface="Kalam"/>
                <a:cs typeface="Kalam"/>
                <a:sym typeface="Kalam"/>
              </a:endParaRPr>
            </a:p>
          </p:txBody>
        </p:sp>
      </p:grpSp>
      <p:sp>
        <p:nvSpPr>
          <p:cNvPr id="1600" name="Google Shape;1600;p101"/>
          <p:cNvSpPr txBox="1"/>
          <p:nvPr/>
        </p:nvSpPr>
        <p:spPr>
          <a:xfrm>
            <a:off x="852100" y="4067125"/>
            <a:ext cx="35295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There are 5 blue.</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102"/>
          <p:cNvSpPr txBox="1"/>
          <p:nvPr>
            <p:ph idx="1" type="body"/>
          </p:nvPr>
        </p:nvSpPr>
        <p:spPr>
          <a:xfrm>
            <a:off x="324000" y="759300"/>
            <a:ext cx="6800700" cy="186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 The chocolates in this box either have red or blue wrappers. </a:t>
            </a:r>
            <a:endParaRPr sz="1900"/>
          </a:p>
          <a:p>
            <a:pPr indent="0" lvl="0" marL="0" rtl="0" algn="l">
              <a:spcBef>
                <a:spcPts val="1000"/>
              </a:spcBef>
              <a:spcAft>
                <a:spcPts val="0"/>
              </a:spcAft>
              <a:buNone/>
            </a:pPr>
            <a:r>
              <a:rPr lang="en-GB" sz="1900"/>
              <a:t>The ratio of red to blue is 2 : 1</a:t>
            </a:r>
            <a:endParaRPr sz="1900"/>
          </a:p>
          <a:p>
            <a:pPr indent="0" lvl="0" marL="0" rtl="0" algn="l">
              <a:spcBef>
                <a:spcPts val="1000"/>
              </a:spcBef>
              <a:spcAft>
                <a:spcPts val="1000"/>
              </a:spcAft>
              <a:buNone/>
            </a:pPr>
            <a:r>
              <a:rPr lang="en-GB" sz="1900"/>
              <a:t>b) If there are 10 blue chocolates, how many red chocolates are there?</a:t>
            </a:r>
            <a:endParaRPr/>
          </a:p>
        </p:txBody>
      </p:sp>
      <p:sp>
        <p:nvSpPr>
          <p:cNvPr id="1606" name="Google Shape;1606;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607" name="Google Shape;1607;p102"/>
          <p:cNvPicPr preferRelativeResize="0"/>
          <p:nvPr/>
        </p:nvPicPr>
        <p:blipFill>
          <a:blip r:embed="rId3">
            <a:alphaModFix/>
          </a:blip>
          <a:stretch>
            <a:fillRect/>
          </a:stretch>
        </p:blipFill>
        <p:spPr>
          <a:xfrm>
            <a:off x="6876901" y="472176"/>
            <a:ext cx="2019300" cy="2019300"/>
          </a:xfrm>
          <a:prstGeom prst="rect">
            <a:avLst/>
          </a:prstGeom>
          <a:noFill/>
          <a:ln>
            <a:noFill/>
          </a:ln>
        </p:spPr>
      </p:pic>
      <p:sp>
        <p:nvSpPr>
          <p:cNvPr id="1608" name="Google Shape;1608;p102"/>
          <p:cNvSpPr txBox="1"/>
          <p:nvPr/>
        </p:nvSpPr>
        <p:spPr>
          <a:xfrm>
            <a:off x="1046505" y="2757400"/>
            <a:ext cx="2853600" cy="9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red : blue</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 : 1  </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8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20</a:t>
            </a:r>
            <a:r>
              <a:rPr lang="en-GB" sz="2200">
                <a:solidFill>
                  <a:schemeClr val="dk1"/>
                </a:solidFill>
                <a:latin typeface="Kalam"/>
                <a:ea typeface="Kalam"/>
                <a:cs typeface="Kalam"/>
                <a:sym typeface="Kalam"/>
              </a:rPr>
              <a:t> : 10  </a:t>
            </a:r>
            <a:endParaRPr sz="2200">
              <a:solidFill>
                <a:schemeClr val="dk1"/>
              </a:solidFill>
              <a:latin typeface="Kalam"/>
              <a:ea typeface="Kalam"/>
              <a:cs typeface="Kalam"/>
              <a:sym typeface="Kalam"/>
            </a:endParaRPr>
          </a:p>
        </p:txBody>
      </p:sp>
      <p:grpSp>
        <p:nvGrpSpPr>
          <p:cNvPr id="1609" name="Google Shape;1609;p102"/>
          <p:cNvGrpSpPr/>
          <p:nvPr/>
        </p:nvGrpSpPr>
        <p:grpSpPr>
          <a:xfrm>
            <a:off x="2972463" y="3239996"/>
            <a:ext cx="664200" cy="724835"/>
            <a:chOff x="8025775" y="3962175"/>
            <a:chExt cx="664200" cy="739100"/>
          </a:xfrm>
        </p:grpSpPr>
        <p:pic>
          <p:nvPicPr>
            <p:cNvPr id="1610" name="Google Shape;1610;p102"/>
            <p:cNvPicPr preferRelativeResize="0"/>
            <p:nvPr/>
          </p:nvPicPr>
          <p:blipFill rotWithShape="1">
            <a:blip r:embed="rId4">
              <a:alphaModFix/>
            </a:blip>
            <a:srcRect b="59597" l="61559" r="13951" t="27330"/>
            <a:stretch/>
          </p:blipFill>
          <p:spPr>
            <a:xfrm rot="5400000">
              <a:off x="8039125" y="4078999"/>
              <a:ext cx="739100" cy="505451"/>
            </a:xfrm>
            <a:prstGeom prst="rect">
              <a:avLst/>
            </a:prstGeom>
            <a:noFill/>
            <a:ln>
              <a:noFill/>
            </a:ln>
          </p:spPr>
        </p:pic>
        <p:sp>
          <p:nvSpPr>
            <p:cNvPr id="1611" name="Google Shape;1611;p102"/>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10</a:t>
              </a:r>
              <a:endParaRPr sz="1800">
                <a:solidFill>
                  <a:schemeClr val="dk1"/>
                </a:solidFill>
                <a:latin typeface="Kalam"/>
                <a:ea typeface="Kalam"/>
                <a:cs typeface="Kalam"/>
                <a:sym typeface="Kalam"/>
              </a:endParaRPr>
            </a:p>
          </p:txBody>
        </p:sp>
      </p:grpSp>
      <p:grpSp>
        <p:nvGrpSpPr>
          <p:cNvPr id="1612" name="Google Shape;1612;p102"/>
          <p:cNvGrpSpPr/>
          <p:nvPr/>
        </p:nvGrpSpPr>
        <p:grpSpPr>
          <a:xfrm>
            <a:off x="1418038" y="3239999"/>
            <a:ext cx="664200" cy="724835"/>
            <a:chOff x="4041150" y="3949475"/>
            <a:chExt cx="664200" cy="739100"/>
          </a:xfrm>
        </p:grpSpPr>
        <p:pic>
          <p:nvPicPr>
            <p:cNvPr id="1613" name="Google Shape;1613;p102"/>
            <p:cNvPicPr preferRelativeResize="0"/>
            <p:nvPr/>
          </p:nvPicPr>
          <p:blipFill rotWithShape="1">
            <a:blip r:embed="rId4">
              <a:alphaModFix/>
            </a:blip>
            <a:srcRect b="59597" l="61559" r="13951" t="27330"/>
            <a:stretch/>
          </p:blipFill>
          <p:spPr>
            <a:xfrm flipH="1" rot="-5400000">
              <a:off x="3924323" y="4076450"/>
              <a:ext cx="739100" cy="485149"/>
            </a:xfrm>
            <a:prstGeom prst="rect">
              <a:avLst/>
            </a:prstGeom>
            <a:noFill/>
            <a:ln>
              <a:noFill/>
            </a:ln>
          </p:spPr>
        </p:pic>
        <p:sp>
          <p:nvSpPr>
            <p:cNvPr id="1614" name="Google Shape;1614;p102"/>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10</a:t>
              </a:r>
              <a:endParaRPr sz="1800">
                <a:solidFill>
                  <a:schemeClr val="dk1"/>
                </a:solidFill>
                <a:latin typeface="Kalam"/>
                <a:ea typeface="Kalam"/>
                <a:cs typeface="Kalam"/>
                <a:sym typeface="Kalam"/>
              </a:endParaRPr>
            </a:p>
          </p:txBody>
        </p:sp>
      </p:grpSp>
      <p:sp>
        <p:nvSpPr>
          <p:cNvPr id="1615" name="Google Shape;1615;p102"/>
          <p:cNvSpPr txBox="1"/>
          <p:nvPr/>
        </p:nvSpPr>
        <p:spPr>
          <a:xfrm>
            <a:off x="852100" y="4067125"/>
            <a:ext cx="35295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There are 20 red.</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103"/>
          <p:cNvSpPr txBox="1"/>
          <p:nvPr>
            <p:ph idx="1" type="body"/>
          </p:nvPr>
        </p:nvSpPr>
        <p:spPr>
          <a:xfrm>
            <a:off x="324000" y="759300"/>
            <a:ext cx="6800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 The chocolates in this box either have red or blue wrappers. </a:t>
            </a:r>
            <a:endParaRPr sz="1900"/>
          </a:p>
          <a:p>
            <a:pPr indent="0" lvl="0" marL="0" rtl="0" algn="l">
              <a:spcBef>
                <a:spcPts val="1000"/>
              </a:spcBef>
              <a:spcAft>
                <a:spcPts val="0"/>
              </a:spcAft>
              <a:buNone/>
            </a:pPr>
            <a:r>
              <a:rPr lang="en-GB" sz="1900"/>
              <a:t>The ratio of red to blue is 2 : 1</a:t>
            </a:r>
            <a:endParaRPr sz="1900"/>
          </a:p>
          <a:p>
            <a:pPr indent="0" lvl="0" marL="0" rtl="0" algn="l">
              <a:spcBef>
                <a:spcPts val="1000"/>
              </a:spcBef>
              <a:spcAft>
                <a:spcPts val="0"/>
              </a:spcAft>
              <a:buNone/>
            </a:pPr>
            <a:r>
              <a:rPr lang="en-GB" sz="1900"/>
              <a:t>c) Is it possible for there to be 10 chocolates in total? Why or why not?</a:t>
            </a:r>
            <a:endParaRPr sz="1900"/>
          </a:p>
          <a:p>
            <a:pPr indent="0" lvl="0" marL="0" rtl="0" algn="l">
              <a:spcBef>
                <a:spcPts val="1000"/>
              </a:spcBef>
              <a:spcAft>
                <a:spcPts val="1000"/>
              </a:spcAft>
              <a:buNone/>
            </a:pPr>
            <a:r>
              <a:t/>
            </a:r>
            <a:endParaRPr/>
          </a:p>
        </p:txBody>
      </p:sp>
      <p:sp>
        <p:nvSpPr>
          <p:cNvPr id="1621" name="Google Shape;1621;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622" name="Google Shape;1622;p103"/>
          <p:cNvPicPr preferRelativeResize="0"/>
          <p:nvPr/>
        </p:nvPicPr>
        <p:blipFill>
          <a:blip r:embed="rId3">
            <a:alphaModFix/>
          </a:blip>
          <a:stretch>
            <a:fillRect/>
          </a:stretch>
        </p:blipFill>
        <p:spPr>
          <a:xfrm>
            <a:off x="6876901" y="472176"/>
            <a:ext cx="2019300" cy="2019300"/>
          </a:xfrm>
          <a:prstGeom prst="rect">
            <a:avLst/>
          </a:prstGeom>
          <a:noFill/>
          <a:ln>
            <a:noFill/>
          </a:ln>
        </p:spPr>
      </p:pic>
      <p:sp>
        <p:nvSpPr>
          <p:cNvPr id="1623" name="Google Shape;1623;p103"/>
          <p:cNvSpPr txBox="1"/>
          <p:nvPr/>
        </p:nvSpPr>
        <p:spPr>
          <a:xfrm>
            <a:off x="407600" y="2700000"/>
            <a:ext cx="82791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No, as the total parts for </a:t>
            </a:r>
            <a:r>
              <a:rPr lang="en-GB" sz="2200">
                <a:solidFill>
                  <a:schemeClr val="dk1"/>
                </a:solidFill>
                <a:latin typeface="Kalam"/>
                <a:ea typeface="Kalam"/>
                <a:cs typeface="Kalam"/>
                <a:sym typeface="Kalam"/>
              </a:rPr>
              <a:t>chocolates</a:t>
            </a:r>
            <a:r>
              <a:rPr lang="en-GB" sz="2200">
                <a:solidFill>
                  <a:schemeClr val="dk1"/>
                </a:solidFill>
                <a:latin typeface="Kalam"/>
                <a:ea typeface="Kalam"/>
                <a:cs typeface="Kalam"/>
                <a:sym typeface="Kalam"/>
              </a:rPr>
              <a:t> is three. 10 is not a multiple of three. Every two red needs one blue, meaning that chocolates are ‘added’ in groups of three.</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104"/>
          <p:cNvSpPr txBox="1"/>
          <p:nvPr>
            <p:ph idx="1" type="body"/>
          </p:nvPr>
        </p:nvSpPr>
        <p:spPr>
          <a:xfrm>
            <a:off x="324000" y="759300"/>
            <a:ext cx="6800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 The chocolates in this box either have red or blue wrappers. </a:t>
            </a:r>
            <a:endParaRPr sz="1900"/>
          </a:p>
          <a:p>
            <a:pPr indent="0" lvl="0" marL="0" rtl="0" algn="l">
              <a:spcBef>
                <a:spcPts val="1000"/>
              </a:spcBef>
              <a:spcAft>
                <a:spcPts val="0"/>
              </a:spcAft>
              <a:buNone/>
            </a:pPr>
            <a:r>
              <a:rPr lang="en-GB" sz="1900"/>
              <a:t>The ratio of red to blue is 2 : 1</a:t>
            </a:r>
            <a:endParaRPr sz="1900"/>
          </a:p>
          <a:p>
            <a:pPr indent="0" lvl="0" marL="0" rtl="0" algn="l">
              <a:spcBef>
                <a:spcPts val="1000"/>
              </a:spcBef>
              <a:spcAft>
                <a:spcPts val="0"/>
              </a:spcAft>
              <a:buNone/>
            </a:pPr>
            <a:r>
              <a:rPr lang="en-GB" sz="1900"/>
              <a:t>d) There are 10 more red chocolates than blue. How many are there in total?</a:t>
            </a:r>
            <a:endParaRPr sz="1900"/>
          </a:p>
          <a:p>
            <a:pPr indent="0" lvl="0" marL="0" rtl="0" algn="l">
              <a:spcBef>
                <a:spcPts val="1000"/>
              </a:spcBef>
              <a:spcAft>
                <a:spcPts val="1000"/>
              </a:spcAft>
              <a:buNone/>
            </a:pPr>
            <a:r>
              <a:t/>
            </a:r>
            <a:endParaRPr/>
          </a:p>
        </p:txBody>
      </p:sp>
      <p:sp>
        <p:nvSpPr>
          <p:cNvPr id="1629" name="Google Shape;1629;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Comparing different representations of ratio</a:t>
            </a:r>
            <a:endParaRPr/>
          </a:p>
          <a:p>
            <a:pPr indent="0" lvl="0" marL="0" rtl="0" algn="l">
              <a:spcBef>
                <a:spcPts val="1000"/>
              </a:spcBef>
              <a:spcAft>
                <a:spcPts val="1000"/>
              </a:spcAft>
              <a:buNone/>
            </a:pPr>
            <a:r>
              <a:t/>
            </a:r>
            <a:endParaRPr/>
          </a:p>
        </p:txBody>
      </p:sp>
      <p:pic>
        <p:nvPicPr>
          <p:cNvPr id="1630" name="Google Shape;1630;p104"/>
          <p:cNvPicPr preferRelativeResize="0"/>
          <p:nvPr/>
        </p:nvPicPr>
        <p:blipFill>
          <a:blip r:embed="rId3">
            <a:alphaModFix/>
          </a:blip>
          <a:stretch>
            <a:fillRect/>
          </a:stretch>
        </p:blipFill>
        <p:spPr>
          <a:xfrm>
            <a:off x="6876901" y="472176"/>
            <a:ext cx="2019300" cy="2019300"/>
          </a:xfrm>
          <a:prstGeom prst="rect">
            <a:avLst/>
          </a:prstGeom>
          <a:noFill/>
          <a:ln>
            <a:noFill/>
          </a:ln>
        </p:spPr>
      </p:pic>
      <p:sp>
        <p:nvSpPr>
          <p:cNvPr id="1631" name="Google Shape;1631;p104"/>
          <p:cNvSpPr txBox="1"/>
          <p:nvPr/>
        </p:nvSpPr>
        <p:spPr>
          <a:xfrm>
            <a:off x="1046505" y="2757400"/>
            <a:ext cx="2853600" cy="9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red : blue</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 : 1  </a:t>
            </a:r>
            <a:endParaRPr sz="2200">
              <a:solidFill>
                <a:schemeClr val="dk1"/>
              </a:solidFill>
              <a:latin typeface="Kalam"/>
              <a:ea typeface="Kalam"/>
              <a:cs typeface="Kalam"/>
              <a:sym typeface="Kalam"/>
            </a:endParaRPr>
          </a:p>
          <a:p>
            <a:pPr indent="0" lvl="0" marL="0" rtl="0" algn="ctr">
              <a:spcBef>
                <a:spcPts val="0"/>
              </a:spcBef>
              <a:spcAft>
                <a:spcPts val="0"/>
              </a:spcAft>
              <a:buNone/>
            </a:pPr>
            <a:r>
              <a:t/>
            </a:r>
            <a:endParaRPr sz="8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20 : 10  </a:t>
            </a:r>
            <a:endParaRPr sz="2200">
              <a:solidFill>
                <a:schemeClr val="dk1"/>
              </a:solidFill>
              <a:latin typeface="Kalam"/>
              <a:ea typeface="Kalam"/>
              <a:cs typeface="Kalam"/>
              <a:sym typeface="Kalam"/>
            </a:endParaRPr>
          </a:p>
        </p:txBody>
      </p:sp>
      <p:grpSp>
        <p:nvGrpSpPr>
          <p:cNvPr id="1632" name="Google Shape;1632;p104"/>
          <p:cNvGrpSpPr/>
          <p:nvPr/>
        </p:nvGrpSpPr>
        <p:grpSpPr>
          <a:xfrm>
            <a:off x="2924788" y="3239996"/>
            <a:ext cx="664200" cy="724835"/>
            <a:chOff x="8025775" y="3962175"/>
            <a:chExt cx="664200" cy="739100"/>
          </a:xfrm>
        </p:grpSpPr>
        <p:pic>
          <p:nvPicPr>
            <p:cNvPr id="1633" name="Google Shape;1633;p104"/>
            <p:cNvPicPr preferRelativeResize="0"/>
            <p:nvPr/>
          </p:nvPicPr>
          <p:blipFill rotWithShape="1">
            <a:blip r:embed="rId4">
              <a:alphaModFix/>
            </a:blip>
            <a:srcRect b="59597" l="61559" r="13951" t="27330"/>
            <a:stretch/>
          </p:blipFill>
          <p:spPr>
            <a:xfrm rot="5400000">
              <a:off x="8039125" y="4078999"/>
              <a:ext cx="739100" cy="505451"/>
            </a:xfrm>
            <a:prstGeom prst="rect">
              <a:avLst/>
            </a:prstGeom>
            <a:noFill/>
            <a:ln>
              <a:noFill/>
            </a:ln>
          </p:spPr>
        </p:pic>
        <p:sp>
          <p:nvSpPr>
            <p:cNvPr id="1634" name="Google Shape;1634;p104"/>
            <p:cNvSpPr txBox="1"/>
            <p:nvPr/>
          </p:nvSpPr>
          <p:spPr>
            <a:xfrm>
              <a:off x="8025775" y="4072137"/>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10</a:t>
              </a:r>
              <a:endParaRPr sz="1800">
                <a:solidFill>
                  <a:schemeClr val="dk1"/>
                </a:solidFill>
                <a:latin typeface="Kalam"/>
                <a:ea typeface="Kalam"/>
                <a:cs typeface="Kalam"/>
                <a:sym typeface="Kalam"/>
              </a:endParaRPr>
            </a:p>
          </p:txBody>
        </p:sp>
      </p:grpSp>
      <p:grpSp>
        <p:nvGrpSpPr>
          <p:cNvPr id="1635" name="Google Shape;1635;p104"/>
          <p:cNvGrpSpPr/>
          <p:nvPr/>
        </p:nvGrpSpPr>
        <p:grpSpPr>
          <a:xfrm>
            <a:off x="1375663" y="3239999"/>
            <a:ext cx="664200" cy="724835"/>
            <a:chOff x="4041150" y="3949475"/>
            <a:chExt cx="664200" cy="739100"/>
          </a:xfrm>
        </p:grpSpPr>
        <p:pic>
          <p:nvPicPr>
            <p:cNvPr id="1636" name="Google Shape;1636;p104"/>
            <p:cNvPicPr preferRelativeResize="0"/>
            <p:nvPr/>
          </p:nvPicPr>
          <p:blipFill rotWithShape="1">
            <a:blip r:embed="rId4">
              <a:alphaModFix/>
            </a:blip>
            <a:srcRect b="59597" l="61559" r="13951" t="27330"/>
            <a:stretch/>
          </p:blipFill>
          <p:spPr>
            <a:xfrm flipH="1" rot="-5400000">
              <a:off x="3924323" y="4076450"/>
              <a:ext cx="739100" cy="485149"/>
            </a:xfrm>
            <a:prstGeom prst="rect">
              <a:avLst/>
            </a:prstGeom>
            <a:noFill/>
            <a:ln>
              <a:noFill/>
            </a:ln>
          </p:spPr>
        </p:pic>
        <p:sp>
          <p:nvSpPr>
            <p:cNvPr id="1637" name="Google Shape;1637;p104"/>
            <p:cNvSpPr txBox="1"/>
            <p:nvPr/>
          </p:nvSpPr>
          <p:spPr>
            <a:xfrm>
              <a:off x="4041150" y="4060593"/>
              <a:ext cx="6642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10</a:t>
              </a:r>
              <a:endParaRPr sz="1800">
                <a:solidFill>
                  <a:schemeClr val="dk1"/>
                </a:solidFill>
                <a:latin typeface="Kalam"/>
                <a:ea typeface="Kalam"/>
                <a:cs typeface="Kalam"/>
                <a:sym typeface="Kalam"/>
              </a:endParaRPr>
            </a:p>
          </p:txBody>
        </p:sp>
      </p:grpSp>
      <p:sp>
        <p:nvSpPr>
          <p:cNvPr id="1638" name="Google Shape;1638;p104"/>
          <p:cNvSpPr txBox="1"/>
          <p:nvPr/>
        </p:nvSpPr>
        <p:spPr>
          <a:xfrm>
            <a:off x="852100" y="4067125"/>
            <a:ext cx="6678900" cy="4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There are 20 red and 10 blue. This makes a difference of 10 chocolates </a:t>
            </a:r>
            <a:r>
              <a:rPr lang="en-GB" sz="2200">
                <a:solidFill>
                  <a:schemeClr val="dk1"/>
                </a:solidFill>
                <a:latin typeface="Kalam"/>
                <a:ea typeface="Kalam"/>
                <a:cs typeface="Kalam"/>
                <a:sym typeface="Kalam"/>
              </a:rPr>
              <a:t>between</a:t>
            </a:r>
            <a:r>
              <a:rPr lang="en-GB" sz="2200">
                <a:solidFill>
                  <a:schemeClr val="dk1"/>
                </a:solidFill>
                <a:latin typeface="Kalam"/>
                <a:ea typeface="Kalam"/>
                <a:cs typeface="Kalam"/>
                <a:sym typeface="Kalam"/>
              </a:rPr>
              <a:t> red and blue.</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105"/>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Ratio language and notation</a:t>
            </a:r>
            <a:endParaRPr/>
          </a:p>
        </p:txBody>
      </p:sp>
      <p:sp>
        <p:nvSpPr>
          <p:cNvPr id="1644" name="Google Shape;1644;p105"/>
          <p:cNvSpPr txBox="1"/>
          <p:nvPr>
            <p:ph idx="1" type="body"/>
          </p:nvPr>
        </p:nvSpPr>
        <p:spPr>
          <a:xfrm>
            <a:off x="400200" y="911700"/>
            <a:ext cx="8237700" cy="44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use symbols and notation because: </a:t>
            </a:r>
            <a:r>
              <a:rPr lang="en-GB"/>
              <a:t>they are easier to read and understand, they are concise and take up less space, they can be used to represent complex concepts and it allows mathematical ideas to be communicated more effectively than words.</a:t>
            </a:r>
            <a:endParaRPr/>
          </a:p>
          <a:p>
            <a:pPr indent="0" lvl="0" marL="0" rtl="0" algn="l">
              <a:spcBef>
                <a:spcPts val="1000"/>
              </a:spcBef>
              <a:spcAft>
                <a:spcPts val="0"/>
              </a:spcAft>
              <a:buNone/>
            </a:pPr>
            <a:r>
              <a:rPr lang="en-GB"/>
              <a:t>Ratio notation allows us to represents bar models, ratio tables, graphs and double number lines in a concise and efficient way.</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106"/>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50" name="Google Shape;1650;p10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