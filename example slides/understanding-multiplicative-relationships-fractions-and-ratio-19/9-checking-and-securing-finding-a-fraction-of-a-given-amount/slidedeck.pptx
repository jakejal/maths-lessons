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1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D834B9-7BFA-4707-AC7B-FC520A62E823}">
  <a:tblStyle styleId="{F2D834B9-7BFA-4707-AC7B-FC520A62E82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3" name="Shape 7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4" name="Google Shape;764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5" name="Google Shape;765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2a669055f19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2a669055f19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ec3b06a08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ec3b06a08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g1ec3b06a08b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9" name="Google Shape;789;g1ec3b06a08b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g1ec3b06a08b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7" name="Google Shape;807;g1ec3b06a08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1ec3b06a08b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3" name="Google Shape;833;g1ec3b06a08b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1ec3b777c1a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1ec3b777c1a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1" name="Shape 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2" name="Google Shape;892;g1ec3b06a08b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3" name="Google Shape;893;g1ec3b06a08b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1ec3b06a08b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1ec3b06a08b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1" name="Shape 9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" name="Google Shape;952;g1ec3b06a08b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3" name="Google Shape;953;g1ec3b06a08b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4" name="Shape 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5" name="Google Shape;985;g1ec3b06a08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6" name="Google Shape;986;g1ec3b06a08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7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a2a33fc89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a2a33fc89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9" name="Shape 1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0" name="Google Shape;1020;g2a669055f19_0_2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1" name="Google Shape;1021;g2a669055f19_0_2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1" name="Shape 1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Google Shape;1032;g1ec3b06a08b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3" name="Google Shape;1033;g1ec3b06a08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3" name="Shape 10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" name="Google Shape;1044;g1ec3b06a08b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5" name="Google Shape;1045;g1ec3b06a08b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g1ec3b06a08b_0_1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4" name="Google Shape;1054;g1ec3b06a08b_0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2" name="Shape 10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Google Shape;1063;g1ec3b777c1a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4" name="Google Shape;1064;g1ec3b777c1a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1ec3b777c1a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1ec3b777c1a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9" name="Shape 10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0" name="Google Shape;1090;g1ec3b777c1a_1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1" name="Google Shape;1091;g1ec3b777c1a_1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8" name="Shape 1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Google Shape;1109;g1ec3b06a08b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0" name="Google Shape;1110;g1ec3b06a08b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1ec3b06a08b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1ec3b06a08b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7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1ec3b06a08b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1ec3b06a08b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g1ec3b06a08b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6" name="Google Shape;1166;g1ec3b06a08b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1ec3b06a08b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1ec3b06a08b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3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g1ec3b777c1a_1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5" name="Google Shape;1205;g1ec3b777c1a_1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g1ec3b777c1a_1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1" name="Google Shape;1261;g1ec3b777c1a_1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1ec3b06a08b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1ec3b06a08b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4" name="Shape 1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5" name="Google Shape;1355;g1ec3b06a08b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6" name="Google Shape;1356;g1ec3b06a08b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1ec3b06a08b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1ec3b06a08b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1ec3b06a08b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1ec3b06a08b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0" name="Shape 1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1" name="Google Shape;1421;g1ec3b06a08b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2" name="Google Shape;1422;g1ec3b06a08b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8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2a2f0c76774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2a2f0c7677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g1ec3b06a08b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1" name="Google Shape;1451;g1ec3b06a08b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2" name="Google Shape;1462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3" name="Google Shape;1463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9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6.png"/><Relationship Id="rId5" Type="http://schemas.openxmlformats.org/officeDocument/2006/relationships/image" Target="../media/image1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22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5.png"/><Relationship Id="rId4" Type="http://schemas.openxmlformats.org/officeDocument/2006/relationships/image" Target="../media/image23.png"/><Relationship Id="rId5" Type="http://schemas.openxmlformats.org/officeDocument/2006/relationships/image" Target="../media/image25.png"/><Relationship Id="rId6" Type="http://schemas.openxmlformats.org/officeDocument/2006/relationships/image" Target="../media/image21.png"/><Relationship Id="rId7" Type="http://schemas.openxmlformats.org/officeDocument/2006/relationships/image" Target="../media/image17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24.png"/><Relationship Id="rId4" Type="http://schemas.openxmlformats.org/officeDocument/2006/relationships/image" Target="../media/image114.png"/><Relationship Id="rId5" Type="http://schemas.openxmlformats.org/officeDocument/2006/relationships/image" Target="../media/image26.png"/><Relationship Id="rId6" Type="http://schemas.openxmlformats.org/officeDocument/2006/relationships/image" Target="../media/image32.png"/><Relationship Id="rId7" Type="http://schemas.openxmlformats.org/officeDocument/2006/relationships/image" Target="../media/image12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14.png"/><Relationship Id="rId4" Type="http://schemas.openxmlformats.org/officeDocument/2006/relationships/image" Target="../media/image20.png"/><Relationship Id="rId9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34.png"/><Relationship Id="rId7" Type="http://schemas.openxmlformats.org/officeDocument/2006/relationships/image" Target="../media/image26.png"/><Relationship Id="rId8" Type="http://schemas.openxmlformats.org/officeDocument/2006/relationships/image" Target="../media/image3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8.png"/><Relationship Id="rId3" Type="http://schemas.openxmlformats.org/officeDocument/2006/relationships/image" Target="../media/image114.png"/><Relationship Id="rId4" Type="http://schemas.openxmlformats.org/officeDocument/2006/relationships/image" Target="../media/image33.png"/><Relationship Id="rId11" Type="http://schemas.openxmlformats.org/officeDocument/2006/relationships/image" Target="../media/image12.png"/><Relationship Id="rId10" Type="http://schemas.openxmlformats.org/officeDocument/2006/relationships/image" Target="../media/image36.png"/><Relationship Id="rId9" Type="http://schemas.openxmlformats.org/officeDocument/2006/relationships/image" Target="../media/image32.png"/><Relationship Id="rId5" Type="http://schemas.openxmlformats.org/officeDocument/2006/relationships/image" Target="../media/image20.png"/><Relationship Id="rId6" Type="http://schemas.openxmlformats.org/officeDocument/2006/relationships/image" Target="../media/image24.png"/><Relationship Id="rId7" Type="http://schemas.openxmlformats.org/officeDocument/2006/relationships/image" Target="../media/image34.png"/><Relationship Id="rId8" Type="http://schemas.openxmlformats.org/officeDocument/2006/relationships/image" Target="../media/image26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37.png"/><Relationship Id="rId4" Type="http://schemas.openxmlformats.org/officeDocument/2006/relationships/image" Target="../media/image42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3.png"/><Relationship Id="rId3" Type="http://schemas.openxmlformats.org/officeDocument/2006/relationships/image" Target="../media/image35.png"/><Relationship Id="rId4" Type="http://schemas.openxmlformats.org/officeDocument/2006/relationships/image" Target="../media/image42.png"/><Relationship Id="rId5" Type="http://schemas.openxmlformats.org/officeDocument/2006/relationships/image" Target="../media/image44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Relationship Id="rId5" Type="http://schemas.openxmlformats.org/officeDocument/2006/relationships/image" Target="../media/image43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5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5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5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5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5.png"/><Relationship Id="rId3" Type="http://schemas.openxmlformats.org/officeDocument/2006/relationships/image" Target="../media/image48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8.png"/><Relationship Id="rId3" Type="http://schemas.openxmlformats.org/officeDocument/2006/relationships/image" Target="../media/image48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9.png"/><Relationship Id="rId3" Type="http://schemas.openxmlformats.org/officeDocument/2006/relationships/image" Target="../media/image48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0.png"/><Relationship Id="rId3" Type="http://schemas.openxmlformats.org/officeDocument/2006/relationships/image" Target="../media/image48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idx="1" type="subTitle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idx="1" type="subTitle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idx="1" type="subTitle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idx="1" type="subTitle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2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901925" y="9534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on                                          to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107" name="Google Shape;107;p1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0" name="Google Shape;110;p1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3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4" name="Google Shape;114;p13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5" name="Google Shape;115;p13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6" name="Google Shape;116;p13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7" name="Google Shape;117;p13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0" name="Google Shape;120;p1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3" name="Google Shape;123;p1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4" name="Google Shape;124;p14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4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4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4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4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9" name="Google Shape;129;p14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5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7" name="Google Shape;137;p15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8" name="Google Shape;138;p15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9" name="Google Shape;139;p15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0" name="Google Shape;140;p15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5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5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5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9" name="Google Shape;149;p1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6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6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4" name="Google Shape;154;p17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7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7" name="Google Shape;157;p17"/>
          <p:cNvCxnSpPr>
            <a:endCxn id="15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9" name="Google Shape;15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1" name="Google Shape;161;p17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8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8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18"/>
          <p:cNvCxnSpPr>
            <a:endCxn id="17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3" name="Google Shape;17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6" name="Google Shape;176;p1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7" name="Google Shape;177;p1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78" name="Google Shape;178;p1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0" name="Google Shape;180;p18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1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2" name="Google Shape;182;p1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2" name="Google Shape;192;p19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93" name="Google Shape;193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7" name="Google Shape;197;p19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8" name="Google Shape;198;p19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99" name="Google Shape;199;p19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0" name="Google Shape;200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2" name="Google Shape;202;p19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4" name="Google Shape;204;p19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2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0" name="Google Shape;210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2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2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6" name="Google Shape;216;p2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8" name="Google Shape;218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2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2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3" name="Google Shape;223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4" name="Google Shape;224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0" name="Google Shape;230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1" name="Google Shape;231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2" name="Google Shape;232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4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24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8" name="Google Shape;238;p24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39" name="Google Shape;239;p24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0" name="Google Shape;240;p24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1" name="Google Shape;241;p2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2" name="Google Shape;242;p24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3" name="Google Shape;243;p24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4" name="Google Shape;244;p2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4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8" name="Google Shape;248;p2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2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1" name="Google Shape;251;p2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3" name="Google Shape;253;p2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4" name="Google Shape;254;p2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2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6" name="Google Shape;256;p2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57" name="Google Shape;257;p2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26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2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2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4" name="Google Shape;264;p2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5" name="Google Shape;265;p2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6" name="Google Shape;266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67" name="Google Shape;267;p2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8" name="Google Shape;268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69" name="Google Shape;269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0" name="Google Shape;270;p2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2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7" name="Google Shape;277;p2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78" name="Google Shape;278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79" name="Google Shape;279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0" name="Google Shape;280;p2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1" name="Google Shape;281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2" name="Google Shape;282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3" name="Google Shape;283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1" name="Google Shape;291;p28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2" name="Google Shape;292;p28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3" name="Google Shape;293;p28"/>
          <p:cNvSpPr txBox="1"/>
          <p:nvPr>
            <p:ph idx="1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4" name="Google Shape;294;p28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5" name="Google Shape;295;p28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6" name="Google Shape;296;p28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28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8" name="Google Shape;298;p28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99" name="Google Shape;299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2" name="Google Shape;302;p28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3" name="Google Shape;303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4" name="Google Shape;304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5" name="Google Shape;305;p28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6" name="Google Shape;306;p28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2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2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9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3" name="Google Shape;313;p29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4" name="Google Shape;314;p29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5" name="Google Shape;315;p2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6" name="Google Shape;31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p2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8" name="Google Shape;318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9" name="Google Shape;319;p29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0" name="Google Shape;320;p29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1" name="Google Shape;321;p29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2" name="Google Shape;322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" name="Google Shape;323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4" name="Google Shape;324;p29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5" name="Google Shape;325;p2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2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27" name="Google Shape;327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29" name="Google Shape;329;p29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0" name="Google Shape;330;p29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2" name="Google Shape;332;p3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0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38" name="Google Shape;33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39" name="Google Shape;339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1" name="Google Shape;341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2" name="Google Shape;342;p30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3" name="Google Shape;343;p30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4" name="Google Shape;344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5" name="Google Shape;345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6" name="Google Shape;346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47" name="Google Shape;347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48" name="Google Shape;348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0" name="Google Shape;35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3" name="Google Shape;353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5" name="Google Shape;355;p3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8" name="Google Shape;358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31"/>
          <p:cNvSpPr txBox="1"/>
          <p:nvPr>
            <p:ph idx="1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1" name="Google Shape;361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2" name="Google Shape;36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4" name="Google Shape;364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5" name="Google Shape;365;p31"/>
          <p:cNvSpPr txBox="1"/>
          <p:nvPr>
            <p:ph idx="2" type="subTitle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6" name="Google Shape;366;p31"/>
          <p:cNvSpPr txBox="1"/>
          <p:nvPr>
            <p:ph idx="3" type="subTitle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67" name="Google Shape;367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68" name="Google Shape;368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9" name="Google Shape;36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0" name="Google Shape;370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1" name="Google Shape;371;p3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3" name="Google Shape;373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6" name="Google Shape;376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" name="Google Shape;378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3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1" name="Google Shape;381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3" name="Google Shape;383;p3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4" name="Google Shape;384;p32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2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6" name="Google Shape;386;p32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87" name="Google Shape;387;p32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88" name="Google Shape;388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9" name="Google Shape;38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0" name="Google Shape;390;p32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1" name="Google Shape;391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2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4" name="Google Shape;394;p3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0" name="Google Shape;400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3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3" name="Google Shape;403;p3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4" name="Google Shape;404;p3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5" name="Google Shape;405;p3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6" name="Google Shape;406;p3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07" name="Google Shape;407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8" name="Google Shape;408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9" name="Google Shape;409;p3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0" name="Google Shape;410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3" name="Google Shape;413;p3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6" name="Google Shape;416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17" name="Google Shape;417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8" name="Google Shape;418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19" name="Google Shape;41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2" name="Google Shape;422;p3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3" name="Google Shape;423;p3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4" name="Google Shape;424;p3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5" name="Google Shape;425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6" name="Google Shape;426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7" name="Google Shape;427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28" name="Google Shape;428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29" name="Google Shape;429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2" name="Google Shape;432;p3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5" name="Google Shape;435;p3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6" name="Google Shape;436;p3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38" name="Google Shape;438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3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1" name="Google Shape;441;p3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2" name="Google Shape;442;p3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3" name="Google Shape;443;p3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4" name="Google Shape;444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5" name="Google Shape;445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6" name="Google Shape;446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47" name="Google Shape;447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48" name="Google Shape;448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1" name="Google Shape;451;p3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4" name="Google Shape;454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5" name="Google Shape;455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6" name="Google Shape;456;p36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7" name="Google Shape;457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3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0" name="Google Shape;460;p36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36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36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3" name="Google Shape;463;p36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4" name="Google Shape;464;p36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5" name="Google Shape;465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6" name="Google Shape;46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67" name="Google Shape;467;p36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68" name="Google Shape;468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6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1" name="Google Shape;471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6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4" name="Google Shape;474;p3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6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" name="Google Shape;477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3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0" name="Google Shape;480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3" name="Google Shape;483;p3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4" name="Google Shape;484;p3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5" name="Google Shape;485;p3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6" name="Google Shape;486;p3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87" name="Google Shape;487;p3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88" name="Google Shape;488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9" name="Google Shape;48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0" name="Google Shape;490;p3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1" name="Google Shape;491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4" name="Google Shape;494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97" name="Google Shape;497;p3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0" name="Google Shape;500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3" name="Google Shape;503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5" name="Google Shape;505;p3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6" name="Google Shape;506;p3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7" name="Google Shape;507;p3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8" name="Google Shape;508;p3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09" name="Google Shape;509;p3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0" name="Google Shape;510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1" name="Google Shape;511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2" name="Google Shape;51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3" name="Google Shape;513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4" name="Google Shape;514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17" name="Google Shape;517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0" name="Google Shape;520;p3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3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3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3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3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3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2" name="Google Shape;532;p3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3" name="Google Shape;533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4" name="Google Shape;534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5" name="Google Shape;53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6" name="Google Shape;536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37" name="Google Shape;537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0" name="Google Shape;540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3" name="Google Shape;543;p3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6" name="Google Shape;54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7" name="Google Shape;547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0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9" name="Google Shape;5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1" name="Google Shape;551;p4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2" name="Google Shape;552;p40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3" name="Google Shape;553;p40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54" name="Google Shape;554;p40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55" name="Google Shape;555;p40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6" name="Google Shape;556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0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59" name="Google Shape;559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0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2" name="Google Shape;562;p4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2" name="Google Shape;572;p4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73" name="Google Shape;573;p4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74" name="Google Shape;574;p4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5" name="Google Shape;575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6" name="Google Shape;576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7" name="Google Shape;577;p4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78" name="Google Shape;578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1" name="Google Shape;581;p4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Google Shape;584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6" name="Google Shape;586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87" name="Google Shape;58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9" name="Google Shape;589;p4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0" name="Google Shape;590;p4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1" name="Google Shape;591;p4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592" name="Google Shape;592;p4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593" name="Google Shape;593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4" name="Google Shape;594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5" name="Google Shape;595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6" name="Google Shape;596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97" name="Google Shape;597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0" name="Google Shape;600;p4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3" name="Google Shape;603;p4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4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6" name="Google Shape;606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8" name="Google Shape;608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9" name="Google Shape;609;p4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0" name="Google Shape;610;p4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11" name="Google Shape;611;p4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12" name="Google Shape;612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3" name="Google Shape;613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4" name="Google Shape;614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5" name="Google Shape;615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6" name="Google Shape;61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19" name="Google Shape;61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3" name="Google Shape;623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5" name="Google Shape;625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7" name="Google Shape;627;p4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9" name="Google Shape;629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0" name="Google Shape;630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1" name="Google Shape;631;p4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2" name="Google Shape;632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4" name="Google Shape;634;p4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5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6" name="Google Shape;636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4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9" name="Google Shape;639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1" name="Google Shape;641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3" name="Google Shape;643;p4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4" name="Google Shape;644;p4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4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6" name="Google Shape;646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8" name="Google Shape;648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0" name="Google Shape;650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1" name="Google Shape;651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4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3" name="Google Shape;653;p48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4" name="Google Shape;654;p4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5" name="Google Shape;65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6" name="Google Shape;656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8" name="Google Shape;65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4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1" name="Google Shape;661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2" name="Google Shape;662;p49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3" name="Google Shape;663;p4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4" name="Google Shape;664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Google Shape;666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7" name="Google Shape;667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9" name="Google Shape;66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0" name="Google Shape;670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1" name="Google Shape;671;p5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2" name="Google Shape;672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4" name="Google Shape;674;p5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5" name="Google Shape;675;p5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7" name="Google Shape;677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8" name="Google Shape;678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9" name="Google Shape;679;p5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0" name="Google Shape;680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2" name="Google Shape;682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5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5" name="Google Shape;685;p52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6" name="Google Shape;686;p52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7" name="Google Shape;687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8" name="Google Shape;688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89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Google Shape;690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3" name="Google Shape;693;p53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4" name="Google Shape;694;p53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5" name="Google Shape;695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6" name="Google Shape;69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8" name="Google Shape;698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1" name="Google Shape;701;p54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2" name="Google Shape;702;p54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3" name="Google Shape;703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4" name="Google Shape;70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6" name="Google Shape;706;p5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7" name="Google Shape;707;p5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9" name="Google Shape;709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0" name="Google Shape;710;p55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1" name="Google Shape;711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2" name="Google Shape;712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"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6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15" name="Google Shape;715;p5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6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7" name="Google Shape;717;p56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8" name="Google Shape;718;p56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57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21" name="Google Shape;721;p5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2" name="Google Shape;722;p5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3" name="Google Shape;723;p57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4" name="Google Shape;724;p57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6" name="Google Shape;726;p5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27" name="Google Shape;727;p58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9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0" name="Google Shape;730;p59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59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2" name="Google Shape;732;p59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59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4" name="Google Shape;734;p59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59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9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59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9" name="Google Shape;739;p6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0" name="Google Shape;740;p60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p6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">
  <p:cSld name="CUSTOM_3_1_1_2"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45" name="Google Shape;745;p62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6" name="Google Shape;746;p62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62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8" name="Google Shape;748;p62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2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.1 Keywords definitions (3) 1">
  <p:cSld name="CUSTOM_3_1_1_3"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6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752" name="Google Shape;752;p63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3" name="Google Shape;753;p6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63"/>
          <p:cNvSpPr txBox="1"/>
          <p:nvPr>
            <p:ph idx="1" type="subTitle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5" name="Google Shape;755;p63"/>
          <p:cNvSpPr txBox="1"/>
          <p:nvPr>
            <p:ph idx="2" type="subTitle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6" name="Google Shape;756;p63"/>
          <p:cNvSpPr txBox="1"/>
          <p:nvPr>
            <p:ph idx="3" type="subTitle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31" Type="http://schemas.openxmlformats.org/officeDocument/2006/relationships/slideLayout" Target="../slideLayouts/slideLayout30.xml"/><Relationship Id="rId30" Type="http://schemas.openxmlformats.org/officeDocument/2006/relationships/slideLayout" Target="../slideLayouts/slideLayout29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theme" Target="../theme/theme2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21" Type="http://schemas.openxmlformats.org/officeDocument/2006/relationships/slideLayout" Target="../slideLayouts/slideLayout20.xml"/><Relationship Id="rId24" Type="http://schemas.openxmlformats.org/officeDocument/2006/relationships/slideLayout" Target="../slideLayouts/slideLayout23.xml"/><Relationship Id="rId23" Type="http://schemas.openxmlformats.org/officeDocument/2006/relationships/slideLayout" Target="../slideLayouts/slideLayout22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9.png"/><Relationship Id="rId4" Type="http://schemas.openxmlformats.org/officeDocument/2006/relationships/image" Target="../media/image55.png"/><Relationship Id="rId5" Type="http://schemas.openxmlformats.org/officeDocument/2006/relationships/image" Target="../media/image53.png"/><Relationship Id="rId6" Type="http://schemas.openxmlformats.org/officeDocument/2006/relationships/image" Target="../media/image52.png"/><Relationship Id="rId7" Type="http://schemas.openxmlformats.org/officeDocument/2006/relationships/image" Target="../media/image51.png"/><Relationship Id="rId8" Type="http://schemas.openxmlformats.org/officeDocument/2006/relationships/image" Target="../media/image5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0.png"/><Relationship Id="rId4" Type="http://schemas.openxmlformats.org/officeDocument/2006/relationships/image" Target="../media/image56.png"/><Relationship Id="rId5" Type="http://schemas.openxmlformats.org/officeDocument/2006/relationships/image" Target="../media/image57.png"/><Relationship Id="rId6" Type="http://schemas.openxmlformats.org/officeDocument/2006/relationships/image" Target="../media/image59.png"/><Relationship Id="rId7" Type="http://schemas.openxmlformats.org/officeDocument/2006/relationships/image" Target="../media/image4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9.png"/><Relationship Id="rId4" Type="http://schemas.openxmlformats.org/officeDocument/2006/relationships/image" Target="../media/image49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9.png"/><Relationship Id="rId4" Type="http://schemas.openxmlformats.org/officeDocument/2006/relationships/image" Target="../media/image61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9.png"/><Relationship Id="rId4" Type="http://schemas.openxmlformats.org/officeDocument/2006/relationships/image" Target="../media/image63.png"/><Relationship Id="rId9" Type="http://schemas.openxmlformats.org/officeDocument/2006/relationships/image" Target="../media/image57.png"/><Relationship Id="rId5" Type="http://schemas.openxmlformats.org/officeDocument/2006/relationships/image" Target="../media/image64.png"/><Relationship Id="rId6" Type="http://schemas.openxmlformats.org/officeDocument/2006/relationships/image" Target="../media/image67.png"/><Relationship Id="rId7" Type="http://schemas.openxmlformats.org/officeDocument/2006/relationships/image" Target="../media/image66.png"/><Relationship Id="rId8" Type="http://schemas.openxmlformats.org/officeDocument/2006/relationships/image" Target="../media/image5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9.png"/><Relationship Id="rId4" Type="http://schemas.openxmlformats.org/officeDocument/2006/relationships/image" Target="../media/image6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2.png"/><Relationship Id="rId4" Type="http://schemas.openxmlformats.org/officeDocument/2006/relationships/image" Target="../media/image51.png"/><Relationship Id="rId5" Type="http://schemas.openxmlformats.org/officeDocument/2006/relationships/image" Target="../media/image68.png"/><Relationship Id="rId6" Type="http://schemas.openxmlformats.org/officeDocument/2006/relationships/image" Target="../media/image69.png"/><Relationship Id="rId7" Type="http://schemas.openxmlformats.org/officeDocument/2006/relationships/image" Target="../media/image7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2.png"/><Relationship Id="rId4" Type="http://schemas.openxmlformats.org/officeDocument/2006/relationships/image" Target="../media/image7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0.png"/><Relationship Id="rId4" Type="http://schemas.openxmlformats.org/officeDocument/2006/relationships/image" Target="../media/image62.png"/><Relationship Id="rId5" Type="http://schemas.openxmlformats.org/officeDocument/2006/relationships/image" Target="../media/image6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7.png"/><Relationship Id="rId4" Type="http://schemas.openxmlformats.org/officeDocument/2006/relationships/image" Target="../media/image76.png"/><Relationship Id="rId5" Type="http://schemas.openxmlformats.org/officeDocument/2006/relationships/image" Target="../media/image7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0.png"/><Relationship Id="rId4" Type="http://schemas.openxmlformats.org/officeDocument/2006/relationships/image" Target="../media/image62.png"/><Relationship Id="rId5" Type="http://schemas.openxmlformats.org/officeDocument/2006/relationships/image" Target="../media/image68.png"/><Relationship Id="rId6" Type="http://schemas.openxmlformats.org/officeDocument/2006/relationships/image" Target="../media/image77.png"/><Relationship Id="rId7" Type="http://schemas.openxmlformats.org/officeDocument/2006/relationships/image" Target="../media/image76.png"/><Relationship Id="rId8" Type="http://schemas.openxmlformats.org/officeDocument/2006/relationships/image" Target="../media/image7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9.png"/><Relationship Id="rId4" Type="http://schemas.openxmlformats.org/officeDocument/2006/relationships/image" Target="../media/image8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7.png"/><Relationship Id="rId4" Type="http://schemas.openxmlformats.org/officeDocument/2006/relationships/image" Target="../media/image59.png"/><Relationship Id="rId5" Type="http://schemas.openxmlformats.org/officeDocument/2006/relationships/image" Target="../media/image56.png"/><Relationship Id="rId6" Type="http://schemas.openxmlformats.org/officeDocument/2006/relationships/image" Target="../media/image82.png"/><Relationship Id="rId7" Type="http://schemas.openxmlformats.org/officeDocument/2006/relationships/image" Target="../media/image8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5.png"/><Relationship Id="rId4" Type="http://schemas.openxmlformats.org/officeDocument/2006/relationships/image" Target="../media/image87.png"/><Relationship Id="rId5" Type="http://schemas.openxmlformats.org/officeDocument/2006/relationships/image" Target="../media/image9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8.png"/><Relationship Id="rId4" Type="http://schemas.openxmlformats.org/officeDocument/2006/relationships/image" Target="../media/image91.png"/><Relationship Id="rId9" Type="http://schemas.openxmlformats.org/officeDocument/2006/relationships/image" Target="../media/image93.png"/><Relationship Id="rId5" Type="http://schemas.openxmlformats.org/officeDocument/2006/relationships/image" Target="../media/image86.png"/><Relationship Id="rId6" Type="http://schemas.openxmlformats.org/officeDocument/2006/relationships/image" Target="../media/image89.png"/><Relationship Id="rId7" Type="http://schemas.openxmlformats.org/officeDocument/2006/relationships/image" Target="../media/image92.png"/><Relationship Id="rId8" Type="http://schemas.openxmlformats.org/officeDocument/2006/relationships/image" Target="../media/image94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5.png"/><Relationship Id="rId4" Type="http://schemas.openxmlformats.org/officeDocument/2006/relationships/image" Target="../media/image96.png"/><Relationship Id="rId5" Type="http://schemas.openxmlformats.org/officeDocument/2006/relationships/image" Target="../media/image97.png"/><Relationship Id="rId6" Type="http://schemas.openxmlformats.org/officeDocument/2006/relationships/image" Target="../media/image98.png"/><Relationship Id="rId7" Type="http://schemas.openxmlformats.org/officeDocument/2006/relationships/image" Target="../media/image100.png"/><Relationship Id="rId8" Type="http://schemas.openxmlformats.org/officeDocument/2006/relationships/image" Target="../media/image9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8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9" Type="http://schemas.openxmlformats.org/officeDocument/2006/relationships/image" Target="../media/image106.png"/><Relationship Id="rId5" Type="http://schemas.openxmlformats.org/officeDocument/2006/relationships/image" Target="../media/image103.png"/><Relationship Id="rId6" Type="http://schemas.openxmlformats.org/officeDocument/2006/relationships/image" Target="../media/image104.png"/><Relationship Id="rId7" Type="http://schemas.openxmlformats.org/officeDocument/2006/relationships/image" Target="../media/image105.png"/><Relationship Id="rId8" Type="http://schemas.openxmlformats.org/officeDocument/2006/relationships/image" Target="../media/image107.png"/><Relationship Id="rId11" Type="http://schemas.openxmlformats.org/officeDocument/2006/relationships/image" Target="../media/image108.png"/><Relationship Id="rId10" Type="http://schemas.openxmlformats.org/officeDocument/2006/relationships/image" Target="../media/image109.png"/><Relationship Id="rId13" Type="http://schemas.openxmlformats.org/officeDocument/2006/relationships/image" Target="../media/image110.png"/><Relationship Id="rId12" Type="http://schemas.openxmlformats.org/officeDocument/2006/relationships/image" Target="../media/image112.png"/><Relationship Id="rId15" Type="http://schemas.openxmlformats.org/officeDocument/2006/relationships/image" Target="../media/image113.png"/><Relationship Id="rId14" Type="http://schemas.openxmlformats.org/officeDocument/2006/relationships/image" Target="../media/image111.png"/><Relationship Id="rId17" Type="http://schemas.openxmlformats.org/officeDocument/2006/relationships/image" Target="../media/image115.png"/><Relationship Id="rId16" Type="http://schemas.openxmlformats.org/officeDocument/2006/relationships/image" Target="../media/image11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1.png"/><Relationship Id="rId4" Type="http://schemas.openxmlformats.org/officeDocument/2006/relationships/image" Target="../media/image102.png"/><Relationship Id="rId9" Type="http://schemas.openxmlformats.org/officeDocument/2006/relationships/image" Target="../media/image106.png"/><Relationship Id="rId5" Type="http://schemas.openxmlformats.org/officeDocument/2006/relationships/image" Target="../media/image103.png"/><Relationship Id="rId6" Type="http://schemas.openxmlformats.org/officeDocument/2006/relationships/image" Target="../media/image107.png"/><Relationship Id="rId7" Type="http://schemas.openxmlformats.org/officeDocument/2006/relationships/image" Target="../media/image104.png"/><Relationship Id="rId8" Type="http://schemas.openxmlformats.org/officeDocument/2006/relationships/image" Target="../media/image105.png"/><Relationship Id="rId20" Type="http://schemas.openxmlformats.org/officeDocument/2006/relationships/image" Target="../media/image115.png"/><Relationship Id="rId11" Type="http://schemas.openxmlformats.org/officeDocument/2006/relationships/image" Target="../media/image108.png"/><Relationship Id="rId10" Type="http://schemas.openxmlformats.org/officeDocument/2006/relationships/image" Target="../media/image117.png"/><Relationship Id="rId13" Type="http://schemas.openxmlformats.org/officeDocument/2006/relationships/image" Target="../media/image118.png"/><Relationship Id="rId12" Type="http://schemas.openxmlformats.org/officeDocument/2006/relationships/image" Target="../media/image109.png"/><Relationship Id="rId15" Type="http://schemas.openxmlformats.org/officeDocument/2006/relationships/image" Target="../media/image112.png"/><Relationship Id="rId14" Type="http://schemas.openxmlformats.org/officeDocument/2006/relationships/image" Target="../media/image119.png"/><Relationship Id="rId17" Type="http://schemas.openxmlformats.org/officeDocument/2006/relationships/image" Target="../media/image111.png"/><Relationship Id="rId16" Type="http://schemas.openxmlformats.org/officeDocument/2006/relationships/image" Target="../media/image110.png"/><Relationship Id="rId19" Type="http://schemas.openxmlformats.org/officeDocument/2006/relationships/image" Target="../media/image116.png"/><Relationship Id="rId18" Type="http://schemas.openxmlformats.org/officeDocument/2006/relationships/image" Target="../media/image11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20.png"/><Relationship Id="rId4" Type="http://schemas.openxmlformats.org/officeDocument/2006/relationships/image" Target="../media/image57.png"/><Relationship Id="rId5" Type="http://schemas.openxmlformats.org/officeDocument/2006/relationships/image" Target="../media/image59.png"/><Relationship Id="rId6" Type="http://schemas.openxmlformats.org/officeDocument/2006/relationships/image" Target="../media/image56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24.png"/><Relationship Id="rId4" Type="http://schemas.openxmlformats.org/officeDocument/2006/relationships/image" Target="../media/image120.png"/><Relationship Id="rId5" Type="http://schemas.openxmlformats.org/officeDocument/2006/relationships/image" Target="../media/image12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26.png"/><Relationship Id="rId4" Type="http://schemas.openxmlformats.org/officeDocument/2006/relationships/image" Target="../media/image125.png"/><Relationship Id="rId5" Type="http://schemas.openxmlformats.org/officeDocument/2006/relationships/image" Target="../media/image122.png"/><Relationship Id="rId6" Type="http://schemas.openxmlformats.org/officeDocument/2006/relationships/image" Target="../media/image12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30.png"/><Relationship Id="rId4" Type="http://schemas.openxmlformats.org/officeDocument/2006/relationships/image" Target="../media/image129.png"/><Relationship Id="rId5" Type="http://schemas.openxmlformats.org/officeDocument/2006/relationships/image" Target="../media/image127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28.png"/><Relationship Id="rId4" Type="http://schemas.openxmlformats.org/officeDocument/2006/relationships/image" Target="../media/image131.png"/><Relationship Id="rId5" Type="http://schemas.openxmlformats.org/officeDocument/2006/relationships/image" Target="../media/image134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28.png"/><Relationship Id="rId4" Type="http://schemas.openxmlformats.org/officeDocument/2006/relationships/image" Target="../media/image131.png"/><Relationship Id="rId5" Type="http://schemas.openxmlformats.org/officeDocument/2006/relationships/image" Target="../media/image134.png"/><Relationship Id="rId6" Type="http://schemas.openxmlformats.org/officeDocument/2006/relationships/image" Target="../media/image132.png"/><Relationship Id="rId7" Type="http://schemas.openxmlformats.org/officeDocument/2006/relationships/image" Target="../media/image133.png"/><Relationship Id="rId8" Type="http://schemas.openxmlformats.org/officeDocument/2006/relationships/image" Target="../media/image13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37.png"/><Relationship Id="rId4" Type="http://schemas.openxmlformats.org/officeDocument/2006/relationships/image" Target="../media/image138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3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finding a fraction of a given amount</a:t>
            </a:r>
            <a:endParaRPr/>
          </a:p>
        </p:txBody>
      </p:sp>
      <p:sp>
        <p:nvSpPr>
          <p:cNvPr id="762" name="Google Shape;762;p64"/>
          <p:cNvSpPr txBox="1"/>
          <p:nvPr>
            <p:ph idx="1" type="subTitle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Understanding multiplicative relationships: fractions and ratio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65"/>
          <p:cNvSpPr txBox="1"/>
          <p:nvPr/>
        </p:nvSpPr>
        <p:spPr>
          <a:xfrm>
            <a:off x="5655175" y="9530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6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find a fraction of a given amount.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7"/>
          <p:cNvSpPr txBox="1"/>
          <p:nvPr>
            <p:ph idx="3" type="subTitle"/>
          </p:nvPr>
        </p:nvSpPr>
        <p:spPr>
          <a:xfrm>
            <a:off x="324001" y="1111288"/>
            <a:ext cx="84960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</a:t>
            </a:r>
            <a:r>
              <a:rPr lang="en-GB"/>
              <a:t>reciprocal is the multiplicative inverse of any non-zero number. Any non-zero number multiplied by its reciprocal is equal to 1.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2" name="Google Shape;782;p68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sp>
        <p:nvSpPr>
          <p:cNvPr id="783" name="Google Shape;783;p68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sp>
        <p:nvSpPr>
          <p:cNvPr id="784" name="Google Shape;784;p68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 </a:t>
            </a:r>
            <a:endParaRPr/>
          </a:p>
        </p:txBody>
      </p:sp>
      <p:sp>
        <p:nvSpPr>
          <p:cNvPr id="785" name="Google Shape;785;p68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finding a fraction of a given amount</a:t>
            </a:r>
            <a:endParaRPr/>
          </a:p>
        </p:txBody>
      </p:sp>
      <p:pic>
        <p:nvPicPr>
          <p:cNvPr id="786" name="Google Shape;78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2500" y="17410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sp>
        <p:nvSpPr>
          <p:cNvPr id="792" name="Google Shape;792;p69"/>
          <p:cNvSpPr txBox="1"/>
          <p:nvPr>
            <p:ph idx="1" type="body"/>
          </p:nvPr>
        </p:nvSpPr>
        <p:spPr>
          <a:xfrm>
            <a:off x="324000" y="616903"/>
            <a:ext cx="8237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</a:t>
            </a:r>
            <a:r>
              <a:rPr lang="en-GB" sz="2000">
                <a:solidFill>
                  <a:schemeClr val="accent4"/>
                </a:solidFill>
              </a:rPr>
              <a:t>fraction</a:t>
            </a:r>
            <a:r>
              <a:rPr lang="en-GB" sz="2000"/>
              <a:t> of each bar is shaded in each of the following?</a:t>
            </a:r>
            <a:endParaRPr sz="2000"/>
          </a:p>
        </p:txBody>
      </p:sp>
      <p:graphicFrame>
        <p:nvGraphicFramePr>
          <p:cNvPr id="793" name="Google Shape;793;p69"/>
          <p:cNvGraphicFramePr/>
          <p:nvPr/>
        </p:nvGraphicFramePr>
        <p:xfrm>
          <a:off x="952500" y="1048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4" name="Google Shape;794;p69"/>
          <p:cNvGraphicFramePr/>
          <p:nvPr/>
        </p:nvGraphicFramePr>
        <p:xfrm>
          <a:off x="952500" y="236478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2413000"/>
                <a:gridCol w="2413000"/>
                <a:gridCol w="2413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5" name="Google Shape;795;p69"/>
          <p:cNvGraphicFramePr/>
          <p:nvPr/>
        </p:nvGraphicFramePr>
        <p:xfrm>
          <a:off x="952538" y="17066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6" name="Google Shape;796;p69"/>
          <p:cNvGraphicFramePr/>
          <p:nvPr/>
        </p:nvGraphicFramePr>
        <p:xfrm>
          <a:off x="952500" y="3022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  <a:gridCol w="6032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7" name="Google Shape;797;p69"/>
          <p:cNvGraphicFramePr/>
          <p:nvPr/>
        </p:nvGraphicFramePr>
        <p:xfrm>
          <a:off x="952500" y="36810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798" name="Google Shape;798;p69"/>
          <p:cNvGraphicFramePr/>
          <p:nvPr/>
        </p:nvGraphicFramePr>
        <p:xfrm>
          <a:off x="952500" y="433920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  <a:gridCol w="48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799" name="Google Shape;799;p69" title="two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07544" y="937605"/>
            <a:ext cx="183000" cy="5882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&quot;&gt;&lt;mfrac&gt;&lt;mn&gt;4&lt;/mn&gt;&lt;mn&gt;9&lt;/mn&gt;&lt;/mfrac&gt;&lt;/math&gt;" id="800" name="Google Shape;800;p69" title="four ni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6881" y="1616228"/>
            <a:ext cx="180275" cy="583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3}&quot;&gt;&lt;mfrac&gt;&lt;mn&gt;1&lt;/mn&gt;&lt;mn&gt;3&lt;/mn&gt;&lt;/mfrac&gt;&lt;/math&gt;" id="801" name="Google Shape;801;p69" title="one thir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307544" y="2268937"/>
            <a:ext cx="183000" cy="6056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1}{12}&quot;&gt;&lt;mfrac&gt;&lt;mn&gt;11&lt;/mn&gt;&lt;mn&gt;12&lt;/mn&gt;&lt;/mfrac&gt;&lt;/math&gt;" id="802" name="Google Shape;802;p69" title="11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46631" y="2952164"/>
            <a:ext cx="300775" cy="5422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803" name="Google Shape;803;p69" title="three four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305365" y="3573109"/>
            <a:ext cx="187357" cy="5969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0}{15}&quot;&gt;&lt;mfrac&gt;&lt;mn&gt;10&lt;/mn&gt;&lt;mn&gt;15&lt;/mn&gt;&lt;/mfrac&gt;&lt;/math&gt;" id="804" name="Google Shape;804;p69" title="10 over 1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46625" y="4237822"/>
            <a:ext cx="300787" cy="5487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sp>
        <p:nvSpPr>
          <p:cNvPr id="810" name="Google Shape;810;p70"/>
          <p:cNvSpPr txBox="1"/>
          <p:nvPr>
            <p:ph idx="1" type="body"/>
          </p:nvPr>
        </p:nvSpPr>
        <p:spPr>
          <a:xfrm>
            <a:off x="324000" y="606900"/>
            <a:ext cx="5765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value does the </a:t>
            </a:r>
            <a:r>
              <a:rPr lang="en-GB">
                <a:solidFill>
                  <a:schemeClr val="accent4"/>
                </a:solidFill>
              </a:rPr>
              <a:t>whole</a:t>
            </a:r>
            <a:r>
              <a:rPr lang="en-GB"/>
              <a:t> bar represent?</a:t>
            </a:r>
            <a:endParaRPr/>
          </a:p>
        </p:txBody>
      </p:sp>
      <p:graphicFrame>
        <p:nvGraphicFramePr>
          <p:cNvPr id="811" name="Google Shape;811;p70"/>
          <p:cNvGraphicFramePr/>
          <p:nvPr/>
        </p:nvGraphicFramePr>
        <p:xfrm>
          <a:off x="952500" y="17256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7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812" name="Google Shape;812;p70"/>
          <p:cNvSpPr/>
          <p:nvPr/>
        </p:nvSpPr>
        <p:spPr>
          <a:xfrm rot="5400000">
            <a:off x="4473475" y="-2048300"/>
            <a:ext cx="199800" cy="7242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70"/>
          <p:cNvSpPr txBox="1"/>
          <p:nvPr/>
        </p:nvSpPr>
        <p:spPr>
          <a:xfrm>
            <a:off x="4497475" y="1134250"/>
            <a:ext cx="151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14" name="Google Shape;814;p70"/>
          <p:cNvGraphicFramePr/>
          <p:nvPr/>
        </p:nvGraphicFramePr>
        <p:xfrm>
          <a:off x="952500" y="17256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7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815" name="Google Shape;815;p70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89375" y="1814638"/>
            <a:ext cx="19085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816" name="Google Shape;816;p70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45875" y="1783638"/>
            <a:ext cx="19085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817" name="Google Shape;817;p70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476575" y="1783638"/>
            <a:ext cx="19085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818" name="Google Shape;818;p70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59550" y="1783638"/>
            <a:ext cx="19085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819" name="Google Shape;819;p70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3775" y="1814625"/>
            <a:ext cx="190853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20" name="Google Shape;820;p7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338659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21" name="Google Shape;821;p70"/>
          <p:cNvSpPr txBox="1"/>
          <p:nvPr/>
        </p:nvSpPr>
        <p:spPr>
          <a:xfrm>
            <a:off x="290902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2" name="Google Shape;822;p7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7748795" y="3678148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823" name="Google Shape;823;p70"/>
          <p:cNvSpPr txBox="1"/>
          <p:nvPr/>
        </p:nvSpPr>
        <p:spPr>
          <a:xfrm>
            <a:off x="76944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24" name="Google Shape;824;p70"/>
          <p:cNvGrpSpPr/>
          <p:nvPr/>
        </p:nvGrpSpPr>
        <p:grpSpPr>
          <a:xfrm>
            <a:off x="982799" y="2424275"/>
            <a:ext cx="3176576" cy="1756699"/>
            <a:chOff x="1363799" y="2424275"/>
            <a:chExt cx="3176576" cy="1756699"/>
          </a:xfrm>
        </p:grpSpPr>
        <p:pic>
          <p:nvPicPr>
            <p:cNvPr id="825" name="Google Shape;825;p70"/>
            <p:cNvPicPr preferRelativeResize="0"/>
            <p:nvPr/>
          </p:nvPicPr>
          <p:blipFill rotWithShape="1">
            <a:blip r:embed="rId6">
              <a:alphaModFix/>
            </a:blip>
            <a:srcRect b="0" l="0" r="69082" t="56280"/>
            <a:stretch/>
          </p:blipFill>
          <p:spPr>
            <a:xfrm flipH="1">
              <a:off x="1363799" y="2424275"/>
              <a:ext cx="3176576" cy="17566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26" name="Google Shape;826;p70"/>
            <p:cNvSpPr txBox="1"/>
            <p:nvPr/>
          </p:nvSpPr>
          <p:spPr>
            <a:xfrm>
              <a:off x="1589375" y="2708600"/>
              <a:ext cx="2699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Could we use this bar model to help us find      of an amount?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&quot;&gt;&lt;mfrac&gt;&lt;mn&gt;2&lt;/mn&gt;&lt;mn&gt;5&lt;/mn&gt;&lt;/mfrac&gt;&lt;/math&gt;" id="827" name="Google Shape;827;p70" title="two fif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4021512" y="3051001"/>
              <a:ext cx="151650" cy="48745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8" name="Google Shape;828;p70"/>
          <p:cNvPicPr preferRelativeResize="0"/>
          <p:nvPr/>
        </p:nvPicPr>
        <p:blipFill rotWithShape="1">
          <a:blip r:embed="rId6">
            <a:alphaModFix/>
          </a:blip>
          <a:srcRect b="0" l="0" r="69082" t="56280"/>
          <a:stretch/>
        </p:blipFill>
        <p:spPr>
          <a:xfrm>
            <a:off x="5753000" y="2553775"/>
            <a:ext cx="1955251" cy="1560724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0"/>
          <p:cNvSpPr txBox="1"/>
          <p:nvPr/>
        </p:nvSpPr>
        <p:spPr>
          <a:xfrm>
            <a:off x="5857700" y="2732275"/>
            <a:ext cx="1850400" cy="7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Yes, we can change the value the whole bar represents.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30" name="Google Shape;830;p70"/>
          <p:cNvSpPr txBox="1"/>
          <p:nvPr/>
        </p:nvSpPr>
        <p:spPr>
          <a:xfrm>
            <a:off x="4397100" y="1130784"/>
            <a:ext cx="349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35" name="Google Shape;835;p71"/>
          <p:cNvGraphicFramePr/>
          <p:nvPr/>
        </p:nvGraphicFramePr>
        <p:xfrm>
          <a:off x="952500" y="173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7239000"/>
              </a:tblGrid>
              <a:tr h="7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836" name="Google Shape;836;p71"/>
          <p:cNvGrpSpPr/>
          <p:nvPr/>
        </p:nvGrpSpPr>
        <p:grpSpPr>
          <a:xfrm>
            <a:off x="5753000" y="2629975"/>
            <a:ext cx="1955251" cy="1560724"/>
            <a:chOff x="5372000" y="4153975"/>
            <a:chExt cx="1955251" cy="1560724"/>
          </a:xfrm>
        </p:grpSpPr>
        <p:pic>
          <p:nvPicPr>
            <p:cNvPr id="837" name="Google Shape;837;p71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372000" y="4153975"/>
              <a:ext cx="1955251" cy="1560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38" name="Google Shape;838;p71"/>
            <p:cNvSpPr txBox="1"/>
            <p:nvPr/>
          </p:nvSpPr>
          <p:spPr>
            <a:xfrm>
              <a:off x="5513175" y="4315400"/>
              <a:ext cx="1522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That means that    of 20 is 8.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&quot;&gt;&lt;mfrac&gt;&lt;mn&gt;2&lt;/mn&gt;&lt;mn&gt;5&lt;/mn&gt;&lt;/mfrac&gt;&lt;/math&gt;" id="839" name="Google Shape;839;p71" title="two fif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24337" y="4656051"/>
              <a:ext cx="151650" cy="4874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40" name="Google Shape;840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sp>
        <p:nvSpPr>
          <p:cNvPr id="841" name="Google Shape;841;p71"/>
          <p:cNvSpPr txBox="1"/>
          <p:nvPr>
            <p:ph idx="1" type="body"/>
          </p:nvPr>
        </p:nvSpPr>
        <p:spPr>
          <a:xfrm>
            <a:off x="324000" y="759300"/>
            <a:ext cx="3045600" cy="2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    of 20?  </a:t>
            </a:r>
            <a:endParaRPr/>
          </a:p>
        </p:txBody>
      </p:sp>
      <p:sp>
        <p:nvSpPr>
          <p:cNvPr id="842" name="Google Shape;842;p71"/>
          <p:cNvSpPr/>
          <p:nvPr/>
        </p:nvSpPr>
        <p:spPr>
          <a:xfrm rot="5400000">
            <a:off x="4473475" y="-2048300"/>
            <a:ext cx="199800" cy="7242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43" name="Google Shape;843;p71"/>
          <p:cNvSpPr txBox="1"/>
          <p:nvPr/>
        </p:nvSpPr>
        <p:spPr>
          <a:xfrm>
            <a:off x="4397100" y="1072675"/>
            <a:ext cx="1522800" cy="6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5 = 4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44" name="Google Shape;844;p71"/>
          <p:cNvGrpSpPr/>
          <p:nvPr/>
        </p:nvGrpSpPr>
        <p:grpSpPr>
          <a:xfrm>
            <a:off x="1499652" y="2987300"/>
            <a:ext cx="2223273" cy="1295400"/>
            <a:chOff x="1499652" y="2987300"/>
            <a:chExt cx="2223273" cy="1295400"/>
          </a:xfrm>
        </p:grpSpPr>
        <p:pic>
          <p:nvPicPr>
            <p:cNvPr id="845" name="Google Shape;845;p71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499652" y="2987300"/>
              <a:ext cx="2223273" cy="12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6" name="Google Shape;846;p71"/>
            <p:cNvSpPr txBox="1"/>
            <p:nvPr/>
          </p:nvSpPr>
          <p:spPr>
            <a:xfrm>
              <a:off x="1687438" y="3205025"/>
              <a:ext cx="1850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Share the 20 into the 5 equal parts.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2}{5}&quot;&gt;&lt;mfrac&gt;&lt;mn&gt;2&lt;/mn&gt;&lt;mn&gt;5&lt;/mn&gt;&lt;/mfrac&gt;&lt;/math&gt;" id="847" name="Google Shape;847;p71" title="two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79537" y="694801"/>
            <a:ext cx="151650" cy="4874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8" name="Google Shape;848;p71"/>
          <p:cNvGrpSpPr/>
          <p:nvPr/>
        </p:nvGrpSpPr>
        <p:grpSpPr>
          <a:xfrm>
            <a:off x="5753000" y="3315775"/>
            <a:ext cx="1955251" cy="898342"/>
            <a:chOff x="5295800" y="2858575"/>
            <a:chExt cx="1955251" cy="898342"/>
          </a:xfrm>
        </p:grpSpPr>
        <p:pic>
          <p:nvPicPr>
            <p:cNvPr id="849" name="Google Shape;849;p71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295800" y="2858575"/>
              <a:ext cx="1955251" cy="84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0" name="Google Shape;850;p71"/>
            <p:cNvSpPr txBox="1"/>
            <p:nvPr/>
          </p:nvSpPr>
          <p:spPr>
            <a:xfrm>
              <a:off x="5400500" y="2984117"/>
              <a:ext cx="1522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So, each part is worth 4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51" name="Google Shape;851;p71"/>
          <p:cNvSpPr/>
          <p:nvPr/>
        </p:nvSpPr>
        <p:spPr>
          <a:xfrm rot="-5400000">
            <a:off x="2305525" y="1186450"/>
            <a:ext cx="199800" cy="2906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2" name="Google Shape;852;p71"/>
          <p:cNvSpPr txBox="1"/>
          <p:nvPr/>
        </p:nvSpPr>
        <p:spPr>
          <a:xfrm>
            <a:off x="1850125" y="2726750"/>
            <a:ext cx="1217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× 4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8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53" name="Google Shape;853;p71"/>
          <p:cNvGrpSpPr/>
          <p:nvPr/>
        </p:nvGrpSpPr>
        <p:grpSpPr>
          <a:xfrm>
            <a:off x="1423452" y="2911100"/>
            <a:ext cx="3798748" cy="1596475"/>
            <a:chOff x="1423452" y="4054100"/>
            <a:chExt cx="3798748" cy="1596475"/>
          </a:xfrm>
        </p:grpSpPr>
        <p:pic>
          <p:nvPicPr>
            <p:cNvPr id="854" name="Google Shape;854;p71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423452" y="4054100"/>
              <a:ext cx="3798748" cy="15964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5" name="Google Shape;855;p71"/>
            <p:cNvSpPr txBox="1"/>
            <p:nvPr/>
          </p:nvSpPr>
          <p:spPr>
            <a:xfrm>
              <a:off x="1687450" y="4271825"/>
              <a:ext cx="3339300" cy="1085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Yes, and as we want to find     we need to multiply 4 by 2 to give us 2 parts.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5}&quot;&gt;&lt;mfrac&gt;&lt;mn&gt;2&lt;/mn&gt;&lt;mn&gt;5&lt;/mn&gt;&lt;/mfrac&gt;&lt;/math&gt;" id="856" name="Google Shape;856;p71" title="two fif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759700" y="4239076"/>
              <a:ext cx="151650" cy="487450"/>
            </a:xfrm>
            <a:prstGeom prst="rect">
              <a:avLst/>
            </a:prstGeom>
            <a:noFill/>
            <a:ln>
              <a:noFill/>
            </a:ln>
          </p:spPr>
        </p:pic>
      </p:grpSp>
      <p:graphicFrame>
        <p:nvGraphicFramePr>
          <p:cNvPr id="857" name="Google Shape;857;p71"/>
          <p:cNvGraphicFramePr/>
          <p:nvPr/>
        </p:nvGraphicFramePr>
        <p:xfrm>
          <a:off x="952500" y="173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7741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8" name="Google Shape;858;p71"/>
          <p:cNvGraphicFramePr/>
          <p:nvPr/>
        </p:nvGraphicFramePr>
        <p:xfrm>
          <a:off x="952500" y="173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7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859" name="Google Shape;859;p71"/>
          <p:cNvGraphicFramePr/>
          <p:nvPr/>
        </p:nvGraphicFramePr>
        <p:xfrm>
          <a:off x="952500" y="17343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1447800"/>
                <a:gridCol w="1447800"/>
                <a:gridCol w="1447800"/>
                <a:gridCol w="1447800"/>
                <a:gridCol w="1447800"/>
              </a:tblGrid>
              <a:tr h="774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60" name="Google Shape;860;p71"/>
          <p:cNvSpPr/>
          <p:nvPr/>
        </p:nvSpPr>
        <p:spPr>
          <a:xfrm>
            <a:off x="4765450" y="1050650"/>
            <a:ext cx="9450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1" name="Google Shape;861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38659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62" name="Google Shape;862;p71"/>
          <p:cNvSpPr txBox="1"/>
          <p:nvPr/>
        </p:nvSpPr>
        <p:spPr>
          <a:xfrm>
            <a:off x="290902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63" name="Google Shape;863;p7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748795" y="3678148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864" name="Google Shape;864;p71"/>
          <p:cNvSpPr txBox="1"/>
          <p:nvPr/>
        </p:nvSpPr>
        <p:spPr>
          <a:xfrm>
            <a:off x="76944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69" name="Google Shape;869;p72"/>
          <p:cNvGraphicFramePr/>
          <p:nvPr/>
        </p:nvGraphicFramePr>
        <p:xfrm>
          <a:off x="952500" y="1707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77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70" name="Google Shape;870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sp>
        <p:nvSpPr>
          <p:cNvPr id="871" name="Google Shape;871;p72"/>
          <p:cNvSpPr txBox="1"/>
          <p:nvPr>
            <p:ph idx="1" type="body"/>
          </p:nvPr>
        </p:nvSpPr>
        <p:spPr>
          <a:xfrm>
            <a:off x="324000" y="702959"/>
            <a:ext cx="4209600" cy="25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Calculate</a:t>
            </a:r>
            <a:r>
              <a:rPr lang="en-GB"/>
              <a:t>    of £26.40 </a:t>
            </a:r>
            <a:r>
              <a:rPr lang="en-GB"/>
              <a:t>= £16.50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72"/>
          <p:cNvSpPr/>
          <p:nvPr/>
        </p:nvSpPr>
        <p:spPr>
          <a:xfrm rot="5400000">
            <a:off x="4472100" y="-2048300"/>
            <a:ext cx="199800" cy="7242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3" name="Google Shape;873;p72"/>
          <p:cNvSpPr txBox="1"/>
          <p:nvPr/>
        </p:nvSpPr>
        <p:spPr>
          <a:xfrm>
            <a:off x="3759275" y="1072675"/>
            <a:ext cx="2541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£26.40 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8 = £3.30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874" name="Google Shape;874;p72"/>
          <p:cNvGrpSpPr/>
          <p:nvPr/>
        </p:nvGrpSpPr>
        <p:grpSpPr>
          <a:xfrm>
            <a:off x="966252" y="2987300"/>
            <a:ext cx="2223273" cy="1295400"/>
            <a:chOff x="966252" y="2987300"/>
            <a:chExt cx="2223273" cy="1295400"/>
          </a:xfrm>
        </p:grpSpPr>
        <p:pic>
          <p:nvPicPr>
            <p:cNvPr id="875" name="Google Shape;875;p72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966252" y="2987300"/>
              <a:ext cx="2223273" cy="12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6" name="Google Shape;876;p72"/>
            <p:cNvSpPr txBox="1"/>
            <p:nvPr/>
          </p:nvSpPr>
          <p:spPr>
            <a:xfrm>
              <a:off x="1154038" y="3205025"/>
              <a:ext cx="1850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Yes, the whole bar represents £26.40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877" name="Google Shape;877;p72"/>
          <p:cNvGrpSpPr/>
          <p:nvPr/>
        </p:nvGrpSpPr>
        <p:grpSpPr>
          <a:xfrm>
            <a:off x="5829200" y="2477575"/>
            <a:ext cx="1955251" cy="1560724"/>
            <a:chOff x="5295800" y="2858575"/>
            <a:chExt cx="1955251" cy="1560724"/>
          </a:xfrm>
        </p:grpSpPr>
        <p:pic>
          <p:nvPicPr>
            <p:cNvPr id="878" name="Google Shape;878;p72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295800" y="2858575"/>
              <a:ext cx="1955251" cy="1560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79" name="Google Shape;879;p72"/>
            <p:cNvSpPr txBox="1"/>
            <p:nvPr/>
          </p:nvSpPr>
          <p:spPr>
            <a:xfrm>
              <a:off x="5400500" y="3037075"/>
              <a:ext cx="1522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Could we use it to answer this question?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880" name="Google Shape;880;p72"/>
          <p:cNvSpPr/>
          <p:nvPr/>
        </p:nvSpPr>
        <p:spPr>
          <a:xfrm rot="-5400000">
            <a:off x="3113125" y="378850"/>
            <a:ext cx="199800" cy="4521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1" name="Google Shape;881;p72"/>
          <p:cNvSpPr txBox="1"/>
          <p:nvPr/>
        </p:nvSpPr>
        <p:spPr>
          <a:xfrm>
            <a:off x="1850125" y="2726750"/>
            <a:ext cx="26349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£3.30 × 5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£16.50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5}{8}&quot;&gt;&lt;mfrac&gt;&lt;mn&gt;5&lt;/mn&gt;&lt;mn&gt;8&lt;/mn&gt;&lt;/mfrac&gt;&lt;/math&gt;" id="882" name="Google Shape;882;p72" title="five eigh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52050" y="628334"/>
            <a:ext cx="177600" cy="57085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83" name="Google Shape;883;p72"/>
          <p:cNvGraphicFramePr/>
          <p:nvPr/>
        </p:nvGraphicFramePr>
        <p:xfrm>
          <a:off x="952500" y="1707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  <a:gridCol w="904875"/>
              </a:tblGrid>
              <a:tr h="772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£3.30</a:t>
                      </a:r>
                      <a:endParaRPr sz="2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 anchor="ctr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84" name="Google Shape;884;p7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38659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72"/>
          <p:cNvSpPr txBox="1"/>
          <p:nvPr/>
        </p:nvSpPr>
        <p:spPr>
          <a:xfrm>
            <a:off x="290902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6" name="Google Shape;886;p7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748795" y="3678148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887" name="Google Shape;887;p72"/>
          <p:cNvSpPr txBox="1"/>
          <p:nvPr/>
        </p:nvSpPr>
        <p:spPr>
          <a:xfrm>
            <a:off x="76944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888" name="Google Shape;888;p72"/>
          <p:cNvGraphicFramePr/>
          <p:nvPr/>
        </p:nvGraphicFramePr>
        <p:xfrm>
          <a:off x="952500" y="17071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7239000"/>
              </a:tblGrid>
              <a:tr h="772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889" name="Google Shape;889;p72"/>
          <p:cNvSpPr/>
          <p:nvPr/>
        </p:nvSpPr>
        <p:spPr>
          <a:xfrm>
            <a:off x="4692625" y="1099850"/>
            <a:ext cx="15642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0" name="Google Shape;890;p72"/>
          <p:cNvSpPr/>
          <p:nvPr/>
        </p:nvSpPr>
        <p:spPr>
          <a:xfrm>
            <a:off x="3189525" y="726750"/>
            <a:ext cx="15642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4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sp>
        <p:nvSpPr>
          <p:cNvPr id="896" name="Google Shape;896;p73"/>
          <p:cNvSpPr txBox="1"/>
          <p:nvPr>
            <p:ph idx="1" type="body"/>
          </p:nvPr>
        </p:nvSpPr>
        <p:spPr>
          <a:xfrm>
            <a:off x="324000" y="683100"/>
            <a:ext cx="2634300" cy="55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    of        ?</a:t>
            </a:r>
            <a:endParaRPr/>
          </a:p>
        </p:txBody>
      </p:sp>
      <p:grpSp>
        <p:nvGrpSpPr>
          <p:cNvPr id="897" name="Google Shape;897;p73"/>
          <p:cNvGrpSpPr/>
          <p:nvPr/>
        </p:nvGrpSpPr>
        <p:grpSpPr>
          <a:xfrm>
            <a:off x="1257813" y="3305339"/>
            <a:ext cx="2223273" cy="914325"/>
            <a:chOff x="1042452" y="2530100"/>
            <a:chExt cx="2223273" cy="914325"/>
          </a:xfrm>
        </p:grpSpPr>
        <p:pic>
          <p:nvPicPr>
            <p:cNvPr id="898" name="Google Shape;898;p73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042452" y="2530100"/>
              <a:ext cx="2223273" cy="89610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99" name="Google Shape;899;p73"/>
            <p:cNvSpPr txBox="1"/>
            <p:nvPr/>
          </p:nvSpPr>
          <p:spPr>
            <a:xfrm>
              <a:off x="1230238" y="2671625"/>
              <a:ext cx="1850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And this type of question?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00" name="Google Shape;900;p73"/>
          <p:cNvGrpSpPr/>
          <p:nvPr/>
        </p:nvGrpSpPr>
        <p:grpSpPr>
          <a:xfrm>
            <a:off x="6286400" y="3315775"/>
            <a:ext cx="1627500" cy="898342"/>
            <a:chOff x="6362600" y="2325175"/>
            <a:chExt cx="1627500" cy="898342"/>
          </a:xfrm>
        </p:grpSpPr>
        <p:pic>
          <p:nvPicPr>
            <p:cNvPr id="901" name="Google Shape;901;p73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6362600" y="2325175"/>
              <a:ext cx="1421850" cy="838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02" name="Google Shape;902;p73"/>
            <p:cNvSpPr txBox="1"/>
            <p:nvPr/>
          </p:nvSpPr>
          <p:spPr>
            <a:xfrm>
              <a:off x="6467300" y="2450717"/>
              <a:ext cx="1522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 don’t see why not.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2}{3}&quot;&gt;&lt;mfrac&gt;&lt;mn&gt;2&lt;/mn&gt;&lt;mn&gt;3&lt;/mn&gt;&lt;/mfrac&gt;&lt;/math&gt;" id="903" name="Google Shape;903;p73" title="two third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3450" y="627900"/>
            <a:ext cx="168875" cy="55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\ \frac{3}{4}&quot;&gt;&lt;mn&gt;2&lt;/mn&gt;&lt;mtext&gt;&lt;/mtext&gt;&lt;mfrac&gt;&lt;mn&gt;3&lt;/mn&gt;&lt;mn&gt;4&lt;/mn&gt;&lt;/mfrac&gt;&lt;/math&gt;" id="904" name="Google Shape;904;p73" title="2 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4325" y="627900"/>
            <a:ext cx="399765" cy="5588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05" name="Google Shape;905;p73"/>
          <p:cNvGraphicFramePr/>
          <p:nvPr/>
        </p:nvGraphicFramePr>
        <p:xfrm>
          <a:off x="952500" y="15231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2413000"/>
                <a:gridCol w="2413000"/>
                <a:gridCol w="2413000"/>
              </a:tblGrid>
              <a:tr h="613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06" name="Google Shape;906;p73"/>
          <p:cNvSpPr/>
          <p:nvPr/>
        </p:nvSpPr>
        <p:spPr>
          <a:xfrm rot="5400000">
            <a:off x="4472100" y="-2233798"/>
            <a:ext cx="199800" cy="7242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7" name="Google Shape;907;p73"/>
          <p:cNvSpPr/>
          <p:nvPr/>
        </p:nvSpPr>
        <p:spPr>
          <a:xfrm rot="-5400000">
            <a:off x="3275275" y="-127818"/>
            <a:ext cx="199800" cy="4845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2\ \frac{3}{4}&quot;&gt;&lt;mn&gt;2&lt;/mn&gt;&lt;mtext&gt;&lt;/mtext&gt;&lt;mfrac&gt;&lt;mn&gt;3&lt;/mn&gt;&lt;mn&gt;4&lt;/mn&gt;&lt;/mfrac&gt;&lt;/math&gt;" id="908" name="Google Shape;908;p73" title="2 three four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72113" y="690850"/>
            <a:ext cx="399765" cy="558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9" name="Google Shape;909;p73"/>
          <p:cNvSpPr txBox="1"/>
          <p:nvPr/>
        </p:nvSpPr>
        <p:spPr>
          <a:xfrm>
            <a:off x="4913439" y="804307"/>
            <a:ext cx="478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÷ 3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10" name="Google Shape;910;p73"/>
          <p:cNvGrpSpPr/>
          <p:nvPr/>
        </p:nvGrpSpPr>
        <p:grpSpPr>
          <a:xfrm>
            <a:off x="6210200" y="3315775"/>
            <a:ext cx="1627500" cy="875100"/>
            <a:chOff x="5219600" y="3315775"/>
            <a:chExt cx="1627500" cy="875100"/>
          </a:xfrm>
        </p:grpSpPr>
        <p:pic>
          <p:nvPicPr>
            <p:cNvPr id="911" name="Google Shape;911;p73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219600" y="3315775"/>
              <a:ext cx="1478799" cy="8038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2" name="Google Shape;912;p73"/>
            <p:cNvSpPr txBox="1"/>
            <p:nvPr/>
          </p:nvSpPr>
          <p:spPr>
            <a:xfrm>
              <a:off x="5324300" y="3418075"/>
              <a:ext cx="1522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How do we do this?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3" name="Google Shape;913;p73"/>
          <p:cNvGrpSpPr/>
          <p:nvPr/>
        </p:nvGrpSpPr>
        <p:grpSpPr>
          <a:xfrm>
            <a:off x="890008" y="3063459"/>
            <a:ext cx="3994422" cy="1177000"/>
            <a:chOff x="1194851" y="3520700"/>
            <a:chExt cx="3464673" cy="1295400"/>
          </a:xfrm>
        </p:grpSpPr>
        <p:pic>
          <p:nvPicPr>
            <p:cNvPr id="914" name="Google Shape;914;p73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1194851" y="3520700"/>
              <a:ext cx="3464673" cy="12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5" name="Google Shape;915;p73"/>
            <p:cNvSpPr txBox="1"/>
            <p:nvPr/>
          </p:nvSpPr>
          <p:spPr>
            <a:xfrm>
              <a:off x="1472098" y="3687540"/>
              <a:ext cx="31047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Lucas, you remember.  Convert the mixed number into an improper fraction.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6" name="Google Shape;916;p73"/>
          <p:cNvGrpSpPr/>
          <p:nvPr/>
        </p:nvGrpSpPr>
        <p:grpSpPr>
          <a:xfrm>
            <a:off x="5676800" y="2629975"/>
            <a:ext cx="2147226" cy="1560724"/>
            <a:chOff x="5372000" y="4763575"/>
            <a:chExt cx="2147226" cy="1560724"/>
          </a:xfrm>
        </p:grpSpPr>
        <p:pic>
          <p:nvPicPr>
            <p:cNvPr id="917" name="Google Shape;917;p73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5372000" y="4763575"/>
              <a:ext cx="2147226" cy="1560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73"/>
            <p:cNvSpPr txBox="1"/>
            <p:nvPr/>
          </p:nvSpPr>
          <p:spPr>
            <a:xfrm>
              <a:off x="5476700" y="4942075"/>
              <a:ext cx="1850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Oh yes, and multiply by the reciprocal of the divisor.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11}{4}\times\frac{1}{3}=\frac{11}{12}&quot;&gt;&lt;mfrac&gt;&lt;mn&gt;11&lt;/mn&gt;&lt;mn&gt;4&lt;/mn&gt;&lt;/mfrac&gt;&lt;mo&gt;×&lt;/mo&gt;&lt;mfrac&gt;&lt;mn&gt;1&lt;/mn&gt;&lt;mn&gt;3&lt;/mn&gt;&lt;/mfrac&gt;&lt;mo&gt;=&lt;/mo&gt;&lt;mfrac&gt;&lt;mn&gt;11&lt;/mn&gt;&lt;mn&gt;12&lt;/mn&gt;&lt;/mfrac&gt;&lt;/math&gt;" id="919" name="Google Shape;919;p73" title="eleven fourths times one third equals 11 over 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262258" y="671860"/>
            <a:ext cx="1523392" cy="5572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20" name="Google Shape;920;p73"/>
          <p:cNvGrpSpPr/>
          <p:nvPr/>
        </p:nvGrpSpPr>
        <p:grpSpPr>
          <a:xfrm>
            <a:off x="1968799" y="1569055"/>
            <a:ext cx="5179348" cy="526199"/>
            <a:chOff x="1955580" y="1702315"/>
            <a:chExt cx="6038647" cy="613500"/>
          </a:xfrm>
        </p:grpSpPr>
        <p:pic>
          <p:nvPicPr>
            <p:cNvPr descr="&lt;math xmlns=&quot;http://www.w3.org/1998/Math/MathML&quot; display=&quot;block&quot; data-is-equatio=&quot;1&quot; data-latex=&quot;\frac{11}{4}\times\frac{1}{3}=\frac{11}{12}&quot;&gt;&lt;mfrac&gt;&lt;mn&gt;11&lt;/mn&gt;&lt;mn&gt;4&lt;/mn&gt;&lt;/mfrac&gt;&lt;mo&gt;×&lt;/mo&gt;&lt;mfrac&gt;&lt;mn&gt;1&lt;/mn&gt;&lt;mn&gt;3&lt;/mn&gt;&lt;/mfrac&gt;&lt;mo&gt;=&lt;/mo&gt;&lt;mfrac&gt;&lt;mn&gt;11&lt;/mn&gt;&lt;mn&gt;12&lt;/mn&gt;&lt;/mfrac&gt;&lt;/math&gt;" id="921" name="Google Shape;921;p73" title="eleven fourths times one third equals 11 over 12"/>
            <p:cNvPicPr preferRelativeResize="0"/>
            <p:nvPr/>
          </p:nvPicPr>
          <p:blipFill rotWithShape="1">
            <a:blip r:embed="rId6">
              <a:alphaModFix/>
            </a:blip>
            <a:srcRect b="0" l="76165" r="0" t="0"/>
            <a:stretch/>
          </p:blipFill>
          <p:spPr>
            <a:xfrm>
              <a:off x="1955580" y="1702315"/>
              <a:ext cx="399750" cy="61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1}{4}\times\frac{1}{3}=\frac{11}{12}&quot;&gt;&lt;mfrac&gt;&lt;mn&gt;11&lt;/mn&gt;&lt;mn&gt;4&lt;/mn&gt;&lt;/mfrac&gt;&lt;mo&gt;×&lt;/mo&gt;&lt;mfrac&gt;&lt;mn&gt;1&lt;/mn&gt;&lt;mn&gt;3&lt;/mn&gt;&lt;/mfrac&gt;&lt;mo&gt;=&lt;/mo&gt;&lt;mfrac&gt;&lt;mn&gt;11&lt;/mn&gt;&lt;mn&gt;12&lt;/mn&gt;&lt;/mfrac&gt;&lt;/math&gt;" id="922" name="Google Shape;922;p73" title="eleven fourths times one third equals 11 over 12"/>
            <p:cNvPicPr preferRelativeResize="0"/>
            <p:nvPr/>
          </p:nvPicPr>
          <p:blipFill rotWithShape="1">
            <a:blip r:embed="rId6">
              <a:alphaModFix/>
            </a:blip>
            <a:srcRect b="0" l="77576" r="0" t="0"/>
            <a:stretch/>
          </p:blipFill>
          <p:spPr>
            <a:xfrm>
              <a:off x="4878125" y="1702315"/>
              <a:ext cx="376075" cy="613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11}{4}\times\frac{1}{3}=\frac{11}{12}&quot;&gt;&lt;mfrac&gt;&lt;mn&gt;11&lt;/mn&gt;&lt;mn&gt;4&lt;/mn&gt;&lt;/mfrac&gt;&lt;mo&gt;×&lt;/mo&gt;&lt;mfrac&gt;&lt;mn&gt;1&lt;/mn&gt;&lt;mn&gt;3&lt;/mn&gt;&lt;/mfrac&gt;&lt;mo&gt;=&lt;/mo&gt;&lt;mfrac&gt;&lt;mn&gt;11&lt;/mn&gt;&lt;mn&gt;12&lt;/mn&gt;&lt;/mfrac&gt;&lt;/math&gt;" id="923" name="Google Shape;923;p73" title="eleven fourths times one third equals 11 over 12"/>
            <p:cNvPicPr preferRelativeResize="0"/>
            <p:nvPr/>
          </p:nvPicPr>
          <p:blipFill rotWithShape="1">
            <a:blip r:embed="rId6">
              <a:alphaModFix/>
            </a:blip>
            <a:srcRect b="0" l="77576" r="0" t="0"/>
            <a:stretch/>
          </p:blipFill>
          <p:spPr>
            <a:xfrm>
              <a:off x="7618153" y="1702315"/>
              <a:ext cx="376075" cy="6135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descr="&lt;math xmlns=&quot;http://www.w3.org/1998/Math/MathML&quot; display=&quot;block&quot; data-is-equatio=&quot;1&quot; data-latex=&quot;2\times\frac{11}{12}=\frac{22}{12}=\frac{11}{6}=1\ \frac{5}{6}&quot;&gt;&lt;mn&gt;2&lt;/mn&gt;&lt;mo&gt;×&lt;/mo&gt;&lt;mfrac&gt;&lt;mn&gt;11&lt;/mn&gt;&lt;mn&gt;12&lt;/mn&gt;&lt;/mfrac&gt;&lt;mo&gt;=&lt;/mo&gt;&lt;mfrac&gt;&lt;mn&gt;22&lt;/mn&gt;&lt;mn&gt;12&lt;/mn&gt;&lt;/mfrac&gt;&lt;mo&gt;=&lt;/mo&gt;&lt;mfrac&gt;&lt;mn&gt;11&lt;/mn&gt;&lt;mn&gt;6&lt;/mn&gt;&lt;/mfrac&gt;&lt;mo&gt;=&lt;/mo&gt;&lt;mn&gt;1&lt;/mn&gt;&lt;mtext&gt;&lt;/mtext&gt;&lt;mfrac&gt;&lt;mn&gt;5&lt;/mn&gt;&lt;mn&gt;6&lt;/mn&gt;&lt;/mfrac&gt;&lt;/math&gt;" id="924" name="Google Shape;924;p73" title="2 times 11 over 12 equals 22 over 12 equals eleven sixths equals 1 five six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43025" y="2435954"/>
            <a:ext cx="2905335" cy="55724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73"/>
          <p:cNvSpPr/>
          <p:nvPr/>
        </p:nvSpPr>
        <p:spPr>
          <a:xfrm>
            <a:off x="4927700" y="728100"/>
            <a:ext cx="520500" cy="411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6" name="Google Shape;926;p7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24000" y="338659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3"/>
          <p:cNvSpPr txBox="1"/>
          <p:nvPr/>
        </p:nvSpPr>
        <p:spPr>
          <a:xfrm>
            <a:off x="290902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28" name="Google Shape;928;p7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 flipH="1">
            <a:off x="7748795" y="3678148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929" name="Google Shape;929;p73"/>
          <p:cNvSpPr txBox="1"/>
          <p:nvPr/>
        </p:nvSpPr>
        <p:spPr>
          <a:xfrm>
            <a:off x="76944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4" name="Google Shape;934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graphicFrame>
        <p:nvGraphicFramePr>
          <p:cNvPr id="935" name="Google Shape;935;p74"/>
          <p:cNvGraphicFramePr/>
          <p:nvPr/>
        </p:nvGraphicFramePr>
        <p:xfrm>
          <a:off x="952538" y="16192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  <a:gridCol w="804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36" name="Google Shape;936;p74"/>
          <p:cNvSpPr/>
          <p:nvPr/>
        </p:nvSpPr>
        <p:spPr>
          <a:xfrm rot="5400000">
            <a:off x="4472100" y="-2157598"/>
            <a:ext cx="199800" cy="72423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7" name="Google Shape;937;p74"/>
          <p:cNvSpPr/>
          <p:nvPr/>
        </p:nvSpPr>
        <p:spPr>
          <a:xfrm rot="-5400000">
            <a:off x="1660075" y="1374700"/>
            <a:ext cx="199800" cy="1615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8" name="Google Shape;938;p74"/>
          <p:cNvSpPr txBox="1"/>
          <p:nvPr/>
        </p:nvSpPr>
        <p:spPr>
          <a:xfrm>
            <a:off x="3666300" y="930825"/>
            <a:ext cx="1811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6300 grams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9" name="Google Shape;939;p74"/>
          <p:cNvSpPr txBox="1"/>
          <p:nvPr/>
        </p:nvSpPr>
        <p:spPr>
          <a:xfrm>
            <a:off x="1660675" y="2271175"/>
            <a:ext cx="1986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940" name="Google Shape;940;p74"/>
          <p:cNvGrpSpPr/>
          <p:nvPr/>
        </p:nvGrpSpPr>
        <p:grpSpPr>
          <a:xfrm>
            <a:off x="4900200" y="1867975"/>
            <a:ext cx="2884250" cy="2663425"/>
            <a:chOff x="2995200" y="2325175"/>
            <a:chExt cx="2884250" cy="2663425"/>
          </a:xfrm>
        </p:grpSpPr>
        <p:pic>
          <p:nvPicPr>
            <p:cNvPr id="941" name="Google Shape;941;p74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>
              <a:off x="2995200" y="2325175"/>
              <a:ext cx="2884250" cy="26634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2" name="Google Shape;942;p74"/>
            <p:cNvSpPr txBox="1"/>
            <p:nvPr/>
          </p:nvSpPr>
          <p:spPr>
            <a:xfrm>
              <a:off x="3174950" y="2656075"/>
              <a:ext cx="23769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It is split into 9 equal parts and 2 are shaded so it could be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  <a:p>
              <a:pPr indent="0" lvl="0" marL="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 is      of 6300 grams?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2}{9}&quot;&gt;&lt;mfrac&gt;&lt;mn&gt;2&lt;/mn&gt;&lt;mn&gt;9&lt;/mn&gt;&lt;/mfrac&gt;&lt;/math&gt;" id="943" name="Google Shape;943;p74" title="two ninths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121400" y="3834050"/>
              <a:ext cx="143000" cy="4596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44" name="Google Shape;944;p74"/>
          <p:cNvGrpSpPr/>
          <p:nvPr/>
        </p:nvGrpSpPr>
        <p:grpSpPr>
          <a:xfrm>
            <a:off x="966252" y="2530100"/>
            <a:ext cx="2223273" cy="1591324"/>
            <a:chOff x="966252" y="2530100"/>
            <a:chExt cx="2223273" cy="1591324"/>
          </a:xfrm>
        </p:grpSpPr>
        <p:pic>
          <p:nvPicPr>
            <p:cNvPr id="945" name="Google Shape;945;p74"/>
            <p:cNvPicPr preferRelativeResize="0"/>
            <p:nvPr/>
          </p:nvPicPr>
          <p:blipFill rotWithShape="1">
            <a:blip r:embed="rId3">
              <a:alphaModFix/>
            </a:blip>
            <a:srcRect b="0" l="0" r="69082" t="56280"/>
            <a:stretch/>
          </p:blipFill>
          <p:spPr>
            <a:xfrm flipH="1">
              <a:off x="966252" y="2530100"/>
              <a:ext cx="2223273" cy="15913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6" name="Google Shape;946;p74"/>
            <p:cNvSpPr txBox="1"/>
            <p:nvPr/>
          </p:nvSpPr>
          <p:spPr>
            <a:xfrm>
              <a:off x="1154038" y="2747825"/>
              <a:ext cx="1850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What question does this bar model represent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947" name="Google Shape;947;p7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24000" y="3386593"/>
            <a:ext cx="623346" cy="1177024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4"/>
          <p:cNvSpPr txBox="1"/>
          <p:nvPr/>
        </p:nvSpPr>
        <p:spPr>
          <a:xfrm>
            <a:off x="290902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49" name="Google Shape;949;p7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748795" y="3678148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950" name="Google Shape;950;p74"/>
          <p:cNvSpPr txBox="1"/>
          <p:nvPr/>
        </p:nvSpPr>
        <p:spPr>
          <a:xfrm>
            <a:off x="7694475" y="45069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4" name="Shape 9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Google Shape;955;p75"/>
          <p:cNvSpPr txBox="1"/>
          <p:nvPr>
            <p:ph idx="4294967295" type="body"/>
          </p:nvPr>
        </p:nvSpPr>
        <p:spPr>
          <a:xfrm>
            <a:off x="324000" y="606900"/>
            <a:ext cx="8237700" cy="97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Which of the following bar models is </a:t>
            </a:r>
            <a:r>
              <a:rPr lang="en-GB" sz="1800">
                <a:solidFill>
                  <a:schemeClr val="accent4"/>
                </a:solidFill>
              </a:rPr>
              <a:t>not</a:t>
            </a:r>
            <a:r>
              <a:rPr lang="en-GB" sz="1800"/>
              <a:t> set up correctly?</a:t>
            </a:r>
            <a:endParaRPr sz="1800"/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Justify your answer.</a:t>
            </a:r>
            <a:endParaRPr sz="1800"/>
          </a:p>
        </p:txBody>
      </p:sp>
      <p:sp>
        <p:nvSpPr>
          <p:cNvPr id="956" name="Google Shape;956;p7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957" name="Google Shape;957;p75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3446" y="1565543"/>
            <a:ext cx="176565" cy="529053"/>
          </a:xfrm>
          <a:prstGeom prst="rect">
            <a:avLst/>
          </a:prstGeom>
          <a:noFill/>
          <a:ln>
            <a:noFill/>
          </a:ln>
        </p:spPr>
      </p:pic>
      <p:sp>
        <p:nvSpPr>
          <p:cNvPr id="958" name="Google Shape;958;p75"/>
          <p:cNvSpPr txBox="1"/>
          <p:nvPr>
            <p:ph idx="4294967295" type="body"/>
          </p:nvPr>
        </p:nvSpPr>
        <p:spPr>
          <a:xfrm>
            <a:off x="324000" y="1620000"/>
            <a:ext cx="26541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   of £8.65</a:t>
            </a:r>
            <a:r>
              <a:rPr lang="en-GB" sz="2000"/>
              <a:t>?</a:t>
            </a:r>
            <a:endParaRPr sz="2000"/>
          </a:p>
        </p:txBody>
      </p:sp>
      <p:sp>
        <p:nvSpPr>
          <p:cNvPr id="959" name="Google Shape;959;p75"/>
          <p:cNvSpPr txBox="1"/>
          <p:nvPr>
            <p:ph idx="4294967295" type="body"/>
          </p:nvPr>
        </p:nvSpPr>
        <p:spPr>
          <a:xfrm>
            <a:off x="3293150" y="1620000"/>
            <a:ext cx="2963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   of 4500 m?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\frac{3}{4}&quot;&gt;&lt;mfrac&gt;&lt;mn&gt;3&lt;/mn&gt;&lt;mn&gt;4&lt;/mn&gt;&lt;/mfrac&gt;&lt;/math&gt;" id="960" name="Google Shape;960;p75" title="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8693" y="1536825"/>
            <a:ext cx="180769" cy="536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961" name="Google Shape;961;p75" title="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46735" y="1532913"/>
            <a:ext cx="176565" cy="544729"/>
          </a:xfrm>
          <a:prstGeom prst="rect">
            <a:avLst/>
          </a:prstGeom>
          <a:noFill/>
          <a:ln>
            <a:noFill/>
          </a:ln>
        </p:spPr>
      </p:pic>
      <p:sp>
        <p:nvSpPr>
          <p:cNvPr id="962" name="Google Shape;962;p75"/>
          <p:cNvSpPr txBox="1"/>
          <p:nvPr>
            <p:ph idx="4294967295" type="body"/>
          </p:nvPr>
        </p:nvSpPr>
        <p:spPr>
          <a:xfrm>
            <a:off x="6485400" y="1620000"/>
            <a:ext cx="2374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What is    of     ?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5\frac{1}{4}&quot;&gt;&lt;mn&gt;5&lt;/mn&gt;&lt;mfrac&gt;&lt;mn&gt;1&lt;/mn&gt;&lt;mn&gt;4&lt;/mn&gt;&lt;/mfrac&gt;&lt;/math&gt;" id="963" name="Google Shape;963;p75" title="5 and one four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008213" y="1553352"/>
            <a:ext cx="284543" cy="487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4" name="Google Shape;964;p75"/>
          <p:cNvGraphicFramePr/>
          <p:nvPr/>
        </p:nvGraphicFramePr>
        <p:xfrm>
          <a:off x="475875" y="295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435525"/>
                <a:gridCol w="435525"/>
                <a:gridCol w="435525"/>
                <a:gridCol w="435525"/>
                <a:gridCol w="435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5" name="Google Shape;965;p75"/>
          <p:cNvGraphicFramePr/>
          <p:nvPr/>
        </p:nvGraphicFramePr>
        <p:xfrm>
          <a:off x="3689250" y="295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504000"/>
                <a:gridCol w="504000"/>
                <a:gridCol w="504000"/>
                <a:gridCol w="504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966" name="Google Shape;966;p75"/>
          <p:cNvGraphicFramePr/>
          <p:nvPr/>
        </p:nvGraphicFramePr>
        <p:xfrm>
          <a:off x="6526575" y="2952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272200"/>
                <a:gridCol w="272200"/>
                <a:gridCol w="272200"/>
                <a:gridCol w="272200"/>
                <a:gridCol w="272200"/>
                <a:gridCol w="272200"/>
                <a:gridCol w="272200"/>
                <a:gridCol w="272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67" name="Google Shape;967;p75"/>
          <p:cNvSpPr/>
          <p:nvPr/>
        </p:nvSpPr>
        <p:spPr>
          <a:xfrm rot="5400000">
            <a:off x="1462641" y="1696579"/>
            <a:ext cx="199800" cy="2177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8" name="Google Shape;968;p75"/>
          <p:cNvSpPr/>
          <p:nvPr/>
        </p:nvSpPr>
        <p:spPr>
          <a:xfrm rot="-5400000">
            <a:off x="1030543" y="2841459"/>
            <a:ext cx="199800" cy="1312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9" name="Google Shape;969;p75"/>
          <p:cNvSpPr txBox="1"/>
          <p:nvPr/>
        </p:nvSpPr>
        <p:spPr>
          <a:xfrm>
            <a:off x="935669" y="3642775"/>
            <a:ext cx="17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0" name="Google Shape;970;p75"/>
          <p:cNvSpPr/>
          <p:nvPr/>
        </p:nvSpPr>
        <p:spPr>
          <a:xfrm rot="5400000">
            <a:off x="4602750" y="1775929"/>
            <a:ext cx="199800" cy="2019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1" name="Google Shape;971;p75"/>
          <p:cNvSpPr/>
          <p:nvPr/>
        </p:nvSpPr>
        <p:spPr>
          <a:xfrm rot="-5400000">
            <a:off x="4351891" y="2733759"/>
            <a:ext cx="199800" cy="15279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2" name="Google Shape;972;p75"/>
          <p:cNvSpPr txBox="1"/>
          <p:nvPr/>
        </p:nvSpPr>
        <p:spPr>
          <a:xfrm>
            <a:off x="4440869" y="3642775"/>
            <a:ext cx="17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3" name="Google Shape;973;p75"/>
          <p:cNvSpPr/>
          <p:nvPr/>
        </p:nvSpPr>
        <p:spPr>
          <a:xfrm rot="5400000">
            <a:off x="7512175" y="1699875"/>
            <a:ext cx="199800" cy="21711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4" name="Google Shape;974;p75"/>
          <p:cNvSpPr/>
          <p:nvPr/>
        </p:nvSpPr>
        <p:spPr>
          <a:xfrm rot="-5400000">
            <a:off x="6972622" y="2970275"/>
            <a:ext cx="199800" cy="1092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5" name="Google Shape;975;p75"/>
          <p:cNvSpPr txBox="1"/>
          <p:nvPr/>
        </p:nvSpPr>
        <p:spPr>
          <a:xfrm>
            <a:off x="6984169" y="3683600"/>
            <a:ext cx="17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6" name="Google Shape;976;p75"/>
          <p:cNvSpPr txBox="1"/>
          <p:nvPr>
            <p:ph idx="4294967295" type="body"/>
          </p:nvPr>
        </p:nvSpPr>
        <p:spPr>
          <a:xfrm>
            <a:off x="1313700" y="2312400"/>
            <a:ext cx="674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£8.65</a:t>
            </a:r>
            <a:endParaRPr sz="2000"/>
          </a:p>
        </p:txBody>
      </p:sp>
      <p:sp>
        <p:nvSpPr>
          <p:cNvPr id="977" name="Google Shape;977;p75"/>
          <p:cNvSpPr txBox="1"/>
          <p:nvPr>
            <p:ph idx="4294967295" type="body"/>
          </p:nvPr>
        </p:nvSpPr>
        <p:spPr>
          <a:xfrm>
            <a:off x="4204950" y="2352888"/>
            <a:ext cx="995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4500 m</a:t>
            </a:r>
            <a:endParaRPr sz="2000"/>
          </a:p>
        </p:txBody>
      </p:sp>
      <p:pic>
        <p:nvPicPr>
          <p:cNvPr descr="&lt;math xmlns=&quot;http://www.w3.org/1998/Math/MathML&quot; display=&quot;block&quot; data-is-equatio=&quot;1&quot; data-latex=&quot;5\frac{1}{4}&quot;&gt;&lt;mn&gt;5&lt;/mn&gt;&lt;mfrac&gt;&lt;mn&gt;1&lt;/mn&gt;&lt;mn&gt;4&lt;/mn&gt;&lt;/mfrac&gt;&lt;/math&gt;" id="978" name="Google Shape;978;p75" title="5 and one fourth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473101" y="2186327"/>
            <a:ext cx="284543" cy="487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79" name="Google Shape;979;p75"/>
          <p:cNvGrpSpPr/>
          <p:nvPr/>
        </p:nvGrpSpPr>
        <p:grpSpPr>
          <a:xfrm>
            <a:off x="4970650" y="897625"/>
            <a:ext cx="3849350" cy="613500"/>
            <a:chOff x="4970650" y="897625"/>
            <a:chExt cx="3849350" cy="613500"/>
          </a:xfrm>
        </p:grpSpPr>
        <p:sp>
          <p:nvSpPr>
            <p:cNvPr id="980" name="Google Shape;980;p75"/>
            <p:cNvSpPr/>
            <p:nvPr/>
          </p:nvSpPr>
          <p:spPr>
            <a:xfrm>
              <a:off x="4970650" y="897625"/>
              <a:ext cx="3515100" cy="613500"/>
            </a:xfrm>
            <a:prstGeom prst="rect">
              <a:avLst/>
            </a:prstGeom>
            <a:noFill/>
            <a:ln cap="flat" cmpd="sng" w="38100">
              <a:solidFill>
                <a:schemeClr val="accent4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981" name="Google Shape;981;p75"/>
            <p:cNvSpPr txBox="1"/>
            <p:nvPr/>
          </p:nvSpPr>
          <p:spPr>
            <a:xfrm>
              <a:off x="5007000" y="1039450"/>
              <a:ext cx="3813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c</a:t>
              </a:r>
              <a:r>
                <a:rPr lang="en-GB" sz="2200">
                  <a:solidFill>
                    <a:schemeClr val="dk1"/>
                  </a:solidFill>
                  <a:latin typeface="Kalam"/>
                  <a:ea typeface="Kalam"/>
                  <a:cs typeface="Kalam"/>
                  <a:sym typeface="Kalam"/>
                </a:rPr>
                <a:t> − the bar shows    not    </a:t>
              </a:r>
              <a:endParaRPr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endParaRPr>
            </a:p>
          </p:txBody>
        </p:sp>
        <p:pic>
          <p:nvPicPr>
            <p:cNvPr descr="&lt;math xmlns=&quot;http://www.w3.org/1998/Math/MathML&quot; display=&quot;block&quot; data-is-equatio=&quot;1&quot; data-latex=&quot;\frac{3}{8}&quot;&gt;&lt;mfrac&gt;&lt;mn&gt;3&lt;/mn&gt;&lt;mn&gt;8&lt;/mn&gt;&lt;/mfrac&gt;&lt;/math&gt;" id="982" name="Google Shape;982;p75" title="three eighths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07785" y="936425"/>
              <a:ext cx="176565" cy="54472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&lt;math xmlns=&quot;http://www.w3.org/1998/Math/MathML&quot; display=&quot;block&quot; data-is-equatio=&quot;1&quot; data-latex=&quot;\frac{4}{8}&quot;&gt;&lt;mfrac&gt;&lt;mn&gt;4&lt;/mn&gt;&lt;mn&gt;8&lt;/mn&gt;&lt;/mfrac&gt;&lt;/math&gt;" id="983" name="Google Shape;983;p75" title="four eighths"/>
            <p:cNvPicPr preferRelativeResize="0"/>
            <p:nvPr/>
          </p:nvPicPr>
          <p:blipFill>
            <a:blip r:embed="rId7">
              <a:alphaModFix/>
            </a:blip>
            <a:stretch>
              <a:fillRect/>
            </a:stretch>
          </p:blipFill>
          <p:spPr>
            <a:xfrm>
              <a:off x="7370925" y="910100"/>
              <a:ext cx="176550" cy="5885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7" name="Shape 9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8" name="Google Shape;988;p7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sp>
        <p:nvSpPr>
          <p:cNvPr id="989" name="Google Shape;989;p76"/>
          <p:cNvSpPr txBox="1"/>
          <p:nvPr>
            <p:ph idx="1" type="subTitle"/>
          </p:nvPr>
        </p:nvSpPr>
        <p:spPr>
          <a:xfrm>
            <a:off x="337825" y="810000"/>
            <a:ext cx="3982200" cy="2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</a:t>
            </a:r>
            <a:r>
              <a:rPr lang="en-GB"/>
              <a:t>     of £350? </a:t>
            </a:r>
            <a:endParaRPr/>
          </a:p>
        </p:txBody>
      </p:sp>
      <p:sp>
        <p:nvSpPr>
          <p:cNvPr id="990" name="Google Shape;990;p76"/>
          <p:cNvSpPr txBox="1"/>
          <p:nvPr>
            <p:ph idx="2" type="subTitle"/>
          </p:nvPr>
        </p:nvSpPr>
        <p:spPr>
          <a:xfrm>
            <a:off x="4824000" y="810000"/>
            <a:ext cx="3982200" cy="49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What is     of £400?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991" name="Google Shape;991;p76" title="three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2025" y="746050"/>
            <a:ext cx="143000" cy="4596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&quot;&gt;&lt;mfrac&gt;&lt;mn&gt;4&lt;/mn&gt;&lt;mn&gt;5&lt;/mn&gt;&lt;/mfrac&gt;&lt;/math&gt;" id="992" name="Google Shape;992;p76" title="four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74400" y="744339"/>
            <a:ext cx="143000" cy="46301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93" name="Google Shape;993;p76"/>
          <p:cNvGraphicFramePr/>
          <p:nvPr/>
        </p:nvGraphicFramePr>
        <p:xfrm>
          <a:off x="1124325" y="2260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435525"/>
                <a:gridCol w="435525"/>
                <a:gridCol w="435525"/>
                <a:gridCol w="435525"/>
                <a:gridCol w="435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4" name="Google Shape;994;p76"/>
          <p:cNvSpPr/>
          <p:nvPr/>
        </p:nvSpPr>
        <p:spPr>
          <a:xfrm rot="5400000">
            <a:off x="2111091" y="1004179"/>
            <a:ext cx="199800" cy="2177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5" name="Google Shape;995;p76"/>
          <p:cNvSpPr/>
          <p:nvPr/>
        </p:nvSpPr>
        <p:spPr>
          <a:xfrm rot="-5400000">
            <a:off x="1678993" y="2149059"/>
            <a:ext cx="199800" cy="13125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6" name="Google Shape;996;p76"/>
          <p:cNvSpPr txBox="1"/>
          <p:nvPr/>
        </p:nvSpPr>
        <p:spPr>
          <a:xfrm>
            <a:off x="1660319" y="2950375"/>
            <a:ext cx="17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7" name="Google Shape;997;p76"/>
          <p:cNvSpPr txBox="1"/>
          <p:nvPr>
            <p:ph idx="4294967295" type="body"/>
          </p:nvPr>
        </p:nvSpPr>
        <p:spPr>
          <a:xfrm>
            <a:off x="1890075" y="1620000"/>
            <a:ext cx="178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£350 ÷ 5 = £70</a:t>
            </a:r>
            <a:endParaRPr sz="2000"/>
          </a:p>
        </p:txBody>
      </p:sp>
      <p:graphicFrame>
        <p:nvGraphicFramePr>
          <p:cNvPr id="998" name="Google Shape;998;p76"/>
          <p:cNvGraphicFramePr/>
          <p:nvPr/>
        </p:nvGraphicFramePr>
        <p:xfrm>
          <a:off x="5727375" y="22642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435525"/>
                <a:gridCol w="435525"/>
                <a:gridCol w="435525"/>
                <a:gridCol w="435525"/>
                <a:gridCol w="4355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45AD9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99" name="Google Shape;999;p76"/>
          <p:cNvSpPr/>
          <p:nvPr/>
        </p:nvSpPr>
        <p:spPr>
          <a:xfrm rot="5400000">
            <a:off x="6714141" y="1008091"/>
            <a:ext cx="199800" cy="2177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0" name="Google Shape;1000;p76"/>
          <p:cNvSpPr/>
          <p:nvPr/>
        </p:nvSpPr>
        <p:spPr>
          <a:xfrm rot="-5400000">
            <a:off x="6499402" y="1935625"/>
            <a:ext cx="199800" cy="1747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1" name="Google Shape;1001;p76"/>
          <p:cNvSpPr txBox="1"/>
          <p:nvPr/>
        </p:nvSpPr>
        <p:spPr>
          <a:xfrm>
            <a:off x="6568169" y="2954288"/>
            <a:ext cx="176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2" name="Google Shape;1002;p76"/>
          <p:cNvSpPr txBox="1"/>
          <p:nvPr>
            <p:ph idx="4294967295" type="body"/>
          </p:nvPr>
        </p:nvSpPr>
        <p:spPr>
          <a:xfrm>
            <a:off x="6443425" y="1623988"/>
            <a:ext cx="207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£400 ÷ 5 = £80</a:t>
            </a:r>
            <a:endParaRPr sz="2000"/>
          </a:p>
        </p:txBody>
      </p:sp>
      <p:sp>
        <p:nvSpPr>
          <p:cNvPr id="1003" name="Google Shape;1003;p76"/>
          <p:cNvSpPr txBox="1"/>
          <p:nvPr>
            <p:ph idx="4294967295" type="body"/>
          </p:nvPr>
        </p:nvSpPr>
        <p:spPr>
          <a:xfrm>
            <a:off x="1122150" y="3361125"/>
            <a:ext cx="178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£70 × 3 = £210</a:t>
            </a:r>
            <a:endParaRPr sz="2000"/>
          </a:p>
        </p:txBody>
      </p:sp>
      <p:sp>
        <p:nvSpPr>
          <p:cNvPr id="1004" name="Google Shape;1004;p76"/>
          <p:cNvSpPr txBox="1"/>
          <p:nvPr>
            <p:ph idx="4294967295" type="body"/>
          </p:nvPr>
        </p:nvSpPr>
        <p:spPr>
          <a:xfrm>
            <a:off x="5766125" y="3338175"/>
            <a:ext cx="1780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£80 × 4 = £320</a:t>
            </a:r>
            <a:endParaRPr sz="2000"/>
          </a:p>
        </p:txBody>
      </p:sp>
      <p:sp>
        <p:nvSpPr>
          <p:cNvPr id="1005" name="Google Shape;1005;p76"/>
          <p:cNvSpPr/>
          <p:nvPr/>
        </p:nvSpPr>
        <p:spPr>
          <a:xfrm>
            <a:off x="2525200" y="1599325"/>
            <a:ext cx="11457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06" name="Google Shape;1006;p76"/>
          <p:cNvSpPr/>
          <p:nvPr/>
        </p:nvSpPr>
        <p:spPr>
          <a:xfrm>
            <a:off x="1991800" y="3352125"/>
            <a:ext cx="895500" cy="338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0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77"/>
          <p:cNvSpPr txBox="1"/>
          <p:nvPr>
            <p:ph idx="1" type="body"/>
          </p:nvPr>
        </p:nvSpPr>
        <p:spPr>
          <a:xfrm>
            <a:off x="324000" y="606900"/>
            <a:ext cx="8237700" cy="42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the bar models to answer the following: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</a:t>
            </a:r>
            <a:r>
              <a:rPr lang="en-GB"/>
              <a:t>of 40</a:t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</a:t>
            </a:r>
            <a:r>
              <a:rPr lang="en-GB"/>
              <a:t>of 40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  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of 40</a:t>
            </a:r>
            <a:endParaRPr/>
          </a:p>
        </p:txBody>
      </p:sp>
      <p:sp>
        <p:nvSpPr>
          <p:cNvPr id="1012" name="Google Shape;1012;p7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013" name="Google Shape;1013;p77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3402" y="1079998"/>
            <a:ext cx="166410" cy="534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014" name="Google Shape;1014;p77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3390" y="2371773"/>
            <a:ext cx="166410" cy="534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015" name="Google Shape;1015;p77" title="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3390" y="3705910"/>
            <a:ext cx="166410" cy="55073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16" name="Google Shape;1016;p77"/>
          <p:cNvGraphicFramePr/>
          <p:nvPr/>
        </p:nvGraphicFramePr>
        <p:xfrm>
          <a:off x="4116900" y="149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582600"/>
                <a:gridCol w="582600"/>
                <a:gridCol w="582600"/>
                <a:gridCol w="582600"/>
                <a:gridCol w="58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7" name="Google Shape;1017;p77"/>
          <p:cNvGraphicFramePr/>
          <p:nvPr/>
        </p:nvGraphicFramePr>
        <p:xfrm>
          <a:off x="4116900" y="278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582600"/>
                <a:gridCol w="582600"/>
                <a:gridCol w="582600"/>
                <a:gridCol w="582600"/>
                <a:gridCol w="5826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18" name="Google Shape;1018;p77"/>
          <p:cNvGraphicFramePr/>
          <p:nvPr/>
        </p:nvGraphicFramePr>
        <p:xfrm>
          <a:off x="4116900" y="4064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364125"/>
                <a:gridCol w="364125"/>
                <a:gridCol w="364125"/>
                <a:gridCol w="364125"/>
                <a:gridCol w="364125"/>
                <a:gridCol w="364125"/>
                <a:gridCol w="364125"/>
                <a:gridCol w="364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2" name="Shape 10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3" name="Google Shape;1023;p78"/>
          <p:cNvSpPr txBox="1"/>
          <p:nvPr>
            <p:ph idx="1" type="body"/>
          </p:nvPr>
        </p:nvSpPr>
        <p:spPr>
          <a:xfrm>
            <a:off x="324000" y="606900"/>
            <a:ext cx="8237700" cy="42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the bar models to answer the following: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1000"/>
              </a:spcBef>
              <a:spcAft>
                <a:spcPts val="0"/>
              </a:spcAft>
              <a:buSzPts val="2200"/>
              <a:buAutoNum type="alphaLcParenR" startAt="4"/>
            </a:pPr>
            <a:r>
              <a:rPr lang="en-GB"/>
              <a:t>   of 40</a:t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 startAt="4"/>
            </a:pPr>
            <a:r>
              <a:rPr lang="en-GB"/>
              <a:t>   of 40</a:t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 startAt="4"/>
            </a:pPr>
            <a:r>
              <a:rPr lang="en-GB"/>
              <a:t>   of 40</a:t>
            </a:r>
            <a:endParaRPr/>
          </a:p>
        </p:txBody>
      </p:sp>
      <p:sp>
        <p:nvSpPr>
          <p:cNvPr id="1024" name="Google Shape;1024;p7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7}{8}&quot;&gt;&lt;mfrac&gt;&lt;mn&gt;7&lt;/mn&gt;&lt;mn&gt;8&lt;/mn&gt;&lt;/mfrac&gt;&lt;/math&gt;" id="1025" name="Google Shape;1025;p78" title="seven eigh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665" y="1069258"/>
            <a:ext cx="166410" cy="5507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026" name="Google Shape;1026;p78" title="three ten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4728" y="2384344"/>
            <a:ext cx="282288" cy="523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027" name="Google Shape;1027;p78" title="seven ten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848" y="3713114"/>
            <a:ext cx="286052" cy="523173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28" name="Google Shape;1028;p78"/>
          <p:cNvGraphicFramePr/>
          <p:nvPr/>
        </p:nvGraphicFramePr>
        <p:xfrm>
          <a:off x="4116900" y="1497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364125"/>
                <a:gridCol w="364125"/>
                <a:gridCol w="364125"/>
                <a:gridCol w="364125"/>
                <a:gridCol w="364125"/>
                <a:gridCol w="364125"/>
                <a:gridCol w="364125"/>
                <a:gridCol w="3641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29" name="Google Shape;1029;p78"/>
          <p:cNvGraphicFramePr/>
          <p:nvPr/>
        </p:nvGraphicFramePr>
        <p:xfrm>
          <a:off x="4116900" y="2780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</a:tblGrid>
              <a:tr h="39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030" name="Google Shape;1030;p78"/>
          <p:cNvGraphicFramePr/>
          <p:nvPr/>
        </p:nvGraphicFramePr>
        <p:xfrm>
          <a:off x="4116900" y="406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  <a:gridCol w="291250"/>
              </a:tblGrid>
              <a:tr h="396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600"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4" name="Shape 10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5" name="Google Shape;1035;p79"/>
          <p:cNvSpPr txBox="1"/>
          <p:nvPr>
            <p:ph idx="1" type="body"/>
          </p:nvPr>
        </p:nvSpPr>
        <p:spPr>
          <a:xfrm>
            <a:off x="324000" y="606900"/>
            <a:ext cx="8237700" cy="42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Use the bar models to answer the following: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of 40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8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</a:t>
            </a:r>
            <a:r>
              <a:rPr lang="en-GB"/>
              <a:t>of 40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24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</a:t>
            </a:r>
            <a:r>
              <a:rPr lang="en-GB"/>
              <a:t>of 40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15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</a:t>
            </a:r>
            <a:r>
              <a:rPr lang="en-GB"/>
              <a:t>of 40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35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of 40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12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of 40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= 28</a:t>
            </a:r>
            <a:endParaRPr/>
          </a:p>
        </p:txBody>
      </p:sp>
      <p:sp>
        <p:nvSpPr>
          <p:cNvPr id="1036" name="Google Shape;1036;p79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5}&quot;&gt;&lt;mfrac&gt;&lt;mn&gt;1&lt;/mn&gt;&lt;mn&gt;5&lt;/mn&gt;&lt;/mfrac&gt;&lt;/math&gt;" id="1037" name="Google Shape;1037;p79" title="one fift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777" y="894648"/>
            <a:ext cx="166410" cy="534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&quot;&gt;&lt;mfrac&gt;&lt;mn&gt;3&lt;/mn&gt;&lt;mn&gt;5&lt;/mn&gt;&lt;/mfrac&gt;&lt;/math&gt;" id="1038" name="Google Shape;1038;p79" title="three fif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5765" y="1557110"/>
            <a:ext cx="166410" cy="53489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&quot;&gt;&lt;mfrac&gt;&lt;mn&gt;3&lt;/mn&gt;&lt;mn&gt;8&lt;/mn&gt;&lt;/mfrac&gt;&lt;/math&gt;" id="1039" name="Google Shape;1039;p79" title="thre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85765" y="2219572"/>
            <a:ext cx="166410" cy="5507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8}&quot;&gt;&lt;mfrac&gt;&lt;mn&gt;7&lt;/mn&gt;&lt;mn&gt;8&lt;/mn&gt;&lt;/mfrac&gt;&lt;/math&gt;" id="1040" name="Google Shape;1040;p79" title="seven eigh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85765" y="2897883"/>
            <a:ext cx="166410" cy="5507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10}&quot;&gt;&lt;mfrac&gt;&lt;mn&gt;3&lt;/mn&gt;&lt;mn&gt;10&lt;/mn&gt;&lt;/mfrac&gt;&lt;/math&gt;" id="1041" name="Google Shape;1041;p79" title="three t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94728" y="3576194"/>
            <a:ext cx="282288" cy="52317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10}&quot;&gt;&lt;mfrac&gt;&lt;mn&gt;7&lt;/mn&gt;&lt;mn&gt;10&lt;/mn&gt;&lt;/mfrac&gt;&lt;/math&gt;" id="1042" name="Google Shape;1042;p79" title="seven ten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2861" y="4226939"/>
            <a:ext cx="286052" cy="5231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6" name="Shape 1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Google Shape;1047;p8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sp>
        <p:nvSpPr>
          <p:cNvPr id="1048" name="Google Shape;1048;p80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sp>
        <p:nvSpPr>
          <p:cNvPr id="1049" name="Google Shape;1049;p80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 </a:t>
            </a:r>
            <a:endParaRPr/>
          </a:p>
        </p:txBody>
      </p:sp>
      <p:sp>
        <p:nvSpPr>
          <p:cNvPr id="1050" name="Google Shape;1050;p80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finding a fraction of a given amount</a:t>
            </a:r>
            <a:endParaRPr/>
          </a:p>
        </p:txBody>
      </p:sp>
      <p:pic>
        <p:nvPicPr>
          <p:cNvPr id="1051" name="Google Shape;1051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6175" y="27660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5" name="Shape 10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Google Shape;105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sp>
        <p:nvSpPr>
          <p:cNvPr id="1057" name="Google Shape;1057;p81"/>
          <p:cNvSpPr txBox="1"/>
          <p:nvPr>
            <p:ph idx="1" type="body"/>
          </p:nvPr>
        </p:nvSpPr>
        <p:spPr>
          <a:xfrm>
            <a:off x="324000" y="759300"/>
            <a:ext cx="82377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Lucas are answering the </a:t>
            </a:r>
            <a:r>
              <a:rPr lang="en-GB"/>
              <a:t>following</a:t>
            </a:r>
            <a:r>
              <a:rPr lang="en-GB"/>
              <a:t> questions: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7}\times14\ \ \ \ \ \ \ \ \ \ \frac{1}{7}\ of\ 14\ \ \ \ \ \ \ \ \ \ \frac{3}{5}\ of\ 20\ \ \ \ \ \ \ \ \ \ 20\ \times\frac{3}{5}&quot;&gt;&lt;mfrac&gt;&lt;mn&gt;1&lt;/mn&gt;&lt;mn&gt;7&lt;/mn&gt;&lt;/mfrac&gt;&lt;mo&gt;×&lt;/mo&gt;&lt;mn&gt;14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1&lt;/mn&gt;&lt;mn&gt;7&lt;/mn&gt;&lt;/mfrac&gt;&lt;mtext&gt;&lt;/mtext&gt;&lt;mi&gt;o&lt;/mi&gt;&lt;mi&gt;f&lt;/mi&gt;&lt;mtext&gt;&lt;/mtext&gt;&lt;mn&gt;14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3&lt;/mn&gt;&lt;mn&gt;5&lt;/mn&gt;&lt;/mfrac&gt;&lt;mtext&gt;&lt;/mtext&gt;&lt;mi&gt;o&lt;/mi&gt;&lt;mi&gt;f&lt;/mi&gt;&lt;mtext&gt;&lt;/mtext&gt;&lt;mn&gt;20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20&lt;/mn&gt;&lt;mtext&gt;&lt;/mtext&gt;&lt;mo&gt;×&lt;/mo&gt;&lt;mfrac&gt;&lt;mn&gt;3&lt;/mn&gt;&lt;mn&gt;5&lt;/mn&gt;&lt;/mfrac&gt;&lt;/math&gt;" id="1058" name="Google Shape;1058;p81" title="one seventh times 14 one seventh o f 14 three fifths o f 20 20 times three fifths"/>
          <p:cNvPicPr preferRelativeResize="0"/>
          <p:nvPr/>
        </p:nvPicPr>
        <p:blipFill rotWithShape="1">
          <a:blip r:embed="rId3">
            <a:alphaModFix/>
          </a:blip>
          <a:srcRect b="0" l="0" r="69186" t="0"/>
          <a:stretch/>
        </p:blipFill>
        <p:spPr>
          <a:xfrm>
            <a:off x="2926427" y="1177250"/>
            <a:ext cx="2183525" cy="7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81"/>
          <p:cNvSpPr txBox="1"/>
          <p:nvPr>
            <p:ph idx="1" type="body"/>
          </p:nvPr>
        </p:nvSpPr>
        <p:spPr>
          <a:xfrm>
            <a:off x="324000" y="2057125"/>
            <a:ext cx="84960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5"/>
                </a:solidFill>
              </a:rPr>
              <a:t>same</a:t>
            </a:r>
            <a:r>
              <a:rPr lang="en-GB"/>
              <a:t> and what is </a:t>
            </a:r>
            <a:r>
              <a:rPr lang="en-GB">
                <a:solidFill>
                  <a:schemeClr val="accent5"/>
                </a:solidFill>
              </a:rPr>
              <a:t>different</a:t>
            </a:r>
            <a:r>
              <a:rPr lang="en-GB"/>
              <a:t> about the calculations?</a:t>
            </a:r>
            <a:endParaRPr/>
          </a:p>
        </p:txBody>
      </p:sp>
      <p:sp>
        <p:nvSpPr>
          <p:cNvPr id="1060" name="Google Shape;1060;p81"/>
          <p:cNvSpPr txBox="1"/>
          <p:nvPr/>
        </p:nvSpPr>
        <p:spPr>
          <a:xfrm>
            <a:off x="324000" y="2878125"/>
            <a:ext cx="8496000" cy="19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	The both have a 1 as the numerator.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both have a 7 as the denominator.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both use the integer 14.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One has a multiplication symbol and the other says ‘of’.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61" name="Google Shape;1061;p81"/>
          <p:cNvSpPr txBox="1"/>
          <p:nvPr/>
        </p:nvSpPr>
        <p:spPr>
          <a:xfrm>
            <a:off x="5239750" y="1314888"/>
            <a:ext cx="11124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5" name="Shape 10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Google Shape;1066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sp>
        <p:nvSpPr>
          <p:cNvPr id="1067" name="Google Shape;1067;p82"/>
          <p:cNvSpPr txBox="1"/>
          <p:nvPr>
            <p:ph idx="1" type="body"/>
          </p:nvPr>
        </p:nvSpPr>
        <p:spPr>
          <a:xfrm>
            <a:off x="324000" y="759300"/>
            <a:ext cx="82377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are their strategies for answering each question</a:t>
            </a:r>
            <a:r>
              <a:rPr lang="en-GB"/>
              <a:t>: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1}{7}\times14=\frac{1\times14}{7}=\frac{14}{7}=14\div7=2&quot;&gt;&lt;mfrac&gt;&lt;mn&gt;1&lt;/mn&gt;&lt;mn&gt;7&lt;/mn&gt;&lt;/mfrac&gt;&lt;mo&gt;×&lt;/mo&gt;&lt;mn&gt;14&lt;/mn&gt;&lt;mo&gt;=&lt;/mo&gt;&lt;mfrac&gt;&lt;mrow&gt;&lt;mn&gt;1&lt;/mn&gt;&lt;mo&gt;×&lt;/mo&gt;&lt;mn&gt;14&lt;/mn&gt;&lt;/mrow&gt;&lt;mn&gt;7&lt;/mn&gt;&lt;/mfrac&gt;&lt;mo&gt;=&lt;/mo&gt;&lt;mfrac&gt;&lt;mn&gt;14&lt;/mn&gt;&lt;mn&gt;7&lt;/mn&gt;&lt;/mfrac&gt;&lt;mo&gt;=&lt;/mo&gt;&lt;mn&gt;14&lt;/mn&gt;&lt;mo&gt;÷&lt;/mo&gt;&lt;mn&gt;7&lt;/mn&gt;&lt;mo&gt;=&lt;/mo&gt;&lt;mn&gt;2&lt;/mn&gt;&lt;/math&gt;" id="1068" name="Google Shape;1068;p82" title="one seventh times 14 equals the fraction with numerator 1 times 14 and denominator 7 equals fourteen sevenths equals 14 divided by 7 equals 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1408905"/>
            <a:ext cx="4531436" cy="619944"/>
          </a:xfrm>
          <a:prstGeom prst="rect">
            <a:avLst/>
          </a:prstGeom>
          <a:noFill/>
          <a:ln>
            <a:noFill/>
          </a:ln>
        </p:spPr>
      </p:pic>
      <p:sp>
        <p:nvSpPr>
          <p:cNvPr id="1069" name="Google Shape;1069;p82"/>
          <p:cNvSpPr txBox="1"/>
          <p:nvPr>
            <p:ph idx="1" type="body"/>
          </p:nvPr>
        </p:nvSpPr>
        <p:spPr>
          <a:xfrm>
            <a:off x="5215900" y="1415100"/>
            <a:ext cx="35844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5"/>
                </a:solidFill>
              </a:rPr>
              <a:t>same</a:t>
            </a:r>
            <a:r>
              <a:rPr lang="en-GB"/>
              <a:t> and what is </a:t>
            </a:r>
            <a:r>
              <a:rPr lang="en-GB">
                <a:solidFill>
                  <a:schemeClr val="accent5"/>
                </a:solidFill>
              </a:rPr>
              <a:t>different</a:t>
            </a:r>
            <a:r>
              <a:rPr lang="en-GB"/>
              <a:t> about the strategies?</a:t>
            </a:r>
            <a:endParaRPr/>
          </a:p>
        </p:txBody>
      </p:sp>
      <p:sp>
        <p:nvSpPr>
          <p:cNvPr id="1070" name="Google Shape;1070;p82"/>
          <p:cNvSpPr txBox="1"/>
          <p:nvPr/>
        </p:nvSpPr>
        <p:spPr>
          <a:xfrm>
            <a:off x="5215900" y="2654125"/>
            <a:ext cx="3252300" cy="20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	 Both divide 14 by 7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Both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have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the same answer of 2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Only the second one used a bar model.</a:t>
            </a:r>
            <a:endParaRPr sz="22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071" name="Google Shape;1071;p82"/>
          <p:cNvGraphicFramePr/>
          <p:nvPr/>
        </p:nvGraphicFramePr>
        <p:xfrm>
          <a:off x="2099000" y="3364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382850"/>
                <a:gridCol w="382850"/>
                <a:gridCol w="382850"/>
                <a:gridCol w="382850"/>
                <a:gridCol w="382850"/>
                <a:gridCol w="382850"/>
                <a:gridCol w="3828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72" name="Google Shape;1072;p82"/>
          <p:cNvSpPr/>
          <p:nvPr/>
        </p:nvSpPr>
        <p:spPr>
          <a:xfrm rot="5400000">
            <a:off x="3337127" y="1886350"/>
            <a:ext cx="199800" cy="2676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3" name="Google Shape;1073;p82"/>
          <p:cNvSpPr/>
          <p:nvPr/>
        </p:nvSpPr>
        <p:spPr>
          <a:xfrm flipH="1" rot="5400000">
            <a:off x="2192977" y="3705625"/>
            <a:ext cx="199800" cy="3876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7}\times14\ \ \ \ \ \ \ \ \ \ \frac{1}{7}\ of\ 14\ \ \ \ \ \ \ \ \ \ \frac{3}{5}\ of\ 20\ \ \ \ \ \ \ \ \ \ 20\ \times\frac{3}{5}&quot;&gt;&lt;mfrac&gt;&lt;mn&gt;1&lt;/mn&gt;&lt;mn&gt;7&lt;/mn&gt;&lt;/mfrac&gt;&lt;mo&gt;×&lt;/mo&gt;&lt;mn&gt;14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1&lt;/mn&gt;&lt;mn&gt;7&lt;/mn&gt;&lt;/mfrac&gt;&lt;mtext&gt;&lt;/mtext&gt;&lt;mi&gt;o&lt;/mi&gt;&lt;mi&gt;f&lt;/mi&gt;&lt;mtext&gt;&lt;/mtext&gt;&lt;mn&gt;14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3&lt;/mn&gt;&lt;mn&gt;5&lt;/mn&gt;&lt;/mfrac&gt;&lt;mtext&gt;&lt;/mtext&gt;&lt;mi&gt;o&lt;/mi&gt;&lt;mi&gt;f&lt;/mi&gt;&lt;mtext&gt;&lt;/mtext&gt;&lt;mn&gt;20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20&lt;/mn&gt;&lt;mtext&gt;&lt;/mtext&gt;&lt;mo&gt;×&lt;/mo&gt;&lt;mfrac&gt;&lt;mn&gt;3&lt;/mn&gt;&lt;mn&gt;5&lt;/mn&gt;&lt;/mfrac&gt;&lt;/math&gt;" id="1074" name="Google Shape;1074;p82" title="one seventh times 14 one seventh o f 14 three fifths o f 20 20 times three fifths"/>
          <p:cNvPicPr preferRelativeResize="0"/>
          <p:nvPr/>
        </p:nvPicPr>
        <p:blipFill rotWithShape="1">
          <a:blip r:embed="rId4">
            <a:alphaModFix/>
          </a:blip>
          <a:srcRect b="0" l="25932" r="69186" t="0"/>
          <a:stretch/>
        </p:blipFill>
        <p:spPr>
          <a:xfrm>
            <a:off x="323991" y="3124450"/>
            <a:ext cx="345901" cy="727450"/>
          </a:xfrm>
          <a:prstGeom prst="rect">
            <a:avLst/>
          </a:prstGeom>
          <a:noFill/>
          <a:ln>
            <a:noFill/>
          </a:ln>
        </p:spPr>
      </p:pic>
      <p:sp>
        <p:nvSpPr>
          <p:cNvPr id="1075" name="Google Shape;1075;p82"/>
          <p:cNvSpPr txBox="1"/>
          <p:nvPr/>
        </p:nvSpPr>
        <p:spPr>
          <a:xfrm>
            <a:off x="764688" y="3297525"/>
            <a:ext cx="11124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6" name="Google Shape;1076;p82"/>
          <p:cNvSpPr txBox="1"/>
          <p:nvPr/>
        </p:nvSpPr>
        <p:spPr>
          <a:xfrm>
            <a:off x="2402238" y="4129350"/>
            <a:ext cx="11124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 = 2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77" name="Google Shape;1077;p82"/>
          <p:cNvSpPr txBox="1"/>
          <p:nvPr/>
        </p:nvSpPr>
        <p:spPr>
          <a:xfrm>
            <a:off x="3288967" y="2654125"/>
            <a:ext cx="4173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7}\times14\ \ \ \ \ \ \ \ \ \ \frac{1}{7}\ of\ 14\ \ \ \ \ \ \ \ \ \ \frac{3}{5}\ of\ 20\ \ \ \ \ \ \ \ \ \ 20\ \times\frac{3}{5}&quot;&gt;&lt;mfrac&gt;&lt;mn&gt;1&lt;/mn&gt;&lt;mn&gt;7&lt;/mn&gt;&lt;/mfrac&gt;&lt;mo&gt;×&lt;/mo&gt;&lt;mn&gt;14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1&lt;/mn&gt;&lt;mn&gt;7&lt;/mn&gt;&lt;/mfrac&gt;&lt;mtext&gt;&lt;/mtext&gt;&lt;mi&gt;o&lt;/mi&gt;&lt;mi&gt;f&lt;/mi&gt;&lt;mtext&gt;&lt;/mtext&gt;&lt;mn&gt;14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3&lt;/mn&gt;&lt;mn&gt;5&lt;/mn&gt;&lt;/mfrac&gt;&lt;mtext&gt;&lt;/mtext&gt;&lt;mi&gt;o&lt;/mi&gt;&lt;mi&gt;f&lt;/mi&gt;&lt;mtext&gt;&lt;/mtext&gt;&lt;mn&gt;20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20&lt;/mn&gt;&lt;mtext&gt;&lt;/mtext&gt;&lt;mo&gt;×&lt;/mo&gt;&lt;mfrac&gt;&lt;mn&gt;3&lt;/mn&gt;&lt;mn&gt;5&lt;/mn&gt;&lt;/mfrac&gt;&lt;/math&gt;" id="1078" name="Google Shape;1078;p82" title="one seventh times 14 one seventh o f 14 three fifths o f 20 20 times three fifths"/>
          <p:cNvPicPr preferRelativeResize="0"/>
          <p:nvPr/>
        </p:nvPicPr>
        <p:blipFill rotWithShape="1">
          <a:blip r:embed="rId4">
            <a:alphaModFix/>
          </a:blip>
          <a:srcRect b="0" l="25932" r="69186" t="0"/>
          <a:stretch/>
        </p:blipFill>
        <p:spPr>
          <a:xfrm>
            <a:off x="2138276" y="4053850"/>
            <a:ext cx="263976" cy="555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sp>
        <p:nvSpPr>
          <p:cNvPr id="1084" name="Google Shape;1084;p83"/>
          <p:cNvSpPr txBox="1"/>
          <p:nvPr>
            <p:ph idx="1" type="body"/>
          </p:nvPr>
        </p:nvSpPr>
        <p:spPr>
          <a:xfrm>
            <a:off x="324000" y="759300"/>
            <a:ext cx="82377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Aisha and Lucas are answering the following questions:</a:t>
            </a:r>
            <a:endParaRPr/>
          </a:p>
        </p:txBody>
      </p:sp>
      <p:sp>
        <p:nvSpPr>
          <p:cNvPr id="1085" name="Google Shape;1085;p83"/>
          <p:cNvSpPr txBox="1"/>
          <p:nvPr>
            <p:ph idx="1" type="body"/>
          </p:nvPr>
        </p:nvSpPr>
        <p:spPr>
          <a:xfrm>
            <a:off x="324000" y="2057125"/>
            <a:ext cx="84960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5"/>
                </a:solidFill>
              </a:rPr>
              <a:t>same</a:t>
            </a:r>
            <a:r>
              <a:rPr lang="en-GB"/>
              <a:t> and what is </a:t>
            </a:r>
            <a:r>
              <a:rPr lang="en-GB">
                <a:solidFill>
                  <a:schemeClr val="accent5"/>
                </a:solidFill>
              </a:rPr>
              <a:t>different</a:t>
            </a:r>
            <a:r>
              <a:rPr lang="en-GB"/>
              <a:t> about the calculations?</a:t>
            </a:r>
            <a:endParaRPr/>
          </a:p>
        </p:txBody>
      </p:sp>
      <p:sp>
        <p:nvSpPr>
          <p:cNvPr id="1086" name="Google Shape;1086;p83"/>
          <p:cNvSpPr txBox="1"/>
          <p:nvPr/>
        </p:nvSpPr>
        <p:spPr>
          <a:xfrm>
            <a:off x="324000" y="2470646"/>
            <a:ext cx="8496000" cy="194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	They both have a 3 as the numerator.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both have a 5 as the denominator.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They both use the integer 20.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One has a multiplication symbol and the other says ‘of’.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In the second one, the fraction is second in the calculation.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}{7}\times14\ \ \ \ \ \ \ \ \ \ \frac{1}{7}\ \ 14\ \ \ \ \ \ \ \ \ \ \frac{3}{5}\ \ \ \ \ 20\ \ \ \ \ \ \ \ \ \ 20\ \times\frac{3}{5}&quot;&gt;&lt;mfrac&gt;&lt;mn&gt;1&lt;/mn&gt;&lt;mn&gt;7&lt;/mn&gt;&lt;/mfrac&gt;&lt;mo&gt;×&lt;/mo&gt;&lt;mn&gt;14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1&lt;/mn&gt;&lt;mn&gt;7&lt;/mn&gt;&lt;/mfrac&gt;&lt;mtext&gt;&lt;/mtext&gt;&lt;mtext&gt;&lt;/mtext&gt;&lt;mn&gt;14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frac&gt;&lt;mn&gt;3&lt;/mn&gt;&lt;mn&gt;5&lt;/mn&gt;&lt;/mfrac&gt;&lt;mtext&gt;&lt;/mtext&gt;&lt;mtext&gt;&lt;/mtext&gt;&lt;mtext&gt;&lt;/mtext&gt;&lt;mtext&gt;&lt;/mtext&gt;&lt;mtext&gt;&lt;/mtext&gt;&lt;mn&gt;20&lt;/mn&gt;&lt;mtext&gt;&lt;/mtext&gt;&lt;mtext&gt;&lt;/mtext&gt;&lt;mtext&gt;&lt;/mtext&gt;&lt;mtext&gt;&lt;/mtext&gt;&lt;mtext&gt;&lt;/mtext&gt;&lt;mtext&gt;&lt;/mtext&gt;&lt;mtext&gt;&lt;/mtext&gt;&lt;mtext&gt;&lt;/mtext&gt;&lt;mtext&gt;&lt;/mtext&gt;&lt;mtext&gt;&lt;/mtext&gt;&lt;mn&gt;20&lt;/mn&gt;&lt;mtext&gt;&lt;/mtext&gt;&lt;mo&gt;×&lt;/mo&gt;&lt;mfrac&gt;&lt;mn&gt;3&lt;/mn&gt;&lt;mn&gt;5&lt;/mn&gt;&lt;/mfrac&gt;&lt;/math&gt;" id="1087" name="Google Shape;1087;p83" title="one seventh times 14 one seventh 14 three fifths 20 20 times three fifths"/>
          <p:cNvPicPr preferRelativeResize="0"/>
          <p:nvPr/>
        </p:nvPicPr>
        <p:blipFill rotWithShape="1">
          <a:blip r:embed="rId3">
            <a:alphaModFix/>
          </a:blip>
          <a:srcRect b="0" l="53423" r="0" t="0"/>
          <a:stretch/>
        </p:blipFill>
        <p:spPr>
          <a:xfrm>
            <a:off x="3061443" y="1249375"/>
            <a:ext cx="3069574" cy="7274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8" name="Google Shape;1088;p83"/>
          <p:cNvSpPr txBox="1"/>
          <p:nvPr/>
        </p:nvSpPr>
        <p:spPr>
          <a:xfrm>
            <a:off x="3369600" y="1367650"/>
            <a:ext cx="826500" cy="2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2" name="Shape 1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3" name="Google Shape;1093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\frac{3}{5}\times20=\frac{3\times20}{5}=60\div5=12&quot;&gt;&lt;mfrac&gt;&lt;mn&gt;3&lt;/mn&gt;&lt;mn&gt;5&lt;/mn&gt;&lt;/mfrac&gt;&lt;mo&gt;×&lt;/mo&gt;&lt;mn&gt;20&lt;/mn&gt;&lt;mo&gt;=&lt;/mo&gt;&lt;mfrac&gt;&lt;mrow&gt;&lt;mn&gt;3&lt;/mn&gt;&lt;mo&gt;×&lt;/mo&gt;&lt;mn&gt;20&lt;/mn&gt;&lt;/mrow&gt;&lt;mn&gt;5&lt;/mn&gt;&lt;/mfrac&gt;&lt;mo&gt;=&lt;/mo&gt;&lt;mn&gt;60&lt;/mn&gt;&lt;mo&gt;÷&lt;/mo&gt;&lt;mn&gt;5&lt;/mn&gt;&lt;mo&gt;=&lt;/mo&gt;&lt;mn&gt;12&lt;/mn&gt;&lt;/math&gt;" id="1094" name="Google Shape;1094;p84" title="three fifths times 20 equals the fraction with numerator 3 times 20 and denominator 5 equals 60 divided by 5 equals 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3" y="3690277"/>
            <a:ext cx="4111497" cy="6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5" name="Google Shape;1095;p84"/>
          <p:cNvSpPr txBox="1"/>
          <p:nvPr/>
        </p:nvSpPr>
        <p:spPr>
          <a:xfrm>
            <a:off x="5470200" y="2531200"/>
            <a:ext cx="3349800" cy="13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E.g.	Both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divide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by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5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Kalam"/>
                <a:ea typeface="Kalam"/>
                <a:cs typeface="Kalam"/>
                <a:sym typeface="Kalam"/>
              </a:rPr>
              <a:t>Both multiply by 3</a:t>
            </a:r>
            <a:endParaRPr sz="2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Both get the same answer of 12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second one has </a:t>
            </a:r>
            <a:r>
              <a:rPr lang="en-GB" sz="2200">
                <a:latin typeface="Kalam"/>
                <a:ea typeface="Kalam"/>
                <a:cs typeface="Kalam"/>
                <a:sym typeface="Kalam"/>
              </a:rPr>
              <a:t>fewer </a:t>
            </a: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steps. </a:t>
            </a:r>
            <a:endParaRPr sz="2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6" name="Google Shape;1096;p84"/>
          <p:cNvSpPr txBox="1"/>
          <p:nvPr>
            <p:ph idx="1" type="body"/>
          </p:nvPr>
        </p:nvSpPr>
        <p:spPr>
          <a:xfrm>
            <a:off x="324000" y="606900"/>
            <a:ext cx="82377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Here are their strategies for answering each question:</a:t>
            </a:r>
            <a:endParaRPr/>
          </a:p>
        </p:txBody>
      </p:sp>
      <p:sp>
        <p:nvSpPr>
          <p:cNvPr id="1097" name="Google Shape;1097;p84"/>
          <p:cNvSpPr txBox="1"/>
          <p:nvPr>
            <p:ph idx="1" type="body"/>
          </p:nvPr>
        </p:nvSpPr>
        <p:spPr>
          <a:xfrm>
            <a:off x="5470200" y="1195375"/>
            <a:ext cx="33498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the </a:t>
            </a:r>
            <a:r>
              <a:rPr lang="en-GB">
                <a:solidFill>
                  <a:schemeClr val="accent5"/>
                </a:solidFill>
              </a:rPr>
              <a:t>same</a:t>
            </a:r>
            <a:r>
              <a:rPr lang="en-GB"/>
              <a:t> and what is </a:t>
            </a:r>
            <a:r>
              <a:rPr lang="en-GB">
                <a:solidFill>
                  <a:schemeClr val="accent5"/>
                </a:solidFill>
              </a:rPr>
              <a:t>different</a:t>
            </a:r>
            <a:r>
              <a:rPr lang="en-GB"/>
              <a:t> about the strategies?</a:t>
            </a:r>
            <a:endParaRPr/>
          </a:p>
        </p:txBody>
      </p:sp>
      <p:graphicFrame>
        <p:nvGraphicFramePr>
          <p:cNvPr id="1098" name="Google Shape;1098;p84"/>
          <p:cNvGraphicFramePr/>
          <p:nvPr/>
        </p:nvGraphicFramePr>
        <p:xfrm>
          <a:off x="2144050" y="1838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535200"/>
                <a:gridCol w="535200"/>
                <a:gridCol w="535200"/>
                <a:gridCol w="535200"/>
                <a:gridCol w="5352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6F2F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36000" anchor="ctr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9" name="Google Shape;1099;p84"/>
          <p:cNvSpPr/>
          <p:nvPr/>
        </p:nvSpPr>
        <p:spPr>
          <a:xfrm rot="5400000">
            <a:off x="3382177" y="360775"/>
            <a:ext cx="199800" cy="26760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0" name="Google Shape;1100;p84"/>
          <p:cNvSpPr/>
          <p:nvPr/>
        </p:nvSpPr>
        <p:spPr>
          <a:xfrm flipH="1" rot="5400000">
            <a:off x="2846494" y="1571650"/>
            <a:ext cx="199800" cy="1604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1" name="Google Shape;1101;p84"/>
          <p:cNvSpPr txBox="1"/>
          <p:nvPr/>
        </p:nvSpPr>
        <p:spPr>
          <a:xfrm>
            <a:off x="2791599" y="2635550"/>
            <a:ext cx="18945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2" name="Google Shape;1102;p84"/>
          <p:cNvSpPr txBox="1"/>
          <p:nvPr/>
        </p:nvSpPr>
        <p:spPr>
          <a:xfrm>
            <a:off x="3334017" y="1128550"/>
            <a:ext cx="4173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5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2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\times20=\frac{3\times20}{5}=60\div5=12&quot;&gt;&lt;mfrac&gt;&lt;mn&gt;3&lt;/mn&gt;&lt;mn&gt;5&lt;/mn&gt;&lt;/mfrac&gt;&lt;mo&gt;×&lt;/mo&gt;&lt;mn&gt;20&lt;/mn&gt;&lt;mo&gt;=&lt;/mo&gt;&lt;mfrac&gt;&lt;mrow&gt;&lt;mn&gt;3&lt;/mn&gt;&lt;mo&gt;×&lt;/mo&gt;&lt;mn&gt;20&lt;/mn&gt;&lt;/mrow&gt;&lt;mn&gt;5&lt;/mn&gt;&lt;/mfrac&gt;&lt;mo&gt;=&lt;/mo&gt;&lt;mn&gt;60&lt;/mn&gt;&lt;mo&gt;÷&lt;/mo&gt;&lt;mn&gt;5&lt;/mn&gt;&lt;mo&gt;=&lt;/mo&gt;&lt;mn&gt;12&lt;/mn&gt;&lt;/math&gt;" id="1103" name="Google Shape;1103;p84" title="three fifths times 20 equals the fraction with numerator 3 times 20 and denominator 5 equals 60 divided by 5 equals 12"/>
          <p:cNvPicPr preferRelativeResize="0"/>
          <p:nvPr/>
        </p:nvPicPr>
        <p:blipFill rotWithShape="1">
          <a:blip r:embed="rId3">
            <a:alphaModFix/>
          </a:blip>
          <a:srcRect b="0" l="0" r="93979" t="0"/>
          <a:stretch/>
        </p:blipFill>
        <p:spPr>
          <a:xfrm>
            <a:off x="2468600" y="2571750"/>
            <a:ext cx="210649" cy="5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84"/>
          <p:cNvSpPr txBox="1"/>
          <p:nvPr/>
        </p:nvSpPr>
        <p:spPr>
          <a:xfrm>
            <a:off x="689363" y="1615325"/>
            <a:ext cx="1112400" cy="38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r>
              <a:rPr lang="en-GB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\times20=\frac{3\times20}{5}=60\div5=12&quot;&gt;&lt;mfrac&gt;&lt;mn&gt;3&lt;/mn&gt;&lt;mn&gt;5&lt;/mn&gt;&lt;/mfrac&gt;&lt;mo&gt;×&lt;/mo&gt;&lt;mn&gt;20&lt;/mn&gt;&lt;mo&gt;=&lt;/mo&gt;&lt;mfrac&gt;&lt;mrow&gt;&lt;mn&gt;3&lt;/mn&gt;&lt;mo&gt;×&lt;/mo&gt;&lt;mn&gt;20&lt;/mn&gt;&lt;/mrow&gt;&lt;mn&gt;5&lt;/mn&gt;&lt;/mfrac&gt;&lt;mo&gt;=&lt;/mo&gt;&lt;mn&gt;60&lt;/mn&gt;&lt;mo&gt;÷&lt;/mo&gt;&lt;mn&gt;5&lt;/mn&gt;&lt;mo&gt;=&lt;/mo&gt;&lt;mn&gt;12&lt;/mn&gt;&lt;/math&gt;" id="1105" name="Google Shape;1105;p84" title="three fifths times 20 equals the fraction with numerator 3 times 20 and denominator 5 equals 60 divided by 5 equals 12"/>
          <p:cNvPicPr preferRelativeResize="0"/>
          <p:nvPr/>
        </p:nvPicPr>
        <p:blipFill rotWithShape="1">
          <a:blip r:embed="rId3">
            <a:alphaModFix/>
          </a:blip>
          <a:srcRect b="0" l="0" r="93979" t="0"/>
          <a:stretch/>
        </p:blipFill>
        <p:spPr>
          <a:xfrm>
            <a:off x="324000" y="1476375"/>
            <a:ext cx="247567" cy="6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6" name="Google Shape;1106;p84"/>
          <p:cNvSpPr txBox="1"/>
          <p:nvPr/>
        </p:nvSpPr>
        <p:spPr>
          <a:xfrm>
            <a:off x="3464325" y="2635550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3 × 4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07" name="Google Shape;1107;p84"/>
          <p:cNvSpPr txBox="1"/>
          <p:nvPr/>
        </p:nvSpPr>
        <p:spPr>
          <a:xfrm>
            <a:off x="3464325" y="29490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 12 </a:t>
            </a:r>
            <a:endParaRPr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pic>
        <p:nvPicPr>
          <p:cNvPr id="1113" name="Google Shape;111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824995" y="2472188"/>
            <a:ext cx="798316" cy="89610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4" name="Google Shape;1114;p85"/>
          <p:cNvGrpSpPr/>
          <p:nvPr/>
        </p:nvGrpSpPr>
        <p:grpSpPr>
          <a:xfrm>
            <a:off x="4587000" y="496375"/>
            <a:ext cx="3502249" cy="2271850"/>
            <a:chOff x="4587000" y="496375"/>
            <a:chExt cx="3502249" cy="2271850"/>
          </a:xfrm>
        </p:grpSpPr>
        <p:pic>
          <p:nvPicPr>
            <p:cNvPr id="1115" name="Google Shape;1115;p85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>
              <a:off x="4587000" y="496375"/>
              <a:ext cx="3502249" cy="22718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16" name="Google Shape;1116;p85"/>
            <p:cNvSpPr txBox="1"/>
            <p:nvPr/>
          </p:nvSpPr>
          <p:spPr>
            <a:xfrm>
              <a:off x="4792225" y="751075"/>
              <a:ext cx="2969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Because we are using the same numerators, the same denominators, the same amount and only multiplication and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division they are the equivalent. 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117" name="Google Shape;1117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6000" y="1452418"/>
            <a:ext cx="623346" cy="1177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8" name="Google Shape;1118;p85"/>
          <p:cNvGrpSpPr/>
          <p:nvPr/>
        </p:nvGrpSpPr>
        <p:grpSpPr>
          <a:xfrm>
            <a:off x="966252" y="472700"/>
            <a:ext cx="2223273" cy="1607975"/>
            <a:chOff x="1271052" y="-213100"/>
            <a:chExt cx="2223273" cy="1607975"/>
          </a:xfrm>
        </p:grpSpPr>
        <p:pic>
          <p:nvPicPr>
            <p:cNvPr id="1119" name="Google Shape;1119;p85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1271052" y="-213100"/>
              <a:ext cx="2223273" cy="160797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0" name="Google Shape;1120;p85"/>
            <p:cNvSpPr txBox="1"/>
            <p:nvPr/>
          </p:nvSpPr>
          <p:spPr>
            <a:xfrm>
              <a:off x="1458838" y="4625"/>
              <a:ext cx="1850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Does this mean that multiply and ‘of’ are the same thing?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121" name="Google Shape;1121;p85"/>
          <p:cNvSpPr txBox="1"/>
          <p:nvPr/>
        </p:nvSpPr>
        <p:spPr>
          <a:xfrm>
            <a:off x="309550" y="261720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2" name="Google Shape;1122;p85"/>
          <p:cNvSpPr txBox="1"/>
          <p:nvPr/>
        </p:nvSpPr>
        <p:spPr>
          <a:xfrm>
            <a:off x="7825000" y="3381450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23" name="Google Shape;1123;p85"/>
          <p:cNvGrpSpPr/>
          <p:nvPr/>
        </p:nvGrpSpPr>
        <p:grpSpPr>
          <a:xfrm>
            <a:off x="937349" y="491000"/>
            <a:ext cx="2544451" cy="1592926"/>
            <a:chOff x="937349" y="491000"/>
            <a:chExt cx="2544451" cy="1592926"/>
          </a:xfrm>
        </p:grpSpPr>
        <p:pic>
          <p:nvPicPr>
            <p:cNvPr id="1124" name="Google Shape;1124;p85"/>
            <p:cNvPicPr preferRelativeResize="0"/>
            <p:nvPr/>
          </p:nvPicPr>
          <p:blipFill rotWithShape="1">
            <a:blip r:embed="rId4">
              <a:alphaModFix/>
            </a:blip>
            <a:srcRect b="0" l="0" r="69082" t="56280"/>
            <a:stretch/>
          </p:blipFill>
          <p:spPr>
            <a:xfrm flipH="1">
              <a:off x="937349" y="491000"/>
              <a:ext cx="2544451" cy="159292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25" name="Google Shape;1125;p85"/>
            <p:cNvSpPr txBox="1"/>
            <p:nvPr/>
          </p:nvSpPr>
          <p:spPr>
            <a:xfrm>
              <a:off x="1125152" y="708725"/>
              <a:ext cx="22233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Yes, and  multiplication and division have equal priority.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descr="&lt;math xmlns=&quot;http://www.w3.org/1998/Math/MathML&quot; display=&quot;block&quot; data-is-equatio=&quot;1&quot; data-latex=&quot;\frac{3}{5}\ of\ 20=3\times\left(20\div5\right)=3\times4=12&quot;&gt;&lt;mfrac&gt;&lt;mn&gt;3&lt;/mn&gt;&lt;mn&gt;5&lt;/mn&gt;&lt;/mfrac&gt;&lt;mtext&gt;&lt;/mtext&gt;&lt;mi&gt;o&lt;/mi&gt;&lt;mi&gt;f&lt;/mi&gt;&lt;mtext&gt;&lt;/mtext&gt;&lt;mn&gt;20&lt;/mn&gt;&lt;mo&gt;=&lt;/mo&gt;&lt;mn&gt;3&lt;/mn&gt;&lt;mo&gt;×&lt;/mo&gt;&lt;mrow data-mjx-texclass=&quot;INNER&quot;&gt;&lt;mo data-mjx-texclass=&quot;OPEN&quot;&gt;(&lt;/mo&gt;&lt;mn&gt;20&lt;/mn&gt;&lt;mo&gt;÷&lt;/mo&gt;&lt;mn&gt;5&lt;/mn&gt;&lt;mo data-mjx-texclass=&quot;CLOSE&quot;&gt;)&lt;/mo&gt;&lt;/mrow&gt;&lt;mo&gt;=&lt;/mo&gt;&lt;mn&gt;3&lt;/mn&gt;&lt;mo&gt;×&lt;/mo&gt;&lt;mn&gt;4&lt;/mn&gt;&lt;mo&gt;=&lt;/mo&gt;&lt;mn&gt;12&lt;/mn&gt;&lt;/math&gt;" id="1126" name="Google Shape;1126;p85" title="three fifths o f 20 equals 3 times open paren 20 divided by 5 close paren equals 3 times 4 equals 12"/>
          <p:cNvPicPr preferRelativeResize="0"/>
          <p:nvPr/>
        </p:nvPicPr>
        <p:blipFill rotWithShape="1">
          <a:blip r:embed="rId6">
            <a:alphaModFix/>
          </a:blip>
          <a:srcRect b="0" l="15196" r="0" t="0"/>
          <a:stretch/>
        </p:blipFill>
        <p:spPr>
          <a:xfrm>
            <a:off x="1036475" y="2971850"/>
            <a:ext cx="3975225" cy="656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5}\times20=\frac{3\times20}{5}=60\div5=12&quot;&gt;&lt;mfrac&gt;&lt;mn&gt;3&lt;/mn&gt;&lt;mn&gt;5&lt;/mn&gt;&lt;/mfrac&gt;&lt;mo&gt;×&lt;/mo&gt;&lt;mn&gt;20&lt;/mn&gt;&lt;mo&gt;=&lt;/mo&gt;&lt;mfrac&gt;&lt;mrow&gt;&lt;mn&gt;3&lt;/mn&gt;&lt;mo&gt;×&lt;/mo&gt;&lt;mn&gt;20&lt;/mn&gt;&lt;/mrow&gt;&lt;mn&gt;5&lt;/mn&gt;&lt;/mfrac&gt;&lt;mo&gt;=&lt;/mo&gt;&lt;mn&gt;60&lt;/mn&gt;&lt;mo&gt;÷&lt;/mo&gt;&lt;mn&gt;5&lt;/mn&gt;&lt;mo&gt;=&lt;/mo&gt;&lt;mn&gt;12&lt;/mn&gt;&lt;/math&gt;" id="1127" name="Google Shape;1127;p85" title="three fifths times 20 equals the fraction with numerator 3 times 20 and denominator 5 equals 60 divided by 5 equals 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24003" y="4019648"/>
            <a:ext cx="4111497" cy="6592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8" name="Google Shape;1128;p85"/>
          <p:cNvSpPr/>
          <p:nvPr/>
        </p:nvSpPr>
        <p:spPr>
          <a:xfrm>
            <a:off x="1727100" y="3138925"/>
            <a:ext cx="509700" cy="36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29" name="Google Shape;1129;p85"/>
          <p:cNvSpPr/>
          <p:nvPr/>
        </p:nvSpPr>
        <p:spPr>
          <a:xfrm>
            <a:off x="1651200" y="3952200"/>
            <a:ext cx="509700" cy="36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0" name="Google Shape;1130;p85"/>
          <p:cNvSpPr/>
          <p:nvPr/>
        </p:nvSpPr>
        <p:spPr>
          <a:xfrm>
            <a:off x="2707120" y="3129409"/>
            <a:ext cx="562800" cy="36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1" name="Google Shape;1131;p85"/>
          <p:cNvSpPr/>
          <p:nvPr/>
        </p:nvSpPr>
        <p:spPr>
          <a:xfrm>
            <a:off x="1591450" y="4326625"/>
            <a:ext cx="986100" cy="403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2" name="Google Shape;1132;p85"/>
          <p:cNvSpPr txBox="1"/>
          <p:nvPr/>
        </p:nvSpPr>
        <p:spPr>
          <a:xfrm>
            <a:off x="5034050" y="3651848"/>
            <a:ext cx="2867100" cy="126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REMEMBER: a 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fraction</a:t>
            </a:r>
            <a:r>
              <a:rPr lang="en-GB" sz="2000">
                <a:latin typeface="Lexend"/>
                <a:ea typeface="Lexend"/>
                <a:cs typeface="Lexend"/>
                <a:sym typeface="Lexend"/>
              </a:rPr>
              <a:t> is an alternative way of showing division.</a:t>
            </a:r>
            <a:endParaRPr sz="2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5}\ of\ 20=3\times\left(20\div5\right)=3\times4=12&quot;&gt;&lt;mfrac&gt;&lt;mn&gt;3&lt;/mn&gt;&lt;mn&gt;5&lt;/mn&gt;&lt;/mfrac&gt;&lt;mtext&gt;&lt;/mtext&gt;&lt;mi&gt;o&lt;/mi&gt;&lt;mi&gt;f&lt;/mi&gt;&lt;mtext&gt;&lt;/mtext&gt;&lt;mn&gt;20&lt;/mn&gt;&lt;mo&gt;=&lt;/mo&gt;&lt;mn&gt;3&lt;/mn&gt;&lt;mo&gt;×&lt;/mo&gt;&lt;mrow data-mjx-texclass=&quot;INNER&quot;&gt;&lt;mo data-mjx-texclass=&quot;OPEN&quot;&gt;(&lt;/mo&gt;&lt;mn&gt;20&lt;/mn&gt;&lt;mo&gt;÷&lt;/mo&gt;&lt;mn&gt;5&lt;/mn&gt;&lt;mo data-mjx-texclass=&quot;CLOSE&quot;&gt;)&lt;/mo&gt;&lt;/mrow&gt;&lt;mo&gt;=&lt;/mo&gt;&lt;mn&gt;3&lt;/mn&gt;&lt;mo&gt;×&lt;/mo&gt;&lt;mn&gt;4&lt;/mn&gt;&lt;mo&gt;=&lt;/mo&gt;&lt;mn&gt;12&lt;/mn&gt;&lt;/math&gt;" id="1133" name="Google Shape;1133;p85" title="three fifths o f 20 equals 3 times open paren 20 divided by 5 close paren equals 3 times 4 equals 12"/>
          <p:cNvPicPr preferRelativeResize="0"/>
          <p:nvPr/>
        </p:nvPicPr>
        <p:blipFill rotWithShape="1">
          <a:blip r:embed="rId6">
            <a:alphaModFix/>
          </a:blip>
          <a:srcRect b="0" l="0" r="93702" t="0"/>
          <a:stretch/>
        </p:blipFill>
        <p:spPr>
          <a:xfrm>
            <a:off x="309557" y="2996313"/>
            <a:ext cx="295201" cy="656475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85"/>
          <p:cNvSpPr txBox="1"/>
          <p:nvPr/>
        </p:nvSpPr>
        <p:spPr>
          <a:xfrm>
            <a:off x="559059" y="3034641"/>
            <a:ext cx="6411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sp>
        <p:nvSpPr>
          <p:cNvPr id="1140" name="Google Shape;1140;p86"/>
          <p:cNvSpPr txBox="1"/>
          <p:nvPr>
            <p:ph idx="1" type="body"/>
          </p:nvPr>
        </p:nvSpPr>
        <p:spPr>
          <a:xfrm>
            <a:off x="324000" y="759300"/>
            <a:ext cx="8237700" cy="132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word </a:t>
            </a:r>
            <a:r>
              <a:rPr lang="en-GB">
                <a:solidFill>
                  <a:schemeClr val="accent5"/>
                </a:solidFill>
              </a:rPr>
              <a:t>‘of’</a:t>
            </a:r>
            <a:r>
              <a:rPr lang="en-GB"/>
              <a:t> and the process of </a:t>
            </a:r>
            <a:r>
              <a:rPr lang="en-GB">
                <a:solidFill>
                  <a:schemeClr val="accent5"/>
                </a:solidFill>
              </a:rPr>
              <a:t>multiplying</a:t>
            </a:r>
            <a:r>
              <a:rPr lang="en-GB"/>
              <a:t> in maths are the </a:t>
            </a:r>
            <a:r>
              <a:rPr lang="en-GB">
                <a:solidFill>
                  <a:schemeClr val="accent5"/>
                </a:solidFill>
              </a:rPr>
              <a:t>same</a:t>
            </a:r>
            <a:r>
              <a:rPr lang="en-GB"/>
              <a:t> thing.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E.g.  </a:t>
            </a:r>
            <a:endParaRPr/>
          </a:p>
        </p:txBody>
      </p:sp>
      <p:sp>
        <p:nvSpPr>
          <p:cNvPr id="1141" name="Google Shape;1141;p86"/>
          <p:cNvSpPr txBox="1"/>
          <p:nvPr/>
        </p:nvSpPr>
        <p:spPr>
          <a:xfrm>
            <a:off x="1335150" y="1698525"/>
            <a:ext cx="4824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\frac{3}{5}\ \ \ \ \ 600\ =\ \frac{3}{5}\times600\\&amp;#13;&amp;#10;2\ \frac{4}{5}\ \ \ \ \ 8600\ g\ =\ 2\ \frac{4}{5}\times8600\ g\\&amp;#13;&amp;#10;\frac{1}{4}\times\frac{1}{2}\ =\ \frac{1}{4}\ \ \ \ \ \frac{1}{2}\end{array}&quot;&gt;&lt;mtable columnalign=&quot;left&quot; columnspacing=&quot;1em&quot; rowspacing=&quot;4pt&quot;&gt;&lt;mtr&gt;&lt;mtd&gt;&lt;mfrac&gt;&lt;mn&gt;3&lt;/mn&gt;&lt;mn&gt;5&lt;/mn&gt;&lt;/mfrac&gt;&lt;mtext&gt;&lt;/mtext&gt;&lt;mtext&gt;&lt;/mtext&gt;&lt;mtext&gt;&lt;/mtext&gt;&lt;mtext&gt;&lt;/mtext&gt;&lt;mtext&gt;&lt;/mtext&gt;&lt;mn&gt;600&lt;/mn&gt;&lt;mtext&gt;&lt;/mtext&gt;&lt;mo&gt;=&lt;/mo&gt;&lt;mtext&gt;&lt;/mtext&gt;&lt;mfrac&gt;&lt;mn&gt;3&lt;/mn&gt;&lt;mn&gt;5&lt;/mn&gt;&lt;/mfrac&gt;&lt;mo&gt;×&lt;/mo&gt;&lt;mn&gt;600&lt;/mn&gt;&lt;/mtd&gt;&lt;/mtr&gt;&lt;mtr&gt;&lt;mtd&gt;&lt;mn&gt;2&lt;/mn&gt;&lt;mtext&gt;&lt;/mtext&gt;&lt;mfrac&gt;&lt;mn&gt;4&lt;/mn&gt;&lt;mn&gt;5&lt;/mn&gt;&lt;/mfrac&gt;&lt;mtext&gt;&lt;/mtext&gt;&lt;mtext&gt;&lt;/mtext&gt;&lt;mtext&gt;&lt;/mtext&gt;&lt;mtext&gt;&lt;/mtext&gt;&lt;mtext&gt;&lt;/mtext&gt;&lt;mn&gt;8600&lt;/mn&gt;&lt;mtext&gt;&lt;/mtext&gt;&lt;mi&gt;g&lt;/mi&gt;&lt;mtext&gt;&lt;/mtext&gt;&lt;mo&gt;=&lt;/mo&gt;&lt;mtext&gt;&lt;/mtext&gt;&lt;mn&gt;2&lt;/mn&gt;&lt;mtext&gt;&lt;/mtext&gt;&lt;mfrac&gt;&lt;mn&gt;4&lt;/mn&gt;&lt;mn&gt;5&lt;/mn&gt;&lt;/mfrac&gt;&lt;mo&gt;×&lt;/mo&gt;&lt;mn&gt;8600&lt;/mn&gt;&lt;mtext&gt;&lt;/mtext&gt;&lt;mi&gt;g&lt;/mi&gt;&lt;/mtd&gt;&lt;/mtr&gt;&lt;mtr&gt;&lt;mtd&gt;&lt;mfrac&gt;&lt;mn&gt;1&lt;/mn&gt;&lt;mn&gt;4&lt;/mn&gt;&lt;/mfrac&gt;&lt;mo&gt;×&lt;/mo&gt;&lt;mfrac&gt;&lt;mn&gt;1&lt;/mn&gt;&lt;mn&gt;2&lt;/mn&gt;&lt;/mfrac&gt;&lt;mtext&gt;&lt;/mtext&gt;&lt;mo&gt;=&lt;/mo&gt;&lt;mtext&gt;&lt;/mtext&gt;&lt;mfrac&gt;&lt;mn&gt;1&lt;/mn&gt;&lt;mn&gt;4&lt;/mn&gt;&lt;/mfrac&gt;&lt;mtext&gt;&lt;/mtext&gt;&lt;mtext&gt;&lt;/mtext&gt;&lt;mtext&gt;&lt;/mtext&gt;&lt;mtext&gt;&lt;/mtext&gt;&lt;mtext&gt;&lt;/mtext&gt;&lt;mfrac&gt;&lt;mn&gt;1&lt;/mn&gt;&lt;mn&gt;2&lt;/mn&gt;&lt;/mfrac&gt;&lt;/mtd&gt;&lt;/mtr&gt;&lt;/mtable&gt;&lt;/math&gt;" id="1142" name="Google Shape;1142;p86" title="3 lines Line 1: three fifths 600 equals three fifths times 600 Line 2: 2 four fifths 8600 g equals 2 four fifths times 8600 g Line 3: one fourth times one half equals one fourth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9350" y="1698525"/>
            <a:ext cx="4758401" cy="1873448"/>
          </a:xfrm>
          <a:prstGeom prst="rect">
            <a:avLst/>
          </a:prstGeom>
          <a:noFill/>
          <a:ln>
            <a:noFill/>
          </a:ln>
        </p:spPr>
      </p:pic>
      <p:sp>
        <p:nvSpPr>
          <p:cNvPr id="1143" name="Google Shape;1143;p86"/>
          <p:cNvSpPr txBox="1"/>
          <p:nvPr/>
        </p:nvSpPr>
        <p:spPr>
          <a:xfrm>
            <a:off x="1641150" y="2384450"/>
            <a:ext cx="4824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4" name="Google Shape;1144;p86"/>
          <p:cNvSpPr txBox="1"/>
          <p:nvPr/>
        </p:nvSpPr>
        <p:spPr>
          <a:xfrm>
            <a:off x="2974800" y="2996138"/>
            <a:ext cx="4824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5" name="Google Shape;1145;p86"/>
          <p:cNvSpPr/>
          <p:nvPr/>
        </p:nvSpPr>
        <p:spPr>
          <a:xfrm>
            <a:off x="1062601" y="2339550"/>
            <a:ext cx="4979700" cy="658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46" name="Google Shape;1146;p86"/>
          <p:cNvSpPr/>
          <p:nvPr/>
        </p:nvSpPr>
        <p:spPr>
          <a:xfrm>
            <a:off x="1038288" y="2998050"/>
            <a:ext cx="4614000" cy="6135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sp>
        <p:nvSpPr>
          <p:cNvPr id="1152" name="Google Shape;1152;p87"/>
          <p:cNvSpPr txBox="1"/>
          <p:nvPr>
            <p:ph idx="1" type="body"/>
          </p:nvPr>
        </p:nvSpPr>
        <p:spPr>
          <a:xfrm>
            <a:off x="324000" y="759300"/>
            <a:ext cx="82377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Knowing that fractions of amounts can be written as multiplications, we can multiply fractions efficiently.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frac{4}{9}\ of\ 81\ =\ 81\times4\div9=81\div9\times4=9\times4=36&quot;&gt;&lt;mfrac&gt;&lt;mn&gt;4&lt;/mn&gt;&lt;mn&gt;9&lt;/mn&gt;&lt;/mfrac&gt;&lt;mtext&gt;&lt;/mtext&gt;&lt;mi&gt;o&lt;/mi&gt;&lt;mi&gt;f&lt;/mi&gt;&lt;mtext&gt;&lt;/mtext&gt;&lt;mn&gt;81&lt;/mn&gt;&lt;mtext&gt;&lt;/mtext&gt;&lt;mo&gt;=&lt;/mo&gt;&lt;mtext&gt;&lt;/mtext&gt;&lt;mn&gt;81&lt;/mn&gt;&lt;mo&gt;×&lt;/mo&gt;&lt;mn&gt;4&lt;/mn&gt;&lt;mo&gt;÷&lt;/mo&gt;&lt;mn&gt;9&lt;/mn&gt;&lt;mo&gt;=&lt;/mo&gt;&lt;mn&gt;81&lt;/mn&gt;&lt;mo&gt;÷&lt;/mo&gt;&lt;mn&gt;9&lt;/mn&gt;&lt;mo&gt;×&lt;/mo&gt;&lt;mn&gt;4&lt;/mn&gt;&lt;mo&gt;=&lt;/mo&gt;&lt;mn&gt;9&lt;/mn&gt;&lt;mo&gt;×&lt;/mo&gt;&lt;mn&gt;4&lt;/mn&gt;&lt;mo&gt;=&lt;/mo&gt;&lt;mn&gt;36&lt;/mn&gt;&lt;/math&gt;" id="1153" name="Google Shape;1153;p87" title="four ninths o f 81 equals 81 times 4 divided by 9 equals 81 divided by 9 times 4 equals 9 times 4 equals 36"/>
          <p:cNvPicPr preferRelativeResize="0"/>
          <p:nvPr/>
        </p:nvPicPr>
        <p:blipFill rotWithShape="1">
          <a:blip r:embed="rId3">
            <a:alphaModFix/>
          </a:blip>
          <a:srcRect b="0" l="10976" r="77406" t="0"/>
          <a:stretch/>
        </p:blipFill>
        <p:spPr>
          <a:xfrm>
            <a:off x="999400" y="1611125"/>
            <a:ext cx="715099" cy="640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9}\ of\ 81\ =\ 81\times4\div9=81\div9\times4=9\times4=36&quot;&gt;&lt;mfrac&gt;&lt;mn&gt;4&lt;/mn&gt;&lt;mn&gt;9&lt;/mn&gt;&lt;/mfrac&gt;&lt;mtext&gt;&lt;/mtext&gt;&lt;mi&gt;o&lt;/mi&gt;&lt;mi&gt;f&lt;/mi&gt;&lt;mtext&gt;&lt;/mtext&gt;&lt;mn&gt;81&lt;/mn&gt;&lt;mtext&gt;&lt;/mtext&gt;&lt;mo&gt;=&lt;/mo&gt;&lt;mtext&gt;&lt;/mtext&gt;&lt;mn&gt;81&lt;/mn&gt;&lt;mo&gt;×&lt;/mo&gt;&lt;mn&gt;4&lt;/mn&gt;&lt;mo&gt;÷&lt;/mo&gt;&lt;mn&gt;9&lt;/mn&gt;&lt;mo&gt;=&lt;/mo&gt;&lt;mn&gt;81&lt;/mn&gt;&lt;mo&gt;÷&lt;/mo&gt;&lt;mn&gt;9&lt;/mn&gt;&lt;mo&gt;×&lt;/mo&gt;&lt;mn&gt;4&lt;/mn&gt;&lt;mo&gt;=&lt;/mo&gt;&lt;mn&gt;9&lt;/mn&gt;&lt;mo&gt;×&lt;/mo&gt;&lt;mn&gt;4&lt;/mn&gt;&lt;mo&gt;=&lt;/mo&gt;&lt;mn&gt;36&lt;/mn&gt;&lt;/math&gt;" id="1154" name="Google Shape;1154;p87" title="four ninths o f 81 equals 81 times 4 divided by 9 equals 81 divided by 9 times 4 equals 9 times 4 equals 36"/>
          <p:cNvPicPr preferRelativeResize="0"/>
          <p:nvPr/>
        </p:nvPicPr>
        <p:blipFill rotWithShape="1">
          <a:blip r:embed="rId3">
            <a:alphaModFix/>
          </a:blip>
          <a:srcRect b="0" l="0" r="96289" t="0"/>
          <a:stretch/>
        </p:blipFill>
        <p:spPr>
          <a:xfrm>
            <a:off x="324000" y="1638151"/>
            <a:ext cx="218795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87"/>
          <p:cNvSpPr txBox="1"/>
          <p:nvPr/>
        </p:nvSpPr>
        <p:spPr>
          <a:xfrm>
            <a:off x="552425" y="1676150"/>
            <a:ext cx="641100" cy="4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4}{9}\times81=\frac{4}{9}\times\frac{81}{1}=\frac{4\times81}{9\times1}&quot;&gt;&lt;mfrac&gt;&lt;mn&gt;4&lt;/mn&gt;&lt;mn&gt;9&lt;/mn&gt;&lt;/mfrac&gt;&lt;mo&gt;×&lt;/mo&gt;&lt;mn&gt;81&lt;/mn&gt;&lt;mo&gt;=&lt;/mo&gt;&lt;mfrac&gt;&lt;mn&gt;4&lt;/mn&gt;&lt;mn&gt;9&lt;/mn&gt;&lt;/mfrac&gt;&lt;mo&gt;×&lt;/mo&gt;&lt;mfrac&gt;&lt;mn&gt;81&lt;/mn&gt;&lt;mn&gt;1&lt;/mn&gt;&lt;/mfrac&gt;&lt;mo&gt;=&lt;/mo&gt;&lt;mfrac&gt;&lt;mrow&gt;&lt;mn&gt;4&lt;/mn&gt;&lt;mo&gt;×&lt;/mo&gt;&lt;mn&gt;81&lt;/mn&gt;&lt;/mrow&gt;&lt;mrow&gt;&lt;mn&gt;9&lt;/mn&gt;&lt;mo&gt;×&lt;/mo&gt;&lt;mn&gt;1&lt;/mn&gt;&lt;/mrow&gt;&lt;/mfrac&gt;&lt;/math&gt;" id="1156" name="Google Shape;1156;p87" title="four ninths times 81 equals four ninths times 81 over 1 equals the fraction with numerator 4 times 81 and denominator 9 times 1"/>
          <p:cNvPicPr preferRelativeResize="0"/>
          <p:nvPr/>
        </p:nvPicPr>
        <p:blipFill rotWithShape="1">
          <a:blip r:embed="rId4">
            <a:alphaModFix/>
          </a:blip>
          <a:srcRect b="0" l="0" r="74696" t="0"/>
          <a:stretch/>
        </p:blipFill>
        <p:spPr>
          <a:xfrm>
            <a:off x="1883150" y="1647725"/>
            <a:ext cx="869575" cy="62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57" name="Google Shape;1157;p87"/>
          <p:cNvSpPr txBox="1"/>
          <p:nvPr>
            <p:ph idx="1" type="body"/>
          </p:nvPr>
        </p:nvSpPr>
        <p:spPr>
          <a:xfrm>
            <a:off x="5872800" y="1501050"/>
            <a:ext cx="29472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You don’t need to write out all of these steps, this is just to show you.</a:t>
            </a:r>
            <a:endParaRPr sz="1900"/>
          </a:p>
        </p:txBody>
      </p:sp>
      <p:sp>
        <p:nvSpPr>
          <p:cNvPr id="1158" name="Google Shape;1158;p87"/>
          <p:cNvSpPr txBox="1"/>
          <p:nvPr>
            <p:ph idx="1" type="body"/>
          </p:nvPr>
        </p:nvSpPr>
        <p:spPr>
          <a:xfrm>
            <a:off x="324000" y="2581050"/>
            <a:ext cx="3816600" cy="1342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Now we can look for </a:t>
            </a:r>
            <a:r>
              <a:rPr lang="en-GB" sz="1900"/>
              <a:t>common</a:t>
            </a:r>
            <a:r>
              <a:rPr lang="en-GB" sz="1900"/>
              <a:t> factors between the numerator and denominator to calculate </a:t>
            </a:r>
            <a:r>
              <a:rPr lang="en-GB" sz="1900"/>
              <a:t>efficiently.</a:t>
            </a:r>
            <a:r>
              <a:rPr lang="en-GB" sz="1900"/>
              <a:t> 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frac{4\times81}{9\times1}=\frac{4\times9\times9}{9\times1}=\frac{9}{9}\times\frac{4\times9}{1}=1\times36&quot;&gt;&lt;mfrac&gt;&lt;mrow&gt;&lt;mn&gt;4&lt;/mn&gt;&lt;mo&gt;×&lt;/mo&gt;&lt;mn&gt;81&lt;/mn&gt;&lt;/mrow&gt;&lt;mrow&gt;&lt;mn&gt;9&lt;/mn&gt;&lt;mo&gt;×&lt;/mo&gt;&lt;mn&gt;1&lt;/mn&gt;&lt;/mrow&gt;&lt;/mfrac&gt;&lt;mo&gt;=&lt;/mo&gt;&lt;mfrac&gt;&lt;mrow&gt;&lt;mn&gt;4&lt;/mn&gt;&lt;mo&gt;×&lt;/mo&gt;&lt;mn&gt;9&lt;/mn&gt;&lt;mo&gt;×&lt;/mo&gt;&lt;mn&gt;9&lt;/mn&gt;&lt;/mrow&gt;&lt;mrow&gt;&lt;mn&gt;9&lt;/mn&gt;&lt;mo&gt;×&lt;/mo&gt;&lt;mn&gt;1&lt;/mn&gt;&lt;/mrow&gt;&lt;/mfrac&gt;&lt;mo&gt;=&lt;/mo&gt;&lt;mfrac&gt;&lt;mn&gt;9&lt;/mn&gt;&lt;mn&gt;9&lt;/mn&gt;&lt;/mfrac&gt;&lt;mo&gt;×&lt;/mo&gt;&lt;mfrac&gt;&lt;mrow&gt;&lt;mn&gt;4&lt;/mn&gt;&lt;mo&gt;×&lt;/mo&gt;&lt;mn&gt;9&lt;/mn&gt;&lt;/mrow&gt;&lt;mn&gt;1&lt;/mn&gt;&lt;/mfrac&gt;&lt;mo&gt;=&lt;/mo&gt;&lt;mn&gt;1&lt;/mn&gt;&lt;mo&gt;×&lt;/mo&gt;&lt;mn&gt;36&lt;/mn&gt;&lt;/math&gt;" id="1159" name="Google Shape;1159;p87" title="the fraction with numerator 4 times 81 and denominator 9 times 1 equals the fraction with numerator 4 times 9 times 9 and denominator 9 times 1 equals nine ninths times the fraction with numerator 4 times 9 and denominator 1 equals 1 times 36"/>
          <p:cNvPicPr preferRelativeResize="0"/>
          <p:nvPr/>
        </p:nvPicPr>
        <p:blipFill rotWithShape="1">
          <a:blip r:embed="rId5">
            <a:alphaModFix/>
          </a:blip>
          <a:srcRect b="0" l="0" r="52687" t="0"/>
          <a:stretch/>
        </p:blipFill>
        <p:spPr>
          <a:xfrm>
            <a:off x="4518032" y="2665105"/>
            <a:ext cx="2490016" cy="6256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\times81}{9\times1}=\frac{4\times9\times9}{9\times1}=\frac{9}{9}\times\frac{4\times9}{1}=1\times36&quot;&gt;&lt;mfrac&gt;&lt;mrow&gt;&lt;mn&gt;4&lt;/mn&gt;&lt;mo&gt;×&lt;/mo&gt;&lt;mn&gt;81&lt;/mn&gt;&lt;/mrow&gt;&lt;mrow&gt;&lt;mn&gt;9&lt;/mn&gt;&lt;mo&gt;×&lt;/mo&gt;&lt;mn&gt;1&lt;/mn&gt;&lt;/mrow&gt;&lt;/mfrac&gt;&lt;mo&gt;=&lt;/mo&gt;&lt;mfrac&gt;&lt;mrow&gt;&lt;mn&gt;4&lt;/mn&gt;&lt;mo&gt;×&lt;/mo&gt;&lt;mn&gt;9&lt;/mn&gt;&lt;mo&gt;×&lt;/mo&gt;&lt;mn&gt;9&lt;/mn&gt;&lt;/mrow&gt;&lt;mrow&gt;&lt;mn&gt;9&lt;/mn&gt;&lt;mo&gt;×&lt;/mo&gt;&lt;mn&gt;1&lt;/mn&gt;&lt;/mrow&gt;&lt;/mfrac&gt;&lt;mo&gt;=&lt;/mo&gt;&lt;mfrac&gt;&lt;mn&gt;9&lt;/mn&gt;&lt;mn&gt;9&lt;/mn&gt;&lt;/mfrac&gt;&lt;mo&gt;×&lt;/mo&gt;&lt;mfrac&gt;&lt;mrow&gt;&lt;mn&gt;4&lt;/mn&gt;&lt;mo&gt;×&lt;/mo&gt;&lt;mn&gt;9&lt;/mn&gt;&lt;/mrow&gt;&lt;mn&gt;1&lt;/mn&gt;&lt;/mfrac&gt;&lt;mo&gt;=&lt;/mo&gt;&lt;mn&gt;1&lt;/mn&gt;&lt;mo&gt;×&lt;/mo&gt;&lt;mn&gt;36&lt;/mn&gt;&lt;/math&gt;" id="1160" name="Google Shape;1160;p87" title="the fraction with numerator 4 times 81 and denominator 9 times 1 equals the fraction with numerator 4 times 9 times 9 and denominator 9 times 1 equals nine ninths times the fraction with numerator 4 times 9 and denominator 1 equals 1 times 36"/>
          <p:cNvPicPr preferRelativeResize="0"/>
          <p:nvPr/>
        </p:nvPicPr>
        <p:blipFill rotWithShape="1">
          <a:blip r:embed="rId5">
            <a:alphaModFix/>
          </a:blip>
          <a:srcRect b="0" l="46722" r="21209" t="0"/>
          <a:stretch/>
        </p:blipFill>
        <p:spPr>
          <a:xfrm>
            <a:off x="5403389" y="3441693"/>
            <a:ext cx="1687686" cy="6256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\times81}{9\times1}=\frac{4\times9\times9}{9\times1}=\frac{9}{9}\times\frac{4\times9}{1}=1\times36&quot;&gt;&lt;mfrac&gt;&lt;mrow&gt;&lt;mn&gt;4&lt;/mn&gt;&lt;mo&gt;×&lt;/mo&gt;&lt;mn&gt;81&lt;/mn&gt;&lt;/mrow&gt;&lt;mrow&gt;&lt;mn&gt;9&lt;/mn&gt;&lt;mo&gt;×&lt;/mo&gt;&lt;mn&gt;1&lt;/mn&gt;&lt;/mrow&gt;&lt;/mfrac&gt;&lt;mo&gt;=&lt;/mo&gt;&lt;mfrac&gt;&lt;mrow&gt;&lt;mn&gt;4&lt;/mn&gt;&lt;mo&gt;×&lt;/mo&gt;&lt;mn&gt;9&lt;/mn&gt;&lt;mo&gt;×&lt;/mo&gt;&lt;mn&gt;9&lt;/mn&gt;&lt;/mrow&gt;&lt;mrow&gt;&lt;mn&gt;9&lt;/mn&gt;&lt;mo&gt;×&lt;/mo&gt;&lt;mn&gt;1&lt;/mn&gt;&lt;/mrow&gt;&lt;/mfrac&gt;&lt;mo&gt;=&lt;/mo&gt;&lt;mfrac&gt;&lt;mn&gt;9&lt;/mn&gt;&lt;mn&gt;9&lt;/mn&gt;&lt;/mfrac&gt;&lt;mo&gt;×&lt;/mo&gt;&lt;mfrac&gt;&lt;mrow&gt;&lt;mn&gt;4&lt;/mn&gt;&lt;mo&gt;×&lt;/mo&gt;&lt;mn&gt;9&lt;/mn&gt;&lt;/mrow&gt;&lt;mn&gt;1&lt;/mn&gt;&lt;/mfrac&gt;&lt;mo&gt;=&lt;/mo&gt;&lt;mn&gt;1&lt;/mn&gt;&lt;mo&gt;×&lt;/mo&gt;&lt;mn&gt;36&lt;/mn&gt;&lt;/math&gt;" id="1161" name="Google Shape;1161;p87" title="the fraction with numerator 4 times 81 and denominator 9 times 1 equals the fraction with numerator 4 times 9 times 9 and denominator 9 times 1 equals nine ninths times the fraction with numerator 4 times 9 and denominator 1 equals 1 times 36"/>
          <p:cNvPicPr preferRelativeResize="0"/>
          <p:nvPr/>
        </p:nvPicPr>
        <p:blipFill rotWithShape="1">
          <a:blip r:embed="rId5">
            <a:alphaModFix/>
          </a:blip>
          <a:srcRect b="0" l="78713" r="0" t="0"/>
          <a:stretch/>
        </p:blipFill>
        <p:spPr>
          <a:xfrm>
            <a:off x="5403405" y="4145025"/>
            <a:ext cx="1120299" cy="625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62" name="Google Shape;1162;p87"/>
          <p:cNvSpPr txBox="1"/>
          <p:nvPr>
            <p:ph idx="1" type="body"/>
          </p:nvPr>
        </p:nvSpPr>
        <p:spPr>
          <a:xfrm>
            <a:off x="324000" y="3989475"/>
            <a:ext cx="4330500" cy="55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Again, you</a:t>
            </a:r>
            <a:r>
              <a:rPr lang="en-GB" sz="1900"/>
              <a:t> will not need to write out all of these steps every time.</a:t>
            </a:r>
            <a:endParaRPr sz="1900"/>
          </a:p>
        </p:txBody>
      </p:sp>
      <p:pic>
        <p:nvPicPr>
          <p:cNvPr descr="&lt;math xmlns=&quot;http://www.w3.org/1998/Math/MathML&quot; display=&quot;block&quot; data-is-equatio=&quot;1&quot; data-latex=&quot;\frac{4}{9}\times81=\frac{4}{9}\times\frac{81}{1}=\frac{4\times81}{9\times1}&quot;&gt;&lt;mfrac&gt;&lt;mn&gt;4&lt;/mn&gt;&lt;mn&gt;9&lt;/mn&gt;&lt;/mfrac&gt;&lt;mo&gt;×&lt;/mo&gt;&lt;mn&gt;81&lt;/mn&gt;&lt;mo&gt;=&lt;/mo&gt;&lt;mfrac&gt;&lt;mn&gt;4&lt;/mn&gt;&lt;mn&gt;9&lt;/mn&gt;&lt;/mfrac&gt;&lt;mo&gt;×&lt;/mo&gt;&lt;mfrac&gt;&lt;mn&gt;81&lt;/mn&gt;&lt;mn&gt;1&lt;/mn&gt;&lt;/mfrac&gt;&lt;mo&gt;=&lt;/mo&gt;&lt;mfrac&gt;&lt;mrow&gt;&lt;mn&gt;4&lt;/mn&gt;&lt;mo&gt;×&lt;/mo&gt;&lt;mn&gt;81&lt;/mn&gt;&lt;/mrow&gt;&lt;mrow&gt;&lt;mn&gt;9&lt;/mn&gt;&lt;mo&gt;×&lt;/mo&gt;&lt;mn&gt;1&lt;/mn&gt;&lt;/mrow&gt;&lt;/mfrac&gt;&lt;/math&gt;" id="1163" name="Google Shape;1163;p87" title="four ninths times 81 equals four ninths times 81 over 1 equals the fraction with numerator 4 times 81 and denominator 9 times 1"/>
          <p:cNvPicPr preferRelativeResize="0"/>
          <p:nvPr/>
        </p:nvPicPr>
        <p:blipFill rotWithShape="1">
          <a:blip r:embed="rId4">
            <a:alphaModFix/>
          </a:blip>
          <a:srcRect b="0" l="27541" r="0" t="0"/>
          <a:stretch/>
        </p:blipFill>
        <p:spPr>
          <a:xfrm>
            <a:off x="2829672" y="1647725"/>
            <a:ext cx="2490026" cy="62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7" name="Shape 1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8" name="Google Shape;116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sp>
        <p:nvSpPr>
          <p:cNvPr id="1169" name="Google Shape;1169;p88"/>
          <p:cNvSpPr txBox="1"/>
          <p:nvPr>
            <p:ph idx="1" type="body"/>
          </p:nvPr>
        </p:nvSpPr>
        <p:spPr>
          <a:xfrm>
            <a:off x="324000" y="759300"/>
            <a:ext cx="8237700" cy="39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Sort the following into the </a:t>
            </a:r>
            <a:r>
              <a:rPr lang="en-GB">
                <a:solidFill>
                  <a:schemeClr val="accent5"/>
                </a:solidFill>
              </a:rPr>
              <a:t>most</a:t>
            </a:r>
            <a:r>
              <a:rPr lang="en-GB"/>
              <a:t> </a:t>
            </a:r>
            <a:r>
              <a:rPr lang="en-GB"/>
              <a:t>efficient</a:t>
            </a:r>
            <a:r>
              <a:rPr lang="en-GB"/>
              <a:t> method:</a:t>
            </a:r>
            <a:endParaRPr/>
          </a:p>
        </p:txBody>
      </p:sp>
      <p:sp>
        <p:nvSpPr>
          <p:cNvPr id="1170" name="Google Shape;1170;p88"/>
          <p:cNvSpPr/>
          <p:nvPr/>
        </p:nvSpPr>
        <p:spPr>
          <a:xfrm>
            <a:off x="717677" y="2155375"/>
            <a:ext cx="3674400" cy="2548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Multiply 1st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1" name="Google Shape;1171;p88"/>
          <p:cNvSpPr/>
          <p:nvPr/>
        </p:nvSpPr>
        <p:spPr>
          <a:xfrm>
            <a:off x="4751824" y="2155375"/>
            <a:ext cx="3674400" cy="2548500"/>
          </a:xfrm>
          <a:prstGeom prst="rect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Divide</a:t>
            </a:r>
            <a:r>
              <a:rPr lang="en-GB" sz="2200">
                <a:latin typeface="Lexend"/>
                <a:ea typeface="Lexend"/>
                <a:cs typeface="Lexend"/>
                <a:sym typeface="Lexend"/>
              </a:rPr>
              <a:t> 1st</a:t>
            </a:r>
            <a:endParaRPr sz="22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}{8}\ of\ 64&quot;&gt;&lt;mfrac&gt;&lt;mn&gt;3&lt;/mn&gt;&lt;mn&gt;8&lt;/mn&gt;&lt;/mfrac&gt;&lt;mtext&gt;&lt;/mtext&gt;&lt;mi&gt;o&lt;/mi&gt;&lt;mi&gt;f&lt;/mi&gt;&lt;mtext&gt;&lt;/mtext&gt;&lt;mn&gt;64&lt;/mn&gt;&lt;/math&gt;" id="1172" name="Google Shape;1172;p88" title="three eighths o f 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400" y="1289775"/>
            <a:ext cx="97100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2}\ of\ 57&quot;&gt;&lt;mfrac&gt;&lt;mn&gt;5&lt;/mn&gt;&lt;mn&gt;12&lt;/mn&gt;&lt;/mfrac&gt;&lt;mtext&gt;&lt;/mtext&gt;&lt;mi&gt;o&lt;/mi&gt;&lt;mi&gt;f&lt;/mi&gt;&lt;mtext&gt;&lt;/mtext&gt;&lt;mn&gt;57&lt;/mn&gt;&lt;/math&gt;" id="1173" name="Google Shape;1173;p88" title="5 over 12 o f 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2400" y="1289775"/>
            <a:ext cx="112090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of\ 48&quot;&gt;&lt;mfrac&gt;&lt;mn&gt;3&lt;/mn&gt;&lt;mn&gt;4&lt;/mn&gt;&lt;/mfrac&gt;&lt;mtext&gt;&lt;/mtext&gt;&lt;mi&gt;o&lt;/mi&gt;&lt;mi&gt;f&lt;/mi&gt;&lt;mtext&gt;&lt;/mtext&gt;&lt;mn&gt;48&lt;/mn&gt;&lt;/math&gt;" id="1174" name="Google Shape;1174;p88" title="three fourths o f 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2400" y="1289775"/>
            <a:ext cx="97625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\ of\ 99&quot;&gt;&lt;mfrac&gt;&lt;mn&gt;2&lt;/mn&gt;&lt;mn&gt;9&lt;/mn&gt;&lt;/mfrac&gt;&lt;mtext&gt;&lt;/mtext&gt;&lt;mi&gt;o&lt;/mi&gt;&lt;mi&gt;f&lt;/mi&gt;&lt;mtext&gt;&lt;/mtext&gt;&lt;mn&gt;99&lt;/mn&gt;&lt;/math&gt;" id="1175" name="Google Shape;1175;p88" title="two ninths o f 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2400" y="1289775"/>
            <a:ext cx="976250" cy="61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\ of\ 58&quot;&gt;&lt;mfrac&gt;&lt;mn&gt;3&lt;/mn&gt;&lt;mn&gt;7&lt;/mn&gt;&lt;/mfrac&gt;&lt;mtext&gt;&lt;/mtext&gt;&lt;mi&gt;o&lt;/mi&gt;&lt;mi&gt;f&lt;/mi&gt;&lt;mtext&gt;&lt;/mtext&gt;&lt;mn&gt;58&lt;/mn&gt;&lt;/math&gt;" id="1176" name="Google Shape;1176;p88" title="three sevenths o f 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2400" y="1289775"/>
            <a:ext cx="981929" cy="61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of\ 55&quot;&gt;&lt;mfrac&gt;&lt;mn&gt;9&lt;/mn&gt;&lt;mn&gt;11&lt;/mn&gt;&lt;/mfrac&gt;&lt;mtext&gt;&lt;/mtext&gt;&lt;mi&gt;o&lt;/mi&gt;&lt;mi&gt;f&lt;/mi&gt;&lt;mtext&gt;&lt;/mtext&gt;&lt;mn&gt;55&lt;/mn&gt;&lt;/math&gt;" id="1177" name="Google Shape;1177;p88" title="9 over 11 o f 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92400" y="1289775"/>
            <a:ext cx="1137819" cy="6235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5}\ of\ 50&quot;&gt;&lt;mfrac&gt;&lt;mn&gt;4&lt;/mn&gt;&lt;mn&gt;15&lt;/mn&gt;&lt;/mfrac&gt;&lt;mtext&gt;&lt;/mtext&gt;&lt;mi&gt;o&lt;/mi&gt;&lt;mi&gt;f&lt;/mi&gt;&lt;mtext&gt;&lt;/mtext&gt;&lt;mn&gt;50&lt;/mn&gt;&lt;/math&gt;" id="1178" name="Google Shape;1178;p88" title="4 over 15 o f 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92400" y="1289775"/>
            <a:ext cx="1116440" cy="609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 of\ 64&quot;&gt;&lt;mfrac&gt;&lt;mn&gt;3&lt;/mn&gt;&lt;mn&gt;8&lt;/mn&gt;&lt;/mfrac&gt;&lt;mtext&gt;&lt;/mtext&gt;&lt;mi&gt;o&lt;/mi&gt;&lt;mi&gt;f&lt;/mi&gt;&lt;mtext&gt;&lt;/mtext&gt;&lt;mn&gt;64&lt;/mn&gt;&lt;/math&gt;" id="1179" name="Google Shape;1179;p88" title="three eighths o f 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28013" y="2699997"/>
            <a:ext cx="971007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5}{12}\ of\ 57&quot;&gt;&lt;mfrac&gt;&lt;mn&gt;5&lt;/mn&gt;&lt;mn&gt;12&lt;/mn&gt;&lt;/mfrac&gt;&lt;mtext&gt;&lt;/mtext&gt;&lt;mi&gt;o&lt;/mi&gt;&lt;mi&gt;f&lt;/mi&gt;&lt;mtext&gt;&lt;/mtext&gt;&lt;mn&gt;57&lt;/mn&gt;&lt;/math&gt;" id="1180" name="Google Shape;1180;p88" title="5 over 12 o f 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1793" y="2739043"/>
            <a:ext cx="1120906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 of\ 48&quot;&gt;&lt;mfrac&gt;&lt;mn&gt;3&lt;/mn&gt;&lt;mn&gt;4&lt;/mn&gt;&lt;/mfrac&gt;&lt;mtext&gt;&lt;/mtext&gt;&lt;mi&gt;o&lt;/mi&gt;&lt;mi&gt;f&lt;/mi&gt;&lt;mtext&gt;&lt;/mtext&gt;&lt;mn&gt;48&lt;/mn&gt;&lt;/math&gt;" id="1181" name="Google Shape;1181;p88" title="three fourths o f 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6825" y="2739050"/>
            <a:ext cx="976251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}{9}\ of\ 99&quot;&gt;&lt;mfrac&gt;&lt;mn&gt;2&lt;/mn&gt;&lt;mn&gt;9&lt;/mn&gt;&lt;/mfrac&gt;&lt;mtext&gt;&lt;/mtext&gt;&lt;mi&gt;o&lt;/mi&gt;&lt;mi&gt;f&lt;/mi&gt;&lt;mtext&gt;&lt;/mtext&gt;&lt;mn&gt;99&lt;/mn&gt;&lt;/math&gt;" id="1182" name="Google Shape;1182;p88" title="two ninths o f 9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5394" y="3664919"/>
            <a:ext cx="976250" cy="61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15}\ of\ 50&quot;&gt;&lt;mfrac&gt;&lt;mn&gt;4&lt;/mn&gt;&lt;mn&gt;15&lt;/mn&gt;&lt;/mfrac&gt;&lt;mtext&gt;&lt;/mtext&gt;&lt;mi&gt;o&lt;/mi&gt;&lt;mi&gt;f&lt;/mi&gt;&lt;mtext&gt;&lt;/mtext&gt;&lt;mn&gt;50&lt;/mn&gt;&lt;/math&gt;" id="1183" name="Google Shape;1183;p88" title="4 over 15 o f 5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843068" y="2803483"/>
            <a:ext cx="1116440" cy="6097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7}\ of\ 58&quot;&gt;&lt;mfrac&gt;&lt;mn&gt;3&lt;/mn&gt;&lt;mn&gt;7&lt;/mn&gt;&lt;/mfrac&gt;&lt;mtext&gt;&lt;/mtext&gt;&lt;mi&gt;o&lt;/mi&gt;&lt;mi&gt;f&lt;/mi&gt;&lt;mtext&gt;&lt;/mtext&gt;&lt;mn&gt;58&lt;/mn&gt;&lt;/math&gt;" id="1184" name="Google Shape;1184;p88" title="three sevenths o f 5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71805" y="3779993"/>
            <a:ext cx="981929" cy="618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1}\ of\ 55&quot;&gt;&lt;mfrac&gt;&lt;mn&gt;9&lt;/mn&gt;&lt;mn&gt;11&lt;/mn&gt;&lt;/mfrac&gt;&lt;mtext&gt;&lt;/mtext&gt;&lt;mi&gt;o&lt;/mi&gt;&lt;mi&gt;f&lt;/mi&gt;&lt;mtext&gt;&lt;/mtext&gt;&lt;mn&gt;55&lt;/mn&gt;&lt;/math&gt;" id="1185" name="Google Shape;1185;p88" title="9 over 11 o f 55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890288" y="3696475"/>
            <a:ext cx="1137819" cy="623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p8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sp>
        <p:nvSpPr>
          <p:cNvPr id="1191" name="Google Shape;1191;p89"/>
          <p:cNvSpPr txBox="1"/>
          <p:nvPr>
            <p:ph type="title"/>
          </p:nvPr>
        </p:nvSpPr>
        <p:spPr>
          <a:xfrm>
            <a:off x="366375" y="8861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Which of the following are </a:t>
            </a:r>
            <a:r>
              <a:rPr lang="en-GB" sz="2000">
                <a:solidFill>
                  <a:schemeClr val="accent5"/>
                </a:solidFill>
              </a:rPr>
              <a:t>equivalent</a:t>
            </a:r>
            <a:r>
              <a:rPr lang="en-GB" sz="2000"/>
              <a:t> calculations for               ? </a:t>
            </a:r>
            <a:endParaRPr sz="2000"/>
          </a:p>
        </p:txBody>
      </p:sp>
      <p:pic>
        <p:nvPicPr>
          <p:cNvPr id="1192" name="Google Shape;1192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72758" y="16485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91208" y="2464888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4" name="Google Shape;1194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4558" y="40687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8}\ \ \ \ \ 48&quot;&gt;&lt;mfrac&gt;&lt;mn&gt;7&lt;/mn&gt;&lt;mn&gt;8&lt;/mn&gt;&lt;/mfrac&gt;&lt;mtext&gt;&lt;/mtext&gt;&lt;mtext&gt;&lt;/mtext&gt;&lt;mtext&gt;&lt;/mtext&gt;&lt;mtext&gt;&lt;/mtext&gt;&lt;mtext&gt;&lt;/mtext&gt;&lt;mn&gt;48&lt;/mn&gt;&lt;/math&gt;" id="1195" name="Google Shape;1195;p89" title="seven eighths 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059325" y="732850"/>
            <a:ext cx="873900" cy="61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6" name="Google Shape;1196;p89"/>
          <p:cNvSpPr txBox="1"/>
          <p:nvPr/>
        </p:nvSpPr>
        <p:spPr>
          <a:xfrm>
            <a:off x="7218000" y="788799"/>
            <a:ext cx="482400" cy="5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endParaRPr sz="2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}{8}\times48&quot;&gt;&lt;mfrac&gt;&lt;mn&gt;7&lt;/mn&gt;&lt;mn&gt;8&lt;/mn&gt;&lt;/mfrac&gt;&lt;mo&gt;×&lt;/mo&gt;&lt;mn&gt;48&lt;/mn&gt;&lt;/math&gt;" id="1197" name="Google Shape;1197;p89" title="seven eighths times 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56642" y="1530250"/>
            <a:ext cx="847229" cy="6297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7}{8}\times\frac{6\times8}{1}&quot;&gt;&lt;mfrac&gt;&lt;mn&gt;7&lt;/mn&gt;&lt;mn&gt;8&lt;/mn&gt;&lt;/mfrac&gt;&lt;mo&gt;×&lt;/mo&gt;&lt;mfrac&gt;&lt;mrow&gt;&lt;mn&gt;6&lt;/mn&gt;&lt;mo&gt;×&lt;/mo&gt;&lt;mn&gt;8&lt;/mn&gt;&lt;/mrow&gt;&lt;mn&gt;1&lt;/mn&gt;&lt;/mfrac&gt;&lt;/math&gt;" id="1198" name="Google Shape;1198;p89" title="seven eighths times the fraction with numerator 6 times 8 and denominator 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26993" y="2382871"/>
            <a:ext cx="1268578" cy="6342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\times\frac{48}{8}&quot;&gt;&lt;mn&gt;7&lt;/mn&gt;&lt;mo&gt;×&lt;/mo&gt;&lt;mfrac&gt;&lt;mn&gt;48&lt;/mn&gt;&lt;mn&gt;8&lt;/mn&gt;&lt;/mfrac&gt;&lt;/math&gt;" id="1199" name="Google Shape;1199;p89" title="7 times 48 over 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083150" y="3978274"/>
            <a:ext cx="922695" cy="6834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48\div8\right)\times7&quot;&gt;&lt;mrow data-mjx-texclass=&quot;INNER&quot;&gt;&lt;mo data-mjx-texclass=&quot;OPEN&quot;&gt;(&lt;/mo&gt;&lt;mn&gt;48&lt;/mn&gt;&lt;mo&gt;÷&lt;/mo&gt;&lt;mn&gt;8&lt;/mn&gt;&lt;mo data-mjx-texclass=&quot;CLOSE&quot;&gt;)&lt;/mo&gt;&lt;/mrow&gt;&lt;mo&gt;×&lt;/mo&gt;&lt;mn&gt;7&lt;/mn&gt;&lt;/math&gt;" id="1200" name="Google Shape;1200;p89" title="open paren 48 divided by 8 close paren times 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984325" y="3332329"/>
            <a:ext cx="1537825" cy="288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1" name="Google Shape;1201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2458" y="3240000"/>
            <a:ext cx="396000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2" name="Google Shape;1202;p89"/>
          <p:cNvSpPr txBox="1"/>
          <p:nvPr/>
        </p:nvSpPr>
        <p:spPr>
          <a:xfrm>
            <a:off x="3828050" y="2233625"/>
            <a:ext cx="3284100" cy="14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They are all equivalent!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 some ways easier to calculate mentally than others?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6" name="Shape 1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7" name="Google Shape;1207;p90"/>
          <p:cNvGraphicFramePr/>
          <p:nvPr/>
        </p:nvGraphicFramePr>
        <p:xfrm>
          <a:off x="952500" y="156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208" name="Google Shape;1208;p90"/>
          <p:cNvSpPr txBox="1"/>
          <p:nvPr>
            <p:ph idx="1" type="body"/>
          </p:nvPr>
        </p:nvSpPr>
        <p:spPr>
          <a:xfrm>
            <a:off x="324000" y="603519"/>
            <a:ext cx="8237700" cy="929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odd one out in each row.  It has a </a:t>
            </a:r>
            <a:r>
              <a:rPr lang="en-GB" sz="1800">
                <a:solidFill>
                  <a:schemeClr val="accent5"/>
                </a:solidFill>
              </a:rPr>
              <a:t>different</a:t>
            </a:r>
            <a:r>
              <a:rPr lang="en-GB" sz="1800"/>
              <a:t> answer to the others.</a:t>
            </a:r>
            <a:endParaRPr sz="1800"/>
          </a:p>
          <a:p>
            <a:pPr indent="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Arrange the letters of these into a word.</a:t>
            </a:r>
            <a:endParaRPr sz="1800"/>
          </a:p>
        </p:txBody>
      </p:sp>
      <p:sp>
        <p:nvSpPr>
          <p:cNvPr id="1209" name="Google Shape;1209;p90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graphicFrame>
        <p:nvGraphicFramePr>
          <p:cNvPr id="1210" name="Google Shape;1210;p90"/>
          <p:cNvGraphicFramePr/>
          <p:nvPr/>
        </p:nvGraphicFramePr>
        <p:xfrm>
          <a:off x="952500" y="1567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8}\times48\ \ \frac{2}{9}\times81\ \ \frac{2}{3}\ of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i&gt;o&lt;/mi&gt;&lt;mi&gt;f&lt;/mi&gt;&lt;mtext&gt;&lt;/mtext&gt;&lt;mn&gt;24&lt;/mn&gt;&lt;mtext&gt;&lt;/mtext&gt;&lt;mtext&gt;&lt;/mtext&gt;&lt;mfrac&gt;&lt;mn&gt;6&lt;/mn&gt;&lt;mn&gt;13&lt;/mn&gt;&lt;/mfrac&gt;&lt;mo&gt;×&lt;/mo&gt;&lt;mn&gt;39&lt;/mn&gt;&lt;/math&gt;" id="1211" name="Google Shape;1211;p90" title="three eighths times 48 two ninths times 81 two thirds o f 24 6 over 13 times 39"/>
          <p:cNvPicPr preferRelativeResize="0"/>
          <p:nvPr/>
        </p:nvPicPr>
        <p:blipFill rotWithShape="1">
          <a:blip r:embed="rId3">
            <a:alphaModFix/>
          </a:blip>
          <a:srcRect b="0" l="74509" r="0" t="0"/>
          <a:stretch/>
        </p:blipFill>
        <p:spPr>
          <a:xfrm>
            <a:off x="6869401" y="1582768"/>
            <a:ext cx="846650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times28\ \ \frac{8}{11}\ of\ 33\ \ \frac{4}{5}\ of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i&gt;o&lt;/mi&gt;&lt;mi&gt;f&lt;/mi&gt;&lt;mtext&gt;&lt;/mtext&gt;&lt;mn&gt;33&lt;/mn&gt;&lt;mtext&gt;&lt;/mtext&gt;&lt;mtext&gt;&lt;/mtext&gt;&lt;mfrac&gt;&lt;mn&gt;4&lt;/mn&gt;&lt;mn&gt;5&lt;/mn&gt;&lt;/mfrac&gt;&lt;mtext&gt;&lt;/mtext&gt;&lt;mi&gt;o&lt;/mi&gt;&lt;mi&gt;f&lt;/mi&gt;&lt;mtext&gt;&lt;/mtext&gt;&lt;mn&gt;30&lt;/mn&gt;&lt;mtext&gt;&lt;/mtext&gt;&lt;mtext&gt;&lt;/mtext&gt;&lt;mfrac&gt;&lt;mn&gt;13&lt;/mn&gt;&lt;mn&gt;15&lt;/mn&gt;&lt;/mfrac&gt;&lt;mo&gt;×&lt;/mo&gt;&lt;mn&gt;30&lt;/mn&gt;&lt;/math&gt;" id="1212" name="Google Shape;1212;p90" title="six sevenths times 28 8 over 11 o f 33 four fifths o f 30 13 over 15 times 30"/>
          <p:cNvPicPr preferRelativeResize="0"/>
          <p:nvPr/>
        </p:nvPicPr>
        <p:blipFill rotWithShape="1">
          <a:blip r:embed="rId4">
            <a:alphaModFix/>
          </a:blip>
          <a:srcRect b="0" l="0" r="79917" t="0"/>
          <a:stretch/>
        </p:blipFill>
        <p:spPr>
          <a:xfrm>
            <a:off x="1497697" y="2115535"/>
            <a:ext cx="713426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3}\times39\ \ \frac{5}{12}\ of\ 60\ \ \frac{3}{10}\ of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i&gt;o&lt;/mi&gt;&lt;mi&gt;f&lt;/mi&gt;&lt;mtext&gt;&lt;/mtext&gt;&lt;mn&gt;60&lt;/mn&gt;&lt;mtext&gt;&lt;/mtext&gt;&lt;mtext&gt;&lt;/mtext&gt;&lt;mfrac&gt;&lt;mn&gt;3&lt;/mn&gt;&lt;mn&gt;10&lt;/mn&gt;&lt;/mfrac&gt;&lt;mtext&gt;&lt;/mtext&gt;&lt;mi&gt;o&lt;/mi&gt;&lt;mi&gt;f&lt;/mi&gt;&lt;mtext&gt;&lt;/mtext&gt;&lt;mn&gt;90&lt;/mn&gt;&lt;mtext&gt;&lt;/mtext&gt;&lt;mtext&gt;&lt;/mtext&gt;&lt;mfrac&gt;&lt;mn&gt;9&lt;/mn&gt;&lt;mn&gt;8&lt;/mn&gt;&lt;/mfrac&gt;&lt;mo&gt;×&lt;/mo&gt;&lt;mn&gt;24&lt;/mn&gt;&lt;/math&gt;" id="1213" name="Google Shape;1213;p90" title="9 over 13 times 39 5 over 12 o f 60 three tenths o f 90 nine eighths times 24"/>
          <p:cNvPicPr preferRelativeResize="0"/>
          <p:nvPr/>
        </p:nvPicPr>
        <p:blipFill rotWithShape="1">
          <a:blip r:embed="rId5">
            <a:alphaModFix/>
          </a:blip>
          <a:srcRect b="10" l="80576" r="0" t="0"/>
          <a:stretch/>
        </p:blipFill>
        <p:spPr>
          <a:xfrm>
            <a:off x="6936013" y="2641702"/>
            <a:ext cx="713426" cy="48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1}{2}\times32\ \ 1\ \frac{1}{5}\ of\ 40\ \ 1\ \frac{2}{5}\ of\ 35\ \ 48\times2\ \frac{2}{3}&quot;&gt;&lt;mn&gt;1&lt;/mn&gt;&lt;mtext&gt;&lt;/mtext&gt;&lt;mfrac&gt;&lt;mn&gt;1&lt;/mn&gt;&lt;mn&gt;2&lt;/mn&gt;&lt;/mfrac&gt;&lt;mo&gt;×&lt;/mo&gt;&lt;mn&gt;32&lt;/mn&gt;&lt;mtext&gt;&lt;/mtext&gt;&lt;mtext&gt;&lt;/mtext&gt;&lt;mn&gt;1&lt;/mn&gt;&lt;mtext&gt;&lt;/mtext&gt;&lt;mfrac&gt;&lt;mn&gt;1&lt;/mn&gt;&lt;mn&gt;5&lt;/mn&gt;&lt;/mfrac&gt;&lt;mtext&gt;&lt;/mtext&gt;&lt;mi&gt;o&lt;/mi&gt;&lt;mi&gt;f&lt;/mi&gt;&lt;mtext&gt;&lt;/mtext&gt;&lt;mn&gt;40&lt;/mn&gt;&lt;mtext&gt;&lt;/mtext&gt;&lt;mtext&gt;&lt;/mtext&gt;&lt;mn&gt;1&lt;/mn&gt;&lt;mtext&gt;&lt;/mtext&gt;&lt;mfrac&gt;&lt;mn&gt;2&lt;/mn&gt;&lt;mn&gt;5&lt;/mn&gt;&lt;/mfrac&gt;&lt;mtext&gt;&lt;/mtext&gt;&lt;mi&gt;o&lt;/mi&gt;&lt;mi&gt;f&lt;/mi&gt;&lt;mtext&gt;&lt;/mtext&gt;&lt;mn&gt;35&lt;/mn&gt;&lt;mtext&gt;&lt;/mtext&gt;&lt;mtext&gt;&lt;/mtext&gt;&lt;mn&gt;48&lt;/mn&gt;&lt;mo&gt;×&lt;/mo&gt;&lt;mn&gt;2&lt;/mn&gt;&lt;mtext&gt;&lt;/mtext&gt;&lt;mfrac&gt;&lt;mn&gt;2&lt;/mn&gt;&lt;mn&gt;3&lt;/mn&gt;&lt;/mfrac&gt;&lt;/math&gt;" id="1214" name="Google Shape;1214;p90" title="1 one half times 32 1 one fifth o f 40 1 two fifths o f 35 48 times 2 two thirds"/>
          <p:cNvPicPr preferRelativeResize="0"/>
          <p:nvPr/>
        </p:nvPicPr>
        <p:blipFill rotWithShape="1">
          <a:blip r:embed="rId6">
            <a:alphaModFix/>
          </a:blip>
          <a:srcRect b="0" l="0" r="77936" t="0"/>
          <a:stretch/>
        </p:blipFill>
        <p:spPr>
          <a:xfrm>
            <a:off x="1412800" y="3161207"/>
            <a:ext cx="883134" cy="48946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times48\ \ \frac{2}{9}\times81\ \ \frac{2}{3}\ of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i&gt;o&lt;/mi&gt;&lt;mi&gt;f&lt;/mi&gt;&lt;mtext&gt;&lt;/mtext&gt;&lt;mn&gt;24&lt;/mn&gt;&lt;mtext&gt;&lt;/mtext&gt;&lt;mtext&gt;&lt;/mtext&gt;&lt;mfrac&gt;&lt;mn&gt;6&lt;/mn&gt;&lt;mn&gt;13&lt;/mn&gt;&lt;/mfrac&gt;&lt;mo&gt;×&lt;/mo&gt;&lt;mn&gt;39&lt;/mn&gt;&lt;/math&gt;" id="1215" name="Google Shape;1215;p90" title="three eighths times 48 two ninths times 81 two thirds o f 24 6 over 13 times 39"/>
          <p:cNvPicPr preferRelativeResize="0"/>
          <p:nvPr/>
        </p:nvPicPr>
        <p:blipFill rotWithShape="1">
          <a:blip r:embed="rId3">
            <a:alphaModFix/>
          </a:blip>
          <a:srcRect b="0" l="23675" r="54844" t="0"/>
          <a:stretch/>
        </p:blipFill>
        <p:spPr>
          <a:xfrm>
            <a:off x="3300168" y="1582768"/>
            <a:ext cx="713424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times48\ \ \frac{2}{9}\times81\ \ \frac{2}{3}\ of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i&gt;o&lt;/mi&gt;&lt;mi&gt;f&lt;/mi&gt;&lt;mtext&gt;&lt;/mtext&gt;&lt;mn&gt;24&lt;/mn&gt;&lt;mtext&gt;&lt;/mtext&gt;&lt;mtext&gt;&lt;/mtext&gt;&lt;mfrac&gt;&lt;mn&gt;6&lt;/mn&gt;&lt;mn&gt;13&lt;/mn&gt;&lt;/mfrac&gt;&lt;mo&gt;×&lt;/mo&gt;&lt;mn&gt;39&lt;/mn&gt;&lt;/math&gt;" id="1216" name="Google Shape;1216;p90" title="three eighths times 48 two ninths times 81 two thirds o f 24 6 over 13 times 39"/>
          <p:cNvPicPr preferRelativeResize="0"/>
          <p:nvPr/>
        </p:nvPicPr>
        <p:blipFill rotWithShape="1">
          <a:blip r:embed="rId3">
            <a:alphaModFix/>
          </a:blip>
          <a:srcRect b="0" l="0" r="78520" t="0"/>
          <a:stretch/>
        </p:blipFill>
        <p:spPr>
          <a:xfrm>
            <a:off x="1497698" y="1582768"/>
            <a:ext cx="713424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times28\ \ \frac{8}{11}\ of\ 33\ \ \frac{4}{5}\ of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i&gt;o&lt;/mi&gt;&lt;mi&gt;f&lt;/mi&gt;&lt;mtext&gt;&lt;/mtext&gt;&lt;mn&gt;33&lt;/mn&gt;&lt;mtext&gt;&lt;/mtext&gt;&lt;mtext&gt;&lt;/mtext&gt;&lt;mfrac&gt;&lt;mn&gt;4&lt;/mn&gt;&lt;mn&gt;5&lt;/mn&gt;&lt;/mfrac&gt;&lt;mtext&gt;&lt;/mtext&gt;&lt;mi&gt;o&lt;/mi&gt;&lt;mi&gt;f&lt;/mi&gt;&lt;mtext&gt;&lt;/mtext&gt;&lt;mn&gt;30&lt;/mn&gt;&lt;mtext&gt;&lt;/mtext&gt;&lt;mtext&gt;&lt;/mtext&gt;&lt;mfrac&gt;&lt;mn&gt;13&lt;/mn&gt;&lt;mn&gt;15&lt;/mn&gt;&lt;/mfrac&gt;&lt;mo&gt;×&lt;/mo&gt;&lt;mn&gt;30&lt;/mn&gt;&lt;/math&gt;" id="1217" name="Google Shape;1217;p90" title="six sevenths times 28 8 over 11 o f 33 four fifths o f 30 13 over 15 times 30"/>
          <p:cNvPicPr preferRelativeResize="0"/>
          <p:nvPr/>
        </p:nvPicPr>
        <p:blipFill rotWithShape="1">
          <a:blip r:embed="rId4">
            <a:alphaModFix/>
          </a:blip>
          <a:srcRect b="0" l="75137" r="0" t="0"/>
          <a:stretch/>
        </p:blipFill>
        <p:spPr>
          <a:xfrm>
            <a:off x="6851114" y="2115545"/>
            <a:ext cx="883224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3}\times39\ \ \frac{5}{12}\ of\ 60\ \ \frac{3}{10}\ of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i&gt;o&lt;/mi&gt;&lt;mi&gt;f&lt;/mi&gt;&lt;mtext&gt;&lt;/mtext&gt;&lt;mn&gt;60&lt;/mn&gt;&lt;mtext&gt;&lt;/mtext&gt;&lt;mtext&gt;&lt;/mtext&gt;&lt;mfrac&gt;&lt;mn&gt;3&lt;/mn&gt;&lt;mn&gt;10&lt;/mn&gt;&lt;/mfrac&gt;&lt;mtext&gt;&lt;/mtext&gt;&lt;mi&gt;o&lt;/mi&gt;&lt;mi&gt;f&lt;/mi&gt;&lt;mtext&gt;&lt;/mtext&gt;&lt;mn&gt;90&lt;/mn&gt;&lt;mtext&gt;&lt;/mtext&gt;&lt;mtext&gt;&lt;/mtext&gt;&lt;mfrac&gt;&lt;mn&gt;9&lt;/mn&gt;&lt;mn&gt;8&lt;/mn&gt;&lt;/mfrac&gt;&lt;mo&gt;×&lt;/mo&gt;&lt;mn&gt;24&lt;/mn&gt;&lt;/math&gt;" id="1218" name="Google Shape;1218;p90" title="9 over 13 times 39 5 over 12 o f 60 three tenths o f 90 nine eighths times 24"/>
          <p:cNvPicPr preferRelativeResize="0"/>
          <p:nvPr/>
        </p:nvPicPr>
        <p:blipFill rotWithShape="1">
          <a:blip r:embed="rId5">
            <a:alphaModFix/>
          </a:blip>
          <a:srcRect b="0" l="0" r="75954" t="0"/>
          <a:stretch/>
        </p:blipFill>
        <p:spPr>
          <a:xfrm>
            <a:off x="1412798" y="2641682"/>
            <a:ext cx="883225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\ \frac{3}{4}\times\frac{3}{11}\ \ \frac{4}{5}\ of\ 2\ \frac{2}{15}\ \ 1\ \frac{11}{21}\times1\ \frac{1}{7}\ \ \ \frac{4}{9}\ of\ \frac{16}{27}\end{array}&quot;&gt;&lt;mtable columnalign=&quot;left&quot; columnspacing=&quot;1em&quot; rowspacing=&quot;4pt&quot;&gt;&lt;mtr&gt;&lt;mtd&gt;&lt;mn&gt;2&lt;/mn&gt;&lt;mtext&gt;&lt;/mtext&gt;&lt;mfrac&gt;&lt;mn&gt;3&lt;/mn&gt;&lt;mn&gt;4&lt;/mn&gt;&lt;/mfrac&gt;&lt;mo&gt;×&lt;/mo&gt;&lt;mfrac&gt;&lt;mn&gt;3&lt;/mn&gt;&lt;mn&gt;11&lt;/mn&gt;&lt;/mfrac&gt;&lt;mtext&gt;&lt;/mtext&gt;&lt;mtext&gt;&lt;/mtext&gt;&lt;mfrac&gt;&lt;mn&gt;4&lt;/mn&gt;&lt;mn&gt;5&lt;/mn&gt;&lt;/mfrac&gt;&lt;mtext&gt;&lt;/mtext&gt;&lt;mi&gt;o&lt;/mi&gt;&lt;mi&gt;f&lt;/mi&gt;&lt;mtext&gt;&lt;/mtext&gt;&lt;mn&gt;2&lt;/mn&gt;&lt;mtext&gt;&lt;/mtext&gt;&lt;mfrac&gt;&lt;mn&gt;2&lt;/mn&gt;&lt;mn&gt;15&lt;/mn&gt;&lt;/mfrac&gt;&lt;mtext&gt;&lt;/mtext&gt;&lt;mtext&gt;&lt;/mtext&gt;&lt;mn&gt;1&lt;/mn&gt;&lt;mtext&gt;&lt;/mtext&gt;&lt;mfrac&gt;&lt;mn&gt;11&lt;/mn&gt;&lt;mn&gt;21&lt;/mn&gt;&lt;/mfrac&gt;&lt;mo&gt;×&lt;/mo&gt;&lt;mn&gt;1&lt;/mn&gt;&lt;mtext&gt;&lt;/mtext&gt;&lt;mfrac&gt;&lt;mn&gt;1&lt;/mn&gt;&lt;mn&gt;7&lt;/mn&gt;&lt;/mfrac&gt;&lt;mtext&gt;&lt;/mtext&gt;&lt;mtext&gt;&lt;/mtext&gt;&lt;mtext&gt;&lt;/mtext&gt;&lt;mfrac&gt;&lt;mn&gt;4&lt;/mn&gt;&lt;mn&gt;9&lt;/mn&gt;&lt;/mfrac&gt;&lt;mtext&gt;&lt;/mtext&gt;&lt;mi&gt;o&lt;/mi&gt;&lt;mi&gt;f&lt;/mi&gt;&lt;mtext&gt;&lt;/mtext&gt;&lt;mfrac&gt;&lt;mn&gt;16&lt;/mn&gt;&lt;mn&gt;27&lt;/mn&gt;&lt;/mfrac&gt;&lt;/mtd&gt;&lt;/mtr&gt;&lt;/mtable&gt;&lt;/math&gt;" id="1219" name="Google Shape;1219;p90" title="1 lines Line 1: 2 three fourths times 3 over 11 four fifths o f 2 2 over 15 1 11 over 21 times 1 one seventh four ninths o f 16 over 27"/>
          <p:cNvPicPr preferRelativeResize="0"/>
          <p:nvPr/>
        </p:nvPicPr>
        <p:blipFill rotWithShape="1">
          <a:blip r:embed="rId7">
            <a:alphaModFix/>
          </a:blip>
          <a:srcRect b="-10" l="0" r="77630" t="0"/>
          <a:stretch/>
        </p:blipFill>
        <p:spPr>
          <a:xfrm>
            <a:off x="1271885" y="3710451"/>
            <a:ext cx="1165049" cy="42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1\ \frac{1}{8}\ \ \frac{1}{5}\ of\ 4\ \frac{7}{32}\ \ \frac{1}{2}\ of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i&gt;o&lt;/mi&gt;&lt;mi&gt;f&lt;/mi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i&gt;o&lt;/mi&gt;&lt;mi&gt;f&lt;/mi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1220" name="Google Shape;1220;p90" title="three fourths times 1 one eighth one fifth o f 4 7 over 32 one half o f 1 11 over 16 3 and five eighths times one fourth"/>
          <p:cNvPicPr preferRelativeResize="0"/>
          <p:nvPr/>
        </p:nvPicPr>
        <p:blipFill rotWithShape="1">
          <a:blip r:embed="rId8">
            <a:alphaModFix/>
          </a:blip>
          <a:srcRect b="0" l="0" r="77983" t="0"/>
          <a:stretch/>
        </p:blipFill>
        <p:spPr>
          <a:xfrm>
            <a:off x="7017578" y="4204436"/>
            <a:ext cx="883224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1\ \frac{1}{8}\ \ \frac{1}{5}\ of\ 4\ \frac{7}{32}\ \ \frac{1}{2}\ of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i&gt;o&lt;/mi&gt;&lt;mi&gt;f&lt;/mi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i&gt;o&lt;/mi&gt;&lt;mi&gt;f&lt;/mi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1221" name="Google Shape;1221;p90" title="three fourths times 1 one eighth one fifth o f 4 7 over 32 one half o f 1 11 over 16 3 and five eighths times one fourth"/>
          <p:cNvPicPr preferRelativeResize="0"/>
          <p:nvPr/>
        </p:nvPicPr>
        <p:blipFill rotWithShape="1">
          <a:blip r:embed="rId8">
            <a:alphaModFix/>
          </a:blip>
          <a:srcRect b="0" l="80347" r="0" t="0"/>
          <a:stretch/>
        </p:blipFill>
        <p:spPr>
          <a:xfrm>
            <a:off x="1460201" y="4204448"/>
            <a:ext cx="788400" cy="48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2" name="Google Shape;1222;p90"/>
          <p:cNvSpPr txBox="1"/>
          <p:nvPr/>
        </p:nvSpPr>
        <p:spPr>
          <a:xfrm>
            <a:off x="4350300" y="2717570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3" name="Google Shape;1223;p90"/>
          <p:cNvSpPr txBox="1"/>
          <p:nvPr/>
        </p:nvSpPr>
        <p:spPr>
          <a:xfrm>
            <a:off x="2534875" y="4293088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4" name="Google Shape;1224;p90"/>
          <p:cNvSpPr txBox="1"/>
          <p:nvPr/>
        </p:nvSpPr>
        <p:spPr>
          <a:xfrm>
            <a:off x="4329025" y="3767915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5" name="Google Shape;1225;p90"/>
          <p:cNvSpPr txBox="1"/>
          <p:nvPr/>
        </p:nvSpPr>
        <p:spPr>
          <a:xfrm>
            <a:off x="6081625" y="3242749"/>
            <a:ext cx="2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6" name="Google Shape;1226;p90"/>
          <p:cNvSpPr txBox="1"/>
          <p:nvPr/>
        </p:nvSpPr>
        <p:spPr>
          <a:xfrm>
            <a:off x="6081625" y="1667225"/>
            <a:ext cx="2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7" name="Google Shape;1227;p90"/>
          <p:cNvSpPr txBox="1"/>
          <p:nvPr/>
        </p:nvSpPr>
        <p:spPr>
          <a:xfrm>
            <a:off x="7960146" y="2192398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8" name="Google Shape;1228;p90"/>
          <p:cNvSpPr txBox="1"/>
          <p:nvPr/>
        </p:nvSpPr>
        <p:spPr>
          <a:xfrm>
            <a:off x="2534875" y="1667225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9" name="Google Shape;1229;p90"/>
          <p:cNvSpPr txBox="1"/>
          <p:nvPr/>
        </p:nvSpPr>
        <p:spPr>
          <a:xfrm>
            <a:off x="4329025" y="1667225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0" name="Google Shape;1230;p90"/>
          <p:cNvSpPr txBox="1"/>
          <p:nvPr/>
        </p:nvSpPr>
        <p:spPr>
          <a:xfrm>
            <a:off x="2534875" y="2192398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1" name="Google Shape;1231;p90"/>
          <p:cNvSpPr txBox="1"/>
          <p:nvPr/>
        </p:nvSpPr>
        <p:spPr>
          <a:xfrm>
            <a:off x="2534875" y="3767915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2" name="Google Shape;1232;p90"/>
          <p:cNvSpPr txBox="1"/>
          <p:nvPr/>
        </p:nvSpPr>
        <p:spPr>
          <a:xfrm>
            <a:off x="2534875" y="3242743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3" name="Google Shape;1233;p90"/>
          <p:cNvSpPr txBox="1"/>
          <p:nvPr/>
        </p:nvSpPr>
        <p:spPr>
          <a:xfrm>
            <a:off x="4329025" y="2192398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4" name="Google Shape;1234;p90"/>
          <p:cNvSpPr txBox="1"/>
          <p:nvPr/>
        </p:nvSpPr>
        <p:spPr>
          <a:xfrm>
            <a:off x="2507950" y="2717570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5" name="Google Shape;1235;p90"/>
          <p:cNvSpPr txBox="1"/>
          <p:nvPr/>
        </p:nvSpPr>
        <p:spPr>
          <a:xfrm>
            <a:off x="4329025" y="3242743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6" name="Google Shape;1236;p90"/>
          <p:cNvSpPr txBox="1"/>
          <p:nvPr/>
        </p:nvSpPr>
        <p:spPr>
          <a:xfrm>
            <a:off x="4329025" y="4293088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7" name="Google Shape;1237;p90"/>
          <p:cNvSpPr txBox="1"/>
          <p:nvPr/>
        </p:nvSpPr>
        <p:spPr>
          <a:xfrm>
            <a:off x="6081625" y="3767924"/>
            <a:ext cx="2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90"/>
          <p:cNvSpPr txBox="1"/>
          <p:nvPr/>
        </p:nvSpPr>
        <p:spPr>
          <a:xfrm>
            <a:off x="6081625" y="2192400"/>
            <a:ext cx="2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90"/>
          <p:cNvSpPr txBox="1"/>
          <p:nvPr/>
        </p:nvSpPr>
        <p:spPr>
          <a:xfrm>
            <a:off x="6081625" y="2717574"/>
            <a:ext cx="2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0" name="Google Shape;1240;p90"/>
          <p:cNvSpPr txBox="1"/>
          <p:nvPr/>
        </p:nvSpPr>
        <p:spPr>
          <a:xfrm>
            <a:off x="6081625" y="4293099"/>
            <a:ext cx="2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1" name="Google Shape;1241;p90"/>
          <p:cNvSpPr txBox="1"/>
          <p:nvPr/>
        </p:nvSpPr>
        <p:spPr>
          <a:xfrm>
            <a:off x="7960146" y="3242743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2" name="Google Shape;1242;p90"/>
          <p:cNvSpPr txBox="1"/>
          <p:nvPr/>
        </p:nvSpPr>
        <p:spPr>
          <a:xfrm>
            <a:off x="7960146" y="1667225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3" name="Google Shape;1243;p90"/>
          <p:cNvSpPr txBox="1"/>
          <p:nvPr/>
        </p:nvSpPr>
        <p:spPr>
          <a:xfrm>
            <a:off x="7960146" y="3767915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4" name="Google Shape;1244;p90"/>
          <p:cNvSpPr txBox="1"/>
          <p:nvPr/>
        </p:nvSpPr>
        <p:spPr>
          <a:xfrm>
            <a:off x="7960146" y="2717570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5" name="Google Shape;1245;p90"/>
          <p:cNvSpPr txBox="1"/>
          <p:nvPr/>
        </p:nvSpPr>
        <p:spPr>
          <a:xfrm>
            <a:off x="7960146" y="4293088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18\times2\ \frac{2}{3}&quot;&gt;&lt;mn&gt;18&lt;/mn&gt;&lt;mo&gt;×&lt;/mo&gt;&lt;mn&gt;2&lt;/mn&gt;&lt;mtext&gt;&lt;/mtext&gt;&lt;mfrac&gt;&lt;mn&gt;2&lt;/mn&gt;&lt;mn&gt;3&lt;/mn&gt;&lt;/mfrac&gt;&lt;/math&gt;" id="1246" name="Google Shape;1246;p90" title="18 times 2 two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36029" y="3194340"/>
            <a:ext cx="713425" cy="425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11}{16}\times\frac{4}{9}&quot;&gt;&lt;mn&gt;1&lt;/mn&gt;&lt;mtext&gt;&lt;/mtext&gt;&lt;mfrac&gt;&lt;mn&gt;11&lt;/mn&gt;&lt;mn&gt;16&lt;/mn&gt;&lt;/mfrac&gt;&lt;mo&gt;×&lt;/mo&gt;&lt;mfrac&gt;&lt;mn&gt;4&lt;/mn&gt;&lt;mn&gt;9&lt;/mn&gt;&lt;/mfrac&gt;&lt;/math&gt;" id="1247" name="Google Shape;1247;p90" title="1 11 over 16 times four ninths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898538" y="3704363"/>
            <a:ext cx="788400" cy="428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\frac{3}{8}\times\frac{6}{11}\end{array}&quot;&gt;&lt;mtable columnalign=&quot;left&quot; columnspacing=&quot;1em&quot; rowspacing=&quot;4pt&quot;&gt;&lt;mtr&gt;&lt;mtd&gt;&lt;mn&gt;1&lt;/mn&gt;&lt;mfrac&gt;&lt;mn&gt;3&lt;/mn&gt;&lt;mn&gt;8&lt;/mn&gt;&lt;/mfrac&gt;&lt;mo&gt;×&lt;/mo&gt;&lt;mfrac&gt;&lt;mn&gt;6&lt;/mn&gt;&lt;mn&gt;11&lt;/mn&gt;&lt;/mfrac&gt;&lt;/mtd&gt;&lt;/mtr&gt;&lt;/mtable&gt;&lt;/math&gt;" id="1248" name="Google Shape;1248;p90" title="1 lines Line 1: 1 and three eighths times 6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10075" y="3704061"/>
            <a:ext cx="953250" cy="420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ree eighths times 48 two ninths times 81 two thirds of 24 6 over 13 times 39&#10;&#10;&lt;math xmlns=&quot;http://www.w3.org/1998/Math/MathML&quot; display=&quot;block&quot; data-is-equatio=&quot;1&quot; data-latex=&quot;\frac{3}{8}\times48\ \ \frac{2}{9}\times81\ \ \frac{2}{3}\ \text{of}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text&gt;of&lt;/mtext&gt;&lt;mtext&gt;&lt;/mtext&gt;&lt;mn&gt;24&lt;/mn&gt;&lt;mtext&gt;&lt;/mtext&gt;&lt;mtext&gt;&lt;/mtext&gt;&lt;mfrac&gt;&lt;mn&gt;6&lt;/mn&gt;&lt;mn&gt;13&lt;/mn&gt;&lt;/mfrac&gt;&lt;mo&gt;×&lt;/mo&gt;&lt;mn&gt;39&lt;/mn&gt;&lt;/math&gt;" id="1249" name="Google Shape;1249;p90"/>
          <p:cNvPicPr preferRelativeResize="0"/>
          <p:nvPr/>
        </p:nvPicPr>
        <p:blipFill rotWithShape="1">
          <a:blip r:embed="rId12">
            <a:alphaModFix/>
          </a:blip>
          <a:srcRect b="0" l="48617" r="27893" t="0"/>
          <a:stretch/>
        </p:blipFill>
        <p:spPr>
          <a:xfrm>
            <a:off x="5055409" y="1573989"/>
            <a:ext cx="788399" cy="508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x sevenths times 28 8 over 11 of 33 four fifths of 30 13 over 15 times 30&#10;&#10;&lt;math xmlns=&quot;http://www.w3.org/1998/Math/MathML&quot; display=&quot;block&quot; data-is-equatio=&quot;1&quot; data-latex=&quot;\frac{6}{7}\times28\ \ \frac{8}{11}\ \text{of}\ 33\ \ \frac{4}{5}\ \text{of}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text&gt;of&lt;/mtext&gt;&lt;mtext&gt;&lt;/mtext&gt;&lt;mn&gt;33&lt;/mn&gt;&lt;mtext&gt;&lt;/mtext&gt;&lt;mtext&gt;&lt;/mtext&gt;&lt;mfrac&gt;&lt;mn&gt;4&lt;/mn&gt;&lt;mn&gt;5&lt;/mn&gt;&lt;/mfrac&gt;&lt;mtext&gt;&lt;/mtext&gt;&lt;mtext&gt;of&lt;/mtext&gt;&lt;mtext&gt;&lt;/mtext&gt;&lt;mn&gt;30&lt;/mn&gt;&lt;mtext&gt;&lt;/mtext&gt;&lt;mtext&gt;&lt;/mtext&gt;&lt;mfrac&gt;&lt;mn&gt;13&lt;/mn&gt;&lt;mn&gt;15&lt;/mn&gt;&lt;/mfrac&gt;&lt;mo&gt;×&lt;/mo&gt;&lt;mn&gt;30&lt;/mn&gt;&lt;/math&gt;" id="1250" name="Google Shape;1250;p90"/>
          <p:cNvPicPr preferRelativeResize="0"/>
          <p:nvPr/>
        </p:nvPicPr>
        <p:blipFill rotWithShape="1">
          <a:blip r:embed="rId13">
            <a:alphaModFix/>
          </a:blip>
          <a:srcRect b="0" l="50865" r="25332" t="0"/>
          <a:stretch/>
        </p:blipFill>
        <p:spPr>
          <a:xfrm>
            <a:off x="5042449" y="2100325"/>
            <a:ext cx="846649" cy="50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x sevenths times 28 8 over 11 of 33 four fifths of 30 13 over 15 times 30&#10;&#10;&lt;math xmlns=&quot;http://www.w3.org/1998/Math/MathML&quot; display=&quot;block&quot; data-is-equatio=&quot;1&quot; data-latex=&quot;\frac{6}{7}\times28\ \ \frac{8}{11}\ \text{of}\ 33\ \ \frac{4}{5}\ \text{of}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text&gt;of&lt;/mtext&gt;&lt;mtext&gt;&lt;/mtext&gt;&lt;mn&gt;33&lt;/mn&gt;&lt;mtext&gt;&lt;/mtext&gt;&lt;mtext&gt;&lt;/mtext&gt;&lt;mfrac&gt;&lt;mn&gt;4&lt;/mn&gt;&lt;mn&gt;5&lt;/mn&gt;&lt;/mfrac&gt;&lt;mtext&gt;&lt;/mtext&gt;&lt;mtext&gt;of&lt;/mtext&gt;&lt;mtext&gt;&lt;/mtext&gt;&lt;mn&gt;30&lt;/mn&gt;&lt;mtext&gt;&lt;/mtext&gt;&lt;mtext&gt;&lt;/mtext&gt;&lt;mfrac&gt;&lt;mn&gt;13&lt;/mn&gt;&lt;mn&gt;15&lt;/mn&gt;&lt;/mfrac&gt;&lt;mo&gt;×&lt;/mo&gt;&lt;mn&gt;30&lt;/mn&gt;&lt;/math&gt;" id="1251" name="Google Shape;1251;p90"/>
          <p:cNvPicPr preferRelativeResize="0"/>
          <p:nvPr/>
        </p:nvPicPr>
        <p:blipFill rotWithShape="1">
          <a:blip r:embed="rId13">
            <a:alphaModFix/>
          </a:blip>
          <a:srcRect b="0" l="22521" r="50679" t="0"/>
          <a:stretch/>
        </p:blipFill>
        <p:spPr>
          <a:xfrm>
            <a:off x="3142250" y="2102888"/>
            <a:ext cx="953250" cy="50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 over 13 times 39 5 over 12 of 60 three tenths of 90 nine eighths times 24&#10;&#10;&lt;math xmlns=&quot;http://www.w3.org/1998/Math/MathML&quot; display=&quot;block&quot; data-is-equatio=&quot;1&quot; data-latex=&quot;\frac{9}{13}\times39\ \ \frac{5}{12}\ \text{of}\ 60\ \ \frac{3}{10}\ \text{of}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text&gt;of&lt;/mtext&gt;&lt;mtext&gt;&lt;/mtext&gt;&lt;mn&gt;60&lt;/mn&gt;&lt;mtext&gt;&lt;/mtext&gt;&lt;mtext&gt;&lt;/mtext&gt;&lt;mfrac&gt;&lt;mn&gt;3&lt;/mn&gt;&lt;mn&gt;10&lt;/mn&gt;&lt;/mfrac&gt;&lt;mtext&gt;&lt;/mtext&gt;&lt;mtext&gt;of&lt;/mtext&gt;&lt;mtext&gt;&lt;/mtext&gt;&lt;mn&gt;90&lt;/mn&gt;&lt;mtext&gt;&lt;/mtext&gt;&lt;mtext&gt;&lt;/mtext&gt;&lt;mfrac&gt;&lt;mn&gt;9&lt;/mn&gt;&lt;mn&gt;8&lt;/mn&gt;&lt;/mfrac&gt;&lt;mo&gt;×&lt;/mo&gt;&lt;mn&gt;24&lt;/mn&gt;&lt;/math&gt;" id="1252" name="Google Shape;1252;p90"/>
          <p:cNvPicPr preferRelativeResize="0"/>
          <p:nvPr/>
        </p:nvPicPr>
        <p:blipFill rotWithShape="1">
          <a:blip r:embed="rId14">
            <a:alphaModFix/>
          </a:blip>
          <a:srcRect b="0" l="24962" r="48975" t="0"/>
          <a:stretch/>
        </p:blipFill>
        <p:spPr>
          <a:xfrm>
            <a:off x="3142554" y="2616966"/>
            <a:ext cx="953249" cy="50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 over 13 times 39 5 over 12 of 60 three tenths of 90 nine eighths times 24&#10;&#10;&lt;math xmlns=&quot;http://www.w3.org/1998/Math/MathML&quot; display=&quot;block&quot; data-is-equatio=&quot;1&quot; data-latex=&quot;\frac{9}{13}\times39\ \ \frac{5}{12}\ \text{of}\ 60\ \ \frac{3}{10}\ \text{of}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text&gt;of&lt;/mtext&gt;&lt;mtext&gt;&lt;/mtext&gt;&lt;mn&gt;60&lt;/mn&gt;&lt;mtext&gt;&lt;/mtext&gt;&lt;mtext&gt;&lt;/mtext&gt;&lt;mfrac&gt;&lt;mn&gt;3&lt;/mn&gt;&lt;mn&gt;10&lt;/mn&gt;&lt;/mfrac&gt;&lt;mtext&gt;&lt;/mtext&gt;&lt;mtext&gt;of&lt;/mtext&gt;&lt;mtext&gt;&lt;/mtext&gt;&lt;mn&gt;90&lt;/mn&gt;&lt;mtext&gt;&lt;/mtext&gt;&lt;mtext&gt;&lt;/mtext&gt;&lt;mfrac&gt;&lt;mn&gt;9&lt;/mn&gt;&lt;mn&gt;8&lt;/mn&gt;&lt;/mfrac&gt;&lt;mo&gt;×&lt;/mo&gt;&lt;mn&gt;24&lt;/mn&gt;&lt;/math&gt;" id="1253" name="Google Shape;1253;p90"/>
          <p:cNvPicPr preferRelativeResize="0"/>
          <p:nvPr/>
        </p:nvPicPr>
        <p:blipFill rotWithShape="1">
          <a:blip r:embed="rId14">
            <a:alphaModFix/>
          </a:blip>
          <a:srcRect b="0" l="52942" r="20995" t="0"/>
          <a:stretch/>
        </p:blipFill>
        <p:spPr>
          <a:xfrm>
            <a:off x="4943895" y="2623246"/>
            <a:ext cx="953249" cy="50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 one half times 32 1 one fifth of 40 1 two fifths of 35 48 times 2 two thirds&#10;&#10;&lt;math xmlns=&quot;http://www.w3.org/1998/Math/MathML&quot; display=&quot;block&quot; data-is-equatio=&quot;1&quot; data-latex=&quot;1\ \frac{1}{2}\times32\ \ 1\ \frac{1}{5}\ \text{of}\ 40\ \ 1\ \frac{2}{5}\ \text{of}\ 35\ \ 48\times2\ \frac{2}{3}&quot;&gt;&lt;mn&gt;1&lt;/mn&gt;&lt;mtext&gt;&lt;/mtext&gt;&lt;mfrac&gt;&lt;mn&gt;1&lt;/mn&gt;&lt;mn&gt;2&lt;/mn&gt;&lt;/mfrac&gt;&lt;mo&gt;×&lt;/mo&gt;&lt;mn&gt;32&lt;/mn&gt;&lt;mtext&gt;&lt;/mtext&gt;&lt;mtext&gt;&lt;/mtext&gt;&lt;mn&gt;1&lt;/mn&gt;&lt;mtext&gt;&lt;/mtext&gt;&lt;mfrac&gt;&lt;mn&gt;1&lt;/mn&gt;&lt;mn&gt;5&lt;/mn&gt;&lt;/mfrac&gt;&lt;mtext&gt;&lt;/mtext&gt;&lt;mtext&gt;of&lt;/mtext&gt;&lt;mtext&gt;&lt;/mtext&gt;&lt;mn&gt;40&lt;/mn&gt;&lt;mtext&gt;&lt;/mtext&gt;&lt;mtext&gt;&lt;/mtext&gt;&lt;mn&gt;1&lt;/mn&gt;&lt;mtext&gt;&lt;/mtext&gt;&lt;mfrac&gt;&lt;mn&gt;2&lt;/mn&gt;&lt;mn&gt;5&lt;/mn&gt;&lt;/mfrac&gt;&lt;mtext&gt;&lt;/mtext&gt;&lt;mtext&gt;of&lt;/mtext&gt;&lt;mtext&gt;&lt;/mtext&gt;&lt;mn&gt;35&lt;/mn&gt;&lt;mtext&gt;&lt;/mtext&gt;&lt;mtext&gt;&lt;/mtext&gt;&lt;mn&gt;48&lt;/mn&gt;&lt;mo&gt;×&lt;/mo&gt;&lt;mn&gt;2&lt;/mn&gt;&lt;mtext&gt;&lt;/mtext&gt;&lt;mfrac&gt;&lt;mn&gt;2&lt;/mn&gt;&lt;mn&gt;3&lt;/mn&gt;&lt;/mfrac&gt;&lt;/math&gt;" id="1254" name="Google Shape;1254;p90"/>
          <p:cNvPicPr preferRelativeResize="0"/>
          <p:nvPr/>
        </p:nvPicPr>
        <p:blipFill rotWithShape="1">
          <a:blip r:embed="rId15">
            <a:alphaModFix/>
          </a:blip>
          <a:srcRect b="0" l="24215" r="51109" t="0"/>
          <a:stretch/>
        </p:blipFill>
        <p:spPr>
          <a:xfrm>
            <a:off x="3076424" y="3147366"/>
            <a:ext cx="987976" cy="50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 one half times 32 1 one fifth of 40 1 two fifths of 35 48 times 2 two thirds&#10;&#10;&lt;math xmlns=&quot;http://www.w3.org/1998/Math/MathML&quot; display=&quot;block&quot; data-is-equatio=&quot;1&quot; data-latex=&quot;1\ \frac{1}{2}\times32\ \ 1\ \frac{1}{5}\ \text{of}\ 40\ \ 1\ \frac{2}{5}\ \text{of}\ 35\ \ 48\times2\ \frac{2}{3}&quot;&gt;&lt;mn&gt;1&lt;/mn&gt;&lt;mtext&gt;&lt;/mtext&gt;&lt;mfrac&gt;&lt;mn&gt;1&lt;/mn&gt;&lt;mn&gt;2&lt;/mn&gt;&lt;/mfrac&gt;&lt;mo&gt;×&lt;/mo&gt;&lt;mn&gt;32&lt;/mn&gt;&lt;mtext&gt;&lt;/mtext&gt;&lt;mtext&gt;&lt;/mtext&gt;&lt;mn&gt;1&lt;/mn&gt;&lt;mtext&gt;&lt;/mtext&gt;&lt;mfrac&gt;&lt;mn&gt;1&lt;/mn&gt;&lt;mn&gt;5&lt;/mn&gt;&lt;/mfrac&gt;&lt;mtext&gt;&lt;/mtext&gt;&lt;mtext&gt;of&lt;/mtext&gt;&lt;mtext&gt;&lt;/mtext&gt;&lt;mn&gt;40&lt;/mn&gt;&lt;mtext&gt;&lt;/mtext&gt;&lt;mtext&gt;&lt;/mtext&gt;&lt;mn&gt;1&lt;/mn&gt;&lt;mtext&gt;&lt;/mtext&gt;&lt;mfrac&gt;&lt;mn&gt;2&lt;/mn&gt;&lt;mn&gt;5&lt;/mn&gt;&lt;/mfrac&gt;&lt;mtext&gt;&lt;/mtext&gt;&lt;mtext&gt;of&lt;/mtext&gt;&lt;mtext&gt;&lt;/mtext&gt;&lt;mn&gt;35&lt;/mn&gt;&lt;mtext&gt;&lt;/mtext&gt;&lt;mtext&gt;&lt;/mtext&gt;&lt;mn&gt;48&lt;/mn&gt;&lt;mo&gt;×&lt;/mo&gt;&lt;mn&gt;2&lt;/mn&gt;&lt;mtext&gt;&lt;/mtext&gt;&lt;mfrac&gt;&lt;mn&gt;2&lt;/mn&gt;&lt;mn&gt;3&lt;/mn&gt;&lt;/mfrac&gt;&lt;/math&gt;" id="1255" name="Google Shape;1255;p90"/>
          <p:cNvPicPr preferRelativeResize="0"/>
          <p:nvPr/>
        </p:nvPicPr>
        <p:blipFill rotWithShape="1">
          <a:blip r:embed="rId15">
            <a:alphaModFix/>
          </a:blip>
          <a:srcRect b="0" l="51151" r="24174" t="0"/>
          <a:stretch/>
        </p:blipFill>
        <p:spPr>
          <a:xfrm>
            <a:off x="4866203" y="3144787"/>
            <a:ext cx="987976" cy="50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 lines Line 1: four fifths of 15 over 32&#10;&#10;&lt;math xmlns=&quot;http://www.w3.org/1998/Math/MathML&quot; display=&quot;block&quot; data-is-equatio=&quot;1&quot; data-latex=&quot;\begin{array}{l}\frac{4}{5}\ \text{of}\ \frac{15}{32}\ \ \end{array}&quot;&gt;&lt;mtable columnalign=&quot;left&quot; columnspacing=&quot;1em&quot; rowspacing=&quot;4pt&quot;&gt;&lt;mtr&gt;&lt;mtd&gt;&lt;mfrac&gt;&lt;mn&gt;4&lt;/mn&gt;&lt;mn&gt;5&lt;/mn&gt;&lt;/mfrac&gt;&lt;mtext&gt;&lt;/mtext&gt;&lt;mtext&gt;of&lt;/mtext&gt;&lt;mtext&gt;&lt;/mtext&gt;&lt;mfrac&gt;&lt;mn&gt;15&lt;/mn&gt;&lt;mn&gt;32&lt;/mn&gt;&lt;/mfrac&gt;&lt;mtext&gt;&lt;/mtext&gt;&lt;mtext&gt;&lt;/mtext&gt;&lt;/mtd&gt;&lt;/mtr&gt;&lt;/mtable&gt;&lt;/math&gt;" id="1256" name="Google Shape;1256;p90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3336583" y="3752692"/>
            <a:ext cx="713425" cy="346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ree fourths times 1 one eighth one fifth of 4 7 over 32 one half of 1 11 over 16 3 and five eighths times one fourth&#10;&#10;&lt;math xmlns=&quot;http://www.w3.org/1998/Math/MathML&quot; display=&quot;block&quot; data-is-equatio=&quot;1&quot; data-latex=&quot;\frac{3}{4}\times1\ \frac{1}{8}\ \ \frac{1}{5}\ \text{of}\ 4\ \frac{7}{32}\ \ \frac{1}{2}\ \text{of}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text&gt;of&lt;/mtext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text&gt;of&lt;/mtext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1257" name="Google Shape;1257;p90"/>
          <p:cNvPicPr preferRelativeResize="0"/>
          <p:nvPr/>
        </p:nvPicPr>
        <p:blipFill rotWithShape="1">
          <a:blip r:embed="rId17">
            <a:alphaModFix/>
          </a:blip>
          <a:srcRect b="0" l="23684" r="49935" t="0"/>
          <a:stretch/>
        </p:blipFill>
        <p:spPr>
          <a:xfrm>
            <a:off x="3291362" y="4188937"/>
            <a:ext cx="1063400" cy="50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ree fourths times 1 one eighth one fifth of 4 7 over 32 one half of 1 11 over 16 3 and five eighths times one fourth&#10;&#10;&lt;math xmlns=&quot;http://www.w3.org/1998/Math/MathML&quot; display=&quot;block&quot; data-is-equatio=&quot;1&quot; data-latex=&quot;\frac{3}{4}\times1\ \frac{1}{8}\ \ \frac{1}{5}\ \text{of}\ 4\ \frac{7}{32}\ \ \frac{1}{2}\ \text{of}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text&gt;of&lt;/mtext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text&gt;of&lt;/mtext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1258" name="Google Shape;1258;p90"/>
          <p:cNvPicPr preferRelativeResize="0"/>
          <p:nvPr/>
        </p:nvPicPr>
        <p:blipFill rotWithShape="1">
          <a:blip r:embed="rId17">
            <a:alphaModFix/>
          </a:blip>
          <a:srcRect b="0" l="51528" r="20534" t="0"/>
          <a:stretch/>
        </p:blipFill>
        <p:spPr>
          <a:xfrm>
            <a:off x="5035938" y="4192707"/>
            <a:ext cx="1126201" cy="508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2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p91"/>
          <p:cNvSpPr/>
          <p:nvPr/>
        </p:nvSpPr>
        <p:spPr>
          <a:xfrm>
            <a:off x="4580263" y="2978263"/>
            <a:ext cx="1800600" cy="52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4" name="Google Shape;1264;p91"/>
          <p:cNvSpPr/>
          <p:nvPr/>
        </p:nvSpPr>
        <p:spPr>
          <a:xfrm>
            <a:off x="2770961" y="2472575"/>
            <a:ext cx="1800600" cy="52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5" name="Google Shape;1265;p91"/>
          <p:cNvSpPr/>
          <p:nvPr/>
        </p:nvSpPr>
        <p:spPr>
          <a:xfrm>
            <a:off x="6392425" y="1939823"/>
            <a:ext cx="1800600" cy="52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6" name="Google Shape;1266;p91"/>
          <p:cNvSpPr/>
          <p:nvPr/>
        </p:nvSpPr>
        <p:spPr>
          <a:xfrm>
            <a:off x="4580175" y="1413825"/>
            <a:ext cx="1800600" cy="52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67" name="Google Shape;1267;p91"/>
          <p:cNvSpPr txBox="1"/>
          <p:nvPr>
            <p:ph idx="1" type="body"/>
          </p:nvPr>
        </p:nvSpPr>
        <p:spPr>
          <a:xfrm>
            <a:off x="324000" y="625084"/>
            <a:ext cx="8237700" cy="74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45720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-GB" sz="1800"/>
              <a:t>Find the odd one out in each row.  It has a </a:t>
            </a:r>
            <a:r>
              <a:rPr lang="en-GB" sz="1800">
                <a:solidFill>
                  <a:schemeClr val="accent5"/>
                </a:solidFill>
              </a:rPr>
              <a:t>different</a:t>
            </a:r>
            <a:r>
              <a:rPr lang="en-GB" sz="1800"/>
              <a:t> answer to the others.</a:t>
            </a:r>
            <a:endParaRPr sz="1800"/>
          </a:p>
          <a:p>
            <a:pPr indent="0" lvl="0" marL="457200" rtl="0" algn="l">
              <a:lnSpc>
                <a:spcPct val="7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Arrange the letters of these into a word.</a:t>
            </a:r>
            <a:endParaRPr sz="1800"/>
          </a:p>
        </p:txBody>
      </p:sp>
      <p:sp>
        <p:nvSpPr>
          <p:cNvPr id="1268" name="Google Shape;1268;p91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graphicFrame>
        <p:nvGraphicFramePr>
          <p:cNvPr id="1269" name="Google Shape;1269;p91"/>
          <p:cNvGraphicFramePr/>
          <p:nvPr/>
        </p:nvGraphicFramePr>
        <p:xfrm>
          <a:off x="952500" y="1414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1809750"/>
                <a:gridCol w="1809750"/>
                <a:gridCol w="1809750"/>
                <a:gridCol w="1809750"/>
              </a:tblGrid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523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3}{8}\times48\ \ \frac{2}{9}\times81\ \ \frac{2}{3}\ of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i&gt;o&lt;/mi&gt;&lt;mi&gt;f&lt;/mi&gt;&lt;mtext&gt;&lt;/mtext&gt;&lt;mn&gt;24&lt;/mn&gt;&lt;mtext&gt;&lt;/mtext&gt;&lt;mtext&gt;&lt;/mtext&gt;&lt;mfrac&gt;&lt;mn&gt;6&lt;/mn&gt;&lt;mn&gt;13&lt;/mn&gt;&lt;/mfrac&gt;&lt;mo&gt;×&lt;/mo&gt;&lt;mn&gt;39&lt;/mn&gt;&lt;/math&gt;" id="1270" name="Google Shape;1270;p91" title="three eighths times 48 two ninths times 81 two thirds o f 24 6 over 13 times 39"/>
          <p:cNvPicPr preferRelativeResize="0"/>
          <p:nvPr/>
        </p:nvPicPr>
        <p:blipFill rotWithShape="1">
          <a:blip r:embed="rId3">
            <a:alphaModFix/>
          </a:blip>
          <a:srcRect b="0" l="74509" r="0" t="0"/>
          <a:stretch/>
        </p:blipFill>
        <p:spPr>
          <a:xfrm>
            <a:off x="6869401" y="1430368"/>
            <a:ext cx="846650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times28\ \ \frac{8}{11}\ of\ 33\ \ \frac{4}{5}\ of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i&gt;o&lt;/mi&gt;&lt;mi&gt;f&lt;/mi&gt;&lt;mtext&gt;&lt;/mtext&gt;&lt;mn&gt;33&lt;/mn&gt;&lt;mtext&gt;&lt;/mtext&gt;&lt;mtext&gt;&lt;/mtext&gt;&lt;mfrac&gt;&lt;mn&gt;4&lt;/mn&gt;&lt;mn&gt;5&lt;/mn&gt;&lt;/mfrac&gt;&lt;mtext&gt;&lt;/mtext&gt;&lt;mi&gt;o&lt;/mi&gt;&lt;mi&gt;f&lt;/mi&gt;&lt;mtext&gt;&lt;/mtext&gt;&lt;mn&gt;30&lt;/mn&gt;&lt;mtext&gt;&lt;/mtext&gt;&lt;mtext&gt;&lt;/mtext&gt;&lt;mfrac&gt;&lt;mn&gt;13&lt;/mn&gt;&lt;mn&gt;15&lt;/mn&gt;&lt;/mfrac&gt;&lt;mo&gt;×&lt;/mo&gt;&lt;mn&gt;30&lt;/mn&gt;&lt;/math&gt;" id="1271" name="Google Shape;1271;p91" title="six sevenths times 28 8 over 11 o f 33 four fifths o f 30 13 over 15 times 30"/>
          <p:cNvPicPr preferRelativeResize="0"/>
          <p:nvPr/>
        </p:nvPicPr>
        <p:blipFill rotWithShape="1">
          <a:blip r:embed="rId4">
            <a:alphaModFix/>
          </a:blip>
          <a:srcRect b="0" l="0" r="79917" t="0"/>
          <a:stretch/>
        </p:blipFill>
        <p:spPr>
          <a:xfrm>
            <a:off x="1497697" y="1969754"/>
            <a:ext cx="713426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3}\times39\ \ \frac{5}{12}\ of\ 60\ \ \frac{3}{10}\ of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i&gt;o&lt;/mi&gt;&lt;mi&gt;f&lt;/mi&gt;&lt;mtext&gt;&lt;/mtext&gt;&lt;mn&gt;60&lt;/mn&gt;&lt;mtext&gt;&lt;/mtext&gt;&lt;mtext&gt;&lt;/mtext&gt;&lt;mfrac&gt;&lt;mn&gt;3&lt;/mn&gt;&lt;mn&gt;10&lt;/mn&gt;&lt;/mfrac&gt;&lt;mtext&gt;&lt;/mtext&gt;&lt;mi&gt;o&lt;/mi&gt;&lt;mi&gt;f&lt;/mi&gt;&lt;mtext&gt;&lt;/mtext&gt;&lt;mn&gt;90&lt;/mn&gt;&lt;mtext&gt;&lt;/mtext&gt;&lt;mtext&gt;&lt;/mtext&gt;&lt;mfrac&gt;&lt;mn&gt;9&lt;/mn&gt;&lt;mn&gt;8&lt;/mn&gt;&lt;/mfrac&gt;&lt;mo&gt;×&lt;/mo&gt;&lt;mn&gt;24&lt;/mn&gt;&lt;/math&gt;" id="1272" name="Google Shape;1272;p91" title="9 over 13 times 39 5 over 12 o f 60 three tenths o f 90 nine eighths times 24"/>
          <p:cNvPicPr preferRelativeResize="0"/>
          <p:nvPr/>
        </p:nvPicPr>
        <p:blipFill rotWithShape="1">
          <a:blip r:embed="rId5">
            <a:alphaModFix/>
          </a:blip>
          <a:srcRect b="10" l="80576" r="0" t="0"/>
          <a:stretch/>
        </p:blipFill>
        <p:spPr>
          <a:xfrm>
            <a:off x="6936013" y="2509161"/>
            <a:ext cx="713426" cy="489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1\ \frac{1}{8}\ \ \frac{1}{5}\ of\ 4\ \frac{7}{32}\ \ \frac{1}{2}\ of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i&gt;o&lt;/mi&gt;&lt;mi&gt;f&lt;/mi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i&gt;o&lt;/mi&gt;&lt;mi&gt;f&lt;/mi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1273" name="Google Shape;1273;p91" title="three fourths times 1 one eighth one fifth o f 4 7 over 32 one half o f 1 11 over 16 3 and five eighths times one fourth"/>
          <p:cNvPicPr preferRelativeResize="0"/>
          <p:nvPr/>
        </p:nvPicPr>
        <p:blipFill rotWithShape="1">
          <a:blip r:embed="rId6">
            <a:alphaModFix/>
          </a:blip>
          <a:srcRect b="0" l="0" r="77983" t="0"/>
          <a:stretch/>
        </p:blipFill>
        <p:spPr>
          <a:xfrm>
            <a:off x="7017578" y="4050225"/>
            <a:ext cx="883224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1}{2}\times32\ \ 1\ \frac{1}{5}\ of\ 40\ \ 1\ \frac{2}{5}\ of\ 35\ \ 48\times2\ \frac{2}{3}&quot;&gt;&lt;mn&gt;1&lt;/mn&gt;&lt;mtext&gt;&lt;/mtext&gt;&lt;mfrac&gt;&lt;mn&gt;1&lt;/mn&gt;&lt;mn&gt;2&lt;/mn&gt;&lt;/mfrac&gt;&lt;mo&gt;×&lt;/mo&gt;&lt;mn&gt;32&lt;/mn&gt;&lt;mtext&gt;&lt;/mtext&gt;&lt;mtext&gt;&lt;/mtext&gt;&lt;mn&gt;1&lt;/mn&gt;&lt;mtext&gt;&lt;/mtext&gt;&lt;mfrac&gt;&lt;mn&gt;1&lt;/mn&gt;&lt;mn&gt;5&lt;/mn&gt;&lt;/mfrac&gt;&lt;mtext&gt;&lt;/mtext&gt;&lt;mi&gt;o&lt;/mi&gt;&lt;mi&gt;f&lt;/mi&gt;&lt;mtext&gt;&lt;/mtext&gt;&lt;mn&gt;40&lt;/mn&gt;&lt;mtext&gt;&lt;/mtext&gt;&lt;mtext&gt;&lt;/mtext&gt;&lt;mn&gt;1&lt;/mn&gt;&lt;mtext&gt;&lt;/mtext&gt;&lt;mfrac&gt;&lt;mn&gt;2&lt;/mn&gt;&lt;mn&gt;5&lt;/mn&gt;&lt;/mfrac&gt;&lt;mtext&gt;&lt;/mtext&gt;&lt;mi&gt;o&lt;/mi&gt;&lt;mi&gt;f&lt;/mi&gt;&lt;mtext&gt;&lt;/mtext&gt;&lt;mn&gt;35&lt;/mn&gt;&lt;mtext&gt;&lt;/mtext&gt;&lt;mtext&gt;&lt;/mtext&gt;&lt;mn&gt;48&lt;/mn&gt;&lt;mo&gt;×&lt;/mo&gt;&lt;mn&gt;2&lt;/mn&gt;&lt;mtext&gt;&lt;/mtext&gt;&lt;mfrac&gt;&lt;mn&gt;2&lt;/mn&gt;&lt;mn&gt;3&lt;/mn&gt;&lt;/mfrac&gt;&lt;/math&gt;" id="1274" name="Google Shape;1274;p91" title="1 one half times 32 1 one fifth o f 40 1 two fifths o f 35 48 times 2 two thirds"/>
          <p:cNvPicPr preferRelativeResize="0"/>
          <p:nvPr/>
        </p:nvPicPr>
        <p:blipFill rotWithShape="1">
          <a:blip r:embed="rId7">
            <a:alphaModFix/>
          </a:blip>
          <a:srcRect b="0" l="0" r="77936" t="0"/>
          <a:stretch/>
        </p:blipFill>
        <p:spPr>
          <a:xfrm>
            <a:off x="1412797" y="3008809"/>
            <a:ext cx="883225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times48\ \ \frac{2}{9}\times81\ \ \frac{2}{3}\ of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i&gt;o&lt;/mi&gt;&lt;mi&gt;f&lt;/mi&gt;&lt;mtext&gt;&lt;/mtext&gt;&lt;mn&gt;24&lt;/mn&gt;&lt;mtext&gt;&lt;/mtext&gt;&lt;mtext&gt;&lt;/mtext&gt;&lt;mfrac&gt;&lt;mn&gt;6&lt;/mn&gt;&lt;mn&gt;13&lt;/mn&gt;&lt;/mfrac&gt;&lt;mo&gt;×&lt;/mo&gt;&lt;mn&gt;39&lt;/mn&gt;&lt;/math&gt;" id="1275" name="Google Shape;1275;p91" title="three eighths times 48 two ninths times 81 two thirds o f 24 6 over 13 times 39"/>
          <p:cNvPicPr preferRelativeResize="0"/>
          <p:nvPr/>
        </p:nvPicPr>
        <p:blipFill rotWithShape="1">
          <a:blip r:embed="rId3">
            <a:alphaModFix/>
          </a:blip>
          <a:srcRect b="0" l="23675" r="54844" t="0"/>
          <a:stretch/>
        </p:blipFill>
        <p:spPr>
          <a:xfrm>
            <a:off x="3300168" y="1430368"/>
            <a:ext cx="713424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8}\times48\ \ \frac{2}{9}\times81\ \ \frac{2}{3}\ of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i&gt;o&lt;/mi&gt;&lt;mi&gt;f&lt;/mi&gt;&lt;mtext&gt;&lt;/mtext&gt;&lt;mn&gt;24&lt;/mn&gt;&lt;mtext&gt;&lt;/mtext&gt;&lt;mtext&gt;&lt;/mtext&gt;&lt;mfrac&gt;&lt;mn&gt;6&lt;/mn&gt;&lt;mn&gt;13&lt;/mn&gt;&lt;/mfrac&gt;&lt;mo&gt;×&lt;/mo&gt;&lt;mn&gt;39&lt;/mn&gt;&lt;/math&gt;" id="1276" name="Google Shape;1276;p91" title="three eighths times 48 two ninths times 81 two thirds o f 24 6 over 13 times 39"/>
          <p:cNvPicPr preferRelativeResize="0"/>
          <p:nvPr/>
        </p:nvPicPr>
        <p:blipFill rotWithShape="1">
          <a:blip r:embed="rId3">
            <a:alphaModFix/>
          </a:blip>
          <a:srcRect b="0" l="0" r="78520" t="0"/>
          <a:stretch/>
        </p:blipFill>
        <p:spPr>
          <a:xfrm>
            <a:off x="1497698" y="1430368"/>
            <a:ext cx="713424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}{7}\times28\ \ \frac{8}{11}\ of\ 33\ \ \frac{4}{5}\ of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i&gt;o&lt;/mi&gt;&lt;mi&gt;f&lt;/mi&gt;&lt;mtext&gt;&lt;/mtext&gt;&lt;mn&gt;33&lt;/mn&gt;&lt;mtext&gt;&lt;/mtext&gt;&lt;mtext&gt;&lt;/mtext&gt;&lt;mfrac&gt;&lt;mn&gt;4&lt;/mn&gt;&lt;mn&gt;5&lt;/mn&gt;&lt;/mfrac&gt;&lt;mtext&gt;&lt;/mtext&gt;&lt;mi&gt;o&lt;/mi&gt;&lt;mi&gt;f&lt;/mi&gt;&lt;mtext&gt;&lt;/mtext&gt;&lt;mn&gt;30&lt;/mn&gt;&lt;mtext&gt;&lt;/mtext&gt;&lt;mtext&gt;&lt;/mtext&gt;&lt;mfrac&gt;&lt;mn&gt;13&lt;/mn&gt;&lt;mn&gt;15&lt;/mn&gt;&lt;/mfrac&gt;&lt;mo&gt;×&lt;/mo&gt;&lt;mn&gt;30&lt;/mn&gt;&lt;/math&gt;" id="1277" name="Google Shape;1277;p91" title="six sevenths times 28 8 over 11 o f 33 four fifths o f 30 13 over 15 times 30"/>
          <p:cNvPicPr preferRelativeResize="0"/>
          <p:nvPr/>
        </p:nvPicPr>
        <p:blipFill rotWithShape="1">
          <a:blip r:embed="rId4">
            <a:alphaModFix/>
          </a:blip>
          <a:srcRect b="0" l="75137" r="0" t="0"/>
          <a:stretch/>
        </p:blipFill>
        <p:spPr>
          <a:xfrm>
            <a:off x="6851114" y="1969764"/>
            <a:ext cx="883224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9}{13}\times39\ \ \frac{5}{12}\ of\ 60\ \ \frac{3}{10}\ of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i&gt;o&lt;/mi&gt;&lt;mi&gt;f&lt;/mi&gt;&lt;mtext&gt;&lt;/mtext&gt;&lt;mn&gt;60&lt;/mn&gt;&lt;mtext&gt;&lt;/mtext&gt;&lt;mtext&gt;&lt;/mtext&gt;&lt;mfrac&gt;&lt;mn&gt;3&lt;/mn&gt;&lt;mn&gt;10&lt;/mn&gt;&lt;/mfrac&gt;&lt;mtext&gt;&lt;/mtext&gt;&lt;mi&gt;o&lt;/mi&gt;&lt;mi&gt;f&lt;/mi&gt;&lt;mtext&gt;&lt;/mtext&gt;&lt;mn&gt;90&lt;/mn&gt;&lt;mtext&gt;&lt;/mtext&gt;&lt;mtext&gt;&lt;/mtext&gt;&lt;mfrac&gt;&lt;mn&gt;9&lt;/mn&gt;&lt;mn&gt;8&lt;/mn&gt;&lt;/mfrac&gt;&lt;mo&gt;×&lt;/mo&gt;&lt;mn&gt;24&lt;/mn&gt;&lt;/math&gt;" id="1278" name="Google Shape;1278;p91" title="9 over 13 times 39 5 over 12 o f 60 three tenths o f 90 nine eighths times 24"/>
          <p:cNvPicPr preferRelativeResize="0"/>
          <p:nvPr/>
        </p:nvPicPr>
        <p:blipFill rotWithShape="1">
          <a:blip r:embed="rId5">
            <a:alphaModFix/>
          </a:blip>
          <a:srcRect b="0" l="0" r="75954" t="0"/>
          <a:stretch/>
        </p:blipFill>
        <p:spPr>
          <a:xfrm>
            <a:off x="1412798" y="2509141"/>
            <a:ext cx="883225" cy="489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2\ \frac{3}{4}\times\frac{3}{11}\ \ \frac{4}{5}\ of\ 2\ \frac{2}{15}\ \ 1\ \frac{11}{21}\times1\ \frac{1}{7}\ \ \ \frac{4}{9}\ of\ \frac{16}{27}\end{array}&quot;&gt;&lt;mtable columnalign=&quot;left&quot; columnspacing=&quot;1em&quot; rowspacing=&quot;4pt&quot;&gt;&lt;mtr&gt;&lt;mtd&gt;&lt;mn&gt;2&lt;/mn&gt;&lt;mtext&gt;&lt;/mtext&gt;&lt;mfrac&gt;&lt;mn&gt;3&lt;/mn&gt;&lt;mn&gt;4&lt;/mn&gt;&lt;/mfrac&gt;&lt;mo&gt;×&lt;/mo&gt;&lt;mfrac&gt;&lt;mn&gt;3&lt;/mn&gt;&lt;mn&gt;11&lt;/mn&gt;&lt;/mfrac&gt;&lt;mtext&gt;&lt;/mtext&gt;&lt;mtext&gt;&lt;/mtext&gt;&lt;mfrac&gt;&lt;mn&gt;4&lt;/mn&gt;&lt;mn&gt;5&lt;/mn&gt;&lt;/mfrac&gt;&lt;mtext&gt;&lt;/mtext&gt;&lt;mi&gt;o&lt;/mi&gt;&lt;mi&gt;f&lt;/mi&gt;&lt;mtext&gt;&lt;/mtext&gt;&lt;mn&gt;2&lt;/mn&gt;&lt;mtext&gt;&lt;/mtext&gt;&lt;mfrac&gt;&lt;mn&gt;2&lt;/mn&gt;&lt;mn&gt;15&lt;/mn&gt;&lt;/mfrac&gt;&lt;mtext&gt;&lt;/mtext&gt;&lt;mtext&gt;&lt;/mtext&gt;&lt;mn&gt;1&lt;/mn&gt;&lt;mtext&gt;&lt;/mtext&gt;&lt;mfrac&gt;&lt;mn&gt;11&lt;/mn&gt;&lt;mn&gt;21&lt;/mn&gt;&lt;/mfrac&gt;&lt;mo&gt;×&lt;/mo&gt;&lt;mn&gt;1&lt;/mn&gt;&lt;mtext&gt;&lt;/mtext&gt;&lt;mfrac&gt;&lt;mn&gt;1&lt;/mn&gt;&lt;mn&gt;7&lt;/mn&gt;&lt;/mfrac&gt;&lt;mtext&gt;&lt;/mtext&gt;&lt;mtext&gt;&lt;/mtext&gt;&lt;mtext&gt;&lt;/mtext&gt;&lt;mfrac&gt;&lt;mn&gt;4&lt;/mn&gt;&lt;mn&gt;9&lt;/mn&gt;&lt;/mfrac&gt;&lt;mtext&gt;&lt;/mtext&gt;&lt;mi&gt;o&lt;/mi&gt;&lt;mi&gt;f&lt;/mi&gt;&lt;mtext&gt;&lt;/mtext&gt;&lt;mfrac&gt;&lt;mn&gt;16&lt;/mn&gt;&lt;mn&gt;27&lt;/mn&gt;&lt;/mfrac&gt;&lt;/mtd&gt;&lt;/mtr&gt;&lt;/mtable&gt;&lt;/math&gt;" id="1279" name="Google Shape;1279;p91" title="1 lines Line 1: 2 three fourths times 3 over 11 four fifths o f 2 2 over 15 1 11 over 21 times 1 one seventh four ninths o f 16 over 27"/>
          <p:cNvPicPr preferRelativeResize="0"/>
          <p:nvPr/>
        </p:nvPicPr>
        <p:blipFill rotWithShape="1">
          <a:blip r:embed="rId8">
            <a:alphaModFix/>
          </a:blip>
          <a:srcRect b="-10" l="0" r="77630" t="0"/>
          <a:stretch/>
        </p:blipFill>
        <p:spPr>
          <a:xfrm>
            <a:off x="1271885" y="3587914"/>
            <a:ext cx="1165049" cy="427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3}{4}\times1\ \frac{1}{8}\ \ \frac{1}{5}\ of\ 4\ \frac{7}{32}\ \ \frac{1}{2}\ of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i&gt;o&lt;/mi&gt;&lt;mi&gt;f&lt;/mi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i&gt;o&lt;/mi&gt;&lt;mi&gt;f&lt;/mi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1280" name="Google Shape;1280;p91" title="three fourths times 1 one eighth one fifth o f 4 7 over 32 one half o f 1 11 over 16 3 and five eighths times one fourth"/>
          <p:cNvPicPr preferRelativeResize="0"/>
          <p:nvPr/>
        </p:nvPicPr>
        <p:blipFill rotWithShape="1">
          <a:blip r:embed="rId6">
            <a:alphaModFix/>
          </a:blip>
          <a:srcRect b="0" l="80347" r="0" t="0"/>
          <a:stretch/>
        </p:blipFill>
        <p:spPr>
          <a:xfrm>
            <a:off x="1460214" y="4047838"/>
            <a:ext cx="788400" cy="48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1" name="Google Shape;1281;p91"/>
          <p:cNvSpPr txBox="1"/>
          <p:nvPr/>
        </p:nvSpPr>
        <p:spPr>
          <a:xfrm>
            <a:off x="985700" y="1505775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2" name="Google Shape;1282;p91"/>
          <p:cNvSpPr txBox="1"/>
          <p:nvPr/>
        </p:nvSpPr>
        <p:spPr>
          <a:xfrm>
            <a:off x="6447100" y="1514800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3" name="Google Shape;1283;p91"/>
          <p:cNvSpPr txBox="1"/>
          <p:nvPr/>
        </p:nvSpPr>
        <p:spPr>
          <a:xfrm>
            <a:off x="2799775" y="1514800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4" name="Google Shape;1284;p91"/>
          <p:cNvSpPr txBox="1"/>
          <p:nvPr/>
        </p:nvSpPr>
        <p:spPr>
          <a:xfrm>
            <a:off x="4623438" y="1514813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16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5" name="Google Shape;1285;p91"/>
          <p:cNvSpPr txBox="1"/>
          <p:nvPr/>
        </p:nvSpPr>
        <p:spPr>
          <a:xfrm>
            <a:off x="985700" y="2040638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6" name="Google Shape;1286;p91"/>
          <p:cNvSpPr txBox="1"/>
          <p:nvPr/>
        </p:nvSpPr>
        <p:spPr>
          <a:xfrm>
            <a:off x="6447100" y="2049663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26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7" name="Google Shape;1287;p91"/>
          <p:cNvSpPr txBox="1"/>
          <p:nvPr/>
        </p:nvSpPr>
        <p:spPr>
          <a:xfrm>
            <a:off x="2799775" y="2049663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8" name="Google Shape;1288;p91"/>
          <p:cNvSpPr txBox="1"/>
          <p:nvPr/>
        </p:nvSpPr>
        <p:spPr>
          <a:xfrm>
            <a:off x="4623438" y="2049675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24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9" name="Google Shape;1289;p91"/>
          <p:cNvSpPr txBox="1"/>
          <p:nvPr/>
        </p:nvSpPr>
        <p:spPr>
          <a:xfrm>
            <a:off x="985598" y="2580025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0" name="Google Shape;1290;p91"/>
          <p:cNvSpPr txBox="1"/>
          <p:nvPr/>
        </p:nvSpPr>
        <p:spPr>
          <a:xfrm>
            <a:off x="6446998" y="2589050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1" name="Google Shape;1291;p91"/>
          <p:cNvSpPr txBox="1"/>
          <p:nvPr/>
        </p:nvSpPr>
        <p:spPr>
          <a:xfrm>
            <a:off x="2799673" y="2589050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25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2" name="Google Shape;1292;p91"/>
          <p:cNvSpPr txBox="1"/>
          <p:nvPr/>
        </p:nvSpPr>
        <p:spPr>
          <a:xfrm>
            <a:off x="4623336" y="2589063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27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3" name="Google Shape;1293;p91"/>
          <p:cNvSpPr txBox="1"/>
          <p:nvPr/>
        </p:nvSpPr>
        <p:spPr>
          <a:xfrm>
            <a:off x="985597" y="3089550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4" name="Google Shape;1294;p91"/>
          <p:cNvSpPr txBox="1"/>
          <p:nvPr/>
        </p:nvSpPr>
        <p:spPr>
          <a:xfrm>
            <a:off x="6446997" y="3098575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5" name="Google Shape;1295;p91"/>
          <p:cNvSpPr txBox="1"/>
          <p:nvPr/>
        </p:nvSpPr>
        <p:spPr>
          <a:xfrm>
            <a:off x="2799672" y="3098575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48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6" name="Google Shape;1296;p91"/>
          <p:cNvSpPr txBox="1"/>
          <p:nvPr/>
        </p:nvSpPr>
        <p:spPr>
          <a:xfrm>
            <a:off x="4623334" y="3098588"/>
            <a:ext cx="350700" cy="3387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49</a:t>
            </a:r>
            <a:endParaRPr sz="22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8\times2\ \frac{2}{3}&quot;&gt;&lt;mn&gt;18&lt;/mn&gt;&lt;mo&gt;×&lt;/mo&gt;&lt;mn&gt;2&lt;/mn&gt;&lt;mtext&gt;&lt;/mtext&gt;&lt;mfrac&gt;&lt;mn&gt;2&lt;/mn&gt;&lt;mn&gt;3&lt;/mn&gt;&lt;/mfrac&gt;&lt;/math&gt;" id="1297" name="Google Shape;1297;p91" title="18 times 2 two thirds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936029" y="3041940"/>
            <a:ext cx="713425" cy="425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4}\ \frac{3}{8}\end{array}&quot;&gt;&lt;mtable columnalign=&quot;left&quot; columnspacing=&quot;1em&quot; rowspacing=&quot;4pt&quot;&gt;&lt;mtr&gt;&lt;mtd&gt;&lt;mfrac&gt;&lt;mn&gt;3&lt;/mn&gt;&lt;mn&gt;4&lt;/mn&gt;&lt;/mfrac&gt;&lt;mtext&gt;&lt;/mtext&gt;&lt;mfrac&gt;&lt;mn&gt;3&lt;/mn&gt;&lt;mn&gt;8&lt;/mn&gt;&lt;/mfrac&gt;&lt;/mtd&gt;&lt;/mtr&gt;&lt;/mtable&gt;&lt;/math&gt;" id="1298" name="Google Shape;1298;p91" title="1 lines Line 1: three fourths three eighths"/>
          <p:cNvPicPr preferRelativeResize="0"/>
          <p:nvPr/>
        </p:nvPicPr>
        <p:blipFill rotWithShape="1">
          <a:blip r:embed="rId10">
            <a:alphaModFix/>
          </a:blip>
          <a:srcRect b="0" l="0" r="63665" t="0"/>
          <a:stretch/>
        </p:blipFill>
        <p:spPr>
          <a:xfrm>
            <a:off x="4623450" y="3517175"/>
            <a:ext cx="184975" cy="489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begin{array}{l}\frac{3}{4}\ \frac{3}{8}\end{array}&quot;&gt;&lt;mtable columnalign=&quot;left&quot; columnspacing=&quot;1em&quot; rowspacing=&quot;4pt&quot;&gt;&lt;mtr&gt;&lt;mtd&gt;&lt;mfrac&gt;&lt;mn&gt;3&lt;/mn&gt;&lt;mn&gt;4&lt;/mn&gt;&lt;/mfrac&gt;&lt;mtext&gt;&lt;/mtext&gt;&lt;mfrac&gt;&lt;mn&gt;3&lt;/mn&gt;&lt;mn&gt;8&lt;/mn&gt;&lt;/mfrac&gt;&lt;/mtd&gt;&lt;/mtr&gt;&lt;/mtable&gt;&lt;/math&gt;" id="1299" name="Google Shape;1299;p91" title="1 lines Line 1: three fourths three eighths"/>
          <p:cNvPicPr preferRelativeResize="0"/>
          <p:nvPr/>
        </p:nvPicPr>
        <p:blipFill rotWithShape="1">
          <a:blip r:embed="rId10">
            <a:alphaModFix/>
          </a:blip>
          <a:srcRect b="0" l="63661" r="3" t="0"/>
          <a:stretch/>
        </p:blipFill>
        <p:spPr>
          <a:xfrm>
            <a:off x="2794716" y="3515275"/>
            <a:ext cx="184975" cy="489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begin{array}{l}\frac{3}{4}\ \frac{3}{8}\end{array}&quot;&gt;&lt;mtable columnalign=&quot;left&quot; columnspacing=&quot;1em&quot; rowspacing=&quot;4pt&quot;&gt;&lt;mtr&gt;&lt;mtd&gt;&lt;mfrac&gt;&lt;mn&gt;3&lt;/mn&gt;&lt;mn&gt;4&lt;/mn&gt;&lt;/mfrac&gt;&lt;mtext&gt;&lt;/mtext&gt;&lt;mfrac&gt;&lt;mn&gt;3&lt;/mn&gt;&lt;mn&gt;8&lt;/mn&gt;&lt;/mfrac&gt;&lt;/mtd&gt;&lt;/mtr&gt;&lt;/mtable&gt;&lt;/math&gt;" id="1300" name="Google Shape;1300;p91" title="1 lines Line 1: three fourths three eighths"/>
          <p:cNvPicPr preferRelativeResize="0"/>
          <p:nvPr/>
        </p:nvPicPr>
        <p:blipFill rotWithShape="1">
          <a:blip r:embed="rId10">
            <a:alphaModFix/>
          </a:blip>
          <a:srcRect b="0" l="0" r="63665" t="0"/>
          <a:stretch/>
        </p:blipFill>
        <p:spPr>
          <a:xfrm>
            <a:off x="6447000" y="3521663"/>
            <a:ext cx="184975" cy="489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begin{array}{l}\frac{3}{4}\ \frac{3}{8}\end{array}&quot;&gt;&lt;mtable columnalign=&quot;left&quot; columnspacing=&quot;1em&quot; rowspacing=&quot;4pt&quot;&gt;&lt;mtr&gt;&lt;mtd&gt;&lt;mfrac&gt;&lt;mn&gt;3&lt;/mn&gt;&lt;mn&gt;4&lt;/mn&gt;&lt;/mfrac&gt;&lt;mtext&gt;&lt;/mtext&gt;&lt;mfrac&gt;&lt;mn&gt;3&lt;/mn&gt;&lt;mn&gt;8&lt;/mn&gt;&lt;/mfrac&gt;&lt;/mtd&gt;&lt;/mtr&gt;&lt;/mtable&gt;&lt;/math&gt;" id="1301" name="Google Shape;1301;p91" title="1 lines Line 1: three fourths three eighths"/>
          <p:cNvPicPr preferRelativeResize="0"/>
          <p:nvPr/>
        </p:nvPicPr>
        <p:blipFill rotWithShape="1">
          <a:blip r:embed="rId10">
            <a:alphaModFix/>
          </a:blip>
          <a:srcRect b="0" l="0" r="63665" t="0"/>
          <a:stretch/>
        </p:blipFill>
        <p:spPr>
          <a:xfrm>
            <a:off x="992218" y="3515282"/>
            <a:ext cx="184975" cy="489500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begin{array}{l}1\frac{3}{8}\times\frac{6}{11}\end{array}&quot;&gt;&lt;mtable columnalign=&quot;left&quot; columnspacing=&quot;1em&quot; rowspacing=&quot;4pt&quot;&gt;&lt;mtr&gt;&lt;mtd&gt;&lt;mn&gt;1&lt;/mn&gt;&lt;mfrac&gt;&lt;mn&gt;3&lt;/mn&gt;&lt;mn&gt;8&lt;/mn&gt;&lt;/mfrac&gt;&lt;mo&gt;×&lt;/mo&gt;&lt;mfrac&gt;&lt;mn&gt;6&lt;/mn&gt;&lt;mn&gt;11&lt;/mn&gt;&lt;/mfrac&gt;&lt;/mtd&gt;&lt;/mtr&gt;&lt;/mtable&gt;&lt;/math&gt;" id="1302" name="Google Shape;1302;p91" title="1 lines Line 1: 1 and three eighths times 6 over 11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5010075" y="3551661"/>
            <a:ext cx="953250" cy="4205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11}{16}\times\frac{4}{9}&quot;&gt;&lt;mn&gt;1&lt;/mn&gt;&lt;mtext&gt;&lt;/mtext&gt;&lt;mfrac&gt;&lt;mn&gt;11&lt;/mn&gt;&lt;mn&gt;16&lt;/mn&gt;&lt;/mfrac&gt;&lt;mo&gt;×&lt;/mo&gt;&lt;mfrac&gt;&lt;mn&gt;4&lt;/mn&gt;&lt;mn&gt;9&lt;/mn&gt;&lt;/mfrac&gt;&lt;/math&gt;" id="1303" name="Google Shape;1303;p91" title="1 11 over 16 times four ninths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898538" y="3551963"/>
            <a:ext cx="788400" cy="42889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27}{32}&quot;&gt;&lt;mfrac&gt;&lt;mn&gt;27&lt;/mn&gt;&lt;mn&gt;32&lt;/mn&gt;&lt;/mfrac&gt;&lt;/math&gt;" id="1304" name="Google Shape;1304;p91" title="27 over 3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452493" y="4050261"/>
            <a:ext cx="265715" cy="489475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27}{32}&quot;&gt;&lt;mfrac&gt;&lt;mn&gt;27&lt;/mn&gt;&lt;mn&gt;32&lt;/mn&gt;&lt;/mfrac&gt;&lt;/math&gt;" id="1305" name="Google Shape;1305;p91" title="27 over 3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4603750" y="4065298"/>
            <a:ext cx="265715" cy="489475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27}{32}&quot;&gt;&lt;mfrac&gt;&lt;mn&gt;27&lt;/mn&gt;&lt;mn&gt;32&lt;/mn&gt;&lt;/mfrac&gt;&lt;/math&gt;" id="1306" name="Google Shape;1306;p91" title="27 over 3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2794725" y="4065298"/>
            <a:ext cx="265715" cy="489475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pic>
      <p:pic>
        <p:nvPicPr>
          <p:cNvPr descr="&lt;math xmlns=&quot;http://www.w3.org/1998/Math/MathML&quot; display=&quot;block&quot; data-is-equatio=&quot;1&quot; data-latex=&quot;\frac{29}{32}&quot;&gt;&lt;mfrac&gt;&lt;mn&gt;29&lt;/mn&gt;&lt;mn&gt;32&lt;/mn&gt;&lt;/mfrac&gt;&lt;/math&gt;" id="1307" name="Google Shape;1307;p91" title="29 over 3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992586" y="4047840"/>
            <a:ext cx="265725" cy="492477"/>
          </a:xfrm>
          <a:prstGeom prst="rect">
            <a:avLst/>
          </a:pr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</p:pic>
      <p:sp>
        <p:nvSpPr>
          <p:cNvPr id="1308" name="Google Shape;1308;p91"/>
          <p:cNvSpPr txBox="1"/>
          <p:nvPr/>
        </p:nvSpPr>
        <p:spPr>
          <a:xfrm>
            <a:off x="2534875" y="4140688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9" name="Google Shape;1309;p91"/>
          <p:cNvSpPr txBox="1"/>
          <p:nvPr/>
        </p:nvSpPr>
        <p:spPr>
          <a:xfrm>
            <a:off x="4329025" y="3615515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0" name="Google Shape;1310;p91"/>
          <p:cNvSpPr txBox="1"/>
          <p:nvPr/>
        </p:nvSpPr>
        <p:spPr>
          <a:xfrm>
            <a:off x="6081625" y="3090349"/>
            <a:ext cx="2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1" name="Google Shape;1311;p91"/>
          <p:cNvSpPr txBox="1"/>
          <p:nvPr/>
        </p:nvSpPr>
        <p:spPr>
          <a:xfrm>
            <a:off x="6081625" y="1514825"/>
            <a:ext cx="2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2" name="Google Shape;1312;p91"/>
          <p:cNvSpPr txBox="1"/>
          <p:nvPr/>
        </p:nvSpPr>
        <p:spPr>
          <a:xfrm>
            <a:off x="7960146" y="2039998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3" name="Google Shape;1313;p91"/>
          <p:cNvSpPr txBox="1"/>
          <p:nvPr/>
        </p:nvSpPr>
        <p:spPr>
          <a:xfrm>
            <a:off x="2534875" y="1514825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4" name="Google Shape;1314;p91"/>
          <p:cNvSpPr txBox="1"/>
          <p:nvPr/>
        </p:nvSpPr>
        <p:spPr>
          <a:xfrm>
            <a:off x="4329025" y="1514825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5" name="Google Shape;1315;p91"/>
          <p:cNvSpPr txBox="1"/>
          <p:nvPr/>
        </p:nvSpPr>
        <p:spPr>
          <a:xfrm>
            <a:off x="2534875" y="2039998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6" name="Google Shape;1316;p91"/>
          <p:cNvSpPr txBox="1"/>
          <p:nvPr/>
        </p:nvSpPr>
        <p:spPr>
          <a:xfrm>
            <a:off x="2534875" y="3615515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7" name="Google Shape;1317;p91"/>
          <p:cNvSpPr txBox="1"/>
          <p:nvPr/>
        </p:nvSpPr>
        <p:spPr>
          <a:xfrm>
            <a:off x="2534875" y="3090342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8" name="Google Shape;1318;p91"/>
          <p:cNvSpPr txBox="1"/>
          <p:nvPr/>
        </p:nvSpPr>
        <p:spPr>
          <a:xfrm>
            <a:off x="4329025" y="2039998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19" name="Google Shape;1319;p91"/>
          <p:cNvSpPr txBox="1"/>
          <p:nvPr/>
        </p:nvSpPr>
        <p:spPr>
          <a:xfrm>
            <a:off x="4329025" y="3090342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0" name="Google Shape;1320;p91"/>
          <p:cNvSpPr txBox="1"/>
          <p:nvPr/>
        </p:nvSpPr>
        <p:spPr>
          <a:xfrm>
            <a:off x="4329025" y="4140688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1" name="Google Shape;1321;p91"/>
          <p:cNvSpPr txBox="1"/>
          <p:nvPr/>
        </p:nvSpPr>
        <p:spPr>
          <a:xfrm>
            <a:off x="6081625" y="3615524"/>
            <a:ext cx="2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2" name="Google Shape;1322;p91"/>
          <p:cNvSpPr txBox="1"/>
          <p:nvPr/>
        </p:nvSpPr>
        <p:spPr>
          <a:xfrm>
            <a:off x="6081625" y="2040000"/>
            <a:ext cx="2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Y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3" name="Google Shape;1323;p91"/>
          <p:cNvSpPr txBox="1"/>
          <p:nvPr/>
        </p:nvSpPr>
        <p:spPr>
          <a:xfrm>
            <a:off x="6081625" y="2565174"/>
            <a:ext cx="2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4" name="Google Shape;1324;p91"/>
          <p:cNvSpPr txBox="1"/>
          <p:nvPr/>
        </p:nvSpPr>
        <p:spPr>
          <a:xfrm>
            <a:off x="6081625" y="4140699"/>
            <a:ext cx="265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5" name="Google Shape;1325;p91"/>
          <p:cNvSpPr txBox="1"/>
          <p:nvPr/>
        </p:nvSpPr>
        <p:spPr>
          <a:xfrm>
            <a:off x="7960146" y="3090342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6" name="Google Shape;1326;p91"/>
          <p:cNvSpPr txBox="1"/>
          <p:nvPr/>
        </p:nvSpPr>
        <p:spPr>
          <a:xfrm>
            <a:off x="7960146" y="1514825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7" name="Google Shape;1327;p91"/>
          <p:cNvSpPr txBox="1"/>
          <p:nvPr/>
        </p:nvSpPr>
        <p:spPr>
          <a:xfrm>
            <a:off x="7960146" y="3615515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8" name="Google Shape;1328;p91"/>
          <p:cNvSpPr txBox="1"/>
          <p:nvPr/>
        </p:nvSpPr>
        <p:spPr>
          <a:xfrm>
            <a:off x="7960146" y="2565170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29" name="Google Shape;1329;p91"/>
          <p:cNvSpPr txBox="1"/>
          <p:nvPr/>
        </p:nvSpPr>
        <p:spPr>
          <a:xfrm>
            <a:off x="7960146" y="4140688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0" name="Google Shape;1330;p91"/>
          <p:cNvSpPr/>
          <p:nvPr/>
        </p:nvSpPr>
        <p:spPr>
          <a:xfrm>
            <a:off x="980225" y="4031138"/>
            <a:ext cx="1800600" cy="52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1" name="Google Shape;1331;p91"/>
          <p:cNvSpPr txBox="1"/>
          <p:nvPr/>
        </p:nvSpPr>
        <p:spPr>
          <a:xfrm>
            <a:off x="945675" y="4573275"/>
            <a:ext cx="229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word is PROPER</a:t>
            </a:r>
            <a:endParaRPr sz="2000">
              <a:solidFill>
                <a:schemeClr val="dk1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32" name="Google Shape;1332;p91"/>
          <p:cNvSpPr txBox="1"/>
          <p:nvPr/>
        </p:nvSpPr>
        <p:spPr>
          <a:xfrm>
            <a:off x="4350300" y="2565170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3" name="Google Shape;1333;p91"/>
          <p:cNvSpPr txBox="1"/>
          <p:nvPr/>
        </p:nvSpPr>
        <p:spPr>
          <a:xfrm>
            <a:off x="2507950" y="2565170"/>
            <a:ext cx="185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three eighths times 48 two ninths times 81 two thirds of 24 6 over 13 times 39&#10;&#10;&lt;math xmlns=&quot;http://www.w3.org/1998/Math/MathML&quot; display=&quot;block&quot; data-is-equatio=&quot;1&quot; data-latex=&quot;\frac{3}{8}\times48\ \ \frac{2}{9}\times81\ \ \frac{2}{3}\ \text{of}\ 24\ \ \frac{6}{13}\times39&quot;&gt;&lt;mfrac&gt;&lt;mn&gt;3&lt;/mn&gt;&lt;mn&gt;8&lt;/mn&gt;&lt;/mfrac&gt;&lt;mo&gt;×&lt;/mo&gt;&lt;mn&gt;48&lt;/mn&gt;&lt;mtext&gt;&lt;/mtext&gt;&lt;mtext&gt;&lt;/mtext&gt;&lt;mfrac&gt;&lt;mn&gt;2&lt;/mn&gt;&lt;mn&gt;9&lt;/mn&gt;&lt;/mfrac&gt;&lt;mo&gt;×&lt;/mo&gt;&lt;mn&gt;81&lt;/mn&gt;&lt;mtext&gt;&lt;/mtext&gt;&lt;mtext&gt;&lt;/mtext&gt;&lt;mfrac&gt;&lt;mn&gt;2&lt;/mn&gt;&lt;mn&gt;3&lt;/mn&gt;&lt;/mfrac&gt;&lt;mtext&gt;&lt;/mtext&gt;&lt;mtext&gt;of&lt;/mtext&gt;&lt;mtext&gt;&lt;/mtext&gt;&lt;mn&gt;24&lt;/mn&gt;&lt;mtext&gt;&lt;/mtext&gt;&lt;mtext&gt;&lt;/mtext&gt;&lt;mfrac&gt;&lt;mn&gt;6&lt;/mn&gt;&lt;mn&gt;13&lt;/mn&gt;&lt;/mfrac&gt;&lt;mo&gt;×&lt;/mo&gt;&lt;mn&gt;39&lt;/mn&gt;&lt;/math&gt;" id="1334" name="Google Shape;1334;p91"/>
          <p:cNvPicPr preferRelativeResize="0"/>
          <p:nvPr/>
        </p:nvPicPr>
        <p:blipFill rotWithShape="1">
          <a:blip r:embed="rId15">
            <a:alphaModFix/>
          </a:blip>
          <a:srcRect b="0" l="48617" r="27893" t="0"/>
          <a:stretch/>
        </p:blipFill>
        <p:spPr>
          <a:xfrm>
            <a:off x="5131609" y="1421589"/>
            <a:ext cx="788399" cy="50817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x sevenths times 28 8 over 11 of 33 four fifths of 30 13 over 15 times 30&#10;&#10;&lt;math xmlns=&quot;http://www.w3.org/1998/Math/MathML&quot; display=&quot;block&quot; data-is-equatio=&quot;1&quot; data-latex=&quot;\frac{6}{7}\times28\ \ \frac{8}{11}\ \text{of}\ 33\ \ \frac{4}{5}\ \text{of}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text&gt;of&lt;/mtext&gt;&lt;mtext&gt;&lt;/mtext&gt;&lt;mn&gt;33&lt;/mn&gt;&lt;mtext&gt;&lt;/mtext&gt;&lt;mtext&gt;&lt;/mtext&gt;&lt;mfrac&gt;&lt;mn&gt;4&lt;/mn&gt;&lt;mn&gt;5&lt;/mn&gt;&lt;/mfrac&gt;&lt;mtext&gt;&lt;/mtext&gt;&lt;mtext&gt;of&lt;/mtext&gt;&lt;mtext&gt;&lt;/mtext&gt;&lt;mn&gt;30&lt;/mn&gt;&lt;mtext&gt;&lt;/mtext&gt;&lt;mtext&gt;&lt;/mtext&gt;&lt;mfrac&gt;&lt;mn&gt;13&lt;/mn&gt;&lt;mn&gt;15&lt;/mn&gt;&lt;/mfrac&gt;&lt;mo&gt;×&lt;/mo&gt;&lt;mn&gt;30&lt;/mn&gt;&lt;/math&gt;" id="1335" name="Google Shape;1335;p91"/>
          <p:cNvPicPr preferRelativeResize="0"/>
          <p:nvPr/>
        </p:nvPicPr>
        <p:blipFill rotWithShape="1">
          <a:blip r:embed="rId16">
            <a:alphaModFix/>
          </a:blip>
          <a:srcRect b="0" l="50865" r="25332" t="0"/>
          <a:stretch/>
        </p:blipFill>
        <p:spPr>
          <a:xfrm>
            <a:off x="5118649" y="1947925"/>
            <a:ext cx="846649" cy="50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six sevenths times 28 8 over 11 of 33 four fifths of 30 13 over 15 times 30&#10;&#10;&lt;math xmlns=&quot;http://www.w3.org/1998/Math/MathML&quot; display=&quot;block&quot; data-is-equatio=&quot;1&quot; data-latex=&quot;\frac{6}{7}\times28\ \ \frac{8}{11}\ \text{of}\ 33\ \ \frac{4}{5}\ \text{of}\ 30\ \ \frac{13}{15}\times30&quot;&gt;&lt;mfrac&gt;&lt;mn&gt;6&lt;/mn&gt;&lt;mn&gt;7&lt;/mn&gt;&lt;/mfrac&gt;&lt;mo&gt;×&lt;/mo&gt;&lt;mn&gt;28&lt;/mn&gt;&lt;mtext&gt;&lt;/mtext&gt;&lt;mtext&gt;&lt;/mtext&gt;&lt;mfrac&gt;&lt;mn&gt;8&lt;/mn&gt;&lt;mn&gt;11&lt;/mn&gt;&lt;/mfrac&gt;&lt;mtext&gt;&lt;/mtext&gt;&lt;mtext&gt;of&lt;/mtext&gt;&lt;mtext&gt;&lt;/mtext&gt;&lt;mn&gt;33&lt;/mn&gt;&lt;mtext&gt;&lt;/mtext&gt;&lt;mtext&gt;&lt;/mtext&gt;&lt;mfrac&gt;&lt;mn&gt;4&lt;/mn&gt;&lt;mn&gt;5&lt;/mn&gt;&lt;/mfrac&gt;&lt;mtext&gt;&lt;/mtext&gt;&lt;mtext&gt;of&lt;/mtext&gt;&lt;mtext&gt;&lt;/mtext&gt;&lt;mn&gt;30&lt;/mn&gt;&lt;mtext&gt;&lt;/mtext&gt;&lt;mtext&gt;&lt;/mtext&gt;&lt;mfrac&gt;&lt;mn&gt;13&lt;/mn&gt;&lt;mn&gt;15&lt;/mn&gt;&lt;/mfrac&gt;&lt;mo&gt;×&lt;/mo&gt;&lt;mn&gt;30&lt;/mn&gt;&lt;/math&gt;" id="1336" name="Google Shape;1336;p91"/>
          <p:cNvPicPr preferRelativeResize="0"/>
          <p:nvPr/>
        </p:nvPicPr>
        <p:blipFill rotWithShape="1">
          <a:blip r:embed="rId16">
            <a:alphaModFix/>
          </a:blip>
          <a:srcRect b="0" l="22521" r="50679" t="0"/>
          <a:stretch/>
        </p:blipFill>
        <p:spPr>
          <a:xfrm>
            <a:off x="3218450" y="1950488"/>
            <a:ext cx="953250" cy="50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 over 13 times 39 5 over 12 of 60 three tenths of 90 nine eighths times 24&#10;&#10;&lt;math xmlns=&quot;http://www.w3.org/1998/Math/MathML&quot; display=&quot;block&quot; data-is-equatio=&quot;1&quot; data-latex=&quot;\frac{9}{13}\times39\ \ \frac{5}{12}\ \text{of}\ 60\ \ \frac{3}{10}\ \text{of}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text&gt;of&lt;/mtext&gt;&lt;mtext&gt;&lt;/mtext&gt;&lt;mn&gt;60&lt;/mn&gt;&lt;mtext&gt;&lt;/mtext&gt;&lt;mtext&gt;&lt;/mtext&gt;&lt;mfrac&gt;&lt;mn&gt;3&lt;/mn&gt;&lt;mn&gt;10&lt;/mn&gt;&lt;/mfrac&gt;&lt;mtext&gt;&lt;/mtext&gt;&lt;mtext&gt;of&lt;/mtext&gt;&lt;mtext&gt;&lt;/mtext&gt;&lt;mn&gt;90&lt;/mn&gt;&lt;mtext&gt;&lt;/mtext&gt;&lt;mtext&gt;&lt;/mtext&gt;&lt;mfrac&gt;&lt;mn&gt;9&lt;/mn&gt;&lt;mn&gt;8&lt;/mn&gt;&lt;/mfrac&gt;&lt;mo&gt;×&lt;/mo&gt;&lt;mn&gt;24&lt;/mn&gt;&lt;/math&gt;" id="1337" name="Google Shape;1337;p91"/>
          <p:cNvPicPr preferRelativeResize="0"/>
          <p:nvPr/>
        </p:nvPicPr>
        <p:blipFill rotWithShape="1">
          <a:blip r:embed="rId17">
            <a:alphaModFix/>
          </a:blip>
          <a:srcRect b="0" l="24962" r="48975" t="0"/>
          <a:stretch/>
        </p:blipFill>
        <p:spPr>
          <a:xfrm>
            <a:off x="3218754" y="2464566"/>
            <a:ext cx="953249" cy="50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9 over 13 times 39 5 over 12 of 60 three tenths of 90 nine eighths times 24&#10;&#10;&lt;math xmlns=&quot;http://www.w3.org/1998/Math/MathML&quot; display=&quot;block&quot; data-is-equatio=&quot;1&quot; data-latex=&quot;\frac{9}{13}\times39\ \ \frac{5}{12}\ \text{of}\ 60\ \ \frac{3}{10}\ \text{of}\ 90\ \ \frac{9}{8}\times24&quot;&gt;&lt;mfrac&gt;&lt;mn&gt;9&lt;/mn&gt;&lt;mn&gt;13&lt;/mn&gt;&lt;/mfrac&gt;&lt;mo&gt;×&lt;/mo&gt;&lt;mn&gt;39&lt;/mn&gt;&lt;mtext&gt;&lt;/mtext&gt;&lt;mtext&gt;&lt;/mtext&gt;&lt;mfrac&gt;&lt;mn&gt;5&lt;/mn&gt;&lt;mn&gt;12&lt;/mn&gt;&lt;/mfrac&gt;&lt;mtext&gt;&lt;/mtext&gt;&lt;mtext&gt;of&lt;/mtext&gt;&lt;mtext&gt;&lt;/mtext&gt;&lt;mn&gt;60&lt;/mn&gt;&lt;mtext&gt;&lt;/mtext&gt;&lt;mtext&gt;&lt;/mtext&gt;&lt;mfrac&gt;&lt;mn&gt;3&lt;/mn&gt;&lt;mn&gt;10&lt;/mn&gt;&lt;/mfrac&gt;&lt;mtext&gt;&lt;/mtext&gt;&lt;mtext&gt;of&lt;/mtext&gt;&lt;mtext&gt;&lt;/mtext&gt;&lt;mn&gt;90&lt;/mn&gt;&lt;mtext&gt;&lt;/mtext&gt;&lt;mtext&gt;&lt;/mtext&gt;&lt;mfrac&gt;&lt;mn&gt;9&lt;/mn&gt;&lt;mn&gt;8&lt;/mn&gt;&lt;/mfrac&gt;&lt;mo&gt;×&lt;/mo&gt;&lt;mn&gt;24&lt;/mn&gt;&lt;/math&gt;" id="1338" name="Google Shape;1338;p91"/>
          <p:cNvPicPr preferRelativeResize="0"/>
          <p:nvPr/>
        </p:nvPicPr>
        <p:blipFill rotWithShape="1">
          <a:blip r:embed="rId17">
            <a:alphaModFix/>
          </a:blip>
          <a:srcRect b="0" l="52942" r="20995" t="0"/>
          <a:stretch/>
        </p:blipFill>
        <p:spPr>
          <a:xfrm>
            <a:off x="5020095" y="2470846"/>
            <a:ext cx="953249" cy="50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 one half times 32 1 one fifth of 40 1 two fifths of 35 48 times 2 two thirds&#10;&#10;&lt;math xmlns=&quot;http://www.w3.org/1998/Math/MathML&quot; display=&quot;block&quot; data-is-equatio=&quot;1&quot; data-latex=&quot;1\ \frac{1}{2}\times32\ \ 1\ \frac{1}{5}\ \text{of}\ 40\ \ 1\ \frac{2}{5}\ \text{of}\ 35\ \ 48\times2\ \frac{2}{3}&quot;&gt;&lt;mn&gt;1&lt;/mn&gt;&lt;mtext&gt;&lt;/mtext&gt;&lt;mfrac&gt;&lt;mn&gt;1&lt;/mn&gt;&lt;mn&gt;2&lt;/mn&gt;&lt;/mfrac&gt;&lt;mo&gt;×&lt;/mo&gt;&lt;mn&gt;32&lt;/mn&gt;&lt;mtext&gt;&lt;/mtext&gt;&lt;mtext&gt;&lt;/mtext&gt;&lt;mn&gt;1&lt;/mn&gt;&lt;mtext&gt;&lt;/mtext&gt;&lt;mfrac&gt;&lt;mn&gt;1&lt;/mn&gt;&lt;mn&gt;5&lt;/mn&gt;&lt;/mfrac&gt;&lt;mtext&gt;&lt;/mtext&gt;&lt;mtext&gt;of&lt;/mtext&gt;&lt;mtext&gt;&lt;/mtext&gt;&lt;mn&gt;40&lt;/mn&gt;&lt;mtext&gt;&lt;/mtext&gt;&lt;mtext&gt;&lt;/mtext&gt;&lt;mn&gt;1&lt;/mn&gt;&lt;mtext&gt;&lt;/mtext&gt;&lt;mfrac&gt;&lt;mn&gt;2&lt;/mn&gt;&lt;mn&gt;5&lt;/mn&gt;&lt;/mfrac&gt;&lt;mtext&gt;&lt;/mtext&gt;&lt;mtext&gt;of&lt;/mtext&gt;&lt;mtext&gt;&lt;/mtext&gt;&lt;mn&gt;35&lt;/mn&gt;&lt;mtext&gt;&lt;/mtext&gt;&lt;mtext&gt;&lt;/mtext&gt;&lt;mn&gt;48&lt;/mn&gt;&lt;mo&gt;×&lt;/mo&gt;&lt;mn&gt;2&lt;/mn&gt;&lt;mtext&gt;&lt;/mtext&gt;&lt;mfrac&gt;&lt;mn&gt;2&lt;/mn&gt;&lt;mn&gt;3&lt;/mn&gt;&lt;/mfrac&gt;&lt;/math&gt;" id="1339" name="Google Shape;1339;p91"/>
          <p:cNvPicPr preferRelativeResize="0"/>
          <p:nvPr/>
        </p:nvPicPr>
        <p:blipFill rotWithShape="1">
          <a:blip r:embed="rId18">
            <a:alphaModFix/>
          </a:blip>
          <a:srcRect b="0" l="24215" r="51109" t="0"/>
          <a:stretch/>
        </p:blipFill>
        <p:spPr>
          <a:xfrm>
            <a:off x="3152624" y="2994966"/>
            <a:ext cx="987976" cy="50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 one half times 32 1 one fifth of 40 1 two fifths of 35 48 times 2 two thirds&#10;&#10;&lt;math xmlns=&quot;http://www.w3.org/1998/Math/MathML&quot; display=&quot;block&quot; data-is-equatio=&quot;1&quot; data-latex=&quot;1\ \frac{1}{2}\times32\ \ 1\ \frac{1}{5}\ \text{of}\ 40\ \ 1\ \frac{2}{5}\ \text{of}\ 35\ \ 48\times2\ \frac{2}{3}&quot;&gt;&lt;mn&gt;1&lt;/mn&gt;&lt;mtext&gt;&lt;/mtext&gt;&lt;mfrac&gt;&lt;mn&gt;1&lt;/mn&gt;&lt;mn&gt;2&lt;/mn&gt;&lt;/mfrac&gt;&lt;mo&gt;×&lt;/mo&gt;&lt;mn&gt;32&lt;/mn&gt;&lt;mtext&gt;&lt;/mtext&gt;&lt;mtext&gt;&lt;/mtext&gt;&lt;mn&gt;1&lt;/mn&gt;&lt;mtext&gt;&lt;/mtext&gt;&lt;mfrac&gt;&lt;mn&gt;1&lt;/mn&gt;&lt;mn&gt;5&lt;/mn&gt;&lt;/mfrac&gt;&lt;mtext&gt;&lt;/mtext&gt;&lt;mtext&gt;of&lt;/mtext&gt;&lt;mtext&gt;&lt;/mtext&gt;&lt;mn&gt;40&lt;/mn&gt;&lt;mtext&gt;&lt;/mtext&gt;&lt;mtext&gt;&lt;/mtext&gt;&lt;mn&gt;1&lt;/mn&gt;&lt;mtext&gt;&lt;/mtext&gt;&lt;mfrac&gt;&lt;mn&gt;2&lt;/mn&gt;&lt;mn&gt;5&lt;/mn&gt;&lt;/mfrac&gt;&lt;mtext&gt;&lt;/mtext&gt;&lt;mtext&gt;of&lt;/mtext&gt;&lt;mtext&gt;&lt;/mtext&gt;&lt;mn&gt;35&lt;/mn&gt;&lt;mtext&gt;&lt;/mtext&gt;&lt;mtext&gt;&lt;/mtext&gt;&lt;mn&gt;48&lt;/mn&gt;&lt;mo&gt;×&lt;/mo&gt;&lt;mn&gt;2&lt;/mn&gt;&lt;mtext&gt;&lt;/mtext&gt;&lt;mfrac&gt;&lt;mn&gt;2&lt;/mn&gt;&lt;mn&gt;3&lt;/mn&gt;&lt;/mfrac&gt;&lt;/math&gt;" id="1340" name="Google Shape;1340;p91"/>
          <p:cNvPicPr preferRelativeResize="0"/>
          <p:nvPr/>
        </p:nvPicPr>
        <p:blipFill rotWithShape="1">
          <a:blip r:embed="rId18">
            <a:alphaModFix/>
          </a:blip>
          <a:srcRect b="0" l="51151" r="24174" t="0"/>
          <a:stretch/>
        </p:blipFill>
        <p:spPr>
          <a:xfrm>
            <a:off x="4942403" y="2992387"/>
            <a:ext cx="987976" cy="508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1 lines Line 1: four fifths of 15 over 32&#10;&#10;&lt;math xmlns=&quot;http://www.w3.org/1998/Math/MathML&quot; display=&quot;block&quot; data-is-equatio=&quot;1&quot; data-latex=&quot;\begin{array}{l}\frac{4}{5}\ \text{of}\ \frac{15}{32}\ \ \end{array}&quot;&gt;&lt;mtable columnalign=&quot;left&quot; columnspacing=&quot;1em&quot; rowspacing=&quot;4pt&quot;&gt;&lt;mtr&gt;&lt;mtd&gt;&lt;mfrac&gt;&lt;mn&gt;4&lt;/mn&gt;&lt;mn&gt;5&lt;/mn&gt;&lt;/mfrac&gt;&lt;mtext&gt;&lt;/mtext&gt;&lt;mtext&gt;of&lt;/mtext&gt;&lt;mtext&gt;&lt;/mtext&gt;&lt;mfrac&gt;&lt;mn&gt;15&lt;/mn&gt;&lt;mn&gt;32&lt;/mn&gt;&lt;/mfrac&gt;&lt;mtext&gt;&lt;/mtext&gt;&lt;mtext&gt;&lt;/mtext&gt;&lt;/mtd&gt;&lt;/mtr&gt;&lt;/mtable&gt;&lt;/math&gt;" id="1341" name="Google Shape;1341;p91"/>
          <p:cNvPicPr preferRelativeResize="0"/>
          <p:nvPr/>
        </p:nvPicPr>
        <p:blipFill>
          <a:blip r:embed="rId19">
            <a:alphaModFix/>
          </a:blip>
          <a:stretch>
            <a:fillRect/>
          </a:stretch>
        </p:blipFill>
        <p:spPr>
          <a:xfrm>
            <a:off x="3412783" y="3600292"/>
            <a:ext cx="713425" cy="34653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ree fourths times 1 one eighth one fifth of 4 7 over 32 one half of 1 11 over 16 3 and five eighths times one fourth&#10;&#10;&lt;math xmlns=&quot;http://www.w3.org/1998/Math/MathML&quot; display=&quot;block&quot; data-is-equatio=&quot;1&quot; data-latex=&quot;\frac{3}{4}\times1\ \frac{1}{8}\ \ \frac{1}{5}\ \text{of}\ 4\ \frac{7}{32}\ \ \frac{1}{2}\ \text{of}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text&gt;of&lt;/mtext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text&gt;of&lt;/mtext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1342" name="Google Shape;1342;p91"/>
          <p:cNvPicPr preferRelativeResize="0"/>
          <p:nvPr/>
        </p:nvPicPr>
        <p:blipFill rotWithShape="1">
          <a:blip r:embed="rId20">
            <a:alphaModFix/>
          </a:blip>
          <a:srcRect b="0" l="23684" r="49935" t="0"/>
          <a:stretch/>
        </p:blipFill>
        <p:spPr>
          <a:xfrm>
            <a:off x="3352479" y="4036537"/>
            <a:ext cx="1063400" cy="50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hree fourths times 1 one eighth one fifth of 4 7 over 32 one half of 1 11 over 16 3 and five eighths times one fourth&#10;&#10;&lt;math xmlns=&quot;http://www.w3.org/1998/Math/MathML&quot; display=&quot;block&quot; data-is-equatio=&quot;1&quot; data-latex=&quot;\frac{3}{4}\times1\ \frac{1}{8}\ \ \frac{1}{5}\ \text{of}\ 4\ \frac{7}{32}\ \ \frac{1}{2}\ \text{of}\ 1\ \frac{11}{16}\ \ 3\frac{5}{8}\times\frac{1}{4}&quot;&gt;&lt;mfrac&gt;&lt;mn&gt;3&lt;/mn&gt;&lt;mn&gt;4&lt;/mn&gt;&lt;/mfrac&gt;&lt;mo&gt;×&lt;/mo&gt;&lt;mn&gt;1&lt;/mn&gt;&lt;mtext&gt;&lt;/mtext&gt;&lt;mfrac&gt;&lt;mn&gt;1&lt;/mn&gt;&lt;mn&gt;8&lt;/mn&gt;&lt;/mfrac&gt;&lt;mtext&gt;&lt;/mtext&gt;&lt;mtext&gt;&lt;/mtext&gt;&lt;mfrac&gt;&lt;mn&gt;1&lt;/mn&gt;&lt;mn&gt;5&lt;/mn&gt;&lt;/mfrac&gt;&lt;mtext&gt;&lt;/mtext&gt;&lt;mtext&gt;of&lt;/mtext&gt;&lt;mtext&gt;&lt;/mtext&gt;&lt;mn&gt;4&lt;/mn&gt;&lt;mtext&gt;&lt;/mtext&gt;&lt;mfrac&gt;&lt;mn&gt;7&lt;/mn&gt;&lt;mn&gt;32&lt;/mn&gt;&lt;/mfrac&gt;&lt;mtext&gt;&lt;/mtext&gt;&lt;mtext&gt;&lt;/mtext&gt;&lt;mfrac&gt;&lt;mn&gt;1&lt;/mn&gt;&lt;mn&gt;2&lt;/mn&gt;&lt;/mfrac&gt;&lt;mtext&gt;&lt;/mtext&gt;&lt;mtext&gt;of&lt;/mtext&gt;&lt;mtext&gt;&lt;/mtext&gt;&lt;mn&gt;1&lt;/mn&gt;&lt;mtext&gt;&lt;/mtext&gt;&lt;mfrac&gt;&lt;mn&gt;11&lt;/mn&gt;&lt;mn&gt;16&lt;/mn&gt;&lt;/mfrac&gt;&lt;mtext&gt;&lt;/mtext&gt;&lt;mtext&gt;&lt;/mtext&gt;&lt;mn&gt;3&lt;/mn&gt;&lt;mfrac&gt;&lt;mn&gt;5&lt;/mn&gt;&lt;mn&gt;8&lt;/mn&gt;&lt;/mfrac&gt;&lt;mo&gt;×&lt;/mo&gt;&lt;mfrac&gt;&lt;mn&gt;1&lt;/mn&gt;&lt;mn&gt;4&lt;/mn&gt;&lt;/mfrac&gt;&lt;/math&gt;" id="1343" name="Google Shape;1343;p91"/>
          <p:cNvPicPr preferRelativeResize="0"/>
          <p:nvPr/>
        </p:nvPicPr>
        <p:blipFill rotWithShape="1">
          <a:blip r:embed="rId20">
            <a:alphaModFix/>
          </a:blip>
          <a:srcRect b="0" l="51528" r="20534" t="0"/>
          <a:stretch/>
        </p:blipFill>
        <p:spPr>
          <a:xfrm>
            <a:off x="5112138" y="4040307"/>
            <a:ext cx="1126201" cy="508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4" name="Google Shape;1344;p91"/>
          <p:cNvSpPr/>
          <p:nvPr/>
        </p:nvSpPr>
        <p:spPr>
          <a:xfrm>
            <a:off x="2778858" y="3497738"/>
            <a:ext cx="1800600" cy="522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92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a bar model to find fractions of amounts</a:t>
            </a:r>
            <a:endParaRPr/>
          </a:p>
        </p:txBody>
      </p:sp>
      <p:sp>
        <p:nvSpPr>
          <p:cNvPr id="1350" name="Google Shape;1350;p92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of amounts as multiplication</a:t>
            </a:r>
            <a:endParaRPr/>
          </a:p>
        </p:txBody>
      </p:sp>
      <p:sp>
        <p:nvSpPr>
          <p:cNvPr id="1351" name="Google Shape;1351;p92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 </a:t>
            </a:r>
            <a:endParaRPr/>
          </a:p>
        </p:txBody>
      </p:sp>
      <p:sp>
        <p:nvSpPr>
          <p:cNvPr id="1352" name="Google Shape;1352;p92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finding a fraction of a given amount</a:t>
            </a:r>
            <a:endParaRPr/>
          </a:p>
        </p:txBody>
      </p:sp>
      <p:pic>
        <p:nvPicPr>
          <p:cNvPr id="1353" name="Google Shape;1353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825" y="37004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7" name="Shape 1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8" name="Google Shape;1358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359" name="Google Shape;1359;p93"/>
          <p:cNvSpPr txBox="1"/>
          <p:nvPr>
            <p:ph idx="1" type="body"/>
          </p:nvPr>
        </p:nvSpPr>
        <p:spPr>
          <a:xfrm>
            <a:off x="324000" y="580421"/>
            <a:ext cx="54504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would a bar model look like for calculating: 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1\ \frac{4}{5}\ \ \ \ \ \ 30&quot;&gt;&lt;mn&gt;1&lt;/mn&gt;&lt;mtext&gt;&lt;/mtext&gt;&lt;mfrac&gt;&lt;mn&gt;4&lt;/mn&gt;&lt;mn&gt;5&lt;/mn&gt;&lt;/mfrac&gt;&lt;mtext&gt;&lt;/mtext&gt;&lt;mtext&gt;&lt;/mtext&gt;&lt;mtext&gt;&lt;/mtext&gt;&lt;mtext&gt;&lt;/mtext&gt;&lt;mtext&gt;&lt;/mtext&gt;&lt;mtext&gt;&lt;/mtext&gt;&lt;mn&gt;30&lt;/mn&gt;&lt;/math&gt;" id="1360" name="Google Shape;1360;p93" title="1 four fifths 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4000" y="908550"/>
            <a:ext cx="985095" cy="5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61" name="Google Shape;1361;p93"/>
          <p:cNvSpPr txBox="1"/>
          <p:nvPr>
            <p:ph idx="1" type="body"/>
          </p:nvPr>
        </p:nvSpPr>
        <p:spPr>
          <a:xfrm>
            <a:off x="784579" y="1026086"/>
            <a:ext cx="34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of</a:t>
            </a:r>
            <a:r>
              <a:rPr lang="en-GB" sz="1800"/>
              <a:t> </a:t>
            </a:r>
            <a:endParaRPr sz="1800"/>
          </a:p>
        </p:txBody>
      </p:sp>
      <p:graphicFrame>
        <p:nvGraphicFramePr>
          <p:cNvPr id="1362" name="Google Shape;1362;p93"/>
          <p:cNvGraphicFramePr/>
          <p:nvPr/>
        </p:nvGraphicFramePr>
        <p:xfrm>
          <a:off x="900100" y="1682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766800"/>
                <a:gridCol w="766800"/>
                <a:gridCol w="766800"/>
                <a:gridCol w="766800"/>
                <a:gridCol w="766800"/>
              </a:tblGrid>
              <a:tr h="44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>
                        <a:alpha val="5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363" name="Google Shape;1363;p93"/>
          <p:cNvSpPr/>
          <p:nvPr/>
        </p:nvSpPr>
        <p:spPr>
          <a:xfrm rot="5400000">
            <a:off x="2768100" y="-314975"/>
            <a:ext cx="96300" cy="3832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4" name="Google Shape;1364;p93"/>
          <p:cNvSpPr/>
          <p:nvPr/>
        </p:nvSpPr>
        <p:spPr>
          <a:xfrm rot="-5400000">
            <a:off x="2771100" y="284550"/>
            <a:ext cx="96300" cy="38394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5" name="Google Shape;1365;p93"/>
          <p:cNvSpPr txBox="1"/>
          <p:nvPr>
            <p:ph idx="1" type="body"/>
          </p:nvPr>
        </p:nvSpPr>
        <p:spPr>
          <a:xfrm>
            <a:off x="2801248" y="1093200"/>
            <a:ext cx="34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30</a:t>
            </a:r>
            <a:r>
              <a:rPr lang="en-GB"/>
              <a:t> </a:t>
            </a:r>
            <a:endParaRPr/>
          </a:p>
        </p:txBody>
      </p:sp>
      <p:graphicFrame>
        <p:nvGraphicFramePr>
          <p:cNvPr id="1366" name="Google Shape;1366;p93"/>
          <p:cNvGraphicFramePr/>
          <p:nvPr/>
        </p:nvGraphicFramePr>
        <p:xfrm>
          <a:off x="4734100" y="16824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{F2D834B9-7BFA-4707-AC7B-FC520A62E823}</a:tableStyleId>
              </a:tblPr>
              <a:tblGrid>
                <a:gridCol w="766800"/>
                <a:gridCol w="766800"/>
                <a:gridCol w="766800"/>
                <a:gridCol w="766800"/>
                <a:gridCol w="766800"/>
              </a:tblGrid>
              <a:tr h="440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74CF1">
                        <a:alpha val="5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0" marB="0" marR="0" marL="0">
                    <a:lnL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38100">
                      <a:solidFill>
                        <a:schemeClr val="accen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7" name="Google Shape;1367;p93"/>
          <p:cNvSpPr/>
          <p:nvPr/>
        </p:nvSpPr>
        <p:spPr>
          <a:xfrm rot="-5400000">
            <a:off x="6225150" y="669903"/>
            <a:ext cx="96300" cy="30687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8" name="Google Shape;1368;p93"/>
          <p:cNvSpPr txBox="1"/>
          <p:nvPr>
            <p:ph idx="1" type="body"/>
          </p:nvPr>
        </p:nvSpPr>
        <p:spPr>
          <a:xfrm>
            <a:off x="2812805" y="2389025"/>
            <a:ext cx="148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1</a:t>
            </a:r>
            <a:r>
              <a:rPr lang="en-GB"/>
              <a:t> </a:t>
            </a:r>
            <a:endParaRPr/>
          </a:p>
        </p:txBody>
      </p:sp>
      <p:sp>
        <p:nvSpPr>
          <p:cNvPr id="1369" name="Google Shape;1369;p93"/>
          <p:cNvSpPr/>
          <p:nvPr/>
        </p:nvSpPr>
        <p:spPr>
          <a:xfrm rot="5400000">
            <a:off x="6602950" y="-314975"/>
            <a:ext cx="96300" cy="3832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0" name="Google Shape;1370;p93"/>
          <p:cNvSpPr txBox="1"/>
          <p:nvPr>
            <p:ph idx="1" type="body"/>
          </p:nvPr>
        </p:nvSpPr>
        <p:spPr>
          <a:xfrm>
            <a:off x="6636098" y="1060100"/>
            <a:ext cx="34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30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 \frac{4}{5}\ \ \ \ \ \ 30&quot;&gt;&lt;mn&gt;1&lt;/mn&gt;&lt;mtext&gt;&lt;/mtext&gt;&lt;mfrac&gt;&lt;mn&gt;4&lt;/mn&gt;&lt;mn&gt;5&lt;/mn&gt;&lt;/mfrac&gt;&lt;mtext&gt;&lt;/mtext&gt;&lt;mtext&gt;&lt;/mtext&gt;&lt;mtext&gt;&lt;/mtext&gt;&lt;mtext&gt;&lt;/mtext&gt;&lt;mtext&gt;&lt;/mtext&gt;&lt;mtext&gt;&lt;/mtext&gt;&lt;mn&gt;30&lt;/mn&gt;&lt;/math&gt;" id="1371" name="Google Shape;1371;p93" title="1 four fifths 30"/>
          <p:cNvPicPr preferRelativeResize="0"/>
          <p:nvPr/>
        </p:nvPicPr>
        <p:blipFill rotWithShape="1">
          <a:blip r:embed="rId3">
            <a:alphaModFix/>
          </a:blip>
          <a:srcRect b="0" l="16728" r="62316" t="0"/>
          <a:stretch/>
        </p:blipFill>
        <p:spPr>
          <a:xfrm>
            <a:off x="6170085" y="2303163"/>
            <a:ext cx="206425" cy="51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72" name="Google Shape;1372;p93"/>
          <p:cNvSpPr txBox="1"/>
          <p:nvPr>
            <p:ph idx="1" type="body"/>
          </p:nvPr>
        </p:nvSpPr>
        <p:spPr>
          <a:xfrm>
            <a:off x="6466525" y="2348475"/>
            <a:ext cx="23535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30 ÷ 5 × 4 = 6 × 4 = 24 </a:t>
            </a:r>
            <a:endParaRPr sz="1800"/>
          </a:p>
        </p:txBody>
      </p:sp>
      <p:sp>
        <p:nvSpPr>
          <p:cNvPr id="1373" name="Google Shape;1373;p93"/>
          <p:cNvSpPr/>
          <p:nvPr/>
        </p:nvSpPr>
        <p:spPr>
          <a:xfrm rot="-5400000">
            <a:off x="4305450" y="-651345"/>
            <a:ext cx="83400" cy="6940200"/>
          </a:xfrm>
          <a:prstGeom prst="leftBracket">
            <a:avLst>
              <a:gd fmla="val 0" name="adj"/>
            </a:avLst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4" name="Google Shape;1374;p93"/>
          <p:cNvSpPr txBox="1"/>
          <p:nvPr>
            <p:ph idx="1" type="body"/>
          </p:nvPr>
        </p:nvSpPr>
        <p:spPr>
          <a:xfrm>
            <a:off x="3422098" y="2837771"/>
            <a:ext cx="16413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30 + 24 = 54 </a:t>
            </a:r>
            <a:endParaRPr/>
          </a:p>
        </p:txBody>
      </p:sp>
      <p:pic>
        <p:nvPicPr>
          <p:cNvPr id="1375" name="Google Shape;1375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801753" y="3737725"/>
            <a:ext cx="798316" cy="896106"/>
          </a:xfrm>
          <a:prstGeom prst="rect">
            <a:avLst/>
          </a:prstGeom>
          <a:noFill/>
          <a:ln>
            <a:noFill/>
          </a:ln>
        </p:spPr>
      </p:pic>
      <p:sp>
        <p:nvSpPr>
          <p:cNvPr id="1376" name="Google Shape;1376;p93"/>
          <p:cNvSpPr txBox="1"/>
          <p:nvPr/>
        </p:nvSpPr>
        <p:spPr>
          <a:xfrm>
            <a:off x="7714758" y="4559838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77" name="Google Shape;1377;p93"/>
          <p:cNvGrpSpPr/>
          <p:nvPr/>
        </p:nvGrpSpPr>
        <p:grpSpPr>
          <a:xfrm>
            <a:off x="5882158" y="2828713"/>
            <a:ext cx="1955251" cy="1560724"/>
            <a:chOff x="5829200" y="115375"/>
            <a:chExt cx="1955251" cy="1560724"/>
          </a:xfrm>
        </p:grpSpPr>
        <p:pic>
          <p:nvPicPr>
            <p:cNvPr id="1378" name="Google Shape;1378;p9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>
              <a:off x="5829200" y="115375"/>
              <a:ext cx="1955251" cy="156072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79" name="Google Shape;1379;p93"/>
            <p:cNvSpPr txBox="1"/>
            <p:nvPr/>
          </p:nvSpPr>
          <p:spPr>
            <a:xfrm>
              <a:off x="5933900" y="293875"/>
              <a:ext cx="15228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How can a fraction of an amount be greater?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380" name="Google Shape;1380;p9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2620" y="3357418"/>
            <a:ext cx="623346" cy="117702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81" name="Google Shape;1381;p93"/>
          <p:cNvGrpSpPr/>
          <p:nvPr/>
        </p:nvGrpSpPr>
        <p:grpSpPr>
          <a:xfrm>
            <a:off x="813804" y="2987584"/>
            <a:ext cx="4441210" cy="1720161"/>
            <a:chOff x="966252" y="3901700"/>
            <a:chExt cx="2223273" cy="1295400"/>
          </a:xfrm>
        </p:grpSpPr>
        <p:pic>
          <p:nvPicPr>
            <p:cNvPr id="1382" name="Google Shape;1382;p93"/>
            <p:cNvPicPr preferRelativeResize="0"/>
            <p:nvPr/>
          </p:nvPicPr>
          <p:blipFill rotWithShape="1">
            <a:blip r:embed="rId5">
              <a:alphaModFix/>
            </a:blip>
            <a:srcRect b="0" l="0" r="69082" t="56280"/>
            <a:stretch/>
          </p:blipFill>
          <p:spPr>
            <a:xfrm flipH="1">
              <a:off x="966252" y="3901700"/>
              <a:ext cx="2223273" cy="1295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83" name="Google Shape;1383;p93"/>
            <p:cNvSpPr txBox="1"/>
            <p:nvPr/>
          </p:nvSpPr>
          <p:spPr>
            <a:xfrm>
              <a:off x="1154038" y="4119425"/>
              <a:ext cx="1850400" cy="772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We are finding more than one whole.  Multiplying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anything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by a number 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greater</a:t>
              </a:r>
              <a:r>
                <a:rPr lang="en-GB" sz="1800">
                  <a:latin typeface="Lexend"/>
                  <a:ea typeface="Lexend"/>
                  <a:cs typeface="Lexend"/>
                  <a:sym typeface="Lexend"/>
                </a:rPr>
                <a:t> than 1 will give a greater product. </a:t>
              </a:r>
              <a:endParaRPr sz="1800"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384" name="Google Shape;1384;p93"/>
          <p:cNvSpPr txBox="1"/>
          <p:nvPr/>
        </p:nvSpPr>
        <p:spPr>
          <a:xfrm>
            <a:off x="221645" y="4555975"/>
            <a:ext cx="8853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Aisha 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&lt;math xmlns=&quot;http://www.w3.org/1998/Math/MathML&quot; display=&quot;block&quot; data-is-equatio=&quot;1&quot; data-latex=&quot;2\ \frac{2}{3}\ \ \ \ £18=\ \frac{8}{3}\times£18\ =\ \frac{\left(8\times18\right)}{3}=8\times6\ =\ £48&quot;&gt;&lt;mn&gt;2&lt;/mn&gt;&lt;mtext&gt;&lt;/mtext&gt;&lt;mfrac&gt;&lt;mn&gt;2&lt;/mn&gt;&lt;mn&gt;3&lt;/mn&gt;&lt;/mfrac&gt;&lt;mtext&gt;&lt;/mtext&gt;&lt;mtext&gt;&lt;/mtext&gt;&lt;mtext&gt;&lt;/mtext&gt;&lt;mtext&gt;&lt;/mtext&gt;&lt;mrow data-mjx-texclass=&quot;ORD&quot;&gt;&lt;mo&gt;£&lt;/mo&gt;&lt;/mrow&gt;&lt;mn&gt;18&lt;/mn&gt;&lt;mo&gt;=&lt;/mo&gt;&lt;mtext&gt;&lt;/mtext&gt;&lt;mfrac&gt;&lt;mn&gt;8&lt;/mn&gt;&lt;mn&gt;3&lt;/mn&gt;&lt;/mfrac&gt;&lt;mo&gt;×&lt;/mo&gt;&lt;mrow data-mjx-texclass=&quot;ORD&quot;&gt;&lt;mo&gt;£&lt;/mo&gt;&lt;/mrow&gt;&lt;mn&gt;18&lt;/mn&gt;&lt;mtext&gt;&lt;/mtext&gt;&lt;mo&gt;=&lt;/mo&gt;&lt;mtext&gt;&lt;/mtext&gt;&lt;mfrac&gt;&lt;mrow data-mjx-texclass=&quot;INNER&quot;&gt;&lt;mo data-mjx-texclass=&quot;OPEN&quot;&gt;(&lt;/mo&gt;&lt;mn&gt;8&lt;/mn&gt;&lt;mo&gt;×&lt;/mo&gt;&lt;mn&gt;18&lt;/mn&gt;&lt;mo data-mjx-texclass=&quot;CLOSE&quot;&gt;)&lt;/mo&gt;&lt;/mrow&gt;&lt;mn&gt;3&lt;/mn&gt;&lt;/mfrac&gt;&lt;mo&gt;=&lt;/mo&gt;&lt;mn&gt;8&lt;/mn&gt;&lt;mo&gt;×&lt;/mo&gt;&lt;mn&gt;6&lt;/mn&gt;&lt;mtext&gt;&lt;/mtext&gt;&lt;mo&gt;=&lt;/mo&gt;&lt;mtext&gt;&lt;/mtext&gt;&lt;mrow data-mjx-texclass=&quot;ORD&quot;&gt;&lt;mo&gt;£&lt;/mo&gt;&lt;/mrow&gt;&lt;mn&gt;48&lt;/mn&gt;&lt;/math&gt;" id="1389" name="Google Shape;1389;p94" title="2 two thirds pound sign 18 equals eight thirds times pound sign 18 equals the fraction with numerator open paren 8 times 18 close paren and denominator 3 equals 8 times 6 equals pound sign 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725" y="3058825"/>
            <a:ext cx="7191775" cy="72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0" name="Google Shape;1390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391" name="Google Shape;1391;p94"/>
          <p:cNvSpPr txBox="1"/>
          <p:nvPr>
            <p:ph idx="1" type="body"/>
          </p:nvPr>
        </p:nvSpPr>
        <p:spPr>
          <a:xfrm>
            <a:off x="324000" y="759300"/>
            <a:ext cx="8237700" cy="3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But we now know that </a:t>
            </a:r>
            <a:r>
              <a:rPr lang="en-GB">
                <a:solidFill>
                  <a:schemeClr val="accent2"/>
                </a:solidFill>
              </a:rPr>
              <a:t>‘of’</a:t>
            </a:r>
            <a:r>
              <a:rPr lang="en-GB"/>
              <a:t> means the same as </a:t>
            </a:r>
            <a:r>
              <a:rPr lang="en-GB">
                <a:solidFill>
                  <a:schemeClr val="accent2"/>
                </a:solidFill>
              </a:rPr>
              <a:t>multiply</a:t>
            </a:r>
            <a:r>
              <a:rPr lang="en-GB"/>
              <a:t>.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 \frac{4}{5}\ \ \ \ \ \ 30&quot;&gt;&lt;mn&gt;1&lt;/mn&gt;&lt;mtext&gt;&lt;/mtext&gt;&lt;mfrac&gt;&lt;mn&gt;4&lt;/mn&gt;&lt;mn&gt;5&lt;/mn&gt;&lt;/mfrac&gt;&lt;mtext&gt;&lt;/mtext&gt;&lt;mtext&gt;&lt;/mtext&gt;&lt;mtext&gt;&lt;/mtext&gt;&lt;mtext&gt;&lt;/mtext&gt;&lt;mtext&gt;&lt;/mtext&gt;&lt;mtext&gt;&lt;/mtext&gt;&lt;mn&gt;30&lt;/mn&gt;&lt;/math&gt;" id="1392" name="Google Shape;1392;p94" title="1 four fifths 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4000" y="1594350"/>
            <a:ext cx="1263475" cy="66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3" name="Google Shape;1393;p94"/>
          <p:cNvSpPr txBox="1"/>
          <p:nvPr>
            <p:ph idx="1" type="body"/>
          </p:nvPr>
        </p:nvSpPr>
        <p:spPr>
          <a:xfrm>
            <a:off x="893423" y="1764450"/>
            <a:ext cx="34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of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=\ \frac{9}{5}\times30\ =\ \frac{\left(9\times30\right)}{5}=\frac{270}{5}=54&quot;&gt;&lt;mo&gt;=&lt;/mo&gt;&lt;mtext&gt;&lt;/mtext&gt;&lt;mfrac&gt;&lt;mn&gt;9&lt;/mn&gt;&lt;mn&gt;5&lt;/mn&gt;&lt;/mfrac&gt;&lt;mo&gt;×&lt;/mo&gt;&lt;mn&gt;30&lt;/mn&gt;&lt;mtext&gt;&lt;/mtext&gt;&lt;mo&gt;=&lt;/mo&gt;&lt;mtext&gt;&lt;/mtext&gt;&lt;mfrac&gt;&lt;mrow data-mjx-texclass=&quot;INNER&quot;&gt;&lt;mo data-mjx-texclass=&quot;OPEN&quot;&gt;(&lt;/mo&gt;&lt;mn&gt;9&lt;/mn&gt;&lt;mo&gt;×&lt;/mo&gt;&lt;mn&gt;30&lt;/mn&gt;&lt;mo data-mjx-texclass=&quot;CLOSE&quot;&gt;)&lt;/mo&gt;&lt;/mrow&gt;&lt;mn&gt;5&lt;/mn&gt;&lt;/mfrac&gt;&lt;mo&gt;=&lt;/mo&gt;&lt;mfrac&gt;&lt;mn&gt;270&lt;/mn&gt;&lt;mn&gt;5&lt;/mn&gt;&lt;/mfrac&gt;&lt;mo&gt;=&lt;/mo&gt;&lt;mn&gt;54&lt;/mn&gt;&lt;/math&gt;" id="1394" name="Google Shape;1394;p94" title="equals nine fifths times 30 equals the fraction with numerator open paren 9 times 30 close paren and denominator 5 equals 270 over 5 equals 5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57100" y="1594350"/>
            <a:ext cx="4874349" cy="692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94"/>
          <p:cNvSpPr txBox="1"/>
          <p:nvPr>
            <p:ph idx="1" type="body"/>
          </p:nvPr>
        </p:nvSpPr>
        <p:spPr>
          <a:xfrm>
            <a:off x="913283" y="3245348"/>
            <a:ext cx="3438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of 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95"/>
          <p:cNvSpPr txBox="1"/>
          <p:nvPr>
            <p:ph idx="1" type="body"/>
          </p:nvPr>
        </p:nvSpPr>
        <p:spPr>
          <a:xfrm>
            <a:off x="324025" y="3511600"/>
            <a:ext cx="5040600" cy="957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When dealing with large mixed numbers</a:t>
            </a:r>
            <a:r>
              <a:rPr lang="en-GB"/>
              <a:t>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E.g.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3\ \frac{3}{5}\ of\ 45\ =\frac{18}{5}\times45=18\ \times9\ =162&quot;&gt;&lt;mn&gt;3&lt;/mn&gt;&lt;mtext&gt;&lt;/mtext&gt;&lt;mfrac&gt;&lt;mn&gt;3&lt;/mn&gt;&lt;mn&gt;5&lt;/mn&gt;&lt;/mfrac&gt;&lt;mtext&gt;&lt;/mtext&gt;&lt;mi&gt;o&lt;/mi&gt;&lt;mi&gt;f&lt;/mi&gt;&lt;mtext&gt;&lt;/mtext&gt;&lt;mn&gt;45&lt;/mn&gt;&lt;mtext&gt;&lt;/mtext&gt;&lt;mo&gt;=&lt;/mo&gt;&lt;mfrac&gt;&lt;mn&gt;18&lt;/mn&gt;&lt;mn&gt;5&lt;/mn&gt;&lt;/mfrac&gt;&lt;mo&gt;×&lt;/mo&gt;&lt;mn&gt;45&lt;/mn&gt;&lt;mo&gt;=&lt;/mo&gt;&lt;mn&gt;18&lt;/mn&gt;&lt;mtext&gt;&lt;/mtext&gt;&lt;mo&gt;×&lt;/mo&gt;&lt;mn&gt;9&lt;/mn&gt;&lt;mtext&gt;&lt;/mtext&gt;&lt;mo&gt;=&lt;/mo&gt;&lt;mn&gt;162&lt;/mn&gt;&lt;/math&gt;" id="1401" name="Google Shape;1401;p95" title="3 three fifths o f 45 equals eighteen fifths times 45 equals 18 times 9 equals 1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7000" y="2460113"/>
            <a:ext cx="4418579" cy="570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403" name="Google Shape;1403;p95"/>
          <p:cNvSpPr txBox="1"/>
          <p:nvPr>
            <p:ph idx="1" type="body"/>
          </p:nvPr>
        </p:nvSpPr>
        <p:spPr>
          <a:xfrm>
            <a:off x="324000" y="709575"/>
            <a:ext cx="36198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 and Lucas are calculating </a:t>
            </a:r>
            <a:endParaRPr sz="1800"/>
          </a:p>
        </p:txBody>
      </p:sp>
      <p:pic>
        <p:nvPicPr>
          <p:cNvPr id="1404" name="Google Shape;1404;p95"/>
          <p:cNvPicPr preferRelativeResize="0"/>
          <p:nvPr/>
        </p:nvPicPr>
        <p:blipFill rotWithShape="1">
          <a:blip r:embed="rId4">
            <a:alphaModFix/>
          </a:blip>
          <a:srcRect b="0" l="10833" r="0" t="0"/>
          <a:stretch/>
        </p:blipFill>
        <p:spPr>
          <a:xfrm>
            <a:off x="2456101" y="1427450"/>
            <a:ext cx="6347500" cy="6299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3}{5}\ of\ 45\ =\frac{18}{5}+45=18\ \times9\ =162&quot;&gt;&lt;mn&gt;3&lt;/mn&gt;&lt;mtext&gt;&lt;/mtext&gt;&lt;mfrac&gt;&lt;mn&gt;3&lt;/mn&gt;&lt;mn&gt;5&lt;/mn&gt;&lt;/mfrac&gt;&lt;mtext&gt;&lt;/mtext&gt;&lt;mi&gt;o&lt;/mi&gt;&lt;mi&gt;f&lt;/mi&gt;&lt;mtext&gt;&lt;/mtext&gt;&lt;mn&gt;45&lt;/mn&gt;&lt;mtext&gt;&lt;/mtext&gt;&lt;mo&gt;=&lt;/mo&gt;&lt;mfrac&gt;&lt;mn&gt;18&lt;/mn&gt;&lt;mn&gt;5&lt;/mn&gt;&lt;/mfrac&gt;&lt;mo&gt;+&lt;/mo&gt;&lt;mn&gt;45&lt;/mn&gt;&lt;mo&gt;=&lt;/mo&gt;&lt;mn&gt;18&lt;/mn&gt;&lt;mtext&gt;&lt;/mtext&gt;&lt;mo&gt;×&lt;/mo&gt;&lt;mn&gt;9&lt;/mn&gt;&lt;mtext&gt;&lt;/mtext&gt;&lt;mo&gt;=&lt;/mo&gt;&lt;mn&gt;162&lt;/mn&gt;&lt;/math&gt;" id="1405" name="Google Shape;1405;p95" title="3 three fifths o f 45 equals eighteen fifths plus 45 equals 18 times 9 equals 162"/>
          <p:cNvPicPr preferRelativeResize="0"/>
          <p:nvPr/>
        </p:nvPicPr>
        <p:blipFill rotWithShape="1">
          <a:blip r:embed="rId5">
            <a:alphaModFix/>
          </a:blip>
          <a:srcRect b="0" l="0" r="89635" t="0"/>
          <a:stretch/>
        </p:blipFill>
        <p:spPr>
          <a:xfrm>
            <a:off x="3936525" y="629325"/>
            <a:ext cx="401274" cy="4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06" name="Google Shape;1406;p95"/>
          <p:cNvSpPr txBox="1"/>
          <p:nvPr>
            <p:ph idx="1" type="body"/>
          </p:nvPr>
        </p:nvSpPr>
        <p:spPr>
          <a:xfrm>
            <a:off x="324000" y="1064100"/>
            <a:ext cx="22173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Aisha’s method: </a:t>
            </a:r>
            <a:endParaRPr sz="1800"/>
          </a:p>
        </p:txBody>
      </p:sp>
      <p:sp>
        <p:nvSpPr>
          <p:cNvPr id="1407" name="Google Shape;1407;p95"/>
          <p:cNvSpPr txBox="1"/>
          <p:nvPr>
            <p:ph idx="1" type="body"/>
          </p:nvPr>
        </p:nvSpPr>
        <p:spPr>
          <a:xfrm>
            <a:off x="324000" y="2066925"/>
            <a:ext cx="22173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Luca</a:t>
            </a:r>
            <a:r>
              <a:rPr lang="en-GB" sz="1800"/>
              <a:t>s’ method: </a:t>
            </a:r>
            <a:endParaRPr sz="1800"/>
          </a:p>
        </p:txBody>
      </p:sp>
      <p:sp>
        <p:nvSpPr>
          <p:cNvPr id="1408" name="Google Shape;1408;p95"/>
          <p:cNvSpPr txBox="1"/>
          <p:nvPr>
            <p:ph idx="1" type="body"/>
          </p:nvPr>
        </p:nvSpPr>
        <p:spPr>
          <a:xfrm>
            <a:off x="324025" y="3053000"/>
            <a:ext cx="84960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What is the </a:t>
            </a:r>
            <a:r>
              <a:rPr lang="en-GB" sz="1800">
                <a:solidFill>
                  <a:schemeClr val="accent2"/>
                </a:solidFill>
              </a:rPr>
              <a:t>same</a:t>
            </a:r>
            <a:r>
              <a:rPr lang="en-GB" sz="1800"/>
              <a:t> and what is </a:t>
            </a:r>
            <a:r>
              <a:rPr lang="en-GB" sz="1800">
                <a:solidFill>
                  <a:schemeClr val="accent2"/>
                </a:solidFill>
              </a:rPr>
              <a:t>different</a:t>
            </a:r>
            <a:r>
              <a:rPr lang="en-GB" sz="1800"/>
              <a:t> about the 2 methods?</a:t>
            </a:r>
            <a:r>
              <a:rPr lang="en-GB" sz="1800"/>
              <a:t> </a:t>
            </a:r>
            <a:endParaRPr sz="1800"/>
          </a:p>
        </p:txBody>
      </p:sp>
      <p:sp>
        <p:nvSpPr>
          <p:cNvPr id="1409" name="Google Shape;1409;p95"/>
          <p:cNvSpPr txBox="1"/>
          <p:nvPr>
            <p:ph idx="1" type="body"/>
          </p:nvPr>
        </p:nvSpPr>
        <p:spPr>
          <a:xfrm>
            <a:off x="324025" y="3539175"/>
            <a:ext cx="4851900" cy="86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E.g	They both get the same answer.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45720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Aisha has partitioned the 3 and </a:t>
            </a:r>
            <a:r>
              <a:rPr lang="en-GB"/>
              <a:t>   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3\ \frac{3}{5}\ of\ 45\ =\frac{18}{5}+45=18\ \times9\ =162&quot;&gt;&lt;mn&gt;3&lt;/mn&gt;&lt;mtext&gt;&lt;/mtext&gt;&lt;mfrac&gt;&lt;mn&gt;3&lt;/mn&gt;&lt;mn&gt;5&lt;/mn&gt;&lt;/mfrac&gt;&lt;mtext&gt;&lt;/mtext&gt;&lt;mi&gt;o&lt;/mi&gt;&lt;mi&gt;f&lt;/mi&gt;&lt;mtext&gt;&lt;/mtext&gt;&lt;mn&gt;45&lt;/mn&gt;&lt;mtext&gt;&lt;/mtext&gt;&lt;mo&gt;=&lt;/mo&gt;&lt;mfrac&gt;&lt;mn&gt;18&lt;/mn&gt;&lt;mn&gt;5&lt;/mn&gt;&lt;/mfrac&gt;&lt;mo&gt;+&lt;/mo&gt;&lt;mn&gt;45&lt;/mn&gt;&lt;mo&gt;=&lt;/mo&gt;&lt;mn&gt;18&lt;/mn&gt;&lt;mtext&gt;&lt;/mtext&gt;&lt;mo&gt;×&lt;/mo&gt;&lt;mn&gt;9&lt;/mn&gt;&lt;mtext&gt;&lt;/mtext&gt;&lt;mo&gt;=&lt;/mo&gt;&lt;mn&gt;162&lt;/mn&gt;&lt;/math&gt;" id="1410" name="Google Shape;1410;p95" title="3 three fifths o f 45 equals eighteen fifths plus 45 equals 18 times 9 equals 162"/>
          <p:cNvPicPr preferRelativeResize="0"/>
          <p:nvPr/>
        </p:nvPicPr>
        <p:blipFill rotWithShape="1">
          <a:blip r:embed="rId5">
            <a:alphaModFix/>
          </a:blip>
          <a:srcRect b="0" l="4278" r="89784" t="0"/>
          <a:stretch/>
        </p:blipFill>
        <p:spPr>
          <a:xfrm>
            <a:off x="4709075" y="3970200"/>
            <a:ext cx="229849" cy="4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95"/>
          <p:cNvSpPr txBox="1"/>
          <p:nvPr>
            <p:ph idx="1" type="body"/>
          </p:nvPr>
        </p:nvSpPr>
        <p:spPr>
          <a:xfrm>
            <a:off x="324000" y="4476675"/>
            <a:ext cx="3335100" cy="409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Which method do you prefer?</a:t>
            </a:r>
            <a:endParaRPr sz="1800"/>
          </a:p>
        </p:txBody>
      </p:sp>
      <p:sp>
        <p:nvSpPr>
          <p:cNvPr id="1412" name="Google Shape;1412;p95"/>
          <p:cNvSpPr txBox="1"/>
          <p:nvPr>
            <p:ph idx="1" type="body"/>
          </p:nvPr>
        </p:nvSpPr>
        <p:spPr>
          <a:xfrm>
            <a:off x="324025" y="3050141"/>
            <a:ext cx="4985700" cy="2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When might Aisha’s method be more useful</a:t>
            </a:r>
            <a:r>
              <a:rPr lang="en-GB" sz="1800"/>
              <a:t>?</a:t>
            </a:r>
            <a:endParaRPr sz="1800"/>
          </a:p>
        </p:txBody>
      </p:sp>
      <p:pic>
        <p:nvPicPr>
          <p:cNvPr descr="&lt;math xmlns=&quot;http://www.w3.org/1998/Math/MathML&quot; display=&quot;block&quot; data-is-equatio=&quot;1&quot; data-latex=&quot;11\ \frac{5}{8}\times32&quot;&gt;&lt;mn&gt;11&lt;/mn&gt;&lt;mtext&gt;&lt;/mtext&gt;&lt;mfrac&gt;&lt;mn&gt;5&lt;/mn&gt;&lt;mn&gt;8&lt;/mn&gt;&lt;/mfrac&gt;&lt;mo&gt;×&lt;/mo&gt;&lt;mn&gt;32&lt;/mn&gt;&lt;/math&gt;" id="1413" name="Google Shape;1413;p95" title="11 five eighths times 3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875046" y="3930150"/>
            <a:ext cx="1115205" cy="570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3}{5}\ of\ 45\ =\frac{18}{5}+45=18\ \times9\ =162&quot;&gt;&lt;mn&gt;3&lt;/mn&gt;&lt;mtext&gt;&lt;/mtext&gt;&lt;mfrac&gt;&lt;mn&gt;3&lt;/mn&gt;&lt;mn&gt;5&lt;/mn&gt;&lt;/mfrac&gt;&lt;mtext&gt;&lt;/mtext&gt;&lt;mi&gt;o&lt;/mi&gt;&lt;mi&gt;f&lt;/mi&gt;&lt;mtext&gt;&lt;/mtext&gt;&lt;mn&gt;45&lt;/mn&gt;&lt;mtext&gt;&lt;/mtext&gt;&lt;mo&gt;=&lt;/mo&gt;&lt;mfrac&gt;&lt;mn&gt;18&lt;/mn&gt;&lt;mn&gt;5&lt;/mn&gt;&lt;/mfrac&gt;&lt;mo&gt;+&lt;/mo&gt;&lt;mn&gt;45&lt;/mn&gt;&lt;mo&gt;=&lt;/mo&gt;&lt;mn&gt;18&lt;/mn&gt;&lt;mtext&gt;&lt;/mtext&gt;&lt;mo&gt;×&lt;/mo&gt;&lt;mn&gt;9&lt;/mn&gt;&lt;mtext&gt;&lt;/mtext&gt;&lt;mo&gt;=&lt;/mo&gt;&lt;mn&gt;162&lt;/mn&gt;&lt;/math&gt;" id="1414" name="Google Shape;1414;p95" title="3 three fifths o f 45 equals eighteen fifths plus 45 equals 18 times 9 equals 162"/>
          <p:cNvPicPr preferRelativeResize="0"/>
          <p:nvPr/>
        </p:nvPicPr>
        <p:blipFill rotWithShape="1">
          <a:blip r:embed="rId5">
            <a:alphaModFix/>
          </a:blip>
          <a:srcRect b="0" l="0" r="89635" t="0"/>
          <a:stretch/>
        </p:blipFill>
        <p:spPr>
          <a:xfrm>
            <a:off x="1747600" y="1455375"/>
            <a:ext cx="401274" cy="498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3\ \frac{3}{5}\ of\ 45\ =\frac{18}{5}+45=18\ \times9\ =162&quot;&gt;&lt;mn&gt;3&lt;/mn&gt;&lt;mtext&gt;&lt;/mtext&gt;&lt;mfrac&gt;&lt;mn&gt;3&lt;/mn&gt;&lt;mn&gt;5&lt;/mn&gt;&lt;/mfrac&gt;&lt;mtext&gt;&lt;/mtext&gt;&lt;mi&gt;o&lt;/mi&gt;&lt;mi&gt;f&lt;/mi&gt;&lt;mtext&gt;&lt;/mtext&gt;&lt;mn&gt;45&lt;/mn&gt;&lt;mtext&gt;&lt;/mtext&gt;&lt;mo&gt;=&lt;/mo&gt;&lt;mfrac&gt;&lt;mn&gt;18&lt;/mn&gt;&lt;mn&gt;5&lt;/mn&gt;&lt;/mfrac&gt;&lt;mo&gt;+&lt;/mo&gt;&lt;mn&gt;45&lt;/mn&gt;&lt;mo&gt;=&lt;/mo&gt;&lt;mn&gt;18&lt;/mn&gt;&lt;mtext&gt;&lt;/mtext&gt;&lt;mo&gt;×&lt;/mo&gt;&lt;mn&gt;9&lt;/mn&gt;&lt;mtext&gt;&lt;/mtext&gt;&lt;mo&gt;=&lt;/mo&gt;&lt;mn&gt;162&lt;/mn&gt;&lt;/math&gt;" id="1415" name="Google Shape;1415;p95" title="3 three fifths o f 45 equals eighteen fifths plus 45 equals 18 times 9 equals 162"/>
          <p:cNvPicPr preferRelativeResize="0"/>
          <p:nvPr/>
        </p:nvPicPr>
        <p:blipFill rotWithShape="1">
          <a:blip r:embed="rId5">
            <a:alphaModFix/>
          </a:blip>
          <a:srcRect b="0" l="19193" r="72840" t="0"/>
          <a:stretch/>
        </p:blipFill>
        <p:spPr>
          <a:xfrm>
            <a:off x="4669800" y="629325"/>
            <a:ext cx="308401" cy="498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16" name="Google Shape;1416;p95"/>
          <p:cNvSpPr txBox="1"/>
          <p:nvPr/>
        </p:nvSpPr>
        <p:spPr>
          <a:xfrm>
            <a:off x="4372250" y="740763"/>
            <a:ext cx="2631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95"/>
          <p:cNvSpPr txBox="1"/>
          <p:nvPr/>
        </p:nvSpPr>
        <p:spPr>
          <a:xfrm>
            <a:off x="2170938" y="1566800"/>
            <a:ext cx="2631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95"/>
          <p:cNvSpPr/>
          <p:nvPr/>
        </p:nvSpPr>
        <p:spPr>
          <a:xfrm>
            <a:off x="2159450" y="2609725"/>
            <a:ext cx="339000" cy="307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95"/>
          <p:cNvSpPr txBox="1"/>
          <p:nvPr/>
        </p:nvSpPr>
        <p:spPr>
          <a:xfrm>
            <a:off x="2197400" y="2625725"/>
            <a:ext cx="263100" cy="2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3" name="Shape 1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4" name="Google Shape;1424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425" name="Google Shape;1425;p96"/>
          <p:cNvSpPr txBox="1"/>
          <p:nvPr>
            <p:ph idx="1" type="subTitle"/>
          </p:nvPr>
        </p:nvSpPr>
        <p:spPr>
          <a:xfrm>
            <a:off x="337825" y="810000"/>
            <a:ext cx="3982200" cy="46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                  ? </a:t>
            </a:r>
            <a:endParaRPr/>
          </a:p>
        </p:txBody>
      </p:sp>
      <p:sp>
        <p:nvSpPr>
          <p:cNvPr descr="&lt;math xmlns=&quot;http://www.w3.org/1998/Math/MathML&quot; display=&quot;block&quot; data-is-equatio=&quot;1&quot; data-latex=&quot;11\ \frac{5}{8}of\ 32\ =\ \left(11\times32\right)+\left(\frac{5}{8}\times32\right)=\ 352+5\times4=352+20=372&quot;&gt;&lt;mn&gt;11&lt;/mn&gt;&lt;mtext&gt;&lt;/mtext&gt;&lt;mfrac&gt;&lt;mn&gt;5&lt;/mn&gt;&lt;mn&gt;8&lt;/mn&gt;&lt;/mfrac&gt;&lt;mi&gt;o&lt;/mi&gt;&lt;mi&gt;f&lt;/mi&gt;&lt;mtext&gt;&lt;/mtext&gt;&lt;mn&gt;32&lt;/mn&gt;&lt;mtext&gt;&lt;/mtext&gt;&lt;mo&gt;=&lt;/mo&gt;&lt;mtext&gt;&lt;/mtext&gt;&lt;mrow data-mjx-texclass=&quot;INNER&quot;&gt;&lt;mo data-mjx-texclass=&quot;OPEN&quot;&gt;(&lt;/mo&gt;&lt;mn&gt;11&lt;/mn&gt;&lt;mo&gt;×&lt;/mo&gt;&lt;mn&gt;32&lt;/mn&gt;&lt;mo data-mjx-texclass=&quot;CLOSE&quot;&gt;)&lt;/mo&gt;&lt;/mrow&gt;&lt;mo&gt;+&lt;/mo&gt;&lt;mrow data-mjx-texclass=&quot;INNER&quot;&gt;&lt;mo data-mjx-texclass=&quot;OPEN&quot;&gt;(&lt;/mo&gt;&lt;mfrac&gt;&lt;mn&gt;5&lt;/mn&gt;&lt;mn&gt;8&lt;/mn&gt;&lt;/mfrac&gt;&lt;mo&gt;×&lt;/mo&gt;&lt;mn&gt;32&lt;/mn&gt;&lt;mo data-mjx-texclass=&quot;CLOSE&quot;&gt;)&lt;/mo&gt;&lt;/mrow&gt;&lt;mo&gt;=&lt;/mo&gt;&lt;mtext&gt;&lt;/mtext&gt;&lt;mn&gt;352&lt;/mn&gt;&lt;mo&gt;+&lt;/mo&gt;&lt;mn&gt;5&lt;/mn&gt;&lt;mo&gt;×&lt;/mo&gt;&lt;mn&gt;4&lt;/mn&gt;&lt;mo&gt;=&lt;/mo&gt;&lt;mn&gt;352&lt;/mn&gt;&lt;mo&gt;+&lt;/mo&gt;&lt;mn&gt;20&lt;/mn&gt;&lt;mo&gt;=&lt;/mo&gt;&lt;mn&gt;372&lt;/mn&gt;&lt;/math&gt;" id="1426" name="Google Shape;1426;p96" title="11 five eighths o f 32 equals open paren 11 times 32 close paren plus open paren five eighths times 32 close paren equals 352 plus 5 times 4 equals 352 plus 20 equals 372"/>
          <p:cNvSpPr txBox="1"/>
          <p:nvPr>
            <p:ph idx="2" type="subTitle"/>
          </p:nvPr>
        </p:nvSpPr>
        <p:spPr>
          <a:xfrm>
            <a:off x="4824000" y="810000"/>
            <a:ext cx="3982200" cy="465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is                  ?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1\ \frac{5}{8}\ of\ 32\ =\ \left(11\times32\right)+\left(\frac{5}{8}\times32\right)=\ 352+5\times4=352+20=372&quot;&gt;&lt;mn&gt;11&lt;/mn&gt;&lt;mtext&gt;&lt;/mtext&gt;&lt;mfrac&gt;&lt;mn&gt;5&lt;/mn&gt;&lt;mn&gt;8&lt;/mn&gt;&lt;/mfrac&gt;&lt;mtext&gt;&lt;/mtext&gt;&lt;mi&gt;o&lt;/mi&gt;&lt;mi&gt;f&lt;/mi&gt;&lt;mtext&gt;&lt;/mtext&gt;&lt;mn&gt;32&lt;/mn&gt;&lt;mtext&gt;&lt;/mtext&gt;&lt;mo&gt;=&lt;/mo&gt;&lt;mtext&gt;&lt;/mtext&gt;&lt;mrow data-mjx-texclass=&quot;INNER&quot;&gt;&lt;mo data-mjx-texclass=&quot;OPEN&quot;&gt;(&lt;/mo&gt;&lt;mn&gt;11&lt;/mn&gt;&lt;mo&gt;×&lt;/mo&gt;&lt;mn&gt;32&lt;/mn&gt;&lt;mo data-mjx-texclass=&quot;CLOSE&quot;&gt;)&lt;/mo&gt;&lt;/mrow&gt;&lt;mo&gt;+&lt;/mo&gt;&lt;mrow data-mjx-texclass=&quot;INNER&quot;&gt;&lt;mo data-mjx-texclass=&quot;OPEN&quot;&gt;(&lt;/mo&gt;&lt;mfrac&gt;&lt;mn&gt;5&lt;/mn&gt;&lt;mn&gt;8&lt;/mn&gt;&lt;/mfrac&gt;&lt;mo&gt;×&lt;/mo&gt;&lt;mn&gt;32&lt;/mn&gt;&lt;mo data-mjx-texclass=&quot;CLOSE&quot;&gt;)&lt;/mo&gt;&lt;/mrow&gt;&lt;mo&gt;=&lt;/mo&gt;&lt;mtext&gt;&lt;/mtext&gt;&lt;mn&gt;352&lt;/mn&gt;&lt;mo&gt;+&lt;/mo&gt;&lt;mn&gt;5&lt;/mn&gt;&lt;mo&gt;×&lt;/mo&gt;&lt;mn&gt;4&lt;/mn&gt;&lt;mo&gt;=&lt;/mo&gt;&lt;mn&gt;352&lt;/mn&gt;&lt;mo&gt;+&lt;/mo&gt;&lt;mn&gt;20&lt;/mn&gt;&lt;mo&gt;=&lt;/mo&gt;&lt;mn&gt;372&lt;/mn&gt;&lt;/math&gt;" id="1427" name="Google Shape;1427;p96" title="11 five eighths o f 32 equals open paren 11 times 32 close paren plus open paren five eighths times 32 close paren equals 352 plus 5 times 4 equals 352 plus 20 equals 372"/>
          <p:cNvPicPr preferRelativeResize="0"/>
          <p:nvPr/>
        </p:nvPicPr>
        <p:blipFill rotWithShape="1">
          <a:blip r:embed="rId3">
            <a:alphaModFix/>
          </a:blip>
          <a:srcRect b="0" l="0" r="84360" t="0"/>
          <a:stretch/>
        </p:blipFill>
        <p:spPr>
          <a:xfrm>
            <a:off x="1244500" y="694275"/>
            <a:ext cx="1084898" cy="580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1\ \frac{5}{8}\times\ 32\ =\ \left(11\times32\right)+\left(\frac{5}{8}\times32\right)=\ 352+5\times4=352+20=372&quot;&gt;&lt;mn&gt;11&lt;/mn&gt;&lt;mtext&gt;&lt;/mtext&gt;&lt;mfrac&gt;&lt;mn&gt;5&lt;/mn&gt;&lt;mn&gt;8&lt;/mn&gt;&lt;/mfrac&gt;&lt;mo&gt;×&lt;/mo&gt;&lt;mtext&gt;&lt;/mtext&gt;&lt;mn&gt;32&lt;/mn&gt;&lt;mtext&gt;&lt;/mtext&gt;&lt;mo&gt;=&lt;/mo&gt;&lt;mtext&gt;&lt;/mtext&gt;&lt;mrow data-mjx-texclass=&quot;INNER&quot;&gt;&lt;mo data-mjx-texclass=&quot;OPEN&quot;&gt;(&lt;/mo&gt;&lt;mn&gt;11&lt;/mn&gt;&lt;mo&gt;×&lt;/mo&gt;&lt;mn&gt;32&lt;/mn&gt;&lt;mo data-mjx-texclass=&quot;CLOSE&quot;&gt;)&lt;/mo&gt;&lt;/mrow&gt;&lt;mo&gt;+&lt;/mo&gt;&lt;mrow data-mjx-texclass=&quot;INNER&quot;&gt;&lt;mo data-mjx-texclass=&quot;OPEN&quot;&gt;(&lt;/mo&gt;&lt;mfrac&gt;&lt;mn&gt;5&lt;/mn&gt;&lt;mn&gt;8&lt;/mn&gt;&lt;/mfrac&gt;&lt;mo&gt;×&lt;/mo&gt;&lt;mn&gt;32&lt;/mn&gt;&lt;mo data-mjx-texclass=&quot;CLOSE&quot;&gt;)&lt;/mo&gt;&lt;/mrow&gt;&lt;mo&gt;=&lt;/mo&gt;&lt;mtext&gt;&lt;/mtext&gt;&lt;mn&gt;352&lt;/mn&gt;&lt;mo&gt;+&lt;/mo&gt;&lt;mn&gt;5&lt;/mn&gt;&lt;mo&gt;×&lt;/mo&gt;&lt;mn&gt;4&lt;/mn&gt;&lt;mo&gt;=&lt;/mo&gt;&lt;mn&gt;352&lt;/mn&gt;&lt;mo&gt;+&lt;/mo&gt;&lt;mn&gt;20&lt;/mn&gt;&lt;mo&gt;=&lt;/mo&gt;&lt;mn&gt;372&lt;/mn&gt;&lt;/math&gt;" id="1428" name="Google Shape;1428;p96" title="11 five eighths times 32 equals open paren 11 times 32 close paren plus open paren five eighths times 32 close paren equals 352 plus 5 times 4 equals 352 plus 20 equals 372"/>
          <p:cNvPicPr preferRelativeResize="0"/>
          <p:nvPr/>
        </p:nvPicPr>
        <p:blipFill rotWithShape="1">
          <a:blip r:embed="rId4">
            <a:alphaModFix/>
          </a:blip>
          <a:srcRect b="0" l="0" r="46366" t="0"/>
          <a:stretch/>
        </p:blipFill>
        <p:spPr>
          <a:xfrm>
            <a:off x="337825" y="1620000"/>
            <a:ext cx="3898052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1\ \frac{5}{8}\times\ 32\ =\ \left(11\times32\right)+\left(\frac{5}{8}\times32\right)=\ 352+5\times4=352+20=372&quot;&gt;&lt;mn&gt;11&lt;/mn&gt;&lt;mtext&gt;&lt;/mtext&gt;&lt;mfrac&gt;&lt;mn&gt;5&lt;/mn&gt;&lt;mn&gt;8&lt;/mn&gt;&lt;/mfrac&gt;&lt;mo&gt;×&lt;/mo&gt;&lt;mtext&gt;&lt;/mtext&gt;&lt;mn&gt;32&lt;/mn&gt;&lt;mtext&gt;&lt;/mtext&gt;&lt;mo&gt;=&lt;/mo&gt;&lt;mtext&gt;&lt;/mtext&gt;&lt;mrow data-mjx-texclass=&quot;INNER&quot;&gt;&lt;mo data-mjx-texclass=&quot;OPEN&quot;&gt;(&lt;/mo&gt;&lt;mn&gt;11&lt;/mn&gt;&lt;mo&gt;×&lt;/mo&gt;&lt;mn&gt;32&lt;/mn&gt;&lt;mo data-mjx-texclass=&quot;CLOSE&quot;&gt;)&lt;/mo&gt;&lt;/mrow&gt;&lt;mo&gt;+&lt;/mo&gt;&lt;mrow data-mjx-texclass=&quot;INNER&quot;&gt;&lt;mo data-mjx-texclass=&quot;OPEN&quot;&gt;(&lt;/mo&gt;&lt;mfrac&gt;&lt;mn&gt;5&lt;/mn&gt;&lt;mn&gt;8&lt;/mn&gt;&lt;/mfrac&gt;&lt;mo&gt;×&lt;/mo&gt;&lt;mn&gt;32&lt;/mn&gt;&lt;mo data-mjx-texclass=&quot;CLOSE&quot;&gt;)&lt;/mo&gt;&lt;/mrow&gt;&lt;mo&gt;=&lt;/mo&gt;&lt;mtext&gt;&lt;/mtext&gt;&lt;mn&gt;352&lt;/mn&gt;&lt;mo&gt;+&lt;/mo&gt;&lt;mn&gt;5&lt;/mn&gt;&lt;mo&gt;×&lt;/mo&gt;&lt;mn&gt;4&lt;/mn&gt;&lt;mo&gt;=&lt;/mo&gt;&lt;mn&gt;352&lt;/mn&gt;&lt;mo&gt;+&lt;/mo&gt;&lt;mn&gt;20&lt;/mn&gt;&lt;mo&gt;=&lt;/mo&gt;&lt;mn&gt;372&lt;/mn&gt;&lt;/math&gt;" id="1429" name="Google Shape;1429;p96" title="11 five eighths times 32 equals open paren 11 times 32 close paren plus open paren five eighths times 32 close paren equals 352 plus 5 times 4 equals 352 plus 20 equals 372"/>
          <p:cNvPicPr preferRelativeResize="0"/>
          <p:nvPr/>
        </p:nvPicPr>
        <p:blipFill rotWithShape="1">
          <a:blip r:embed="rId4">
            <a:alphaModFix/>
          </a:blip>
          <a:srcRect b="0" l="53697" r="0" t="0"/>
          <a:stretch/>
        </p:blipFill>
        <p:spPr>
          <a:xfrm>
            <a:off x="337821" y="2578500"/>
            <a:ext cx="3365299" cy="61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\frac{4}{5}\times\ 25\ =\ \left(12\times25\right)+\left(\frac{4}{5}\times25\right)=\ 300+4\times5=300+20=320&quot;&gt;&lt;mn&gt;12&lt;/mn&gt;&lt;mtext&gt;&lt;/mtext&gt;&lt;mfrac&gt;&lt;mn&gt;4&lt;/mn&gt;&lt;mn&gt;5&lt;/mn&gt;&lt;/mfrac&gt;&lt;mo&gt;×&lt;/mo&gt;&lt;mtext&gt;&lt;/mtext&gt;&lt;mn&gt;25&lt;/mn&gt;&lt;mtext&gt;&lt;/mtext&gt;&lt;mo&gt;=&lt;/mo&gt;&lt;mtext&gt;&lt;/mtext&gt;&lt;mrow data-mjx-texclass=&quot;INNER&quot;&gt;&lt;mo data-mjx-texclass=&quot;OPEN&quot;&gt;(&lt;/mo&gt;&lt;mn&gt;12&lt;/mn&gt;&lt;mo&gt;×&lt;/mo&gt;&lt;mn&gt;25&lt;/mn&gt;&lt;mo data-mjx-texclass=&quot;CLOSE&quot;&gt;)&lt;/mo&gt;&lt;/mrow&gt;&lt;mo&gt;+&lt;/mo&gt;&lt;mrow data-mjx-texclass=&quot;INNER&quot;&gt;&lt;mo data-mjx-texclass=&quot;OPEN&quot;&gt;(&lt;/mo&gt;&lt;mfrac&gt;&lt;mn&gt;4&lt;/mn&gt;&lt;mn&gt;5&lt;/mn&gt;&lt;/mfrac&gt;&lt;mo&gt;×&lt;/mo&gt;&lt;mn&gt;25&lt;/mn&gt;&lt;mo data-mjx-texclass=&quot;CLOSE&quot;&gt;)&lt;/mo&gt;&lt;/mrow&gt;&lt;mo&gt;=&lt;/mo&gt;&lt;mtext&gt;&lt;/mtext&gt;&lt;mn&gt;300&lt;/mn&gt;&lt;mo&gt;+&lt;/mo&gt;&lt;mn&gt;4&lt;/mn&gt;&lt;mo&gt;×&lt;/mo&gt;&lt;mn&gt;5&lt;/mn&gt;&lt;mo&gt;=&lt;/mo&gt;&lt;mn&gt;300&lt;/mn&gt;&lt;mo&gt;+&lt;/mo&gt;&lt;mn&gt;20&lt;/mn&gt;&lt;mo&gt;=&lt;/mo&gt;&lt;mn&gt;320&lt;/mn&gt;&lt;/math&gt;" id="1430" name="Google Shape;1430;p96" title="12 four fifths times 25 equals open paren 12 times 25 close paren plus open paren four fifths times 25 close paren equals 300 plus 4 times 5 equals 300 plus 20 equals 320"/>
          <p:cNvPicPr preferRelativeResize="0"/>
          <p:nvPr/>
        </p:nvPicPr>
        <p:blipFill rotWithShape="1">
          <a:blip r:embed="rId5">
            <a:alphaModFix/>
          </a:blip>
          <a:srcRect b="0" l="52879" r="0" t="0"/>
          <a:stretch/>
        </p:blipFill>
        <p:spPr>
          <a:xfrm>
            <a:off x="4824001" y="2571750"/>
            <a:ext cx="301445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\frac{4}{5}\times\ 25\ =\ \left(12\times25\right)+\left(\frac{4}{5}\times25\right)=\ 300+4\times5=300+20=320&quot;&gt;&lt;mn&gt;12&lt;/mn&gt;&lt;mtext&gt;&lt;/mtext&gt;&lt;mfrac&gt;&lt;mn&gt;4&lt;/mn&gt;&lt;mn&gt;5&lt;/mn&gt;&lt;/mfrac&gt;&lt;mo&gt;×&lt;/mo&gt;&lt;mtext&gt;&lt;/mtext&gt;&lt;mn&gt;25&lt;/mn&gt;&lt;mtext&gt;&lt;/mtext&gt;&lt;mo&gt;=&lt;/mo&gt;&lt;mtext&gt;&lt;/mtext&gt;&lt;mrow data-mjx-texclass=&quot;INNER&quot;&gt;&lt;mo data-mjx-texclass=&quot;OPEN&quot;&gt;(&lt;/mo&gt;&lt;mn&gt;12&lt;/mn&gt;&lt;mo&gt;×&lt;/mo&gt;&lt;mn&gt;25&lt;/mn&gt;&lt;mo data-mjx-texclass=&quot;CLOSE&quot;&gt;)&lt;/mo&gt;&lt;/mrow&gt;&lt;mo&gt;+&lt;/mo&gt;&lt;mrow data-mjx-texclass=&quot;INNER&quot;&gt;&lt;mo data-mjx-texclass=&quot;OPEN&quot;&gt;(&lt;/mo&gt;&lt;mfrac&gt;&lt;mn&gt;4&lt;/mn&gt;&lt;mn&gt;5&lt;/mn&gt;&lt;/mfrac&gt;&lt;mo&gt;×&lt;/mo&gt;&lt;mn&gt;25&lt;/mn&gt;&lt;mo data-mjx-texclass=&quot;CLOSE&quot;&gt;)&lt;/mo&gt;&lt;/mrow&gt;&lt;mo&gt;=&lt;/mo&gt;&lt;mtext&gt;&lt;/mtext&gt;&lt;mn&gt;300&lt;/mn&gt;&lt;mo&gt;+&lt;/mo&gt;&lt;mn&gt;4&lt;/mn&gt;&lt;mo&gt;×&lt;/mo&gt;&lt;mn&gt;5&lt;/mn&gt;&lt;mo&gt;=&lt;/mo&gt;&lt;mn&gt;300&lt;/mn&gt;&lt;mo&gt;+&lt;/mo&gt;&lt;mn&gt;20&lt;/mn&gt;&lt;mo&gt;=&lt;/mo&gt;&lt;mn&gt;320&lt;/mn&gt;&lt;/math&gt;" id="1431" name="Google Shape;1431;p96" title="12 four fifths times 25 equals open paren 12 times 25 close paren plus open paren four fifths times 25 close paren equals 300 plus 4 times 5 equals 300 plus 20 equals 320"/>
          <p:cNvPicPr preferRelativeResize="0"/>
          <p:nvPr/>
        </p:nvPicPr>
        <p:blipFill rotWithShape="1">
          <a:blip r:embed="rId5">
            <a:alphaModFix/>
          </a:blip>
          <a:srcRect b="0" l="0" r="46294" t="0"/>
          <a:stretch/>
        </p:blipFill>
        <p:spPr>
          <a:xfrm>
            <a:off x="4823998" y="1620000"/>
            <a:ext cx="3435650" cy="54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2\ \frac{4}{5}\times\ 25\ =\ \left(12\times25\right)+\left(\frac{4}{5}\times25\right)=\ 300+4\times5=300+20=320&quot;&gt;&lt;mn&gt;12&lt;/mn&gt;&lt;mtext&gt;&lt;/mtext&gt;&lt;mfrac&gt;&lt;mn&gt;4&lt;/mn&gt;&lt;mn&gt;5&lt;/mn&gt;&lt;/mfrac&gt;&lt;mo&gt;×&lt;/mo&gt;&lt;mtext&gt;&lt;/mtext&gt;&lt;mn&gt;25&lt;/mn&gt;&lt;mtext&gt;&lt;/mtext&gt;&lt;mo&gt;=&lt;/mo&gt;&lt;mtext&gt;&lt;/mtext&gt;&lt;mrow data-mjx-texclass=&quot;INNER&quot;&gt;&lt;mo data-mjx-texclass=&quot;OPEN&quot;&gt;(&lt;/mo&gt;&lt;mn&gt;12&lt;/mn&gt;&lt;mo&gt;×&lt;/mo&gt;&lt;mn&gt;25&lt;/mn&gt;&lt;mo data-mjx-texclass=&quot;CLOSE&quot;&gt;)&lt;/mo&gt;&lt;/mrow&gt;&lt;mo&gt;+&lt;/mo&gt;&lt;mrow data-mjx-texclass=&quot;INNER&quot;&gt;&lt;mo data-mjx-texclass=&quot;OPEN&quot;&gt;(&lt;/mo&gt;&lt;mfrac&gt;&lt;mn&gt;4&lt;/mn&gt;&lt;mn&gt;5&lt;/mn&gt;&lt;/mfrac&gt;&lt;mo&gt;×&lt;/mo&gt;&lt;mn&gt;25&lt;/mn&gt;&lt;mo data-mjx-texclass=&quot;CLOSE&quot;&gt;)&lt;/mo&gt;&lt;/mrow&gt;&lt;mo&gt;=&lt;/mo&gt;&lt;mtext&gt;&lt;/mtext&gt;&lt;mn&gt;300&lt;/mn&gt;&lt;mo&gt;+&lt;/mo&gt;&lt;mn&gt;4&lt;/mn&gt;&lt;mo&gt;×&lt;/mo&gt;&lt;mn&gt;5&lt;/mn&gt;&lt;mo&gt;=&lt;/mo&gt;&lt;mn&gt;300&lt;/mn&gt;&lt;mo&gt;+&lt;/mo&gt;&lt;mn&gt;20&lt;/mn&gt;&lt;mo&gt;=&lt;/mo&gt;&lt;mn&gt;320&lt;/mn&gt;&lt;/math&gt;" id="1432" name="Google Shape;1432;p96" title="12 four fifths times 25 equals open paren 12 times 25 close paren plus open paren four fifths times 25 close paren equals 300 plus 4 times 5 equals 300 plus 20 equals 320"/>
          <p:cNvPicPr preferRelativeResize="0"/>
          <p:nvPr/>
        </p:nvPicPr>
        <p:blipFill rotWithShape="1">
          <a:blip r:embed="rId5">
            <a:alphaModFix/>
          </a:blip>
          <a:srcRect b="0" l="0" r="84275" t="0"/>
          <a:stretch/>
        </p:blipFill>
        <p:spPr>
          <a:xfrm>
            <a:off x="5774396" y="714638"/>
            <a:ext cx="1005974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3" name="Google Shape;1433;p96"/>
          <p:cNvSpPr/>
          <p:nvPr/>
        </p:nvSpPr>
        <p:spPr>
          <a:xfrm>
            <a:off x="1468825" y="1589100"/>
            <a:ext cx="2733900" cy="67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4" name="Google Shape;1434;p96"/>
          <p:cNvSpPr/>
          <p:nvPr/>
        </p:nvSpPr>
        <p:spPr>
          <a:xfrm>
            <a:off x="337825" y="2624700"/>
            <a:ext cx="1508400" cy="52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5" name="Google Shape;1435;p96"/>
          <p:cNvSpPr/>
          <p:nvPr/>
        </p:nvSpPr>
        <p:spPr>
          <a:xfrm>
            <a:off x="1846225" y="2624700"/>
            <a:ext cx="1224600" cy="52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6" name="Google Shape;1436;p96"/>
          <p:cNvSpPr/>
          <p:nvPr/>
        </p:nvSpPr>
        <p:spPr>
          <a:xfrm>
            <a:off x="3070825" y="2624700"/>
            <a:ext cx="714900" cy="5211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7" name="Google Shape;1437;p96"/>
          <p:cNvSpPr txBox="1"/>
          <p:nvPr/>
        </p:nvSpPr>
        <p:spPr>
          <a:xfrm>
            <a:off x="1776900" y="831638"/>
            <a:ext cx="263100" cy="306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97"/>
          <p:cNvSpPr txBox="1"/>
          <p:nvPr>
            <p:ph idx="1" type="body"/>
          </p:nvPr>
        </p:nvSpPr>
        <p:spPr>
          <a:xfrm>
            <a:off x="324000" y="759300"/>
            <a:ext cx="8237700" cy="35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Calculate the following: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 of 180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 of 48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 of 136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 of 30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 of 21</a:t>
            </a:r>
            <a:endParaRPr/>
          </a:p>
        </p:txBody>
      </p:sp>
      <p:sp>
        <p:nvSpPr>
          <p:cNvPr id="1443" name="Google Shape;1443;p97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pic>
        <p:nvPicPr>
          <p:cNvPr descr="&lt;math xmlns=&quot;http://www.w3.org/1998/Math/MathML&quot; display=&quot;block&quot; data-is-equatio=&quot;1&quot; data-latex=&quot;1\ \frac{4}{5}&quot;&gt;&lt;mn&gt;1&lt;/mn&gt;&lt;mtext&gt;&lt;/mtext&gt;&lt;mfrac&gt;&lt;mn&gt;4&lt;/mn&gt;&lt;mn&gt;5&lt;/mn&gt;&lt;/mfrac&gt;&lt;/math&gt;" id="1444" name="Google Shape;1444;p97" title="1 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88" y="1080000"/>
            <a:ext cx="360830" cy="53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3}{4}&quot;&gt;&lt;mn&gt;1&lt;/mn&gt;&lt;mtext&gt;&lt;/mtext&gt;&lt;mfrac&gt;&lt;mn&gt;3&lt;/mn&gt;&lt;mn&gt;4&lt;/mn&gt;&lt;/mfrac&gt;&lt;/math&gt;" id="1445" name="Google Shape;1445;p97" title="1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944" y="1774400"/>
            <a:ext cx="362132" cy="53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frac{7}{8}&quot;&gt;&lt;mn&gt;5&lt;/mn&gt;&lt;mtext&gt;&lt;/mtext&gt;&lt;mfrac&gt;&lt;mn&gt;7&lt;/mn&gt;&lt;mn&gt;8&lt;/mn&gt;&lt;/mfrac&gt;&lt;/math&gt;" id="1446" name="Google Shape;1446;p97" title="5 seven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904" y="2430375"/>
            <a:ext cx="380199" cy="53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5\ \frac{4}{9}&quot;&gt;&lt;mn&gt;15&lt;/mn&gt;&lt;mtext&gt;&lt;/mtext&gt;&lt;mfrac&gt;&lt;mn&gt;4&lt;/mn&gt;&lt;mn&gt;9&lt;/mn&gt;&lt;/mfrac&gt;&lt;/math&gt;" id="1447" name="Google Shape;1447;p97" title="15 four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143" y="3086350"/>
            <a:ext cx="487715" cy="53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5\ \frac{2}{7}&quot;&gt;&lt;mn&gt;25&lt;/mn&gt;&lt;mtext&gt;&lt;/mtext&gt;&lt;mfrac&gt;&lt;mn&gt;2&lt;/mn&gt;&lt;mn&gt;7&lt;/mn&gt;&lt;/mfrac&gt;&lt;/math&gt;" id="1448" name="Google Shape;1448;p97" title="25 two sev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097" y="3780750"/>
            <a:ext cx="515816" cy="53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p98"/>
          <p:cNvSpPr txBox="1"/>
          <p:nvPr>
            <p:ph idx="2" type="subTitle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Fractions greater than 1</a:t>
            </a:r>
            <a:endParaRPr/>
          </a:p>
        </p:txBody>
      </p:sp>
      <p:sp>
        <p:nvSpPr>
          <p:cNvPr id="1454" name="Google Shape;1454;p98"/>
          <p:cNvSpPr txBox="1"/>
          <p:nvPr>
            <p:ph idx="1" type="body"/>
          </p:nvPr>
        </p:nvSpPr>
        <p:spPr>
          <a:xfrm>
            <a:off x="324000" y="759300"/>
            <a:ext cx="8237700" cy="35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AutoNum type="arabicParenR"/>
            </a:pPr>
            <a:r>
              <a:rPr lang="en-GB"/>
              <a:t>Calculate the following: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 of 180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324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 of 48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84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 of 136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799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 of 30 = </a:t>
            </a:r>
            <a:endParaRPr/>
          </a:p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lphaLcParenR"/>
            </a:pPr>
            <a:r>
              <a:rPr lang="en-GB"/>
              <a:t>       of 21 =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531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1\ \frac{4}{5}&quot;&gt;&lt;mn&gt;1&lt;/mn&gt;&lt;mtext&gt;&lt;/mtext&gt;&lt;mfrac&gt;&lt;mn&gt;4&lt;/mn&gt;&lt;mn&gt;5&lt;/mn&gt;&lt;/mfrac&gt;&lt;/math&gt;" id="1455" name="Google Shape;1455;p98" title="1 four fifth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588" y="1080000"/>
            <a:ext cx="360830" cy="53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\ \frac{3}{4}&quot;&gt;&lt;mn&gt;1&lt;/mn&gt;&lt;mtext&gt;&lt;/mtext&gt;&lt;mfrac&gt;&lt;mn&gt;3&lt;/mn&gt;&lt;mn&gt;4&lt;/mn&gt;&lt;/mfrac&gt;&lt;/math&gt;" id="1456" name="Google Shape;1456;p98" title="1 three fourths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5944" y="1774400"/>
            <a:ext cx="362132" cy="53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5\ \frac{7}{8}&quot;&gt;&lt;mn&gt;5&lt;/mn&gt;&lt;mtext&gt;&lt;/mtext&gt;&lt;mfrac&gt;&lt;mn&gt;7&lt;/mn&gt;&lt;mn&gt;8&lt;/mn&gt;&lt;/mfrac&gt;&lt;/math&gt;" id="1457" name="Google Shape;1457;p98" title="5 seven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6904" y="2430375"/>
            <a:ext cx="380199" cy="53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15\ \frac{4}{9}&quot;&gt;&lt;mn&gt;15&lt;/mn&gt;&lt;mtext&gt;&lt;/mtext&gt;&lt;mfrac&gt;&lt;mn&gt;4&lt;/mn&gt;&lt;mn&gt;9&lt;/mn&gt;&lt;/mfrac&gt;&lt;/math&gt;" id="1458" name="Google Shape;1458;p98" title="15 four ninths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53143" y="3086350"/>
            <a:ext cx="487715" cy="53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25\ \frac{2}{7}&quot;&gt;&lt;mn&gt;25&lt;/mn&gt;&lt;mtext&gt;&lt;/mtext&gt;&lt;mfrac&gt;&lt;mn&gt;2&lt;/mn&gt;&lt;mn&gt;7&lt;/mn&gt;&lt;/mfrac&gt;&lt;/math&gt;" id="1459" name="Google Shape;1459;p98" title="25 two sevenths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39097" y="3780750"/>
            <a:ext cx="515816" cy="539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463\ \frac{1}{3}&quot;&gt;&lt;mn&gt;463&lt;/mn&gt;&lt;mtext&gt;&lt;/mtext&gt;&lt;mfrac&gt;&lt;mn&gt;1&lt;/mn&gt;&lt;mn&gt;3&lt;/mn&gt;&lt;/mfrac&gt;&lt;/math&gt;" id="1460" name="Google Shape;1460;p98" title="463 one thir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13720" y="3028497"/>
            <a:ext cx="696425" cy="5796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4" name="Shape 1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5" name="Google Shape;1465;p99"/>
          <p:cNvSpPr txBox="1"/>
          <p:nvPr>
            <p:ph idx="1" type="body"/>
          </p:nvPr>
        </p:nvSpPr>
        <p:spPr>
          <a:xfrm>
            <a:off x="324000" y="712275"/>
            <a:ext cx="8113800" cy="4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 bar model is useful for finding a fraction of an amount.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Multiplication and ‘of’ are equivalent in maths.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2000"/>
              <a:t>E.g. </a:t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2000"/>
              <a:t>When finding a fraction of an amount, the order in which you multiply and divide does not matter as they have equal priority.</a:t>
            </a:r>
            <a:endParaRPr sz="2000"/>
          </a:p>
        </p:txBody>
      </p:sp>
      <p:sp>
        <p:nvSpPr>
          <p:cNvPr id="1466" name="Google Shape;1466;p99"/>
          <p:cNvSpPr txBox="1"/>
          <p:nvPr>
            <p:ph type="title"/>
          </p:nvPr>
        </p:nvSpPr>
        <p:spPr>
          <a:xfrm>
            <a:off x="1684800" y="157525"/>
            <a:ext cx="67530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Checking and securing finding a fraction of a given amount</a:t>
            </a:r>
            <a:endParaRPr/>
          </a:p>
        </p:txBody>
      </p:sp>
      <p:pic>
        <p:nvPicPr>
          <p:cNvPr id="1467" name="Google Shape;1467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3450" y="1080000"/>
            <a:ext cx="1614250" cy="1358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\frac{3}{5}\ of\ 600\ =\ \frac{3}{5}\times600\\&amp;#13;&amp;#10;2\ \frac{4}{5}\ of\ 8600\ g\ =\ 2\ \frac{4}{5}\times8600\ g\\&amp;#13;&amp;#10;\frac{1}{4}\times\frac{1}{2}\ =\ \frac{1}{4}\ of\ \frac{1}{2}\end{array}&quot;&gt;&lt;mtable columnalign=&quot;left&quot; columnspacing=&quot;1em&quot; rowspacing=&quot;4pt&quot;&gt;&lt;mtr&gt;&lt;mtd&gt;&lt;mfrac&gt;&lt;mn&gt;3&lt;/mn&gt;&lt;mn&gt;5&lt;/mn&gt;&lt;/mfrac&gt;&lt;mtext&gt;&lt;/mtext&gt;&lt;mi&gt;o&lt;/mi&gt;&lt;mi&gt;f&lt;/mi&gt;&lt;mtext&gt;&lt;/mtext&gt;&lt;mn&gt;600&lt;/mn&gt;&lt;mtext&gt;&lt;/mtext&gt;&lt;mo&gt;=&lt;/mo&gt;&lt;mtext&gt;&lt;/mtext&gt;&lt;mfrac&gt;&lt;mn&gt;3&lt;/mn&gt;&lt;mn&gt;5&lt;/mn&gt;&lt;/mfrac&gt;&lt;mo&gt;×&lt;/mo&gt;&lt;mn&gt;600&lt;/mn&gt;&lt;/mtd&gt;&lt;/mtr&gt;&lt;mtr&gt;&lt;mtd&gt;&lt;mn&gt;2&lt;/mn&gt;&lt;mtext&gt;&lt;/mtext&gt;&lt;mfrac&gt;&lt;mn&gt;4&lt;/mn&gt;&lt;mn&gt;5&lt;/mn&gt;&lt;/mfrac&gt;&lt;mtext&gt;&lt;/mtext&gt;&lt;mi&gt;o&lt;/mi&gt;&lt;mi&gt;f&lt;/mi&gt;&lt;mtext&gt;&lt;/mtext&gt;&lt;mn&gt;8600&lt;/mn&gt;&lt;mtext&gt;&lt;/mtext&gt;&lt;mi&gt;g&lt;/mi&gt;&lt;mtext&gt;&lt;/mtext&gt;&lt;mo&gt;=&lt;/mo&gt;&lt;mtext&gt;&lt;/mtext&gt;&lt;mn&gt;2&lt;/mn&gt;&lt;mtext&gt;&lt;/mtext&gt;&lt;mfrac&gt;&lt;mn&gt;4&lt;/mn&gt;&lt;mn&gt;5&lt;/mn&gt;&lt;/mfrac&gt;&lt;mo&gt;×&lt;/mo&gt;&lt;mn&gt;8600&lt;/mn&gt;&lt;mtext&gt;&lt;/mtext&gt;&lt;mi&gt;g&lt;/mi&gt;&lt;/mtd&gt;&lt;/mtr&gt;&lt;mtr&gt;&lt;mtd&gt;&lt;mfrac&gt;&lt;mn&gt;1&lt;/mn&gt;&lt;mn&gt;4&lt;/mn&gt;&lt;/mfrac&gt;&lt;mo&gt;×&lt;/mo&gt;&lt;mfrac&gt;&lt;mn&gt;1&lt;/mn&gt;&lt;mn&gt;2&lt;/mn&gt;&lt;/mfrac&gt;&lt;mtext&gt;&lt;/mtext&gt;&lt;mo&gt;=&lt;/mo&gt;&lt;mtext&gt;&lt;/mtext&gt;&lt;mfrac&gt;&lt;mn&gt;1&lt;/mn&gt;&lt;mn&gt;4&lt;/mn&gt;&lt;/mfrac&gt;&lt;mtext&gt;&lt;/mtext&gt;&lt;mi&gt;o&lt;/mi&gt;&lt;mi&gt;f&lt;/mi&gt;&lt;mtext&gt;&lt;/mtext&gt;&lt;mfrac&gt;&lt;mn&gt;1&lt;/mn&gt;&lt;mn&gt;2&lt;/mn&gt;&lt;/mfrac&gt;&lt;/mtd&gt;&lt;/mtr&gt;&lt;/mtable&gt;&lt;/math&gt;" id="1468" name="Google Shape;1468;p99" title="3 lines Line 1: three fifths o f 600 equals three fifths times 600 Line 2: 2 four fifths o f 8600 g equals 2 four fifths times 8600 g Line 3: one fourth times one half equals one fourth o f one half"/>
          <p:cNvPicPr preferRelativeResize="0"/>
          <p:nvPr/>
        </p:nvPicPr>
        <p:blipFill rotWithShape="1">
          <a:blip r:embed="rId4">
            <a:alphaModFix/>
          </a:blip>
          <a:srcRect b="69788" l="0" r="30709" t="0"/>
          <a:stretch/>
        </p:blipFill>
        <p:spPr>
          <a:xfrm>
            <a:off x="849050" y="3054650"/>
            <a:ext cx="2714975" cy="454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100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474" name="Google Shape;1474;p10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