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F012DF18-E836-4FD0-B404-0FDCF6A232DF}">
  <a:tblStyle styleId="{F012DF18-E836-4FD0-B404-0FDCF6A232D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7" name="Shape 217"/>
        <p:cNvGrpSpPr/>
        <p:nvPr/>
      </p:nvGrpSpPr>
      <p:grpSpPr>
        <a:xfrm>
          <a:off x="0" y="0"/>
          <a:ext cx="0" cy="0"/>
        </a:xfrm>
      </p:grpSpPr>
      <p:sp>
        <p:nvSpPr>
          <p:cNvPr id="218" name="Google Shape;218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/>
        </p:nvSpPr>
        <p:spPr>
          <a:xfrm>
            <a:off x="476400" y="407310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If you need to make 210 ml in total, how much of each colour do you need?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3" name="Google Shape;173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fractions and ratios</a:t>
            </a:r>
            <a:endParaRPr/>
          </a:p>
        </p:txBody>
      </p:sp>
      <p:cxnSp>
        <p:nvCxnSpPr>
          <p:cNvPr id="174" name="Google Shape;174;p20"/>
          <p:cNvCxnSpPr/>
          <p:nvPr/>
        </p:nvCxnSpPr>
        <p:spPr>
          <a:xfrm>
            <a:off x="480750" y="9884100"/>
            <a:ext cx="6598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5" name="Google Shape;175;p20"/>
          <p:cNvSpPr txBox="1"/>
          <p:nvPr/>
        </p:nvSpPr>
        <p:spPr>
          <a:xfrm>
            <a:off x="480750" y="1408075"/>
            <a:ext cx="4343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A:  Strategies to solve ratio problems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76400" y="1673700"/>
            <a:ext cx="6624000" cy="7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Solve these problems. You may want to draw a bar model to help you.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 make the required shade of paint you need to mix blue and white paint in the ratio of 2 : 5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If you have 210 ml of blue paint, how much white paint do you need?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7" name="Google Shape;177;p20"/>
          <p:cNvGraphicFramePr>
            <a:graphicFrameLocks noGrp="1"/>
          </p:cNvGraphicFramePr>
          <p:nvPr/>
        </p:nvGraphicFramePr>
        <p:xfrm>
          <a:off x="2101013" y="3415125"/>
          <a:ext cx="3130750" cy="215400"/>
        </p:xfrm>
        <a:graphic>
          <a:graphicData uri="http://schemas.openxmlformats.org/drawingml/2006/table">
            <a:tbl>
              <a:tblPr>
                <a:noFill/>
                <a:tableStyleId>{F012DF18-E836-4FD0-B404-0FDCF6A232DF}</a:tableStyleId>
              </a:tblPr>
              <a:tblGrid>
                <a:gridCol w="626150"/>
                <a:gridCol w="626150"/>
                <a:gridCol w="626150"/>
                <a:gridCol w="626150"/>
                <a:gridCol w="626150"/>
              </a:tblGrid>
              <a:tr h="2154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105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105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105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105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105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78" name="Google Shape;178;p20"/>
          <p:cNvGraphicFramePr>
            <a:graphicFrameLocks noGrp="1"/>
          </p:cNvGraphicFramePr>
          <p:nvPr/>
        </p:nvGraphicFramePr>
        <p:xfrm>
          <a:off x="2101013" y="3118850"/>
          <a:ext cx="1252300" cy="215400"/>
        </p:xfrm>
        <a:graphic>
          <a:graphicData uri="http://schemas.openxmlformats.org/drawingml/2006/table">
            <a:tbl>
              <a:tblPr>
                <a:noFill/>
                <a:tableStyleId>{F012DF18-E836-4FD0-B404-0FDCF6A232DF}</a:tableStyleId>
              </a:tblPr>
              <a:tblGrid>
                <a:gridCol w="626150"/>
                <a:gridCol w="626150"/>
              </a:tblGrid>
              <a:tr h="2154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105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105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9" name="Google Shape;179;p20"/>
          <p:cNvSpPr/>
          <p:nvPr/>
        </p:nvSpPr>
        <p:spPr>
          <a:xfrm rot="5400000">
            <a:off x="2682174" y="2358800"/>
            <a:ext cx="90000" cy="1276800"/>
          </a:xfrm>
          <a:prstGeom prst="leftBracket">
            <a:avLst>
              <a:gd name="adj" fmla="val 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4525800" y="2907750"/>
            <a:ext cx="2433900" cy="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? = 5 × 105 = 525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So you need 525 ml of white paint.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2561813" y="2695425"/>
            <a:ext cx="4017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210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2" name="Google Shape;182;p20"/>
          <p:cNvSpPr/>
          <p:nvPr/>
        </p:nvSpPr>
        <p:spPr>
          <a:xfrm rot="-5400000">
            <a:off x="3632350" y="2148975"/>
            <a:ext cx="90000" cy="3141900"/>
          </a:xfrm>
          <a:prstGeom prst="leftBracket">
            <a:avLst>
              <a:gd name="adj" fmla="val 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628550" y="3109238"/>
            <a:ext cx="11874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Blue paint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629400" y="3361063"/>
            <a:ext cx="14196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White paint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3587538" y="3766213"/>
            <a:ext cx="4017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?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86" name="Google Shape;186;p20"/>
          <p:cNvGraphicFramePr>
            <a:graphicFrameLocks noGrp="1"/>
          </p:cNvGraphicFramePr>
          <p:nvPr/>
        </p:nvGraphicFramePr>
        <p:xfrm>
          <a:off x="1643813" y="5034375"/>
          <a:ext cx="2496125" cy="215400"/>
        </p:xfrm>
        <a:graphic>
          <a:graphicData uri="http://schemas.openxmlformats.org/drawingml/2006/table">
            <a:tbl>
              <a:tblPr>
                <a:noFill/>
                <a:tableStyleId>{F012DF18-E836-4FD0-B404-0FDCF6A232DF}</a:tableStyleId>
              </a:tblPr>
              <a:tblGrid>
                <a:gridCol w="499225"/>
                <a:gridCol w="499225"/>
                <a:gridCol w="499225"/>
                <a:gridCol w="499225"/>
                <a:gridCol w="499225"/>
              </a:tblGrid>
              <a:tr h="2154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87" name="Google Shape;187;p20"/>
          <p:cNvGraphicFramePr>
            <a:graphicFrameLocks noGrp="1"/>
          </p:cNvGraphicFramePr>
          <p:nvPr/>
        </p:nvGraphicFramePr>
        <p:xfrm>
          <a:off x="1643813" y="4750800"/>
          <a:ext cx="998450" cy="215400"/>
        </p:xfrm>
        <a:graphic>
          <a:graphicData uri="http://schemas.openxmlformats.org/drawingml/2006/table">
            <a:tbl>
              <a:tblPr>
                <a:noFill/>
                <a:tableStyleId>{F012DF18-E836-4FD0-B404-0FDCF6A232DF}</a:tableStyleId>
              </a:tblPr>
              <a:tblGrid>
                <a:gridCol w="499225"/>
                <a:gridCol w="499225"/>
              </a:tblGrid>
              <a:tr h="2154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8" name="Google Shape;188;p20"/>
          <p:cNvSpPr/>
          <p:nvPr/>
        </p:nvSpPr>
        <p:spPr>
          <a:xfrm rot="5400000">
            <a:off x="2097650" y="4118100"/>
            <a:ext cx="90000" cy="1022100"/>
          </a:xfrm>
          <a:prstGeom prst="leftBracket">
            <a:avLst>
              <a:gd name="adj" fmla="val 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/>
          <p:nvPr/>
        </p:nvSpPr>
        <p:spPr>
          <a:xfrm rot="10800000">
            <a:off x="4195500" y="4750800"/>
            <a:ext cx="92100" cy="496200"/>
          </a:xfrm>
          <a:prstGeom prst="leftBracket">
            <a:avLst>
              <a:gd name="adj" fmla="val 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4595875" y="4288500"/>
            <a:ext cx="2496000" cy="14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Blue paint: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 × 30 = 60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White paint: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5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30 = 150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60 ml of blue paint and 150 ml of white paint.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1" name="Google Shape;191;p20"/>
          <p:cNvSpPr/>
          <p:nvPr/>
        </p:nvSpPr>
        <p:spPr>
          <a:xfrm rot="-5400000">
            <a:off x="2851300" y="4111125"/>
            <a:ext cx="90000" cy="2494200"/>
          </a:xfrm>
          <a:prstGeom prst="leftBracket">
            <a:avLst>
              <a:gd name="adj" fmla="val 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553200" y="4696738"/>
            <a:ext cx="11874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Blue paint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553200" y="4980325"/>
            <a:ext cx="8946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White paint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4322900" y="4850125"/>
            <a:ext cx="5379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210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3024238" y="5486225"/>
            <a:ext cx="4017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?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2189613" y="4288000"/>
            <a:ext cx="4017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?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476400" y="6093300"/>
            <a:ext cx="6624000" cy="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If you used 210 ml </a:t>
            </a:r>
            <a:r>
              <a:rPr lang="en-GB" sz="12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more</a:t>
            </a:r>
            <a:r>
              <a:rPr lang="en-GB" sz="12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white paint than blue paint. How much paint was made in total?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8" name="Google Shape;198;p20"/>
          <p:cNvGraphicFramePr>
            <a:graphicFrameLocks noGrp="1"/>
          </p:cNvGraphicFramePr>
          <p:nvPr/>
        </p:nvGraphicFramePr>
        <p:xfrm>
          <a:off x="1548488" y="6973913"/>
          <a:ext cx="3130750" cy="182880"/>
        </p:xfrm>
        <a:graphic>
          <a:graphicData uri="http://schemas.openxmlformats.org/drawingml/2006/table">
            <a:tbl>
              <a:tblPr>
                <a:noFill/>
                <a:tableStyleId>{F012DF18-E836-4FD0-B404-0FDCF6A232DF}</a:tableStyleId>
              </a:tblPr>
              <a:tblGrid>
                <a:gridCol w="626150"/>
                <a:gridCol w="626150"/>
                <a:gridCol w="626150"/>
                <a:gridCol w="626150"/>
                <a:gridCol w="626150"/>
              </a:tblGrid>
              <a:tr h="1828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70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70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70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70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70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99" name="Google Shape;199;p20"/>
          <p:cNvGraphicFramePr>
            <a:graphicFrameLocks noGrp="1"/>
          </p:cNvGraphicFramePr>
          <p:nvPr/>
        </p:nvGraphicFramePr>
        <p:xfrm>
          <a:off x="1548488" y="6656350"/>
          <a:ext cx="1252300" cy="182880"/>
        </p:xfrm>
        <a:graphic>
          <a:graphicData uri="http://schemas.openxmlformats.org/drawingml/2006/table">
            <a:tbl>
              <a:tblPr>
                <a:noFill/>
                <a:tableStyleId>{F012DF18-E836-4FD0-B404-0FDCF6A232DF}</a:tableStyleId>
              </a:tblPr>
              <a:tblGrid>
                <a:gridCol w="626150"/>
                <a:gridCol w="626150"/>
              </a:tblGrid>
              <a:tr h="1745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70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70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00" name="Google Shape;200;p20"/>
          <p:cNvSpPr/>
          <p:nvPr/>
        </p:nvSpPr>
        <p:spPr>
          <a:xfrm rot="5400000">
            <a:off x="3690750" y="5933625"/>
            <a:ext cx="90000" cy="1870800"/>
          </a:xfrm>
          <a:prstGeom prst="leftBracket">
            <a:avLst>
              <a:gd name="adj" fmla="val 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/>
          <p:nvPr/>
        </p:nvSpPr>
        <p:spPr>
          <a:xfrm rot="10800000">
            <a:off x="4764000" y="6648400"/>
            <a:ext cx="92100" cy="489300"/>
          </a:xfrm>
          <a:prstGeom prst="leftBracket">
            <a:avLst>
              <a:gd name="adj" fmla="val 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5433625" y="6666975"/>
            <a:ext cx="1480500" cy="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? = 7 × 70 = 490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So 490 ml in total. 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3604182" y="6550338"/>
            <a:ext cx="5823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210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520900" y="6589038"/>
            <a:ext cx="11874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Blue paint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512450" y="6904363"/>
            <a:ext cx="14196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White paint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4860794" y="6677288"/>
            <a:ext cx="2079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?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476400" y="7998300"/>
            <a:ext cx="54768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If you have 210 ml of white paint, how much blue paint do you need?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8" name="Google Shape;208;p20"/>
          <p:cNvGraphicFramePr>
            <a:graphicFrameLocks noGrp="1"/>
          </p:cNvGraphicFramePr>
          <p:nvPr/>
        </p:nvGraphicFramePr>
        <p:xfrm>
          <a:off x="1516888" y="8941563"/>
          <a:ext cx="3130750" cy="182880"/>
        </p:xfrm>
        <a:graphic>
          <a:graphicData uri="http://schemas.openxmlformats.org/drawingml/2006/table">
            <a:tbl>
              <a:tblPr>
                <a:noFill/>
                <a:tableStyleId>{F012DF18-E836-4FD0-B404-0FDCF6A232DF}</a:tableStyleId>
              </a:tblPr>
              <a:tblGrid>
                <a:gridCol w="626150"/>
                <a:gridCol w="626150"/>
                <a:gridCol w="626150"/>
                <a:gridCol w="626150"/>
                <a:gridCol w="626150"/>
              </a:tblGrid>
              <a:tr h="1828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09" name="Google Shape;209;p20"/>
          <p:cNvGraphicFramePr>
            <a:graphicFrameLocks noGrp="1"/>
          </p:cNvGraphicFramePr>
          <p:nvPr/>
        </p:nvGraphicFramePr>
        <p:xfrm>
          <a:off x="1516888" y="8566038"/>
          <a:ext cx="1252300" cy="182880"/>
        </p:xfrm>
        <a:graphic>
          <a:graphicData uri="http://schemas.openxmlformats.org/drawingml/2006/table">
            <a:tbl>
              <a:tblPr>
                <a:noFill/>
                <a:tableStyleId>{F012DF18-E836-4FD0-B404-0FDCF6A232DF}</a:tableStyleId>
              </a:tblPr>
              <a:tblGrid>
                <a:gridCol w="626150"/>
                <a:gridCol w="626150"/>
              </a:tblGrid>
              <a:tr h="1828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10" name="Google Shape;210;p20"/>
          <p:cNvSpPr/>
          <p:nvPr/>
        </p:nvSpPr>
        <p:spPr>
          <a:xfrm rot="5400000">
            <a:off x="2098049" y="7830525"/>
            <a:ext cx="90000" cy="1276800"/>
          </a:xfrm>
          <a:prstGeom prst="leftBracket">
            <a:avLst>
              <a:gd name="adj" fmla="val 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4953600" y="8551500"/>
            <a:ext cx="2029500" cy="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? = 2 × 42 = 84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You need 84 ml of blue paint.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2069113" y="8163188"/>
            <a:ext cx="4017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?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2800800" y="9277725"/>
            <a:ext cx="4017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210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4" name="Google Shape;214;p20"/>
          <p:cNvSpPr/>
          <p:nvPr/>
        </p:nvSpPr>
        <p:spPr>
          <a:xfrm rot="-5400000">
            <a:off x="3037266" y="7656825"/>
            <a:ext cx="90000" cy="3151800"/>
          </a:xfrm>
          <a:prstGeom prst="leftBracket">
            <a:avLst>
              <a:gd name="adj" fmla="val 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534150" y="8506750"/>
            <a:ext cx="8352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Blue paint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534150" y="8885575"/>
            <a:ext cx="998400" cy="3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White paint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20" name="Shape 220"/>
        <p:cNvGrpSpPr/>
        <p:nvPr/>
      </p:nvGrpSpPr>
      <p:grpSpPr>
        <a:xfrm>
          <a:off x="0" y="0"/>
          <a:ext cx="0" cy="0"/>
        </a:xfrm>
      </p:grpSpPr>
      <p:sp>
        <p:nvSpPr>
          <p:cNvPr id="221" name="Google Shape;221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22" name="Google Shape;222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fractions and ratios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520900" y="646075"/>
            <a:ext cx="4563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B:  Problems involving fractions and ratios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476400" y="987900"/>
            <a:ext cx="6615600" cy="15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bag of sweets contains red, green and yellow sweets.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of the bag are red.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rest of the sweets are either green or yellow, in the ratio 3 : 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There are 72 sweets in the bag.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many of each colour are there?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7" name="Google Shape;227;p21" descr="&lt;math xmlns=&quot;http://www.w3.org/1998/Math/MathML&quot; display=&quot;block&quot; data-is-equatio=&quot;1&quot; data-latex=&quot;\frac{1}{3}&quot;&gt;&lt;mfrac&gt;&lt;mn&gt;1&lt;/mn&gt;&lt;mn&gt;3&lt;/mn&gt;&lt;/mfrac&gt;&lt;/math&gt;" title="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2550" y="1224777"/>
            <a:ext cx="101884" cy="33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1"/>
          <p:cNvSpPr txBox="1"/>
          <p:nvPr/>
        </p:nvSpPr>
        <p:spPr>
          <a:xfrm>
            <a:off x="926960" y="2772470"/>
            <a:ext cx="1269300" cy="13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Red = 24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Green = 18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Yellow = 30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2031775" y="2792425"/>
            <a:ext cx="252600" cy="804300"/>
          </a:xfrm>
          <a:prstGeom prst="rightBrace">
            <a:avLst>
              <a:gd name="adj1" fmla="val 50000"/>
              <a:gd name="adj2" fmla="val 5000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2355855" y="3098535"/>
            <a:ext cx="1781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Check 24 + 18 + 30 = 72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476400" y="3959700"/>
            <a:ext cx="5589000" cy="11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	Izzy counts 350 red, blue and white cars in a car park.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ratio of red to blue cars is 2 : 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	    of the cars are white.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457200" algn="l" rtl="0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How many of each colour are there in the car park?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2" name="Google Shape;232;p21" descr="&lt;math xmlns=&quot;http://www.w3.org/1998/Math/MathML&quot; display=&quot;block&quot; data-is-equatio=&quot;1&quot; data-latex=&quot;\frac{4}{7}&quot;&gt;&lt;mfrac&gt;&lt;mn&gt;4&lt;/mn&gt;&lt;mn&gt;7&lt;/mn&gt;&lt;/mfrac&gt;&lt;/math&gt;" title="four sev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4300" y="4499120"/>
            <a:ext cx="101875" cy="337167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1"/>
          <p:cNvSpPr txBox="1"/>
          <p:nvPr/>
        </p:nvSpPr>
        <p:spPr>
          <a:xfrm>
            <a:off x="945075" y="5325170"/>
            <a:ext cx="1072500" cy="9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White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 200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Red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 60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Blue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 90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476400" y="6779100"/>
            <a:ext cx="5673000" cy="11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	Andeep’s older sister Belle is 5 times his age.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45720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cat is three-tenths of Belle’s age.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45720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total of Andeep’s and Belle’s ages is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45720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 total of their ages?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942550" y="8002025"/>
            <a:ext cx="894300" cy="8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Andeep = 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Belle = 20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Cat = 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1836850" y="8031275"/>
            <a:ext cx="252600" cy="804300"/>
          </a:xfrm>
          <a:prstGeom prst="rightBrace">
            <a:avLst>
              <a:gd name="adj1" fmla="val 50000"/>
              <a:gd name="adj2" fmla="val 50000"/>
            </a:avLst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2355855" y="8325735"/>
            <a:ext cx="1781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Total age = 30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66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Problem solving with fractions and ratios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2024-02-06T09:20:36.658</cp:lastPrinted>
  <dcterms:created xsi:type="dcterms:W3CDTF">2024-02-06T09:20:36Z</dcterms:created>
  <dcterms:modified xsi:type="dcterms:W3CDTF">2024-02-06T09:20:45Z</dcterms:modified>
</cp:coreProperties>
</file>