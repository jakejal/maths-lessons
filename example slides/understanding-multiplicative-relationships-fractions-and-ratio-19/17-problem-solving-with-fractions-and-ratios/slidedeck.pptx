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18FFCD-7815-48D8-AF97-ABE9CCF2F404}">
  <a:tblStyle styleId="{5D18FFCD-7815-48D8-AF97-ABE9CCF2F40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6898bf37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6898bf3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9f7d96f69b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9f7d96f69b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a60fad867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a60fad867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g2a60fad867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4" name="Google Shape;814;g2a60fad867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2a60fad867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8" name="Google Shape;838;g2a60fad867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2a60fad867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3" name="Google Shape;873;g2a60fad867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a60fad867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a60fad867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2a60fad867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4" name="Google Shape;914;g2a60fad867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2a7f78ebd1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2a7f78ebd1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a60fad867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a60fad867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a60fad8672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a60fad8672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a60fad8672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a60fad867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g2a60fad8672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7" name="Google Shape;997;g2a60fad8672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a66328305c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a66328305c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2a66328305c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7" name="Google Shape;1067;g2a66328305c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a7f78ebd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a7f78ebd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2a7f78ebd11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a7f78ebd11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2a66328305c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4" name="Google Shape;1144;g2a66328305c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2a66328305c_0_4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2a66328305c_0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2a66328305c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2a66328305c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g2a66328305c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2" name="Google Shape;1182;g2a66328305c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2a66328305c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2a66328305c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g2a60fad867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2" name="Google Shape;1212;g2a60fad867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2a66328305c_0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0" name="Google Shape;1220;g2a66328305c_0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2a66328305c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8" name="Google Shape;1238;g2a66328305c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2a66328305c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3" name="Google Shape;1253;g2a66328305c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2a66328305c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5" name="Google Shape;1275;g2a66328305c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g2a66328305c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9" name="Google Shape;1289;g2a66328305c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a66328305c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a66328305c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g2a66328305c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9" name="Google Shape;1329;g2a66328305c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2a66328305c_0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6" name="Google Shape;1336;g2a66328305c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g2a66328305c_0_4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3" name="Google Shape;1343;g2a66328305c_0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a66328305c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9" name="Google Shape;1349;g2a66328305c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g2a66328305c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9" name="Google Shape;1359;g2a66328305c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g2a66328305c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7" name="Google Shape;1367;g2a66328305c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2" name="Google Shape;138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5.png"/><Relationship Id="rId4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9.png"/><Relationship Id="rId4" Type="http://schemas.openxmlformats.org/officeDocument/2006/relationships/image" Target="../media/image64.png"/><Relationship Id="rId5" Type="http://schemas.openxmlformats.org/officeDocument/2006/relationships/image" Target="../media/image26.png"/><Relationship Id="rId6" Type="http://schemas.openxmlformats.org/officeDocument/2006/relationships/image" Target="../media/image38.png"/><Relationship Id="rId7" Type="http://schemas.openxmlformats.org/officeDocument/2006/relationships/image" Target="../media/image1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4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Relationship Id="rId5" Type="http://schemas.openxmlformats.org/officeDocument/2006/relationships/image" Target="../media/image19.png"/><Relationship Id="rId6" Type="http://schemas.openxmlformats.org/officeDocument/2006/relationships/image" Target="../media/image39.png"/><Relationship Id="rId7" Type="http://schemas.openxmlformats.org/officeDocument/2006/relationships/image" Target="../media/image26.png"/><Relationship Id="rId8" Type="http://schemas.openxmlformats.org/officeDocument/2006/relationships/image" Target="../media/image3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64.png"/><Relationship Id="rId4" Type="http://schemas.openxmlformats.org/officeDocument/2006/relationships/image" Target="../media/image30.png"/><Relationship Id="rId11" Type="http://schemas.openxmlformats.org/officeDocument/2006/relationships/image" Target="../media/image16.png"/><Relationship Id="rId10" Type="http://schemas.openxmlformats.org/officeDocument/2006/relationships/image" Target="../media/image42.png"/><Relationship Id="rId9" Type="http://schemas.openxmlformats.org/officeDocument/2006/relationships/image" Target="../media/image38.png"/><Relationship Id="rId5" Type="http://schemas.openxmlformats.org/officeDocument/2006/relationships/image" Target="../media/image15.png"/><Relationship Id="rId6" Type="http://schemas.openxmlformats.org/officeDocument/2006/relationships/image" Target="../media/image19.png"/><Relationship Id="rId7" Type="http://schemas.openxmlformats.org/officeDocument/2006/relationships/image" Target="../media/image39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3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9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6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Relationship Id="rId4" Type="http://schemas.openxmlformats.org/officeDocument/2006/relationships/image" Target="../media/image52.png"/><Relationship Id="rId5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Relationship Id="rId4" Type="http://schemas.openxmlformats.org/officeDocument/2006/relationships/image" Target="../media/image5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8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8.png"/><Relationship Id="rId4" Type="http://schemas.openxmlformats.org/officeDocument/2006/relationships/image" Target="../media/image52.png"/><Relationship Id="rId5" Type="http://schemas.openxmlformats.org/officeDocument/2006/relationships/image" Target="../media/image5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6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fractions and ratios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fractions and ratio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my knowledge of fractions and ratios to solve problems.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/>
        </p:nvSpPr>
        <p:spPr>
          <a:xfrm>
            <a:off x="383151" y="1872400"/>
            <a:ext cx="82260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ratio shows the relative sizes of 2 or more values and allows you to compare a part with another part in a whole.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6"/>
          <p:cNvSpPr txBox="1"/>
          <p:nvPr/>
        </p:nvSpPr>
        <p:spPr>
          <a:xfrm>
            <a:off x="383150" y="836400"/>
            <a:ext cx="7767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Variables are in proportion if they have a constant multiplicative relationship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</a:t>
            </a:r>
            <a:r>
              <a:rPr lang="en-GB"/>
              <a:t>trategies to solve ratio problems</a:t>
            </a:r>
            <a:endParaRPr/>
          </a:p>
        </p:txBody>
      </p:sp>
      <p:sp>
        <p:nvSpPr>
          <p:cNvPr id="777" name="Google Shape;777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  <p:sp>
        <p:nvSpPr>
          <p:cNvPr id="778" name="Google Shape;778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fractions and ratios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25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4" name="Google Shape;784;p68"/>
          <p:cNvGrpSpPr/>
          <p:nvPr/>
        </p:nvGrpSpPr>
        <p:grpSpPr>
          <a:xfrm>
            <a:off x="6025125" y="1781800"/>
            <a:ext cx="2616900" cy="2361150"/>
            <a:chOff x="6025125" y="1781800"/>
            <a:chExt cx="2616900" cy="2361150"/>
          </a:xfrm>
        </p:grpSpPr>
        <p:sp>
          <p:nvSpPr>
            <p:cNvPr id="785" name="Google Shape;785;p68"/>
            <p:cNvSpPr/>
            <p:nvPr/>
          </p:nvSpPr>
          <p:spPr>
            <a:xfrm>
              <a:off x="6025125" y="1781800"/>
              <a:ext cx="2616900" cy="1773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786" name="Google Shape;786;p6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148333" y="3723850"/>
              <a:ext cx="396000" cy="4191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7" name="Google Shape;787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788" name="Google Shape;788;p68"/>
          <p:cNvSpPr txBox="1"/>
          <p:nvPr>
            <p:ph idx="1" type="body"/>
          </p:nvPr>
        </p:nvSpPr>
        <p:spPr>
          <a:xfrm>
            <a:off x="324000" y="768688"/>
            <a:ext cx="8237700" cy="10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ratio of red to blue counters in a bag is 3 ∶ 5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There are 30 blue counters.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Where should the 30 be labelled in a bar model of this problem?</a:t>
            </a:r>
            <a:endParaRPr sz="1800"/>
          </a:p>
        </p:txBody>
      </p:sp>
      <p:graphicFrame>
        <p:nvGraphicFramePr>
          <p:cNvPr id="789" name="Google Shape;789;p68"/>
          <p:cNvGraphicFramePr/>
          <p:nvPr/>
        </p:nvGraphicFramePr>
        <p:xfrm>
          <a:off x="419100" y="23103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0" name="Google Shape;790;p68"/>
          <p:cNvGraphicFramePr/>
          <p:nvPr/>
        </p:nvGraphicFramePr>
        <p:xfrm>
          <a:off x="419100" y="27688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6950"/>
                <a:gridCol w="386950"/>
                <a:gridCol w="386950"/>
                <a:gridCol w="386950"/>
                <a:gridCol w="386950"/>
              </a:tblGrid>
              <a:tr h="33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1" name="Google Shape;791;p68"/>
          <p:cNvGraphicFramePr/>
          <p:nvPr/>
        </p:nvGraphicFramePr>
        <p:xfrm>
          <a:off x="3452225" y="23103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92" name="Google Shape;792;p68"/>
          <p:cNvGraphicFramePr/>
          <p:nvPr/>
        </p:nvGraphicFramePr>
        <p:xfrm>
          <a:off x="3452225" y="27688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6950"/>
                <a:gridCol w="386950"/>
                <a:gridCol w="386950"/>
                <a:gridCol w="386950"/>
                <a:gridCol w="386950"/>
              </a:tblGrid>
              <a:tr h="33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grpSp>
        <p:nvGrpSpPr>
          <p:cNvPr id="793" name="Google Shape;793;p68"/>
          <p:cNvGrpSpPr/>
          <p:nvPr/>
        </p:nvGrpSpPr>
        <p:grpSpPr>
          <a:xfrm>
            <a:off x="419000" y="1798575"/>
            <a:ext cx="1157700" cy="449925"/>
            <a:chOff x="419000" y="1798575"/>
            <a:chExt cx="1157700" cy="449925"/>
          </a:xfrm>
        </p:grpSpPr>
        <p:sp>
          <p:nvSpPr>
            <p:cNvPr id="794" name="Google Shape;794;p68"/>
            <p:cNvSpPr/>
            <p:nvPr/>
          </p:nvSpPr>
          <p:spPr>
            <a:xfrm rot="5400000">
              <a:off x="952850" y="1624650"/>
              <a:ext cx="90000" cy="11577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5" name="Google Shape;795;p68"/>
            <p:cNvSpPr txBox="1"/>
            <p:nvPr/>
          </p:nvSpPr>
          <p:spPr>
            <a:xfrm>
              <a:off x="886775" y="1798575"/>
              <a:ext cx="2691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6" name="Google Shape;796;p68"/>
          <p:cNvGrpSpPr/>
          <p:nvPr/>
        </p:nvGrpSpPr>
        <p:grpSpPr>
          <a:xfrm>
            <a:off x="6367800" y="3161198"/>
            <a:ext cx="1945200" cy="394247"/>
            <a:chOff x="6367800" y="3161198"/>
            <a:chExt cx="1945200" cy="394247"/>
          </a:xfrm>
        </p:grpSpPr>
        <p:sp>
          <p:nvSpPr>
            <p:cNvPr id="797" name="Google Shape;797;p68"/>
            <p:cNvSpPr/>
            <p:nvPr/>
          </p:nvSpPr>
          <p:spPr>
            <a:xfrm rot="-5400000">
              <a:off x="7295400" y="2233598"/>
              <a:ext cx="90000" cy="19452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798" name="Google Shape;798;p68"/>
            <p:cNvSpPr txBox="1"/>
            <p:nvPr/>
          </p:nvSpPr>
          <p:spPr>
            <a:xfrm>
              <a:off x="7205850" y="3241945"/>
              <a:ext cx="10968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30 ÷ 5 = 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799" name="Google Shape;799;p68"/>
          <p:cNvSpPr txBox="1"/>
          <p:nvPr/>
        </p:nvSpPr>
        <p:spPr>
          <a:xfrm>
            <a:off x="324002" y="4333300"/>
            <a:ext cx="8100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will now take a look at what problems the other bar models were representing.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00" name="Google Shape;800;p68"/>
          <p:cNvGraphicFramePr/>
          <p:nvPr/>
        </p:nvGraphicFramePr>
        <p:xfrm>
          <a:off x="6367800" y="27688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6950"/>
                <a:gridCol w="386950"/>
                <a:gridCol w="386950"/>
                <a:gridCol w="386950"/>
                <a:gridCol w="386950"/>
              </a:tblGrid>
              <a:tr h="335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01" name="Google Shape;801;p68"/>
          <p:cNvGraphicFramePr/>
          <p:nvPr/>
        </p:nvGraphicFramePr>
        <p:xfrm>
          <a:off x="6367800" y="231034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sp>
        <p:nvSpPr>
          <p:cNvPr id="802" name="Google Shape;802;p68"/>
          <p:cNvSpPr/>
          <p:nvPr/>
        </p:nvSpPr>
        <p:spPr>
          <a:xfrm>
            <a:off x="7492800" y="3311209"/>
            <a:ext cx="776400" cy="22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3" name="Google Shape;803;p68"/>
          <p:cNvGrpSpPr/>
          <p:nvPr/>
        </p:nvGrpSpPr>
        <p:grpSpPr>
          <a:xfrm>
            <a:off x="5465688" y="2282250"/>
            <a:ext cx="407627" cy="835500"/>
            <a:chOff x="5465688" y="2282250"/>
            <a:chExt cx="407627" cy="835500"/>
          </a:xfrm>
        </p:grpSpPr>
        <p:sp>
          <p:nvSpPr>
            <p:cNvPr id="804" name="Google Shape;804;p68"/>
            <p:cNvSpPr txBox="1"/>
            <p:nvPr/>
          </p:nvSpPr>
          <p:spPr>
            <a:xfrm>
              <a:off x="5604215" y="2543247"/>
              <a:ext cx="2691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30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5" name="Google Shape;805;p68"/>
            <p:cNvSpPr/>
            <p:nvPr/>
          </p:nvSpPr>
          <p:spPr>
            <a:xfrm rot="10800000">
              <a:off x="5465688" y="2282250"/>
              <a:ext cx="92100" cy="8355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6" name="Google Shape;806;p68"/>
          <p:cNvGrpSpPr/>
          <p:nvPr/>
        </p:nvGrpSpPr>
        <p:grpSpPr>
          <a:xfrm>
            <a:off x="1651225" y="771625"/>
            <a:ext cx="4000640" cy="259500"/>
            <a:chOff x="1651225" y="771625"/>
            <a:chExt cx="4000640" cy="259500"/>
          </a:xfrm>
        </p:grpSpPr>
        <p:sp>
          <p:nvSpPr>
            <p:cNvPr id="807" name="Google Shape;807;p68"/>
            <p:cNvSpPr/>
            <p:nvPr/>
          </p:nvSpPr>
          <p:spPr>
            <a:xfrm>
              <a:off x="1651225" y="771625"/>
              <a:ext cx="407700" cy="2595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8" name="Google Shape;808;p68"/>
            <p:cNvSpPr/>
            <p:nvPr/>
          </p:nvSpPr>
          <p:spPr>
            <a:xfrm>
              <a:off x="5131775" y="771625"/>
              <a:ext cx="200700" cy="2595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09" name="Google Shape;809;p68"/>
            <p:cNvSpPr/>
            <p:nvPr/>
          </p:nvSpPr>
          <p:spPr>
            <a:xfrm>
              <a:off x="2353850" y="771625"/>
              <a:ext cx="533400" cy="2595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0" name="Google Shape;810;p68"/>
            <p:cNvSpPr/>
            <p:nvPr/>
          </p:nvSpPr>
          <p:spPr>
            <a:xfrm>
              <a:off x="5451165" y="771625"/>
              <a:ext cx="200700" cy="2595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11" name="Google Shape;811;p68"/>
          <p:cNvSpPr txBox="1"/>
          <p:nvPr/>
        </p:nvSpPr>
        <p:spPr>
          <a:xfrm>
            <a:off x="337250" y="3365150"/>
            <a:ext cx="5615100" cy="5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 is the part of the ratio that represents blue counters, so this part has a value of 30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817" name="Google Shape;817;p69"/>
          <p:cNvSpPr txBox="1"/>
          <p:nvPr>
            <p:ph idx="1" type="body"/>
          </p:nvPr>
        </p:nvSpPr>
        <p:spPr>
          <a:xfrm>
            <a:off x="4320000" y="3236213"/>
            <a:ext cx="3393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you agree with Sam?</a:t>
            </a:r>
            <a:endParaRPr/>
          </a:p>
        </p:txBody>
      </p:sp>
      <p:graphicFrame>
        <p:nvGraphicFramePr>
          <p:cNvPr id="818" name="Google Shape;818;p69"/>
          <p:cNvGraphicFramePr/>
          <p:nvPr/>
        </p:nvGraphicFramePr>
        <p:xfrm>
          <a:off x="3742063" y="131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19" name="Google Shape;819;p69"/>
          <p:cNvGraphicFramePr/>
          <p:nvPr/>
        </p:nvGraphicFramePr>
        <p:xfrm>
          <a:off x="3742063" y="175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6950"/>
                <a:gridCol w="386950"/>
                <a:gridCol w="386950"/>
                <a:gridCol w="386950"/>
                <a:gridCol w="386950"/>
              </a:tblGrid>
              <a:tr h="33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sp>
        <p:nvSpPr>
          <p:cNvPr id="820" name="Google Shape;820;p69"/>
          <p:cNvSpPr/>
          <p:nvPr/>
        </p:nvSpPr>
        <p:spPr>
          <a:xfrm rot="10800000">
            <a:off x="5737063" y="1290225"/>
            <a:ext cx="92100" cy="835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69"/>
          <p:cNvSpPr/>
          <p:nvPr/>
        </p:nvSpPr>
        <p:spPr>
          <a:xfrm rot="5400000">
            <a:off x="4275813" y="636075"/>
            <a:ext cx="90000" cy="1157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69"/>
          <p:cNvSpPr txBox="1"/>
          <p:nvPr/>
        </p:nvSpPr>
        <p:spPr>
          <a:xfrm>
            <a:off x="4230129" y="810000"/>
            <a:ext cx="1243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 ÷ 3 = 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69"/>
          <p:cNvSpPr txBox="1"/>
          <p:nvPr/>
        </p:nvSpPr>
        <p:spPr>
          <a:xfrm>
            <a:off x="5886838" y="1551225"/>
            <a:ext cx="14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4" name="Google Shape;824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82" y="360860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69"/>
          <p:cNvSpPr txBox="1"/>
          <p:nvPr/>
        </p:nvSpPr>
        <p:spPr>
          <a:xfrm>
            <a:off x="400200" y="45568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6" name="Google Shape;826;p69"/>
          <p:cNvGrpSpPr/>
          <p:nvPr/>
        </p:nvGrpSpPr>
        <p:grpSpPr>
          <a:xfrm>
            <a:off x="1063026" y="2364850"/>
            <a:ext cx="2996225" cy="2056225"/>
            <a:chOff x="5646298" y="2325182"/>
            <a:chExt cx="2778399" cy="3994997"/>
          </a:xfrm>
        </p:grpSpPr>
        <p:pic>
          <p:nvPicPr>
            <p:cNvPr id="827" name="Google Shape;827;p6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5646298" y="2325182"/>
              <a:ext cx="2778399" cy="39949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8" name="Google Shape;828;p69"/>
            <p:cNvSpPr txBox="1"/>
            <p:nvPr/>
          </p:nvSpPr>
          <p:spPr>
            <a:xfrm>
              <a:off x="5844225" y="2723570"/>
              <a:ext cx="2496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the bar model is saying that there are 30 red counters and how many counters are there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altogether.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29" name="Google Shape;829;p69"/>
          <p:cNvSpPr txBox="1"/>
          <p:nvPr>
            <p:ph idx="1" type="body"/>
          </p:nvPr>
        </p:nvSpPr>
        <p:spPr>
          <a:xfrm>
            <a:off x="4320000" y="3693425"/>
            <a:ext cx="4446300" cy="107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Yes, the 30 is over the red bar and the question mark is around the whole model.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0" name="Google Shape;830;p69"/>
          <p:cNvSpPr/>
          <p:nvPr/>
        </p:nvSpPr>
        <p:spPr>
          <a:xfrm>
            <a:off x="4561524" y="853850"/>
            <a:ext cx="847500" cy="22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31" name="Google Shape;831;p69"/>
          <p:cNvGraphicFramePr/>
          <p:nvPr/>
        </p:nvGraphicFramePr>
        <p:xfrm>
          <a:off x="3742063" y="1316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32" name="Google Shape;832;p69"/>
          <p:cNvGraphicFramePr/>
          <p:nvPr/>
        </p:nvGraphicFramePr>
        <p:xfrm>
          <a:off x="3742063" y="1756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6950"/>
                <a:gridCol w="386950"/>
                <a:gridCol w="386950"/>
                <a:gridCol w="386950"/>
                <a:gridCol w="386950"/>
              </a:tblGrid>
              <a:tr h="335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sp>
        <p:nvSpPr>
          <p:cNvPr id="833" name="Google Shape;833;p69"/>
          <p:cNvSpPr txBox="1"/>
          <p:nvPr/>
        </p:nvSpPr>
        <p:spPr>
          <a:xfrm>
            <a:off x="5879086" y="1454074"/>
            <a:ext cx="12900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× 10 = 80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69"/>
          <p:cNvSpPr txBox="1"/>
          <p:nvPr/>
        </p:nvSpPr>
        <p:spPr>
          <a:xfrm>
            <a:off x="2065800" y="1337825"/>
            <a:ext cx="15978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Red counters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69"/>
          <p:cNvSpPr txBox="1"/>
          <p:nvPr/>
        </p:nvSpPr>
        <p:spPr>
          <a:xfrm>
            <a:off x="2071353" y="1772745"/>
            <a:ext cx="15978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Blue counters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graphicFrame>
        <p:nvGraphicFramePr>
          <p:cNvPr id="841" name="Google Shape;841;p70"/>
          <p:cNvGraphicFramePr/>
          <p:nvPr/>
        </p:nvGraphicFramePr>
        <p:xfrm>
          <a:off x="3299825" y="79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2" name="Google Shape;842;p70"/>
          <p:cNvGraphicFramePr/>
          <p:nvPr/>
        </p:nvGraphicFramePr>
        <p:xfrm>
          <a:off x="3299825" y="123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6950"/>
                <a:gridCol w="386950"/>
                <a:gridCol w="386950"/>
                <a:gridCol w="386950"/>
                <a:gridCol w="386950"/>
              </a:tblGrid>
              <a:tr h="335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sp>
        <p:nvSpPr>
          <p:cNvPr id="843" name="Google Shape;843;p70"/>
          <p:cNvSpPr/>
          <p:nvPr/>
        </p:nvSpPr>
        <p:spPr>
          <a:xfrm rot="10800000">
            <a:off x="6113125" y="754800"/>
            <a:ext cx="92100" cy="835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0"/>
          <p:cNvSpPr/>
          <p:nvPr/>
        </p:nvSpPr>
        <p:spPr>
          <a:xfrm rot="5400000">
            <a:off x="4818325" y="712950"/>
            <a:ext cx="90000" cy="753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0"/>
          <p:cNvSpPr txBox="1"/>
          <p:nvPr/>
        </p:nvSpPr>
        <p:spPr>
          <a:xfrm>
            <a:off x="4726162" y="725400"/>
            <a:ext cx="1227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 ÷ 2 = 15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0"/>
          <p:cNvSpPr txBox="1"/>
          <p:nvPr/>
        </p:nvSpPr>
        <p:spPr>
          <a:xfrm>
            <a:off x="6316075" y="1032450"/>
            <a:ext cx="14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7" name="Google Shape;847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82" y="295186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0"/>
          <p:cNvSpPr txBox="1"/>
          <p:nvPr/>
        </p:nvSpPr>
        <p:spPr>
          <a:xfrm>
            <a:off x="400200" y="390011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9" name="Google Shape;849;p70"/>
          <p:cNvGrpSpPr/>
          <p:nvPr/>
        </p:nvGrpSpPr>
        <p:grpSpPr>
          <a:xfrm>
            <a:off x="1062323" y="1708110"/>
            <a:ext cx="2694530" cy="1629825"/>
            <a:chOff x="5646295" y="2325182"/>
            <a:chExt cx="2694530" cy="3166554"/>
          </a:xfrm>
        </p:grpSpPr>
        <p:pic>
          <p:nvPicPr>
            <p:cNvPr id="850" name="Google Shape;850;p70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5646295" y="2325182"/>
              <a:ext cx="2307277" cy="31665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1" name="Google Shape;851;p70"/>
            <p:cNvSpPr txBox="1"/>
            <p:nvPr/>
          </p:nvSpPr>
          <p:spPr>
            <a:xfrm>
              <a:off x="5844225" y="2575522"/>
              <a:ext cx="2496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don’t think I’ve seen a bar model with the bracket there before.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2" name="Google Shape;852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19688" y="310427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0"/>
          <p:cNvSpPr txBox="1"/>
          <p:nvPr/>
        </p:nvSpPr>
        <p:spPr>
          <a:xfrm>
            <a:off x="7540625" y="400256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4" name="Google Shape;854;p70"/>
          <p:cNvGrpSpPr/>
          <p:nvPr/>
        </p:nvGrpSpPr>
        <p:grpSpPr>
          <a:xfrm>
            <a:off x="4587125" y="2226010"/>
            <a:ext cx="2602726" cy="1574425"/>
            <a:chOff x="4587125" y="2730350"/>
            <a:chExt cx="2602726" cy="1574425"/>
          </a:xfrm>
        </p:grpSpPr>
        <p:pic>
          <p:nvPicPr>
            <p:cNvPr id="855" name="Google Shape;855;p70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4587125" y="2730350"/>
              <a:ext cx="2602726" cy="1574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6" name="Google Shape;856;p70"/>
            <p:cNvSpPr txBox="1"/>
            <p:nvPr/>
          </p:nvSpPr>
          <p:spPr>
            <a:xfrm>
              <a:off x="4736450" y="2802125"/>
              <a:ext cx="2453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Yes, I think you are right Sam.  But I am sure we can work it out.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7" name="Google Shape;857;p70"/>
          <p:cNvGrpSpPr/>
          <p:nvPr/>
        </p:nvGrpSpPr>
        <p:grpSpPr>
          <a:xfrm>
            <a:off x="1117573" y="2078634"/>
            <a:ext cx="2228626" cy="1256275"/>
            <a:chOff x="5646296" y="2452876"/>
            <a:chExt cx="2228626" cy="2440791"/>
          </a:xfrm>
        </p:grpSpPr>
        <p:pic>
          <p:nvPicPr>
            <p:cNvPr id="858" name="Google Shape;858;p70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5646296" y="2452876"/>
              <a:ext cx="2084925" cy="2440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9" name="Google Shape;859;p70"/>
            <p:cNvSpPr txBox="1"/>
            <p:nvPr/>
          </p:nvSpPr>
          <p:spPr>
            <a:xfrm>
              <a:off x="5844222" y="2575522"/>
              <a:ext cx="2030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30 is above the extra blue parts.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0" name="Google Shape;860;p70"/>
          <p:cNvGrpSpPr/>
          <p:nvPr/>
        </p:nvGrpSpPr>
        <p:grpSpPr>
          <a:xfrm>
            <a:off x="4510925" y="1568224"/>
            <a:ext cx="2694523" cy="2231300"/>
            <a:chOff x="4587125" y="2655975"/>
            <a:chExt cx="2694523" cy="2231300"/>
          </a:xfrm>
        </p:grpSpPr>
        <p:pic>
          <p:nvPicPr>
            <p:cNvPr id="861" name="Google Shape;861;p70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4587125" y="2655975"/>
              <a:ext cx="2694523" cy="2231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2" name="Google Shape;862;p70"/>
            <p:cNvSpPr txBox="1"/>
            <p:nvPr/>
          </p:nvSpPr>
          <p:spPr>
            <a:xfrm>
              <a:off x="4736450" y="2802125"/>
              <a:ext cx="2453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Therefore, it must be there are 30 more blue than red counters in the bag.  How many counters are there in total?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63" name="Google Shape;863;p70"/>
          <p:cNvSpPr txBox="1"/>
          <p:nvPr>
            <p:ph idx="1" type="body"/>
          </p:nvPr>
        </p:nvSpPr>
        <p:spPr>
          <a:xfrm>
            <a:off x="1673100" y="3841460"/>
            <a:ext cx="3567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 you agree with Jacob?</a:t>
            </a:r>
            <a:endParaRPr/>
          </a:p>
        </p:txBody>
      </p:sp>
      <p:sp>
        <p:nvSpPr>
          <p:cNvPr id="864" name="Google Shape;864;p70"/>
          <p:cNvSpPr txBox="1"/>
          <p:nvPr>
            <p:ph idx="1" type="body"/>
          </p:nvPr>
        </p:nvSpPr>
        <p:spPr>
          <a:xfrm>
            <a:off x="1673100" y="4403900"/>
            <a:ext cx="51237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Yes, the 30 is over the 2 extra blue parts.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65" name="Google Shape;865;p70"/>
          <p:cNvSpPr/>
          <p:nvPr/>
        </p:nvSpPr>
        <p:spPr>
          <a:xfrm>
            <a:off x="5006725" y="771000"/>
            <a:ext cx="947100" cy="22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66" name="Google Shape;866;p70"/>
          <p:cNvGraphicFramePr/>
          <p:nvPr/>
        </p:nvGraphicFramePr>
        <p:xfrm>
          <a:off x="3299825" y="799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2850"/>
                <a:gridCol w="382850"/>
                <a:gridCol w="3828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67" name="Google Shape;867;p70"/>
          <p:cNvGraphicFramePr/>
          <p:nvPr/>
        </p:nvGraphicFramePr>
        <p:xfrm>
          <a:off x="3299825" y="123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86950"/>
                <a:gridCol w="386950"/>
                <a:gridCol w="386950"/>
                <a:gridCol w="386950"/>
                <a:gridCol w="386950"/>
              </a:tblGrid>
              <a:tr h="3352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sp>
        <p:nvSpPr>
          <p:cNvPr id="868" name="Google Shape;868;p70"/>
          <p:cNvSpPr txBox="1"/>
          <p:nvPr/>
        </p:nvSpPr>
        <p:spPr>
          <a:xfrm>
            <a:off x="6336273" y="920675"/>
            <a:ext cx="15228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 × 15 = 120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9" name="Google Shape;869;p70"/>
          <p:cNvSpPr txBox="1"/>
          <p:nvPr/>
        </p:nvSpPr>
        <p:spPr>
          <a:xfrm>
            <a:off x="1607913" y="791988"/>
            <a:ext cx="15978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Red counters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0"/>
          <p:cNvSpPr txBox="1"/>
          <p:nvPr/>
        </p:nvSpPr>
        <p:spPr>
          <a:xfrm>
            <a:off x="1613466" y="1226907"/>
            <a:ext cx="15978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Blue counters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876" name="Google Shape;876;p71"/>
          <p:cNvSpPr txBox="1"/>
          <p:nvPr>
            <p:ph idx="1" type="body"/>
          </p:nvPr>
        </p:nvSpPr>
        <p:spPr>
          <a:xfrm>
            <a:off x="324000" y="759300"/>
            <a:ext cx="7347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Sam and Jacob share some sweets in the ratio of 3 : 7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382" y="3561460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1"/>
          <p:cNvSpPr txBox="1"/>
          <p:nvPr/>
        </p:nvSpPr>
        <p:spPr>
          <a:xfrm>
            <a:off x="400200" y="450971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9" name="Google Shape;879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9688" y="371387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71"/>
          <p:cNvSpPr txBox="1"/>
          <p:nvPr/>
        </p:nvSpPr>
        <p:spPr>
          <a:xfrm>
            <a:off x="7540625" y="461216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81" name="Google Shape;881;p71"/>
          <p:cNvGrpSpPr/>
          <p:nvPr/>
        </p:nvGrpSpPr>
        <p:grpSpPr>
          <a:xfrm>
            <a:off x="1117573" y="3069234"/>
            <a:ext cx="2228626" cy="1256275"/>
            <a:chOff x="5646296" y="2452876"/>
            <a:chExt cx="2228626" cy="2440791"/>
          </a:xfrm>
        </p:grpSpPr>
        <p:pic>
          <p:nvPicPr>
            <p:cNvPr id="882" name="Google Shape;882;p7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5646296" y="2452876"/>
              <a:ext cx="2084925" cy="24407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3" name="Google Shape;883;p71"/>
            <p:cNvSpPr txBox="1"/>
            <p:nvPr/>
          </p:nvSpPr>
          <p:spPr>
            <a:xfrm>
              <a:off x="5844222" y="2575522"/>
              <a:ext cx="2030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How many am I going to get then?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84" name="Google Shape;884;p71"/>
          <p:cNvGrpSpPr/>
          <p:nvPr/>
        </p:nvGrpSpPr>
        <p:grpSpPr>
          <a:xfrm>
            <a:off x="4891925" y="3397024"/>
            <a:ext cx="2694523" cy="874051"/>
            <a:chOff x="4587125" y="2732175"/>
            <a:chExt cx="2694523" cy="874051"/>
          </a:xfrm>
        </p:grpSpPr>
        <p:pic>
          <p:nvPicPr>
            <p:cNvPr id="885" name="Google Shape;885;p7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4587125" y="2732175"/>
              <a:ext cx="2694523" cy="8740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6" name="Google Shape;886;p71"/>
            <p:cNvSpPr txBox="1"/>
            <p:nvPr/>
          </p:nvSpPr>
          <p:spPr>
            <a:xfrm>
              <a:off x="4736450" y="2802125"/>
              <a:ext cx="2453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am going to get 12 more than you.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887" name="Google Shape;887;p71"/>
          <p:cNvGraphicFramePr/>
          <p:nvPr/>
        </p:nvGraphicFramePr>
        <p:xfrm>
          <a:off x="1342100" y="224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521600"/>
                <a:gridCol w="521600"/>
                <a:gridCol w="521600"/>
                <a:gridCol w="521600"/>
                <a:gridCol w="521600"/>
                <a:gridCol w="521600"/>
                <a:gridCol w="521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88" name="Google Shape;888;p71"/>
          <p:cNvGraphicFramePr/>
          <p:nvPr/>
        </p:nvGraphicFramePr>
        <p:xfrm>
          <a:off x="1342100" y="162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521925"/>
                <a:gridCol w="521925"/>
                <a:gridCol w="521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9" name="Google Shape;889;p71"/>
          <p:cNvSpPr txBox="1"/>
          <p:nvPr/>
        </p:nvSpPr>
        <p:spPr>
          <a:xfrm>
            <a:off x="324000" y="1660350"/>
            <a:ext cx="705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Sam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1"/>
          <p:cNvSpPr txBox="1"/>
          <p:nvPr/>
        </p:nvSpPr>
        <p:spPr>
          <a:xfrm>
            <a:off x="324000" y="2277825"/>
            <a:ext cx="858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1" name="Google Shape;891;p71"/>
          <p:cNvSpPr/>
          <p:nvPr/>
        </p:nvSpPr>
        <p:spPr>
          <a:xfrm rot="5400000">
            <a:off x="3898175" y="1080327"/>
            <a:ext cx="90000" cy="2072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2" name="Google Shape;892;p71"/>
          <p:cNvSpPr txBox="1"/>
          <p:nvPr/>
        </p:nvSpPr>
        <p:spPr>
          <a:xfrm>
            <a:off x="3826800" y="1728950"/>
            <a:ext cx="1454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12 ÷ 4 = 3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1"/>
          <p:cNvSpPr/>
          <p:nvPr/>
        </p:nvSpPr>
        <p:spPr>
          <a:xfrm>
            <a:off x="4200100" y="1766675"/>
            <a:ext cx="947100" cy="22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94" name="Google Shape;894;p71"/>
          <p:cNvGraphicFramePr/>
          <p:nvPr/>
        </p:nvGraphicFramePr>
        <p:xfrm>
          <a:off x="1342100" y="224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521600"/>
                <a:gridCol w="521600"/>
                <a:gridCol w="521600"/>
                <a:gridCol w="521600"/>
                <a:gridCol w="521600"/>
                <a:gridCol w="521600"/>
                <a:gridCol w="521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95" name="Google Shape;895;p71"/>
          <p:cNvGraphicFramePr/>
          <p:nvPr/>
        </p:nvGraphicFramePr>
        <p:xfrm>
          <a:off x="1342100" y="224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521600"/>
                <a:gridCol w="521600"/>
                <a:gridCol w="521600"/>
                <a:gridCol w="521600"/>
                <a:gridCol w="521600"/>
                <a:gridCol w="521600"/>
                <a:gridCol w="521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96" name="Google Shape;896;p71"/>
          <p:cNvGraphicFramePr/>
          <p:nvPr/>
        </p:nvGraphicFramePr>
        <p:xfrm>
          <a:off x="1342100" y="1626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521925"/>
                <a:gridCol w="521925"/>
                <a:gridCol w="521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97" name="Google Shape;897;p71"/>
          <p:cNvGrpSpPr/>
          <p:nvPr/>
        </p:nvGrpSpPr>
        <p:grpSpPr>
          <a:xfrm>
            <a:off x="1342225" y="1108275"/>
            <a:ext cx="1563000" cy="431775"/>
            <a:chOff x="1342225" y="1108275"/>
            <a:chExt cx="1563000" cy="431775"/>
          </a:xfrm>
        </p:grpSpPr>
        <p:sp>
          <p:nvSpPr>
            <p:cNvPr id="898" name="Google Shape;898;p71"/>
            <p:cNvSpPr/>
            <p:nvPr/>
          </p:nvSpPr>
          <p:spPr>
            <a:xfrm rot="5400000">
              <a:off x="2078725" y="713550"/>
              <a:ext cx="90000" cy="15630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99" name="Google Shape;899;p71"/>
            <p:cNvSpPr txBox="1"/>
            <p:nvPr/>
          </p:nvSpPr>
          <p:spPr>
            <a:xfrm>
              <a:off x="2063652" y="1108275"/>
              <a:ext cx="1830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00" name="Google Shape;900;p71"/>
          <p:cNvSpPr txBox="1"/>
          <p:nvPr/>
        </p:nvSpPr>
        <p:spPr>
          <a:xfrm>
            <a:off x="1618400" y="1133925"/>
            <a:ext cx="1122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× 3 = 9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1" name="Google Shape;901;p71"/>
          <p:cNvSpPr txBox="1"/>
          <p:nvPr/>
        </p:nvSpPr>
        <p:spPr>
          <a:xfrm>
            <a:off x="5971250" y="1841825"/>
            <a:ext cx="23499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Sam gets 9 sweets.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907" name="Google Shape;907;p72"/>
          <p:cNvSpPr txBox="1"/>
          <p:nvPr>
            <p:ph idx="1" type="body"/>
          </p:nvPr>
        </p:nvSpPr>
        <p:spPr>
          <a:xfrm>
            <a:off x="324000" y="759300"/>
            <a:ext cx="8237700" cy="75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solve different types of ratio problems with bar models. Here are a few of the most common:</a:t>
            </a:r>
            <a:endParaRPr sz="2000"/>
          </a:p>
        </p:txBody>
      </p:sp>
      <p:graphicFrame>
        <p:nvGraphicFramePr>
          <p:cNvPr id="908" name="Google Shape;908;p72"/>
          <p:cNvGraphicFramePr/>
          <p:nvPr/>
        </p:nvGraphicFramePr>
        <p:xfrm>
          <a:off x="390075" y="15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523425"/>
                <a:gridCol w="5511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Type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What to look for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Given the </a:t>
                      </a: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total</a:t>
                      </a:r>
                      <a:endParaRPr sz="18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Have you been told the total amount that needs to be shared or has been split?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Given </a:t>
                      </a: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one part</a:t>
                      </a:r>
                      <a:endParaRPr sz="18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Have you been given only what one part of the ratio is? For example, just one colour of counters or just one person’s share?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Given the </a:t>
                      </a: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endParaRPr sz="18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Have you been given how much more or less one part is than the other? Look for the words </a:t>
                      </a: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more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 </a:t>
                      </a: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less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or </a:t>
                      </a: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difference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.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9" name="Google Shape;909;p72"/>
          <p:cNvSpPr/>
          <p:nvPr/>
        </p:nvSpPr>
        <p:spPr>
          <a:xfrm>
            <a:off x="3012300" y="2064100"/>
            <a:ext cx="53184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2"/>
          <p:cNvSpPr/>
          <p:nvPr/>
        </p:nvSpPr>
        <p:spPr>
          <a:xfrm>
            <a:off x="2967500" y="2809775"/>
            <a:ext cx="5363100" cy="876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2"/>
          <p:cNvSpPr/>
          <p:nvPr/>
        </p:nvSpPr>
        <p:spPr>
          <a:xfrm>
            <a:off x="2967500" y="3830900"/>
            <a:ext cx="5318400" cy="85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917" name="Google Shape;917;p73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Identify the type of question each of these are.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Have you been given the </a:t>
            </a:r>
            <a:r>
              <a:rPr lang="en-GB" sz="2000">
                <a:solidFill>
                  <a:schemeClr val="accent4"/>
                </a:solidFill>
              </a:rPr>
              <a:t>total</a:t>
            </a:r>
            <a:r>
              <a:rPr lang="en-GB" sz="2000"/>
              <a:t>, </a:t>
            </a:r>
            <a:r>
              <a:rPr lang="en-GB" sz="2000">
                <a:solidFill>
                  <a:schemeClr val="accent4"/>
                </a:solidFill>
              </a:rPr>
              <a:t>one part</a:t>
            </a:r>
            <a:r>
              <a:rPr lang="en-GB" sz="2000"/>
              <a:t> or the </a:t>
            </a:r>
            <a:r>
              <a:rPr lang="en-GB" sz="2000">
                <a:solidFill>
                  <a:schemeClr val="accent4"/>
                </a:solidFill>
              </a:rPr>
              <a:t>difference</a:t>
            </a:r>
            <a:r>
              <a:rPr lang="en-GB" sz="2000"/>
              <a:t>?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The ratio of red to blue cars in a car park is 5 : 2.  There are 15 more red cars.  How many blue cars are there?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The ratio of squash to water in a drink is 1 : 6.  You use 25 ml of squash how much water should you use?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2 charities divide £350 in the ratio of 2 : 5.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AutoNum type="arabicParenR"/>
            </a:pPr>
            <a:r>
              <a:rPr lang="en-GB" sz="2000"/>
              <a:t>The ratio of children to adults in a club is 2 : 3.  If there are 12 children, how many are in the club in total?</a:t>
            </a:r>
            <a:endParaRPr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923" name="Google Shape;923;p74"/>
          <p:cNvSpPr txBox="1"/>
          <p:nvPr>
            <p:ph idx="1" type="body"/>
          </p:nvPr>
        </p:nvSpPr>
        <p:spPr>
          <a:xfrm>
            <a:off x="324000" y="759300"/>
            <a:ext cx="84960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Identify the type of question each of these are.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Have you been given the </a:t>
            </a:r>
            <a:r>
              <a:rPr lang="en-GB" sz="2000">
                <a:solidFill>
                  <a:schemeClr val="accent4"/>
                </a:solidFill>
              </a:rPr>
              <a:t>total</a:t>
            </a:r>
            <a:r>
              <a:rPr lang="en-GB" sz="2000"/>
              <a:t>, </a:t>
            </a:r>
            <a:r>
              <a:rPr lang="en-GB" sz="2000">
                <a:solidFill>
                  <a:schemeClr val="accent4"/>
                </a:solidFill>
              </a:rPr>
              <a:t>one part</a:t>
            </a:r>
            <a:r>
              <a:rPr lang="en-GB" sz="2000"/>
              <a:t> or the </a:t>
            </a:r>
            <a:r>
              <a:rPr lang="en-GB" sz="2000">
                <a:solidFill>
                  <a:schemeClr val="accent4"/>
                </a:solidFill>
              </a:rPr>
              <a:t>difference</a:t>
            </a:r>
            <a:r>
              <a:rPr lang="en-GB" sz="2000"/>
              <a:t>?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The ratio of red to blue cars in a car park is 5 : 2.  There are 15 more red cars.  How many blue cars are there?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The ratio of squash to water in a drink is 1 : 6.  If you use 25 ml of squash how much water should you use?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2 charities divide £350 in the ratio of 2 : 5.</a:t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AutoNum type="arabicParenR"/>
            </a:pPr>
            <a:r>
              <a:rPr lang="en-GB" sz="2000"/>
              <a:t>The ratio of children to adults in a club is 2 : 3.  If there are 12 children, how many are in the club in total?</a:t>
            </a:r>
            <a:endParaRPr sz="2000"/>
          </a:p>
        </p:txBody>
      </p:sp>
      <p:sp>
        <p:nvSpPr>
          <p:cNvPr id="924" name="Google Shape;924;p74"/>
          <p:cNvSpPr txBox="1"/>
          <p:nvPr/>
        </p:nvSpPr>
        <p:spPr>
          <a:xfrm>
            <a:off x="6603750" y="2101200"/>
            <a:ext cx="1642200" cy="3231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Difference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5" name="Google Shape;925;p74"/>
          <p:cNvSpPr txBox="1"/>
          <p:nvPr/>
        </p:nvSpPr>
        <p:spPr>
          <a:xfrm>
            <a:off x="5944475" y="2894550"/>
            <a:ext cx="1093800" cy="3231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One part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6" name="Google Shape;926;p74"/>
          <p:cNvSpPr txBox="1"/>
          <p:nvPr/>
        </p:nvSpPr>
        <p:spPr>
          <a:xfrm>
            <a:off x="5986821" y="3375400"/>
            <a:ext cx="616800" cy="3231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Total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7" name="Google Shape;927;p74"/>
          <p:cNvSpPr txBox="1"/>
          <p:nvPr/>
        </p:nvSpPr>
        <p:spPr>
          <a:xfrm>
            <a:off x="6372325" y="4216400"/>
            <a:ext cx="1093800" cy="3231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One part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933" name="Google Shape;933;p75"/>
          <p:cNvSpPr txBox="1"/>
          <p:nvPr>
            <p:ph idx="1" type="body"/>
          </p:nvPr>
        </p:nvSpPr>
        <p:spPr>
          <a:xfrm>
            <a:off x="324000" y="759300"/>
            <a:ext cx="8237700" cy="142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ratio of red to blue cars in a car park is 5 : 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There are 15 </a:t>
            </a:r>
            <a:r>
              <a:rPr lang="en-GB">
                <a:solidFill>
                  <a:schemeClr val="accent4"/>
                </a:solidFill>
              </a:rPr>
              <a:t>more</a:t>
            </a:r>
            <a:r>
              <a:rPr lang="en-GB"/>
              <a:t> red cars.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How many blue cars are there?</a:t>
            </a:r>
            <a:endParaRPr/>
          </a:p>
        </p:txBody>
      </p:sp>
      <p:graphicFrame>
        <p:nvGraphicFramePr>
          <p:cNvPr id="934" name="Google Shape;934;p75"/>
          <p:cNvGraphicFramePr/>
          <p:nvPr/>
        </p:nvGraphicFramePr>
        <p:xfrm>
          <a:off x="5829300" y="245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34975"/>
                <a:gridCol w="434975"/>
                <a:gridCol w="434975"/>
                <a:gridCol w="434975"/>
                <a:gridCol w="4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35" name="Google Shape;935;p75"/>
          <p:cNvGraphicFramePr/>
          <p:nvPr/>
        </p:nvGraphicFramePr>
        <p:xfrm>
          <a:off x="5829300" y="33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34975"/>
                <a:gridCol w="4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6" name="Google Shape;936;p75"/>
          <p:cNvSpPr txBox="1"/>
          <p:nvPr/>
        </p:nvSpPr>
        <p:spPr>
          <a:xfrm>
            <a:off x="4819800" y="2467123"/>
            <a:ext cx="705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Red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5"/>
          <p:cNvSpPr txBox="1"/>
          <p:nvPr/>
        </p:nvSpPr>
        <p:spPr>
          <a:xfrm>
            <a:off x="4819800" y="3402241"/>
            <a:ext cx="858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Blue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5"/>
          <p:cNvSpPr/>
          <p:nvPr/>
        </p:nvSpPr>
        <p:spPr>
          <a:xfrm rot="-5400000">
            <a:off x="7311550" y="2336475"/>
            <a:ext cx="90000" cy="1314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5"/>
          <p:cNvSpPr txBox="1"/>
          <p:nvPr/>
        </p:nvSpPr>
        <p:spPr>
          <a:xfrm>
            <a:off x="7248450" y="3072900"/>
            <a:ext cx="1043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15 ÷ 3 = 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5"/>
          <p:cNvSpPr txBox="1"/>
          <p:nvPr/>
        </p:nvSpPr>
        <p:spPr>
          <a:xfrm>
            <a:off x="6193475" y="3834900"/>
            <a:ext cx="141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5"/>
          <p:cNvSpPr/>
          <p:nvPr/>
        </p:nvSpPr>
        <p:spPr>
          <a:xfrm>
            <a:off x="7512174" y="3118500"/>
            <a:ext cx="847500" cy="22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42" name="Google Shape;942;p75"/>
          <p:cNvGraphicFramePr/>
          <p:nvPr/>
        </p:nvGraphicFramePr>
        <p:xfrm>
          <a:off x="5829300" y="245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34975"/>
                <a:gridCol w="434975"/>
                <a:gridCol w="434975"/>
                <a:gridCol w="434975"/>
                <a:gridCol w="4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3" name="Google Shape;943;p75"/>
          <p:cNvGraphicFramePr/>
          <p:nvPr/>
        </p:nvGraphicFramePr>
        <p:xfrm>
          <a:off x="5829300" y="2457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34975"/>
                <a:gridCol w="434975"/>
                <a:gridCol w="434975"/>
                <a:gridCol w="434975"/>
                <a:gridCol w="4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44" name="Google Shape;944;p75"/>
          <p:cNvGraphicFramePr/>
          <p:nvPr/>
        </p:nvGraphicFramePr>
        <p:xfrm>
          <a:off x="5829300" y="337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34975"/>
                <a:gridCol w="4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45" name="Google Shape;945;p75"/>
          <p:cNvSpPr/>
          <p:nvPr/>
        </p:nvSpPr>
        <p:spPr>
          <a:xfrm rot="-5400000">
            <a:off x="6223201" y="3401000"/>
            <a:ext cx="90000" cy="882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5"/>
          <p:cNvSpPr txBox="1"/>
          <p:nvPr/>
        </p:nvSpPr>
        <p:spPr>
          <a:xfrm>
            <a:off x="6193475" y="3834900"/>
            <a:ext cx="1043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× 5 = 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5"/>
          <p:cNvSpPr txBox="1"/>
          <p:nvPr>
            <p:ph idx="1" type="body"/>
          </p:nvPr>
        </p:nvSpPr>
        <p:spPr>
          <a:xfrm>
            <a:off x="4821150" y="4337375"/>
            <a:ext cx="27480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 are 10 blue cars.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8" name="Google Shape;948;p75"/>
          <p:cNvSpPr txBox="1"/>
          <p:nvPr>
            <p:ph idx="1" type="body"/>
          </p:nvPr>
        </p:nvSpPr>
        <p:spPr>
          <a:xfrm>
            <a:off x="344090" y="2369125"/>
            <a:ext cx="3717300" cy="226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Although</a:t>
            </a:r>
            <a:r>
              <a:rPr lang="en-GB"/>
              <a:t> in this question we are finding the ‘other’ part, to set up the question we only know the </a:t>
            </a:r>
            <a:r>
              <a:rPr lang="en-GB">
                <a:solidFill>
                  <a:schemeClr val="accent4"/>
                </a:solidFill>
              </a:rPr>
              <a:t>difference</a:t>
            </a:r>
            <a:r>
              <a:rPr lang="en-GB"/>
              <a:t> </a:t>
            </a:r>
            <a:r>
              <a:rPr lang="en-GB"/>
              <a:t>between</a:t>
            </a:r>
            <a:r>
              <a:rPr lang="en-GB"/>
              <a:t> the two parts.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954" name="Google Shape;954;p76"/>
          <p:cNvSpPr txBox="1"/>
          <p:nvPr>
            <p:ph idx="1" type="body"/>
          </p:nvPr>
        </p:nvSpPr>
        <p:spPr>
          <a:xfrm>
            <a:off x="324000" y="759300"/>
            <a:ext cx="8237700" cy="90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ratio of squash to water in a drink is 1 : 6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You use 25 ml of squash. How much </a:t>
            </a:r>
            <a:r>
              <a:rPr lang="en-GB">
                <a:solidFill>
                  <a:schemeClr val="accent4"/>
                </a:solidFill>
              </a:rPr>
              <a:t>water</a:t>
            </a:r>
            <a:r>
              <a:rPr lang="en-GB"/>
              <a:t> should you use?</a:t>
            </a:r>
            <a:endParaRPr/>
          </a:p>
        </p:txBody>
      </p:sp>
      <p:graphicFrame>
        <p:nvGraphicFramePr>
          <p:cNvPr id="955" name="Google Shape;955;p76"/>
          <p:cNvGraphicFramePr/>
          <p:nvPr/>
        </p:nvGraphicFramePr>
        <p:xfrm>
          <a:off x="1637800" y="336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97550"/>
                <a:gridCol w="397550"/>
                <a:gridCol w="397550"/>
                <a:gridCol w="397550"/>
                <a:gridCol w="397550"/>
                <a:gridCol w="397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56" name="Google Shape;956;p76"/>
          <p:cNvGraphicFramePr/>
          <p:nvPr/>
        </p:nvGraphicFramePr>
        <p:xfrm>
          <a:off x="1637800" y="246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97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7" name="Google Shape;957;p76"/>
          <p:cNvSpPr txBox="1"/>
          <p:nvPr/>
        </p:nvSpPr>
        <p:spPr>
          <a:xfrm>
            <a:off x="324000" y="2467125"/>
            <a:ext cx="1007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Squash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6"/>
          <p:cNvSpPr txBox="1"/>
          <p:nvPr/>
        </p:nvSpPr>
        <p:spPr>
          <a:xfrm>
            <a:off x="324000" y="3402241"/>
            <a:ext cx="858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Water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9" name="Google Shape;959;p76"/>
          <p:cNvSpPr/>
          <p:nvPr/>
        </p:nvSpPr>
        <p:spPr>
          <a:xfrm rot="-5400000">
            <a:off x="2786949" y="2668400"/>
            <a:ext cx="90000" cy="2388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0" name="Google Shape;960;p76"/>
          <p:cNvSpPr txBox="1"/>
          <p:nvPr/>
        </p:nvSpPr>
        <p:spPr>
          <a:xfrm>
            <a:off x="2746900" y="3975600"/>
            <a:ext cx="13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× 25 = 150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61" name="Google Shape;961;p76"/>
          <p:cNvGrpSpPr/>
          <p:nvPr/>
        </p:nvGrpSpPr>
        <p:grpSpPr>
          <a:xfrm>
            <a:off x="5518800" y="1648050"/>
            <a:ext cx="2791700" cy="1268900"/>
            <a:chOff x="5518800" y="1648050"/>
            <a:chExt cx="2791700" cy="1268900"/>
          </a:xfrm>
        </p:grpSpPr>
        <p:cxnSp>
          <p:nvCxnSpPr>
            <p:cNvPr id="962" name="Google Shape;962;p76"/>
            <p:cNvCxnSpPr/>
            <p:nvPr/>
          </p:nvCxnSpPr>
          <p:spPr>
            <a:xfrm rot="10800000">
              <a:off x="5518800" y="1648050"/>
              <a:ext cx="476700" cy="555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63" name="Google Shape;963;p76"/>
            <p:cNvSpPr txBox="1"/>
            <p:nvPr/>
          </p:nvSpPr>
          <p:spPr>
            <a:xfrm>
              <a:off x="5712500" y="2303450"/>
              <a:ext cx="25980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This is the the ‘other’ part in the ratio.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64" name="Google Shape;964;p76"/>
          <p:cNvSpPr/>
          <p:nvPr/>
        </p:nvSpPr>
        <p:spPr>
          <a:xfrm rot="5400000">
            <a:off x="1797075" y="2102150"/>
            <a:ext cx="90000" cy="408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76"/>
          <p:cNvSpPr txBox="1"/>
          <p:nvPr/>
        </p:nvSpPr>
        <p:spPr>
          <a:xfrm>
            <a:off x="1689875" y="1910450"/>
            <a:ext cx="293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66" name="Google Shape;966;p76"/>
          <p:cNvGraphicFramePr/>
          <p:nvPr/>
        </p:nvGraphicFramePr>
        <p:xfrm>
          <a:off x="1637800" y="246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97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67" name="Google Shape;967;p76"/>
          <p:cNvGraphicFramePr/>
          <p:nvPr/>
        </p:nvGraphicFramePr>
        <p:xfrm>
          <a:off x="1637800" y="336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97550"/>
                <a:gridCol w="397550"/>
                <a:gridCol w="397550"/>
                <a:gridCol w="397550"/>
                <a:gridCol w="397550"/>
                <a:gridCol w="397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8" name="Google Shape;968;p76"/>
          <p:cNvSpPr txBox="1"/>
          <p:nvPr/>
        </p:nvSpPr>
        <p:spPr>
          <a:xfrm>
            <a:off x="2746900" y="3975600"/>
            <a:ext cx="170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6"/>
          <p:cNvSpPr txBox="1"/>
          <p:nvPr>
            <p:ph idx="1" type="body"/>
          </p:nvPr>
        </p:nvSpPr>
        <p:spPr>
          <a:xfrm>
            <a:off x="4821150" y="3270575"/>
            <a:ext cx="3882300" cy="3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 should use 150 ml of water.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975" name="Google Shape;975;p77"/>
          <p:cNvSpPr txBox="1"/>
          <p:nvPr>
            <p:ph idx="1" type="body"/>
          </p:nvPr>
        </p:nvSpPr>
        <p:spPr>
          <a:xfrm>
            <a:off x="324000" y="759300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 charities </a:t>
            </a:r>
            <a:r>
              <a:rPr lang="en-GB">
                <a:solidFill>
                  <a:schemeClr val="accent4"/>
                </a:solidFill>
              </a:rPr>
              <a:t>divide</a:t>
            </a:r>
            <a:r>
              <a:rPr lang="en-GB"/>
              <a:t> £350 in the ratio of 2 : 5</a:t>
            </a:r>
            <a:endParaRPr/>
          </a:p>
        </p:txBody>
      </p:sp>
      <p:graphicFrame>
        <p:nvGraphicFramePr>
          <p:cNvPr id="976" name="Google Shape;976;p77"/>
          <p:cNvGraphicFramePr/>
          <p:nvPr/>
        </p:nvGraphicFramePr>
        <p:xfrm>
          <a:off x="1918950" y="390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34975"/>
                <a:gridCol w="434975"/>
                <a:gridCol w="434975"/>
                <a:gridCol w="434975"/>
                <a:gridCol w="4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77" name="Google Shape;977;p77"/>
          <p:cNvGraphicFramePr/>
          <p:nvPr/>
        </p:nvGraphicFramePr>
        <p:xfrm>
          <a:off x="1918950" y="296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34975"/>
                <a:gridCol w="4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8" name="Google Shape;978;p77"/>
          <p:cNvSpPr txBox="1"/>
          <p:nvPr/>
        </p:nvSpPr>
        <p:spPr>
          <a:xfrm>
            <a:off x="324000" y="3000525"/>
            <a:ext cx="1428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Charity A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7"/>
          <p:cNvSpPr txBox="1"/>
          <p:nvPr/>
        </p:nvSpPr>
        <p:spPr>
          <a:xfrm>
            <a:off x="324000" y="3935650"/>
            <a:ext cx="1318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Charity B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80" name="Google Shape;980;p77"/>
          <p:cNvGrpSpPr/>
          <p:nvPr/>
        </p:nvGrpSpPr>
        <p:grpSpPr>
          <a:xfrm>
            <a:off x="3156600" y="1190850"/>
            <a:ext cx="3218600" cy="1040300"/>
            <a:chOff x="4833000" y="1648050"/>
            <a:chExt cx="3218600" cy="1040300"/>
          </a:xfrm>
        </p:grpSpPr>
        <p:cxnSp>
          <p:nvCxnSpPr>
            <p:cNvPr id="981" name="Google Shape;981;p77"/>
            <p:cNvCxnSpPr/>
            <p:nvPr/>
          </p:nvCxnSpPr>
          <p:spPr>
            <a:xfrm rot="10800000">
              <a:off x="4833000" y="1648050"/>
              <a:ext cx="476700" cy="555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82" name="Google Shape;982;p77"/>
            <p:cNvSpPr txBox="1"/>
            <p:nvPr/>
          </p:nvSpPr>
          <p:spPr>
            <a:xfrm>
              <a:off x="5026700" y="2074850"/>
              <a:ext cx="30249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The total to be shared.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83" name="Google Shape;983;p77"/>
          <p:cNvSpPr/>
          <p:nvPr/>
        </p:nvSpPr>
        <p:spPr>
          <a:xfrm rot="10800000">
            <a:off x="4532625" y="3000475"/>
            <a:ext cx="92100" cy="1272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4" name="Google Shape;984;p77"/>
          <p:cNvSpPr txBox="1"/>
          <p:nvPr/>
        </p:nvSpPr>
        <p:spPr>
          <a:xfrm>
            <a:off x="4703375" y="3479875"/>
            <a:ext cx="1344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350 ÷ 7 = 50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5" name="Google Shape;985;p77"/>
          <p:cNvSpPr txBox="1"/>
          <p:nvPr/>
        </p:nvSpPr>
        <p:spPr>
          <a:xfrm>
            <a:off x="2290175" y="2486600"/>
            <a:ext cx="1428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× 50 = £100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6" name="Google Shape;986;p77"/>
          <p:cNvSpPr/>
          <p:nvPr/>
        </p:nvSpPr>
        <p:spPr>
          <a:xfrm rot="5400000">
            <a:off x="2314775" y="2411700"/>
            <a:ext cx="90000" cy="881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7" name="Google Shape;987;p77"/>
          <p:cNvSpPr txBox="1"/>
          <p:nvPr/>
        </p:nvSpPr>
        <p:spPr>
          <a:xfrm>
            <a:off x="2290175" y="2486600"/>
            <a:ext cx="139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8" name="Google Shape;988;p77"/>
          <p:cNvSpPr/>
          <p:nvPr/>
        </p:nvSpPr>
        <p:spPr>
          <a:xfrm rot="-5400000">
            <a:off x="2956800" y="3340200"/>
            <a:ext cx="90000" cy="2174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9" name="Google Shape;989;p77"/>
          <p:cNvSpPr txBox="1"/>
          <p:nvPr/>
        </p:nvSpPr>
        <p:spPr>
          <a:xfrm>
            <a:off x="2936787" y="4437300"/>
            <a:ext cx="139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77"/>
          <p:cNvSpPr/>
          <p:nvPr/>
        </p:nvSpPr>
        <p:spPr>
          <a:xfrm>
            <a:off x="5140001" y="3486625"/>
            <a:ext cx="908100" cy="31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91" name="Google Shape;991;p77"/>
          <p:cNvGraphicFramePr/>
          <p:nvPr/>
        </p:nvGraphicFramePr>
        <p:xfrm>
          <a:off x="1918950" y="296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34975"/>
                <a:gridCol w="4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92" name="Google Shape;992;p77"/>
          <p:cNvGraphicFramePr/>
          <p:nvPr/>
        </p:nvGraphicFramePr>
        <p:xfrm>
          <a:off x="1918950" y="390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34975"/>
                <a:gridCol w="434975"/>
                <a:gridCol w="434975"/>
                <a:gridCol w="434975"/>
                <a:gridCol w="4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3" name="Google Shape;993;p77"/>
          <p:cNvSpPr txBox="1"/>
          <p:nvPr/>
        </p:nvSpPr>
        <p:spPr>
          <a:xfrm>
            <a:off x="2936787" y="4437300"/>
            <a:ext cx="1428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× 50 = £250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4" name="Google Shape;994;p77"/>
          <p:cNvSpPr txBox="1"/>
          <p:nvPr>
            <p:ph idx="1" type="body"/>
          </p:nvPr>
        </p:nvSpPr>
        <p:spPr>
          <a:xfrm>
            <a:off x="6126625" y="2724125"/>
            <a:ext cx="2693400" cy="111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Charity A received £100 and charity B received £250.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1000" name="Google Shape;1000;p78"/>
          <p:cNvSpPr txBox="1"/>
          <p:nvPr>
            <p:ph idx="1" type="body"/>
          </p:nvPr>
        </p:nvSpPr>
        <p:spPr>
          <a:xfrm>
            <a:off x="324000" y="7593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ratio of children to adults in a play centre is 2 : 3.  If there are 12 children, how many are in the play centre in </a:t>
            </a:r>
            <a:r>
              <a:rPr lang="en-GB">
                <a:solidFill>
                  <a:schemeClr val="accent4"/>
                </a:solidFill>
              </a:rPr>
              <a:t>total</a:t>
            </a:r>
            <a:r>
              <a:rPr lang="en-GB"/>
              <a:t>?</a:t>
            </a:r>
            <a:endParaRPr/>
          </a:p>
        </p:txBody>
      </p:sp>
      <p:graphicFrame>
        <p:nvGraphicFramePr>
          <p:cNvPr id="1001" name="Google Shape;1001;p78"/>
          <p:cNvGraphicFramePr/>
          <p:nvPr/>
        </p:nvGraphicFramePr>
        <p:xfrm>
          <a:off x="1714500" y="33980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34975"/>
                <a:gridCol w="434975"/>
                <a:gridCol w="4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02" name="Google Shape;1002;p78"/>
          <p:cNvGraphicFramePr/>
          <p:nvPr/>
        </p:nvGraphicFramePr>
        <p:xfrm>
          <a:off x="1714500" y="2743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34975"/>
                <a:gridCol w="4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3" name="Google Shape;1003;p78"/>
          <p:cNvSpPr txBox="1"/>
          <p:nvPr/>
        </p:nvSpPr>
        <p:spPr>
          <a:xfrm>
            <a:off x="324000" y="2777600"/>
            <a:ext cx="1135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Children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4" name="Google Shape;1004;p78"/>
          <p:cNvSpPr txBox="1"/>
          <p:nvPr/>
        </p:nvSpPr>
        <p:spPr>
          <a:xfrm>
            <a:off x="324000" y="3431800"/>
            <a:ext cx="870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Adults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5" name="Google Shape;1005;p78"/>
          <p:cNvSpPr/>
          <p:nvPr/>
        </p:nvSpPr>
        <p:spPr>
          <a:xfrm rot="10800000">
            <a:off x="3140675" y="2743775"/>
            <a:ext cx="92100" cy="1068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8"/>
          <p:cNvSpPr txBox="1"/>
          <p:nvPr/>
        </p:nvSpPr>
        <p:spPr>
          <a:xfrm>
            <a:off x="3354025" y="3121325"/>
            <a:ext cx="145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7" name="Google Shape;1007;p78"/>
          <p:cNvGrpSpPr/>
          <p:nvPr/>
        </p:nvGrpSpPr>
        <p:grpSpPr>
          <a:xfrm>
            <a:off x="1708775" y="2177575"/>
            <a:ext cx="1602750" cy="473300"/>
            <a:chOff x="1708775" y="1872775"/>
            <a:chExt cx="1602750" cy="473300"/>
          </a:xfrm>
        </p:grpSpPr>
        <p:sp>
          <p:nvSpPr>
            <p:cNvPr id="1008" name="Google Shape;1008;p78"/>
            <p:cNvSpPr/>
            <p:nvPr/>
          </p:nvSpPr>
          <p:spPr>
            <a:xfrm rot="5400000">
              <a:off x="2104475" y="1860375"/>
              <a:ext cx="90000" cy="881400"/>
            </a:xfrm>
            <a:prstGeom prst="leftBracket">
              <a:avLst>
                <a:gd fmla="val 0" name="adj"/>
              </a:avLst>
            </a:prstGeom>
            <a:noFill/>
            <a:ln cap="flat" cmpd="sng" w="38100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09" name="Google Shape;1009;p78"/>
            <p:cNvSpPr txBox="1"/>
            <p:nvPr/>
          </p:nvSpPr>
          <p:spPr>
            <a:xfrm>
              <a:off x="2006525" y="1872775"/>
              <a:ext cx="1305000" cy="3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12 ÷ 2 = 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10" name="Google Shape;1010;p78"/>
          <p:cNvSpPr/>
          <p:nvPr/>
        </p:nvSpPr>
        <p:spPr>
          <a:xfrm>
            <a:off x="2274926" y="2157150"/>
            <a:ext cx="908100" cy="31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11" name="Google Shape;1011;p78"/>
          <p:cNvGraphicFramePr/>
          <p:nvPr/>
        </p:nvGraphicFramePr>
        <p:xfrm>
          <a:off x="1714500" y="33980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34975"/>
                <a:gridCol w="434975"/>
                <a:gridCol w="4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2" name="Google Shape;1012;p78"/>
          <p:cNvGraphicFramePr/>
          <p:nvPr/>
        </p:nvGraphicFramePr>
        <p:xfrm>
          <a:off x="1714500" y="2743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34975"/>
                <a:gridCol w="43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3" name="Google Shape;1013;p78"/>
          <p:cNvSpPr txBox="1"/>
          <p:nvPr/>
        </p:nvSpPr>
        <p:spPr>
          <a:xfrm>
            <a:off x="3354025" y="3121325"/>
            <a:ext cx="1065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× 6 = 30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14" name="Google Shape;1014;p78"/>
          <p:cNvSpPr txBox="1"/>
          <p:nvPr>
            <p:ph idx="1" type="body"/>
          </p:nvPr>
        </p:nvSpPr>
        <p:spPr>
          <a:xfrm>
            <a:off x="4824000" y="2919875"/>
            <a:ext cx="3210000" cy="7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 are 30 people in total at the play centre.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15" name="Google Shape;1015;p78"/>
          <p:cNvGrpSpPr/>
          <p:nvPr/>
        </p:nvGrpSpPr>
        <p:grpSpPr>
          <a:xfrm>
            <a:off x="1142475" y="1491950"/>
            <a:ext cx="7366325" cy="1196400"/>
            <a:chOff x="1142475" y="1491950"/>
            <a:chExt cx="7366325" cy="1196400"/>
          </a:xfrm>
        </p:grpSpPr>
        <p:sp>
          <p:nvSpPr>
            <p:cNvPr id="1016" name="Google Shape;1016;p78"/>
            <p:cNvSpPr txBox="1"/>
            <p:nvPr/>
          </p:nvSpPr>
          <p:spPr>
            <a:xfrm>
              <a:off x="5483900" y="2074850"/>
              <a:ext cx="30249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>
                  <a:latin typeface="Lexend"/>
                  <a:ea typeface="Lexend"/>
                  <a:cs typeface="Lexend"/>
                  <a:sym typeface="Lexend"/>
                </a:rPr>
                <a:t>The total to be found and one ‘part’ known.</a:t>
              </a:r>
              <a:endParaRPr sz="2000"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17" name="Google Shape;1017;p78"/>
            <p:cNvCxnSpPr/>
            <p:nvPr/>
          </p:nvCxnSpPr>
          <p:spPr>
            <a:xfrm rot="10800000">
              <a:off x="1142475" y="1491950"/>
              <a:ext cx="4274700" cy="1038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18" name="Google Shape;1018;p78"/>
            <p:cNvCxnSpPr/>
            <p:nvPr/>
          </p:nvCxnSpPr>
          <p:spPr>
            <a:xfrm flipH="1" rot="10800000">
              <a:off x="6959550" y="1507975"/>
              <a:ext cx="459900" cy="5172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1024" name="Google Shape;1024;p79"/>
          <p:cNvSpPr txBox="1"/>
          <p:nvPr>
            <p:ph idx="1" type="body"/>
          </p:nvPr>
        </p:nvSpPr>
        <p:spPr>
          <a:xfrm>
            <a:off x="324000" y="6069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Match each problem to its corresponding bar model.</a:t>
            </a:r>
            <a:endParaRPr/>
          </a:p>
        </p:txBody>
      </p:sp>
      <p:sp>
        <p:nvSpPr>
          <p:cNvPr id="1025" name="Google Shape;1025;p79"/>
          <p:cNvSpPr txBox="1"/>
          <p:nvPr>
            <p:ph idx="1" type="body"/>
          </p:nvPr>
        </p:nvSpPr>
        <p:spPr>
          <a:xfrm>
            <a:off x="324000" y="1064100"/>
            <a:ext cx="2041500" cy="18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 </a:t>
            </a:r>
            <a:r>
              <a:rPr lang="en-GB" sz="1800"/>
              <a:t>T</a:t>
            </a:r>
            <a:r>
              <a:rPr lang="en-GB" sz="1800"/>
              <a:t>he ratio of red to blue is 5 : 3.  There are 120 red.  How many are there in total?</a:t>
            </a:r>
            <a:endParaRPr sz="1800"/>
          </a:p>
        </p:txBody>
      </p:sp>
      <p:sp>
        <p:nvSpPr>
          <p:cNvPr id="1026" name="Google Shape;1026;p79"/>
          <p:cNvSpPr txBox="1"/>
          <p:nvPr>
            <p:ph idx="1" type="body"/>
          </p:nvPr>
        </p:nvSpPr>
        <p:spPr>
          <a:xfrm>
            <a:off x="2580752" y="1064100"/>
            <a:ext cx="1991100" cy="18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 </a:t>
            </a:r>
            <a:r>
              <a:rPr lang="en-GB" sz="1800"/>
              <a:t>The ratio of red to blue is 5 : 3.  There are 120 in total.  How many red are there?</a:t>
            </a:r>
            <a:endParaRPr sz="1800"/>
          </a:p>
        </p:txBody>
      </p:sp>
      <p:sp>
        <p:nvSpPr>
          <p:cNvPr id="1027" name="Google Shape;1027;p79"/>
          <p:cNvSpPr txBox="1"/>
          <p:nvPr>
            <p:ph idx="1" type="body"/>
          </p:nvPr>
        </p:nvSpPr>
        <p:spPr>
          <a:xfrm>
            <a:off x="4715248" y="1056000"/>
            <a:ext cx="1847400" cy="18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 </a:t>
            </a:r>
            <a:r>
              <a:rPr lang="en-GB" sz="1800"/>
              <a:t>The ratio of red to blue is </a:t>
            </a:r>
            <a:br>
              <a:rPr lang="en-GB" sz="1800"/>
            </a:br>
            <a:r>
              <a:rPr lang="en-GB" sz="1800"/>
              <a:t>5 : 3.  There are 120 fewer blue.  How many red are there?</a:t>
            </a:r>
            <a:endParaRPr sz="1800"/>
          </a:p>
        </p:txBody>
      </p:sp>
      <p:sp>
        <p:nvSpPr>
          <p:cNvPr id="1028" name="Google Shape;1028;p79"/>
          <p:cNvSpPr txBox="1"/>
          <p:nvPr>
            <p:ph idx="1" type="body"/>
          </p:nvPr>
        </p:nvSpPr>
        <p:spPr>
          <a:xfrm>
            <a:off x="6706050" y="1079850"/>
            <a:ext cx="1991100" cy="18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4)  </a:t>
            </a:r>
            <a:r>
              <a:rPr lang="en-GB" sz="1800"/>
              <a:t>The ratio of red to blue is 5 : 3.  There are 120 blue.  How many red are there?</a:t>
            </a:r>
            <a:endParaRPr sz="1800"/>
          </a:p>
        </p:txBody>
      </p:sp>
      <p:graphicFrame>
        <p:nvGraphicFramePr>
          <p:cNvPr id="1029" name="Google Shape;1029;p79"/>
          <p:cNvGraphicFramePr/>
          <p:nvPr/>
        </p:nvGraphicFramePr>
        <p:xfrm>
          <a:off x="3494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0" name="Google Shape;1030;p79"/>
          <p:cNvGraphicFramePr/>
          <p:nvPr/>
        </p:nvGraphicFramePr>
        <p:xfrm>
          <a:off x="349475" y="400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1" name="Google Shape;1031;p79"/>
          <p:cNvGraphicFramePr/>
          <p:nvPr/>
        </p:nvGraphicFramePr>
        <p:xfrm>
          <a:off x="26354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2" name="Google Shape;1032;p79"/>
          <p:cNvGraphicFramePr/>
          <p:nvPr/>
        </p:nvGraphicFramePr>
        <p:xfrm>
          <a:off x="2635475" y="400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3" name="Google Shape;1033;p79"/>
          <p:cNvGraphicFramePr/>
          <p:nvPr/>
        </p:nvGraphicFramePr>
        <p:xfrm>
          <a:off x="48452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4" name="Google Shape;1034;p79"/>
          <p:cNvGraphicFramePr/>
          <p:nvPr/>
        </p:nvGraphicFramePr>
        <p:xfrm>
          <a:off x="4845275" y="400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5" name="Google Shape;1035;p79"/>
          <p:cNvGraphicFramePr/>
          <p:nvPr/>
        </p:nvGraphicFramePr>
        <p:xfrm>
          <a:off x="69788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36" name="Google Shape;1036;p79"/>
          <p:cNvGraphicFramePr/>
          <p:nvPr/>
        </p:nvGraphicFramePr>
        <p:xfrm>
          <a:off x="6978875" y="400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sp>
        <p:nvSpPr>
          <p:cNvPr id="1037" name="Google Shape;1037;p79"/>
          <p:cNvSpPr/>
          <p:nvPr/>
        </p:nvSpPr>
        <p:spPr>
          <a:xfrm rot="10800000">
            <a:off x="1866575" y="3316125"/>
            <a:ext cx="92100" cy="91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8" name="Google Shape;1038;p79"/>
          <p:cNvSpPr/>
          <p:nvPr/>
        </p:nvSpPr>
        <p:spPr>
          <a:xfrm rot="5400000">
            <a:off x="3280725" y="2529150"/>
            <a:ext cx="90000" cy="1421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79"/>
          <p:cNvSpPr/>
          <p:nvPr/>
        </p:nvSpPr>
        <p:spPr>
          <a:xfrm rot="-5400000">
            <a:off x="1426325" y="3346825"/>
            <a:ext cx="90000" cy="563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0" name="Google Shape;1040;p79"/>
          <p:cNvSpPr txBox="1"/>
          <p:nvPr/>
        </p:nvSpPr>
        <p:spPr>
          <a:xfrm>
            <a:off x="1270475" y="3705325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1" name="Google Shape;1041;p79"/>
          <p:cNvSpPr txBox="1"/>
          <p:nvPr/>
        </p:nvSpPr>
        <p:spPr>
          <a:xfrm>
            <a:off x="2854775" y="4410000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79"/>
          <p:cNvSpPr txBox="1"/>
          <p:nvPr/>
        </p:nvSpPr>
        <p:spPr>
          <a:xfrm>
            <a:off x="6440650" y="3673375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3" name="Google Shape;1043;p79"/>
          <p:cNvSpPr txBox="1"/>
          <p:nvPr/>
        </p:nvSpPr>
        <p:spPr>
          <a:xfrm>
            <a:off x="7468275" y="2850300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4" name="Google Shape;1044;p79"/>
          <p:cNvSpPr txBox="1"/>
          <p:nvPr/>
        </p:nvSpPr>
        <p:spPr>
          <a:xfrm>
            <a:off x="2049900" y="3673375"/>
            <a:ext cx="156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79"/>
          <p:cNvSpPr txBox="1"/>
          <p:nvPr/>
        </p:nvSpPr>
        <p:spPr>
          <a:xfrm>
            <a:off x="3291450" y="2881800"/>
            <a:ext cx="156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6" name="Google Shape;1046;p79"/>
          <p:cNvSpPr/>
          <p:nvPr/>
        </p:nvSpPr>
        <p:spPr>
          <a:xfrm rot="-5400000">
            <a:off x="3013475" y="3942000"/>
            <a:ext cx="90000" cy="846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7" name="Google Shape;1047;p79"/>
          <p:cNvSpPr/>
          <p:nvPr/>
        </p:nvSpPr>
        <p:spPr>
          <a:xfrm rot="10800000">
            <a:off x="6286175" y="3316125"/>
            <a:ext cx="92100" cy="91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8" name="Google Shape;1048;p79"/>
          <p:cNvSpPr/>
          <p:nvPr/>
        </p:nvSpPr>
        <p:spPr>
          <a:xfrm rot="5400000">
            <a:off x="5490525" y="2529150"/>
            <a:ext cx="90000" cy="1421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9" name="Google Shape;1049;p79"/>
          <p:cNvSpPr txBox="1"/>
          <p:nvPr/>
        </p:nvSpPr>
        <p:spPr>
          <a:xfrm>
            <a:off x="5501250" y="2881800"/>
            <a:ext cx="156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79"/>
          <p:cNvSpPr/>
          <p:nvPr/>
        </p:nvSpPr>
        <p:spPr>
          <a:xfrm rot="5400000">
            <a:off x="7624125" y="2529150"/>
            <a:ext cx="90000" cy="1421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1" name="Google Shape;1051;p79"/>
          <p:cNvSpPr/>
          <p:nvPr/>
        </p:nvSpPr>
        <p:spPr>
          <a:xfrm rot="10800000">
            <a:off x="8495975" y="3316125"/>
            <a:ext cx="92100" cy="91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2" name="Google Shape;1052;p79"/>
          <p:cNvSpPr txBox="1"/>
          <p:nvPr/>
        </p:nvSpPr>
        <p:spPr>
          <a:xfrm>
            <a:off x="8679300" y="3673375"/>
            <a:ext cx="156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53" name="Google Shape;1053;p79"/>
          <p:cNvGrpSpPr/>
          <p:nvPr/>
        </p:nvGrpSpPr>
        <p:grpSpPr>
          <a:xfrm>
            <a:off x="1295666" y="4338150"/>
            <a:ext cx="457200" cy="457200"/>
            <a:chOff x="1020916" y="1442088"/>
            <a:chExt cx="457200" cy="457200"/>
          </a:xfrm>
        </p:grpSpPr>
        <p:pic>
          <p:nvPicPr>
            <p:cNvPr id="1054" name="Google Shape;1054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5" name="Google Shape;1055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6" name="Google Shape;1056;p79"/>
          <p:cNvGrpSpPr/>
          <p:nvPr/>
        </p:nvGrpSpPr>
        <p:grpSpPr>
          <a:xfrm>
            <a:off x="3579366" y="4338150"/>
            <a:ext cx="457200" cy="457200"/>
            <a:chOff x="1020916" y="1442088"/>
            <a:chExt cx="457200" cy="457200"/>
          </a:xfrm>
        </p:grpSpPr>
        <p:pic>
          <p:nvPicPr>
            <p:cNvPr id="1057" name="Google Shape;1057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8" name="Google Shape;1058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9" name="Google Shape;1059;p79"/>
          <p:cNvGrpSpPr/>
          <p:nvPr/>
        </p:nvGrpSpPr>
        <p:grpSpPr>
          <a:xfrm>
            <a:off x="5921066" y="4338150"/>
            <a:ext cx="457200" cy="457200"/>
            <a:chOff x="1020916" y="1442088"/>
            <a:chExt cx="457200" cy="457200"/>
          </a:xfrm>
        </p:grpSpPr>
        <p:pic>
          <p:nvPicPr>
            <p:cNvPr id="1060" name="Google Shape;1060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1" name="Google Shape;1061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2" name="Google Shape;1062;p79"/>
          <p:cNvGrpSpPr/>
          <p:nvPr/>
        </p:nvGrpSpPr>
        <p:grpSpPr>
          <a:xfrm>
            <a:off x="8038766" y="4320000"/>
            <a:ext cx="457200" cy="457200"/>
            <a:chOff x="1020916" y="1442088"/>
            <a:chExt cx="457200" cy="457200"/>
          </a:xfrm>
        </p:grpSpPr>
        <p:pic>
          <p:nvPicPr>
            <p:cNvPr id="1063" name="Google Shape;1063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1070" name="Google Shape;1070;p80"/>
          <p:cNvSpPr txBox="1"/>
          <p:nvPr>
            <p:ph idx="1" type="body"/>
          </p:nvPr>
        </p:nvSpPr>
        <p:spPr>
          <a:xfrm>
            <a:off x="324000" y="606900"/>
            <a:ext cx="7135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Match each problem to its corresponding bar model.</a:t>
            </a:r>
            <a:endParaRPr/>
          </a:p>
        </p:txBody>
      </p:sp>
      <p:graphicFrame>
        <p:nvGraphicFramePr>
          <p:cNvPr id="1071" name="Google Shape;1071;p80"/>
          <p:cNvGraphicFramePr/>
          <p:nvPr/>
        </p:nvGraphicFramePr>
        <p:xfrm>
          <a:off x="3494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2" name="Google Shape;1072;p80"/>
          <p:cNvGraphicFramePr/>
          <p:nvPr/>
        </p:nvGraphicFramePr>
        <p:xfrm>
          <a:off x="349475" y="400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3" name="Google Shape;1073;p80"/>
          <p:cNvGraphicFramePr/>
          <p:nvPr/>
        </p:nvGraphicFramePr>
        <p:xfrm>
          <a:off x="26354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4" name="Google Shape;1074;p80"/>
          <p:cNvGraphicFramePr/>
          <p:nvPr/>
        </p:nvGraphicFramePr>
        <p:xfrm>
          <a:off x="2635475" y="400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5" name="Google Shape;1075;p80"/>
          <p:cNvGraphicFramePr/>
          <p:nvPr/>
        </p:nvGraphicFramePr>
        <p:xfrm>
          <a:off x="48452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6" name="Google Shape;1076;p80"/>
          <p:cNvGraphicFramePr/>
          <p:nvPr/>
        </p:nvGraphicFramePr>
        <p:xfrm>
          <a:off x="4845275" y="400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7" name="Google Shape;1077;p80"/>
          <p:cNvGraphicFramePr/>
          <p:nvPr/>
        </p:nvGraphicFramePr>
        <p:xfrm>
          <a:off x="6978875" y="3316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78" name="Google Shape;1078;p80"/>
          <p:cNvGraphicFramePr/>
          <p:nvPr/>
        </p:nvGraphicFramePr>
        <p:xfrm>
          <a:off x="6978875" y="400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280100"/>
                <a:gridCol w="280100"/>
                <a:gridCol w="280100"/>
              </a:tblGrid>
              <a:tr h="235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sp>
        <p:nvSpPr>
          <p:cNvPr id="1079" name="Google Shape;1079;p80"/>
          <p:cNvSpPr/>
          <p:nvPr/>
        </p:nvSpPr>
        <p:spPr>
          <a:xfrm rot="10800000">
            <a:off x="1866575" y="3316125"/>
            <a:ext cx="92100" cy="91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80"/>
          <p:cNvSpPr/>
          <p:nvPr/>
        </p:nvSpPr>
        <p:spPr>
          <a:xfrm rot="5400000">
            <a:off x="3280725" y="2529150"/>
            <a:ext cx="90000" cy="1421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80"/>
          <p:cNvSpPr/>
          <p:nvPr/>
        </p:nvSpPr>
        <p:spPr>
          <a:xfrm rot="-5400000">
            <a:off x="1426325" y="3346825"/>
            <a:ext cx="90000" cy="563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0"/>
          <p:cNvSpPr txBox="1"/>
          <p:nvPr/>
        </p:nvSpPr>
        <p:spPr>
          <a:xfrm>
            <a:off x="1270475" y="3705325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0"/>
          <p:cNvSpPr txBox="1"/>
          <p:nvPr/>
        </p:nvSpPr>
        <p:spPr>
          <a:xfrm>
            <a:off x="2854775" y="4410000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0"/>
          <p:cNvSpPr txBox="1"/>
          <p:nvPr/>
        </p:nvSpPr>
        <p:spPr>
          <a:xfrm>
            <a:off x="6440650" y="3673375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0"/>
          <p:cNvSpPr txBox="1"/>
          <p:nvPr/>
        </p:nvSpPr>
        <p:spPr>
          <a:xfrm>
            <a:off x="2049900" y="3673375"/>
            <a:ext cx="156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6" name="Google Shape;1086;p80"/>
          <p:cNvSpPr txBox="1"/>
          <p:nvPr/>
        </p:nvSpPr>
        <p:spPr>
          <a:xfrm>
            <a:off x="3291450" y="2881800"/>
            <a:ext cx="156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7" name="Google Shape;1087;p80"/>
          <p:cNvSpPr/>
          <p:nvPr/>
        </p:nvSpPr>
        <p:spPr>
          <a:xfrm rot="-5400000">
            <a:off x="3013475" y="3942000"/>
            <a:ext cx="90000" cy="846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8" name="Google Shape;1088;p80"/>
          <p:cNvSpPr/>
          <p:nvPr/>
        </p:nvSpPr>
        <p:spPr>
          <a:xfrm rot="10800000">
            <a:off x="6286175" y="3316125"/>
            <a:ext cx="92100" cy="91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9" name="Google Shape;1089;p80"/>
          <p:cNvSpPr/>
          <p:nvPr/>
        </p:nvSpPr>
        <p:spPr>
          <a:xfrm rot="5400000">
            <a:off x="5490525" y="2529150"/>
            <a:ext cx="90000" cy="1421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0" name="Google Shape;1090;p80"/>
          <p:cNvSpPr txBox="1"/>
          <p:nvPr/>
        </p:nvSpPr>
        <p:spPr>
          <a:xfrm>
            <a:off x="5501250" y="2881800"/>
            <a:ext cx="156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1" name="Google Shape;1091;p80"/>
          <p:cNvSpPr/>
          <p:nvPr/>
        </p:nvSpPr>
        <p:spPr>
          <a:xfrm rot="5400000">
            <a:off x="7624125" y="2529150"/>
            <a:ext cx="90000" cy="1421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2" name="Google Shape;1092;p80"/>
          <p:cNvSpPr/>
          <p:nvPr/>
        </p:nvSpPr>
        <p:spPr>
          <a:xfrm rot="10800000">
            <a:off x="8495975" y="3316125"/>
            <a:ext cx="92100" cy="919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3" name="Google Shape;1093;p80"/>
          <p:cNvSpPr txBox="1"/>
          <p:nvPr/>
        </p:nvSpPr>
        <p:spPr>
          <a:xfrm>
            <a:off x="8679300" y="3673375"/>
            <a:ext cx="156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94" name="Google Shape;1094;p80"/>
          <p:cNvGrpSpPr/>
          <p:nvPr/>
        </p:nvGrpSpPr>
        <p:grpSpPr>
          <a:xfrm>
            <a:off x="1295666" y="4338150"/>
            <a:ext cx="457200" cy="457200"/>
            <a:chOff x="1020916" y="1442088"/>
            <a:chExt cx="457200" cy="457200"/>
          </a:xfrm>
        </p:grpSpPr>
        <p:pic>
          <p:nvPicPr>
            <p:cNvPr id="1095" name="Google Shape;1095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6" name="Google Shape;1096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7" name="Google Shape;1097;p80"/>
          <p:cNvGrpSpPr/>
          <p:nvPr/>
        </p:nvGrpSpPr>
        <p:grpSpPr>
          <a:xfrm>
            <a:off x="3579366" y="4338150"/>
            <a:ext cx="457200" cy="457200"/>
            <a:chOff x="1020916" y="1442088"/>
            <a:chExt cx="457200" cy="457200"/>
          </a:xfrm>
        </p:grpSpPr>
        <p:pic>
          <p:nvPicPr>
            <p:cNvPr id="1098" name="Google Shape;1098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9" name="Google Shape;1099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0" name="Google Shape;1100;p80"/>
          <p:cNvGrpSpPr/>
          <p:nvPr/>
        </p:nvGrpSpPr>
        <p:grpSpPr>
          <a:xfrm>
            <a:off x="5921066" y="4338150"/>
            <a:ext cx="457200" cy="457200"/>
            <a:chOff x="1020916" y="1442088"/>
            <a:chExt cx="457200" cy="457200"/>
          </a:xfrm>
        </p:grpSpPr>
        <p:pic>
          <p:nvPicPr>
            <p:cNvPr id="1101" name="Google Shape;1101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2" name="Google Shape;1102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03" name="Google Shape;1103;p80"/>
          <p:cNvGrpSpPr/>
          <p:nvPr/>
        </p:nvGrpSpPr>
        <p:grpSpPr>
          <a:xfrm>
            <a:off x="8038766" y="4320000"/>
            <a:ext cx="457200" cy="457200"/>
            <a:chOff x="1020916" y="1442088"/>
            <a:chExt cx="457200" cy="457200"/>
          </a:xfrm>
        </p:grpSpPr>
        <p:pic>
          <p:nvPicPr>
            <p:cNvPr id="1104" name="Google Shape;1104;p8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5" name="Google Shape;1105;p8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06" name="Google Shape;1106;p80"/>
          <p:cNvSpPr txBox="1"/>
          <p:nvPr>
            <p:ph idx="1" type="body"/>
          </p:nvPr>
        </p:nvSpPr>
        <p:spPr>
          <a:xfrm>
            <a:off x="2494534" y="1026150"/>
            <a:ext cx="1725900" cy="18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4)  The ratio of red to blue is 5:3.  There are 120 blue.  How many red are there?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7" name="Google Shape;1107;p80"/>
          <p:cNvSpPr txBox="1"/>
          <p:nvPr>
            <p:ph idx="1" type="body"/>
          </p:nvPr>
        </p:nvSpPr>
        <p:spPr>
          <a:xfrm>
            <a:off x="385275" y="1026150"/>
            <a:ext cx="1725900" cy="18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3)  The ratio of red to blue is 5:3.  There are 120 fewer blue.  How many red are there?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8" name="Google Shape;1108;p80"/>
          <p:cNvSpPr txBox="1"/>
          <p:nvPr>
            <p:ph idx="1" type="body"/>
          </p:nvPr>
        </p:nvSpPr>
        <p:spPr>
          <a:xfrm>
            <a:off x="6713050" y="1026150"/>
            <a:ext cx="1725900" cy="187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1)  The ratio of red to blue is 5:3.  There are 120 red.  How many are there in total?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9" name="Google Shape;1109;p80"/>
          <p:cNvSpPr txBox="1"/>
          <p:nvPr>
            <p:ph idx="1" type="body"/>
          </p:nvPr>
        </p:nvSpPr>
        <p:spPr>
          <a:xfrm>
            <a:off x="4603792" y="1026150"/>
            <a:ext cx="1725900" cy="18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2)  The ratio of red to blue is 5:3.  There are 120 in total.  How many red are there?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0" name="Google Shape;1110;p80"/>
          <p:cNvSpPr txBox="1"/>
          <p:nvPr/>
        </p:nvSpPr>
        <p:spPr>
          <a:xfrm>
            <a:off x="7468275" y="2850300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81"/>
          <p:cNvSpPr/>
          <p:nvPr/>
        </p:nvSpPr>
        <p:spPr>
          <a:xfrm>
            <a:off x="5512525" y="3123525"/>
            <a:ext cx="1838100" cy="1170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6" name="Google Shape;1116;p81"/>
          <p:cNvSpPr txBox="1"/>
          <p:nvPr>
            <p:ph idx="1" type="body"/>
          </p:nvPr>
        </p:nvSpPr>
        <p:spPr>
          <a:xfrm>
            <a:off x="324000" y="759300"/>
            <a:ext cx="8237700" cy="169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Bar models can be really useful and you don’t need to draw them exactly to scale but there are certain things you need to make sure of to solve a problem correctly.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Can you spot the error in the bar model of this problem?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7" name="Google Shape;1117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1118" name="Google Shape;1118;p81"/>
          <p:cNvSpPr txBox="1"/>
          <p:nvPr/>
        </p:nvSpPr>
        <p:spPr>
          <a:xfrm>
            <a:off x="324000" y="2265000"/>
            <a:ext cx="78852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ratio of lemon to chocolate cakes left on a stall is 4 : 7.  If there are 12 more chocolate cakes, how many cakes are there in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total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19" name="Google Shape;1119;p81"/>
          <p:cNvGraphicFramePr/>
          <p:nvPr/>
        </p:nvGraphicFramePr>
        <p:xfrm>
          <a:off x="350963" y="371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47250"/>
                <a:gridCol w="447250"/>
                <a:gridCol w="447250"/>
                <a:gridCol w="447250"/>
                <a:gridCol w="447250"/>
                <a:gridCol w="447250"/>
                <a:gridCol w="447250"/>
              </a:tblGrid>
              <a:tr h="4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20" name="Google Shape;1120;p81"/>
          <p:cNvGraphicFramePr/>
          <p:nvPr/>
        </p:nvGraphicFramePr>
        <p:xfrm>
          <a:off x="350963" y="3175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559075"/>
                <a:gridCol w="559075"/>
                <a:gridCol w="559075"/>
                <a:gridCol w="559075"/>
              </a:tblGrid>
              <a:tr h="4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1" name="Google Shape;1121;p81"/>
          <p:cNvSpPr/>
          <p:nvPr/>
        </p:nvSpPr>
        <p:spPr>
          <a:xfrm rot="5400000">
            <a:off x="2998675" y="3174000"/>
            <a:ext cx="90000" cy="867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1"/>
          <p:cNvSpPr txBox="1"/>
          <p:nvPr/>
        </p:nvSpPr>
        <p:spPr>
          <a:xfrm>
            <a:off x="2926000" y="3185350"/>
            <a:ext cx="631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3" name="Google Shape;1123;p81"/>
          <p:cNvSpPr txBox="1"/>
          <p:nvPr/>
        </p:nvSpPr>
        <p:spPr>
          <a:xfrm>
            <a:off x="3726550" y="3185350"/>
            <a:ext cx="1568100" cy="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So, there are 66 cakes in total.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24" name="Google Shape;112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1883" y="43654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3313" y="4250717"/>
            <a:ext cx="396000" cy="4197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26" name="Google Shape;1126;p81"/>
          <p:cNvGraphicFramePr/>
          <p:nvPr/>
        </p:nvGraphicFramePr>
        <p:xfrm>
          <a:off x="5539463" y="3781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47250"/>
                <a:gridCol w="447250"/>
                <a:gridCol w="447250"/>
                <a:gridCol w="447250"/>
                <a:gridCol w="447250"/>
                <a:gridCol w="447250"/>
                <a:gridCol w="447250"/>
              </a:tblGrid>
              <a:tr h="4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27" name="Google Shape;1127;p81"/>
          <p:cNvGraphicFramePr/>
          <p:nvPr/>
        </p:nvGraphicFramePr>
        <p:xfrm>
          <a:off x="5539463" y="32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47250"/>
                <a:gridCol w="447250"/>
                <a:gridCol w="447250"/>
                <a:gridCol w="447250"/>
              </a:tblGrid>
              <a:tr h="4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28" name="Google Shape;1128;p81"/>
          <p:cNvSpPr/>
          <p:nvPr/>
        </p:nvSpPr>
        <p:spPr>
          <a:xfrm rot="5400000">
            <a:off x="7963375" y="3014650"/>
            <a:ext cx="90000" cy="1315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1"/>
          <p:cNvSpPr txBox="1"/>
          <p:nvPr/>
        </p:nvSpPr>
        <p:spPr>
          <a:xfrm>
            <a:off x="7802450" y="3249800"/>
            <a:ext cx="631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82"/>
          <p:cNvSpPr txBox="1"/>
          <p:nvPr>
            <p:ph idx="1" type="body"/>
          </p:nvPr>
        </p:nvSpPr>
        <p:spPr>
          <a:xfrm>
            <a:off x="324000" y="759300"/>
            <a:ext cx="8237700" cy="13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 the ratio to check you have labelled the correct number of parts.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For example, 4 ∶ 7</a:t>
            </a:r>
            <a:endParaRPr/>
          </a:p>
        </p:txBody>
      </p:sp>
      <p:sp>
        <p:nvSpPr>
          <p:cNvPr id="1135" name="Google Shape;1135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Strategies to solve ratio problems</a:t>
            </a:r>
            <a:endParaRPr/>
          </a:p>
        </p:txBody>
      </p:sp>
      <p:graphicFrame>
        <p:nvGraphicFramePr>
          <p:cNvPr id="1136" name="Google Shape;1136;p82"/>
          <p:cNvGraphicFramePr/>
          <p:nvPr/>
        </p:nvGraphicFramePr>
        <p:xfrm>
          <a:off x="3020088" y="3469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47250"/>
                <a:gridCol w="447250"/>
                <a:gridCol w="447250"/>
                <a:gridCol w="447250"/>
                <a:gridCol w="447250"/>
                <a:gridCol w="447250"/>
                <a:gridCol w="447250"/>
              </a:tblGrid>
              <a:tr h="4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37" name="Google Shape;1137;p82"/>
          <p:cNvGraphicFramePr/>
          <p:nvPr/>
        </p:nvGraphicFramePr>
        <p:xfrm>
          <a:off x="3020088" y="292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447250"/>
                <a:gridCol w="447250"/>
                <a:gridCol w="447250"/>
                <a:gridCol w="447250"/>
              </a:tblGrid>
              <a:tr h="443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8" name="Google Shape;1138;p82"/>
          <p:cNvSpPr/>
          <p:nvPr/>
        </p:nvSpPr>
        <p:spPr>
          <a:xfrm rot="5400000">
            <a:off x="5444000" y="2702550"/>
            <a:ext cx="90000" cy="1315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9" name="Google Shape;1139;p82"/>
          <p:cNvSpPr txBox="1"/>
          <p:nvPr/>
        </p:nvSpPr>
        <p:spPr>
          <a:xfrm>
            <a:off x="2413725" y="2160000"/>
            <a:ext cx="61077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-GB" sz="19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difference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3 parts, 7 − 4 = 3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0" name="Google Shape;1140;p82"/>
          <p:cNvSpPr/>
          <p:nvPr/>
        </p:nvSpPr>
        <p:spPr>
          <a:xfrm rot="8323624">
            <a:off x="2137402" y="1489786"/>
            <a:ext cx="668994" cy="587152"/>
          </a:xfrm>
          <a:prstGeom prst="arc">
            <a:avLst>
              <a:gd fmla="val 16200000" name="adj1"/>
              <a:gd fmla="val 0" name="adj2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triangl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1" name="Google Shape;1141;p82"/>
          <p:cNvCxnSpPr>
            <a:endCxn id="1138" idx="1"/>
          </p:cNvCxnSpPr>
          <p:nvPr/>
        </p:nvCxnSpPr>
        <p:spPr>
          <a:xfrm>
            <a:off x="4877000" y="2577900"/>
            <a:ext cx="612000" cy="7374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Solve these problems. 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 may want to draw a bar model to help you.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To make the required shade of paint you need to mix blue and white paint in the</a:t>
            </a:r>
            <a:r>
              <a:rPr lang="en-GB" sz="1800"/>
              <a:t> ratio of 2 : 5  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If you have 210 ml of blue paint, how much white paint do you need?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If you need to make 210 ml in total, how much of each colour do you need?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If you used 210 ml </a:t>
            </a:r>
            <a:r>
              <a:rPr lang="en-GB" sz="1800">
                <a:solidFill>
                  <a:schemeClr val="accent4"/>
                </a:solidFill>
              </a:rPr>
              <a:t>more </a:t>
            </a:r>
            <a:r>
              <a:rPr lang="en-GB" sz="1800"/>
              <a:t>white </a:t>
            </a:r>
            <a:r>
              <a:rPr lang="en-GB" sz="1800"/>
              <a:t>paint than blue paint, how much paint was made in total?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800"/>
              <a:buAutoNum type="alphaLcParenR"/>
            </a:pPr>
            <a:r>
              <a:rPr lang="en-GB" sz="1800"/>
              <a:t>If you have 210 ml of white paint, how much blue paint do you need?</a:t>
            </a:r>
            <a:endParaRPr sz="1800"/>
          </a:p>
        </p:txBody>
      </p:sp>
      <p:sp>
        <p:nvSpPr>
          <p:cNvPr id="1147" name="Google Shape;1147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84"/>
          <p:cNvSpPr txBox="1"/>
          <p:nvPr>
            <p:ph idx="1" type="body"/>
          </p:nvPr>
        </p:nvSpPr>
        <p:spPr>
          <a:xfrm>
            <a:off x="324000" y="759300"/>
            <a:ext cx="8237700" cy="7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To make the required shade of paint you need to mix blue and white paint in the ratio of 2 : 5  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AutoNum type="alphaLcParenR"/>
            </a:pPr>
            <a:r>
              <a:rPr lang="en-GB" sz="1800"/>
              <a:t>If you have 210 ml of blue paint, how much white paint do you need?</a:t>
            </a:r>
            <a:endParaRPr/>
          </a:p>
        </p:txBody>
      </p:sp>
      <p:sp>
        <p:nvSpPr>
          <p:cNvPr id="1153" name="Google Shape;1153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graphicFrame>
        <p:nvGraphicFramePr>
          <p:cNvPr id="1154" name="Google Shape;1154;p84"/>
          <p:cNvGraphicFramePr/>
          <p:nvPr/>
        </p:nvGraphicFramePr>
        <p:xfrm>
          <a:off x="3091613" y="352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626150"/>
                <a:gridCol w="626150"/>
                <a:gridCol w="626150"/>
                <a:gridCol w="626150"/>
                <a:gridCol w="626150"/>
              </a:tblGrid>
              <a:tr h="66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5" name="Google Shape;1155;p84"/>
          <p:cNvGraphicFramePr/>
          <p:nvPr/>
        </p:nvGraphicFramePr>
        <p:xfrm>
          <a:off x="3091613" y="269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626150"/>
                <a:gridCol w="626150"/>
              </a:tblGrid>
              <a:tr h="66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6" name="Google Shape;1156;p84"/>
          <p:cNvSpPr/>
          <p:nvPr/>
        </p:nvSpPr>
        <p:spPr>
          <a:xfrm rot="5400000">
            <a:off x="3672774" y="1933350"/>
            <a:ext cx="90000" cy="1276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7" name="Google Shape;1157;p84"/>
          <p:cNvSpPr txBox="1"/>
          <p:nvPr/>
        </p:nvSpPr>
        <p:spPr>
          <a:xfrm>
            <a:off x="5516400" y="2526738"/>
            <a:ext cx="33036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? = 5 × 105 = 525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So you need 525 ml of white paint.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8" name="Google Shape;1158;p84"/>
          <p:cNvSpPr txBox="1"/>
          <p:nvPr/>
        </p:nvSpPr>
        <p:spPr>
          <a:xfrm>
            <a:off x="3552413" y="2085825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9" name="Google Shape;1159;p84"/>
          <p:cNvSpPr/>
          <p:nvPr/>
        </p:nvSpPr>
        <p:spPr>
          <a:xfrm rot="-5400000">
            <a:off x="4627891" y="2744100"/>
            <a:ext cx="90000" cy="3151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84"/>
          <p:cNvSpPr txBox="1"/>
          <p:nvPr/>
        </p:nvSpPr>
        <p:spPr>
          <a:xfrm>
            <a:off x="1619150" y="2867938"/>
            <a:ext cx="1187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Blue paint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1" name="Google Shape;1161;p84"/>
          <p:cNvSpPr txBox="1"/>
          <p:nvPr/>
        </p:nvSpPr>
        <p:spPr>
          <a:xfrm>
            <a:off x="1467600" y="3703963"/>
            <a:ext cx="141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White paint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84"/>
          <p:cNvSpPr txBox="1"/>
          <p:nvPr/>
        </p:nvSpPr>
        <p:spPr>
          <a:xfrm>
            <a:off x="4393438" y="4420650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?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85"/>
          <p:cNvSpPr txBox="1"/>
          <p:nvPr>
            <p:ph idx="1" type="body"/>
          </p:nvPr>
        </p:nvSpPr>
        <p:spPr>
          <a:xfrm>
            <a:off x="476400" y="835500"/>
            <a:ext cx="8237700" cy="7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To make the required shade of paint you need to mix blue and white paint in the ratio of 2 : 5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b)   If you need to make 210 ml in total, how much of each colour do you need?</a:t>
            </a:r>
            <a:endParaRPr sz="1800"/>
          </a:p>
        </p:txBody>
      </p:sp>
      <p:sp>
        <p:nvSpPr>
          <p:cNvPr id="1168" name="Google Shape;1168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graphicFrame>
        <p:nvGraphicFramePr>
          <p:cNvPr id="1169" name="Google Shape;1169;p85"/>
          <p:cNvGraphicFramePr/>
          <p:nvPr/>
        </p:nvGraphicFramePr>
        <p:xfrm>
          <a:off x="2482013" y="3605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626150"/>
                <a:gridCol w="626150"/>
                <a:gridCol w="626150"/>
                <a:gridCol w="626150"/>
                <a:gridCol w="626150"/>
              </a:tblGrid>
              <a:tr h="66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0" name="Google Shape;1170;p85"/>
          <p:cNvGraphicFramePr/>
          <p:nvPr/>
        </p:nvGraphicFramePr>
        <p:xfrm>
          <a:off x="2482013" y="2769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626150"/>
                <a:gridCol w="626150"/>
              </a:tblGrid>
              <a:tr h="66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1" name="Google Shape;1171;p85"/>
          <p:cNvSpPr/>
          <p:nvPr/>
        </p:nvSpPr>
        <p:spPr>
          <a:xfrm rot="5400000">
            <a:off x="3063174" y="2009550"/>
            <a:ext cx="90000" cy="1276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2" name="Google Shape;1172;p85"/>
          <p:cNvSpPr/>
          <p:nvPr/>
        </p:nvSpPr>
        <p:spPr>
          <a:xfrm rot="10800000">
            <a:off x="5700325" y="2754700"/>
            <a:ext cx="92100" cy="1513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3" name="Google Shape;1173;p85"/>
          <p:cNvSpPr txBox="1"/>
          <p:nvPr/>
        </p:nvSpPr>
        <p:spPr>
          <a:xfrm>
            <a:off x="6505425" y="2076750"/>
            <a:ext cx="2467200" cy="22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Blue paint: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× 30 = 60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White paint: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5 </a:t>
            </a:r>
            <a:r>
              <a:rPr lang="en-GB" sz="21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×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30 = 150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60 ml of blue paint and 150 ml of white paint.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4" name="Google Shape;1174;p85"/>
          <p:cNvSpPr/>
          <p:nvPr/>
        </p:nvSpPr>
        <p:spPr>
          <a:xfrm rot="-5400000">
            <a:off x="4018291" y="2820300"/>
            <a:ext cx="90000" cy="3151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85"/>
          <p:cNvSpPr txBox="1"/>
          <p:nvPr/>
        </p:nvSpPr>
        <p:spPr>
          <a:xfrm>
            <a:off x="1009550" y="2944138"/>
            <a:ext cx="1187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Blue paint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85"/>
          <p:cNvSpPr txBox="1"/>
          <p:nvPr/>
        </p:nvSpPr>
        <p:spPr>
          <a:xfrm>
            <a:off x="858000" y="3780163"/>
            <a:ext cx="141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White paint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85"/>
          <p:cNvSpPr txBox="1"/>
          <p:nvPr/>
        </p:nvSpPr>
        <p:spPr>
          <a:xfrm>
            <a:off x="5879975" y="3354700"/>
            <a:ext cx="537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8" name="Google Shape;1178;p85"/>
          <p:cNvSpPr txBox="1"/>
          <p:nvPr/>
        </p:nvSpPr>
        <p:spPr>
          <a:xfrm>
            <a:off x="3862438" y="4524200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?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9" name="Google Shape;1179;p85"/>
          <p:cNvSpPr txBox="1"/>
          <p:nvPr/>
        </p:nvSpPr>
        <p:spPr>
          <a:xfrm>
            <a:off x="2907313" y="2212800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?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86"/>
          <p:cNvSpPr txBox="1"/>
          <p:nvPr>
            <p:ph idx="1" type="body"/>
          </p:nvPr>
        </p:nvSpPr>
        <p:spPr>
          <a:xfrm>
            <a:off x="324000" y="759300"/>
            <a:ext cx="8237700" cy="7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To make the required shade of paint you need to mix blue and white paint in the ratio of 2 : 5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  If you used 210 ml </a:t>
            </a:r>
            <a:r>
              <a:rPr lang="en-GB" sz="1800">
                <a:solidFill>
                  <a:schemeClr val="accent4"/>
                </a:solidFill>
              </a:rPr>
              <a:t>more </a:t>
            </a:r>
            <a:r>
              <a:rPr lang="en-GB" sz="1800"/>
              <a:t>white paint than blue paint, how much paint was made in total?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graphicFrame>
        <p:nvGraphicFramePr>
          <p:cNvPr id="1186" name="Google Shape;1186;p86"/>
          <p:cNvGraphicFramePr/>
          <p:nvPr/>
        </p:nvGraphicFramePr>
        <p:xfrm>
          <a:off x="3091613" y="352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626150"/>
                <a:gridCol w="626150"/>
                <a:gridCol w="626150"/>
                <a:gridCol w="626150"/>
                <a:gridCol w="626150"/>
              </a:tblGrid>
              <a:tr h="66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87" name="Google Shape;1187;p86"/>
          <p:cNvGraphicFramePr/>
          <p:nvPr/>
        </p:nvGraphicFramePr>
        <p:xfrm>
          <a:off x="3091613" y="269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626150"/>
                <a:gridCol w="626150"/>
              </a:tblGrid>
              <a:tr h="66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88" name="Google Shape;1188;p86"/>
          <p:cNvSpPr/>
          <p:nvPr/>
        </p:nvSpPr>
        <p:spPr>
          <a:xfrm rot="5400000">
            <a:off x="5266034" y="2475775"/>
            <a:ext cx="90000" cy="1851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9" name="Google Shape;1189;p86"/>
          <p:cNvSpPr/>
          <p:nvPr/>
        </p:nvSpPr>
        <p:spPr>
          <a:xfrm rot="10800000">
            <a:off x="6309925" y="2678500"/>
            <a:ext cx="92100" cy="1513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0" name="Google Shape;1190;p86"/>
          <p:cNvSpPr txBox="1"/>
          <p:nvPr/>
        </p:nvSpPr>
        <p:spPr>
          <a:xfrm>
            <a:off x="6568200" y="2000525"/>
            <a:ext cx="22518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? = 7 × 70 = 490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So 490 ml in total.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1" name="Google Shape;1191;p86"/>
          <p:cNvSpPr txBox="1"/>
          <p:nvPr/>
        </p:nvSpPr>
        <p:spPr>
          <a:xfrm>
            <a:off x="5125607" y="3042475"/>
            <a:ext cx="58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210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2" name="Google Shape;1192;p86"/>
          <p:cNvSpPr txBox="1"/>
          <p:nvPr/>
        </p:nvSpPr>
        <p:spPr>
          <a:xfrm>
            <a:off x="1619150" y="2867938"/>
            <a:ext cx="1187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Blue paint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3" name="Google Shape;1193;p86"/>
          <p:cNvSpPr txBox="1"/>
          <p:nvPr/>
        </p:nvSpPr>
        <p:spPr>
          <a:xfrm>
            <a:off x="1467600" y="3703963"/>
            <a:ext cx="141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White paint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4" name="Google Shape;1194;p86"/>
          <p:cNvSpPr txBox="1"/>
          <p:nvPr/>
        </p:nvSpPr>
        <p:spPr>
          <a:xfrm>
            <a:off x="6475263" y="3308250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?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87"/>
          <p:cNvSpPr txBox="1"/>
          <p:nvPr>
            <p:ph idx="1" type="body"/>
          </p:nvPr>
        </p:nvSpPr>
        <p:spPr>
          <a:xfrm>
            <a:off x="324000" y="759300"/>
            <a:ext cx="8237700" cy="77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To make the required shade of paint you need to mix blue and white paint in the ratio of 2 : 5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  If you have 210 ml of white paint, how much blue paint do you need?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0" name="Google Shape;1200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graphicFrame>
        <p:nvGraphicFramePr>
          <p:cNvPr id="1201" name="Google Shape;1201;p87"/>
          <p:cNvGraphicFramePr/>
          <p:nvPr/>
        </p:nvGraphicFramePr>
        <p:xfrm>
          <a:off x="3091613" y="3529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626150"/>
                <a:gridCol w="626150"/>
                <a:gridCol w="626150"/>
                <a:gridCol w="626150"/>
                <a:gridCol w="626150"/>
              </a:tblGrid>
              <a:tr h="66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2" name="Google Shape;1202;p87"/>
          <p:cNvGraphicFramePr/>
          <p:nvPr/>
        </p:nvGraphicFramePr>
        <p:xfrm>
          <a:off x="3091613" y="2693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626150"/>
                <a:gridCol w="626150"/>
              </a:tblGrid>
              <a:tr h="662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3" name="Google Shape;1203;p87"/>
          <p:cNvSpPr/>
          <p:nvPr/>
        </p:nvSpPr>
        <p:spPr>
          <a:xfrm rot="5400000">
            <a:off x="3672774" y="1933350"/>
            <a:ext cx="90000" cy="1276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4" name="Google Shape;1204;p87"/>
          <p:cNvSpPr txBox="1"/>
          <p:nvPr/>
        </p:nvSpPr>
        <p:spPr>
          <a:xfrm>
            <a:off x="6171475" y="2463850"/>
            <a:ext cx="24963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? = 2 × 42 = 84</a:t>
            </a:r>
            <a:endParaRPr sz="21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You need 84 ml of blue paint. 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5" name="Google Shape;1205;p87"/>
          <p:cNvSpPr txBox="1"/>
          <p:nvPr/>
        </p:nvSpPr>
        <p:spPr>
          <a:xfrm>
            <a:off x="3637163" y="2112300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6" name="Google Shape;1206;p87"/>
          <p:cNvSpPr txBox="1"/>
          <p:nvPr/>
        </p:nvSpPr>
        <p:spPr>
          <a:xfrm>
            <a:off x="4371150" y="4448000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7"/>
          <p:cNvSpPr/>
          <p:nvPr/>
        </p:nvSpPr>
        <p:spPr>
          <a:xfrm rot="-5400000">
            <a:off x="4627891" y="2744100"/>
            <a:ext cx="90000" cy="31518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7"/>
          <p:cNvSpPr txBox="1"/>
          <p:nvPr/>
        </p:nvSpPr>
        <p:spPr>
          <a:xfrm>
            <a:off x="1619150" y="2867938"/>
            <a:ext cx="1187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Blue paint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7"/>
          <p:cNvSpPr txBox="1"/>
          <p:nvPr/>
        </p:nvSpPr>
        <p:spPr>
          <a:xfrm>
            <a:off x="1467600" y="3703963"/>
            <a:ext cx="1419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White paint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8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Strategies to solve ratio problems</a:t>
            </a:r>
            <a:endParaRPr/>
          </a:p>
        </p:txBody>
      </p:sp>
      <p:sp>
        <p:nvSpPr>
          <p:cNvPr id="1215" name="Google Shape;1215;p8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  <p:sp>
        <p:nvSpPr>
          <p:cNvPr id="1216" name="Google Shape;1216;p8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fractions and ratios</a:t>
            </a:r>
            <a:endParaRPr/>
          </a:p>
        </p:txBody>
      </p:sp>
      <p:pic>
        <p:nvPicPr>
          <p:cNvPr id="1217" name="Google Shape;121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950" y="301662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  <p:sp>
        <p:nvSpPr>
          <p:cNvPr id="1223" name="Google Shape;1223;p89"/>
          <p:cNvSpPr txBox="1"/>
          <p:nvPr>
            <p:ph idx="1" type="body"/>
          </p:nvPr>
        </p:nvSpPr>
        <p:spPr>
          <a:xfrm>
            <a:off x="324000" y="606900"/>
            <a:ext cx="8237700" cy="18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Sofia counts 300 red, blue and white cars in a car park.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ratio of red to blue cars is 2 : 3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of the cars are white.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many of each colour are there in the car park</a:t>
            </a:r>
            <a:r>
              <a:rPr lang="en-GB" sz="2000"/>
              <a:t>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224" name="Google Shape;122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00201" y="294637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89"/>
          <p:cNvSpPr txBox="1"/>
          <p:nvPr/>
        </p:nvSpPr>
        <p:spPr>
          <a:xfrm>
            <a:off x="496075" y="39191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26" name="Google Shape;1226;p89"/>
          <p:cNvGraphicFramePr/>
          <p:nvPr/>
        </p:nvGraphicFramePr>
        <p:xfrm>
          <a:off x="1921800" y="3690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45400"/>
                <a:gridCol w="345400"/>
                <a:gridCol w="345400"/>
              </a:tblGrid>
              <a:tr h="34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27" name="Google Shape;1227;p89"/>
          <p:cNvGraphicFramePr/>
          <p:nvPr/>
        </p:nvGraphicFramePr>
        <p:xfrm>
          <a:off x="1921800" y="4452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45400"/>
                <a:gridCol w="345400"/>
                <a:gridCol w="345400"/>
                <a:gridCol w="345400"/>
                <a:gridCol w="345400"/>
              </a:tblGrid>
              <a:tr h="34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86E8"/>
                    </a:solidFill>
                  </a:tcPr>
                </a:tc>
              </a:tr>
            </a:tbl>
          </a:graphicData>
        </a:graphic>
      </p:graphicFrame>
      <p:sp>
        <p:nvSpPr>
          <p:cNvPr id="1228" name="Google Shape;1228;p89"/>
          <p:cNvSpPr txBox="1"/>
          <p:nvPr/>
        </p:nvSpPr>
        <p:spPr>
          <a:xfrm>
            <a:off x="3866725" y="4083000"/>
            <a:ext cx="401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89"/>
          <p:cNvSpPr/>
          <p:nvPr/>
        </p:nvSpPr>
        <p:spPr>
          <a:xfrm rot="10800000">
            <a:off x="3722725" y="3685200"/>
            <a:ext cx="92100" cy="1109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0" name="Google Shape;1230;p89"/>
          <p:cNvGrpSpPr/>
          <p:nvPr/>
        </p:nvGrpSpPr>
        <p:grpSpPr>
          <a:xfrm>
            <a:off x="1110948" y="2286225"/>
            <a:ext cx="1955251" cy="1316250"/>
            <a:chOff x="1415748" y="2895825"/>
            <a:chExt cx="1955251" cy="1316250"/>
          </a:xfrm>
        </p:grpSpPr>
        <p:pic>
          <p:nvPicPr>
            <p:cNvPr id="1231" name="Google Shape;1231;p8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415748" y="2895825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2" name="Google Shape;1232;p89"/>
            <p:cNvSpPr txBox="1"/>
            <p:nvPr/>
          </p:nvSpPr>
          <p:spPr>
            <a:xfrm>
              <a:off x="1572975" y="3024314"/>
              <a:ext cx="17271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is my first step to solve this problem.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3" name="Google Shape;1233;p89"/>
          <p:cNvSpPr txBox="1"/>
          <p:nvPr/>
        </p:nvSpPr>
        <p:spPr>
          <a:xfrm>
            <a:off x="4623225" y="2571750"/>
            <a:ext cx="41967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Has Andeep chosen the correct way to start solving this problem?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89"/>
          <p:cNvSpPr txBox="1"/>
          <p:nvPr/>
        </p:nvSpPr>
        <p:spPr>
          <a:xfrm>
            <a:off x="4623225" y="3486150"/>
            <a:ext cx="4196700" cy="10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he has forgotten about the white cars.  The 300 is the total of the red, blue </a:t>
            </a:r>
            <a:r>
              <a:rPr lang="en-GB" sz="20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white cars.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235" name="Google Shape;1235;p89" title="three t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440900"/>
            <a:ext cx="278575" cy="51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  <p:sp>
        <p:nvSpPr>
          <p:cNvPr id="1241" name="Google Shape;1241;p90"/>
          <p:cNvSpPr txBox="1"/>
          <p:nvPr>
            <p:ph idx="1" type="body"/>
          </p:nvPr>
        </p:nvSpPr>
        <p:spPr>
          <a:xfrm>
            <a:off x="324000" y="606900"/>
            <a:ext cx="8237700" cy="184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Sofia counts 300 red, blue and white cars in a car park.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ratio of red to blue cars is 2 : 3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of </a:t>
            </a:r>
            <a:r>
              <a:rPr lang="en-GB" sz="2000"/>
              <a:t>the</a:t>
            </a:r>
            <a:r>
              <a:rPr lang="en-GB" sz="2000"/>
              <a:t> cars are white.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How many of each colour are there in the car park?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42" name="Google Shape;1242;p90"/>
          <p:cNvSpPr txBox="1"/>
          <p:nvPr>
            <p:ph idx="1" type="body"/>
          </p:nvPr>
        </p:nvSpPr>
        <p:spPr>
          <a:xfrm>
            <a:off x="324000" y="2495525"/>
            <a:ext cx="6614400" cy="3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first step is to find the number of white cars.</a:t>
            </a:r>
            <a:endParaRPr/>
          </a:p>
        </p:txBody>
      </p:sp>
      <p:sp>
        <p:nvSpPr>
          <p:cNvPr id="1243" name="Google Shape;1243;p90"/>
          <p:cNvSpPr txBox="1"/>
          <p:nvPr>
            <p:ph idx="1" type="body"/>
          </p:nvPr>
        </p:nvSpPr>
        <p:spPr>
          <a:xfrm>
            <a:off x="729349" y="3042475"/>
            <a:ext cx="4339500" cy="3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of 300 =      × 300 = 3 × 30 = 90</a:t>
            </a:r>
            <a:endParaRPr/>
          </a:p>
        </p:txBody>
      </p:sp>
      <p:sp>
        <p:nvSpPr>
          <p:cNvPr id="1244" name="Google Shape;1244;p90"/>
          <p:cNvSpPr txBox="1"/>
          <p:nvPr>
            <p:ph idx="1" type="body"/>
          </p:nvPr>
        </p:nvSpPr>
        <p:spPr>
          <a:xfrm>
            <a:off x="324000" y="3638525"/>
            <a:ext cx="5634900" cy="3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Number of red </a:t>
            </a:r>
            <a:r>
              <a:rPr lang="en-GB">
                <a:solidFill>
                  <a:schemeClr val="accent5"/>
                </a:solidFill>
              </a:rPr>
              <a:t>and</a:t>
            </a:r>
            <a:r>
              <a:rPr lang="en-GB"/>
              <a:t> blue = 300 − 90 = 210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245" name="Google Shape;1245;p90" title="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440900"/>
            <a:ext cx="278575" cy="51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246" name="Google Shape;1246;p90" title="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2964900"/>
            <a:ext cx="278575" cy="51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247" name="Google Shape;1247;p90" title="three t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200" y="2964900"/>
            <a:ext cx="278575" cy="51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90"/>
          <p:cNvSpPr/>
          <p:nvPr/>
        </p:nvSpPr>
        <p:spPr>
          <a:xfrm>
            <a:off x="1641150" y="2887000"/>
            <a:ext cx="1347900" cy="63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90"/>
          <p:cNvSpPr/>
          <p:nvPr/>
        </p:nvSpPr>
        <p:spPr>
          <a:xfrm>
            <a:off x="2989050" y="2923175"/>
            <a:ext cx="1078800" cy="63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0" name="Google Shape;1250;p90"/>
          <p:cNvSpPr/>
          <p:nvPr/>
        </p:nvSpPr>
        <p:spPr>
          <a:xfrm>
            <a:off x="4067850" y="2964900"/>
            <a:ext cx="1078800" cy="63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  <p:sp>
        <p:nvSpPr>
          <p:cNvPr id="1256" name="Google Shape;1256;p91"/>
          <p:cNvSpPr txBox="1"/>
          <p:nvPr>
            <p:ph idx="1" type="body"/>
          </p:nvPr>
        </p:nvSpPr>
        <p:spPr>
          <a:xfrm>
            <a:off x="324000" y="6831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ratio of red to blue cars is 2 : 3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We now know that there are 210 red </a:t>
            </a:r>
            <a:r>
              <a:rPr lang="en-GB" sz="2000">
                <a:solidFill>
                  <a:schemeClr val="accent5"/>
                </a:solidFill>
              </a:rPr>
              <a:t>and</a:t>
            </a:r>
            <a:r>
              <a:rPr lang="en-GB" sz="2000"/>
              <a:t> blue cars in the car park.</a:t>
            </a:r>
            <a:endParaRPr sz="2000"/>
          </a:p>
        </p:txBody>
      </p:sp>
      <p:pic>
        <p:nvPicPr>
          <p:cNvPr id="1257" name="Google Shape;125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00201" y="355597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91"/>
          <p:cNvSpPr txBox="1"/>
          <p:nvPr/>
        </p:nvSpPr>
        <p:spPr>
          <a:xfrm>
            <a:off x="496075" y="452872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59" name="Google Shape;1259;p91"/>
          <p:cNvGrpSpPr/>
          <p:nvPr/>
        </p:nvGrpSpPr>
        <p:grpSpPr>
          <a:xfrm>
            <a:off x="1111023" y="2438712"/>
            <a:ext cx="2674197" cy="1632940"/>
            <a:chOff x="1415748" y="2650137"/>
            <a:chExt cx="1955251" cy="1316250"/>
          </a:xfrm>
        </p:grpSpPr>
        <p:pic>
          <p:nvPicPr>
            <p:cNvPr id="1260" name="Google Shape;1260;p91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415748" y="2650137"/>
              <a:ext cx="1955251" cy="1316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1" name="Google Shape;1261;p91"/>
            <p:cNvSpPr txBox="1"/>
            <p:nvPr/>
          </p:nvSpPr>
          <p:spPr>
            <a:xfrm>
              <a:off x="1572975" y="2778626"/>
              <a:ext cx="17271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As I have used fractions to solve the first part I think I will continue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62" name="Google Shape;1262;p91"/>
          <p:cNvSpPr txBox="1"/>
          <p:nvPr>
            <p:ph idx="1" type="body"/>
          </p:nvPr>
        </p:nvSpPr>
        <p:spPr>
          <a:xfrm>
            <a:off x="324000" y="1597500"/>
            <a:ext cx="4248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</a:t>
            </a:r>
            <a:r>
              <a:rPr lang="en-GB" sz="2000"/>
              <a:t> fraction of the cars are red?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263" name="Google Shape;1263;p91" title="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1964000"/>
            <a:ext cx="19085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91"/>
          <p:cNvSpPr txBox="1"/>
          <p:nvPr>
            <p:ph idx="1" type="body"/>
          </p:nvPr>
        </p:nvSpPr>
        <p:spPr>
          <a:xfrm>
            <a:off x="578275" y="2114000"/>
            <a:ext cx="2319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of the cars are red.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5" name="Google Shape;1265;p91"/>
          <p:cNvSpPr txBox="1"/>
          <p:nvPr>
            <p:ph idx="1" type="body"/>
          </p:nvPr>
        </p:nvSpPr>
        <p:spPr>
          <a:xfrm>
            <a:off x="4539349" y="2509075"/>
            <a:ext cx="4339500" cy="3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of 210 =     × 210 = 2 × 42 = 84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266" name="Google Shape;1266;p91" title="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6400" y="2395011"/>
            <a:ext cx="190853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267" name="Google Shape;1267;p91" title="two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4200" y="2395011"/>
            <a:ext cx="190853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91"/>
          <p:cNvSpPr txBox="1"/>
          <p:nvPr>
            <p:ph idx="1" type="body"/>
          </p:nvPr>
        </p:nvSpPr>
        <p:spPr>
          <a:xfrm>
            <a:off x="4324850" y="3298575"/>
            <a:ext cx="4339500" cy="34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Number of blue = 210 − 84 = 126</a:t>
            </a:r>
            <a:endParaRPr/>
          </a:p>
        </p:txBody>
      </p:sp>
      <p:sp>
        <p:nvSpPr>
          <p:cNvPr id="1269" name="Google Shape;1269;p91"/>
          <p:cNvSpPr txBox="1"/>
          <p:nvPr>
            <p:ph idx="1" type="body"/>
          </p:nvPr>
        </p:nvSpPr>
        <p:spPr>
          <a:xfrm>
            <a:off x="1754275" y="4346800"/>
            <a:ext cx="66549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There are 90 white cars, 84 red cars and 126 blue cars.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0" name="Google Shape;1270;p91"/>
          <p:cNvSpPr/>
          <p:nvPr/>
        </p:nvSpPr>
        <p:spPr>
          <a:xfrm>
            <a:off x="5424625" y="2395000"/>
            <a:ext cx="1262400" cy="63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91"/>
          <p:cNvSpPr/>
          <p:nvPr/>
        </p:nvSpPr>
        <p:spPr>
          <a:xfrm>
            <a:off x="6706050" y="2381850"/>
            <a:ext cx="1091400" cy="63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91"/>
          <p:cNvSpPr/>
          <p:nvPr/>
        </p:nvSpPr>
        <p:spPr>
          <a:xfrm>
            <a:off x="7797350" y="2381850"/>
            <a:ext cx="1262400" cy="63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92"/>
          <p:cNvSpPr txBox="1"/>
          <p:nvPr>
            <p:ph idx="1" type="body"/>
          </p:nvPr>
        </p:nvSpPr>
        <p:spPr>
          <a:xfrm>
            <a:off x="6444850" y="1620000"/>
            <a:ext cx="1965300" cy="14475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72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Aisha = 12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Benji =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Cat =</a:t>
            </a:r>
            <a:endParaRPr sz="2000"/>
          </a:p>
        </p:txBody>
      </p:sp>
      <p:sp>
        <p:nvSpPr>
          <p:cNvPr id="1278" name="Google Shape;1278;p92"/>
          <p:cNvSpPr txBox="1"/>
          <p:nvPr>
            <p:ph idx="1" type="body"/>
          </p:nvPr>
        </p:nvSpPr>
        <p:spPr>
          <a:xfrm>
            <a:off x="324000" y="606900"/>
            <a:ext cx="8237700" cy="18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Aisha is 3 times as old as her younger brother Benji.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Benji is two-fifths of their cat’s age.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total of Aisha’s and Benji’s ages is 16.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is the total of their ages?</a:t>
            </a:r>
            <a:endParaRPr sz="1800"/>
          </a:p>
        </p:txBody>
      </p:sp>
      <p:sp>
        <p:nvSpPr>
          <p:cNvPr id="1279" name="Google Shape;127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  <p:sp>
        <p:nvSpPr>
          <p:cNvPr id="1280" name="Google Shape;1280;p92"/>
          <p:cNvSpPr txBox="1"/>
          <p:nvPr>
            <p:ph idx="1" type="body"/>
          </p:nvPr>
        </p:nvSpPr>
        <p:spPr>
          <a:xfrm>
            <a:off x="324000" y="2191950"/>
            <a:ext cx="5200200" cy="170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ratio of Aisha’s age to Benji’s age is what?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: B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: 1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fraction of their total age is Aisha?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281" name="Google Shape;1281;p92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1875" y="3787625"/>
            <a:ext cx="171600" cy="5467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2" name="Google Shape;1282;p92"/>
          <p:cNvSpPr txBox="1"/>
          <p:nvPr>
            <p:ph idx="1" type="body"/>
          </p:nvPr>
        </p:nvSpPr>
        <p:spPr>
          <a:xfrm>
            <a:off x="324000" y="3855364"/>
            <a:ext cx="3130800" cy="2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Aisha is   of their total age.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3" name="Google Shape;1283;p92"/>
          <p:cNvSpPr txBox="1"/>
          <p:nvPr>
            <p:ph idx="1" type="body"/>
          </p:nvPr>
        </p:nvSpPr>
        <p:spPr>
          <a:xfrm>
            <a:off x="324000" y="4405350"/>
            <a:ext cx="3518400" cy="2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Aisha’s age =     × 16 = 3 × 4 = 12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1284" name="Google Shape;1284;p92" title="three four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375" y="4268338"/>
            <a:ext cx="171600" cy="5467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92"/>
          <p:cNvSpPr/>
          <p:nvPr/>
        </p:nvSpPr>
        <p:spPr>
          <a:xfrm>
            <a:off x="7480675" y="1745300"/>
            <a:ext cx="319500" cy="25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86" name="Google Shape;1286;p92"/>
          <p:cNvSpPr/>
          <p:nvPr/>
        </p:nvSpPr>
        <p:spPr>
          <a:xfrm>
            <a:off x="2567700" y="4416025"/>
            <a:ext cx="1274700" cy="25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  <p:sp>
        <p:nvSpPr>
          <p:cNvPr id="1292" name="Google Shape;1292;p93"/>
          <p:cNvSpPr txBox="1"/>
          <p:nvPr>
            <p:ph idx="1" type="body"/>
          </p:nvPr>
        </p:nvSpPr>
        <p:spPr>
          <a:xfrm>
            <a:off x="324000" y="606900"/>
            <a:ext cx="8237700" cy="186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Aisha is 3 times as old as her younger brother Benji.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Benji is two-fifths of their cat’s age.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total of Aisha’s and Benji’s ages is 16.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is the total of their ages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293" name="Google Shape;1293;p93"/>
          <p:cNvSpPr txBox="1"/>
          <p:nvPr>
            <p:ph idx="1" type="body"/>
          </p:nvPr>
        </p:nvSpPr>
        <p:spPr>
          <a:xfrm>
            <a:off x="324000" y="2029275"/>
            <a:ext cx="3518400" cy="2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Benji</a:t>
            </a:r>
            <a:r>
              <a:rPr lang="en-GB" sz="1800"/>
              <a:t>’s age = 16 </a:t>
            </a:r>
            <a:r>
              <a:rPr lang="en-GB" sz="1800"/>
              <a:t>−</a:t>
            </a:r>
            <a:r>
              <a:rPr lang="en-GB" sz="1800"/>
              <a:t> Aisha’s age</a:t>
            </a:r>
            <a:endParaRPr sz="1800"/>
          </a:p>
        </p:txBody>
      </p:sp>
      <p:sp>
        <p:nvSpPr>
          <p:cNvPr id="1294" name="Google Shape;1294;p93"/>
          <p:cNvSpPr txBox="1"/>
          <p:nvPr>
            <p:ph idx="1" type="body"/>
          </p:nvPr>
        </p:nvSpPr>
        <p:spPr>
          <a:xfrm>
            <a:off x="6444850" y="1620000"/>
            <a:ext cx="1965300" cy="1447500"/>
          </a:xfrm>
          <a:prstGeom prst="rect">
            <a:avLst/>
          </a:prstGeom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720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Aisha = 12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Benji = 4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Cat = 10</a:t>
            </a:r>
            <a:endParaRPr sz="2000"/>
          </a:p>
        </p:txBody>
      </p:sp>
      <p:sp>
        <p:nvSpPr>
          <p:cNvPr id="1295" name="Google Shape;1295;p93"/>
          <p:cNvSpPr txBox="1"/>
          <p:nvPr>
            <p:ph idx="1" type="body"/>
          </p:nvPr>
        </p:nvSpPr>
        <p:spPr>
          <a:xfrm>
            <a:off x="2276950" y="2029275"/>
            <a:ext cx="1335300" cy="272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</a:t>
            </a:r>
            <a:endParaRPr sz="1800"/>
          </a:p>
        </p:txBody>
      </p:sp>
      <p:sp>
        <p:nvSpPr>
          <p:cNvPr id="1296" name="Google Shape;1296;p93"/>
          <p:cNvSpPr txBox="1"/>
          <p:nvPr>
            <p:ph idx="1" type="body"/>
          </p:nvPr>
        </p:nvSpPr>
        <p:spPr>
          <a:xfrm>
            <a:off x="324000" y="2453751"/>
            <a:ext cx="1633200" cy="2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Benji’s age = 4</a:t>
            </a:r>
            <a:endParaRPr sz="1800"/>
          </a:p>
        </p:txBody>
      </p:sp>
      <p:sp>
        <p:nvSpPr>
          <p:cNvPr id="1297" name="Google Shape;1297;p93"/>
          <p:cNvSpPr txBox="1"/>
          <p:nvPr>
            <p:ph idx="1" type="body"/>
          </p:nvPr>
        </p:nvSpPr>
        <p:spPr>
          <a:xfrm>
            <a:off x="324000" y="2878226"/>
            <a:ext cx="2199000" cy="5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Benji’s</a:t>
            </a:r>
            <a:r>
              <a:rPr lang="en-GB" sz="1800"/>
              <a:t> age =     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298" name="Google Shape;1298;p93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2814" y="2884549"/>
            <a:ext cx="171600" cy="551584"/>
          </a:xfrm>
          <a:prstGeom prst="rect">
            <a:avLst/>
          </a:prstGeom>
          <a:noFill/>
          <a:ln>
            <a:noFill/>
          </a:ln>
        </p:spPr>
      </p:pic>
      <p:sp>
        <p:nvSpPr>
          <p:cNvPr id="1299" name="Google Shape;1299;p93"/>
          <p:cNvSpPr txBox="1"/>
          <p:nvPr>
            <p:ph idx="1" type="body"/>
          </p:nvPr>
        </p:nvSpPr>
        <p:spPr>
          <a:xfrm>
            <a:off x="324000" y="3581702"/>
            <a:ext cx="1093800" cy="5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r>
              <a:rPr lang="en-GB" sz="1800"/>
              <a:t> =      ×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i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300" name="Google Shape;1300;p93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5764" y="3591311"/>
            <a:ext cx="171600" cy="551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93"/>
          <p:cNvSpPr txBox="1"/>
          <p:nvPr>
            <p:ph idx="1" type="body"/>
          </p:nvPr>
        </p:nvSpPr>
        <p:spPr>
          <a:xfrm>
            <a:off x="371950" y="4285177"/>
            <a:ext cx="1565400" cy="5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800"/>
              <a:t>= 4 ÷     = 10 </a:t>
            </a:r>
            <a:r>
              <a:rPr lang="en-GB" sz="1800"/>
              <a:t>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1302" name="Google Shape;1302;p93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314" y="4242814"/>
            <a:ext cx="171600" cy="551584"/>
          </a:xfrm>
          <a:prstGeom prst="rect">
            <a:avLst/>
          </a:prstGeom>
          <a:noFill/>
          <a:ln>
            <a:noFill/>
          </a:ln>
        </p:spPr>
      </p:pic>
      <p:sp>
        <p:nvSpPr>
          <p:cNvPr id="1303" name="Google Shape;1303;p93"/>
          <p:cNvSpPr txBox="1"/>
          <p:nvPr>
            <p:ph idx="1" type="body"/>
          </p:nvPr>
        </p:nvSpPr>
        <p:spPr>
          <a:xfrm>
            <a:off x="4392750" y="4004675"/>
            <a:ext cx="4427100" cy="34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Total age = 12 + 4 + 10 = 26 years</a:t>
            </a:r>
            <a:endParaRPr i="1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4" name="Google Shape;1304;p93"/>
          <p:cNvSpPr/>
          <p:nvPr/>
        </p:nvSpPr>
        <p:spPr>
          <a:xfrm>
            <a:off x="7404200" y="2218050"/>
            <a:ext cx="319500" cy="25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5" name="Google Shape;1305;p93"/>
          <p:cNvSpPr/>
          <p:nvPr/>
        </p:nvSpPr>
        <p:spPr>
          <a:xfrm>
            <a:off x="7213025" y="2700000"/>
            <a:ext cx="319500" cy="25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  <p:sp>
        <p:nvSpPr>
          <p:cNvPr id="1311" name="Google Shape;1311;p94"/>
          <p:cNvSpPr txBox="1"/>
          <p:nvPr>
            <p:ph idx="1" type="body"/>
          </p:nvPr>
        </p:nvSpPr>
        <p:spPr>
          <a:xfrm>
            <a:off x="324000" y="606900"/>
            <a:ext cx="8237700" cy="19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Spot the mistake.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 bag of sweets contains red, green and yellow sweets.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   of the bag are red.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rest of the sweets are either green or yellow, in the ratio 3 : 5.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There are 72 sweets in the bag.</a:t>
            </a:r>
            <a:endParaRPr sz="18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many of each colour are there?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312" name="Google Shape;1312;p94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200" y="1175059"/>
            <a:ext cx="140400" cy="4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94"/>
          <p:cNvSpPr txBox="1"/>
          <p:nvPr>
            <p:ph idx="1" type="body"/>
          </p:nvPr>
        </p:nvSpPr>
        <p:spPr>
          <a:xfrm>
            <a:off x="1467000" y="2952675"/>
            <a:ext cx="1695900" cy="30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Red    × 72 = 24</a:t>
            </a:r>
            <a:endParaRPr sz="1800"/>
          </a:p>
        </p:txBody>
      </p:sp>
      <p:graphicFrame>
        <p:nvGraphicFramePr>
          <p:cNvPr id="1314" name="Google Shape;1314;p94"/>
          <p:cNvGraphicFramePr/>
          <p:nvPr/>
        </p:nvGraphicFramePr>
        <p:xfrm>
          <a:off x="5357675" y="2858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45400"/>
                <a:gridCol w="345400"/>
                <a:gridCol w="345400"/>
              </a:tblGrid>
              <a:tr h="34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FF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5" name="Google Shape;1315;p94"/>
          <p:cNvGraphicFramePr/>
          <p:nvPr/>
        </p:nvGraphicFramePr>
        <p:xfrm>
          <a:off x="5357675" y="3277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{5D18FFCD-7815-48D8-AF97-ABE9CCF2F404}</a:tableStyleId>
              </a:tblPr>
              <a:tblGrid>
                <a:gridCol w="345400"/>
                <a:gridCol w="345400"/>
                <a:gridCol w="345400"/>
                <a:gridCol w="345400"/>
                <a:gridCol w="345400"/>
              </a:tblGrid>
              <a:tr h="34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316" name="Google Shape;1316;p94"/>
          <p:cNvSpPr txBox="1"/>
          <p:nvPr>
            <p:ph idx="1" type="body"/>
          </p:nvPr>
        </p:nvSpPr>
        <p:spPr>
          <a:xfrm>
            <a:off x="4512600" y="2859000"/>
            <a:ext cx="789900" cy="68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Green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Yellow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317" name="Google Shape;1317;p94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5600" y="2872738"/>
            <a:ext cx="140400" cy="4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8" name="Google Shape;1318;p94"/>
          <p:cNvSpPr txBox="1"/>
          <p:nvPr/>
        </p:nvSpPr>
        <p:spPr>
          <a:xfrm>
            <a:off x="7371925" y="3079725"/>
            <a:ext cx="1128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72 ÷ 8 = 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94"/>
          <p:cNvSpPr/>
          <p:nvPr/>
        </p:nvSpPr>
        <p:spPr>
          <a:xfrm rot="10800000">
            <a:off x="7227925" y="2846925"/>
            <a:ext cx="92100" cy="779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94"/>
          <p:cNvSpPr/>
          <p:nvPr/>
        </p:nvSpPr>
        <p:spPr>
          <a:xfrm rot="5400000">
            <a:off x="5839100" y="2210450"/>
            <a:ext cx="90000" cy="1052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94"/>
          <p:cNvSpPr/>
          <p:nvPr/>
        </p:nvSpPr>
        <p:spPr>
          <a:xfrm rot="-5400000">
            <a:off x="6184775" y="2883300"/>
            <a:ext cx="90000" cy="1744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rgbClr val="8080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94"/>
          <p:cNvSpPr txBox="1"/>
          <p:nvPr/>
        </p:nvSpPr>
        <p:spPr>
          <a:xfrm>
            <a:off x="5377566" y="2378300"/>
            <a:ext cx="1036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× 9 = 27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94"/>
          <p:cNvSpPr txBox="1"/>
          <p:nvPr/>
        </p:nvSpPr>
        <p:spPr>
          <a:xfrm>
            <a:off x="5682366" y="3826100"/>
            <a:ext cx="1036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× 9 = 45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94"/>
          <p:cNvSpPr txBox="1"/>
          <p:nvPr/>
        </p:nvSpPr>
        <p:spPr>
          <a:xfrm>
            <a:off x="350250" y="4201898"/>
            <a:ext cx="8185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red sweets are not subtracted from the total before finding the green and yellow sweets.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5" name="Google Shape;1325;p94"/>
          <p:cNvSpPr txBox="1"/>
          <p:nvPr/>
        </p:nvSpPr>
        <p:spPr>
          <a:xfrm>
            <a:off x="350250" y="4201898"/>
            <a:ext cx="81855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could have been done to check the answer and spot the mistake?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94"/>
          <p:cNvSpPr txBox="1"/>
          <p:nvPr/>
        </p:nvSpPr>
        <p:spPr>
          <a:xfrm>
            <a:off x="350250" y="4201898"/>
            <a:ext cx="8185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Finding the total of the red, green and yellow sweets gives 96 sweets and there were only 72 in the bag!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9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A bag of sweets contains red, green and yellow sweets.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   of the bag are red.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rest of the sweets are either green or yellow, in the ratio 3 : 5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There are 72 sweets in the bag.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How many of each colour are there?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32" name="Google Shape;1332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333" name="Google Shape;1333;p95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150" y="1080009"/>
            <a:ext cx="140400" cy="46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96"/>
          <p:cNvSpPr txBox="1"/>
          <p:nvPr>
            <p:ph idx="1" type="body"/>
          </p:nvPr>
        </p:nvSpPr>
        <p:spPr>
          <a:xfrm>
            <a:off x="324000" y="759300"/>
            <a:ext cx="8237700" cy="16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	Izzy</a:t>
            </a:r>
            <a:r>
              <a:rPr lang="en-GB" sz="2000"/>
              <a:t> counts 350 red, blue and white cars in a car park.</a:t>
            </a:r>
            <a:endParaRPr sz="2000"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ratio of red to blue cars is 2 : 3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     	    of the cars are white.</a:t>
            </a:r>
            <a:endParaRPr sz="2000"/>
          </a:p>
          <a:p>
            <a:pPr indent="45720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many of each colour are there in the car park?</a:t>
            </a:r>
            <a:r>
              <a:rPr lang="en-GB" sz="2000"/>
              <a:t>   </a:t>
            </a:r>
            <a:endParaRPr sz="2000"/>
          </a:p>
        </p:txBody>
      </p:sp>
      <p:sp>
        <p:nvSpPr>
          <p:cNvPr id="1339" name="Google Shape;1339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340" name="Google Shape;1340;p96" title="four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650" y="1413025"/>
            <a:ext cx="196775" cy="65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97"/>
          <p:cNvSpPr txBox="1"/>
          <p:nvPr>
            <p:ph idx="1" type="body"/>
          </p:nvPr>
        </p:nvSpPr>
        <p:spPr>
          <a:xfrm>
            <a:off x="324000" y="759300"/>
            <a:ext cx="8237700" cy="147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	</a:t>
            </a:r>
            <a:r>
              <a:rPr lang="en-GB" sz="1800"/>
              <a:t>Andeep’s older sister Belle is 5 times his age.  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cat is three-tenths of Belle’s age.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The total of Andeep’s and Belle’s ages is 24.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What is the total of their ages?</a:t>
            </a:r>
            <a:endParaRPr sz="1800"/>
          </a:p>
        </p:txBody>
      </p:sp>
      <p:sp>
        <p:nvSpPr>
          <p:cNvPr id="1346" name="Google Shape;1346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p98"/>
          <p:cNvSpPr txBox="1"/>
          <p:nvPr>
            <p:ph idx="1" type="body"/>
          </p:nvPr>
        </p:nvSpPr>
        <p:spPr>
          <a:xfrm>
            <a:off x="324000" y="759300"/>
            <a:ext cx="8237700" cy="213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A bag of sweets contains red, green and yellow sweets.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   of the bag are red.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rest of the sweets are either green or yellow, in the ratio 3 : 5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There are 72 sweets in the bag.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many of each colour are there?</a:t>
            </a:r>
            <a:endParaRPr sz="1800"/>
          </a:p>
        </p:txBody>
      </p:sp>
      <p:sp>
        <p:nvSpPr>
          <p:cNvPr id="1352" name="Google Shape;1352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1353" name="Google Shape;1353;p98" title="one thir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150" y="1080009"/>
            <a:ext cx="140400" cy="46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4" name="Google Shape;1354;p98"/>
          <p:cNvSpPr txBox="1"/>
          <p:nvPr>
            <p:ph idx="1" type="body"/>
          </p:nvPr>
        </p:nvSpPr>
        <p:spPr>
          <a:xfrm>
            <a:off x="790150" y="3069650"/>
            <a:ext cx="1580700" cy="137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Red = 24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Green = 18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Yellow = 30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5" name="Google Shape;1355;p98"/>
          <p:cNvSpPr/>
          <p:nvPr/>
        </p:nvSpPr>
        <p:spPr>
          <a:xfrm>
            <a:off x="2460000" y="3072825"/>
            <a:ext cx="314400" cy="1335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6" name="Google Shape;1356;p98"/>
          <p:cNvSpPr txBox="1"/>
          <p:nvPr>
            <p:ph idx="1" type="body"/>
          </p:nvPr>
        </p:nvSpPr>
        <p:spPr>
          <a:xfrm>
            <a:off x="2863550" y="3525251"/>
            <a:ext cx="324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Check 24 + 18 + 30 = 72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9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	Izzy counts 350 red, blue and white cars in a car park.</a:t>
            </a:r>
            <a:endParaRPr sz="2000"/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ratio of red to blue cars is 2 : 3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     	    of the cars are white.</a:t>
            </a:r>
            <a:endParaRPr sz="2000"/>
          </a:p>
          <a:p>
            <a:pPr indent="45720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many of each colour are there in the car park?   </a:t>
            </a:r>
            <a:endParaRPr sz="2000"/>
          </a:p>
        </p:txBody>
      </p:sp>
      <p:sp>
        <p:nvSpPr>
          <p:cNvPr id="1362" name="Google Shape;1362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4}{7}&quot;&gt;&lt;mfrac&gt;&lt;mn&gt;4&lt;/mn&gt;&lt;mn&gt;7&lt;/mn&gt;&lt;/mfrac&gt;&lt;/math&gt;" id="1363" name="Google Shape;1363;p99" title="four seven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650" y="1413025"/>
            <a:ext cx="196775" cy="65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99"/>
          <p:cNvSpPr txBox="1"/>
          <p:nvPr>
            <p:ph idx="1" type="body"/>
          </p:nvPr>
        </p:nvSpPr>
        <p:spPr>
          <a:xfrm>
            <a:off x="790150" y="2917250"/>
            <a:ext cx="1580700" cy="137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White = 200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Red = 60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Blue = 90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10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	</a:t>
            </a:r>
            <a:r>
              <a:rPr lang="en-GB" sz="1800"/>
              <a:t>Andeep’s older sister Belle is 5 times his age.  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cat is three-tenths of Belle’s age.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The total of Andeep’s and Belle’s ages is 24.</a:t>
            </a:r>
            <a:endParaRPr sz="1800"/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What is the total of their ages?</a:t>
            </a:r>
            <a:endParaRPr/>
          </a:p>
        </p:txBody>
      </p:sp>
      <p:sp>
        <p:nvSpPr>
          <p:cNvPr id="1370" name="Google Shape;1370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Problems involving fractions and ratios</a:t>
            </a:r>
            <a:endParaRPr/>
          </a:p>
        </p:txBody>
      </p:sp>
      <p:sp>
        <p:nvSpPr>
          <p:cNvPr id="1371" name="Google Shape;1371;p100"/>
          <p:cNvSpPr txBox="1"/>
          <p:nvPr>
            <p:ph idx="1" type="body"/>
          </p:nvPr>
        </p:nvSpPr>
        <p:spPr>
          <a:xfrm>
            <a:off x="790150" y="2917250"/>
            <a:ext cx="2424000" cy="137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Andeep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= 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Belle = 20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Cat = 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2" name="Google Shape;1372;p100"/>
          <p:cNvSpPr/>
          <p:nvPr/>
        </p:nvSpPr>
        <p:spPr>
          <a:xfrm>
            <a:off x="2460000" y="2996625"/>
            <a:ext cx="314400" cy="13356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3" name="Google Shape;1373;p100"/>
          <p:cNvSpPr txBox="1"/>
          <p:nvPr>
            <p:ph idx="1" type="body"/>
          </p:nvPr>
        </p:nvSpPr>
        <p:spPr>
          <a:xfrm>
            <a:off x="2863550" y="3525251"/>
            <a:ext cx="3247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Total age = 30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101"/>
          <p:cNvSpPr txBox="1"/>
          <p:nvPr>
            <p:ph idx="1" type="body"/>
          </p:nvPr>
        </p:nvSpPr>
        <p:spPr>
          <a:xfrm>
            <a:off x="324000" y="810000"/>
            <a:ext cx="8421300" cy="349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In a</a:t>
            </a:r>
            <a:r>
              <a:rPr lang="en-GB" sz="2000"/>
              <a:t> ratio problem you may be given the total, one part or the difference between the parts.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Using and labelling a bar model can help you solve problems involving ratio.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Because fractions and ratios are alternative ways of showing proportion they can be interchanged when solving problems.  It is not always necessary to find all ‘parts’.</a:t>
            </a:r>
            <a:endParaRPr sz="2000"/>
          </a:p>
        </p:txBody>
      </p:sp>
      <p:sp>
        <p:nvSpPr>
          <p:cNvPr id="1379" name="Google Shape;1379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 solving with fractions and ratios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0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85" name="Google Shape;1385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