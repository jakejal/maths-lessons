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0BB410-55D6-450A-B41E-6495E4F2D4DA}">
  <a:tblStyle styleId="{7E0BB410-55D6-450A-B41E-6495E4F2D4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686bc195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686bc195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9fbf6b99a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9fbf6b99a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9fbf6b99a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fbf6b99a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9fbf6b99a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9fbf6b99a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9fbf6b99a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9fbf6b99a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9fbf6b99a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9fbf6b99a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9fbf6b99a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9fbf6b99a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9fbf6b99a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9fbf6b99a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a3c8b0195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a3c8b019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a3c8b0195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a3c8b0195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9fbf6b99a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9fbf6b99a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a37468784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a37468784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9fbf6b99a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9fbf6b99a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9fbf6b99a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9fbf6b99a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9fbf6b99a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9fbf6b99a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9fbf6b99a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fbf6b99a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9fbf6b99a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9fbf6b99a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9fbf6b99a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9fbf6b99a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a284da51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a284da51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a3c8b0195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a3c8b0195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a3c8b0195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a3c8b0195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a3c8b019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a3c8b019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2a3c8b0195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2a3c8b0195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57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7.png"/><Relationship Id="rId4" Type="http://schemas.openxmlformats.org/officeDocument/2006/relationships/image" Target="../media/image23.png"/><Relationship Id="rId9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7.png"/><Relationship Id="rId4" Type="http://schemas.openxmlformats.org/officeDocument/2006/relationships/image" Target="../media/image31.png"/><Relationship Id="rId11" Type="http://schemas.openxmlformats.org/officeDocument/2006/relationships/image" Target="../media/image16.png"/><Relationship Id="rId10" Type="http://schemas.openxmlformats.org/officeDocument/2006/relationships/image" Target="../media/image37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quantity into a given ratio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divide one quantity into a given ratio.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/>
        </p:nvSpPr>
        <p:spPr>
          <a:xfrm>
            <a:off x="383151" y="1872400"/>
            <a:ext cx="822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ratio shows the relative sizes of 2 or more values and allows you to compare a part with another part in a whole.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38315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Variables are in proportion if they have a constant multiplicative relationship.</a:t>
            </a:r>
            <a:r>
              <a:rPr lang="en-GB" sz="2200">
                <a:solidFill>
                  <a:srgbClr val="28282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quantity into a given ratio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</a:t>
            </a:r>
            <a:endParaRPr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Sam decide to earn some pocket money.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are paid £15.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Andeep worked for 2 hours and Sam worked for 3 hours.</a:t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45182" y="3467825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1670" y="34678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8"/>
          <p:cNvSpPr txBox="1"/>
          <p:nvPr/>
        </p:nvSpPr>
        <p:spPr>
          <a:xfrm>
            <a:off x="437869" y="4484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/>
        </p:nvSpPr>
        <p:spPr>
          <a:xfrm>
            <a:off x="7655500" y="4461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0" name="Google Shape;790;p68"/>
          <p:cNvGrpSpPr/>
          <p:nvPr/>
        </p:nvGrpSpPr>
        <p:grpSpPr>
          <a:xfrm>
            <a:off x="5143398" y="2325175"/>
            <a:ext cx="1955251" cy="1316250"/>
            <a:chOff x="5143398" y="2325175"/>
            <a:chExt cx="1955251" cy="1316250"/>
          </a:xfrm>
        </p:grpSpPr>
        <p:pic>
          <p:nvPicPr>
            <p:cNvPr id="791" name="Google Shape;791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143398" y="23251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68"/>
            <p:cNvSpPr txBox="1"/>
            <p:nvPr/>
          </p:nvSpPr>
          <p:spPr>
            <a:xfrm>
              <a:off x="5265125" y="2450143"/>
              <a:ext cx="1681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That isn’t fair as I did more hours.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3" name="Google Shape;793;p68"/>
          <p:cNvGrpSpPr/>
          <p:nvPr/>
        </p:nvGrpSpPr>
        <p:grpSpPr>
          <a:xfrm>
            <a:off x="1150501" y="2325175"/>
            <a:ext cx="1636461" cy="1316250"/>
            <a:chOff x="1150501" y="2325175"/>
            <a:chExt cx="1636461" cy="1316250"/>
          </a:xfrm>
        </p:grpSpPr>
        <p:pic>
          <p:nvPicPr>
            <p:cNvPr id="794" name="Google Shape;794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150501" y="2325175"/>
              <a:ext cx="1618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p68"/>
            <p:cNvSpPr txBox="1"/>
            <p:nvPr/>
          </p:nvSpPr>
          <p:spPr>
            <a:xfrm>
              <a:off x="1329262" y="2452131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We will each get £7.50.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6" name="Google Shape;796;p68"/>
          <p:cNvSpPr txBox="1"/>
          <p:nvPr/>
        </p:nvSpPr>
        <p:spPr>
          <a:xfrm>
            <a:off x="1994550" y="3806600"/>
            <a:ext cx="35307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Do you agree with Sam?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1994550" y="4385700"/>
            <a:ext cx="33402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 agree with Sam.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</a:t>
            </a:r>
            <a:endParaRPr/>
          </a:p>
        </p:txBody>
      </p:sp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324000" y="759300"/>
            <a:ext cx="6884100" cy="9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can Andeep and Sam share the money fairly?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could work out the pay for 1 hour.</a:t>
            </a:r>
            <a:endParaRPr/>
          </a:p>
        </p:txBody>
      </p:sp>
      <p:grpSp>
        <p:nvGrpSpPr>
          <p:cNvPr id="804" name="Google Shape;804;p69"/>
          <p:cNvGrpSpPr/>
          <p:nvPr/>
        </p:nvGrpSpPr>
        <p:grpSpPr>
          <a:xfrm>
            <a:off x="5372000" y="2096575"/>
            <a:ext cx="2358175" cy="1810999"/>
            <a:chOff x="5143400" y="2325175"/>
            <a:chExt cx="2358175" cy="1810999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143400" y="2325175"/>
              <a:ext cx="2358175" cy="1810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 txBox="1"/>
            <p:nvPr/>
          </p:nvSpPr>
          <p:spPr>
            <a:xfrm>
              <a:off x="5265125" y="2473150"/>
              <a:ext cx="2091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So, that means we need to divide the pay by 5.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69"/>
          <p:cNvGrpSpPr/>
          <p:nvPr/>
        </p:nvGrpSpPr>
        <p:grpSpPr>
          <a:xfrm>
            <a:off x="1302898" y="2706175"/>
            <a:ext cx="1955251" cy="1316250"/>
            <a:chOff x="236098" y="2325175"/>
            <a:chExt cx="1955251" cy="1316250"/>
          </a:xfrm>
        </p:grpSpPr>
        <p:pic>
          <p:nvPicPr>
            <p:cNvPr id="808" name="Google Shape;808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236098" y="23251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69"/>
            <p:cNvSpPr txBox="1"/>
            <p:nvPr/>
          </p:nvSpPr>
          <p:spPr>
            <a:xfrm>
              <a:off x="384450" y="2482657"/>
              <a:ext cx="1737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In total we worked 5 hours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0" name="Google Shape;810;p69"/>
          <p:cNvSpPr txBox="1"/>
          <p:nvPr>
            <p:ph idx="1" type="body"/>
          </p:nvPr>
        </p:nvSpPr>
        <p:spPr>
          <a:xfrm>
            <a:off x="324000" y="1982100"/>
            <a:ext cx="2931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£15 ÷ 5 = £3 per hour</a:t>
            </a:r>
            <a:endParaRPr/>
          </a:p>
        </p:txBody>
      </p:sp>
      <p:grpSp>
        <p:nvGrpSpPr>
          <p:cNvPr id="811" name="Google Shape;811;p69"/>
          <p:cNvGrpSpPr/>
          <p:nvPr/>
        </p:nvGrpSpPr>
        <p:grpSpPr>
          <a:xfrm>
            <a:off x="1302898" y="2706175"/>
            <a:ext cx="1955251" cy="1316250"/>
            <a:chOff x="1988698" y="1563175"/>
            <a:chExt cx="1955251" cy="1316250"/>
          </a:xfrm>
        </p:grpSpPr>
        <p:pic>
          <p:nvPicPr>
            <p:cNvPr id="812" name="Google Shape;812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988698" y="15631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3" name="Google Shape;813;p69"/>
            <p:cNvSpPr txBox="1"/>
            <p:nvPr/>
          </p:nvSpPr>
          <p:spPr>
            <a:xfrm>
              <a:off x="2289450" y="1834900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So, I get £6.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4" name="Google Shape;814;p69"/>
          <p:cNvGrpSpPr/>
          <p:nvPr/>
        </p:nvGrpSpPr>
        <p:grpSpPr>
          <a:xfrm>
            <a:off x="5695623" y="2543413"/>
            <a:ext cx="1955251" cy="1316250"/>
            <a:chOff x="6381423" y="1171813"/>
            <a:chExt cx="1955251" cy="1316250"/>
          </a:xfrm>
        </p:grpSpPr>
        <p:pic>
          <p:nvPicPr>
            <p:cNvPr id="815" name="Google Shape;815;p69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6381423" y="1171813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6" name="Google Shape;816;p69"/>
            <p:cNvSpPr txBox="1"/>
            <p:nvPr/>
          </p:nvSpPr>
          <p:spPr>
            <a:xfrm>
              <a:off x="6655550" y="1426513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And I get £9.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7" name="Google Shape;81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45182" y="3467825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61670" y="34678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69"/>
          <p:cNvSpPr txBox="1"/>
          <p:nvPr/>
        </p:nvSpPr>
        <p:spPr>
          <a:xfrm>
            <a:off x="437869" y="4484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69"/>
          <p:cNvSpPr txBox="1"/>
          <p:nvPr/>
        </p:nvSpPr>
        <p:spPr>
          <a:xfrm>
            <a:off x="7655500" y="4461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</a:t>
            </a:r>
            <a:endParaRPr/>
          </a:p>
        </p:txBody>
      </p:sp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could have represented that problem with a ratio.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Andeep and Sam worked in the ratio of  2 hours : 3 hours.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As a bar model it would look like this:</a:t>
            </a:r>
            <a:endParaRPr/>
          </a:p>
        </p:txBody>
      </p:sp>
      <p:graphicFrame>
        <p:nvGraphicFramePr>
          <p:cNvPr id="827" name="Google Shape;827;p70"/>
          <p:cNvGraphicFramePr/>
          <p:nvPr/>
        </p:nvGraphicFramePr>
        <p:xfrm>
          <a:off x="937707" y="306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828" name="Google Shape;828;p70"/>
          <p:cNvSpPr/>
          <p:nvPr/>
        </p:nvSpPr>
        <p:spPr>
          <a:xfrm rot="5400000">
            <a:off x="4450507" y="-730969"/>
            <a:ext cx="199800" cy="7225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/>
          <p:nvPr/>
        </p:nvSpPr>
        <p:spPr>
          <a:xfrm rot="-5400000">
            <a:off x="2285857" y="2161407"/>
            <a:ext cx="199800" cy="2896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/>
          <p:nvPr/>
        </p:nvSpPr>
        <p:spPr>
          <a:xfrm rot="-5400000">
            <a:off x="5905207" y="1438257"/>
            <a:ext cx="199800" cy="4342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 txBox="1"/>
          <p:nvPr/>
        </p:nvSpPr>
        <p:spPr>
          <a:xfrm>
            <a:off x="4308600" y="2341781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£15 ÷ 5 = £3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1832712" y="3884925"/>
            <a:ext cx="1069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/>
        </p:nvSpPr>
        <p:spPr>
          <a:xfrm>
            <a:off x="5689125" y="3884925"/>
            <a:ext cx="628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4" name="Google Shape;834;p70"/>
          <p:cNvGrpSpPr/>
          <p:nvPr/>
        </p:nvGrpSpPr>
        <p:grpSpPr>
          <a:xfrm>
            <a:off x="1456275" y="3081625"/>
            <a:ext cx="6176775" cy="389057"/>
            <a:chOff x="1456275" y="3081625"/>
            <a:chExt cx="6176775" cy="389057"/>
          </a:xfrm>
        </p:grpSpPr>
        <p:sp>
          <p:nvSpPr>
            <p:cNvPr id="835" name="Google Shape;835;p70"/>
            <p:cNvSpPr txBox="1"/>
            <p:nvPr/>
          </p:nvSpPr>
          <p:spPr>
            <a:xfrm>
              <a:off x="1456275" y="3112182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6" name="Google Shape;836;p70"/>
            <p:cNvSpPr txBox="1"/>
            <p:nvPr/>
          </p:nvSpPr>
          <p:spPr>
            <a:xfrm>
              <a:off x="2913544" y="3112182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7" name="Google Shape;837;p70"/>
            <p:cNvSpPr txBox="1"/>
            <p:nvPr/>
          </p:nvSpPr>
          <p:spPr>
            <a:xfrm>
              <a:off x="4370813" y="3112182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70"/>
            <p:cNvSpPr txBox="1"/>
            <p:nvPr/>
          </p:nvSpPr>
          <p:spPr>
            <a:xfrm>
              <a:off x="5828081" y="3081625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9" name="Google Shape;839;p70"/>
            <p:cNvSpPr txBox="1"/>
            <p:nvPr/>
          </p:nvSpPr>
          <p:spPr>
            <a:xfrm>
              <a:off x="7285350" y="3112182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0" name="Google Shape;840;p70"/>
          <p:cNvSpPr txBox="1"/>
          <p:nvPr/>
        </p:nvSpPr>
        <p:spPr>
          <a:xfrm>
            <a:off x="1695051" y="4260000"/>
            <a:ext cx="15444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£3 = £6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0"/>
          <p:cNvSpPr txBox="1"/>
          <p:nvPr/>
        </p:nvSpPr>
        <p:spPr>
          <a:xfrm>
            <a:off x="5321175" y="4260000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£3 = £9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0"/>
          <p:cNvSpPr/>
          <p:nvPr/>
        </p:nvSpPr>
        <p:spPr>
          <a:xfrm>
            <a:off x="4807725" y="2342800"/>
            <a:ext cx="1149000" cy="35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</a:t>
            </a:r>
            <a:endParaRPr/>
          </a:p>
        </p:txBody>
      </p:sp>
      <p:sp>
        <p:nvSpPr>
          <p:cNvPr id="848" name="Google Shape;848;p71"/>
          <p:cNvSpPr txBox="1"/>
          <p:nvPr>
            <p:ph idx="1" type="body"/>
          </p:nvPr>
        </p:nvSpPr>
        <p:spPr>
          <a:xfrm>
            <a:off x="324000" y="759300"/>
            <a:ext cx="8237700" cy="3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Would it matter if we had set the bar model out this way?</a:t>
            </a:r>
            <a:endParaRPr/>
          </a:p>
        </p:txBody>
      </p:sp>
      <p:grpSp>
        <p:nvGrpSpPr>
          <p:cNvPr id="849" name="Google Shape;849;p71"/>
          <p:cNvGrpSpPr/>
          <p:nvPr/>
        </p:nvGrpSpPr>
        <p:grpSpPr>
          <a:xfrm>
            <a:off x="324000" y="1942900"/>
            <a:ext cx="1178075" cy="1112900"/>
            <a:chOff x="324000" y="1942900"/>
            <a:chExt cx="1178075" cy="1112900"/>
          </a:xfrm>
        </p:grpSpPr>
        <p:sp>
          <p:nvSpPr>
            <p:cNvPr id="850" name="Google Shape;850;p71"/>
            <p:cNvSpPr txBox="1"/>
            <p:nvPr/>
          </p:nvSpPr>
          <p:spPr>
            <a:xfrm>
              <a:off x="353075" y="1942900"/>
              <a:ext cx="11490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1" name="Google Shape;851;p71"/>
            <p:cNvSpPr txBox="1"/>
            <p:nvPr/>
          </p:nvSpPr>
          <p:spPr>
            <a:xfrm>
              <a:off x="324000" y="2697300"/>
              <a:ext cx="6720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52" name="Google Shape;852;p71"/>
          <p:cNvGraphicFramePr/>
          <p:nvPr/>
        </p:nvGraphicFramePr>
        <p:xfrm>
          <a:off x="1714500" y="194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208550"/>
                <a:gridCol w="1208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3" name="Google Shape;853;p71"/>
          <p:cNvGraphicFramePr/>
          <p:nvPr/>
        </p:nvGraphicFramePr>
        <p:xfrm>
          <a:off x="1714500" y="269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854" name="Google Shape;854;p71"/>
          <p:cNvSpPr/>
          <p:nvPr/>
        </p:nvSpPr>
        <p:spPr>
          <a:xfrm rot="10800000">
            <a:off x="5452200" y="1923150"/>
            <a:ext cx="199800" cy="1210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1"/>
          <p:cNvSpPr txBox="1"/>
          <p:nvPr/>
        </p:nvSpPr>
        <p:spPr>
          <a:xfrm>
            <a:off x="5717200" y="2301400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£15 in total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 txBox="1"/>
          <p:nvPr/>
        </p:nvSpPr>
        <p:spPr>
          <a:xfrm>
            <a:off x="2311325" y="1210250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£3 = £6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 txBox="1"/>
          <p:nvPr/>
        </p:nvSpPr>
        <p:spPr>
          <a:xfrm>
            <a:off x="2719600" y="3518450"/>
            <a:ext cx="17391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× £3 = £9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8" name="Google Shape;858;p71"/>
          <p:cNvGrpSpPr/>
          <p:nvPr/>
        </p:nvGrpSpPr>
        <p:grpSpPr>
          <a:xfrm>
            <a:off x="2126875" y="1966000"/>
            <a:ext cx="2792825" cy="1106525"/>
            <a:chOff x="2126875" y="1966000"/>
            <a:chExt cx="2792825" cy="1106525"/>
          </a:xfrm>
        </p:grpSpPr>
        <p:sp>
          <p:nvSpPr>
            <p:cNvPr id="859" name="Google Shape;859;p71"/>
            <p:cNvSpPr txBox="1"/>
            <p:nvPr/>
          </p:nvSpPr>
          <p:spPr>
            <a:xfrm>
              <a:off x="2153900" y="1966000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1"/>
            <p:cNvSpPr txBox="1"/>
            <p:nvPr/>
          </p:nvSpPr>
          <p:spPr>
            <a:xfrm>
              <a:off x="3398550" y="1966000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1" name="Google Shape;861;p71"/>
            <p:cNvSpPr txBox="1"/>
            <p:nvPr/>
          </p:nvSpPr>
          <p:spPr>
            <a:xfrm>
              <a:off x="2126875" y="2714025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2" name="Google Shape;862;p71"/>
            <p:cNvSpPr txBox="1"/>
            <p:nvPr/>
          </p:nvSpPr>
          <p:spPr>
            <a:xfrm>
              <a:off x="3371525" y="2714025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3" name="Google Shape;863;p71"/>
            <p:cNvSpPr txBox="1"/>
            <p:nvPr/>
          </p:nvSpPr>
          <p:spPr>
            <a:xfrm>
              <a:off x="4572000" y="2697300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4" name="Google Shape;864;p71"/>
          <p:cNvSpPr/>
          <p:nvPr/>
        </p:nvSpPr>
        <p:spPr>
          <a:xfrm rot="5400000">
            <a:off x="2822400" y="546450"/>
            <a:ext cx="199800" cy="2415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1"/>
          <p:cNvSpPr/>
          <p:nvPr/>
        </p:nvSpPr>
        <p:spPr>
          <a:xfrm rot="-5400000">
            <a:off x="3409800" y="1550400"/>
            <a:ext cx="199800" cy="3649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1"/>
          <p:cNvSpPr txBox="1"/>
          <p:nvPr>
            <p:ph idx="1" type="body"/>
          </p:nvPr>
        </p:nvSpPr>
        <p:spPr>
          <a:xfrm>
            <a:off x="324000" y="3939000"/>
            <a:ext cx="8237700" cy="7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Both bar models are useful for this type of question.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However, the second one is most useful in other situations.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7" name="Google Shape;867;p71"/>
          <p:cNvSpPr txBox="1"/>
          <p:nvPr/>
        </p:nvSpPr>
        <p:spPr>
          <a:xfrm>
            <a:off x="6182150" y="1325550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£15 ÷ 5 = £3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</a:t>
            </a:r>
            <a:endParaRPr/>
          </a:p>
        </p:txBody>
      </p:sp>
      <p:sp>
        <p:nvSpPr>
          <p:cNvPr id="873" name="Google Shape;873;p72"/>
          <p:cNvSpPr txBox="1"/>
          <p:nvPr>
            <p:ph idx="1" type="body"/>
          </p:nvPr>
        </p:nvSpPr>
        <p:spPr>
          <a:xfrm>
            <a:off x="324000" y="7593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Share 300 in the ratio 2 : 1 : 3</a:t>
            </a:r>
            <a:endParaRPr/>
          </a:p>
        </p:txBody>
      </p:sp>
      <p:graphicFrame>
        <p:nvGraphicFramePr>
          <p:cNvPr id="874" name="Google Shape;874;p72"/>
          <p:cNvGraphicFramePr/>
          <p:nvPr/>
        </p:nvGraphicFramePr>
        <p:xfrm>
          <a:off x="952500" y="18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208550"/>
                <a:gridCol w="1208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5" name="Google Shape;875;p72"/>
          <p:cNvGraphicFramePr/>
          <p:nvPr/>
        </p:nvGraphicFramePr>
        <p:xfrm>
          <a:off x="952500" y="30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6" name="Google Shape;876;p72"/>
          <p:cNvGraphicFramePr/>
          <p:nvPr/>
        </p:nvGraphicFramePr>
        <p:xfrm>
          <a:off x="952500" y="428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7" name="Google Shape;877;p72"/>
          <p:cNvSpPr txBox="1"/>
          <p:nvPr>
            <p:ph idx="1" type="body"/>
          </p:nvPr>
        </p:nvSpPr>
        <p:spPr>
          <a:xfrm>
            <a:off x="598500" y="1862706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598500" y="3107178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879" name="Google Shape;879;p72"/>
          <p:cNvSpPr txBox="1"/>
          <p:nvPr>
            <p:ph idx="1" type="body"/>
          </p:nvPr>
        </p:nvSpPr>
        <p:spPr>
          <a:xfrm>
            <a:off x="598500" y="4336388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80" name="Google Shape;880;p72"/>
          <p:cNvSpPr/>
          <p:nvPr/>
        </p:nvSpPr>
        <p:spPr>
          <a:xfrm rot="10800000">
            <a:off x="4671600" y="1854325"/>
            <a:ext cx="199800" cy="2854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2"/>
          <p:cNvSpPr txBox="1"/>
          <p:nvPr/>
        </p:nvSpPr>
        <p:spPr>
          <a:xfrm>
            <a:off x="5042600" y="3078300"/>
            <a:ext cx="1648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2" name="Google Shape;882;p72"/>
          <p:cNvGrpSpPr/>
          <p:nvPr/>
        </p:nvGrpSpPr>
        <p:grpSpPr>
          <a:xfrm>
            <a:off x="952650" y="1240775"/>
            <a:ext cx="2415300" cy="567550"/>
            <a:chOff x="952650" y="1240775"/>
            <a:chExt cx="2415300" cy="567550"/>
          </a:xfrm>
        </p:grpSpPr>
        <p:sp>
          <p:nvSpPr>
            <p:cNvPr id="883" name="Google Shape;883;p72"/>
            <p:cNvSpPr txBox="1"/>
            <p:nvPr/>
          </p:nvSpPr>
          <p:spPr>
            <a:xfrm>
              <a:off x="1297831" y="1240775"/>
              <a:ext cx="17244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 × 50 = 100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72"/>
            <p:cNvSpPr/>
            <p:nvPr/>
          </p:nvSpPr>
          <p:spPr>
            <a:xfrm rot="5400000">
              <a:off x="2060400" y="500775"/>
              <a:ext cx="199800" cy="24153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5" name="Google Shape;885;p72"/>
          <p:cNvGrpSpPr/>
          <p:nvPr/>
        </p:nvGrpSpPr>
        <p:grpSpPr>
          <a:xfrm>
            <a:off x="1381900" y="1874294"/>
            <a:ext cx="2760700" cy="2819794"/>
            <a:chOff x="1381900" y="1874294"/>
            <a:chExt cx="2760700" cy="2819794"/>
          </a:xfrm>
        </p:grpSpPr>
        <p:sp>
          <p:nvSpPr>
            <p:cNvPr id="886" name="Google Shape;886;p72"/>
            <p:cNvSpPr txBox="1"/>
            <p:nvPr/>
          </p:nvSpPr>
          <p:spPr>
            <a:xfrm>
              <a:off x="1381900" y="1874294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72"/>
            <p:cNvSpPr txBox="1"/>
            <p:nvPr/>
          </p:nvSpPr>
          <p:spPr>
            <a:xfrm>
              <a:off x="2588400" y="1874294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8" name="Google Shape;888;p72"/>
            <p:cNvSpPr txBox="1"/>
            <p:nvPr/>
          </p:nvSpPr>
          <p:spPr>
            <a:xfrm>
              <a:off x="1381900" y="4335588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72"/>
            <p:cNvSpPr txBox="1"/>
            <p:nvPr/>
          </p:nvSpPr>
          <p:spPr>
            <a:xfrm>
              <a:off x="2588400" y="4335588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72"/>
            <p:cNvSpPr txBox="1"/>
            <p:nvPr/>
          </p:nvSpPr>
          <p:spPr>
            <a:xfrm>
              <a:off x="1381900" y="3102938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72"/>
            <p:cNvSpPr txBox="1"/>
            <p:nvPr/>
          </p:nvSpPr>
          <p:spPr>
            <a:xfrm>
              <a:off x="3794900" y="4317488"/>
              <a:ext cx="3477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2" name="Google Shape;892;p72"/>
          <p:cNvGrpSpPr/>
          <p:nvPr/>
        </p:nvGrpSpPr>
        <p:grpSpPr>
          <a:xfrm>
            <a:off x="841376" y="2389113"/>
            <a:ext cx="1456200" cy="552287"/>
            <a:chOff x="841376" y="2389113"/>
            <a:chExt cx="1456200" cy="552287"/>
          </a:xfrm>
        </p:grpSpPr>
        <p:sp>
          <p:nvSpPr>
            <p:cNvPr id="893" name="Google Shape;893;p72"/>
            <p:cNvSpPr txBox="1"/>
            <p:nvPr/>
          </p:nvSpPr>
          <p:spPr>
            <a:xfrm>
              <a:off x="841376" y="2389113"/>
              <a:ext cx="14562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× 50 = 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72"/>
            <p:cNvSpPr/>
            <p:nvPr/>
          </p:nvSpPr>
          <p:spPr>
            <a:xfrm rot="5400000">
              <a:off x="1456600" y="2238350"/>
              <a:ext cx="199800" cy="12063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5" name="Google Shape;895;p72"/>
          <p:cNvGrpSpPr/>
          <p:nvPr/>
        </p:nvGrpSpPr>
        <p:grpSpPr>
          <a:xfrm>
            <a:off x="952675" y="3709587"/>
            <a:ext cx="3626100" cy="537138"/>
            <a:chOff x="952675" y="3709587"/>
            <a:chExt cx="3626100" cy="537138"/>
          </a:xfrm>
        </p:grpSpPr>
        <p:sp>
          <p:nvSpPr>
            <p:cNvPr id="896" name="Google Shape;896;p72"/>
            <p:cNvSpPr txBox="1"/>
            <p:nvPr/>
          </p:nvSpPr>
          <p:spPr>
            <a:xfrm>
              <a:off x="1983631" y="3709587"/>
              <a:ext cx="17244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× 50 = 150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72"/>
            <p:cNvSpPr/>
            <p:nvPr/>
          </p:nvSpPr>
          <p:spPr>
            <a:xfrm rot="5400000">
              <a:off x="2665825" y="2333775"/>
              <a:ext cx="199800" cy="36261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8" name="Google Shape;898;p72"/>
          <p:cNvSpPr txBox="1"/>
          <p:nvPr/>
        </p:nvSpPr>
        <p:spPr>
          <a:xfrm>
            <a:off x="6285900" y="1731000"/>
            <a:ext cx="25341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do we divide by 6?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2"/>
          <p:cNvSpPr txBox="1"/>
          <p:nvPr/>
        </p:nvSpPr>
        <p:spPr>
          <a:xfrm>
            <a:off x="6093275" y="1240775"/>
            <a:ext cx="19467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300 ÷ 6 = 50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2"/>
          <p:cNvSpPr txBox="1"/>
          <p:nvPr/>
        </p:nvSpPr>
        <p:spPr>
          <a:xfrm>
            <a:off x="6285900" y="2638050"/>
            <a:ext cx="25341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Because there are 6 equal parts in total and we are sharing the total amount.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</a:t>
            </a:r>
            <a:endParaRPr/>
          </a:p>
        </p:txBody>
      </p:sp>
      <p:sp>
        <p:nvSpPr>
          <p:cNvPr id="906" name="Google Shape;906;p73"/>
          <p:cNvSpPr txBox="1"/>
          <p:nvPr>
            <p:ph idx="1" type="subTitle"/>
          </p:nvPr>
        </p:nvSpPr>
        <p:spPr>
          <a:xfrm>
            <a:off x="337825" y="810000"/>
            <a:ext cx="3928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Share 63 in the ratio 5 : 2</a:t>
            </a:r>
            <a:endParaRPr sz="2200"/>
          </a:p>
        </p:txBody>
      </p:sp>
      <p:sp>
        <p:nvSpPr>
          <p:cNvPr id="907" name="Google Shape;907;p73"/>
          <p:cNvSpPr txBox="1"/>
          <p:nvPr>
            <p:ph idx="2" type="subTitle"/>
          </p:nvPr>
        </p:nvSpPr>
        <p:spPr>
          <a:xfrm>
            <a:off x="4824000" y="810000"/>
            <a:ext cx="39960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Share 55 in the ratio 4 : 7</a:t>
            </a:r>
            <a:endParaRPr sz="2200"/>
          </a:p>
        </p:txBody>
      </p:sp>
      <p:graphicFrame>
        <p:nvGraphicFramePr>
          <p:cNvPr id="908" name="Google Shape;908;p73"/>
          <p:cNvGraphicFramePr/>
          <p:nvPr/>
        </p:nvGraphicFramePr>
        <p:xfrm>
          <a:off x="601912" y="21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483425"/>
                <a:gridCol w="483425"/>
                <a:gridCol w="483425"/>
                <a:gridCol w="483425"/>
                <a:gridCol w="483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9" name="Google Shape;909;p73"/>
          <p:cNvGraphicFramePr/>
          <p:nvPr/>
        </p:nvGraphicFramePr>
        <p:xfrm>
          <a:off x="601912" y="2691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483425"/>
                <a:gridCol w="483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0" name="Google Shape;910;p73"/>
          <p:cNvSpPr txBox="1"/>
          <p:nvPr>
            <p:ph idx="4294967295" type="body"/>
          </p:nvPr>
        </p:nvSpPr>
        <p:spPr>
          <a:xfrm>
            <a:off x="369900" y="2198031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911" name="Google Shape;911;p73"/>
          <p:cNvSpPr txBox="1"/>
          <p:nvPr>
            <p:ph idx="4294967295" type="body"/>
          </p:nvPr>
        </p:nvSpPr>
        <p:spPr>
          <a:xfrm>
            <a:off x="369900" y="273147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912" name="Google Shape;912;p73"/>
          <p:cNvSpPr/>
          <p:nvPr/>
        </p:nvSpPr>
        <p:spPr>
          <a:xfrm rot="10800000">
            <a:off x="3090900" y="2167425"/>
            <a:ext cx="84000" cy="956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3"/>
          <p:cNvSpPr txBox="1"/>
          <p:nvPr/>
        </p:nvSpPr>
        <p:spPr>
          <a:xfrm>
            <a:off x="3219999" y="1545575"/>
            <a:ext cx="13521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÷ 7 = 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4" name="Google Shape;914;p73"/>
          <p:cNvGrpSpPr/>
          <p:nvPr/>
        </p:nvGrpSpPr>
        <p:grpSpPr>
          <a:xfrm>
            <a:off x="602062" y="1545575"/>
            <a:ext cx="2415300" cy="567550"/>
            <a:chOff x="952650" y="1240775"/>
            <a:chExt cx="2415300" cy="567550"/>
          </a:xfrm>
        </p:grpSpPr>
        <p:sp>
          <p:nvSpPr>
            <p:cNvPr id="915" name="Google Shape;915;p73"/>
            <p:cNvSpPr txBox="1"/>
            <p:nvPr/>
          </p:nvSpPr>
          <p:spPr>
            <a:xfrm>
              <a:off x="1602638" y="1240775"/>
              <a:ext cx="13803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× 9 = 45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6" name="Google Shape;916;p73"/>
            <p:cNvSpPr/>
            <p:nvPr/>
          </p:nvSpPr>
          <p:spPr>
            <a:xfrm rot="5400000">
              <a:off x="2060400" y="500775"/>
              <a:ext cx="199800" cy="24153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7" name="Google Shape;917;p73"/>
          <p:cNvGrpSpPr/>
          <p:nvPr/>
        </p:nvGrpSpPr>
        <p:grpSpPr>
          <a:xfrm>
            <a:off x="601873" y="3134900"/>
            <a:ext cx="1323684" cy="558300"/>
            <a:chOff x="916360" y="3510534"/>
            <a:chExt cx="1994100" cy="558300"/>
          </a:xfrm>
        </p:grpSpPr>
        <p:sp>
          <p:nvSpPr>
            <p:cNvPr id="918" name="Google Shape;918;p73"/>
            <p:cNvSpPr txBox="1"/>
            <p:nvPr/>
          </p:nvSpPr>
          <p:spPr>
            <a:xfrm>
              <a:off x="916360" y="3710334"/>
              <a:ext cx="19941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× 9 = 18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9" name="Google Shape;919;p73"/>
            <p:cNvSpPr/>
            <p:nvPr/>
          </p:nvSpPr>
          <p:spPr>
            <a:xfrm flipH="1" rot="5400000">
              <a:off x="1558606" y="2883234"/>
              <a:ext cx="199800" cy="14544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0" name="Google Shape;920;p73"/>
          <p:cNvSpPr/>
          <p:nvPr/>
        </p:nvSpPr>
        <p:spPr>
          <a:xfrm>
            <a:off x="3993604" y="3612150"/>
            <a:ext cx="3264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3"/>
          <p:cNvSpPr/>
          <p:nvPr/>
        </p:nvSpPr>
        <p:spPr>
          <a:xfrm>
            <a:off x="3525575" y="3009050"/>
            <a:ext cx="7404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3"/>
          <p:cNvSpPr txBox="1"/>
          <p:nvPr>
            <p:ph idx="4294967295" type="body"/>
          </p:nvPr>
        </p:nvSpPr>
        <p:spPr>
          <a:xfrm>
            <a:off x="758644" y="2739107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23" name="Google Shape;923;p73"/>
          <p:cNvSpPr txBox="1"/>
          <p:nvPr>
            <p:ph idx="4294967295" type="body"/>
          </p:nvPr>
        </p:nvSpPr>
        <p:spPr>
          <a:xfrm>
            <a:off x="1246819" y="2739107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24" name="Google Shape;924;p73"/>
          <p:cNvSpPr txBox="1"/>
          <p:nvPr>
            <p:ph idx="4294967295" type="body"/>
          </p:nvPr>
        </p:nvSpPr>
        <p:spPr>
          <a:xfrm>
            <a:off x="747482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25" name="Google Shape;925;p73"/>
          <p:cNvSpPr txBox="1"/>
          <p:nvPr>
            <p:ph idx="4294967295" type="body"/>
          </p:nvPr>
        </p:nvSpPr>
        <p:spPr>
          <a:xfrm>
            <a:off x="1235657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26" name="Google Shape;926;p73"/>
          <p:cNvSpPr txBox="1"/>
          <p:nvPr>
            <p:ph idx="4294967295" type="body"/>
          </p:nvPr>
        </p:nvSpPr>
        <p:spPr>
          <a:xfrm>
            <a:off x="1738082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27" name="Google Shape;927;p73"/>
          <p:cNvSpPr txBox="1"/>
          <p:nvPr>
            <p:ph idx="4294967295" type="body"/>
          </p:nvPr>
        </p:nvSpPr>
        <p:spPr>
          <a:xfrm>
            <a:off x="2226257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28" name="Google Shape;928;p73"/>
          <p:cNvSpPr txBox="1"/>
          <p:nvPr>
            <p:ph idx="4294967295" type="body"/>
          </p:nvPr>
        </p:nvSpPr>
        <p:spPr>
          <a:xfrm>
            <a:off x="2696738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graphicFrame>
        <p:nvGraphicFramePr>
          <p:cNvPr id="929" name="Google Shape;929;p73"/>
          <p:cNvGraphicFramePr/>
          <p:nvPr/>
        </p:nvGraphicFramePr>
        <p:xfrm>
          <a:off x="5074818" y="21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345050"/>
                <a:gridCol w="345050"/>
                <a:gridCol w="345050"/>
                <a:gridCol w="345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0" name="Google Shape;930;p73"/>
          <p:cNvGraphicFramePr/>
          <p:nvPr/>
        </p:nvGraphicFramePr>
        <p:xfrm>
          <a:off x="5074818" y="268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345050"/>
                <a:gridCol w="345050"/>
                <a:gridCol w="345050"/>
                <a:gridCol w="345050"/>
                <a:gridCol w="345050"/>
                <a:gridCol w="345050"/>
                <a:gridCol w="345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1" name="Google Shape;931;p73"/>
          <p:cNvSpPr txBox="1"/>
          <p:nvPr>
            <p:ph idx="4294967295" type="body"/>
          </p:nvPr>
        </p:nvSpPr>
        <p:spPr>
          <a:xfrm>
            <a:off x="4865700" y="2198031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2" name="Google Shape;932;p73"/>
          <p:cNvSpPr txBox="1"/>
          <p:nvPr>
            <p:ph idx="4294967295" type="body"/>
          </p:nvPr>
        </p:nvSpPr>
        <p:spPr>
          <a:xfrm>
            <a:off x="4865700" y="2726178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3" name="Google Shape;933;p73"/>
          <p:cNvSpPr/>
          <p:nvPr/>
        </p:nvSpPr>
        <p:spPr>
          <a:xfrm rot="10800000">
            <a:off x="7563800" y="2167350"/>
            <a:ext cx="84000" cy="913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4" name="Google Shape;934;p73"/>
          <p:cNvSpPr txBox="1"/>
          <p:nvPr/>
        </p:nvSpPr>
        <p:spPr>
          <a:xfrm>
            <a:off x="7205600" y="1545575"/>
            <a:ext cx="1614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55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11 = 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35" name="Google Shape;935;p73"/>
          <p:cNvGrpSpPr/>
          <p:nvPr/>
        </p:nvGrpSpPr>
        <p:grpSpPr>
          <a:xfrm>
            <a:off x="5074872" y="1545575"/>
            <a:ext cx="1475078" cy="567550"/>
            <a:chOff x="952554" y="1240775"/>
            <a:chExt cx="1475078" cy="567550"/>
          </a:xfrm>
        </p:grpSpPr>
        <p:sp>
          <p:nvSpPr>
            <p:cNvPr id="936" name="Google Shape;936;p73"/>
            <p:cNvSpPr txBox="1"/>
            <p:nvPr/>
          </p:nvSpPr>
          <p:spPr>
            <a:xfrm>
              <a:off x="993032" y="1240775"/>
              <a:ext cx="14346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4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 × 5 = 20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37" name="Google Shape;937;p73"/>
            <p:cNvSpPr/>
            <p:nvPr/>
          </p:nvSpPr>
          <p:spPr>
            <a:xfrm rot="5400000">
              <a:off x="1543254" y="1017825"/>
              <a:ext cx="199800" cy="13812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938" name="Google Shape;938;p73"/>
          <p:cNvGrpSpPr/>
          <p:nvPr/>
        </p:nvGrpSpPr>
        <p:grpSpPr>
          <a:xfrm>
            <a:off x="5061023" y="3129600"/>
            <a:ext cx="2432001" cy="582550"/>
            <a:chOff x="972909" y="3510534"/>
            <a:chExt cx="3285600" cy="582550"/>
          </a:xfrm>
        </p:grpSpPr>
        <p:sp>
          <p:nvSpPr>
            <p:cNvPr id="939" name="Google Shape;939;p73"/>
            <p:cNvSpPr txBox="1"/>
            <p:nvPr/>
          </p:nvSpPr>
          <p:spPr>
            <a:xfrm>
              <a:off x="1647155" y="3734584"/>
              <a:ext cx="1992900" cy="3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7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 × 5 = 35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40" name="Google Shape;940;p73"/>
            <p:cNvSpPr/>
            <p:nvPr/>
          </p:nvSpPr>
          <p:spPr>
            <a:xfrm flipH="1" rot="5400000">
              <a:off x="2515809" y="1967634"/>
              <a:ext cx="199800" cy="32856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941" name="Google Shape;941;p73"/>
          <p:cNvSpPr txBox="1"/>
          <p:nvPr>
            <p:ph idx="4294967295" type="body"/>
          </p:nvPr>
        </p:nvSpPr>
        <p:spPr>
          <a:xfrm>
            <a:off x="5197494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2" name="Google Shape;942;p73"/>
          <p:cNvSpPr txBox="1"/>
          <p:nvPr>
            <p:ph idx="4294967295" type="body"/>
          </p:nvPr>
        </p:nvSpPr>
        <p:spPr>
          <a:xfrm>
            <a:off x="5532969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3" name="Google Shape;943;p73"/>
          <p:cNvSpPr txBox="1"/>
          <p:nvPr>
            <p:ph idx="4294967295" type="body"/>
          </p:nvPr>
        </p:nvSpPr>
        <p:spPr>
          <a:xfrm>
            <a:off x="5868444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4" name="Google Shape;944;p73"/>
          <p:cNvSpPr txBox="1"/>
          <p:nvPr>
            <p:ph idx="4294967295" type="body"/>
          </p:nvPr>
        </p:nvSpPr>
        <p:spPr>
          <a:xfrm>
            <a:off x="6203919" y="21980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5" name="Google Shape;945;p73"/>
          <p:cNvSpPr txBox="1"/>
          <p:nvPr>
            <p:ph idx="4294967295" type="body"/>
          </p:nvPr>
        </p:nvSpPr>
        <p:spPr>
          <a:xfrm>
            <a:off x="5176851" y="27467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6" name="Google Shape;946;p73"/>
          <p:cNvSpPr txBox="1"/>
          <p:nvPr>
            <p:ph idx="4294967295" type="body"/>
          </p:nvPr>
        </p:nvSpPr>
        <p:spPr>
          <a:xfrm>
            <a:off x="5512326" y="27467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7" name="Google Shape;947;p73"/>
          <p:cNvSpPr txBox="1"/>
          <p:nvPr>
            <p:ph idx="4294967295" type="body"/>
          </p:nvPr>
        </p:nvSpPr>
        <p:spPr>
          <a:xfrm>
            <a:off x="5847801" y="27467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8" name="Google Shape;948;p73"/>
          <p:cNvSpPr txBox="1"/>
          <p:nvPr>
            <p:ph idx="4294967295" type="body"/>
          </p:nvPr>
        </p:nvSpPr>
        <p:spPr>
          <a:xfrm>
            <a:off x="6183276" y="2746735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9" name="Google Shape;949;p73"/>
          <p:cNvSpPr txBox="1"/>
          <p:nvPr>
            <p:ph idx="4294967295" type="body"/>
          </p:nvPr>
        </p:nvSpPr>
        <p:spPr>
          <a:xfrm>
            <a:off x="6562594" y="2743622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0" name="Google Shape;950;p73"/>
          <p:cNvSpPr txBox="1"/>
          <p:nvPr>
            <p:ph idx="4294967295" type="body"/>
          </p:nvPr>
        </p:nvSpPr>
        <p:spPr>
          <a:xfrm>
            <a:off x="6898069" y="2743622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1" name="Google Shape;951;p73"/>
          <p:cNvSpPr txBox="1"/>
          <p:nvPr>
            <p:ph idx="4294967295" type="body"/>
          </p:nvPr>
        </p:nvSpPr>
        <p:spPr>
          <a:xfrm>
            <a:off x="7233544" y="2743622"/>
            <a:ext cx="18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2" name="Google Shape;952;p73"/>
          <p:cNvSpPr txBox="1"/>
          <p:nvPr/>
        </p:nvSpPr>
        <p:spPr>
          <a:xfrm>
            <a:off x="7698250" y="2403738"/>
            <a:ext cx="14091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3" name="Google Shape;953;p73"/>
          <p:cNvSpPr txBox="1"/>
          <p:nvPr/>
        </p:nvSpPr>
        <p:spPr>
          <a:xfrm>
            <a:off x="3242829" y="2403750"/>
            <a:ext cx="11256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4"/>
          <p:cNvSpPr txBox="1"/>
          <p:nvPr>
            <p:ph idx="1" type="body"/>
          </p:nvPr>
        </p:nvSpPr>
        <p:spPr>
          <a:xfrm>
            <a:off x="401000" y="759300"/>
            <a:ext cx="8160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bar model to answer the following: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24 in the ratio 1 : 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48 in the ratio 3 : 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24 in the ratio 1 : 5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48 in the ratio 7 : 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24 in the ratio 3 :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5"/>
          <p:cNvSpPr txBox="1"/>
          <p:nvPr>
            <p:ph idx="1" type="body"/>
          </p:nvPr>
        </p:nvSpPr>
        <p:spPr>
          <a:xfrm>
            <a:off x="381950" y="759300"/>
            <a:ext cx="8295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Use a bar model to answer the following: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Andeep, Sam and Sofia share 80 sweets in the ratio 3 : 8 : 5.  How many sweets do they each get?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perimeter of a triangle is 42.5 cm.  The lengths of the sides are in the ratio of 7 : 6 : 4.  How long is each side?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ratio of flour to butter to sugar in a cookie recipe is 3 : 2 : 1.  You want to make a giant cookie weighing 510 grams.  How much of each ingredient do you need?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6"/>
          <p:cNvSpPr txBox="1"/>
          <p:nvPr>
            <p:ph idx="1" type="body"/>
          </p:nvPr>
        </p:nvSpPr>
        <p:spPr>
          <a:xfrm>
            <a:off x="391475" y="759300"/>
            <a:ext cx="84285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bar model to answer the following: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24 in the ratio 1 : 2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8 : 16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48 in the ratio 3 : 1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36 : 12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24 in the ratio 1 : 5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4 : 20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48 in the ratio 7 : 1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42 : 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24 in the ratio 3 : 5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9 : 15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7"/>
          <p:cNvSpPr txBox="1"/>
          <p:nvPr>
            <p:ph idx="1" type="body"/>
          </p:nvPr>
        </p:nvSpPr>
        <p:spPr>
          <a:xfrm>
            <a:off x="381950" y="652575"/>
            <a:ext cx="82824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  Use a bar model to answer the following: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100"/>
              <a:t>Andeep, Sam and Sofia share 80 sweets in the ratio 3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8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5.  How many sweets do they each g</a:t>
            </a:r>
            <a:r>
              <a:rPr lang="en-GB" sz="2100"/>
              <a:t>et?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Andeep = 15, Sam = 40 and Sofia = 25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100"/>
              <a:t>The perimeter of a triangle is 42.5 cm.  The lengths of the sides are in the ratio of 7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6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4.  How long is each side?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17.5 cm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15 cm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10 cm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100"/>
              <a:t>The ratio of flour to butter to sugar in a cookie recipe is 3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2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1.  You want to make a giant cookie weighing 510 grams.  How much of each ingredient do you need?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Flour = 255 g, butter = 170 g and sugar = 85 g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977" name="Google Shape;977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models </a:t>
            </a:r>
            <a:endParaRPr/>
          </a:p>
        </p:txBody>
      </p:sp>
      <p:sp>
        <p:nvSpPr>
          <p:cNvPr id="983" name="Google Shape;983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  <p:sp>
        <p:nvSpPr>
          <p:cNvPr id="984" name="Google Shape;984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quantity into a given ratio</a:t>
            </a:r>
            <a:endParaRPr/>
          </a:p>
        </p:txBody>
      </p:sp>
      <p:pic>
        <p:nvPicPr>
          <p:cNvPr id="985" name="Google Shape;98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  <p:sp>
        <p:nvSpPr>
          <p:cNvPr id="991" name="Google Shape;991;p79"/>
          <p:cNvSpPr txBox="1"/>
          <p:nvPr>
            <p:ph idx="1" type="body"/>
          </p:nvPr>
        </p:nvSpPr>
        <p:spPr>
          <a:xfrm>
            <a:off x="324000" y="759300"/>
            <a:ext cx="8496000" cy="13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Sofia share their 120 sweets in the ratio of 11 : 9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Would you want to draw a bar model to represent this?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Probably not!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92" name="Google Shape;992;p79"/>
          <p:cNvGraphicFramePr/>
          <p:nvPr/>
        </p:nvGraphicFramePr>
        <p:xfrm>
          <a:off x="3691150" y="179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074400"/>
                <a:gridCol w="1072575"/>
              </a:tblGrid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3" name="Google Shape;993;p79"/>
          <p:cNvSpPr txBox="1"/>
          <p:nvPr>
            <p:ph idx="1" type="body"/>
          </p:nvPr>
        </p:nvSpPr>
        <p:spPr>
          <a:xfrm>
            <a:off x="324000" y="2234700"/>
            <a:ext cx="3367200" cy="20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does the ratio mean?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That they are not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sharing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the sweets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equally.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Everytime Andeep gets 11 sweets, Sofia gets 9 sweets.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94" name="Google Shape;994;p79"/>
          <p:cNvGraphicFramePr/>
          <p:nvPr/>
        </p:nvGraphicFramePr>
        <p:xfrm>
          <a:off x="5490868" y="179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556725"/>
              </a:tblGrid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5" name="Google Shape;995;p79"/>
          <p:cNvSpPr/>
          <p:nvPr/>
        </p:nvSpPr>
        <p:spPr>
          <a:xfrm rot="5400000">
            <a:off x="5454925" y="3123093"/>
            <a:ext cx="2144700" cy="699300"/>
          </a:xfrm>
          <a:prstGeom prst="arc">
            <a:avLst>
              <a:gd fmla="val 10729459" name="adj1"/>
              <a:gd fmla="val 21558390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9"/>
          <p:cNvSpPr txBox="1"/>
          <p:nvPr/>
        </p:nvSpPr>
        <p:spPr>
          <a:xfrm>
            <a:off x="7293025" y="2523700"/>
            <a:ext cx="15594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multiplicative relationship between 20 and 120?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9"/>
          <p:cNvSpPr txBox="1"/>
          <p:nvPr/>
        </p:nvSpPr>
        <p:spPr>
          <a:xfrm>
            <a:off x="6897600" y="3296931"/>
            <a:ext cx="426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6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8" name="Google Shape;998;p79"/>
          <p:cNvGrpSpPr/>
          <p:nvPr/>
        </p:nvGrpSpPr>
        <p:grpSpPr>
          <a:xfrm>
            <a:off x="3962400" y="2700000"/>
            <a:ext cx="1602313" cy="297600"/>
            <a:chOff x="4572000" y="2700000"/>
            <a:chExt cx="1602313" cy="297600"/>
          </a:xfrm>
        </p:grpSpPr>
        <p:sp>
          <p:nvSpPr>
            <p:cNvPr id="999" name="Google Shape;999;p79"/>
            <p:cNvSpPr/>
            <p:nvPr/>
          </p:nvSpPr>
          <p:spPr>
            <a:xfrm>
              <a:off x="4572000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0" name="Google Shape;1000;p79"/>
            <p:cNvSpPr/>
            <p:nvPr/>
          </p:nvSpPr>
          <p:spPr>
            <a:xfrm>
              <a:off x="5614213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1" name="Google Shape;1001;p79"/>
          <p:cNvSpPr/>
          <p:nvPr/>
        </p:nvSpPr>
        <p:spPr>
          <a:xfrm>
            <a:off x="5989175" y="2700000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2" name="Google Shape;1002;p79"/>
          <p:cNvGrpSpPr/>
          <p:nvPr/>
        </p:nvGrpSpPr>
        <p:grpSpPr>
          <a:xfrm>
            <a:off x="3886200" y="3126788"/>
            <a:ext cx="1602313" cy="297600"/>
            <a:chOff x="4572000" y="2700000"/>
            <a:chExt cx="1602313" cy="297600"/>
          </a:xfrm>
        </p:grpSpPr>
        <p:sp>
          <p:nvSpPr>
            <p:cNvPr id="1003" name="Google Shape;1003;p79"/>
            <p:cNvSpPr/>
            <p:nvPr/>
          </p:nvSpPr>
          <p:spPr>
            <a:xfrm>
              <a:off x="4572000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9"/>
            <p:cNvSpPr/>
            <p:nvPr/>
          </p:nvSpPr>
          <p:spPr>
            <a:xfrm>
              <a:off x="5614213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5" name="Google Shape;1005;p79"/>
          <p:cNvSpPr/>
          <p:nvPr/>
        </p:nvSpPr>
        <p:spPr>
          <a:xfrm>
            <a:off x="5912975" y="3126788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6" name="Google Shape;1006;p79"/>
          <p:cNvGrpSpPr/>
          <p:nvPr/>
        </p:nvGrpSpPr>
        <p:grpSpPr>
          <a:xfrm>
            <a:off x="3962400" y="3538200"/>
            <a:ext cx="1602313" cy="297600"/>
            <a:chOff x="4572000" y="2700000"/>
            <a:chExt cx="1602313" cy="297600"/>
          </a:xfrm>
        </p:grpSpPr>
        <p:sp>
          <p:nvSpPr>
            <p:cNvPr id="1007" name="Google Shape;1007;p79"/>
            <p:cNvSpPr/>
            <p:nvPr/>
          </p:nvSpPr>
          <p:spPr>
            <a:xfrm>
              <a:off x="4572000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8" name="Google Shape;1008;p79"/>
            <p:cNvSpPr/>
            <p:nvPr/>
          </p:nvSpPr>
          <p:spPr>
            <a:xfrm>
              <a:off x="5614213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9" name="Google Shape;1009;p79"/>
          <p:cNvSpPr/>
          <p:nvPr/>
        </p:nvSpPr>
        <p:spPr>
          <a:xfrm>
            <a:off x="5989175" y="3538200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0" name="Google Shape;1010;p79"/>
          <p:cNvGrpSpPr/>
          <p:nvPr/>
        </p:nvGrpSpPr>
        <p:grpSpPr>
          <a:xfrm>
            <a:off x="3962400" y="3964988"/>
            <a:ext cx="1602313" cy="297600"/>
            <a:chOff x="4572000" y="2700000"/>
            <a:chExt cx="1602313" cy="297600"/>
          </a:xfrm>
        </p:grpSpPr>
        <p:sp>
          <p:nvSpPr>
            <p:cNvPr id="1011" name="Google Shape;1011;p79"/>
            <p:cNvSpPr/>
            <p:nvPr/>
          </p:nvSpPr>
          <p:spPr>
            <a:xfrm>
              <a:off x="4572000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2" name="Google Shape;1012;p79"/>
            <p:cNvSpPr/>
            <p:nvPr/>
          </p:nvSpPr>
          <p:spPr>
            <a:xfrm>
              <a:off x="5614213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3" name="Google Shape;1013;p79"/>
          <p:cNvSpPr/>
          <p:nvPr/>
        </p:nvSpPr>
        <p:spPr>
          <a:xfrm>
            <a:off x="5989175" y="3964988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4" name="Google Shape;1014;p79"/>
          <p:cNvGrpSpPr/>
          <p:nvPr/>
        </p:nvGrpSpPr>
        <p:grpSpPr>
          <a:xfrm>
            <a:off x="3962400" y="4368882"/>
            <a:ext cx="1602313" cy="297600"/>
            <a:chOff x="4572000" y="2700000"/>
            <a:chExt cx="1602313" cy="297600"/>
          </a:xfrm>
        </p:grpSpPr>
        <p:sp>
          <p:nvSpPr>
            <p:cNvPr id="1015" name="Google Shape;1015;p79"/>
            <p:cNvSpPr/>
            <p:nvPr/>
          </p:nvSpPr>
          <p:spPr>
            <a:xfrm>
              <a:off x="4572000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79"/>
            <p:cNvSpPr/>
            <p:nvPr/>
          </p:nvSpPr>
          <p:spPr>
            <a:xfrm>
              <a:off x="5614213" y="2700000"/>
              <a:ext cx="560100" cy="29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7" name="Google Shape;1017;p79"/>
          <p:cNvSpPr/>
          <p:nvPr/>
        </p:nvSpPr>
        <p:spPr>
          <a:xfrm>
            <a:off x="5989175" y="4368882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022;p80"/>
          <p:cNvGrpSpPr/>
          <p:nvPr/>
        </p:nvGrpSpPr>
        <p:grpSpPr>
          <a:xfrm>
            <a:off x="5826205" y="3684111"/>
            <a:ext cx="1183361" cy="552377"/>
            <a:chOff x="5826139" y="3537179"/>
            <a:chExt cx="1183361" cy="699300"/>
          </a:xfrm>
        </p:grpSpPr>
        <p:sp>
          <p:nvSpPr>
            <p:cNvPr id="1023" name="Google Shape;1023;p80"/>
            <p:cNvSpPr/>
            <p:nvPr/>
          </p:nvSpPr>
          <p:spPr>
            <a:xfrm rot="5400000">
              <a:off x="5826139" y="3537179"/>
              <a:ext cx="699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4" name="Google Shape;1024;p80"/>
            <p:cNvGrpSpPr/>
            <p:nvPr/>
          </p:nvGrpSpPr>
          <p:grpSpPr>
            <a:xfrm>
              <a:off x="6645193" y="3617451"/>
              <a:ext cx="364307" cy="403700"/>
              <a:chOff x="6492793" y="4531851"/>
              <a:chExt cx="364307" cy="403700"/>
            </a:xfrm>
          </p:grpSpPr>
          <p:sp>
            <p:nvSpPr>
              <p:cNvPr id="1025" name="Google Shape;1025;p80"/>
              <p:cNvSpPr txBox="1"/>
              <p:nvPr/>
            </p:nvSpPr>
            <p:spPr>
              <a:xfrm>
                <a:off x="6492793" y="4598494"/>
                <a:ext cx="1809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4}{10}&quot;&gt;&lt;mfrac&gt;&lt;mn&gt;4&lt;/mn&gt;&lt;mn&gt;10&lt;/mn&gt;&lt;/mfrac&gt;&lt;/math&gt;" id="1026" name="Google Shape;1026;p80" title="four tenths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637950" y="4531851"/>
                <a:ext cx="219150" cy="403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27" name="Google Shape;102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  <p:sp>
        <p:nvSpPr>
          <p:cNvPr id="1028" name="Google Shape;1028;p80"/>
          <p:cNvSpPr txBox="1"/>
          <p:nvPr>
            <p:ph idx="1" type="body"/>
          </p:nvPr>
        </p:nvSpPr>
        <p:spPr>
          <a:xfrm>
            <a:off x="324000" y="759300"/>
            <a:ext cx="8237700" cy="18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ratio of orange juice to lemonade in a drink is 3 : 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 wants to make a large jug of the drink.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capacity of the jug is 4 litres.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orange juice and lemonade should she use?</a:t>
            </a:r>
            <a:endParaRPr/>
          </a:p>
        </p:txBody>
      </p:sp>
      <p:graphicFrame>
        <p:nvGraphicFramePr>
          <p:cNvPr id="1029" name="Google Shape;1029;p80"/>
          <p:cNvGraphicFramePr/>
          <p:nvPr/>
        </p:nvGraphicFramePr>
        <p:xfrm>
          <a:off x="600700" y="29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2204700"/>
                <a:gridCol w="220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 juice (L)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Lemonade (L)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0" name="Google Shape;1030;p80"/>
          <p:cNvGraphicFramePr/>
          <p:nvPr/>
        </p:nvGraphicFramePr>
        <p:xfrm>
          <a:off x="5010100" y="29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0720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31" name="Google Shape;1031;p80"/>
          <p:cNvGrpSpPr/>
          <p:nvPr/>
        </p:nvGrpSpPr>
        <p:grpSpPr>
          <a:xfrm>
            <a:off x="5784475" y="3044725"/>
            <a:ext cx="2987400" cy="1377900"/>
            <a:chOff x="5784475" y="3044725"/>
            <a:chExt cx="2987400" cy="1377900"/>
          </a:xfrm>
        </p:grpSpPr>
        <p:sp>
          <p:nvSpPr>
            <p:cNvPr id="1032" name="Google Shape;1032;p80"/>
            <p:cNvSpPr txBox="1"/>
            <p:nvPr/>
          </p:nvSpPr>
          <p:spPr>
            <a:xfrm>
              <a:off x="7212475" y="3044725"/>
              <a:ext cx="1559400" cy="13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is the multiplicative relationship between these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3" name="Google Shape;1033;p80"/>
            <p:cNvCxnSpPr/>
            <p:nvPr/>
          </p:nvCxnSpPr>
          <p:spPr>
            <a:xfrm rot="10800000">
              <a:off x="5784475" y="3638275"/>
              <a:ext cx="1123200" cy="95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34" name="Google Shape;1034;p80"/>
            <p:cNvCxnSpPr/>
            <p:nvPr/>
          </p:nvCxnSpPr>
          <p:spPr>
            <a:xfrm flipH="1">
              <a:off x="5824375" y="3846350"/>
              <a:ext cx="1083300" cy="374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35" name="Google Shape;1035;p80"/>
          <p:cNvSpPr/>
          <p:nvPr/>
        </p:nvSpPr>
        <p:spPr>
          <a:xfrm>
            <a:off x="5266063" y="3537175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0"/>
          <p:cNvSpPr/>
          <p:nvPr/>
        </p:nvSpPr>
        <p:spPr>
          <a:xfrm>
            <a:off x="5266050" y="4055875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0"/>
          <p:cNvSpPr/>
          <p:nvPr/>
        </p:nvSpPr>
        <p:spPr>
          <a:xfrm>
            <a:off x="1465450" y="3979675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0"/>
          <p:cNvSpPr/>
          <p:nvPr/>
        </p:nvSpPr>
        <p:spPr>
          <a:xfrm>
            <a:off x="3645800" y="3979675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  <p:sp>
        <p:nvSpPr>
          <p:cNvPr id="1044" name="Google Shape;1044;p81"/>
          <p:cNvSpPr txBox="1"/>
          <p:nvPr>
            <p:ph idx="1" type="body"/>
          </p:nvPr>
        </p:nvSpPr>
        <p:spPr>
          <a:xfrm>
            <a:off x="324000" y="759300"/>
            <a:ext cx="8237700" cy="14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ratio of flour to butter to sugar in a cookie </a:t>
            </a:r>
            <a:r>
              <a:rPr lang="en-GB"/>
              <a:t>recipe</a:t>
            </a:r>
            <a:r>
              <a:rPr lang="en-GB"/>
              <a:t> is 3 : 2 : 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want to make a giant cookie </a:t>
            </a:r>
            <a:r>
              <a:rPr lang="en-GB"/>
              <a:t>weighing</a:t>
            </a:r>
            <a:r>
              <a:rPr lang="en-GB"/>
              <a:t> 450 grams.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of each ingredient do you need?</a:t>
            </a:r>
            <a:endParaRPr/>
          </a:p>
        </p:txBody>
      </p:sp>
      <p:graphicFrame>
        <p:nvGraphicFramePr>
          <p:cNvPr id="1045" name="Google Shape;1045;p81"/>
          <p:cNvGraphicFramePr/>
          <p:nvPr/>
        </p:nvGraphicFramePr>
        <p:xfrm>
          <a:off x="783625" y="29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469800"/>
                <a:gridCol w="1469800"/>
                <a:gridCol w="146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(g)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(g)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6" name="Google Shape;1046;p81"/>
          <p:cNvGraphicFramePr/>
          <p:nvPr/>
        </p:nvGraphicFramePr>
        <p:xfrm>
          <a:off x="5193025" y="29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0720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47" name="Google Shape;1047;p81"/>
          <p:cNvGrpSpPr/>
          <p:nvPr/>
        </p:nvGrpSpPr>
        <p:grpSpPr>
          <a:xfrm>
            <a:off x="6089275" y="3044725"/>
            <a:ext cx="2682600" cy="1377900"/>
            <a:chOff x="6089275" y="3044725"/>
            <a:chExt cx="2682600" cy="1377900"/>
          </a:xfrm>
        </p:grpSpPr>
        <p:sp>
          <p:nvSpPr>
            <p:cNvPr id="1048" name="Google Shape;1048;p81"/>
            <p:cNvSpPr txBox="1"/>
            <p:nvPr/>
          </p:nvSpPr>
          <p:spPr>
            <a:xfrm>
              <a:off x="7212475" y="3044725"/>
              <a:ext cx="1559400" cy="13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is the multiplicative relationship between these?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9" name="Google Shape;1049;p81"/>
            <p:cNvCxnSpPr>
              <a:stCxn id="1048" idx="1"/>
            </p:cNvCxnSpPr>
            <p:nvPr/>
          </p:nvCxnSpPr>
          <p:spPr>
            <a:xfrm rot="10800000">
              <a:off x="6089275" y="3638275"/>
              <a:ext cx="1123200" cy="95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50" name="Google Shape;1050;p81"/>
            <p:cNvCxnSpPr/>
            <p:nvPr/>
          </p:nvCxnSpPr>
          <p:spPr>
            <a:xfrm flipH="1">
              <a:off x="6129175" y="3846350"/>
              <a:ext cx="1083300" cy="374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51" name="Google Shape;1051;p81"/>
          <p:cNvGrpSpPr/>
          <p:nvPr/>
        </p:nvGrpSpPr>
        <p:grpSpPr>
          <a:xfrm>
            <a:off x="6191625" y="3666488"/>
            <a:ext cx="1236625" cy="584100"/>
            <a:chOff x="6191625" y="3666488"/>
            <a:chExt cx="1236625" cy="584100"/>
          </a:xfrm>
        </p:grpSpPr>
        <p:sp>
          <p:nvSpPr>
            <p:cNvPr id="1052" name="Google Shape;1052;p81"/>
            <p:cNvSpPr/>
            <p:nvPr/>
          </p:nvSpPr>
          <p:spPr>
            <a:xfrm rot="5400000">
              <a:off x="6249225" y="3608888"/>
              <a:ext cx="584100" cy="699300"/>
            </a:xfrm>
            <a:prstGeom prst="arc">
              <a:avLst>
                <a:gd fmla="val 10926065" name="adj1"/>
                <a:gd fmla="val 472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81"/>
            <p:cNvSpPr txBox="1"/>
            <p:nvPr/>
          </p:nvSpPr>
          <p:spPr>
            <a:xfrm>
              <a:off x="6989050" y="3768800"/>
              <a:ext cx="4392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75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4" name="Google Shape;1054;p81"/>
          <p:cNvSpPr/>
          <p:nvPr/>
        </p:nvSpPr>
        <p:spPr>
          <a:xfrm>
            <a:off x="5418138" y="3552163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1"/>
          <p:cNvSpPr/>
          <p:nvPr/>
        </p:nvSpPr>
        <p:spPr>
          <a:xfrm>
            <a:off x="5448975" y="4063238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1"/>
          <p:cNvSpPr/>
          <p:nvPr/>
        </p:nvSpPr>
        <p:spPr>
          <a:xfrm>
            <a:off x="1220688" y="4020861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1"/>
          <p:cNvSpPr/>
          <p:nvPr/>
        </p:nvSpPr>
        <p:spPr>
          <a:xfrm>
            <a:off x="2708263" y="4020861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1"/>
          <p:cNvSpPr/>
          <p:nvPr/>
        </p:nvSpPr>
        <p:spPr>
          <a:xfrm>
            <a:off x="4195838" y="4020861"/>
            <a:ext cx="560100" cy="29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  <p:sp>
        <p:nvSpPr>
          <p:cNvPr id="1064" name="Google Shape;1064;p82"/>
          <p:cNvSpPr txBox="1"/>
          <p:nvPr>
            <p:ph idx="1" type="body"/>
          </p:nvPr>
        </p:nvSpPr>
        <p:spPr>
          <a:xfrm>
            <a:off x="324000" y="759300"/>
            <a:ext cx="434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Share £64 in the ratio 3 : 10 : 7 </a:t>
            </a:r>
            <a:endParaRPr/>
          </a:p>
        </p:txBody>
      </p:sp>
      <p:graphicFrame>
        <p:nvGraphicFramePr>
          <p:cNvPr id="1065" name="Google Shape;1065;p82"/>
          <p:cNvGraphicFramePr/>
          <p:nvPr/>
        </p:nvGraphicFramePr>
        <p:xfrm>
          <a:off x="1393225" y="214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469800"/>
                <a:gridCol w="1469800"/>
                <a:gridCol w="146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£9.60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£22.40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66" name="Google Shape;1066;p82"/>
          <p:cNvGraphicFramePr/>
          <p:nvPr/>
        </p:nvGraphicFramePr>
        <p:xfrm>
          <a:off x="5802625" y="162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0720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67" name="Google Shape;1067;p82"/>
          <p:cNvGrpSpPr/>
          <p:nvPr/>
        </p:nvGrpSpPr>
        <p:grpSpPr>
          <a:xfrm>
            <a:off x="6885039" y="2352879"/>
            <a:ext cx="1225261" cy="699300"/>
            <a:chOff x="6885039" y="2352879"/>
            <a:chExt cx="1225261" cy="699300"/>
          </a:xfrm>
        </p:grpSpPr>
        <p:sp>
          <p:nvSpPr>
            <p:cNvPr id="1068" name="Google Shape;1068;p82"/>
            <p:cNvSpPr/>
            <p:nvPr/>
          </p:nvSpPr>
          <p:spPr>
            <a:xfrm rot="5400000">
              <a:off x="6885039" y="2352879"/>
              <a:ext cx="699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9" name="Google Shape;1069;p82"/>
            <p:cNvGrpSpPr/>
            <p:nvPr/>
          </p:nvGrpSpPr>
          <p:grpSpPr>
            <a:xfrm>
              <a:off x="7642850" y="2463825"/>
              <a:ext cx="467450" cy="483902"/>
              <a:chOff x="7642850" y="2463825"/>
              <a:chExt cx="467450" cy="483902"/>
            </a:xfrm>
          </p:grpSpPr>
          <p:sp>
            <p:nvSpPr>
              <p:cNvPr id="1070" name="Google Shape;1070;p82"/>
              <p:cNvSpPr txBox="1"/>
              <p:nvPr/>
            </p:nvSpPr>
            <p:spPr>
              <a:xfrm>
                <a:off x="7642850" y="2526819"/>
                <a:ext cx="202200" cy="35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×  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16}{5}&quot;&gt;&lt;mfrac&gt;&lt;mn&gt;16&lt;/mn&gt;&lt;mn&gt;5&lt;/mn&gt;&lt;/mfrac&gt;&lt;/math&gt;" id="1071" name="Google Shape;1071;p82" title="sixteen fifths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845050" y="2463825"/>
                <a:ext cx="265250" cy="4839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72" name="Google Shape;1072;p82"/>
          <p:cNvSpPr/>
          <p:nvPr/>
        </p:nvSpPr>
        <p:spPr>
          <a:xfrm>
            <a:off x="1663625" y="2762525"/>
            <a:ext cx="946200" cy="32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2"/>
          <p:cNvSpPr/>
          <p:nvPr/>
        </p:nvSpPr>
        <p:spPr>
          <a:xfrm>
            <a:off x="3124825" y="2762525"/>
            <a:ext cx="946200" cy="32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2"/>
          <p:cNvSpPr/>
          <p:nvPr/>
        </p:nvSpPr>
        <p:spPr>
          <a:xfrm>
            <a:off x="4586025" y="2762525"/>
            <a:ext cx="946200" cy="32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  <p:sp>
        <p:nvSpPr>
          <p:cNvPr id="1080" name="Google Shape;1080;p83"/>
          <p:cNvSpPr txBox="1"/>
          <p:nvPr>
            <p:ph idx="1" type="body"/>
          </p:nvPr>
        </p:nvSpPr>
        <p:spPr>
          <a:xfrm>
            <a:off x="324000" y="652688"/>
            <a:ext cx="8237700" cy="23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is mixing pink paint using red and white paint in the ratio of 3 : 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He needs to make 20 litres of pink paint.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Here are Andeep’s workings.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mistake has he made?</a:t>
            </a:r>
            <a:endParaRPr/>
          </a:p>
        </p:txBody>
      </p:sp>
      <p:graphicFrame>
        <p:nvGraphicFramePr>
          <p:cNvPr id="1081" name="Google Shape;1081;p83"/>
          <p:cNvGraphicFramePr/>
          <p:nvPr/>
        </p:nvGraphicFramePr>
        <p:xfrm>
          <a:off x="1774225" y="293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2204700"/>
                <a:gridCol w="220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Whit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2" name="Google Shape;1082;p83"/>
          <p:cNvGraphicFramePr/>
          <p:nvPr/>
        </p:nvGraphicFramePr>
        <p:xfrm>
          <a:off x="6183625" y="293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0720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3" name="Google Shape;1083;p83"/>
          <p:cNvSpPr txBox="1"/>
          <p:nvPr/>
        </p:nvSpPr>
        <p:spPr>
          <a:xfrm>
            <a:off x="342693" y="4543882"/>
            <a:ext cx="597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has found the additive relationship.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  <p:sp>
        <p:nvSpPr>
          <p:cNvPr id="1089" name="Google Shape;1089;p84"/>
          <p:cNvSpPr txBox="1"/>
          <p:nvPr>
            <p:ph idx="1" type="body"/>
          </p:nvPr>
        </p:nvSpPr>
        <p:spPr>
          <a:xfrm>
            <a:off x="324000" y="759300"/>
            <a:ext cx="8237700" cy="22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is mixing pink paint using red and white paint in the ratio of 3 : 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He needs to make 20 litres of pink paint.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Correct Andeep’s mistake.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90" name="Google Shape;1090;p84"/>
          <p:cNvGraphicFramePr/>
          <p:nvPr/>
        </p:nvGraphicFramePr>
        <p:xfrm>
          <a:off x="1774225" y="29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2204700"/>
                <a:gridCol w="220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White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91" name="Google Shape;1091;p84"/>
          <p:cNvGraphicFramePr/>
          <p:nvPr/>
        </p:nvGraphicFramePr>
        <p:xfrm>
          <a:off x="6183625" y="29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{7E0BB410-55D6-450A-B41E-6495E4F2D4DA}</a:tableStyleId>
              </a:tblPr>
              <a:tblGrid>
                <a:gridCol w="1072025"/>
              </a:tblGrid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92" name="Google Shape;1092;p84"/>
          <p:cNvGrpSpPr/>
          <p:nvPr/>
        </p:nvGrpSpPr>
        <p:grpSpPr>
          <a:xfrm>
            <a:off x="6885050" y="3685926"/>
            <a:ext cx="1415325" cy="585300"/>
            <a:chOff x="6885050" y="3685926"/>
            <a:chExt cx="1415325" cy="585300"/>
          </a:xfrm>
        </p:grpSpPr>
        <p:sp>
          <p:nvSpPr>
            <p:cNvPr id="1093" name="Google Shape;1093;p84"/>
            <p:cNvSpPr/>
            <p:nvPr/>
          </p:nvSpPr>
          <p:spPr>
            <a:xfrm rot="5400000">
              <a:off x="6942050" y="3628926"/>
              <a:ext cx="585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84"/>
            <p:cNvSpPr txBox="1"/>
            <p:nvPr/>
          </p:nvSpPr>
          <p:spPr>
            <a:xfrm>
              <a:off x="7673375" y="3799325"/>
              <a:ext cx="6270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2.5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5" name="Google Shape;1095;p84"/>
          <p:cNvSpPr/>
          <p:nvPr/>
        </p:nvSpPr>
        <p:spPr>
          <a:xfrm>
            <a:off x="2607138" y="4101388"/>
            <a:ext cx="560100" cy="297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4"/>
          <p:cNvSpPr/>
          <p:nvPr/>
        </p:nvSpPr>
        <p:spPr>
          <a:xfrm>
            <a:off x="4823988" y="4101388"/>
            <a:ext cx="560100" cy="2976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5"/>
          <p:cNvSpPr txBox="1"/>
          <p:nvPr>
            <p:ph idx="1" type="body"/>
          </p:nvPr>
        </p:nvSpPr>
        <p:spPr>
          <a:xfrm>
            <a:off x="448625" y="759300"/>
            <a:ext cx="8371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ratio table to answer the following: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36 in the ratio 1 : 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64 in the ratio 3 : 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36 in the ratio 1 : 5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64 in the ratio 7 : 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36 in the ratio 3 : 5</a:t>
            </a:r>
            <a:endParaRPr/>
          </a:p>
        </p:txBody>
      </p:sp>
      <p:sp>
        <p:nvSpPr>
          <p:cNvPr id="1102" name="Google Shape;110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6"/>
          <p:cNvSpPr txBox="1"/>
          <p:nvPr>
            <p:ph idx="1" type="body"/>
          </p:nvPr>
        </p:nvSpPr>
        <p:spPr>
          <a:xfrm>
            <a:off x="381950" y="759300"/>
            <a:ext cx="8438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  Use a ratio table to answer the following: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Andeep, Sam and Sofia share 240 sweets in the ratio 3 : 8 : 5.  How many sweets do they each get?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perimeter of a triangle is 107.1 cm.  The lengths of the sides are in the ratio of 7 : 6 : 4.  How long is each side?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ratio of flour to butter to sugar in a cookie recipe is 3 : 2 : 1.  You want to make a giant cookie weighing 720 grams.  How much of each ingredient do you need?</a:t>
            </a:r>
            <a:endParaRPr/>
          </a:p>
        </p:txBody>
      </p:sp>
      <p:sp>
        <p:nvSpPr>
          <p:cNvPr id="1108" name="Google Shape;1108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87"/>
          <p:cNvSpPr txBox="1"/>
          <p:nvPr>
            <p:ph idx="1" type="body"/>
          </p:nvPr>
        </p:nvSpPr>
        <p:spPr>
          <a:xfrm>
            <a:off x="381950" y="759300"/>
            <a:ext cx="8179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a ratio table to answer the following: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36 in the ratio 1 : 2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64 in the ratio 3 : 1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48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36 in the ratio 1 : 5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64 in the ratio 7 : 1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56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Share 36 in the ratio 3 : 5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13.5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22.5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4" name="Google Shape;1114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88"/>
          <p:cNvSpPr txBox="1"/>
          <p:nvPr>
            <p:ph idx="1" type="body"/>
          </p:nvPr>
        </p:nvSpPr>
        <p:spPr>
          <a:xfrm>
            <a:off x="362900" y="606900"/>
            <a:ext cx="8198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  Use a ratio table to answer the following: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100"/>
              <a:t>Andeep, Sam and Sofia share 240 sweets in the ratio 3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8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5.  How many sweets do they each get?	</a:t>
            </a:r>
            <a:br>
              <a:rPr lang="en-GB" sz="2100"/>
            </a:br>
            <a:r>
              <a:rPr lang="en-GB" sz="2100">
                <a:latin typeface="Kalam"/>
                <a:ea typeface="Kalam"/>
                <a:cs typeface="Kalam"/>
                <a:sym typeface="Kalam"/>
              </a:rPr>
              <a:t>Andeep = 45, Sam = 120 and Sofia = 75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100"/>
              <a:t>The perimeter of a triangle is 107.1 cm.  The lengths of the sides are in the ratio of 7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6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4.  How long is each side?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44.1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37.8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25.2</a:t>
            </a:r>
            <a:r>
              <a:rPr lang="en-GB"/>
              <a:t> 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cm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100"/>
              <a:t>The ratio of flour to butter to sugar in a cookie recipe is 3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2</a:t>
            </a:r>
            <a:r>
              <a:rPr lang="en-GB"/>
              <a:t> </a:t>
            </a:r>
            <a:r>
              <a:rPr lang="en-GB" sz="2100"/>
              <a:t>:</a:t>
            </a:r>
            <a:r>
              <a:rPr lang="en-GB"/>
              <a:t> </a:t>
            </a:r>
            <a:r>
              <a:rPr lang="en-GB" sz="2100"/>
              <a:t>1.  You want to make a giant cookie weighing 720 grams.  How much of each ingredient do you need?	</a:t>
            </a:r>
            <a:br>
              <a:rPr lang="en-GB" sz="2100"/>
            </a:br>
            <a:r>
              <a:rPr lang="en-GB" sz="2100">
                <a:latin typeface="Kalam"/>
                <a:ea typeface="Kalam"/>
                <a:cs typeface="Kalam"/>
                <a:sym typeface="Kalam"/>
              </a:rPr>
              <a:t>Flour = 360 g, butter = 240 g and sugar = 120 g</a:t>
            </a:r>
            <a:endParaRPr sz="2100"/>
          </a:p>
        </p:txBody>
      </p:sp>
      <p:sp>
        <p:nvSpPr>
          <p:cNvPr id="1120" name="Google Shape;1120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efficient methods to share in a ratio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9"/>
          <p:cNvSpPr txBox="1"/>
          <p:nvPr>
            <p:ph idx="1" type="body"/>
          </p:nvPr>
        </p:nvSpPr>
        <p:spPr>
          <a:xfrm>
            <a:off x="324000" y="699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bar model can be used to share in a given ratio.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more efficient way to share in a given ratio is to use a ratio 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</a:t>
            </a:r>
            <a:endParaRPr/>
          </a:p>
        </p:txBody>
      </p:sp>
      <p:sp>
        <p:nvSpPr>
          <p:cNvPr id="1126" name="Google Shape;1126;p8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quantity into a given ratio</a:t>
            </a:r>
            <a:endParaRPr/>
          </a:p>
        </p:txBody>
      </p:sp>
      <p:pic>
        <p:nvPicPr>
          <p:cNvPr id="1127" name="Google Shape;112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823" y="1137974"/>
            <a:ext cx="4222475" cy="15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825" y="3553275"/>
            <a:ext cx="4542974" cy="117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9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34" name="Google Shape;113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