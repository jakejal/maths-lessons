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00B9EF-BFE0-4A47-A372-9612E9D491EC}">
  <a:tblStyle styleId="{6300B9EF-BFE0-4A47-A372-9612E9D491E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a68c9bbd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a68c9bbd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9fb7b087a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9fb7b087a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a3c1189751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2a3c118975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g2a3c1189751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4" name="Google Shape;814;g2a3c1189751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2a3c1189751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1" name="Google Shape;841;g2a3c1189751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2a3c1189751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2a3c1189751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a734f18f7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2a734f18f7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2a3c1189751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5" name="Google Shape;905;g2a3c1189751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2a3c1189751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5" name="Google Shape;935;g2a3c1189751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2a3c1189751_0_2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2a3c1189751_0_2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a3c1189751_0_2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8" name="Google Shape;948;g2a3c1189751_0_2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2a3c1189751_0_3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2a3c1189751_0_3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29fb7b087a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29fb7b087a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a3c1189751_0_1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2a3c1189751_0_1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2a3c1189751_0_1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2a3c1189751_0_1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g2a3c1189751_0_1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5" name="Google Shape;1005;g2a3c1189751_0_1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2a3c1189751_0_1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0" name="Google Shape;1020;g2a3c1189751_0_1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2a3c1189751_0_3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2a3c1189751_0_3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a3c1189751_0_3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a3c1189751_0_3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2a3c1189751_0_39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2a3c1189751_0_39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2a3c1189751_0_3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2a3c1189751_0_3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3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38.png"/><Relationship Id="rId6" Type="http://schemas.openxmlformats.org/officeDocument/2006/relationships/image" Target="../media/image19.png"/><Relationship Id="rId7" Type="http://schemas.openxmlformats.org/officeDocument/2006/relationships/image" Target="../media/image2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59.png"/><Relationship Id="rId5" Type="http://schemas.openxmlformats.org/officeDocument/2006/relationships/image" Target="../media/image24.png"/><Relationship Id="rId6" Type="http://schemas.openxmlformats.org/officeDocument/2006/relationships/image" Target="../media/image26.png"/><Relationship Id="rId7" Type="http://schemas.openxmlformats.org/officeDocument/2006/relationships/image" Target="../media/image2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59.png"/><Relationship Id="rId4" Type="http://schemas.openxmlformats.org/officeDocument/2006/relationships/image" Target="../media/image22.png"/><Relationship Id="rId9" Type="http://schemas.openxmlformats.org/officeDocument/2006/relationships/image" Target="../media/image20.png"/><Relationship Id="rId5" Type="http://schemas.openxmlformats.org/officeDocument/2006/relationships/image" Target="../media/image23.png"/><Relationship Id="rId6" Type="http://schemas.openxmlformats.org/officeDocument/2006/relationships/image" Target="../media/image31.png"/><Relationship Id="rId7" Type="http://schemas.openxmlformats.org/officeDocument/2006/relationships/image" Target="../media/image24.png"/><Relationship Id="rId8" Type="http://schemas.openxmlformats.org/officeDocument/2006/relationships/image" Target="../media/image2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59.png"/><Relationship Id="rId4" Type="http://schemas.openxmlformats.org/officeDocument/2006/relationships/image" Target="../media/image28.png"/><Relationship Id="rId11" Type="http://schemas.openxmlformats.org/officeDocument/2006/relationships/image" Target="../media/image20.png"/><Relationship Id="rId10" Type="http://schemas.openxmlformats.org/officeDocument/2006/relationships/image" Target="../media/image33.png"/><Relationship Id="rId9" Type="http://schemas.openxmlformats.org/officeDocument/2006/relationships/image" Target="../media/image26.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31.png"/><Relationship Id="rId8" Type="http://schemas.openxmlformats.org/officeDocument/2006/relationships/image" Target="../media/image2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4.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8" name="Shape 108"/>
        <p:cNvGrpSpPr/>
        <p:nvPr/>
      </p:nvGrpSpPr>
      <p:grpSpPr>
        <a:xfrm>
          <a:off x="0" y="0"/>
          <a:ext cx="0" cy="0"/>
          <a:chOff x="0" y="0"/>
          <a:chExt cx="0" cy="0"/>
        </a:xfrm>
      </p:grpSpPr>
      <p:sp>
        <p:nvSpPr>
          <p:cNvPr id="109" name="Google Shape;109;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 name="Google Shape;110;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2" name="Google Shape;112;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8" name="Shape 118"/>
        <p:cNvGrpSpPr/>
        <p:nvPr/>
      </p:nvGrpSpPr>
      <p:grpSpPr>
        <a:xfrm>
          <a:off x="0" y="0"/>
          <a:ext cx="0" cy="0"/>
          <a:chOff x="0" y="0"/>
          <a:chExt cx="0" cy="0"/>
        </a:xfrm>
      </p:grpSpPr>
      <p:sp>
        <p:nvSpPr>
          <p:cNvPr id="119" name="Google Shape;119;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2" name="Google Shape;122;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30" name="Shape 130"/>
        <p:cNvGrpSpPr/>
        <p:nvPr/>
      </p:nvGrpSpPr>
      <p:grpSpPr>
        <a:xfrm>
          <a:off x="0" y="0"/>
          <a:ext cx="0" cy="0"/>
          <a:chOff x="0" y="0"/>
          <a:chExt cx="0" cy="0"/>
        </a:xfrm>
      </p:grpSpPr>
      <p:sp>
        <p:nvSpPr>
          <p:cNvPr id="131" name="Google Shape;131;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 name="Google Shape;132;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4" name="Google Shape;134;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4" name="Shape 144"/>
        <p:cNvGrpSpPr/>
        <p:nvPr/>
      </p:nvGrpSpPr>
      <p:grpSpPr>
        <a:xfrm>
          <a:off x="0" y="0"/>
          <a:ext cx="0" cy="0"/>
          <a:chOff x="0" y="0"/>
          <a:chExt cx="0" cy="0"/>
        </a:xfrm>
      </p:grpSpPr>
      <p:sp>
        <p:nvSpPr>
          <p:cNvPr id="145" name="Google Shape;145;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6" name="Google Shape;146;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8" name="Google Shape;148;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2" name="Shape 152"/>
        <p:cNvGrpSpPr/>
        <p:nvPr/>
      </p:nvGrpSpPr>
      <p:grpSpPr>
        <a:xfrm>
          <a:off x="0" y="0"/>
          <a:ext cx="0" cy="0"/>
          <a:chOff x="0" y="0"/>
          <a:chExt cx="0" cy="0"/>
        </a:xfrm>
      </p:grpSpPr>
      <p:sp>
        <p:nvSpPr>
          <p:cNvPr id="153" name="Google Shape;153;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4" name="Google Shape;154;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5" name="Google Shape;155;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6" name="Google Shape;156;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9" name="Google Shape;159;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1" name="Google Shape;161;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4" name="Google Shape;164;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7" name="Google Shape;167;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8" name="Google Shape;168;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9" name="Google Shape;169;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0" name="Google Shape;170;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1" name="Google Shape;171;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3" name="Google Shape;173;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7" name="Google Shape;177;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8" name="Google Shape;178;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2" name="Google Shape;182;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3" name="Shape 183"/>
        <p:cNvGrpSpPr/>
        <p:nvPr/>
      </p:nvGrpSpPr>
      <p:grpSpPr>
        <a:xfrm>
          <a:off x="0" y="0"/>
          <a:ext cx="0" cy="0"/>
          <a:chOff x="0" y="0"/>
          <a:chExt cx="0" cy="0"/>
        </a:xfrm>
      </p:grpSpPr>
      <p:pic>
        <p:nvPicPr>
          <p:cNvPr id="184" name="Google Shape;184;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5" name="Google Shape;185;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6" name="Google Shape;186;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7" name="Google Shape;187;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8" name="Google Shape;188;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9" name="Google Shape;189;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0" name="Google Shape;190;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1" name="Google Shape;191;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3" name="Google Shape;193;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9" name="Google Shape;199;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0" name="Google Shape;200;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2" name="Google Shape;202;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4" name="Google Shape;204;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5" name="Shape 205"/>
        <p:cNvGrpSpPr/>
        <p:nvPr/>
      </p:nvGrpSpPr>
      <p:grpSpPr>
        <a:xfrm>
          <a:off x="0" y="0"/>
          <a:ext cx="0" cy="0"/>
          <a:chOff x="0" y="0"/>
          <a:chExt cx="0" cy="0"/>
        </a:xfrm>
      </p:grpSpPr>
      <p:pic>
        <p:nvPicPr>
          <p:cNvPr id="206" name="Google Shape;206;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0" name="Google Shape;210;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2" name="Shape 212"/>
        <p:cNvGrpSpPr/>
        <p:nvPr/>
      </p:nvGrpSpPr>
      <p:grpSpPr>
        <a:xfrm>
          <a:off x="0" y="0"/>
          <a:ext cx="0" cy="0"/>
          <a:chOff x="0" y="0"/>
          <a:chExt cx="0" cy="0"/>
        </a:xfrm>
      </p:grpSpPr>
      <p:pic>
        <p:nvPicPr>
          <p:cNvPr id="213" name="Google Shape;213;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8" name="Google Shape;218;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9" name="Shape 219"/>
        <p:cNvGrpSpPr/>
        <p:nvPr/>
      </p:nvGrpSpPr>
      <p:grpSpPr>
        <a:xfrm>
          <a:off x="0" y="0"/>
          <a:ext cx="0" cy="0"/>
          <a:chOff x="0" y="0"/>
          <a:chExt cx="0" cy="0"/>
        </a:xfrm>
      </p:grpSpPr>
      <p:pic>
        <p:nvPicPr>
          <p:cNvPr id="220" name="Google Shape;220;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5" name="Google Shape;225;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6" name="Shape 226"/>
        <p:cNvGrpSpPr/>
        <p:nvPr/>
      </p:nvGrpSpPr>
      <p:grpSpPr>
        <a:xfrm>
          <a:off x="0" y="0"/>
          <a:ext cx="0" cy="0"/>
          <a:chOff x="0" y="0"/>
          <a:chExt cx="0" cy="0"/>
        </a:xfrm>
      </p:grpSpPr>
      <p:pic>
        <p:nvPicPr>
          <p:cNvPr id="227" name="Google Shape;227;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2" name="Google Shape;232;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3" name="Shape 233"/>
        <p:cNvGrpSpPr/>
        <p:nvPr/>
      </p:nvGrpSpPr>
      <p:grpSpPr>
        <a:xfrm>
          <a:off x="0" y="0"/>
          <a:ext cx="0" cy="0"/>
          <a:chOff x="0" y="0"/>
          <a:chExt cx="0" cy="0"/>
        </a:xfrm>
      </p:grpSpPr>
      <p:sp>
        <p:nvSpPr>
          <p:cNvPr id="234" name="Google Shape;234;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5" name="Google Shape;235;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6" name="Shape 246"/>
        <p:cNvGrpSpPr/>
        <p:nvPr/>
      </p:nvGrpSpPr>
      <p:grpSpPr>
        <a:xfrm>
          <a:off x="0" y="0"/>
          <a:ext cx="0" cy="0"/>
          <a:chOff x="0" y="0"/>
          <a:chExt cx="0" cy="0"/>
        </a:xfrm>
      </p:grpSpPr>
      <p:sp>
        <p:nvSpPr>
          <p:cNvPr id="247" name="Google Shape;247;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8" name="Google Shape;248;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9" name="Shape 259"/>
        <p:cNvGrpSpPr/>
        <p:nvPr/>
      </p:nvGrpSpPr>
      <p:grpSpPr>
        <a:xfrm>
          <a:off x="0" y="0"/>
          <a:ext cx="0" cy="0"/>
          <a:chOff x="0" y="0"/>
          <a:chExt cx="0" cy="0"/>
        </a:xfrm>
      </p:grpSpPr>
      <p:sp>
        <p:nvSpPr>
          <p:cNvPr id="260" name="Google Shape;260;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1" name="Google Shape;261;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2" name="Shape 272"/>
        <p:cNvGrpSpPr/>
        <p:nvPr/>
      </p:nvGrpSpPr>
      <p:grpSpPr>
        <a:xfrm>
          <a:off x="0" y="0"/>
          <a:ext cx="0" cy="0"/>
          <a:chOff x="0" y="0"/>
          <a:chExt cx="0" cy="0"/>
        </a:xfrm>
      </p:grpSpPr>
      <p:sp>
        <p:nvSpPr>
          <p:cNvPr id="273" name="Google Shape;273;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4" name="Google Shape;274;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5" name="Shape 285"/>
        <p:cNvGrpSpPr/>
        <p:nvPr/>
      </p:nvGrpSpPr>
      <p:grpSpPr>
        <a:xfrm>
          <a:off x="0" y="0"/>
          <a:ext cx="0" cy="0"/>
          <a:chOff x="0" y="0"/>
          <a:chExt cx="0" cy="0"/>
        </a:xfrm>
      </p:grpSpPr>
      <p:pic>
        <p:nvPicPr>
          <p:cNvPr id="286" name="Google Shape;286;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3" name="Google Shape;293;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9" name="Google Shape;299;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8" name="Shape 308"/>
        <p:cNvGrpSpPr/>
        <p:nvPr/>
      </p:nvGrpSpPr>
      <p:grpSpPr>
        <a:xfrm>
          <a:off x="0" y="0"/>
          <a:ext cx="0" cy="0"/>
          <a:chOff x="0" y="0"/>
          <a:chExt cx="0" cy="0"/>
        </a:xfrm>
      </p:grpSpPr>
      <p:pic>
        <p:nvPicPr>
          <p:cNvPr id="309" name="Google Shape;309;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4" name="Google Shape;314;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9" name="Google Shape;319;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0" name="Google Shape;320;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7" name="Google Shape;327;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1" name="Shape 331"/>
        <p:cNvGrpSpPr/>
        <p:nvPr/>
      </p:nvGrpSpPr>
      <p:grpSpPr>
        <a:xfrm>
          <a:off x="0" y="0"/>
          <a:ext cx="0" cy="0"/>
          <a:chOff x="0" y="0"/>
          <a:chExt cx="0" cy="0"/>
        </a:xfrm>
      </p:grpSpPr>
      <p:pic>
        <p:nvPicPr>
          <p:cNvPr id="332" name="Google Shape;332;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7" name="Google Shape;337;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2" name="Google Shape;342;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3" name="Google Shape;343;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0" name="Google Shape;350;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4" name="Shape 354"/>
        <p:cNvGrpSpPr/>
        <p:nvPr/>
      </p:nvGrpSpPr>
      <p:grpSpPr>
        <a:xfrm>
          <a:off x="0" y="0"/>
          <a:ext cx="0" cy="0"/>
          <a:chOff x="0" y="0"/>
          <a:chExt cx="0" cy="0"/>
        </a:xfrm>
      </p:grpSpPr>
      <p:pic>
        <p:nvPicPr>
          <p:cNvPr id="355" name="Google Shape;355;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0" name="Google Shape;360;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6" name="Google Shape;366;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3" name="Google Shape;373;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7" name="Shape 377"/>
        <p:cNvGrpSpPr/>
        <p:nvPr/>
      </p:nvGrpSpPr>
      <p:grpSpPr>
        <a:xfrm>
          <a:off x="0" y="0"/>
          <a:ext cx="0" cy="0"/>
          <a:chOff x="0" y="0"/>
          <a:chExt cx="0" cy="0"/>
        </a:xfrm>
      </p:grpSpPr>
      <p:pic>
        <p:nvPicPr>
          <p:cNvPr id="378" name="Google Shape;378;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3" name="Google Shape;383;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4" name="Google Shape;384;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6" name="Google Shape;386;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6" name="Shape 396"/>
        <p:cNvGrpSpPr/>
        <p:nvPr/>
      </p:nvGrpSpPr>
      <p:grpSpPr>
        <a:xfrm>
          <a:off x="0" y="0"/>
          <a:ext cx="0" cy="0"/>
          <a:chOff x="0" y="0"/>
          <a:chExt cx="0" cy="0"/>
        </a:xfrm>
      </p:grpSpPr>
      <p:pic>
        <p:nvPicPr>
          <p:cNvPr id="397" name="Google Shape;397;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2" name="Google Shape;402;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3" name="Google Shape;403;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5" name="Google Shape;405;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5" name="Shape 415"/>
        <p:cNvGrpSpPr/>
        <p:nvPr/>
      </p:nvGrpSpPr>
      <p:grpSpPr>
        <a:xfrm>
          <a:off x="0" y="0"/>
          <a:ext cx="0" cy="0"/>
          <a:chOff x="0" y="0"/>
          <a:chExt cx="0" cy="0"/>
        </a:xfrm>
      </p:grpSpPr>
      <p:pic>
        <p:nvPicPr>
          <p:cNvPr id="416" name="Google Shape;416;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9" name="Google Shape;419;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1" name="Google Shape;421;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4" name="Google Shape;424;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4" name="Shape 434"/>
        <p:cNvGrpSpPr/>
        <p:nvPr/>
      </p:nvGrpSpPr>
      <p:grpSpPr>
        <a:xfrm>
          <a:off x="0" y="0"/>
          <a:ext cx="0" cy="0"/>
          <a:chOff x="0" y="0"/>
          <a:chExt cx="0" cy="0"/>
        </a:xfrm>
      </p:grpSpPr>
      <p:pic>
        <p:nvPicPr>
          <p:cNvPr id="435" name="Google Shape;435;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8" name="Google Shape;438;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0" name="Google Shape;440;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1" name="Google Shape;441;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3" name="Google Shape;443;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3" name="Shape 453"/>
        <p:cNvGrpSpPr/>
        <p:nvPr/>
      </p:nvGrpSpPr>
      <p:grpSpPr>
        <a:xfrm>
          <a:off x="0" y="0"/>
          <a:ext cx="0" cy="0"/>
          <a:chOff x="0" y="0"/>
          <a:chExt cx="0" cy="0"/>
        </a:xfrm>
      </p:grpSpPr>
      <p:pic>
        <p:nvPicPr>
          <p:cNvPr id="454" name="Google Shape;454;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7" name="Google Shape;457;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9" name="Google Shape;459;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0" name="Google Shape;460;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3" name="Google Shape;463;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6" name="Shape 476"/>
        <p:cNvGrpSpPr/>
        <p:nvPr/>
      </p:nvGrpSpPr>
      <p:grpSpPr>
        <a:xfrm>
          <a:off x="0" y="0"/>
          <a:ext cx="0" cy="0"/>
          <a:chOff x="0" y="0"/>
          <a:chExt cx="0" cy="0"/>
        </a:xfrm>
      </p:grpSpPr>
      <p:pic>
        <p:nvPicPr>
          <p:cNvPr id="477" name="Google Shape;477;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0" name="Google Shape;480;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2" name="Google Shape;482;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3" name="Google Shape;483;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9" name="Shape 499"/>
        <p:cNvGrpSpPr/>
        <p:nvPr/>
      </p:nvGrpSpPr>
      <p:grpSpPr>
        <a:xfrm>
          <a:off x="0" y="0"/>
          <a:ext cx="0" cy="0"/>
          <a:chOff x="0" y="0"/>
          <a:chExt cx="0" cy="0"/>
        </a:xfrm>
      </p:grpSpPr>
      <p:pic>
        <p:nvPicPr>
          <p:cNvPr id="500" name="Google Shape;500;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3" name="Google Shape;503;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5" name="Google Shape;505;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9" name="Google Shape;509;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2" name="Shape 522"/>
        <p:cNvGrpSpPr/>
        <p:nvPr/>
      </p:nvGrpSpPr>
      <p:grpSpPr>
        <a:xfrm>
          <a:off x="0" y="0"/>
          <a:ext cx="0" cy="0"/>
          <a:chOff x="0" y="0"/>
          <a:chExt cx="0" cy="0"/>
        </a:xfrm>
      </p:grpSpPr>
      <p:pic>
        <p:nvPicPr>
          <p:cNvPr id="523" name="Google Shape;523;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6" name="Google Shape;526;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8" name="Google Shape;528;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9" name="Google Shape;529;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2" name="Google Shape;532;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5" name="Shape 545"/>
        <p:cNvGrpSpPr/>
        <p:nvPr/>
      </p:nvGrpSpPr>
      <p:grpSpPr>
        <a:xfrm>
          <a:off x="0" y="0"/>
          <a:ext cx="0" cy="0"/>
          <a:chOff x="0" y="0"/>
          <a:chExt cx="0" cy="0"/>
        </a:xfrm>
      </p:grpSpPr>
      <p:pic>
        <p:nvPicPr>
          <p:cNvPr id="546" name="Google Shape;546;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9" name="Google Shape;549;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1" name="Google Shape;551;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2" name="Google Shape;552;p40"/>
          <p:cNvSpPr/>
          <p:nvPr>
            <p:ph idx="3" type="pic"/>
          </p:nvPr>
        </p:nvSpPr>
        <p:spPr>
          <a:xfrm>
            <a:off x="324000" y="1893950"/>
            <a:ext cx="2555400" cy="1939500"/>
          </a:xfrm>
          <a:prstGeom prst="rect">
            <a:avLst/>
          </a:prstGeom>
          <a:noFill/>
          <a:ln>
            <a:noFill/>
          </a:ln>
        </p:spPr>
      </p:sp>
      <p:sp>
        <p:nvSpPr>
          <p:cNvPr id="553" name="Google Shape;553;p40"/>
          <p:cNvSpPr/>
          <p:nvPr>
            <p:ph idx="4" type="pic"/>
          </p:nvPr>
        </p:nvSpPr>
        <p:spPr>
          <a:xfrm>
            <a:off x="6256800" y="1893950"/>
            <a:ext cx="2555400" cy="1939500"/>
          </a:xfrm>
          <a:prstGeom prst="rect">
            <a:avLst/>
          </a:prstGeom>
          <a:noFill/>
          <a:ln>
            <a:noFill/>
          </a:ln>
        </p:spPr>
      </p:sp>
      <p:sp>
        <p:nvSpPr>
          <p:cNvPr id="554" name="Google Shape;554;p40"/>
          <p:cNvSpPr/>
          <p:nvPr>
            <p:ph idx="5" type="pic"/>
          </p:nvPr>
        </p:nvSpPr>
        <p:spPr>
          <a:xfrm>
            <a:off x="3294300" y="1893950"/>
            <a:ext cx="2555400" cy="1939500"/>
          </a:xfrm>
          <a:prstGeom prst="rect">
            <a:avLst/>
          </a:prstGeom>
          <a:noFill/>
          <a:ln>
            <a:noFill/>
          </a:ln>
        </p:spPr>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4" name="Shape 564"/>
        <p:cNvGrpSpPr/>
        <p:nvPr/>
      </p:nvGrpSpPr>
      <p:grpSpPr>
        <a:xfrm>
          <a:off x="0" y="0"/>
          <a:ext cx="0" cy="0"/>
          <a:chOff x="0" y="0"/>
          <a:chExt cx="0" cy="0"/>
        </a:xfrm>
      </p:grpSpPr>
      <p:pic>
        <p:nvPicPr>
          <p:cNvPr id="565" name="Google Shape;565;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8" name="Google Shape;568;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0" name="Google Shape;570;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1" name="Google Shape;571;p41"/>
          <p:cNvSpPr/>
          <p:nvPr>
            <p:ph idx="3" type="pic"/>
          </p:nvPr>
        </p:nvSpPr>
        <p:spPr>
          <a:xfrm>
            <a:off x="324000" y="1893950"/>
            <a:ext cx="2555400" cy="1939500"/>
          </a:xfrm>
          <a:prstGeom prst="rect">
            <a:avLst/>
          </a:prstGeom>
          <a:noFill/>
          <a:ln>
            <a:noFill/>
          </a:ln>
        </p:spPr>
      </p:sp>
      <p:sp>
        <p:nvSpPr>
          <p:cNvPr id="572" name="Google Shape;572;p41"/>
          <p:cNvSpPr/>
          <p:nvPr>
            <p:ph idx="4" type="pic"/>
          </p:nvPr>
        </p:nvSpPr>
        <p:spPr>
          <a:xfrm>
            <a:off x="6256800" y="1893950"/>
            <a:ext cx="2555400" cy="1939500"/>
          </a:xfrm>
          <a:prstGeom prst="rect">
            <a:avLst/>
          </a:prstGeom>
          <a:noFill/>
          <a:ln>
            <a:noFill/>
          </a:ln>
        </p:spPr>
      </p:sp>
      <p:sp>
        <p:nvSpPr>
          <p:cNvPr id="573" name="Google Shape;573;p41"/>
          <p:cNvSpPr/>
          <p:nvPr>
            <p:ph idx="5" type="pic"/>
          </p:nvPr>
        </p:nvSpPr>
        <p:spPr>
          <a:xfrm>
            <a:off x="3294300" y="1893950"/>
            <a:ext cx="2555400" cy="1939500"/>
          </a:xfrm>
          <a:prstGeom prst="rect">
            <a:avLst/>
          </a:prstGeom>
          <a:noFill/>
          <a:ln>
            <a:noFill/>
          </a:ln>
        </p:spPr>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3" name="Shape 583"/>
        <p:cNvGrpSpPr/>
        <p:nvPr/>
      </p:nvGrpSpPr>
      <p:grpSpPr>
        <a:xfrm>
          <a:off x="0" y="0"/>
          <a:ext cx="0" cy="0"/>
          <a:chOff x="0" y="0"/>
          <a:chExt cx="0" cy="0"/>
        </a:xfrm>
      </p:grpSpPr>
      <p:pic>
        <p:nvPicPr>
          <p:cNvPr id="584" name="Google Shape;584;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7" name="Google Shape;587;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9" name="Google Shape;589;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0" name="Google Shape;590;p42"/>
          <p:cNvSpPr/>
          <p:nvPr>
            <p:ph idx="3" type="pic"/>
          </p:nvPr>
        </p:nvSpPr>
        <p:spPr>
          <a:xfrm>
            <a:off x="324000" y="1893950"/>
            <a:ext cx="2555400" cy="1939500"/>
          </a:xfrm>
          <a:prstGeom prst="rect">
            <a:avLst/>
          </a:prstGeom>
          <a:noFill/>
          <a:ln>
            <a:noFill/>
          </a:ln>
        </p:spPr>
      </p:sp>
      <p:sp>
        <p:nvSpPr>
          <p:cNvPr id="591" name="Google Shape;591;p42"/>
          <p:cNvSpPr/>
          <p:nvPr>
            <p:ph idx="4" type="pic"/>
          </p:nvPr>
        </p:nvSpPr>
        <p:spPr>
          <a:xfrm>
            <a:off x="6256800" y="1893950"/>
            <a:ext cx="2555400" cy="1939500"/>
          </a:xfrm>
          <a:prstGeom prst="rect">
            <a:avLst/>
          </a:prstGeom>
          <a:noFill/>
          <a:ln>
            <a:noFill/>
          </a:ln>
        </p:spPr>
      </p:sp>
      <p:sp>
        <p:nvSpPr>
          <p:cNvPr id="592" name="Google Shape;592;p42"/>
          <p:cNvSpPr/>
          <p:nvPr>
            <p:ph idx="5" type="pic"/>
          </p:nvPr>
        </p:nvSpPr>
        <p:spPr>
          <a:xfrm>
            <a:off x="3294300" y="1893950"/>
            <a:ext cx="2555400" cy="1939500"/>
          </a:xfrm>
          <a:prstGeom prst="rect">
            <a:avLst/>
          </a:prstGeom>
          <a:noFill/>
          <a:ln>
            <a:noFill/>
          </a:ln>
        </p:spPr>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2" name="Shape 602"/>
        <p:cNvGrpSpPr/>
        <p:nvPr/>
      </p:nvGrpSpPr>
      <p:grpSpPr>
        <a:xfrm>
          <a:off x="0" y="0"/>
          <a:ext cx="0" cy="0"/>
          <a:chOff x="0" y="0"/>
          <a:chExt cx="0" cy="0"/>
        </a:xfrm>
      </p:grpSpPr>
      <p:pic>
        <p:nvPicPr>
          <p:cNvPr id="603" name="Google Shape;603;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6" name="Google Shape;606;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8" name="Google Shape;608;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3"/>
          <p:cNvSpPr/>
          <p:nvPr>
            <p:ph idx="3" type="pic"/>
          </p:nvPr>
        </p:nvSpPr>
        <p:spPr>
          <a:xfrm>
            <a:off x="324000" y="1893950"/>
            <a:ext cx="2555400" cy="1939500"/>
          </a:xfrm>
          <a:prstGeom prst="rect">
            <a:avLst/>
          </a:prstGeom>
          <a:noFill/>
          <a:ln>
            <a:noFill/>
          </a:ln>
        </p:spPr>
      </p:sp>
      <p:sp>
        <p:nvSpPr>
          <p:cNvPr id="610" name="Google Shape;610;p43"/>
          <p:cNvSpPr/>
          <p:nvPr>
            <p:ph idx="4" type="pic"/>
          </p:nvPr>
        </p:nvSpPr>
        <p:spPr>
          <a:xfrm>
            <a:off x="6256800" y="1893950"/>
            <a:ext cx="2555400" cy="1939500"/>
          </a:xfrm>
          <a:prstGeom prst="rect">
            <a:avLst/>
          </a:prstGeom>
          <a:noFill/>
          <a:ln>
            <a:noFill/>
          </a:ln>
        </p:spPr>
      </p:sp>
      <p:sp>
        <p:nvSpPr>
          <p:cNvPr id="611" name="Google Shape;611;p43"/>
          <p:cNvSpPr/>
          <p:nvPr>
            <p:ph idx="5" type="pic"/>
          </p:nvPr>
        </p:nvSpPr>
        <p:spPr>
          <a:xfrm>
            <a:off x="3294300" y="1893950"/>
            <a:ext cx="2555400" cy="1939500"/>
          </a:xfrm>
          <a:prstGeom prst="rect">
            <a:avLst/>
          </a:prstGeom>
          <a:noFill/>
          <a:ln>
            <a:noFill/>
          </a:ln>
        </p:spPr>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1" name="Shape 621"/>
        <p:cNvGrpSpPr/>
        <p:nvPr/>
      </p:nvGrpSpPr>
      <p:grpSpPr>
        <a:xfrm>
          <a:off x="0" y="0"/>
          <a:ext cx="0" cy="0"/>
          <a:chOff x="0" y="0"/>
          <a:chExt cx="0" cy="0"/>
        </a:xfrm>
      </p:grpSpPr>
      <p:pic>
        <p:nvPicPr>
          <p:cNvPr id="622" name="Google Shape;622;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8" name="Shape 628"/>
        <p:cNvGrpSpPr/>
        <p:nvPr/>
      </p:nvGrpSpPr>
      <p:grpSpPr>
        <a:xfrm>
          <a:off x="0" y="0"/>
          <a:ext cx="0" cy="0"/>
          <a:chOff x="0" y="0"/>
          <a:chExt cx="0" cy="0"/>
        </a:xfrm>
      </p:grpSpPr>
      <p:pic>
        <p:nvPicPr>
          <p:cNvPr id="629" name="Google Shape;629;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5" name="Shape 635"/>
        <p:cNvGrpSpPr/>
        <p:nvPr/>
      </p:nvGrpSpPr>
      <p:grpSpPr>
        <a:xfrm>
          <a:off x="0" y="0"/>
          <a:ext cx="0" cy="0"/>
          <a:chOff x="0" y="0"/>
          <a:chExt cx="0" cy="0"/>
        </a:xfrm>
      </p:grpSpPr>
      <p:pic>
        <p:nvPicPr>
          <p:cNvPr id="636" name="Google Shape;636;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2" name="Shape 642"/>
        <p:cNvGrpSpPr/>
        <p:nvPr/>
      </p:nvGrpSpPr>
      <p:grpSpPr>
        <a:xfrm>
          <a:off x="0" y="0"/>
          <a:ext cx="0" cy="0"/>
          <a:chOff x="0" y="0"/>
          <a:chExt cx="0" cy="0"/>
        </a:xfrm>
      </p:grpSpPr>
      <p:pic>
        <p:nvPicPr>
          <p:cNvPr id="643" name="Google Shape;643;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9" name="Shape 649"/>
        <p:cNvGrpSpPr/>
        <p:nvPr/>
      </p:nvGrpSpPr>
      <p:grpSpPr>
        <a:xfrm>
          <a:off x="0" y="0"/>
          <a:ext cx="0" cy="0"/>
          <a:chOff x="0" y="0"/>
          <a:chExt cx="0" cy="0"/>
        </a:xfrm>
      </p:grpSpPr>
      <p:pic>
        <p:nvPicPr>
          <p:cNvPr id="650" name="Google Shape;650;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3" name="Google Shape;653;p48"/>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4" name="Google Shape;654;p4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5" name="Google Shape;655;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6" name="Google Shape;656;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7" name="Shape 657"/>
        <p:cNvGrpSpPr/>
        <p:nvPr/>
      </p:nvGrpSpPr>
      <p:grpSpPr>
        <a:xfrm>
          <a:off x="0" y="0"/>
          <a:ext cx="0" cy="0"/>
          <a:chOff x="0" y="0"/>
          <a:chExt cx="0" cy="0"/>
        </a:xfrm>
      </p:grpSpPr>
      <p:pic>
        <p:nvPicPr>
          <p:cNvPr id="658" name="Google Shape;658;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2" name="Google Shape;662;p49"/>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3" name="Google Shape;663;p4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4" name="Google Shape;664;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5" name="Shape 665"/>
        <p:cNvGrpSpPr/>
        <p:nvPr/>
      </p:nvGrpSpPr>
      <p:grpSpPr>
        <a:xfrm>
          <a:off x="0" y="0"/>
          <a:ext cx="0" cy="0"/>
          <a:chOff x="0" y="0"/>
          <a:chExt cx="0" cy="0"/>
        </a:xfrm>
      </p:grpSpPr>
      <p:pic>
        <p:nvPicPr>
          <p:cNvPr id="666" name="Google Shape;66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0" name="Google Shape;670;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1" name="Google Shape;671;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2" name="Google Shape;672;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3" name="Shape 673"/>
        <p:cNvGrpSpPr/>
        <p:nvPr/>
      </p:nvGrpSpPr>
      <p:grpSpPr>
        <a:xfrm>
          <a:off x="0" y="0"/>
          <a:ext cx="0" cy="0"/>
          <a:chOff x="0" y="0"/>
          <a:chExt cx="0" cy="0"/>
        </a:xfrm>
      </p:grpSpPr>
      <p:pic>
        <p:nvPicPr>
          <p:cNvPr id="674" name="Google Shape;674;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78" name="Google Shape;678;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79" name="Google Shape;679;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0" name="Google Shape;680;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1" name="Shape 681"/>
        <p:cNvGrpSpPr/>
        <p:nvPr/>
      </p:nvGrpSpPr>
      <p:grpSpPr>
        <a:xfrm>
          <a:off x="0" y="0"/>
          <a:ext cx="0" cy="0"/>
          <a:chOff x="0" y="0"/>
          <a:chExt cx="0" cy="0"/>
        </a:xfrm>
      </p:grpSpPr>
      <p:pic>
        <p:nvPicPr>
          <p:cNvPr id="682" name="Google Shape;682;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5" name="Google Shape;685;p52"/>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6" name="Google Shape;686;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7" name="Google Shape;687;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8" name="Google Shape;688;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9" name="Shape 689"/>
        <p:cNvGrpSpPr/>
        <p:nvPr/>
      </p:nvGrpSpPr>
      <p:grpSpPr>
        <a:xfrm>
          <a:off x="0" y="0"/>
          <a:ext cx="0" cy="0"/>
          <a:chOff x="0" y="0"/>
          <a:chExt cx="0" cy="0"/>
        </a:xfrm>
      </p:grpSpPr>
      <p:pic>
        <p:nvPicPr>
          <p:cNvPr id="690" name="Google Shape;690;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4" name="Google Shape;694;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5" name="Google Shape;695;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6" name="Google Shape;696;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7" name="Shape 697"/>
        <p:cNvGrpSpPr/>
        <p:nvPr/>
      </p:nvGrpSpPr>
      <p:grpSpPr>
        <a:xfrm>
          <a:off x="0" y="0"/>
          <a:ext cx="0" cy="0"/>
          <a:chOff x="0" y="0"/>
          <a:chExt cx="0" cy="0"/>
        </a:xfrm>
      </p:grpSpPr>
      <p:pic>
        <p:nvPicPr>
          <p:cNvPr id="698" name="Google Shape;698;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2" name="Google Shape;702;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3" name="Google Shape;703;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4" name="Google Shape;704;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5" name="Shape 705"/>
        <p:cNvGrpSpPr/>
        <p:nvPr/>
      </p:nvGrpSpPr>
      <p:grpSpPr>
        <a:xfrm>
          <a:off x="0" y="0"/>
          <a:ext cx="0" cy="0"/>
          <a:chOff x="0" y="0"/>
          <a:chExt cx="0" cy="0"/>
        </a:xfrm>
      </p:grpSpPr>
      <p:pic>
        <p:nvPicPr>
          <p:cNvPr id="706" name="Google Shape;706;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0" name="Google Shape;710;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1" name="Google Shape;711;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2" name="Google Shape;712;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3" name="Shape 713"/>
        <p:cNvGrpSpPr/>
        <p:nvPr/>
      </p:nvGrpSpPr>
      <p:grpSpPr>
        <a:xfrm>
          <a:off x="0" y="0"/>
          <a:ext cx="0" cy="0"/>
          <a:chOff x="0" y="0"/>
          <a:chExt cx="0" cy="0"/>
        </a:xfrm>
      </p:grpSpPr>
      <p:sp>
        <p:nvSpPr>
          <p:cNvPr id="714" name="Google Shape;714;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5" name="Google Shape;715;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6" name="Google Shape;716;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8" name="Google Shape;718;p56"/>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9" name="Shape 719"/>
        <p:cNvGrpSpPr/>
        <p:nvPr/>
      </p:nvGrpSpPr>
      <p:grpSpPr>
        <a:xfrm>
          <a:off x="0" y="0"/>
          <a:ext cx="0" cy="0"/>
          <a:chOff x="0" y="0"/>
          <a:chExt cx="0" cy="0"/>
        </a:xfrm>
      </p:grpSpPr>
      <p:sp>
        <p:nvSpPr>
          <p:cNvPr id="720" name="Google Shape;720;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1" name="Google Shape;721;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2" name="Google Shape;722;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4" name="Google Shape;724;p57"/>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5" name="Shape 725"/>
        <p:cNvGrpSpPr/>
        <p:nvPr/>
      </p:nvGrpSpPr>
      <p:grpSpPr>
        <a:xfrm>
          <a:off x="0" y="0"/>
          <a:ext cx="0" cy="0"/>
          <a:chOff x="0" y="0"/>
          <a:chExt cx="0" cy="0"/>
        </a:xfrm>
      </p:grpSpPr>
      <p:pic>
        <p:nvPicPr>
          <p:cNvPr id="726" name="Google Shape;726;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8" name="Shape 728"/>
        <p:cNvGrpSpPr/>
        <p:nvPr/>
      </p:nvGrpSpPr>
      <p:grpSpPr>
        <a:xfrm>
          <a:off x="0" y="0"/>
          <a:ext cx="0" cy="0"/>
          <a:chOff x="0" y="0"/>
          <a:chExt cx="0" cy="0"/>
        </a:xfrm>
      </p:grpSpPr>
      <p:sp>
        <p:nvSpPr>
          <p:cNvPr id="729" name="Google Shape;729;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8" name="Shape 738"/>
        <p:cNvGrpSpPr/>
        <p:nvPr/>
      </p:nvGrpSpPr>
      <p:grpSpPr>
        <a:xfrm>
          <a:off x="0" y="0"/>
          <a:ext cx="0" cy="0"/>
          <a:chOff x="0" y="0"/>
          <a:chExt cx="0" cy="0"/>
        </a:xfrm>
      </p:grpSpPr>
      <p:pic>
        <p:nvPicPr>
          <p:cNvPr id="739" name="Google Shape;739;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0" name="Google Shape;740;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1" name="Shape 741"/>
        <p:cNvGrpSpPr/>
        <p:nvPr/>
      </p:nvGrpSpPr>
      <p:grpSpPr>
        <a:xfrm>
          <a:off x="0" y="0"/>
          <a:ext cx="0" cy="0"/>
          <a:chOff x="0" y="0"/>
          <a:chExt cx="0" cy="0"/>
        </a:xfrm>
      </p:grpSpPr>
      <p:sp>
        <p:nvSpPr>
          <p:cNvPr id="742" name="Google Shape;742;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1">
  <p:cSld name="CUSTOM_3_1_2">
    <p:spTree>
      <p:nvGrpSpPr>
        <p:cNvPr id="743" name="Shape 743"/>
        <p:cNvGrpSpPr/>
        <p:nvPr/>
      </p:nvGrpSpPr>
      <p:grpSpPr>
        <a:xfrm>
          <a:off x="0" y="0"/>
          <a:ext cx="0" cy="0"/>
          <a:chOff x="0" y="0"/>
          <a:chExt cx="0" cy="0"/>
        </a:xfrm>
      </p:grpSpPr>
      <p:sp>
        <p:nvSpPr>
          <p:cNvPr id="744" name="Google Shape;744;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5" name="Google Shape;745;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6" name="Google Shape;746;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7" name="Google Shape;747;p62"/>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9" name="Google Shape;749;p62"/>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4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1.png"/><Relationship Id="rId4" Type="http://schemas.openxmlformats.org/officeDocument/2006/relationships/image" Target="../media/image5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 Id="rId3" Type="http://schemas.openxmlformats.org/officeDocument/2006/relationships/image" Target="../media/image53.png"/><Relationship Id="rId4" Type="http://schemas.openxmlformats.org/officeDocument/2006/relationships/image" Target="../media/image5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0.xml"/><Relationship Id="rId3" Type="http://schemas.openxmlformats.org/officeDocument/2006/relationships/image" Target="../media/image53.png"/><Relationship Id="rId4" Type="http://schemas.openxmlformats.org/officeDocument/2006/relationships/image" Target="../media/image5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5.xml"/><Relationship Id="rId3" Type="http://schemas.openxmlformats.org/officeDocument/2006/relationships/image" Target="../media/image57.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26.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Determining the part</a:t>
            </a:r>
            <a:endParaRPr/>
          </a:p>
        </p:txBody>
      </p:sp>
      <p:sp>
        <p:nvSpPr>
          <p:cNvPr id="755" name="Google Shape;755;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Understanding multiplicative relationships: fractions and ratio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9" name="Shape 759"/>
        <p:cNvGrpSpPr/>
        <p:nvPr/>
      </p:nvGrpSpPr>
      <p:grpSpPr>
        <a:xfrm>
          <a:off x="0" y="0"/>
          <a:ext cx="0" cy="0"/>
          <a:chOff x="0" y="0"/>
          <a:chExt cx="0" cy="0"/>
        </a:xfrm>
      </p:grpSpPr>
      <p:sp>
        <p:nvSpPr>
          <p:cNvPr id="760" name="Google Shape;760;p64"/>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determine one part, given the other part and the ratio.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nvSpPr>
        <p:spPr>
          <a:xfrm>
            <a:off x="383151" y="1872400"/>
            <a:ext cx="82260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A ratio shows the relative sizes of 2 or more values and allows you to compare a part with another part in a whole.</a:t>
            </a:r>
            <a:endParaRPr sz="2200">
              <a:solidFill>
                <a:srgbClr val="282828"/>
              </a:solidFill>
              <a:latin typeface="Lexend"/>
              <a:ea typeface="Lexend"/>
              <a:cs typeface="Lexend"/>
              <a:sym typeface="Lexend"/>
            </a:endParaRPr>
          </a:p>
        </p:txBody>
      </p:sp>
      <p:sp>
        <p:nvSpPr>
          <p:cNvPr id="771" name="Google Shape;771;p66"/>
          <p:cNvSpPr txBox="1"/>
          <p:nvPr/>
        </p:nvSpPr>
        <p:spPr>
          <a:xfrm>
            <a:off x="383150" y="836400"/>
            <a:ext cx="7767300" cy="48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200">
                <a:solidFill>
                  <a:srgbClr val="282828"/>
                </a:solidFill>
                <a:latin typeface="Lexend"/>
                <a:ea typeface="Lexend"/>
                <a:cs typeface="Lexend"/>
                <a:sym typeface="Lexend"/>
              </a:rPr>
              <a:t>Variables are in proportion if they have a constant multiplicative relationship.</a:t>
            </a:r>
            <a:r>
              <a:rPr lang="en-GB" sz="2200">
                <a:solidFill>
                  <a:srgbClr val="282828"/>
                </a:solidFill>
                <a:highlight>
                  <a:srgbClr val="FFFFFF"/>
                </a:highlight>
                <a:latin typeface="Lexend"/>
                <a:ea typeface="Lexend"/>
                <a:cs typeface="Lexend"/>
                <a:sym typeface="Lexend"/>
              </a:rPr>
              <a:t> </a:t>
            </a:r>
            <a:endParaRPr sz="2200">
              <a:solidFill>
                <a:srgbClr val="282828"/>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bar model to find one part</a:t>
            </a:r>
            <a:endParaRPr/>
          </a:p>
        </p:txBody>
      </p:sp>
      <p:sp>
        <p:nvSpPr>
          <p:cNvPr id="777" name="Google Shape;777;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a:t>
            </a:r>
            <a:r>
              <a:rPr lang="en-GB"/>
              <a:t>sing ratio tables to find one part</a:t>
            </a:r>
            <a:endParaRPr/>
          </a:p>
        </p:txBody>
      </p:sp>
      <p:sp>
        <p:nvSpPr>
          <p:cNvPr id="778" name="Google Shape;778;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Determining the part</a:t>
            </a:r>
            <a:endParaRPr/>
          </a:p>
        </p:txBody>
      </p:sp>
      <p:pic>
        <p:nvPicPr>
          <p:cNvPr id="779" name="Google Shape;779;p67"/>
          <p:cNvPicPr preferRelativeResize="0"/>
          <p:nvPr/>
        </p:nvPicPr>
        <p:blipFill>
          <a:blip r:embed="rId3">
            <a:alphaModFix/>
          </a:blip>
          <a:stretch>
            <a:fillRect/>
          </a:stretch>
        </p:blipFill>
        <p:spPr>
          <a:xfrm>
            <a:off x="419850"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bar model to find one part</a:t>
            </a:r>
            <a:endParaRPr/>
          </a:p>
        </p:txBody>
      </p:sp>
      <p:sp>
        <p:nvSpPr>
          <p:cNvPr id="785" name="Google Shape;785;p68"/>
          <p:cNvSpPr txBox="1"/>
          <p:nvPr>
            <p:ph idx="1" type="body"/>
          </p:nvPr>
        </p:nvSpPr>
        <p:spPr>
          <a:xfrm>
            <a:off x="324000" y="606900"/>
            <a:ext cx="8268900" cy="705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Sofia</a:t>
            </a:r>
            <a:r>
              <a:rPr lang="en-GB" sz="2000"/>
              <a:t> is making some bracelets.</a:t>
            </a:r>
            <a:endParaRPr sz="2000"/>
          </a:p>
          <a:p>
            <a:pPr indent="0" lvl="0" marL="0" rtl="0" algn="l">
              <a:lnSpc>
                <a:spcPct val="100000"/>
              </a:lnSpc>
              <a:spcBef>
                <a:spcPts val="1000"/>
              </a:spcBef>
              <a:spcAft>
                <a:spcPts val="1000"/>
              </a:spcAft>
              <a:buNone/>
            </a:pPr>
            <a:r>
              <a:rPr lang="en-GB" sz="2000"/>
              <a:t>She will use white and black beads in the ratio 1 : 6 </a:t>
            </a:r>
            <a:endParaRPr sz="2000"/>
          </a:p>
        </p:txBody>
      </p:sp>
      <p:grpSp>
        <p:nvGrpSpPr>
          <p:cNvPr id="786" name="Google Shape;786;p68"/>
          <p:cNvGrpSpPr/>
          <p:nvPr/>
        </p:nvGrpSpPr>
        <p:grpSpPr>
          <a:xfrm>
            <a:off x="1220251" y="1266275"/>
            <a:ext cx="2778399" cy="916400"/>
            <a:chOff x="5646298" y="2325182"/>
            <a:chExt cx="2778399" cy="1780455"/>
          </a:xfrm>
        </p:grpSpPr>
        <p:pic>
          <p:nvPicPr>
            <p:cNvPr id="787" name="Google Shape;787;p68"/>
            <p:cNvPicPr preferRelativeResize="0"/>
            <p:nvPr/>
          </p:nvPicPr>
          <p:blipFill rotWithShape="1">
            <a:blip r:embed="rId3">
              <a:alphaModFix/>
            </a:blip>
            <a:srcRect b="0" l="0" r="69082" t="56280"/>
            <a:stretch/>
          </p:blipFill>
          <p:spPr>
            <a:xfrm flipH="1">
              <a:off x="5646298" y="2325182"/>
              <a:ext cx="2778399" cy="1780455"/>
            </a:xfrm>
            <a:prstGeom prst="rect">
              <a:avLst/>
            </a:prstGeom>
            <a:noFill/>
            <a:ln>
              <a:noFill/>
            </a:ln>
          </p:spPr>
        </p:pic>
        <p:sp>
          <p:nvSpPr>
            <p:cNvPr id="788" name="Google Shape;788;p68"/>
            <p:cNvSpPr txBox="1"/>
            <p:nvPr/>
          </p:nvSpPr>
          <p:spPr>
            <a:xfrm>
              <a:off x="5844225" y="2427475"/>
              <a:ext cx="24966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I am going to use 3 white beads.</a:t>
              </a:r>
              <a:endParaRPr sz="2000">
                <a:latin typeface="Lexend"/>
                <a:ea typeface="Lexend"/>
                <a:cs typeface="Lexend"/>
                <a:sym typeface="Lexend"/>
              </a:endParaRPr>
            </a:p>
          </p:txBody>
        </p:sp>
      </p:grpSp>
      <p:grpSp>
        <p:nvGrpSpPr>
          <p:cNvPr id="789" name="Google Shape;789;p68"/>
          <p:cNvGrpSpPr/>
          <p:nvPr/>
        </p:nvGrpSpPr>
        <p:grpSpPr>
          <a:xfrm>
            <a:off x="4956075" y="1364100"/>
            <a:ext cx="3253125" cy="1154050"/>
            <a:chOff x="853316" y="2425571"/>
            <a:chExt cx="3253125" cy="1574420"/>
          </a:xfrm>
        </p:grpSpPr>
        <p:pic>
          <p:nvPicPr>
            <p:cNvPr id="790" name="Google Shape;790;p68"/>
            <p:cNvPicPr preferRelativeResize="0"/>
            <p:nvPr/>
          </p:nvPicPr>
          <p:blipFill rotWithShape="1">
            <a:blip r:embed="rId3">
              <a:alphaModFix/>
            </a:blip>
            <a:srcRect b="0" l="0" r="69082" t="56280"/>
            <a:stretch/>
          </p:blipFill>
          <p:spPr>
            <a:xfrm>
              <a:off x="853316" y="2425571"/>
              <a:ext cx="3253125" cy="1574420"/>
            </a:xfrm>
            <a:prstGeom prst="rect">
              <a:avLst/>
            </a:prstGeom>
            <a:noFill/>
            <a:ln>
              <a:noFill/>
            </a:ln>
          </p:spPr>
        </p:pic>
        <p:sp>
          <p:nvSpPr>
            <p:cNvPr id="791" name="Google Shape;791;p68"/>
            <p:cNvSpPr txBox="1"/>
            <p:nvPr/>
          </p:nvSpPr>
          <p:spPr>
            <a:xfrm>
              <a:off x="1002650" y="2434864"/>
              <a:ext cx="3074700" cy="7728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lang="en-GB" sz="2000">
                  <a:latin typeface="Lexend"/>
                  <a:ea typeface="Lexend"/>
                  <a:cs typeface="Lexend"/>
                  <a:sym typeface="Lexend"/>
                </a:rPr>
                <a:t>How many black beads will be on each bracelet?</a:t>
              </a:r>
              <a:endParaRPr sz="2000">
                <a:latin typeface="Lexend"/>
                <a:ea typeface="Lexend"/>
                <a:cs typeface="Lexend"/>
                <a:sym typeface="Lexend"/>
              </a:endParaRPr>
            </a:p>
          </p:txBody>
        </p:sp>
      </p:grpSp>
      <p:sp>
        <p:nvSpPr>
          <p:cNvPr id="792" name="Google Shape;792;p68"/>
          <p:cNvSpPr txBox="1"/>
          <p:nvPr>
            <p:ph idx="1" type="body"/>
          </p:nvPr>
        </p:nvSpPr>
        <p:spPr>
          <a:xfrm>
            <a:off x="324000" y="2664300"/>
            <a:ext cx="5521500" cy="3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Let’s draw a bar model to represent this. </a:t>
            </a:r>
            <a:endParaRPr sz="2000"/>
          </a:p>
        </p:txBody>
      </p:sp>
      <p:sp>
        <p:nvSpPr>
          <p:cNvPr id="793" name="Google Shape;793;p68"/>
          <p:cNvSpPr txBox="1"/>
          <p:nvPr>
            <p:ph idx="1" type="body"/>
          </p:nvPr>
        </p:nvSpPr>
        <p:spPr>
          <a:xfrm>
            <a:off x="5594290" y="2735512"/>
            <a:ext cx="3121800" cy="705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Each part of the bar model represents an equal part. </a:t>
            </a:r>
            <a:endParaRPr sz="2000"/>
          </a:p>
        </p:txBody>
      </p:sp>
      <p:sp>
        <p:nvSpPr>
          <p:cNvPr id="794" name="Google Shape;794;p68"/>
          <p:cNvSpPr txBox="1"/>
          <p:nvPr>
            <p:ph idx="1" type="body"/>
          </p:nvPr>
        </p:nvSpPr>
        <p:spPr>
          <a:xfrm>
            <a:off x="5594299" y="3832462"/>
            <a:ext cx="2863800" cy="705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This means 3 needs to go in all parts.</a:t>
            </a:r>
            <a:endParaRPr sz="2000">
              <a:latin typeface="Kalam"/>
              <a:ea typeface="Kalam"/>
              <a:cs typeface="Kalam"/>
              <a:sym typeface="Kalam"/>
            </a:endParaRPr>
          </a:p>
        </p:txBody>
      </p:sp>
      <p:sp>
        <p:nvSpPr>
          <p:cNvPr id="795" name="Google Shape;795;p68"/>
          <p:cNvSpPr txBox="1"/>
          <p:nvPr>
            <p:ph idx="1" type="body"/>
          </p:nvPr>
        </p:nvSpPr>
        <p:spPr>
          <a:xfrm>
            <a:off x="5594290" y="2745862"/>
            <a:ext cx="3121800" cy="705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Do you need to find the total number of beads? </a:t>
            </a:r>
            <a:endParaRPr sz="2000"/>
          </a:p>
        </p:txBody>
      </p:sp>
      <p:sp>
        <p:nvSpPr>
          <p:cNvPr id="796" name="Google Shape;796;p68"/>
          <p:cNvSpPr txBox="1"/>
          <p:nvPr>
            <p:ph idx="1" type="body"/>
          </p:nvPr>
        </p:nvSpPr>
        <p:spPr>
          <a:xfrm>
            <a:off x="5594299" y="3832462"/>
            <a:ext cx="2863800" cy="705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No, Jacob only asked how many black beads there will be.</a:t>
            </a:r>
            <a:endParaRPr sz="2000">
              <a:latin typeface="Kalam"/>
              <a:ea typeface="Kalam"/>
              <a:cs typeface="Kalam"/>
              <a:sym typeface="Kalam"/>
            </a:endParaRPr>
          </a:p>
        </p:txBody>
      </p:sp>
      <p:sp>
        <p:nvSpPr>
          <p:cNvPr id="797" name="Google Shape;797;p68"/>
          <p:cNvSpPr txBox="1"/>
          <p:nvPr>
            <p:ph idx="1" type="body"/>
          </p:nvPr>
        </p:nvSpPr>
        <p:spPr>
          <a:xfrm>
            <a:off x="5594299" y="3847837"/>
            <a:ext cx="2863800" cy="705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Each necklace will have a total of 18 black beads.</a:t>
            </a:r>
            <a:endParaRPr sz="2000">
              <a:latin typeface="Kalam"/>
              <a:ea typeface="Kalam"/>
              <a:cs typeface="Kalam"/>
              <a:sym typeface="Kalam"/>
            </a:endParaRPr>
          </a:p>
        </p:txBody>
      </p:sp>
      <p:pic>
        <p:nvPicPr>
          <p:cNvPr id="798" name="Google Shape;798;p68"/>
          <p:cNvPicPr preferRelativeResize="0"/>
          <p:nvPr/>
        </p:nvPicPr>
        <p:blipFill>
          <a:blip r:embed="rId4">
            <a:alphaModFix/>
          </a:blip>
          <a:stretch>
            <a:fillRect/>
          </a:stretch>
        </p:blipFill>
        <p:spPr>
          <a:xfrm>
            <a:off x="8047250" y="1463412"/>
            <a:ext cx="727175" cy="895749"/>
          </a:xfrm>
          <a:prstGeom prst="rect">
            <a:avLst/>
          </a:prstGeom>
          <a:noFill/>
          <a:ln>
            <a:noFill/>
          </a:ln>
        </p:spPr>
      </p:pic>
      <p:pic>
        <p:nvPicPr>
          <p:cNvPr id="799" name="Google Shape;799;p68"/>
          <p:cNvPicPr preferRelativeResize="0"/>
          <p:nvPr/>
        </p:nvPicPr>
        <p:blipFill>
          <a:blip r:embed="rId5">
            <a:alphaModFix/>
          </a:blip>
          <a:stretch>
            <a:fillRect/>
          </a:stretch>
        </p:blipFill>
        <p:spPr>
          <a:xfrm flipH="1">
            <a:off x="400190" y="1379238"/>
            <a:ext cx="807760" cy="896090"/>
          </a:xfrm>
          <a:prstGeom prst="rect">
            <a:avLst/>
          </a:prstGeom>
          <a:noFill/>
          <a:ln>
            <a:noFill/>
          </a:ln>
        </p:spPr>
      </p:pic>
      <p:sp>
        <p:nvSpPr>
          <p:cNvPr id="800" name="Google Shape;800;p68"/>
          <p:cNvSpPr txBox="1"/>
          <p:nvPr/>
        </p:nvSpPr>
        <p:spPr>
          <a:xfrm>
            <a:off x="7929550" y="23886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sz="1800">
              <a:latin typeface="Lexend"/>
              <a:ea typeface="Lexend"/>
              <a:cs typeface="Lexend"/>
              <a:sym typeface="Lexend"/>
            </a:endParaRPr>
          </a:p>
        </p:txBody>
      </p:sp>
      <p:sp>
        <p:nvSpPr>
          <p:cNvPr id="801" name="Google Shape;801;p68"/>
          <p:cNvSpPr txBox="1"/>
          <p:nvPr/>
        </p:nvSpPr>
        <p:spPr>
          <a:xfrm>
            <a:off x="367150" y="237330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Sofia</a:t>
            </a:r>
            <a:endParaRPr sz="1800">
              <a:latin typeface="Lexend"/>
              <a:ea typeface="Lexend"/>
              <a:cs typeface="Lexend"/>
              <a:sym typeface="Lexend"/>
            </a:endParaRPr>
          </a:p>
        </p:txBody>
      </p:sp>
      <p:graphicFrame>
        <p:nvGraphicFramePr>
          <p:cNvPr id="802" name="Google Shape;802;p68"/>
          <p:cNvGraphicFramePr/>
          <p:nvPr/>
        </p:nvGraphicFramePr>
        <p:xfrm>
          <a:off x="1227588" y="3466512"/>
          <a:ext cx="3000000" cy="3000000"/>
        </p:xfrm>
        <a:graphic>
          <a:graphicData uri="http://schemas.openxmlformats.org/drawingml/2006/table">
            <a:tbl>
              <a:tblPr>
                <a:noFill/>
                <a:tableStyleId>{6300B9EF-BFE0-4A47-A372-9612E9D491EC}</a:tableStyleId>
              </a:tblPr>
              <a:tblGrid>
                <a:gridCol w="477300"/>
              </a:tblGrid>
              <a:tr h="381000">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803" name="Google Shape;803;p68"/>
          <p:cNvSpPr txBox="1"/>
          <p:nvPr/>
        </p:nvSpPr>
        <p:spPr>
          <a:xfrm>
            <a:off x="414107" y="3503512"/>
            <a:ext cx="66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White</a:t>
            </a:r>
            <a:endParaRPr sz="1800">
              <a:latin typeface="Lexend"/>
              <a:ea typeface="Lexend"/>
              <a:cs typeface="Lexend"/>
              <a:sym typeface="Lexend"/>
            </a:endParaRPr>
          </a:p>
        </p:txBody>
      </p:sp>
      <p:sp>
        <p:nvSpPr>
          <p:cNvPr id="804" name="Google Shape;804;p68"/>
          <p:cNvSpPr txBox="1"/>
          <p:nvPr/>
        </p:nvSpPr>
        <p:spPr>
          <a:xfrm>
            <a:off x="414107" y="4003912"/>
            <a:ext cx="66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Black</a:t>
            </a:r>
            <a:endParaRPr sz="1800">
              <a:latin typeface="Lexend"/>
              <a:ea typeface="Lexend"/>
              <a:cs typeface="Lexend"/>
              <a:sym typeface="Lexend"/>
            </a:endParaRPr>
          </a:p>
        </p:txBody>
      </p:sp>
      <p:graphicFrame>
        <p:nvGraphicFramePr>
          <p:cNvPr id="805" name="Google Shape;805;p68"/>
          <p:cNvGraphicFramePr/>
          <p:nvPr/>
        </p:nvGraphicFramePr>
        <p:xfrm>
          <a:off x="1227588" y="3974512"/>
          <a:ext cx="3000000" cy="3000000"/>
        </p:xfrm>
        <a:graphic>
          <a:graphicData uri="http://schemas.openxmlformats.org/drawingml/2006/table">
            <a:tbl>
              <a:tblPr>
                <a:noFill/>
                <a:tableStyleId>{6300B9EF-BFE0-4A47-A372-9612E9D491EC}</a:tableStyleId>
              </a:tblPr>
              <a:tblGrid>
                <a:gridCol w="477300"/>
                <a:gridCol w="477300"/>
                <a:gridCol w="477300"/>
                <a:gridCol w="477300"/>
                <a:gridCol w="477300"/>
                <a:gridCol w="477300"/>
              </a:tblGrid>
              <a:tr h="381000">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806" name="Google Shape;806;p68"/>
          <p:cNvSpPr/>
          <p:nvPr/>
        </p:nvSpPr>
        <p:spPr>
          <a:xfrm rot="5400000">
            <a:off x="1417400" y="3158012"/>
            <a:ext cx="90000" cy="4635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7" name="Google Shape;807;p68"/>
          <p:cNvSpPr txBox="1"/>
          <p:nvPr/>
        </p:nvSpPr>
        <p:spPr>
          <a:xfrm>
            <a:off x="1402368" y="3006275"/>
            <a:ext cx="150600" cy="313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3</a:t>
            </a:r>
            <a:endParaRPr sz="1800">
              <a:latin typeface="Lexend"/>
              <a:ea typeface="Lexend"/>
              <a:cs typeface="Lexend"/>
              <a:sym typeface="Lexend"/>
            </a:endParaRPr>
          </a:p>
        </p:txBody>
      </p:sp>
      <p:sp>
        <p:nvSpPr>
          <p:cNvPr id="808" name="Google Shape;808;p68"/>
          <p:cNvSpPr txBox="1"/>
          <p:nvPr/>
        </p:nvSpPr>
        <p:spPr>
          <a:xfrm>
            <a:off x="1974613" y="4512999"/>
            <a:ext cx="16485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6 × 3 = 18</a:t>
            </a:r>
            <a:endParaRPr sz="2200">
              <a:latin typeface="Lexend"/>
              <a:ea typeface="Lexend"/>
              <a:cs typeface="Lexend"/>
              <a:sym typeface="Lexend"/>
            </a:endParaRPr>
          </a:p>
        </p:txBody>
      </p:sp>
      <p:sp>
        <p:nvSpPr>
          <p:cNvPr id="809" name="Google Shape;809;p68"/>
          <p:cNvSpPr/>
          <p:nvPr/>
        </p:nvSpPr>
        <p:spPr>
          <a:xfrm rot="-5400000">
            <a:off x="2610150" y="3029687"/>
            <a:ext cx="90000" cy="28551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810" name="Google Shape;810;p68"/>
          <p:cNvGraphicFramePr/>
          <p:nvPr/>
        </p:nvGraphicFramePr>
        <p:xfrm>
          <a:off x="1227588" y="3481712"/>
          <a:ext cx="3000000" cy="3000000"/>
        </p:xfrm>
        <a:graphic>
          <a:graphicData uri="http://schemas.openxmlformats.org/drawingml/2006/table">
            <a:tbl>
              <a:tblPr>
                <a:noFill/>
                <a:tableStyleId>{6300B9EF-BFE0-4A47-A372-9612E9D491EC}</a:tableStyleId>
              </a:tblPr>
              <a:tblGrid>
                <a:gridCol w="477300"/>
              </a:tblGrid>
              <a:tr h="381000">
                <a:tc>
                  <a:txBody>
                    <a:bodyPr/>
                    <a:lstStyle/>
                    <a:p>
                      <a:pPr indent="0" lvl="0" marL="0" rtl="0" algn="ctr">
                        <a:spcBef>
                          <a:spcPts val="0"/>
                        </a:spcBef>
                        <a:spcAft>
                          <a:spcPts val="0"/>
                        </a:spcAft>
                        <a:buNone/>
                      </a:pPr>
                      <a:r>
                        <a:rPr lang="en-GB" sz="2000">
                          <a:latin typeface="Lexend"/>
                          <a:ea typeface="Lexend"/>
                          <a:cs typeface="Lexend"/>
                          <a:sym typeface="Lexend"/>
                        </a:rPr>
                        <a:t>3</a:t>
                      </a:r>
                      <a:endParaRPr sz="20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graphicFrame>
        <p:nvGraphicFramePr>
          <p:cNvPr id="811" name="Google Shape;811;p68"/>
          <p:cNvGraphicFramePr/>
          <p:nvPr/>
        </p:nvGraphicFramePr>
        <p:xfrm>
          <a:off x="1227588" y="3989712"/>
          <a:ext cx="3000000" cy="3000000"/>
        </p:xfrm>
        <a:graphic>
          <a:graphicData uri="http://schemas.openxmlformats.org/drawingml/2006/table">
            <a:tbl>
              <a:tblPr>
                <a:noFill/>
                <a:tableStyleId>{6300B9EF-BFE0-4A47-A372-9612E9D491EC}</a:tableStyleId>
              </a:tblPr>
              <a:tblGrid>
                <a:gridCol w="477300"/>
                <a:gridCol w="477300"/>
                <a:gridCol w="477300"/>
                <a:gridCol w="477300"/>
                <a:gridCol w="477300"/>
                <a:gridCol w="477300"/>
              </a:tblGrid>
              <a:tr h="381000">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79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7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79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79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bar model to find one part</a:t>
            </a:r>
            <a:endParaRPr/>
          </a:p>
        </p:txBody>
      </p:sp>
      <p:sp>
        <p:nvSpPr>
          <p:cNvPr id="817" name="Google Shape;817;p69"/>
          <p:cNvSpPr txBox="1"/>
          <p:nvPr>
            <p:ph idx="1" type="body"/>
          </p:nvPr>
        </p:nvSpPr>
        <p:spPr>
          <a:xfrm>
            <a:off x="324000" y="606900"/>
            <a:ext cx="7230900" cy="1590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a:t>A bunch of flowers contains red and yellow flowers in the ratio 3</a:t>
            </a:r>
            <a:r>
              <a:rPr lang="en-GB" sz="2000"/>
              <a:t> </a:t>
            </a:r>
            <a:r>
              <a:rPr lang="en-GB"/>
              <a:t>:</a:t>
            </a:r>
            <a:r>
              <a:rPr lang="en-GB" sz="2000"/>
              <a:t> </a:t>
            </a:r>
            <a:r>
              <a:rPr lang="en-GB"/>
              <a:t>5</a:t>
            </a:r>
            <a:endParaRPr/>
          </a:p>
          <a:p>
            <a:pPr indent="0" lvl="0" marL="0" rtl="0" algn="l">
              <a:lnSpc>
                <a:spcPct val="100000"/>
              </a:lnSpc>
              <a:spcBef>
                <a:spcPts val="1000"/>
              </a:spcBef>
              <a:spcAft>
                <a:spcPts val="0"/>
              </a:spcAft>
              <a:buNone/>
            </a:pPr>
            <a:r>
              <a:rPr lang="en-GB"/>
              <a:t>There are 6 red flowers.</a:t>
            </a:r>
            <a:endParaRPr/>
          </a:p>
          <a:p>
            <a:pPr indent="0" lvl="0" marL="0" rtl="0" algn="l">
              <a:lnSpc>
                <a:spcPct val="100000"/>
              </a:lnSpc>
              <a:spcBef>
                <a:spcPts val="1000"/>
              </a:spcBef>
              <a:spcAft>
                <a:spcPts val="1000"/>
              </a:spcAft>
              <a:buNone/>
            </a:pPr>
            <a:r>
              <a:rPr lang="en-GB"/>
              <a:t>How many </a:t>
            </a:r>
            <a:r>
              <a:rPr lang="en-GB">
                <a:solidFill>
                  <a:schemeClr val="accent4"/>
                </a:solidFill>
              </a:rPr>
              <a:t>yellow flowers</a:t>
            </a:r>
            <a:r>
              <a:rPr lang="en-GB"/>
              <a:t> are in the bunch?  </a:t>
            </a:r>
            <a:endParaRPr/>
          </a:p>
        </p:txBody>
      </p:sp>
      <p:pic>
        <p:nvPicPr>
          <p:cNvPr id="818" name="Google Shape;818;p69"/>
          <p:cNvPicPr preferRelativeResize="0"/>
          <p:nvPr/>
        </p:nvPicPr>
        <p:blipFill>
          <a:blip r:embed="rId3">
            <a:alphaModFix/>
          </a:blip>
          <a:stretch>
            <a:fillRect/>
          </a:stretch>
        </p:blipFill>
        <p:spPr>
          <a:xfrm>
            <a:off x="7008400" y="1121398"/>
            <a:ext cx="887698" cy="1038607"/>
          </a:xfrm>
          <a:prstGeom prst="rect">
            <a:avLst/>
          </a:prstGeom>
          <a:noFill/>
          <a:ln>
            <a:noFill/>
          </a:ln>
        </p:spPr>
      </p:pic>
      <p:pic>
        <p:nvPicPr>
          <p:cNvPr id="819" name="Google Shape;819;p69"/>
          <p:cNvPicPr preferRelativeResize="0"/>
          <p:nvPr/>
        </p:nvPicPr>
        <p:blipFill>
          <a:blip r:embed="rId4">
            <a:alphaModFix/>
          </a:blip>
          <a:stretch>
            <a:fillRect/>
          </a:stretch>
        </p:blipFill>
        <p:spPr>
          <a:xfrm>
            <a:off x="7827382" y="759300"/>
            <a:ext cx="918767" cy="1065238"/>
          </a:xfrm>
          <a:prstGeom prst="rect">
            <a:avLst/>
          </a:prstGeom>
          <a:noFill/>
          <a:ln>
            <a:noFill/>
          </a:ln>
        </p:spPr>
      </p:pic>
      <p:sp>
        <p:nvSpPr>
          <p:cNvPr id="820" name="Google Shape;820;p69"/>
          <p:cNvSpPr txBox="1"/>
          <p:nvPr/>
        </p:nvSpPr>
        <p:spPr>
          <a:xfrm>
            <a:off x="353075" y="3009700"/>
            <a:ext cx="11490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Red</a:t>
            </a:r>
            <a:endParaRPr sz="2200">
              <a:latin typeface="Lexend"/>
              <a:ea typeface="Lexend"/>
              <a:cs typeface="Lexend"/>
              <a:sym typeface="Lexend"/>
            </a:endParaRPr>
          </a:p>
        </p:txBody>
      </p:sp>
      <p:sp>
        <p:nvSpPr>
          <p:cNvPr id="821" name="Google Shape;821;p69"/>
          <p:cNvSpPr txBox="1"/>
          <p:nvPr/>
        </p:nvSpPr>
        <p:spPr>
          <a:xfrm>
            <a:off x="324000" y="3611700"/>
            <a:ext cx="8877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Yellow</a:t>
            </a:r>
            <a:endParaRPr sz="2200">
              <a:latin typeface="Lexend"/>
              <a:ea typeface="Lexend"/>
              <a:cs typeface="Lexend"/>
              <a:sym typeface="Lexend"/>
            </a:endParaRPr>
          </a:p>
        </p:txBody>
      </p:sp>
      <p:graphicFrame>
        <p:nvGraphicFramePr>
          <p:cNvPr id="822" name="Google Shape;822;p69"/>
          <p:cNvGraphicFramePr/>
          <p:nvPr/>
        </p:nvGraphicFramePr>
        <p:xfrm>
          <a:off x="1714500" y="3013950"/>
          <a:ext cx="3000000" cy="3000000"/>
        </p:xfrm>
        <a:graphic>
          <a:graphicData uri="http://schemas.openxmlformats.org/drawingml/2006/table">
            <a:tbl>
              <a:tblPr>
                <a:noFill/>
                <a:tableStyleId>{6300B9EF-BFE0-4A47-A372-9612E9D491EC}</a:tableStyleId>
              </a:tblPr>
              <a:tblGrid>
                <a:gridCol w="926125"/>
                <a:gridCol w="926125"/>
                <a:gridCol w="926125"/>
              </a:tblGrid>
              <a:tr h="381000">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graphicFrame>
        <p:nvGraphicFramePr>
          <p:cNvPr id="823" name="Google Shape;823;p69"/>
          <p:cNvGraphicFramePr/>
          <p:nvPr/>
        </p:nvGraphicFramePr>
        <p:xfrm>
          <a:off x="1714500" y="3609575"/>
          <a:ext cx="3000000" cy="3000000"/>
        </p:xfrm>
        <a:graphic>
          <a:graphicData uri="http://schemas.openxmlformats.org/drawingml/2006/table">
            <a:tbl>
              <a:tblPr>
                <a:noFill/>
                <a:tableStyleId>{6300B9EF-BFE0-4A47-A372-9612E9D491EC}</a:tableStyleId>
              </a:tblPr>
              <a:tblGrid>
                <a:gridCol w="926125"/>
                <a:gridCol w="926125"/>
                <a:gridCol w="926125"/>
                <a:gridCol w="926125"/>
                <a:gridCol w="926125"/>
              </a:tblGrid>
              <a:tr h="381000">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824" name="Google Shape;824;p69"/>
          <p:cNvSpPr/>
          <p:nvPr/>
        </p:nvSpPr>
        <p:spPr>
          <a:xfrm rot="-5400000">
            <a:off x="3932050" y="1877100"/>
            <a:ext cx="199800" cy="46344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5" name="Google Shape;825;p69"/>
          <p:cNvSpPr txBox="1"/>
          <p:nvPr/>
        </p:nvSpPr>
        <p:spPr>
          <a:xfrm>
            <a:off x="2545350" y="4382800"/>
            <a:ext cx="16485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5</a:t>
            </a:r>
            <a:r>
              <a:rPr lang="en-GB" sz="2200">
                <a:latin typeface="Lexend"/>
                <a:ea typeface="Lexend"/>
                <a:cs typeface="Lexend"/>
                <a:sym typeface="Lexend"/>
              </a:rPr>
              <a:t> × 2 = 10</a:t>
            </a:r>
            <a:endParaRPr sz="2200">
              <a:latin typeface="Lexend"/>
              <a:ea typeface="Lexend"/>
              <a:cs typeface="Lexend"/>
              <a:sym typeface="Lexend"/>
            </a:endParaRPr>
          </a:p>
        </p:txBody>
      </p:sp>
      <p:sp>
        <p:nvSpPr>
          <p:cNvPr id="826" name="Google Shape;826;p69"/>
          <p:cNvSpPr txBox="1"/>
          <p:nvPr/>
        </p:nvSpPr>
        <p:spPr>
          <a:xfrm>
            <a:off x="2997125" y="2353250"/>
            <a:ext cx="14079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6</a:t>
            </a:r>
            <a:r>
              <a:rPr lang="en-GB" sz="2200">
                <a:latin typeface="Lexend"/>
                <a:ea typeface="Lexend"/>
                <a:cs typeface="Lexend"/>
                <a:sym typeface="Lexend"/>
              </a:rPr>
              <a:t> ÷ 3 = 2</a:t>
            </a:r>
            <a:endParaRPr sz="2200">
              <a:latin typeface="Lexend"/>
              <a:ea typeface="Lexend"/>
              <a:cs typeface="Lexend"/>
              <a:sym typeface="Lexend"/>
            </a:endParaRPr>
          </a:p>
        </p:txBody>
      </p:sp>
      <p:sp>
        <p:nvSpPr>
          <p:cNvPr id="827" name="Google Shape;827;p69"/>
          <p:cNvSpPr/>
          <p:nvPr/>
        </p:nvSpPr>
        <p:spPr>
          <a:xfrm rot="5400000">
            <a:off x="3004900" y="1430850"/>
            <a:ext cx="199800" cy="27801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28" name="Google Shape;828;p69"/>
          <p:cNvGrpSpPr/>
          <p:nvPr/>
        </p:nvGrpSpPr>
        <p:grpSpPr>
          <a:xfrm>
            <a:off x="2108112" y="3055694"/>
            <a:ext cx="2029244" cy="358500"/>
            <a:chOff x="2108112" y="2903294"/>
            <a:chExt cx="2029244" cy="358500"/>
          </a:xfrm>
        </p:grpSpPr>
        <p:sp>
          <p:nvSpPr>
            <p:cNvPr id="829" name="Google Shape;829;p69"/>
            <p:cNvSpPr txBox="1"/>
            <p:nvPr/>
          </p:nvSpPr>
          <p:spPr>
            <a:xfrm>
              <a:off x="2108112" y="2903294"/>
              <a:ext cx="199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p:txBody>
        </p:sp>
        <p:sp>
          <p:nvSpPr>
            <p:cNvPr id="830" name="Google Shape;830;p69"/>
            <p:cNvSpPr txBox="1"/>
            <p:nvPr/>
          </p:nvSpPr>
          <p:spPr>
            <a:xfrm>
              <a:off x="3004912" y="2903294"/>
              <a:ext cx="199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p:txBody>
        </p:sp>
        <p:sp>
          <p:nvSpPr>
            <p:cNvPr id="831" name="Google Shape;831;p69"/>
            <p:cNvSpPr txBox="1"/>
            <p:nvPr/>
          </p:nvSpPr>
          <p:spPr>
            <a:xfrm>
              <a:off x="3937556" y="2903294"/>
              <a:ext cx="199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p:txBody>
        </p:sp>
      </p:grpSp>
      <p:grpSp>
        <p:nvGrpSpPr>
          <p:cNvPr id="832" name="Google Shape;832;p69"/>
          <p:cNvGrpSpPr/>
          <p:nvPr/>
        </p:nvGrpSpPr>
        <p:grpSpPr>
          <a:xfrm>
            <a:off x="2108112" y="3628413"/>
            <a:ext cx="3894544" cy="387750"/>
            <a:chOff x="2108112" y="3476013"/>
            <a:chExt cx="3894544" cy="387750"/>
          </a:xfrm>
        </p:grpSpPr>
        <p:sp>
          <p:nvSpPr>
            <p:cNvPr id="833" name="Google Shape;833;p69"/>
            <p:cNvSpPr txBox="1"/>
            <p:nvPr/>
          </p:nvSpPr>
          <p:spPr>
            <a:xfrm>
              <a:off x="2108112" y="3505263"/>
              <a:ext cx="199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p:txBody>
        </p:sp>
        <p:sp>
          <p:nvSpPr>
            <p:cNvPr id="834" name="Google Shape;834;p69"/>
            <p:cNvSpPr txBox="1"/>
            <p:nvPr/>
          </p:nvSpPr>
          <p:spPr>
            <a:xfrm>
              <a:off x="3004912" y="3505263"/>
              <a:ext cx="199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p:txBody>
        </p:sp>
        <p:sp>
          <p:nvSpPr>
            <p:cNvPr id="835" name="Google Shape;835;p69"/>
            <p:cNvSpPr txBox="1"/>
            <p:nvPr/>
          </p:nvSpPr>
          <p:spPr>
            <a:xfrm>
              <a:off x="3937556" y="3476013"/>
              <a:ext cx="199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p:txBody>
        </p:sp>
        <p:sp>
          <p:nvSpPr>
            <p:cNvPr id="836" name="Google Shape;836;p69"/>
            <p:cNvSpPr txBox="1"/>
            <p:nvPr/>
          </p:nvSpPr>
          <p:spPr>
            <a:xfrm>
              <a:off x="4870206" y="3476013"/>
              <a:ext cx="199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p:txBody>
        </p:sp>
        <p:sp>
          <p:nvSpPr>
            <p:cNvPr id="837" name="Google Shape;837;p69"/>
            <p:cNvSpPr txBox="1"/>
            <p:nvPr/>
          </p:nvSpPr>
          <p:spPr>
            <a:xfrm>
              <a:off x="5802856" y="3476013"/>
              <a:ext cx="199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p:txBody>
        </p:sp>
      </p:grpSp>
      <p:sp>
        <p:nvSpPr>
          <p:cNvPr id="838" name="Google Shape;838;p69"/>
          <p:cNvSpPr/>
          <p:nvPr/>
        </p:nvSpPr>
        <p:spPr>
          <a:xfrm>
            <a:off x="3236394" y="2330744"/>
            <a:ext cx="1083600" cy="335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bar model to find one part</a:t>
            </a:r>
            <a:endParaRPr/>
          </a:p>
        </p:txBody>
      </p:sp>
      <p:sp>
        <p:nvSpPr>
          <p:cNvPr id="844" name="Google Shape;844;p70"/>
          <p:cNvSpPr txBox="1"/>
          <p:nvPr>
            <p:ph idx="1" type="body"/>
          </p:nvPr>
        </p:nvSpPr>
        <p:spPr>
          <a:xfrm>
            <a:off x="324000" y="649050"/>
            <a:ext cx="8496000" cy="140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ratio of flour to butter to sugar in a cookie recipe is 3</a:t>
            </a:r>
            <a:r>
              <a:rPr lang="en-GB" sz="2000"/>
              <a:t> </a:t>
            </a:r>
            <a:r>
              <a:rPr lang="en-GB"/>
              <a:t>:</a:t>
            </a:r>
            <a:r>
              <a:rPr lang="en-GB" sz="2000"/>
              <a:t> </a:t>
            </a:r>
            <a:r>
              <a:rPr lang="en-GB"/>
              <a:t>2</a:t>
            </a:r>
            <a:r>
              <a:rPr lang="en-GB" sz="2000"/>
              <a:t> </a:t>
            </a:r>
            <a:r>
              <a:rPr lang="en-GB"/>
              <a:t>:</a:t>
            </a:r>
            <a:r>
              <a:rPr lang="en-GB" sz="2000"/>
              <a:t> </a:t>
            </a:r>
            <a:r>
              <a:rPr lang="en-GB"/>
              <a:t>1</a:t>
            </a:r>
            <a:endParaRPr/>
          </a:p>
          <a:p>
            <a:pPr indent="0" lvl="0" marL="0" rtl="0" algn="l">
              <a:spcBef>
                <a:spcPts val="1000"/>
              </a:spcBef>
              <a:spcAft>
                <a:spcPts val="0"/>
              </a:spcAft>
              <a:buNone/>
            </a:pPr>
            <a:r>
              <a:rPr lang="en-GB"/>
              <a:t>You use 60g of flour.</a:t>
            </a:r>
            <a:endParaRPr/>
          </a:p>
          <a:p>
            <a:pPr indent="0" lvl="0" marL="0" rtl="0" algn="l">
              <a:spcBef>
                <a:spcPts val="1000"/>
              </a:spcBef>
              <a:spcAft>
                <a:spcPts val="0"/>
              </a:spcAft>
              <a:buNone/>
            </a:pPr>
            <a:r>
              <a:rPr lang="en-GB"/>
              <a:t>How much </a:t>
            </a:r>
            <a:r>
              <a:rPr lang="en-GB">
                <a:solidFill>
                  <a:schemeClr val="accent4"/>
                </a:solidFill>
              </a:rPr>
              <a:t>butter</a:t>
            </a:r>
            <a:r>
              <a:rPr lang="en-GB"/>
              <a:t> is used?</a:t>
            </a:r>
            <a:endParaRPr/>
          </a:p>
          <a:p>
            <a:pPr indent="0" lvl="0" marL="0" rtl="0" algn="l">
              <a:spcBef>
                <a:spcPts val="1000"/>
              </a:spcBef>
              <a:spcAft>
                <a:spcPts val="1000"/>
              </a:spcAft>
              <a:buClr>
                <a:schemeClr val="dk1"/>
              </a:buClr>
              <a:buSzPts val="1100"/>
              <a:buFont typeface="Arial"/>
              <a:buNone/>
            </a:pPr>
            <a:r>
              <a:t/>
            </a:r>
            <a:endParaRPr/>
          </a:p>
        </p:txBody>
      </p:sp>
      <p:sp>
        <p:nvSpPr>
          <p:cNvPr id="845" name="Google Shape;845;p70"/>
          <p:cNvSpPr txBox="1"/>
          <p:nvPr/>
        </p:nvSpPr>
        <p:spPr>
          <a:xfrm>
            <a:off x="414100" y="2973156"/>
            <a:ext cx="785100" cy="313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Flour</a:t>
            </a:r>
            <a:endParaRPr sz="2200">
              <a:latin typeface="Lexend"/>
              <a:ea typeface="Lexend"/>
              <a:cs typeface="Lexend"/>
              <a:sym typeface="Lexend"/>
            </a:endParaRPr>
          </a:p>
        </p:txBody>
      </p:sp>
      <p:sp>
        <p:nvSpPr>
          <p:cNvPr id="846" name="Google Shape;846;p70"/>
          <p:cNvSpPr txBox="1"/>
          <p:nvPr/>
        </p:nvSpPr>
        <p:spPr>
          <a:xfrm>
            <a:off x="414100" y="3604356"/>
            <a:ext cx="995700" cy="313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Butter</a:t>
            </a:r>
            <a:endParaRPr sz="2200">
              <a:latin typeface="Lexend"/>
              <a:ea typeface="Lexend"/>
              <a:cs typeface="Lexend"/>
              <a:sym typeface="Lexend"/>
            </a:endParaRPr>
          </a:p>
        </p:txBody>
      </p:sp>
      <p:sp>
        <p:nvSpPr>
          <p:cNvPr id="847" name="Google Shape;847;p70"/>
          <p:cNvSpPr txBox="1"/>
          <p:nvPr/>
        </p:nvSpPr>
        <p:spPr>
          <a:xfrm>
            <a:off x="414100" y="4235556"/>
            <a:ext cx="995700" cy="313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Sugar</a:t>
            </a:r>
            <a:endParaRPr sz="2200">
              <a:latin typeface="Lexend"/>
              <a:ea typeface="Lexend"/>
              <a:cs typeface="Lexend"/>
              <a:sym typeface="Lexend"/>
            </a:endParaRPr>
          </a:p>
        </p:txBody>
      </p:sp>
      <p:graphicFrame>
        <p:nvGraphicFramePr>
          <p:cNvPr id="848" name="Google Shape;848;p70"/>
          <p:cNvGraphicFramePr/>
          <p:nvPr/>
        </p:nvGraphicFramePr>
        <p:xfrm>
          <a:off x="1409700" y="2914650"/>
          <a:ext cx="3000000" cy="3000000"/>
        </p:xfrm>
        <a:graphic>
          <a:graphicData uri="http://schemas.openxmlformats.org/drawingml/2006/table">
            <a:tbl>
              <a:tblPr>
                <a:noFill/>
                <a:tableStyleId>{6300B9EF-BFE0-4A47-A372-9612E9D491EC}</a:tableStyleId>
              </a:tblPr>
              <a:tblGrid>
                <a:gridCol w="805700"/>
                <a:gridCol w="805700"/>
                <a:gridCol w="805700"/>
              </a:tblGrid>
              <a:tr h="381000">
                <a:tc>
                  <a:txBody>
                    <a:bodyPr/>
                    <a:lstStyle/>
                    <a:p>
                      <a:pPr indent="0" lvl="0" marL="0" rtl="0" algn="l">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849" name="Google Shape;849;p70"/>
          <p:cNvGraphicFramePr/>
          <p:nvPr/>
        </p:nvGraphicFramePr>
        <p:xfrm>
          <a:off x="1409700" y="3562350"/>
          <a:ext cx="3000000" cy="3000000"/>
        </p:xfrm>
        <a:graphic>
          <a:graphicData uri="http://schemas.openxmlformats.org/drawingml/2006/table">
            <a:tbl>
              <a:tblPr>
                <a:noFill/>
                <a:tableStyleId>{6300B9EF-BFE0-4A47-A372-9612E9D491EC}</a:tableStyleId>
              </a:tblPr>
              <a:tblGrid>
                <a:gridCol w="805700"/>
                <a:gridCol w="805700"/>
              </a:tblGrid>
              <a:tr h="381000">
                <a:tc>
                  <a:txBody>
                    <a:bodyPr/>
                    <a:lstStyle/>
                    <a:p>
                      <a:pPr indent="0" lvl="0" marL="0" rtl="0" algn="l">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graphicFrame>
        <p:nvGraphicFramePr>
          <p:cNvPr id="850" name="Google Shape;850;p70"/>
          <p:cNvGraphicFramePr/>
          <p:nvPr/>
        </p:nvGraphicFramePr>
        <p:xfrm>
          <a:off x="1409700" y="4210050"/>
          <a:ext cx="3000000" cy="3000000"/>
        </p:xfrm>
        <a:graphic>
          <a:graphicData uri="http://schemas.openxmlformats.org/drawingml/2006/table">
            <a:tbl>
              <a:tblPr>
                <a:noFill/>
                <a:tableStyleId>{6300B9EF-BFE0-4A47-A372-9612E9D491EC}</a:tableStyleId>
              </a:tblPr>
              <a:tblGrid>
                <a:gridCol w="805700"/>
              </a:tblGrid>
              <a:tr h="381000">
                <a:tc>
                  <a:txBody>
                    <a:bodyPr/>
                    <a:lstStyle/>
                    <a:p>
                      <a:pPr indent="0" lvl="0" marL="0" rtl="0" algn="l">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851" name="Google Shape;851;p70"/>
          <p:cNvSpPr txBox="1"/>
          <p:nvPr/>
        </p:nvSpPr>
        <p:spPr>
          <a:xfrm>
            <a:off x="2335494" y="2261159"/>
            <a:ext cx="2104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60</a:t>
            </a:r>
            <a:r>
              <a:rPr lang="en-GB" sz="2200">
                <a:latin typeface="Lexend"/>
                <a:ea typeface="Lexend"/>
                <a:cs typeface="Lexend"/>
                <a:sym typeface="Lexend"/>
              </a:rPr>
              <a:t> g ÷ 3 = 20 g</a:t>
            </a:r>
            <a:endParaRPr sz="2200">
              <a:latin typeface="Lexend"/>
              <a:ea typeface="Lexend"/>
              <a:cs typeface="Lexend"/>
              <a:sym typeface="Lexend"/>
            </a:endParaRPr>
          </a:p>
        </p:txBody>
      </p:sp>
      <p:sp>
        <p:nvSpPr>
          <p:cNvPr id="852" name="Google Shape;852;p70"/>
          <p:cNvSpPr/>
          <p:nvPr/>
        </p:nvSpPr>
        <p:spPr>
          <a:xfrm rot="5400000">
            <a:off x="2514350" y="1540500"/>
            <a:ext cx="199800" cy="24084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53" name="Google Shape;853;p70"/>
          <p:cNvGrpSpPr/>
          <p:nvPr/>
        </p:nvGrpSpPr>
        <p:grpSpPr>
          <a:xfrm>
            <a:off x="1437974" y="2950650"/>
            <a:ext cx="2409451" cy="358500"/>
            <a:chOff x="1437974" y="2950650"/>
            <a:chExt cx="2409451" cy="358500"/>
          </a:xfrm>
        </p:grpSpPr>
        <p:sp>
          <p:nvSpPr>
            <p:cNvPr id="854" name="Google Shape;854;p70"/>
            <p:cNvSpPr txBox="1"/>
            <p:nvPr/>
          </p:nvSpPr>
          <p:spPr>
            <a:xfrm>
              <a:off x="1437974" y="2950650"/>
              <a:ext cx="7851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20</a:t>
              </a:r>
              <a:r>
                <a:rPr lang="en-GB" sz="2200">
                  <a:latin typeface="Lexend"/>
                  <a:ea typeface="Lexend"/>
                  <a:cs typeface="Lexend"/>
                  <a:sym typeface="Lexend"/>
                </a:rPr>
                <a:t> g</a:t>
              </a:r>
              <a:endParaRPr sz="2200">
                <a:latin typeface="Lexend"/>
                <a:ea typeface="Lexend"/>
                <a:cs typeface="Lexend"/>
                <a:sym typeface="Lexend"/>
              </a:endParaRPr>
            </a:p>
          </p:txBody>
        </p:sp>
        <p:sp>
          <p:nvSpPr>
            <p:cNvPr id="855" name="Google Shape;855;p70"/>
            <p:cNvSpPr txBox="1"/>
            <p:nvPr/>
          </p:nvSpPr>
          <p:spPr>
            <a:xfrm>
              <a:off x="2266050" y="2950650"/>
              <a:ext cx="712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20</a:t>
              </a:r>
              <a:r>
                <a:rPr lang="en-GB" sz="2200">
                  <a:latin typeface="Lexend"/>
                  <a:ea typeface="Lexend"/>
                  <a:cs typeface="Lexend"/>
                  <a:sym typeface="Lexend"/>
                </a:rPr>
                <a:t> g</a:t>
              </a:r>
              <a:endParaRPr sz="2200">
                <a:latin typeface="Lexend"/>
                <a:ea typeface="Lexend"/>
                <a:cs typeface="Lexend"/>
                <a:sym typeface="Lexend"/>
              </a:endParaRPr>
            </a:p>
          </p:txBody>
        </p:sp>
        <p:sp>
          <p:nvSpPr>
            <p:cNvPr id="856" name="Google Shape;856;p70"/>
            <p:cNvSpPr txBox="1"/>
            <p:nvPr/>
          </p:nvSpPr>
          <p:spPr>
            <a:xfrm>
              <a:off x="3062325" y="2950650"/>
              <a:ext cx="7851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20</a:t>
              </a:r>
              <a:r>
                <a:rPr lang="en-GB" sz="2200">
                  <a:latin typeface="Lexend"/>
                  <a:ea typeface="Lexend"/>
                  <a:cs typeface="Lexend"/>
                  <a:sym typeface="Lexend"/>
                </a:rPr>
                <a:t> g</a:t>
              </a:r>
              <a:endParaRPr sz="2200">
                <a:latin typeface="Lexend"/>
                <a:ea typeface="Lexend"/>
                <a:cs typeface="Lexend"/>
                <a:sym typeface="Lexend"/>
              </a:endParaRPr>
            </a:p>
          </p:txBody>
        </p:sp>
      </p:grpSp>
      <p:grpSp>
        <p:nvGrpSpPr>
          <p:cNvPr id="857" name="Google Shape;857;p70"/>
          <p:cNvGrpSpPr/>
          <p:nvPr/>
        </p:nvGrpSpPr>
        <p:grpSpPr>
          <a:xfrm>
            <a:off x="1437975" y="3581625"/>
            <a:ext cx="1570200" cy="1001550"/>
            <a:chOff x="1437975" y="3581625"/>
            <a:chExt cx="1570200" cy="1001550"/>
          </a:xfrm>
        </p:grpSpPr>
        <p:sp>
          <p:nvSpPr>
            <p:cNvPr id="858" name="Google Shape;858;p70"/>
            <p:cNvSpPr txBox="1"/>
            <p:nvPr/>
          </p:nvSpPr>
          <p:spPr>
            <a:xfrm>
              <a:off x="1437975" y="3581625"/>
              <a:ext cx="7851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20</a:t>
              </a:r>
              <a:r>
                <a:rPr lang="en-GB" sz="2200">
                  <a:latin typeface="Lexend"/>
                  <a:ea typeface="Lexend"/>
                  <a:cs typeface="Lexend"/>
                  <a:sym typeface="Lexend"/>
                </a:rPr>
                <a:t> g</a:t>
              </a:r>
              <a:endParaRPr sz="2200">
                <a:latin typeface="Lexend"/>
                <a:ea typeface="Lexend"/>
                <a:cs typeface="Lexend"/>
                <a:sym typeface="Lexend"/>
              </a:endParaRPr>
            </a:p>
          </p:txBody>
        </p:sp>
        <p:sp>
          <p:nvSpPr>
            <p:cNvPr id="859" name="Google Shape;859;p70"/>
            <p:cNvSpPr txBox="1"/>
            <p:nvPr/>
          </p:nvSpPr>
          <p:spPr>
            <a:xfrm>
              <a:off x="2223075" y="3581625"/>
              <a:ext cx="7851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20</a:t>
              </a:r>
              <a:r>
                <a:rPr lang="en-GB" sz="2200">
                  <a:latin typeface="Lexend"/>
                  <a:ea typeface="Lexend"/>
                  <a:cs typeface="Lexend"/>
                  <a:sym typeface="Lexend"/>
                </a:rPr>
                <a:t> g</a:t>
              </a:r>
              <a:endParaRPr sz="2200">
                <a:latin typeface="Lexend"/>
                <a:ea typeface="Lexend"/>
                <a:cs typeface="Lexend"/>
                <a:sym typeface="Lexend"/>
              </a:endParaRPr>
            </a:p>
          </p:txBody>
        </p:sp>
        <p:sp>
          <p:nvSpPr>
            <p:cNvPr id="860" name="Google Shape;860;p70"/>
            <p:cNvSpPr txBox="1"/>
            <p:nvPr/>
          </p:nvSpPr>
          <p:spPr>
            <a:xfrm>
              <a:off x="1437975" y="4224675"/>
              <a:ext cx="7851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20</a:t>
              </a:r>
              <a:r>
                <a:rPr lang="en-GB" sz="2200">
                  <a:latin typeface="Lexend"/>
                  <a:ea typeface="Lexend"/>
                  <a:cs typeface="Lexend"/>
                  <a:sym typeface="Lexend"/>
                </a:rPr>
                <a:t> g</a:t>
              </a:r>
              <a:endParaRPr sz="2200">
                <a:latin typeface="Lexend"/>
                <a:ea typeface="Lexend"/>
                <a:cs typeface="Lexend"/>
                <a:sym typeface="Lexend"/>
              </a:endParaRPr>
            </a:p>
          </p:txBody>
        </p:sp>
      </p:grpSp>
      <p:sp>
        <p:nvSpPr>
          <p:cNvPr id="861" name="Google Shape;861;p70"/>
          <p:cNvSpPr/>
          <p:nvPr/>
        </p:nvSpPr>
        <p:spPr>
          <a:xfrm rot="10800000">
            <a:off x="3062325" y="3562374"/>
            <a:ext cx="199800" cy="4059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2" name="Google Shape;862;p70"/>
          <p:cNvSpPr txBox="1"/>
          <p:nvPr/>
        </p:nvSpPr>
        <p:spPr>
          <a:xfrm>
            <a:off x="3303350" y="3574750"/>
            <a:ext cx="2104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2</a:t>
            </a:r>
            <a:r>
              <a:rPr lang="en-GB" sz="2200">
                <a:latin typeface="Lexend"/>
                <a:ea typeface="Lexend"/>
                <a:cs typeface="Lexend"/>
                <a:sym typeface="Lexend"/>
              </a:rPr>
              <a:t> × 20 g = 40 g</a:t>
            </a:r>
            <a:endParaRPr sz="2200">
              <a:latin typeface="Lexend"/>
              <a:ea typeface="Lexend"/>
              <a:cs typeface="Lexend"/>
              <a:sym typeface="Lexend"/>
            </a:endParaRPr>
          </a:p>
        </p:txBody>
      </p:sp>
      <p:sp>
        <p:nvSpPr>
          <p:cNvPr id="863" name="Google Shape;863;p70"/>
          <p:cNvSpPr txBox="1"/>
          <p:nvPr/>
        </p:nvSpPr>
        <p:spPr>
          <a:xfrm>
            <a:off x="4059300" y="4287450"/>
            <a:ext cx="43281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Kalam"/>
                <a:ea typeface="Kalam"/>
                <a:cs typeface="Kalam"/>
                <a:sym typeface="Kalam"/>
              </a:rPr>
              <a:t>The cookie will have 40 g of butter.</a:t>
            </a:r>
            <a:endParaRPr sz="2200">
              <a:latin typeface="Kalam"/>
              <a:ea typeface="Kalam"/>
              <a:cs typeface="Kalam"/>
              <a:sym typeface="Kalam"/>
            </a:endParaRPr>
          </a:p>
        </p:txBody>
      </p:sp>
      <p:sp>
        <p:nvSpPr>
          <p:cNvPr id="864" name="Google Shape;864;p70"/>
          <p:cNvSpPr/>
          <p:nvPr/>
        </p:nvSpPr>
        <p:spPr>
          <a:xfrm>
            <a:off x="2978750" y="2228062"/>
            <a:ext cx="1374300" cy="381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bar model to find one part</a:t>
            </a:r>
            <a:endParaRPr/>
          </a:p>
        </p:txBody>
      </p:sp>
      <p:sp>
        <p:nvSpPr>
          <p:cNvPr id="870" name="Google Shape;870;p71"/>
          <p:cNvSpPr txBox="1"/>
          <p:nvPr>
            <p:ph idx="1" type="body"/>
          </p:nvPr>
        </p:nvSpPr>
        <p:spPr>
          <a:xfrm>
            <a:off x="324000" y="606900"/>
            <a:ext cx="8237700" cy="1862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Spot the mistake.</a:t>
            </a:r>
            <a:endParaRPr sz="2000"/>
          </a:p>
          <a:p>
            <a:pPr indent="0" lvl="0" marL="0" rtl="0" algn="l">
              <a:spcBef>
                <a:spcPts val="1000"/>
              </a:spcBef>
              <a:spcAft>
                <a:spcPts val="0"/>
              </a:spcAft>
              <a:buNone/>
            </a:pPr>
            <a:r>
              <a:rPr lang="en-GB" sz="2000"/>
              <a:t>The ratio of red to blue cars in a car park is 5 : 2</a:t>
            </a:r>
            <a:endParaRPr sz="2000"/>
          </a:p>
          <a:p>
            <a:pPr indent="0" lvl="0" marL="0" rtl="0" algn="l">
              <a:spcBef>
                <a:spcPts val="1000"/>
              </a:spcBef>
              <a:spcAft>
                <a:spcPts val="0"/>
              </a:spcAft>
              <a:buNone/>
            </a:pPr>
            <a:r>
              <a:rPr lang="en-GB" sz="2000"/>
              <a:t>There are 100 blue cars.</a:t>
            </a:r>
            <a:endParaRPr sz="2000"/>
          </a:p>
          <a:p>
            <a:pPr indent="0" lvl="0" marL="0" rtl="0" algn="l">
              <a:spcBef>
                <a:spcPts val="1000"/>
              </a:spcBef>
              <a:spcAft>
                <a:spcPts val="1000"/>
              </a:spcAft>
              <a:buNone/>
            </a:pPr>
            <a:r>
              <a:rPr lang="en-GB" sz="2000"/>
              <a:t>How many </a:t>
            </a:r>
            <a:r>
              <a:rPr lang="en-GB" sz="2000">
                <a:solidFill>
                  <a:schemeClr val="accent4"/>
                </a:solidFill>
              </a:rPr>
              <a:t>red</a:t>
            </a:r>
            <a:r>
              <a:rPr lang="en-GB" sz="2000"/>
              <a:t> cars are there? </a:t>
            </a:r>
            <a:endParaRPr sz="2000"/>
          </a:p>
        </p:txBody>
      </p:sp>
      <p:pic>
        <p:nvPicPr>
          <p:cNvPr id="871" name="Google Shape;871;p71"/>
          <p:cNvPicPr preferRelativeResize="0"/>
          <p:nvPr/>
        </p:nvPicPr>
        <p:blipFill>
          <a:blip r:embed="rId3">
            <a:alphaModFix/>
          </a:blip>
          <a:stretch>
            <a:fillRect/>
          </a:stretch>
        </p:blipFill>
        <p:spPr>
          <a:xfrm flipH="1">
            <a:off x="7007451" y="1486521"/>
            <a:ext cx="1582873" cy="749686"/>
          </a:xfrm>
          <a:prstGeom prst="rect">
            <a:avLst/>
          </a:prstGeom>
          <a:noFill/>
          <a:ln>
            <a:noFill/>
          </a:ln>
        </p:spPr>
      </p:pic>
      <p:pic>
        <p:nvPicPr>
          <p:cNvPr id="872" name="Google Shape;872;p71"/>
          <p:cNvPicPr preferRelativeResize="0"/>
          <p:nvPr/>
        </p:nvPicPr>
        <p:blipFill>
          <a:blip r:embed="rId4">
            <a:alphaModFix/>
          </a:blip>
          <a:stretch>
            <a:fillRect/>
          </a:stretch>
        </p:blipFill>
        <p:spPr>
          <a:xfrm flipH="1">
            <a:off x="7237122" y="716945"/>
            <a:ext cx="1582873" cy="749686"/>
          </a:xfrm>
          <a:prstGeom prst="rect">
            <a:avLst/>
          </a:prstGeom>
          <a:noFill/>
          <a:ln>
            <a:noFill/>
          </a:ln>
        </p:spPr>
      </p:pic>
      <p:graphicFrame>
        <p:nvGraphicFramePr>
          <p:cNvPr id="873" name="Google Shape;873;p71"/>
          <p:cNvGraphicFramePr/>
          <p:nvPr/>
        </p:nvGraphicFramePr>
        <p:xfrm>
          <a:off x="1227588" y="2902700"/>
          <a:ext cx="3000000" cy="3000000"/>
        </p:xfrm>
        <a:graphic>
          <a:graphicData uri="http://schemas.openxmlformats.org/drawingml/2006/table">
            <a:tbl>
              <a:tblPr>
                <a:noFill/>
                <a:tableStyleId>{6300B9EF-BFE0-4A47-A372-9612E9D491EC}</a:tableStyleId>
              </a:tblPr>
              <a:tblGrid>
                <a:gridCol w="555675"/>
                <a:gridCol w="555675"/>
                <a:gridCol w="555675"/>
                <a:gridCol w="555675"/>
                <a:gridCol w="555675"/>
              </a:tblGrid>
              <a:tr h="381000">
                <a:tc>
                  <a:txBody>
                    <a:bodyPr/>
                    <a:lstStyle/>
                    <a:p>
                      <a:pPr indent="0" lvl="0" marL="0" rtl="0" algn="l">
                        <a:spcBef>
                          <a:spcPts val="0"/>
                        </a:spcBef>
                        <a:spcAft>
                          <a:spcPts val="0"/>
                        </a:spcAft>
                        <a:buNone/>
                      </a:pPr>
                      <a:r>
                        <a:t/>
                      </a:r>
                      <a:endParaRPr sz="2200"/>
                    </a:p>
                  </a:txBody>
                  <a:tcPr marT="0" marB="0" marR="91425"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p>
                  </a:txBody>
                  <a:tcPr marT="0" marB="0" marR="91425"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p>
                  </a:txBody>
                  <a:tcPr marT="0" marB="0" marR="91425"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p>
                  </a:txBody>
                  <a:tcPr marT="0" marB="0" marR="91425"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200"/>
                    </a:p>
                  </a:txBody>
                  <a:tcPr marT="0" marB="0" marR="91425"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874" name="Google Shape;874;p71"/>
          <p:cNvSpPr txBox="1"/>
          <p:nvPr/>
        </p:nvSpPr>
        <p:spPr>
          <a:xfrm>
            <a:off x="414107" y="2939700"/>
            <a:ext cx="66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Red</a:t>
            </a:r>
            <a:endParaRPr sz="2200">
              <a:latin typeface="Lexend"/>
              <a:ea typeface="Lexend"/>
              <a:cs typeface="Lexend"/>
              <a:sym typeface="Lexend"/>
            </a:endParaRPr>
          </a:p>
        </p:txBody>
      </p:sp>
      <p:sp>
        <p:nvSpPr>
          <p:cNvPr id="875" name="Google Shape;875;p71"/>
          <p:cNvSpPr txBox="1"/>
          <p:nvPr/>
        </p:nvSpPr>
        <p:spPr>
          <a:xfrm>
            <a:off x="414107" y="3440100"/>
            <a:ext cx="66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Blue</a:t>
            </a:r>
            <a:endParaRPr sz="2200">
              <a:latin typeface="Lexend"/>
              <a:ea typeface="Lexend"/>
              <a:cs typeface="Lexend"/>
              <a:sym typeface="Lexend"/>
            </a:endParaRPr>
          </a:p>
        </p:txBody>
      </p:sp>
      <p:graphicFrame>
        <p:nvGraphicFramePr>
          <p:cNvPr id="876" name="Google Shape;876;p71"/>
          <p:cNvGraphicFramePr/>
          <p:nvPr/>
        </p:nvGraphicFramePr>
        <p:xfrm>
          <a:off x="1227588" y="3410700"/>
          <a:ext cx="3000000" cy="3000000"/>
        </p:xfrm>
        <a:graphic>
          <a:graphicData uri="http://schemas.openxmlformats.org/drawingml/2006/table">
            <a:tbl>
              <a:tblPr>
                <a:noFill/>
                <a:tableStyleId>{6300B9EF-BFE0-4A47-A372-9612E9D491EC}</a:tableStyleId>
              </a:tblPr>
              <a:tblGrid>
                <a:gridCol w="555675"/>
                <a:gridCol w="555675"/>
              </a:tblGrid>
              <a:tr h="381000">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877" name="Google Shape;877;p71"/>
          <p:cNvSpPr txBox="1"/>
          <p:nvPr/>
        </p:nvSpPr>
        <p:spPr>
          <a:xfrm>
            <a:off x="1783275" y="2318750"/>
            <a:ext cx="1723200" cy="313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2200">
                <a:latin typeface="Lexend"/>
                <a:ea typeface="Lexend"/>
                <a:cs typeface="Lexend"/>
                <a:sym typeface="Lexend"/>
              </a:rPr>
              <a:t>10</a:t>
            </a:r>
            <a:r>
              <a:rPr lang="en-GB" sz="2200">
                <a:latin typeface="Lexend"/>
                <a:ea typeface="Lexend"/>
                <a:cs typeface="Lexend"/>
                <a:sym typeface="Lexend"/>
              </a:rPr>
              <a:t>0 ÷ 5 = 20</a:t>
            </a:r>
            <a:endParaRPr sz="2200">
              <a:latin typeface="Lexend"/>
              <a:ea typeface="Lexend"/>
              <a:cs typeface="Lexend"/>
              <a:sym typeface="Lexend"/>
            </a:endParaRPr>
          </a:p>
        </p:txBody>
      </p:sp>
      <p:sp>
        <p:nvSpPr>
          <p:cNvPr id="878" name="Google Shape;878;p71"/>
          <p:cNvSpPr txBox="1"/>
          <p:nvPr/>
        </p:nvSpPr>
        <p:spPr>
          <a:xfrm>
            <a:off x="1266801" y="3460025"/>
            <a:ext cx="5166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p:txBody>
      </p:sp>
      <p:sp>
        <p:nvSpPr>
          <p:cNvPr id="879" name="Google Shape;879;p71"/>
          <p:cNvSpPr txBox="1"/>
          <p:nvPr/>
        </p:nvSpPr>
        <p:spPr>
          <a:xfrm>
            <a:off x="1270509" y="2923200"/>
            <a:ext cx="4749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p:txBody>
      </p:sp>
      <p:sp>
        <p:nvSpPr>
          <p:cNvPr id="880" name="Google Shape;880;p71"/>
          <p:cNvSpPr txBox="1"/>
          <p:nvPr/>
        </p:nvSpPr>
        <p:spPr>
          <a:xfrm>
            <a:off x="1783276" y="2923200"/>
            <a:ext cx="5556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p:txBody>
      </p:sp>
      <p:sp>
        <p:nvSpPr>
          <p:cNvPr id="881" name="Google Shape;881;p71"/>
          <p:cNvSpPr txBox="1"/>
          <p:nvPr/>
        </p:nvSpPr>
        <p:spPr>
          <a:xfrm>
            <a:off x="2345074" y="2923200"/>
            <a:ext cx="54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p:txBody>
      </p:sp>
      <p:sp>
        <p:nvSpPr>
          <p:cNvPr id="882" name="Google Shape;882;p71"/>
          <p:cNvSpPr txBox="1"/>
          <p:nvPr/>
        </p:nvSpPr>
        <p:spPr>
          <a:xfrm>
            <a:off x="3450297" y="2923200"/>
            <a:ext cx="54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p:txBody>
      </p:sp>
      <p:sp>
        <p:nvSpPr>
          <p:cNvPr id="883" name="Google Shape;883;p71"/>
          <p:cNvSpPr/>
          <p:nvPr/>
        </p:nvSpPr>
        <p:spPr>
          <a:xfrm rot="10800000">
            <a:off x="4048268" y="2902650"/>
            <a:ext cx="92100" cy="9294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4" name="Google Shape;884;p71"/>
          <p:cNvSpPr txBox="1"/>
          <p:nvPr/>
        </p:nvSpPr>
        <p:spPr>
          <a:xfrm>
            <a:off x="4252744" y="3309175"/>
            <a:ext cx="16485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7 × 20 = 140</a:t>
            </a:r>
            <a:endParaRPr sz="2200">
              <a:latin typeface="Lexend"/>
              <a:ea typeface="Lexend"/>
              <a:cs typeface="Lexend"/>
              <a:sym typeface="Lexend"/>
            </a:endParaRPr>
          </a:p>
        </p:txBody>
      </p:sp>
      <p:sp>
        <p:nvSpPr>
          <p:cNvPr id="885" name="Google Shape;885;p71"/>
          <p:cNvSpPr/>
          <p:nvPr/>
        </p:nvSpPr>
        <p:spPr>
          <a:xfrm rot="5400000">
            <a:off x="2514100" y="1362150"/>
            <a:ext cx="199800" cy="27651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6" name="Google Shape;886;p71"/>
          <p:cNvSpPr txBox="1"/>
          <p:nvPr/>
        </p:nvSpPr>
        <p:spPr>
          <a:xfrm>
            <a:off x="2894600" y="2923200"/>
            <a:ext cx="54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p:txBody>
      </p:sp>
      <p:sp>
        <p:nvSpPr>
          <p:cNvPr id="887" name="Google Shape;887;p71"/>
          <p:cNvSpPr txBox="1"/>
          <p:nvPr/>
        </p:nvSpPr>
        <p:spPr>
          <a:xfrm>
            <a:off x="1783277" y="3456600"/>
            <a:ext cx="5556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p:txBody>
      </p:sp>
      <p:sp>
        <p:nvSpPr>
          <p:cNvPr id="888" name="Google Shape;888;p71"/>
          <p:cNvSpPr txBox="1"/>
          <p:nvPr/>
        </p:nvSpPr>
        <p:spPr>
          <a:xfrm>
            <a:off x="331656" y="3915012"/>
            <a:ext cx="8118000" cy="61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100</a:t>
            </a:r>
            <a:r>
              <a:rPr lang="en-GB" sz="2000">
                <a:latin typeface="Kalam"/>
                <a:ea typeface="Kalam"/>
                <a:cs typeface="Kalam"/>
                <a:sym typeface="Kalam"/>
              </a:rPr>
              <a:t> has been put in the wrong place, it was the number of blue cars not the number of red cars. Also, they have found the total not the number of red cars.</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72"/>
          <p:cNvSpPr txBox="1"/>
          <p:nvPr>
            <p:ph idx="1" type="body"/>
          </p:nvPr>
        </p:nvSpPr>
        <p:spPr>
          <a:xfrm>
            <a:off x="324000" y="759300"/>
            <a:ext cx="8237700" cy="801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Here is another </a:t>
            </a:r>
            <a:r>
              <a:rPr lang="en-GB" sz="2000"/>
              <a:t>common mistake made with ratio problems. </a:t>
            </a:r>
            <a:endParaRPr sz="2000"/>
          </a:p>
          <a:p>
            <a:pPr indent="0" lvl="0" marL="0" rtl="0" algn="l">
              <a:spcBef>
                <a:spcPts val="0"/>
              </a:spcBef>
              <a:spcAft>
                <a:spcPts val="0"/>
              </a:spcAft>
              <a:buNone/>
            </a:pPr>
            <a:r>
              <a:rPr lang="en-GB" sz="2000"/>
              <a:t>Can you spot it?</a:t>
            </a:r>
            <a:endParaRPr sz="2000"/>
          </a:p>
          <a:p>
            <a:pPr indent="0" lvl="0" marL="0" rtl="0" algn="l">
              <a:spcBef>
                <a:spcPts val="0"/>
              </a:spcBef>
              <a:spcAft>
                <a:spcPts val="1000"/>
              </a:spcAft>
              <a:buNone/>
            </a:pPr>
            <a:r>
              <a:t/>
            </a:r>
            <a:endParaRPr/>
          </a:p>
        </p:txBody>
      </p:sp>
      <p:sp>
        <p:nvSpPr>
          <p:cNvPr id="894" name="Google Shape;894;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Using a bar model to find one part</a:t>
            </a:r>
            <a:endParaRPr/>
          </a:p>
        </p:txBody>
      </p:sp>
      <p:sp>
        <p:nvSpPr>
          <p:cNvPr id="895" name="Google Shape;895;p72"/>
          <p:cNvSpPr txBox="1"/>
          <p:nvPr>
            <p:ph idx="1" type="body"/>
          </p:nvPr>
        </p:nvSpPr>
        <p:spPr>
          <a:xfrm>
            <a:off x="324000" y="1586850"/>
            <a:ext cx="8237700" cy="129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The ratio of red to blue cars in a car park is 5 : 3</a:t>
            </a:r>
            <a:endParaRPr sz="2000"/>
          </a:p>
          <a:p>
            <a:pPr indent="0" lvl="0" marL="0" rtl="0" algn="l">
              <a:spcBef>
                <a:spcPts val="1000"/>
              </a:spcBef>
              <a:spcAft>
                <a:spcPts val="0"/>
              </a:spcAft>
              <a:buNone/>
            </a:pPr>
            <a:r>
              <a:rPr lang="en-GB" sz="2000"/>
              <a:t>There are 120 red cars.</a:t>
            </a:r>
            <a:endParaRPr sz="2000"/>
          </a:p>
          <a:p>
            <a:pPr indent="0" lvl="0" marL="0" rtl="0" algn="l">
              <a:spcBef>
                <a:spcPts val="1000"/>
              </a:spcBef>
              <a:spcAft>
                <a:spcPts val="1000"/>
              </a:spcAft>
              <a:buNone/>
            </a:pPr>
            <a:r>
              <a:rPr lang="en-GB" sz="2000"/>
              <a:t>How many </a:t>
            </a:r>
            <a:r>
              <a:rPr lang="en-GB" sz="2000"/>
              <a:t>blue </a:t>
            </a:r>
            <a:r>
              <a:rPr lang="en-GB" sz="2000"/>
              <a:t>cars are there? </a:t>
            </a:r>
            <a:endParaRPr sz="2000"/>
          </a:p>
        </p:txBody>
      </p:sp>
      <p:pic>
        <p:nvPicPr>
          <p:cNvPr id="896" name="Google Shape;896;p72"/>
          <p:cNvPicPr preferRelativeResize="0"/>
          <p:nvPr/>
        </p:nvPicPr>
        <p:blipFill>
          <a:blip r:embed="rId3">
            <a:alphaModFix/>
          </a:blip>
          <a:stretch>
            <a:fillRect/>
          </a:stretch>
        </p:blipFill>
        <p:spPr>
          <a:xfrm flipH="1">
            <a:off x="6667764" y="2026821"/>
            <a:ext cx="1582873" cy="749686"/>
          </a:xfrm>
          <a:prstGeom prst="rect">
            <a:avLst/>
          </a:prstGeom>
          <a:noFill/>
          <a:ln>
            <a:noFill/>
          </a:ln>
        </p:spPr>
      </p:pic>
      <p:pic>
        <p:nvPicPr>
          <p:cNvPr id="897" name="Google Shape;897;p72"/>
          <p:cNvPicPr preferRelativeResize="0"/>
          <p:nvPr/>
        </p:nvPicPr>
        <p:blipFill>
          <a:blip r:embed="rId4">
            <a:alphaModFix/>
          </a:blip>
          <a:stretch>
            <a:fillRect/>
          </a:stretch>
        </p:blipFill>
        <p:spPr>
          <a:xfrm flipH="1">
            <a:off x="7072922" y="1188370"/>
            <a:ext cx="1582873" cy="749686"/>
          </a:xfrm>
          <a:prstGeom prst="rect">
            <a:avLst/>
          </a:prstGeom>
          <a:noFill/>
          <a:ln>
            <a:noFill/>
          </a:ln>
        </p:spPr>
      </p:pic>
      <p:grpSp>
        <p:nvGrpSpPr>
          <p:cNvPr id="898" name="Google Shape;898;p72"/>
          <p:cNvGrpSpPr/>
          <p:nvPr/>
        </p:nvGrpSpPr>
        <p:grpSpPr>
          <a:xfrm>
            <a:off x="466750" y="3372575"/>
            <a:ext cx="3522600" cy="1348500"/>
            <a:chOff x="742200" y="3472000"/>
            <a:chExt cx="3522600" cy="1348500"/>
          </a:xfrm>
        </p:grpSpPr>
        <p:sp>
          <p:nvSpPr>
            <p:cNvPr id="899" name="Google Shape;899;p72"/>
            <p:cNvSpPr/>
            <p:nvPr/>
          </p:nvSpPr>
          <p:spPr>
            <a:xfrm>
              <a:off x="742200" y="3472000"/>
              <a:ext cx="3451500" cy="1348500"/>
            </a:xfrm>
            <a:prstGeom prst="round2DiagRect">
              <a:avLst>
                <a:gd fmla="val 16667" name="adj1"/>
                <a:gd fmla="val 0" name="adj2"/>
              </a:avLst>
            </a:prstGeom>
            <a:solidFill>
              <a:schemeClr val="lt1"/>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0" name="Google Shape;900;p72"/>
            <p:cNvSpPr txBox="1"/>
            <p:nvPr/>
          </p:nvSpPr>
          <p:spPr>
            <a:xfrm>
              <a:off x="742200" y="3472000"/>
              <a:ext cx="3522600" cy="129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900">
                  <a:solidFill>
                    <a:schemeClr val="dk1"/>
                  </a:solidFill>
                  <a:latin typeface="Lexend"/>
                  <a:ea typeface="Lexend"/>
                  <a:cs typeface="Lexend"/>
                  <a:sym typeface="Lexend"/>
                </a:rPr>
                <a:t>5 + 3 = 8</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120 ÷ 8 = 15</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Red</a:t>
              </a:r>
              <a:r>
                <a:rPr lang="en-GB" sz="2000">
                  <a:solidFill>
                    <a:schemeClr val="dk1"/>
                  </a:solidFill>
                  <a:latin typeface="Lexend"/>
                  <a:ea typeface="Lexend"/>
                  <a:cs typeface="Lexend"/>
                  <a:sym typeface="Lexend"/>
                </a:rPr>
                <a:t> </a:t>
              </a:r>
              <a:r>
                <a:rPr lang="en-GB" sz="1900">
                  <a:solidFill>
                    <a:schemeClr val="dk1"/>
                  </a:solidFill>
                  <a:latin typeface="Lexend"/>
                  <a:ea typeface="Lexend"/>
                  <a:cs typeface="Lexend"/>
                  <a:sym typeface="Lexend"/>
                </a:rPr>
                <a:t>:</a:t>
              </a:r>
              <a:r>
                <a:rPr lang="en-GB" sz="2000">
                  <a:solidFill>
                    <a:schemeClr val="dk1"/>
                  </a:solidFill>
                  <a:latin typeface="Lexend"/>
                  <a:ea typeface="Lexend"/>
                  <a:cs typeface="Lexend"/>
                  <a:sym typeface="Lexend"/>
                </a:rPr>
                <a:t> </a:t>
              </a:r>
              <a:r>
                <a:rPr lang="en-GB" sz="1900">
                  <a:solidFill>
                    <a:schemeClr val="dk1"/>
                  </a:solidFill>
                  <a:latin typeface="Lexend"/>
                  <a:ea typeface="Lexend"/>
                  <a:cs typeface="Lexend"/>
                  <a:sym typeface="Lexend"/>
                </a:rPr>
                <a:t>blue = 5</a:t>
              </a:r>
              <a:r>
                <a:rPr lang="en-GB" sz="2000">
                  <a:solidFill>
                    <a:schemeClr val="dk1"/>
                  </a:solidFill>
                  <a:latin typeface="Lexend"/>
                  <a:ea typeface="Lexend"/>
                  <a:cs typeface="Lexend"/>
                  <a:sym typeface="Lexend"/>
                </a:rPr>
                <a:t> </a:t>
              </a:r>
              <a:r>
                <a:rPr lang="en-GB" sz="1900">
                  <a:solidFill>
                    <a:schemeClr val="dk1"/>
                  </a:solidFill>
                  <a:latin typeface="Lexend"/>
                  <a:ea typeface="Lexend"/>
                  <a:cs typeface="Lexend"/>
                  <a:sym typeface="Lexend"/>
                </a:rPr>
                <a:t>:</a:t>
              </a:r>
              <a:r>
                <a:rPr lang="en-GB" sz="2000">
                  <a:solidFill>
                    <a:schemeClr val="dk1"/>
                  </a:solidFill>
                  <a:latin typeface="Lexend"/>
                  <a:ea typeface="Lexend"/>
                  <a:cs typeface="Lexend"/>
                  <a:sym typeface="Lexend"/>
                </a:rPr>
                <a:t> </a:t>
              </a:r>
              <a:r>
                <a:rPr lang="en-GB" sz="1900">
                  <a:solidFill>
                    <a:schemeClr val="dk1"/>
                  </a:solidFill>
                  <a:latin typeface="Lexend"/>
                  <a:ea typeface="Lexend"/>
                  <a:cs typeface="Lexend"/>
                  <a:sym typeface="Lexend"/>
                </a:rPr>
                <a:t>3</a:t>
              </a:r>
              <a:endParaRPr sz="1900">
                <a:solidFill>
                  <a:schemeClr val="dk1"/>
                </a:solidFill>
                <a:latin typeface="Lexend"/>
                <a:ea typeface="Lexend"/>
                <a:cs typeface="Lexend"/>
                <a:sym typeface="Lexend"/>
              </a:endParaRPr>
            </a:p>
            <a:p>
              <a:pPr indent="0" lvl="0" marL="0" rtl="0" algn="l">
                <a:spcBef>
                  <a:spcPts val="0"/>
                </a:spcBef>
                <a:spcAft>
                  <a:spcPts val="0"/>
                </a:spcAft>
                <a:buNone/>
              </a:pPr>
              <a:r>
                <a:rPr lang="en-GB" sz="1900">
                  <a:solidFill>
                    <a:schemeClr val="dk1"/>
                  </a:solidFill>
                  <a:latin typeface="Lexend"/>
                  <a:ea typeface="Lexend"/>
                  <a:cs typeface="Lexend"/>
                  <a:sym typeface="Lexend"/>
                </a:rPr>
                <a:t>Blue = 3 × 15 = 45 blue cars</a:t>
              </a:r>
              <a:endParaRPr sz="1900">
                <a:solidFill>
                  <a:schemeClr val="dk1"/>
                </a:solidFill>
                <a:latin typeface="Lexend"/>
                <a:ea typeface="Lexend"/>
                <a:cs typeface="Lexend"/>
                <a:sym typeface="Lexend"/>
              </a:endParaRPr>
            </a:p>
          </p:txBody>
        </p:sp>
      </p:grpSp>
      <p:sp>
        <p:nvSpPr>
          <p:cNvPr id="901" name="Google Shape;901;p72"/>
          <p:cNvSpPr txBox="1"/>
          <p:nvPr>
            <p:ph idx="1" type="body"/>
          </p:nvPr>
        </p:nvSpPr>
        <p:spPr>
          <a:xfrm>
            <a:off x="324000" y="2984075"/>
            <a:ext cx="8237700" cy="388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Here is Sofia’s work:</a:t>
            </a:r>
            <a:endParaRPr sz="2000"/>
          </a:p>
        </p:txBody>
      </p:sp>
      <p:sp>
        <p:nvSpPr>
          <p:cNvPr id="902" name="Google Shape;902;p72"/>
          <p:cNvSpPr txBox="1"/>
          <p:nvPr/>
        </p:nvSpPr>
        <p:spPr>
          <a:xfrm>
            <a:off x="4246525" y="2948900"/>
            <a:ext cx="4187100" cy="1544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120 is not the total number of cars.</a:t>
            </a:r>
            <a:endParaRPr sz="2000">
              <a:latin typeface="Kalam"/>
              <a:ea typeface="Kalam"/>
              <a:cs typeface="Kalam"/>
              <a:sym typeface="Kalam"/>
            </a:endParaRPr>
          </a:p>
          <a:p>
            <a:pPr indent="0" lvl="0" marL="0" rtl="0" algn="l">
              <a:spcBef>
                <a:spcPts val="0"/>
              </a:spcBef>
              <a:spcAft>
                <a:spcPts val="0"/>
              </a:spcAft>
              <a:buNone/>
            </a:pPr>
            <a:r>
              <a:rPr lang="en-GB" sz="2000">
                <a:latin typeface="Kalam"/>
                <a:ea typeface="Kalam"/>
                <a:cs typeface="Kalam"/>
                <a:sym typeface="Kalam"/>
              </a:rPr>
              <a:t>Always using the given number as the total is a common mistake. Drawing and labelling a bar model correctly can help you to check you are working out the correct part. </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73"/>
          <p:cNvSpPr txBox="1"/>
          <p:nvPr/>
        </p:nvSpPr>
        <p:spPr>
          <a:xfrm>
            <a:off x="4833600" y="4428250"/>
            <a:ext cx="31956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Aisha has 28</a:t>
            </a:r>
            <a:r>
              <a:rPr lang="en-GB" sz="2000">
                <a:latin typeface="Kalam"/>
                <a:ea typeface="Kalam"/>
                <a:cs typeface="Kalam"/>
                <a:sym typeface="Kalam"/>
              </a:rPr>
              <a:t> sweets.</a:t>
            </a:r>
            <a:endParaRPr sz="2000">
              <a:latin typeface="Kalam"/>
              <a:ea typeface="Kalam"/>
              <a:cs typeface="Kalam"/>
              <a:sym typeface="Kalam"/>
            </a:endParaRPr>
          </a:p>
        </p:txBody>
      </p:sp>
      <p:graphicFrame>
        <p:nvGraphicFramePr>
          <p:cNvPr id="908" name="Google Shape;908;p73"/>
          <p:cNvGraphicFramePr/>
          <p:nvPr/>
        </p:nvGraphicFramePr>
        <p:xfrm>
          <a:off x="1037404" y="3055100"/>
          <a:ext cx="3000000" cy="3000000"/>
        </p:xfrm>
        <a:graphic>
          <a:graphicData uri="http://schemas.openxmlformats.org/drawingml/2006/table">
            <a:tbl>
              <a:tblPr>
                <a:noFill/>
                <a:tableStyleId>{6300B9EF-BFE0-4A47-A372-9612E9D491EC}</a:tableStyleId>
              </a:tblPr>
              <a:tblGrid>
                <a:gridCol w="313050"/>
                <a:gridCol w="313050"/>
                <a:gridCol w="313050"/>
                <a:gridCol w="313050"/>
                <a:gridCol w="313050"/>
                <a:gridCol w="313050"/>
                <a:gridCol w="313050"/>
              </a:tblGrid>
              <a:tr h="381000">
                <a:tc>
                  <a:txBody>
                    <a:bodyPr/>
                    <a:lstStyle/>
                    <a:p>
                      <a:pPr indent="0" lvl="0" marL="0" rtl="0" algn="l">
                        <a:spcBef>
                          <a:spcPts val="0"/>
                        </a:spcBef>
                        <a:spcAft>
                          <a:spcPts val="0"/>
                        </a:spcAft>
                        <a:buNone/>
                      </a:pPr>
                      <a:r>
                        <a:t/>
                      </a:r>
                      <a:endParaRPr sz="800"/>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graphicFrame>
        <p:nvGraphicFramePr>
          <p:cNvPr id="909" name="Google Shape;909;p73"/>
          <p:cNvGraphicFramePr/>
          <p:nvPr/>
        </p:nvGraphicFramePr>
        <p:xfrm>
          <a:off x="1037407" y="3535563"/>
          <a:ext cx="3000000" cy="3000000"/>
        </p:xfrm>
        <a:graphic>
          <a:graphicData uri="http://schemas.openxmlformats.org/drawingml/2006/table">
            <a:tbl>
              <a:tblPr>
                <a:noFill/>
                <a:tableStyleId>{6300B9EF-BFE0-4A47-A372-9612E9D491EC}</a:tableStyleId>
              </a:tblPr>
              <a:tblGrid>
                <a:gridCol w="313050"/>
                <a:gridCol w="313050"/>
                <a:gridCol w="313050"/>
                <a:gridCol w="313050"/>
                <a:gridCol w="313050"/>
              </a:tblGrid>
              <a:tr h="381000">
                <a:tc>
                  <a:txBody>
                    <a:bodyPr/>
                    <a:lstStyle/>
                    <a:p>
                      <a:pPr indent="0" lvl="0" marL="0" rtl="0" algn="l">
                        <a:spcBef>
                          <a:spcPts val="0"/>
                        </a:spcBef>
                        <a:spcAft>
                          <a:spcPts val="0"/>
                        </a:spcAft>
                        <a:buNone/>
                      </a:pPr>
                      <a:r>
                        <a:t/>
                      </a:r>
                      <a:endParaRPr sz="800"/>
                    </a:p>
                  </a:txBody>
                  <a:tcPr marT="0" marB="0" marR="0" marL="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0" marB="0" marR="0" marL="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0" marB="0" marR="0" marL="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0" marB="0" marR="0" marL="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800"/>
                    </a:p>
                  </a:txBody>
                  <a:tcPr marT="0" marB="0" marR="0" marL="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910" name="Google Shape;910;p73"/>
          <p:cNvSpPr txBox="1"/>
          <p:nvPr>
            <p:ph type="title"/>
          </p:nvPr>
        </p:nvSpPr>
        <p:spPr>
          <a:xfrm>
            <a:off x="324000" y="0"/>
            <a:ext cx="74505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bar model to find one part</a:t>
            </a:r>
            <a:endParaRPr/>
          </a:p>
        </p:txBody>
      </p:sp>
      <p:sp>
        <p:nvSpPr>
          <p:cNvPr id="911" name="Google Shape;911;p73"/>
          <p:cNvSpPr txBox="1"/>
          <p:nvPr>
            <p:ph idx="1" type="subTitle"/>
          </p:nvPr>
        </p:nvSpPr>
        <p:spPr>
          <a:xfrm>
            <a:off x="337825" y="810000"/>
            <a:ext cx="4149300" cy="1640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a:t>Lucas and Aisha share a packet of sweets in the ratio 7</a:t>
            </a:r>
            <a:r>
              <a:rPr lang="en-GB" sz="2000"/>
              <a:t> </a:t>
            </a:r>
            <a:r>
              <a:rPr lang="en-GB"/>
              <a:t>:</a:t>
            </a:r>
            <a:r>
              <a:rPr lang="en-GB" sz="2000"/>
              <a:t> </a:t>
            </a:r>
            <a:r>
              <a:rPr lang="en-GB"/>
              <a:t>5</a:t>
            </a:r>
            <a:endParaRPr/>
          </a:p>
          <a:p>
            <a:pPr indent="0" lvl="0" marL="0" rtl="0" algn="l">
              <a:lnSpc>
                <a:spcPct val="115000"/>
              </a:lnSpc>
              <a:spcBef>
                <a:spcPts val="1000"/>
              </a:spcBef>
              <a:spcAft>
                <a:spcPts val="0"/>
              </a:spcAft>
              <a:buNone/>
            </a:pPr>
            <a:r>
              <a:rPr lang="en-GB"/>
              <a:t>Aisha has 25 sweets.</a:t>
            </a:r>
            <a:endParaRPr/>
          </a:p>
          <a:p>
            <a:pPr indent="0" lvl="0" marL="0" rtl="0" algn="l">
              <a:lnSpc>
                <a:spcPct val="115000"/>
              </a:lnSpc>
              <a:spcBef>
                <a:spcPts val="1000"/>
              </a:spcBef>
              <a:spcAft>
                <a:spcPts val="1000"/>
              </a:spcAft>
              <a:buNone/>
            </a:pPr>
            <a:r>
              <a:rPr lang="en-GB"/>
              <a:t>How many sweets does Lucas have?</a:t>
            </a:r>
            <a:endParaRPr/>
          </a:p>
        </p:txBody>
      </p:sp>
      <p:sp>
        <p:nvSpPr>
          <p:cNvPr id="912" name="Google Shape;912;p73"/>
          <p:cNvSpPr txBox="1"/>
          <p:nvPr>
            <p:ph idx="2" type="subTitle"/>
          </p:nvPr>
        </p:nvSpPr>
        <p:spPr>
          <a:xfrm>
            <a:off x="4824000" y="810000"/>
            <a:ext cx="4066500" cy="1761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a:t>Lucas and Aisha share a packet of sweets in the ratio 4</a:t>
            </a:r>
            <a:r>
              <a:rPr lang="en-GB" sz="2000"/>
              <a:t> </a:t>
            </a:r>
            <a:r>
              <a:rPr lang="en-GB"/>
              <a:t>:</a:t>
            </a:r>
            <a:r>
              <a:rPr lang="en-GB" sz="2000"/>
              <a:t> </a:t>
            </a:r>
            <a:r>
              <a:rPr lang="en-GB"/>
              <a:t>7</a:t>
            </a:r>
            <a:endParaRPr/>
          </a:p>
          <a:p>
            <a:pPr indent="0" lvl="0" marL="0" rtl="0" algn="l">
              <a:lnSpc>
                <a:spcPct val="115000"/>
              </a:lnSpc>
              <a:spcBef>
                <a:spcPts val="1000"/>
              </a:spcBef>
              <a:spcAft>
                <a:spcPts val="0"/>
              </a:spcAft>
              <a:buClr>
                <a:schemeClr val="dk1"/>
              </a:buClr>
              <a:buSzPts val="1100"/>
              <a:buFont typeface="Arial"/>
              <a:buNone/>
            </a:pPr>
            <a:r>
              <a:rPr lang="en-GB"/>
              <a:t>Lucas has 16 sweets.</a:t>
            </a:r>
            <a:endParaRPr/>
          </a:p>
          <a:p>
            <a:pPr indent="0" lvl="0" marL="0" rtl="0" algn="l">
              <a:lnSpc>
                <a:spcPct val="115000"/>
              </a:lnSpc>
              <a:spcBef>
                <a:spcPts val="1000"/>
              </a:spcBef>
              <a:spcAft>
                <a:spcPts val="0"/>
              </a:spcAft>
              <a:buClr>
                <a:schemeClr val="dk1"/>
              </a:buClr>
              <a:buSzPts val="1100"/>
              <a:buFont typeface="Arial"/>
              <a:buNone/>
            </a:pPr>
            <a:r>
              <a:rPr lang="en-GB"/>
              <a:t>How many sweets does Aisha have?</a:t>
            </a:r>
            <a:endParaRPr/>
          </a:p>
          <a:p>
            <a:pPr indent="0" lvl="0" marL="0" rtl="0" algn="l">
              <a:spcBef>
                <a:spcPts val="1000"/>
              </a:spcBef>
              <a:spcAft>
                <a:spcPts val="1000"/>
              </a:spcAft>
              <a:buNone/>
            </a:pPr>
            <a:r>
              <a:t/>
            </a:r>
            <a:endParaRPr/>
          </a:p>
        </p:txBody>
      </p:sp>
      <p:sp>
        <p:nvSpPr>
          <p:cNvPr id="913" name="Google Shape;913;p73"/>
          <p:cNvSpPr txBox="1"/>
          <p:nvPr/>
        </p:nvSpPr>
        <p:spPr>
          <a:xfrm>
            <a:off x="349991" y="3092100"/>
            <a:ext cx="66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p:txBody>
      </p:sp>
      <p:sp>
        <p:nvSpPr>
          <p:cNvPr id="914" name="Google Shape;914;p73"/>
          <p:cNvSpPr txBox="1"/>
          <p:nvPr/>
        </p:nvSpPr>
        <p:spPr>
          <a:xfrm>
            <a:off x="349991" y="3592500"/>
            <a:ext cx="66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Aisha</a:t>
            </a:r>
            <a:endParaRPr sz="1800">
              <a:latin typeface="Lexend"/>
              <a:ea typeface="Lexend"/>
              <a:cs typeface="Lexend"/>
              <a:sym typeface="Lexend"/>
            </a:endParaRPr>
          </a:p>
        </p:txBody>
      </p:sp>
      <p:sp>
        <p:nvSpPr>
          <p:cNvPr id="915" name="Google Shape;915;p73"/>
          <p:cNvSpPr/>
          <p:nvPr/>
        </p:nvSpPr>
        <p:spPr>
          <a:xfrm rot="-5400000">
            <a:off x="1773748" y="3264475"/>
            <a:ext cx="90000" cy="1562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6" name="Google Shape;916;p73"/>
          <p:cNvSpPr txBox="1"/>
          <p:nvPr/>
        </p:nvSpPr>
        <p:spPr>
          <a:xfrm>
            <a:off x="1690451" y="4147550"/>
            <a:ext cx="1052400" cy="313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25</a:t>
            </a:r>
            <a:r>
              <a:rPr lang="en-GB" sz="1800">
                <a:latin typeface="Lexend"/>
                <a:ea typeface="Lexend"/>
                <a:cs typeface="Lexend"/>
                <a:sym typeface="Lexend"/>
              </a:rPr>
              <a:t> ÷ 5 = 5</a:t>
            </a:r>
            <a:endParaRPr sz="1800">
              <a:latin typeface="Lexend"/>
              <a:ea typeface="Lexend"/>
              <a:cs typeface="Lexend"/>
              <a:sym typeface="Lexend"/>
            </a:endParaRPr>
          </a:p>
        </p:txBody>
      </p:sp>
      <p:sp>
        <p:nvSpPr>
          <p:cNvPr id="917" name="Google Shape;917;p73"/>
          <p:cNvSpPr/>
          <p:nvPr/>
        </p:nvSpPr>
        <p:spPr>
          <a:xfrm rot="5400000">
            <a:off x="2086700" y="1814275"/>
            <a:ext cx="92100" cy="21906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8" name="Google Shape;918;p73"/>
          <p:cNvSpPr txBox="1"/>
          <p:nvPr/>
        </p:nvSpPr>
        <p:spPr>
          <a:xfrm>
            <a:off x="1573581" y="2554063"/>
            <a:ext cx="11190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7</a:t>
            </a:r>
            <a:r>
              <a:rPr lang="en-GB" sz="1800">
                <a:latin typeface="Lexend"/>
                <a:ea typeface="Lexend"/>
                <a:cs typeface="Lexend"/>
                <a:sym typeface="Lexend"/>
              </a:rPr>
              <a:t> × 5 = 35</a:t>
            </a:r>
            <a:endParaRPr sz="1800">
              <a:latin typeface="Lexend"/>
              <a:ea typeface="Lexend"/>
              <a:cs typeface="Lexend"/>
              <a:sym typeface="Lexend"/>
            </a:endParaRPr>
          </a:p>
        </p:txBody>
      </p:sp>
      <p:graphicFrame>
        <p:nvGraphicFramePr>
          <p:cNvPr id="919" name="Google Shape;919;p73"/>
          <p:cNvGraphicFramePr/>
          <p:nvPr/>
        </p:nvGraphicFramePr>
        <p:xfrm>
          <a:off x="1037404" y="3055100"/>
          <a:ext cx="3000000" cy="3000000"/>
        </p:xfrm>
        <a:graphic>
          <a:graphicData uri="http://schemas.openxmlformats.org/drawingml/2006/table">
            <a:tbl>
              <a:tblPr>
                <a:noFill/>
                <a:tableStyleId>{6300B9EF-BFE0-4A47-A372-9612E9D491EC}</a:tableStyleId>
              </a:tblPr>
              <a:tblGrid>
                <a:gridCol w="313050"/>
                <a:gridCol w="313050"/>
                <a:gridCol w="313050"/>
                <a:gridCol w="313050"/>
                <a:gridCol w="313050"/>
                <a:gridCol w="313050"/>
                <a:gridCol w="313050"/>
              </a:tblGrid>
              <a:tr h="38100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graphicFrame>
        <p:nvGraphicFramePr>
          <p:cNvPr id="920" name="Google Shape;920;p73"/>
          <p:cNvGraphicFramePr/>
          <p:nvPr/>
        </p:nvGraphicFramePr>
        <p:xfrm>
          <a:off x="1037407" y="3535563"/>
          <a:ext cx="3000000" cy="3000000"/>
        </p:xfrm>
        <a:graphic>
          <a:graphicData uri="http://schemas.openxmlformats.org/drawingml/2006/table">
            <a:tbl>
              <a:tblPr>
                <a:noFill/>
                <a:tableStyleId>{6300B9EF-BFE0-4A47-A372-9612E9D491EC}</a:tableStyleId>
              </a:tblPr>
              <a:tblGrid>
                <a:gridCol w="313050"/>
                <a:gridCol w="313050"/>
                <a:gridCol w="313050"/>
                <a:gridCol w="313050"/>
                <a:gridCol w="313050"/>
              </a:tblGrid>
              <a:tr h="381000">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5</a:t>
                      </a:r>
                      <a:endParaRPr sz="1800">
                        <a:latin typeface="Lexend"/>
                        <a:ea typeface="Lexend"/>
                        <a:cs typeface="Lexend"/>
                        <a:sym typeface="Lexend"/>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921" name="Google Shape;921;p73"/>
          <p:cNvSpPr/>
          <p:nvPr/>
        </p:nvSpPr>
        <p:spPr>
          <a:xfrm>
            <a:off x="1976550" y="4160500"/>
            <a:ext cx="1052400" cy="335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2" name="Google Shape;922;p73"/>
          <p:cNvSpPr txBox="1"/>
          <p:nvPr/>
        </p:nvSpPr>
        <p:spPr>
          <a:xfrm>
            <a:off x="337800" y="4504450"/>
            <a:ext cx="31956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Lucas has</a:t>
            </a:r>
            <a:r>
              <a:rPr lang="en-GB" sz="1800">
                <a:latin typeface="Lexend"/>
                <a:ea typeface="Lexend"/>
                <a:cs typeface="Lexend"/>
                <a:sym typeface="Lexend"/>
              </a:rPr>
              <a:t> 35 sweets.</a:t>
            </a:r>
            <a:endParaRPr sz="1800">
              <a:latin typeface="Lexend"/>
              <a:ea typeface="Lexend"/>
              <a:cs typeface="Lexend"/>
              <a:sym typeface="Lexend"/>
            </a:endParaRPr>
          </a:p>
        </p:txBody>
      </p:sp>
      <p:graphicFrame>
        <p:nvGraphicFramePr>
          <p:cNvPr id="923" name="Google Shape;923;p73"/>
          <p:cNvGraphicFramePr/>
          <p:nvPr/>
        </p:nvGraphicFramePr>
        <p:xfrm>
          <a:off x="5279300" y="3605788"/>
          <a:ext cx="3000000" cy="3000000"/>
        </p:xfrm>
        <a:graphic>
          <a:graphicData uri="http://schemas.openxmlformats.org/drawingml/2006/table">
            <a:tbl>
              <a:tblPr>
                <a:noFill/>
                <a:tableStyleId>{6300B9EF-BFE0-4A47-A372-9612E9D491EC}</a:tableStyleId>
              </a:tblPr>
              <a:tblGrid>
                <a:gridCol w="313050"/>
                <a:gridCol w="313050"/>
                <a:gridCol w="313050"/>
                <a:gridCol w="313050"/>
                <a:gridCol w="313050"/>
                <a:gridCol w="313050"/>
                <a:gridCol w="313050"/>
              </a:tblGrid>
              <a:tr h="381000">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Kalam"/>
                        <a:ea typeface="Kalam"/>
                        <a:cs typeface="Kalam"/>
                        <a:sym typeface="Kalam"/>
                      </a:endParaRPr>
                    </a:p>
                  </a:txBody>
                  <a:tcPr marT="0" marB="0" marR="0" marL="0">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sp>
        <p:nvSpPr>
          <p:cNvPr id="924" name="Google Shape;924;p73"/>
          <p:cNvSpPr txBox="1"/>
          <p:nvPr/>
        </p:nvSpPr>
        <p:spPr>
          <a:xfrm>
            <a:off x="4617191" y="3168300"/>
            <a:ext cx="66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000">
                <a:latin typeface="Kalam"/>
                <a:ea typeface="Kalam"/>
                <a:cs typeface="Kalam"/>
                <a:sym typeface="Kalam"/>
              </a:rPr>
              <a:t>Lucas</a:t>
            </a:r>
            <a:endParaRPr sz="2000">
              <a:latin typeface="Kalam"/>
              <a:ea typeface="Kalam"/>
              <a:cs typeface="Kalam"/>
              <a:sym typeface="Kalam"/>
            </a:endParaRPr>
          </a:p>
        </p:txBody>
      </p:sp>
      <p:sp>
        <p:nvSpPr>
          <p:cNvPr id="925" name="Google Shape;925;p73"/>
          <p:cNvSpPr txBox="1"/>
          <p:nvPr/>
        </p:nvSpPr>
        <p:spPr>
          <a:xfrm>
            <a:off x="4617191" y="3668700"/>
            <a:ext cx="6621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2000">
                <a:latin typeface="Kalam"/>
                <a:ea typeface="Kalam"/>
                <a:cs typeface="Kalam"/>
                <a:sym typeface="Kalam"/>
              </a:rPr>
              <a:t>Aisha</a:t>
            </a:r>
            <a:endParaRPr sz="2000">
              <a:latin typeface="Kalam"/>
              <a:ea typeface="Kalam"/>
              <a:cs typeface="Kalam"/>
              <a:sym typeface="Kalam"/>
            </a:endParaRPr>
          </a:p>
        </p:txBody>
      </p:sp>
      <p:sp>
        <p:nvSpPr>
          <p:cNvPr id="926" name="Google Shape;926;p73"/>
          <p:cNvSpPr txBox="1"/>
          <p:nvPr/>
        </p:nvSpPr>
        <p:spPr>
          <a:xfrm>
            <a:off x="5341654" y="2516525"/>
            <a:ext cx="1512900" cy="3135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GB" sz="2000">
                <a:latin typeface="Kalam"/>
                <a:ea typeface="Kalam"/>
                <a:cs typeface="Kalam"/>
                <a:sym typeface="Kalam"/>
              </a:rPr>
              <a:t>16</a:t>
            </a:r>
            <a:r>
              <a:rPr lang="en-GB" sz="2000">
                <a:latin typeface="Kalam"/>
                <a:ea typeface="Kalam"/>
                <a:cs typeface="Kalam"/>
                <a:sym typeface="Kalam"/>
              </a:rPr>
              <a:t> ÷ 4 = 4</a:t>
            </a:r>
            <a:endParaRPr sz="2000">
              <a:latin typeface="Kalam"/>
              <a:ea typeface="Kalam"/>
              <a:cs typeface="Kalam"/>
              <a:sym typeface="Kalam"/>
            </a:endParaRPr>
          </a:p>
        </p:txBody>
      </p:sp>
      <p:sp>
        <p:nvSpPr>
          <p:cNvPr id="927" name="Google Shape;927;p73"/>
          <p:cNvSpPr/>
          <p:nvPr/>
        </p:nvSpPr>
        <p:spPr>
          <a:xfrm rot="-5400000">
            <a:off x="6329150" y="3021500"/>
            <a:ext cx="92100" cy="21918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Kalam"/>
              <a:ea typeface="Kalam"/>
              <a:cs typeface="Kalam"/>
              <a:sym typeface="Kalam"/>
            </a:endParaRPr>
          </a:p>
        </p:txBody>
      </p:sp>
      <p:sp>
        <p:nvSpPr>
          <p:cNvPr id="928" name="Google Shape;928;p73"/>
          <p:cNvSpPr txBox="1"/>
          <p:nvPr/>
        </p:nvSpPr>
        <p:spPr>
          <a:xfrm>
            <a:off x="5869700" y="4153225"/>
            <a:ext cx="14334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000">
                <a:latin typeface="Kalam"/>
                <a:ea typeface="Kalam"/>
                <a:cs typeface="Kalam"/>
                <a:sym typeface="Kalam"/>
              </a:rPr>
              <a:t>7</a:t>
            </a:r>
            <a:r>
              <a:rPr lang="en-GB" sz="2000">
                <a:latin typeface="Kalam"/>
                <a:ea typeface="Kalam"/>
                <a:cs typeface="Kalam"/>
                <a:sym typeface="Kalam"/>
              </a:rPr>
              <a:t> × 4 = 28</a:t>
            </a:r>
            <a:endParaRPr sz="2000">
              <a:latin typeface="Kalam"/>
              <a:ea typeface="Kalam"/>
              <a:cs typeface="Kalam"/>
              <a:sym typeface="Kalam"/>
            </a:endParaRPr>
          </a:p>
        </p:txBody>
      </p:sp>
      <p:graphicFrame>
        <p:nvGraphicFramePr>
          <p:cNvPr id="929" name="Google Shape;929;p73"/>
          <p:cNvGraphicFramePr/>
          <p:nvPr/>
        </p:nvGraphicFramePr>
        <p:xfrm>
          <a:off x="5279300" y="3605788"/>
          <a:ext cx="3000000" cy="3000000"/>
        </p:xfrm>
        <a:graphic>
          <a:graphicData uri="http://schemas.openxmlformats.org/drawingml/2006/table">
            <a:tbl>
              <a:tblPr>
                <a:noFill/>
                <a:tableStyleId>{6300B9EF-BFE0-4A47-A372-9612E9D491EC}</a:tableStyleId>
              </a:tblPr>
              <a:tblGrid>
                <a:gridCol w="313050"/>
                <a:gridCol w="313050"/>
                <a:gridCol w="313050"/>
                <a:gridCol w="313050"/>
                <a:gridCol w="313050"/>
                <a:gridCol w="313050"/>
                <a:gridCol w="313050"/>
              </a:tblGrid>
              <a:tr h="381000">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rgbClr val="000000"/>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38100">
                      <a:solidFill>
                        <a:srgbClr val="000000"/>
                      </a:solidFill>
                      <a:prstDash val="solid"/>
                      <a:round/>
                      <a:headEnd len="sm" w="sm" type="none"/>
                      <a:tailEnd len="sm" w="sm" type="none"/>
                    </a:lnB>
                  </a:tcPr>
                </a:tc>
              </a:tr>
            </a:tbl>
          </a:graphicData>
        </a:graphic>
      </p:graphicFrame>
      <p:graphicFrame>
        <p:nvGraphicFramePr>
          <p:cNvPr id="930" name="Google Shape;930;p73"/>
          <p:cNvGraphicFramePr/>
          <p:nvPr/>
        </p:nvGraphicFramePr>
        <p:xfrm>
          <a:off x="5279300" y="3134575"/>
          <a:ext cx="3000000" cy="3000000"/>
        </p:xfrm>
        <a:graphic>
          <a:graphicData uri="http://schemas.openxmlformats.org/drawingml/2006/table">
            <a:tbl>
              <a:tblPr>
                <a:noFill/>
                <a:tableStyleId>{6300B9EF-BFE0-4A47-A372-9612E9D491EC}</a:tableStyleId>
              </a:tblPr>
              <a:tblGrid>
                <a:gridCol w="313050"/>
                <a:gridCol w="313050"/>
                <a:gridCol w="313050"/>
                <a:gridCol w="313050"/>
              </a:tblGrid>
              <a:tr h="381000">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0" marB="0" marR="0" marL="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0" marB="0" marR="0" marL="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0" marB="0" marR="0" marL="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t/>
                      </a:r>
                      <a:endParaRPr sz="2000">
                        <a:latin typeface="Lexend"/>
                        <a:ea typeface="Lexend"/>
                        <a:cs typeface="Lexend"/>
                        <a:sym typeface="Lexend"/>
                      </a:endParaRPr>
                    </a:p>
                  </a:txBody>
                  <a:tcPr marT="0" marB="0" marR="0" marL="0">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
        <p:nvSpPr>
          <p:cNvPr id="931" name="Google Shape;931;p73"/>
          <p:cNvSpPr/>
          <p:nvPr/>
        </p:nvSpPr>
        <p:spPr>
          <a:xfrm rot="5400000">
            <a:off x="5810700" y="2320950"/>
            <a:ext cx="199800" cy="1262700"/>
          </a:xfrm>
          <a:prstGeom prst="leftBracket">
            <a:avLst>
              <a:gd fmla="val 0" name="adj"/>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latin typeface="Lexend"/>
              <a:ea typeface="Lexend"/>
              <a:cs typeface="Lexend"/>
              <a:sym typeface="Lexend"/>
            </a:endParaRPr>
          </a:p>
        </p:txBody>
      </p:sp>
      <p:graphicFrame>
        <p:nvGraphicFramePr>
          <p:cNvPr id="932" name="Google Shape;932;p73"/>
          <p:cNvGraphicFramePr/>
          <p:nvPr/>
        </p:nvGraphicFramePr>
        <p:xfrm>
          <a:off x="5279300" y="3134575"/>
          <a:ext cx="3000000" cy="3000000"/>
        </p:xfrm>
        <a:graphic>
          <a:graphicData uri="http://schemas.openxmlformats.org/drawingml/2006/table">
            <a:tbl>
              <a:tblPr>
                <a:noFill/>
                <a:tableStyleId>{6300B9EF-BFE0-4A47-A372-9612E9D491EC}</a:tableStyleId>
              </a:tblPr>
              <a:tblGrid>
                <a:gridCol w="313050"/>
                <a:gridCol w="313050"/>
                <a:gridCol w="313050"/>
                <a:gridCol w="313050"/>
              </a:tblGrid>
              <a:tr h="381000">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a:t>
                      </a:r>
                      <a:endParaRPr sz="2000">
                        <a:latin typeface="Kalam"/>
                        <a:ea typeface="Kalam"/>
                        <a:cs typeface="Kalam"/>
                        <a:sym typeface="Kalam"/>
                      </a:endParaRPr>
                    </a:p>
                  </a:txBody>
                  <a:tcPr marT="0" marB="0" marR="0" marL="0" anchor="ctr">
                    <a:lnL cap="flat" cmpd="sng" w="38100">
                      <a:solidFill>
                        <a:schemeClr val="dk1"/>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7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Using a bar model to find one part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t/>
            </a:r>
            <a:endParaRPr/>
          </a:p>
        </p:txBody>
      </p:sp>
      <p:sp>
        <p:nvSpPr>
          <p:cNvPr id="938" name="Google Shape;938;p74"/>
          <p:cNvSpPr txBox="1"/>
          <p:nvPr/>
        </p:nvSpPr>
        <p:spPr>
          <a:xfrm>
            <a:off x="324000" y="606900"/>
            <a:ext cx="8237700" cy="774600"/>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Clr>
                <a:srgbClr val="000000"/>
              </a:buClr>
              <a:buSzPts val="2200"/>
              <a:buFont typeface="Lexend"/>
              <a:buAutoNum type="arabicParenR"/>
            </a:pPr>
            <a:r>
              <a:rPr lang="en-GB" sz="2200">
                <a:solidFill>
                  <a:srgbClr val="000000"/>
                </a:solidFill>
                <a:latin typeface="Lexend"/>
                <a:ea typeface="Lexend"/>
                <a:cs typeface="Lexend"/>
                <a:sym typeface="Lexend"/>
              </a:rPr>
              <a:t>Use a bar model to find either A or B </a:t>
            </a:r>
            <a:r>
              <a:rPr lang="en-GB" sz="2200">
                <a:latin typeface="Lexend"/>
                <a:ea typeface="Lexend"/>
                <a:cs typeface="Lexend"/>
                <a:sym typeface="Lexend"/>
              </a:rPr>
              <a:t>given</a:t>
            </a:r>
            <a:r>
              <a:rPr lang="en-GB" sz="2200">
                <a:solidFill>
                  <a:srgbClr val="000000"/>
                </a:solidFill>
                <a:latin typeface="Lexend"/>
                <a:ea typeface="Lexend"/>
                <a:cs typeface="Lexend"/>
                <a:sym typeface="Lexend"/>
              </a:rPr>
              <a:t> the ratio:</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rgbClr val="000000"/>
              </a:solidFill>
              <a:latin typeface="Lexend"/>
              <a:ea typeface="Lexend"/>
              <a:cs typeface="Lexend"/>
              <a:sym typeface="Lexend"/>
            </a:endParaRPr>
          </a:p>
        </p:txBody>
      </p:sp>
      <p:graphicFrame>
        <p:nvGraphicFramePr>
          <p:cNvPr id="939" name="Google Shape;939;p74"/>
          <p:cNvGraphicFramePr/>
          <p:nvPr/>
        </p:nvGraphicFramePr>
        <p:xfrm>
          <a:off x="3011400" y="1086625"/>
          <a:ext cx="3000000" cy="3000000"/>
        </p:xfrm>
        <a:graphic>
          <a:graphicData uri="http://schemas.openxmlformats.org/drawingml/2006/table">
            <a:tbl>
              <a:tblPr>
                <a:noFill/>
                <a:tableStyleId>{6300B9EF-BFE0-4A47-A372-9612E9D491EC}</a:tableStyleId>
              </a:tblPr>
              <a:tblGrid>
                <a:gridCol w="1039950"/>
                <a:gridCol w="1039950"/>
                <a:gridCol w="1039950"/>
              </a:tblGrid>
              <a:tr h="381000">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Ratio A</a:t>
                      </a:r>
                      <a:r>
                        <a:rPr b="1" lang="en-GB" sz="2000">
                          <a:solidFill>
                            <a:schemeClr val="lt1"/>
                          </a:solidFill>
                          <a:latin typeface="Lexend"/>
                          <a:ea typeface="Lexend"/>
                          <a:cs typeface="Lexend"/>
                          <a:sym typeface="Lexend"/>
                        </a:rPr>
                        <a:t> </a:t>
                      </a:r>
                      <a:r>
                        <a:rPr b="1" lang="en-GB" sz="2000">
                          <a:solidFill>
                            <a:schemeClr val="lt1"/>
                          </a:solidFill>
                          <a:latin typeface="Lexend"/>
                          <a:ea typeface="Lexend"/>
                          <a:cs typeface="Lexend"/>
                          <a:sym typeface="Lexend"/>
                        </a:rPr>
                        <a:t>:</a:t>
                      </a:r>
                      <a:r>
                        <a:rPr b="1" lang="en-GB" sz="2000">
                          <a:solidFill>
                            <a:schemeClr val="lt1"/>
                          </a:solidFill>
                          <a:latin typeface="Lexend"/>
                          <a:ea typeface="Lexend"/>
                          <a:cs typeface="Lexend"/>
                          <a:sym typeface="Lexend"/>
                        </a:rPr>
                        <a:t> </a:t>
                      </a:r>
                      <a:r>
                        <a:rPr b="1" lang="en-GB" sz="2000">
                          <a:solidFill>
                            <a:schemeClr val="lt1"/>
                          </a:solidFill>
                          <a:latin typeface="Lexend"/>
                          <a:ea typeface="Lexend"/>
                          <a:cs typeface="Lexend"/>
                          <a:sym typeface="Lexend"/>
                        </a:rPr>
                        <a:t>B</a:t>
                      </a:r>
                      <a:endParaRPr b="1" sz="2000">
                        <a:solidFill>
                          <a:schemeClr val="lt1"/>
                        </a:solidFill>
                        <a:latin typeface="Lexend"/>
                        <a:ea typeface="Lexend"/>
                        <a:cs typeface="Lexend"/>
                        <a:sym typeface="Lexend"/>
                      </a:endParaRPr>
                    </a:p>
                  </a:txBody>
                  <a:tcPr marT="0" marB="0" marR="0" marL="0" anchor="ctr">
                    <a:solidFill>
                      <a:schemeClr val="accent4"/>
                    </a:solidFill>
                  </a:tcPr>
                </a:tc>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A</a:t>
                      </a:r>
                      <a:endParaRPr b="1" sz="2000">
                        <a:solidFill>
                          <a:schemeClr val="lt1"/>
                        </a:solidFill>
                        <a:latin typeface="Lexend"/>
                        <a:ea typeface="Lexend"/>
                        <a:cs typeface="Lexend"/>
                        <a:sym typeface="Lexend"/>
                      </a:endParaRPr>
                    </a:p>
                  </a:txBody>
                  <a:tcPr marT="0" marB="0" marR="0" marL="0" anchor="ctr">
                    <a:solidFill>
                      <a:schemeClr val="accent4"/>
                    </a:solidFill>
                  </a:tcPr>
                </a:tc>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B</a:t>
                      </a:r>
                      <a:endParaRPr b="1" sz="2000">
                        <a:solidFill>
                          <a:schemeClr val="lt1"/>
                        </a:solidFill>
                        <a:latin typeface="Lexend"/>
                        <a:ea typeface="Lexend"/>
                        <a:cs typeface="Lexend"/>
                        <a:sym typeface="Lexend"/>
                      </a:endParaRPr>
                    </a:p>
                  </a:txBody>
                  <a:tcPr marT="0" marB="0" marR="0" marL="0" anchor="ctr">
                    <a:solidFill>
                      <a:schemeClr val="accent4"/>
                    </a:solidFill>
                  </a:tcPr>
                </a:tc>
              </a:tr>
              <a:tr h="381000">
                <a:tc>
                  <a:txBody>
                    <a:bodyPr/>
                    <a:lstStyle/>
                    <a:p>
                      <a:pPr indent="0" lvl="0" marL="0" rtl="0" algn="ctr">
                        <a:spcBef>
                          <a:spcPts val="0"/>
                        </a:spcBef>
                        <a:spcAft>
                          <a:spcPts val="0"/>
                        </a:spcAft>
                        <a:buNone/>
                      </a:pPr>
                      <a:r>
                        <a:rPr lang="en-GB" sz="2000">
                          <a:latin typeface="Lexend"/>
                          <a:ea typeface="Lexend"/>
                          <a:cs typeface="Lexend"/>
                          <a:sym typeface="Lexend"/>
                        </a:rPr>
                        <a:t>1</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3</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6</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1</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18</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3</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8</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32</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4</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5</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65</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5</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30</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7</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3</a:t>
                      </a:r>
                      <a:endParaRPr sz="2000">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84</a:t>
                      </a:r>
                      <a:endParaRPr sz="2000">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9</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96</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000">
                          <a:latin typeface="Lexend"/>
                          <a:ea typeface="Lexend"/>
                          <a:cs typeface="Lexend"/>
                          <a:sym typeface="Lexend"/>
                        </a:rPr>
                        <a:t>4</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7</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175</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75"/>
          <p:cNvSpPr txBox="1"/>
          <p:nvPr>
            <p:ph idx="1" type="body"/>
          </p:nvPr>
        </p:nvSpPr>
        <p:spPr>
          <a:xfrm>
            <a:off x="324000" y="759300"/>
            <a:ext cx="83529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   Use a bar model to answer the following:</a:t>
            </a:r>
            <a:endParaRPr sz="2000"/>
          </a:p>
          <a:p>
            <a:pPr indent="-355600" lvl="0" marL="457200" rtl="0" algn="l">
              <a:spcBef>
                <a:spcPts val="1000"/>
              </a:spcBef>
              <a:spcAft>
                <a:spcPts val="0"/>
              </a:spcAft>
              <a:buSzPts val="2000"/>
              <a:buAutoNum type="alphaLcParenR"/>
            </a:pPr>
            <a:r>
              <a:rPr lang="en-GB" sz="2000"/>
              <a:t>Andeep, Sam and Sofia share some sweets in the ratio 3 : 8 : 5 Sofia gets 15 sweets, how many do Andeep and Sam get?</a:t>
            </a:r>
            <a:endParaRPr sz="2000"/>
          </a:p>
          <a:p>
            <a:pPr indent="0" lvl="0" marL="457200" rtl="0" algn="l">
              <a:spcBef>
                <a:spcPts val="0"/>
              </a:spcBef>
              <a:spcAft>
                <a:spcPts val="0"/>
              </a:spcAft>
              <a:buNone/>
            </a:pPr>
            <a:r>
              <a:t/>
            </a:r>
            <a:endParaRPr sz="1400"/>
          </a:p>
          <a:p>
            <a:pPr indent="-355600" lvl="0" marL="457200" rtl="0" algn="l">
              <a:spcBef>
                <a:spcPts val="0"/>
              </a:spcBef>
              <a:spcAft>
                <a:spcPts val="0"/>
              </a:spcAft>
              <a:buSzPts val="2000"/>
              <a:buAutoNum type="alphaLcParenR"/>
            </a:pPr>
            <a:r>
              <a:rPr lang="en-GB" sz="2000"/>
              <a:t>The lengths of the sides of a triangle are in the ratio of 7 : 6 : 4  The shortest length is 12 cm, what are the lengths of the other 2 sides?</a:t>
            </a:r>
            <a:endParaRPr sz="2000"/>
          </a:p>
          <a:p>
            <a:pPr indent="0" lvl="0" marL="457200" rtl="0" algn="l">
              <a:spcBef>
                <a:spcPts val="0"/>
              </a:spcBef>
              <a:spcAft>
                <a:spcPts val="0"/>
              </a:spcAft>
              <a:buNone/>
            </a:pPr>
            <a:r>
              <a:t/>
            </a:r>
            <a:endParaRPr sz="1400"/>
          </a:p>
          <a:p>
            <a:pPr indent="-355600" lvl="0" marL="457200" rtl="0" algn="l">
              <a:spcBef>
                <a:spcPts val="0"/>
              </a:spcBef>
              <a:spcAft>
                <a:spcPts val="0"/>
              </a:spcAft>
              <a:buSzPts val="2000"/>
              <a:buAutoNum type="alphaLcParenR"/>
            </a:pPr>
            <a:r>
              <a:rPr lang="en-GB" sz="2000"/>
              <a:t>The ratio of flour to butter to sugar in a cookie recipe is 3 : 2 : 1  You use 450 grams of flour, how much butter and sugar do you need?</a:t>
            </a:r>
            <a:endParaRPr sz="2000"/>
          </a:p>
          <a:p>
            <a:pPr indent="0" lvl="0" marL="457200" rtl="0" algn="l">
              <a:spcBef>
                <a:spcPts val="0"/>
              </a:spcBef>
              <a:spcAft>
                <a:spcPts val="1000"/>
              </a:spcAft>
              <a:buNone/>
            </a:pPr>
            <a:r>
              <a:t/>
            </a:r>
            <a:endParaRPr sz="2000"/>
          </a:p>
        </p:txBody>
      </p:sp>
      <p:sp>
        <p:nvSpPr>
          <p:cNvPr id="945" name="Google Shape;945;p7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a bar model to find one part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7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a bar model to find one part</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sp>
        <p:nvSpPr>
          <p:cNvPr id="951" name="Google Shape;951;p76"/>
          <p:cNvSpPr txBox="1"/>
          <p:nvPr/>
        </p:nvSpPr>
        <p:spPr>
          <a:xfrm>
            <a:off x="324000" y="606900"/>
            <a:ext cx="8237700" cy="774600"/>
          </a:xfrm>
          <a:prstGeom prst="rect">
            <a:avLst/>
          </a:prstGeom>
          <a:noFill/>
          <a:ln>
            <a:noFill/>
          </a:ln>
        </p:spPr>
        <p:txBody>
          <a:bodyPr anchorCtr="0" anchor="t" bIns="0" lIns="0" spcFirstLastPara="1" rIns="0" wrap="square" tIns="0">
            <a:noAutofit/>
          </a:bodyPr>
          <a:lstStyle/>
          <a:p>
            <a:pPr indent="-368300" lvl="0" marL="457200" rtl="0" algn="l">
              <a:lnSpc>
                <a:spcPct val="115000"/>
              </a:lnSpc>
              <a:spcBef>
                <a:spcPts val="0"/>
              </a:spcBef>
              <a:spcAft>
                <a:spcPts val="0"/>
              </a:spcAft>
              <a:buClr>
                <a:srgbClr val="000000"/>
              </a:buClr>
              <a:buSzPts val="2200"/>
              <a:buFont typeface="Lexend"/>
              <a:buAutoNum type="arabicParenR"/>
            </a:pPr>
            <a:r>
              <a:rPr lang="en-GB" sz="2200">
                <a:solidFill>
                  <a:srgbClr val="000000"/>
                </a:solidFill>
                <a:latin typeface="Lexend"/>
                <a:ea typeface="Lexend"/>
                <a:cs typeface="Lexend"/>
                <a:sym typeface="Lexend"/>
              </a:rPr>
              <a:t>Use a bar model to find either A or B </a:t>
            </a:r>
            <a:r>
              <a:rPr lang="en-GB" sz="2200">
                <a:latin typeface="Lexend"/>
                <a:ea typeface="Lexend"/>
                <a:cs typeface="Lexend"/>
                <a:sym typeface="Lexend"/>
              </a:rPr>
              <a:t>given</a:t>
            </a:r>
            <a:r>
              <a:rPr lang="en-GB" sz="2200">
                <a:solidFill>
                  <a:srgbClr val="000000"/>
                </a:solidFill>
                <a:latin typeface="Lexend"/>
                <a:ea typeface="Lexend"/>
                <a:cs typeface="Lexend"/>
                <a:sym typeface="Lexend"/>
              </a:rPr>
              <a:t> the ratio:</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2200">
              <a:solidFill>
                <a:srgbClr val="000000"/>
              </a:solidFill>
              <a:latin typeface="Lexend"/>
              <a:ea typeface="Lexend"/>
              <a:cs typeface="Lexend"/>
              <a:sym typeface="Lexend"/>
            </a:endParaRPr>
          </a:p>
        </p:txBody>
      </p:sp>
      <p:graphicFrame>
        <p:nvGraphicFramePr>
          <p:cNvPr id="952" name="Google Shape;952;p76"/>
          <p:cNvGraphicFramePr/>
          <p:nvPr/>
        </p:nvGraphicFramePr>
        <p:xfrm>
          <a:off x="3011400" y="1086625"/>
          <a:ext cx="3000000" cy="3000000"/>
        </p:xfrm>
        <a:graphic>
          <a:graphicData uri="http://schemas.openxmlformats.org/drawingml/2006/table">
            <a:tbl>
              <a:tblPr>
                <a:noFill/>
                <a:tableStyleId>{6300B9EF-BFE0-4A47-A372-9612E9D491EC}</a:tableStyleId>
              </a:tblPr>
              <a:tblGrid>
                <a:gridCol w="1039950"/>
                <a:gridCol w="1039950"/>
                <a:gridCol w="1039950"/>
              </a:tblGrid>
              <a:tr h="381000">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Ratio A</a:t>
                      </a:r>
                      <a:r>
                        <a:rPr b="1" lang="en-GB" sz="2000">
                          <a:solidFill>
                            <a:schemeClr val="lt1"/>
                          </a:solidFill>
                          <a:latin typeface="Lexend"/>
                          <a:ea typeface="Lexend"/>
                          <a:cs typeface="Lexend"/>
                          <a:sym typeface="Lexend"/>
                        </a:rPr>
                        <a:t> </a:t>
                      </a:r>
                      <a:r>
                        <a:rPr b="1" lang="en-GB" sz="2000">
                          <a:solidFill>
                            <a:schemeClr val="lt1"/>
                          </a:solidFill>
                          <a:latin typeface="Lexend"/>
                          <a:ea typeface="Lexend"/>
                          <a:cs typeface="Lexend"/>
                          <a:sym typeface="Lexend"/>
                        </a:rPr>
                        <a:t>:</a:t>
                      </a:r>
                      <a:r>
                        <a:rPr b="1" lang="en-GB" sz="2000">
                          <a:solidFill>
                            <a:schemeClr val="lt1"/>
                          </a:solidFill>
                          <a:latin typeface="Lexend"/>
                          <a:ea typeface="Lexend"/>
                          <a:cs typeface="Lexend"/>
                          <a:sym typeface="Lexend"/>
                        </a:rPr>
                        <a:t> </a:t>
                      </a:r>
                      <a:r>
                        <a:rPr b="1" lang="en-GB" sz="2000">
                          <a:solidFill>
                            <a:schemeClr val="lt1"/>
                          </a:solidFill>
                          <a:latin typeface="Lexend"/>
                          <a:ea typeface="Lexend"/>
                          <a:cs typeface="Lexend"/>
                          <a:sym typeface="Lexend"/>
                        </a:rPr>
                        <a:t>B</a:t>
                      </a:r>
                      <a:endParaRPr b="1" sz="2000">
                        <a:solidFill>
                          <a:schemeClr val="lt1"/>
                        </a:solidFill>
                        <a:latin typeface="Lexend"/>
                        <a:ea typeface="Lexend"/>
                        <a:cs typeface="Lexend"/>
                        <a:sym typeface="Lexend"/>
                      </a:endParaRPr>
                    </a:p>
                  </a:txBody>
                  <a:tcPr marT="0" marB="0" marR="0" marL="0" anchor="ctr">
                    <a:solidFill>
                      <a:schemeClr val="accent4"/>
                    </a:solidFill>
                  </a:tcPr>
                </a:tc>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A</a:t>
                      </a:r>
                      <a:endParaRPr b="1" sz="2000">
                        <a:solidFill>
                          <a:schemeClr val="lt1"/>
                        </a:solidFill>
                        <a:latin typeface="Lexend"/>
                        <a:ea typeface="Lexend"/>
                        <a:cs typeface="Lexend"/>
                        <a:sym typeface="Lexend"/>
                      </a:endParaRPr>
                    </a:p>
                  </a:txBody>
                  <a:tcPr marT="0" marB="0" marR="0" marL="0" anchor="ctr">
                    <a:solidFill>
                      <a:schemeClr val="accent4"/>
                    </a:solidFill>
                  </a:tcPr>
                </a:tc>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B</a:t>
                      </a:r>
                      <a:endParaRPr b="1" sz="2000">
                        <a:solidFill>
                          <a:schemeClr val="lt1"/>
                        </a:solidFill>
                        <a:latin typeface="Lexend"/>
                        <a:ea typeface="Lexend"/>
                        <a:cs typeface="Lexend"/>
                        <a:sym typeface="Lexend"/>
                      </a:endParaRPr>
                    </a:p>
                  </a:txBody>
                  <a:tcPr marT="0" marB="0" marR="0" marL="0" anchor="ctr">
                    <a:solidFill>
                      <a:schemeClr val="accent4"/>
                    </a:solidFill>
                  </a:tcPr>
                </a:tc>
              </a:tr>
              <a:tr h="381000">
                <a:tc>
                  <a:txBody>
                    <a:bodyPr/>
                    <a:lstStyle/>
                    <a:p>
                      <a:pPr indent="0" lvl="0" marL="0" rtl="0" algn="ctr">
                        <a:spcBef>
                          <a:spcPts val="0"/>
                        </a:spcBef>
                        <a:spcAft>
                          <a:spcPts val="0"/>
                        </a:spcAft>
                        <a:buNone/>
                      </a:pPr>
                      <a:r>
                        <a:rPr lang="en-GB" sz="2000">
                          <a:latin typeface="Lexend"/>
                          <a:ea typeface="Lexend"/>
                          <a:cs typeface="Lexend"/>
                          <a:sym typeface="Lexend"/>
                        </a:rPr>
                        <a:t>1</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3</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6</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18</a:t>
                      </a:r>
                      <a:endParaRPr sz="2000">
                        <a:latin typeface="Kalam"/>
                        <a:ea typeface="Kalam"/>
                        <a:cs typeface="Kalam"/>
                        <a:sym typeface="Kalam"/>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1</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18</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9</a:t>
                      </a:r>
                      <a:endParaRPr sz="2000">
                        <a:latin typeface="Kalam"/>
                        <a:ea typeface="Kalam"/>
                        <a:cs typeface="Kalam"/>
                        <a:sym typeface="Kalam"/>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3</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8</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12</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32</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4</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5</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52</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65</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5</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12</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30</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7</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3</a:t>
                      </a:r>
                      <a:endParaRPr sz="2000">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84</a:t>
                      </a:r>
                      <a:endParaRPr sz="2000">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36</a:t>
                      </a:r>
                      <a:endParaRPr sz="2000">
                        <a:latin typeface="Kalam"/>
                        <a:ea typeface="Kalam"/>
                        <a:cs typeface="Kalam"/>
                        <a:sym typeface="Kalam"/>
                      </a:endParaRPr>
                    </a:p>
                  </a:txBody>
                  <a:tcPr marT="0" marB="0" marR="0" marL="0"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9</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96</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432</a:t>
                      </a:r>
                      <a:endParaRPr sz="20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000">
                          <a:latin typeface="Lexend"/>
                          <a:ea typeface="Lexend"/>
                          <a:cs typeface="Lexend"/>
                          <a:sym typeface="Lexend"/>
                        </a:rPr>
                        <a:t>4</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7</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100</a:t>
                      </a:r>
                      <a:endParaRPr sz="20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175</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77"/>
          <p:cNvSpPr txBox="1"/>
          <p:nvPr>
            <p:ph idx="1" type="body"/>
          </p:nvPr>
        </p:nvSpPr>
        <p:spPr>
          <a:xfrm>
            <a:off x="392600" y="759300"/>
            <a:ext cx="84273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   Use a bar model to answer the following:</a:t>
            </a:r>
            <a:endParaRPr sz="2000"/>
          </a:p>
          <a:p>
            <a:pPr indent="-355600" lvl="0" marL="457200" rtl="0" algn="l">
              <a:spcBef>
                <a:spcPts val="1000"/>
              </a:spcBef>
              <a:spcAft>
                <a:spcPts val="0"/>
              </a:spcAft>
              <a:buSzPts val="2000"/>
              <a:buAutoNum type="alphaLcParenR"/>
            </a:pPr>
            <a:r>
              <a:rPr lang="en-GB" sz="2000"/>
              <a:t>Andeep, Sam and Sofia share some sweets in the ratio 3 : 8 : 5  Sofia gets 15 sweets, how many do Andeep and Sam get?</a:t>
            </a:r>
            <a:r>
              <a:rPr lang="en-GB" sz="2000">
                <a:latin typeface="Kalam"/>
                <a:ea typeface="Kalam"/>
                <a:cs typeface="Kalam"/>
                <a:sym typeface="Kalam"/>
              </a:rPr>
              <a:t>	</a:t>
            </a:r>
            <a:r>
              <a:rPr lang="en-GB" sz="2000">
                <a:latin typeface="Kalam"/>
                <a:ea typeface="Kalam"/>
                <a:cs typeface="Kalam"/>
                <a:sym typeface="Kalam"/>
              </a:rPr>
              <a:t>Andeep = 9 and Sam = 24</a:t>
            </a:r>
            <a:endParaRPr sz="2000">
              <a:latin typeface="Kalam"/>
              <a:ea typeface="Kalam"/>
              <a:cs typeface="Kalam"/>
              <a:sym typeface="Kalam"/>
            </a:endParaRPr>
          </a:p>
          <a:p>
            <a:pPr indent="-355600" lvl="0" marL="457200" rtl="0" algn="l">
              <a:spcBef>
                <a:spcPts val="0"/>
              </a:spcBef>
              <a:spcAft>
                <a:spcPts val="0"/>
              </a:spcAft>
              <a:buSzPts val="2000"/>
              <a:buAutoNum type="alphaLcParenR"/>
            </a:pPr>
            <a:r>
              <a:rPr lang="en-GB" sz="2000"/>
              <a:t>The lengths of the sides of a triangle are in the ratio of 7 : 6 : 4  The shortest length is 12 cm, what are the lengths of the other 2 sides?		</a:t>
            </a:r>
            <a:r>
              <a:rPr lang="en-GB" sz="2000">
                <a:latin typeface="Kalam"/>
                <a:ea typeface="Kalam"/>
                <a:cs typeface="Kalam"/>
                <a:sym typeface="Kalam"/>
              </a:rPr>
              <a:t>21 cm and 18 c</a:t>
            </a:r>
            <a:r>
              <a:rPr lang="en-GB" sz="2000">
                <a:latin typeface="Kalam"/>
                <a:ea typeface="Kalam"/>
                <a:cs typeface="Kalam"/>
                <a:sym typeface="Kalam"/>
              </a:rPr>
              <a:t>m</a:t>
            </a:r>
            <a:endParaRPr sz="2000">
              <a:latin typeface="Kalam"/>
              <a:ea typeface="Kalam"/>
              <a:cs typeface="Kalam"/>
              <a:sym typeface="Kalam"/>
            </a:endParaRPr>
          </a:p>
          <a:p>
            <a:pPr indent="-355600" lvl="0" marL="457200" rtl="0" algn="l">
              <a:spcBef>
                <a:spcPts val="0"/>
              </a:spcBef>
              <a:spcAft>
                <a:spcPts val="0"/>
              </a:spcAft>
              <a:buSzPts val="2000"/>
              <a:buAutoNum type="alphaLcParenR"/>
            </a:pPr>
            <a:r>
              <a:rPr lang="en-GB" sz="2000"/>
              <a:t>The ratio of flour to butter to sugar in a cookie recipe is 3 : 2 : 1  You use 450 grams of flour, how much butter and sugar do you need?	</a:t>
            </a:r>
            <a:r>
              <a:rPr lang="en-GB" sz="2000">
                <a:latin typeface="Kalam"/>
                <a:ea typeface="Kalam"/>
                <a:cs typeface="Kalam"/>
                <a:sym typeface="Kalam"/>
              </a:rPr>
              <a:t>Butter = 300 g and sugar = 150 g</a:t>
            </a:r>
            <a:endParaRPr sz="2000">
              <a:latin typeface="Kalam"/>
              <a:ea typeface="Kalam"/>
              <a:cs typeface="Kalam"/>
              <a:sym typeface="Kalam"/>
            </a:endParaRPr>
          </a:p>
          <a:p>
            <a:pPr indent="0" lvl="0" marL="457200" rtl="0" algn="l">
              <a:spcBef>
                <a:spcPts val="1000"/>
              </a:spcBef>
              <a:spcAft>
                <a:spcPts val="1000"/>
              </a:spcAft>
              <a:buNone/>
            </a:pPr>
            <a:r>
              <a:t/>
            </a:r>
            <a:endParaRPr sz="2000"/>
          </a:p>
        </p:txBody>
      </p:sp>
      <p:sp>
        <p:nvSpPr>
          <p:cNvPr id="958" name="Google Shape;958;p7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a bar model to find one part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7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a bar model to find one part</a:t>
            </a:r>
            <a:endParaRPr/>
          </a:p>
        </p:txBody>
      </p:sp>
      <p:sp>
        <p:nvSpPr>
          <p:cNvPr id="964" name="Google Shape;964;p7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ratio tables to find one part</a:t>
            </a:r>
            <a:endParaRPr/>
          </a:p>
        </p:txBody>
      </p:sp>
      <p:sp>
        <p:nvSpPr>
          <p:cNvPr id="965" name="Google Shape;965;p7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Determining the part</a:t>
            </a:r>
            <a:endParaRPr/>
          </a:p>
        </p:txBody>
      </p:sp>
      <p:pic>
        <p:nvPicPr>
          <p:cNvPr id="966" name="Google Shape;966;p78"/>
          <p:cNvPicPr preferRelativeResize="0"/>
          <p:nvPr/>
        </p:nvPicPr>
        <p:blipFill>
          <a:blip r:embed="rId3">
            <a:alphaModFix/>
          </a:blip>
          <a:stretch>
            <a:fillRect/>
          </a:stretch>
        </p:blipFill>
        <p:spPr>
          <a:xfrm>
            <a:off x="413225" y="2988375"/>
            <a:ext cx="450575" cy="4467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Using ratio tables to find one part</a:t>
            </a:r>
            <a:endParaRPr/>
          </a:p>
        </p:txBody>
      </p:sp>
      <p:sp>
        <p:nvSpPr>
          <p:cNvPr id="972" name="Google Shape;972;p79"/>
          <p:cNvSpPr txBox="1"/>
          <p:nvPr/>
        </p:nvSpPr>
        <p:spPr>
          <a:xfrm>
            <a:off x="324000" y="759300"/>
            <a:ext cx="8237700" cy="189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200">
                <a:solidFill>
                  <a:srgbClr val="000000"/>
                </a:solidFill>
                <a:latin typeface="Lexend"/>
                <a:ea typeface="Lexend"/>
                <a:cs typeface="Lexend"/>
                <a:sym typeface="Lexend"/>
              </a:rPr>
              <a:t>The ratio of orange juice to lemonade in a drink is 3</a:t>
            </a:r>
            <a:r>
              <a:rPr lang="en-GB" sz="2000">
                <a:solidFill>
                  <a:schemeClr val="dk1"/>
                </a:solidFill>
                <a:latin typeface="Lexend"/>
                <a:ea typeface="Lexend"/>
                <a:cs typeface="Lexend"/>
                <a:sym typeface="Lexend"/>
              </a:rPr>
              <a:t> </a:t>
            </a:r>
            <a:r>
              <a:rPr lang="en-GB" sz="2200">
                <a:solidFill>
                  <a:srgbClr val="000000"/>
                </a:solidFill>
                <a:latin typeface="Lexend"/>
                <a:ea typeface="Lexend"/>
                <a:cs typeface="Lexend"/>
                <a:sym typeface="Lexend"/>
              </a:rPr>
              <a:t>:</a:t>
            </a:r>
            <a:r>
              <a:rPr lang="en-GB" sz="2000">
                <a:solidFill>
                  <a:schemeClr val="dk1"/>
                </a:solidFill>
                <a:latin typeface="Lexend"/>
                <a:ea typeface="Lexend"/>
                <a:cs typeface="Lexend"/>
                <a:sym typeface="Lexend"/>
              </a:rPr>
              <a:t> </a:t>
            </a:r>
            <a:r>
              <a:rPr lang="en-GB" sz="2200">
                <a:solidFill>
                  <a:srgbClr val="000000"/>
                </a:solidFill>
                <a:latin typeface="Lexend"/>
                <a:ea typeface="Lexend"/>
                <a:cs typeface="Lexend"/>
                <a:sym typeface="Lexend"/>
              </a:rPr>
              <a:t>7</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2200">
                <a:solidFill>
                  <a:srgbClr val="000000"/>
                </a:solidFill>
                <a:latin typeface="Lexend"/>
                <a:ea typeface="Lexend"/>
                <a:cs typeface="Lexend"/>
                <a:sym typeface="Lexend"/>
              </a:rPr>
              <a:t>Sofia wants to make a jug of the drink.</a:t>
            </a:r>
            <a:endParaRPr sz="22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2200">
                <a:latin typeface="Lexend"/>
                <a:ea typeface="Lexend"/>
                <a:cs typeface="Lexend"/>
                <a:sym typeface="Lexend"/>
              </a:rPr>
              <a:t>She has 600 ml of orange juice.</a:t>
            </a:r>
            <a:endParaRPr sz="2200">
              <a:latin typeface="Lexend"/>
              <a:ea typeface="Lexend"/>
              <a:cs typeface="Lexend"/>
              <a:sym typeface="Lexend"/>
            </a:endParaRPr>
          </a:p>
          <a:p>
            <a:pPr indent="0" lvl="0" marL="0" rtl="0" algn="l">
              <a:lnSpc>
                <a:spcPct val="115000"/>
              </a:lnSpc>
              <a:spcBef>
                <a:spcPts val="1000"/>
              </a:spcBef>
              <a:spcAft>
                <a:spcPts val="1000"/>
              </a:spcAft>
              <a:buNone/>
            </a:pPr>
            <a:r>
              <a:rPr lang="en-GB" sz="2200">
                <a:latin typeface="Lexend"/>
                <a:ea typeface="Lexend"/>
                <a:cs typeface="Lexend"/>
                <a:sym typeface="Lexend"/>
              </a:rPr>
              <a:t>How much </a:t>
            </a:r>
            <a:r>
              <a:rPr lang="en-GB" sz="2200">
                <a:solidFill>
                  <a:schemeClr val="accent5"/>
                </a:solidFill>
                <a:latin typeface="Lexend"/>
                <a:ea typeface="Lexend"/>
                <a:cs typeface="Lexend"/>
                <a:sym typeface="Lexend"/>
              </a:rPr>
              <a:t>lemonade</a:t>
            </a:r>
            <a:r>
              <a:rPr lang="en-GB" sz="2200">
                <a:latin typeface="Lexend"/>
                <a:ea typeface="Lexend"/>
                <a:cs typeface="Lexend"/>
                <a:sym typeface="Lexend"/>
              </a:rPr>
              <a:t> does she need?</a:t>
            </a:r>
            <a:endParaRPr sz="2200">
              <a:solidFill>
                <a:srgbClr val="000000"/>
              </a:solidFill>
              <a:latin typeface="Lexend"/>
              <a:ea typeface="Lexend"/>
              <a:cs typeface="Lexend"/>
              <a:sym typeface="Lexend"/>
            </a:endParaRPr>
          </a:p>
        </p:txBody>
      </p:sp>
      <p:graphicFrame>
        <p:nvGraphicFramePr>
          <p:cNvPr id="973" name="Google Shape;973;p79"/>
          <p:cNvGraphicFramePr/>
          <p:nvPr/>
        </p:nvGraphicFramePr>
        <p:xfrm>
          <a:off x="2908072" y="2923775"/>
          <a:ext cx="3000000" cy="3000000"/>
        </p:xfrm>
        <a:graphic>
          <a:graphicData uri="http://schemas.openxmlformats.org/drawingml/2006/table">
            <a:tbl>
              <a:tblPr>
                <a:noFill/>
                <a:tableStyleId>{6300B9EF-BFE0-4A47-A372-9612E9D491EC}</a:tableStyleId>
              </a:tblPr>
              <a:tblGrid>
                <a:gridCol w="2204700"/>
                <a:gridCol w="2204700"/>
              </a:tblGrid>
              <a:tr h="381000">
                <a:tc>
                  <a:txBody>
                    <a:bodyPr/>
                    <a:lstStyle/>
                    <a:p>
                      <a:pPr indent="0" lvl="0" marL="0" rtl="0" algn="ctr">
                        <a:spcBef>
                          <a:spcPts val="0"/>
                        </a:spcBef>
                        <a:spcAft>
                          <a:spcPts val="0"/>
                        </a:spcAft>
                        <a:buNone/>
                      </a:pPr>
                      <a:r>
                        <a:rPr lang="en-GB" sz="2200">
                          <a:latin typeface="Lexend"/>
                          <a:ea typeface="Lexend"/>
                          <a:cs typeface="Lexend"/>
                          <a:sym typeface="Lexend"/>
                        </a:rPr>
                        <a:t>Orange juice</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Lemonade</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3</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60</a:t>
                      </a:r>
                      <a:r>
                        <a:rPr lang="en-GB" sz="2200">
                          <a:latin typeface="Lexend"/>
                          <a:ea typeface="Lexend"/>
                          <a:cs typeface="Lexend"/>
                          <a:sym typeface="Lexend"/>
                        </a:rPr>
                        <a:t>0</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1400</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974" name="Google Shape;974;p79"/>
          <p:cNvGraphicFramePr/>
          <p:nvPr/>
        </p:nvGraphicFramePr>
        <p:xfrm>
          <a:off x="7317472" y="2923775"/>
          <a:ext cx="3000000" cy="3000000"/>
        </p:xfrm>
        <a:graphic>
          <a:graphicData uri="http://schemas.openxmlformats.org/drawingml/2006/table">
            <a:tbl>
              <a:tblPr>
                <a:noFill/>
                <a:tableStyleId>{6300B9EF-BFE0-4A47-A372-9612E9D491EC}</a:tableStyleId>
              </a:tblPr>
              <a:tblGrid>
                <a:gridCol w="1072025"/>
              </a:tblGrid>
              <a:tr h="518125">
                <a:tc>
                  <a:txBody>
                    <a:bodyPr/>
                    <a:lstStyle/>
                    <a:p>
                      <a:pPr indent="0" lvl="0" marL="0" rtl="0" algn="ctr">
                        <a:spcBef>
                          <a:spcPts val="0"/>
                        </a:spcBef>
                        <a:spcAft>
                          <a:spcPts val="0"/>
                        </a:spcAft>
                        <a:buNone/>
                      </a:pPr>
                      <a:r>
                        <a:rPr lang="en-GB" sz="2200">
                          <a:latin typeface="Lexend"/>
                          <a:ea typeface="Lexend"/>
                          <a:cs typeface="Lexend"/>
                          <a:sym typeface="Lexend"/>
                        </a:rPr>
                        <a:t>Total</a:t>
                      </a:r>
                      <a:endParaRPr sz="2200">
                        <a:latin typeface="Lexend"/>
                        <a:ea typeface="Lexend"/>
                        <a:cs typeface="Lexend"/>
                        <a:sym typeface="Lexe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18125">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1812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975" name="Google Shape;975;p79"/>
          <p:cNvGrpSpPr/>
          <p:nvPr/>
        </p:nvGrpSpPr>
        <p:grpSpPr>
          <a:xfrm>
            <a:off x="697750" y="3091050"/>
            <a:ext cx="2713350" cy="1377900"/>
            <a:chOff x="697750" y="3091050"/>
            <a:chExt cx="2713350" cy="1377900"/>
          </a:xfrm>
        </p:grpSpPr>
        <p:sp>
          <p:nvSpPr>
            <p:cNvPr id="976" name="Google Shape;976;p79"/>
            <p:cNvSpPr txBox="1"/>
            <p:nvPr/>
          </p:nvSpPr>
          <p:spPr>
            <a:xfrm>
              <a:off x="697750" y="3091050"/>
              <a:ext cx="1559400" cy="137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What is the multiplicative relationship between these?</a:t>
              </a:r>
              <a:endParaRPr sz="1800">
                <a:latin typeface="Lexend"/>
                <a:ea typeface="Lexend"/>
                <a:cs typeface="Lexend"/>
                <a:sym typeface="Lexend"/>
              </a:endParaRPr>
            </a:p>
          </p:txBody>
        </p:sp>
        <p:cxnSp>
          <p:nvCxnSpPr>
            <p:cNvPr id="977" name="Google Shape;977;p79"/>
            <p:cNvCxnSpPr/>
            <p:nvPr/>
          </p:nvCxnSpPr>
          <p:spPr>
            <a:xfrm flipH="1" rot="10800000">
              <a:off x="2140600" y="3697075"/>
              <a:ext cx="1270500" cy="95400"/>
            </a:xfrm>
            <a:prstGeom prst="straightConnector1">
              <a:avLst/>
            </a:prstGeom>
            <a:noFill/>
            <a:ln cap="flat" cmpd="sng" w="38100">
              <a:solidFill>
                <a:srgbClr val="808080"/>
              </a:solidFill>
              <a:prstDash val="solid"/>
              <a:round/>
              <a:headEnd len="med" w="med" type="none"/>
              <a:tailEnd len="med" w="med" type="triangle"/>
            </a:ln>
          </p:spPr>
        </p:cxnSp>
        <p:cxnSp>
          <p:nvCxnSpPr>
            <p:cNvPr id="978" name="Google Shape;978;p79"/>
            <p:cNvCxnSpPr/>
            <p:nvPr/>
          </p:nvCxnSpPr>
          <p:spPr>
            <a:xfrm>
              <a:off x="2140600" y="3905150"/>
              <a:ext cx="1225500" cy="374400"/>
            </a:xfrm>
            <a:prstGeom prst="straightConnector1">
              <a:avLst/>
            </a:prstGeom>
            <a:noFill/>
            <a:ln cap="flat" cmpd="sng" w="38100">
              <a:solidFill>
                <a:srgbClr val="808080"/>
              </a:solidFill>
              <a:prstDash val="solid"/>
              <a:round/>
              <a:headEnd len="med" w="med" type="none"/>
              <a:tailEnd len="med" w="med" type="triangle"/>
            </a:ln>
          </p:spPr>
        </p:cxnSp>
      </p:grpSp>
      <p:sp>
        <p:nvSpPr>
          <p:cNvPr id="979" name="Google Shape;979;p79"/>
          <p:cNvSpPr/>
          <p:nvPr/>
        </p:nvSpPr>
        <p:spPr>
          <a:xfrm>
            <a:off x="3708600" y="4086425"/>
            <a:ext cx="560100" cy="297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80" name="Google Shape;980;p79"/>
          <p:cNvGrpSpPr/>
          <p:nvPr/>
        </p:nvGrpSpPr>
        <p:grpSpPr>
          <a:xfrm>
            <a:off x="1558925" y="3678126"/>
            <a:ext cx="1583100" cy="600600"/>
            <a:chOff x="1558925" y="3678126"/>
            <a:chExt cx="1583100" cy="600600"/>
          </a:xfrm>
        </p:grpSpPr>
        <p:sp>
          <p:nvSpPr>
            <p:cNvPr id="981" name="Google Shape;981;p79"/>
            <p:cNvSpPr txBox="1"/>
            <p:nvPr/>
          </p:nvSpPr>
          <p:spPr>
            <a:xfrm>
              <a:off x="1558925" y="3824669"/>
              <a:ext cx="816000" cy="29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 200 </a:t>
              </a:r>
              <a:endParaRPr sz="2200">
                <a:latin typeface="Lexend"/>
                <a:ea typeface="Lexend"/>
                <a:cs typeface="Lexend"/>
                <a:sym typeface="Lexend"/>
              </a:endParaRPr>
            </a:p>
          </p:txBody>
        </p:sp>
        <p:sp>
          <p:nvSpPr>
            <p:cNvPr id="982" name="Google Shape;982;p79"/>
            <p:cNvSpPr/>
            <p:nvPr/>
          </p:nvSpPr>
          <p:spPr>
            <a:xfrm flipH="1" rot="-5400000">
              <a:off x="2492075" y="3628776"/>
              <a:ext cx="600600" cy="699300"/>
            </a:xfrm>
            <a:prstGeom prst="arc">
              <a:avLst>
                <a:gd fmla="val 10729459" name="adj1"/>
                <a:gd fmla="val 156642" name="adj2"/>
              </a:avLst>
            </a:prstGeom>
            <a:noFill/>
            <a:ln cap="flat" cmpd="sng" w="3810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83" name="Google Shape;983;p79"/>
          <p:cNvSpPr/>
          <p:nvPr/>
        </p:nvSpPr>
        <p:spPr>
          <a:xfrm>
            <a:off x="5774400" y="4086425"/>
            <a:ext cx="842100" cy="297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4" name="Google Shape;984;p79"/>
          <p:cNvSpPr txBox="1"/>
          <p:nvPr/>
        </p:nvSpPr>
        <p:spPr>
          <a:xfrm>
            <a:off x="2916300" y="4516050"/>
            <a:ext cx="4264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Kalam"/>
                <a:ea typeface="Kalam"/>
                <a:cs typeface="Kalam"/>
                <a:sym typeface="Kalam"/>
              </a:rPr>
              <a:t>Sofia needs 1400 ml of lemonade.</a:t>
            </a:r>
            <a:endParaRPr sz="22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80"/>
          <p:cNvSpPr txBox="1"/>
          <p:nvPr/>
        </p:nvSpPr>
        <p:spPr>
          <a:xfrm>
            <a:off x="2916300" y="4508419"/>
            <a:ext cx="42648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Kalam"/>
                <a:ea typeface="Kalam"/>
                <a:cs typeface="Kalam"/>
                <a:sym typeface="Kalam"/>
              </a:rPr>
              <a:t>Charity B got</a:t>
            </a:r>
            <a:r>
              <a:rPr lang="en-GB" sz="2200">
                <a:latin typeface="Kalam"/>
                <a:ea typeface="Kalam"/>
                <a:cs typeface="Kalam"/>
                <a:sym typeface="Kalam"/>
              </a:rPr>
              <a:t> £100.</a:t>
            </a:r>
            <a:endParaRPr sz="2200">
              <a:latin typeface="Kalam"/>
              <a:ea typeface="Kalam"/>
              <a:cs typeface="Kalam"/>
              <a:sym typeface="Kalam"/>
            </a:endParaRPr>
          </a:p>
        </p:txBody>
      </p:sp>
      <p:sp>
        <p:nvSpPr>
          <p:cNvPr id="990" name="Google Shape;990;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Using ratio tables to find one part</a:t>
            </a:r>
            <a:endParaRPr/>
          </a:p>
        </p:txBody>
      </p:sp>
      <p:sp>
        <p:nvSpPr>
          <p:cNvPr id="991" name="Google Shape;991;p80"/>
          <p:cNvSpPr txBox="1"/>
          <p:nvPr>
            <p:ph idx="1" type="body"/>
          </p:nvPr>
        </p:nvSpPr>
        <p:spPr>
          <a:xfrm>
            <a:off x="324000" y="599269"/>
            <a:ext cx="8237700" cy="2224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Lucas and Aisha raise some money doing a sponsored silence.</a:t>
            </a:r>
            <a:endParaRPr/>
          </a:p>
          <a:p>
            <a:pPr indent="0" lvl="0" marL="0" rtl="0" algn="l">
              <a:spcBef>
                <a:spcPts val="1000"/>
              </a:spcBef>
              <a:spcAft>
                <a:spcPts val="0"/>
              </a:spcAft>
              <a:buNone/>
            </a:pPr>
            <a:r>
              <a:rPr lang="en-GB"/>
              <a:t>They split the money between 2 charities in the ratio 4</a:t>
            </a:r>
            <a:r>
              <a:rPr lang="en-GB" sz="2000"/>
              <a:t> </a:t>
            </a:r>
            <a:r>
              <a:rPr lang="en-GB"/>
              <a:t>:</a:t>
            </a:r>
            <a:r>
              <a:rPr lang="en-GB" sz="2000"/>
              <a:t> </a:t>
            </a:r>
            <a:r>
              <a:rPr lang="en-GB"/>
              <a:t>5</a:t>
            </a:r>
            <a:endParaRPr/>
          </a:p>
          <a:p>
            <a:pPr indent="0" lvl="0" marL="0" rtl="0" algn="l">
              <a:spcBef>
                <a:spcPts val="1000"/>
              </a:spcBef>
              <a:spcAft>
                <a:spcPts val="0"/>
              </a:spcAft>
              <a:buNone/>
            </a:pPr>
            <a:r>
              <a:rPr lang="en-GB"/>
              <a:t>Charity A gets £80. </a:t>
            </a:r>
            <a:endParaRPr/>
          </a:p>
          <a:p>
            <a:pPr indent="0" lvl="0" marL="0" rtl="0" algn="l">
              <a:spcBef>
                <a:spcPts val="1000"/>
              </a:spcBef>
              <a:spcAft>
                <a:spcPts val="1000"/>
              </a:spcAft>
              <a:buNone/>
            </a:pPr>
            <a:r>
              <a:rPr lang="en-GB"/>
              <a:t>How much money did </a:t>
            </a:r>
            <a:r>
              <a:rPr lang="en-GB">
                <a:solidFill>
                  <a:schemeClr val="accent5"/>
                </a:solidFill>
              </a:rPr>
              <a:t>charity B</a:t>
            </a:r>
            <a:r>
              <a:rPr lang="en-GB"/>
              <a:t> get?</a:t>
            </a:r>
            <a:endParaRPr/>
          </a:p>
        </p:txBody>
      </p:sp>
      <p:graphicFrame>
        <p:nvGraphicFramePr>
          <p:cNvPr id="992" name="Google Shape;992;p80"/>
          <p:cNvGraphicFramePr/>
          <p:nvPr/>
        </p:nvGraphicFramePr>
        <p:xfrm>
          <a:off x="2908072" y="2916144"/>
          <a:ext cx="3000000" cy="3000000"/>
        </p:xfrm>
        <a:graphic>
          <a:graphicData uri="http://schemas.openxmlformats.org/drawingml/2006/table">
            <a:tbl>
              <a:tblPr>
                <a:noFill/>
                <a:tableStyleId>{6300B9EF-BFE0-4A47-A372-9612E9D491EC}</a:tableStyleId>
              </a:tblPr>
              <a:tblGrid>
                <a:gridCol w="2204700"/>
                <a:gridCol w="2204700"/>
              </a:tblGrid>
              <a:tr h="381000">
                <a:tc>
                  <a:txBody>
                    <a:bodyPr/>
                    <a:lstStyle/>
                    <a:p>
                      <a:pPr indent="0" lvl="0" marL="0" rtl="0" algn="ctr">
                        <a:spcBef>
                          <a:spcPts val="0"/>
                        </a:spcBef>
                        <a:spcAft>
                          <a:spcPts val="0"/>
                        </a:spcAft>
                        <a:buNone/>
                      </a:pPr>
                      <a:r>
                        <a:rPr lang="en-GB" sz="2200">
                          <a:latin typeface="Lexend"/>
                          <a:ea typeface="Lexend"/>
                          <a:cs typeface="Lexend"/>
                          <a:sym typeface="Lexend"/>
                        </a:rPr>
                        <a:t>Charity A</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Charity B</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£80</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100</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993" name="Google Shape;993;p80"/>
          <p:cNvGraphicFramePr/>
          <p:nvPr/>
        </p:nvGraphicFramePr>
        <p:xfrm>
          <a:off x="7317472" y="2916144"/>
          <a:ext cx="3000000" cy="3000000"/>
        </p:xfrm>
        <a:graphic>
          <a:graphicData uri="http://schemas.openxmlformats.org/drawingml/2006/table">
            <a:tbl>
              <a:tblPr>
                <a:noFill/>
                <a:tableStyleId>{6300B9EF-BFE0-4A47-A372-9612E9D491EC}</a:tableStyleId>
              </a:tblPr>
              <a:tblGrid>
                <a:gridCol w="1072025"/>
              </a:tblGrid>
              <a:tr h="518125">
                <a:tc>
                  <a:txBody>
                    <a:bodyPr/>
                    <a:lstStyle/>
                    <a:p>
                      <a:pPr indent="0" lvl="0" marL="0" rtl="0" algn="ctr">
                        <a:spcBef>
                          <a:spcPts val="0"/>
                        </a:spcBef>
                        <a:spcAft>
                          <a:spcPts val="0"/>
                        </a:spcAft>
                        <a:buNone/>
                      </a:pPr>
                      <a:r>
                        <a:rPr lang="en-GB" sz="2200">
                          <a:latin typeface="Lexend"/>
                          <a:ea typeface="Lexend"/>
                          <a:cs typeface="Lexend"/>
                          <a:sym typeface="Lexend"/>
                        </a:rPr>
                        <a:t>Total</a:t>
                      </a:r>
                      <a:endParaRPr sz="2200">
                        <a:latin typeface="Lexend"/>
                        <a:ea typeface="Lexend"/>
                        <a:cs typeface="Lexend"/>
                        <a:sym typeface="Lexe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18125">
                <a:tc>
                  <a:txBody>
                    <a:bodyPr/>
                    <a:lstStyle/>
                    <a:p>
                      <a:pPr indent="0" lvl="0" marL="0" rtl="0" algn="ctr">
                        <a:spcBef>
                          <a:spcPts val="0"/>
                        </a:spcBef>
                        <a:spcAft>
                          <a:spcPts val="0"/>
                        </a:spcAft>
                        <a:buNone/>
                      </a:pPr>
                      <a:r>
                        <a:rPr lang="en-GB" sz="2200">
                          <a:latin typeface="Lexend"/>
                          <a:ea typeface="Lexend"/>
                          <a:cs typeface="Lexend"/>
                          <a:sym typeface="Lexend"/>
                        </a:rPr>
                        <a:t>9</a:t>
                      </a:r>
                      <a:endParaRPr sz="2200">
                        <a:latin typeface="Lexend"/>
                        <a:ea typeface="Lexend"/>
                        <a:cs typeface="Lexend"/>
                        <a:sym typeface="Lexe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1812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994" name="Google Shape;994;p80"/>
          <p:cNvGrpSpPr/>
          <p:nvPr/>
        </p:nvGrpSpPr>
        <p:grpSpPr>
          <a:xfrm>
            <a:off x="697750" y="3083419"/>
            <a:ext cx="2713350" cy="1377900"/>
            <a:chOff x="697750" y="3091050"/>
            <a:chExt cx="2713350" cy="1377900"/>
          </a:xfrm>
        </p:grpSpPr>
        <p:sp>
          <p:nvSpPr>
            <p:cNvPr id="995" name="Google Shape;995;p80"/>
            <p:cNvSpPr txBox="1"/>
            <p:nvPr/>
          </p:nvSpPr>
          <p:spPr>
            <a:xfrm>
              <a:off x="697750" y="3091050"/>
              <a:ext cx="1559400" cy="137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What is the multiplicative relationship between these?</a:t>
              </a:r>
              <a:endParaRPr sz="1800">
                <a:latin typeface="Lexend"/>
                <a:ea typeface="Lexend"/>
                <a:cs typeface="Lexend"/>
                <a:sym typeface="Lexend"/>
              </a:endParaRPr>
            </a:p>
          </p:txBody>
        </p:sp>
        <p:cxnSp>
          <p:nvCxnSpPr>
            <p:cNvPr id="996" name="Google Shape;996;p80"/>
            <p:cNvCxnSpPr/>
            <p:nvPr/>
          </p:nvCxnSpPr>
          <p:spPr>
            <a:xfrm flipH="1" rot="10800000">
              <a:off x="2140600" y="3697075"/>
              <a:ext cx="1270500" cy="95400"/>
            </a:xfrm>
            <a:prstGeom prst="straightConnector1">
              <a:avLst/>
            </a:prstGeom>
            <a:noFill/>
            <a:ln cap="flat" cmpd="sng" w="38100">
              <a:solidFill>
                <a:srgbClr val="808080"/>
              </a:solidFill>
              <a:prstDash val="solid"/>
              <a:round/>
              <a:headEnd len="med" w="med" type="none"/>
              <a:tailEnd len="med" w="med" type="triangle"/>
            </a:ln>
          </p:spPr>
        </p:cxnSp>
        <p:cxnSp>
          <p:nvCxnSpPr>
            <p:cNvPr id="997" name="Google Shape;997;p80"/>
            <p:cNvCxnSpPr/>
            <p:nvPr/>
          </p:nvCxnSpPr>
          <p:spPr>
            <a:xfrm>
              <a:off x="2140600" y="3905150"/>
              <a:ext cx="1225500" cy="374400"/>
            </a:xfrm>
            <a:prstGeom prst="straightConnector1">
              <a:avLst/>
            </a:prstGeom>
            <a:noFill/>
            <a:ln cap="flat" cmpd="sng" w="38100">
              <a:solidFill>
                <a:srgbClr val="808080"/>
              </a:solidFill>
              <a:prstDash val="solid"/>
              <a:round/>
              <a:headEnd len="med" w="med" type="none"/>
              <a:tailEnd len="med" w="med" type="triangle"/>
            </a:ln>
          </p:spPr>
        </p:cxnSp>
      </p:grpSp>
      <p:sp>
        <p:nvSpPr>
          <p:cNvPr id="998" name="Google Shape;998;p80"/>
          <p:cNvSpPr/>
          <p:nvPr/>
        </p:nvSpPr>
        <p:spPr>
          <a:xfrm>
            <a:off x="3762018" y="4080319"/>
            <a:ext cx="560100" cy="297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99" name="Google Shape;999;p80"/>
          <p:cNvGrpSpPr/>
          <p:nvPr/>
        </p:nvGrpSpPr>
        <p:grpSpPr>
          <a:xfrm>
            <a:off x="1863725" y="3670495"/>
            <a:ext cx="1278300" cy="600600"/>
            <a:chOff x="1863725" y="3678126"/>
            <a:chExt cx="1278300" cy="600600"/>
          </a:xfrm>
        </p:grpSpPr>
        <p:sp>
          <p:nvSpPr>
            <p:cNvPr id="1000" name="Google Shape;1000;p80"/>
            <p:cNvSpPr txBox="1"/>
            <p:nvPr/>
          </p:nvSpPr>
          <p:spPr>
            <a:xfrm>
              <a:off x="1863725" y="3771381"/>
              <a:ext cx="631800" cy="29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 20 </a:t>
              </a:r>
              <a:endParaRPr sz="2200">
                <a:latin typeface="Lexend"/>
                <a:ea typeface="Lexend"/>
                <a:cs typeface="Lexend"/>
                <a:sym typeface="Lexend"/>
              </a:endParaRPr>
            </a:p>
          </p:txBody>
        </p:sp>
        <p:sp>
          <p:nvSpPr>
            <p:cNvPr id="1001" name="Google Shape;1001;p80"/>
            <p:cNvSpPr/>
            <p:nvPr/>
          </p:nvSpPr>
          <p:spPr>
            <a:xfrm flipH="1" rot="-5400000">
              <a:off x="2492075" y="3628776"/>
              <a:ext cx="600600" cy="699300"/>
            </a:xfrm>
            <a:prstGeom prst="arc">
              <a:avLst>
                <a:gd fmla="val 10729459" name="adj1"/>
                <a:gd fmla="val 156642" name="adj2"/>
              </a:avLst>
            </a:prstGeom>
            <a:noFill/>
            <a:ln cap="flat" cmpd="sng" w="38100">
              <a:solidFill>
                <a:srgbClr val="037B7D"/>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02" name="Google Shape;1002;p80"/>
          <p:cNvSpPr/>
          <p:nvPr/>
        </p:nvSpPr>
        <p:spPr>
          <a:xfrm>
            <a:off x="5838050" y="4105694"/>
            <a:ext cx="734100" cy="2976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9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0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Using ratio tables to find one part</a:t>
            </a:r>
            <a:endParaRPr/>
          </a:p>
        </p:txBody>
      </p:sp>
      <p:sp>
        <p:nvSpPr>
          <p:cNvPr id="1008" name="Google Shape;1008;p81"/>
          <p:cNvSpPr txBox="1"/>
          <p:nvPr>
            <p:ph idx="1" type="body"/>
          </p:nvPr>
        </p:nvSpPr>
        <p:spPr>
          <a:xfrm>
            <a:off x="324000" y="759300"/>
            <a:ext cx="8237700" cy="181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Sofia</a:t>
            </a:r>
            <a:r>
              <a:rPr lang="en-GB"/>
              <a:t> is making some different bracelets with red, blue and white beads in the ratio 2</a:t>
            </a:r>
            <a:r>
              <a:rPr lang="en-GB" sz="2000"/>
              <a:t> </a:t>
            </a:r>
            <a:r>
              <a:rPr lang="en-GB"/>
              <a:t>:</a:t>
            </a:r>
            <a:r>
              <a:rPr lang="en-GB" sz="2000"/>
              <a:t> </a:t>
            </a:r>
            <a:r>
              <a:rPr lang="en-GB"/>
              <a:t>7</a:t>
            </a:r>
            <a:r>
              <a:rPr lang="en-GB" sz="2000"/>
              <a:t> </a:t>
            </a:r>
            <a:r>
              <a:rPr lang="en-GB"/>
              <a:t>:</a:t>
            </a:r>
            <a:r>
              <a:rPr lang="en-GB" sz="2000"/>
              <a:t> </a:t>
            </a:r>
            <a:r>
              <a:rPr lang="en-GB"/>
              <a:t>5</a:t>
            </a:r>
            <a:endParaRPr/>
          </a:p>
          <a:p>
            <a:pPr indent="0" lvl="0" marL="0" rtl="0" algn="l">
              <a:spcBef>
                <a:spcPts val="1000"/>
              </a:spcBef>
              <a:spcAft>
                <a:spcPts val="0"/>
              </a:spcAft>
              <a:buNone/>
            </a:pPr>
            <a:r>
              <a:rPr lang="en-GB"/>
              <a:t>She uses 14 blue beads.</a:t>
            </a:r>
            <a:endParaRPr/>
          </a:p>
          <a:p>
            <a:pPr indent="0" lvl="0" marL="0" rtl="0" algn="l">
              <a:spcBef>
                <a:spcPts val="1000"/>
              </a:spcBef>
              <a:spcAft>
                <a:spcPts val="1000"/>
              </a:spcAft>
              <a:buNone/>
            </a:pPr>
            <a:r>
              <a:rPr lang="en-GB"/>
              <a:t>How many red and white beads does she use?</a:t>
            </a:r>
            <a:endParaRPr/>
          </a:p>
        </p:txBody>
      </p:sp>
      <p:graphicFrame>
        <p:nvGraphicFramePr>
          <p:cNvPr id="1009" name="Google Shape;1009;p81"/>
          <p:cNvGraphicFramePr/>
          <p:nvPr/>
        </p:nvGraphicFramePr>
        <p:xfrm>
          <a:off x="1393225" y="2756100"/>
          <a:ext cx="3000000" cy="3000000"/>
        </p:xfrm>
        <a:graphic>
          <a:graphicData uri="http://schemas.openxmlformats.org/drawingml/2006/table">
            <a:tbl>
              <a:tblPr>
                <a:noFill/>
                <a:tableStyleId>{6300B9EF-BFE0-4A47-A372-9612E9D491EC}</a:tableStyleId>
              </a:tblPr>
              <a:tblGrid>
                <a:gridCol w="1469800"/>
                <a:gridCol w="1469800"/>
                <a:gridCol w="1469800"/>
              </a:tblGrid>
              <a:tr h="381000">
                <a:tc>
                  <a:txBody>
                    <a:bodyPr/>
                    <a:lstStyle/>
                    <a:p>
                      <a:pPr indent="0" lvl="0" marL="0" rtl="0" algn="ctr">
                        <a:spcBef>
                          <a:spcPts val="0"/>
                        </a:spcBef>
                        <a:spcAft>
                          <a:spcPts val="0"/>
                        </a:spcAft>
                        <a:buNone/>
                      </a:pPr>
                      <a:r>
                        <a:rPr lang="en-GB" sz="2200">
                          <a:latin typeface="Lexend"/>
                          <a:ea typeface="Lexend"/>
                          <a:cs typeface="Lexend"/>
                          <a:sym typeface="Lexend"/>
                        </a:rPr>
                        <a:t>Red</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Blue</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White</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2</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7</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4</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14</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10</a:t>
                      </a:r>
                      <a:endParaRPr sz="2200">
                        <a:latin typeface="Lexend"/>
                        <a:ea typeface="Lexend"/>
                        <a:cs typeface="Lexend"/>
                        <a:sym typeface="Lexend"/>
                      </a:endParaRPr>
                    </a:p>
                  </a:txBody>
                  <a:tcPr marT="91425" marB="91425" marR="91425" marL="91425">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aphicFrame>
        <p:nvGraphicFramePr>
          <p:cNvPr id="1010" name="Google Shape;1010;p81"/>
          <p:cNvGraphicFramePr/>
          <p:nvPr/>
        </p:nvGraphicFramePr>
        <p:xfrm>
          <a:off x="5802625" y="2756100"/>
          <a:ext cx="3000000" cy="3000000"/>
        </p:xfrm>
        <a:graphic>
          <a:graphicData uri="http://schemas.openxmlformats.org/drawingml/2006/table">
            <a:tbl>
              <a:tblPr>
                <a:noFill/>
                <a:tableStyleId>{6300B9EF-BFE0-4A47-A372-9612E9D491EC}</a:tableStyleId>
              </a:tblPr>
              <a:tblGrid>
                <a:gridCol w="1072025"/>
              </a:tblGrid>
              <a:tr h="518125">
                <a:tc>
                  <a:txBody>
                    <a:bodyPr/>
                    <a:lstStyle/>
                    <a:p>
                      <a:pPr indent="0" lvl="0" marL="0" rtl="0" algn="ctr">
                        <a:spcBef>
                          <a:spcPts val="0"/>
                        </a:spcBef>
                        <a:spcAft>
                          <a:spcPts val="0"/>
                        </a:spcAft>
                        <a:buNone/>
                      </a:pPr>
                      <a:r>
                        <a:rPr lang="en-GB" sz="2200">
                          <a:latin typeface="Lexend"/>
                          <a:ea typeface="Lexend"/>
                          <a:cs typeface="Lexend"/>
                          <a:sym typeface="Lexend"/>
                        </a:rPr>
                        <a:t>Total</a:t>
                      </a:r>
                      <a:endParaRPr sz="2200">
                        <a:latin typeface="Lexend"/>
                        <a:ea typeface="Lexend"/>
                        <a:cs typeface="Lexend"/>
                        <a:sym typeface="Lexe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18125">
                <a:tc>
                  <a:txBody>
                    <a:bodyPr/>
                    <a:lstStyle/>
                    <a:p>
                      <a:pPr indent="0" lvl="0" marL="0" rtl="0" algn="ctr">
                        <a:spcBef>
                          <a:spcPts val="0"/>
                        </a:spcBef>
                        <a:spcAft>
                          <a:spcPts val="0"/>
                        </a:spcAft>
                        <a:buNone/>
                      </a:pPr>
                      <a:r>
                        <a:rPr lang="en-GB" sz="2200">
                          <a:latin typeface="Lexend"/>
                          <a:ea typeface="Lexend"/>
                          <a:cs typeface="Lexend"/>
                          <a:sym typeface="Lexend"/>
                        </a:rPr>
                        <a:t>14</a:t>
                      </a:r>
                      <a:endParaRPr sz="2200">
                        <a:latin typeface="Lexend"/>
                        <a:ea typeface="Lexend"/>
                        <a:cs typeface="Lexend"/>
                        <a:sym typeface="Lexe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518125">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1011" name="Google Shape;1011;p81"/>
          <p:cNvSpPr/>
          <p:nvPr/>
        </p:nvSpPr>
        <p:spPr>
          <a:xfrm>
            <a:off x="3124825" y="3921475"/>
            <a:ext cx="946200" cy="320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12" name="Google Shape;1012;p81"/>
          <p:cNvGrpSpPr/>
          <p:nvPr/>
        </p:nvGrpSpPr>
        <p:grpSpPr>
          <a:xfrm>
            <a:off x="3815650" y="3540925"/>
            <a:ext cx="517175" cy="549600"/>
            <a:chOff x="3815650" y="3540925"/>
            <a:chExt cx="517175" cy="549600"/>
          </a:xfrm>
        </p:grpSpPr>
        <p:sp>
          <p:nvSpPr>
            <p:cNvPr id="1013" name="Google Shape;1013;p81"/>
            <p:cNvSpPr txBox="1"/>
            <p:nvPr/>
          </p:nvSpPr>
          <p:spPr>
            <a:xfrm>
              <a:off x="3932325" y="3601050"/>
              <a:ext cx="400500" cy="35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 2  </a:t>
              </a:r>
              <a:endParaRPr sz="2200">
                <a:latin typeface="Lexend"/>
                <a:ea typeface="Lexend"/>
                <a:cs typeface="Lexend"/>
                <a:sym typeface="Lexend"/>
              </a:endParaRPr>
            </a:p>
          </p:txBody>
        </p:sp>
        <p:cxnSp>
          <p:nvCxnSpPr>
            <p:cNvPr id="1014" name="Google Shape;1014;p81"/>
            <p:cNvCxnSpPr/>
            <p:nvPr/>
          </p:nvCxnSpPr>
          <p:spPr>
            <a:xfrm>
              <a:off x="3815650" y="3540925"/>
              <a:ext cx="7500" cy="549600"/>
            </a:xfrm>
            <a:prstGeom prst="straightConnector1">
              <a:avLst/>
            </a:prstGeom>
            <a:noFill/>
            <a:ln cap="flat" cmpd="sng" w="38100">
              <a:solidFill>
                <a:schemeClr val="accent5"/>
              </a:solidFill>
              <a:prstDash val="solid"/>
              <a:round/>
              <a:headEnd len="med" w="med" type="none"/>
              <a:tailEnd len="med" w="med" type="triangle"/>
            </a:ln>
          </p:spPr>
        </p:cxnSp>
      </p:grpSp>
      <p:sp>
        <p:nvSpPr>
          <p:cNvPr id="1015" name="Google Shape;1015;p81"/>
          <p:cNvSpPr/>
          <p:nvPr/>
        </p:nvSpPr>
        <p:spPr>
          <a:xfrm>
            <a:off x="1655013" y="3921475"/>
            <a:ext cx="946200" cy="320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6" name="Google Shape;1016;p81"/>
          <p:cNvSpPr txBox="1"/>
          <p:nvPr/>
        </p:nvSpPr>
        <p:spPr>
          <a:xfrm>
            <a:off x="1392300" y="4516050"/>
            <a:ext cx="6941100" cy="35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Kalam"/>
                <a:ea typeface="Kalam"/>
                <a:cs typeface="Kalam"/>
                <a:sym typeface="Kalam"/>
              </a:rPr>
              <a:t>Each necklace will have 4 red beads and 10 white beads.</a:t>
            </a:r>
            <a:endParaRPr sz="2200">
              <a:latin typeface="Kalam"/>
              <a:ea typeface="Kalam"/>
              <a:cs typeface="Kalam"/>
              <a:sym typeface="Kalam"/>
            </a:endParaRPr>
          </a:p>
        </p:txBody>
      </p:sp>
      <p:sp>
        <p:nvSpPr>
          <p:cNvPr id="1017" name="Google Shape;1017;p81"/>
          <p:cNvSpPr/>
          <p:nvPr/>
        </p:nvSpPr>
        <p:spPr>
          <a:xfrm>
            <a:off x="4594625" y="3921475"/>
            <a:ext cx="946200" cy="320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1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graphicFrame>
        <p:nvGraphicFramePr>
          <p:cNvPr id="1022" name="Google Shape;1022;p82"/>
          <p:cNvGraphicFramePr/>
          <p:nvPr/>
        </p:nvGraphicFramePr>
        <p:xfrm>
          <a:off x="3088450" y="2908500"/>
          <a:ext cx="3000000" cy="3000000"/>
        </p:xfrm>
        <a:graphic>
          <a:graphicData uri="http://schemas.openxmlformats.org/drawingml/2006/table">
            <a:tbl>
              <a:tblPr>
                <a:noFill/>
                <a:tableStyleId>{6300B9EF-BFE0-4A47-A372-9612E9D491EC}</a:tableStyleId>
              </a:tblPr>
              <a:tblGrid>
                <a:gridCol w="1084350"/>
              </a:tblGrid>
              <a:tr h="381000">
                <a:tc>
                  <a:txBody>
                    <a:bodyPr/>
                    <a:lstStyle/>
                    <a:p>
                      <a:pPr indent="0" lvl="0" marL="0" rtl="0" algn="ctr">
                        <a:spcBef>
                          <a:spcPts val="0"/>
                        </a:spcBef>
                        <a:spcAft>
                          <a:spcPts val="0"/>
                        </a:spcAft>
                        <a:buNone/>
                      </a:pPr>
                      <a:r>
                        <a:rPr lang="en-GB" sz="2200">
                          <a:latin typeface="Lexend"/>
                          <a:ea typeface="Lexend"/>
                          <a:cs typeface="Lexend"/>
                          <a:sym typeface="Lexend"/>
                        </a:rPr>
                        <a:t>Total</a:t>
                      </a:r>
                      <a:endParaRPr sz="22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25</a:t>
                      </a:r>
                      <a:endParaRPr sz="22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38100">
                      <a:solidFill>
                        <a:srgbClr val="9E9E9E">
                          <a:alpha val="0"/>
                        </a:srgbClr>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2200">
                        <a:latin typeface="Lexend"/>
                        <a:ea typeface="Lexend"/>
                        <a:cs typeface="Lexend"/>
                        <a:sym typeface="Lexend"/>
                      </a:endParaRPr>
                    </a:p>
                  </a:txBody>
                  <a:tcPr marT="0" marB="0" marR="0" marL="0" anchor="ctr">
                    <a:lnL cap="flat" cmpd="sng" w="38100">
                      <a:solidFill>
                        <a:srgbClr val="9E9E9E">
                          <a:alpha val="0"/>
                        </a:srgbClr>
                      </a:solidFill>
                      <a:prstDash val="solid"/>
                      <a:round/>
                      <a:headEnd len="sm" w="sm" type="none"/>
                      <a:tailEnd len="sm" w="sm" type="none"/>
                    </a:lnL>
                    <a:lnR cap="flat" cmpd="sng" w="38100">
                      <a:solidFill>
                        <a:srgbClr val="9E9E9E">
                          <a:alpha val="0"/>
                        </a:srgbClr>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alpha val="0"/>
                        </a:srgbClr>
                      </a:solidFill>
                      <a:prstDash val="solid"/>
                      <a:round/>
                      <a:headEnd len="sm" w="sm" type="none"/>
                      <a:tailEnd len="sm" w="sm" type="none"/>
                    </a:lnB>
                  </a:tcPr>
                </a:tc>
              </a:tr>
            </a:tbl>
          </a:graphicData>
        </a:graphic>
      </p:graphicFrame>
      <p:sp>
        <p:nvSpPr>
          <p:cNvPr id="1023" name="Google Shape;1023;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Using ratio tables to find one part</a:t>
            </a:r>
            <a:endParaRPr/>
          </a:p>
        </p:txBody>
      </p:sp>
      <p:sp>
        <p:nvSpPr>
          <p:cNvPr id="1024" name="Google Shape;1024;p82"/>
          <p:cNvSpPr txBox="1"/>
          <p:nvPr>
            <p:ph idx="1" type="subTitle"/>
          </p:nvPr>
        </p:nvSpPr>
        <p:spPr>
          <a:xfrm>
            <a:off x="337825" y="810000"/>
            <a:ext cx="3982200" cy="19755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a:t>The ratio of red : blue : black cars in a car park is 8</a:t>
            </a:r>
            <a:r>
              <a:rPr lang="en-GB" sz="2000"/>
              <a:t> </a:t>
            </a:r>
            <a:r>
              <a:rPr lang="en-GB"/>
              <a:t>:</a:t>
            </a:r>
            <a:r>
              <a:rPr lang="en-GB" sz="2000"/>
              <a:t> </a:t>
            </a:r>
            <a:r>
              <a:rPr lang="en-GB"/>
              <a:t>5</a:t>
            </a:r>
            <a:r>
              <a:rPr lang="en-GB" sz="2000"/>
              <a:t> </a:t>
            </a:r>
            <a:r>
              <a:rPr lang="en-GB"/>
              <a:t>:</a:t>
            </a:r>
            <a:r>
              <a:rPr lang="en-GB" sz="2000"/>
              <a:t> </a:t>
            </a:r>
            <a:r>
              <a:rPr lang="en-GB"/>
              <a:t>12</a:t>
            </a:r>
            <a:endParaRPr/>
          </a:p>
          <a:p>
            <a:pPr indent="0" lvl="0" marL="0" rtl="0" algn="l">
              <a:lnSpc>
                <a:spcPct val="115000"/>
              </a:lnSpc>
              <a:spcBef>
                <a:spcPts val="1000"/>
              </a:spcBef>
              <a:spcAft>
                <a:spcPts val="0"/>
              </a:spcAft>
              <a:buNone/>
            </a:pPr>
            <a:r>
              <a:rPr lang="en-GB"/>
              <a:t>There are 48 black cars.</a:t>
            </a:r>
            <a:endParaRPr/>
          </a:p>
          <a:p>
            <a:pPr indent="0" lvl="0" marL="0" rtl="0" algn="l">
              <a:lnSpc>
                <a:spcPct val="115000"/>
              </a:lnSpc>
              <a:spcBef>
                <a:spcPts val="1000"/>
              </a:spcBef>
              <a:spcAft>
                <a:spcPts val="1000"/>
              </a:spcAft>
              <a:buNone/>
            </a:pPr>
            <a:r>
              <a:rPr lang="en-GB"/>
              <a:t>How many red and blue cars are in the car park?</a:t>
            </a:r>
            <a:endParaRPr/>
          </a:p>
        </p:txBody>
      </p:sp>
      <p:sp>
        <p:nvSpPr>
          <p:cNvPr id="1025" name="Google Shape;1025;p82"/>
          <p:cNvSpPr txBox="1"/>
          <p:nvPr>
            <p:ph idx="2" type="subTitle"/>
          </p:nvPr>
        </p:nvSpPr>
        <p:spPr>
          <a:xfrm>
            <a:off x="4824000" y="810000"/>
            <a:ext cx="3982200" cy="2021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a:t>The ratio of red : blue : black cars in a car park is 8</a:t>
            </a:r>
            <a:r>
              <a:rPr lang="en-GB" sz="2000"/>
              <a:t> </a:t>
            </a:r>
            <a:r>
              <a:rPr lang="en-GB"/>
              <a:t>:</a:t>
            </a:r>
            <a:r>
              <a:rPr lang="en-GB" sz="2000"/>
              <a:t> </a:t>
            </a:r>
            <a:r>
              <a:rPr lang="en-GB"/>
              <a:t>5</a:t>
            </a:r>
            <a:r>
              <a:rPr lang="en-GB" sz="2000"/>
              <a:t> </a:t>
            </a:r>
            <a:r>
              <a:rPr lang="en-GB"/>
              <a:t>:</a:t>
            </a:r>
            <a:r>
              <a:rPr lang="en-GB" sz="2000"/>
              <a:t> </a:t>
            </a:r>
            <a:r>
              <a:rPr lang="en-GB"/>
              <a:t>12</a:t>
            </a:r>
            <a:endParaRPr/>
          </a:p>
          <a:p>
            <a:pPr indent="0" lvl="0" marL="0" rtl="0" algn="l">
              <a:lnSpc>
                <a:spcPct val="115000"/>
              </a:lnSpc>
              <a:spcBef>
                <a:spcPts val="1000"/>
              </a:spcBef>
              <a:spcAft>
                <a:spcPts val="0"/>
              </a:spcAft>
              <a:buNone/>
            </a:pPr>
            <a:r>
              <a:rPr lang="en-GB"/>
              <a:t>There are 35 blue cars.</a:t>
            </a:r>
            <a:endParaRPr/>
          </a:p>
          <a:p>
            <a:pPr indent="0" lvl="0" marL="0" rtl="0" algn="l">
              <a:lnSpc>
                <a:spcPct val="115000"/>
              </a:lnSpc>
              <a:spcBef>
                <a:spcPts val="1000"/>
              </a:spcBef>
              <a:spcAft>
                <a:spcPts val="1000"/>
              </a:spcAft>
              <a:buClr>
                <a:schemeClr val="dk1"/>
              </a:buClr>
              <a:buSzPts val="1100"/>
              <a:buFont typeface="Arial"/>
              <a:buNone/>
            </a:pPr>
            <a:r>
              <a:rPr lang="en-GB"/>
              <a:t>How many red and black cars are in the car park?</a:t>
            </a:r>
            <a:endParaRPr/>
          </a:p>
        </p:txBody>
      </p:sp>
      <p:graphicFrame>
        <p:nvGraphicFramePr>
          <p:cNvPr id="1026" name="Google Shape;1026;p82"/>
          <p:cNvGraphicFramePr/>
          <p:nvPr/>
        </p:nvGraphicFramePr>
        <p:xfrm>
          <a:off x="326425" y="2908500"/>
          <a:ext cx="3000000" cy="3000000"/>
        </p:xfrm>
        <a:graphic>
          <a:graphicData uri="http://schemas.openxmlformats.org/drawingml/2006/table">
            <a:tbl>
              <a:tblPr>
                <a:noFill/>
                <a:tableStyleId>{6300B9EF-BFE0-4A47-A372-9612E9D491EC}</a:tableStyleId>
              </a:tblPr>
              <a:tblGrid>
                <a:gridCol w="920675"/>
                <a:gridCol w="920675"/>
                <a:gridCol w="920675"/>
              </a:tblGrid>
              <a:tr h="381000">
                <a:tc>
                  <a:txBody>
                    <a:bodyPr/>
                    <a:lstStyle/>
                    <a:p>
                      <a:pPr indent="0" lvl="0" marL="0" rtl="0" algn="ctr">
                        <a:spcBef>
                          <a:spcPts val="0"/>
                        </a:spcBef>
                        <a:spcAft>
                          <a:spcPts val="0"/>
                        </a:spcAft>
                        <a:buNone/>
                      </a:pPr>
                      <a:r>
                        <a:rPr lang="en-GB" sz="2200">
                          <a:latin typeface="Lexend"/>
                          <a:ea typeface="Lexend"/>
                          <a:cs typeface="Lexend"/>
                          <a:sym typeface="Lexend"/>
                        </a:rPr>
                        <a:t>Red</a:t>
                      </a:r>
                      <a:endParaRPr sz="2200">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Blue</a:t>
                      </a:r>
                      <a:endParaRPr sz="2200">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Black</a:t>
                      </a:r>
                      <a:endParaRPr sz="2200">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12</a:t>
                      </a:r>
                      <a:endParaRPr sz="2200">
                        <a:latin typeface="Lexend"/>
                        <a:ea typeface="Lexend"/>
                        <a:cs typeface="Lexend"/>
                        <a:sym typeface="Lexend"/>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32</a:t>
                      </a:r>
                      <a:endParaRPr sz="2200">
                        <a:latin typeface="Lexend"/>
                        <a:ea typeface="Lexend"/>
                        <a:cs typeface="Lexend"/>
                        <a:sym typeface="Lexend"/>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20</a:t>
                      </a:r>
                      <a:endParaRPr sz="2200">
                        <a:latin typeface="Lexend"/>
                        <a:ea typeface="Lexend"/>
                        <a:cs typeface="Lexend"/>
                        <a:sym typeface="Lexend"/>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48</a:t>
                      </a:r>
                      <a:endParaRPr sz="2200">
                        <a:latin typeface="Lexend"/>
                        <a:ea typeface="Lexend"/>
                        <a:cs typeface="Lexend"/>
                        <a:sym typeface="Lexend"/>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pSp>
        <p:nvGrpSpPr>
          <p:cNvPr id="1027" name="Google Shape;1027;p82"/>
          <p:cNvGrpSpPr/>
          <p:nvPr/>
        </p:nvGrpSpPr>
        <p:grpSpPr>
          <a:xfrm>
            <a:off x="2901250" y="3464725"/>
            <a:ext cx="517175" cy="549600"/>
            <a:chOff x="3815650" y="3540925"/>
            <a:chExt cx="517175" cy="549600"/>
          </a:xfrm>
        </p:grpSpPr>
        <p:sp>
          <p:nvSpPr>
            <p:cNvPr id="1028" name="Google Shape;1028;p82"/>
            <p:cNvSpPr txBox="1"/>
            <p:nvPr/>
          </p:nvSpPr>
          <p:spPr>
            <a:xfrm>
              <a:off x="3932325" y="3601050"/>
              <a:ext cx="400500" cy="35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Lexend"/>
                  <a:ea typeface="Lexend"/>
                  <a:cs typeface="Lexend"/>
                  <a:sym typeface="Lexend"/>
                </a:rPr>
                <a:t>× 4  </a:t>
              </a:r>
              <a:endParaRPr sz="2200">
                <a:latin typeface="Lexend"/>
                <a:ea typeface="Lexend"/>
                <a:cs typeface="Lexend"/>
                <a:sym typeface="Lexend"/>
              </a:endParaRPr>
            </a:p>
          </p:txBody>
        </p:sp>
        <p:cxnSp>
          <p:nvCxnSpPr>
            <p:cNvPr id="1029" name="Google Shape;1029;p82"/>
            <p:cNvCxnSpPr/>
            <p:nvPr/>
          </p:nvCxnSpPr>
          <p:spPr>
            <a:xfrm>
              <a:off x="3815650" y="3540925"/>
              <a:ext cx="7500" cy="549600"/>
            </a:xfrm>
            <a:prstGeom prst="straightConnector1">
              <a:avLst/>
            </a:prstGeom>
            <a:noFill/>
            <a:ln cap="flat" cmpd="sng" w="38100">
              <a:solidFill>
                <a:schemeClr val="accent5"/>
              </a:solidFill>
              <a:prstDash val="solid"/>
              <a:round/>
              <a:headEnd len="med" w="med" type="none"/>
              <a:tailEnd len="med" w="med" type="triangle"/>
            </a:ln>
          </p:spPr>
        </p:cxnSp>
      </p:grpSp>
      <p:sp>
        <p:nvSpPr>
          <p:cNvPr id="1030" name="Google Shape;1030;p82"/>
          <p:cNvSpPr txBox="1"/>
          <p:nvPr/>
        </p:nvSpPr>
        <p:spPr>
          <a:xfrm>
            <a:off x="325500" y="4135050"/>
            <a:ext cx="4264800" cy="68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Kalam"/>
                <a:ea typeface="Kalam"/>
                <a:cs typeface="Kalam"/>
                <a:sym typeface="Kalam"/>
              </a:rPr>
              <a:t>There are 32 red and 20 blue cars in the car park.</a:t>
            </a:r>
            <a:endParaRPr sz="2200">
              <a:latin typeface="Kalam"/>
              <a:ea typeface="Kalam"/>
              <a:cs typeface="Kalam"/>
              <a:sym typeface="Kalam"/>
            </a:endParaRPr>
          </a:p>
        </p:txBody>
      </p:sp>
      <p:sp>
        <p:nvSpPr>
          <p:cNvPr id="1031" name="Google Shape;1031;p82"/>
          <p:cNvSpPr/>
          <p:nvPr/>
        </p:nvSpPr>
        <p:spPr>
          <a:xfrm>
            <a:off x="551245" y="3693400"/>
            <a:ext cx="600600" cy="320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2" name="Google Shape;1032;p82"/>
          <p:cNvSpPr/>
          <p:nvPr/>
        </p:nvSpPr>
        <p:spPr>
          <a:xfrm>
            <a:off x="2414093" y="3693394"/>
            <a:ext cx="417000" cy="320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aphicFrame>
        <p:nvGraphicFramePr>
          <p:cNvPr id="1033" name="Google Shape;1033;p82"/>
          <p:cNvGraphicFramePr/>
          <p:nvPr/>
        </p:nvGraphicFramePr>
        <p:xfrm>
          <a:off x="7584250" y="2908500"/>
          <a:ext cx="3000000" cy="3000000"/>
        </p:xfrm>
        <a:graphic>
          <a:graphicData uri="http://schemas.openxmlformats.org/drawingml/2006/table">
            <a:tbl>
              <a:tblPr>
                <a:noFill/>
                <a:tableStyleId>{6300B9EF-BFE0-4A47-A372-9612E9D491EC}</a:tableStyleId>
              </a:tblPr>
              <a:tblGrid>
                <a:gridCol w="1084350"/>
              </a:tblGrid>
              <a:tr h="381000">
                <a:tc>
                  <a:txBody>
                    <a:bodyPr/>
                    <a:lstStyle/>
                    <a:p>
                      <a:pPr indent="0" lvl="0" marL="0" rtl="0" algn="ctr">
                        <a:spcBef>
                          <a:spcPts val="0"/>
                        </a:spcBef>
                        <a:spcAft>
                          <a:spcPts val="0"/>
                        </a:spcAft>
                        <a:buNone/>
                      </a:pPr>
                      <a:r>
                        <a:rPr lang="en-GB" sz="2200">
                          <a:latin typeface="Lexend"/>
                          <a:ea typeface="Lexend"/>
                          <a:cs typeface="Lexend"/>
                          <a:sym typeface="Lexend"/>
                        </a:rPr>
                        <a:t>Total</a:t>
                      </a:r>
                      <a:endParaRPr sz="22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25</a:t>
                      </a:r>
                      <a:endParaRPr sz="2200">
                        <a:latin typeface="Lexend"/>
                        <a:ea typeface="Lexend"/>
                        <a:cs typeface="Lexend"/>
                        <a:sym typeface="Lexend"/>
                      </a:endParaRPr>
                    </a:p>
                  </a:txBody>
                  <a:tcPr marT="0" marB="0" marR="0" marL="0"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38100">
                      <a:solidFill>
                        <a:srgbClr val="9E9E9E">
                          <a:alpha val="0"/>
                        </a:srgbClr>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sz="2200">
                        <a:latin typeface="Kalam"/>
                        <a:ea typeface="Kalam"/>
                        <a:cs typeface="Kalam"/>
                        <a:sym typeface="Kalam"/>
                      </a:endParaRPr>
                    </a:p>
                  </a:txBody>
                  <a:tcPr marT="0" marB="0" marR="0" marL="0" anchor="ctr">
                    <a:lnL cap="flat" cmpd="sng" w="38100">
                      <a:solidFill>
                        <a:srgbClr val="9E9E9E">
                          <a:alpha val="0"/>
                        </a:srgbClr>
                      </a:solidFill>
                      <a:prstDash val="solid"/>
                      <a:round/>
                      <a:headEnd len="sm" w="sm" type="none"/>
                      <a:tailEnd len="sm" w="sm" type="none"/>
                    </a:lnL>
                    <a:lnR cap="flat" cmpd="sng" w="38100">
                      <a:solidFill>
                        <a:srgbClr val="9E9E9E">
                          <a:alpha val="0"/>
                        </a:srgbClr>
                      </a:solidFill>
                      <a:prstDash val="solid"/>
                      <a:round/>
                      <a:headEnd len="sm" w="sm" type="none"/>
                      <a:tailEnd len="sm" w="sm" type="none"/>
                    </a:lnR>
                    <a:lnT cap="flat" cmpd="sng" w="38100">
                      <a:solidFill>
                        <a:srgbClr val="9E9E9E">
                          <a:alpha val="0"/>
                        </a:srgbClr>
                      </a:solidFill>
                      <a:prstDash val="solid"/>
                      <a:round/>
                      <a:headEnd len="sm" w="sm" type="none"/>
                      <a:tailEnd len="sm" w="sm" type="none"/>
                    </a:lnT>
                    <a:lnB cap="flat" cmpd="sng" w="38100">
                      <a:solidFill>
                        <a:srgbClr val="9E9E9E">
                          <a:alpha val="0"/>
                        </a:srgbClr>
                      </a:solidFill>
                      <a:prstDash val="solid"/>
                      <a:round/>
                      <a:headEnd len="sm" w="sm" type="none"/>
                      <a:tailEnd len="sm" w="sm" type="none"/>
                    </a:lnB>
                  </a:tcPr>
                </a:tc>
              </a:tr>
            </a:tbl>
          </a:graphicData>
        </a:graphic>
      </p:graphicFrame>
      <p:graphicFrame>
        <p:nvGraphicFramePr>
          <p:cNvPr id="1034" name="Google Shape;1034;p82"/>
          <p:cNvGraphicFramePr/>
          <p:nvPr/>
        </p:nvGraphicFramePr>
        <p:xfrm>
          <a:off x="4822225" y="2908500"/>
          <a:ext cx="3000000" cy="3000000"/>
        </p:xfrm>
        <a:graphic>
          <a:graphicData uri="http://schemas.openxmlformats.org/drawingml/2006/table">
            <a:tbl>
              <a:tblPr>
                <a:noFill/>
                <a:tableStyleId>{6300B9EF-BFE0-4A47-A372-9612E9D491EC}</a:tableStyleId>
              </a:tblPr>
              <a:tblGrid>
                <a:gridCol w="920675"/>
                <a:gridCol w="920675"/>
                <a:gridCol w="920675"/>
              </a:tblGrid>
              <a:tr h="381000">
                <a:tc>
                  <a:txBody>
                    <a:bodyPr/>
                    <a:lstStyle/>
                    <a:p>
                      <a:pPr indent="0" lvl="0" marL="0" rtl="0" algn="ctr">
                        <a:spcBef>
                          <a:spcPts val="0"/>
                        </a:spcBef>
                        <a:spcAft>
                          <a:spcPts val="0"/>
                        </a:spcAft>
                        <a:buNone/>
                      </a:pPr>
                      <a:r>
                        <a:rPr lang="en-GB" sz="2200">
                          <a:latin typeface="Lexend"/>
                          <a:ea typeface="Lexend"/>
                          <a:cs typeface="Lexend"/>
                          <a:sym typeface="Lexend"/>
                        </a:rPr>
                        <a:t>Red</a:t>
                      </a:r>
                      <a:endParaRPr sz="2200">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Blue</a:t>
                      </a:r>
                      <a:endParaRPr sz="2200">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Black</a:t>
                      </a:r>
                      <a:endParaRPr sz="2200">
                        <a:latin typeface="Lexend"/>
                        <a:ea typeface="Lexend"/>
                        <a:cs typeface="Lexend"/>
                        <a:sym typeface="Lexend"/>
                      </a:endParaRPr>
                    </a:p>
                  </a:txBody>
                  <a:tcPr marT="0" marB="0" marR="0" marL="0">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Lexend"/>
                          <a:ea typeface="Lexend"/>
                          <a:cs typeface="Lexend"/>
                          <a:sym typeface="Lexend"/>
                        </a:rPr>
                        <a:t>8</a:t>
                      </a:r>
                      <a:endParaRPr sz="2200">
                        <a:latin typeface="Lexend"/>
                        <a:ea typeface="Lexend"/>
                        <a:cs typeface="Lexend"/>
                        <a:sym typeface="Lexend"/>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5</a:t>
                      </a:r>
                      <a:endParaRPr sz="2200">
                        <a:latin typeface="Lexend"/>
                        <a:ea typeface="Lexend"/>
                        <a:cs typeface="Lexend"/>
                        <a:sym typeface="Lexend"/>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Lexend"/>
                          <a:ea typeface="Lexend"/>
                          <a:cs typeface="Lexend"/>
                          <a:sym typeface="Lexend"/>
                        </a:rPr>
                        <a:t>12</a:t>
                      </a:r>
                      <a:endParaRPr sz="2200">
                        <a:latin typeface="Lexend"/>
                        <a:ea typeface="Lexend"/>
                        <a:cs typeface="Lexend"/>
                        <a:sym typeface="Lexend"/>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200">
                          <a:latin typeface="Kalam"/>
                          <a:ea typeface="Kalam"/>
                          <a:cs typeface="Kalam"/>
                          <a:sym typeface="Kalam"/>
                        </a:rPr>
                        <a:t>56</a:t>
                      </a:r>
                      <a:endParaRPr sz="2200">
                        <a:latin typeface="Kalam"/>
                        <a:ea typeface="Kalam"/>
                        <a:cs typeface="Kalam"/>
                        <a:sym typeface="Kalam"/>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solidFill>
                            <a:schemeClr val="dk1"/>
                          </a:solidFill>
                          <a:latin typeface="Kalam"/>
                          <a:ea typeface="Kalam"/>
                          <a:cs typeface="Kalam"/>
                          <a:sym typeface="Kalam"/>
                        </a:rPr>
                        <a:t>35</a:t>
                      </a:r>
                      <a:endParaRPr sz="2200">
                        <a:latin typeface="Kalam"/>
                        <a:ea typeface="Kalam"/>
                        <a:cs typeface="Kalam"/>
                        <a:sym typeface="Kalam"/>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200">
                          <a:latin typeface="Kalam"/>
                          <a:ea typeface="Kalam"/>
                          <a:cs typeface="Kalam"/>
                          <a:sym typeface="Kalam"/>
                        </a:rPr>
                        <a:t>84</a:t>
                      </a:r>
                      <a:endParaRPr sz="2200">
                        <a:latin typeface="Kalam"/>
                        <a:ea typeface="Kalam"/>
                        <a:cs typeface="Kalam"/>
                        <a:sym typeface="Kalam"/>
                      </a:endParaRPr>
                    </a:p>
                  </a:txBody>
                  <a:tcPr marT="0" marB="0" marR="0" marL="0" anchor="ctr">
                    <a:lnL cap="flat" cmpd="sng" w="38100">
                      <a:solidFill>
                        <a:srgbClr val="9E9E9E"/>
                      </a:solidFill>
                      <a:prstDash val="solid"/>
                      <a:round/>
                      <a:headEnd len="sm" w="sm" type="none"/>
                      <a:tailEnd len="sm" w="sm" type="none"/>
                    </a:lnL>
                    <a:lnR cap="flat" cmpd="sng" w="38100">
                      <a:solidFill>
                        <a:srgbClr val="9E9E9E"/>
                      </a:solidFill>
                      <a:prstDash val="solid"/>
                      <a:round/>
                      <a:headEnd len="sm" w="sm" type="none"/>
                      <a:tailEnd len="sm" w="sm" type="none"/>
                    </a:lnR>
                    <a:lnT cap="flat" cmpd="sng" w="38100">
                      <a:solidFill>
                        <a:srgbClr val="9E9E9E"/>
                      </a:solidFill>
                      <a:prstDash val="solid"/>
                      <a:round/>
                      <a:headEnd len="sm" w="sm" type="none"/>
                      <a:tailEnd len="sm" w="sm" type="none"/>
                    </a:lnT>
                    <a:lnB cap="flat" cmpd="sng" w="38100">
                      <a:solidFill>
                        <a:srgbClr val="9E9E9E"/>
                      </a:solidFill>
                      <a:prstDash val="solid"/>
                      <a:round/>
                      <a:headEnd len="sm" w="sm" type="none"/>
                      <a:tailEnd len="sm" w="sm" type="none"/>
                    </a:lnB>
                  </a:tcPr>
                </a:tc>
              </a:tr>
            </a:tbl>
          </a:graphicData>
        </a:graphic>
      </p:graphicFrame>
      <p:grpSp>
        <p:nvGrpSpPr>
          <p:cNvPr id="1035" name="Google Shape;1035;p82"/>
          <p:cNvGrpSpPr/>
          <p:nvPr/>
        </p:nvGrpSpPr>
        <p:grpSpPr>
          <a:xfrm>
            <a:off x="6482650" y="3464725"/>
            <a:ext cx="600575" cy="549600"/>
            <a:chOff x="2901250" y="3540925"/>
            <a:chExt cx="600575" cy="549600"/>
          </a:xfrm>
        </p:grpSpPr>
        <p:sp>
          <p:nvSpPr>
            <p:cNvPr id="1036" name="Google Shape;1036;p82"/>
            <p:cNvSpPr txBox="1"/>
            <p:nvPr/>
          </p:nvSpPr>
          <p:spPr>
            <a:xfrm>
              <a:off x="3017925" y="3601050"/>
              <a:ext cx="483900" cy="35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Kalam"/>
                  <a:ea typeface="Kalam"/>
                  <a:cs typeface="Kalam"/>
                  <a:sym typeface="Kalam"/>
                </a:rPr>
                <a:t>× 7</a:t>
              </a:r>
              <a:r>
                <a:rPr lang="en-GB" sz="2200">
                  <a:latin typeface="Lexend"/>
                  <a:ea typeface="Lexend"/>
                  <a:cs typeface="Lexend"/>
                  <a:sym typeface="Lexend"/>
                </a:rPr>
                <a:t>  </a:t>
              </a:r>
              <a:endParaRPr sz="2200">
                <a:latin typeface="Lexend"/>
                <a:ea typeface="Lexend"/>
                <a:cs typeface="Lexend"/>
                <a:sym typeface="Lexend"/>
              </a:endParaRPr>
            </a:p>
          </p:txBody>
        </p:sp>
        <p:cxnSp>
          <p:nvCxnSpPr>
            <p:cNvPr id="1037" name="Google Shape;1037;p82"/>
            <p:cNvCxnSpPr/>
            <p:nvPr/>
          </p:nvCxnSpPr>
          <p:spPr>
            <a:xfrm>
              <a:off x="2901250" y="3540925"/>
              <a:ext cx="7500" cy="549600"/>
            </a:xfrm>
            <a:prstGeom prst="straightConnector1">
              <a:avLst/>
            </a:prstGeom>
            <a:noFill/>
            <a:ln cap="flat" cmpd="sng" w="38100">
              <a:solidFill>
                <a:schemeClr val="accent5"/>
              </a:solidFill>
              <a:prstDash val="solid"/>
              <a:round/>
              <a:headEnd len="med" w="med" type="none"/>
              <a:tailEnd len="med" w="med" type="triangle"/>
            </a:ln>
          </p:spPr>
        </p:cxnSp>
      </p:grpSp>
      <p:sp>
        <p:nvSpPr>
          <p:cNvPr id="1038" name="Google Shape;1038;p82"/>
          <p:cNvSpPr txBox="1"/>
          <p:nvPr/>
        </p:nvSpPr>
        <p:spPr>
          <a:xfrm>
            <a:off x="4821300" y="4135050"/>
            <a:ext cx="3786900" cy="68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2200">
                <a:latin typeface="Kalam"/>
                <a:ea typeface="Kalam"/>
                <a:cs typeface="Kalam"/>
                <a:sym typeface="Kalam"/>
              </a:rPr>
              <a:t>There are 56 red and 84 black cars in the car park.</a:t>
            </a:r>
            <a:endParaRPr sz="2200">
              <a:latin typeface="Kalam"/>
              <a:ea typeface="Kalam"/>
              <a:cs typeface="Kalam"/>
              <a:sym typeface="Kalam"/>
            </a:endParaRPr>
          </a:p>
        </p:txBody>
      </p:sp>
      <p:sp>
        <p:nvSpPr>
          <p:cNvPr id="1039" name="Google Shape;1039;p82"/>
          <p:cNvSpPr/>
          <p:nvPr/>
        </p:nvSpPr>
        <p:spPr>
          <a:xfrm>
            <a:off x="1407133" y="3701031"/>
            <a:ext cx="600600" cy="320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3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3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83"/>
          <p:cNvSpPr txBox="1"/>
          <p:nvPr>
            <p:ph idx="1" type="body"/>
          </p:nvPr>
        </p:nvSpPr>
        <p:spPr>
          <a:xfrm>
            <a:off x="324000" y="683100"/>
            <a:ext cx="8237700" cy="728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Use a ratio table to find either A or B given the ratio:</a:t>
            </a:r>
            <a:endParaRPr/>
          </a:p>
          <a:p>
            <a:pPr indent="0" lvl="0" marL="0" rtl="0" algn="l">
              <a:spcBef>
                <a:spcPts val="1000"/>
              </a:spcBef>
              <a:spcAft>
                <a:spcPts val="1000"/>
              </a:spcAft>
              <a:buNone/>
            </a:pPr>
            <a:r>
              <a:t/>
            </a:r>
            <a:endParaRPr/>
          </a:p>
        </p:txBody>
      </p:sp>
      <p:sp>
        <p:nvSpPr>
          <p:cNvPr id="1045" name="Google Shape;1045;p8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ratio tables to find one part</a:t>
            </a:r>
            <a:endParaRPr/>
          </a:p>
        </p:txBody>
      </p:sp>
      <p:graphicFrame>
        <p:nvGraphicFramePr>
          <p:cNvPr id="1046" name="Google Shape;1046;p83"/>
          <p:cNvGraphicFramePr/>
          <p:nvPr/>
        </p:nvGraphicFramePr>
        <p:xfrm>
          <a:off x="3012075" y="1080000"/>
          <a:ext cx="3000000" cy="3000000"/>
        </p:xfrm>
        <a:graphic>
          <a:graphicData uri="http://schemas.openxmlformats.org/drawingml/2006/table">
            <a:tbl>
              <a:tblPr>
                <a:noFill/>
                <a:tableStyleId>{6300B9EF-BFE0-4A47-A372-9612E9D491EC}</a:tableStyleId>
              </a:tblPr>
              <a:tblGrid>
                <a:gridCol w="1039950"/>
                <a:gridCol w="1039950"/>
                <a:gridCol w="1039950"/>
              </a:tblGrid>
              <a:tr h="381000">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Ratio A</a:t>
                      </a:r>
                      <a:r>
                        <a:rPr b="1" lang="en-GB" sz="2000">
                          <a:solidFill>
                            <a:schemeClr val="lt1"/>
                          </a:solidFill>
                          <a:latin typeface="Lexend"/>
                          <a:ea typeface="Lexend"/>
                          <a:cs typeface="Lexend"/>
                          <a:sym typeface="Lexend"/>
                        </a:rPr>
                        <a:t> </a:t>
                      </a:r>
                      <a:r>
                        <a:rPr b="1" lang="en-GB" sz="2000">
                          <a:solidFill>
                            <a:schemeClr val="lt1"/>
                          </a:solidFill>
                          <a:latin typeface="Lexend"/>
                          <a:ea typeface="Lexend"/>
                          <a:cs typeface="Lexend"/>
                          <a:sym typeface="Lexend"/>
                        </a:rPr>
                        <a:t>:</a:t>
                      </a:r>
                      <a:r>
                        <a:rPr b="1" lang="en-GB" sz="2000">
                          <a:solidFill>
                            <a:schemeClr val="lt1"/>
                          </a:solidFill>
                          <a:latin typeface="Lexend"/>
                          <a:ea typeface="Lexend"/>
                          <a:cs typeface="Lexend"/>
                          <a:sym typeface="Lexend"/>
                        </a:rPr>
                        <a:t> </a:t>
                      </a:r>
                      <a:r>
                        <a:rPr b="1" lang="en-GB" sz="2000">
                          <a:solidFill>
                            <a:schemeClr val="lt1"/>
                          </a:solidFill>
                          <a:latin typeface="Lexend"/>
                          <a:ea typeface="Lexend"/>
                          <a:cs typeface="Lexend"/>
                          <a:sym typeface="Lexend"/>
                        </a:rPr>
                        <a:t>B</a:t>
                      </a:r>
                      <a:endParaRPr b="1" sz="2000">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A</a:t>
                      </a:r>
                      <a:endParaRPr b="1" sz="2000">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B</a:t>
                      </a:r>
                      <a:endParaRPr b="1" sz="2000">
                        <a:solidFill>
                          <a:schemeClr val="lt1"/>
                        </a:solidFill>
                        <a:latin typeface="Lexend"/>
                        <a:ea typeface="Lexend"/>
                        <a:cs typeface="Lexend"/>
                        <a:sym typeface="Lexend"/>
                      </a:endParaRPr>
                    </a:p>
                  </a:txBody>
                  <a:tcPr marT="0" marB="0" marR="0" marL="0" anchor="ctr">
                    <a:solidFill>
                      <a:schemeClr val="accent5"/>
                    </a:solidFill>
                  </a:tcPr>
                </a:tc>
              </a:tr>
              <a:tr h="381000">
                <a:tc>
                  <a:txBody>
                    <a:bodyPr/>
                    <a:lstStyle/>
                    <a:p>
                      <a:pPr indent="0" lvl="0" marL="0" rtl="0" algn="ctr">
                        <a:spcBef>
                          <a:spcPts val="0"/>
                        </a:spcBef>
                        <a:spcAft>
                          <a:spcPts val="0"/>
                        </a:spcAft>
                        <a:buNone/>
                      </a:pPr>
                      <a:r>
                        <a:rPr lang="en-GB" sz="2000">
                          <a:latin typeface="Lexend"/>
                          <a:ea typeface="Lexend"/>
                          <a:cs typeface="Lexend"/>
                          <a:sym typeface="Lexend"/>
                        </a:rPr>
                        <a:t>1</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3</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9</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1</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36</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3</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8</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128</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4</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5</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225</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5</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1500</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7</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3</a:t>
                      </a:r>
                      <a:endParaRPr sz="2000">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84</a:t>
                      </a:r>
                      <a:endParaRPr sz="2000">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9</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845</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000">
                          <a:latin typeface="Lexend"/>
                          <a:ea typeface="Lexend"/>
                          <a:cs typeface="Lexend"/>
                          <a:sym typeface="Lexend"/>
                        </a:rPr>
                        <a:t>4</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7</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47.6</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84"/>
          <p:cNvSpPr txBox="1"/>
          <p:nvPr>
            <p:ph idx="1" type="body"/>
          </p:nvPr>
        </p:nvSpPr>
        <p:spPr>
          <a:xfrm>
            <a:off x="358525" y="759300"/>
            <a:ext cx="84615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Use a ratio table to answer the following:</a:t>
            </a:r>
            <a:endParaRPr/>
          </a:p>
          <a:p>
            <a:pPr indent="-368300" lvl="0" marL="457200" rtl="0" algn="l">
              <a:spcBef>
                <a:spcPts val="1000"/>
              </a:spcBef>
              <a:spcAft>
                <a:spcPts val="0"/>
              </a:spcAft>
              <a:buSzPts val="2200"/>
              <a:buAutoNum type="alphaLcParenR"/>
            </a:pPr>
            <a:r>
              <a:rPr lang="en-GB"/>
              <a:t>Andeep, Sam and Sofia share some sweets in the ratio 3</a:t>
            </a:r>
            <a:r>
              <a:rPr lang="en-GB" sz="2000"/>
              <a:t> </a:t>
            </a:r>
            <a:r>
              <a:rPr lang="en-GB"/>
              <a:t>:</a:t>
            </a:r>
            <a:r>
              <a:rPr lang="en-GB" sz="2000"/>
              <a:t> </a:t>
            </a:r>
            <a:r>
              <a:rPr lang="en-GB"/>
              <a:t>8</a:t>
            </a:r>
            <a:r>
              <a:rPr lang="en-GB" sz="2000"/>
              <a:t> </a:t>
            </a:r>
            <a:r>
              <a:rPr lang="en-GB"/>
              <a:t>:</a:t>
            </a:r>
            <a:r>
              <a:rPr lang="en-GB" sz="2000"/>
              <a:t> </a:t>
            </a:r>
            <a:r>
              <a:rPr lang="en-GB"/>
              <a:t>5.  Sam gets 40, how many sweets do Andeep and Sofia get?</a:t>
            </a:r>
            <a:endParaRPr/>
          </a:p>
          <a:p>
            <a:pPr indent="-368300" lvl="0" marL="457200" rtl="0" algn="l">
              <a:spcBef>
                <a:spcPts val="0"/>
              </a:spcBef>
              <a:spcAft>
                <a:spcPts val="0"/>
              </a:spcAft>
              <a:buSzPts val="2200"/>
              <a:buAutoNum type="alphaLcParenR"/>
            </a:pPr>
            <a:r>
              <a:rPr lang="en-GB"/>
              <a:t>The lengths of the sides of a triangle are in the ratio of 7</a:t>
            </a:r>
            <a:r>
              <a:rPr lang="en-GB" sz="2000"/>
              <a:t> </a:t>
            </a:r>
            <a:r>
              <a:rPr lang="en-GB"/>
              <a:t>:</a:t>
            </a:r>
            <a:r>
              <a:rPr lang="en-GB" sz="2000"/>
              <a:t> </a:t>
            </a:r>
            <a:r>
              <a:rPr lang="en-GB"/>
              <a:t>6</a:t>
            </a:r>
            <a:r>
              <a:rPr lang="en-GB" sz="2000"/>
              <a:t> </a:t>
            </a:r>
            <a:r>
              <a:rPr lang="en-GB"/>
              <a:t>:</a:t>
            </a:r>
            <a:r>
              <a:rPr lang="en-GB" sz="2000"/>
              <a:t> </a:t>
            </a:r>
            <a:r>
              <a:rPr lang="en-GB"/>
              <a:t>4.  The longest length is 14 cm, how long are the other sides?</a:t>
            </a:r>
            <a:endParaRPr/>
          </a:p>
          <a:p>
            <a:pPr indent="-368300" lvl="0" marL="457200" rtl="0" algn="l">
              <a:spcBef>
                <a:spcPts val="0"/>
              </a:spcBef>
              <a:spcAft>
                <a:spcPts val="0"/>
              </a:spcAft>
              <a:buSzPts val="2200"/>
              <a:buAutoNum type="alphaLcParenR"/>
            </a:pPr>
            <a:r>
              <a:rPr lang="en-GB"/>
              <a:t>The ratio of flour to butter to sugar in a cookie recipe is 3</a:t>
            </a:r>
            <a:r>
              <a:rPr lang="en-GB" sz="2000"/>
              <a:t> </a:t>
            </a:r>
            <a:r>
              <a:rPr lang="en-GB"/>
              <a:t>:</a:t>
            </a:r>
            <a:r>
              <a:rPr lang="en-GB" sz="2000"/>
              <a:t> </a:t>
            </a:r>
            <a:r>
              <a:rPr lang="en-GB"/>
              <a:t>2</a:t>
            </a:r>
            <a:r>
              <a:rPr lang="en-GB" sz="2000"/>
              <a:t> </a:t>
            </a:r>
            <a:r>
              <a:rPr lang="en-GB"/>
              <a:t>:</a:t>
            </a:r>
            <a:r>
              <a:rPr lang="en-GB" sz="2000"/>
              <a:t> </a:t>
            </a:r>
            <a:r>
              <a:rPr lang="en-GB"/>
              <a:t>1.  You use 126 grams butter, how much flour and sugar do you need?</a:t>
            </a:r>
            <a:endParaRPr/>
          </a:p>
          <a:p>
            <a:pPr indent="0" lvl="0" marL="457200" rtl="0" algn="l">
              <a:spcBef>
                <a:spcPts val="1000"/>
              </a:spcBef>
              <a:spcAft>
                <a:spcPts val="1000"/>
              </a:spcAft>
              <a:buNone/>
            </a:pPr>
            <a:r>
              <a:t/>
            </a:r>
            <a:endParaRPr/>
          </a:p>
        </p:txBody>
      </p:sp>
      <p:sp>
        <p:nvSpPr>
          <p:cNvPr id="1052" name="Google Shape;1052;p8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ratio tables to find one part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85"/>
          <p:cNvSpPr txBox="1"/>
          <p:nvPr>
            <p:ph idx="1" type="body"/>
          </p:nvPr>
        </p:nvSpPr>
        <p:spPr>
          <a:xfrm>
            <a:off x="324000" y="683100"/>
            <a:ext cx="8237700" cy="3020700"/>
          </a:xfrm>
          <a:prstGeom prst="rect">
            <a:avLst/>
          </a:prstGeom>
        </p:spPr>
        <p:txBody>
          <a:bodyPr anchorCtr="0" anchor="t" bIns="0" lIns="0" spcFirstLastPara="1" rIns="0" wrap="square" tIns="0">
            <a:noAutofit/>
          </a:bodyPr>
          <a:lstStyle/>
          <a:p>
            <a:pPr indent="-368300" lvl="0" marL="457200" rtl="0" algn="l">
              <a:spcBef>
                <a:spcPts val="0"/>
              </a:spcBef>
              <a:spcAft>
                <a:spcPts val="0"/>
              </a:spcAft>
              <a:buSzPts val="2200"/>
              <a:buAutoNum type="arabicParenR"/>
            </a:pPr>
            <a:r>
              <a:rPr lang="en-GB"/>
              <a:t>Use a ratio table to find either A or B given the ratio:</a:t>
            </a:r>
            <a:endParaRPr/>
          </a:p>
          <a:p>
            <a:pPr indent="0" lvl="0" marL="0" rtl="0" algn="l">
              <a:spcBef>
                <a:spcPts val="1000"/>
              </a:spcBef>
              <a:spcAft>
                <a:spcPts val="1000"/>
              </a:spcAft>
              <a:buNone/>
            </a:pPr>
            <a:r>
              <a:t/>
            </a:r>
            <a:endParaRPr/>
          </a:p>
        </p:txBody>
      </p:sp>
      <p:sp>
        <p:nvSpPr>
          <p:cNvPr id="1058" name="Google Shape;1058;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ratio tables to find one part</a:t>
            </a:r>
            <a:endParaRPr/>
          </a:p>
        </p:txBody>
      </p:sp>
      <p:graphicFrame>
        <p:nvGraphicFramePr>
          <p:cNvPr id="1059" name="Google Shape;1059;p85"/>
          <p:cNvGraphicFramePr/>
          <p:nvPr/>
        </p:nvGraphicFramePr>
        <p:xfrm>
          <a:off x="3012075" y="1080000"/>
          <a:ext cx="3000000" cy="3000000"/>
        </p:xfrm>
        <a:graphic>
          <a:graphicData uri="http://schemas.openxmlformats.org/drawingml/2006/table">
            <a:tbl>
              <a:tblPr>
                <a:noFill/>
                <a:tableStyleId>{6300B9EF-BFE0-4A47-A372-9612E9D491EC}</a:tableStyleId>
              </a:tblPr>
              <a:tblGrid>
                <a:gridCol w="1039950"/>
                <a:gridCol w="1039950"/>
                <a:gridCol w="1039950"/>
              </a:tblGrid>
              <a:tr h="381000">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Ratio A</a:t>
                      </a:r>
                      <a:r>
                        <a:rPr b="1" lang="en-GB" sz="2000">
                          <a:solidFill>
                            <a:schemeClr val="lt1"/>
                          </a:solidFill>
                          <a:latin typeface="Lexend"/>
                          <a:ea typeface="Lexend"/>
                          <a:cs typeface="Lexend"/>
                          <a:sym typeface="Lexend"/>
                        </a:rPr>
                        <a:t> </a:t>
                      </a:r>
                      <a:r>
                        <a:rPr b="1" lang="en-GB" sz="2000">
                          <a:solidFill>
                            <a:schemeClr val="lt1"/>
                          </a:solidFill>
                          <a:latin typeface="Lexend"/>
                          <a:ea typeface="Lexend"/>
                          <a:cs typeface="Lexend"/>
                          <a:sym typeface="Lexend"/>
                        </a:rPr>
                        <a:t>:</a:t>
                      </a:r>
                      <a:r>
                        <a:rPr b="1" lang="en-GB" sz="2000">
                          <a:solidFill>
                            <a:schemeClr val="lt1"/>
                          </a:solidFill>
                          <a:latin typeface="Lexend"/>
                          <a:ea typeface="Lexend"/>
                          <a:cs typeface="Lexend"/>
                          <a:sym typeface="Lexend"/>
                        </a:rPr>
                        <a:t> </a:t>
                      </a:r>
                      <a:r>
                        <a:rPr b="1" lang="en-GB" sz="2000">
                          <a:solidFill>
                            <a:schemeClr val="lt1"/>
                          </a:solidFill>
                          <a:latin typeface="Lexend"/>
                          <a:ea typeface="Lexend"/>
                          <a:cs typeface="Lexend"/>
                          <a:sym typeface="Lexend"/>
                        </a:rPr>
                        <a:t>B</a:t>
                      </a:r>
                      <a:endParaRPr b="1" sz="2000">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A</a:t>
                      </a:r>
                      <a:endParaRPr b="1" sz="2000">
                        <a:solidFill>
                          <a:schemeClr val="lt1"/>
                        </a:solidFill>
                        <a:latin typeface="Lexend"/>
                        <a:ea typeface="Lexend"/>
                        <a:cs typeface="Lexend"/>
                        <a:sym typeface="Lexend"/>
                      </a:endParaRPr>
                    </a:p>
                  </a:txBody>
                  <a:tcPr marT="0" marB="0" marR="0" marL="0" anchor="ctr">
                    <a:solidFill>
                      <a:schemeClr val="accent5"/>
                    </a:solidFill>
                  </a:tcPr>
                </a:tc>
                <a:tc>
                  <a:txBody>
                    <a:bodyPr/>
                    <a:lstStyle/>
                    <a:p>
                      <a:pPr indent="0" lvl="0" marL="0" rtl="0" algn="ctr">
                        <a:spcBef>
                          <a:spcPts val="0"/>
                        </a:spcBef>
                        <a:spcAft>
                          <a:spcPts val="0"/>
                        </a:spcAft>
                        <a:buNone/>
                      </a:pPr>
                      <a:r>
                        <a:rPr b="1" lang="en-GB" sz="2000">
                          <a:solidFill>
                            <a:schemeClr val="lt1"/>
                          </a:solidFill>
                          <a:latin typeface="Lexend"/>
                          <a:ea typeface="Lexend"/>
                          <a:cs typeface="Lexend"/>
                          <a:sym typeface="Lexend"/>
                        </a:rPr>
                        <a:t>B</a:t>
                      </a:r>
                      <a:endParaRPr b="1" sz="2000">
                        <a:solidFill>
                          <a:schemeClr val="lt1"/>
                        </a:solidFill>
                        <a:latin typeface="Lexend"/>
                        <a:ea typeface="Lexend"/>
                        <a:cs typeface="Lexend"/>
                        <a:sym typeface="Lexend"/>
                      </a:endParaRPr>
                    </a:p>
                  </a:txBody>
                  <a:tcPr marT="0" marB="0" marR="0" marL="0" anchor="ctr">
                    <a:solidFill>
                      <a:schemeClr val="accent5"/>
                    </a:solidFill>
                  </a:tcPr>
                </a:tc>
              </a:tr>
              <a:tr h="381000">
                <a:tc>
                  <a:txBody>
                    <a:bodyPr/>
                    <a:lstStyle/>
                    <a:p>
                      <a:pPr indent="0" lvl="0" marL="0" rtl="0" algn="ctr">
                        <a:spcBef>
                          <a:spcPts val="0"/>
                        </a:spcBef>
                        <a:spcAft>
                          <a:spcPts val="0"/>
                        </a:spcAft>
                        <a:buNone/>
                      </a:pPr>
                      <a:r>
                        <a:rPr lang="en-GB" sz="2000">
                          <a:latin typeface="Lexend"/>
                          <a:ea typeface="Lexend"/>
                          <a:cs typeface="Lexend"/>
                          <a:sym typeface="Lexend"/>
                        </a:rPr>
                        <a:t>1</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3</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9</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27</a:t>
                      </a:r>
                      <a:endParaRPr sz="2000">
                        <a:latin typeface="Kalam"/>
                        <a:ea typeface="Kalam"/>
                        <a:cs typeface="Kalam"/>
                        <a:sym typeface="Kalam"/>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1</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36</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18</a:t>
                      </a:r>
                      <a:endParaRPr sz="2000">
                        <a:latin typeface="Kalam"/>
                        <a:ea typeface="Kalam"/>
                        <a:cs typeface="Kalam"/>
                        <a:sym typeface="Kalam"/>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3</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8</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48</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128</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4</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5</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180</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225</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5</a:t>
                      </a:r>
                      <a:endParaRPr sz="2000">
                        <a:latin typeface="Lexend"/>
                        <a:ea typeface="Lexend"/>
                        <a:cs typeface="Lexend"/>
                        <a:sym typeface="Lexend"/>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600</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Lexend"/>
                          <a:ea typeface="Lexend"/>
                          <a:cs typeface="Lexend"/>
                          <a:sym typeface="Lexend"/>
                        </a:rPr>
                        <a:t>1500</a:t>
                      </a:r>
                      <a:endParaRPr sz="2000">
                        <a:latin typeface="Lexend"/>
                        <a:ea typeface="Lexend"/>
                        <a:cs typeface="Lexend"/>
                        <a:sym typeface="Lexend"/>
                      </a:endParaRPr>
                    </a:p>
                  </a:txBody>
                  <a:tcPr marT="0" marB="0" marR="0" marL="0" anchor="ctr"/>
                </a:tc>
              </a:tr>
              <a:tr h="381000">
                <a:tc>
                  <a:txBody>
                    <a:bodyPr/>
                    <a:lstStyle/>
                    <a:p>
                      <a:pPr indent="0" lvl="0" marL="0" rtl="0" algn="ctr">
                        <a:spcBef>
                          <a:spcPts val="0"/>
                        </a:spcBef>
                        <a:spcAft>
                          <a:spcPts val="0"/>
                        </a:spcAft>
                        <a:buNone/>
                      </a:pPr>
                      <a:r>
                        <a:rPr lang="en-GB" sz="2000">
                          <a:latin typeface="Lexend"/>
                          <a:ea typeface="Lexend"/>
                          <a:cs typeface="Lexend"/>
                          <a:sym typeface="Lexend"/>
                        </a:rPr>
                        <a:t>7</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3</a:t>
                      </a:r>
                      <a:endParaRPr sz="2000">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84</a:t>
                      </a:r>
                      <a:endParaRPr sz="2000">
                        <a:latin typeface="Lexend"/>
                        <a:ea typeface="Lexend"/>
                        <a:cs typeface="Lexend"/>
                        <a:sym typeface="Lexend"/>
                      </a:endParaRPr>
                    </a:p>
                  </a:txBody>
                  <a:tcPr marT="0" marB="0" marR="0" marL="0" anchor="ctr">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36</a:t>
                      </a:r>
                      <a:endParaRPr sz="2000">
                        <a:latin typeface="Kalam"/>
                        <a:ea typeface="Kalam"/>
                        <a:cs typeface="Kalam"/>
                        <a:sym typeface="Kalam"/>
                      </a:endParaRPr>
                    </a:p>
                  </a:txBody>
                  <a:tcPr marT="0" marB="0" marR="0" marL="0" anchor="ctr">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000">
                          <a:latin typeface="Lexend"/>
                          <a:ea typeface="Lexend"/>
                          <a:cs typeface="Lexend"/>
                          <a:sym typeface="Lexend"/>
                        </a:rPr>
                        <a:t>2</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9</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845</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3802.5</a:t>
                      </a:r>
                      <a:endParaRPr sz="20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GB" sz="2000">
                          <a:latin typeface="Lexend"/>
                          <a:ea typeface="Lexend"/>
                          <a:cs typeface="Lexend"/>
                          <a:sym typeface="Lexend"/>
                        </a:rPr>
                        <a:t>4</a:t>
                      </a:r>
                      <a:r>
                        <a:rPr lang="en-GB" sz="2000">
                          <a:solidFill>
                            <a:schemeClr val="dk1"/>
                          </a:solidFill>
                          <a:latin typeface="Lexend"/>
                          <a:ea typeface="Lexend"/>
                          <a:cs typeface="Lexend"/>
                          <a:sym typeface="Lexend"/>
                        </a:rPr>
                        <a:t> </a:t>
                      </a:r>
                      <a:r>
                        <a:rPr lang="en-GB" sz="2000">
                          <a:latin typeface="Lexend"/>
                          <a:ea typeface="Lexend"/>
                          <a:cs typeface="Lexend"/>
                          <a:sym typeface="Lexend"/>
                        </a:rPr>
                        <a:t>:</a:t>
                      </a:r>
                      <a:r>
                        <a:rPr lang="en-GB" sz="2000">
                          <a:solidFill>
                            <a:schemeClr val="dk1"/>
                          </a:solidFill>
                          <a:latin typeface="Lexend"/>
                          <a:ea typeface="Lexend"/>
                          <a:cs typeface="Lexend"/>
                          <a:sym typeface="Lexend"/>
                        </a:rPr>
                        <a:t> </a:t>
                      </a:r>
                      <a:r>
                        <a:rPr lang="en-GB" sz="2000">
                          <a:latin typeface="Lexend"/>
                          <a:ea typeface="Lexend"/>
                          <a:cs typeface="Lexend"/>
                          <a:sym typeface="Lexend"/>
                        </a:rPr>
                        <a:t>7</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27.2</a:t>
                      </a:r>
                      <a:endParaRPr sz="2000">
                        <a:latin typeface="Kalam"/>
                        <a:ea typeface="Kalam"/>
                        <a:cs typeface="Kalam"/>
                        <a:sym typeface="Kalam"/>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Lexend"/>
                          <a:ea typeface="Lexend"/>
                          <a:cs typeface="Lexend"/>
                          <a:sym typeface="Lexend"/>
                        </a:rPr>
                        <a:t>47.6</a:t>
                      </a:r>
                      <a:endParaRPr sz="2000">
                        <a:latin typeface="Lexend"/>
                        <a:ea typeface="Lexend"/>
                        <a:cs typeface="Lexend"/>
                        <a:sym typeface="Lexend"/>
                      </a:endParaRPr>
                    </a:p>
                  </a:txBody>
                  <a:tcPr marT="0"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86"/>
          <p:cNvSpPr txBox="1"/>
          <p:nvPr>
            <p:ph idx="1" type="body"/>
          </p:nvPr>
        </p:nvSpPr>
        <p:spPr>
          <a:xfrm>
            <a:off x="392600" y="759300"/>
            <a:ext cx="84273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2)   Use a ratio table to answer the following:</a:t>
            </a:r>
            <a:endParaRPr/>
          </a:p>
          <a:p>
            <a:pPr indent="-368300" lvl="0" marL="457200" rtl="0" algn="l">
              <a:spcBef>
                <a:spcPts val="1000"/>
              </a:spcBef>
              <a:spcAft>
                <a:spcPts val="0"/>
              </a:spcAft>
              <a:buSzPts val="2200"/>
              <a:buAutoNum type="alphaLcParenR"/>
            </a:pPr>
            <a:r>
              <a:rPr lang="en-GB"/>
              <a:t>Andeep, Sam and Sofia share some sweets in the ratio 3</a:t>
            </a:r>
            <a:r>
              <a:rPr lang="en-GB" sz="2000"/>
              <a:t> </a:t>
            </a:r>
            <a:r>
              <a:rPr lang="en-GB"/>
              <a:t>:</a:t>
            </a:r>
            <a:r>
              <a:rPr lang="en-GB" sz="2000"/>
              <a:t> </a:t>
            </a:r>
            <a:r>
              <a:rPr lang="en-GB"/>
              <a:t>8</a:t>
            </a:r>
            <a:r>
              <a:rPr lang="en-GB" sz="2000"/>
              <a:t> </a:t>
            </a:r>
            <a:r>
              <a:rPr lang="en-GB"/>
              <a:t>:</a:t>
            </a:r>
            <a:r>
              <a:rPr lang="en-GB" sz="2000"/>
              <a:t> </a:t>
            </a:r>
            <a:r>
              <a:rPr lang="en-GB"/>
              <a:t>5.  Sam gets 40, how many sweets do Andeep and Sofia get?	</a:t>
            </a:r>
            <a:r>
              <a:rPr lang="en-GB">
                <a:latin typeface="Kalam"/>
                <a:ea typeface="Kalam"/>
                <a:cs typeface="Kalam"/>
                <a:sym typeface="Kalam"/>
              </a:rPr>
              <a:t>Andeep = 15 and Sofia = 25</a:t>
            </a:r>
            <a:endParaRPr>
              <a:latin typeface="Kalam"/>
              <a:ea typeface="Kalam"/>
              <a:cs typeface="Kalam"/>
              <a:sym typeface="Kalam"/>
            </a:endParaRPr>
          </a:p>
          <a:p>
            <a:pPr indent="-368300" lvl="0" marL="457200" rtl="0" algn="l">
              <a:spcBef>
                <a:spcPts val="0"/>
              </a:spcBef>
              <a:spcAft>
                <a:spcPts val="0"/>
              </a:spcAft>
              <a:buSzPts val="2200"/>
              <a:buAutoNum type="alphaLcParenR"/>
            </a:pPr>
            <a:r>
              <a:rPr lang="en-GB"/>
              <a:t>The lengths of the sides of a triangle are in the ratio of 7</a:t>
            </a:r>
            <a:r>
              <a:rPr lang="en-GB" sz="2000"/>
              <a:t> </a:t>
            </a:r>
            <a:r>
              <a:rPr lang="en-GB"/>
              <a:t>:</a:t>
            </a:r>
            <a:r>
              <a:rPr lang="en-GB" sz="2000"/>
              <a:t> </a:t>
            </a:r>
            <a:r>
              <a:rPr lang="en-GB"/>
              <a:t>6</a:t>
            </a:r>
            <a:r>
              <a:rPr lang="en-GB" sz="2000"/>
              <a:t> </a:t>
            </a:r>
            <a:r>
              <a:rPr lang="en-GB"/>
              <a:t>:</a:t>
            </a:r>
            <a:r>
              <a:rPr lang="en-GB" sz="2000"/>
              <a:t> </a:t>
            </a:r>
            <a:r>
              <a:rPr lang="en-GB"/>
              <a:t>4.  The longest length is 14 cm, how long are the other sides?	</a:t>
            </a:r>
            <a:r>
              <a:rPr lang="en-GB">
                <a:latin typeface="Kalam"/>
                <a:ea typeface="Kalam"/>
                <a:cs typeface="Kalam"/>
                <a:sym typeface="Kalam"/>
              </a:rPr>
              <a:t>12 cm and 8 cm</a:t>
            </a:r>
            <a:endParaRPr>
              <a:latin typeface="Kalam"/>
              <a:ea typeface="Kalam"/>
              <a:cs typeface="Kalam"/>
              <a:sym typeface="Kalam"/>
            </a:endParaRPr>
          </a:p>
          <a:p>
            <a:pPr indent="-368300" lvl="0" marL="457200" rtl="0" algn="l">
              <a:spcBef>
                <a:spcPts val="0"/>
              </a:spcBef>
              <a:spcAft>
                <a:spcPts val="0"/>
              </a:spcAft>
              <a:buSzPts val="2200"/>
              <a:buAutoNum type="alphaLcParenR"/>
            </a:pPr>
            <a:r>
              <a:rPr lang="en-GB"/>
              <a:t>The ratio of flour to butter to sugar in a cookie recipe is 3</a:t>
            </a:r>
            <a:r>
              <a:rPr lang="en-GB" sz="2000"/>
              <a:t> </a:t>
            </a:r>
            <a:r>
              <a:rPr lang="en-GB"/>
              <a:t>:</a:t>
            </a:r>
            <a:r>
              <a:rPr lang="en-GB" sz="2000"/>
              <a:t> </a:t>
            </a:r>
            <a:r>
              <a:rPr lang="en-GB"/>
              <a:t>2</a:t>
            </a:r>
            <a:r>
              <a:rPr lang="en-GB" sz="2000"/>
              <a:t> </a:t>
            </a:r>
            <a:r>
              <a:rPr lang="en-GB"/>
              <a:t>:</a:t>
            </a:r>
            <a:r>
              <a:rPr lang="en-GB" sz="2000"/>
              <a:t> </a:t>
            </a:r>
            <a:r>
              <a:rPr lang="en-GB"/>
              <a:t>1.  You use 126 grams butter, how much flour and sugar do you need?	</a:t>
            </a:r>
            <a:r>
              <a:rPr lang="en-GB">
                <a:latin typeface="Kalam"/>
                <a:ea typeface="Kalam"/>
                <a:cs typeface="Kalam"/>
                <a:sym typeface="Kalam"/>
              </a:rPr>
              <a:t>Flour = 189 g and </a:t>
            </a:r>
            <a:r>
              <a:rPr lang="en-GB">
                <a:latin typeface="Kalam"/>
                <a:ea typeface="Kalam"/>
                <a:cs typeface="Kalam"/>
                <a:sym typeface="Kalam"/>
              </a:rPr>
              <a:t>sugar</a:t>
            </a:r>
            <a:r>
              <a:rPr lang="en-GB">
                <a:latin typeface="Kalam"/>
                <a:ea typeface="Kalam"/>
                <a:cs typeface="Kalam"/>
                <a:sym typeface="Kalam"/>
              </a:rPr>
              <a:t> = 63 g</a:t>
            </a:r>
            <a:endParaRPr>
              <a:latin typeface="Kalam"/>
              <a:ea typeface="Kalam"/>
              <a:cs typeface="Kalam"/>
              <a:sym typeface="Kalam"/>
            </a:endParaRPr>
          </a:p>
          <a:p>
            <a:pPr indent="0" lvl="0" marL="457200" rtl="0" algn="l">
              <a:spcBef>
                <a:spcPts val="1000"/>
              </a:spcBef>
              <a:spcAft>
                <a:spcPts val="1000"/>
              </a:spcAft>
              <a:buNone/>
            </a:pPr>
            <a:r>
              <a:t/>
            </a:r>
            <a:endParaRPr/>
          </a:p>
        </p:txBody>
      </p:sp>
      <p:sp>
        <p:nvSpPr>
          <p:cNvPr id="1065" name="Google Shape;1065;p8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Using ratio tables to find one part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87"/>
          <p:cNvSpPr txBox="1"/>
          <p:nvPr>
            <p:ph idx="1" type="body"/>
          </p:nvPr>
        </p:nvSpPr>
        <p:spPr>
          <a:xfrm>
            <a:off x="324000" y="672575"/>
            <a:ext cx="8113800" cy="41478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900"/>
              <a:t>A bar model can be used to determine the part.</a:t>
            </a:r>
            <a:endParaRPr sz="1900"/>
          </a:p>
          <a:p>
            <a:pPr indent="0" lvl="0" marL="0" rtl="0" algn="l">
              <a:spcBef>
                <a:spcPts val="1000"/>
              </a:spcBef>
              <a:spcAft>
                <a:spcPts val="0"/>
              </a:spcAft>
              <a:buClr>
                <a:schemeClr val="dk1"/>
              </a:buClr>
              <a:buSzPts val="1100"/>
              <a:buFont typeface="Arial"/>
              <a:buNone/>
            </a:pPr>
            <a:r>
              <a:rPr lang="en-GB" sz="1900"/>
              <a:t>E.g. </a:t>
            </a:r>
            <a:endParaRPr sz="1900"/>
          </a:p>
          <a:p>
            <a:pPr indent="0" lvl="0" marL="0" rtl="0" algn="l">
              <a:spcBef>
                <a:spcPts val="1000"/>
              </a:spcBef>
              <a:spcAft>
                <a:spcPts val="0"/>
              </a:spcAft>
              <a:buClr>
                <a:schemeClr val="dk1"/>
              </a:buClr>
              <a:buSzPts val="1100"/>
              <a:buFont typeface="Arial"/>
              <a:buNone/>
            </a:pPr>
            <a:r>
              <a:t/>
            </a:r>
            <a:endParaRPr sz="1900"/>
          </a:p>
          <a:p>
            <a:pPr indent="0" lvl="0" marL="0" rtl="0" algn="l">
              <a:spcBef>
                <a:spcPts val="1000"/>
              </a:spcBef>
              <a:spcAft>
                <a:spcPts val="0"/>
              </a:spcAft>
              <a:buClr>
                <a:schemeClr val="dk1"/>
              </a:buClr>
              <a:buSzPts val="1100"/>
              <a:buFont typeface="Arial"/>
              <a:buNone/>
            </a:pPr>
            <a:r>
              <a:t/>
            </a:r>
            <a:endParaRPr sz="1900"/>
          </a:p>
          <a:p>
            <a:pPr indent="0" lvl="0" marL="0" rtl="0" algn="l">
              <a:spcBef>
                <a:spcPts val="1000"/>
              </a:spcBef>
              <a:spcAft>
                <a:spcPts val="0"/>
              </a:spcAft>
              <a:buClr>
                <a:schemeClr val="dk1"/>
              </a:buClr>
              <a:buSzPts val="1100"/>
              <a:buFont typeface="Arial"/>
              <a:buNone/>
            </a:pPr>
            <a:r>
              <a:t/>
            </a:r>
            <a:endParaRPr sz="1900"/>
          </a:p>
          <a:p>
            <a:pPr indent="0" lvl="0" marL="0" rtl="0" algn="l">
              <a:spcBef>
                <a:spcPts val="1000"/>
              </a:spcBef>
              <a:spcAft>
                <a:spcPts val="0"/>
              </a:spcAft>
              <a:buClr>
                <a:schemeClr val="dk1"/>
              </a:buClr>
              <a:buSzPts val="1100"/>
              <a:buFont typeface="Arial"/>
              <a:buNone/>
            </a:pPr>
            <a:r>
              <a:rPr lang="en-GB" sz="1900"/>
              <a:t>A more efficient way to determine the part is to use a ratio table.</a:t>
            </a:r>
            <a:endParaRPr sz="1900"/>
          </a:p>
          <a:p>
            <a:pPr indent="0" lvl="0" marL="0" rtl="0" algn="l">
              <a:spcBef>
                <a:spcPts val="1000"/>
              </a:spcBef>
              <a:spcAft>
                <a:spcPts val="1000"/>
              </a:spcAft>
              <a:buClr>
                <a:schemeClr val="dk1"/>
              </a:buClr>
              <a:buSzPts val="1100"/>
              <a:buFont typeface="Arial"/>
              <a:buNone/>
            </a:pPr>
            <a:r>
              <a:rPr lang="en-GB" sz="1900"/>
              <a:t>E.g.</a:t>
            </a:r>
            <a:endParaRPr sz="1900"/>
          </a:p>
        </p:txBody>
      </p:sp>
      <p:sp>
        <p:nvSpPr>
          <p:cNvPr id="1071" name="Google Shape;1071;p87"/>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Determining the part</a:t>
            </a:r>
            <a:endParaRPr/>
          </a:p>
        </p:txBody>
      </p:sp>
      <p:pic>
        <p:nvPicPr>
          <p:cNvPr descr="Taken from slide 7" id="1072" name="Google Shape;1072;p87"/>
          <p:cNvPicPr preferRelativeResize="0"/>
          <p:nvPr/>
        </p:nvPicPr>
        <p:blipFill>
          <a:blip r:embed="rId3">
            <a:alphaModFix/>
          </a:blip>
          <a:stretch>
            <a:fillRect/>
          </a:stretch>
        </p:blipFill>
        <p:spPr>
          <a:xfrm>
            <a:off x="942900" y="1080000"/>
            <a:ext cx="3629100" cy="1756413"/>
          </a:xfrm>
          <a:prstGeom prst="rect">
            <a:avLst/>
          </a:prstGeom>
          <a:noFill/>
          <a:ln>
            <a:noFill/>
          </a:ln>
        </p:spPr>
      </p:pic>
      <p:pic>
        <p:nvPicPr>
          <p:cNvPr descr="Taken from slide 19" id="1073" name="Google Shape;1073;p87"/>
          <p:cNvPicPr preferRelativeResize="0"/>
          <p:nvPr/>
        </p:nvPicPr>
        <p:blipFill>
          <a:blip r:embed="rId4">
            <a:alphaModFix/>
          </a:blip>
          <a:stretch>
            <a:fillRect/>
          </a:stretch>
        </p:blipFill>
        <p:spPr>
          <a:xfrm>
            <a:off x="886350" y="3312625"/>
            <a:ext cx="2991081" cy="15077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88"/>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a:t>
            </a:r>
            <a:r>
              <a:rPr lang="en-GB"/>
              <a:t>Mathematics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079" name="Google Shape;1079;p88"/>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