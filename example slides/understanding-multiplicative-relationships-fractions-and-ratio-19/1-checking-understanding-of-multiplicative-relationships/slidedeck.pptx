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2034BA-B2A8-49EF-A613-FFD26C1E2B7E}">
  <a:tblStyle styleId="{D52034BA-B2A8-49EF-A613-FFD26C1E2B7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a1f6d7b8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a1f6d7b8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a1f6d7b89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2a1f6d7b89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a1f6d7b89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2a1f6d7b89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2a1fc8fd6d6_2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2a1fc8fd6d6_2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2a1fc8fd6d6_2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2a1fc8fd6d6_2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2a1fc8fd6d6_2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2a1fc8fd6d6_2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2a1fc8fd6d6_2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2a1fc8fd6d6_2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2a1fc8fd6d6_2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2a1fc8fd6d6_2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2a1fc8fd6d6_2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2a1fc8fd6d6_2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2a1fc8fd6d6_2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2a1fc8fd6d6_2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2a1fc8fd6d6_2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2a1fc8fd6d6_2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2a1fc8fd6d6_1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2a1fc8fd6d6_1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2a1fc8fd6d6_2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2a1fc8fd6d6_2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2a1fc8fd6d6_2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2a1fc8fd6d6_2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2a1fc8fd6d6_2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2a1fc8fd6d6_2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2a1fc8fd6d6_2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2a1fc8fd6d6_2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2a1fc8fd6d6_2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2a1fc8fd6d6_2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2a1fc8fd6d6_2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2a1fc8fd6d6_2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2a1fc8fd6d6_2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2a1fc8fd6d6_2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2a1fc8fd6d6_2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1" name="Google Shape;1021;g2a1fc8fd6d6_2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2a1fc8fd6d6_2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2a1fc8fd6d6_2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a1fc8fd6d6_2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2a1fc8fd6d6_2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2a1fc8fd6d6_2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8" name="Google Shape;1058;g2a1fc8fd6d6_2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2a1fc8fd6d6_2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2a1fc8fd6d6_2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2a1fc8fd6d6_1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6" name="Google Shape;1086;g2a1fc8fd6d6_1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2a1fc8fd6d6_2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4" name="Google Shape;1094;g2a1fc8fd6d6_2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2a1fc8fd6d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4" name="Google Shape;1104;g2a1fc8fd6d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2a1fc8fd6d6_2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2a1fc8fd6d6_2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2a1fc8fd6d6_2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2a1fc8fd6d6_2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2a1fc8fd6d6_2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7" name="Google Shape;1147;g2a1fc8fd6d6_2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2a1fc8fd6d6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2a1fc8fd6d6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2a1fc8fd6d6_2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5" name="Google Shape;1175;g2a1fc8fd6d6_2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2a64619b34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2a64619b34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2a1fc8fd6d6_2_8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2a1fc8fd6d6_2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2a1fc8fd6d6_2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g2a1fc8fd6d6_2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2a1fc8fd6d6_2_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2a1fc8fd6d6_2_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2a6d73fe31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2a6d73fe31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2a64619b34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3" name="Google Shape;1263;g2a64619b34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2a6d73fe31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2a6d73fe31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7" name="Google Shape;1307;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3.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2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image" Target="../media/image14.png"/><Relationship Id="rId7" Type="http://schemas.openxmlformats.org/officeDocument/2006/relationships/image" Target="../media/image1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65.png"/><Relationship Id="rId5" Type="http://schemas.openxmlformats.org/officeDocument/2006/relationships/image" Target="../media/image33.png"/><Relationship Id="rId6" Type="http://schemas.openxmlformats.org/officeDocument/2006/relationships/image" Target="../media/image29.png"/><Relationship Id="rId7"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65.png"/><Relationship Id="rId4" Type="http://schemas.openxmlformats.org/officeDocument/2006/relationships/image" Target="../media/image24.png"/><Relationship Id="rId9" Type="http://schemas.openxmlformats.org/officeDocument/2006/relationships/image" Target="../media/image13.png"/><Relationship Id="rId5" Type="http://schemas.openxmlformats.org/officeDocument/2006/relationships/image" Target="../media/image25.png"/><Relationship Id="rId6" Type="http://schemas.openxmlformats.org/officeDocument/2006/relationships/image" Target="../media/image30.png"/><Relationship Id="rId7" Type="http://schemas.openxmlformats.org/officeDocument/2006/relationships/image" Target="../media/image33.png"/><Relationship Id="rId8" Type="http://schemas.openxmlformats.org/officeDocument/2006/relationships/image" Target="../media/image2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65.png"/><Relationship Id="rId4" Type="http://schemas.openxmlformats.org/officeDocument/2006/relationships/image" Target="../media/image28.png"/><Relationship Id="rId11" Type="http://schemas.openxmlformats.org/officeDocument/2006/relationships/image" Target="../media/image13.png"/><Relationship Id="rId10" Type="http://schemas.openxmlformats.org/officeDocument/2006/relationships/image" Target="../media/image39.png"/><Relationship Id="rId9" Type="http://schemas.openxmlformats.org/officeDocument/2006/relationships/image" Target="../media/image29.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30.png"/><Relationship Id="rId8" Type="http://schemas.openxmlformats.org/officeDocument/2006/relationships/image" Target="../media/image3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7.png"/><Relationship Id="rId4" Type="http://schemas.openxmlformats.org/officeDocument/2006/relationships/image" Target="../media/image4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 Id="rId4" Type="http://schemas.openxmlformats.org/officeDocument/2006/relationships/image" Target="../media/image4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4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 Id="rId4" Type="http://schemas.openxmlformats.org/officeDocument/2006/relationships/image" Target="../media/image4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4.png"/><Relationship Id="rId4" Type="http://schemas.openxmlformats.org/officeDocument/2006/relationships/image" Target="../media/image40.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7.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7.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7.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1.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4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4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4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3.xml"/><Relationship Id="rId3" Type="http://schemas.openxmlformats.org/officeDocument/2006/relationships/image" Target="../media/image4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5.xml"/><Relationship Id="rId3" Type="http://schemas.openxmlformats.org/officeDocument/2006/relationships/image" Target="../media/image4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6.xml"/><Relationship Id="rId3" Type="http://schemas.openxmlformats.org/officeDocument/2006/relationships/image" Target="../media/image4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8.xml"/><Relationship Id="rId3" Type="http://schemas.openxmlformats.org/officeDocument/2006/relationships/image" Target="../media/image49.png"/><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9.xml"/><Relationship Id="rId3" Type="http://schemas.openxmlformats.org/officeDocument/2006/relationships/image" Target="../media/image49.pn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4.xml"/><Relationship Id="rId3"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5.xml"/><Relationship Id="rId3" Type="http://schemas.openxmlformats.org/officeDocument/2006/relationships/image" Target="../media/image53.png"/><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6.xml"/><Relationship Id="rId3"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7.xml"/><Relationship Id="rId3" Type="http://schemas.openxmlformats.org/officeDocument/2006/relationships/image" Target="../media/image54.png"/><Relationship Id="rId4" Type="http://schemas.openxmlformats.org/officeDocument/2006/relationships/image" Target="../media/image58.png"/><Relationship Id="rId5"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 Id="rId3" Type="http://schemas.openxmlformats.org/officeDocument/2006/relationships/image" Target="../media/image4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0.xml"/><Relationship Id="rId3" Type="http://schemas.openxmlformats.org/officeDocument/2006/relationships/image" Target="../media/image5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1.xml"/><Relationship Id="rId3" Type="http://schemas.openxmlformats.org/officeDocument/2006/relationships/image" Target="../media/image64.png"/><Relationship Id="rId4" Type="http://schemas.openxmlformats.org/officeDocument/2006/relationships/image" Target="../media/image60.png"/><Relationship Id="rId5" Type="http://schemas.openxmlformats.org/officeDocument/2006/relationships/image" Target="../media/image6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2.xml"/><Relationship Id="rId3" Type="http://schemas.openxmlformats.org/officeDocument/2006/relationships/image" Target="../media/image64.png"/><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3.xml"/><Relationship Id="rId3" Type="http://schemas.openxmlformats.org/officeDocument/2006/relationships/image" Target="../media/image61.png"/><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5.xml"/><Relationship Id="rId3" Type="http://schemas.openxmlformats.org/officeDocument/2006/relationships/image" Target="../media/image66.png"/><Relationship Id="rId4" Type="http://schemas.openxmlformats.org/officeDocument/2006/relationships/image" Target="../media/image6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6.xml"/><Relationship Id="rId3" Type="http://schemas.openxmlformats.org/officeDocument/2006/relationships/image" Target="../media/image69.jpg"/><Relationship Id="rId4" Type="http://schemas.openxmlformats.org/officeDocument/2006/relationships/image" Target="../media/image6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7.xml"/><Relationship Id="rId3" Type="http://schemas.openxmlformats.org/officeDocument/2006/relationships/image" Target="../media/image61.png"/><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9.xml"/><Relationship Id="rId3" Type="http://schemas.openxmlformats.org/officeDocument/2006/relationships/image" Target="../media/image5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0.xml"/><Relationship Id="rId3" Type="http://schemas.openxmlformats.org/officeDocument/2006/relationships/image" Target="../media/image68.png"/><Relationship Id="rId4" Type="http://schemas.openxmlformats.org/officeDocument/2006/relationships/image" Target="../media/image7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1.xml"/><Relationship Id="rId3" Type="http://schemas.openxmlformats.org/officeDocument/2006/relationships/image" Target="../media/image68.png"/><Relationship Id="rId4" Type="http://schemas.openxmlformats.org/officeDocument/2006/relationships/image" Target="../media/image7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2.xml"/><Relationship Id="rId3" Type="http://schemas.openxmlformats.org/officeDocument/2006/relationships/image" Target="../media/image68.png"/><Relationship Id="rId4" Type="http://schemas.openxmlformats.org/officeDocument/2006/relationships/image" Target="../media/image7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4.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understanding of multiplicative relationships</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multiplicative relationships: fractions and ratio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proportionality as a comparison rather than just absolute values.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1" type="subTitle"/>
          </p:nvPr>
        </p:nvSpPr>
        <p:spPr>
          <a:xfrm>
            <a:off x="306950" y="1065000"/>
            <a:ext cx="7767300" cy="1578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a:t>Proportion is a part to whole (sometimes part to part) comparison. If two things are proportional then the ratio of part to whole is maintained and the multiplicative relationship between parts is also maintained.</a:t>
            </a:r>
            <a:endParaRPr b="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68"/>
          <p:cNvSpPr txBox="1"/>
          <p:nvPr>
            <p:ph idx="1" type="subTitle"/>
          </p:nvPr>
        </p:nvSpPr>
        <p:spPr>
          <a:xfrm>
            <a:off x="324000" y="1124850"/>
            <a:ext cx="7767300" cy="783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Proportionality</a:t>
            </a:r>
            <a:r>
              <a:rPr b="0" lang="en-GB"/>
              <a:t> means </a:t>
            </a:r>
            <a:r>
              <a:rPr b="0" lang="en-GB"/>
              <a:t>when v</a:t>
            </a:r>
            <a:r>
              <a:rPr b="0" lang="en-GB"/>
              <a:t>ariables are in proportion if they have a constant multiplicative relationship. </a:t>
            </a:r>
            <a:endParaRPr b="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9"/>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sp>
        <p:nvSpPr>
          <p:cNvPr id="777" name="Google Shape;777;p6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Paying attention to the whole</a:t>
            </a:r>
            <a:endParaRPr/>
          </a:p>
        </p:txBody>
      </p:sp>
      <p:sp>
        <p:nvSpPr>
          <p:cNvPr id="778" name="Google Shape;778;p69"/>
          <p:cNvSpPr txBox="1"/>
          <p:nvPr>
            <p:ph idx="3" type="title"/>
          </p:nvPr>
        </p:nvSpPr>
        <p:spPr>
          <a:xfrm>
            <a:off x="324000" y="657600"/>
            <a:ext cx="83538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understanding of multiplicative relationships</a:t>
            </a:r>
            <a:endParaRPr/>
          </a:p>
          <a:p>
            <a:pPr indent="0" lvl="0" marL="0" rtl="0" algn="l">
              <a:spcBef>
                <a:spcPts val="0"/>
              </a:spcBef>
              <a:spcAft>
                <a:spcPts val="0"/>
              </a:spcAft>
              <a:buNone/>
            </a:pPr>
            <a:r>
              <a:t/>
            </a:r>
            <a:endParaRPr/>
          </a:p>
        </p:txBody>
      </p:sp>
      <p:pic>
        <p:nvPicPr>
          <p:cNvPr id="779" name="Google Shape;779;p69"/>
          <p:cNvPicPr preferRelativeResize="0"/>
          <p:nvPr/>
        </p:nvPicPr>
        <p:blipFill>
          <a:blip r:embed="rId3">
            <a:alphaModFix/>
          </a:blip>
          <a:stretch>
            <a:fillRect/>
          </a:stretch>
        </p:blipFill>
        <p:spPr>
          <a:xfrm>
            <a:off x="412275" y="2059743"/>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70"/>
          <p:cNvSpPr txBox="1"/>
          <p:nvPr>
            <p:ph idx="1" type="body"/>
          </p:nvPr>
        </p:nvSpPr>
        <p:spPr>
          <a:xfrm>
            <a:off x="323350" y="1597500"/>
            <a:ext cx="8237700" cy="79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You may have seen proportions being represented as fractions, decimals, percentages and ratios.</a:t>
            </a:r>
            <a:endParaRPr/>
          </a:p>
        </p:txBody>
      </p:sp>
      <p:sp>
        <p:nvSpPr>
          <p:cNvPr id="785" name="Google Shape;785;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sp>
        <p:nvSpPr>
          <p:cNvPr id="786" name="Google Shape;786;p70"/>
          <p:cNvSpPr txBox="1"/>
          <p:nvPr>
            <p:ph idx="1" type="body"/>
          </p:nvPr>
        </p:nvSpPr>
        <p:spPr>
          <a:xfrm>
            <a:off x="323350" y="662868"/>
            <a:ext cx="8237700" cy="79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Proportion is a part to whole (sometimes part to part) comparison. </a:t>
            </a:r>
            <a:endParaRPr sz="1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pic>
        <p:nvPicPr>
          <p:cNvPr descr="&lt;math xmlns=&quot;http://www.w3.org/1998/Math/MathML&quot; display=&quot;block&quot; data-is-equatio=&quot;1&quot; data-latex=&quot;\frac{1}{4}&quot;&gt;&lt;mfrac&gt;&lt;mn&gt;1&lt;/mn&gt;&lt;mn&gt;4&lt;/mn&gt;&lt;/mfrac&gt;&lt;/math&gt;" id="792" name="Google Shape;792;p71" title="one fourth"/>
          <p:cNvPicPr preferRelativeResize="0"/>
          <p:nvPr/>
        </p:nvPicPr>
        <p:blipFill>
          <a:blip r:embed="rId3">
            <a:alphaModFix/>
          </a:blip>
          <a:stretch>
            <a:fillRect/>
          </a:stretch>
        </p:blipFill>
        <p:spPr>
          <a:xfrm>
            <a:off x="732982" y="3531771"/>
            <a:ext cx="201950" cy="643422"/>
          </a:xfrm>
          <a:prstGeom prst="rect">
            <a:avLst/>
          </a:prstGeom>
          <a:noFill/>
          <a:ln>
            <a:noFill/>
          </a:ln>
        </p:spPr>
      </p:pic>
      <p:cxnSp>
        <p:nvCxnSpPr>
          <p:cNvPr id="793" name="Google Shape;793;p71"/>
          <p:cNvCxnSpPr/>
          <p:nvPr/>
        </p:nvCxnSpPr>
        <p:spPr>
          <a:xfrm flipH="1">
            <a:off x="997125" y="3306175"/>
            <a:ext cx="1376100" cy="345900"/>
          </a:xfrm>
          <a:prstGeom prst="straightConnector1">
            <a:avLst/>
          </a:prstGeom>
          <a:noFill/>
          <a:ln cap="flat" cmpd="sng" w="28575">
            <a:solidFill>
              <a:schemeClr val="accent4"/>
            </a:solidFill>
            <a:prstDash val="solid"/>
            <a:round/>
            <a:headEnd len="med" w="med" type="none"/>
            <a:tailEnd len="med" w="med" type="none"/>
          </a:ln>
        </p:spPr>
      </p:cxnSp>
      <p:sp>
        <p:nvSpPr>
          <p:cNvPr id="794" name="Google Shape;794;p71"/>
          <p:cNvSpPr txBox="1"/>
          <p:nvPr/>
        </p:nvSpPr>
        <p:spPr>
          <a:xfrm>
            <a:off x="2357196" y="2900979"/>
            <a:ext cx="1323600" cy="3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a:t>
            </a:r>
            <a:r>
              <a:rPr lang="en-GB" sz="2200">
                <a:solidFill>
                  <a:schemeClr val="dk1"/>
                </a:solidFill>
                <a:latin typeface="Lexend"/>
                <a:ea typeface="Lexend"/>
                <a:cs typeface="Lexend"/>
                <a:sym typeface="Lexend"/>
              </a:rPr>
              <a:t>haded</a:t>
            </a:r>
            <a:r>
              <a:rPr lang="en-GB" sz="2200">
                <a:solidFill>
                  <a:schemeClr val="dk1"/>
                </a:solidFill>
                <a:latin typeface="Lexend"/>
                <a:ea typeface="Lexend"/>
                <a:cs typeface="Lexend"/>
                <a:sym typeface="Lexend"/>
              </a:rPr>
              <a:t>part</a:t>
            </a:r>
            <a:endParaRPr sz="2200">
              <a:solidFill>
                <a:schemeClr val="dk1"/>
              </a:solidFill>
              <a:latin typeface="Lexend"/>
              <a:ea typeface="Lexend"/>
              <a:cs typeface="Lexend"/>
              <a:sym typeface="Lexend"/>
            </a:endParaRPr>
          </a:p>
        </p:txBody>
      </p:sp>
      <p:sp>
        <p:nvSpPr>
          <p:cNvPr id="795" name="Google Shape;795;p71"/>
          <p:cNvSpPr txBox="1"/>
          <p:nvPr/>
        </p:nvSpPr>
        <p:spPr>
          <a:xfrm>
            <a:off x="2280996" y="4084641"/>
            <a:ext cx="1323600" cy="3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whole</a:t>
            </a:r>
            <a:endParaRPr sz="2200">
              <a:solidFill>
                <a:schemeClr val="dk1"/>
              </a:solidFill>
              <a:latin typeface="Lexend"/>
              <a:ea typeface="Lexend"/>
              <a:cs typeface="Lexend"/>
              <a:sym typeface="Lexend"/>
            </a:endParaRPr>
          </a:p>
        </p:txBody>
      </p:sp>
      <p:cxnSp>
        <p:nvCxnSpPr>
          <p:cNvPr id="796" name="Google Shape;796;p71"/>
          <p:cNvCxnSpPr/>
          <p:nvPr/>
        </p:nvCxnSpPr>
        <p:spPr>
          <a:xfrm rot="10800000">
            <a:off x="1074225" y="4054650"/>
            <a:ext cx="1221900" cy="212700"/>
          </a:xfrm>
          <a:prstGeom prst="straightConnector1">
            <a:avLst/>
          </a:prstGeom>
          <a:noFill/>
          <a:ln cap="flat" cmpd="sng" w="28575">
            <a:solidFill>
              <a:schemeClr val="accent4"/>
            </a:solidFill>
            <a:prstDash val="solid"/>
            <a:round/>
            <a:headEnd len="med" w="med" type="none"/>
            <a:tailEnd len="med" w="med" type="none"/>
          </a:ln>
        </p:spPr>
      </p:cxnSp>
      <p:sp>
        <p:nvSpPr>
          <p:cNvPr id="797" name="Google Shape;797;p71"/>
          <p:cNvSpPr txBox="1"/>
          <p:nvPr>
            <p:ph idx="1" type="body"/>
          </p:nvPr>
        </p:nvSpPr>
        <p:spPr>
          <a:xfrm>
            <a:off x="322500" y="662868"/>
            <a:ext cx="8237700" cy="79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Proportion is a part to whole (sometimes part to part) comparison. </a:t>
            </a:r>
            <a:endParaRPr sz="1900"/>
          </a:p>
        </p:txBody>
      </p:sp>
      <p:sp>
        <p:nvSpPr>
          <p:cNvPr id="798" name="Google Shape;798;p71"/>
          <p:cNvSpPr txBox="1"/>
          <p:nvPr/>
        </p:nvSpPr>
        <p:spPr>
          <a:xfrm>
            <a:off x="322500" y="1629450"/>
            <a:ext cx="3655500" cy="3765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proportion of the </a:t>
            </a:r>
            <a:r>
              <a:rPr lang="en-GB" sz="2200">
                <a:solidFill>
                  <a:schemeClr val="dk1"/>
                </a:solidFill>
                <a:latin typeface="Lexend"/>
                <a:ea typeface="Lexend"/>
                <a:cs typeface="Lexend"/>
                <a:sym typeface="Lexend"/>
              </a:rPr>
              <a:t>whole</a:t>
            </a:r>
            <a:r>
              <a:rPr lang="en-GB" sz="2200">
                <a:solidFill>
                  <a:schemeClr val="dk1"/>
                </a:solidFill>
                <a:latin typeface="Lexend"/>
                <a:ea typeface="Lexend"/>
                <a:cs typeface="Lexend"/>
                <a:sym typeface="Lexend"/>
              </a:rPr>
              <a:t> square is shaded?</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As a fraction:</a:t>
            </a:r>
            <a:endParaRPr sz="2200">
              <a:solidFill>
                <a:schemeClr val="dk1"/>
              </a:solidFill>
              <a:latin typeface="Lexend"/>
              <a:ea typeface="Lexend"/>
              <a:cs typeface="Lexend"/>
              <a:sym typeface="Lexend"/>
            </a:endParaRPr>
          </a:p>
        </p:txBody>
      </p:sp>
      <p:grpSp>
        <p:nvGrpSpPr>
          <p:cNvPr id="799" name="Google Shape;799;p71"/>
          <p:cNvGrpSpPr/>
          <p:nvPr/>
        </p:nvGrpSpPr>
        <p:grpSpPr>
          <a:xfrm>
            <a:off x="4182550" y="1135475"/>
            <a:ext cx="3600000" cy="3600000"/>
            <a:chOff x="4182550" y="1135475"/>
            <a:chExt cx="3600000" cy="3600000"/>
          </a:xfrm>
        </p:grpSpPr>
        <p:sp>
          <p:nvSpPr>
            <p:cNvPr id="800" name="Google Shape;800;p71"/>
            <p:cNvSpPr/>
            <p:nvPr/>
          </p:nvSpPr>
          <p:spPr>
            <a:xfrm>
              <a:off x="4182550" y="1135475"/>
              <a:ext cx="1800000" cy="17991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1" name="Google Shape;801;p71"/>
            <p:cNvSpPr/>
            <p:nvPr/>
          </p:nvSpPr>
          <p:spPr>
            <a:xfrm>
              <a:off x="5982550" y="1135475"/>
              <a:ext cx="1800000" cy="1799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2" name="Google Shape;802;p71"/>
            <p:cNvSpPr/>
            <p:nvPr/>
          </p:nvSpPr>
          <p:spPr>
            <a:xfrm>
              <a:off x="5982550" y="2934575"/>
              <a:ext cx="1800000" cy="1799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3" name="Google Shape;803;p71"/>
            <p:cNvSpPr/>
            <p:nvPr/>
          </p:nvSpPr>
          <p:spPr>
            <a:xfrm>
              <a:off x="4182550" y="2934575"/>
              <a:ext cx="1800000" cy="1799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4" name="Google Shape;804;p71"/>
            <p:cNvSpPr/>
            <p:nvPr/>
          </p:nvSpPr>
          <p:spPr>
            <a:xfrm>
              <a:off x="4182550" y="1135475"/>
              <a:ext cx="3600000" cy="3600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grpSp>
        <p:nvGrpSpPr>
          <p:cNvPr id="809" name="Google Shape;809;p72"/>
          <p:cNvGrpSpPr/>
          <p:nvPr/>
        </p:nvGrpSpPr>
        <p:grpSpPr>
          <a:xfrm>
            <a:off x="2949450" y="1122175"/>
            <a:ext cx="1586600" cy="369225"/>
            <a:chOff x="2949450" y="1122175"/>
            <a:chExt cx="1586600" cy="369225"/>
          </a:xfrm>
        </p:grpSpPr>
        <p:sp>
          <p:nvSpPr>
            <p:cNvPr id="810" name="Google Shape;810;p72"/>
            <p:cNvSpPr txBox="1"/>
            <p:nvPr/>
          </p:nvSpPr>
          <p:spPr>
            <a:xfrm>
              <a:off x="2949450" y="1122175"/>
              <a:ext cx="759300" cy="3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0.01</a:t>
              </a:r>
              <a:endParaRPr sz="2200">
                <a:solidFill>
                  <a:schemeClr val="dk1"/>
                </a:solidFill>
                <a:latin typeface="Lexend"/>
                <a:ea typeface="Lexend"/>
                <a:cs typeface="Lexend"/>
                <a:sym typeface="Lexend"/>
              </a:endParaRPr>
            </a:p>
          </p:txBody>
        </p:sp>
        <p:cxnSp>
          <p:nvCxnSpPr>
            <p:cNvPr id="811" name="Google Shape;811;p72"/>
            <p:cNvCxnSpPr>
              <a:endCxn id="812" idx="1"/>
            </p:cNvCxnSpPr>
            <p:nvPr/>
          </p:nvCxnSpPr>
          <p:spPr>
            <a:xfrm flipH="1" rot="10800000">
              <a:off x="3605450" y="1322200"/>
              <a:ext cx="593400" cy="69300"/>
            </a:xfrm>
            <a:prstGeom prst="straightConnector1">
              <a:avLst/>
            </a:prstGeom>
            <a:noFill/>
            <a:ln cap="flat" cmpd="sng" w="28575">
              <a:solidFill>
                <a:schemeClr val="accent4"/>
              </a:solidFill>
              <a:prstDash val="solid"/>
              <a:round/>
              <a:headEnd len="med" w="med" type="none"/>
              <a:tailEnd len="med" w="med" type="triangle"/>
            </a:ln>
          </p:spPr>
        </p:cxnSp>
        <p:sp>
          <p:nvSpPr>
            <p:cNvPr id="812" name="Google Shape;812;p72"/>
            <p:cNvSpPr/>
            <p:nvPr/>
          </p:nvSpPr>
          <p:spPr>
            <a:xfrm>
              <a:off x="4198850" y="1153000"/>
              <a:ext cx="337200" cy="338400"/>
            </a:xfrm>
            <a:prstGeom prst="rect">
              <a:avLst/>
            </a:prstGeom>
            <a:solidFill>
              <a:schemeClr val="dk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813" name="Google Shape;813;p72"/>
          <p:cNvSpPr/>
          <p:nvPr/>
        </p:nvSpPr>
        <p:spPr>
          <a:xfrm>
            <a:off x="4182550" y="1135475"/>
            <a:ext cx="3600000" cy="36000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p:txBody>
      </p:sp>
      <p:graphicFrame>
        <p:nvGraphicFramePr>
          <p:cNvPr id="814" name="Google Shape;814;p72"/>
          <p:cNvGraphicFramePr/>
          <p:nvPr/>
        </p:nvGraphicFramePr>
        <p:xfrm>
          <a:off x="4176100" y="1135475"/>
          <a:ext cx="3000000" cy="3000000"/>
        </p:xfrm>
        <a:graphic>
          <a:graphicData uri="http://schemas.openxmlformats.org/drawingml/2006/table">
            <a:tbl>
              <a:tblPr>
                <a:noFill/>
                <a:tableStyleId>{D52034BA-B2A8-49EF-A613-FFD26C1E2B7E}</a:tableStyleId>
              </a:tblPr>
              <a:tblGrid>
                <a:gridCol w="360000"/>
                <a:gridCol w="360000"/>
                <a:gridCol w="360000"/>
                <a:gridCol w="360000"/>
                <a:gridCol w="360000"/>
                <a:gridCol w="360000"/>
                <a:gridCol w="360000"/>
                <a:gridCol w="360000"/>
                <a:gridCol w="360000"/>
                <a:gridCol w="360000"/>
              </a:tblGrid>
              <a:tr h="360000">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bl>
          </a:graphicData>
        </a:graphic>
      </p:graphicFrame>
      <p:sp>
        <p:nvSpPr>
          <p:cNvPr id="815" name="Google Shape;815;p72"/>
          <p:cNvSpPr/>
          <p:nvPr/>
        </p:nvSpPr>
        <p:spPr>
          <a:xfrm>
            <a:off x="4182550" y="1135475"/>
            <a:ext cx="3600000" cy="3600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16" name="Google Shape;816;p72"/>
          <p:cNvGrpSpPr/>
          <p:nvPr/>
        </p:nvGrpSpPr>
        <p:grpSpPr>
          <a:xfrm>
            <a:off x="4182550" y="1135475"/>
            <a:ext cx="3600000" cy="3600000"/>
            <a:chOff x="4182550" y="1135475"/>
            <a:chExt cx="3600000" cy="3600000"/>
          </a:xfrm>
        </p:grpSpPr>
        <p:sp>
          <p:nvSpPr>
            <p:cNvPr id="817" name="Google Shape;817;p72"/>
            <p:cNvSpPr/>
            <p:nvPr/>
          </p:nvSpPr>
          <p:spPr>
            <a:xfrm>
              <a:off x="4182550" y="1135475"/>
              <a:ext cx="1800000" cy="17991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8" name="Google Shape;818;p72"/>
            <p:cNvSpPr/>
            <p:nvPr/>
          </p:nvSpPr>
          <p:spPr>
            <a:xfrm>
              <a:off x="5982550" y="1135475"/>
              <a:ext cx="1800000" cy="1799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9" name="Google Shape;819;p72"/>
            <p:cNvSpPr/>
            <p:nvPr/>
          </p:nvSpPr>
          <p:spPr>
            <a:xfrm>
              <a:off x="5982550" y="2934575"/>
              <a:ext cx="1800000" cy="1799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0" name="Google Shape;820;p72"/>
            <p:cNvSpPr/>
            <p:nvPr/>
          </p:nvSpPr>
          <p:spPr>
            <a:xfrm>
              <a:off x="4182550" y="2934575"/>
              <a:ext cx="1800000" cy="1799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1" name="Google Shape;821;p72"/>
            <p:cNvSpPr/>
            <p:nvPr/>
          </p:nvSpPr>
          <p:spPr>
            <a:xfrm>
              <a:off x="4182550" y="1135475"/>
              <a:ext cx="3600000" cy="3600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822" name="Google Shape;822;p72"/>
          <p:cNvSpPr txBox="1"/>
          <p:nvPr/>
        </p:nvSpPr>
        <p:spPr>
          <a:xfrm>
            <a:off x="322500" y="1629450"/>
            <a:ext cx="3655500" cy="3765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proportion of the whole square is shaded?</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As a decimal:</a:t>
            </a:r>
            <a:endParaRPr sz="2200">
              <a:solidFill>
                <a:schemeClr val="dk1"/>
              </a:solidFill>
              <a:latin typeface="Lexend"/>
              <a:ea typeface="Lexend"/>
              <a:cs typeface="Lexend"/>
              <a:sym typeface="Lexend"/>
            </a:endParaRPr>
          </a:p>
        </p:txBody>
      </p:sp>
      <p:sp>
        <p:nvSpPr>
          <p:cNvPr id="823" name="Google Shape;823;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sp>
        <p:nvSpPr>
          <p:cNvPr id="824" name="Google Shape;824;p72"/>
          <p:cNvSpPr txBox="1"/>
          <p:nvPr/>
        </p:nvSpPr>
        <p:spPr>
          <a:xfrm>
            <a:off x="2433400" y="2721145"/>
            <a:ext cx="1323600" cy="7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0.25 is shaded</a:t>
            </a:r>
            <a:endParaRPr sz="2200">
              <a:solidFill>
                <a:schemeClr val="dk1"/>
              </a:solidFill>
              <a:latin typeface="Lexend"/>
              <a:ea typeface="Lexend"/>
              <a:cs typeface="Lexend"/>
              <a:sym typeface="Lexend"/>
            </a:endParaRPr>
          </a:p>
        </p:txBody>
      </p:sp>
      <p:sp>
        <p:nvSpPr>
          <p:cNvPr id="825" name="Google Shape;825;p72"/>
          <p:cNvSpPr txBox="1"/>
          <p:nvPr>
            <p:ph idx="1" type="body"/>
          </p:nvPr>
        </p:nvSpPr>
        <p:spPr>
          <a:xfrm>
            <a:off x="322500" y="662868"/>
            <a:ext cx="8237700" cy="79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Proportion is a part to whole (sometimes part to part) comparison. </a:t>
            </a:r>
            <a:endParaRPr sz="1900"/>
          </a:p>
        </p:txBody>
      </p:sp>
      <p:grpSp>
        <p:nvGrpSpPr>
          <p:cNvPr id="826" name="Google Shape;826;p72"/>
          <p:cNvGrpSpPr/>
          <p:nvPr/>
        </p:nvGrpSpPr>
        <p:grpSpPr>
          <a:xfrm>
            <a:off x="-447800" y="3153775"/>
            <a:ext cx="4128596" cy="1116866"/>
            <a:chOff x="-143000" y="2315575"/>
            <a:chExt cx="4128596" cy="1116866"/>
          </a:xfrm>
        </p:grpSpPr>
        <p:cxnSp>
          <p:nvCxnSpPr>
            <p:cNvPr id="827" name="Google Shape;827;p72"/>
            <p:cNvCxnSpPr/>
            <p:nvPr/>
          </p:nvCxnSpPr>
          <p:spPr>
            <a:xfrm flipH="1">
              <a:off x="1804725" y="2315575"/>
              <a:ext cx="949500" cy="474300"/>
            </a:xfrm>
            <a:prstGeom prst="straightConnector1">
              <a:avLst/>
            </a:prstGeom>
            <a:noFill/>
            <a:ln cap="flat" cmpd="sng" w="28575">
              <a:solidFill>
                <a:schemeClr val="accent4"/>
              </a:solidFill>
              <a:prstDash val="solid"/>
              <a:round/>
              <a:headEnd len="med" w="med" type="none"/>
              <a:tailEnd len="med" w="med" type="none"/>
            </a:ln>
          </p:spPr>
        </p:cxnSp>
        <p:sp>
          <p:nvSpPr>
            <p:cNvPr id="828" name="Google Shape;828;p72"/>
            <p:cNvSpPr txBox="1"/>
            <p:nvPr/>
          </p:nvSpPr>
          <p:spPr>
            <a:xfrm>
              <a:off x="2661996" y="3094041"/>
              <a:ext cx="1323600" cy="3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 is the </a:t>
              </a:r>
              <a:r>
                <a:rPr lang="en-GB" sz="2200">
                  <a:solidFill>
                    <a:schemeClr val="dk1"/>
                  </a:solidFill>
                  <a:latin typeface="Lexend"/>
                  <a:ea typeface="Lexend"/>
                  <a:cs typeface="Lexend"/>
                  <a:sym typeface="Lexend"/>
                </a:rPr>
                <a:t>whole</a:t>
              </a:r>
              <a:endParaRPr sz="2200">
                <a:solidFill>
                  <a:schemeClr val="dk1"/>
                </a:solidFill>
                <a:latin typeface="Lexend"/>
                <a:ea typeface="Lexend"/>
                <a:cs typeface="Lexend"/>
                <a:sym typeface="Lexend"/>
              </a:endParaRPr>
            </a:p>
          </p:txBody>
        </p:sp>
        <p:cxnSp>
          <p:nvCxnSpPr>
            <p:cNvPr id="829" name="Google Shape;829;p72"/>
            <p:cNvCxnSpPr/>
            <p:nvPr/>
          </p:nvCxnSpPr>
          <p:spPr>
            <a:xfrm rot="10800000">
              <a:off x="1804725" y="3015450"/>
              <a:ext cx="872400" cy="261300"/>
            </a:xfrm>
            <a:prstGeom prst="straightConnector1">
              <a:avLst/>
            </a:prstGeom>
            <a:noFill/>
            <a:ln cap="flat" cmpd="sng" w="28575">
              <a:solidFill>
                <a:schemeClr val="accent4"/>
              </a:solidFill>
              <a:prstDash val="solid"/>
              <a:round/>
              <a:headEnd len="med" w="med" type="none"/>
              <a:tailEnd len="med" w="med" type="none"/>
            </a:ln>
          </p:spPr>
        </p:cxnSp>
        <p:sp>
          <p:nvSpPr>
            <p:cNvPr id="830" name="Google Shape;830;p72"/>
            <p:cNvSpPr txBox="1"/>
            <p:nvPr/>
          </p:nvSpPr>
          <p:spPr>
            <a:xfrm>
              <a:off x="-143000" y="2644875"/>
              <a:ext cx="30000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0.25</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1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1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73"/>
          <p:cNvSpPr txBox="1"/>
          <p:nvPr/>
        </p:nvSpPr>
        <p:spPr>
          <a:xfrm>
            <a:off x="322500" y="1629450"/>
            <a:ext cx="3655500" cy="3765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proportion of the whole square is shaded?</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As a percentage:</a:t>
            </a:r>
            <a:endParaRPr sz="2200">
              <a:solidFill>
                <a:schemeClr val="dk1"/>
              </a:solidFill>
              <a:latin typeface="Lexend"/>
              <a:ea typeface="Lexend"/>
              <a:cs typeface="Lexend"/>
              <a:sym typeface="Lexend"/>
            </a:endParaRPr>
          </a:p>
        </p:txBody>
      </p:sp>
      <p:sp>
        <p:nvSpPr>
          <p:cNvPr id="836" name="Google Shape;836;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sp>
        <p:nvSpPr>
          <p:cNvPr id="837" name="Google Shape;837;p73"/>
          <p:cNvSpPr txBox="1"/>
          <p:nvPr/>
        </p:nvSpPr>
        <p:spPr>
          <a:xfrm>
            <a:off x="2081700" y="3083000"/>
            <a:ext cx="1896300" cy="71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25 are shaded</a:t>
            </a:r>
            <a:endParaRPr sz="2200">
              <a:solidFill>
                <a:schemeClr val="dk1"/>
              </a:solidFill>
              <a:latin typeface="Lexend"/>
              <a:ea typeface="Lexend"/>
              <a:cs typeface="Lexend"/>
              <a:sym typeface="Lexend"/>
            </a:endParaRPr>
          </a:p>
        </p:txBody>
      </p:sp>
      <p:sp>
        <p:nvSpPr>
          <p:cNvPr id="838" name="Google Shape;838;p73"/>
          <p:cNvSpPr txBox="1"/>
          <p:nvPr>
            <p:ph idx="1" type="body"/>
          </p:nvPr>
        </p:nvSpPr>
        <p:spPr>
          <a:xfrm>
            <a:off x="322500" y="662868"/>
            <a:ext cx="8237700" cy="797700"/>
          </a:xfrm>
          <a:prstGeom prst="rect">
            <a:avLst/>
          </a:prstGeom>
        </p:spPr>
        <p:txBody>
          <a:bodyPr anchorCtr="0" anchor="t" bIns="91425" lIns="0" spcFirstLastPara="1" rIns="91425" wrap="square" tIns="0">
            <a:noAutofit/>
          </a:bodyPr>
          <a:lstStyle/>
          <a:p>
            <a:pPr indent="0" lvl="0" marL="0" rtl="0" algn="l">
              <a:spcBef>
                <a:spcPts val="0"/>
              </a:spcBef>
              <a:spcAft>
                <a:spcPts val="1000"/>
              </a:spcAft>
              <a:buNone/>
            </a:pPr>
            <a:r>
              <a:rPr lang="en-GB"/>
              <a:t>Proportion is a part to whole (sometimes part to part) comparison. </a:t>
            </a:r>
            <a:endParaRPr sz="1900"/>
          </a:p>
        </p:txBody>
      </p:sp>
      <p:cxnSp>
        <p:nvCxnSpPr>
          <p:cNvPr id="839" name="Google Shape;839;p73"/>
          <p:cNvCxnSpPr/>
          <p:nvPr/>
        </p:nvCxnSpPr>
        <p:spPr>
          <a:xfrm flipH="1">
            <a:off x="1265225" y="3287750"/>
            <a:ext cx="783000" cy="304500"/>
          </a:xfrm>
          <a:prstGeom prst="straightConnector1">
            <a:avLst/>
          </a:prstGeom>
          <a:noFill/>
          <a:ln cap="flat" cmpd="sng" w="28575">
            <a:solidFill>
              <a:schemeClr val="accent4"/>
            </a:solidFill>
            <a:prstDash val="solid"/>
            <a:round/>
            <a:headEnd len="med" w="med" type="none"/>
            <a:tailEnd len="med" w="med" type="none"/>
          </a:ln>
        </p:spPr>
      </p:cxnSp>
      <p:sp>
        <p:nvSpPr>
          <p:cNvPr id="840" name="Google Shape;840;p73"/>
          <p:cNvSpPr txBox="1"/>
          <p:nvPr/>
        </p:nvSpPr>
        <p:spPr>
          <a:xfrm>
            <a:off x="2048221" y="3891125"/>
            <a:ext cx="1586700" cy="3384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100 is the whole</a:t>
            </a:r>
            <a:endParaRPr sz="2200">
              <a:solidFill>
                <a:schemeClr val="dk1"/>
              </a:solidFill>
              <a:latin typeface="Lexend"/>
              <a:ea typeface="Lexend"/>
              <a:cs typeface="Lexend"/>
              <a:sym typeface="Lexend"/>
            </a:endParaRPr>
          </a:p>
        </p:txBody>
      </p:sp>
      <p:cxnSp>
        <p:nvCxnSpPr>
          <p:cNvPr id="841" name="Google Shape;841;p73"/>
          <p:cNvCxnSpPr/>
          <p:nvPr/>
        </p:nvCxnSpPr>
        <p:spPr>
          <a:xfrm rot="10800000">
            <a:off x="1265296" y="3817800"/>
            <a:ext cx="660058" cy="261300"/>
          </a:xfrm>
          <a:prstGeom prst="straightConnector1">
            <a:avLst/>
          </a:prstGeom>
          <a:noFill/>
          <a:ln cap="flat" cmpd="sng" w="28575">
            <a:solidFill>
              <a:schemeClr val="accent4"/>
            </a:solidFill>
            <a:prstDash val="solid"/>
            <a:round/>
            <a:headEnd len="med" w="med" type="none"/>
            <a:tailEnd len="med" w="med" type="none"/>
          </a:ln>
        </p:spPr>
      </p:cxnSp>
      <p:sp>
        <p:nvSpPr>
          <p:cNvPr id="842" name="Google Shape;842;p73"/>
          <p:cNvSpPr txBox="1"/>
          <p:nvPr/>
        </p:nvSpPr>
        <p:spPr>
          <a:xfrm>
            <a:off x="527950" y="3447225"/>
            <a:ext cx="810546"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25%</a:t>
            </a:r>
            <a:endParaRPr/>
          </a:p>
        </p:txBody>
      </p:sp>
      <p:graphicFrame>
        <p:nvGraphicFramePr>
          <p:cNvPr id="843" name="Google Shape;843;p73"/>
          <p:cNvGraphicFramePr/>
          <p:nvPr/>
        </p:nvGraphicFramePr>
        <p:xfrm>
          <a:off x="4182550" y="1135475"/>
          <a:ext cx="3000000" cy="3000000"/>
        </p:xfrm>
        <a:graphic>
          <a:graphicData uri="http://schemas.openxmlformats.org/drawingml/2006/table">
            <a:tbl>
              <a:tblPr>
                <a:noFill/>
                <a:tableStyleId>{D52034BA-B2A8-49EF-A613-FFD26C1E2B7E}</a:tableStyleId>
              </a:tblPr>
              <a:tblGrid>
                <a:gridCol w="360000"/>
                <a:gridCol w="360000"/>
                <a:gridCol w="360000"/>
                <a:gridCol w="360000"/>
                <a:gridCol w="360000"/>
                <a:gridCol w="360000"/>
                <a:gridCol w="360000"/>
                <a:gridCol w="360000"/>
                <a:gridCol w="360000"/>
                <a:gridCol w="360000"/>
              </a:tblGrid>
              <a:tr h="360000">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solidFill>
                      <a:schemeClr val="dk2"/>
                    </a:solidFill>
                  </a:tcPr>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r h="360000">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c>
                  <a:txBody>
                    <a:bodyPr/>
                    <a:lstStyle/>
                    <a:p>
                      <a:pPr indent="0" lvl="0" marL="0" rtl="0" algn="l">
                        <a:spcBef>
                          <a:spcPts val="0"/>
                        </a:spcBef>
                        <a:spcAft>
                          <a:spcPts val="0"/>
                        </a:spcAft>
                        <a:buNone/>
                      </a:pPr>
                      <a:r>
                        <a:t/>
                      </a:r>
                      <a:endParaRPr/>
                    </a:p>
                  </a:txBody>
                  <a:tcPr marT="0" marB="0" marR="0" marL="0"/>
                </a:tc>
              </a:tr>
            </a:tbl>
          </a:graphicData>
        </a:graphic>
      </p:graphicFrame>
      <p:sp>
        <p:nvSpPr>
          <p:cNvPr id="844" name="Google Shape;844;p73"/>
          <p:cNvSpPr/>
          <p:nvPr/>
        </p:nvSpPr>
        <p:spPr>
          <a:xfrm>
            <a:off x="4182550" y="1135475"/>
            <a:ext cx="3600000" cy="3600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5" name="Google Shape;845;p73"/>
          <p:cNvSpPr/>
          <p:nvPr/>
        </p:nvSpPr>
        <p:spPr>
          <a:xfrm>
            <a:off x="4182550" y="1135475"/>
            <a:ext cx="3600000" cy="3600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46" name="Google Shape;846;p73"/>
          <p:cNvGrpSpPr/>
          <p:nvPr/>
        </p:nvGrpSpPr>
        <p:grpSpPr>
          <a:xfrm>
            <a:off x="2949450" y="1122175"/>
            <a:ext cx="1586600" cy="369225"/>
            <a:chOff x="2949450" y="1122175"/>
            <a:chExt cx="1586600" cy="369225"/>
          </a:xfrm>
        </p:grpSpPr>
        <p:sp>
          <p:nvSpPr>
            <p:cNvPr id="847" name="Google Shape;847;p73"/>
            <p:cNvSpPr txBox="1"/>
            <p:nvPr/>
          </p:nvSpPr>
          <p:spPr>
            <a:xfrm>
              <a:off x="2949450" y="1122175"/>
              <a:ext cx="759300" cy="3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a:t>
              </a:r>
              <a:endParaRPr sz="2200">
                <a:solidFill>
                  <a:schemeClr val="dk1"/>
                </a:solidFill>
                <a:latin typeface="Lexend"/>
                <a:ea typeface="Lexend"/>
                <a:cs typeface="Lexend"/>
                <a:sym typeface="Lexend"/>
              </a:endParaRPr>
            </a:p>
          </p:txBody>
        </p:sp>
        <p:cxnSp>
          <p:nvCxnSpPr>
            <p:cNvPr id="848" name="Google Shape;848;p73"/>
            <p:cNvCxnSpPr>
              <a:endCxn id="849" idx="1"/>
            </p:cNvCxnSpPr>
            <p:nvPr/>
          </p:nvCxnSpPr>
          <p:spPr>
            <a:xfrm flipH="1" rot="10800000">
              <a:off x="3605450" y="1322200"/>
              <a:ext cx="593400" cy="69300"/>
            </a:xfrm>
            <a:prstGeom prst="straightConnector1">
              <a:avLst/>
            </a:prstGeom>
            <a:noFill/>
            <a:ln cap="flat" cmpd="sng" w="28575">
              <a:solidFill>
                <a:schemeClr val="accent4"/>
              </a:solidFill>
              <a:prstDash val="solid"/>
              <a:round/>
              <a:headEnd len="med" w="med" type="none"/>
              <a:tailEnd len="med" w="med" type="triangle"/>
            </a:ln>
          </p:spPr>
        </p:cxnSp>
        <p:sp>
          <p:nvSpPr>
            <p:cNvPr id="849" name="Google Shape;849;p73"/>
            <p:cNvSpPr/>
            <p:nvPr/>
          </p:nvSpPr>
          <p:spPr>
            <a:xfrm>
              <a:off x="4198850" y="1153000"/>
              <a:ext cx="337200" cy="338400"/>
            </a:xfrm>
            <a:prstGeom prst="rect">
              <a:avLst/>
            </a:prstGeom>
            <a:solidFill>
              <a:schemeClr val="dk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74"/>
          <p:cNvSpPr/>
          <p:nvPr/>
        </p:nvSpPr>
        <p:spPr>
          <a:xfrm>
            <a:off x="4182550" y="1135475"/>
            <a:ext cx="1800000" cy="17991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5" name="Google Shape;855;p74"/>
          <p:cNvSpPr/>
          <p:nvPr/>
        </p:nvSpPr>
        <p:spPr>
          <a:xfrm>
            <a:off x="5982550" y="1135475"/>
            <a:ext cx="1800000" cy="1799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6" name="Google Shape;856;p74"/>
          <p:cNvSpPr/>
          <p:nvPr/>
        </p:nvSpPr>
        <p:spPr>
          <a:xfrm>
            <a:off x="5982550" y="2934575"/>
            <a:ext cx="1800000" cy="1799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7" name="Google Shape;857;p74"/>
          <p:cNvSpPr/>
          <p:nvPr/>
        </p:nvSpPr>
        <p:spPr>
          <a:xfrm>
            <a:off x="4182550" y="2934575"/>
            <a:ext cx="1800000" cy="1799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8" name="Google Shape;858;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sp>
        <p:nvSpPr>
          <p:cNvPr id="859" name="Google Shape;859;p74"/>
          <p:cNvSpPr txBox="1"/>
          <p:nvPr/>
        </p:nvSpPr>
        <p:spPr>
          <a:xfrm>
            <a:off x="360424" y="2700000"/>
            <a:ext cx="3181500" cy="3384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For every 1 shaded there are 3 unshaded</a:t>
            </a:r>
            <a:endParaRPr sz="2200">
              <a:solidFill>
                <a:schemeClr val="dk1"/>
              </a:solidFill>
              <a:latin typeface="Lexend"/>
              <a:ea typeface="Lexend"/>
              <a:cs typeface="Lexend"/>
              <a:sym typeface="Lexend"/>
            </a:endParaRPr>
          </a:p>
        </p:txBody>
      </p:sp>
      <p:sp>
        <p:nvSpPr>
          <p:cNvPr id="860" name="Google Shape;860;p74"/>
          <p:cNvSpPr txBox="1"/>
          <p:nvPr/>
        </p:nvSpPr>
        <p:spPr>
          <a:xfrm>
            <a:off x="323350" y="1692100"/>
            <a:ext cx="3655500" cy="3765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is the ratio of shaded to unshaded?</a:t>
            </a:r>
            <a:endParaRPr sz="2200">
              <a:solidFill>
                <a:schemeClr val="dk1"/>
              </a:solidFill>
              <a:latin typeface="Lexend"/>
              <a:ea typeface="Lexend"/>
              <a:cs typeface="Lexend"/>
              <a:sym typeface="Lexend"/>
            </a:endParaRPr>
          </a:p>
        </p:txBody>
      </p:sp>
      <p:sp>
        <p:nvSpPr>
          <p:cNvPr id="861" name="Google Shape;861;p74"/>
          <p:cNvSpPr txBox="1"/>
          <p:nvPr>
            <p:ph idx="1" type="body"/>
          </p:nvPr>
        </p:nvSpPr>
        <p:spPr>
          <a:xfrm>
            <a:off x="323350" y="761624"/>
            <a:ext cx="8237700" cy="702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Proportion is a part to whole (sometimes part to part) comparison. </a:t>
            </a:r>
            <a:endParaRPr/>
          </a:p>
        </p:txBody>
      </p:sp>
      <p:sp>
        <p:nvSpPr>
          <p:cNvPr id="862" name="Google Shape;862;p74"/>
          <p:cNvSpPr/>
          <p:nvPr/>
        </p:nvSpPr>
        <p:spPr>
          <a:xfrm>
            <a:off x="4182550" y="1135475"/>
            <a:ext cx="3600000" cy="3600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sp>
        <p:nvSpPr>
          <p:cNvPr id="868" name="Google Shape;868;p75"/>
          <p:cNvSpPr txBox="1"/>
          <p:nvPr>
            <p:ph idx="1" type="body"/>
          </p:nvPr>
        </p:nvSpPr>
        <p:spPr>
          <a:xfrm>
            <a:off x="399550" y="3921150"/>
            <a:ext cx="8082600" cy="79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Fractions are sometimes an easier way to write and compare proportions. </a:t>
            </a:r>
            <a:endParaRPr/>
          </a:p>
        </p:txBody>
      </p:sp>
      <p:sp>
        <p:nvSpPr>
          <p:cNvPr id="869" name="Google Shape;869;p75"/>
          <p:cNvSpPr txBox="1"/>
          <p:nvPr>
            <p:ph idx="1" type="body"/>
          </p:nvPr>
        </p:nvSpPr>
        <p:spPr>
          <a:xfrm>
            <a:off x="399550" y="1715275"/>
            <a:ext cx="1347900" cy="79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Example</a:t>
            </a:r>
            <a:endParaRPr/>
          </a:p>
          <a:p>
            <a:pPr indent="0" lvl="0" marL="0" rtl="0" algn="ctr">
              <a:spcBef>
                <a:spcPts val="1000"/>
              </a:spcBef>
              <a:spcAft>
                <a:spcPts val="0"/>
              </a:spcAft>
              <a:buNone/>
            </a:pPr>
            <a:r>
              <a:rPr lang="en-GB"/>
              <a:t> </a:t>
            </a:r>
            <a:endParaRPr/>
          </a:p>
          <a:p>
            <a:pPr indent="0" lvl="0" marL="0" rtl="0" algn="ctr">
              <a:spcBef>
                <a:spcPts val="1000"/>
              </a:spcBef>
              <a:spcAft>
                <a:spcPts val="0"/>
              </a:spcAft>
              <a:buNone/>
            </a:pPr>
            <a:r>
              <a:t/>
            </a:r>
            <a:endParaRPr/>
          </a:p>
          <a:p>
            <a:pPr indent="0" lvl="0" marL="0" rtl="0" algn="ctr">
              <a:spcBef>
                <a:spcPts val="1000"/>
              </a:spcBef>
              <a:spcAft>
                <a:spcPts val="1000"/>
              </a:spcAft>
              <a:buNone/>
            </a:pPr>
            <a:r>
              <a:rPr lang="en-GB"/>
              <a:t>Fraction</a:t>
            </a:r>
            <a:endParaRPr/>
          </a:p>
        </p:txBody>
      </p:sp>
      <p:sp>
        <p:nvSpPr>
          <p:cNvPr id="870" name="Google Shape;870;p75"/>
          <p:cNvSpPr txBox="1"/>
          <p:nvPr>
            <p:ph idx="1" type="body"/>
          </p:nvPr>
        </p:nvSpPr>
        <p:spPr>
          <a:xfrm>
            <a:off x="2609350" y="1715275"/>
            <a:ext cx="1347900" cy="79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Example</a:t>
            </a:r>
            <a:endParaRPr/>
          </a:p>
          <a:p>
            <a:pPr indent="0" lvl="0" marL="0" rtl="0" algn="ctr">
              <a:spcBef>
                <a:spcPts val="1000"/>
              </a:spcBef>
              <a:spcAft>
                <a:spcPts val="0"/>
              </a:spcAft>
              <a:buNone/>
            </a:pPr>
            <a:r>
              <a:rPr lang="en-GB"/>
              <a:t> </a:t>
            </a:r>
            <a:endParaRPr/>
          </a:p>
          <a:p>
            <a:pPr indent="0" lvl="0" marL="0" rtl="0" algn="ctr">
              <a:spcBef>
                <a:spcPts val="1000"/>
              </a:spcBef>
              <a:spcAft>
                <a:spcPts val="0"/>
              </a:spcAft>
              <a:buNone/>
            </a:pPr>
            <a:r>
              <a:t/>
            </a:r>
            <a:endParaRPr/>
          </a:p>
          <a:p>
            <a:pPr indent="0" lvl="0" marL="0" rtl="0" algn="ctr">
              <a:spcBef>
                <a:spcPts val="1000"/>
              </a:spcBef>
              <a:spcAft>
                <a:spcPts val="1000"/>
              </a:spcAft>
              <a:buNone/>
            </a:pPr>
            <a:r>
              <a:rPr lang="en-GB"/>
              <a:t>Decimal</a:t>
            </a:r>
            <a:endParaRPr/>
          </a:p>
        </p:txBody>
      </p:sp>
      <p:sp>
        <p:nvSpPr>
          <p:cNvPr id="871" name="Google Shape;871;p75"/>
          <p:cNvSpPr txBox="1"/>
          <p:nvPr>
            <p:ph idx="1" type="body"/>
          </p:nvPr>
        </p:nvSpPr>
        <p:spPr>
          <a:xfrm>
            <a:off x="4819150" y="1715275"/>
            <a:ext cx="1620900" cy="1869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Example</a:t>
            </a:r>
            <a:r>
              <a:rPr lang="en-GB"/>
              <a:t> </a:t>
            </a:r>
            <a:endParaRPr/>
          </a:p>
          <a:p>
            <a:pPr indent="0" lvl="0" marL="0" rtl="0" algn="ctr">
              <a:spcBef>
                <a:spcPts val="1000"/>
              </a:spcBef>
              <a:spcAft>
                <a:spcPts val="0"/>
              </a:spcAft>
              <a:buNone/>
            </a:pPr>
            <a:r>
              <a:t/>
            </a:r>
            <a:endParaRPr/>
          </a:p>
          <a:p>
            <a:pPr indent="0" lvl="0" marL="0" rtl="0" algn="ctr">
              <a:spcBef>
                <a:spcPts val="1000"/>
              </a:spcBef>
              <a:spcAft>
                <a:spcPts val="0"/>
              </a:spcAft>
              <a:buNone/>
            </a:pPr>
            <a:r>
              <a:t/>
            </a:r>
            <a:endParaRPr/>
          </a:p>
          <a:p>
            <a:pPr indent="0" lvl="0" marL="0" rtl="0" algn="ctr">
              <a:spcBef>
                <a:spcPts val="1000"/>
              </a:spcBef>
              <a:spcAft>
                <a:spcPts val="1000"/>
              </a:spcAft>
              <a:buNone/>
            </a:pPr>
            <a:r>
              <a:rPr lang="en-GB"/>
              <a:t>Percentage</a:t>
            </a:r>
            <a:endParaRPr/>
          </a:p>
        </p:txBody>
      </p:sp>
      <p:sp>
        <p:nvSpPr>
          <p:cNvPr id="872" name="Google Shape;872;p75"/>
          <p:cNvSpPr txBox="1"/>
          <p:nvPr>
            <p:ph idx="1" type="body"/>
          </p:nvPr>
        </p:nvSpPr>
        <p:spPr>
          <a:xfrm>
            <a:off x="7028950" y="1715275"/>
            <a:ext cx="1620900" cy="79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Example</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ctr">
              <a:spcBef>
                <a:spcPts val="1000"/>
              </a:spcBef>
              <a:spcAft>
                <a:spcPts val="1000"/>
              </a:spcAft>
              <a:buNone/>
            </a:pPr>
            <a:r>
              <a:rPr lang="en-GB"/>
              <a:t>Ratio</a:t>
            </a:r>
            <a:endParaRPr/>
          </a:p>
        </p:txBody>
      </p:sp>
      <p:pic>
        <p:nvPicPr>
          <p:cNvPr descr="&lt;math xmlns=&quot;http://www.w3.org/1998/Math/MathML&quot; display=&quot;block&quot; data-is-equatio=&quot;1&quot; data-latex=&quot;\frac{1}{4}&quot;&gt;&lt;mfrac&gt;&lt;mn&gt;1&lt;/mn&gt;&lt;mn&gt;4&lt;/mn&gt;&lt;/mfrac&gt;&lt;/math&gt;" id="873" name="Google Shape;873;p75" title="one fourth"/>
          <p:cNvPicPr preferRelativeResize="0"/>
          <p:nvPr/>
        </p:nvPicPr>
        <p:blipFill>
          <a:blip r:embed="rId3">
            <a:alphaModFix/>
          </a:blip>
          <a:stretch>
            <a:fillRect/>
          </a:stretch>
        </p:blipFill>
        <p:spPr>
          <a:xfrm>
            <a:off x="972532" y="2295034"/>
            <a:ext cx="201950" cy="643422"/>
          </a:xfrm>
          <a:prstGeom prst="rect">
            <a:avLst/>
          </a:prstGeom>
          <a:noFill/>
          <a:ln>
            <a:noFill/>
          </a:ln>
        </p:spPr>
      </p:pic>
      <p:sp>
        <p:nvSpPr>
          <p:cNvPr id="874" name="Google Shape;874;p75"/>
          <p:cNvSpPr txBox="1"/>
          <p:nvPr/>
        </p:nvSpPr>
        <p:spPr>
          <a:xfrm>
            <a:off x="2747050" y="2355150"/>
            <a:ext cx="1072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0.25</a:t>
            </a:r>
            <a:endParaRPr/>
          </a:p>
        </p:txBody>
      </p:sp>
      <p:sp>
        <p:nvSpPr>
          <p:cNvPr id="875" name="Google Shape;875;p75"/>
          <p:cNvSpPr txBox="1"/>
          <p:nvPr/>
        </p:nvSpPr>
        <p:spPr>
          <a:xfrm>
            <a:off x="5151550" y="2310150"/>
            <a:ext cx="1072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2</a:t>
            </a:r>
            <a:r>
              <a:rPr lang="en-GB" sz="2200">
                <a:solidFill>
                  <a:schemeClr val="dk1"/>
                </a:solidFill>
                <a:latin typeface="Lexend"/>
                <a:ea typeface="Lexend"/>
                <a:cs typeface="Lexend"/>
                <a:sym typeface="Lexend"/>
              </a:rPr>
              <a:t>5%</a:t>
            </a:r>
            <a:endParaRPr/>
          </a:p>
        </p:txBody>
      </p:sp>
      <p:sp>
        <p:nvSpPr>
          <p:cNvPr id="876" name="Google Shape;876;p75"/>
          <p:cNvSpPr txBox="1"/>
          <p:nvPr/>
        </p:nvSpPr>
        <p:spPr>
          <a:xfrm>
            <a:off x="6895150" y="2182950"/>
            <a:ext cx="18885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For every 1 shaded there are 3 unshaded</a:t>
            </a:r>
            <a:endParaRPr sz="1800"/>
          </a:p>
        </p:txBody>
      </p:sp>
      <p:sp>
        <p:nvSpPr>
          <p:cNvPr id="877" name="Google Shape;877;p75"/>
          <p:cNvSpPr txBox="1"/>
          <p:nvPr>
            <p:ph idx="1" type="body"/>
          </p:nvPr>
        </p:nvSpPr>
        <p:spPr>
          <a:xfrm>
            <a:off x="323350" y="761613"/>
            <a:ext cx="8237700" cy="168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Proportion is a part to whole (sometimes part to part) comparison. </a:t>
            </a:r>
            <a:endParaRPr/>
          </a:p>
          <a:p>
            <a:pPr indent="0" lvl="0" marL="0" rtl="0" algn="l">
              <a:spcBef>
                <a:spcPts val="1000"/>
              </a:spcBef>
              <a:spcAft>
                <a:spcPts val="10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76"/>
          <p:cNvSpPr/>
          <p:nvPr/>
        </p:nvSpPr>
        <p:spPr>
          <a:xfrm>
            <a:off x="4373880" y="1391400"/>
            <a:ext cx="4320600" cy="3241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3" name="Google Shape;883;p76"/>
          <p:cNvSpPr/>
          <p:nvPr/>
        </p:nvSpPr>
        <p:spPr>
          <a:xfrm>
            <a:off x="297175" y="1691650"/>
            <a:ext cx="3882900" cy="2545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4" name="Google Shape;884;p76"/>
          <p:cNvSpPr txBox="1"/>
          <p:nvPr>
            <p:ph idx="1" type="body"/>
          </p:nvPr>
        </p:nvSpPr>
        <p:spPr>
          <a:xfrm>
            <a:off x="324000" y="759300"/>
            <a:ext cx="8682900" cy="45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Jun and Alex want to find out what proportion is £4 from £24</a:t>
            </a:r>
            <a:endParaRPr/>
          </a:p>
          <a:p>
            <a:pPr indent="0" lvl="0" marL="0" rtl="0" algn="l">
              <a:spcBef>
                <a:spcPts val="1000"/>
              </a:spcBef>
              <a:spcAft>
                <a:spcPts val="1000"/>
              </a:spcAft>
              <a:buNone/>
            </a:pPr>
            <a:r>
              <a:rPr lang="en-GB"/>
              <a:t>Whose </a:t>
            </a:r>
            <a:r>
              <a:rPr lang="en-GB"/>
              <a:t>approach</a:t>
            </a:r>
            <a:r>
              <a:rPr lang="en-GB"/>
              <a:t> is correct?</a:t>
            </a:r>
            <a:endParaRPr/>
          </a:p>
        </p:txBody>
      </p:sp>
      <p:sp>
        <p:nvSpPr>
          <p:cNvPr id="885" name="Google Shape;885;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sp>
        <p:nvSpPr>
          <p:cNvPr id="886" name="Google Shape;886;p76"/>
          <p:cNvSpPr txBox="1"/>
          <p:nvPr>
            <p:ph idx="1" type="body"/>
          </p:nvPr>
        </p:nvSpPr>
        <p:spPr>
          <a:xfrm>
            <a:off x="400200" y="3078625"/>
            <a:ext cx="4057500" cy="45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Jun says “    simplifies to   </a:t>
            </a:r>
            <a:endParaRPr/>
          </a:p>
          <a:p>
            <a:pPr indent="0" lvl="0" marL="0" rtl="0" algn="l">
              <a:spcBef>
                <a:spcPts val="1000"/>
              </a:spcBef>
              <a:spcAft>
                <a:spcPts val="0"/>
              </a:spcAft>
              <a:buNone/>
            </a:pPr>
            <a:r>
              <a:rPr lang="en-GB"/>
              <a:t>This means £4 is     of £24.” </a:t>
            </a:r>
            <a:endParaRPr/>
          </a:p>
          <a:p>
            <a:pPr indent="0" lvl="0" marL="0" rtl="0" algn="l">
              <a:spcBef>
                <a:spcPts val="1000"/>
              </a:spcBef>
              <a:spcAft>
                <a:spcPts val="1000"/>
              </a:spcAft>
              <a:buNone/>
            </a:pPr>
            <a:r>
              <a:t/>
            </a:r>
            <a:endParaRPr/>
          </a:p>
        </p:txBody>
      </p:sp>
      <p:graphicFrame>
        <p:nvGraphicFramePr>
          <p:cNvPr id="887" name="Google Shape;887;p76"/>
          <p:cNvGraphicFramePr/>
          <p:nvPr/>
        </p:nvGraphicFramePr>
        <p:xfrm>
          <a:off x="4621490" y="2192925"/>
          <a:ext cx="3000000" cy="3000000"/>
        </p:xfrm>
        <a:graphic>
          <a:graphicData uri="http://schemas.openxmlformats.org/drawingml/2006/table">
            <a:tbl>
              <a:tblPr>
                <a:noFill/>
                <a:tableStyleId>{D52034BA-B2A8-49EF-A613-FFD26C1E2B7E}</a:tableStyleId>
              </a:tblPr>
              <a:tblGrid>
                <a:gridCol w="659150"/>
                <a:gridCol w="659150"/>
                <a:gridCol w="659150"/>
                <a:gridCol w="659150"/>
                <a:gridCol w="659150"/>
                <a:gridCol w="659150"/>
              </a:tblGrid>
              <a:tr h="441950">
                <a:tc>
                  <a:txBody>
                    <a:bodyPr/>
                    <a:lstStyle/>
                    <a:p>
                      <a:pPr indent="0" lvl="0" marL="0" rtl="0" algn="ctr">
                        <a:spcBef>
                          <a:spcPts val="0"/>
                        </a:spcBef>
                        <a:spcAft>
                          <a:spcPts val="0"/>
                        </a:spcAft>
                        <a:buNone/>
                      </a:pPr>
                      <a:r>
                        <a:rPr lang="en-GB" sz="1900">
                          <a:latin typeface="Lexend"/>
                          <a:ea typeface="Lexend"/>
                          <a:cs typeface="Lexend"/>
                          <a:sym typeface="Lexend"/>
                        </a:rPr>
                        <a:t>£4</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£4</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£4</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£4</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£4</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£4</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888" name="Google Shape;888;p76"/>
          <p:cNvSpPr/>
          <p:nvPr/>
        </p:nvSpPr>
        <p:spPr>
          <a:xfrm rot="-5400000">
            <a:off x="6469415" y="-6025"/>
            <a:ext cx="254400" cy="3882900"/>
          </a:xfrm>
          <a:prstGeom prst="rightBrace">
            <a:avLst>
              <a:gd fmla="val 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9" name="Google Shape;889;p76"/>
          <p:cNvSpPr txBox="1"/>
          <p:nvPr/>
        </p:nvSpPr>
        <p:spPr>
          <a:xfrm>
            <a:off x="6154403" y="1391400"/>
            <a:ext cx="1182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£24</a:t>
            </a:r>
            <a:endParaRPr/>
          </a:p>
        </p:txBody>
      </p:sp>
      <p:sp>
        <p:nvSpPr>
          <p:cNvPr id="890" name="Google Shape;890;p76"/>
          <p:cNvSpPr txBox="1"/>
          <p:nvPr>
            <p:ph idx="1" type="body"/>
          </p:nvPr>
        </p:nvSpPr>
        <p:spPr>
          <a:xfrm>
            <a:off x="4530240" y="2850025"/>
            <a:ext cx="4057500" cy="45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Alex says “Using a bar model, I can see £4 fits exactly into £24, 6 times. </a:t>
            </a:r>
            <a:endParaRPr/>
          </a:p>
          <a:p>
            <a:pPr indent="0" lvl="0" marL="0" rtl="0" algn="l">
              <a:spcBef>
                <a:spcPts val="1000"/>
              </a:spcBef>
              <a:spcAft>
                <a:spcPts val="0"/>
              </a:spcAft>
              <a:buNone/>
            </a:pPr>
            <a:r>
              <a:rPr lang="en-GB"/>
              <a:t>This means £4 is     </a:t>
            </a:r>
            <a:r>
              <a:rPr lang="en-GB"/>
              <a:t>of</a:t>
            </a:r>
            <a:r>
              <a:rPr lang="en-GB"/>
              <a:t> £24.”</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frac{4}{24}=\frac{1\times4}{6\times4}=\frac{1}{6}&quot;&gt;&lt;mfrac&gt;&lt;mn&gt;4&lt;/mn&gt;&lt;mn&gt;24&lt;/mn&gt;&lt;/mfrac&gt;&lt;mo&gt;=&lt;/mo&gt;&lt;mfrac&gt;&lt;mrow&gt;&lt;mn&gt;1&lt;/mn&gt;&lt;mo&gt;×&lt;/mo&gt;&lt;mn&gt;4&lt;/mn&gt;&lt;/mrow&gt;&lt;mrow&gt;&lt;mn&gt;6&lt;/mn&gt;&lt;mo&gt;×&lt;/mo&gt;&lt;mn&gt;4&lt;/mn&gt;&lt;/mrow&gt;&lt;/mfrac&gt;&lt;mo&gt;=&lt;/mo&gt;&lt;mfrac&gt;&lt;mn&gt;1&lt;/mn&gt;&lt;mn&gt;6&lt;/mn&gt;&lt;/mfrac&gt;&lt;/math&gt;" id="891" name="Google Shape;891;p76" title="4 over 24 equals the fraction with numerator 1 times 4 and denominator 6 times 4 equals one sixth"/>
          <p:cNvPicPr preferRelativeResize="0"/>
          <p:nvPr/>
        </p:nvPicPr>
        <p:blipFill>
          <a:blip r:embed="rId3">
            <a:alphaModFix/>
          </a:blip>
          <a:stretch>
            <a:fillRect/>
          </a:stretch>
        </p:blipFill>
        <p:spPr>
          <a:xfrm>
            <a:off x="907150" y="1952695"/>
            <a:ext cx="2697125" cy="819300"/>
          </a:xfrm>
          <a:prstGeom prst="rect">
            <a:avLst/>
          </a:prstGeom>
          <a:noFill/>
          <a:ln>
            <a:noFill/>
          </a:ln>
        </p:spPr>
      </p:pic>
      <p:pic>
        <p:nvPicPr>
          <p:cNvPr descr="&lt;math xmlns=&quot;http://www.w3.org/1998/Math/MathML&quot; display=&quot;block&quot; data-is-equatio=&quot;1&quot; data-latex=&quot;\frac{4}{24}=\frac{1\times4}{6\times4}=\frac{1}{6}&quot;&gt;&lt;mfrac&gt;&lt;mn&gt;4&lt;/mn&gt;&lt;mn&gt;24&lt;/mn&gt;&lt;/mfrac&gt;&lt;mo&gt;=&lt;/mo&gt;&lt;mfrac&gt;&lt;mrow&gt;&lt;mn&gt;1&lt;/mn&gt;&lt;mo&gt;×&lt;/mo&gt;&lt;mn&gt;4&lt;/mn&gt;&lt;/mrow&gt;&lt;mrow&gt;&lt;mn&gt;6&lt;/mn&gt;&lt;mo&gt;×&lt;/mo&gt;&lt;mn&gt;4&lt;/mn&gt;&lt;/mrow&gt;&lt;/mfrac&gt;&lt;mo&gt;=&lt;/mo&gt;&lt;mfrac&gt;&lt;mn&gt;1&lt;/mn&gt;&lt;mn&gt;6&lt;/mn&gt;&lt;/mfrac&gt;&lt;/math&gt;" id="892" name="Google Shape;892;p76" title="4 over 24 equals the fraction with numerator 1 times 4 and denominator 6 times 4 equals one sixth"/>
          <p:cNvPicPr preferRelativeResize="0"/>
          <p:nvPr/>
        </p:nvPicPr>
        <p:blipFill rotWithShape="1">
          <a:blip r:embed="rId3">
            <a:alphaModFix/>
          </a:blip>
          <a:srcRect b="0" l="0" r="80801" t="0"/>
          <a:stretch/>
        </p:blipFill>
        <p:spPr>
          <a:xfrm>
            <a:off x="1798700" y="3034725"/>
            <a:ext cx="298559" cy="472400"/>
          </a:xfrm>
          <a:prstGeom prst="rect">
            <a:avLst/>
          </a:prstGeom>
          <a:noFill/>
          <a:ln>
            <a:noFill/>
          </a:ln>
        </p:spPr>
      </p:pic>
      <p:pic>
        <p:nvPicPr>
          <p:cNvPr descr="&lt;math xmlns=&quot;http://www.w3.org/1998/Math/MathML&quot; display=&quot;block&quot; data-is-equatio=&quot;1&quot; data-latex=&quot;\frac{4}{24}=\frac{1\times4}{6\times4}=\frac{1}{6}&quot;&gt;&lt;mfrac&gt;&lt;mn&gt;4&lt;/mn&gt;&lt;mn&gt;24&lt;/mn&gt;&lt;/mfrac&gt;&lt;mo&gt;=&lt;/mo&gt;&lt;mfrac&gt;&lt;mrow&gt;&lt;mn&gt;1&lt;/mn&gt;&lt;mo&gt;×&lt;/mo&gt;&lt;mn&gt;4&lt;/mn&gt;&lt;/mrow&gt;&lt;mrow&gt;&lt;mn&gt;6&lt;/mn&gt;&lt;mo&gt;×&lt;/mo&gt;&lt;mn&gt;4&lt;/mn&gt;&lt;/mrow&gt;&lt;/mfrac&gt;&lt;mo&gt;=&lt;/mo&gt;&lt;mfrac&gt;&lt;mn&gt;1&lt;/mn&gt;&lt;mn&gt;6&lt;/mn&gt;&lt;/mfrac&gt;&lt;/math&gt;" id="893" name="Google Shape;893;p76" title="4 over 24 equals the fraction with numerator 1 times 4 and denominator 6 times 4 equals one sixth"/>
          <p:cNvPicPr preferRelativeResize="0"/>
          <p:nvPr/>
        </p:nvPicPr>
        <p:blipFill rotWithShape="1">
          <a:blip r:embed="rId3">
            <a:alphaModFix/>
          </a:blip>
          <a:srcRect b="0" l="88051" r="-7249" t="0"/>
          <a:stretch/>
        </p:blipFill>
        <p:spPr>
          <a:xfrm>
            <a:off x="2680325" y="3543800"/>
            <a:ext cx="298550" cy="472400"/>
          </a:xfrm>
          <a:prstGeom prst="rect">
            <a:avLst/>
          </a:prstGeom>
          <a:noFill/>
          <a:ln>
            <a:noFill/>
          </a:ln>
        </p:spPr>
      </p:pic>
      <p:pic>
        <p:nvPicPr>
          <p:cNvPr descr="&lt;math xmlns=&quot;http://www.w3.org/1998/Math/MathML&quot; display=&quot;block&quot; data-is-equatio=&quot;1&quot; data-latex=&quot;\frac{4}{24}=\frac{1\times4}{6\times4}=\frac{1}{6}&quot;&gt;&lt;mfrac&gt;&lt;mn&gt;4&lt;/mn&gt;&lt;mn&gt;24&lt;/mn&gt;&lt;/mfrac&gt;&lt;mo&gt;=&lt;/mo&gt;&lt;mfrac&gt;&lt;mrow&gt;&lt;mn&gt;1&lt;/mn&gt;&lt;mo&gt;×&lt;/mo&gt;&lt;mn&gt;4&lt;/mn&gt;&lt;/mrow&gt;&lt;mrow&gt;&lt;mn&gt;6&lt;/mn&gt;&lt;mo&gt;×&lt;/mo&gt;&lt;mn&gt;4&lt;/mn&gt;&lt;/mrow&gt;&lt;/mfrac&gt;&lt;mo&gt;=&lt;/mo&gt;&lt;mfrac&gt;&lt;mn&gt;1&lt;/mn&gt;&lt;mn&gt;6&lt;/mn&gt;&lt;/mfrac&gt;&lt;/math&gt;" id="894" name="Google Shape;894;p76" title="4 over 24 equals the fraction with numerator 1 times 4 and denominator 6 times 4 equals one sixth"/>
          <p:cNvPicPr preferRelativeResize="0"/>
          <p:nvPr/>
        </p:nvPicPr>
        <p:blipFill rotWithShape="1">
          <a:blip r:embed="rId3">
            <a:alphaModFix/>
          </a:blip>
          <a:srcRect b="0" l="88051" r="-7249" t="0"/>
          <a:stretch/>
        </p:blipFill>
        <p:spPr>
          <a:xfrm>
            <a:off x="6840850" y="3978155"/>
            <a:ext cx="298550" cy="472400"/>
          </a:xfrm>
          <a:prstGeom prst="rect">
            <a:avLst/>
          </a:prstGeom>
          <a:noFill/>
          <a:ln>
            <a:noFill/>
          </a:ln>
        </p:spPr>
      </p:pic>
      <p:sp>
        <p:nvSpPr>
          <p:cNvPr id="895" name="Google Shape;895;p76"/>
          <p:cNvSpPr txBox="1"/>
          <p:nvPr/>
        </p:nvSpPr>
        <p:spPr>
          <a:xfrm>
            <a:off x="413575" y="4320000"/>
            <a:ext cx="36501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Both are correct!</a:t>
            </a:r>
            <a:endParaRPr sz="22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4}{24}=\frac{1\times4}{6\times4}=\frac{1}{6}&quot;&gt;&lt;mfrac&gt;&lt;mn&gt;4&lt;/mn&gt;&lt;mn&gt;24&lt;/mn&gt;&lt;/mfrac&gt;&lt;mo&gt;=&lt;/mo&gt;&lt;mfrac&gt;&lt;mrow&gt;&lt;mn&gt;1&lt;/mn&gt;&lt;mo&gt;×&lt;/mo&gt;&lt;mn&gt;4&lt;/mn&gt;&lt;/mrow&gt;&lt;mrow&gt;&lt;mn&gt;6&lt;/mn&gt;&lt;mo&gt;×&lt;/mo&gt;&lt;mn&gt;4&lt;/mn&gt;&lt;/mrow&gt;&lt;/mfrac&gt;&lt;mo&gt;=&lt;/mo&gt;&lt;mfrac&gt;&lt;mn&gt;1&lt;/mn&gt;&lt;mn&gt;6&lt;/mn&gt;&lt;/mfrac&gt;&lt;/math&gt;" id="896" name="Google Shape;896;p76" title="4 over 24 equals the fraction with numerator 1 times 4 and denominator 6 times 4 equals one sixth"/>
          <p:cNvPicPr preferRelativeResize="0"/>
          <p:nvPr/>
        </p:nvPicPr>
        <p:blipFill rotWithShape="1">
          <a:blip r:embed="rId3">
            <a:alphaModFix/>
          </a:blip>
          <a:srcRect b="0" l="88051" r="-7249" t="0"/>
          <a:stretch/>
        </p:blipFill>
        <p:spPr>
          <a:xfrm>
            <a:off x="3792769" y="3030770"/>
            <a:ext cx="298550" cy="472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7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 full time Oak teacher receives £4000 a month.</a:t>
            </a:r>
            <a:endParaRPr sz="2000"/>
          </a:p>
          <a:p>
            <a:pPr indent="0" lvl="0" marL="0" rtl="0" algn="l">
              <a:spcBef>
                <a:spcPts val="1000"/>
              </a:spcBef>
              <a:spcAft>
                <a:spcPts val="0"/>
              </a:spcAft>
              <a:buNone/>
            </a:pPr>
            <a:r>
              <a:rPr lang="en-GB" sz="2000"/>
              <a:t>She gets a pay rise, so earns £4500 a month.</a:t>
            </a:r>
            <a:endParaRPr sz="2000"/>
          </a:p>
          <a:p>
            <a:pPr indent="0" lvl="0" marL="0" rtl="0" algn="l">
              <a:spcBef>
                <a:spcPts val="1000"/>
              </a:spcBef>
              <a:spcAft>
                <a:spcPts val="0"/>
              </a:spcAft>
              <a:buNone/>
            </a:pPr>
            <a:r>
              <a:rPr lang="en-GB" sz="2000"/>
              <a:t>A part time Oak teacher receives £400 a month.</a:t>
            </a:r>
            <a:endParaRPr sz="2000"/>
          </a:p>
          <a:p>
            <a:pPr indent="0" lvl="0" marL="0" rtl="0" algn="l">
              <a:spcBef>
                <a:spcPts val="1000"/>
              </a:spcBef>
              <a:spcAft>
                <a:spcPts val="0"/>
              </a:spcAft>
              <a:buNone/>
            </a:pPr>
            <a:r>
              <a:rPr lang="en-GB" sz="2000"/>
              <a:t>He gets a pay rise, so earns £800 a month.</a:t>
            </a:r>
            <a:endParaRPr sz="2000"/>
          </a:p>
          <a:p>
            <a:pPr indent="0" lvl="0" marL="0" rtl="0" algn="l">
              <a:spcBef>
                <a:spcPts val="1000"/>
              </a:spcBef>
              <a:spcAft>
                <a:spcPts val="0"/>
              </a:spcAft>
              <a:buNone/>
            </a:pPr>
            <a:r>
              <a:rPr lang="en-GB" sz="2000"/>
              <a:t>Who has the best pay rise?</a:t>
            </a:r>
            <a:endParaRPr sz="2000"/>
          </a:p>
          <a:p>
            <a:pPr indent="0" lvl="0" marL="0" rtl="0" algn="l">
              <a:spcBef>
                <a:spcPts val="1000"/>
              </a:spcBef>
              <a:spcAft>
                <a:spcPts val="1000"/>
              </a:spcAft>
              <a:buNone/>
            </a:pPr>
            <a:r>
              <a:t/>
            </a:r>
            <a:endParaRPr sz="2000"/>
          </a:p>
        </p:txBody>
      </p:sp>
      <p:sp>
        <p:nvSpPr>
          <p:cNvPr id="902" name="Google Shape;902;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78"/>
          <p:cNvSpPr txBox="1"/>
          <p:nvPr>
            <p:ph idx="1" type="body"/>
          </p:nvPr>
        </p:nvSpPr>
        <p:spPr>
          <a:xfrm>
            <a:off x="324000" y="759300"/>
            <a:ext cx="8237700" cy="145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 full time Oak teacher receives £4000 a month.</a:t>
            </a:r>
            <a:endParaRPr sz="2000"/>
          </a:p>
          <a:p>
            <a:pPr indent="0" lvl="0" marL="0" rtl="0" algn="l">
              <a:spcBef>
                <a:spcPts val="1000"/>
              </a:spcBef>
              <a:spcAft>
                <a:spcPts val="0"/>
              </a:spcAft>
              <a:buNone/>
            </a:pPr>
            <a:r>
              <a:rPr lang="en-GB" sz="2000"/>
              <a:t>She gets a pay rise, so earns £4500 a month.</a:t>
            </a:r>
            <a:endParaRPr sz="2000"/>
          </a:p>
          <a:p>
            <a:pPr indent="0" lvl="0" marL="0" rtl="0" algn="l">
              <a:spcBef>
                <a:spcPts val="1000"/>
              </a:spcBef>
              <a:spcAft>
                <a:spcPts val="0"/>
              </a:spcAft>
              <a:buNone/>
            </a:pPr>
            <a:r>
              <a:rPr lang="en-GB" sz="2000">
                <a:latin typeface="Kalam"/>
                <a:ea typeface="Kalam"/>
                <a:cs typeface="Kalam"/>
                <a:sym typeface="Kalam"/>
              </a:rPr>
              <a:t>Visualising this as a bar model we have:</a:t>
            </a:r>
            <a:endParaRPr sz="2000">
              <a:latin typeface="Kalam"/>
              <a:ea typeface="Kalam"/>
              <a:cs typeface="Kalam"/>
              <a:sym typeface="Kalam"/>
            </a:endParaRPr>
          </a:p>
          <a:p>
            <a:pPr indent="0" lvl="0" marL="0" rtl="0" algn="l">
              <a:spcBef>
                <a:spcPts val="1000"/>
              </a:spcBef>
              <a:spcAft>
                <a:spcPts val="1000"/>
              </a:spcAft>
              <a:buNone/>
            </a:pPr>
            <a:r>
              <a:t/>
            </a:r>
            <a:endParaRPr sz="2000"/>
          </a:p>
        </p:txBody>
      </p:sp>
      <p:sp>
        <p:nvSpPr>
          <p:cNvPr id="908" name="Google Shape;908;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graphicFrame>
        <p:nvGraphicFramePr>
          <p:cNvPr id="909" name="Google Shape;909;p78"/>
          <p:cNvGraphicFramePr/>
          <p:nvPr/>
        </p:nvGraphicFramePr>
        <p:xfrm>
          <a:off x="427725" y="3486150"/>
          <a:ext cx="3000000" cy="3000000"/>
        </p:xfrm>
        <a:graphic>
          <a:graphicData uri="http://schemas.openxmlformats.org/drawingml/2006/table">
            <a:tbl>
              <a:tblPr>
                <a:noFill/>
                <a:tableStyleId>{D52034BA-B2A8-49EF-A613-FFD26C1E2B7E}</a:tableStyleId>
              </a:tblPr>
              <a:tblGrid>
                <a:gridCol w="1003775"/>
                <a:gridCol w="1003775"/>
                <a:gridCol w="1003775"/>
                <a:gridCol w="1003775"/>
                <a:gridCol w="1003775"/>
                <a:gridCol w="1003775"/>
                <a:gridCol w="1003775"/>
                <a:gridCol w="1003775"/>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910" name="Google Shape;910;p78"/>
          <p:cNvSpPr/>
          <p:nvPr/>
        </p:nvSpPr>
        <p:spPr>
          <a:xfrm rot="-5400000">
            <a:off x="4303200" y="-807900"/>
            <a:ext cx="254400" cy="8028900"/>
          </a:xfrm>
          <a:prstGeom prst="rightBrace">
            <a:avLst>
              <a:gd fmla="val 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1" name="Google Shape;911;p78"/>
          <p:cNvSpPr txBox="1"/>
          <p:nvPr/>
        </p:nvSpPr>
        <p:spPr>
          <a:xfrm>
            <a:off x="324000" y="2212500"/>
            <a:ext cx="3000000" cy="5232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Full time teacher:</a:t>
            </a:r>
            <a:endParaRPr>
              <a:latin typeface="Kalam"/>
              <a:ea typeface="Kalam"/>
              <a:cs typeface="Kalam"/>
              <a:sym typeface="Kalam"/>
            </a:endParaRPr>
          </a:p>
        </p:txBody>
      </p:sp>
      <p:sp>
        <p:nvSpPr>
          <p:cNvPr id="912" name="Google Shape;912;p78"/>
          <p:cNvSpPr txBox="1"/>
          <p:nvPr/>
        </p:nvSpPr>
        <p:spPr>
          <a:xfrm>
            <a:off x="3804900" y="2587725"/>
            <a:ext cx="1130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£4000</a:t>
            </a:r>
            <a:endParaRPr/>
          </a:p>
        </p:txBody>
      </p:sp>
      <p:grpSp>
        <p:nvGrpSpPr>
          <p:cNvPr id="913" name="Google Shape;913;p78"/>
          <p:cNvGrpSpPr/>
          <p:nvPr/>
        </p:nvGrpSpPr>
        <p:grpSpPr>
          <a:xfrm>
            <a:off x="415950" y="3448650"/>
            <a:ext cx="8140500" cy="523200"/>
            <a:chOff x="415950" y="3448650"/>
            <a:chExt cx="8140500" cy="523200"/>
          </a:xfrm>
        </p:grpSpPr>
        <p:sp>
          <p:nvSpPr>
            <p:cNvPr id="914" name="Google Shape;914;p78"/>
            <p:cNvSpPr txBox="1"/>
            <p:nvPr/>
          </p:nvSpPr>
          <p:spPr>
            <a:xfrm>
              <a:off x="415950" y="3448650"/>
              <a:ext cx="1130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£500</a:t>
              </a:r>
              <a:endParaRPr/>
            </a:p>
          </p:txBody>
        </p:sp>
        <p:sp>
          <p:nvSpPr>
            <p:cNvPr id="915" name="Google Shape;915;p78"/>
            <p:cNvSpPr txBox="1"/>
            <p:nvPr/>
          </p:nvSpPr>
          <p:spPr>
            <a:xfrm>
              <a:off x="1482750" y="3448650"/>
              <a:ext cx="1130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£500</a:t>
              </a:r>
              <a:endParaRPr/>
            </a:p>
          </p:txBody>
        </p:sp>
        <p:sp>
          <p:nvSpPr>
            <p:cNvPr id="916" name="Google Shape;916;p78"/>
            <p:cNvSpPr txBox="1"/>
            <p:nvPr/>
          </p:nvSpPr>
          <p:spPr>
            <a:xfrm>
              <a:off x="2473350" y="3448650"/>
              <a:ext cx="1130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£500</a:t>
              </a:r>
              <a:endParaRPr/>
            </a:p>
          </p:txBody>
        </p:sp>
        <p:sp>
          <p:nvSpPr>
            <p:cNvPr id="917" name="Google Shape;917;p78"/>
            <p:cNvSpPr txBox="1"/>
            <p:nvPr/>
          </p:nvSpPr>
          <p:spPr>
            <a:xfrm>
              <a:off x="3463950" y="3448650"/>
              <a:ext cx="1130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£500</a:t>
              </a:r>
              <a:endParaRPr/>
            </a:p>
          </p:txBody>
        </p:sp>
        <p:sp>
          <p:nvSpPr>
            <p:cNvPr id="918" name="Google Shape;918;p78"/>
            <p:cNvSpPr txBox="1"/>
            <p:nvPr/>
          </p:nvSpPr>
          <p:spPr>
            <a:xfrm>
              <a:off x="4454550" y="3448650"/>
              <a:ext cx="1130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£500</a:t>
              </a:r>
              <a:endParaRPr/>
            </a:p>
          </p:txBody>
        </p:sp>
        <p:sp>
          <p:nvSpPr>
            <p:cNvPr id="919" name="Google Shape;919;p78"/>
            <p:cNvSpPr txBox="1"/>
            <p:nvPr/>
          </p:nvSpPr>
          <p:spPr>
            <a:xfrm>
              <a:off x="5445150" y="3448650"/>
              <a:ext cx="1130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£500</a:t>
              </a:r>
              <a:endParaRPr/>
            </a:p>
          </p:txBody>
        </p:sp>
        <p:sp>
          <p:nvSpPr>
            <p:cNvPr id="920" name="Google Shape;920;p78"/>
            <p:cNvSpPr txBox="1"/>
            <p:nvPr/>
          </p:nvSpPr>
          <p:spPr>
            <a:xfrm>
              <a:off x="6511950" y="3448650"/>
              <a:ext cx="1130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£500</a:t>
              </a:r>
              <a:endParaRPr/>
            </a:p>
          </p:txBody>
        </p:sp>
        <p:sp>
          <p:nvSpPr>
            <p:cNvPr id="921" name="Google Shape;921;p78"/>
            <p:cNvSpPr txBox="1"/>
            <p:nvPr/>
          </p:nvSpPr>
          <p:spPr>
            <a:xfrm>
              <a:off x="7426350" y="3448650"/>
              <a:ext cx="1130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£500</a:t>
              </a:r>
              <a:endParaRPr/>
            </a:p>
          </p:txBody>
        </p:sp>
      </p:grpSp>
      <p:graphicFrame>
        <p:nvGraphicFramePr>
          <p:cNvPr id="922" name="Google Shape;922;p78"/>
          <p:cNvGraphicFramePr/>
          <p:nvPr/>
        </p:nvGraphicFramePr>
        <p:xfrm>
          <a:off x="427725" y="3486150"/>
          <a:ext cx="3000000" cy="3000000"/>
        </p:xfrm>
        <a:graphic>
          <a:graphicData uri="http://schemas.openxmlformats.org/drawingml/2006/table">
            <a:tbl>
              <a:tblPr>
                <a:noFill/>
                <a:tableStyleId>{D52034BA-B2A8-49EF-A613-FFD26C1E2B7E}</a:tableStyleId>
              </a:tblPr>
              <a:tblGrid>
                <a:gridCol w="1003775"/>
                <a:gridCol w="1003775"/>
                <a:gridCol w="1003775"/>
                <a:gridCol w="1003775"/>
                <a:gridCol w="1003775"/>
                <a:gridCol w="1003775"/>
                <a:gridCol w="1003775"/>
                <a:gridCol w="1003775"/>
              </a:tblGrid>
              <a:tr h="381000">
                <a:tc gridSpan="8">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hMerge="1"/>
                <a:tc hMerge="1"/>
                <a:tc hMerge="1"/>
                <a:tc hMerge="1"/>
                <a:tc hMerge="1"/>
                <a:tc hMerge="1"/>
              </a:tr>
            </a:tbl>
          </a:graphicData>
        </a:graphic>
      </p:graphicFrame>
      <p:sp>
        <p:nvSpPr>
          <p:cNvPr id="923" name="Google Shape;923;p78"/>
          <p:cNvSpPr/>
          <p:nvPr/>
        </p:nvSpPr>
        <p:spPr>
          <a:xfrm rot="5400000">
            <a:off x="840050" y="3547800"/>
            <a:ext cx="182100" cy="1030200"/>
          </a:xfrm>
          <a:prstGeom prst="rightBrace">
            <a:avLst>
              <a:gd fmla="val 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4" name="Google Shape;924;p78"/>
          <p:cNvSpPr txBox="1"/>
          <p:nvPr/>
        </p:nvSpPr>
        <p:spPr>
          <a:xfrm>
            <a:off x="415950" y="4243450"/>
            <a:ext cx="7885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Each £500 represents    , so it is a     pay rise.</a:t>
            </a:r>
            <a:endParaRPr>
              <a:solidFill>
                <a:schemeClr val="dk1"/>
              </a:solidFill>
            </a:endParaRPr>
          </a:p>
        </p:txBody>
      </p:sp>
      <p:pic>
        <p:nvPicPr>
          <p:cNvPr descr="&lt;math xmlns=&quot;http://www.w3.org/1998/Math/MathML&quot; display=&quot;block&quot; data-is-equatio=&quot;1&quot; data-latex=&quot;\frac{500}{4000}\ =\ \frac{1\times500}{8\times500}=\frac{1}{8}&quot;&gt;&lt;mfrac&gt;&lt;mn&gt;500&lt;/mn&gt;&lt;mn&gt;4000&lt;/mn&gt;&lt;/mfrac&gt;&lt;mtext&gt;&lt;/mtext&gt;&lt;mo&gt;=&lt;/mo&gt;&lt;mtext&gt;&lt;/mtext&gt;&lt;mfrac&gt;&lt;mrow&gt;&lt;mn&gt;1&lt;/mn&gt;&lt;mo&gt;×&lt;/mo&gt;&lt;mn&gt;500&lt;/mn&gt;&lt;/mrow&gt;&lt;mrow&gt;&lt;mn&gt;8&lt;/mn&gt;&lt;mo&gt;×&lt;/mo&gt;&lt;mn&gt;500&lt;/mn&gt;&lt;/mrow&gt;&lt;/mfrac&gt;&lt;mo&gt;=&lt;/mo&gt;&lt;mfrac&gt;&lt;mn&gt;1&lt;/mn&gt;&lt;mn&gt;8&lt;/mn&gt;&lt;/mfrac&gt;&lt;/math&gt;" id="925" name="Google Shape;925;p78" title="500 over 4000 equals the fraction with numerator 1 times 500 and denominator 8 times 500 equals one eighth"/>
          <p:cNvPicPr preferRelativeResize="0"/>
          <p:nvPr/>
        </p:nvPicPr>
        <p:blipFill rotWithShape="1">
          <a:blip r:embed="rId3">
            <a:alphaModFix/>
          </a:blip>
          <a:srcRect b="0" l="90575" r="-6051" t="0"/>
          <a:stretch/>
        </p:blipFill>
        <p:spPr>
          <a:xfrm>
            <a:off x="3200425" y="4261300"/>
            <a:ext cx="338350" cy="487500"/>
          </a:xfrm>
          <a:prstGeom prst="rect">
            <a:avLst/>
          </a:prstGeom>
          <a:noFill/>
          <a:ln>
            <a:noFill/>
          </a:ln>
        </p:spPr>
      </p:pic>
      <p:pic>
        <p:nvPicPr>
          <p:cNvPr descr="&lt;math xmlns=&quot;http://www.w3.org/1998/Math/MathML&quot; display=&quot;block&quot; data-is-equatio=&quot;1&quot; data-latex=&quot;\frac{500}{4000}\ =\ \frac{1\times500}{8\times500}=\frac{1}{8}&quot;&gt;&lt;mfrac&gt;&lt;mn&gt;500&lt;/mn&gt;&lt;mn&gt;4000&lt;/mn&gt;&lt;/mfrac&gt;&lt;mtext&gt;&lt;/mtext&gt;&lt;mo&gt;=&lt;/mo&gt;&lt;mtext&gt;&lt;/mtext&gt;&lt;mfrac&gt;&lt;mrow&gt;&lt;mn&gt;1&lt;/mn&gt;&lt;mo&gt;×&lt;/mo&gt;&lt;mn&gt;500&lt;/mn&gt;&lt;/mrow&gt;&lt;mrow&gt;&lt;mn&gt;8&lt;/mn&gt;&lt;mo&gt;×&lt;/mo&gt;&lt;mn&gt;500&lt;/mn&gt;&lt;/mrow&gt;&lt;/mfrac&gt;&lt;mo&gt;=&lt;/mo&gt;&lt;mfrac&gt;&lt;mn&gt;1&lt;/mn&gt;&lt;mn&gt;8&lt;/mn&gt;&lt;/mfrac&gt;&lt;/math&gt;" id="926" name="Google Shape;926;p78" title="500 over 4000 equals the fraction with numerator 1 times 500 and denominator 8 times 500 equals one eighth"/>
          <p:cNvPicPr preferRelativeResize="0"/>
          <p:nvPr/>
        </p:nvPicPr>
        <p:blipFill rotWithShape="1">
          <a:blip r:embed="rId3">
            <a:alphaModFix/>
          </a:blip>
          <a:srcRect b="0" l="90575" r="-6051" t="0"/>
          <a:stretch/>
        </p:blipFill>
        <p:spPr>
          <a:xfrm>
            <a:off x="4935000" y="4257575"/>
            <a:ext cx="338350" cy="487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7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 full time Oak teacher receives £4000 a month.</a:t>
            </a:r>
            <a:endParaRPr sz="2000"/>
          </a:p>
          <a:p>
            <a:pPr indent="0" lvl="0" marL="0" rtl="0" algn="l">
              <a:spcBef>
                <a:spcPts val="1000"/>
              </a:spcBef>
              <a:spcAft>
                <a:spcPts val="0"/>
              </a:spcAft>
              <a:buNone/>
            </a:pPr>
            <a:r>
              <a:rPr lang="en-GB" sz="2000"/>
              <a:t>She gets a pay rise, so earns £4500 a month.</a:t>
            </a:r>
            <a:endParaRPr sz="2000"/>
          </a:p>
          <a:p>
            <a:pPr indent="0" lvl="0" marL="0" rtl="0" algn="l">
              <a:spcBef>
                <a:spcPts val="1000"/>
              </a:spcBef>
              <a:spcAft>
                <a:spcPts val="0"/>
              </a:spcAft>
              <a:buNone/>
            </a:pPr>
            <a:r>
              <a:t/>
            </a:r>
            <a:endParaRPr sz="2000"/>
          </a:p>
          <a:p>
            <a:pPr indent="0" lvl="0" marL="0" rtl="0" algn="l">
              <a:spcBef>
                <a:spcPts val="1000"/>
              </a:spcBef>
              <a:spcAft>
                <a:spcPts val="0"/>
              </a:spcAft>
              <a:buNone/>
            </a:pPr>
            <a:r>
              <a:rPr lang="en-GB" sz="2000"/>
              <a:t>Using fractions and </a:t>
            </a:r>
            <a:r>
              <a:rPr lang="en-GB" sz="2000"/>
              <a:t>simplifying</a:t>
            </a:r>
            <a:r>
              <a:rPr lang="en-GB" sz="2000"/>
              <a:t>, </a:t>
            </a:r>
            <a:endParaRPr sz="2000"/>
          </a:p>
          <a:p>
            <a:pPr indent="0" lvl="0" marL="0" rtl="0" algn="l">
              <a:spcBef>
                <a:spcPts val="1000"/>
              </a:spcBef>
              <a:spcAft>
                <a:spcPts val="1000"/>
              </a:spcAft>
              <a:buNone/>
            </a:pPr>
            <a:r>
              <a:t/>
            </a:r>
            <a:endParaRPr sz="2000"/>
          </a:p>
        </p:txBody>
      </p:sp>
      <p:sp>
        <p:nvSpPr>
          <p:cNvPr id="932" name="Google Shape;932;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sp>
        <p:nvSpPr>
          <p:cNvPr id="933" name="Google Shape;933;p79"/>
          <p:cNvSpPr txBox="1"/>
          <p:nvPr/>
        </p:nvSpPr>
        <p:spPr>
          <a:xfrm>
            <a:off x="247800" y="26679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Full time teacher:</a:t>
            </a:r>
            <a:endParaRPr>
              <a:latin typeface="Kalam"/>
              <a:ea typeface="Kalam"/>
              <a:cs typeface="Kalam"/>
              <a:sym typeface="Kalam"/>
            </a:endParaRPr>
          </a:p>
        </p:txBody>
      </p:sp>
      <p:pic>
        <p:nvPicPr>
          <p:cNvPr descr="&lt;math xmlns=&quot;http://www.w3.org/1998/Math/MathML&quot; display=&quot;block&quot; data-is-equatio=&quot;1&quot; data-latex=&quot;\frac{500}{4000}\ =\ \frac{1\times500}{8\times500}=\frac{1}{8}&quot;&gt;&lt;mfrac&gt;&lt;mn&gt;500&lt;/mn&gt;&lt;mn&gt;4000&lt;/mn&gt;&lt;/mfrac&gt;&lt;mtext&gt;&lt;/mtext&gt;&lt;mo&gt;=&lt;/mo&gt;&lt;mtext&gt;&lt;/mtext&gt;&lt;mfrac&gt;&lt;mrow&gt;&lt;mn&gt;1&lt;/mn&gt;&lt;mo&gt;×&lt;/mo&gt;&lt;mn&gt;500&lt;/mn&gt;&lt;/mrow&gt;&lt;mrow&gt;&lt;mn&gt;8&lt;/mn&gt;&lt;mo&gt;×&lt;/mo&gt;&lt;mn&gt;500&lt;/mn&gt;&lt;/mrow&gt;&lt;/mfrac&gt;&lt;mo&gt;=&lt;/mo&gt;&lt;mfrac&gt;&lt;mn&gt;1&lt;/mn&gt;&lt;mn&gt;8&lt;/mn&gt;&lt;/mfrac&gt;&lt;/math&gt;" id="934" name="Google Shape;934;p79" title="500 over 4000 equals the fraction with numerator 1 times 500 and denominator 8 times 500 equals one eighth"/>
          <p:cNvPicPr preferRelativeResize="0"/>
          <p:nvPr/>
        </p:nvPicPr>
        <p:blipFill rotWithShape="1">
          <a:blip r:embed="rId3">
            <a:alphaModFix/>
          </a:blip>
          <a:srcRect b="0" l="0" r="72942" t="0"/>
          <a:stretch/>
        </p:blipFill>
        <p:spPr>
          <a:xfrm>
            <a:off x="360450" y="3282900"/>
            <a:ext cx="899550" cy="741300"/>
          </a:xfrm>
          <a:prstGeom prst="rect">
            <a:avLst/>
          </a:prstGeom>
          <a:noFill/>
          <a:ln>
            <a:noFill/>
          </a:ln>
        </p:spPr>
      </p:pic>
      <p:pic>
        <p:nvPicPr>
          <p:cNvPr descr="&lt;math xmlns=&quot;http://www.w3.org/1998/Math/MathML&quot; display=&quot;block&quot; data-is-equatio=&quot;1&quot; data-latex=&quot;\frac{500}{4000}\ =\ \frac{1\times500}{8\times500}=\frac{1}{8}&quot;&gt;&lt;mfrac&gt;&lt;mn&gt;500&lt;/mn&gt;&lt;mn&gt;4000&lt;/mn&gt;&lt;/mfrac&gt;&lt;mtext&gt;&lt;/mtext&gt;&lt;mo&gt;=&lt;/mo&gt;&lt;mtext&gt;&lt;/mtext&gt;&lt;mfrac&gt;&lt;mrow&gt;&lt;mn&gt;1&lt;/mn&gt;&lt;mo&gt;×&lt;/mo&gt;&lt;mn&gt;500&lt;/mn&gt;&lt;/mrow&gt;&lt;mrow&gt;&lt;mn&gt;8&lt;/mn&gt;&lt;mo&gt;×&lt;/mo&gt;&lt;mn&gt;500&lt;/mn&gt;&lt;/mrow&gt;&lt;/mfrac&gt;&lt;mo&gt;=&lt;/mo&gt;&lt;mfrac&gt;&lt;mn&gt;1&lt;/mn&gt;&lt;mn&gt;8&lt;/mn&gt;&lt;/mfrac&gt;&lt;/math&gt;" id="935" name="Google Shape;935;p79" title="500 over 4000 equals the fraction with numerator 1 times 500 and denominator 8 times 500 equals one eighth"/>
          <p:cNvPicPr preferRelativeResize="0"/>
          <p:nvPr/>
        </p:nvPicPr>
        <p:blipFill rotWithShape="1">
          <a:blip r:embed="rId3">
            <a:alphaModFix/>
          </a:blip>
          <a:srcRect b="0" l="27054" r="21510" t="0"/>
          <a:stretch/>
        </p:blipFill>
        <p:spPr>
          <a:xfrm>
            <a:off x="1107600" y="3282900"/>
            <a:ext cx="1709999" cy="741300"/>
          </a:xfrm>
          <a:prstGeom prst="rect">
            <a:avLst/>
          </a:prstGeom>
          <a:noFill/>
          <a:ln>
            <a:noFill/>
          </a:ln>
        </p:spPr>
      </p:pic>
      <p:pic>
        <p:nvPicPr>
          <p:cNvPr descr="&lt;math xmlns=&quot;http://www.w3.org/1998/Math/MathML&quot; display=&quot;block&quot; data-is-equatio=&quot;1&quot; data-latex=&quot;\frac{500}{4000}\ =\ \frac{1\times500}{8\times500}=\frac{1}{8}&quot;&gt;&lt;mfrac&gt;&lt;mn&gt;500&lt;/mn&gt;&lt;mn&gt;4000&lt;/mn&gt;&lt;/mfrac&gt;&lt;mtext&gt;&lt;/mtext&gt;&lt;mo&gt;=&lt;/mo&gt;&lt;mtext&gt;&lt;/mtext&gt;&lt;mfrac&gt;&lt;mrow&gt;&lt;mn&gt;1&lt;/mn&gt;&lt;mo&gt;×&lt;/mo&gt;&lt;mn&gt;500&lt;/mn&gt;&lt;/mrow&gt;&lt;mrow&gt;&lt;mn&gt;8&lt;/mn&gt;&lt;mo&gt;×&lt;/mo&gt;&lt;mn&gt;500&lt;/mn&gt;&lt;/mrow&gt;&lt;/mfrac&gt;&lt;mo&gt;=&lt;/mo&gt;&lt;mfrac&gt;&lt;mn&gt;1&lt;/mn&gt;&lt;mn&gt;8&lt;/mn&gt;&lt;/mfrac&gt;&lt;/math&gt;" id="936" name="Google Shape;936;p79" title="500 over 4000 equals the fraction with numerator 1 times 500 and denominator 8 times 500 equals one eighth"/>
          <p:cNvPicPr preferRelativeResize="0"/>
          <p:nvPr/>
        </p:nvPicPr>
        <p:blipFill rotWithShape="1">
          <a:blip r:embed="rId3">
            <a:alphaModFix/>
          </a:blip>
          <a:srcRect b="0" l="81324" r="-6050" t="0"/>
          <a:stretch/>
        </p:blipFill>
        <p:spPr>
          <a:xfrm>
            <a:off x="2911800" y="3282900"/>
            <a:ext cx="821999" cy="741300"/>
          </a:xfrm>
          <a:prstGeom prst="rect">
            <a:avLst/>
          </a:prstGeom>
          <a:noFill/>
          <a:ln>
            <a:noFill/>
          </a:ln>
        </p:spPr>
      </p:pic>
      <p:grpSp>
        <p:nvGrpSpPr>
          <p:cNvPr id="937" name="Google Shape;937;p79"/>
          <p:cNvGrpSpPr/>
          <p:nvPr/>
        </p:nvGrpSpPr>
        <p:grpSpPr>
          <a:xfrm>
            <a:off x="1275000" y="2955900"/>
            <a:ext cx="5092496" cy="1196400"/>
            <a:chOff x="1275000" y="3641700"/>
            <a:chExt cx="5092496" cy="1196400"/>
          </a:xfrm>
        </p:grpSpPr>
        <p:cxnSp>
          <p:nvCxnSpPr>
            <p:cNvPr id="938" name="Google Shape;938;p79"/>
            <p:cNvCxnSpPr/>
            <p:nvPr/>
          </p:nvCxnSpPr>
          <p:spPr>
            <a:xfrm flipH="1">
              <a:off x="1299038" y="3852000"/>
              <a:ext cx="812100" cy="300900"/>
            </a:xfrm>
            <a:prstGeom prst="straightConnector1">
              <a:avLst/>
            </a:prstGeom>
            <a:noFill/>
            <a:ln cap="flat" cmpd="sng" w="28575">
              <a:solidFill>
                <a:schemeClr val="accent4"/>
              </a:solidFill>
              <a:prstDash val="solid"/>
              <a:round/>
              <a:headEnd len="med" w="med" type="none"/>
              <a:tailEnd len="med" w="med" type="none"/>
            </a:ln>
          </p:spPr>
        </p:cxnSp>
        <p:cxnSp>
          <p:nvCxnSpPr>
            <p:cNvPr id="939" name="Google Shape;939;p79"/>
            <p:cNvCxnSpPr/>
            <p:nvPr/>
          </p:nvCxnSpPr>
          <p:spPr>
            <a:xfrm rot="10800000">
              <a:off x="1275000" y="4552500"/>
              <a:ext cx="892500" cy="60000"/>
            </a:xfrm>
            <a:prstGeom prst="straightConnector1">
              <a:avLst/>
            </a:prstGeom>
            <a:noFill/>
            <a:ln cap="flat" cmpd="sng" w="28575">
              <a:solidFill>
                <a:schemeClr val="accent4"/>
              </a:solidFill>
              <a:prstDash val="solid"/>
              <a:round/>
              <a:headEnd len="med" w="med" type="none"/>
              <a:tailEnd len="med" w="med" type="none"/>
            </a:ln>
          </p:spPr>
        </p:cxnSp>
        <p:sp>
          <p:nvSpPr>
            <p:cNvPr id="940" name="Google Shape;940;p79"/>
            <p:cNvSpPr txBox="1"/>
            <p:nvPr/>
          </p:nvSpPr>
          <p:spPr>
            <a:xfrm>
              <a:off x="2182496" y="4326900"/>
              <a:ext cx="4185000" cy="5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The whole salary per month</a:t>
              </a:r>
              <a:endParaRPr sz="1900">
                <a:solidFill>
                  <a:schemeClr val="dk1"/>
                </a:solidFill>
                <a:latin typeface="Lexend"/>
                <a:ea typeface="Lexend"/>
                <a:cs typeface="Lexend"/>
                <a:sym typeface="Lexend"/>
              </a:endParaRPr>
            </a:p>
          </p:txBody>
        </p:sp>
        <p:sp>
          <p:nvSpPr>
            <p:cNvPr id="941" name="Google Shape;941;p79"/>
            <p:cNvSpPr txBox="1"/>
            <p:nvPr/>
          </p:nvSpPr>
          <p:spPr>
            <a:xfrm>
              <a:off x="2117679" y="3641700"/>
              <a:ext cx="3777300" cy="5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Amount received</a:t>
              </a:r>
              <a:endParaRPr sz="1900">
                <a:solidFill>
                  <a:schemeClr val="dk1"/>
                </a:solidFill>
                <a:latin typeface="Lexend"/>
                <a:ea typeface="Lexend"/>
                <a:cs typeface="Lexend"/>
                <a:sym typeface="Lexend"/>
              </a:endParaRPr>
            </a:p>
          </p:txBody>
        </p:sp>
      </p:grpSp>
      <p:sp>
        <p:nvSpPr>
          <p:cNvPr id="942" name="Google Shape;942;p79"/>
          <p:cNvSpPr txBox="1"/>
          <p:nvPr/>
        </p:nvSpPr>
        <p:spPr>
          <a:xfrm>
            <a:off x="4164750" y="3023100"/>
            <a:ext cx="32193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The full time teacher receives a pay rise of      her salary.</a:t>
            </a:r>
            <a:endParaRPr>
              <a:latin typeface="Kalam"/>
              <a:ea typeface="Kalam"/>
              <a:cs typeface="Kalam"/>
              <a:sym typeface="Kalam"/>
            </a:endParaRPr>
          </a:p>
        </p:txBody>
      </p:sp>
      <p:pic>
        <p:nvPicPr>
          <p:cNvPr descr="&lt;math xmlns=&quot;http://www.w3.org/1998/Math/MathML&quot; display=&quot;block&quot; data-is-equatio=&quot;1&quot; data-latex=&quot;\frac{500}{4000}\ =\ \frac{1\times500}{8\times500}=\frac{1}{8}&quot;&gt;&lt;mfrac&gt;&lt;mn&gt;500&lt;/mn&gt;&lt;mn&gt;4000&lt;/mn&gt;&lt;/mfrac&gt;&lt;mtext&gt;&lt;/mtext&gt;&lt;mo&gt;=&lt;/mo&gt;&lt;mtext&gt;&lt;/mtext&gt;&lt;mfrac&gt;&lt;mrow&gt;&lt;mn&gt;1&lt;/mn&gt;&lt;mo&gt;×&lt;/mo&gt;&lt;mn&gt;500&lt;/mn&gt;&lt;/mrow&gt;&lt;mrow&gt;&lt;mn&gt;8&lt;/mn&gt;&lt;mo&gt;×&lt;/mo&gt;&lt;mn&gt;500&lt;/mn&gt;&lt;/mrow&gt;&lt;/mfrac&gt;&lt;mo&gt;=&lt;/mo&gt;&lt;mfrac&gt;&lt;mn&gt;1&lt;/mn&gt;&lt;mn&gt;8&lt;/mn&gt;&lt;/mfrac&gt;&lt;/math&gt;" id="943" name="Google Shape;943;p79" title="500 over 4000 equals the fraction with numerator 1 times 500 and denominator 8 times 500 equals one eighth"/>
          <p:cNvPicPr preferRelativeResize="0"/>
          <p:nvPr/>
        </p:nvPicPr>
        <p:blipFill rotWithShape="1">
          <a:blip r:embed="rId3">
            <a:alphaModFix/>
          </a:blip>
          <a:srcRect b="0" l="90575" r="-6051" t="0"/>
          <a:stretch/>
        </p:blipFill>
        <p:spPr>
          <a:xfrm>
            <a:off x="6478800" y="3282900"/>
            <a:ext cx="338350" cy="487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8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 full time Oak teacher receives £4000 a month.</a:t>
            </a:r>
            <a:endParaRPr sz="2000"/>
          </a:p>
          <a:p>
            <a:pPr indent="0" lvl="0" marL="0" rtl="0" algn="l">
              <a:spcBef>
                <a:spcPts val="1000"/>
              </a:spcBef>
              <a:spcAft>
                <a:spcPts val="0"/>
              </a:spcAft>
              <a:buNone/>
            </a:pPr>
            <a:r>
              <a:rPr lang="en-GB" sz="2000"/>
              <a:t>She gets a pay rise, so earns £4500 a month.</a:t>
            </a:r>
            <a:endParaRPr sz="2000"/>
          </a:p>
          <a:p>
            <a:pPr indent="0" lvl="0" marL="0" rtl="0" algn="l">
              <a:spcBef>
                <a:spcPts val="1000"/>
              </a:spcBef>
              <a:spcAft>
                <a:spcPts val="0"/>
              </a:spcAft>
              <a:buNone/>
            </a:pPr>
            <a:r>
              <a:rPr lang="en-GB" sz="2000"/>
              <a:t>A part time Oak teacher receives £400 a month.</a:t>
            </a:r>
            <a:endParaRPr sz="2000"/>
          </a:p>
          <a:p>
            <a:pPr indent="0" lvl="0" marL="0" rtl="0" algn="l">
              <a:spcBef>
                <a:spcPts val="1000"/>
              </a:spcBef>
              <a:spcAft>
                <a:spcPts val="0"/>
              </a:spcAft>
              <a:buNone/>
            </a:pPr>
            <a:r>
              <a:rPr lang="en-GB" sz="2000"/>
              <a:t>He gets a pay rise, so earns £800 a month.</a:t>
            </a:r>
            <a:endParaRPr sz="2000"/>
          </a:p>
          <a:p>
            <a:pPr indent="0" lvl="0" marL="0" rtl="0" algn="l">
              <a:spcBef>
                <a:spcPts val="1000"/>
              </a:spcBef>
              <a:spcAft>
                <a:spcPts val="0"/>
              </a:spcAft>
              <a:buNone/>
            </a:pPr>
            <a:r>
              <a:rPr lang="en-GB" sz="2000"/>
              <a:t>Who has the best pay rise?</a:t>
            </a:r>
            <a:endParaRPr sz="2000"/>
          </a:p>
          <a:p>
            <a:pPr indent="0" lvl="0" marL="0" rtl="0" algn="l">
              <a:spcBef>
                <a:spcPts val="1000"/>
              </a:spcBef>
              <a:spcAft>
                <a:spcPts val="1000"/>
              </a:spcAft>
              <a:buNone/>
            </a:pPr>
            <a:r>
              <a:t/>
            </a:r>
            <a:endParaRPr sz="2000"/>
          </a:p>
        </p:txBody>
      </p:sp>
      <p:sp>
        <p:nvSpPr>
          <p:cNvPr id="949" name="Google Shape;949;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sp>
        <p:nvSpPr>
          <p:cNvPr id="950" name="Google Shape;950;p80"/>
          <p:cNvSpPr txBox="1"/>
          <p:nvPr/>
        </p:nvSpPr>
        <p:spPr>
          <a:xfrm>
            <a:off x="5200800" y="30489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Part</a:t>
            </a:r>
            <a:r>
              <a:rPr lang="en-GB" sz="2200">
                <a:solidFill>
                  <a:schemeClr val="dk1"/>
                </a:solidFill>
                <a:latin typeface="Kalam"/>
                <a:ea typeface="Kalam"/>
                <a:cs typeface="Kalam"/>
                <a:sym typeface="Kalam"/>
              </a:rPr>
              <a:t> time teacher:</a:t>
            </a:r>
            <a:endParaRPr>
              <a:latin typeface="Kalam"/>
              <a:ea typeface="Kalam"/>
              <a:cs typeface="Kalam"/>
              <a:sym typeface="Kalam"/>
            </a:endParaRPr>
          </a:p>
        </p:txBody>
      </p:sp>
      <p:graphicFrame>
        <p:nvGraphicFramePr>
          <p:cNvPr id="951" name="Google Shape;951;p80"/>
          <p:cNvGraphicFramePr/>
          <p:nvPr/>
        </p:nvGraphicFramePr>
        <p:xfrm>
          <a:off x="615000" y="3780000"/>
          <a:ext cx="3000000" cy="3000000"/>
        </p:xfrm>
        <a:graphic>
          <a:graphicData uri="http://schemas.openxmlformats.org/drawingml/2006/table">
            <a:tbl>
              <a:tblPr>
                <a:noFill/>
                <a:tableStyleId>{D52034BA-B2A8-49EF-A613-FFD26C1E2B7E}</a:tableStyleId>
              </a:tblPr>
              <a:tblGrid>
                <a:gridCol w="3882750"/>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952" name="Google Shape;952;p80"/>
          <p:cNvSpPr/>
          <p:nvPr/>
        </p:nvSpPr>
        <p:spPr>
          <a:xfrm rot="-5400000">
            <a:off x="2429250" y="1614875"/>
            <a:ext cx="254400" cy="3882900"/>
          </a:xfrm>
          <a:prstGeom prst="rightBrace">
            <a:avLst>
              <a:gd fmla="val 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3" name="Google Shape;953;p80"/>
          <p:cNvSpPr txBox="1"/>
          <p:nvPr/>
        </p:nvSpPr>
        <p:spPr>
          <a:xfrm>
            <a:off x="2114238" y="3012300"/>
            <a:ext cx="1182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£400</a:t>
            </a:r>
            <a:endParaRPr/>
          </a:p>
        </p:txBody>
      </p:sp>
      <p:sp>
        <p:nvSpPr>
          <p:cNvPr id="954" name="Google Shape;954;p80"/>
          <p:cNvSpPr txBox="1"/>
          <p:nvPr/>
        </p:nvSpPr>
        <p:spPr>
          <a:xfrm>
            <a:off x="2144238" y="3728175"/>
            <a:ext cx="1182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£400</a:t>
            </a:r>
            <a:endParaRPr/>
          </a:p>
        </p:txBody>
      </p:sp>
      <p:sp>
        <p:nvSpPr>
          <p:cNvPr id="955" name="Google Shape;955;p80"/>
          <p:cNvSpPr txBox="1"/>
          <p:nvPr/>
        </p:nvSpPr>
        <p:spPr>
          <a:xfrm>
            <a:off x="468450" y="4388550"/>
            <a:ext cx="7885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Each £400 represents 1 whole, so it is a 100% pay rise.</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8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 full time Oak teacher receives £4000 a month.</a:t>
            </a:r>
            <a:endParaRPr sz="2000"/>
          </a:p>
          <a:p>
            <a:pPr indent="0" lvl="0" marL="0" rtl="0" algn="l">
              <a:spcBef>
                <a:spcPts val="1000"/>
              </a:spcBef>
              <a:spcAft>
                <a:spcPts val="0"/>
              </a:spcAft>
              <a:buNone/>
            </a:pPr>
            <a:r>
              <a:rPr lang="en-GB" sz="2000"/>
              <a:t>She gets a pay rise, so earns £4500 a month.</a:t>
            </a:r>
            <a:endParaRPr sz="2000"/>
          </a:p>
          <a:p>
            <a:pPr indent="0" lvl="0" marL="0" rtl="0" algn="l">
              <a:spcBef>
                <a:spcPts val="1000"/>
              </a:spcBef>
              <a:spcAft>
                <a:spcPts val="0"/>
              </a:spcAft>
              <a:buNone/>
            </a:pPr>
            <a:r>
              <a:rPr lang="en-GB" sz="2000"/>
              <a:t>A part time Oak teacher receives £400 a month.</a:t>
            </a:r>
            <a:endParaRPr sz="2000"/>
          </a:p>
          <a:p>
            <a:pPr indent="0" lvl="0" marL="0" rtl="0" algn="l">
              <a:spcBef>
                <a:spcPts val="1000"/>
              </a:spcBef>
              <a:spcAft>
                <a:spcPts val="0"/>
              </a:spcAft>
              <a:buNone/>
            </a:pPr>
            <a:r>
              <a:rPr lang="en-GB" sz="2000"/>
              <a:t>He gets a pay rise, so earns £800 a month.</a:t>
            </a:r>
            <a:endParaRPr sz="2000"/>
          </a:p>
          <a:p>
            <a:pPr indent="0" lvl="0" marL="0" rtl="0" algn="l">
              <a:spcBef>
                <a:spcPts val="1000"/>
              </a:spcBef>
              <a:spcAft>
                <a:spcPts val="0"/>
              </a:spcAft>
              <a:buNone/>
            </a:pPr>
            <a:r>
              <a:rPr lang="en-GB" sz="2000"/>
              <a:t>Who has the best pay rise?</a:t>
            </a:r>
            <a:endParaRPr sz="2000"/>
          </a:p>
          <a:p>
            <a:pPr indent="0" lvl="0" marL="0" rtl="0" algn="l">
              <a:spcBef>
                <a:spcPts val="1000"/>
              </a:spcBef>
              <a:spcAft>
                <a:spcPts val="1000"/>
              </a:spcAft>
              <a:buNone/>
            </a:pPr>
            <a:r>
              <a:t/>
            </a:r>
            <a:endParaRPr sz="2000"/>
          </a:p>
        </p:txBody>
      </p:sp>
      <p:sp>
        <p:nvSpPr>
          <p:cNvPr id="961" name="Google Shape;961;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sp>
        <p:nvSpPr>
          <p:cNvPr id="962" name="Google Shape;962;p81"/>
          <p:cNvSpPr txBox="1"/>
          <p:nvPr/>
        </p:nvSpPr>
        <p:spPr>
          <a:xfrm>
            <a:off x="247800" y="30489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Full time teacher:</a:t>
            </a:r>
            <a:endParaRPr>
              <a:latin typeface="Kalam"/>
              <a:ea typeface="Kalam"/>
              <a:cs typeface="Kalam"/>
              <a:sym typeface="Kalam"/>
            </a:endParaRPr>
          </a:p>
        </p:txBody>
      </p:sp>
      <p:pic>
        <p:nvPicPr>
          <p:cNvPr descr="&lt;math xmlns=&quot;http://www.w3.org/1998/Math/MathML&quot; display=&quot;block&quot; data-is-equatio=&quot;1&quot; data-latex=&quot;\frac{500}{4000}\ =\ \frac{1\times500}{8\times500}=\frac{1}{8}&quot;&gt;&lt;mfrac&gt;&lt;mn&gt;500&lt;/mn&gt;&lt;mn&gt;4000&lt;/mn&gt;&lt;/mfrac&gt;&lt;mtext&gt;&lt;/mtext&gt;&lt;mo&gt;=&lt;/mo&gt;&lt;mtext&gt;&lt;/mtext&gt;&lt;mfrac&gt;&lt;mrow&gt;&lt;mn&gt;1&lt;/mn&gt;&lt;mo&gt;×&lt;/mo&gt;&lt;mn&gt;500&lt;/mn&gt;&lt;/mrow&gt;&lt;mrow&gt;&lt;mn&gt;8&lt;/mn&gt;&lt;mo&gt;×&lt;/mo&gt;&lt;mn&gt;500&lt;/mn&gt;&lt;/mrow&gt;&lt;/mfrac&gt;&lt;mo&gt;=&lt;/mo&gt;&lt;mfrac&gt;&lt;mn&gt;1&lt;/mn&gt;&lt;mn&gt;8&lt;/mn&gt;&lt;/mfrac&gt;&lt;/math&gt;" id="963" name="Google Shape;963;p81" title="500 over 4000 equals the fraction with numerator 1 times 500 and denominator 8 times 500 equals one eighth"/>
          <p:cNvPicPr preferRelativeResize="0"/>
          <p:nvPr/>
        </p:nvPicPr>
        <p:blipFill rotWithShape="1">
          <a:blip r:embed="rId3">
            <a:alphaModFix/>
          </a:blip>
          <a:srcRect b="0" l="0" r="72942" t="0"/>
          <a:stretch/>
        </p:blipFill>
        <p:spPr>
          <a:xfrm>
            <a:off x="360450" y="3663900"/>
            <a:ext cx="899550" cy="741300"/>
          </a:xfrm>
          <a:prstGeom prst="rect">
            <a:avLst/>
          </a:prstGeom>
          <a:noFill/>
          <a:ln>
            <a:noFill/>
          </a:ln>
        </p:spPr>
      </p:pic>
      <p:pic>
        <p:nvPicPr>
          <p:cNvPr descr="&lt;math xmlns=&quot;http://www.w3.org/1998/Math/MathML&quot; display=&quot;block&quot; data-is-equatio=&quot;1&quot; data-latex=&quot;\frac{500}{4000}\ =\ \frac{1\times500}{8\times500}=\frac{1}{8}&quot;&gt;&lt;mfrac&gt;&lt;mn&gt;500&lt;/mn&gt;&lt;mn&gt;4000&lt;/mn&gt;&lt;/mfrac&gt;&lt;mtext&gt;&lt;/mtext&gt;&lt;mo&gt;=&lt;/mo&gt;&lt;mtext&gt;&lt;/mtext&gt;&lt;mfrac&gt;&lt;mrow&gt;&lt;mn&gt;1&lt;/mn&gt;&lt;mo&gt;×&lt;/mo&gt;&lt;mn&gt;500&lt;/mn&gt;&lt;/mrow&gt;&lt;mrow&gt;&lt;mn&gt;8&lt;/mn&gt;&lt;mo&gt;×&lt;/mo&gt;&lt;mn&gt;500&lt;/mn&gt;&lt;/mrow&gt;&lt;/mfrac&gt;&lt;mo&gt;=&lt;/mo&gt;&lt;mfrac&gt;&lt;mn&gt;1&lt;/mn&gt;&lt;mn&gt;8&lt;/mn&gt;&lt;/mfrac&gt;&lt;/math&gt;" id="964" name="Google Shape;964;p81" title="500 over 4000 equals the fraction with numerator 1 times 500 and denominator 8 times 500 equals one eighth"/>
          <p:cNvPicPr preferRelativeResize="0"/>
          <p:nvPr/>
        </p:nvPicPr>
        <p:blipFill rotWithShape="1">
          <a:blip r:embed="rId3">
            <a:alphaModFix/>
          </a:blip>
          <a:srcRect b="0" l="81324" r="-6050" t="0"/>
          <a:stretch/>
        </p:blipFill>
        <p:spPr>
          <a:xfrm>
            <a:off x="1159200" y="3663900"/>
            <a:ext cx="821999" cy="741300"/>
          </a:xfrm>
          <a:prstGeom prst="rect">
            <a:avLst/>
          </a:prstGeom>
          <a:noFill/>
          <a:ln>
            <a:noFill/>
          </a:ln>
        </p:spPr>
      </p:pic>
      <p:sp>
        <p:nvSpPr>
          <p:cNvPr id="965" name="Google Shape;965;p81"/>
          <p:cNvSpPr txBox="1"/>
          <p:nvPr/>
        </p:nvSpPr>
        <p:spPr>
          <a:xfrm>
            <a:off x="2202150" y="3475200"/>
            <a:ext cx="32193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The full time teacher receives a pay rise of      her salary.</a:t>
            </a:r>
            <a:endParaRPr>
              <a:latin typeface="Kalam"/>
              <a:ea typeface="Kalam"/>
              <a:cs typeface="Kalam"/>
              <a:sym typeface="Kalam"/>
            </a:endParaRPr>
          </a:p>
        </p:txBody>
      </p:sp>
      <p:pic>
        <p:nvPicPr>
          <p:cNvPr descr="&lt;math xmlns=&quot;http://www.w3.org/1998/Math/MathML&quot; display=&quot;block&quot; data-is-equatio=&quot;1&quot; data-latex=&quot;\frac{500}{4000}\ =\ \frac{1\times500}{8\times500}=\frac{1}{8}&quot;&gt;&lt;mfrac&gt;&lt;mn&gt;500&lt;/mn&gt;&lt;mn&gt;4000&lt;/mn&gt;&lt;/mfrac&gt;&lt;mtext&gt;&lt;/mtext&gt;&lt;mo&gt;=&lt;/mo&gt;&lt;mtext&gt;&lt;/mtext&gt;&lt;mfrac&gt;&lt;mrow&gt;&lt;mn&gt;1&lt;/mn&gt;&lt;mo&gt;×&lt;/mo&gt;&lt;mn&gt;500&lt;/mn&gt;&lt;/mrow&gt;&lt;mrow&gt;&lt;mn&gt;8&lt;/mn&gt;&lt;mo&gt;×&lt;/mo&gt;&lt;mn&gt;500&lt;/mn&gt;&lt;/mrow&gt;&lt;/mfrac&gt;&lt;mo&gt;=&lt;/mo&gt;&lt;mfrac&gt;&lt;mn&gt;1&lt;/mn&gt;&lt;mn&gt;8&lt;/mn&gt;&lt;/mfrac&gt;&lt;/math&gt;" id="966" name="Google Shape;966;p81" title="500 over 4000 equals the fraction with numerator 1 times 500 and denominator 8 times 500 equals one eighth"/>
          <p:cNvPicPr preferRelativeResize="0"/>
          <p:nvPr/>
        </p:nvPicPr>
        <p:blipFill rotWithShape="1">
          <a:blip r:embed="rId3">
            <a:alphaModFix/>
          </a:blip>
          <a:srcRect b="0" l="90575" r="-6051" t="0"/>
          <a:stretch/>
        </p:blipFill>
        <p:spPr>
          <a:xfrm>
            <a:off x="4505100" y="3740100"/>
            <a:ext cx="338350" cy="487500"/>
          </a:xfrm>
          <a:prstGeom prst="rect">
            <a:avLst/>
          </a:prstGeom>
          <a:noFill/>
          <a:ln>
            <a:noFill/>
          </a:ln>
        </p:spPr>
      </p:pic>
      <p:pic>
        <p:nvPicPr>
          <p:cNvPr descr="&lt;math xmlns=&quot;http://www.w3.org/1998/Math/MathML&quot; display=&quot;block&quot; data-is-equatio=&quot;1&quot; data-latex=&quot;\frac{400}{400}=1=100\%&quot;&gt;&lt;mfrac&gt;&lt;mn&gt;400&lt;/mn&gt;&lt;mn&gt;400&lt;/mn&gt;&lt;/mfrac&gt;&lt;mo&gt;=&lt;/mo&gt;&lt;mn&gt;1&lt;/mn&gt;&lt;mo&gt;=&lt;/mo&gt;&lt;mn&gt;100&lt;/mn&gt;&lt;mi mathvariant=&quot;normal&quot;&gt;%&lt;/mi&gt;&lt;/math&gt;" id="967" name="Google Shape;967;p81" title="400 over 400 equals 1 equals 100 percent sign"/>
          <p:cNvPicPr preferRelativeResize="0"/>
          <p:nvPr/>
        </p:nvPicPr>
        <p:blipFill rotWithShape="1">
          <a:blip r:embed="rId4">
            <a:alphaModFix/>
          </a:blip>
          <a:srcRect b="0" l="0" r="74511" t="0"/>
          <a:stretch/>
        </p:blipFill>
        <p:spPr>
          <a:xfrm>
            <a:off x="5269850" y="3663900"/>
            <a:ext cx="655151" cy="772200"/>
          </a:xfrm>
          <a:prstGeom prst="rect">
            <a:avLst/>
          </a:prstGeom>
          <a:noFill/>
          <a:ln>
            <a:noFill/>
          </a:ln>
        </p:spPr>
      </p:pic>
      <p:sp>
        <p:nvSpPr>
          <p:cNvPr id="968" name="Google Shape;968;p81"/>
          <p:cNvSpPr txBox="1"/>
          <p:nvPr/>
        </p:nvSpPr>
        <p:spPr>
          <a:xfrm>
            <a:off x="5200800" y="30489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Part time teacher:</a:t>
            </a:r>
            <a:endParaRPr>
              <a:latin typeface="Kalam"/>
              <a:ea typeface="Kalam"/>
              <a:cs typeface="Kalam"/>
              <a:sym typeface="Kalam"/>
            </a:endParaRPr>
          </a:p>
        </p:txBody>
      </p:sp>
      <p:grpSp>
        <p:nvGrpSpPr>
          <p:cNvPr id="969" name="Google Shape;969;p81"/>
          <p:cNvGrpSpPr/>
          <p:nvPr/>
        </p:nvGrpSpPr>
        <p:grpSpPr>
          <a:xfrm>
            <a:off x="5864997" y="3385650"/>
            <a:ext cx="2999990" cy="1196400"/>
            <a:chOff x="1275000" y="3641700"/>
            <a:chExt cx="5092496" cy="1196400"/>
          </a:xfrm>
        </p:grpSpPr>
        <p:cxnSp>
          <p:nvCxnSpPr>
            <p:cNvPr id="970" name="Google Shape;970;p81"/>
            <p:cNvCxnSpPr/>
            <p:nvPr/>
          </p:nvCxnSpPr>
          <p:spPr>
            <a:xfrm flipH="1">
              <a:off x="1299038" y="3852000"/>
              <a:ext cx="812100" cy="300900"/>
            </a:xfrm>
            <a:prstGeom prst="straightConnector1">
              <a:avLst/>
            </a:prstGeom>
            <a:noFill/>
            <a:ln cap="flat" cmpd="sng" w="28575">
              <a:solidFill>
                <a:schemeClr val="accent4"/>
              </a:solidFill>
              <a:prstDash val="solid"/>
              <a:round/>
              <a:headEnd len="med" w="med" type="none"/>
              <a:tailEnd len="med" w="med" type="none"/>
            </a:ln>
          </p:spPr>
        </p:cxnSp>
        <p:cxnSp>
          <p:nvCxnSpPr>
            <p:cNvPr id="971" name="Google Shape;971;p81"/>
            <p:cNvCxnSpPr/>
            <p:nvPr/>
          </p:nvCxnSpPr>
          <p:spPr>
            <a:xfrm rot="10800000">
              <a:off x="1275000" y="4552500"/>
              <a:ext cx="892500" cy="60000"/>
            </a:xfrm>
            <a:prstGeom prst="straightConnector1">
              <a:avLst/>
            </a:prstGeom>
            <a:noFill/>
            <a:ln cap="flat" cmpd="sng" w="28575">
              <a:solidFill>
                <a:schemeClr val="accent4"/>
              </a:solidFill>
              <a:prstDash val="solid"/>
              <a:round/>
              <a:headEnd len="med" w="med" type="none"/>
              <a:tailEnd len="med" w="med" type="none"/>
            </a:ln>
          </p:spPr>
        </p:cxnSp>
        <p:sp>
          <p:nvSpPr>
            <p:cNvPr id="972" name="Google Shape;972;p81"/>
            <p:cNvSpPr txBox="1"/>
            <p:nvPr/>
          </p:nvSpPr>
          <p:spPr>
            <a:xfrm>
              <a:off x="2182496" y="4326900"/>
              <a:ext cx="4185000" cy="5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The whole salary per month</a:t>
              </a:r>
              <a:endParaRPr sz="1900">
                <a:solidFill>
                  <a:schemeClr val="dk1"/>
                </a:solidFill>
                <a:latin typeface="Lexend"/>
                <a:ea typeface="Lexend"/>
                <a:cs typeface="Lexend"/>
                <a:sym typeface="Lexend"/>
              </a:endParaRPr>
            </a:p>
          </p:txBody>
        </p:sp>
        <p:sp>
          <p:nvSpPr>
            <p:cNvPr id="973" name="Google Shape;973;p81"/>
            <p:cNvSpPr txBox="1"/>
            <p:nvPr/>
          </p:nvSpPr>
          <p:spPr>
            <a:xfrm>
              <a:off x="2117679" y="3641700"/>
              <a:ext cx="3777300" cy="5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Amount received</a:t>
              </a:r>
              <a:endParaRPr sz="1900">
                <a:solidFill>
                  <a:schemeClr val="dk1"/>
                </a:solidFill>
                <a:latin typeface="Lexend"/>
                <a:ea typeface="Lexend"/>
                <a:cs typeface="Lexend"/>
                <a:sym typeface="Lexend"/>
              </a:endParaRPr>
            </a:p>
          </p:txBody>
        </p:sp>
      </p:grpSp>
      <p:pic>
        <p:nvPicPr>
          <p:cNvPr descr="&lt;math xmlns=&quot;http://www.w3.org/1998/Math/MathML&quot; display=&quot;block&quot; data-is-equatio=&quot;1&quot; data-latex=&quot;\frac{400}{400}=1=100\%&quot;&gt;&lt;mfrac&gt;&lt;mn&gt;400&lt;/mn&gt;&lt;mn&gt;400&lt;/mn&gt;&lt;/mfrac&gt;&lt;mo&gt;=&lt;/mo&gt;&lt;mn&gt;1&lt;/mn&gt;&lt;mo&gt;=&lt;/mo&gt;&lt;mn&gt;100&lt;/mn&gt;&lt;mi mathvariant=&quot;normal&quot;&gt;%&lt;/mi&gt;&lt;/math&gt;" id="974" name="Google Shape;974;p81" title="400 over 400 equals 1 equals 100 percent sign"/>
          <p:cNvPicPr preferRelativeResize="0"/>
          <p:nvPr/>
        </p:nvPicPr>
        <p:blipFill rotWithShape="1">
          <a:blip r:embed="rId4">
            <a:alphaModFix/>
          </a:blip>
          <a:srcRect b="0" l="27555" r="45471" t="0"/>
          <a:stretch/>
        </p:blipFill>
        <p:spPr>
          <a:xfrm>
            <a:off x="5951700" y="3663900"/>
            <a:ext cx="693300" cy="772200"/>
          </a:xfrm>
          <a:prstGeom prst="rect">
            <a:avLst/>
          </a:prstGeom>
          <a:noFill/>
          <a:ln>
            <a:noFill/>
          </a:ln>
        </p:spPr>
      </p:pic>
      <p:pic>
        <p:nvPicPr>
          <p:cNvPr descr="&lt;math xmlns=&quot;http://www.w3.org/1998/Math/MathML&quot; display=&quot;block&quot; data-is-equatio=&quot;1&quot; data-latex=&quot;\frac{400}{400}=1=100\%&quot;&gt;&lt;mfrac&gt;&lt;mn&gt;400&lt;/mn&gt;&lt;mn&gt;400&lt;/mn&gt;&lt;/mfrac&gt;&lt;mo&gt;=&lt;/mo&gt;&lt;mn&gt;1&lt;/mn&gt;&lt;mo&gt;=&lt;/mo&gt;&lt;mn&gt;100&lt;/mn&gt;&lt;mi mathvariant=&quot;normal&quot;&gt;%&lt;/mi&gt;&lt;/math&gt;" id="975" name="Google Shape;975;p81" title="400 over 400 equals 1 equals 100 percent sign"/>
          <p:cNvPicPr preferRelativeResize="0"/>
          <p:nvPr/>
        </p:nvPicPr>
        <p:blipFill rotWithShape="1">
          <a:blip r:embed="rId4">
            <a:alphaModFix/>
          </a:blip>
          <a:srcRect b="0" l="53842" r="-2419" t="0"/>
          <a:stretch/>
        </p:blipFill>
        <p:spPr>
          <a:xfrm>
            <a:off x="6585000" y="3663900"/>
            <a:ext cx="1248600" cy="772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6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8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 full time Oak teacher receives £4000 a month.</a:t>
            </a:r>
            <a:endParaRPr sz="2000"/>
          </a:p>
          <a:p>
            <a:pPr indent="0" lvl="0" marL="0" rtl="0" algn="l">
              <a:spcBef>
                <a:spcPts val="1000"/>
              </a:spcBef>
              <a:spcAft>
                <a:spcPts val="0"/>
              </a:spcAft>
              <a:buNone/>
            </a:pPr>
            <a:r>
              <a:rPr lang="en-GB" sz="2000"/>
              <a:t>She gets a pay rise, so earns £4500 a month.</a:t>
            </a:r>
            <a:endParaRPr sz="2000"/>
          </a:p>
          <a:p>
            <a:pPr indent="0" lvl="0" marL="0" rtl="0" algn="l">
              <a:spcBef>
                <a:spcPts val="1000"/>
              </a:spcBef>
              <a:spcAft>
                <a:spcPts val="0"/>
              </a:spcAft>
              <a:buNone/>
            </a:pPr>
            <a:r>
              <a:rPr lang="en-GB" sz="2000"/>
              <a:t>A part time Oak teacher receives £400 a month.</a:t>
            </a:r>
            <a:endParaRPr sz="2000"/>
          </a:p>
          <a:p>
            <a:pPr indent="0" lvl="0" marL="0" rtl="0" algn="l">
              <a:spcBef>
                <a:spcPts val="1000"/>
              </a:spcBef>
              <a:spcAft>
                <a:spcPts val="0"/>
              </a:spcAft>
              <a:buNone/>
            </a:pPr>
            <a:r>
              <a:rPr lang="en-GB" sz="2000"/>
              <a:t>He gets a pay rise, so earns £800 a month.</a:t>
            </a:r>
            <a:endParaRPr sz="2000"/>
          </a:p>
          <a:p>
            <a:pPr indent="0" lvl="0" marL="0" rtl="0" algn="l">
              <a:spcBef>
                <a:spcPts val="1000"/>
              </a:spcBef>
              <a:spcAft>
                <a:spcPts val="0"/>
              </a:spcAft>
              <a:buNone/>
            </a:pPr>
            <a:r>
              <a:rPr lang="en-GB" sz="2000"/>
              <a:t>Who has the best pay rise?</a:t>
            </a:r>
            <a:endParaRPr sz="2000"/>
          </a:p>
          <a:p>
            <a:pPr indent="0" lvl="0" marL="0" rtl="0" algn="l">
              <a:spcBef>
                <a:spcPts val="1000"/>
              </a:spcBef>
              <a:spcAft>
                <a:spcPts val="1000"/>
              </a:spcAft>
              <a:buNone/>
            </a:pPr>
            <a:r>
              <a:t/>
            </a:r>
            <a:endParaRPr sz="2000"/>
          </a:p>
        </p:txBody>
      </p:sp>
      <p:sp>
        <p:nvSpPr>
          <p:cNvPr id="981" name="Google Shape;981;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sp>
        <p:nvSpPr>
          <p:cNvPr id="982" name="Google Shape;982;p82"/>
          <p:cNvSpPr txBox="1"/>
          <p:nvPr/>
        </p:nvSpPr>
        <p:spPr>
          <a:xfrm>
            <a:off x="247800" y="30489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Full time teacher:</a:t>
            </a:r>
            <a:endParaRPr>
              <a:latin typeface="Kalam"/>
              <a:ea typeface="Kalam"/>
              <a:cs typeface="Kalam"/>
              <a:sym typeface="Kalam"/>
            </a:endParaRPr>
          </a:p>
        </p:txBody>
      </p:sp>
      <p:pic>
        <p:nvPicPr>
          <p:cNvPr descr="&lt;math xmlns=&quot;http://www.w3.org/1998/Math/MathML&quot; display=&quot;block&quot; data-is-equatio=&quot;1&quot; data-latex=&quot;\frac{500}{4000}\ =\ \frac{1\times500}{8\times500}=\frac{1}{8}&quot;&gt;&lt;mfrac&gt;&lt;mn&gt;500&lt;/mn&gt;&lt;mn&gt;4000&lt;/mn&gt;&lt;/mfrac&gt;&lt;mtext&gt;&lt;/mtext&gt;&lt;mo&gt;=&lt;/mo&gt;&lt;mtext&gt;&lt;/mtext&gt;&lt;mfrac&gt;&lt;mrow&gt;&lt;mn&gt;1&lt;/mn&gt;&lt;mo&gt;×&lt;/mo&gt;&lt;mn&gt;500&lt;/mn&gt;&lt;/mrow&gt;&lt;mrow&gt;&lt;mn&gt;8&lt;/mn&gt;&lt;mo&gt;×&lt;/mo&gt;&lt;mn&gt;500&lt;/mn&gt;&lt;/mrow&gt;&lt;/mfrac&gt;&lt;mo&gt;=&lt;/mo&gt;&lt;mfrac&gt;&lt;mn&gt;1&lt;/mn&gt;&lt;mn&gt;8&lt;/mn&gt;&lt;/mfrac&gt;&lt;/math&gt;" id="983" name="Google Shape;983;p82" title="500 over 4000 equals the fraction with numerator 1 times 500 and denominator 8 times 500 equals one eighth"/>
          <p:cNvPicPr preferRelativeResize="0"/>
          <p:nvPr/>
        </p:nvPicPr>
        <p:blipFill rotWithShape="1">
          <a:blip r:embed="rId3">
            <a:alphaModFix/>
          </a:blip>
          <a:srcRect b="0" l="0" r="72942" t="0"/>
          <a:stretch/>
        </p:blipFill>
        <p:spPr>
          <a:xfrm>
            <a:off x="360450" y="3663900"/>
            <a:ext cx="899550" cy="741300"/>
          </a:xfrm>
          <a:prstGeom prst="rect">
            <a:avLst/>
          </a:prstGeom>
          <a:noFill/>
          <a:ln>
            <a:noFill/>
          </a:ln>
        </p:spPr>
      </p:pic>
      <p:pic>
        <p:nvPicPr>
          <p:cNvPr descr="&lt;math xmlns=&quot;http://www.w3.org/1998/Math/MathML&quot; display=&quot;block&quot; data-is-equatio=&quot;1&quot; data-latex=&quot;\frac{500}{4000}\ =\ \frac{1\times500}{8\times500}=\frac{1}{8}&quot;&gt;&lt;mfrac&gt;&lt;mn&gt;500&lt;/mn&gt;&lt;mn&gt;4000&lt;/mn&gt;&lt;/mfrac&gt;&lt;mtext&gt;&lt;/mtext&gt;&lt;mo&gt;=&lt;/mo&gt;&lt;mtext&gt;&lt;/mtext&gt;&lt;mfrac&gt;&lt;mrow&gt;&lt;mn&gt;1&lt;/mn&gt;&lt;mo&gt;×&lt;/mo&gt;&lt;mn&gt;500&lt;/mn&gt;&lt;/mrow&gt;&lt;mrow&gt;&lt;mn&gt;8&lt;/mn&gt;&lt;mo&gt;×&lt;/mo&gt;&lt;mn&gt;500&lt;/mn&gt;&lt;/mrow&gt;&lt;/mfrac&gt;&lt;mo&gt;=&lt;/mo&gt;&lt;mfrac&gt;&lt;mn&gt;1&lt;/mn&gt;&lt;mn&gt;8&lt;/mn&gt;&lt;/mfrac&gt;&lt;/math&gt;" id="984" name="Google Shape;984;p82" title="500 over 4000 equals the fraction with numerator 1 times 500 and denominator 8 times 500 equals one eighth"/>
          <p:cNvPicPr preferRelativeResize="0"/>
          <p:nvPr/>
        </p:nvPicPr>
        <p:blipFill rotWithShape="1">
          <a:blip r:embed="rId3">
            <a:alphaModFix/>
          </a:blip>
          <a:srcRect b="0" l="81324" r="-6050" t="0"/>
          <a:stretch/>
        </p:blipFill>
        <p:spPr>
          <a:xfrm>
            <a:off x="1159200" y="3663900"/>
            <a:ext cx="821999" cy="741300"/>
          </a:xfrm>
          <a:prstGeom prst="rect">
            <a:avLst/>
          </a:prstGeom>
          <a:noFill/>
          <a:ln>
            <a:noFill/>
          </a:ln>
        </p:spPr>
      </p:pic>
      <p:sp>
        <p:nvSpPr>
          <p:cNvPr id="985" name="Google Shape;985;p82"/>
          <p:cNvSpPr txBox="1"/>
          <p:nvPr/>
        </p:nvSpPr>
        <p:spPr>
          <a:xfrm>
            <a:off x="2202150" y="3475200"/>
            <a:ext cx="32193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The full time teacher receives a pay rise of      her salary.</a:t>
            </a:r>
            <a:endParaRPr>
              <a:latin typeface="Kalam"/>
              <a:ea typeface="Kalam"/>
              <a:cs typeface="Kalam"/>
              <a:sym typeface="Kalam"/>
            </a:endParaRPr>
          </a:p>
        </p:txBody>
      </p:sp>
      <p:pic>
        <p:nvPicPr>
          <p:cNvPr descr="&lt;math xmlns=&quot;http://www.w3.org/1998/Math/MathML&quot; display=&quot;block&quot; data-is-equatio=&quot;1&quot; data-latex=&quot;\frac{500}{4000}\ =\ \frac{1\times500}{8\times500}=\frac{1}{8}&quot;&gt;&lt;mfrac&gt;&lt;mn&gt;500&lt;/mn&gt;&lt;mn&gt;4000&lt;/mn&gt;&lt;/mfrac&gt;&lt;mtext&gt;&lt;/mtext&gt;&lt;mo&gt;=&lt;/mo&gt;&lt;mtext&gt;&lt;/mtext&gt;&lt;mfrac&gt;&lt;mrow&gt;&lt;mn&gt;1&lt;/mn&gt;&lt;mo&gt;×&lt;/mo&gt;&lt;mn&gt;500&lt;/mn&gt;&lt;/mrow&gt;&lt;mrow&gt;&lt;mn&gt;8&lt;/mn&gt;&lt;mo&gt;×&lt;/mo&gt;&lt;mn&gt;500&lt;/mn&gt;&lt;/mrow&gt;&lt;/mfrac&gt;&lt;mo&gt;=&lt;/mo&gt;&lt;mfrac&gt;&lt;mn&gt;1&lt;/mn&gt;&lt;mn&gt;8&lt;/mn&gt;&lt;/mfrac&gt;&lt;/math&gt;" id="986" name="Google Shape;986;p82" title="500 over 4000 equals the fraction with numerator 1 times 500 and denominator 8 times 500 equals one eighth"/>
          <p:cNvPicPr preferRelativeResize="0"/>
          <p:nvPr/>
        </p:nvPicPr>
        <p:blipFill rotWithShape="1">
          <a:blip r:embed="rId3">
            <a:alphaModFix/>
          </a:blip>
          <a:srcRect b="0" l="90575" r="-6051" t="0"/>
          <a:stretch/>
        </p:blipFill>
        <p:spPr>
          <a:xfrm>
            <a:off x="4505100" y="3740100"/>
            <a:ext cx="338350" cy="487500"/>
          </a:xfrm>
          <a:prstGeom prst="rect">
            <a:avLst/>
          </a:prstGeom>
          <a:noFill/>
          <a:ln>
            <a:noFill/>
          </a:ln>
        </p:spPr>
      </p:pic>
      <p:pic>
        <p:nvPicPr>
          <p:cNvPr descr="&lt;math xmlns=&quot;http://www.w3.org/1998/Math/MathML&quot; display=&quot;block&quot; data-is-equatio=&quot;1&quot; data-latex=&quot;\frac{400}{400}=1=100\%&quot;&gt;&lt;mfrac&gt;&lt;mn&gt;400&lt;/mn&gt;&lt;mn&gt;400&lt;/mn&gt;&lt;/mfrac&gt;&lt;mo&gt;=&lt;/mo&gt;&lt;mn&gt;1&lt;/mn&gt;&lt;mo&gt;=&lt;/mo&gt;&lt;mn&gt;100&lt;/mn&gt;&lt;mi mathvariant=&quot;normal&quot;&gt;%&lt;/mi&gt;&lt;/math&gt;" id="987" name="Google Shape;987;p82" title="400 over 400 equals 1 equals 100 percent sign"/>
          <p:cNvPicPr preferRelativeResize="0"/>
          <p:nvPr/>
        </p:nvPicPr>
        <p:blipFill rotWithShape="1">
          <a:blip r:embed="rId4">
            <a:alphaModFix/>
          </a:blip>
          <a:srcRect b="0" l="0" r="74511" t="0"/>
          <a:stretch/>
        </p:blipFill>
        <p:spPr>
          <a:xfrm>
            <a:off x="5269850" y="3663900"/>
            <a:ext cx="655151" cy="772200"/>
          </a:xfrm>
          <a:prstGeom prst="rect">
            <a:avLst/>
          </a:prstGeom>
          <a:noFill/>
          <a:ln>
            <a:noFill/>
          </a:ln>
        </p:spPr>
      </p:pic>
      <p:sp>
        <p:nvSpPr>
          <p:cNvPr id="988" name="Google Shape;988;p82"/>
          <p:cNvSpPr txBox="1"/>
          <p:nvPr/>
        </p:nvSpPr>
        <p:spPr>
          <a:xfrm>
            <a:off x="5200800" y="30489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Part time teacher:</a:t>
            </a:r>
            <a:endParaRPr>
              <a:latin typeface="Kalam"/>
              <a:ea typeface="Kalam"/>
              <a:cs typeface="Kalam"/>
              <a:sym typeface="Kalam"/>
            </a:endParaRPr>
          </a:p>
        </p:txBody>
      </p:sp>
      <p:pic>
        <p:nvPicPr>
          <p:cNvPr descr="&lt;math xmlns=&quot;http://www.w3.org/1998/Math/MathML&quot; display=&quot;block&quot; data-is-equatio=&quot;1&quot; data-latex=&quot;\frac{400}{400}=1=100\%&quot;&gt;&lt;mfrac&gt;&lt;mn&gt;400&lt;/mn&gt;&lt;mn&gt;400&lt;/mn&gt;&lt;/mfrac&gt;&lt;mo&gt;=&lt;/mo&gt;&lt;mn&gt;1&lt;/mn&gt;&lt;mo&gt;=&lt;/mo&gt;&lt;mn&gt;100&lt;/mn&gt;&lt;mi mathvariant=&quot;normal&quot;&gt;%&lt;/mi&gt;&lt;/math&gt;" id="989" name="Google Shape;989;p82" title="400 over 400 equals 1 equals 100 percent sign"/>
          <p:cNvPicPr preferRelativeResize="0"/>
          <p:nvPr/>
        </p:nvPicPr>
        <p:blipFill rotWithShape="1">
          <a:blip r:embed="rId4">
            <a:alphaModFix/>
          </a:blip>
          <a:srcRect b="0" l="27555" r="45471" t="0"/>
          <a:stretch/>
        </p:blipFill>
        <p:spPr>
          <a:xfrm>
            <a:off x="5951700" y="3663900"/>
            <a:ext cx="693300" cy="772200"/>
          </a:xfrm>
          <a:prstGeom prst="rect">
            <a:avLst/>
          </a:prstGeom>
          <a:noFill/>
          <a:ln>
            <a:noFill/>
          </a:ln>
        </p:spPr>
      </p:pic>
      <p:sp>
        <p:nvSpPr>
          <p:cNvPr id="990" name="Google Shape;990;p82"/>
          <p:cNvSpPr txBox="1"/>
          <p:nvPr/>
        </p:nvSpPr>
        <p:spPr>
          <a:xfrm>
            <a:off x="6604200" y="3519000"/>
            <a:ext cx="20433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The part time teacher receives a 100% pay rise of      his salary.</a:t>
            </a:r>
            <a:endParaRPr>
              <a:latin typeface="Kalam"/>
              <a:ea typeface="Kalam"/>
              <a:cs typeface="Kalam"/>
              <a:sym typeface="Kalam"/>
            </a:endParaRPr>
          </a:p>
        </p:txBody>
      </p:sp>
      <p:sp>
        <p:nvSpPr>
          <p:cNvPr id="991" name="Google Shape;991;p82"/>
          <p:cNvSpPr txBox="1"/>
          <p:nvPr/>
        </p:nvSpPr>
        <p:spPr>
          <a:xfrm>
            <a:off x="3702000" y="257175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The p</a:t>
            </a:r>
            <a:r>
              <a:rPr lang="en-GB" sz="2200">
                <a:solidFill>
                  <a:schemeClr val="dk1"/>
                </a:solidFill>
                <a:latin typeface="Kalam"/>
                <a:ea typeface="Kalam"/>
                <a:cs typeface="Kalam"/>
                <a:sym typeface="Kalam"/>
              </a:rPr>
              <a:t>art time teacher</a:t>
            </a:r>
            <a:endParaRPr>
              <a:latin typeface="Kalam"/>
              <a:ea typeface="Kalam"/>
              <a:cs typeface="Kalam"/>
              <a:sym typeface="Kala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descr="&lt;math xmlns=&quot;http://www.w3.org/1998/Math/MathML&quot; display=&quot;block&quot; data-is-equatio=&quot;1&quot; data-latex=&quot;\begin{array}{l}\frac{12}{20}\ =\ \frac{3\times4}{5\times4}=\frac{3}{5}\\&amp;#13;&amp;#10;\frac{40}{50}=\frac{4\times10}{5\times10}=\frac{4}{5}\end{array}&quot;&gt;&lt;mtable columnalign=&quot;left&quot; columnspacing=&quot;1em&quot; rowspacing=&quot;4pt&quot;&gt;&lt;mtr&gt;&lt;mtd&gt;&lt;mfrac&gt;&lt;mn&gt;12&lt;/mn&gt;&lt;mn&gt;20&lt;/mn&gt;&lt;/mfrac&gt;&lt;mtext&gt;&lt;/mtext&gt;&lt;mo&gt;=&lt;/mo&gt;&lt;mtext&gt;&lt;/mtext&gt;&lt;mfrac&gt;&lt;mrow&gt;&lt;mn&gt;3&lt;/mn&gt;&lt;mo&gt;×&lt;/mo&gt;&lt;mn&gt;4&lt;/mn&gt;&lt;/mrow&gt;&lt;mrow&gt;&lt;mn&gt;5&lt;/mn&gt;&lt;mo&gt;×&lt;/mo&gt;&lt;mn&gt;4&lt;/mn&gt;&lt;/mrow&gt;&lt;/mfrac&gt;&lt;mo&gt;=&lt;/mo&gt;&lt;mfrac&gt;&lt;mn&gt;3&lt;/mn&gt;&lt;mn&gt;5&lt;/mn&gt;&lt;/mfrac&gt;&lt;/mtd&gt;&lt;/mtr&gt;&lt;mtr&gt;&lt;mtd&gt;&lt;mfrac&gt;&lt;mn&gt;40&lt;/mn&gt;&lt;mn&gt;50&lt;/mn&gt;&lt;/mfrac&gt;&lt;mo&gt;=&lt;/mo&gt;&lt;mfrac&gt;&lt;mrow&gt;&lt;mn&gt;4&lt;/mn&gt;&lt;mo&gt;×&lt;/mo&gt;&lt;mn&gt;10&lt;/mn&gt;&lt;/mrow&gt;&lt;mrow&gt;&lt;mn&gt;5&lt;/mn&gt;&lt;mo&gt;×&lt;/mo&gt;&lt;mn&gt;10&lt;/mn&gt;&lt;/mrow&gt;&lt;/mfrac&gt;&lt;mo&gt;=&lt;/mo&gt;&lt;mfrac&gt;&lt;mn&gt;4&lt;/mn&gt;&lt;mn&gt;5&lt;/mn&gt;&lt;/mfrac&gt;&lt;/mtd&gt;&lt;/mtr&gt;&lt;/mtable&gt;&lt;/math&gt;" id="996" name="Google Shape;996;p83" title="2 lines Line 1: 12 over 20 equals the fraction with numerator 3 times 4 and denominator 5 times 4 equals three fifths Line 2: 40 over 50 equals the fraction with numerator 4 times 10 and denominator 5 times 10 equals four fifths"/>
          <p:cNvSpPr txBox="1"/>
          <p:nvPr>
            <p:ph idx="4294967295" type="body"/>
          </p:nvPr>
        </p:nvSpPr>
        <p:spPr>
          <a:xfrm>
            <a:off x="324000" y="759300"/>
            <a:ext cx="8237700" cy="42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By </a:t>
            </a:r>
            <a:r>
              <a:rPr lang="en-GB"/>
              <a:t>subdividing</a:t>
            </a:r>
            <a:r>
              <a:rPr lang="en-GB"/>
              <a:t> the bar models, work out what £3 is as a proportion of the whole amount.</a:t>
            </a:r>
            <a:endParaRPr/>
          </a:p>
          <a:p>
            <a:pPr indent="0" lvl="0" marL="0" rtl="0" algn="l">
              <a:spcBef>
                <a:spcPts val="1000"/>
              </a:spcBef>
              <a:spcAft>
                <a:spcPts val="0"/>
              </a:spcAft>
              <a:buNone/>
            </a:pPr>
            <a:r>
              <a:t/>
            </a:r>
            <a:endParaRPr sz="100"/>
          </a:p>
          <a:p>
            <a:pPr indent="0" lvl="0" marL="0" rtl="0" algn="l">
              <a:spcBef>
                <a:spcPts val="1000"/>
              </a:spcBef>
              <a:spcAft>
                <a:spcPts val="0"/>
              </a:spcAft>
              <a:buClr>
                <a:schemeClr val="dk1"/>
              </a:buClr>
              <a:buSzPts val="1100"/>
              <a:buFont typeface="Arial"/>
              <a:buNone/>
            </a:pPr>
            <a:r>
              <a:rPr lang="en-GB"/>
              <a:t>a) </a:t>
            </a:r>
            <a:endParaRPr/>
          </a:p>
          <a:p>
            <a:pPr indent="0" lvl="0" marL="0" rtl="0" algn="l">
              <a:spcBef>
                <a:spcPts val="1000"/>
              </a:spcBef>
              <a:spcAft>
                <a:spcPts val="0"/>
              </a:spcAft>
              <a:buClr>
                <a:schemeClr val="dk1"/>
              </a:buClr>
              <a:buSzPts val="1100"/>
              <a:buFont typeface="Arial"/>
              <a:buNone/>
            </a:pPr>
            <a:r>
              <a:t/>
            </a:r>
            <a:endParaRPr sz="900"/>
          </a:p>
          <a:p>
            <a:pPr indent="0" lvl="0" marL="0" rtl="0" algn="l">
              <a:spcBef>
                <a:spcPts val="1000"/>
              </a:spcBef>
              <a:spcAft>
                <a:spcPts val="0"/>
              </a:spcAft>
              <a:buClr>
                <a:schemeClr val="dk1"/>
              </a:buClr>
              <a:buSzPts val="1100"/>
              <a:buFont typeface="Arial"/>
              <a:buNone/>
            </a:pPr>
            <a:r>
              <a:rPr lang="en-GB"/>
              <a:t>b)</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Clr>
                <a:schemeClr val="dk1"/>
              </a:buClr>
              <a:buSzPts val="1100"/>
              <a:buFont typeface="Arial"/>
              <a:buNone/>
            </a:pPr>
            <a:r>
              <a:rPr lang="en-GB"/>
              <a:t>c)</a:t>
            </a:r>
            <a:endParaRPr/>
          </a:p>
        </p:txBody>
      </p:sp>
      <p:sp>
        <p:nvSpPr>
          <p:cNvPr id="997" name="Google Shape;997;p8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using proportion</a:t>
            </a:r>
            <a:endParaRPr/>
          </a:p>
          <a:p>
            <a:pPr indent="0" lvl="0" marL="0" rtl="0" algn="l">
              <a:spcBef>
                <a:spcPts val="1000"/>
              </a:spcBef>
              <a:spcAft>
                <a:spcPts val="1000"/>
              </a:spcAft>
              <a:buNone/>
            </a:pPr>
            <a:r>
              <a:t/>
            </a:r>
            <a:endParaRPr/>
          </a:p>
        </p:txBody>
      </p:sp>
      <p:graphicFrame>
        <p:nvGraphicFramePr>
          <p:cNvPr id="998" name="Google Shape;998;p83"/>
          <p:cNvGraphicFramePr/>
          <p:nvPr/>
        </p:nvGraphicFramePr>
        <p:xfrm>
          <a:off x="862500" y="2045700"/>
          <a:ext cx="3000000" cy="3000000"/>
        </p:xfrm>
        <a:graphic>
          <a:graphicData uri="http://schemas.openxmlformats.org/drawingml/2006/table">
            <a:tbl>
              <a:tblPr>
                <a:noFill/>
                <a:tableStyleId>{D52034BA-B2A8-49EF-A613-FFD26C1E2B7E}</a:tableStyleId>
              </a:tblPr>
              <a:tblGrid>
                <a:gridCol w="4486500"/>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999" name="Google Shape;999;p83"/>
          <p:cNvSpPr/>
          <p:nvPr/>
        </p:nvSpPr>
        <p:spPr>
          <a:xfrm rot="-5400000">
            <a:off x="2972100" y="-384475"/>
            <a:ext cx="254400" cy="4511400"/>
          </a:xfrm>
          <a:prstGeom prst="rightBrace">
            <a:avLst>
              <a:gd fmla="val 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0" name="Google Shape;1000;p83"/>
          <p:cNvSpPr txBox="1"/>
          <p:nvPr/>
        </p:nvSpPr>
        <p:spPr>
          <a:xfrm>
            <a:off x="2737499" y="1388400"/>
            <a:ext cx="1068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£30</a:t>
            </a:r>
            <a:endParaRPr sz="1000">
              <a:latin typeface="Lexend"/>
              <a:ea typeface="Lexend"/>
              <a:cs typeface="Lexend"/>
              <a:sym typeface="Lexend"/>
            </a:endParaRPr>
          </a:p>
        </p:txBody>
      </p:sp>
      <p:graphicFrame>
        <p:nvGraphicFramePr>
          <p:cNvPr id="1001" name="Google Shape;1001;p83"/>
          <p:cNvGraphicFramePr/>
          <p:nvPr/>
        </p:nvGraphicFramePr>
        <p:xfrm>
          <a:off x="862500" y="3112500"/>
          <a:ext cx="3000000" cy="3000000"/>
        </p:xfrm>
        <a:graphic>
          <a:graphicData uri="http://schemas.openxmlformats.org/drawingml/2006/table">
            <a:tbl>
              <a:tblPr>
                <a:noFill/>
                <a:tableStyleId>{D52034BA-B2A8-49EF-A613-FFD26C1E2B7E}</a:tableStyleId>
              </a:tblPr>
              <a:tblGrid>
                <a:gridCol w="4486500"/>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002" name="Google Shape;1002;p83"/>
          <p:cNvSpPr/>
          <p:nvPr/>
        </p:nvSpPr>
        <p:spPr>
          <a:xfrm rot="-5400000">
            <a:off x="2972100" y="652325"/>
            <a:ext cx="254400" cy="4511400"/>
          </a:xfrm>
          <a:prstGeom prst="rightBrace">
            <a:avLst>
              <a:gd fmla="val 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3" name="Google Shape;1003;p83"/>
          <p:cNvSpPr txBox="1"/>
          <p:nvPr/>
        </p:nvSpPr>
        <p:spPr>
          <a:xfrm>
            <a:off x="2737499" y="2425200"/>
            <a:ext cx="1068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£12</a:t>
            </a:r>
            <a:endParaRPr sz="1000">
              <a:latin typeface="Lexend"/>
              <a:ea typeface="Lexend"/>
              <a:cs typeface="Lexend"/>
              <a:sym typeface="Lexend"/>
            </a:endParaRPr>
          </a:p>
        </p:txBody>
      </p:sp>
      <p:graphicFrame>
        <p:nvGraphicFramePr>
          <p:cNvPr id="1004" name="Google Shape;1004;p83"/>
          <p:cNvGraphicFramePr/>
          <p:nvPr/>
        </p:nvGraphicFramePr>
        <p:xfrm>
          <a:off x="862500" y="4103100"/>
          <a:ext cx="3000000" cy="3000000"/>
        </p:xfrm>
        <a:graphic>
          <a:graphicData uri="http://schemas.openxmlformats.org/drawingml/2006/table">
            <a:tbl>
              <a:tblPr>
                <a:noFill/>
                <a:tableStyleId>{D52034BA-B2A8-49EF-A613-FFD26C1E2B7E}</a:tableStyleId>
              </a:tblPr>
              <a:tblGrid>
                <a:gridCol w="4486500"/>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005" name="Google Shape;1005;p83"/>
          <p:cNvSpPr/>
          <p:nvPr/>
        </p:nvSpPr>
        <p:spPr>
          <a:xfrm rot="-5400000">
            <a:off x="2972100" y="1672925"/>
            <a:ext cx="254400" cy="4511400"/>
          </a:xfrm>
          <a:prstGeom prst="rightBrace">
            <a:avLst>
              <a:gd fmla="val 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6" name="Google Shape;1006;p83"/>
          <p:cNvSpPr txBox="1"/>
          <p:nvPr/>
        </p:nvSpPr>
        <p:spPr>
          <a:xfrm>
            <a:off x="2737499" y="3445800"/>
            <a:ext cx="1068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£15</a:t>
            </a:r>
            <a:endParaRPr sz="1800">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descr="&lt;math xmlns=&quot;http://www.w3.org/1998/Math/MathML&quot; display=&quot;block&quot; data-is-equatio=&quot;1&quot; data-latex=&quot;\begin{array}{l}\frac{12}{20}\ =\ \frac{3\times4}{5\times4}=\frac{3}{5}\\&amp;#13;&amp;#10;\frac{40}{50}=\frac{4\times10}{5\times10}=\frac{4}{5}\end{array}&quot;&gt;&lt;mtable columnalign=&quot;left&quot; columnspacing=&quot;1em&quot; rowspacing=&quot;4pt&quot;&gt;&lt;mtr&gt;&lt;mtd&gt;&lt;mfrac&gt;&lt;mn&gt;12&lt;/mn&gt;&lt;mn&gt;20&lt;/mn&gt;&lt;/mfrac&gt;&lt;mtext&gt;&lt;/mtext&gt;&lt;mo&gt;=&lt;/mo&gt;&lt;mtext&gt;&lt;/mtext&gt;&lt;mfrac&gt;&lt;mrow&gt;&lt;mn&gt;3&lt;/mn&gt;&lt;mo&gt;×&lt;/mo&gt;&lt;mn&gt;4&lt;/mn&gt;&lt;/mrow&gt;&lt;mrow&gt;&lt;mn&gt;5&lt;/mn&gt;&lt;mo&gt;×&lt;/mo&gt;&lt;mn&gt;4&lt;/mn&gt;&lt;/mrow&gt;&lt;/mfrac&gt;&lt;mo&gt;=&lt;/mo&gt;&lt;mfrac&gt;&lt;mn&gt;3&lt;/mn&gt;&lt;mn&gt;5&lt;/mn&gt;&lt;/mfrac&gt;&lt;/mtd&gt;&lt;/mtr&gt;&lt;mtr&gt;&lt;mtd&gt;&lt;mfrac&gt;&lt;mn&gt;40&lt;/mn&gt;&lt;mn&gt;50&lt;/mn&gt;&lt;/mfrac&gt;&lt;mo&gt;=&lt;/mo&gt;&lt;mfrac&gt;&lt;mrow&gt;&lt;mn&gt;4&lt;/mn&gt;&lt;mo&gt;×&lt;/mo&gt;&lt;mn&gt;10&lt;/mn&gt;&lt;/mrow&gt;&lt;mrow&gt;&lt;mn&gt;5&lt;/mn&gt;&lt;mo&gt;×&lt;/mo&gt;&lt;mn&gt;10&lt;/mn&gt;&lt;/mrow&gt;&lt;/mfrac&gt;&lt;mo&gt;=&lt;/mo&gt;&lt;mfrac&gt;&lt;mn&gt;4&lt;/mn&gt;&lt;mn&gt;5&lt;/mn&gt;&lt;/mfrac&gt;&lt;/mtd&gt;&lt;/mtr&gt;&lt;/mtable&gt;&lt;/math&gt;" id="1011" name="Google Shape;1011;p84" title="2 lines Line 1: 12 over 20 equals the fraction with numerator 3 times 4 and denominator 5 times 4 equals three fifths Line 2: 40 over 50 equals the fraction with numerator 4 times 10 and denominator 5 times 10 equals four fifths"/>
          <p:cNvSpPr txBox="1"/>
          <p:nvPr>
            <p:ph idx="4294967295" type="body"/>
          </p:nvPr>
        </p:nvSpPr>
        <p:spPr>
          <a:xfrm>
            <a:off x="324000" y="759300"/>
            <a:ext cx="8237700" cy="42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a:t>
            </a:r>
            <a:r>
              <a:rPr lang="en-GB"/>
              <a:t>) By simplifying fractions, work out:</a:t>
            </a:r>
            <a:endParaRPr/>
          </a:p>
          <a:p>
            <a:pPr indent="0" lvl="0" marL="0" rtl="0" algn="l">
              <a:spcBef>
                <a:spcPts val="1000"/>
              </a:spcBef>
              <a:spcAft>
                <a:spcPts val="0"/>
              </a:spcAft>
              <a:buClr>
                <a:schemeClr val="dk1"/>
              </a:buClr>
              <a:buSzPts val="1100"/>
              <a:buFont typeface="Arial"/>
              <a:buNone/>
            </a:pPr>
            <a:r>
              <a:rPr lang="en-GB"/>
              <a:t>a) what proportion £12 is out of £40?</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n-GB"/>
              <a:t>b) what proportion £12 is out of £15?</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Clr>
                <a:schemeClr val="dk1"/>
              </a:buClr>
              <a:buSzPts val="1100"/>
              <a:buFont typeface="Arial"/>
              <a:buNone/>
            </a:pPr>
            <a:r>
              <a:rPr lang="en-GB"/>
              <a:t>c) what proportion £12 is out of £12?</a:t>
            </a:r>
            <a:endParaRPr/>
          </a:p>
        </p:txBody>
      </p:sp>
      <p:sp>
        <p:nvSpPr>
          <p:cNvPr id="1012" name="Google Shape;1012;p8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using proportion</a:t>
            </a:r>
            <a:endParaRPr/>
          </a:p>
          <a:p>
            <a:pPr indent="0" lvl="0" marL="0" rtl="0" algn="l">
              <a:spcBef>
                <a:spcPts val="1000"/>
              </a:spcBef>
              <a:spcAft>
                <a:spcPts val="10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descr="&lt;math xmlns=&quot;http://www.w3.org/1998/Math/MathML&quot; display=&quot;block&quot; data-is-equatio=&quot;1&quot; data-latex=&quot;\begin{array}{l}\frac{12}{20}\ =\ \frac{3\times4}{5\times4}=\frac{3}{5}\\&amp;#13;&amp;#10;\frac{40}{50}=\frac{4\times10}{5\times10}=\frac{4}{5}\end{array}&quot;&gt;&lt;mtable columnalign=&quot;left&quot; columnspacing=&quot;1em&quot; rowspacing=&quot;4pt&quot;&gt;&lt;mtr&gt;&lt;mtd&gt;&lt;mfrac&gt;&lt;mn&gt;12&lt;/mn&gt;&lt;mn&gt;20&lt;/mn&gt;&lt;/mfrac&gt;&lt;mtext&gt;&lt;/mtext&gt;&lt;mo&gt;=&lt;/mo&gt;&lt;mtext&gt;&lt;/mtext&gt;&lt;mfrac&gt;&lt;mrow&gt;&lt;mn&gt;3&lt;/mn&gt;&lt;mo&gt;×&lt;/mo&gt;&lt;mn&gt;4&lt;/mn&gt;&lt;/mrow&gt;&lt;mrow&gt;&lt;mn&gt;5&lt;/mn&gt;&lt;mo&gt;×&lt;/mo&gt;&lt;mn&gt;4&lt;/mn&gt;&lt;/mrow&gt;&lt;/mfrac&gt;&lt;mo&gt;=&lt;/mo&gt;&lt;mfrac&gt;&lt;mn&gt;3&lt;/mn&gt;&lt;mn&gt;5&lt;/mn&gt;&lt;/mfrac&gt;&lt;/mtd&gt;&lt;/mtr&gt;&lt;mtr&gt;&lt;mtd&gt;&lt;mfrac&gt;&lt;mn&gt;40&lt;/mn&gt;&lt;mn&gt;50&lt;/mn&gt;&lt;/mfrac&gt;&lt;mo&gt;=&lt;/mo&gt;&lt;mfrac&gt;&lt;mrow&gt;&lt;mn&gt;4&lt;/mn&gt;&lt;mo&gt;×&lt;/mo&gt;&lt;mn&gt;10&lt;/mn&gt;&lt;/mrow&gt;&lt;mrow&gt;&lt;mn&gt;5&lt;/mn&gt;&lt;mo&gt;×&lt;/mo&gt;&lt;mn&gt;10&lt;/mn&gt;&lt;/mrow&gt;&lt;/mfrac&gt;&lt;mo&gt;=&lt;/mo&gt;&lt;mfrac&gt;&lt;mn&gt;4&lt;/mn&gt;&lt;mn&gt;5&lt;/mn&gt;&lt;/mfrac&gt;&lt;/mtd&gt;&lt;/mtr&gt;&lt;/mtable&gt;&lt;/math&gt;" id="1017" name="Google Shape;1017;p85" title="2 lines Line 1: 12 over 20 equals the fraction with numerator 3 times 4 and denominator 5 times 4 equals three fifths Line 2: 40 over 50 equals the fraction with numerator 4 times 10 and denominator 5 times 10 equals four fifths"/>
          <p:cNvSpPr txBox="1"/>
          <p:nvPr>
            <p:ph idx="4294967295"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3</a:t>
            </a:r>
            <a:r>
              <a:rPr lang="en-GB"/>
              <a:t>) Test A is out of 20. Laura gets 12 out of 20 correct.</a:t>
            </a:r>
            <a:endParaRPr/>
          </a:p>
          <a:p>
            <a:pPr indent="0" lvl="0" marL="0" rtl="0" algn="l">
              <a:spcBef>
                <a:spcPts val="1000"/>
              </a:spcBef>
              <a:spcAft>
                <a:spcPts val="0"/>
              </a:spcAft>
              <a:buNone/>
            </a:pPr>
            <a:r>
              <a:rPr lang="en-GB"/>
              <a:t>Test B is out of 50. Sofia gets 40 out of 50.</a:t>
            </a:r>
            <a:endParaRPr/>
          </a:p>
          <a:p>
            <a:pPr indent="0" lvl="0" marL="0" rtl="0" algn="l">
              <a:spcBef>
                <a:spcPts val="1000"/>
              </a:spcBef>
              <a:spcAft>
                <a:spcPts val="1000"/>
              </a:spcAft>
              <a:buNone/>
            </a:pPr>
            <a:r>
              <a:rPr lang="en-GB"/>
              <a:t>Who got a higher proportion of answers correct?</a:t>
            </a:r>
            <a:endParaRPr/>
          </a:p>
        </p:txBody>
      </p:sp>
      <p:sp>
        <p:nvSpPr>
          <p:cNvPr id="1018" name="Google Shape;1018;p8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using proportion</a:t>
            </a:r>
            <a:endParaRPr/>
          </a:p>
          <a:p>
            <a:pPr indent="0" lvl="0" marL="0" rtl="0" algn="l">
              <a:spcBef>
                <a:spcPts val="1000"/>
              </a:spcBef>
              <a:spcAft>
                <a:spcPts val="10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descr="&lt;math xmlns=&quot;http://www.w3.org/1998/Math/MathML&quot; display=&quot;block&quot; data-is-equatio=&quot;1&quot; data-latex=&quot;\begin{array}{l}\frac{12}{20}\ =\ \frac{3\times4}{5\times4}=\frac{3}{5}\\&amp;#13;&amp;#10;\frac{40}{50}=\frac{4\times10}{5\times10}=\frac{4}{5}\end{array}&quot;&gt;&lt;mtable columnalign=&quot;left&quot; columnspacing=&quot;1em&quot; rowspacing=&quot;4pt&quot;&gt;&lt;mtr&gt;&lt;mtd&gt;&lt;mfrac&gt;&lt;mn&gt;12&lt;/mn&gt;&lt;mn&gt;20&lt;/mn&gt;&lt;/mfrac&gt;&lt;mtext&gt;&lt;/mtext&gt;&lt;mo&gt;=&lt;/mo&gt;&lt;mtext&gt;&lt;/mtext&gt;&lt;mfrac&gt;&lt;mrow&gt;&lt;mn&gt;3&lt;/mn&gt;&lt;mo&gt;×&lt;/mo&gt;&lt;mn&gt;4&lt;/mn&gt;&lt;/mrow&gt;&lt;mrow&gt;&lt;mn&gt;5&lt;/mn&gt;&lt;mo&gt;×&lt;/mo&gt;&lt;mn&gt;4&lt;/mn&gt;&lt;/mrow&gt;&lt;/mfrac&gt;&lt;mo&gt;=&lt;/mo&gt;&lt;mfrac&gt;&lt;mn&gt;3&lt;/mn&gt;&lt;mn&gt;5&lt;/mn&gt;&lt;/mfrac&gt;&lt;/mtd&gt;&lt;/mtr&gt;&lt;mtr&gt;&lt;mtd&gt;&lt;mfrac&gt;&lt;mn&gt;40&lt;/mn&gt;&lt;mn&gt;50&lt;/mn&gt;&lt;/mfrac&gt;&lt;mo&gt;=&lt;/mo&gt;&lt;mfrac&gt;&lt;mrow&gt;&lt;mn&gt;4&lt;/mn&gt;&lt;mo&gt;×&lt;/mo&gt;&lt;mn&gt;10&lt;/mn&gt;&lt;/mrow&gt;&lt;mrow&gt;&lt;mn&gt;5&lt;/mn&gt;&lt;mo&gt;×&lt;/mo&gt;&lt;mn&gt;10&lt;/mn&gt;&lt;/mrow&gt;&lt;/mfrac&gt;&lt;mo&gt;=&lt;/mo&gt;&lt;mfrac&gt;&lt;mn&gt;4&lt;/mn&gt;&lt;mn&gt;5&lt;/mn&gt;&lt;/mfrac&gt;&lt;/mtd&gt;&lt;/mtr&gt;&lt;/mtable&gt;&lt;/math&gt;" id="1023" name="Google Shape;1023;p86" title="2 lines Line 1: 12 over 20 equals the fraction with numerator 3 times 4 and denominator 5 times 4 equals three fifths Line 2: 40 over 50 equals the fraction with numerator 4 times 10 and denominator 5 times 10 equals four fifths"/>
          <p:cNvSpPr txBox="1"/>
          <p:nvPr>
            <p:ph idx="4294967295" type="body"/>
          </p:nvPr>
        </p:nvSpPr>
        <p:spPr>
          <a:xfrm>
            <a:off x="324000" y="759300"/>
            <a:ext cx="8237700" cy="45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4) Here is a table showing pay increases in allowances.</a:t>
            </a:r>
            <a:endParaRPr/>
          </a:p>
          <a:p>
            <a:pPr indent="0" lvl="0" marL="0" rtl="0" algn="l">
              <a:spcBef>
                <a:spcPts val="1000"/>
              </a:spcBef>
              <a:spcAft>
                <a:spcPts val="1000"/>
              </a:spcAft>
              <a:buNone/>
            </a:pPr>
            <a:r>
              <a:rPr lang="en-GB"/>
              <a:t>Which </a:t>
            </a:r>
            <a:r>
              <a:rPr lang="en-GB"/>
              <a:t>pupil</a:t>
            </a:r>
            <a:r>
              <a:rPr lang="en-GB"/>
              <a:t> got the best allowance increase and why?</a:t>
            </a:r>
            <a:endParaRPr/>
          </a:p>
        </p:txBody>
      </p:sp>
      <p:sp>
        <p:nvSpPr>
          <p:cNvPr id="1024" name="Google Shape;1024;p8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using proportion</a:t>
            </a:r>
            <a:endParaRPr/>
          </a:p>
          <a:p>
            <a:pPr indent="0" lvl="0" marL="0" rtl="0" algn="l">
              <a:spcBef>
                <a:spcPts val="1000"/>
              </a:spcBef>
              <a:spcAft>
                <a:spcPts val="1000"/>
              </a:spcAft>
              <a:buNone/>
            </a:pPr>
            <a:r>
              <a:t/>
            </a:r>
            <a:endParaRPr/>
          </a:p>
        </p:txBody>
      </p:sp>
      <p:graphicFrame>
        <p:nvGraphicFramePr>
          <p:cNvPr id="1025" name="Google Shape;1025;p86"/>
          <p:cNvGraphicFramePr/>
          <p:nvPr/>
        </p:nvGraphicFramePr>
        <p:xfrm>
          <a:off x="412525" y="1809750"/>
          <a:ext cx="3000000" cy="3000000"/>
        </p:xfrm>
        <a:graphic>
          <a:graphicData uri="http://schemas.openxmlformats.org/drawingml/2006/table">
            <a:tbl>
              <a:tblPr>
                <a:noFill/>
                <a:tableStyleId>{D52034BA-B2A8-49EF-A613-FFD26C1E2B7E}</a:tableStyleId>
              </a:tblPr>
              <a:tblGrid>
                <a:gridCol w="1817825"/>
                <a:gridCol w="2866675"/>
                <a:gridCol w="1605375"/>
              </a:tblGrid>
              <a:tr h="381000">
                <a:tc>
                  <a:txBody>
                    <a:bodyPr/>
                    <a:lstStyle/>
                    <a:p>
                      <a:pPr indent="0" lvl="0" marL="0" rtl="0" algn="l">
                        <a:spcBef>
                          <a:spcPts val="0"/>
                        </a:spcBef>
                        <a:spcAft>
                          <a:spcPts val="0"/>
                        </a:spcAft>
                        <a:buNone/>
                      </a:pPr>
                      <a:r>
                        <a:rPr lang="en-GB" sz="2000">
                          <a:solidFill>
                            <a:schemeClr val="lt1"/>
                          </a:solidFill>
                          <a:latin typeface="Lexend"/>
                          <a:ea typeface="Lexend"/>
                          <a:cs typeface="Lexend"/>
                          <a:sym typeface="Lexend"/>
                        </a:rPr>
                        <a:t>P</a:t>
                      </a:r>
                      <a:r>
                        <a:rPr lang="en-GB" sz="2000">
                          <a:solidFill>
                            <a:schemeClr val="lt1"/>
                          </a:solidFill>
                          <a:latin typeface="Lexend"/>
                          <a:ea typeface="Lexend"/>
                          <a:cs typeface="Lexend"/>
                          <a:sym typeface="Lexend"/>
                        </a:rPr>
                        <a:t>upil</a:t>
                      </a:r>
                      <a:endParaRPr sz="20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2000">
                          <a:solidFill>
                            <a:schemeClr val="lt1"/>
                          </a:solidFill>
                          <a:latin typeface="Lexend"/>
                          <a:ea typeface="Lexend"/>
                          <a:cs typeface="Lexend"/>
                          <a:sym typeface="Lexend"/>
                        </a:rPr>
                        <a:t>Normal allowance per month</a:t>
                      </a:r>
                      <a:endParaRPr sz="20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2000">
                          <a:solidFill>
                            <a:schemeClr val="lt1"/>
                          </a:solidFill>
                          <a:latin typeface="Lexend"/>
                          <a:ea typeface="Lexend"/>
                          <a:cs typeface="Lexend"/>
                          <a:sym typeface="Lexend"/>
                        </a:rPr>
                        <a:t>Increase</a:t>
                      </a:r>
                      <a:endParaRPr sz="20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381000">
                <a:tc>
                  <a:txBody>
                    <a:bodyPr/>
                    <a:lstStyle/>
                    <a:p>
                      <a:pPr indent="0" lvl="0" marL="0" rtl="0" algn="l">
                        <a:spcBef>
                          <a:spcPts val="0"/>
                        </a:spcBef>
                        <a:spcAft>
                          <a:spcPts val="0"/>
                        </a:spcAft>
                        <a:buNone/>
                      </a:pPr>
                      <a:r>
                        <a:rPr lang="en-GB" sz="2000">
                          <a:latin typeface="Lexend"/>
                          <a:ea typeface="Lexend"/>
                          <a:cs typeface="Lexend"/>
                          <a:sym typeface="Lexend"/>
                        </a:rPr>
                        <a:t>Aisha</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£15</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£6</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2000">
                          <a:latin typeface="Lexend"/>
                          <a:ea typeface="Lexend"/>
                          <a:cs typeface="Lexend"/>
                          <a:sym typeface="Lexend"/>
                        </a:rPr>
                        <a:t>Andeep</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£10</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£2.50</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2000">
                          <a:latin typeface="Lexend"/>
                          <a:ea typeface="Lexend"/>
                          <a:cs typeface="Lexend"/>
                          <a:sym typeface="Lexend"/>
                        </a:rPr>
                        <a:t>Izzy</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£12</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£4</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2000">
                          <a:latin typeface="Lexend"/>
                          <a:ea typeface="Lexend"/>
                          <a:cs typeface="Lexend"/>
                          <a:sym typeface="Lexend"/>
                        </a:rPr>
                        <a:t>Jacob</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£30</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£6</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descr="&lt;math xmlns=&quot;http://www.w3.org/1998/Math/MathML&quot; display=&quot;block&quot; data-is-equatio=&quot;1&quot; data-latex=&quot;\begin{array}{l}\frac{12}{20}\ =\ \frac{3\times4}{5\times4}=\frac{3}{5}\\&amp;#13;&amp;#10;\frac{40}{50}=\frac{4\times10}{5\times10}=\frac{4}{5}\end{array}&quot;&gt;&lt;mtable columnalign=&quot;left&quot; columnspacing=&quot;1em&quot; rowspacing=&quot;4pt&quot;&gt;&lt;mtr&gt;&lt;mtd&gt;&lt;mfrac&gt;&lt;mn&gt;12&lt;/mn&gt;&lt;mn&gt;20&lt;/mn&gt;&lt;/mfrac&gt;&lt;mtext&gt;&lt;/mtext&gt;&lt;mo&gt;=&lt;/mo&gt;&lt;mtext&gt;&lt;/mtext&gt;&lt;mfrac&gt;&lt;mrow&gt;&lt;mn&gt;3&lt;/mn&gt;&lt;mo&gt;×&lt;/mo&gt;&lt;mn&gt;4&lt;/mn&gt;&lt;/mrow&gt;&lt;mrow&gt;&lt;mn&gt;5&lt;/mn&gt;&lt;mo&gt;×&lt;/mo&gt;&lt;mn&gt;4&lt;/mn&gt;&lt;/mrow&gt;&lt;/mfrac&gt;&lt;mo&gt;=&lt;/mo&gt;&lt;mfrac&gt;&lt;mn&gt;3&lt;/mn&gt;&lt;mn&gt;5&lt;/mn&gt;&lt;/mfrac&gt;&lt;/mtd&gt;&lt;/mtr&gt;&lt;mtr&gt;&lt;mtd&gt;&lt;mfrac&gt;&lt;mn&gt;40&lt;/mn&gt;&lt;mn&gt;50&lt;/mn&gt;&lt;/mfrac&gt;&lt;mo&gt;=&lt;/mo&gt;&lt;mfrac&gt;&lt;mrow&gt;&lt;mn&gt;4&lt;/mn&gt;&lt;mo&gt;×&lt;/mo&gt;&lt;mn&gt;10&lt;/mn&gt;&lt;/mrow&gt;&lt;mrow&gt;&lt;mn&gt;5&lt;/mn&gt;&lt;mo&gt;×&lt;/mo&gt;&lt;mn&gt;10&lt;/mn&gt;&lt;/mrow&gt;&lt;/mfrac&gt;&lt;mo&gt;=&lt;/mo&gt;&lt;mfrac&gt;&lt;mn&gt;4&lt;/mn&gt;&lt;mn&gt;5&lt;/mn&gt;&lt;/mfrac&gt;&lt;/mtd&gt;&lt;/mtr&gt;&lt;/mtable&gt;&lt;/math&gt;" id="1030" name="Google Shape;1030;p87" title="2 lines Line 1: 12 over 20 equals the fraction with numerator 3 times 4 and denominator 5 times 4 equals three fifths Line 2: 40 over 50 equals the fraction with numerator 4 times 10 and denominator 5 times 10 equals four fifths"/>
          <p:cNvSpPr txBox="1"/>
          <p:nvPr>
            <p:ph idx="4294967295" type="body"/>
          </p:nvPr>
        </p:nvSpPr>
        <p:spPr>
          <a:xfrm>
            <a:off x="324000" y="759300"/>
            <a:ext cx="8237700" cy="42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By subdividing the bar models, work out what £3 is as a proportion of the whole amount.</a:t>
            </a:r>
            <a:endParaRPr/>
          </a:p>
          <a:p>
            <a:pPr indent="0" lvl="0" marL="0" rtl="0" algn="l">
              <a:spcBef>
                <a:spcPts val="1000"/>
              </a:spcBef>
              <a:spcAft>
                <a:spcPts val="0"/>
              </a:spcAft>
              <a:buNone/>
            </a:pPr>
            <a:r>
              <a:t/>
            </a:r>
            <a:endParaRPr sz="100"/>
          </a:p>
          <a:p>
            <a:pPr indent="0" lvl="0" marL="0" rtl="0" algn="l">
              <a:spcBef>
                <a:spcPts val="1000"/>
              </a:spcBef>
              <a:spcAft>
                <a:spcPts val="0"/>
              </a:spcAft>
              <a:buNone/>
            </a:pPr>
            <a:r>
              <a:rPr lang="en-GB"/>
              <a:t>a) </a:t>
            </a:r>
            <a:endParaRPr/>
          </a:p>
          <a:p>
            <a:pPr indent="0" lvl="0" marL="0" rtl="0" algn="l">
              <a:spcBef>
                <a:spcPts val="1000"/>
              </a:spcBef>
              <a:spcAft>
                <a:spcPts val="0"/>
              </a:spcAft>
              <a:buNone/>
            </a:pPr>
            <a:r>
              <a:t/>
            </a:r>
            <a:endParaRPr sz="900"/>
          </a:p>
          <a:p>
            <a:pPr indent="0" lvl="0" marL="0" rtl="0" algn="l">
              <a:spcBef>
                <a:spcPts val="1000"/>
              </a:spcBef>
              <a:spcAft>
                <a:spcPts val="0"/>
              </a:spcAft>
              <a:buNone/>
            </a:pPr>
            <a:r>
              <a:rPr lang="en-GB"/>
              <a:t>b)</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c)</a:t>
            </a:r>
            <a:endParaRPr/>
          </a:p>
        </p:txBody>
      </p:sp>
      <p:sp>
        <p:nvSpPr>
          <p:cNvPr id="1031" name="Google Shape;1031;p8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using proportion</a:t>
            </a:r>
            <a:endParaRPr/>
          </a:p>
          <a:p>
            <a:pPr indent="0" lvl="0" marL="0" rtl="0" algn="l">
              <a:spcBef>
                <a:spcPts val="1000"/>
              </a:spcBef>
              <a:spcAft>
                <a:spcPts val="1000"/>
              </a:spcAft>
              <a:buNone/>
            </a:pPr>
            <a:r>
              <a:t/>
            </a:r>
            <a:endParaRPr/>
          </a:p>
        </p:txBody>
      </p:sp>
      <p:graphicFrame>
        <p:nvGraphicFramePr>
          <p:cNvPr id="1032" name="Google Shape;1032;p87"/>
          <p:cNvGraphicFramePr/>
          <p:nvPr/>
        </p:nvGraphicFramePr>
        <p:xfrm>
          <a:off x="862500" y="2015220"/>
          <a:ext cx="3000000" cy="3000000"/>
        </p:xfrm>
        <a:graphic>
          <a:graphicData uri="http://schemas.openxmlformats.org/drawingml/2006/table">
            <a:tbl>
              <a:tblPr>
                <a:noFill/>
                <a:tableStyleId>{D52034BA-B2A8-49EF-A613-FFD26C1E2B7E}</a:tableStyleId>
              </a:tblPr>
              <a:tblGrid>
                <a:gridCol w="448650"/>
                <a:gridCol w="448650"/>
                <a:gridCol w="448650"/>
                <a:gridCol w="448650"/>
                <a:gridCol w="448650"/>
                <a:gridCol w="448650"/>
                <a:gridCol w="448650"/>
                <a:gridCol w="448650"/>
                <a:gridCol w="448650"/>
                <a:gridCol w="448650"/>
              </a:tblGrid>
              <a:tr h="381000">
                <a:tc>
                  <a:txBody>
                    <a:bodyPr/>
                    <a:lstStyle/>
                    <a:p>
                      <a:pPr indent="0" lvl="0" marL="0" rtl="0" algn="l">
                        <a:spcBef>
                          <a:spcPts val="0"/>
                        </a:spcBef>
                        <a:spcAft>
                          <a:spcPts val="0"/>
                        </a:spcAft>
                        <a:buNone/>
                      </a:pPr>
                      <a:r>
                        <a:rPr lang="en-GB" sz="1700">
                          <a:latin typeface="Kalam"/>
                          <a:ea typeface="Kalam"/>
                          <a:cs typeface="Kalam"/>
                          <a:sym typeface="Kalam"/>
                        </a:rPr>
                        <a:t>£3</a:t>
                      </a:r>
                      <a:endParaRPr sz="17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1700">
                          <a:solidFill>
                            <a:schemeClr val="dk1"/>
                          </a:solidFill>
                          <a:latin typeface="Kalam"/>
                          <a:ea typeface="Kalam"/>
                          <a:cs typeface="Kalam"/>
                          <a:sym typeface="Kalam"/>
                        </a:rPr>
                        <a:t>£3</a:t>
                      </a:r>
                      <a:endParaRPr sz="17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1700">
                          <a:solidFill>
                            <a:schemeClr val="dk1"/>
                          </a:solidFill>
                          <a:latin typeface="Kalam"/>
                          <a:ea typeface="Kalam"/>
                          <a:cs typeface="Kalam"/>
                          <a:sym typeface="Kalam"/>
                        </a:rPr>
                        <a:t>£3</a:t>
                      </a:r>
                      <a:endParaRPr sz="17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1700">
                          <a:solidFill>
                            <a:schemeClr val="dk1"/>
                          </a:solidFill>
                          <a:latin typeface="Kalam"/>
                          <a:ea typeface="Kalam"/>
                          <a:cs typeface="Kalam"/>
                          <a:sym typeface="Kalam"/>
                        </a:rPr>
                        <a:t>£3</a:t>
                      </a:r>
                      <a:endParaRPr sz="17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1700">
                          <a:solidFill>
                            <a:schemeClr val="dk1"/>
                          </a:solidFill>
                          <a:latin typeface="Kalam"/>
                          <a:ea typeface="Kalam"/>
                          <a:cs typeface="Kalam"/>
                          <a:sym typeface="Kalam"/>
                        </a:rPr>
                        <a:t>£3</a:t>
                      </a:r>
                      <a:endParaRPr sz="17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1700">
                          <a:solidFill>
                            <a:schemeClr val="dk1"/>
                          </a:solidFill>
                          <a:latin typeface="Kalam"/>
                          <a:ea typeface="Kalam"/>
                          <a:cs typeface="Kalam"/>
                          <a:sym typeface="Kalam"/>
                        </a:rPr>
                        <a:t>£3</a:t>
                      </a:r>
                      <a:endParaRPr sz="17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1700">
                          <a:solidFill>
                            <a:schemeClr val="dk1"/>
                          </a:solidFill>
                          <a:latin typeface="Kalam"/>
                          <a:ea typeface="Kalam"/>
                          <a:cs typeface="Kalam"/>
                          <a:sym typeface="Kalam"/>
                        </a:rPr>
                        <a:t>£3</a:t>
                      </a:r>
                      <a:endParaRPr sz="17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1700">
                          <a:solidFill>
                            <a:schemeClr val="dk1"/>
                          </a:solidFill>
                          <a:latin typeface="Kalam"/>
                          <a:ea typeface="Kalam"/>
                          <a:cs typeface="Kalam"/>
                          <a:sym typeface="Kalam"/>
                        </a:rPr>
                        <a:t>£3</a:t>
                      </a:r>
                      <a:endParaRPr sz="17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1700">
                          <a:solidFill>
                            <a:schemeClr val="dk1"/>
                          </a:solidFill>
                          <a:latin typeface="Kalam"/>
                          <a:ea typeface="Kalam"/>
                          <a:cs typeface="Kalam"/>
                          <a:sym typeface="Kalam"/>
                        </a:rPr>
                        <a:t>£3</a:t>
                      </a:r>
                      <a:endParaRPr sz="17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1700">
                          <a:solidFill>
                            <a:schemeClr val="dk1"/>
                          </a:solidFill>
                          <a:latin typeface="Kalam"/>
                          <a:ea typeface="Kalam"/>
                          <a:cs typeface="Kalam"/>
                          <a:sym typeface="Kalam"/>
                        </a:rPr>
                        <a:t>£3</a:t>
                      </a:r>
                      <a:endParaRPr sz="17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033" name="Google Shape;1033;p87"/>
          <p:cNvSpPr/>
          <p:nvPr/>
        </p:nvSpPr>
        <p:spPr>
          <a:xfrm rot="-5400000">
            <a:off x="2972100" y="-384475"/>
            <a:ext cx="254400" cy="4511400"/>
          </a:xfrm>
          <a:prstGeom prst="rightBrace">
            <a:avLst>
              <a:gd fmla="val 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4" name="Google Shape;1034;p87"/>
          <p:cNvSpPr txBox="1"/>
          <p:nvPr/>
        </p:nvSpPr>
        <p:spPr>
          <a:xfrm>
            <a:off x="2737499" y="1388400"/>
            <a:ext cx="1068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£30</a:t>
            </a:r>
            <a:endParaRPr sz="1800">
              <a:latin typeface="Lexend"/>
              <a:ea typeface="Lexend"/>
              <a:cs typeface="Lexend"/>
              <a:sym typeface="Lexend"/>
            </a:endParaRPr>
          </a:p>
        </p:txBody>
      </p:sp>
      <p:graphicFrame>
        <p:nvGraphicFramePr>
          <p:cNvPr id="1035" name="Google Shape;1035;p87"/>
          <p:cNvGraphicFramePr/>
          <p:nvPr/>
        </p:nvGraphicFramePr>
        <p:xfrm>
          <a:off x="862500" y="3036300"/>
          <a:ext cx="3000000" cy="3000000"/>
        </p:xfrm>
        <a:graphic>
          <a:graphicData uri="http://schemas.openxmlformats.org/drawingml/2006/table">
            <a:tbl>
              <a:tblPr>
                <a:noFill/>
                <a:tableStyleId>{D52034BA-B2A8-49EF-A613-FFD26C1E2B7E}</a:tableStyleId>
              </a:tblPr>
              <a:tblGrid>
                <a:gridCol w="1121625"/>
                <a:gridCol w="1121625"/>
                <a:gridCol w="1121625"/>
                <a:gridCol w="1121625"/>
              </a:tblGrid>
              <a:tr h="381000">
                <a:tc>
                  <a:txBody>
                    <a:bodyPr/>
                    <a:lstStyle/>
                    <a:p>
                      <a:pPr indent="0" lvl="0" marL="0" rtl="0" algn="ctr">
                        <a:spcBef>
                          <a:spcPts val="0"/>
                        </a:spcBef>
                        <a:spcAft>
                          <a:spcPts val="0"/>
                        </a:spcAft>
                        <a:buNone/>
                      </a:pPr>
                      <a:r>
                        <a:rPr lang="en-GB" sz="1800">
                          <a:latin typeface="Kalam"/>
                          <a:ea typeface="Kalam"/>
                          <a:cs typeface="Kalam"/>
                          <a:sym typeface="Kalam"/>
                        </a:rPr>
                        <a:t>£3</a:t>
                      </a:r>
                      <a:endParaRPr sz="18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Kalam"/>
                          <a:ea typeface="Kalam"/>
                          <a:cs typeface="Kalam"/>
                          <a:sym typeface="Kalam"/>
                        </a:rPr>
                        <a:t>£3</a:t>
                      </a:r>
                      <a:endParaRPr sz="18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Kalam"/>
                          <a:ea typeface="Kalam"/>
                          <a:cs typeface="Kalam"/>
                          <a:sym typeface="Kalam"/>
                        </a:rPr>
                        <a:t>£3</a:t>
                      </a:r>
                      <a:endParaRPr sz="18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Kalam"/>
                          <a:ea typeface="Kalam"/>
                          <a:cs typeface="Kalam"/>
                          <a:sym typeface="Kalam"/>
                        </a:rPr>
                        <a:t>£3</a:t>
                      </a:r>
                      <a:endParaRPr sz="18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036" name="Google Shape;1036;p87"/>
          <p:cNvSpPr/>
          <p:nvPr/>
        </p:nvSpPr>
        <p:spPr>
          <a:xfrm rot="-5400000">
            <a:off x="2972100" y="652325"/>
            <a:ext cx="254400" cy="4511400"/>
          </a:xfrm>
          <a:prstGeom prst="rightBrace">
            <a:avLst>
              <a:gd fmla="val 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7" name="Google Shape;1037;p87"/>
          <p:cNvSpPr txBox="1"/>
          <p:nvPr/>
        </p:nvSpPr>
        <p:spPr>
          <a:xfrm>
            <a:off x="2737499" y="2425200"/>
            <a:ext cx="1068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£12</a:t>
            </a:r>
            <a:endParaRPr sz="1800">
              <a:latin typeface="Lexend"/>
              <a:ea typeface="Lexend"/>
              <a:cs typeface="Lexend"/>
              <a:sym typeface="Lexend"/>
            </a:endParaRPr>
          </a:p>
        </p:txBody>
      </p:sp>
      <p:graphicFrame>
        <p:nvGraphicFramePr>
          <p:cNvPr id="1038" name="Google Shape;1038;p87"/>
          <p:cNvGraphicFramePr/>
          <p:nvPr/>
        </p:nvGraphicFramePr>
        <p:xfrm>
          <a:off x="862500" y="4103100"/>
          <a:ext cx="3000000" cy="3000000"/>
        </p:xfrm>
        <a:graphic>
          <a:graphicData uri="http://schemas.openxmlformats.org/drawingml/2006/table">
            <a:tbl>
              <a:tblPr>
                <a:noFill/>
                <a:tableStyleId>{D52034BA-B2A8-49EF-A613-FFD26C1E2B7E}</a:tableStyleId>
              </a:tblPr>
              <a:tblGrid>
                <a:gridCol w="897300"/>
                <a:gridCol w="897300"/>
                <a:gridCol w="897300"/>
                <a:gridCol w="897300"/>
                <a:gridCol w="897300"/>
              </a:tblGrid>
              <a:tr h="381000">
                <a:tc>
                  <a:txBody>
                    <a:bodyPr/>
                    <a:lstStyle/>
                    <a:p>
                      <a:pPr indent="0" lvl="0" marL="0" rtl="0" algn="ctr">
                        <a:spcBef>
                          <a:spcPts val="0"/>
                        </a:spcBef>
                        <a:spcAft>
                          <a:spcPts val="0"/>
                        </a:spcAft>
                        <a:buNone/>
                      </a:pPr>
                      <a:r>
                        <a:rPr lang="en-GB" sz="1900">
                          <a:latin typeface="Kalam"/>
                          <a:ea typeface="Kalam"/>
                          <a:cs typeface="Kalam"/>
                          <a:sym typeface="Kalam"/>
                        </a:rPr>
                        <a:t>£3</a:t>
                      </a:r>
                      <a:endParaRPr sz="19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Kalam"/>
                          <a:ea typeface="Kalam"/>
                          <a:cs typeface="Kalam"/>
                          <a:sym typeface="Kalam"/>
                        </a:rPr>
                        <a:t>£3</a:t>
                      </a:r>
                      <a:endParaRPr sz="19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Kalam"/>
                          <a:ea typeface="Kalam"/>
                          <a:cs typeface="Kalam"/>
                          <a:sym typeface="Kalam"/>
                        </a:rPr>
                        <a:t>£3</a:t>
                      </a:r>
                      <a:endParaRPr sz="19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Kalam"/>
                          <a:ea typeface="Kalam"/>
                          <a:cs typeface="Kalam"/>
                          <a:sym typeface="Kalam"/>
                        </a:rPr>
                        <a:t>£3</a:t>
                      </a:r>
                      <a:endParaRPr sz="19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Kalam"/>
                          <a:ea typeface="Kalam"/>
                          <a:cs typeface="Kalam"/>
                          <a:sym typeface="Kalam"/>
                        </a:rPr>
                        <a:t>£3</a:t>
                      </a:r>
                      <a:endParaRPr sz="1900">
                        <a:latin typeface="Kalam"/>
                        <a:ea typeface="Kalam"/>
                        <a:cs typeface="Kalam"/>
                        <a:sym typeface="Kalam"/>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039" name="Google Shape;1039;p87"/>
          <p:cNvSpPr/>
          <p:nvPr/>
        </p:nvSpPr>
        <p:spPr>
          <a:xfrm rot="-5400000">
            <a:off x="2972100" y="1672925"/>
            <a:ext cx="254400" cy="4511400"/>
          </a:xfrm>
          <a:prstGeom prst="rightBrace">
            <a:avLst>
              <a:gd fmla="val 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0" name="Google Shape;1040;p87"/>
          <p:cNvSpPr txBox="1"/>
          <p:nvPr/>
        </p:nvSpPr>
        <p:spPr>
          <a:xfrm>
            <a:off x="2737499" y="3445800"/>
            <a:ext cx="1068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£15</a:t>
            </a:r>
            <a:endParaRPr sz="1800">
              <a:latin typeface="Lexend"/>
              <a:ea typeface="Lexend"/>
              <a:cs typeface="Lexend"/>
              <a:sym typeface="Lexend"/>
            </a:endParaRPr>
          </a:p>
        </p:txBody>
      </p:sp>
      <p:sp>
        <p:nvSpPr>
          <p:cNvPr id="1041" name="Google Shape;1041;p87"/>
          <p:cNvSpPr txBox="1"/>
          <p:nvPr/>
        </p:nvSpPr>
        <p:spPr>
          <a:xfrm>
            <a:off x="5722600" y="1836150"/>
            <a:ext cx="2419500" cy="6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£3 is      of £30</a:t>
            </a:r>
            <a:endParaRPr sz="2200">
              <a:solidFill>
                <a:schemeClr val="dk1"/>
              </a:solidFill>
              <a:latin typeface="Kalam"/>
              <a:ea typeface="Kalam"/>
              <a:cs typeface="Kalam"/>
              <a:sym typeface="Kalam"/>
            </a:endParaRPr>
          </a:p>
        </p:txBody>
      </p:sp>
      <p:sp>
        <p:nvSpPr>
          <p:cNvPr id="1042" name="Google Shape;1042;p87"/>
          <p:cNvSpPr txBox="1"/>
          <p:nvPr/>
        </p:nvSpPr>
        <p:spPr>
          <a:xfrm>
            <a:off x="5798800" y="4045950"/>
            <a:ext cx="2278500" cy="6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£3 is      of £15</a:t>
            </a:r>
            <a:endParaRPr sz="2200">
              <a:solidFill>
                <a:schemeClr val="dk1"/>
              </a:solidFill>
              <a:latin typeface="Kalam"/>
              <a:ea typeface="Kalam"/>
              <a:cs typeface="Kalam"/>
              <a:sym typeface="Kalam"/>
            </a:endParaRPr>
          </a:p>
        </p:txBody>
      </p:sp>
      <p:sp>
        <p:nvSpPr>
          <p:cNvPr id="1043" name="Google Shape;1043;p87"/>
          <p:cNvSpPr txBox="1"/>
          <p:nvPr/>
        </p:nvSpPr>
        <p:spPr>
          <a:xfrm>
            <a:off x="5722600" y="2979150"/>
            <a:ext cx="2278500" cy="6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£3 is      of £12</a:t>
            </a:r>
            <a:endParaRPr sz="22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1}{10}\ \ \ \frac{1}{4}\ \ \ \ \ \frac{1}{5}&quot;&gt;&lt;mfrac&gt;&lt;mn&gt;1&lt;/mn&gt;&lt;mn&gt;10&lt;/mn&gt;&lt;/mfrac&gt;&lt;mtext&gt;&lt;/mtext&gt;&lt;mtext&gt;&lt;/mtext&gt;&lt;mtext&gt;&lt;/mtext&gt;&lt;mfrac&gt;&lt;mn&gt;1&lt;/mn&gt;&lt;mn&gt;4&lt;/mn&gt;&lt;/mfrac&gt;&lt;mtext&gt;&lt;/mtext&gt;&lt;mtext&gt;&lt;/mtext&gt;&lt;mtext&gt;&lt;/mtext&gt;&lt;mtext&gt;&lt;/mtext&gt;&lt;mtext&gt;&lt;/mtext&gt;&lt;mfrac&gt;&lt;mn&gt;1&lt;/mn&gt;&lt;mn&gt;5&lt;/mn&gt;&lt;/mfrac&gt;&lt;/math&gt;" id="1044" name="Google Shape;1044;p87" title="one tenth one fourth one fifth"/>
          <p:cNvPicPr preferRelativeResize="0"/>
          <p:nvPr/>
        </p:nvPicPr>
        <p:blipFill rotWithShape="1">
          <a:blip r:embed="rId3">
            <a:alphaModFix/>
          </a:blip>
          <a:srcRect b="0" l="0" r="68533" t="0"/>
          <a:stretch/>
        </p:blipFill>
        <p:spPr>
          <a:xfrm>
            <a:off x="6551275" y="1820475"/>
            <a:ext cx="382925" cy="523200"/>
          </a:xfrm>
          <a:prstGeom prst="rect">
            <a:avLst/>
          </a:prstGeom>
          <a:noFill/>
          <a:ln>
            <a:noFill/>
          </a:ln>
        </p:spPr>
      </p:pic>
      <p:pic>
        <p:nvPicPr>
          <p:cNvPr descr="&lt;math xmlns=&quot;http://www.w3.org/1998/Math/MathML&quot; display=&quot;block&quot; data-is-equatio=&quot;1&quot; data-latex=&quot;\frac{1}{10}\ \ \ \frac{1}{4}\ \ \ \ \ \frac{1}{5}&quot;&gt;&lt;mfrac&gt;&lt;mn&gt;1&lt;/mn&gt;&lt;mn&gt;10&lt;/mn&gt;&lt;/mfrac&gt;&lt;mtext&gt;&lt;/mtext&gt;&lt;mtext&gt;&lt;/mtext&gt;&lt;mtext&gt;&lt;/mtext&gt;&lt;mfrac&gt;&lt;mn&gt;1&lt;/mn&gt;&lt;mn&gt;4&lt;/mn&gt;&lt;/mfrac&gt;&lt;mtext&gt;&lt;/mtext&gt;&lt;mtext&gt;&lt;/mtext&gt;&lt;mtext&gt;&lt;/mtext&gt;&lt;mtext&gt;&lt;/mtext&gt;&lt;mtext&gt;&lt;/mtext&gt;&lt;mfrac&gt;&lt;mn&gt;1&lt;/mn&gt;&lt;mn&gt;5&lt;/mn&gt;&lt;/mfrac&gt;&lt;/math&gt;" id="1045" name="Google Shape;1045;p87" title="one tenth one fourth one fifth"/>
          <p:cNvPicPr preferRelativeResize="0"/>
          <p:nvPr/>
        </p:nvPicPr>
        <p:blipFill rotWithShape="1">
          <a:blip r:embed="rId3">
            <a:alphaModFix/>
          </a:blip>
          <a:srcRect b="0" l="31309" r="37224" t="0"/>
          <a:stretch/>
        </p:blipFill>
        <p:spPr>
          <a:xfrm>
            <a:off x="6559850" y="3003300"/>
            <a:ext cx="382925" cy="523200"/>
          </a:xfrm>
          <a:prstGeom prst="rect">
            <a:avLst/>
          </a:prstGeom>
          <a:noFill/>
          <a:ln>
            <a:noFill/>
          </a:ln>
        </p:spPr>
      </p:pic>
      <p:pic>
        <p:nvPicPr>
          <p:cNvPr descr="&lt;math xmlns=&quot;http://www.w3.org/1998/Math/MathML&quot; display=&quot;block&quot; data-is-equatio=&quot;1&quot; data-latex=&quot;\frac{1}{10}\ \ \ \frac{1}{4}\ \ \ \ \ \frac{1}{5}&quot;&gt;&lt;mfrac&gt;&lt;mn&gt;1&lt;/mn&gt;&lt;mn&gt;10&lt;/mn&gt;&lt;/mfrac&gt;&lt;mtext&gt;&lt;/mtext&gt;&lt;mtext&gt;&lt;/mtext&gt;&lt;mtext&gt;&lt;/mtext&gt;&lt;mfrac&gt;&lt;mn&gt;1&lt;/mn&gt;&lt;mn&gt;4&lt;/mn&gt;&lt;/mfrac&gt;&lt;mtext&gt;&lt;/mtext&gt;&lt;mtext&gt;&lt;/mtext&gt;&lt;mtext&gt;&lt;/mtext&gt;&lt;mtext&gt;&lt;/mtext&gt;&lt;mtext&gt;&lt;/mtext&gt;&lt;mfrac&gt;&lt;mn&gt;1&lt;/mn&gt;&lt;mn&gt;5&lt;/mn&gt;&lt;/mfrac&gt;&lt;/math&gt;" id="1046" name="Google Shape;1046;p87" title="one tenth one fourth one fifth"/>
          <p:cNvPicPr preferRelativeResize="0"/>
          <p:nvPr/>
        </p:nvPicPr>
        <p:blipFill rotWithShape="1">
          <a:blip r:embed="rId3">
            <a:alphaModFix/>
          </a:blip>
          <a:srcRect b="0" l="77173" r="-5976" t="0"/>
          <a:stretch/>
        </p:blipFill>
        <p:spPr>
          <a:xfrm>
            <a:off x="6757088" y="4045950"/>
            <a:ext cx="350525" cy="52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descr="&lt;math xmlns=&quot;http://www.w3.org/1998/Math/MathML&quot; display=&quot;block&quot; data-is-equatio=&quot;1&quot; data-latex=&quot;\begin{array}{l}\frac{12}{20}\ =\ \frac{3\times4}{5\times4}=\frac{3}{5}\\&amp;#13;&amp;#10;\frac{40}{50}=\frac{4\times10}{5\times10}=\frac{4}{5}\end{array}&quot;&gt;&lt;mtable columnalign=&quot;left&quot; columnspacing=&quot;1em&quot; rowspacing=&quot;4pt&quot;&gt;&lt;mtr&gt;&lt;mtd&gt;&lt;mfrac&gt;&lt;mn&gt;12&lt;/mn&gt;&lt;mn&gt;20&lt;/mn&gt;&lt;/mfrac&gt;&lt;mtext&gt;&lt;/mtext&gt;&lt;mo&gt;=&lt;/mo&gt;&lt;mtext&gt;&lt;/mtext&gt;&lt;mfrac&gt;&lt;mrow&gt;&lt;mn&gt;3&lt;/mn&gt;&lt;mo&gt;×&lt;/mo&gt;&lt;mn&gt;4&lt;/mn&gt;&lt;/mrow&gt;&lt;mrow&gt;&lt;mn&gt;5&lt;/mn&gt;&lt;mo&gt;×&lt;/mo&gt;&lt;mn&gt;4&lt;/mn&gt;&lt;/mrow&gt;&lt;/mfrac&gt;&lt;mo&gt;=&lt;/mo&gt;&lt;mfrac&gt;&lt;mn&gt;3&lt;/mn&gt;&lt;mn&gt;5&lt;/mn&gt;&lt;/mfrac&gt;&lt;/mtd&gt;&lt;/mtr&gt;&lt;mtr&gt;&lt;mtd&gt;&lt;mfrac&gt;&lt;mn&gt;40&lt;/mn&gt;&lt;mn&gt;50&lt;/mn&gt;&lt;/mfrac&gt;&lt;mo&gt;=&lt;/mo&gt;&lt;mfrac&gt;&lt;mrow&gt;&lt;mn&gt;4&lt;/mn&gt;&lt;mo&gt;×&lt;/mo&gt;&lt;mn&gt;10&lt;/mn&gt;&lt;/mrow&gt;&lt;mrow&gt;&lt;mn&gt;5&lt;/mn&gt;&lt;mo&gt;×&lt;/mo&gt;&lt;mn&gt;10&lt;/mn&gt;&lt;/mrow&gt;&lt;/mfrac&gt;&lt;mo&gt;=&lt;/mo&gt;&lt;mfrac&gt;&lt;mn&gt;4&lt;/mn&gt;&lt;mn&gt;5&lt;/mn&gt;&lt;/mfrac&gt;&lt;/mtd&gt;&lt;/mtr&gt;&lt;/mtable&gt;&lt;/math&gt;" id="1051" name="Google Shape;1051;p88" title="2 lines Line 1: 12 over 20 equals the fraction with numerator 3 times 4 and denominator 5 times 4 equals three fifths Line 2: 40 over 50 equals the fraction with numerator 4 times 10 and denominator 5 times 10 equals four fifths"/>
          <p:cNvSpPr txBox="1"/>
          <p:nvPr>
            <p:ph idx="4294967295" type="body"/>
          </p:nvPr>
        </p:nvSpPr>
        <p:spPr>
          <a:xfrm>
            <a:off x="324000" y="759300"/>
            <a:ext cx="8237700" cy="42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By simplifying fractions, work out:</a:t>
            </a:r>
            <a:endParaRPr/>
          </a:p>
          <a:p>
            <a:pPr indent="0" lvl="0" marL="0" rtl="0" algn="l">
              <a:spcBef>
                <a:spcPts val="1000"/>
              </a:spcBef>
              <a:spcAft>
                <a:spcPts val="0"/>
              </a:spcAft>
              <a:buNone/>
            </a:pPr>
            <a:r>
              <a:rPr lang="en-GB"/>
              <a:t>a) what proportion £12 </a:t>
            </a:r>
            <a:r>
              <a:rPr lang="en-GB"/>
              <a:t>is </a:t>
            </a:r>
            <a:r>
              <a:rPr lang="en-GB"/>
              <a:t>out of £40?</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b) what proportion £12 </a:t>
            </a:r>
            <a:r>
              <a:rPr lang="en-GB"/>
              <a:t>is </a:t>
            </a:r>
            <a:r>
              <a:rPr lang="en-GB"/>
              <a:t>out of £15?</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c) what proportion £12 </a:t>
            </a:r>
            <a:r>
              <a:rPr lang="en-GB"/>
              <a:t>is </a:t>
            </a:r>
            <a:r>
              <a:rPr lang="en-GB"/>
              <a:t>out of £12?</a:t>
            </a:r>
            <a:endParaRPr/>
          </a:p>
        </p:txBody>
      </p:sp>
      <p:sp>
        <p:nvSpPr>
          <p:cNvPr id="1052" name="Google Shape;1052;p8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using proportion</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frac{12}{40}=\frac{3\times4}{10\times4}=\frac{3}{10}\ \ \ \ \ \ \ \ \frac{12}{15}=\frac{4\times3}{5\times3}=\frac{4}{5}&quot;&gt;&lt;mfrac&gt;&lt;mn&gt;12&lt;/mn&gt;&lt;mn&gt;40&lt;/mn&gt;&lt;/mfrac&gt;&lt;mo&gt;=&lt;/mo&gt;&lt;mfrac&gt;&lt;mrow&gt;&lt;mn&gt;3&lt;/mn&gt;&lt;mo&gt;×&lt;/mo&gt;&lt;mn&gt;4&lt;/mn&gt;&lt;/mrow&gt;&lt;mrow&gt;&lt;mn&gt;10&lt;/mn&gt;&lt;mo&gt;×&lt;/mo&gt;&lt;mn&gt;4&lt;/mn&gt;&lt;/mrow&gt;&lt;/mfrac&gt;&lt;mo&gt;=&lt;/mo&gt;&lt;mfrac&gt;&lt;mn&gt;3&lt;/mn&gt;&lt;mn&gt;10&lt;/mn&gt;&lt;/mfrac&gt;&lt;mtext&gt;&lt;/mtext&gt;&lt;mtext&gt;&lt;/mtext&gt;&lt;mtext&gt;&lt;/mtext&gt;&lt;mtext&gt;&lt;/mtext&gt;&lt;mtext&gt;&lt;/mtext&gt;&lt;mtext&gt;&lt;/mtext&gt;&lt;mtext&gt;&lt;/mtext&gt;&lt;mtext&gt;&lt;/mtext&gt;&lt;mfrac&gt;&lt;mn&gt;12&lt;/mn&gt;&lt;mn&gt;15&lt;/mn&gt;&lt;/mfrac&gt;&lt;mo&gt;=&lt;/mo&gt;&lt;mfrac&gt;&lt;mrow&gt;&lt;mn&gt;4&lt;/mn&gt;&lt;mo&gt;×&lt;/mo&gt;&lt;mn&gt;3&lt;/mn&gt;&lt;/mrow&gt;&lt;mrow&gt;&lt;mn&gt;5&lt;/mn&gt;&lt;mo&gt;×&lt;/mo&gt;&lt;mn&gt;3&lt;/mn&gt;&lt;/mrow&gt;&lt;/mfrac&gt;&lt;mo&gt;=&lt;/mo&gt;&lt;mfrac&gt;&lt;mn&gt;4&lt;/mn&gt;&lt;mn&gt;5&lt;/mn&gt;&lt;/mfrac&gt;&lt;/math&gt;" id="1053" name="Google Shape;1053;p88" title="12 over 40 equals the fraction with numerator 3 times 4 and denominator 10 times 4 equals three tenths 12 over 15 equals the fraction with numerator 4 times 3 and denominator 5 times 3 equals four fifths"/>
          <p:cNvPicPr preferRelativeResize="0"/>
          <p:nvPr/>
        </p:nvPicPr>
        <p:blipFill rotWithShape="1">
          <a:blip r:embed="rId3">
            <a:alphaModFix/>
          </a:blip>
          <a:srcRect b="0" l="0" r="49251" t="0"/>
          <a:stretch/>
        </p:blipFill>
        <p:spPr>
          <a:xfrm>
            <a:off x="2468875" y="1719050"/>
            <a:ext cx="2400301" cy="582200"/>
          </a:xfrm>
          <a:prstGeom prst="rect">
            <a:avLst/>
          </a:prstGeom>
          <a:noFill/>
          <a:ln>
            <a:noFill/>
          </a:ln>
        </p:spPr>
      </p:pic>
      <p:pic>
        <p:nvPicPr>
          <p:cNvPr descr="&lt;math xmlns=&quot;http://www.w3.org/1998/Math/MathML&quot; display=&quot;block&quot; data-is-equatio=&quot;1&quot; data-latex=&quot;\frac{12}{12}=1&quot;&gt;&lt;mfrac&gt;&lt;mn&gt;12&lt;/mn&gt;&lt;mn&gt;12&lt;/mn&gt;&lt;/mfrac&gt;&lt;mo&gt;=&lt;/mo&gt;&lt;mn&gt;1&lt;/mn&gt;&lt;/math&gt;" id="1054" name="Google Shape;1054;p88" title="12 over 12 equals 1"/>
          <p:cNvPicPr preferRelativeResize="0"/>
          <p:nvPr/>
        </p:nvPicPr>
        <p:blipFill>
          <a:blip r:embed="rId4">
            <a:alphaModFix/>
          </a:blip>
          <a:stretch>
            <a:fillRect/>
          </a:stretch>
        </p:blipFill>
        <p:spPr>
          <a:xfrm>
            <a:off x="3272797" y="4005050"/>
            <a:ext cx="948675" cy="676925"/>
          </a:xfrm>
          <a:prstGeom prst="rect">
            <a:avLst/>
          </a:prstGeom>
          <a:noFill/>
          <a:ln>
            <a:noFill/>
          </a:ln>
        </p:spPr>
      </p:pic>
      <p:pic>
        <p:nvPicPr>
          <p:cNvPr descr="&lt;math xmlns=&quot;http://www.w3.org/1998/Math/MathML&quot; display=&quot;block&quot; data-is-equatio=&quot;1&quot; data-latex=&quot;\frac{12}{40}=\frac{3\times4}{10\times4}=\frac{3}{10}\ \ \ \ \ \ \ \ \frac{12}{15}=\frac{4\times3}{5\times3}=\frac{4}{5}&quot;&gt;&lt;mfrac&gt;&lt;mn&gt;12&lt;/mn&gt;&lt;mn&gt;40&lt;/mn&gt;&lt;/mfrac&gt;&lt;mo&gt;=&lt;/mo&gt;&lt;mfrac&gt;&lt;mrow&gt;&lt;mn&gt;3&lt;/mn&gt;&lt;mo&gt;×&lt;/mo&gt;&lt;mn&gt;4&lt;/mn&gt;&lt;/mrow&gt;&lt;mrow&gt;&lt;mn&gt;10&lt;/mn&gt;&lt;mo&gt;×&lt;/mo&gt;&lt;mn&gt;4&lt;/mn&gt;&lt;/mrow&gt;&lt;/mfrac&gt;&lt;mo&gt;=&lt;/mo&gt;&lt;mfrac&gt;&lt;mn&gt;3&lt;/mn&gt;&lt;mn&gt;10&lt;/mn&gt;&lt;/mfrac&gt;&lt;mtext&gt;&lt;/mtext&gt;&lt;mtext&gt;&lt;/mtext&gt;&lt;mtext&gt;&lt;/mtext&gt;&lt;mtext&gt;&lt;/mtext&gt;&lt;mtext&gt;&lt;/mtext&gt;&lt;mtext&gt;&lt;/mtext&gt;&lt;mtext&gt;&lt;/mtext&gt;&lt;mtext&gt;&lt;/mtext&gt;&lt;mfrac&gt;&lt;mn&gt;12&lt;/mn&gt;&lt;mn&gt;15&lt;/mn&gt;&lt;/mfrac&gt;&lt;mo&gt;=&lt;/mo&gt;&lt;mfrac&gt;&lt;mrow&gt;&lt;mn&gt;4&lt;/mn&gt;&lt;mo&gt;×&lt;/mo&gt;&lt;mn&gt;3&lt;/mn&gt;&lt;/mrow&gt;&lt;mrow&gt;&lt;mn&gt;5&lt;/mn&gt;&lt;mo&gt;×&lt;/mo&gt;&lt;mn&gt;3&lt;/mn&gt;&lt;/mrow&gt;&lt;/mfrac&gt;&lt;mo&gt;=&lt;/mo&gt;&lt;mfrac&gt;&lt;mn&gt;4&lt;/mn&gt;&lt;mn&gt;5&lt;/mn&gt;&lt;/mfrac&gt;&lt;/math&gt;" id="1055" name="Google Shape;1055;p88" title="12 over 40 equals the fraction with numerator 3 times 4 and denominator 10 times 4 equals three tenths 12 over 15 equals the fraction with numerator 4 times 3 and denominator 5 times 3 equals four fifths"/>
          <p:cNvPicPr preferRelativeResize="0"/>
          <p:nvPr/>
        </p:nvPicPr>
        <p:blipFill rotWithShape="1">
          <a:blip r:embed="rId3">
            <a:alphaModFix/>
          </a:blip>
          <a:srcRect b="0" l="58159" r="-6975" t="0"/>
          <a:stretch/>
        </p:blipFill>
        <p:spPr>
          <a:xfrm>
            <a:off x="2476500" y="2862050"/>
            <a:ext cx="2308849" cy="582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descr="&lt;math xmlns=&quot;http://www.w3.org/1998/Math/MathML&quot; display=&quot;block&quot; data-is-equatio=&quot;1&quot; data-latex=&quot;\begin{array}{l}\frac{12}{20}\ =\ \frac{3\times4}{5\times4}=\frac{3}{5}\\&amp;#13;&amp;#10;\frac{40}{50}=\frac{4\times10}{5\times10}=\frac{4}{5}\end{array}&quot;&gt;&lt;mtable columnalign=&quot;left&quot; columnspacing=&quot;1em&quot; rowspacing=&quot;4pt&quot;&gt;&lt;mtr&gt;&lt;mtd&gt;&lt;mfrac&gt;&lt;mn&gt;12&lt;/mn&gt;&lt;mn&gt;20&lt;/mn&gt;&lt;/mfrac&gt;&lt;mtext&gt;&lt;/mtext&gt;&lt;mo&gt;=&lt;/mo&gt;&lt;mtext&gt;&lt;/mtext&gt;&lt;mfrac&gt;&lt;mrow&gt;&lt;mn&gt;3&lt;/mn&gt;&lt;mo&gt;×&lt;/mo&gt;&lt;mn&gt;4&lt;/mn&gt;&lt;/mrow&gt;&lt;mrow&gt;&lt;mn&gt;5&lt;/mn&gt;&lt;mo&gt;×&lt;/mo&gt;&lt;mn&gt;4&lt;/mn&gt;&lt;/mrow&gt;&lt;/mfrac&gt;&lt;mo&gt;=&lt;/mo&gt;&lt;mfrac&gt;&lt;mn&gt;3&lt;/mn&gt;&lt;mn&gt;5&lt;/mn&gt;&lt;/mfrac&gt;&lt;/mtd&gt;&lt;/mtr&gt;&lt;mtr&gt;&lt;mtd&gt;&lt;mfrac&gt;&lt;mn&gt;40&lt;/mn&gt;&lt;mn&gt;50&lt;/mn&gt;&lt;/mfrac&gt;&lt;mo&gt;=&lt;/mo&gt;&lt;mfrac&gt;&lt;mrow&gt;&lt;mn&gt;4&lt;/mn&gt;&lt;mo&gt;×&lt;/mo&gt;&lt;mn&gt;10&lt;/mn&gt;&lt;/mrow&gt;&lt;mrow&gt;&lt;mn&gt;5&lt;/mn&gt;&lt;mo&gt;×&lt;/mo&gt;&lt;mn&gt;10&lt;/mn&gt;&lt;/mrow&gt;&lt;/mfrac&gt;&lt;mo&gt;=&lt;/mo&gt;&lt;mfrac&gt;&lt;mn&gt;4&lt;/mn&gt;&lt;mn&gt;5&lt;/mn&gt;&lt;/mfrac&gt;&lt;/mtd&gt;&lt;/mtr&gt;&lt;/mtable&gt;&lt;/math&gt;" id="1060" name="Google Shape;1060;p89" title="2 lines Line 1: 12 over 20 equals the fraction with numerator 3 times 4 and denominator 5 times 4 equals three fifths Line 2: 40 over 50 equals the fraction with numerator 4 times 10 and denominator 5 times 10 equals four fifths"/>
          <p:cNvSpPr txBox="1"/>
          <p:nvPr>
            <p:ph idx="4294967295"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3) </a:t>
            </a:r>
            <a:r>
              <a:rPr lang="en-GB"/>
              <a:t>Test A is out of 20. Laura gets 12 out of 20 correct.</a:t>
            </a:r>
            <a:endParaRPr/>
          </a:p>
          <a:p>
            <a:pPr indent="0" lvl="0" marL="0" rtl="0" algn="l">
              <a:spcBef>
                <a:spcPts val="1000"/>
              </a:spcBef>
              <a:spcAft>
                <a:spcPts val="0"/>
              </a:spcAft>
              <a:buNone/>
            </a:pPr>
            <a:r>
              <a:rPr lang="en-GB"/>
              <a:t>Test B is out of 50. Sofia gets 40 out of 50.</a:t>
            </a:r>
            <a:endParaRPr/>
          </a:p>
          <a:p>
            <a:pPr indent="0" lvl="0" marL="0" rtl="0" algn="l">
              <a:spcBef>
                <a:spcPts val="1000"/>
              </a:spcBef>
              <a:spcAft>
                <a:spcPts val="1000"/>
              </a:spcAft>
              <a:buNone/>
            </a:pPr>
            <a:r>
              <a:rPr lang="en-GB"/>
              <a:t>Who got a higher proportion of answers correct?</a:t>
            </a:r>
            <a:endParaRPr/>
          </a:p>
        </p:txBody>
      </p:sp>
      <p:sp>
        <p:nvSpPr>
          <p:cNvPr id="1061" name="Google Shape;1061;p89"/>
          <p:cNvSpPr txBox="1"/>
          <p:nvPr/>
        </p:nvSpPr>
        <p:spPr>
          <a:xfrm>
            <a:off x="324000" y="2643925"/>
            <a:ext cx="7885200" cy="51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Sofia got the highest proportion of answers correct.</a:t>
            </a:r>
            <a:endParaRPr sz="2200">
              <a:solidFill>
                <a:schemeClr val="dk1"/>
              </a:solidFill>
              <a:latin typeface="Kalam"/>
              <a:ea typeface="Kalam"/>
              <a:cs typeface="Kalam"/>
              <a:sym typeface="Kalam"/>
            </a:endParaRPr>
          </a:p>
        </p:txBody>
      </p:sp>
      <p:pic>
        <p:nvPicPr>
          <p:cNvPr id="1062" name="Google Shape;1062;p89"/>
          <p:cNvPicPr preferRelativeResize="0"/>
          <p:nvPr/>
        </p:nvPicPr>
        <p:blipFill rotWithShape="1">
          <a:blip r:embed="rId3">
            <a:alphaModFix/>
          </a:blip>
          <a:srcRect b="51620" l="0" r="81337" t="0"/>
          <a:stretch/>
        </p:blipFill>
        <p:spPr>
          <a:xfrm>
            <a:off x="1757250" y="3381720"/>
            <a:ext cx="551300" cy="753124"/>
          </a:xfrm>
          <a:prstGeom prst="rect">
            <a:avLst/>
          </a:prstGeom>
          <a:noFill/>
          <a:ln>
            <a:noFill/>
          </a:ln>
        </p:spPr>
      </p:pic>
      <p:sp>
        <p:nvSpPr>
          <p:cNvPr id="1063" name="Google Shape;1063;p89"/>
          <p:cNvSpPr txBox="1"/>
          <p:nvPr/>
        </p:nvSpPr>
        <p:spPr>
          <a:xfrm>
            <a:off x="631650" y="3365988"/>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Laura:</a:t>
            </a:r>
            <a:endParaRPr/>
          </a:p>
        </p:txBody>
      </p:sp>
      <p:pic>
        <p:nvPicPr>
          <p:cNvPr id="1064" name="Google Shape;1064;p89"/>
          <p:cNvPicPr preferRelativeResize="0"/>
          <p:nvPr/>
        </p:nvPicPr>
        <p:blipFill rotWithShape="1">
          <a:blip r:embed="rId3">
            <a:alphaModFix/>
          </a:blip>
          <a:srcRect b="51620" l="72439" r="-4768" t="0"/>
          <a:stretch/>
        </p:blipFill>
        <p:spPr>
          <a:xfrm>
            <a:off x="2220824" y="3381725"/>
            <a:ext cx="955000" cy="753124"/>
          </a:xfrm>
          <a:prstGeom prst="rect">
            <a:avLst/>
          </a:prstGeom>
          <a:noFill/>
          <a:ln>
            <a:noFill/>
          </a:ln>
        </p:spPr>
      </p:pic>
      <p:sp>
        <p:nvSpPr>
          <p:cNvPr id="1065" name="Google Shape;1065;p89"/>
          <p:cNvSpPr txBox="1"/>
          <p:nvPr/>
        </p:nvSpPr>
        <p:spPr>
          <a:xfrm>
            <a:off x="4517850" y="3365988"/>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Sofia:</a:t>
            </a:r>
            <a:endParaRPr/>
          </a:p>
        </p:txBody>
      </p:sp>
      <p:pic>
        <p:nvPicPr>
          <p:cNvPr descr="&lt;math xmlns=&quot;http://www.w3.org/1998/Math/MathML&quot; display=&quot;block&quot; data-is-equatio=&quot;1&quot; data-latex=&quot;\begin{array}{l}\frac{12}{20}\ =\ \frac{3\times4}{5\times4}=\frac{3}{5}\\&amp;#13;&amp;#10;\frac{40}{50}=\frac{4\times10}{5\times10}=\frac{4}{5}\end{array}&quot;&gt;&lt;mtable columnalign=&quot;left&quot; columnspacing=&quot;1em&quot; rowspacing=&quot;4pt&quot;&gt;&lt;mtr&gt;&lt;mtd&gt;&lt;mfrac&gt;&lt;mn&gt;12&lt;/mn&gt;&lt;mn&gt;20&lt;/mn&gt;&lt;/mfrac&gt;&lt;mtext&gt;&lt;/mtext&gt;&lt;mo&gt;=&lt;/mo&gt;&lt;mtext&gt;&lt;/mtext&gt;&lt;mfrac&gt;&lt;mrow&gt;&lt;mn&gt;3&lt;/mn&gt;&lt;mo&gt;×&lt;/mo&gt;&lt;mn&gt;4&lt;/mn&gt;&lt;/mrow&gt;&lt;mrow&gt;&lt;mn&gt;5&lt;/mn&gt;&lt;mo&gt;×&lt;/mo&gt;&lt;mn&gt;4&lt;/mn&gt;&lt;/mrow&gt;&lt;/mfrac&gt;&lt;mo&gt;=&lt;/mo&gt;&lt;mfrac&gt;&lt;mn&gt;3&lt;/mn&gt;&lt;mn&gt;5&lt;/mn&gt;&lt;/mfrac&gt;&lt;/mtd&gt;&lt;/mtr&gt;&lt;mtr&gt;&lt;mtd&gt;&lt;mfrac&gt;&lt;mn&gt;40&lt;/mn&gt;&lt;mn&gt;50&lt;/mn&gt;&lt;/mfrac&gt;&lt;mo&gt;=&lt;/mo&gt;&lt;mfrac&gt;&lt;mrow&gt;&lt;mn&gt;4&lt;/mn&gt;&lt;mo&gt;×&lt;/mo&gt;&lt;mn&gt;10&lt;/mn&gt;&lt;/mrow&gt;&lt;mrow&gt;&lt;mn&gt;5&lt;/mn&gt;&lt;mo&gt;×&lt;/mo&gt;&lt;mn&gt;10&lt;/mn&gt;&lt;/mrow&gt;&lt;/mfrac&gt;&lt;mo&gt;=&lt;/mo&gt;&lt;mfrac&gt;&lt;mn&gt;4&lt;/mn&gt;&lt;mn&gt;5&lt;/mn&gt;&lt;/mfrac&gt;&lt;/mtd&gt;&lt;/mtr&gt;&lt;/mtable&gt;&lt;/math&gt;" id="1066" name="Google Shape;1066;p89" title="2 lines Line 1: 12 over 20 equals the fraction with numerator 3 times 4 and denominator 5 times 4 equals three fifths Line 2: 40 over 50 equals the fraction with numerator 4 times 10 and denominator 5 times 10 equals four fifths"/>
          <p:cNvPicPr preferRelativeResize="0"/>
          <p:nvPr/>
        </p:nvPicPr>
        <p:blipFill rotWithShape="1">
          <a:blip r:embed="rId3">
            <a:alphaModFix/>
          </a:blip>
          <a:srcRect b="0" l="0" r="80511" t="52362"/>
          <a:stretch/>
        </p:blipFill>
        <p:spPr>
          <a:xfrm>
            <a:off x="5528875" y="3326800"/>
            <a:ext cx="584673" cy="753124"/>
          </a:xfrm>
          <a:prstGeom prst="rect">
            <a:avLst/>
          </a:prstGeom>
          <a:noFill/>
          <a:ln>
            <a:noFill/>
          </a:ln>
        </p:spPr>
      </p:pic>
      <p:pic>
        <p:nvPicPr>
          <p:cNvPr descr="&lt;math xmlns=&quot;http://www.w3.org/1998/Math/MathML&quot; display=&quot;block&quot; data-is-equatio=&quot;1&quot; data-latex=&quot;\begin{array}{l}\frac{12}{20}\ =\ \frac{3\times4}{5\times4}=\frac{3}{5}\\&amp;#13;&amp;#10;\frac{40}{50}=\frac{4\times10}{5\times10}=\frac{4}{5}\end{array}&quot;&gt;&lt;mtable columnalign=&quot;left&quot; columnspacing=&quot;1em&quot; rowspacing=&quot;4pt&quot;&gt;&lt;mtr&gt;&lt;mtd&gt;&lt;mfrac&gt;&lt;mn&gt;12&lt;/mn&gt;&lt;mn&gt;20&lt;/mn&gt;&lt;/mfrac&gt;&lt;mtext&gt;&lt;/mtext&gt;&lt;mo&gt;=&lt;/mo&gt;&lt;mtext&gt;&lt;/mtext&gt;&lt;mfrac&gt;&lt;mrow&gt;&lt;mn&gt;3&lt;/mn&gt;&lt;mo&gt;×&lt;/mo&gt;&lt;mn&gt;4&lt;/mn&gt;&lt;/mrow&gt;&lt;mrow&gt;&lt;mn&gt;5&lt;/mn&gt;&lt;mo&gt;×&lt;/mo&gt;&lt;mn&gt;4&lt;/mn&gt;&lt;/mrow&gt;&lt;/mfrac&gt;&lt;mo&gt;=&lt;/mo&gt;&lt;mfrac&gt;&lt;mn&gt;3&lt;/mn&gt;&lt;mn&gt;5&lt;/mn&gt;&lt;/mfrac&gt;&lt;/mtd&gt;&lt;/mtr&gt;&lt;mtr&gt;&lt;mtd&gt;&lt;mfrac&gt;&lt;mn&gt;40&lt;/mn&gt;&lt;mn&gt;50&lt;/mn&gt;&lt;/mfrac&gt;&lt;mo&gt;=&lt;/mo&gt;&lt;mfrac&gt;&lt;mrow&gt;&lt;mn&gt;4&lt;/mn&gt;&lt;mo&gt;×&lt;/mo&gt;&lt;mn&gt;10&lt;/mn&gt;&lt;/mrow&gt;&lt;mrow&gt;&lt;mn&gt;5&lt;/mn&gt;&lt;mo&gt;×&lt;/mo&gt;&lt;mn&gt;10&lt;/mn&gt;&lt;/mrow&gt;&lt;/mfrac&gt;&lt;mo&gt;=&lt;/mo&gt;&lt;mfrac&gt;&lt;mn&gt;4&lt;/mn&gt;&lt;mn&gt;5&lt;/mn&gt;&lt;/mfrac&gt;&lt;/mtd&gt;&lt;/mtr&gt;&lt;/mtable&gt;&lt;/math&gt;" id="1067" name="Google Shape;1067;p89" title="2 lines Line 1: 12 over 20 equals the fraction with numerator 3 times 4 and denominator 5 times 4 equals three fifths Line 2: 40 over 50 equals the fraction with numerator 4 times 10 and denominator 5 times 10 equals four fifths"/>
          <p:cNvPicPr preferRelativeResize="0"/>
          <p:nvPr/>
        </p:nvPicPr>
        <p:blipFill rotWithShape="1">
          <a:blip r:embed="rId3">
            <a:alphaModFix/>
          </a:blip>
          <a:srcRect b="0" l="17986" r="32132" t="52362"/>
          <a:stretch/>
        </p:blipFill>
        <p:spPr>
          <a:xfrm>
            <a:off x="5916025" y="3326800"/>
            <a:ext cx="1496426" cy="753124"/>
          </a:xfrm>
          <a:prstGeom prst="rect">
            <a:avLst/>
          </a:prstGeom>
          <a:noFill/>
          <a:ln>
            <a:noFill/>
          </a:ln>
        </p:spPr>
      </p:pic>
      <p:pic>
        <p:nvPicPr>
          <p:cNvPr descr="&lt;math xmlns=&quot;http://www.w3.org/1998/Math/MathML&quot; display=&quot;block&quot; data-is-equatio=&quot;1&quot; data-latex=&quot;\begin{array}{l}\frac{12}{20}\ =\ \frac{3\times4}{5\times4}=\frac{3}{5}\\&amp;#13;&amp;#10;\frac{40}{50}=\frac{4\times10}{5\times10}=\frac{4}{5}\end{array}&quot;&gt;&lt;mtable columnalign=&quot;left&quot; columnspacing=&quot;1em&quot; rowspacing=&quot;4pt&quot;&gt;&lt;mtr&gt;&lt;mtd&gt;&lt;mfrac&gt;&lt;mn&gt;12&lt;/mn&gt;&lt;mn&gt;20&lt;/mn&gt;&lt;/mfrac&gt;&lt;mtext&gt;&lt;/mtext&gt;&lt;mo&gt;=&lt;/mo&gt;&lt;mtext&gt;&lt;/mtext&gt;&lt;mfrac&gt;&lt;mrow&gt;&lt;mn&gt;3&lt;/mn&gt;&lt;mo&gt;×&lt;/mo&gt;&lt;mn&gt;4&lt;/mn&gt;&lt;/mrow&gt;&lt;mrow&gt;&lt;mn&gt;5&lt;/mn&gt;&lt;mo&gt;×&lt;/mo&gt;&lt;mn&gt;4&lt;/mn&gt;&lt;/mrow&gt;&lt;/mfrac&gt;&lt;mo&gt;=&lt;/mo&gt;&lt;mfrac&gt;&lt;mn&gt;3&lt;/mn&gt;&lt;mn&gt;5&lt;/mn&gt;&lt;/mfrac&gt;&lt;/mtd&gt;&lt;/mtr&gt;&lt;mtr&gt;&lt;mtd&gt;&lt;mfrac&gt;&lt;mn&gt;40&lt;/mn&gt;&lt;mn&gt;50&lt;/mn&gt;&lt;/mfrac&gt;&lt;mo&gt;=&lt;/mo&gt;&lt;mfrac&gt;&lt;mrow&gt;&lt;mn&gt;4&lt;/mn&gt;&lt;mo&gt;×&lt;/mo&gt;&lt;mn&gt;10&lt;/mn&gt;&lt;/mrow&gt;&lt;mrow&gt;&lt;mn&gt;5&lt;/mn&gt;&lt;mo&gt;×&lt;/mo&gt;&lt;mn&gt;10&lt;/mn&gt;&lt;/mrow&gt;&lt;/mfrac&gt;&lt;mo&gt;=&lt;/mo&gt;&lt;mfrac&gt;&lt;mn&gt;4&lt;/mn&gt;&lt;mn&gt;5&lt;/mn&gt;&lt;/mfrac&gt;&lt;/mtd&gt;&lt;/mtr&gt;&lt;/mtable&gt;&lt;/math&gt;" id="1068" name="Google Shape;1068;p89" title="2 lines Line 1: 12 over 20 equals the fraction with numerator 3 times 4 and denominator 5 times 4 equals three fifths Line 2: 40 over 50 equals the fraction with numerator 4 times 10 and denominator 5 times 10 equals four fifths"/>
          <p:cNvPicPr preferRelativeResize="0"/>
          <p:nvPr/>
        </p:nvPicPr>
        <p:blipFill rotWithShape="1">
          <a:blip r:embed="rId3">
            <a:alphaModFix/>
          </a:blip>
          <a:srcRect b="0" l="68841" r="-1992" t="52362"/>
          <a:stretch/>
        </p:blipFill>
        <p:spPr>
          <a:xfrm>
            <a:off x="7289250" y="3326800"/>
            <a:ext cx="994502" cy="753124"/>
          </a:xfrm>
          <a:prstGeom prst="rect">
            <a:avLst/>
          </a:prstGeom>
          <a:noFill/>
          <a:ln>
            <a:noFill/>
          </a:ln>
        </p:spPr>
      </p:pic>
      <p:sp>
        <p:nvSpPr>
          <p:cNvPr id="1069" name="Google Shape;1069;p89"/>
          <p:cNvSpPr txBox="1"/>
          <p:nvPr/>
        </p:nvSpPr>
        <p:spPr>
          <a:xfrm>
            <a:off x="629900" y="4125050"/>
            <a:ext cx="3430800" cy="75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This represents the proportion Laura got correct.</a:t>
            </a:r>
            <a:endParaRPr sz="1900">
              <a:solidFill>
                <a:schemeClr val="dk1"/>
              </a:solidFill>
              <a:latin typeface="Kalam"/>
              <a:ea typeface="Kalam"/>
              <a:cs typeface="Kalam"/>
              <a:sym typeface="Kalam"/>
            </a:endParaRPr>
          </a:p>
        </p:txBody>
      </p:sp>
      <p:sp>
        <p:nvSpPr>
          <p:cNvPr id="1070" name="Google Shape;1070;p89"/>
          <p:cNvSpPr txBox="1"/>
          <p:nvPr/>
        </p:nvSpPr>
        <p:spPr>
          <a:xfrm>
            <a:off x="4592300" y="4125050"/>
            <a:ext cx="3430800" cy="75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This represents the proportion Sofia got correct.</a:t>
            </a:r>
            <a:endParaRPr sz="1900">
              <a:solidFill>
                <a:schemeClr val="dk1"/>
              </a:solidFill>
              <a:latin typeface="Kalam"/>
              <a:ea typeface="Kalam"/>
              <a:cs typeface="Kalam"/>
              <a:sym typeface="Kalam"/>
            </a:endParaRPr>
          </a:p>
        </p:txBody>
      </p:sp>
      <p:sp>
        <p:nvSpPr>
          <p:cNvPr id="1071" name="Google Shape;1071;p8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using proportion</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descr="&lt;math xmlns=&quot;http://www.w3.org/1998/Math/MathML&quot; display=&quot;block&quot; data-is-equatio=&quot;1&quot; data-latex=&quot;\begin{array}{l}\frac{12}{20}\ =\ \frac{3\times4}{5\times4}=\frac{3}{5}\\&amp;#13;&amp;#10;\frac{40}{50}=\frac{4\times10}{5\times10}=\frac{4}{5}\end{array}&quot;&gt;&lt;mtable columnalign=&quot;left&quot; columnspacing=&quot;1em&quot; rowspacing=&quot;4pt&quot;&gt;&lt;mtr&gt;&lt;mtd&gt;&lt;mfrac&gt;&lt;mn&gt;12&lt;/mn&gt;&lt;mn&gt;20&lt;/mn&gt;&lt;/mfrac&gt;&lt;mtext&gt;&lt;/mtext&gt;&lt;mo&gt;=&lt;/mo&gt;&lt;mtext&gt;&lt;/mtext&gt;&lt;mfrac&gt;&lt;mrow&gt;&lt;mn&gt;3&lt;/mn&gt;&lt;mo&gt;×&lt;/mo&gt;&lt;mn&gt;4&lt;/mn&gt;&lt;/mrow&gt;&lt;mrow&gt;&lt;mn&gt;5&lt;/mn&gt;&lt;mo&gt;×&lt;/mo&gt;&lt;mn&gt;4&lt;/mn&gt;&lt;/mrow&gt;&lt;/mfrac&gt;&lt;mo&gt;=&lt;/mo&gt;&lt;mfrac&gt;&lt;mn&gt;3&lt;/mn&gt;&lt;mn&gt;5&lt;/mn&gt;&lt;/mfrac&gt;&lt;/mtd&gt;&lt;/mtr&gt;&lt;mtr&gt;&lt;mtd&gt;&lt;mfrac&gt;&lt;mn&gt;40&lt;/mn&gt;&lt;mn&gt;50&lt;/mn&gt;&lt;/mfrac&gt;&lt;mo&gt;=&lt;/mo&gt;&lt;mfrac&gt;&lt;mrow&gt;&lt;mn&gt;4&lt;/mn&gt;&lt;mo&gt;×&lt;/mo&gt;&lt;mn&gt;10&lt;/mn&gt;&lt;/mrow&gt;&lt;mrow&gt;&lt;mn&gt;5&lt;/mn&gt;&lt;mo&gt;×&lt;/mo&gt;&lt;mn&gt;10&lt;/mn&gt;&lt;/mrow&gt;&lt;/mfrac&gt;&lt;mo&gt;=&lt;/mo&gt;&lt;mfrac&gt;&lt;mn&gt;4&lt;/mn&gt;&lt;mn&gt;5&lt;/mn&gt;&lt;/mfrac&gt;&lt;/mtd&gt;&lt;/mtr&gt;&lt;/mtable&gt;&lt;/math&gt;" id="1076" name="Google Shape;1076;p90" title="2 lines Line 1: 12 over 20 equals the fraction with numerator 3 times 4 and denominator 5 times 4 equals three fifths Line 2: 40 over 50 equals the fraction with numerator 4 times 10 and denominator 5 times 10 equals four fifths"/>
          <p:cNvSpPr txBox="1"/>
          <p:nvPr>
            <p:ph idx="4294967295" type="body"/>
          </p:nvPr>
        </p:nvSpPr>
        <p:spPr>
          <a:xfrm>
            <a:off x="324000" y="759300"/>
            <a:ext cx="8237700" cy="45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 Which </a:t>
            </a:r>
            <a:r>
              <a:rPr lang="en-GB"/>
              <a:t>pupil</a:t>
            </a:r>
            <a:r>
              <a:rPr lang="en-GB"/>
              <a:t> got the best allowance increase and why?</a:t>
            </a:r>
            <a:endParaRPr/>
          </a:p>
        </p:txBody>
      </p:sp>
      <p:sp>
        <p:nvSpPr>
          <p:cNvPr id="1077" name="Google Shape;1077;p9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using proportion</a:t>
            </a:r>
            <a:endParaRPr/>
          </a:p>
          <a:p>
            <a:pPr indent="0" lvl="0" marL="0" rtl="0" algn="l">
              <a:spcBef>
                <a:spcPts val="1000"/>
              </a:spcBef>
              <a:spcAft>
                <a:spcPts val="1000"/>
              </a:spcAft>
              <a:buNone/>
            </a:pPr>
            <a:r>
              <a:t/>
            </a:r>
            <a:endParaRPr/>
          </a:p>
        </p:txBody>
      </p:sp>
      <p:graphicFrame>
        <p:nvGraphicFramePr>
          <p:cNvPr id="1078" name="Google Shape;1078;p90"/>
          <p:cNvGraphicFramePr/>
          <p:nvPr/>
        </p:nvGraphicFramePr>
        <p:xfrm>
          <a:off x="332250" y="1176088"/>
          <a:ext cx="3000000" cy="3000000"/>
        </p:xfrm>
        <a:graphic>
          <a:graphicData uri="http://schemas.openxmlformats.org/drawingml/2006/table">
            <a:tbl>
              <a:tblPr>
                <a:noFill/>
                <a:tableStyleId>{D52034BA-B2A8-49EF-A613-FFD26C1E2B7E}</a:tableStyleId>
              </a:tblPr>
              <a:tblGrid>
                <a:gridCol w="1784375"/>
                <a:gridCol w="2813925"/>
                <a:gridCol w="1575825"/>
                <a:gridCol w="1791650"/>
              </a:tblGrid>
              <a:tr h="1008750">
                <a:tc>
                  <a:txBody>
                    <a:bodyPr/>
                    <a:lstStyle/>
                    <a:p>
                      <a:pPr indent="0" lvl="0" marL="0" rtl="0" algn="l">
                        <a:spcBef>
                          <a:spcPts val="0"/>
                        </a:spcBef>
                        <a:spcAft>
                          <a:spcPts val="0"/>
                        </a:spcAft>
                        <a:buNone/>
                      </a:pPr>
                      <a:r>
                        <a:rPr lang="en-GB" sz="2000">
                          <a:solidFill>
                            <a:schemeClr val="lt1"/>
                          </a:solidFill>
                          <a:latin typeface="Lexend"/>
                          <a:ea typeface="Lexend"/>
                          <a:cs typeface="Lexend"/>
                          <a:sym typeface="Lexend"/>
                        </a:rPr>
                        <a:t>P</a:t>
                      </a:r>
                      <a:r>
                        <a:rPr lang="en-GB" sz="2000">
                          <a:solidFill>
                            <a:schemeClr val="lt1"/>
                          </a:solidFill>
                          <a:latin typeface="Lexend"/>
                          <a:ea typeface="Lexend"/>
                          <a:cs typeface="Lexend"/>
                          <a:sym typeface="Lexend"/>
                        </a:rPr>
                        <a:t>upil</a:t>
                      </a:r>
                      <a:endParaRPr sz="20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2000">
                          <a:solidFill>
                            <a:schemeClr val="lt1"/>
                          </a:solidFill>
                          <a:latin typeface="Lexend"/>
                          <a:ea typeface="Lexend"/>
                          <a:cs typeface="Lexend"/>
                          <a:sym typeface="Lexend"/>
                        </a:rPr>
                        <a:t>Normal allowance per month</a:t>
                      </a:r>
                      <a:endParaRPr sz="20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2000">
                          <a:solidFill>
                            <a:schemeClr val="lt1"/>
                          </a:solidFill>
                          <a:latin typeface="Lexend"/>
                          <a:ea typeface="Lexend"/>
                          <a:cs typeface="Lexend"/>
                          <a:sym typeface="Lexend"/>
                        </a:rPr>
                        <a:t>Increase</a:t>
                      </a:r>
                      <a:endParaRPr sz="20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Proportion of normal allowance</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620775">
                <a:tc>
                  <a:txBody>
                    <a:bodyPr/>
                    <a:lstStyle/>
                    <a:p>
                      <a:pPr indent="0" lvl="0" marL="0" rtl="0" algn="l">
                        <a:spcBef>
                          <a:spcPts val="0"/>
                        </a:spcBef>
                        <a:spcAft>
                          <a:spcPts val="0"/>
                        </a:spcAft>
                        <a:buNone/>
                      </a:pPr>
                      <a:r>
                        <a:rPr lang="en-GB" sz="2000">
                          <a:latin typeface="Lexend"/>
                          <a:ea typeface="Lexend"/>
                          <a:cs typeface="Lexend"/>
                          <a:sym typeface="Lexend"/>
                        </a:rPr>
                        <a:t>Aisha</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£15</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£6</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620775">
                <a:tc>
                  <a:txBody>
                    <a:bodyPr/>
                    <a:lstStyle/>
                    <a:p>
                      <a:pPr indent="0" lvl="0" marL="0" rtl="0" algn="l">
                        <a:spcBef>
                          <a:spcPts val="0"/>
                        </a:spcBef>
                        <a:spcAft>
                          <a:spcPts val="0"/>
                        </a:spcAft>
                        <a:buNone/>
                      </a:pPr>
                      <a:r>
                        <a:rPr lang="en-GB" sz="2000">
                          <a:latin typeface="Lexend"/>
                          <a:ea typeface="Lexend"/>
                          <a:cs typeface="Lexend"/>
                          <a:sym typeface="Lexend"/>
                        </a:rPr>
                        <a:t>Andeep</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£10</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£2.50</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620775">
                <a:tc>
                  <a:txBody>
                    <a:bodyPr/>
                    <a:lstStyle/>
                    <a:p>
                      <a:pPr indent="0" lvl="0" marL="0" rtl="0" algn="l">
                        <a:spcBef>
                          <a:spcPts val="0"/>
                        </a:spcBef>
                        <a:spcAft>
                          <a:spcPts val="0"/>
                        </a:spcAft>
                        <a:buNone/>
                      </a:pPr>
                      <a:r>
                        <a:rPr lang="en-GB" sz="2000">
                          <a:latin typeface="Lexend"/>
                          <a:ea typeface="Lexend"/>
                          <a:cs typeface="Lexend"/>
                          <a:sym typeface="Lexend"/>
                        </a:rPr>
                        <a:t>Izzy</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£12</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£4</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620775">
                <a:tc>
                  <a:txBody>
                    <a:bodyPr/>
                    <a:lstStyle/>
                    <a:p>
                      <a:pPr indent="0" lvl="0" marL="0" rtl="0" algn="l">
                        <a:spcBef>
                          <a:spcPts val="0"/>
                        </a:spcBef>
                        <a:spcAft>
                          <a:spcPts val="0"/>
                        </a:spcAft>
                        <a:buNone/>
                      </a:pPr>
                      <a:r>
                        <a:rPr lang="en-GB" sz="2000">
                          <a:latin typeface="Lexend"/>
                          <a:ea typeface="Lexend"/>
                          <a:cs typeface="Lexend"/>
                          <a:sym typeface="Lexend"/>
                        </a:rPr>
                        <a:t>Jacob</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£30</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Lexend"/>
                          <a:ea typeface="Lexend"/>
                          <a:cs typeface="Lexend"/>
                          <a:sym typeface="Lexend"/>
                        </a:rPr>
                        <a:t>£6</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5}{15}=\frac{1}{5}\ \ \ \ \ \frac{2.5}{10}=\frac{5}{20}=\frac{1}{4}\ \ \ \frac{4}{12}=\frac{1}{3}\ \ \ \ \frac{6}{30}=\frac{1}{5}&quot;&gt;&lt;mfrac&gt;&lt;mn&gt;5&lt;/mn&gt;&lt;mn&gt;15&lt;/mn&gt;&lt;/mfrac&gt;&lt;mo&gt;=&lt;/mo&gt;&lt;mfrac&gt;&lt;mn&gt;1&lt;/mn&gt;&lt;mn&gt;5&lt;/mn&gt;&lt;/mfrac&gt;&lt;mtext&gt;&lt;/mtext&gt;&lt;mtext&gt;&lt;/mtext&gt;&lt;mtext&gt;&lt;/mtext&gt;&lt;mtext&gt;&lt;/mtext&gt;&lt;mtext&gt;&lt;/mtext&gt;&lt;mfrac&gt;&lt;mn&gt;2.5&lt;/mn&gt;&lt;mn&gt;10&lt;/mn&gt;&lt;/mfrac&gt;&lt;mo&gt;=&lt;/mo&gt;&lt;mfrac&gt;&lt;mn&gt;5&lt;/mn&gt;&lt;mn&gt;20&lt;/mn&gt;&lt;/mfrac&gt;&lt;mo&gt;=&lt;/mo&gt;&lt;mfrac&gt;&lt;mn&gt;1&lt;/mn&gt;&lt;mn&gt;4&lt;/mn&gt;&lt;/mfrac&gt;&lt;mtext&gt;&lt;/mtext&gt;&lt;mtext&gt;&lt;/mtext&gt;&lt;mtext&gt;&lt;/mtext&gt;&lt;mfrac&gt;&lt;mn&gt;4&lt;/mn&gt;&lt;mn&gt;12&lt;/mn&gt;&lt;/mfrac&gt;&lt;mo&gt;=&lt;/mo&gt;&lt;mfrac&gt;&lt;mn&gt;1&lt;/mn&gt;&lt;mn&gt;3&lt;/mn&gt;&lt;/mfrac&gt;&lt;mtext&gt;&lt;/mtext&gt;&lt;mtext&gt;&lt;/mtext&gt;&lt;mtext&gt;&lt;/mtext&gt;&lt;mtext&gt;&lt;/mtext&gt;&lt;mfrac&gt;&lt;mn&gt;6&lt;/mn&gt;&lt;mn&gt;30&lt;/mn&gt;&lt;/mfrac&gt;&lt;mo&gt;=&lt;/mo&gt;&lt;mfrac&gt;&lt;mn&gt;1&lt;/mn&gt;&lt;mn&gt;5&lt;/mn&gt;&lt;/mfrac&gt;&lt;/math&gt;" id="1079" name="Google Shape;1079;p90" title="5 over 15 equals one fifth 2.5 over 10 equals 5 over 20 equals one fourth 4 over 12 equals one third 6 over 30 equals one fifth"/>
          <p:cNvPicPr preferRelativeResize="0"/>
          <p:nvPr/>
        </p:nvPicPr>
        <p:blipFill rotWithShape="1">
          <a:blip r:embed="rId3">
            <a:alphaModFix/>
          </a:blip>
          <a:srcRect b="0" l="21502" r="44425" t="0"/>
          <a:stretch/>
        </p:blipFill>
        <p:spPr>
          <a:xfrm>
            <a:off x="6461226" y="2865525"/>
            <a:ext cx="1654076" cy="524525"/>
          </a:xfrm>
          <a:prstGeom prst="rect">
            <a:avLst/>
          </a:prstGeom>
          <a:noFill/>
          <a:ln>
            <a:noFill/>
          </a:ln>
        </p:spPr>
      </p:pic>
      <p:pic>
        <p:nvPicPr>
          <p:cNvPr descr="&lt;math xmlns=&quot;http://www.w3.org/1998/Math/MathML&quot; display=&quot;block&quot; data-is-equatio=&quot;1&quot; data-latex=&quot;\frac{5}{15}=\frac{1}{5}\ \ \ \ \ \frac{2.5}{10}=\frac{5}{20}=\frac{1}{4}\ \ \ \frac{4}{12}=\frac{1}{3}\ \ \ \ \frac{6}{30}=\frac{1}{5}&quot;&gt;&lt;mfrac&gt;&lt;mn&gt;5&lt;/mn&gt;&lt;mn&gt;15&lt;/mn&gt;&lt;/mfrac&gt;&lt;mo&gt;=&lt;/mo&gt;&lt;mfrac&gt;&lt;mn&gt;1&lt;/mn&gt;&lt;mn&gt;5&lt;/mn&gt;&lt;/mfrac&gt;&lt;mtext&gt;&lt;/mtext&gt;&lt;mtext&gt;&lt;/mtext&gt;&lt;mtext&gt;&lt;/mtext&gt;&lt;mtext&gt;&lt;/mtext&gt;&lt;mtext&gt;&lt;/mtext&gt;&lt;mfrac&gt;&lt;mn&gt;2.5&lt;/mn&gt;&lt;mn&gt;10&lt;/mn&gt;&lt;/mfrac&gt;&lt;mo&gt;=&lt;/mo&gt;&lt;mfrac&gt;&lt;mn&gt;5&lt;/mn&gt;&lt;mn&gt;20&lt;/mn&gt;&lt;/mfrac&gt;&lt;mo&gt;=&lt;/mo&gt;&lt;mfrac&gt;&lt;mn&gt;1&lt;/mn&gt;&lt;mn&gt;4&lt;/mn&gt;&lt;/mfrac&gt;&lt;mtext&gt;&lt;/mtext&gt;&lt;mtext&gt;&lt;/mtext&gt;&lt;mtext&gt;&lt;/mtext&gt;&lt;mfrac&gt;&lt;mn&gt;4&lt;/mn&gt;&lt;mn&gt;12&lt;/mn&gt;&lt;/mfrac&gt;&lt;mo&gt;=&lt;/mo&gt;&lt;mfrac&gt;&lt;mn&gt;1&lt;/mn&gt;&lt;mn&gt;3&lt;/mn&gt;&lt;/mfrac&gt;&lt;mtext&gt;&lt;/mtext&gt;&lt;mtext&gt;&lt;/mtext&gt;&lt;mtext&gt;&lt;/mtext&gt;&lt;mtext&gt;&lt;/mtext&gt;&lt;mfrac&gt;&lt;mn&gt;6&lt;/mn&gt;&lt;mn&gt;30&lt;/mn&gt;&lt;/mfrac&gt;&lt;mo&gt;=&lt;/mo&gt;&lt;mfrac&gt;&lt;mn&gt;1&lt;/mn&gt;&lt;mn&gt;5&lt;/mn&gt;&lt;/mfrac&gt;&lt;/math&gt;" id="1080" name="Google Shape;1080;p90" title="5 over 15 equals one fifth 2.5 over 10 equals 5 over 20 equals one fourth 4 over 12 equals one third 6 over 30 equals one fifth"/>
          <p:cNvPicPr preferRelativeResize="0"/>
          <p:nvPr/>
        </p:nvPicPr>
        <p:blipFill rotWithShape="1">
          <a:blip r:embed="rId3">
            <a:alphaModFix/>
          </a:blip>
          <a:srcRect b="0" l="59431" r="21970" t="0"/>
          <a:stretch/>
        </p:blipFill>
        <p:spPr>
          <a:xfrm>
            <a:off x="6836850" y="3459900"/>
            <a:ext cx="902825" cy="524525"/>
          </a:xfrm>
          <a:prstGeom prst="rect">
            <a:avLst/>
          </a:prstGeom>
          <a:noFill/>
          <a:ln>
            <a:noFill/>
          </a:ln>
        </p:spPr>
      </p:pic>
      <p:pic>
        <p:nvPicPr>
          <p:cNvPr descr="&lt;math xmlns=&quot;http://www.w3.org/1998/Math/MathML&quot; display=&quot;block&quot; data-is-equatio=&quot;1&quot; data-latex=&quot;\frac{5}{15}=\frac{1}{5}\ \ \ \ \ \frac{2.5}{10}=\frac{5}{20}=\frac{1}{4}\ \ \ \frac{4}{12}=\frac{1}{3}\ \ \ \ \frac{6}{30}=\frac{1}{5}&quot;&gt;&lt;mfrac&gt;&lt;mn&gt;5&lt;/mn&gt;&lt;mn&gt;15&lt;/mn&gt;&lt;/mfrac&gt;&lt;mo&gt;=&lt;/mo&gt;&lt;mfrac&gt;&lt;mn&gt;1&lt;/mn&gt;&lt;mn&gt;5&lt;/mn&gt;&lt;/mfrac&gt;&lt;mtext&gt;&lt;/mtext&gt;&lt;mtext&gt;&lt;/mtext&gt;&lt;mtext&gt;&lt;/mtext&gt;&lt;mtext&gt;&lt;/mtext&gt;&lt;mtext&gt;&lt;/mtext&gt;&lt;mfrac&gt;&lt;mn&gt;2.5&lt;/mn&gt;&lt;mn&gt;10&lt;/mn&gt;&lt;/mfrac&gt;&lt;mo&gt;=&lt;/mo&gt;&lt;mfrac&gt;&lt;mn&gt;5&lt;/mn&gt;&lt;mn&gt;20&lt;/mn&gt;&lt;/mfrac&gt;&lt;mo&gt;=&lt;/mo&gt;&lt;mfrac&gt;&lt;mn&gt;1&lt;/mn&gt;&lt;mn&gt;4&lt;/mn&gt;&lt;/mfrac&gt;&lt;mtext&gt;&lt;/mtext&gt;&lt;mtext&gt;&lt;/mtext&gt;&lt;mtext&gt;&lt;/mtext&gt;&lt;mfrac&gt;&lt;mn&gt;4&lt;/mn&gt;&lt;mn&gt;12&lt;/mn&gt;&lt;/mfrac&gt;&lt;mo&gt;=&lt;/mo&gt;&lt;mfrac&gt;&lt;mn&gt;1&lt;/mn&gt;&lt;mn&gt;3&lt;/mn&gt;&lt;/mfrac&gt;&lt;mtext&gt;&lt;/mtext&gt;&lt;mtext&gt;&lt;/mtext&gt;&lt;mtext&gt;&lt;/mtext&gt;&lt;mtext&gt;&lt;/mtext&gt;&lt;mfrac&gt;&lt;mn&gt;6&lt;/mn&gt;&lt;mn&gt;30&lt;/mn&gt;&lt;/mfrac&gt;&lt;mo&gt;=&lt;/mo&gt;&lt;mfrac&gt;&lt;mn&gt;1&lt;/mn&gt;&lt;mn&gt;5&lt;/mn&gt;&lt;/mfrac&gt;&lt;/math&gt;" id="1081" name="Google Shape;1081;p90" title="5 over 15 equals one fifth 2.5 over 10 equals 5 over 20 equals one fourth 4 over 12 equals one third 6 over 30 equals one fifth"/>
          <p:cNvPicPr preferRelativeResize="0"/>
          <p:nvPr/>
        </p:nvPicPr>
        <p:blipFill rotWithShape="1">
          <a:blip r:embed="rId3">
            <a:alphaModFix/>
          </a:blip>
          <a:srcRect b="0" l="83645" r="-3655" t="0"/>
          <a:stretch/>
        </p:blipFill>
        <p:spPr>
          <a:xfrm>
            <a:off x="6897300" y="4099975"/>
            <a:ext cx="971401" cy="524525"/>
          </a:xfrm>
          <a:prstGeom prst="rect">
            <a:avLst/>
          </a:prstGeom>
          <a:noFill/>
          <a:ln>
            <a:noFill/>
          </a:ln>
        </p:spPr>
      </p:pic>
      <p:pic>
        <p:nvPicPr>
          <p:cNvPr descr="&lt;math xmlns=&quot;http://www.w3.org/1998/Math/MathML&quot; display=&quot;block&quot; data-is-equatio=&quot;1&quot; data-latex=&quot;\frac{6}{15}=\frac{2}{5}&quot;&gt;&lt;mfrac&gt;&lt;mn&gt;6&lt;/mn&gt;&lt;mn&gt;15&lt;/mn&gt;&lt;/mfrac&gt;&lt;mo&gt;=&lt;/mo&gt;&lt;mfrac&gt;&lt;mn&gt;2&lt;/mn&gt;&lt;mn&gt;5&lt;/mn&gt;&lt;/mfrac&gt;&lt;/math&gt;" id="1082" name="Google Shape;1082;p90" title="6 over 15 equals two fifths"/>
          <p:cNvPicPr preferRelativeResize="0"/>
          <p:nvPr/>
        </p:nvPicPr>
        <p:blipFill>
          <a:blip r:embed="rId4">
            <a:alphaModFix/>
          </a:blip>
          <a:stretch>
            <a:fillRect/>
          </a:stretch>
        </p:blipFill>
        <p:spPr>
          <a:xfrm>
            <a:off x="6913049" y="2212524"/>
            <a:ext cx="812063" cy="524525"/>
          </a:xfrm>
          <a:prstGeom prst="rect">
            <a:avLst/>
          </a:prstGeom>
          <a:noFill/>
          <a:ln>
            <a:noFill/>
          </a:ln>
        </p:spPr>
      </p:pic>
      <p:pic>
        <p:nvPicPr>
          <p:cNvPr id="1083" name="Google Shape;1083;p90"/>
          <p:cNvPicPr preferRelativeResize="0"/>
          <p:nvPr/>
        </p:nvPicPr>
        <p:blipFill>
          <a:blip r:embed="rId5">
            <a:alphaModFix/>
          </a:blip>
          <a:stretch>
            <a:fillRect/>
          </a:stretch>
        </p:blipFill>
        <p:spPr>
          <a:xfrm>
            <a:off x="1397633" y="2265238"/>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91"/>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using proportion</a:t>
            </a:r>
            <a:endParaRPr/>
          </a:p>
        </p:txBody>
      </p:sp>
      <p:sp>
        <p:nvSpPr>
          <p:cNvPr id="1089" name="Google Shape;1089;p91"/>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Paying attention to the whole</a:t>
            </a:r>
            <a:endParaRPr/>
          </a:p>
        </p:txBody>
      </p:sp>
      <p:sp>
        <p:nvSpPr>
          <p:cNvPr id="1090" name="Google Shape;1090;p91"/>
          <p:cNvSpPr txBox="1"/>
          <p:nvPr>
            <p:ph idx="3" type="title"/>
          </p:nvPr>
        </p:nvSpPr>
        <p:spPr>
          <a:xfrm>
            <a:off x="324000" y="657600"/>
            <a:ext cx="83538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understanding of multiplicative relationships</a:t>
            </a:r>
            <a:endParaRPr/>
          </a:p>
          <a:p>
            <a:pPr indent="0" lvl="0" marL="0" rtl="0" algn="l">
              <a:spcBef>
                <a:spcPts val="0"/>
              </a:spcBef>
              <a:spcAft>
                <a:spcPts val="0"/>
              </a:spcAft>
              <a:buNone/>
            </a:pPr>
            <a:r>
              <a:t/>
            </a:r>
            <a:endParaRPr/>
          </a:p>
        </p:txBody>
      </p:sp>
      <p:pic>
        <p:nvPicPr>
          <p:cNvPr id="1091" name="Google Shape;1091;p91"/>
          <p:cNvPicPr preferRelativeResize="0"/>
          <p:nvPr/>
        </p:nvPicPr>
        <p:blipFill>
          <a:blip r:embed="rId3">
            <a:alphaModFix/>
          </a:blip>
          <a:stretch>
            <a:fillRect/>
          </a:stretch>
        </p:blipFill>
        <p:spPr>
          <a:xfrm>
            <a:off x="419885" y="2988368"/>
            <a:ext cx="450575" cy="446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92"/>
          <p:cNvSpPr txBox="1"/>
          <p:nvPr>
            <p:ph idx="1" type="body"/>
          </p:nvPr>
        </p:nvSpPr>
        <p:spPr>
          <a:xfrm>
            <a:off x="324000" y="759300"/>
            <a:ext cx="8237700" cy="140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When using proportionality as a comparison, attention must be paid to the whole rather than assuming the measure of proportion is the absolute value.</a:t>
            </a:r>
            <a:endParaRPr/>
          </a:p>
          <a:p>
            <a:pPr indent="0" lvl="0" marL="0" rtl="0" algn="l">
              <a:spcBef>
                <a:spcPts val="1000"/>
              </a:spcBef>
              <a:spcAft>
                <a:spcPts val="1000"/>
              </a:spcAft>
              <a:buNone/>
            </a:pPr>
            <a:r>
              <a:t/>
            </a:r>
            <a:endParaRPr/>
          </a:p>
        </p:txBody>
      </p:sp>
      <p:sp>
        <p:nvSpPr>
          <p:cNvPr id="1097" name="Google Shape;1097;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Paying attention to the whole</a:t>
            </a:r>
            <a:endParaRPr/>
          </a:p>
        </p:txBody>
      </p:sp>
      <p:sp>
        <p:nvSpPr>
          <p:cNvPr id="1098" name="Google Shape;1098;p92"/>
          <p:cNvSpPr txBox="1"/>
          <p:nvPr>
            <p:ph idx="1" type="body"/>
          </p:nvPr>
        </p:nvSpPr>
        <p:spPr>
          <a:xfrm>
            <a:off x="324000" y="2069925"/>
            <a:ext cx="3478500" cy="140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Example</a:t>
            </a:r>
            <a:endParaRPr/>
          </a:p>
          <a:p>
            <a:pPr indent="0" lvl="0" marL="0" rtl="0" algn="l">
              <a:spcBef>
                <a:spcPts val="1000"/>
              </a:spcBef>
              <a:spcAft>
                <a:spcPts val="0"/>
              </a:spcAft>
              <a:buNone/>
            </a:pPr>
            <a:r>
              <a:rPr lang="en-GB"/>
              <a:t>Alex gets 50% in test A.</a:t>
            </a:r>
            <a:endParaRPr/>
          </a:p>
          <a:p>
            <a:pPr indent="0" lvl="0" marL="0" rtl="0" algn="l">
              <a:spcBef>
                <a:spcPts val="1000"/>
              </a:spcBef>
              <a:spcAft>
                <a:spcPts val="0"/>
              </a:spcAft>
              <a:buNone/>
            </a:pPr>
            <a:r>
              <a:rPr lang="en-GB"/>
              <a:t>Aisha gets 30% in test B.</a:t>
            </a:r>
            <a:endParaRPr/>
          </a:p>
          <a:p>
            <a:pPr indent="0" lvl="0" marL="0" rtl="0" algn="l">
              <a:spcBef>
                <a:spcPts val="1000"/>
              </a:spcBef>
              <a:spcAft>
                <a:spcPts val="0"/>
              </a:spcAft>
              <a:buNone/>
            </a:pPr>
            <a:r>
              <a:rPr lang="en-GB"/>
              <a:t>Who has done better?</a:t>
            </a:r>
            <a:endParaRPr/>
          </a:p>
          <a:p>
            <a:pPr indent="0" lvl="0" marL="0" rtl="0" algn="l">
              <a:spcBef>
                <a:spcPts val="1000"/>
              </a:spcBef>
              <a:spcAft>
                <a:spcPts val="1000"/>
              </a:spcAft>
              <a:buNone/>
            </a:pPr>
            <a:r>
              <a:t/>
            </a:r>
            <a:endParaRPr/>
          </a:p>
        </p:txBody>
      </p:sp>
      <p:sp>
        <p:nvSpPr>
          <p:cNvPr id="1099" name="Google Shape;1099;p92"/>
          <p:cNvSpPr txBox="1"/>
          <p:nvPr/>
        </p:nvSpPr>
        <p:spPr>
          <a:xfrm>
            <a:off x="323075" y="3977650"/>
            <a:ext cx="8081700" cy="5232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Aisha has got more answers correct as she did more questions. </a:t>
            </a:r>
            <a:endParaRPr>
              <a:latin typeface="Kalam"/>
              <a:ea typeface="Kalam"/>
              <a:cs typeface="Kalam"/>
              <a:sym typeface="Kalam"/>
            </a:endParaRPr>
          </a:p>
        </p:txBody>
      </p:sp>
      <p:sp>
        <p:nvSpPr>
          <p:cNvPr id="1100" name="Google Shape;1100;p92"/>
          <p:cNvSpPr txBox="1"/>
          <p:nvPr/>
        </p:nvSpPr>
        <p:spPr>
          <a:xfrm>
            <a:off x="323075" y="3977650"/>
            <a:ext cx="8081700" cy="9126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There is not enough information to make a comparison as we do not know the total marks in each test.</a:t>
            </a:r>
            <a:endParaRPr>
              <a:latin typeface="Kalam"/>
              <a:ea typeface="Kalam"/>
              <a:cs typeface="Kalam"/>
              <a:sym typeface="Kalam"/>
            </a:endParaRPr>
          </a:p>
        </p:txBody>
      </p:sp>
      <p:sp>
        <p:nvSpPr>
          <p:cNvPr id="1101" name="Google Shape;1101;p92"/>
          <p:cNvSpPr txBox="1"/>
          <p:nvPr>
            <p:ph idx="1" type="body"/>
          </p:nvPr>
        </p:nvSpPr>
        <p:spPr>
          <a:xfrm>
            <a:off x="324000" y="2069925"/>
            <a:ext cx="8309400" cy="140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Example</a:t>
            </a:r>
            <a:endParaRPr/>
          </a:p>
          <a:p>
            <a:pPr indent="0" lvl="0" marL="0" rtl="0" algn="l">
              <a:spcBef>
                <a:spcPts val="1000"/>
              </a:spcBef>
              <a:spcAft>
                <a:spcPts val="0"/>
              </a:spcAft>
              <a:buNone/>
            </a:pPr>
            <a:r>
              <a:rPr lang="en-GB"/>
              <a:t>Alex gets 50% in test A. Test A has 4 questions.</a:t>
            </a:r>
            <a:endParaRPr/>
          </a:p>
          <a:p>
            <a:pPr indent="0" lvl="0" marL="0" rtl="0" algn="l">
              <a:spcBef>
                <a:spcPts val="1000"/>
              </a:spcBef>
              <a:spcAft>
                <a:spcPts val="0"/>
              </a:spcAft>
              <a:buNone/>
            </a:pPr>
            <a:r>
              <a:rPr lang="en-GB"/>
              <a:t>Aisha gets 30% in test B. Test B has 100 questions.</a:t>
            </a:r>
            <a:endParaRPr/>
          </a:p>
          <a:p>
            <a:pPr indent="0" lvl="0" marL="0" rtl="0" algn="l">
              <a:spcBef>
                <a:spcPts val="1000"/>
              </a:spcBef>
              <a:spcAft>
                <a:spcPts val="0"/>
              </a:spcAft>
              <a:buNone/>
            </a:pPr>
            <a:r>
              <a:rPr lang="en-GB"/>
              <a:t>Who has done better?</a:t>
            </a:r>
            <a:endParaRPr/>
          </a:p>
          <a:p>
            <a:pPr indent="0" lvl="0" marL="0" rtl="0" algn="l">
              <a:spcBef>
                <a:spcPts val="1000"/>
              </a:spcBef>
              <a:spcAft>
                <a:spcPts val="10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0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93"/>
          <p:cNvSpPr txBox="1"/>
          <p:nvPr>
            <p:ph idx="4294967295" type="body"/>
          </p:nvPr>
        </p:nvSpPr>
        <p:spPr>
          <a:xfrm>
            <a:off x="324000" y="759300"/>
            <a:ext cx="84960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Lucas and Jun both have a chocolate bar each.</a:t>
            </a:r>
            <a:endParaRPr sz="1900"/>
          </a:p>
          <a:p>
            <a:pPr indent="0" lvl="0" marL="0" rtl="0" algn="l">
              <a:spcBef>
                <a:spcPts val="0"/>
              </a:spcBef>
              <a:spcAft>
                <a:spcPts val="0"/>
              </a:spcAft>
              <a:buNone/>
            </a:pPr>
            <a:r>
              <a:rPr lang="en-GB" sz="1900"/>
              <a:t>Lucas has a 60 g </a:t>
            </a:r>
            <a:r>
              <a:rPr lang="en-GB" sz="1900"/>
              <a:t>chocolate bar </a:t>
            </a:r>
            <a:r>
              <a:rPr lang="en-GB" sz="1900"/>
              <a:t>and Jun has a 30 g </a:t>
            </a:r>
            <a:r>
              <a:rPr lang="en-GB" sz="1900"/>
              <a:t>chocolate bar</a:t>
            </a:r>
            <a:r>
              <a:rPr lang="en-GB" sz="1900"/>
              <a:t>.</a:t>
            </a:r>
            <a:r>
              <a:rPr lang="en-GB" sz="200"/>
              <a:t>    </a:t>
            </a:r>
            <a:endParaRPr sz="200"/>
          </a:p>
          <a:p>
            <a:pPr indent="0" lvl="0" marL="0" rtl="0" algn="l">
              <a:spcBef>
                <a:spcPts val="0"/>
              </a:spcBef>
              <a:spcAft>
                <a:spcPts val="0"/>
              </a:spcAft>
              <a:buNone/>
            </a:pPr>
            <a:r>
              <a:rPr lang="en-GB" sz="1900"/>
              <a:t>Lucas </a:t>
            </a:r>
            <a:r>
              <a:rPr lang="en-GB" sz="1900"/>
              <a:t>eats     of his </a:t>
            </a:r>
            <a:r>
              <a:rPr lang="en-GB" sz="1900"/>
              <a:t>chocolate bar.</a:t>
            </a:r>
            <a:endParaRPr sz="1900"/>
          </a:p>
          <a:p>
            <a:pPr indent="0" lvl="0" marL="0" rtl="0" algn="l">
              <a:spcBef>
                <a:spcPts val="1000"/>
              </a:spcBef>
              <a:spcAft>
                <a:spcPts val="0"/>
              </a:spcAft>
              <a:buNone/>
            </a:pPr>
            <a:r>
              <a:rPr lang="en-GB" sz="1900"/>
              <a:t>Jun </a:t>
            </a:r>
            <a:r>
              <a:rPr lang="en-GB" sz="1900"/>
              <a:t>eats      of his </a:t>
            </a:r>
            <a:r>
              <a:rPr lang="en-GB" sz="1900"/>
              <a:t>chocolate bar.</a:t>
            </a:r>
            <a:endParaRPr sz="1900"/>
          </a:p>
          <a:p>
            <a:pPr indent="0" lvl="0" marL="0" rtl="0" algn="l">
              <a:spcBef>
                <a:spcPts val="1000"/>
              </a:spcBef>
              <a:spcAft>
                <a:spcPts val="0"/>
              </a:spcAft>
              <a:buNone/>
            </a:pPr>
            <a:r>
              <a:t/>
            </a:r>
            <a:endParaRPr sz="100"/>
          </a:p>
          <a:p>
            <a:pPr indent="0" lvl="0" marL="0" rtl="0" algn="l">
              <a:spcBef>
                <a:spcPts val="1000"/>
              </a:spcBef>
              <a:spcAft>
                <a:spcPts val="0"/>
              </a:spcAft>
              <a:buNone/>
            </a:pPr>
            <a:r>
              <a:rPr lang="en-GB" sz="1900"/>
              <a:t>Izzy says, “Jun has eaten more chocolate than Lucas because      &gt;     ”</a:t>
            </a:r>
            <a:endParaRPr sz="1900"/>
          </a:p>
          <a:p>
            <a:pPr indent="0" lvl="0" marL="0" rtl="0" algn="l">
              <a:spcBef>
                <a:spcPts val="1000"/>
              </a:spcBef>
              <a:spcAft>
                <a:spcPts val="0"/>
              </a:spcAft>
              <a:buNone/>
            </a:pPr>
            <a:r>
              <a:rPr lang="en-GB" sz="1900"/>
              <a:t>Explain why Izzy is wrong.</a:t>
            </a:r>
            <a:endParaRPr sz="1900"/>
          </a:p>
          <a:p>
            <a:pPr indent="0" lvl="0" marL="0" rtl="0" algn="l">
              <a:spcBef>
                <a:spcPts val="1000"/>
              </a:spcBef>
              <a:spcAft>
                <a:spcPts val="1000"/>
              </a:spcAft>
              <a:buNone/>
            </a:pPr>
            <a:r>
              <a:t/>
            </a:r>
            <a:endParaRPr sz="1700"/>
          </a:p>
        </p:txBody>
      </p:sp>
      <p:sp>
        <p:nvSpPr>
          <p:cNvPr id="1107" name="Google Shape;1107;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Paying attention to the whole</a:t>
            </a:r>
            <a:endParaRPr/>
          </a:p>
        </p:txBody>
      </p:sp>
      <p:pic>
        <p:nvPicPr>
          <p:cNvPr descr="&lt;math xmlns=&quot;http://www.w3.org/1998/Math/MathML&quot; display=&quot;block&quot; data-is-equatio=&quot;1&quot; data-latex=&quot;\frac{1}{2}\ \ \frac{1}{3}&quot;&gt;&lt;mfrac&gt;&lt;mn&gt;1&lt;/mn&gt;&lt;mn&gt;2&lt;/mn&gt;&lt;/mfrac&gt;&lt;mtext&gt;&lt;/mtext&gt;&lt;mtext&gt;&lt;/mtext&gt;&lt;mfrac&gt;&lt;mn&gt;1&lt;/mn&gt;&lt;mn&gt;3&lt;/mn&gt;&lt;/mfrac&gt;&lt;/math&gt;" id="1108" name="Google Shape;1108;p93" title="one half one third"/>
          <p:cNvPicPr preferRelativeResize="0"/>
          <p:nvPr/>
        </p:nvPicPr>
        <p:blipFill rotWithShape="1">
          <a:blip r:embed="rId3">
            <a:alphaModFix/>
          </a:blip>
          <a:srcRect b="0" l="0" r="57125" t="0"/>
          <a:stretch/>
        </p:blipFill>
        <p:spPr>
          <a:xfrm>
            <a:off x="1465250" y="1959775"/>
            <a:ext cx="193050" cy="470592"/>
          </a:xfrm>
          <a:prstGeom prst="rect">
            <a:avLst/>
          </a:prstGeom>
          <a:noFill/>
          <a:ln>
            <a:noFill/>
          </a:ln>
        </p:spPr>
      </p:pic>
      <p:pic>
        <p:nvPicPr>
          <p:cNvPr descr="&lt;math xmlns=&quot;http://www.w3.org/1998/Math/MathML&quot; display=&quot;block&quot; data-is-equatio=&quot;1&quot; data-latex=&quot;\frac{1}{2}\ \ \frac{1}{3}&quot;&gt;&lt;mfrac&gt;&lt;mn&gt;1&lt;/mn&gt;&lt;mn&gt;2&lt;/mn&gt;&lt;/mfrac&gt;&lt;mtext&gt;&lt;/mtext&gt;&lt;mtext&gt;&lt;/mtext&gt;&lt;mfrac&gt;&lt;mn&gt;1&lt;/mn&gt;&lt;mn&gt;3&lt;/mn&gt;&lt;/mfrac&gt;&lt;/math&gt;" id="1109" name="Google Shape;1109;p93" title="one half one third"/>
          <p:cNvPicPr preferRelativeResize="0"/>
          <p:nvPr/>
        </p:nvPicPr>
        <p:blipFill rotWithShape="1">
          <a:blip r:embed="rId3">
            <a:alphaModFix/>
          </a:blip>
          <a:srcRect b="0" l="57136" r="-8" t="0"/>
          <a:stretch/>
        </p:blipFill>
        <p:spPr>
          <a:xfrm>
            <a:off x="1658300" y="1489188"/>
            <a:ext cx="193050" cy="470575"/>
          </a:xfrm>
          <a:prstGeom prst="rect">
            <a:avLst/>
          </a:prstGeom>
          <a:noFill/>
          <a:ln>
            <a:noFill/>
          </a:ln>
        </p:spPr>
      </p:pic>
      <p:pic>
        <p:nvPicPr>
          <p:cNvPr descr="&lt;math xmlns=&quot;http://www.w3.org/1998/Math/MathML&quot; display=&quot;block&quot; data-is-equatio=&quot;1&quot; data-latex=&quot;\frac{1}{2}\ \ \frac{1}{3}&quot;&gt;&lt;mfrac&gt;&lt;mn&gt;1&lt;/mn&gt;&lt;mn&gt;2&lt;/mn&gt;&lt;/mfrac&gt;&lt;mtext&gt;&lt;/mtext&gt;&lt;mtext&gt;&lt;/mtext&gt;&lt;mfrac&gt;&lt;mn&gt;1&lt;/mn&gt;&lt;mn&gt;3&lt;/mn&gt;&lt;/mfrac&gt;&lt;/math&gt;" id="1110" name="Google Shape;1110;p93" title="one half one third"/>
          <p:cNvPicPr preferRelativeResize="0"/>
          <p:nvPr/>
        </p:nvPicPr>
        <p:blipFill rotWithShape="1">
          <a:blip r:embed="rId3">
            <a:alphaModFix/>
          </a:blip>
          <a:srcRect b="0" l="0" r="57125" t="0"/>
          <a:stretch/>
        </p:blipFill>
        <p:spPr>
          <a:xfrm>
            <a:off x="7681926" y="2619003"/>
            <a:ext cx="195964" cy="477673"/>
          </a:xfrm>
          <a:prstGeom prst="rect">
            <a:avLst/>
          </a:prstGeom>
          <a:noFill/>
          <a:ln>
            <a:noFill/>
          </a:ln>
        </p:spPr>
      </p:pic>
      <p:pic>
        <p:nvPicPr>
          <p:cNvPr descr="&lt;math xmlns=&quot;http://www.w3.org/1998/Math/MathML&quot; display=&quot;block&quot; data-is-equatio=&quot;1&quot; data-latex=&quot;\frac{1}{2}\ \ \frac{1}{3}&quot;&gt;&lt;mfrac&gt;&lt;mn&gt;1&lt;/mn&gt;&lt;mn&gt;2&lt;/mn&gt;&lt;/mfrac&gt;&lt;mtext&gt;&lt;/mtext&gt;&lt;mtext&gt;&lt;/mtext&gt;&lt;mfrac&gt;&lt;mn&gt;1&lt;/mn&gt;&lt;mn&gt;3&lt;/mn&gt;&lt;/mfrac&gt;&lt;/math&gt;" id="1111" name="Google Shape;1111;p93" title="one half one third"/>
          <p:cNvPicPr preferRelativeResize="0"/>
          <p:nvPr/>
        </p:nvPicPr>
        <p:blipFill rotWithShape="1">
          <a:blip r:embed="rId3">
            <a:alphaModFix/>
          </a:blip>
          <a:srcRect b="0" l="57136" r="-8" t="0"/>
          <a:stretch/>
        </p:blipFill>
        <p:spPr>
          <a:xfrm>
            <a:off x="8176915" y="2619001"/>
            <a:ext cx="195956" cy="477673"/>
          </a:xfrm>
          <a:prstGeom prst="rect">
            <a:avLst/>
          </a:prstGeom>
          <a:noFill/>
          <a:ln>
            <a:noFill/>
          </a:ln>
        </p:spPr>
      </p:pic>
      <p:sp>
        <p:nvSpPr>
          <p:cNvPr id="1112" name="Google Shape;1112;p93"/>
          <p:cNvSpPr txBox="1"/>
          <p:nvPr/>
        </p:nvSpPr>
        <p:spPr>
          <a:xfrm>
            <a:off x="324000" y="3535250"/>
            <a:ext cx="8629500" cy="11499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900">
                <a:latin typeface="Kalam"/>
                <a:ea typeface="Kalam"/>
                <a:cs typeface="Kalam"/>
                <a:sym typeface="Kalam"/>
              </a:rPr>
              <a:t>The proportion of Jun’s chocolate bar is greater than the </a:t>
            </a:r>
            <a:r>
              <a:rPr lang="en-GB" sz="1900">
                <a:latin typeface="Kalam"/>
                <a:ea typeface="Kalam"/>
                <a:cs typeface="Kalam"/>
                <a:sym typeface="Kalam"/>
              </a:rPr>
              <a:t>proportion of Lucas’ chocolate bar, but because Lucas’ chocolate bar is twice the size of Jun’s chocolate bar, that means Lucas has eaten more.</a:t>
            </a:r>
            <a:r>
              <a:rPr lang="en-GB" sz="1900">
                <a:latin typeface="Kalam"/>
                <a:ea typeface="Kalam"/>
                <a:cs typeface="Kalam"/>
                <a:sym typeface="Kalam"/>
              </a:rPr>
              <a:t> </a:t>
            </a:r>
            <a:endParaRPr sz="19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94"/>
          <p:cNvSpPr txBox="1"/>
          <p:nvPr>
            <p:ph idx="1" type="subTitle"/>
          </p:nvPr>
        </p:nvSpPr>
        <p:spPr>
          <a:xfrm>
            <a:off x="1034425" y="1685375"/>
            <a:ext cx="20679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a:t>
            </a:r>
            <a:r>
              <a:rPr lang="en-GB"/>
              <a:t>% </a:t>
            </a:r>
            <a:endParaRPr/>
          </a:p>
        </p:txBody>
      </p:sp>
      <p:sp>
        <p:nvSpPr>
          <p:cNvPr id="1118" name="Google Shape;1118;p94"/>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Paying attention to the whole</a:t>
            </a:r>
            <a:endParaRPr/>
          </a:p>
        </p:txBody>
      </p:sp>
      <p:sp>
        <p:nvSpPr>
          <p:cNvPr id="1119" name="Google Shape;1119;p94"/>
          <p:cNvSpPr txBox="1"/>
          <p:nvPr>
            <p:ph type="title"/>
          </p:nvPr>
        </p:nvSpPr>
        <p:spPr>
          <a:xfrm>
            <a:off x="324000" y="809988"/>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Jun is asked which of these is greater. Do you agree? Explain.</a:t>
            </a:r>
            <a:endParaRPr/>
          </a:p>
        </p:txBody>
      </p:sp>
      <p:sp>
        <p:nvSpPr>
          <p:cNvPr id="1120" name="Google Shape;1120;p94"/>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100%</a:t>
            </a:r>
            <a:endParaRPr/>
          </a:p>
        </p:txBody>
      </p:sp>
      <p:sp>
        <p:nvSpPr>
          <p:cNvPr id="1121" name="Google Shape;1121;p94"/>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a:t>
            </a:r>
            <a:endParaRPr/>
          </a:p>
        </p:txBody>
      </p:sp>
      <p:sp>
        <p:nvSpPr>
          <p:cNvPr id="1122" name="Google Shape;1122;p94"/>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300%</a:t>
            </a:r>
            <a:endParaRPr/>
          </a:p>
        </p:txBody>
      </p:sp>
      <p:pic>
        <p:nvPicPr>
          <p:cNvPr descr="&lt;math xmlns=&quot;http://www.w3.org/1998/Math/MathML&quot; display=&quot;block&quot; data-is-equatio=&quot;1&quot; data-latex=&quot;\frac{1}{2}&quot;&gt;&lt;mfrac&gt;&lt;mn&gt;1&lt;/mn&gt;&lt;mn&gt;2&lt;/mn&gt;&lt;/mfrac&gt;&lt;/math&gt;" id="1123" name="Google Shape;1123;p94" title="one half"/>
          <p:cNvPicPr preferRelativeResize="0"/>
          <p:nvPr/>
        </p:nvPicPr>
        <p:blipFill>
          <a:blip r:embed="rId3">
            <a:alphaModFix/>
          </a:blip>
          <a:stretch>
            <a:fillRect/>
          </a:stretch>
        </p:blipFill>
        <p:spPr>
          <a:xfrm>
            <a:off x="1034425" y="3143957"/>
            <a:ext cx="221100" cy="704450"/>
          </a:xfrm>
          <a:prstGeom prst="rect">
            <a:avLst/>
          </a:prstGeom>
          <a:noFill/>
          <a:ln>
            <a:noFill/>
          </a:ln>
        </p:spPr>
      </p:pic>
      <p:sp>
        <p:nvSpPr>
          <p:cNvPr id="1124" name="Google Shape;1124;p94"/>
          <p:cNvSpPr txBox="1"/>
          <p:nvPr/>
        </p:nvSpPr>
        <p:spPr>
          <a:xfrm>
            <a:off x="2699700" y="3383025"/>
            <a:ext cx="5509500" cy="109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Without knowing what the whole is you cannot make an informed choice.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For example, it could be 300% of nothing.</a:t>
            </a:r>
            <a:endParaRPr sz="2000">
              <a:solidFill>
                <a:schemeClr val="dk1"/>
              </a:solidFill>
              <a:latin typeface="Kalam"/>
              <a:ea typeface="Kalam"/>
              <a:cs typeface="Kalam"/>
              <a:sym typeface="Kalam"/>
            </a:endParaRPr>
          </a:p>
        </p:txBody>
      </p:sp>
      <p:pic>
        <p:nvPicPr>
          <p:cNvPr id="1125" name="Google Shape;1125;p94"/>
          <p:cNvPicPr preferRelativeResize="0"/>
          <p:nvPr/>
        </p:nvPicPr>
        <p:blipFill rotWithShape="1">
          <a:blip r:embed="rId4">
            <a:alphaModFix/>
          </a:blip>
          <a:srcRect b="0" l="0" r="69082" t="56280"/>
          <a:stretch/>
        </p:blipFill>
        <p:spPr>
          <a:xfrm>
            <a:off x="3969888" y="1441687"/>
            <a:ext cx="2492175" cy="1677700"/>
          </a:xfrm>
          <a:prstGeom prst="rect">
            <a:avLst/>
          </a:prstGeom>
          <a:noFill/>
          <a:ln>
            <a:noFill/>
          </a:ln>
        </p:spPr>
      </p:pic>
      <p:sp>
        <p:nvSpPr>
          <p:cNvPr id="1126" name="Google Shape;1126;p94"/>
          <p:cNvSpPr txBox="1"/>
          <p:nvPr/>
        </p:nvSpPr>
        <p:spPr>
          <a:xfrm>
            <a:off x="2217125" y="2579875"/>
            <a:ext cx="14577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t/>
            </a:r>
            <a:endParaRPr>
              <a:latin typeface="Lexend"/>
              <a:ea typeface="Lexend"/>
              <a:cs typeface="Lexend"/>
              <a:sym typeface="Lexend"/>
            </a:endParaRPr>
          </a:p>
        </p:txBody>
      </p:sp>
      <p:pic>
        <p:nvPicPr>
          <p:cNvPr id="1127" name="Google Shape;1127;p94"/>
          <p:cNvPicPr preferRelativeResize="0"/>
          <p:nvPr/>
        </p:nvPicPr>
        <p:blipFill>
          <a:blip r:embed="rId5">
            <a:alphaModFix/>
          </a:blip>
          <a:stretch>
            <a:fillRect/>
          </a:stretch>
        </p:blipFill>
        <p:spPr>
          <a:xfrm flipH="1">
            <a:off x="6424996" y="2424737"/>
            <a:ext cx="727174" cy="909325"/>
          </a:xfrm>
          <a:prstGeom prst="rect">
            <a:avLst/>
          </a:prstGeom>
          <a:noFill/>
          <a:ln>
            <a:noFill/>
          </a:ln>
        </p:spPr>
      </p:pic>
      <p:sp>
        <p:nvSpPr>
          <p:cNvPr id="1128" name="Google Shape;1128;p94"/>
          <p:cNvSpPr txBox="1"/>
          <p:nvPr/>
        </p:nvSpPr>
        <p:spPr>
          <a:xfrm>
            <a:off x="4298073" y="1560399"/>
            <a:ext cx="2044800" cy="111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I choose 300% because it is the highest proportion</a:t>
            </a:r>
            <a:endParaRPr sz="19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95"/>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of a million pounds</a:t>
            </a:r>
            <a:endParaRPr/>
          </a:p>
        </p:txBody>
      </p:sp>
      <p:sp>
        <p:nvSpPr>
          <p:cNvPr id="1134" name="Google Shape;1134;p95"/>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Paying attention to the whole</a:t>
            </a:r>
            <a:endParaRPr/>
          </a:p>
        </p:txBody>
      </p:sp>
      <p:sp>
        <p:nvSpPr>
          <p:cNvPr id="1135" name="Google Shape;1135;p95"/>
          <p:cNvSpPr txBox="1"/>
          <p:nvPr>
            <p:ph type="title"/>
          </p:nvPr>
        </p:nvSpPr>
        <p:spPr>
          <a:xfrm>
            <a:off x="324000" y="809988"/>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is the greatest amount of money?</a:t>
            </a:r>
            <a:endParaRPr/>
          </a:p>
        </p:txBody>
      </p:sp>
      <p:sp>
        <p:nvSpPr>
          <p:cNvPr id="1136" name="Google Shape;1136;p95"/>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100% of £11 000</a:t>
            </a:r>
            <a:endParaRPr/>
          </a:p>
        </p:txBody>
      </p:sp>
      <p:sp>
        <p:nvSpPr>
          <p:cNvPr id="1137" name="Google Shape;1137;p95"/>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o</a:t>
            </a:r>
            <a:r>
              <a:rPr lang="en-GB"/>
              <a:t>f  £20 000</a:t>
            </a:r>
            <a:endParaRPr/>
          </a:p>
        </p:txBody>
      </p:sp>
      <p:sp>
        <p:nvSpPr>
          <p:cNvPr id="1138" name="Google Shape;1138;p95"/>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300% of £2000</a:t>
            </a:r>
            <a:endParaRPr/>
          </a:p>
        </p:txBody>
      </p:sp>
      <p:pic>
        <p:nvPicPr>
          <p:cNvPr descr="&lt;math xmlns=&quot;http://www.w3.org/1998/Math/MathML&quot; display=&quot;block&quot; data-is-equatio=&quot;1&quot; data-latex=&quot;\frac{1}{2}&quot;&gt;&lt;mfrac&gt;&lt;mn&gt;1&lt;/mn&gt;&lt;mn&gt;2&lt;/mn&gt;&lt;/mfrac&gt;&lt;/math&gt;" id="1139" name="Google Shape;1139;p95" title="one half"/>
          <p:cNvPicPr preferRelativeResize="0"/>
          <p:nvPr/>
        </p:nvPicPr>
        <p:blipFill>
          <a:blip r:embed="rId3">
            <a:alphaModFix/>
          </a:blip>
          <a:stretch>
            <a:fillRect/>
          </a:stretch>
        </p:blipFill>
        <p:spPr>
          <a:xfrm>
            <a:off x="1034425" y="3143957"/>
            <a:ext cx="221100" cy="704450"/>
          </a:xfrm>
          <a:prstGeom prst="rect">
            <a:avLst/>
          </a:prstGeom>
          <a:noFill/>
          <a:ln>
            <a:noFill/>
          </a:ln>
        </p:spPr>
      </p:pic>
      <p:pic>
        <p:nvPicPr>
          <p:cNvPr id="1140" name="Google Shape;1140;p95"/>
          <p:cNvPicPr preferRelativeResize="0"/>
          <p:nvPr/>
        </p:nvPicPr>
        <p:blipFill>
          <a:blip r:embed="rId4">
            <a:alphaModFix/>
          </a:blip>
          <a:stretch>
            <a:fillRect/>
          </a:stretch>
        </p:blipFill>
        <p:spPr>
          <a:xfrm>
            <a:off x="4320008" y="1548350"/>
            <a:ext cx="396000" cy="419100"/>
          </a:xfrm>
          <a:prstGeom prst="rect">
            <a:avLst/>
          </a:prstGeom>
          <a:noFill/>
          <a:ln>
            <a:noFill/>
          </a:ln>
        </p:spPr>
      </p:pic>
      <p:sp>
        <p:nvSpPr>
          <p:cNvPr id="1141" name="Google Shape;1141;p95"/>
          <p:cNvSpPr txBox="1"/>
          <p:nvPr/>
        </p:nvSpPr>
        <p:spPr>
          <a:xfrm>
            <a:off x="4824000" y="1588325"/>
            <a:ext cx="22320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This is £20 000</a:t>
            </a:r>
            <a:endParaRPr sz="2200">
              <a:solidFill>
                <a:schemeClr val="dk1"/>
              </a:solidFill>
              <a:latin typeface="Kalam"/>
              <a:ea typeface="Kalam"/>
              <a:cs typeface="Kalam"/>
              <a:sym typeface="Kalam"/>
            </a:endParaRPr>
          </a:p>
        </p:txBody>
      </p:sp>
      <p:sp>
        <p:nvSpPr>
          <p:cNvPr id="1142" name="Google Shape;1142;p95"/>
          <p:cNvSpPr txBox="1"/>
          <p:nvPr/>
        </p:nvSpPr>
        <p:spPr>
          <a:xfrm>
            <a:off x="3452400" y="2426525"/>
            <a:ext cx="22320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This is £11 000</a:t>
            </a:r>
            <a:endParaRPr sz="2200">
              <a:solidFill>
                <a:schemeClr val="dk1"/>
              </a:solidFill>
              <a:latin typeface="Kalam"/>
              <a:ea typeface="Kalam"/>
              <a:cs typeface="Kalam"/>
              <a:sym typeface="Kalam"/>
            </a:endParaRPr>
          </a:p>
        </p:txBody>
      </p:sp>
      <p:sp>
        <p:nvSpPr>
          <p:cNvPr id="1143" name="Google Shape;1143;p95"/>
          <p:cNvSpPr txBox="1"/>
          <p:nvPr/>
        </p:nvSpPr>
        <p:spPr>
          <a:xfrm>
            <a:off x="3376200" y="3188525"/>
            <a:ext cx="22320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This is £10 000</a:t>
            </a:r>
            <a:endParaRPr sz="2200">
              <a:solidFill>
                <a:schemeClr val="dk1"/>
              </a:solidFill>
              <a:latin typeface="Kalam"/>
              <a:ea typeface="Kalam"/>
              <a:cs typeface="Kalam"/>
              <a:sym typeface="Kalam"/>
            </a:endParaRPr>
          </a:p>
        </p:txBody>
      </p:sp>
      <p:sp>
        <p:nvSpPr>
          <p:cNvPr id="1144" name="Google Shape;1144;p95"/>
          <p:cNvSpPr txBox="1"/>
          <p:nvPr/>
        </p:nvSpPr>
        <p:spPr>
          <a:xfrm>
            <a:off x="3376200" y="4026725"/>
            <a:ext cx="22320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This is £6000</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9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Insert the correct </a:t>
            </a:r>
            <a:r>
              <a:rPr lang="en-GB"/>
              <a:t>inequality =, &lt; or &gt;</a:t>
            </a:r>
            <a:r>
              <a:rPr lang="en-GB"/>
              <a:t> for the following:</a:t>
            </a:r>
            <a:endParaRPr/>
          </a:p>
          <a:p>
            <a:pPr indent="0" lvl="0" marL="0" rtl="0" algn="l">
              <a:spcBef>
                <a:spcPts val="1000"/>
              </a:spcBef>
              <a:spcAft>
                <a:spcPts val="0"/>
              </a:spcAft>
              <a:buNone/>
            </a:pPr>
            <a:r>
              <a:t/>
            </a:r>
            <a:endParaRPr sz="500"/>
          </a:p>
          <a:p>
            <a:pPr indent="-368300" lvl="0" marL="457200" rtl="0" algn="l">
              <a:spcBef>
                <a:spcPts val="1000"/>
              </a:spcBef>
              <a:spcAft>
                <a:spcPts val="0"/>
              </a:spcAft>
              <a:buSzPts val="2200"/>
              <a:buAutoNum type="alphaLcParenR"/>
            </a:pPr>
            <a:r>
              <a:rPr lang="en-GB"/>
              <a:t>50% of 900 &gt; 10% of 4000</a:t>
            </a:r>
            <a:endParaRPr/>
          </a:p>
          <a:p>
            <a:pPr indent="0" lvl="0" marL="457200" rtl="0" algn="l">
              <a:spcBef>
                <a:spcPts val="1000"/>
              </a:spcBef>
              <a:spcAft>
                <a:spcPts val="0"/>
              </a:spcAft>
              <a:buNone/>
            </a:pPr>
            <a:r>
              <a:t/>
            </a:r>
            <a:endParaRPr/>
          </a:p>
          <a:p>
            <a:pPr indent="-368300" lvl="0" marL="457200" rtl="0" algn="l">
              <a:spcBef>
                <a:spcPts val="1000"/>
              </a:spcBef>
              <a:spcAft>
                <a:spcPts val="0"/>
              </a:spcAft>
              <a:buSzPts val="2200"/>
              <a:buAutoNum type="alphaLcParenR"/>
            </a:pPr>
            <a:r>
              <a:rPr lang="en-GB"/>
              <a:t>    &gt; </a:t>
            </a:r>
            <a:endParaRPr/>
          </a:p>
          <a:p>
            <a:pPr indent="0" lvl="0" marL="0" rtl="0" algn="l">
              <a:spcBef>
                <a:spcPts val="1000"/>
              </a:spcBef>
              <a:spcAft>
                <a:spcPts val="0"/>
              </a:spcAft>
              <a:buNone/>
            </a:pPr>
            <a:r>
              <a:t/>
            </a:r>
            <a:endParaRPr/>
          </a:p>
          <a:p>
            <a:pPr indent="-368300" lvl="0" marL="457200" rtl="0" algn="l">
              <a:spcBef>
                <a:spcPts val="1000"/>
              </a:spcBef>
              <a:spcAft>
                <a:spcPts val="0"/>
              </a:spcAft>
              <a:buSzPts val="2200"/>
              <a:buAutoNum type="alphaLcParenR"/>
            </a:pPr>
            <a:r>
              <a:rPr lang="en-GB"/>
              <a:t>     o</a:t>
            </a:r>
            <a:r>
              <a:rPr lang="en-GB"/>
              <a:t>f 24  &lt;      of 60</a:t>
            </a:r>
            <a:endParaRPr/>
          </a:p>
        </p:txBody>
      </p:sp>
      <p:sp>
        <p:nvSpPr>
          <p:cNvPr id="1150" name="Google Shape;1150;p9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Paying attention to the whole</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frac{1}{2}\ \ \ \ \frac{1}{3}&quot;&gt;&lt;mfrac&gt;&lt;mn&gt;1&lt;/mn&gt;&lt;mn&gt;2&lt;/mn&gt;&lt;/mfrac&gt;&lt;mtext&gt;&lt;/mtext&gt;&lt;mtext&gt;&lt;/mtext&gt;&lt;mtext&gt;&lt;/mtext&gt;&lt;mtext&gt;&lt;/mtext&gt;&lt;mfrac&gt;&lt;mn&gt;1&lt;/mn&gt;&lt;mn&gt;3&lt;/mn&gt;&lt;/mfrac&gt;&lt;/math&gt;" id="1151" name="Google Shape;1151;p96" title="one half one third"/>
          <p:cNvPicPr preferRelativeResize="0"/>
          <p:nvPr/>
        </p:nvPicPr>
        <p:blipFill>
          <a:blip r:embed="rId3">
            <a:alphaModFix/>
          </a:blip>
          <a:stretch>
            <a:fillRect/>
          </a:stretch>
        </p:blipFill>
        <p:spPr>
          <a:xfrm>
            <a:off x="778325" y="2320020"/>
            <a:ext cx="829525" cy="694600"/>
          </a:xfrm>
          <a:prstGeom prst="rect">
            <a:avLst/>
          </a:prstGeom>
          <a:noFill/>
          <a:ln>
            <a:noFill/>
          </a:ln>
        </p:spPr>
      </p:pic>
      <p:pic>
        <p:nvPicPr>
          <p:cNvPr descr="&lt;math xmlns=&quot;http://www.w3.org/1998/Math/MathML&quot; display=&quot;block&quot; data-is-equatio=&quot;1&quot; data-latex=&quot;\frac{1}{2}\ \ \ \ \frac{1}{3}&quot;&gt;&lt;mfrac&gt;&lt;mn&gt;1&lt;/mn&gt;&lt;mn&gt;2&lt;/mn&gt;&lt;/mfrac&gt;&lt;mtext&gt;&lt;/mtext&gt;&lt;mtext&gt;&lt;/mtext&gt;&lt;mtext&gt;&lt;/mtext&gt;&lt;mtext&gt;&lt;/mtext&gt;&lt;mfrac&gt;&lt;mn&gt;1&lt;/mn&gt;&lt;mn&gt;3&lt;/mn&gt;&lt;/mfrac&gt;&lt;/math&gt;" id="1152" name="Google Shape;1152;p96" title="one half one third"/>
          <p:cNvPicPr preferRelativeResize="0"/>
          <p:nvPr/>
        </p:nvPicPr>
        <p:blipFill rotWithShape="1">
          <a:blip r:embed="rId3">
            <a:alphaModFix/>
          </a:blip>
          <a:srcRect b="0" l="0" r="63386" t="0"/>
          <a:stretch/>
        </p:blipFill>
        <p:spPr>
          <a:xfrm>
            <a:off x="778325" y="3386820"/>
            <a:ext cx="303725" cy="694600"/>
          </a:xfrm>
          <a:prstGeom prst="rect">
            <a:avLst/>
          </a:prstGeom>
          <a:noFill/>
          <a:ln>
            <a:noFill/>
          </a:ln>
        </p:spPr>
      </p:pic>
      <p:pic>
        <p:nvPicPr>
          <p:cNvPr descr="&lt;math xmlns=&quot;http://www.w3.org/1998/Math/MathML&quot; display=&quot;block&quot; data-is-equatio=&quot;1&quot; data-latex=&quot;\frac{1}{2}\ \ \ \ \frac{1}{3}&quot;&gt;&lt;mfrac&gt;&lt;mn&gt;1&lt;/mn&gt;&lt;mn&gt;2&lt;/mn&gt;&lt;/mfrac&gt;&lt;mtext&gt;&lt;/mtext&gt;&lt;mtext&gt;&lt;/mtext&gt;&lt;mtext&gt;&lt;/mtext&gt;&lt;mtext&gt;&lt;/mtext&gt;&lt;mfrac&gt;&lt;mn&gt;1&lt;/mn&gt;&lt;mn&gt;3&lt;/mn&gt;&lt;/mfrac&gt;&lt;/math&gt;" id="1153" name="Google Shape;1153;p96" title="one half one third"/>
          <p:cNvPicPr preferRelativeResize="0"/>
          <p:nvPr/>
        </p:nvPicPr>
        <p:blipFill rotWithShape="1">
          <a:blip r:embed="rId3">
            <a:alphaModFix/>
          </a:blip>
          <a:srcRect b="0" l="67976" r="-4591" t="0"/>
          <a:stretch/>
        </p:blipFill>
        <p:spPr>
          <a:xfrm>
            <a:off x="2317575" y="3386820"/>
            <a:ext cx="303725" cy="694600"/>
          </a:xfrm>
          <a:prstGeom prst="rect">
            <a:avLst/>
          </a:prstGeom>
          <a:noFill/>
          <a:ln>
            <a:noFill/>
          </a:ln>
        </p:spPr>
      </p:pic>
      <p:cxnSp>
        <p:nvCxnSpPr>
          <p:cNvPr id="1154" name="Google Shape;1154;p96"/>
          <p:cNvCxnSpPr/>
          <p:nvPr/>
        </p:nvCxnSpPr>
        <p:spPr>
          <a:xfrm>
            <a:off x="4511050" y="1280150"/>
            <a:ext cx="0" cy="3207900"/>
          </a:xfrm>
          <a:prstGeom prst="straightConnector1">
            <a:avLst/>
          </a:prstGeom>
          <a:noFill/>
          <a:ln cap="flat" cmpd="sng" w="9525">
            <a:solidFill>
              <a:schemeClr val="dk2"/>
            </a:solidFill>
            <a:prstDash val="solid"/>
            <a:round/>
            <a:headEnd len="med" w="med" type="none"/>
            <a:tailEnd len="med" w="med" type="none"/>
          </a:ln>
        </p:spPr>
      </p:cxnSp>
      <p:sp>
        <p:nvSpPr>
          <p:cNvPr id="1155" name="Google Shape;1155;p96"/>
          <p:cNvSpPr txBox="1"/>
          <p:nvPr/>
        </p:nvSpPr>
        <p:spPr>
          <a:xfrm>
            <a:off x="4604400" y="944875"/>
            <a:ext cx="4516800" cy="311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200">
                <a:solidFill>
                  <a:schemeClr val="dk1"/>
                </a:solidFill>
                <a:latin typeface="Lexend"/>
                <a:ea typeface="Lexend"/>
                <a:cs typeface="Lexend"/>
                <a:sym typeface="Lexend"/>
              </a:rPr>
              <a:t>d)         &lt;</a:t>
            </a:r>
            <a:endParaRPr sz="2200">
              <a:solidFill>
                <a:schemeClr val="dk1"/>
              </a:solidFill>
              <a:latin typeface="Lexend"/>
              <a:ea typeface="Lexend"/>
              <a:cs typeface="Lexend"/>
              <a:sym typeface="Lexend"/>
            </a:endParaRPr>
          </a:p>
          <a:p>
            <a:pPr indent="0" lvl="0" marL="457200" rtl="0" algn="l">
              <a:lnSpc>
                <a:spcPct val="115000"/>
              </a:lnSpc>
              <a:spcBef>
                <a:spcPts val="1000"/>
              </a:spcBef>
              <a:spcAft>
                <a:spcPts val="0"/>
              </a:spcAft>
              <a:buNone/>
            </a:pPr>
            <a:r>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200">
                <a:solidFill>
                  <a:schemeClr val="dk1"/>
                </a:solidFill>
                <a:latin typeface="Lexend"/>
                <a:ea typeface="Lexend"/>
                <a:cs typeface="Lexend"/>
                <a:sym typeface="Lexend"/>
              </a:rPr>
              <a:t>e)      of 30 &lt;     of 50</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2200">
                <a:solidFill>
                  <a:schemeClr val="dk1"/>
                </a:solidFill>
                <a:latin typeface="Lexend"/>
                <a:ea typeface="Lexend"/>
                <a:cs typeface="Lexend"/>
                <a:sym typeface="Lexend"/>
              </a:rPr>
              <a:t>f)  </a:t>
            </a:r>
            <a:r>
              <a:rPr lang="en-GB" sz="2200">
                <a:solidFill>
                  <a:schemeClr val="dk1"/>
                </a:solidFill>
                <a:latin typeface="Lexend"/>
                <a:ea typeface="Lexend"/>
                <a:cs typeface="Lexend"/>
                <a:sym typeface="Lexend"/>
              </a:rPr>
              <a:t>1% of 900 = 900% of 1</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2}{3}\ \ \ \frac{4}{5}&quot;&gt;&lt;mfrac&gt;&lt;mn&gt;2&lt;/mn&gt;&lt;mn&gt;3&lt;/mn&gt;&lt;/mfrac&gt;&lt;mtext&gt;&lt;/mtext&gt;&lt;mtext&gt;&lt;/mtext&gt;&lt;mtext&gt;&lt;/mtext&gt;&lt;mfrac&gt;&lt;mn&gt;4&lt;/mn&gt;&lt;mn&gt;5&lt;/mn&gt;&lt;/mfrac&gt;&lt;/math&gt;" id="1156" name="Google Shape;1156;p96" title="two thirds four fifths"/>
          <p:cNvPicPr preferRelativeResize="0"/>
          <p:nvPr/>
        </p:nvPicPr>
        <p:blipFill>
          <a:blip r:embed="rId4">
            <a:alphaModFix/>
          </a:blip>
          <a:stretch>
            <a:fillRect/>
          </a:stretch>
        </p:blipFill>
        <p:spPr>
          <a:xfrm>
            <a:off x="5368533" y="1355079"/>
            <a:ext cx="750782" cy="694600"/>
          </a:xfrm>
          <a:prstGeom prst="rect">
            <a:avLst/>
          </a:prstGeom>
          <a:noFill/>
          <a:ln>
            <a:noFill/>
          </a:ln>
        </p:spPr>
      </p:pic>
      <p:pic>
        <p:nvPicPr>
          <p:cNvPr descr="&lt;math xmlns=&quot;http://www.w3.org/1998/Math/MathML&quot; display=&quot;block&quot; data-is-equatio=&quot;1&quot; data-latex=&quot;\frac{2}{3}\ \ \ \frac{4}{5}&quot;&gt;&lt;mfrac&gt;&lt;mn&gt;2&lt;/mn&gt;&lt;mn&gt;3&lt;/mn&gt;&lt;/mfrac&gt;&lt;mtext&gt;&lt;/mtext&gt;&lt;mtext&gt;&lt;/mtext&gt;&lt;mtext&gt;&lt;/mtext&gt;&lt;mfrac&gt;&lt;mn&gt;4&lt;/mn&gt;&lt;mn&gt;5&lt;/mn&gt;&lt;/mfrac&gt;&lt;/math&gt;" id="1157" name="Google Shape;1157;p96" title="two thirds four fifths"/>
          <p:cNvPicPr preferRelativeResize="0"/>
          <p:nvPr/>
        </p:nvPicPr>
        <p:blipFill rotWithShape="1">
          <a:blip r:embed="rId4">
            <a:alphaModFix/>
          </a:blip>
          <a:srcRect b="0" l="0" r="59545" t="0"/>
          <a:stretch/>
        </p:blipFill>
        <p:spPr>
          <a:xfrm>
            <a:off x="5094230" y="2429475"/>
            <a:ext cx="303725" cy="694600"/>
          </a:xfrm>
          <a:prstGeom prst="rect">
            <a:avLst/>
          </a:prstGeom>
          <a:noFill/>
          <a:ln>
            <a:noFill/>
          </a:ln>
        </p:spPr>
      </p:pic>
      <p:pic>
        <p:nvPicPr>
          <p:cNvPr descr="&lt;math xmlns=&quot;http://www.w3.org/1998/Math/MathML&quot; display=&quot;block&quot; data-is-equatio=&quot;1&quot; data-latex=&quot;\frac{2}{3}\ \ \ \frac{4}{5}&quot;&gt;&lt;mfrac&gt;&lt;mn&gt;2&lt;/mn&gt;&lt;mn&gt;3&lt;/mn&gt;&lt;/mfrac&gt;&lt;mtext&gt;&lt;/mtext&gt;&lt;mtext&gt;&lt;/mtext&gt;&lt;mtext&gt;&lt;/mtext&gt;&lt;mfrac&gt;&lt;mn&gt;4&lt;/mn&gt;&lt;mn&gt;5&lt;/mn&gt;&lt;/mfrac&gt;&lt;/math&gt;" id="1158" name="Google Shape;1158;p96" title="two thirds four fifths"/>
          <p:cNvPicPr preferRelativeResize="0"/>
          <p:nvPr/>
        </p:nvPicPr>
        <p:blipFill rotWithShape="1">
          <a:blip r:embed="rId4">
            <a:alphaModFix/>
          </a:blip>
          <a:srcRect b="0" l="59545" r="0" t="0"/>
          <a:stretch/>
        </p:blipFill>
        <p:spPr>
          <a:xfrm>
            <a:off x="6351994" y="2428900"/>
            <a:ext cx="303725" cy="694600"/>
          </a:xfrm>
          <a:prstGeom prst="rect">
            <a:avLst/>
          </a:prstGeom>
          <a:noFill/>
          <a:ln>
            <a:noFill/>
          </a:ln>
        </p:spPr>
      </p:pic>
      <p:sp>
        <p:nvSpPr>
          <p:cNvPr id="1159" name="Google Shape;1159;p96"/>
          <p:cNvSpPr/>
          <p:nvPr/>
        </p:nvSpPr>
        <p:spPr>
          <a:xfrm>
            <a:off x="2286000" y="1485895"/>
            <a:ext cx="275400" cy="3372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0" name="Google Shape;1160;p96"/>
          <p:cNvSpPr/>
          <p:nvPr/>
        </p:nvSpPr>
        <p:spPr>
          <a:xfrm>
            <a:off x="1066800" y="2537455"/>
            <a:ext cx="275400" cy="3372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1" name="Google Shape;1161;p96"/>
          <p:cNvSpPr/>
          <p:nvPr/>
        </p:nvSpPr>
        <p:spPr>
          <a:xfrm>
            <a:off x="1957210" y="3565535"/>
            <a:ext cx="275400" cy="3372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2" name="Google Shape;1162;p96"/>
          <p:cNvSpPr/>
          <p:nvPr/>
        </p:nvSpPr>
        <p:spPr>
          <a:xfrm>
            <a:off x="5623560" y="1531615"/>
            <a:ext cx="275400" cy="3372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3" name="Google Shape;1163;p96"/>
          <p:cNvSpPr/>
          <p:nvPr/>
        </p:nvSpPr>
        <p:spPr>
          <a:xfrm>
            <a:off x="6134100" y="2598415"/>
            <a:ext cx="275400" cy="3372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4" name="Google Shape;1164;p96"/>
          <p:cNvSpPr/>
          <p:nvPr/>
        </p:nvSpPr>
        <p:spPr>
          <a:xfrm>
            <a:off x="6400800" y="3627115"/>
            <a:ext cx="275400" cy="3372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9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Paying attention to the whole</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170" name="Google Shape;1170;p97"/>
          <p:cNvSpPr txBox="1"/>
          <p:nvPr>
            <p:ph idx="1" type="body"/>
          </p:nvPr>
        </p:nvSpPr>
        <p:spPr>
          <a:xfrm>
            <a:off x="324000" y="683100"/>
            <a:ext cx="3333600" cy="378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a:t>
            </a:r>
            <a:r>
              <a:rPr lang="en-GB" sz="1800"/>
              <a:t>Each </a:t>
            </a:r>
            <a:r>
              <a:rPr lang="en-GB" sz="1800"/>
              <a:t>pupil</a:t>
            </a:r>
            <a:r>
              <a:rPr lang="en-GB" sz="1800"/>
              <a:t> in Oak academy has a cashless account.</a:t>
            </a:r>
            <a:endParaRPr sz="1800"/>
          </a:p>
          <a:p>
            <a:pPr indent="0" lvl="0" marL="0" rtl="0" algn="l">
              <a:spcBef>
                <a:spcPts val="1000"/>
              </a:spcBef>
              <a:spcAft>
                <a:spcPts val="0"/>
              </a:spcAft>
              <a:buNone/>
            </a:pPr>
            <a:r>
              <a:rPr lang="en-GB" sz="1800"/>
              <a:t>All Oak pupils have been excellent and the Oak teacher can award them with either 20% more of what is in their account or £2 more what is in their account. </a:t>
            </a:r>
            <a:endParaRPr sz="1800"/>
          </a:p>
          <a:p>
            <a:pPr indent="0" lvl="0" marL="0" rtl="0" algn="l">
              <a:spcBef>
                <a:spcPts val="1000"/>
              </a:spcBef>
              <a:spcAft>
                <a:spcPts val="0"/>
              </a:spcAft>
              <a:buNone/>
            </a:pPr>
            <a:r>
              <a:rPr lang="en-GB" sz="1800"/>
              <a:t>Which offer should each pupil receive to get the best deal?</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graphicFrame>
        <p:nvGraphicFramePr>
          <p:cNvPr id="1171" name="Google Shape;1171;p97"/>
          <p:cNvGraphicFramePr/>
          <p:nvPr/>
        </p:nvGraphicFramePr>
        <p:xfrm>
          <a:off x="3755550" y="1191000"/>
          <a:ext cx="3000000" cy="3000000"/>
        </p:xfrm>
        <a:graphic>
          <a:graphicData uri="http://schemas.openxmlformats.org/drawingml/2006/table">
            <a:tbl>
              <a:tblPr>
                <a:noFill/>
                <a:tableStyleId>{D52034BA-B2A8-49EF-A613-FFD26C1E2B7E}</a:tableStyleId>
              </a:tblPr>
              <a:tblGrid>
                <a:gridCol w="1243325"/>
                <a:gridCol w="1254125"/>
              </a:tblGrid>
              <a:tr h="0">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P</a:t>
                      </a:r>
                      <a:r>
                        <a:rPr lang="en-GB" sz="1900">
                          <a:solidFill>
                            <a:schemeClr val="lt1"/>
                          </a:solidFill>
                          <a:latin typeface="Lexend"/>
                          <a:ea typeface="Lexend"/>
                          <a:cs typeface="Lexend"/>
                          <a:sym typeface="Lexend"/>
                        </a:rPr>
                        <a:t>upil</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Account</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0">
                <a:tc>
                  <a:txBody>
                    <a:bodyPr/>
                    <a:lstStyle/>
                    <a:p>
                      <a:pPr indent="0" lvl="0" marL="0" rtl="0" algn="l">
                        <a:spcBef>
                          <a:spcPts val="0"/>
                        </a:spcBef>
                        <a:spcAft>
                          <a:spcPts val="0"/>
                        </a:spcAft>
                        <a:buNone/>
                      </a:pPr>
                      <a:r>
                        <a:rPr lang="en-GB" sz="1900">
                          <a:latin typeface="Lexend"/>
                          <a:ea typeface="Lexend"/>
                          <a:cs typeface="Lexend"/>
                          <a:sym typeface="Lexend"/>
                        </a:rPr>
                        <a:t>Andeep</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£4.50</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Aisha</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£11.29</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Izzy</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£9.96</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Jacob</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£8.90</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Jun</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£10</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172" name="Google Shape;1172;p97"/>
          <p:cNvGraphicFramePr/>
          <p:nvPr/>
        </p:nvGraphicFramePr>
        <p:xfrm>
          <a:off x="6346350" y="1191000"/>
          <a:ext cx="3000000" cy="3000000"/>
        </p:xfrm>
        <a:graphic>
          <a:graphicData uri="http://schemas.openxmlformats.org/drawingml/2006/table">
            <a:tbl>
              <a:tblPr>
                <a:noFill/>
                <a:tableStyleId>{D52034BA-B2A8-49EF-A613-FFD26C1E2B7E}</a:tableStyleId>
              </a:tblPr>
              <a:tblGrid>
                <a:gridCol w="1243325"/>
                <a:gridCol w="1254125"/>
              </a:tblGrid>
              <a:tr h="0">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P</a:t>
                      </a:r>
                      <a:r>
                        <a:rPr lang="en-GB" sz="1900">
                          <a:solidFill>
                            <a:schemeClr val="lt1"/>
                          </a:solidFill>
                          <a:latin typeface="Lexend"/>
                          <a:ea typeface="Lexend"/>
                          <a:cs typeface="Lexend"/>
                          <a:sym typeface="Lexend"/>
                        </a:rPr>
                        <a:t>upil</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Account</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0">
                <a:tc>
                  <a:txBody>
                    <a:bodyPr/>
                    <a:lstStyle/>
                    <a:p>
                      <a:pPr indent="0" lvl="0" marL="0" rtl="0" algn="l">
                        <a:spcBef>
                          <a:spcPts val="0"/>
                        </a:spcBef>
                        <a:spcAft>
                          <a:spcPts val="0"/>
                        </a:spcAft>
                        <a:buNone/>
                      </a:pPr>
                      <a:r>
                        <a:rPr lang="en-GB" sz="1900">
                          <a:latin typeface="Lexend"/>
                          <a:ea typeface="Lexend"/>
                          <a:cs typeface="Lexend"/>
                          <a:sym typeface="Lexend"/>
                        </a:rPr>
                        <a:t>Lucas</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£32</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Sam</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£8.23</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Alex</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£2.13</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Sofia</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£20.12</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Laura</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£9.99</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9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Paying attention to the whole</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graphicFrame>
        <p:nvGraphicFramePr>
          <p:cNvPr id="1178" name="Google Shape;1178;p98"/>
          <p:cNvGraphicFramePr/>
          <p:nvPr/>
        </p:nvGraphicFramePr>
        <p:xfrm>
          <a:off x="374925" y="1171438"/>
          <a:ext cx="3000000" cy="3000000"/>
        </p:xfrm>
        <a:graphic>
          <a:graphicData uri="http://schemas.openxmlformats.org/drawingml/2006/table">
            <a:tbl>
              <a:tblPr>
                <a:noFill/>
                <a:tableStyleId>{D52034BA-B2A8-49EF-A613-FFD26C1E2B7E}</a:tableStyleId>
              </a:tblPr>
              <a:tblGrid>
                <a:gridCol w="3626800"/>
                <a:gridCol w="939100"/>
                <a:gridCol w="892300"/>
                <a:gridCol w="1128550"/>
                <a:gridCol w="1532375"/>
              </a:tblGrid>
              <a:tr h="863125">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Statement</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A is better</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B is better</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Both the same</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Not enough </a:t>
                      </a:r>
                      <a:r>
                        <a:rPr lang="en-GB" sz="1800">
                          <a:solidFill>
                            <a:schemeClr val="lt1"/>
                          </a:solidFill>
                          <a:latin typeface="Lexend"/>
                          <a:ea typeface="Lexend"/>
                          <a:cs typeface="Lexend"/>
                          <a:sym typeface="Lexend"/>
                        </a:rPr>
                        <a:t>information</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672175">
                <a:tc>
                  <a:txBody>
                    <a:bodyPr/>
                    <a:lstStyle/>
                    <a:p>
                      <a:pPr indent="0" lvl="0" marL="0" rtl="0" algn="l">
                        <a:spcBef>
                          <a:spcPts val="0"/>
                        </a:spcBef>
                        <a:spcAft>
                          <a:spcPts val="0"/>
                        </a:spcAft>
                        <a:buNone/>
                      </a:pPr>
                      <a:r>
                        <a:rPr lang="en-GB" sz="1800">
                          <a:latin typeface="Lexend"/>
                          <a:ea typeface="Lexend"/>
                          <a:cs typeface="Lexend"/>
                          <a:sym typeface="Lexend"/>
                        </a:rPr>
                        <a:t>A is offered 10% of £100</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B is offered 5% of £200</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97875">
                <a:tc>
                  <a:txBody>
                    <a:bodyPr/>
                    <a:lstStyle/>
                    <a:p>
                      <a:pPr indent="0" lvl="0" marL="0" rtl="0" algn="l">
                        <a:spcBef>
                          <a:spcPts val="0"/>
                        </a:spcBef>
                        <a:spcAft>
                          <a:spcPts val="0"/>
                        </a:spcAft>
                        <a:buNone/>
                      </a:pPr>
                      <a:r>
                        <a:rPr lang="en-GB" sz="1800">
                          <a:latin typeface="Lexend"/>
                          <a:ea typeface="Lexend"/>
                          <a:cs typeface="Lexend"/>
                          <a:sym typeface="Lexend"/>
                        </a:rPr>
                        <a:t>A is offered 79%</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B is offered 100%</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97875">
                <a:tc>
                  <a:txBody>
                    <a:bodyPr/>
                    <a:lstStyle/>
                    <a:p>
                      <a:pPr indent="0" lvl="0" marL="0" rtl="0" algn="l">
                        <a:spcBef>
                          <a:spcPts val="0"/>
                        </a:spcBef>
                        <a:spcAft>
                          <a:spcPts val="0"/>
                        </a:spcAft>
                        <a:buNone/>
                      </a:pPr>
                      <a:r>
                        <a:rPr lang="en-GB" sz="1800">
                          <a:latin typeface="Lexend"/>
                          <a:ea typeface="Lexend"/>
                          <a:cs typeface="Lexend"/>
                          <a:sym typeface="Lexend"/>
                        </a:rPr>
                        <a:t>A is offered    of £24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B is offered    of £19</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97875">
                <a:tc>
                  <a:txBody>
                    <a:bodyPr/>
                    <a:lstStyle/>
                    <a:p>
                      <a:pPr indent="0" lvl="0" marL="0" rtl="0" algn="l">
                        <a:spcBef>
                          <a:spcPts val="0"/>
                        </a:spcBef>
                        <a:spcAft>
                          <a:spcPts val="0"/>
                        </a:spcAft>
                        <a:buNone/>
                      </a:pPr>
                      <a:r>
                        <a:rPr lang="en-GB" sz="1800">
                          <a:latin typeface="Lexend"/>
                          <a:ea typeface="Lexend"/>
                          <a:cs typeface="Lexend"/>
                          <a:sym typeface="Lexend"/>
                        </a:rPr>
                        <a:t>A is </a:t>
                      </a:r>
                      <a:r>
                        <a:rPr lang="en-GB" sz="1800">
                          <a:latin typeface="Lexend"/>
                          <a:ea typeface="Lexend"/>
                          <a:cs typeface="Lexend"/>
                          <a:sym typeface="Lexend"/>
                        </a:rPr>
                        <a:t>offered 20% more than B</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179" name="Google Shape;1179;p98"/>
          <p:cNvSpPr txBox="1"/>
          <p:nvPr/>
        </p:nvSpPr>
        <p:spPr>
          <a:xfrm>
            <a:off x="374925" y="655325"/>
            <a:ext cx="8119200" cy="477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3) Tick which is the best offer or if there is not enough information.</a:t>
            </a:r>
            <a:endParaRPr/>
          </a:p>
        </p:txBody>
      </p:sp>
      <p:pic>
        <p:nvPicPr>
          <p:cNvPr id="1180" name="Google Shape;1180;p98"/>
          <p:cNvPicPr preferRelativeResize="0"/>
          <p:nvPr/>
        </p:nvPicPr>
        <p:blipFill rotWithShape="1">
          <a:blip r:embed="rId3">
            <a:alphaModFix/>
          </a:blip>
          <a:srcRect b="5831" l="0" r="-10" t="5680"/>
          <a:stretch/>
        </p:blipFill>
        <p:spPr>
          <a:xfrm>
            <a:off x="1796950" y="3558757"/>
            <a:ext cx="149100" cy="327818"/>
          </a:xfrm>
          <a:prstGeom prst="rect">
            <a:avLst/>
          </a:prstGeom>
          <a:noFill/>
          <a:ln>
            <a:noFill/>
          </a:ln>
        </p:spPr>
      </p:pic>
      <p:pic>
        <p:nvPicPr>
          <p:cNvPr id="1181" name="Google Shape;1181;p98"/>
          <p:cNvPicPr preferRelativeResize="0"/>
          <p:nvPr/>
        </p:nvPicPr>
        <p:blipFill>
          <a:blip r:embed="rId4">
            <a:alphaModFix/>
          </a:blip>
          <a:stretch>
            <a:fillRect/>
          </a:stretch>
        </p:blipFill>
        <p:spPr>
          <a:xfrm>
            <a:off x="1796938" y="3886575"/>
            <a:ext cx="149116" cy="337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pic>
        <p:nvPicPr>
          <p:cNvPr id="1186" name="Google Shape;1186;p99"/>
          <p:cNvPicPr preferRelativeResize="0"/>
          <p:nvPr/>
        </p:nvPicPr>
        <p:blipFill>
          <a:blip r:embed="rId3">
            <a:alphaModFix/>
          </a:blip>
          <a:stretch>
            <a:fillRect/>
          </a:stretch>
        </p:blipFill>
        <p:spPr>
          <a:xfrm>
            <a:off x="5740326" y="1344425"/>
            <a:ext cx="1880806" cy="1350000"/>
          </a:xfrm>
          <a:prstGeom prst="rect">
            <a:avLst/>
          </a:prstGeom>
          <a:noFill/>
          <a:ln>
            <a:noFill/>
          </a:ln>
        </p:spPr>
      </p:pic>
      <p:pic>
        <p:nvPicPr>
          <p:cNvPr id="1187" name="Google Shape;1187;p99"/>
          <p:cNvPicPr preferRelativeResize="0"/>
          <p:nvPr/>
        </p:nvPicPr>
        <p:blipFill>
          <a:blip r:embed="rId3">
            <a:alphaModFix/>
          </a:blip>
          <a:stretch>
            <a:fillRect/>
          </a:stretch>
        </p:blipFill>
        <p:spPr>
          <a:xfrm>
            <a:off x="2114126" y="1344425"/>
            <a:ext cx="1880806" cy="1350000"/>
          </a:xfrm>
          <a:prstGeom prst="rect">
            <a:avLst/>
          </a:prstGeom>
          <a:noFill/>
          <a:ln>
            <a:noFill/>
          </a:ln>
        </p:spPr>
      </p:pic>
      <p:sp>
        <p:nvSpPr>
          <p:cNvPr id="1188" name="Google Shape;1188;p9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Paying attention to the whole</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189" name="Google Shape;1189;p99"/>
          <p:cNvSpPr txBox="1"/>
          <p:nvPr/>
        </p:nvSpPr>
        <p:spPr>
          <a:xfrm>
            <a:off x="324000" y="755450"/>
            <a:ext cx="8433900" cy="3693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r>
              <a:rPr lang="en-GB" sz="1800">
                <a:solidFill>
                  <a:schemeClr val="dk1"/>
                </a:solidFill>
                <a:latin typeface="Lexend"/>
                <a:ea typeface="Lexend"/>
                <a:cs typeface="Lexend"/>
                <a:sym typeface="Lexend"/>
              </a:rPr>
              <a:t>) Jacob is looking for a new bike. Two shops sell the same bike.</a:t>
            </a:r>
            <a:endParaRPr sz="1800">
              <a:solidFill>
                <a:schemeClr val="dk1"/>
              </a:solidFill>
              <a:latin typeface="Lexend"/>
              <a:ea typeface="Lexend"/>
              <a:cs typeface="Lexend"/>
              <a:sym typeface="Lexend"/>
            </a:endParaRPr>
          </a:p>
        </p:txBody>
      </p:sp>
      <p:pic>
        <p:nvPicPr>
          <p:cNvPr id="1190" name="Google Shape;1190;p99"/>
          <p:cNvPicPr preferRelativeResize="0"/>
          <p:nvPr/>
        </p:nvPicPr>
        <p:blipFill>
          <a:blip r:embed="rId4">
            <a:alphaModFix/>
          </a:blip>
          <a:stretch>
            <a:fillRect/>
          </a:stretch>
        </p:blipFill>
        <p:spPr>
          <a:xfrm>
            <a:off x="755725" y="1095603"/>
            <a:ext cx="525075" cy="646801"/>
          </a:xfrm>
          <a:prstGeom prst="rect">
            <a:avLst/>
          </a:prstGeom>
          <a:noFill/>
          <a:ln>
            <a:noFill/>
          </a:ln>
        </p:spPr>
      </p:pic>
      <p:grpSp>
        <p:nvGrpSpPr>
          <p:cNvPr id="1191" name="Google Shape;1191;p99"/>
          <p:cNvGrpSpPr/>
          <p:nvPr/>
        </p:nvGrpSpPr>
        <p:grpSpPr>
          <a:xfrm>
            <a:off x="7621120" y="1555416"/>
            <a:ext cx="1198810" cy="893619"/>
            <a:chOff x="4823995" y="2571741"/>
            <a:chExt cx="1198810" cy="893619"/>
          </a:xfrm>
        </p:grpSpPr>
        <p:sp>
          <p:nvSpPr>
            <p:cNvPr id="1192" name="Google Shape;1192;p99"/>
            <p:cNvSpPr/>
            <p:nvPr/>
          </p:nvSpPr>
          <p:spPr>
            <a:xfrm rot="4071544">
              <a:off x="5160862" y="2478250"/>
              <a:ext cx="525075" cy="1080600"/>
            </a:xfrm>
            <a:prstGeom prst="flowChartOffpageConnector">
              <a:avLst/>
            </a:prstGeom>
            <a:solidFill>
              <a:srgbClr val="E6F2F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3" name="Google Shape;1193;p99"/>
            <p:cNvSpPr txBox="1"/>
            <p:nvPr/>
          </p:nvSpPr>
          <p:spPr>
            <a:xfrm rot="-1316906">
              <a:off x="5041627" y="2721384"/>
              <a:ext cx="890115" cy="46154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£120</a:t>
              </a:r>
              <a:endParaRPr sz="2200">
                <a:solidFill>
                  <a:schemeClr val="dk1"/>
                </a:solidFill>
                <a:latin typeface="Lexend"/>
                <a:ea typeface="Lexend"/>
                <a:cs typeface="Lexend"/>
                <a:sym typeface="Lexend"/>
              </a:endParaRPr>
            </a:p>
          </p:txBody>
        </p:sp>
      </p:grpSp>
      <p:grpSp>
        <p:nvGrpSpPr>
          <p:cNvPr id="1194" name="Google Shape;1194;p99"/>
          <p:cNvGrpSpPr/>
          <p:nvPr/>
        </p:nvGrpSpPr>
        <p:grpSpPr>
          <a:xfrm>
            <a:off x="4038795" y="1572616"/>
            <a:ext cx="1198810" cy="893619"/>
            <a:chOff x="4823995" y="2571741"/>
            <a:chExt cx="1198810" cy="893619"/>
          </a:xfrm>
        </p:grpSpPr>
        <p:sp>
          <p:nvSpPr>
            <p:cNvPr id="1195" name="Google Shape;1195;p99"/>
            <p:cNvSpPr/>
            <p:nvPr/>
          </p:nvSpPr>
          <p:spPr>
            <a:xfrm rot="4071544">
              <a:off x="5160862" y="2478250"/>
              <a:ext cx="525075" cy="1080600"/>
            </a:xfrm>
            <a:prstGeom prst="flowChartOffpageConnector">
              <a:avLst/>
            </a:prstGeom>
            <a:solidFill>
              <a:srgbClr val="E6F2F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6" name="Google Shape;1196;p99"/>
            <p:cNvSpPr txBox="1"/>
            <p:nvPr/>
          </p:nvSpPr>
          <p:spPr>
            <a:xfrm rot="-1316906">
              <a:off x="5041627" y="2721384"/>
              <a:ext cx="890115" cy="46154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£120</a:t>
              </a:r>
              <a:endParaRPr sz="2200">
                <a:solidFill>
                  <a:schemeClr val="dk1"/>
                </a:solidFill>
                <a:latin typeface="Lexend"/>
                <a:ea typeface="Lexend"/>
                <a:cs typeface="Lexend"/>
                <a:sym typeface="Lexend"/>
              </a:endParaRPr>
            </a:p>
          </p:txBody>
        </p:sp>
      </p:grpSp>
      <p:cxnSp>
        <p:nvCxnSpPr>
          <p:cNvPr id="1197" name="Google Shape;1197;p99"/>
          <p:cNvCxnSpPr>
            <a:endCxn id="1195" idx="2"/>
          </p:cNvCxnSpPr>
          <p:nvPr/>
        </p:nvCxnSpPr>
        <p:spPr>
          <a:xfrm>
            <a:off x="3298342" y="1800057"/>
            <a:ext cx="839400" cy="423000"/>
          </a:xfrm>
          <a:prstGeom prst="curvedConnector3">
            <a:avLst>
              <a:gd fmla="val 68154" name="adj1"/>
            </a:avLst>
          </a:prstGeom>
          <a:noFill/>
          <a:ln cap="flat" cmpd="sng" w="19050">
            <a:solidFill>
              <a:schemeClr val="accent5"/>
            </a:solidFill>
            <a:prstDash val="solid"/>
            <a:round/>
            <a:headEnd len="med" w="med" type="none"/>
            <a:tailEnd len="med" w="med" type="none"/>
          </a:ln>
        </p:spPr>
      </p:cxnSp>
      <p:cxnSp>
        <p:nvCxnSpPr>
          <p:cNvPr id="1198" name="Google Shape;1198;p99"/>
          <p:cNvCxnSpPr>
            <a:endCxn id="1192" idx="2"/>
          </p:cNvCxnSpPr>
          <p:nvPr/>
        </p:nvCxnSpPr>
        <p:spPr>
          <a:xfrm>
            <a:off x="6931067" y="1790657"/>
            <a:ext cx="789000" cy="415200"/>
          </a:xfrm>
          <a:prstGeom prst="curvedConnector3">
            <a:avLst>
              <a:gd fmla="val 62577" name="adj1"/>
            </a:avLst>
          </a:prstGeom>
          <a:noFill/>
          <a:ln cap="flat" cmpd="sng" w="19050">
            <a:solidFill>
              <a:schemeClr val="accent5"/>
            </a:solidFill>
            <a:prstDash val="solid"/>
            <a:round/>
            <a:headEnd len="med" w="med" type="none"/>
            <a:tailEnd len="med" w="med" type="none"/>
          </a:ln>
        </p:spPr>
      </p:cxnSp>
      <p:sp>
        <p:nvSpPr>
          <p:cNvPr id="1199" name="Google Shape;1199;p99"/>
          <p:cNvSpPr txBox="1"/>
          <p:nvPr/>
        </p:nvSpPr>
        <p:spPr>
          <a:xfrm>
            <a:off x="1979325" y="2753550"/>
            <a:ext cx="2516100" cy="76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accent5"/>
                </a:solidFill>
                <a:latin typeface="Lexend"/>
                <a:ea typeface="Lexend"/>
                <a:cs typeface="Lexend"/>
                <a:sym typeface="Lexend"/>
              </a:rPr>
              <a:t>SALE 20% off</a:t>
            </a:r>
            <a:endParaRPr sz="1800">
              <a:solidFill>
                <a:schemeClr val="accent5"/>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Plus an extra 10% off the sale price</a:t>
            </a:r>
            <a:endParaRPr sz="1800">
              <a:solidFill>
                <a:schemeClr val="dk1"/>
              </a:solidFill>
              <a:latin typeface="Lexend"/>
              <a:ea typeface="Lexend"/>
              <a:cs typeface="Lexend"/>
              <a:sym typeface="Lexend"/>
            </a:endParaRPr>
          </a:p>
        </p:txBody>
      </p:sp>
      <p:sp>
        <p:nvSpPr>
          <p:cNvPr id="1200" name="Google Shape;1200;p99"/>
          <p:cNvSpPr txBox="1"/>
          <p:nvPr/>
        </p:nvSpPr>
        <p:spPr>
          <a:xfrm>
            <a:off x="6390625" y="2753550"/>
            <a:ext cx="1569300" cy="41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accent5"/>
                </a:solidFill>
                <a:latin typeface="Lexend"/>
                <a:ea typeface="Lexend"/>
                <a:cs typeface="Lexend"/>
                <a:sym typeface="Lexend"/>
              </a:rPr>
              <a:t>SALE 30% off</a:t>
            </a:r>
            <a:endParaRPr sz="1800">
              <a:solidFill>
                <a:schemeClr val="accent5"/>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sp>
        <p:nvSpPr>
          <p:cNvPr id="1201" name="Google Shape;1201;p99"/>
          <p:cNvSpPr/>
          <p:nvPr/>
        </p:nvSpPr>
        <p:spPr>
          <a:xfrm>
            <a:off x="1857525" y="1090650"/>
            <a:ext cx="2759700" cy="3372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Shop A</a:t>
            </a:r>
            <a:endParaRPr sz="2000">
              <a:solidFill>
                <a:schemeClr val="dk1"/>
              </a:solidFill>
              <a:latin typeface="Lexend"/>
              <a:ea typeface="Lexend"/>
              <a:cs typeface="Lexend"/>
              <a:sym typeface="Lexend"/>
            </a:endParaRPr>
          </a:p>
        </p:txBody>
      </p:sp>
      <p:sp>
        <p:nvSpPr>
          <p:cNvPr id="1202" name="Google Shape;1202;p99"/>
          <p:cNvSpPr/>
          <p:nvPr/>
        </p:nvSpPr>
        <p:spPr>
          <a:xfrm>
            <a:off x="5702075" y="1090650"/>
            <a:ext cx="2759700" cy="3372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Shop B</a:t>
            </a:r>
            <a:endParaRPr sz="2000">
              <a:solidFill>
                <a:schemeClr val="dk1"/>
              </a:solidFill>
              <a:latin typeface="Lexend"/>
              <a:ea typeface="Lexend"/>
              <a:cs typeface="Lexend"/>
              <a:sym typeface="Lexend"/>
            </a:endParaRPr>
          </a:p>
        </p:txBody>
      </p:sp>
      <p:sp>
        <p:nvSpPr>
          <p:cNvPr id="1203" name="Google Shape;1203;p99"/>
          <p:cNvSpPr txBox="1"/>
          <p:nvPr/>
        </p:nvSpPr>
        <p:spPr>
          <a:xfrm>
            <a:off x="324000" y="3806850"/>
            <a:ext cx="8496000" cy="1007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Jacob</a:t>
            </a:r>
            <a:r>
              <a:rPr lang="en-GB" sz="1800">
                <a:solidFill>
                  <a:schemeClr val="dk1"/>
                </a:solidFill>
                <a:latin typeface="Lexend"/>
                <a:ea typeface="Lexend"/>
                <a:cs typeface="Lexend"/>
                <a:sym typeface="Lexend"/>
              </a:rPr>
              <a:t> says, “Both have 30% off in total so the bike costs the same in both shops.”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3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Show if Jacob is correct or not.</a:t>
            </a:r>
            <a:endParaRPr sz="1800">
              <a:solidFill>
                <a:schemeClr val="dk1"/>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10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Insert the correct inequality =, &lt; or &gt; for the following:</a:t>
            </a:r>
            <a:endParaRPr/>
          </a:p>
          <a:p>
            <a:pPr indent="0" lvl="0" marL="0" rtl="0" algn="l">
              <a:spcBef>
                <a:spcPts val="1000"/>
              </a:spcBef>
              <a:spcAft>
                <a:spcPts val="0"/>
              </a:spcAft>
              <a:buNone/>
            </a:pPr>
            <a:r>
              <a:t/>
            </a:r>
            <a:endParaRPr sz="500"/>
          </a:p>
          <a:p>
            <a:pPr indent="-368300" lvl="0" marL="457200" rtl="0" algn="l">
              <a:spcBef>
                <a:spcPts val="1000"/>
              </a:spcBef>
              <a:spcAft>
                <a:spcPts val="0"/>
              </a:spcAft>
              <a:buSzPts val="2200"/>
              <a:buAutoNum type="alphaLcParenR"/>
            </a:pPr>
            <a:r>
              <a:rPr lang="en-GB"/>
              <a:t>50% of 900 &gt; 10% of 4000</a:t>
            </a:r>
            <a:endParaRPr/>
          </a:p>
          <a:p>
            <a:pPr indent="0" lvl="0" marL="457200" rtl="0" algn="l">
              <a:spcBef>
                <a:spcPts val="1000"/>
              </a:spcBef>
              <a:spcAft>
                <a:spcPts val="0"/>
              </a:spcAft>
              <a:buNone/>
            </a:pPr>
            <a:r>
              <a:t/>
            </a:r>
            <a:endParaRPr/>
          </a:p>
          <a:p>
            <a:pPr indent="-368300" lvl="0" marL="457200" rtl="0" algn="l">
              <a:spcBef>
                <a:spcPts val="1000"/>
              </a:spcBef>
              <a:spcAft>
                <a:spcPts val="0"/>
              </a:spcAft>
              <a:buSzPts val="2200"/>
              <a:buAutoNum type="alphaLcParenR"/>
            </a:pPr>
            <a:r>
              <a:rPr lang="en-GB"/>
              <a:t>    &gt; </a:t>
            </a:r>
            <a:endParaRPr/>
          </a:p>
          <a:p>
            <a:pPr indent="0" lvl="0" marL="0" rtl="0" algn="l">
              <a:spcBef>
                <a:spcPts val="1000"/>
              </a:spcBef>
              <a:spcAft>
                <a:spcPts val="0"/>
              </a:spcAft>
              <a:buNone/>
            </a:pPr>
            <a:r>
              <a:t/>
            </a:r>
            <a:endParaRPr/>
          </a:p>
          <a:p>
            <a:pPr indent="-368300" lvl="0" marL="457200" rtl="0" algn="l">
              <a:spcBef>
                <a:spcPts val="1000"/>
              </a:spcBef>
              <a:spcAft>
                <a:spcPts val="0"/>
              </a:spcAft>
              <a:buSzPts val="2200"/>
              <a:buAutoNum type="alphaLcParenR"/>
            </a:pPr>
            <a:r>
              <a:rPr lang="en-GB"/>
              <a:t>     of 24  &lt;      of 60</a:t>
            </a:r>
            <a:endParaRPr/>
          </a:p>
        </p:txBody>
      </p:sp>
      <p:sp>
        <p:nvSpPr>
          <p:cNvPr id="1209" name="Google Shape;1209;p10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Paying attention to the whole</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frac{1}{2}\ \ \ \ \frac{1}{3}&quot;&gt;&lt;mfrac&gt;&lt;mn&gt;1&lt;/mn&gt;&lt;mn&gt;2&lt;/mn&gt;&lt;/mfrac&gt;&lt;mtext&gt;&lt;/mtext&gt;&lt;mtext&gt;&lt;/mtext&gt;&lt;mtext&gt;&lt;/mtext&gt;&lt;mtext&gt;&lt;/mtext&gt;&lt;mfrac&gt;&lt;mn&gt;1&lt;/mn&gt;&lt;mn&gt;3&lt;/mn&gt;&lt;/mfrac&gt;&lt;/math&gt;" id="1210" name="Google Shape;1210;p100" title="one half one third"/>
          <p:cNvPicPr preferRelativeResize="0"/>
          <p:nvPr/>
        </p:nvPicPr>
        <p:blipFill>
          <a:blip r:embed="rId3">
            <a:alphaModFix/>
          </a:blip>
          <a:stretch>
            <a:fillRect/>
          </a:stretch>
        </p:blipFill>
        <p:spPr>
          <a:xfrm>
            <a:off x="778325" y="2320020"/>
            <a:ext cx="829525" cy="694600"/>
          </a:xfrm>
          <a:prstGeom prst="rect">
            <a:avLst/>
          </a:prstGeom>
          <a:noFill/>
          <a:ln>
            <a:noFill/>
          </a:ln>
        </p:spPr>
      </p:pic>
      <p:pic>
        <p:nvPicPr>
          <p:cNvPr descr="&lt;math xmlns=&quot;http://www.w3.org/1998/Math/MathML&quot; display=&quot;block&quot; data-is-equatio=&quot;1&quot; data-latex=&quot;\frac{1}{2}\ \ \ \ \frac{1}{3}&quot;&gt;&lt;mfrac&gt;&lt;mn&gt;1&lt;/mn&gt;&lt;mn&gt;2&lt;/mn&gt;&lt;/mfrac&gt;&lt;mtext&gt;&lt;/mtext&gt;&lt;mtext&gt;&lt;/mtext&gt;&lt;mtext&gt;&lt;/mtext&gt;&lt;mtext&gt;&lt;/mtext&gt;&lt;mfrac&gt;&lt;mn&gt;1&lt;/mn&gt;&lt;mn&gt;3&lt;/mn&gt;&lt;/mfrac&gt;&lt;/math&gt;" id="1211" name="Google Shape;1211;p100" title="one half one third"/>
          <p:cNvPicPr preferRelativeResize="0"/>
          <p:nvPr/>
        </p:nvPicPr>
        <p:blipFill rotWithShape="1">
          <a:blip r:embed="rId3">
            <a:alphaModFix/>
          </a:blip>
          <a:srcRect b="0" l="0" r="63386" t="0"/>
          <a:stretch/>
        </p:blipFill>
        <p:spPr>
          <a:xfrm>
            <a:off x="778325" y="3386820"/>
            <a:ext cx="303725" cy="694600"/>
          </a:xfrm>
          <a:prstGeom prst="rect">
            <a:avLst/>
          </a:prstGeom>
          <a:noFill/>
          <a:ln>
            <a:noFill/>
          </a:ln>
        </p:spPr>
      </p:pic>
      <p:pic>
        <p:nvPicPr>
          <p:cNvPr descr="&lt;math xmlns=&quot;http://www.w3.org/1998/Math/MathML&quot; display=&quot;block&quot; data-is-equatio=&quot;1&quot; data-latex=&quot;\frac{1}{2}\ \ \ \ \frac{1}{3}&quot;&gt;&lt;mfrac&gt;&lt;mn&gt;1&lt;/mn&gt;&lt;mn&gt;2&lt;/mn&gt;&lt;/mfrac&gt;&lt;mtext&gt;&lt;/mtext&gt;&lt;mtext&gt;&lt;/mtext&gt;&lt;mtext&gt;&lt;/mtext&gt;&lt;mtext&gt;&lt;/mtext&gt;&lt;mfrac&gt;&lt;mn&gt;1&lt;/mn&gt;&lt;mn&gt;3&lt;/mn&gt;&lt;/mfrac&gt;&lt;/math&gt;" id="1212" name="Google Shape;1212;p100" title="one half one third"/>
          <p:cNvPicPr preferRelativeResize="0"/>
          <p:nvPr/>
        </p:nvPicPr>
        <p:blipFill rotWithShape="1">
          <a:blip r:embed="rId3">
            <a:alphaModFix/>
          </a:blip>
          <a:srcRect b="0" l="67976" r="-4591" t="0"/>
          <a:stretch/>
        </p:blipFill>
        <p:spPr>
          <a:xfrm>
            <a:off x="2317575" y="3386820"/>
            <a:ext cx="303725" cy="694600"/>
          </a:xfrm>
          <a:prstGeom prst="rect">
            <a:avLst/>
          </a:prstGeom>
          <a:noFill/>
          <a:ln>
            <a:noFill/>
          </a:ln>
        </p:spPr>
      </p:pic>
      <p:cxnSp>
        <p:nvCxnSpPr>
          <p:cNvPr id="1213" name="Google Shape;1213;p100"/>
          <p:cNvCxnSpPr/>
          <p:nvPr/>
        </p:nvCxnSpPr>
        <p:spPr>
          <a:xfrm>
            <a:off x="4511050" y="1356350"/>
            <a:ext cx="0" cy="3207900"/>
          </a:xfrm>
          <a:prstGeom prst="straightConnector1">
            <a:avLst/>
          </a:prstGeom>
          <a:noFill/>
          <a:ln cap="flat" cmpd="sng" w="9525">
            <a:solidFill>
              <a:schemeClr val="dk2"/>
            </a:solidFill>
            <a:prstDash val="solid"/>
            <a:round/>
            <a:headEnd len="med" w="med" type="none"/>
            <a:tailEnd len="med" w="med" type="none"/>
          </a:ln>
        </p:spPr>
      </p:cxnSp>
      <p:sp>
        <p:nvSpPr>
          <p:cNvPr id="1214" name="Google Shape;1214;p100"/>
          <p:cNvSpPr txBox="1"/>
          <p:nvPr/>
        </p:nvSpPr>
        <p:spPr>
          <a:xfrm>
            <a:off x="4604400" y="944875"/>
            <a:ext cx="4516800" cy="311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200">
                <a:solidFill>
                  <a:schemeClr val="dk1"/>
                </a:solidFill>
                <a:latin typeface="Lexend"/>
                <a:ea typeface="Lexend"/>
                <a:cs typeface="Lexend"/>
                <a:sym typeface="Lexend"/>
              </a:rPr>
              <a:t>d)         &lt;</a:t>
            </a:r>
            <a:endParaRPr sz="2200">
              <a:solidFill>
                <a:schemeClr val="dk1"/>
              </a:solidFill>
              <a:latin typeface="Lexend"/>
              <a:ea typeface="Lexend"/>
              <a:cs typeface="Lexend"/>
              <a:sym typeface="Lexend"/>
            </a:endParaRPr>
          </a:p>
          <a:p>
            <a:pPr indent="0" lvl="0" marL="457200" rtl="0" algn="l">
              <a:lnSpc>
                <a:spcPct val="115000"/>
              </a:lnSpc>
              <a:spcBef>
                <a:spcPts val="1000"/>
              </a:spcBef>
              <a:spcAft>
                <a:spcPts val="0"/>
              </a:spcAft>
              <a:buNone/>
            </a:pPr>
            <a:r>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200">
                <a:solidFill>
                  <a:schemeClr val="dk1"/>
                </a:solidFill>
                <a:latin typeface="Lexend"/>
                <a:ea typeface="Lexend"/>
                <a:cs typeface="Lexend"/>
                <a:sym typeface="Lexend"/>
              </a:rPr>
              <a:t>e)      of 30 &lt;     of 50</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2200">
                <a:solidFill>
                  <a:schemeClr val="dk1"/>
                </a:solidFill>
                <a:latin typeface="Lexend"/>
                <a:ea typeface="Lexend"/>
                <a:cs typeface="Lexend"/>
                <a:sym typeface="Lexend"/>
              </a:rPr>
              <a:t>f)  1% of 900 = 900% of 1</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2}{3}\ \ \ \frac{4}{5}&quot;&gt;&lt;mfrac&gt;&lt;mn&gt;2&lt;/mn&gt;&lt;mn&gt;3&lt;/mn&gt;&lt;/mfrac&gt;&lt;mtext&gt;&lt;/mtext&gt;&lt;mtext&gt;&lt;/mtext&gt;&lt;mtext&gt;&lt;/mtext&gt;&lt;mfrac&gt;&lt;mn&gt;4&lt;/mn&gt;&lt;mn&gt;5&lt;/mn&gt;&lt;/mfrac&gt;&lt;/math&gt;" id="1215" name="Google Shape;1215;p100" title="two thirds four fifths"/>
          <p:cNvPicPr preferRelativeResize="0"/>
          <p:nvPr/>
        </p:nvPicPr>
        <p:blipFill>
          <a:blip r:embed="rId4">
            <a:alphaModFix/>
          </a:blip>
          <a:stretch>
            <a:fillRect/>
          </a:stretch>
        </p:blipFill>
        <p:spPr>
          <a:xfrm>
            <a:off x="5368533" y="1355079"/>
            <a:ext cx="750782" cy="694600"/>
          </a:xfrm>
          <a:prstGeom prst="rect">
            <a:avLst/>
          </a:prstGeom>
          <a:noFill/>
          <a:ln>
            <a:noFill/>
          </a:ln>
        </p:spPr>
      </p:pic>
      <p:pic>
        <p:nvPicPr>
          <p:cNvPr descr="&lt;math xmlns=&quot;http://www.w3.org/1998/Math/MathML&quot; display=&quot;block&quot; data-is-equatio=&quot;1&quot; data-latex=&quot;\frac{2}{3}\ \ \ \frac{4}{5}&quot;&gt;&lt;mfrac&gt;&lt;mn&gt;2&lt;/mn&gt;&lt;mn&gt;3&lt;/mn&gt;&lt;/mfrac&gt;&lt;mtext&gt;&lt;/mtext&gt;&lt;mtext&gt;&lt;/mtext&gt;&lt;mtext&gt;&lt;/mtext&gt;&lt;mfrac&gt;&lt;mn&gt;4&lt;/mn&gt;&lt;mn&gt;5&lt;/mn&gt;&lt;/mfrac&gt;&lt;/math&gt;" id="1216" name="Google Shape;1216;p100" title="two thirds four fifths"/>
          <p:cNvPicPr preferRelativeResize="0"/>
          <p:nvPr/>
        </p:nvPicPr>
        <p:blipFill rotWithShape="1">
          <a:blip r:embed="rId4">
            <a:alphaModFix/>
          </a:blip>
          <a:srcRect b="0" l="0" r="59545" t="0"/>
          <a:stretch/>
        </p:blipFill>
        <p:spPr>
          <a:xfrm>
            <a:off x="5094230" y="2429475"/>
            <a:ext cx="303725" cy="694600"/>
          </a:xfrm>
          <a:prstGeom prst="rect">
            <a:avLst/>
          </a:prstGeom>
          <a:noFill/>
          <a:ln>
            <a:noFill/>
          </a:ln>
        </p:spPr>
      </p:pic>
      <p:pic>
        <p:nvPicPr>
          <p:cNvPr descr="&lt;math xmlns=&quot;http://www.w3.org/1998/Math/MathML&quot; display=&quot;block&quot; data-is-equatio=&quot;1&quot; data-latex=&quot;\frac{2}{3}\ \ \ \frac{4}{5}&quot;&gt;&lt;mfrac&gt;&lt;mn&gt;2&lt;/mn&gt;&lt;mn&gt;3&lt;/mn&gt;&lt;/mfrac&gt;&lt;mtext&gt;&lt;/mtext&gt;&lt;mtext&gt;&lt;/mtext&gt;&lt;mtext&gt;&lt;/mtext&gt;&lt;mfrac&gt;&lt;mn&gt;4&lt;/mn&gt;&lt;mn&gt;5&lt;/mn&gt;&lt;/mfrac&gt;&lt;/math&gt;" id="1217" name="Google Shape;1217;p100" title="two thirds four fifths"/>
          <p:cNvPicPr preferRelativeResize="0"/>
          <p:nvPr/>
        </p:nvPicPr>
        <p:blipFill rotWithShape="1">
          <a:blip r:embed="rId4">
            <a:alphaModFix/>
          </a:blip>
          <a:srcRect b="0" l="59545" r="0" t="0"/>
          <a:stretch/>
        </p:blipFill>
        <p:spPr>
          <a:xfrm>
            <a:off x="6351994" y="2428900"/>
            <a:ext cx="303725" cy="694600"/>
          </a:xfrm>
          <a:prstGeom prst="rect">
            <a:avLst/>
          </a:prstGeom>
          <a:noFill/>
          <a:ln>
            <a:noFill/>
          </a:ln>
        </p:spPr>
      </p:pic>
      <p:sp>
        <p:nvSpPr>
          <p:cNvPr id="1218" name="Google Shape;1218;p100"/>
          <p:cNvSpPr/>
          <p:nvPr/>
        </p:nvSpPr>
        <p:spPr>
          <a:xfrm>
            <a:off x="2286000" y="1485895"/>
            <a:ext cx="275400" cy="3372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9" name="Google Shape;1219;p100"/>
          <p:cNvSpPr/>
          <p:nvPr/>
        </p:nvSpPr>
        <p:spPr>
          <a:xfrm>
            <a:off x="1066800" y="2537455"/>
            <a:ext cx="275400" cy="3372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0" name="Google Shape;1220;p100"/>
          <p:cNvSpPr/>
          <p:nvPr/>
        </p:nvSpPr>
        <p:spPr>
          <a:xfrm>
            <a:off x="1978410" y="3565535"/>
            <a:ext cx="275400" cy="3372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1" name="Google Shape;1221;p100"/>
          <p:cNvSpPr/>
          <p:nvPr/>
        </p:nvSpPr>
        <p:spPr>
          <a:xfrm>
            <a:off x="5623560" y="1531615"/>
            <a:ext cx="275400" cy="3372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2" name="Google Shape;1222;p100"/>
          <p:cNvSpPr/>
          <p:nvPr/>
        </p:nvSpPr>
        <p:spPr>
          <a:xfrm>
            <a:off x="6134100" y="2598415"/>
            <a:ext cx="275400" cy="3372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3" name="Google Shape;1223;p100"/>
          <p:cNvSpPr/>
          <p:nvPr/>
        </p:nvSpPr>
        <p:spPr>
          <a:xfrm>
            <a:off x="6400800" y="3627115"/>
            <a:ext cx="275400" cy="3372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1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10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Paying attention to the whole</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229" name="Google Shape;1229;p101"/>
          <p:cNvSpPr txBox="1"/>
          <p:nvPr>
            <p:ph idx="1" type="body"/>
          </p:nvPr>
        </p:nvSpPr>
        <p:spPr>
          <a:xfrm>
            <a:off x="324000" y="759300"/>
            <a:ext cx="3431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a:t>
            </a:r>
            <a:r>
              <a:rPr lang="en-GB" sz="1800"/>
              <a:t>) Each </a:t>
            </a:r>
            <a:r>
              <a:rPr lang="en-GB" sz="1800"/>
              <a:t>pupil</a:t>
            </a:r>
            <a:r>
              <a:rPr lang="en-GB" sz="1800"/>
              <a:t> in Oak academy has a cashless account.</a:t>
            </a:r>
            <a:endParaRPr sz="1800"/>
          </a:p>
          <a:p>
            <a:pPr indent="0" lvl="0" marL="0" rtl="0" algn="l">
              <a:spcBef>
                <a:spcPts val="1000"/>
              </a:spcBef>
              <a:spcAft>
                <a:spcPts val="0"/>
              </a:spcAft>
              <a:buNone/>
            </a:pPr>
            <a:r>
              <a:rPr lang="en-GB" sz="1800"/>
              <a:t>All Oak </a:t>
            </a:r>
            <a:r>
              <a:rPr lang="en-GB" sz="1800"/>
              <a:t>pupil</a:t>
            </a:r>
            <a:r>
              <a:rPr lang="en-GB" sz="1800"/>
              <a:t>s have been excellent and the Oak teacher can award them with either 20% more of what is in their account or £2 more what is in their account. </a:t>
            </a:r>
            <a:endParaRPr sz="1800"/>
          </a:p>
          <a:p>
            <a:pPr indent="0" lvl="0" marL="0" rtl="0" algn="l">
              <a:spcBef>
                <a:spcPts val="1000"/>
              </a:spcBef>
              <a:spcAft>
                <a:spcPts val="0"/>
              </a:spcAft>
              <a:buNone/>
            </a:pPr>
            <a:r>
              <a:rPr lang="en-GB" sz="1800"/>
              <a:t>Which offer should each </a:t>
            </a:r>
            <a:r>
              <a:rPr lang="en-GB" sz="1800"/>
              <a:t>pupil</a:t>
            </a:r>
            <a:r>
              <a:rPr lang="en-GB" sz="1800"/>
              <a:t> receive to get the best deal?</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graphicFrame>
        <p:nvGraphicFramePr>
          <p:cNvPr id="1230" name="Google Shape;1230;p101"/>
          <p:cNvGraphicFramePr/>
          <p:nvPr/>
        </p:nvGraphicFramePr>
        <p:xfrm>
          <a:off x="3755550" y="1191000"/>
          <a:ext cx="3000000" cy="3000000"/>
        </p:xfrm>
        <a:graphic>
          <a:graphicData uri="http://schemas.openxmlformats.org/drawingml/2006/table">
            <a:tbl>
              <a:tblPr>
                <a:noFill/>
                <a:tableStyleId>{D52034BA-B2A8-49EF-A613-FFD26C1E2B7E}</a:tableStyleId>
              </a:tblPr>
              <a:tblGrid>
                <a:gridCol w="1243325"/>
                <a:gridCol w="1254125"/>
              </a:tblGrid>
              <a:tr h="0">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P</a:t>
                      </a:r>
                      <a:r>
                        <a:rPr lang="en-GB" sz="1900">
                          <a:solidFill>
                            <a:schemeClr val="lt1"/>
                          </a:solidFill>
                          <a:latin typeface="Lexend"/>
                          <a:ea typeface="Lexend"/>
                          <a:cs typeface="Lexend"/>
                          <a:sym typeface="Lexend"/>
                        </a:rPr>
                        <a:t>upil</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Account</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0">
                <a:tc>
                  <a:txBody>
                    <a:bodyPr/>
                    <a:lstStyle/>
                    <a:p>
                      <a:pPr indent="0" lvl="0" marL="0" rtl="0" algn="l">
                        <a:spcBef>
                          <a:spcPts val="0"/>
                        </a:spcBef>
                        <a:spcAft>
                          <a:spcPts val="0"/>
                        </a:spcAft>
                        <a:buNone/>
                      </a:pPr>
                      <a:r>
                        <a:rPr lang="en-GB" sz="1900">
                          <a:latin typeface="Lexend"/>
                          <a:ea typeface="Lexend"/>
                          <a:cs typeface="Lexend"/>
                          <a:sym typeface="Lexend"/>
                        </a:rPr>
                        <a:t>Andeep</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£4.50</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Aisha</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£11.29</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Izzy</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£9.96</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Jacob</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£8.90</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Jun</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£10</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231" name="Google Shape;1231;p101"/>
          <p:cNvGraphicFramePr/>
          <p:nvPr/>
        </p:nvGraphicFramePr>
        <p:xfrm>
          <a:off x="6346350" y="1191000"/>
          <a:ext cx="3000000" cy="3000000"/>
        </p:xfrm>
        <a:graphic>
          <a:graphicData uri="http://schemas.openxmlformats.org/drawingml/2006/table">
            <a:tbl>
              <a:tblPr>
                <a:noFill/>
                <a:tableStyleId>{D52034BA-B2A8-49EF-A613-FFD26C1E2B7E}</a:tableStyleId>
              </a:tblPr>
              <a:tblGrid>
                <a:gridCol w="1243325"/>
                <a:gridCol w="1254125"/>
              </a:tblGrid>
              <a:tr h="0">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P</a:t>
                      </a:r>
                      <a:r>
                        <a:rPr lang="en-GB" sz="1900">
                          <a:solidFill>
                            <a:schemeClr val="lt1"/>
                          </a:solidFill>
                          <a:latin typeface="Lexend"/>
                          <a:ea typeface="Lexend"/>
                          <a:cs typeface="Lexend"/>
                          <a:sym typeface="Lexend"/>
                        </a:rPr>
                        <a:t>upil</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Account</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0">
                <a:tc>
                  <a:txBody>
                    <a:bodyPr/>
                    <a:lstStyle/>
                    <a:p>
                      <a:pPr indent="0" lvl="0" marL="0" rtl="0" algn="l">
                        <a:spcBef>
                          <a:spcPts val="0"/>
                        </a:spcBef>
                        <a:spcAft>
                          <a:spcPts val="0"/>
                        </a:spcAft>
                        <a:buNone/>
                      </a:pPr>
                      <a:r>
                        <a:rPr lang="en-GB" sz="1900">
                          <a:latin typeface="Lexend"/>
                          <a:ea typeface="Lexend"/>
                          <a:cs typeface="Lexend"/>
                          <a:sym typeface="Lexend"/>
                        </a:rPr>
                        <a:t>Lucas</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£32</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Sam</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£8.23</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Alex</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£2.13</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Sofia</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£20.12</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0">
                <a:tc>
                  <a:txBody>
                    <a:bodyPr/>
                    <a:lstStyle/>
                    <a:p>
                      <a:pPr indent="0" lvl="0" marL="0" rtl="0" algn="l">
                        <a:spcBef>
                          <a:spcPts val="0"/>
                        </a:spcBef>
                        <a:spcAft>
                          <a:spcPts val="0"/>
                        </a:spcAft>
                        <a:buNone/>
                      </a:pPr>
                      <a:r>
                        <a:rPr lang="en-GB" sz="1900">
                          <a:latin typeface="Lexend"/>
                          <a:ea typeface="Lexend"/>
                          <a:cs typeface="Lexend"/>
                          <a:sym typeface="Lexend"/>
                        </a:rPr>
                        <a:t>Laura</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900">
                          <a:latin typeface="Lexend"/>
                          <a:ea typeface="Lexend"/>
                          <a:cs typeface="Lexend"/>
                          <a:sym typeface="Lexend"/>
                        </a:rPr>
                        <a:t>£9.99</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232" name="Google Shape;1232;p101"/>
          <p:cNvSpPr txBox="1"/>
          <p:nvPr/>
        </p:nvSpPr>
        <p:spPr>
          <a:xfrm>
            <a:off x="3893825" y="4015750"/>
            <a:ext cx="4488000" cy="5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Anything over £10 should go for the 20% offer. Jun can have either.</a:t>
            </a:r>
            <a:endParaRPr sz="19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10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Paying attention to the whole</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graphicFrame>
        <p:nvGraphicFramePr>
          <p:cNvPr id="1238" name="Google Shape;1238;p102"/>
          <p:cNvGraphicFramePr/>
          <p:nvPr/>
        </p:nvGraphicFramePr>
        <p:xfrm>
          <a:off x="374925" y="1171438"/>
          <a:ext cx="3000000" cy="3000000"/>
        </p:xfrm>
        <a:graphic>
          <a:graphicData uri="http://schemas.openxmlformats.org/drawingml/2006/table">
            <a:tbl>
              <a:tblPr>
                <a:noFill/>
                <a:tableStyleId>{D52034BA-B2A8-49EF-A613-FFD26C1E2B7E}</a:tableStyleId>
              </a:tblPr>
              <a:tblGrid>
                <a:gridCol w="3466775"/>
                <a:gridCol w="1099125"/>
                <a:gridCol w="892300"/>
                <a:gridCol w="1128550"/>
                <a:gridCol w="1532375"/>
              </a:tblGrid>
              <a:tr h="604050">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Statement</a:t>
                      </a:r>
                      <a:endParaRPr sz="17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A is better</a:t>
                      </a:r>
                      <a:endParaRPr sz="16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B is better</a:t>
                      </a:r>
                      <a:endParaRPr sz="16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Both the same</a:t>
                      </a:r>
                      <a:endParaRPr sz="16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Not enough information</a:t>
                      </a:r>
                      <a:endParaRPr sz="16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672175">
                <a:tc>
                  <a:txBody>
                    <a:bodyPr/>
                    <a:lstStyle/>
                    <a:p>
                      <a:pPr indent="0" lvl="0" marL="0" rtl="0" algn="l">
                        <a:spcBef>
                          <a:spcPts val="0"/>
                        </a:spcBef>
                        <a:spcAft>
                          <a:spcPts val="0"/>
                        </a:spcAft>
                        <a:buNone/>
                      </a:pPr>
                      <a:r>
                        <a:rPr lang="en-GB" sz="1600">
                          <a:latin typeface="Lexend"/>
                          <a:ea typeface="Lexend"/>
                          <a:cs typeface="Lexend"/>
                          <a:sym typeface="Lexend"/>
                        </a:rPr>
                        <a:t>A is offered 10% of £100</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B is offered 5% of £200</a:t>
                      </a:r>
                      <a:endParaRPr sz="16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97875">
                <a:tc>
                  <a:txBody>
                    <a:bodyPr/>
                    <a:lstStyle/>
                    <a:p>
                      <a:pPr indent="0" lvl="0" marL="0" rtl="0" algn="l">
                        <a:spcBef>
                          <a:spcPts val="0"/>
                        </a:spcBef>
                        <a:spcAft>
                          <a:spcPts val="0"/>
                        </a:spcAft>
                        <a:buNone/>
                      </a:pPr>
                      <a:r>
                        <a:rPr lang="en-GB" sz="1600">
                          <a:latin typeface="Lexend"/>
                          <a:ea typeface="Lexend"/>
                          <a:cs typeface="Lexend"/>
                          <a:sym typeface="Lexend"/>
                        </a:rPr>
                        <a:t>A is offered 79%</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B is offered 100%</a:t>
                      </a:r>
                      <a:endParaRPr sz="16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97875">
                <a:tc>
                  <a:txBody>
                    <a:bodyPr/>
                    <a:lstStyle/>
                    <a:p>
                      <a:pPr indent="0" lvl="0" marL="0" rtl="0" algn="l">
                        <a:spcBef>
                          <a:spcPts val="0"/>
                        </a:spcBef>
                        <a:spcAft>
                          <a:spcPts val="0"/>
                        </a:spcAft>
                        <a:buNone/>
                      </a:pPr>
                      <a:r>
                        <a:rPr lang="en-GB" sz="1600">
                          <a:latin typeface="Lexend"/>
                          <a:ea typeface="Lexend"/>
                          <a:cs typeface="Lexend"/>
                          <a:sym typeface="Lexend"/>
                        </a:rPr>
                        <a:t>A is offered ⅜ of £24 </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B is offered ½ of £19</a:t>
                      </a:r>
                      <a:endParaRPr sz="16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97875">
                <a:tc>
                  <a:txBody>
                    <a:bodyPr/>
                    <a:lstStyle/>
                    <a:p>
                      <a:pPr indent="0" lvl="0" marL="0" rtl="0" algn="l">
                        <a:spcBef>
                          <a:spcPts val="0"/>
                        </a:spcBef>
                        <a:spcAft>
                          <a:spcPts val="0"/>
                        </a:spcAft>
                        <a:buNone/>
                      </a:pPr>
                      <a:r>
                        <a:rPr lang="en-GB" sz="1600">
                          <a:latin typeface="Lexend"/>
                          <a:ea typeface="Lexend"/>
                          <a:cs typeface="Lexend"/>
                          <a:sym typeface="Lexend"/>
                        </a:rPr>
                        <a:t>A is offered 20% more money than B</a:t>
                      </a:r>
                      <a:endParaRPr sz="16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239" name="Google Shape;1239;p102"/>
          <p:cNvSpPr txBox="1"/>
          <p:nvPr/>
        </p:nvSpPr>
        <p:spPr>
          <a:xfrm>
            <a:off x="374925" y="655325"/>
            <a:ext cx="8119200" cy="477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3</a:t>
            </a:r>
            <a:r>
              <a:rPr lang="en-GB" sz="1900">
                <a:solidFill>
                  <a:schemeClr val="dk1"/>
                </a:solidFill>
                <a:latin typeface="Lexend"/>
                <a:ea typeface="Lexend"/>
                <a:cs typeface="Lexend"/>
                <a:sym typeface="Lexend"/>
              </a:rPr>
              <a:t>) Tick which is the best offer or if there is not enough information.</a:t>
            </a:r>
            <a:endParaRPr/>
          </a:p>
        </p:txBody>
      </p:sp>
      <p:pic>
        <p:nvPicPr>
          <p:cNvPr id="1240" name="Google Shape;1240;p102"/>
          <p:cNvPicPr preferRelativeResize="0"/>
          <p:nvPr/>
        </p:nvPicPr>
        <p:blipFill>
          <a:blip r:embed="rId3">
            <a:alphaModFix/>
          </a:blip>
          <a:stretch>
            <a:fillRect/>
          </a:stretch>
        </p:blipFill>
        <p:spPr>
          <a:xfrm>
            <a:off x="6160158" y="1855200"/>
            <a:ext cx="396000" cy="419100"/>
          </a:xfrm>
          <a:prstGeom prst="rect">
            <a:avLst/>
          </a:prstGeom>
          <a:noFill/>
          <a:ln>
            <a:noFill/>
          </a:ln>
        </p:spPr>
      </p:pic>
      <p:pic>
        <p:nvPicPr>
          <p:cNvPr id="1241" name="Google Shape;1241;p102"/>
          <p:cNvPicPr preferRelativeResize="0"/>
          <p:nvPr/>
        </p:nvPicPr>
        <p:blipFill>
          <a:blip r:embed="rId3">
            <a:alphaModFix/>
          </a:blip>
          <a:stretch>
            <a:fillRect/>
          </a:stretch>
        </p:blipFill>
        <p:spPr>
          <a:xfrm>
            <a:off x="7455558" y="2617200"/>
            <a:ext cx="396000" cy="419100"/>
          </a:xfrm>
          <a:prstGeom prst="rect">
            <a:avLst/>
          </a:prstGeom>
          <a:noFill/>
          <a:ln>
            <a:noFill/>
          </a:ln>
        </p:spPr>
      </p:pic>
      <p:pic>
        <p:nvPicPr>
          <p:cNvPr id="1242" name="Google Shape;1242;p102"/>
          <p:cNvPicPr preferRelativeResize="0"/>
          <p:nvPr/>
        </p:nvPicPr>
        <p:blipFill>
          <a:blip r:embed="rId3">
            <a:alphaModFix/>
          </a:blip>
          <a:stretch>
            <a:fillRect/>
          </a:stretch>
        </p:blipFill>
        <p:spPr>
          <a:xfrm>
            <a:off x="5177183" y="3363950"/>
            <a:ext cx="396000" cy="419100"/>
          </a:xfrm>
          <a:prstGeom prst="rect">
            <a:avLst/>
          </a:prstGeom>
          <a:noFill/>
          <a:ln>
            <a:noFill/>
          </a:ln>
        </p:spPr>
      </p:pic>
      <p:pic>
        <p:nvPicPr>
          <p:cNvPr id="1243" name="Google Shape;1243;p102"/>
          <p:cNvPicPr preferRelativeResize="0"/>
          <p:nvPr/>
        </p:nvPicPr>
        <p:blipFill>
          <a:blip r:embed="rId3">
            <a:alphaModFix/>
          </a:blip>
          <a:stretch>
            <a:fillRect/>
          </a:stretch>
        </p:blipFill>
        <p:spPr>
          <a:xfrm>
            <a:off x="4247543" y="395069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10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Paying attention to the whole</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249" name="Google Shape;1249;p103"/>
          <p:cNvSpPr txBox="1"/>
          <p:nvPr/>
        </p:nvSpPr>
        <p:spPr>
          <a:xfrm>
            <a:off x="324000" y="755450"/>
            <a:ext cx="8433900" cy="3693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Jacob is looking for a new bike. Two shops sell the same bike.</a:t>
            </a:r>
            <a:endParaRPr sz="1800">
              <a:solidFill>
                <a:schemeClr val="dk1"/>
              </a:solidFill>
              <a:latin typeface="Lexend"/>
              <a:ea typeface="Lexend"/>
              <a:cs typeface="Lexend"/>
              <a:sym typeface="Lexend"/>
            </a:endParaRPr>
          </a:p>
        </p:txBody>
      </p:sp>
      <p:pic>
        <p:nvPicPr>
          <p:cNvPr id="1250" name="Google Shape;1250;p103"/>
          <p:cNvPicPr preferRelativeResize="0"/>
          <p:nvPr/>
        </p:nvPicPr>
        <p:blipFill>
          <a:blip r:embed="rId3">
            <a:alphaModFix/>
          </a:blip>
          <a:stretch>
            <a:fillRect/>
          </a:stretch>
        </p:blipFill>
        <p:spPr>
          <a:xfrm>
            <a:off x="755725" y="1095603"/>
            <a:ext cx="525075" cy="646801"/>
          </a:xfrm>
          <a:prstGeom prst="rect">
            <a:avLst/>
          </a:prstGeom>
          <a:noFill/>
          <a:ln>
            <a:noFill/>
          </a:ln>
        </p:spPr>
      </p:pic>
      <p:grpSp>
        <p:nvGrpSpPr>
          <p:cNvPr id="1251" name="Google Shape;1251;p103"/>
          <p:cNvGrpSpPr/>
          <p:nvPr/>
        </p:nvGrpSpPr>
        <p:grpSpPr>
          <a:xfrm>
            <a:off x="4038795" y="1572616"/>
            <a:ext cx="1198810" cy="893619"/>
            <a:chOff x="4823995" y="2571741"/>
            <a:chExt cx="1198810" cy="893619"/>
          </a:xfrm>
        </p:grpSpPr>
        <p:sp>
          <p:nvSpPr>
            <p:cNvPr id="1252" name="Google Shape;1252;p103"/>
            <p:cNvSpPr/>
            <p:nvPr/>
          </p:nvSpPr>
          <p:spPr>
            <a:xfrm rot="4071544">
              <a:off x="5160862" y="2478250"/>
              <a:ext cx="525075" cy="1080600"/>
            </a:xfrm>
            <a:prstGeom prst="flowChartOffpageConnector">
              <a:avLst/>
            </a:prstGeom>
            <a:solidFill>
              <a:srgbClr val="E6F2F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3" name="Google Shape;1253;p103"/>
            <p:cNvSpPr txBox="1"/>
            <p:nvPr/>
          </p:nvSpPr>
          <p:spPr>
            <a:xfrm rot="-1316906">
              <a:off x="5041627" y="2721384"/>
              <a:ext cx="890115" cy="46154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£120</a:t>
              </a:r>
              <a:endParaRPr sz="2200">
                <a:solidFill>
                  <a:schemeClr val="dk1"/>
                </a:solidFill>
                <a:latin typeface="Lexend"/>
                <a:ea typeface="Lexend"/>
                <a:cs typeface="Lexend"/>
                <a:sym typeface="Lexend"/>
              </a:endParaRPr>
            </a:p>
          </p:txBody>
        </p:sp>
      </p:grpSp>
      <p:cxnSp>
        <p:nvCxnSpPr>
          <p:cNvPr id="1254" name="Google Shape;1254;p103"/>
          <p:cNvCxnSpPr>
            <a:endCxn id="1252" idx="2"/>
          </p:cNvCxnSpPr>
          <p:nvPr/>
        </p:nvCxnSpPr>
        <p:spPr>
          <a:xfrm>
            <a:off x="3298342" y="1800057"/>
            <a:ext cx="839400" cy="423000"/>
          </a:xfrm>
          <a:prstGeom prst="curvedConnector3">
            <a:avLst>
              <a:gd fmla="val 66260" name="adj1"/>
            </a:avLst>
          </a:prstGeom>
          <a:noFill/>
          <a:ln cap="flat" cmpd="sng" w="19050">
            <a:solidFill>
              <a:schemeClr val="accent5"/>
            </a:solidFill>
            <a:prstDash val="solid"/>
            <a:round/>
            <a:headEnd len="med" w="med" type="none"/>
            <a:tailEnd len="med" w="med" type="none"/>
          </a:ln>
        </p:spPr>
      </p:cxnSp>
      <p:sp>
        <p:nvSpPr>
          <p:cNvPr id="1255" name="Google Shape;1255;p103"/>
          <p:cNvSpPr txBox="1"/>
          <p:nvPr/>
        </p:nvSpPr>
        <p:spPr>
          <a:xfrm>
            <a:off x="2114125" y="2758850"/>
            <a:ext cx="1569300" cy="41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accent5"/>
                </a:solidFill>
                <a:latin typeface="Lexend"/>
                <a:ea typeface="Lexend"/>
                <a:cs typeface="Lexend"/>
                <a:sym typeface="Lexend"/>
              </a:rPr>
              <a:t>SALE 30% off</a:t>
            </a:r>
            <a:endParaRPr sz="1800">
              <a:solidFill>
                <a:schemeClr val="accent5"/>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sp>
        <p:nvSpPr>
          <p:cNvPr id="1256" name="Google Shape;1256;p103"/>
          <p:cNvSpPr/>
          <p:nvPr/>
        </p:nvSpPr>
        <p:spPr>
          <a:xfrm>
            <a:off x="1857525" y="1090650"/>
            <a:ext cx="2759700" cy="3372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Shop B</a:t>
            </a:r>
            <a:endParaRPr sz="2000">
              <a:solidFill>
                <a:schemeClr val="dk1"/>
              </a:solidFill>
              <a:latin typeface="Lexend"/>
              <a:ea typeface="Lexend"/>
              <a:cs typeface="Lexend"/>
              <a:sym typeface="Lexend"/>
            </a:endParaRPr>
          </a:p>
        </p:txBody>
      </p:sp>
      <p:sp>
        <p:nvSpPr>
          <p:cNvPr id="1257" name="Google Shape;1257;p103"/>
          <p:cNvSpPr txBox="1"/>
          <p:nvPr/>
        </p:nvSpPr>
        <p:spPr>
          <a:xfrm>
            <a:off x="324000" y="3806850"/>
            <a:ext cx="8496000" cy="1007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Jacob says, “Both have 30% off in total so the bike costs the same in both shops.”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3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Show if Jacob is correct or not.</a:t>
            </a:r>
            <a:endParaRPr sz="1800">
              <a:solidFill>
                <a:schemeClr val="dk1"/>
              </a:solidFill>
              <a:latin typeface="Lexend"/>
              <a:ea typeface="Lexend"/>
              <a:cs typeface="Lexend"/>
              <a:sym typeface="Lexend"/>
            </a:endParaRPr>
          </a:p>
        </p:txBody>
      </p:sp>
      <p:pic>
        <p:nvPicPr>
          <p:cNvPr id="1258" name="Google Shape;1258;p103"/>
          <p:cNvPicPr preferRelativeResize="0"/>
          <p:nvPr/>
        </p:nvPicPr>
        <p:blipFill>
          <a:blip r:embed="rId4">
            <a:alphaModFix/>
          </a:blip>
          <a:stretch>
            <a:fillRect/>
          </a:stretch>
        </p:blipFill>
        <p:spPr>
          <a:xfrm>
            <a:off x="2117283" y="1344711"/>
            <a:ext cx="1880800" cy="1349426"/>
          </a:xfrm>
          <a:prstGeom prst="rect">
            <a:avLst/>
          </a:prstGeom>
          <a:noFill/>
          <a:ln>
            <a:noFill/>
          </a:ln>
        </p:spPr>
      </p:pic>
      <p:sp>
        <p:nvSpPr>
          <p:cNvPr id="1259" name="Google Shape;1259;p103"/>
          <p:cNvSpPr txBox="1"/>
          <p:nvPr/>
        </p:nvSpPr>
        <p:spPr>
          <a:xfrm>
            <a:off x="5634375" y="1190075"/>
            <a:ext cx="3241800" cy="2267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30% of £120 is £36</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So the cost of the bike in shop B is: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£120 − £36 = £84</a:t>
            </a:r>
            <a:endParaRPr sz="2000">
              <a:solidFill>
                <a:schemeClr val="dk1"/>
              </a:solidFill>
              <a:latin typeface="Kalam"/>
              <a:ea typeface="Kalam"/>
              <a:cs typeface="Kalam"/>
              <a:sym typeface="Kalam"/>
            </a:endParaRPr>
          </a:p>
        </p:txBody>
      </p:sp>
      <p:sp>
        <p:nvSpPr>
          <p:cNvPr id="1260" name="Google Shape;1260;p103"/>
          <p:cNvSpPr/>
          <p:nvPr/>
        </p:nvSpPr>
        <p:spPr>
          <a:xfrm>
            <a:off x="7281775" y="1984650"/>
            <a:ext cx="603900" cy="5298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sp>
        <p:nvSpPr>
          <p:cNvPr id="1265" name="Google Shape;1265;p10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Paying attention to the whole</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266" name="Google Shape;1266;p104"/>
          <p:cNvSpPr txBox="1"/>
          <p:nvPr/>
        </p:nvSpPr>
        <p:spPr>
          <a:xfrm>
            <a:off x="324000" y="755450"/>
            <a:ext cx="8433900" cy="3693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Jacob is looking for a new bike. Two shops sell the same bike.</a:t>
            </a:r>
            <a:endParaRPr sz="1800">
              <a:solidFill>
                <a:schemeClr val="dk1"/>
              </a:solidFill>
              <a:latin typeface="Lexend"/>
              <a:ea typeface="Lexend"/>
              <a:cs typeface="Lexend"/>
              <a:sym typeface="Lexend"/>
            </a:endParaRPr>
          </a:p>
        </p:txBody>
      </p:sp>
      <p:pic>
        <p:nvPicPr>
          <p:cNvPr id="1267" name="Google Shape;1267;p104"/>
          <p:cNvPicPr preferRelativeResize="0"/>
          <p:nvPr/>
        </p:nvPicPr>
        <p:blipFill>
          <a:blip r:embed="rId3">
            <a:alphaModFix/>
          </a:blip>
          <a:stretch>
            <a:fillRect/>
          </a:stretch>
        </p:blipFill>
        <p:spPr>
          <a:xfrm>
            <a:off x="755725" y="1095603"/>
            <a:ext cx="525075" cy="646801"/>
          </a:xfrm>
          <a:prstGeom prst="rect">
            <a:avLst/>
          </a:prstGeom>
          <a:noFill/>
          <a:ln>
            <a:noFill/>
          </a:ln>
        </p:spPr>
      </p:pic>
      <p:grpSp>
        <p:nvGrpSpPr>
          <p:cNvPr id="1268" name="Google Shape;1268;p104"/>
          <p:cNvGrpSpPr/>
          <p:nvPr/>
        </p:nvGrpSpPr>
        <p:grpSpPr>
          <a:xfrm>
            <a:off x="7621120" y="1555416"/>
            <a:ext cx="1198810" cy="893619"/>
            <a:chOff x="4823995" y="2571741"/>
            <a:chExt cx="1198810" cy="893619"/>
          </a:xfrm>
        </p:grpSpPr>
        <p:sp>
          <p:nvSpPr>
            <p:cNvPr id="1269" name="Google Shape;1269;p104"/>
            <p:cNvSpPr/>
            <p:nvPr/>
          </p:nvSpPr>
          <p:spPr>
            <a:xfrm rot="4071544">
              <a:off x="5160862" y="2478250"/>
              <a:ext cx="525075" cy="1080600"/>
            </a:xfrm>
            <a:prstGeom prst="flowChartOffpageConnector">
              <a:avLst/>
            </a:prstGeom>
            <a:solidFill>
              <a:srgbClr val="E6F2F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0" name="Google Shape;1270;p104"/>
            <p:cNvSpPr txBox="1"/>
            <p:nvPr/>
          </p:nvSpPr>
          <p:spPr>
            <a:xfrm rot="-1316906">
              <a:off x="5041627" y="2721384"/>
              <a:ext cx="890115" cy="46154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£120</a:t>
              </a:r>
              <a:endParaRPr sz="2200">
                <a:solidFill>
                  <a:schemeClr val="dk1"/>
                </a:solidFill>
                <a:latin typeface="Lexend"/>
                <a:ea typeface="Lexend"/>
                <a:cs typeface="Lexend"/>
                <a:sym typeface="Lexend"/>
              </a:endParaRPr>
            </a:p>
          </p:txBody>
        </p:sp>
      </p:grpSp>
      <p:cxnSp>
        <p:nvCxnSpPr>
          <p:cNvPr id="1271" name="Google Shape;1271;p104"/>
          <p:cNvCxnSpPr>
            <a:endCxn id="1269" idx="2"/>
          </p:cNvCxnSpPr>
          <p:nvPr/>
        </p:nvCxnSpPr>
        <p:spPr>
          <a:xfrm>
            <a:off x="6931067" y="1790657"/>
            <a:ext cx="789000" cy="415200"/>
          </a:xfrm>
          <a:prstGeom prst="curvedConnector3">
            <a:avLst>
              <a:gd fmla="val 63249" name="adj1"/>
            </a:avLst>
          </a:prstGeom>
          <a:noFill/>
          <a:ln cap="flat" cmpd="sng" w="19050">
            <a:solidFill>
              <a:schemeClr val="accent5"/>
            </a:solidFill>
            <a:prstDash val="solid"/>
            <a:round/>
            <a:headEnd len="med" w="med" type="none"/>
            <a:tailEnd len="med" w="med" type="none"/>
          </a:ln>
        </p:spPr>
      </p:cxnSp>
      <p:sp>
        <p:nvSpPr>
          <p:cNvPr id="1272" name="Google Shape;1272;p104"/>
          <p:cNvSpPr txBox="1"/>
          <p:nvPr/>
        </p:nvSpPr>
        <p:spPr>
          <a:xfrm>
            <a:off x="5740325" y="2743938"/>
            <a:ext cx="2516100" cy="76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accent5"/>
                </a:solidFill>
                <a:latin typeface="Lexend"/>
                <a:ea typeface="Lexend"/>
                <a:cs typeface="Lexend"/>
                <a:sym typeface="Lexend"/>
              </a:rPr>
              <a:t>SALE 20% off</a:t>
            </a:r>
            <a:endParaRPr sz="1800">
              <a:solidFill>
                <a:schemeClr val="accent5"/>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Plus an extra 10% off the sale price</a:t>
            </a:r>
            <a:endParaRPr sz="1800">
              <a:solidFill>
                <a:schemeClr val="dk1"/>
              </a:solidFill>
              <a:latin typeface="Lexend"/>
              <a:ea typeface="Lexend"/>
              <a:cs typeface="Lexend"/>
              <a:sym typeface="Lexend"/>
            </a:endParaRPr>
          </a:p>
        </p:txBody>
      </p:sp>
      <p:sp>
        <p:nvSpPr>
          <p:cNvPr id="1273" name="Google Shape;1273;p104"/>
          <p:cNvSpPr/>
          <p:nvPr/>
        </p:nvSpPr>
        <p:spPr>
          <a:xfrm>
            <a:off x="5702075" y="1090650"/>
            <a:ext cx="2759700" cy="3372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Shop A</a:t>
            </a:r>
            <a:endParaRPr sz="2000">
              <a:solidFill>
                <a:schemeClr val="dk1"/>
              </a:solidFill>
              <a:latin typeface="Lexend"/>
              <a:ea typeface="Lexend"/>
              <a:cs typeface="Lexend"/>
              <a:sym typeface="Lexend"/>
            </a:endParaRPr>
          </a:p>
        </p:txBody>
      </p:sp>
      <p:sp>
        <p:nvSpPr>
          <p:cNvPr id="1274" name="Google Shape;1274;p104"/>
          <p:cNvSpPr txBox="1"/>
          <p:nvPr/>
        </p:nvSpPr>
        <p:spPr>
          <a:xfrm>
            <a:off x="324000" y="3806850"/>
            <a:ext cx="8496000" cy="1007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Jacob says, “Both have 30% off in total so the bike costs the same in both shops.”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3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Show if Jacob is correct or not.</a:t>
            </a:r>
            <a:endParaRPr sz="1800">
              <a:solidFill>
                <a:schemeClr val="dk1"/>
              </a:solidFill>
              <a:latin typeface="Lexend"/>
              <a:ea typeface="Lexend"/>
              <a:cs typeface="Lexend"/>
              <a:sym typeface="Lexend"/>
            </a:endParaRPr>
          </a:p>
        </p:txBody>
      </p:sp>
      <p:pic>
        <p:nvPicPr>
          <p:cNvPr id="1275" name="Google Shape;1275;p104"/>
          <p:cNvPicPr preferRelativeResize="0"/>
          <p:nvPr/>
        </p:nvPicPr>
        <p:blipFill>
          <a:blip r:embed="rId4">
            <a:alphaModFix/>
          </a:blip>
          <a:stretch>
            <a:fillRect/>
          </a:stretch>
        </p:blipFill>
        <p:spPr>
          <a:xfrm>
            <a:off x="5745622" y="1344711"/>
            <a:ext cx="1880800" cy="1349426"/>
          </a:xfrm>
          <a:prstGeom prst="rect">
            <a:avLst/>
          </a:prstGeom>
          <a:noFill/>
          <a:ln>
            <a:noFill/>
          </a:ln>
        </p:spPr>
      </p:pic>
      <p:sp>
        <p:nvSpPr>
          <p:cNvPr id="1276" name="Google Shape;1276;p104"/>
          <p:cNvSpPr txBox="1"/>
          <p:nvPr/>
        </p:nvSpPr>
        <p:spPr>
          <a:xfrm>
            <a:off x="1481425" y="1080000"/>
            <a:ext cx="4131600" cy="2267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2</a:t>
            </a:r>
            <a:r>
              <a:rPr lang="en-GB" sz="2000">
                <a:solidFill>
                  <a:schemeClr val="dk1"/>
                </a:solidFill>
                <a:latin typeface="Kalam"/>
                <a:ea typeface="Kalam"/>
                <a:cs typeface="Kalam"/>
                <a:sym typeface="Kalam"/>
              </a:rPr>
              <a:t>0% of £120 is £24</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So the </a:t>
            </a:r>
            <a:r>
              <a:rPr lang="en-GB" sz="2000">
                <a:solidFill>
                  <a:schemeClr val="dk1"/>
                </a:solidFill>
                <a:latin typeface="Kalam"/>
                <a:ea typeface="Kalam"/>
                <a:cs typeface="Kalam"/>
                <a:sym typeface="Kalam"/>
              </a:rPr>
              <a:t>sale</a:t>
            </a:r>
            <a:r>
              <a:rPr lang="en-GB" sz="2000">
                <a:solidFill>
                  <a:schemeClr val="dk1"/>
                </a:solidFill>
                <a:latin typeface="Kalam"/>
                <a:ea typeface="Kalam"/>
                <a:cs typeface="Kalam"/>
                <a:sym typeface="Kalam"/>
              </a:rPr>
              <a:t> price was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£120 − £24 = £96</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Now we take 10% off the sale price:</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10% of £96 is £9.60</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So, in shop A the bike costs:</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£96 </a:t>
            </a:r>
            <a:r>
              <a:rPr lang="en-GB" sz="2000">
                <a:solidFill>
                  <a:schemeClr val="dk1"/>
                </a:solidFill>
                <a:latin typeface="Kalam"/>
                <a:ea typeface="Kalam"/>
                <a:cs typeface="Kalam"/>
                <a:sym typeface="Kalam"/>
              </a:rPr>
              <a:t>− £9.60 = £86.40</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 </a:t>
            </a:r>
            <a:endParaRPr sz="2000">
              <a:solidFill>
                <a:schemeClr val="dk1"/>
              </a:solidFill>
              <a:latin typeface="Kalam"/>
              <a:ea typeface="Kalam"/>
              <a:cs typeface="Kalam"/>
              <a:sym typeface="Kalam"/>
            </a:endParaRPr>
          </a:p>
        </p:txBody>
      </p:sp>
      <p:sp>
        <p:nvSpPr>
          <p:cNvPr id="1277" name="Google Shape;1277;p104"/>
          <p:cNvSpPr/>
          <p:nvPr/>
        </p:nvSpPr>
        <p:spPr>
          <a:xfrm>
            <a:off x="3245275" y="3192400"/>
            <a:ext cx="906000" cy="3693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10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Paying attention to the whole</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283" name="Google Shape;1283;p105"/>
          <p:cNvSpPr txBox="1"/>
          <p:nvPr/>
        </p:nvSpPr>
        <p:spPr>
          <a:xfrm>
            <a:off x="324000" y="755450"/>
            <a:ext cx="8433900" cy="3693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Jacob is looking for a new bike. Two shops sell the same bike.</a:t>
            </a:r>
            <a:endParaRPr sz="1800">
              <a:solidFill>
                <a:schemeClr val="dk1"/>
              </a:solidFill>
              <a:latin typeface="Lexend"/>
              <a:ea typeface="Lexend"/>
              <a:cs typeface="Lexend"/>
              <a:sym typeface="Lexend"/>
            </a:endParaRPr>
          </a:p>
        </p:txBody>
      </p:sp>
      <p:pic>
        <p:nvPicPr>
          <p:cNvPr id="1284" name="Google Shape;1284;p105"/>
          <p:cNvPicPr preferRelativeResize="0"/>
          <p:nvPr/>
        </p:nvPicPr>
        <p:blipFill>
          <a:blip r:embed="rId3">
            <a:alphaModFix/>
          </a:blip>
          <a:stretch>
            <a:fillRect/>
          </a:stretch>
        </p:blipFill>
        <p:spPr>
          <a:xfrm>
            <a:off x="755725" y="1095603"/>
            <a:ext cx="525075" cy="646801"/>
          </a:xfrm>
          <a:prstGeom prst="rect">
            <a:avLst/>
          </a:prstGeom>
          <a:noFill/>
          <a:ln>
            <a:noFill/>
          </a:ln>
        </p:spPr>
      </p:pic>
      <p:grpSp>
        <p:nvGrpSpPr>
          <p:cNvPr id="1285" name="Google Shape;1285;p105"/>
          <p:cNvGrpSpPr/>
          <p:nvPr/>
        </p:nvGrpSpPr>
        <p:grpSpPr>
          <a:xfrm>
            <a:off x="7621120" y="1479216"/>
            <a:ext cx="1198810" cy="893619"/>
            <a:chOff x="4823995" y="2571741"/>
            <a:chExt cx="1198810" cy="893619"/>
          </a:xfrm>
        </p:grpSpPr>
        <p:sp>
          <p:nvSpPr>
            <p:cNvPr id="1286" name="Google Shape;1286;p105"/>
            <p:cNvSpPr/>
            <p:nvPr/>
          </p:nvSpPr>
          <p:spPr>
            <a:xfrm rot="4071544">
              <a:off x="5160862" y="2478250"/>
              <a:ext cx="525075" cy="1080600"/>
            </a:xfrm>
            <a:prstGeom prst="flowChartOffpageConnector">
              <a:avLst/>
            </a:prstGeom>
            <a:solidFill>
              <a:srgbClr val="E6F2F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7" name="Google Shape;1287;p105"/>
            <p:cNvSpPr txBox="1"/>
            <p:nvPr/>
          </p:nvSpPr>
          <p:spPr>
            <a:xfrm rot="-1316906">
              <a:off x="5041627" y="2721384"/>
              <a:ext cx="890115" cy="46154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£120</a:t>
              </a:r>
              <a:endParaRPr sz="2200">
                <a:solidFill>
                  <a:schemeClr val="dk1"/>
                </a:solidFill>
                <a:latin typeface="Lexend"/>
                <a:ea typeface="Lexend"/>
                <a:cs typeface="Lexend"/>
                <a:sym typeface="Lexend"/>
              </a:endParaRPr>
            </a:p>
          </p:txBody>
        </p:sp>
      </p:grpSp>
      <p:cxnSp>
        <p:nvCxnSpPr>
          <p:cNvPr id="1288" name="Google Shape;1288;p105"/>
          <p:cNvCxnSpPr>
            <a:endCxn id="1286" idx="2"/>
          </p:cNvCxnSpPr>
          <p:nvPr/>
        </p:nvCxnSpPr>
        <p:spPr>
          <a:xfrm>
            <a:off x="6931067" y="1714457"/>
            <a:ext cx="789000" cy="415200"/>
          </a:xfrm>
          <a:prstGeom prst="curvedConnector3">
            <a:avLst>
              <a:gd fmla="val 63249" name="adj1"/>
            </a:avLst>
          </a:prstGeom>
          <a:noFill/>
          <a:ln cap="flat" cmpd="sng" w="19050">
            <a:solidFill>
              <a:schemeClr val="accent5"/>
            </a:solidFill>
            <a:prstDash val="solid"/>
            <a:round/>
            <a:headEnd len="med" w="med" type="none"/>
            <a:tailEnd len="med" w="med" type="none"/>
          </a:ln>
        </p:spPr>
      </p:cxnSp>
      <p:sp>
        <p:nvSpPr>
          <p:cNvPr id="1289" name="Google Shape;1289;p105"/>
          <p:cNvSpPr txBox="1"/>
          <p:nvPr/>
        </p:nvSpPr>
        <p:spPr>
          <a:xfrm>
            <a:off x="5740325" y="2570349"/>
            <a:ext cx="2516100" cy="76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accent5"/>
                </a:solidFill>
                <a:latin typeface="Lexend"/>
                <a:ea typeface="Lexend"/>
                <a:cs typeface="Lexend"/>
                <a:sym typeface="Lexend"/>
              </a:rPr>
              <a:t>SALE 20% off</a:t>
            </a:r>
            <a:endParaRPr sz="1800">
              <a:solidFill>
                <a:schemeClr val="accent5"/>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Plus an extra 10% off the sale price</a:t>
            </a:r>
            <a:endParaRPr sz="1800">
              <a:solidFill>
                <a:schemeClr val="dk1"/>
              </a:solidFill>
              <a:latin typeface="Lexend"/>
              <a:ea typeface="Lexend"/>
              <a:cs typeface="Lexend"/>
              <a:sym typeface="Lexend"/>
            </a:endParaRPr>
          </a:p>
        </p:txBody>
      </p:sp>
      <p:sp>
        <p:nvSpPr>
          <p:cNvPr id="1290" name="Google Shape;1290;p105"/>
          <p:cNvSpPr/>
          <p:nvPr/>
        </p:nvSpPr>
        <p:spPr>
          <a:xfrm>
            <a:off x="5702075" y="1090650"/>
            <a:ext cx="2759700" cy="3372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Shop A</a:t>
            </a:r>
            <a:endParaRPr sz="2000">
              <a:solidFill>
                <a:schemeClr val="dk1"/>
              </a:solidFill>
              <a:latin typeface="Lexend"/>
              <a:ea typeface="Lexend"/>
              <a:cs typeface="Lexend"/>
              <a:sym typeface="Lexend"/>
            </a:endParaRPr>
          </a:p>
        </p:txBody>
      </p:sp>
      <p:sp>
        <p:nvSpPr>
          <p:cNvPr id="1291" name="Google Shape;1291;p105"/>
          <p:cNvSpPr txBox="1"/>
          <p:nvPr/>
        </p:nvSpPr>
        <p:spPr>
          <a:xfrm>
            <a:off x="324000" y="3502050"/>
            <a:ext cx="8496000" cy="1007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Jacob says, “Both have 30% off in total so the bike costs the same in both shops.”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3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Show if Jacob is correct or not.</a:t>
            </a:r>
            <a:endParaRPr sz="1800">
              <a:solidFill>
                <a:schemeClr val="dk1"/>
              </a:solidFill>
              <a:latin typeface="Lexend"/>
              <a:ea typeface="Lexend"/>
              <a:cs typeface="Lexend"/>
              <a:sym typeface="Lexend"/>
            </a:endParaRPr>
          </a:p>
        </p:txBody>
      </p:sp>
      <p:pic>
        <p:nvPicPr>
          <p:cNvPr id="1292" name="Google Shape;1292;p105"/>
          <p:cNvPicPr preferRelativeResize="0"/>
          <p:nvPr/>
        </p:nvPicPr>
        <p:blipFill>
          <a:blip r:embed="rId4">
            <a:alphaModFix/>
          </a:blip>
          <a:stretch>
            <a:fillRect/>
          </a:stretch>
        </p:blipFill>
        <p:spPr>
          <a:xfrm>
            <a:off x="5745622" y="1268511"/>
            <a:ext cx="1880800" cy="1349426"/>
          </a:xfrm>
          <a:prstGeom prst="rect">
            <a:avLst/>
          </a:prstGeom>
          <a:noFill/>
          <a:ln>
            <a:noFill/>
          </a:ln>
        </p:spPr>
      </p:pic>
      <p:grpSp>
        <p:nvGrpSpPr>
          <p:cNvPr id="1293" name="Google Shape;1293;p105"/>
          <p:cNvGrpSpPr/>
          <p:nvPr/>
        </p:nvGrpSpPr>
        <p:grpSpPr>
          <a:xfrm>
            <a:off x="4038795" y="1496416"/>
            <a:ext cx="1198810" cy="893619"/>
            <a:chOff x="4823995" y="2571741"/>
            <a:chExt cx="1198810" cy="893619"/>
          </a:xfrm>
        </p:grpSpPr>
        <p:sp>
          <p:nvSpPr>
            <p:cNvPr id="1294" name="Google Shape;1294;p105"/>
            <p:cNvSpPr/>
            <p:nvPr/>
          </p:nvSpPr>
          <p:spPr>
            <a:xfrm rot="4071544">
              <a:off x="5160862" y="2478250"/>
              <a:ext cx="525075" cy="1080600"/>
            </a:xfrm>
            <a:prstGeom prst="flowChartOffpageConnector">
              <a:avLst/>
            </a:prstGeom>
            <a:solidFill>
              <a:srgbClr val="E6F2F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5" name="Google Shape;1295;p105"/>
            <p:cNvSpPr txBox="1"/>
            <p:nvPr/>
          </p:nvSpPr>
          <p:spPr>
            <a:xfrm rot="-1316906">
              <a:off x="5041627" y="2721384"/>
              <a:ext cx="890115" cy="46154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£120</a:t>
              </a:r>
              <a:endParaRPr sz="2200">
                <a:solidFill>
                  <a:schemeClr val="dk1"/>
                </a:solidFill>
                <a:latin typeface="Lexend"/>
                <a:ea typeface="Lexend"/>
                <a:cs typeface="Lexend"/>
                <a:sym typeface="Lexend"/>
              </a:endParaRPr>
            </a:p>
          </p:txBody>
        </p:sp>
      </p:grpSp>
      <p:cxnSp>
        <p:nvCxnSpPr>
          <p:cNvPr id="1296" name="Google Shape;1296;p105"/>
          <p:cNvCxnSpPr>
            <a:endCxn id="1294" idx="2"/>
          </p:cNvCxnSpPr>
          <p:nvPr/>
        </p:nvCxnSpPr>
        <p:spPr>
          <a:xfrm>
            <a:off x="3298342" y="1723857"/>
            <a:ext cx="839400" cy="423000"/>
          </a:xfrm>
          <a:prstGeom prst="curvedConnector3">
            <a:avLst>
              <a:gd fmla="val 50000" name="adj1"/>
            </a:avLst>
          </a:prstGeom>
          <a:noFill/>
          <a:ln cap="flat" cmpd="sng" w="19050">
            <a:solidFill>
              <a:schemeClr val="accent5"/>
            </a:solidFill>
            <a:prstDash val="solid"/>
            <a:round/>
            <a:headEnd len="med" w="med" type="none"/>
            <a:tailEnd len="med" w="med" type="none"/>
          </a:ln>
        </p:spPr>
      </p:cxnSp>
      <p:sp>
        <p:nvSpPr>
          <p:cNvPr id="1297" name="Google Shape;1297;p105"/>
          <p:cNvSpPr txBox="1"/>
          <p:nvPr/>
        </p:nvSpPr>
        <p:spPr>
          <a:xfrm>
            <a:off x="2114125" y="2585262"/>
            <a:ext cx="1569300" cy="41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accent5"/>
                </a:solidFill>
                <a:latin typeface="Lexend"/>
                <a:ea typeface="Lexend"/>
                <a:cs typeface="Lexend"/>
                <a:sym typeface="Lexend"/>
              </a:rPr>
              <a:t>SALE 30% off</a:t>
            </a:r>
            <a:endParaRPr sz="1800">
              <a:solidFill>
                <a:schemeClr val="accent5"/>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sp>
        <p:nvSpPr>
          <p:cNvPr id="1298" name="Google Shape;1298;p105"/>
          <p:cNvSpPr/>
          <p:nvPr/>
        </p:nvSpPr>
        <p:spPr>
          <a:xfrm>
            <a:off x="1857525" y="1090650"/>
            <a:ext cx="2759700" cy="3372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Shop B</a:t>
            </a:r>
            <a:endParaRPr sz="2000">
              <a:solidFill>
                <a:schemeClr val="dk1"/>
              </a:solidFill>
              <a:latin typeface="Lexend"/>
              <a:ea typeface="Lexend"/>
              <a:cs typeface="Lexend"/>
              <a:sym typeface="Lexend"/>
            </a:endParaRPr>
          </a:p>
        </p:txBody>
      </p:sp>
      <p:pic>
        <p:nvPicPr>
          <p:cNvPr id="1299" name="Google Shape;1299;p105"/>
          <p:cNvPicPr preferRelativeResize="0"/>
          <p:nvPr/>
        </p:nvPicPr>
        <p:blipFill>
          <a:blip r:embed="rId4">
            <a:alphaModFix/>
          </a:blip>
          <a:stretch>
            <a:fillRect/>
          </a:stretch>
        </p:blipFill>
        <p:spPr>
          <a:xfrm>
            <a:off x="2117283" y="1268511"/>
            <a:ext cx="1880800" cy="1349426"/>
          </a:xfrm>
          <a:prstGeom prst="rect">
            <a:avLst/>
          </a:prstGeom>
          <a:noFill/>
          <a:ln>
            <a:noFill/>
          </a:ln>
        </p:spPr>
      </p:pic>
      <p:sp>
        <p:nvSpPr>
          <p:cNvPr id="1300" name="Google Shape;1300;p105"/>
          <p:cNvSpPr txBox="1"/>
          <p:nvPr/>
        </p:nvSpPr>
        <p:spPr>
          <a:xfrm>
            <a:off x="7592925" y="3161762"/>
            <a:ext cx="911100" cy="36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£86.40</a:t>
            </a:r>
            <a:endParaRPr sz="22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 </a:t>
            </a:r>
            <a:endParaRPr sz="2000">
              <a:solidFill>
                <a:schemeClr val="dk1"/>
              </a:solidFill>
              <a:latin typeface="Kalam"/>
              <a:ea typeface="Kalam"/>
              <a:cs typeface="Kalam"/>
              <a:sym typeface="Kalam"/>
            </a:endParaRPr>
          </a:p>
        </p:txBody>
      </p:sp>
      <p:sp>
        <p:nvSpPr>
          <p:cNvPr id="1301" name="Google Shape;1301;p105"/>
          <p:cNvSpPr txBox="1"/>
          <p:nvPr/>
        </p:nvSpPr>
        <p:spPr>
          <a:xfrm>
            <a:off x="2702775" y="3161762"/>
            <a:ext cx="911100" cy="36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£84</a:t>
            </a:r>
            <a:endParaRPr sz="22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 </a:t>
            </a:r>
            <a:endParaRPr sz="2000">
              <a:solidFill>
                <a:schemeClr val="dk1"/>
              </a:solidFill>
              <a:latin typeface="Kalam"/>
              <a:ea typeface="Kalam"/>
              <a:cs typeface="Kalam"/>
              <a:sym typeface="Kalam"/>
            </a:endParaRPr>
          </a:p>
        </p:txBody>
      </p:sp>
      <p:sp>
        <p:nvSpPr>
          <p:cNvPr id="1302" name="Google Shape;1302;p105"/>
          <p:cNvSpPr txBox="1"/>
          <p:nvPr/>
        </p:nvSpPr>
        <p:spPr>
          <a:xfrm>
            <a:off x="3905700" y="3854475"/>
            <a:ext cx="4852200" cy="71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Jacob is not correct. Taking 20% then 10% is not the same as taking 30% of the same amount.</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p:txBody>
      </p:sp>
      <p:sp>
        <p:nvSpPr>
          <p:cNvPr id="1303" name="Google Shape;1303;p105"/>
          <p:cNvSpPr/>
          <p:nvPr/>
        </p:nvSpPr>
        <p:spPr>
          <a:xfrm>
            <a:off x="2694450" y="3135600"/>
            <a:ext cx="603900" cy="3693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4" name="Google Shape;1304;p105"/>
          <p:cNvSpPr/>
          <p:nvPr/>
        </p:nvSpPr>
        <p:spPr>
          <a:xfrm>
            <a:off x="7595475" y="3135600"/>
            <a:ext cx="906000" cy="3693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06"/>
          <p:cNvSpPr txBox="1"/>
          <p:nvPr>
            <p:ph idx="1" type="body"/>
          </p:nvPr>
        </p:nvSpPr>
        <p:spPr>
          <a:xfrm>
            <a:off x="324000" y="775200"/>
            <a:ext cx="8113800" cy="157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Proportion is a part to whole (sometimes part to part) comparison. If two things are proportional then the ratio of part to whole is maintained and the multiplicative relationship between parts is also maintained.</a:t>
            </a:r>
            <a:endParaRPr/>
          </a:p>
          <a:p>
            <a:pPr indent="0" lvl="0" marL="0" rtl="0" algn="l">
              <a:spcBef>
                <a:spcPts val="1000"/>
              </a:spcBef>
              <a:spcAft>
                <a:spcPts val="1000"/>
              </a:spcAft>
              <a:buNone/>
            </a:pPr>
            <a:r>
              <a:t/>
            </a:r>
            <a:endParaRPr/>
          </a:p>
        </p:txBody>
      </p:sp>
      <p:sp>
        <p:nvSpPr>
          <p:cNvPr id="1310" name="Google Shape;1310;p106"/>
          <p:cNvSpPr txBox="1"/>
          <p:nvPr>
            <p:ph type="title"/>
          </p:nvPr>
        </p:nvSpPr>
        <p:spPr>
          <a:xfrm>
            <a:off x="1684800" y="157525"/>
            <a:ext cx="7253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understanding of multiplicative relationships</a:t>
            </a:r>
            <a:endParaRPr/>
          </a:p>
        </p:txBody>
      </p:sp>
      <p:sp>
        <p:nvSpPr>
          <p:cNvPr id="1311" name="Google Shape;1311;p106"/>
          <p:cNvSpPr txBox="1"/>
          <p:nvPr>
            <p:ph idx="4294967295" type="subTitle"/>
          </p:nvPr>
        </p:nvSpPr>
        <p:spPr>
          <a:xfrm>
            <a:off x="306950" y="2589000"/>
            <a:ext cx="7767300" cy="48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a:t>Proportionality</a:t>
            </a:r>
            <a:r>
              <a:rPr b="0" lang="en-GB"/>
              <a:t> means when variables are in proportion if they have a constant multiplicative relationship.</a:t>
            </a:r>
            <a:endParaRPr b="0"/>
          </a:p>
        </p:txBody>
      </p:sp>
      <p:sp>
        <p:nvSpPr>
          <p:cNvPr id="1312" name="Google Shape;1312;p106"/>
          <p:cNvSpPr txBox="1"/>
          <p:nvPr>
            <p:ph idx="1" type="body"/>
          </p:nvPr>
        </p:nvSpPr>
        <p:spPr>
          <a:xfrm>
            <a:off x="324000" y="3619650"/>
            <a:ext cx="8237700" cy="140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When using proportionality as a comparison, attention must be paid to the whole rather than assuming the measure of proportion is the absolute value.</a:t>
            </a:r>
            <a:endParaRPr/>
          </a:p>
          <a:p>
            <a:pPr indent="0" lvl="0" marL="0" rtl="0" algn="l">
              <a:spcBef>
                <a:spcPts val="1000"/>
              </a:spcBef>
              <a:spcAft>
                <a:spcPts val="10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107"/>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a:t>
            </a: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318" name="Google Shape;1318;p107"/>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