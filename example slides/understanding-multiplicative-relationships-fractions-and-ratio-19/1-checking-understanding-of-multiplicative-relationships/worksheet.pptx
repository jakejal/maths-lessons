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D17B88-AF3E-48A7-B5FE-79FFF4648215}">
  <a:tblStyle styleId="{61D17B88-AF3E-48A7-B5FE-79FFF46482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a862f79c00_0_4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a862f79c0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a862f79c00_0_5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a862f79c0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70550" y="9972000"/>
            <a:ext cx="5806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 Mathematics in Education and Industry. 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" name="Google Shape;102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3" name="Google Shape;10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6" name="Google Shape;106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1" name="Google Shape;111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2" name="Google Shape;11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" name="Google Shape;114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5" name="Google Shape;11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8" name="Google Shape;118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" name="Google Shape;126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" name="Google Shape;132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" name="Google Shape;137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multiplicative relationships</a:t>
            </a:r>
            <a:endParaRPr/>
          </a:p>
        </p:txBody>
      </p:sp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61450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Comparing using proportion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begin{array}{l}\frac{12}{20}\ =\ \frac{3\times4}{5\times4}=\frac{3}{5}\\&amp;#13;&amp;#10;\frac{40}{50}=\frac{4\times10}{5\times10}=\frac{4}{5}\end{array}&quot;&gt;&lt;mtable columnalign=&quot;left&quot; columnspacing=&quot;1em&quot; rowspacing=&quot;4pt&quot;&gt;&lt;mtr&gt;&lt;mtd&gt;&lt;mfrac&gt;&lt;mn&gt;12&lt;/mn&gt;&lt;mn&gt;20&lt;/mn&gt;&lt;/mfrac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=&lt;/mo&gt;&lt;mfrac&gt;&lt;mn&gt;3&lt;/mn&gt;&lt;mn&gt;5&lt;/mn&gt;&lt;/mfrac&gt;&lt;/mtd&gt;&lt;/mtr&gt;&lt;mtr&gt;&lt;mtd&gt;&lt;mfrac&gt;&lt;mn&gt;40&lt;/mn&gt;&lt;mn&gt;50&lt;/mn&gt;&lt;/mfrac&gt;&lt;mo&gt;=&lt;/mo&gt;&lt;mfrac&gt;&lt;mrow&gt;&lt;mn&gt;4&lt;/mn&gt;&lt;mo&gt;×&lt;/mo&gt;&lt;mn&gt;10&lt;/mn&gt;&lt;/mrow&gt;&lt;mrow&gt;&lt;mn&gt;5&lt;/mn&gt;&lt;mo&gt;×&lt;/mo&gt;&lt;mn&gt;10&lt;/mn&gt;&lt;/mrow&gt;&lt;/mfrac&gt;&lt;mo&gt;=&lt;/mo&gt;&lt;mfrac&gt;&lt;mn&gt;4&lt;/mn&gt;&lt;mn&gt;5&lt;/mn&gt;&lt;/mfrac&gt;&lt;/mtd&gt;&lt;/mtr&gt;&lt;/mtable&gt;&lt;/math&gt;" id="164" name="Google Shape;164;p20" title="2 lines Line 1: 12 over 20 equals the fraction with numerator 3 times 4 and denominator 5 times 4 equals three fifths Line 2: 40 over 50 equals the fraction with numerator 4 times 10 and denominator 5 times 10 equals four fifths"/>
          <p:cNvSpPr txBox="1"/>
          <p:nvPr/>
        </p:nvSpPr>
        <p:spPr>
          <a:xfrm>
            <a:off x="466875" y="1819725"/>
            <a:ext cx="64884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subdividing the bar models, work out what £3 is as a proportion of the whole amount.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796700" y="28879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{61D17B88-AF3E-48A7-B5FE-79FFF4648215}</a:tableStyleId>
              </a:tblPr>
              <a:tblGrid>
                <a:gridCol w="448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/>
          <p:nvPr/>
        </p:nvSpPr>
        <p:spPr>
          <a:xfrm rot="-5400000">
            <a:off x="2906300" y="488275"/>
            <a:ext cx="254400" cy="4511400"/>
          </a:xfrm>
          <a:prstGeom prst="righ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781949" y="2340738"/>
            <a:ext cx="10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£30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8" name="Google Shape;168;p20"/>
          <p:cNvGraphicFramePr/>
          <p:nvPr/>
        </p:nvGraphicFramePr>
        <p:xfrm>
          <a:off x="796700" y="390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{61D17B88-AF3E-48A7-B5FE-79FFF4648215}</a:tableStyleId>
              </a:tblPr>
              <a:tblGrid>
                <a:gridCol w="4511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20"/>
          <p:cNvSpPr/>
          <p:nvPr/>
        </p:nvSpPr>
        <p:spPr>
          <a:xfrm rot="-5400000">
            <a:off x="2906300" y="1525075"/>
            <a:ext cx="254400" cy="4511400"/>
          </a:xfrm>
          <a:prstGeom prst="righ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2781949" y="3373925"/>
            <a:ext cx="10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1" name="Google Shape;171;p20"/>
          <p:cNvGraphicFramePr/>
          <p:nvPr/>
        </p:nvGraphicFramePr>
        <p:xfrm>
          <a:off x="796700" y="497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{61D17B88-AF3E-48A7-B5FE-79FFF4648215}</a:tableStyleId>
              </a:tblPr>
              <a:tblGrid>
                <a:gridCol w="4511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/>
          <p:nvPr/>
        </p:nvSpPr>
        <p:spPr>
          <a:xfrm rot="-5400000">
            <a:off x="2934592" y="2573967"/>
            <a:ext cx="254400" cy="4511400"/>
          </a:xfrm>
          <a:prstGeom prst="righ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800797" y="4407100"/>
            <a:ext cx="10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begin{array}{l}\frac{12}{20}\ =\ \frac{3\times4}{5\times4}=\frac{3}{5}\\&amp;#13;&amp;#10;\frac{40}{50}=\frac{4\times10}{5\times10}=\frac{4}{5}\end{array}&quot;&gt;&lt;mtable columnalign=&quot;left&quot; columnspacing=&quot;1em&quot; rowspacing=&quot;4pt&quot;&gt;&lt;mtr&gt;&lt;mtd&gt;&lt;mfrac&gt;&lt;mn&gt;12&lt;/mn&gt;&lt;mn&gt;20&lt;/mn&gt;&lt;/mfrac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=&lt;/mo&gt;&lt;mfrac&gt;&lt;mn&gt;3&lt;/mn&gt;&lt;mn&gt;5&lt;/mn&gt;&lt;/mfrac&gt;&lt;/mtd&gt;&lt;/mtr&gt;&lt;mtr&gt;&lt;mtd&gt;&lt;mfrac&gt;&lt;mn&gt;40&lt;/mn&gt;&lt;mn&gt;50&lt;/mn&gt;&lt;/mfrac&gt;&lt;mo&gt;=&lt;/mo&gt;&lt;mfrac&gt;&lt;mrow&gt;&lt;mn&gt;4&lt;/mn&gt;&lt;mo&gt;×&lt;/mo&gt;&lt;mn&gt;10&lt;/mn&gt;&lt;/mrow&gt;&lt;mrow&gt;&lt;mn&gt;5&lt;/mn&gt;&lt;mo&gt;×&lt;/mo&gt;&lt;mn&gt;10&lt;/mn&gt;&lt;/mrow&gt;&lt;/mfrac&gt;&lt;mo&gt;=&lt;/mo&gt;&lt;mfrac&gt;&lt;mn&gt;4&lt;/mn&gt;&lt;mn&gt;5&lt;/mn&gt;&lt;/mfrac&gt;&lt;/mtd&gt;&lt;/mtr&gt;&lt;/mtable&gt;&lt;/math&gt;" id="174" name="Google Shape;174;p20" title="2 lines Line 1: 12 over 20 equals the fraction with numerator 3 times 4 and denominator 5 times 4 equals three fifths Line 2: 40 over 50 equals the fraction with numerator 4 times 10 and denominator 5 times 10 equals four fifths"/>
          <p:cNvSpPr txBox="1"/>
          <p:nvPr/>
        </p:nvSpPr>
        <p:spPr>
          <a:xfrm>
            <a:off x="466875" y="6048675"/>
            <a:ext cx="82377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simplifying fractions, 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proportion £12 is out of £40?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proportion £12 is out of £15?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proportion £12 is out of £12?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multiplicative relationships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begin{array}{l}\frac{12}{20}\ =\ \frac{3\times4}{5\times4}=\frac{3}{5}\\&amp;#13;&amp;#10;\frac{40}{50}=\frac{4\times10}{5\times10}=\frac{4}{5}\end{array}&quot;&gt;&lt;mtable columnalign=&quot;left&quot; columnspacing=&quot;1em&quot; rowspacing=&quot;4pt&quot;&gt;&lt;mtr&gt;&lt;mtd&gt;&lt;mfrac&gt;&lt;mn&gt;12&lt;/mn&gt;&lt;mn&gt;20&lt;/mn&gt;&lt;/mfrac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=&lt;/mo&gt;&lt;mfrac&gt;&lt;mn&gt;3&lt;/mn&gt;&lt;mn&gt;5&lt;/mn&gt;&lt;/mfrac&gt;&lt;/mtd&gt;&lt;/mtr&gt;&lt;mtr&gt;&lt;mtd&gt;&lt;mfrac&gt;&lt;mn&gt;40&lt;/mn&gt;&lt;mn&gt;50&lt;/mn&gt;&lt;/mfrac&gt;&lt;mo&gt;=&lt;/mo&gt;&lt;mfrac&gt;&lt;mrow&gt;&lt;mn&gt;4&lt;/mn&gt;&lt;mo&gt;×&lt;/mo&gt;&lt;mn&gt;10&lt;/mn&gt;&lt;/mrow&gt;&lt;mrow&gt;&lt;mn&gt;5&lt;/mn&gt;&lt;mo&gt;×&lt;/mo&gt;&lt;mn&gt;10&lt;/mn&gt;&lt;/mrow&gt;&lt;/mfrac&gt;&lt;mo&gt;=&lt;/mo&gt;&lt;mfrac&gt;&lt;mn&gt;4&lt;/mn&gt;&lt;mn&gt;5&lt;/mn&gt;&lt;/mfrac&gt;&lt;/mtd&gt;&lt;/mtr&gt;&lt;/mtable&gt;&lt;/math&gt;" id="180" name="Google Shape;180;p21" title="2 lines Line 1: 12 over 20 equals the fraction with numerator 3 times 4 and denominator 5 times 4 equals three fifths Line 2: 40 over 50 equals the fraction with numerator 4 times 10 and denominator 5 times 10 equals four fifths"/>
          <p:cNvSpPr txBox="1"/>
          <p:nvPr/>
        </p:nvSpPr>
        <p:spPr>
          <a:xfrm>
            <a:off x="476400" y="1256625"/>
            <a:ext cx="65706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Test A is out of 20. Laura gets 12 out of 20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Test B is out of 50. Sofia gets 40 out of 50.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got a higher proportion of answers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begin{array}{l}\frac{12}{20}\ =\ \frac{3\times4}{5\times4}=\frac{3}{5}\\&amp;#13;&amp;#10;\frac{40}{50}=\frac{4\times10}{5\times10}=\frac{4}{5}\end{array}&quot;&gt;&lt;mtable columnalign=&quot;left&quot; columnspacing=&quot;1em&quot; rowspacing=&quot;4pt&quot;&gt;&lt;mtr&gt;&lt;mtd&gt;&lt;mfrac&gt;&lt;mn&gt;12&lt;/mn&gt;&lt;mn&gt;20&lt;/mn&gt;&lt;/mfrac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=&lt;/mo&gt;&lt;mfrac&gt;&lt;mn&gt;3&lt;/mn&gt;&lt;mn&gt;5&lt;/mn&gt;&lt;/mfrac&gt;&lt;/mtd&gt;&lt;/mtr&gt;&lt;mtr&gt;&lt;mtd&gt;&lt;mfrac&gt;&lt;mn&gt;40&lt;/mn&gt;&lt;mn&gt;50&lt;/mn&gt;&lt;/mfrac&gt;&lt;mo&gt;=&lt;/mo&gt;&lt;mfrac&gt;&lt;mrow&gt;&lt;mn&gt;4&lt;/mn&gt;&lt;mo&gt;×&lt;/mo&gt;&lt;mn&gt;10&lt;/mn&gt;&lt;/mrow&gt;&lt;mrow&gt;&lt;mn&gt;5&lt;/mn&gt;&lt;mo&gt;×&lt;/mo&gt;&lt;mn&gt;10&lt;/mn&gt;&lt;/mrow&gt;&lt;/mfrac&gt;&lt;mo&gt;=&lt;/mo&gt;&lt;mfrac&gt;&lt;mn&gt;4&lt;/mn&gt;&lt;mn&gt;5&lt;/mn&gt;&lt;/mfrac&gt;&lt;/mtd&gt;&lt;/mtr&gt;&lt;/mtable&gt;&lt;/math&gt;" id="181" name="Google Shape;181;p21" title="2 lines Line 1: 12 over 20 equals the fraction with numerator 3 times 4 and denominator 5 times 4 equals three fifths Line 2: 40 over 50 equals the fraction with numerator 4 times 10 and denominator 5 times 10 equals four fifths"/>
          <p:cNvSpPr txBox="1"/>
          <p:nvPr/>
        </p:nvSpPr>
        <p:spPr>
          <a:xfrm>
            <a:off x="468132" y="4557663"/>
            <a:ext cx="82377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Here is a table showing pay increases in allowances.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pupil got the best allowance increase and why?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" name="Google Shape;182;p21"/>
          <p:cNvGraphicFramePr/>
          <p:nvPr/>
        </p:nvGraphicFramePr>
        <p:xfrm>
          <a:off x="585588" y="5228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{61D17B88-AF3E-48A7-B5FE-79FFF4648215}</a:tableStyleId>
              </a:tblPr>
              <a:tblGrid>
                <a:gridCol w="1447375"/>
                <a:gridCol w="1987350"/>
                <a:gridCol w="1127675"/>
                <a:gridCol w="1898925"/>
              </a:tblGrid>
              <a:tr h="64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Pupil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Normal allowance per month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Increase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Proportion of normal allowance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Izzy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Jacob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1"/>
          <p:cNvSpPr txBox="1"/>
          <p:nvPr/>
        </p:nvSpPr>
        <p:spPr>
          <a:xfrm>
            <a:off x="476400" y="900550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Comparing using proportion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1"/>
          <p:cNvCxnSpPr/>
          <p:nvPr/>
        </p:nvCxnSpPr>
        <p:spPr>
          <a:xfrm>
            <a:off x="426857" y="99074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/>
        </p:nvSpPr>
        <p:spPr>
          <a:xfrm>
            <a:off x="502848" y="1309350"/>
            <a:ext cx="5778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14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Insert the correct inequality =, &lt; or &gt; for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of 900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10% of 4000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of 24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of 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3809100" y="1566450"/>
            <a:ext cx="36129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      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    of 30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of 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1% of 900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900% of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4}{5}&quot;&gt;&lt;mfrac&gt;&lt;mn&gt;2&lt;/mn&gt;&lt;mn&gt;3&lt;/mn&gt;&lt;/mfrac&gt;&lt;mtext&gt;&lt;/mtext&gt;&lt;mtext&gt;&lt;/mtext&gt;&lt;mtext&gt;&lt;/mtext&gt;&lt;mfrac&gt;&lt;mn&gt;4&lt;/mn&gt;&lt;mn&gt;5&lt;/mn&gt;&lt;/mfrac&gt;&lt;/math&gt;" id="192" name="Google Shape;192;p22" title="two thirds 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1955" y="1900596"/>
            <a:ext cx="543563" cy="50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 \frac{1}{3}&quot;&gt;&lt;mfrac&gt;&lt;mn&gt;1&lt;/mn&gt;&lt;mn&gt;2&lt;/mn&gt;&lt;/mfrac&gt;&lt;mtext&gt;&lt;/mtext&gt;&lt;mtext&gt;&lt;/mtext&gt;&lt;mtext&gt;&lt;/mtext&gt;&lt;mtext&gt;&lt;/mtext&gt;&lt;mfrac&gt;&lt;mn&gt;1&lt;/mn&gt;&lt;mn&gt;3&lt;/mn&gt;&lt;/mfrac&gt;&lt;/math&gt;" id="193" name="Google Shape;193;p22" title="one half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513" y="2645599"/>
            <a:ext cx="600575" cy="50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multiplicative relationships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468000" y="924825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Paying attention to the whole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frac{1}{3}&quot;&gt;&lt;mfrac&gt;&lt;mn&gt;1&lt;/mn&gt;&lt;mn&gt;2&lt;/mn&gt;&lt;/mfrac&gt;&lt;mtext&gt;&lt;/mtext&gt;&lt;mtext&gt;&lt;/mtext&gt;&lt;mtext&gt;&lt;/mtext&gt;&lt;mtext&gt;&lt;/mtext&gt;&lt;mfrac&gt;&lt;mn&gt;1&lt;/mn&gt;&lt;mn&gt;3&lt;/mn&gt;&lt;/mfrac&gt;&lt;/math&gt;" id="196" name="Google Shape;196;p22" title="one half one third"/>
          <p:cNvPicPr preferRelativeResize="0"/>
          <p:nvPr/>
        </p:nvPicPr>
        <p:blipFill rotWithShape="1">
          <a:blip r:embed="rId4">
            <a:alphaModFix/>
          </a:blip>
          <a:srcRect b="0" l="0" r="63386" t="0"/>
          <a:stretch/>
        </p:blipFill>
        <p:spPr>
          <a:xfrm>
            <a:off x="664975" y="3238748"/>
            <a:ext cx="219900" cy="502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 \frac{1}{3}&quot;&gt;&lt;mfrac&gt;&lt;mn&gt;1&lt;/mn&gt;&lt;mn&gt;2&lt;/mn&gt;&lt;/mfrac&gt;&lt;mtext&gt;&lt;/mtext&gt;&lt;mtext&gt;&lt;/mtext&gt;&lt;mtext&gt;&lt;/mtext&gt;&lt;mtext&gt;&lt;/mtext&gt;&lt;mfrac&gt;&lt;mn&gt;1&lt;/mn&gt;&lt;mn&gt;3&lt;/mn&gt;&lt;/mfrac&gt;&lt;/math&gt;" id="197" name="Google Shape;197;p22" title="one half one third"/>
          <p:cNvPicPr preferRelativeResize="0"/>
          <p:nvPr/>
        </p:nvPicPr>
        <p:blipFill rotWithShape="1">
          <a:blip r:embed="rId4">
            <a:alphaModFix/>
          </a:blip>
          <a:srcRect b="0" l="67976" r="-4591" t="0"/>
          <a:stretch/>
        </p:blipFill>
        <p:spPr>
          <a:xfrm>
            <a:off x="1431350" y="3174599"/>
            <a:ext cx="219900" cy="5028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22"/>
          <p:cNvCxnSpPr/>
          <p:nvPr/>
        </p:nvCxnSpPr>
        <p:spPr>
          <a:xfrm>
            <a:off x="3510525" y="1798000"/>
            <a:ext cx="0" cy="23328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2}{3}\ \ \ \frac{4}{5}&quot;&gt;&lt;mfrac&gt;&lt;mn&gt;2&lt;/mn&gt;&lt;mn&gt;3&lt;/mn&gt;&lt;/mfrac&gt;&lt;mtext&gt;&lt;/mtext&gt;&lt;mtext&gt;&lt;/mtext&gt;&lt;mtext&gt;&lt;/mtext&gt;&lt;mfrac&gt;&lt;mn&gt;4&lt;/mn&gt;&lt;mn&gt;5&lt;/mn&gt;&lt;/mfrac&gt;&lt;/math&gt;" id="199" name="Google Shape;199;p22" title="two thirds four fifths"/>
          <p:cNvPicPr preferRelativeResize="0"/>
          <p:nvPr/>
        </p:nvPicPr>
        <p:blipFill rotWithShape="1">
          <a:blip r:embed="rId3">
            <a:alphaModFix/>
          </a:blip>
          <a:srcRect b="0" l="0" r="59545" t="0"/>
          <a:stretch/>
        </p:blipFill>
        <p:spPr>
          <a:xfrm>
            <a:off x="4162861" y="2645600"/>
            <a:ext cx="219890" cy="50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4}{5}&quot;&gt;&lt;mfrac&gt;&lt;mn&gt;2&lt;/mn&gt;&lt;mn&gt;3&lt;/mn&gt;&lt;/mfrac&gt;&lt;mtext&gt;&lt;/mtext&gt;&lt;mtext&gt;&lt;/mtext&gt;&lt;mtext&gt;&lt;/mtext&gt;&lt;mfrac&gt;&lt;mn&gt;4&lt;/mn&gt;&lt;mn&gt;5&lt;/mn&gt;&lt;/mfrac&gt;&lt;/math&gt;" id="200" name="Google Shape;200;p22" title="two thirds four fifths"/>
          <p:cNvPicPr preferRelativeResize="0"/>
          <p:nvPr/>
        </p:nvPicPr>
        <p:blipFill rotWithShape="1">
          <a:blip r:embed="rId3">
            <a:alphaModFix/>
          </a:blip>
          <a:srcRect b="0" l="59545" r="0" t="0"/>
          <a:stretch/>
        </p:blipFill>
        <p:spPr>
          <a:xfrm>
            <a:off x="5021398" y="2645588"/>
            <a:ext cx="219900" cy="50289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514463" y="5021400"/>
            <a:ext cx="2317500" cy="3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Each pupil in Oak academy has a cashless account.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Oak pupils have been excellent and the Oak teacher can award them with either 20% more of what is in their account or £2 more what is in their account.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offer should each pupil receive to get the best deal?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" name="Google Shape;202;p22"/>
          <p:cNvGraphicFramePr/>
          <p:nvPr/>
        </p:nvGraphicFramePr>
        <p:xfrm>
          <a:off x="3054338" y="502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{61D17B88-AF3E-48A7-B5FE-79FFF4648215}</a:tableStyleId>
              </a:tblPr>
              <a:tblGrid>
                <a:gridCol w="945525"/>
                <a:gridCol w="953725"/>
              </a:tblGrid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Pupil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Account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£11.29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Izzy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£9.96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Jacob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22"/>
          <p:cNvGraphicFramePr/>
          <p:nvPr/>
        </p:nvGraphicFramePr>
        <p:xfrm>
          <a:off x="5047513" y="502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{61D17B88-AF3E-48A7-B5FE-79FFF4648215}</a:tableStyleId>
              </a:tblPr>
              <a:tblGrid>
                <a:gridCol w="945525"/>
                <a:gridCol w="953725"/>
              </a:tblGrid>
              <a:tr h="57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Pupil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Account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Lucas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Alex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Sofia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£20.12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£9.99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2"/>
          <p:cNvSpPr/>
          <p:nvPr/>
        </p:nvSpPr>
        <p:spPr>
          <a:xfrm>
            <a:off x="1571073" y="1961500"/>
            <a:ext cx="204300" cy="250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884875" y="2790114"/>
            <a:ext cx="204300" cy="250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1227055" y="3300951"/>
            <a:ext cx="204300" cy="250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4471986" y="2034522"/>
            <a:ext cx="186600" cy="21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4843650" y="2763075"/>
            <a:ext cx="186600" cy="227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038050" y="3498450"/>
            <a:ext cx="186600" cy="227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" name="Google Shape;216;p2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multiplicative relationships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8" name="Google Shape;218;p23"/>
          <p:cNvGraphicFramePr/>
          <p:nvPr/>
        </p:nvGraphicFramePr>
        <p:xfrm>
          <a:off x="491232" y="1659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{61D17B88-AF3E-48A7-B5FE-79FFF4648215}</a:tableStyleId>
              </a:tblPr>
              <a:tblGrid>
                <a:gridCol w="2436450"/>
                <a:gridCol w="1030925"/>
                <a:gridCol w="1030925"/>
                <a:gridCol w="833475"/>
                <a:gridCol w="1228375"/>
              </a:tblGrid>
              <a:tr h="10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is better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 is better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Both the same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enough information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is offered 10% of £100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is offered 5% of £200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is offered 79%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is offered 100%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is offered    of £24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is offered    of £19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is offered 20% more money than 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23"/>
          <p:cNvSpPr txBox="1"/>
          <p:nvPr/>
        </p:nvSpPr>
        <p:spPr>
          <a:xfrm>
            <a:off x="468000" y="1199550"/>
            <a:ext cx="62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Tick which is the best offer or if there is not enough information.</a:t>
            </a:r>
            <a:endParaRPr sz="1200"/>
          </a:p>
        </p:txBody>
      </p:sp>
      <p:sp>
        <p:nvSpPr>
          <p:cNvPr id="220" name="Google Shape;220;p23"/>
          <p:cNvSpPr txBox="1"/>
          <p:nvPr/>
        </p:nvSpPr>
        <p:spPr>
          <a:xfrm>
            <a:off x="468000" y="924825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Paying attention to the whole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483100" y="5445300"/>
            <a:ext cx="843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Jacob is looking for a new bike. Two shops sell the same bike.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" name="Google Shape;2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25" y="6019803"/>
            <a:ext cx="525075" cy="646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23"/>
          <p:cNvGrpSpPr/>
          <p:nvPr/>
        </p:nvGrpSpPr>
        <p:grpSpPr>
          <a:xfrm>
            <a:off x="2967930" y="6365982"/>
            <a:ext cx="935671" cy="712482"/>
            <a:chOff x="4823995" y="2571741"/>
            <a:chExt cx="1198810" cy="893619"/>
          </a:xfrm>
        </p:grpSpPr>
        <p:sp>
          <p:nvSpPr>
            <p:cNvPr id="224" name="Google Shape;224;p23"/>
            <p:cNvSpPr/>
            <p:nvPr/>
          </p:nvSpPr>
          <p:spPr>
            <a:xfrm rot="4071544">
              <a:off x="5160862" y="2478250"/>
              <a:ext cx="525075" cy="1080600"/>
            </a:xfrm>
            <a:prstGeom prst="flowChartOffpageConnector">
              <a:avLst/>
            </a:prstGeom>
            <a:solidFill>
              <a:schemeClr val="lt2"/>
            </a:solidFill>
            <a:ln cap="flat" cmpd="sng" w="9525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3"/>
            <p:cNvSpPr txBox="1"/>
            <p:nvPr/>
          </p:nvSpPr>
          <p:spPr>
            <a:xfrm rot="-1316621">
              <a:off x="5082051" y="2737046"/>
              <a:ext cx="852567" cy="43826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£120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26" name="Google Shape;226;p23"/>
          <p:cNvCxnSpPr>
            <a:endCxn id="224" idx="2"/>
          </p:cNvCxnSpPr>
          <p:nvPr/>
        </p:nvCxnSpPr>
        <p:spPr>
          <a:xfrm>
            <a:off x="2390258" y="6547379"/>
            <a:ext cx="654900" cy="337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57575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3"/>
          <p:cNvSpPr txBox="1"/>
          <p:nvPr/>
        </p:nvSpPr>
        <p:spPr>
          <a:xfrm>
            <a:off x="1465644" y="7311747"/>
            <a:ext cx="12249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SALE 30% off</a:t>
            </a:r>
            <a:endParaRPr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1265375" y="5981700"/>
            <a:ext cx="2153700" cy="268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Shop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483100" y="8259300"/>
            <a:ext cx="6498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says, “Both have 30% off in total so the bike costs the same in both shops.”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if Jacob is correct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8109" y="6184262"/>
            <a:ext cx="1467915" cy="10758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3"/>
          <p:cNvGrpSpPr/>
          <p:nvPr/>
        </p:nvGrpSpPr>
        <p:grpSpPr>
          <a:xfrm>
            <a:off x="6176590" y="6310852"/>
            <a:ext cx="891435" cy="785223"/>
            <a:chOff x="4823995" y="2571741"/>
            <a:chExt cx="1198810" cy="893619"/>
          </a:xfrm>
        </p:grpSpPr>
        <p:sp>
          <p:nvSpPr>
            <p:cNvPr id="232" name="Google Shape;232;p23"/>
            <p:cNvSpPr/>
            <p:nvPr/>
          </p:nvSpPr>
          <p:spPr>
            <a:xfrm rot="4071544">
              <a:off x="5160862" y="2478250"/>
              <a:ext cx="525075" cy="1080600"/>
            </a:xfrm>
            <a:prstGeom prst="flowChartOffpageConnector">
              <a:avLst/>
            </a:prstGeom>
            <a:solidFill>
              <a:schemeClr val="lt2"/>
            </a:solidFill>
            <a:ln cap="flat" cmpd="sng" w="9525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3"/>
            <p:cNvSpPr txBox="1"/>
            <p:nvPr/>
          </p:nvSpPr>
          <p:spPr>
            <a:xfrm rot="-1316906">
              <a:off x="5041627" y="2721384"/>
              <a:ext cx="890115" cy="461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£120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4" name="Google Shape;234;p23"/>
          <p:cNvCxnSpPr>
            <a:endCxn id="232" idx="2"/>
          </p:cNvCxnSpPr>
          <p:nvPr/>
        </p:nvCxnSpPr>
        <p:spPr>
          <a:xfrm>
            <a:off x="5461167" y="6467194"/>
            <a:ext cx="789000" cy="415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57575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3"/>
          <p:cNvSpPr txBox="1"/>
          <p:nvPr/>
        </p:nvSpPr>
        <p:spPr>
          <a:xfrm>
            <a:off x="4703518" y="7336354"/>
            <a:ext cx="18711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SALE 20% off</a:t>
            </a:r>
            <a:endParaRPr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Plus an extra 10% off the sale price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4140000" y="5902475"/>
            <a:ext cx="2052000" cy="296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Shop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7" name="Google Shape;2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6109" y="6154662"/>
            <a:ext cx="1467915" cy="1075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/>
          <p:cNvPicPr preferRelativeResize="0"/>
          <p:nvPr/>
        </p:nvPicPr>
        <p:blipFill rotWithShape="1">
          <a:blip r:embed="rId5">
            <a:alphaModFix/>
          </a:blip>
          <a:srcRect b="5831" l="0" r="-10" t="5680"/>
          <a:stretch/>
        </p:blipFill>
        <p:spPr>
          <a:xfrm>
            <a:off x="1465650" y="4058990"/>
            <a:ext cx="111066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5650" y="4314725"/>
            <a:ext cx="111075" cy="251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