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C57A6B-82E1-4E96-A52F-01F517974E28}">
  <a:tblStyle styleId="{B2C57A6B-82E1-4E96-A52F-01F517974E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a861c744b5_0_2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a861c744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861c744b5_0_4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a861c744b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1450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using proportion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174" name="Google Shape;174;p20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66875" y="1819725"/>
            <a:ext cx="6488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subdividing the bar models, work out what £3 is as a proportion of the whole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796700" y="2887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{B2C57A6B-82E1-4E96-A52F-01F517974E28}</a:tableStyleId>
              </a:tblPr>
              <a:tblGrid>
                <a:gridCol w="448650"/>
                <a:gridCol w="448650"/>
                <a:gridCol w="448650"/>
                <a:gridCol w="448650"/>
                <a:gridCol w="448650"/>
                <a:gridCol w="448650"/>
                <a:gridCol w="448650"/>
                <a:gridCol w="448650"/>
                <a:gridCol w="448650"/>
                <a:gridCol w="448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/>
          <p:nvPr/>
        </p:nvSpPr>
        <p:spPr>
          <a:xfrm rot="-5400000">
            <a:off x="2906300" y="488275"/>
            <a:ext cx="254400" cy="4511400"/>
          </a:xfrm>
          <a:prstGeom prst="righ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730274" y="2311525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£30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0"/>
          <p:cNvGraphicFramePr/>
          <p:nvPr/>
        </p:nvGraphicFramePr>
        <p:xfrm>
          <a:off x="796700" y="390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{B2C57A6B-82E1-4E96-A52F-01F517974E28}</a:tableStyleId>
              </a:tblPr>
              <a:tblGrid>
                <a:gridCol w="1121625"/>
                <a:gridCol w="1121625"/>
                <a:gridCol w="1121625"/>
                <a:gridCol w="1121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 rot="-5400000">
            <a:off x="2906300" y="1525075"/>
            <a:ext cx="254400" cy="4511400"/>
          </a:xfrm>
          <a:prstGeom prst="righ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781949" y="3373925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/>
          <p:nvPr/>
        </p:nvGraphicFramePr>
        <p:xfrm>
          <a:off x="796700" y="497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{B2C57A6B-82E1-4E96-A52F-01F517974E28}</a:tableStyleId>
              </a:tblPr>
              <a:tblGrid>
                <a:gridCol w="897300"/>
                <a:gridCol w="897300"/>
                <a:gridCol w="897300"/>
                <a:gridCol w="897300"/>
                <a:gridCol w="897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/>
          <p:nvPr/>
        </p:nvSpPr>
        <p:spPr>
          <a:xfrm rot="-5400000">
            <a:off x="2934592" y="2573967"/>
            <a:ext cx="254400" cy="4511400"/>
          </a:xfrm>
          <a:prstGeom prst="righ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767997" y="4426825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471400" y="2766675"/>
            <a:ext cx="227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£3 is      of £30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547600" y="4976475"/>
            <a:ext cx="227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£3 is      of £15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471400" y="3909675"/>
            <a:ext cx="227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£3 is      of £12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}\ \ \ \frac{1}{4}\ \ \ \ \ \frac{1}{5}&quot;&gt;&lt;mfrac&gt;&lt;mn&gt;1&lt;/mn&gt;&lt;mn&gt;10&lt;/mn&gt;&lt;/mfrac&gt;&lt;mtext&gt;&lt;/mtext&gt;&lt;mtext&gt;&lt;/mtext&gt;&lt;mtext&gt;&lt;/mtext&gt;&lt;mfrac&gt;&lt;mn&gt;1&lt;/mn&gt;&lt;mn&gt;4&lt;/mn&gt;&lt;/mfrac&gt;&lt;mtext&gt;&lt;/mtext&gt;&lt;mtext&gt;&lt;/mtext&gt;&lt;mtext&gt;&lt;/mtext&gt;&lt;mtext&gt;&lt;/mtext&gt;&lt;mtext&gt;&lt;/mtext&gt;&lt;mfrac&gt;&lt;mn&gt;1&lt;/mn&gt;&lt;mn&gt;5&lt;/mn&gt;&lt;/mfrac&gt;&lt;/math&gt;" id="187" name="Google Shape;187;p20" title="one tenth one fourth one fifth"/>
          <p:cNvPicPr preferRelativeResize="0"/>
          <p:nvPr/>
        </p:nvPicPr>
        <p:blipFill rotWithShape="1">
          <a:blip r:embed="rId3">
            <a:alphaModFix/>
          </a:blip>
          <a:srcRect b="0" l="0" r="68533" t="0"/>
          <a:stretch/>
        </p:blipFill>
        <p:spPr>
          <a:xfrm>
            <a:off x="5965712" y="2801525"/>
            <a:ext cx="292900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frac{1}{4}\ \ \ \ \ \frac{1}{5}&quot;&gt;&lt;mfrac&gt;&lt;mn&gt;1&lt;/mn&gt;&lt;mn&gt;10&lt;/mn&gt;&lt;/mfrac&gt;&lt;mtext&gt;&lt;/mtext&gt;&lt;mtext&gt;&lt;/mtext&gt;&lt;mtext&gt;&lt;/mtext&gt;&lt;mfrac&gt;&lt;mn&gt;1&lt;/mn&gt;&lt;mn&gt;4&lt;/mn&gt;&lt;/mfrac&gt;&lt;mtext&gt;&lt;/mtext&gt;&lt;mtext&gt;&lt;/mtext&gt;&lt;mtext&gt;&lt;/mtext&gt;&lt;mtext&gt;&lt;/mtext&gt;&lt;mtext&gt;&lt;/mtext&gt;&lt;mfrac&gt;&lt;mn&gt;1&lt;/mn&gt;&lt;mn&gt;5&lt;/mn&gt;&lt;/mfrac&gt;&lt;/math&gt;" id="188" name="Google Shape;188;p20" title="one tenth one fourth one fifth"/>
          <p:cNvPicPr preferRelativeResize="0"/>
          <p:nvPr/>
        </p:nvPicPr>
        <p:blipFill rotWithShape="1">
          <a:blip r:embed="rId3">
            <a:alphaModFix/>
          </a:blip>
          <a:srcRect b="0" l="31309" r="37224" t="0"/>
          <a:stretch/>
        </p:blipFill>
        <p:spPr>
          <a:xfrm>
            <a:off x="5965698" y="3889000"/>
            <a:ext cx="292900" cy="400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frac{1}{4}\ \ \ \ \ \frac{1}{5}&quot;&gt;&lt;mfrac&gt;&lt;mn&gt;1&lt;/mn&gt;&lt;mn&gt;10&lt;/mn&gt;&lt;/mfrac&gt;&lt;mtext&gt;&lt;/mtext&gt;&lt;mtext&gt;&lt;/mtext&gt;&lt;mtext&gt;&lt;/mtext&gt;&lt;mfrac&gt;&lt;mn&gt;1&lt;/mn&gt;&lt;mn&gt;4&lt;/mn&gt;&lt;/mfrac&gt;&lt;mtext&gt;&lt;/mtext&gt;&lt;mtext&gt;&lt;/mtext&gt;&lt;mtext&gt;&lt;/mtext&gt;&lt;mtext&gt;&lt;/mtext&gt;&lt;mtext&gt;&lt;/mtext&gt;&lt;mfrac&gt;&lt;mn&gt;1&lt;/mn&gt;&lt;mn&gt;5&lt;/mn&gt;&lt;/mfrac&gt;&lt;/math&gt;" id="189" name="Google Shape;189;p20" title="one tenth one fourth one fifth"/>
          <p:cNvPicPr preferRelativeResize="0"/>
          <p:nvPr/>
        </p:nvPicPr>
        <p:blipFill rotWithShape="1">
          <a:blip r:embed="rId3">
            <a:alphaModFix/>
          </a:blip>
          <a:srcRect b="0" l="77173" r="-5976" t="0"/>
          <a:stretch/>
        </p:blipFill>
        <p:spPr>
          <a:xfrm>
            <a:off x="6013262" y="4950338"/>
            <a:ext cx="292900" cy="43721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190" name="Google Shape;190;p20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66875" y="6048675"/>
            <a:ext cx="8237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simplifying fractions,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proportion £12 is out of £40?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proportion £12 is out of £15?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proportion £12 is out of £12?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40}=\frac{3\times4}{10\times4}=\frac{3}{10}\ \ \ \ \ \ \ \ \frac{12}{15}=\frac{4\times3}{5\times3}=\frac{4}{5}&quot;&gt;&lt;mfrac&gt;&lt;mn&gt;12&lt;/mn&gt;&lt;mn&gt;40&lt;/mn&gt;&lt;/mfrac&gt;&lt;mo&gt;=&lt;/mo&gt;&lt;mfrac&gt;&lt;mrow&gt;&lt;mn&gt;3&lt;/mn&gt;&lt;mo&gt;×&lt;/mo&gt;&lt;mn&gt;4&lt;/mn&gt;&lt;/mrow&gt;&lt;mrow&gt;&lt;mn&gt;10&lt;/mn&gt;&lt;mo&gt;×&lt;/mo&gt;&lt;mn&gt;4&lt;/mn&gt;&lt;/mrow&gt;&lt;/mfrac&gt;&lt;mo&gt;=&lt;/mo&gt;&lt;mfrac&gt;&lt;mn&gt;3&lt;/mn&gt;&lt;mn&gt;10&lt;/mn&gt;&lt;/mfrac&gt;&lt;mtext&gt;&lt;/mtext&gt;&lt;mtext&gt;&lt;/mtext&gt;&lt;mtext&gt;&lt;/mtext&gt;&lt;mtext&gt;&lt;/mtext&gt;&lt;mtext&gt;&lt;/mtext&gt;&lt;mtext&gt;&lt;/mtext&gt;&lt;mtext&gt;&lt;/mtext&gt;&lt;mtext&gt;&lt;/mtext&gt;&lt;mfrac&gt;&lt;mn&gt;12&lt;/mn&gt;&lt;mn&gt;15&lt;/mn&gt;&lt;/mfrac&gt;&lt;mo&gt;=&lt;/mo&gt;&lt;mfrac&gt;&lt;mrow&gt;&lt;mn&gt;4&lt;/mn&gt;&lt;mo&gt;×&lt;/mo&gt;&lt;mn&gt;3&lt;/mn&gt;&lt;/mrow&gt;&lt;mrow&gt;&lt;mn&gt;5&lt;/mn&gt;&lt;mo&gt;×&lt;/mo&gt;&lt;mn&gt;3&lt;/mn&gt;&lt;/mrow&gt;&lt;/mfrac&gt;&lt;mo&gt;=&lt;/mo&gt;&lt;mfrac&gt;&lt;mn&gt;4&lt;/mn&gt;&lt;mn&gt;5&lt;/mn&gt;&lt;/mfrac&gt;&lt;/math&gt;" id="191" name="Google Shape;191;p20" title="12 over 40 equals the fraction with numerator 3 times 4 and denominator 10 times 4 equals three tenths 12 over 15 equals the fraction with numerator 4 times 3 and denominator 5 times 3 equals four fifths"/>
          <p:cNvPicPr preferRelativeResize="0"/>
          <p:nvPr/>
        </p:nvPicPr>
        <p:blipFill rotWithShape="1">
          <a:blip r:embed="rId4">
            <a:alphaModFix/>
          </a:blip>
          <a:srcRect b="0" l="0" r="49251" t="0"/>
          <a:stretch/>
        </p:blipFill>
        <p:spPr>
          <a:xfrm>
            <a:off x="3419997" y="6613988"/>
            <a:ext cx="2016063" cy="47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2}=1&quot;&gt;&lt;mfrac&gt;&lt;mn&gt;12&lt;/mn&gt;&lt;mn&gt;12&lt;/mn&gt;&lt;/mfrac&gt;&lt;mo&gt;=&lt;/mo&gt;&lt;mn&gt;1&lt;/mn&gt;&lt;/math&gt;" id="192" name="Google Shape;192;p20" title="12 over 12 equal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332" y="8131500"/>
            <a:ext cx="685328" cy="47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40}=\frac{3\times4}{10\times4}=\frac{3}{10}\ \ \ \ \ \ \ \ \frac{12}{15}=\frac{4\times3}{5\times3}=\frac{4}{5}&quot;&gt;&lt;mfrac&gt;&lt;mn&gt;12&lt;/mn&gt;&lt;mn&gt;40&lt;/mn&gt;&lt;/mfrac&gt;&lt;mo&gt;=&lt;/mo&gt;&lt;mfrac&gt;&lt;mrow&gt;&lt;mn&gt;3&lt;/mn&gt;&lt;mo&gt;×&lt;/mo&gt;&lt;mn&gt;4&lt;/mn&gt;&lt;/mrow&gt;&lt;mrow&gt;&lt;mn&gt;10&lt;/mn&gt;&lt;mo&gt;×&lt;/mo&gt;&lt;mn&gt;4&lt;/mn&gt;&lt;/mrow&gt;&lt;/mfrac&gt;&lt;mo&gt;=&lt;/mo&gt;&lt;mfrac&gt;&lt;mn&gt;3&lt;/mn&gt;&lt;mn&gt;10&lt;/mn&gt;&lt;/mfrac&gt;&lt;mtext&gt;&lt;/mtext&gt;&lt;mtext&gt;&lt;/mtext&gt;&lt;mtext&gt;&lt;/mtext&gt;&lt;mtext&gt;&lt;/mtext&gt;&lt;mtext&gt;&lt;/mtext&gt;&lt;mtext&gt;&lt;/mtext&gt;&lt;mtext&gt;&lt;/mtext&gt;&lt;mtext&gt;&lt;/mtext&gt;&lt;mfrac&gt;&lt;mn&gt;12&lt;/mn&gt;&lt;mn&gt;15&lt;/mn&gt;&lt;/mfrac&gt;&lt;mo&gt;=&lt;/mo&gt;&lt;mfrac&gt;&lt;mrow&gt;&lt;mn&gt;4&lt;/mn&gt;&lt;mo&gt;×&lt;/mo&gt;&lt;mn&gt;3&lt;/mn&gt;&lt;/mrow&gt;&lt;mrow&gt;&lt;mn&gt;5&lt;/mn&gt;&lt;mo&gt;×&lt;/mo&gt;&lt;mn&gt;3&lt;/mn&gt;&lt;/mrow&gt;&lt;/mfrac&gt;&lt;mo&gt;=&lt;/mo&gt;&lt;mfrac&gt;&lt;mn&gt;4&lt;/mn&gt;&lt;mn&gt;5&lt;/mn&gt;&lt;/mfrac&gt;&lt;/math&gt;" id="193" name="Google Shape;193;p20" title="12 over 40 equals the fraction with numerator 3 times 4 and denominator 10 times 4 equals three tenths 12 over 15 equals the fraction with numerator 4 times 3 and denominator 5 times 3 equals four fifths"/>
          <p:cNvPicPr preferRelativeResize="0"/>
          <p:nvPr/>
        </p:nvPicPr>
        <p:blipFill rotWithShape="1">
          <a:blip r:embed="rId4">
            <a:alphaModFix/>
          </a:blip>
          <a:srcRect b="0" l="58159" r="-6975" t="0"/>
          <a:stretch/>
        </p:blipFill>
        <p:spPr>
          <a:xfrm>
            <a:off x="3420010" y="7372738"/>
            <a:ext cx="1939258" cy="4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199" name="Google Shape;199;p21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76400" y="1256625"/>
            <a:ext cx="65706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Test A is out of 20. Laura gets 12 out of 20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Test B is out of 50. Sofia gets 40 out of 50.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got a higher proportion of answers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76400" y="2524800"/>
            <a:ext cx="7885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 got the highest proportion of answers correct.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 rotWithShape="1">
          <a:blip r:embed="rId3">
            <a:alphaModFix/>
          </a:blip>
          <a:srcRect b="51620" l="0" r="81337" t="0"/>
          <a:stretch/>
        </p:blipFill>
        <p:spPr>
          <a:xfrm>
            <a:off x="1165400" y="2949748"/>
            <a:ext cx="374205" cy="511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389275" y="2934025"/>
            <a:ext cx="8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Laura:</a:t>
            </a:r>
            <a:endParaRPr/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3">
            <a:alphaModFix/>
          </a:blip>
          <a:srcRect b="51620" l="72439" r="-4768" t="0"/>
          <a:stretch/>
        </p:blipFill>
        <p:spPr>
          <a:xfrm>
            <a:off x="1480650" y="2949750"/>
            <a:ext cx="648227" cy="511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4168200" y="2894825"/>
            <a:ext cx="94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205" name="Google Shape;205;p21" title="2 lines Line 1: 12 over 20 equals the fraction with numerator 3 times 4 and denominator 5 times 4 equals three fifths Line 2: 40 over 50 equals the fraction with numerator 4 times 10 and denominator 5 times 10 equals four fifths"/>
          <p:cNvPicPr preferRelativeResize="0"/>
          <p:nvPr/>
        </p:nvPicPr>
        <p:blipFill rotWithShape="1">
          <a:blip r:embed="rId3">
            <a:alphaModFix/>
          </a:blip>
          <a:srcRect b="0" l="0" r="80511" t="52362"/>
          <a:stretch/>
        </p:blipFill>
        <p:spPr>
          <a:xfrm>
            <a:off x="4993025" y="2949743"/>
            <a:ext cx="396862" cy="511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206" name="Google Shape;206;p21" title="2 lines Line 1: 12 over 20 equals the fraction with numerator 3 times 4 and denominator 5 times 4 equals three fifths Line 2: 40 over 50 equals the fraction with numerator 4 times 10 and denominator 5 times 10 equals four fifths"/>
          <p:cNvPicPr preferRelativeResize="0"/>
          <p:nvPr/>
        </p:nvPicPr>
        <p:blipFill rotWithShape="1">
          <a:blip r:embed="rId3">
            <a:alphaModFix/>
          </a:blip>
          <a:srcRect b="0" l="17986" r="32132" t="52362"/>
          <a:stretch/>
        </p:blipFill>
        <p:spPr>
          <a:xfrm>
            <a:off x="5323275" y="2967936"/>
            <a:ext cx="943499" cy="474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207" name="Google Shape;207;p21" title="2 lines Line 1: 12 over 20 equals the fraction with numerator 3 times 4 and denominator 5 times 4 equals three fifths Line 2: 40 over 50 equals the fraction with numerator 4 times 10 and denominator 5 times 10 equals four fifths"/>
          <p:cNvPicPr preferRelativeResize="0"/>
          <p:nvPr/>
        </p:nvPicPr>
        <p:blipFill rotWithShape="1">
          <a:blip r:embed="rId3">
            <a:alphaModFix/>
          </a:blip>
          <a:srcRect b="0" l="68841" r="-1992" t="52362"/>
          <a:stretch/>
        </p:blipFill>
        <p:spPr>
          <a:xfrm>
            <a:off x="6266775" y="2967925"/>
            <a:ext cx="627047" cy="4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465475" y="3530275"/>
            <a:ext cx="25644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represents the proportion Laura got correct.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321300" y="3556925"/>
            <a:ext cx="25920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represents the proportion Sofia got correct.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210" name="Google Shape;210;p21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68132" y="4557663"/>
            <a:ext cx="8237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Which pupil got the best allowance increase and why?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pupil got the best allowance increase and why?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1" name="Google Shape;211;p21"/>
          <p:cNvGraphicFramePr/>
          <p:nvPr/>
        </p:nvGraphicFramePr>
        <p:xfrm>
          <a:off x="585588" y="522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{B2C57A6B-82E1-4E96-A52F-01F517974E28}</a:tableStyleId>
              </a:tblPr>
              <a:tblGrid>
                <a:gridCol w="1447375"/>
                <a:gridCol w="1987350"/>
                <a:gridCol w="1127675"/>
                <a:gridCol w="1898925"/>
              </a:tblGrid>
              <a:tr h="64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upil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Normal allowance per month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Proportion of normal allowance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Jacob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5}{15}=\frac{1}{5}\ \ \ \ \ \frac{2.5}{10}=\frac{5}{20}=\frac{1}{4}\ \ \ \frac{4}{12}=\frac{1}{3}\ \ \ \ \frac{6}{30}=\frac{1}{5}&quot;&gt;&lt;mfrac&gt;&lt;mn&gt;5&lt;/mn&gt;&lt;mn&gt;15&lt;/mn&gt;&lt;/mfrac&gt;&lt;mo&gt;=&lt;/mo&gt;&lt;mfrac&gt;&lt;mn&gt;1&lt;/mn&gt;&lt;mn&gt;5&lt;/mn&gt;&lt;/mfrac&gt;&lt;mtext&gt;&lt;/mtext&gt;&lt;mtext&gt;&lt;/mtext&gt;&lt;mtext&gt;&lt;/mtext&gt;&lt;mtext&gt;&lt;/mtext&gt;&lt;mtext&gt;&lt;/mtext&gt;&lt;mfrac&gt;&lt;mn&gt;2.5&lt;/mn&gt;&lt;mn&gt;10&lt;/mn&gt;&lt;/mfrac&gt;&lt;mo&gt;=&lt;/mo&gt;&lt;mfrac&gt;&lt;mn&gt;5&lt;/mn&gt;&lt;mn&gt;20&lt;/mn&gt;&lt;/mfrac&gt;&lt;mo&gt;=&lt;/mo&gt;&lt;mfrac&gt;&lt;mn&gt;1&lt;/mn&gt;&lt;mn&gt;4&lt;/mn&gt;&lt;/mfrac&gt;&lt;mtext&gt;&lt;/mtext&gt;&lt;mtext&gt;&lt;/mtext&gt;&lt;mtext&gt;&lt;/mtext&gt;&lt;mfrac&gt;&lt;mn&gt;4&lt;/mn&gt;&lt;mn&gt;12&lt;/mn&gt;&lt;/mfrac&gt;&lt;mo&gt;=&lt;/mo&gt;&lt;mfrac&gt;&lt;mn&gt;1&lt;/mn&gt;&lt;mn&gt;3&lt;/mn&gt;&lt;/mfrac&gt;&lt;mtext&gt;&lt;/mtext&gt;&lt;mtext&gt;&lt;/mtext&gt;&lt;mtext&gt;&lt;/mtext&gt;&lt;mtext&gt;&lt;/mtext&gt;&lt;mfrac&gt;&lt;mn&gt;6&lt;/mn&gt;&lt;mn&gt;30&lt;/mn&gt;&lt;/mfrac&gt;&lt;mo&gt;=&lt;/mo&gt;&lt;mfrac&gt;&lt;mn&gt;1&lt;/mn&gt;&lt;mn&gt;5&lt;/mn&gt;&lt;/mfrac&gt;&lt;/math&gt;" id="212" name="Google Shape;212;p21" title="5 over 15 equals one fifth 2.5 over 10 equals 5 over 20 equals one fourth 4 over 12 equals one third 6 over 30 equals one fifth"/>
          <p:cNvPicPr preferRelativeResize="0"/>
          <p:nvPr/>
        </p:nvPicPr>
        <p:blipFill rotWithShape="1">
          <a:blip r:embed="rId4">
            <a:alphaModFix/>
          </a:blip>
          <a:srcRect b="0" l="21502" r="44425" t="0"/>
          <a:stretch/>
        </p:blipFill>
        <p:spPr>
          <a:xfrm>
            <a:off x="5389866" y="6575023"/>
            <a:ext cx="1460702" cy="448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=\frac{1}{5}\ \ \ \ \ \frac{2.5}{10}=\frac{5}{20}=\frac{1}{4}\ \ \ \frac{4}{12}=\frac{1}{3}\ \ \ \ \frac{6}{30}=\frac{1}{5}&quot;&gt;&lt;mfrac&gt;&lt;mn&gt;5&lt;/mn&gt;&lt;mn&gt;15&lt;/mn&gt;&lt;/mfrac&gt;&lt;mo&gt;=&lt;/mo&gt;&lt;mfrac&gt;&lt;mn&gt;1&lt;/mn&gt;&lt;mn&gt;5&lt;/mn&gt;&lt;/mfrac&gt;&lt;mtext&gt;&lt;/mtext&gt;&lt;mtext&gt;&lt;/mtext&gt;&lt;mtext&gt;&lt;/mtext&gt;&lt;mtext&gt;&lt;/mtext&gt;&lt;mtext&gt;&lt;/mtext&gt;&lt;mfrac&gt;&lt;mn&gt;2.5&lt;/mn&gt;&lt;mn&gt;10&lt;/mn&gt;&lt;/mfrac&gt;&lt;mo&gt;=&lt;/mo&gt;&lt;mfrac&gt;&lt;mn&gt;5&lt;/mn&gt;&lt;mn&gt;20&lt;/mn&gt;&lt;/mfrac&gt;&lt;mo&gt;=&lt;/mo&gt;&lt;mfrac&gt;&lt;mn&gt;1&lt;/mn&gt;&lt;mn&gt;4&lt;/mn&gt;&lt;/mfrac&gt;&lt;mtext&gt;&lt;/mtext&gt;&lt;mtext&gt;&lt;/mtext&gt;&lt;mtext&gt;&lt;/mtext&gt;&lt;mfrac&gt;&lt;mn&gt;4&lt;/mn&gt;&lt;mn&gt;12&lt;/mn&gt;&lt;/mfrac&gt;&lt;mo&gt;=&lt;/mo&gt;&lt;mfrac&gt;&lt;mn&gt;1&lt;/mn&gt;&lt;mn&gt;3&lt;/mn&gt;&lt;/mfrac&gt;&lt;mtext&gt;&lt;/mtext&gt;&lt;mtext&gt;&lt;/mtext&gt;&lt;mtext&gt;&lt;/mtext&gt;&lt;mtext&gt;&lt;/mtext&gt;&lt;mfrac&gt;&lt;mn&gt;6&lt;/mn&gt;&lt;mn&gt;30&lt;/mn&gt;&lt;/mfrac&gt;&lt;mo&gt;=&lt;/mo&gt;&lt;mfrac&gt;&lt;mn&gt;1&lt;/mn&gt;&lt;mn&gt;5&lt;/mn&gt;&lt;/mfrac&gt;&lt;/math&gt;" id="213" name="Google Shape;213;p21" title="5 over 15 equals one fifth 2.5 over 10 equals 5 over 20 equals one fourth 4 over 12 equals one third 6 over 30 equals one fifth"/>
          <p:cNvPicPr preferRelativeResize="0"/>
          <p:nvPr/>
        </p:nvPicPr>
        <p:blipFill rotWithShape="1">
          <a:blip r:embed="rId4">
            <a:alphaModFix/>
          </a:blip>
          <a:srcRect b="0" l="59431" r="21970" t="0"/>
          <a:stretch/>
        </p:blipFill>
        <p:spPr>
          <a:xfrm>
            <a:off x="5721579" y="7155808"/>
            <a:ext cx="797276" cy="448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=\frac{1}{5}\ \ \ \ \ \frac{2.5}{10}=\frac{5}{20}=\frac{1}{4}\ \ \ \frac{4}{12}=\frac{1}{3}\ \ \ \ \frac{6}{30}=\frac{1}{5}&quot;&gt;&lt;mfrac&gt;&lt;mn&gt;5&lt;/mn&gt;&lt;mn&gt;15&lt;/mn&gt;&lt;/mfrac&gt;&lt;mo&gt;=&lt;/mo&gt;&lt;mfrac&gt;&lt;mn&gt;1&lt;/mn&gt;&lt;mn&gt;5&lt;/mn&gt;&lt;/mfrac&gt;&lt;mtext&gt;&lt;/mtext&gt;&lt;mtext&gt;&lt;/mtext&gt;&lt;mtext&gt;&lt;/mtext&gt;&lt;mtext&gt;&lt;/mtext&gt;&lt;mtext&gt;&lt;/mtext&gt;&lt;mfrac&gt;&lt;mn&gt;2.5&lt;/mn&gt;&lt;mn&gt;10&lt;/mn&gt;&lt;/mfrac&gt;&lt;mo&gt;=&lt;/mo&gt;&lt;mfrac&gt;&lt;mn&gt;5&lt;/mn&gt;&lt;mn&gt;20&lt;/mn&gt;&lt;/mfrac&gt;&lt;mo&gt;=&lt;/mo&gt;&lt;mfrac&gt;&lt;mn&gt;1&lt;/mn&gt;&lt;mn&gt;4&lt;/mn&gt;&lt;/mfrac&gt;&lt;mtext&gt;&lt;/mtext&gt;&lt;mtext&gt;&lt;/mtext&gt;&lt;mtext&gt;&lt;/mtext&gt;&lt;mfrac&gt;&lt;mn&gt;4&lt;/mn&gt;&lt;mn&gt;12&lt;/mn&gt;&lt;/mfrac&gt;&lt;mo&gt;=&lt;/mo&gt;&lt;mfrac&gt;&lt;mn&gt;1&lt;/mn&gt;&lt;mn&gt;3&lt;/mn&gt;&lt;/mfrac&gt;&lt;mtext&gt;&lt;/mtext&gt;&lt;mtext&gt;&lt;/mtext&gt;&lt;mtext&gt;&lt;/mtext&gt;&lt;mtext&gt;&lt;/mtext&gt;&lt;mfrac&gt;&lt;mn&gt;6&lt;/mn&gt;&lt;mn&gt;30&lt;/mn&gt;&lt;/mfrac&gt;&lt;mo&gt;=&lt;/mo&gt;&lt;mfrac&gt;&lt;mn&gt;1&lt;/mn&gt;&lt;mn&gt;5&lt;/mn&gt;&lt;/mfrac&gt;&lt;/math&gt;" id="214" name="Google Shape;214;p21" title="5 over 15 equals one fifth 2.5 over 10 equals 5 over 20 equals one fourth 4 over 12 equals one third 6 over 30 equals one fifth"/>
          <p:cNvPicPr preferRelativeResize="0"/>
          <p:nvPr/>
        </p:nvPicPr>
        <p:blipFill rotWithShape="1">
          <a:blip r:embed="rId4">
            <a:alphaModFix/>
          </a:blip>
          <a:srcRect b="0" l="83645" r="-3655" t="0"/>
          <a:stretch/>
        </p:blipFill>
        <p:spPr>
          <a:xfrm>
            <a:off x="5711037" y="7736569"/>
            <a:ext cx="857835" cy="448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5}=\frac{2}{5}&quot;&gt;&lt;mfrac&gt;&lt;mn&gt;6&lt;/mn&gt;&lt;mn&gt;15&lt;/mn&gt;&lt;/mfrac&gt;&lt;mo&gt;=&lt;/mo&gt;&lt;mfrac&gt;&lt;mn&gt;2&lt;/mn&gt;&lt;mn&gt;5&lt;/mn&gt;&lt;/mfrac&gt;&lt;/math&gt;" id="215" name="Google Shape;215;p21" title="6 over 15 equals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1658" y="5897782"/>
            <a:ext cx="717125" cy="44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9683" y="601211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98794" y="8351250"/>
            <a:ext cx="6371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Aisha got the best allowance increase.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474757" y="98958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1"/>
          <p:cNvSpPr txBox="1"/>
          <p:nvPr/>
        </p:nvSpPr>
        <p:spPr>
          <a:xfrm>
            <a:off x="476400" y="900550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Comparing using proportion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68000" y="924825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Paying attention to the whole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02848" y="1309350"/>
            <a:ext cx="5778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14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the correct inequality =, &lt; or &gt; for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of 900 &gt; 10% of 4000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&gt;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of 24  &lt;      of 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frac{1}{3}&quot;&gt;&lt;mfrac&gt;&lt;mn&gt;1&lt;/mn&gt;&lt;mn&gt;2&lt;/mn&gt;&lt;/mfrac&gt;&lt;mtext&gt;&lt;/mtext&gt;&lt;mtext&gt;&lt;/mtext&gt;&lt;mtext&gt;&lt;/mtext&gt;&lt;mtext&gt;&lt;/mtext&gt;&lt;mfrac&gt;&lt;mn&gt;1&lt;/mn&gt;&lt;mn&gt;3&lt;/mn&gt;&lt;/mfrac&gt;&lt;/math&gt;" id="228" name="Google Shape;228;p22" title="one half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513" y="2645599"/>
            <a:ext cx="600575" cy="50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frac{1}{3}&quot;&gt;&lt;mfrac&gt;&lt;mn&gt;1&lt;/mn&gt;&lt;mn&gt;2&lt;/mn&gt;&lt;/mfrac&gt;&lt;mtext&gt;&lt;/mtext&gt;&lt;mtext&gt;&lt;/mtext&gt;&lt;mtext&gt;&lt;/mtext&gt;&lt;mtext&gt;&lt;/mtext&gt;&lt;mfrac&gt;&lt;mn&gt;1&lt;/mn&gt;&lt;mn&gt;3&lt;/mn&gt;&lt;/mfrac&gt;&lt;/math&gt;" id="229" name="Google Shape;229;p22" title="one half one third"/>
          <p:cNvPicPr preferRelativeResize="0"/>
          <p:nvPr/>
        </p:nvPicPr>
        <p:blipFill rotWithShape="1">
          <a:blip r:embed="rId3">
            <a:alphaModFix/>
          </a:blip>
          <a:srcRect b="0" l="0" r="63386" t="0"/>
          <a:stretch/>
        </p:blipFill>
        <p:spPr>
          <a:xfrm>
            <a:off x="694525" y="3262523"/>
            <a:ext cx="219900" cy="502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frac{1}{3}&quot;&gt;&lt;mfrac&gt;&lt;mn&gt;1&lt;/mn&gt;&lt;mn&gt;2&lt;/mn&gt;&lt;/mfrac&gt;&lt;mtext&gt;&lt;/mtext&gt;&lt;mtext&gt;&lt;/mtext&gt;&lt;mtext&gt;&lt;/mtext&gt;&lt;mtext&gt;&lt;/mtext&gt;&lt;mfrac&gt;&lt;mn&gt;1&lt;/mn&gt;&lt;mn&gt;3&lt;/mn&gt;&lt;/mfrac&gt;&lt;/math&gt;" id="230" name="Google Shape;230;p22" title="one half one third"/>
          <p:cNvPicPr preferRelativeResize="0"/>
          <p:nvPr/>
        </p:nvPicPr>
        <p:blipFill rotWithShape="1">
          <a:blip r:embed="rId3">
            <a:alphaModFix/>
          </a:blip>
          <a:srcRect b="0" l="67976" r="-4591" t="0"/>
          <a:stretch/>
        </p:blipFill>
        <p:spPr>
          <a:xfrm>
            <a:off x="1402100" y="3262524"/>
            <a:ext cx="219900" cy="502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22"/>
          <p:cNvCxnSpPr/>
          <p:nvPr/>
        </p:nvCxnSpPr>
        <p:spPr>
          <a:xfrm>
            <a:off x="3510525" y="1798000"/>
            <a:ext cx="0" cy="23328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2"/>
          <p:cNvSpPr txBox="1"/>
          <p:nvPr/>
        </p:nvSpPr>
        <p:spPr>
          <a:xfrm>
            <a:off x="3809100" y="1566450"/>
            <a:ext cx="36129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      &lt;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   of 30 &lt;     of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1% of 900 = 900% of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4}{5}&quot;&gt;&lt;mfrac&gt;&lt;mn&gt;2&lt;/mn&gt;&lt;mn&gt;3&lt;/mn&gt;&lt;/mfrac&gt;&lt;mtext&gt;&lt;/mtext&gt;&lt;mtext&gt;&lt;/mtext&gt;&lt;mtext&gt;&lt;/mtext&gt;&lt;mfrac&gt;&lt;mn&gt;4&lt;/mn&gt;&lt;mn&gt;5&lt;/mn&gt;&lt;/mfrac&gt;&lt;/math&gt;" id="233" name="Google Shape;233;p22" title="two thirds 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630" y="1881546"/>
            <a:ext cx="543563" cy="50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4}{5}&quot;&gt;&lt;mfrac&gt;&lt;mn&gt;2&lt;/mn&gt;&lt;mn&gt;3&lt;/mn&gt;&lt;/mfrac&gt;&lt;mtext&gt;&lt;/mtext&gt;&lt;mtext&gt;&lt;/mtext&gt;&lt;mtext&gt;&lt;/mtext&gt;&lt;mfrac&gt;&lt;mn&gt;4&lt;/mn&gt;&lt;mn&gt;5&lt;/mn&gt;&lt;/mfrac&gt;&lt;/math&gt;" id="234" name="Google Shape;234;p22" title="two thirds four fifths"/>
          <p:cNvPicPr preferRelativeResize="0"/>
          <p:nvPr/>
        </p:nvPicPr>
        <p:blipFill rotWithShape="1">
          <a:blip r:embed="rId4">
            <a:alphaModFix/>
          </a:blip>
          <a:srcRect b="0" l="0" r="59545" t="0"/>
          <a:stretch/>
        </p:blipFill>
        <p:spPr>
          <a:xfrm>
            <a:off x="4140011" y="2508613"/>
            <a:ext cx="219890" cy="50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4}{5}&quot;&gt;&lt;mfrac&gt;&lt;mn&gt;2&lt;/mn&gt;&lt;mn&gt;3&lt;/mn&gt;&lt;/mfrac&gt;&lt;mtext&gt;&lt;/mtext&gt;&lt;mtext&gt;&lt;/mtext&gt;&lt;mtext&gt;&lt;/mtext&gt;&lt;mfrac&gt;&lt;mn&gt;4&lt;/mn&gt;&lt;mn&gt;5&lt;/mn&gt;&lt;/mfrac&gt;&lt;/math&gt;" id="235" name="Google Shape;235;p22" title="two thirds four fifths"/>
          <p:cNvPicPr preferRelativeResize="0"/>
          <p:nvPr/>
        </p:nvPicPr>
        <p:blipFill rotWithShape="1">
          <a:blip r:embed="rId4">
            <a:alphaModFix/>
          </a:blip>
          <a:srcRect b="0" l="59545" r="0" t="0"/>
          <a:stretch/>
        </p:blipFill>
        <p:spPr>
          <a:xfrm>
            <a:off x="4759198" y="2568250"/>
            <a:ext cx="219900" cy="50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14463" y="5021400"/>
            <a:ext cx="2317500" cy="3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pupil in Oak academy has a cashless account.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Oak pupils have been excellent and the Oak teacher can award them with either 20% more of what is in their account or £2 more what is in their account.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offer should each pupil receive to get the best deal?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7" name="Google Shape;237;p22"/>
          <p:cNvGraphicFramePr/>
          <p:nvPr/>
        </p:nvGraphicFramePr>
        <p:xfrm>
          <a:off x="3054338" y="502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{B2C57A6B-82E1-4E96-A52F-01F517974E28}</a:tableStyleId>
              </a:tblPr>
              <a:tblGrid>
                <a:gridCol w="945525"/>
                <a:gridCol w="953725"/>
              </a:tblGrid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upil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Account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£11.29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Jacob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8" name="Google Shape;238;p22"/>
          <p:cNvGraphicFramePr/>
          <p:nvPr/>
        </p:nvGraphicFramePr>
        <p:xfrm>
          <a:off x="5047513" y="502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{B2C57A6B-82E1-4E96-A52F-01F517974E28}</a:tableStyleId>
              </a:tblPr>
              <a:tblGrid>
                <a:gridCol w="945525"/>
                <a:gridCol w="953725"/>
              </a:tblGrid>
              <a:tr h="57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upil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Account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£20.12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2"/>
          <p:cNvSpPr txBox="1"/>
          <p:nvPr/>
        </p:nvSpPr>
        <p:spPr>
          <a:xfrm>
            <a:off x="3062725" y="8487850"/>
            <a:ext cx="396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Anything over £10 should go for the 20% offer. Jun can have either.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6" name="Google Shape;246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249" name="Google Shape;249;p23"/>
          <p:cNvGraphicFramePr/>
          <p:nvPr/>
        </p:nvGraphicFramePr>
        <p:xfrm>
          <a:off x="491232" y="1659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{B2C57A6B-82E1-4E96-A52F-01F517974E28}</a:tableStyleId>
              </a:tblPr>
              <a:tblGrid>
                <a:gridCol w="2436450"/>
                <a:gridCol w="1030925"/>
                <a:gridCol w="1030925"/>
                <a:gridCol w="833475"/>
                <a:gridCol w="1228375"/>
              </a:tblGrid>
              <a:tr h="10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better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better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Both the same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enough information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10% of £100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offered 5% of £200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79%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offered 100%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  of £24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offered   of £19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20% more money than 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3"/>
          <p:cNvSpPr txBox="1"/>
          <p:nvPr/>
        </p:nvSpPr>
        <p:spPr>
          <a:xfrm>
            <a:off x="468000" y="1199550"/>
            <a:ext cx="62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Tick which is the best offer or if there is not enough information.</a:t>
            </a:r>
            <a:endParaRPr sz="1200"/>
          </a:p>
        </p:txBody>
      </p:sp>
      <p:sp>
        <p:nvSpPr>
          <p:cNvPr id="251" name="Google Shape;251;p23"/>
          <p:cNvSpPr txBox="1"/>
          <p:nvPr/>
        </p:nvSpPr>
        <p:spPr>
          <a:xfrm>
            <a:off x="468000" y="924825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Paying attention to the whole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2" name="Google Shape;2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008" y="2784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008" y="34828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458" y="4134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2008" y="47865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483100" y="5521500"/>
            <a:ext cx="843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Jacob is looking for a new bike. Two shops sell the same bike.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725" y="5867403"/>
            <a:ext cx="525075" cy="646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3"/>
          <p:cNvGrpSpPr/>
          <p:nvPr/>
        </p:nvGrpSpPr>
        <p:grpSpPr>
          <a:xfrm>
            <a:off x="2967930" y="6213582"/>
            <a:ext cx="935671" cy="712482"/>
            <a:chOff x="4823995" y="2571741"/>
            <a:chExt cx="1198810" cy="893619"/>
          </a:xfrm>
        </p:grpSpPr>
        <p:sp>
          <p:nvSpPr>
            <p:cNvPr id="259" name="Google Shape;259;p23"/>
            <p:cNvSpPr/>
            <p:nvPr/>
          </p:nvSpPr>
          <p:spPr>
            <a:xfrm rot="4071544">
              <a:off x="5160862" y="2478250"/>
              <a:ext cx="525075" cy="1080600"/>
            </a:xfrm>
            <a:prstGeom prst="flowChartOffpageConnector">
              <a:avLst/>
            </a:prstGeom>
            <a:solidFill>
              <a:schemeClr val="lt2"/>
            </a:solidFill>
            <a:ln cap="flat" cmpd="sng" w="952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3"/>
            <p:cNvSpPr txBox="1"/>
            <p:nvPr/>
          </p:nvSpPr>
          <p:spPr>
            <a:xfrm rot="-1316906">
              <a:off x="5041627" y="2721384"/>
              <a:ext cx="890115" cy="461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£120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61" name="Google Shape;261;p23"/>
          <p:cNvCxnSpPr>
            <a:endCxn id="259" idx="2"/>
          </p:cNvCxnSpPr>
          <p:nvPr/>
        </p:nvCxnSpPr>
        <p:spPr>
          <a:xfrm>
            <a:off x="2390258" y="6394979"/>
            <a:ext cx="654900" cy="337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57575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3"/>
          <p:cNvSpPr txBox="1"/>
          <p:nvPr/>
        </p:nvSpPr>
        <p:spPr>
          <a:xfrm>
            <a:off x="1465644" y="7159347"/>
            <a:ext cx="12249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SALE 30% off</a:t>
            </a:r>
            <a:endParaRPr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1265375" y="5829300"/>
            <a:ext cx="2153700" cy="268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83100" y="9301350"/>
            <a:ext cx="6498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says, “Both have 30% off in total so the bike costs the same in both shops.”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if Jacob is correct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" name="Google Shape;26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8109" y="6031862"/>
            <a:ext cx="1467915" cy="107589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615675" y="7476425"/>
            <a:ext cx="30666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30% of £120 is £36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the cost of the bike in shop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£120 − £36 = £84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7" name="Google Shape;267;p23"/>
          <p:cNvGrpSpPr/>
          <p:nvPr/>
        </p:nvGrpSpPr>
        <p:grpSpPr>
          <a:xfrm>
            <a:off x="6176590" y="6158452"/>
            <a:ext cx="891435" cy="785223"/>
            <a:chOff x="4823995" y="2571741"/>
            <a:chExt cx="1198810" cy="893619"/>
          </a:xfrm>
        </p:grpSpPr>
        <p:sp>
          <p:nvSpPr>
            <p:cNvPr id="268" name="Google Shape;268;p23"/>
            <p:cNvSpPr/>
            <p:nvPr/>
          </p:nvSpPr>
          <p:spPr>
            <a:xfrm rot="4071544">
              <a:off x="5160862" y="2478250"/>
              <a:ext cx="525075" cy="1080600"/>
            </a:xfrm>
            <a:prstGeom prst="flowChartOffpageConnector">
              <a:avLst/>
            </a:prstGeom>
            <a:solidFill>
              <a:schemeClr val="lt2"/>
            </a:solidFill>
            <a:ln cap="flat" cmpd="sng" w="952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3"/>
            <p:cNvSpPr txBox="1"/>
            <p:nvPr/>
          </p:nvSpPr>
          <p:spPr>
            <a:xfrm rot="-1316906">
              <a:off x="5041627" y="2721384"/>
              <a:ext cx="890115" cy="461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£120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70" name="Google Shape;270;p23"/>
          <p:cNvCxnSpPr>
            <a:endCxn id="268" idx="2"/>
          </p:cNvCxnSpPr>
          <p:nvPr/>
        </p:nvCxnSpPr>
        <p:spPr>
          <a:xfrm>
            <a:off x="5461167" y="6314794"/>
            <a:ext cx="789000" cy="415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57575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3"/>
          <p:cNvSpPr txBox="1"/>
          <p:nvPr/>
        </p:nvSpPr>
        <p:spPr>
          <a:xfrm>
            <a:off x="4703518" y="7183954"/>
            <a:ext cx="18711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SALE 20% off</a:t>
            </a:r>
            <a:endParaRPr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Plus an extra 10% off the sale price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4140000" y="5750075"/>
            <a:ext cx="2052000" cy="296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3" name="Google Shape;27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6109" y="6002262"/>
            <a:ext cx="1467915" cy="107589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4139075" y="7772175"/>
            <a:ext cx="3341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20% of £120 is £24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 the sale price was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£120 − £24 = £96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Now we take 10% off the sale price: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 of £96 is £9.60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So, in shop A the bike costs: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£96 − £9.60 = £86.40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491225" y="8291088"/>
            <a:ext cx="29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Jacob is not correct. The cost in Shop B is £84 and in Shop A it is £86.40. Taking 20% then 10% is not the same as taking 30% of the same amount.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6" name="Google Shape;276;p23"/>
          <p:cNvPicPr preferRelativeResize="0"/>
          <p:nvPr/>
        </p:nvPicPr>
        <p:blipFill rotWithShape="1">
          <a:blip r:embed="rId6">
            <a:alphaModFix/>
          </a:blip>
          <a:srcRect b="5831" l="0" r="-10" t="5680"/>
          <a:stretch/>
        </p:blipFill>
        <p:spPr>
          <a:xfrm>
            <a:off x="1445725" y="4054877"/>
            <a:ext cx="111066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5725" y="4310613"/>
            <a:ext cx="111075" cy="25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