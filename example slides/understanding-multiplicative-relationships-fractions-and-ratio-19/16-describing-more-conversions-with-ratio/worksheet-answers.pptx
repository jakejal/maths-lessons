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A724FE-243C-4F3F-A87C-9CD90A6DD9B3}">
  <a:tblStyle styleId="{E4A724FE-243C-4F3F-A87C-9CD90A6DD9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more conversions with ratio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05500" y="1402675"/>
            <a:ext cx="425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Interpreting and using map scales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6737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missing information in each row.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1057163" y="206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{E4A724FE-243C-4F3F-A87C-9CD90A6DD9B3}</a:tableStyleId>
              </a:tblPr>
              <a:tblGrid>
                <a:gridCol w="1815225"/>
                <a:gridCol w="1815225"/>
                <a:gridCol w="1815225"/>
              </a:tblGrid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Scale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Map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</a:t>
                      </a:r>
                      <a:endParaRPr b="1"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250 000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cm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 : 2000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 cm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 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40 000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50 cm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3000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cm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180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 : 300 000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cm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8000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 cm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600 000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2.5cm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 : 3 500 000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cm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245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7500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 cm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0.39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0"/>
          <p:cNvSpPr txBox="1"/>
          <p:nvPr/>
        </p:nvSpPr>
        <p:spPr>
          <a:xfrm>
            <a:off x="505500" y="5898475"/>
            <a:ext cx="408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Using ratio tables to find one part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6400" y="6245700"/>
            <a:ext cx="66240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missing value in each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8" name="Google Shape;178;p20"/>
          <p:cNvGraphicFramePr/>
          <p:nvPr/>
        </p:nvGraphicFramePr>
        <p:xfrm>
          <a:off x="707825" y="656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{E4A724FE-243C-4F3F-A87C-9CD90A6DD9B3}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9" name="Google Shape;179;p20"/>
          <p:cNvGraphicFramePr/>
          <p:nvPr/>
        </p:nvGraphicFramePr>
        <p:xfrm>
          <a:off x="707825" y="835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{E4A724FE-243C-4F3F-A87C-9CD90A6DD9B3}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6270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0" name="Google Shape;180;p20"/>
          <p:cNvGraphicFramePr/>
          <p:nvPr/>
        </p:nvGraphicFramePr>
        <p:xfrm>
          <a:off x="2955725" y="656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{E4A724FE-243C-4F3F-A87C-9CD90A6DD9B3}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1" name="Google Shape;181;p20"/>
          <p:cNvGraphicFramePr/>
          <p:nvPr/>
        </p:nvGraphicFramePr>
        <p:xfrm>
          <a:off x="2955725" y="835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{E4A724FE-243C-4F3F-A87C-9CD90A6DD9B3}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2" name="Google Shape;182;p20"/>
          <p:cNvGraphicFramePr/>
          <p:nvPr/>
        </p:nvGraphicFramePr>
        <p:xfrm>
          <a:off x="5203625" y="656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{E4A724FE-243C-4F3F-A87C-9CD90A6DD9B3}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3" name="Google Shape;183;p20"/>
          <p:cNvGraphicFramePr/>
          <p:nvPr/>
        </p:nvGraphicFramePr>
        <p:xfrm>
          <a:off x="5203625" y="835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{E4A724FE-243C-4F3F-A87C-9CD90A6DD9B3}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297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84" name="Google Shape;184;p20"/>
          <p:cNvCxnSpPr/>
          <p:nvPr/>
        </p:nvCxnSpPr>
        <p:spPr>
          <a:xfrm>
            <a:off x="465725" y="5639514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more conversions with ratio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552600" y="683100"/>
            <a:ext cx="57996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order from the lightest to the heaviest.  Using the conversion 1 kg = 2.2 pounds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552600" y="4035900"/>
            <a:ext cx="6192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order from the shortest to the tallest.  Using the conversion 1 inch = 2.54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500" y="4480420"/>
            <a:ext cx="837267" cy="882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7320" y="4464719"/>
            <a:ext cx="360752" cy="832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4731" y="4435925"/>
            <a:ext cx="654608" cy="87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7543" y="4450837"/>
            <a:ext cx="576529" cy="8171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21"/>
          <p:cNvCxnSpPr/>
          <p:nvPr/>
        </p:nvCxnSpPr>
        <p:spPr>
          <a:xfrm>
            <a:off x="1140600" y="4465725"/>
            <a:ext cx="0" cy="817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0" name="Google Shape;200;p21"/>
          <p:cNvSpPr txBox="1"/>
          <p:nvPr/>
        </p:nvSpPr>
        <p:spPr>
          <a:xfrm>
            <a:off x="562801" y="4639900"/>
            <a:ext cx="57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9.5 inches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" name="Google Shape;201;p21"/>
          <p:cNvCxnSpPr/>
          <p:nvPr/>
        </p:nvCxnSpPr>
        <p:spPr>
          <a:xfrm>
            <a:off x="2969400" y="4465725"/>
            <a:ext cx="0" cy="817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" name="Google Shape;202;p21"/>
          <p:cNvSpPr txBox="1"/>
          <p:nvPr/>
        </p:nvSpPr>
        <p:spPr>
          <a:xfrm>
            <a:off x="2482786" y="4639900"/>
            <a:ext cx="57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20.32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" name="Google Shape;203;p21"/>
          <p:cNvCxnSpPr/>
          <p:nvPr/>
        </p:nvCxnSpPr>
        <p:spPr>
          <a:xfrm>
            <a:off x="4509551" y="4465725"/>
            <a:ext cx="0" cy="817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4" name="Google Shape;204;p21"/>
          <p:cNvSpPr txBox="1"/>
          <p:nvPr/>
        </p:nvSpPr>
        <p:spPr>
          <a:xfrm>
            <a:off x="3950267" y="4639900"/>
            <a:ext cx="57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8.5 inches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" name="Google Shape;205;p21"/>
          <p:cNvCxnSpPr/>
          <p:nvPr/>
        </p:nvCxnSpPr>
        <p:spPr>
          <a:xfrm>
            <a:off x="6246000" y="4465725"/>
            <a:ext cx="0" cy="817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6" name="Google Shape;206;p21"/>
          <p:cNvSpPr txBox="1"/>
          <p:nvPr/>
        </p:nvSpPr>
        <p:spPr>
          <a:xfrm>
            <a:off x="5704490" y="4639900"/>
            <a:ext cx="57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22.86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62977" y="2435175"/>
            <a:ext cx="3361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Correct order:  cheese, sack, brick, box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92451" y="5656250"/>
            <a:ext cx="4227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Correct order:  feather, teddy bear, flower, robot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88456" y="1096447"/>
            <a:ext cx="737721" cy="796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07132" y="1153857"/>
            <a:ext cx="897139" cy="796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/>
          <p:cNvPicPr preferRelativeResize="0"/>
          <p:nvPr/>
        </p:nvPicPr>
        <p:blipFill rotWithShape="1">
          <a:blip r:embed="rId9">
            <a:alphaModFix/>
          </a:blip>
          <a:srcRect b="0" l="49617" r="0" t="0"/>
          <a:stretch/>
        </p:blipFill>
        <p:spPr>
          <a:xfrm>
            <a:off x="546651" y="1182996"/>
            <a:ext cx="940427" cy="76774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5992431" y="1985365"/>
            <a:ext cx="670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2.05 kg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054044" y="1985365"/>
            <a:ext cx="1127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4.62 pounds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" name="Google Shape;214;p21"/>
          <p:cNvGrpSpPr/>
          <p:nvPr/>
        </p:nvGrpSpPr>
        <p:grpSpPr>
          <a:xfrm>
            <a:off x="4255953" y="1471832"/>
            <a:ext cx="619803" cy="32814"/>
            <a:chOff x="5233358" y="3749075"/>
            <a:chExt cx="1308981" cy="69300"/>
          </a:xfrm>
        </p:grpSpPr>
        <p:sp>
          <p:nvSpPr>
            <p:cNvPr id="215" name="Google Shape;215;p21"/>
            <p:cNvSpPr/>
            <p:nvPr/>
          </p:nvSpPr>
          <p:spPr>
            <a:xfrm>
              <a:off x="5233358" y="3749075"/>
              <a:ext cx="538200" cy="69300"/>
            </a:xfrm>
            <a:prstGeom prst="ellipse">
              <a:avLst/>
            </a:prstGeom>
            <a:solidFill>
              <a:srgbClr val="DC9A7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6004139" y="3749075"/>
              <a:ext cx="538200" cy="69300"/>
            </a:xfrm>
            <a:prstGeom prst="ellipse">
              <a:avLst/>
            </a:prstGeom>
            <a:solidFill>
              <a:srgbClr val="DC9A7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21"/>
          <p:cNvSpPr txBox="1"/>
          <p:nvPr/>
        </p:nvSpPr>
        <p:spPr>
          <a:xfrm>
            <a:off x="793129" y="1985365"/>
            <a:ext cx="5490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2.3 kg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2381885" y="1985365"/>
            <a:ext cx="1089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4.18 pounds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395525" y="565250"/>
            <a:ext cx="619800" cy="541200"/>
          </a:xfrm>
          <a:prstGeom prst="rect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Images are not to scale.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76400" y="5940900"/>
            <a:ext cx="66156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	Write the following in order from the closest to the furthest from this sign.  Using the conversion 5 miles = 8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76400" y="8919000"/>
            <a:ext cx="4512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Correct order:  Town B, Town A, Town D, Town C 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3950997" y="6609568"/>
            <a:ext cx="1952700" cy="3453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TOWN C    15.1 km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3950997" y="7205537"/>
            <a:ext cx="1952700" cy="3453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TOWN D   9.25 miles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 flipH="1">
            <a:off x="1957415" y="6509213"/>
            <a:ext cx="1709700" cy="3453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14.6 km   TOWN 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 flipH="1">
            <a:off x="1957415" y="7005291"/>
            <a:ext cx="1709700" cy="3453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miles    TOWN 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3660605" y="6409225"/>
            <a:ext cx="290400" cy="2275200"/>
          </a:xfrm>
          <a:prstGeom prst="rect">
            <a:avLst/>
          </a:prstGeom>
          <a:solidFill>
            <a:srgbClr val="B7B7B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 rot="-9092453">
            <a:off x="3791918" y="8268921"/>
            <a:ext cx="119098" cy="473575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 rot="-9092453">
            <a:off x="3834652" y="8268921"/>
            <a:ext cx="119098" cy="473575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 rot="-9092453">
            <a:off x="3888546" y="8268921"/>
            <a:ext cx="119098" cy="473575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/>
          <p:nvPr/>
        </p:nvSpPr>
        <p:spPr>
          <a:xfrm rot="10800000">
            <a:off x="3748709" y="8261929"/>
            <a:ext cx="114210" cy="487566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 rot="10800000">
            <a:off x="3690291" y="8261929"/>
            <a:ext cx="114210" cy="487566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/>
          <p:nvPr/>
        </p:nvSpPr>
        <p:spPr>
          <a:xfrm rot="10800000">
            <a:off x="3634490" y="8294819"/>
            <a:ext cx="114210" cy="487566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 rot="-10241037">
            <a:off x="3609115" y="8295533"/>
            <a:ext cx="114752" cy="486111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 rot="-10241037">
            <a:off x="3890723" y="8262653"/>
            <a:ext cx="114752" cy="486111"/>
          </a:xfrm>
          <a:prstGeom prst="lightningBolt">
            <a:avLst/>
          </a:prstGeom>
          <a:solidFill>
            <a:srgbClr val="666666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5" name="Google Shape;235;p21"/>
          <p:cNvGrpSpPr/>
          <p:nvPr/>
        </p:nvGrpSpPr>
        <p:grpSpPr>
          <a:xfrm>
            <a:off x="4066123" y="1432496"/>
            <a:ext cx="999464" cy="453140"/>
            <a:chOff x="4832450" y="3666000"/>
            <a:chExt cx="2110800" cy="957000"/>
          </a:xfrm>
        </p:grpSpPr>
        <p:sp>
          <p:nvSpPr>
            <p:cNvPr id="236" name="Google Shape;236;p21"/>
            <p:cNvSpPr/>
            <p:nvPr/>
          </p:nvSpPr>
          <p:spPr>
            <a:xfrm>
              <a:off x="4832450" y="3666000"/>
              <a:ext cx="2110800" cy="957000"/>
            </a:xfrm>
            <a:prstGeom prst="cube">
              <a:avLst>
                <a:gd fmla="val 25000" name="adj"/>
              </a:avLst>
            </a:prstGeom>
            <a:solidFill>
              <a:srgbClr val="9E9E9E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5233358" y="3749075"/>
              <a:ext cx="538200" cy="69300"/>
            </a:xfrm>
            <a:prstGeom prst="ellipse">
              <a:avLst/>
            </a:prstGeom>
            <a:solidFill>
              <a:srgbClr val="DC9A7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6004139" y="3749075"/>
              <a:ext cx="538200" cy="69300"/>
            </a:xfrm>
            <a:prstGeom prst="ellipse">
              <a:avLst/>
            </a:prstGeom>
            <a:solidFill>
              <a:srgbClr val="DC9A7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