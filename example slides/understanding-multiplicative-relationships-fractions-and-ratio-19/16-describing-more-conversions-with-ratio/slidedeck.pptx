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1" r:id="rId4"/>
    <p:sldMasterId id="21474837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4F49B9-DBEA-4DE9-BD46-59BCEDED4CF0}">
  <a:tblStyle styleId="{0C4F49B9-DBEA-4DE9-BD46-59BCEDED4C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a673031b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a673031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9fbf7e84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9fbf7e84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29fbf7e84e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29fbf7e84e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9fbf7e84e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9fbf7e84e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2a57a6454a5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2a57a6454a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9fbf7e84e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9fbf7e84e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29fbf7e84e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9" name="Google Shape;1599;g29fbf7e84e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2a57a6454a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2a57a6454a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29fbf7e84e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29fbf7e84e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2a57a6454a5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a57a6454a5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2a57a6454a5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2a57a6454a5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2a57a6454a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2a57a6454a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2a57a6454a5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a57a6454a5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2a57a6454a5_0_1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2a57a6454a5_0_1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a57a6454a5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a57a6454a5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a57a6454a5_0_1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a57a6454a5_0_1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a57a6454a5_0_2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a57a6454a5_0_2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2a57a6454a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a57a6454a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9fbf7e84e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9fbf7e84e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29fbf7e84e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29fbf7e84e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9fbf7e84e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9fbf7e84e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2a57a6454a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2a57a6454a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9fbf7e84e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9fbf7e84e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29fbf7e84e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29fbf7e84e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2a57a6454a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a57a6454a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g29fbf7e84e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5" name="Google Shape;1895;g29fbf7e84e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29fbf7e84e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29fbf7e84e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29fbf7e84e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29fbf7e84e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2a5fe68551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2a5fe68551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2a5fe68551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a5fe68551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2a5fe68551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2a5fe68551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2a5fe68551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2a5fe68551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29fbf7e84e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9fbf7e84e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2a5fe68551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2a5fe68551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1" name="Google Shape;208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9" name="Google Shape;208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93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3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3.png"/><Relationship Id="rId4" Type="http://schemas.openxmlformats.org/officeDocument/2006/relationships/image" Target="../media/image30.png"/><Relationship Id="rId11" Type="http://schemas.openxmlformats.org/officeDocument/2006/relationships/image" Target="../media/image16.png"/><Relationship Id="rId10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93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1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3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93.png"/><Relationship Id="rId4" Type="http://schemas.openxmlformats.org/officeDocument/2006/relationships/image" Target="../media/image30.png"/><Relationship Id="rId11" Type="http://schemas.openxmlformats.org/officeDocument/2006/relationships/image" Target="../media/image16.png"/><Relationship Id="rId10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4" name="Google Shape;884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0" name="Google Shape;890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8" name="Google Shape;898;p8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9" name="Google Shape;899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81"/>
          <p:cNvCxnSpPr>
            <a:endCxn id="90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7" name="Google Shape;90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6" name="Google Shape;90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0" name="Google Shape;920;p82"/>
          <p:cNvCxnSpPr>
            <a:endCxn id="92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1" name="Google Shape;92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4" name="Google Shape;9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5" name="Google Shape;9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6" name="Google Shape;9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8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8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1" name="Google Shape;9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5" name="Google Shape;945;p83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83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7" name="Google Shape;947;p83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8" name="Google Shape;948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0" name="Google Shape;98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3" name="Google Shape;983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6" name="Google Shape;986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8" name="Google Shape;988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9" name="Google Shape;98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2" name="Google Shape;992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6" name="Google Shape;99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0" name="Google Shape;100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1" name="Google Shape;1001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2" name="Google Shape;1002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5" name="Google Shape;1005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9" name="Google Shape;1009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4" name="Google Shape;1014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5" name="Google Shape;1015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8" name="Google Shape;101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7" name="Google Shape;1027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8" name="Google Shape;102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1" name="Google Shape;1031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3" name="Google Shape;104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4" name="Google Shape;1044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0" name="Google Shape;1050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4" name="Google Shape;10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8" name="Google Shape;1068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9" name="Google Shape;1069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5" name="Google Shape;107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6" name="Google Shape;1086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7" name="Google Shape;108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0" name="Google Shape;1090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1" name="Google Shape;1091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2" name="Google Shape;1092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3" name="Google Shape;109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5" name="Google Shape;1095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6" name="Google Shape;109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8" name="Google Shape;109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9" name="Google Shape;1109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10" name="Google Shape;11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5" name="Google Shape;1115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6" name="Google Shape;111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9" name="Google Shape;111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1" name="Google Shape;11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2" name="Google Shape;1192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6" name="Google Shape;119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9" name="Google Shape;119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5" name="Google Shape;12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8" name="Google Shape;1208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9" name="Google Shape;120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0" name="Google Shape;121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2" name="Google Shape;1212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3" name="Google Shape;121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2" name="Google Shape;1232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5" name="Google Shape;1235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6" name="Google Shape;123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9" name="Google Shape;123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2" name="Google Shape;124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4" name="Google Shape;1244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5" name="Google Shape;124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6" name="Google Shape;124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1" name="Google Shape;125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4" name="Google Shape;1254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7" name="Google Shape;1257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8" name="Google Shape;1258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7" name="Google Shape;1267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4" name="Google Shape;127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0" name="Google Shape;1280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1" name="Google Shape;1281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4" name="Google Shape;135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7" name="Google Shape;1357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" name="Google Shape;1358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9" name="Google Shape;1359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0" name="Google Shape;1360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7" name="Google Shape;136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4" name="Google Shape;1394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3" name="Google Shape;140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5" name="Google Shape;143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9" name="Google Shape;1459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0" name="Google Shape;146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2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3" name="Google Shape;146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5" name="Google Shape;146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9" name="Google Shape;146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1" name="Google Shape;147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2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2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  <p:sldLayoutId id="214748377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5.png"/><Relationship Id="rId6" Type="http://schemas.openxmlformats.org/officeDocument/2006/relationships/image" Target="../media/image9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5.png"/><Relationship Id="rId4" Type="http://schemas.openxmlformats.org/officeDocument/2006/relationships/image" Target="../media/image9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6.png"/><Relationship Id="rId4" Type="http://schemas.openxmlformats.org/officeDocument/2006/relationships/image" Target="../media/image95.png"/><Relationship Id="rId5" Type="http://schemas.openxmlformats.org/officeDocument/2006/relationships/image" Target="../media/image9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6.png"/><Relationship Id="rId4" Type="http://schemas.openxmlformats.org/officeDocument/2006/relationships/image" Target="../media/image95.png"/><Relationship Id="rId5" Type="http://schemas.openxmlformats.org/officeDocument/2006/relationships/image" Target="../media/image9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3.png"/><Relationship Id="rId4" Type="http://schemas.openxmlformats.org/officeDocument/2006/relationships/image" Target="../media/image101.png"/><Relationship Id="rId9" Type="http://schemas.openxmlformats.org/officeDocument/2006/relationships/image" Target="../media/image109.png"/><Relationship Id="rId5" Type="http://schemas.openxmlformats.org/officeDocument/2006/relationships/image" Target="../media/image104.png"/><Relationship Id="rId6" Type="http://schemas.openxmlformats.org/officeDocument/2006/relationships/image" Target="../media/image102.png"/><Relationship Id="rId7" Type="http://schemas.openxmlformats.org/officeDocument/2006/relationships/image" Target="../media/image106.png"/><Relationship Id="rId8" Type="http://schemas.openxmlformats.org/officeDocument/2006/relationships/image" Target="../media/image10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2.png"/><Relationship Id="rId4" Type="http://schemas.openxmlformats.org/officeDocument/2006/relationships/image" Target="../media/image106.png"/><Relationship Id="rId9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9.png"/><Relationship Id="rId7" Type="http://schemas.openxmlformats.org/officeDocument/2006/relationships/image" Target="../media/image103.png"/><Relationship Id="rId8" Type="http://schemas.openxmlformats.org/officeDocument/2006/relationships/image" Target="../media/image10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sp>
        <p:nvSpPr>
          <p:cNvPr id="1496" name="Google Shape;1496;p12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ratio to describe conversions.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/>
        </p:nvSpPr>
        <p:spPr>
          <a:xfrm>
            <a:off x="383150" y="2024800"/>
            <a:ext cx="82260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ratio shows the relative sizes of 2 or more values and allows you to compare a part with another part in a whole.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29"/>
          <p:cNvSpPr txBox="1"/>
          <p:nvPr/>
        </p:nvSpPr>
        <p:spPr>
          <a:xfrm>
            <a:off x="383150" y="836400"/>
            <a:ext cx="70263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Variables are in proportion if they have a constant multiplicative relationship.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13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518" name="Google Shape;1518;p13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519" name="Google Shape;1519;p13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pic>
        <p:nvPicPr>
          <p:cNvPr id="1520" name="Google Shape;1520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00" y="2063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526" name="Google Shape;1526;p13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 maps of two islands with the main road shown.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Which road is the </a:t>
            </a:r>
            <a:r>
              <a:rPr lang="en-GB">
                <a:solidFill>
                  <a:schemeClr val="accent4"/>
                </a:solidFill>
              </a:rPr>
              <a:t>longest</a:t>
            </a:r>
            <a:r>
              <a:rPr lang="en-GB"/>
              <a:t>?</a:t>
            </a:r>
            <a:endParaRPr/>
          </a:p>
        </p:txBody>
      </p:sp>
      <p:pic>
        <p:nvPicPr>
          <p:cNvPr id="1527" name="Google Shape;1527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275" y="1620000"/>
            <a:ext cx="4022599" cy="17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00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131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0" name="Google Shape;1530;p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2697" y="35621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131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2" name="Google Shape;1532;p131"/>
          <p:cNvGrpSpPr/>
          <p:nvPr/>
        </p:nvGrpSpPr>
        <p:grpSpPr>
          <a:xfrm>
            <a:off x="1074302" y="2629893"/>
            <a:ext cx="1566902" cy="860696"/>
            <a:chOff x="1226698" y="2629975"/>
            <a:chExt cx="1566902" cy="1316250"/>
          </a:xfrm>
        </p:grpSpPr>
        <p:pic>
          <p:nvPicPr>
            <p:cNvPr id="1533" name="Google Shape;1533;p131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226698" y="26299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4" name="Google Shape;1534;p131"/>
            <p:cNvSpPr txBox="1"/>
            <p:nvPr/>
          </p:nvSpPr>
          <p:spPr>
            <a:xfrm>
              <a:off x="1394100" y="27092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Well, that is obvious.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5" name="Google Shape;1535;p131"/>
          <p:cNvGrpSpPr/>
          <p:nvPr/>
        </p:nvGrpSpPr>
        <p:grpSpPr>
          <a:xfrm>
            <a:off x="5600600" y="3239575"/>
            <a:ext cx="1955251" cy="1016574"/>
            <a:chOff x="5600600" y="3239575"/>
            <a:chExt cx="1955251" cy="1016574"/>
          </a:xfrm>
        </p:grpSpPr>
        <p:pic>
          <p:nvPicPr>
            <p:cNvPr id="1536" name="Google Shape;1536;p131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>
              <a:off x="5600600" y="3239575"/>
              <a:ext cx="1955251" cy="1016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7" name="Google Shape;1537;p131"/>
            <p:cNvSpPr txBox="1"/>
            <p:nvPr/>
          </p:nvSpPr>
          <p:spPr>
            <a:xfrm>
              <a:off x="5722325" y="3326725"/>
              <a:ext cx="1740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I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’m not sure it is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8" name="Google Shape;1538;p131"/>
          <p:cNvGrpSpPr/>
          <p:nvPr/>
        </p:nvGrpSpPr>
        <p:grpSpPr>
          <a:xfrm>
            <a:off x="1045552" y="2346707"/>
            <a:ext cx="1566902" cy="1176991"/>
            <a:chOff x="1226698" y="2629975"/>
            <a:chExt cx="1566902" cy="1316250"/>
          </a:xfrm>
        </p:grpSpPr>
        <p:pic>
          <p:nvPicPr>
            <p:cNvPr id="1539" name="Google Shape;1539;p131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226698" y="26299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0" name="Google Shape;1540;p131"/>
            <p:cNvSpPr txBox="1"/>
            <p:nvPr/>
          </p:nvSpPr>
          <p:spPr>
            <a:xfrm>
              <a:off x="1394100" y="27092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Why do you say that?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1" name="Google Shape;1541;p131"/>
          <p:cNvGrpSpPr/>
          <p:nvPr/>
        </p:nvGrpSpPr>
        <p:grpSpPr>
          <a:xfrm>
            <a:off x="5600600" y="3030975"/>
            <a:ext cx="1955251" cy="1225175"/>
            <a:chOff x="5600600" y="3030975"/>
            <a:chExt cx="1955251" cy="1225175"/>
          </a:xfrm>
        </p:grpSpPr>
        <p:pic>
          <p:nvPicPr>
            <p:cNvPr id="1542" name="Google Shape;1542;p131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>
              <a:off x="5600600" y="3030975"/>
              <a:ext cx="1955251" cy="122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131"/>
            <p:cNvSpPr txBox="1"/>
            <p:nvPr/>
          </p:nvSpPr>
          <p:spPr>
            <a:xfrm>
              <a:off x="5722325" y="3121019"/>
              <a:ext cx="1740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don’t know the scale of the maps.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549" name="Google Shape;1549;p132"/>
          <p:cNvSpPr txBox="1"/>
          <p:nvPr>
            <p:ph idx="1" type="body"/>
          </p:nvPr>
        </p:nvSpPr>
        <p:spPr>
          <a:xfrm>
            <a:off x="5154600" y="2530775"/>
            <a:ext cx="1873800" cy="9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cm = 18 km</a:t>
            </a:r>
            <a:endParaRPr/>
          </a:p>
        </p:txBody>
      </p:sp>
      <p:pic>
        <p:nvPicPr>
          <p:cNvPr id="1550" name="Google Shape;1550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7275" y="781800"/>
            <a:ext cx="4022599" cy="17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32"/>
          <p:cNvSpPr txBox="1"/>
          <p:nvPr>
            <p:ph idx="1" type="body"/>
          </p:nvPr>
        </p:nvSpPr>
        <p:spPr>
          <a:xfrm>
            <a:off x="2358000" y="2530775"/>
            <a:ext cx="1839300" cy="8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cm = 30 km</a:t>
            </a:r>
            <a:endParaRPr/>
          </a:p>
        </p:txBody>
      </p:sp>
      <p:sp>
        <p:nvSpPr>
          <p:cNvPr id="1552" name="Google Shape;1552;p132"/>
          <p:cNvSpPr txBox="1"/>
          <p:nvPr>
            <p:ph idx="1" type="body"/>
          </p:nvPr>
        </p:nvSpPr>
        <p:spPr>
          <a:xfrm>
            <a:off x="324000" y="3545500"/>
            <a:ext cx="8093400" cy="12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Maps must have a scale.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there is no scale, comparisons between them cannot be made.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838" y="1713475"/>
            <a:ext cx="3308325" cy="141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559" name="Google Shape;1559;p133"/>
          <p:cNvSpPr txBox="1"/>
          <p:nvPr>
            <p:ph idx="1" type="body"/>
          </p:nvPr>
        </p:nvSpPr>
        <p:spPr>
          <a:xfrm>
            <a:off x="324000" y="759963"/>
            <a:ext cx="8237700" cy="8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road on the map for island A is 2.5 cm long and the road on island B is 4 cm long.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has the </a:t>
            </a:r>
            <a:r>
              <a:rPr lang="en-GB" sz="2000">
                <a:solidFill>
                  <a:schemeClr val="accent4"/>
                </a:solidFill>
              </a:rPr>
              <a:t>longest</a:t>
            </a:r>
            <a:r>
              <a:rPr lang="en-GB" sz="2000"/>
              <a:t> road?</a:t>
            </a:r>
            <a:endParaRPr sz="2000"/>
          </a:p>
        </p:txBody>
      </p:sp>
      <p:sp>
        <p:nvSpPr>
          <p:cNvPr id="1560" name="Google Shape;1560;p133"/>
          <p:cNvSpPr txBox="1"/>
          <p:nvPr>
            <p:ph idx="1" type="body"/>
          </p:nvPr>
        </p:nvSpPr>
        <p:spPr>
          <a:xfrm>
            <a:off x="6246675" y="1898375"/>
            <a:ext cx="1839300" cy="9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cm = 18 km</a:t>
            </a:r>
            <a:endParaRPr/>
          </a:p>
        </p:txBody>
      </p:sp>
      <p:sp>
        <p:nvSpPr>
          <p:cNvPr id="1561" name="Google Shape;1561;p133"/>
          <p:cNvSpPr txBox="1"/>
          <p:nvPr>
            <p:ph idx="1" type="body"/>
          </p:nvPr>
        </p:nvSpPr>
        <p:spPr>
          <a:xfrm>
            <a:off x="1102400" y="1898375"/>
            <a:ext cx="1839300" cy="8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cm = 30 km</a:t>
            </a:r>
            <a:endParaRPr/>
          </a:p>
        </p:txBody>
      </p:sp>
      <p:graphicFrame>
        <p:nvGraphicFramePr>
          <p:cNvPr id="1562" name="Google Shape;1562;p133"/>
          <p:cNvGraphicFramePr/>
          <p:nvPr/>
        </p:nvGraphicFramePr>
        <p:xfrm>
          <a:off x="1501256" y="3012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777900"/>
                <a:gridCol w="777900"/>
              </a:tblGrid>
              <a:tr h="61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(km)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3" name="Google Shape;1563;p133"/>
          <p:cNvGraphicFramePr/>
          <p:nvPr/>
        </p:nvGraphicFramePr>
        <p:xfrm>
          <a:off x="6054400" y="301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786425"/>
                <a:gridCol w="786425"/>
              </a:tblGrid>
              <a:tr h="61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(km)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4" name="Google Shape;1564;p133"/>
          <p:cNvGraphicFramePr/>
          <p:nvPr/>
        </p:nvGraphicFramePr>
        <p:xfrm>
          <a:off x="1501256" y="30123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777900"/>
                <a:gridCol w="777900"/>
              </a:tblGrid>
              <a:tr h="61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(km)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5" name="Google Shape;1565;p133"/>
          <p:cNvGraphicFramePr/>
          <p:nvPr/>
        </p:nvGraphicFramePr>
        <p:xfrm>
          <a:off x="6054400" y="301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786425"/>
                <a:gridCol w="786425"/>
              </a:tblGrid>
              <a:tr h="61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(km)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6" name="Google Shape;1566;p133"/>
          <p:cNvSpPr/>
          <p:nvPr/>
        </p:nvSpPr>
        <p:spPr>
          <a:xfrm flipH="1" rot="-5400000">
            <a:off x="1360906" y="3684712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33"/>
          <p:cNvSpPr/>
          <p:nvPr/>
        </p:nvSpPr>
        <p:spPr>
          <a:xfrm rot="5400000">
            <a:off x="2662006" y="3678562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133"/>
          <p:cNvSpPr txBox="1"/>
          <p:nvPr>
            <p:ph idx="1" type="body"/>
          </p:nvPr>
        </p:nvSpPr>
        <p:spPr>
          <a:xfrm>
            <a:off x="636431" y="3937312"/>
            <a:ext cx="6369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2.5</a:t>
            </a:r>
            <a:endParaRPr/>
          </a:p>
        </p:txBody>
      </p:sp>
      <p:sp>
        <p:nvSpPr>
          <p:cNvPr id="1569" name="Google Shape;1569;p133"/>
          <p:cNvSpPr txBox="1"/>
          <p:nvPr>
            <p:ph idx="1" type="body"/>
          </p:nvPr>
        </p:nvSpPr>
        <p:spPr>
          <a:xfrm>
            <a:off x="3269231" y="3937312"/>
            <a:ext cx="6369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2.5</a:t>
            </a:r>
            <a:endParaRPr/>
          </a:p>
        </p:txBody>
      </p:sp>
      <p:sp>
        <p:nvSpPr>
          <p:cNvPr id="1570" name="Google Shape;1570;p133"/>
          <p:cNvSpPr/>
          <p:nvPr/>
        </p:nvSpPr>
        <p:spPr>
          <a:xfrm flipH="1" rot="-5400000">
            <a:off x="5849075" y="3745650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133"/>
          <p:cNvSpPr/>
          <p:nvPr/>
        </p:nvSpPr>
        <p:spPr>
          <a:xfrm rot="5400000">
            <a:off x="7302575" y="3739500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33"/>
          <p:cNvSpPr txBox="1"/>
          <p:nvPr>
            <p:ph idx="1" type="body"/>
          </p:nvPr>
        </p:nvSpPr>
        <p:spPr>
          <a:xfrm>
            <a:off x="5336738" y="3967325"/>
            <a:ext cx="4248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4</a:t>
            </a:r>
            <a:endParaRPr/>
          </a:p>
        </p:txBody>
      </p:sp>
      <p:sp>
        <p:nvSpPr>
          <p:cNvPr id="1573" name="Google Shape;1573;p133"/>
          <p:cNvSpPr txBox="1"/>
          <p:nvPr>
            <p:ph idx="1" type="body"/>
          </p:nvPr>
        </p:nvSpPr>
        <p:spPr>
          <a:xfrm>
            <a:off x="7909800" y="3967319"/>
            <a:ext cx="6369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4</a:t>
            </a:r>
            <a:endParaRPr/>
          </a:p>
        </p:txBody>
      </p:sp>
      <p:sp>
        <p:nvSpPr>
          <p:cNvPr id="1574" name="Google Shape;1574;p133"/>
          <p:cNvSpPr txBox="1"/>
          <p:nvPr>
            <p:ph idx="1" type="body"/>
          </p:nvPr>
        </p:nvSpPr>
        <p:spPr>
          <a:xfrm>
            <a:off x="324001" y="4472400"/>
            <a:ext cx="47895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road on island A is the longest.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5" name="Google Shape;1575;p133"/>
          <p:cNvSpPr txBox="1"/>
          <p:nvPr>
            <p:ph idx="1" type="body"/>
          </p:nvPr>
        </p:nvSpPr>
        <p:spPr>
          <a:xfrm>
            <a:off x="2619237" y="2078100"/>
            <a:ext cx="10125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Island A</a:t>
            </a:r>
            <a:endParaRPr sz="1800"/>
          </a:p>
        </p:txBody>
      </p:sp>
      <p:sp>
        <p:nvSpPr>
          <p:cNvPr id="1576" name="Google Shape;1576;p133"/>
          <p:cNvSpPr txBox="1"/>
          <p:nvPr>
            <p:ph idx="1" type="body"/>
          </p:nvPr>
        </p:nvSpPr>
        <p:spPr>
          <a:xfrm>
            <a:off x="4227250" y="1795637"/>
            <a:ext cx="10125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Island B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582" name="Google Shape;1582;p13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 road on a map measures 10 cm long and represents 6000 m.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What is the </a:t>
            </a:r>
            <a:r>
              <a:rPr lang="en-GB" sz="2100">
                <a:solidFill>
                  <a:schemeClr val="accent4"/>
                </a:solidFill>
              </a:rPr>
              <a:t>scale</a:t>
            </a:r>
            <a:r>
              <a:rPr lang="en-GB" sz="2100"/>
              <a:t> of the map?</a:t>
            </a:r>
            <a:endParaRPr sz="2100"/>
          </a:p>
        </p:txBody>
      </p:sp>
      <p:graphicFrame>
        <p:nvGraphicFramePr>
          <p:cNvPr id="1583" name="Google Shape;1583;p134"/>
          <p:cNvGraphicFramePr/>
          <p:nvPr/>
        </p:nvGraphicFramePr>
        <p:xfrm>
          <a:off x="2387150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584" name="Google Shape;1584;p134"/>
          <p:cNvGrpSpPr/>
          <p:nvPr/>
        </p:nvGrpSpPr>
        <p:grpSpPr>
          <a:xfrm>
            <a:off x="6434800" y="2419151"/>
            <a:ext cx="1252413" cy="585300"/>
            <a:chOff x="6434800" y="2723951"/>
            <a:chExt cx="1252413" cy="585300"/>
          </a:xfrm>
        </p:grpSpPr>
        <p:sp>
          <p:nvSpPr>
            <p:cNvPr id="1585" name="Google Shape;1585;p134"/>
            <p:cNvSpPr/>
            <p:nvPr/>
          </p:nvSpPr>
          <p:spPr>
            <a:xfrm rot="5400000">
              <a:off x="6491800" y="2666951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6" name="Google Shape;1586;p134"/>
            <p:cNvGrpSpPr/>
            <p:nvPr/>
          </p:nvGrpSpPr>
          <p:grpSpPr>
            <a:xfrm>
              <a:off x="7231175" y="2771525"/>
              <a:ext cx="456038" cy="528350"/>
              <a:chOff x="7919050" y="2868825"/>
              <a:chExt cx="456038" cy="528350"/>
            </a:xfrm>
          </p:grpSpPr>
          <p:sp>
            <p:nvSpPr>
              <p:cNvPr id="1587" name="Google Shape;1587;p134"/>
              <p:cNvSpPr txBox="1"/>
              <p:nvPr/>
            </p:nvSpPr>
            <p:spPr>
              <a:xfrm>
                <a:off x="7919050" y="2926500"/>
                <a:ext cx="1929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1588" name="Google Shape;1588;p134" title="one tenth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090013" y="2868825"/>
                <a:ext cx="285075" cy="528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589" name="Google Shape;1589;p134"/>
          <p:cNvGraphicFramePr/>
          <p:nvPr/>
        </p:nvGraphicFramePr>
        <p:xfrm>
          <a:off x="2387150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0" name="Google Shape;1590;p134"/>
          <p:cNvSpPr txBox="1"/>
          <p:nvPr>
            <p:ph idx="1" type="body"/>
          </p:nvPr>
        </p:nvSpPr>
        <p:spPr>
          <a:xfrm>
            <a:off x="2952000" y="3586325"/>
            <a:ext cx="36306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scale is 1 cm : 600 m</a:t>
            </a:r>
            <a:endParaRPr/>
          </a:p>
        </p:txBody>
      </p:sp>
      <p:sp>
        <p:nvSpPr>
          <p:cNvPr id="1591" name="Google Shape;1591;p134"/>
          <p:cNvSpPr txBox="1"/>
          <p:nvPr>
            <p:ph idx="1" type="body"/>
          </p:nvPr>
        </p:nvSpPr>
        <p:spPr>
          <a:xfrm>
            <a:off x="324000" y="4051150"/>
            <a:ext cx="4170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Why can’t we just </a:t>
            </a:r>
            <a:r>
              <a:rPr lang="en-GB" sz="2100"/>
              <a:t>write</a:t>
            </a:r>
            <a:r>
              <a:rPr lang="en-GB" sz="2100"/>
              <a:t> 1 : 600?</a:t>
            </a:r>
            <a:endParaRPr sz="2100"/>
          </a:p>
        </p:txBody>
      </p:sp>
      <p:sp>
        <p:nvSpPr>
          <p:cNvPr id="1592" name="Google Shape;1592;p134"/>
          <p:cNvSpPr txBox="1"/>
          <p:nvPr>
            <p:ph idx="1" type="body"/>
          </p:nvPr>
        </p:nvSpPr>
        <p:spPr>
          <a:xfrm>
            <a:off x="324000" y="4425850"/>
            <a:ext cx="4170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Because the units are different.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3" name="Google Shape;1593;p134"/>
          <p:cNvSpPr/>
          <p:nvPr/>
        </p:nvSpPr>
        <p:spPr>
          <a:xfrm flipH="1" rot="-5400000">
            <a:off x="2133850" y="23396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4" name="Google Shape;1594;p134"/>
          <p:cNvGrpSpPr/>
          <p:nvPr/>
        </p:nvGrpSpPr>
        <p:grpSpPr>
          <a:xfrm>
            <a:off x="1522925" y="2419156"/>
            <a:ext cx="456038" cy="528350"/>
            <a:chOff x="5790125" y="3036500"/>
            <a:chExt cx="456038" cy="528350"/>
          </a:xfrm>
        </p:grpSpPr>
        <p:sp>
          <p:nvSpPr>
            <p:cNvPr id="1595" name="Google Shape;1595;p134"/>
            <p:cNvSpPr txBox="1"/>
            <p:nvPr/>
          </p:nvSpPr>
          <p:spPr>
            <a:xfrm>
              <a:off x="5790125" y="3094175"/>
              <a:ext cx="1929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596" name="Google Shape;1596;p134" title="one ten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61088" y="3036500"/>
              <a:ext cx="285075" cy="528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602" name="Google Shape;1602;p135"/>
          <p:cNvSpPr txBox="1"/>
          <p:nvPr>
            <p:ph idx="1" type="body"/>
          </p:nvPr>
        </p:nvSpPr>
        <p:spPr>
          <a:xfrm>
            <a:off x="324000" y="606900"/>
            <a:ext cx="8237700" cy="9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Often scales do not contain any units.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would the </a:t>
            </a:r>
            <a:r>
              <a:rPr lang="en-GB">
                <a:solidFill>
                  <a:schemeClr val="accent4"/>
                </a:solidFill>
              </a:rPr>
              <a:t>scale</a:t>
            </a:r>
            <a:r>
              <a:rPr lang="en-GB"/>
              <a:t> be in the form 1 :</a:t>
            </a:r>
            <a:r>
              <a:rPr lang="en-GB" u="sng"/>
              <a:t>        </a:t>
            </a:r>
            <a:r>
              <a:rPr lang="en-GB"/>
              <a:t>  without units?</a:t>
            </a:r>
            <a:endParaRPr/>
          </a:p>
        </p:txBody>
      </p:sp>
      <p:graphicFrame>
        <p:nvGraphicFramePr>
          <p:cNvPr id="1603" name="Google Shape;1603;p135"/>
          <p:cNvGraphicFramePr/>
          <p:nvPr/>
        </p:nvGraphicFramePr>
        <p:xfrm>
          <a:off x="238715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(m)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4" name="Google Shape;1604;p135"/>
          <p:cNvGraphicFramePr/>
          <p:nvPr/>
        </p:nvGraphicFramePr>
        <p:xfrm>
          <a:off x="2387150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5" name="Google Shape;1605;p135"/>
          <p:cNvSpPr/>
          <p:nvPr/>
        </p:nvSpPr>
        <p:spPr>
          <a:xfrm flipH="1" rot="-5400000">
            <a:off x="1905250" y="34826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35"/>
          <p:cNvSpPr txBox="1"/>
          <p:nvPr/>
        </p:nvSpPr>
        <p:spPr>
          <a:xfrm>
            <a:off x="1065725" y="3619825"/>
            <a:ext cx="727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600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07" name="Google Shape;1607;p135"/>
          <p:cNvGrpSpPr/>
          <p:nvPr/>
        </p:nvGrpSpPr>
        <p:grpSpPr>
          <a:xfrm>
            <a:off x="6434800" y="3562151"/>
            <a:ext cx="1523875" cy="585300"/>
            <a:chOff x="6434800" y="2723951"/>
            <a:chExt cx="1523875" cy="585300"/>
          </a:xfrm>
        </p:grpSpPr>
        <p:sp>
          <p:nvSpPr>
            <p:cNvPr id="1608" name="Google Shape;1608;p135"/>
            <p:cNvSpPr/>
            <p:nvPr/>
          </p:nvSpPr>
          <p:spPr>
            <a:xfrm rot="5400000">
              <a:off x="6491800" y="2666951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135"/>
            <p:cNvSpPr txBox="1"/>
            <p:nvPr/>
          </p:nvSpPr>
          <p:spPr>
            <a:xfrm>
              <a:off x="7231175" y="2829200"/>
              <a:ext cx="7275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600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0" name="Google Shape;1610;p135"/>
          <p:cNvSpPr txBox="1"/>
          <p:nvPr>
            <p:ph idx="1" type="body"/>
          </p:nvPr>
        </p:nvSpPr>
        <p:spPr>
          <a:xfrm>
            <a:off x="3186300" y="4409150"/>
            <a:ext cx="27714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scale is 1 : 60 000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611" name="Google Shape;1611;p135"/>
          <p:cNvGraphicFramePr/>
          <p:nvPr/>
        </p:nvGraphicFramePr>
        <p:xfrm>
          <a:off x="2387150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60 000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617" name="Google Shape;1617;p13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road on a map is 5 cm long and represents 2500 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000">
                <a:solidFill>
                  <a:schemeClr val="accent4"/>
                </a:solidFill>
              </a:rPr>
              <a:t>scale</a:t>
            </a:r>
            <a:r>
              <a:rPr lang="en-GB" sz="2000"/>
              <a:t> of the map?</a:t>
            </a:r>
            <a:endParaRPr sz="2000"/>
          </a:p>
        </p:txBody>
      </p:sp>
      <p:graphicFrame>
        <p:nvGraphicFramePr>
          <p:cNvPr id="1618" name="Google Shape;1618;p136"/>
          <p:cNvGraphicFramePr/>
          <p:nvPr/>
        </p:nvGraphicFramePr>
        <p:xfrm>
          <a:off x="976430" y="283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553200"/>
                <a:gridCol w="1553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(cm)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0 000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9" name="Google Shape;1619;p136"/>
          <p:cNvGraphicFramePr/>
          <p:nvPr/>
        </p:nvGraphicFramePr>
        <p:xfrm>
          <a:off x="976430" y="283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553200"/>
                <a:gridCol w="1553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 (cm)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 (cm)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250 000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0" name="Google Shape;1620;p136"/>
          <p:cNvSpPr txBox="1"/>
          <p:nvPr>
            <p:ph idx="1" type="body"/>
          </p:nvPr>
        </p:nvSpPr>
        <p:spPr>
          <a:xfrm>
            <a:off x="976425" y="4445700"/>
            <a:ext cx="28155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scale is 1 : 50 000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621" name="Google Shape;1621;p136"/>
          <p:cNvGrpSpPr/>
          <p:nvPr/>
        </p:nvGrpSpPr>
        <p:grpSpPr>
          <a:xfrm>
            <a:off x="3639805" y="3516163"/>
            <a:ext cx="1141100" cy="620036"/>
            <a:chOff x="6434800" y="2401775"/>
            <a:chExt cx="1141100" cy="620036"/>
          </a:xfrm>
        </p:grpSpPr>
        <p:sp>
          <p:nvSpPr>
            <p:cNvPr id="1622" name="Google Shape;1622;p136"/>
            <p:cNvSpPr/>
            <p:nvPr/>
          </p:nvSpPr>
          <p:spPr>
            <a:xfrm rot="5400000">
              <a:off x="6491800" y="2362151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3" name="Google Shape;1623;p136"/>
            <p:cNvGrpSpPr/>
            <p:nvPr/>
          </p:nvGrpSpPr>
          <p:grpSpPr>
            <a:xfrm>
              <a:off x="7190100" y="2401775"/>
              <a:ext cx="385800" cy="620036"/>
              <a:chOff x="1218125" y="2373163"/>
              <a:chExt cx="385800" cy="620036"/>
            </a:xfrm>
          </p:grpSpPr>
          <p:sp>
            <p:nvSpPr>
              <p:cNvPr id="1624" name="Google Shape;1624;p136"/>
              <p:cNvSpPr txBox="1"/>
              <p:nvPr/>
            </p:nvSpPr>
            <p:spPr>
              <a:xfrm>
                <a:off x="1218125" y="2476831"/>
                <a:ext cx="1929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1}{5}&quot;&gt;&lt;mfrac&gt;&lt;mn&gt;1&lt;/mn&gt;&lt;mn&gt;5&lt;/mn&gt;&lt;/mfrac&gt;&lt;/math&gt;" id="1625" name="Google Shape;1625;p136" title="one fifth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411025" y="2373163"/>
                <a:ext cx="192900" cy="6200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626" name="Google Shape;1626;p136"/>
          <p:cNvSpPr/>
          <p:nvPr/>
        </p:nvSpPr>
        <p:spPr>
          <a:xfrm flipH="1" rot="-5400000">
            <a:off x="799330" y="34826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7" name="Google Shape;1627;p136"/>
          <p:cNvGrpSpPr/>
          <p:nvPr/>
        </p:nvGrpSpPr>
        <p:grpSpPr>
          <a:xfrm>
            <a:off x="340805" y="3516163"/>
            <a:ext cx="385800" cy="620036"/>
            <a:chOff x="1446725" y="2373163"/>
            <a:chExt cx="385800" cy="620036"/>
          </a:xfrm>
        </p:grpSpPr>
        <p:sp>
          <p:nvSpPr>
            <p:cNvPr id="1628" name="Google Shape;1628;p136"/>
            <p:cNvSpPr txBox="1"/>
            <p:nvPr/>
          </p:nvSpPr>
          <p:spPr>
            <a:xfrm>
              <a:off x="1446725" y="2476831"/>
              <a:ext cx="1929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629" name="Google Shape;1629;p136" title="one fif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39625" y="2373163"/>
              <a:ext cx="192900" cy="62003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30" name="Google Shape;1630;p136"/>
          <p:cNvGraphicFramePr/>
          <p:nvPr/>
        </p:nvGraphicFramePr>
        <p:xfrm>
          <a:off x="5438954" y="124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124225"/>
                <a:gridCol w="112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1" name="Google Shape;1631;p136"/>
          <p:cNvSpPr txBox="1"/>
          <p:nvPr>
            <p:ph idx="1" type="body"/>
          </p:nvPr>
        </p:nvSpPr>
        <p:spPr>
          <a:xfrm>
            <a:off x="324000" y="1647975"/>
            <a:ext cx="3790200" cy="6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first thing we need to do is work out 2500 m in cm.</a:t>
            </a:r>
            <a:endParaRPr sz="2000"/>
          </a:p>
        </p:txBody>
      </p:sp>
      <p:sp>
        <p:nvSpPr>
          <p:cNvPr id="1632" name="Google Shape;1632;p136"/>
          <p:cNvSpPr txBox="1"/>
          <p:nvPr>
            <p:ph idx="1" type="body"/>
          </p:nvPr>
        </p:nvSpPr>
        <p:spPr>
          <a:xfrm>
            <a:off x="5254475" y="2890050"/>
            <a:ext cx="3565500" cy="6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know that 1 m is equivalent to 100 cm.</a:t>
            </a:r>
            <a:endParaRPr sz="2000"/>
          </a:p>
        </p:txBody>
      </p:sp>
      <p:sp>
        <p:nvSpPr>
          <p:cNvPr id="1633" name="Google Shape;1633;p136"/>
          <p:cNvSpPr/>
          <p:nvPr/>
        </p:nvSpPr>
        <p:spPr>
          <a:xfrm rot="-5167289">
            <a:off x="5250281" y="1886817"/>
            <a:ext cx="585441" cy="686776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136"/>
          <p:cNvSpPr/>
          <p:nvPr/>
        </p:nvSpPr>
        <p:spPr>
          <a:xfrm flipH="1" rot="5400000">
            <a:off x="7366197" y="186404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35" name="Google Shape;1635;p136"/>
          <p:cNvGraphicFramePr/>
          <p:nvPr/>
        </p:nvGraphicFramePr>
        <p:xfrm>
          <a:off x="5438950" y="124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124225"/>
                <a:gridCol w="112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36" name="Google Shape;1636;p136"/>
          <p:cNvGraphicFramePr/>
          <p:nvPr/>
        </p:nvGraphicFramePr>
        <p:xfrm>
          <a:off x="5438950" y="124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124225"/>
                <a:gridCol w="112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250 000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7" name="Google Shape;1637;p136"/>
          <p:cNvSpPr txBox="1"/>
          <p:nvPr/>
        </p:nvSpPr>
        <p:spPr>
          <a:xfrm>
            <a:off x="4438800" y="2020800"/>
            <a:ext cx="1300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2500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136"/>
          <p:cNvSpPr txBox="1"/>
          <p:nvPr/>
        </p:nvSpPr>
        <p:spPr>
          <a:xfrm>
            <a:off x="8056377" y="2020800"/>
            <a:ext cx="763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2500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644" name="Google Shape;1644;p137"/>
          <p:cNvSpPr txBox="1"/>
          <p:nvPr>
            <p:ph idx="1" type="body"/>
          </p:nvPr>
        </p:nvSpPr>
        <p:spPr>
          <a:xfrm>
            <a:off x="324000" y="759300"/>
            <a:ext cx="6582300" cy="2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each of the following to the correct scale:</a:t>
            </a:r>
            <a:endParaRPr/>
          </a:p>
        </p:txBody>
      </p:sp>
      <p:sp>
        <p:nvSpPr>
          <p:cNvPr id="1645" name="Google Shape;1645;p137"/>
          <p:cNvSpPr txBox="1"/>
          <p:nvPr>
            <p:ph idx="1" type="body"/>
          </p:nvPr>
        </p:nvSpPr>
        <p:spPr>
          <a:xfrm>
            <a:off x="1119750" y="1223225"/>
            <a:ext cx="1858500" cy="34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cm = 15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6 cm = 3 km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5 cm = 250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4 cm = 20 km</a:t>
            </a:r>
            <a:endParaRPr/>
          </a:p>
        </p:txBody>
      </p:sp>
      <p:sp>
        <p:nvSpPr>
          <p:cNvPr id="1646" name="Google Shape;1646;p137"/>
          <p:cNvSpPr txBox="1"/>
          <p:nvPr>
            <p:ph idx="1" type="body"/>
          </p:nvPr>
        </p:nvSpPr>
        <p:spPr>
          <a:xfrm>
            <a:off x="4489350" y="1223225"/>
            <a:ext cx="1858500" cy="34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 : 50 000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 : 5000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 : 500 000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: 500</a:t>
            </a:r>
            <a:endParaRPr/>
          </a:p>
        </p:txBody>
      </p:sp>
      <p:sp>
        <p:nvSpPr>
          <p:cNvPr id="1647" name="Google Shape;1647;p137"/>
          <p:cNvSpPr txBox="1"/>
          <p:nvPr>
            <p:ph idx="1" type="body"/>
          </p:nvPr>
        </p:nvSpPr>
        <p:spPr>
          <a:xfrm>
            <a:off x="6485400" y="1297500"/>
            <a:ext cx="1965900" cy="1725000"/>
          </a:xfrm>
          <a:prstGeom prst="rect">
            <a:avLst/>
          </a:prstGeom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conversions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 m = 100 cm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km = 1000 m</a:t>
            </a:r>
            <a:endParaRPr/>
          </a:p>
        </p:txBody>
      </p:sp>
      <p:cxnSp>
        <p:nvCxnSpPr>
          <p:cNvPr id="1648" name="Google Shape;1648;p137"/>
          <p:cNvCxnSpPr/>
          <p:nvPr/>
        </p:nvCxnSpPr>
        <p:spPr>
          <a:xfrm>
            <a:off x="3060150" y="1381275"/>
            <a:ext cx="1274400" cy="3128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137"/>
          <p:cNvCxnSpPr/>
          <p:nvPr/>
        </p:nvCxnSpPr>
        <p:spPr>
          <a:xfrm flipH="1" rot="10800000">
            <a:off x="3096600" y="1388875"/>
            <a:ext cx="1222800" cy="1022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137"/>
          <p:cNvCxnSpPr/>
          <p:nvPr/>
        </p:nvCxnSpPr>
        <p:spPr>
          <a:xfrm flipH="1" rot="10800000">
            <a:off x="3096600" y="2403850"/>
            <a:ext cx="1230300" cy="1052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137"/>
          <p:cNvCxnSpPr/>
          <p:nvPr/>
        </p:nvCxnSpPr>
        <p:spPr>
          <a:xfrm flipH="1" rot="10800000">
            <a:off x="3090675" y="3480000"/>
            <a:ext cx="1228800" cy="105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657" name="Google Shape;1657;p138"/>
          <p:cNvSpPr txBox="1"/>
          <p:nvPr>
            <p:ph idx="1" type="body"/>
          </p:nvPr>
        </p:nvSpPr>
        <p:spPr>
          <a:xfrm>
            <a:off x="324000" y="759300"/>
            <a:ext cx="8237700" cy="14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scale on a map is 1 : 50 000.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distance between two places on the map is 7 cm.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/>
              <a:t>distance</a:t>
            </a:r>
            <a:r>
              <a:rPr lang="en-GB"/>
              <a:t> in </a:t>
            </a:r>
            <a:r>
              <a:rPr lang="en-GB">
                <a:solidFill>
                  <a:schemeClr val="accent4"/>
                </a:solidFill>
              </a:rPr>
              <a:t>real life</a:t>
            </a:r>
            <a:r>
              <a:rPr lang="en-GB"/>
              <a:t> in kilometres?</a:t>
            </a:r>
            <a:endParaRPr/>
          </a:p>
        </p:txBody>
      </p:sp>
      <p:graphicFrame>
        <p:nvGraphicFramePr>
          <p:cNvPr id="1658" name="Google Shape;1658;p138"/>
          <p:cNvGraphicFramePr/>
          <p:nvPr/>
        </p:nvGraphicFramePr>
        <p:xfrm>
          <a:off x="238715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9" name="Google Shape;1659;p138"/>
          <p:cNvSpPr/>
          <p:nvPr/>
        </p:nvSpPr>
        <p:spPr>
          <a:xfrm flipH="1" rot="-5400000">
            <a:off x="1905250" y="30254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138"/>
          <p:cNvSpPr txBox="1"/>
          <p:nvPr>
            <p:ph idx="1" type="body"/>
          </p:nvPr>
        </p:nvSpPr>
        <p:spPr>
          <a:xfrm>
            <a:off x="3509400" y="4320000"/>
            <a:ext cx="21252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350 000 cm.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1" name="Google Shape;1661;p138"/>
          <p:cNvSpPr txBox="1"/>
          <p:nvPr/>
        </p:nvSpPr>
        <p:spPr>
          <a:xfrm>
            <a:off x="1294325" y="3162625"/>
            <a:ext cx="390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7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2" name="Google Shape;1662;p138"/>
          <p:cNvGrpSpPr/>
          <p:nvPr/>
        </p:nvGrpSpPr>
        <p:grpSpPr>
          <a:xfrm>
            <a:off x="6587200" y="3076325"/>
            <a:ext cx="1341500" cy="585300"/>
            <a:chOff x="6434800" y="2419151"/>
            <a:chExt cx="1341500" cy="585300"/>
          </a:xfrm>
        </p:grpSpPr>
        <p:sp>
          <p:nvSpPr>
            <p:cNvPr id="1663" name="Google Shape;1663;p138"/>
            <p:cNvSpPr/>
            <p:nvPr/>
          </p:nvSpPr>
          <p:spPr>
            <a:xfrm rot="5400000">
              <a:off x="6491800" y="2362151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38"/>
            <p:cNvSpPr txBox="1"/>
            <p:nvPr/>
          </p:nvSpPr>
          <p:spPr>
            <a:xfrm>
              <a:off x="7266300" y="2505450"/>
              <a:ext cx="5100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7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665" name="Google Shape;1665;p138"/>
          <p:cNvGraphicFramePr/>
          <p:nvPr/>
        </p:nvGraphicFramePr>
        <p:xfrm>
          <a:off x="238715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350 000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139"/>
          <p:cNvSpPr/>
          <p:nvPr/>
        </p:nvSpPr>
        <p:spPr>
          <a:xfrm>
            <a:off x="5697868" y="1722300"/>
            <a:ext cx="810300" cy="335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39"/>
          <p:cNvSpPr/>
          <p:nvPr/>
        </p:nvSpPr>
        <p:spPr>
          <a:xfrm>
            <a:off x="1399398" y="1706925"/>
            <a:ext cx="634200" cy="335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2" name="Google Shape;1672;p139"/>
          <p:cNvGraphicFramePr/>
          <p:nvPr/>
        </p:nvGraphicFramePr>
        <p:xfrm>
          <a:off x="1294988" y="164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3" name="Google Shape;1673;p139"/>
          <p:cNvSpPr txBox="1"/>
          <p:nvPr>
            <p:ph idx="1" type="body"/>
          </p:nvPr>
        </p:nvSpPr>
        <p:spPr>
          <a:xfrm>
            <a:off x="324000" y="759300"/>
            <a:ext cx="8237700" cy="3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350 000 cm in kilometres?</a:t>
            </a:r>
            <a:endParaRPr/>
          </a:p>
        </p:txBody>
      </p:sp>
      <p:sp>
        <p:nvSpPr>
          <p:cNvPr id="1674" name="Google Shape;1674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675" name="Google Shape;1675;p139"/>
          <p:cNvSpPr txBox="1"/>
          <p:nvPr/>
        </p:nvSpPr>
        <p:spPr>
          <a:xfrm>
            <a:off x="5084750" y="32121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9"/>
          <p:cNvSpPr txBox="1"/>
          <p:nvPr/>
        </p:nvSpPr>
        <p:spPr>
          <a:xfrm>
            <a:off x="953350" y="31893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7" name="Google Shape;1677;p139"/>
          <p:cNvCxnSpPr/>
          <p:nvPr/>
        </p:nvCxnSpPr>
        <p:spPr>
          <a:xfrm rot="10800000">
            <a:off x="953350" y="31360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8" name="Google Shape;1678;p139"/>
          <p:cNvCxnSpPr/>
          <p:nvPr/>
        </p:nvCxnSpPr>
        <p:spPr>
          <a:xfrm>
            <a:off x="5084738" y="31360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9" name="Google Shape;1679;p139"/>
          <p:cNvSpPr/>
          <p:nvPr/>
        </p:nvSpPr>
        <p:spPr>
          <a:xfrm>
            <a:off x="6505877" y="276891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139"/>
          <p:cNvSpPr/>
          <p:nvPr/>
        </p:nvSpPr>
        <p:spPr>
          <a:xfrm>
            <a:off x="2127090" y="229436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139"/>
          <p:cNvSpPr/>
          <p:nvPr/>
        </p:nvSpPr>
        <p:spPr>
          <a:xfrm>
            <a:off x="1570825" y="22052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139"/>
          <p:cNvSpPr/>
          <p:nvPr/>
        </p:nvSpPr>
        <p:spPr>
          <a:xfrm>
            <a:off x="2458925" y="22052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139"/>
          <p:cNvSpPr/>
          <p:nvPr/>
        </p:nvSpPr>
        <p:spPr>
          <a:xfrm>
            <a:off x="1570825" y="2670638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39"/>
          <p:cNvSpPr/>
          <p:nvPr/>
        </p:nvSpPr>
        <p:spPr>
          <a:xfrm>
            <a:off x="2458925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39"/>
          <p:cNvSpPr/>
          <p:nvPr/>
        </p:nvSpPr>
        <p:spPr>
          <a:xfrm>
            <a:off x="3289450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39"/>
          <p:cNvSpPr/>
          <p:nvPr/>
        </p:nvSpPr>
        <p:spPr>
          <a:xfrm>
            <a:off x="4182863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39"/>
          <p:cNvSpPr/>
          <p:nvPr/>
        </p:nvSpPr>
        <p:spPr>
          <a:xfrm>
            <a:off x="5076288" y="26706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39"/>
          <p:cNvSpPr/>
          <p:nvPr/>
        </p:nvSpPr>
        <p:spPr>
          <a:xfrm>
            <a:off x="5906813" y="268530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39"/>
          <p:cNvSpPr txBox="1"/>
          <p:nvPr>
            <p:ph idx="1" type="body"/>
          </p:nvPr>
        </p:nvSpPr>
        <p:spPr>
          <a:xfrm>
            <a:off x="3788550" y="4015200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3.5 km.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4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695" name="Google Shape;1695;p140"/>
          <p:cNvSpPr txBox="1"/>
          <p:nvPr>
            <p:ph idx="1" type="subTitle"/>
          </p:nvPr>
        </p:nvSpPr>
        <p:spPr>
          <a:xfrm>
            <a:off x="337825" y="810000"/>
            <a:ext cx="3982200" cy="15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scale on a map is 1 : 300 000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distance between two places on the map is 4 cm.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distance in real life in kilometres?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96" name="Google Shape;1696;p140"/>
          <p:cNvGraphicFramePr/>
          <p:nvPr/>
        </p:nvGraphicFramePr>
        <p:xfrm>
          <a:off x="1196456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220350"/>
                <a:gridCol w="12203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7" name="Google Shape;1697;p140"/>
          <p:cNvSpPr/>
          <p:nvPr/>
        </p:nvSpPr>
        <p:spPr>
          <a:xfrm flipH="1" rot="-5400000">
            <a:off x="932931" y="2963287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140"/>
          <p:cNvSpPr/>
          <p:nvPr/>
        </p:nvSpPr>
        <p:spPr>
          <a:xfrm rot="5400000">
            <a:off x="3477981" y="2957137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140"/>
          <p:cNvSpPr txBox="1"/>
          <p:nvPr>
            <p:ph idx="4294967295" type="body"/>
          </p:nvPr>
        </p:nvSpPr>
        <p:spPr>
          <a:xfrm>
            <a:off x="476175" y="3148675"/>
            <a:ext cx="355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4</a:t>
            </a:r>
            <a:endParaRPr sz="1800"/>
          </a:p>
        </p:txBody>
      </p:sp>
      <p:sp>
        <p:nvSpPr>
          <p:cNvPr id="1700" name="Google Shape;1700;p140"/>
          <p:cNvSpPr txBox="1"/>
          <p:nvPr>
            <p:ph idx="4294967295" type="body"/>
          </p:nvPr>
        </p:nvSpPr>
        <p:spPr>
          <a:xfrm>
            <a:off x="4073313" y="3148675"/>
            <a:ext cx="355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4</a:t>
            </a:r>
            <a:endParaRPr sz="1800"/>
          </a:p>
        </p:txBody>
      </p:sp>
      <p:graphicFrame>
        <p:nvGraphicFramePr>
          <p:cNvPr id="1701" name="Google Shape;1701;p140"/>
          <p:cNvGraphicFramePr/>
          <p:nvPr/>
        </p:nvGraphicFramePr>
        <p:xfrm>
          <a:off x="1196456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220350"/>
                <a:gridCol w="12203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1 200 000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2" name="Google Shape;1702;p140"/>
          <p:cNvSpPr txBox="1"/>
          <p:nvPr>
            <p:ph idx="4294967295" type="body"/>
          </p:nvPr>
        </p:nvSpPr>
        <p:spPr>
          <a:xfrm>
            <a:off x="1633350" y="3885450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12 km.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4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708" name="Google Shape;1708;p141"/>
          <p:cNvSpPr txBox="1"/>
          <p:nvPr>
            <p:ph idx="2" type="subTitle"/>
          </p:nvPr>
        </p:nvSpPr>
        <p:spPr>
          <a:xfrm>
            <a:off x="4824000" y="810000"/>
            <a:ext cx="3982200" cy="16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scale on a map is 1 : 500 000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distance between two places on the map is 3 cm.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distance in real life in kilometres?</a:t>
            </a:r>
            <a:endParaRPr/>
          </a:p>
        </p:txBody>
      </p:sp>
      <p:graphicFrame>
        <p:nvGraphicFramePr>
          <p:cNvPr id="1709" name="Google Shape;1709;p141"/>
          <p:cNvGraphicFramePr/>
          <p:nvPr/>
        </p:nvGraphicFramePr>
        <p:xfrm>
          <a:off x="5539856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220350"/>
                <a:gridCol w="12203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0" name="Google Shape;1710;p141"/>
          <p:cNvSpPr/>
          <p:nvPr/>
        </p:nvSpPr>
        <p:spPr>
          <a:xfrm flipH="1" rot="-5400000">
            <a:off x="5276331" y="2963287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141"/>
          <p:cNvSpPr/>
          <p:nvPr/>
        </p:nvSpPr>
        <p:spPr>
          <a:xfrm rot="5400000">
            <a:off x="7821381" y="2957137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41"/>
          <p:cNvSpPr txBox="1"/>
          <p:nvPr>
            <p:ph idx="4294967295" type="body"/>
          </p:nvPr>
        </p:nvSpPr>
        <p:spPr>
          <a:xfrm>
            <a:off x="4819575" y="3148675"/>
            <a:ext cx="355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713" name="Google Shape;1713;p141"/>
          <p:cNvSpPr txBox="1"/>
          <p:nvPr>
            <p:ph idx="4294967295" type="body"/>
          </p:nvPr>
        </p:nvSpPr>
        <p:spPr>
          <a:xfrm>
            <a:off x="8416713" y="3148675"/>
            <a:ext cx="355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graphicFrame>
        <p:nvGraphicFramePr>
          <p:cNvPr id="1714" name="Google Shape;1714;p141"/>
          <p:cNvGraphicFramePr/>
          <p:nvPr/>
        </p:nvGraphicFramePr>
        <p:xfrm>
          <a:off x="5539856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220350"/>
                <a:gridCol w="12203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1 500 000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5" name="Google Shape;1715;p141"/>
          <p:cNvSpPr txBox="1"/>
          <p:nvPr>
            <p:ph idx="4294967295" type="body"/>
          </p:nvPr>
        </p:nvSpPr>
        <p:spPr>
          <a:xfrm>
            <a:off x="5976750" y="3885450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15 km.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6" name="Google Shape;1716;p141"/>
          <p:cNvSpPr txBox="1"/>
          <p:nvPr>
            <p:ph idx="1" type="subTitle"/>
          </p:nvPr>
        </p:nvSpPr>
        <p:spPr>
          <a:xfrm>
            <a:off x="337825" y="810000"/>
            <a:ext cx="3982200" cy="15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scale on a map is 1 : 300 000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distance between two places on the map is 4 cm.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distance in real life in kilometres?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17" name="Google Shape;1717;p141"/>
          <p:cNvGraphicFramePr/>
          <p:nvPr/>
        </p:nvGraphicFramePr>
        <p:xfrm>
          <a:off x="1196456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220350"/>
                <a:gridCol w="12203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8" name="Google Shape;1718;p141"/>
          <p:cNvSpPr/>
          <p:nvPr/>
        </p:nvSpPr>
        <p:spPr>
          <a:xfrm flipH="1" rot="-5400000">
            <a:off x="932931" y="2963287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141"/>
          <p:cNvSpPr/>
          <p:nvPr/>
        </p:nvSpPr>
        <p:spPr>
          <a:xfrm rot="5400000">
            <a:off x="3477981" y="2957137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41"/>
          <p:cNvSpPr txBox="1"/>
          <p:nvPr>
            <p:ph idx="4294967295" type="body"/>
          </p:nvPr>
        </p:nvSpPr>
        <p:spPr>
          <a:xfrm>
            <a:off x="476175" y="3148675"/>
            <a:ext cx="355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4</a:t>
            </a:r>
            <a:endParaRPr sz="1800"/>
          </a:p>
        </p:txBody>
      </p:sp>
      <p:sp>
        <p:nvSpPr>
          <p:cNvPr id="1721" name="Google Shape;1721;p141"/>
          <p:cNvSpPr txBox="1"/>
          <p:nvPr>
            <p:ph idx="4294967295" type="body"/>
          </p:nvPr>
        </p:nvSpPr>
        <p:spPr>
          <a:xfrm>
            <a:off x="4073313" y="3148675"/>
            <a:ext cx="355800" cy="31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4</a:t>
            </a:r>
            <a:endParaRPr sz="1800"/>
          </a:p>
        </p:txBody>
      </p:sp>
      <p:graphicFrame>
        <p:nvGraphicFramePr>
          <p:cNvPr id="1722" name="Google Shape;1722;p141"/>
          <p:cNvGraphicFramePr/>
          <p:nvPr/>
        </p:nvGraphicFramePr>
        <p:xfrm>
          <a:off x="1196456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220350"/>
                <a:gridCol w="12203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1 200 000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3" name="Google Shape;1723;p141"/>
          <p:cNvSpPr txBox="1"/>
          <p:nvPr>
            <p:ph idx="4294967295" type="body"/>
          </p:nvPr>
        </p:nvSpPr>
        <p:spPr>
          <a:xfrm>
            <a:off x="1633350" y="3885450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12 km.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42"/>
          <p:cNvSpPr/>
          <p:nvPr/>
        </p:nvSpPr>
        <p:spPr>
          <a:xfrm>
            <a:off x="5697868" y="2560500"/>
            <a:ext cx="810300" cy="335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9" name="Google Shape;1729;p142"/>
          <p:cNvGraphicFramePr/>
          <p:nvPr/>
        </p:nvGraphicFramePr>
        <p:xfrm>
          <a:off x="1294988" y="248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74475"/>
                <a:gridCol w="874475"/>
                <a:gridCol w="821050"/>
                <a:gridCol w="959000"/>
                <a:gridCol w="843375"/>
                <a:gridCol w="874475"/>
                <a:gridCol w="8744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8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0" name="Google Shape;1730;p142"/>
          <p:cNvSpPr/>
          <p:nvPr/>
        </p:nvSpPr>
        <p:spPr>
          <a:xfrm>
            <a:off x="1399398" y="2545125"/>
            <a:ext cx="634200" cy="335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42"/>
          <p:cNvSpPr txBox="1"/>
          <p:nvPr>
            <p:ph idx="1" type="body"/>
          </p:nvPr>
        </p:nvSpPr>
        <p:spPr>
          <a:xfrm>
            <a:off x="324000" y="606900"/>
            <a:ext cx="8237700" cy="17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scale on a map is 1 : 50 000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distance between two places is 5.3 km.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distance on the </a:t>
            </a:r>
            <a:r>
              <a:rPr lang="en-GB">
                <a:solidFill>
                  <a:schemeClr val="accent4"/>
                </a:solidFill>
              </a:rPr>
              <a:t>map</a:t>
            </a:r>
            <a:r>
              <a:rPr lang="en-GB"/>
              <a:t>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Firstly we need to convert 5.3 km into centimetres.</a:t>
            </a:r>
            <a:endParaRPr/>
          </a:p>
        </p:txBody>
      </p:sp>
      <p:sp>
        <p:nvSpPr>
          <p:cNvPr id="1732" name="Google Shape;173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733" name="Google Shape;1733;p142"/>
          <p:cNvSpPr txBox="1"/>
          <p:nvPr/>
        </p:nvSpPr>
        <p:spPr>
          <a:xfrm>
            <a:off x="5084750" y="4050318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42"/>
          <p:cNvSpPr txBox="1"/>
          <p:nvPr/>
        </p:nvSpPr>
        <p:spPr>
          <a:xfrm>
            <a:off x="953350" y="4027593"/>
            <a:ext cx="310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greater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5" name="Google Shape;1735;p142"/>
          <p:cNvCxnSpPr/>
          <p:nvPr/>
        </p:nvCxnSpPr>
        <p:spPr>
          <a:xfrm rot="10800000">
            <a:off x="953350" y="39742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6" name="Google Shape;1736;p142"/>
          <p:cNvCxnSpPr/>
          <p:nvPr/>
        </p:nvCxnSpPr>
        <p:spPr>
          <a:xfrm>
            <a:off x="5084738" y="39742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7" name="Google Shape;1737;p142"/>
          <p:cNvSpPr/>
          <p:nvPr/>
        </p:nvSpPr>
        <p:spPr>
          <a:xfrm>
            <a:off x="6505877" y="360711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142"/>
          <p:cNvSpPr/>
          <p:nvPr/>
        </p:nvSpPr>
        <p:spPr>
          <a:xfrm>
            <a:off x="2127090" y="3132560"/>
            <a:ext cx="84000" cy="84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42"/>
          <p:cNvSpPr/>
          <p:nvPr/>
        </p:nvSpPr>
        <p:spPr>
          <a:xfrm>
            <a:off x="1570825" y="30434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142"/>
          <p:cNvSpPr/>
          <p:nvPr/>
        </p:nvSpPr>
        <p:spPr>
          <a:xfrm>
            <a:off x="2458925" y="304345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42"/>
          <p:cNvSpPr/>
          <p:nvPr/>
        </p:nvSpPr>
        <p:spPr>
          <a:xfrm>
            <a:off x="1570825" y="3508838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42"/>
          <p:cNvSpPr/>
          <p:nvPr/>
        </p:nvSpPr>
        <p:spPr>
          <a:xfrm>
            <a:off x="2458925" y="35088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42"/>
          <p:cNvSpPr/>
          <p:nvPr/>
        </p:nvSpPr>
        <p:spPr>
          <a:xfrm>
            <a:off x="3289450" y="35088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42"/>
          <p:cNvSpPr/>
          <p:nvPr/>
        </p:nvSpPr>
        <p:spPr>
          <a:xfrm>
            <a:off x="4182863" y="35088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42"/>
          <p:cNvSpPr/>
          <p:nvPr/>
        </p:nvSpPr>
        <p:spPr>
          <a:xfrm>
            <a:off x="5076288" y="3508825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2"/>
          <p:cNvSpPr/>
          <p:nvPr/>
        </p:nvSpPr>
        <p:spPr>
          <a:xfrm>
            <a:off x="5906813" y="3523500"/>
            <a:ext cx="345600" cy="26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42"/>
          <p:cNvSpPr txBox="1"/>
          <p:nvPr>
            <p:ph idx="1" type="body"/>
          </p:nvPr>
        </p:nvSpPr>
        <p:spPr>
          <a:xfrm>
            <a:off x="3723000" y="4480025"/>
            <a:ext cx="22020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530 000 cm.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753" name="Google Shape;1753;p143"/>
          <p:cNvSpPr txBox="1"/>
          <p:nvPr>
            <p:ph idx="1" type="body"/>
          </p:nvPr>
        </p:nvSpPr>
        <p:spPr>
          <a:xfrm>
            <a:off x="324000" y="759300"/>
            <a:ext cx="8237700" cy="14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scale on a map is 1 : 50 000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distance between two places is 5.3 km.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distance on the </a:t>
            </a:r>
            <a:r>
              <a:rPr lang="en-GB">
                <a:solidFill>
                  <a:schemeClr val="accent4"/>
                </a:solidFill>
              </a:rPr>
              <a:t>map</a:t>
            </a:r>
            <a:r>
              <a:rPr lang="en-GB"/>
              <a:t>?</a:t>
            </a:r>
            <a:endParaRPr/>
          </a:p>
        </p:txBody>
      </p:sp>
      <p:graphicFrame>
        <p:nvGraphicFramePr>
          <p:cNvPr id="1754" name="Google Shape;1754;p143"/>
          <p:cNvGraphicFramePr/>
          <p:nvPr/>
        </p:nvGraphicFramePr>
        <p:xfrm>
          <a:off x="238715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5" name="Google Shape;1755;p143"/>
          <p:cNvSpPr/>
          <p:nvPr/>
        </p:nvSpPr>
        <p:spPr>
          <a:xfrm flipH="1" rot="-5400000">
            <a:off x="1905250" y="30254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143"/>
          <p:cNvSpPr txBox="1"/>
          <p:nvPr>
            <p:ph idx="1" type="body"/>
          </p:nvPr>
        </p:nvSpPr>
        <p:spPr>
          <a:xfrm>
            <a:off x="2729100" y="4320000"/>
            <a:ext cx="36858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will be 10.6 cm on the map.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57" name="Google Shape;1757;p143"/>
          <p:cNvSpPr txBox="1"/>
          <p:nvPr/>
        </p:nvSpPr>
        <p:spPr>
          <a:xfrm>
            <a:off x="931025" y="3172700"/>
            <a:ext cx="753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10.6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43"/>
          <p:cNvSpPr/>
          <p:nvPr/>
        </p:nvSpPr>
        <p:spPr>
          <a:xfrm rot="5400000">
            <a:off x="6644200" y="3047951"/>
            <a:ext cx="5853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43"/>
          <p:cNvSpPr txBox="1"/>
          <p:nvPr/>
        </p:nvSpPr>
        <p:spPr>
          <a:xfrm>
            <a:off x="7418700" y="3191250"/>
            <a:ext cx="891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10.6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0" name="Google Shape;1760;p143"/>
          <p:cNvGraphicFramePr/>
          <p:nvPr/>
        </p:nvGraphicFramePr>
        <p:xfrm>
          <a:off x="238715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184850"/>
                <a:gridCol w="218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10.6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4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766" name="Google Shape;1766;p144"/>
          <p:cNvSpPr txBox="1"/>
          <p:nvPr>
            <p:ph idx="1" type="subTitle"/>
          </p:nvPr>
        </p:nvSpPr>
        <p:spPr>
          <a:xfrm>
            <a:off x="337825" y="810000"/>
            <a:ext cx="3982200" cy="15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scale on a map is 1 : 300 000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distance between two places in real life is 4.5 km.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is the distance between them on the map?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67" name="Google Shape;1767;p144"/>
          <p:cNvGraphicFramePr/>
          <p:nvPr/>
        </p:nvGraphicFramePr>
        <p:xfrm>
          <a:off x="1418138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067650"/>
                <a:gridCol w="10676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8" name="Google Shape;1768;p144"/>
          <p:cNvSpPr/>
          <p:nvPr/>
        </p:nvSpPr>
        <p:spPr>
          <a:xfrm flipH="1" rot="-5400000">
            <a:off x="1032138" y="2963287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144"/>
          <p:cNvSpPr/>
          <p:nvPr/>
        </p:nvSpPr>
        <p:spPr>
          <a:xfrm rot="5400000">
            <a:off x="3477981" y="2957137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70" name="Google Shape;1770;p144"/>
          <p:cNvGraphicFramePr/>
          <p:nvPr/>
        </p:nvGraphicFramePr>
        <p:xfrm>
          <a:off x="1418138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067650"/>
                <a:gridCol w="10676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1" name="Google Shape;1771;p144"/>
          <p:cNvSpPr txBox="1"/>
          <p:nvPr>
            <p:ph idx="4294967295" type="body"/>
          </p:nvPr>
        </p:nvSpPr>
        <p:spPr>
          <a:xfrm>
            <a:off x="1633350" y="3885450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1.5 cm.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2" name="Google Shape;1772;p144"/>
          <p:cNvSpPr txBox="1"/>
          <p:nvPr>
            <p:ph idx="4294967295" type="body"/>
          </p:nvPr>
        </p:nvSpPr>
        <p:spPr>
          <a:xfrm>
            <a:off x="4089033" y="3161500"/>
            <a:ext cx="6117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1.5</a:t>
            </a:r>
            <a:endParaRPr sz="1800"/>
          </a:p>
        </p:txBody>
      </p:sp>
      <p:sp>
        <p:nvSpPr>
          <p:cNvPr id="1773" name="Google Shape;1773;p144"/>
          <p:cNvSpPr txBox="1"/>
          <p:nvPr>
            <p:ph idx="4294967295" type="body"/>
          </p:nvPr>
        </p:nvSpPr>
        <p:spPr>
          <a:xfrm>
            <a:off x="355231" y="3161500"/>
            <a:ext cx="6522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1.5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4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779" name="Google Shape;1779;p145"/>
          <p:cNvSpPr txBox="1"/>
          <p:nvPr>
            <p:ph idx="1" type="subTitle"/>
          </p:nvPr>
        </p:nvSpPr>
        <p:spPr>
          <a:xfrm>
            <a:off x="4833625" y="810000"/>
            <a:ext cx="3982200" cy="15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scale on a map is 1 : 300 000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distance between two places in real life is 7.2 km.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distance between them on the map?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0" name="Google Shape;1780;p145"/>
          <p:cNvGraphicFramePr/>
          <p:nvPr/>
        </p:nvGraphicFramePr>
        <p:xfrm>
          <a:off x="5647295" y="3324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067650"/>
                <a:gridCol w="10676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1" name="Google Shape;1781;p145"/>
          <p:cNvSpPr/>
          <p:nvPr/>
        </p:nvSpPr>
        <p:spPr>
          <a:xfrm flipH="1" rot="-5400000">
            <a:off x="5261295" y="3351919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145"/>
          <p:cNvSpPr/>
          <p:nvPr/>
        </p:nvSpPr>
        <p:spPr>
          <a:xfrm rot="5400000">
            <a:off x="7707138" y="3345769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3" name="Google Shape;1783;p145"/>
          <p:cNvGraphicFramePr/>
          <p:nvPr/>
        </p:nvGraphicFramePr>
        <p:xfrm>
          <a:off x="5647295" y="3324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067650"/>
                <a:gridCol w="10676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2.4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4" name="Google Shape;1784;p145"/>
          <p:cNvSpPr txBox="1"/>
          <p:nvPr>
            <p:ph idx="4294967295" type="body"/>
          </p:nvPr>
        </p:nvSpPr>
        <p:spPr>
          <a:xfrm>
            <a:off x="5862507" y="4274081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2.4 cm.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5" name="Google Shape;1785;p145"/>
          <p:cNvSpPr txBox="1"/>
          <p:nvPr>
            <p:ph idx="4294967295" type="body"/>
          </p:nvPr>
        </p:nvSpPr>
        <p:spPr>
          <a:xfrm>
            <a:off x="8318189" y="3550131"/>
            <a:ext cx="6117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2.4</a:t>
            </a:r>
            <a:endParaRPr sz="1800"/>
          </a:p>
        </p:txBody>
      </p:sp>
      <p:sp>
        <p:nvSpPr>
          <p:cNvPr id="1786" name="Google Shape;1786;p145"/>
          <p:cNvSpPr txBox="1"/>
          <p:nvPr>
            <p:ph idx="4294967295" type="body"/>
          </p:nvPr>
        </p:nvSpPr>
        <p:spPr>
          <a:xfrm>
            <a:off x="4584388" y="3550131"/>
            <a:ext cx="6522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2.4</a:t>
            </a:r>
            <a:endParaRPr sz="1800"/>
          </a:p>
        </p:txBody>
      </p:sp>
      <p:sp>
        <p:nvSpPr>
          <p:cNvPr id="1787" name="Google Shape;1787;p145"/>
          <p:cNvSpPr txBox="1"/>
          <p:nvPr>
            <p:ph idx="1" type="subTitle"/>
          </p:nvPr>
        </p:nvSpPr>
        <p:spPr>
          <a:xfrm>
            <a:off x="337825" y="810000"/>
            <a:ext cx="3982200" cy="15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scale on a map is 1 : 300 000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distance between two places in real life is 4.5 km.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the distance between them on the map?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88" name="Google Shape;1788;p145"/>
          <p:cNvGraphicFramePr/>
          <p:nvPr/>
        </p:nvGraphicFramePr>
        <p:xfrm>
          <a:off x="1418138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067650"/>
                <a:gridCol w="10676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9" name="Google Shape;1789;p145"/>
          <p:cNvSpPr/>
          <p:nvPr/>
        </p:nvSpPr>
        <p:spPr>
          <a:xfrm flipH="1" rot="-5400000">
            <a:off x="1032138" y="2963287"/>
            <a:ext cx="4509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145"/>
          <p:cNvSpPr/>
          <p:nvPr/>
        </p:nvSpPr>
        <p:spPr>
          <a:xfrm rot="5400000">
            <a:off x="3477981" y="2957137"/>
            <a:ext cx="450900" cy="6993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91" name="Google Shape;1791;p145"/>
          <p:cNvGraphicFramePr/>
          <p:nvPr/>
        </p:nvGraphicFramePr>
        <p:xfrm>
          <a:off x="1418138" y="2936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1067650"/>
                <a:gridCol w="1067650"/>
              </a:tblGrid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450 000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2" name="Google Shape;1792;p145"/>
          <p:cNvSpPr txBox="1"/>
          <p:nvPr>
            <p:ph idx="4294967295" type="body"/>
          </p:nvPr>
        </p:nvSpPr>
        <p:spPr>
          <a:xfrm>
            <a:off x="1633350" y="3885450"/>
            <a:ext cx="1566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1.5 cm.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3" name="Google Shape;1793;p145"/>
          <p:cNvSpPr txBox="1"/>
          <p:nvPr>
            <p:ph idx="4294967295" type="body"/>
          </p:nvPr>
        </p:nvSpPr>
        <p:spPr>
          <a:xfrm>
            <a:off x="4089033" y="3161500"/>
            <a:ext cx="6117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1.5</a:t>
            </a:r>
            <a:endParaRPr sz="1800"/>
          </a:p>
        </p:txBody>
      </p:sp>
      <p:sp>
        <p:nvSpPr>
          <p:cNvPr id="1794" name="Google Shape;1794;p145"/>
          <p:cNvSpPr txBox="1"/>
          <p:nvPr>
            <p:ph idx="4294967295" type="body"/>
          </p:nvPr>
        </p:nvSpPr>
        <p:spPr>
          <a:xfrm>
            <a:off x="355231" y="3161500"/>
            <a:ext cx="6522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1.5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missing information in each row.</a:t>
            </a:r>
            <a:endParaRPr/>
          </a:p>
        </p:txBody>
      </p:sp>
      <p:sp>
        <p:nvSpPr>
          <p:cNvPr id="1800" name="Google Shape;1800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graphicFrame>
        <p:nvGraphicFramePr>
          <p:cNvPr id="1801" name="Google Shape;1801;p146"/>
          <p:cNvGraphicFramePr/>
          <p:nvPr/>
        </p:nvGraphicFramePr>
        <p:xfrm>
          <a:off x="952500" y="122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413000"/>
                <a:gridCol w="2413000"/>
                <a:gridCol w="2413000"/>
              </a:tblGrid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Scale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250 000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___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40 000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3000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___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8000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 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600 000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7500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___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47"/>
          <p:cNvSpPr txBox="1"/>
          <p:nvPr>
            <p:ph idx="1" type="body"/>
          </p:nvPr>
        </p:nvSpPr>
        <p:spPr>
          <a:xfrm>
            <a:off x="324000" y="6069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the missing information in each row.</a:t>
            </a:r>
            <a:endParaRPr/>
          </a:p>
        </p:txBody>
      </p:sp>
      <p:sp>
        <p:nvSpPr>
          <p:cNvPr id="1807" name="Google Shape;1807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graphicFrame>
        <p:nvGraphicFramePr>
          <p:cNvPr id="1808" name="Google Shape;1808;p147"/>
          <p:cNvGraphicFramePr/>
          <p:nvPr/>
        </p:nvGraphicFramePr>
        <p:xfrm>
          <a:off x="952500" y="122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413000"/>
                <a:gridCol w="2413000"/>
                <a:gridCol w="2413000"/>
              </a:tblGrid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Scale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Map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Real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250 000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2000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 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40 000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50 cm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3000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300 000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8000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15 cm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600 000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2.5 cm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 : 3 500 000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245 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  <a:tr h="33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: 7500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 cm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0.39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14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Interpreting and using map scales</a:t>
            </a:r>
            <a:endParaRPr/>
          </a:p>
        </p:txBody>
      </p:sp>
      <p:sp>
        <p:nvSpPr>
          <p:cNvPr id="1814" name="Google Shape;1814;p14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815" name="Google Shape;1815;p14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pic>
        <p:nvPicPr>
          <p:cNvPr id="1816" name="Google Shape;1816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822" name="Google Shape;1822;p149"/>
          <p:cNvSpPr txBox="1"/>
          <p:nvPr>
            <p:ph idx="1" type="body"/>
          </p:nvPr>
        </p:nvSpPr>
        <p:spPr>
          <a:xfrm>
            <a:off x="324000" y="606900"/>
            <a:ext cx="73074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approximate </a:t>
            </a:r>
            <a:r>
              <a:rPr lang="en-GB" sz="1900"/>
              <a:t>equivalence</a:t>
            </a:r>
            <a:r>
              <a:rPr lang="en-GB" sz="1900"/>
              <a:t> of inches and centimetres is:</a:t>
            </a:r>
            <a:endParaRPr sz="19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1 inch = 2.54 cm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Aisha is talking to her dad about his favourite teddy bear when he was little.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He remembers it being 17 inches tall.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Aisha measures her teddy and it is 45 centimetres tall.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Whose teddy is the </a:t>
            </a:r>
            <a:r>
              <a:rPr lang="en-GB" sz="1900">
                <a:solidFill>
                  <a:schemeClr val="accent5"/>
                </a:solidFill>
              </a:rPr>
              <a:t>tallest</a:t>
            </a:r>
            <a:r>
              <a:rPr lang="en-GB" sz="1900"/>
              <a:t>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Will it be easier to convert Aisha’s teddy’s height or her dad’s?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As the equivalence uses 1 inch it will be easier to convert her dad’s from inches into centimetres.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823" name="Google Shape;1823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109" y="759300"/>
            <a:ext cx="1317101" cy="134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graphicFrame>
        <p:nvGraphicFramePr>
          <p:cNvPr id="1829" name="Google Shape;1829;p150"/>
          <p:cNvGraphicFramePr/>
          <p:nvPr/>
        </p:nvGraphicFramePr>
        <p:xfrm>
          <a:off x="228225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289750"/>
                <a:gridCol w="228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centimetre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0" name="Google Shape;1830;p150"/>
          <p:cNvSpPr/>
          <p:nvPr/>
        </p:nvSpPr>
        <p:spPr>
          <a:xfrm flipH="1" rot="-5400000">
            <a:off x="1752850" y="18824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50"/>
          <p:cNvSpPr txBox="1"/>
          <p:nvPr/>
        </p:nvSpPr>
        <p:spPr>
          <a:xfrm>
            <a:off x="913325" y="2019625"/>
            <a:ext cx="727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17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2" name="Google Shape;1832;p150"/>
          <p:cNvGrpSpPr/>
          <p:nvPr/>
        </p:nvGrpSpPr>
        <p:grpSpPr>
          <a:xfrm>
            <a:off x="6613600" y="2017725"/>
            <a:ext cx="1573100" cy="585300"/>
            <a:chOff x="6613600" y="3313125"/>
            <a:chExt cx="1573100" cy="585300"/>
          </a:xfrm>
        </p:grpSpPr>
        <p:sp>
          <p:nvSpPr>
            <p:cNvPr id="1833" name="Google Shape;1833;p150"/>
            <p:cNvSpPr/>
            <p:nvPr/>
          </p:nvSpPr>
          <p:spPr>
            <a:xfrm rot="5400000">
              <a:off x="6670600" y="3256125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150"/>
            <p:cNvSpPr txBox="1"/>
            <p:nvPr/>
          </p:nvSpPr>
          <p:spPr>
            <a:xfrm>
              <a:off x="7459200" y="3399425"/>
              <a:ext cx="7275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17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35" name="Google Shape;1835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109" y="759300"/>
            <a:ext cx="1317101" cy="13444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6" name="Google Shape;1836;p150"/>
          <p:cNvGraphicFramePr/>
          <p:nvPr/>
        </p:nvGraphicFramePr>
        <p:xfrm>
          <a:off x="228225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289750"/>
                <a:gridCol w="228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centimetres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43.18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7" name="Google Shape;1837;p150"/>
          <p:cNvSpPr txBox="1"/>
          <p:nvPr/>
        </p:nvSpPr>
        <p:spPr>
          <a:xfrm>
            <a:off x="324000" y="3240000"/>
            <a:ext cx="73761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Aisha’s dad’s teddy was 43.18 cm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Aisha’s teddy is 45 cm.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So, Aisha’s teddy was taller. 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843" name="Google Shape;1843;p151"/>
          <p:cNvSpPr txBox="1"/>
          <p:nvPr>
            <p:ph idx="1" type="body"/>
          </p:nvPr>
        </p:nvSpPr>
        <p:spPr>
          <a:xfrm>
            <a:off x="324000" y="759300"/>
            <a:ext cx="8237700" cy="21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know that the distance between two villages is 5 miles and this is equivalent to 8 kilometres.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distance between Lands End and John ‘o Groats as the crow flies is 601 miles.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 far is this in </a:t>
            </a:r>
            <a:r>
              <a:rPr lang="en-GB">
                <a:solidFill>
                  <a:schemeClr val="accent5"/>
                </a:solidFill>
              </a:rPr>
              <a:t>kilometres</a:t>
            </a:r>
            <a:r>
              <a:rPr lang="en-GB"/>
              <a:t>?</a:t>
            </a:r>
            <a:endParaRPr/>
          </a:p>
        </p:txBody>
      </p:sp>
      <p:pic>
        <p:nvPicPr>
          <p:cNvPr id="1844" name="Google Shape;1844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2697" y="35621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51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6" name="Google Shape;1846;p151"/>
          <p:cNvGrpSpPr/>
          <p:nvPr/>
        </p:nvGrpSpPr>
        <p:grpSpPr>
          <a:xfrm>
            <a:off x="5600600" y="2477575"/>
            <a:ext cx="1955251" cy="1827601"/>
            <a:chOff x="5600600" y="3239575"/>
            <a:chExt cx="1955251" cy="1827601"/>
          </a:xfrm>
        </p:grpSpPr>
        <p:pic>
          <p:nvPicPr>
            <p:cNvPr id="1847" name="Google Shape;1847;p15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600600" y="3239575"/>
              <a:ext cx="1955251" cy="1827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8" name="Google Shape;1848;p151"/>
            <p:cNvSpPr txBox="1"/>
            <p:nvPr/>
          </p:nvSpPr>
          <p:spPr>
            <a:xfrm>
              <a:off x="5722325" y="3326725"/>
              <a:ext cx="1740600" cy="1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I’ll have to work out how far one mile is so I can convert this.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9" name="Google Shape;1849;p151"/>
          <p:cNvSpPr txBox="1"/>
          <p:nvPr>
            <p:ph idx="1" type="body"/>
          </p:nvPr>
        </p:nvSpPr>
        <p:spPr>
          <a:xfrm>
            <a:off x="324000" y="3121500"/>
            <a:ext cx="3339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Alex?</a:t>
            </a:r>
            <a:endParaRPr/>
          </a:p>
        </p:txBody>
      </p:sp>
      <p:sp>
        <p:nvSpPr>
          <p:cNvPr id="1850" name="Google Shape;1850;p151"/>
          <p:cNvSpPr txBox="1"/>
          <p:nvPr>
            <p:ph idx="1" type="body"/>
          </p:nvPr>
        </p:nvSpPr>
        <p:spPr>
          <a:xfrm>
            <a:off x="324000" y="3807300"/>
            <a:ext cx="3996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could but you don’t have to.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856" name="Google Shape;1856;p152"/>
          <p:cNvSpPr txBox="1"/>
          <p:nvPr>
            <p:ph idx="1" type="body"/>
          </p:nvPr>
        </p:nvSpPr>
        <p:spPr>
          <a:xfrm>
            <a:off x="324000" y="759300"/>
            <a:ext cx="8237700" cy="12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distance between Lands End and John ‘o Groats as the crow flies is 601 miles.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far is this in kilometres?</a:t>
            </a:r>
            <a:endParaRPr/>
          </a:p>
        </p:txBody>
      </p:sp>
      <p:graphicFrame>
        <p:nvGraphicFramePr>
          <p:cNvPr id="1857" name="Google Shape;1857;p152"/>
          <p:cNvGraphicFramePr/>
          <p:nvPr/>
        </p:nvGraphicFramePr>
        <p:xfrm>
          <a:off x="2282250" y="253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289750"/>
                <a:gridCol w="228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kilometres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8" name="Google Shape;1858;p152"/>
          <p:cNvSpPr/>
          <p:nvPr/>
        </p:nvSpPr>
        <p:spPr>
          <a:xfrm flipH="1" rot="-5400000">
            <a:off x="1752850" y="31778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59" name="Google Shape;1859;p152"/>
          <p:cNvGraphicFramePr/>
          <p:nvPr/>
        </p:nvGraphicFramePr>
        <p:xfrm>
          <a:off x="2282250" y="253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289750"/>
                <a:gridCol w="228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kilometres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961.6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60" name="Google Shape;1860;p152"/>
          <p:cNvGrpSpPr/>
          <p:nvPr/>
        </p:nvGrpSpPr>
        <p:grpSpPr>
          <a:xfrm>
            <a:off x="913325" y="3247775"/>
            <a:ext cx="727500" cy="547200"/>
            <a:chOff x="913325" y="3247775"/>
            <a:chExt cx="727500" cy="547200"/>
          </a:xfrm>
        </p:grpSpPr>
        <p:sp>
          <p:nvSpPr>
            <p:cNvPr id="1861" name="Google Shape;1861;p152"/>
            <p:cNvSpPr txBox="1"/>
            <p:nvPr/>
          </p:nvSpPr>
          <p:spPr>
            <a:xfrm>
              <a:off x="913325" y="3315025"/>
              <a:ext cx="7275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601}{5}&quot;&gt;&lt;mfrac&gt;&lt;mn&gt;601&lt;/mn&gt;&lt;mn&gt;5&lt;/mn&gt;&lt;/mfrac&gt;&lt;/math&gt;" id="1862" name="Google Shape;1862;p152" title="601 over 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62250" y="3247775"/>
              <a:ext cx="429650" cy="54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3" name="Google Shape;1863;p152"/>
          <p:cNvGrpSpPr/>
          <p:nvPr/>
        </p:nvGrpSpPr>
        <p:grpSpPr>
          <a:xfrm>
            <a:off x="6613600" y="3313125"/>
            <a:ext cx="1483100" cy="585300"/>
            <a:chOff x="6613600" y="3313125"/>
            <a:chExt cx="1483100" cy="585300"/>
          </a:xfrm>
        </p:grpSpPr>
        <p:sp>
          <p:nvSpPr>
            <p:cNvPr id="1864" name="Google Shape;1864;p152"/>
            <p:cNvSpPr/>
            <p:nvPr/>
          </p:nvSpPr>
          <p:spPr>
            <a:xfrm rot="5400000">
              <a:off x="6670600" y="3256125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5" name="Google Shape;1865;p152"/>
            <p:cNvGrpSpPr/>
            <p:nvPr/>
          </p:nvGrpSpPr>
          <p:grpSpPr>
            <a:xfrm>
              <a:off x="7369200" y="3313125"/>
              <a:ext cx="727500" cy="547200"/>
              <a:chOff x="913325" y="3247775"/>
              <a:chExt cx="727500" cy="547200"/>
            </a:xfrm>
          </p:grpSpPr>
          <p:sp>
            <p:nvSpPr>
              <p:cNvPr id="1866" name="Google Shape;1866;p152"/>
              <p:cNvSpPr txBox="1"/>
              <p:nvPr/>
            </p:nvSpPr>
            <p:spPr>
              <a:xfrm>
                <a:off x="913325" y="3315025"/>
                <a:ext cx="727500" cy="24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601}{5}&quot;&gt;&lt;mfrac&gt;&lt;mn&gt;601&lt;/mn&gt;&lt;mn&gt;5&lt;/mn&gt;&lt;/mfrac&gt;&lt;/math&gt;" id="1867" name="Google Shape;1867;p152" title="601 over 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062250" y="3247775"/>
                <a:ext cx="429650" cy="547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graphicFrame>
        <p:nvGraphicFramePr>
          <p:cNvPr id="1873" name="Google Shape;1873;p153"/>
          <p:cNvGraphicFramePr/>
          <p:nvPr/>
        </p:nvGraphicFramePr>
        <p:xfrm>
          <a:off x="2282250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289750"/>
                <a:gridCol w="228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kilometres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4" name="Google Shape;1874;p153"/>
          <p:cNvSpPr/>
          <p:nvPr/>
        </p:nvSpPr>
        <p:spPr>
          <a:xfrm flipH="1" rot="-5400000">
            <a:off x="1752850" y="3863675"/>
            <a:ext cx="585300" cy="687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153"/>
          <p:cNvSpPr txBox="1"/>
          <p:nvPr/>
        </p:nvSpPr>
        <p:spPr>
          <a:xfrm>
            <a:off x="913325" y="4000825"/>
            <a:ext cx="727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0.8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6" name="Google Shape;1876;p153"/>
          <p:cNvGrpSpPr/>
          <p:nvPr/>
        </p:nvGrpSpPr>
        <p:grpSpPr>
          <a:xfrm>
            <a:off x="6613600" y="3998925"/>
            <a:ext cx="1573100" cy="585300"/>
            <a:chOff x="6613600" y="3313125"/>
            <a:chExt cx="1573100" cy="585300"/>
          </a:xfrm>
        </p:grpSpPr>
        <p:sp>
          <p:nvSpPr>
            <p:cNvPr id="1877" name="Google Shape;1877;p153"/>
            <p:cNvSpPr/>
            <p:nvPr/>
          </p:nvSpPr>
          <p:spPr>
            <a:xfrm rot="5400000">
              <a:off x="6670600" y="3256125"/>
              <a:ext cx="585300" cy="6993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153"/>
            <p:cNvSpPr txBox="1"/>
            <p:nvPr/>
          </p:nvSpPr>
          <p:spPr>
            <a:xfrm>
              <a:off x="7459200" y="3399425"/>
              <a:ext cx="727500" cy="2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× 0.8 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879" name="Google Shape;1879;p153"/>
          <p:cNvGraphicFramePr/>
          <p:nvPr/>
        </p:nvGraphicFramePr>
        <p:xfrm>
          <a:off x="2282250" y="321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289750"/>
                <a:gridCol w="228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kilometres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6.4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0" name="Google Shape;1880;p153"/>
          <p:cNvSpPr txBox="1"/>
          <p:nvPr>
            <p:ph idx="1" type="body"/>
          </p:nvPr>
        </p:nvSpPr>
        <p:spPr>
          <a:xfrm>
            <a:off x="324000" y="606900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Alex completed a bike ride at the weekend.</a:t>
            </a:r>
            <a:endParaRPr/>
          </a:p>
        </p:txBody>
      </p:sp>
      <p:pic>
        <p:nvPicPr>
          <p:cNvPr id="1881" name="Google Shape;1881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1476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153"/>
          <p:cNvSpPr txBox="1"/>
          <p:nvPr/>
        </p:nvSpPr>
        <p:spPr>
          <a:xfrm>
            <a:off x="3095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3" name="Google Shape;1883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697" y="1276162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Google Shape;1884;p153"/>
          <p:cNvSpPr txBox="1"/>
          <p:nvPr/>
        </p:nvSpPr>
        <p:spPr>
          <a:xfrm>
            <a:off x="7548550" y="2236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5" name="Google Shape;1885;p153"/>
          <p:cNvGrpSpPr/>
          <p:nvPr/>
        </p:nvGrpSpPr>
        <p:grpSpPr>
          <a:xfrm>
            <a:off x="1379098" y="1029775"/>
            <a:ext cx="1566902" cy="852099"/>
            <a:chOff x="1226698" y="2629975"/>
            <a:chExt cx="1566902" cy="852099"/>
          </a:xfrm>
        </p:grpSpPr>
        <p:pic>
          <p:nvPicPr>
            <p:cNvPr id="1886" name="Google Shape;1886;p15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698" y="2629975"/>
              <a:ext cx="1566802" cy="852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153"/>
            <p:cNvSpPr txBox="1"/>
            <p:nvPr/>
          </p:nvSpPr>
          <p:spPr>
            <a:xfrm>
              <a:off x="1394100" y="26330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rode 4 miles.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8" name="Google Shape;1888;p153"/>
          <p:cNvGrpSpPr/>
          <p:nvPr/>
        </p:nvGrpSpPr>
        <p:grpSpPr>
          <a:xfrm>
            <a:off x="5600600" y="953575"/>
            <a:ext cx="1955251" cy="1016574"/>
            <a:chOff x="5600600" y="953575"/>
            <a:chExt cx="1955251" cy="1016574"/>
          </a:xfrm>
        </p:grpSpPr>
        <p:pic>
          <p:nvPicPr>
            <p:cNvPr id="1889" name="Google Shape;1889;p15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600600" y="953575"/>
              <a:ext cx="1955251" cy="1016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0" name="Google Shape;1890;p153"/>
            <p:cNvSpPr txBox="1"/>
            <p:nvPr/>
          </p:nvSpPr>
          <p:spPr>
            <a:xfrm>
              <a:off x="5722325" y="1040725"/>
              <a:ext cx="1740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rode 6 kilometres.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1" name="Google Shape;1891;p153"/>
          <p:cNvSpPr txBox="1"/>
          <p:nvPr>
            <p:ph idx="1" type="body"/>
          </p:nvPr>
        </p:nvSpPr>
        <p:spPr>
          <a:xfrm>
            <a:off x="324000" y="2740500"/>
            <a:ext cx="3194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rode the </a:t>
            </a:r>
            <a:r>
              <a:rPr lang="en-GB">
                <a:solidFill>
                  <a:schemeClr val="accent5"/>
                </a:solidFill>
              </a:rPr>
              <a:t>furthest</a:t>
            </a:r>
            <a:r>
              <a:rPr lang="en-GB"/>
              <a:t>?</a:t>
            </a:r>
            <a:endParaRPr/>
          </a:p>
        </p:txBody>
      </p:sp>
      <p:sp>
        <p:nvSpPr>
          <p:cNvPr id="1892" name="Google Shape;1892;p153"/>
          <p:cNvSpPr txBox="1"/>
          <p:nvPr>
            <p:ph idx="1" type="body"/>
          </p:nvPr>
        </p:nvSpPr>
        <p:spPr>
          <a:xfrm>
            <a:off x="3667650" y="2740488"/>
            <a:ext cx="3194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Aisha rode the furthest.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898" name="Google Shape;1898;p154"/>
          <p:cNvSpPr txBox="1"/>
          <p:nvPr>
            <p:ph idx="1" type="body"/>
          </p:nvPr>
        </p:nvSpPr>
        <p:spPr>
          <a:xfrm>
            <a:off x="324000" y="606900"/>
            <a:ext cx="8237700" cy="15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2 things have a multiplicative relationship, you can find any pair of </a:t>
            </a:r>
            <a:r>
              <a:rPr lang="en-GB" sz="2000"/>
              <a:t>equivalent</a:t>
            </a:r>
            <a:r>
              <a:rPr lang="en-GB" sz="2000"/>
              <a:t> values.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‘Z</a:t>
            </a:r>
            <a:r>
              <a:rPr lang="en-GB" sz="2000"/>
              <a:t>ings’ and ‘Zangs’ have a multiplicative relationship.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missing number of ‘zangs’?</a:t>
            </a:r>
            <a:endParaRPr sz="2000"/>
          </a:p>
        </p:txBody>
      </p:sp>
      <p:graphicFrame>
        <p:nvGraphicFramePr>
          <p:cNvPr id="1899" name="Google Shape;1899;p154"/>
          <p:cNvGraphicFramePr/>
          <p:nvPr/>
        </p:nvGraphicFramePr>
        <p:xfrm>
          <a:off x="2255525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316475"/>
                <a:gridCol w="2316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Zing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Zang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00" name="Google Shape;1900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54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2" name="Google Shape;1902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697" y="356216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54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4" name="Google Shape;1904;p154"/>
          <p:cNvGrpSpPr/>
          <p:nvPr/>
        </p:nvGrpSpPr>
        <p:grpSpPr>
          <a:xfrm>
            <a:off x="1226705" y="3239647"/>
            <a:ext cx="1812906" cy="1254386"/>
            <a:chOff x="1226698" y="2629975"/>
            <a:chExt cx="1566902" cy="1316250"/>
          </a:xfrm>
        </p:grpSpPr>
        <p:pic>
          <p:nvPicPr>
            <p:cNvPr id="1905" name="Google Shape;1905;p15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698" y="26299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6" name="Google Shape;1906;p154"/>
            <p:cNvSpPr txBox="1"/>
            <p:nvPr/>
          </p:nvSpPr>
          <p:spPr>
            <a:xfrm>
              <a:off x="1394100" y="27092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multiplier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for 3 to 20 is a fraction.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7" name="Google Shape;1907;p154"/>
          <p:cNvGrpSpPr/>
          <p:nvPr/>
        </p:nvGrpSpPr>
        <p:grpSpPr>
          <a:xfrm>
            <a:off x="3411200" y="3239575"/>
            <a:ext cx="4144650" cy="1554301"/>
            <a:chOff x="3411200" y="3239575"/>
            <a:chExt cx="4144650" cy="1554301"/>
          </a:xfrm>
        </p:grpSpPr>
        <p:pic>
          <p:nvPicPr>
            <p:cNvPr id="1908" name="Google Shape;1908;p15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3411200" y="3239575"/>
              <a:ext cx="4144650" cy="1554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9" name="Google Shape;1909;p154"/>
            <p:cNvSpPr txBox="1"/>
            <p:nvPr/>
          </p:nvSpPr>
          <p:spPr>
            <a:xfrm>
              <a:off x="3556200" y="3326725"/>
              <a:ext cx="3906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the multiplier from 3 to 18 is an integer.  Can we use the multiplicative relationship between the ‘zings’ and ‘zangs’?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0" name="Google Shape;1910;p154"/>
          <p:cNvGrpSpPr/>
          <p:nvPr/>
        </p:nvGrpSpPr>
        <p:grpSpPr>
          <a:xfrm>
            <a:off x="1302898" y="3239575"/>
            <a:ext cx="1566902" cy="1316250"/>
            <a:chOff x="1226698" y="2629975"/>
            <a:chExt cx="1566902" cy="1316250"/>
          </a:xfrm>
        </p:grpSpPr>
        <p:pic>
          <p:nvPicPr>
            <p:cNvPr id="1911" name="Google Shape;1911;p15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226698" y="26299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2" name="Google Shape;1912;p154"/>
            <p:cNvSpPr txBox="1"/>
            <p:nvPr/>
          </p:nvSpPr>
          <p:spPr>
            <a:xfrm>
              <a:off x="1394100" y="27092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of course we can.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913" name="Google Shape;1913;p154"/>
          <p:cNvGraphicFramePr/>
          <p:nvPr/>
        </p:nvGraphicFramePr>
        <p:xfrm>
          <a:off x="2255525" y="21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2316475"/>
                <a:gridCol w="2316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Zing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Zang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14" name="Google Shape;1914;p154"/>
          <p:cNvCxnSpPr/>
          <p:nvPr/>
        </p:nvCxnSpPr>
        <p:spPr>
          <a:xfrm flipH="1" rot="10800000">
            <a:off x="4140750" y="2682300"/>
            <a:ext cx="862500" cy="7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5" name="Google Shape;1915;p154"/>
          <p:cNvSpPr txBox="1"/>
          <p:nvPr/>
        </p:nvSpPr>
        <p:spPr>
          <a:xfrm>
            <a:off x="4376981" y="2380369"/>
            <a:ext cx="431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× 6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921" name="Google Shape;1921;p155"/>
          <p:cNvSpPr txBox="1"/>
          <p:nvPr>
            <p:ph idx="1" type="body"/>
          </p:nvPr>
        </p:nvSpPr>
        <p:spPr>
          <a:xfrm>
            <a:off x="324000" y="759300"/>
            <a:ext cx="82377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each of the following ratio tables decide if it is easier to use the </a:t>
            </a:r>
            <a:r>
              <a:rPr lang="en-GB">
                <a:solidFill>
                  <a:schemeClr val="accent5"/>
                </a:solidFill>
              </a:rPr>
              <a:t>multiplicative</a:t>
            </a:r>
            <a:r>
              <a:rPr lang="en-GB"/>
              <a:t> relationship horizontally or vertically:</a:t>
            </a:r>
            <a:endParaRPr/>
          </a:p>
        </p:txBody>
      </p:sp>
      <p:cxnSp>
        <p:nvCxnSpPr>
          <p:cNvPr id="1922" name="Google Shape;1922;p155"/>
          <p:cNvCxnSpPr/>
          <p:nvPr/>
        </p:nvCxnSpPr>
        <p:spPr>
          <a:xfrm>
            <a:off x="4449050" y="1549150"/>
            <a:ext cx="534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155"/>
          <p:cNvCxnSpPr/>
          <p:nvPr/>
        </p:nvCxnSpPr>
        <p:spPr>
          <a:xfrm flipH="1">
            <a:off x="6532300" y="1480500"/>
            <a:ext cx="7500" cy="374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24" name="Google Shape;1924;p155"/>
          <p:cNvGraphicFramePr/>
          <p:nvPr/>
        </p:nvGraphicFramePr>
        <p:xfrm>
          <a:off x="860225" y="22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5" name="Google Shape;1925;p155"/>
          <p:cNvGraphicFramePr/>
          <p:nvPr/>
        </p:nvGraphicFramePr>
        <p:xfrm>
          <a:off x="860225" y="39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6" name="Google Shape;1926;p155"/>
          <p:cNvGraphicFramePr/>
          <p:nvPr/>
        </p:nvGraphicFramePr>
        <p:xfrm>
          <a:off x="3679625" y="22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7" name="Google Shape;1927;p155"/>
          <p:cNvGraphicFramePr/>
          <p:nvPr/>
        </p:nvGraphicFramePr>
        <p:xfrm>
          <a:off x="3679625" y="39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8" name="Google Shape;1928;p155"/>
          <p:cNvGraphicFramePr/>
          <p:nvPr/>
        </p:nvGraphicFramePr>
        <p:xfrm>
          <a:off x="6499025" y="22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9" name="Google Shape;1929;p155"/>
          <p:cNvGraphicFramePr/>
          <p:nvPr/>
        </p:nvGraphicFramePr>
        <p:xfrm>
          <a:off x="6499025" y="393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30" name="Google Shape;1930;p155"/>
          <p:cNvCxnSpPr/>
          <p:nvPr/>
        </p:nvCxnSpPr>
        <p:spPr>
          <a:xfrm>
            <a:off x="1417650" y="2106025"/>
            <a:ext cx="534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1" name="Google Shape;1931;p155"/>
          <p:cNvCxnSpPr/>
          <p:nvPr/>
        </p:nvCxnSpPr>
        <p:spPr>
          <a:xfrm flipH="1">
            <a:off x="3498725" y="2415325"/>
            <a:ext cx="3600" cy="374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2" name="Google Shape;1932;p155"/>
          <p:cNvCxnSpPr/>
          <p:nvPr/>
        </p:nvCxnSpPr>
        <p:spPr>
          <a:xfrm flipH="1">
            <a:off x="8325425" y="2415325"/>
            <a:ext cx="7500" cy="374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3" name="Google Shape;1933;p155"/>
          <p:cNvCxnSpPr/>
          <p:nvPr/>
        </p:nvCxnSpPr>
        <p:spPr>
          <a:xfrm>
            <a:off x="1417650" y="3780000"/>
            <a:ext cx="534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4" name="Google Shape;1934;p155"/>
          <p:cNvCxnSpPr/>
          <p:nvPr/>
        </p:nvCxnSpPr>
        <p:spPr>
          <a:xfrm>
            <a:off x="4237050" y="3780000"/>
            <a:ext cx="534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5" name="Google Shape;1935;p155"/>
          <p:cNvCxnSpPr/>
          <p:nvPr/>
        </p:nvCxnSpPr>
        <p:spPr>
          <a:xfrm flipH="1">
            <a:off x="6310550" y="4132950"/>
            <a:ext cx="7500" cy="374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6" name="Google Shape;1936;p155"/>
          <p:cNvCxnSpPr/>
          <p:nvPr/>
        </p:nvCxnSpPr>
        <p:spPr>
          <a:xfrm>
            <a:off x="7056450" y="3780000"/>
            <a:ext cx="534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942" name="Google Shape;1942;p156"/>
          <p:cNvSpPr txBox="1"/>
          <p:nvPr>
            <p:ph idx="1" type="subTitle"/>
          </p:nvPr>
        </p:nvSpPr>
        <p:spPr>
          <a:xfrm>
            <a:off x="337825" y="810000"/>
            <a:ext cx="3982200" cy="3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missing value:</a:t>
            </a:r>
            <a:endParaRPr/>
          </a:p>
        </p:txBody>
      </p:sp>
      <p:sp>
        <p:nvSpPr>
          <p:cNvPr id="1943" name="Google Shape;1943;p156"/>
          <p:cNvSpPr txBox="1"/>
          <p:nvPr>
            <p:ph idx="2" type="subTitle"/>
          </p:nvPr>
        </p:nvSpPr>
        <p:spPr>
          <a:xfrm>
            <a:off x="4824000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missing value:</a:t>
            </a:r>
            <a:endParaRPr/>
          </a:p>
        </p:txBody>
      </p:sp>
      <p:graphicFrame>
        <p:nvGraphicFramePr>
          <p:cNvPr id="1944" name="Google Shape;1944;p156"/>
          <p:cNvGraphicFramePr/>
          <p:nvPr/>
        </p:nvGraphicFramePr>
        <p:xfrm>
          <a:off x="1469825" y="2178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45" name="Google Shape;1945;p156"/>
          <p:cNvCxnSpPr/>
          <p:nvPr/>
        </p:nvCxnSpPr>
        <p:spPr>
          <a:xfrm>
            <a:off x="2027250" y="2019769"/>
            <a:ext cx="534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6" name="Google Shape;1946;p156"/>
          <p:cNvSpPr txBox="1"/>
          <p:nvPr/>
        </p:nvSpPr>
        <p:spPr>
          <a:xfrm>
            <a:off x="2006850" y="1627519"/>
            <a:ext cx="7275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× 120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7" name="Google Shape;1947;p156"/>
          <p:cNvGraphicFramePr/>
          <p:nvPr/>
        </p:nvGraphicFramePr>
        <p:xfrm>
          <a:off x="1469825" y="2178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3840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48" name="Google Shape;1948;p156"/>
          <p:cNvGraphicFramePr/>
          <p:nvPr/>
        </p:nvGraphicFramePr>
        <p:xfrm>
          <a:off x="6118025" y="22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949" name="Google Shape;1949;p156"/>
          <p:cNvCxnSpPr/>
          <p:nvPr/>
        </p:nvCxnSpPr>
        <p:spPr>
          <a:xfrm flipH="1">
            <a:off x="7944425" y="2415325"/>
            <a:ext cx="7500" cy="374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950" name="Google Shape;1950;p156"/>
          <p:cNvGraphicFramePr/>
          <p:nvPr/>
        </p:nvGraphicFramePr>
        <p:xfrm>
          <a:off x="6118025" y="222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1" name="Google Shape;1951;p156"/>
          <p:cNvSpPr txBox="1"/>
          <p:nvPr/>
        </p:nvSpPr>
        <p:spPr>
          <a:xfrm>
            <a:off x="8035350" y="2385300"/>
            <a:ext cx="3591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× 4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57"/>
          <p:cNvSpPr txBox="1"/>
          <p:nvPr>
            <p:ph idx="4294967295" type="body"/>
          </p:nvPr>
        </p:nvSpPr>
        <p:spPr>
          <a:xfrm>
            <a:off x="324000" y="759300"/>
            <a:ext cx="82377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the missing value in each of the following:</a:t>
            </a:r>
            <a:endParaRPr/>
          </a:p>
        </p:txBody>
      </p:sp>
      <p:graphicFrame>
        <p:nvGraphicFramePr>
          <p:cNvPr id="1957" name="Google Shape;1957;p157"/>
          <p:cNvGraphicFramePr/>
          <p:nvPr/>
        </p:nvGraphicFramePr>
        <p:xfrm>
          <a:off x="860225" y="16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8" name="Google Shape;1958;p157"/>
          <p:cNvGraphicFramePr/>
          <p:nvPr/>
        </p:nvGraphicFramePr>
        <p:xfrm>
          <a:off x="860225" y="33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9" name="Google Shape;1959;p157"/>
          <p:cNvGraphicFramePr/>
          <p:nvPr/>
        </p:nvGraphicFramePr>
        <p:xfrm>
          <a:off x="3679625" y="16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0" name="Google Shape;1960;p157"/>
          <p:cNvGraphicFramePr/>
          <p:nvPr/>
        </p:nvGraphicFramePr>
        <p:xfrm>
          <a:off x="3679625" y="33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1" name="Google Shape;1961;p157"/>
          <p:cNvGraphicFramePr/>
          <p:nvPr/>
        </p:nvGraphicFramePr>
        <p:xfrm>
          <a:off x="6499025" y="16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62" name="Google Shape;1962;p157"/>
          <p:cNvGraphicFramePr/>
          <p:nvPr/>
        </p:nvGraphicFramePr>
        <p:xfrm>
          <a:off x="6499025" y="33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3" name="Google Shape;1963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units of measure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	Write the following in order from the lightest to the heaviest.  Use the conversion 1 kg = 2.2 pounds.</a:t>
            </a:r>
            <a:endParaRPr/>
          </a:p>
        </p:txBody>
      </p:sp>
      <p:sp>
        <p:nvSpPr>
          <p:cNvPr id="1969" name="Google Shape;1969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1970" name="Google Shape;1970;p158"/>
          <p:cNvSpPr txBox="1"/>
          <p:nvPr>
            <p:ph idx="1" type="body"/>
          </p:nvPr>
        </p:nvSpPr>
        <p:spPr>
          <a:xfrm>
            <a:off x="324000" y="28929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	Write the following in order from the shortest to the tallest.  Use the conversion 1 inch = 2.54 cm.</a:t>
            </a:r>
            <a:endParaRPr/>
          </a:p>
        </p:txBody>
      </p:sp>
      <p:pic>
        <p:nvPicPr>
          <p:cNvPr id="1971" name="Google Shape;1971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5245" y="1512113"/>
            <a:ext cx="881030" cy="95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9954" y="1588317"/>
            <a:ext cx="1071416" cy="95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158"/>
          <p:cNvPicPr preferRelativeResize="0"/>
          <p:nvPr/>
        </p:nvPicPr>
        <p:blipFill rotWithShape="1">
          <a:blip r:embed="rId5">
            <a:alphaModFix/>
          </a:blip>
          <a:srcRect b="0" l="49617" r="0" t="0"/>
          <a:stretch/>
        </p:blipFill>
        <p:spPr>
          <a:xfrm>
            <a:off x="318055" y="1623117"/>
            <a:ext cx="1123116" cy="916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58"/>
          <p:cNvSpPr txBox="1"/>
          <p:nvPr/>
        </p:nvSpPr>
        <p:spPr>
          <a:xfrm>
            <a:off x="7176570" y="2587575"/>
            <a:ext cx="844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2.05 kg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8"/>
          <p:cNvSpPr txBox="1"/>
          <p:nvPr/>
        </p:nvSpPr>
        <p:spPr>
          <a:xfrm>
            <a:off x="4734779" y="2587575"/>
            <a:ext cx="141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4.62 pounds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6" name="Google Shape;1976;p158"/>
          <p:cNvGrpSpPr/>
          <p:nvPr/>
        </p:nvGrpSpPr>
        <p:grpSpPr>
          <a:xfrm>
            <a:off x="4885316" y="1921160"/>
            <a:ext cx="1193657" cy="541183"/>
            <a:chOff x="4832450" y="3666000"/>
            <a:chExt cx="2110800" cy="957000"/>
          </a:xfrm>
        </p:grpSpPr>
        <p:sp>
          <p:nvSpPr>
            <p:cNvPr id="1977" name="Google Shape;1977;p158"/>
            <p:cNvSpPr/>
            <p:nvPr/>
          </p:nvSpPr>
          <p:spPr>
            <a:xfrm>
              <a:off x="4832450" y="3666000"/>
              <a:ext cx="2110800" cy="957000"/>
            </a:xfrm>
            <a:prstGeom prst="cube">
              <a:avLst>
                <a:gd fmla="val 25000" name="adj"/>
              </a:avLst>
            </a:prstGeom>
            <a:solidFill>
              <a:srgbClr val="F2C2AA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158"/>
            <p:cNvSpPr/>
            <p:nvPr/>
          </p:nvSpPr>
          <p:spPr>
            <a:xfrm>
              <a:off x="5233358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158"/>
            <p:cNvSpPr/>
            <p:nvPr/>
          </p:nvSpPr>
          <p:spPr>
            <a:xfrm>
              <a:off x="6004139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158"/>
          <p:cNvSpPr txBox="1"/>
          <p:nvPr/>
        </p:nvSpPr>
        <p:spPr>
          <a:xfrm>
            <a:off x="626995" y="2587575"/>
            <a:ext cx="691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2.3 kg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8"/>
          <p:cNvSpPr txBox="1"/>
          <p:nvPr/>
        </p:nvSpPr>
        <p:spPr>
          <a:xfrm>
            <a:off x="2340387" y="2587575"/>
            <a:ext cx="1372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4.18 pounds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58"/>
          <p:cNvSpPr txBox="1"/>
          <p:nvPr/>
        </p:nvSpPr>
        <p:spPr>
          <a:xfrm>
            <a:off x="7922225" y="1199525"/>
            <a:ext cx="844200" cy="75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Images are not to scale.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3" name="Google Shape;1983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2700" y="3799575"/>
            <a:ext cx="930500" cy="98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4" name="Google Shape;1984;p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8633" y="3782125"/>
            <a:ext cx="400924" cy="92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5" name="Google Shape;1985;p1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84990" y="3750125"/>
            <a:ext cx="727500" cy="97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1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57922" y="3766698"/>
            <a:ext cx="640727" cy="908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7" name="Google Shape;1987;p158"/>
          <p:cNvCxnSpPr/>
          <p:nvPr/>
        </p:nvCxnSpPr>
        <p:spPr>
          <a:xfrm>
            <a:off x="1140600" y="37799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8" name="Google Shape;1988;p158"/>
          <p:cNvSpPr txBox="1"/>
          <p:nvPr/>
        </p:nvSpPr>
        <p:spPr>
          <a:xfrm>
            <a:off x="336850" y="39541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9.5 inches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9" name="Google Shape;1989;p158"/>
          <p:cNvCxnSpPr/>
          <p:nvPr/>
        </p:nvCxnSpPr>
        <p:spPr>
          <a:xfrm>
            <a:off x="3655200" y="37799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0" name="Google Shape;1990;p158"/>
          <p:cNvSpPr txBox="1"/>
          <p:nvPr/>
        </p:nvSpPr>
        <p:spPr>
          <a:xfrm>
            <a:off x="2851450" y="39541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20.32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1" name="Google Shape;1991;p158"/>
          <p:cNvCxnSpPr/>
          <p:nvPr/>
        </p:nvCxnSpPr>
        <p:spPr>
          <a:xfrm>
            <a:off x="5407800" y="37799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2" name="Google Shape;1992;p158"/>
          <p:cNvSpPr txBox="1"/>
          <p:nvPr/>
        </p:nvSpPr>
        <p:spPr>
          <a:xfrm>
            <a:off x="4604050" y="39541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8.5 inches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3" name="Google Shape;1993;p158"/>
          <p:cNvCxnSpPr/>
          <p:nvPr/>
        </p:nvCxnSpPr>
        <p:spPr>
          <a:xfrm>
            <a:off x="7617600" y="37799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4" name="Google Shape;1994;p158"/>
          <p:cNvSpPr txBox="1"/>
          <p:nvPr/>
        </p:nvSpPr>
        <p:spPr>
          <a:xfrm>
            <a:off x="6813850" y="39541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22.86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1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	Write the following in order from the closest to the furthest from this sign.  Use the conversion 5 miles = 8 km.</a:t>
            </a:r>
            <a:endParaRPr/>
          </a:p>
        </p:txBody>
      </p:sp>
      <p:sp>
        <p:nvSpPr>
          <p:cNvPr id="2000" name="Google Shape;2000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2001" name="Google Shape;2001;p159"/>
          <p:cNvSpPr/>
          <p:nvPr/>
        </p:nvSpPr>
        <p:spPr>
          <a:xfrm>
            <a:off x="4324650" y="1943100"/>
            <a:ext cx="274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TOWN C    15.1 km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59"/>
          <p:cNvSpPr/>
          <p:nvPr/>
        </p:nvSpPr>
        <p:spPr>
          <a:xfrm>
            <a:off x="4324650" y="2711400"/>
            <a:ext cx="30303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TOWN D   9.25 miles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59"/>
          <p:cNvSpPr/>
          <p:nvPr/>
        </p:nvSpPr>
        <p:spPr>
          <a:xfrm flipH="1">
            <a:off x="1124250" y="1813725"/>
            <a:ext cx="274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14.6 km   TOWN 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59"/>
          <p:cNvSpPr/>
          <p:nvPr/>
        </p:nvSpPr>
        <p:spPr>
          <a:xfrm flipH="1">
            <a:off x="1124250" y="2453250"/>
            <a:ext cx="274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 miles    TOWN 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59"/>
          <p:cNvSpPr/>
          <p:nvPr/>
        </p:nvSpPr>
        <p:spPr>
          <a:xfrm>
            <a:off x="3858500" y="1684825"/>
            <a:ext cx="466200" cy="2933100"/>
          </a:xfrm>
          <a:prstGeom prst="rect">
            <a:avLst/>
          </a:prstGeom>
          <a:solidFill>
            <a:srgbClr val="DC9A76"/>
          </a:solidFill>
          <a:ln cap="flat" cmpd="sng" w="38100">
            <a:solidFill>
              <a:srgbClr val="DC9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59"/>
          <p:cNvSpPr/>
          <p:nvPr/>
        </p:nvSpPr>
        <p:spPr>
          <a:xfrm rot="-9388673">
            <a:off x="4073228" y="4073247"/>
            <a:ext cx="183336" cy="628559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59"/>
          <p:cNvSpPr/>
          <p:nvPr/>
        </p:nvSpPr>
        <p:spPr>
          <a:xfrm rot="-9388673">
            <a:off x="4141828" y="4073247"/>
            <a:ext cx="183336" cy="628559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59"/>
          <p:cNvSpPr/>
          <p:nvPr/>
        </p:nvSpPr>
        <p:spPr>
          <a:xfrm rot="-9388673">
            <a:off x="4228340" y="4073247"/>
            <a:ext cx="183336" cy="628559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159"/>
          <p:cNvSpPr/>
          <p:nvPr/>
        </p:nvSpPr>
        <p:spPr>
          <a:xfrm rot="10800000">
            <a:off x="3999934" y="4073250"/>
            <a:ext cx="183330" cy="628560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59"/>
          <p:cNvSpPr/>
          <p:nvPr/>
        </p:nvSpPr>
        <p:spPr>
          <a:xfrm rot="10800000">
            <a:off x="3906159" y="4073250"/>
            <a:ext cx="183330" cy="628560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59"/>
          <p:cNvSpPr/>
          <p:nvPr/>
        </p:nvSpPr>
        <p:spPr>
          <a:xfrm rot="10800000">
            <a:off x="3816584" y="4115650"/>
            <a:ext cx="183330" cy="628560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59"/>
          <p:cNvSpPr/>
          <p:nvPr/>
        </p:nvSpPr>
        <p:spPr>
          <a:xfrm rot="-10349139">
            <a:off x="3776290" y="4115640"/>
            <a:ext cx="183338" cy="628556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159"/>
          <p:cNvSpPr/>
          <p:nvPr/>
        </p:nvSpPr>
        <p:spPr>
          <a:xfrm rot="-10349139">
            <a:off x="4228340" y="4073253"/>
            <a:ext cx="183338" cy="628556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60"/>
          <p:cNvSpPr txBox="1"/>
          <p:nvPr>
            <p:ph idx="4294967295" type="body"/>
          </p:nvPr>
        </p:nvSpPr>
        <p:spPr>
          <a:xfrm>
            <a:off x="324000" y="759300"/>
            <a:ext cx="8237700" cy="72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the missing value in each of the following:</a:t>
            </a:r>
            <a:endParaRPr/>
          </a:p>
        </p:txBody>
      </p:sp>
      <p:graphicFrame>
        <p:nvGraphicFramePr>
          <p:cNvPr id="2019" name="Google Shape;2019;p160"/>
          <p:cNvGraphicFramePr/>
          <p:nvPr/>
        </p:nvGraphicFramePr>
        <p:xfrm>
          <a:off x="860225" y="16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0" name="Google Shape;2020;p160"/>
          <p:cNvGraphicFramePr/>
          <p:nvPr/>
        </p:nvGraphicFramePr>
        <p:xfrm>
          <a:off x="860225" y="33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6270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1" name="Google Shape;2021;p160"/>
          <p:cNvGraphicFramePr/>
          <p:nvPr/>
        </p:nvGraphicFramePr>
        <p:xfrm>
          <a:off x="3679625" y="16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2" name="Google Shape;2022;p160"/>
          <p:cNvGraphicFramePr/>
          <p:nvPr/>
        </p:nvGraphicFramePr>
        <p:xfrm>
          <a:off x="3679625" y="33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3" name="Google Shape;2023;p160"/>
          <p:cNvGraphicFramePr/>
          <p:nvPr/>
        </p:nvGraphicFramePr>
        <p:xfrm>
          <a:off x="6499025" y="161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4" name="Google Shape;2024;p160"/>
          <p:cNvGraphicFramePr/>
          <p:nvPr/>
        </p:nvGraphicFramePr>
        <p:xfrm>
          <a:off x="6499025" y="332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{0C4F49B9-DBEA-4DE9-BD46-59BCEDED4CF0}</a:tableStyleId>
              </a:tblPr>
              <a:tblGrid>
                <a:gridCol w="824575"/>
                <a:gridCol w="824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297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5" name="Google Shape;2025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Converting between units of measure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161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	Write the following in order from the </a:t>
            </a:r>
            <a:r>
              <a:rPr lang="en-GB"/>
              <a:t>lightest</a:t>
            </a:r>
            <a:r>
              <a:rPr lang="en-GB"/>
              <a:t> to the heaviest.  Use the </a:t>
            </a:r>
            <a:r>
              <a:rPr lang="en-GB"/>
              <a:t>conversion</a:t>
            </a:r>
            <a:r>
              <a:rPr lang="en-GB"/>
              <a:t> 1 kg = 2.2 pounds.</a:t>
            </a:r>
            <a:endParaRPr/>
          </a:p>
        </p:txBody>
      </p:sp>
      <p:sp>
        <p:nvSpPr>
          <p:cNvPr id="2031" name="Google Shape;2031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2032" name="Google Shape;2032;p161"/>
          <p:cNvSpPr txBox="1"/>
          <p:nvPr>
            <p:ph idx="1" type="body"/>
          </p:nvPr>
        </p:nvSpPr>
        <p:spPr>
          <a:xfrm>
            <a:off x="324000" y="28929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	</a:t>
            </a:r>
            <a:r>
              <a:rPr lang="en-GB"/>
              <a:t>Write the following in order from the shortest to the tallest.  Use the conversion 1 inch = 2.54 cm.</a:t>
            </a:r>
            <a:endParaRPr/>
          </a:p>
        </p:txBody>
      </p:sp>
      <p:pic>
        <p:nvPicPr>
          <p:cNvPr id="2033" name="Google Shape;2033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700" y="3647175"/>
            <a:ext cx="930500" cy="98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4" name="Google Shape;2034;p1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8633" y="3629725"/>
            <a:ext cx="400924" cy="92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5" name="Google Shape;2035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4990" y="3597725"/>
            <a:ext cx="727500" cy="97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1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57922" y="3614298"/>
            <a:ext cx="640727" cy="908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7" name="Google Shape;2037;p161"/>
          <p:cNvCxnSpPr/>
          <p:nvPr/>
        </p:nvCxnSpPr>
        <p:spPr>
          <a:xfrm>
            <a:off x="1140600" y="36275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8" name="Google Shape;2038;p161"/>
          <p:cNvSpPr txBox="1"/>
          <p:nvPr/>
        </p:nvSpPr>
        <p:spPr>
          <a:xfrm>
            <a:off x="336850" y="38017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9.5 inches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9" name="Google Shape;2039;p161"/>
          <p:cNvCxnSpPr/>
          <p:nvPr/>
        </p:nvCxnSpPr>
        <p:spPr>
          <a:xfrm>
            <a:off x="3655200" y="36275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40" name="Google Shape;2040;p161"/>
          <p:cNvSpPr txBox="1"/>
          <p:nvPr/>
        </p:nvSpPr>
        <p:spPr>
          <a:xfrm>
            <a:off x="2851450" y="38017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20.32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1" name="Google Shape;2041;p161"/>
          <p:cNvCxnSpPr/>
          <p:nvPr/>
        </p:nvCxnSpPr>
        <p:spPr>
          <a:xfrm>
            <a:off x="5407800" y="36275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42" name="Google Shape;2042;p161"/>
          <p:cNvSpPr txBox="1"/>
          <p:nvPr/>
        </p:nvSpPr>
        <p:spPr>
          <a:xfrm>
            <a:off x="4604050" y="38017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8.5 inches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3" name="Google Shape;2043;p161"/>
          <p:cNvCxnSpPr/>
          <p:nvPr/>
        </p:nvCxnSpPr>
        <p:spPr>
          <a:xfrm>
            <a:off x="7617600" y="3627525"/>
            <a:ext cx="0" cy="92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44" name="Google Shape;2044;p161"/>
          <p:cNvSpPr txBox="1"/>
          <p:nvPr/>
        </p:nvSpPr>
        <p:spPr>
          <a:xfrm>
            <a:off x="6813850" y="3801700"/>
            <a:ext cx="7275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22.86 cm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61"/>
          <p:cNvSpPr txBox="1"/>
          <p:nvPr/>
        </p:nvSpPr>
        <p:spPr>
          <a:xfrm>
            <a:off x="337072" y="2663775"/>
            <a:ext cx="4234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 order: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cheese, sack, brick, box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6" name="Google Shape;2046;p161"/>
          <p:cNvSpPr txBox="1"/>
          <p:nvPr/>
        </p:nvSpPr>
        <p:spPr>
          <a:xfrm>
            <a:off x="324001" y="4575600"/>
            <a:ext cx="5325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 order:  feather, teddy bear, flower, robot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47" name="Google Shape;2047;p1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85245" y="1290903"/>
            <a:ext cx="881030" cy="95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8" name="Google Shape;2048;p1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39954" y="1367107"/>
            <a:ext cx="1071416" cy="951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9" name="Google Shape;2049;p161"/>
          <p:cNvPicPr preferRelativeResize="0"/>
          <p:nvPr/>
        </p:nvPicPr>
        <p:blipFill rotWithShape="1">
          <a:blip r:embed="rId9">
            <a:alphaModFix/>
          </a:blip>
          <a:srcRect b="0" l="49617" r="0" t="0"/>
          <a:stretch/>
        </p:blipFill>
        <p:spPr>
          <a:xfrm>
            <a:off x="318055" y="1401907"/>
            <a:ext cx="1123116" cy="9168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161"/>
          <p:cNvSpPr txBox="1"/>
          <p:nvPr/>
        </p:nvSpPr>
        <p:spPr>
          <a:xfrm>
            <a:off x="7176570" y="2366365"/>
            <a:ext cx="844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2.05 kg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61"/>
          <p:cNvSpPr txBox="1"/>
          <p:nvPr/>
        </p:nvSpPr>
        <p:spPr>
          <a:xfrm>
            <a:off x="4734779" y="2366365"/>
            <a:ext cx="141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4.62 pounds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2" name="Google Shape;2052;p161"/>
          <p:cNvGrpSpPr/>
          <p:nvPr/>
        </p:nvGrpSpPr>
        <p:grpSpPr>
          <a:xfrm>
            <a:off x="4885316" y="1699950"/>
            <a:ext cx="1193657" cy="541183"/>
            <a:chOff x="4832450" y="3666000"/>
            <a:chExt cx="2110800" cy="957000"/>
          </a:xfrm>
        </p:grpSpPr>
        <p:sp>
          <p:nvSpPr>
            <p:cNvPr id="2053" name="Google Shape;2053;p161"/>
            <p:cNvSpPr/>
            <p:nvPr/>
          </p:nvSpPr>
          <p:spPr>
            <a:xfrm>
              <a:off x="4832450" y="3666000"/>
              <a:ext cx="2110800" cy="957000"/>
            </a:xfrm>
            <a:prstGeom prst="cube">
              <a:avLst>
                <a:gd fmla="val 25000" name="adj"/>
              </a:avLst>
            </a:prstGeom>
            <a:solidFill>
              <a:srgbClr val="F2C2AA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161"/>
            <p:cNvSpPr/>
            <p:nvPr/>
          </p:nvSpPr>
          <p:spPr>
            <a:xfrm>
              <a:off x="5233358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161"/>
            <p:cNvSpPr/>
            <p:nvPr/>
          </p:nvSpPr>
          <p:spPr>
            <a:xfrm>
              <a:off x="6004139" y="3749075"/>
              <a:ext cx="538200" cy="69300"/>
            </a:xfrm>
            <a:prstGeom prst="ellipse">
              <a:avLst/>
            </a:prstGeom>
            <a:solidFill>
              <a:srgbClr val="DC9A7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6" name="Google Shape;2056;p161"/>
          <p:cNvSpPr txBox="1"/>
          <p:nvPr/>
        </p:nvSpPr>
        <p:spPr>
          <a:xfrm>
            <a:off x="626995" y="2366365"/>
            <a:ext cx="691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2.3 kg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161"/>
          <p:cNvSpPr txBox="1"/>
          <p:nvPr/>
        </p:nvSpPr>
        <p:spPr>
          <a:xfrm>
            <a:off x="2340387" y="2366365"/>
            <a:ext cx="1372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4.18 pounds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61"/>
          <p:cNvSpPr txBox="1"/>
          <p:nvPr/>
        </p:nvSpPr>
        <p:spPr>
          <a:xfrm>
            <a:off x="7962725" y="978315"/>
            <a:ext cx="803700" cy="7590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Images are not to scale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6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</a:t>
            </a:r>
            <a:r>
              <a:rPr lang="en-GB"/>
              <a:t>)	Write the following in order from the closest to the furthest from this sign.  Use the conversion 5 miles = 8 km.</a:t>
            </a:r>
            <a:endParaRPr/>
          </a:p>
        </p:txBody>
      </p:sp>
      <p:sp>
        <p:nvSpPr>
          <p:cNvPr id="2064" name="Google Shape;2064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Converting between units of measure</a:t>
            </a:r>
            <a:endParaRPr/>
          </a:p>
        </p:txBody>
      </p:sp>
      <p:sp>
        <p:nvSpPr>
          <p:cNvPr id="2065" name="Google Shape;2065;p162"/>
          <p:cNvSpPr/>
          <p:nvPr/>
        </p:nvSpPr>
        <p:spPr>
          <a:xfrm>
            <a:off x="4324650" y="1790700"/>
            <a:ext cx="313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TOWN C    15.1 km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62"/>
          <p:cNvSpPr/>
          <p:nvPr/>
        </p:nvSpPr>
        <p:spPr>
          <a:xfrm>
            <a:off x="4324650" y="2559000"/>
            <a:ext cx="313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TOWN D   9.25 miles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62"/>
          <p:cNvSpPr/>
          <p:nvPr/>
        </p:nvSpPr>
        <p:spPr>
          <a:xfrm flipH="1">
            <a:off x="1124250" y="1661325"/>
            <a:ext cx="274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14.6 km   TOWN 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62"/>
          <p:cNvSpPr/>
          <p:nvPr/>
        </p:nvSpPr>
        <p:spPr>
          <a:xfrm flipH="1">
            <a:off x="1124250" y="2300850"/>
            <a:ext cx="2744700" cy="445200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 miles    TOWN 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62"/>
          <p:cNvSpPr/>
          <p:nvPr/>
        </p:nvSpPr>
        <p:spPr>
          <a:xfrm>
            <a:off x="3858500" y="1532425"/>
            <a:ext cx="466200" cy="2933100"/>
          </a:xfrm>
          <a:prstGeom prst="rect">
            <a:avLst/>
          </a:prstGeom>
          <a:solidFill>
            <a:srgbClr val="DC9A76"/>
          </a:solidFill>
          <a:ln cap="flat" cmpd="sng" w="38100">
            <a:solidFill>
              <a:srgbClr val="DC9A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62"/>
          <p:cNvSpPr/>
          <p:nvPr/>
        </p:nvSpPr>
        <p:spPr>
          <a:xfrm rot="-9388673">
            <a:off x="4073228" y="3920847"/>
            <a:ext cx="183336" cy="628559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62"/>
          <p:cNvSpPr/>
          <p:nvPr/>
        </p:nvSpPr>
        <p:spPr>
          <a:xfrm rot="-9388673">
            <a:off x="4141828" y="3920847"/>
            <a:ext cx="183336" cy="628559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2" name="Google Shape;2072;p162"/>
          <p:cNvSpPr/>
          <p:nvPr/>
        </p:nvSpPr>
        <p:spPr>
          <a:xfrm rot="-9388673">
            <a:off x="4228340" y="3920847"/>
            <a:ext cx="183336" cy="628559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62"/>
          <p:cNvSpPr/>
          <p:nvPr/>
        </p:nvSpPr>
        <p:spPr>
          <a:xfrm rot="10800000">
            <a:off x="3999934" y="3920850"/>
            <a:ext cx="183330" cy="628560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4" name="Google Shape;2074;p162"/>
          <p:cNvSpPr/>
          <p:nvPr/>
        </p:nvSpPr>
        <p:spPr>
          <a:xfrm rot="10800000">
            <a:off x="3906159" y="3920850"/>
            <a:ext cx="183330" cy="628560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62"/>
          <p:cNvSpPr/>
          <p:nvPr/>
        </p:nvSpPr>
        <p:spPr>
          <a:xfrm rot="10800000">
            <a:off x="3816584" y="3963250"/>
            <a:ext cx="183330" cy="628560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62"/>
          <p:cNvSpPr/>
          <p:nvPr/>
        </p:nvSpPr>
        <p:spPr>
          <a:xfrm rot="-10349139">
            <a:off x="3776290" y="3963240"/>
            <a:ext cx="183338" cy="628556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62"/>
          <p:cNvSpPr/>
          <p:nvPr/>
        </p:nvSpPr>
        <p:spPr>
          <a:xfrm rot="-10349139">
            <a:off x="4228340" y="3920853"/>
            <a:ext cx="183338" cy="628556"/>
          </a:xfrm>
          <a:prstGeom prst="lightningBolt">
            <a:avLst/>
          </a:prstGeom>
          <a:solidFill>
            <a:srgbClr val="93C47D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62"/>
          <p:cNvSpPr txBox="1"/>
          <p:nvPr/>
        </p:nvSpPr>
        <p:spPr>
          <a:xfrm>
            <a:off x="324000" y="4575600"/>
            <a:ext cx="5619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 order:  Town B, Town A, Town D, Town C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163"/>
          <p:cNvSpPr txBox="1"/>
          <p:nvPr>
            <p:ph idx="1" type="body"/>
          </p:nvPr>
        </p:nvSpPr>
        <p:spPr>
          <a:xfrm>
            <a:off x="324000" y="700200"/>
            <a:ext cx="8113800" cy="412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Map </a:t>
            </a:r>
            <a:r>
              <a:rPr lang="en-GB" sz="1800"/>
              <a:t>scales</a:t>
            </a:r>
            <a:r>
              <a:rPr lang="en-GB" sz="1800"/>
              <a:t> can be represented with a scale including units.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E.g.		</a:t>
            </a:r>
            <a:r>
              <a:rPr lang="en-GB" sz="1800"/>
              <a:t>1 cm = 18 km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More commonly the scales are represented as a ratio with no units.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E.g.		1 : 60 000 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ratio table is a useful way to convert between scales.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E.g.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ratio table can be used when </a:t>
            </a:r>
            <a:r>
              <a:rPr lang="en-GB" sz="1800"/>
              <a:t>converting other units.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E.g. 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084" name="Google Shape;2084;p16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more conversions with ratio</a:t>
            </a:r>
            <a:endParaRPr/>
          </a:p>
        </p:txBody>
      </p:sp>
      <p:pic>
        <p:nvPicPr>
          <p:cNvPr descr="A summary of Slide 19." id="2085" name="Google Shape;2085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775" y="2635562"/>
            <a:ext cx="2454725" cy="1208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table showing the conversion of inches to centimetres from Slide 26." id="2086" name="Google Shape;2086;p1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775" y="4172300"/>
            <a:ext cx="3579750" cy="6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16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92" name="Google Shape;2092;p1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