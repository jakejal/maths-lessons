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5024181-7F12-4BA6-94C7-CD8D5588751E}">
  <a:tblStyle styleId="{A5024181-7F12-4BA6-94C7-CD8D5588751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idx="2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idx="1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2.png"/><Relationship Id="rId5" Type="http://schemas.openxmlformats.org/officeDocument/2006/relationships/image" Target="../media/image8.png"/><Relationship Id="rId6" Type="http://schemas.openxmlformats.org/officeDocument/2006/relationships/image" Target="../media/image11.png"/><Relationship Id="rId7" Type="http://schemas.openxmlformats.org/officeDocument/2006/relationships/image" Target="../media/image9.png"/><Relationship Id="rId8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Describing more conversions with ratio</a:t>
            </a:r>
            <a:endParaRPr/>
          </a:p>
        </p:txBody>
      </p:sp>
      <p:sp>
        <p:nvSpPr>
          <p:cNvPr id="160" name="Google Shape;160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1" name="Google Shape;161;p20"/>
          <p:cNvSpPr txBox="1"/>
          <p:nvPr/>
        </p:nvSpPr>
        <p:spPr>
          <a:xfrm>
            <a:off x="6352325" y="9972000"/>
            <a:ext cx="48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>
                <a:solidFill>
                  <a:srgbClr val="000000"/>
                </a:solidFill>
                <a:latin typeface="Lexend Medium"/>
                <a:ea typeface="Lexend Medium"/>
                <a:cs typeface="Lexend Medium"/>
                <a:sym typeface="Lexend Medium"/>
              </a:rPr>
              <a:t>‹#›</a:t>
            </a:fld>
            <a:endParaRPr sz="1200">
              <a:solidFill>
                <a:srgbClr val="00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162" name="Google Shape;162;p20"/>
          <p:cNvSpPr txBox="1"/>
          <p:nvPr/>
        </p:nvSpPr>
        <p:spPr>
          <a:xfrm>
            <a:off x="505500" y="1402675"/>
            <a:ext cx="4253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A:  Interpreting and using map scales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20"/>
          <p:cNvSpPr txBox="1"/>
          <p:nvPr/>
        </p:nvSpPr>
        <p:spPr>
          <a:xfrm>
            <a:off x="476400" y="16737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Complete the missing information in each row.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64" name="Google Shape;164;p20"/>
          <p:cNvGraphicFramePr/>
          <p:nvPr/>
        </p:nvGraphicFramePr>
        <p:xfrm>
          <a:off x="1057163" y="2065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{A5024181-7F12-4BA6-94C7-CD8D5588751E}</a:tableStyleId>
              </a:tblPr>
              <a:tblGrid>
                <a:gridCol w="1815225"/>
                <a:gridCol w="1815225"/>
                <a:gridCol w="1815225"/>
              </a:tblGrid>
              <a:tr h="333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Scale</a:t>
                      </a:r>
                      <a:endParaRPr b="1" sz="12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Map</a:t>
                      </a:r>
                      <a:endParaRPr b="1" sz="12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Real</a:t>
                      </a:r>
                      <a:endParaRPr b="1" sz="12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</a:tr>
              <a:tr h="333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 : 250 000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 cm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km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 cm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300 m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 : 40 000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 km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 : 3000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 cm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180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m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 cm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 km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 : 8000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1200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m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 : 600 000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 km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 cm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245 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km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 : 7500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5.2 cm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0.39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km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5" name="Google Shape;165;p20"/>
          <p:cNvSpPr txBox="1"/>
          <p:nvPr/>
        </p:nvSpPr>
        <p:spPr>
          <a:xfrm>
            <a:off x="505500" y="5898475"/>
            <a:ext cx="408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B:  Using ratio tables to find one part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20"/>
          <p:cNvSpPr txBox="1"/>
          <p:nvPr/>
        </p:nvSpPr>
        <p:spPr>
          <a:xfrm>
            <a:off x="476400" y="6245700"/>
            <a:ext cx="6624000" cy="7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Find the missing value in each of the following: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67" name="Google Shape;167;p20"/>
          <p:cNvGraphicFramePr/>
          <p:nvPr/>
        </p:nvGraphicFramePr>
        <p:xfrm>
          <a:off x="707825" y="6564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{A5024181-7F12-4BA6-94C7-CD8D5588751E}</a:tableStyleId>
              </a:tblPr>
              <a:tblGrid>
                <a:gridCol w="824575"/>
                <a:gridCol w="8245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68" name="Google Shape;168;p20"/>
          <p:cNvGraphicFramePr/>
          <p:nvPr/>
        </p:nvGraphicFramePr>
        <p:xfrm>
          <a:off x="707825" y="8358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{A5024181-7F12-4BA6-94C7-CD8D5588751E}</a:tableStyleId>
              </a:tblPr>
              <a:tblGrid>
                <a:gridCol w="824575"/>
                <a:gridCol w="8245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440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69" name="Google Shape;169;p20"/>
          <p:cNvGraphicFramePr/>
          <p:nvPr/>
        </p:nvGraphicFramePr>
        <p:xfrm>
          <a:off x="2955725" y="6564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{A5024181-7F12-4BA6-94C7-CD8D5588751E}</a:tableStyleId>
              </a:tblPr>
              <a:tblGrid>
                <a:gridCol w="824575"/>
                <a:gridCol w="8245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70" name="Google Shape;170;p20"/>
          <p:cNvGraphicFramePr/>
          <p:nvPr/>
        </p:nvGraphicFramePr>
        <p:xfrm>
          <a:off x="2955725" y="8358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{A5024181-7F12-4BA6-94C7-CD8D5588751E}</a:tableStyleId>
              </a:tblPr>
              <a:tblGrid>
                <a:gridCol w="824575"/>
                <a:gridCol w="8245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71" name="Google Shape;171;p20"/>
          <p:cNvGraphicFramePr/>
          <p:nvPr/>
        </p:nvGraphicFramePr>
        <p:xfrm>
          <a:off x="5203625" y="6564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{A5024181-7F12-4BA6-94C7-CD8D5588751E}</a:tableStyleId>
              </a:tblPr>
              <a:tblGrid>
                <a:gridCol w="824575"/>
                <a:gridCol w="8245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72" name="Google Shape;172;p20"/>
          <p:cNvGraphicFramePr/>
          <p:nvPr/>
        </p:nvGraphicFramePr>
        <p:xfrm>
          <a:off x="5203625" y="8358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{A5024181-7F12-4BA6-94C7-CD8D5588751E}</a:tableStyleId>
              </a:tblPr>
              <a:tblGrid>
                <a:gridCol w="824575"/>
                <a:gridCol w="8245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73" name="Google Shape;173;p20"/>
          <p:cNvCxnSpPr/>
          <p:nvPr/>
        </p:nvCxnSpPr>
        <p:spPr>
          <a:xfrm>
            <a:off x="465725" y="5639514"/>
            <a:ext cx="6598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9" name="Google Shape;179;p21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Describing more conversions with ratio</a:t>
            </a:r>
            <a:endParaRPr/>
          </a:p>
        </p:txBody>
      </p:sp>
      <p:sp>
        <p:nvSpPr>
          <p:cNvPr id="180" name="Google Shape;180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1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Mathematics in Education and Industry</a:t>
            </a:r>
            <a:endParaRPr sz="10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82" name="Google Shape;182;p21"/>
          <p:cNvSpPr txBox="1"/>
          <p:nvPr/>
        </p:nvSpPr>
        <p:spPr>
          <a:xfrm>
            <a:off x="552600" y="683100"/>
            <a:ext cx="5779200" cy="8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Write the following in order from the lightest to the heaviest.  Using the conversion 1 kg = 2.2 pounds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1"/>
          <p:cNvSpPr txBox="1"/>
          <p:nvPr/>
        </p:nvSpPr>
        <p:spPr>
          <a:xfrm>
            <a:off x="552600" y="3273900"/>
            <a:ext cx="6192000" cy="4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Write the following in order from the shortest to the tallest.  Using the conversion 1 inch = 2.54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4" name="Google Shape;18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6500" y="3718420"/>
            <a:ext cx="837267" cy="8825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47320" y="3702719"/>
            <a:ext cx="360752" cy="832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04731" y="3673925"/>
            <a:ext cx="654608" cy="8753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07543" y="3688837"/>
            <a:ext cx="576529" cy="81713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8" name="Google Shape;188;p21"/>
          <p:cNvCxnSpPr/>
          <p:nvPr/>
        </p:nvCxnSpPr>
        <p:spPr>
          <a:xfrm>
            <a:off x="1140600" y="3703725"/>
            <a:ext cx="0" cy="817200"/>
          </a:xfrm>
          <a:prstGeom prst="straightConnector1">
            <a:avLst/>
          </a:prstGeom>
          <a:noFill/>
          <a:ln cap="flat" cmpd="sng" w="19050">
            <a:solidFill>
              <a:srgbClr val="80808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89" name="Google Shape;189;p21"/>
          <p:cNvSpPr txBox="1"/>
          <p:nvPr/>
        </p:nvSpPr>
        <p:spPr>
          <a:xfrm>
            <a:off x="562801" y="3877900"/>
            <a:ext cx="5775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9.5 inches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0" name="Google Shape;190;p21"/>
          <p:cNvCxnSpPr/>
          <p:nvPr/>
        </p:nvCxnSpPr>
        <p:spPr>
          <a:xfrm>
            <a:off x="2969400" y="3703725"/>
            <a:ext cx="0" cy="817200"/>
          </a:xfrm>
          <a:prstGeom prst="straightConnector1">
            <a:avLst/>
          </a:prstGeom>
          <a:noFill/>
          <a:ln cap="flat" cmpd="sng" w="19050">
            <a:solidFill>
              <a:srgbClr val="80808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91" name="Google Shape;191;p21"/>
          <p:cNvSpPr txBox="1"/>
          <p:nvPr/>
        </p:nvSpPr>
        <p:spPr>
          <a:xfrm>
            <a:off x="2482786" y="3877900"/>
            <a:ext cx="5775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20.32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2" name="Google Shape;192;p21"/>
          <p:cNvCxnSpPr/>
          <p:nvPr/>
        </p:nvCxnSpPr>
        <p:spPr>
          <a:xfrm>
            <a:off x="4509551" y="3703725"/>
            <a:ext cx="0" cy="817200"/>
          </a:xfrm>
          <a:prstGeom prst="straightConnector1">
            <a:avLst/>
          </a:prstGeom>
          <a:noFill/>
          <a:ln cap="flat" cmpd="sng" w="19050">
            <a:solidFill>
              <a:srgbClr val="80808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93" name="Google Shape;193;p21"/>
          <p:cNvSpPr txBox="1"/>
          <p:nvPr/>
        </p:nvSpPr>
        <p:spPr>
          <a:xfrm>
            <a:off x="3950267" y="3877900"/>
            <a:ext cx="5775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8.5 inches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4" name="Google Shape;194;p21"/>
          <p:cNvCxnSpPr/>
          <p:nvPr/>
        </p:nvCxnSpPr>
        <p:spPr>
          <a:xfrm>
            <a:off x="6246000" y="3703725"/>
            <a:ext cx="0" cy="817200"/>
          </a:xfrm>
          <a:prstGeom prst="straightConnector1">
            <a:avLst/>
          </a:prstGeom>
          <a:noFill/>
          <a:ln cap="flat" cmpd="sng" w="19050">
            <a:solidFill>
              <a:srgbClr val="80808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95" name="Google Shape;195;p21"/>
          <p:cNvSpPr txBox="1"/>
          <p:nvPr/>
        </p:nvSpPr>
        <p:spPr>
          <a:xfrm>
            <a:off x="5704490" y="3877900"/>
            <a:ext cx="5775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22.86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6" name="Google Shape;196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888456" y="1096447"/>
            <a:ext cx="737721" cy="7968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407132" y="1153857"/>
            <a:ext cx="897139" cy="7968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 rotWithShape="1">
          <a:blip r:embed="rId9">
            <a:alphaModFix/>
          </a:blip>
          <a:srcRect b="0" l="49617" r="0" t="0"/>
          <a:stretch/>
        </p:blipFill>
        <p:spPr>
          <a:xfrm>
            <a:off x="546651" y="1182996"/>
            <a:ext cx="940427" cy="767746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/>
        </p:nvSpPr>
        <p:spPr>
          <a:xfrm>
            <a:off x="5992431" y="1985365"/>
            <a:ext cx="6702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2.05 kg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1"/>
          <p:cNvSpPr txBox="1"/>
          <p:nvPr/>
        </p:nvSpPr>
        <p:spPr>
          <a:xfrm>
            <a:off x="4054044" y="1985365"/>
            <a:ext cx="11271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4.62 pounds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1" name="Google Shape;201;p21"/>
          <p:cNvGrpSpPr/>
          <p:nvPr/>
        </p:nvGrpSpPr>
        <p:grpSpPr>
          <a:xfrm>
            <a:off x="4066123" y="1432496"/>
            <a:ext cx="999464" cy="453140"/>
            <a:chOff x="4832450" y="3666000"/>
            <a:chExt cx="2110800" cy="957000"/>
          </a:xfrm>
        </p:grpSpPr>
        <p:sp>
          <p:nvSpPr>
            <p:cNvPr id="202" name="Google Shape;202;p21"/>
            <p:cNvSpPr/>
            <p:nvPr/>
          </p:nvSpPr>
          <p:spPr>
            <a:xfrm>
              <a:off x="4832450" y="3666000"/>
              <a:ext cx="2110800" cy="957000"/>
            </a:xfrm>
            <a:prstGeom prst="cube">
              <a:avLst>
                <a:gd fmla="val 25000" name="adj"/>
              </a:avLst>
            </a:prstGeom>
            <a:solidFill>
              <a:srgbClr val="9E9E9E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21"/>
            <p:cNvSpPr/>
            <p:nvPr/>
          </p:nvSpPr>
          <p:spPr>
            <a:xfrm>
              <a:off x="5233358" y="3749075"/>
              <a:ext cx="538200" cy="69300"/>
            </a:xfrm>
            <a:prstGeom prst="ellipse">
              <a:avLst/>
            </a:prstGeom>
            <a:solidFill>
              <a:srgbClr val="DC9A7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21"/>
            <p:cNvSpPr/>
            <p:nvPr/>
          </p:nvSpPr>
          <p:spPr>
            <a:xfrm>
              <a:off x="6004139" y="3749075"/>
              <a:ext cx="538200" cy="69300"/>
            </a:xfrm>
            <a:prstGeom prst="ellipse">
              <a:avLst/>
            </a:prstGeom>
            <a:solidFill>
              <a:srgbClr val="DC9A7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5" name="Google Shape;205;p21"/>
          <p:cNvSpPr txBox="1"/>
          <p:nvPr/>
        </p:nvSpPr>
        <p:spPr>
          <a:xfrm>
            <a:off x="793129" y="1985365"/>
            <a:ext cx="5490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2.3 kg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1"/>
          <p:cNvSpPr txBox="1"/>
          <p:nvPr/>
        </p:nvSpPr>
        <p:spPr>
          <a:xfrm>
            <a:off x="2381885" y="1985365"/>
            <a:ext cx="10896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4.18 pounds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/>
        </p:nvSpPr>
        <p:spPr>
          <a:xfrm>
            <a:off x="6385900" y="565250"/>
            <a:ext cx="654600" cy="541200"/>
          </a:xfrm>
          <a:prstGeom prst="rect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Images are not to scale.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1"/>
          <p:cNvSpPr txBox="1"/>
          <p:nvPr/>
        </p:nvSpPr>
        <p:spPr>
          <a:xfrm>
            <a:off x="476400" y="5940900"/>
            <a:ext cx="6615600" cy="8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Write the following in order from the closest to the furthest from this sign.  Using the conversion 5 miles = 8 km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1"/>
          <p:cNvSpPr/>
          <p:nvPr/>
        </p:nvSpPr>
        <p:spPr>
          <a:xfrm>
            <a:off x="3950997" y="6609568"/>
            <a:ext cx="1952700" cy="345300"/>
          </a:xfrm>
          <a:prstGeom prst="homePlate">
            <a:avLst>
              <a:gd fmla="val 50000" name="adj"/>
            </a:avLst>
          </a:prstGeom>
          <a:noFill/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TOWN C    15.1 km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1"/>
          <p:cNvSpPr/>
          <p:nvPr/>
        </p:nvSpPr>
        <p:spPr>
          <a:xfrm>
            <a:off x="3950997" y="7205537"/>
            <a:ext cx="1952700" cy="345300"/>
          </a:xfrm>
          <a:prstGeom prst="homePlate">
            <a:avLst>
              <a:gd fmla="val 50000" name="adj"/>
            </a:avLst>
          </a:prstGeom>
          <a:noFill/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TOWN D   9.25 miles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1"/>
          <p:cNvSpPr/>
          <p:nvPr/>
        </p:nvSpPr>
        <p:spPr>
          <a:xfrm flipH="1">
            <a:off x="1957415" y="6509213"/>
            <a:ext cx="1709700" cy="345300"/>
          </a:xfrm>
          <a:prstGeom prst="homePlate">
            <a:avLst>
              <a:gd fmla="val 50000" name="adj"/>
            </a:avLst>
          </a:prstGeom>
          <a:noFill/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14.6 km   TOWN 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1"/>
          <p:cNvSpPr/>
          <p:nvPr/>
        </p:nvSpPr>
        <p:spPr>
          <a:xfrm flipH="1">
            <a:off x="1957415" y="7005291"/>
            <a:ext cx="1709700" cy="345300"/>
          </a:xfrm>
          <a:prstGeom prst="homePlate">
            <a:avLst>
              <a:gd fmla="val 50000" name="adj"/>
            </a:avLst>
          </a:prstGeom>
          <a:noFill/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9 miles    TOWN B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1"/>
          <p:cNvSpPr/>
          <p:nvPr/>
        </p:nvSpPr>
        <p:spPr>
          <a:xfrm>
            <a:off x="3660605" y="6409225"/>
            <a:ext cx="290400" cy="2275200"/>
          </a:xfrm>
          <a:prstGeom prst="rect">
            <a:avLst/>
          </a:prstGeom>
          <a:solidFill>
            <a:srgbClr val="B7B7B7"/>
          </a:solidFill>
          <a:ln cap="flat" cmpd="sng" w="3810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1"/>
          <p:cNvSpPr/>
          <p:nvPr/>
        </p:nvSpPr>
        <p:spPr>
          <a:xfrm rot="-9092453">
            <a:off x="3791918" y="8268921"/>
            <a:ext cx="119098" cy="473575"/>
          </a:xfrm>
          <a:prstGeom prst="lightningBolt">
            <a:avLst/>
          </a:prstGeom>
          <a:solidFill>
            <a:srgbClr val="666666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1"/>
          <p:cNvSpPr/>
          <p:nvPr/>
        </p:nvSpPr>
        <p:spPr>
          <a:xfrm rot="-9092453">
            <a:off x="3834652" y="8268921"/>
            <a:ext cx="119098" cy="473575"/>
          </a:xfrm>
          <a:prstGeom prst="lightningBolt">
            <a:avLst/>
          </a:prstGeom>
          <a:solidFill>
            <a:srgbClr val="666666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1"/>
          <p:cNvSpPr/>
          <p:nvPr/>
        </p:nvSpPr>
        <p:spPr>
          <a:xfrm rot="-9092453">
            <a:off x="3888546" y="8268921"/>
            <a:ext cx="119098" cy="473575"/>
          </a:xfrm>
          <a:prstGeom prst="lightningBolt">
            <a:avLst/>
          </a:prstGeom>
          <a:solidFill>
            <a:srgbClr val="666666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1"/>
          <p:cNvSpPr/>
          <p:nvPr/>
        </p:nvSpPr>
        <p:spPr>
          <a:xfrm rot="10800000">
            <a:off x="3748709" y="8261929"/>
            <a:ext cx="114210" cy="487566"/>
          </a:xfrm>
          <a:prstGeom prst="lightningBolt">
            <a:avLst/>
          </a:prstGeom>
          <a:solidFill>
            <a:srgbClr val="666666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1"/>
          <p:cNvSpPr/>
          <p:nvPr/>
        </p:nvSpPr>
        <p:spPr>
          <a:xfrm rot="10800000">
            <a:off x="3690291" y="8261929"/>
            <a:ext cx="114210" cy="487566"/>
          </a:xfrm>
          <a:prstGeom prst="lightningBolt">
            <a:avLst/>
          </a:prstGeom>
          <a:solidFill>
            <a:srgbClr val="666666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1"/>
          <p:cNvSpPr/>
          <p:nvPr/>
        </p:nvSpPr>
        <p:spPr>
          <a:xfrm rot="10800000">
            <a:off x="3634490" y="8294819"/>
            <a:ext cx="114210" cy="487566"/>
          </a:xfrm>
          <a:prstGeom prst="lightningBolt">
            <a:avLst/>
          </a:prstGeom>
          <a:solidFill>
            <a:srgbClr val="666666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1"/>
          <p:cNvSpPr/>
          <p:nvPr/>
        </p:nvSpPr>
        <p:spPr>
          <a:xfrm rot="-10241037">
            <a:off x="3609115" y="8295533"/>
            <a:ext cx="114752" cy="486111"/>
          </a:xfrm>
          <a:prstGeom prst="lightningBolt">
            <a:avLst/>
          </a:prstGeom>
          <a:solidFill>
            <a:srgbClr val="666666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1"/>
          <p:cNvSpPr/>
          <p:nvPr/>
        </p:nvSpPr>
        <p:spPr>
          <a:xfrm rot="-10241037">
            <a:off x="3890723" y="8262653"/>
            <a:ext cx="114752" cy="486111"/>
          </a:xfrm>
          <a:prstGeom prst="lightningBolt">
            <a:avLst/>
          </a:prstGeom>
          <a:solidFill>
            <a:srgbClr val="666666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