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4201CD9-2680-4ACC-AB72-8AED763C01E7}">
  <a:tblStyle styleId="{74201CD9-2680-4ACC-AB72-8AED763C01E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468000" y="679298"/>
            <a:ext cx="662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Deepening understanding with fractions of a given amount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3" name="Google Shape;173;p20"/>
          <p:cNvCxnSpPr/>
          <p:nvPr/>
        </p:nvCxnSpPr>
        <p:spPr>
          <a:xfrm>
            <a:off x="480750" y="9972000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" name="Google Shape;174;p20"/>
          <p:cNvSpPr txBox="1"/>
          <p:nvPr/>
        </p:nvSpPr>
        <p:spPr>
          <a:xfrm>
            <a:off x="505500" y="1321925"/>
            <a:ext cx="4743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 Bar models to find the original amount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76400" y="1673700"/>
            <a:ext cx="6598500" cy="14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Match each problem to the correct ba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model and solve.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Izzy is saving for a new camera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 has saved £42, which is two-fifths of the cost.  How much does the camera cost?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packet of crisps contains two-fifths extra free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;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it weighs 42 grams.  How heavy is the normal packet?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Alex buys a sweatshirt in a sale saving you two-fifths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 cost h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£42.  How much was it before the sale?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6" name="Google Shape;176;p20"/>
          <p:cNvGraphicFramePr/>
          <p:nvPr/>
        </p:nvGraphicFramePr>
        <p:xfrm>
          <a:off x="966350" y="5799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{74201CD9-2680-4ACC-AB72-8AED763C01E7}</a:tableStyleId>
              </a:tblPr>
              <a:tblGrid>
                <a:gridCol w="299950"/>
                <a:gridCol w="299950"/>
                <a:gridCol w="299950"/>
                <a:gridCol w="299950"/>
                <a:gridCol w="299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7" name="Google Shape;177;p20"/>
          <p:cNvGraphicFramePr/>
          <p:nvPr/>
        </p:nvGraphicFramePr>
        <p:xfrm>
          <a:off x="966350" y="7475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{74201CD9-2680-4ACC-AB72-8AED763C01E7}</a:tableStyleId>
              </a:tblPr>
              <a:tblGrid>
                <a:gridCol w="299950"/>
                <a:gridCol w="299950"/>
                <a:gridCol w="299950"/>
                <a:gridCol w="299950"/>
                <a:gridCol w="299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8" name="Google Shape;178;p20"/>
          <p:cNvGraphicFramePr/>
          <p:nvPr/>
        </p:nvGraphicFramePr>
        <p:xfrm>
          <a:off x="966350" y="4199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{74201CD9-2680-4ACC-AB72-8AED763C01E7}</a:tableStyleId>
              </a:tblPr>
              <a:tblGrid>
                <a:gridCol w="299950"/>
                <a:gridCol w="299950"/>
                <a:gridCol w="299950"/>
                <a:gridCol w="299950"/>
                <a:gridCol w="299950"/>
                <a:gridCol w="299950"/>
                <a:gridCol w="299950"/>
                <a:gridCol w="299950"/>
                <a:gridCol w="299950"/>
                <a:gridCol w="299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9" name="Google Shape;179;p20"/>
          <p:cNvSpPr/>
          <p:nvPr/>
        </p:nvSpPr>
        <p:spPr>
          <a:xfrm flipH="1" rot="-5400000">
            <a:off x="1921500" y="2993625"/>
            <a:ext cx="199800" cy="2106600"/>
          </a:xfrm>
          <a:prstGeom prst="leftBracket">
            <a:avLst>
              <a:gd fmla="val 0" name="adj"/>
            </a:avLst>
          </a:prstGeom>
          <a:noFill/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/>
          <p:nvPr/>
        </p:nvSpPr>
        <p:spPr>
          <a:xfrm flipH="1" rot="-5400000">
            <a:off x="1153875" y="5391861"/>
            <a:ext cx="199800" cy="588600"/>
          </a:xfrm>
          <a:prstGeom prst="leftBracket">
            <a:avLst>
              <a:gd fmla="val 0" name="adj"/>
            </a:avLst>
          </a:prstGeom>
          <a:noFill/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/>
          <p:nvPr/>
        </p:nvSpPr>
        <p:spPr>
          <a:xfrm flipH="1" rot="-5400000">
            <a:off x="1310200" y="6870225"/>
            <a:ext cx="199800" cy="906600"/>
          </a:xfrm>
          <a:prstGeom prst="leftBracket">
            <a:avLst>
              <a:gd fmla="val 0" name="adj"/>
            </a:avLst>
          </a:prstGeom>
          <a:noFill/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descr="&lt;math xmlns=&quot;http://www.w3.org/1998/Math/MathML&quot; display=&quot;block&quot; data-is-equatio=&quot;1&quot; data-latex=&quot;\frac{4}{5}\ \frac{1}{5}\ &quot;&gt;&lt;mfrac&gt;&lt;mn&gt;4&lt;/mn&gt;&lt;mn&gt;5&lt;/mn&gt;&lt;/mfrac&gt;&lt;mtext&gt;&lt;/mtext&gt;&lt;mfrac&gt;&lt;mn&gt;1&lt;/mn&gt;&lt;mn&gt;5&lt;/mn&gt;&lt;/mfrac&gt;&lt;mtext&gt;&lt;/mtext&gt;&lt;/math&gt;" id="182" name="Google Shape;182;p20" title="four fifths one fifth"/>
          <p:cNvSpPr txBox="1"/>
          <p:nvPr/>
        </p:nvSpPr>
        <p:spPr>
          <a:xfrm>
            <a:off x="1867800" y="3709200"/>
            <a:ext cx="3072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42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descr="&lt;math xmlns=&quot;http://www.w3.org/1998/Math/MathML&quot; display=&quot;block&quot; data-is-equatio=&quot;1&quot; data-latex=&quot;\frac{4}{5}\ \frac{1}{5}\ &quot;&gt;&lt;mfrac&gt;&lt;mn&gt;4&lt;/mn&gt;&lt;mn&gt;5&lt;/mn&gt;&lt;/mfrac&gt;&lt;mtext&gt;&lt;/mtext&gt;&lt;mfrac&gt;&lt;mn&gt;1&lt;/mn&gt;&lt;mn&gt;5&lt;/mn&gt;&lt;/mfrac&gt;&lt;mtext&gt;&lt;/mtext&gt;&lt;/math&gt;" id="183" name="Google Shape;183;p20" title="four fifths one fifth"/>
          <p:cNvSpPr txBox="1"/>
          <p:nvPr/>
        </p:nvSpPr>
        <p:spPr>
          <a:xfrm>
            <a:off x="1141400" y="5347500"/>
            <a:ext cx="339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42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descr="&lt;math xmlns=&quot;http://www.w3.org/1998/Math/MathML&quot; display=&quot;block&quot; data-is-equatio=&quot;1&quot; data-latex=&quot;\frac{4}{5}\ \frac{1}{5}\ &quot;&gt;&lt;mfrac&gt;&lt;mn&gt;4&lt;/mn&gt;&lt;mn&gt;5&lt;/mn&gt;&lt;/mfrac&gt;&lt;mtext&gt;&lt;/mtext&gt;&lt;mfrac&gt;&lt;mn&gt;1&lt;/mn&gt;&lt;mn&gt;5&lt;/mn&gt;&lt;/mfrac&gt;&lt;mtext&gt;&lt;/mtext&gt;&lt;/math&gt;" id="184" name="Google Shape;184;p20" title="four fifths one fifth"/>
          <p:cNvSpPr txBox="1"/>
          <p:nvPr/>
        </p:nvSpPr>
        <p:spPr>
          <a:xfrm>
            <a:off x="1240600" y="6909600"/>
            <a:ext cx="339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42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descr="&lt;math xmlns=&quot;http://www.w3.org/1998/Math/MathML&quot; display=&quot;block&quot; data-is-equatio=&quot;1&quot; data-latex=&quot;\frac{4}{5}\ \frac{1}{5}\ &quot;&gt;&lt;mfrac&gt;&lt;mn&gt;4&lt;/mn&gt;&lt;mn&gt;5&lt;/mn&gt;&lt;/mfrac&gt;&lt;mtext&gt;&lt;/mtext&gt;&lt;mfrac&gt;&lt;mn&gt;1&lt;/mn&gt;&lt;mn&gt;5&lt;/mn&gt;&lt;/mfrac&gt;&lt;mtext&gt;&lt;/mtext&gt;&lt;/math&gt;" id="185" name="Google Shape;185;p20" title="four fifths one fifth"/>
          <p:cNvSpPr txBox="1"/>
          <p:nvPr/>
        </p:nvSpPr>
        <p:spPr>
          <a:xfrm>
            <a:off x="587100" y="5182250"/>
            <a:ext cx="265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a) 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descr="&lt;math xmlns=&quot;http://www.w3.org/1998/Math/MathML&quot; display=&quot;block&quot; data-is-equatio=&quot;1&quot; data-latex=&quot;\frac{4}{5}\ \frac{1}{5}\ &quot;&gt;&lt;mfrac&gt;&lt;mn&gt;4&lt;/mn&gt;&lt;mn&gt;5&lt;/mn&gt;&lt;/mfrac&gt;&lt;mtext&gt;&lt;/mtext&gt;&lt;mfrac&gt;&lt;mn&gt;1&lt;/mn&gt;&lt;mn&gt;5&lt;/mn&gt;&lt;/mfrac&gt;&lt;mtext&gt;&lt;/mtext&gt;&lt;/math&gt;" id="186" name="Google Shape;186;p20" title="four fifths one fifth"/>
          <p:cNvSpPr txBox="1"/>
          <p:nvPr/>
        </p:nvSpPr>
        <p:spPr>
          <a:xfrm>
            <a:off x="587100" y="3542475"/>
            <a:ext cx="265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b) 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descr="&lt;math xmlns=&quot;http://www.w3.org/1998/Math/MathML&quot; display=&quot;block&quot; data-is-equatio=&quot;1&quot; data-latex=&quot;\frac{4}{5}\ \frac{1}{5}\ &quot;&gt;&lt;mfrac&gt;&lt;mn&gt;4&lt;/mn&gt;&lt;mn&gt;5&lt;/mn&gt;&lt;/mfrac&gt;&lt;mtext&gt;&lt;/mtext&gt;&lt;mfrac&gt;&lt;mn&gt;1&lt;/mn&gt;&lt;mn&gt;5&lt;/mn&gt;&lt;/mfrac&gt;&lt;mtext&gt;&lt;/mtext&gt;&lt;/math&gt;" id="187" name="Google Shape;187;p20" title="four fifths one fifth"/>
          <p:cNvSpPr txBox="1"/>
          <p:nvPr/>
        </p:nvSpPr>
        <p:spPr>
          <a:xfrm>
            <a:off x="587100" y="6897600"/>
            <a:ext cx="265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c) 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descr="&lt;math xmlns=&quot;http://www.w3.org/1998/Math/MathML&quot; display=&quot;block&quot; data-is-equatio=&quot;1&quot; data-latex=&quot;\frac{4}{5}\ \frac{1}{5}\ &quot;&gt;&lt;mfrac&gt;&lt;mn&gt;4&lt;/mn&gt;&lt;mn&gt;5&lt;/mn&gt;&lt;/mfrac&gt;&lt;mtext&gt;&lt;/mtext&gt;&lt;mfrac&gt;&lt;mn&gt;1&lt;/mn&gt;&lt;mn&gt;5&lt;/mn&gt;&lt;/mfrac&gt;&lt;mtext&gt;&lt;/mtext&gt;&lt;/math&gt;" id="188" name="Google Shape;188;p20" title="four fifths one fifth"/>
          <p:cNvSpPr txBox="1"/>
          <p:nvPr/>
        </p:nvSpPr>
        <p:spPr>
          <a:xfrm>
            <a:off x="1056150" y="4278300"/>
            <a:ext cx="165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 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descr="&lt;math xmlns=&quot;http://www.w3.org/1998/Math/MathML&quot; display=&quot;block&quot; data-is-equatio=&quot;1&quot; data-latex=&quot;\frac{4}{5}\ \frac{1}{5}\ &quot;&gt;&lt;mfrac&gt;&lt;mn&gt;4&lt;/mn&gt;&lt;mn&gt;5&lt;/mn&gt;&lt;/mfrac&gt;&lt;mtext&gt;&lt;/mtext&gt;&lt;mfrac&gt;&lt;mn&gt;1&lt;/mn&gt;&lt;mn&gt;5&lt;/mn&gt;&lt;/mfrac&gt;&lt;mtext&gt;&lt;/mtext&gt;&lt;/math&gt;" id="189" name="Google Shape;189;p20" title="four fifths one fifth"/>
          <p:cNvSpPr txBox="1"/>
          <p:nvPr/>
        </p:nvSpPr>
        <p:spPr>
          <a:xfrm>
            <a:off x="1542900" y="4761550"/>
            <a:ext cx="588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30 g 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descr="&lt;math xmlns=&quot;http://www.w3.org/1998/Math/MathML&quot; display=&quot;block&quot; data-is-equatio=&quot;1&quot; data-latex=&quot;\frac{4}{5}\ \frac{1}{5}\ &quot;&gt;&lt;mfrac&gt;&lt;mn&gt;4&lt;/mn&gt;&lt;mn&gt;5&lt;/mn&gt;&lt;/mfrac&gt;&lt;mtext&gt;&lt;/mtext&gt;&lt;mfrac&gt;&lt;mn&gt;1&lt;/mn&gt;&lt;mn&gt;5&lt;/mn&gt;&lt;/mfrac&gt;&lt;mtext&gt;&lt;/mtext&gt;&lt;/math&gt;" id="190" name="Google Shape;190;p20" title="four fifths one fifth"/>
          <p:cNvSpPr txBox="1"/>
          <p:nvPr/>
        </p:nvSpPr>
        <p:spPr>
          <a:xfrm>
            <a:off x="1030673" y="5914459"/>
            <a:ext cx="339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21 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descr="&lt;math xmlns=&quot;http://www.w3.org/1998/Math/MathML&quot; display=&quot;block&quot; data-is-equatio=&quot;1&quot; data-latex=&quot;\frac{4}{5}\ \frac{1}{5}\ &quot;&gt;&lt;mfrac&gt;&lt;mn&gt;4&lt;/mn&gt;&lt;mn&gt;5&lt;/mn&gt;&lt;/mfrac&gt;&lt;mtext&gt;&lt;/mtext&gt;&lt;mfrac&gt;&lt;mn&gt;1&lt;/mn&gt;&lt;mn&gt;5&lt;/mn&gt;&lt;/mfrac&gt;&lt;mtext&gt;&lt;/mtext&gt;&lt;/math&gt;" id="191" name="Google Shape;191;p20" title="four fifths one fifth"/>
          <p:cNvSpPr txBox="1"/>
          <p:nvPr/>
        </p:nvSpPr>
        <p:spPr>
          <a:xfrm>
            <a:off x="1486875" y="6361750"/>
            <a:ext cx="588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£105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descr="&lt;math xmlns=&quot;http://www.w3.org/1998/Math/MathML&quot; display=&quot;block&quot; data-is-equatio=&quot;1&quot; data-latex=&quot;\frac{4}{5}\ \frac{1}{5}\ &quot;&gt;&lt;mfrac&gt;&lt;mn&gt;4&lt;/mn&gt;&lt;mn&gt;5&lt;/mn&gt;&lt;/mfrac&gt;&lt;mtext&gt;&lt;/mtext&gt;&lt;mfrac&gt;&lt;mn&gt;1&lt;/mn&gt;&lt;mn&gt;5&lt;/mn&gt;&lt;/mfrac&gt;&lt;mtext&gt;&lt;/mtext&gt;&lt;/math&gt;" id="192" name="Google Shape;192;p20" title="four fifths one fifth"/>
          <p:cNvSpPr txBox="1"/>
          <p:nvPr/>
        </p:nvSpPr>
        <p:spPr>
          <a:xfrm>
            <a:off x="1475775" y="8038150"/>
            <a:ext cx="480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£70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descr="&lt;math xmlns=&quot;http://www.w3.org/1998/Math/MathML&quot; display=&quot;block&quot; data-is-equatio=&quot;1&quot; data-latex=&quot;\frac{4}{5}\ \frac{1}{5}\ &quot;&gt;&lt;mfrac&gt;&lt;mn&gt;4&lt;/mn&gt;&lt;mn&gt;5&lt;/mn&gt;&lt;/mfrac&gt;&lt;mtext&gt;&lt;/mtext&gt;&lt;mfrac&gt;&lt;mn&gt;1&lt;/mn&gt;&lt;mn&gt;5&lt;/mn&gt;&lt;/mfrac&gt;&lt;mtext&gt;&lt;/mtext&gt;&lt;/math&gt;" id="193" name="Google Shape;193;p20" title="four fifths one fifth"/>
          <p:cNvSpPr txBox="1"/>
          <p:nvPr/>
        </p:nvSpPr>
        <p:spPr>
          <a:xfrm>
            <a:off x="1038600" y="7600375"/>
            <a:ext cx="265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14 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1"/>
          <p:cNvSpPr txBox="1"/>
          <p:nvPr/>
        </p:nvSpPr>
        <p:spPr>
          <a:xfrm>
            <a:off x="476400" y="5864700"/>
            <a:ext cx="6597600" cy="3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Jun gives £195 of his sponsorship money to his favourite charity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;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this is three-quarters of the total.  How much money did Jun raise in total?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£260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shop has a sale saving you one-third.  Laura buys a t-shirt for £28.  How much was it at full price?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	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£42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Alex improves his score on a computer game by two-sevenths.  His improved score is 3204.  What was his previous score?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	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2492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2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60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      of 140.4	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5)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33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=          of 8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0" name="Google Shape;200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Deepening understanding with fractions of a given amount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505500" y="636125"/>
            <a:ext cx="4743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 Using double number lines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476400" y="911700"/>
            <a:ext cx="6597600" cy="14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Match each problem to its double number line and solve.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price of a camera increases by three-eighths to £165.  How much did it cost before the increase?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Alex takes part in a spelling competition.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 gets 165 right.  This is three-eighths of the questions.  How many questions were in the competition?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multi-buy offer gives a discount of three-eighths.  If you pay £165, how much is it without the discount?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descr="&lt;math xmlns=&quot;http://www.w3.org/1998/Math/MathML&quot; display=&quot;block&quot; data-is-equatio=&quot;1&quot; data-latex=&quot;\frac{4}{5}\ \frac{1}{5}\ &quot;&gt;&lt;mfrac&gt;&lt;mn&gt;4&lt;/mn&gt;&lt;mn&gt;5&lt;/mn&gt;&lt;/mfrac&gt;&lt;mtext&gt;&lt;/mtext&gt;&lt;mfrac&gt;&lt;mn&gt;1&lt;/mn&gt;&lt;mn&gt;5&lt;/mn&gt;&lt;/mfrac&gt;&lt;mtext&gt;&lt;/mtext&gt;&lt;/math&gt;" id="205" name="Google Shape;205;p21" title="four fifths one fifth"/>
          <p:cNvSpPr txBox="1"/>
          <p:nvPr/>
        </p:nvSpPr>
        <p:spPr>
          <a:xfrm>
            <a:off x="4060575" y="2632950"/>
            <a:ext cx="265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a) 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descr="&lt;math xmlns=&quot;http://www.w3.org/1998/Math/MathML&quot; display=&quot;block&quot; data-is-equatio=&quot;1&quot; data-latex=&quot;\frac{4}{5}\ \frac{1}{5}\ &quot;&gt;&lt;mfrac&gt;&lt;mn&gt;4&lt;/mn&gt;&lt;mn&gt;5&lt;/mn&gt;&lt;/mfrac&gt;&lt;mtext&gt;&lt;/mtext&gt;&lt;mfrac&gt;&lt;mn&gt;1&lt;/mn&gt;&lt;mn&gt;5&lt;/mn&gt;&lt;/mfrac&gt;&lt;mtext&gt;&lt;/mtext&gt;&lt;/math&gt;" id="206" name="Google Shape;206;p21" title="four fifths one fifth"/>
          <p:cNvSpPr txBox="1"/>
          <p:nvPr/>
        </p:nvSpPr>
        <p:spPr>
          <a:xfrm>
            <a:off x="505500" y="2719575"/>
            <a:ext cx="265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b) 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descr="&lt;math xmlns=&quot;http://www.w3.org/1998/Math/MathML&quot; display=&quot;block&quot; data-is-equatio=&quot;1&quot; data-latex=&quot;\frac{4}{5}\ \frac{1}{5}\ &quot;&gt;&lt;mfrac&gt;&lt;mn&gt;4&lt;/mn&gt;&lt;mn&gt;5&lt;/mn&gt;&lt;/mfrac&gt;&lt;mtext&gt;&lt;/mtext&gt;&lt;mfrac&gt;&lt;mn&gt;1&lt;/mn&gt;&lt;mn&gt;5&lt;/mn&gt;&lt;/mfrac&gt;&lt;mtext&gt;&lt;/mtext&gt;&lt;/math&gt;" id="207" name="Google Shape;207;p21" title="four fifths one fifth"/>
          <p:cNvSpPr txBox="1"/>
          <p:nvPr/>
        </p:nvSpPr>
        <p:spPr>
          <a:xfrm>
            <a:off x="603000" y="3882700"/>
            <a:ext cx="265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c) 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descr="&lt;math xmlns=&quot;http://www.w3.org/1998/Math/MathML&quot; display=&quot;block&quot; data-is-equatio=&quot;1&quot; data-latex=&quot;\frac{4}{5}\ \frac{1}{5}\ &quot;&gt;&lt;mfrac&gt;&lt;mn&gt;4&lt;/mn&gt;&lt;mn&gt;5&lt;/mn&gt;&lt;/mfrac&gt;&lt;mtext&gt;&lt;/mtext&gt;&lt;mfrac&gt;&lt;mn&gt;1&lt;/mn&gt;&lt;mn&gt;5&lt;/mn&gt;&lt;/mfrac&gt;&lt;mtext&gt;&lt;/mtext&gt;&lt;/math&gt;" id="208" name="Google Shape;208;p21" title="four fifths one fifth"/>
          <p:cNvSpPr txBox="1"/>
          <p:nvPr/>
        </p:nvSpPr>
        <p:spPr>
          <a:xfrm>
            <a:off x="1323552" y="3657813"/>
            <a:ext cx="11283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440 questions 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descr="&lt;math xmlns=&quot;http://www.w3.org/1998/Math/MathML&quot; display=&quot;block&quot; data-is-equatio=&quot;1&quot; data-latex=&quot;\frac{4}{5}\ \frac{1}{5}\ &quot;&gt;&lt;mfrac&gt;&lt;mn&gt;4&lt;/mn&gt;&lt;mn&gt;5&lt;/mn&gt;&lt;/mfrac&gt;&lt;mtext&gt;&lt;/mtext&gt;&lt;mfrac&gt;&lt;mn&gt;1&lt;/mn&gt;&lt;mn&gt;5&lt;/mn&gt;&lt;/mfrac&gt;&lt;mtext&gt;&lt;/mtext&gt;&lt;/math&gt;" id="209" name="Google Shape;209;p21" title="four fifths one fifth"/>
          <p:cNvSpPr txBox="1"/>
          <p:nvPr/>
        </p:nvSpPr>
        <p:spPr>
          <a:xfrm>
            <a:off x="1516030" y="5192175"/>
            <a:ext cx="6171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£264 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descr="&lt;math xmlns=&quot;http://www.w3.org/1998/Math/MathML&quot; display=&quot;block&quot; data-is-equatio=&quot;1&quot; data-latex=&quot;\frac{4}{5}\ \frac{1}{5}\ &quot;&gt;&lt;mfrac&gt;&lt;mn&gt;4&lt;/mn&gt;&lt;mn&gt;5&lt;/mn&gt;&lt;/mfrac&gt;&lt;mtext&gt;&lt;/mtext&gt;&lt;mfrac&gt;&lt;mn&gt;1&lt;/mn&gt;&lt;mn&gt;5&lt;/mn&gt;&lt;/mfrac&gt;&lt;mtext&gt;&lt;/mtext&gt;&lt;/math&gt;" id="210" name="Google Shape;210;p21" title="four fifths one fifth"/>
          <p:cNvSpPr txBox="1"/>
          <p:nvPr/>
        </p:nvSpPr>
        <p:spPr>
          <a:xfrm>
            <a:off x="4497675" y="3671322"/>
            <a:ext cx="6171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£120 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2223775" y="3082925"/>
            <a:ext cx="964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Fraction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2" name="Google Shape;212;p21"/>
          <p:cNvGrpSpPr/>
          <p:nvPr/>
        </p:nvGrpSpPr>
        <p:grpSpPr>
          <a:xfrm>
            <a:off x="792602" y="2989349"/>
            <a:ext cx="1431180" cy="695040"/>
            <a:chOff x="441900" y="3572013"/>
            <a:chExt cx="3074500" cy="1357500"/>
          </a:xfrm>
        </p:grpSpPr>
        <p:cxnSp>
          <p:nvCxnSpPr>
            <p:cNvPr id="213" name="Google Shape;213;p21"/>
            <p:cNvCxnSpPr/>
            <p:nvPr/>
          </p:nvCxnSpPr>
          <p:spPr>
            <a:xfrm>
              <a:off x="441900" y="3572013"/>
              <a:ext cx="0" cy="135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4" name="Google Shape;214;p21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5" name="Google Shape;215;p21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16" name="Google Shape;216;p21"/>
          <p:cNvGrpSpPr/>
          <p:nvPr/>
        </p:nvGrpSpPr>
        <p:grpSpPr>
          <a:xfrm>
            <a:off x="1748485" y="3089284"/>
            <a:ext cx="44627" cy="512102"/>
            <a:chOff x="941725" y="3767150"/>
            <a:chExt cx="63300" cy="1000200"/>
          </a:xfrm>
        </p:grpSpPr>
        <p:cxnSp>
          <p:nvCxnSpPr>
            <p:cNvPr id="217" name="Google Shape;217;p21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8" name="Google Shape;218;p21"/>
            <p:cNvSpPr/>
            <p:nvPr/>
          </p:nvSpPr>
          <p:spPr>
            <a:xfrm>
              <a:off x="941725" y="4000207"/>
              <a:ext cx="63300" cy="529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9" name="Google Shape;219;p21"/>
          <p:cNvGrpSpPr/>
          <p:nvPr/>
        </p:nvGrpSpPr>
        <p:grpSpPr>
          <a:xfrm>
            <a:off x="1050112" y="3089284"/>
            <a:ext cx="44626" cy="512102"/>
            <a:chOff x="941725" y="3767150"/>
            <a:chExt cx="63300" cy="1000200"/>
          </a:xfrm>
        </p:grpSpPr>
        <p:cxnSp>
          <p:nvCxnSpPr>
            <p:cNvPr id="220" name="Google Shape;220;p21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1" name="Google Shape;221;p21"/>
            <p:cNvSpPr/>
            <p:nvPr/>
          </p:nvSpPr>
          <p:spPr>
            <a:xfrm>
              <a:off x="941725" y="4000207"/>
              <a:ext cx="63300" cy="529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2" name="Google Shape;222;p21"/>
          <p:cNvSpPr txBox="1"/>
          <p:nvPr/>
        </p:nvSpPr>
        <p:spPr>
          <a:xfrm>
            <a:off x="2270275" y="3391150"/>
            <a:ext cx="928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Amount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2264800" y="4546475"/>
            <a:ext cx="964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Fraction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4" name="Google Shape;224;p21"/>
          <p:cNvGrpSpPr/>
          <p:nvPr/>
        </p:nvGrpSpPr>
        <p:grpSpPr>
          <a:xfrm>
            <a:off x="783077" y="4513349"/>
            <a:ext cx="1431180" cy="695040"/>
            <a:chOff x="441900" y="3572013"/>
            <a:chExt cx="3074500" cy="1357500"/>
          </a:xfrm>
        </p:grpSpPr>
        <p:cxnSp>
          <p:nvCxnSpPr>
            <p:cNvPr id="225" name="Google Shape;225;p21"/>
            <p:cNvCxnSpPr/>
            <p:nvPr/>
          </p:nvCxnSpPr>
          <p:spPr>
            <a:xfrm>
              <a:off x="441900" y="3572013"/>
              <a:ext cx="0" cy="135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6" name="Google Shape;226;p21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27" name="Google Shape;227;p21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28" name="Google Shape;228;p21"/>
          <p:cNvGrpSpPr/>
          <p:nvPr/>
        </p:nvGrpSpPr>
        <p:grpSpPr>
          <a:xfrm>
            <a:off x="1738960" y="4613284"/>
            <a:ext cx="44627" cy="512102"/>
            <a:chOff x="941725" y="3767150"/>
            <a:chExt cx="63300" cy="1000200"/>
          </a:xfrm>
        </p:grpSpPr>
        <p:cxnSp>
          <p:nvCxnSpPr>
            <p:cNvPr id="229" name="Google Shape;229;p21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0" name="Google Shape;230;p21"/>
            <p:cNvSpPr/>
            <p:nvPr/>
          </p:nvSpPr>
          <p:spPr>
            <a:xfrm>
              <a:off x="941725" y="4000207"/>
              <a:ext cx="63300" cy="529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1" name="Google Shape;231;p21"/>
          <p:cNvGrpSpPr/>
          <p:nvPr/>
        </p:nvGrpSpPr>
        <p:grpSpPr>
          <a:xfrm>
            <a:off x="1019154" y="4613284"/>
            <a:ext cx="44627" cy="512102"/>
            <a:chOff x="941725" y="3767150"/>
            <a:chExt cx="63300" cy="1000200"/>
          </a:xfrm>
        </p:grpSpPr>
        <p:cxnSp>
          <p:nvCxnSpPr>
            <p:cNvPr id="232" name="Google Shape;232;p21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3" name="Google Shape;233;p21"/>
            <p:cNvSpPr/>
            <p:nvPr/>
          </p:nvSpPr>
          <p:spPr>
            <a:xfrm>
              <a:off x="941725" y="4000207"/>
              <a:ext cx="63300" cy="529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4" name="Google Shape;234;p21"/>
          <p:cNvSpPr txBox="1"/>
          <p:nvPr/>
        </p:nvSpPr>
        <p:spPr>
          <a:xfrm>
            <a:off x="2301475" y="4866375"/>
            <a:ext cx="928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Amount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5855725" y="3089250"/>
            <a:ext cx="964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Fraction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6" name="Google Shape;236;p21"/>
          <p:cNvGrpSpPr/>
          <p:nvPr/>
        </p:nvGrpSpPr>
        <p:grpSpPr>
          <a:xfrm>
            <a:off x="4374002" y="2982999"/>
            <a:ext cx="1431180" cy="695040"/>
            <a:chOff x="441900" y="3572013"/>
            <a:chExt cx="3074500" cy="1357500"/>
          </a:xfrm>
        </p:grpSpPr>
        <p:cxnSp>
          <p:nvCxnSpPr>
            <p:cNvPr id="237" name="Google Shape;237;p21"/>
            <p:cNvCxnSpPr/>
            <p:nvPr/>
          </p:nvCxnSpPr>
          <p:spPr>
            <a:xfrm>
              <a:off x="441900" y="3572013"/>
              <a:ext cx="0" cy="135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8" name="Google Shape;238;p21"/>
            <p:cNvCxnSpPr/>
            <p:nvPr/>
          </p:nvCxnSpPr>
          <p:spPr>
            <a:xfrm>
              <a:off x="455200" y="3950800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39" name="Google Shape;239;p21"/>
            <p:cNvCxnSpPr/>
            <p:nvPr/>
          </p:nvCxnSpPr>
          <p:spPr>
            <a:xfrm>
              <a:off x="455200" y="4555638"/>
              <a:ext cx="306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40" name="Google Shape;240;p21"/>
          <p:cNvGrpSpPr/>
          <p:nvPr/>
        </p:nvGrpSpPr>
        <p:grpSpPr>
          <a:xfrm>
            <a:off x="5329885" y="3082934"/>
            <a:ext cx="44626" cy="512102"/>
            <a:chOff x="941725" y="3767150"/>
            <a:chExt cx="63300" cy="1000200"/>
          </a:xfrm>
        </p:grpSpPr>
        <p:cxnSp>
          <p:nvCxnSpPr>
            <p:cNvPr id="241" name="Google Shape;241;p21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42" name="Google Shape;242;p21"/>
            <p:cNvSpPr/>
            <p:nvPr/>
          </p:nvSpPr>
          <p:spPr>
            <a:xfrm>
              <a:off x="941725" y="4000207"/>
              <a:ext cx="63300" cy="529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3" name="Google Shape;243;p21"/>
          <p:cNvGrpSpPr/>
          <p:nvPr/>
        </p:nvGrpSpPr>
        <p:grpSpPr>
          <a:xfrm>
            <a:off x="4631512" y="3082934"/>
            <a:ext cx="44626" cy="512102"/>
            <a:chOff x="941725" y="3767150"/>
            <a:chExt cx="63300" cy="1000200"/>
          </a:xfrm>
        </p:grpSpPr>
        <p:cxnSp>
          <p:nvCxnSpPr>
            <p:cNvPr id="244" name="Google Shape;244;p21"/>
            <p:cNvCxnSpPr/>
            <p:nvPr/>
          </p:nvCxnSpPr>
          <p:spPr>
            <a:xfrm>
              <a:off x="975300" y="3767150"/>
              <a:ext cx="0" cy="100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45" name="Google Shape;245;p21"/>
            <p:cNvSpPr/>
            <p:nvPr/>
          </p:nvSpPr>
          <p:spPr>
            <a:xfrm>
              <a:off x="941725" y="4000207"/>
              <a:ext cx="63300" cy="529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6" name="Google Shape;246;p21"/>
          <p:cNvSpPr txBox="1"/>
          <p:nvPr/>
        </p:nvSpPr>
        <p:spPr>
          <a:xfrm>
            <a:off x="5874025" y="3378450"/>
            <a:ext cx="928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Amount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1722112" y="4421675"/>
            <a:ext cx="15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8}\ \frac{5}{8}\ \frac{11}{8}&quot;&gt;&lt;mfrac&gt;&lt;mn&gt;3&lt;/mn&gt;&lt;mn&gt;8&lt;/mn&gt;&lt;/mfrac&gt;&lt;mtext&gt;&lt;/mtext&gt;&lt;mfrac&gt;&lt;mn&gt;5&lt;/mn&gt;&lt;mn&gt;8&lt;/mn&gt;&lt;/mfrac&gt;&lt;mtext&gt;&lt;/mtext&gt;&lt;mfrac&gt;&lt;mn&gt;11&lt;/mn&gt;&lt;mn&gt;8&lt;/mn&gt;&lt;/mfrac&gt;&lt;/math&gt;" id="248" name="Google Shape;248;p21" title="three eighths five eighths eleven eighths"/>
          <p:cNvPicPr preferRelativeResize="0"/>
          <p:nvPr/>
        </p:nvPicPr>
        <p:blipFill rotWithShape="1">
          <a:blip r:embed="rId3">
            <a:alphaModFix/>
          </a:blip>
          <a:srcRect b="0" l="28833" r="38255" t="0"/>
          <a:stretch/>
        </p:blipFill>
        <p:spPr>
          <a:xfrm>
            <a:off x="942163" y="4145272"/>
            <a:ext cx="198597" cy="3736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\ \frac{5}{8}\ \frac{11}{8}&quot;&gt;&lt;mfrac&gt;&lt;mn&gt;3&lt;/mn&gt;&lt;mn&gt;8&lt;/mn&gt;&lt;/mfrac&gt;&lt;mtext&gt;&lt;/mtext&gt;&lt;mfrac&gt;&lt;mn&gt;5&lt;/mn&gt;&lt;mn&gt;8&lt;/mn&gt;&lt;/mfrac&gt;&lt;mtext&gt;&lt;/mtext&gt;&lt;mfrac&gt;&lt;mn&gt;11&lt;/mn&gt;&lt;mn&gt;8&lt;/mn&gt;&lt;/mfrac&gt;&lt;/math&gt;" id="249" name="Google Shape;249;p21" title="three eighths five eighths eleven eighths"/>
          <p:cNvPicPr preferRelativeResize="0"/>
          <p:nvPr/>
        </p:nvPicPr>
        <p:blipFill rotWithShape="1">
          <a:blip r:embed="rId3">
            <a:alphaModFix/>
          </a:blip>
          <a:srcRect b="0" l="67089" r="0" t="0"/>
          <a:stretch/>
        </p:blipFill>
        <p:spPr>
          <a:xfrm>
            <a:off x="4554528" y="2632950"/>
            <a:ext cx="198597" cy="3736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\ \frac{5}{8}\ \frac{11}{8}&quot;&gt;&lt;mfrac&gt;&lt;mn&gt;3&lt;/mn&gt;&lt;mn&gt;8&lt;/mn&gt;&lt;/mfrac&gt;&lt;mtext&gt;&lt;/mtext&gt;&lt;mfrac&gt;&lt;mn&gt;5&lt;/mn&gt;&lt;mn&gt;8&lt;/mn&gt;&lt;/mfrac&gt;&lt;mtext&gt;&lt;/mtext&gt;&lt;mfrac&gt;&lt;mn&gt;11&lt;/mn&gt;&lt;mn&gt;8&lt;/mn&gt;&lt;/mfrac&gt;&lt;/math&gt;" id="250" name="Google Shape;250;p21" title="three eighths five eighths eleven eighths"/>
          <p:cNvPicPr preferRelativeResize="0"/>
          <p:nvPr/>
        </p:nvPicPr>
        <p:blipFill rotWithShape="1">
          <a:blip r:embed="rId3">
            <a:alphaModFix/>
          </a:blip>
          <a:srcRect b="0" l="0" r="79132" t="0"/>
          <a:stretch/>
        </p:blipFill>
        <p:spPr>
          <a:xfrm>
            <a:off x="1013524" y="2655186"/>
            <a:ext cx="125919" cy="373663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1"/>
          <p:cNvSpPr txBox="1"/>
          <p:nvPr/>
        </p:nvSpPr>
        <p:spPr>
          <a:xfrm>
            <a:off x="1693537" y="2794500"/>
            <a:ext cx="15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5274950" y="2794488"/>
            <a:ext cx="15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954675" y="3633225"/>
            <a:ext cx="42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165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897550" y="5178475"/>
            <a:ext cx="42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165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5234437" y="3678050"/>
            <a:ext cx="42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165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505500" y="5512925"/>
            <a:ext cx="4743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C:  Finding the original amount using division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1\ \frac{3}{10}\ \frac{5}{9}&quot;&gt;&lt;mn&gt;1&lt;/mn&gt;&lt;mtext&gt;&lt;/mtext&gt;&lt;mfrac&gt;&lt;mn&gt;3&lt;/mn&gt;&lt;mn&gt;10&lt;/mn&gt;&lt;/mfrac&gt;&lt;mtext&gt;&lt;/mtext&gt;&lt;mfrac&gt;&lt;mn&gt;5&lt;/mn&gt;&lt;mn&gt;9&lt;/mn&gt;&lt;/mfrac&gt;&lt;/math&gt;" id="258" name="Google Shape;258;p21" title="1 three tenths five ninths"/>
          <p:cNvPicPr preferRelativeResize="0"/>
          <p:nvPr/>
        </p:nvPicPr>
        <p:blipFill rotWithShape="1">
          <a:blip r:embed="rId4">
            <a:alphaModFix/>
          </a:blip>
          <a:srcRect b="0" l="67720" r="0" t="0"/>
          <a:stretch/>
        </p:blipFill>
        <p:spPr>
          <a:xfrm>
            <a:off x="1869298" y="9042750"/>
            <a:ext cx="154702" cy="3321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\ \frac{3}{10}\ \frac{5}{9}&quot;&gt;&lt;mn&gt;1&lt;/mn&gt;&lt;mtext&gt;&lt;/mtext&gt;&lt;mfrac&gt;&lt;mn&gt;3&lt;/mn&gt;&lt;mn&gt;10&lt;/mn&gt;&lt;/mfrac&gt;&lt;mtext&gt;&lt;/mtext&gt;&lt;mfrac&gt;&lt;mn&gt;5&lt;/mn&gt;&lt;mn&gt;9&lt;/mn&gt;&lt;/mfrac&gt;&lt;/math&gt;" id="259" name="Google Shape;259;p21" title="1 three tenths five ninths"/>
          <p:cNvPicPr preferRelativeResize="0"/>
          <p:nvPr/>
        </p:nvPicPr>
        <p:blipFill rotWithShape="1">
          <a:blip r:embed="rId4">
            <a:alphaModFix/>
          </a:blip>
          <a:srcRect b="0" l="0" r="26680" t="0"/>
          <a:stretch/>
        </p:blipFill>
        <p:spPr>
          <a:xfrm>
            <a:off x="792599" y="9022085"/>
            <a:ext cx="351383" cy="3321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 \frac{3}{4}\ &quot;&gt;&lt;mn&gt;2&lt;/mn&gt;&lt;mtext&gt;&lt;/mtext&gt;&lt;mfrac&gt;&lt;mn&gt;3&lt;/mn&gt;&lt;mn&gt;4&lt;/mn&gt;&lt;/mfrac&gt;&lt;mtext&gt;&lt;/mtext&gt;&lt;/math&gt;" id="260" name="Google Shape;260;p21" title="2 three four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58621" y="9439392"/>
            <a:ext cx="267833" cy="3744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261" name="Google Shape;261;p21" title="two third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9425" y="9401291"/>
            <a:ext cx="107214" cy="354814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1"/>
          <p:cNvSpPr txBox="1"/>
          <p:nvPr/>
        </p:nvSpPr>
        <p:spPr>
          <a:xfrm>
            <a:off x="3091950" y="9137100"/>
            <a:ext cx="2952300" cy="6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number is the square covering?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term is the square covering?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3" name="Google Shape;263;p21"/>
          <p:cNvCxnSpPr/>
          <p:nvPr/>
        </p:nvCxnSpPr>
        <p:spPr>
          <a:xfrm>
            <a:off x="480750" y="5416375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