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77E702-E8DE-418E-86FB-1F3E649DBC8F}">
  <a:tblStyle styleId="{7077E702-E8DE-418E-86FB-1F3E649DBC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679298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with fractions of a given amount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80750" y="99720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0"/>
          <p:cNvSpPr txBox="1"/>
          <p:nvPr/>
        </p:nvSpPr>
        <p:spPr>
          <a:xfrm>
            <a:off x="505500" y="1321925"/>
            <a:ext cx="4743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 Bar models to find the original amount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1673700"/>
            <a:ext cx="6598500" cy="1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each problem to the correct ba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model and solve.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 is saving for a new camera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has saved £42, which is two-fifths of the cost.  How much does the camera cost?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packet of crisps contains two-fifths extra free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;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it weighs 42 grams.  How heavy is the normal packet?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 buys a sweatshirt in a sale saving you two-fifths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 cost h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£42.  How much was it before the sale?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4" name="Google Shape;164;p20"/>
          <p:cNvGraphicFramePr/>
          <p:nvPr/>
        </p:nvGraphicFramePr>
        <p:xfrm>
          <a:off x="966350" y="564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{7077E702-E8DE-418E-86FB-1F3E649DBC8F}</a:tableStyleId>
              </a:tblPr>
              <a:tblGrid>
                <a:gridCol w="299950"/>
                <a:gridCol w="299950"/>
                <a:gridCol w="299950"/>
                <a:gridCol w="299950"/>
                <a:gridCol w="299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5" name="Google Shape;165;p20"/>
          <p:cNvGraphicFramePr/>
          <p:nvPr/>
        </p:nvGraphicFramePr>
        <p:xfrm>
          <a:off x="966350" y="732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{7077E702-E8DE-418E-86FB-1F3E649DBC8F}</a:tableStyleId>
              </a:tblPr>
              <a:tblGrid>
                <a:gridCol w="299950"/>
                <a:gridCol w="299950"/>
                <a:gridCol w="299950"/>
                <a:gridCol w="299950"/>
                <a:gridCol w="299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6" name="Google Shape;166;p20"/>
          <p:cNvGraphicFramePr/>
          <p:nvPr/>
        </p:nvGraphicFramePr>
        <p:xfrm>
          <a:off x="966350" y="404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{7077E702-E8DE-418E-86FB-1F3E649DBC8F}</a:tableStyleId>
              </a:tblPr>
              <a:tblGrid>
                <a:gridCol w="299950"/>
                <a:gridCol w="299950"/>
                <a:gridCol w="299950"/>
                <a:gridCol w="299950"/>
                <a:gridCol w="299950"/>
                <a:gridCol w="299950"/>
                <a:gridCol w="299950"/>
                <a:gridCol w="299950"/>
                <a:gridCol w="299950"/>
                <a:gridCol w="299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7" name="Google Shape;167;p20"/>
          <p:cNvSpPr/>
          <p:nvPr/>
        </p:nvSpPr>
        <p:spPr>
          <a:xfrm flipH="1" rot="-5400000">
            <a:off x="1921500" y="2841225"/>
            <a:ext cx="199800" cy="2106600"/>
          </a:xfrm>
          <a:prstGeom prst="leftBracket">
            <a:avLst>
              <a:gd fmla="val 0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 flipH="1" rot="-5400000">
            <a:off x="1153875" y="5239461"/>
            <a:ext cx="199800" cy="588600"/>
          </a:xfrm>
          <a:prstGeom prst="leftBracket">
            <a:avLst>
              <a:gd fmla="val 0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 flipH="1" rot="-5400000">
            <a:off x="1310200" y="6717825"/>
            <a:ext cx="199800" cy="906600"/>
          </a:xfrm>
          <a:prstGeom prst="leftBracket">
            <a:avLst>
              <a:gd fmla="val 0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70" name="Google Shape;170;p20" title="four fifths one fifth"/>
          <p:cNvSpPr txBox="1"/>
          <p:nvPr/>
        </p:nvSpPr>
        <p:spPr>
          <a:xfrm>
            <a:off x="1867800" y="3556800"/>
            <a:ext cx="307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71" name="Google Shape;171;p20" title="four fifths one fifth"/>
          <p:cNvSpPr txBox="1"/>
          <p:nvPr/>
        </p:nvSpPr>
        <p:spPr>
          <a:xfrm>
            <a:off x="1141400" y="5195100"/>
            <a:ext cx="33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72" name="Google Shape;172;p20" title="four fifths one fifth"/>
          <p:cNvSpPr txBox="1"/>
          <p:nvPr/>
        </p:nvSpPr>
        <p:spPr>
          <a:xfrm>
            <a:off x="1240600" y="6757200"/>
            <a:ext cx="33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/>
        </p:nvSpPr>
        <p:spPr>
          <a:xfrm>
            <a:off x="476400" y="5864700"/>
            <a:ext cx="65976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 gives £195 of his sponsorship money to his favourite charity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;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this is three-quarters of the total.  How much money did Jun raise in total?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shop has a sale saving you one-third.  Laura buys a t-shirt for £28.  How much was it at full price?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 improves his score on a computer game by two-sevenths.  His improved score is 3204.  What was his previous score?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      of 140.4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           =          of 8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with fractions of a given amount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1315700" y="9493399"/>
            <a:ext cx="267900" cy="279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505500" y="636125"/>
            <a:ext cx="4743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 Using double number lines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505500" y="5512925"/>
            <a:ext cx="4743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  Finding the original amount using division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76400" y="911700"/>
            <a:ext cx="6597600" cy="14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each problem to its double number line and solve.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price of a camera increases by three-eighths to £165.  How much did it cost before the increase?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 takes part in a spelling competition.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 gets 165 right.  This is three-eighths of the questions.  How many questions were in the competition?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multi-buy offer gives a discount of three-eighths.  If you pay £165, how much is it without the discount?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2274325" y="3098675"/>
            <a:ext cx="964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" name="Google Shape;187;p21"/>
          <p:cNvGrpSpPr/>
          <p:nvPr/>
        </p:nvGrpSpPr>
        <p:grpSpPr>
          <a:xfrm>
            <a:off x="792602" y="3065549"/>
            <a:ext cx="1431180" cy="695040"/>
            <a:chOff x="441900" y="3572013"/>
            <a:chExt cx="3074500" cy="1357500"/>
          </a:xfrm>
        </p:grpSpPr>
        <p:cxnSp>
          <p:nvCxnSpPr>
            <p:cNvPr id="188" name="Google Shape;188;p21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" name="Google Shape;189;p21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0" name="Google Shape;190;p21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91" name="Google Shape;191;p21"/>
          <p:cNvGrpSpPr/>
          <p:nvPr/>
        </p:nvGrpSpPr>
        <p:grpSpPr>
          <a:xfrm>
            <a:off x="1748485" y="3165484"/>
            <a:ext cx="44627" cy="512102"/>
            <a:chOff x="941725" y="3767150"/>
            <a:chExt cx="63300" cy="1000200"/>
          </a:xfrm>
        </p:grpSpPr>
        <p:cxnSp>
          <p:nvCxnSpPr>
            <p:cNvPr id="192" name="Google Shape;192;p21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3" name="Google Shape;193;p21"/>
            <p:cNvSpPr/>
            <p:nvPr/>
          </p:nvSpPr>
          <p:spPr>
            <a:xfrm>
              <a:off x="941725" y="4000207"/>
              <a:ext cx="63300" cy="529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" name="Google Shape;194;p21"/>
          <p:cNvGrpSpPr/>
          <p:nvPr/>
        </p:nvGrpSpPr>
        <p:grpSpPr>
          <a:xfrm>
            <a:off x="1050112" y="3165484"/>
            <a:ext cx="44626" cy="512102"/>
            <a:chOff x="941725" y="3767150"/>
            <a:chExt cx="63300" cy="1000200"/>
          </a:xfrm>
        </p:grpSpPr>
        <p:cxnSp>
          <p:nvCxnSpPr>
            <p:cNvPr id="195" name="Google Shape;195;p21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6" name="Google Shape;196;p21"/>
            <p:cNvSpPr/>
            <p:nvPr/>
          </p:nvSpPr>
          <p:spPr>
            <a:xfrm>
              <a:off x="941725" y="4000207"/>
              <a:ext cx="63300" cy="529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7" name="Google Shape;197;p21"/>
          <p:cNvSpPr txBox="1"/>
          <p:nvPr/>
        </p:nvSpPr>
        <p:spPr>
          <a:xfrm>
            <a:off x="2311000" y="3418575"/>
            <a:ext cx="92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2264800" y="4546475"/>
            <a:ext cx="964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9" name="Google Shape;199;p21"/>
          <p:cNvGrpSpPr/>
          <p:nvPr/>
        </p:nvGrpSpPr>
        <p:grpSpPr>
          <a:xfrm>
            <a:off x="783077" y="4513349"/>
            <a:ext cx="1431180" cy="695040"/>
            <a:chOff x="441900" y="3572013"/>
            <a:chExt cx="3074500" cy="1357500"/>
          </a:xfrm>
        </p:grpSpPr>
        <p:cxnSp>
          <p:nvCxnSpPr>
            <p:cNvPr id="200" name="Google Shape;200;p21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21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2" name="Google Shape;202;p21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03" name="Google Shape;203;p21"/>
          <p:cNvGrpSpPr/>
          <p:nvPr/>
        </p:nvGrpSpPr>
        <p:grpSpPr>
          <a:xfrm>
            <a:off x="1738960" y="4613284"/>
            <a:ext cx="44627" cy="512102"/>
            <a:chOff x="941725" y="3767150"/>
            <a:chExt cx="63300" cy="1000200"/>
          </a:xfrm>
        </p:grpSpPr>
        <p:cxnSp>
          <p:nvCxnSpPr>
            <p:cNvPr id="204" name="Google Shape;204;p21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5" name="Google Shape;205;p21"/>
            <p:cNvSpPr/>
            <p:nvPr/>
          </p:nvSpPr>
          <p:spPr>
            <a:xfrm>
              <a:off x="941725" y="4000207"/>
              <a:ext cx="63300" cy="529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" name="Google Shape;206;p21"/>
          <p:cNvGrpSpPr/>
          <p:nvPr/>
        </p:nvGrpSpPr>
        <p:grpSpPr>
          <a:xfrm>
            <a:off x="1019154" y="4613284"/>
            <a:ext cx="44627" cy="512102"/>
            <a:chOff x="941725" y="3767150"/>
            <a:chExt cx="63300" cy="1000200"/>
          </a:xfrm>
        </p:grpSpPr>
        <p:cxnSp>
          <p:nvCxnSpPr>
            <p:cNvPr id="207" name="Google Shape;207;p21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8" name="Google Shape;208;p21"/>
            <p:cNvSpPr/>
            <p:nvPr/>
          </p:nvSpPr>
          <p:spPr>
            <a:xfrm>
              <a:off x="941725" y="4000207"/>
              <a:ext cx="63300" cy="529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9" name="Google Shape;209;p21"/>
          <p:cNvSpPr txBox="1"/>
          <p:nvPr/>
        </p:nvSpPr>
        <p:spPr>
          <a:xfrm>
            <a:off x="2301475" y="4866375"/>
            <a:ext cx="92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855725" y="3092325"/>
            <a:ext cx="964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1" name="Google Shape;211;p21"/>
          <p:cNvGrpSpPr/>
          <p:nvPr/>
        </p:nvGrpSpPr>
        <p:grpSpPr>
          <a:xfrm>
            <a:off x="4374002" y="3059199"/>
            <a:ext cx="1431180" cy="695040"/>
            <a:chOff x="441900" y="3572013"/>
            <a:chExt cx="3074500" cy="1357500"/>
          </a:xfrm>
        </p:grpSpPr>
        <p:cxnSp>
          <p:nvCxnSpPr>
            <p:cNvPr id="212" name="Google Shape;212;p21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" name="Google Shape;213;p21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4" name="Google Shape;214;p21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15" name="Google Shape;215;p21"/>
          <p:cNvGrpSpPr/>
          <p:nvPr/>
        </p:nvGrpSpPr>
        <p:grpSpPr>
          <a:xfrm>
            <a:off x="5329885" y="3159134"/>
            <a:ext cx="44626" cy="512102"/>
            <a:chOff x="941725" y="3767150"/>
            <a:chExt cx="63300" cy="1000200"/>
          </a:xfrm>
        </p:grpSpPr>
        <p:cxnSp>
          <p:nvCxnSpPr>
            <p:cNvPr id="216" name="Google Shape;216;p21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7" name="Google Shape;217;p21"/>
            <p:cNvSpPr/>
            <p:nvPr/>
          </p:nvSpPr>
          <p:spPr>
            <a:xfrm>
              <a:off x="941725" y="4000207"/>
              <a:ext cx="63300" cy="529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" name="Google Shape;218;p21"/>
          <p:cNvGrpSpPr/>
          <p:nvPr/>
        </p:nvGrpSpPr>
        <p:grpSpPr>
          <a:xfrm>
            <a:off x="4631512" y="3159134"/>
            <a:ext cx="44626" cy="512102"/>
            <a:chOff x="941725" y="3767150"/>
            <a:chExt cx="63300" cy="1000200"/>
          </a:xfrm>
        </p:grpSpPr>
        <p:cxnSp>
          <p:nvCxnSpPr>
            <p:cNvPr id="219" name="Google Shape;219;p21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0" name="Google Shape;220;p21"/>
            <p:cNvSpPr/>
            <p:nvPr/>
          </p:nvSpPr>
          <p:spPr>
            <a:xfrm>
              <a:off x="941725" y="4000207"/>
              <a:ext cx="63300" cy="529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" name="Google Shape;221;p21"/>
          <p:cNvSpPr txBox="1"/>
          <p:nvPr/>
        </p:nvSpPr>
        <p:spPr>
          <a:xfrm>
            <a:off x="5892400" y="3412225"/>
            <a:ext cx="92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1722112" y="4421675"/>
            <a:ext cx="15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8}\ \frac{5}{8}\ \frac{11}{8}&quot;&gt;&lt;mfrac&gt;&lt;mn&gt;3&lt;/mn&gt;&lt;mn&gt;8&lt;/mn&gt;&lt;/mfrac&gt;&lt;mtext&gt;&lt;/mtext&gt;&lt;mfrac&gt;&lt;mn&gt;5&lt;/mn&gt;&lt;mn&gt;8&lt;/mn&gt;&lt;/mfrac&gt;&lt;mtext&gt;&lt;/mtext&gt;&lt;mfrac&gt;&lt;mn&gt;11&lt;/mn&gt;&lt;mn&gt;8&lt;/mn&gt;&lt;/mfrac&gt;&lt;/math&gt;" id="223" name="Google Shape;223;p21" title="three eighths five eighths eleven eighths"/>
          <p:cNvPicPr preferRelativeResize="0"/>
          <p:nvPr/>
        </p:nvPicPr>
        <p:blipFill rotWithShape="1">
          <a:blip r:embed="rId3">
            <a:alphaModFix/>
          </a:blip>
          <a:srcRect b="0" l="28833" r="38255" t="0"/>
          <a:stretch/>
        </p:blipFill>
        <p:spPr>
          <a:xfrm>
            <a:off x="942163" y="4145272"/>
            <a:ext cx="198597" cy="373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\ \frac{5}{8}\ \frac{11}{8}&quot;&gt;&lt;mfrac&gt;&lt;mn&gt;3&lt;/mn&gt;&lt;mn&gt;8&lt;/mn&gt;&lt;/mfrac&gt;&lt;mtext&gt;&lt;/mtext&gt;&lt;mfrac&gt;&lt;mn&gt;5&lt;/mn&gt;&lt;mn&gt;8&lt;/mn&gt;&lt;/mfrac&gt;&lt;mtext&gt;&lt;/mtext&gt;&lt;mfrac&gt;&lt;mn&gt;11&lt;/mn&gt;&lt;mn&gt;8&lt;/mn&gt;&lt;/mfrac&gt;&lt;/math&gt;" id="224" name="Google Shape;224;p21" title="three eighths five eighths eleven eighths"/>
          <p:cNvPicPr preferRelativeResize="0"/>
          <p:nvPr/>
        </p:nvPicPr>
        <p:blipFill rotWithShape="1">
          <a:blip r:embed="rId3">
            <a:alphaModFix/>
          </a:blip>
          <a:srcRect b="0" l="67089" r="0" t="0"/>
          <a:stretch/>
        </p:blipFill>
        <p:spPr>
          <a:xfrm>
            <a:off x="4554528" y="2731375"/>
            <a:ext cx="198597" cy="373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\ \frac{5}{8}\ \frac{11}{8}&quot;&gt;&lt;mfrac&gt;&lt;mn&gt;3&lt;/mn&gt;&lt;mn&gt;8&lt;/mn&gt;&lt;/mfrac&gt;&lt;mtext&gt;&lt;/mtext&gt;&lt;mfrac&gt;&lt;mn&gt;5&lt;/mn&gt;&lt;mn&gt;8&lt;/mn&gt;&lt;/mfrac&gt;&lt;mtext&gt;&lt;/mtext&gt;&lt;mfrac&gt;&lt;mn&gt;11&lt;/mn&gt;&lt;mn&gt;8&lt;/mn&gt;&lt;/mfrac&gt;&lt;/math&gt;" id="225" name="Google Shape;225;p21" title="three eighths five eighths eleven eighths"/>
          <p:cNvPicPr preferRelativeResize="0"/>
          <p:nvPr/>
        </p:nvPicPr>
        <p:blipFill rotWithShape="1">
          <a:blip r:embed="rId3">
            <a:alphaModFix/>
          </a:blip>
          <a:srcRect b="0" l="0" r="79132" t="0"/>
          <a:stretch/>
        </p:blipFill>
        <p:spPr>
          <a:xfrm>
            <a:off x="1013524" y="2731386"/>
            <a:ext cx="125919" cy="37366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1731650" y="2949600"/>
            <a:ext cx="15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5274937" y="2891288"/>
            <a:ext cx="15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954675" y="3709425"/>
            <a:ext cx="42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957700" y="5208400"/>
            <a:ext cx="42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5234437" y="3754250"/>
            <a:ext cx="42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\ \frac{3}{10}\ \frac{5}{9}&quot;&gt;&lt;mn&gt;1&lt;/mn&gt;&lt;mtext&gt;&lt;/mtext&gt;&lt;mfrac&gt;&lt;mn&gt;3&lt;/mn&gt;&lt;mn&gt;10&lt;/mn&gt;&lt;/mfrac&gt;&lt;mtext&gt;&lt;/mtext&gt;&lt;mfrac&gt;&lt;mn&gt;5&lt;/mn&gt;&lt;mn&gt;9&lt;/mn&gt;&lt;/mfrac&gt;&lt;/math&gt;" id="231" name="Google Shape;231;p21" title="1 three tenths five ninths"/>
          <p:cNvPicPr preferRelativeResize="0"/>
          <p:nvPr/>
        </p:nvPicPr>
        <p:blipFill rotWithShape="1">
          <a:blip r:embed="rId4">
            <a:alphaModFix/>
          </a:blip>
          <a:srcRect b="0" l="67720" r="0" t="0"/>
          <a:stretch/>
        </p:blipFill>
        <p:spPr>
          <a:xfrm>
            <a:off x="1869298" y="9042750"/>
            <a:ext cx="154702" cy="3321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frac{3}{10}\ \frac{5}{9}&quot;&gt;&lt;mn&gt;1&lt;/mn&gt;&lt;mtext&gt;&lt;/mtext&gt;&lt;mfrac&gt;&lt;mn&gt;3&lt;/mn&gt;&lt;mn&gt;10&lt;/mn&gt;&lt;/mfrac&gt;&lt;mtext&gt;&lt;/mtext&gt;&lt;mfrac&gt;&lt;mn&gt;5&lt;/mn&gt;&lt;mn&gt;9&lt;/mn&gt;&lt;/mfrac&gt;&lt;/math&gt;" id="232" name="Google Shape;232;p21" title="1 three tenths five ninths"/>
          <p:cNvPicPr preferRelativeResize="0"/>
          <p:nvPr/>
        </p:nvPicPr>
        <p:blipFill rotWithShape="1">
          <a:blip r:embed="rId4">
            <a:alphaModFix/>
          </a:blip>
          <a:srcRect b="0" l="0" r="26680" t="0"/>
          <a:stretch/>
        </p:blipFill>
        <p:spPr>
          <a:xfrm>
            <a:off x="792599" y="9022085"/>
            <a:ext cx="351383" cy="3321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frac{3}{4}\ &quot;&gt;&lt;mn&gt;2&lt;/mn&gt;&lt;mtext&gt;&lt;/mtext&gt;&lt;mfrac&gt;&lt;mn&gt;3&lt;/mn&gt;&lt;mn&gt;4&lt;/mn&gt;&lt;/mfrac&gt;&lt;mtext&gt;&lt;/mtext&gt;&lt;/math&gt;" id="233" name="Google Shape;233;p21" title="2 three four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30046" y="9382242"/>
            <a:ext cx="267833" cy="3744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234" name="Google Shape;234;p21" title="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9425" y="9401291"/>
            <a:ext cx="107214" cy="35481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/>
          <p:nvPr/>
        </p:nvSpPr>
        <p:spPr>
          <a:xfrm>
            <a:off x="1373746" y="9081178"/>
            <a:ext cx="265800" cy="255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3091950" y="9137100"/>
            <a:ext cx="29523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number is the square covering?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term is the square covering?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7" name="Google Shape;237;p21"/>
          <p:cNvCxnSpPr/>
          <p:nvPr/>
        </p:nvCxnSpPr>
        <p:spPr>
          <a:xfrm>
            <a:off x="480750" y="5492575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