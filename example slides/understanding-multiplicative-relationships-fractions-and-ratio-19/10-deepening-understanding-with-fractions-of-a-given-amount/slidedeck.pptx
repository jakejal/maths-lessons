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D5B546-A322-49C7-8DA9-8A13F6497E83}">
  <a:tblStyle styleId="{11D5B546-A322-49C7-8DA9-8A13F6497E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6d5e408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6d5e408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fb7af1f7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9fb7af1f7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fb7af1f7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fb7af1f7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1fa41556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1fa41556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a1fa415564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a1fa41556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a127fc799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a127fc799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9fb7af1f7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9fb7af1f7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9fb7af1f7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9fb7af1f7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9fb7af1f7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9fb7af1f7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ec76cb32a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ec76cb32a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9fb7af1f7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9fb7af1f7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9fb7af1f7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9fb7af1f7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9fb7af1f7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9fb7af1f7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9fb7af1f7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9fb7af1f7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9fb7af1f7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9fb7af1f7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a2ed7f5d8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a2ed7f5d8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9fb7af1f7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9fb7af1f7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9fb7af1f7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9fb7af1f7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9fb7af1f7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9fb7af1f7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9fb7af1f7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9fb7af1f7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9fb7af1f7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9fb7af1f7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a2ed7f5d8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a2ed7f5d8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9fb7af1f7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9fb7af1f7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9fb7af1f7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9fb7af1f7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9fb7af1f7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9fb7af1f7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29fb7af1f7a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29fb7af1f7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9fb7af1f7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9fb7af1f7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9fb7af1f7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9fb7af1f7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29fb7af1f7a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29fb7af1f7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a3635a16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a3635a16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9fb7af1f7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9fb7af1f7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79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33.png"/><Relationship Id="rId11" Type="http://schemas.openxmlformats.org/officeDocument/2006/relationships/image" Target="../media/image13.png"/><Relationship Id="rId10" Type="http://schemas.openxmlformats.org/officeDocument/2006/relationships/image" Target="../media/image39.png"/><Relationship Id="rId9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 1">
  <p:cSld name="CUSTOM_3_1_1_3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Relationship Id="rId4" Type="http://schemas.openxmlformats.org/officeDocument/2006/relationships/image" Target="../media/image50.png"/><Relationship Id="rId5" Type="http://schemas.openxmlformats.org/officeDocument/2006/relationships/image" Target="../media/image62.png"/><Relationship Id="rId6" Type="http://schemas.openxmlformats.org/officeDocument/2006/relationships/image" Target="../media/image52.png"/><Relationship Id="rId7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57.png"/><Relationship Id="rId5" Type="http://schemas.openxmlformats.org/officeDocument/2006/relationships/image" Target="../media/image62.png"/><Relationship Id="rId6" Type="http://schemas.openxmlformats.org/officeDocument/2006/relationships/image" Target="../media/image5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52.png"/><Relationship Id="rId6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62.png"/><Relationship Id="rId6" Type="http://schemas.openxmlformats.org/officeDocument/2006/relationships/image" Target="../media/image56.png"/><Relationship Id="rId7" Type="http://schemas.openxmlformats.org/officeDocument/2006/relationships/image" Target="../media/image91.png"/><Relationship Id="rId8" Type="http://schemas.openxmlformats.org/officeDocument/2006/relationships/image" Target="../media/image8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3.png"/><Relationship Id="rId4" Type="http://schemas.openxmlformats.org/officeDocument/2006/relationships/image" Target="../media/image78.png"/><Relationship Id="rId5" Type="http://schemas.openxmlformats.org/officeDocument/2006/relationships/image" Target="../media/image8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9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4.png"/><Relationship Id="rId4" Type="http://schemas.openxmlformats.org/officeDocument/2006/relationships/image" Target="../media/image9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8.png"/><Relationship Id="rId4" Type="http://schemas.openxmlformats.org/officeDocument/2006/relationships/image" Target="../media/image92.png"/><Relationship Id="rId5" Type="http://schemas.openxmlformats.org/officeDocument/2006/relationships/image" Target="../media/image9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8.png"/><Relationship Id="rId4" Type="http://schemas.openxmlformats.org/officeDocument/2006/relationships/image" Target="../media/image92.png"/><Relationship Id="rId5" Type="http://schemas.openxmlformats.org/officeDocument/2006/relationships/image" Target="../media/image9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original amount when given a fraction and the result.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3" type="subTitle"/>
          </p:nvPr>
        </p:nvSpPr>
        <p:spPr>
          <a:xfrm>
            <a:off x="324001" y="1111288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reciprocal is the multiplicative inverse of any non-zero number. Any non-zero number multiplied by its reciprocal is equal to 1.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 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778" name="Google Shape;778;p6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50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4" name="Google Shape;784;p68"/>
          <p:cNvGraphicFramePr/>
          <p:nvPr/>
        </p:nvGraphicFramePr>
        <p:xfrm>
          <a:off x="952500" y="3320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324000" y="6831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 gives     of his sweets to his brother.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His brother gets 15 sweets.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sweets did Alex have to </a:t>
            </a:r>
            <a:r>
              <a:rPr lang="en-GB">
                <a:solidFill>
                  <a:schemeClr val="accent4"/>
                </a:solidFill>
              </a:rPr>
              <a:t>begin</a:t>
            </a:r>
            <a:r>
              <a:rPr lang="en-GB"/>
              <a:t> with?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787" name="Google Shape;787;p68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583" y="601425"/>
            <a:ext cx="185385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8" name="Google Shape;788;p68"/>
          <p:cNvGraphicFramePr/>
          <p:nvPr/>
        </p:nvGraphicFramePr>
        <p:xfrm>
          <a:off x="952500" y="33278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9" name="Google Shape;789;p68"/>
          <p:cNvSpPr/>
          <p:nvPr/>
        </p:nvSpPr>
        <p:spPr>
          <a:xfrm rot="5400000">
            <a:off x="2206400" y="1724471"/>
            <a:ext cx="199800" cy="2707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8"/>
          <p:cNvSpPr/>
          <p:nvPr/>
        </p:nvSpPr>
        <p:spPr>
          <a:xfrm rot="-5400000">
            <a:off x="4480200" y="330821"/>
            <a:ext cx="199800" cy="7255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 txBox="1"/>
          <p:nvPr/>
        </p:nvSpPr>
        <p:spPr>
          <a:xfrm>
            <a:off x="2126702" y="2604521"/>
            <a:ext cx="131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÷ 3 =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/>
        </p:nvSpPr>
        <p:spPr>
          <a:xfrm>
            <a:off x="3916050" y="4117346"/>
            <a:ext cx="131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5 = 40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3" name="Google Shape;793;p68"/>
          <p:cNvGrpSpPr/>
          <p:nvPr/>
        </p:nvGrpSpPr>
        <p:grpSpPr>
          <a:xfrm>
            <a:off x="1302625" y="3362211"/>
            <a:ext cx="2047068" cy="338700"/>
            <a:chOff x="1302625" y="3541089"/>
            <a:chExt cx="2047068" cy="338700"/>
          </a:xfrm>
        </p:grpSpPr>
        <p:sp>
          <p:nvSpPr>
            <p:cNvPr id="794" name="Google Shape;794;p68"/>
            <p:cNvSpPr txBox="1"/>
            <p:nvPr/>
          </p:nvSpPr>
          <p:spPr>
            <a:xfrm>
              <a:off x="1302625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8"/>
            <p:cNvSpPr txBox="1"/>
            <p:nvPr/>
          </p:nvSpPr>
          <p:spPr>
            <a:xfrm>
              <a:off x="2216509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68"/>
            <p:cNvSpPr txBox="1"/>
            <p:nvPr/>
          </p:nvSpPr>
          <p:spPr>
            <a:xfrm>
              <a:off x="3130393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7" name="Google Shape;797;p68"/>
          <p:cNvSpPr txBox="1"/>
          <p:nvPr/>
        </p:nvSpPr>
        <p:spPr>
          <a:xfrm>
            <a:off x="324000" y="2229600"/>
            <a:ext cx="663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represent this problem with a bar model.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/>
          <p:nvPr/>
        </p:nvSpPr>
        <p:spPr>
          <a:xfrm>
            <a:off x="2485177" y="2608596"/>
            <a:ext cx="9534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9" name="Google Shape;799;p68"/>
          <p:cNvGrpSpPr/>
          <p:nvPr/>
        </p:nvGrpSpPr>
        <p:grpSpPr>
          <a:xfrm>
            <a:off x="4045825" y="3362211"/>
            <a:ext cx="3875868" cy="338700"/>
            <a:chOff x="4045825" y="3541089"/>
            <a:chExt cx="3875868" cy="338700"/>
          </a:xfrm>
        </p:grpSpPr>
        <p:sp>
          <p:nvSpPr>
            <p:cNvPr id="800" name="Google Shape;800;p68"/>
            <p:cNvSpPr txBox="1"/>
            <p:nvPr/>
          </p:nvSpPr>
          <p:spPr>
            <a:xfrm>
              <a:off x="4045825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8"/>
            <p:cNvSpPr txBox="1"/>
            <p:nvPr/>
          </p:nvSpPr>
          <p:spPr>
            <a:xfrm>
              <a:off x="4959709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68"/>
            <p:cNvSpPr txBox="1"/>
            <p:nvPr/>
          </p:nvSpPr>
          <p:spPr>
            <a:xfrm>
              <a:off x="5873593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8"/>
            <p:cNvSpPr txBox="1"/>
            <p:nvPr/>
          </p:nvSpPr>
          <p:spPr>
            <a:xfrm>
              <a:off x="6788509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68"/>
            <p:cNvSpPr txBox="1"/>
            <p:nvPr/>
          </p:nvSpPr>
          <p:spPr>
            <a:xfrm>
              <a:off x="7702393" y="3541089"/>
              <a:ext cx="2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5" name="Google Shape;805;p68"/>
          <p:cNvSpPr txBox="1"/>
          <p:nvPr/>
        </p:nvSpPr>
        <p:spPr>
          <a:xfrm>
            <a:off x="337249" y="4460300"/>
            <a:ext cx="413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Alex originally had 40 sweets.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9"/>
          <p:cNvSpPr/>
          <p:nvPr/>
        </p:nvSpPr>
        <p:spPr>
          <a:xfrm>
            <a:off x="5477550" y="689700"/>
            <a:ext cx="3264624" cy="1591434"/>
          </a:xfrm>
          <a:prstGeom prst="irregularSeal2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Special Offer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extra free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11" name="Google Shape;811;p69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050" y="1572425"/>
            <a:ext cx="126500" cy="4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5079950" y="2556004"/>
            <a:ext cx="7623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extra</a:t>
            </a:r>
            <a:endParaRPr sz="1800"/>
          </a:p>
        </p:txBody>
      </p:sp>
      <p:pic>
        <p:nvPicPr>
          <p:cNvPr id="814" name="Google Shape;81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5775" y="2757179"/>
            <a:ext cx="1408541" cy="201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69"/>
          <p:cNvPicPr preferRelativeResize="0"/>
          <p:nvPr/>
        </p:nvPicPr>
        <p:blipFill rotWithShape="1">
          <a:blip r:embed="rId4">
            <a:alphaModFix/>
          </a:blip>
          <a:srcRect b="2262" l="0" r="0" t="77869"/>
          <a:stretch/>
        </p:blipFill>
        <p:spPr>
          <a:xfrm>
            <a:off x="3021764" y="2522850"/>
            <a:ext cx="1408537" cy="4000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6" name="Google Shape;816;p69"/>
          <p:cNvGraphicFramePr/>
          <p:nvPr/>
        </p:nvGraphicFramePr>
        <p:xfrm>
          <a:off x="4551725" y="289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19925"/>
              </a:tblGrid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7" name="Google Shape;817;p69"/>
          <p:cNvGraphicFramePr/>
          <p:nvPr/>
        </p:nvGraphicFramePr>
        <p:xfrm>
          <a:off x="4551725" y="1075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19925"/>
              </a:tblGrid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18" name="Google Shape;818;p69"/>
          <p:cNvSpPr/>
          <p:nvPr/>
        </p:nvSpPr>
        <p:spPr>
          <a:xfrm>
            <a:off x="3690250" y="4318038"/>
            <a:ext cx="297918" cy="364068"/>
          </a:xfrm>
          <a:prstGeom prst="irregularSeal2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9"/>
          <p:cNvSpPr txBox="1"/>
          <p:nvPr>
            <p:ph idx="1" type="body"/>
          </p:nvPr>
        </p:nvSpPr>
        <p:spPr>
          <a:xfrm>
            <a:off x="3988175" y="4350225"/>
            <a:ext cx="1794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  </a:t>
            </a:r>
            <a:endParaRPr sz="1800"/>
          </a:p>
        </p:txBody>
      </p:sp>
      <p:sp>
        <p:nvSpPr>
          <p:cNvPr id="820" name="Google Shape;820;p69"/>
          <p:cNvSpPr/>
          <p:nvPr/>
        </p:nvSpPr>
        <p:spPr>
          <a:xfrm rot="10800000">
            <a:off x="4817675" y="2886825"/>
            <a:ext cx="199800" cy="1836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/>
          <p:nvPr/>
        </p:nvSpPr>
        <p:spPr>
          <a:xfrm rot="10800000">
            <a:off x="4825900" y="2529415"/>
            <a:ext cx="199800" cy="373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9"/>
          <p:cNvSpPr txBox="1"/>
          <p:nvPr>
            <p:ph idx="1" type="body"/>
          </p:nvPr>
        </p:nvSpPr>
        <p:spPr>
          <a:xfrm>
            <a:off x="5063500" y="3511725"/>
            <a:ext cx="822000" cy="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normal size</a:t>
            </a:r>
            <a:endParaRPr sz="1800"/>
          </a:p>
        </p:txBody>
      </p:sp>
      <p:sp>
        <p:nvSpPr>
          <p:cNvPr id="823" name="Google Shape;823;p69"/>
          <p:cNvSpPr txBox="1"/>
          <p:nvPr>
            <p:ph idx="1" type="body"/>
          </p:nvPr>
        </p:nvSpPr>
        <p:spPr>
          <a:xfrm flipH="1">
            <a:off x="324000" y="694625"/>
            <a:ext cx="56664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special offer box contains 600 grams.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heavy is the box </a:t>
            </a:r>
            <a:r>
              <a:rPr lang="en-GB">
                <a:solidFill>
                  <a:schemeClr val="accent4"/>
                </a:solidFill>
              </a:rPr>
              <a:t>usually</a:t>
            </a:r>
            <a:r>
              <a:rPr lang="en-GB"/>
              <a:t>?</a:t>
            </a:r>
            <a:endParaRPr/>
          </a:p>
        </p:txBody>
      </p:sp>
      <p:sp>
        <p:nvSpPr>
          <p:cNvPr id="824" name="Google Shape;824;p69"/>
          <p:cNvSpPr/>
          <p:nvPr/>
        </p:nvSpPr>
        <p:spPr>
          <a:xfrm rot="10800000">
            <a:off x="5847000" y="2522750"/>
            <a:ext cx="199800" cy="2191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 txBox="1"/>
          <p:nvPr>
            <p:ph idx="1" type="body"/>
          </p:nvPr>
        </p:nvSpPr>
        <p:spPr>
          <a:xfrm>
            <a:off x="6111450" y="3468650"/>
            <a:ext cx="27084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600 g =       of the usual  </a:t>
            </a:r>
            <a:r>
              <a:rPr lang="en-GB" sz="1800">
                <a:solidFill>
                  <a:schemeClr val="lt1"/>
                </a:solidFill>
              </a:rPr>
              <a:t>. </a:t>
            </a:r>
            <a:r>
              <a:rPr lang="en-GB" sz="1800"/>
              <a:t>                           weight.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1\frac{1}{5}&quot;&gt;&lt;mn&gt;1&lt;/mn&gt;&lt;mfrac&gt;&lt;mn&gt;1&lt;/mn&gt;&lt;mn&gt;5&lt;/mn&gt;&lt;/mfrac&gt;&lt;/math&gt;" id="826" name="Google Shape;826;p69" title="1 and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9700" y="3346725"/>
            <a:ext cx="297925" cy="54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1" name="Google Shape;831;p70"/>
          <p:cNvGraphicFramePr/>
          <p:nvPr/>
        </p:nvGraphicFramePr>
        <p:xfrm>
          <a:off x="4499488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2" name="Google Shape;832;p70"/>
          <p:cNvGraphicFramePr/>
          <p:nvPr/>
        </p:nvGraphicFramePr>
        <p:xfrm>
          <a:off x="985600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33" name="Google Shape;833;p70"/>
          <p:cNvSpPr txBox="1"/>
          <p:nvPr>
            <p:ph idx="1" type="body"/>
          </p:nvPr>
        </p:nvSpPr>
        <p:spPr>
          <a:xfrm>
            <a:off x="1018698" y="2741650"/>
            <a:ext cx="6156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00 g</a:t>
            </a:r>
            <a:endParaRPr sz="1800"/>
          </a:p>
        </p:txBody>
      </p:sp>
      <p:sp>
        <p:nvSpPr>
          <p:cNvPr id="834" name="Google Shape;834;p70"/>
          <p:cNvSpPr txBox="1"/>
          <p:nvPr>
            <p:ph idx="1" type="body"/>
          </p:nvPr>
        </p:nvSpPr>
        <p:spPr>
          <a:xfrm>
            <a:off x="1734359" y="2741650"/>
            <a:ext cx="6156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835" name="Google Shape;835;p70"/>
          <p:cNvSpPr txBox="1"/>
          <p:nvPr>
            <p:ph idx="1" type="body"/>
          </p:nvPr>
        </p:nvSpPr>
        <p:spPr>
          <a:xfrm>
            <a:off x="2450020" y="2741650"/>
            <a:ext cx="6156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836" name="Google Shape;836;p70"/>
          <p:cNvSpPr txBox="1"/>
          <p:nvPr>
            <p:ph idx="1" type="body"/>
          </p:nvPr>
        </p:nvSpPr>
        <p:spPr>
          <a:xfrm>
            <a:off x="3127472" y="2741650"/>
            <a:ext cx="6156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837" name="Google Shape;837;p70"/>
          <p:cNvSpPr txBox="1"/>
          <p:nvPr>
            <p:ph idx="1" type="body"/>
          </p:nvPr>
        </p:nvSpPr>
        <p:spPr>
          <a:xfrm>
            <a:off x="3843133" y="2741650"/>
            <a:ext cx="6156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838" name="Google Shape;838;p70"/>
          <p:cNvSpPr txBox="1"/>
          <p:nvPr>
            <p:ph idx="1" type="body"/>
          </p:nvPr>
        </p:nvSpPr>
        <p:spPr>
          <a:xfrm>
            <a:off x="4558793" y="2741650"/>
            <a:ext cx="6156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839" name="Google Shape;83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840" name="Google Shape;840;p70"/>
          <p:cNvSpPr txBox="1"/>
          <p:nvPr>
            <p:ph idx="1" type="body"/>
          </p:nvPr>
        </p:nvSpPr>
        <p:spPr>
          <a:xfrm>
            <a:off x="1714500" y="3473700"/>
            <a:ext cx="23454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× 100 g = 500 g</a:t>
            </a:r>
            <a:endParaRPr/>
          </a:p>
        </p:txBody>
      </p:sp>
      <p:sp>
        <p:nvSpPr>
          <p:cNvPr id="841" name="Google Shape;841;p70"/>
          <p:cNvSpPr txBox="1"/>
          <p:nvPr>
            <p:ph idx="1" type="body"/>
          </p:nvPr>
        </p:nvSpPr>
        <p:spPr>
          <a:xfrm flipH="1">
            <a:off x="324000" y="810000"/>
            <a:ext cx="56664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special offer box contains 600 grams.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heavy is the box </a:t>
            </a:r>
            <a:r>
              <a:rPr lang="en-GB">
                <a:solidFill>
                  <a:srgbClr val="845AD9"/>
                </a:solidFill>
              </a:rPr>
              <a:t>usually</a:t>
            </a:r>
            <a:r>
              <a:rPr lang="en-GB"/>
              <a:t>?</a:t>
            </a:r>
            <a:endParaRPr/>
          </a:p>
        </p:txBody>
      </p:sp>
      <p:sp>
        <p:nvSpPr>
          <p:cNvPr id="842" name="Google Shape;842;p70"/>
          <p:cNvSpPr txBox="1"/>
          <p:nvPr>
            <p:ph idx="1" type="body"/>
          </p:nvPr>
        </p:nvSpPr>
        <p:spPr>
          <a:xfrm>
            <a:off x="2826175" y="2056050"/>
            <a:ext cx="25155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600 g ÷ 6 = 100g</a:t>
            </a:r>
            <a:endParaRPr/>
          </a:p>
        </p:txBody>
      </p:sp>
      <p:sp>
        <p:nvSpPr>
          <p:cNvPr id="843" name="Google Shape;843;p70"/>
          <p:cNvSpPr/>
          <p:nvPr/>
        </p:nvSpPr>
        <p:spPr>
          <a:xfrm rot="5400000">
            <a:off x="2994050" y="410675"/>
            <a:ext cx="199800" cy="4216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0"/>
          <p:cNvSpPr/>
          <p:nvPr/>
        </p:nvSpPr>
        <p:spPr>
          <a:xfrm rot="-5400000">
            <a:off x="2639950" y="1509675"/>
            <a:ext cx="199800" cy="3508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0"/>
          <p:cNvSpPr txBox="1"/>
          <p:nvPr>
            <p:ph idx="1" type="body"/>
          </p:nvPr>
        </p:nvSpPr>
        <p:spPr>
          <a:xfrm>
            <a:off x="324000" y="4157500"/>
            <a:ext cx="33228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box is usually 500 g.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6" name="Google Shape;846;p70"/>
          <p:cNvSpPr/>
          <p:nvPr/>
        </p:nvSpPr>
        <p:spPr>
          <a:xfrm>
            <a:off x="3607225" y="2087884"/>
            <a:ext cx="1456500" cy="29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1"/>
          <p:cNvSpPr txBox="1"/>
          <p:nvPr>
            <p:ph idx="1" type="body"/>
          </p:nvPr>
        </p:nvSpPr>
        <p:spPr>
          <a:xfrm>
            <a:off x="324000" y="1751575"/>
            <a:ext cx="8237700" cy="2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853" name="Google Shape;853;p71"/>
          <p:cNvSpPr txBox="1"/>
          <p:nvPr>
            <p:ph idx="1" type="body"/>
          </p:nvPr>
        </p:nvSpPr>
        <p:spPr>
          <a:xfrm>
            <a:off x="324000" y="759300"/>
            <a:ext cx="8237700" cy="22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Izzy is saving for a new computer game.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Izzy has saved enough money to buy the game she notices that the price has increased by     to £49.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Her mum gives her the extra money to buy the game.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much had Izzy saved?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975" y="340551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1"/>
          <p:cNvSpPr txBox="1"/>
          <p:nvPr/>
        </p:nvSpPr>
        <p:spPr>
          <a:xfrm>
            <a:off x="7178144" y="43520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56" name="Google Shape;856;p71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8739" y="1566288"/>
            <a:ext cx="171325" cy="5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1" name="Google Shape;861;p72"/>
          <p:cNvGraphicFramePr/>
          <p:nvPr/>
        </p:nvGraphicFramePr>
        <p:xfrm>
          <a:off x="4566721" y="25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797350"/>
                <a:gridCol w="797350"/>
                <a:gridCol w="797350"/>
                <a:gridCol w="797350"/>
                <a:gridCol w="797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2" name="Google Shape;862;p72"/>
          <p:cNvGraphicFramePr/>
          <p:nvPr/>
        </p:nvGraphicFramePr>
        <p:xfrm>
          <a:off x="584550" y="2515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398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3" name="Google Shape;863;p72"/>
          <p:cNvGraphicFramePr/>
          <p:nvPr/>
        </p:nvGraphicFramePr>
        <p:xfrm>
          <a:off x="579075" y="25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797350"/>
                <a:gridCol w="797350"/>
                <a:gridCol w="797350"/>
                <a:gridCol w="797350"/>
                <a:gridCol w="797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4" name="Google Shape;864;p72"/>
          <p:cNvGraphicFramePr/>
          <p:nvPr/>
        </p:nvGraphicFramePr>
        <p:xfrm>
          <a:off x="585250" y="25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797350"/>
                <a:gridCol w="797350"/>
                <a:gridCol w="797350"/>
                <a:gridCol w="797350"/>
                <a:gridCol w="797350"/>
                <a:gridCol w="797350"/>
                <a:gridCol w="797350"/>
                <a:gridCol w="797350"/>
                <a:gridCol w="797350"/>
                <a:gridCol w="797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5" name="Google Shape;86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866" name="Google Shape;866;p72"/>
          <p:cNvSpPr txBox="1"/>
          <p:nvPr>
            <p:ph idx="1" type="body"/>
          </p:nvPr>
        </p:nvSpPr>
        <p:spPr>
          <a:xfrm>
            <a:off x="324000" y="759300"/>
            <a:ext cx="8237700" cy="10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would a bar model look like to represent this situation?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Izzy saved the original cost and her mum gave her    </a:t>
            </a:r>
            <a:endParaRPr/>
          </a:p>
        </p:txBody>
      </p:sp>
      <p:pic>
        <p:nvPicPr>
          <p:cNvPr id="867" name="Google Shape;86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175" y="340551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2"/>
          <p:cNvSpPr txBox="1"/>
          <p:nvPr/>
        </p:nvSpPr>
        <p:spPr>
          <a:xfrm>
            <a:off x="7025744" y="43520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69" name="Google Shape;869;p72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5177" y="1180163"/>
            <a:ext cx="171325" cy="5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2"/>
          <p:cNvSpPr/>
          <p:nvPr/>
        </p:nvSpPr>
        <p:spPr>
          <a:xfrm rot="5400000">
            <a:off x="2473150" y="386275"/>
            <a:ext cx="199800" cy="3987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2"/>
          <p:cNvSpPr/>
          <p:nvPr/>
        </p:nvSpPr>
        <p:spPr>
          <a:xfrm rot="-5400000">
            <a:off x="3270675" y="248175"/>
            <a:ext cx="199800" cy="5583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2"/>
          <p:cNvSpPr txBox="1"/>
          <p:nvPr/>
        </p:nvSpPr>
        <p:spPr>
          <a:xfrm>
            <a:off x="2474475" y="1910700"/>
            <a:ext cx="2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/>
          <p:nvPr/>
        </p:nvSpPr>
        <p:spPr>
          <a:xfrm rot="5400000">
            <a:off x="5271200" y="1588975"/>
            <a:ext cx="199800" cy="158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74" name="Google Shape;874;p72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4589" y="1677880"/>
            <a:ext cx="171325" cy="5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2"/>
          <p:cNvSpPr txBox="1"/>
          <p:nvPr/>
        </p:nvSpPr>
        <p:spPr>
          <a:xfrm>
            <a:off x="3125625" y="3201675"/>
            <a:ext cx="165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£49 ÷ 7 = £7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6" name="Google Shape;876;p72"/>
          <p:cNvGrpSpPr/>
          <p:nvPr/>
        </p:nvGrpSpPr>
        <p:grpSpPr>
          <a:xfrm>
            <a:off x="789050" y="2536725"/>
            <a:ext cx="5172925" cy="350100"/>
            <a:chOff x="789050" y="2536725"/>
            <a:chExt cx="5172925" cy="350100"/>
          </a:xfrm>
        </p:grpSpPr>
        <p:sp>
          <p:nvSpPr>
            <p:cNvPr id="877" name="Google Shape;877;p72"/>
            <p:cNvSpPr txBox="1"/>
            <p:nvPr/>
          </p:nvSpPr>
          <p:spPr>
            <a:xfrm>
              <a:off x="789050" y="2540525"/>
              <a:ext cx="38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£7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72"/>
            <p:cNvSpPr txBox="1"/>
            <p:nvPr/>
          </p:nvSpPr>
          <p:spPr>
            <a:xfrm>
              <a:off x="1610050" y="2540525"/>
              <a:ext cx="38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£7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9" name="Google Shape;879;p72"/>
            <p:cNvSpPr txBox="1"/>
            <p:nvPr/>
          </p:nvSpPr>
          <p:spPr>
            <a:xfrm>
              <a:off x="2385375" y="2548125"/>
              <a:ext cx="38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£7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0" name="Google Shape;880;p72"/>
            <p:cNvSpPr txBox="1"/>
            <p:nvPr/>
          </p:nvSpPr>
          <p:spPr>
            <a:xfrm>
              <a:off x="3201825" y="2536725"/>
              <a:ext cx="38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£7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1" name="Google Shape;881;p72"/>
            <p:cNvSpPr txBox="1"/>
            <p:nvPr/>
          </p:nvSpPr>
          <p:spPr>
            <a:xfrm>
              <a:off x="4022825" y="2536725"/>
              <a:ext cx="38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£7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2" name="Google Shape;882;p72"/>
            <p:cNvSpPr txBox="1"/>
            <p:nvPr/>
          </p:nvSpPr>
          <p:spPr>
            <a:xfrm>
              <a:off x="4798150" y="2544325"/>
              <a:ext cx="38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£7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72"/>
            <p:cNvSpPr txBox="1"/>
            <p:nvPr/>
          </p:nvSpPr>
          <p:spPr>
            <a:xfrm>
              <a:off x="5573475" y="2540525"/>
              <a:ext cx="38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£7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4" name="Google Shape;884;p72"/>
          <p:cNvSpPr/>
          <p:nvPr/>
        </p:nvSpPr>
        <p:spPr>
          <a:xfrm rot="-5400000">
            <a:off x="2473125" y="1038650"/>
            <a:ext cx="199800" cy="3987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2"/>
          <p:cNvSpPr txBox="1"/>
          <p:nvPr/>
        </p:nvSpPr>
        <p:spPr>
          <a:xfrm>
            <a:off x="1748475" y="3202194"/>
            <a:ext cx="165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£7 × 5 = £35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/>
          <p:nvPr/>
        </p:nvSpPr>
        <p:spPr>
          <a:xfrm>
            <a:off x="3646950" y="3192525"/>
            <a:ext cx="1114200" cy="29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2"/>
          <p:cNvSpPr txBox="1"/>
          <p:nvPr/>
        </p:nvSpPr>
        <p:spPr>
          <a:xfrm>
            <a:off x="1705675" y="349732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original price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2"/>
          <p:cNvSpPr txBox="1"/>
          <p:nvPr/>
        </p:nvSpPr>
        <p:spPr>
          <a:xfrm>
            <a:off x="2710113" y="3506994"/>
            <a:ext cx="133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new price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2"/>
          <p:cNvSpPr txBox="1"/>
          <p:nvPr>
            <p:ph idx="1" type="body"/>
          </p:nvPr>
        </p:nvSpPr>
        <p:spPr>
          <a:xfrm>
            <a:off x="324000" y="4157500"/>
            <a:ext cx="33228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Izzy saved £35.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895" name="Google Shape;895;p73"/>
          <p:cNvSpPr txBox="1"/>
          <p:nvPr>
            <p:ph idx="1" type="body"/>
          </p:nvPr>
        </p:nvSpPr>
        <p:spPr>
          <a:xfrm>
            <a:off x="324000" y="606900"/>
            <a:ext cx="8237700" cy="18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Alex’s cat goes to the vet once a year.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vet tells Alex that his cat has lost    of </a:t>
            </a:r>
            <a:r>
              <a:rPr lang="en-GB"/>
              <a:t>its</a:t>
            </a:r>
            <a:r>
              <a:rPr lang="en-GB"/>
              <a:t> mass.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His cat now has a mass of 4.5 kg.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was the mass of Alex’s cat last year? </a:t>
            </a:r>
            <a:endParaRPr/>
          </a:p>
        </p:txBody>
      </p:sp>
      <p:pic>
        <p:nvPicPr>
          <p:cNvPr id="896" name="Google Shape;89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373" y="759299"/>
            <a:ext cx="1021925" cy="124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897" name="Google Shape;897;p73" title="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975" y="1026225"/>
            <a:ext cx="160275" cy="526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8" name="Google Shape;898;p73"/>
          <p:cNvGraphicFramePr/>
          <p:nvPr/>
        </p:nvGraphicFramePr>
        <p:xfrm>
          <a:off x="952475" y="33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99" name="Google Shape;899;p73"/>
          <p:cNvSpPr/>
          <p:nvPr/>
        </p:nvSpPr>
        <p:spPr>
          <a:xfrm rot="5400000">
            <a:off x="7053775" y="2202150"/>
            <a:ext cx="199800" cy="2075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3"/>
          <p:cNvSpPr/>
          <p:nvPr/>
        </p:nvSpPr>
        <p:spPr>
          <a:xfrm rot="-5400000">
            <a:off x="4480175" y="270700"/>
            <a:ext cx="199800" cy="7255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3"/>
          <p:cNvSpPr/>
          <p:nvPr/>
        </p:nvSpPr>
        <p:spPr>
          <a:xfrm rot="5400000">
            <a:off x="3427750" y="655225"/>
            <a:ext cx="199800" cy="515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3"/>
          <p:cNvSpPr txBox="1"/>
          <p:nvPr/>
        </p:nvSpPr>
        <p:spPr>
          <a:xfrm>
            <a:off x="3129375" y="2729368"/>
            <a:ext cx="24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kg ÷ 5 = 0.9 kg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3"/>
          <p:cNvSpPr txBox="1"/>
          <p:nvPr/>
        </p:nvSpPr>
        <p:spPr>
          <a:xfrm>
            <a:off x="3354875" y="3998200"/>
            <a:ext cx="24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 kg × 7 = 6.3 kg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4" name="Google Shape;904;p73"/>
          <p:cNvGrpSpPr/>
          <p:nvPr/>
        </p:nvGrpSpPr>
        <p:grpSpPr>
          <a:xfrm>
            <a:off x="1041888" y="3392513"/>
            <a:ext cx="7093948" cy="347200"/>
            <a:chOff x="1041888" y="4078313"/>
            <a:chExt cx="7093948" cy="347200"/>
          </a:xfrm>
        </p:grpSpPr>
        <p:sp>
          <p:nvSpPr>
            <p:cNvPr id="905" name="Google Shape;905;p73"/>
            <p:cNvSpPr txBox="1"/>
            <p:nvPr/>
          </p:nvSpPr>
          <p:spPr>
            <a:xfrm>
              <a:off x="1041888" y="4080750"/>
              <a:ext cx="8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0.9 kg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73"/>
            <p:cNvSpPr txBox="1"/>
            <p:nvPr/>
          </p:nvSpPr>
          <p:spPr>
            <a:xfrm>
              <a:off x="2080763" y="4085600"/>
              <a:ext cx="8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0.9 kg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73"/>
            <p:cNvSpPr txBox="1"/>
            <p:nvPr/>
          </p:nvSpPr>
          <p:spPr>
            <a:xfrm>
              <a:off x="3119637" y="4078313"/>
              <a:ext cx="8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0.9 kg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8" name="Google Shape;908;p73"/>
            <p:cNvSpPr txBox="1"/>
            <p:nvPr/>
          </p:nvSpPr>
          <p:spPr>
            <a:xfrm>
              <a:off x="4158512" y="4083163"/>
              <a:ext cx="8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0.9 kg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73"/>
            <p:cNvSpPr txBox="1"/>
            <p:nvPr/>
          </p:nvSpPr>
          <p:spPr>
            <a:xfrm>
              <a:off x="5197387" y="4083175"/>
              <a:ext cx="8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0.9 kg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3"/>
            <p:cNvSpPr txBox="1"/>
            <p:nvPr/>
          </p:nvSpPr>
          <p:spPr>
            <a:xfrm>
              <a:off x="6236262" y="4086813"/>
              <a:ext cx="8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0.9 kg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3"/>
            <p:cNvSpPr txBox="1"/>
            <p:nvPr/>
          </p:nvSpPr>
          <p:spPr>
            <a:xfrm>
              <a:off x="7275136" y="4084388"/>
              <a:ext cx="8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0.9 kg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912" name="Google Shape;912;p73" title="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3538" y="2547675"/>
            <a:ext cx="160275" cy="526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3" name="Google Shape;913;p73"/>
          <p:cNvGraphicFramePr/>
          <p:nvPr/>
        </p:nvGraphicFramePr>
        <p:xfrm>
          <a:off x="952475" y="33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4" name="Google Shape;914;p73"/>
          <p:cNvSpPr txBox="1"/>
          <p:nvPr/>
        </p:nvSpPr>
        <p:spPr>
          <a:xfrm>
            <a:off x="3534150" y="3998200"/>
            <a:ext cx="207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original mass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5" name="Google Shape;915;p73"/>
          <p:cNvGraphicFramePr/>
          <p:nvPr/>
        </p:nvGraphicFramePr>
        <p:xfrm>
          <a:off x="952475" y="33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6" name="Google Shape;916;p73"/>
          <p:cNvSpPr txBox="1"/>
          <p:nvPr/>
        </p:nvSpPr>
        <p:spPr>
          <a:xfrm>
            <a:off x="2777525" y="2729368"/>
            <a:ext cx="15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new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mass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3"/>
          <p:cNvSpPr/>
          <p:nvPr/>
        </p:nvSpPr>
        <p:spPr>
          <a:xfrm>
            <a:off x="4014900" y="2725626"/>
            <a:ext cx="1564800" cy="38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3"/>
          <p:cNvSpPr txBox="1"/>
          <p:nvPr>
            <p:ph idx="1" type="body"/>
          </p:nvPr>
        </p:nvSpPr>
        <p:spPr>
          <a:xfrm>
            <a:off x="324000" y="4435475"/>
            <a:ext cx="60519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Alex’s cat had a mass of 6.3 kg last year.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924" name="Google Shape;924;p74"/>
          <p:cNvSpPr txBox="1"/>
          <p:nvPr>
            <p:ph idx="1" type="body"/>
          </p:nvPr>
        </p:nvSpPr>
        <p:spPr>
          <a:xfrm>
            <a:off x="324000" y="712950"/>
            <a:ext cx="8237700" cy="17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sunflower increases its height in one month by    of its original height. It now measures 1.4 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tall was it at the beginning of the month?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has drawn the correct bar model?</a:t>
            </a:r>
            <a:endParaRPr/>
          </a:p>
        </p:txBody>
      </p:sp>
      <p:pic>
        <p:nvPicPr>
          <p:cNvPr id="925" name="Google Shape;92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175" y="342886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9" y="35942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4"/>
          <p:cNvSpPr txBox="1"/>
          <p:nvPr/>
        </p:nvSpPr>
        <p:spPr>
          <a:xfrm>
            <a:off x="7727725" y="45086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4"/>
          <p:cNvSpPr txBox="1"/>
          <p:nvPr/>
        </p:nvSpPr>
        <p:spPr>
          <a:xfrm>
            <a:off x="271600" y="45086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929" name="Google Shape;929;p74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7250" y="626387"/>
            <a:ext cx="190867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0" name="Google Shape;930;p74"/>
          <p:cNvGraphicFramePr/>
          <p:nvPr/>
        </p:nvGraphicFramePr>
        <p:xfrm>
          <a:off x="1468825" y="308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25900"/>
                <a:gridCol w="225900"/>
                <a:gridCol w="225900"/>
                <a:gridCol w="225900"/>
                <a:gridCol w="225900"/>
                <a:gridCol w="225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1" name="Google Shape;931;p74"/>
          <p:cNvGraphicFramePr/>
          <p:nvPr/>
        </p:nvGraphicFramePr>
        <p:xfrm>
          <a:off x="2817605" y="308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25900"/>
                <a:gridCol w="225900"/>
                <a:gridCol w="225900"/>
                <a:gridCol w="225900"/>
                <a:gridCol w="225900"/>
                <a:gridCol w="225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2" name="Google Shape;932;p74"/>
          <p:cNvGraphicFramePr/>
          <p:nvPr/>
        </p:nvGraphicFramePr>
        <p:xfrm>
          <a:off x="5606425" y="308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25900"/>
                <a:gridCol w="225900"/>
                <a:gridCol w="225900"/>
                <a:gridCol w="225900"/>
                <a:gridCol w="225900"/>
                <a:gridCol w="225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3" name="Google Shape;933;p74"/>
          <p:cNvSpPr/>
          <p:nvPr/>
        </p:nvSpPr>
        <p:spPr>
          <a:xfrm rot="5400000">
            <a:off x="2827700" y="2835814"/>
            <a:ext cx="199800" cy="220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4"/>
          <p:cNvSpPr/>
          <p:nvPr/>
        </p:nvSpPr>
        <p:spPr>
          <a:xfrm rot="-5400000">
            <a:off x="2143525" y="2809414"/>
            <a:ext cx="199800" cy="1588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4"/>
          <p:cNvSpPr/>
          <p:nvPr/>
        </p:nvSpPr>
        <p:spPr>
          <a:xfrm rot="5400000">
            <a:off x="2040875" y="2274064"/>
            <a:ext cx="199800" cy="1343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4"/>
          <p:cNvSpPr/>
          <p:nvPr/>
        </p:nvSpPr>
        <p:spPr>
          <a:xfrm rot="5400000">
            <a:off x="6075250" y="2375176"/>
            <a:ext cx="199800" cy="1125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4"/>
          <p:cNvSpPr/>
          <p:nvPr/>
        </p:nvSpPr>
        <p:spPr>
          <a:xfrm rot="5400000">
            <a:off x="6748300" y="2828026"/>
            <a:ext cx="199800" cy="220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4"/>
          <p:cNvSpPr/>
          <p:nvPr/>
        </p:nvSpPr>
        <p:spPr>
          <a:xfrm rot="-5400000">
            <a:off x="6181525" y="2936614"/>
            <a:ext cx="199800" cy="1350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939" name="Google Shape;939;p74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325" y="2440639"/>
            <a:ext cx="118538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940" name="Google Shape;940;p74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8925" y="2410864"/>
            <a:ext cx="118538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4"/>
          <p:cNvSpPr txBox="1"/>
          <p:nvPr/>
        </p:nvSpPr>
        <p:spPr>
          <a:xfrm>
            <a:off x="2031500" y="3742264"/>
            <a:ext cx="5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1.4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4"/>
          <p:cNvSpPr txBox="1"/>
          <p:nvPr/>
        </p:nvSpPr>
        <p:spPr>
          <a:xfrm>
            <a:off x="5992050" y="3757864"/>
            <a:ext cx="5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1.4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4"/>
          <p:cNvSpPr txBox="1"/>
          <p:nvPr/>
        </p:nvSpPr>
        <p:spPr>
          <a:xfrm>
            <a:off x="2087275" y="2584189"/>
            <a:ext cx="11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4"/>
          <p:cNvSpPr txBox="1"/>
          <p:nvPr/>
        </p:nvSpPr>
        <p:spPr>
          <a:xfrm>
            <a:off x="6197550" y="2580289"/>
            <a:ext cx="11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4"/>
          <p:cNvSpPr txBox="1"/>
          <p:nvPr/>
        </p:nvSpPr>
        <p:spPr>
          <a:xfrm>
            <a:off x="1449025" y="4070557"/>
            <a:ext cx="621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Alex has drawn the correct bar model.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Izzy’s shows a decrease of   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946" name="Google Shape;946;p74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5300" y="4244051"/>
            <a:ext cx="156375" cy="5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buy a sweatshirt in this sale.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pay £30.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was it originally?</a:t>
            </a:r>
            <a:endParaRPr/>
          </a:p>
        </p:txBody>
      </p:sp>
      <p:sp>
        <p:nvSpPr>
          <p:cNvPr id="952" name="Google Shape;952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953" name="Google Shape;953;p75"/>
          <p:cNvSpPr/>
          <p:nvPr/>
        </p:nvSpPr>
        <p:spPr>
          <a:xfrm>
            <a:off x="3474546" y="819750"/>
            <a:ext cx="1714500" cy="1444932"/>
          </a:xfrm>
          <a:prstGeom prst="irregularSeal2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SALE        off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954" name="Google Shape;954;p75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095" y="1550565"/>
            <a:ext cx="119723" cy="396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5" name="Google Shape;955;p75"/>
          <p:cNvGraphicFramePr/>
          <p:nvPr/>
        </p:nvGraphicFramePr>
        <p:xfrm>
          <a:off x="555025" y="339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1153400"/>
                <a:gridCol w="1153400"/>
                <a:gridCol w="115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956" name="Google Shape;956;p75"/>
          <p:cNvSpPr/>
          <p:nvPr/>
        </p:nvSpPr>
        <p:spPr>
          <a:xfrm rot="5400000">
            <a:off x="1610200" y="2084700"/>
            <a:ext cx="199800" cy="2310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5"/>
          <p:cNvSpPr txBox="1"/>
          <p:nvPr/>
        </p:nvSpPr>
        <p:spPr>
          <a:xfrm>
            <a:off x="1477675" y="2739825"/>
            <a:ext cx="162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£30 ÷ 2 = £15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5"/>
          <p:cNvSpPr/>
          <p:nvPr/>
        </p:nvSpPr>
        <p:spPr>
          <a:xfrm rot="-5400000">
            <a:off x="2186250" y="2223050"/>
            <a:ext cx="199800" cy="346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5"/>
          <p:cNvSpPr txBox="1"/>
          <p:nvPr>
            <p:ph idx="2" type="subTitle"/>
          </p:nvPr>
        </p:nvSpPr>
        <p:spPr>
          <a:xfrm>
            <a:off x="5142850" y="810000"/>
            <a:ext cx="3663300" cy="14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You buy a sweatshirt in this sale.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You pay £50.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much was it originally?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75"/>
          <p:cNvSpPr txBox="1"/>
          <p:nvPr/>
        </p:nvSpPr>
        <p:spPr>
          <a:xfrm>
            <a:off x="1477675" y="4113200"/>
            <a:ext cx="162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£15 = £45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1" name="Google Shape;961;p75"/>
          <p:cNvGraphicFramePr/>
          <p:nvPr/>
        </p:nvGraphicFramePr>
        <p:xfrm>
          <a:off x="5050825" y="339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1153400"/>
                <a:gridCol w="1153400"/>
                <a:gridCol w="115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962" name="Google Shape;962;p75"/>
          <p:cNvSpPr/>
          <p:nvPr/>
        </p:nvSpPr>
        <p:spPr>
          <a:xfrm rot="5400000">
            <a:off x="6106000" y="2084700"/>
            <a:ext cx="199800" cy="2310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5"/>
          <p:cNvSpPr txBox="1"/>
          <p:nvPr/>
        </p:nvSpPr>
        <p:spPr>
          <a:xfrm>
            <a:off x="5973475" y="2739825"/>
            <a:ext cx="200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£50 ÷ 2 = £25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75"/>
          <p:cNvSpPr/>
          <p:nvPr/>
        </p:nvSpPr>
        <p:spPr>
          <a:xfrm rot="-5400000">
            <a:off x="6682050" y="2223050"/>
            <a:ext cx="199800" cy="346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5"/>
          <p:cNvSpPr txBox="1"/>
          <p:nvPr/>
        </p:nvSpPr>
        <p:spPr>
          <a:xfrm>
            <a:off x="5973475" y="4113200"/>
            <a:ext cx="200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£25 = £75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971" name="Google Shape;971;p76"/>
          <p:cNvSpPr txBox="1"/>
          <p:nvPr>
            <p:ph idx="1" type="body"/>
          </p:nvPr>
        </p:nvSpPr>
        <p:spPr>
          <a:xfrm>
            <a:off x="3292150" y="1236300"/>
            <a:ext cx="271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   of 150 =      of 75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972" name="Google Shape;972;p76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4950" y="1164150"/>
            <a:ext cx="164640" cy="5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973" name="Google Shape;973;p76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508" y="1164150"/>
            <a:ext cx="164640" cy="5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76"/>
          <p:cNvSpPr txBox="1"/>
          <p:nvPr>
            <p:ph idx="1" type="body"/>
          </p:nvPr>
        </p:nvSpPr>
        <p:spPr>
          <a:xfrm>
            <a:off x="324000" y="603600"/>
            <a:ext cx="84960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and Izzy</a:t>
            </a:r>
            <a:r>
              <a:rPr lang="en-GB" sz="1800"/>
              <a:t> are trying to decide if the following is true without working out the answers. </a:t>
            </a:r>
            <a:endParaRPr sz="1800"/>
          </a:p>
        </p:txBody>
      </p:sp>
      <p:graphicFrame>
        <p:nvGraphicFramePr>
          <p:cNvPr id="975" name="Google Shape;975;p76"/>
          <p:cNvGraphicFramePr/>
          <p:nvPr/>
        </p:nvGraphicFramePr>
        <p:xfrm>
          <a:off x="952500" y="23607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3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6" name="Google Shape;976;p76"/>
          <p:cNvGraphicFramePr/>
          <p:nvPr/>
        </p:nvGraphicFramePr>
        <p:xfrm>
          <a:off x="952500" y="27087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</a:tblGrid>
              <a:tr h="18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0000" marB="90000" marR="91425" marL="900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0000" marB="90000" marR="91425" marL="900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0000" marB="90000" marR="91425" marL="900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0000" marB="90000" marR="91425" marL="900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90000" marB="90000" marR="91425" marL="9000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7" name="Google Shape;977;p76"/>
          <p:cNvSpPr/>
          <p:nvPr/>
        </p:nvSpPr>
        <p:spPr>
          <a:xfrm rot="5400000">
            <a:off x="4540975" y="-1362750"/>
            <a:ext cx="65100" cy="7242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6"/>
          <p:cNvSpPr/>
          <p:nvPr/>
        </p:nvSpPr>
        <p:spPr>
          <a:xfrm rot="-5400000">
            <a:off x="2710075" y="1244698"/>
            <a:ext cx="92700" cy="3607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6"/>
          <p:cNvSpPr txBox="1"/>
          <p:nvPr>
            <p:ph idx="1" type="body"/>
          </p:nvPr>
        </p:nvSpPr>
        <p:spPr>
          <a:xfrm>
            <a:off x="4391725" y="1936502"/>
            <a:ext cx="51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150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980" name="Google Shape;980;p76"/>
          <p:cNvSpPr txBox="1"/>
          <p:nvPr>
            <p:ph idx="1" type="body"/>
          </p:nvPr>
        </p:nvSpPr>
        <p:spPr>
          <a:xfrm>
            <a:off x="2633550" y="3097898"/>
            <a:ext cx="354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75</a:t>
            </a:r>
            <a:r>
              <a:rPr lang="en-GB" sz="1800"/>
              <a:t>   </a:t>
            </a:r>
            <a:endParaRPr sz="1800"/>
          </a:p>
        </p:txBody>
      </p:sp>
      <p:grpSp>
        <p:nvGrpSpPr>
          <p:cNvPr id="981" name="Google Shape;981;p76"/>
          <p:cNvGrpSpPr/>
          <p:nvPr/>
        </p:nvGrpSpPr>
        <p:grpSpPr>
          <a:xfrm>
            <a:off x="4786650" y="2623400"/>
            <a:ext cx="2926701" cy="1921824"/>
            <a:chOff x="5225479" y="2112640"/>
            <a:chExt cx="2564357" cy="1247452"/>
          </a:xfrm>
        </p:grpSpPr>
        <p:pic>
          <p:nvPicPr>
            <p:cNvPr id="982" name="Google Shape;982;p76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225479" y="2112640"/>
              <a:ext cx="2564357" cy="1247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76"/>
            <p:cNvSpPr txBox="1"/>
            <p:nvPr/>
          </p:nvSpPr>
          <p:spPr>
            <a:xfrm>
              <a:off x="5333961" y="2265389"/>
              <a:ext cx="2250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must be false.  Both the fraction and amount are smaller so the answer must be smaller.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76"/>
          <p:cNvGrpSpPr/>
          <p:nvPr/>
        </p:nvGrpSpPr>
        <p:grpSpPr>
          <a:xfrm>
            <a:off x="1136187" y="3294049"/>
            <a:ext cx="2619993" cy="1271324"/>
            <a:chOff x="-304879" y="1236650"/>
            <a:chExt cx="3836570" cy="1271324"/>
          </a:xfrm>
        </p:grpSpPr>
        <p:pic>
          <p:nvPicPr>
            <p:cNvPr id="985" name="Google Shape;985;p76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-304879" y="1236650"/>
              <a:ext cx="3836570" cy="1271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76"/>
            <p:cNvSpPr txBox="1"/>
            <p:nvPr/>
          </p:nvSpPr>
          <p:spPr>
            <a:xfrm>
              <a:off x="-44350" y="1460127"/>
              <a:ext cx="3431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it is true. The fraction and amount have both halved.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87" name="Google Shape;98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5890" y="342886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24009" y="35942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6"/>
          <p:cNvSpPr txBox="1"/>
          <p:nvPr/>
        </p:nvSpPr>
        <p:spPr>
          <a:xfrm>
            <a:off x="7727125" y="45067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6"/>
          <p:cNvSpPr txBox="1"/>
          <p:nvPr/>
        </p:nvSpPr>
        <p:spPr>
          <a:xfrm>
            <a:off x="424000" y="45086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6"/>
          <p:cNvSpPr/>
          <p:nvPr/>
        </p:nvSpPr>
        <p:spPr>
          <a:xfrm>
            <a:off x="3229675" y="1016500"/>
            <a:ext cx="2667600" cy="838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6"/>
          <p:cNvSpPr txBox="1"/>
          <p:nvPr>
            <p:ph idx="1" type="body"/>
          </p:nvPr>
        </p:nvSpPr>
        <p:spPr>
          <a:xfrm>
            <a:off x="1859625" y="4520825"/>
            <a:ext cx="567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see from the bar models that it is false.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998" name="Google Shape;998;p77"/>
          <p:cNvSpPr txBox="1"/>
          <p:nvPr>
            <p:ph idx="1" type="body"/>
          </p:nvPr>
        </p:nvSpPr>
        <p:spPr>
          <a:xfrm>
            <a:off x="760775" y="997800"/>
            <a:ext cx="218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 80 =     of 160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999" name="Google Shape;999;p77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25" y="851400"/>
            <a:ext cx="18946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000" name="Google Shape;1000;p77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7025" y="887300"/>
            <a:ext cx="189450" cy="60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7"/>
          <p:cNvSpPr/>
          <p:nvPr/>
        </p:nvSpPr>
        <p:spPr>
          <a:xfrm>
            <a:off x="2431188" y="943050"/>
            <a:ext cx="522900" cy="43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2" name="Google Shape;1002;p77"/>
          <p:cNvGraphicFramePr/>
          <p:nvPr/>
        </p:nvGraphicFramePr>
        <p:xfrm>
          <a:off x="3368750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551125"/>
                <a:gridCol w="551125"/>
                <a:gridCol w="551125"/>
                <a:gridCol w="551125"/>
                <a:gridCol w="55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3" name="Google Shape;1003;p77"/>
          <p:cNvGraphicFramePr/>
          <p:nvPr/>
        </p:nvGraphicFramePr>
        <p:xfrm>
          <a:off x="3370075" y="2399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76200"/>
                <a:gridCol w="276200"/>
                <a:gridCol w="276200"/>
                <a:gridCol w="276200"/>
                <a:gridCol w="238650"/>
              </a:tblGrid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4" name="Google Shape;1004;p77"/>
          <p:cNvGraphicFramePr/>
          <p:nvPr/>
        </p:nvGraphicFramePr>
        <p:xfrm>
          <a:off x="3368750" y="334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1100825"/>
                <a:gridCol w="1100825"/>
                <a:gridCol w="1100825"/>
                <a:gridCol w="1100825"/>
                <a:gridCol w="951200"/>
              </a:tblGrid>
              <a:tr h="33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5" name="Google Shape;1005;p77"/>
          <p:cNvSpPr/>
          <p:nvPr/>
        </p:nvSpPr>
        <p:spPr>
          <a:xfrm rot="5400000">
            <a:off x="4649050" y="-165600"/>
            <a:ext cx="199800" cy="2760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7"/>
          <p:cNvSpPr txBox="1"/>
          <p:nvPr>
            <p:ph idx="1" type="body"/>
          </p:nvPr>
        </p:nvSpPr>
        <p:spPr>
          <a:xfrm>
            <a:off x="4553417" y="764400"/>
            <a:ext cx="38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80</a:t>
            </a:r>
            <a:r>
              <a:rPr lang="en-GB"/>
              <a:t>   </a:t>
            </a:r>
            <a:endParaRPr/>
          </a:p>
        </p:txBody>
      </p:sp>
      <p:sp>
        <p:nvSpPr>
          <p:cNvPr id="1007" name="Google Shape;1007;p77"/>
          <p:cNvSpPr/>
          <p:nvPr/>
        </p:nvSpPr>
        <p:spPr>
          <a:xfrm rot="5400000">
            <a:off x="3948125" y="1574600"/>
            <a:ext cx="199800" cy="1355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7"/>
          <p:cNvSpPr/>
          <p:nvPr/>
        </p:nvSpPr>
        <p:spPr>
          <a:xfrm rot="5400000">
            <a:off x="5942150" y="529600"/>
            <a:ext cx="199800" cy="5346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7"/>
          <p:cNvSpPr txBox="1"/>
          <p:nvPr>
            <p:ph idx="1" type="body"/>
          </p:nvPr>
        </p:nvSpPr>
        <p:spPr>
          <a:xfrm>
            <a:off x="3899675" y="1809275"/>
            <a:ext cx="38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40</a:t>
            </a:r>
            <a:r>
              <a:rPr lang="en-GB"/>
              <a:t>   </a:t>
            </a:r>
            <a:endParaRPr/>
          </a:p>
        </p:txBody>
      </p:sp>
      <p:sp>
        <p:nvSpPr>
          <p:cNvPr id="1010" name="Google Shape;1010;p77"/>
          <p:cNvSpPr txBox="1"/>
          <p:nvPr>
            <p:ph idx="1" type="body"/>
          </p:nvPr>
        </p:nvSpPr>
        <p:spPr>
          <a:xfrm>
            <a:off x="5380448" y="2730000"/>
            <a:ext cx="522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160</a:t>
            </a:r>
            <a:r>
              <a:rPr lang="en-GB"/>
              <a:t>   </a:t>
            </a:r>
            <a:endParaRPr/>
          </a:p>
        </p:txBody>
      </p:sp>
      <p:grpSp>
        <p:nvGrpSpPr>
          <p:cNvPr id="1011" name="Google Shape;1011;p77"/>
          <p:cNvGrpSpPr/>
          <p:nvPr/>
        </p:nvGrpSpPr>
        <p:grpSpPr>
          <a:xfrm>
            <a:off x="1136224" y="2151050"/>
            <a:ext cx="1955251" cy="1864149"/>
            <a:chOff x="1212424" y="2455850"/>
            <a:chExt cx="1955251" cy="1864149"/>
          </a:xfrm>
        </p:grpSpPr>
        <p:pic>
          <p:nvPicPr>
            <p:cNvPr id="1012" name="Google Shape;1012;p77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12424" y="2455850"/>
              <a:ext cx="1955251" cy="1864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77"/>
            <p:cNvSpPr txBox="1"/>
            <p:nvPr/>
          </p:nvSpPr>
          <p:spPr>
            <a:xfrm>
              <a:off x="1340525" y="2636225"/>
              <a:ext cx="1737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because we halved the fraction we had to double the amount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4" name="Google Shape;101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4009" y="35942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7"/>
          <p:cNvSpPr txBox="1"/>
          <p:nvPr/>
        </p:nvSpPr>
        <p:spPr>
          <a:xfrm>
            <a:off x="424000" y="45086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21" name="Google Shape;1021;p78" title="four fifths one fifth"/>
          <p:cNvSpPr txBox="1"/>
          <p:nvPr>
            <p:ph idx="1" type="body"/>
          </p:nvPr>
        </p:nvSpPr>
        <p:spPr>
          <a:xfrm>
            <a:off x="760775" y="997800"/>
            <a:ext cx="2991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 250 =      of 1000   </a:t>
            </a:r>
            <a:endParaRPr/>
          </a:p>
        </p:txBody>
      </p:sp>
      <p:sp>
        <p:nvSpPr>
          <p:cNvPr id="1022" name="Google Shape;1022;p78"/>
          <p:cNvSpPr/>
          <p:nvPr/>
        </p:nvSpPr>
        <p:spPr>
          <a:xfrm>
            <a:off x="2685375" y="943050"/>
            <a:ext cx="684300" cy="43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3" name="Google Shape;1023;p78"/>
          <p:cNvPicPr preferRelativeResize="0"/>
          <p:nvPr/>
        </p:nvPicPr>
        <p:blipFill rotWithShape="1">
          <a:blip r:embed="rId3">
            <a:alphaModFix/>
          </a:blip>
          <a:srcRect b="0" l="53388" r="0" t="0"/>
          <a:stretch/>
        </p:blipFill>
        <p:spPr>
          <a:xfrm>
            <a:off x="1927304" y="851400"/>
            <a:ext cx="2397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78"/>
          <p:cNvPicPr preferRelativeResize="0"/>
          <p:nvPr/>
        </p:nvPicPr>
        <p:blipFill rotWithShape="1">
          <a:blip r:embed="rId3">
            <a:alphaModFix/>
          </a:blip>
          <a:srcRect b="0" l="0" r="53388" t="0"/>
          <a:stretch/>
        </p:blipFill>
        <p:spPr>
          <a:xfrm>
            <a:off x="421625" y="851400"/>
            <a:ext cx="239700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5" name="Google Shape;1025;p78"/>
          <p:cNvGrpSpPr/>
          <p:nvPr/>
        </p:nvGrpSpPr>
        <p:grpSpPr>
          <a:xfrm>
            <a:off x="5758875" y="3051575"/>
            <a:ext cx="1727698" cy="1253726"/>
            <a:chOff x="5301675" y="3889775"/>
            <a:chExt cx="1727698" cy="1253726"/>
          </a:xfrm>
        </p:grpSpPr>
        <p:pic>
          <p:nvPicPr>
            <p:cNvPr id="1026" name="Google Shape;1026;p7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5301675" y="3889775"/>
              <a:ext cx="1727698" cy="1253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7" name="Google Shape;1027;p78"/>
            <p:cNvSpPr txBox="1"/>
            <p:nvPr/>
          </p:nvSpPr>
          <p:spPr>
            <a:xfrm>
              <a:off x="5423400" y="4084898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I think you are right Alex.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8" name="Google Shape;1028;p78"/>
          <p:cNvGrpSpPr/>
          <p:nvPr/>
        </p:nvGrpSpPr>
        <p:grpSpPr>
          <a:xfrm>
            <a:off x="1288628" y="2455850"/>
            <a:ext cx="3229972" cy="1927151"/>
            <a:chOff x="-159172" y="1312850"/>
            <a:chExt cx="3229972" cy="1927151"/>
          </a:xfrm>
        </p:grpSpPr>
        <p:pic>
          <p:nvPicPr>
            <p:cNvPr id="1029" name="Google Shape;1029;p7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-159172" y="1312850"/>
              <a:ext cx="3229972" cy="1927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78"/>
            <p:cNvSpPr txBox="1"/>
            <p:nvPr/>
          </p:nvSpPr>
          <p:spPr>
            <a:xfrm>
              <a:off x="91463" y="1569425"/>
              <a:ext cx="2770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that here we have divided the fraction by 4 so we must have to multiply the amount by 4.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31" name="Google Shape;1031;p78"/>
          <p:cNvGraphicFramePr/>
          <p:nvPr/>
        </p:nvGraphicFramePr>
        <p:xfrm>
          <a:off x="3757375" y="14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42900"/>
                <a:gridCol w="242900"/>
                <a:gridCol w="242900"/>
                <a:gridCol w="242900"/>
                <a:gridCol w="24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2" name="Google Shape;1032;p78"/>
          <p:cNvGraphicFramePr/>
          <p:nvPr/>
        </p:nvGraphicFramePr>
        <p:xfrm>
          <a:off x="3757375" y="197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984200"/>
                <a:gridCol w="984200"/>
                <a:gridCol w="984200"/>
                <a:gridCol w="984200"/>
                <a:gridCol w="98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3" name="Google Shape;1033;p78"/>
          <p:cNvGraphicFramePr/>
          <p:nvPr/>
        </p:nvGraphicFramePr>
        <p:xfrm>
          <a:off x="5008357" y="14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42900"/>
                <a:gridCol w="242900"/>
                <a:gridCol w="242900"/>
                <a:gridCol w="242900"/>
                <a:gridCol w="24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4" name="Google Shape;1034;p78"/>
          <p:cNvGraphicFramePr/>
          <p:nvPr/>
        </p:nvGraphicFramePr>
        <p:xfrm>
          <a:off x="6226093" y="14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42900"/>
                <a:gridCol w="242900"/>
                <a:gridCol w="242900"/>
                <a:gridCol w="242900"/>
                <a:gridCol w="24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5" name="Google Shape;1035;p78"/>
          <p:cNvGraphicFramePr/>
          <p:nvPr/>
        </p:nvGraphicFramePr>
        <p:xfrm>
          <a:off x="7447213" y="14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42900"/>
                <a:gridCol w="242900"/>
                <a:gridCol w="242900"/>
                <a:gridCol w="242900"/>
                <a:gridCol w="242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6" name="Google Shape;1036;p78"/>
          <p:cNvSpPr/>
          <p:nvPr/>
        </p:nvSpPr>
        <p:spPr>
          <a:xfrm flipH="1" rot="-5400000">
            <a:off x="4267975" y="728400"/>
            <a:ext cx="199800" cy="1221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8"/>
          <p:cNvSpPr txBox="1"/>
          <p:nvPr>
            <p:ph idx="1" type="body"/>
          </p:nvPr>
        </p:nvSpPr>
        <p:spPr>
          <a:xfrm>
            <a:off x="4100126" y="916050"/>
            <a:ext cx="535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250</a:t>
            </a:r>
            <a:r>
              <a:rPr lang="en-GB"/>
              <a:t>   </a:t>
            </a:r>
            <a:endParaRPr/>
          </a:p>
        </p:txBody>
      </p:sp>
      <p:sp>
        <p:nvSpPr>
          <p:cNvPr id="1038" name="Google Shape;1038;p78"/>
          <p:cNvSpPr/>
          <p:nvPr/>
        </p:nvSpPr>
        <p:spPr>
          <a:xfrm flipH="1" rot="-5400000">
            <a:off x="5509080" y="728400"/>
            <a:ext cx="199800" cy="1221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8"/>
          <p:cNvSpPr txBox="1"/>
          <p:nvPr>
            <p:ph idx="1" type="body"/>
          </p:nvPr>
        </p:nvSpPr>
        <p:spPr>
          <a:xfrm>
            <a:off x="5411462" y="916050"/>
            <a:ext cx="51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250</a:t>
            </a:r>
            <a:r>
              <a:rPr lang="en-GB"/>
              <a:t> </a:t>
            </a:r>
            <a:endParaRPr/>
          </a:p>
        </p:txBody>
      </p:sp>
      <p:sp>
        <p:nvSpPr>
          <p:cNvPr id="1040" name="Google Shape;1040;p78"/>
          <p:cNvSpPr/>
          <p:nvPr/>
        </p:nvSpPr>
        <p:spPr>
          <a:xfrm flipH="1" rot="-5400000">
            <a:off x="6728280" y="728400"/>
            <a:ext cx="199800" cy="1221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8"/>
          <p:cNvSpPr txBox="1"/>
          <p:nvPr>
            <p:ph idx="1" type="body"/>
          </p:nvPr>
        </p:nvSpPr>
        <p:spPr>
          <a:xfrm>
            <a:off x="6627055" y="916050"/>
            <a:ext cx="51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</a:t>
            </a:r>
            <a:r>
              <a:rPr lang="en-GB"/>
              <a:t>0   </a:t>
            </a:r>
            <a:endParaRPr/>
          </a:p>
        </p:txBody>
      </p:sp>
      <p:sp>
        <p:nvSpPr>
          <p:cNvPr id="1042" name="Google Shape;1042;p78"/>
          <p:cNvSpPr/>
          <p:nvPr/>
        </p:nvSpPr>
        <p:spPr>
          <a:xfrm flipH="1" rot="-5400000">
            <a:off x="7947480" y="728400"/>
            <a:ext cx="199800" cy="1221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8"/>
          <p:cNvSpPr txBox="1"/>
          <p:nvPr>
            <p:ph idx="1" type="body"/>
          </p:nvPr>
        </p:nvSpPr>
        <p:spPr>
          <a:xfrm>
            <a:off x="7816170" y="916050"/>
            <a:ext cx="51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</a:t>
            </a:r>
            <a:r>
              <a:rPr lang="en-GB"/>
              <a:t>0   </a:t>
            </a:r>
            <a:endParaRPr/>
          </a:p>
        </p:txBody>
      </p:sp>
      <p:sp>
        <p:nvSpPr>
          <p:cNvPr id="1044" name="Google Shape;1044;p78"/>
          <p:cNvSpPr/>
          <p:nvPr/>
        </p:nvSpPr>
        <p:spPr>
          <a:xfrm rot="-5400000">
            <a:off x="6121350" y="16950"/>
            <a:ext cx="199800" cy="4920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8"/>
          <p:cNvSpPr txBox="1"/>
          <p:nvPr>
            <p:ph idx="1" type="body"/>
          </p:nvPr>
        </p:nvSpPr>
        <p:spPr>
          <a:xfrm>
            <a:off x="5367900" y="2631275"/>
            <a:ext cx="1955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× 250 = 1000 </a:t>
            </a:r>
            <a:r>
              <a:rPr lang="en-GB"/>
              <a:t>   </a:t>
            </a:r>
            <a:endParaRPr/>
          </a:p>
        </p:txBody>
      </p:sp>
      <p:pic>
        <p:nvPicPr>
          <p:cNvPr id="1046" name="Google Shape;104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5890" y="342886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4009" y="35942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78"/>
          <p:cNvSpPr txBox="1"/>
          <p:nvPr/>
        </p:nvSpPr>
        <p:spPr>
          <a:xfrm>
            <a:off x="7727125" y="45067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8"/>
          <p:cNvSpPr txBox="1"/>
          <p:nvPr/>
        </p:nvSpPr>
        <p:spPr>
          <a:xfrm>
            <a:off x="424000" y="45086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55" name="Google Shape;1055;p79" title="four fifths one fifth"/>
          <p:cNvSpPr txBox="1"/>
          <p:nvPr>
            <p:ph idx="1" type="subTitle"/>
          </p:nvPr>
        </p:nvSpPr>
        <p:spPr>
          <a:xfrm>
            <a:off x="667575" y="1829450"/>
            <a:ext cx="2395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of 240 =      of 48   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\frac{1}{6}\ \frac{5}{6}&quot;&gt;&lt;mfrac&gt;&lt;mn&gt;1&lt;/mn&gt;&lt;mn&gt;6&lt;/mn&gt;&lt;/mfrac&gt;&lt;mtext&gt;&lt;/mtext&gt;&lt;mfrac&gt;&lt;mn&gt;5&lt;/mn&gt;&lt;mn&gt;6&lt;/mn&gt;&lt;/mfrac&gt;&lt;/math&gt;" id="1056" name="Google Shape;1056;p79" title="one sixth five sixths"/>
          <p:cNvPicPr preferRelativeResize="0"/>
          <p:nvPr/>
        </p:nvPicPr>
        <p:blipFill rotWithShape="1">
          <a:blip r:embed="rId3">
            <a:alphaModFix/>
          </a:blip>
          <a:srcRect b="0" l="56383" r="0" t="0"/>
          <a:stretch/>
        </p:blipFill>
        <p:spPr>
          <a:xfrm>
            <a:off x="1882595" y="1695600"/>
            <a:ext cx="2247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 \frac{5}{6}&quot;&gt;&lt;mfrac&gt;&lt;mn&gt;1&lt;/mn&gt;&lt;mn&gt;6&lt;/mn&gt;&lt;/mfrac&gt;&lt;mtext&gt;&lt;/mtext&gt;&lt;mfrac&gt;&lt;mn&gt;5&lt;/mn&gt;&lt;mn&gt;6&lt;/mn&gt;&lt;/mfrac&gt;&lt;/math&gt;" id="1057" name="Google Shape;1057;p79" title="one sixth five sixths"/>
          <p:cNvPicPr preferRelativeResize="0"/>
          <p:nvPr/>
        </p:nvPicPr>
        <p:blipFill rotWithShape="1">
          <a:blip r:embed="rId3">
            <a:alphaModFix/>
          </a:blip>
          <a:srcRect b="0" l="0" r="50002" t="0"/>
          <a:stretch/>
        </p:blipFill>
        <p:spPr>
          <a:xfrm>
            <a:off x="409994" y="1695600"/>
            <a:ext cx="25757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79"/>
          <p:cNvSpPr/>
          <p:nvPr/>
        </p:nvSpPr>
        <p:spPr>
          <a:xfrm>
            <a:off x="2566596" y="1787250"/>
            <a:ext cx="380100" cy="43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9"/>
          <p:cNvSpPr/>
          <p:nvPr/>
        </p:nvSpPr>
        <p:spPr>
          <a:xfrm flipH="1" rot="10800000">
            <a:off x="1302550" y="2243300"/>
            <a:ext cx="1390800" cy="320700"/>
          </a:xfrm>
          <a:prstGeom prst="arc">
            <a:avLst>
              <a:gd fmla="val 10729459" name="adj1"/>
              <a:gd fmla="val 21329454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79"/>
          <p:cNvSpPr/>
          <p:nvPr/>
        </p:nvSpPr>
        <p:spPr>
          <a:xfrm>
            <a:off x="500975" y="1427200"/>
            <a:ext cx="1537200" cy="322200"/>
          </a:xfrm>
          <a:prstGeom prst="arc">
            <a:avLst>
              <a:gd fmla="val 10729459" name="adj1"/>
              <a:gd fmla="val 2149489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61" name="Google Shape;1061;p79" title="four fifths one fifth"/>
          <p:cNvSpPr txBox="1"/>
          <p:nvPr>
            <p:ph idx="4294967295" type="body"/>
          </p:nvPr>
        </p:nvSpPr>
        <p:spPr>
          <a:xfrm>
            <a:off x="1862800" y="2650600"/>
            <a:ext cx="416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÷</a:t>
            </a:r>
            <a:r>
              <a:rPr lang="en-GB"/>
              <a:t> 5   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62" name="Google Shape;1062;p79" title="four fifths one fifth"/>
          <p:cNvSpPr txBox="1"/>
          <p:nvPr>
            <p:ph idx="4294967295" type="body"/>
          </p:nvPr>
        </p:nvSpPr>
        <p:spPr>
          <a:xfrm>
            <a:off x="1061225" y="1061125"/>
            <a:ext cx="416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</a:t>
            </a:r>
            <a:r>
              <a:rPr lang="en-GB"/>
              <a:t> 5   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63" name="Google Shape;1063;p79" title="four fifths one fifth"/>
          <p:cNvSpPr txBox="1"/>
          <p:nvPr>
            <p:ph idx="1" type="subTitle"/>
          </p:nvPr>
        </p:nvSpPr>
        <p:spPr>
          <a:xfrm>
            <a:off x="5321350" y="1848325"/>
            <a:ext cx="2395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of 15 =     of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45</a:t>
            </a:r>
            <a:r>
              <a:rPr lang="en-GB" sz="2200"/>
              <a:t>   </a:t>
            </a:r>
            <a:endParaRPr sz="2200"/>
          </a:p>
        </p:txBody>
      </p:sp>
      <p:sp>
        <p:nvSpPr>
          <p:cNvPr id="1064" name="Google Shape;1064;p79"/>
          <p:cNvSpPr/>
          <p:nvPr/>
        </p:nvSpPr>
        <p:spPr>
          <a:xfrm>
            <a:off x="6933278" y="1787250"/>
            <a:ext cx="380100" cy="4302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9"/>
          <p:cNvSpPr/>
          <p:nvPr/>
        </p:nvSpPr>
        <p:spPr>
          <a:xfrm flipH="1" rot="10800000">
            <a:off x="5956325" y="2262175"/>
            <a:ext cx="1119300" cy="320700"/>
          </a:xfrm>
          <a:prstGeom prst="arc">
            <a:avLst>
              <a:gd fmla="val 10729459" name="adj1"/>
              <a:gd fmla="val 2149489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79"/>
          <p:cNvSpPr/>
          <p:nvPr/>
        </p:nvSpPr>
        <p:spPr>
          <a:xfrm>
            <a:off x="5154750" y="1446075"/>
            <a:ext cx="1265700" cy="322200"/>
          </a:xfrm>
          <a:prstGeom prst="arc">
            <a:avLst>
              <a:gd fmla="val 10729459" name="adj1"/>
              <a:gd fmla="val 2149489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67" name="Google Shape;1067;p79" title="four fifths one fifth"/>
          <p:cNvSpPr txBox="1"/>
          <p:nvPr>
            <p:ph idx="4294967295" type="body"/>
          </p:nvPr>
        </p:nvSpPr>
        <p:spPr>
          <a:xfrm>
            <a:off x="6516575" y="2669475"/>
            <a:ext cx="416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3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68" name="Google Shape;1068;p79" title="four fifths one fifth"/>
          <p:cNvSpPr txBox="1"/>
          <p:nvPr>
            <p:ph idx="4294967295" type="body"/>
          </p:nvPr>
        </p:nvSpPr>
        <p:spPr>
          <a:xfrm>
            <a:off x="5715000" y="1080000"/>
            <a:ext cx="66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3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\ \ \frac{1}{4}&quot;&gt;&lt;mfrac&gt;&lt;mn&gt;3&lt;/mn&gt;&lt;mn&gt;4&lt;/mn&gt;&lt;/mfrac&gt;&lt;mtext&gt;&lt;/mtext&gt;&lt;mtext&gt;&lt;/mtext&gt;&lt;mfrac&gt;&lt;mn&gt;1&lt;/mn&gt;&lt;mn&gt;4&lt;/mn&gt;&lt;/mfrac&gt;&lt;/math&gt;" id="1069" name="Google Shape;1069;p79" title="three fourths one fourth"/>
          <p:cNvPicPr preferRelativeResize="0"/>
          <p:nvPr/>
        </p:nvPicPr>
        <p:blipFill rotWithShape="1">
          <a:blip r:embed="rId4">
            <a:alphaModFix/>
          </a:blip>
          <a:srcRect b="0" l="0" r="56425" t="0"/>
          <a:stretch/>
        </p:blipFill>
        <p:spPr>
          <a:xfrm>
            <a:off x="5012675" y="1768275"/>
            <a:ext cx="2575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\ \frac{1}{4}&quot;&gt;&lt;mfrac&gt;&lt;mn&gt;3&lt;/mn&gt;&lt;mn&gt;4&lt;/mn&gt;&lt;/mfrac&gt;&lt;mtext&gt;&lt;/mtext&gt;&lt;mtext&gt;&lt;/mtext&gt;&lt;mfrac&gt;&lt;mn&gt;1&lt;/mn&gt;&lt;mn&gt;4&lt;/mn&gt;&lt;/mfrac&gt;&lt;/math&gt;" id="1070" name="Google Shape;1070;p79" title="three fourths one fourth"/>
          <p:cNvPicPr preferRelativeResize="0"/>
          <p:nvPr/>
        </p:nvPicPr>
        <p:blipFill rotWithShape="1">
          <a:blip r:embed="rId4">
            <a:alphaModFix/>
          </a:blip>
          <a:srcRect b="0" l="56425" r="0" t="0"/>
          <a:stretch/>
        </p:blipFill>
        <p:spPr>
          <a:xfrm>
            <a:off x="6287977" y="1749400"/>
            <a:ext cx="257575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0"/>
          <p:cNvSpPr txBox="1"/>
          <p:nvPr>
            <p:ph idx="1" type="body"/>
          </p:nvPr>
        </p:nvSpPr>
        <p:spPr>
          <a:xfrm>
            <a:off x="324000" y="759300"/>
            <a:ext cx="8237700" cy="21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Match each problem to the correct bar model and solve.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Izzy is saving for a new camera. She has saved £42 </a:t>
            </a:r>
            <a:r>
              <a:rPr lang="en-GB" sz="2000"/>
              <a:t>which</a:t>
            </a:r>
            <a:r>
              <a:rPr lang="en-GB" sz="2000"/>
              <a:t> is two-fifths of the cost.  How much does the camera cost?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 packet of crisps contains two-fifths extra free; it weighs 42 grams.  How heavy is the normal packet?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Alex buys a sweatshirt in a sale saving you two-fifths. It cost him £42.  How much was it before the sale?</a:t>
            </a:r>
            <a:endParaRPr sz="2000"/>
          </a:p>
        </p:txBody>
      </p:sp>
      <p:sp>
        <p:nvSpPr>
          <p:cNvPr id="1076" name="Google Shape;107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graphicFrame>
        <p:nvGraphicFramePr>
          <p:cNvPr id="1077" name="Google Shape;1077;p80"/>
          <p:cNvGraphicFramePr/>
          <p:nvPr/>
        </p:nvGraphicFramePr>
        <p:xfrm>
          <a:off x="4536500" y="3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8" name="Google Shape;1078;p80"/>
          <p:cNvGraphicFramePr/>
          <p:nvPr/>
        </p:nvGraphicFramePr>
        <p:xfrm>
          <a:off x="7138550" y="3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9" name="Google Shape;1079;p80"/>
          <p:cNvGraphicFramePr/>
          <p:nvPr/>
        </p:nvGraphicFramePr>
        <p:xfrm>
          <a:off x="434700" y="3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0" name="Google Shape;1080;p80"/>
          <p:cNvSpPr/>
          <p:nvPr/>
        </p:nvSpPr>
        <p:spPr>
          <a:xfrm flipH="1" rot="-5400000">
            <a:off x="1388100" y="2612625"/>
            <a:ext cx="199800" cy="21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0"/>
          <p:cNvSpPr/>
          <p:nvPr/>
        </p:nvSpPr>
        <p:spPr>
          <a:xfrm flipH="1" rot="-5400000">
            <a:off x="4735275" y="3410661"/>
            <a:ext cx="199800" cy="588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0"/>
          <p:cNvSpPr/>
          <p:nvPr/>
        </p:nvSpPr>
        <p:spPr>
          <a:xfrm flipH="1" rot="-5400000">
            <a:off x="7482400" y="3212625"/>
            <a:ext cx="199800" cy="9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83" name="Google Shape;1083;p80" title="four fifths one fifth"/>
          <p:cNvSpPr txBox="1"/>
          <p:nvPr>
            <p:ph idx="4294967295" type="body"/>
          </p:nvPr>
        </p:nvSpPr>
        <p:spPr>
          <a:xfrm>
            <a:off x="1334400" y="3252000"/>
            <a:ext cx="30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42   </a:t>
            </a:r>
            <a:endParaRPr sz="2000"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84" name="Google Shape;1084;p80" title="four fifths one fifth"/>
          <p:cNvSpPr txBox="1"/>
          <p:nvPr>
            <p:ph idx="4294967295" type="body"/>
          </p:nvPr>
        </p:nvSpPr>
        <p:spPr>
          <a:xfrm>
            <a:off x="4665650" y="3252000"/>
            <a:ext cx="33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42   </a:t>
            </a:r>
            <a:endParaRPr sz="2000"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85" name="Google Shape;1085;p80" title="four fifths one fifth"/>
          <p:cNvSpPr txBox="1"/>
          <p:nvPr>
            <p:ph idx="4294967295" type="body"/>
          </p:nvPr>
        </p:nvSpPr>
        <p:spPr>
          <a:xfrm>
            <a:off x="7412800" y="3252000"/>
            <a:ext cx="33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42   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1"/>
          <p:cNvSpPr txBox="1"/>
          <p:nvPr>
            <p:ph idx="1" type="body"/>
          </p:nvPr>
        </p:nvSpPr>
        <p:spPr>
          <a:xfrm>
            <a:off x="324000" y="759300"/>
            <a:ext cx="8237700" cy="22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Match each problem to the correct bar model and solve.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Izzy is saving for a new camera. She has saved £42 which is two-fifths of the cost.  How much does the camera cost?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 packet of crisps contains two-fifths extra free; it weighs 42 grams.  How heavy is the normal packet?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Alex buys a sweatshirt in a sale saving you two-fifths. It cost him £42.  How much was it before the sale?</a:t>
            </a:r>
            <a:endParaRPr sz="2000"/>
          </a:p>
        </p:txBody>
      </p:sp>
      <p:sp>
        <p:nvSpPr>
          <p:cNvPr id="1091" name="Google Shape;1091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graphicFrame>
        <p:nvGraphicFramePr>
          <p:cNvPr id="1092" name="Google Shape;1092;p81"/>
          <p:cNvGraphicFramePr/>
          <p:nvPr/>
        </p:nvGraphicFramePr>
        <p:xfrm>
          <a:off x="4536500" y="3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93" name="Google Shape;1093;p81"/>
          <p:cNvGraphicFramePr/>
          <p:nvPr/>
        </p:nvGraphicFramePr>
        <p:xfrm>
          <a:off x="7138550" y="3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94" name="Google Shape;1094;p81"/>
          <p:cNvGraphicFramePr/>
          <p:nvPr/>
        </p:nvGraphicFramePr>
        <p:xfrm>
          <a:off x="434700" y="3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5" name="Google Shape;1095;p81"/>
          <p:cNvSpPr/>
          <p:nvPr/>
        </p:nvSpPr>
        <p:spPr>
          <a:xfrm flipH="1" rot="-5400000">
            <a:off x="1388100" y="2612625"/>
            <a:ext cx="199800" cy="21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1"/>
          <p:cNvSpPr/>
          <p:nvPr/>
        </p:nvSpPr>
        <p:spPr>
          <a:xfrm flipH="1" rot="-5400000">
            <a:off x="4735275" y="3410661"/>
            <a:ext cx="199800" cy="588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1"/>
          <p:cNvSpPr/>
          <p:nvPr/>
        </p:nvSpPr>
        <p:spPr>
          <a:xfrm flipH="1" rot="-5400000">
            <a:off x="7482400" y="3212625"/>
            <a:ext cx="199800" cy="9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98" name="Google Shape;1098;p81" title="four fifths one fifth"/>
          <p:cNvSpPr txBox="1"/>
          <p:nvPr>
            <p:ph idx="4294967295" type="body"/>
          </p:nvPr>
        </p:nvSpPr>
        <p:spPr>
          <a:xfrm>
            <a:off x="1334400" y="3252000"/>
            <a:ext cx="30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42   </a:t>
            </a:r>
            <a:endParaRPr sz="2000"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099" name="Google Shape;1099;p81" title="four fifths one fifth"/>
          <p:cNvSpPr txBox="1"/>
          <p:nvPr>
            <p:ph idx="4294967295" type="body"/>
          </p:nvPr>
        </p:nvSpPr>
        <p:spPr>
          <a:xfrm>
            <a:off x="4665650" y="3252000"/>
            <a:ext cx="33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42   </a:t>
            </a:r>
            <a:endParaRPr sz="2000"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0" name="Google Shape;1100;p81" title="four fifths one fifth"/>
          <p:cNvSpPr txBox="1"/>
          <p:nvPr>
            <p:ph idx="4294967295" type="body"/>
          </p:nvPr>
        </p:nvSpPr>
        <p:spPr>
          <a:xfrm>
            <a:off x="7412800" y="3252000"/>
            <a:ext cx="33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42   </a:t>
            </a:r>
            <a:endParaRPr sz="2000"/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1" name="Google Shape;1101;p81" title="four fifths one fifth"/>
          <p:cNvSpPr txBox="1"/>
          <p:nvPr>
            <p:ph idx="4294967295" type="body"/>
          </p:nvPr>
        </p:nvSpPr>
        <p:spPr>
          <a:xfrm>
            <a:off x="4129000" y="3201050"/>
            <a:ext cx="2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2" name="Google Shape;1102;p81" title="four fifths one fifth"/>
          <p:cNvSpPr txBox="1"/>
          <p:nvPr>
            <p:ph idx="4294967295" type="body"/>
          </p:nvPr>
        </p:nvSpPr>
        <p:spPr>
          <a:xfrm>
            <a:off x="434700" y="3161475"/>
            <a:ext cx="2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b)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3" name="Google Shape;1103;p81" title="four fifths one fifth"/>
          <p:cNvSpPr txBox="1"/>
          <p:nvPr>
            <p:ph idx="4294967295" type="body"/>
          </p:nvPr>
        </p:nvSpPr>
        <p:spPr>
          <a:xfrm>
            <a:off x="6783800" y="3240000"/>
            <a:ext cx="2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c)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4" name="Google Shape;1104;p81" title="four fifths one fifth"/>
          <p:cNvSpPr txBox="1"/>
          <p:nvPr>
            <p:ph idx="4294967295" type="body"/>
          </p:nvPr>
        </p:nvSpPr>
        <p:spPr>
          <a:xfrm>
            <a:off x="484650" y="3849675"/>
            <a:ext cx="165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5" name="Google Shape;1105;p81" title="four fifths one fifth"/>
          <p:cNvSpPr txBox="1"/>
          <p:nvPr>
            <p:ph idx="4294967295" type="body"/>
          </p:nvPr>
        </p:nvSpPr>
        <p:spPr>
          <a:xfrm>
            <a:off x="1390500" y="4380550"/>
            <a:ext cx="588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 g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6" name="Google Shape;1106;p81" title="four fifths one fifth"/>
          <p:cNvSpPr txBox="1"/>
          <p:nvPr>
            <p:ph idx="4294967295" type="body"/>
          </p:nvPr>
        </p:nvSpPr>
        <p:spPr>
          <a:xfrm>
            <a:off x="4573973" y="3857059"/>
            <a:ext cx="33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7" name="Google Shape;1107;p81" title="four fifths one fifth"/>
          <p:cNvSpPr txBox="1"/>
          <p:nvPr>
            <p:ph idx="4294967295" type="body"/>
          </p:nvPr>
        </p:nvSpPr>
        <p:spPr>
          <a:xfrm>
            <a:off x="4992075" y="4380550"/>
            <a:ext cx="588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£105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8" name="Google Shape;1108;p81" title="four fifths one fifth"/>
          <p:cNvSpPr txBox="1"/>
          <p:nvPr>
            <p:ph idx="4294967295" type="body"/>
          </p:nvPr>
        </p:nvSpPr>
        <p:spPr>
          <a:xfrm>
            <a:off x="7647975" y="4380550"/>
            <a:ext cx="480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£70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109" name="Google Shape;1109;p81" title="four fifths one fifth"/>
          <p:cNvSpPr txBox="1"/>
          <p:nvPr>
            <p:ph idx="4294967295" type="body"/>
          </p:nvPr>
        </p:nvSpPr>
        <p:spPr>
          <a:xfrm>
            <a:off x="7172700" y="3857050"/>
            <a:ext cx="2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1115" name="Google Shape;1115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 </a:t>
            </a:r>
            <a:endParaRPr/>
          </a:p>
        </p:txBody>
      </p:sp>
      <p:sp>
        <p:nvSpPr>
          <p:cNvPr id="1116" name="Google Shape;1116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1117" name="Google Shape;1117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pic>
        <p:nvPicPr>
          <p:cNvPr id="1118" name="Google Shape;111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0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124" name="Google Shape;1124;p83" title="four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25" y="981975"/>
            <a:ext cx="162000" cy="5245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3"/>
          <p:cNvSpPr txBox="1"/>
          <p:nvPr/>
        </p:nvSpPr>
        <p:spPr>
          <a:xfrm>
            <a:off x="364125" y="617925"/>
            <a:ext cx="2799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think of a number.  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of my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28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my number?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3"/>
          <p:cNvSpPr txBox="1"/>
          <p:nvPr/>
        </p:nvSpPr>
        <p:spPr>
          <a:xfrm>
            <a:off x="2948425" y="3775775"/>
            <a:ext cx="3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7" name="Google Shape;1127;p83"/>
          <p:cNvGrpSpPr/>
          <p:nvPr/>
        </p:nvGrpSpPr>
        <p:grpSpPr>
          <a:xfrm>
            <a:off x="2164175" y="2531838"/>
            <a:ext cx="4571649" cy="1357500"/>
            <a:chOff x="2164175" y="2531838"/>
            <a:chExt cx="4571649" cy="1357500"/>
          </a:xfrm>
        </p:grpSpPr>
        <p:grpSp>
          <p:nvGrpSpPr>
            <p:cNvPr id="1128" name="Google Shape;1128;p83"/>
            <p:cNvGrpSpPr/>
            <p:nvPr/>
          </p:nvGrpSpPr>
          <p:grpSpPr>
            <a:xfrm>
              <a:off x="44927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1129" name="Google Shape;1129;p8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0" name="Google Shape;1130;p8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1" name="Google Shape;1131;p83"/>
            <p:cNvGrpSpPr/>
            <p:nvPr/>
          </p:nvGrpSpPr>
          <p:grpSpPr>
            <a:xfrm>
              <a:off x="31211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1132" name="Google Shape;1132;p8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3" name="Google Shape;1133;p8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4" name="Google Shape;1134;p83"/>
            <p:cNvGrpSpPr/>
            <p:nvPr/>
          </p:nvGrpSpPr>
          <p:grpSpPr>
            <a:xfrm>
              <a:off x="2164175" y="2531838"/>
              <a:ext cx="4571649" cy="1357500"/>
              <a:chOff x="2164175" y="2531838"/>
              <a:chExt cx="4571649" cy="1357500"/>
            </a:xfrm>
          </p:grpSpPr>
          <p:grpSp>
            <p:nvGrpSpPr>
              <p:cNvPr id="1135" name="Google Shape;1135;p83"/>
              <p:cNvGrpSpPr/>
              <p:nvPr/>
            </p:nvGrpSpPr>
            <p:grpSpPr>
              <a:xfrm>
                <a:off x="2164175" y="2531838"/>
                <a:ext cx="3074500" cy="1357500"/>
                <a:chOff x="441900" y="3572013"/>
                <a:chExt cx="3074500" cy="1357500"/>
              </a:xfrm>
            </p:grpSpPr>
            <p:cxnSp>
              <p:nvCxnSpPr>
                <p:cNvPr id="1136" name="Google Shape;1136;p83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7" name="Google Shape;1137;p83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138" name="Google Shape;1138;p83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139" name="Google Shape;1139;p83"/>
              <p:cNvSpPr txBox="1"/>
              <p:nvPr/>
            </p:nvSpPr>
            <p:spPr>
              <a:xfrm>
                <a:off x="5291443" y="2740946"/>
                <a:ext cx="13581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Fraction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0" name="Google Shape;1140;p83"/>
              <p:cNvSpPr txBox="1"/>
              <p:nvPr/>
            </p:nvSpPr>
            <p:spPr>
              <a:xfrm>
                <a:off x="5318324" y="3348271"/>
                <a:ext cx="14175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Number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141" name="Google Shape;1141;p83"/>
          <p:cNvSpPr txBox="1"/>
          <p:nvPr/>
        </p:nvSpPr>
        <p:spPr>
          <a:xfrm>
            <a:off x="4443447" y="2315450"/>
            <a:ext cx="1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3"/>
          <p:cNvSpPr txBox="1"/>
          <p:nvPr/>
        </p:nvSpPr>
        <p:spPr>
          <a:xfrm>
            <a:off x="4446774" y="3800000"/>
            <a:ext cx="16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143" name="Google Shape;1143;p83" title="four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250" y="2203400"/>
            <a:ext cx="139200" cy="450738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83"/>
          <p:cNvSpPr/>
          <p:nvPr/>
        </p:nvSpPr>
        <p:spPr>
          <a:xfrm>
            <a:off x="3178500" y="1920700"/>
            <a:ext cx="1358100" cy="45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5" name="Google Shape;1145;p83"/>
          <p:cNvGrpSpPr/>
          <p:nvPr/>
        </p:nvGrpSpPr>
        <p:grpSpPr>
          <a:xfrm>
            <a:off x="5088750" y="673100"/>
            <a:ext cx="3731400" cy="832440"/>
            <a:chOff x="5088750" y="673100"/>
            <a:chExt cx="3731400" cy="832440"/>
          </a:xfrm>
        </p:grpSpPr>
        <p:sp>
          <p:nvSpPr>
            <p:cNvPr id="1146" name="Google Shape;1146;p83"/>
            <p:cNvSpPr txBox="1"/>
            <p:nvPr/>
          </p:nvSpPr>
          <p:spPr>
            <a:xfrm>
              <a:off x="5088750" y="673100"/>
              <a:ext cx="3731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What is the </a:t>
              </a: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multiplicative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relationship between     and 1?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147" name="Google Shape;1147;p83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42925" y="980960"/>
              <a:ext cx="162000" cy="5245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8" name="Google Shape;1148;p83"/>
          <p:cNvGrpSpPr/>
          <p:nvPr/>
        </p:nvGrpSpPr>
        <p:grpSpPr>
          <a:xfrm>
            <a:off x="5102500" y="1624350"/>
            <a:ext cx="3273300" cy="789667"/>
            <a:chOff x="5331100" y="2005350"/>
            <a:chExt cx="3273300" cy="789667"/>
          </a:xfrm>
        </p:grpSpPr>
        <p:sp>
          <p:nvSpPr>
            <p:cNvPr id="1149" name="Google Shape;1149;p83"/>
            <p:cNvSpPr txBox="1"/>
            <p:nvPr/>
          </p:nvSpPr>
          <p:spPr>
            <a:xfrm>
              <a:off x="5331100" y="2005350"/>
              <a:ext cx="3273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We know that this is the </a:t>
              </a: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reciprocal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of     which is    .   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150" name="Google Shape;1150;p83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02008" y="2287538"/>
              <a:ext cx="154466" cy="507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9}{4}&quot;&gt;&lt;mfrac&gt;&lt;mn&gt;9&lt;/mn&gt;&lt;mn&gt;4&lt;/mn&gt;&lt;/mfrac&gt;&lt;/math&gt;" id="1151" name="Google Shape;1151;p83" title="nin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84524" y="2291624"/>
              <a:ext cx="154466" cy="4993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2" name="Google Shape;1152;p83"/>
          <p:cNvGrpSpPr/>
          <p:nvPr/>
        </p:nvGrpSpPr>
        <p:grpSpPr>
          <a:xfrm>
            <a:off x="3586950" y="1439368"/>
            <a:ext cx="345000" cy="443506"/>
            <a:chOff x="-345000" y="2571750"/>
            <a:chExt cx="345000" cy="443506"/>
          </a:xfrm>
        </p:grpSpPr>
        <p:sp>
          <p:nvSpPr>
            <p:cNvPr id="1153" name="Google Shape;1153;p83"/>
            <p:cNvSpPr txBox="1"/>
            <p:nvPr/>
          </p:nvSpPr>
          <p:spPr>
            <a:xfrm>
              <a:off x="-345000" y="2571750"/>
              <a:ext cx="34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9}{4}&quot;&gt;&lt;mfrac&gt;&lt;mn&gt;9&lt;/mn&gt;&lt;mn&gt;4&lt;/mn&gt;&lt;/mfrac&gt;&lt;/math&gt;" id="1154" name="Google Shape;1154;p83" title="nin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39203" y="2571750"/>
              <a:ext cx="139200" cy="4435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5" name="Google Shape;1155;p83"/>
          <p:cNvSpPr/>
          <p:nvPr/>
        </p:nvSpPr>
        <p:spPr>
          <a:xfrm flipH="1" rot="10800000">
            <a:off x="3178500" y="4025100"/>
            <a:ext cx="13581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6" name="Google Shape;1156;p83"/>
          <p:cNvGrpSpPr/>
          <p:nvPr/>
        </p:nvGrpSpPr>
        <p:grpSpPr>
          <a:xfrm>
            <a:off x="3532800" y="4363200"/>
            <a:ext cx="345000" cy="443506"/>
            <a:chOff x="-345000" y="2571750"/>
            <a:chExt cx="345000" cy="443506"/>
          </a:xfrm>
        </p:grpSpPr>
        <p:sp>
          <p:nvSpPr>
            <p:cNvPr id="1157" name="Google Shape;1157;p83"/>
            <p:cNvSpPr txBox="1"/>
            <p:nvPr/>
          </p:nvSpPr>
          <p:spPr>
            <a:xfrm>
              <a:off x="-345000" y="2571750"/>
              <a:ext cx="34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9}{4}&quot;&gt;&lt;mfrac&gt;&lt;mn&gt;9&lt;/mn&gt;&lt;mn&gt;4&lt;/mn&gt;&lt;/mfrac&gt;&lt;/math&gt;" id="1158" name="Google Shape;1158;p83" title="nin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39203" y="2571750"/>
              <a:ext cx="139200" cy="4435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9" name="Google Shape;1159;p83"/>
          <p:cNvSpPr txBox="1"/>
          <p:nvPr/>
        </p:nvSpPr>
        <p:spPr>
          <a:xfrm>
            <a:off x="4398150" y="3800000"/>
            <a:ext cx="3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3"/>
          <p:cNvSpPr txBox="1"/>
          <p:nvPr/>
        </p:nvSpPr>
        <p:spPr>
          <a:xfrm>
            <a:off x="5774400" y="4150650"/>
            <a:ext cx="27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was thinking of 63.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166" name="Google Shape;1166;p84"/>
          <p:cNvSpPr txBox="1"/>
          <p:nvPr>
            <p:ph idx="1" type="body"/>
          </p:nvPr>
        </p:nvSpPr>
        <p:spPr>
          <a:xfrm>
            <a:off x="324000" y="606900"/>
            <a:ext cx="82377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also use double number lines to find the original amount.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We will go back and use one of our examples from earlier.</a:t>
            </a:r>
            <a:endParaRPr sz="1800"/>
          </a:p>
        </p:txBody>
      </p:sp>
      <p:sp>
        <p:nvSpPr>
          <p:cNvPr id="1167" name="Google Shape;1167;p84"/>
          <p:cNvSpPr txBox="1"/>
          <p:nvPr>
            <p:ph idx="1" type="body"/>
          </p:nvPr>
        </p:nvSpPr>
        <p:spPr>
          <a:xfrm>
            <a:off x="324000" y="1368900"/>
            <a:ext cx="8237700" cy="12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vet tells Alex that his cat has lost    of its mass.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His cat now has a mass of 4.5 kg.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was the mass of Alex’s cat last year? </a:t>
            </a:r>
            <a:endParaRPr sz="1800"/>
          </a:p>
        </p:txBody>
      </p:sp>
      <p:pic>
        <p:nvPicPr>
          <p:cNvPr id="1168" name="Google Shape;116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998" y="717674"/>
            <a:ext cx="1021925" cy="124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169" name="Google Shape;1169;p84" title="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434" y="1311166"/>
            <a:ext cx="139075" cy="456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0" name="Google Shape;1170;p84"/>
          <p:cNvGrpSpPr/>
          <p:nvPr/>
        </p:nvGrpSpPr>
        <p:grpSpPr>
          <a:xfrm>
            <a:off x="3688175" y="2836588"/>
            <a:ext cx="4989000" cy="1041202"/>
            <a:chOff x="3688175" y="2912788"/>
            <a:chExt cx="4989000" cy="1041202"/>
          </a:xfrm>
        </p:grpSpPr>
        <p:grpSp>
          <p:nvGrpSpPr>
            <p:cNvPr id="1171" name="Google Shape;1171;p84"/>
            <p:cNvGrpSpPr/>
            <p:nvPr/>
          </p:nvGrpSpPr>
          <p:grpSpPr>
            <a:xfrm>
              <a:off x="3688175" y="2912788"/>
              <a:ext cx="3074500" cy="1041202"/>
              <a:chOff x="441900" y="3572013"/>
              <a:chExt cx="3074500" cy="1357500"/>
            </a:xfrm>
          </p:grpSpPr>
          <p:cxnSp>
            <p:nvCxnSpPr>
              <p:cNvPr id="1172" name="Google Shape;1172;p84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" name="Google Shape;1173;p84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174" name="Google Shape;1174;p84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175" name="Google Shape;1175;p84"/>
            <p:cNvGrpSpPr/>
            <p:nvPr/>
          </p:nvGrpSpPr>
          <p:grpSpPr>
            <a:xfrm>
              <a:off x="6016788" y="3062458"/>
              <a:ext cx="63300" cy="767153"/>
              <a:chOff x="941713" y="3767150"/>
              <a:chExt cx="63300" cy="1000200"/>
            </a:xfrm>
          </p:grpSpPr>
          <p:cxnSp>
            <p:nvCxnSpPr>
              <p:cNvPr id="1176" name="Google Shape;1176;p8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7" name="Google Shape;1177;p8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8" name="Google Shape;1178;p84"/>
            <p:cNvGrpSpPr/>
            <p:nvPr/>
          </p:nvGrpSpPr>
          <p:grpSpPr>
            <a:xfrm>
              <a:off x="5330988" y="3062458"/>
              <a:ext cx="63300" cy="767153"/>
              <a:chOff x="941713" y="3767150"/>
              <a:chExt cx="63300" cy="1000200"/>
            </a:xfrm>
          </p:grpSpPr>
          <p:cxnSp>
            <p:nvCxnSpPr>
              <p:cNvPr id="1179" name="Google Shape;1179;p8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0" name="Google Shape;1180;p8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1" name="Google Shape;1181;p84"/>
            <p:cNvSpPr txBox="1"/>
            <p:nvPr/>
          </p:nvSpPr>
          <p:spPr>
            <a:xfrm>
              <a:off x="6807575" y="3029123"/>
              <a:ext cx="1141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84"/>
            <p:cNvSpPr txBox="1"/>
            <p:nvPr/>
          </p:nvSpPr>
          <p:spPr>
            <a:xfrm>
              <a:off x="6830675" y="3527150"/>
              <a:ext cx="1846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Mass (kg)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1183" name="Google Shape;1183;p84" title="fiv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3555" y="2499316"/>
            <a:ext cx="139200" cy="44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84"/>
          <p:cNvSpPr txBox="1"/>
          <p:nvPr/>
        </p:nvSpPr>
        <p:spPr>
          <a:xfrm>
            <a:off x="5978850" y="2624325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4"/>
          <p:cNvSpPr txBox="1"/>
          <p:nvPr/>
        </p:nvSpPr>
        <p:spPr>
          <a:xfrm>
            <a:off x="5189400" y="3727175"/>
            <a:ext cx="56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4"/>
          <p:cNvSpPr txBox="1"/>
          <p:nvPr/>
        </p:nvSpPr>
        <p:spPr>
          <a:xfrm>
            <a:off x="6001121" y="3710714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4"/>
          <p:cNvSpPr/>
          <p:nvPr/>
        </p:nvSpPr>
        <p:spPr>
          <a:xfrm>
            <a:off x="5331000" y="2256253"/>
            <a:ext cx="728400" cy="45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8" name="Google Shape;1188;p84"/>
          <p:cNvGrpSpPr/>
          <p:nvPr/>
        </p:nvGrpSpPr>
        <p:grpSpPr>
          <a:xfrm>
            <a:off x="5452050" y="1746538"/>
            <a:ext cx="345000" cy="447428"/>
            <a:chOff x="5452050" y="1746538"/>
            <a:chExt cx="345000" cy="447428"/>
          </a:xfrm>
        </p:grpSpPr>
        <p:sp>
          <p:nvSpPr>
            <p:cNvPr id="1189" name="Google Shape;1189;p84"/>
            <p:cNvSpPr txBox="1"/>
            <p:nvPr/>
          </p:nvSpPr>
          <p:spPr>
            <a:xfrm>
              <a:off x="5452050" y="1748500"/>
              <a:ext cx="34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7}{5}&quot;&gt;&lt;mfrac&gt;&lt;mn&gt;7&lt;/mn&gt;&lt;mn&gt;5&lt;/mn&gt;&lt;/mfrac&gt;&lt;/math&gt;" id="1190" name="Google Shape;1190;p84" title="seven fif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646192" y="1746538"/>
              <a:ext cx="139200" cy="4474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1" name="Google Shape;1191;p84"/>
          <p:cNvGrpSpPr/>
          <p:nvPr/>
        </p:nvGrpSpPr>
        <p:grpSpPr>
          <a:xfrm>
            <a:off x="5351598" y="3971250"/>
            <a:ext cx="728400" cy="785516"/>
            <a:chOff x="5351598" y="3971250"/>
            <a:chExt cx="728400" cy="785516"/>
          </a:xfrm>
        </p:grpSpPr>
        <p:sp>
          <p:nvSpPr>
            <p:cNvPr id="1192" name="Google Shape;1192;p84"/>
            <p:cNvSpPr/>
            <p:nvPr/>
          </p:nvSpPr>
          <p:spPr>
            <a:xfrm flipH="1" rot="10800000">
              <a:off x="5351598" y="3971250"/>
              <a:ext cx="7284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84"/>
            <p:cNvSpPr txBox="1"/>
            <p:nvPr/>
          </p:nvSpPr>
          <p:spPr>
            <a:xfrm>
              <a:off x="5543300" y="4383000"/>
              <a:ext cx="34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7}{5}&quot;&gt;&lt;mfrac&gt;&lt;mn&gt;7&lt;/mn&gt;&lt;mn&gt;5&lt;/mn&gt;&lt;/mfrac&gt;&lt;/math&gt;" id="1194" name="Google Shape;1194;p84" title="seven fif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50992" y="4309338"/>
              <a:ext cx="139200" cy="4474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5" name="Google Shape;1195;p84"/>
          <p:cNvSpPr txBox="1"/>
          <p:nvPr/>
        </p:nvSpPr>
        <p:spPr>
          <a:xfrm>
            <a:off x="5866125" y="3710725"/>
            <a:ext cx="56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4"/>
          <p:cNvSpPr txBox="1"/>
          <p:nvPr/>
        </p:nvSpPr>
        <p:spPr>
          <a:xfrm>
            <a:off x="324000" y="2836600"/>
            <a:ext cx="309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fraction of the cat’s original mass is it now?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7" name="Google Shape;1197;p84"/>
          <p:cNvGraphicFramePr/>
          <p:nvPr/>
        </p:nvGraphicFramePr>
        <p:xfrm>
          <a:off x="403388" y="355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{11D5B546-A322-49C7-8DA9-8A13F6497E83}</a:tableStyleId>
              </a:tblPr>
              <a:tblGrid>
                <a:gridCol w="418875"/>
                <a:gridCol w="418875"/>
                <a:gridCol w="418875"/>
                <a:gridCol w="418875"/>
                <a:gridCol w="418875"/>
                <a:gridCol w="418875"/>
                <a:gridCol w="418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8" name="Google Shape;1198;p84"/>
          <p:cNvSpPr txBox="1"/>
          <p:nvPr/>
        </p:nvSpPr>
        <p:spPr>
          <a:xfrm>
            <a:off x="542675" y="3580150"/>
            <a:ext cx="561600" cy="3387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9" name="Google Shape;1199;p84"/>
          <p:cNvGrpSpPr/>
          <p:nvPr/>
        </p:nvGrpSpPr>
        <p:grpSpPr>
          <a:xfrm>
            <a:off x="357225" y="4176191"/>
            <a:ext cx="3962700" cy="444131"/>
            <a:chOff x="357225" y="4176191"/>
            <a:chExt cx="3962700" cy="444131"/>
          </a:xfrm>
        </p:grpSpPr>
        <p:sp>
          <p:nvSpPr>
            <p:cNvPr id="1200" name="Google Shape;1200;p84"/>
            <p:cNvSpPr txBox="1"/>
            <p:nvPr/>
          </p:nvSpPr>
          <p:spPr>
            <a:xfrm>
              <a:off x="357225" y="4256025"/>
              <a:ext cx="396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It is now   of the original mass.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5}{7}&quot;&gt;&lt;mfrac&gt;&lt;mn&gt;5&lt;/mn&gt;&lt;mn&gt;7&lt;/mn&gt;&lt;/mfrac&gt;&lt;/math&gt;" id="1201" name="Google Shape;1201;p84" title="five seve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02587" y="4176191"/>
              <a:ext cx="139200" cy="4441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207" name="Google Shape;1207;p85"/>
          <p:cNvSpPr txBox="1"/>
          <p:nvPr>
            <p:ph idx="1" type="body"/>
          </p:nvPr>
        </p:nvSpPr>
        <p:spPr>
          <a:xfrm>
            <a:off x="324000" y="606900"/>
            <a:ext cx="8496000" cy="17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Alex has been challenging </a:t>
            </a:r>
            <a:r>
              <a:rPr lang="en-GB" sz="1800"/>
              <a:t>himself</a:t>
            </a:r>
            <a:r>
              <a:rPr lang="en-GB" sz="1800"/>
              <a:t> each week to complete as many times tables questions as he can in 2 minutes.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Over the last year he has improved his score by three-quarters.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His score is now 140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was his score at the beginning of the year? </a:t>
            </a:r>
            <a:endParaRPr sz="1800"/>
          </a:p>
        </p:txBody>
      </p:sp>
      <p:sp>
        <p:nvSpPr>
          <p:cNvPr id="1208" name="Google Shape;1208;p85"/>
          <p:cNvSpPr txBox="1"/>
          <p:nvPr/>
        </p:nvSpPr>
        <p:spPr>
          <a:xfrm>
            <a:off x="2338821" y="3868598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9" name="Google Shape;1209;p85"/>
          <p:cNvGrpSpPr/>
          <p:nvPr/>
        </p:nvGrpSpPr>
        <p:grpSpPr>
          <a:xfrm>
            <a:off x="1021175" y="3294139"/>
            <a:ext cx="4255600" cy="695040"/>
            <a:chOff x="1021175" y="3294139"/>
            <a:chExt cx="4255600" cy="695040"/>
          </a:xfrm>
        </p:grpSpPr>
        <p:sp>
          <p:nvSpPr>
            <p:cNvPr id="1210" name="Google Shape;1210;p85"/>
            <p:cNvSpPr txBox="1"/>
            <p:nvPr/>
          </p:nvSpPr>
          <p:spPr>
            <a:xfrm>
              <a:off x="4095675" y="3327248"/>
              <a:ext cx="1181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Fraction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1" name="Google Shape;1211;p85"/>
            <p:cNvGrpSpPr/>
            <p:nvPr/>
          </p:nvGrpSpPr>
          <p:grpSpPr>
            <a:xfrm>
              <a:off x="1021175" y="3294139"/>
              <a:ext cx="3953994" cy="695040"/>
              <a:chOff x="1021175" y="3294139"/>
              <a:chExt cx="3953994" cy="695040"/>
            </a:xfrm>
          </p:grpSpPr>
          <p:grpSp>
            <p:nvGrpSpPr>
              <p:cNvPr id="1212" name="Google Shape;1212;p85"/>
              <p:cNvGrpSpPr/>
              <p:nvPr/>
            </p:nvGrpSpPr>
            <p:grpSpPr>
              <a:xfrm>
                <a:off x="1021175" y="3294139"/>
                <a:ext cx="3074500" cy="695040"/>
                <a:chOff x="441900" y="3572013"/>
                <a:chExt cx="3074500" cy="1357500"/>
              </a:xfrm>
            </p:grpSpPr>
            <p:cxnSp>
              <p:nvCxnSpPr>
                <p:cNvPr id="1213" name="Google Shape;1213;p85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14" name="Google Shape;1214;p85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215" name="Google Shape;1215;p85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grpSp>
            <p:nvGrpSpPr>
              <p:cNvPr id="1216" name="Google Shape;1216;p85"/>
              <p:cNvGrpSpPr/>
              <p:nvPr/>
            </p:nvGrpSpPr>
            <p:grpSpPr>
              <a:xfrm>
                <a:off x="3349800" y="3394050"/>
                <a:ext cx="63300" cy="512102"/>
                <a:chOff x="941725" y="3767150"/>
                <a:chExt cx="63300" cy="1000200"/>
              </a:xfrm>
            </p:grpSpPr>
            <p:cxnSp>
              <p:nvCxnSpPr>
                <p:cNvPr id="1217" name="Google Shape;1217;p8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18" name="Google Shape;1218;p85"/>
                <p:cNvSpPr/>
                <p:nvPr/>
              </p:nvSpPr>
              <p:spPr>
                <a:xfrm>
                  <a:off x="941725" y="4000207"/>
                  <a:ext cx="63300" cy="5292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19" name="Google Shape;1219;p85"/>
              <p:cNvGrpSpPr/>
              <p:nvPr/>
            </p:nvGrpSpPr>
            <p:grpSpPr>
              <a:xfrm>
                <a:off x="2359200" y="3394050"/>
                <a:ext cx="63300" cy="512102"/>
                <a:chOff x="941725" y="3767150"/>
                <a:chExt cx="63300" cy="1000200"/>
              </a:xfrm>
            </p:grpSpPr>
            <p:cxnSp>
              <p:nvCxnSpPr>
                <p:cNvPr id="1220" name="Google Shape;1220;p85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21" name="Google Shape;1221;p85"/>
                <p:cNvSpPr/>
                <p:nvPr/>
              </p:nvSpPr>
              <p:spPr>
                <a:xfrm>
                  <a:off x="941725" y="4000207"/>
                  <a:ext cx="63300" cy="5292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22" name="Google Shape;1222;p85"/>
              <p:cNvSpPr txBox="1"/>
              <p:nvPr/>
            </p:nvSpPr>
            <p:spPr>
              <a:xfrm>
                <a:off x="4140569" y="3647132"/>
                <a:ext cx="834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Score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223" name="Google Shape;1223;p85"/>
          <p:cNvSpPr txBox="1"/>
          <p:nvPr/>
        </p:nvSpPr>
        <p:spPr>
          <a:xfrm>
            <a:off x="2321250" y="303900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5"/>
          <p:cNvSpPr txBox="1"/>
          <p:nvPr/>
        </p:nvSpPr>
        <p:spPr>
          <a:xfrm>
            <a:off x="3157875" y="3892823"/>
            <a:ext cx="54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3}{4}&quot;&gt;&lt;mn&gt;1&lt;/mn&gt;&lt;mtext&gt;&lt;/mtext&gt;&lt;mfrac&gt;&lt;mn&gt;3&lt;/mn&gt;&lt;mn&gt;4&lt;/mn&gt;&lt;/mfrac&gt;&lt;/math&gt;" id="1225" name="Google Shape;1225;p85" title="1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987" y="2977363"/>
            <a:ext cx="268932" cy="400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6" name="Google Shape;1226;p85"/>
          <p:cNvGrpSpPr/>
          <p:nvPr/>
        </p:nvGrpSpPr>
        <p:grpSpPr>
          <a:xfrm>
            <a:off x="2481709" y="4060662"/>
            <a:ext cx="873684" cy="734270"/>
            <a:chOff x="2422182" y="4047450"/>
            <a:chExt cx="902100" cy="758152"/>
          </a:xfrm>
        </p:grpSpPr>
        <p:sp>
          <p:nvSpPr>
            <p:cNvPr id="1227" name="Google Shape;1227;p85"/>
            <p:cNvSpPr/>
            <p:nvPr/>
          </p:nvSpPr>
          <p:spPr>
            <a:xfrm rot="10800000">
              <a:off x="2422182" y="4047450"/>
              <a:ext cx="902100" cy="261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28" name="Google Shape;1228;p85"/>
            <p:cNvGrpSpPr/>
            <p:nvPr/>
          </p:nvGrpSpPr>
          <p:grpSpPr>
            <a:xfrm>
              <a:off x="2767002" y="4354702"/>
              <a:ext cx="345000" cy="450900"/>
              <a:chOff x="2767002" y="4387800"/>
              <a:chExt cx="345000" cy="450900"/>
            </a:xfrm>
          </p:grpSpPr>
          <p:sp>
            <p:nvSpPr>
              <p:cNvPr id="1229" name="Google Shape;1229;p85"/>
              <p:cNvSpPr txBox="1"/>
              <p:nvPr/>
            </p:nvSpPr>
            <p:spPr>
              <a:xfrm>
                <a:off x="2767002" y="4445961"/>
                <a:ext cx="345000" cy="34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7}{4}\ \frac{4}{7}&quot;&gt;&lt;mfrac&gt;&lt;mn&gt;7&lt;/mn&gt;&lt;mn&gt;4&lt;/mn&gt;&lt;/mfrac&gt;&lt;mtext&gt;&lt;/mtext&gt;&lt;mfrac&gt;&lt;mn&gt;4&lt;/mn&gt;&lt;mn&gt;7&lt;/mn&gt;&lt;/mfrac&gt;&lt;/math&gt;" id="1230" name="Google Shape;1230;p85" title="seven fourths four sevenths"/>
              <p:cNvPicPr preferRelativeResize="0"/>
              <p:nvPr/>
            </p:nvPicPr>
            <p:blipFill rotWithShape="1">
              <a:blip r:embed="rId4">
                <a:alphaModFix/>
              </a:blip>
              <a:srcRect b="0" l="63322" r="0" t="0"/>
              <a:stretch/>
            </p:blipFill>
            <p:spPr>
              <a:xfrm>
                <a:off x="2948405" y="4387800"/>
                <a:ext cx="139200" cy="45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&lt;math xmlns=&quot;http://www.w3.org/1998/Math/MathML&quot; display=&quot;block&quot; data-is-equatio=&quot;1&quot; data-latex=&quot;\frac{7}{4}\ \frac{4}{7}&quot;&gt;&lt;mfrac&gt;&lt;mn&gt;7&lt;/mn&gt;&lt;mn&gt;4&lt;/mn&gt;&lt;/mfrac&gt;&lt;mtext&gt;&lt;/mtext&gt;&lt;mfrac&gt;&lt;mn&gt;4&lt;/mn&gt;&lt;mn&gt;7&lt;/mn&gt;&lt;/mfrac&gt;&lt;/math&gt;" id="1231" name="Google Shape;1231;p85" title="seven fourths four sevenths"/>
          <p:cNvPicPr preferRelativeResize="0"/>
          <p:nvPr/>
        </p:nvPicPr>
        <p:blipFill rotWithShape="1">
          <a:blip r:embed="rId4">
            <a:alphaModFix/>
          </a:blip>
          <a:srcRect b="0" l="0" r="52763" t="0"/>
          <a:stretch/>
        </p:blipFill>
        <p:spPr>
          <a:xfrm>
            <a:off x="3326300" y="2921037"/>
            <a:ext cx="179275" cy="45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2" name="Google Shape;1232;p85"/>
          <p:cNvGrpSpPr/>
          <p:nvPr/>
        </p:nvGrpSpPr>
        <p:grpSpPr>
          <a:xfrm>
            <a:off x="2718124" y="2303449"/>
            <a:ext cx="315946" cy="400444"/>
            <a:chOff x="2718125" y="2353200"/>
            <a:chExt cx="355755" cy="450900"/>
          </a:xfrm>
        </p:grpSpPr>
        <p:sp>
          <p:nvSpPr>
            <p:cNvPr id="1233" name="Google Shape;1233;p85"/>
            <p:cNvSpPr txBox="1"/>
            <p:nvPr/>
          </p:nvSpPr>
          <p:spPr>
            <a:xfrm>
              <a:off x="2718125" y="2353200"/>
              <a:ext cx="3450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7}{4}\ \frac{4}{7}&quot;&gt;&lt;mfrac&gt;&lt;mn&gt;7&lt;/mn&gt;&lt;mn&gt;4&lt;/mn&gt;&lt;/mfrac&gt;&lt;mtext&gt;&lt;/mtext&gt;&lt;mfrac&gt;&lt;mn&gt;4&lt;/mn&gt;&lt;mn&gt;7&lt;/mn&gt;&lt;/mfrac&gt;&lt;/math&gt;" id="1234" name="Google Shape;1234;p85" title="seven fourths four sevenths"/>
            <p:cNvPicPr preferRelativeResize="0"/>
            <p:nvPr/>
          </p:nvPicPr>
          <p:blipFill rotWithShape="1">
            <a:blip r:embed="rId4">
              <a:alphaModFix/>
            </a:blip>
            <a:srcRect b="0" l="63322" r="0" t="0"/>
            <a:stretch/>
          </p:blipFill>
          <p:spPr>
            <a:xfrm>
              <a:off x="2934680" y="2353200"/>
              <a:ext cx="139200" cy="450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5" name="Google Shape;1235;p85"/>
          <p:cNvSpPr txBox="1"/>
          <p:nvPr/>
        </p:nvSpPr>
        <p:spPr>
          <a:xfrm>
            <a:off x="2220781" y="3892825"/>
            <a:ext cx="37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5"/>
          <p:cNvSpPr/>
          <p:nvPr/>
        </p:nvSpPr>
        <p:spPr>
          <a:xfrm flipH="1">
            <a:off x="2447700" y="2750925"/>
            <a:ext cx="9021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242" name="Google Shape;1242;p86"/>
          <p:cNvSpPr txBox="1"/>
          <p:nvPr>
            <p:ph idx="1" type="body"/>
          </p:nvPr>
        </p:nvSpPr>
        <p:spPr>
          <a:xfrm>
            <a:off x="324000" y="636750"/>
            <a:ext cx="8237700" cy="12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Spot the mistake.</a:t>
            </a:r>
            <a:endParaRPr sz="1800"/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cost of a laptop increases by     </a:t>
            </a:r>
            <a:endParaRPr sz="1800"/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It now costs £460.</a:t>
            </a:r>
            <a:endParaRPr sz="1800"/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much did it cost before the increase?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}{20}&quot;&gt;&lt;mfrac&gt;&lt;mn&gt;3&lt;/mn&gt;&lt;mn&gt;20&lt;/mn&gt;&lt;/mfrac&gt;&lt;/math&gt;" id="1243" name="Google Shape;1243;p86" title="3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648" y="879639"/>
            <a:ext cx="216200" cy="40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86"/>
          <p:cNvGrpSpPr/>
          <p:nvPr/>
        </p:nvGrpSpPr>
        <p:grpSpPr>
          <a:xfrm>
            <a:off x="716375" y="2856357"/>
            <a:ext cx="3074500" cy="1114643"/>
            <a:chOff x="441900" y="3572013"/>
            <a:chExt cx="3074500" cy="1357500"/>
          </a:xfrm>
        </p:grpSpPr>
        <p:cxnSp>
          <p:nvCxnSpPr>
            <p:cNvPr id="1245" name="Google Shape;1245;p86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86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7" name="Google Shape;1247;p86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48" name="Google Shape;1248;p86"/>
          <p:cNvGrpSpPr/>
          <p:nvPr/>
        </p:nvGrpSpPr>
        <p:grpSpPr>
          <a:xfrm>
            <a:off x="3044988" y="3016585"/>
            <a:ext cx="63300" cy="821264"/>
            <a:chOff x="941713" y="3767150"/>
            <a:chExt cx="63300" cy="1000200"/>
          </a:xfrm>
        </p:grpSpPr>
        <p:cxnSp>
          <p:nvCxnSpPr>
            <p:cNvPr id="1249" name="Google Shape;1249;p86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0" name="Google Shape;1250;p86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1" name="Google Shape;1251;p86"/>
          <p:cNvGrpSpPr/>
          <p:nvPr/>
        </p:nvGrpSpPr>
        <p:grpSpPr>
          <a:xfrm>
            <a:off x="2054388" y="3016585"/>
            <a:ext cx="63300" cy="821264"/>
            <a:chOff x="941713" y="3767150"/>
            <a:chExt cx="63300" cy="1000200"/>
          </a:xfrm>
        </p:grpSpPr>
        <p:cxnSp>
          <p:nvCxnSpPr>
            <p:cNvPr id="1252" name="Google Shape;1252;p86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3" name="Google Shape;1253;p86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4" name="Google Shape;1254;p86"/>
          <p:cNvSpPr txBox="1"/>
          <p:nvPr/>
        </p:nvSpPr>
        <p:spPr>
          <a:xfrm>
            <a:off x="3790875" y="2982183"/>
            <a:ext cx="11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6"/>
          <p:cNvSpPr txBox="1"/>
          <p:nvPr/>
        </p:nvSpPr>
        <p:spPr>
          <a:xfrm>
            <a:off x="3818628" y="3497447"/>
            <a:ext cx="11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6"/>
          <p:cNvSpPr txBox="1"/>
          <p:nvPr/>
        </p:nvSpPr>
        <p:spPr>
          <a:xfrm>
            <a:off x="2016450" y="2595039"/>
            <a:ext cx="13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6"/>
          <p:cNvSpPr txBox="1"/>
          <p:nvPr/>
        </p:nvSpPr>
        <p:spPr>
          <a:xfrm>
            <a:off x="2810700" y="3850625"/>
            <a:ext cx="6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£460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6"/>
          <p:cNvSpPr txBox="1"/>
          <p:nvPr/>
        </p:nvSpPr>
        <p:spPr>
          <a:xfrm>
            <a:off x="2275425" y="1912476"/>
            <a:ext cx="17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6"/>
          <p:cNvSpPr/>
          <p:nvPr/>
        </p:nvSpPr>
        <p:spPr>
          <a:xfrm rot="10800000">
            <a:off x="2130725" y="4024200"/>
            <a:ext cx="893400" cy="261900"/>
          </a:xfrm>
          <a:prstGeom prst="arc">
            <a:avLst>
              <a:gd fmla="val 10729459" name="adj1"/>
              <a:gd fmla="val 2143281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86"/>
          <p:cNvSpPr txBox="1"/>
          <p:nvPr/>
        </p:nvSpPr>
        <p:spPr>
          <a:xfrm>
            <a:off x="2342900" y="4412862"/>
            <a:ext cx="3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6"/>
          <p:cNvSpPr txBox="1"/>
          <p:nvPr/>
        </p:nvSpPr>
        <p:spPr>
          <a:xfrm>
            <a:off x="1873724" y="3824395"/>
            <a:ext cx="6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529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6"/>
          <p:cNvSpPr/>
          <p:nvPr/>
        </p:nvSpPr>
        <p:spPr>
          <a:xfrm>
            <a:off x="2130600" y="2392164"/>
            <a:ext cx="8730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frac{3}{20}\ \frac{23}{20}\ \frac{20}{23}&quot;&gt;&lt;mn&gt;1&lt;/mn&gt;&lt;mfrac&gt;&lt;mn&gt;3&lt;/mn&gt;&lt;mn&gt;20&lt;/mn&gt;&lt;/mfrac&gt;&lt;mtext&gt;&lt;/mtext&gt;&lt;mfrac&gt;&lt;mn&gt;23&lt;/mn&gt;&lt;mn&gt;20&lt;/mn&gt;&lt;/mfrac&gt;&lt;mtext&gt;&lt;/mtext&gt;&lt;mfrac&gt;&lt;mn&gt;20&lt;/mn&gt;&lt;mn&gt;23&lt;/mn&gt;&lt;/mfrac&gt;&lt;/math&gt;" id="1263" name="Google Shape;1263;p86" title="1 and 3 over 20 23 over 20 20 over 23"/>
          <p:cNvPicPr preferRelativeResize="0"/>
          <p:nvPr/>
        </p:nvPicPr>
        <p:blipFill rotWithShape="1">
          <a:blip r:embed="rId4">
            <a:alphaModFix/>
          </a:blip>
          <a:srcRect b="0" l="70985" r="0" t="0"/>
          <a:stretch/>
        </p:blipFill>
        <p:spPr>
          <a:xfrm>
            <a:off x="2455129" y="1899876"/>
            <a:ext cx="296425" cy="43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frac{3}{20}\ \frac{23}{20}\ \frac{20}{23}&quot;&gt;&lt;mn&gt;1&lt;/mn&gt;&lt;mfrac&gt;&lt;mn&gt;3&lt;/mn&gt;&lt;mn&gt;20&lt;/mn&gt;&lt;/mfrac&gt;&lt;mtext&gt;&lt;/mtext&gt;&lt;mfrac&gt;&lt;mn&gt;23&lt;/mn&gt;&lt;mn&gt;20&lt;/mn&gt;&lt;/mfrac&gt;&lt;mtext&gt;&lt;/mtext&gt;&lt;mfrac&gt;&lt;mn&gt;20&lt;/mn&gt;&lt;mn&gt;23&lt;/mn&gt;&lt;/mfrac&gt;&lt;/math&gt;" id="1264" name="Google Shape;1264;p86" title="1 and 3 over 20 23 over 20 20 over 23"/>
          <p:cNvPicPr preferRelativeResize="0"/>
          <p:nvPr/>
        </p:nvPicPr>
        <p:blipFill rotWithShape="1">
          <a:blip r:embed="rId4">
            <a:alphaModFix/>
          </a:blip>
          <a:srcRect b="0" l="38158" r="28072" t="0"/>
          <a:stretch/>
        </p:blipFill>
        <p:spPr>
          <a:xfrm>
            <a:off x="2904149" y="2546589"/>
            <a:ext cx="345000" cy="43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frac{3}{20}\ \frac{23}{20}\ \frac{20}{23}&quot;&gt;&lt;mn&gt;1&lt;/mn&gt;&lt;mfrac&gt;&lt;mn&gt;3&lt;/mn&gt;&lt;mn&gt;20&lt;/mn&gt;&lt;/mfrac&gt;&lt;mtext&gt;&lt;/mtext&gt;&lt;mfrac&gt;&lt;mn&gt;23&lt;/mn&gt;&lt;mn&gt;20&lt;/mn&gt;&lt;/mfrac&gt;&lt;mtext&gt;&lt;/mtext&gt;&lt;mfrac&gt;&lt;mn&gt;20&lt;/mn&gt;&lt;mn&gt;23&lt;/mn&gt;&lt;/mfrac&gt;&lt;/math&gt;" id="1265" name="Google Shape;1265;p86" title="1 and 3 over 20 23 over 20 20 over 23"/>
          <p:cNvPicPr preferRelativeResize="0"/>
          <p:nvPr/>
        </p:nvPicPr>
        <p:blipFill rotWithShape="1">
          <a:blip r:embed="rId4">
            <a:alphaModFix/>
          </a:blip>
          <a:srcRect b="0" l="70985" r="0" t="0"/>
          <a:stretch/>
        </p:blipFill>
        <p:spPr>
          <a:xfrm>
            <a:off x="2535504" y="4364412"/>
            <a:ext cx="296425" cy="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86"/>
          <p:cNvSpPr txBox="1"/>
          <p:nvPr>
            <p:ph idx="1" type="body"/>
          </p:nvPr>
        </p:nvSpPr>
        <p:spPr>
          <a:xfrm>
            <a:off x="5069950" y="2546600"/>
            <a:ext cx="3717000" cy="9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Just looking at the answer of £529, how could you tell that it was wrong?</a:t>
            </a:r>
            <a:endParaRPr sz="1800"/>
          </a:p>
        </p:txBody>
      </p:sp>
      <p:sp>
        <p:nvSpPr>
          <p:cNvPr id="1267" name="Google Shape;1267;p86"/>
          <p:cNvSpPr txBox="1"/>
          <p:nvPr>
            <p:ph idx="1" type="body"/>
          </p:nvPr>
        </p:nvSpPr>
        <p:spPr>
          <a:xfrm>
            <a:off x="5069950" y="3685800"/>
            <a:ext cx="34917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price of the laptop had increased, therefore the original price must have been lower.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8" name="Google Shape;1268;p86"/>
          <p:cNvSpPr/>
          <p:nvPr/>
        </p:nvSpPr>
        <p:spPr>
          <a:xfrm>
            <a:off x="3044988" y="3190762"/>
            <a:ext cx="63300" cy="45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6"/>
          <p:cNvSpPr/>
          <p:nvPr/>
        </p:nvSpPr>
        <p:spPr>
          <a:xfrm flipH="1">
            <a:off x="2066700" y="2369925"/>
            <a:ext cx="9021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6"/>
          <p:cNvSpPr txBox="1"/>
          <p:nvPr/>
        </p:nvSpPr>
        <p:spPr>
          <a:xfrm>
            <a:off x="2344200" y="4412851"/>
            <a:ext cx="17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1" name="Google Shape;1271;p86"/>
          <p:cNvCxnSpPr/>
          <p:nvPr/>
        </p:nvCxnSpPr>
        <p:spPr>
          <a:xfrm flipH="1" rot="10800000">
            <a:off x="1820450" y="3838800"/>
            <a:ext cx="524400" cy="285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86"/>
          <p:cNvSpPr txBox="1"/>
          <p:nvPr/>
        </p:nvSpPr>
        <p:spPr>
          <a:xfrm>
            <a:off x="1164600" y="4024200"/>
            <a:ext cx="9021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£400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each problem to its double number line and solve.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price of a camera </a:t>
            </a:r>
            <a:r>
              <a:rPr lang="en-GB" sz="1800"/>
              <a:t>increases by three-eighths to £165.  How much did it cost before the increase?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Alex takes part in a spelling competition. He gets 165 right.  This is three-eighths of the questions.  How many questions were in the competition?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 multi-buy offer gives a discount of three-eighths.  If you pay £165, how much is it without the discount?</a:t>
            </a:r>
            <a:endParaRPr sz="1800"/>
          </a:p>
        </p:txBody>
      </p:sp>
      <p:sp>
        <p:nvSpPr>
          <p:cNvPr id="1278" name="Google Shape;1278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279" name="Google Shape;1279;p87"/>
          <p:cNvSpPr txBox="1"/>
          <p:nvPr/>
        </p:nvSpPr>
        <p:spPr>
          <a:xfrm>
            <a:off x="1969525" y="3784475"/>
            <a:ext cx="96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0" name="Google Shape;1280;p87"/>
          <p:cNvGrpSpPr/>
          <p:nvPr/>
        </p:nvGrpSpPr>
        <p:grpSpPr>
          <a:xfrm>
            <a:off x="487802" y="3751349"/>
            <a:ext cx="1431180" cy="695040"/>
            <a:chOff x="441900" y="3572013"/>
            <a:chExt cx="3074500" cy="1357500"/>
          </a:xfrm>
        </p:grpSpPr>
        <p:cxnSp>
          <p:nvCxnSpPr>
            <p:cNvPr id="1281" name="Google Shape;1281;p87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2" name="Google Shape;1282;p87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3" name="Google Shape;1283;p87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84" name="Google Shape;1284;p87"/>
          <p:cNvGrpSpPr/>
          <p:nvPr/>
        </p:nvGrpSpPr>
        <p:grpSpPr>
          <a:xfrm>
            <a:off x="1443675" y="3851284"/>
            <a:ext cx="44626" cy="512102"/>
            <a:chOff x="941711" y="3767150"/>
            <a:chExt cx="63300" cy="1000200"/>
          </a:xfrm>
        </p:grpSpPr>
        <p:cxnSp>
          <p:nvCxnSpPr>
            <p:cNvPr id="1285" name="Google Shape;1285;p87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6" name="Google Shape;1286;p87"/>
            <p:cNvSpPr/>
            <p:nvPr/>
          </p:nvSpPr>
          <p:spPr>
            <a:xfrm>
              <a:off x="941711" y="4000190"/>
              <a:ext cx="63300" cy="507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7" name="Google Shape;1287;p87"/>
          <p:cNvGrpSpPr/>
          <p:nvPr/>
        </p:nvGrpSpPr>
        <p:grpSpPr>
          <a:xfrm>
            <a:off x="745300" y="3851284"/>
            <a:ext cx="44627" cy="512102"/>
            <a:chOff x="941708" y="3767150"/>
            <a:chExt cx="63300" cy="1000200"/>
          </a:xfrm>
        </p:grpSpPr>
        <p:cxnSp>
          <p:nvCxnSpPr>
            <p:cNvPr id="1288" name="Google Shape;1288;p87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9" name="Google Shape;1289;p87"/>
            <p:cNvSpPr/>
            <p:nvPr/>
          </p:nvSpPr>
          <p:spPr>
            <a:xfrm>
              <a:off x="941708" y="4000191"/>
              <a:ext cx="63300" cy="508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0" name="Google Shape;1290;p87"/>
          <p:cNvSpPr txBox="1"/>
          <p:nvPr/>
        </p:nvSpPr>
        <p:spPr>
          <a:xfrm>
            <a:off x="2006200" y="4104375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7"/>
          <p:cNvSpPr txBox="1"/>
          <p:nvPr/>
        </p:nvSpPr>
        <p:spPr>
          <a:xfrm>
            <a:off x="4941325" y="3784475"/>
            <a:ext cx="96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87"/>
          <p:cNvGrpSpPr/>
          <p:nvPr/>
        </p:nvGrpSpPr>
        <p:grpSpPr>
          <a:xfrm>
            <a:off x="3459602" y="3751349"/>
            <a:ext cx="1431180" cy="695040"/>
            <a:chOff x="441900" y="3572013"/>
            <a:chExt cx="3074500" cy="1357500"/>
          </a:xfrm>
        </p:grpSpPr>
        <p:cxnSp>
          <p:nvCxnSpPr>
            <p:cNvPr id="1293" name="Google Shape;1293;p87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4" name="Google Shape;1294;p87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95" name="Google Shape;1295;p87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96" name="Google Shape;1296;p87"/>
          <p:cNvGrpSpPr/>
          <p:nvPr/>
        </p:nvGrpSpPr>
        <p:grpSpPr>
          <a:xfrm>
            <a:off x="4415475" y="3851284"/>
            <a:ext cx="44626" cy="512102"/>
            <a:chOff x="941711" y="3767150"/>
            <a:chExt cx="63300" cy="1000200"/>
          </a:xfrm>
        </p:grpSpPr>
        <p:cxnSp>
          <p:nvCxnSpPr>
            <p:cNvPr id="1297" name="Google Shape;1297;p87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8" name="Google Shape;1298;p87"/>
            <p:cNvSpPr/>
            <p:nvPr/>
          </p:nvSpPr>
          <p:spPr>
            <a:xfrm>
              <a:off x="941711" y="4000191"/>
              <a:ext cx="63300" cy="510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9" name="Google Shape;1299;p87"/>
          <p:cNvGrpSpPr/>
          <p:nvPr/>
        </p:nvGrpSpPr>
        <p:grpSpPr>
          <a:xfrm>
            <a:off x="3695675" y="3851284"/>
            <a:ext cx="44626" cy="512102"/>
            <a:chOff x="941720" y="3767150"/>
            <a:chExt cx="63300" cy="1000200"/>
          </a:xfrm>
        </p:grpSpPr>
        <p:cxnSp>
          <p:nvCxnSpPr>
            <p:cNvPr id="1300" name="Google Shape;1300;p87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1" name="Google Shape;1301;p87"/>
            <p:cNvSpPr/>
            <p:nvPr/>
          </p:nvSpPr>
          <p:spPr>
            <a:xfrm>
              <a:off x="941720" y="4000190"/>
              <a:ext cx="63300" cy="509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2" name="Google Shape;1302;p87"/>
          <p:cNvSpPr txBox="1"/>
          <p:nvPr/>
        </p:nvSpPr>
        <p:spPr>
          <a:xfrm>
            <a:off x="4978000" y="4104375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7"/>
          <p:cNvSpPr txBox="1"/>
          <p:nvPr/>
        </p:nvSpPr>
        <p:spPr>
          <a:xfrm>
            <a:off x="7760725" y="3784475"/>
            <a:ext cx="96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4" name="Google Shape;1304;p87"/>
          <p:cNvGrpSpPr/>
          <p:nvPr/>
        </p:nvGrpSpPr>
        <p:grpSpPr>
          <a:xfrm>
            <a:off x="6279002" y="3751349"/>
            <a:ext cx="1431180" cy="695040"/>
            <a:chOff x="441900" y="3572013"/>
            <a:chExt cx="3074500" cy="1357500"/>
          </a:xfrm>
        </p:grpSpPr>
        <p:cxnSp>
          <p:nvCxnSpPr>
            <p:cNvPr id="1305" name="Google Shape;1305;p87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87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7" name="Google Shape;1307;p87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308" name="Google Shape;1308;p87"/>
          <p:cNvGrpSpPr/>
          <p:nvPr/>
        </p:nvGrpSpPr>
        <p:grpSpPr>
          <a:xfrm>
            <a:off x="7234875" y="3851284"/>
            <a:ext cx="44626" cy="512102"/>
            <a:chOff x="941711" y="3767150"/>
            <a:chExt cx="63300" cy="1000200"/>
          </a:xfrm>
        </p:grpSpPr>
        <p:cxnSp>
          <p:nvCxnSpPr>
            <p:cNvPr id="1309" name="Google Shape;1309;p87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0" name="Google Shape;1310;p87"/>
            <p:cNvSpPr/>
            <p:nvPr/>
          </p:nvSpPr>
          <p:spPr>
            <a:xfrm>
              <a:off x="941711" y="4000191"/>
              <a:ext cx="63300" cy="509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1" name="Google Shape;1311;p87"/>
          <p:cNvGrpSpPr/>
          <p:nvPr/>
        </p:nvGrpSpPr>
        <p:grpSpPr>
          <a:xfrm>
            <a:off x="6536500" y="3851284"/>
            <a:ext cx="44626" cy="512102"/>
            <a:chOff x="941708" y="3767150"/>
            <a:chExt cx="63300" cy="1000200"/>
          </a:xfrm>
        </p:grpSpPr>
        <p:cxnSp>
          <p:nvCxnSpPr>
            <p:cNvPr id="1312" name="Google Shape;1312;p87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3" name="Google Shape;1313;p87"/>
            <p:cNvSpPr/>
            <p:nvPr/>
          </p:nvSpPr>
          <p:spPr>
            <a:xfrm>
              <a:off x="941708" y="4000191"/>
              <a:ext cx="63300" cy="505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4" name="Google Shape;1314;p87"/>
          <p:cNvSpPr txBox="1"/>
          <p:nvPr/>
        </p:nvSpPr>
        <p:spPr>
          <a:xfrm>
            <a:off x="7797400" y="4104375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7"/>
          <p:cNvSpPr txBox="1"/>
          <p:nvPr/>
        </p:nvSpPr>
        <p:spPr>
          <a:xfrm>
            <a:off x="4360537" y="3507275"/>
            <a:ext cx="15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1316" name="Google Shape;1316;p87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28833" r="38255" t="0"/>
          <a:stretch/>
        </p:blipFill>
        <p:spPr>
          <a:xfrm>
            <a:off x="3596150" y="3316400"/>
            <a:ext cx="243675" cy="45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1317" name="Google Shape;1317;p87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67089" r="0" t="0"/>
          <a:stretch/>
        </p:blipFill>
        <p:spPr>
          <a:xfrm>
            <a:off x="7135346" y="3360950"/>
            <a:ext cx="243675" cy="45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1318" name="Google Shape;1318;p87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0" r="79132" t="0"/>
          <a:stretch/>
        </p:blipFill>
        <p:spPr>
          <a:xfrm>
            <a:off x="690375" y="3360963"/>
            <a:ext cx="154500" cy="45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87"/>
          <p:cNvSpPr txBox="1"/>
          <p:nvPr/>
        </p:nvSpPr>
        <p:spPr>
          <a:xfrm>
            <a:off x="1388737" y="3507275"/>
            <a:ext cx="15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7"/>
          <p:cNvSpPr txBox="1"/>
          <p:nvPr/>
        </p:nvSpPr>
        <p:spPr>
          <a:xfrm>
            <a:off x="6481575" y="3451588"/>
            <a:ext cx="15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7"/>
          <p:cNvSpPr txBox="1"/>
          <p:nvPr/>
        </p:nvSpPr>
        <p:spPr>
          <a:xfrm>
            <a:off x="554625" y="4395225"/>
            <a:ext cx="42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7"/>
          <p:cNvSpPr txBox="1"/>
          <p:nvPr/>
        </p:nvSpPr>
        <p:spPr>
          <a:xfrm>
            <a:off x="3538975" y="4446400"/>
            <a:ext cx="42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7"/>
          <p:cNvSpPr txBox="1"/>
          <p:nvPr/>
        </p:nvSpPr>
        <p:spPr>
          <a:xfrm>
            <a:off x="7044187" y="4446400"/>
            <a:ext cx="42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88"/>
          <p:cNvSpPr txBox="1"/>
          <p:nvPr>
            <p:ph idx="1" type="body"/>
          </p:nvPr>
        </p:nvSpPr>
        <p:spPr>
          <a:xfrm>
            <a:off x="324000" y="759300"/>
            <a:ext cx="82377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each problem to its double number line and solve.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price of a camera increases by three-eighths to £165.  How much did it cost before the increase?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Alex takes part in a spelling competition. He gets 165 right.  This is three-eighths of the questions.  How many questions were in the competition?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 multi-buy offer gives a discount of three-eighths.  If you pay £165, how much is it without the discount?</a:t>
            </a:r>
            <a:endParaRPr sz="1800"/>
          </a:p>
        </p:txBody>
      </p:sp>
      <p:sp>
        <p:nvSpPr>
          <p:cNvPr id="1329" name="Google Shape;1329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double number lines</a:t>
            </a:r>
            <a:endParaRPr/>
          </a:p>
        </p:txBody>
      </p:sp>
      <p:sp>
        <p:nvSpPr>
          <p:cNvPr id="1330" name="Google Shape;1330;p88"/>
          <p:cNvSpPr txBox="1"/>
          <p:nvPr/>
        </p:nvSpPr>
        <p:spPr>
          <a:xfrm>
            <a:off x="1969525" y="3708275"/>
            <a:ext cx="96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1" name="Google Shape;1331;p88"/>
          <p:cNvGrpSpPr/>
          <p:nvPr/>
        </p:nvGrpSpPr>
        <p:grpSpPr>
          <a:xfrm>
            <a:off x="487802" y="3675149"/>
            <a:ext cx="1431180" cy="695040"/>
            <a:chOff x="441900" y="3572013"/>
            <a:chExt cx="3074500" cy="1357500"/>
          </a:xfrm>
        </p:grpSpPr>
        <p:cxnSp>
          <p:nvCxnSpPr>
            <p:cNvPr id="1332" name="Google Shape;1332;p88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3" name="Google Shape;1333;p88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34" name="Google Shape;1334;p88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335" name="Google Shape;1335;p88"/>
          <p:cNvGrpSpPr/>
          <p:nvPr/>
        </p:nvGrpSpPr>
        <p:grpSpPr>
          <a:xfrm>
            <a:off x="1443685" y="3775084"/>
            <a:ext cx="44627" cy="512102"/>
            <a:chOff x="941725" y="3767150"/>
            <a:chExt cx="63300" cy="1000200"/>
          </a:xfrm>
        </p:grpSpPr>
        <p:cxnSp>
          <p:nvCxnSpPr>
            <p:cNvPr id="1336" name="Google Shape;1336;p8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7" name="Google Shape;1337;p88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88"/>
          <p:cNvGrpSpPr/>
          <p:nvPr/>
        </p:nvGrpSpPr>
        <p:grpSpPr>
          <a:xfrm>
            <a:off x="745312" y="3775084"/>
            <a:ext cx="44627" cy="512102"/>
            <a:chOff x="941725" y="3767150"/>
            <a:chExt cx="63300" cy="1000200"/>
          </a:xfrm>
        </p:grpSpPr>
        <p:cxnSp>
          <p:nvCxnSpPr>
            <p:cNvPr id="1339" name="Google Shape;1339;p8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0" name="Google Shape;1340;p88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1" name="Google Shape;1341;p88"/>
          <p:cNvSpPr txBox="1"/>
          <p:nvPr/>
        </p:nvSpPr>
        <p:spPr>
          <a:xfrm>
            <a:off x="2006200" y="4028175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8"/>
          <p:cNvSpPr txBox="1"/>
          <p:nvPr/>
        </p:nvSpPr>
        <p:spPr>
          <a:xfrm>
            <a:off x="4941325" y="3708275"/>
            <a:ext cx="96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3" name="Google Shape;1343;p88"/>
          <p:cNvGrpSpPr/>
          <p:nvPr/>
        </p:nvGrpSpPr>
        <p:grpSpPr>
          <a:xfrm>
            <a:off x="3459602" y="3675149"/>
            <a:ext cx="1431180" cy="695040"/>
            <a:chOff x="441900" y="3572013"/>
            <a:chExt cx="3074500" cy="1357500"/>
          </a:xfrm>
        </p:grpSpPr>
        <p:cxnSp>
          <p:nvCxnSpPr>
            <p:cNvPr id="1344" name="Google Shape;1344;p88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5" name="Google Shape;1345;p88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46" name="Google Shape;1346;p88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347" name="Google Shape;1347;p88"/>
          <p:cNvGrpSpPr/>
          <p:nvPr/>
        </p:nvGrpSpPr>
        <p:grpSpPr>
          <a:xfrm>
            <a:off x="4415485" y="3775084"/>
            <a:ext cx="44626" cy="512102"/>
            <a:chOff x="941725" y="3767150"/>
            <a:chExt cx="63300" cy="1000200"/>
          </a:xfrm>
        </p:grpSpPr>
        <p:cxnSp>
          <p:nvCxnSpPr>
            <p:cNvPr id="1348" name="Google Shape;1348;p8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9" name="Google Shape;1349;p88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0" name="Google Shape;1350;p88"/>
          <p:cNvGrpSpPr/>
          <p:nvPr/>
        </p:nvGrpSpPr>
        <p:grpSpPr>
          <a:xfrm>
            <a:off x="3695679" y="3775084"/>
            <a:ext cx="44626" cy="512102"/>
            <a:chOff x="941725" y="3767150"/>
            <a:chExt cx="63300" cy="1000200"/>
          </a:xfrm>
        </p:grpSpPr>
        <p:cxnSp>
          <p:nvCxnSpPr>
            <p:cNvPr id="1351" name="Google Shape;1351;p8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2" name="Google Shape;1352;p88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3" name="Google Shape;1353;p88"/>
          <p:cNvSpPr txBox="1"/>
          <p:nvPr/>
        </p:nvSpPr>
        <p:spPr>
          <a:xfrm>
            <a:off x="4978000" y="4028175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8"/>
          <p:cNvSpPr txBox="1"/>
          <p:nvPr/>
        </p:nvSpPr>
        <p:spPr>
          <a:xfrm>
            <a:off x="7760725" y="3708275"/>
            <a:ext cx="96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5" name="Google Shape;1355;p88"/>
          <p:cNvGrpSpPr/>
          <p:nvPr/>
        </p:nvGrpSpPr>
        <p:grpSpPr>
          <a:xfrm>
            <a:off x="6279002" y="3675149"/>
            <a:ext cx="1431180" cy="695040"/>
            <a:chOff x="441900" y="3572013"/>
            <a:chExt cx="3074500" cy="1357500"/>
          </a:xfrm>
        </p:grpSpPr>
        <p:cxnSp>
          <p:nvCxnSpPr>
            <p:cNvPr id="1356" name="Google Shape;1356;p88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88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58" name="Google Shape;1358;p88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359" name="Google Shape;1359;p88"/>
          <p:cNvGrpSpPr/>
          <p:nvPr/>
        </p:nvGrpSpPr>
        <p:grpSpPr>
          <a:xfrm>
            <a:off x="7234885" y="3775084"/>
            <a:ext cx="44626" cy="512102"/>
            <a:chOff x="941725" y="3767150"/>
            <a:chExt cx="63300" cy="1000200"/>
          </a:xfrm>
        </p:grpSpPr>
        <p:cxnSp>
          <p:nvCxnSpPr>
            <p:cNvPr id="1360" name="Google Shape;1360;p8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1" name="Google Shape;1361;p88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2" name="Google Shape;1362;p88"/>
          <p:cNvGrpSpPr/>
          <p:nvPr/>
        </p:nvGrpSpPr>
        <p:grpSpPr>
          <a:xfrm>
            <a:off x="6536512" y="3775084"/>
            <a:ext cx="44626" cy="512102"/>
            <a:chOff x="941725" y="3767150"/>
            <a:chExt cx="63300" cy="1000200"/>
          </a:xfrm>
        </p:grpSpPr>
        <p:cxnSp>
          <p:nvCxnSpPr>
            <p:cNvPr id="1363" name="Google Shape;1363;p88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4" name="Google Shape;1364;p88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5" name="Google Shape;1365;p88"/>
          <p:cNvSpPr txBox="1"/>
          <p:nvPr/>
        </p:nvSpPr>
        <p:spPr>
          <a:xfrm>
            <a:off x="7797400" y="4028175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8"/>
          <p:cNvSpPr txBox="1"/>
          <p:nvPr/>
        </p:nvSpPr>
        <p:spPr>
          <a:xfrm>
            <a:off x="4360537" y="3431075"/>
            <a:ext cx="15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1367" name="Google Shape;1367;p88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28833" r="38255" t="0"/>
          <a:stretch/>
        </p:blipFill>
        <p:spPr>
          <a:xfrm>
            <a:off x="3596150" y="3240200"/>
            <a:ext cx="243675" cy="45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1368" name="Google Shape;1368;p88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67089" r="0" t="0"/>
          <a:stretch/>
        </p:blipFill>
        <p:spPr>
          <a:xfrm>
            <a:off x="7135346" y="3284750"/>
            <a:ext cx="243675" cy="45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1369" name="Google Shape;1369;p88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0" r="79132" t="0"/>
          <a:stretch/>
        </p:blipFill>
        <p:spPr>
          <a:xfrm>
            <a:off x="690375" y="3284763"/>
            <a:ext cx="154500" cy="45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88"/>
          <p:cNvSpPr txBox="1"/>
          <p:nvPr/>
        </p:nvSpPr>
        <p:spPr>
          <a:xfrm>
            <a:off x="1388737" y="3431075"/>
            <a:ext cx="15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88"/>
          <p:cNvSpPr txBox="1"/>
          <p:nvPr/>
        </p:nvSpPr>
        <p:spPr>
          <a:xfrm>
            <a:off x="6481575" y="3375388"/>
            <a:ext cx="15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372" name="Google Shape;1372;p88" title="four fifths one fifth"/>
          <p:cNvSpPr txBox="1"/>
          <p:nvPr>
            <p:ph idx="4294967295" type="body"/>
          </p:nvPr>
        </p:nvSpPr>
        <p:spPr>
          <a:xfrm>
            <a:off x="6013200" y="3273100"/>
            <a:ext cx="2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373" name="Google Shape;1373;p88" title="four fifths one fifth"/>
          <p:cNvSpPr txBox="1"/>
          <p:nvPr>
            <p:ph idx="4294967295" type="body"/>
          </p:nvPr>
        </p:nvSpPr>
        <p:spPr>
          <a:xfrm>
            <a:off x="324000" y="3240000"/>
            <a:ext cx="2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b)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374" name="Google Shape;1374;p88" title="four fifths one fifth"/>
          <p:cNvSpPr txBox="1"/>
          <p:nvPr>
            <p:ph idx="4294967295" type="body"/>
          </p:nvPr>
        </p:nvSpPr>
        <p:spPr>
          <a:xfrm>
            <a:off x="3193800" y="3273100"/>
            <a:ext cx="2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c)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5" name="Google Shape;1375;p88"/>
          <p:cNvSpPr txBox="1"/>
          <p:nvPr/>
        </p:nvSpPr>
        <p:spPr>
          <a:xfrm>
            <a:off x="554625" y="4319025"/>
            <a:ext cx="42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8"/>
          <p:cNvSpPr txBox="1"/>
          <p:nvPr/>
        </p:nvSpPr>
        <p:spPr>
          <a:xfrm>
            <a:off x="3538975" y="4370200"/>
            <a:ext cx="42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88"/>
          <p:cNvSpPr txBox="1"/>
          <p:nvPr/>
        </p:nvSpPr>
        <p:spPr>
          <a:xfrm>
            <a:off x="7044187" y="4370200"/>
            <a:ext cx="42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378" name="Google Shape;1378;p88" title="four fifths one fifth"/>
          <p:cNvSpPr txBox="1"/>
          <p:nvPr>
            <p:ph idx="4294967295" type="body"/>
          </p:nvPr>
        </p:nvSpPr>
        <p:spPr>
          <a:xfrm>
            <a:off x="866352" y="4343613"/>
            <a:ext cx="1128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440 questions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379" name="Google Shape;1379;p88" title="four fifths one fifth"/>
          <p:cNvSpPr txBox="1"/>
          <p:nvPr>
            <p:ph idx="4294967295" type="body"/>
          </p:nvPr>
        </p:nvSpPr>
        <p:spPr>
          <a:xfrm>
            <a:off x="4106830" y="4353975"/>
            <a:ext cx="617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£264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380" name="Google Shape;1380;p88" title="four fifths one fifth"/>
          <p:cNvSpPr txBox="1"/>
          <p:nvPr>
            <p:ph idx="4294967295" type="body"/>
          </p:nvPr>
        </p:nvSpPr>
        <p:spPr>
          <a:xfrm>
            <a:off x="6250275" y="4363472"/>
            <a:ext cx="617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£120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8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to find the original amount</a:t>
            </a:r>
            <a:endParaRPr/>
          </a:p>
        </p:txBody>
      </p:sp>
      <p:sp>
        <p:nvSpPr>
          <p:cNvPr id="1386" name="Google Shape;1386;p8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double number lines </a:t>
            </a:r>
            <a:endParaRPr/>
          </a:p>
        </p:txBody>
      </p:sp>
      <p:sp>
        <p:nvSpPr>
          <p:cNvPr id="1387" name="Google Shape;1387;p8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1388" name="Google Shape;1388;p8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pic>
        <p:nvPicPr>
          <p:cNvPr id="1389" name="Google Shape;138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0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90"/>
          <p:cNvSpPr/>
          <p:nvPr/>
        </p:nvSpPr>
        <p:spPr>
          <a:xfrm>
            <a:off x="6579225" y="3240000"/>
            <a:ext cx="1893600" cy="79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1396" name="Google Shape;1396;p90"/>
          <p:cNvSpPr txBox="1"/>
          <p:nvPr>
            <p:ph idx="1" type="body"/>
          </p:nvPr>
        </p:nvSpPr>
        <p:spPr>
          <a:xfrm>
            <a:off x="324000" y="759300"/>
            <a:ext cx="23100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    of 60?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97" name="Google Shape;1397;p9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225" y="698100"/>
            <a:ext cx="161475" cy="519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8" name="Google Shape;1398;p90"/>
          <p:cNvCxnSpPr/>
          <p:nvPr/>
        </p:nvCxnSpPr>
        <p:spPr>
          <a:xfrm rot="10800000">
            <a:off x="1925575" y="1109650"/>
            <a:ext cx="198600" cy="36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9" name="Google Shape;1399;p90"/>
          <p:cNvSpPr txBox="1"/>
          <p:nvPr>
            <p:ph idx="1" type="body"/>
          </p:nvPr>
        </p:nvSpPr>
        <p:spPr>
          <a:xfrm>
            <a:off x="324000" y="1467450"/>
            <a:ext cx="4686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REMEMBER: the word ‘</a:t>
            </a:r>
            <a:r>
              <a:rPr lang="en-GB" sz="1800">
                <a:solidFill>
                  <a:schemeClr val="accent2"/>
                </a:solidFill>
              </a:rPr>
              <a:t>of</a:t>
            </a:r>
            <a:r>
              <a:rPr lang="en-GB" sz="1800"/>
              <a:t>’ and the process of </a:t>
            </a:r>
            <a:r>
              <a:rPr lang="en-GB" sz="1800">
                <a:solidFill>
                  <a:schemeClr val="accent2"/>
                </a:solidFill>
              </a:rPr>
              <a:t>multiplying</a:t>
            </a:r>
            <a:r>
              <a:rPr lang="en-GB" sz="1800"/>
              <a:t> are the </a:t>
            </a:r>
            <a:r>
              <a:rPr lang="en-GB" sz="1800">
                <a:solidFill>
                  <a:schemeClr val="accent2"/>
                </a:solidFill>
              </a:rPr>
              <a:t>same</a:t>
            </a:r>
            <a:r>
              <a:rPr lang="en-GB" sz="1800"/>
              <a:t> in maths.</a:t>
            </a:r>
            <a:endParaRPr sz="1800"/>
          </a:p>
        </p:txBody>
      </p:sp>
      <p:sp>
        <p:nvSpPr>
          <p:cNvPr id="1400" name="Google Shape;1400;p90"/>
          <p:cNvSpPr txBox="1"/>
          <p:nvPr>
            <p:ph idx="1" type="body"/>
          </p:nvPr>
        </p:nvSpPr>
        <p:spPr>
          <a:xfrm>
            <a:off x="515450" y="2706000"/>
            <a:ext cx="11694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60 = 36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01" name="Google Shape;1401;p9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644800"/>
            <a:ext cx="161475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0"/>
          <p:cNvSpPr txBox="1"/>
          <p:nvPr>
            <p:ph idx="1" type="body"/>
          </p:nvPr>
        </p:nvSpPr>
        <p:spPr>
          <a:xfrm>
            <a:off x="4763450" y="2612150"/>
            <a:ext cx="18936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160 = 96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03" name="Google Shape;1403;p9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50950"/>
            <a:ext cx="161475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90"/>
          <p:cNvSpPr/>
          <p:nvPr/>
        </p:nvSpPr>
        <p:spPr>
          <a:xfrm>
            <a:off x="4978773" y="2612163"/>
            <a:ext cx="450144" cy="396576"/>
          </a:xfrm>
          <a:prstGeom prst="cloud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90"/>
          <p:cNvSpPr txBox="1"/>
          <p:nvPr>
            <p:ph idx="1" type="body"/>
          </p:nvPr>
        </p:nvSpPr>
        <p:spPr>
          <a:xfrm>
            <a:off x="2302500" y="3315600"/>
            <a:ext cx="15891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36 ÷    = 60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06" name="Google Shape;1406;p9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075" y="3254400"/>
            <a:ext cx="161475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90"/>
          <p:cNvSpPr txBox="1"/>
          <p:nvPr>
            <p:ph idx="1" type="body"/>
          </p:nvPr>
        </p:nvSpPr>
        <p:spPr>
          <a:xfrm>
            <a:off x="2286800" y="2211175"/>
            <a:ext cx="15891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36</a:t>
            </a:r>
            <a:r>
              <a:rPr lang="en-GB"/>
              <a:t> ÷ 60 =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08" name="Google Shape;1408;p9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025" y="2149975"/>
            <a:ext cx="161475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90"/>
          <p:cNvSpPr txBox="1"/>
          <p:nvPr>
            <p:ph idx="1" type="body"/>
          </p:nvPr>
        </p:nvSpPr>
        <p:spPr>
          <a:xfrm>
            <a:off x="6740100" y="2264975"/>
            <a:ext cx="18936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96 ÷        = </a:t>
            </a:r>
            <a:endParaRPr/>
          </a:p>
        </p:txBody>
      </p:sp>
      <p:sp>
        <p:nvSpPr>
          <p:cNvPr id="1410" name="Google Shape;1410;p90"/>
          <p:cNvSpPr/>
          <p:nvPr/>
        </p:nvSpPr>
        <p:spPr>
          <a:xfrm>
            <a:off x="7372448" y="2264975"/>
            <a:ext cx="450144" cy="396576"/>
          </a:xfrm>
          <a:prstGeom prst="cloud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11" name="Google Shape;1411;p9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6825" y="2203763"/>
            <a:ext cx="161475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90"/>
          <p:cNvSpPr txBox="1"/>
          <p:nvPr>
            <p:ph idx="1" type="body"/>
          </p:nvPr>
        </p:nvSpPr>
        <p:spPr>
          <a:xfrm>
            <a:off x="6740100" y="3484175"/>
            <a:ext cx="18936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r>
              <a:rPr lang="en-GB"/>
              <a:t>6 ÷    = </a:t>
            </a:r>
            <a:endParaRPr/>
          </a:p>
        </p:txBody>
      </p:sp>
      <p:sp>
        <p:nvSpPr>
          <p:cNvPr id="1413" name="Google Shape;1413;p90"/>
          <p:cNvSpPr/>
          <p:nvPr/>
        </p:nvSpPr>
        <p:spPr>
          <a:xfrm>
            <a:off x="7878148" y="3422963"/>
            <a:ext cx="450144" cy="396576"/>
          </a:xfrm>
          <a:prstGeom prst="cloud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14" name="Google Shape;1414;p90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463" y="3422963"/>
            <a:ext cx="161475" cy="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90"/>
          <p:cNvSpPr txBox="1"/>
          <p:nvPr>
            <p:ph idx="1" type="body"/>
          </p:nvPr>
        </p:nvSpPr>
        <p:spPr>
          <a:xfrm>
            <a:off x="324000" y="4119000"/>
            <a:ext cx="8042700" cy="7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is most useful for finding the value of the cloud?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1421" name="Google Shape;1421;p91"/>
          <p:cNvSpPr txBox="1"/>
          <p:nvPr>
            <p:ph idx="1" type="body"/>
          </p:nvPr>
        </p:nvSpPr>
        <p:spPr>
          <a:xfrm>
            <a:off x="324000" y="759300"/>
            <a:ext cx="8237700" cy="13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notices that some of her crayons are broken.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Two-sevenths of the crayons are broken.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crayons are in the box?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422" name="Google Shape;142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2" y="348901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91"/>
          <p:cNvSpPr txBox="1"/>
          <p:nvPr/>
        </p:nvSpPr>
        <p:spPr>
          <a:xfrm>
            <a:off x="3510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4" name="Google Shape;142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8023" y="810000"/>
            <a:ext cx="1102752" cy="1226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5" name="Google Shape;1425;p91"/>
          <p:cNvGrpSpPr/>
          <p:nvPr/>
        </p:nvGrpSpPr>
        <p:grpSpPr>
          <a:xfrm>
            <a:off x="1223623" y="2538275"/>
            <a:ext cx="1998689" cy="1316250"/>
            <a:chOff x="1985623" y="3376475"/>
            <a:chExt cx="1998689" cy="1316250"/>
          </a:xfrm>
        </p:grpSpPr>
        <p:pic>
          <p:nvPicPr>
            <p:cNvPr id="1426" name="Google Shape;1426;p9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985623" y="33764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7" name="Google Shape;1427;p91"/>
            <p:cNvSpPr txBox="1"/>
            <p:nvPr/>
          </p:nvSpPr>
          <p:spPr>
            <a:xfrm>
              <a:off x="2213412" y="3419198"/>
              <a:ext cx="1770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 of my crayons are broken.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8" name="Google Shape;1428;p91"/>
          <p:cNvSpPr txBox="1"/>
          <p:nvPr>
            <p:ph idx="1" type="body"/>
          </p:nvPr>
        </p:nvSpPr>
        <p:spPr>
          <a:xfrm>
            <a:off x="4606575" y="2769550"/>
            <a:ext cx="20256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= 4 crayons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429" name="Google Shape;1429;p91" title="two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8975" y="3663375"/>
            <a:ext cx="18670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91"/>
          <p:cNvSpPr txBox="1"/>
          <p:nvPr>
            <p:ph idx="1" type="body"/>
          </p:nvPr>
        </p:nvSpPr>
        <p:spPr>
          <a:xfrm>
            <a:off x="4380600" y="3663375"/>
            <a:ext cx="40257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= 4 ÷     = 4 ×    =       = 14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431" name="Google Shape;1431;p91" title="two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9500" y="2769550"/>
            <a:ext cx="18670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}&quot;&gt;&lt;mfrac&gt;&lt;mn&gt;7&lt;/mn&gt;&lt;mn&gt;2&lt;/mn&gt;&lt;/mfrac&gt;&lt;/math&gt;" id="1432" name="Google Shape;1432;p91" title="seven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7250" y="3663135"/>
            <a:ext cx="186700" cy="590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}{2}&quot;&gt;&lt;mfrac&gt;&lt;mn&gt;28&lt;/mn&gt;&lt;mn&gt;2&lt;/mn&gt;&lt;/mfrac&gt;&lt;/math&gt;" id="1433" name="Google Shape;1433;p91" title="28 over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66700" y="3663375"/>
            <a:ext cx="34033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91"/>
          <p:cNvSpPr/>
          <p:nvPr/>
        </p:nvSpPr>
        <p:spPr>
          <a:xfrm>
            <a:off x="5664950" y="3601200"/>
            <a:ext cx="934200" cy="71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1"/>
          <p:cNvSpPr/>
          <p:nvPr/>
        </p:nvSpPr>
        <p:spPr>
          <a:xfrm>
            <a:off x="6569776" y="3598975"/>
            <a:ext cx="684600" cy="71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91"/>
          <p:cNvSpPr/>
          <p:nvPr/>
        </p:nvSpPr>
        <p:spPr>
          <a:xfrm>
            <a:off x="7280201" y="3610725"/>
            <a:ext cx="684600" cy="71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1442" name="Google Shape;1442;p92"/>
          <p:cNvSpPr txBox="1"/>
          <p:nvPr>
            <p:ph idx="1" type="body"/>
          </p:nvPr>
        </p:nvSpPr>
        <p:spPr>
          <a:xfrm>
            <a:off x="324000" y="759300"/>
            <a:ext cx="84960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did a sponsored walk.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 gave £150 to his favourite </a:t>
            </a:r>
            <a:r>
              <a:rPr lang="en-GB"/>
              <a:t>charity.  This was three-fifths of the total he raised.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money did Jun raise in total?</a:t>
            </a:r>
            <a:endParaRPr/>
          </a:p>
        </p:txBody>
      </p:sp>
      <p:pic>
        <p:nvPicPr>
          <p:cNvPr id="1443" name="Google Shape;144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56421" y="35088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92"/>
          <p:cNvSpPr txBox="1"/>
          <p:nvPr/>
        </p:nvSpPr>
        <p:spPr>
          <a:xfrm>
            <a:off x="7655050" y="44635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92"/>
          <p:cNvSpPr txBox="1"/>
          <p:nvPr>
            <p:ph idx="1" type="body"/>
          </p:nvPr>
        </p:nvSpPr>
        <p:spPr>
          <a:xfrm>
            <a:off x="667850" y="2858400"/>
            <a:ext cx="13008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 = £150</a:t>
            </a:r>
            <a:endParaRPr/>
          </a:p>
        </p:txBody>
      </p:sp>
      <p:sp>
        <p:nvSpPr>
          <p:cNvPr id="1446" name="Google Shape;1446;p92"/>
          <p:cNvSpPr txBox="1"/>
          <p:nvPr>
            <p:ph idx="1" type="body"/>
          </p:nvPr>
        </p:nvSpPr>
        <p:spPr>
          <a:xfrm>
            <a:off x="2680350" y="2706600"/>
            <a:ext cx="13785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 = £150 ÷     </a:t>
            </a:r>
            <a:endParaRPr/>
          </a:p>
        </p:txBody>
      </p:sp>
      <p:sp>
        <p:nvSpPr>
          <p:cNvPr id="1447" name="Google Shape;1447;p92"/>
          <p:cNvSpPr txBox="1"/>
          <p:nvPr>
            <p:ph idx="1" type="body"/>
          </p:nvPr>
        </p:nvSpPr>
        <p:spPr>
          <a:xfrm>
            <a:off x="2680350" y="3588300"/>
            <a:ext cx="42696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 = £150 ×     = £50 × 5 = £250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48" name="Google Shape;1448;p92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50" y="2823000"/>
            <a:ext cx="19087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1449" name="Google Shape;1449;p92" title="five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239" y="3539427"/>
            <a:ext cx="19087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50" name="Google Shape;1450;p92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488" y="2706600"/>
            <a:ext cx="19087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92"/>
          <p:cNvSpPr/>
          <p:nvPr/>
        </p:nvSpPr>
        <p:spPr>
          <a:xfrm>
            <a:off x="4284350" y="3539425"/>
            <a:ext cx="1300800" cy="71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92"/>
          <p:cNvSpPr/>
          <p:nvPr/>
        </p:nvSpPr>
        <p:spPr>
          <a:xfrm>
            <a:off x="5585150" y="3539425"/>
            <a:ext cx="974100" cy="71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92"/>
          <p:cNvSpPr txBox="1"/>
          <p:nvPr>
            <p:ph idx="1" type="body"/>
          </p:nvPr>
        </p:nvSpPr>
        <p:spPr>
          <a:xfrm>
            <a:off x="324000" y="4340700"/>
            <a:ext cx="33162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Jun raised £250 in total.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1459" name="Google Shape;1459;p93"/>
          <p:cNvSpPr txBox="1"/>
          <p:nvPr>
            <p:ph idx="1" type="body"/>
          </p:nvPr>
        </p:nvSpPr>
        <p:spPr>
          <a:xfrm>
            <a:off x="324000" y="759300"/>
            <a:ext cx="6606300" cy="9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mass of the special offer box is 900 grams.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mass of a normal box?  </a:t>
            </a:r>
            <a:endParaRPr/>
          </a:p>
        </p:txBody>
      </p:sp>
      <p:pic>
        <p:nvPicPr>
          <p:cNvPr id="1460" name="Google Shape;146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9475" y="2666350"/>
            <a:ext cx="870652" cy="12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93"/>
          <p:cNvSpPr txBox="1"/>
          <p:nvPr>
            <p:ph idx="1" type="body"/>
          </p:nvPr>
        </p:nvSpPr>
        <p:spPr>
          <a:xfrm>
            <a:off x="7442864" y="3557427"/>
            <a:ext cx="642000" cy="2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900 g</a:t>
            </a:r>
            <a:endParaRPr sz="1800"/>
          </a:p>
        </p:txBody>
      </p:sp>
      <p:sp>
        <p:nvSpPr>
          <p:cNvPr id="1462" name="Google Shape;1462;p93"/>
          <p:cNvSpPr/>
          <p:nvPr/>
        </p:nvSpPr>
        <p:spPr>
          <a:xfrm>
            <a:off x="5509800" y="840550"/>
            <a:ext cx="3264624" cy="2144826"/>
          </a:xfrm>
          <a:prstGeom prst="irregularSeal2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Special Offer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extra free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463" name="Google Shape;1463;p93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3700" y="2027150"/>
            <a:ext cx="126500" cy="4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93"/>
          <p:cNvSpPr txBox="1"/>
          <p:nvPr>
            <p:ph idx="1" type="body"/>
          </p:nvPr>
        </p:nvSpPr>
        <p:spPr>
          <a:xfrm>
            <a:off x="1044775" y="1968700"/>
            <a:ext cx="1367100" cy="5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/>
              <a:t> = 900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frac{1}{5}&quot;&gt;&lt;mn&gt;1&lt;/mn&gt;&lt;mfrac&gt;&lt;mn&gt;1&lt;/mn&gt;&lt;mn&gt;5&lt;/mn&gt;&lt;/mfrac&gt;&lt;/math&gt;" id="1465" name="Google Shape;1465;p93" title="1 and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500" y="1946274"/>
            <a:ext cx="311536" cy="5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93"/>
          <p:cNvSpPr txBox="1"/>
          <p:nvPr>
            <p:ph idx="1" type="body"/>
          </p:nvPr>
        </p:nvSpPr>
        <p:spPr>
          <a:xfrm>
            <a:off x="561525" y="3154700"/>
            <a:ext cx="2906400" cy="5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/>
              <a:t> = 900 ÷     = 750 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6}{5}&quot;&gt;&lt;mfrac&gt;&lt;mn&gt;6&lt;/mn&gt;&lt;mn&gt;5&lt;/mn&gt;&lt;/mfrac&gt;&lt;/math&gt;" id="1467" name="Google Shape;1467;p93" title="six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3620" y="3127288"/>
            <a:ext cx="194975" cy="62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93"/>
          <p:cNvSpPr/>
          <p:nvPr/>
        </p:nvSpPr>
        <p:spPr>
          <a:xfrm>
            <a:off x="2308400" y="3157150"/>
            <a:ext cx="1159500" cy="4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3"/>
          <p:cNvSpPr txBox="1"/>
          <p:nvPr>
            <p:ph idx="1" type="body"/>
          </p:nvPr>
        </p:nvSpPr>
        <p:spPr>
          <a:xfrm>
            <a:off x="324000" y="4340700"/>
            <a:ext cx="36867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normal box weighs 750 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sp>
        <p:nvSpPr>
          <p:cNvPr id="1475" name="Google Shape;1475;p94"/>
          <p:cNvSpPr txBox="1"/>
          <p:nvPr>
            <p:ph idx="1" type="subTitle"/>
          </p:nvPr>
        </p:nvSpPr>
        <p:spPr>
          <a:xfrm>
            <a:off x="337825" y="810000"/>
            <a:ext cx="3222900" cy="15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special offer bag of sweets weighs 320 grams.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heavy is the bag usually?</a:t>
            </a:r>
            <a:endParaRPr/>
          </a:p>
        </p:txBody>
      </p:sp>
      <p:sp>
        <p:nvSpPr>
          <p:cNvPr id="1476" name="Google Shape;1476;p94"/>
          <p:cNvSpPr txBox="1"/>
          <p:nvPr>
            <p:ph idx="2" type="subTitle"/>
          </p:nvPr>
        </p:nvSpPr>
        <p:spPr>
          <a:xfrm>
            <a:off x="5774400" y="810000"/>
            <a:ext cx="3031800" cy="16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special offer bag of sweets weighs 200 grams.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heavy is the bag usually?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94"/>
          <p:cNvSpPr/>
          <p:nvPr/>
        </p:nvSpPr>
        <p:spPr>
          <a:xfrm>
            <a:off x="3432025" y="680650"/>
            <a:ext cx="2290500" cy="1699800"/>
          </a:xfrm>
          <a:prstGeom prst="star32">
            <a:avLst>
              <a:gd fmla="val 37500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Special Offer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extra free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478" name="Google Shape;1478;p94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720" y="1532807"/>
            <a:ext cx="141200" cy="4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94"/>
          <p:cNvSpPr txBox="1"/>
          <p:nvPr>
            <p:ph idx="4294967295" type="body"/>
          </p:nvPr>
        </p:nvSpPr>
        <p:spPr>
          <a:xfrm>
            <a:off x="761250" y="2684175"/>
            <a:ext cx="18471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/>
              <a:t> = 320 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frac{1}{3}\ \frac{4}{3}&quot;&gt;&lt;mn&gt;1&lt;/mn&gt;&lt;mfrac&gt;&lt;mn&gt;1&lt;/mn&gt;&lt;mn&gt;3&lt;/mn&gt;&lt;/mfrac&gt;&lt;mtext&gt;&lt;/mtext&gt;&lt;mfrac&gt;&lt;mn&gt;4&lt;/mn&gt;&lt;mn&gt;3&lt;/mn&gt;&lt;/mfrac&gt;&lt;/math&gt;" id="1480" name="Google Shape;1480;p94" title="1 and one third four thirds"/>
          <p:cNvPicPr preferRelativeResize="0"/>
          <p:nvPr/>
        </p:nvPicPr>
        <p:blipFill rotWithShape="1">
          <a:blip r:embed="rId4">
            <a:alphaModFix/>
          </a:blip>
          <a:srcRect b="0" l="61430" r="0" t="0"/>
          <a:stretch/>
        </p:blipFill>
        <p:spPr>
          <a:xfrm>
            <a:off x="1769025" y="3461950"/>
            <a:ext cx="234075" cy="56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frac{1}{3}\ \frac{4}{3}&quot;&gt;&lt;mn&gt;1&lt;/mn&gt;&lt;mfrac&gt;&lt;mn&gt;1&lt;/mn&gt;&lt;mn&gt;3&lt;/mn&gt;&lt;/mfrac&gt;&lt;mtext&gt;&lt;/mtext&gt;&lt;mfrac&gt;&lt;mn&gt;4&lt;/mn&gt;&lt;mn&gt;3&lt;/mn&gt;&lt;/mfrac&gt;&lt;/math&gt;" id="1481" name="Google Shape;1481;p94" title="1 and one third four thirds"/>
          <p:cNvPicPr preferRelativeResize="0"/>
          <p:nvPr/>
        </p:nvPicPr>
        <p:blipFill rotWithShape="1">
          <a:blip r:embed="rId4">
            <a:alphaModFix/>
          </a:blip>
          <a:srcRect b="0" l="0" r="38961" t="0"/>
          <a:stretch/>
        </p:blipFill>
        <p:spPr>
          <a:xfrm>
            <a:off x="396800" y="2677350"/>
            <a:ext cx="370425" cy="5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94"/>
          <p:cNvSpPr txBox="1"/>
          <p:nvPr>
            <p:ph idx="4294967295" type="body"/>
          </p:nvPr>
        </p:nvSpPr>
        <p:spPr>
          <a:xfrm>
            <a:off x="332925" y="3461950"/>
            <a:ext cx="2906400" cy="5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/>
              <a:t> = 320 ÷     = 240 g</a:t>
            </a:r>
            <a:endParaRPr/>
          </a:p>
        </p:txBody>
      </p:sp>
      <p:sp>
        <p:nvSpPr>
          <p:cNvPr id="1483" name="Google Shape;1483;p94"/>
          <p:cNvSpPr txBox="1"/>
          <p:nvPr>
            <p:ph idx="4294967295" type="body"/>
          </p:nvPr>
        </p:nvSpPr>
        <p:spPr>
          <a:xfrm>
            <a:off x="6202725" y="2725600"/>
            <a:ext cx="18471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/>
              <a:t> = 200 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frac{1}{3}\ \frac{4}{3}&quot;&gt;&lt;mn&gt;1&lt;/mn&gt;&lt;mfrac&gt;&lt;mn&gt;1&lt;/mn&gt;&lt;mn&gt;3&lt;/mn&gt;&lt;/mfrac&gt;&lt;mtext&gt;&lt;/mtext&gt;&lt;mfrac&gt;&lt;mn&gt;4&lt;/mn&gt;&lt;mn&gt;3&lt;/mn&gt;&lt;/mfrac&gt;&lt;/math&gt;" id="1484" name="Google Shape;1484;p94" title="1 and one third four thirds"/>
          <p:cNvPicPr preferRelativeResize="0"/>
          <p:nvPr/>
        </p:nvPicPr>
        <p:blipFill rotWithShape="1">
          <a:blip r:embed="rId4">
            <a:alphaModFix/>
          </a:blip>
          <a:srcRect b="0" l="61430" r="0" t="0"/>
          <a:stretch/>
        </p:blipFill>
        <p:spPr>
          <a:xfrm>
            <a:off x="7210500" y="3503375"/>
            <a:ext cx="234075" cy="56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frac{1}{3}\ \frac{4}{3}&quot;&gt;&lt;mn&gt;1&lt;/mn&gt;&lt;mfrac&gt;&lt;mn&gt;1&lt;/mn&gt;&lt;mn&gt;3&lt;/mn&gt;&lt;/mfrac&gt;&lt;mtext&gt;&lt;/mtext&gt;&lt;mfrac&gt;&lt;mn&gt;4&lt;/mn&gt;&lt;mn&gt;3&lt;/mn&gt;&lt;/mfrac&gt;&lt;/math&gt;" id="1485" name="Google Shape;1485;p94" title="1 and one third four thirds"/>
          <p:cNvPicPr preferRelativeResize="0"/>
          <p:nvPr/>
        </p:nvPicPr>
        <p:blipFill rotWithShape="1">
          <a:blip r:embed="rId4">
            <a:alphaModFix/>
          </a:blip>
          <a:srcRect b="0" l="0" r="38961" t="0"/>
          <a:stretch/>
        </p:blipFill>
        <p:spPr>
          <a:xfrm>
            <a:off x="5838275" y="2718775"/>
            <a:ext cx="370425" cy="5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94"/>
          <p:cNvSpPr txBox="1"/>
          <p:nvPr>
            <p:ph idx="4294967295" type="body"/>
          </p:nvPr>
        </p:nvSpPr>
        <p:spPr>
          <a:xfrm>
            <a:off x="5774400" y="3503375"/>
            <a:ext cx="2906400" cy="5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r>
              <a:rPr i="1" lang="en-GB" sz="3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/>
              <a:t> = 200 ÷    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150 g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95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Jun gives £195 of his sponsorship money to his favourite charity; this is three-quarters of the total.  How much money did Jun raise in total?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A shop has a sale saving you one-third.  Laura buys a t-shirt for £28.  How much was it at full price?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Alex improves his score on a computer game by two-sevenths.  His improved score is </a:t>
            </a:r>
            <a:r>
              <a:rPr lang="en-GB" sz="1900"/>
              <a:t>3204</a:t>
            </a:r>
            <a:r>
              <a:rPr lang="en-GB" sz="1900"/>
              <a:t>.  What was his previous score?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        of </a:t>
            </a:r>
            <a:r>
              <a:rPr lang="en-GB" sz="1900">
                <a:solidFill>
                  <a:schemeClr val="lt1"/>
                </a:solidFill>
              </a:rPr>
              <a:t>60</a:t>
            </a:r>
            <a:r>
              <a:rPr lang="en-GB" sz="1900"/>
              <a:t> =       of 140.4		</a:t>
            </a:r>
            <a:endParaRPr sz="19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900"/>
              <a:t>   of </a:t>
            </a:r>
            <a:r>
              <a:rPr lang="en-GB" sz="1900">
                <a:solidFill>
                  <a:schemeClr val="lt1"/>
                </a:solidFill>
              </a:rPr>
              <a:t>33</a:t>
            </a:r>
            <a:r>
              <a:rPr i="1"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/>
              <a:t> =       of 8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			</a:t>
            </a:r>
            <a:endParaRPr sz="1700"/>
          </a:p>
        </p:txBody>
      </p:sp>
      <p:sp>
        <p:nvSpPr>
          <p:cNvPr id="1492" name="Google Shape;1492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1493" name="Google Shape;1493;p95" title="1 three tenths five ninths"/>
          <p:cNvPicPr preferRelativeResize="0"/>
          <p:nvPr/>
        </p:nvPicPr>
        <p:blipFill rotWithShape="1">
          <a:blip r:embed="rId3">
            <a:alphaModFix/>
          </a:blip>
          <a:srcRect b="0" l="67720" r="0" t="0"/>
          <a:stretch/>
        </p:blipFill>
        <p:spPr>
          <a:xfrm>
            <a:off x="2123899" y="3697550"/>
            <a:ext cx="221300" cy="47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1494" name="Google Shape;1494;p95" title="1 three tenths five ninths"/>
          <p:cNvPicPr preferRelativeResize="0"/>
          <p:nvPr/>
        </p:nvPicPr>
        <p:blipFill rotWithShape="1">
          <a:blip r:embed="rId3">
            <a:alphaModFix/>
          </a:blip>
          <a:srcRect b="0" l="0" r="26680" t="0"/>
          <a:stretch/>
        </p:blipFill>
        <p:spPr>
          <a:xfrm>
            <a:off x="750950" y="3714980"/>
            <a:ext cx="502650" cy="47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3}{4}\ &quot;&gt;&lt;mn&gt;2&lt;/mn&gt;&lt;mtext&gt;&lt;/mtext&gt;&lt;mfrac&gt;&lt;mn&gt;3&lt;/mn&gt;&lt;mn&gt;4&lt;/mn&gt;&lt;/mfrac&gt;&lt;mtext&gt;&lt;/mtext&gt;&lt;/math&gt;" id="1495" name="Google Shape;1495;p95" title="2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9242" y="4276285"/>
            <a:ext cx="383133" cy="535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496" name="Google Shape;1496;p95" title="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175" y="4304321"/>
            <a:ext cx="153368" cy="507563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95"/>
          <p:cNvSpPr/>
          <p:nvPr/>
        </p:nvSpPr>
        <p:spPr>
          <a:xfrm>
            <a:off x="1605550" y="3783963"/>
            <a:ext cx="323700" cy="337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5"/>
          <p:cNvSpPr/>
          <p:nvPr/>
        </p:nvSpPr>
        <p:spPr>
          <a:xfrm>
            <a:off x="1301700" y="4374047"/>
            <a:ext cx="383100" cy="368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5"/>
          <p:cNvSpPr txBox="1"/>
          <p:nvPr/>
        </p:nvSpPr>
        <p:spPr>
          <a:xfrm>
            <a:off x="3924825" y="3812775"/>
            <a:ext cx="45603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number is the square covering?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term is the square covering?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96"/>
          <p:cNvSpPr txBox="1"/>
          <p:nvPr>
            <p:ph idx="1" type="body"/>
          </p:nvPr>
        </p:nvSpPr>
        <p:spPr>
          <a:xfrm>
            <a:off x="324000" y="683100"/>
            <a:ext cx="83835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Jun gives £195 of his sponsorship money to his favourite charity; this is three-quarters of the total.  How much money did Jun raise in total?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	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£260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A shop has a sale saving you one-third.  Laura buys a t-shirt for £28.  How much was it at full price?	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£42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Alex improves his score on a computer game by two-sevenths.  His improved score is 3204.  What was his previous score?	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2492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        of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900"/>
              <a:t> =       of 140.4		</a:t>
            </a:r>
            <a:endParaRPr sz="19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900"/>
              <a:t>   of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33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/>
              <a:t> =       of 8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			</a:t>
            </a:r>
            <a:endParaRPr sz="1700"/>
          </a:p>
        </p:txBody>
      </p:sp>
      <p:sp>
        <p:nvSpPr>
          <p:cNvPr id="1505" name="Google Shape;1505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original amount using division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1506" name="Google Shape;1506;p96" title="1 three tenths five ninths"/>
          <p:cNvPicPr preferRelativeResize="0"/>
          <p:nvPr/>
        </p:nvPicPr>
        <p:blipFill rotWithShape="1">
          <a:blip r:embed="rId3">
            <a:alphaModFix/>
          </a:blip>
          <a:srcRect b="0" l="67720" r="0" t="0"/>
          <a:stretch/>
        </p:blipFill>
        <p:spPr>
          <a:xfrm>
            <a:off x="2149549" y="3688050"/>
            <a:ext cx="221300" cy="47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1507" name="Google Shape;1507;p96" title="1 three tenths five ninths"/>
          <p:cNvPicPr preferRelativeResize="0"/>
          <p:nvPr/>
        </p:nvPicPr>
        <p:blipFill rotWithShape="1">
          <a:blip r:embed="rId3">
            <a:alphaModFix/>
          </a:blip>
          <a:srcRect b="0" l="0" r="26680" t="0"/>
          <a:stretch/>
        </p:blipFill>
        <p:spPr>
          <a:xfrm>
            <a:off x="727500" y="3752455"/>
            <a:ext cx="502650" cy="47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3}{4}\ &quot;&gt;&lt;mn&gt;2&lt;/mn&gt;&lt;mtext&gt;&lt;/mtext&gt;&lt;mfrac&gt;&lt;mn&gt;3&lt;/mn&gt;&lt;mn&gt;4&lt;/mn&gt;&lt;/mfrac&gt;&lt;mtext&gt;&lt;/mtext&gt;&lt;/math&gt;" id="1508" name="Google Shape;1508;p96" title="2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7717" y="4284810"/>
            <a:ext cx="383133" cy="535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09" name="Google Shape;1509;p96" title="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500" y="4298821"/>
            <a:ext cx="153368" cy="5075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96"/>
          <p:cNvSpPr txBox="1"/>
          <p:nvPr/>
        </p:nvSpPr>
        <p:spPr>
          <a:xfrm>
            <a:off x="3924825" y="3812775"/>
            <a:ext cx="45603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number is the square covering?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term is the square covering?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97"/>
          <p:cNvSpPr txBox="1"/>
          <p:nvPr>
            <p:ph idx="1" type="body"/>
          </p:nvPr>
        </p:nvSpPr>
        <p:spPr>
          <a:xfrm>
            <a:off x="324000" y="699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Bar models can be used to find the original amount in fraction problems.  E.g.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Double number lines can be used to </a:t>
            </a:r>
            <a:r>
              <a:rPr lang="en-GB" sz="1900"/>
              <a:t>find the original amount in fraction problems.  E.g.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Division can be used to find the original amount in fraction problems.  E.g.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16" name="Google Shape;1516;p97"/>
          <p:cNvSpPr txBox="1"/>
          <p:nvPr>
            <p:ph type="title"/>
          </p:nvPr>
        </p:nvSpPr>
        <p:spPr>
          <a:xfrm>
            <a:off x="1684800" y="157525"/>
            <a:ext cx="6753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pic>
        <p:nvPicPr>
          <p:cNvPr id="1517" name="Google Shape;151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200" y="996273"/>
            <a:ext cx="1862100" cy="8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5175" y="2226299"/>
            <a:ext cx="2259926" cy="14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675" y="3951650"/>
            <a:ext cx="1708352" cy="8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9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25" name="Google Shape;1525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