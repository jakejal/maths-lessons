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AB87FB-4203-400A-8C5F-031EF609735D}">
  <a:tblStyle styleId="{D2AB87FB-4203-400A-8C5F-031EF60973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2" Type="http://schemas.openxmlformats.org/officeDocument/2006/relationships/slide" Target="slides/slide27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63c0a9b40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63c0a9b40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9fb887c29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9fb887c29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9fb887c29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9fb887c29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9fb887c29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9fb887c29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9fb887c29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9fb887c29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9fb887c29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9fb887c29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9fb887c29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9fb887c29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a6e284015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a6e284015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a6e284015b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2a6e284015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2a3c38b449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2a3c38b449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a6e284015b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a6e284015b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2a6e284015b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2a6e284015b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a3c38b449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a3c38b449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9fb887c29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9fb887c29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29fb887c29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9fb887c29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9fb887c29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9fb887c29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9fb887c29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29fb887c29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29fb887c29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29fb887c29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a3c38b4493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a3c38b4493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a3c38b4493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2a3c38b4493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a3c38b4493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a3c38b4493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a3c38b4493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2a3c38b4493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59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9.png"/><Relationship Id="rId4" Type="http://schemas.openxmlformats.org/officeDocument/2006/relationships/image" Target="../media/image24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9.png"/><Relationship Id="rId4" Type="http://schemas.openxmlformats.org/officeDocument/2006/relationships/image" Target="../media/image31.png"/><Relationship Id="rId11" Type="http://schemas.openxmlformats.org/officeDocument/2006/relationships/image" Target="../media/image20.png"/><Relationship Id="rId10" Type="http://schemas.openxmlformats.org/officeDocument/2006/relationships/image" Target="../media/image39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Relationship Id="rId5" Type="http://schemas.openxmlformats.org/officeDocument/2006/relationships/image" Target="../media/image5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the whole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determine the whole, given one part and the ratio.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/>
        </p:nvSpPr>
        <p:spPr>
          <a:xfrm>
            <a:off x="383151" y="1872400"/>
            <a:ext cx="822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ratio shows the relative sizes of 2 or more values and allows you to compare a part with another part in a whole.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6"/>
          <p:cNvSpPr txBox="1"/>
          <p:nvPr/>
        </p:nvSpPr>
        <p:spPr>
          <a:xfrm>
            <a:off x="383150" y="836400"/>
            <a:ext cx="7767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Variables are in proportion if they have a constant multiplicative relationship.</a:t>
            </a:r>
            <a:r>
              <a:rPr lang="en-GB" sz="2200">
                <a:solidFill>
                  <a:srgbClr val="282828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ratio tables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the whole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4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324000" y="606900"/>
            <a:ext cx="82689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Lucas is making some necklaces.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He will use black and white beads in the ratio 4 : 1 </a:t>
            </a:r>
            <a:endParaRPr sz="2000"/>
          </a:p>
        </p:txBody>
      </p:sp>
      <p:sp>
        <p:nvSpPr>
          <p:cNvPr id="786" name="Google Shape;786;p68"/>
          <p:cNvSpPr txBox="1"/>
          <p:nvPr/>
        </p:nvSpPr>
        <p:spPr>
          <a:xfrm>
            <a:off x="7871150" y="26781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8"/>
          <p:cNvSpPr txBox="1"/>
          <p:nvPr/>
        </p:nvSpPr>
        <p:spPr>
          <a:xfrm>
            <a:off x="376050" y="2525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8" name="Google Shape;788;p68"/>
          <p:cNvGrpSpPr/>
          <p:nvPr/>
        </p:nvGrpSpPr>
        <p:grpSpPr>
          <a:xfrm>
            <a:off x="1220251" y="1266275"/>
            <a:ext cx="2778399" cy="916400"/>
            <a:chOff x="5646298" y="2325182"/>
            <a:chExt cx="2778399" cy="1780455"/>
          </a:xfrm>
        </p:grpSpPr>
        <p:pic>
          <p:nvPicPr>
            <p:cNvPr id="789" name="Google Shape;789;p68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5646298" y="2325182"/>
              <a:ext cx="2778399" cy="17804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0" name="Google Shape;790;p68"/>
            <p:cNvSpPr txBox="1"/>
            <p:nvPr/>
          </p:nvSpPr>
          <p:spPr>
            <a:xfrm>
              <a:off x="5844225" y="2427475"/>
              <a:ext cx="2496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 am going to use 4 white beads.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1" name="Google Shape;791;p68"/>
          <p:cNvGrpSpPr/>
          <p:nvPr/>
        </p:nvGrpSpPr>
        <p:grpSpPr>
          <a:xfrm>
            <a:off x="4956069" y="1364206"/>
            <a:ext cx="3224032" cy="916473"/>
            <a:chOff x="853318" y="2425555"/>
            <a:chExt cx="3224032" cy="1574425"/>
          </a:xfrm>
        </p:grpSpPr>
        <p:pic>
          <p:nvPicPr>
            <p:cNvPr id="792" name="Google Shape;792;p68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853318" y="2425555"/>
              <a:ext cx="3056123" cy="1574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3" name="Google Shape;793;p68"/>
            <p:cNvSpPr txBox="1"/>
            <p:nvPr/>
          </p:nvSpPr>
          <p:spPr>
            <a:xfrm>
              <a:off x="1002650" y="2497330"/>
              <a:ext cx="3074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How many beads will be on each necklace?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94" name="Google Shape;794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046" y="1572987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002136" y="1411193"/>
            <a:ext cx="623346" cy="11770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6" name="Google Shape;796;p68"/>
          <p:cNvGraphicFramePr/>
          <p:nvPr/>
        </p:nvGraphicFramePr>
        <p:xfrm>
          <a:off x="1227588" y="335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694600"/>
                <a:gridCol w="694600"/>
                <a:gridCol w="694600"/>
                <a:gridCol w="694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7" name="Google Shape;797;p68"/>
          <p:cNvSpPr txBox="1"/>
          <p:nvPr>
            <p:ph idx="1" type="body"/>
          </p:nvPr>
        </p:nvSpPr>
        <p:spPr>
          <a:xfrm>
            <a:off x="324000" y="2892900"/>
            <a:ext cx="5521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Let’s draw a bar model to represent this.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798" name="Google Shape;798;p68"/>
          <p:cNvSpPr txBox="1"/>
          <p:nvPr/>
        </p:nvSpPr>
        <p:spPr>
          <a:xfrm>
            <a:off x="414107" y="3396900"/>
            <a:ext cx="662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Black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8"/>
          <p:cNvSpPr txBox="1"/>
          <p:nvPr/>
        </p:nvSpPr>
        <p:spPr>
          <a:xfrm>
            <a:off x="414107" y="3897300"/>
            <a:ext cx="662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White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00" name="Google Shape;800;p68"/>
          <p:cNvGraphicFramePr/>
          <p:nvPr/>
        </p:nvGraphicFramePr>
        <p:xfrm>
          <a:off x="1227588" y="386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694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1" name="Google Shape;801;p68"/>
          <p:cNvSpPr/>
          <p:nvPr/>
        </p:nvSpPr>
        <p:spPr>
          <a:xfrm rot="-5400000">
            <a:off x="1526850" y="4006375"/>
            <a:ext cx="90000" cy="68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8"/>
          <p:cNvSpPr txBox="1"/>
          <p:nvPr/>
        </p:nvSpPr>
        <p:spPr>
          <a:xfrm>
            <a:off x="1499605" y="4452350"/>
            <a:ext cx="15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8"/>
          <p:cNvSpPr txBox="1"/>
          <p:nvPr>
            <p:ph idx="1" type="body"/>
          </p:nvPr>
        </p:nvSpPr>
        <p:spPr>
          <a:xfrm>
            <a:off x="5594290" y="3009900"/>
            <a:ext cx="31218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Each part of the bar model represents an equal part</a:t>
            </a:r>
            <a:r>
              <a:rPr lang="en-GB" sz="2000"/>
              <a:t>. </a:t>
            </a:r>
            <a:endParaRPr sz="2000"/>
          </a:p>
        </p:txBody>
      </p:sp>
      <p:sp>
        <p:nvSpPr>
          <p:cNvPr id="804" name="Google Shape;804;p68"/>
          <p:cNvSpPr txBox="1"/>
          <p:nvPr>
            <p:ph idx="1" type="body"/>
          </p:nvPr>
        </p:nvSpPr>
        <p:spPr>
          <a:xfrm>
            <a:off x="5594299" y="4106850"/>
            <a:ext cx="28638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means 4 needs to go in all parts.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05" name="Google Shape;805;p68"/>
          <p:cNvGrpSpPr/>
          <p:nvPr/>
        </p:nvGrpSpPr>
        <p:grpSpPr>
          <a:xfrm>
            <a:off x="1496555" y="3380406"/>
            <a:ext cx="2272875" cy="850325"/>
            <a:chOff x="1496555" y="3380406"/>
            <a:chExt cx="2272875" cy="850325"/>
          </a:xfrm>
        </p:grpSpPr>
        <p:sp>
          <p:nvSpPr>
            <p:cNvPr id="806" name="Google Shape;806;p68"/>
            <p:cNvSpPr txBox="1"/>
            <p:nvPr/>
          </p:nvSpPr>
          <p:spPr>
            <a:xfrm>
              <a:off x="1496555" y="3917231"/>
              <a:ext cx="1506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7" name="Google Shape;807;p68"/>
            <p:cNvSpPr txBox="1"/>
            <p:nvPr/>
          </p:nvSpPr>
          <p:spPr>
            <a:xfrm>
              <a:off x="1499605" y="3380406"/>
              <a:ext cx="1506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8" name="Google Shape;808;p68"/>
            <p:cNvSpPr txBox="1"/>
            <p:nvPr/>
          </p:nvSpPr>
          <p:spPr>
            <a:xfrm>
              <a:off x="2216705" y="3380406"/>
              <a:ext cx="1506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9" name="Google Shape;809;p68"/>
            <p:cNvSpPr txBox="1"/>
            <p:nvPr/>
          </p:nvSpPr>
          <p:spPr>
            <a:xfrm>
              <a:off x="2901730" y="3380406"/>
              <a:ext cx="1506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0" name="Google Shape;810;p68"/>
            <p:cNvSpPr txBox="1"/>
            <p:nvPr/>
          </p:nvSpPr>
          <p:spPr>
            <a:xfrm>
              <a:off x="3618830" y="3380406"/>
              <a:ext cx="1506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1" name="Google Shape;811;p68"/>
          <p:cNvSpPr/>
          <p:nvPr/>
        </p:nvSpPr>
        <p:spPr>
          <a:xfrm rot="10800000">
            <a:off x="4083325" y="3342963"/>
            <a:ext cx="92100" cy="925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8"/>
          <p:cNvSpPr txBox="1"/>
          <p:nvPr/>
        </p:nvSpPr>
        <p:spPr>
          <a:xfrm>
            <a:off x="4252744" y="3613975"/>
            <a:ext cx="1648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4 = 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idx="1" type="body"/>
          </p:nvPr>
        </p:nvSpPr>
        <p:spPr>
          <a:xfrm>
            <a:off x="5594290" y="3020250"/>
            <a:ext cx="31218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Do you need to find the total number of black beads</a:t>
            </a:r>
            <a:r>
              <a:rPr lang="en-GB" sz="2000"/>
              <a:t>? </a:t>
            </a:r>
            <a:endParaRPr sz="2000"/>
          </a:p>
        </p:txBody>
      </p:sp>
      <p:sp>
        <p:nvSpPr>
          <p:cNvPr id="814" name="Google Shape;814;p68"/>
          <p:cNvSpPr txBox="1"/>
          <p:nvPr>
            <p:ph idx="1" type="body"/>
          </p:nvPr>
        </p:nvSpPr>
        <p:spPr>
          <a:xfrm>
            <a:off x="5594299" y="4106850"/>
            <a:ext cx="28638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whole necklace is 5 parts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5" name="Google Shape;815;p68"/>
          <p:cNvSpPr txBox="1"/>
          <p:nvPr>
            <p:ph idx="1" type="body"/>
          </p:nvPr>
        </p:nvSpPr>
        <p:spPr>
          <a:xfrm>
            <a:off x="5594299" y="4122225"/>
            <a:ext cx="28638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necklace will have a total of 20 beads.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  <p:sp>
        <p:nvSpPr>
          <p:cNvPr id="821" name="Google Shape;821;p69"/>
          <p:cNvSpPr txBox="1"/>
          <p:nvPr>
            <p:ph idx="1" type="body"/>
          </p:nvPr>
        </p:nvSpPr>
        <p:spPr>
          <a:xfrm>
            <a:off x="324000" y="606900"/>
            <a:ext cx="7230900" cy="159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/>
              <a:t>bunch</a:t>
            </a:r>
            <a:r>
              <a:rPr lang="en-GB"/>
              <a:t> of flowers contains red and yellow flowers in the ratio 3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9 red flowers.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flowers are in the bunch?  </a:t>
            </a:r>
            <a:endParaRPr/>
          </a:p>
        </p:txBody>
      </p:sp>
      <p:pic>
        <p:nvPicPr>
          <p:cNvPr id="822" name="Google Shape;82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8400" y="1121398"/>
            <a:ext cx="887698" cy="103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7382" y="759300"/>
            <a:ext cx="918767" cy="1065238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9"/>
          <p:cNvSpPr txBox="1"/>
          <p:nvPr/>
        </p:nvSpPr>
        <p:spPr>
          <a:xfrm>
            <a:off x="353075" y="3314500"/>
            <a:ext cx="11490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Red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9"/>
          <p:cNvSpPr txBox="1"/>
          <p:nvPr/>
        </p:nvSpPr>
        <p:spPr>
          <a:xfrm>
            <a:off x="324000" y="3916500"/>
            <a:ext cx="8877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Yellow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26" name="Google Shape;826;p69"/>
          <p:cNvGraphicFramePr/>
          <p:nvPr/>
        </p:nvGraphicFramePr>
        <p:xfrm>
          <a:off x="1714500" y="331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926125"/>
                <a:gridCol w="926125"/>
                <a:gridCol w="926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7" name="Google Shape;827;p69"/>
          <p:cNvGraphicFramePr/>
          <p:nvPr/>
        </p:nvGraphicFramePr>
        <p:xfrm>
          <a:off x="1714500" y="391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926125"/>
                <a:gridCol w="926125"/>
                <a:gridCol w="926125"/>
                <a:gridCol w="926125"/>
                <a:gridCol w="926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8" name="Google Shape;828;p69"/>
          <p:cNvSpPr/>
          <p:nvPr/>
        </p:nvSpPr>
        <p:spPr>
          <a:xfrm rot="10800000">
            <a:off x="6385750" y="3098287"/>
            <a:ext cx="199800" cy="1210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9"/>
          <p:cNvSpPr txBox="1"/>
          <p:nvPr/>
        </p:nvSpPr>
        <p:spPr>
          <a:xfrm>
            <a:off x="6762000" y="3504750"/>
            <a:ext cx="1648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 × 8 = 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9"/>
          <p:cNvSpPr txBox="1"/>
          <p:nvPr/>
        </p:nvSpPr>
        <p:spPr>
          <a:xfrm>
            <a:off x="2997125" y="2658050"/>
            <a:ext cx="14079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 ÷ 3 = 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69"/>
          <p:cNvSpPr/>
          <p:nvPr/>
        </p:nvSpPr>
        <p:spPr>
          <a:xfrm rot="5400000">
            <a:off x="3004900" y="1735650"/>
            <a:ext cx="199800" cy="278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2" name="Google Shape;832;p69"/>
          <p:cNvGrpSpPr/>
          <p:nvPr/>
        </p:nvGrpSpPr>
        <p:grpSpPr>
          <a:xfrm>
            <a:off x="2108112" y="3360494"/>
            <a:ext cx="2029244" cy="358500"/>
            <a:chOff x="2108112" y="2903294"/>
            <a:chExt cx="2029244" cy="358500"/>
          </a:xfrm>
        </p:grpSpPr>
        <p:sp>
          <p:nvSpPr>
            <p:cNvPr id="833" name="Google Shape;833;p69"/>
            <p:cNvSpPr txBox="1"/>
            <p:nvPr/>
          </p:nvSpPr>
          <p:spPr>
            <a:xfrm>
              <a:off x="2108112" y="2903294"/>
              <a:ext cx="1998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4" name="Google Shape;834;p69"/>
            <p:cNvSpPr txBox="1"/>
            <p:nvPr/>
          </p:nvSpPr>
          <p:spPr>
            <a:xfrm>
              <a:off x="3004912" y="2903294"/>
              <a:ext cx="1998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5" name="Google Shape;835;p69"/>
            <p:cNvSpPr txBox="1"/>
            <p:nvPr/>
          </p:nvSpPr>
          <p:spPr>
            <a:xfrm>
              <a:off x="3937556" y="2903294"/>
              <a:ext cx="1998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6" name="Google Shape;836;p69"/>
          <p:cNvGrpSpPr/>
          <p:nvPr/>
        </p:nvGrpSpPr>
        <p:grpSpPr>
          <a:xfrm>
            <a:off x="2108112" y="3933213"/>
            <a:ext cx="3894544" cy="387750"/>
            <a:chOff x="2108112" y="3476013"/>
            <a:chExt cx="3894544" cy="387750"/>
          </a:xfrm>
        </p:grpSpPr>
        <p:sp>
          <p:nvSpPr>
            <p:cNvPr id="837" name="Google Shape;837;p69"/>
            <p:cNvSpPr txBox="1"/>
            <p:nvPr/>
          </p:nvSpPr>
          <p:spPr>
            <a:xfrm>
              <a:off x="2108112" y="3505263"/>
              <a:ext cx="1998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8" name="Google Shape;838;p69"/>
            <p:cNvSpPr txBox="1"/>
            <p:nvPr/>
          </p:nvSpPr>
          <p:spPr>
            <a:xfrm>
              <a:off x="3004912" y="3505263"/>
              <a:ext cx="1998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9" name="Google Shape;839;p69"/>
            <p:cNvSpPr txBox="1"/>
            <p:nvPr/>
          </p:nvSpPr>
          <p:spPr>
            <a:xfrm>
              <a:off x="3937556" y="3476013"/>
              <a:ext cx="1998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0" name="Google Shape;840;p69"/>
            <p:cNvSpPr txBox="1"/>
            <p:nvPr/>
          </p:nvSpPr>
          <p:spPr>
            <a:xfrm>
              <a:off x="4870206" y="3476013"/>
              <a:ext cx="1998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1" name="Google Shape;841;p69"/>
            <p:cNvSpPr txBox="1"/>
            <p:nvPr/>
          </p:nvSpPr>
          <p:spPr>
            <a:xfrm>
              <a:off x="5802856" y="3476013"/>
              <a:ext cx="1998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2" name="Google Shape;842;p69"/>
          <p:cNvSpPr/>
          <p:nvPr/>
        </p:nvSpPr>
        <p:spPr>
          <a:xfrm>
            <a:off x="3236394" y="2649769"/>
            <a:ext cx="1083600" cy="33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  <p:sp>
        <p:nvSpPr>
          <p:cNvPr id="848" name="Google Shape;848;p70"/>
          <p:cNvSpPr txBox="1"/>
          <p:nvPr>
            <p:ph idx="1" type="body"/>
          </p:nvPr>
        </p:nvSpPr>
        <p:spPr>
          <a:xfrm>
            <a:off x="324000" y="649050"/>
            <a:ext cx="849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ratio of flour to butter to sugar in a cookie recipe is 3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2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use 45g of flour.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heavy will the cookie be?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49" name="Google Shape;849;p70"/>
          <p:cNvSpPr txBox="1"/>
          <p:nvPr/>
        </p:nvSpPr>
        <p:spPr>
          <a:xfrm>
            <a:off x="414100" y="2973156"/>
            <a:ext cx="785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Flour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0"/>
          <p:cNvSpPr txBox="1"/>
          <p:nvPr/>
        </p:nvSpPr>
        <p:spPr>
          <a:xfrm>
            <a:off x="414100" y="3604356"/>
            <a:ext cx="995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Butter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0"/>
          <p:cNvSpPr txBox="1"/>
          <p:nvPr/>
        </p:nvSpPr>
        <p:spPr>
          <a:xfrm>
            <a:off x="414100" y="4235556"/>
            <a:ext cx="995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Suga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52" name="Google Shape;852;p70"/>
          <p:cNvGraphicFramePr/>
          <p:nvPr/>
        </p:nvGraphicFramePr>
        <p:xfrm>
          <a:off x="1409700" y="29379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805700"/>
                <a:gridCol w="805700"/>
                <a:gridCol w="805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3" name="Google Shape;853;p70"/>
          <p:cNvGraphicFramePr/>
          <p:nvPr/>
        </p:nvGraphicFramePr>
        <p:xfrm>
          <a:off x="1409700" y="356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805700"/>
                <a:gridCol w="805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4" name="Google Shape;854;p70"/>
          <p:cNvGraphicFramePr/>
          <p:nvPr/>
        </p:nvGraphicFramePr>
        <p:xfrm>
          <a:off x="1409700" y="4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805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5" name="Google Shape;855;p70"/>
          <p:cNvSpPr txBox="1"/>
          <p:nvPr/>
        </p:nvSpPr>
        <p:spPr>
          <a:xfrm>
            <a:off x="2335494" y="2277050"/>
            <a:ext cx="2104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45 g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÷ 3 = 15 g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0"/>
          <p:cNvSpPr/>
          <p:nvPr/>
        </p:nvSpPr>
        <p:spPr>
          <a:xfrm rot="5400000">
            <a:off x="2514350" y="1540500"/>
            <a:ext cx="199800" cy="2408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0"/>
          <p:cNvSpPr txBox="1"/>
          <p:nvPr/>
        </p:nvSpPr>
        <p:spPr>
          <a:xfrm>
            <a:off x="1537452" y="2950650"/>
            <a:ext cx="5913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 g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0"/>
          <p:cNvSpPr txBox="1"/>
          <p:nvPr/>
        </p:nvSpPr>
        <p:spPr>
          <a:xfrm>
            <a:off x="2348484" y="2950650"/>
            <a:ext cx="5913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 g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0"/>
          <p:cNvSpPr txBox="1"/>
          <p:nvPr/>
        </p:nvSpPr>
        <p:spPr>
          <a:xfrm>
            <a:off x="3154555" y="2950650"/>
            <a:ext cx="5913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 g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0"/>
          <p:cNvSpPr txBox="1"/>
          <p:nvPr/>
        </p:nvSpPr>
        <p:spPr>
          <a:xfrm>
            <a:off x="1537452" y="3581620"/>
            <a:ext cx="5913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 g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0"/>
          <p:cNvSpPr txBox="1"/>
          <p:nvPr/>
        </p:nvSpPr>
        <p:spPr>
          <a:xfrm>
            <a:off x="2348484" y="3581620"/>
            <a:ext cx="5913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 g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0"/>
          <p:cNvSpPr txBox="1"/>
          <p:nvPr/>
        </p:nvSpPr>
        <p:spPr>
          <a:xfrm>
            <a:off x="1537452" y="4224675"/>
            <a:ext cx="5913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 g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0"/>
          <p:cNvSpPr/>
          <p:nvPr/>
        </p:nvSpPr>
        <p:spPr>
          <a:xfrm rot="10800000">
            <a:off x="4084925" y="2916158"/>
            <a:ext cx="199800" cy="1701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0"/>
          <p:cNvSpPr txBox="1"/>
          <p:nvPr/>
        </p:nvSpPr>
        <p:spPr>
          <a:xfrm>
            <a:off x="4440300" y="3600750"/>
            <a:ext cx="2014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15 g = 90 g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0"/>
          <p:cNvSpPr txBox="1"/>
          <p:nvPr/>
        </p:nvSpPr>
        <p:spPr>
          <a:xfrm>
            <a:off x="4440300" y="4287450"/>
            <a:ext cx="39447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cookie will weigh 90 g.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6" name="Google Shape;866;p70"/>
          <p:cNvSpPr/>
          <p:nvPr/>
        </p:nvSpPr>
        <p:spPr>
          <a:xfrm>
            <a:off x="3021102" y="2270175"/>
            <a:ext cx="1374300" cy="33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  <p:sp>
        <p:nvSpPr>
          <p:cNvPr id="872" name="Google Shape;872;p71"/>
          <p:cNvSpPr txBox="1"/>
          <p:nvPr>
            <p:ph idx="1" type="body"/>
          </p:nvPr>
        </p:nvSpPr>
        <p:spPr>
          <a:xfrm>
            <a:off x="324000" y="606900"/>
            <a:ext cx="8237700" cy="18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Spot the mistake.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ratio of red to blue cars in a car park is 5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30 blue cars.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red and blue cars are there in </a:t>
            </a:r>
            <a:r>
              <a:rPr lang="en-GB">
                <a:solidFill>
                  <a:schemeClr val="accent4"/>
                </a:solidFill>
              </a:rPr>
              <a:t>total</a:t>
            </a:r>
            <a:r>
              <a:rPr lang="en-GB"/>
              <a:t>? </a:t>
            </a:r>
            <a:endParaRPr/>
          </a:p>
        </p:txBody>
      </p:sp>
      <p:pic>
        <p:nvPicPr>
          <p:cNvPr id="873" name="Google Shape;87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07451" y="1486521"/>
            <a:ext cx="1582873" cy="74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237122" y="716945"/>
            <a:ext cx="1582873" cy="7496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5" name="Google Shape;875;p71"/>
          <p:cNvGraphicFramePr/>
          <p:nvPr/>
        </p:nvGraphicFramePr>
        <p:xfrm>
          <a:off x="1227588" y="313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555675"/>
                <a:gridCol w="555675"/>
                <a:gridCol w="555675"/>
                <a:gridCol w="555675"/>
                <a:gridCol w="555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0" marR="91425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0" marR="91425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0" marR="91425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0" marR="91425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0" marR="91425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6" name="Google Shape;876;p71"/>
          <p:cNvSpPr txBox="1"/>
          <p:nvPr/>
        </p:nvSpPr>
        <p:spPr>
          <a:xfrm>
            <a:off x="414107" y="3168300"/>
            <a:ext cx="662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Red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1"/>
          <p:cNvSpPr txBox="1"/>
          <p:nvPr/>
        </p:nvSpPr>
        <p:spPr>
          <a:xfrm>
            <a:off x="414107" y="3668700"/>
            <a:ext cx="662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Blue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78" name="Google Shape;878;p71"/>
          <p:cNvGraphicFramePr/>
          <p:nvPr/>
        </p:nvGraphicFramePr>
        <p:xfrm>
          <a:off x="1227588" y="363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555675"/>
                <a:gridCol w="555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9" name="Google Shape;879;p71"/>
          <p:cNvSpPr txBox="1"/>
          <p:nvPr/>
        </p:nvSpPr>
        <p:spPr>
          <a:xfrm>
            <a:off x="2185375" y="2547350"/>
            <a:ext cx="1321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 ÷ 5 = 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1"/>
          <p:cNvSpPr txBox="1"/>
          <p:nvPr/>
        </p:nvSpPr>
        <p:spPr>
          <a:xfrm>
            <a:off x="1420355" y="3688631"/>
            <a:ext cx="15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1"/>
          <p:cNvSpPr txBox="1"/>
          <p:nvPr/>
        </p:nvSpPr>
        <p:spPr>
          <a:xfrm>
            <a:off x="1423405" y="3151806"/>
            <a:ext cx="15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1"/>
          <p:cNvSpPr txBox="1"/>
          <p:nvPr/>
        </p:nvSpPr>
        <p:spPr>
          <a:xfrm>
            <a:off x="1980626" y="3151806"/>
            <a:ext cx="15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1"/>
          <p:cNvSpPr txBox="1"/>
          <p:nvPr/>
        </p:nvSpPr>
        <p:spPr>
          <a:xfrm>
            <a:off x="2537846" y="3151806"/>
            <a:ext cx="15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1"/>
          <p:cNvSpPr txBox="1"/>
          <p:nvPr/>
        </p:nvSpPr>
        <p:spPr>
          <a:xfrm>
            <a:off x="3652287" y="3151806"/>
            <a:ext cx="15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1"/>
          <p:cNvSpPr/>
          <p:nvPr/>
        </p:nvSpPr>
        <p:spPr>
          <a:xfrm rot="10800000">
            <a:off x="4048268" y="3131250"/>
            <a:ext cx="92100" cy="929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1"/>
          <p:cNvSpPr txBox="1"/>
          <p:nvPr/>
        </p:nvSpPr>
        <p:spPr>
          <a:xfrm>
            <a:off x="4252744" y="3537775"/>
            <a:ext cx="1648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6 = 42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1"/>
          <p:cNvSpPr/>
          <p:nvPr/>
        </p:nvSpPr>
        <p:spPr>
          <a:xfrm rot="5400000">
            <a:off x="2514100" y="1590750"/>
            <a:ext cx="199800" cy="2765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1"/>
          <p:cNvSpPr txBox="1"/>
          <p:nvPr/>
        </p:nvSpPr>
        <p:spPr>
          <a:xfrm>
            <a:off x="3095066" y="3151806"/>
            <a:ext cx="15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1"/>
          <p:cNvSpPr txBox="1"/>
          <p:nvPr/>
        </p:nvSpPr>
        <p:spPr>
          <a:xfrm>
            <a:off x="1980626" y="3685206"/>
            <a:ext cx="15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1"/>
          <p:cNvSpPr txBox="1"/>
          <p:nvPr/>
        </p:nvSpPr>
        <p:spPr>
          <a:xfrm>
            <a:off x="324025" y="4189400"/>
            <a:ext cx="8118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30 has been put in the wrong place, it was the number of blue cars not the number of red cars.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2"/>
          <p:cNvSpPr txBox="1"/>
          <p:nvPr/>
        </p:nvSpPr>
        <p:spPr>
          <a:xfrm>
            <a:off x="4681200" y="4428250"/>
            <a:ext cx="31956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bag contains 77 sweets.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896" name="Google Shape;896;p72"/>
          <p:cNvGraphicFramePr/>
          <p:nvPr/>
        </p:nvGraphicFramePr>
        <p:xfrm>
          <a:off x="1037404" y="305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13050"/>
                <a:gridCol w="313050"/>
                <a:gridCol w="313050"/>
                <a:gridCol w="313050"/>
                <a:gridCol w="313050"/>
                <a:gridCol w="313050"/>
                <a:gridCol w="31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7" name="Google Shape;897;p72"/>
          <p:cNvGraphicFramePr/>
          <p:nvPr/>
        </p:nvGraphicFramePr>
        <p:xfrm>
          <a:off x="1037407" y="3535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13050"/>
                <a:gridCol w="313050"/>
                <a:gridCol w="313050"/>
                <a:gridCol w="313050"/>
                <a:gridCol w="31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8" name="Google Shape;898;p72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  <p:sp>
        <p:nvSpPr>
          <p:cNvPr id="899" name="Google Shape;899;p72"/>
          <p:cNvSpPr txBox="1"/>
          <p:nvPr>
            <p:ph idx="1" type="subTitle"/>
          </p:nvPr>
        </p:nvSpPr>
        <p:spPr>
          <a:xfrm>
            <a:off x="337825" y="810000"/>
            <a:ext cx="3982200" cy="16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and Aisha share a packet of sweets in the ratio 7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Aisha has 30 sweets.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</a:t>
            </a:r>
            <a:r>
              <a:rPr lang="en-GB"/>
              <a:t>many</a:t>
            </a:r>
            <a:r>
              <a:rPr lang="en-GB"/>
              <a:t> sweets were in the bag?</a:t>
            </a:r>
            <a:endParaRPr/>
          </a:p>
        </p:txBody>
      </p:sp>
      <p:sp>
        <p:nvSpPr>
          <p:cNvPr id="900" name="Google Shape;900;p72"/>
          <p:cNvSpPr txBox="1"/>
          <p:nvPr>
            <p:ph idx="2" type="subTitle"/>
          </p:nvPr>
        </p:nvSpPr>
        <p:spPr>
          <a:xfrm>
            <a:off x="4824000" y="810000"/>
            <a:ext cx="3982200" cy="17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Lucas and Aisha share a packet of sweets in the ratio 4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Lucas has 28 sweets.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many sweets were in the bag?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72"/>
          <p:cNvSpPr txBox="1"/>
          <p:nvPr/>
        </p:nvSpPr>
        <p:spPr>
          <a:xfrm>
            <a:off x="349991" y="3092100"/>
            <a:ext cx="662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2"/>
          <p:cNvSpPr txBox="1"/>
          <p:nvPr/>
        </p:nvSpPr>
        <p:spPr>
          <a:xfrm>
            <a:off x="349991" y="3592500"/>
            <a:ext cx="662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2"/>
          <p:cNvSpPr/>
          <p:nvPr/>
        </p:nvSpPr>
        <p:spPr>
          <a:xfrm rot="-5400000">
            <a:off x="1773748" y="3264475"/>
            <a:ext cx="90000" cy="1562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2"/>
          <p:cNvSpPr txBox="1"/>
          <p:nvPr/>
        </p:nvSpPr>
        <p:spPr>
          <a:xfrm>
            <a:off x="1690451" y="4147550"/>
            <a:ext cx="1052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÷ 5 = 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2"/>
          <p:cNvSpPr/>
          <p:nvPr/>
        </p:nvSpPr>
        <p:spPr>
          <a:xfrm rot="10800000">
            <a:off x="3274825" y="3055225"/>
            <a:ext cx="92100" cy="877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2"/>
          <p:cNvSpPr txBox="1"/>
          <p:nvPr/>
        </p:nvSpPr>
        <p:spPr>
          <a:xfrm>
            <a:off x="3410206" y="3385375"/>
            <a:ext cx="11190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× 6 = 72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07" name="Google Shape;907;p72"/>
          <p:cNvGraphicFramePr/>
          <p:nvPr/>
        </p:nvGraphicFramePr>
        <p:xfrm>
          <a:off x="1037404" y="305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13050"/>
                <a:gridCol w="313050"/>
                <a:gridCol w="313050"/>
                <a:gridCol w="313050"/>
                <a:gridCol w="313050"/>
                <a:gridCol w="313050"/>
                <a:gridCol w="31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08" name="Google Shape;908;p72"/>
          <p:cNvGraphicFramePr/>
          <p:nvPr/>
        </p:nvGraphicFramePr>
        <p:xfrm>
          <a:off x="1037407" y="3535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13050"/>
                <a:gridCol w="313050"/>
                <a:gridCol w="313050"/>
                <a:gridCol w="313050"/>
                <a:gridCol w="31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9" name="Google Shape;909;p72"/>
          <p:cNvSpPr/>
          <p:nvPr/>
        </p:nvSpPr>
        <p:spPr>
          <a:xfrm>
            <a:off x="1976050" y="4175075"/>
            <a:ext cx="1052400" cy="33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2"/>
          <p:cNvSpPr txBox="1"/>
          <p:nvPr/>
        </p:nvSpPr>
        <p:spPr>
          <a:xfrm>
            <a:off x="337800" y="4504450"/>
            <a:ext cx="31956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bag contains 72 sweets.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1" name="Google Shape;911;p72"/>
          <p:cNvGraphicFramePr/>
          <p:nvPr/>
        </p:nvGraphicFramePr>
        <p:xfrm>
          <a:off x="5279300" y="3605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13050"/>
                <a:gridCol w="313050"/>
                <a:gridCol w="313050"/>
                <a:gridCol w="313050"/>
                <a:gridCol w="313050"/>
                <a:gridCol w="313050"/>
                <a:gridCol w="31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2" name="Google Shape;912;p72"/>
          <p:cNvSpPr txBox="1"/>
          <p:nvPr/>
        </p:nvSpPr>
        <p:spPr>
          <a:xfrm>
            <a:off x="4617191" y="3168300"/>
            <a:ext cx="662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3" name="Google Shape;913;p72"/>
          <p:cNvSpPr txBox="1"/>
          <p:nvPr/>
        </p:nvSpPr>
        <p:spPr>
          <a:xfrm>
            <a:off x="4617191" y="3668700"/>
            <a:ext cx="662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4" name="Google Shape;914;p72"/>
          <p:cNvSpPr txBox="1"/>
          <p:nvPr/>
        </p:nvSpPr>
        <p:spPr>
          <a:xfrm>
            <a:off x="5341654" y="2516525"/>
            <a:ext cx="1512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÷ 4 = 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5" name="Google Shape;915;p72"/>
          <p:cNvSpPr/>
          <p:nvPr/>
        </p:nvSpPr>
        <p:spPr>
          <a:xfrm rot="10800000">
            <a:off x="7542025" y="3131425"/>
            <a:ext cx="92100" cy="877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72"/>
          <p:cNvSpPr txBox="1"/>
          <p:nvPr/>
        </p:nvSpPr>
        <p:spPr>
          <a:xfrm>
            <a:off x="7677400" y="3351925"/>
            <a:ext cx="11190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7 = 77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17" name="Google Shape;917;p72"/>
          <p:cNvGraphicFramePr/>
          <p:nvPr/>
        </p:nvGraphicFramePr>
        <p:xfrm>
          <a:off x="5279300" y="3605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13050"/>
                <a:gridCol w="313050"/>
                <a:gridCol w="313050"/>
                <a:gridCol w="313050"/>
                <a:gridCol w="313050"/>
                <a:gridCol w="313050"/>
                <a:gridCol w="31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8" name="Google Shape;918;p72"/>
          <p:cNvGraphicFramePr/>
          <p:nvPr/>
        </p:nvGraphicFramePr>
        <p:xfrm>
          <a:off x="5279300" y="313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13050"/>
                <a:gridCol w="313050"/>
                <a:gridCol w="313050"/>
                <a:gridCol w="31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9" name="Google Shape;919;p72"/>
          <p:cNvSpPr/>
          <p:nvPr/>
        </p:nvSpPr>
        <p:spPr>
          <a:xfrm rot="5400000">
            <a:off x="5810700" y="2320950"/>
            <a:ext cx="199800" cy="1262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20" name="Google Shape;920;p72"/>
          <p:cNvGraphicFramePr/>
          <p:nvPr/>
        </p:nvGraphicFramePr>
        <p:xfrm>
          <a:off x="5279300" y="313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13050"/>
                <a:gridCol w="313050"/>
                <a:gridCol w="313050"/>
                <a:gridCol w="31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73"/>
          <p:cNvSpPr txBox="1"/>
          <p:nvPr>
            <p:ph idx="1" type="body"/>
          </p:nvPr>
        </p:nvSpPr>
        <p:spPr>
          <a:xfrm>
            <a:off x="324000" y="606900"/>
            <a:ext cx="82377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a bar model to find the total amount.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  <p:graphicFrame>
        <p:nvGraphicFramePr>
          <p:cNvPr id="927" name="Google Shape;927;p73"/>
          <p:cNvGraphicFramePr/>
          <p:nvPr/>
        </p:nvGraphicFramePr>
        <p:xfrm>
          <a:off x="892425" y="205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912175"/>
                <a:gridCol w="912175"/>
                <a:gridCol w="912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8" name="Google Shape;928;p73"/>
          <p:cNvGraphicFramePr/>
          <p:nvPr/>
        </p:nvGraphicFramePr>
        <p:xfrm>
          <a:off x="892425" y="156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912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9" name="Google Shape;929;p73"/>
          <p:cNvSpPr/>
          <p:nvPr/>
        </p:nvSpPr>
        <p:spPr>
          <a:xfrm rot="5400000">
            <a:off x="1294350" y="965525"/>
            <a:ext cx="124800" cy="928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3"/>
          <p:cNvSpPr txBox="1"/>
          <p:nvPr/>
        </p:nvSpPr>
        <p:spPr>
          <a:xfrm>
            <a:off x="1126525" y="925225"/>
            <a:ext cx="317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3"/>
          <p:cNvSpPr/>
          <p:nvPr/>
        </p:nvSpPr>
        <p:spPr>
          <a:xfrm rot="10800000">
            <a:off x="3700900" y="15800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3"/>
          <p:cNvSpPr txBox="1"/>
          <p:nvPr/>
        </p:nvSpPr>
        <p:spPr>
          <a:xfrm>
            <a:off x="3853325" y="1776825"/>
            <a:ext cx="317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3" name="Google Shape;933;p73"/>
          <p:cNvGraphicFramePr/>
          <p:nvPr/>
        </p:nvGraphicFramePr>
        <p:xfrm>
          <a:off x="952500" y="314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338225"/>
                <a:gridCol w="1338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4" name="Google Shape;934;p73"/>
          <p:cNvGraphicFramePr/>
          <p:nvPr/>
        </p:nvGraphicFramePr>
        <p:xfrm>
          <a:off x="952500" y="367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338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5" name="Google Shape;935;p73"/>
          <p:cNvSpPr/>
          <p:nvPr/>
        </p:nvSpPr>
        <p:spPr>
          <a:xfrm rot="5400000">
            <a:off x="2231850" y="1704575"/>
            <a:ext cx="124800" cy="2650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3"/>
          <p:cNvSpPr txBox="1"/>
          <p:nvPr/>
        </p:nvSpPr>
        <p:spPr>
          <a:xfrm>
            <a:off x="2040925" y="252141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3"/>
          <p:cNvSpPr/>
          <p:nvPr/>
        </p:nvSpPr>
        <p:spPr>
          <a:xfrm rot="10800000">
            <a:off x="3777100" y="31802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3"/>
          <p:cNvSpPr txBox="1"/>
          <p:nvPr/>
        </p:nvSpPr>
        <p:spPr>
          <a:xfrm>
            <a:off x="3929525" y="3377025"/>
            <a:ext cx="317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9" name="Google Shape;939;p73"/>
          <p:cNvGraphicFramePr/>
          <p:nvPr/>
        </p:nvGraphicFramePr>
        <p:xfrm>
          <a:off x="5097300" y="1577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86775"/>
                <a:gridCol w="386775"/>
                <a:gridCol w="386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0" name="Google Shape;940;p73"/>
          <p:cNvGraphicFramePr/>
          <p:nvPr/>
        </p:nvGraphicFramePr>
        <p:xfrm>
          <a:off x="5097300" y="21113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86775"/>
                <a:gridCol w="386775"/>
                <a:gridCol w="386775"/>
                <a:gridCol w="386775"/>
                <a:gridCol w="386775"/>
                <a:gridCol w="386775"/>
                <a:gridCol w="386775"/>
                <a:gridCol w="386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1" name="Google Shape;941;p73"/>
          <p:cNvSpPr/>
          <p:nvPr/>
        </p:nvSpPr>
        <p:spPr>
          <a:xfrm rot="-5400000">
            <a:off x="6608700" y="1070326"/>
            <a:ext cx="90000" cy="3112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3"/>
          <p:cNvSpPr/>
          <p:nvPr/>
        </p:nvSpPr>
        <p:spPr>
          <a:xfrm rot="10800000">
            <a:off x="8349100" y="15800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3"/>
          <p:cNvSpPr txBox="1"/>
          <p:nvPr/>
        </p:nvSpPr>
        <p:spPr>
          <a:xfrm>
            <a:off x="8501525" y="1776825"/>
            <a:ext cx="317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3"/>
          <p:cNvSpPr/>
          <p:nvPr/>
        </p:nvSpPr>
        <p:spPr>
          <a:xfrm rot="10800000">
            <a:off x="8425300" y="3189375"/>
            <a:ext cx="92100" cy="943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3"/>
          <p:cNvSpPr txBox="1"/>
          <p:nvPr/>
        </p:nvSpPr>
        <p:spPr>
          <a:xfrm>
            <a:off x="8577725" y="3377025"/>
            <a:ext cx="317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3"/>
          <p:cNvSpPr txBox="1"/>
          <p:nvPr/>
        </p:nvSpPr>
        <p:spPr>
          <a:xfrm>
            <a:off x="6460525" y="259761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47" name="Google Shape;947;p73"/>
          <p:cNvGraphicFramePr/>
          <p:nvPr/>
        </p:nvGraphicFramePr>
        <p:xfrm>
          <a:off x="5097250" y="3739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618850"/>
                <a:gridCol w="618850"/>
                <a:gridCol w="618850"/>
                <a:gridCol w="618850"/>
                <a:gridCol w="618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8" name="Google Shape;948;p73"/>
          <p:cNvGraphicFramePr/>
          <p:nvPr/>
        </p:nvGraphicFramePr>
        <p:xfrm>
          <a:off x="5098556" y="3251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618850"/>
                <a:gridCol w="618850"/>
                <a:gridCol w="618850"/>
                <a:gridCol w="618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9" name="Google Shape;949;p73"/>
          <p:cNvSpPr/>
          <p:nvPr/>
        </p:nvSpPr>
        <p:spPr>
          <a:xfrm rot="-5400000">
            <a:off x="6606474" y="2738425"/>
            <a:ext cx="90000" cy="3066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3"/>
          <p:cNvSpPr txBox="1"/>
          <p:nvPr/>
        </p:nvSpPr>
        <p:spPr>
          <a:xfrm>
            <a:off x="6405362" y="4242459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3"/>
          <p:cNvSpPr txBox="1"/>
          <p:nvPr/>
        </p:nvSpPr>
        <p:spPr>
          <a:xfrm>
            <a:off x="4500350" y="1118202"/>
            <a:ext cx="5550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74"/>
          <p:cNvSpPr txBox="1"/>
          <p:nvPr>
            <p:ph idx="1" type="body"/>
          </p:nvPr>
        </p:nvSpPr>
        <p:spPr>
          <a:xfrm>
            <a:off x="324000" y="606900"/>
            <a:ext cx="82377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a bar model to find the total amount.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  <p:graphicFrame>
        <p:nvGraphicFramePr>
          <p:cNvPr id="958" name="Google Shape;958;p74"/>
          <p:cNvGraphicFramePr/>
          <p:nvPr/>
        </p:nvGraphicFramePr>
        <p:xfrm>
          <a:off x="892425" y="205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547300"/>
                <a:gridCol w="547300"/>
                <a:gridCol w="547300"/>
                <a:gridCol w="547300"/>
                <a:gridCol w="547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9" name="Google Shape;959;p74"/>
          <p:cNvSpPr txBox="1"/>
          <p:nvPr/>
        </p:nvSpPr>
        <p:spPr>
          <a:xfrm>
            <a:off x="2040925" y="252542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4"/>
          <p:cNvSpPr/>
          <p:nvPr/>
        </p:nvSpPr>
        <p:spPr>
          <a:xfrm rot="10800000">
            <a:off x="3700900" y="15800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4"/>
          <p:cNvSpPr txBox="1"/>
          <p:nvPr/>
        </p:nvSpPr>
        <p:spPr>
          <a:xfrm>
            <a:off x="3853325" y="1776825"/>
            <a:ext cx="317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2" name="Google Shape;962;p74"/>
          <p:cNvGraphicFramePr/>
          <p:nvPr/>
        </p:nvGraphicFramePr>
        <p:xfrm>
          <a:off x="952500" y="35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82350"/>
                <a:gridCol w="382350"/>
                <a:gridCol w="382350"/>
                <a:gridCol w="382350"/>
                <a:gridCol w="382350"/>
                <a:gridCol w="382350"/>
                <a:gridCol w="382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3" name="Google Shape;963;p74"/>
          <p:cNvSpPr/>
          <p:nvPr/>
        </p:nvSpPr>
        <p:spPr>
          <a:xfrm rot="5400000">
            <a:off x="2231850" y="2085575"/>
            <a:ext cx="124800" cy="2650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4"/>
          <p:cNvSpPr txBox="1"/>
          <p:nvPr/>
        </p:nvSpPr>
        <p:spPr>
          <a:xfrm>
            <a:off x="2040925" y="290241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4"/>
          <p:cNvSpPr/>
          <p:nvPr/>
        </p:nvSpPr>
        <p:spPr>
          <a:xfrm rot="10800000">
            <a:off x="3777100" y="35612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4"/>
          <p:cNvSpPr txBox="1"/>
          <p:nvPr/>
        </p:nvSpPr>
        <p:spPr>
          <a:xfrm>
            <a:off x="3929525" y="3758025"/>
            <a:ext cx="317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7" name="Google Shape;967;p74"/>
          <p:cNvGraphicFramePr/>
          <p:nvPr/>
        </p:nvGraphicFramePr>
        <p:xfrm>
          <a:off x="5097300" y="20351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43800"/>
                <a:gridCol w="343800"/>
                <a:gridCol w="343800"/>
                <a:gridCol w="343800"/>
                <a:gridCol w="343800"/>
                <a:gridCol w="343800"/>
                <a:gridCol w="343800"/>
                <a:gridCol w="343800"/>
                <a:gridCol w="34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8" name="Google Shape;968;p74"/>
          <p:cNvSpPr/>
          <p:nvPr/>
        </p:nvSpPr>
        <p:spPr>
          <a:xfrm rot="10800000">
            <a:off x="8349100" y="15800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4"/>
          <p:cNvSpPr txBox="1"/>
          <p:nvPr/>
        </p:nvSpPr>
        <p:spPr>
          <a:xfrm>
            <a:off x="8501525" y="1776825"/>
            <a:ext cx="317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4"/>
          <p:cNvSpPr/>
          <p:nvPr/>
        </p:nvSpPr>
        <p:spPr>
          <a:xfrm rot="10800000">
            <a:off x="8425300" y="3189375"/>
            <a:ext cx="92100" cy="943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4"/>
          <p:cNvSpPr txBox="1"/>
          <p:nvPr/>
        </p:nvSpPr>
        <p:spPr>
          <a:xfrm>
            <a:off x="8577725" y="3377025"/>
            <a:ext cx="317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4"/>
          <p:cNvSpPr txBox="1"/>
          <p:nvPr/>
        </p:nvSpPr>
        <p:spPr>
          <a:xfrm>
            <a:off x="5199251" y="963288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3" name="Google Shape;973;p74"/>
          <p:cNvGraphicFramePr/>
          <p:nvPr/>
        </p:nvGraphicFramePr>
        <p:xfrm>
          <a:off x="5107768" y="3739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442025"/>
                <a:gridCol w="442025"/>
                <a:gridCol w="442025"/>
                <a:gridCol w="442025"/>
                <a:gridCol w="442025"/>
                <a:gridCol w="442025"/>
                <a:gridCol w="442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4" name="Google Shape;974;p74"/>
          <p:cNvSpPr/>
          <p:nvPr/>
        </p:nvSpPr>
        <p:spPr>
          <a:xfrm rot="-5400000">
            <a:off x="6613974" y="2730925"/>
            <a:ext cx="90000" cy="3081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4"/>
          <p:cNvSpPr txBox="1"/>
          <p:nvPr/>
        </p:nvSpPr>
        <p:spPr>
          <a:xfrm>
            <a:off x="6329147" y="4242450"/>
            <a:ext cx="687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4"/>
          <p:cNvSpPr txBox="1"/>
          <p:nvPr/>
        </p:nvSpPr>
        <p:spPr>
          <a:xfrm>
            <a:off x="4500350" y="1118202"/>
            <a:ext cx="5550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7" name="Google Shape;977;p74"/>
          <p:cNvGraphicFramePr/>
          <p:nvPr/>
        </p:nvGraphicFramePr>
        <p:xfrm>
          <a:off x="892425" y="1566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547300"/>
                <a:gridCol w="547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8" name="Google Shape;978;p74"/>
          <p:cNvSpPr/>
          <p:nvPr/>
        </p:nvSpPr>
        <p:spPr>
          <a:xfrm rot="-5400000">
            <a:off x="2229075" y="1217625"/>
            <a:ext cx="90000" cy="2763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9" name="Google Shape;979;p74"/>
          <p:cNvGraphicFramePr/>
          <p:nvPr/>
        </p:nvGraphicFramePr>
        <p:xfrm>
          <a:off x="952500" y="4026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82350"/>
                <a:gridCol w="382350"/>
                <a:gridCol w="382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80" name="Google Shape;980;p74"/>
          <p:cNvGraphicFramePr/>
          <p:nvPr/>
        </p:nvGraphicFramePr>
        <p:xfrm>
          <a:off x="5097300" y="1577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43800"/>
                <a:gridCol w="34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1" name="Google Shape;981;p74"/>
          <p:cNvSpPr/>
          <p:nvPr/>
        </p:nvSpPr>
        <p:spPr>
          <a:xfrm rot="5400000">
            <a:off x="5387000" y="1087125"/>
            <a:ext cx="124800" cy="662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2" name="Google Shape;982;p74"/>
          <p:cNvGraphicFramePr/>
          <p:nvPr/>
        </p:nvGraphicFramePr>
        <p:xfrm>
          <a:off x="5107768" y="32404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442025"/>
                <a:gridCol w="442025"/>
                <a:gridCol w="442025"/>
                <a:gridCol w="442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75"/>
          <p:cNvSpPr txBox="1"/>
          <p:nvPr>
            <p:ph idx="1" type="body"/>
          </p:nvPr>
        </p:nvSpPr>
        <p:spPr>
          <a:xfrm>
            <a:off x="324000" y="759300"/>
            <a:ext cx="8352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 Use a bar model to answer the following: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Andeep, Sam and Sofia share some sweets in the ratio 3 : 8 : 5 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Sam gets 32, how many sweets are there in total?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The lengths of the sides of a triangle are in the ratio of 7 : 6 : 4  The shortest length is 28 cm, what is the perimeter of the triangle?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The ratio of flour to butter to sugar in a cookie recipe is 3 : 2 : 1  You use 135 grams of flour, how heavy will the cookie be?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88" name="Google Shape;988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a bar model to find the total amount.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  <p:graphicFrame>
        <p:nvGraphicFramePr>
          <p:cNvPr id="995" name="Google Shape;995;p76"/>
          <p:cNvGraphicFramePr/>
          <p:nvPr/>
        </p:nvGraphicFramePr>
        <p:xfrm>
          <a:off x="892425" y="205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912175"/>
                <a:gridCol w="912175"/>
                <a:gridCol w="912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96" name="Google Shape;996;p76"/>
          <p:cNvGraphicFramePr/>
          <p:nvPr/>
        </p:nvGraphicFramePr>
        <p:xfrm>
          <a:off x="892425" y="156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912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7" name="Google Shape;997;p76"/>
          <p:cNvSpPr/>
          <p:nvPr/>
        </p:nvSpPr>
        <p:spPr>
          <a:xfrm rot="5400000">
            <a:off x="1294350" y="965525"/>
            <a:ext cx="124800" cy="928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6"/>
          <p:cNvSpPr txBox="1"/>
          <p:nvPr/>
        </p:nvSpPr>
        <p:spPr>
          <a:xfrm>
            <a:off x="1126525" y="925225"/>
            <a:ext cx="317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6"/>
          <p:cNvSpPr/>
          <p:nvPr/>
        </p:nvSpPr>
        <p:spPr>
          <a:xfrm rot="10800000">
            <a:off x="3700900" y="15800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6"/>
          <p:cNvSpPr txBox="1"/>
          <p:nvPr/>
        </p:nvSpPr>
        <p:spPr>
          <a:xfrm>
            <a:off x="3853325" y="1776825"/>
            <a:ext cx="59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01" name="Google Shape;1001;p76"/>
          <p:cNvGraphicFramePr/>
          <p:nvPr/>
        </p:nvGraphicFramePr>
        <p:xfrm>
          <a:off x="952500" y="314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338225"/>
                <a:gridCol w="1338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2" name="Google Shape;1002;p76"/>
          <p:cNvGraphicFramePr/>
          <p:nvPr/>
        </p:nvGraphicFramePr>
        <p:xfrm>
          <a:off x="952500" y="367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338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3" name="Google Shape;1003;p76"/>
          <p:cNvSpPr/>
          <p:nvPr/>
        </p:nvSpPr>
        <p:spPr>
          <a:xfrm rot="5400000">
            <a:off x="2231850" y="1704575"/>
            <a:ext cx="124800" cy="2650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6"/>
          <p:cNvSpPr txBox="1"/>
          <p:nvPr/>
        </p:nvSpPr>
        <p:spPr>
          <a:xfrm>
            <a:off x="2040925" y="252141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6"/>
          <p:cNvSpPr/>
          <p:nvPr/>
        </p:nvSpPr>
        <p:spPr>
          <a:xfrm rot="10800000">
            <a:off x="3777100" y="31802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6"/>
          <p:cNvSpPr txBox="1"/>
          <p:nvPr/>
        </p:nvSpPr>
        <p:spPr>
          <a:xfrm>
            <a:off x="3929525" y="3377025"/>
            <a:ext cx="5550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07" name="Google Shape;1007;p76"/>
          <p:cNvGraphicFramePr/>
          <p:nvPr/>
        </p:nvGraphicFramePr>
        <p:xfrm>
          <a:off x="4944900" y="1577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86775"/>
                <a:gridCol w="386775"/>
                <a:gridCol w="386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8" name="Google Shape;1008;p76"/>
          <p:cNvGraphicFramePr/>
          <p:nvPr/>
        </p:nvGraphicFramePr>
        <p:xfrm>
          <a:off x="4944900" y="21113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86775"/>
                <a:gridCol w="386775"/>
                <a:gridCol w="386775"/>
                <a:gridCol w="386775"/>
                <a:gridCol w="386775"/>
                <a:gridCol w="386775"/>
                <a:gridCol w="386775"/>
                <a:gridCol w="386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9" name="Google Shape;1009;p76"/>
          <p:cNvSpPr/>
          <p:nvPr/>
        </p:nvSpPr>
        <p:spPr>
          <a:xfrm rot="-5400000">
            <a:off x="6456300" y="1070326"/>
            <a:ext cx="90000" cy="3112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6"/>
          <p:cNvSpPr/>
          <p:nvPr/>
        </p:nvSpPr>
        <p:spPr>
          <a:xfrm rot="10800000">
            <a:off x="8120500" y="15800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6"/>
          <p:cNvSpPr txBox="1"/>
          <p:nvPr/>
        </p:nvSpPr>
        <p:spPr>
          <a:xfrm>
            <a:off x="8228225" y="1776825"/>
            <a:ext cx="5919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2" name="Google Shape;1012;p76"/>
          <p:cNvSpPr/>
          <p:nvPr/>
        </p:nvSpPr>
        <p:spPr>
          <a:xfrm rot="10800000">
            <a:off x="8120500" y="3189375"/>
            <a:ext cx="92100" cy="943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6"/>
          <p:cNvSpPr txBox="1"/>
          <p:nvPr/>
        </p:nvSpPr>
        <p:spPr>
          <a:xfrm>
            <a:off x="8307725" y="3377025"/>
            <a:ext cx="5919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4" name="Google Shape;1014;p76"/>
          <p:cNvSpPr txBox="1"/>
          <p:nvPr/>
        </p:nvSpPr>
        <p:spPr>
          <a:xfrm>
            <a:off x="6308125" y="259761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5" name="Google Shape;1015;p76"/>
          <p:cNvGraphicFramePr/>
          <p:nvPr/>
        </p:nvGraphicFramePr>
        <p:xfrm>
          <a:off x="4944850" y="3739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618850"/>
                <a:gridCol w="618850"/>
                <a:gridCol w="618850"/>
                <a:gridCol w="618850"/>
                <a:gridCol w="618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6" name="Google Shape;1016;p76"/>
          <p:cNvGraphicFramePr/>
          <p:nvPr/>
        </p:nvGraphicFramePr>
        <p:xfrm>
          <a:off x="4946156" y="3251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618850"/>
                <a:gridCol w="618850"/>
                <a:gridCol w="618850"/>
                <a:gridCol w="618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7" name="Google Shape;1017;p76"/>
          <p:cNvSpPr/>
          <p:nvPr/>
        </p:nvSpPr>
        <p:spPr>
          <a:xfrm rot="-5400000">
            <a:off x="6454074" y="2738425"/>
            <a:ext cx="90000" cy="3066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6"/>
          <p:cNvSpPr txBox="1"/>
          <p:nvPr/>
        </p:nvSpPr>
        <p:spPr>
          <a:xfrm>
            <a:off x="6252962" y="4242459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6"/>
          <p:cNvSpPr txBox="1"/>
          <p:nvPr/>
        </p:nvSpPr>
        <p:spPr>
          <a:xfrm>
            <a:off x="4347950" y="1118202"/>
            <a:ext cx="5550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a bar model to find the total amount.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  <p:graphicFrame>
        <p:nvGraphicFramePr>
          <p:cNvPr id="1026" name="Google Shape;1026;p77"/>
          <p:cNvGraphicFramePr/>
          <p:nvPr/>
        </p:nvGraphicFramePr>
        <p:xfrm>
          <a:off x="892425" y="205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547300"/>
                <a:gridCol w="547300"/>
                <a:gridCol w="547300"/>
                <a:gridCol w="547300"/>
                <a:gridCol w="547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7" name="Google Shape;1027;p77"/>
          <p:cNvSpPr txBox="1"/>
          <p:nvPr/>
        </p:nvSpPr>
        <p:spPr>
          <a:xfrm>
            <a:off x="2040925" y="252542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7"/>
          <p:cNvSpPr/>
          <p:nvPr/>
        </p:nvSpPr>
        <p:spPr>
          <a:xfrm rot="10800000">
            <a:off x="3700900" y="15800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7"/>
          <p:cNvSpPr txBox="1"/>
          <p:nvPr/>
        </p:nvSpPr>
        <p:spPr>
          <a:xfrm>
            <a:off x="3853325" y="1776825"/>
            <a:ext cx="5550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30" name="Google Shape;1030;p77"/>
          <p:cNvGraphicFramePr/>
          <p:nvPr/>
        </p:nvGraphicFramePr>
        <p:xfrm>
          <a:off x="952500" y="35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82350"/>
                <a:gridCol w="382350"/>
                <a:gridCol w="382350"/>
                <a:gridCol w="382350"/>
                <a:gridCol w="382350"/>
                <a:gridCol w="382350"/>
                <a:gridCol w="382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1" name="Google Shape;1031;p77"/>
          <p:cNvSpPr/>
          <p:nvPr/>
        </p:nvSpPr>
        <p:spPr>
          <a:xfrm rot="5400000">
            <a:off x="2231850" y="2085575"/>
            <a:ext cx="124800" cy="2650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7"/>
          <p:cNvSpPr txBox="1"/>
          <p:nvPr/>
        </p:nvSpPr>
        <p:spPr>
          <a:xfrm>
            <a:off x="2040925" y="290241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7"/>
          <p:cNvSpPr/>
          <p:nvPr/>
        </p:nvSpPr>
        <p:spPr>
          <a:xfrm rot="10800000">
            <a:off x="3777100" y="35612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7"/>
          <p:cNvSpPr txBox="1"/>
          <p:nvPr/>
        </p:nvSpPr>
        <p:spPr>
          <a:xfrm>
            <a:off x="3929525" y="3681825"/>
            <a:ext cx="6621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35" name="Google Shape;1035;p77"/>
          <p:cNvGraphicFramePr/>
          <p:nvPr/>
        </p:nvGraphicFramePr>
        <p:xfrm>
          <a:off x="5021100" y="20351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43800"/>
                <a:gridCol w="343800"/>
                <a:gridCol w="343800"/>
                <a:gridCol w="343800"/>
                <a:gridCol w="343800"/>
                <a:gridCol w="343800"/>
                <a:gridCol w="343800"/>
                <a:gridCol w="343800"/>
                <a:gridCol w="34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6" name="Google Shape;1036;p77"/>
          <p:cNvSpPr/>
          <p:nvPr/>
        </p:nvSpPr>
        <p:spPr>
          <a:xfrm rot="10800000">
            <a:off x="8178234" y="1580026"/>
            <a:ext cx="92100" cy="86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7"/>
          <p:cNvSpPr txBox="1"/>
          <p:nvPr/>
        </p:nvSpPr>
        <p:spPr>
          <a:xfrm>
            <a:off x="8220333" y="1776825"/>
            <a:ext cx="7794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528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8" name="Google Shape;1038;p77"/>
          <p:cNvSpPr/>
          <p:nvPr/>
        </p:nvSpPr>
        <p:spPr>
          <a:xfrm rot="10800000">
            <a:off x="8196700" y="3189375"/>
            <a:ext cx="92100" cy="943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7"/>
          <p:cNvSpPr txBox="1"/>
          <p:nvPr/>
        </p:nvSpPr>
        <p:spPr>
          <a:xfrm>
            <a:off x="8231223" y="3377025"/>
            <a:ext cx="7794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0" name="Google Shape;1040;p77"/>
          <p:cNvSpPr txBox="1"/>
          <p:nvPr/>
        </p:nvSpPr>
        <p:spPr>
          <a:xfrm>
            <a:off x="5123051" y="963288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1" name="Google Shape;1041;p77"/>
          <p:cNvGraphicFramePr/>
          <p:nvPr/>
        </p:nvGraphicFramePr>
        <p:xfrm>
          <a:off x="5031568" y="3739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442025"/>
                <a:gridCol w="442025"/>
                <a:gridCol w="442025"/>
                <a:gridCol w="442025"/>
                <a:gridCol w="442025"/>
                <a:gridCol w="442025"/>
                <a:gridCol w="442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2" name="Google Shape;1042;p77"/>
          <p:cNvSpPr/>
          <p:nvPr/>
        </p:nvSpPr>
        <p:spPr>
          <a:xfrm rot="-5400000">
            <a:off x="6537774" y="2730925"/>
            <a:ext cx="90000" cy="3081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7"/>
          <p:cNvSpPr txBox="1"/>
          <p:nvPr/>
        </p:nvSpPr>
        <p:spPr>
          <a:xfrm>
            <a:off x="6252947" y="4242450"/>
            <a:ext cx="687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7"/>
          <p:cNvSpPr txBox="1"/>
          <p:nvPr/>
        </p:nvSpPr>
        <p:spPr>
          <a:xfrm>
            <a:off x="4500350" y="1118202"/>
            <a:ext cx="5550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5" name="Google Shape;1045;p77"/>
          <p:cNvGraphicFramePr/>
          <p:nvPr/>
        </p:nvGraphicFramePr>
        <p:xfrm>
          <a:off x="892425" y="1566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547300"/>
                <a:gridCol w="547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6" name="Google Shape;1046;p77"/>
          <p:cNvSpPr/>
          <p:nvPr/>
        </p:nvSpPr>
        <p:spPr>
          <a:xfrm rot="-5400000">
            <a:off x="2229075" y="1217625"/>
            <a:ext cx="90000" cy="2763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7" name="Google Shape;1047;p77"/>
          <p:cNvGraphicFramePr/>
          <p:nvPr/>
        </p:nvGraphicFramePr>
        <p:xfrm>
          <a:off x="952500" y="4026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82350"/>
                <a:gridCol w="382350"/>
                <a:gridCol w="382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8" name="Google Shape;1048;p77"/>
          <p:cNvGraphicFramePr/>
          <p:nvPr/>
        </p:nvGraphicFramePr>
        <p:xfrm>
          <a:off x="5021100" y="1577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343800"/>
                <a:gridCol w="34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9" name="Google Shape;1049;p77"/>
          <p:cNvSpPr/>
          <p:nvPr/>
        </p:nvSpPr>
        <p:spPr>
          <a:xfrm rot="5400000">
            <a:off x="5310800" y="1087125"/>
            <a:ext cx="124800" cy="662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0" name="Google Shape;1050;p77"/>
          <p:cNvGraphicFramePr/>
          <p:nvPr/>
        </p:nvGraphicFramePr>
        <p:xfrm>
          <a:off x="5031568" y="32404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442025"/>
                <a:gridCol w="442025"/>
                <a:gridCol w="442025"/>
                <a:gridCol w="442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78"/>
          <p:cNvSpPr txBox="1"/>
          <p:nvPr>
            <p:ph idx="1" type="body"/>
          </p:nvPr>
        </p:nvSpPr>
        <p:spPr>
          <a:xfrm>
            <a:off x="324000" y="652575"/>
            <a:ext cx="84960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  Use a bar model to answer the following:</a:t>
            </a:r>
            <a:endParaRPr sz="19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lphaLcParenR"/>
            </a:pPr>
            <a:r>
              <a:rPr lang="en-GB" sz="2000"/>
              <a:t>Andeep, Sam and Sofia share some sweets in the ratio 3 : 8 : 5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Sam gets 32, how many sweets are there in total?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64 sweets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lphaLcParenR"/>
            </a:pPr>
            <a:r>
              <a:rPr lang="en-GB" sz="2000"/>
              <a:t>The lengths of the sides of a triangle are in the ratio of 7 : 6 : 4  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shortest length is 28 cm, what is the perimeter of the triangle?</a:t>
            </a:r>
            <a:r>
              <a:rPr lang="en-GB" sz="1900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119 cm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lphaLcParenR"/>
            </a:pPr>
            <a:r>
              <a:rPr lang="en-GB" sz="2000"/>
              <a:t>The ratio of flour to butter to sugar in a cookie recipe is 3 : 2 : 1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You use 135 grams of flour, how heavy will the cookie be?</a:t>
            </a:r>
            <a:r>
              <a:rPr lang="en-GB" sz="1900"/>
              <a:t>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270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56" name="Google Shape;1056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solve ratio problems</a:t>
            </a:r>
            <a:endParaRPr/>
          </a:p>
        </p:txBody>
      </p:sp>
      <p:sp>
        <p:nvSpPr>
          <p:cNvPr id="1062" name="Google Shape;1062;p7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ratio tables</a:t>
            </a:r>
            <a:endParaRPr/>
          </a:p>
        </p:txBody>
      </p:sp>
      <p:sp>
        <p:nvSpPr>
          <p:cNvPr id="1063" name="Google Shape;1063;p7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the whole</a:t>
            </a:r>
            <a:endParaRPr/>
          </a:p>
        </p:txBody>
      </p:sp>
      <p:pic>
        <p:nvPicPr>
          <p:cNvPr id="1064" name="Google Shape;106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50" y="298613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ratio tables</a:t>
            </a:r>
            <a:endParaRPr/>
          </a:p>
        </p:txBody>
      </p:sp>
      <p:sp>
        <p:nvSpPr>
          <p:cNvPr id="1070" name="Google Shape;1070;p80"/>
          <p:cNvSpPr txBox="1"/>
          <p:nvPr/>
        </p:nvSpPr>
        <p:spPr>
          <a:xfrm>
            <a:off x="324000" y="759300"/>
            <a:ext cx="8237700" cy="18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orange juice to lemonade in a drink is 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wants to make a jug of the drink.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She has 750 ml of orange juice.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How much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drink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will she make?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71" name="Google Shape;1071;p80"/>
          <p:cNvGraphicFramePr/>
          <p:nvPr/>
        </p:nvGraphicFramePr>
        <p:xfrm>
          <a:off x="2908072" y="29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2204700"/>
                <a:gridCol w="220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 juice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Lemonade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2" name="Google Shape;1072;p80"/>
          <p:cNvGraphicFramePr/>
          <p:nvPr/>
        </p:nvGraphicFramePr>
        <p:xfrm>
          <a:off x="7317472" y="29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072025"/>
              </a:tblGrid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73" name="Google Shape;1073;p80"/>
          <p:cNvGrpSpPr/>
          <p:nvPr/>
        </p:nvGrpSpPr>
        <p:grpSpPr>
          <a:xfrm>
            <a:off x="697750" y="3091050"/>
            <a:ext cx="2713350" cy="1377900"/>
            <a:chOff x="697750" y="3091050"/>
            <a:chExt cx="2713350" cy="1377900"/>
          </a:xfrm>
        </p:grpSpPr>
        <p:sp>
          <p:nvSpPr>
            <p:cNvPr id="1074" name="Google Shape;1074;p80"/>
            <p:cNvSpPr txBox="1"/>
            <p:nvPr/>
          </p:nvSpPr>
          <p:spPr>
            <a:xfrm>
              <a:off x="697750" y="3091050"/>
              <a:ext cx="1559400" cy="13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 is the multiplicative relationship between these?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5" name="Google Shape;1075;p80"/>
            <p:cNvCxnSpPr/>
            <p:nvPr/>
          </p:nvCxnSpPr>
          <p:spPr>
            <a:xfrm flipH="1" rot="10800000">
              <a:off x="2140600" y="3697075"/>
              <a:ext cx="1270500" cy="9540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76" name="Google Shape;1076;p80"/>
            <p:cNvCxnSpPr/>
            <p:nvPr/>
          </p:nvCxnSpPr>
          <p:spPr>
            <a:xfrm>
              <a:off x="2140600" y="3905150"/>
              <a:ext cx="1225500" cy="37440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77" name="Google Shape;1077;p80"/>
          <p:cNvSpPr/>
          <p:nvPr/>
        </p:nvSpPr>
        <p:spPr>
          <a:xfrm>
            <a:off x="3708600" y="4086425"/>
            <a:ext cx="560100" cy="29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8" name="Google Shape;1078;p80"/>
          <p:cNvGrpSpPr/>
          <p:nvPr/>
        </p:nvGrpSpPr>
        <p:grpSpPr>
          <a:xfrm>
            <a:off x="1558925" y="3678126"/>
            <a:ext cx="1583100" cy="600600"/>
            <a:chOff x="1558925" y="3678126"/>
            <a:chExt cx="1583100" cy="600600"/>
          </a:xfrm>
        </p:grpSpPr>
        <p:sp>
          <p:nvSpPr>
            <p:cNvPr id="1079" name="Google Shape;1079;p80"/>
            <p:cNvSpPr txBox="1"/>
            <p:nvPr/>
          </p:nvSpPr>
          <p:spPr>
            <a:xfrm>
              <a:off x="1558925" y="3824669"/>
              <a:ext cx="816000" cy="29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250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0" name="Google Shape;1080;p80"/>
            <p:cNvSpPr/>
            <p:nvPr/>
          </p:nvSpPr>
          <p:spPr>
            <a:xfrm flipH="1" rot="-5400000">
              <a:off x="2492075" y="3628776"/>
              <a:ext cx="600600" cy="699300"/>
            </a:xfrm>
            <a:prstGeom prst="arc">
              <a:avLst>
                <a:gd fmla="val 10729459" name="adj1"/>
                <a:gd fmla="val 156642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1" name="Google Shape;1081;p80"/>
          <p:cNvSpPr/>
          <p:nvPr/>
        </p:nvSpPr>
        <p:spPr>
          <a:xfrm>
            <a:off x="7508450" y="4086425"/>
            <a:ext cx="734100" cy="29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0"/>
          <p:cNvSpPr txBox="1"/>
          <p:nvPr/>
        </p:nvSpPr>
        <p:spPr>
          <a:xfrm>
            <a:off x="2916300" y="4516050"/>
            <a:ext cx="4264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Sofia makes 2500 ml of the drink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ratio tables</a:t>
            </a:r>
            <a:endParaRPr/>
          </a:p>
        </p:txBody>
      </p:sp>
      <p:sp>
        <p:nvSpPr>
          <p:cNvPr id="1088" name="Google Shape;1088;p81"/>
          <p:cNvSpPr txBox="1"/>
          <p:nvPr>
            <p:ph idx="1" type="body"/>
          </p:nvPr>
        </p:nvSpPr>
        <p:spPr>
          <a:xfrm>
            <a:off x="324000" y="599269"/>
            <a:ext cx="8237700" cy="22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and Aisha raise some money doing a sponsored silence.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They split the money between 2 charities in the ratio 4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Charity</a:t>
            </a:r>
            <a:r>
              <a:rPr lang="en-GB"/>
              <a:t> A gets £60.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money did they raise in </a:t>
            </a:r>
            <a:r>
              <a:rPr lang="en-GB">
                <a:solidFill>
                  <a:schemeClr val="accent5"/>
                </a:solidFill>
              </a:rPr>
              <a:t>total</a:t>
            </a:r>
            <a:r>
              <a:rPr lang="en-GB"/>
              <a:t>?</a:t>
            </a:r>
            <a:endParaRPr/>
          </a:p>
        </p:txBody>
      </p:sp>
      <p:graphicFrame>
        <p:nvGraphicFramePr>
          <p:cNvPr id="1089" name="Google Shape;1089;p81"/>
          <p:cNvGraphicFramePr/>
          <p:nvPr/>
        </p:nvGraphicFramePr>
        <p:xfrm>
          <a:off x="2908072" y="29161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2204700"/>
                <a:gridCol w="220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Charity 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Charity 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90" name="Google Shape;1090;p81"/>
          <p:cNvGraphicFramePr/>
          <p:nvPr/>
        </p:nvGraphicFramePr>
        <p:xfrm>
          <a:off x="7317472" y="29161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072025"/>
              </a:tblGrid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91" name="Google Shape;1091;p81"/>
          <p:cNvGrpSpPr/>
          <p:nvPr/>
        </p:nvGrpSpPr>
        <p:grpSpPr>
          <a:xfrm>
            <a:off x="697750" y="3083419"/>
            <a:ext cx="2713350" cy="1377900"/>
            <a:chOff x="697750" y="3091050"/>
            <a:chExt cx="2713350" cy="1377900"/>
          </a:xfrm>
        </p:grpSpPr>
        <p:sp>
          <p:nvSpPr>
            <p:cNvPr id="1092" name="Google Shape;1092;p81"/>
            <p:cNvSpPr txBox="1"/>
            <p:nvPr/>
          </p:nvSpPr>
          <p:spPr>
            <a:xfrm>
              <a:off x="697750" y="3091050"/>
              <a:ext cx="1559400" cy="13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 is the multiplicative relationship between these?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93" name="Google Shape;1093;p81"/>
            <p:cNvCxnSpPr/>
            <p:nvPr/>
          </p:nvCxnSpPr>
          <p:spPr>
            <a:xfrm flipH="1" rot="10800000">
              <a:off x="2140600" y="3697075"/>
              <a:ext cx="1270500" cy="9540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4" name="Google Shape;1094;p81"/>
            <p:cNvCxnSpPr/>
            <p:nvPr/>
          </p:nvCxnSpPr>
          <p:spPr>
            <a:xfrm>
              <a:off x="2140600" y="3905150"/>
              <a:ext cx="1225500" cy="37440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95" name="Google Shape;1095;p81"/>
          <p:cNvSpPr/>
          <p:nvPr/>
        </p:nvSpPr>
        <p:spPr>
          <a:xfrm>
            <a:off x="3708600" y="4083119"/>
            <a:ext cx="560100" cy="29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6" name="Google Shape;1096;p81"/>
          <p:cNvGrpSpPr/>
          <p:nvPr/>
        </p:nvGrpSpPr>
        <p:grpSpPr>
          <a:xfrm>
            <a:off x="1863725" y="3670495"/>
            <a:ext cx="1278300" cy="600600"/>
            <a:chOff x="1863725" y="3678126"/>
            <a:chExt cx="1278300" cy="600600"/>
          </a:xfrm>
        </p:grpSpPr>
        <p:sp>
          <p:nvSpPr>
            <p:cNvPr id="1097" name="Google Shape;1097;p81"/>
            <p:cNvSpPr txBox="1"/>
            <p:nvPr/>
          </p:nvSpPr>
          <p:spPr>
            <a:xfrm>
              <a:off x="1863725" y="3771369"/>
              <a:ext cx="524400" cy="29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15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81"/>
            <p:cNvSpPr/>
            <p:nvPr/>
          </p:nvSpPr>
          <p:spPr>
            <a:xfrm flipH="1" rot="-5400000">
              <a:off x="2492075" y="3628776"/>
              <a:ext cx="600600" cy="699300"/>
            </a:xfrm>
            <a:prstGeom prst="arc">
              <a:avLst>
                <a:gd fmla="val 10729459" name="adj1"/>
                <a:gd fmla="val 156642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9" name="Google Shape;1099;p81"/>
          <p:cNvSpPr/>
          <p:nvPr/>
        </p:nvSpPr>
        <p:spPr>
          <a:xfrm>
            <a:off x="7486425" y="4083119"/>
            <a:ext cx="734100" cy="29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1"/>
          <p:cNvSpPr txBox="1"/>
          <p:nvPr/>
        </p:nvSpPr>
        <p:spPr>
          <a:xfrm>
            <a:off x="2916300" y="4508419"/>
            <a:ext cx="4264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Lucas and Aisha raise £135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ratio tables</a:t>
            </a:r>
            <a:endParaRPr/>
          </a:p>
        </p:txBody>
      </p:sp>
      <p:sp>
        <p:nvSpPr>
          <p:cNvPr id="1106" name="Google Shape;1106;p82"/>
          <p:cNvSpPr txBox="1"/>
          <p:nvPr>
            <p:ph idx="1" type="body"/>
          </p:nvPr>
        </p:nvSpPr>
        <p:spPr>
          <a:xfrm>
            <a:off x="324000" y="759300"/>
            <a:ext cx="82377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is making some different necklaces with red, blue and white beads in the ratio 2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7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He uses 21 blue beads.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beads are on </a:t>
            </a:r>
            <a:r>
              <a:rPr lang="en-GB">
                <a:solidFill>
                  <a:schemeClr val="accent5"/>
                </a:solidFill>
              </a:rPr>
              <a:t>each</a:t>
            </a:r>
            <a:r>
              <a:rPr lang="en-GB"/>
              <a:t> necklace?</a:t>
            </a:r>
            <a:endParaRPr/>
          </a:p>
        </p:txBody>
      </p:sp>
      <p:graphicFrame>
        <p:nvGraphicFramePr>
          <p:cNvPr id="1107" name="Google Shape;1107;p82"/>
          <p:cNvGraphicFramePr/>
          <p:nvPr/>
        </p:nvGraphicFramePr>
        <p:xfrm>
          <a:off x="1393225" y="275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469800"/>
                <a:gridCol w="1469800"/>
                <a:gridCol w="146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White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8" name="Google Shape;1108;p82"/>
          <p:cNvGraphicFramePr/>
          <p:nvPr/>
        </p:nvGraphicFramePr>
        <p:xfrm>
          <a:off x="5802625" y="275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072025"/>
              </a:tblGrid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9" name="Google Shape;1109;p82"/>
          <p:cNvSpPr/>
          <p:nvPr/>
        </p:nvSpPr>
        <p:spPr>
          <a:xfrm>
            <a:off x="3124825" y="3905525"/>
            <a:ext cx="946200" cy="320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0" name="Google Shape;1110;p82"/>
          <p:cNvGrpSpPr/>
          <p:nvPr/>
        </p:nvGrpSpPr>
        <p:grpSpPr>
          <a:xfrm>
            <a:off x="3815650" y="3540925"/>
            <a:ext cx="517175" cy="549600"/>
            <a:chOff x="3815650" y="3540925"/>
            <a:chExt cx="517175" cy="549600"/>
          </a:xfrm>
        </p:grpSpPr>
        <p:sp>
          <p:nvSpPr>
            <p:cNvPr id="1111" name="Google Shape;1111;p82"/>
            <p:cNvSpPr txBox="1"/>
            <p:nvPr/>
          </p:nvSpPr>
          <p:spPr>
            <a:xfrm>
              <a:off x="3932325" y="3601050"/>
              <a:ext cx="4005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3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12" name="Google Shape;1112;p82"/>
            <p:cNvCxnSpPr/>
            <p:nvPr/>
          </p:nvCxnSpPr>
          <p:spPr>
            <a:xfrm>
              <a:off x="3815650" y="3540925"/>
              <a:ext cx="7500" cy="5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13" name="Google Shape;1113;p82"/>
          <p:cNvSpPr/>
          <p:nvPr/>
        </p:nvSpPr>
        <p:spPr>
          <a:xfrm>
            <a:off x="5865538" y="3905525"/>
            <a:ext cx="946200" cy="320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2"/>
          <p:cNvSpPr txBox="1"/>
          <p:nvPr/>
        </p:nvSpPr>
        <p:spPr>
          <a:xfrm>
            <a:off x="1392300" y="4516050"/>
            <a:ext cx="4264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Each necklace will have 42 beads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9" name="Google Shape;1119;p83"/>
          <p:cNvGraphicFramePr/>
          <p:nvPr/>
        </p:nvGraphicFramePr>
        <p:xfrm>
          <a:off x="3088450" y="290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084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200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0" name="Google Shape;112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ratio tables</a:t>
            </a:r>
            <a:endParaRPr/>
          </a:p>
        </p:txBody>
      </p:sp>
      <p:sp>
        <p:nvSpPr>
          <p:cNvPr id="1121" name="Google Shape;1121;p83"/>
          <p:cNvSpPr txBox="1"/>
          <p:nvPr>
            <p:ph idx="1" type="subTitle"/>
          </p:nvPr>
        </p:nvSpPr>
        <p:spPr>
          <a:xfrm>
            <a:off x="337825" y="810000"/>
            <a:ext cx="3982200" cy="197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ratio of red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blue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black cars in a car park is 8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5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12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96 black cars.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red, blue and black cars are there in total?</a:t>
            </a:r>
            <a:endParaRPr/>
          </a:p>
        </p:txBody>
      </p:sp>
      <p:sp>
        <p:nvSpPr>
          <p:cNvPr id="1122" name="Google Shape;1122;p83"/>
          <p:cNvSpPr txBox="1"/>
          <p:nvPr>
            <p:ph idx="2" type="subTitle"/>
          </p:nvPr>
        </p:nvSpPr>
        <p:spPr>
          <a:xfrm>
            <a:off x="4824000" y="810000"/>
            <a:ext cx="3982200" cy="20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ratio of red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blue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black cars in a car park is 8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5</a:t>
            </a:r>
            <a:r>
              <a:rPr lang="en-GB" sz="2000"/>
              <a:t> </a:t>
            </a:r>
            <a:r>
              <a:rPr lang="en-GB"/>
              <a:t>:</a:t>
            </a:r>
            <a:r>
              <a:rPr lang="en-GB" sz="2000"/>
              <a:t> </a:t>
            </a:r>
            <a:r>
              <a:rPr lang="en-GB"/>
              <a:t>12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There are 30 blue cars.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many red, blue and black cars are there in total?</a:t>
            </a:r>
            <a:endParaRPr/>
          </a:p>
        </p:txBody>
      </p:sp>
      <p:graphicFrame>
        <p:nvGraphicFramePr>
          <p:cNvPr id="1123" name="Google Shape;1123;p83"/>
          <p:cNvGraphicFramePr/>
          <p:nvPr/>
        </p:nvGraphicFramePr>
        <p:xfrm>
          <a:off x="326425" y="290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920675"/>
                <a:gridCol w="920675"/>
                <a:gridCol w="920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Black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24" name="Google Shape;1124;p83"/>
          <p:cNvGrpSpPr/>
          <p:nvPr/>
        </p:nvGrpSpPr>
        <p:grpSpPr>
          <a:xfrm>
            <a:off x="2901250" y="3464725"/>
            <a:ext cx="517175" cy="549600"/>
            <a:chOff x="3815650" y="3540925"/>
            <a:chExt cx="517175" cy="549600"/>
          </a:xfrm>
        </p:grpSpPr>
        <p:sp>
          <p:nvSpPr>
            <p:cNvPr id="1125" name="Google Shape;1125;p83"/>
            <p:cNvSpPr txBox="1"/>
            <p:nvPr/>
          </p:nvSpPr>
          <p:spPr>
            <a:xfrm>
              <a:off x="3932325" y="3601050"/>
              <a:ext cx="4005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8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6" name="Google Shape;1126;p83"/>
            <p:cNvCxnSpPr/>
            <p:nvPr/>
          </p:nvCxnSpPr>
          <p:spPr>
            <a:xfrm>
              <a:off x="3815650" y="3540925"/>
              <a:ext cx="7500" cy="5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27" name="Google Shape;1127;p83"/>
          <p:cNvSpPr txBox="1"/>
          <p:nvPr/>
        </p:nvSpPr>
        <p:spPr>
          <a:xfrm>
            <a:off x="325500" y="4135050"/>
            <a:ext cx="42648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There are 200 red, blue and black cars in the car park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83"/>
          <p:cNvSpPr/>
          <p:nvPr/>
        </p:nvSpPr>
        <p:spPr>
          <a:xfrm>
            <a:off x="3449410" y="3693400"/>
            <a:ext cx="754500" cy="320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3"/>
          <p:cNvSpPr/>
          <p:nvPr/>
        </p:nvSpPr>
        <p:spPr>
          <a:xfrm>
            <a:off x="2414093" y="3693394"/>
            <a:ext cx="417000" cy="320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30" name="Google Shape;1130;p83"/>
          <p:cNvGraphicFramePr/>
          <p:nvPr/>
        </p:nvGraphicFramePr>
        <p:xfrm>
          <a:off x="7584250" y="290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084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150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1" name="Google Shape;1131;p83"/>
          <p:cNvGraphicFramePr/>
          <p:nvPr/>
        </p:nvGraphicFramePr>
        <p:xfrm>
          <a:off x="4822225" y="290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920675"/>
                <a:gridCol w="920675"/>
                <a:gridCol w="920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Black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32" name="Google Shape;1132;p83"/>
          <p:cNvGrpSpPr/>
          <p:nvPr/>
        </p:nvGrpSpPr>
        <p:grpSpPr>
          <a:xfrm>
            <a:off x="6482650" y="3464725"/>
            <a:ext cx="600575" cy="549600"/>
            <a:chOff x="2901250" y="3540925"/>
            <a:chExt cx="600575" cy="549600"/>
          </a:xfrm>
        </p:grpSpPr>
        <p:sp>
          <p:nvSpPr>
            <p:cNvPr id="1133" name="Google Shape;1133;p83"/>
            <p:cNvSpPr txBox="1"/>
            <p:nvPr/>
          </p:nvSpPr>
          <p:spPr>
            <a:xfrm>
              <a:off x="3017925" y="3601050"/>
              <a:ext cx="4839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× 6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4" name="Google Shape;1134;p83"/>
            <p:cNvCxnSpPr/>
            <p:nvPr/>
          </p:nvCxnSpPr>
          <p:spPr>
            <a:xfrm>
              <a:off x="2901250" y="3540925"/>
              <a:ext cx="7500" cy="5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35" name="Google Shape;1135;p83"/>
          <p:cNvSpPr txBox="1"/>
          <p:nvPr/>
        </p:nvSpPr>
        <p:spPr>
          <a:xfrm>
            <a:off x="4821300" y="4135050"/>
            <a:ext cx="42648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There are 150 red, blue and black cars in the car park.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4"/>
          <p:cNvSpPr txBox="1"/>
          <p:nvPr>
            <p:ph idx="1" type="body"/>
          </p:nvPr>
        </p:nvSpPr>
        <p:spPr>
          <a:xfrm>
            <a:off x="324000" y="683100"/>
            <a:ext cx="8237700" cy="7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a ratio table to find the total given either A or B and the ratio: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ratio tables</a:t>
            </a:r>
            <a:endParaRPr/>
          </a:p>
        </p:txBody>
      </p:sp>
      <p:graphicFrame>
        <p:nvGraphicFramePr>
          <p:cNvPr id="1142" name="Google Shape;1142;p84"/>
          <p:cNvGraphicFramePr/>
          <p:nvPr/>
        </p:nvGraphicFramePr>
        <p:xfrm>
          <a:off x="2249400" y="108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039950"/>
                <a:gridCol w="1039950"/>
                <a:gridCol w="1039950"/>
                <a:gridCol w="103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A</a:t>
                      </a: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b="1"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b="1"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b="1"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47.6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ratio tables</a:t>
            </a:r>
            <a:endParaRPr/>
          </a:p>
        </p:txBody>
      </p:sp>
      <p:sp>
        <p:nvSpPr>
          <p:cNvPr id="1148" name="Google Shape;1148;p85"/>
          <p:cNvSpPr txBox="1"/>
          <p:nvPr>
            <p:ph idx="1" type="body"/>
          </p:nvPr>
        </p:nvSpPr>
        <p:spPr>
          <a:xfrm>
            <a:off x="324000" y="759300"/>
            <a:ext cx="8237700" cy="32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 Use a ratio table to answer the following: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Andeep, Sam and Sofia share some sweets in the ratio 3 : 8 : 5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Sam gets 40, how many sweets are there in total?	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The lengths of the sides of a triangle are in the ratio of 7 : 6 : 4  The longest length is 14 cm, what is the perimeter of the triangle?	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The ratio of flour to butter to sugar in a cookie recipe is 3 : 2 : 1  You use 126 grams of butter, how heavy will the cookie be?	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6"/>
          <p:cNvSpPr txBox="1"/>
          <p:nvPr>
            <p:ph idx="1" type="body"/>
          </p:nvPr>
        </p:nvSpPr>
        <p:spPr>
          <a:xfrm>
            <a:off x="324000" y="683100"/>
            <a:ext cx="82377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a ratio table to find the total given either A or B and the ratio: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ratio tables</a:t>
            </a:r>
            <a:endParaRPr/>
          </a:p>
        </p:txBody>
      </p:sp>
      <p:graphicFrame>
        <p:nvGraphicFramePr>
          <p:cNvPr id="1155" name="Google Shape;1155;p86"/>
          <p:cNvGraphicFramePr/>
          <p:nvPr/>
        </p:nvGraphicFramePr>
        <p:xfrm>
          <a:off x="2249400" y="108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{D2AB87FB-4203-400A-8C5F-031EF609735D}</a:tableStyleId>
              </a:tblPr>
              <a:tblGrid>
                <a:gridCol w="1039950"/>
                <a:gridCol w="1039950"/>
                <a:gridCol w="1039950"/>
                <a:gridCol w="103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A</a:t>
                      </a: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b="1"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b="1"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b="1"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176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405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2100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3802.5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4647.5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27.2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47.6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74.8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1156" name="Google Shape;1156;p86"/>
          <p:cNvSpPr txBox="1"/>
          <p:nvPr/>
        </p:nvSpPr>
        <p:spPr>
          <a:xfrm>
            <a:off x="6619625" y="1709400"/>
            <a:ext cx="1907100" cy="1981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did not need to find the numbers in grey but they are shown here in case you did.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57" name="Google Shape;1157;p86"/>
          <p:cNvGrpSpPr/>
          <p:nvPr/>
        </p:nvGrpSpPr>
        <p:grpSpPr>
          <a:xfrm>
            <a:off x="3317500" y="1740975"/>
            <a:ext cx="2014950" cy="2947325"/>
            <a:chOff x="3317500" y="1740975"/>
            <a:chExt cx="2014950" cy="2947325"/>
          </a:xfrm>
        </p:grpSpPr>
        <p:sp>
          <p:nvSpPr>
            <p:cNvPr id="1158" name="Google Shape;1158;p86"/>
            <p:cNvSpPr/>
            <p:nvPr/>
          </p:nvSpPr>
          <p:spPr>
            <a:xfrm>
              <a:off x="4357750" y="1740975"/>
              <a:ext cx="974700" cy="296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9" name="Google Shape;1159;p86"/>
            <p:cNvSpPr/>
            <p:nvPr/>
          </p:nvSpPr>
          <p:spPr>
            <a:xfrm>
              <a:off x="4357750" y="2115850"/>
              <a:ext cx="974700" cy="296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0" name="Google Shape;1160;p86"/>
            <p:cNvSpPr/>
            <p:nvPr/>
          </p:nvSpPr>
          <p:spPr>
            <a:xfrm>
              <a:off x="3317500" y="2501325"/>
              <a:ext cx="974700" cy="296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1" name="Google Shape;1161;p86"/>
            <p:cNvSpPr/>
            <p:nvPr/>
          </p:nvSpPr>
          <p:spPr>
            <a:xfrm>
              <a:off x="3345300" y="2886800"/>
              <a:ext cx="974700" cy="296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86"/>
            <p:cNvSpPr/>
            <p:nvPr/>
          </p:nvSpPr>
          <p:spPr>
            <a:xfrm>
              <a:off x="3345300" y="3272275"/>
              <a:ext cx="974700" cy="296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86"/>
            <p:cNvSpPr/>
            <p:nvPr/>
          </p:nvSpPr>
          <p:spPr>
            <a:xfrm>
              <a:off x="4357750" y="3631650"/>
              <a:ext cx="974700" cy="296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86"/>
            <p:cNvSpPr/>
            <p:nvPr/>
          </p:nvSpPr>
          <p:spPr>
            <a:xfrm>
              <a:off x="4357750" y="4008200"/>
              <a:ext cx="974700" cy="296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86"/>
            <p:cNvSpPr/>
            <p:nvPr/>
          </p:nvSpPr>
          <p:spPr>
            <a:xfrm>
              <a:off x="3317500" y="4391600"/>
              <a:ext cx="974700" cy="296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 Use a ratio table to answer the following: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Andeep, Sam and Sofia share some sweets in the ratio 3 : 8 : 5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Sam gets 40, how many sweets are there in total?	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80 sweets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The lengths of the sides of a triangle are in the ratio of 7 : 6 : 4  The longest length is 14 cm, what is the perimeter of the triangle?	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34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The ratio of flour to butter to sugar in a cookie recipe is 3 : 2 : </a:t>
            </a:r>
            <a:r>
              <a:rPr lang="en-GB" sz="2000"/>
              <a:t>1</a:t>
            </a:r>
            <a:r>
              <a:rPr lang="en-GB" sz="2000"/>
              <a:t>  You use 126 grams of butter, how heavy will the cookie be?	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378 g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1" name="Google Shape;1171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ratio tables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88"/>
          <p:cNvSpPr txBox="1"/>
          <p:nvPr>
            <p:ph idx="1" type="body"/>
          </p:nvPr>
        </p:nvSpPr>
        <p:spPr>
          <a:xfrm>
            <a:off x="324000" y="6228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bar model can be used to </a:t>
            </a:r>
            <a:r>
              <a:rPr lang="en-GB"/>
              <a:t>determine</a:t>
            </a:r>
            <a:r>
              <a:rPr lang="en-GB"/>
              <a:t> the whole.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E.g.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more efficient way to determine the whole is to use a ratio 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E.g. </a:t>
            </a:r>
            <a:endParaRPr/>
          </a:p>
        </p:txBody>
      </p:sp>
      <p:sp>
        <p:nvSpPr>
          <p:cNvPr id="1177" name="Google Shape;1177;p8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the whole</a:t>
            </a:r>
            <a:endParaRPr/>
          </a:p>
        </p:txBody>
      </p:sp>
      <p:pic>
        <p:nvPicPr>
          <p:cNvPr descr="Taken from slide 8.&#10;" id="1178" name="Google Shape;117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400" y="1192375"/>
            <a:ext cx="3175937" cy="1507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ken from slide 20&#10;" id="1179" name="Google Shape;1179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401" y="3425725"/>
            <a:ext cx="2818002" cy="13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8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85" name="Google Shape;1185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