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70B833-4671-4C10-ABE5-1F8FA2A771BC}">
  <a:tblStyle styleId="{9870B833-4671-4C10-ABE5-1F8FA2A771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6" Type="http://schemas.openxmlformats.org/officeDocument/2006/relationships/slide" Target="slides/slide31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a6d92681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6d92681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9fbe7548e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9fbe7548e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9fbe7548e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9fbe7548e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9fbe7548e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9fbe7548e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9fbe7548e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9fbe7548e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2a8808a39b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a8808a39b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29fbe7548e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29fbe7548e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29fbe7548e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29fbe7548e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29fbe7548e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29fbe7548e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2a2eea59a8a_0_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2a2eea59a8a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2a2eea59a8a_0_1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2a2eea59a8a_0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a2eea59a8a_0_1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a2eea59a8a_0_1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a2eea59a8a_0_1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2a2eea59a8a_0_1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29fbe7548e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29fbe7548e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a2eea59a8a_0_1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a2eea59a8a_0_1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29fbe7548e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29fbe7548e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29fbe7548e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29fbe7548e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2a278d6cd07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2a278d6cd07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2a278d6cd07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2a278d6cd07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29fbe7548ed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29fbe7548ed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2a278d6cd07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2a278d6cd07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2a278d6cd07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2a278d6cd07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2a278d6cd07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2a278d6cd07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2a278d6cd07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2a278d6cd07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2a2eea59a8a_0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2a2eea59a8a_0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2a2eea59a8a_0_1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2a2eea59a8a_0_1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6" name="Google Shape;164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5.png"/><Relationship Id="rId4" Type="http://schemas.openxmlformats.org/officeDocument/2006/relationships/image" Target="../media/image83.png"/><Relationship Id="rId5" Type="http://schemas.openxmlformats.org/officeDocument/2006/relationships/image" Target="../media/image26.png"/><Relationship Id="rId6" Type="http://schemas.openxmlformats.org/officeDocument/2006/relationships/image" Target="../media/image34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3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Relationship Id="rId8" Type="http://schemas.openxmlformats.org/officeDocument/2006/relationships/image" Target="../media/image3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3.png"/><Relationship Id="rId4" Type="http://schemas.openxmlformats.org/officeDocument/2006/relationships/image" Target="../media/image31.png"/><Relationship Id="rId11" Type="http://schemas.openxmlformats.org/officeDocument/2006/relationships/image" Target="../media/image23.png"/><Relationship Id="rId10" Type="http://schemas.openxmlformats.org/officeDocument/2006/relationships/image" Target="../media/image39.png"/><Relationship Id="rId9" Type="http://schemas.openxmlformats.org/officeDocument/2006/relationships/image" Target="../media/image34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3" name="Google Shape;653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5" name="Google Shape;6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4" name="Google Shape;6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0" name="Google Shape;6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6" name="Google Shape;6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2" name="Google Shape;7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 1">
  <p:cSld name="CUSTOM_3_1_1_3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Relationship Id="rId4" Type="http://schemas.openxmlformats.org/officeDocument/2006/relationships/image" Target="../media/image5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8.png"/><Relationship Id="rId7" Type="http://schemas.openxmlformats.org/officeDocument/2006/relationships/image" Target="../media/image6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56.png"/><Relationship Id="rId6" Type="http://schemas.openxmlformats.org/officeDocument/2006/relationships/image" Target="../media/image59.png"/><Relationship Id="rId7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7.png"/><Relationship Id="rId4" Type="http://schemas.openxmlformats.org/officeDocument/2006/relationships/image" Target="../media/image54.png"/><Relationship Id="rId9" Type="http://schemas.openxmlformats.org/officeDocument/2006/relationships/image" Target="../media/image70.png"/><Relationship Id="rId5" Type="http://schemas.openxmlformats.org/officeDocument/2006/relationships/image" Target="../media/image60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11" Type="http://schemas.openxmlformats.org/officeDocument/2006/relationships/image" Target="../media/image67.png"/><Relationship Id="rId10" Type="http://schemas.openxmlformats.org/officeDocument/2006/relationships/image" Target="../media/image68.png"/><Relationship Id="rId12" Type="http://schemas.openxmlformats.org/officeDocument/2006/relationships/image" Target="../media/image6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2.png"/><Relationship Id="rId4" Type="http://schemas.openxmlformats.org/officeDocument/2006/relationships/image" Target="../media/image7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0.png"/><Relationship Id="rId4" Type="http://schemas.openxmlformats.org/officeDocument/2006/relationships/image" Target="../media/image72.png"/><Relationship Id="rId5" Type="http://schemas.openxmlformats.org/officeDocument/2006/relationships/image" Target="../media/image79.png"/><Relationship Id="rId6" Type="http://schemas.openxmlformats.org/officeDocument/2006/relationships/image" Target="../media/image65.png"/><Relationship Id="rId7" Type="http://schemas.openxmlformats.org/officeDocument/2006/relationships/image" Target="../media/image7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4.png"/><Relationship Id="rId4" Type="http://schemas.openxmlformats.org/officeDocument/2006/relationships/image" Target="../media/image84.png"/><Relationship Id="rId9" Type="http://schemas.openxmlformats.org/officeDocument/2006/relationships/image" Target="../media/image78.png"/><Relationship Id="rId5" Type="http://schemas.openxmlformats.org/officeDocument/2006/relationships/image" Target="../media/image80.png"/><Relationship Id="rId6" Type="http://schemas.openxmlformats.org/officeDocument/2006/relationships/image" Target="../media/image72.png"/><Relationship Id="rId7" Type="http://schemas.openxmlformats.org/officeDocument/2006/relationships/image" Target="../media/image79.png"/><Relationship Id="rId8" Type="http://schemas.openxmlformats.org/officeDocument/2006/relationships/image" Target="../media/image6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4.png"/><Relationship Id="rId4" Type="http://schemas.openxmlformats.org/officeDocument/2006/relationships/image" Target="../media/image8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0.png"/><Relationship Id="rId4" Type="http://schemas.openxmlformats.org/officeDocument/2006/relationships/image" Target="../media/image9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4.png"/><Relationship Id="rId4" Type="http://schemas.openxmlformats.org/officeDocument/2006/relationships/image" Target="../media/image91.png"/><Relationship Id="rId5" Type="http://schemas.openxmlformats.org/officeDocument/2006/relationships/image" Target="../media/image9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4.png"/><Relationship Id="rId4" Type="http://schemas.openxmlformats.org/officeDocument/2006/relationships/image" Target="../media/image91.png"/><Relationship Id="rId5" Type="http://schemas.openxmlformats.org/officeDocument/2006/relationships/image" Target="../media/image9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0.png"/><Relationship Id="rId6" Type="http://schemas.openxmlformats.org/officeDocument/2006/relationships/image" Target="../media/image84.png"/><Relationship Id="rId7" Type="http://schemas.openxmlformats.org/officeDocument/2006/relationships/image" Target="../media/image9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7.png"/><Relationship Id="rId4" Type="http://schemas.openxmlformats.org/officeDocument/2006/relationships/image" Target="../media/image96.png"/><Relationship Id="rId5" Type="http://schemas.openxmlformats.org/officeDocument/2006/relationships/image" Target="../media/image99.png"/><Relationship Id="rId6" Type="http://schemas.openxmlformats.org/officeDocument/2006/relationships/image" Target="../media/image9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7.png"/><Relationship Id="rId4" Type="http://schemas.openxmlformats.org/officeDocument/2006/relationships/image" Target="../media/image10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4.png"/><Relationship Id="rId4" Type="http://schemas.openxmlformats.org/officeDocument/2006/relationships/image" Target="../media/image101.png"/><Relationship Id="rId9" Type="http://schemas.openxmlformats.org/officeDocument/2006/relationships/image" Target="../media/image107.png"/><Relationship Id="rId5" Type="http://schemas.openxmlformats.org/officeDocument/2006/relationships/image" Target="../media/image74.png"/><Relationship Id="rId6" Type="http://schemas.openxmlformats.org/officeDocument/2006/relationships/image" Target="../media/image80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11" Type="http://schemas.openxmlformats.org/officeDocument/2006/relationships/image" Target="../media/image110.png"/><Relationship Id="rId10" Type="http://schemas.openxmlformats.org/officeDocument/2006/relationships/image" Target="../media/image108.png"/><Relationship Id="rId13" Type="http://schemas.openxmlformats.org/officeDocument/2006/relationships/image" Target="../media/image112.png"/><Relationship Id="rId12" Type="http://schemas.openxmlformats.org/officeDocument/2006/relationships/image" Target="../media/image109.png"/><Relationship Id="rId15" Type="http://schemas.openxmlformats.org/officeDocument/2006/relationships/image" Target="../media/image113.png"/><Relationship Id="rId14" Type="http://schemas.openxmlformats.org/officeDocument/2006/relationships/image" Target="../media/image96.png"/><Relationship Id="rId17" Type="http://schemas.openxmlformats.org/officeDocument/2006/relationships/image" Target="../media/image97.png"/><Relationship Id="rId16" Type="http://schemas.openxmlformats.org/officeDocument/2006/relationships/image" Target="../media/image114.png"/><Relationship Id="rId19" Type="http://schemas.openxmlformats.org/officeDocument/2006/relationships/image" Target="../media/image116.png"/><Relationship Id="rId18" Type="http://schemas.openxmlformats.org/officeDocument/2006/relationships/image" Target="../media/image1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4.png"/><Relationship Id="rId4" Type="http://schemas.openxmlformats.org/officeDocument/2006/relationships/image" Target="../media/image101.png"/><Relationship Id="rId9" Type="http://schemas.openxmlformats.org/officeDocument/2006/relationships/image" Target="../media/image107.png"/><Relationship Id="rId5" Type="http://schemas.openxmlformats.org/officeDocument/2006/relationships/image" Target="../media/image74.png"/><Relationship Id="rId6" Type="http://schemas.openxmlformats.org/officeDocument/2006/relationships/image" Target="../media/image80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20" Type="http://schemas.openxmlformats.org/officeDocument/2006/relationships/image" Target="../media/image65.png"/><Relationship Id="rId11" Type="http://schemas.openxmlformats.org/officeDocument/2006/relationships/image" Target="../media/image110.png"/><Relationship Id="rId10" Type="http://schemas.openxmlformats.org/officeDocument/2006/relationships/image" Target="../media/image108.png"/><Relationship Id="rId13" Type="http://schemas.openxmlformats.org/officeDocument/2006/relationships/image" Target="../media/image112.png"/><Relationship Id="rId12" Type="http://schemas.openxmlformats.org/officeDocument/2006/relationships/image" Target="../media/image109.png"/><Relationship Id="rId15" Type="http://schemas.openxmlformats.org/officeDocument/2006/relationships/image" Target="../media/image113.png"/><Relationship Id="rId14" Type="http://schemas.openxmlformats.org/officeDocument/2006/relationships/image" Target="../media/image96.png"/><Relationship Id="rId17" Type="http://schemas.openxmlformats.org/officeDocument/2006/relationships/image" Target="../media/image97.png"/><Relationship Id="rId16" Type="http://schemas.openxmlformats.org/officeDocument/2006/relationships/image" Target="../media/image114.png"/><Relationship Id="rId19" Type="http://schemas.openxmlformats.org/officeDocument/2006/relationships/image" Target="../media/image116.png"/><Relationship Id="rId18" Type="http://schemas.openxmlformats.org/officeDocument/2006/relationships/image" Target="../media/image1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8.png"/><Relationship Id="rId4" Type="http://schemas.openxmlformats.org/officeDocument/2006/relationships/image" Target="../media/image61.png"/><Relationship Id="rId5" Type="http://schemas.openxmlformats.org/officeDocument/2006/relationships/image" Target="../media/image1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one number as a fraction of another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multiplicative relationships: fractions and ratio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express one number as a fraction of another.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3" type="subTitle"/>
          </p:nvPr>
        </p:nvSpPr>
        <p:spPr>
          <a:xfrm>
            <a:off x="324001" y="1111288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reciprocal is the multiplicative inverse of any non-zero number. Any non-zero number multiplied by its reciprocal is equal to 1.</a:t>
            </a:r>
            <a:endParaRPr/>
          </a:p>
        </p:txBody>
      </p:sp>
      <p:sp>
        <p:nvSpPr>
          <p:cNvPr id="771" name="Google Shape;771;p66"/>
          <p:cNvSpPr txBox="1"/>
          <p:nvPr/>
        </p:nvSpPr>
        <p:spPr>
          <a:xfrm>
            <a:off x="324000" y="2441450"/>
            <a:ext cx="7822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terminating decimal is one that has a finite number of digits after the decimal point.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66"/>
          <p:cNvSpPr txBox="1"/>
          <p:nvPr/>
        </p:nvSpPr>
        <p:spPr>
          <a:xfrm>
            <a:off x="324000" y="33097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773" name="Google Shape;773;p66"/>
          <p:cNvSpPr txBox="1"/>
          <p:nvPr/>
        </p:nvSpPr>
        <p:spPr>
          <a:xfrm>
            <a:off x="2478775" y="33097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774" name="Google Shape;774;p66"/>
          <p:cNvSpPr txBox="1"/>
          <p:nvPr/>
        </p:nvSpPr>
        <p:spPr>
          <a:xfrm>
            <a:off x="4535725" y="3309775"/>
            <a:ext cx="250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Non example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775" name="Google Shape;775;p66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0" l="0" r="78771" t="0"/>
          <a:stretch/>
        </p:blipFill>
        <p:spPr>
          <a:xfrm>
            <a:off x="683400" y="3876425"/>
            <a:ext cx="1001400" cy="4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6"/>
          <p:cNvSpPr txBox="1"/>
          <p:nvPr/>
        </p:nvSpPr>
        <p:spPr>
          <a:xfrm>
            <a:off x="6723075" y="3309775"/>
            <a:ext cx="209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Non example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777" name="Google Shape;777;p66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-15689" l="19284" r="38462" t="15690"/>
          <a:stretch/>
        </p:blipFill>
        <p:spPr>
          <a:xfrm>
            <a:off x="2196350" y="3952625"/>
            <a:ext cx="1993200" cy="42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778" name="Google Shape;778;p66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-7763" l="73510" r="10058" t="-7763"/>
          <a:stretch/>
        </p:blipFill>
        <p:spPr>
          <a:xfrm>
            <a:off x="5141418" y="3876425"/>
            <a:ext cx="775150" cy="48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dot{=0.3=3}&quot;&gt;&lt;mfrac&gt;&lt;mn&gt;1&lt;/mn&gt;&lt;mn&gt;3&lt;/mn&gt;&lt;/mfrac&gt;&lt;mrow data-mjx-texclass=&quot;ORD&quot;&gt;&lt;mover&gt;&lt;mrow&gt;&lt;mo&gt;=&lt;/mo&gt;&lt;mn&gt;0.3&lt;/mn&gt;&lt;mo&gt;=&lt;/mo&gt;&lt;mn&gt;3&lt;/mn&gt;&lt;/mrow&gt;&lt;mo&gt;˙&lt;/mo&gt;&lt;/mover&gt;&lt;/mrow&gt;&lt;/math&gt;" id="779" name="Google Shape;779;p66" title="one third equals 0.3 equals 3 dot above"/>
          <p:cNvPicPr preferRelativeResize="0"/>
          <p:nvPr/>
        </p:nvPicPr>
        <p:blipFill rotWithShape="1">
          <a:blip r:embed="rId4">
            <a:alphaModFix/>
          </a:blip>
          <a:srcRect b="0" l="0" r="33989" t="0"/>
          <a:stretch/>
        </p:blipFill>
        <p:spPr>
          <a:xfrm>
            <a:off x="7459200" y="3771600"/>
            <a:ext cx="952984" cy="6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multiplier efficiently</a:t>
            </a:r>
            <a:endParaRPr/>
          </a:p>
        </p:txBody>
      </p:sp>
      <p:sp>
        <p:nvSpPr>
          <p:cNvPr id="785" name="Google Shape;785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one number as a fraction of another</a:t>
            </a:r>
            <a:endParaRPr/>
          </a:p>
        </p:txBody>
      </p:sp>
      <p:sp>
        <p:nvSpPr>
          <p:cNvPr id="786" name="Google Shape;786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one number as a fraction of another</a:t>
            </a:r>
            <a:endParaRPr/>
          </a:p>
        </p:txBody>
      </p:sp>
      <p:pic>
        <p:nvPicPr>
          <p:cNvPr id="787" name="Google Shape;78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8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multiplier efficiently</a:t>
            </a:r>
            <a:endParaRPr/>
          </a:p>
        </p:txBody>
      </p:sp>
      <p:sp>
        <p:nvSpPr>
          <p:cNvPr id="793" name="Google Shape;793;p68"/>
          <p:cNvSpPr txBox="1"/>
          <p:nvPr>
            <p:ph idx="1" type="body"/>
          </p:nvPr>
        </p:nvSpPr>
        <p:spPr>
          <a:xfrm>
            <a:off x="324000" y="606900"/>
            <a:ext cx="8237700" cy="7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Lucas and Sam are trying to find the missing numbers in the following: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794" name="Google Shape;79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249" y="362608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35232" y="2998150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68"/>
          <p:cNvSpPr txBox="1"/>
          <p:nvPr/>
        </p:nvSpPr>
        <p:spPr>
          <a:xfrm>
            <a:off x="365975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8"/>
          <p:cNvSpPr txBox="1"/>
          <p:nvPr/>
        </p:nvSpPr>
        <p:spPr>
          <a:xfrm>
            <a:off x="7777150" y="3988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8" name="Google Shape;798;p68"/>
          <p:cNvGrpSpPr/>
          <p:nvPr/>
        </p:nvGrpSpPr>
        <p:grpSpPr>
          <a:xfrm>
            <a:off x="1191492" y="2709907"/>
            <a:ext cx="2263218" cy="1096963"/>
            <a:chOff x="2443149" y="3910936"/>
            <a:chExt cx="2906033" cy="1316250"/>
          </a:xfrm>
        </p:grpSpPr>
        <p:pic>
          <p:nvPicPr>
            <p:cNvPr id="799" name="Google Shape;799;p68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2443149" y="3910936"/>
              <a:ext cx="283760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0" name="Google Shape;800;p68"/>
            <p:cNvSpPr txBox="1"/>
            <p:nvPr/>
          </p:nvSpPr>
          <p:spPr>
            <a:xfrm>
              <a:off x="2541782" y="3931136"/>
              <a:ext cx="2807400" cy="101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can do the first 2 but then I get a little bit stuck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1" name="Google Shape;801;p68"/>
          <p:cNvGrpSpPr/>
          <p:nvPr/>
        </p:nvGrpSpPr>
        <p:grpSpPr>
          <a:xfrm>
            <a:off x="5676775" y="2012625"/>
            <a:ext cx="2520687" cy="1316250"/>
            <a:chOff x="3797550" y="3468175"/>
            <a:chExt cx="2520687" cy="1316250"/>
          </a:xfrm>
        </p:grpSpPr>
        <p:pic>
          <p:nvPicPr>
            <p:cNvPr id="802" name="Google Shape;802;p68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3797550" y="3468175"/>
              <a:ext cx="2431002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3" name="Google Shape;803;p68"/>
            <p:cNvSpPr txBox="1"/>
            <p:nvPr/>
          </p:nvSpPr>
          <p:spPr>
            <a:xfrm>
              <a:off x="3818037" y="3570475"/>
              <a:ext cx="2500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Remember you can use the inverse of multiplication.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4" name="Google Shape;804;p68"/>
          <p:cNvGrpSpPr/>
          <p:nvPr/>
        </p:nvGrpSpPr>
        <p:grpSpPr>
          <a:xfrm>
            <a:off x="1197242" y="2723384"/>
            <a:ext cx="2283078" cy="1074587"/>
            <a:chOff x="1073349" y="3819503"/>
            <a:chExt cx="2931533" cy="1316250"/>
          </a:xfrm>
        </p:grpSpPr>
        <p:pic>
          <p:nvPicPr>
            <p:cNvPr id="805" name="Google Shape;805;p68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073349" y="3819503"/>
              <a:ext cx="283760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68"/>
            <p:cNvSpPr txBox="1"/>
            <p:nvPr/>
          </p:nvSpPr>
          <p:spPr>
            <a:xfrm>
              <a:off x="1197482" y="3840696"/>
              <a:ext cx="2807400" cy="101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Of course, I can do 81 ÷ 3 for the 3rd one.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807" name="Google Shape;807;p68"/>
          <p:cNvGraphicFramePr/>
          <p:nvPr/>
        </p:nvGraphicFramePr>
        <p:xfrm>
          <a:off x="3373913" y="131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{9870B833-4671-4C10-ABE5-1F8FA2A771BC}</a:tableStyleId>
              </a:tblPr>
              <a:tblGrid>
                <a:gridCol w="382850"/>
                <a:gridCol w="382850"/>
                <a:gridCol w="382850"/>
                <a:gridCol w="382850"/>
                <a:gridCol w="778225"/>
              </a:tblGrid>
              <a:tr h="41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=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4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=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=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=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4.5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2" name="Google Shape;812;p69"/>
          <p:cNvGrpSpPr/>
          <p:nvPr/>
        </p:nvGrpSpPr>
        <p:grpSpPr>
          <a:xfrm>
            <a:off x="5915386" y="1580971"/>
            <a:ext cx="2218743" cy="1316250"/>
            <a:chOff x="3797550" y="3468175"/>
            <a:chExt cx="4047324" cy="1316250"/>
          </a:xfrm>
        </p:grpSpPr>
        <p:pic>
          <p:nvPicPr>
            <p:cNvPr id="813" name="Google Shape;813;p69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3797550" y="3468175"/>
              <a:ext cx="4047324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4" name="Google Shape;814;p69"/>
            <p:cNvSpPr txBox="1"/>
            <p:nvPr/>
          </p:nvSpPr>
          <p:spPr>
            <a:xfrm>
              <a:off x="3940575" y="3570475"/>
              <a:ext cx="3681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I’ll check that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3.33333333 × 3 = 9.99999999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5" name="Google Shape;815;p69"/>
          <p:cNvGrpSpPr/>
          <p:nvPr/>
        </p:nvGrpSpPr>
        <p:grpSpPr>
          <a:xfrm>
            <a:off x="1197237" y="1701238"/>
            <a:ext cx="2283075" cy="1576239"/>
            <a:chOff x="1349650" y="1712975"/>
            <a:chExt cx="2283075" cy="1576239"/>
          </a:xfrm>
        </p:grpSpPr>
        <p:pic>
          <p:nvPicPr>
            <p:cNvPr id="816" name="Google Shape;816;p69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349650" y="1712975"/>
              <a:ext cx="2209925" cy="1576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69"/>
            <p:cNvSpPr txBox="1"/>
            <p:nvPr/>
          </p:nvSpPr>
          <p:spPr>
            <a:xfrm>
              <a:off x="1446325" y="1877350"/>
              <a:ext cx="2186400" cy="11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If 10 ÷ 3 = 3.3, then doesn’t that mean that 3.3 × 3 = 10?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18" name="Google Shape;818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multiplier efficiently</a:t>
            </a:r>
            <a:endParaRPr/>
          </a:p>
        </p:txBody>
      </p:sp>
      <p:sp>
        <p:nvSpPr>
          <p:cNvPr id="819" name="Google Shape;819;p69"/>
          <p:cNvSpPr txBox="1"/>
          <p:nvPr>
            <p:ph idx="1" type="body"/>
          </p:nvPr>
        </p:nvSpPr>
        <p:spPr>
          <a:xfrm>
            <a:off x="324000" y="759300"/>
            <a:ext cx="1542000" cy="4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 × 3.3 = 10</a:t>
            </a:r>
            <a:endParaRPr/>
          </a:p>
        </p:txBody>
      </p:sp>
      <p:sp>
        <p:nvSpPr>
          <p:cNvPr id="820" name="Google Shape;820;p69"/>
          <p:cNvSpPr/>
          <p:nvPr/>
        </p:nvSpPr>
        <p:spPr>
          <a:xfrm>
            <a:off x="716325" y="680400"/>
            <a:ext cx="449400" cy="545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69"/>
          <p:cNvSpPr txBox="1"/>
          <p:nvPr>
            <p:ph idx="1" type="body"/>
          </p:nvPr>
        </p:nvSpPr>
        <p:spPr>
          <a:xfrm>
            <a:off x="289775" y="1180888"/>
            <a:ext cx="1542000" cy="4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 ÷ 3 = 3.3</a:t>
            </a:r>
            <a:endParaRPr/>
          </a:p>
        </p:txBody>
      </p:sp>
      <p:pic>
        <p:nvPicPr>
          <p:cNvPr id="822" name="Google Shape;82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771" y="248988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087632" y="2464750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69"/>
          <p:cNvSpPr txBox="1"/>
          <p:nvPr/>
        </p:nvSpPr>
        <p:spPr>
          <a:xfrm>
            <a:off x="289775" y="3386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69"/>
          <p:cNvSpPr txBox="1"/>
          <p:nvPr/>
        </p:nvSpPr>
        <p:spPr>
          <a:xfrm>
            <a:off x="7929550" y="3531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6" name="Google Shape;826;p69"/>
          <p:cNvGrpSpPr/>
          <p:nvPr/>
        </p:nvGrpSpPr>
        <p:grpSpPr>
          <a:xfrm>
            <a:off x="6234550" y="1734879"/>
            <a:ext cx="1860150" cy="935196"/>
            <a:chOff x="4626532" y="3468175"/>
            <a:chExt cx="4047324" cy="1316250"/>
          </a:xfrm>
        </p:grpSpPr>
        <p:pic>
          <p:nvPicPr>
            <p:cNvPr id="827" name="Google Shape;827;p69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4626532" y="3468175"/>
              <a:ext cx="4047324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8" name="Google Shape;828;p69"/>
            <p:cNvSpPr txBox="1"/>
            <p:nvPr/>
          </p:nvSpPr>
          <p:spPr>
            <a:xfrm>
              <a:off x="4769557" y="3570475"/>
              <a:ext cx="3681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 should, but 3.3 × 3 = 9.9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29" name="Google Shape;829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62626" y="645525"/>
            <a:ext cx="2218750" cy="1035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0" name="Google Shape;830;p69"/>
          <p:cNvGrpSpPr/>
          <p:nvPr/>
        </p:nvGrpSpPr>
        <p:grpSpPr>
          <a:xfrm>
            <a:off x="1252128" y="1940738"/>
            <a:ext cx="2434931" cy="1047286"/>
            <a:chOff x="1073349" y="3792045"/>
            <a:chExt cx="2931533" cy="1343708"/>
          </a:xfrm>
        </p:grpSpPr>
        <p:pic>
          <p:nvPicPr>
            <p:cNvPr id="831" name="Google Shape;831;p69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073349" y="3819503"/>
              <a:ext cx="283760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2" name="Google Shape;832;p69"/>
            <p:cNvSpPr txBox="1"/>
            <p:nvPr/>
          </p:nvSpPr>
          <p:spPr>
            <a:xfrm>
              <a:off x="1197482" y="3792045"/>
              <a:ext cx="2807400" cy="101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Oh, I should have written 3.33333333 and not 3.3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3" name="Google Shape;833;p69"/>
          <p:cNvGrpSpPr/>
          <p:nvPr/>
        </p:nvGrpSpPr>
        <p:grpSpPr>
          <a:xfrm>
            <a:off x="1190640" y="2226774"/>
            <a:ext cx="2395942" cy="788891"/>
            <a:chOff x="1073349" y="3792045"/>
            <a:chExt cx="2931533" cy="1343708"/>
          </a:xfrm>
        </p:grpSpPr>
        <p:pic>
          <p:nvPicPr>
            <p:cNvPr id="834" name="Google Shape;834;p69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073349" y="3819503"/>
              <a:ext cx="283760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5" name="Google Shape;835;p69"/>
            <p:cNvSpPr txBox="1"/>
            <p:nvPr/>
          </p:nvSpPr>
          <p:spPr>
            <a:xfrm>
              <a:off x="1197482" y="3792045"/>
              <a:ext cx="2807400" cy="101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So, that is still not right.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6" name="Google Shape;836;p69"/>
          <p:cNvSpPr txBox="1"/>
          <p:nvPr>
            <p:ph idx="1" type="body"/>
          </p:nvPr>
        </p:nvSpPr>
        <p:spPr>
          <a:xfrm>
            <a:off x="324000" y="3740925"/>
            <a:ext cx="7493100" cy="33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take a look at what they typed into the calculator.</a:t>
            </a:r>
            <a:endParaRPr/>
          </a:p>
        </p:txBody>
      </p:sp>
      <p:pic>
        <p:nvPicPr>
          <p:cNvPr id="837" name="Google Shape;837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8475" y="2368325"/>
            <a:ext cx="2218750" cy="10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69"/>
          <p:cNvSpPr txBox="1"/>
          <p:nvPr>
            <p:ph idx="1" type="body"/>
          </p:nvPr>
        </p:nvSpPr>
        <p:spPr>
          <a:xfrm>
            <a:off x="324000" y="4153977"/>
            <a:ext cx="7810200" cy="7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Lucas should have used the fraction as this is the exact value of 10 ÷ 3.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0"/>
          <p:cNvSpPr txBox="1"/>
          <p:nvPr>
            <p:ph idx="1" type="body"/>
          </p:nvPr>
        </p:nvSpPr>
        <p:spPr>
          <a:xfrm>
            <a:off x="404400" y="1206192"/>
            <a:ext cx="30843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3 ×       = 16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3 ×       = 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3 ×       = 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}{36}&quot;&gt;&lt;mfrac&gt;&lt;mn&gt;7&lt;/mn&gt;&lt;mn&gt;36&lt;/mn&gt;&lt;/mfrac&gt;&lt;/math&gt;" id="844" name="Google Shape;844;p70" title="7 over 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870" y="3495165"/>
            <a:ext cx="305100" cy="549175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multiplier efficiently</a:t>
            </a:r>
            <a:endParaRPr/>
          </a:p>
        </p:txBody>
      </p:sp>
      <p:sp>
        <p:nvSpPr>
          <p:cNvPr id="846" name="Google Shape;846;p70"/>
          <p:cNvSpPr txBox="1"/>
          <p:nvPr>
            <p:ph idx="1" type="body"/>
          </p:nvPr>
        </p:nvSpPr>
        <p:spPr>
          <a:xfrm>
            <a:off x="324000" y="759300"/>
            <a:ext cx="8237700" cy="7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maths we should use the exact value in our calculations where appropriate.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6}{3}&quot;&gt;&lt;mfrac&gt;&lt;mn&gt;16&lt;/mn&gt;&lt;mn&gt;3&lt;/mn&gt;&lt;/mfrac&gt;&lt;/math&gt;" id="847" name="Google Shape;847;p70" title="sixteen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977" y="1891581"/>
            <a:ext cx="305104" cy="5654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21}&quot;&gt;&lt;mfrac&gt;&lt;mn&gt;4&lt;/mn&gt;&lt;mn&gt;21&lt;/mn&gt;&lt;/mfrac&gt;&lt;/math&gt;" id="848" name="Google Shape;848;p70" title="4 over 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5491" y="2686081"/>
            <a:ext cx="307315" cy="5654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2}&quot;&gt;&lt;mfrac&gt;&lt;mn&gt;7&lt;/mn&gt;&lt;mn&gt;12&lt;/mn&gt;&lt;/mfrac&gt;&lt;/math&gt;" id="849" name="Google Shape;849;p70" title="7 over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12595" y="3480581"/>
            <a:ext cx="311834" cy="5654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850" name="Google Shape;850;p70" title="four seve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61968" y="2723242"/>
            <a:ext cx="170857" cy="565457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70"/>
          <p:cNvSpPr/>
          <p:nvPr/>
        </p:nvSpPr>
        <p:spPr>
          <a:xfrm>
            <a:off x="827408" y="2676192"/>
            <a:ext cx="449400" cy="639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0"/>
          <p:cNvSpPr/>
          <p:nvPr/>
        </p:nvSpPr>
        <p:spPr>
          <a:xfrm>
            <a:off x="829800" y="3443369"/>
            <a:ext cx="449400" cy="639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0"/>
          <p:cNvSpPr/>
          <p:nvPr/>
        </p:nvSpPr>
        <p:spPr>
          <a:xfrm>
            <a:off x="800936" y="1858542"/>
            <a:ext cx="449400" cy="639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1"/>
          <p:cNvSpPr txBox="1"/>
          <p:nvPr>
            <p:ph idx="1" type="body"/>
          </p:nvPr>
        </p:nvSpPr>
        <p:spPr>
          <a:xfrm>
            <a:off x="324000" y="606900"/>
            <a:ext cx="2799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Match the following:</a:t>
            </a:r>
            <a:endParaRPr/>
          </a:p>
        </p:txBody>
      </p:sp>
      <p:sp>
        <p:nvSpPr>
          <p:cNvPr id="859" name="Google Shape;85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multiplier efficiently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860" name="Google Shape;860;p71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7872" y="2245137"/>
            <a:ext cx="175237" cy="558311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861" name="Google Shape;861;p71" title="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9222" y="1594113"/>
            <a:ext cx="171161" cy="566461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\frac{3}{2}&quot;&gt;&lt;mfrac&gt;&lt;mn&gt;3&lt;/mn&gt;&lt;mn&gt;2&lt;/mn&gt;&lt;/mfrac&gt;&lt;/math&gt;" id="862" name="Google Shape;862;p71" title="three halv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7872" y="2885963"/>
            <a:ext cx="175237" cy="558311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\ \frac{3}{4}&quot;&gt;&lt;mn&gt;1&lt;/mn&gt;&lt;mtext&gt;&lt;/mtext&gt;&lt;mfrac&gt;&lt;mn&gt;3&lt;/mn&gt;&lt;mn&gt;4&lt;/mn&gt;&lt;/mfrac&gt;&lt;/math&gt;" id="863" name="Google Shape;863;p71" title="1 three four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8028" y="3526788"/>
            <a:ext cx="374925" cy="558311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864" name="Google Shape;864;p71"/>
          <p:cNvCxnSpPr/>
          <p:nvPr/>
        </p:nvCxnSpPr>
        <p:spPr>
          <a:xfrm>
            <a:off x="2494250" y="1324525"/>
            <a:ext cx="2714100" cy="115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5" name="Google Shape;865;p71"/>
          <p:cNvCxnSpPr>
            <a:stCxn id="866" idx="3"/>
          </p:cNvCxnSpPr>
          <p:nvPr/>
        </p:nvCxnSpPr>
        <p:spPr>
          <a:xfrm>
            <a:off x="2392425" y="2015631"/>
            <a:ext cx="2842500" cy="237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5}{3}&quot;&gt;&lt;mfrac&gt;&lt;mn&gt;5&lt;/mn&gt;&lt;mn&gt;3&lt;/mn&gt;&lt;/mfrac&gt;&lt;/math&gt;" id="867" name="Google Shape;867;p71" title="five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17883" y="4167613"/>
            <a:ext cx="175225" cy="563223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868" name="Google Shape;868;p71"/>
          <p:cNvCxnSpPr>
            <a:stCxn id="869" idx="3"/>
          </p:cNvCxnSpPr>
          <p:nvPr/>
        </p:nvCxnSpPr>
        <p:spPr>
          <a:xfrm>
            <a:off x="2383776" y="2648174"/>
            <a:ext cx="2765100" cy="1145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1\ \frac{1}{3}&quot;&gt;&lt;mn&gt;1&lt;/mn&gt;&lt;mtext&gt;&lt;/mtext&gt;&lt;mfrac&gt;&lt;mn&gt;1&lt;/mn&gt;&lt;mn&gt;3&lt;/mn&gt;&lt;/mfrac&gt;&lt;/math&gt;" id="870" name="Google Shape;870;p71" title="1 one thir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05288" y="943100"/>
            <a:ext cx="379000" cy="566473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871" name="Google Shape;871;p71"/>
          <p:cNvCxnSpPr>
            <a:stCxn id="872" idx="3"/>
          </p:cNvCxnSpPr>
          <p:nvPr/>
        </p:nvCxnSpPr>
        <p:spPr>
          <a:xfrm flipH="1" rot="10800000">
            <a:off x="2383774" y="1232006"/>
            <a:ext cx="2731800" cy="2046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" name="Google Shape;873;p71"/>
          <p:cNvCxnSpPr/>
          <p:nvPr/>
        </p:nvCxnSpPr>
        <p:spPr>
          <a:xfrm flipH="1" rot="10800000">
            <a:off x="2450150" y="3171425"/>
            <a:ext cx="2797800" cy="670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71"/>
          <p:cNvCxnSpPr>
            <a:stCxn id="875" idx="3"/>
          </p:cNvCxnSpPr>
          <p:nvPr/>
        </p:nvCxnSpPr>
        <p:spPr>
          <a:xfrm flipH="1" rot="10800000">
            <a:off x="2383773" y="1896666"/>
            <a:ext cx="2884200" cy="259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6" name="Google Shape;876;p71"/>
          <p:cNvSpPr txBox="1"/>
          <p:nvPr>
            <p:ph idx="1" type="body"/>
          </p:nvPr>
        </p:nvSpPr>
        <p:spPr>
          <a:xfrm>
            <a:off x="5964150" y="810000"/>
            <a:ext cx="2799900" cy="124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of these could be written as terminating decimals?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877" name="Google Shape;877;p71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185" y="2511912"/>
            <a:ext cx="175237" cy="558311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\frac{3}{2}&quot;&gt;&lt;mfrac&gt;&lt;mn&gt;3&lt;/mn&gt;&lt;mn&gt;2&lt;/mn&gt;&lt;/mfrac&gt;&lt;/math&gt;" id="878" name="Google Shape;878;p71" title="three halv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2297" y="2511900"/>
            <a:ext cx="175237" cy="558311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\ \frac{3}{4}&quot;&gt;&lt;mn&gt;1&lt;/mn&gt;&lt;mtext&gt;&lt;/mtext&gt;&lt;mfrac&gt;&lt;mn&gt;3&lt;/mn&gt;&lt;mn&gt;4&lt;/mn&gt;&lt;/mfrac&gt;&lt;/math&gt;" id="879" name="Google Shape;879;p71" title="1 three four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64628" y="2511901"/>
            <a:ext cx="374925" cy="558311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880" name="Google Shape;880;p71"/>
          <p:cNvGraphicFramePr/>
          <p:nvPr/>
        </p:nvGraphicFramePr>
        <p:xfrm>
          <a:off x="350400" y="107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{9870B833-4671-4C10-ABE5-1F8FA2A771BC}</a:tableStyleId>
              </a:tblPr>
              <a:tblGrid>
                <a:gridCol w="382850"/>
                <a:gridCol w="382850"/>
                <a:gridCol w="382850"/>
                <a:gridCol w="382850"/>
                <a:gridCol w="612450"/>
              </a:tblGrid>
              <a:tr h="623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=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3.75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=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=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=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=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7.5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=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8\ \frac{1}{3}&quot;&gt;&lt;mn&gt;8&lt;/mn&gt;&lt;mtext&gt;&lt;/mtext&gt;&lt;mfrac&gt;&lt;mn&gt;1&lt;/mn&gt;&lt;mn&gt;3&lt;/mn&gt;&lt;/mfrac&gt;&lt;/math&gt;" id="866" name="Google Shape;866;p71" title="8 one thir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17500" y="1747000"/>
            <a:ext cx="374925" cy="537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\ \frac{3}{4}&quot;&gt;&lt;mn&gt;8&lt;/mn&gt;&lt;mtext&gt;&lt;/mtext&gt;&lt;mfrac&gt;&lt;mn&gt;3&lt;/mn&gt;&lt;mn&gt;4&lt;/mn&gt;&lt;/mfrac&gt;&lt;/math&gt;" id="869" name="Google Shape;869;p71" title="8 three four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04776" y="2377750"/>
            <a:ext cx="379000" cy="54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7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08849" y="3012099"/>
            <a:ext cx="374925" cy="531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frac{1}{3}&quot;&gt;&lt;mn&gt;3&lt;/mn&gt;&lt;mtext&gt;&lt;/mtext&gt;&lt;mfrac&gt;&lt;mn&gt;1&lt;/mn&gt;&lt;mn&gt;3&lt;/mn&gt;&lt;/mfrac&gt;&lt;/math&gt;" id="875" name="Google Shape;875;p71" title="3 one thir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08848" y="4229682"/>
            <a:ext cx="374925" cy="531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multiplier efficiently</a:t>
            </a:r>
            <a:endParaRPr/>
          </a:p>
        </p:txBody>
      </p:sp>
      <p:pic>
        <p:nvPicPr>
          <p:cNvPr id="886" name="Google Shape;88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21" y="1369362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70707" y="3119312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72"/>
          <p:cNvSpPr txBox="1"/>
          <p:nvPr/>
        </p:nvSpPr>
        <p:spPr>
          <a:xfrm>
            <a:off x="382525" y="22654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2"/>
          <p:cNvSpPr txBox="1"/>
          <p:nvPr/>
        </p:nvSpPr>
        <p:spPr>
          <a:xfrm>
            <a:off x="7859400" y="41358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2"/>
          <p:cNvSpPr/>
          <p:nvPr/>
        </p:nvSpPr>
        <p:spPr>
          <a:xfrm>
            <a:off x="5320550" y="1232380"/>
            <a:ext cx="3049200" cy="554700"/>
          </a:xfrm>
          <a:prstGeom prst="rect">
            <a:avLst/>
          </a:prstGeom>
          <a:solidFill>
            <a:srgbClr val="845AD9">
              <a:alpha val="46250"/>
            </a:srgbClr>
          </a:solidFill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1" name="Google Shape;891;p72"/>
          <p:cNvCxnSpPr/>
          <p:nvPr/>
        </p:nvCxnSpPr>
        <p:spPr>
          <a:xfrm>
            <a:off x="5306050" y="1016980"/>
            <a:ext cx="30513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892" name="Google Shape;892;p72"/>
          <p:cNvSpPr txBox="1"/>
          <p:nvPr/>
        </p:nvSpPr>
        <p:spPr>
          <a:xfrm>
            <a:off x="6475900" y="606155"/>
            <a:ext cx="711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3" name="Google Shape;893;p72"/>
          <p:cNvGrpSpPr/>
          <p:nvPr/>
        </p:nvGrpSpPr>
        <p:grpSpPr>
          <a:xfrm>
            <a:off x="4330949" y="1715726"/>
            <a:ext cx="4047324" cy="1562257"/>
            <a:chOff x="3797550" y="3468175"/>
            <a:chExt cx="4047324" cy="1316250"/>
          </a:xfrm>
        </p:grpSpPr>
        <p:pic>
          <p:nvPicPr>
            <p:cNvPr id="894" name="Google Shape;894;p7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3797550" y="3468175"/>
              <a:ext cx="4047324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5" name="Google Shape;895;p72"/>
            <p:cNvSpPr txBox="1"/>
            <p:nvPr/>
          </p:nvSpPr>
          <p:spPr>
            <a:xfrm>
              <a:off x="3940575" y="3570475"/>
              <a:ext cx="3681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really like that material Lucas.  I would like to get some but I would need 6 metres.  How much will that cost?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6" name="Google Shape;896;p72"/>
          <p:cNvGrpSpPr/>
          <p:nvPr/>
        </p:nvGrpSpPr>
        <p:grpSpPr>
          <a:xfrm>
            <a:off x="1082991" y="900249"/>
            <a:ext cx="2967590" cy="788891"/>
            <a:chOff x="1073349" y="3792045"/>
            <a:chExt cx="2931533" cy="1343708"/>
          </a:xfrm>
        </p:grpSpPr>
        <p:pic>
          <p:nvPicPr>
            <p:cNvPr id="897" name="Google Shape;897;p7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073349" y="3819503"/>
              <a:ext cx="283760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8" name="Google Shape;898;p72"/>
            <p:cNvSpPr txBox="1"/>
            <p:nvPr/>
          </p:nvSpPr>
          <p:spPr>
            <a:xfrm>
              <a:off x="1197482" y="3792045"/>
              <a:ext cx="2807400" cy="101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bought this piece of material for £10.50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9" name="Google Shape;899;p72"/>
          <p:cNvGrpSpPr/>
          <p:nvPr/>
        </p:nvGrpSpPr>
        <p:grpSpPr>
          <a:xfrm>
            <a:off x="487775" y="2912838"/>
            <a:ext cx="4922700" cy="1357500"/>
            <a:chOff x="487775" y="2912838"/>
            <a:chExt cx="4922700" cy="1357500"/>
          </a:xfrm>
        </p:grpSpPr>
        <p:grpSp>
          <p:nvGrpSpPr>
            <p:cNvPr id="900" name="Google Shape;900;p72"/>
            <p:cNvGrpSpPr/>
            <p:nvPr/>
          </p:nvGrpSpPr>
          <p:grpSpPr>
            <a:xfrm>
              <a:off x="487775" y="2912838"/>
              <a:ext cx="3074500" cy="1357500"/>
              <a:chOff x="441900" y="3572013"/>
              <a:chExt cx="3074500" cy="1357500"/>
            </a:xfrm>
          </p:grpSpPr>
          <p:cxnSp>
            <p:nvCxnSpPr>
              <p:cNvPr id="901" name="Google Shape;901;p72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2" name="Google Shape;902;p72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903" name="Google Shape;903;p72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904" name="Google Shape;904;p72"/>
            <p:cNvGrpSpPr/>
            <p:nvPr/>
          </p:nvGrpSpPr>
          <p:grpSpPr>
            <a:xfrm>
              <a:off x="2816388" y="3107975"/>
              <a:ext cx="63300" cy="1000200"/>
              <a:chOff x="941713" y="3767150"/>
              <a:chExt cx="63300" cy="1000200"/>
            </a:xfrm>
          </p:grpSpPr>
          <p:cxnSp>
            <p:nvCxnSpPr>
              <p:cNvPr id="905" name="Google Shape;905;p7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06" name="Google Shape;906;p7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7" name="Google Shape;907;p72"/>
            <p:cNvGrpSpPr/>
            <p:nvPr/>
          </p:nvGrpSpPr>
          <p:grpSpPr>
            <a:xfrm>
              <a:off x="1673388" y="3107975"/>
              <a:ext cx="63300" cy="1000200"/>
              <a:chOff x="941713" y="3767150"/>
              <a:chExt cx="63300" cy="1000200"/>
            </a:xfrm>
          </p:grpSpPr>
          <p:cxnSp>
            <p:nvCxnSpPr>
              <p:cNvPr id="908" name="Google Shape;908;p7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09" name="Google Shape;909;p7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10" name="Google Shape;910;p72"/>
            <p:cNvSpPr txBox="1"/>
            <p:nvPr/>
          </p:nvSpPr>
          <p:spPr>
            <a:xfrm>
              <a:off x="3607175" y="3148425"/>
              <a:ext cx="1803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Length (m)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1" name="Google Shape;911;p72"/>
            <p:cNvSpPr txBox="1"/>
            <p:nvPr/>
          </p:nvSpPr>
          <p:spPr>
            <a:xfrm>
              <a:off x="3636377" y="3755750"/>
              <a:ext cx="1136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Cost (£)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2" name="Google Shape;912;p72"/>
          <p:cNvSpPr txBox="1"/>
          <p:nvPr/>
        </p:nvSpPr>
        <p:spPr>
          <a:xfrm>
            <a:off x="1635450" y="2734200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2"/>
          <p:cNvSpPr txBox="1"/>
          <p:nvPr/>
        </p:nvSpPr>
        <p:spPr>
          <a:xfrm>
            <a:off x="2690700" y="4123275"/>
            <a:ext cx="31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2"/>
          <p:cNvSpPr txBox="1"/>
          <p:nvPr/>
        </p:nvSpPr>
        <p:spPr>
          <a:xfrm>
            <a:off x="2114300" y="2213613"/>
            <a:ext cx="50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5" name="Google Shape;915;p72"/>
          <p:cNvGrpSpPr/>
          <p:nvPr/>
        </p:nvGrpSpPr>
        <p:grpSpPr>
          <a:xfrm>
            <a:off x="1697750" y="4319150"/>
            <a:ext cx="1159800" cy="554950"/>
            <a:chOff x="1697750" y="4319150"/>
            <a:chExt cx="1159800" cy="554950"/>
          </a:xfrm>
        </p:grpSpPr>
        <p:sp>
          <p:nvSpPr>
            <p:cNvPr id="916" name="Google Shape;916;p72"/>
            <p:cNvSpPr/>
            <p:nvPr/>
          </p:nvSpPr>
          <p:spPr>
            <a:xfrm flipH="1" rot="10800000">
              <a:off x="1697750" y="4319150"/>
              <a:ext cx="1159800" cy="261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72"/>
            <p:cNvSpPr txBox="1"/>
            <p:nvPr/>
          </p:nvSpPr>
          <p:spPr>
            <a:xfrm>
              <a:off x="2087821" y="4535400"/>
              <a:ext cx="711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2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8" name="Google Shape;918;p72"/>
          <p:cNvSpPr txBox="1"/>
          <p:nvPr/>
        </p:nvSpPr>
        <p:spPr>
          <a:xfrm>
            <a:off x="1315993" y="4152425"/>
            <a:ext cx="79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10.50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2"/>
          <p:cNvSpPr/>
          <p:nvPr/>
        </p:nvSpPr>
        <p:spPr>
          <a:xfrm>
            <a:off x="1727368" y="2522325"/>
            <a:ext cx="1159800" cy="270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72"/>
          <p:cNvSpPr txBox="1"/>
          <p:nvPr/>
        </p:nvSpPr>
        <p:spPr>
          <a:xfrm>
            <a:off x="2766596" y="4108175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2"/>
          <p:cNvSpPr txBox="1"/>
          <p:nvPr/>
        </p:nvSpPr>
        <p:spPr>
          <a:xfrm>
            <a:off x="2778450" y="2696450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2"/>
          <p:cNvSpPr txBox="1"/>
          <p:nvPr/>
        </p:nvSpPr>
        <p:spPr>
          <a:xfrm>
            <a:off x="6402500" y="1340380"/>
            <a:ext cx="88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£10.50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2"/>
          <p:cNvSpPr txBox="1"/>
          <p:nvPr/>
        </p:nvSpPr>
        <p:spPr>
          <a:xfrm>
            <a:off x="3647725" y="4120100"/>
            <a:ext cx="367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It will cost Sam £21 to buy 6 metres of the same material.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73"/>
          <p:cNvSpPr txBox="1"/>
          <p:nvPr/>
        </p:nvSpPr>
        <p:spPr>
          <a:xfrm>
            <a:off x="2615329" y="3619025"/>
            <a:ext cx="54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multiplier efficiently</a:t>
            </a:r>
            <a:endParaRPr/>
          </a:p>
        </p:txBody>
      </p:sp>
      <p:grpSp>
        <p:nvGrpSpPr>
          <p:cNvPr id="930" name="Google Shape;930;p73"/>
          <p:cNvGrpSpPr/>
          <p:nvPr/>
        </p:nvGrpSpPr>
        <p:grpSpPr>
          <a:xfrm>
            <a:off x="411575" y="2379438"/>
            <a:ext cx="3074500" cy="1357500"/>
            <a:chOff x="441900" y="3572013"/>
            <a:chExt cx="3074500" cy="1357500"/>
          </a:xfrm>
        </p:grpSpPr>
        <p:cxnSp>
          <p:nvCxnSpPr>
            <p:cNvPr id="931" name="Google Shape;931;p73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2" name="Google Shape;932;p73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3" name="Google Shape;933;p73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34" name="Google Shape;934;p73"/>
          <p:cNvGrpSpPr/>
          <p:nvPr/>
        </p:nvGrpSpPr>
        <p:grpSpPr>
          <a:xfrm>
            <a:off x="2740188" y="2574575"/>
            <a:ext cx="63300" cy="1000200"/>
            <a:chOff x="941713" y="3767150"/>
            <a:chExt cx="63300" cy="1000200"/>
          </a:xfrm>
        </p:grpSpPr>
        <p:cxnSp>
          <p:nvCxnSpPr>
            <p:cNvPr id="935" name="Google Shape;935;p73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36" name="Google Shape;936;p73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7" name="Google Shape;937;p73"/>
          <p:cNvSpPr txBox="1"/>
          <p:nvPr/>
        </p:nvSpPr>
        <p:spPr>
          <a:xfrm>
            <a:off x="2690396" y="3619025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8" name="Google Shape;938;p73"/>
          <p:cNvGrpSpPr/>
          <p:nvPr/>
        </p:nvGrpSpPr>
        <p:grpSpPr>
          <a:xfrm>
            <a:off x="1063788" y="2574575"/>
            <a:ext cx="63300" cy="1000200"/>
            <a:chOff x="941713" y="3767150"/>
            <a:chExt cx="63300" cy="1000200"/>
          </a:xfrm>
        </p:grpSpPr>
        <p:cxnSp>
          <p:nvCxnSpPr>
            <p:cNvPr id="939" name="Google Shape;939;p73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40" name="Google Shape;940;p73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1" name="Google Shape;941;p73"/>
          <p:cNvSpPr txBox="1"/>
          <p:nvPr/>
        </p:nvSpPr>
        <p:spPr>
          <a:xfrm>
            <a:off x="3530975" y="2615025"/>
            <a:ext cx="180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Length (m)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3"/>
          <p:cNvSpPr txBox="1"/>
          <p:nvPr/>
        </p:nvSpPr>
        <p:spPr>
          <a:xfrm>
            <a:off x="3560177" y="3222350"/>
            <a:ext cx="113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Cost (£)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3"/>
          <p:cNvSpPr txBox="1"/>
          <p:nvPr/>
        </p:nvSpPr>
        <p:spPr>
          <a:xfrm>
            <a:off x="1025850" y="2239250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3"/>
          <p:cNvSpPr txBox="1"/>
          <p:nvPr/>
        </p:nvSpPr>
        <p:spPr>
          <a:xfrm>
            <a:off x="1730373" y="1514311"/>
            <a:ext cx="50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3"/>
          <p:cNvSpPr/>
          <p:nvPr/>
        </p:nvSpPr>
        <p:spPr>
          <a:xfrm flipH="1" rot="10800000">
            <a:off x="1147117" y="3895050"/>
            <a:ext cx="1656300" cy="261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73"/>
          <p:cNvSpPr txBox="1"/>
          <p:nvPr/>
        </p:nvSpPr>
        <p:spPr>
          <a:xfrm>
            <a:off x="706393" y="3619025"/>
            <a:ext cx="79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10.50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3"/>
          <p:cNvSpPr/>
          <p:nvPr/>
        </p:nvSpPr>
        <p:spPr>
          <a:xfrm>
            <a:off x="1100274" y="1988925"/>
            <a:ext cx="1656300" cy="270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73"/>
          <p:cNvSpPr txBox="1"/>
          <p:nvPr/>
        </p:nvSpPr>
        <p:spPr>
          <a:xfrm>
            <a:off x="2626050" y="2239250"/>
            <a:ext cx="32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3"/>
          <p:cNvSpPr txBox="1"/>
          <p:nvPr>
            <p:ph idx="1" type="body"/>
          </p:nvPr>
        </p:nvSpPr>
        <p:spPr>
          <a:xfrm>
            <a:off x="324000" y="759300"/>
            <a:ext cx="8237700" cy="7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could we use the double number line to find the cost of 10 metres? </a:t>
            </a:r>
            <a:endParaRPr/>
          </a:p>
        </p:txBody>
      </p:sp>
      <p:grpSp>
        <p:nvGrpSpPr>
          <p:cNvPr id="950" name="Google Shape;950;p73"/>
          <p:cNvGrpSpPr/>
          <p:nvPr/>
        </p:nvGrpSpPr>
        <p:grpSpPr>
          <a:xfrm>
            <a:off x="1733300" y="1427900"/>
            <a:ext cx="503100" cy="502675"/>
            <a:chOff x="2026050" y="1461000"/>
            <a:chExt cx="503100" cy="502675"/>
          </a:xfrm>
        </p:grpSpPr>
        <p:sp>
          <p:nvSpPr>
            <p:cNvPr descr="&lt;math xmlns=&quot;http://www.w3.org/1998/Math/MathML&quot; display=&quot;block&quot; data-is-equatio=&quot;1&quot; data-latex=&quot;\frac{10}{3}&quot;&gt;&lt;mfrac&gt;&lt;mn&gt;10&lt;/mn&gt;&lt;mn&gt;3&lt;/mn&gt;&lt;/mfrac&gt;&lt;/math&gt;" id="951" name="Google Shape;951;p73" title="ten thirds"/>
            <p:cNvSpPr txBox="1"/>
            <p:nvPr/>
          </p:nvSpPr>
          <p:spPr>
            <a:xfrm>
              <a:off x="2026050" y="1544104"/>
              <a:ext cx="503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52" name="Google Shape;952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09925" y="1461000"/>
              <a:ext cx="271225" cy="502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3" name="Google Shape;953;p73"/>
          <p:cNvGrpSpPr/>
          <p:nvPr/>
        </p:nvGrpSpPr>
        <p:grpSpPr>
          <a:xfrm>
            <a:off x="1733300" y="4230600"/>
            <a:ext cx="443050" cy="502675"/>
            <a:chOff x="2038100" y="4002000"/>
            <a:chExt cx="443050" cy="502675"/>
          </a:xfrm>
        </p:grpSpPr>
        <p:sp>
          <p:nvSpPr>
            <p:cNvPr id="954" name="Google Shape;954;p73"/>
            <p:cNvSpPr txBox="1"/>
            <p:nvPr/>
          </p:nvSpPr>
          <p:spPr>
            <a:xfrm>
              <a:off x="2038100" y="4078200"/>
              <a:ext cx="13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55" name="Google Shape;955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09925" y="4002000"/>
              <a:ext cx="271225" cy="502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6" name="Google Shape;956;p73"/>
          <p:cNvSpPr txBox="1"/>
          <p:nvPr/>
        </p:nvSpPr>
        <p:spPr>
          <a:xfrm>
            <a:off x="5500200" y="1557425"/>
            <a:ext cx="29655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multiplicative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relationship between 3 and 10?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3"/>
          <p:cNvSpPr txBox="1"/>
          <p:nvPr/>
        </p:nvSpPr>
        <p:spPr>
          <a:xfrm>
            <a:off x="3647725" y="4043900"/>
            <a:ext cx="4639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It will cost £35 to buy 10 metres of the same material.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multiplier efficiently</a:t>
            </a:r>
            <a:endParaRPr/>
          </a:p>
        </p:txBody>
      </p:sp>
      <p:sp>
        <p:nvSpPr>
          <p:cNvPr id="963" name="Google Shape;963;p74"/>
          <p:cNvSpPr txBox="1"/>
          <p:nvPr>
            <p:ph idx="1" type="body"/>
          </p:nvPr>
        </p:nvSpPr>
        <p:spPr>
          <a:xfrm>
            <a:off x="324000" y="606900"/>
            <a:ext cx="8237700" cy="112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recipe requires 195 grams of chocolate chips to bake 30 cookies.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weight of chocolate chips would you need to make 250 cookies?</a:t>
            </a:r>
            <a:endParaRPr sz="2000"/>
          </a:p>
        </p:txBody>
      </p:sp>
      <p:grpSp>
        <p:nvGrpSpPr>
          <p:cNvPr id="964" name="Google Shape;964;p74"/>
          <p:cNvGrpSpPr/>
          <p:nvPr/>
        </p:nvGrpSpPr>
        <p:grpSpPr>
          <a:xfrm>
            <a:off x="1249775" y="2379438"/>
            <a:ext cx="3074500" cy="1357500"/>
            <a:chOff x="441900" y="3572013"/>
            <a:chExt cx="3074500" cy="1357500"/>
          </a:xfrm>
        </p:grpSpPr>
        <p:cxnSp>
          <p:nvCxnSpPr>
            <p:cNvPr id="965" name="Google Shape;965;p74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6" name="Google Shape;966;p74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67" name="Google Shape;967;p74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68" name="Google Shape;968;p74"/>
          <p:cNvGrpSpPr/>
          <p:nvPr/>
        </p:nvGrpSpPr>
        <p:grpSpPr>
          <a:xfrm>
            <a:off x="3578388" y="2574575"/>
            <a:ext cx="63300" cy="1000200"/>
            <a:chOff x="941713" y="3767150"/>
            <a:chExt cx="63300" cy="1000200"/>
          </a:xfrm>
        </p:grpSpPr>
        <p:cxnSp>
          <p:nvCxnSpPr>
            <p:cNvPr id="969" name="Google Shape;969;p74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70" name="Google Shape;970;p74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1" name="Google Shape;971;p74"/>
          <p:cNvSpPr txBox="1"/>
          <p:nvPr/>
        </p:nvSpPr>
        <p:spPr>
          <a:xfrm>
            <a:off x="3528596" y="3574775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72" name="Google Shape;972;p74"/>
          <p:cNvGrpSpPr/>
          <p:nvPr/>
        </p:nvGrpSpPr>
        <p:grpSpPr>
          <a:xfrm>
            <a:off x="1597188" y="2574575"/>
            <a:ext cx="63300" cy="1000200"/>
            <a:chOff x="941713" y="3767150"/>
            <a:chExt cx="63300" cy="1000200"/>
          </a:xfrm>
        </p:grpSpPr>
        <p:cxnSp>
          <p:nvCxnSpPr>
            <p:cNvPr id="973" name="Google Shape;973;p74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74" name="Google Shape;974;p74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5" name="Google Shape;975;p74"/>
          <p:cNvSpPr txBox="1"/>
          <p:nvPr/>
        </p:nvSpPr>
        <p:spPr>
          <a:xfrm>
            <a:off x="4369175" y="2615025"/>
            <a:ext cx="180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Cookies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4"/>
          <p:cNvSpPr txBox="1"/>
          <p:nvPr/>
        </p:nvSpPr>
        <p:spPr>
          <a:xfrm>
            <a:off x="4398372" y="3222350"/>
            <a:ext cx="262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Chocolate chips (g)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4"/>
          <p:cNvSpPr txBox="1"/>
          <p:nvPr/>
        </p:nvSpPr>
        <p:spPr>
          <a:xfrm>
            <a:off x="1483050" y="2200800"/>
            <a:ext cx="32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4"/>
          <p:cNvSpPr txBox="1"/>
          <p:nvPr/>
        </p:nvSpPr>
        <p:spPr>
          <a:xfrm>
            <a:off x="3318782" y="3574775"/>
            <a:ext cx="6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1625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4"/>
          <p:cNvSpPr/>
          <p:nvPr/>
        </p:nvSpPr>
        <p:spPr>
          <a:xfrm flipH="1" rot="10800000">
            <a:off x="1648236" y="3895050"/>
            <a:ext cx="1930200" cy="261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74"/>
          <p:cNvSpPr txBox="1"/>
          <p:nvPr/>
        </p:nvSpPr>
        <p:spPr>
          <a:xfrm>
            <a:off x="1392197" y="3574775"/>
            <a:ext cx="50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195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4"/>
          <p:cNvSpPr/>
          <p:nvPr/>
        </p:nvSpPr>
        <p:spPr>
          <a:xfrm>
            <a:off x="1593650" y="1988925"/>
            <a:ext cx="1930200" cy="270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74"/>
          <p:cNvSpPr txBox="1"/>
          <p:nvPr/>
        </p:nvSpPr>
        <p:spPr>
          <a:xfrm>
            <a:off x="3388050" y="2163050"/>
            <a:ext cx="54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3" name="Google Shape;983;p74"/>
          <p:cNvGrpSpPr/>
          <p:nvPr/>
        </p:nvGrpSpPr>
        <p:grpSpPr>
          <a:xfrm>
            <a:off x="2217823" y="1370673"/>
            <a:ext cx="528688" cy="585095"/>
            <a:chOff x="3403925" y="2344650"/>
            <a:chExt cx="528688" cy="585095"/>
          </a:xfrm>
        </p:grpSpPr>
        <p:sp>
          <p:nvSpPr>
            <p:cNvPr id="984" name="Google Shape;984;p74"/>
            <p:cNvSpPr txBox="1"/>
            <p:nvPr/>
          </p:nvSpPr>
          <p:spPr>
            <a:xfrm>
              <a:off x="3403925" y="2452642"/>
              <a:ext cx="13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5}{3}&quot;&gt;&lt;mfrac&gt;&lt;mn&gt;25&lt;/mn&gt;&lt;mn&gt;3&lt;/mn&gt;&lt;/mfrac&gt;&lt;/math&gt;" id="985" name="Google Shape;985;p74" title="25 over 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11913" y="2344650"/>
              <a:ext cx="320700" cy="58509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6" name="Google Shape;986;p74"/>
          <p:cNvGrpSpPr/>
          <p:nvPr/>
        </p:nvGrpSpPr>
        <p:grpSpPr>
          <a:xfrm>
            <a:off x="2273320" y="4210741"/>
            <a:ext cx="516138" cy="585095"/>
            <a:chOff x="3562100" y="4306800"/>
            <a:chExt cx="516138" cy="585095"/>
          </a:xfrm>
        </p:grpSpPr>
        <p:sp>
          <p:nvSpPr>
            <p:cNvPr id="987" name="Google Shape;987;p74"/>
            <p:cNvSpPr txBox="1"/>
            <p:nvPr/>
          </p:nvSpPr>
          <p:spPr>
            <a:xfrm>
              <a:off x="3562100" y="4426102"/>
              <a:ext cx="13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5}{3}&quot;&gt;&lt;mfrac&gt;&lt;mn&gt;25&lt;/mn&gt;&lt;mn&gt;3&lt;/mn&gt;&lt;/mfrac&gt;&lt;/math&gt;" id="988" name="Google Shape;988;p74" title="25 over 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757538" y="4306800"/>
              <a:ext cx="320700" cy="5850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9" name="Google Shape;989;p74"/>
          <p:cNvSpPr txBox="1"/>
          <p:nvPr/>
        </p:nvSpPr>
        <p:spPr>
          <a:xfrm>
            <a:off x="4104925" y="4120100"/>
            <a:ext cx="4639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You need 1625 grams to make 250 cookies.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75"/>
          <p:cNvSpPr txBox="1"/>
          <p:nvPr/>
        </p:nvSpPr>
        <p:spPr>
          <a:xfrm>
            <a:off x="6356991" y="3130355"/>
            <a:ext cx="75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19.60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5" name="Google Shape;995;p75"/>
          <p:cNvSpPr txBox="1"/>
          <p:nvPr>
            <p:ph idx="1" type="subTitle"/>
          </p:nvPr>
        </p:nvSpPr>
        <p:spPr>
          <a:xfrm>
            <a:off x="337825" y="634505"/>
            <a:ext cx="3982200" cy="3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Complete this double number line:</a:t>
            </a:r>
            <a:endParaRPr/>
          </a:p>
        </p:txBody>
      </p:sp>
      <p:sp>
        <p:nvSpPr>
          <p:cNvPr id="996" name="Google Shape;996;p7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multiplier efficiently</a:t>
            </a:r>
            <a:endParaRPr/>
          </a:p>
        </p:txBody>
      </p:sp>
      <p:grpSp>
        <p:nvGrpSpPr>
          <p:cNvPr id="997" name="Google Shape;997;p75"/>
          <p:cNvGrpSpPr/>
          <p:nvPr/>
        </p:nvGrpSpPr>
        <p:grpSpPr>
          <a:xfrm>
            <a:off x="538247" y="1899155"/>
            <a:ext cx="2414405" cy="1357500"/>
            <a:chOff x="441900" y="3572013"/>
            <a:chExt cx="3074500" cy="1357500"/>
          </a:xfrm>
        </p:grpSpPr>
        <p:cxnSp>
          <p:nvCxnSpPr>
            <p:cNvPr id="998" name="Google Shape;998;p75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9" name="Google Shape;999;p75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00" name="Google Shape;1000;p75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001" name="Google Shape;1001;p75"/>
          <p:cNvGrpSpPr/>
          <p:nvPr/>
        </p:nvGrpSpPr>
        <p:grpSpPr>
          <a:xfrm>
            <a:off x="2206788" y="2094280"/>
            <a:ext cx="63300" cy="1000200"/>
            <a:chOff x="941713" y="3767150"/>
            <a:chExt cx="63300" cy="1000200"/>
          </a:xfrm>
        </p:grpSpPr>
        <p:cxnSp>
          <p:nvCxnSpPr>
            <p:cNvPr id="1002" name="Google Shape;1002;p75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03" name="Google Shape;1003;p75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4" name="Google Shape;1004;p75"/>
          <p:cNvGrpSpPr/>
          <p:nvPr/>
        </p:nvGrpSpPr>
        <p:grpSpPr>
          <a:xfrm>
            <a:off x="1292388" y="2094280"/>
            <a:ext cx="63300" cy="1000200"/>
            <a:chOff x="941713" y="3767150"/>
            <a:chExt cx="63300" cy="1000200"/>
          </a:xfrm>
        </p:grpSpPr>
        <p:cxnSp>
          <p:nvCxnSpPr>
            <p:cNvPr id="1005" name="Google Shape;1005;p75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06" name="Google Shape;1006;p75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7" name="Google Shape;1007;p75"/>
          <p:cNvSpPr txBox="1"/>
          <p:nvPr/>
        </p:nvSpPr>
        <p:spPr>
          <a:xfrm>
            <a:off x="3023887" y="2742055"/>
            <a:ext cx="102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Cost (£)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5"/>
          <p:cNvSpPr txBox="1"/>
          <p:nvPr/>
        </p:nvSpPr>
        <p:spPr>
          <a:xfrm>
            <a:off x="3023887" y="2139805"/>
            <a:ext cx="102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Packets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5"/>
          <p:cNvSpPr txBox="1"/>
          <p:nvPr/>
        </p:nvSpPr>
        <p:spPr>
          <a:xfrm>
            <a:off x="1157563" y="1679705"/>
            <a:ext cx="35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5"/>
          <p:cNvSpPr txBox="1"/>
          <p:nvPr/>
        </p:nvSpPr>
        <p:spPr>
          <a:xfrm>
            <a:off x="2032944" y="1679705"/>
            <a:ext cx="5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5"/>
          <p:cNvSpPr txBox="1"/>
          <p:nvPr/>
        </p:nvSpPr>
        <p:spPr>
          <a:xfrm>
            <a:off x="972516" y="3130355"/>
            <a:ext cx="75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25.80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5"/>
          <p:cNvSpPr txBox="1"/>
          <p:nvPr/>
        </p:nvSpPr>
        <p:spPr>
          <a:xfrm>
            <a:off x="2168037" y="3130355"/>
            <a:ext cx="1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5"/>
          <p:cNvSpPr/>
          <p:nvPr/>
        </p:nvSpPr>
        <p:spPr>
          <a:xfrm flipH="1" rot="10800000">
            <a:off x="1354762" y="3414755"/>
            <a:ext cx="915300" cy="261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75"/>
          <p:cNvSpPr/>
          <p:nvPr/>
        </p:nvSpPr>
        <p:spPr>
          <a:xfrm>
            <a:off x="1328875" y="1508630"/>
            <a:ext cx="915300" cy="270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5" name="Google Shape;1015;p75"/>
          <p:cNvGrpSpPr/>
          <p:nvPr/>
        </p:nvGrpSpPr>
        <p:grpSpPr>
          <a:xfrm>
            <a:off x="1505762" y="909055"/>
            <a:ext cx="461487" cy="523375"/>
            <a:chOff x="1658162" y="1465550"/>
            <a:chExt cx="461487" cy="523375"/>
          </a:xfrm>
        </p:grpSpPr>
        <p:sp>
          <p:nvSpPr>
            <p:cNvPr id="1016" name="Google Shape;1016;p75"/>
            <p:cNvSpPr txBox="1"/>
            <p:nvPr/>
          </p:nvSpPr>
          <p:spPr>
            <a:xfrm>
              <a:off x="1658162" y="1548707"/>
              <a:ext cx="174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3}{6}&quot;&gt;&lt;mfrac&gt;&lt;mn&gt;23&lt;/mn&gt;&lt;mn&gt;6&lt;/mn&gt;&lt;/mfrac&gt;&lt;/math&gt;" id="1017" name="Google Shape;1017;p75" title="23 over 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32748" y="1465550"/>
              <a:ext cx="286900" cy="523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8" name="Google Shape;1018;p75"/>
          <p:cNvGrpSpPr/>
          <p:nvPr/>
        </p:nvGrpSpPr>
        <p:grpSpPr>
          <a:xfrm>
            <a:off x="1505762" y="3728455"/>
            <a:ext cx="461487" cy="523375"/>
            <a:chOff x="1658162" y="1465550"/>
            <a:chExt cx="461487" cy="523375"/>
          </a:xfrm>
        </p:grpSpPr>
        <p:sp>
          <p:nvSpPr>
            <p:cNvPr id="1019" name="Google Shape;1019;p75"/>
            <p:cNvSpPr txBox="1"/>
            <p:nvPr/>
          </p:nvSpPr>
          <p:spPr>
            <a:xfrm>
              <a:off x="1658162" y="1548707"/>
              <a:ext cx="174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3}{6}&quot;&gt;&lt;mfrac&gt;&lt;mn&gt;23&lt;/mn&gt;&lt;mn&gt;6&lt;/mn&gt;&lt;/mfrac&gt;&lt;/math&gt;" id="1020" name="Google Shape;1020;p75" title="23 over 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32748" y="1465550"/>
              <a:ext cx="286900" cy="523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1" name="Google Shape;1021;p75"/>
          <p:cNvSpPr txBox="1"/>
          <p:nvPr/>
        </p:nvSpPr>
        <p:spPr>
          <a:xfrm>
            <a:off x="1861191" y="3130355"/>
            <a:ext cx="75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98.9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5"/>
          <p:cNvSpPr txBox="1"/>
          <p:nvPr/>
        </p:nvSpPr>
        <p:spPr>
          <a:xfrm>
            <a:off x="337825" y="4447800"/>
            <a:ext cx="398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115 packets will cost £98.90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3" name="Google Shape;1023;p75"/>
          <p:cNvSpPr txBox="1"/>
          <p:nvPr>
            <p:ph idx="1" type="subTitle"/>
          </p:nvPr>
        </p:nvSpPr>
        <p:spPr>
          <a:xfrm>
            <a:off x="4833625" y="634505"/>
            <a:ext cx="3982200" cy="3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Complete this double number line:</a:t>
            </a:r>
            <a:endParaRPr/>
          </a:p>
        </p:txBody>
      </p:sp>
      <p:grpSp>
        <p:nvGrpSpPr>
          <p:cNvPr id="1024" name="Google Shape;1024;p75"/>
          <p:cNvGrpSpPr/>
          <p:nvPr/>
        </p:nvGrpSpPr>
        <p:grpSpPr>
          <a:xfrm>
            <a:off x="5034047" y="1899155"/>
            <a:ext cx="2414405" cy="1357500"/>
            <a:chOff x="441900" y="3572013"/>
            <a:chExt cx="3074500" cy="1357500"/>
          </a:xfrm>
        </p:grpSpPr>
        <p:cxnSp>
          <p:nvCxnSpPr>
            <p:cNvPr id="1025" name="Google Shape;1025;p75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6" name="Google Shape;1026;p75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27" name="Google Shape;1027;p75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028" name="Google Shape;1028;p75"/>
          <p:cNvGrpSpPr/>
          <p:nvPr/>
        </p:nvGrpSpPr>
        <p:grpSpPr>
          <a:xfrm>
            <a:off x="6702588" y="2094280"/>
            <a:ext cx="63300" cy="1000200"/>
            <a:chOff x="941713" y="3767150"/>
            <a:chExt cx="63300" cy="1000200"/>
          </a:xfrm>
        </p:grpSpPr>
        <p:cxnSp>
          <p:nvCxnSpPr>
            <p:cNvPr id="1029" name="Google Shape;1029;p75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30" name="Google Shape;1030;p75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1" name="Google Shape;1031;p75"/>
          <p:cNvGrpSpPr/>
          <p:nvPr/>
        </p:nvGrpSpPr>
        <p:grpSpPr>
          <a:xfrm>
            <a:off x="5788188" y="2094280"/>
            <a:ext cx="63300" cy="1000200"/>
            <a:chOff x="941713" y="3767150"/>
            <a:chExt cx="63300" cy="1000200"/>
          </a:xfrm>
        </p:grpSpPr>
        <p:cxnSp>
          <p:nvCxnSpPr>
            <p:cNvPr id="1032" name="Google Shape;1032;p75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33" name="Google Shape;1033;p75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4" name="Google Shape;1034;p75"/>
          <p:cNvSpPr txBox="1"/>
          <p:nvPr/>
        </p:nvSpPr>
        <p:spPr>
          <a:xfrm>
            <a:off x="7519687" y="2742055"/>
            <a:ext cx="102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Cost (£)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5"/>
          <p:cNvSpPr txBox="1"/>
          <p:nvPr/>
        </p:nvSpPr>
        <p:spPr>
          <a:xfrm>
            <a:off x="7519687" y="2139805"/>
            <a:ext cx="102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Packets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5"/>
          <p:cNvSpPr txBox="1"/>
          <p:nvPr/>
        </p:nvSpPr>
        <p:spPr>
          <a:xfrm>
            <a:off x="5653363" y="1679705"/>
            <a:ext cx="35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5"/>
          <p:cNvSpPr txBox="1"/>
          <p:nvPr/>
        </p:nvSpPr>
        <p:spPr>
          <a:xfrm>
            <a:off x="6565230" y="1679700"/>
            <a:ext cx="35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5"/>
          <p:cNvSpPr txBox="1"/>
          <p:nvPr/>
        </p:nvSpPr>
        <p:spPr>
          <a:xfrm>
            <a:off x="5534520" y="3130350"/>
            <a:ext cx="58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8.40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5"/>
          <p:cNvSpPr txBox="1"/>
          <p:nvPr/>
        </p:nvSpPr>
        <p:spPr>
          <a:xfrm>
            <a:off x="6663837" y="3130355"/>
            <a:ext cx="1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5"/>
          <p:cNvSpPr txBox="1"/>
          <p:nvPr/>
        </p:nvSpPr>
        <p:spPr>
          <a:xfrm>
            <a:off x="4833625" y="4447800"/>
            <a:ext cx="398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packets will cost £19.60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41" name="Google Shape;1041;p75"/>
          <p:cNvGrpSpPr/>
          <p:nvPr/>
        </p:nvGrpSpPr>
        <p:grpSpPr>
          <a:xfrm>
            <a:off x="5824675" y="881817"/>
            <a:ext cx="915300" cy="897712"/>
            <a:chOff x="5824675" y="881817"/>
            <a:chExt cx="915300" cy="897712"/>
          </a:xfrm>
        </p:grpSpPr>
        <p:sp>
          <p:nvSpPr>
            <p:cNvPr id="1042" name="Google Shape;1042;p75"/>
            <p:cNvSpPr/>
            <p:nvPr/>
          </p:nvSpPr>
          <p:spPr>
            <a:xfrm>
              <a:off x="5824675" y="1508630"/>
              <a:ext cx="915300" cy="270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75"/>
            <p:cNvSpPr txBox="1"/>
            <p:nvPr/>
          </p:nvSpPr>
          <p:spPr>
            <a:xfrm>
              <a:off x="6001562" y="992212"/>
              <a:ext cx="174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7}{3}&quot;&gt;&lt;mfrac&gt;&lt;mn&gt;7&lt;/mn&gt;&lt;mn&gt;3&lt;/mn&gt;&lt;/mfrac&gt;&lt;/math&gt;" id="1044" name="Google Shape;1044;p75" title="seven third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220900" y="881817"/>
              <a:ext cx="174600" cy="5778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5" name="Google Shape;1045;p75"/>
          <p:cNvGrpSpPr/>
          <p:nvPr/>
        </p:nvGrpSpPr>
        <p:grpSpPr>
          <a:xfrm>
            <a:off x="5850562" y="3414755"/>
            <a:ext cx="915300" cy="891530"/>
            <a:chOff x="5850562" y="3414755"/>
            <a:chExt cx="915300" cy="891530"/>
          </a:xfrm>
        </p:grpSpPr>
        <p:sp>
          <p:nvSpPr>
            <p:cNvPr id="1046" name="Google Shape;1046;p75"/>
            <p:cNvSpPr/>
            <p:nvPr/>
          </p:nvSpPr>
          <p:spPr>
            <a:xfrm flipH="1" rot="10800000">
              <a:off x="5850562" y="3414755"/>
              <a:ext cx="915300" cy="261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75"/>
            <p:cNvSpPr txBox="1"/>
            <p:nvPr/>
          </p:nvSpPr>
          <p:spPr>
            <a:xfrm>
              <a:off x="6001562" y="3811612"/>
              <a:ext cx="174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7}{3}&quot;&gt;&lt;mfrac&gt;&lt;mn&gt;7&lt;/mn&gt;&lt;mn&gt;3&lt;/mn&gt;&lt;/mfrac&gt;&lt;/math&gt;" id="1048" name="Google Shape;1048;p75" title="seven third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256800" y="3728442"/>
              <a:ext cx="174600" cy="5778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76"/>
          <p:cNvSpPr txBox="1"/>
          <p:nvPr>
            <p:ph idx="1" type="subTitle"/>
          </p:nvPr>
        </p:nvSpPr>
        <p:spPr>
          <a:xfrm>
            <a:off x="337825" y="810000"/>
            <a:ext cx="39822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multiplier:</a:t>
            </a:r>
            <a:endParaRPr/>
          </a:p>
        </p:txBody>
      </p:sp>
      <p:sp>
        <p:nvSpPr>
          <p:cNvPr id="1054" name="Google Shape;1054;p76"/>
          <p:cNvSpPr txBox="1"/>
          <p:nvPr>
            <p:ph idx="2" type="subTitle"/>
          </p:nvPr>
        </p:nvSpPr>
        <p:spPr>
          <a:xfrm>
            <a:off x="4824000" y="8100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 the multiplier:</a:t>
            </a:r>
            <a:endParaRPr/>
          </a:p>
        </p:txBody>
      </p:sp>
      <p:sp>
        <p:nvSpPr>
          <p:cNvPr id="1055" name="Google Shape;1055;p7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multiplier efficiently</a:t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\frac{24}{27}=\frac{2\times2\times2\times3}{3\times3\times3}=\frac{8}{9}&quot;&gt;&lt;mfrac&gt;&lt;mn&gt;24&lt;/mn&gt;&lt;mn&gt;27&lt;/mn&gt;&lt;/mfrac&gt;&lt;mo&gt;=&lt;/mo&gt;&lt;mfrac&gt;&lt;mrow&gt;&lt;mn&gt;2&lt;/mn&gt;&lt;mo&gt;×&lt;/mo&gt;&lt;mn&gt;2&lt;/mn&gt;&lt;mo&gt;×&lt;/mo&gt;&lt;mn&gt;2&lt;/mn&gt;&lt;mo&gt;×&lt;/mo&gt;&lt;mn&gt;3&lt;/mn&gt;&lt;/mrow&gt;&lt;mrow&gt;&lt;mn&gt;3&lt;/mn&gt;&lt;mo&gt;×&lt;/mo&gt;&lt;mn&gt;3&lt;/mn&gt;&lt;mo&gt;×&lt;/mo&gt;&lt;mn&gt;3&lt;/mn&gt;&lt;/mrow&gt;&lt;/mfrac&gt;&lt;mo&gt;=&lt;/mo&gt;&lt;mfrac&gt;&lt;mn&gt;8&lt;/mn&gt;&lt;mn&gt;9&lt;/mn&gt;&lt;/mfrac&gt;&lt;/math&gt;" id="1056" name="Google Shape;1056;p76" title="24 over 27 equals the fraction with numerator 2 times 2 times 2 times 3 and denominator 3 times 3 times 3 equals eight ninths"/>
          <p:cNvSpPr/>
          <p:nvPr/>
        </p:nvSpPr>
        <p:spPr>
          <a:xfrm>
            <a:off x="1681400" y="1900146"/>
            <a:ext cx="1205700" cy="538200"/>
          </a:xfrm>
          <a:prstGeom prst="homePlate">
            <a:avLst>
              <a:gd fmla="val 50000" name="adj"/>
            </a:avLst>
          </a:prstGeom>
          <a:solidFill>
            <a:srgbClr val="845AD9">
              <a:alpha val="46250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76"/>
          <p:cNvSpPr txBox="1"/>
          <p:nvPr>
            <p:ph idx="1" type="subTitle"/>
          </p:nvPr>
        </p:nvSpPr>
        <p:spPr>
          <a:xfrm>
            <a:off x="636125" y="1308600"/>
            <a:ext cx="6612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Input</a:t>
            </a:r>
            <a:endParaRPr/>
          </a:p>
        </p:txBody>
      </p:sp>
      <p:sp>
        <p:nvSpPr>
          <p:cNvPr id="1058" name="Google Shape;1058;p76"/>
          <p:cNvSpPr txBox="1"/>
          <p:nvPr>
            <p:ph idx="1" type="subTitle"/>
          </p:nvPr>
        </p:nvSpPr>
        <p:spPr>
          <a:xfrm>
            <a:off x="3369600" y="1308600"/>
            <a:ext cx="8736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Out</a:t>
            </a:r>
            <a:r>
              <a:rPr lang="en-GB"/>
              <a:t>put</a:t>
            </a:r>
            <a:endParaRPr/>
          </a:p>
        </p:txBody>
      </p:sp>
      <p:cxnSp>
        <p:nvCxnSpPr>
          <p:cNvPr id="1059" name="Google Shape;1059;p76"/>
          <p:cNvCxnSpPr>
            <a:endCxn id="1056" idx="1"/>
          </p:cNvCxnSpPr>
          <p:nvPr/>
        </p:nvCxnSpPr>
        <p:spPr>
          <a:xfrm flipH="1" rot="10800000">
            <a:off x="1244600" y="2169246"/>
            <a:ext cx="436800" cy="8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0" name="Google Shape;1060;p76"/>
          <p:cNvCxnSpPr/>
          <p:nvPr/>
        </p:nvCxnSpPr>
        <p:spPr>
          <a:xfrm flipH="1" rot="10800000">
            <a:off x="2887200" y="2169175"/>
            <a:ext cx="436800" cy="8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1" name="Google Shape;1061;p76"/>
          <p:cNvSpPr txBox="1"/>
          <p:nvPr>
            <p:ph idx="1" type="subTitle"/>
          </p:nvPr>
        </p:nvSpPr>
        <p:spPr>
          <a:xfrm>
            <a:off x="815296" y="2022475"/>
            <a:ext cx="2637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27</a:t>
            </a:r>
            <a:endParaRPr/>
          </a:p>
        </p:txBody>
      </p:sp>
      <p:sp>
        <p:nvSpPr>
          <p:cNvPr id="1062" name="Google Shape;1062;p76"/>
          <p:cNvSpPr txBox="1"/>
          <p:nvPr>
            <p:ph idx="1" type="subTitle"/>
          </p:nvPr>
        </p:nvSpPr>
        <p:spPr>
          <a:xfrm>
            <a:off x="3724050" y="2022475"/>
            <a:ext cx="2940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24</a:t>
            </a:r>
            <a:endParaRPr/>
          </a:p>
        </p:txBody>
      </p:sp>
      <p:pic>
        <p:nvPicPr>
          <p:cNvPr id="1063" name="Google Shape;106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825" y="3166498"/>
            <a:ext cx="2972769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76"/>
          <p:cNvSpPr txBox="1"/>
          <p:nvPr>
            <p:ph idx="1" type="subTitle"/>
          </p:nvPr>
        </p:nvSpPr>
        <p:spPr>
          <a:xfrm>
            <a:off x="1024050" y="4168950"/>
            <a:ext cx="21903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multiplier is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65" name="Google Shape;1065;p76"/>
          <p:cNvPicPr preferRelativeResize="0"/>
          <p:nvPr/>
        </p:nvPicPr>
        <p:blipFill rotWithShape="1">
          <a:blip r:embed="rId3">
            <a:alphaModFix/>
          </a:blip>
          <a:srcRect b="0" l="92401" r="0" t="0"/>
          <a:stretch/>
        </p:blipFill>
        <p:spPr>
          <a:xfrm>
            <a:off x="2839439" y="4091100"/>
            <a:ext cx="168551" cy="4578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isplay=&quot;block&quot; data-is-equatio=&quot;1&quot; data-latex=&quot;\frac{24}{27}=\frac{2\times2\times2\times3}{3\times3\times3}=\frac{8}{9}&quot;&gt;&lt;mfrac&gt;&lt;mn&gt;24&lt;/mn&gt;&lt;mn&gt;27&lt;/mn&gt;&lt;/mfrac&gt;&lt;mo&gt;=&lt;/mo&gt;&lt;mfrac&gt;&lt;mrow&gt;&lt;mn&gt;2&lt;/mn&gt;&lt;mo&gt;×&lt;/mo&gt;&lt;mn&gt;2&lt;/mn&gt;&lt;mo&gt;×&lt;/mo&gt;&lt;mn&gt;2&lt;/mn&gt;&lt;mo&gt;×&lt;/mo&gt;&lt;mn&gt;3&lt;/mn&gt;&lt;/mrow&gt;&lt;mrow&gt;&lt;mn&gt;3&lt;/mn&gt;&lt;mo&gt;×&lt;/mo&gt;&lt;mn&gt;3&lt;/mn&gt;&lt;mo&gt;×&lt;/mo&gt;&lt;mn&gt;3&lt;/mn&gt;&lt;/mrow&gt;&lt;/mfrac&gt;&lt;mo&gt;=&lt;/mo&gt;&lt;mfrac&gt;&lt;mn&gt;8&lt;/mn&gt;&lt;mn&gt;9&lt;/mn&gt;&lt;/mfrac&gt;&lt;/math&gt;" id="1066" name="Google Shape;1066;p76" title="24 over 27 equals the fraction with numerator 2 times 2 times 2 times 3 and denominator 3 times 3 times 3 equals eight ninths"/>
          <p:cNvSpPr/>
          <p:nvPr/>
        </p:nvSpPr>
        <p:spPr>
          <a:xfrm>
            <a:off x="6177200" y="1900146"/>
            <a:ext cx="1205700" cy="538200"/>
          </a:xfrm>
          <a:prstGeom prst="homePlate">
            <a:avLst>
              <a:gd fmla="val 50000" name="adj"/>
            </a:avLst>
          </a:prstGeom>
          <a:solidFill>
            <a:srgbClr val="845AD9">
              <a:alpha val="46250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6"/>
          <p:cNvSpPr txBox="1"/>
          <p:nvPr>
            <p:ph idx="1" type="subTitle"/>
          </p:nvPr>
        </p:nvSpPr>
        <p:spPr>
          <a:xfrm>
            <a:off x="5131925" y="1308600"/>
            <a:ext cx="6612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Input</a:t>
            </a:r>
            <a:endParaRPr/>
          </a:p>
        </p:txBody>
      </p:sp>
      <p:sp>
        <p:nvSpPr>
          <p:cNvPr id="1068" name="Google Shape;1068;p76"/>
          <p:cNvSpPr txBox="1"/>
          <p:nvPr>
            <p:ph idx="1" type="subTitle"/>
          </p:nvPr>
        </p:nvSpPr>
        <p:spPr>
          <a:xfrm>
            <a:off x="7865400" y="1308600"/>
            <a:ext cx="8736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Output</a:t>
            </a:r>
            <a:endParaRPr/>
          </a:p>
        </p:txBody>
      </p:sp>
      <p:cxnSp>
        <p:nvCxnSpPr>
          <p:cNvPr id="1069" name="Google Shape;1069;p76"/>
          <p:cNvCxnSpPr>
            <a:endCxn id="1066" idx="1"/>
          </p:cNvCxnSpPr>
          <p:nvPr/>
        </p:nvCxnSpPr>
        <p:spPr>
          <a:xfrm flipH="1" rot="10800000">
            <a:off x="5740400" y="2169246"/>
            <a:ext cx="436800" cy="8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0" name="Google Shape;1070;p76"/>
          <p:cNvCxnSpPr/>
          <p:nvPr/>
        </p:nvCxnSpPr>
        <p:spPr>
          <a:xfrm flipH="1" rot="10800000">
            <a:off x="7383000" y="2169175"/>
            <a:ext cx="436800" cy="8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1" name="Google Shape;1071;p76"/>
          <p:cNvSpPr txBox="1"/>
          <p:nvPr>
            <p:ph idx="1" type="subTitle"/>
          </p:nvPr>
        </p:nvSpPr>
        <p:spPr>
          <a:xfrm>
            <a:off x="5311096" y="2022475"/>
            <a:ext cx="2637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30</a:t>
            </a:r>
            <a:endParaRPr/>
          </a:p>
        </p:txBody>
      </p:sp>
      <p:sp>
        <p:nvSpPr>
          <p:cNvPr id="1072" name="Google Shape;1072;p76"/>
          <p:cNvSpPr txBox="1"/>
          <p:nvPr>
            <p:ph idx="1" type="subTitle"/>
          </p:nvPr>
        </p:nvSpPr>
        <p:spPr>
          <a:xfrm>
            <a:off x="8219850" y="2022475"/>
            <a:ext cx="2940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42</a:t>
            </a:r>
            <a:endParaRPr/>
          </a:p>
        </p:txBody>
      </p:sp>
      <p:sp>
        <p:nvSpPr>
          <p:cNvPr id="1073" name="Google Shape;1073;p76"/>
          <p:cNvSpPr txBox="1"/>
          <p:nvPr>
            <p:ph idx="1" type="subTitle"/>
          </p:nvPr>
        </p:nvSpPr>
        <p:spPr>
          <a:xfrm>
            <a:off x="5596050" y="4168950"/>
            <a:ext cx="21903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multiplier is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2}{30}=\frac{2\times3\times7}{2\times3\times5}=\frac{7}{5}&quot;&gt;&lt;mfrac&gt;&lt;mn&gt;42&lt;/mn&gt;&lt;mn&gt;30&lt;/mn&gt;&lt;/mfrac&gt;&lt;mo&gt;=&lt;/mo&gt;&lt;mfrac&gt;&lt;mrow&gt;&lt;mn&gt;2&lt;/mn&gt;&lt;mo&gt;×&lt;/mo&gt;&lt;mn&gt;3&lt;/mn&gt;&lt;mo&gt;×&lt;/mo&gt;&lt;mn&gt;7&lt;/mn&gt;&lt;/mrow&gt;&lt;mrow&gt;&lt;mn&gt;2&lt;/mn&gt;&lt;mo&gt;×&lt;/mo&gt;&lt;mn&gt;3&lt;/mn&gt;&lt;mo&gt;×&lt;/mo&gt;&lt;mn&gt;5&lt;/mn&gt;&lt;/mrow&gt;&lt;/mfrac&gt;&lt;mo&gt;=&lt;/mo&gt;&lt;mfrac&gt;&lt;mn&gt;7&lt;/mn&gt;&lt;mn&gt;5&lt;/mn&gt;&lt;/mfrac&gt;&lt;/math&gt;" id="1074" name="Google Shape;1074;p76" title="42 over 30 equals the fraction with numerator 2 times 3 times 7 and denominator 2 times 3 times 5 equals seven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4672" y="3192998"/>
            <a:ext cx="248085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2}{30}=\frac{2\times3\times7}{2\times3\times5}=\frac{7}{5}&quot;&gt;&lt;mfrac&gt;&lt;mn&gt;42&lt;/mn&gt;&lt;mn&gt;30&lt;/mn&gt;&lt;/mfrac&gt;&lt;mo&gt;=&lt;/mo&gt;&lt;mfrac&gt;&lt;mrow&gt;&lt;mn&gt;2&lt;/mn&gt;&lt;mo&gt;×&lt;/mo&gt;&lt;mn&gt;3&lt;/mn&gt;&lt;mo&gt;×&lt;/mo&gt;&lt;mn&gt;7&lt;/mn&gt;&lt;/mrow&gt;&lt;mrow&gt;&lt;mn&gt;2&lt;/mn&gt;&lt;mo&gt;×&lt;/mo&gt;&lt;mn&gt;3&lt;/mn&gt;&lt;mo&gt;×&lt;/mo&gt;&lt;mn&gt;5&lt;/mn&gt;&lt;/mrow&gt;&lt;/mfrac&gt;&lt;mo&gt;=&lt;/mo&gt;&lt;mfrac&gt;&lt;mn&gt;7&lt;/mn&gt;&lt;mn&gt;5&lt;/mn&gt;&lt;/mfrac&gt;&lt;/math&gt;" id="1075" name="Google Shape;1075;p76" title="42 over 30 equals the fraction with numerator 2 times 3 times 7 and denominator 2 times 3 times 5 equals seven fifths"/>
          <p:cNvPicPr preferRelativeResize="0"/>
          <p:nvPr/>
        </p:nvPicPr>
        <p:blipFill rotWithShape="1">
          <a:blip r:embed="rId4">
            <a:alphaModFix/>
          </a:blip>
          <a:srcRect b="0" l="91477" r="0" t="0"/>
          <a:stretch/>
        </p:blipFill>
        <p:spPr>
          <a:xfrm>
            <a:off x="7369628" y="4091100"/>
            <a:ext cx="168550" cy="48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multiplier efficiently</a:t>
            </a:r>
            <a:endParaRPr/>
          </a:p>
        </p:txBody>
      </p:sp>
      <p:sp>
        <p:nvSpPr>
          <p:cNvPr id="1081" name="Google Shape;1081;p77"/>
          <p:cNvSpPr txBox="1"/>
          <p:nvPr>
            <p:ph idx="1" type="body"/>
          </p:nvPr>
        </p:nvSpPr>
        <p:spPr>
          <a:xfrm>
            <a:off x="324000" y="683100"/>
            <a:ext cx="3204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Complete this table:</a:t>
            </a:r>
            <a:endParaRPr/>
          </a:p>
        </p:txBody>
      </p:sp>
      <p:graphicFrame>
        <p:nvGraphicFramePr>
          <p:cNvPr id="1082" name="Google Shape;1082;p77"/>
          <p:cNvGraphicFramePr/>
          <p:nvPr/>
        </p:nvGraphicFramePr>
        <p:xfrm>
          <a:off x="952500" y="108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{9870B833-4671-4C10-ABE5-1F8FA2A771BC}</a:tableStyleId>
              </a:tblPr>
              <a:tblGrid>
                <a:gridCol w="2413000"/>
                <a:gridCol w="2413000"/>
                <a:gridCol w="2413000"/>
              </a:tblGrid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b="1"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b="1"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</a:t>
                      </a:r>
                      <a:endParaRPr b="1"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solidFill>
                      <a:schemeClr val="accent4"/>
                    </a:solidFill>
                  </a:tcPr>
                </a:tc>
              </a:tr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 or 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2}{7}&quot;&gt;&lt;mfrac&gt;&lt;mn&gt;12&lt;/mn&gt;&lt;mn&gt;7&lt;/mn&gt;&lt;/mfrac&gt;&lt;/math&gt;" id="1083" name="Google Shape;1083;p77" title="twelve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871" y="2353370"/>
            <a:ext cx="196404" cy="361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3}{6}&quot;&gt;&lt;mfrac&gt;&lt;mn&gt;23&lt;/mn&gt;&lt;mn&gt;6&lt;/mn&gt;&lt;/mfrac&gt;&lt;/math&gt;" id="1084" name="Google Shape;1084;p77" title="23 over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9871" y="2736576"/>
            <a:ext cx="196404" cy="358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1}&quot;&gt;&lt;mfrac&gt;&lt;mn&gt;3&lt;/mn&gt;&lt;mn&gt;11&lt;/mn&gt;&lt;/mfrac&gt;&lt;/math&gt;" id="1085" name="Google Shape;1085;p77" title="3 over 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9875" y="3140946"/>
            <a:ext cx="196404" cy="354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3}&quot;&gt;&lt;mfrac&gt;&lt;mn&gt;5&lt;/mn&gt;&lt;mn&gt;3&lt;/mn&gt;&lt;/mfrac&gt;&lt;/math&gt;" id="1086" name="Google Shape;1086;p77" title="five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47225" y="4363635"/>
            <a:ext cx="118425" cy="380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087" name="Google Shape;1087;p77" title="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59200" y="3970500"/>
            <a:ext cx="104775" cy="333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78"/>
          <p:cNvSpPr txBox="1"/>
          <p:nvPr>
            <p:ph idx="1" type="body"/>
          </p:nvPr>
        </p:nvSpPr>
        <p:spPr>
          <a:xfrm>
            <a:off x="324000" y="606900"/>
            <a:ext cx="5450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 Complete these </a:t>
            </a:r>
            <a:r>
              <a:rPr lang="en-GB"/>
              <a:t>double</a:t>
            </a:r>
            <a:r>
              <a:rPr lang="en-GB"/>
              <a:t> number lines:</a:t>
            </a:r>
            <a:endParaRPr/>
          </a:p>
        </p:txBody>
      </p:sp>
      <p:sp>
        <p:nvSpPr>
          <p:cNvPr id="1093" name="Google Shape;1093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multiplier efficiently</a:t>
            </a:r>
            <a:endParaRPr/>
          </a:p>
        </p:txBody>
      </p:sp>
      <p:grpSp>
        <p:nvGrpSpPr>
          <p:cNvPr id="1094" name="Google Shape;1094;p78"/>
          <p:cNvGrpSpPr/>
          <p:nvPr/>
        </p:nvGrpSpPr>
        <p:grpSpPr>
          <a:xfrm>
            <a:off x="5186447" y="1975355"/>
            <a:ext cx="2414405" cy="1357500"/>
            <a:chOff x="441900" y="3572013"/>
            <a:chExt cx="3074500" cy="1357500"/>
          </a:xfrm>
        </p:grpSpPr>
        <p:cxnSp>
          <p:nvCxnSpPr>
            <p:cNvPr id="1095" name="Google Shape;1095;p78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6" name="Google Shape;1096;p78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97" name="Google Shape;1097;p78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098" name="Google Shape;1098;p78"/>
          <p:cNvGrpSpPr/>
          <p:nvPr/>
        </p:nvGrpSpPr>
        <p:grpSpPr>
          <a:xfrm>
            <a:off x="6854988" y="2170480"/>
            <a:ext cx="63300" cy="1000200"/>
            <a:chOff x="941713" y="3767150"/>
            <a:chExt cx="63300" cy="1000200"/>
          </a:xfrm>
        </p:grpSpPr>
        <p:cxnSp>
          <p:nvCxnSpPr>
            <p:cNvPr id="1099" name="Google Shape;1099;p78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0" name="Google Shape;1100;p78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1" name="Google Shape;1101;p78"/>
          <p:cNvGrpSpPr/>
          <p:nvPr/>
        </p:nvGrpSpPr>
        <p:grpSpPr>
          <a:xfrm>
            <a:off x="5940588" y="2170480"/>
            <a:ext cx="63300" cy="1000200"/>
            <a:chOff x="941713" y="3767150"/>
            <a:chExt cx="63300" cy="1000200"/>
          </a:xfrm>
        </p:grpSpPr>
        <p:cxnSp>
          <p:nvCxnSpPr>
            <p:cNvPr id="1102" name="Google Shape;1102;p78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3" name="Google Shape;1103;p78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4" name="Google Shape;1104;p78"/>
          <p:cNvSpPr txBox="1"/>
          <p:nvPr/>
        </p:nvSpPr>
        <p:spPr>
          <a:xfrm>
            <a:off x="7672087" y="2818255"/>
            <a:ext cx="102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Cost (£)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78"/>
          <p:cNvSpPr txBox="1"/>
          <p:nvPr/>
        </p:nvSpPr>
        <p:spPr>
          <a:xfrm>
            <a:off x="7672087" y="2216005"/>
            <a:ext cx="102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Packets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78"/>
          <p:cNvSpPr txBox="1"/>
          <p:nvPr/>
        </p:nvSpPr>
        <p:spPr>
          <a:xfrm>
            <a:off x="5805763" y="1755905"/>
            <a:ext cx="35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78"/>
          <p:cNvSpPr txBox="1"/>
          <p:nvPr/>
        </p:nvSpPr>
        <p:spPr>
          <a:xfrm>
            <a:off x="6681144" y="1755905"/>
            <a:ext cx="5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78"/>
          <p:cNvSpPr txBox="1"/>
          <p:nvPr/>
        </p:nvSpPr>
        <p:spPr>
          <a:xfrm>
            <a:off x="6535116" y="3206555"/>
            <a:ext cx="75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44.52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78"/>
          <p:cNvSpPr/>
          <p:nvPr/>
        </p:nvSpPr>
        <p:spPr>
          <a:xfrm rot="10800000">
            <a:off x="5867613" y="3490950"/>
            <a:ext cx="995700" cy="261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78"/>
          <p:cNvSpPr/>
          <p:nvPr/>
        </p:nvSpPr>
        <p:spPr>
          <a:xfrm flipH="1">
            <a:off x="5895774" y="1584825"/>
            <a:ext cx="995700" cy="270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78"/>
          <p:cNvSpPr txBox="1"/>
          <p:nvPr/>
        </p:nvSpPr>
        <p:spPr>
          <a:xfrm>
            <a:off x="6153962" y="1068412"/>
            <a:ext cx="1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78"/>
          <p:cNvSpPr txBox="1"/>
          <p:nvPr/>
        </p:nvSpPr>
        <p:spPr>
          <a:xfrm>
            <a:off x="6153962" y="3887812"/>
            <a:ext cx="1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78"/>
          <p:cNvSpPr txBox="1"/>
          <p:nvPr/>
        </p:nvSpPr>
        <p:spPr>
          <a:xfrm>
            <a:off x="4986025" y="4524000"/>
            <a:ext cx="298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packets will cost </a:t>
            </a:r>
            <a:r>
              <a:rPr lang="en-GB" sz="1800" u="sng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78"/>
          <p:cNvSpPr/>
          <p:nvPr/>
        </p:nvSpPr>
        <p:spPr>
          <a:xfrm>
            <a:off x="6339850" y="967750"/>
            <a:ext cx="351300" cy="57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78"/>
          <p:cNvSpPr/>
          <p:nvPr/>
        </p:nvSpPr>
        <p:spPr>
          <a:xfrm>
            <a:off x="6339850" y="3848925"/>
            <a:ext cx="351300" cy="57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78"/>
          <p:cNvSpPr/>
          <p:nvPr/>
        </p:nvSpPr>
        <p:spPr>
          <a:xfrm>
            <a:off x="5516575" y="3207300"/>
            <a:ext cx="929700" cy="33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7" name="Google Shape;1117;p78"/>
          <p:cNvGrpSpPr/>
          <p:nvPr/>
        </p:nvGrpSpPr>
        <p:grpSpPr>
          <a:xfrm>
            <a:off x="766847" y="1975355"/>
            <a:ext cx="2414405" cy="1357500"/>
            <a:chOff x="441900" y="3572013"/>
            <a:chExt cx="3074500" cy="1357500"/>
          </a:xfrm>
        </p:grpSpPr>
        <p:cxnSp>
          <p:nvCxnSpPr>
            <p:cNvPr id="1118" name="Google Shape;1118;p78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9" name="Google Shape;1119;p78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20" name="Google Shape;1120;p78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121" name="Google Shape;1121;p78"/>
          <p:cNvGrpSpPr/>
          <p:nvPr/>
        </p:nvGrpSpPr>
        <p:grpSpPr>
          <a:xfrm>
            <a:off x="2435388" y="2170480"/>
            <a:ext cx="63300" cy="1000200"/>
            <a:chOff x="941713" y="3767150"/>
            <a:chExt cx="63300" cy="1000200"/>
          </a:xfrm>
        </p:grpSpPr>
        <p:cxnSp>
          <p:nvCxnSpPr>
            <p:cNvPr id="1122" name="Google Shape;1122;p78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23" name="Google Shape;1123;p78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4" name="Google Shape;1124;p78"/>
          <p:cNvGrpSpPr/>
          <p:nvPr/>
        </p:nvGrpSpPr>
        <p:grpSpPr>
          <a:xfrm>
            <a:off x="1520988" y="2170480"/>
            <a:ext cx="63300" cy="1000200"/>
            <a:chOff x="941713" y="3767150"/>
            <a:chExt cx="63300" cy="1000200"/>
          </a:xfrm>
        </p:grpSpPr>
        <p:cxnSp>
          <p:nvCxnSpPr>
            <p:cNvPr id="1125" name="Google Shape;1125;p78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26" name="Google Shape;1126;p78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7" name="Google Shape;1127;p78"/>
          <p:cNvSpPr txBox="1"/>
          <p:nvPr/>
        </p:nvSpPr>
        <p:spPr>
          <a:xfrm>
            <a:off x="3252487" y="2818255"/>
            <a:ext cx="102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Cost (£)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78"/>
          <p:cNvSpPr txBox="1"/>
          <p:nvPr/>
        </p:nvSpPr>
        <p:spPr>
          <a:xfrm>
            <a:off x="3252487" y="2216005"/>
            <a:ext cx="102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Packets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78"/>
          <p:cNvSpPr txBox="1"/>
          <p:nvPr/>
        </p:nvSpPr>
        <p:spPr>
          <a:xfrm>
            <a:off x="1386163" y="1755905"/>
            <a:ext cx="35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78"/>
          <p:cNvSpPr txBox="1"/>
          <p:nvPr/>
        </p:nvSpPr>
        <p:spPr>
          <a:xfrm>
            <a:off x="2215824" y="1755905"/>
            <a:ext cx="5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78"/>
          <p:cNvSpPr txBox="1"/>
          <p:nvPr/>
        </p:nvSpPr>
        <p:spPr>
          <a:xfrm>
            <a:off x="1175391" y="3246555"/>
            <a:ext cx="75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10.08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78"/>
          <p:cNvSpPr/>
          <p:nvPr/>
        </p:nvSpPr>
        <p:spPr>
          <a:xfrm flipH="1" rot="10800000">
            <a:off x="1583046" y="3490950"/>
            <a:ext cx="904200" cy="261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78"/>
          <p:cNvSpPr/>
          <p:nvPr/>
        </p:nvSpPr>
        <p:spPr>
          <a:xfrm>
            <a:off x="1557475" y="1584825"/>
            <a:ext cx="904200" cy="270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78"/>
          <p:cNvSpPr txBox="1"/>
          <p:nvPr/>
        </p:nvSpPr>
        <p:spPr>
          <a:xfrm>
            <a:off x="1734362" y="1068412"/>
            <a:ext cx="1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78"/>
          <p:cNvSpPr txBox="1"/>
          <p:nvPr/>
        </p:nvSpPr>
        <p:spPr>
          <a:xfrm>
            <a:off x="1734362" y="3887812"/>
            <a:ext cx="1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78"/>
          <p:cNvSpPr txBox="1"/>
          <p:nvPr/>
        </p:nvSpPr>
        <p:spPr>
          <a:xfrm>
            <a:off x="566425" y="4524000"/>
            <a:ext cx="309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packets will cost </a:t>
            </a:r>
            <a:r>
              <a:rPr lang="en-GB" sz="1800" u="sng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78"/>
          <p:cNvSpPr/>
          <p:nvPr/>
        </p:nvSpPr>
        <p:spPr>
          <a:xfrm>
            <a:off x="1920250" y="967750"/>
            <a:ext cx="351300" cy="57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78"/>
          <p:cNvSpPr/>
          <p:nvPr/>
        </p:nvSpPr>
        <p:spPr>
          <a:xfrm>
            <a:off x="1920250" y="3848925"/>
            <a:ext cx="351300" cy="57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78"/>
          <p:cNvSpPr/>
          <p:nvPr/>
        </p:nvSpPr>
        <p:spPr>
          <a:xfrm>
            <a:off x="2002188" y="3246550"/>
            <a:ext cx="929700" cy="33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78"/>
          <p:cNvSpPr txBox="1"/>
          <p:nvPr/>
        </p:nvSpPr>
        <p:spPr>
          <a:xfrm>
            <a:off x="323995" y="1068400"/>
            <a:ext cx="35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78"/>
          <p:cNvSpPr txBox="1"/>
          <p:nvPr/>
        </p:nvSpPr>
        <p:spPr>
          <a:xfrm>
            <a:off x="4822020" y="1068400"/>
            <a:ext cx="35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79"/>
          <p:cNvSpPr/>
          <p:nvPr/>
        </p:nvSpPr>
        <p:spPr>
          <a:xfrm>
            <a:off x="4375503" y="2322895"/>
            <a:ext cx="402300" cy="33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79"/>
          <p:cNvSpPr txBox="1"/>
          <p:nvPr>
            <p:ph idx="1" type="body"/>
          </p:nvPr>
        </p:nvSpPr>
        <p:spPr>
          <a:xfrm>
            <a:off x="324000" y="683100"/>
            <a:ext cx="3433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 Complete this table:</a:t>
            </a:r>
            <a:endParaRPr/>
          </a:p>
        </p:txBody>
      </p:sp>
      <p:sp>
        <p:nvSpPr>
          <p:cNvPr id="1148" name="Google Shape;1148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multiplier efficiently</a:t>
            </a:r>
            <a:endParaRPr/>
          </a:p>
        </p:txBody>
      </p:sp>
      <p:graphicFrame>
        <p:nvGraphicFramePr>
          <p:cNvPr id="1149" name="Google Shape;1149;p79"/>
          <p:cNvGraphicFramePr/>
          <p:nvPr/>
        </p:nvGraphicFramePr>
        <p:xfrm>
          <a:off x="952500" y="108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{9870B833-4671-4C10-ABE5-1F8FA2A771BC}</a:tableStyleId>
              </a:tblPr>
              <a:tblGrid>
                <a:gridCol w="2413000"/>
                <a:gridCol w="2413000"/>
                <a:gridCol w="2413000"/>
              </a:tblGrid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b="1"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b="1"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</a:t>
                      </a:r>
                      <a:endParaRPr b="1"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solidFill>
                      <a:schemeClr val="accent4"/>
                    </a:solidFill>
                  </a:tcPr>
                </a:tc>
              </a:tr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2.5 or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69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 or 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40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150" name="Google Shape;1150;p79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125" y="1939971"/>
            <a:ext cx="101888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2}&quot;&gt;&lt;mfrac&gt;&lt;mn&gt;5&lt;/mn&gt;&lt;mn&gt;2&lt;/mn&gt;&lt;/mfrac&gt;&lt;/math&gt;" id="1151" name="Google Shape;1151;p79" title="five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2384" y="1501120"/>
            <a:ext cx="118420" cy="384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7}&quot;&gt;&lt;mfrac&gt;&lt;mn&gt;12&lt;/mn&gt;&lt;mn&gt;7&lt;/mn&gt;&lt;/mfrac&gt;&lt;/math&gt;" id="1152" name="Google Shape;1152;p79" title="twelve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9871" y="2353370"/>
            <a:ext cx="196404" cy="361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3}{6}&quot;&gt;&lt;mfrac&gt;&lt;mn&gt;23&lt;/mn&gt;&lt;mn&gt;6&lt;/mn&gt;&lt;/mfrac&gt;&lt;/math&gt;" id="1153" name="Google Shape;1153;p79" title="23 over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99871" y="2736576"/>
            <a:ext cx="196404" cy="358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1}&quot;&gt;&lt;mfrac&gt;&lt;mn&gt;3&lt;/mn&gt;&lt;mn&gt;11&lt;/mn&gt;&lt;/mfrac&gt;&lt;/math&gt;" id="1154" name="Google Shape;1154;p79" title="3 over 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99875" y="3140946"/>
            <a:ext cx="196404" cy="354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3}&quot;&gt;&lt;mfrac&gt;&lt;mn&gt;5&lt;/mn&gt;&lt;mn&gt;3&lt;/mn&gt;&lt;/mfrac&gt;&lt;/math&gt;" id="1155" name="Google Shape;1155;p79" title="five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47225" y="4363635"/>
            <a:ext cx="118425" cy="380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156" name="Google Shape;1156;p79" title="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59200" y="3970500"/>
            <a:ext cx="104775" cy="333818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79"/>
          <p:cNvSpPr/>
          <p:nvPr/>
        </p:nvSpPr>
        <p:spPr>
          <a:xfrm>
            <a:off x="6533225" y="1496095"/>
            <a:ext cx="1170600" cy="413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79"/>
          <p:cNvSpPr/>
          <p:nvPr/>
        </p:nvSpPr>
        <p:spPr>
          <a:xfrm>
            <a:off x="6899872" y="1935100"/>
            <a:ext cx="196500" cy="33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79"/>
          <p:cNvSpPr/>
          <p:nvPr/>
        </p:nvSpPr>
        <p:spPr>
          <a:xfrm>
            <a:off x="1937103" y="2747120"/>
            <a:ext cx="402300" cy="33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79"/>
          <p:cNvSpPr/>
          <p:nvPr/>
        </p:nvSpPr>
        <p:spPr>
          <a:xfrm>
            <a:off x="4375503" y="3149357"/>
            <a:ext cx="402300" cy="33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79"/>
          <p:cNvSpPr/>
          <p:nvPr/>
        </p:nvSpPr>
        <p:spPr>
          <a:xfrm>
            <a:off x="6796928" y="3560645"/>
            <a:ext cx="402300" cy="33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79"/>
          <p:cNvSpPr/>
          <p:nvPr/>
        </p:nvSpPr>
        <p:spPr>
          <a:xfrm>
            <a:off x="1937100" y="3968800"/>
            <a:ext cx="447900" cy="33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79"/>
          <p:cNvSpPr/>
          <p:nvPr/>
        </p:nvSpPr>
        <p:spPr>
          <a:xfrm>
            <a:off x="4375503" y="4385358"/>
            <a:ext cx="402300" cy="33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80"/>
          <p:cNvSpPr txBox="1"/>
          <p:nvPr>
            <p:ph idx="1" type="body"/>
          </p:nvPr>
        </p:nvSpPr>
        <p:spPr>
          <a:xfrm>
            <a:off x="324000" y="6069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 Complete these double number lines:</a:t>
            </a:r>
            <a:endParaRPr/>
          </a:p>
        </p:txBody>
      </p:sp>
      <p:sp>
        <p:nvSpPr>
          <p:cNvPr id="1169" name="Google Shape;1169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multiplier efficiently</a:t>
            </a:r>
            <a:endParaRPr/>
          </a:p>
        </p:txBody>
      </p:sp>
      <p:grpSp>
        <p:nvGrpSpPr>
          <p:cNvPr id="1170" name="Google Shape;1170;p80"/>
          <p:cNvGrpSpPr/>
          <p:nvPr/>
        </p:nvGrpSpPr>
        <p:grpSpPr>
          <a:xfrm>
            <a:off x="5186447" y="1975355"/>
            <a:ext cx="2414405" cy="1357500"/>
            <a:chOff x="441900" y="3572013"/>
            <a:chExt cx="3074500" cy="1357500"/>
          </a:xfrm>
        </p:grpSpPr>
        <p:cxnSp>
          <p:nvCxnSpPr>
            <p:cNvPr id="1171" name="Google Shape;1171;p80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2" name="Google Shape;1172;p80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73" name="Google Shape;1173;p80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174" name="Google Shape;1174;p80"/>
          <p:cNvGrpSpPr/>
          <p:nvPr/>
        </p:nvGrpSpPr>
        <p:grpSpPr>
          <a:xfrm>
            <a:off x="6854988" y="2170480"/>
            <a:ext cx="63300" cy="1000200"/>
            <a:chOff x="941713" y="3767150"/>
            <a:chExt cx="63300" cy="1000200"/>
          </a:xfrm>
        </p:grpSpPr>
        <p:cxnSp>
          <p:nvCxnSpPr>
            <p:cNvPr id="1175" name="Google Shape;1175;p80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76" name="Google Shape;1176;p8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7" name="Google Shape;1177;p80"/>
          <p:cNvGrpSpPr/>
          <p:nvPr/>
        </p:nvGrpSpPr>
        <p:grpSpPr>
          <a:xfrm>
            <a:off x="5940588" y="2170480"/>
            <a:ext cx="63300" cy="1000200"/>
            <a:chOff x="941713" y="3767150"/>
            <a:chExt cx="63300" cy="1000200"/>
          </a:xfrm>
        </p:grpSpPr>
        <p:cxnSp>
          <p:nvCxnSpPr>
            <p:cNvPr id="1178" name="Google Shape;1178;p80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79" name="Google Shape;1179;p8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0" name="Google Shape;1180;p80"/>
          <p:cNvSpPr txBox="1"/>
          <p:nvPr/>
        </p:nvSpPr>
        <p:spPr>
          <a:xfrm>
            <a:off x="7672087" y="2818255"/>
            <a:ext cx="102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Cost (£)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80"/>
          <p:cNvSpPr txBox="1"/>
          <p:nvPr/>
        </p:nvSpPr>
        <p:spPr>
          <a:xfrm>
            <a:off x="7672087" y="2216005"/>
            <a:ext cx="102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Packets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80"/>
          <p:cNvSpPr txBox="1"/>
          <p:nvPr/>
        </p:nvSpPr>
        <p:spPr>
          <a:xfrm>
            <a:off x="5805763" y="1755905"/>
            <a:ext cx="35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80"/>
          <p:cNvSpPr txBox="1"/>
          <p:nvPr/>
        </p:nvSpPr>
        <p:spPr>
          <a:xfrm>
            <a:off x="6681144" y="1755905"/>
            <a:ext cx="5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80"/>
          <p:cNvSpPr txBox="1"/>
          <p:nvPr/>
        </p:nvSpPr>
        <p:spPr>
          <a:xfrm>
            <a:off x="6535116" y="3206555"/>
            <a:ext cx="75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44.52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80"/>
          <p:cNvSpPr/>
          <p:nvPr/>
        </p:nvSpPr>
        <p:spPr>
          <a:xfrm rot="10800000">
            <a:off x="5867613" y="3490950"/>
            <a:ext cx="995700" cy="261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80"/>
          <p:cNvSpPr/>
          <p:nvPr/>
        </p:nvSpPr>
        <p:spPr>
          <a:xfrm flipH="1">
            <a:off x="5895774" y="1584825"/>
            <a:ext cx="995700" cy="270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80"/>
          <p:cNvSpPr txBox="1"/>
          <p:nvPr/>
        </p:nvSpPr>
        <p:spPr>
          <a:xfrm>
            <a:off x="6153962" y="1068412"/>
            <a:ext cx="1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80"/>
          <p:cNvSpPr txBox="1"/>
          <p:nvPr/>
        </p:nvSpPr>
        <p:spPr>
          <a:xfrm>
            <a:off x="6153962" y="3887812"/>
            <a:ext cx="1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80"/>
          <p:cNvSpPr txBox="1"/>
          <p:nvPr/>
        </p:nvSpPr>
        <p:spPr>
          <a:xfrm>
            <a:off x="4986025" y="4524000"/>
            <a:ext cx="324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35 packets will cost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£18.55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80"/>
          <p:cNvSpPr/>
          <p:nvPr/>
        </p:nvSpPr>
        <p:spPr>
          <a:xfrm>
            <a:off x="6339850" y="967750"/>
            <a:ext cx="351300" cy="57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80"/>
          <p:cNvSpPr/>
          <p:nvPr/>
        </p:nvSpPr>
        <p:spPr>
          <a:xfrm>
            <a:off x="6339850" y="3848925"/>
            <a:ext cx="351300" cy="57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80"/>
          <p:cNvSpPr/>
          <p:nvPr/>
        </p:nvSpPr>
        <p:spPr>
          <a:xfrm>
            <a:off x="5516575" y="3207300"/>
            <a:ext cx="929700" cy="33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3" name="Google Shape;1193;p80"/>
          <p:cNvGrpSpPr/>
          <p:nvPr/>
        </p:nvGrpSpPr>
        <p:grpSpPr>
          <a:xfrm>
            <a:off x="766847" y="1975355"/>
            <a:ext cx="2414405" cy="1357500"/>
            <a:chOff x="441900" y="3572013"/>
            <a:chExt cx="3074500" cy="1357500"/>
          </a:xfrm>
        </p:grpSpPr>
        <p:cxnSp>
          <p:nvCxnSpPr>
            <p:cNvPr id="1194" name="Google Shape;1194;p80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5" name="Google Shape;1195;p80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96" name="Google Shape;1196;p80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197" name="Google Shape;1197;p80"/>
          <p:cNvGrpSpPr/>
          <p:nvPr/>
        </p:nvGrpSpPr>
        <p:grpSpPr>
          <a:xfrm>
            <a:off x="2435388" y="2170480"/>
            <a:ext cx="63300" cy="1000200"/>
            <a:chOff x="941713" y="3767150"/>
            <a:chExt cx="63300" cy="1000200"/>
          </a:xfrm>
        </p:grpSpPr>
        <p:cxnSp>
          <p:nvCxnSpPr>
            <p:cNvPr id="1198" name="Google Shape;1198;p80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99" name="Google Shape;1199;p8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0" name="Google Shape;1200;p80"/>
          <p:cNvGrpSpPr/>
          <p:nvPr/>
        </p:nvGrpSpPr>
        <p:grpSpPr>
          <a:xfrm>
            <a:off x="1520988" y="2170480"/>
            <a:ext cx="63300" cy="1000200"/>
            <a:chOff x="941713" y="3767150"/>
            <a:chExt cx="63300" cy="1000200"/>
          </a:xfrm>
        </p:grpSpPr>
        <p:cxnSp>
          <p:nvCxnSpPr>
            <p:cNvPr id="1201" name="Google Shape;1201;p80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02" name="Google Shape;1202;p8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3" name="Google Shape;1203;p80"/>
          <p:cNvSpPr txBox="1"/>
          <p:nvPr/>
        </p:nvSpPr>
        <p:spPr>
          <a:xfrm>
            <a:off x="3252487" y="2818255"/>
            <a:ext cx="102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Cost (£)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80"/>
          <p:cNvSpPr txBox="1"/>
          <p:nvPr/>
        </p:nvSpPr>
        <p:spPr>
          <a:xfrm>
            <a:off x="3252487" y="2216005"/>
            <a:ext cx="102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Packets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80"/>
          <p:cNvSpPr txBox="1"/>
          <p:nvPr/>
        </p:nvSpPr>
        <p:spPr>
          <a:xfrm>
            <a:off x="1386163" y="1755905"/>
            <a:ext cx="35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80"/>
          <p:cNvSpPr txBox="1"/>
          <p:nvPr/>
        </p:nvSpPr>
        <p:spPr>
          <a:xfrm>
            <a:off x="2215824" y="1755905"/>
            <a:ext cx="5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0"/>
          <p:cNvSpPr txBox="1"/>
          <p:nvPr/>
        </p:nvSpPr>
        <p:spPr>
          <a:xfrm>
            <a:off x="1175391" y="3246555"/>
            <a:ext cx="75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10.08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0"/>
          <p:cNvSpPr/>
          <p:nvPr/>
        </p:nvSpPr>
        <p:spPr>
          <a:xfrm flipH="1" rot="10800000">
            <a:off x="1583046" y="3490950"/>
            <a:ext cx="904200" cy="261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80"/>
          <p:cNvSpPr/>
          <p:nvPr/>
        </p:nvSpPr>
        <p:spPr>
          <a:xfrm>
            <a:off x="1557475" y="1584825"/>
            <a:ext cx="904200" cy="270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80"/>
          <p:cNvSpPr txBox="1"/>
          <p:nvPr/>
        </p:nvSpPr>
        <p:spPr>
          <a:xfrm>
            <a:off x="1734362" y="1068412"/>
            <a:ext cx="1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80"/>
          <p:cNvSpPr txBox="1"/>
          <p:nvPr/>
        </p:nvSpPr>
        <p:spPr>
          <a:xfrm>
            <a:off x="1734362" y="3887812"/>
            <a:ext cx="1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80"/>
          <p:cNvSpPr txBox="1"/>
          <p:nvPr/>
        </p:nvSpPr>
        <p:spPr>
          <a:xfrm>
            <a:off x="566425" y="4524000"/>
            <a:ext cx="3479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102 packets will cost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£24.48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80"/>
          <p:cNvSpPr/>
          <p:nvPr/>
        </p:nvSpPr>
        <p:spPr>
          <a:xfrm>
            <a:off x="1920250" y="967750"/>
            <a:ext cx="351300" cy="57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80"/>
          <p:cNvSpPr/>
          <p:nvPr/>
        </p:nvSpPr>
        <p:spPr>
          <a:xfrm>
            <a:off x="1920250" y="3848925"/>
            <a:ext cx="351300" cy="57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80"/>
          <p:cNvSpPr/>
          <p:nvPr/>
        </p:nvSpPr>
        <p:spPr>
          <a:xfrm>
            <a:off x="2002188" y="3246550"/>
            <a:ext cx="929700" cy="33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7}{7}&quot;&gt;&lt;mfrac&gt;&lt;mn&gt;17&lt;/mn&gt;&lt;mn&gt;7&lt;/mn&gt;&lt;/mfrac&gt;&lt;/math&gt;" id="1216" name="Google Shape;1216;p80" title="seventeen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990" y="1021773"/>
            <a:ext cx="256362" cy="468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2}&quot;&gt;&lt;mfrac&gt;&lt;mn&gt;5&lt;/mn&gt;&lt;mn&gt;12&lt;/mn&gt;&lt;/mfrac&gt;&lt;/math&gt;" id="1217" name="Google Shape;1217;p80" title="5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2387" y="1024184"/>
            <a:ext cx="246242" cy="4486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7}&quot;&gt;&lt;mfrac&gt;&lt;mn&gt;17&lt;/mn&gt;&lt;mn&gt;7&lt;/mn&gt;&lt;/mfrac&gt;&lt;/math&gt;" id="1218" name="Google Shape;1218;p80" title="seventeen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980" y="3903985"/>
            <a:ext cx="256362" cy="468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2}&quot;&gt;&lt;mfrac&gt;&lt;mn&gt;5&lt;/mn&gt;&lt;mn&gt;12&lt;/mn&gt;&lt;/mfrac&gt;&lt;/math&gt;" id="1219" name="Google Shape;1219;p80" title="5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2387" y="3914109"/>
            <a:ext cx="246242" cy="448634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80"/>
          <p:cNvSpPr txBox="1"/>
          <p:nvPr/>
        </p:nvSpPr>
        <p:spPr>
          <a:xfrm>
            <a:off x="2089791" y="3246555"/>
            <a:ext cx="75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24.48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1" name="Google Shape;1221;p80"/>
          <p:cNvSpPr txBox="1"/>
          <p:nvPr/>
        </p:nvSpPr>
        <p:spPr>
          <a:xfrm>
            <a:off x="5642266" y="3206555"/>
            <a:ext cx="75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18.55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2" name="Google Shape;1222;p80"/>
          <p:cNvSpPr txBox="1"/>
          <p:nvPr/>
        </p:nvSpPr>
        <p:spPr>
          <a:xfrm>
            <a:off x="323995" y="1068400"/>
            <a:ext cx="35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80"/>
          <p:cNvSpPr txBox="1"/>
          <p:nvPr/>
        </p:nvSpPr>
        <p:spPr>
          <a:xfrm>
            <a:off x="4822020" y="1068400"/>
            <a:ext cx="35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8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multiplier efficiently</a:t>
            </a:r>
            <a:endParaRPr/>
          </a:p>
        </p:txBody>
      </p:sp>
      <p:sp>
        <p:nvSpPr>
          <p:cNvPr id="1229" name="Google Shape;1229;p8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one number as a fraction of another</a:t>
            </a:r>
            <a:endParaRPr/>
          </a:p>
        </p:txBody>
      </p:sp>
      <p:sp>
        <p:nvSpPr>
          <p:cNvPr id="1230" name="Google Shape;1230;p8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one number as a fraction of another</a:t>
            </a:r>
            <a:endParaRPr/>
          </a:p>
        </p:txBody>
      </p:sp>
      <p:pic>
        <p:nvPicPr>
          <p:cNvPr id="1231" name="Google Shape;123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85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one number as a fraction of another</a:t>
            </a:r>
            <a:endParaRPr/>
          </a:p>
        </p:txBody>
      </p:sp>
      <p:sp>
        <p:nvSpPr>
          <p:cNvPr id="1237" name="Google Shape;1237;p82"/>
          <p:cNvSpPr txBox="1"/>
          <p:nvPr>
            <p:ph idx="1" type="body"/>
          </p:nvPr>
        </p:nvSpPr>
        <p:spPr>
          <a:xfrm>
            <a:off x="324000" y="759300"/>
            <a:ext cx="3528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fraction of 30 is 20?</a:t>
            </a:r>
            <a:endParaRPr/>
          </a:p>
        </p:txBody>
      </p:sp>
      <p:graphicFrame>
        <p:nvGraphicFramePr>
          <p:cNvPr id="1238" name="Google Shape;1238;p82"/>
          <p:cNvGraphicFramePr/>
          <p:nvPr/>
        </p:nvGraphicFramePr>
        <p:xfrm>
          <a:off x="2221950" y="126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{9870B833-4671-4C10-ABE5-1F8FA2A771BC}</a:tableStyleId>
              </a:tblPr>
              <a:tblGrid>
                <a:gridCol w="905825"/>
              </a:tblGrid>
              <a:tr h="348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39" name="Google Shape;1239;p82"/>
          <p:cNvGraphicFramePr/>
          <p:nvPr/>
        </p:nvGraphicFramePr>
        <p:xfrm>
          <a:off x="6536388" y="126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{9870B833-4671-4C10-ABE5-1F8FA2A771BC}</a:tableStyleId>
              </a:tblPr>
              <a:tblGrid>
                <a:gridCol w="905825"/>
              </a:tblGrid>
              <a:tr h="116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  <a:tr h="116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  <a:tr h="116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0" name="Google Shape;1240;p82"/>
          <p:cNvGraphicFramePr/>
          <p:nvPr/>
        </p:nvGraphicFramePr>
        <p:xfrm>
          <a:off x="5098242" y="126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{9870B833-4671-4C10-ABE5-1F8FA2A771BC}</a:tableStyleId>
              </a:tblPr>
              <a:tblGrid>
                <a:gridCol w="905825"/>
              </a:tblGrid>
              <a:tr h="1164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  <a:tr h="231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1" name="Google Shape;1241;p82"/>
          <p:cNvGraphicFramePr/>
          <p:nvPr/>
        </p:nvGraphicFramePr>
        <p:xfrm>
          <a:off x="3660096" y="243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{9870B833-4671-4C10-ABE5-1F8FA2A771BC}</a:tableStyleId>
              </a:tblPr>
              <a:tblGrid>
                <a:gridCol w="905825"/>
              </a:tblGrid>
              <a:tr h="231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42" name="Google Shape;1242;p82"/>
          <p:cNvSpPr/>
          <p:nvPr/>
        </p:nvSpPr>
        <p:spPr>
          <a:xfrm rot="10800000">
            <a:off x="7519050" y="2433400"/>
            <a:ext cx="199800" cy="2315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243" name="Google Shape;1243;p82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0825" y="3190475"/>
            <a:ext cx="199800" cy="661243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82"/>
          <p:cNvSpPr txBox="1"/>
          <p:nvPr>
            <p:ph idx="1" type="body"/>
          </p:nvPr>
        </p:nvSpPr>
        <p:spPr>
          <a:xfrm>
            <a:off x="324300" y="1834323"/>
            <a:ext cx="1793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20 is   of 30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245" name="Google Shape;1245;p82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596" y="1813749"/>
            <a:ext cx="148624" cy="491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6" name="Google Shape;1246;p82"/>
          <p:cNvCxnSpPr/>
          <p:nvPr/>
        </p:nvCxnSpPr>
        <p:spPr>
          <a:xfrm flipH="1" rot="10800000">
            <a:off x="906008" y="2381812"/>
            <a:ext cx="198900" cy="464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7" name="Google Shape;1247;p82"/>
          <p:cNvSpPr txBox="1"/>
          <p:nvPr>
            <p:ph idx="1" type="body"/>
          </p:nvPr>
        </p:nvSpPr>
        <p:spPr>
          <a:xfrm>
            <a:off x="370475" y="2857650"/>
            <a:ext cx="1793400" cy="16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Notice this is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</a:t>
            </a:r>
            <a:r>
              <a:rPr lang="en-GB"/>
              <a:t>i</a:t>
            </a:r>
            <a:r>
              <a:rPr lang="en-GB"/>
              <a:t>n its simplest terms.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0}{30}&quot;&gt;&lt;mfrac&gt;&lt;mn&gt;20&lt;/mn&gt;&lt;mn&gt;30&lt;/mn&gt;&lt;/mfrac&gt;&lt;/math&gt;" id="1248" name="Google Shape;1248;p82" title="20 over 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475" y="3190475"/>
            <a:ext cx="311075" cy="5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one number as a fraction of another</a:t>
            </a:r>
            <a:endParaRPr/>
          </a:p>
        </p:txBody>
      </p:sp>
      <p:sp>
        <p:nvSpPr>
          <p:cNvPr id="1254" name="Google Shape;1254;p83"/>
          <p:cNvSpPr txBox="1"/>
          <p:nvPr>
            <p:ph idx="1" type="body"/>
          </p:nvPr>
        </p:nvSpPr>
        <p:spPr>
          <a:xfrm>
            <a:off x="324000" y="759300"/>
            <a:ext cx="4090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fraction of 250 is 150?</a:t>
            </a:r>
            <a:endParaRPr/>
          </a:p>
        </p:txBody>
      </p:sp>
      <p:graphicFrame>
        <p:nvGraphicFramePr>
          <p:cNvPr id="1255" name="Google Shape;1255;p83"/>
          <p:cNvGraphicFramePr/>
          <p:nvPr/>
        </p:nvGraphicFramePr>
        <p:xfrm>
          <a:off x="2298150" y="126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{9870B833-4671-4C10-ABE5-1F8FA2A771BC}</a:tableStyleId>
              </a:tblPr>
              <a:tblGrid>
                <a:gridCol w="905825"/>
              </a:tblGrid>
              <a:tr h="348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56" name="Google Shape;1256;p83"/>
          <p:cNvGraphicFramePr/>
          <p:nvPr/>
        </p:nvGraphicFramePr>
        <p:xfrm>
          <a:off x="6612588" y="126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{9870B833-4671-4C10-ABE5-1F8FA2A771BC}</a:tableStyleId>
              </a:tblPr>
              <a:tblGrid>
                <a:gridCol w="905825"/>
              </a:tblGrid>
              <a:tr h="69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  <a:tr h="69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  <a:tr h="69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  <a:tr h="69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  <a:tr h="69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57" name="Google Shape;1257;p83"/>
          <p:cNvGraphicFramePr/>
          <p:nvPr/>
        </p:nvGraphicFramePr>
        <p:xfrm>
          <a:off x="5174442" y="126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{9870B833-4671-4C10-ABE5-1F8FA2A771BC}</a:tableStyleId>
              </a:tblPr>
              <a:tblGrid>
                <a:gridCol w="905825"/>
              </a:tblGrid>
              <a:tr h="13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  <a:tr h="210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58" name="Google Shape;1258;p83"/>
          <p:cNvGraphicFramePr/>
          <p:nvPr/>
        </p:nvGraphicFramePr>
        <p:xfrm>
          <a:off x="3736296" y="264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{9870B833-4671-4C10-ABE5-1F8FA2A771BC}</a:tableStyleId>
              </a:tblPr>
              <a:tblGrid>
                <a:gridCol w="905825"/>
              </a:tblGrid>
              <a:tr h="210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59" name="Google Shape;1259;p83"/>
          <p:cNvSpPr/>
          <p:nvPr/>
        </p:nvSpPr>
        <p:spPr>
          <a:xfrm rot="10800000">
            <a:off x="7595250" y="2651800"/>
            <a:ext cx="199800" cy="2097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260" name="Google Shape;1260;p83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7300" y="3458888"/>
            <a:ext cx="199800" cy="642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p83"/>
          <p:cNvSpPr txBox="1"/>
          <p:nvPr>
            <p:ph idx="1" type="body"/>
          </p:nvPr>
        </p:nvSpPr>
        <p:spPr>
          <a:xfrm>
            <a:off x="324300" y="2596325"/>
            <a:ext cx="191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150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  of 250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262" name="Google Shape;1262;p83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275" y="2571748"/>
            <a:ext cx="160775" cy="51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50}{250}=\frac{15}{25}=\frac{3}{5}&quot;&gt;&lt;mfrac&gt;&lt;mn&gt;150&lt;/mn&gt;&lt;mn&gt;250&lt;/mn&gt;&lt;/mfrac&gt;&lt;mo&gt;=&lt;/mo&gt;&lt;mfrac&gt;&lt;mn&gt;15&lt;/mn&gt;&lt;mn&gt;25&lt;/mn&gt;&lt;/mfrac&gt;&lt;mo&gt;=&lt;/mo&gt;&lt;mfrac&gt;&lt;mn&gt;3&lt;/mn&gt;&lt;mn&gt;5&lt;/mn&gt;&lt;/mfrac&gt;&lt;/math&gt;" id="1263" name="Google Shape;1263;p83" title="150 over 250 equals 15 over 25 equals 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331" y="3319425"/>
            <a:ext cx="1854443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one number as a fraction of another</a:t>
            </a:r>
            <a:endParaRPr/>
          </a:p>
        </p:txBody>
      </p:sp>
      <p:sp>
        <p:nvSpPr>
          <p:cNvPr id="1269" name="Google Shape;1269;p84"/>
          <p:cNvSpPr txBox="1"/>
          <p:nvPr>
            <p:ph idx="1" type="body"/>
          </p:nvPr>
        </p:nvSpPr>
        <p:spPr>
          <a:xfrm>
            <a:off x="324000" y="759300"/>
            <a:ext cx="8237700" cy="12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could represent this </a:t>
            </a:r>
            <a:r>
              <a:rPr lang="en-GB"/>
              <a:t>type</a:t>
            </a:r>
            <a:r>
              <a:rPr lang="en-GB"/>
              <a:t> of problem on a double number line.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fraction of 105 is 75?</a:t>
            </a:r>
            <a:endParaRPr/>
          </a:p>
        </p:txBody>
      </p:sp>
      <p:grpSp>
        <p:nvGrpSpPr>
          <p:cNvPr id="1270" name="Google Shape;1270;p84"/>
          <p:cNvGrpSpPr/>
          <p:nvPr/>
        </p:nvGrpSpPr>
        <p:grpSpPr>
          <a:xfrm>
            <a:off x="2773775" y="2531838"/>
            <a:ext cx="4922700" cy="1357500"/>
            <a:chOff x="2773775" y="2531838"/>
            <a:chExt cx="4922700" cy="1357500"/>
          </a:xfrm>
        </p:grpSpPr>
        <p:grpSp>
          <p:nvGrpSpPr>
            <p:cNvPr id="1271" name="Google Shape;1271;p84"/>
            <p:cNvGrpSpPr/>
            <p:nvPr/>
          </p:nvGrpSpPr>
          <p:grpSpPr>
            <a:xfrm>
              <a:off x="2773775" y="2531838"/>
              <a:ext cx="3074500" cy="1357500"/>
              <a:chOff x="441900" y="3572013"/>
              <a:chExt cx="3074500" cy="1357500"/>
            </a:xfrm>
          </p:grpSpPr>
          <p:cxnSp>
            <p:nvCxnSpPr>
              <p:cNvPr id="1272" name="Google Shape;1272;p84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3" name="Google Shape;1273;p84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274" name="Google Shape;1274;p84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275" name="Google Shape;1275;p84"/>
            <p:cNvGrpSpPr/>
            <p:nvPr/>
          </p:nvGrpSpPr>
          <p:grpSpPr>
            <a:xfrm>
              <a:off x="5102388" y="2726975"/>
              <a:ext cx="63300" cy="1000200"/>
              <a:chOff x="941713" y="3767150"/>
              <a:chExt cx="63300" cy="1000200"/>
            </a:xfrm>
          </p:grpSpPr>
          <p:cxnSp>
            <p:nvCxnSpPr>
              <p:cNvPr id="1276" name="Google Shape;1276;p84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77" name="Google Shape;1277;p84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8" name="Google Shape;1278;p84"/>
            <p:cNvGrpSpPr/>
            <p:nvPr/>
          </p:nvGrpSpPr>
          <p:grpSpPr>
            <a:xfrm>
              <a:off x="4187988" y="2726975"/>
              <a:ext cx="63300" cy="1000200"/>
              <a:chOff x="941713" y="3767150"/>
              <a:chExt cx="63300" cy="1000200"/>
            </a:xfrm>
          </p:grpSpPr>
          <p:cxnSp>
            <p:nvCxnSpPr>
              <p:cNvPr id="1279" name="Google Shape;1279;p84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0" name="Google Shape;1280;p84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81" name="Google Shape;1281;p84"/>
            <p:cNvSpPr txBox="1"/>
            <p:nvPr/>
          </p:nvSpPr>
          <p:spPr>
            <a:xfrm>
              <a:off x="5893175" y="2767425"/>
              <a:ext cx="1803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Fraction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2" name="Google Shape;1282;p84"/>
            <p:cNvSpPr txBox="1"/>
            <p:nvPr/>
          </p:nvSpPr>
          <p:spPr>
            <a:xfrm>
              <a:off x="5922377" y="3374750"/>
              <a:ext cx="1136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83" name="Google Shape;1283;p84"/>
          <p:cNvSpPr txBox="1"/>
          <p:nvPr/>
        </p:nvSpPr>
        <p:spPr>
          <a:xfrm>
            <a:off x="4150050" y="2391650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84"/>
          <p:cNvSpPr txBox="1"/>
          <p:nvPr/>
        </p:nvSpPr>
        <p:spPr>
          <a:xfrm>
            <a:off x="4909878" y="3771425"/>
            <a:ext cx="5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84"/>
          <p:cNvSpPr txBox="1"/>
          <p:nvPr/>
        </p:nvSpPr>
        <p:spPr>
          <a:xfrm>
            <a:off x="4059200" y="3771425"/>
            <a:ext cx="37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84"/>
          <p:cNvSpPr txBox="1"/>
          <p:nvPr/>
        </p:nvSpPr>
        <p:spPr>
          <a:xfrm>
            <a:off x="5064450" y="2391650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7" name="Google Shape;1287;p84"/>
          <p:cNvGrpSpPr/>
          <p:nvPr/>
        </p:nvGrpSpPr>
        <p:grpSpPr>
          <a:xfrm>
            <a:off x="4168930" y="3971250"/>
            <a:ext cx="907800" cy="778025"/>
            <a:chOff x="4168930" y="3971250"/>
            <a:chExt cx="907800" cy="778025"/>
          </a:xfrm>
        </p:grpSpPr>
        <p:sp>
          <p:nvSpPr>
            <p:cNvPr id="1288" name="Google Shape;1288;p84"/>
            <p:cNvSpPr/>
            <p:nvPr/>
          </p:nvSpPr>
          <p:spPr>
            <a:xfrm rot="10800000">
              <a:off x="4168930" y="3971250"/>
              <a:ext cx="907800" cy="261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84"/>
            <p:cNvSpPr txBox="1"/>
            <p:nvPr/>
          </p:nvSpPr>
          <p:spPr>
            <a:xfrm>
              <a:off x="4395889" y="4410575"/>
              <a:ext cx="441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75}{105}=\frac{3\times5\times5}{3\times5\times7^{ }}=\frac{5}{7}&quot;&gt;&lt;mfrac&gt;&lt;mn&gt;75&lt;/mn&gt;&lt;mn&gt;105&lt;/mn&gt;&lt;/mfrac&gt;&lt;mo&gt;=&lt;/mo&gt;&lt;mfrac&gt;&lt;mrow&gt;&lt;mn&gt;3&lt;/mn&gt;&lt;mo&gt;×&lt;/mo&gt;&lt;mn&gt;5&lt;/mn&gt;&lt;mo&gt;×&lt;/mo&gt;&lt;mn&gt;5&lt;/mn&gt;&lt;/mrow&gt;&lt;mrow&gt;&lt;mn&gt;3&lt;/mn&gt;&lt;mo&gt;×&lt;/mo&gt;&lt;mn&gt;5&lt;/mn&gt;&lt;mo&gt;×&lt;/mo&gt;&lt;msup&gt;&lt;mn&gt;7&lt;/mn&gt;&lt;mrow data-mjx-texclass=&quot;ORD&quot;/&gt;&lt;/msup&gt;&lt;/mrow&gt;&lt;/mfrac&gt;&lt;mo&gt;=&lt;/mo&gt;&lt;mfrac&gt;&lt;mn&gt;5&lt;/mn&gt;&lt;mn&gt;7&lt;/mn&gt;&lt;/mfrac&gt;&lt;/math&gt;" id="1290" name="Google Shape;1290;p84" title="75 over 105 equals the fraction with numerator 3 times 5 times 5 and denominator 3 times 5 times 7 raised to the power equals five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050" y="3997374"/>
            <a:ext cx="2783899" cy="64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5}{105}=\frac{3\times5\times5}{3\times5\times7^{ }}=\frac{5}{7}&quot;&gt;&lt;mfrac&gt;&lt;mn&gt;75&lt;/mn&gt;&lt;mn&gt;105&lt;/mn&gt;&lt;/mfrac&gt;&lt;mo&gt;=&lt;/mo&gt;&lt;mfrac&gt;&lt;mrow&gt;&lt;mn&gt;3&lt;/mn&gt;&lt;mo&gt;×&lt;/mo&gt;&lt;mn&gt;5&lt;/mn&gt;&lt;mo&gt;×&lt;/mo&gt;&lt;mn&gt;5&lt;/mn&gt;&lt;/mrow&gt;&lt;mrow&gt;&lt;mn&gt;3&lt;/mn&gt;&lt;mo&gt;×&lt;/mo&gt;&lt;mn&gt;5&lt;/mn&gt;&lt;mo&gt;×&lt;/mo&gt;&lt;msup&gt;&lt;mn&gt;7&lt;/mn&gt;&lt;mrow data-mjx-texclass=&quot;ORD&quot;/&gt;&lt;/msup&gt;&lt;/mrow&gt;&lt;/mfrac&gt;&lt;mo&gt;=&lt;/mo&gt;&lt;mfrac&gt;&lt;mn&gt;5&lt;/mn&gt;&lt;mn&gt;7&lt;/mn&gt;&lt;/mfrac&gt;&lt;/math&gt;" id="1291" name="Google Shape;1291;p84" title="75 over 105 equals the fraction with numerator 3 times 5 times 5 and denominator 3 times 5 times 7 raised to the power equals five sevenths"/>
          <p:cNvPicPr preferRelativeResize="0"/>
          <p:nvPr/>
        </p:nvPicPr>
        <p:blipFill rotWithShape="1">
          <a:blip r:embed="rId3">
            <a:alphaModFix/>
          </a:blip>
          <a:srcRect b="0" l="90861" r="0" t="0"/>
          <a:stretch/>
        </p:blipFill>
        <p:spPr>
          <a:xfrm>
            <a:off x="4528875" y="4320007"/>
            <a:ext cx="195977" cy="5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84"/>
          <p:cNvSpPr txBox="1"/>
          <p:nvPr/>
        </p:nvSpPr>
        <p:spPr>
          <a:xfrm>
            <a:off x="4578900" y="4441800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3" name="Google Shape;1293;p84"/>
          <p:cNvGrpSpPr/>
          <p:nvPr/>
        </p:nvGrpSpPr>
        <p:grpSpPr>
          <a:xfrm>
            <a:off x="4194600" y="1539882"/>
            <a:ext cx="907800" cy="796143"/>
            <a:chOff x="4194600" y="1539882"/>
            <a:chExt cx="907800" cy="796143"/>
          </a:xfrm>
        </p:grpSpPr>
        <p:grpSp>
          <p:nvGrpSpPr>
            <p:cNvPr id="1294" name="Google Shape;1294;p84"/>
            <p:cNvGrpSpPr/>
            <p:nvPr/>
          </p:nvGrpSpPr>
          <p:grpSpPr>
            <a:xfrm>
              <a:off x="4194600" y="1633180"/>
              <a:ext cx="907800" cy="702845"/>
              <a:chOff x="4194600" y="1709380"/>
              <a:chExt cx="907800" cy="702845"/>
            </a:xfrm>
          </p:grpSpPr>
          <p:sp>
            <p:nvSpPr>
              <p:cNvPr id="1295" name="Google Shape;1295;p84"/>
              <p:cNvSpPr/>
              <p:nvPr/>
            </p:nvSpPr>
            <p:spPr>
              <a:xfrm flipH="1">
                <a:off x="4194600" y="2141325"/>
                <a:ext cx="907800" cy="270900"/>
              </a:xfrm>
              <a:prstGeom prst="arc">
                <a:avLst>
                  <a:gd fmla="val 10729459" name="adj1"/>
                  <a:gd fmla="val 472" name="adj2"/>
                </a:avLst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84"/>
              <p:cNvSpPr txBox="1"/>
              <p:nvPr/>
            </p:nvSpPr>
            <p:spPr>
              <a:xfrm>
                <a:off x="4400300" y="1709380"/>
                <a:ext cx="139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75}{105}=\frac{3\times5\times5}{3\times5\times7^{ }}=\frac{5}{7}&quot;&gt;&lt;mfrac&gt;&lt;mn&gt;75&lt;/mn&gt;&lt;mn&gt;105&lt;/mn&gt;&lt;/mfrac&gt;&lt;mo&gt;=&lt;/mo&gt;&lt;mfrac&gt;&lt;mrow&gt;&lt;mn&gt;3&lt;/mn&gt;&lt;mo&gt;×&lt;/mo&gt;&lt;mn&gt;5&lt;/mn&gt;&lt;mo&gt;×&lt;/mo&gt;&lt;mn&gt;5&lt;/mn&gt;&lt;/mrow&gt;&lt;mrow&gt;&lt;mn&gt;3&lt;/mn&gt;&lt;mo&gt;×&lt;/mo&gt;&lt;mn&gt;5&lt;/mn&gt;&lt;mo&gt;×&lt;/mo&gt;&lt;msup&gt;&lt;mn&gt;7&lt;/mn&gt;&lt;mrow data-mjx-texclass=&quot;ORD&quot;/&gt;&lt;/msup&gt;&lt;/mrow&gt;&lt;/mfrac&gt;&lt;mo&gt;=&lt;/mo&gt;&lt;mfrac&gt;&lt;mn&gt;5&lt;/mn&gt;&lt;mn&gt;7&lt;/mn&gt;&lt;/mfrac&gt;&lt;/math&gt;" id="1297" name="Google Shape;1297;p84" title="75 over 105 equals the fraction with numerator 3 times 5 times 5 and denominator 3 times 5 times 7 raised to the power equals five sevenths"/>
            <p:cNvPicPr preferRelativeResize="0"/>
            <p:nvPr/>
          </p:nvPicPr>
          <p:blipFill rotWithShape="1">
            <a:blip r:embed="rId3">
              <a:alphaModFix/>
            </a:blip>
            <a:srcRect b="0" l="90861" r="0" t="0"/>
            <a:stretch/>
          </p:blipFill>
          <p:spPr>
            <a:xfrm>
              <a:off x="4578900" y="1539882"/>
              <a:ext cx="195977" cy="500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75}{105}=\frac{3\times5\times5}{3\times5\times7^{ }}=\frac{5}{7}&quot;&gt;&lt;mfrac&gt;&lt;mn&gt;75&lt;/mn&gt;&lt;mn&gt;105&lt;/mn&gt;&lt;/mfrac&gt;&lt;mo&gt;=&lt;/mo&gt;&lt;mfrac&gt;&lt;mrow&gt;&lt;mn&gt;3&lt;/mn&gt;&lt;mo&gt;×&lt;/mo&gt;&lt;mn&gt;5&lt;/mn&gt;&lt;mo&gt;×&lt;/mo&gt;&lt;mn&gt;5&lt;/mn&gt;&lt;/mrow&gt;&lt;mrow&gt;&lt;mn&gt;3&lt;/mn&gt;&lt;mo&gt;×&lt;/mo&gt;&lt;mn&gt;5&lt;/mn&gt;&lt;mo&gt;×&lt;/mo&gt;&lt;msup&gt;&lt;mn&gt;7&lt;/mn&gt;&lt;mrow data-mjx-texclass=&quot;ORD&quot;/&gt;&lt;/msup&gt;&lt;/mrow&gt;&lt;/mfrac&gt;&lt;mo&gt;=&lt;/mo&gt;&lt;mfrac&gt;&lt;mn&gt;5&lt;/mn&gt;&lt;mn&gt;7&lt;/mn&gt;&lt;/mfrac&gt;&lt;/math&gt;" id="1298" name="Google Shape;1298;p84" title="75 over 105 equals the fraction with numerator 3 times 5 times 5 and denominator 3 times 5 times 7 raised to the power equals five sevenths"/>
          <p:cNvPicPr preferRelativeResize="0"/>
          <p:nvPr/>
        </p:nvPicPr>
        <p:blipFill rotWithShape="1">
          <a:blip r:embed="rId3">
            <a:alphaModFix/>
          </a:blip>
          <a:srcRect b="0" l="90861" r="0" t="0"/>
          <a:stretch/>
        </p:blipFill>
        <p:spPr>
          <a:xfrm>
            <a:off x="4121662" y="2229957"/>
            <a:ext cx="195977" cy="5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p84"/>
          <p:cNvSpPr txBox="1"/>
          <p:nvPr>
            <p:ph idx="1" type="body"/>
          </p:nvPr>
        </p:nvSpPr>
        <p:spPr>
          <a:xfrm>
            <a:off x="6536400" y="3997375"/>
            <a:ext cx="191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75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  of 105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5}{105}=\frac{3\times5\times5}{3\times5\times7^{ }}=\frac{5}{7}&quot;&gt;&lt;mfrac&gt;&lt;mn&gt;75&lt;/mn&gt;&lt;mn&gt;105&lt;/mn&gt;&lt;/mfrac&gt;&lt;mo&gt;=&lt;/mo&gt;&lt;mfrac&gt;&lt;mrow&gt;&lt;mn&gt;3&lt;/mn&gt;&lt;mo&gt;×&lt;/mo&gt;&lt;mn&gt;5&lt;/mn&gt;&lt;mo&gt;×&lt;/mo&gt;&lt;mn&gt;5&lt;/mn&gt;&lt;/mrow&gt;&lt;mrow&gt;&lt;mn&gt;3&lt;/mn&gt;&lt;mo&gt;×&lt;/mo&gt;&lt;mn&gt;5&lt;/mn&gt;&lt;mo&gt;×&lt;/mo&gt;&lt;msup&gt;&lt;mn&gt;7&lt;/mn&gt;&lt;mrow data-mjx-texclass=&quot;ORD&quot;/&gt;&lt;/msup&gt;&lt;/mrow&gt;&lt;/mfrac&gt;&lt;mo&gt;=&lt;/mo&gt;&lt;mfrac&gt;&lt;mn&gt;5&lt;/mn&gt;&lt;mn&gt;7&lt;/mn&gt;&lt;/mfrac&gt;&lt;/math&gt;" id="1300" name="Google Shape;1300;p84" title="75 over 105 equals the fraction with numerator 3 times 5 times 5 and denominator 3 times 5 times 7 raised to the power equals five sevenths"/>
          <p:cNvPicPr preferRelativeResize="0"/>
          <p:nvPr/>
        </p:nvPicPr>
        <p:blipFill rotWithShape="1">
          <a:blip r:embed="rId3">
            <a:alphaModFix/>
          </a:blip>
          <a:srcRect b="0" l="90861" r="0" t="0"/>
          <a:stretch/>
        </p:blipFill>
        <p:spPr>
          <a:xfrm>
            <a:off x="7185421" y="3907532"/>
            <a:ext cx="195977" cy="5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one number as a fraction of another</a:t>
            </a:r>
            <a:endParaRPr/>
          </a:p>
        </p:txBody>
      </p:sp>
      <p:sp>
        <p:nvSpPr>
          <p:cNvPr id="1306" name="Google Shape;1306;p85"/>
          <p:cNvSpPr txBox="1"/>
          <p:nvPr>
            <p:ph idx="1" type="body"/>
          </p:nvPr>
        </p:nvSpPr>
        <p:spPr>
          <a:xfrm>
            <a:off x="324000" y="606900"/>
            <a:ext cx="8496000" cy="6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Lucas and Sam have drawn a double number line to answer this question.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</a:t>
            </a:r>
            <a:r>
              <a:rPr lang="en-GB" sz="1800"/>
              <a:t>hat fraction of 45 is 18?</a:t>
            </a:r>
            <a:endParaRPr sz="1800"/>
          </a:p>
        </p:txBody>
      </p:sp>
      <p:sp>
        <p:nvSpPr>
          <p:cNvPr id="1307" name="Google Shape;1307;p85"/>
          <p:cNvSpPr txBox="1"/>
          <p:nvPr/>
        </p:nvSpPr>
        <p:spPr>
          <a:xfrm>
            <a:off x="1905600" y="4091550"/>
            <a:ext cx="437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Whose number line is correct?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85"/>
          <p:cNvSpPr txBox="1"/>
          <p:nvPr/>
        </p:nvSpPr>
        <p:spPr>
          <a:xfrm>
            <a:off x="324000" y="1352448"/>
            <a:ext cx="190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Lucas’ method: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85"/>
          <p:cNvSpPr txBox="1"/>
          <p:nvPr/>
        </p:nvSpPr>
        <p:spPr>
          <a:xfrm>
            <a:off x="1905600" y="4461550"/>
            <a:ext cx="349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Sam’s method is correct.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10" name="Google Shape;1310;p85"/>
          <p:cNvGrpSpPr/>
          <p:nvPr/>
        </p:nvGrpSpPr>
        <p:grpSpPr>
          <a:xfrm>
            <a:off x="422024" y="1635201"/>
            <a:ext cx="4531251" cy="2765349"/>
            <a:chOff x="422024" y="1635201"/>
            <a:chExt cx="4531251" cy="2765349"/>
          </a:xfrm>
        </p:grpSpPr>
        <p:grpSp>
          <p:nvGrpSpPr>
            <p:cNvPr id="1311" name="Google Shape;1311;p85"/>
            <p:cNvGrpSpPr/>
            <p:nvPr/>
          </p:nvGrpSpPr>
          <p:grpSpPr>
            <a:xfrm>
              <a:off x="422024" y="2574247"/>
              <a:ext cx="2698796" cy="927716"/>
              <a:chOff x="441900" y="3572013"/>
              <a:chExt cx="3074500" cy="1357500"/>
            </a:xfrm>
          </p:grpSpPr>
          <p:cxnSp>
            <p:nvCxnSpPr>
              <p:cNvPr id="1312" name="Google Shape;1312;p85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3" name="Google Shape;1313;p85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314" name="Google Shape;1314;p85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315" name="Google Shape;1315;p85"/>
            <p:cNvGrpSpPr/>
            <p:nvPr/>
          </p:nvGrpSpPr>
          <p:grpSpPr>
            <a:xfrm>
              <a:off x="1825776" y="2707595"/>
              <a:ext cx="63300" cy="683537"/>
              <a:chOff x="941713" y="3767150"/>
              <a:chExt cx="63300" cy="1000200"/>
            </a:xfrm>
          </p:grpSpPr>
          <p:cxnSp>
            <p:nvCxnSpPr>
              <p:cNvPr id="1316" name="Google Shape;1316;p85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7" name="Google Shape;1317;p85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18" name="Google Shape;1318;p85"/>
            <p:cNvSpPr txBox="1"/>
            <p:nvPr/>
          </p:nvSpPr>
          <p:spPr>
            <a:xfrm>
              <a:off x="1699799" y="3359945"/>
              <a:ext cx="358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19" name="Google Shape;1319;p85"/>
            <p:cNvGrpSpPr/>
            <p:nvPr/>
          </p:nvGrpSpPr>
          <p:grpSpPr>
            <a:xfrm>
              <a:off x="911374" y="2707595"/>
              <a:ext cx="63300" cy="683537"/>
              <a:chOff x="941713" y="3767150"/>
              <a:chExt cx="63300" cy="1000200"/>
            </a:xfrm>
          </p:grpSpPr>
          <p:cxnSp>
            <p:nvCxnSpPr>
              <p:cNvPr id="1320" name="Google Shape;1320;p85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21" name="Google Shape;1321;p85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22" name="Google Shape;1322;p85"/>
            <p:cNvSpPr txBox="1"/>
            <p:nvPr/>
          </p:nvSpPr>
          <p:spPr>
            <a:xfrm>
              <a:off x="3149975" y="2691225"/>
              <a:ext cx="1803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Fraction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3" name="Google Shape;1323;p85"/>
            <p:cNvSpPr txBox="1"/>
            <p:nvPr/>
          </p:nvSpPr>
          <p:spPr>
            <a:xfrm>
              <a:off x="3149975" y="3092810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4" name="Google Shape;1324;p85"/>
            <p:cNvSpPr txBox="1"/>
            <p:nvPr/>
          </p:nvSpPr>
          <p:spPr>
            <a:xfrm>
              <a:off x="1810710" y="2398920"/>
              <a:ext cx="657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? =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5" name="Google Shape;1325;p85"/>
            <p:cNvSpPr/>
            <p:nvPr/>
          </p:nvSpPr>
          <p:spPr>
            <a:xfrm flipH="1" rot="10800000">
              <a:off x="1011572" y="3559770"/>
              <a:ext cx="847800" cy="261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85"/>
            <p:cNvSpPr txBox="1"/>
            <p:nvPr/>
          </p:nvSpPr>
          <p:spPr>
            <a:xfrm>
              <a:off x="820701" y="3359945"/>
              <a:ext cx="420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18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7" name="Google Shape;1327;p85"/>
            <p:cNvSpPr/>
            <p:nvPr/>
          </p:nvSpPr>
          <p:spPr>
            <a:xfrm>
              <a:off x="987600" y="2187045"/>
              <a:ext cx="847800" cy="270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85"/>
            <p:cNvSpPr txBox="1"/>
            <p:nvPr/>
          </p:nvSpPr>
          <p:spPr>
            <a:xfrm>
              <a:off x="873425" y="2456108"/>
              <a:ext cx="139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9" name="Google Shape;1329;p85"/>
            <p:cNvSpPr txBox="1"/>
            <p:nvPr/>
          </p:nvSpPr>
          <p:spPr>
            <a:xfrm>
              <a:off x="1123700" y="1723620"/>
              <a:ext cx="13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5}{2}&quot;&gt;&lt;mfrac&gt;&lt;mn&gt;5&lt;/mn&gt;&lt;mn&gt;2&lt;/mn&gt;&lt;/mfrac&gt;&lt;/math&gt;" id="1330" name="Google Shape;1330;p85" title="five halve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31738" y="1635201"/>
              <a:ext cx="159517" cy="5174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2}&quot;&gt;&lt;mfrac&gt;&lt;mn&gt;5&lt;/mn&gt;&lt;mn&gt;2&lt;/mn&gt;&lt;/mfrac&gt;&lt;/math&gt;" id="1331" name="Google Shape;1331;p85" title="five halve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87538" y="2241396"/>
              <a:ext cx="159517" cy="5174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85"/>
            <p:cNvSpPr txBox="1"/>
            <p:nvPr/>
          </p:nvSpPr>
          <p:spPr>
            <a:xfrm>
              <a:off x="1123700" y="3971520"/>
              <a:ext cx="13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5}{2}&quot;&gt;&lt;mfrac&gt;&lt;mn&gt;5&lt;/mn&gt;&lt;mn&gt;2&lt;/mn&gt;&lt;/mfrac&gt;&lt;/math&gt;" id="1333" name="Google Shape;1333;p85" title="five halve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31738" y="3883101"/>
              <a:ext cx="159517" cy="5174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4" name="Google Shape;1334;p85"/>
          <p:cNvGrpSpPr/>
          <p:nvPr/>
        </p:nvGrpSpPr>
        <p:grpSpPr>
          <a:xfrm>
            <a:off x="4572000" y="1352448"/>
            <a:ext cx="4210175" cy="3051995"/>
            <a:chOff x="4572000" y="1352448"/>
            <a:chExt cx="4210175" cy="3051995"/>
          </a:xfrm>
        </p:grpSpPr>
        <p:grpSp>
          <p:nvGrpSpPr>
            <p:cNvPr id="1335" name="Google Shape;1335;p85"/>
            <p:cNvGrpSpPr/>
            <p:nvPr/>
          </p:nvGrpSpPr>
          <p:grpSpPr>
            <a:xfrm>
              <a:off x="5450206" y="2580602"/>
              <a:ext cx="2150613" cy="927715"/>
              <a:chOff x="441900" y="3572013"/>
              <a:chExt cx="3074500" cy="1357500"/>
            </a:xfrm>
          </p:grpSpPr>
          <p:cxnSp>
            <p:nvCxnSpPr>
              <p:cNvPr id="1336" name="Google Shape;1336;p85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7" name="Google Shape;1337;p85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338" name="Google Shape;1338;p85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339" name="Google Shape;1339;p85"/>
            <p:cNvGrpSpPr/>
            <p:nvPr/>
          </p:nvGrpSpPr>
          <p:grpSpPr>
            <a:xfrm>
              <a:off x="6854990" y="2713951"/>
              <a:ext cx="63300" cy="683537"/>
              <a:chOff x="941713" y="3767150"/>
              <a:chExt cx="63300" cy="1000200"/>
            </a:xfrm>
          </p:grpSpPr>
          <p:cxnSp>
            <p:nvCxnSpPr>
              <p:cNvPr id="1340" name="Google Shape;1340;p85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41" name="Google Shape;1341;p85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42" name="Google Shape;1342;p85"/>
            <p:cNvSpPr txBox="1"/>
            <p:nvPr/>
          </p:nvSpPr>
          <p:spPr>
            <a:xfrm>
              <a:off x="6728999" y="3359945"/>
              <a:ext cx="420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43" name="Google Shape;1343;p85"/>
            <p:cNvGrpSpPr/>
            <p:nvPr/>
          </p:nvGrpSpPr>
          <p:grpSpPr>
            <a:xfrm>
              <a:off x="5940588" y="2713951"/>
              <a:ext cx="63300" cy="683537"/>
              <a:chOff x="941713" y="3767150"/>
              <a:chExt cx="63300" cy="1000200"/>
            </a:xfrm>
          </p:grpSpPr>
          <p:cxnSp>
            <p:nvCxnSpPr>
              <p:cNvPr id="1344" name="Google Shape;1344;p85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45" name="Google Shape;1345;p85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46" name="Google Shape;1346;p85"/>
            <p:cNvSpPr txBox="1"/>
            <p:nvPr/>
          </p:nvSpPr>
          <p:spPr>
            <a:xfrm>
              <a:off x="5925510" y="2429400"/>
              <a:ext cx="520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? =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7" name="Google Shape;1347;p85"/>
            <p:cNvSpPr/>
            <p:nvPr/>
          </p:nvSpPr>
          <p:spPr>
            <a:xfrm rot="10800000">
              <a:off x="5921530" y="3529290"/>
              <a:ext cx="907800" cy="261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85"/>
            <p:cNvSpPr txBox="1"/>
            <p:nvPr/>
          </p:nvSpPr>
          <p:spPr>
            <a:xfrm>
              <a:off x="5811801" y="3359945"/>
              <a:ext cx="420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18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9" name="Google Shape;1349;p85"/>
            <p:cNvSpPr/>
            <p:nvPr/>
          </p:nvSpPr>
          <p:spPr>
            <a:xfrm flipH="1">
              <a:off x="5947200" y="2141325"/>
              <a:ext cx="907800" cy="270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85"/>
            <p:cNvSpPr txBox="1"/>
            <p:nvPr/>
          </p:nvSpPr>
          <p:spPr>
            <a:xfrm>
              <a:off x="6817050" y="2456108"/>
              <a:ext cx="139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1" name="Google Shape;1351;p85"/>
            <p:cNvSpPr txBox="1"/>
            <p:nvPr/>
          </p:nvSpPr>
          <p:spPr>
            <a:xfrm>
              <a:off x="6213860" y="1685520"/>
              <a:ext cx="13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}{5}&quot;&gt;&lt;mfrac&gt;&lt;mn&gt;2&lt;/mn&gt;&lt;mn&gt;5&lt;/mn&gt;&lt;/mfrac&gt;&lt;/math&gt;" id="1352" name="Google Shape;1352;p85" title="two fif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86167" y="1593212"/>
              <a:ext cx="163408" cy="5252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}{5}&quot;&gt;&lt;mfrac&gt;&lt;mn&gt;2&lt;/mn&gt;&lt;mn&gt;5&lt;/mn&gt;&lt;/mfrac&gt;&lt;/math&gt;" id="1353" name="Google Shape;1353;p85" title="two fif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28767" y="2275527"/>
              <a:ext cx="163408" cy="5252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85"/>
            <p:cNvSpPr txBox="1"/>
            <p:nvPr/>
          </p:nvSpPr>
          <p:spPr>
            <a:xfrm>
              <a:off x="4572000" y="1352448"/>
              <a:ext cx="1900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’s method: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5" name="Google Shape;1355;p85"/>
            <p:cNvSpPr txBox="1"/>
            <p:nvPr/>
          </p:nvSpPr>
          <p:spPr>
            <a:xfrm>
              <a:off x="7645775" y="2675975"/>
              <a:ext cx="1086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Fraction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6" name="Google Shape;1356;p85"/>
            <p:cNvSpPr txBox="1"/>
            <p:nvPr/>
          </p:nvSpPr>
          <p:spPr>
            <a:xfrm>
              <a:off x="7645775" y="3077570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7" name="Google Shape;1357;p85"/>
            <p:cNvSpPr txBox="1"/>
            <p:nvPr/>
          </p:nvSpPr>
          <p:spPr>
            <a:xfrm>
              <a:off x="6213860" y="3971520"/>
              <a:ext cx="13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}{5}&quot;&gt;&lt;mfrac&gt;&lt;mn&gt;2&lt;/mn&gt;&lt;mn&gt;5&lt;/mn&gt;&lt;/mfrac&gt;&lt;/math&gt;" id="1358" name="Google Shape;1358;p85" title="two fif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86167" y="3879212"/>
              <a:ext cx="163408" cy="52523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59" name="Google Shape;1359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9208" y="18379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one number as a fraction of another</a:t>
            </a:r>
            <a:endParaRPr/>
          </a:p>
        </p:txBody>
      </p:sp>
      <p:sp>
        <p:nvSpPr>
          <p:cNvPr id="1365" name="Google Shape;1365;p86"/>
          <p:cNvSpPr txBox="1"/>
          <p:nvPr/>
        </p:nvSpPr>
        <p:spPr>
          <a:xfrm>
            <a:off x="371040" y="3680558"/>
            <a:ext cx="40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mistake has Lucas made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86"/>
          <p:cNvSpPr txBox="1"/>
          <p:nvPr/>
        </p:nvSpPr>
        <p:spPr>
          <a:xfrm>
            <a:off x="371040" y="3953974"/>
            <a:ext cx="388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has marked 18 as the ‘whole’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7" name="Google Shape;1367;p86"/>
          <p:cNvSpPr txBox="1"/>
          <p:nvPr/>
        </p:nvSpPr>
        <p:spPr>
          <a:xfrm>
            <a:off x="371040" y="4257916"/>
            <a:ext cx="642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question does Lucas’ number line represent?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86"/>
          <p:cNvSpPr txBox="1"/>
          <p:nvPr/>
        </p:nvSpPr>
        <p:spPr>
          <a:xfrm>
            <a:off x="371040" y="4561857"/>
            <a:ext cx="388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What fraction of 18 is 45?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9" name="Google Shape;1369;p86"/>
          <p:cNvSpPr txBox="1"/>
          <p:nvPr/>
        </p:nvSpPr>
        <p:spPr>
          <a:xfrm>
            <a:off x="324000" y="590448"/>
            <a:ext cx="190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Lucas’ method: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70" name="Google Shape;1370;p86"/>
          <p:cNvGrpSpPr/>
          <p:nvPr/>
        </p:nvGrpSpPr>
        <p:grpSpPr>
          <a:xfrm>
            <a:off x="422024" y="873201"/>
            <a:ext cx="4531251" cy="2765349"/>
            <a:chOff x="422024" y="1635201"/>
            <a:chExt cx="4531251" cy="2765349"/>
          </a:xfrm>
        </p:grpSpPr>
        <p:grpSp>
          <p:nvGrpSpPr>
            <p:cNvPr id="1371" name="Google Shape;1371;p86"/>
            <p:cNvGrpSpPr/>
            <p:nvPr/>
          </p:nvGrpSpPr>
          <p:grpSpPr>
            <a:xfrm>
              <a:off x="422024" y="2574247"/>
              <a:ext cx="2698796" cy="927716"/>
              <a:chOff x="441900" y="3572013"/>
              <a:chExt cx="3074500" cy="1357500"/>
            </a:xfrm>
          </p:grpSpPr>
          <p:cxnSp>
            <p:nvCxnSpPr>
              <p:cNvPr id="1372" name="Google Shape;1372;p86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3" name="Google Shape;1373;p86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374" name="Google Shape;1374;p86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375" name="Google Shape;1375;p86"/>
            <p:cNvGrpSpPr/>
            <p:nvPr/>
          </p:nvGrpSpPr>
          <p:grpSpPr>
            <a:xfrm>
              <a:off x="1825776" y="2707595"/>
              <a:ext cx="63300" cy="683537"/>
              <a:chOff x="941713" y="3767150"/>
              <a:chExt cx="63300" cy="1000200"/>
            </a:xfrm>
          </p:grpSpPr>
          <p:cxnSp>
            <p:nvCxnSpPr>
              <p:cNvPr id="1376" name="Google Shape;1376;p86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77" name="Google Shape;1377;p86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78" name="Google Shape;1378;p86"/>
            <p:cNvSpPr txBox="1"/>
            <p:nvPr/>
          </p:nvSpPr>
          <p:spPr>
            <a:xfrm>
              <a:off x="1699799" y="3359945"/>
              <a:ext cx="358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79" name="Google Shape;1379;p86"/>
            <p:cNvGrpSpPr/>
            <p:nvPr/>
          </p:nvGrpSpPr>
          <p:grpSpPr>
            <a:xfrm>
              <a:off x="911374" y="2707595"/>
              <a:ext cx="63300" cy="683537"/>
              <a:chOff x="941713" y="3767150"/>
              <a:chExt cx="63300" cy="1000200"/>
            </a:xfrm>
          </p:grpSpPr>
          <p:cxnSp>
            <p:nvCxnSpPr>
              <p:cNvPr id="1380" name="Google Shape;1380;p86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81" name="Google Shape;1381;p86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82" name="Google Shape;1382;p86"/>
            <p:cNvSpPr txBox="1"/>
            <p:nvPr/>
          </p:nvSpPr>
          <p:spPr>
            <a:xfrm>
              <a:off x="3149975" y="2691225"/>
              <a:ext cx="1803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Fraction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3" name="Google Shape;1383;p86"/>
            <p:cNvSpPr txBox="1"/>
            <p:nvPr/>
          </p:nvSpPr>
          <p:spPr>
            <a:xfrm>
              <a:off x="3149975" y="3092810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4" name="Google Shape;1384;p86"/>
            <p:cNvSpPr txBox="1"/>
            <p:nvPr/>
          </p:nvSpPr>
          <p:spPr>
            <a:xfrm>
              <a:off x="1810710" y="2398920"/>
              <a:ext cx="657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? =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5" name="Google Shape;1385;p86"/>
            <p:cNvSpPr/>
            <p:nvPr/>
          </p:nvSpPr>
          <p:spPr>
            <a:xfrm flipH="1" rot="10800000">
              <a:off x="1011572" y="3559770"/>
              <a:ext cx="847800" cy="261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86"/>
            <p:cNvSpPr txBox="1"/>
            <p:nvPr/>
          </p:nvSpPr>
          <p:spPr>
            <a:xfrm>
              <a:off x="820701" y="3359945"/>
              <a:ext cx="420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18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7" name="Google Shape;1387;p86"/>
            <p:cNvSpPr/>
            <p:nvPr/>
          </p:nvSpPr>
          <p:spPr>
            <a:xfrm>
              <a:off x="987600" y="2187045"/>
              <a:ext cx="847800" cy="270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86"/>
            <p:cNvSpPr txBox="1"/>
            <p:nvPr/>
          </p:nvSpPr>
          <p:spPr>
            <a:xfrm>
              <a:off x="873425" y="2456108"/>
              <a:ext cx="139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9" name="Google Shape;1389;p86"/>
            <p:cNvSpPr txBox="1"/>
            <p:nvPr/>
          </p:nvSpPr>
          <p:spPr>
            <a:xfrm>
              <a:off x="1123700" y="1723620"/>
              <a:ext cx="13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5}{2}&quot;&gt;&lt;mfrac&gt;&lt;mn&gt;5&lt;/mn&gt;&lt;mn&gt;2&lt;/mn&gt;&lt;/mfrac&gt;&lt;/math&gt;" id="1390" name="Google Shape;1390;p86" title="five halve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31738" y="1635201"/>
              <a:ext cx="159517" cy="5174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2}&quot;&gt;&lt;mfrac&gt;&lt;mn&gt;5&lt;/mn&gt;&lt;mn&gt;2&lt;/mn&gt;&lt;/mfrac&gt;&lt;/math&gt;" id="1391" name="Google Shape;1391;p86" title="five halve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87538" y="2241396"/>
              <a:ext cx="159517" cy="5174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2" name="Google Shape;1392;p86"/>
            <p:cNvSpPr txBox="1"/>
            <p:nvPr/>
          </p:nvSpPr>
          <p:spPr>
            <a:xfrm>
              <a:off x="1123700" y="3971520"/>
              <a:ext cx="13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5}{2}&quot;&gt;&lt;mfrac&gt;&lt;mn&gt;5&lt;/mn&gt;&lt;mn&gt;2&lt;/mn&gt;&lt;/mfrac&gt;&lt;/math&gt;" id="1393" name="Google Shape;1393;p86" title="five halve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31738" y="3883101"/>
              <a:ext cx="159517" cy="5174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4" name="Google Shape;1394;p86"/>
          <p:cNvGrpSpPr/>
          <p:nvPr/>
        </p:nvGrpSpPr>
        <p:grpSpPr>
          <a:xfrm>
            <a:off x="4572000" y="590448"/>
            <a:ext cx="4210175" cy="3051995"/>
            <a:chOff x="4572000" y="1352448"/>
            <a:chExt cx="4210175" cy="3051995"/>
          </a:xfrm>
        </p:grpSpPr>
        <p:grpSp>
          <p:nvGrpSpPr>
            <p:cNvPr id="1395" name="Google Shape;1395;p86"/>
            <p:cNvGrpSpPr/>
            <p:nvPr/>
          </p:nvGrpSpPr>
          <p:grpSpPr>
            <a:xfrm>
              <a:off x="5450206" y="2580602"/>
              <a:ext cx="2150613" cy="927715"/>
              <a:chOff x="441900" y="3572013"/>
              <a:chExt cx="3074500" cy="1357500"/>
            </a:xfrm>
          </p:grpSpPr>
          <p:cxnSp>
            <p:nvCxnSpPr>
              <p:cNvPr id="1396" name="Google Shape;1396;p86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7" name="Google Shape;1397;p86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398" name="Google Shape;1398;p86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399" name="Google Shape;1399;p86"/>
            <p:cNvGrpSpPr/>
            <p:nvPr/>
          </p:nvGrpSpPr>
          <p:grpSpPr>
            <a:xfrm>
              <a:off x="6854990" y="2713951"/>
              <a:ext cx="63300" cy="683537"/>
              <a:chOff x="941713" y="3767150"/>
              <a:chExt cx="63300" cy="1000200"/>
            </a:xfrm>
          </p:grpSpPr>
          <p:cxnSp>
            <p:nvCxnSpPr>
              <p:cNvPr id="1400" name="Google Shape;1400;p86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01" name="Google Shape;1401;p86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02" name="Google Shape;1402;p86"/>
            <p:cNvSpPr txBox="1"/>
            <p:nvPr/>
          </p:nvSpPr>
          <p:spPr>
            <a:xfrm>
              <a:off x="6728999" y="3359945"/>
              <a:ext cx="420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03" name="Google Shape;1403;p86"/>
            <p:cNvGrpSpPr/>
            <p:nvPr/>
          </p:nvGrpSpPr>
          <p:grpSpPr>
            <a:xfrm>
              <a:off x="5940588" y="2713951"/>
              <a:ext cx="63300" cy="683537"/>
              <a:chOff x="941713" y="3767150"/>
              <a:chExt cx="63300" cy="1000200"/>
            </a:xfrm>
          </p:grpSpPr>
          <p:cxnSp>
            <p:nvCxnSpPr>
              <p:cNvPr id="1404" name="Google Shape;1404;p86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05" name="Google Shape;1405;p86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06" name="Google Shape;1406;p86"/>
            <p:cNvSpPr txBox="1"/>
            <p:nvPr/>
          </p:nvSpPr>
          <p:spPr>
            <a:xfrm>
              <a:off x="5925510" y="2429400"/>
              <a:ext cx="520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? =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7" name="Google Shape;1407;p86"/>
            <p:cNvSpPr/>
            <p:nvPr/>
          </p:nvSpPr>
          <p:spPr>
            <a:xfrm rot="10800000">
              <a:off x="5921530" y="3529290"/>
              <a:ext cx="907800" cy="261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86"/>
            <p:cNvSpPr txBox="1"/>
            <p:nvPr/>
          </p:nvSpPr>
          <p:spPr>
            <a:xfrm>
              <a:off x="5811801" y="3359945"/>
              <a:ext cx="420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18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9" name="Google Shape;1409;p86"/>
            <p:cNvSpPr/>
            <p:nvPr/>
          </p:nvSpPr>
          <p:spPr>
            <a:xfrm flipH="1">
              <a:off x="5947200" y="2141325"/>
              <a:ext cx="907800" cy="270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86"/>
            <p:cNvSpPr txBox="1"/>
            <p:nvPr/>
          </p:nvSpPr>
          <p:spPr>
            <a:xfrm>
              <a:off x="6817050" y="2456108"/>
              <a:ext cx="139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1" name="Google Shape;1411;p86"/>
            <p:cNvSpPr txBox="1"/>
            <p:nvPr/>
          </p:nvSpPr>
          <p:spPr>
            <a:xfrm>
              <a:off x="6213860" y="1685520"/>
              <a:ext cx="13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}{5}&quot;&gt;&lt;mfrac&gt;&lt;mn&gt;2&lt;/mn&gt;&lt;mn&gt;5&lt;/mn&gt;&lt;/mfrac&gt;&lt;/math&gt;" id="1412" name="Google Shape;1412;p86" title="two fif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86167" y="1593212"/>
              <a:ext cx="163408" cy="5252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}{5}&quot;&gt;&lt;mfrac&gt;&lt;mn&gt;2&lt;/mn&gt;&lt;mn&gt;5&lt;/mn&gt;&lt;/mfrac&gt;&lt;/math&gt;" id="1413" name="Google Shape;1413;p86" title="two fif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28767" y="2275527"/>
              <a:ext cx="163408" cy="5252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4" name="Google Shape;1414;p86"/>
            <p:cNvSpPr txBox="1"/>
            <p:nvPr/>
          </p:nvSpPr>
          <p:spPr>
            <a:xfrm>
              <a:off x="4572000" y="1352448"/>
              <a:ext cx="1900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Sam’s method: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5" name="Google Shape;1415;p86"/>
            <p:cNvSpPr txBox="1"/>
            <p:nvPr/>
          </p:nvSpPr>
          <p:spPr>
            <a:xfrm>
              <a:off x="7645775" y="2675975"/>
              <a:ext cx="1086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Fraction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6" name="Google Shape;1416;p86"/>
            <p:cNvSpPr txBox="1"/>
            <p:nvPr/>
          </p:nvSpPr>
          <p:spPr>
            <a:xfrm>
              <a:off x="7645775" y="3077570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7" name="Google Shape;1417;p86"/>
            <p:cNvSpPr txBox="1"/>
            <p:nvPr/>
          </p:nvSpPr>
          <p:spPr>
            <a:xfrm>
              <a:off x="6213860" y="3971520"/>
              <a:ext cx="13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}{5}&quot;&gt;&lt;mfrac&gt;&lt;mn&gt;2&lt;/mn&gt;&lt;mn&gt;5&lt;/mn&gt;&lt;/mfrac&gt;&lt;/math&gt;" id="1418" name="Google Shape;1418;p86" title="two fif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86167" y="3879212"/>
              <a:ext cx="163408" cy="52523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19" name="Google Shape;1419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7983" y="13342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one number as a fraction of another</a:t>
            </a:r>
            <a:endParaRPr/>
          </a:p>
        </p:txBody>
      </p:sp>
      <p:sp>
        <p:nvSpPr>
          <p:cNvPr id="1425" name="Google Shape;1425;p87"/>
          <p:cNvSpPr txBox="1"/>
          <p:nvPr>
            <p:ph idx="1" type="body"/>
          </p:nvPr>
        </p:nvSpPr>
        <p:spPr>
          <a:xfrm>
            <a:off x="324000" y="911700"/>
            <a:ext cx="17076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18 is     of 45</a:t>
            </a:r>
            <a:endParaRPr/>
          </a:p>
        </p:txBody>
      </p:sp>
      <p:pic>
        <p:nvPicPr>
          <p:cNvPr id="1426" name="Google Shape;142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21" y="3579163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7" name="Google Shape;1427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693157" y="3458700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87"/>
          <p:cNvSpPr txBox="1"/>
          <p:nvPr/>
        </p:nvSpPr>
        <p:spPr>
          <a:xfrm>
            <a:off x="382525" y="44752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87"/>
          <p:cNvSpPr txBox="1"/>
          <p:nvPr/>
        </p:nvSpPr>
        <p:spPr>
          <a:xfrm>
            <a:off x="7527275" y="44752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30" name="Google Shape;1430;p87"/>
          <p:cNvGrpSpPr/>
          <p:nvPr/>
        </p:nvGrpSpPr>
        <p:grpSpPr>
          <a:xfrm>
            <a:off x="5930893" y="2477575"/>
            <a:ext cx="1707566" cy="1316250"/>
            <a:chOff x="3797550" y="3468175"/>
            <a:chExt cx="4047324" cy="1316250"/>
          </a:xfrm>
        </p:grpSpPr>
        <p:pic>
          <p:nvPicPr>
            <p:cNvPr id="1431" name="Google Shape;1431;p87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3797550" y="3468175"/>
              <a:ext cx="4047324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2" name="Google Shape;1432;p87"/>
            <p:cNvSpPr txBox="1"/>
            <p:nvPr/>
          </p:nvSpPr>
          <p:spPr>
            <a:xfrm>
              <a:off x="3940575" y="3570475"/>
              <a:ext cx="3681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Oh yes,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you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are right Lucas.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33" name="Google Shape;1433;p87"/>
          <p:cNvGrpSpPr/>
          <p:nvPr/>
        </p:nvGrpSpPr>
        <p:grpSpPr>
          <a:xfrm>
            <a:off x="1344019" y="1952126"/>
            <a:ext cx="1967935" cy="2083755"/>
            <a:chOff x="1073349" y="3819503"/>
            <a:chExt cx="2931528" cy="1316250"/>
          </a:xfrm>
        </p:grpSpPr>
        <p:pic>
          <p:nvPicPr>
            <p:cNvPr id="1434" name="Google Shape;1434;p87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073349" y="3819503"/>
              <a:ext cx="283760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5" name="Google Shape;1435;p87"/>
            <p:cNvSpPr txBox="1"/>
            <p:nvPr/>
          </p:nvSpPr>
          <p:spPr>
            <a:xfrm>
              <a:off x="1197477" y="3936450"/>
              <a:ext cx="28074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I’ve noticed that the fractions are reciprocals of each other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5}{2}&quot;&gt;&lt;mfrac&gt;&lt;mn&gt;5&lt;/mn&gt;&lt;mn&gt;2&lt;/mn&gt;&lt;/mfrac&gt;&lt;/math&gt;" id="1436" name="Google Shape;1436;p87" title="fiv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4888" y="821276"/>
            <a:ext cx="159517" cy="5174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437" name="Google Shape;1437;p87" title="two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7742" y="805837"/>
            <a:ext cx="163408" cy="525230"/>
          </a:xfrm>
          <a:prstGeom prst="rect">
            <a:avLst/>
          </a:prstGeom>
          <a:noFill/>
          <a:ln>
            <a:noFill/>
          </a:ln>
        </p:spPr>
      </p:pic>
      <p:sp>
        <p:nvSpPr>
          <p:cNvPr id="1438" name="Google Shape;1438;p87"/>
          <p:cNvSpPr txBox="1"/>
          <p:nvPr>
            <p:ph idx="1" type="body"/>
          </p:nvPr>
        </p:nvSpPr>
        <p:spPr>
          <a:xfrm>
            <a:off x="4920600" y="923250"/>
            <a:ext cx="17076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45</a:t>
            </a:r>
            <a:r>
              <a:rPr lang="en-GB"/>
              <a:t> is     of 18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one number as a fraction of another</a:t>
            </a:r>
            <a:endParaRPr/>
          </a:p>
        </p:txBody>
      </p:sp>
      <p:sp>
        <p:nvSpPr>
          <p:cNvPr id="1444" name="Google Shape;1444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Complete the following: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24 is    of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64</a:t>
            </a:r>
            <a:r>
              <a:rPr lang="en-GB"/>
              <a:t>, so 64 is     of 24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6804</a:t>
            </a:r>
            <a:r>
              <a:rPr lang="en-GB"/>
              <a:t> is    of 3024, so 3024 is     of 6804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80.5 is       of 46, so 46 is     of 80.5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445" name="Google Shape;1445;p88" title="thre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575" y="1218325"/>
            <a:ext cx="168145" cy="556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}&quot;&gt;&lt;mfrac&gt;&lt;mn&gt;8&lt;/mn&gt;&lt;mn&gt;3&lt;/mn&gt;&lt;/mfrac&gt;&lt;/math&gt;" id="1446" name="Google Shape;1446;p88" title="eight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1455" y="1218334"/>
            <a:ext cx="168145" cy="556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9}\ \frac{9}{4}&quot;&gt;&lt;mfrac&gt;&lt;mn&gt;4&lt;/mn&gt;&lt;mn&gt;9&lt;/mn&gt;&lt;/mfrac&gt;&lt;mtext&gt;&lt;/mtext&gt;&lt;mfrac&gt;&lt;mn&gt;9&lt;/mn&gt;&lt;mn&gt;4&lt;/mn&gt;&lt;/mfrac&gt;&lt;/math&gt;" id="1447" name="Google Shape;1447;p88" title="four ninths nine fourths"/>
          <p:cNvPicPr preferRelativeResize="0"/>
          <p:nvPr/>
        </p:nvPicPr>
        <p:blipFill rotWithShape="1">
          <a:blip r:embed="rId5">
            <a:alphaModFix/>
          </a:blip>
          <a:srcRect b="0" l="48689" r="0" t="0"/>
          <a:stretch/>
        </p:blipFill>
        <p:spPr>
          <a:xfrm>
            <a:off x="1304329" y="2220125"/>
            <a:ext cx="237250" cy="55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9}\ \frac{9}{4}&quot;&gt;&lt;mfrac&gt;&lt;mn&gt;4&lt;/mn&gt;&lt;mn&gt;9&lt;/mn&gt;&lt;/mfrac&gt;&lt;mtext&gt;&lt;/mtext&gt;&lt;mfrac&gt;&lt;mn&gt;9&lt;/mn&gt;&lt;mn&gt;4&lt;/mn&gt;&lt;/mfrac&gt;&lt;/math&gt;" id="1448" name="Google Shape;1448;p88" title="four ninths nine fourths"/>
          <p:cNvPicPr preferRelativeResize="0"/>
          <p:nvPr/>
        </p:nvPicPr>
        <p:blipFill rotWithShape="1">
          <a:blip r:embed="rId5">
            <a:alphaModFix/>
          </a:blip>
          <a:srcRect b="0" l="0" r="48689" t="0"/>
          <a:stretch/>
        </p:blipFill>
        <p:spPr>
          <a:xfrm>
            <a:off x="4201375" y="2250625"/>
            <a:ext cx="237250" cy="55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\ 1\ \frac{3}{4}&quot;&gt;&lt;mfrac&gt;&lt;mn&gt;4&lt;/mn&gt;&lt;mn&gt;7&lt;/mn&gt;&lt;/mfrac&gt;&lt;mtext&gt;&lt;/mtext&gt;&lt;mn&gt;1&lt;/mn&gt;&lt;mtext&gt;&lt;/mtext&gt;&lt;mfrac&gt;&lt;mn&gt;3&lt;/mn&gt;&lt;mn&gt;4&lt;/mn&gt;&lt;/mfrac&gt;&lt;/math&gt;" id="1449" name="Google Shape;1449;p88" title="four sevenths 1 three fourths"/>
          <p:cNvPicPr preferRelativeResize="0"/>
          <p:nvPr/>
        </p:nvPicPr>
        <p:blipFill rotWithShape="1">
          <a:blip r:embed="rId6">
            <a:alphaModFix/>
          </a:blip>
          <a:srcRect b="0" l="41455" r="0" t="0"/>
          <a:stretch/>
        </p:blipFill>
        <p:spPr>
          <a:xfrm>
            <a:off x="1227240" y="3240000"/>
            <a:ext cx="391425" cy="55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\ 1\ \frac{3}{4}&quot;&gt;&lt;mfrac&gt;&lt;mn&gt;4&lt;/mn&gt;&lt;mn&gt;7&lt;/mn&gt;&lt;/mfrac&gt;&lt;mtext&gt;&lt;/mtext&gt;&lt;mn&gt;1&lt;/mn&gt;&lt;mtext&gt;&lt;/mtext&gt;&lt;mfrac&gt;&lt;mn&gt;3&lt;/mn&gt;&lt;mn&gt;4&lt;/mn&gt;&lt;/mfrac&gt;&lt;/math&gt;" id="1450" name="Google Shape;1450;p88" title="four sevenths 1 three fourths"/>
          <p:cNvPicPr preferRelativeResize="0"/>
          <p:nvPr/>
        </p:nvPicPr>
        <p:blipFill rotWithShape="1">
          <a:blip r:embed="rId6">
            <a:alphaModFix/>
          </a:blip>
          <a:srcRect b="0" l="0" r="64516" t="0"/>
          <a:stretch/>
        </p:blipFill>
        <p:spPr>
          <a:xfrm>
            <a:off x="3662475" y="3240000"/>
            <a:ext cx="237250" cy="55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88"/>
          <p:cNvSpPr/>
          <p:nvPr/>
        </p:nvSpPr>
        <p:spPr>
          <a:xfrm>
            <a:off x="1565575" y="1132525"/>
            <a:ext cx="346500" cy="7281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88"/>
          <p:cNvSpPr/>
          <p:nvPr/>
        </p:nvSpPr>
        <p:spPr>
          <a:xfrm>
            <a:off x="1304336" y="2186263"/>
            <a:ext cx="274500" cy="7281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88"/>
          <p:cNvSpPr/>
          <p:nvPr/>
        </p:nvSpPr>
        <p:spPr>
          <a:xfrm>
            <a:off x="3620967" y="3154200"/>
            <a:ext cx="274500" cy="7281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5}{12}&quot;&gt;&lt;mfrac&gt;&lt;mn&gt;5&lt;/mn&gt;&lt;mn&gt;12&lt;/mn&gt;&lt;/mfrac&gt;&lt;/math&gt;" id="1458" name="Google Shape;1458;p89" title="5 over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2430" y="1965818"/>
            <a:ext cx="274825" cy="500708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one number as a fraction of another</a:t>
            </a:r>
            <a:endParaRPr/>
          </a:p>
        </p:txBody>
      </p:sp>
      <p:sp>
        <p:nvSpPr>
          <p:cNvPr id="1460" name="Google Shape;1460;p89"/>
          <p:cNvSpPr txBox="1"/>
          <p:nvPr>
            <p:ph idx="1" type="subTitle"/>
          </p:nvPr>
        </p:nvSpPr>
        <p:spPr>
          <a:xfrm>
            <a:off x="337825" y="810000"/>
            <a:ext cx="31104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</a:t>
            </a:r>
            <a:r>
              <a:rPr lang="en-GB"/>
              <a:t>fraction</a:t>
            </a:r>
            <a:r>
              <a:rPr lang="en-GB"/>
              <a:t> of 144 is 120?</a:t>
            </a:r>
            <a:endParaRPr/>
          </a:p>
        </p:txBody>
      </p:sp>
      <p:sp>
        <p:nvSpPr>
          <p:cNvPr id="1461" name="Google Shape;1461;p89"/>
          <p:cNvSpPr txBox="1"/>
          <p:nvPr>
            <p:ph idx="2" type="subTitle"/>
          </p:nvPr>
        </p:nvSpPr>
        <p:spPr>
          <a:xfrm>
            <a:off x="4824000" y="810000"/>
            <a:ext cx="3982200" cy="2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fraction of 84 is 35?</a:t>
            </a:r>
            <a:endParaRPr/>
          </a:p>
        </p:txBody>
      </p:sp>
      <p:sp>
        <p:nvSpPr>
          <p:cNvPr id="1462" name="Google Shape;1462;p89"/>
          <p:cNvSpPr txBox="1"/>
          <p:nvPr/>
        </p:nvSpPr>
        <p:spPr>
          <a:xfrm>
            <a:off x="1987800" y="3466625"/>
            <a:ext cx="5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144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3" name="Google Shape;1463;p89"/>
          <p:cNvGrpSpPr/>
          <p:nvPr/>
        </p:nvGrpSpPr>
        <p:grpSpPr>
          <a:xfrm>
            <a:off x="538247" y="2227050"/>
            <a:ext cx="3509628" cy="1357500"/>
            <a:chOff x="538247" y="2227050"/>
            <a:chExt cx="3509628" cy="1357500"/>
          </a:xfrm>
        </p:grpSpPr>
        <p:grpSp>
          <p:nvGrpSpPr>
            <p:cNvPr id="1464" name="Google Shape;1464;p89"/>
            <p:cNvGrpSpPr/>
            <p:nvPr/>
          </p:nvGrpSpPr>
          <p:grpSpPr>
            <a:xfrm>
              <a:off x="538247" y="2227050"/>
              <a:ext cx="2414405" cy="1357500"/>
              <a:chOff x="441900" y="3572013"/>
              <a:chExt cx="3074500" cy="1357500"/>
            </a:xfrm>
          </p:grpSpPr>
          <p:cxnSp>
            <p:nvCxnSpPr>
              <p:cNvPr id="1465" name="Google Shape;1465;p89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6" name="Google Shape;1466;p89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467" name="Google Shape;1467;p89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468" name="Google Shape;1468;p89"/>
            <p:cNvGrpSpPr/>
            <p:nvPr/>
          </p:nvGrpSpPr>
          <p:grpSpPr>
            <a:xfrm>
              <a:off x="2206788" y="2422175"/>
              <a:ext cx="63300" cy="1000200"/>
              <a:chOff x="941713" y="3767150"/>
              <a:chExt cx="63300" cy="1000200"/>
            </a:xfrm>
          </p:grpSpPr>
          <p:cxnSp>
            <p:nvCxnSpPr>
              <p:cNvPr id="1469" name="Google Shape;1469;p89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70" name="Google Shape;1470;p89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71" name="Google Shape;1471;p89"/>
            <p:cNvGrpSpPr/>
            <p:nvPr/>
          </p:nvGrpSpPr>
          <p:grpSpPr>
            <a:xfrm>
              <a:off x="1292388" y="2422175"/>
              <a:ext cx="63300" cy="1000200"/>
              <a:chOff x="941713" y="3767150"/>
              <a:chExt cx="63300" cy="1000200"/>
            </a:xfrm>
          </p:grpSpPr>
          <p:cxnSp>
            <p:nvCxnSpPr>
              <p:cNvPr id="1472" name="Google Shape;1472;p89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73" name="Google Shape;1473;p89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74" name="Google Shape;1474;p89"/>
            <p:cNvSpPr txBox="1"/>
            <p:nvPr/>
          </p:nvSpPr>
          <p:spPr>
            <a:xfrm>
              <a:off x="2997575" y="2462625"/>
              <a:ext cx="1050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Fraction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5" name="Google Shape;1475;p89"/>
            <p:cNvSpPr txBox="1"/>
            <p:nvPr/>
          </p:nvSpPr>
          <p:spPr>
            <a:xfrm>
              <a:off x="3023887" y="3069950"/>
              <a:ext cx="1023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76" name="Google Shape;1476;p89"/>
          <p:cNvSpPr txBox="1"/>
          <p:nvPr/>
        </p:nvSpPr>
        <p:spPr>
          <a:xfrm>
            <a:off x="1254450" y="2048400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89"/>
          <p:cNvSpPr txBox="1"/>
          <p:nvPr/>
        </p:nvSpPr>
        <p:spPr>
          <a:xfrm>
            <a:off x="1083971" y="3466625"/>
            <a:ext cx="5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89"/>
          <p:cNvSpPr txBox="1"/>
          <p:nvPr/>
        </p:nvSpPr>
        <p:spPr>
          <a:xfrm>
            <a:off x="2168850" y="2086850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79" name="Google Shape;1479;p89"/>
          <p:cNvGrpSpPr/>
          <p:nvPr/>
        </p:nvGrpSpPr>
        <p:grpSpPr>
          <a:xfrm>
            <a:off x="5006572" y="2303250"/>
            <a:ext cx="2442075" cy="1357500"/>
            <a:chOff x="441900" y="3572013"/>
            <a:chExt cx="3074500" cy="1357500"/>
          </a:xfrm>
        </p:grpSpPr>
        <p:cxnSp>
          <p:nvCxnSpPr>
            <p:cNvPr id="1480" name="Google Shape;1480;p89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89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82" name="Google Shape;1482;p89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1483" name="Google Shape;1483;p89"/>
          <p:cNvCxnSpPr/>
          <p:nvPr/>
        </p:nvCxnSpPr>
        <p:spPr>
          <a:xfrm>
            <a:off x="6736175" y="2498375"/>
            <a:ext cx="0" cy="1000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4" name="Google Shape;1484;p89"/>
          <p:cNvSpPr txBox="1"/>
          <p:nvPr/>
        </p:nvSpPr>
        <p:spPr>
          <a:xfrm>
            <a:off x="6586282" y="3542825"/>
            <a:ext cx="34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85" name="Google Shape;1485;p89"/>
          <p:cNvGrpSpPr/>
          <p:nvPr/>
        </p:nvGrpSpPr>
        <p:grpSpPr>
          <a:xfrm>
            <a:off x="5788188" y="2498375"/>
            <a:ext cx="63300" cy="1000200"/>
            <a:chOff x="941713" y="3767150"/>
            <a:chExt cx="63300" cy="1000200"/>
          </a:xfrm>
        </p:grpSpPr>
        <p:cxnSp>
          <p:nvCxnSpPr>
            <p:cNvPr id="1486" name="Google Shape;1486;p89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87" name="Google Shape;1487;p89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8" name="Google Shape;1488;p89"/>
          <p:cNvSpPr txBox="1"/>
          <p:nvPr/>
        </p:nvSpPr>
        <p:spPr>
          <a:xfrm>
            <a:off x="7493375" y="2538825"/>
            <a:ext cx="105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89"/>
          <p:cNvSpPr txBox="1"/>
          <p:nvPr/>
        </p:nvSpPr>
        <p:spPr>
          <a:xfrm>
            <a:off x="7519687" y="3146150"/>
            <a:ext cx="102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Amount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89"/>
          <p:cNvSpPr txBox="1"/>
          <p:nvPr/>
        </p:nvSpPr>
        <p:spPr>
          <a:xfrm>
            <a:off x="5750250" y="2124600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89"/>
          <p:cNvSpPr txBox="1"/>
          <p:nvPr/>
        </p:nvSpPr>
        <p:spPr>
          <a:xfrm>
            <a:off x="5675877" y="3542825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89"/>
          <p:cNvSpPr txBox="1"/>
          <p:nvPr/>
        </p:nvSpPr>
        <p:spPr>
          <a:xfrm>
            <a:off x="6664650" y="2163050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93" name="Google Shape;1493;p89"/>
          <p:cNvGrpSpPr/>
          <p:nvPr/>
        </p:nvGrpSpPr>
        <p:grpSpPr>
          <a:xfrm>
            <a:off x="5794800" y="1221543"/>
            <a:ext cx="907800" cy="809682"/>
            <a:chOff x="5794800" y="1221543"/>
            <a:chExt cx="907800" cy="809682"/>
          </a:xfrm>
        </p:grpSpPr>
        <p:sp>
          <p:nvSpPr>
            <p:cNvPr id="1494" name="Google Shape;1494;p89"/>
            <p:cNvSpPr/>
            <p:nvPr/>
          </p:nvSpPr>
          <p:spPr>
            <a:xfrm flipH="1">
              <a:off x="5794800" y="1760325"/>
              <a:ext cx="907800" cy="270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89"/>
            <p:cNvSpPr txBox="1"/>
            <p:nvPr/>
          </p:nvSpPr>
          <p:spPr>
            <a:xfrm>
              <a:off x="6000500" y="1335000"/>
              <a:ext cx="13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5}{12}&quot;&gt;&lt;mfrac&gt;&lt;mn&gt;5&lt;/mn&gt;&lt;mn&gt;12&lt;/mn&gt;&lt;/mfrac&gt;&lt;/math&gt;" id="1496" name="Google Shape;1496;p89" title="5 over 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17768" y="1221543"/>
              <a:ext cx="274825" cy="5007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7" name="Google Shape;1497;p89"/>
          <p:cNvGrpSpPr/>
          <p:nvPr/>
        </p:nvGrpSpPr>
        <p:grpSpPr>
          <a:xfrm>
            <a:off x="5769130" y="3818850"/>
            <a:ext cx="907800" cy="831451"/>
            <a:chOff x="5769130" y="3818850"/>
            <a:chExt cx="907800" cy="831451"/>
          </a:xfrm>
        </p:grpSpPr>
        <p:sp>
          <p:nvSpPr>
            <p:cNvPr id="1498" name="Google Shape;1498;p89"/>
            <p:cNvSpPr/>
            <p:nvPr/>
          </p:nvSpPr>
          <p:spPr>
            <a:xfrm rot="10800000">
              <a:off x="5769130" y="3818850"/>
              <a:ext cx="907800" cy="261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89"/>
            <p:cNvSpPr txBox="1"/>
            <p:nvPr/>
          </p:nvSpPr>
          <p:spPr>
            <a:xfrm>
              <a:off x="6000500" y="4230600"/>
              <a:ext cx="13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5}{12}&quot;&gt;&lt;mfrac&gt;&lt;mn&gt;5&lt;/mn&gt;&lt;mn&gt;12&lt;/mn&gt;&lt;/mfrac&gt;&lt;/math&gt;" id="1500" name="Google Shape;1500;p89" title="5 over 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84818" y="4149593"/>
              <a:ext cx="274825" cy="50070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1" name="Google Shape;1501;p89"/>
          <p:cNvSpPr/>
          <p:nvPr/>
        </p:nvSpPr>
        <p:spPr>
          <a:xfrm>
            <a:off x="6704513" y="2705700"/>
            <a:ext cx="63300" cy="552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E6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89"/>
          <p:cNvSpPr/>
          <p:nvPr/>
        </p:nvSpPr>
        <p:spPr>
          <a:xfrm rot="10800000">
            <a:off x="1273330" y="3742650"/>
            <a:ext cx="907800" cy="261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3" name="Google Shape;1503;p89"/>
          <p:cNvGrpSpPr/>
          <p:nvPr/>
        </p:nvGrpSpPr>
        <p:grpSpPr>
          <a:xfrm>
            <a:off x="1504700" y="4119050"/>
            <a:ext cx="349022" cy="455888"/>
            <a:chOff x="1504700" y="4119050"/>
            <a:chExt cx="349022" cy="455888"/>
          </a:xfrm>
        </p:grpSpPr>
        <p:sp>
          <p:nvSpPr>
            <p:cNvPr id="1504" name="Google Shape;1504;p89"/>
            <p:cNvSpPr txBox="1"/>
            <p:nvPr/>
          </p:nvSpPr>
          <p:spPr>
            <a:xfrm>
              <a:off x="1504700" y="4177642"/>
              <a:ext cx="13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5}{6}&quot;&gt;&lt;mfrac&gt;&lt;mn&gt;5&lt;/mn&gt;&lt;mn&gt;6&lt;/mn&gt;&lt;/mfrac&gt;&lt;/math&gt;" id="1505" name="Google Shape;1505;p89" title="five six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14522" y="4119050"/>
              <a:ext cx="139200" cy="455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6" name="Google Shape;1506;p89"/>
          <p:cNvGrpSpPr/>
          <p:nvPr/>
        </p:nvGrpSpPr>
        <p:grpSpPr>
          <a:xfrm>
            <a:off x="1299000" y="1223450"/>
            <a:ext cx="907800" cy="774677"/>
            <a:chOff x="1299000" y="1223450"/>
            <a:chExt cx="907800" cy="774677"/>
          </a:xfrm>
        </p:grpSpPr>
        <p:sp>
          <p:nvSpPr>
            <p:cNvPr id="1507" name="Google Shape;1507;p89"/>
            <p:cNvSpPr/>
            <p:nvPr/>
          </p:nvSpPr>
          <p:spPr>
            <a:xfrm flipH="1">
              <a:off x="1299000" y="1727227"/>
              <a:ext cx="907800" cy="270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08" name="Google Shape;1508;p89"/>
            <p:cNvGrpSpPr/>
            <p:nvPr/>
          </p:nvGrpSpPr>
          <p:grpSpPr>
            <a:xfrm>
              <a:off x="1504700" y="1223450"/>
              <a:ext cx="349022" cy="455888"/>
              <a:chOff x="1504700" y="4119050"/>
              <a:chExt cx="349022" cy="455888"/>
            </a:xfrm>
          </p:grpSpPr>
          <p:sp>
            <p:nvSpPr>
              <p:cNvPr id="1509" name="Google Shape;1509;p89"/>
              <p:cNvSpPr txBox="1"/>
              <p:nvPr/>
            </p:nvSpPr>
            <p:spPr>
              <a:xfrm>
                <a:off x="1504700" y="4177642"/>
                <a:ext cx="139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\frac{5}{6}&quot;&gt;&lt;mfrac&gt;&lt;mn&gt;5&lt;/mn&gt;&lt;mn&gt;6&lt;/mn&gt;&lt;/mfrac&gt;&lt;/math&gt;" id="1510" name="Google Shape;1510;p89" title="five sixths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714522" y="4119050"/>
                <a:ext cx="139200" cy="4558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511" name="Google Shape;1511;p89"/>
          <p:cNvSpPr txBox="1"/>
          <p:nvPr>
            <p:ph idx="4294967295" type="body"/>
          </p:nvPr>
        </p:nvSpPr>
        <p:spPr>
          <a:xfrm>
            <a:off x="2336700" y="4333925"/>
            <a:ext cx="191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  of 144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512" name="Google Shape;1512;p89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4825" y="4210362"/>
            <a:ext cx="173374" cy="56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3" name="Google Shape;1513;p89"/>
          <p:cNvSpPr txBox="1"/>
          <p:nvPr>
            <p:ph idx="4294967295" type="body"/>
          </p:nvPr>
        </p:nvSpPr>
        <p:spPr>
          <a:xfrm>
            <a:off x="6996275" y="3950125"/>
            <a:ext cx="1837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35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   of 84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12}&quot;&gt;&lt;mfrac&gt;&lt;mn&gt;5&lt;/mn&gt;&lt;mn&gt;12&lt;/mn&gt;&lt;/mfrac&gt;&lt;/math&gt;" id="1514" name="Google Shape;1514;p89" title="5 over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7489" y="3881518"/>
            <a:ext cx="274825" cy="500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9" name="Google Shape;1519;p90"/>
          <p:cNvGraphicFramePr/>
          <p:nvPr/>
        </p:nvGraphicFramePr>
        <p:xfrm>
          <a:off x="2523975" y="8492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{9870B833-4671-4C10-ABE5-1F8FA2A771BC}</a:tableStyleId>
              </a:tblPr>
              <a:tblGrid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</a:tblGrid>
              <a:tr h="68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8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8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8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8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20" name="Google Shape;1520;p90"/>
          <p:cNvSpPr txBox="1"/>
          <p:nvPr>
            <p:ph idx="1" type="body"/>
          </p:nvPr>
        </p:nvSpPr>
        <p:spPr>
          <a:xfrm>
            <a:off x="324000" y="564156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fraction of A is B?  Write all answers in their simplest form.</a:t>
            </a:r>
            <a:endParaRPr sz="1800"/>
          </a:p>
        </p:txBody>
      </p:sp>
      <p:sp>
        <p:nvSpPr>
          <p:cNvPr id="1521" name="Google Shape;1521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Writing one number as a fraction of another</a:t>
            </a:r>
            <a:endParaRPr/>
          </a:p>
        </p:txBody>
      </p:sp>
      <p:graphicFrame>
        <p:nvGraphicFramePr>
          <p:cNvPr id="1522" name="Google Shape;1522;p90"/>
          <p:cNvGraphicFramePr/>
          <p:nvPr/>
        </p:nvGraphicFramePr>
        <p:xfrm>
          <a:off x="419100" y="95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{9870B833-4671-4C10-ABE5-1F8FA2A771BC}</a:tableStyleId>
              </a:tblPr>
              <a:tblGrid>
                <a:gridCol w="744875"/>
                <a:gridCol w="744875"/>
              </a:tblGrid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523" name="Google Shape;1523;p90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3857" y="925672"/>
            <a:ext cx="172214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524" name="Google Shape;1524;p90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3692" y="925672"/>
            <a:ext cx="172214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525" name="Google Shape;1525;p90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4551" y="3630157"/>
            <a:ext cx="172214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526" name="Google Shape;1526;p90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2677" y="2270665"/>
            <a:ext cx="172190" cy="56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3}&quot;&gt;&lt;mfrac&gt;&lt;mn&gt;7&lt;/mn&gt;&lt;mn&gt;3&lt;/mn&gt;&lt;/mfrac&gt;&lt;/math&gt;" id="1527" name="Google Shape;1527;p90" title="seven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3857" y="2267652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7}&quot;&gt;&lt;mfrac&gt;&lt;mn&gt;12&lt;/mn&gt;&lt;mn&gt;7&lt;/mn&gt;&lt;/mfrac&gt;&lt;/math&gt;" id="1528" name="Google Shape;1528;p90" title="twelve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9626" y="925672"/>
            <a:ext cx="309692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9}&quot;&gt;&lt;mfrac&gt;&lt;mn&gt;8&lt;/mn&gt;&lt;mn&gt;9&lt;/mn&gt;&lt;/mfrac&gt;&lt;/math&gt;" id="1529" name="Google Shape;1529;p90" title="eight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59922" y="933816"/>
            <a:ext cx="172214" cy="553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}{9}&quot;&gt;&lt;mfrac&gt;&lt;mn&gt;25&lt;/mn&gt;&lt;mn&gt;9&lt;/mn&gt;&lt;/mfrac&gt;&lt;/math&gt;" id="1530" name="Google Shape;1530;p90" title="25 over 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65816" y="2270884"/>
            <a:ext cx="309685" cy="5634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9}&quot;&gt;&lt;mfrac&gt;&lt;mn&gt;8&lt;/mn&gt;&lt;mn&gt;9&lt;/mn&gt;&lt;/mfrac&gt;&lt;/math&gt;" id="1531" name="Google Shape;1531;p90" title="eight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53692" y="2275853"/>
            <a:ext cx="172214" cy="553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9}&quot;&gt;&lt;mfrac&gt;&lt;mn&gt;8&lt;/mn&gt;&lt;mn&gt;9&lt;/mn&gt;&lt;/mfrac&gt;&lt;/math&gt;" id="1532" name="Google Shape;1532;p90" title="eight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02665" y="2960295"/>
            <a:ext cx="172214" cy="553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3}&quot;&gt;&lt;mfrac&gt;&lt;mn&gt;7&lt;/mn&gt;&lt;mn&gt;3&lt;/mn&gt;&lt;/mfrac&gt;&lt;/math&gt;" id="1533" name="Google Shape;1533;p90" title="seven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4551" y="2952095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3}&quot;&gt;&lt;mfrac&gt;&lt;mn&gt;7&lt;/mn&gt;&lt;mn&gt;3&lt;/mn&gt;&lt;/mfrac&gt;&lt;/math&gt;" id="1534" name="Google Shape;1534;p90" title="seven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9922" y="3630100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7}&quot;&gt;&lt;mfrac&gt;&lt;mn&gt;12&lt;/mn&gt;&lt;mn&gt;7&lt;/mn&gt;&lt;/mfrac&gt;&lt;/math&gt;" id="1535" name="Google Shape;1535;p90" title="twelve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9109" y="3630157"/>
            <a:ext cx="309692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7}&quot;&gt;&lt;mfrac&gt;&lt;mn&gt;12&lt;/mn&gt;&lt;mn&gt;7&lt;/mn&gt;&lt;/mfrac&gt;&lt;/math&gt;" id="1536" name="Google Shape;1536;p90" title="twelve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45118" y="3630157"/>
            <a:ext cx="309692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}{9}&quot;&gt;&lt;mfrac&gt;&lt;mn&gt;25&lt;/mn&gt;&lt;mn&gt;9&lt;/mn&gt;&lt;/mfrac&gt;&lt;/math&gt;" id="1537" name="Google Shape;1537;p90" title="25 over 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33929" y="928848"/>
            <a:ext cx="309685" cy="5634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}{9}&quot;&gt;&lt;mfrac&gt;&lt;mn&gt;25&lt;/mn&gt;&lt;mn&gt;9&lt;/mn&gt;&lt;/mfrac&gt;&lt;/math&gt;" id="1538" name="Google Shape;1538;p90" title="25 over 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06064" y="928848"/>
            <a:ext cx="309685" cy="5634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539" name="Google Shape;1539;p90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4563" y="1588820"/>
            <a:ext cx="172190" cy="56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540" name="Google Shape;1540;p90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4811" y="3633113"/>
            <a:ext cx="172190" cy="56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9}{3}&quot;&gt;&lt;mfrac&gt;&lt;mn&gt;19&lt;/mn&gt;&lt;mn&gt;3&lt;/mn&gt;&lt;/mfrac&gt;&lt;/math&gt;" id="1541" name="Google Shape;1541;p90" title="nineteen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45392" y="1583806"/>
            <a:ext cx="309685" cy="573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9}{3}&quot;&gt;&lt;mfrac&gt;&lt;mn&gt;19&lt;/mn&gt;&lt;mn&gt;3&lt;/mn&gt;&lt;/mfrac&gt;&lt;/math&gt;" id="1542" name="Google Shape;1542;p90" title="nineteen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45392" y="3628099"/>
            <a:ext cx="309685" cy="573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9}{3}&quot;&gt;&lt;mfrac&gt;&lt;mn&gt;19&lt;/mn&gt;&lt;mn&gt;3&lt;/mn&gt;&lt;/mfrac&gt;&lt;/math&gt;" id="1543" name="Google Shape;1543;p90" title="nineteen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84956" y="2950093"/>
            <a:ext cx="309685" cy="573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7}&quot;&gt;&lt;mfrac&gt;&lt;mn&gt;5&lt;/mn&gt;&lt;mn&gt;7&lt;/mn&gt;&lt;/mfrac&gt;&lt;/math&gt;" id="1544" name="Google Shape;1544;p90" title="five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53692" y="1596056"/>
            <a:ext cx="172214" cy="5494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7}&quot;&gt;&lt;mfrac&gt;&lt;mn&gt;5&lt;/mn&gt;&lt;mn&gt;7&lt;/mn&gt;&lt;/mfrac&gt;&lt;/math&gt;" id="1545" name="Google Shape;1545;p90" title="five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38365" y="3640349"/>
            <a:ext cx="172214" cy="5494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7}&quot;&gt;&lt;mfrac&gt;&lt;mn&gt;5&lt;/mn&gt;&lt;mn&gt;7&lt;/mn&gt;&lt;/mfrac&gt;&lt;/math&gt;" id="1546" name="Google Shape;1546;p90" title="five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59922" y="1596056"/>
            <a:ext cx="172214" cy="5494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1}&quot;&gt;&lt;mfrac&gt;&lt;mn&gt;13&lt;/mn&gt;&lt;mn&gt;11&lt;/mn&gt;&lt;/mfrac&gt;&lt;/math&gt;" id="1547" name="Google Shape;1547;p90" title="1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45392" y="931465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1}&quot;&gt;&lt;mfrac&gt;&lt;mn&gt;13&lt;/mn&gt;&lt;mn&gt;11&lt;/mn&gt;&lt;/mfrac&gt;&lt;/math&gt;" id="1548" name="Google Shape;1548;p90" title="1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84956" y="3635950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1}&quot;&gt;&lt;mfrac&gt;&lt;mn&gt;13&lt;/mn&gt;&lt;mn&gt;11&lt;/mn&gt;&lt;/mfrac&gt;&lt;/math&gt;" id="1549" name="Google Shape;1549;p90" title="1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629113" y="2957944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5}&quot;&gt;&lt;mfrac&gt;&lt;mn&gt;11&lt;/mn&gt;&lt;mn&gt;15&lt;/mn&gt;&lt;/mfrac&gt;&lt;/math&gt;" id="1550" name="Google Shape;1550;p90" title="11 over 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533929" y="1588298"/>
            <a:ext cx="309685" cy="56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2}&quot;&gt;&lt;mfrac&gt;&lt;mn&gt;13&lt;/mn&gt;&lt;mn&gt;12&lt;/mn&gt;&lt;/mfrac&gt;&lt;/math&gt;" id="1551" name="Google Shape;1551;p90" title="13 over 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545392" y="2957944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}&quot;&gt;&lt;mfrac&gt;&lt;mn&gt;8&lt;/mn&gt;&lt;mn&gt;3&lt;/mn&gt;&lt;/mfrac&gt;&lt;/math&gt;" id="1552" name="Google Shape;1552;p90" title="eight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659922" y="2283856"/>
            <a:ext cx="172214" cy="537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5}&quot;&gt;&lt;mfrac&gt;&lt;mn&gt;9&lt;/mn&gt;&lt;mn&gt;25&lt;/mn&gt;&lt;/mfrac&gt;&lt;/math&gt;" id="1553" name="Google Shape;1553;p90" title="9 over 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068971" y="2286208"/>
            <a:ext cx="309685" cy="532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8}&quot;&gt;&lt;mfrac&gt;&lt;mn&gt;9&lt;/mn&gt;&lt;mn&gt;8&lt;/mn&gt;&lt;/mfrac&gt;&lt;/math&gt;" id="1554" name="Google Shape;1554;p90" title="nine eighths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137707" y="941832"/>
            <a:ext cx="172214" cy="537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8}&quot;&gt;&lt;mfrac&gt;&lt;mn&gt;9&lt;/mn&gt;&lt;mn&gt;8&lt;/mn&gt;&lt;/mfrac&gt;&lt;/math&gt;" id="1555" name="Google Shape;1555;p90" title="nine eighths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38365" y="2968311"/>
            <a:ext cx="172214" cy="537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8}&quot;&gt;&lt;mfrac&gt;&lt;mn&gt;9&lt;/mn&gt;&lt;mn&gt;8&lt;/mn&gt;&lt;/mfrac&gt;&lt;/math&gt;" id="1556" name="Google Shape;1556;p90" title="nine eighths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174799" y="1602023"/>
            <a:ext cx="172214" cy="537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}&quot;&gt;&lt;mfrac&gt;&lt;mn&gt;8&lt;/mn&gt;&lt;mn&gt;3&lt;/mn&gt;&lt;/mfrac&gt;&lt;/math&gt;" id="1557" name="Google Shape;1557;p90" title="eight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138365" y="2283856"/>
            <a:ext cx="172214" cy="537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}&quot;&gt;&lt;mfrac&gt;&lt;mn&gt;8&lt;/mn&gt;&lt;mn&gt;3&lt;/mn&gt;&lt;/mfrac&gt;&lt;/math&gt;" id="1558" name="Google Shape;1558;p90" title="eight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163904" y="3646304"/>
            <a:ext cx="172214" cy="537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5}&quot;&gt;&lt;mfrac&gt;&lt;mn&gt;9&lt;/mn&gt;&lt;mn&gt;25&lt;/mn&gt;&lt;/mfrac&gt;&lt;/math&gt;" id="1559" name="Google Shape;1559;p90" title="9 over 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095168" y="2970651"/>
            <a:ext cx="309685" cy="532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5}&quot;&gt;&lt;mfrac&gt;&lt;mn&gt;9&lt;/mn&gt;&lt;mn&gt;25&lt;/mn&gt;&lt;/mfrac&gt;&lt;/math&gt;" id="1560" name="Google Shape;1560;p90" title="9 over 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629112" y="1604364"/>
            <a:ext cx="309685" cy="532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2}&quot;&gt;&lt;mfrac&gt;&lt;mn&gt;13&lt;/mn&gt;&lt;mn&gt;12&lt;/mn&gt;&lt;/mfrac&gt;&lt;/math&gt;" id="1561" name="Google Shape;1561;p90" title="13 over 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069630" y="1591657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2}&quot;&gt;&lt;mfrac&gt;&lt;mn&gt;13&lt;/mn&gt;&lt;mn&gt;12&lt;/mn&gt;&lt;/mfrac&gt;&lt;/math&gt;" id="1562" name="Google Shape;1562;p90" title="13 over 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095169" y="931465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5}&quot;&gt;&lt;mfrac&gt;&lt;mn&gt;11&lt;/mn&gt;&lt;mn&gt;15&lt;/mn&gt;&lt;/mfrac&gt;&lt;/math&gt;" id="1563" name="Google Shape;1563;p90" title="11 over 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068971" y="3632590"/>
            <a:ext cx="309685" cy="56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5}&quot;&gt;&lt;mfrac&gt;&lt;mn&gt;11&lt;/mn&gt;&lt;mn&gt;15&lt;/mn&gt;&lt;/mfrac&gt;&lt;/math&gt;" id="1564" name="Google Shape;1564;p90" title="11 over 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91186" y="2954585"/>
            <a:ext cx="309685" cy="56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565" name="Google Shape;1565;p90" title="three eighths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137707" y="1585808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566" name="Google Shape;1566;p90" title="three eighths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163904" y="1585808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567" name="Google Shape;1567;p90" title="three eighths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113857" y="2952095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1568" name="Google Shape;1568;p90" title="three seven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113857" y="1587858"/>
            <a:ext cx="172214" cy="565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1569" name="Google Shape;1569;p90" title="three seven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137707" y="2954145"/>
            <a:ext cx="172214" cy="565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1570" name="Google Shape;1570;p90" title="three seven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163904" y="2269703"/>
            <a:ext cx="172214" cy="565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2}&quot;&gt;&lt;mfrac&gt;&lt;mn&gt;13&lt;/mn&gt;&lt;mn&gt;12&lt;/mn&gt;&lt;/mfrac&gt;&lt;/math&gt;" id="1571" name="Google Shape;1571;p90" title="13 over 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106064" y="2957944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1572" name="Google Shape;1572;p90" title="three seven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697848" y="2269703"/>
            <a:ext cx="172214" cy="565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7}&quot;&gt;&lt;mfrac&gt;&lt;mn&gt;18&lt;/mn&gt;&lt;mn&gt;7&lt;/mn&gt;&lt;/mfrac&gt;&lt;/math&gt;" id="1573" name="Google Shape;1573;p90" title="eighteen sevenths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533929" y="3630163"/>
            <a:ext cx="309685" cy="569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7}&quot;&gt;&lt;mfrac&gt;&lt;mn&gt;18&lt;/mn&gt;&lt;mn&gt;7&lt;/mn&gt;&lt;/mfrac&gt;&lt;/math&gt;" id="1574" name="Google Shape;1574;p90" title="eighteen sevenths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629112" y="925679"/>
            <a:ext cx="309685" cy="569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7}&quot;&gt;&lt;mfrac&gt;&lt;mn&gt;18&lt;/mn&gt;&lt;mn&gt;7&lt;/mn&gt;&lt;/mfrac&gt;&lt;/math&gt;" id="1575" name="Google Shape;1575;p90" title="eighteen sevenths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106064" y="2267715"/>
            <a:ext cx="309685" cy="569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7}&quot;&gt;&lt;mfrac&gt;&lt;mn&gt;5&lt;/mn&gt;&lt;mn&gt;7&lt;/mn&gt;&lt;/mfrac&gt;&lt;/math&gt;" id="1576" name="Google Shape;1576;p90" title="five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14127" y="2277901"/>
            <a:ext cx="172214" cy="5494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1}&quot;&gt;&lt;mfrac&gt;&lt;mn&gt;13&lt;/mn&gt;&lt;mn&gt;11&lt;/mn&gt;&lt;/mfrac&gt;&lt;/math&gt;" id="1577" name="Google Shape;1577;p90" title="1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65816" y="931465"/>
            <a:ext cx="309685" cy="558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90"/>
          <p:cNvSpPr txBox="1"/>
          <p:nvPr>
            <p:ph idx="1" type="body"/>
          </p:nvPr>
        </p:nvSpPr>
        <p:spPr>
          <a:xfrm>
            <a:off x="339900" y="4367594"/>
            <a:ext cx="8464200" cy="80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Shade the answers in the grid.  They appear more than once.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fraction of 123 is the revealed number? 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3" name="Google Shape;1583;p91"/>
          <p:cNvGraphicFramePr/>
          <p:nvPr/>
        </p:nvGraphicFramePr>
        <p:xfrm>
          <a:off x="2523975" y="8492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{9870B833-4671-4C10-ABE5-1F8FA2A771BC}</a:tableStyleId>
              </a:tblPr>
              <a:tblGrid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</a:tblGrid>
              <a:tr h="68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  <a:tr h="68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8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  <a:tr h="68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  <a:tr h="68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584" name="Google Shape;1584;p91"/>
          <p:cNvSpPr txBox="1"/>
          <p:nvPr>
            <p:ph idx="1" type="body"/>
          </p:nvPr>
        </p:nvSpPr>
        <p:spPr>
          <a:xfrm>
            <a:off x="324000" y="571282"/>
            <a:ext cx="84960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fraction of A is B?  Write all answers in their simplest form.</a:t>
            </a:r>
            <a:endParaRPr sz="1800"/>
          </a:p>
        </p:txBody>
      </p:sp>
      <p:sp>
        <p:nvSpPr>
          <p:cNvPr id="1585" name="Google Shape;1585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Writing one number as a fraction of another</a:t>
            </a:r>
            <a:endParaRPr/>
          </a:p>
        </p:txBody>
      </p:sp>
      <p:graphicFrame>
        <p:nvGraphicFramePr>
          <p:cNvPr id="1586" name="Google Shape;1586;p91"/>
          <p:cNvGraphicFramePr/>
          <p:nvPr/>
        </p:nvGraphicFramePr>
        <p:xfrm>
          <a:off x="419100" y="95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{9870B833-4671-4C10-ABE5-1F8FA2A771BC}</a:tableStyleId>
              </a:tblPr>
              <a:tblGrid>
                <a:gridCol w="744875"/>
                <a:gridCol w="744875"/>
              </a:tblGrid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587" name="Google Shape;1587;p91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3857" y="925672"/>
            <a:ext cx="172214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588" name="Google Shape;1588;p91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3692" y="925672"/>
            <a:ext cx="172214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589" name="Google Shape;1589;p91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4551" y="3630157"/>
            <a:ext cx="172214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590" name="Google Shape;1590;p91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2677" y="2270665"/>
            <a:ext cx="172190" cy="56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3}&quot;&gt;&lt;mfrac&gt;&lt;mn&gt;7&lt;/mn&gt;&lt;mn&gt;3&lt;/mn&gt;&lt;/mfrac&gt;&lt;/math&gt;" id="1591" name="Google Shape;1591;p91" title="seven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3857" y="2267652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7}&quot;&gt;&lt;mfrac&gt;&lt;mn&gt;12&lt;/mn&gt;&lt;mn&gt;7&lt;/mn&gt;&lt;/mfrac&gt;&lt;/math&gt;" id="1592" name="Google Shape;1592;p91" title="twelve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9626" y="925672"/>
            <a:ext cx="309692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9}&quot;&gt;&lt;mfrac&gt;&lt;mn&gt;8&lt;/mn&gt;&lt;mn&gt;9&lt;/mn&gt;&lt;/mfrac&gt;&lt;/math&gt;" id="1593" name="Google Shape;1593;p91" title="eight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59922" y="933816"/>
            <a:ext cx="172214" cy="553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}{9}&quot;&gt;&lt;mfrac&gt;&lt;mn&gt;25&lt;/mn&gt;&lt;mn&gt;9&lt;/mn&gt;&lt;/mfrac&gt;&lt;/math&gt;" id="1594" name="Google Shape;1594;p91" title="25 over 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65816" y="2270884"/>
            <a:ext cx="309685" cy="5634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9}&quot;&gt;&lt;mfrac&gt;&lt;mn&gt;8&lt;/mn&gt;&lt;mn&gt;9&lt;/mn&gt;&lt;/mfrac&gt;&lt;/math&gt;" id="1595" name="Google Shape;1595;p91" title="eight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53692" y="2275853"/>
            <a:ext cx="172214" cy="553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9}&quot;&gt;&lt;mfrac&gt;&lt;mn&gt;8&lt;/mn&gt;&lt;mn&gt;9&lt;/mn&gt;&lt;/mfrac&gt;&lt;/math&gt;" id="1596" name="Google Shape;1596;p91" title="eight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02665" y="2960295"/>
            <a:ext cx="172214" cy="553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3}&quot;&gt;&lt;mfrac&gt;&lt;mn&gt;7&lt;/mn&gt;&lt;mn&gt;3&lt;/mn&gt;&lt;/mfrac&gt;&lt;/math&gt;" id="1597" name="Google Shape;1597;p91" title="seven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4551" y="2952095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3}&quot;&gt;&lt;mfrac&gt;&lt;mn&gt;7&lt;/mn&gt;&lt;mn&gt;3&lt;/mn&gt;&lt;/mfrac&gt;&lt;/math&gt;" id="1598" name="Google Shape;1598;p91" title="seven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9922" y="3630100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7}&quot;&gt;&lt;mfrac&gt;&lt;mn&gt;12&lt;/mn&gt;&lt;mn&gt;7&lt;/mn&gt;&lt;/mfrac&gt;&lt;/math&gt;" id="1599" name="Google Shape;1599;p91" title="twelve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9109" y="3630157"/>
            <a:ext cx="309692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7}&quot;&gt;&lt;mfrac&gt;&lt;mn&gt;12&lt;/mn&gt;&lt;mn&gt;7&lt;/mn&gt;&lt;/mfrac&gt;&lt;/math&gt;" id="1600" name="Google Shape;1600;p91" title="twelve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45118" y="3630157"/>
            <a:ext cx="309692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}{9}&quot;&gt;&lt;mfrac&gt;&lt;mn&gt;25&lt;/mn&gt;&lt;mn&gt;9&lt;/mn&gt;&lt;/mfrac&gt;&lt;/math&gt;" id="1601" name="Google Shape;1601;p91" title="25 over 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33929" y="928848"/>
            <a:ext cx="309685" cy="5634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}{9}&quot;&gt;&lt;mfrac&gt;&lt;mn&gt;25&lt;/mn&gt;&lt;mn&gt;9&lt;/mn&gt;&lt;/mfrac&gt;&lt;/math&gt;" id="1602" name="Google Shape;1602;p91" title="25 over 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06064" y="928848"/>
            <a:ext cx="309685" cy="5634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603" name="Google Shape;1603;p91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4563" y="1588820"/>
            <a:ext cx="172190" cy="56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604" name="Google Shape;1604;p91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4811" y="3633113"/>
            <a:ext cx="172190" cy="56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9}{3}&quot;&gt;&lt;mfrac&gt;&lt;mn&gt;19&lt;/mn&gt;&lt;mn&gt;3&lt;/mn&gt;&lt;/mfrac&gt;&lt;/math&gt;" id="1605" name="Google Shape;1605;p91" title="nineteen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45392" y="1583806"/>
            <a:ext cx="309685" cy="573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9}{3}&quot;&gt;&lt;mfrac&gt;&lt;mn&gt;19&lt;/mn&gt;&lt;mn&gt;3&lt;/mn&gt;&lt;/mfrac&gt;&lt;/math&gt;" id="1606" name="Google Shape;1606;p91" title="nineteen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45392" y="3628099"/>
            <a:ext cx="309685" cy="573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9}{3}&quot;&gt;&lt;mfrac&gt;&lt;mn&gt;19&lt;/mn&gt;&lt;mn&gt;3&lt;/mn&gt;&lt;/mfrac&gt;&lt;/math&gt;" id="1607" name="Google Shape;1607;p91" title="nineteen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84956" y="2950093"/>
            <a:ext cx="309685" cy="573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7}&quot;&gt;&lt;mfrac&gt;&lt;mn&gt;5&lt;/mn&gt;&lt;mn&gt;7&lt;/mn&gt;&lt;/mfrac&gt;&lt;/math&gt;" id="1608" name="Google Shape;1608;p91" title="five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53692" y="1596056"/>
            <a:ext cx="172214" cy="5494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7}&quot;&gt;&lt;mfrac&gt;&lt;mn&gt;5&lt;/mn&gt;&lt;mn&gt;7&lt;/mn&gt;&lt;/mfrac&gt;&lt;/math&gt;" id="1609" name="Google Shape;1609;p91" title="five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38365" y="3640349"/>
            <a:ext cx="172214" cy="5494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7}&quot;&gt;&lt;mfrac&gt;&lt;mn&gt;5&lt;/mn&gt;&lt;mn&gt;7&lt;/mn&gt;&lt;/mfrac&gt;&lt;/math&gt;" id="1610" name="Google Shape;1610;p91" title="five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59922" y="1596056"/>
            <a:ext cx="172214" cy="5494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1}&quot;&gt;&lt;mfrac&gt;&lt;mn&gt;13&lt;/mn&gt;&lt;mn&gt;11&lt;/mn&gt;&lt;/mfrac&gt;&lt;/math&gt;" id="1611" name="Google Shape;1611;p91" title="1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45392" y="931465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1}&quot;&gt;&lt;mfrac&gt;&lt;mn&gt;13&lt;/mn&gt;&lt;mn&gt;11&lt;/mn&gt;&lt;/mfrac&gt;&lt;/math&gt;" id="1612" name="Google Shape;1612;p91" title="1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84956" y="3635950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1}&quot;&gt;&lt;mfrac&gt;&lt;mn&gt;13&lt;/mn&gt;&lt;mn&gt;11&lt;/mn&gt;&lt;/mfrac&gt;&lt;/math&gt;" id="1613" name="Google Shape;1613;p91" title="1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629113" y="2957944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5}&quot;&gt;&lt;mfrac&gt;&lt;mn&gt;11&lt;/mn&gt;&lt;mn&gt;15&lt;/mn&gt;&lt;/mfrac&gt;&lt;/math&gt;" id="1614" name="Google Shape;1614;p91" title="11 over 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533929" y="1588298"/>
            <a:ext cx="309685" cy="56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2}&quot;&gt;&lt;mfrac&gt;&lt;mn&gt;13&lt;/mn&gt;&lt;mn&gt;12&lt;/mn&gt;&lt;/mfrac&gt;&lt;/math&gt;" id="1615" name="Google Shape;1615;p91" title="13 over 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545392" y="2957944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}&quot;&gt;&lt;mfrac&gt;&lt;mn&gt;8&lt;/mn&gt;&lt;mn&gt;3&lt;/mn&gt;&lt;/mfrac&gt;&lt;/math&gt;" id="1616" name="Google Shape;1616;p91" title="eight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659922" y="2283856"/>
            <a:ext cx="172214" cy="537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5}&quot;&gt;&lt;mfrac&gt;&lt;mn&gt;9&lt;/mn&gt;&lt;mn&gt;25&lt;/mn&gt;&lt;/mfrac&gt;&lt;/math&gt;" id="1617" name="Google Shape;1617;p91" title="9 over 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068971" y="2286208"/>
            <a:ext cx="309685" cy="532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8}&quot;&gt;&lt;mfrac&gt;&lt;mn&gt;9&lt;/mn&gt;&lt;mn&gt;8&lt;/mn&gt;&lt;/mfrac&gt;&lt;/math&gt;" id="1618" name="Google Shape;1618;p91" title="nine eighths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137707" y="941832"/>
            <a:ext cx="172214" cy="537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8}&quot;&gt;&lt;mfrac&gt;&lt;mn&gt;9&lt;/mn&gt;&lt;mn&gt;8&lt;/mn&gt;&lt;/mfrac&gt;&lt;/math&gt;" id="1619" name="Google Shape;1619;p91" title="nine eighths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38365" y="2968311"/>
            <a:ext cx="172214" cy="537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8}&quot;&gt;&lt;mfrac&gt;&lt;mn&gt;9&lt;/mn&gt;&lt;mn&gt;8&lt;/mn&gt;&lt;/mfrac&gt;&lt;/math&gt;" id="1620" name="Google Shape;1620;p91" title="nine eighths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174799" y="1602023"/>
            <a:ext cx="172214" cy="537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}&quot;&gt;&lt;mfrac&gt;&lt;mn&gt;8&lt;/mn&gt;&lt;mn&gt;3&lt;/mn&gt;&lt;/mfrac&gt;&lt;/math&gt;" id="1621" name="Google Shape;1621;p91" title="eight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138365" y="2283856"/>
            <a:ext cx="172214" cy="537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}&quot;&gt;&lt;mfrac&gt;&lt;mn&gt;8&lt;/mn&gt;&lt;mn&gt;3&lt;/mn&gt;&lt;/mfrac&gt;&lt;/math&gt;" id="1622" name="Google Shape;1622;p91" title="eight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163904" y="3646304"/>
            <a:ext cx="172214" cy="537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5}&quot;&gt;&lt;mfrac&gt;&lt;mn&gt;9&lt;/mn&gt;&lt;mn&gt;25&lt;/mn&gt;&lt;/mfrac&gt;&lt;/math&gt;" id="1623" name="Google Shape;1623;p91" title="9 over 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095168" y="2970651"/>
            <a:ext cx="309685" cy="532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5}&quot;&gt;&lt;mfrac&gt;&lt;mn&gt;9&lt;/mn&gt;&lt;mn&gt;25&lt;/mn&gt;&lt;/mfrac&gt;&lt;/math&gt;" id="1624" name="Google Shape;1624;p91" title="9 over 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629112" y="1604364"/>
            <a:ext cx="309685" cy="532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2}&quot;&gt;&lt;mfrac&gt;&lt;mn&gt;13&lt;/mn&gt;&lt;mn&gt;12&lt;/mn&gt;&lt;/mfrac&gt;&lt;/math&gt;" id="1625" name="Google Shape;1625;p91" title="13 over 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069630" y="1591657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2}&quot;&gt;&lt;mfrac&gt;&lt;mn&gt;13&lt;/mn&gt;&lt;mn&gt;12&lt;/mn&gt;&lt;/mfrac&gt;&lt;/math&gt;" id="1626" name="Google Shape;1626;p91" title="13 over 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095169" y="931465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5}&quot;&gt;&lt;mfrac&gt;&lt;mn&gt;11&lt;/mn&gt;&lt;mn&gt;15&lt;/mn&gt;&lt;/mfrac&gt;&lt;/math&gt;" id="1627" name="Google Shape;1627;p91" title="11 over 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068971" y="3632590"/>
            <a:ext cx="309685" cy="56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5}&quot;&gt;&lt;mfrac&gt;&lt;mn&gt;11&lt;/mn&gt;&lt;mn&gt;15&lt;/mn&gt;&lt;/mfrac&gt;&lt;/math&gt;" id="1628" name="Google Shape;1628;p91" title="11 over 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91186" y="2954585"/>
            <a:ext cx="309685" cy="56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629" name="Google Shape;1629;p91" title="three eighths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137707" y="1585808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630" name="Google Shape;1630;p91" title="three eighths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163904" y="1585808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631" name="Google Shape;1631;p91" title="three eighths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113857" y="2952095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1632" name="Google Shape;1632;p91" title="three seven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113857" y="1587858"/>
            <a:ext cx="172214" cy="565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1633" name="Google Shape;1633;p91" title="three seven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137707" y="2954145"/>
            <a:ext cx="172214" cy="565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1634" name="Google Shape;1634;p91" title="three seven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163904" y="2269703"/>
            <a:ext cx="172214" cy="565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2}&quot;&gt;&lt;mfrac&gt;&lt;mn&gt;13&lt;/mn&gt;&lt;mn&gt;12&lt;/mn&gt;&lt;/mfrac&gt;&lt;/math&gt;" id="1635" name="Google Shape;1635;p91" title="13 over 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106064" y="2957944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1636" name="Google Shape;1636;p91" title="three seven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697848" y="2269703"/>
            <a:ext cx="172214" cy="565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7}&quot;&gt;&lt;mfrac&gt;&lt;mn&gt;18&lt;/mn&gt;&lt;mn&gt;7&lt;/mn&gt;&lt;/mfrac&gt;&lt;/math&gt;" id="1637" name="Google Shape;1637;p91" title="eighteen sevenths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533929" y="3630163"/>
            <a:ext cx="309685" cy="569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7}&quot;&gt;&lt;mfrac&gt;&lt;mn&gt;18&lt;/mn&gt;&lt;mn&gt;7&lt;/mn&gt;&lt;/mfrac&gt;&lt;/math&gt;" id="1638" name="Google Shape;1638;p91" title="eighteen sevenths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629112" y="925679"/>
            <a:ext cx="309685" cy="569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7}&quot;&gt;&lt;mfrac&gt;&lt;mn&gt;18&lt;/mn&gt;&lt;mn&gt;7&lt;/mn&gt;&lt;/mfrac&gt;&lt;/math&gt;" id="1639" name="Google Shape;1639;p91" title="eighteen sevenths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106064" y="2267715"/>
            <a:ext cx="309685" cy="569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7}&quot;&gt;&lt;mfrac&gt;&lt;mn&gt;5&lt;/mn&gt;&lt;mn&gt;7&lt;/mn&gt;&lt;/mfrac&gt;&lt;/math&gt;" id="1640" name="Google Shape;1640;p91" title="five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14127" y="2277901"/>
            <a:ext cx="172214" cy="5494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1}&quot;&gt;&lt;mfrac&gt;&lt;mn&gt;13&lt;/mn&gt;&lt;mn&gt;11&lt;/mn&gt;&lt;/mfrac&gt;&lt;/math&gt;" id="1641" name="Google Shape;1641;p91" title="1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65816" y="931465"/>
            <a:ext cx="309685" cy="558251"/>
          </a:xfrm>
          <a:prstGeom prst="rect">
            <a:avLst/>
          </a:prstGeom>
          <a:noFill/>
          <a:ln>
            <a:noFill/>
          </a:ln>
        </p:spPr>
      </p:pic>
      <p:sp>
        <p:nvSpPr>
          <p:cNvPr id="1642" name="Google Shape;1642;p91"/>
          <p:cNvSpPr txBox="1"/>
          <p:nvPr>
            <p:ph idx="1" type="body"/>
          </p:nvPr>
        </p:nvSpPr>
        <p:spPr>
          <a:xfrm>
            <a:off x="339900" y="4367594"/>
            <a:ext cx="8464200" cy="80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Shade the answers in the grid.  They appear more than once.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fraction of 123 is the revealed number?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5}{3}&quot;&gt;&lt;mfrac&gt;&lt;mn&gt;5&lt;/mn&gt;&lt;mn&gt;3&lt;/mn&gt;&lt;/mfrac&gt;&lt;/math&gt;" id="1643" name="Google Shape;1643;p91" title="five thirds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7286075" y="4261193"/>
            <a:ext cx="164400" cy="528458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92"/>
          <p:cNvSpPr txBox="1"/>
          <p:nvPr>
            <p:ph idx="1" type="body"/>
          </p:nvPr>
        </p:nvSpPr>
        <p:spPr>
          <a:xfrm>
            <a:off x="324000" y="6228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find a multiplier you </a:t>
            </a:r>
            <a:r>
              <a:rPr lang="en-GB"/>
              <a:t>divide</a:t>
            </a:r>
            <a:r>
              <a:rPr lang="en-GB"/>
              <a:t> the 2 numbers.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You must always use the exact value.  If the multiplier is not an integer or terminating decimal you must use the fraction.  E.g.                          not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92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one number as a fraction of another</a:t>
            </a:r>
            <a:endParaRPr/>
          </a:p>
        </p:txBody>
      </p:sp>
      <p:pic>
        <p:nvPicPr>
          <p:cNvPr id="1650" name="Google Shape;1650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8002" y="1867433"/>
            <a:ext cx="1784057" cy="832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1" name="Google Shape;1651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8200" y="1864800"/>
            <a:ext cx="1784057" cy="8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2" name="Google Shape;1652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5925" y="2773063"/>
            <a:ext cx="2008192" cy="204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3" name="Google Shape;1653;p92"/>
          <p:cNvSpPr txBox="1"/>
          <p:nvPr/>
        </p:nvSpPr>
        <p:spPr>
          <a:xfrm>
            <a:off x="324000" y="2914175"/>
            <a:ext cx="43740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write a number as a fraction of another you can use a double number line.  E.g.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9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59" name="Google Shape;1659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