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b18dc85dd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2b18dc85dd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2b18dc85dd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b18dc85dd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b18dc85dd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2b18dc85dd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b18dc85dd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b18dc85dd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2b18dc85dd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2b18dc85dd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b18dc85dd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b18dc85dd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b18dc85dd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2b18dc85dd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b18dc85dd6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b18dc85dd6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2b18dc85dd6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2b18dc85dd6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2b18dc85dd6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2b18dc85dd6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2b18dc85dd6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2b18dc85dd6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2b18dc85dd6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2b18dc85dd6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2b18dc85dd6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2b18dc85dd6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2b18dc85dd6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2b18dc85dd6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2b18dc85dd6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2b18dc85dd6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2b18dc85dd6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2b18dc85dd6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2b18dc85dd6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2b18dc85dd6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2b18dc85dd6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2b18dc85dd6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2b18dc85dd6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2b18dc85dd6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2b18dc85dd6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2b18dc85dd6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2b18dc85dd6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2b18dc85dd6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2b18dc85dd6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2b18dc85dd6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2b18dc85dd6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2b18dc85dd6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2b18dc85dd6_0_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2b18dc85dd6_0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2b18dc85dd6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2b18dc85dd6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g2b18dc85dd6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3" name="Google Shape;1343;g2b18dc85dd6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2b18dc85dd6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8" name="Google Shape;1368;g2b18dc85dd6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2b18dc85dd6_0_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2b18dc85dd6_0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2b18dc85dd6_0_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2b18dc85dd6_0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2b18dc85dd6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g2b18dc85dd6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2b18dc85dd6_0_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2b18dc85dd6_0_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g2b18dc85dd6_0_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g2b18dc85dd6_0_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g2b24ae42c05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6" name="Google Shape;1516;g2b24ae42c05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g2b18dc85dd6_0_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3" name="Google Shape;1523;g2b18dc85dd6_0_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b18dc85dd6_0_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b18dc85dd6_0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2b18dc85dd6_0_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8" name="Google Shape;1548;g2b18dc85dd6_0_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g2b18dc85dd6_0_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8" name="Google Shape;1568;g2b18dc85dd6_0_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g2b18dc85dd6_0_9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g2b18dc85dd6_0_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2b18dc85dd6_0_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2b18dc85dd6_0_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2b18dc85dd6_0_1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2b18dc85dd6_0_1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g2b18dc85dd6_0_10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9" name="Google Shape;1639;g2b18dc85dd6_0_1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g2b18dc85dd6_0_10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9" name="Google Shape;1669;g2b18dc85dd6_0_1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g36e848abd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3" name="Google Shape;1703;g36e848abd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g2b18dc85dd6_0_1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9" name="Google Shape;1709;g2b18dc85dd6_0_1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23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1.png"/><Relationship Id="rId4" Type="http://schemas.openxmlformats.org/officeDocument/2006/relationships/image" Target="../media/image68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Relationship Id="rId7" Type="http://schemas.openxmlformats.org/officeDocument/2006/relationships/image" Target="../media/image1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8.png"/><Relationship Id="rId4" Type="http://schemas.openxmlformats.org/officeDocument/2006/relationships/image" Target="../media/image25.png"/><Relationship Id="rId9" Type="http://schemas.openxmlformats.org/officeDocument/2006/relationships/image" Target="../media/image15.png"/><Relationship Id="rId5" Type="http://schemas.openxmlformats.org/officeDocument/2006/relationships/image" Target="../media/image21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8.png"/><Relationship Id="rId4" Type="http://schemas.openxmlformats.org/officeDocument/2006/relationships/image" Target="../media/image32.png"/><Relationship Id="rId11" Type="http://schemas.openxmlformats.org/officeDocument/2006/relationships/image" Target="../media/image15.png"/><Relationship Id="rId10" Type="http://schemas.openxmlformats.org/officeDocument/2006/relationships/image" Target="../media/image39.png"/><Relationship Id="rId9" Type="http://schemas.openxmlformats.org/officeDocument/2006/relationships/image" Target="../media/image31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0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0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50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0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4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44.png"/><Relationship Id="rId6" Type="http://schemas.openxmlformats.org/officeDocument/2006/relationships/image" Target="../media/image5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44.png"/><Relationship Id="rId6" Type="http://schemas.openxmlformats.org/officeDocument/2006/relationships/image" Target="../media/image5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2.png"/><Relationship Id="rId4" Type="http://schemas.openxmlformats.org/officeDocument/2006/relationships/image" Target="../media/image58.png"/><Relationship Id="rId5" Type="http://schemas.openxmlformats.org/officeDocument/2006/relationships/image" Target="../media/image61.png"/><Relationship Id="rId6" Type="http://schemas.openxmlformats.org/officeDocument/2006/relationships/image" Target="../media/image5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2.png"/><Relationship Id="rId4" Type="http://schemas.openxmlformats.org/officeDocument/2006/relationships/image" Target="../media/image58.png"/><Relationship Id="rId5" Type="http://schemas.openxmlformats.org/officeDocument/2006/relationships/image" Target="../media/image61.png"/><Relationship Id="rId6" Type="http://schemas.openxmlformats.org/officeDocument/2006/relationships/image" Target="../media/image5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in context</a:t>
            </a:r>
            <a:endParaRPr/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Geometrical properties: similarity and Pythagoras’ theorem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3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and apply Pythagoras’ theorem to solve problems in a range of contexts.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5"/>
          <p:cNvSpPr txBox="1"/>
          <p:nvPr>
            <p:ph idx="6" type="subTitle"/>
          </p:nvPr>
        </p:nvSpPr>
        <p:spPr>
          <a:xfrm>
            <a:off x="324000" y="3400800"/>
            <a:ext cx="84960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hypotenuse is the side of the right-angle triangle which is opposite the right-angle. </a:t>
            </a:r>
            <a:endParaRPr/>
          </a:p>
        </p:txBody>
      </p:sp>
      <p:sp>
        <p:nvSpPr>
          <p:cNvPr id="763" name="Google Shape;763;p65"/>
          <p:cNvSpPr txBox="1"/>
          <p:nvPr>
            <p:ph idx="4" type="subTitle"/>
          </p:nvPr>
        </p:nvSpPr>
        <p:spPr>
          <a:xfrm>
            <a:off x="324000" y="1946100"/>
            <a:ext cx="84960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Pythagoras’ theorem shows that the sum of the squares of the two shorter sides of a right-angled triangle is equal to the square of its longest side (the hypotenuse).</a:t>
            </a:r>
            <a:endParaRPr/>
          </a:p>
        </p:txBody>
      </p:sp>
      <p:sp>
        <p:nvSpPr>
          <p:cNvPr id="764" name="Google Shape;764;p65"/>
          <p:cNvSpPr txBox="1"/>
          <p:nvPr>
            <p:ph idx="2" type="subTitle"/>
          </p:nvPr>
        </p:nvSpPr>
        <p:spPr>
          <a:xfrm>
            <a:off x="324000" y="810000"/>
            <a:ext cx="84960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perpendicular height is the perpendicular distance from the base to the opposite vertex.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and evaluating modelled contexts</a:t>
            </a:r>
            <a:endParaRPr/>
          </a:p>
        </p:txBody>
      </p:sp>
      <p:sp>
        <p:nvSpPr>
          <p:cNvPr id="770" name="Google Shape;770;p6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modelled by right-angled triangles</a:t>
            </a:r>
            <a:endParaRPr/>
          </a:p>
        </p:txBody>
      </p:sp>
      <p:sp>
        <p:nvSpPr>
          <p:cNvPr id="771" name="Google Shape;771;p6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in context</a:t>
            </a:r>
            <a:endParaRPr/>
          </a:p>
        </p:txBody>
      </p:sp>
      <p:pic>
        <p:nvPicPr>
          <p:cNvPr id="772" name="Google Shape;77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015" y="205318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7"/>
          <p:cNvSpPr txBox="1"/>
          <p:nvPr/>
        </p:nvSpPr>
        <p:spPr>
          <a:xfrm flipH="1" rot="2671">
            <a:off x="324016" y="1745886"/>
            <a:ext cx="8496003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sometimes it is helpful to model these contexts as right-angled triangles in order to help calculate important lengths or distances.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p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modelled by right-angled triangles</a:t>
            </a:r>
            <a:endParaRPr/>
          </a:p>
        </p:txBody>
      </p:sp>
      <p:sp>
        <p:nvSpPr>
          <p:cNvPr id="779" name="Google Shape;779;p67"/>
          <p:cNvSpPr txBox="1"/>
          <p:nvPr/>
        </p:nvSpPr>
        <p:spPr>
          <a:xfrm flipH="1" rot="2650">
            <a:off x="1037123" y="1002121"/>
            <a:ext cx="7782902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lengths or distances that are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perpendicular to each other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0" name="Google Shape;780;p67"/>
          <p:cNvSpPr txBox="1"/>
          <p:nvPr/>
        </p:nvSpPr>
        <p:spPr>
          <a:xfrm flipH="1" rot="2650">
            <a:off x="1037123" y="1336546"/>
            <a:ext cx="7782902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third length that bounds an imaginary right-angled triangle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67"/>
          <p:cNvSpPr txBox="1"/>
          <p:nvPr/>
        </p:nvSpPr>
        <p:spPr>
          <a:xfrm flipH="1" rot="2671">
            <a:off x="324016" y="667411"/>
            <a:ext cx="8496003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 are many contexts in the real world that involve: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8"/>
          <p:cNvSpPr txBox="1"/>
          <p:nvPr/>
        </p:nvSpPr>
        <p:spPr>
          <a:xfrm flipH="1" rot="2671">
            <a:off x="324016" y="667411"/>
            <a:ext cx="8496003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For example, in order for this strand of spaghetti to cook evenly, it has to be submerged completely in the saucepan, with no part of it sticking out.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modelled by right-angled triangles</a:t>
            </a:r>
            <a:endParaRPr/>
          </a:p>
        </p:txBody>
      </p:sp>
      <p:grpSp>
        <p:nvGrpSpPr>
          <p:cNvPr id="788" name="Google Shape;788;p68"/>
          <p:cNvGrpSpPr/>
          <p:nvPr/>
        </p:nvGrpSpPr>
        <p:grpSpPr>
          <a:xfrm>
            <a:off x="1625441" y="2804457"/>
            <a:ext cx="3163246" cy="1395874"/>
            <a:chOff x="2820561" y="1873957"/>
            <a:chExt cx="3163246" cy="1395874"/>
          </a:xfrm>
        </p:grpSpPr>
        <p:sp>
          <p:nvSpPr>
            <p:cNvPr id="789" name="Google Shape;789;p68"/>
            <p:cNvSpPr/>
            <p:nvPr/>
          </p:nvSpPr>
          <p:spPr>
            <a:xfrm flipH="1" rot="9489519">
              <a:off x="4621733" y="2120173"/>
              <a:ext cx="1358733" cy="257568"/>
            </a:xfrm>
            <a:prstGeom prst="diagStripe">
              <a:avLst>
                <a:gd fmla="val 68104" name="adj"/>
              </a:avLst>
            </a:prstGeom>
            <a:solidFill>
              <a:srgbClr val="434343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0" name="Google Shape;790;p68"/>
            <p:cNvSpPr/>
            <p:nvPr/>
          </p:nvSpPr>
          <p:spPr>
            <a:xfrm>
              <a:off x="4641607" y="2114401"/>
              <a:ext cx="1342200" cy="260400"/>
            </a:xfrm>
            <a:prstGeom prst="diagStripe">
              <a:avLst>
                <a:gd fmla="val 84995" name="adj"/>
              </a:avLst>
            </a:prstGeom>
            <a:solidFill>
              <a:srgbClr val="78787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1" name="Google Shape;791;p68"/>
            <p:cNvSpPr/>
            <p:nvPr/>
          </p:nvSpPr>
          <p:spPr>
            <a:xfrm>
              <a:off x="2820561" y="2827930"/>
              <a:ext cx="1868700" cy="441900"/>
            </a:xfrm>
            <a:prstGeom prst="ellipse">
              <a:avLst/>
            </a:prstGeom>
            <a:gradFill>
              <a:gsLst>
                <a:gs pos="0">
                  <a:srgbClr val="999999"/>
                </a:gs>
                <a:gs pos="49000">
                  <a:srgbClr val="434343"/>
                </a:gs>
                <a:gs pos="100000">
                  <a:srgbClr val="434343"/>
                </a:gs>
              </a:gsLst>
              <a:lin ang="0" scaled="0"/>
            </a:gra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2" name="Google Shape;792;p68"/>
            <p:cNvSpPr/>
            <p:nvPr/>
          </p:nvSpPr>
          <p:spPr>
            <a:xfrm>
              <a:off x="2820653" y="2200962"/>
              <a:ext cx="1868700" cy="841800"/>
            </a:xfrm>
            <a:prstGeom prst="rect">
              <a:avLst/>
            </a:prstGeom>
            <a:gradFill>
              <a:gsLst>
                <a:gs pos="0">
                  <a:srgbClr val="999999"/>
                </a:gs>
                <a:gs pos="49000">
                  <a:srgbClr val="434343"/>
                </a:gs>
                <a:gs pos="100000">
                  <a:srgbClr val="43434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3" name="Google Shape;793;p68"/>
            <p:cNvSpPr/>
            <p:nvPr/>
          </p:nvSpPr>
          <p:spPr>
            <a:xfrm>
              <a:off x="2820561" y="1968889"/>
              <a:ext cx="1868700" cy="441900"/>
            </a:xfrm>
            <a:prstGeom prst="ellipse">
              <a:avLst/>
            </a:prstGeom>
            <a:gradFill>
              <a:gsLst>
                <a:gs pos="0">
                  <a:srgbClr val="D9D9D9"/>
                </a:gs>
                <a:gs pos="62000">
                  <a:srgbClr val="808080"/>
                </a:gs>
                <a:gs pos="100000">
                  <a:srgbClr val="808080"/>
                </a:gs>
              </a:gsLst>
              <a:lin ang="8100019" scaled="0"/>
            </a:gra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94" name="Google Shape;794;p68"/>
            <p:cNvCxnSpPr/>
            <p:nvPr/>
          </p:nvCxnSpPr>
          <p:spPr>
            <a:xfrm>
              <a:off x="2820561" y="2200999"/>
              <a:ext cx="0" cy="84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95" name="Google Shape;795;p68"/>
            <p:cNvSpPr/>
            <p:nvPr/>
          </p:nvSpPr>
          <p:spPr>
            <a:xfrm rot="-6078596">
              <a:off x="5714197" y="2101673"/>
              <a:ext cx="26005" cy="85017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96" name="Google Shape;796;p68"/>
            <p:cNvCxnSpPr/>
            <p:nvPr/>
          </p:nvCxnSpPr>
          <p:spPr>
            <a:xfrm>
              <a:off x="4689114" y="2200999"/>
              <a:ext cx="0" cy="84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97" name="Google Shape;797;p68"/>
          <p:cNvSpPr txBox="1"/>
          <p:nvPr/>
        </p:nvSpPr>
        <p:spPr>
          <a:xfrm flipH="1" rot="1626">
            <a:off x="1604581" y="4200663"/>
            <a:ext cx="190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saucepan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8" name="Google Shape;798;p68"/>
          <p:cNvGrpSpPr/>
          <p:nvPr/>
        </p:nvGrpSpPr>
        <p:grpSpPr>
          <a:xfrm>
            <a:off x="5626891" y="1462069"/>
            <a:ext cx="3163246" cy="1395874"/>
            <a:chOff x="6583961" y="2804457"/>
            <a:chExt cx="3163246" cy="1395874"/>
          </a:xfrm>
        </p:grpSpPr>
        <p:grpSp>
          <p:nvGrpSpPr>
            <p:cNvPr id="799" name="Google Shape;799;p68"/>
            <p:cNvGrpSpPr/>
            <p:nvPr/>
          </p:nvGrpSpPr>
          <p:grpSpPr>
            <a:xfrm>
              <a:off x="6583961" y="2804457"/>
              <a:ext cx="3163246" cy="1395874"/>
              <a:chOff x="6583961" y="2804457"/>
              <a:chExt cx="3163246" cy="1395874"/>
            </a:xfrm>
          </p:grpSpPr>
          <p:sp>
            <p:nvSpPr>
              <p:cNvPr id="800" name="Google Shape;800;p68"/>
              <p:cNvSpPr/>
              <p:nvPr/>
            </p:nvSpPr>
            <p:spPr>
              <a:xfrm flipH="1" rot="9489519">
                <a:off x="8385133" y="3050673"/>
                <a:ext cx="1358733" cy="257568"/>
              </a:xfrm>
              <a:prstGeom prst="diagStripe">
                <a:avLst>
                  <a:gd fmla="val 68104" name="adj"/>
                </a:avLst>
              </a:prstGeom>
              <a:solidFill>
                <a:srgbClr val="434343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01" name="Google Shape;801;p68"/>
              <p:cNvSpPr/>
              <p:nvPr/>
            </p:nvSpPr>
            <p:spPr>
              <a:xfrm>
                <a:off x="8405007" y="3044901"/>
                <a:ext cx="1342200" cy="260400"/>
              </a:xfrm>
              <a:prstGeom prst="diagStripe">
                <a:avLst>
                  <a:gd fmla="val 84995" name="adj"/>
                </a:avLst>
              </a:prstGeom>
              <a:solidFill>
                <a:srgbClr val="787878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802" name="Google Shape;802;p68"/>
              <p:cNvGrpSpPr/>
              <p:nvPr/>
            </p:nvGrpSpPr>
            <p:grpSpPr>
              <a:xfrm>
                <a:off x="6583961" y="2899389"/>
                <a:ext cx="1868792" cy="1300942"/>
                <a:chOff x="6583961" y="2899389"/>
                <a:chExt cx="1868792" cy="1300942"/>
              </a:xfrm>
            </p:grpSpPr>
            <p:sp>
              <p:nvSpPr>
                <p:cNvPr id="803" name="Google Shape;803;p68"/>
                <p:cNvSpPr/>
                <p:nvPr/>
              </p:nvSpPr>
              <p:spPr>
                <a:xfrm>
                  <a:off x="6583961" y="3758430"/>
                  <a:ext cx="1868700" cy="441900"/>
                </a:xfrm>
                <a:prstGeom prst="ellipse">
                  <a:avLst/>
                </a:prstGeom>
                <a:gradFill>
                  <a:gsLst>
                    <a:gs pos="0">
                      <a:srgbClr val="999999"/>
                    </a:gs>
                    <a:gs pos="49000">
                      <a:srgbClr val="434343"/>
                    </a:gs>
                    <a:gs pos="100000">
                      <a:srgbClr val="434343"/>
                    </a:gs>
                  </a:gsLst>
                  <a:lin ang="0" scaled="0"/>
                </a:gra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804" name="Google Shape;804;p68"/>
                <p:cNvSpPr/>
                <p:nvPr/>
              </p:nvSpPr>
              <p:spPr>
                <a:xfrm>
                  <a:off x="6584053" y="3131462"/>
                  <a:ext cx="1868700" cy="841800"/>
                </a:xfrm>
                <a:prstGeom prst="rect">
                  <a:avLst/>
                </a:prstGeom>
                <a:gradFill>
                  <a:gsLst>
                    <a:gs pos="0">
                      <a:srgbClr val="999999"/>
                    </a:gs>
                    <a:gs pos="49000">
                      <a:srgbClr val="434343"/>
                    </a:gs>
                    <a:gs pos="100000">
                      <a:srgbClr val="43434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cxnSp>
              <p:nvCxnSpPr>
                <p:cNvPr id="805" name="Google Shape;805;p68"/>
                <p:cNvCxnSpPr/>
                <p:nvPr/>
              </p:nvCxnSpPr>
              <p:spPr>
                <a:xfrm>
                  <a:off x="6583961" y="3131499"/>
                  <a:ext cx="0" cy="8418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806" name="Google Shape;806;p68"/>
                <p:cNvSpPr/>
                <p:nvPr/>
              </p:nvSpPr>
              <p:spPr>
                <a:xfrm>
                  <a:off x="6583961" y="2899389"/>
                  <a:ext cx="1868700" cy="441900"/>
                </a:xfrm>
                <a:prstGeom prst="ellipse">
                  <a:avLst/>
                </a:prstGeom>
                <a:gradFill>
                  <a:gsLst>
                    <a:gs pos="0">
                      <a:srgbClr val="D9D9D9"/>
                    </a:gs>
                    <a:gs pos="62000">
                      <a:srgbClr val="808080"/>
                    </a:gs>
                    <a:gs pos="100000">
                      <a:srgbClr val="808080"/>
                    </a:gs>
                  </a:gsLst>
                  <a:lin ang="8100019" scaled="0"/>
                </a:gra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807" name="Google Shape;807;p68"/>
              <p:cNvSpPr/>
              <p:nvPr/>
            </p:nvSpPr>
            <p:spPr>
              <a:xfrm rot="-6078596">
                <a:off x="9477597" y="3032173"/>
                <a:ext cx="26005" cy="85017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808" name="Google Shape;808;p68"/>
            <p:cNvCxnSpPr/>
            <p:nvPr/>
          </p:nvCxnSpPr>
          <p:spPr>
            <a:xfrm>
              <a:off x="8452514" y="3131499"/>
              <a:ext cx="0" cy="84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09" name="Google Shape;809;p68"/>
          <p:cNvGrpSpPr/>
          <p:nvPr/>
        </p:nvGrpSpPr>
        <p:grpSpPr>
          <a:xfrm rot="3846797">
            <a:off x="6704327" y="925118"/>
            <a:ext cx="43710" cy="2405891"/>
            <a:chOff x="3023575" y="2980750"/>
            <a:chExt cx="43500" cy="1079200"/>
          </a:xfrm>
        </p:grpSpPr>
        <p:sp>
          <p:nvSpPr>
            <p:cNvPr id="810" name="Google Shape;810;p68"/>
            <p:cNvSpPr/>
            <p:nvPr/>
          </p:nvSpPr>
          <p:spPr>
            <a:xfrm>
              <a:off x="3023575" y="2990775"/>
              <a:ext cx="43500" cy="10575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1" name="Google Shape;811;p68"/>
            <p:cNvSpPr/>
            <p:nvPr/>
          </p:nvSpPr>
          <p:spPr>
            <a:xfrm>
              <a:off x="3023575" y="2980750"/>
              <a:ext cx="43500" cy="26700"/>
            </a:xfrm>
            <a:prstGeom prst="ellipse">
              <a:avLst/>
            </a:prstGeom>
            <a:solidFill>
              <a:srgbClr val="BF9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2" name="Google Shape;812;p68"/>
            <p:cNvSpPr/>
            <p:nvPr/>
          </p:nvSpPr>
          <p:spPr>
            <a:xfrm>
              <a:off x="3023575" y="4033250"/>
              <a:ext cx="43500" cy="26700"/>
            </a:xfrm>
            <a:prstGeom prst="ellipse">
              <a:avLst/>
            </a:prstGeom>
            <a:solidFill>
              <a:srgbClr val="BF9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13" name="Google Shape;81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5088" y="1994767"/>
            <a:ext cx="396000" cy="4197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4" name="Google Shape;814;p68"/>
          <p:cNvGrpSpPr/>
          <p:nvPr/>
        </p:nvGrpSpPr>
        <p:grpSpPr>
          <a:xfrm>
            <a:off x="5626891" y="3315469"/>
            <a:ext cx="3163246" cy="1395874"/>
            <a:chOff x="6583961" y="2804457"/>
            <a:chExt cx="3163246" cy="1395874"/>
          </a:xfrm>
        </p:grpSpPr>
        <p:grpSp>
          <p:nvGrpSpPr>
            <p:cNvPr id="815" name="Google Shape;815;p68"/>
            <p:cNvGrpSpPr/>
            <p:nvPr/>
          </p:nvGrpSpPr>
          <p:grpSpPr>
            <a:xfrm>
              <a:off x="6583961" y="2804457"/>
              <a:ext cx="3163246" cy="1395874"/>
              <a:chOff x="6583961" y="2804457"/>
              <a:chExt cx="3163246" cy="1395874"/>
            </a:xfrm>
          </p:grpSpPr>
          <p:sp>
            <p:nvSpPr>
              <p:cNvPr id="816" name="Google Shape;816;p68"/>
              <p:cNvSpPr/>
              <p:nvPr/>
            </p:nvSpPr>
            <p:spPr>
              <a:xfrm flipH="1" rot="9489519">
                <a:off x="8385133" y="3050673"/>
                <a:ext cx="1358733" cy="257568"/>
              </a:xfrm>
              <a:prstGeom prst="diagStripe">
                <a:avLst>
                  <a:gd fmla="val 68104" name="adj"/>
                </a:avLst>
              </a:prstGeom>
              <a:solidFill>
                <a:srgbClr val="434343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17" name="Google Shape;817;p68"/>
              <p:cNvSpPr/>
              <p:nvPr/>
            </p:nvSpPr>
            <p:spPr>
              <a:xfrm>
                <a:off x="8405007" y="3044901"/>
                <a:ext cx="1342200" cy="260400"/>
              </a:xfrm>
              <a:prstGeom prst="diagStripe">
                <a:avLst>
                  <a:gd fmla="val 84995" name="adj"/>
                </a:avLst>
              </a:prstGeom>
              <a:solidFill>
                <a:srgbClr val="787878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818" name="Google Shape;818;p68"/>
              <p:cNvGrpSpPr/>
              <p:nvPr/>
            </p:nvGrpSpPr>
            <p:grpSpPr>
              <a:xfrm>
                <a:off x="6583961" y="2899389"/>
                <a:ext cx="1868792" cy="1300942"/>
                <a:chOff x="6583961" y="2899389"/>
                <a:chExt cx="1868792" cy="1300942"/>
              </a:xfrm>
            </p:grpSpPr>
            <p:sp>
              <p:nvSpPr>
                <p:cNvPr id="819" name="Google Shape;819;p68"/>
                <p:cNvSpPr/>
                <p:nvPr/>
              </p:nvSpPr>
              <p:spPr>
                <a:xfrm>
                  <a:off x="6583961" y="3758430"/>
                  <a:ext cx="1868700" cy="441900"/>
                </a:xfrm>
                <a:prstGeom prst="ellipse">
                  <a:avLst/>
                </a:prstGeom>
                <a:gradFill>
                  <a:gsLst>
                    <a:gs pos="0">
                      <a:srgbClr val="999999"/>
                    </a:gs>
                    <a:gs pos="49000">
                      <a:srgbClr val="434343"/>
                    </a:gs>
                    <a:gs pos="100000">
                      <a:srgbClr val="434343"/>
                    </a:gs>
                  </a:gsLst>
                  <a:lin ang="0" scaled="0"/>
                </a:gra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820" name="Google Shape;820;p68"/>
                <p:cNvSpPr/>
                <p:nvPr/>
              </p:nvSpPr>
              <p:spPr>
                <a:xfrm>
                  <a:off x="6584053" y="3131462"/>
                  <a:ext cx="1868700" cy="841800"/>
                </a:xfrm>
                <a:prstGeom prst="rect">
                  <a:avLst/>
                </a:prstGeom>
                <a:gradFill>
                  <a:gsLst>
                    <a:gs pos="0">
                      <a:srgbClr val="999999"/>
                    </a:gs>
                    <a:gs pos="49000">
                      <a:srgbClr val="434343"/>
                    </a:gs>
                    <a:gs pos="100000">
                      <a:srgbClr val="43434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cxnSp>
              <p:nvCxnSpPr>
                <p:cNvPr id="821" name="Google Shape;821;p68"/>
                <p:cNvCxnSpPr/>
                <p:nvPr/>
              </p:nvCxnSpPr>
              <p:spPr>
                <a:xfrm>
                  <a:off x="6583961" y="3131499"/>
                  <a:ext cx="0" cy="8418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822" name="Google Shape;822;p68"/>
                <p:cNvSpPr/>
                <p:nvPr/>
              </p:nvSpPr>
              <p:spPr>
                <a:xfrm>
                  <a:off x="6583961" y="2899389"/>
                  <a:ext cx="1868700" cy="441900"/>
                </a:xfrm>
                <a:prstGeom prst="ellipse">
                  <a:avLst/>
                </a:prstGeom>
                <a:gradFill>
                  <a:gsLst>
                    <a:gs pos="0">
                      <a:srgbClr val="D9D9D9"/>
                    </a:gs>
                    <a:gs pos="62000">
                      <a:srgbClr val="808080"/>
                    </a:gs>
                    <a:gs pos="100000">
                      <a:srgbClr val="808080"/>
                    </a:gs>
                  </a:gsLst>
                  <a:lin ang="8100019" scaled="0"/>
                </a:gra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823" name="Google Shape;823;p68"/>
              <p:cNvSpPr/>
              <p:nvPr/>
            </p:nvSpPr>
            <p:spPr>
              <a:xfrm rot="-6078596">
                <a:off x="9477597" y="3032173"/>
                <a:ext cx="26005" cy="85017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824" name="Google Shape;824;p68"/>
            <p:cNvCxnSpPr/>
            <p:nvPr/>
          </p:nvCxnSpPr>
          <p:spPr>
            <a:xfrm>
              <a:off x="8452514" y="3131499"/>
              <a:ext cx="0" cy="84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25" name="Google Shape;825;p68"/>
          <p:cNvGrpSpPr/>
          <p:nvPr/>
        </p:nvGrpSpPr>
        <p:grpSpPr>
          <a:xfrm rot="4345186">
            <a:off x="6547985" y="3240553"/>
            <a:ext cx="43710" cy="1946384"/>
            <a:chOff x="3023575" y="2980750"/>
            <a:chExt cx="43500" cy="1079200"/>
          </a:xfrm>
        </p:grpSpPr>
        <p:sp>
          <p:nvSpPr>
            <p:cNvPr id="826" name="Google Shape;826;p68"/>
            <p:cNvSpPr/>
            <p:nvPr/>
          </p:nvSpPr>
          <p:spPr>
            <a:xfrm>
              <a:off x="3023575" y="2990775"/>
              <a:ext cx="43500" cy="10575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7" name="Google Shape;827;p68"/>
            <p:cNvSpPr/>
            <p:nvPr/>
          </p:nvSpPr>
          <p:spPr>
            <a:xfrm>
              <a:off x="3023575" y="2980750"/>
              <a:ext cx="43500" cy="26700"/>
            </a:xfrm>
            <a:prstGeom prst="ellipse">
              <a:avLst/>
            </a:prstGeom>
            <a:solidFill>
              <a:srgbClr val="BF9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8" name="Google Shape;828;p68"/>
            <p:cNvSpPr/>
            <p:nvPr/>
          </p:nvSpPr>
          <p:spPr>
            <a:xfrm>
              <a:off x="3023575" y="4033250"/>
              <a:ext cx="43500" cy="26700"/>
            </a:xfrm>
            <a:prstGeom prst="ellipse">
              <a:avLst/>
            </a:prstGeom>
            <a:solidFill>
              <a:srgbClr val="BF9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29" name="Google Shape;829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5108" y="38752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68"/>
          <p:cNvSpPr txBox="1"/>
          <p:nvPr/>
        </p:nvSpPr>
        <p:spPr>
          <a:xfrm flipH="1" rot="2748">
            <a:off x="324174" y="1408711"/>
            <a:ext cx="4128001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information about the spaghetti and the saucepan might we need in order to see if the spaghetti will fit fully?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1" name="Google Shape;831;p68"/>
          <p:cNvGrpSpPr/>
          <p:nvPr/>
        </p:nvGrpSpPr>
        <p:grpSpPr>
          <a:xfrm>
            <a:off x="845180" y="2801423"/>
            <a:ext cx="43500" cy="1451416"/>
            <a:chOff x="3023575" y="2980750"/>
            <a:chExt cx="43500" cy="1079200"/>
          </a:xfrm>
        </p:grpSpPr>
        <p:sp>
          <p:nvSpPr>
            <p:cNvPr id="832" name="Google Shape;832;p68"/>
            <p:cNvSpPr/>
            <p:nvPr/>
          </p:nvSpPr>
          <p:spPr>
            <a:xfrm>
              <a:off x="3023575" y="2990775"/>
              <a:ext cx="43500" cy="10575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3" name="Google Shape;833;p68"/>
            <p:cNvSpPr/>
            <p:nvPr/>
          </p:nvSpPr>
          <p:spPr>
            <a:xfrm>
              <a:off x="3023575" y="2980750"/>
              <a:ext cx="43500" cy="26700"/>
            </a:xfrm>
            <a:prstGeom prst="ellipse">
              <a:avLst/>
            </a:prstGeom>
            <a:solidFill>
              <a:srgbClr val="BF9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4" name="Google Shape;834;p68"/>
            <p:cNvSpPr/>
            <p:nvPr/>
          </p:nvSpPr>
          <p:spPr>
            <a:xfrm>
              <a:off x="3023575" y="4033250"/>
              <a:ext cx="43500" cy="26700"/>
            </a:xfrm>
            <a:prstGeom prst="ellipse">
              <a:avLst/>
            </a:prstGeom>
            <a:solidFill>
              <a:srgbClr val="BF9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35" name="Google Shape;835;p68"/>
          <p:cNvSpPr txBox="1"/>
          <p:nvPr/>
        </p:nvSpPr>
        <p:spPr>
          <a:xfrm flipH="1" rot="1923">
            <a:off x="330600" y="4253316"/>
            <a:ext cx="107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strand of spaghetti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69"/>
          <p:cNvSpPr txBox="1"/>
          <p:nvPr/>
        </p:nvSpPr>
        <p:spPr>
          <a:xfrm flipH="1" rot="2572">
            <a:off x="324121" y="665878"/>
            <a:ext cx="4411501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we know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modelled by right-angled triangles</a:t>
            </a:r>
            <a:endParaRPr/>
          </a:p>
        </p:txBody>
      </p:sp>
      <p:grpSp>
        <p:nvGrpSpPr>
          <p:cNvPr id="842" name="Google Shape;842;p69"/>
          <p:cNvGrpSpPr/>
          <p:nvPr/>
        </p:nvGrpSpPr>
        <p:grpSpPr>
          <a:xfrm>
            <a:off x="5587841" y="2728257"/>
            <a:ext cx="3163246" cy="1395874"/>
            <a:chOff x="2820561" y="1873957"/>
            <a:chExt cx="3163246" cy="1395874"/>
          </a:xfrm>
        </p:grpSpPr>
        <p:sp>
          <p:nvSpPr>
            <p:cNvPr id="843" name="Google Shape;843;p69"/>
            <p:cNvSpPr/>
            <p:nvPr/>
          </p:nvSpPr>
          <p:spPr>
            <a:xfrm flipH="1" rot="9489519">
              <a:off x="4621733" y="2120173"/>
              <a:ext cx="1358733" cy="257568"/>
            </a:xfrm>
            <a:prstGeom prst="diagStripe">
              <a:avLst>
                <a:gd fmla="val 68104" name="adj"/>
              </a:avLst>
            </a:prstGeom>
            <a:solidFill>
              <a:srgbClr val="434343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4" name="Google Shape;844;p69"/>
            <p:cNvSpPr/>
            <p:nvPr/>
          </p:nvSpPr>
          <p:spPr>
            <a:xfrm>
              <a:off x="4641607" y="2114401"/>
              <a:ext cx="1342200" cy="260400"/>
            </a:xfrm>
            <a:prstGeom prst="diagStripe">
              <a:avLst>
                <a:gd fmla="val 84995" name="adj"/>
              </a:avLst>
            </a:prstGeom>
            <a:solidFill>
              <a:srgbClr val="78787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5" name="Google Shape;845;p69"/>
            <p:cNvSpPr/>
            <p:nvPr/>
          </p:nvSpPr>
          <p:spPr>
            <a:xfrm>
              <a:off x="2820561" y="2827930"/>
              <a:ext cx="1868700" cy="441900"/>
            </a:xfrm>
            <a:prstGeom prst="ellipse">
              <a:avLst/>
            </a:prstGeom>
            <a:gradFill>
              <a:gsLst>
                <a:gs pos="0">
                  <a:srgbClr val="999999"/>
                </a:gs>
                <a:gs pos="49000">
                  <a:srgbClr val="434343"/>
                </a:gs>
                <a:gs pos="100000">
                  <a:srgbClr val="434343"/>
                </a:gs>
              </a:gsLst>
              <a:lin ang="0" scaled="0"/>
            </a:gra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6" name="Google Shape;846;p69"/>
            <p:cNvSpPr/>
            <p:nvPr/>
          </p:nvSpPr>
          <p:spPr>
            <a:xfrm>
              <a:off x="2820653" y="2200962"/>
              <a:ext cx="1868700" cy="841800"/>
            </a:xfrm>
            <a:prstGeom prst="rect">
              <a:avLst/>
            </a:prstGeom>
            <a:gradFill>
              <a:gsLst>
                <a:gs pos="0">
                  <a:srgbClr val="999999"/>
                </a:gs>
                <a:gs pos="49000">
                  <a:srgbClr val="434343"/>
                </a:gs>
                <a:gs pos="100000">
                  <a:srgbClr val="43434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7" name="Google Shape;847;p69"/>
            <p:cNvSpPr/>
            <p:nvPr/>
          </p:nvSpPr>
          <p:spPr>
            <a:xfrm>
              <a:off x="2820561" y="1968889"/>
              <a:ext cx="1868700" cy="441900"/>
            </a:xfrm>
            <a:prstGeom prst="ellipse">
              <a:avLst/>
            </a:prstGeom>
            <a:gradFill>
              <a:gsLst>
                <a:gs pos="0">
                  <a:srgbClr val="D9D9D9"/>
                </a:gs>
                <a:gs pos="62000">
                  <a:srgbClr val="808080"/>
                </a:gs>
                <a:gs pos="100000">
                  <a:srgbClr val="808080"/>
                </a:gs>
              </a:gsLst>
              <a:lin ang="8100019" scaled="0"/>
            </a:gra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48" name="Google Shape;848;p69"/>
            <p:cNvCxnSpPr/>
            <p:nvPr/>
          </p:nvCxnSpPr>
          <p:spPr>
            <a:xfrm>
              <a:off x="2820561" y="2200999"/>
              <a:ext cx="0" cy="84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49" name="Google Shape;849;p69"/>
            <p:cNvSpPr/>
            <p:nvPr/>
          </p:nvSpPr>
          <p:spPr>
            <a:xfrm rot="-6078596">
              <a:off x="5714197" y="2101673"/>
              <a:ext cx="26005" cy="85017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50" name="Google Shape;850;p69"/>
            <p:cNvCxnSpPr/>
            <p:nvPr/>
          </p:nvCxnSpPr>
          <p:spPr>
            <a:xfrm>
              <a:off x="4689114" y="2200999"/>
              <a:ext cx="0" cy="84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51" name="Google Shape;851;p69"/>
          <p:cNvGrpSpPr/>
          <p:nvPr/>
        </p:nvGrpSpPr>
        <p:grpSpPr>
          <a:xfrm>
            <a:off x="845180" y="2801423"/>
            <a:ext cx="43500" cy="1451416"/>
            <a:chOff x="3023575" y="2980750"/>
            <a:chExt cx="43500" cy="1079200"/>
          </a:xfrm>
        </p:grpSpPr>
        <p:sp>
          <p:nvSpPr>
            <p:cNvPr id="852" name="Google Shape;852;p69"/>
            <p:cNvSpPr/>
            <p:nvPr/>
          </p:nvSpPr>
          <p:spPr>
            <a:xfrm>
              <a:off x="3023575" y="2990775"/>
              <a:ext cx="43500" cy="10575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3" name="Google Shape;853;p69"/>
            <p:cNvSpPr/>
            <p:nvPr/>
          </p:nvSpPr>
          <p:spPr>
            <a:xfrm>
              <a:off x="3023575" y="2980750"/>
              <a:ext cx="43500" cy="26700"/>
            </a:xfrm>
            <a:prstGeom prst="ellipse">
              <a:avLst/>
            </a:prstGeom>
            <a:solidFill>
              <a:srgbClr val="BF9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4" name="Google Shape;854;p69"/>
            <p:cNvSpPr/>
            <p:nvPr/>
          </p:nvSpPr>
          <p:spPr>
            <a:xfrm>
              <a:off x="3023575" y="4033250"/>
              <a:ext cx="43500" cy="26700"/>
            </a:xfrm>
            <a:prstGeom prst="ellipse">
              <a:avLst/>
            </a:prstGeom>
            <a:solidFill>
              <a:srgbClr val="BF9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55" name="Google Shape;855;p69"/>
          <p:cNvSpPr txBox="1"/>
          <p:nvPr/>
        </p:nvSpPr>
        <p:spPr>
          <a:xfrm flipH="1" rot="1923">
            <a:off x="330600" y="4253316"/>
            <a:ext cx="107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strand of spaghetti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56" name="Google Shape;856;p69"/>
          <p:cNvCxnSpPr/>
          <p:nvPr/>
        </p:nvCxnSpPr>
        <p:spPr>
          <a:xfrm>
            <a:off x="5587850" y="4229975"/>
            <a:ext cx="18714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57" name="Google Shape;857;p69"/>
          <p:cNvSpPr txBox="1"/>
          <p:nvPr/>
        </p:nvSpPr>
        <p:spPr>
          <a:xfrm>
            <a:off x="5933130" y="4252125"/>
            <a:ext cx="1180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69"/>
          <p:cNvSpPr txBox="1"/>
          <p:nvPr/>
        </p:nvSpPr>
        <p:spPr>
          <a:xfrm flipH="1" rot="2549">
            <a:off x="324002" y="967016"/>
            <a:ext cx="8496002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its maximum length (the diameter of its circular base),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9" name="Google Shape;859;p69"/>
          <p:cNvGrpSpPr/>
          <p:nvPr/>
        </p:nvGrpSpPr>
        <p:grpSpPr>
          <a:xfrm>
            <a:off x="4631177" y="2990102"/>
            <a:ext cx="807075" cy="966765"/>
            <a:chOff x="5889400" y="3070525"/>
            <a:chExt cx="807075" cy="1871400"/>
          </a:xfrm>
        </p:grpSpPr>
        <p:cxnSp>
          <p:nvCxnSpPr>
            <p:cNvPr id="860" name="Google Shape;860;p69"/>
            <p:cNvCxnSpPr/>
            <p:nvPr/>
          </p:nvCxnSpPr>
          <p:spPr>
            <a:xfrm rot="5400000">
              <a:off x="5760775" y="4006225"/>
              <a:ext cx="18714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861" name="Google Shape;861;p69"/>
            <p:cNvSpPr txBox="1"/>
            <p:nvPr/>
          </p:nvSpPr>
          <p:spPr>
            <a:xfrm>
              <a:off x="5889400" y="3844375"/>
              <a:ext cx="8028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62" name="Google Shape;862;p69"/>
          <p:cNvSpPr txBox="1"/>
          <p:nvPr/>
        </p:nvSpPr>
        <p:spPr>
          <a:xfrm flipH="1" rot="2608">
            <a:off x="1616927" y="665395"/>
            <a:ext cx="3163201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height of the saucepan,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69"/>
          <p:cNvSpPr txBox="1"/>
          <p:nvPr/>
        </p:nvSpPr>
        <p:spPr>
          <a:xfrm flipH="1" rot="2549">
            <a:off x="324002" y="1269655"/>
            <a:ext cx="8496002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 calculate the maximum distance from one end of the saucepan to the diagonally opposite other end of it.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64" name="Google Shape;864;p69"/>
          <p:cNvCxnSpPr/>
          <p:nvPr/>
        </p:nvCxnSpPr>
        <p:spPr>
          <a:xfrm>
            <a:off x="5587856" y="3097085"/>
            <a:ext cx="1866000" cy="837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65" name="Google Shape;865;p69"/>
          <p:cNvSpPr txBox="1"/>
          <p:nvPr/>
        </p:nvSpPr>
        <p:spPr>
          <a:xfrm flipH="1" rot="2549">
            <a:off x="324002" y="1849193"/>
            <a:ext cx="8496002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if the strand of spaghetti is shorter than this distance, then it will fit in the pan.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6" name="Google Shape;866;p69"/>
          <p:cNvGrpSpPr/>
          <p:nvPr/>
        </p:nvGrpSpPr>
        <p:grpSpPr>
          <a:xfrm flipH="1">
            <a:off x="1050073" y="2772134"/>
            <a:ext cx="807075" cy="1451458"/>
            <a:chOff x="5889400" y="3070525"/>
            <a:chExt cx="807075" cy="1871400"/>
          </a:xfrm>
        </p:grpSpPr>
        <p:cxnSp>
          <p:nvCxnSpPr>
            <p:cNvPr id="867" name="Google Shape;867;p69"/>
            <p:cNvCxnSpPr/>
            <p:nvPr/>
          </p:nvCxnSpPr>
          <p:spPr>
            <a:xfrm rot="5400000">
              <a:off x="5760775" y="4006225"/>
              <a:ext cx="18714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868" name="Google Shape;868;p69"/>
            <p:cNvSpPr txBox="1"/>
            <p:nvPr/>
          </p:nvSpPr>
          <p:spPr>
            <a:xfrm>
              <a:off x="5889400" y="3844375"/>
              <a:ext cx="8028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28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70"/>
          <p:cNvSpPr txBox="1"/>
          <p:nvPr/>
        </p:nvSpPr>
        <p:spPr>
          <a:xfrm flipH="1" rot="3268">
            <a:off x="2316395" y="3612343"/>
            <a:ext cx="1262401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²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 25.1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0"/>
          <p:cNvSpPr txBox="1"/>
          <p:nvPr/>
        </p:nvSpPr>
        <p:spPr>
          <a:xfrm flipH="1" rot="2549">
            <a:off x="324074" y="667417"/>
            <a:ext cx="8496002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 model the saucepan as a right-angled triangle, with the height and maximum base of the saucepan represented by the two shorter sides of this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modelled by right-angled triangles</a:t>
            </a:r>
            <a:endParaRPr/>
          </a:p>
        </p:txBody>
      </p:sp>
      <p:grpSp>
        <p:nvGrpSpPr>
          <p:cNvPr id="876" name="Google Shape;876;p70"/>
          <p:cNvGrpSpPr/>
          <p:nvPr/>
        </p:nvGrpSpPr>
        <p:grpSpPr>
          <a:xfrm>
            <a:off x="5587841" y="2728257"/>
            <a:ext cx="3163246" cy="1395874"/>
            <a:chOff x="2820561" y="1873957"/>
            <a:chExt cx="3163246" cy="1395874"/>
          </a:xfrm>
        </p:grpSpPr>
        <p:sp>
          <p:nvSpPr>
            <p:cNvPr id="877" name="Google Shape;877;p70"/>
            <p:cNvSpPr/>
            <p:nvPr/>
          </p:nvSpPr>
          <p:spPr>
            <a:xfrm flipH="1" rot="9489519">
              <a:off x="4621733" y="2120173"/>
              <a:ext cx="1358733" cy="257568"/>
            </a:xfrm>
            <a:prstGeom prst="diagStripe">
              <a:avLst>
                <a:gd fmla="val 68104" name="adj"/>
              </a:avLst>
            </a:prstGeom>
            <a:solidFill>
              <a:srgbClr val="434343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8" name="Google Shape;878;p70"/>
            <p:cNvSpPr/>
            <p:nvPr/>
          </p:nvSpPr>
          <p:spPr>
            <a:xfrm>
              <a:off x="4641607" y="2114401"/>
              <a:ext cx="1342200" cy="260400"/>
            </a:xfrm>
            <a:prstGeom prst="diagStripe">
              <a:avLst>
                <a:gd fmla="val 84995" name="adj"/>
              </a:avLst>
            </a:prstGeom>
            <a:solidFill>
              <a:srgbClr val="78787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9" name="Google Shape;879;p70"/>
            <p:cNvSpPr/>
            <p:nvPr/>
          </p:nvSpPr>
          <p:spPr>
            <a:xfrm>
              <a:off x="2820561" y="2827930"/>
              <a:ext cx="1868700" cy="441900"/>
            </a:xfrm>
            <a:prstGeom prst="ellipse">
              <a:avLst/>
            </a:prstGeom>
            <a:gradFill>
              <a:gsLst>
                <a:gs pos="0">
                  <a:srgbClr val="999999"/>
                </a:gs>
                <a:gs pos="49000">
                  <a:srgbClr val="434343"/>
                </a:gs>
                <a:gs pos="100000">
                  <a:srgbClr val="434343"/>
                </a:gs>
              </a:gsLst>
              <a:lin ang="0" scaled="0"/>
            </a:gra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0" name="Google Shape;880;p70"/>
            <p:cNvSpPr/>
            <p:nvPr/>
          </p:nvSpPr>
          <p:spPr>
            <a:xfrm>
              <a:off x="2820653" y="2200962"/>
              <a:ext cx="1868700" cy="841800"/>
            </a:xfrm>
            <a:prstGeom prst="rect">
              <a:avLst/>
            </a:prstGeom>
            <a:gradFill>
              <a:gsLst>
                <a:gs pos="0">
                  <a:srgbClr val="999999"/>
                </a:gs>
                <a:gs pos="49000">
                  <a:srgbClr val="434343"/>
                </a:gs>
                <a:gs pos="100000">
                  <a:srgbClr val="43434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1" name="Google Shape;881;p70"/>
            <p:cNvSpPr/>
            <p:nvPr/>
          </p:nvSpPr>
          <p:spPr>
            <a:xfrm>
              <a:off x="2820561" y="1968889"/>
              <a:ext cx="1868700" cy="441900"/>
            </a:xfrm>
            <a:prstGeom prst="ellipse">
              <a:avLst/>
            </a:prstGeom>
            <a:gradFill>
              <a:gsLst>
                <a:gs pos="0">
                  <a:srgbClr val="D9D9D9"/>
                </a:gs>
                <a:gs pos="62000">
                  <a:srgbClr val="808080"/>
                </a:gs>
                <a:gs pos="100000">
                  <a:srgbClr val="808080"/>
                </a:gs>
              </a:gsLst>
              <a:lin ang="8100019" scaled="0"/>
            </a:gra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82" name="Google Shape;882;p70"/>
            <p:cNvCxnSpPr/>
            <p:nvPr/>
          </p:nvCxnSpPr>
          <p:spPr>
            <a:xfrm>
              <a:off x="2820561" y="2200999"/>
              <a:ext cx="0" cy="84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83" name="Google Shape;883;p70"/>
            <p:cNvSpPr/>
            <p:nvPr/>
          </p:nvSpPr>
          <p:spPr>
            <a:xfrm rot="-6078596">
              <a:off x="5714197" y="2101673"/>
              <a:ext cx="26005" cy="85017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84" name="Google Shape;884;p70"/>
            <p:cNvCxnSpPr/>
            <p:nvPr/>
          </p:nvCxnSpPr>
          <p:spPr>
            <a:xfrm>
              <a:off x="4689114" y="2200999"/>
              <a:ext cx="0" cy="84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885" name="Google Shape;885;p70"/>
          <p:cNvCxnSpPr/>
          <p:nvPr/>
        </p:nvCxnSpPr>
        <p:spPr>
          <a:xfrm>
            <a:off x="5587850" y="4229975"/>
            <a:ext cx="18714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86" name="Google Shape;886;p70"/>
          <p:cNvSpPr txBox="1"/>
          <p:nvPr/>
        </p:nvSpPr>
        <p:spPr>
          <a:xfrm>
            <a:off x="5933130" y="4252125"/>
            <a:ext cx="1180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87" name="Google Shape;887;p70"/>
          <p:cNvGrpSpPr/>
          <p:nvPr/>
        </p:nvGrpSpPr>
        <p:grpSpPr>
          <a:xfrm>
            <a:off x="4631177" y="2990102"/>
            <a:ext cx="807075" cy="966765"/>
            <a:chOff x="5889400" y="3070525"/>
            <a:chExt cx="807075" cy="1871400"/>
          </a:xfrm>
        </p:grpSpPr>
        <p:cxnSp>
          <p:nvCxnSpPr>
            <p:cNvPr id="888" name="Google Shape;888;p70"/>
            <p:cNvCxnSpPr/>
            <p:nvPr/>
          </p:nvCxnSpPr>
          <p:spPr>
            <a:xfrm rot="5400000">
              <a:off x="5760775" y="4006225"/>
              <a:ext cx="18714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889" name="Google Shape;889;p70"/>
            <p:cNvSpPr txBox="1"/>
            <p:nvPr/>
          </p:nvSpPr>
          <p:spPr>
            <a:xfrm>
              <a:off x="5889400" y="3844375"/>
              <a:ext cx="8028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90" name="Google Shape;890;p70"/>
          <p:cNvSpPr/>
          <p:nvPr/>
        </p:nvSpPr>
        <p:spPr>
          <a:xfrm>
            <a:off x="5523725" y="2544875"/>
            <a:ext cx="3296400" cy="161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1" name="Google Shape;891;p70"/>
          <p:cNvCxnSpPr/>
          <p:nvPr/>
        </p:nvCxnSpPr>
        <p:spPr>
          <a:xfrm>
            <a:off x="5587856" y="3097085"/>
            <a:ext cx="1866000" cy="837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92" name="Google Shape;892;p70"/>
          <p:cNvSpPr/>
          <p:nvPr/>
        </p:nvSpPr>
        <p:spPr>
          <a:xfrm>
            <a:off x="5641250" y="3236043"/>
            <a:ext cx="1755900" cy="801900"/>
          </a:xfrm>
          <a:prstGeom prst="rtTriangle">
            <a:avLst/>
          </a:prstGeom>
          <a:solidFill>
            <a:srgbClr val="EBEDFE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3" name="Google Shape;893;p70"/>
          <p:cNvGrpSpPr/>
          <p:nvPr/>
        </p:nvGrpSpPr>
        <p:grpSpPr>
          <a:xfrm>
            <a:off x="4631177" y="3235867"/>
            <a:ext cx="807075" cy="801895"/>
            <a:chOff x="5889400" y="3070525"/>
            <a:chExt cx="807075" cy="1871400"/>
          </a:xfrm>
        </p:grpSpPr>
        <p:cxnSp>
          <p:nvCxnSpPr>
            <p:cNvPr id="894" name="Google Shape;894;p70"/>
            <p:cNvCxnSpPr/>
            <p:nvPr/>
          </p:nvCxnSpPr>
          <p:spPr>
            <a:xfrm rot="5400000">
              <a:off x="5760775" y="4006225"/>
              <a:ext cx="18714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895" name="Google Shape;895;p70"/>
            <p:cNvSpPr txBox="1"/>
            <p:nvPr/>
          </p:nvSpPr>
          <p:spPr>
            <a:xfrm>
              <a:off x="5889400" y="3844375"/>
              <a:ext cx="8028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96" name="Google Shape;896;p70"/>
          <p:cNvSpPr txBox="1"/>
          <p:nvPr/>
        </p:nvSpPr>
        <p:spPr>
          <a:xfrm flipH="1" rot="2549">
            <a:off x="323999" y="1562817"/>
            <a:ext cx="8496002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maximum distance of the saucepan is the hypotenuse of this right-angled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7" name="Google Shape;897;p70"/>
          <p:cNvCxnSpPr/>
          <p:nvPr/>
        </p:nvCxnSpPr>
        <p:spPr>
          <a:xfrm>
            <a:off x="5624867" y="3101994"/>
            <a:ext cx="1866000" cy="837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98" name="Google Shape;898;p70"/>
          <p:cNvSpPr/>
          <p:nvPr/>
        </p:nvSpPr>
        <p:spPr>
          <a:xfrm>
            <a:off x="5641250" y="3858050"/>
            <a:ext cx="179700" cy="17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9" name="Google Shape;899;p70"/>
          <p:cNvGrpSpPr/>
          <p:nvPr/>
        </p:nvGrpSpPr>
        <p:grpSpPr>
          <a:xfrm>
            <a:off x="4606119" y="3772038"/>
            <a:ext cx="2998504" cy="1031520"/>
            <a:chOff x="4606119" y="3772038"/>
            <a:chExt cx="2998504" cy="1031520"/>
          </a:xfrm>
        </p:grpSpPr>
        <p:sp>
          <p:nvSpPr>
            <p:cNvPr id="900" name="Google Shape;900;p70"/>
            <p:cNvSpPr txBox="1"/>
            <p:nvPr/>
          </p:nvSpPr>
          <p:spPr>
            <a:xfrm flipH="1" rot="2556">
              <a:off x="4606119" y="3772338"/>
              <a:ext cx="80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height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1" name="Google Shape;901;p70"/>
            <p:cNvSpPr txBox="1"/>
            <p:nvPr/>
          </p:nvSpPr>
          <p:spPr>
            <a:xfrm flipH="1" rot="2385">
              <a:off x="5442523" y="4525608"/>
              <a:ext cx="2162101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maximum base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02" name="Google Shape;902;p70"/>
          <p:cNvSpPr txBox="1"/>
          <p:nvPr/>
        </p:nvSpPr>
        <p:spPr>
          <a:xfrm flipH="1" rot="1454681">
            <a:off x="5570131" y="3147686"/>
            <a:ext cx="2127440" cy="338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hypotenuse (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0"/>
          <p:cNvSpPr txBox="1"/>
          <p:nvPr/>
        </p:nvSpPr>
        <p:spPr>
          <a:xfrm flipH="1" rot="3044">
            <a:off x="1085400" y="2329850"/>
            <a:ext cx="2032501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12²  +  22²  = 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0"/>
          <p:cNvSpPr txBox="1"/>
          <p:nvPr/>
        </p:nvSpPr>
        <p:spPr>
          <a:xfrm flipH="1" rot="3044">
            <a:off x="1085400" y="2757475"/>
            <a:ext cx="2032501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628  = 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0"/>
          <p:cNvSpPr txBox="1"/>
          <p:nvPr/>
        </p:nvSpPr>
        <p:spPr>
          <a:xfrm flipH="1" rot="3044">
            <a:off x="2316438" y="3185100"/>
            <a:ext cx="2032501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²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   628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0"/>
          <p:cNvSpPr txBox="1"/>
          <p:nvPr/>
        </p:nvSpPr>
        <p:spPr>
          <a:xfrm flipH="1" rot="3275">
            <a:off x="415496" y="4150302"/>
            <a:ext cx="4408502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maximum distance from one end of the saucepan to the other is 25.1 cm.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\ \ \ \ \ \ \ \ \ \ \ \ \ \ \ \ \ \ \ \ \ \ \ \ \ \ \ \ \ \ \ \ \ \ \ \ \ 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907" name="Google Shape;907;p70" title="the square root of"/>
          <p:cNvPicPr preferRelativeResize="0"/>
          <p:nvPr/>
        </p:nvPicPr>
        <p:blipFill rotWithShape="1">
          <a:blip r:embed="rId3">
            <a:alphaModFix/>
          </a:blip>
          <a:srcRect b="10" l="0" r="83737" t="0"/>
          <a:stretch/>
        </p:blipFill>
        <p:spPr>
          <a:xfrm>
            <a:off x="2844011" y="3220498"/>
            <a:ext cx="598574" cy="26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modelled by right-angled triangles</a:t>
            </a:r>
            <a:endParaRPr/>
          </a:p>
        </p:txBody>
      </p:sp>
      <p:cxnSp>
        <p:nvCxnSpPr>
          <p:cNvPr id="913" name="Google Shape;913;p71"/>
          <p:cNvCxnSpPr/>
          <p:nvPr/>
        </p:nvCxnSpPr>
        <p:spPr>
          <a:xfrm>
            <a:off x="5587850" y="4229975"/>
            <a:ext cx="18714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14" name="Google Shape;914;p71"/>
          <p:cNvSpPr txBox="1"/>
          <p:nvPr/>
        </p:nvSpPr>
        <p:spPr>
          <a:xfrm>
            <a:off x="5933130" y="4252125"/>
            <a:ext cx="1180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1"/>
          <p:cNvSpPr/>
          <p:nvPr/>
        </p:nvSpPr>
        <p:spPr>
          <a:xfrm>
            <a:off x="5641250" y="3236043"/>
            <a:ext cx="1755900" cy="801900"/>
          </a:xfrm>
          <a:prstGeom prst="rtTriangle">
            <a:avLst/>
          </a:prstGeom>
          <a:solidFill>
            <a:srgbClr val="EBEDFE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6" name="Google Shape;916;p71"/>
          <p:cNvGrpSpPr/>
          <p:nvPr/>
        </p:nvGrpSpPr>
        <p:grpSpPr>
          <a:xfrm>
            <a:off x="4631177" y="3235867"/>
            <a:ext cx="807075" cy="801895"/>
            <a:chOff x="5889400" y="3070525"/>
            <a:chExt cx="807075" cy="1871400"/>
          </a:xfrm>
        </p:grpSpPr>
        <p:cxnSp>
          <p:nvCxnSpPr>
            <p:cNvPr id="917" name="Google Shape;917;p71"/>
            <p:cNvCxnSpPr/>
            <p:nvPr/>
          </p:nvCxnSpPr>
          <p:spPr>
            <a:xfrm rot="5400000">
              <a:off x="5760775" y="4006225"/>
              <a:ext cx="18714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18" name="Google Shape;918;p71"/>
            <p:cNvSpPr txBox="1"/>
            <p:nvPr/>
          </p:nvSpPr>
          <p:spPr>
            <a:xfrm>
              <a:off x="5889400" y="3844375"/>
              <a:ext cx="8028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919" name="Google Shape;919;p71"/>
          <p:cNvCxnSpPr/>
          <p:nvPr/>
        </p:nvCxnSpPr>
        <p:spPr>
          <a:xfrm>
            <a:off x="5624867" y="3101994"/>
            <a:ext cx="1866000" cy="837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20" name="Google Shape;920;p71"/>
          <p:cNvSpPr/>
          <p:nvPr/>
        </p:nvSpPr>
        <p:spPr>
          <a:xfrm>
            <a:off x="5641250" y="3858050"/>
            <a:ext cx="179700" cy="17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1" name="Google Shape;921;p71"/>
          <p:cNvGrpSpPr/>
          <p:nvPr/>
        </p:nvGrpSpPr>
        <p:grpSpPr>
          <a:xfrm>
            <a:off x="4606119" y="3772038"/>
            <a:ext cx="2998504" cy="1031520"/>
            <a:chOff x="4606119" y="3772038"/>
            <a:chExt cx="2998504" cy="1031520"/>
          </a:xfrm>
        </p:grpSpPr>
        <p:sp>
          <p:nvSpPr>
            <p:cNvPr id="922" name="Google Shape;922;p71"/>
            <p:cNvSpPr txBox="1"/>
            <p:nvPr/>
          </p:nvSpPr>
          <p:spPr>
            <a:xfrm flipH="1" rot="2556">
              <a:off x="4606119" y="3772338"/>
              <a:ext cx="80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height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3" name="Google Shape;923;p71"/>
            <p:cNvSpPr txBox="1"/>
            <p:nvPr/>
          </p:nvSpPr>
          <p:spPr>
            <a:xfrm flipH="1" rot="2385">
              <a:off x="5442523" y="4525608"/>
              <a:ext cx="2162101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maximum base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24" name="Google Shape;924;p71"/>
          <p:cNvSpPr txBox="1"/>
          <p:nvPr/>
        </p:nvSpPr>
        <p:spPr>
          <a:xfrm flipH="1" rot="1454549">
            <a:off x="5449587" y="3150402"/>
            <a:ext cx="2393575" cy="277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hypotenuse (25.1 cm)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5" name="Google Shape;925;p71"/>
          <p:cNvGrpSpPr/>
          <p:nvPr/>
        </p:nvGrpSpPr>
        <p:grpSpPr>
          <a:xfrm>
            <a:off x="845180" y="2801423"/>
            <a:ext cx="43500" cy="1451416"/>
            <a:chOff x="3023575" y="2980750"/>
            <a:chExt cx="43500" cy="1079200"/>
          </a:xfrm>
        </p:grpSpPr>
        <p:sp>
          <p:nvSpPr>
            <p:cNvPr id="926" name="Google Shape;926;p71"/>
            <p:cNvSpPr/>
            <p:nvPr/>
          </p:nvSpPr>
          <p:spPr>
            <a:xfrm>
              <a:off x="3023575" y="2990775"/>
              <a:ext cx="43500" cy="10575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7" name="Google Shape;927;p71"/>
            <p:cNvSpPr/>
            <p:nvPr/>
          </p:nvSpPr>
          <p:spPr>
            <a:xfrm>
              <a:off x="3023575" y="2980750"/>
              <a:ext cx="43500" cy="26700"/>
            </a:xfrm>
            <a:prstGeom prst="ellipse">
              <a:avLst/>
            </a:prstGeom>
            <a:solidFill>
              <a:srgbClr val="BF9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8" name="Google Shape;928;p71"/>
            <p:cNvSpPr/>
            <p:nvPr/>
          </p:nvSpPr>
          <p:spPr>
            <a:xfrm>
              <a:off x="3023575" y="4033250"/>
              <a:ext cx="43500" cy="26700"/>
            </a:xfrm>
            <a:prstGeom prst="ellipse">
              <a:avLst/>
            </a:prstGeom>
            <a:solidFill>
              <a:srgbClr val="BF9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29" name="Google Shape;929;p71"/>
          <p:cNvSpPr txBox="1"/>
          <p:nvPr/>
        </p:nvSpPr>
        <p:spPr>
          <a:xfrm flipH="1" rot="1923">
            <a:off x="330600" y="4253316"/>
            <a:ext cx="107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strand of spaghetti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0" name="Google Shape;930;p71"/>
          <p:cNvGrpSpPr/>
          <p:nvPr/>
        </p:nvGrpSpPr>
        <p:grpSpPr>
          <a:xfrm flipH="1">
            <a:off x="1050073" y="2772134"/>
            <a:ext cx="807075" cy="1451458"/>
            <a:chOff x="5889400" y="3070525"/>
            <a:chExt cx="807075" cy="1871400"/>
          </a:xfrm>
        </p:grpSpPr>
        <p:cxnSp>
          <p:nvCxnSpPr>
            <p:cNvPr id="931" name="Google Shape;931;p71"/>
            <p:cNvCxnSpPr/>
            <p:nvPr/>
          </p:nvCxnSpPr>
          <p:spPr>
            <a:xfrm rot="5400000">
              <a:off x="5760775" y="4006225"/>
              <a:ext cx="18714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32" name="Google Shape;932;p71"/>
            <p:cNvSpPr txBox="1"/>
            <p:nvPr/>
          </p:nvSpPr>
          <p:spPr>
            <a:xfrm>
              <a:off x="5889400" y="3844375"/>
              <a:ext cx="8028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28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33" name="Google Shape;933;p71"/>
          <p:cNvSpPr/>
          <p:nvPr/>
        </p:nvSpPr>
        <p:spPr>
          <a:xfrm>
            <a:off x="4507475" y="2516450"/>
            <a:ext cx="4583400" cy="233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4" name="Google Shape;934;p71"/>
          <p:cNvGrpSpPr/>
          <p:nvPr/>
        </p:nvGrpSpPr>
        <p:grpSpPr>
          <a:xfrm>
            <a:off x="5626891" y="2771296"/>
            <a:ext cx="3163246" cy="1395874"/>
            <a:chOff x="6583961" y="2804457"/>
            <a:chExt cx="3163246" cy="1395874"/>
          </a:xfrm>
        </p:grpSpPr>
        <p:grpSp>
          <p:nvGrpSpPr>
            <p:cNvPr id="935" name="Google Shape;935;p71"/>
            <p:cNvGrpSpPr/>
            <p:nvPr/>
          </p:nvGrpSpPr>
          <p:grpSpPr>
            <a:xfrm>
              <a:off x="6583961" y="2804457"/>
              <a:ext cx="3163246" cy="1395874"/>
              <a:chOff x="6583961" y="2804457"/>
              <a:chExt cx="3163246" cy="1395874"/>
            </a:xfrm>
          </p:grpSpPr>
          <p:sp>
            <p:nvSpPr>
              <p:cNvPr id="936" name="Google Shape;936;p71"/>
              <p:cNvSpPr/>
              <p:nvPr/>
            </p:nvSpPr>
            <p:spPr>
              <a:xfrm flipH="1" rot="9489519">
                <a:off x="8385133" y="3050673"/>
                <a:ext cx="1358733" cy="257568"/>
              </a:xfrm>
              <a:prstGeom prst="diagStripe">
                <a:avLst>
                  <a:gd fmla="val 68104" name="adj"/>
                </a:avLst>
              </a:prstGeom>
              <a:solidFill>
                <a:srgbClr val="434343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7" name="Google Shape;937;p71"/>
              <p:cNvSpPr/>
              <p:nvPr/>
            </p:nvSpPr>
            <p:spPr>
              <a:xfrm>
                <a:off x="8405007" y="3044901"/>
                <a:ext cx="1342200" cy="260400"/>
              </a:xfrm>
              <a:prstGeom prst="diagStripe">
                <a:avLst>
                  <a:gd fmla="val 84995" name="adj"/>
                </a:avLst>
              </a:prstGeom>
              <a:solidFill>
                <a:srgbClr val="787878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938" name="Google Shape;938;p71"/>
              <p:cNvGrpSpPr/>
              <p:nvPr/>
            </p:nvGrpSpPr>
            <p:grpSpPr>
              <a:xfrm>
                <a:off x="6583961" y="2899389"/>
                <a:ext cx="1868792" cy="1300942"/>
                <a:chOff x="6583961" y="2899389"/>
                <a:chExt cx="1868792" cy="1300942"/>
              </a:xfrm>
            </p:grpSpPr>
            <p:sp>
              <p:nvSpPr>
                <p:cNvPr id="939" name="Google Shape;939;p71"/>
                <p:cNvSpPr/>
                <p:nvPr/>
              </p:nvSpPr>
              <p:spPr>
                <a:xfrm>
                  <a:off x="6583961" y="3758430"/>
                  <a:ext cx="1868700" cy="441900"/>
                </a:xfrm>
                <a:prstGeom prst="ellipse">
                  <a:avLst/>
                </a:prstGeom>
                <a:gradFill>
                  <a:gsLst>
                    <a:gs pos="0">
                      <a:srgbClr val="999999"/>
                    </a:gs>
                    <a:gs pos="49000">
                      <a:srgbClr val="434343"/>
                    </a:gs>
                    <a:gs pos="100000">
                      <a:srgbClr val="434343"/>
                    </a:gs>
                  </a:gsLst>
                  <a:lin ang="0" scaled="0"/>
                </a:gra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940" name="Google Shape;940;p71"/>
                <p:cNvSpPr/>
                <p:nvPr/>
              </p:nvSpPr>
              <p:spPr>
                <a:xfrm>
                  <a:off x="6584053" y="3131462"/>
                  <a:ext cx="1868700" cy="841800"/>
                </a:xfrm>
                <a:prstGeom prst="rect">
                  <a:avLst/>
                </a:prstGeom>
                <a:gradFill>
                  <a:gsLst>
                    <a:gs pos="0">
                      <a:srgbClr val="999999"/>
                    </a:gs>
                    <a:gs pos="49000">
                      <a:srgbClr val="434343"/>
                    </a:gs>
                    <a:gs pos="100000">
                      <a:srgbClr val="43434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cxnSp>
              <p:nvCxnSpPr>
                <p:cNvPr id="941" name="Google Shape;941;p71"/>
                <p:cNvCxnSpPr/>
                <p:nvPr/>
              </p:nvCxnSpPr>
              <p:spPr>
                <a:xfrm>
                  <a:off x="6583961" y="3131499"/>
                  <a:ext cx="0" cy="8418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942" name="Google Shape;942;p71"/>
                <p:cNvSpPr/>
                <p:nvPr/>
              </p:nvSpPr>
              <p:spPr>
                <a:xfrm>
                  <a:off x="6583961" y="2899389"/>
                  <a:ext cx="1868700" cy="441900"/>
                </a:xfrm>
                <a:prstGeom prst="ellipse">
                  <a:avLst/>
                </a:prstGeom>
                <a:gradFill>
                  <a:gsLst>
                    <a:gs pos="0">
                      <a:srgbClr val="D9D9D9"/>
                    </a:gs>
                    <a:gs pos="62000">
                      <a:srgbClr val="808080"/>
                    </a:gs>
                    <a:gs pos="100000">
                      <a:srgbClr val="808080"/>
                    </a:gs>
                  </a:gsLst>
                  <a:lin ang="8100019" scaled="0"/>
                </a:gra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943" name="Google Shape;943;p71"/>
              <p:cNvSpPr/>
              <p:nvPr/>
            </p:nvSpPr>
            <p:spPr>
              <a:xfrm rot="-6078596">
                <a:off x="9477597" y="3032173"/>
                <a:ext cx="26005" cy="85017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944" name="Google Shape;944;p71"/>
            <p:cNvCxnSpPr/>
            <p:nvPr/>
          </p:nvCxnSpPr>
          <p:spPr>
            <a:xfrm>
              <a:off x="8452514" y="3131499"/>
              <a:ext cx="0" cy="84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45" name="Google Shape;945;p71"/>
          <p:cNvGrpSpPr/>
          <p:nvPr/>
        </p:nvGrpSpPr>
        <p:grpSpPr>
          <a:xfrm rot="3846797">
            <a:off x="6704327" y="2234345"/>
            <a:ext cx="43710" cy="2405891"/>
            <a:chOff x="3023575" y="2980750"/>
            <a:chExt cx="43500" cy="1079200"/>
          </a:xfrm>
        </p:grpSpPr>
        <p:sp>
          <p:nvSpPr>
            <p:cNvPr id="946" name="Google Shape;946;p71"/>
            <p:cNvSpPr/>
            <p:nvPr/>
          </p:nvSpPr>
          <p:spPr>
            <a:xfrm>
              <a:off x="3023575" y="2990775"/>
              <a:ext cx="43500" cy="10575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7" name="Google Shape;947;p71"/>
            <p:cNvSpPr/>
            <p:nvPr/>
          </p:nvSpPr>
          <p:spPr>
            <a:xfrm>
              <a:off x="3023575" y="2980750"/>
              <a:ext cx="43500" cy="26700"/>
            </a:xfrm>
            <a:prstGeom prst="ellipse">
              <a:avLst/>
            </a:prstGeom>
            <a:solidFill>
              <a:srgbClr val="BF9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8" name="Google Shape;948;p71"/>
            <p:cNvSpPr/>
            <p:nvPr/>
          </p:nvSpPr>
          <p:spPr>
            <a:xfrm>
              <a:off x="3023575" y="4033250"/>
              <a:ext cx="43500" cy="26700"/>
            </a:xfrm>
            <a:prstGeom prst="ellipse">
              <a:avLst/>
            </a:prstGeom>
            <a:solidFill>
              <a:srgbClr val="BF9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49" name="Google Shape;949;p71"/>
          <p:cNvSpPr/>
          <p:nvPr/>
        </p:nvSpPr>
        <p:spPr>
          <a:xfrm rot="3825629">
            <a:off x="7537060" y="2708602"/>
            <a:ext cx="118066" cy="326294"/>
          </a:xfrm>
          <a:prstGeom prst="leftBrace">
            <a:avLst>
              <a:gd fmla="val 32386" name="adj1"/>
              <a:gd fmla="val 49761" name="adj2"/>
            </a:avLst>
          </a:prstGeom>
          <a:noFill/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1"/>
          <p:cNvSpPr txBox="1"/>
          <p:nvPr/>
        </p:nvSpPr>
        <p:spPr>
          <a:xfrm flipH="1" rot="2546">
            <a:off x="5433600" y="2301940"/>
            <a:ext cx="3240301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2.9 cm not submerged into saucepan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1"/>
          <p:cNvSpPr txBox="1"/>
          <p:nvPr/>
        </p:nvSpPr>
        <p:spPr>
          <a:xfrm flipH="1" rot="2549">
            <a:off x="324074" y="667417"/>
            <a:ext cx="8496002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because the length of the spaghetti strand is 28 cm, it is longer than the hypotenuse of this right-angled triangle (25.1 cm).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means it will not fully fit in the pan - there will be a small part of the spaghetti that won’t be submerged in water, and therefore won’t cook evenly.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72"/>
          <p:cNvSpPr txBox="1"/>
          <p:nvPr/>
        </p:nvSpPr>
        <p:spPr>
          <a:xfrm flipH="1">
            <a:off x="4493895" y="3516150"/>
            <a:ext cx="7572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2"/>
          <p:cNvSpPr txBox="1"/>
          <p:nvPr/>
        </p:nvSpPr>
        <p:spPr>
          <a:xfrm flipH="1">
            <a:off x="3364395" y="4543375"/>
            <a:ext cx="7572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modelled by right-angled triangles</a:t>
            </a:r>
            <a:endParaRPr/>
          </a:p>
        </p:txBody>
      </p:sp>
      <p:pic>
        <p:nvPicPr>
          <p:cNvPr id="959" name="Google Shape;95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1" y="613501"/>
            <a:ext cx="650950" cy="814025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72"/>
          <p:cNvSpPr/>
          <p:nvPr/>
        </p:nvSpPr>
        <p:spPr>
          <a:xfrm>
            <a:off x="6942676" y="3952552"/>
            <a:ext cx="1088100" cy="568200"/>
          </a:xfrm>
          <a:prstGeom prst="ellipse">
            <a:avLst/>
          </a:prstGeom>
          <a:gradFill>
            <a:gsLst>
              <a:gs pos="0">
                <a:srgbClr val="9FC5E8"/>
              </a:gs>
              <a:gs pos="49000">
                <a:srgbClr val="0B5394"/>
              </a:gs>
              <a:gs pos="100000">
                <a:srgbClr val="073763"/>
              </a:gs>
            </a:gsLst>
            <a:lin ang="0" scaled="0"/>
          </a:gra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2"/>
          <p:cNvSpPr/>
          <p:nvPr/>
        </p:nvSpPr>
        <p:spPr>
          <a:xfrm>
            <a:off x="6942729" y="3146517"/>
            <a:ext cx="1088100" cy="1082100"/>
          </a:xfrm>
          <a:prstGeom prst="rect">
            <a:avLst/>
          </a:prstGeom>
          <a:gradFill>
            <a:gsLst>
              <a:gs pos="0">
                <a:srgbClr val="9FC5E8"/>
              </a:gs>
              <a:gs pos="49000">
                <a:srgbClr val="0B5394"/>
              </a:gs>
              <a:gs pos="100000">
                <a:srgbClr val="07376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2"/>
          <p:cNvSpPr/>
          <p:nvPr/>
        </p:nvSpPr>
        <p:spPr>
          <a:xfrm>
            <a:off x="6942676" y="2848162"/>
            <a:ext cx="1088100" cy="568200"/>
          </a:xfrm>
          <a:prstGeom prst="ellipse">
            <a:avLst/>
          </a:prstGeom>
          <a:gradFill>
            <a:gsLst>
              <a:gs pos="0">
                <a:srgbClr val="CFE2F3"/>
              </a:gs>
              <a:gs pos="62000">
                <a:srgbClr val="073763"/>
              </a:gs>
              <a:gs pos="100000">
                <a:srgbClr val="073763"/>
              </a:gs>
            </a:gsLst>
            <a:lin ang="8100019" scaled="0"/>
          </a:gra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3" name="Google Shape;963;p72"/>
          <p:cNvCxnSpPr/>
          <p:nvPr/>
        </p:nvCxnSpPr>
        <p:spPr>
          <a:xfrm>
            <a:off x="8031090" y="3146565"/>
            <a:ext cx="0" cy="1082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4" name="Google Shape;964;p72"/>
          <p:cNvCxnSpPr/>
          <p:nvPr/>
        </p:nvCxnSpPr>
        <p:spPr>
          <a:xfrm>
            <a:off x="6942746" y="3146565"/>
            <a:ext cx="0" cy="1082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65" name="Google Shape;965;p72"/>
          <p:cNvPicPr preferRelativeResize="0"/>
          <p:nvPr/>
        </p:nvPicPr>
        <p:blipFill rotWithShape="1">
          <a:blip r:embed="rId4">
            <a:alphaModFix/>
          </a:blip>
          <a:srcRect b="9364" l="27597" r="27534" t="12203"/>
          <a:stretch/>
        </p:blipFill>
        <p:spPr>
          <a:xfrm rot="-9181200">
            <a:off x="6226086" y="2903043"/>
            <a:ext cx="830040" cy="14543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6" name="Google Shape;966;p72"/>
          <p:cNvGrpSpPr/>
          <p:nvPr/>
        </p:nvGrpSpPr>
        <p:grpSpPr>
          <a:xfrm flipH="1">
            <a:off x="6942565" y="4602923"/>
            <a:ext cx="1088406" cy="262915"/>
            <a:chOff x="5587850" y="4229975"/>
            <a:chExt cx="1871400" cy="345850"/>
          </a:xfrm>
        </p:grpSpPr>
        <p:cxnSp>
          <p:nvCxnSpPr>
            <p:cNvPr id="967" name="Google Shape;967;p72"/>
            <p:cNvCxnSpPr/>
            <p:nvPr/>
          </p:nvCxnSpPr>
          <p:spPr>
            <a:xfrm>
              <a:off x="5587850" y="4229975"/>
              <a:ext cx="18714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68" name="Google Shape;968;p72"/>
            <p:cNvSpPr txBox="1"/>
            <p:nvPr/>
          </p:nvSpPr>
          <p:spPr>
            <a:xfrm>
              <a:off x="5933130" y="4252125"/>
              <a:ext cx="11808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9" name="Google Shape;969;p72"/>
          <p:cNvGrpSpPr/>
          <p:nvPr/>
        </p:nvGrpSpPr>
        <p:grpSpPr>
          <a:xfrm flipH="1">
            <a:off x="8105386" y="3154492"/>
            <a:ext cx="757159" cy="1155777"/>
            <a:chOff x="5738204" y="3070525"/>
            <a:chExt cx="996000" cy="1871400"/>
          </a:xfrm>
        </p:grpSpPr>
        <p:cxnSp>
          <p:nvCxnSpPr>
            <p:cNvPr id="970" name="Google Shape;970;p72"/>
            <p:cNvCxnSpPr/>
            <p:nvPr/>
          </p:nvCxnSpPr>
          <p:spPr>
            <a:xfrm rot="5400000">
              <a:off x="5760775" y="4006225"/>
              <a:ext cx="18714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71" name="Google Shape;971;p72"/>
            <p:cNvSpPr txBox="1"/>
            <p:nvPr/>
          </p:nvSpPr>
          <p:spPr>
            <a:xfrm>
              <a:off x="5738204" y="3844379"/>
              <a:ext cx="9960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11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2" name="Google Shape;972;p72"/>
          <p:cNvGrpSpPr/>
          <p:nvPr/>
        </p:nvGrpSpPr>
        <p:grpSpPr>
          <a:xfrm>
            <a:off x="5699512" y="2944124"/>
            <a:ext cx="760414" cy="1450335"/>
            <a:chOff x="5696193" y="3070525"/>
            <a:chExt cx="1000282" cy="1871400"/>
          </a:xfrm>
        </p:grpSpPr>
        <p:cxnSp>
          <p:nvCxnSpPr>
            <p:cNvPr id="973" name="Google Shape;973;p72"/>
            <p:cNvCxnSpPr/>
            <p:nvPr/>
          </p:nvCxnSpPr>
          <p:spPr>
            <a:xfrm rot="5400000">
              <a:off x="5760775" y="4006225"/>
              <a:ext cx="18714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74" name="Google Shape;974;p72"/>
            <p:cNvSpPr txBox="1"/>
            <p:nvPr/>
          </p:nvSpPr>
          <p:spPr>
            <a:xfrm>
              <a:off x="5696193" y="3844364"/>
              <a:ext cx="9960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14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5" name="Google Shape;975;p72"/>
          <p:cNvSpPr txBox="1"/>
          <p:nvPr/>
        </p:nvSpPr>
        <p:spPr>
          <a:xfrm flipH="1" rot="2577">
            <a:off x="1216874" y="667713"/>
            <a:ext cx="7603202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only wants to use long pencils that stick out of the pencil pot, so that he doesn’t have to rummage around to find short pencils.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2"/>
          <p:cNvSpPr txBox="1"/>
          <p:nvPr/>
        </p:nvSpPr>
        <p:spPr>
          <a:xfrm flipH="1" rot="2549">
            <a:off x="324074" y="1447377"/>
            <a:ext cx="8496002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Whilst this pencil is taller than the pencil pot, he’s worried that the pencil will tip over into the pencil pot and be stuck inside.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7" name="Google Shape;977;p72"/>
          <p:cNvPicPr preferRelativeResize="0"/>
          <p:nvPr/>
        </p:nvPicPr>
        <p:blipFill rotWithShape="1">
          <a:blip r:embed="rId4">
            <a:alphaModFix/>
          </a:blip>
          <a:srcRect b="9364" l="27597" r="27534" t="12203"/>
          <a:stretch/>
        </p:blipFill>
        <p:spPr>
          <a:xfrm rot="-6339173">
            <a:off x="7116894" y="3147539"/>
            <a:ext cx="770764" cy="1350449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72"/>
          <p:cNvSpPr txBox="1"/>
          <p:nvPr/>
        </p:nvSpPr>
        <p:spPr>
          <a:xfrm flipH="1" rot="2219">
            <a:off x="324000" y="2452101"/>
            <a:ext cx="23238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 models the pencil pot as a right-angled triangle. What will the lengths of the two shorter sides of this triangle be?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9" name="Google Shape;979;p72"/>
          <p:cNvCxnSpPr/>
          <p:nvPr/>
        </p:nvCxnSpPr>
        <p:spPr>
          <a:xfrm rot="10800000">
            <a:off x="3258283" y="4458575"/>
            <a:ext cx="9837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80" name="Google Shape;980;p72"/>
          <p:cNvSpPr/>
          <p:nvPr/>
        </p:nvSpPr>
        <p:spPr>
          <a:xfrm flipH="1">
            <a:off x="3262850" y="2928599"/>
            <a:ext cx="960300" cy="1338000"/>
          </a:xfrm>
          <a:prstGeom prst="rtTriangle">
            <a:avLst/>
          </a:prstGeom>
          <a:solidFill>
            <a:srgbClr val="EBEDFE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1" name="Google Shape;981;p72"/>
          <p:cNvCxnSpPr/>
          <p:nvPr/>
        </p:nvCxnSpPr>
        <p:spPr>
          <a:xfrm>
            <a:off x="4426150" y="2965800"/>
            <a:ext cx="0" cy="13005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982" name="Google Shape;982;p72"/>
          <p:cNvGrpSpPr/>
          <p:nvPr/>
        </p:nvGrpSpPr>
        <p:grpSpPr>
          <a:xfrm flipH="1">
            <a:off x="4491978" y="3487534"/>
            <a:ext cx="285339" cy="285339"/>
            <a:chOff x="1020916" y="1442088"/>
            <a:chExt cx="457200" cy="457200"/>
          </a:xfrm>
        </p:grpSpPr>
        <p:pic>
          <p:nvPicPr>
            <p:cNvPr id="983" name="Google Shape;983;p7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4" name="Google Shape;984;p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5" name="Google Shape;985;p72"/>
          <p:cNvGrpSpPr/>
          <p:nvPr/>
        </p:nvGrpSpPr>
        <p:grpSpPr>
          <a:xfrm flipH="1">
            <a:off x="3600335" y="4500609"/>
            <a:ext cx="285339" cy="285339"/>
            <a:chOff x="1020916" y="1442088"/>
            <a:chExt cx="457200" cy="457200"/>
          </a:xfrm>
        </p:grpSpPr>
        <p:pic>
          <p:nvPicPr>
            <p:cNvPr id="986" name="Google Shape;986;p7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7" name="Google Shape;987;p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88" name="Google Shape;988;p72"/>
          <p:cNvSpPr/>
          <p:nvPr/>
        </p:nvSpPr>
        <p:spPr>
          <a:xfrm flipH="1">
            <a:off x="4041125" y="4086650"/>
            <a:ext cx="179700" cy="17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73"/>
          <p:cNvSpPr txBox="1"/>
          <p:nvPr/>
        </p:nvSpPr>
        <p:spPr>
          <a:xfrm flipH="1">
            <a:off x="4493895" y="3516150"/>
            <a:ext cx="7572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modelled by right-angled triangles</a:t>
            </a:r>
            <a:endParaRPr/>
          </a:p>
        </p:txBody>
      </p:sp>
      <p:pic>
        <p:nvPicPr>
          <p:cNvPr id="995" name="Google Shape;99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1" y="613501"/>
            <a:ext cx="650950" cy="814025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73"/>
          <p:cNvSpPr/>
          <p:nvPr/>
        </p:nvSpPr>
        <p:spPr>
          <a:xfrm>
            <a:off x="6942676" y="3952552"/>
            <a:ext cx="1088100" cy="568200"/>
          </a:xfrm>
          <a:prstGeom prst="ellipse">
            <a:avLst/>
          </a:prstGeom>
          <a:gradFill>
            <a:gsLst>
              <a:gs pos="0">
                <a:srgbClr val="9FC5E8"/>
              </a:gs>
              <a:gs pos="49000">
                <a:srgbClr val="0B5394"/>
              </a:gs>
              <a:gs pos="100000">
                <a:srgbClr val="073763"/>
              </a:gs>
            </a:gsLst>
            <a:lin ang="0" scaled="0"/>
          </a:gra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73"/>
          <p:cNvSpPr/>
          <p:nvPr/>
        </p:nvSpPr>
        <p:spPr>
          <a:xfrm>
            <a:off x="6942729" y="3146517"/>
            <a:ext cx="1088100" cy="1082100"/>
          </a:xfrm>
          <a:prstGeom prst="rect">
            <a:avLst/>
          </a:prstGeom>
          <a:gradFill>
            <a:gsLst>
              <a:gs pos="0">
                <a:srgbClr val="9FC5E8"/>
              </a:gs>
              <a:gs pos="49000">
                <a:srgbClr val="0B5394"/>
              </a:gs>
              <a:gs pos="100000">
                <a:srgbClr val="07376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73"/>
          <p:cNvSpPr/>
          <p:nvPr/>
        </p:nvSpPr>
        <p:spPr>
          <a:xfrm>
            <a:off x="6942676" y="2848162"/>
            <a:ext cx="1088100" cy="568200"/>
          </a:xfrm>
          <a:prstGeom prst="ellipse">
            <a:avLst/>
          </a:prstGeom>
          <a:gradFill>
            <a:gsLst>
              <a:gs pos="0">
                <a:srgbClr val="CFE2F3"/>
              </a:gs>
              <a:gs pos="62000">
                <a:srgbClr val="073763"/>
              </a:gs>
              <a:gs pos="100000">
                <a:srgbClr val="073763"/>
              </a:gs>
            </a:gsLst>
            <a:lin ang="8100019" scaled="0"/>
          </a:gra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9" name="Google Shape;999;p73"/>
          <p:cNvCxnSpPr/>
          <p:nvPr/>
        </p:nvCxnSpPr>
        <p:spPr>
          <a:xfrm>
            <a:off x="8031090" y="3146565"/>
            <a:ext cx="0" cy="1082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0" name="Google Shape;1000;p73"/>
          <p:cNvCxnSpPr/>
          <p:nvPr/>
        </p:nvCxnSpPr>
        <p:spPr>
          <a:xfrm>
            <a:off x="6942746" y="3146565"/>
            <a:ext cx="0" cy="1082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01" name="Google Shape;1001;p73"/>
          <p:cNvPicPr preferRelativeResize="0"/>
          <p:nvPr/>
        </p:nvPicPr>
        <p:blipFill rotWithShape="1">
          <a:blip r:embed="rId4">
            <a:alphaModFix/>
          </a:blip>
          <a:srcRect b="9364" l="27597" r="27534" t="12203"/>
          <a:stretch/>
        </p:blipFill>
        <p:spPr>
          <a:xfrm rot="-9181200">
            <a:off x="6226086" y="2903043"/>
            <a:ext cx="830040" cy="14543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2" name="Google Shape;1002;p73"/>
          <p:cNvGrpSpPr/>
          <p:nvPr/>
        </p:nvGrpSpPr>
        <p:grpSpPr>
          <a:xfrm flipH="1">
            <a:off x="6942565" y="4602923"/>
            <a:ext cx="1088406" cy="262915"/>
            <a:chOff x="5587850" y="4229975"/>
            <a:chExt cx="1871400" cy="345850"/>
          </a:xfrm>
        </p:grpSpPr>
        <p:cxnSp>
          <p:nvCxnSpPr>
            <p:cNvPr id="1003" name="Google Shape;1003;p73"/>
            <p:cNvCxnSpPr/>
            <p:nvPr/>
          </p:nvCxnSpPr>
          <p:spPr>
            <a:xfrm>
              <a:off x="5587850" y="4229975"/>
              <a:ext cx="18714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04" name="Google Shape;1004;p73"/>
            <p:cNvSpPr txBox="1"/>
            <p:nvPr/>
          </p:nvSpPr>
          <p:spPr>
            <a:xfrm>
              <a:off x="5933130" y="4252125"/>
              <a:ext cx="11808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5" name="Google Shape;1005;p73"/>
          <p:cNvGrpSpPr/>
          <p:nvPr/>
        </p:nvGrpSpPr>
        <p:grpSpPr>
          <a:xfrm flipH="1">
            <a:off x="8105386" y="3154492"/>
            <a:ext cx="757159" cy="1155777"/>
            <a:chOff x="5738204" y="3070525"/>
            <a:chExt cx="996000" cy="1871400"/>
          </a:xfrm>
        </p:grpSpPr>
        <p:cxnSp>
          <p:nvCxnSpPr>
            <p:cNvPr id="1006" name="Google Shape;1006;p73"/>
            <p:cNvCxnSpPr/>
            <p:nvPr/>
          </p:nvCxnSpPr>
          <p:spPr>
            <a:xfrm rot="5400000">
              <a:off x="5760775" y="4006225"/>
              <a:ext cx="18714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07" name="Google Shape;1007;p73"/>
            <p:cNvSpPr txBox="1"/>
            <p:nvPr/>
          </p:nvSpPr>
          <p:spPr>
            <a:xfrm>
              <a:off x="5738204" y="3844379"/>
              <a:ext cx="9960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11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8" name="Google Shape;1008;p73"/>
          <p:cNvGrpSpPr/>
          <p:nvPr/>
        </p:nvGrpSpPr>
        <p:grpSpPr>
          <a:xfrm>
            <a:off x="5699512" y="2944124"/>
            <a:ext cx="760414" cy="1450335"/>
            <a:chOff x="5696193" y="3070525"/>
            <a:chExt cx="1000282" cy="1871400"/>
          </a:xfrm>
        </p:grpSpPr>
        <p:cxnSp>
          <p:nvCxnSpPr>
            <p:cNvPr id="1009" name="Google Shape;1009;p73"/>
            <p:cNvCxnSpPr/>
            <p:nvPr/>
          </p:nvCxnSpPr>
          <p:spPr>
            <a:xfrm rot="5400000">
              <a:off x="5760775" y="4006225"/>
              <a:ext cx="18714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10" name="Google Shape;1010;p73"/>
            <p:cNvSpPr txBox="1"/>
            <p:nvPr/>
          </p:nvSpPr>
          <p:spPr>
            <a:xfrm>
              <a:off x="5696193" y="3844364"/>
              <a:ext cx="9960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14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11" name="Google Shape;1011;p73"/>
          <p:cNvSpPr txBox="1"/>
          <p:nvPr/>
        </p:nvSpPr>
        <p:spPr>
          <a:xfrm flipH="1" rot="2577">
            <a:off x="1216874" y="667713"/>
            <a:ext cx="7603202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only wants to use long pencils that stick out of the pencil pot, so that he doesn’t have to rummage around to find short pencils.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73"/>
          <p:cNvSpPr txBox="1"/>
          <p:nvPr/>
        </p:nvSpPr>
        <p:spPr>
          <a:xfrm flipH="1" rot="2549">
            <a:off x="324074" y="1447377"/>
            <a:ext cx="8496002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Whilst this pencil is taller than the pencil pot, he’s worried that the pencil will tip over into the pencil pot and be stuck inside.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73"/>
          <p:cNvSpPr txBox="1"/>
          <p:nvPr/>
        </p:nvSpPr>
        <p:spPr>
          <a:xfrm flipH="1" rot="2219">
            <a:off x="324000" y="3061701"/>
            <a:ext cx="2323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length of the hypotenuse of this triangle, rounded to 2 decimal places?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4" name="Google Shape;1014;p73"/>
          <p:cNvGrpSpPr/>
          <p:nvPr/>
        </p:nvGrpSpPr>
        <p:grpSpPr>
          <a:xfrm>
            <a:off x="3258283" y="4458575"/>
            <a:ext cx="983700" cy="284600"/>
            <a:chOff x="3258283" y="4458575"/>
            <a:chExt cx="983700" cy="284600"/>
          </a:xfrm>
        </p:grpSpPr>
        <p:sp>
          <p:nvSpPr>
            <p:cNvPr id="1015" name="Google Shape;1015;p73"/>
            <p:cNvSpPr txBox="1"/>
            <p:nvPr/>
          </p:nvSpPr>
          <p:spPr>
            <a:xfrm flipH="1">
              <a:off x="3364395" y="4543375"/>
              <a:ext cx="7572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16" name="Google Shape;1016;p73"/>
            <p:cNvCxnSpPr/>
            <p:nvPr/>
          </p:nvCxnSpPr>
          <p:spPr>
            <a:xfrm rot="10800000">
              <a:off x="3258283" y="4458575"/>
              <a:ext cx="9837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017" name="Google Shape;1017;p73"/>
          <p:cNvSpPr/>
          <p:nvPr/>
        </p:nvSpPr>
        <p:spPr>
          <a:xfrm flipH="1">
            <a:off x="3262850" y="2928599"/>
            <a:ext cx="960300" cy="1338000"/>
          </a:xfrm>
          <a:prstGeom prst="rtTriangle">
            <a:avLst/>
          </a:prstGeom>
          <a:solidFill>
            <a:srgbClr val="EBEDFE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8" name="Google Shape;1018;p73"/>
          <p:cNvCxnSpPr/>
          <p:nvPr/>
        </p:nvCxnSpPr>
        <p:spPr>
          <a:xfrm>
            <a:off x="4426150" y="2965800"/>
            <a:ext cx="0" cy="13005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19" name="Google Shape;1019;p73"/>
          <p:cNvSpPr/>
          <p:nvPr/>
        </p:nvSpPr>
        <p:spPr>
          <a:xfrm flipH="1">
            <a:off x="4041125" y="4086650"/>
            <a:ext cx="179700" cy="17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0" name="Google Shape;1020;p73"/>
          <p:cNvGrpSpPr/>
          <p:nvPr/>
        </p:nvGrpSpPr>
        <p:grpSpPr>
          <a:xfrm flipH="1" rot="7545414">
            <a:off x="2647680" y="3282011"/>
            <a:ext cx="1700587" cy="285459"/>
            <a:chOff x="3258283" y="4458575"/>
            <a:chExt cx="983700" cy="284702"/>
          </a:xfrm>
        </p:grpSpPr>
        <p:sp>
          <p:nvSpPr>
            <p:cNvPr id="1021" name="Google Shape;1021;p73"/>
            <p:cNvSpPr txBox="1"/>
            <p:nvPr/>
          </p:nvSpPr>
          <p:spPr>
            <a:xfrm flipH="1" rot="10798638">
              <a:off x="3364394" y="4543327"/>
              <a:ext cx="7572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12.53 cm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1022" name="Google Shape;1022;p73"/>
            <p:cNvCxnSpPr/>
            <p:nvPr/>
          </p:nvCxnSpPr>
          <p:spPr>
            <a:xfrm rot="10800000">
              <a:off x="3258283" y="4458575"/>
              <a:ext cx="9837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modelled by right-angled triangles</a:t>
            </a:r>
            <a:endParaRPr/>
          </a:p>
        </p:txBody>
      </p:sp>
      <p:pic>
        <p:nvPicPr>
          <p:cNvPr id="1028" name="Google Shape;1028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1" y="613501"/>
            <a:ext cx="650950" cy="814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9" name="Google Shape;1029;p74"/>
          <p:cNvGrpSpPr/>
          <p:nvPr/>
        </p:nvGrpSpPr>
        <p:grpSpPr>
          <a:xfrm>
            <a:off x="3699576" y="2848162"/>
            <a:ext cx="1088414" cy="1672590"/>
            <a:chOff x="6942676" y="2848162"/>
            <a:chExt cx="1088414" cy="1672590"/>
          </a:xfrm>
        </p:grpSpPr>
        <p:sp>
          <p:nvSpPr>
            <p:cNvPr id="1030" name="Google Shape;1030;p74"/>
            <p:cNvSpPr/>
            <p:nvPr/>
          </p:nvSpPr>
          <p:spPr>
            <a:xfrm>
              <a:off x="6942676" y="3952552"/>
              <a:ext cx="1088100" cy="568200"/>
            </a:xfrm>
            <a:prstGeom prst="ellipse">
              <a:avLst/>
            </a:prstGeom>
            <a:gradFill>
              <a:gsLst>
                <a:gs pos="0">
                  <a:srgbClr val="9FC5E8"/>
                </a:gs>
                <a:gs pos="49000">
                  <a:srgbClr val="0B5394"/>
                </a:gs>
                <a:gs pos="100000">
                  <a:srgbClr val="073763"/>
                </a:gs>
              </a:gsLst>
              <a:lin ang="0" scaled="0"/>
            </a:gra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1" name="Google Shape;1031;p74"/>
            <p:cNvSpPr/>
            <p:nvPr/>
          </p:nvSpPr>
          <p:spPr>
            <a:xfrm>
              <a:off x="6942729" y="3146517"/>
              <a:ext cx="1088100" cy="1082100"/>
            </a:xfrm>
            <a:prstGeom prst="rect">
              <a:avLst/>
            </a:prstGeom>
            <a:gradFill>
              <a:gsLst>
                <a:gs pos="0">
                  <a:srgbClr val="9FC5E8"/>
                </a:gs>
                <a:gs pos="49000">
                  <a:srgbClr val="0B5394"/>
                </a:gs>
                <a:gs pos="100000">
                  <a:srgbClr val="07376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2" name="Google Shape;1032;p74"/>
            <p:cNvSpPr/>
            <p:nvPr/>
          </p:nvSpPr>
          <p:spPr>
            <a:xfrm>
              <a:off x="6942676" y="2848162"/>
              <a:ext cx="1088100" cy="568200"/>
            </a:xfrm>
            <a:prstGeom prst="ellipse">
              <a:avLst/>
            </a:prstGeom>
            <a:gradFill>
              <a:gsLst>
                <a:gs pos="0">
                  <a:srgbClr val="CFE2F3"/>
                </a:gs>
                <a:gs pos="62000">
                  <a:srgbClr val="073763"/>
                </a:gs>
                <a:gs pos="100000">
                  <a:srgbClr val="073763"/>
                </a:gs>
              </a:gsLst>
              <a:lin ang="8100019" scaled="0"/>
            </a:gra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33" name="Google Shape;1033;p74"/>
            <p:cNvCxnSpPr/>
            <p:nvPr/>
          </p:nvCxnSpPr>
          <p:spPr>
            <a:xfrm>
              <a:off x="8031090" y="3146565"/>
              <a:ext cx="0" cy="1082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4" name="Google Shape;1034;p74"/>
            <p:cNvCxnSpPr/>
            <p:nvPr/>
          </p:nvCxnSpPr>
          <p:spPr>
            <a:xfrm>
              <a:off x="6942746" y="3146565"/>
              <a:ext cx="0" cy="1082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035" name="Google Shape;1035;p74"/>
          <p:cNvPicPr preferRelativeResize="0"/>
          <p:nvPr/>
        </p:nvPicPr>
        <p:blipFill rotWithShape="1">
          <a:blip r:embed="rId4">
            <a:alphaModFix/>
          </a:blip>
          <a:srcRect b="9364" l="27597" r="27534" t="12203"/>
          <a:stretch/>
        </p:blipFill>
        <p:spPr>
          <a:xfrm flipH="1" rot="9181200">
            <a:off x="40325" y="2903043"/>
            <a:ext cx="830040" cy="14543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6" name="Google Shape;1036;p74"/>
          <p:cNvGrpSpPr/>
          <p:nvPr/>
        </p:nvGrpSpPr>
        <p:grpSpPr>
          <a:xfrm flipH="1">
            <a:off x="636524" y="2944124"/>
            <a:ext cx="760414" cy="1450335"/>
            <a:chOff x="5696193" y="3070525"/>
            <a:chExt cx="1000282" cy="1871400"/>
          </a:xfrm>
        </p:grpSpPr>
        <p:cxnSp>
          <p:nvCxnSpPr>
            <p:cNvPr id="1037" name="Google Shape;1037;p74"/>
            <p:cNvCxnSpPr/>
            <p:nvPr/>
          </p:nvCxnSpPr>
          <p:spPr>
            <a:xfrm rot="5400000">
              <a:off x="5760775" y="4006225"/>
              <a:ext cx="18714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38" name="Google Shape;1038;p74"/>
            <p:cNvSpPr txBox="1"/>
            <p:nvPr/>
          </p:nvSpPr>
          <p:spPr>
            <a:xfrm>
              <a:off x="5696193" y="3844364"/>
              <a:ext cx="9960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14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39" name="Google Shape;1039;p74"/>
          <p:cNvSpPr txBox="1"/>
          <p:nvPr/>
        </p:nvSpPr>
        <p:spPr>
          <a:xfrm flipH="1" rot="2577">
            <a:off x="1216874" y="667713"/>
            <a:ext cx="7603202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only wants to use long pencils that stick out of the pencil pot, so that he doesn’t have to rummage around to find short pencils.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74"/>
          <p:cNvSpPr txBox="1"/>
          <p:nvPr/>
        </p:nvSpPr>
        <p:spPr>
          <a:xfrm flipH="1" rot="2064">
            <a:off x="324074" y="1615728"/>
            <a:ext cx="8496002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hypotenuse of this triangle is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12.53 cm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conclusion can we draw about the pencil and the pencil pot?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1" name="Google Shape;1041;p74"/>
          <p:cNvPicPr preferRelativeResize="0"/>
          <p:nvPr/>
        </p:nvPicPr>
        <p:blipFill rotWithShape="1">
          <a:blip r:embed="rId4">
            <a:alphaModFix/>
          </a:blip>
          <a:srcRect b="9364" l="27597" r="27534" t="12203"/>
          <a:stretch/>
        </p:blipFill>
        <p:spPr>
          <a:xfrm flipH="1" rot="-10178130">
            <a:off x="3810016" y="2605959"/>
            <a:ext cx="1079628" cy="18916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2" name="Google Shape;1042;p74"/>
          <p:cNvGrpSpPr/>
          <p:nvPr/>
        </p:nvGrpSpPr>
        <p:grpSpPr>
          <a:xfrm>
            <a:off x="5447101" y="2848162"/>
            <a:ext cx="1088414" cy="1672590"/>
            <a:chOff x="6942676" y="2848162"/>
            <a:chExt cx="1088414" cy="1672590"/>
          </a:xfrm>
        </p:grpSpPr>
        <p:sp>
          <p:nvSpPr>
            <p:cNvPr id="1043" name="Google Shape;1043;p74"/>
            <p:cNvSpPr/>
            <p:nvPr/>
          </p:nvSpPr>
          <p:spPr>
            <a:xfrm>
              <a:off x="6942676" y="3952552"/>
              <a:ext cx="1088100" cy="568200"/>
            </a:xfrm>
            <a:prstGeom prst="ellipse">
              <a:avLst/>
            </a:prstGeom>
            <a:gradFill>
              <a:gsLst>
                <a:gs pos="0">
                  <a:srgbClr val="9FC5E8"/>
                </a:gs>
                <a:gs pos="49000">
                  <a:srgbClr val="0B5394"/>
                </a:gs>
                <a:gs pos="100000">
                  <a:srgbClr val="073763"/>
                </a:gs>
              </a:gsLst>
              <a:lin ang="0" scaled="0"/>
            </a:gra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4" name="Google Shape;1044;p74"/>
            <p:cNvSpPr/>
            <p:nvPr/>
          </p:nvSpPr>
          <p:spPr>
            <a:xfrm>
              <a:off x="6942729" y="3146517"/>
              <a:ext cx="1088100" cy="1082100"/>
            </a:xfrm>
            <a:prstGeom prst="rect">
              <a:avLst/>
            </a:prstGeom>
            <a:gradFill>
              <a:gsLst>
                <a:gs pos="0">
                  <a:srgbClr val="9FC5E8"/>
                </a:gs>
                <a:gs pos="49000">
                  <a:srgbClr val="0B5394"/>
                </a:gs>
                <a:gs pos="100000">
                  <a:srgbClr val="07376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5" name="Google Shape;1045;p74"/>
            <p:cNvSpPr/>
            <p:nvPr/>
          </p:nvSpPr>
          <p:spPr>
            <a:xfrm>
              <a:off x="6942676" y="2848162"/>
              <a:ext cx="1088100" cy="568200"/>
            </a:xfrm>
            <a:prstGeom prst="ellipse">
              <a:avLst/>
            </a:prstGeom>
            <a:gradFill>
              <a:gsLst>
                <a:gs pos="0">
                  <a:srgbClr val="CFE2F3"/>
                </a:gs>
                <a:gs pos="62000">
                  <a:srgbClr val="073763"/>
                </a:gs>
                <a:gs pos="100000">
                  <a:srgbClr val="073763"/>
                </a:gs>
              </a:gsLst>
              <a:lin ang="8100019" scaled="0"/>
            </a:gra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46" name="Google Shape;1046;p74"/>
            <p:cNvCxnSpPr/>
            <p:nvPr/>
          </p:nvCxnSpPr>
          <p:spPr>
            <a:xfrm>
              <a:off x="8031090" y="3146565"/>
              <a:ext cx="0" cy="1082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7" name="Google Shape;1047;p74"/>
            <p:cNvCxnSpPr/>
            <p:nvPr/>
          </p:nvCxnSpPr>
          <p:spPr>
            <a:xfrm>
              <a:off x="6942746" y="3146565"/>
              <a:ext cx="0" cy="1082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48" name="Google Shape;1048;p74"/>
          <p:cNvSpPr txBox="1"/>
          <p:nvPr/>
        </p:nvSpPr>
        <p:spPr>
          <a:xfrm flipH="1" rot="2208">
            <a:off x="1831175" y="3230849"/>
            <a:ext cx="1868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pencil is long enough to stick out of the pencil pot.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74"/>
          <p:cNvSpPr txBox="1"/>
          <p:nvPr/>
        </p:nvSpPr>
        <p:spPr>
          <a:xfrm flipH="1" rot="2290">
            <a:off x="6567900" y="3230944"/>
            <a:ext cx="2252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pencil is not long enough to stick out of the pencil pot, and will get stuck inside.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0" name="Google Shape;1050;p74"/>
          <p:cNvPicPr preferRelativeResize="0"/>
          <p:nvPr/>
        </p:nvPicPr>
        <p:blipFill rotWithShape="1">
          <a:blip r:embed="rId4">
            <a:alphaModFix/>
          </a:blip>
          <a:srcRect b="9364" l="27597" r="27534" t="12203"/>
          <a:stretch/>
        </p:blipFill>
        <p:spPr>
          <a:xfrm flipH="1" rot="-9687943">
            <a:off x="5619811" y="3181138"/>
            <a:ext cx="756832" cy="13260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1" name="Google Shape;1051;p74"/>
          <p:cNvGrpSpPr/>
          <p:nvPr/>
        </p:nvGrpSpPr>
        <p:grpSpPr>
          <a:xfrm flipH="1">
            <a:off x="2363528" y="2944134"/>
            <a:ext cx="285339" cy="285339"/>
            <a:chOff x="1020916" y="1442088"/>
            <a:chExt cx="457200" cy="457200"/>
          </a:xfrm>
        </p:grpSpPr>
        <p:pic>
          <p:nvPicPr>
            <p:cNvPr id="1052" name="Google Shape;1052;p7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3" name="Google Shape;1053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4" name="Google Shape;1054;p74"/>
          <p:cNvGrpSpPr/>
          <p:nvPr/>
        </p:nvGrpSpPr>
        <p:grpSpPr>
          <a:xfrm flipH="1">
            <a:off x="7367330" y="2954659"/>
            <a:ext cx="285339" cy="285339"/>
            <a:chOff x="1020916" y="1442088"/>
            <a:chExt cx="457200" cy="457200"/>
          </a:xfrm>
        </p:grpSpPr>
        <p:pic>
          <p:nvPicPr>
            <p:cNvPr id="1055" name="Google Shape;1055;p7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6" name="Google Shape;1056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57" name="Google Shape;1057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62908" y="28772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modelled by right-angled triangles</a:t>
            </a:r>
            <a:endParaRPr/>
          </a:p>
        </p:txBody>
      </p:sp>
      <p:pic>
        <p:nvPicPr>
          <p:cNvPr id="1063" name="Google Shape;106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1" y="613501"/>
            <a:ext cx="650950" cy="814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4" name="Google Shape;1064;p75"/>
          <p:cNvGrpSpPr/>
          <p:nvPr/>
        </p:nvGrpSpPr>
        <p:grpSpPr>
          <a:xfrm>
            <a:off x="3699576" y="2848162"/>
            <a:ext cx="1088414" cy="1672590"/>
            <a:chOff x="6942676" y="2848162"/>
            <a:chExt cx="1088414" cy="1672590"/>
          </a:xfrm>
        </p:grpSpPr>
        <p:sp>
          <p:nvSpPr>
            <p:cNvPr id="1065" name="Google Shape;1065;p75"/>
            <p:cNvSpPr/>
            <p:nvPr/>
          </p:nvSpPr>
          <p:spPr>
            <a:xfrm>
              <a:off x="6942676" y="3952552"/>
              <a:ext cx="1088100" cy="568200"/>
            </a:xfrm>
            <a:prstGeom prst="ellipse">
              <a:avLst/>
            </a:prstGeom>
            <a:gradFill>
              <a:gsLst>
                <a:gs pos="0">
                  <a:srgbClr val="9FC5E8"/>
                </a:gs>
                <a:gs pos="49000">
                  <a:srgbClr val="0B5394"/>
                </a:gs>
                <a:gs pos="100000">
                  <a:srgbClr val="073763"/>
                </a:gs>
              </a:gsLst>
              <a:lin ang="0" scaled="0"/>
            </a:gra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6" name="Google Shape;1066;p75"/>
            <p:cNvSpPr/>
            <p:nvPr/>
          </p:nvSpPr>
          <p:spPr>
            <a:xfrm>
              <a:off x="6942729" y="3146517"/>
              <a:ext cx="1088100" cy="1082100"/>
            </a:xfrm>
            <a:prstGeom prst="rect">
              <a:avLst/>
            </a:prstGeom>
            <a:gradFill>
              <a:gsLst>
                <a:gs pos="0">
                  <a:srgbClr val="9FC5E8"/>
                </a:gs>
                <a:gs pos="49000">
                  <a:srgbClr val="0B5394"/>
                </a:gs>
                <a:gs pos="100000">
                  <a:srgbClr val="07376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7" name="Google Shape;1067;p75"/>
            <p:cNvSpPr/>
            <p:nvPr/>
          </p:nvSpPr>
          <p:spPr>
            <a:xfrm>
              <a:off x="6942676" y="2848162"/>
              <a:ext cx="1088100" cy="568200"/>
            </a:xfrm>
            <a:prstGeom prst="ellipse">
              <a:avLst/>
            </a:prstGeom>
            <a:gradFill>
              <a:gsLst>
                <a:gs pos="0">
                  <a:srgbClr val="CFE2F3"/>
                </a:gs>
                <a:gs pos="62000">
                  <a:srgbClr val="073763"/>
                </a:gs>
                <a:gs pos="100000">
                  <a:srgbClr val="073763"/>
                </a:gs>
              </a:gsLst>
              <a:lin ang="8100019" scaled="0"/>
            </a:gra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68" name="Google Shape;1068;p75"/>
            <p:cNvCxnSpPr/>
            <p:nvPr/>
          </p:nvCxnSpPr>
          <p:spPr>
            <a:xfrm>
              <a:off x="8031090" y="3146565"/>
              <a:ext cx="0" cy="1082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9" name="Google Shape;1069;p75"/>
            <p:cNvCxnSpPr/>
            <p:nvPr/>
          </p:nvCxnSpPr>
          <p:spPr>
            <a:xfrm>
              <a:off x="6942746" y="3146565"/>
              <a:ext cx="0" cy="1082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070" name="Google Shape;1070;p75"/>
          <p:cNvPicPr preferRelativeResize="0"/>
          <p:nvPr/>
        </p:nvPicPr>
        <p:blipFill rotWithShape="1">
          <a:blip r:embed="rId4">
            <a:alphaModFix/>
          </a:blip>
          <a:srcRect b="9364" l="27597" r="27534" t="12203"/>
          <a:stretch/>
        </p:blipFill>
        <p:spPr>
          <a:xfrm flipH="1" rot="9181200">
            <a:off x="40325" y="2903043"/>
            <a:ext cx="830040" cy="14543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1" name="Google Shape;1071;p75"/>
          <p:cNvGrpSpPr/>
          <p:nvPr/>
        </p:nvGrpSpPr>
        <p:grpSpPr>
          <a:xfrm flipH="1">
            <a:off x="636524" y="2944124"/>
            <a:ext cx="760414" cy="1450335"/>
            <a:chOff x="5696193" y="3070525"/>
            <a:chExt cx="1000282" cy="1871400"/>
          </a:xfrm>
        </p:grpSpPr>
        <p:cxnSp>
          <p:nvCxnSpPr>
            <p:cNvPr id="1072" name="Google Shape;1072;p75"/>
            <p:cNvCxnSpPr/>
            <p:nvPr/>
          </p:nvCxnSpPr>
          <p:spPr>
            <a:xfrm rot="5400000">
              <a:off x="5760775" y="4006225"/>
              <a:ext cx="18714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73" name="Google Shape;1073;p75"/>
            <p:cNvSpPr txBox="1"/>
            <p:nvPr/>
          </p:nvSpPr>
          <p:spPr>
            <a:xfrm>
              <a:off x="5696193" y="3844364"/>
              <a:ext cx="9960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14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74" name="Google Shape;1074;p75"/>
          <p:cNvSpPr txBox="1"/>
          <p:nvPr/>
        </p:nvSpPr>
        <p:spPr>
          <a:xfrm flipH="1" rot="2577">
            <a:off x="1216874" y="667713"/>
            <a:ext cx="7603202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only wants to use long pencils that stick out of the pencil pot, so that he doesn’t have to rummage around to find short pencils.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75"/>
          <p:cNvSpPr txBox="1"/>
          <p:nvPr/>
        </p:nvSpPr>
        <p:spPr>
          <a:xfrm flipH="1" rot="2064">
            <a:off x="324074" y="1615728"/>
            <a:ext cx="8496002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hypotenuse of this triangle is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12.53 cm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conclusion can we draw about the pencil and the pencil pot?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6" name="Google Shape;1076;p75"/>
          <p:cNvPicPr preferRelativeResize="0"/>
          <p:nvPr/>
        </p:nvPicPr>
        <p:blipFill rotWithShape="1">
          <a:blip r:embed="rId4">
            <a:alphaModFix/>
          </a:blip>
          <a:srcRect b="9364" l="27597" r="27534" t="12203"/>
          <a:stretch/>
        </p:blipFill>
        <p:spPr>
          <a:xfrm flipH="1" rot="-10178130">
            <a:off x="3810016" y="2605959"/>
            <a:ext cx="1079628" cy="1891606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75"/>
          <p:cNvSpPr txBox="1"/>
          <p:nvPr/>
        </p:nvSpPr>
        <p:spPr>
          <a:xfrm flipH="1" rot="2208">
            <a:off x="1831175" y="3230849"/>
            <a:ext cx="1868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pencil is long enough to stick out of the pencil pot.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8" name="Google Shape;1078;p75"/>
          <p:cNvGrpSpPr/>
          <p:nvPr/>
        </p:nvGrpSpPr>
        <p:grpSpPr>
          <a:xfrm flipH="1">
            <a:off x="2363528" y="2944134"/>
            <a:ext cx="285339" cy="285339"/>
            <a:chOff x="1020916" y="1442088"/>
            <a:chExt cx="457200" cy="457200"/>
          </a:xfrm>
        </p:grpSpPr>
        <p:pic>
          <p:nvPicPr>
            <p:cNvPr id="1079" name="Google Shape;1079;p7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0" name="Google Shape;1080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81" name="Google Shape;1081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62908" y="28772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75"/>
          <p:cNvSpPr txBox="1"/>
          <p:nvPr/>
        </p:nvSpPr>
        <p:spPr>
          <a:xfrm flipH="1" rot="2189">
            <a:off x="5050875" y="2603927"/>
            <a:ext cx="3769201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pencil is long enough to stick out of the pencil pot, as the pencil is longer (14 cm) than the hypotenuse of the right-angled triangle (12.53 cm), meaning it is longer than the greatest distance inside the pencil pot.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7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modelled by right-angled triangles</a:t>
            </a:r>
            <a:endParaRPr/>
          </a:p>
        </p:txBody>
      </p:sp>
      <p:grpSp>
        <p:nvGrpSpPr>
          <p:cNvPr id="1088" name="Google Shape;1088;p76"/>
          <p:cNvGrpSpPr/>
          <p:nvPr/>
        </p:nvGrpSpPr>
        <p:grpSpPr>
          <a:xfrm>
            <a:off x="3197154" y="2490352"/>
            <a:ext cx="2444873" cy="1108268"/>
            <a:chOff x="1094849" y="1970557"/>
            <a:chExt cx="3312835" cy="1501718"/>
          </a:xfrm>
        </p:grpSpPr>
        <p:grpSp>
          <p:nvGrpSpPr>
            <p:cNvPr id="1089" name="Google Shape;1089;p76"/>
            <p:cNvGrpSpPr/>
            <p:nvPr/>
          </p:nvGrpSpPr>
          <p:grpSpPr>
            <a:xfrm>
              <a:off x="1244438" y="1970557"/>
              <a:ext cx="3163246" cy="1395874"/>
              <a:chOff x="2820561" y="1873957"/>
              <a:chExt cx="3163246" cy="1395874"/>
            </a:xfrm>
          </p:grpSpPr>
          <p:sp>
            <p:nvSpPr>
              <p:cNvPr id="1090" name="Google Shape;1090;p76"/>
              <p:cNvSpPr/>
              <p:nvPr/>
            </p:nvSpPr>
            <p:spPr>
              <a:xfrm flipH="1" rot="9489519">
                <a:off x="4621733" y="2120173"/>
                <a:ext cx="1358733" cy="257568"/>
              </a:xfrm>
              <a:prstGeom prst="diagStripe">
                <a:avLst>
                  <a:gd fmla="val 68104" name="adj"/>
                </a:avLst>
              </a:prstGeom>
              <a:solidFill>
                <a:srgbClr val="434343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91" name="Google Shape;1091;p76"/>
              <p:cNvSpPr/>
              <p:nvPr/>
            </p:nvSpPr>
            <p:spPr>
              <a:xfrm>
                <a:off x="4641607" y="2114401"/>
                <a:ext cx="1342200" cy="260400"/>
              </a:xfrm>
              <a:prstGeom prst="diagStripe">
                <a:avLst>
                  <a:gd fmla="val 84995" name="adj"/>
                </a:avLst>
              </a:prstGeom>
              <a:solidFill>
                <a:srgbClr val="787878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92" name="Google Shape;1092;p76"/>
              <p:cNvSpPr/>
              <p:nvPr/>
            </p:nvSpPr>
            <p:spPr>
              <a:xfrm>
                <a:off x="2820561" y="2827930"/>
                <a:ext cx="1868700" cy="441900"/>
              </a:xfrm>
              <a:prstGeom prst="ellipse">
                <a:avLst/>
              </a:prstGeom>
              <a:gradFill>
                <a:gsLst>
                  <a:gs pos="0">
                    <a:srgbClr val="999999"/>
                  </a:gs>
                  <a:gs pos="49000">
                    <a:srgbClr val="434343"/>
                  </a:gs>
                  <a:gs pos="100000">
                    <a:srgbClr val="434343"/>
                  </a:gs>
                </a:gsLst>
                <a:lin ang="0" scaled="0"/>
              </a:gra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93" name="Google Shape;1093;p76"/>
              <p:cNvSpPr/>
              <p:nvPr/>
            </p:nvSpPr>
            <p:spPr>
              <a:xfrm>
                <a:off x="2820653" y="2200962"/>
                <a:ext cx="1868700" cy="841800"/>
              </a:xfrm>
              <a:prstGeom prst="rect">
                <a:avLst/>
              </a:prstGeom>
              <a:gradFill>
                <a:gsLst>
                  <a:gs pos="0">
                    <a:srgbClr val="999999"/>
                  </a:gs>
                  <a:gs pos="49000">
                    <a:srgbClr val="434343"/>
                  </a:gs>
                  <a:gs pos="100000">
                    <a:srgbClr val="43434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94" name="Google Shape;1094;p76"/>
              <p:cNvSpPr/>
              <p:nvPr/>
            </p:nvSpPr>
            <p:spPr>
              <a:xfrm>
                <a:off x="2820561" y="1968889"/>
                <a:ext cx="1868700" cy="441900"/>
              </a:xfrm>
              <a:prstGeom prst="ellipse">
                <a:avLst/>
              </a:prstGeom>
              <a:gradFill>
                <a:gsLst>
                  <a:gs pos="0">
                    <a:srgbClr val="D9D9D9"/>
                  </a:gs>
                  <a:gs pos="62000">
                    <a:srgbClr val="808080"/>
                  </a:gs>
                  <a:gs pos="100000">
                    <a:srgbClr val="808080"/>
                  </a:gs>
                </a:gsLst>
                <a:lin ang="8100019" scaled="0"/>
              </a:gra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095" name="Google Shape;1095;p76"/>
              <p:cNvCxnSpPr/>
              <p:nvPr/>
            </p:nvCxnSpPr>
            <p:spPr>
              <a:xfrm>
                <a:off x="2820561" y="2200999"/>
                <a:ext cx="0" cy="841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96" name="Google Shape;1096;p76"/>
              <p:cNvSpPr/>
              <p:nvPr/>
            </p:nvSpPr>
            <p:spPr>
              <a:xfrm rot="-6078596">
                <a:off x="5714197" y="2101673"/>
                <a:ext cx="26005" cy="85017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097" name="Google Shape;1097;p76"/>
              <p:cNvCxnSpPr/>
              <p:nvPr/>
            </p:nvCxnSpPr>
            <p:spPr>
              <a:xfrm>
                <a:off x="4689114" y="2200999"/>
                <a:ext cx="0" cy="841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098" name="Google Shape;1098;p76"/>
            <p:cNvCxnSpPr/>
            <p:nvPr/>
          </p:nvCxnSpPr>
          <p:spPr>
            <a:xfrm>
              <a:off x="1244447" y="3472275"/>
              <a:ext cx="18714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99" name="Google Shape;1099;p76"/>
            <p:cNvCxnSpPr/>
            <p:nvPr/>
          </p:nvCxnSpPr>
          <p:spPr>
            <a:xfrm rot="5400000">
              <a:off x="611399" y="2715852"/>
              <a:ext cx="966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id="1100" name="Google Shape;110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484" y="2308466"/>
            <a:ext cx="1647875" cy="1329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1" name="Google Shape;1101;p76"/>
          <p:cNvCxnSpPr/>
          <p:nvPr/>
        </p:nvCxnSpPr>
        <p:spPr>
          <a:xfrm>
            <a:off x="335281" y="2851411"/>
            <a:ext cx="1731600" cy="9291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02" name="Google Shape;1102;p76"/>
          <p:cNvSpPr txBox="1"/>
          <p:nvPr/>
        </p:nvSpPr>
        <p:spPr>
          <a:xfrm>
            <a:off x="646676" y="3345776"/>
            <a:ext cx="929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76"/>
          <p:cNvSpPr/>
          <p:nvPr/>
        </p:nvSpPr>
        <p:spPr>
          <a:xfrm>
            <a:off x="6726025" y="2751557"/>
            <a:ext cx="1755900" cy="801900"/>
          </a:xfrm>
          <a:prstGeom prst="rtTriangle">
            <a:avLst/>
          </a:prstGeom>
          <a:solidFill>
            <a:srgbClr val="EBEDFE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76"/>
          <p:cNvSpPr/>
          <p:nvPr/>
        </p:nvSpPr>
        <p:spPr>
          <a:xfrm>
            <a:off x="6726015" y="3373773"/>
            <a:ext cx="179700" cy="17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5" name="Google Shape;1105;p76"/>
          <p:cNvCxnSpPr/>
          <p:nvPr/>
        </p:nvCxnSpPr>
        <p:spPr>
          <a:xfrm>
            <a:off x="6726032" y="3705920"/>
            <a:ext cx="17613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06" name="Google Shape;1106;p76"/>
          <p:cNvCxnSpPr/>
          <p:nvPr/>
        </p:nvCxnSpPr>
        <p:spPr>
          <a:xfrm>
            <a:off x="6534950" y="2747764"/>
            <a:ext cx="0" cy="8172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07" name="Google Shape;1107;p76"/>
          <p:cNvSpPr txBox="1"/>
          <p:nvPr/>
        </p:nvSpPr>
        <p:spPr>
          <a:xfrm flipH="1" rot="3104">
            <a:off x="1257200" y="2527031"/>
            <a:ext cx="66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ladle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76"/>
          <p:cNvSpPr txBox="1"/>
          <p:nvPr/>
        </p:nvSpPr>
        <p:spPr>
          <a:xfrm flipH="1" rot="2984">
            <a:off x="3304525" y="2215881"/>
            <a:ext cx="1382701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saucepan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76"/>
          <p:cNvSpPr txBox="1"/>
          <p:nvPr/>
        </p:nvSpPr>
        <p:spPr>
          <a:xfrm flipH="1" rot="2681">
            <a:off x="324099" y="657640"/>
            <a:ext cx="8462703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For this ladle to be usable with the saucepan, it has to be long enough that it won’t sink completely into the saucepan.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saucepan is 20 cm tall and has a maximum base width of 30 cm.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The right-angled triangle models the saucepan. Label the saucepan and the right-angled triangle with the appropriate lengths.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Using Pythagoras’ theorem, explain whether the ladle is long enough to be used with this saucepan.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77"/>
          <p:cNvSpPr txBox="1"/>
          <p:nvPr/>
        </p:nvSpPr>
        <p:spPr>
          <a:xfrm flipH="1" rot="2654">
            <a:off x="2958999" y="707095"/>
            <a:ext cx="5827802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Izzy is practicing her backhand shots. She can hit a backhand shot 28 metres.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and Laura stand at different corners of the court.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7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modelled by right-angled triangles</a:t>
            </a:r>
            <a:endParaRPr/>
          </a:p>
        </p:txBody>
      </p:sp>
      <p:pic>
        <p:nvPicPr>
          <p:cNvPr id="1116" name="Google Shape;1116;p77"/>
          <p:cNvPicPr preferRelativeResize="0"/>
          <p:nvPr/>
        </p:nvPicPr>
        <p:blipFill rotWithShape="1">
          <a:blip r:embed="rId3">
            <a:alphaModFix/>
          </a:blip>
          <a:srcRect b="13001" l="23056" r="22845" t="13915"/>
          <a:stretch/>
        </p:blipFill>
        <p:spPr>
          <a:xfrm>
            <a:off x="962397" y="993400"/>
            <a:ext cx="1723453" cy="27756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7" name="Google Shape;1117;p77"/>
          <p:cNvGrpSpPr/>
          <p:nvPr/>
        </p:nvGrpSpPr>
        <p:grpSpPr>
          <a:xfrm>
            <a:off x="1155643" y="3700905"/>
            <a:ext cx="1327810" cy="301754"/>
            <a:chOff x="5897099" y="4472400"/>
            <a:chExt cx="1472400" cy="345850"/>
          </a:xfrm>
        </p:grpSpPr>
        <p:cxnSp>
          <p:nvCxnSpPr>
            <p:cNvPr id="1118" name="Google Shape;1118;p77"/>
            <p:cNvCxnSpPr/>
            <p:nvPr/>
          </p:nvCxnSpPr>
          <p:spPr>
            <a:xfrm>
              <a:off x="5897099" y="4472400"/>
              <a:ext cx="14724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19" name="Google Shape;1119;p77"/>
            <p:cNvSpPr txBox="1"/>
            <p:nvPr/>
          </p:nvSpPr>
          <p:spPr>
            <a:xfrm>
              <a:off x="6168776" y="4494550"/>
              <a:ext cx="9291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11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0" name="Google Shape;1120;p77"/>
          <p:cNvGrpSpPr/>
          <p:nvPr/>
        </p:nvGrpSpPr>
        <p:grpSpPr>
          <a:xfrm rot="5400000">
            <a:off x="-558469" y="2060965"/>
            <a:ext cx="2298269" cy="651723"/>
            <a:chOff x="5897099" y="4422778"/>
            <a:chExt cx="1472400" cy="787200"/>
          </a:xfrm>
        </p:grpSpPr>
        <p:cxnSp>
          <p:nvCxnSpPr>
            <p:cNvPr id="1121" name="Google Shape;1121;p77"/>
            <p:cNvCxnSpPr/>
            <p:nvPr/>
          </p:nvCxnSpPr>
          <p:spPr>
            <a:xfrm>
              <a:off x="5897099" y="4472400"/>
              <a:ext cx="14724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22" name="Google Shape;1122;p77"/>
            <p:cNvSpPr txBox="1"/>
            <p:nvPr/>
          </p:nvSpPr>
          <p:spPr>
            <a:xfrm rot="-5400000">
              <a:off x="6239799" y="4667728"/>
              <a:ext cx="787200" cy="2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24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23" name="Google Shape;1123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73535" y="607200"/>
            <a:ext cx="360916" cy="36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4" name="Google Shape;1124;p77"/>
          <p:cNvCxnSpPr/>
          <p:nvPr/>
        </p:nvCxnSpPr>
        <p:spPr>
          <a:xfrm>
            <a:off x="915540" y="942774"/>
            <a:ext cx="267000" cy="2928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25" name="Google Shape;1125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2272979" y="4091909"/>
            <a:ext cx="266456" cy="3677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6" name="Google Shape;1126;p77"/>
          <p:cNvCxnSpPr>
            <a:endCxn id="1125" idx="0"/>
          </p:cNvCxnSpPr>
          <p:nvPr/>
        </p:nvCxnSpPr>
        <p:spPr>
          <a:xfrm flipH="1">
            <a:off x="2406207" y="3524609"/>
            <a:ext cx="63300" cy="5673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7" name="Google Shape;1127;p77"/>
          <p:cNvSpPr txBox="1"/>
          <p:nvPr/>
        </p:nvSpPr>
        <p:spPr>
          <a:xfrm flipH="1" rot="3652">
            <a:off x="1989323" y="4369593"/>
            <a:ext cx="84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77"/>
          <p:cNvSpPr txBox="1"/>
          <p:nvPr/>
        </p:nvSpPr>
        <p:spPr>
          <a:xfrm flipH="1" rot="3499">
            <a:off x="952690" y="670277"/>
            <a:ext cx="589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29" name="Google Shape;1129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969685" y="4082319"/>
            <a:ext cx="287733" cy="336386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77"/>
          <p:cNvSpPr txBox="1"/>
          <p:nvPr/>
        </p:nvSpPr>
        <p:spPr>
          <a:xfrm flipH="1" rot="3499">
            <a:off x="848045" y="4397282"/>
            <a:ext cx="589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1" name="Google Shape;1131;p77"/>
          <p:cNvCxnSpPr>
            <a:endCxn id="1129" idx="0"/>
          </p:cNvCxnSpPr>
          <p:nvPr/>
        </p:nvCxnSpPr>
        <p:spPr>
          <a:xfrm flipH="1">
            <a:off x="1113551" y="3510519"/>
            <a:ext cx="69000" cy="5718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2" name="Google Shape;1132;p77"/>
          <p:cNvSpPr txBox="1"/>
          <p:nvPr/>
        </p:nvSpPr>
        <p:spPr>
          <a:xfrm flipH="1" rot="2706">
            <a:off x="2958874" y="2116687"/>
            <a:ext cx="4573201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Model this context onto this right-angled triangle, labelling any relevant distances given in the context.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3" name="Google Shape;1133;p77"/>
          <p:cNvCxnSpPr/>
          <p:nvPr/>
        </p:nvCxnSpPr>
        <p:spPr>
          <a:xfrm>
            <a:off x="7647953" y="3475200"/>
            <a:ext cx="9837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34" name="Google Shape;1134;p77"/>
          <p:cNvSpPr/>
          <p:nvPr/>
        </p:nvSpPr>
        <p:spPr>
          <a:xfrm>
            <a:off x="7666786" y="1945224"/>
            <a:ext cx="960300" cy="1338000"/>
          </a:xfrm>
          <a:prstGeom prst="rtTriangle">
            <a:avLst/>
          </a:prstGeom>
          <a:solidFill>
            <a:srgbClr val="EBEDFE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5" name="Google Shape;1135;p77"/>
          <p:cNvCxnSpPr/>
          <p:nvPr/>
        </p:nvCxnSpPr>
        <p:spPr>
          <a:xfrm>
            <a:off x="7463786" y="1982425"/>
            <a:ext cx="0" cy="13005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36" name="Google Shape;1136;p77"/>
          <p:cNvSpPr/>
          <p:nvPr/>
        </p:nvSpPr>
        <p:spPr>
          <a:xfrm>
            <a:off x="7669111" y="3103275"/>
            <a:ext cx="179700" cy="17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7" name="Google Shape;1137;p77"/>
          <p:cNvCxnSpPr/>
          <p:nvPr/>
        </p:nvCxnSpPr>
        <p:spPr>
          <a:xfrm rot="3254767">
            <a:off x="7425482" y="2524268"/>
            <a:ext cx="1700483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38" name="Google Shape;1138;p77"/>
          <p:cNvSpPr txBox="1"/>
          <p:nvPr/>
        </p:nvSpPr>
        <p:spPr>
          <a:xfrm flipH="1" rot="3391">
            <a:off x="2958868" y="3365425"/>
            <a:ext cx="3953402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Explain whether Izzy’s backhand shot can reach Sofia.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77"/>
          <p:cNvSpPr txBox="1"/>
          <p:nvPr/>
        </p:nvSpPr>
        <p:spPr>
          <a:xfrm flipH="1" rot="3371">
            <a:off x="2959124" y="4116500"/>
            <a:ext cx="5813403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Using Pythagoras’ theorem, explain whether Izzy’s backhand shot can reach Laura.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78"/>
          <p:cNvSpPr txBox="1"/>
          <p:nvPr/>
        </p:nvSpPr>
        <p:spPr>
          <a:xfrm flipH="1" rot="2627">
            <a:off x="324099" y="655968"/>
            <a:ext cx="3925201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A train conductor uses a 256 cm long access ramp to help passengers board a maglev train.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step to board the train is 43 cm higher than the platform the passengers are waiting 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far onto the platform will the access ramp reach (to 1 d.p.)?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78"/>
          <p:cNvSpPr/>
          <p:nvPr/>
        </p:nvSpPr>
        <p:spPr>
          <a:xfrm>
            <a:off x="4392325" y="3793486"/>
            <a:ext cx="4394400" cy="210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78"/>
          <p:cNvSpPr/>
          <p:nvPr/>
        </p:nvSpPr>
        <p:spPr>
          <a:xfrm>
            <a:off x="4824000" y="2978774"/>
            <a:ext cx="2084981" cy="573095"/>
          </a:xfrm>
          <a:custGeom>
            <a:rect b="b" l="l" r="r" t="t"/>
            <a:pathLst>
              <a:path extrusionOk="0" h="44931" w="90750">
                <a:moveTo>
                  <a:pt x="11528" y="44931"/>
                </a:moveTo>
                <a:lnTo>
                  <a:pt x="0" y="37541"/>
                </a:lnTo>
                <a:lnTo>
                  <a:pt x="90750" y="0"/>
                </a:lnTo>
                <a:lnTo>
                  <a:pt x="90750" y="1271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595959"/>
              </a:gs>
            </a:gsLst>
            <a:lin ang="0" scaled="0"/>
          </a:gradFill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47" name="Google Shape;1147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modelled by right-angled triangles</a:t>
            </a:r>
            <a:endParaRPr/>
          </a:p>
        </p:txBody>
      </p:sp>
      <p:sp>
        <p:nvSpPr>
          <p:cNvPr id="1148" name="Google Shape;1148;p78"/>
          <p:cNvSpPr txBox="1"/>
          <p:nvPr/>
        </p:nvSpPr>
        <p:spPr>
          <a:xfrm flipH="1" rot="-767597">
            <a:off x="5022996" y="2917532"/>
            <a:ext cx="1734150" cy="277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access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ramp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78"/>
          <p:cNvSpPr txBox="1"/>
          <p:nvPr/>
        </p:nvSpPr>
        <p:spPr>
          <a:xfrm flipH="1" rot="2848">
            <a:off x="7226933" y="4002457"/>
            <a:ext cx="108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train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78"/>
          <p:cNvSpPr txBox="1"/>
          <p:nvPr/>
        </p:nvSpPr>
        <p:spPr>
          <a:xfrm flipH="1" rot="2848">
            <a:off x="7226933" y="1245507"/>
            <a:ext cx="108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train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51" name="Google Shape;1151;p78"/>
          <p:cNvGrpSpPr/>
          <p:nvPr/>
        </p:nvGrpSpPr>
        <p:grpSpPr>
          <a:xfrm>
            <a:off x="4392325" y="1523146"/>
            <a:ext cx="4394476" cy="2478850"/>
            <a:chOff x="4392325" y="1523146"/>
            <a:chExt cx="4394476" cy="2478850"/>
          </a:xfrm>
        </p:grpSpPr>
        <p:pic>
          <p:nvPicPr>
            <p:cNvPr id="1152" name="Google Shape;1152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53377" y="1523146"/>
              <a:ext cx="2033425" cy="2478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3" name="Google Shape;1153;p78"/>
            <p:cNvSpPr/>
            <p:nvPr/>
          </p:nvSpPr>
          <p:spPr>
            <a:xfrm>
              <a:off x="4392325" y="3415350"/>
              <a:ext cx="2366700" cy="3828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54" name="Google Shape;1154;p78"/>
          <p:cNvSpPr txBox="1"/>
          <p:nvPr/>
        </p:nvSpPr>
        <p:spPr>
          <a:xfrm flipH="1" rot="2848">
            <a:off x="5044058" y="3559722"/>
            <a:ext cx="108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platform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79"/>
          <p:cNvSpPr txBox="1"/>
          <p:nvPr/>
        </p:nvSpPr>
        <p:spPr>
          <a:xfrm flipH="1" rot="2681">
            <a:off x="324099" y="657640"/>
            <a:ext cx="8462703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The right-angled triangle models the saucepan. Label the saucepan and the right-angled triangle with the appropriate lengths.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Using Pythagoras’ theorem, explain whether the ladle is long enough to be used with this saucepan.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modelled by right-angled triangles</a:t>
            </a:r>
            <a:endParaRPr/>
          </a:p>
        </p:txBody>
      </p:sp>
      <p:grpSp>
        <p:nvGrpSpPr>
          <p:cNvPr id="1161" name="Google Shape;1161;p79"/>
          <p:cNvGrpSpPr/>
          <p:nvPr/>
        </p:nvGrpSpPr>
        <p:grpSpPr>
          <a:xfrm>
            <a:off x="3197154" y="3279639"/>
            <a:ext cx="2444873" cy="1108268"/>
            <a:chOff x="1094849" y="1970557"/>
            <a:chExt cx="3312835" cy="1501718"/>
          </a:xfrm>
        </p:grpSpPr>
        <p:grpSp>
          <p:nvGrpSpPr>
            <p:cNvPr id="1162" name="Google Shape;1162;p79"/>
            <p:cNvGrpSpPr/>
            <p:nvPr/>
          </p:nvGrpSpPr>
          <p:grpSpPr>
            <a:xfrm>
              <a:off x="1244438" y="1970557"/>
              <a:ext cx="3163246" cy="1395874"/>
              <a:chOff x="2820561" y="1873957"/>
              <a:chExt cx="3163246" cy="1395874"/>
            </a:xfrm>
          </p:grpSpPr>
          <p:sp>
            <p:nvSpPr>
              <p:cNvPr id="1163" name="Google Shape;1163;p79"/>
              <p:cNvSpPr/>
              <p:nvPr/>
            </p:nvSpPr>
            <p:spPr>
              <a:xfrm flipH="1" rot="9489519">
                <a:off x="4621733" y="2120173"/>
                <a:ext cx="1358733" cy="257568"/>
              </a:xfrm>
              <a:prstGeom prst="diagStripe">
                <a:avLst>
                  <a:gd fmla="val 68104" name="adj"/>
                </a:avLst>
              </a:prstGeom>
              <a:solidFill>
                <a:srgbClr val="434343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64" name="Google Shape;1164;p79"/>
              <p:cNvSpPr/>
              <p:nvPr/>
            </p:nvSpPr>
            <p:spPr>
              <a:xfrm>
                <a:off x="4641607" y="2114401"/>
                <a:ext cx="1342200" cy="260400"/>
              </a:xfrm>
              <a:prstGeom prst="diagStripe">
                <a:avLst>
                  <a:gd fmla="val 84995" name="adj"/>
                </a:avLst>
              </a:prstGeom>
              <a:solidFill>
                <a:srgbClr val="787878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65" name="Google Shape;1165;p79"/>
              <p:cNvSpPr/>
              <p:nvPr/>
            </p:nvSpPr>
            <p:spPr>
              <a:xfrm>
                <a:off x="2820561" y="2827930"/>
                <a:ext cx="1868700" cy="441900"/>
              </a:xfrm>
              <a:prstGeom prst="ellipse">
                <a:avLst/>
              </a:prstGeom>
              <a:gradFill>
                <a:gsLst>
                  <a:gs pos="0">
                    <a:srgbClr val="999999"/>
                  </a:gs>
                  <a:gs pos="49000">
                    <a:srgbClr val="434343"/>
                  </a:gs>
                  <a:gs pos="100000">
                    <a:srgbClr val="434343"/>
                  </a:gs>
                </a:gsLst>
                <a:lin ang="0" scaled="0"/>
              </a:gra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66" name="Google Shape;1166;p79"/>
              <p:cNvSpPr/>
              <p:nvPr/>
            </p:nvSpPr>
            <p:spPr>
              <a:xfrm>
                <a:off x="2820653" y="2200962"/>
                <a:ext cx="1868700" cy="841800"/>
              </a:xfrm>
              <a:prstGeom prst="rect">
                <a:avLst/>
              </a:prstGeom>
              <a:gradFill>
                <a:gsLst>
                  <a:gs pos="0">
                    <a:srgbClr val="999999"/>
                  </a:gs>
                  <a:gs pos="49000">
                    <a:srgbClr val="434343"/>
                  </a:gs>
                  <a:gs pos="100000">
                    <a:srgbClr val="43434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67" name="Google Shape;1167;p79"/>
              <p:cNvSpPr/>
              <p:nvPr/>
            </p:nvSpPr>
            <p:spPr>
              <a:xfrm>
                <a:off x="2820561" y="1968889"/>
                <a:ext cx="1868700" cy="441900"/>
              </a:xfrm>
              <a:prstGeom prst="ellipse">
                <a:avLst/>
              </a:prstGeom>
              <a:gradFill>
                <a:gsLst>
                  <a:gs pos="0">
                    <a:srgbClr val="D9D9D9"/>
                  </a:gs>
                  <a:gs pos="62000">
                    <a:srgbClr val="808080"/>
                  </a:gs>
                  <a:gs pos="100000">
                    <a:srgbClr val="808080"/>
                  </a:gs>
                </a:gsLst>
                <a:lin ang="8100019" scaled="0"/>
              </a:gra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168" name="Google Shape;1168;p79"/>
              <p:cNvCxnSpPr/>
              <p:nvPr/>
            </p:nvCxnSpPr>
            <p:spPr>
              <a:xfrm>
                <a:off x="2820561" y="2200999"/>
                <a:ext cx="0" cy="841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69" name="Google Shape;1169;p79"/>
              <p:cNvSpPr/>
              <p:nvPr/>
            </p:nvSpPr>
            <p:spPr>
              <a:xfrm rot="-6078596">
                <a:off x="5714197" y="2101673"/>
                <a:ext cx="26005" cy="85017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170" name="Google Shape;1170;p79"/>
              <p:cNvCxnSpPr/>
              <p:nvPr/>
            </p:nvCxnSpPr>
            <p:spPr>
              <a:xfrm>
                <a:off x="4689114" y="2200999"/>
                <a:ext cx="0" cy="841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171" name="Google Shape;1171;p79"/>
            <p:cNvCxnSpPr/>
            <p:nvPr/>
          </p:nvCxnSpPr>
          <p:spPr>
            <a:xfrm>
              <a:off x="1244447" y="3472275"/>
              <a:ext cx="18714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72" name="Google Shape;1172;p79"/>
            <p:cNvCxnSpPr/>
            <p:nvPr/>
          </p:nvCxnSpPr>
          <p:spPr>
            <a:xfrm rot="5400000">
              <a:off x="611399" y="2715852"/>
              <a:ext cx="966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id="1173" name="Google Shape;117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484" y="3097752"/>
            <a:ext cx="1647875" cy="1329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4" name="Google Shape;1174;p79"/>
          <p:cNvCxnSpPr/>
          <p:nvPr/>
        </p:nvCxnSpPr>
        <p:spPr>
          <a:xfrm>
            <a:off x="335281" y="3640698"/>
            <a:ext cx="1731600" cy="9291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75" name="Google Shape;1175;p79"/>
          <p:cNvSpPr txBox="1"/>
          <p:nvPr/>
        </p:nvSpPr>
        <p:spPr>
          <a:xfrm>
            <a:off x="646676" y="4135063"/>
            <a:ext cx="929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79"/>
          <p:cNvSpPr/>
          <p:nvPr/>
        </p:nvSpPr>
        <p:spPr>
          <a:xfrm>
            <a:off x="6726025" y="3540843"/>
            <a:ext cx="1755900" cy="801900"/>
          </a:xfrm>
          <a:prstGeom prst="rtTriangle">
            <a:avLst/>
          </a:prstGeom>
          <a:solidFill>
            <a:srgbClr val="EBEDFE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79"/>
          <p:cNvSpPr/>
          <p:nvPr/>
        </p:nvSpPr>
        <p:spPr>
          <a:xfrm>
            <a:off x="6726015" y="4163060"/>
            <a:ext cx="179700" cy="17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8" name="Google Shape;1178;p79"/>
          <p:cNvCxnSpPr/>
          <p:nvPr/>
        </p:nvCxnSpPr>
        <p:spPr>
          <a:xfrm>
            <a:off x="6726032" y="4495207"/>
            <a:ext cx="17613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79" name="Google Shape;1179;p79"/>
          <p:cNvCxnSpPr/>
          <p:nvPr/>
        </p:nvCxnSpPr>
        <p:spPr>
          <a:xfrm>
            <a:off x="6534950" y="3537050"/>
            <a:ext cx="0" cy="8172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80" name="Google Shape;1180;p79"/>
          <p:cNvSpPr txBox="1"/>
          <p:nvPr/>
        </p:nvSpPr>
        <p:spPr>
          <a:xfrm flipH="1" rot="3104">
            <a:off x="1257200" y="3316318"/>
            <a:ext cx="66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ladle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79"/>
          <p:cNvSpPr txBox="1"/>
          <p:nvPr/>
        </p:nvSpPr>
        <p:spPr>
          <a:xfrm flipH="1" rot="2984">
            <a:off x="3304525" y="3005168"/>
            <a:ext cx="1382701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saucepan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79"/>
          <p:cNvSpPr txBox="1"/>
          <p:nvPr/>
        </p:nvSpPr>
        <p:spPr>
          <a:xfrm>
            <a:off x="3531326" y="4387888"/>
            <a:ext cx="929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30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3" name="Google Shape;1183;p79"/>
          <p:cNvSpPr txBox="1"/>
          <p:nvPr/>
        </p:nvSpPr>
        <p:spPr>
          <a:xfrm>
            <a:off x="7139426" y="4495188"/>
            <a:ext cx="929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30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4" name="Google Shape;1184;p79"/>
          <p:cNvSpPr txBox="1"/>
          <p:nvPr/>
        </p:nvSpPr>
        <p:spPr>
          <a:xfrm>
            <a:off x="5698736" y="3783788"/>
            <a:ext cx="929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5" name="Google Shape;1185;p79"/>
          <p:cNvSpPr txBox="1"/>
          <p:nvPr/>
        </p:nvSpPr>
        <p:spPr>
          <a:xfrm>
            <a:off x="2359458" y="3671913"/>
            <a:ext cx="929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86" name="Google Shape;1186;p79"/>
          <p:cNvCxnSpPr/>
          <p:nvPr/>
        </p:nvCxnSpPr>
        <p:spPr>
          <a:xfrm>
            <a:off x="6772303" y="3397029"/>
            <a:ext cx="1751700" cy="8271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87" name="Google Shape;1187;p79"/>
          <p:cNvSpPr txBox="1"/>
          <p:nvPr/>
        </p:nvSpPr>
        <p:spPr>
          <a:xfrm>
            <a:off x="518500" y="1919892"/>
            <a:ext cx="8268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ladle is too short, at 35 cm.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because the maximum distance inside the saucepan is the diagonal length of 36 cm, and so the ladle can sink completely into the saucepan.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8" name="Google Shape;1188;p79"/>
          <p:cNvSpPr txBox="1"/>
          <p:nvPr/>
        </p:nvSpPr>
        <p:spPr>
          <a:xfrm rot="1470586">
            <a:off x="6758531" y="3456160"/>
            <a:ext cx="1945289" cy="323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36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80"/>
          <p:cNvSpPr txBox="1"/>
          <p:nvPr/>
        </p:nvSpPr>
        <p:spPr>
          <a:xfrm flipH="1" rot="2700">
            <a:off x="2938180" y="2061760"/>
            <a:ext cx="4201501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Explain whether Izzy’s backhand shot can reach Sofia.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modelled by right-angled triangles</a:t>
            </a:r>
            <a:endParaRPr/>
          </a:p>
        </p:txBody>
      </p:sp>
      <p:pic>
        <p:nvPicPr>
          <p:cNvPr id="1195" name="Google Shape;1195;p80"/>
          <p:cNvPicPr preferRelativeResize="0"/>
          <p:nvPr/>
        </p:nvPicPr>
        <p:blipFill rotWithShape="1">
          <a:blip r:embed="rId3">
            <a:alphaModFix/>
          </a:blip>
          <a:srcRect b="13001" l="23056" r="22845" t="13915"/>
          <a:stretch/>
        </p:blipFill>
        <p:spPr>
          <a:xfrm>
            <a:off x="962059" y="920409"/>
            <a:ext cx="1397730" cy="22510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6" name="Google Shape;1196;p80"/>
          <p:cNvGrpSpPr/>
          <p:nvPr/>
        </p:nvGrpSpPr>
        <p:grpSpPr>
          <a:xfrm>
            <a:off x="1118991" y="3116203"/>
            <a:ext cx="1076913" cy="244723"/>
            <a:chOff x="5897099" y="4472400"/>
            <a:chExt cx="1472400" cy="345850"/>
          </a:xfrm>
        </p:grpSpPr>
        <p:cxnSp>
          <p:nvCxnSpPr>
            <p:cNvPr id="1197" name="Google Shape;1197;p80"/>
            <p:cNvCxnSpPr/>
            <p:nvPr/>
          </p:nvCxnSpPr>
          <p:spPr>
            <a:xfrm>
              <a:off x="5897099" y="4472400"/>
              <a:ext cx="14724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98" name="Google Shape;1198;p80"/>
            <p:cNvSpPr txBox="1"/>
            <p:nvPr/>
          </p:nvSpPr>
          <p:spPr>
            <a:xfrm>
              <a:off x="6168776" y="4494550"/>
              <a:ext cx="9291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11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9" name="Google Shape;1199;p80"/>
          <p:cNvGrpSpPr/>
          <p:nvPr/>
        </p:nvGrpSpPr>
        <p:grpSpPr>
          <a:xfrm rot="5400000">
            <a:off x="-344349" y="1706989"/>
            <a:ext cx="1863911" cy="687044"/>
            <a:chOff x="5897099" y="4413646"/>
            <a:chExt cx="1472400" cy="1023300"/>
          </a:xfrm>
        </p:grpSpPr>
        <p:cxnSp>
          <p:nvCxnSpPr>
            <p:cNvPr id="1200" name="Google Shape;1200;p80"/>
            <p:cNvCxnSpPr/>
            <p:nvPr/>
          </p:nvCxnSpPr>
          <p:spPr>
            <a:xfrm>
              <a:off x="5897099" y="4472400"/>
              <a:ext cx="14724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01" name="Google Shape;1201;p80"/>
            <p:cNvSpPr txBox="1"/>
            <p:nvPr/>
          </p:nvSpPr>
          <p:spPr>
            <a:xfrm rot="-5400000">
              <a:off x="6121741" y="4776646"/>
              <a:ext cx="1023300" cy="2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24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02" name="Google Shape;1202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46689" y="607200"/>
            <a:ext cx="292705" cy="2985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3" name="Google Shape;1203;p80"/>
          <p:cNvCxnSpPr/>
          <p:nvPr/>
        </p:nvCxnSpPr>
        <p:spPr>
          <a:xfrm>
            <a:off x="924058" y="879352"/>
            <a:ext cx="216600" cy="2376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04" name="Google Shape;1204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2148545" y="3433312"/>
            <a:ext cx="216097" cy="29828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5" name="Google Shape;1205;p80"/>
          <p:cNvCxnSpPr>
            <a:endCxn id="1204" idx="0"/>
          </p:cNvCxnSpPr>
          <p:nvPr/>
        </p:nvCxnSpPr>
        <p:spPr>
          <a:xfrm>
            <a:off x="2183694" y="2955412"/>
            <a:ext cx="72900" cy="4779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6" name="Google Shape;1206;p80"/>
          <p:cNvSpPr txBox="1"/>
          <p:nvPr/>
        </p:nvSpPr>
        <p:spPr>
          <a:xfrm flipH="1" rot="3002">
            <a:off x="1918582" y="3658580"/>
            <a:ext cx="68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80"/>
          <p:cNvSpPr txBox="1"/>
          <p:nvPr/>
        </p:nvSpPr>
        <p:spPr>
          <a:xfrm flipH="1" rot="4313">
            <a:off x="954074" y="658299"/>
            <a:ext cx="47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8" name="Google Shape;1208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967969" y="3425535"/>
            <a:ext cx="233353" cy="27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80"/>
          <p:cNvSpPr txBox="1"/>
          <p:nvPr/>
        </p:nvSpPr>
        <p:spPr>
          <a:xfrm flipH="1" rot="3877">
            <a:off x="709256" y="3680976"/>
            <a:ext cx="798001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10" name="Google Shape;1210;p80"/>
          <p:cNvCxnSpPr>
            <a:endCxn id="1208" idx="0"/>
          </p:cNvCxnSpPr>
          <p:nvPr/>
        </p:nvCxnSpPr>
        <p:spPr>
          <a:xfrm flipH="1">
            <a:off x="1084645" y="2961735"/>
            <a:ext cx="56100" cy="4638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1" name="Google Shape;1211;p80"/>
          <p:cNvSpPr txBox="1"/>
          <p:nvPr/>
        </p:nvSpPr>
        <p:spPr>
          <a:xfrm flipH="1" rot="3652">
            <a:off x="7571006" y="2280743"/>
            <a:ext cx="84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212" name="Google Shape;1212;p80"/>
          <p:cNvGrpSpPr/>
          <p:nvPr/>
        </p:nvGrpSpPr>
        <p:grpSpPr>
          <a:xfrm flipH="1">
            <a:off x="7340221" y="637968"/>
            <a:ext cx="1308737" cy="1640932"/>
            <a:chOff x="6717888" y="1981143"/>
            <a:chExt cx="1308737" cy="1640932"/>
          </a:xfrm>
        </p:grpSpPr>
        <p:cxnSp>
          <p:nvCxnSpPr>
            <p:cNvPr id="1213" name="Google Shape;1213;p80"/>
            <p:cNvCxnSpPr/>
            <p:nvPr/>
          </p:nvCxnSpPr>
          <p:spPr>
            <a:xfrm rot="10800000">
              <a:off x="6858758" y="3622075"/>
              <a:ext cx="9837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14" name="Google Shape;1214;p80"/>
            <p:cNvSpPr/>
            <p:nvPr/>
          </p:nvSpPr>
          <p:spPr>
            <a:xfrm flipH="1">
              <a:off x="6863325" y="2092099"/>
              <a:ext cx="960300" cy="1338000"/>
            </a:xfrm>
            <a:prstGeom prst="rtTriangle">
              <a:avLst/>
            </a:prstGeom>
            <a:solidFill>
              <a:srgbClr val="EBEDFE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15" name="Google Shape;1215;p80"/>
            <p:cNvCxnSpPr/>
            <p:nvPr/>
          </p:nvCxnSpPr>
          <p:spPr>
            <a:xfrm>
              <a:off x="8026625" y="2129300"/>
              <a:ext cx="0" cy="13005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16" name="Google Shape;1216;p80"/>
            <p:cNvSpPr/>
            <p:nvPr/>
          </p:nvSpPr>
          <p:spPr>
            <a:xfrm flipH="1">
              <a:off x="7641600" y="3250150"/>
              <a:ext cx="179700" cy="179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17" name="Google Shape;1217;p80"/>
            <p:cNvCxnSpPr/>
            <p:nvPr/>
          </p:nvCxnSpPr>
          <p:spPr>
            <a:xfrm rot="7545233">
              <a:off x="6364447" y="2671143"/>
              <a:ext cx="1700483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218" name="Google Shape;1218;p80"/>
          <p:cNvSpPr txBox="1"/>
          <p:nvPr/>
        </p:nvSpPr>
        <p:spPr>
          <a:xfrm flipH="1" rot="3652">
            <a:off x="6568559" y="1567697"/>
            <a:ext cx="84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24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9" name="Google Shape;1219;p80"/>
          <p:cNvSpPr txBox="1"/>
          <p:nvPr/>
        </p:nvSpPr>
        <p:spPr>
          <a:xfrm flipH="1" rot="3652">
            <a:off x="8034034" y="928055"/>
            <a:ext cx="84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26.4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0" name="Google Shape;1220;p80"/>
          <p:cNvSpPr txBox="1"/>
          <p:nvPr/>
        </p:nvSpPr>
        <p:spPr>
          <a:xfrm flipH="1" rot="3485">
            <a:off x="3070474" y="2578616"/>
            <a:ext cx="4439102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can, as Izzy’s shot of 28 m is longer than the 24 m between her and Sofia.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1" name="Google Shape;1221;p80"/>
          <p:cNvSpPr txBox="1"/>
          <p:nvPr/>
        </p:nvSpPr>
        <p:spPr>
          <a:xfrm flipH="1" rot="3570">
            <a:off x="3070476" y="3932775"/>
            <a:ext cx="5488203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Using Pythagoras’ theorem, the distance between Izzy and Laura is 26.4 m. Therefore, Izzy’s 28 m shot can reach Laura.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2" name="Google Shape;1222;p80"/>
          <p:cNvSpPr txBox="1"/>
          <p:nvPr/>
        </p:nvSpPr>
        <p:spPr>
          <a:xfrm flipH="1" rot="2630">
            <a:off x="2938199" y="3362639"/>
            <a:ext cx="5881802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Using Pythagoras’ theorem, explain whether Izzy’s backhand shot can reach Laura.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80"/>
          <p:cNvSpPr txBox="1"/>
          <p:nvPr/>
        </p:nvSpPr>
        <p:spPr>
          <a:xfrm flipH="1" rot="2556">
            <a:off x="2605549" y="745890"/>
            <a:ext cx="4439101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a) Model this context onto this right-angled triangle, labelling any relevant distances given in the context.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80"/>
          <p:cNvSpPr txBox="1"/>
          <p:nvPr/>
        </p:nvSpPr>
        <p:spPr>
          <a:xfrm flipH="1" rot="4419">
            <a:off x="7342507" y="595788"/>
            <a:ext cx="23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5" name="Google Shape;1225;p80"/>
          <p:cNvSpPr txBox="1"/>
          <p:nvPr/>
        </p:nvSpPr>
        <p:spPr>
          <a:xfrm flipH="1" rot="4419">
            <a:off x="7342507" y="2022275"/>
            <a:ext cx="23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6" name="Google Shape;1226;p80"/>
          <p:cNvSpPr txBox="1"/>
          <p:nvPr/>
        </p:nvSpPr>
        <p:spPr>
          <a:xfrm flipH="1" rot="4419">
            <a:off x="8472207" y="2022275"/>
            <a:ext cx="23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81"/>
          <p:cNvSpPr txBox="1"/>
          <p:nvPr/>
        </p:nvSpPr>
        <p:spPr>
          <a:xfrm flipH="1" rot="2476">
            <a:off x="324124" y="656820"/>
            <a:ext cx="5831702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train conductor uses a 256 cm long access ramp to help passengers board a maglev train.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step to board the train is 43 cm higher than the platform the passengers are waiting 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modelled by right-angled triangles</a:t>
            </a:r>
            <a:endParaRPr/>
          </a:p>
        </p:txBody>
      </p:sp>
      <p:sp>
        <p:nvSpPr>
          <p:cNvPr id="1233" name="Google Shape;1233;p81"/>
          <p:cNvSpPr/>
          <p:nvPr/>
        </p:nvSpPr>
        <p:spPr>
          <a:xfrm flipH="1">
            <a:off x="963611" y="2464368"/>
            <a:ext cx="1755900" cy="801900"/>
          </a:xfrm>
          <a:prstGeom prst="rtTriangle">
            <a:avLst/>
          </a:prstGeom>
          <a:solidFill>
            <a:srgbClr val="EBEDFE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81"/>
          <p:cNvSpPr/>
          <p:nvPr/>
        </p:nvSpPr>
        <p:spPr>
          <a:xfrm flipH="1">
            <a:off x="2539821" y="3086585"/>
            <a:ext cx="179700" cy="17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5" name="Google Shape;1235;p81"/>
          <p:cNvCxnSpPr/>
          <p:nvPr/>
        </p:nvCxnSpPr>
        <p:spPr>
          <a:xfrm rot="10800000">
            <a:off x="958204" y="3418732"/>
            <a:ext cx="17613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36" name="Google Shape;1236;p81"/>
          <p:cNvCxnSpPr/>
          <p:nvPr/>
        </p:nvCxnSpPr>
        <p:spPr>
          <a:xfrm>
            <a:off x="2910586" y="2460575"/>
            <a:ext cx="0" cy="8172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7" name="Google Shape;1237;p81"/>
          <p:cNvSpPr txBox="1"/>
          <p:nvPr/>
        </p:nvSpPr>
        <p:spPr>
          <a:xfrm flipH="1">
            <a:off x="1192651" y="3418725"/>
            <a:ext cx="1297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252.4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8" name="Google Shape;1238;p81"/>
          <p:cNvSpPr txBox="1"/>
          <p:nvPr/>
        </p:nvSpPr>
        <p:spPr>
          <a:xfrm flipH="1">
            <a:off x="2817700" y="2707313"/>
            <a:ext cx="929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43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39" name="Google Shape;1239;p81"/>
          <p:cNvCxnSpPr/>
          <p:nvPr/>
        </p:nvCxnSpPr>
        <p:spPr>
          <a:xfrm flipH="1">
            <a:off x="921533" y="2320554"/>
            <a:ext cx="1751700" cy="8271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40" name="Google Shape;1240;p81"/>
          <p:cNvSpPr txBox="1"/>
          <p:nvPr/>
        </p:nvSpPr>
        <p:spPr>
          <a:xfrm flipH="1" rot="-1470586">
            <a:off x="741716" y="2379685"/>
            <a:ext cx="1945289" cy="323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256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1" name="Google Shape;1241;p81"/>
          <p:cNvSpPr txBox="1"/>
          <p:nvPr/>
        </p:nvSpPr>
        <p:spPr>
          <a:xfrm flipH="1">
            <a:off x="386948" y="3894875"/>
            <a:ext cx="3670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minimum horizontal distance away from the train is 252.4 cm.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42" name="Google Shape;1242;p81"/>
          <p:cNvCxnSpPr/>
          <p:nvPr/>
        </p:nvCxnSpPr>
        <p:spPr>
          <a:xfrm rot="10800000">
            <a:off x="4743869" y="4524451"/>
            <a:ext cx="19044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43" name="Google Shape;1243;p81"/>
          <p:cNvSpPr txBox="1"/>
          <p:nvPr/>
        </p:nvSpPr>
        <p:spPr>
          <a:xfrm flipH="1">
            <a:off x="4997506" y="4524444"/>
            <a:ext cx="1403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252.4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4" name="Google Shape;1244;p81"/>
          <p:cNvSpPr/>
          <p:nvPr/>
        </p:nvSpPr>
        <p:spPr>
          <a:xfrm>
            <a:off x="4316125" y="3945886"/>
            <a:ext cx="4394400" cy="210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81"/>
          <p:cNvSpPr/>
          <p:nvPr/>
        </p:nvSpPr>
        <p:spPr>
          <a:xfrm>
            <a:off x="4747800" y="3131174"/>
            <a:ext cx="2084981" cy="573095"/>
          </a:xfrm>
          <a:custGeom>
            <a:rect b="b" l="l" r="r" t="t"/>
            <a:pathLst>
              <a:path extrusionOk="0" h="44931" w="90750">
                <a:moveTo>
                  <a:pt x="11528" y="44931"/>
                </a:moveTo>
                <a:lnTo>
                  <a:pt x="0" y="37541"/>
                </a:lnTo>
                <a:lnTo>
                  <a:pt x="90750" y="0"/>
                </a:lnTo>
                <a:lnTo>
                  <a:pt x="90750" y="1271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595959"/>
              </a:gs>
            </a:gsLst>
            <a:lin ang="0" scaled="0"/>
          </a:gradFill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46" name="Google Shape;1246;p81"/>
          <p:cNvSpPr txBox="1"/>
          <p:nvPr/>
        </p:nvSpPr>
        <p:spPr>
          <a:xfrm flipH="1" rot="-767597">
            <a:off x="4946796" y="3069932"/>
            <a:ext cx="1734150" cy="277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access ramp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81"/>
          <p:cNvSpPr txBox="1"/>
          <p:nvPr/>
        </p:nvSpPr>
        <p:spPr>
          <a:xfrm flipH="1" rot="2848">
            <a:off x="7150733" y="4154857"/>
            <a:ext cx="108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train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81"/>
          <p:cNvSpPr txBox="1"/>
          <p:nvPr/>
        </p:nvSpPr>
        <p:spPr>
          <a:xfrm flipH="1" rot="2848">
            <a:off x="7150733" y="1397907"/>
            <a:ext cx="108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train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49" name="Google Shape;1249;p81"/>
          <p:cNvGrpSpPr/>
          <p:nvPr/>
        </p:nvGrpSpPr>
        <p:grpSpPr>
          <a:xfrm>
            <a:off x="4316125" y="1675546"/>
            <a:ext cx="4394476" cy="2478850"/>
            <a:chOff x="4392325" y="1523146"/>
            <a:chExt cx="4394476" cy="2478850"/>
          </a:xfrm>
        </p:grpSpPr>
        <p:pic>
          <p:nvPicPr>
            <p:cNvPr id="1250" name="Google Shape;1250;p8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53377" y="1523146"/>
              <a:ext cx="2033425" cy="2478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1" name="Google Shape;1251;p81"/>
            <p:cNvSpPr/>
            <p:nvPr/>
          </p:nvSpPr>
          <p:spPr>
            <a:xfrm>
              <a:off x="4392325" y="3415350"/>
              <a:ext cx="2366700" cy="3828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52" name="Google Shape;1252;p81"/>
          <p:cNvSpPr txBox="1"/>
          <p:nvPr/>
        </p:nvSpPr>
        <p:spPr>
          <a:xfrm flipH="1" rot="2848">
            <a:off x="4815458" y="3704732"/>
            <a:ext cx="108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platform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82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and evaluating modelled contexts</a:t>
            </a:r>
            <a:endParaRPr/>
          </a:p>
        </p:txBody>
      </p:sp>
      <p:sp>
        <p:nvSpPr>
          <p:cNvPr id="1258" name="Google Shape;1258;p82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modelled by right-angled triangles</a:t>
            </a:r>
            <a:endParaRPr/>
          </a:p>
        </p:txBody>
      </p:sp>
      <p:sp>
        <p:nvSpPr>
          <p:cNvPr id="1259" name="Google Shape;1259;p82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in context</a:t>
            </a:r>
            <a:endParaRPr/>
          </a:p>
        </p:txBody>
      </p:sp>
      <p:pic>
        <p:nvPicPr>
          <p:cNvPr id="1260" name="Google Shape;126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015" y="299519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83"/>
          <p:cNvSpPr txBox="1"/>
          <p:nvPr/>
        </p:nvSpPr>
        <p:spPr>
          <a:xfrm flipH="1" rot="2671">
            <a:off x="324016" y="667411"/>
            <a:ext cx="8496003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Sometimes, we have to deal with descriptions of contexts without any diagrams, and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model them as right-angled triangles.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and evaluating modelled contexts</a:t>
            </a:r>
            <a:endParaRPr/>
          </a:p>
        </p:txBody>
      </p:sp>
      <p:sp>
        <p:nvSpPr>
          <p:cNvPr id="1267" name="Google Shape;1267;p83"/>
          <p:cNvSpPr txBox="1"/>
          <p:nvPr/>
        </p:nvSpPr>
        <p:spPr>
          <a:xfrm flipH="1" rot="2671">
            <a:off x="324016" y="3156536"/>
            <a:ext cx="8496003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can this problem be modelled as a right-angled triangle, and solved using Pythagoras’ theorem?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83"/>
          <p:cNvSpPr txBox="1"/>
          <p:nvPr/>
        </p:nvSpPr>
        <p:spPr>
          <a:xfrm flipH="1" rot="2671">
            <a:off x="324016" y="1444724"/>
            <a:ext cx="8496003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For example: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small bird sits 3 metres horizontally away from a tall tree.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bird flies 9 metres to the top of the tree.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tall is the tree, rounded to 1 decimal place?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84"/>
          <p:cNvSpPr txBox="1"/>
          <p:nvPr/>
        </p:nvSpPr>
        <p:spPr>
          <a:xfrm flipH="1" rot="2671">
            <a:off x="324016" y="667411"/>
            <a:ext cx="8496003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small bird sits 3 metres horizontally away from a tall tree.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bird flies 9 metres to the top of the tree.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tall is the tree, rounded to 1 decimal place?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and evaluating modelled contexts</a:t>
            </a:r>
            <a:endParaRPr/>
          </a:p>
        </p:txBody>
      </p:sp>
      <p:sp>
        <p:nvSpPr>
          <p:cNvPr id="1275" name="Google Shape;1275;p84"/>
          <p:cNvSpPr/>
          <p:nvPr/>
        </p:nvSpPr>
        <p:spPr>
          <a:xfrm>
            <a:off x="514125" y="675806"/>
            <a:ext cx="1166400" cy="285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84"/>
          <p:cNvSpPr/>
          <p:nvPr/>
        </p:nvSpPr>
        <p:spPr>
          <a:xfrm>
            <a:off x="1244400" y="3921536"/>
            <a:ext cx="391800" cy="391800"/>
          </a:xfrm>
          <a:prstGeom prst="mathMultiply">
            <a:avLst>
              <a:gd fmla="val 8825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84"/>
          <p:cNvSpPr txBox="1"/>
          <p:nvPr/>
        </p:nvSpPr>
        <p:spPr>
          <a:xfrm flipH="1" rot="1609">
            <a:off x="1119828" y="4164468"/>
            <a:ext cx="64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bird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84"/>
          <p:cNvSpPr/>
          <p:nvPr/>
        </p:nvSpPr>
        <p:spPr>
          <a:xfrm>
            <a:off x="2097269" y="675800"/>
            <a:ext cx="3039300" cy="285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79" name="Google Shape;1279;p84"/>
          <p:cNvGrpSpPr/>
          <p:nvPr/>
        </p:nvGrpSpPr>
        <p:grpSpPr>
          <a:xfrm>
            <a:off x="1444314" y="4117388"/>
            <a:ext cx="1860300" cy="715180"/>
            <a:chOff x="1444314" y="4117388"/>
            <a:chExt cx="1860300" cy="715180"/>
          </a:xfrm>
        </p:grpSpPr>
        <p:cxnSp>
          <p:nvCxnSpPr>
            <p:cNvPr id="1280" name="Google Shape;1280;p84"/>
            <p:cNvCxnSpPr/>
            <p:nvPr/>
          </p:nvCxnSpPr>
          <p:spPr>
            <a:xfrm>
              <a:off x="1444314" y="4117388"/>
              <a:ext cx="1860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281" name="Google Shape;1281;p84"/>
            <p:cNvGrpSpPr/>
            <p:nvPr/>
          </p:nvGrpSpPr>
          <p:grpSpPr>
            <a:xfrm>
              <a:off x="1444319" y="4547968"/>
              <a:ext cx="1860275" cy="284600"/>
              <a:chOff x="3258283" y="4458575"/>
              <a:chExt cx="983700" cy="284600"/>
            </a:xfrm>
          </p:grpSpPr>
          <p:sp>
            <p:nvSpPr>
              <p:cNvPr id="1282" name="Google Shape;1282;p84"/>
              <p:cNvSpPr txBox="1"/>
              <p:nvPr/>
            </p:nvSpPr>
            <p:spPr>
              <a:xfrm flipH="1">
                <a:off x="3364395" y="4543375"/>
                <a:ext cx="757200" cy="19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 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283" name="Google Shape;1283;p84"/>
              <p:cNvCxnSpPr/>
              <p:nvPr/>
            </p:nvCxnSpPr>
            <p:spPr>
              <a:xfrm rot="10800000">
                <a:off x="3258283" y="4458575"/>
                <a:ext cx="9837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</p:grpSp>
      <p:sp>
        <p:nvSpPr>
          <p:cNvPr id="1284" name="Google Shape;1284;p84"/>
          <p:cNvSpPr/>
          <p:nvPr/>
        </p:nvSpPr>
        <p:spPr>
          <a:xfrm>
            <a:off x="5740600" y="675800"/>
            <a:ext cx="1110600" cy="285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85" name="Google Shape;1285;p84"/>
          <p:cNvCxnSpPr/>
          <p:nvPr/>
        </p:nvCxnSpPr>
        <p:spPr>
          <a:xfrm>
            <a:off x="3304600" y="1804536"/>
            <a:ext cx="0" cy="231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6" name="Google Shape;1286;p84"/>
          <p:cNvSpPr txBox="1"/>
          <p:nvPr/>
        </p:nvSpPr>
        <p:spPr>
          <a:xfrm flipH="1" rot="1752">
            <a:off x="3540696" y="2822401"/>
            <a:ext cx="58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tree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84"/>
          <p:cNvSpPr/>
          <p:nvPr/>
        </p:nvSpPr>
        <p:spPr>
          <a:xfrm>
            <a:off x="769926" y="953875"/>
            <a:ext cx="4477200" cy="285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88" name="Google Shape;1288;p84"/>
          <p:cNvCxnSpPr/>
          <p:nvPr/>
        </p:nvCxnSpPr>
        <p:spPr>
          <a:xfrm flipH="1">
            <a:off x="1451800" y="1806675"/>
            <a:ext cx="1854300" cy="231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9" name="Google Shape;1289;p84"/>
          <p:cNvSpPr txBox="1"/>
          <p:nvPr/>
        </p:nvSpPr>
        <p:spPr>
          <a:xfrm flipH="1" rot="1678">
            <a:off x="769925" y="2348107"/>
            <a:ext cx="122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flight path of bird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0" name="Google Shape;1290;p84"/>
          <p:cNvGrpSpPr/>
          <p:nvPr/>
        </p:nvGrpSpPr>
        <p:grpSpPr>
          <a:xfrm flipH="1" rot="7722059">
            <a:off x="530284" y="2589041"/>
            <a:ext cx="3078586" cy="284489"/>
            <a:chOff x="3258283" y="4458575"/>
            <a:chExt cx="983700" cy="284481"/>
          </a:xfrm>
        </p:grpSpPr>
        <p:sp>
          <p:nvSpPr>
            <p:cNvPr id="1291" name="Google Shape;1291;p84"/>
            <p:cNvSpPr txBox="1"/>
            <p:nvPr/>
          </p:nvSpPr>
          <p:spPr>
            <a:xfrm flipH="1" rot="10800000">
              <a:off x="3364322" y="4543256"/>
              <a:ext cx="7572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9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92" name="Google Shape;1292;p84"/>
            <p:cNvCxnSpPr/>
            <p:nvPr/>
          </p:nvCxnSpPr>
          <p:spPr>
            <a:xfrm rot="10800000">
              <a:off x="3258283" y="4458575"/>
              <a:ext cx="983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293" name="Google Shape;1293;p84"/>
          <p:cNvSpPr/>
          <p:nvPr/>
        </p:nvSpPr>
        <p:spPr>
          <a:xfrm>
            <a:off x="3116975" y="3940575"/>
            <a:ext cx="179700" cy="17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84"/>
          <p:cNvSpPr txBox="1"/>
          <p:nvPr/>
        </p:nvSpPr>
        <p:spPr>
          <a:xfrm flipH="1" rot="2137">
            <a:off x="3352445" y="3253842"/>
            <a:ext cx="965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metres tall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84"/>
          <p:cNvSpPr txBox="1"/>
          <p:nvPr/>
        </p:nvSpPr>
        <p:spPr>
          <a:xfrm flipH="1" rot="2800">
            <a:off x="4908024" y="2343019"/>
            <a:ext cx="3683401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bird, the tree, and the distances between them are now modelled by a right-angled triangle, where we want to find the height of the tree: the length of one of the shorter sides of the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85"/>
          <p:cNvSpPr txBox="1"/>
          <p:nvPr/>
        </p:nvSpPr>
        <p:spPr>
          <a:xfrm flipH="1" rot="2304">
            <a:off x="5686825" y="2687750"/>
            <a:ext cx="3133201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² 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+  3²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=  72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85"/>
          <p:cNvSpPr txBox="1"/>
          <p:nvPr/>
        </p:nvSpPr>
        <p:spPr>
          <a:xfrm flipH="1" rot="2671">
            <a:off x="324016" y="667411"/>
            <a:ext cx="8496003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small bird sits 3 metres horizontally away from a tall tree.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bird flies 9 metres to the top of the tree.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tall is the tree, rounded to 1 decimal place?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and evaluating modelled contexts</a:t>
            </a:r>
            <a:endParaRPr/>
          </a:p>
        </p:txBody>
      </p:sp>
      <p:sp>
        <p:nvSpPr>
          <p:cNvPr id="1303" name="Google Shape;1303;p85"/>
          <p:cNvSpPr/>
          <p:nvPr/>
        </p:nvSpPr>
        <p:spPr>
          <a:xfrm>
            <a:off x="1244400" y="3921536"/>
            <a:ext cx="391800" cy="391800"/>
          </a:xfrm>
          <a:prstGeom prst="mathMultiply">
            <a:avLst>
              <a:gd fmla="val 8825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85"/>
          <p:cNvSpPr txBox="1"/>
          <p:nvPr/>
        </p:nvSpPr>
        <p:spPr>
          <a:xfrm flipH="1" rot="1609">
            <a:off x="1119828" y="4164468"/>
            <a:ext cx="64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bird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05" name="Google Shape;1305;p85"/>
          <p:cNvGrpSpPr/>
          <p:nvPr/>
        </p:nvGrpSpPr>
        <p:grpSpPr>
          <a:xfrm>
            <a:off x="1444314" y="4117388"/>
            <a:ext cx="1860300" cy="715180"/>
            <a:chOff x="1444314" y="4117388"/>
            <a:chExt cx="1860300" cy="715180"/>
          </a:xfrm>
        </p:grpSpPr>
        <p:cxnSp>
          <p:nvCxnSpPr>
            <p:cNvPr id="1306" name="Google Shape;1306;p85"/>
            <p:cNvCxnSpPr/>
            <p:nvPr/>
          </p:nvCxnSpPr>
          <p:spPr>
            <a:xfrm>
              <a:off x="1444314" y="4117388"/>
              <a:ext cx="1860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07" name="Google Shape;1307;p85"/>
            <p:cNvGrpSpPr/>
            <p:nvPr/>
          </p:nvGrpSpPr>
          <p:grpSpPr>
            <a:xfrm>
              <a:off x="1444319" y="4547968"/>
              <a:ext cx="1860275" cy="284600"/>
              <a:chOff x="3258283" y="4458575"/>
              <a:chExt cx="983700" cy="284600"/>
            </a:xfrm>
          </p:grpSpPr>
          <p:sp>
            <p:nvSpPr>
              <p:cNvPr id="1308" name="Google Shape;1308;p85"/>
              <p:cNvSpPr txBox="1"/>
              <p:nvPr/>
            </p:nvSpPr>
            <p:spPr>
              <a:xfrm flipH="1">
                <a:off x="3364395" y="4543375"/>
                <a:ext cx="757200" cy="19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 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09" name="Google Shape;1309;p85"/>
              <p:cNvCxnSpPr/>
              <p:nvPr/>
            </p:nvCxnSpPr>
            <p:spPr>
              <a:xfrm rot="10800000">
                <a:off x="3258283" y="4458575"/>
                <a:ext cx="9837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</p:grpSp>
      <p:cxnSp>
        <p:nvCxnSpPr>
          <p:cNvPr id="1310" name="Google Shape;1310;p85"/>
          <p:cNvCxnSpPr/>
          <p:nvPr/>
        </p:nvCxnSpPr>
        <p:spPr>
          <a:xfrm>
            <a:off x="3304600" y="1804536"/>
            <a:ext cx="0" cy="231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1" name="Google Shape;1311;p85"/>
          <p:cNvSpPr txBox="1"/>
          <p:nvPr/>
        </p:nvSpPr>
        <p:spPr>
          <a:xfrm flipH="1" rot="1752">
            <a:off x="3540696" y="2822401"/>
            <a:ext cx="58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tree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12" name="Google Shape;1312;p85"/>
          <p:cNvCxnSpPr/>
          <p:nvPr/>
        </p:nvCxnSpPr>
        <p:spPr>
          <a:xfrm flipH="1">
            <a:off x="1451800" y="1806675"/>
            <a:ext cx="1854300" cy="231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3" name="Google Shape;1313;p85"/>
          <p:cNvSpPr txBox="1"/>
          <p:nvPr/>
        </p:nvSpPr>
        <p:spPr>
          <a:xfrm flipH="1" rot="1678">
            <a:off x="769925" y="2348107"/>
            <a:ext cx="122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flight path of bird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85"/>
          <p:cNvSpPr txBox="1"/>
          <p:nvPr/>
        </p:nvSpPr>
        <p:spPr>
          <a:xfrm flipH="1" rot="2304">
            <a:off x="5686825" y="3069125"/>
            <a:ext cx="3133201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²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+  3²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=    72  =  8.5 (1 d.p.)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15" name="Google Shape;1315;p85"/>
          <p:cNvGrpSpPr/>
          <p:nvPr/>
        </p:nvGrpSpPr>
        <p:grpSpPr>
          <a:xfrm flipH="1" rot="7722059">
            <a:off x="530284" y="2589041"/>
            <a:ext cx="3078586" cy="284489"/>
            <a:chOff x="3258283" y="4458575"/>
            <a:chExt cx="983700" cy="284481"/>
          </a:xfrm>
        </p:grpSpPr>
        <p:sp>
          <p:nvSpPr>
            <p:cNvPr id="1316" name="Google Shape;1316;p85"/>
            <p:cNvSpPr txBox="1"/>
            <p:nvPr/>
          </p:nvSpPr>
          <p:spPr>
            <a:xfrm flipH="1" rot="10800000">
              <a:off x="3364322" y="4543256"/>
              <a:ext cx="7572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9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17" name="Google Shape;1317;p85"/>
            <p:cNvCxnSpPr/>
            <p:nvPr/>
          </p:nvCxnSpPr>
          <p:spPr>
            <a:xfrm rot="10800000">
              <a:off x="3258283" y="4458575"/>
              <a:ext cx="983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318" name="Google Shape;1318;p85"/>
          <p:cNvSpPr/>
          <p:nvPr/>
        </p:nvSpPr>
        <p:spPr>
          <a:xfrm>
            <a:off x="3116975" y="3940575"/>
            <a:ext cx="179700" cy="17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85"/>
          <p:cNvSpPr txBox="1"/>
          <p:nvPr/>
        </p:nvSpPr>
        <p:spPr>
          <a:xfrm flipH="1" rot="2304">
            <a:off x="5686825" y="2306375"/>
            <a:ext cx="3133201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² 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+  3²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=  9²  –  3²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85"/>
          <p:cNvSpPr txBox="1"/>
          <p:nvPr/>
        </p:nvSpPr>
        <p:spPr>
          <a:xfrm flipH="1" rot="2304">
            <a:off x="5686825" y="1925000"/>
            <a:ext cx="3133201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²  +  3²  =  9²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85"/>
          <p:cNvSpPr txBox="1"/>
          <p:nvPr/>
        </p:nvSpPr>
        <p:spPr>
          <a:xfrm flipH="1" rot="2137">
            <a:off x="3352445" y="3253842"/>
            <a:ext cx="965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metres tall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\ \ \ \ \ \ \ \ \ \ \ \ \ \ \ \ \ \ \ \ \ \ \ \ \ \ \ \ \ \ \ \ \ \ \ \ \ 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1322" name="Google Shape;1322;p85" title="the square root of"/>
          <p:cNvPicPr preferRelativeResize="0"/>
          <p:nvPr/>
        </p:nvPicPr>
        <p:blipFill rotWithShape="1">
          <a:blip r:embed="rId3">
            <a:alphaModFix/>
          </a:blip>
          <a:srcRect b="10" l="0" r="87641" t="0"/>
          <a:stretch/>
        </p:blipFill>
        <p:spPr>
          <a:xfrm>
            <a:off x="6798175" y="3100796"/>
            <a:ext cx="454875" cy="26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3" name="Google Shape;1323;p85"/>
          <p:cNvSpPr txBox="1"/>
          <p:nvPr/>
        </p:nvSpPr>
        <p:spPr>
          <a:xfrm flipH="1" rot="2304">
            <a:off x="5686825" y="3602900"/>
            <a:ext cx="3133201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tree is 8.5 metres tall.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and evaluating modelled contexts</a:t>
            </a:r>
            <a:endParaRPr/>
          </a:p>
        </p:txBody>
      </p:sp>
      <p:cxnSp>
        <p:nvCxnSpPr>
          <p:cNvPr id="1329" name="Google Shape;1329;p86"/>
          <p:cNvCxnSpPr/>
          <p:nvPr/>
        </p:nvCxnSpPr>
        <p:spPr>
          <a:xfrm>
            <a:off x="6164275" y="3202988"/>
            <a:ext cx="1636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86"/>
          <p:cNvCxnSpPr/>
          <p:nvPr/>
        </p:nvCxnSpPr>
        <p:spPr>
          <a:xfrm>
            <a:off x="7800581" y="890125"/>
            <a:ext cx="0" cy="231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1" name="Google Shape;1331;p86"/>
          <p:cNvCxnSpPr/>
          <p:nvPr/>
        </p:nvCxnSpPr>
        <p:spPr>
          <a:xfrm flipH="1">
            <a:off x="6170800" y="892264"/>
            <a:ext cx="1631100" cy="231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2" name="Google Shape;1332;p86"/>
          <p:cNvCxnSpPr/>
          <p:nvPr/>
        </p:nvCxnSpPr>
        <p:spPr>
          <a:xfrm rot="5400000">
            <a:off x="6822677" y="2054983"/>
            <a:ext cx="23259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33" name="Google Shape;1333;p86"/>
          <p:cNvSpPr/>
          <p:nvPr/>
        </p:nvSpPr>
        <p:spPr>
          <a:xfrm>
            <a:off x="7612775" y="3026175"/>
            <a:ext cx="179700" cy="17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86"/>
          <p:cNvSpPr txBox="1"/>
          <p:nvPr/>
        </p:nvSpPr>
        <p:spPr>
          <a:xfrm flipH="1" rot="2737">
            <a:off x="323999" y="3766443"/>
            <a:ext cx="1507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flagpole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335" name="Google Shape;1335;p86"/>
          <p:cNvGrpSpPr/>
          <p:nvPr/>
        </p:nvGrpSpPr>
        <p:grpSpPr>
          <a:xfrm flipH="1">
            <a:off x="8032278" y="1906409"/>
            <a:ext cx="285339" cy="285339"/>
            <a:chOff x="1020916" y="1442088"/>
            <a:chExt cx="457200" cy="457200"/>
          </a:xfrm>
        </p:grpSpPr>
        <p:pic>
          <p:nvPicPr>
            <p:cNvPr id="1336" name="Google Shape;1336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7" name="Google Shape;1337;p8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38" name="Google Shape;1338;p86"/>
          <p:cNvSpPr txBox="1"/>
          <p:nvPr/>
        </p:nvSpPr>
        <p:spPr>
          <a:xfrm flipH="1" rot="2600">
            <a:off x="324024" y="665826"/>
            <a:ext cx="4363201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10 metre tall flagpole is supported by a long metal wire that is tied to the top of the flagpole and a hook in the ground, 4 metres away from the base of the flagpole.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flagpole and hook can be modelled by this right-angled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On the triangle, what does this vertical height represent?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86"/>
          <p:cNvSpPr txBox="1"/>
          <p:nvPr/>
        </p:nvSpPr>
        <p:spPr>
          <a:xfrm>
            <a:off x="241189" y="4231919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length of this side of the triangle?</a:t>
            </a:r>
            <a:endParaRPr/>
          </a:p>
        </p:txBody>
      </p:sp>
      <p:sp>
        <p:nvSpPr>
          <p:cNvPr id="1340" name="Google Shape;1340;p86"/>
          <p:cNvSpPr txBox="1"/>
          <p:nvPr/>
        </p:nvSpPr>
        <p:spPr>
          <a:xfrm flipH="1" rot="2737">
            <a:off x="3369599" y="4511993"/>
            <a:ext cx="1507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 metres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and evaluating modelled contexts</a:t>
            </a:r>
            <a:endParaRPr/>
          </a:p>
        </p:txBody>
      </p:sp>
      <p:cxnSp>
        <p:nvCxnSpPr>
          <p:cNvPr id="1346" name="Google Shape;1346;p87"/>
          <p:cNvCxnSpPr/>
          <p:nvPr/>
        </p:nvCxnSpPr>
        <p:spPr>
          <a:xfrm>
            <a:off x="6164275" y="3202988"/>
            <a:ext cx="1636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7" name="Google Shape;1347;p87"/>
          <p:cNvCxnSpPr/>
          <p:nvPr/>
        </p:nvCxnSpPr>
        <p:spPr>
          <a:xfrm>
            <a:off x="7800581" y="890125"/>
            <a:ext cx="0" cy="231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8" name="Google Shape;1348;p87"/>
          <p:cNvCxnSpPr/>
          <p:nvPr/>
        </p:nvCxnSpPr>
        <p:spPr>
          <a:xfrm flipH="1">
            <a:off x="6170800" y="892264"/>
            <a:ext cx="1631100" cy="231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9" name="Google Shape;1349;p87"/>
          <p:cNvCxnSpPr/>
          <p:nvPr/>
        </p:nvCxnSpPr>
        <p:spPr>
          <a:xfrm rot="5400000">
            <a:off x="6822677" y="2054983"/>
            <a:ext cx="23259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50" name="Google Shape;1350;p87"/>
          <p:cNvSpPr/>
          <p:nvPr/>
        </p:nvSpPr>
        <p:spPr>
          <a:xfrm>
            <a:off x="7612775" y="3026175"/>
            <a:ext cx="179700" cy="17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87"/>
          <p:cNvSpPr txBox="1"/>
          <p:nvPr/>
        </p:nvSpPr>
        <p:spPr>
          <a:xfrm flipH="1" rot="2737">
            <a:off x="6232599" y="3736768"/>
            <a:ext cx="1507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 metres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2" name="Google Shape;1352;p87"/>
          <p:cNvSpPr txBox="1"/>
          <p:nvPr/>
        </p:nvSpPr>
        <p:spPr>
          <a:xfrm flipH="1">
            <a:off x="7975696" y="1955075"/>
            <a:ext cx="5550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53" name="Google Shape;1353;p87"/>
          <p:cNvCxnSpPr/>
          <p:nvPr/>
        </p:nvCxnSpPr>
        <p:spPr>
          <a:xfrm rot="10800000">
            <a:off x="6164321" y="3402375"/>
            <a:ext cx="16311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54" name="Google Shape;1354;p87"/>
          <p:cNvCxnSpPr/>
          <p:nvPr/>
        </p:nvCxnSpPr>
        <p:spPr>
          <a:xfrm rot="7512079">
            <a:off x="5380983" y="1936472"/>
            <a:ext cx="2893047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355" name="Google Shape;1355;p87"/>
          <p:cNvGrpSpPr/>
          <p:nvPr/>
        </p:nvGrpSpPr>
        <p:grpSpPr>
          <a:xfrm flipH="1">
            <a:off x="6843678" y="3450841"/>
            <a:ext cx="285339" cy="285339"/>
            <a:chOff x="1020916" y="1442088"/>
            <a:chExt cx="457200" cy="457200"/>
          </a:xfrm>
        </p:grpSpPr>
        <p:pic>
          <p:nvPicPr>
            <p:cNvPr id="1356" name="Google Shape;1356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8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58" name="Google Shape;1358;p87"/>
          <p:cNvSpPr txBox="1"/>
          <p:nvPr/>
        </p:nvSpPr>
        <p:spPr>
          <a:xfrm flipH="1" rot="2600">
            <a:off x="323995" y="665711"/>
            <a:ext cx="4363201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10 metre tall flagpole is supported by a long metal wire that is tied to the top of the flagpole and a hook in the ground, 4 metres away from the base of the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flagpole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flagpole and hook can be modelled by this right-angled triangle.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other two sides of the triangle do we know the length of, and what is its length?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59" name="Google Shape;1359;p87"/>
          <p:cNvGrpSpPr/>
          <p:nvPr/>
        </p:nvGrpSpPr>
        <p:grpSpPr>
          <a:xfrm flipH="1">
            <a:off x="6464528" y="1669729"/>
            <a:ext cx="285339" cy="285339"/>
            <a:chOff x="1020916" y="1442088"/>
            <a:chExt cx="457200" cy="457200"/>
          </a:xfrm>
        </p:grpSpPr>
        <p:pic>
          <p:nvPicPr>
            <p:cNvPr id="1360" name="Google Shape;1360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1" name="Google Shape;1361;p8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362" name="Google Shape;1362;p87"/>
          <p:cNvCxnSpPr/>
          <p:nvPr/>
        </p:nvCxnSpPr>
        <p:spPr>
          <a:xfrm flipH="1">
            <a:off x="5717250" y="3270000"/>
            <a:ext cx="442500" cy="933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3" name="Google Shape;1363;p87"/>
          <p:cNvCxnSpPr/>
          <p:nvPr/>
        </p:nvCxnSpPr>
        <p:spPr>
          <a:xfrm>
            <a:off x="7812950" y="3270000"/>
            <a:ext cx="442500" cy="933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4" name="Google Shape;1364;p87"/>
          <p:cNvSpPr txBox="1"/>
          <p:nvPr/>
        </p:nvSpPr>
        <p:spPr>
          <a:xfrm flipH="1" rot="2737">
            <a:off x="4957024" y="4203893"/>
            <a:ext cx="150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hook in the ground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5" name="Google Shape;1365;p87"/>
          <p:cNvSpPr txBox="1"/>
          <p:nvPr/>
        </p:nvSpPr>
        <p:spPr>
          <a:xfrm flipH="1" rot="2729">
            <a:off x="7686300" y="4203892"/>
            <a:ext cx="113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flagpole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and evaluating modelled contexts</a:t>
            </a:r>
            <a:endParaRPr/>
          </a:p>
        </p:txBody>
      </p:sp>
      <p:cxnSp>
        <p:nvCxnSpPr>
          <p:cNvPr id="1371" name="Google Shape;1371;p88"/>
          <p:cNvCxnSpPr/>
          <p:nvPr/>
        </p:nvCxnSpPr>
        <p:spPr>
          <a:xfrm>
            <a:off x="6164275" y="3202988"/>
            <a:ext cx="1636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2" name="Google Shape;1372;p88"/>
          <p:cNvCxnSpPr/>
          <p:nvPr/>
        </p:nvCxnSpPr>
        <p:spPr>
          <a:xfrm>
            <a:off x="7800581" y="890125"/>
            <a:ext cx="0" cy="231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3" name="Google Shape;1373;p88"/>
          <p:cNvCxnSpPr/>
          <p:nvPr/>
        </p:nvCxnSpPr>
        <p:spPr>
          <a:xfrm flipH="1">
            <a:off x="6170800" y="892264"/>
            <a:ext cx="1631100" cy="231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4" name="Google Shape;1374;p88"/>
          <p:cNvCxnSpPr/>
          <p:nvPr/>
        </p:nvCxnSpPr>
        <p:spPr>
          <a:xfrm rot="5400000">
            <a:off x="6822677" y="2054983"/>
            <a:ext cx="23259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75" name="Google Shape;1375;p88"/>
          <p:cNvSpPr/>
          <p:nvPr/>
        </p:nvSpPr>
        <p:spPr>
          <a:xfrm>
            <a:off x="7612775" y="3026175"/>
            <a:ext cx="179700" cy="17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88"/>
          <p:cNvSpPr txBox="1"/>
          <p:nvPr/>
        </p:nvSpPr>
        <p:spPr>
          <a:xfrm flipH="1" rot="2737">
            <a:off x="6232600" y="3436949"/>
            <a:ext cx="150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7" name="Google Shape;1377;p88"/>
          <p:cNvSpPr txBox="1"/>
          <p:nvPr/>
        </p:nvSpPr>
        <p:spPr>
          <a:xfrm flipH="1">
            <a:off x="7975696" y="1955075"/>
            <a:ext cx="5550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8" name="Google Shape;1378;p88"/>
          <p:cNvCxnSpPr/>
          <p:nvPr/>
        </p:nvCxnSpPr>
        <p:spPr>
          <a:xfrm rot="10800000">
            <a:off x="6164321" y="3402375"/>
            <a:ext cx="16311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79" name="Google Shape;1379;p88"/>
          <p:cNvCxnSpPr/>
          <p:nvPr/>
        </p:nvCxnSpPr>
        <p:spPr>
          <a:xfrm rot="7512079">
            <a:off x="5380983" y="1936472"/>
            <a:ext cx="2893047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380" name="Google Shape;1380;p88"/>
          <p:cNvGrpSpPr/>
          <p:nvPr/>
        </p:nvGrpSpPr>
        <p:grpSpPr>
          <a:xfrm flipH="1">
            <a:off x="6464528" y="1669729"/>
            <a:ext cx="285339" cy="285339"/>
            <a:chOff x="1020916" y="1442088"/>
            <a:chExt cx="457200" cy="457200"/>
          </a:xfrm>
        </p:grpSpPr>
        <p:pic>
          <p:nvPicPr>
            <p:cNvPr id="1381" name="Google Shape;1381;p8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2" name="Google Shape;1382;p8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83" name="Google Shape;1383;p88"/>
          <p:cNvSpPr txBox="1"/>
          <p:nvPr/>
        </p:nvSpPr>
        <p:spPr>
          <a:xfrm flipH="1" rot="2600">
            <a:off x="323995" y="665711"/>
            <a:ext cx="4363201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10 metre tall flagpole is supported by a long metal wire that is tied to the top of the flagpole and a hook in the ground, 4 metres away from the base of the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flagpole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flagpole and hook can be modelled by this right-angled triangle.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Hence, calculate the length of the metal wire, rounded to 2 decimal places.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88"/>
          <p:cNvSpPr txBox="1"/>
          <p:nvPr/>
        </p:nvSpPr>
        <p:spPr>
          <a:xfrm flipH="1" rot="2737">
            <a:off x="1338174" y="4227768"/>
            <a:ext cx="1507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.77 metres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and evaluating modelled contexts</a:t>
            </a:r>
            <a:endParaRPr/>
          </a:p>
        </p:txBody>
      </p:sp>
      <p:pic>
        <p:nvPicPr>
          <p:cNvPr id="1390" name="Google Shape;1390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33569" y="1691968"/>
            <a:ext cx="650925" cy="83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89"/>
          <p:cNvSpPr txBox="1"/>
          <p:nvPr/>
        </p:nvSpPr>
        <p:spPr>
          <a:xfrm>
            <a:off x="316381" y="2492069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92" name="Google Shape;1392;p89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948469" y="596895"/>
            <a:ext cx="3006848" cy="156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p89"/>
          <p:cNvSpPr txBox="1"/>
          <p:nvPr/>
        </p:nvSpPr>
        <p:spPr>
          <a:xfrm>
            <a:off x="1179720" y="702137"/>
            <a:ext cx="2747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Wow, there are so many more right-angles and triangles hidden in the world than I thought!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89"/>
          <p:cNvSpPr txBox="1"/>
          <p:nvPr/>
        </p:nvSpPr>
        <p:spPr>
          <a:xfrm flipH="1">
            <a:off x="5995646" y="708086"/>
            <a:ext cx="2417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Yeah, but do all of these situations actually have right angles in them?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95" name="Google Shape;1395;p89"/>
          <p:cNvPicPr preferRelativeResize="0"/>
          <p:nvPr/>
        </p:nvPicPr>
        <p:blipFill rotWithShape="1">
          <a:blip r:embed="rId4">
            <a:alphaModFix/>
          </a:blip>
          <a:srcRect b="4218" l="40550" r="0" t="13558"/>
          <a:stretch/>
        </p:blipFill>
        <p:spPr>
          <a:xfrm flipH="1">
            <a:off x="5945585" y="639772"/>
            <a:ext cx="2676250" cy="1459451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89"/>
          <p:cNvSpPr txBox="1"/>
          <p:nvPr/>
        </p:nvSpPr>
        <p:spPr>
          <a:xfrm flipH="1">
            <a:off x="8061266" y="2680557"/>
            <a:ext cx="81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97" name="Google Shape;1397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153866" y="1889554"/>
            <a:ext cx="629124" cy="823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8" name="Google Shape;1398;p89"/>
          <p:cNvPicPr preferRelativeResize="0"/>
          <p:nvPr/>
        </p:nvPicPr>
        <p:blipFill rotWithShape="1">
          <a:blip r:embed="rId4">
            <a:alphaModFix/>
          </a:blip>
          <a:srcRect b="4218" l="40550" r="0" t="13558"/>
          <a:stretch/>
        </p:blipFill>
        <p:spPr>
          <a:xfrm rot="10800000">
            <a:off x="5869385" y="3149772"/>
            <a:ext cx="2676250" cy="1459451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89"/>
          <p:cNvSpPr txBox="1"/>
          <p:nvPr/>
        </p:nvSpPr>
        <p:spPr>
          <a:xfrm>
            <a:off x="5919446" y="3432708"/>
            <a:ext cx="2417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Like, weren’t we making a LOT of assumptions about the bird and the tree?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00" name="Google Shape;1400;p89"/>
          <p:cNvGrpSpPr/>
          <p:nvPr/>
        </p:nvGrpSpPr>
        <p:grpSpPr>
          <a:xfrm>
            <a:off x="2765095" y="2306181"/>
            <a:ext cx="2793657" cy="2414647"/>
            <a:chOff x="26121" y="1441063"/>
            <a:chExt cx="4004095" cy="3460866"/>
          </a:xfrm>
        </p:grpSpPr>
        <p:sp>
          <p:nvSpPr>
            <p:cNvPr id="1401" name="Google Shape;1401;p89"/>
            <p:cNvSpPr/>
            <p:nvPr/>
          </p:nvSpPr>
          <p:spPr>
            <a:xfrm>
              <a:off x="1244400" y="3921536"/>
              <a:ext cx="391800" cy="391800"/>
            </a:xfrm>
            <a:prstGeom prst="mathMultiply">
              <a:avLst>
                <a:gd fmla="val 8825" name="adj1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2" name="Google Shape;1402;p89"/>
            <p:cNvSpPr txBox="1"/>
            <p:nvPr/>
          </p:nvSpPr>
          <p:spPr>
            <a:xfrm flipH="1" rot="1609">
              <a:off x="1119828" y="4164468"/>
              <a:ext cx="640800" cy="39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bird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03" name="Google Shape;1403;p89"/>
            <p:cNvGrpSpPr/>
            <p:nvPr/>
          </p:nvGrpSpPr>
          <p:grpSpPr>
            <a:xfrm>
              <a:off x="1444314" y="4117388"/>
              <a:ext cx="1860300" cy="784541"/>
              <a:chOff x="1444314" y="4117388"/>
              <a:chExt cx="1860300" cy="784541"/>
            </a:xfrm>
          </p:grpSpPr>
          <p:cxnSp>
            <p:nvCxnSpPr>
              <p:cNvPr id="1404" name="Google Shape;1404;p89"/>
              <p:cNvCxnSpPr/>
              <p:nvPr/>
            </p:nvCxnSpPr>
            <p:spPr>
              <a:xfrm>
                <a:off x="1444314" y="4117388"/>
                <a:ext cx="1860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405" name="Google Shape;1405;p89"/>
              <p:cNvGrpSpPr/>
              <p:nvPr/>
            </p:nvGrpSpPr>
            <p:grpSpPr>
              <a:xfrm>
                <a:off x="1444319" y="4617329"/>
                <a:ext cx="1860275" cy="284600"/>
                <a:chOff x="3258283" y="4527936"/>
                <a:chExt cx="983700" cy="284600"/>
              </a:xfrm>
            </p:grpSpPr>
            <p:sp>
              <p:nvSpPr>
                <p:cNvPr id="1406" name="Google Shape;1406;p89"/>
                <p:cNvSpPr txBox="1"/>
                <p:nvPr/>
              </p:nvSpPr>
              <p:spPr>
                <a:xfrm flipH="1">
                  <a:off x="3364395" y="4612736"/>
                  <a:ext cx="757200" cy="199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3 m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cxnSp>
              <p:nvCxnSpPr>
                <p:cNvPr id="1407" name="Google Shape;1407;p89"/>
                <p:cNvCxnSpPr/>
                <p:nvPr/>
              </p:nvCxnSpPr>
              <p:spPr>
                <a:xfrm rot="10800000">
                  <a:off x="3258283" y="4527936"/>
                  <a:ext cx="9837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5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</p:grpSp>
        </p:grpSp>
        <p:cxnSp>
          <p:nvCxnSpPr>
            <p:cNvPr id="1408" name="Google Shape;1408;p89"/>
            <p:cNvCxnSpPr/>
            <p:nvPr/>
          </p:nvCxnSpPr>
          <p:spPr>
            <a:xfrm>
              <a:off x="3304600" y="1804536"/>
              <a:ext cx="0" cy="2313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09" name="Google Shape;1409;p89"/>
            <p:cNvSpPr txBox="1"/>
            <p:nvPr/>
          </p:nvSpPr>
          <p:spPr>
            <a:xfrm flipH="1" rot="1457">
              <a:off x="3322216" y="2822446"/>
              <a:ext cx="7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tree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10" name="Google Shape;1410;p89"/>
            <p:cNvCxnSpPr/>
            <p:nvPr/>
          </p:nvCxnSpPr>
          <p:spPr>
            <a:xfrm flipH="1">
              <a:off x="1451800" y="1806675"/>
              <a:ext cx="1854300" cy="2313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11" name="Google Shape;1411;p89"/>
            <p:cNvSpPr txBox="1"/>
            <p:nvPr/>
          </p:nvSpPr>
          <p:spPr>
            <a:xfrm flipH="1" rot="2225">
              <a:off x="26121" y="2347778"/>
              <a:ext cx="1854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flight path of bird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12" name="Google Shape;1412;p89"/>
            <p:cNvGrpSpPr/>
            <p:nvPr/>
          </p:nvGrpSpPr>
          <p:grpSpPr>
            <a:xfrm flipH="1" rot="7722059">
              <a:off x="530284" y="2589041"/>
              <a:ext cx="3078586" cy="284489"/>
              <a:chOff x="3258283" y="4458575"/>
              <a:chExt cx="983700" cy="284481"/>
            </a:xfrm>
          </p:grpSpPr>
          <p:sp>
            <p:nvSpPr>
              <p:cNvPr id="1413" name="Google Shape;1413;p89"/>
              <p:cNvSpPr txBox="1"/>
              <p:nvPr/>
            </p:nvSpPr>
            <p:spPr>
              <a:xfrm flipH="1" rot="10800000">
                <a:off x="3364322" y="4543256"/>
                <a:ext cx="757200" cy="19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9 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414" name="Google Shape;1414;p89"/>
              <p:cNvCxnSpPr/>
              <p:nvPr/>
            </p:nvCxnSpPr>
            <p:spPr>
              <a:xfrm rot="10800000">
                <a:off x="3258283" y="4458575"/>
                <a:ext cx="9837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sp>
          <p:nvSpPr>
            <p:cNvPr id="1415" name="Google Shape;1415;p89"/>
            <p:cNvSpPr/>
            <p:nvPr/>
          </p:nvSpPr>
          <p:spPr>
            <a:xfrm>
              <a:off x="3116975" y="3940575"/>
              <a:ext cx="179700" cy="179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90"/>
          <p:cNvSpPr txBox="1"/>
          <p:nvPr/>
        </p:nvSpPr>
        <p:spPr>
          <a:xfrm flipH="1" rot="2549">
            <a:off x="323999" y="667447"/>
            <a:ext cx="8496002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When modelling we often have to make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sensible assumptions to solve the problem.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Some assumptions include: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1" name="Google Shape;1421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and evaluating modelled contexts</a:t>
            </a:r>
            <a:endParaRPr/>
          </a:p>
        </p:txBody>
      </p:sp>
      <p:grpSp>
        <p:nvGrpSpPr>
          <p:cNvPr id="1422" name="Google Shape;1422;p90"/>
          <p:cNvGrpSpPr/>
          <p:nvPr/>
        </p:nvGrpSpPr>
        <p:grpSpPr>
          <a:xfrm>
            <a:off x="323950" y="1706296"/>
            <a:ext cx="2296200" cy="2805582"/>
            <a:chOff x="323950" y="1706296"/>
            <a:chExt cx="2296200" cy="2805582"/>
          </a:xfrm>
        </p:grpSpPr>
        <p:cxnSp>
          <p:nvCxnSpPr>
            <p:cNvPr id="1423" name="Google Shape;1423;p90"/>
            <p:cNvCxnSpPr/>
            <p:nvPr/>
          </p:nvCxnSpPr>
          <p:spPr>
            <a:xfrm>
              <a:off x="856064" y="3319973"/>
              <a:ext cx="12978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4" name="Google Shape;1424;p90"/>
            <p:cNvCxnSpPr/>
            <p:nvPr/>
          </p:nvCxnSpPr>
          <p:spPr>
            <a:xfrm>
              <a:off x="2150735" y="1706296"/>
              <a:ext cx="0" cy="1613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5" name="Google Shape;1425;p90"/>
            <p:cNvSpPr/>
            <p:nvPr/>
          </p:nvSpPr>
          <p:spPr>
            <a:xfrm>
              <a:off x="792329" y="1721100"/>
              <a:ext cx="1349625" cy="1599150"/>
            </a:xfrm>
            <a:custGeom>
              <a:rect b="b" l="l" r="r" t="t"/>
              <a:pathLst>
                <a:path extrusionOk="0" h="63966" w="53985">
                  <a:moveTo>
                    <a:pt x="2603" y="63966"/>
                  </a:moveTo>
                  <a:cubicBezTo>
                    <a:pt x="1121" y="60791"/>
                    <a:pt x="-489" y="57186"/>
                    <a:pt x="156" y="53742"/>
                  </a:cubicBezTo>
                  <a:cubicBezTo>
                    <a:pt x="604" y="51350"/>
                    <a:pt x="4196" y="50603"/>
                    <a:pt x="5050" y="48324"/>
                  </a:cubicBezTo>
                  <a:cubicBezTo>
                    <a:pt x="6843" y="43542"/>
                    <a:pt x="2247" y="36484"/>
                    <a:pt x="6011" y="33032"/>
                  </a:cubicBezTo>
                  <a:cubicBezTo>
                    <a:pt x="7665" y="31516"/>
                    <a:pt x="11927" y="34948"/>
                    <a:pt x="12740" y="32857"/>
                  </a:cubicBezTo>
                  <a:cubicBezTo>
                    <a:pt x="14876" y="27362"/>
                    <a:pt x="12110" y="19921"/>
                    <a:pt x="15973" y="15467"/>
                  </a:cubicBezTo>
                  <a:cubicBezTo>
                    <a:pt x="19828" y="11022"/>
                    <a:pt x="27996" y="15699"/>
                    <a:pt x="33537" y="13720"/>
                  </a:cubicBezTo>
                  <a:cubicBezTo>
                    <a:pt x="41267" y="10959"/>
                    <a:pt x="45937" y="1613"/>
                    <a:pt x="53985" y="0"/>
                  </a:cubicBezTo>
                </a:path>
              </a:pathLst>
            </a:custGeom>
            <a:noFill/>
            <a:ln cap="flat" cmpd="sng" w="28575">
              <a:solidFill>
                <a:schemeClr val="accent5"/>
              </a:solidFill>
              <a:prstDash val="dash"/>
              <a:round/>
              <a:headEnd len="med" w="med" type="none"/>
              <a:tailEnd len="med" w="med" type="none"/>
            </a:ln>
          </p:spPr>
        </p:sp>
        <p:cxnSp>
          <p:nvCxnSpPr>
            <p:cNvPr id="1426" name="Google Shape;1426;p90"/>
            <p:cNvCxnSpPr/>
            <p:nvPr/>
          </p:nvCxnSpPr>
          <p:spPr>
            <a:xfrm flipH="1">
              <a:off x="858181" y="1713513"/>
              <a:ext cx="1293600" cy="1614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7" name="Google Shape;1427;p90"/>
            <p:cNvSpPr txBox="1"/>
            <p:nvPr/>
          </p:nvSpPr>
          <p:spPr>
            <a:xfrm flipH="1" rot="2695">
              <a:off x="323950" y="3402778"/>
              <a:ext cx="2296201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assuming all lengths and distances are linear paths, and not curves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28" name="Google Shape;1428;p90"/>
          <p:cNvGrpSpPr/>
          <p:nvPr/>
        </p:nvGrpSpPr>
        <p:grpSpPr>
          <a:xfrm>
            <a:off x="3456650" y="1706296"/>
            <a:ext cx="2488800" cy="3082893"/>
            <a:chOff x="3380450" y="1706296"/>
            <a:chExt cx="2488800" cy="3082893"/>
          </a:xfrm>
        </p:grpSpPr>
        <p:cxnSp>
          <p:nvCxnSpPr>
            <p:cNvPr id="1429" name="Google Shape;1429;p90"/>
            <p:cNvCxnSpPr/>
            <p:nvPr/>
          </p:nvCxnSpPr>
          <p:spPr>
            <a:xfrm flipH="1">
              <a:off x="5299104" y="1845153"/>
              <a:ext cx="189000" cy="14793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430" name="Google Shape;1430;p90"/>
            <p:cNvCxnSpPr/>
            <p:nvPr/>
          </p:nvCxnSpPr>
          <p:spPr>
            <a:xfrm flipH="1">
              <a:off x="4006954" y="1848078"/>
              <a:ext cx="1484100" cy="14790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431" name="Google Shape;1431;p90"/>
            <p:cNvCxnSpPr/>
            <p:nvPr/>
          </p:nvCxnSpPr>
          <p:spPr>
            <a:xfrm>
              <a:off x="4008814" y="3319973"/>
              <a:ext cx="12978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2" name="Google Shape;1432;p90"/>
            <p:cNvCxnSpPr/>
            <p:nvPr/>
          </p:nvCxnSpPr>
          <p:spPr>
            <a:xfrm>
              <a:off x="5303485" y="1706296"/>
              <a:ext cx="0" cy="1613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3" name="Google Shape;1433;p90"/>
            <p:cNvCxnSpPr/>
            <p:nvPr/>
          </p:nvCxnSpPr>
          <p:spPr>
            <a:xfrm flipH="1">
              <a:off x="4010931" y="1713513"/>
              <a:ext cx="1293600" cy="1614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34" name="Google Shape;1434;p90"/>
            <p:cNvSpPr txBox="1"/>
            <p:nvPr/>
          </p:nvSpPr>
          <p:spPr>
            <a:xfrm flipH="1" rot="2072">
              <a:off x="3380450" y="3403039"/>
              <a:ext cx="2488800" cy="13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assuming two lengths or distances are perpendicular to each other, and not a different angle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5" name="Google Shape;1435;p90"/>
            <p:cNvSpPr/>
            <p:nvPr/>
          </p:nvSpPr>
          <p:spPr>
            <a:xfrm>
              <a:off x="5126615" y="3141410"/>
              <a:ext cx="179700" cy="179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36" name="Google Shape;1436;p90"/>
          <p:cNvGrpSpPr/>
          <p:nvPr/>
        </p:nvGrpSpPr>
        <p:grpSpPr>
          <a:xfrm>
            <a:off x="7022714" y="1706296"/>
            <a:ext cx="1297800" cy="1613700"/>
            <a:chOff x="7022714" y="1706296"/>
            <a:chExt cx="1297800" cy="1613700"/>
          </a:xfrm>
        </p:grpSpPr>
        <p:cxnSp>
          <p:nvCxnSpPr>
            <p:cNvPr id="1437" name="Google Shape;1437;p90"/>
            <p:cNvCxnSpPr/>
            <p:nvPr/>
          </p:nvCxnSpPr>
          <p:spPr>
            <a:xfrm>
              <a:off x="7022714" y="3319973"/>
              <a:ext cx="12978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8" name="Google Shape;1438;p90"/>
            <p:cNvCxnSpPr/>
            <p:nvPr/>
          </p:nvCxnSpPr>
          <p:spPr>
            <a:xfrm>
              <a:off x="8317385" y="1706296"/>
              <a:ext cx="0" cy="1613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439" name="Google Shape;1439;p90"/>
          <p:cNvCxnSpPr/>
          <p:nvPr/>
        </p:nvCxnSpPr>
        <p:spPr>
          <a:xfrm flipH="1">
            <a:off x="7024831" y="1713513"/>
            <a:ext cx="1293600" cy="1614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0" name="Google Shape;1440;p90"/>
          <p:cNvSpPr txBox="1"/>
          <p:nvPr/>
        </p:nvSpPr>
        <p:spPr>
          <a:xfrm flipH="1" rot="2695">
            <a:off x="6490600" y="3402778"/>
            <a:ext cx="2296201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assuming the two perpendicular lengths touch or intersect in some way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41" name="Google Shape;1441;p90"/>
          <p:cNvGrpSpPr/>
          <p:nvPr/>
        </p:nvGrpSpPr>
        <p:grpSpPr>
          <a:xfrm>
            <a:off x="7024805" y="1706956"/>
            <a:ext cx="1293636" cy="1612386"/>
            <a:chOff x="7022714" y="1706296"/>
            <a:chExt cx="1294671" cy="1613677"/>
          </a:xfrm>
        </p:grpSpPr>
        <p:cxnSp>
          <p:nvCxnSpPr>
            <p:cNvPr id="1442" name="Google Shape;1442;p90"/>
            <p:cNvCxnSpPr/>
            <p:nvPr/>
          </p:nvCxnSpPr>
          <p:spPr>
            <a:xfrm>
              <a:off x="7022714" y="3319973"/>
              <a:ext cx="8238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443" name="Google Shape;1443;p90"/>
            <p:cNvCxnSpPr/>
            <p:nvPr/>
          </p:nvCxnSpPr>
          <p:spPr>
            <a:xfrm>
              <a:off x="8317385" y="1706296"/>
              <a:ext cx="0" cy="12810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and evaluating modelled contexts</a:t>
            </a:r>
            <a:endParaRPr/>
          </a:p>
        </p:txBody>
      </p:sp>
      <p:grpSp>
        <p:nvGrpSpPr>
          <p:cNvPr id="1449" name="Google Shape;1449;p91"/>
          <p:cNvGrpSpPr/>
          <p:nvPr/>
        </p:nvGrpSpPr>
        <p:grpSpPr>
          <a:xfrm>
            <a:off x="1216788" y="670857"/>
            <a:ext cx="3163246" cy="1395874"/>
            <a:chOff x="2820561" y="1873957"/>
            <a:chExt cx="3163246" cy="1395874"/>
          </a:xfrm>
        </p:grpSpPr>
        <p:sp>
          <p:nvSpPr>
            <p:cNvPr id="1450" name="Google Shape;1450;p91"/>
            <p:cNvSpPr/>
            <p:nvPr/>
          </p:nvSpPr>
          <p:spPr>
            <a:xfrm flipH="1" rot="9489519">
              <a:off x="4621733" y="2120173"/>
              <a:ext cx="1358733" cy="257568"/>
            </a:xfrm>
            <a:prstGeom prst="diagStripe">
              <a:avLst>
                <a:gd fmla="val 68104" name="adj"/>
              </a:avLst>
            </a:prstGeom>
            <a:solidFill>
              <a:srgbClr val="434343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1" name="Google Shape;1451;p91"/>
            <p:cNvSpPr/>
            <p:nvPr/>
          </p:nvSpPr>
          <p:spPr>
            <a:xfrm>
              <a:off x="4641607" y="2114401"/>
              <a:ext cx="1342200" cy="260400"/>
            </a:xfrm>
            <a:prstGeom prst="diagStripe">
              <a:avLst>
                <a:gd fmla="val 84995" name="adj"/>
              </a:avLst>
            </a:prstGeom>
            <a:solidFill>
              <a:srgbClr val="78787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2" name="Google Shape;1452;p91"/>
            <p:cNvSpPr/>
            <p:nvPr/>
          </p:nvSpPr>
          <p:spPr>
            <a:xfrm>
              <a:off x="2820561" y="2827930"/>
              <a:ext cx="1868700" cy="441900"/>
            </a:xfrm>
            <a:prstGeom prst="ellipse">
              <a:avLst/>
            </a:prstGeom>
            <a:gradFill>
              <a:gsLst>
                <a:gs pos="0">
                  <a:srgbClr val="999999"/>
                </a:gs>
                <a:gs pos="49000">
                  <a:srgbClr val="434343"/>
                </a:gs>
                <a:gs pos="100000">
                  <a:srgbClr val="434343"/>
                </a:gs>
              </a:gsLst>
              <a:lin ang="0" scaled="0"/>
            </a:gra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3" name="Google Shape;1453;p91"/>
            <p:cNvSpPr/>
            <p:nvPr/>
          </p:nvSpPr>
          <p:spPr>
            <a:xfrm>
              <a:off x="2820653" y="2200962"/>
              <a:ext cx="1868700" cy="841800"/>
            </a:xfrm>
            <a:prstGeom prst="rect">
              <a:avLst/>
            </a:prstGeom>
            <a:gradFill>
              <a:gsLst>
                <a:gs pos="0">
                  <a:srgbClr val="999999"/>
                </a:gs>
                <a:gs pos="49000">
                  <a:srgbClr val="434343"/>
                </a:gs>
                <a:gs pos="100000">
                  <a:srgbClr val="43434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4" name="Google Shape;1454;p91"/>
            <p:cNvSpPr/>
            <p:nvPr/>
          </p:nvSpPr>
          <p:spPr>
            <a:xfrm>
              <a:off x="2820561" y="1968889"/>
              <a:ext cx="1868700" cy="441900"/>
            </a:xfrm>
            <a:prstGeom prst="ellipse">
              <a:avLst/>
            </a:prstGeom>
            <a:gradFill>
              <a:gsLst>
                <a:gs pos="0">
                  <a:srgbClr val="D9D9D9"/>
                </a:gs>
                <a:gs pos="62000">
                  <a:srgbClr val="808080"/>
                </a:gs>
                <a:gs pos="100000">
                  <a:srgbClr val="808080"/>
                </a:gs>
              </a:gsLst>
              <a:lin ang="8100019" scaled="0"/>
            </a:gra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55" name="Google Shape;1455;p91"/>
            <p:cNvCxnSpPr/>
            <p:nvPr/>
          </p:nvCxnSpPr>
          <p:spPr>
            <a:xfrm>
              <a:off x="2820561" y="2200999"/>
              <a:ext cx="0" cy="84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56" name="Google Shape;1456;p91"/>
            <p:cNvSpPr/>
            <p:nvPr/>
          </p:nvSpPr>
          <p:spPr>
            <a:xfrm rot="-6078596">
              <a:off x="5714197" y="2101673"/>
              <a:ext cx="26005" cy="85017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57" name="Google Shape;1457;p91"/>
            <p:cNvCxnSpPr/>
            <p:nvPr/>
          </p:nvCxnSpPr>
          <p:spPr>
            <a:xfrm>
              <a:off x="4689114" y="2200999"/>
              <a:ext cx="0" cy="84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458" name="Google Shape;1458;p91"/>
          <p:cNvCxnSpPr/>
          <p:nvPr/>
        </p:nvCxnSpPr>
        <p:spPr>
          <a:xfrm>
            <a:off x="1216797" y="2172575"/>
            <a:ext cx="18714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59" name="Google Shape;1459;p91"/>
          <p:cNvSpPr txBox="1"/>
          <p:nvPr/>
        </p:nvSpPr>
        <p:spPr>
          <a:xfrm>
            <a:off x="1562076" y="2194725"/>
            <a:ext cx="1180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0" name="Google Shape;1460;p91"/>
          <p:cNvSpPr txBox="1"/>
          <p:nvPr/>
        </p:nvSpPr>
        <p:spPr>
          <a:xfrm flipH="1" rot="2665">
            <a:off x="4529499" y="811690"/>
            <a:ext cx="4257301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For this saucepan, it was sensible to assume the maximum base and height are perpendicular and touch at the circumference of the circle at the base of the pan.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61" name="Google Shape;1461;p91"/>
          <p:cNvGrpSpPr/>
          <p:nvPr/>
        </p:nvGrpSpPr>
        <p:grpSpPr>
          <a:xfrm>
            <a:off x="260123" y="932702"/>
            <a:ext cx="807075" cy="966765"/>
            <a:chOff x="5889400" y="3070525"/>
            <a:chExt cx="807075" cy="1871400"/>
          </a:xfrm>
        </p:grpSpPr>
        <p:cxnSp>
          <p:nvCxnSpPr>
            <p:cNvPr id="1462" name="Google Shape;1462;p91"/>
            <p:cNvCxnSpPr/>
            <p:nvPr/>
          </p:nvCxnSpPr>
          <p:spPr>
            <a:xfrm rot="5400000">
              <a:off x="5760775" y="4006225"/>
              <a:ext cx="18714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463" name="Google Shape;1463;p91"/>
            <p:cNvSpPr txBox="1"/>
            <p:nvPr/>
          </p:nvSpPr>
          <p:spPr>
            <a:xfrm>
              <a:off x="5889400" y="3844375"/>
              <a:ext cx="8028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64" name="Google Shape;1464;p91"/>
          <p:cNvSpPr/>
          <p:nvPr/>
        </p:nvSpPr>
        <p:spPr>
          <a:xfrm>
            <a:off x="1081015" y="1748494"/>
            <a:ext cx="273300" cy="273300"/>
          </a:xfrm>
          <a:prstGeom prst="mathMultiply">
            <a:avLst>
              <a:gd fmla="val 8825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65" name="Google Shape;1465;p91"/>
          <p:cNvCxnSpPr/>
          <p:nvPr/>
        </p:nvCxnSpPr>
        <p:spPr>
          <a:xfrm>
            <a:off x="1219506" y="1061885"/>
            <a:ext cx="1866000" cy="837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66" name="Google Shape;1466;p91"/>
          <p:cNvSpPr txBox="1"/>
          <p:nvPr/>
        </p:nvSpPr>
        <p:spPr>
          <a:xfrm flipH="1" rot="2830">
            <a:off x="260124" y="2923233"/>
            <a:ext cx="3644101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For this saucepan, what assumption doesn’t hold true which means we cannot model this as a right-angled triangle?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91"/>
          <p:cNvSpPr txBox="1"/>
          <p:nvPr/>
        </p:nvSpPr>
        <p:spPr>
          <a:xfrm flipH="1" rot="2736">
            <a:off x="927899" y="4101078"/>
            <a:ext cx="3392101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None of the three lengths are perpendicular to each other.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468" name="Google Shape;1468;p91"/>
          <p:cNvGrpSpPr/>
          <p:nvPr/>
        </p:nvGrpSpPr>
        <p:grpSpPr>
          <a:xfrm>
            <a:off x="5699739" y="2970382"/>
            <a:ext cx="3087069" cy="1407243"/>
            <a:chOff x="5508864" y="1808957"/>
            <a:chExt cx="3087069" cy="1407243"/>
          </a:xfrm>
        </p:grpSpPr>
        <p:sp>
          <p:nvSpPr>
            <p:cNvPr id="1469" name="Google Shape;1469;p91"/>
            <p:cNvSpPr/>
            <p:nvPr/>
          </p:nvSpPr>
          <p:spPr>
            <a:xfrm flipH="1" rot="9489519">
              <a:off x="7233858" y="2055173"/>
              <a:ext cx="1358733" cy="257568"/>
            </a:xfrm>
            <a:prstGeom prst="diagStripe">
              <a:avLst>
                <a:gd fmla="val 68104" name="adj"/>
              </a:avLst>
            </a:prstGeom>
            <a:solidFill>
              <a:srgbClr val="434343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0" name="Google Shape;1470;p91"/>
            <p:cNvSpPr/>
            <p:nvPr/>
          </p:nvSpPr>
          <p:spPr>
            <a:xfrm>
              <a:off x="7253732" y="2049401"/>
              <a:ext cx="1342200" cy="260400"/>
            </a:xfrm>
            <a:prstGeom prst="diagStripe">
              <a:avLst>
                <a:gd fmla="val 84995" name="adj"/>
              </a:avLst>
            </a:prstGeom>
            <a:solidFill>
              <a:srgbClr val="78787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1" name="Google Shape;1471;p91"/>
            <p:cNvSpPr/>
            <p:nvPr/>
          </p:nvSpPr>
          <p:spPr>
            <a:xfrm>
              <a:off x="5720050" y="2874200"/>
              <a:ext cx="1446300" cy="342000"/>
            </a:xfrm>
            <a:prstGeom prst="ellipse">
              <a:avLst/>
            </a:prstGeom>
            <a:gradFill>
              <a:gsLst>
                <a:gs pos="0">
                  <a:srgbClr val="828282"/>
                </a:gs>
                <a:gs pos="23000">
                  <a:srgbClr val="666666"/>
                </a:gs>
                <a:gs pos="49000">
                  <a:srgbClr val="434343"/>
                </a:gs>
                <a:gs pos="100000">
                  <a:srgbClr val="434343"/>
                </a:gs>
              </a:gsLst>
              <a:lin ang="0" scaled="0"/>
            </a:gra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2" name="Google Shape;1472;p91"/>
            <p:cNvSpPr/>
            <p:nvPr/>
          </p:nvSpPr>
          <p:spPr>
            <a:xfrm flipH="1" rot="10800000">
              <a:off x="5508978" y="2212162"/>
              <a:ext cx="1868700" cy="841800"/>
            </a:xfrm>
            <a:prstGeom prst="trapezoid">
              <a:avLst>
                <a:gd fmla="val 25000" name="adj"/>
              </a:avLst>
            </a:prstGeom>
            <a:gradFill>
              <a:gsLst>
                <a:gs pos="0">
                  <a:srgbClr val="999999"/>
                </a:gs>
                <a:gs pos="49000">
                  <a:srgbClr val="434343"/>
                </a:gs>
                <a:gs pos="100000">
                  <a:srgbClr val="43434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3" name="Google Shape;1473;p91"/>
            <p:cNvSpPr/>
            <p:nvPr/>
          </p:nvSpPr>
          <p:spPr>
            <a:xfrm>
              <a:off x="5508886" y="1987164"/>
              <a:ext cx="1868700" cy="4419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8000">
                  <a:srgbClr val="808080"/>
                </a:gs>
                <a:gs pos="100000">
                  <a:srgbClr val="808080"/>
                </a:gs>
              </a:gsLst>
              <a:lin ang="8100019" scaled="0"/>
            </a:gra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4" name="Google Shape;1474;p91"/>
            <p:cNvSpPr/>
            <p:nvPr/>
          </p:nvSpPr>
          <p:spPr>
            <a:xfrm rot="-6078596">
              <a:off x="8326322" y="2036673"/>
              <a:ext cx="26005" cy="85017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75" name="Google Shape;1475;p91"/>
            <p:cNvCxnSpPr/>
            <p:nvPr/>
          </p:nvCxnSpPr>
          <p:spPr>
            <a:xfrm flipH="1">
              <a:off x="7165039" y="2212199"/>
              <a:ext cx="212400" cy="847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6" name="Google Shape;1476;p91"/>
            <p:cNvCxnSpPr/>
            <p:nvPr/>
          </p:nvCxnSpPr>
          <p:spPr>
            <a:xfrm>
              <a:off x="5508864" y="2212199"/>
              <a:ext cx="212400" cy="847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477" name="Google Shape;1477;p91"/>
          <p:cNvCxnSpPr/>
          <p:nvPr/>
        </p:nvCxnSpPr>
        <p:spPr>
          <a:xfrm>
            <a:off x="5897099" y="4472400"/>
            <a:ext cx="14724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78" name="Google Shape;1478;p91"/>
          <p:cNvSpPr txBox="1"/>
          <p:nvPr/>
        </p:nvSpPr>
        <p:spPr>
          <a:xfrm>
            <a:off x="6168776" y="4494550"/>
            <a:ext cx="929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79" name="Google Shape;1479;p91"/>
          <p:cNvGrpSpPr/>
          <p:nvPr/>
        </p:nvGrpSpPr>
        <p:grpSpPr>
          <a:xfrm rot="-855515">
            <a:off x="4876464" y="3432421"/>
            <a:ext cx="807080" cy="1012934"/>
            <a:chOff x="5889400" y="3070525"/>
            <a:chExt cx="807075" cy="1871400"/>
          </a:xfrm>
        </p:grpSpPr>
        <p:cxnSp>
          <p:nvCxnSpPr>
            <p:cNvPr id="1480" name="Google Shape;1480;p91"/>
            <p:cNvCxnSpPr/>
            <p:nvPr/>
          </p:nvCxnSpPr>
          <p:spPr>
            <a:xfrm rot="5400000">
              <a:off x="5760775" y="4006225"/>
              <a:ext cx="18714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481" name="Google Shape;1481;p91"/>
            <p:cNvSpPr txBox="1"/>
            <p:nvPr/>
          </p:nvSpPr>
          <p:spPr>
            <a:xfrm>
              <a:off x="5889400" y="3844375"/>
              <a:ext cx="8028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82" name="Google Shape;1482;p91"/>
          <p:cNvSpPr/>
          <p:nvPr/>
        </p:nvSpPr>
        <p:spPr>
          <a:xfrm>
            <a:off x="5795840" y="4104319"/>
            <a:ext cx="273300" cy="273300"/>
          </a:xfrm>
          <a:prstGeom prst="mathMultiply">
            <a:avLst>
              <a:gd fmla="val 8825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83" name="Google Shape;1483;p91"/>
          <p:cNvCxnSpPr/>
          <p:nvPr/>
        </p:nvCxnSpPr>
        <p:spPr>
          <a:xfrm>
            <a:off x="5700331" y="3391660"/>
            <a:ext cx="1655400" cy="8601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92"/>
          <p:cNvSpPr txBox="1"/>
          <p:nvPr/>
        </p:nvSpPr>
        <p:spPr>
          <a:xfrm flipH="1" rot="2553">
            <a:off x="324099" y="656661"/>
            <a:ext cx="5655902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Radio towers must be at most 3000 m apart from each other in order for the radio signal to be broadcast to the local area.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Radio tower B is 1900 m north of radio tower 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radio tower C is 2400 m west of radio tower 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Model the distances between all three radio towers on this right-angled triangle, labelling each vertex A, B, or C to represent the three towers.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Radio tower A breaks down. Are radio towers B and C close enough to each other for the radio signal to still be broadcast? Explain how you know.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9" name="Google Shape;1489;p9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and evaluating modelled contexts</a:t>
            </a:r>
            <a:endParaRPr/>
          </a:p>
        </p:txBody>
      </p:sp>
      <p:grpSp>
        <p:nvGrpSpPr>
          <p:cNvPr id="1490" name="Google Shape;1490;p92"/>
          <p:cNvGrpSpPr/>
          <p:nvPr/>
        </p:nvGrpSpPr>
        <p:grpSpPr>
          <a:xfrm flipH="1" rot="-5400000">
            <a:off x="6534482" y="1818722"/>
            <a:ext cx="1308737" cy="1640932"/>
            <a:chOff x="6717888" y="1981143"/>
            <a:chExt cx="1308737" cy="1640932"/>
          </a:xfrm>
        </p:grpSpPr>
        <p:cxnSp>
          <p:nvCxnSpPr>
            <p:cNvPr id="1491" name="Google Shape;1491;p92"/>
            <p:cNvCxnSpPr/>
            <p:nvPr/>
          </p:nvCxnSpPr>
          <p:spPr>
            <a:xfrm rot="10800000">
              <a:off x="6858758" y="3622075"/>
              <a:ext cx="983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492" name="Google Shape;1492;p92"/>
            <p:cNvSpPr/>
            <p:nvPr/>
          </p:nvSpPr>
          <p:spPr>
            <a:xfrm flipH="1">
              <a:off x="6863325" y="2092099"/>
              <a:ext cx="960300" cy="1338000"/>
            </a:xfrm>
            <a:prstGeom prst="rtTriangle">
              <a:avLst/>
            </a:prstGeom>
            <a:solidFill>
              <a:srgbClr val="EBEDFE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93" name="Google Shape;1493;p92"/>
            <p:cNvCxnSpPr/>
            <p:nvPr/>
          </p:nvCxnSpPr>
          <p:spPr>
            <a:xfrm>
              <a:off x="8026625" y="2129300"/>
              <a:ext cx="0" cy="13005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494" name="Google Shape;1494;p92"/>
            <p:cNvSpPr/>
            <p:nvPr/>
          </p:nvSpPr>
          <p:spPr>
            <a:xfrm flipH="1">
              <a:off x="7641600" y="3250150"/>
              <a:ext cx="179700" cy="179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95" name="Google Shape;1495;p92"/>
            <p:cNvCxnSpPr/>
            <p:nvPr/>
          </p:nvCxnSpPr>
          <p:spPr>
            <a:xfrm rot="7545233">
              <a:off x="6364447" y="2671143"/>
              <a:ext cx="1700483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93"/>
          <p:cNvSpPr/>
          <p:nvPr/>
        </p:nvSpPr>
        <p:spPr>
          <a:xfrm rot="-5400000">
            <a:off x="6668191" y="3084407"/>
            <a:ext cx="960300" cy="1338000"/>
          </a:xfrm>
          <a:prstGeom prst="rtTriangle">
            <a:avLst/>
          </a:prstGeom>
          <a:solidFill>
            <a:srgbClr val="EBEDFE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1" name="Google Shape;1501;p93"/>
          <p:cNvSpPr txBox="1"/>
          <p:nvPr/>
        </p:nvSpPr>
        <p:spPr>
          <a:xfrm flipH="1" rot="2590">
            <a:off x="324224" y="656298"/>
            <a:ext cx="4777801" cy="3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A lighthouse is 50 metres tall, and the light from it travels 130 metres to reach the boat.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captain of the boat confidently declares: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“we are 120 metres away from the shore”.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Explain why the captain might be wrong.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You may reference assumptions made by the captain that are incorrect.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9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and evaluating modelled contexts</a:t>
            </a:r>
            <a:endParaRPr/>
          </a:p>
        </p:txBody>
      </p:sp>
      <p:pic>
        <p:nvPicPr>
          <p:cNvPr id="1503" name="Google Shape;1503;p93"/>
          <p:cNvPicPr preferRelativeResize="0"/>
          <p:nvPr/>
        </p:nvPicPr>
        <p:blipFill rotWithShape="1">
          <a:blip r:embed="rId3">
            <a:alphaModFix/>
          </a:blip>
          <a:srcRect b="55363" l="0" r="23259" t="0"/>
          <a:stretch/>
        </p:blipFill>
        <p:spPr>
          <a:xfrm>
            <a:off x="5202200" y="810000"/>
            <a:ext cx="3617799" cy="1664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4" name="Google Shape;1504;p93"/>
          <p:cNvGrpSpPr/>
          <p:nvPr/>
        </p:nvGrpSpPr>
        <p:grpSpPr>
          <a:xfrm>
            <a:off x="6241146" y="1139550"/>
            <a:ext cx="2032500" cy="960900"/>
            <a:chOff x="2253750" y="1818200"/>
            <a:chExt cx="2032500" cy="960900"/>
          </a:xfrm>
        </p:grpSpPr>
        <p:cxnSp>
          <p:nvCxnSpPr>
            <p:cNvPr id="1505" name="Google Shape;1505;p93"/>
            <p:cNvCxnSpPr/>
            <p:nvPr/>
          </p:nvCxnSpPr>
          <p:spPr>
            <a:xfrm flipH="1">
              <a:off x="2253750" y="1818200"/>
              <a:ext cx="2032500" cy="960900"/>
            </a:xfrm>
            <a:prstGeom prst="straightConnector1">
              <a:avLst/>
            </a:prstGeom>
            <a:noFill/>
            <a:ln cap="flat" cmpd="sng" w="76200">
              <a:solidFill>
                <a:srgbClr val="FFD9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6" name="Google Shape;1506;p93"/>
            <p:cNvCxnSpPr/>
            <p:nvPr/>
          </p:nvCxnSpPr>
          <p:spPr>
            <a:xfrm flipH="1">
              <a:off x="2253750" y="1818200"/>
              <a:ext cx="2032500" cy="960900"/>
            </a:xfrm>
            <a:prstGeom prst="straightConnector1">
              <a:avLst/>
            </a:prstGeom>
            <a:noFill/>
            <a:ln cap="flat" cmpd="sng" w="38100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7" name="Google Shape;1507;p93"/>
            <p:cNvCxnSpPr/>
            <p:nvPr/>
          </p:nvCxnSpPr>
          <p:spPr>
            <a:xfrm flipH="1">
              <a:off x="2253750" y="1818200"/>
              <a:ext cx="2032500" cy="9609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508" name="Google Shape;1508;p93"/>
          <p:cNvCxnSpPr/>
          <p:nvPr/>
        </p:nvCxnSpPr>
        <p:spPr>
          <a:xfrm rot="-5400000">
            <a:off x="7517467" y="3760540"/>
            <a:ext cx="9837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09" name="Google Shape;1509;p93"/>
          <p:cNvSpPr/>
          <p:nvPr/>
        </p:nvSpPr>
        <p:spPr>
          <a:xfrm rot="-5400000">
            <a:off x="7637392" y="4051532"/>
            <a:ext cx="179700" cy="17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10" name="Google Shape;1510;p93"/>
          <p:cNvCxnSpPr/>
          <p:nvPr/>
        </p:nvCxnSpPr>
        <p:spPr>
          <a:xfrm rot="-2145233">
            <a:off x="6208143" y="3624620"/>
            <a:ext cx="1700483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11" name="Google Shape;1511;p93"/>
          <p:cNvSpPr txBox="1"/>
          <p:nvPr/>
        </p:nvSpPr>
        <p:spPr>
          <a:xfrm flipH="1" rot="1433">
            <a:off x="6417130" y="3330513"/>
            <a:ext cx="71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130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93"/>
          <p:cNvSpPr txBox="1"/>
          <p:nvPr/>
        </p:nvSpPr>
        <p:spPr>
          <a:xfrm flipH="1" rot="1433">
            <a:off x="8055580" y="3614788"/>
            <a:ext cx="71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13" name="Google Shape;1513;p93"/>
          <p:cNvCxnSpPr/>
          <p:nvPr/>
        </p:nvCxnSpPr>
        <p:spPr>
          <a:xfrm>
            <a:off x="6516000" y="4329100"/>
            <a:ext cx="13011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94"/>
          <p:cNvSpPr txBox="1"/>
          <p:nvPr/>
        </p:nvSpPr>
        <p:spPr>
          <a:xfrm flipH="1" rot="2428">
            <a:off x="324299" y="657777"/>
            <a:ext cx="8495702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A window cleaner needs to reach a window that is 412 cm above ground. This is safe to do if the horizontal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from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wall to the foot of the ladder is a quarter of the height the ladder needs to reach.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9" name="Google Shape;1519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and evaluating modelled contexts</a:t>
            </a:r>
            <a:endParaRPr/>
          </a:p>
        </p:txBody>
      </p:sp>
      <p:sp>
        <p:nvSpPr>
          <p:cNvPr id="1520" name="Google Shape;1520;p94"/>
          <p:cNvSpPr txBox="1"/>
          <p:nvPr/>
        </p:nvSpPr>
        <p:spPr>
          <a:xfrm flipH="1" rot="2428">
            <a:off x="324274" y="1965724"/>
            <a:ext cx="8495702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Model this situation on this right-angled triangle, labelling any known lengths and which side of the triangle is modelling the ladder.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To what length should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window cleaner set their ladder?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What assumptions are you making about this context?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95"/>
          <p:cNvSpPr txBox="1"/>
          <p:nvPr/>
        </p:nvSpPr>
        <p:spPr>
          <a:xfrm flipH="1" rot="2671">
            <a:off x="323999" y="657728"/>
            <a:ext cx="8496003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A phone mast that is 15 m in height is supported by a 24 m long cable that is tied to the ground with a hook.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Two lights are attached: one at the top of the phone mast, and the other at the hook, to reduce the risk of people walking into it at night time.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 order for the lights to work, a battery generator is attached to the base of the phone mast, and needs to be connected to both lights by an electrical wire.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Is a 35 metre long reel of electrical wire enough to connect the battery to both lights?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What assumptions have you made about this context in part a)?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6" name="Google Shape;1526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and evaluating modelled contexts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96"/>
          <p:cNvSpPr txBox="1"/>
          <p:nvPr/>
        </p:nvSpPr>
        <p:spPr>
          <a:xfrm flipH="1" rot="2553">
            <a:off x="324099" y="656661"/>
            <a:ext cx="5655902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Radio towers must be at most 3000 m apart from each other in order for the radio signal to be broadcast to the local area.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Radio tower B is 1900 m north of radio tower 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radio tower C is 2400 m west of radio tower 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Model the distances between all three radio towers on this right-angled triangle, labelling each vertex A, B, or C to represent the three towers.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Radio tower A breaks down. Are radio towers B and C close enough to each other for the radio signal to still be broadcast? Explain how you know.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and evaluating modelled contexts</a:t>
            </a:r>
            <a:endParaRPr/>
          </a:p>
        </p:txBody>
      </p:sp>
      <p:sp>
        <p:nvSpPr>
          <p:cNvPr id="1533" name="Google Shape;1533;p96"/>
          <p:cNvSpPr txBox="1"/>
          <p:nvPr/>
        </p:nvSpPr>
        <p:spPr>
          <a:xfrm flipH="1" rot="3652">
            <a:off x="8004779" y="2485271"/>
            <a:ext cx="84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1900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534" name="Google Shape;1534;p96"/>
          <p:cNvGrpSpPr/>
          <p:nvPr/>
        </p:nvGrpSpPr>
        <p:grpSpPr>
          <a:xfrm flipH="1" rot="-5400000">
            <a:off x="6534482" y="1818722"/>
            <a:ext cx="1308737" cy="1640932"/>
            <a:chOff x="6717888" y="1981143"/>
            <a:chExt cx="1308737" cy="1640932"/>
          </a:xfrm>
        </p:grpSpPr>
        <p:cxnSp>
          <p:nvCxnSpPr>
            <p:cNvPr id="1535" name="Google Shape;1535;p96"/>
            <p:cNvCxnSpPr/>
            <p:nvPr/>
          </p:nvCxnSpPr>
          <p:spPr>
            <a:xfrm rot="10800000">
              <a:off x="6858758" y="3622075"/>
              <a:ext cx="983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36" name="Google Shape;1536;p96"/>
            <p:cNvSpPr/>
            <p:nvPr/>
          </p:nvSpPr>
          <p:spPr>
            <a:xfrm flipH="1">
              <a:off x="6863325" y="2092099"/>
              <a:ext cx="960300" cy="1338000"/>
            </a:xfrm>
            <a:prstGeom prst="rtTriangle">
              <a:avLst/>
            </a:prstGeom>
            <a:solidFill>
              <a:srgbClr val="EBEDFE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37" name="Google Shape;1537;p96"/>
            <p:cNvCxnSpPr/>
            <p:nvPr/>
          </p:nvCxnSpPr>
          <p:spPr>
            <a:xfrm>
              <a:off x="8026625" y="2129300"/>
              <a:ext cx="0" cy="13005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38" name="Google Shape;1538;p96"/>
            <p:cNvSpPr/>
            <p:nvPr/>
          </p:nvSpPr>
          <p:spPr>
            <a:xfrm flipH="1">
              <a:off x="7641600" y="3250150"/>
              <a:ext cx="179700" cy="179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39" name="Google Shape;1539;p96"/>
            <p:cNvCxnSpPr/>
            <p:nvPr/>
          </p:nvCxnSpPr>
          <p:spPr>
            <a:xfrm rot="7545233">
              <a:off x="6364447" y="2671143"/>
              <a:ext cx="1700483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540" name="Google Shape;1540;p96"/>
          <p:cNvSpPr txBox="1"/>
          <p:nvPr/>
        </p:nvSpPr>
        <p:spPr>
          <a:xfrm flipH="1" rot="3652">
            <a:off x="6765238" y="3314693"/>
            <a:ext cx="84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2400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1" name="Google Shape;1541;p96"/>
          <p:cNvSpPr txBox="1"/>
          <p:nvPr/>
        </p:nvSpPr>
        <p:spPr>
          <a:xfrm flipH="1" rot="3652">
            <a:off x="6312572" y="2174643"/>
            <a:ext cx="84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3061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2" name="Google Shape;1542;p96"/>
          <p:cNvSpPr txBox="1"/>
          <p:nvPr/>
        </p:nvSpPr>
        <p:spPr>
          <a:xfrm flipH="1" rot="2872">
            <a:off x="7708200" y="2999393"/>
            <a:ext cx="35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3" name="Google Shape;1543;p96"/>
          <p:cNvSpPr txBox="1"/>
          <p:nvPr/>
        </p:nvSpPr>
        <p:spPr>
          <a:xfrm flipH="1" rot="2872">
            <a:off x="7708200" y="1852043"/>
            <a:ext cx="35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4" name="Google Shape;1544;p96"/>
          <p:cNvSpPr txBox="1"/>
          <p:nvPr/>
        </p:nvSpPr>
        <p:spPr>
          <a:xfrm flipH="1" rot="2872">
            <a:off x="6173425" y="2999393"/>
            <a:ext cx="35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5" name="Google Shape;1545;p96"/>
          <p:cNvSpPr txBox="1"/>
          <p:nvPr/>
        </p:nvSpPr>
        <p:spPr>
          <a:xfrm flipH="1" rot="2836">
            <a:off x="995414" y="4208320"/>
            <a:ext cx="7272902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radio signal will be lost, as the shortest distance from radio tower B to radio tower C is over 3000 m, at 3061 m.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97"/>
          <p:cNvSpPr/>
          <p:nvPr/>
        </p:nvSpPr>
        <p:spPr>
          <a:xfrm rot="-5400000">
            <a:off x="6668191" y="2627207"/>
            <a:ext cx="960300" cy="1338000"/>
          </a:xfrm>
          <a:prstGeom prst="rtTriangle">
            <a:avLst/>
          </a:prstGeom>
          <a:solidFill>
            <a:srgbClr val="EBEDFE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1" name="Google Shape;1551;p97"/>
          <p:cNvSpPr/>
          <p:nvPr/>
        </p:nvSpPr>
        <p:spPr>
          <a:xfrm rot="-5400000">
            <a:off x="7637392" y="3594332"/>
            <a:ext cx="179700" cy="17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2" name="Google Shape;1552;p97"/>
          <p:cNvSpPr txBox="1"/>
          <p:nvPr/>
        </p:nvSpPr>
        <p:spPr>
          <a:xfrm flipH="1" rot="1433">
            <a:off x="6417130" y="2873313"/>
            <a:ext cx="71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130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3" name="Google Shape;1553;p97"/>
          <p:cNvSpPr txBox="1"/>
          <p:nvPr/>
        </p:nvSpPr>
        <p:spPr>
          <a:xfrm flipH="1" rot="1433">
            <a:off x="8055580" y="3157588"/>
            <a:ext cx="71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97"/>
          <p:cNvSpPr txBox="1"/>
          <p:nvPr/>
        </p:nvSpPr>
        <p:spPr>
          <a:xfrm flipH="1" rot="2590">
            <a:off x="324224" y="656298"/>
            <a:ext cx="4777801" cy="3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A lighthouse is 50 metres tall, and the light shone from it travels 130 metres to reach the boat.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captain of the boat confidently declares: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“we are 120 metres away from the shore”.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Explain why the captain might be wrong.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You may reference assumptions made by the captain that are incorrect.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5" name="Google Shape;1555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and evaluating modelled contexts</a:t>
            </a:r>
            <a:endParaRPr/>
          </a:p>
        </p:txBody>
      </p:sp>
      <p:pic>
        <p:nvPicPr>
          <p:cNvPr id="1556" name="Google Shape;1556;p97"/>
          <p:cNvPicPr preferRelativeResize="0"/>
          <p:nvPr/>
        </p:nvPicPr>
        <p:blipFill rotWithShape="1">
          <a:blip r:embed="rId3">
            <a:alphaModFix/>
          </a:blip>
          <a:srcRect b="55363" l="0" r="23259" t="0"/>
          <a:stretch/>
        </p:blipFill>
        <p:spPr>
          <a:xfrm>
            <a:off x="5202200" y="810000"/>
            <a:ext cx="3617799" cy="1664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7" name="Google Shape;1557;p97"/>
          <p:cNvGrpSpPr/>
          <p:nvPr/>
        </p:nvGrpSpPr>
        <p:grpSpPr>
          <a:xfrm>
            <a:off x="6241146" y="1139550"/>
            <a:ext cx="2032500" cy="960900"/>
            <a:chOff x="2253750" y="1818200"/>
            <a:chExt cx="2032500" cy="960900"/>
          </a:xfrm>
        </p:grpSpPr>
        <p:cxnSp>
          <p:nvCxnSpPr>
            <p:cNvPr id="1558" name="Google Shape;1558;p97"/>
            <p:cNvCxnSpPr/>
            <p:nvPr/>
          </p:nvCxnSpPr>
          <p:spPr>
            <a:xfrm flipH="1">
              <a:off x="2253750" y="1818200"/>
              <a:ext cx="2032500" cy="960900"/>
            </a:xfrm>
            <a:prstGeom prst="straightConnector1">
              <a:avLst/>
            </a:prstGeom>
            <a:noFill/>
            <a:ln cap="flat" cmpd="sng" w="76200">
              <a:solidFill>
                <a:srgbClr val="FFD9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9" name="Google Shape;1559;p97"/>
            <p:cNvCxnSpPr/>
            <p:nvPr/>
          </p:nvCxnSpPr>
          <p:spPr>
            <a:xfrm flipH="1">
              <a:off x="2253750" y="1818200"/>
              <a:ext cx="2032500" cy="960900"/>
            </a:xfrm>
            <a:prstGeom prst="straightConnector1">
              <a:avLst/>
            </a:prstGeom>
            <a:noFill/>
            <a:ln cap="flat" cmpd="sng" w="38100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0" name="Google Shape;1560;p97"/>
            <p:cNvCxnSpPr/>
            <p:nvPr/>
          </p:nvCxnSpPr>
          <p:spPr>
            <a:xfrm flipH="1">
              <a:off x="2253750" y="1818200"/>
              <a:ext cx="2032500" cy="9609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61" name="Google Shape;1561;p97"/>
          <p:cNvSpPr txBox="1"/>
          <p:nvPr/>
        </p:nvSpPr>
        <p:spPr>
          <a:xfrm flipH="1" rot="3652">
            <a:off x="6765238" y="4000493"/>
            <a:ext cx="84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120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2" name="Google Shape;1562;p97"/>
          <p:cNvSpPr txBox="1"/>
          <p:nvPr/>
        </p:nvSpPr>
        <p:spPr>
          <a:xfrm flipH="1" rot="3762">
            <a:off x="459323" y="4044637"/>
            <a:ext cx="6031804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From the right-angle triangle model of the lighthouse and boat, 120 m is correct. So why is he wrong?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63" name="Google Shape;1563;p97"/>
          <p:cNvCxnSpPr/>
          <p:nvPr/>
        </p:nvCxnSpPr>
        <p:spPr>
          <a:xfrm>
            <a:off x="7939588" y="2817550"/>
            <a:ext cx="15000" cy="961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64" name="Google Shape;1564;p97"/>
          <p:cNvCxnSpPr/>
          <p:nvPr/>
        </p:nvCxnSpPr>
        <p:spPr>
          <a:xfrm flipH="1" rot="10800000">
            <a:off x="6413725" y="2750125"/>
            <a:ext cx="1313700" cy="9552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65" name="Google Shape;1565;p97"/>
          <p:cNvCxnSpPr/>
          <p:nvPr/>
        </p:nvCxnSpPr>
        <p:spPr>
          <a:xfrm>
            <a:off x="6479351" y="3862937"/>
            <a:ext cx="1333500" cy="3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98"/>
          <p:cNvSpPr txBox="1"/>
          <p:nvPr/>
        </p:nvSpPr>
        <p:spPr>
          <a:xfrm flipH="1" rot="3023">
            <a:off x="324099" y="656300"/>
            <a:ext cx="4093502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Possible answers could include: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and evaluating modelled contexts</a:t>
            </a:r>
            <a:endParaRPr/>
          </a:p>
        </p:txBody>
      </p:sp>
      <p:pic>
        <p:nvPicPr>
          <p:cNvPr id="1572" name="Google Shape;1572;p98"/>
          <p:cNvPicPr preferRelativeResize="0"/>
          <p:nvPr/>
        </p:nvPicPr>
        <p:blipFill rotWithShape="1">
          <a:blip r:embed="rId3">
            <a:alphaModFix/>
          </a:blip>
          <a:srcRect b="55363" l="0" r="23259" t="0"/>
          <a:stretch/>
        </p:blipFill>
        <p:spPr>
          <a:xfrm>
            <a:off x="4745000" y="810000"/>
            <a:ext cx="3617799" cy="16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3" name="Google Shape;1573;p98"/>
          <p:cNvSpPr txBox="1"/>
          <p:nvPr/>
        </p:nvSpPr>
        <p:spPr>
          <a:xfrm flipH="1" rot="3484">
            <a:off x="626801" y="1985597"/>
            <a:ext cx="3552602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height of the lighthouse isn’t the total vertical distance to sea level. So, the captain hasn’t factored in that extra vertical distance.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574" name="Google Shape;1574;p98"/>
          <p:cNvGrpSpPr/>
          <p:nvPr/>
        </p:nvGrpSpPr>
        <p:grpSpPr>
          <a:xfrm>
            <a:off x="5783946" y="1139550"/>
            <a:ext cx="2032500" cy="960900"/>
            <a:chOff x="2253750" y="1818200"/>
            <a:chExt cx="2032500" cy="960900"/>
          </a:xfrm>
        </p:grpSpPr>
        <p:cxnSp>
          <p:nvCxnSpPr>
            <p:cNvPr id="1575" name="Google Shape;1575;p98"/>
            <p:cNvCxnSpPr/>
            <p:nvPr/>
          </p:nvCxnSpPr>
          <p:spPr>
            <a:xfrm flipH="1">
              <a:off x="2253750" y="1818200"/>
              <a:ext cx="2032500" cy="960900"/>
            </a:xfrm>
            <a:prstGeom prst="straightConnector1">
              <a:avLst/>
            </a:prstGeom>
            <a:noFill/>
            <a:ln cap="flat" cmpd="sng" w="76200">
              <a:solidFill>
                <a:srgbClr val="FFD9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6" name="Google Shape;1576;p98"/>
            <p:cNvCxnSpPr/>
            <p:nvPr/>
          </p:nvCxnSpPr>
          <p:spPr>
            <a:xfrm flipH="1">
              <a:off x="2253750" y="1818200"/>
              <a:ext cx="2032500" cy="960900"/>
            </a:xfrm>
            <a:prstGeom prst="straightConnector1">
              <a:avLst/>
            </a:prstGeom>
            <a:noFill/>
            <a:ln cap="flat" cmpd="sng" w="38100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7" name="Google Shape;1577;p98"/>
            <p:cNvCxnSpPr/>
            <p:nvPr/>
          </p:nvCxnSpPr>
          <p:spPr>
            <a:xfrm flipH="1">
              <a:off x="2253750" y="1818200"/>
              <a:ext cx="2032500" cy="9609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78" name="Google Shape;1578;p98"/>
          <p:cNvSpPr txBox="1"/>
          <p:nvPr/>
        </p:nvSpPr>
        <p:spPr>
          <a:xfrm flipH="1" rot="3484">
            <a:off x="626801" y="997845"/>
            <a:ext cx="3552602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shore is horizontally closer to the boat than the lighthouse is.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9" name="Google Shape;1579;p98"/>
          <p:cNvSpPr txBox="1"/>
          <p:nvPr/>
        </p:nvSpPr>
        <p:spPr>
          <a:xfrm flipH="1" rot="2975">
            <a:off x="5340550" y="3236182"/>
            <a:ext cx="2426701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distance to shore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0" name="Google Shape;1580;p98"/>
          <p:cNvSpPr txBox="1"/>
          <p:nvPr/>
        </p:nvSpPr>
        <p:spPr>
          <a:xfrm flipH="1" rot="2975">
            <a:off x="5617125" y="2590094"/>
            <a:ext cx="2426701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distance to lighthouse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581" name="Google Shape;1581;p98"/>
          <p:cNvGrpSpPr/>
          <p:nvPr/>
        </p:nvGrpSpPr>
        <p:grpSpPr>
          <a:xfrm flipH="1">
            <a:off x="8109530" y="935032"/>
            <a:ext cx="771060" cy="820746"/>
            <a:chOff x="6560425" y="3493800"/>
            <a:chExt cx="771060" cy="1300500"/>
          </a:xfrm>
        </p:grpSpPr>
        <p:cxnSp>
          <p:nvCxnSpPr>
            <p:cNvPr id="1582" name="Google Shape;1582;p98"/>
            <p:cNvCxnSpPr/>
            <p:nvPr/>
          </p:nvCxnSpPr>
          <p:spPr>
            <a:xfrm>
              <a:off x="7331485" y="3493800"/>
              <a:ext cx="0" cy="13005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83" name="Google Shape;1583;p98"/>
            <p:cNvSpPr txBox="1"/>
            <p:nvPr/>
          </p:nvSpPr>
          <p:spPr>
            <a:xfrm flipH="1" rot="4209">
              <a:off x="6560425" y="4012131"/>
              <a:ext cx="735001" cy="4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50 m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584" name="Google Shape;1584;p98"/>
          <p:cNvGrpSpPr/>
          <p:nvPr/>
        </p:nvGrpSpPr>
        <p:grpSpPr>
          <a:xfrm flipH="1">
            <a:off x="8109668" y="1749733"/>
            <a:ext cx="771060" cy="517989"/>
            <a:chOff x="6560425" y="3493800"/>
            <a:chExt cx="771060" cy="1300500"/>
          </a:xfrm>
        </p:grpSpPr>
        <p:cxnSp>
          <p:nvCxnSpPr>
            <p:cNvPr id="1585" name="Google Shape;1585;p98"/>
            <p:cNvCxnSpPr/>
            <p:nvPr/>
          </p:nvCxnSpPr>
          <p:spPr>
            <a:xfrm>
              <a:off x="7331485" y="3493800"/>
              <a:ext cx="0" cy="130050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86" name="Google Shape;1586;p98"/>
            <p:cNvSpPr txBox="1"/>
            <p:nvPr/>
          </p:nvSpPr>
          <p:spPr>
            <a:xfrm flipH="1" rot="4209">
              <a:off x="6560425" y="4012131"/>
              <a:ext cx="735001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???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cxnSp>
        <p:nvCxnSpPr>
          <p:cNvPr id="1587" name="Google Shape;1587;p98"/>
          <p:cNvCxnSpPr/>
          <p:nvPr/>
        </p:nvCxnSpPr>
        <p:spPr>
          <a:xfrm>
            <a:off x="5673854" y="2571760"/>
            <a:ext cx="2357400" cy="18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88" name="Google Shape;1588;p98"/>
          <p:cNvCxnSpPr/>
          <p:nvPr/>
        </p:nvCxnSpPr>
        <p:spPr>
          <a:xfrm flipH="1" rot="10800000">
            <a:off x="5617129" y="3195035"/>
            <a:ext cx="1795200" cy="24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99"/>
          <p:cNvSpPr txBox="1"/>
          <p:nvPr/>
        </p:nvSpPr>
        <p:spPr>
          <a:xfrm flipH="1" rot="2191">
            <a:off x="324174" y="656729"/>
            <a:ext cx="5178901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A window cleaner needs to reach a window that is 412 cm above ground. This is safe to do if the horizontal distance from the wall to the foot of the ladder is a quarter of the height the ladder needs to reach.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Model this situation on this right-angled triangle, labelling any known lengths and which side of the triangle is modelling the ladder.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4" name="Google Shape;1594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and evaluating modelled contexts</a:t>
            </a:r>
            <a:endParaRPr/>
          </a:p>
        </p:txBody>
      </p:sp>
      <p:grpSp>
        <p:nvGrpSpPr>
          <p:cNvPr id="1595" name="Google Shape;1595;p99"/>
          <p:cNvGrpSpPr/>
          <p:nvPr/>
        </p:nvGrpSpPr>
        <p:grpSpPr>
          <a:xfrm flipH="1" rot="-5400000">
            <a:off x="6050182" y="2877472"/>
            <a:ext cx="1308737" cy="1640932"/>
            <a:chOff x="6717888" y="1981143"/>
            <a:chExt cx="1308737" cy="1640932"/>
          </a:xfrm>
        </p:grpSpPr>
        <p:cxnSp>
          <p:nvCxnSpPr>
            <p:cNvPr id="1596" name="Google Shape;1596;p99"/>
            <p:cNvCxnSpPr/>
            <p:nvPr/>
          </p:nvCxnSpPr>
          <p:spPr>
            <a:xfrm rot="10800000">
              <a:off x="6858758" y="3622075"/>
              <a:ext cx="983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97" name="Google Shape;1597;p99"/>
            <p:cNvSpPr/>
            <p:nvPr/>
          </p:nvSpPr>
          <p:spPr>
            <a:xfrm flipH="1">
              <a:off x="6863325" y="2092099"/>
              <a:ext cx="960300" cy="1338000"/>
            </a:xfrm>
            <a:prstGeom prst="rtTriangle">
              <a:avLst/>
            </a:prstGeom>
            <a:solidFill>
              <a:srgbClr val="EBEDFE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98" name="Google Shape;1598;p99"/>
            <p:cNvCxnSpPr/>
            <p:nvPr/>
          </p:nvCxnSpPr>
          <p:spPr>
            <a:xfrm>
              <a:off x="8026625" y="2129300"/>
              <a:ext cx="0" cy="13005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99" name="Google Shape;1599;p99"/>
            <p:cNvSpPr/>
            <p:nvPr/>
          </p:nvSpPr>
          <p:spPr>
            <a:xfrm flipH="1">
              <a:off x="7641600" y="3250150"/>
              <a:ext cx="179700" cy="179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00" name="Google Shape;1600;p99"/>
            <p:cNvCxnSpPr/>
            <p:nvPr/>
          </p:nvCxnSpPr>
          <p:spPr>
            <a:xfrm rot="7545233">
              <a:off x="6364447" y="2671143"/>
              <a:ext cx="1700483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601" name="Google Shape;1601;p99"/>
          <p:cNvSpPr txBox="1"/>
          <p:nvPr/>
        </p:nvSpPr>
        <p:spPr>
          <a:xfrm flipH="1" rot="4018">
            <a:off x="7524918" y="3390288"/>
            <a:ext cx="1283401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412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cm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height to window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2" name="Google Shape;1602;p99"/>
          <p:cNvSpPr txBox="1"/>
          <p:nvPr/>
        </p:nvSpPr>
        <p:spPr>
          <a:xfrm flipH="1" rot="4018">
            <a:off x="6062843" y="4429238"/>
            <a:ext cx="1283401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03" name="Google Shape;1603;p99"/>
          <p:cNvCxnSpPr>
            <a:stCxn id="1604" idx="2"/>
          </p:cNvCxnSpPr>
          <p:nvPr/>
        </p:nvCxnSpPr>
        <p:spPr>
          <a:xfrm flipH="1">
            <a:off x="6510625" y="2613175"/>
            <a:ext cx="58800" cy="867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4" name="Google Shape;1604;p99"/>
          <p:cNvSpPr txBox="1"/>
          <p:nvPr/>
        </p:nvSpPr>
        <p:spPr>
          <a:xfrm flipH="1" rot="3762">
            <a:off x="5884075" y="1381675"/>
            <a:ext cx="1370701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424.68 cm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distance ladder needs to reach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100"/>
          <p:cNvSpPr txBox="1"/>
          <p:nvPr/>
        </p:nvSpPr>
        <p:spPr>
          <a:xfrm flipH="1" rot="2428">
            <a:off x="324299" y="657777"/>
            <a:ext cx="8495702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A window cleaner needs to reach a window that is 412 cm above ground. This is safe to do if the horizontal distance from the wall to the foot of the ladder is a quarter of the height the ladder needs to reach.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To what length should the window cleaner set their ladder?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0" name="Google Shape;1610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and evaluating modelled contexts</a:t>
            </a:r>
            <a:endParaRPr/>
          </a:p>
        </p:txBody>
      </p:sp>
      <p:sp>
        <p:nvSpPr>
          <p:cNvPr id="1611" name="Google Shape;1611;p100"/>
          <p:cNvSpPr txBox="1"/>
          <p:nvPr/>
        </p:nvSpPr>
        <p:spPr>
          <a:xfrm flipH="1" rot="3441">
            <a:off x="927898" y="2987163"/>
            <a:ext cx="3896102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distance the ladder needs to reach is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424.68 cm.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Therefore, the window cleaner needs to set the ladder to 425 cm.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612" name="Google Shape;1612;p100"/>
          <p:cNvGrpSpPr/>
          <p:nvPr/>
        </p:nvGrpSpPr>
        <p:grpSpPr>
          <a:xfrm flipH="1" rot="-5400000">
            <a:off x="6050182" y="2877472"/>
            <a:ext cx="1308737" cy="1640932"/>
            <a:chOff x="6717888" y="1981143"/>
            <a:chExt cx="1308737" cy="1640932"/>
          </a:xfrm>
        </p:grpSpPr>
        <p:cxnSp>
          <p:nvCxnSpPr>
            <p:cNvPr id="1613" name="Google Shape;1613;p100"/>
            <p:cNvCxnSpPr/>
            <p:nvPr/>
          </p:nvCxnSpPr>
          <p:spPr>
            <a:xfrm rot="10800000">
              <a:off x="6858758" y="3622075"/>
              <a:ext cx="983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14" name="Google Shape;1614;p100"/>
            <p:cNvSpPr/>
            <p:nvPr/>
          </p:nvSpPr>
          <p:spPr>
            <a:xfrm flipH="1">
              <a:off x="6863325" y="2092099"/>
              <a:ext cx="960300" cy="1338000"/>
            </a:xfrm>
            <a:prstGeom prst="rtTriangle">
              <a:avLst/>
            </a:prstGeom>
            <a:solidFill>
              <a:srgbClr val="EBEDFE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15" name="Google Shape;1615;p100"/>
            <p:cNvCxnSpPr/>
            <p:nvPr/>
          </p:nvCxnSpPr>
          <p:spPr>
            <a:xfrm>
              <a:off x="8026625" y="2129300"/>
              <a:ext cx="0" cy="13005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16" name="Google Shape;1616;p100"/>
            <p:cNvSpPr/>
            <p:nvPr/>
          </p:nvSpPr>
          <p:spPr>
            <a:xfrm flipH="1">
              <a:off x="7641600" y="3250150"/>
              <a:ext cx="179700" cy="179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17" name="Google Shape;1617;p100"/>
            <p:cNvCxnSpPr/>
            <p:nvPr/>
          </p:nvCxnSpPr>
          <p:spPr>
            <a:xfrm rot="7545233">
              <a:off x="6364447" y="2671143"/>
              <a:ext cx="1700483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618" name="Google Shape;1618;p100"/>
          <p:cNvSpPr txBox="1"/>
          <p:nvPr/>
        </p:nvSpPr>
        <p:spPr>
          <a:xfrm flipH="1" rot="4018">
            <a:off x="7524918" y="3390288"/>
            <a:ext cx="1283401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412 cm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height to window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9" name="Google Shape;1619;p100"/>
          <p:cNvSpPr txBox="1"/>
          <p:nvPr/>
        </p:nvSpPr>
        <p:spPr>
          <a:xfrm flipH="1" rot="4018">
            <a:off x="6062843" y="4353038"/>
            <a:ext cx="1283401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103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101"/>
          <p:cNvSpPr txBox="1"/>
          <p:nvPr/>
        </p:nvSpPr>
        <p:spPr>
          <a:xfrm flipH="1" rot="3516">
            <a:off x="1040948" y="2965378"/>
            <a:ext cx="3813302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wall is perpendicular to the floor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ground isn’t sloped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ladder doesn’t bend when the window cleaner is on it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5" name="Google Shape;1625;p101"/>
          <p:cNvSpPr txBox="1"/>
          <p:nvPr/>
        </p:nvSpPr>
        <p:spPr>
          <a:xfrm flipH="1" rot="3516">
            <a:off x="812348" y="2588653"/>
            <a:ext cx="3813302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Examples include: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6" name="Google Shape;1626;p101"/>
          <p:cNvSpPr txBox="1"/>
          <p:nvPr/>
        </p:nvSpPr>
        <p:spPr>
          <a:xfrm flipH="1" rot="2428">
            <a:off x="324299" y="657777"/>
            <a:ext cx="8495702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A window cleaner needs to reach a window that is 412 cm above ground. This is safe to do if the horizontal distance from the wall to the foot of the ladder is a quarter of the height the ladder needs to reach.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What assumptions are you making about this context?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and evaluating modelled contexts</a:t>
            </a:r>
            <a:endParaRPr/>
          </a:p>
        </p:txBody>
      </p:sp>
      <p:grpSp>
        <p:nvGrpSpPr>
          <p:cNvPr id="1628" name="Google Shape;1628;p101"/>
          <p:cNvGrpSpPr/>
          <p:nvPr/>
        </p:nvGrpSpPr>
        <p:grpSpPr>
          <a:xfrm flipH="1" rot="-5400000">
            <a:off x="5669182" y="2877472"/>
            <a:ext cx="1308737" cy="1640932"/>
            <a:chOff x="6717888" y="1981143"/>
            <a:chExt cx="1308737" cy="1640932"/>
          </a:xfrm>
        </p:grpSpPr>
        <p:cxnSp>
          <p:nvCxnSpPr>
            <p:cNvPr id="1629" name="Google Shape;1629;p101"/>
            <p:cNvCxnSpPr/>
            <p:nvPr/>
          </p:nvCxnSpPr>
          <p:spPr>
            <a:xfrm rot="10800000">
              <a:off x="6858758" y="3622075"/>
              <a:ext cx="983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30" name="Google Shape;1630;p101"/>
            <p:cNvSpPr/>
            <p:nvPr/>
          </p:nvSpPr>
          <p:spPr>
            <a:xfrm flipH="1">
              <a:off x="6863325" y="2092099"/>
              <a:ext cx="960300" cy="1338000"/>
            </a:xfrm>
            <a:prstGeom prst="rtTriangle">
              <a:avLst/>
            </a:prstGeom>
            <a:solidFill>
              <a:srgbClr val="EBEDFE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31" name="Google Shape;1631;p101"/>
            <p:cNvCxnSpPr/>
            <p:nvPr/>
          </p:nvCxnSpPr>
          <p:spPr>
            <a:xfrm>
              <a:off x="8026625" y="2129300"/>
              <a:ext cx="0" cy="13005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32" name="Google Shape;1632;p101"/>
            <p:cNvSpPr/>
            <p:nvPr/>
          </p:nvSpPr>
          <p:spPr>
            <a:xfrm flipH="1">
              <a:off x="7641600" y="3250150"/>
              <a:ext cx="179700" cy="179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33" name="Google Shape;1633;p101"/>
            <p:cNvCxnSpPr/>
            <p:nvPr/>
          </p:nvCxnSpPr>
          <p:spPr>
            <a:xfrm rot="7545233">
              <a:off x="6364447" y="2671143"/>
              <a:ext cx="1700483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634" name="Google Shape;1634;p101"/>
          <p:cNvSpPr txBox="1"/>
          <p:nvPr/>
        </p:nvSpPr>
        <p:spPr>
          <a:xfrm flipH="1" rot="3652">
            <a:off x="5376687" y="3044018"/>
            <a:ext cx="84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425 cm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ladder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5" name="Google Shape;1635;p101"/>
          <p:cNvSpPr txBox="1"/>
          <p:nvPr/>
        </p:nvSpPr>
        <p:spPr>
          <a:xfrm flipH="1" rot="4018">
            <a:off x="7143918" y="3390288"/>
            <a:ext cx="1283401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412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cm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height to window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6" name="Google Shape;1636;p101"/>
          <p:cNvSpPr txBox="1"/>
          <p:nvPr/>
        </p:nvSpPr>
        <p:spPr>
          <a:xfrm flipH="1" rot="4018">
            <a:off x="5681843" y="4353038"/>
            <a:ext cx="1283401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103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p102"/>
          <p:cNvSpPr txBox="1"/>
          <p:nvPr/>
        </p:nvSpPr>
        <p:spPr>
          <a:xfrm flipH="1" rot="2671">
            <a:off x="323999" y="650353"/>
            <a:ext cx="8496003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Is a 35 metre long reel of electrical wire enough to connect the battery to both lights?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2" name="Google Shape;1642;p102"/>
          <p:cNvCxnSpPr/>
          <p:nvPr/>
        </p:nvCxnSpPr>
        <p:spPr>
          <a:xfrm>
            <a:off x="7182275" y="2685300"/>
            <a:ext cx="550800" cy="39840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3" name="Google Shape;1643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and evaluating modelled contexts</a:t>
            </a:r>
            <a:endParaRPr/>
          </a:p>
        </p:txBody>
      </p:sp>
      <p:sp>
        <p:nvSpPr>
          <p:cNvPr id="1644" name="Google Shape;1644;p102"/>
          <p:cNvSpPr txBox="1"/>
          <p:nvPr/>
        </p:nvSpPr>
        <p:spPr>
          <a:xfrm flipH="1" rot="3274">
            <a:off x="7368701" y="2081744"/>
            <a:ext cx="6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645" name="Google Shape;1645;p102"/>
          <p:cNvGrpSpPr/>
          <p:nvPr/>
        </p:nvGrpSpPr>
        <p:grpSpPr>
          <a:xfrm flipH="1" rot="-5400000">
            <a:off x="5898457" y="1415272"/>
            <a:ext cx="1308737" cy="1640932"/>
            <a:chOff x="6717888" y="1981143"/>
            <a:chExt cx="1308737" cy="1640932"/>
          </a:xfrm>
        </p:grpSpPr>
        <p:cxnSp>
          <p:nvCxnSpPr>
            <p:cNvPr id="1646" name="Google Shape;1646;p102"/>
            <p:cNvCxnSpPr/>
            <p:nvPr/>
          </p:nvCxnSpPr>
          <p:spPr>
            <a:xfrm rot="10800000">
              <a:off x="6858758" y="3622075"/>
              <a:ext cx="983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47" name="Google Shape;1647;p102"/>
            <p:cNvSpPr/>
            <p:nvPr/>
          </p:nvSpPr>
          <p:spPr>
            <a:xfrm flipH="1">
              <a:off x="6863325" y="2092099"/>
              <a:ext cx="960300" cy="1338000"/>
            </a:xfrm>
            <a:prstGeom prst="rtTriangle">
              <a:avLst/>
            </a:prstGeom>
            <a:solidFill>
              <a:srgbClr val="EBEDFE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48" name="Google Shape;1648;p102"/>
            <p:cNvCxnSpPr/>
            <p:nvPr/>
          </p:nvCxnSpPr>
          <p:spPr>
            <a:xfrm>
              <a:off x="8026625" y="2129300"/>
              <a:ext cx="0" cy="13005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49" name="Google Shape;1649;p102"/>
            <p:cNvSpPr/>
            <p:nvPr/>
          </p:nvSpPr>
          <p:spPr>
            <a:xfrm flipH="1">
              <a:off x="7641600" y="3250150"/>
              <a:ext cx="179700" cy="179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50" name="Google Shape;1650;p102"/>
            <p:cNvCxnSpPr/>
            <p:nvPr/>
          </p:nvCxnSpPr>
          <p:spPr>
            <a:xfrm rot="7545233">
              <a:off x="6364447" y="2671143"/>
              <a:ext cx="1700483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651" name="Google Shape;1651;p102"/>
          <p:cNvSpPr txBox="1"/>
          <p:nvPr/>
        </p:nvSpPr>
        <p:spPr>
          <a:xfrm flipH="1" rot="3652">
            <a:off x="6129213" y="2911243"/>
            <a:ext cx="84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18.7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2" name="Google Shape;1652;p102"/>
          <p:cNvSpPr txBox="1"/>
          <p:nvPr/>
        </p:nvSpPr>
        <p:spPr>
          <a:xfrm flipH="1" rot="3652">
            <a:off x="5676547" y="1771193"/>
            <a:ext cx="84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24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3" name="Google Shape;1653;p102"/>
          <p:cNvSpPr txBox="1"/>
          <p:nvPr/>
        </p:nvSpPr>
        <p:spPr>
          <a:xfrm flipH="1" rot="3065">
            <a:off x="7659775" y="3004046"/>
            <a:ext cx="1009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battery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4" name="Google Shape;1654;p102"/>
          <p:cNvSpPr txBox="1"/>
          <p:nvPr/>
        </p:nvSpPr>
        <p:spPr>
          <a:xfrm flipH="1" rot="3370">
            <a:off x="7289994" y="1080892"/>
            <a:ext cx="1530001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top of mast and light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5" name="Google Shape;1655;p102"/>
          <p:cNvSpPr txBox="1"/>
          <p:nvPr/>
        </p:nvSpPr>
        <p:spPr>
          <a:xfrm flipH="1" rot="2488">
            <a:off x="4432750" y="3004093"/>
            <a:ext cx="124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hook and light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56" name="Google Shape;1656;p102"/>
          <p:cNvCxnSpPr>
            <a:stCxn id="1647" idx="0"/>
          </p:cNvCxnSpPr>
          <p:nvPr/>
        </p:nvCxnSpPr>
        <p:spPr>
          <a:xfrm flipH="1">
            <a:off x="5323116" y="2687107"/>
            <a:ext cx="520200" cy="39660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7" name="Google Shape;1657;p102"/>
          <p:cNvCxnSpPr/>
          <p:nvPr/>
        </p:nvCxnSpPr>
        <p:spPr>
          <a:xfrm flipH="1" rot="10800000">
            <a:off x="7183800" y="1425600"/>
            <a:ext cx="324000" cy="30030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58" name="Google Shape;1658;p102"/>
          <p:cNvGrpSpPr/>
          <p:nvPr/>
        </p:nvGrpSpPr>
        <p:grpSpPr>
          <a:xfrm>
            <a:off x="5774400" y="2592864"/>
            <a:ext cx="181800" cy="181800"/>
            <a:chOff x="4176250" y="3995500"/>
            <a:chExt cx="181800" cy="181800"/>
          </a:xfrm>
        </p:grpSpPr>
        <p:sp>
          <p:nvSpPr>
            <p:cNvPr id="1659" name="Google Shape;1659;p102"/>
            <p:cNvSpPr/>
            <p:nvPr/>
          </p:nvSpPr>
          <p:spPr>
            <a:xfrm>
              <a:off x="4176250" y="3995500"/>
              <a:ext cx="181800" cy="181800"/>
            </a:xfrm>
            <a:prstGeom prst="ellipse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0" name="Google Shape;1660;p102"/>
            <p:cNvSpPr/>
            <p:nvPr/>
          </p:nvSpPr>
          <p:spPr>
            <a:xfrm>
              <a:off x="4199828" y="4019078"/>
              <a:ext cx="134700" cy="1347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1" name="Google Shape;1661;p102"/>
            <p:cNvSpPr/>
            <p:nvPr/>
          </p:nvSpPr>
          <p:spPr>
            <a:xfrm>
              <a:off x="4219122" y="4038372"/>
              <a:ext cx="96000" cy="960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62" name="Google Shape;1662;p102"/>
          <p:cNvGrpSpPr/>
          <p:nvPr/>
        </p:nvGrpSpPr>
        <p:grpSpPr>
          <a:xfrm>
            <a:off x="7085439" y="1654039"/>
            <a:ext cx="181800" cy="181800"/>
            <a:chOff x="4176250" y="3995500"/>
            <a:chExt cx="181800" cy="181800"/>
          </a:xfrm>
        </p:grpSpPr>
        <p:sp>
          <p:nvSpPr>
            <p:cNvPr id="1663" name="Google Shape;1663;p102"/>
            <p:cNvSpPr/>
            <p:nvPr/>
          </p:nvSpPr>
          <p:spPr>
            <a:xfrm>
              <a:off x="4176250" y="3995500"/>
              <a:ext cx="181800" cy="181800"/>
            </a:xfrm>
            <a:prstGeom prst="ellipse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4" name="Google Shape;1664;p102"/>
            <p:cNvSpPr/>
            <p:nvPr/>
          </p:nvSpPr>
          <p:spPr>
            <a:xfrm>
              <a:off x="4199828" y="4019078"/>
              <a:ext cx="134700" cy="1347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5" name="Google Shape;1665;p102"/>
            <p:cNvSpPr/>
            <p:nvPr/>
          </p:nvSpPr>
          <p:spPr>
            <a:xfrm>
              <a:off x="4219122" y="4038372"/>
              <a:ext cx="96000" cy="960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66" name="Google Shape;1666;p102"/>
          <p:cNvSpPr txBox="1"/>
          <p:nvPr/>
        </p:nvSpPr>
        <p:spPr>
          <a:xfrm flipH="1" rot="2917">
            <a:off x="629074" y="1266233"/>
            <a:ext cx="3182401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35 metre long reel of electrical wire is long enough.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because you need           15 m of wire to connect to the light at the top of the mast, and 18.7 m to connect to the light at the hook.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 m + 18.7 m = 33.7 m, which is less than 35 m.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103"/>
          <p:cNvSpPr txBox="1"/>
          <p:nvPr/>
        </p:nvSpPr>
        <p:spPr>
          <a:xfrm flipH="1" rot="2752">
            <a:off x="324049" y="648462"/>
            <a:ext cx="3747901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What assumptions have you made about this context in part a)?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2" name="Google Shape;1672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and evaluating modelled contexts</a:t>
            </a:r>
            <a:endParaRPr/>
          </a:p>
        </p:txBody>
      </p:sp>
      <p:grpSp>
        <p:nvGrpSpPr>
          <p:cNvPr id="1673" name="Google Shape;1673;p103"/>
          <p:cNvGrpSpPr/>
          <p:nvPr/>
        </p:nvGrpSpPr>
        <p:grpSpPr>
          <a:xfrm>
            <a:off x="5039909" y="1080087"/>
            <a:ext cx="3779611" cy="2273499"/>
            <a:chOff x="4432750" y="1080142"/>
            <a:chExt cx="4387244" cy="2639001"/>
          </a:xfrm>
        </p:grpSpPr>
        <p:cxnSp>
          <p:nvCxnSpPr>
            <p:cNvPr id="1674" name="Google Shape;1674;p103"/>
            <p:cNvCxnSpPr/>
            <p:nvPr/>
          </p:nvCxnSpPr>
          <p:spPr>
            <a:xfrm>
              <a:off x="7182275" y="2685300"/>
              <a:ext cx="550800" cy="39840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75" name="Google Shape;1675;p103"/>
            <p:cNvSpPr txBox="1"/>
            <p:nvPr/>
          </p:nvSpPr>
          <p:spPr>
            <a:xfrm flipH="1" rot="3274">
              <a:off x="7368701" y="2081744"/>
              <a:ext cx="630000" cy="3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15 m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grpSp>
          <p:nvGrpSpPr>
            <p:cNvPr id="1676" name="Google Shape;1676;p103"/>
            <p:cNvGrpSpPr/>
            <p:nvPr/>
          </p:nvGrpSpPr>
          <p:grpSpPr>
            <a:xfrm flipH="1" rot="-5400000">
              <a:off x="5898457" y="1415272"/>
              <a:ext cx="1308737" cy="1640932"/>
              <a:chOff x="6717888" y="1981143"/>
              <a:chExt cx="1308737" cy="1640932"/>
            </a:xfrm>
          </p:grpSpPr>
          <p:cxnSp>
            <p:nvCxnSpPr>
              <p:cNvPr id="1677" name="Google Shape;1677;p103"/>
              <p:cNvCxnSpPr/>
              <p:nvPr/>
            </p:nvCxnSpPr>
            <p:spPr>
              <a:xfrm rot="10800000">
                <a:off x="6858758" y="3622075"/>
                <a:ext cx="9837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678" name="Google Shape;1678;p103"/>
              <p:cNvSpPr/>
              <p:nvPr/>
            </p:nvSpPr>
            <p:spPr>
              <a:xfrm flipH="1">
                <a:off x="6863325" y="2092099"/>
                <a:ext cx="960300" cy="1338000"/>
              </a:xfrm>
              <a:prstGeom prst="rtTriangle">
                <a:avLst/>
              </a:prstGeom>
              <a:solidFill>
                <a:srgbClr val="EBEDFE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679" name="Google Shape;1679;p103"/>
              <p:cNvCxnSpPr/>
              <p:nvPr/>
            </p:nvCxnSpPr>
            <p:spPr>
              <a:xfrm>
                <a:off x="8026625" y="2129300"/>
                <a:ext cx="0" cy="13005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680" name="Google Shape;1680;p103"/>
              <p:cNvSpPr/>
              <p:nvPr/>
            </p:nvSpPr>
            <p:spPr>
              <a:xfrm flipH="1">
                <a:off x="7641600" y="3250150"/>
                <a:ext cx="179700" cy="1797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681" name="Google Shape;1681;p103"/>
              <p:cNvCxnSpPr/>
              <p:nvPr/>
            </p:nvCxnSpPr>
            <p:spPr>
              <a:xfrm rot="7545233">
                <a:off x="6364447" y="2671143"/>
                <a:ext cx="1700483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sp>
          <p:nvSpPr>
            <p:cNvPr id="1682" name="Google Shape;1682;p103"/>
            <p:cNvSpPr txBox="1"/>
            <p:nvPr/>
          </p:nvSpPr>
          <p:spPr>
            <a:xfrm flipH="1" rot="3652">
              <a:off x="6129213" y="2911243"/>
              <a:ext cx="847200" cy="3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18.7 m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683" name="Google Shape;1683;p103"/>
            <p:cNvSpPr txBox="1"/>
            <p:nvPr/>
          </p:nvSpPr>
          <p:spPr>
            <a:xfrm flipH="1" rot="3652">
              <a:off x="5676547" y="1771193"/>
              <a:ext cx="847200" cy="3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24 m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684" name="Google Shape;1684;p103"/>
            <p:cNvSpPr txBox="1"/>
            <p:nvPr/>
          </p:nvSpPr>
          <p:spPr>
            <a:xfrm flipH="1" rot="3065">
              <a:off x="7659775" y="3004046"/>
              <a:ext cx="1009500" cy="3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battery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685" name="Google Shape;1685;p103"/>
            <p:cNvSpPr txBox="1"/>
            <p:nvPr/>
          </p:nvSpPr>
          <p:spPr>
            <a:xfrm flipH="1" rot="3370">
              <a:off x="7289994" y="1080892"/>
              <a:ext cx="1530001" cy="7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top of mast and light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686" name="Google Shape;1686;p103"/>
            <p:cNvSpPr txBox="1"/>
            <p:nvPr/>
          </p:nvSpPr>
          <p:spPr>
            <a:xfrm flipH="1" rot="2488">
              <a:off x="4432750" y="3004093"/>
              <a:ext cx="1243800" cy="7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hook and light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1687" name="Google Shape;1687;p103"/>
            <p:cNvCxnSpPr>
              <a:stCxn id="1678" idx="0"/>
            </p:cNvCxnSpPr>
            <p:nvPr/>
          </p:nvCxnSpPr>
          <p:spPr>
            <a:xfrm flipH="1">
              <a:off x="5323116" y="2687107"/>
              <a:ext cx="520200" cy="39660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8" name="Google Shape;1688;p103"/>
            <p:cNvCxnSpPr/>
            <p:nvPr/>
          </p:nvCxnSpPr>
          <p:spPr>
            <a:xfrm flipH="1" rot="10800000">
              <a:off x="7183800" y="1425600"/>
              <a:ext cx="324000" cy="30030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89" name="Google Shape;1689;p103"/>
            <p:cNvGrpSpPr/>
            <p:nvPr/>
          </p:nvGrpSpPr>
          <p:grpSpPr>
            <a:xfrm>
              <a:off x="5774400" y="2592864"/>
              <a:ext cx="181800" cy="181800"/>
              <a:chOff x="4176250" y="3995500"/>
              <a:chExt cx="181800" cy="181800"/>
            </a:xfrm>
          </p:grpSpPr>
          <p:sp>
            <p:nvSpPr>
              <p:cNvPr id="1690" name="Google Shape;1690;p103"/>
              <p:cNvSpPr/>
              <p:nvPr/>
            </p:nvSpPr>
            <p:spPr>
              <a:xfrm>
                <a:off x="4176250" y="3995500"/>
                <a:ext cx="181800" cy="181800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1" name="Google Shape;1691;p103"/>
              <p:cNvSpPr/>
              <p:nvPr/>
            </p:nvSpPr>
            <p:spPr>
              <a:xfrm>
                <a:off x="4199828" y="4019078"/>
                <a:ext cx="134700" cy="1347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2" name="Google Shape;1692;p103"/>
              <p:cNvSpPr/>
              <p:nvPr/>
            </p:nvSpPr>
            <p:spPr>
              <a:xfrm>
                <a:off x="4219122" y="4038372"/>
                <a:ext cx="96000" cy="960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693" name="Google Shape;1693;p103"/>
            <p:cNvGrpSpPr/>
            <p:nvPr/>
          </p:nvGrpSpPr>
          <p:grpSpPr>
            <a:xfrm>
              <a:off x="7085439" y="1654039"/>
              <a:ext cx="181800" cy="181800"/>
              <a:chOff x="4176250" y="3995500"/>
              <a:chExt cx="181800" cy="181800"/>
            </a:xfrm>
          </p:grpSpPr>
          <p:sp>
            <p:nvSpPr>
              <p:cNvPr id="1694" name="Google Shape;1694;p103"/>
              <p:cNvSpPr/>
              <p:nvPr/>
            </p:nvSpPr>
            <p:spPr>
              <a:xfrm>
                <a:off x="4176250" y="3995500"/>
                <a:ext cx="181800" cy="181800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5" name="Google Shape;1695;p103"/>
              <p:cNvSpPr/>
              <p:nvPr/>
            </p:nvSpPr>
            <p:spPr>
              <a:xfrm>
                <a:off x="4199828" y="4019078"/>
                <a:ext cx="134700" cy="1347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6" name="Google Shape;1696;p103"/>
              <p:cNvSpPr/>
              <p:nvPr/>
            </p:nvSpPr>
            <p:spPr>
              <a:xfrm>
                <a:off x="4219122" y="4038372"/>
                <a:ext cx="96000" cy="960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697" name="Google Shape;1697;p103"/>
          <p:cNvSpPr txBox="1"/>
          <p:nvPr/>
        </p:nvSpPr>
        <p:spPr>
          <a:xfrm flipH="1" rot="2907">
            <a:off x="324249" y="1647385"/>
            <a:ext cx="3547201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Possible answers could include: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8" name="Google Shape;1698;p103"/>
          <p:cNvSpPr txBox="1"/>
          <p:nvPr/>
        </p:nvSpPr>
        <p:spPr>
          <a:xfrm flipH="1" rot="2225">
            <a:off x="459000" y="2041575"/>
            <a:ext cx="4171801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phone mast is perfectly vertical, and so is perpendicular to the ground.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9" name="Google Shape;1699;p103"/>
          <p:cNvSpPr txBox="1"/>
          <p:nvPr/>
        </p:nvSpPr>
        <p:spPr>
          <a:xfrm flipH="1" rot="2225">
            <a:off x="459000" y="2743425"/>
            <a:ext cx="4171801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cable that is modelled by the hypotenuse of the triangle is perfectly straight, and doesn’t bend or dip.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0" name="Google Shape;1700;p103"/>
          <p:cNvSpPr txBox="1"/>
          <p:nvPr/>
        </p:nvSpPr>
        <p:spPr>
          <a:xfrm flipH="1" rot="2326">
            <a:off x="459124" y="3753094"/>
            <a:ext cx="4433101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ground is perfectly horizontal, and doesn’t change its gradient at any point between the hook and the mast.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104"/>
          <p:cNvSpPr txBox="1"/>
          <p:nvPr/>
        </p:nvSpPr>
        <p:spPr>
          <a:xfrm rot="-4613">
            <a:off x="323996" y="651483"/>
            <a:ext cx="8496008" cy="14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are many real-world contexts involving perpendicular lengths or distances that can be modelled as right-angled triangles.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Pythagoras’ theorem can then be used to calculate missing lengths to solve problems in context.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However, in these contexts, if some assumptions made aren’t true, this may invalidate whether the context can be modelled as a right-angled triangle, and therefore whether Pythagoras’ theorem can be used.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Some of these assumptions include: lengths and distances being linear paths, lengths being perpendicular to each other, and distances that intersect.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6" name="Google Shape;1706;p104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in context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p10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712" name="Google Shape;1712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