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efb685d75e_0_5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efb685d75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fb685d75e_0_9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efb685d75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efb685d75e_0_13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efb685d75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5249" y="1411250"/>
            <a:ext cx="6261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Contexts modelled by right-angled triangles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 flipH="1" rot="9489519">
            <a:off x="3852327" y="3471817"/>
            <a:ext cx="784940" cy="148797"/>
          </a:xfrm>
          <a:prstGeom prst="diagStripe">
            <a:avLst>
              <a:gd fmla="val 68104" name="adj"/>
            </a:avLst>
          </a:prstGeom>
          <a:solidFill>
            <a:srgbClr val="43434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3863809" y="3468483"/>
            <a:ext cx="775389" cy="150433"/>
          </a:xfrm>
          <a:prstGeom prst="diagStripe">
            <a:avLst>
              <a:gd fmla="val 84995" name="adj"/>
            </a:avLst>
          </a:prstGeom>
          <a:solidFill>
            <a:srgbClr val="78787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811790" y="3880689"/>
            <a:ext cx="1079548" cy="255286"/>
          </a:xfrm>
          <a:prstGeom prst="ellipse">
            <a:avLst/>
          </a:prstGeom>
          <a:gradFill>
            <a:gsLst>
              <a:gs pos="0">
                <a:srgbClr val="999999"/>
              </a:gs>
              <a:gs pos="49000">
                <a:srgbClr val="434343"/>
              </a:gs>
              <a:gs pos="100000">
                <a:srgbClr val="434343"/>
              </a:gs>
            </a:gsLst>
            <a:lin ang="0" scaled="0"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811844" y="3518489"/>
            <a:ext cx="1079548" cy="486308"/>
          </a:xfrm>
          <a:prstGeom prst="rect">
            <a:avLst/>
          </a:prstGeom>
          <a:gradFill>
            <a:gsLst>
              <a:gs pos="0">
                <a:srgbClr val="999999"/>
              </a:gs>
              <a:gs pos="49000">
                <a:srgbClr val="434343"/>
              </a:gs>
              <a:gs pos="100000">
                <a:srgbClr val="43434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811790" y="3384420"/>
            <a:ext cx="1079548" cy="255286"/>
          </a:xfrm>
          <a:prstGeom prst="ellipse">
            <a:avLst/>
          </a:prstGeom>
          <a:gradFill>
            <a:gsLst>
              <a:gs pos="0">
                <a:srgbClr val="D9D9D9"/>
              </a:gs>
              <a:gs pos="62000">
                <a:srgbClr val="808080"/>
              </a:gs>
              <a:gs pos="100000">
                <a:srgbClr val="808080"/>
              </a:gs>
            </a:gsLst>
            <a:lin ang="8100019" scaled="0"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>
            <a:off x="2811790" y="3518511"/>
            <a:ext cx="0" cy="48630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/>
          <p:nvPr/>
        </p:nvSpPr>
        <p:spPr>
          <a:xfrm rot="-6078596">
            <a:off x="4483444" y="3461130"/>
            <a:ext cx="15023" cy="4911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>
            <a:off x="3891253" y="3518511"/>
            <a:ext cx="0" cy="48630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0"/>
          <p:cNvCxnSpPr/>
          <p:nvPr/>
        </p:nvCxnSpPr>
        <p:spPr>
          <a:xfrm>
            <a:off x="2811796" y="4197121"/>
            <a:ext cx="108110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20"/>
          <p:cNvCxnSpPr/>
          <p:nvPr/>
        </p:nvCxnSpPr>
        <p:spPr>
          <a:xfrm rot="5400000">
            <a:off x="2446084" y="3760135"/>
            <a:ext cx="55857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352" y="3187122"/>
            <a:ext cx="1289840" cy="10403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0"/>
          <p:cNvCxnSpPr/>
          <p:nvPr/>
        </p:nvCxnSpPr>
        <p:spPr>
          <a:xfrm>
            <a:off x="485251" y="3612102"/>
            <a:ext cx="1355400" cy="72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" name="Google Shape;174;p20"/>
          <p:cNvSpPr txBox="1"/>
          <p:nvPr/>
        </p:nvSpPr>
        <p:spPr>
          <a:xfrm>
            <a:off x="728989" y="3999056"/>
            <a:ext cx="7272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487472" y="3533943"/>
            <a:ext cx="1374300" cy="627600"/>
          </a:xfrm>
          <a:prstGeom prst="rtTriangle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487464" y="4020971"/>
            <a:ext cx="140700" cy="14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5487477" y="4280953"/>
            <a:ext cx="1378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5337912" y="3530974"/>
            <a:ext cx="0" cy="63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9" name="Google Shape;179;p20"/>
          <p:cNvSpPr txBox="1"/>
          <p:nvPr/>
        </p:nvSpPr>
        <p:spPr>
          <a:xfrm flipH="1" rot="3965">
            <a:off x="1206788" y="3358135"/>
            <a:ext cx="52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ladle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 flipH="1" rot="2858">
            <a:off x="2809244" y="3114673"/>
            <a:ext cx="10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saucepan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 flipH="1" rot="2647">
            <a:off x="549599" y="1967177"/>
            <a:ext cx="6624002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For this ladle to be usable with the saucepan, it has to be long enough that it won’t sink completely into the saucepan.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saucepan is 20 cm tall and has a maximum base width of 30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The right-angled triangle models the saucepan. Label the saucepan and the right-angled triangle with the appropriate lengths.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Using Pythagoras’ theorem, explain whether the ladle is long enough to be used with this saucepan.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 flipH="1" rot="2732">
            <a:off x="2587700" y="5866396"/>
            <a:ext cx="4529701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Izzy is practicing her backhand shots. She can hit a backhand shot 28 metres.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and Laura stand at different corners of the court.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4">
            <a:alphaModFix/>
          </a:blip>
          <a:srcRect b="13001" l="23056" r="22845" t="13915"/>
          <a:stretch/>
        </p:blipFill>
        <p:spPr>
          <a:xfrm>
            <a:off x="1035628" y="6088986"/>
            <a:ext cx="1339609" cy="2157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0"/>
          <p:cNvGrpSpPr/>
          <p:nvPr/>
        </p:nvGrpSpPr>
        <p:grpSpPr>
          <a:xfrm>
            <a:off x="1186108" y="8193578"/>
            <a:ext cx="1032152" cy="234555"/>
            <a:chOff x="5897099" y="4472400"/>
            <a:chExt cx="1472400" cy="345850"/>
          </a:xfrm>
        </p:grpSpPr>
        <p:cxnSp>
          <p:nvCxnSpPr>
            <p:cNvPr id="185" name="Google Shape;185;p20"/>
            <p:cNvCxnSpPr/>
            <p:nvPr/>
          </p:nvCxnSpPr>
          <p:spPr>
            <a:xfrm>
              <a:off x="5897099" y="4472400"/>
              <a:ext cx="147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6" name="Google Shape;186;p20"/>
            <p:cNvSpPr txBox="1"/>
            <p:nvPr/>
          </p:nvSpPr>
          <p:spPr>
            <a:xfrm>
              <a:off x="6168776" y="4494550"/>
              <a:ext cx="9291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 rot="5400000">
            <a:off x="-146484" y="6919068"/>
            <a:ext cx="1786463" cy="506563"/>
            <a:chOff x="5897099" y="4422778"/>
            <a:chExt cx="1472400" cy="787200"/>
          </a:xfrm>
        </p:grpSpPr>
        <p:cxnSp>
          <p:nvCxnSpPr>
            <p:cNvPr id="188" name="Google Shape;188;p20"/>
            <p:cNvCxnSpPr/>
            <p:nvPr/>
          </p:nvCxnSpPr>
          <p:spPr>
            <a:xfrm>
              <a:off x="5897099" y="4472400"/>
              <a:ext cx="147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9" name="Google Shape;189;p20"/>
            <p:cNvSpPr txBox="1"/>
            <p:nvPr/>
          </p:nvSpPr>
          <p:spPr>
            <a:xfrm rot="-5400000">
              <a:off x="6239799" y="4667728"/>
              <a:ext cx="7872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24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0" name="Google Shape;19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33371" y="5788800"/>
            <a:ext cx="280535" cy="2861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0"/>
          <p:cNvCxnSpPr/>
          <p:nvPr/>
        </p:nvCxnSpPr>
        <p:spPr>
          <a:xfrm>
            <a:off x="999207" y="6049635"/>
            <a:ext cx="207600" cy="22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2054321" y="8497398"/>
            <a:ext cx="207111" cy="285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0"/>
          <p:cNvCxnSpPr>
            <a:endCxn id="192" idx="0"/>
          </p:cNvCxnSpPr>
          <p:nvPr/>
        </p:nvCxnSpPr>
        <p:spPr>
          <a:xfrm flipH="1">
            <a:off x="2157876" y="8056398"/>
            <a:ext cx="49200" cy="44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0"/>
          <p:cNvSpPr txBox="1"/>
          <p:nvPr/>
        </p:nvSpPr>
        <p:spPr>
          <a:xfrm flipH="1" rot="3132">
            <a:off x="1833854" y="8713286"/>
            <a:ext cx="65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 flipH="1" rot="4503">
            <a:off x="1028190" y="5837761"/>
            <a:ext cx="4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1041292" y="8489943"/>
            <a:ext cx="223650" cy="26146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 flipH="1" rot="4503">
            <a:off x="946852" y="8734692"/>
            <a:ext cx="4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>
            <a:endCxn id="196" idx="0"/>
          </p:cNvCxnSpPr>
          <p:nvPr/>
        </p:nvCxnSpPr>
        <p:spPr>
          <a:xfrm flipH="1">
            <a:off x="1153117" y="8045643"/>
            <a:ext cx="53700" cy="44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0"/>
          <p:cNvSpPr txBox="1"/>
          <p:nvPr/>
        </p:nvSpPr>
        <p:spPr>
          <a:xfrm flipH="1" rot="2611">
            <a:off x="2587424" y="6962145"/>
            <a:ext cx="3554701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Model this context onto this right-angled triangle, labelling any relevant distances given in the context.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6232195" y="8018042"/>
            <a:ext cx="764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" name="Google Shape;201;p20"/>
          <p:cNvSpPr/>
          <p:nvPr/>
        </p:nvSpPr>
        <p:spPr>
          <a:xfrm>
            <a:off x="6246834" y="6828821"/>
            <a:ext cx="746400" cy="1040100"/>
          </a:xfrm>
          <a:prstGeom prst="rtTriangle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6089045" y="6857736"/>
            <a:ext cx="0" cy="101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" name="Google Shape;203;p20"/>
          <p:cNvSpPr/>
          <p:nvPr/>
        </p:nvSpPr>
        <p:spPr>
          <a:xfrm>
            <a:off x="6248641" y="7728952"/>
            <a:ext cx="139800" cy="139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 rot="3254767">
            <a:off x="6059310" y="7278827"/>
            <a:ext cx="13215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" name="Google Shape;205;p20"/>
          <p:cNvSpPr txBox="1"/>
          <p:nvPr/>
        </p:nvSpPr>
        <p:spPr>
          <a:xfrm flipH="1" rot="3356">
            <a:off x="2587459" y="8085131"/>
            <a:ext cx="30729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whether Izzy’s backhand shot can reach Sofia.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 flipH="1" rot="3424">
            <a:off x="2587704" y="9049878"/>
            <a:ext cx="451860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Using Pythagoras’ theorem, explain whether Izzy’s backhand shot can reach Laura.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 flipH="1" rot="2549">
            <a:off x="476674" y="808808"/>
            <a:ext cx="4855501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A train conductor uses a 256 cm long access ramp to help passengers board a maglev train.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step to board the train is 43 cm higher than the platform the passengers are waiting 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far onto the platform will the access ramp reach (to 1 d.p.)?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 flipH="1">
            <a:off x="980969" y="2310823"/>
            <a:ext cx="1385100" cy="632700"/>
          </a:xfrm>
          <a:prstGeom prst="rtTriangle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 flipH="1">
            <a:off x="2224177" y="2801644"/>
            <a:ext cx="141900" cy="141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1"/>
          <p:cNvCxnSpPr/>
          <p:nvPr/>
        </p:nvCxnSpPr>
        <p:spPr>
          <a:xfrm rot="10800000">
            <a:off x="976763" y="3063651"/>
            <a:ext cx="1389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" name="Google Shape;216;p21"/>
          <p:cNvCxnSpPr/>
          <p:nvPr/>
        </p:nvCxnSpPr>
        <p:spPr>
          <a:xfrm>
            <a:off x="2516794" y="2307831"/>
            <a:ext cx="0" cy="644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" name="Google Shape;217;p21"/>
          <p:cNvSpPr txBox="1"/>
          <p:nvPr/>
        </p:nvSpPr>
        <p:spPr>
          <a:xfrm flipH="1">
            <a:off x="1161780" y="3063645"/>
            <a:ext cx="1023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252.4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 flipH="1">
            <a:off x="2443522" y="2502464"/>
            <a:ext cx="7329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 flipH="1">
            <a:off x="947763" y="2197379"/>
            <a:ext cx="1381800" cy="652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0" name="Google Shape;220;p21"/>
          <p:cNvSpPr txBox="1"/>
          <p:nvPr/>
        </p:nvSpPr>
        <p:spPr>
          <a:xfrm flipH="1" rot="-1470642">
            <a:off x="805891" y="2244057"/>
            <a:ext cx="1534482" cy="25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256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 flipH="1">
            <a:off x="525933" y="3439245"/>
            <a:ext cx="28953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minimum horizontal distance away from the train is 252.4 cm.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2" name="Google Shape;222;p21"/>
          <p:cNvCxnSpPr/>
          <p:nvPr/>
        </p:nvCxnSpPr>
        <p:spPr>
          <a:xfrm rot="10800000">
            <a:off x="3963077" y="3935872"/>
            <a:ext cx="1502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3" name="Google Shape;223;p21"/>
          <p:cNvSpPr txBox="1"/>
          <p:nvPr/>
        </p:nvSpPr>
        <p:spPr>
          <a:xfrm flipH="1">
            <a:off x="4163114" y="3935866"/>
            <a:ext cx="1106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252.4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3625520" y="3479484"/>
            <a:ext cx="3466500" cy="166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966037" y="2836817"/>
            <a:ext cx="1644617" cy="452118"/>
          </a:xfrm>
          <a:custGeom>
            <a:rect b="b" l="l" r="r" t="t"/>
            <a:pathLst>
              <a:path extrusionOk="0" h="44931" w="90750">
                <a:moveTo>
                  <a:pt x="11528" y="44931"/>
                </a:moveTo>
                <a:lnTo>
                  <a:pt x="0" y="37541"/>
                </a:lnTo>
                <a:lnTo>
                  <a:pt x="90750" y="0"/>
                </a:lnTo>
                <a:lnTo>
                  <a:pt x="90750" y="1271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595959"/>
              </a:gs>
            </a:gsLst>
            <a:lin ang="0" scaled="0"/>
          </a:gradFill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6" name="Google Shape;226;p21"/>
          <p:cNvSpPr txBox="1"/>
          <p:nvPr/>
        </p:nvSpPr>
        <p:spPr>
          <a:xfrm flipH="1" rot="-767755">
            <a:off x="4119149" y="2788969"/>
            <a:ext cx="1368076" cy="18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access ramp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 flipH="1" rot="2407">
            <a:off x="5861637" y="3644381"/>
            <a:ext cx="8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 flipH="1" rot="2407">
            <a:off x="5861637" y="1469624"/>
            <a:ext cx="8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" name="Google Shape;229;p21"/>
          <p:cNvGrpSpPr/>
          <p:nvPr/>
        </p:nvGrpSpPr>
        <p:grpSpPr>
          <a:xfrm>
            <a:off x="3625404" y="1688538"/>
            <a:ext cx="3466363" cy="1955317"/>
            <a:chOff x="4392325" y="1523146"/>
            <a:chExt cx="4394476" cy="2478850"/>
          </a:xfrm>
        </p:grpSpPr>
        <p:pic>
          <p:nvPicPr>
            <p:cNvPr id="230" name="Google Shape;23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53377" y="1523146"/>
              <a:ext cx="2033425" cy="247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1"/>
            <p:cNvSpPr/>
            <p:nvPr/>
          </p:nvSpPr>
          <p:spPr>
            <a:xfrm>
              <a:off x="4392325" y="3415350"/>
              <a:ext cx="2366700" cy="3828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" name="Google Shape;232;p21"/>
          <p:cNvSpPr txBox="1"/>
          <p:nvPr/>
        </p:nvSpPr>
        <p:spPr>
          <a:xfrm flipH="1" rot="2407">
            <a:off x="4019510" y="3289310"/>
            <a:ext cx="8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platform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34" name="Google Shape;234;p21"/>
          <p:cNvCxnSpPr/>
          <p:nvPr/>
        </p:nvCxnSpPr>
        <p:spPr>
          <a:xfrm>
            <a:off x="474757" y="45840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1"/>
          <p:cNvSpPr txBox="1"/>
          <p:nvPr/>
        </p:nvSpPr>
        <p:spPr>
          <a:xfrm flipH="1" rot="2652">
            <a:off x="476551" y="5319280"/>
            <a:ext cx="6610502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Radio towers must be at most 3000 m apart from each other in order for the radio signal to be broadcast to the local area.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Radio tower B is 1900 m north of radio tower 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radio tower C is 2400 m west of radio tower 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Model the distances between all three radio towers on this right-angled triangle, labelling each vertex A, B, or C to represent the three towers.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Radio tower A breaks down. Are radio towers B and C close enough to each other for the radio signal to still be broadcast?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76676" y="4687850"/>
            <a:ext cx="6209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Analysing and evaluating modelled contexts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3" name="Google Shape;243;p22"/>
          <p:cNvSpPr/>
          <p:nvPr/>
        </p:nvSpPr>
        <p:spPr>
          <a:xfrm rot="-5400000">
            <a:off x="5416408" y="2622686"/>
            <a:ext cx="747900" cy="1041900"/>
          </a:xfrm>
          <a:prstGeom prst="rtTriangle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 flipH="1" rot="2495">
            <a:off x="476638" y="732153"/>
            <a:ext cx="3720301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 lighthouse is 50 metres tall, and the light from it travels 130 metres to reach the boat.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captain of the boat confidently declares: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“we are 120 metres away from the shore”.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Explain why the captain might be wrong.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may reference assumptions made by the captain that are incorrect.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2"/>
          <p:cNvPicPr preferRelativeResize="0"/>
          <p:nvPr/>
        </p:nvPicPr>
        <p:blipFill rotWithShape="1">
          <a:blip r:embed="rId3">
            <a:alphaModFix/>
          </a:blip>
          <a:srcRect b="55363" l="0" r="23259" t="0"/>
          <a:stretch/>
        </p:blipFill>
        <p:spPr>
          <a:xfrm>
            <a:off x="4274941" y="699383"/>
            <a:ext cx="2817059" cy="12964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2"/>
          <p:cNvGrpSpPr/>
          <p:nvPr/>
        </p:nvGrpSpPr>
        <p:grpSpPr>
          <a:xfrm>
            <a:off x="5084009" y="956057"/>
            <a:ext cx="1582708" cy="748253"/>
            <a:chOff x="2253750" y="1818200"/>
            <a:chExt cx="2032500" cy="960900"/>
          </a:xfrm>
        </p:grpSpPr>
        <p:cxnSp>
          <p:nvCxnSpPr>
            <p:cNvPr id="247" name="Google Shape;247;p22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762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2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22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50" name="Google Shape;250;p22"/>
          <p:cNvCxnSpPr/>
          <p:nvPr/>
        </p:nvCxnSpPr>
        <p:spPr>
          <a:xfrm rot="-5400000">
            <a:off x="6077799" y="3149301"/>
            <a:ext cx="765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1" name="Google Shape;251;p22"/>
          <p:cNvCxnSpPr/>
          <p:nvPr/>
        </p:nvCxnSpPr>
        <p:spPr>
          <a:xfrm rot="10800000">
            <a:off x="5804775" y="3169255"/>
            <a:ext cx="0" cy="101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2" name="Google Shape;252;p22"/>
          <p:cNvSpPr/>
          <p:nvPr/>
        </p:nvSpPr>
        <p:spPr>
          <a:xfrm rot="-5400000">
            <a:off x="6171143" y="3375976"/>
            <a:ext cx="139800" cy="139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" name="Google Shape;253;p22"/>
          <p:cNvCxnSpPr/>
          <p:nvPr/>
        </p:nvCxnSpPr>
        <p:spPr>
          <a:xfrm rot="-2145208">
            <a:off x="5058234" y="3043419"/>
            <a:ext cx="132415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4" name="Google Shape;254;p22"/>
          <p:cNvSpPr txBox="1"/>
          <p:nvPr/>
        </p:nvSpPr>
        <p:spPr>
          <a:xfrm flipH="1" rot="1840">
            <a:off x="5220973" y="2814384"/>
            <a:ext cx="5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 flipH="1" rot="1840">
            <a:off x="6496779" y="3035739"/>
            <a:ext cx="5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 flipH="1" rot="2351">
            <a:off x="476674" y="4390973"/>
            <a:ext cx="6580502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A window cleaner needs to reach a window that is 412 cm above ground. This is safe to do if the horizontal distance from the wall to the foot of the ladder is a quarter of the height the ladder needs to reach.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 flipH="1" rot="2351">
            <a:off x="476680" y="5172890"/>
            <a:ext cx="6580502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Model this situation on this right-angled triangle, labelling any known lengths and which side of the triangle is modelling the ladder.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 flipH="1" rot="2498">
            <a:off x="476702" y="6333378"/>
            <a:ext cx="3303301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To what length should the window cleaner set their ladder?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What assumptions are you making about this context?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 flipH="1" rot="2644">
            <a:off x="464689" y="808701"/>
            <a:ext cx="6630602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A phone mast that is 15 m in height is supported by a 24 m long cable that is tied to the ground with a hook.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 lights are attached: one at the top of the phone mast, and the other at the hook, to reduce the risk of people walking into it at night time.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order for the lights to work, a battery generator is attached to the base of the phone mast, and needs to be connected to both lights by an electrical wire.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 flipH="1" rot="2644">
            <a:off x="476399" y="2783251"/>
            <a:ext cx="6630602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Is a 35 metre long reel of electrical wire enough to connect the battery to both lights?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 flipH="1" rot="1138">
            <a:off x="476545" y="4686292"/>
            <a:ext cx="543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assumptions have you made about this context in part a)?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8" name="Google Shape;268;p2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