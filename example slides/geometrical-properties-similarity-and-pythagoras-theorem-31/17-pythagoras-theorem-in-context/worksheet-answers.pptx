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efb6b96c72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efb6b96c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efb6b96c72_0_10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efb6b96c7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efb6b96c72_0_21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efb6b96c72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85249" y="1411250"/>
            <a:ext cx="6261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Contexts modelled by right-angled triangles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flipH="1" rot="9490208">
            <a:off x="3852352" y="3471829"/>
            <a:ext cx="784990" cy="148849"/>
          </a:xfrm>
          <a:prstGeom prst="diagStripe">
            <a:avLst>
              <a:gd fmla="val 68104" name="adj"/>
            </a:avLst>
          </a:prstGeom>
          <a:solidFill>
            <a:srgbClr val="43434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863809" y="3468483"/>
            <a:ext cx="775500" cy="150300"/>
          </a:xfrm>
          <a:prstGeom prst="diagStripe">
            <a:avLst>
              <a:gd fmla="val 84995" name="adj"/>
            </a:avLst>
          </a:prstGeom>
          <a:solidFill>
            <a:srgbClr val="78787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811790" y="3880689"/>
            <a:ext cx="1079400" cy="255300"/>
          </a:xfrm>
          <a:prstGeom prst="ellipse">
            <a:avLst/>
          </a:prstGeom>
          <a:gradFill>
            <a:gsLst>
              <a:gs pos="0">
                <a:srgbClr val="999999"/>
              </a:gs>
              <a:gs pos="49000">
                <a:srgbClr val="434343"/>
              </a:gs>
              <a:gs pos="100000">
                <a:srgbClr val="434343"/>
              </a:gs>
            </a:gsLst>
            <a:lin ang="0" scaled="0"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811844" y="3518489"/>
            <a:ext cx="1079400" cy="486300"/>
          </a:xfrm>
          <a:prstGeom prst="rect">
            <a:avLst/>
          </a:prstGeom>
          <a:gradFill>
            <a:gsLst>
              <a:gs pos="0">
                <a:srgbClr val="999999"/>
              </a:gs>
              <a:gs pos="49000">
                <a:srgbClr val="434343"/>
              </a:gs>
              <a:gs pos="100000">
                <a:srgbClr val="43434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811790" y="3384420"/>
            <a:ext cx="1079400" cy="255300"/>
          </a:xfrm>
          <a:prstGeom prst="ellipse">
            <a:avLst/>
          </a:prstGeom>
          <a:gradFill>
            <a:gsLst>
              <a:gs pos="0">
                <a:srgbClr val="D9D9D9"/>
              </a:gs>
              <a:gs pos="62000">
                <a:srgbClr val="808080"/>
              </a:gs>
              <a:gs pos="100000">
                <a:srgbClr val="808080"/>
              </a:gs>
            </a:gsLst>
            <a:lin ang="8100019" scaled="0"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2811790" y="3518511"/>
            <a:ext cx="0" cy="4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0"/>
          <p:cNvSpPr/>
          <p:nvPr/>
        </p:nvSpPr>
        <p:spPr>
          <a:xfrm rot="-6092077">
            <a:off x="4483487" y="3461046"/>
            <a:ext cx="15003" cy="4924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3891253" y="3518511"/>
            <a:ext cx="0" cy="4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2811796" y="4197121"/>
            <a:ext cx="1081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" name="Google Shape;183;p20"/>
          <p:cNvCxnSpPr/>
          <p:nvPr/>
        </p:nvCxnSpPr>
        <p:spPr>
          <a:xfrm rot="5400000">
            <a:off x="2446073" y="3760146"/>
            <a:ext cx="55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352" y="3187122"/>
            <a:ext cx="1289840" cy="10403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0"/>
          <p:cNvCxnSpPr/>
          <p:nvPr/>
        </p:nvCxnSpPr>
        <p:spPr>
          <a:xfrm>
            <a:off x="485251" y="3612102"/>
            <a:ext cx="1355400" cy="727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" name="Google Shape;186;p20"/>
          <p:cNvSpPr txBox="1"/>
          <p:nvPr/>
        </p:nvSpPr>
        <p:spPr>
          <a:xfrm>
            <a:off x="728989" y="3999056"/>
            <a:ext cx="7272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487472" y="3533943"/>
            <a:ext cx="1374300" cy="627600"/>
          </a:xfrm>
          <a:prstGeom prst="rtTriangle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487464" y="4020971"/>
            <a:ext cx="140700" cy="14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5487477" y="4280953"/>
            <a:ext cx="137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5337912" y="3530974"/>
            <a:ext cx="0" cy="63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" name="Google Shape;191;p20"/>
          <p:cNvSpPr txBox="1"/>
          <p:nvPr/>
        </p:nvSpPr>
        <p:spPr>
          <a:xfrm flipH="1" rot="3965">
            <a:off x="1206788" y="3358135"/>
            <a:ext cx="52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ladle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 flipH="1" rot="2858">
            <a:off x="2809244" y="3114673"/>
            <a:ext cx="10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saucepan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 flipH="1" rot="2647">
            <a:off x="473399" y="1967177"/>
            <a:ext cx="6624002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For this ladle to be usable with the saucepan, it has to be long enough that it won’t sink completely into the saucepan.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saucepan is 20 cm tall and has a maximum base width of 30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The right-angled triangle models the saucepan. Label the saucepan and the right-angled triangle with the appropriate lengths.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Using Pythagoras’ theorem, explain whether the ladle is long enough to be used with this saucepan.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 flipH="1" rot="2732">
            <a:off x="2587700" y="5866396"/>
            <a:ext cx="4529701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Izzy is practicing her backhand shots. She can hit a backhand shot 28 metres.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and Laura stand at different corners of the court.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 b="13001" l="23056" r="22845" t="13915"/>
          <a:stretch/>
        </p:blipFill>
        <p:spPr>
          <a:xfrm>
            <a:off x="1035628" y="6088986"/>
            <a:ext cx="1339609" cy="2157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20"/>
          <p:cNvGrpSpPr/>
          <p:nvPr/>
        </p:nvGrpSpPr>
        <p:grpSpPr>
          <a:xfrm>
            <a:off x="1186108" y="8193578"/>
            <a:ext cx="1032152" cy="234555"/>
            <a:chOff x="5897099" y="4472400"/>
            <a:chExt cx="1472400" cy="345850"/>
          </a:xfrm>
        </p:grpSpPr>
        <p:cxnSp>
          <p:nvCxnSpPr>
            <p:cNvPr id="197" name="Google Shape;197;p20"/>
            <p:cNvCxnSpPr/>
            <p:nvPr/>
          </p:nvCxnSpPr>
          <p:spPr>
            <a:xfrm>
              <a:off x="5897099" y="4472400"/>
              <a:ext cx="147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8" name="Google Shape;198;p20"/>
            <p:cNvSpPr txBox="1"/>
            <p:nvPr/>
          </p:nvSpPr>
          <p:spPr>
            <a:xfrm>
              <a:off x="6168776" y="4494550"/>
              <a:ext cx="9291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" name="Google Shape;199;p20"/>
          <p:cNvGrpSpPr/>
          <p:nvPr/>
        </p:nvGrpSpPr>
        <p:grpSpPr>
          <a:xfrm rot="5400000">
            <a:off x="-146484" y="6919068"/>
            <a:ext cx="1786463" cy="506563"/>
            <a:chOff x="5897099" y="4422778"/>
            <a:chExt cx="1472400" cy="787200"/>
          </a:xfrm>
        </p:grpSpPr>
        <p:cxnSp>
          <p:nvCxnSpPr>
            <p:cNvPr id="200" name="Google Shape;200;p20"/>
            <p:cNvCxnSpPr/>
            <p:nvPr/>
          </p:nvCxnSpPr>
          <p:spPr>
            <a:xfrm>
              <a:off x="5897099" y="4472400"/>
              <a:ext cx="14724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1" name="Google Shape;201;p20"/>
            <p:cNvSpPr txBox="1"/>
            <p:nvPr/>
          </p:nvSpPr>
          <p:spPr>
            <a:xfrm rot="-5400000">
              <a:off x="6239799" y="4667728"/>
              <a:ext cx="7872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24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33371" y="5788800"/>
            <a:ext cx="280535" cy="2861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0"/>
          <p:cNvCxnSpPr/>
          <p:nvPr/>
        </p:nvCxnSpPr>
        <p:spPr>
          <a:xfrm>
            <a:off x="999207" y="6049635"/>
            <a:ext cx="207600" cy="22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4" name="Google Shape;2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2054321" y="8497398"/>
            <a:ext cx="207111" cy="285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20"/>
          <p:cNvCxnSpPr>
            <a:endCxn id="204" idx="0"/>
          </p:cNvCxnSpPr>
          <p:nvPr/>
        </p:nvCxnSpPr>
        <p:spPr>
          <a:xfrm flipH="1">
            <a:off x="2157876" y="8056398"/>
            <a:ext cx="49200" cy="44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0"/>
          <p:cNvSpPr txBox="1"/>
          <p:nvPr/>
        </p:nvSpPr>
        <p:spPr>
          <a:xfrm flipH="1" rot="3132">
            <a:off x="1833854" y="8713286"/>
            <a:ext cx="65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 flipH="1" rot="4503">
            <a:off x="1028190" y="5837761"/>
            <a:ext cx="4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1041292" y="8489943"/>
            <a:ext cx="223650" cy="26146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 flipH="1" rot="4503">
            <a:off x="946852" y="8734692"/>
            <a:ext cx="4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0"/>
          <p:cNvCxnSpPr>
            <a:endCxn id="208" idx="0"/>
          </p:cNvCxnSpPr>
          <p:nvPr/>
        </p:nvCxnSpPr>
        <p:spPr>
          <a:xfrm flipH="1">
            <a:off x="1153117" y="8045643"/>
            <a:ext cx="53700" cy="44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0"/>
          <p:cNvSpPr txBox="1"/>
          <p:nvPr/>
        </p:nvSpPr>
        <p:spPr>
          <a:xfrm flipH="1" rot="2611">
            <a:off x="2587424" y="6962145"/>
            <a:ext cx="3554701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Model this context onto this right-angled triangle, labelling any relevant distances given in the context.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0"/>
          <p:cNvCxnSpPr/>
          <p:nvPr/>
        </p:nvCxnSpPr>
        <p:spPr>
          <a:xfrm>
            <a:off x="6232195" y="8018042"/>
            <a:ext cx="764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3" name="Google Shape;213;p20"/>
          <p:cNvSpPr/>
          <p:nvPr/>
        </p:nvSpPr>
        <p:spPr>
          <a:xfrm>
            <a:off x="6246834" y="6828821"/>
            <a:ext cx="746400" cy="1040100"/>
          </a:xfrm>
          <a:prstGeom prst="rtTriangle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>
            <a:off x="6089045" y="6857736"/>
            <a:ext cx="0" cy="1011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" name="Google Shape;215;p20"/>
          <p:cNvSpPr/>
          <p:nvPr/>
        </p:nvSpPr>
        <p:spPr>
          <a:xfrm>
            <a:off x="6248641" y="7728952"/>
            <a:ext cx="139800" cy="139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 rot="3254767">
            <a:off x="6059310" y="7278827"/>
            <a:ext cx="1321571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" name="Google Shape;217;p20"/>
          <p:cNvSpPr txBox="1"/>
          <p:nvPr/>
        </p:nvSpPr>
        <p:spPr>
          <a:xfrm flipH="1" rot="3356">
            <a:off x="2587459" y="8085131"/>
            <a:ext cx="30729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whether Izzy’s backhand shot can reach Sofia.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flipH="1" rot="3424">
            <a:off x="2587704" y="9049878"/>
            <a:ext cx="451860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Using Pythagoras’ theorem, explain whether Izzy’s backhand shot can reach Laura.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73400" y="4940100"/>
            <a:ext cx="6624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ladle is too short, at 35 cm.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is because the maximum distance inside the saucepan is the diagonal length of 36 cm, and so the ladle can sink completely into the saucepan.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936335" y="4232450"/>
            <a:ext cx="69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650975" y="4296164"/>
            <a:ext cx="69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567037" y="3797537"/>
            <a:ext cx="69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054652" y="3731106"/>
            <a:ext cx="69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 rot="1187220">
            <a:off x="5388570" y="3598067"/>
            <a:ext cx="1415260" cy="20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36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 flipH="1" rot="3050">
            <a:off x="6281422" y="8036597"/>
            <a:ext cx="67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 flipH="1" rot="3050">
            <a:off x="5405146" y="7467511"/>
            <a:ext cx="67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 flipH="1" rot="3015376">
            <a:off x="6498690" y="7033208"/>
            <a:ext cx="676150" cy="18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26.4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 flipH="1" rot="3493">
            <a:off x="2613222" y="8502868"/>
            <a:ext cx="354300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It can, as Izzy’s shot of 28 m is longer than the 24 m between her and Sofia.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 flipH="1" rot="3532">
            <a:off x="2613233" y="9507457"/>
            <a:ext cx="438030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Using Pythagoras’ theorem, the distance between Izzy and Laura is 26.4 m. Therefore, Izzy’s 28 m shot can reach Laura.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 flipH="1" rot="5536">
            <a:off x="6022863" y="6691737"/>
            <a:ext cx="18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 flipH="1" rot="5536">
            <a:off x="6022863" y="7906423"/>
            <a:ext cx="18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 flipH="1" rot="5536">
            <a:off x="6924502" y="7906423"/>
            <a:ext cx="18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sp>
        <p:nvSpPr>
          <p:cNvPr id="238" name="Google Shape;23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3625520" y="3479484"/>
            <a:ext cx="3466500" cy="166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966037" y="2836817"/>
            <a:ext cx="1644617" cy="452118"/>
          </a:xfrm>
          <a:custGeom>
            <a:rect b="b" l="l" r="r" t="t"/>
            <a:pathLst>
              <a:path extrusionOk="0" h="44931" w="90750">
                <a:moveTo>
                  <a:pt x="11528" y="44931"/>
                </a:moveTo>
                <a:lnTo>
                  <a:pt x="0" y="37541"/>
                </a:lnTo>
                <a:lnTo>
                  <a:pt x="90750" y="0"/>
                </a:lnTo>
                <a:lnTo>
                  <a:pt x="90750" y="1271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595959"/>
              </a:gs>
            </a:gsLst>
            <a:lin ang="0" scaled="0"/>
          </a:gradFill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1" name="Google Shape;241;p21"/>
          <p:cNvSpPr txBox="1"/>
          <p:nvPr/>
        </p:nvSpPr>
        <p:spPr>
          <a:xfrm flipH="1" rot="-767755">
            <a:off x="4119149" y="2788969"/>
            <a:ext cx="1368076" cy="18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access ramp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 flipH="1" rot="2407">
            <a:off x="5861637" y="3644381"/>
            <a:ext cx="8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 flipH="1" rot="2407">
            <a:off x="5861637" y="1469624"/>
            <a:ext cx="8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train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" name="Google Shape;244;p21"/>
          <p:cNvGrpSpPr/>
          <p:nvPr/>
        </p:nvGrpSpPr>
        <p:grpSpPr>
          <a:xfrm>
            <a:off x="3625404" y="1688538"/>
            <a:ext cx="3466363" cy="1955317"/>
            <a:chOff x="4392325" y="1523146"/>
            <a:chExt cx="4394476" cy="2478850"/>
          </a:xfrm>
        </p:grpSpPr>
        <p:pic>
          <p:nvPicPr>
            <p:cNvPr id="245" name="Google Shape;24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53377" y="1523146"/>
              <a:ext cx="2033425" cy="247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21"/>
            <p:cNvSpPr/>
            <p:nvPr/>
          </p:nvSpPr>
          <p:spPr>
            <a:xfrm>
              <a:off x="4392325" y="3415350"/>
              <a:ext cx="2366700" cy="3828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7" name="Google Shape;247;p21"/>
          <p:cNvSpPr txBox="1"/>
          <p:nvPr/>
        </p:nvSpPr>
        <p:spPr>
          <a:xfrm flipH="1" rot="2407">
            <a:off x="4019510" y="3289310"/>
            <a:ext cx="8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platform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 flipH="1" rot="2549">
            <a:off x="476674" y="808808"/>
            <a:ext cx="4855501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A train conductor uses a 256 cm long access ramp to help passengers board a maglev train.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step to board the train is 43 cm higher than the platform the passengers are waiting 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far onto the platform will the access ramp reach (to 1 d.p.)?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>
            <a:off x="474757" y="45840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1"/>
          <p:cNvSpPr txBox="1"/>
          <p:nvPr/>
        </p:nvSpPr>
        <p:spPr>
          <a:xfrm flipH="1" rot="2588">
            <a:off x="476546" y="5318513"/>
            <a:ext cx="4384201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Radio towers must be at most 3000 m apart from each other in order for the radio signal to be broadcast to the local area.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Radio tower B is 1900 m north of radio tower 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radio tower C is 2400 m west of radio tower 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Model the distances between all three radio towers on this right-angled triangle, labelling each vertex A, B, or C to represent the three towers.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Radio tower A breaks down. Are radio towers B and C close enough to each other for the radio signal to still be broadcast?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76676" y="4687850"/>
            <a:ext cx="6209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Analysing and evaluating modelled contexts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 flipH="1" rot="3141">
            <a:off x="6430300" y="6736058"/>
            <a:ext cx="6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1900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3" name="Google Shape;253;p21"/>
          <p:cNvGrpSpPr/>
          <p:nvPr/>
        </p:nvGrpSpPr>
        <p:grpSpPr>
          <a:xfrm flipH="1" rot="-5400000">
            <a:off x="5290640" y="6219555"/>
            <a:ext cx="1014533" cy="1272050"/>
            <a:chOff x="6717888" y="1981143"/>
            <a:chExt cx="1308737" cy="1640932"/>
          </a:xfrm>
        </p:grpSpPr>
        <p:cxnSp>
          <p:nvCxnSpPr>
            <p:cNvPr id="254" name="Google Shape;254;p21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55" name="Google Shape;255;p21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6" name="Google Shape;256;p21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57" name="Google Shape;257;p21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8" name="Google Shape;258;p21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59" name="Google Shape;259;p21"/>
          <p:cNvSpPr txBox="1"/>
          <p:nvPr/>
        </p:nvSpPr>
        <p:spPr>
          <a:xfrm flipH="1" rot="3141">
            <a:off x="5469453" y="7378996"/>
            <a:ext cx="6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2400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 flipH="1" rot="3141">
            <a:off x="5118562" y="6495270"/>
            <a:ext cx="6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3061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 flipH="1" rot="3704">
            <a:off x="6200345" y="7134505"/>
            <a:ext cx="27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 flipH="1" rot="3704">
            <a:off x="6200345" y="6245119"/>
            <a:ext cx="27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 flipH="1" rot="3704">
            <a:off x="5010644" y="7134505"/>
            <a:ext cx="27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 flipH="1" rot="2927">
            <a:off x="467989" y="8273006"/>
            <a:ext cx="563760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radio signal will be lost, as the shortest distance from radio tower B to radio tower C is over 3000 m, at 3061 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in context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 rot="-5400000">
            <a:off x="5416408" y="2622686"/>
            <a:ext cx="747900" cy="1041900"/>
          </a:xfrm>
          <a:prstGeom prst="rtTriangle">
            <a:avLst/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 flipH="1" rot="2495">
            <a:off x="476638" y="732153"/>
            <a:ext cx="3720301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 lighthouse is 50 metres tall, and the light from it travels 130 metres to reach the boat.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captain of the boat confidently declares: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“we are 120 metres away from the shore”.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Explain why the captain might be wrong.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 may reference assumptions made by the captain that are incorrect.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55363" l="0" r="23259" t="0"/>
          <a:stretch/>
        </p:blipFill>
        <p:spPr>
          <a:xfrm>
            <a:off x="4274941" y="699383"/>
            <a:ext cx="2817059" cy="12964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2"/>
          <p:cNvGrpSpPr/>
          <p:nvPr/>
        </p:nvGrpSpPr>
        <p:grpSpPr>
          <a:xfrm>
            <a:off x="5084009" y="1032257"/>
            <a:ext cx="1582708" cy="748253"/>
            <a:chOff x="2253750" y="1818200"/>
            <a:chExt cx="2032500" cy="960900"/>
          </a:xfrm>
        </p:grpSpPr>
        <p:cxnSp>
          <p:nvCxnSpPr>
            <p:cNvPr id="274" name="Google Shape;274;p22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22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22"/>
            <p:cNvCxnSpPr/>
            <p:nvPr/>
          </p:nvCxnSpPr>
          <p:spPr>
            <a:xfrm flipH="1">
              <a:off x="2253750" y="1818200"/>
              <a:ext cx="2032500" cy="9609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77" name="Google Shape;277;p22"/>
          <p:cNvCxnSpPr/>
          <p:nvPr/>
        </p:nvCxnSpPr>
        <p:spPr>
          <a:xfrm rot="-5400000">
            <a:off x="6077799" y="3149301"/>
            <a:ext cx="765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8" name="Google Shape;278;p22"/>
          <p:cNvCxnSpPr/>
          <p:nvPr/>
        </p:nvCxnSpPr>
        <p:spPr>
          <a:xfrm rot="10800000">
            <a:off x="5804775" y="3169255"/>
            <a:ext cx="0" cy="1012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9" name="Google Shape;279;p22"/>
          <p:cNvSpPr/>
          <p:nvPr/>
        </p:nvSpPr>
        <p:spPr>
          <a:xfrm rot="-5400000">
            <a:off x="6171143" y="3375976"/>
            <a:ext cx="139800" cy="139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" name="Google Shape;280;p22"/>
          <p:cNvCxnSpPr/>
          <p:nvPr/>
        </p:nvCxnSpPr>
        <p:spPr>
          <a:xfrm rot="-2145208">
            <a:off x="5058234" y="3043419"/>
            <a:ext cx="1324151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1" name="Google Shape;281;p22"/>
          <p:cNvSpPr txBox="1"/>
          <p:nvPr/>
        </p:nvSpPr>
        <p:spPr>
          <a:xfrm flipH="1" rot="1840">
            <a:off x="5220973" y="2814384"/>
            <a:ext cx="5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 flipH="1" rot="1840">
            <a:off x="6496779" y="3035739"/>
            <a:ext cx="56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 flipH="1" rot="2351">
            <a:off x="476674" y="4390973"/>
            <a:ext cx="6580502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A window cleaner needs to reach a window that is 412 cm above ground. This is safe to do if the horizontal distance from the wall to the foot of the ladder is a quarter of the height the ladder needs to reach.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 flipH="1" rot="2351">
            <a:off x="476680" y="5172890"/>
            <a:ext cx="6580502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Model this situation on this right-angled triangle, labelling any known lengths and which side of the triangle is modelling the ladder.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6" name="Google Shape;286;p22"/>
          <p:cNvSpPr txBox="1"/>
          <p:nvPr/>
        </p:nvSpPr>
        <p:spPr>
          <a:xfrm flipH="1" rot="3652">
            <a:off x="5366751" y="3749293"/>
            <a:ext cx="84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120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 flipH="1" rot="3860">
            <a:off x="467995" y="2662460"/>
            <a:ext cx="4007703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From the right-angle triangle model of the lighthouse and boat, 120 m is correct. So why is he wrong?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 flipH="1" rot="2630">
            <a:off x="476599" y="3395343"/>
            <a:ext cx="47064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height of the lighthouse isn’t the total vertical distance to sea level. So, the captain hasn’t factored in that extra vertical distance.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 flipH="1" rot="2630">
            <a:off x="476599" y="3093375"/>
            <a:ext cx="47064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shore is horizontally closer to the boat than the lighthouse is.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90" name="Google Shape;290;p22"/>
          <p:cNvCxnSpPr/>
          <p:nvPr/>
        </p:nvCxnSpPr>
        <p:spPr>
          <a:xfrm rot="10800000">
            <a:off x="5957418" y="1123202"/>
            <a:ext cx="0" cy="183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1" name="Google Shape;291;p22"/>
          <p:cNvCxnSpPr/>
          <p:nvPr/>
        </p:nvCxnSpPr>
        <p:spPr>
          <a:xfrm>
            <a:off x="5054068" y="2416946"/>
            <a:ext cx="1258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2" name="Google Shape;292;p22"/>
          <p:cNvSpPr txBox="1"/>
          <p:nvPr/>
        </p:nvSpPr>
        <p:spPr>
          <a:xfrm flipH="1" rot="2917">
            <a:off x="4659501" y="2432142"/>
            <a:ext cx="21216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distance to shore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 flipH="1" rot="2917">
            <a:off x="4896637" y="2054399"/>
            <a:ext cx="21216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distance to lighthouse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94" name="Google Shape;294;p22"/>
          <p:cNvGrpSpPr/>
          <p:nvPr/>
        </p:nvGrpSpPr>
        <p:grpSpPr>
          <a:xfrm flipH="1" rot="-5400000">
            <a:off x="4526182" y="5849272"/>
            <a:ext cx="1308737" cy="1640932"/>
            <a:chOff x="6717888" y="1981143"/>
            <a:chExt cx="1308737" cy="1640932"/>
          </a:xfrm>
        </p:grpSpPr>
        <p:cxnSp>
          <p:nvCxnSpPr>
            <p:cNvPr id="295" name="Google Shape;295;p22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6" name="Google Shape;296;p22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7" name="Google Shape;297;p22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8" name="Google Shape;298;p22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9" name="Google Shape;299;p22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00" name="Google Shape;300;p22"/>
          <p:cNvSpPr txBox="1"/>
          <p:nvPr/>
        </p:nvSpPr>
        <p:spPr>
          <a:xfrm flipH="1" rot="4073">
            <a:off x="6000923" y="6361853"/>
            <a:ext cx="1012801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412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height to window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 flipH="1" rot="4018">
            <a:off x="4538843" y="7324838"/>
            <a:ext cx="12834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2" name="Google Shape;302;p22"/>
          <p:cNvCxnSpPr>
            <a:stCxn id="303" idx="2"/>
          </p:cNvCxnSpPr>
          <p:nvPr/>
        </p:nvCxnSpPr>
        <p:spPr>
          <a:xfrm flipH="1">
            <a:off x="4986625" y="6050575"/>
            <a:ext cx="588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22"/>
          <p:cNvSpPr txBox="1"/>
          <p:nvPr/>
        </p:nvSpPr>
        <p:spPr>
          <a:xfrm flipH="1" rot="3762">
            <a:off x="4360075" y="5496475"/>
            <a:ext cx="1370701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424.68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distance ladder needs to reach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 flipH="1" rot="2498">
            <a:off x="476702" y="6333378"/>
            <a:ext cx="3303301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To what length should the window cleaner set their ladder?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What assumptions are you making about this context?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 flipH="1" rot="3489">
            <a:off x="463799" y="6731148"/>
            <a:ext cx="2956202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distance the ladder needs to reach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424.68 cm.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the window cleaner needs to set the ladder to 425 cm.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 flipH="1" rot="3516">
            <a:off x="814048" y="8978478"/>
            <a:ext cx="3813302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wall is perpendicular to the floor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ground isn’t sloped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ladder doesn’t bend when the window cleaner is on it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 flipH="1" rot="3516">
            <a:off x="585448" y="8601753"/>
            <a:ext cx="3813302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Examples include: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Pythagoras’ theorem in context</a:t>
            </a:r>
            <a:endParaRPr/>
          </a:p>
        </p:txBody>
      </p:sp>
      <p:sp>
        <p:nvSpPr>
          <p:cNvPr id="313" name="Google Shape;313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4" name="Google Shape;314;p23"/>
          <p:cNvSpPr txBox="1"/>
          <p:nvPr/>
        </p:nvSpPr>
        <p:spPr>
          <a:xfrm flipH="1" rot="2644">
            <a:off x="464699" y="808696"/>
            <a:ext cx="6630602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A phone mast that is 15 m in height is supported by a 24 m long cable that is tied to the ground with a hook.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 lights are attached: one at the top of the phone mast, and the other at the hook, to reduce the risk of people walking into it at night time.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order for the lights to work, a battery generator is attached to the base of the phone mast, and needs to be connected to both lights by an electrical wire.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5" name="Google Shape;315;p23"/>
          <p:cNvCxnSpPr/>
          <p:nvPr/>
        </p:nvCxnSpPr>
        <p:spPr>
          <a:xfrm>
            <a:off x="486457" y="6632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23"/>
          <p:cNvSpPr txBox="1"/>
          <p:nvPr/>
        </p:nvSpPr>
        <p:spPr>
          <a:xfrm flipH="1" rot="2644">
            <a:off x="476399" y="2859451"/>
            <a:ext cx="6630602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Is a 35 metre long reel of electrical wire enough to connect the battery to both lights?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3"/>
          <p:cNvCxnSpPr/>
          <p:nvPr/>
        </p:nvCxnSpPr>
        <p:spPr>
          <a:xfrm>
            <a:off x="5828857" y="4295174"/>
            <a:ext cx="429900" cy="3108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3"/>
          <p:cNvSpPr txBox="1"/>
          <p:nvPr/>
        </p:nvSpPr>
        <p:spPr>
          <a:xfrm flipH="1" rot="4195">
            <a:off x="5974327" y="3824071"/>
            <a:ext cx="4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19" name="Google Shape;319;p23"/>
          <p:cNvGrpSpPr/>
          <p:nvPr/>
        </p:nvGrpSpPr>
        <p:grpSpPr>
          <a:xfrm flipH="1" rot="-5400000">
            <a:off x="4826836" y="3303757"/>
            <a:ext cx="1021338" cy="1280583"/>
            <a:chOff x="6717888" y="1981143"/>
            <a:chExt cx="1308737" cy="1640932"/>
          </a:xfrm>
        </p:grpSpPr>
        <p:cxnSp>
          <p:nvCxnSpPr>
            <p:cNvPr id="320" name="Google Shape;320;p23"/>
            <p:cNvCxnSpPr/>
            <p:nvPr/>
          </p:nvCxnSpPr>
          <p:spPr>
            <a:xfrm rot="10800000">
              <a:off x="6858758" y="3622075"/>
              <a:ext cx="983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21" name="Google Shape;321;p23"/>
            <p:cNvSpPr/>
            <p:nvPr/>
          </p:nvSpPr>
          <p:spPr>
            <a:xfrm flipH="1">
              <a:off x="6863325" y="2092099"/>
              <a:ext cx="960300" cy="1338000"/>
            </a:xfrm>
            <a:prstGeom prst="rtTriangle">
              <a:avLst/>
            </a:prstGeom>
            <a:solidFill>
              <a:srgbClr val="EBEDFE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2" name="Google Shape;322;p23"/>
            <p:cNvCxnSpPr/>
            <p:nvPr/>
          </p:nvCxnSpPr>
          <p:spPr>
            <a:xfrm>
              <a:off x="8026625" y="2129300"/>
              <a:ext cx="0" cy="130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23" name="Google Shape;323;p23"/>
            <p:cNvSpPr/>
            <p:nvPr/>
          </p:nvSpPr>
          <p:spPr>
            <a:xfrm flipH="1">
              <a:off x="7641600" y="3250150"/>
              <a:ext cx="179700" cy="179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4" name="Google Shape;324;p23"/>
            <p:cNvCxnSpPr/>
            <p:nvPr/>
          </p:nvCxnSpPr>
          <p:spPr>
            <a:xfrm rot="7545233">
              <a:off x="6364447" y="2671143"/>
              <a:ext cx="1700483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25" name="Google Shape;325;p23"/>
          <p:cNvSpPr txBox="1"/>
          <p:nvPr/>
        </p:nvSpPr>
        <p:spPr>
          <a:xfrm flipH="1" rot="3120">
            <a:off x="5006995" y="4471559"/>
            <a:ext cx="66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18.7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 flipH="1" rot="3120">
            <a:off x="4653717" y="3581822"/>
            <a:ext cx="66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 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 flipH="1" rot="2618">
            <a:off x="6201569" y="4543986"/>
            <a:ext cx="78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battery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 flipH="1" rot="3455">
            <a:off x="5912995" y="3043020"/>
            <a:ext cx="11940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top of mast and light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 flipH="1" rot="1560">
            <a:off x="3718877" y="4294377"/>
            <a:ext cx="6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hook and light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30" name="Google Shape;330;p23"/>
          <p:cNvCxnSpPr>
            <a:stCxn id="321" idx="0"/>
          </p:cNvCxnSpPr>
          <p:nvPr/>
        </p:nvCxnSpPr>
        <p:spPr>
          <a:xfrm flipH="1">
            <a:off x="4377904" y="4296297"/>
            <a:ext cx="405900" cy="3096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3"/>
          <p:cNvCxnSpPr/>
          <p:nvPr/>
        </p:nvCxnSpPr>
        <p:spPr>
          <a:xfrm flipH="1" rot="10800000">
            <a:off x="5830048" y="3312123"/>
            <a:ext cx="252900" cy="2343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2" name="Google Shape;332;p23"/>
          <p:cNvGrpSpPr/>
          <p:nvPr/>
        </p:nvGrpSpPr>
        <p:grpSpPr>
          <a:xfrm>
            <a:off x="4729940" y="4222886"/>
            <a:ext cx="141877" cy="141877"/>
            <a:chOff x="4176250" y="3995500"/>
            <a:chExt cx="181800" cy="181800"/>
          </a:xfrm>
        </p:grpSpPr>
        <p:sp>
          <p:nvSpPr>
            <p:cNvPr id="333" name="Google Shape;333;p23"/>
            <p:cNvSpPr/>
            <p:nvPr/>
          </p:nvSpPr>
          <p:spPr>
            <a:xfrm>
              <a:off x="4176250" y="3995500"/>
              <a:ext cx="181800" cy="181800"/>
            </a:xfrm>
            <a:prstGeom prst="ellipse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4199828" y="4019078"/>
              <a:ext cx="134700" cy="1347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4219122" y="4038372"/>
              <a:ext cx="96000" cy="96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6" name="Google Shape;336;p23"/>
          <p:cNvGrpSpPr/>
          <p:nvPr/>
        </p:nvGrpSpPr>
        <p:grpSpPr>
          <a:xfrm>
            <a:off x="5753125" y="3490193"/>
            <a:ext cx="141877" cy="141877"/>
            <a:chOff x="4176250" y="3995500"/>
            <a:chExt cx="181800" cy="181800"/>
          </a:xfrm>
        </p:grpSpPr>
        <p:sp>
          <p:nvSpPr>
            <p:cNvPr id="337" name="Google Shape;337;p23"/>
            <p:cNvSpPr/>
            <p:nvPr/>
          </p:nvSpPr>
          <p:spPr>
            <a:xfrm>
              <a:off x="4176250" y="3995500"/>
              <a:ext cx="181800" cy="181800"/>
            </a:xfrm>
            <a:prstGeom prst="ellipse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4199828" y="4019078"/>
              <a:ext cx="134700" cy="1347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4219122" y="4038372"/>
              <a:ext cx="96000" cy="96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0" name="Google Shape;340;p23"/>
          <p:cNvSpPr txBox="1"/>
          <p:nvPr/>
        </p:nvSpPr>
        <p:spPr>
          <a:xfrm flipH="1" rot="2830">
            <a:off x="486325" y="3205372"/>
            <a:ext cx="2915401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35 metre long reel of electrical wire is long enough.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is because you need 15 m of wire to connect to the light at the top of the mast, and 18.7 m to connect to the light at the hook.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 m + 18.7 m = 33.7 m, which is less than 35 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 flipH="1" rot="1138">
            <a:off x="476545" y="5295892"/>
            <a:ext cx="543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assumptions have you made about this context in part a)?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 flipH="1" rot="1202">
            <a:off x="476826" y="5531259"/>
            <a:ext cx="514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Possible answers could include: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 flipH="1" rot="1022">
            <a:off x="672399" y="5744337"/>
            <a:ext cx="605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phone mast is perfectly vertical, and so is perpendicular to the ground.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 flipH="1" rot="1022">
            <a:off x="672399" y="5971462"/>
            <a:ext cx="605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cable that is modelled by the hypotenuse of the triangle is perfectly straight, and doesn’t bend or dip.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 flipH="1" rot="962">
            <a:off x="672650" y="6365122"/>
            <a:ext cx="643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ground is perfectly horizontal, and doesn’t change its gradient at any point between the hook and the mast.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