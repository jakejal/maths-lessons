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15743D-C781-4C17-B280-7E2E4E0B738C}">
  <a:tblStyle styleId="{8315743D-C781-4C17-B280-7E2E4E0B738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b156a189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b156a189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1ee8774be8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1ee8774be8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ee8774be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1ee8774be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ee8774be8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ee8774be8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ee8774be8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ee8774be8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1ee8774be87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1ee8774be8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1ee8774be87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1ee8774be87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1ee8774be87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1ee8774be87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b0d712647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b0d712647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b0d712647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2b0d712647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1ee8774be87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1ee8774be87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1ee8774be87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1ee8774be87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1ee8774be87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1ee8774be87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1ee8774be87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1ee8774be87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1ee8774be87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1ee8774be87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1ee8774be87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1ee8774be87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ae03f3bbdc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ae03f3bbdc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b2c7da6e7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b2c7da6e7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b2c7da6e7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b2c7da6e7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b2c7da6e7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b2c7da6e7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b2c7da6e7a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b2c7da6e7a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b2c7da6e7a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2b2c7da6e7a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2b2c7da6e7a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b2c7da6e7a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b2c7da6e7a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b2c7da6e7a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2b2c7da6e7a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2b2c7da6e7a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2b2c7da6e7a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2b2c7da6e7a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2b2c7da6e7a_1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2b2c7da6e7a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b2c7da6e7a_1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b2c7da6e7a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ae03f3bbdc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ae03f3bbdc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2b2c7da6e7a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2b2c7da6e7a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2b2c7da6e7a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2b2c7da6e7a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b2c7da6e7a_1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b2c7da6e7a_1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b2c7da6e7a_1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2b2c7da6e7a_1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b2c7da6e7a_1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2b2c7da6e7a_1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2b2c7da6e7a_1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2b2c7da6e7a_1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2b2c7da6e7a_1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g2b2c7da6e7a_1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9.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71.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1.png"/><Relationship Id="rId4" Type="http://schemas.openxmlformats.org/officeDocument/2006/relationships/image" Target="../media/image24.png"/><Relationship Id="rId9"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34.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1.png"/><Relationship Id="rId4" Type="http://schemas.openxmlformats.org/officeDocument/2006/relationships/image" Target="../media/image31.png"/><Relationship Id="rId11" Type="http://schemas.openxmlformats.org/officeDocument/2006/relationships/image" Target="../media/image22.png"/><Relationship Id="rId10" Type="http://schemas.openxmlformats.org/officeDocument/2006/relationships/image" Target="../media/image35.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4.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6.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2.png"/><Relationship Id="rId4" Type="http://schemas.openxmlformats.org/officeDocument/2006/relationships/image" Target="../media/image46.png"/><Relationship Id="rId5" Type="http://schemas.openxmlformats.org/officeDocument/2006/relationships/image" Target="../media/image5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46.png"/><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43.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57.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 Id="rId3"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52.png"/><Relationship Id="rId4" Type="http://schemas.openxmlformats.org/officeDocument/2006/relationships/image" Target="../media/image46.png"/><Relationship Id="rId5" Type="http://schemas.openxmlformats.org/officeDocument/2006/relationships/image" Target="../media/image53.png"/><Relationship Id="rId6" Type="http://schemas.openxmlformats.org/officeDocument/2006/relationships/image" Target="../media/image6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image" Target="../media/image52.png"/><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hyperlink" Target="https://www.geogebra.org/classic/budyw6ab" TargetMode="External"/><Relationship Id="rId4" Type="http://schemas.openxmlformats.org/officeDocument/2006/relationships/image" Target="../media/image52.png"/><Relationship Id="rId5"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6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9.xml"/><Relationship Id="rId3" Type="http://schemas.openxmlformats.org/officeDocument/2006/relationships/image" Target="../media/image70.png"/><Relationship Id="rId4" Type="http://schemas.openxmlformats.org/officeDocument/2006/relationships/image" Target="../media/image43.png"/><Relationship Id="rId5"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7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52.png"/><Relationship Id="rId4" Type="http://schemas.openxmlformats.org/officeDocument/2006/relationships/image" Target="../media/image58.png"/><Relationship Id="rId5" Type="http://schemas.openxmlformats.org/officeDocument/2006/relationships/image" Target="../media/image53.png"/><Relationship Id="rId6" Type="http://schemas.openxmlformats.org/officeDocument/2006/relationships/image" Target="../media/image67.png"/><Relationship Id="rId7" Type="http://schemas.openxmlformats.org/officeDocument/2006/relationships/image" Target="../media/image7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77.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 Id="rId3" Type="http://schemas.openxmlformats.org/officeDocument/2006/relationships/image" Target="../media/image7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7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7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 Id="rId3" Type="http://schemas.openxmlformats.org/officeDocument/2006/relationships/image" Target="../media/image7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7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1.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Demonstrating Pythagoras' theorem</a:t>
            </a:r>
            <a:endParaRPr/>
          </a:p>
        </p:txBody>
      </p:sp>
      <p:sp>
        <p:nvSpPr>
          <p:cNvPr id="748" name="Google Shape;748;p62"/>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Geometrical properties: similarity and Pythagoras' theorem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2" name="Shape 752"/>
        <p:cNvGrpSpPr/>
        <p:nvPr/>
      </p:nvGrpSpPr>
      <p:grpSpPr>
        <a:xfrm>
          <a:off x="0" y="0"/>
          <a:ext cx="0" cy="0"/>
          <a:chOff x="0" y="0"/>
          <a:chExt cx="0" cy="0"/>
        </a:xfrm>
      </p:grpSpPr>
      <p:sp>
        <p:nvSpPr>
          <p:cNvPr id="753" name="Google Shape;753;p63"/>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there is a relationship between the lengths of the sides of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5"/>
          <p:cNvSpPr txBox="1"/>
          <p:nvPr>
            <p:ph idx="6" type="subTitle"/>
          </p:nvPr>
        </p:nvSpPr>
        <p:spPr>
          <a:xfrm>
            <a:off x="324000" y="9398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a:t>Pythagoras’ theorem</a:t>
            </a:r>
            <a:r>
              <a:rPr lang="en-GB"/>
              <a:t> shows that the sum of the squares of the two shorter sides of a right-angled triangle is equal to the square of its longest side (the hypotenuse).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769" name="Google Shape;769;p6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Demonstrating Pythagoras' theorem</a:t>
            </a:r>
            <a:endParaRPr/>
          </a:p>
        </p:txBody>
      </p:sp>
      <p:pic>
        <p:nvPicPr>
          <p:cNvPr id="770" name="Google Shape;770;p66"/>
          <p:cNvPicPr preferRelativeResize="0"/>
          <p:nvPr/>
        </p:nvPicPr>
        <p:blipFill>
          <a:blip r:embed="rId3">
            <a:alphaModFix/>
          </a:blip>
          <a:stretch>
            <a:fillRect/>
          </a:stretch>
        </p:blipFill>
        <p:spPr>
          <a:xfrm>
            <a:off x="413150" y="2058262"/>
            <a:ext cx="450575" cy="446750"/>
          </a:xfrm>
          <a:prstGeom prst="rect">
            <a:avLst/>
          </a:prstGeom>
          <a:noFill/>
          <a:ln>
            <a:noFill/>
          </a:ln>
        </p:spPr>
      </p:pic>
      <p:sp>
        <p:nvSpPr>
          <p:cNvPr id="771" name="Google Shape;771;p6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p:nvPr/>
        </p:nvSpPr>
        <p:spPr>
          <a:xfrm>
            <a:off x="5961225" y="1407219"/>
            <a:ext cx="1272300" cy="11004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777" name="Google Shape;777;p67"/>
          <p:cNvGrpSpPr/>
          <p:nvPr/>
        </p:nvGrpSpPr>
        <p:grpSpPr>
          <a:xfrm>
            <a:off x="5449248" y="1997400"/>
            <a:ext cx="1105389" cy="1025700"/>
            <a:chOff x="5754048" y="1997400"/>
            <a:chExt cx="1105389" cy="1025700"/>
          </a:xfrm>
        </p:grpSpPr>
        <p:sp>
          <p:nvSpPr>
            <p:cNvPr id="778" name="Google Shape;778;p67"/>
            <p:cNvSpPr/>
            <p:nvPr/>
          </p:nvSpPr>
          <p:spPr>
            <a:xfrm>
              <a:off x="5754048" y="1997400"/>
              <a:ext cx="1025400" cy="1025700"/>
            </a:xfrm>
            <a:prstGeom prst="arc">
              <a:avLst>
                <a:gd fmla="val 17981128"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79" name="Google Shape;779;p67"/>
            <p:cNvSpPr txBox="1"/>
            <p:nvPr/>
          </p:nvSpPr>
          <p:spPr>
            <a:xfrm>
              <a:off x="6252837" y="2189329"/>
              <a:ext cx="606600" cy="3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60°</a:t>
              </a:r>
              <a:endParaRPr sz="1800">
                <a:latin typeface="Lexend"/>
                <a:ea typeface="Lexend"/>
                <a:cs typeface="Lexend"/>
                <a:sym typeface="Lexend"/>
              </a:endParaRPr>
            </a:p>
          </p:txBody>
        </p:sp>
      </p:grpSp>
      <p:grpSp>
        <p:nvGrpSpPr>
          <p:cNvPr id="780" name="Google Shape;780;p67"/>
          <p:cNvGrpSpPr/>
          <p:nvPr/>
        </p:nvGrpSpPr>
        <p:grpSpPr>
          <a:xfrm flipH="1">
            <a:off x="6629885" y="1997400"/>
            <a:ext cx="1105389" cy="1025700"/>
            <a:chOff x="5754048" y="1997400"/>
            <a:chExt cx="1105389" cy="1025700"/>
          </a:xfrm>
        </p:grpSpPr>
        <p:sp>
          <p:nvSpPr>
            <p:cNvPr id="781" name="Google Shape;781;p67"/>
            <p:cNvSpPr/>
            <p:nvPr/>
          </p:nvSpPr>
          <p:spPr>
            <a:xfrm>
              <a:off x="5754048" y="1997400"/>
              <a:ext cx="1025400" cy="1025700"/>
            </a:xfrm>
            <a:prstGeom prst="arc">
              <a:avLst>
                <a:gd fmla="val 17981128"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2" name="Google Shape;782;p67"/>
            <p:cNvSpPr txBox="1"/>
            <p:nvPr/>
          </p:nvSpPr>
          <p:spPr>
            <a:xfrm>
              <a:off x="6252837" y="2189329"/>
              <a:ext cx="606600" cy="3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60°</a:t>
              </a:r>
              <a:endParaRPr sz="1800">
                <a:latin typeface="Lexend"/>
                <a:ea typeface="Lexend"/>
                <a:cs typeface="Lexend"/>
                <a:sym typeface="Lexend"/>
              </a:endParaRPr>
            </a:p>
          </p:txBody>
        </p:sp>
      </p:grpSp>
      <p:sp>
        <p:nvSpPr>
          <p:cNvPr id="783" name="Google Shape;783;p6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pic>
        <p:nvPicPr>
          <p:cNvPr id="784" name="Google Shape;784;p67"/>
          <p:cNvPicPr preferRelativeResize="0"/>
          <p:nvPr/>
        </p:nvPicPr>
        <p:blipFill>
          <a:blip r:embed="rId3">
            <a:alphaModFix/>
          </a:blip>
          <a:stretch>
            <a:fillRect/>
          </a:stretch>
        </p:blipFill>
        <p:spPr>
          <a:xfrm>
            <a:off x="416476" y="1479198"/>
            <a:ext cx="629125" cy="706174"/>
          </a:xfrm>
          <a:prstGeom prst="rect">
            <a:avLst/>
          </a:prstGeom>
          <a:noFill/>
          <a:ln>
            <a:noFill/>
          </a:ln>
        </p:spPr>
      </p:pic>
      <p:pic>
        <p:nvPicPr>
          <p:cNvPr id="785" name="Google Shape;785;p67"/>
          <p:cNvPicPr preferRelativeResize="0"/>
          <p:nvPr/>
        </p:nvPicPr>
        <p:blipFill rotWithShape="1">
          <a:blip r:embed="rId4">
            <a:alphaModFix/>
          </a:blip>
          <a:srcRect b="4760" l="40550" r="0" t="13015"/>
          <a:stretch/>
        </p:blipFill>
        <p:spPr>
          <a:xfrm>
            <a:off x="932200" y="659625"/>
            <a:ext cx="2765501" cy="1430301"/>
          </a:xfrm>
          <a:prstGeom prst="rect">
            <a:avLst/>
          </a:prstGeom>
          <a:noFill/>
          <a:ln>
            <a:noFill/>
          </a:ln>
        </p:spPr>
      </p:pic>
      <p:sp>
        <p:nvSpPr>
          <p:cNvPr id="786" name="Google Shape;786;p67"/>
          <p:cNvSpPr txBox="1"/>
          <p:nvPr/>
        </p:nvSpPr>
        <p:spPr>
          <a:xfrm>
            <a:off x="1152150" y="710722"/>
            <a:ext cx="25122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can create a triangle by joining up some vertices of three squares, like this.</a:t>
            </a:r>
            <a:endParaRPr sz="1800">
              <a:latin typeface="Lexend"/>
              <a:ea typeface="Lexend"/>
              <a:cs typeface="Lexend"/>
              <a:sym typeface="Lexend"/>
            </a:endParaRPr>
          </a:p>
        </p:txBody>
      </p:sp>
      <p:sp>
        <p:nvSpPr>
          <p:cNvPr id="787" name="Google Shape;787;p67"/>
          <p:cNvSpPr txBox="1"/>
          <p:nvPr/>
        </p:nvSpPr>
        <p:spPr>
          <a:xfrm>
            <a:off x="324001" y="21548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sp>
        <p:nvSpPr>
          <p:cNvPr id="788" name="Google Shape;788;p67"/>
          <p:cNvSpPr/>
          <p:nvPr/>
        </p:nvSpPr>
        <p:spPr>
          <a:xfrm>
            <a:off x="5961236" y="2507684"/>
            <a:ext cx="1272300" cy="1272300"/>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9" name="Google Shape;789;p67"/>
          <p:cNvSpPr/>
          <p:nvPr/>
        </p:nvSpPr>
        <p:spPr>
          <a:xfrm rot="7200681">
            <a:off x="5092361" y="1002647"/>
            <a:ext cx="1272164" cy="127216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0" name="Google Shape;790;p67"/>
          <p:cNvSpPr/>
          <p:nvPr/>
        </p:nvSpPr>
        <p:spPr>
          <a:xfrm rot="-7199979">
            <a:off x="6830138" y="1002656"/>
            <a:ext cx="1272014" cy="127201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791" name="Google Shape;791;p67"/>
          <p:cNvPicPr preferRelativeResize="0"/>
          <p:nvPr/>
        </p:nvPicPr>
        <p:blipFill rotWithShape="1">
          <a:blip r:embed="rId4">
            <a:alphaModFix/>
          </a:blip>
          <a:srcRect b="4760" l="40550" r="0" t="13015"/>
          <a:stretch/>
        </p:blipFill>
        <p:spPr>
          <a:xfrm>
            <a:off x="932200" y="2672525"/>
            <a:ext cx="2765501" cy="1430301"/>
          </a:xfrm>
          <a:prstGeom prst="rect">
            <a:avLst/>
          </a:prstGeom>
          <a:noFill/>
          <a:ln>
            <a:noFill/>
          </a:ln>
        </p:spPr>
      </p:pic>
      <p:sp>
        <p:nvSpPr>
          <p:cNvPr id="792" name="Google Shape;792;p67"/>
          <p:cNvSpPr txBox="1"/>
          <p:nvPr/>
        </p:nvSpPr>
        <p:spPr>
          <a:xfrm>
            <a:off x="1152150" y="2723622"/>
            <a:ext cx="25122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see it!</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triangle is in that middle space between the squares. </a:t>
            </a:r>
            <a:endParaRPr sz="1800">
              <a:latin typeface="Lexend"/>
              <a:ea typeface="Lexend"/>
              <a:cs typeface="Lexend"/>
              <a:sym typeface="Lexend"/>
            </a:endParaRPr>
          </a:p>
        </p:txBody>
      </p:sp>
      <p:grpSp>
        <p:nvGrpSpPr>
          <p:cNvPr id="793" name="Google Shape;793;p67"/>
          <p:cNvGrpSpPr/>
          <p:nvPr/>
        </p:nvGrpSpPr>
        <p:grpSpPr>
          <a:xfrm>
            <a:off x="969475" y="2586075"/>
            <a:ext cx="2918858" cy="1535700"/>
            <a:chOff x="3962154" y="3284700"/>
            <a:chExt cx="2918858" cy="1535700"/>
          </a:xfrm>
        </p:grpSpPr>
        <p:sp>
          <p:nvSpPr>
            <p:cNvPr id="794" name="Google Shape;794;p67"/>
            <p:cNvSpPr/>
            <p:nvPr/>
          </p:nvSpPr>
          <p:spPr>
            <a:xfrm>
              <a:off x="3998913" y="3284700"/>
              <a:ext cx="2882100" cy="153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795" name="Google Shape;795;p67"/>
            <p:cNvPicPr preferRelativeResize="0"/>
            <p:nvPr/>
          </p:nvPicPr>
          <p:blipFill rotWithShape="1">
            <a:blip r:embed="rId4">
              <a:alphaModFix/>
            </a:blip>
            <a:srcRect b="4760" l="40550" r="0" t="13015"/>
            <a:stretch/>
          </p:blipFill>
          <p:spPr>
            <a:xfrm>
              <a:off x="3962154" y="3674775"/>
              <a:ext cx="1949599" cy="1108200"/>
            </a:xfrm>
            <a:prstGeom prst="rect">
              <a:avLst/>
            </a:prstGeom>
            <a:noFill/>
            <a:ln>
              <a:noFill/>
            </a:ln>
          </p:spPr>
        </p:pic>
        <p:sp>
          <p:nvSpPr>
            <p:cNvPr id="796" name="Google Shape;796;p67"/>
            <p:cNvSpPr txBox="1"/>
            <p:nvPr/>
          </p:nvSpPr>
          <p:spPr>
            <a:xfrm>
              <a:off x="4132579" y="3736525"/>
              <a:ext cx="18456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wonder what type of triangle that is.</a:t>
              </a:r>
              <a:endParaRPr sz="1800">
                <a:latin typeface="Lexend"/>
                <a:ea typeface="Lexend"/>
                <a:cs typeface="Lexend"/>
                <a:sym typeface="Lexend"/>
              </a:endParaRPr>
            </a:p>
          </p:txBody>
        </p:sp>
      </p:grpSp>
      <p:sp>
        <p:nvSpPr>
          <p:cNvPr id="797" name="Google Shape;797;p67"/>
          <p:cNvSpPr txBox="1"/>
          <p:nvPr/>
        </p:nvSpPr>
        <p:spPr>
          <a:xfrm>
            <a:off x="324001" y="43201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798" name="Google Shape;798;p67"/>
          <p:cNvPicPr preferRelativeResize="0"/>
          <p:nvPr/>
        </p:nvPicPr>
        <p:blipFill>
          <a:blip r:embed="rId5">
            <a:alphaModFix/>
          </a:blip>
          <a:stretch>
            <a:fillRect/>
          </a:stretch>
        </p:blipFill>
        <p:spPr>
          <a:xfrm flipH="1">
            <a:off x="416539" y="3624750"/>
            <a:ext cx="629125" cy="725538"/>
          </a:xfrm>
          <a:prstGeom prst="rect">
            <a:avLst/>
          </a:prstGeom>
          <a:noFill/>
          <a:ln>
            <a:noFill/>
          </a:ln>
        </p:spPr>
      </p:pic>
      <p:grpSp>
        <p:nvGrpSpPr>
          <p:cNvPr id="799" name="Google Shape;799;p67"/>
          <p:cNvGrpSpPr/>
          <p:nvPr/>
        </p:nvGrpSpPr>
        <p:grpSpPr>
          <a:xfrm>
            <a:off x="1045600" y="645425"/>
            <a:ext cx="2722650" cy="1430400"/>
            <a:chOff x="4930575" y="3885425"/>
            <a:chExt cx="2722650" cy="1430400"/>
          </a:xfrm>
        </p:grpSpPr>
        <p:sp>
          <p:nvSpPr>
            <p:cNvPr id="800" name="Google Shape;800;p67"/>
            <p:cNvSpPr/>
            <p:nvPr/>
          </p:nvSpPr>
          <p:spPr>
            <a:xfrm>
              <a:off x="4967325" y="3885425"/>
              <a:ext cx="2685900" cy="14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01" name="Google Shape;801;p67"/>
            <p:cNvPicPr preferRelativeResize="0"/>
            <p:nvPr/>
          </p:nvPicPr>
          <p:blipFill rotWithShape="1">
            <a:blip r:embed="rId4">
              <a:alphaModFix/>
            </a:blip>
            <a:srcRect b="4760" l="40550" r="0" t="13015"/>
            <a:stretch/>
          </p:blipFill>
          <p:spPr>
            <a:xfrm>
              <a:off x="4930575" y="4170075"/>
              <a:ext cx="2163901" cy="1108200"/>
            </a:xfrm>
            <a:prstGeom prst="rect">
              <a:avLst/>
            </a:prstGeom>
            <a:noFill/>
            <a:ln>
              <a:noFill/>
            </a:ln>
          </p:spPr>
        </p:pic>
        <p:sp>
          <p:nvSpPr>
            <p:cNvPr id="802" name="Google Shape;802;p67"/>
            <p:cNvSpPr txBox="1"/>
            <p:nvPr/>
          </p:nvSpPr>
          <p:spPr>
            <a:xfrm>
              <a:off x="5100999" y="4231825"/>
              <a:ext cx="18456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Hmm, let me get a protractor to check!</a:t>
              </a:r>
              <a:endParaRPr sz="1800">
                <a:latin typeface="Lexend"/>
                <a:ea typeface="Lexend"/>
                <a:cs typeface="Lexend"/>
                <a:sym typeface="Lexend"/>
              </a:endParaRPr>
            </a:p>
          </p:txBody>
        </p:sp>
      </p:grpSp>
      <p:pic>
        <p:nvPicPr>
          <p:cNvPr id="803" name="Google Shape;803;p67"/>
          <p:cNvPicPr preferRelativeResize="0"/>
          <p:nvPr/>
        </p:nvPicPr>
        <p:blipFill rotWithShape="1">
          <a:blip r:embed="rId6">
            <a:alphaModFix/>
          </a:blip>
          <a:srcRect b="0" l="0" r="0" t="0"/>
          <a:stretch/>
        </p:blipFill>
        <p:spPr>
          <a:xfrm>
            <a:off x="4323607" y="1043334"/>
            <a:ext cx="3266051" cy="1654600"/>
          </a:xfrm>
          <a:prstGeom prst="rect">
            <a:avLst/>
          </a:prstGeom>
          <a:noFill/>
          <a:ln>
            <a:noFill/>
          </a:ln>
        </p:spPr>
      </p:pic>
      <p:pic>
        <p:nvPicPr>
          <p:cNvPr id="804" name="Google Shape;804;p67"/>
          <p:cNvPicPr preferRelativeResize="0"/>
          <p:nvPr/>
        </p:nvPicPr>
        <p:blipFill rotWithShape="1">
          <a:blip r:embed="rId6">
            <a:alphaModFix/>
          </a:blip>
          <a:srcRect b="0" l="0" r="0" t="0"/>
          <a:stretch/>
        </p:blipFill>
        <p:spPr>
          <a:xfrm flipH="1">
            <a:off x="5594864" y="1043334"/>
            <a:ext cx="3266051" cy="1654600"/>
          </a:xfrm>
          <a:prstGeom prst="rect">
            <a:avLst/>
          </a:prstGeom>
          <a:noFill/>
          <a:ln>
            <a:noFill/>
          </a:ln>
        </p:spPr>
      </p:pic>
      <p:grpSp>
        <p:nvGrpSpPr>
          <p:cNvPr id="805" name="Google Shape;805;p67"/>
          <p:cNvGrpSpPr/>
          <p:nvPr/>
        </p:nvGrpSpPr>
        <p:grpSpPr>
          <a:xfrm>
            <a:off x="1045600" y="648352"/>
            <a:ext cx="2722650" cy="1430400"/>
            <a:chOff x="4930575" y="3885425"/>
            <a:chExt cx="2722650" cy="1430400"/>
          </a:xfrm>
        </p:grpSpPr>
        <p:sp>
          <p:nvSpPr>
            <p:cNvPr id="806" name="Google Shape;806;p67"/>
            <p:cNvSpPr/>
            <p:nvPr/>
          </p:nvSpPr>
          <p:spPr>
            <a:xfrm>
              <a:off x="4967325" y="3885425"/>
              <a:ext cx="2685900" cy="14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07" name="Google Shape;807;p67"/>
            <p:cNvPicPr preferRelativeResize="0"/>
            <p:nvPr/>
          </p:nvPicPr>
          <p:blipFill rotWithShape="1">
            <a:blip r:embed="rId4">
              <a:alphaModFix/>
            </a:blip>
            <a:srcRect b="4760" l="40550" r="0" t="13015"/>
            <a:stretch/>
          </p:blipFill>
          <p:spPr>
            <a:xfrm>
              <a:off x="4930575" y="4170075"/>
              <a:ext cx="2163901" cy="1108200"/>
            </a:xfrm>
            <a:prstGeom prst="rect">
              <a:avLst/>
            </a:prstGeom>
            <a:noFill/>
            <a:ln>
              <a:noFill/>
            </a:ln>
          </p:spPr>
        </p:pic>
        <p:sp>
          <p:nvSpPr>
            <p:cNvPr id="808" name="Google Shape;808;p67"/>
            <p:cNvSpPr txBox="1"/>
            <p:nvPr/>
          </p:nvSpPr>
          <p:spPr>
            <a:xfrm>
              <a:off x="5100999" y="4231825"/>
              <a:ext cx="18456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It looks like it’s an equilateral triangle to me.</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7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0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0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grpSp>
        <p:nvGrpSpPr>
          <p:cNvPr id="813" name="Google Shape;813;p68"/>
          <p:cNvGrpSpPr/>
          <p:nvPr/>
        </p:nvGrpSpPr>
        <p:grpSpPr>
          <a:xfrm>
            <a:off x="5449248" y="1997400"/>
            <a:ext cx="1105389" cy="1025700"/>
            <a:chOff x="5754048" y="1997400"/>
            <a:chExt cx="1105389" cy="1025700"/>
          </a:xfrm>
        </p:grpSpPr>
        <p:sp>
          <p:nvSpPr>
            <p:cNvPr id="814" name="Google Shape;814;p68"/>
            <p:cNvSpPr/>
            <p:nvPr/>
          </p:nvSpPr>
          <p:spPr>
            <a:xfrm>
              <a:off x="5754048" y="1997400"/>
              <a:ext cx="1025400" cy="1025700"/>
            </a:xfrm>
            <a:prstGeom prst="arc">
              <a:avLst>
                <a:gd fmla="val 17981128"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5" name="Google Shape;815;p68"/>
            <p:cNvSpPr txBox="1"/>
            <p:nvPr/>
          </p:nvSpPr>
          <p:spPr>
            <a:xfrm>
              <a:off x="6252837" y="2189329"/>
              <a:ext cx="606600" cy="3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60°</a:t>
              </a:r>
              <a:endParaRPr sz="1800">
                <a:latin typeface="Lexend"/>
                <a:ea typeface="Lexend"/>
                <a:cs typeface="Lexend"/>
                <a:sym typeface="Lexend"/>
              </a:endParaRPr>
            </a:p>
          </p:txBody>
        </p:sp>
      </p:grpSp>
      <p:grpSp>
        <p:nvGrpSpPr>
          <p:cNvPr id="816" name="Google Shape;816;p68"/>
          <p:cNvGrpSpPr/>
          <p:nvPr/>
        </p:nvGrpSpPr>
        <p:grpSpPr>
          <a:xfrm flipH="1">
            <a:off x="6629885" y="1997400"/>
            <a:ext cx="1105389" cy="1025700"/>
            <a:chOff x="5754048" y="1997400"/>
            <a:chExt cx="1105389" cy="1025700"/>
          </a:xfrm>
        </p:grpSpPr>
        <p:sp>
          <p:nvSpPr>
            <p:cNvPr id="817" name="Google Shape;817;p68"/>
            <p:cNvSpPr/>
            <p:nvPr/>
          </p:nvSpPr>
          <p:spPr>
            <a:xfrm>
              <a:off x="5754048" y="1997400"/>
              <a:ext cx="1025400" cy="1025700"/>
            </a:xfrm>
            <a:prstGeom prst="arc">
              <a:avLst>
                <a:gd fmla="val 17981128"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8" name="Google Shape;818;p68"/>
            <p:cNvSpPr txBox="1"/>
            <p:nvPr/>
          </p:nvSpPr>
          <p:spPr>
            <a:xfrm>
              <a:off x="6252837" y="2189329"/>
              <a:ext cx="606600" cy="3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60°</a:t>
              </a:r>
              <a:endParaRPr sz="1800">
                <a:latin typeface="Lexend"/>
                <a:ea typeface="Lexend"/>
                <a:cs typeface="Lexend"/>
                <a:sym typeface="Lexend"/>
              </a:endParaRPr>
            </a:p>
          </p:txBody>
        </p:sp>
      </p:grpSp>
      <p:sp>
        <p:nvSpPr>
          <p:cNvPr id="819" name="Google Shape;819;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grpSp>
        <p:nvGrpSpPr>
          <p:cNvPr id="820" name="Google Shape;820;p68"/>
          <p:cNvGrpSpPr/>
          <p:nvPr/>
        </p:nvGrpSpPr>
        <p:grpSpPr>
          <a:xfrm>
            <a:off x="928525" y="2774820"/>
            <a:ext cx="2258573" cy="1108251"/>
            <a:chOff x="4930575" y="3948548"/>
            <a:chExt cx="2258573" cy="1185676"/>
          </a:xfrm>
        </p:grpSpPr>
        <p:pic>
          <p:nvPicPr>
            <p:cNvPr id="821" name="Google Shape;821;p68"/>
            <p:cNvPicPr preferRelativeResize="0"/>
            <p:nvPr/>
          </p:nvPicPr>
          <p:blipFill rotWithShape="1">
            <a:blip r:embed="rId3">
              <a:alphaModFix/>
            </a:blip>
            <a:srcRect b="4760" l="40550" r="0" t="13015"/>
            <a:stretch/>
          </p:blipFill>
          <p:spPr>
            <a:xfrm>
              <a:off x="4930575" y="3948548"/>
              <a:ext cx="2203351" cy="1185676"/>
            </a:xfrm>
            <a:prstGeom prst="rect">
              <a:avLst/>
            </a:prstGeom>
            <a:noFill/>
            <a:ln>
              <a:noFill/>
            </a:ln>
          </p:spPr>
        </p:pic>
        <p:sp>
          <p:nvSpPr>
            <p:cNvPr id="822" name="Google Shape;822;p68"/>
            <p:cNvSpPr txBox="1"/>
            <p:nvPr/>
          </p:nvSpPr>
          <p:spPr>
            <a:xfrm>
              <a:off x="5144948" y="4012720"/>
              <a:ext cx="2044200" cy="88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You’re right, it is an equilateral triangle…</a:t>
              </a:r>
              <a:endParaRPr sz="1800">
                <a:latin typeface="Lexend"/>
                <a:ea typeface="Lexend"/>
                <a:cs typeface="Lexend"/>
                <a:sym typeface="Lexend"/>
              </a:endParaRPr>
            </a:p>
          </p:txBody>
        </p:sp>
      </p:grpSp>
      <p:pic>
        <p:nvPicPr>
          <p:cNvPr id="823" name="Google Shape;823;p68"/>
          <p:cNvPicPr preferRelativeResize="0"/>
          <p:nvPr/>
        </p:nvPicPr>
        <p:blipFill rotWithShape="1">
          <a:blip r:embed="rId3">
            <a:alphaModFix/>
          </a:blip>
          <a:srcRect b="4760" l="40550" r="0" t="13015"/>
          <a:stretch/>
        </p:blipFill>
        <p:spPr>
          <a:xfrm>
            <a:off x="932200" y="659625"/>
            <a:ext cx="2765501" cy="1430301"/>
          </a:xfrm>
          <a:prstGeom prst="rect">
            <a:avLst/>
          </a:prstGeom>
          <a:noFill/>
          <a:ln>
            <a:noFill/>
          </a:ln>
        </p:spPr>
      </p:pic>
      <p:sp>
        <p:nvSpPr>
          <p:cNvPr id="824" name="Google Shape;824;p68"/>
          <p:cNvSpPr txBox="1"/>
          <p:nvPr/>
        </p:nvSpPr>
        <p:spPr>
          <a:xfrm>
            <a:off x="1152150" y="710722"/>
            <a:ext cx="25122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can create a triangle by joining up some vertices of three squares, like this.</a:t>
            </a:r>
            <a:endParaRPr sz="1800">
              <a:latin typeface="Lexend"/>
              <a:ea typeface="Lexend"/>
              <a:cs typeface="Lexend"/>
              <a:sym typeface="Lexend"/>
            </a:endParaRPr>
          </a:p>
        </p:txBody>
      </p:sp>
      <p:sp>
        <p:nvSpPr>
          <p:cNvPr id="825" name="Google Shape;825;p68"/>
          <p:cNvSpPr/>
          <p:nvPr/>
        </p:nvSpPr>
        <p:spPr>
          <a:xfrm>
            <a:off x="5961236" y="2507684"/>
            <a:ext cx="1272300" cy="1272300"/>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6" name="Google Shape;826;p68"/>
          <p:cNvSpPr/>
          <p:nvPr/>
        </p:nvSpPr>
        <p:spPr>
          <a:xfrm rot="7200681">
            <a:off x="5092361" y="1002647"/>
            <a:ext cx="1272164" cy="127216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7" name="Google Shape;827;p68"/>
          <p:cNvSpPr/>
          <p:nvPr/>
        </p:nvSpPr>
        <p:spPr>
          <a:xfrm rot="-7199979">
            <a:off x="6830138" y="1002656"/>
            <a:ext cx="1272014" cy="127201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28" name="Google Shape;828;p68"/>
          <p:cNvGrpSpPr/>
          <p:nvPr/>
        </p:nvGrpSpPr>
        <p:grpSpPr>
          <a:xfrm>
            <a:off x="1045600" y="645425"/>
            <a:ext cx="2722650" cy="1430400"/>
            <a:chOff x="4930575" y="3885425"/>
            <a:chExt cx="2722650" cy="1430400"/>
          </a:xfrm>
        </p:grpSpPr>
        <p:sp>
          <p:nvSpPr>
            <p:cNvPr id="829" name="Google Shape;829;p68"/>
            <p:cNvSpPr/>
            <p:nvPr/>
          </p:nvSpPr>
          <p:spPr>
            <a:xfrm>
              <a:off x="4967325" y="3885425"/>
              <a:ext cx="2685900" cy="14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30" name="Google Shape;830;p68"/>
            <p:cNvPicPr preferRelativeResize="0"/>
            <p:nvPr/>
          </p:nvPicPr>
          <p:blipFill rotWithShape="1">
            <a:blip r:embed="rId3">
              <a:alphaModFix/>
            </a:blip>
            <a:srcRect b="4760" l="40550" r="0" t="13015"/>
            <a:stretch/>
          </p:blipFill>
          <p:spPr>
            <a:xfrm>
              <a:off x="4930575" y="4170075"/>
              <a:ext cx="2163901" cy="1108200"/>
            </a:xfrm>
            <a:prstGeom prst="rect">
              <a:avLst/>
            </a:prstGeom>
            <a:noFill/>
            <a:ln>
              <a:noFill/>
            </a:ln>
          </p:spPr>
        </p:pic>
        <p:sp>
          <p:nvSpPr>
            <p:cNvPr id="831" name="Google Shape;831;p68"/>
            <p:cNvSpPr txBox="1"/>
            <p:nvPr/>
          </p:nvSpPr>
          <p:spPr>
            <a:xfrm>
              <a:off x="5100999" y="4231825"/>
              <a:ext cx="18456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Hmm, let me get a protractor to check!</a:t>
              </a:r>
              <a:endParaRPr sz="1800">
                <a:latin typeface="Lexend"/>
                <a:ea typeface="Lexend"/>
                <a:cs typeface="Lexend"/>
                <a:sym typeface="Lexend"/>
              </a:endParaRPr>
            </a:p>
          </p:txBody>
        </p:sp>
      </p:grpSp>
      <p:grpSp>
        <p:nvGrpSpPr>
          <p:cNvPr id="832" name="Google Shape;832;p68"/>
          <p:cNvGrpSpPr/>
          <p:nvPr/>
        </p:nvGrpSpPr>
        <p:grpSpPr>
          <a:xfrm>
            <a:off x="1045600" y="648352"/>
            <a:ext cx="2722650" cy="1430400"/>
            <a:chOff x="4930575" y="3885425"/>
            <a:chExt cx="2722650" cy="1430400"/>
          </a:xfrm>
        </p:grpSpPr>
        <p:sp>
          <p:nvSpPr>
            <p:cNvPr id="833" name="Google Shape;833;p68"/>
            <p:cNvSpPr/>
            <p:nvPr/>
          </p:nvSpPr>
          <p:spPr>
            <a:xfrm>
              <a:off x="4967325" y="3885425"/>
              <a:ext cx="2685900" cy="14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34" name="Google Shape;834;p68"/>
            <p:cNvPicPr preferRelativeResize="0"/>
            <p:nvPr/>
          </p:nvPicPr>
          <p:blipFill rotWithShape="1">
            <a:blip r:embed="rId3">
              <a:alphaModFix/>
            </a:blip>
            <a:srcRect b="4760" l="40550" r="0" t="13015"/>
            <a:stretch/>
          </p:blipFill>
          <p:spPr>
            <a:xfrm>
              <a:off x="4930575" y="4170075"/>
              <a:ext cx="2163901" cy="1108200"/>
            </a:xfrm>
            <a:prstGeom prst="rect">
              <a:avLst/>
            </a:prstGeom>
            <a:noFill/>
            <a:ln>
              <a:noFill/>
            </a:ln>
          </p:spPr>
        </p:pic>
        <p:sp>
          <p:nvSpPr>
            <p:cNvPr id="835" name="Google Shape;835;p68"/>
            <p:cNvSpPr txBox="1"/>
            <p:nvPr/>
          </p:nvSpPr>
          <p:spPr>
            <a:xfrm>
              <a:off x="5100999" y="4231825"/>
              <a:ext cx="18456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It looks like it’s an equilateral triangle to me.</a:t>
              </a:r>
              <a:endParaRPr sz="1800">
                <a:latin typeface="Lexend"/>
                <a:ea typeface="Lexend"/>
                <a:cs typeface="Lexend"/>
                <a:sym typeface="Lexend"/>
              </a:endParaRPr>
            </a:p>
          </p:txBody>
        </p:sp>
      </p:grpSp>
      <p:grpSp>
        <p:nvGrpSpPr>
          <p:cNvPr id="836" name="Google Shape;836;p68"/>
          <p:cNvGrpSpPr/>
          <p:nvPr/>
        </p:nvGrpSpPr>
        <p:grpSpPr>
          <a:xfrm>
            <a:off x="814539" y="2455828"/>
            <a:ext cx="3630593" cy="1574614"/>
            <a:chOff x="4930575" y="3885423"/>
            <a:chExt cx="3174150" cy="1593900"/>
          </a:xfrm>
        </p:grpSpPr>
        <p:sp>
          <p:nvSpPr>
            <p:cNvPr id="837" name="Google Shape;837;p68"/>
            <p:cNvSpPr/>
            <p:nvPr/>
          </p:nvSpPr>
          <p:spPr>
            <a:xfrm>
              <a:off x="4967325" y="3885423"/>
              <a:ext cx="3137400" cy="1593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38" name="Google Shape;838;p68"/>
            <p:cNvPicPr preferRelativeResize="0"/>
            <p:nvPr/>
          </p:nvPicPr>
          <p:blipFill rotWithShape="1">
            <a:blip r:embed="rId3">
              <a:alphaModFix/>
            </a:blip>
            <a:srcRect b="4760" l="40550" r="0" t="13015"/>
            <a:stretch/>
          </p:blipFill>
          <p:spPr>
            <a:xfrm>
              <a:off x="4930575" y="3948548"/>
              <a:ext cx="3091999" cy="1530774"/>
            </a:xfrm>
            <a:prstGeom prst="rect">
              <a:avLst/>
            </a:prstGeom>
            <a:noFill/>
            <a:ln>
              <a:noFill/>
            </a:ln>
          </p:spPr>
        </p:pic>
        <p:sp>
          <p:nvSpPr>
            <p:cNvPr id="839" name="Google Shape;839;p68"/>
            <p:cNvSpPr txBox="1"/>
            <p:nvPr/>
          </p:nvSpPr>
          <p:spPr>
            <a:xfrm>
              <a:off x="5179515" y="4055811"/>
              <a:ext cx="2825400" cy="112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isn’t that obvious, since all three squares you used are congruent, and so they all have the same area!</a:t>
              </a:r>
              <a:endParaRPr sz="1800">
                <a:latin typeface="Lexend"/>
                <a:ea typeface="Lexend"/>
                <a:cs typeface="Lexend"/>
                <a:sym typeface="Lexend"/>
              </a:endParaRPr>
            </a:p>
          </p:txBody>
        </p:sp>
      </p:grpSp>
      <p:pic>
        <p:nvPicPr>
          <p:cNvPr id="840" name="Google Shape;840;p68"/>
          <p:cNvPicPr preferRelativeResize="0"/>
          <p:nvPr/>
        </p:nvPicPr>
        <p:blipFill>
          <a:blip r:embed="rId4">
            <a:alphaModFix/>
          </a:blip>
          <a:stretch>
            <a:fillRect/>
          </a:stretch>
        </p:blipFill>
        <p:spPr>
          <a:xfrm>
            <a:off x="416476" y="1479198"/>
            <a:ext cx="629125" cy="706174"/>
          </a:xfrm>
          <a:prstGeom prst="rect">
            <a:avLst/>
          </a:prstGeom>
          <a:noFill/>
          <a:ln>
            <a:noFill/>
          </a:ln>
        </p:spPr>
      </p:pic>
      <p:sp>
        <p:nvSpPr>
          <p:cNvPr id="841" name="Google Shape;841;p68"/>
          <p:cNvSpPr txBox="1"/>
          <p:nvPr/>
        </p:nvSpPr>
        <p:spPr>
          <a:xfrm>
            <a:off x="324001" y="21548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sp>
        <p:nvSpPr>
          <p:cNvPr id="842" name="Google Shape;842;p68"/>
          <p:cNvSpPr txBox="1"/>
          <p:nvPr/>
        </p:nvSpPr>
        <p:spPr>
          <a:xfrm>
            <a:off x="324001" y="43963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843" name="Google Shape;843;p68"/>
          <p:cNvPicPr preferRelativeResize="0"/>
          <p:nvPr/>
        </p:nvPicPr>
        <p:blipFill>
          <a:blip r:embed="rId5">
            <a:alphaModFix/>
          </a:blip>
          <a:stretch>
            <a:fillRect/>
          </a:stretch>
        </p:blipFill>
        <p:spPr>
          <a:xfrm>
            <a:off x="416476" y="3633132"/>
            <a:ext cx="629124" cy="823977"/>
          </a:xfrm>
          <a:prstGeom prst="rect">
            <a:avLst/>
          </a:prstGeom>
          <a:noFill/>
          <a:ln>
            <a:noFill/>
          </a:ln>
        </p:spPr>
      </p:pic>
      <p:grpSp>
        <p:nvGrpSpPr>
          <p:cNvPr id="844" name="Google Shape;844;p68"/>
          <p:cNvGrpSpPr/>
          <p:nvPr/>
        </p:nvGrpSpPr>
        <p:grpSpPr>
          <a:xfrm>
            <a:off x="996935" y="617025"/>
            <a:ext cx="3362387" cy="1530900"/>
            <a:chOff x="4930575" y="3948543"/>
            <a:chExt cx="3174160" cy="1530900"/>
          </a:xfrm>
        </p:grpSpPr>
        <p:sp>
          <p:nvSpPr>
            <p:cNvPr id="845" name="Google Shape;845;p68"/>
            <p:cNvSpPr/>
            <p:nvPr/>
          </p:nvSpPr>
          <p:spPr>
            <a:xfrm>
              <a:off x="4967335" y="3948543"/>
              <a:ext cx="3137400" cy="1530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46" name="Google Shape;846;p68"/>
            <p:cNvPicPr preferRelativeResize="0"/>
            <p:nvPr/>
          </p:nvPicPr>
          <p:blipFill rotWithShape="1">
            <a:blip r:embed="rId3">
              <a:alphaModFix/>
            </a:blip>
            <a:srcRect b="4760" l="40550" r="0" t="13015"/>
            <a:stretch/>
          </p:blipFill>
          <p:spPr>
            <a:xfrm>
              <a:off x="4930575" y="3948548"/>
              <a:ext cx="3091999" cy="1530774"/>
            </a:xfrm>
            <a:prstGeom prst="rect">
              <a:avLst/>
            </a:prstGeom>
            <a:noFill/>
            <a:ln>
              <a:noFill/>
            </a:ln>
          </p:spPr>
        </p:pic>
        <p:sp>
          <p:nvSpPr>
            <p:cNvPr id="847" name="Google Shape;847;p68"/>
            <p:cNvSpPr txBox="1"/>
            <p:nvPr/>
          </p:nvSpPr>
          <p:spPr>
            <a:xfrm>
              <a:off x="5179515" y="4048859"/>
              <a:ext cx="28254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Oh, true! I wonder if you can make different triangles with three squares of different areas.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pic>
        <p:nvPicPr>
          <p:cNvPr id="853" name="Google Shape;853;p69"/>
          <p:cNvPicPr preferRelativeResize="0"/>
          <p:nvPr/>
        </p:nvPicPr>
        <p:blipFill>
          <a:blip r:embed="rId3">
            <a:alphaModFix/>
          </a:blip>
          <a:stretch>
            <a:fillRect/>
          </a:stretch>
        </p:blipFill>
        <p:spPr>
          <a:xfrm>
            <a:off x="416476" y="1527744"/>
            <a:ext cx="629125" cy="706174"/>
          </a:xfrm>
          <a:prstGeom prst="rect">
            <a:avLst/>
          </a:prstGeom>
          <a:noFill/>
          <a:ln>
            <a:noFill/>
          </a:ln>
        </p:spPr>
      </p:pic>
      <p:sp>
        <p:nvSpPr>
          <p:cNvPr id="854" name="Google Shape;854;p69"/>
          <p:cNvSpPr txBox="1"/>
          <p:nvPr/>
        </p:nvSpPr>
        <p:spPr>
          <a:xfrm>
            <a:off x="324001" y="2203372"/>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855" name="Google Shape;855;p69"/>
          <p:cNvGrpSpPr/>
          <p:nvPr/>
        </p:nvGrpSpPr>
        <p:grpSpPr>
          <a:xfrm>
            <a:off x="1045417" y="600684"/>
            <a:ext cx="3330461" cy="1498840"/>
            <a:chOff x="4930575" y="4170075"/>
            <a:chExt cx="2163901" cy="1108200"/>
          </a:xfrm>
        </p:grpSpPr>
        <p:pic>
          <p:nvPicPr>
            <p:cNvPr id="856" name="Google Shape;856;p69"/>
            <p:cNvPicPr preferRelativeResize="0"/>
            <p:nvPr/>
          </p:nvPicPr>
          <p:blipFill rotWithShape="1">
            <a:blip r:embed="rId4">
              <a:alphaModFix/>
            </a:blip>
            <a:srcRect b="4760" l="40550" r="0" t="13015"/>
            <a:stretch/>
          </p:blipFill>
          <p:spPr>
            <a:xfrm>
              <a:off x="4930575" y="4170075"/>
              <a:ext cx="2163901" cy="1108200"/>
            </a:xfrm>
            <a:prstGeom prst="rect">
              <a:avLst/>
            </a:prstGeom>
            <a:noFill/>
            <a:ln>
              <a:noFill/>
            </a:ln>
          </p:spPr>
        </p:pic>
        <p:sp>
          <p:nvSpPr>
            <p:cNvPr id="857" name="Google Shape;857;p69"/>
            <p:cNvSpPr txBox="1"/>
            <p:nvPr/>
          </p:nvSpPr>
          <p:spPr>
            <a:xfrm>
              <a:off x="5100997" y="4231832"/>
              <a:ext cx="1957200" cy="8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This triangle is made from two squares with an area of 20 cm², and one square with an area of 4 cm².</a:t>
              </a:r>
              <a:endParaRPr sz="1800">
                <a:latin typeface="Lexend"/>
                <a:ea typeface="Lexend"/>
                <a:cs typeface="Lexend"/>
                <a:sym typeface="Lexend"/>
              </a:endParaRPr>
            </a:p>
          </p:txBody>
        </p:sp>
      </p:grpSp>
      <p:grpSp>
        <p:nvGrpSpPr>
          <p:cNvPr id="858" name="Google Shape;858;p69"/>
          <p:cNvGrpSpPr/>
          <p:nvPr/>
        </p:nvGrpSpPr>
        <p:grpSpPr>
          <a:xfrm>
            <a:off x="5154593" y="810008"/>
            <a:ext cx="3054600" cy="2108717"/>
            <a:chOff x="5154593" y="810008"/>
            <a:chExt cx="3054600" cy="2108717"/>
          </a:xfrm>
        </p:grpSpPr>
        <p:sp>
          <p:nvSpPr>
            <p:cNvPr id="859" name="Google Shape;859;p69"/>
            <p:cNvSpPr/>
            <p:nvPr/>
          </p:nvSpPr>
          <p:spPr>
            <a:xfrm>
              <a:off x="6399475" y="2353825"/>
              <a:ext cx="564900" cy="564900"/>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0" name="Google Shape;860;p69"/>
            <p:cNvSpPr/>
            <p:nvPr/>
          </p:nvSpPr>
          <p:spPr>
            <a:xfrm rot="6184963">
              <a:off x="5282081" y="937496"/>
              <a:ext cx="1272324" cy="127232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1" name="Google Shape;861;p69"/>
            <p:cNvSpPr/>
            <p:nvPr/>
          </p:nvSpPr>
          <p:spPr>
            <a:xfrm flipH="1" rot="-6184963">
              <a:off x="6809381" y="937496"/>
              <a:ext cx="1272324" cy="1272324"/>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62" name="Google Shape;862;p69"/>
          <p:cNvSpPr txBox="1"/>
          <p:nvPr/>
        </p:nvSpPr>
        <p:spPr>
          <a:xfrm>
            <a:off x="720650" y="3509022"/>
            <a:ext cx="3282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1000"/>
              </a:spcAft>
              <a:buClr>
                <a:srgbClr val="000000"/>
              </a:buClr>
              <a:buSzPts val="1800"/>
              <a:buFont typeface="Arial"/>
              <a:buNone/>
            </a:pPr>
            <a:r>
              <a:rPr lang="en-GB" sz="2000">
                <a:latin typeface="Kalam"/>
                <a:ea typeface="Kalam"/>
                <a:cs typeface="Kalam"/>
                <a:sym typeface="Kalam"/>
              </a:rPr>
              <a:t>an isosceles triangle</a:t>
            </a:r>
            <a:endParaRPr sz="2000">
              <a:solidFill>
                <a:srgbClr val="000000"/>
              </a:solidFill>
              <a:latin typeface="Kalam"/>
              <a:ea typeface="Kalam"/>
              <a:cs typeface="Kalam"/>
              <a:sym typeface="Kalam"/>
            </a:endParaRPr>
          </a:p>
        </p:txBody>
      </p:sp>
      <p:sp>
        <p:nvSpPr>
          <p:cNvPr id="863" name="Google Shape;863;p69"/>
          <p:cNvSpPr txBox="1"/>
          <p:nvPr/>
        </p:nvSpPr>
        <p:spPr>
          <a:xfrm>
            <a:off x="416475" y="2977147"/>
            <a:ext cx="43467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What type of triangle has Lucas made?</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grpSp>
        <p:nvGrpSpPr>
          <p:cNvPr id="868" name="Google Shape;868;p70"/>
          <p:cNvGrpSpPr/>
          <p:nvPr/>
        </p:nvGrpSpPr>
        <p:grpSpPr>
          <a:xfrm rot="-4001765">
            <a:off x="6560057" y="783631"/>
            <a:ext cx="1691964" cy="2219043"/>
            <a:chOff x="6517205" y="1044935"/>
            <a:chExt cx="1692000" cy="2219090"/>
          </a:xfrm>
        </p:grpSpPr>
        <p:sp>
          <p:nvSpPr>
            <p:cNvPr id="869" name="Google Shape;869;p70"/>
            <p:cNvSpPr/>
            <p:nvPr/>
          </p:nvSpPr>
          <p:spPr>
            <a:xfrm rot="6185381">
              <a:off x="7433850" y="1115580"/>
              <a:ext cx="704711" cy="704711"/>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0" name="Google Shape;870;p70"/>
            <p:cNvSpPr/>
            <p:nvPr/>
          </p:nvSpPr>
          <p:spPr>
            <a:xfrm flipH="1" rot="-6185381">
              <a:off x="6587850" y="1115580"/>
              <a:ext cx="704711" cy="704711"/>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1" name="Google Shape;871;p70"/>
            <p:cNvSpPr/>
            <p:nvPr/>
          </p:nvSpPr>
          <p:spPr>
            <a:xfrm flipH="1">
              <a:off x="6678000" y="1890925"/>
              <a:ext cx="1373100" cy="1373100"/>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72" name="Google Shape;87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873" name="Google Shape;873;p70"/>
          <p:cNvSpPr txBox="1"/>
          <p:nvPr/>
        </p:nvSpPr>
        <p:spPr>
          <a:xfrm>
            <a:off x="416475" y="650550"/>
            <a:ext cx="4989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What type of triangle is made from these three squares joined at their vertices?</a:t>
            </a:r>
            <a:endParaRPr sz="1800">
              <a:solidFill>
                <a:srgbClr val="000000"/>
              </a:solidFill>
              <a:latin typeface="Lexend"/>
              <a:ea typeface="Lexend"/>
              <a:cs typeface="Lexend"/>
              <a:sym typeface="Lexend"/>
            </a:endParaRPr>
          </a:p>
        </p:txBody>
      </p:sp>
      <p:sp>
        <p:nvSpPr>
          <p:cNvPr id="874" name="Google Shape;874;p70"/>
          <p:cNvSpPr txBox="1"/>
          <p:nvPr/>
        </p:nvSpPr>
        <p:spPr>
          <a:xfrm>
            <a:off x="720650" y="1235997"/>
            <a:ext cx="3282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1000"/>
              </a:spcAft>
              <a:buClr>
                <a:srgbClr val="000000"/>
              </a:buClr>
              <a:buSzPts val="1800"/>
              <a:buFont typeface="Arial"/>
              <a:buNone/>
            </a:pPr>
            <a:r>
              <a:rPr lang="en-GB" sz="2000">
                <a:latin typeface="Kalam"/>
                <a:ea typeface="Kalam"/>
                <a:cs typeface="Kalam"/>
                <a:sym typeface="Kalam"/>
              </a:rPr>
              <a:t>an isosceles triangle</a:t>
            </a:r>
            <a:endParaRPr sz="2000">
              <a:solidFill>
                <a:srgbClr val="000000"/>
              </a:solidFill>
              <a:latin typeface="Kalam"/>
              <a:ea typeface="Kalam"/>
              <a:cs typeface="Kalam"/>
              <a:sym typeface="Kalam"/>
            </a:endParaRPr>
          </a:p>
        </p:txBody>
      </p:sp>
      <p:sp>
        <p:nvSpPr>
          <p:cNvPr id="875" name="Google Shape;875;p70"/>
          <p:cNvSpPr txBox="1"/>
          <p:nvPr/>
        </p:nvSpPr>
        <p:spPr>
          <a:xfrm>
            <a:off x="7333741" y="1923500"/>
            <a:ext cx="9765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18 cm²</a:t>
            </a:r>
            <a:endParaRPr sz="1800">
              <a:solidFill>
                <a:srgbClr val="000000"/>
              </a:solidFill>
              <a:latin typeface="Lexend"/>
              <a:ea typeface="Lexend"/>
              <a:cs typeface="Lexend"/>
              <a:sym typeface="Lexend"/>
            </a:endParaRPr>
          </a:p>
        </p:txBody>
      </p:sp>
      <p:sp>
        <p:nvSpPr>
          <p:cNvPr id="876" name="Google Shape;876;p70"/>
          <p:cNvSpPr txBox="1"/>
          <p:nvPr/>
        </p:nvSpPr>
        <p:spPr>
          <a:xfrm>
            <a:off x="6116923" y="1743925"/>
            <a:ext cx="976500" cy="554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 </a:t>
            </a:r>
            <a:r>
              <a:rPr lang="en-GB" sz="1800">
                <a:latin typeface="Lexend"/>
                <a:ea typeface="Lexend"/>
                <a:cs typeface="Lexend"/>
                <a:sym typeface="Lexend"/>
              </a:rPr>
              <a:t>cm²</a:t>
            </a:r>
            <a:endParaRPr sz="1800">
              <a:solidFill>
                <a:srgbClr val="000000"/>
              </a:solidFill>
              <a:latin typeface="Lexend"/>
              <a:ea typeface="Lexend"/>
              <a:cs typeface="Lexend"/>
              <a:sym typeface="Lexend"/>
            </a:endParaRPr>
          </a:p>
        </p:txBody>
      </p:sp>
      <p:sp>
        <p:nvSpPr>
          <p:cNvPr id="877" name="Google Shape;877;p70"/>
          <p:cNvSpPr txBox="1"/>
          <p:nvPr/>
        </p:nvSpPr>
        <p:spPr>
          <a:xfrm>
            <a:off x="416475" y="1898513"/>
            <a:ext cx="4989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Which of these explanations justifies how you know?</a:t>
            </a:r>
            <a:endParaRPr sz="1800">
              <a:solidFill>
                <a:srgbClr val="000000"/>
              </a:solidFill>
              <a:latin typeface="Lexend"/>
              <a:ea typeface="Lexend"/>
              <a:cs typeface="Lexend"/>
              <a:sym typeface="Lexend"/>
            </a:endParaRPr>
          </a:p>
        </p:txBody>
      </p:sp>
      <p:sp>
        <p:nvSpPr>
          <p:cNvPr id="878" name="Google Shape;878;p70"/>
          <p:cNvSpPr txBox="1"/>
          <p:nvPr/>
        </p:nvSpPr>
        <p:spPr>
          <a:xfrm>
            <a:off x="6452838" y="946760"/>
            <a:ext cx="976500" cy="554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 cm²</a:t>
            </a:r>
            <a:endParaRPr sz="1800">
              <a:solidFill>
                <a:srgbClr val="000000"/>
              </a:solidFill>
              <a:latin typeface="Lexend"/>
              <a:ea typeface="Lexend"/>
              <a:cs typeface="Lexend"/>
              <a:sym typeface="Lexend"/>
            </a:endParaRPr>
          </a:p>
        </p:txBody>
      </p:sp>
      <p:sp>
        <p:nvSpPr>
          <p:cNvPr id="879" name="Google Shape;879;p70"/>
          <p:cNvSpPr txBox="1"/>
          <p:nvPr/>
        </p:nvSpPr>
        <p:spPr>
          <a:xfrm>
            <a:off x="1221207" y="2638000"/>
            <a:ext cx="47493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t</a:t>
            </a:r>
            <a:r>
              <a:rPr lang="en-GB" sz="1800">
                <a:latin typeface="Lexend"/>
                <a:ea typeface="Lexend"/>
                <a:cs typeface="Lexend"/>
                <a:sym typeface="Lexend"/>
              </a:rPr>
              <a:t>he square with the largest area is more than double the size of one of the smaller squares</a:t>
            </a:r>
            <a:endParaRPr sz="1800">
              <a:solidFill>
                <a:srgbClr val="000000"/>
              </a:solidFill>
              <a:latin typeface="Lexend"/>
              <a:ea typeface="Lexend"/>
              <a:cs typeface="Lexend"/>
              <a:sym typeface="Lexend"/>
            </a:endParaRPr>
          </a:p>
        </p:txBody>
      </p:sp>
      <p:grpSp>
        <p:nvGrpSpPr>
          <p:cNvPr id="880" name="Google Shape;880;p70"/>
          <p:cNvGrpSpPr/>
          <p:nvPr/>
        </p:nvGrpSpPr>
        <p:grpSpPr>
          <a:xfrm>
            <a:off x="861949" y="2616138"/>
            <a:ext cx="317800" cy="317800"/>
            <a:chOff x="1020916" y="1442088"/>
            <a:chExt cx="457200" cy="457200"/>
          </a:xfrm>
        </p:grpSpPr>
        <p:pic>
          <p:nvPicPr>
            <p:cNvPr id="881" name="Google Shape;881;p7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82" name="Google Shape;882;p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883" name="Google Shape;883;p70"/>
          <p:cNvSpPr txBox="1"/>
          <p:nvPr/>
        </p:nvSpPr>
        <p:spPr>
          <a:xfrm>
            <a:off x="1221200" y="3680225"/>
            <a:ext cx="4749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there are two squares of equal area</a:t>
            </a:r>
            <a:endParaRPr sz="1800">
              <a:solidFill>
                <a:srgbClr val="000000"/>
              </a:solidFill>
              <a:latin typeface="Lexend"/>
              <a:ea typeface="Lexend"/>
              <a:cs typeface="Lexend"/>
              <a:sym typeface="Lexend"/>
            </a:endParaRPr>
          </a:p>
        </p:txBody>
      </p:sp>
      <p:grpSp>
        <p:nvGrpSpPr>
          <p:cNvPr id="884" name="Google Shape;884;p70"/>
          <p:cNvGrpSpPr/>
          <p:nvPr/>
        </p:nvGrpSpPr>
        <p:grpSpPr>
          <a:xfrm>
            <a:off x="861949" y="3658363"/>
            <a:ext cx="317800" cy="317800"/>
            <a:chOff x="1020916" y="1442088"/>
            <a:chExt cx="457200" cy="457200"/>
          </a:xfrm>
        </p:grpSpPr>
        <p:pic>
          <p:nvPicPr>
            <p:cNvPr id="885" name="Google Shape;885;p7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86" name="Google Shape;886;p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887" name="Google Shape;887;p70"/>
          <p:cNvSpPr txBox="1"/>
          <p:nvPr/>
        </p:nvSpPr>
        <p:spPr>
          <a:xfrm>
            <a:off x="1221200" y="4187100"/>
            <a:ext cx="5418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e</a:t>
            </a:r>
            <a:r>
              <a:rPr lang="en-GB" sz="1800">
                <a:latin typeface="Lexend"/>
                <a:ea typeface="Lexend"/>
                <a:cs typeface="Lexend"/>
                <a:sym typeface="Lexend"/>
              </a:rPr>
              <a:t>ach square is made from right angles</a:t>
            </a:r>
            <a:endParaRPr sz="1800">
              <a:solidFill>
                <a:srgbClr val="000000"/>
              </a:solidFill>
              <a:latin typeface="Lexend"/>
              <a:ea typeface="Lexend"/>
              <a:cs typeface="Lexend"/>
              <a:sym typeface="Lexend"/>
            </a:endParaRPr>
          </a:p>
        </p:txBody>
      </p:sp>
      <p:grpSp>
        <p:nvGrpSpPr>
          <p:cNvPr id="888" name="Google Shape;888;p70"/>
          <p:cNvGrpSpPr/>
          <p:nvPr/>
        </p:nvGrpSpPr>
        <p:grpSpPr>
          <a:xfrm>
            <a:off x="861949" y="4165238"/>
            <a:ext cx="317800" cy="317800"/>
            <a:chOff x="1020916" y="1442088"/>
            <a:chExt cx="457200" cy="457200"/>
          </a:xfrm>
        </p:grpSpPr>
        <p:pic>
          <p:nvPicPr>
            <p:cNvPr id="889" name="Google Shape;889;p7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90" name="Google Shape;890;p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891" name="Google Shape;891;p70"/>
          <p:cNvPicPr preferRelativeResize="0"/>
          <p:nvPr/>
        </p:nvPicPr>
        <p:blipFill>
          <a:blip r:embed="rId4">
            <a:alphaModFix/>
          </a:blip>
          <a:stretch>
            <a:fillRect/>
          </a:stretch>
        </p:blipFill>
        <p:spPr>
          <a:xfrm>
            <a:off x="424508" y="36092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1"/>
          <p:cNvSpPr txBox="1"/>
          <p:nvPr/>
        </p:nvSpPr>
        <p:spPr>
          <a:xfrm>
            <a:off x="416475" y="1106525"/>
            <a:ext cx="3240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Clr>
                <a:schemeClr val="dk1"/>
              </a:buClr>
              <a:buSzPts val="1800"/>
              <a:buFont typeface="Arial"/>
              <a:buNone/>
            </a:pPr>
            <a:r>
              <a:rPr lang="en-GB" sz="1800">
                <a:solidFill>
                  <a:schemeClr val="dk1"/>
                </a:solidFill>
                <a:latin typeface="Lexend"/>
                <a:ea typeface="Lexend"/>
                <a:cs typeface="Lexend"/>
                <a:sym typeface="Lexend"/>
              </a:rPr>
              <a:t>What type of triangle is this?</a:t>
            </a:r>
            <a:endParaRPr sz="1800">
              <a:latin typeface="Lexend"/>
              <a:ea typeface="Lexend"/>
              <a:cs typeface="Lexend"/>
              <a:sym typeface="Lexend"/>
            </a:endParaRPr>
          </a:p>
        </p:txBody>
      </p:sp>
      <p:sp>
        <p:nvSpPr>
          <p:cNvPr id="897" name="Google Shape;897;p71"/>
          <p:cNvSpPr txBox="1"/>
          <p:nvPr/>
        </p:nvSpPr>
        <p:spPr>
          <a:xfrm>
            <a:off x="416475" y="650550"/>
            <a:ext cx="6171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The three angles in this triangle are 115°, 30°, and 35°.</a:t>
            </a:r>
            <a:endParaRPr sz="1800">
              <a:latin typeface="Lexend"/>
              <a:ea typeface="Lexend"/>
              <a:cs typeface="Lexend"/>
              <a:sym typeface="Lexend"/>
            </a:endParaRPr>
          </a:p>
        </p:txBody>
      </p:sp>
      <p:grpSp>
        <p:nvGrpSpPr>
          <p:cNvPr id="898" name="Google Shape;898;p71"/>
          <p:cNvGrpSpPr/>
          <p:nvPr/>
        </p:nvGrpSpPr>
        <p:grpSpPr>
          <a:xfrm>
            <a:off x="6256806" y="884988"/>
            <a:ext cx="2323495" cy="3030617"/>
            <a:chOff x="6763981" y="1673888"/>
            <a:chExt cx="2323495" cy="3030617"/>
          </a:xfrm>
        </p:grpSpPr>
        <p:sp>
          <p:nvSpPr>
            <p:cNvPr id="899" name="Google Shape;899;p71"/>
            <p:cNvSpPr/>
            <p:nvPr/>
          </p:nvSpPr>
          <p:spPr>
            <a:xfrm>
              <a:off x="7106856" y="3134904"/>
              <a:ext cx="1569600" cy="1569600"/>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1"/>
            <p:cNvSpPr/>
            <p:nvPr/>
          </p:nvSpPr>
          <p:spPr>
            <a:xfrm flipH="1" rot="-1800170">
              <a:off x="6892861" y="2302231"/>
              <a:ext cx="702540" cy="704139"/>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1" name="Google Shape;901;p71"/>
            <p:cNvSpPr/>
            <p:nvPr/>
          </p:nvSpPr>
          <p:spPr>
            <a:xfrm flipH="1" rot="-4181854">
              <a:off x="7814911" y="1896289"/>
              <a:ext cx="1181928" cy="1016197"/>
            </a:xfrm>
            <a:prstGeom prst="rect">
              <a:avLst/>
            </a:prstGeom>
            <a:solidFill>
              <a:srgbClr val="DACEF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02" name="Google Shape;902;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903" name="Google Shape;903;p71"/>
          <p:cNvSpPr txBox="1"/>
          <p:nvPr/>
        </p:nvSpPr>
        <p:spPr>
          <a:xfrm>
            <a:off x="416475" y="1943500"/>
            <a:ext cx="51141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Clr>
                <a:schemeClr val="dk1"/>
              </a:buClr>
              <a:buSzPts val="1800"/>
              <a:buFont typeface="Arial"/>
              <a:buNone/>
            </a:pPr>
            <a:r>
              <a:rPr lang="en-GB" sz="1800">
                <a:solidFill>
                  <a:schemeClr val="dk1"/>
                </a:solidFill>
                <a:latin typeface="Lexend"/>
                <a:ea typeface="Lexend"/>
                <a:cs typeface="Lexend"/>
                <a:sym typeface="Lexend"/>
              </a:rPr>
              <a:t>What do you know about the three squares from this information?</a:t>
            </a:r>
            <a:endParaRPr sz="1800">
              <a:latin typeface="Lexend"/>
              <a:ea typeface="Lexend"/>
              <a:cs typeface="Lexend"/>
              <a:sym typeface="Lexend"/>
            </a:endParaRPr>
          </a:p>
        </p:txBody>
      </p:sp>
      <p:sp>
        <p:nvSpPr>
          <p:cNvPr id="904" name="Google Shape;904;p71"/>
          <p:cNvSpPr txBox="1"/>
          <p:nvPr/>
        </p:nvSpPr>
        <p:spPr>
          <a:xfrm>
            <a:off x="1221207" y="2714200"/>
            <a:ext cx="4749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t</a:t>
            </a:r>
            <a:r>
              <a:rPr lang="en-GB" sz="1800">
                <a:latin typeface="Lexend"/>
                <a:ea typeface="Lexend"/>
                <a:cs typeface="Lexend"/>
                <a:sym typeface="Lexend"/>
              </a:rPr>
              <a:t>he areas of the three squares are all different</a:t>
            </a:r>
            <a:endParaRPr sz="1800">
              <a:solidFill>
                <a:srgbClr val="000000"/>
              </a:solidFill>
              <a:latin typeface="Lexend"/>
              <a:ea typeface="Lexend"/>
              <a:cs typeface="Lexend"/>
              <a:sym typeface="Lexend"/>
            </a:endParaRPr>
          </a:p>
        </p:txBody>
      </p:sp>
      <p:grpSp>
        <p:nvGrpSpPr>
          <p:cNvPr id="905" name="Google Shape;905;p71"/>
          <p:cNvGrpSpPr/>
          <p:nvPr/>
        </p:nvGrpSpPr>
        <p:grpSpPr>
          <a:xfrm>
            <a:off x="861949" y="2692338"/>
            <a:ext cx="317800" cy="317800"/>
            <a:chOff x="1020916" y="1442088"/>
            <a:chExt cx="457200" cy="457200"/>
          </a:xfrm>
        </p:grpSpPr>
        <p:pic>
          <p:nvPicPr>
            <p:cNvPr id="906" name="Google Shape;906;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07" name="Google Shape;907;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908" name="Google Shape;908;p71"/>
          <p:cNvSpPr txBox="1"/>
          <p:nvPr/>
        </p:nvSpPr>
        <p:spPr>
          <a:xfrm>
            <a:off x="1221200" y="3430550"/>
            <a:ext cx="4749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t</a:t>
            </a:r>
            <a:r>
              <a:rPr lang="en-GB" sz="1800">
                <a:latin typeface="Lexend"/>
                <a:ea typeface="Lexend"/>
                <a:cs typeface="Lexend"/>
                <a:sym typeface="Lexend"/>
              </a:rPr>
              <a:t>he three squares are congruent</a:t>
            </a:r>
            <a:endParaRPr sz="1800">
              <a:solidFill>
                <a:srgbClr val="000000"/>
              </a:solidFill>
              <a:latin typeface="Lexend"/>
              <a:ea typeface="Lexend"/>
              <a:cs typeface="Lexend"/>
              <a:sym typeface="Lexend"/>
            </a:endParaRPr>
          </a:p>
        </p:txBody>
      </p:sp>
      <p:grpSp>
        <p:nvGrpSpPr>
          <p:cNvPr id="909" name="Google Shape;909;p71"/>
          <p:cNvGrpSpPr/>
          <p:nvPr/>
        </p:nvGrpSpPr>
        <p:grpSpPr>
          <a:xfrm>
            <a:off x="861949" y="3408688"/>
            <a:ext cx="317800" cy="317800"/>
            <a:chOff x="1020916" y="1442088"/>
            <a:chExt cx="457200" cy="457200"/>
          </a:xfrm>
        </p:grpSpPr>
        <p:pic>
          <p:nvPicPr>
            <p:cNvPr id="910" name="Google Shape;910;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11" name="Google Shape;911;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912" name="Google Shape;912;p71"/>
          <p:cNvSpPr txBox="1"/>
          <p:nvPr/>
        </p:nvSpPr>
        <p:spPr>
          <a:xfrm>
            <a:off x="1221200" y="3891850"/>
            <a:ext cx="4793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e</a:t>
            </a:r>
            <a:r>
              <a:rPr lang="en-GB" sz="1800">
                <a:latin typeface="Lexend"/>
                <a:ea typeface="Lexend"/>
                <a:cs typeface="Lexend"/>
                <a:sym typeface="Lexend"/>
              </a:rPr>
              <a:t>ach square has a different side length</a:t>
            </a:r>
            <a:endParaRPr sz="1800">
              <a:solidFill>
                <a:srgbClr val="000000"/>
              </a:solidFill>
              <a:latin typeface="Lexend"/>
              <a:ea typeface="Lexend"/>
              <a:cs typeface="Lexend"/>
              <a:sym typeface="Lexend"/>
            </a:endParaRPr>
          </a:p>
        </p:txBody>
      </p:sp>
      <p:grpSp>
        <p:nvGrpSpPr>
          <p:cNvPr id="913" name="Google Shape;913;p71"/>
          <p:cNvGrpSpPr/>
          <p:nvPr/>
        </p:nvGrpSpPr>
        <p:grpSpPr>
          <a:xfrm>
            <a:off x="861949" y="3869988"/>
            <a:ext cx="317800" cy="317800"/>
            <a:chOff x="1020916" y="1442088"/>
            <a:chExt cx="457200" cy="457200"/>
          </a:xfrm>
        </p:grpSpPr>
        <p:pic>
          <p:nvPicPr>
            <p:cNvPr id="914" name="Google Shape;914;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15" name="Google Shape;915;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916" name="Google Shape;916;p71"/>
          <p:cNvPicPr preferRelativeResize="0"/>
          <p:nvPr/>
        </p:nvPicPr>
        <p:blipFill>
          <a:blip r:embed="rId4">
            <a:alphaModFix/>
          </a:blip>
          <a:stretch>
            <a:fillRect/>
          </a:stretch>
        </p:blipFill>
        <p:spPr>
          <a:xfrm>
            <a:off x="424508" y="2641700"/>
            <a:ext cx="396000" cy="419100"/>
          </a:xfrm>
          <a:prstGeom prst="rect">
            <a:avLst/>
          </a:prstGeom>
          <a:noFill/>
          <a:ln>
            <a:noFill/>
          </a:ln>
        </p:spPr>
      </p:pic>
      <p:sp>
        <p:nvSpPr>
          <p:cNvPr id="917" name="Google Shape;917;p71"/>
          <p:cNvSpPr txBox="1"/>
          <p:nvPr/>
        </p:nvSpPr>
        <p:spPr>
          <a:xfrm>
            <a:off x="1221200" y="4371900"/>
            <a:ext cx="4793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each square has the same side length</a:t>
            </a:r>
            <a:endParaRPr sz="1800">
              <a:solidFill>
                <a:srgbClr val="000000"/>
              </a:solidFill>
              <a:latin typeface="Lexend"/>
              <a:ea typeface="Lexend"/>
              <a:cs typeface="Lexend"/>
              <a:sym typeface="Lexend"/>
            </a:endParaRPr>
          </a:p>
        </p:txBody>
      </p:sp>
      <p:grpSp>
        <p:nvGrpSpPr>
          <p:cNvPr id="918" name="Google Shape;918;p71"/>
          <p:cNvGrpSpPr/>
          <p:nvPr/>
        </p:nvGrpSpPr>
        <p:grpSpPr>
          <a:xfrm>
            <a:off x="861949" y="4350038"/>
            <a:ext cx="317800" cy="317800"/>
            <a:chOff x="1020916" y="1442088"/>
            <a:chExt cx="457200" cy="457200"/>
          </a:xfrm>
        </p:grpSpPr>
        <p:pic>
          <p:nvPicPr>
            <p:cNvPr id="919" name="Google Shape;919;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20" name="Google Shape;920;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921" name="Google Shape;921;p71"/>
          <p:cNvSpPr txBox="1"/>
          <p:nvPr/>
        </p:nvSpPr>
        <p:spPr>
          <a:xfrm>
            <a:off x="720650" y="1388397"/>
            <a:ext cx="3282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1000"/>
              </a:spcAft>
              <a:buClr>
                <a:srgbClr val="000000"/>
              </a:buClr>
              <a:buSzPts val="1800"/>
              <a:buFont typeface="Arial"/>
              <a:buNone/>
            </a:pPr>
            <a:r>
              <a:rPr lang="en-GB" sz="2000">
                <a:latin typeface="Kalam"/>
                <a:ea typeface="Kalam"/>
                <a:cs typeface="Kalam"/>
                <a:sym typeface="Kalam"/>
              </a:rPr>
              <a:t>a</a:t>
            </a:r>
            <a:r>
              <a:rPr lang="en-GB" sz="2000">
                <a:latin typeface="Kalam"/>
                <a:ea typeface="Kalam"/>
                <a:cs typeface="Kalam"/>
                <a:sym typeface="Kalam"/>
              </a:rPr>
              <a:t> scalene</a:t>
            </a:r>
            <a:r>
              <a:rPr lang="en-GB" sz="2000">
                <a:latin typeface="Kalam"/>
                <a:ea typeface="Kalam"/>
                <a:cs typeface="Kalam"/>
                <a:sym typeface="Kalam"/>
              </a:rPr>
              <a:t> triangle</a:t>
            </a:r>
            <a:endParaRPr sz="2000">
              <a:solidFill>
                <a:srgbClr val="000000"/>
              </a:solidFill>
              <a:latin typeface="Kalam"/>
              <a:ea typeface="Kalam"/>
              <a:cs typeface="Kalam"/>
              <a:sym typeface="Kalam"/>
            </a:endParaRPr>
          </a:p>
        </p:txBody>
      </p:sp>
      <p:pic>
        <p:nvPicPr>
          <p:cNvPr id="922" name="Google Shape;922;p71"/>
          <p:cNvPicPr preferRelativeResize="0"/>
          <p:nvPr/>
        </p:nvPicPr>
        <p:blipFill>
          <a:blip r:embed="rId4">
            <a:alphaModFix/>
          </a:blip>
          <a:stretch>
            <a:fillRect/>
          </a:stretch>
        </p:blipFill>
        <p:spPr>
          <a:xfrm>
            <a:off x="424508" y="38276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2"/>
          <p:cNvSpPr txBox="1"/>
          <p:nvPr/>
        </p:nvSpPr>
        <p:spPr>
          <a:xfrm>
            <a:off x="324000" y="1641150"/>
            <a:ext cx="6579000" cy="123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Create a triangle by joining the vertices of the squares with areas of 1 unit², </a:t>
            </a:r>
            <a:r>
              <a:rPr lang="en-GB" sz="1800">
                <a:solidFill>
                  <a:schemeClr val="dk1"/>
                </a:solidFill>
                <a:latin typeface="Lexend"/>
                <a:ea typeface="Lexend"/>
                <a:cs typeface="Lexend"/>
                <a:sym typeface="Lexend"/>
              </a:rPr>
              <a:t>3 units², and 5 units². </a:t>
            </a:r>
            <a:endParaRPr sz="1800">
              <a:solidFill>
                <a:schemeClr val="dk1"/>
              </a:solidFill>
              <a:latin typeface="Lexend"/>
              <a:ea typeface="Lexend"/>
              <a:cs typeface="Lexend"/>
              <a:sym typeface="Lexend"/>
            </a:endParaRPr>
          </a:p>
          <a:p>
            <a:pPr indent="0" lvl="0" marL="0" marR="0" rtl="0" algn="l">
              <a:lnSpc>
                <a:spcPct val="100000"/>
              </a:lnSpc>
              <a:spcBef>
                <a:spcPts val="1000"/>
              </a:spcBef>
              <a:spcAft>
                <a:spcPts val="1000"/>
              </a:spcAft>
              <a:buClr>
                <a:srgbClr val="000000"/>
              </a:buClr>
              <a:buSzPts val="1800"/>
              <a:buFont typeface="Arial"/>
              <a:buNone/>
            </a:pPr>
            <a:r>
              <a:rPr lang="en-GB" sz="1800">
                <a:solidFill>
                  <a:schemeClr val="dk1"/>
                </a:solidFill>
                <a:latin typeface="Lexend"/>
                <a:ea typeface="Lexend"/>
                <a:cs typeface="Lexend"/>
                <a:sym typeface="Lexend"/>
              </a:rPr>
              <a:t>Using a protractor, measure the size of each angle in this triangle.</a:t>
            </a:r>
            <a:endParaRPr sz="1800">
              <a:latin typeface="Lexend"/>
              <a:ea typeface="Lexend"/>
              <a:cs typeface="Lexend"/>
              <a:sym typeface="Lexend"/>
            </a:endParaRPr>
          </a:p>
        </p:txBody>
      </p:sp>
      <p:sp>
        <p:nvSpPr>
          <p:cNvPr id="928" name="Google Shape;928;p7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grpSp>
        <p:nvGrpSpPr>
          <p:cNvPr id="929" name="Google Shape;929;p72"/>
          <p:cNvGrpSpPr/>
          <p:nvPr/>
        </p:nvGrpSpPr>
        <p:grpSpPr>
          <a:xfrm>
            <a:off x="6902957" y="1459600"/>
            <a:ext cx="1471230" cy="1718789"/>
            <a:chOff x="7118882" y="1600113"/>
            <a:chExt cx="1471230" cy="1718789"/>
          </a:xfrm>
        </p:grpSpPr>
        <p:pic>
          <p:nvPicPr>
            <p:cNvPr id="930" name="Google Shape;930;p72"/>
            <p:cNvPicPr preferRelativeResize="0"/>
            <p:nvPr/>
          </p:nvPicPr>
          <p:blipFill rotWithShape="1">
            <a:blip r:embed="rId3">
              <a:alphaModFix/>
            </a:blip>
            <a:srcRect b="0" l="46098" r="41111" t="77600"/>
            <a:stretch/>
          </p:blipFill>
          <p:spPr>
            <a:xfrm rot="13">
              <a:off x="7391300" y="2383777"/>
              <a:ext cx="926374" cy="935124"/>
            </a:xfrm>
            <a:prstGeom prst="rect">
              <a:avLst/>
            </a:prstGeom>
            <a:noFill/>
            <a:ln>
              <a:noFill/>
            </a:ln>
          </p:spPr>
        </p:pic>
        <p:pic>
          <p:nvPicPr>
            <p:cNvPr id="931" name="Google Shape;931;p72"/>
            <p:cNvPicPr preferRelativeResize="0"/>
            <p:nvPr/>
          </p:nvPicPr>
          <p:blipFill rotWithShape="1">
            <a:blip r:embed="rId3">
              <a:alphaModFix/>
            </a:blip>
            <a:srcRect b="166" l="20969" r="68888" t="81979"/>
            <a:stretch/>
          </p:blipFill>
          <p:spPr>
            <a:xfrm rot="1499992">
              <a:off x="7732422" y="1720421"/>
              <a:ext cx="734599" cy="745377"/>
            </a:xfrm>
            <a:prstGeom prst="rect">
              <a:avLst/>
            </a:prstGeom>
            <a:noFill/>
            <a:ln>
              <a:noFill/>
            </a:ln>
          </p:spPr>
        </p:pic>
        <p:pic>
          <p:nvPicPr>
            <p:cNvPr id="932" name="Google Shape;932;p72"/>
            <p:cNvPicPr preferRelativeResize="0"/>
            <p:nvPr/>
          </p:nvPicPr>
          <p:blipFill rotWithShape="1">
            <a:blip r:embed="rId3">
              <a:alphaModFix/>
            </a:blip>
            <a:srcRect b="331" l="149" r="93073" t="87685"/>
            <a:stretch/>
          </p:blipFill>
          <p:spPr>
            <a:xfrm rot="-2880008">
              <a:off x="7223548" y="1988696"/>
              <a:ext cx="490845" cy="500224"/>
            </a:xfrm>
            <a:prstGeom prst="rect">
              <a:avLst/>
            </a:prstGeom>
            <a:noFill/>
            <a:ln>
              <a:noFill/>
            </a:ln>
          </p:spPr>
        </p:pic>
      </p:grpSp>
      <p:sp>
        <p:nvSpPr>
          <p:cNvPr id="933" name="Google Shape;933;p72"/>
          <p:cNvSpPr txBox="1"/>
          <p:nvPr/>
        </p:nvSpPr>
        <p:spPr>
          <a:xfrm rot="-2700000">
            <a:off x="6905896" y="1876139"/>
            <a:ext cx="629184" cy="433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1 </a:t>
            </a:r>
            <a:endParaRPr sz="1800">
              <a:latin typeface="Lexend"/>
              <a:ea typeface="Lexend"/>
              <a:cs typeface="Lexend"/>
              <a:sym typeface="Lexend"/>
            </a:endParaRPr>
          </a:p>
        </p:txBody>
      </p:sp>
      <p:sp>
        <p:nvSpPr>
          <p:cNvPr id="934" name="Google Shape;934;p72"/>
          <p:cNvSpPr txBox="1"/>
          <p:nvPr/>
        </p:nvSpPr>
        <p:spPr>
          <a:xfrm rot="1449814">
            <a:off x="7521680" y="1691669"/>
            <a:ext cx="720423" cy="56626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3 </a:t>
            </a:r>
            <a:r>
              <a:rPr lang="en-GB" sz="1600">
                <a:latin typeface="Lexend"/>
                <a:ea typeface="Lexend"/>
                <a:cs typeface="Lexend"/>
                <a:sym typeface="Lexend"/>
              </a:rPr>
              <a:t>units²</a:t>
            </a:r>
            <a:endParaRPr sz="1600">
              <a:latin typeface="Lexend"/>
              <a:ea typeface="Lexend"/>
              <a:cs typeface="Lexend"/>
              <a:sym typeface="Lexend"/>
            </a:endParaRPr>
          </a:p>
        </p:txBody>
      </p:sp>
      <p:sp>
        <p:nvSpPr>
          <p:cNvPr id="935" name="Google Shape;935;p72"/>
          <p:cNvSpPr txBox="1"/>
          <p:nvPr/>
        </p:nvSpPr>
        <p:spPr>
          <a:xfrm>
            <a:off x="324075" y="3550050"/>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2) Explain why you cannot create an equilateral triangle using a combination of the squares you have been given. </a:t>
            </a:r>
            <a:endParaRPr sz="1800">
              <a:latin typeface="Lexend"/>
              <a:ea typeface="Lexend"/>
              <a:cs typeface="Lexend"/>
              <a:sym typeface="Lexend"/>
            </a:endParaRPr>
          </a:p>
        </p:txBody>
      </p:sp>
      <p:sp>
        <p:nvSpPr>
          <p:cNvPr id="936" name="Google Shape;936;p72"/>
          <p:cNvSpPr txBox="1"/>
          <p:nvPr/>
        </p:nvSpPr>
        <p:spPr>
          <a:xfrm>
            <a:off x="7266275" y="2357448"/>
            <a:ext cx="744600" cy="744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5 units²</a:t>
            </a:r>
            <a:endParaRPr sz="1800">
              <a:latin typeface="Lexend"/>
              <a:ea typeface="Lexend"/>
              <a:cs typeface="Lexend"/>
              <a:sym typeface="Lexend"/>
            </a:endParaRPr>
          </a:p>
        </p:txBody>
      </p:sp>
      <p:sp>
        <p:nvSpPr>
          <p:cNvPr id="937" name="Google Shape;937;p72"/>
          <p:cNvSpPr txBox="1"/>
          <p:nvPr/>
        </p:nvSpPr>
        <p:spPr>
          <a:xfrm>
            <a:off x="937050" y="659425"/>
            <a:ext cx="8492700" cy="3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You will need the squares cut out accurately. </a:t>
            </a:r>
            <a:endParaRPr sz="1800">
              <a:solidFill>
                <a:schemeClr val="dk1"/>
              </a:solidFill>
              <a:latin typeface="Lexend"/>
              <a:ea typeface="Lexend"/>
              <a:cs typeface="Lexend"/>
              <a:sym typeface="Lexend"/>
            </a:endParaRPr>
          </a:p>
        </p:txBody>
      </p:sp>
      <p:pic>
        <p:nvPicPr>
          <p:cNvPr id="938" name="Google Shape;938;p72"/>
          <p:cNvPicPr preferRelativeResize="0"/>
          <p:nvPr/>
        </p:nvPicPr>
        <p:blipFill>
          <a:blip r:embed="rId4">
            <a:alphaModFix/>
          </a:blip>
          <a:stretch>
            <a:fillRect/>
          </a:stretch>
        </p:blipFill>
        <p:spPr>
          <a:xfrm rot="1766639">
            <a:off x="6156273" y="598858"/>
            <a:ext cx="682979" cy="692084"/>
          </a:xfrm>
          <a:prstGeom prst="rect">
            <a:avLst/>
          </a:prstGeom>
          <a:noFill/>
          <a:ln>
            <a:noFill/>
          </a:ln>
        </p:spPr>
      </p:pic>
      <p:pic>
        <p:nvPicPr>
          <p:cNvPr id="939" name="Google Shape;939;p72"/>
          <p:cNvPicPr preferRelativeResize="0"/>
          <p:nvPr/>
        </p:nvPicPr>
        <p:blipFill>
          <a:blip r:embed="rId5">
            <a:alphaModFix/>
          </a:blip>
          <a:stretch>
            <a:fillRect/>
          </a:stretch>
        </p:blipFill>
        <p:spPr>
          <a:xfrm>
            <a:off x="6734850" y="967564"/>
            <a:ext cx="382800" cy="382800"/>
          </a:xfrm>
          <a:prstGeom prst="rect">
            <a:avLst/>
          </a:prstGeom>
          <a:noFill/>
          <a:ln>
            <a:noFill/>
          </a:ln>
        </p:spPr>
      </p:pic>
      <p:pic>
        <p:nvPicPr>
          <p:cNvPr id="940" name="Google Shape;940;p72"/>
          <p:cNvPicPr preferRelativeResize="0"/>
          <p:nvPr/>
        </p:nvPicPr>
        <p:blipFill>
          <a:blip r:embed="rId6">
            <a:alphaModFix/>
          </a:blip>
          <a:stretch>
            <a:fillRect/>
          </a:stretch>
        </p:blipFill>
        <p:spPr>
          <a:xfrm>
            <a:off x="323997" y="668337"/>
            <a:ext cx="605824" cy="5531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73"/>
          <p:cNvSpPr txBox="1"/>
          <p:nvPr/>
        </p:nvSpPr>
        <p:spPr>
          <a:xfrm>
            <a:off x="324000" y="3422702"/>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4) Create a triangle that is similar, but not congruent, to a triangle made from squares with areas 21 units², 27 units², 39 units².</a:t>
            </a:r>
            <a:endParaRPr sz="1800">
              <a:solidFill>
                <a:schemeClr val="dk1"/>
              </a:solidFill>
              <a:latin typeface="Lexend"/>
              <a:ea typeface="Lexend"/>
              <a:cs typeface="Lexend"/>
              <a:sym typeface="Lexend"/>
            </a:endParaRPr>
          </a:p>
        </p:txBody>
      </p:sp>
      <p:sp>
        <p:nvSpPr>
          <p:cNvPr id="946" name="Google Shape;946;p7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947" name="Google Shape;947;p73"/>
          <p:cNvSpPr txBox="1"/>
          <p:nvPr/>
        </p:nvSpPr>
        <p:spPr>
          <a:xfrm>
            <a:off x="324000" y="671250"/>
            <a:ext cx="8496000" cy="2455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Two triangles can be created by joining the vertices of the following:</a:t>
            </a:r>
            <a:endParaRPr sz="1800">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rPr lang="en-GB" sz="1800">
                <a:latin typeface="Lexend"/>
                <a:ea typeface="Lexend"/>
                <a:cs typeface="Lexend"/>
                <a:sym typeface="Lexend"/>
              </a:rPr>
              <a:t>              -  squares with areas of 2 units², </a:t>
            </a:r>
            <a:r>
              <a:rPr lang="en-GB" sz="1800">
                <a:solidFill>
                  <a:schemeClr val="dk1"/>
                </a:solidFill>
                <a:latin typeface="Lexend"/>
                <a:ea typeface="Lexend"/>
                <a:cs typeface="Lexend"/>
                <a:sym typeface="Lexend"/>
              </a:rPr>
              <a:t>5 units², 6 units²   (triangle X)</a:t>
            </a:r>
            <a:endParaRPr sz="1800">
              <a:solidFill>
                <a:schemeClr val="dk1"/>
              </a:solidFill>
              <a:latin typeface="Lexend"/>
              <a:ea typeface="Lexend"/>
              <a:cs typeface="Lexend"/>
              <a:sym typeface="Lexend"/>
            </a:endParaRPr>
          </a:p>
          <a:p>
            <a:pPr indent="0" lvl="0" marL="0" rtl="0" algn="l">
              <a:spcBef>
                <a:spcPts val="300"/>
              </a:spcBef>
              <a:spcAft>
                <a:spcPts val="0"/>
              </a:spcAft>
              <a:buClr>
                <a:schemeClr val="dk1"/>
              </a:buClr>
              <a:buSzPts val="1800"/>
              <a:buFont typeface="Arial"/>
              <a:buNone/>
            </a:pPr>
            <a:r>
              <a:rPr lang="en-GB" sz="1800">
                <a:solidFill>
                  <a:schemeClr val="dk1"/>
                </a:solidFill>
                <a:latin typeface="Lexend"/>
                <a:ea typeface="Lexend"/>
                <a:cs typeface="Lexend"/>
                <a:sym typeface="Lexend"/>
              </a:rPr>
              <a:t>              -  squares with areas of 4 units², 10 units², 12 units²   (triangle Y)</a:t>
            </a:r>
            <a:endParaRPr sz="1800">
              <a:solidFill>
                <a:schemeClr val="dk1"/>
              </a:solidFill>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rPr lang="en-GB" sz="1800">
                <a:solidFill>
                  <a:schemeClr val="dk1"/>
                </a:solidFill>
                <a:latin typeface="Lexend"/>
                <a:ea typeface="Lexend"/>
                <a:cs typeface="Lexend"/>
                <a:sym typeface="Lexend"/>
              </a:rPr>
              <a:t>a) Create these two triangles and measure each of their angles with a protractor.</a:t>
            </a:r>
            <a:endParaRPr sz="1800">
              <a:solidFill>
                <a:schemeClr val="dk1"/>
              </a:solidFill>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t/>
            </a:r>
            <a:endParaRPr sz="2100">
              <a:solidFill>
                <a:schemeClr val="dk1"/>
              </a:solidFill>
              <a:latin typeface="Lexend"/>
              <a:ea typeface="Lexend"/>
              <a:cs typeface="Lexend"/>
              <a:sym typeface="Lexend"/>
            </a:endParaRPr>
          </a:p>
          <a:p>
            <a:pPr indent="0" lvl="0" marL="0" marR="0" rtl="0" algn="l">
              <a:lnSpc>
                <a:spcPct val="100000"/>
              </a:lnSpc>
              <a:spcBef>
                <a:spcPts val="300"/>
              </a:spcBef>
              <a:spcAft>
                <a:spcPts val="300"/>
              </a:spcAft>
              <a:buClr>
                <a:srgbClr val="000000"/>
              </a:buClr>
              <a:buSzPts val="1800"/>
              <a:buFont typeface="Arial"/>
              <a:buNone/>
            </a:pPr>
            <a:r>
              <a:rPr lang="en-GB" sz="1800">
                <a:solidFill>
                  <a:schemeClr val="dk1"/>
                </a:solidFill>
                <a:latin typeface="Lexend"/>
                <a:ea typeface="Lexend"/>
                <a:cs typeface="Lexend"/>
                <a:sym typeface="Lexend"/>
              </a:rPr>
              <a:t>b) Write down what you notice about the angles between each of these triangles. Can you explain your observations?</a:t>
            </a:r>
            <a:endParaRPr sz="18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7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953" name="Google Shape;953;p74"/>
          <p:cNvSpPr txBox="1"/>
          <p:nvPr/>
        </p:nvSpPr>
        <p:spPr>
          <a:xfrm>
            <a:off x="324000" y="671250"/>
            <a:ext cx="8496000" cy="322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 Create 3 isosceles triangles from the following:</a:t>
            </a:r>
            <a:endParaRPr sz="1800">
              <a:latin typeface="Lexend"/>
              <a:ea typeface="Lexend"/>
              <a:cs typeface="Lexend"/>
              <a:sym typeface="Lexend"/>
            </a:endParaRPr>
          </a:p>
          <a:p>
            <a:pPr indent="0" lvl="0" marL="0" marR="0" rtl="0" algn="l">
              <a:lnSpc>
                <a:spcPct val="100000"/>
              </a:lnSpc>
              <a:spcBef>
                <a:spcPts val="100"/>
              </a:spcBef>
              <a:spcAft>
                <a:spcPts val="0"/>
              </a:spcAft>
              <a:buClr>
                <a:srgbClr val="000000"/>
              </a:buClr>
              <a:buSzPts val="1800"/>
              <a:buFont typeface="Arial"/>
              <a:buNone/>
            </a:pPr>
            <a:r>
              <a:rPr lang="en-GB" sz="1800">
                <a:latin typeface="Lexend"/>
                <a:ea typeface="Lexend"/>
                <a:cs typeface="Lexend"/>
                <a:sym typeface="Lexend"/>
              </a:rPr>
              <a:t>       -  squares with areas of 4 units², </a:t>
            </a:r>
            <a:r>
              <a:rPr lang="en-GB" sz="1800">
                <a:solidFill>
                  <a:schemeClr val="dk1"/>
                </a:solidFill>
                <a:latin typeface="Lexend"/>
                <a:ea typeface="Lexend"/>
                <a:cs typeface="Lexend"/>
                <a:sym typeface="Lexend"/>
              </a:rPr>
              <a:t>4 units², 12 units² (triangle A)</a:t>
            </a:r>
            <a:endParaRPr sz="1800">
              <a:solidFill>
                <a:schemeClr val="dk1"/>
              </a:solidFill>
              <a:latin typeface="Lexend"/>
              <a:ea typeface="Lexend"/>
              <a:cs typeface="Lexend"/>
              <a:sym typeface="Lexend"/>
            </a:endParaRPr>
          </a:p>
          <a:p>
            <a:pPr indent="0" lvl="0" marL="0" rtl="0" algn="l">
              <a:lnSpc>
                <a:spcPct val="100000"/>
              </a:lnSpc>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       -  squares with areas of 6 units², 6 units², 12 units² (triangle B)</a:t>
            </a:r>
            <a:endParaRPr sz="1800">
              <a:solidFill>
                <a:schemeClr val="dk1"/>
              </a:solidFill>
              <a:latin typeface="Lexend"/>
              <a:ea typeface="Lexend"/>
              <a:cs typeface="Lexend"/>
              <a:sym typeface="Lexend"/>
            </a:endParaRPr>
          </a:p>
          <a:p>
            <a:pPr indent="0" lvl="0" marL="0" rtl="0" algn="l">
              <a:lnSpc>
                <a:spcPct val="100000"/>
              </a:lnSpc>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       -  squares with areas of 1 units², 8 units², 8 units² (triangle C)</a:t>
            </a:r>
            <a:endParaRPr sz="1800">
              <a:solidFill>
                <a:schemeClr val="dk1"/>
              </a:solidFill>
              <a:latin typeface="Lexend"/>
              <a:ea typeface="Lexend"/>
              <a:cs typeface="Lexend"/>
              <a:sym typeface="Lexend"/>
            </a:endParaRPr>
          </a:p>
          <a:p>
            <a:pPr indent="0" lvl="0" marL="0" rtl="0" algn="l">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a) Measure the largest angle of each triangle with a protractor.</a:t>
            </a:r>
            <a:br>
              <a:rPr lang="en-GB" sz="1800">
                <a:solidFill>
                  <a:schemeClr val="dk1"/>
                </a:solidFill>
                <a:latin typeface="Lexend"/>
                <a:ea typeface="Lexend"/>
                <a:cs typeface="Lexend"/>
                <a:sym typeface="Lexend"/>
              </a:rPr>
            </a:b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100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 Which triangle has as its largest angle: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an acute angle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 right angle</a:t>
            </a:r>
            <a:endParaRPr b="1"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an obtuse angle</a:t>
            </a:r>
            <a:endParaRPr sz="18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75"/>
          <p:cNvSpPr txBox="1"/>
          <p:nvPr/>
        </p:nvSpPr>
        <p:spPr>
          <a:xfrm>
            <a:off x="3601425" y="796325"/>
            <a:ext cx="5142300" cy="1790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6) </a:t>
            </a:r>
            <a:r>
              <a:rPr lang="en-GB" sz="1800">
                <a:solidFill>
                  <a:schemeClr val="dk1"/>
                </a:solidFill>
                <a:latin typeface="Lexend"/>
                <a:ea typeface="Lexend"/>
                <a:cs typeface="Lexend"/>
                <a:sym typeface="Lexend"/>
              </a:rPr>
              <a:t>Complete the table by joining three squares and writing down whether the largest angle is: acute, obtuse, or right.</a:t>
            </a:r>
            <a:endParaRPr sz="1800">
              <a:solidFill>
                <a:schemeClr val="dk1"/>
              </a:solidFill>
              <a:latin typeface="Lexend"/>
              <a:ea typeface="Lexend"/>
              <a:cs typeface="Lexend"/>
              <a:sym typeface="Lexend"/>
            </a:endParaRPr>
          </a:p>
          <a:p>
            <a:pPr indent="0" lvl="0" marL="0" rtl="0" algn="l">
              <a:spcBef>
                <a:spcPts val="1000"/>
              </a:spcBef>
              <a:spcAft>
                <a:spcPts val="1000"/>
              </a:spcAft>
              <a:buClr>
                <a:schemeClr val="dk1"/>
              </a:buClr>
              <a:buSzPts val="1800"/>
              <a:buFont typeface="Arial"/>
              <a:buNone/>
            </a:pPr>
            <a:r>
              <a:rPr lang="en-GB" sz="1800">
                <a:solidFill>
                  <a:schemeClr val="dk1"/>
                </a:solidFill>
                <a:latin typeface="Lexend"/>
                <a:ea typeface="Lexend"/>
                <a:cs typeface="Lexend"/>
                <a:sym typeface="Lexend"/>
              </a:rPr>
              <a:t>After choosing three squares, can you predict what type of angle you’ll get before you join up the squares?</a:t>
            </a:r>
            <a:endParaRPr sz="1800">
              <a:solidFill>
                <a:schemeClr val="dk1"/>
              </a:solidFill>
              <a:latin typeface="Lexend"/>
              <a:ea typeface="Lexend"/>
              <a:cs typeface="Lexend"/>
              <a:sym typeface="Lexend"/>
            </a:endParaRPr>
          </a:p>
        </p:txBody>
      </p:sp>
      <p:sp>
        <p:nvSpPr>
          <p:cNvPr id="959" name="Google Shape;959;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graphicFrame>
        <p:nvGraphicFramePr>
          <p:cNvPr id="960" name="Google Shape;960;p75"/>
          <p:cNvGraphicFramePr/>
          <p:nvPr/>
        </p:nvGraphicFramePr>
        <p:xfrm>
          <a:off x="324000" y="796325"/>
          <a:ext cx="3000000" cy="3000000"/>
        </p:xfrm>
        <a:graphic>
          <a:graphicData uri="http://schemas.openxmlformats.org/drawingml/2006/table">
            <a:tbl>
              <a:tblPr>
                <a:noFill/>
                <a:tableStyleId>{8315743D-C781-4C17-B280-7E2E4E0B738C}</a:tableStyleId>
              </a:tblPr>
              <a:tblGrid>
                <a:gridCol w="1522800"/>
                <a:gridCol w="1522800"/>
              </a:tblGrid>
              <a:tr h="47017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areas of the three squares</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845AD9"/>
                    </a:solidFill>
                  </a:tcPr>
                </a:tc>
              </a:tr>
              <a:tr h="346325">
                <a:tc>
                  <a:txBody>
                    <a:bodyPr/>
                    <a:lstStyle/>
                    <a:p>
                      <a:pPr indent="0" lvl="0" marL="0" rtl="0" algn="ctr">
                        <a:spcBef>
                          <a:spcPts val="0"/>
                        </a:spcBef>
                        <a:spcAft>
                          <a:spcPts val="0"/>
                        </a:spcAft>
                        <a:buNone/>
                      </a:pPr>
                      <a:r>
                        <a:rPr lang="en-GB" sz="1800">
                          <a:latin typeface="Lexend"/>
                          <a:ea typeface="Lexend"/>
                          <a:cs typeface="Lexend"/>
                          <a:sym typeface="Lexend"/>
                        </a:rPr>
                        <a:t>7, 10, 13</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acute</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325">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4, 5, 11</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r>
              <a:tr h="346325">
                <a:tc>
                  <a:txBody>
                    <a:bodyPr/>
                    <a:lstStyle/>
                    <a:p>
                      <a:pPr indent="0" lvl="0" marL="0" rtl="0" algn="ctr">
                        <a:spcBef>
                          <a:spcPts val="0"/>
                        </a:spcBef>
                        <a:spcAft>
                          <a:spcPts val="0"/>
                        </a:spcAft>
                        <a:buNone/>
                      </a:pPr>
                      <a:r>
                        <a:rPr lang="en-GB" sz="1800">
                          <a:latin typeface="Lexend"/>
                          <a:ea typeface="Lexend"/>
                          <a:cs typeface="Lexend"/>
                          <a:sym typeface="Lexend"/>
                        </a:rPr>
                        <a:t>4, 9, 13</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solidFill>
                      <a:prstDash val="solid"/>
                      <a:round/>
                      <a:headEnd len="sm" w="sm" type="none"/>
                      <a:tailEnd len="sm" w="sm" type="none"/>
                    </a:lnL>
                  </a:tcPr>
                </a:tc>
              </a:tr>
              <a:tr h="3463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solidFill>
                      <a:prstDash val="solid"/>
                      <a:round/>
                      <a:headEnd len="sm" w="sm" type="none"/>
                      <a:tailEnd len="sm" w="sm" type="none"/>
                    </a:lnL>
                  </a:tcPr>
                </a:tc>
              </a:tr>
              <a:tr h="346325">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0" marB="0" marR="0" marL="0" anchor="ctr"/>
                </a:tc>
              </a:tr>
              <a:tr h="346325">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46325">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46325">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46325">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46325">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grpSp>
        <p:nvGrpSpPr>
          <p:cNvPr id="966" name="Google Shape;966;p76"/>
          <p:cNvGrpSpPr/>
          <p:nvPr/>
        </p:nvGrpSpPr>
        <p:grpSpPr>
          <a:xfrm>
            <a:off x="6826757" y="650538"/>
            <a:ext cx="1471230" cy="1718789"/>
            <a:chOff x="7118882" y="1600113"/>
            <a:chExt cx="1471230" cy="1718789"/>
          </a:xfrm>
        </p:grpSpPr>
        <p:pic>
          <p:nvPicPr>
            <p:cNvPr id="967" name="Google Shape;967;p76"/>
            <p:cNvPicPr preferRelativeResize="0"/>
            <p:nvPr/>
          </p:nvPicPr>
          <p:blipFill rotWithShape="1">
            <a:blip r:embed="rId3">
              <a:alphaModFix/>
            </a:blip>
            <a:srcRect b="0" l="46098" r="41111" t="77600"/>
            <a:stretch/>
          </p:blipFill>
          <p:spPr>
            <a:xfrm rot="13">
              <a:off x="7391300" y="2383777"/>
              <a:ext cx="926374" cy="935124"/>
            </a:xfrm>
            <a:prstGeom prst="rect">
              <a:avLst/>
            </a:prstGeom>
            <a:noFill/>
            <a:ln>
              <a:noFill/>
            </a:ln>
          </p:spPr>
        </p:pic>
        <p:pic>
          <p:nvPicPr>
            <p:cNvPr id="968" name="Google Shape;968;p76"/>
            <p:cNvPicPr preferRelativeResize="0"/>
            <p:nvPr/>
          </p:nvPicPr>
          <p:blipFill rotWithShape="1">
            <a:blip r:embed="rId3">
              <a:alphaModFix/>
            </a:blip>
            <a:srcRect b="166" l="20969" r="68888" t="81979"/>
            <a:stretch/>
          </p:blipFill>
          <p:spPr>
            <a:xfrm rot="1499992">
              <a:off x="7732422" y="1720421"/>
              <a:ext cx="734599" cy="745377"/>
            </a:xfrm>
            <a:prstGeom prst="rect">
              <a:avLst/>
            </a:prstGeom>
            <a:noFill/>
            <a:ln>
              <a:noFill/>
            </a:ln>
          </p:spPr>
        </p:pic>
        <p:pic>
          <p:nvPicPr>
            <p:cNvPr id="969" name="Google Shape;969;p76"/>
            <p:cNvPicPr preferRelativeResize="0"/>
            <p:nvPr/>
          </p:nvPicPr>
          <p:blipFill rotWithShape="1">
            <a:blip r:embed="rId3">
              <a:alphaModFix/>
            </a:blip>
            <a:srcRect b="331" l="149" r="93073" t="87685"/>
            <a:stretch/>
          </p:blipFill>
          <p:spPr>
            <a:xfrm rot="-2880008">
              <a:off x="7223548" y="1988696"/>
              <a:ext cx="490845" cy="500224"/>
            </a:xfrm>
            <a:prstGeom prst="rect">
              <a:avLst/>
            </a:prstGeom>
            <a:noFill/>
            <a:ln>
              <a:noFill/>
            </a:ln>
          </p:spPr>
        </p:pic>
      </p:grpSp>
      <p:sp>
        <p:nvSpPr>
          <p:cNvPr id="970" name="Google Shape;970;p76"/>
          <p:cNvSpPr txBox="1"/>
          <p:nvPr/>
        </p:nvSpPr>
        <p:spPr>
          <a:xfrm>
            <a:off x="7190075" y="1548385"/>
            <a:ext cx="744600" cy="744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5 units²</a:t>
            </a:r>
            <a:endParaRPr sz="1800">
              <a:latin typeface="Lexend"/>
              <a:ea typeface="Lexend"/>
              <a:cs typeface="Lexend"/>
              <a:sym typeface="Lexend"/>
            </a:endParaRPr>
          </a:p>
        </p:txBody>
      </p:sp>
      <p:sp>
        <p:nvSpPr>
          <p:cNvPr id="971" name="Google Shape;971;p76"/>
          <p:cNvSpPr txBox="1"/>
          <p:nvPr/>
        </p:nvSpPr>
        <p:spPr>
          <a:xfrm>
            <a:off x="324075" y="1988175"/>
            <a:ext cx="34512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a</a:t>
            </a:r>
            <a:r>
              <a:rPr lang="en-GB" sz="2000">
                <a:latin typeface="Kalam"/>
                <a:ea typeface="Kalam"/>
                <a:cs typeface="Kalam"/>
                <a:sym typeface="Kalam"/>
              </a:rPr>
              <a:t>ngles of approximately</a:t>
            </a:r>
            <a:endParaRPr sz="2000">
              <a:latin typeface="Kalam"/>
              <a:ea typeface="Kalam"/>
              <a:cs typeface="Kalam"/>
              <a:sym typeface="Kalam"/>
            </a:endParaRPr>
          </a:p>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25°, 48°, and 107°</a:t>
            </a:r>
            <a:endParaRPr sz="2000">
              <a:latin typeface="Kalam"/>
              <a:ea typeface="Kalam"/>
              <a:cs typeface="Kalam"/>
              <a:sym typeface="Kalam"/>
            </a:endParaRPr>
          </a:p>
        </p:txBody>
      </p:sp>
      <p:sp>
        <p:nvSpPr>
          <p:cNvPr id="972" name="Google Shape;972;p76"/>
          <p:cNvSpPr txBox="1"/>
          <p:nvPr/>
        </p:nvSpPr>
        <p:spPr>
          <a:xfrm>
            <a:off x="324075" y="3780000"/>
            <a:ext cx="81033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There is only a maximum of two copies of each set of congruent squares (squares with the same area), and you need three congruent squares to create an equilateral triangle.</a:t>
            </a:r>
            <a:endParaRPr sz="2000">
              <a:latin typeface="Kalam"/>
              <a:ea typeface="Kalam"/>
              <a:cs typeface="Kalam"/>
              <a:sym typeface="Kalam"/>
            </a:endParaRPr>
          </a:p>
        </p:txBody>
      </p:sp>
      <p:sp>
        <p:nvSpPr>
          <p:cNvPr id="973" name="Google Shape;973;p76"/>
          <p:cNvSpPr txBox="1"/>
          <p:nvPr/>
        </p:nvSpPr>
        <p:spPr>
          <a:xfrm>
            <a:off x="324075" y="3169050"/>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2) With the squares you’ve been given, explain why you cannot create an equilateral triangle.</a:t>
            </a:r>
            <a:endParaRPr sz="1800">
              <a:latin typeface="Lexend"/>
              <a:ea typeface="Lexend"/>
              <a:cs typeface="Lexend"/>
              <a:sym typeface="Lexend"/>
            </a:endParaRPr>
          </a:p>
        </p:txBody>
      </p:sp>
      <p:sp>
        <p:nvSpPr>
          <p:cNvPr id="974" name="Google Shape;974;p76"/>
          <p:cNvSpPr txBox="1"/>
          <p:nvPr/>
        </p:nvSpPr>
        <p:spPr>
          <a:xfrm>
            <a:off x="324000" y="650550"/>
            <a:ext cx="5983200" cy="123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Create a triangle by joining the vertices of squares with area of 1 unit², </a:t>
            </a:r>
            <a:r>
              <a:rPr lang="en-GB" sz="1800">
                <a:solidFill>
                  <a:schemeClr val="dk1"/>
                </a:solidFill>
                <a:latin typeface="Lexend"/>
                <a:ea typeface="Lexend"/>
                <a:cs typeface="Lexend"/>
                <a:sym typeface="Lexend"/>
              </a:rPr>
              <a:t>3 units², and 5 units². </a:t>
            </a:r>
            <a:endParaRPr sz="1800">
              <a:solidFill>
                <a:schemeClr val="dk1"/>
              </a:solidFill>
              <a:latin typeface="Lexend"/>
              <a:ea typeface="Lexend"/>
              <a:cs typeface="Lexend"/>
              <a:sym typeface="Lexend"/>
            </a:endParaRPr>
          </a:p>
          <a:p>
            <a:pPr indent="0" lvl="0" marL="0" marR="0" rtl="0" algn="l">
              <a:lnSpc>
                <a:spcPct val="100000"/>
              </a:lnSpc>
              <a:spcBef>
                <a:spcPts val="1000"/>
              </a:spcBef>
              <a:spcAft>
                <a:spcPts val="1000"/>
              </a:spcAft>
              <a:buClr>
                <a:srgbClr val="000000"/>
              </a:buClr>
              <a:buSzPts val="1800"/>
              <a:buFont typeface="Arial"/>
              <a:buNone/>
            </a:pPr>
            <a:r>
              <a:rPr lang="en-GB" sz="1800">
                <a:solidFill>
                  <a:schemeClr val="dk1"/>
                </a:solidFill>
                <a:latin typeface="Lexend"/>
                <a:ea typeface="Lexend"/>
                <a:cs typeface="Lexend"/>
                <a:sym typeface="Lexend"/>
              </a:rPr>
              <a:t>Using a protractor, measure the size of each angle in this triangle.</a:t>
            </a:r>
            <a:endParaRPr sz="1800">
              <a:latin typeface="Lexend"/>
              <a:ea typeface="Lexend"/>
              <a:cs typeface="Lexend"/>
              <a:sym typeface="Lexend"/>
            </a:endParaRPr>
          </a:p>
        </p:txBody>
      </p:sp>
      <p:sp>
        <p:nvSpPr>
          <p:cNvPr id="975" name="Google Shape;975;p76"/>
          <p:cNvSpPr txBox="1"/>
          <p:nvPr/>
        </p:nvSpPr>
        <p:spPr>
          <a:xfrm rot="-2700000">
            <a:off x="6829696" y="1063339"/>
            <a:ext cx="629184" cy="43359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1 </a:t>
            </a:r>
            <a:endParaRPr sz="1800">
              <a:latin typeface="Lexend"/>
              <a:ea typeface="Lexend"/>
              <a:cs typeface="Lexend"/>
              <a:sym typeface="Lexend"/>
            </a:endParaRPr>
          </a:p>
        </p:txBody>
      </p:sp>
      <p:sp>
        <p:nvSpPr>
          <p:cNvPr id="976" name="Google Shape;976;p76"/>
          <p:cNvSpPr txBox="1"/>
          <p:nvPr/>
        </p:nvSpPr>
        <p:spPr>
          <a:xfrm rot="1449814">
            <a:off x="7445480" y="878869"/>
            <a:ext cx="720423" cy="56626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3 </a:t>
            </a:r>
            <a:r>
              <a:rPr lang="en-GB" sz="1600">
                <a:latin typeface="Lexend"/>
                <a:ea typeface="Lexend"/>
                <a:cs typeface="Lexend"/>
                <a:sym typeface="Lexend"/>
              </a:rPr>
              <a:t>units²</a:t>
            </a:r>
            <a:endParaRPr sz="1600">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77"/>
          <p:cNvSpPr txBox="1"/>
          <p:nvPr/>
        </p:nvSpPr>
        <p:spPr>
          <a:xfrm>
            <a:off x="324000" y="671250"/>
            <a:ext cx="8496000" cy="2455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Two triangles can be created by joining the vertices of the following:</a:t>
            </a:r>
            <a:endParaRPr sz="1800">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rPr lang="en-GB" sz="1800">
                <a:latin typeface="Lexend"/>
                <a:ea typeface="Lexend"/>
                <a:cs typeface="Lexend"/>
                <a:sym typeface="Lexend"/>
              </a:rPr>
              <a:t>              -  squares with areas of 2 units², </a:t>
            </a:r>
            <a:r>
              <a:rPr lang="en-GB" sz="1800">
                <a:solidFill>
                  <a:schemeClr val="dk1"/>
                </a:solidFill>
                <a:latin typeface="Lexend"/>
                <a:ea typeface="Lexend"/>
                <a:cs typeface="Lexend"/>
                <a:sym typeface="Lexend"/>
              </a:rPr>
              <a:t>5 units², 6 units²   (triangle X)</a:t>
            </a:r>
            <a:endParaRPr sz="1800">
              <a:solidFill>
                <a:schemeClr val="dk1"/>
              </a:solidFill>
              <a:latin typeface="Lexend"/>
              <a:ea typeface="Lexend"/>
              <a:cs typeface="Lexend"/>
              <a:sym typeface="Lexend"/>
            </a:endParaRPr>
          </a:p>
          <a:p>
            <a:pPr indent="0" lvl="0" marL="0" rtl="0" algn="l">
              <a:spcBef>
                <a:spcPts val="300"/>
              </a:spcBef>
              <a:spcAft>
                <a:spcPts val="0"/>
              </a:spcAft>
              <a:buClr>
                <a:schemeClr val="dk1"/>
              </a:buClr>
              <a:buSzPts val="1800"/>
              <a:buFont typeface="Arial"/>
              <a:buNone/>
            </a:pPr>
            <a:r>
              <a:rPr lang="en-GB" sz="1800">
                <a:solidFill>
                  <a:schemeClr val="dk1"/>
                </a:solidFill>
                <a:latin typeface="Lexend"/>
                <a:ea typeface="Lexend"/>
                <a:cs typeface="Lexend"/>
                <a:sym typeface="Lexend"/>
              </a:rPr>
              <a:t>              -  squares with areas of 4 units², 10 units², 12 units²   </a:t>
            </a:r>
            <a:r>
              <a:rPr lang="en-GB" sz="1800">
                <a:solidFill>
                  <a:schemeClr val="dk1"/>
                </a:solidFill>
                <a:latin typeface="Lexend"/>
                <a:ea typeface="Lexend"/>
                <a:cs typeface="Lexend"/>
                <a:sym typeface="Lexend"/>
              </a:rPr>
              <a:t>(triangle Y)</a:t>
            </a:r>
            <a:endParaRPr sz="1800">
              <a:solidFill>
                <a:schemeClr val="dk1"/>
              </a:solidFill>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rPr lang="en-GB" sz="1800">
                <a:solidFill>
                  <a:schemeClr val="dk1"/>
                </a:solidFill>
                <a:latin typeface="Lexend"/>
                <a:ea typeface="Lexend"/>
                <a:cs typeface="Lexend"/>
                <a:sym typeface="Lexend"/>
              </a:rPr>
              <a:t>a) Create these two triangles and measure each of their angles with a protractor.</a:t>
            </a:r>
            <a:endParaRPr sz="1800">
              <a:solidFill>
                <a:schemeClr val="dk1"/>
              </a:solidFill>
              <a:latin typeface="Lexend"/>
              <a:ea typeface="Lexend"/>
              <a:cs typeface="Lexend"/>
              <a:sym typeface="Lexend"/>
            </a:endParaRPr>
          </a:p>
          <a:p>
            <a:pPr indent="0" lvl="0" marL="0" marR="0" rtl="0" algn="l">
              <a:lnSpc>
                <a:spcPct val="100000"/>
              </a:lnSpc>
              <a:spcBef>
                <a:spcPts val="300"/>
              </a:spcBef>
              <a:spcAft>
                <a:spcPts val="0"/>
              </a:spcAft>
              <a:buClr>
                <a:srgbClr val="000000"/>
              </a:buClr>
              <a:buSzPts val="1800"/>
              <a:buFont typeface="Arial"/>
              <a:buNone/>
            </a:pPr>
            <a:r>
              <a:t/>
            </a:r>
            <a:endParaRPr sz="2100">
              <a:solidFill>
                <a:schemeClr val="dk1"/>
              </a:solidFill>
              <a:latin typeface="Lexend"/>
              <a:ea typeface="Lexend"/>
              <a:cs typeface="Lexend"/>
              <a:sym typeface="Lexend"/>
            </a:endParaRPr>
          </a:p>
          <a:p>
            <a:pPr indent="0" lvl="0" marL="0" marR="0" rtl="0" algn="l">
              <a:lnSpc>
                <a:spcPct val="100000"/>
              </a:lnSpc>
              <a:spcBef>
                <a:spcPts val="300"/>
              </a:spcBef>
              <a:spcAft>
                <a:spcPts val="300"/>
              </a:spcAft>
              <a:buClr>
                <a:srgbClr val="000000"/>
              </a:buClr>
              <a:buSzPts val="1800"/>
              <a:buFont typeface="Arial"/>
              <a:buNone/>
            </a:pPr>
            <a:r>
              <a:rPr lang="en-GB" sz="1800">
                <a:solidFill>
                  <a:schemeClr val="dk1"/>
                </a:solidFill>
                <a:latin typeface="Lexend"/>
                <a:ea typeface="Lexend"/>
                <a:cs typeface="Lexend"/>
                <a:sym typeface="Lexend"/>
              </a:rPr>
              <a:t>b) Write down what you notice about the angles between each of these triangles. Can you explain your observations?</a:t>
            </a:r>
            <a:endParaRPr sz="1800">
              <a:solidFill>
                <a:schemeClr val="dk1"/>
              </a:solidFill>
              <a:latin typeface="Lexend"/>
              <a:ea typeface="Lexend"/>
              <a:cs typeface="Lexend"/>
              <a:sym typeface="Lexend"/>
            </a:endParaRPr>
          </a:p>
        </p:txBody>
      </p:sp>
      <p:sp>
        <p:nvSpPr>
          <p:cNvPr id="982" name="Google Shape;982;p77"/>
          <p:cNvSpPr txBox="1"/>
          <p:nvPr/>
        </p:nvSpPr>
        <p:spPr>
          <a:xfrm>
            <a:off x="324000" y="3239996"/>
            <a:ext cx="8130900" cy="1200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The triangles are similar to each other as their angles are the same. </a:t>
            </a:r>
            <a:br>
              <a:rPr lang="en-GB" sz="2000">
                <a:latin typeface="Kalam"/>
                <a:ea typeface="Kalam"/>
                <a:cs typeface="Kalam"/>
                <a:sym typeface="Kalam"/>
              </a:rPr>
            </a:br>
            <a:r>
              <a:rPr lang="en-GB" sz="1800">
                <a:latin typeface="Kalam"/>
                <a:ea typeface="Kalam"/>
                <a:cs typeface="Kalam"/>
                <a:sym typeface="Kalam"/>
              </a:rPr>
              <a:t>(Minor differences in measurement may occur due to accuracy of equipment.)</a:t>
            </a:r>
            <a:br>
              <a:rPr lang="en-GB" sz="2000">
                <a:latin typeface="Kalam"/>
                <a:ea typeface="Kalam"/>
                <a:cs typeface="Kalam"/>
                <a:sym typeface="Kalam"/>
              </a:rPr>
            </a:br>
            <a:r>
              <a:rPr lang="en-GB" sz="2000">
                <a:latin typeface="Kalam"/>
                <a:ea typeface="Kalam"/>
                <a:cs typeface="Kalam"/>
                <a:sym typeface="Kalam"/>
              </a:rPr>
              <a:t>Did you notice that the squares that make up triangle Y are twice the area of the squares from triangle X?</a:t>
            </a:r>
            <a:endParaRPr sz="2000">
              <a:latin typeface="Kalam"/>
              <a:ea typeface="Kalam"/>
              <a:cs typeface="Kalam"/>
              <a:sym typeface="Kalam"/>
            </a:endParaRPr>
          </a:p>
        </p:txBody>
      </p:sp>
      <p:sp>
        <p:nvSpPr>
          <p:cNvPr id="983" name="Google Shape;983;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984" name="Google Shape;984;p77"/>
          <p:cNvSpPr txBox="1"/>
          <p:nvPr/>
        </p:nvSpPr>
        <p:spPr>
          <a:xfrm>
            <a:off x="324000" y="2185409"/>
            <a:ext cx="8130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angles of approximately 35°, 64°, and 81° for both triangles</a:t>
            </a:r>
            <a:endParaRPr sz="2000">
              <a:latin typeface="Kalam"/>
              <a:ea typeface="Kalam"/>
              <a:cs typeface="Kalam"/>
              <a:sym typeface="Kala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78"/>
          <p:cNvSpPr txBox="1"/>
          <p:nvPr/>
        </p:nvSpPr>
        <p:spPr>
          <a:xfrm>
            <a:off x="2616300" y="1674900"/>
            <a:ext cx="36405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7 units², 9 units², and 13 units².</a:t>
            </a:r>
            <a:endParaRPr sz="2000">
              <a:latin typeface="Kalam"/>
              <a:ea typeface="Kalam"/>
              <a:cs typeface="Kalam"/>
              <a:sym typeface="Kalam"/>
            </a:endParaRPr>
          </a:p>
        </p:txBody>
      </p:sp>
      <p:sp>
        <p:nvSpPr>
          <p:cNvPr id="990" name="Google Shape;990;p78"/>
          <p:cNvSpPr txBox="1"/>
          <p:nvPr/>
        </p:nvSpPr>
        <p:spPr>
          <a:xfrm>
            <a:off x="324000" y="733750"/>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1000"/>
              </a:spcAft>
              <a:buClr>
                <a:srgbClr val="000000"/>
              </a:buClr>
              <a:buSzPts val="1800"/>
              <a:buFont typeface="Arial"/>
              <a:buNone/>
            </a:pPr>
            <a:r>
              <a:rPr lang="en-GB" sz="1800">
                <a:latin typeface="Lexend"/>
                <a:ea typeface="Lexend"/>
                <a:cs typeface="Lexend"/>
                <a:sym typeface="Lexend"/>
              </a:rPr>
              <a:t>4) Create a triangle that is similar to a triangle made from squares with areas 21 units², 27 units², 39 units². Which squares did you use?</a:t>
            </a:r>
            <a:endParaRPr sz="1800">
              <a:solidFill>
                <a:schemeClr val="dk1"/>
              </a:solidFill>
              <a:latin typeface="Lexend"/>
              <a:ea typeface="Lexend"/>
              <a:cs typeface="Lexend"/>
              <a:sym typeface="Lexend"/>
            </a:endParaRPr>
          </a:p>
        </p:txBody>
      </p:sp>
      <p:sp>
        <p:nvSpPr>
          <p:cNvPr id="991" name="Google Shape;991;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79"/>
          <p:cNvSpPr txBox="1"/>
          <p:nvPr/>
        </p:nvSpPr>
        <p:spPr>
          <a:xfrm>
            <a:off x="324000" y="671250"/>
            <a:ext cx="8496000" cy="363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 Create 3 isosceles triangles from the following squares:</a:t>
            </a:r>
            <a:endParaRPr sz="1800">
              <a:latin typeface="Lexend"/>
              <a:ea typeface="Lexend"/>
              <a:cs typeface="Lexend"/>
              <a:sym typeface="Lexend"/>
            </a:endParaRPr>
          </a:p>
          <a:p>
            <a:pPr indent="0" lvl="0" marL="0" marR="0" rtl="0" algn="l">
              <a:lnSpc>
                <a:spcPct val="100000"/>
              </a:lnSpc>
              <a:spcBef>
                <a:spcPts val="100"/>
              </a:spcBef>
              <a:spcAft>
                <a:spcPts val="0"/>
              </a:spcAft>
              <a:buClr>
                <a:srgbClr val="000000"/>
              </a:buClr>
              <a:buSzPts val="1800"/>
              <a:buFont typeface="Arial"/>
              <a:buNone/>
            </a:pPr>
            <a:r>
              <a:rPr lang="en-GB" sz="1800">
                <a:latin typeface="Lexend"/>
                <a:ea typeface="Lexend"/>
                <a:cs typeface="Lexend"/>
                <a:sym typeface="Lexend"/>
              </a:rPr>
              <a:t>       -  4 units², </a:t>
            </a:r>
            <a:r>
              <a:rPr lang="en-GB" sz="1800">
                <a:solidFill>
                  <a:schemeClr val="dk1"/>
                </a:solidFill>
                <a:latin typeface="Lexend"/>
                <a:ea typeface="Lexend"/>
                <a:cs typeface="Lexend"/>
                <a:sym typeface="Lexend"/>
              </a:rPr>
              <a:t>4 units², 12 units² (triangle A)</a:t>
            </a:r>
            <a:endParaRPr sz="1800">
              <a:solidFill>
                <a:schemeClr val="dk1"/>
              </a:solidFill>
              <a:latin typeface="Lexend"/>
              <a:ea typeface="Lexend"/>
              <a:cs typeface="Lexend"/>
              <a:sym typeface="Lexend"/>
            </a:endParaRPr>
          </a:p>
          <a:p>
            <a:pPr indent="0" lvl="0" marL="0" rtl="0" algn="l">
              <a:lnSpc>
                <a:spcPct val="100000"/>
              </a:lnSpc>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       -  6 units², 6 units², 12 units² (triangle B)</a:t>
            </a:r>
            <a:endParaRPr sz="1800">
              <a:solidFill>
                <a:schemeClr val="dk1"/>
              </a:solidFill>
              <a:latin typeface="Lexend"/>
              <a:ea typeface="Lexend"/>
              <a:cs typeface="Lexend"/>
              <a:sym typeface="Lexend"/>
            </a:endParaRPr>
          </a:p>
          <a:p>
            <a:pPr indent="0" lvl="0" marL="0" rtl="0" algn="l">
              <a:lnSpc>
                <a:spcPct val="100000"/>
              </a:lnSpc>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       -  1 units², 8 units², 8 units² (triangle C)</a:t>
            </a:r>
            <a:endParaRPr sz="1800">
              <a:solidFill>
                <a:schemeClr val="dk1"/>
              </a:solidFill>
              <a:latin typeface="Lexend"/>
              <a:ea typeface="Lexend"/>
              <a:cs typeface="Lexend"/>
              <a:sym typeface="Lexend"/>
            </a:endParaRPr>
          </a:p>
          <a:p>
            <a:pPr indent="0" lvl="0" marL="0" rtl="0" algn="l">
              <a:spcBef>
                <a:spcPts val="100"/>
              </a:spcBef>
              <a:spcAft>
                <a:spcPts val="0"/>
              </a:spcAft>
              <a:buClr>
                <a:schemeClr val="dk1"/>
              </a:buClr>
              <a:buSzPts val="1800"/>
              <a:buFont typeface="Arial"/>
              <a:buNone/>
            </a:pPr>
            <a:r>
              <a:rPr lang="en-GB" sz="1800">
                <a:solidFill>
                  <a:schemeClr val="dk1"/>
                </a:solidFill>
                <a:latin typeface="Lexend"/>
                <a:ea typeface="Lexend"/>
                <a:cs typeface="Lexend"/>
                <a:sym typeface="Lexend"/>
              </a:rPr>
              <a:t>a) </a:t>
            </a:r>
            <a:r>
              <a:rPr lang="en-GB" sz="1800">
                <a:solidFill>
                  <a:schemeClr val="dk1"/>
                </a:solidFill>
                <a:latin typeface="Lexend"/>
                <a:ea typeface="Lexend"/>
                <a:cs typeface="Lexend"/>
                <a:sym typeface="Lexend"/>
              </a:rPr>
              <a:t>Measure the largest angle of each triangle with a protractor.</a:t>
            </a:r>
            <a:br>
              <a:rPr lang="en-GB" sz="1800">
                <a:solidFill>
                  <a:schemeClr val="dk1"/>
                </a:solidFill>
                <a:latin typeface="Lexend"/>
                <a:ea typeface="Lexend"/>
                <a:cs typeface="Lexend"/>
                <a:sym typeface="Lexend"/>
              </a:rPr>
            </a:br>
            <a:endParaRPr sz="1800">
              <a:solidFill>
                <a:schemeClr val="dk1"/>
              </a:solidFill>
              <a:latin typeface="Lexend"/>
              <a:ea typeface="Lexend"/>
              <a:cs typeface="Lexend"/>
              <a:sym typeface="Lexend"/>
            </a:endParaRPr>
          </a:p>
          <a:p>
            <a:pPr indent="0" lvl="0" marL="0" rtl="0" algn="l">
              <a:spcBef>
                <a:spcPts val="1000"/>
              </a:spcBef>
              <a:spcAft>
                <a:spcPts val="0"/>
              </a:spcAft>
              <a:buClr>
                <a:schemeClr val="dk1"/>
              </a:buClr>
              <a:buSzPts val="1800"/>
              <a:buFont typeface="Arial"/>
              <a:buNone/>
            </a:pPr>
            <a:br>
              <a:rPr lang="en-GB" sz="1800">
                <a:solidFill>
                  <a:schemeClr val="dk1"/>
                </a:solidFill>
                <a:latin typeface="Lexend"/>
                <a:ea typeface="Lexend"/>
                <a:cs typeface="Lexend"/>
                <a:sym typeface="Lexend"/>
              </a:rPr>
            </a:br>
            <a:endParaRPr sz="1800">
              <a:solidFill>
                <a:schemeClr val="dk1"/>
              </a:solidFill>
              <a:latin typeface="Lexend"/>
              <a:ea typeface="Lexend"/>
              <a:cs typeface="Lexend"/>
              <a:sym typeface="Lexend"/>
            </a:endParaRPr>
          </a:p>
          <a:p>
            <a:pPr indent="0" lvl="0" marL="0" rtl="0" algn="l">
              <a:spcBef>
                <a:spcPts val="1000"/>
              </a:spcBef>
              <a:spcAft>
                <a:spcPts val="0"/>
              </a:spcAft>
              <a:buClr>
                <a:schemeClr val="dk1"/>
              </a:buClr>
              <a:buSzPts val="1800"/>
              <a:buFont typeface="Arial"/>
              <a:buNone/>
            </a:pPr>
            <a:r>
              <a:rPr lang="en-GB" sz="1800">
                <a:solidFill>
                  <a:schemeClr val="dk1"/>
                </a:solidFill>
                <a:latin typeface="Lexend"/>
                <a:ea typeface="Lexend"/>
                <a:cs typeface="Lexend"/>
                <a:sym typeface="Lexend"/>
              </a:rPr>
              <a:t>b) Which triangle has as its largest angle: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an acute angle?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 right angle?</a:t>
            </a:r>
            <a:endParaRPr b="1"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  an obtuse angle?</a:t>
            </a:r>
            <a:endParaRPr sz="1800">
              <a:solidFill>
                <a:schemeClr val="dk1"/>
              </a:solidFill>
              <a:latin typeface="Lexend"/>
              <a:ea typeface="Lexend"/>
              <a:cs typeface="Lexend"/>
              <a:sym typeface="Lexend"/>
            </a:endParaRPr>
          </a:p>
        </p:txBody>
      </p:sp>
      <p:sp>
        <p:nvSpPr>
          <p:cNvPr id="997" name="Google Shape;997;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998" name="Google Shape;998;p79"/>
          <p:cNvSpPr txBox="1"/>
          <p:nvPr/>
        </p:nvSpPr>
        <p:spPr>
          <a:xfrm>
            <a:off x="2186400" y="2175461"/>
            <a:ext cx="5288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2000">
                <a:solidFill>
                  <a:schemeClr val="dk1"/>
                </a:solidFill>
                <a:latin typeface="Kalam"/>
                <a:ea typeface="Kalam"/>
                <a:cs typeface="Kalam"/>
                <a:sym typeface="Kalam"/>
              </a:rPr>
              <a:t>A</a:t>
            </a:r>
            <a:r>
              <a:rPr lang="en-GB" sz="2000">
                <a:latin typeface="Kalam"/>
                <a:ea typeface="Kalam"/>
                <a:cs typeface="Kalam"/>
                <a:sym typeface="Kalam"/>
              </a:rPr>
              <a:t>: 120°    </a:t>
            </a:r>
            <a:endParaRPr sz="2000">
              <a:solidFill>
                <a:schemeClr val="dk1"/>
              </a:solidFill>
              <a:latin typeface="Kalam"/>
              <a:ea typeface="Kalam"/>
              <a:cs typeface="Kalam"/>
              <a:sym typeface="Kalam"/>
            </a:endParaRPr>
          </a:p>
        </p:txBody>
      </p:sp>
      <p:sp>
        <p:nvSpPr>
          <p:cNvPr id="999" name="Google Shape;999;p79"/>
          <p:cNvSpPr txBox="1"/>
          <p:nvPr/>
        </p:nvSpPr>
        <p:spPr>
          <a:xfrm>
            <a:off x="2186400" y="2884798"/>
            <a:ext cx="5288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2000">
                <a:latin typeface="Kalam"/>
                <a:ea typeface="Kalam"/>
                <a:cs typeface="Kalam"/>
                <a:sym typeface="Kalam"/>
              </a:rPr>
              <a:t>C: </a:t>
            </a:r>
            <a:r>
              <a:rPr lang="en-GB" sz="2000">
                <a:latin typeface="Kalam"/>
                <a:ea typeface="Kalam"/>
                <a:cs typeface="Kalam"/>
                <a:sym typeface="Kalam"/>
              </a:rPr>
              <a:t>80° </a:t>
            </a:r>
            <a:r>
              <a:rPr lang="en-GB" sz="2000">
                <a:latin typeface="Kalam"/>
                <a:ea typeface="Kalam"/>
                <a:cs typeface="Kalam"/>
                <a:sym typeface="Kalam"/>
              </a:rPr>
              <a:t>   </a:t>
            </a:r>
            <a:endParaRPr sz="2000">
              <a:solidFill>
                <a:schemeClr val="dk1"/>
              </a:solidFill>
              <a:latin typeface="Kalam"/>
              <a:ea typeface="Kalam"/>
              <a:cs typeface="Kalam"/>
              <a:sym typeface="Kalam"/>
            </a:endParaRPr>
          </a:p>
        </p:txBody>
      </p:sp>
      <p:sp>
        <p:nvSpPr>
          <p:cNvPr id="1000" name="Google Shape;1000;p79"/>
          <p:cNvSpPr txBox="1"/>
          <p:nvPr/>
        </p:nvSpPr>
        <p:spPr>
          <a:xfrm>
            <a:off x="2186400" y="2530130"/>
            <a:ext cx="5288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2000">
                <a:latin typeface="Kalam"/>
                <a:ea typeface="Kalam"/>
                <a:cs typeface="Kalam"/>
                <a:sym typeface="Kalam"/>
              </a:rPr>
              <a:t>B: </a:t>
            </a:r>
            <a:r>
              <a:rPr lang="en-GB" sz="2000">
                <a:latin typeface="Kalam"/>
                <a:ea typeface="Kalam"/>
                <a:cs typeface="Kalam"/>
                <a:sym typeface="Kalam"/>
              </a:rPr>
              <a:t>90°    </a:t>
            </a:r>
            <a:endParaRPr sz="2000">
              <a:solidFill>
                <a:schemeClr val="dk1"/>
              </a:solidFill>
              <a:latin typeface="Kalam"/>
              <a:ea typeface="Kalam"/>
              <a:cs typeface="Kalam"/>
              <a:sym typeface="Kalam"/>
            </a:endParaRPr>
          </a:p>
        </p:txBody>
      </p:sp>
      <p:sp>
        <p:nvSpPr>
          <p:cNvPr id="1001" name="Google Shape;1001;p79"/>
          <p:cNvSpPr txBox="1"/>
          <p:nvPr/>
        </p:nvSpPr>
        <p:spPr>
          <a:xfrm>
            <a:off x="2972400" y="3770900"/>
            <a:ext cx="3861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a:t>
            </a:r>
            <a:endParaRPr/>
          </a:p>
        </p:txBody>
      </p:sp>
      <p:sp>
        <p:nvSpPr>
          <p:cNvPr id="1002" name="Google Shape;1002;p79"/>
          <p:cNvSpPr txBox="1"/>
          <p:nvPr/>
        </p:nvSpPr>
        <p:spPr>
          <a:xfrm>
            <a:off x="2972400" y="3463100"/>
            <a:ext cx="3861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a:t>
            </a:r>
            <a:endParaRPr/>
          </a:p>
        </p:txBody>
      </p:sp>
      <p:sp>
        <p:nvSpPr>
          <p:cNvPr id="1003" name="Google Shape;1003;p79"/>
          <p:cNvSpPr txBox="1"/>
          <p:nvPr/>
        </p:nvSpPr>
        <p:spPr>
          <a:xfrm>
            <a:off x="2972400" y="4022236"/>
            <a:ext cx="3861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
        <p:nvSpPr>
          <p:cNvPr id="1009" name="Google Shape;1009;p80"/>
          <p:cNvSpPr txBox="1"/>
          <p:nvPr/>
        </p:nvSpPr>
        <p:spPr>
          <a:xfrm>
            <a:off x="324000" y="3329700"/>
            <a:ext cx="30456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Clr>
                <a:schemeClr val="dk1"/>
              </a:buClr>
              <a:buSzPts val="1800"/>
              <a:buFont typeface="Arial"/>
              <a:buNone/>
            </a:pPr>
            <a:r>
              <a:rPr lang="en-GB" sz="2000">
                <a:latin typeface="Kalam"/>
                <a:ea typeface="Kalam"/>
                <a:cs typeface="Kalam"/>
                <a:sym typeface="Kalam"/>
              </a:rPr>
              <a:t>There are many possible triangles that could have been created from different combinations of squares.</a:t>
            </a:r>
            <a:endParaRPr sz="2000">
              <a:solidFill>
                <a:schemeClr val="dk1"/>
              </a:solidFill>
              <a:latin typeface="Kalam"/>
              <a:ea typeface="Kalam"/>
              <a:cs typeface="Kalam"/>
              <a:sym typeface="Kalam"/>
            </a:endParaRPr>
          </a:p>
        </p:txBody>
      </p:sp>
      <p:graphicFrame>
        <p:nvGraphicFramePr>
          <p:cNvPr id="1010" name="Google Shape;1010;p80"/>
          <p:cNvGraphicFramePr/>
          <p:nvPr/>
        </p:nvGraphicFramePr>
        <p:xfrm>
          <a:off x="324000" y="796325"/>
          <a:ext cx="3000000" cy="3000000"/>
        </p:xfrm>
        <a:graphic>
          <a:graphicData uri="http://schemas.openxmlformats.org/drawingml/2006/table">
            <a:tbl>
              <a:tblPr>
                <a:noFill/>
                <a:tableStyleId>{8315743D-C781-4C17-B280-7E2E4E0B738C}</a:tableStyleId>
              </a:tblPr>
              <a:tblGrid>
                <a:gridCol w="1522800"/>
                <a:gridCol w="1522800"/>
              </a:tblGrid>
              <a:tr h="359200">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areas of the three squares</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845AD9"/>
                    </a:solidFill>
                  </a:tcPr>
                </a:tc>
              </a:tr>
              <a:tr h="359200">
                <a:tc>
                  <a:txBody>
                    <a:bodyPr/>
                    <a:lstStyle/>
                    <a:p>
                      <a:pPr indent="0" lvl="0" marL="0" rtl="0" algn="ctr">
                        <a:spcBef>
                          <a:spcPts val="0"/>
                        </a:spcBef>
                        <a:spcAft>
                          <a:spcPts val="0"/>
                        </a:spcAft>
                        <a:buNone/>
                      </a:pPr>
                      <a:r>
                        <a:rPr lang="en-GB" sz="1800">
                          <a:latin typeface="Lexend"/>
                          <a:ea typeface="Lexend"/>
                          <a:cs typeface="Lexend"/>
                          <a:sym typeface="Lexend"/>
                        </a:rPr>
                        <a:t>7, 10, 13</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acute</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9200">
                <a:tc>
                  <a:txBody>
                    <a:bodyPr/>
                    <a:lstStyle/>
                    <a:p>
                      <a:pPr indent="0" lvl="0" marL="0" rtl="0" algn="ctr">
                        <a:spcBef>
                          <a:spcPts val="0"/>
                        </a:spcBef>
                        <a:spcAft>
                          <a:spcPts val="0"/>
                        </a:spcAft>
                        <a:buNone/>
                      </a:pPr>
                      <a:r>
                        <a:rPr lang="en-GB" sz="1800">
                          <a:solidFill>
                            <a:srgbClr val="000000"/>
                          </a:solidFill>
                          <a:latin typeface="Lexend"/>
                          <a:ea typeface="Lexend"/>
                          <a:cs typeface="Lexend"/>
                          <a:sym typeface="Lexend"/>
                        </a:rPr>
                        <a:t>4, 5, 11</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obtuse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r>
              <a:tr h="359200">
                <a:tc>
                  <a:txBody>
                    <a:bodyPr/>
                    <a:lstStyle/>
                    <a:p>
                      <a:pPr indent="0" lvl="0" marL="0" rtl="0" algn="ctr">
                        <a:spcBef>
                          <a:spcPts val="0"/>
                        </a:spcBef>
                        <a:spcAft>
                          <a:spcPts val="0"/>
                        </a:spcAft>
                        <a:buNone/>
                      </a:pPr>
                      <a:r>
                        <a:rPr lang="en-GB" sz="1800">
                          <a:latin typeface="Lexend"/>
                          <a:ea typeface="Lexend"/>
                          <a:cs typeface="Lexend"/>
                          <a:sym typeface="Lexend"/>
                        </a:rPr>
                        <a:t>4, 9, 13</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right 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tcPr>
                </a:tc>
              </a:tr>
              <a:tr h="359200">
                <a:tc>
                  <a:txBody>
                    <a:bodyPr/>
                    <a:lstStyle/>
                    <a:p>
                      <a:pPr indent="0" lvl="0" marL="0" rtl="0" algn="ctr">
                        <a:spcBef>
                          <a:spcPts val="0"/>
                        </a:spcBef>
                        <a:spcAft>
                          <a:spcPts val="0"/>
                        </a:spcAft>
                        <a:buNone/>
                      </a:pPr>
                      <a:r>
                        <a:rPr lang="en-GB" sz="1800">
                          <a:latin typeface="Kalam"/>
                          <a:ea typeface="Kalam"/>
                          <a:cs typeface="Kalam"/>
                          <a:sym typeface="Kalam"/>
                        </a:rPr>
                        <a:t>3, 10, 13</a:t>
                      </a:r>
                      <a:endParaRPr sz="1800">
                        <a:latin typeface="Kalam"/>
                        <a:ea typeface="Kalam"/>
                        <a:cs typeface="Kalam"/>
                        <a:sym typeface="Kalam"/>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r</a:t>
                      </a:r>
                      <a:r>
                        <a:rPr lang="en-GB" sz="1800">
                          <a:latin typeface="Kalam"/>
                          <a:ea typeface="Kalam"/>
                          <a:cs typeface="Kalam"/>
                          <a:sym typeface="Kalam"/>
                        </a:rPr>
                        <a:t>ight angle</a:t>
                      </a:r>
                      <a:endParaRPr sz="1800">
                        <a:latin typeface="Kalam"/>
                        <a:ea typeface="Kalam"/>
                        <a:cs typeface="Kalam"/>
                        <a:sym typeface="Kalam"/>
                      </a:endParaRPr>
                    </a:p>
                  </a:txBody>
                  <a:tcPr marT="0" marB="0" marR="0" marL="0" anchor="ctr"/>
                </a:tc>
              </a:tr>
              <a:tr h="359200">
                <a:tc>
                  <a:txBody>
                    <a:bodyPr/>
                    <a:lstStyle/>
                    <a:p>
                      <a:pPr indent="0" lvl="0" marL="0" rtl="0" algn="ctr">
                        <a:spcBef>
                          <a:spcPts val="0"/>
                        </a:spcBef>
                        <a:spcAft>
                          <a:spcPts val="0"/>
                        </a:spcAft>
                        <a:buNone/>
                      </a:pPr>
                      <a:r>
                        <a:rPr lang="en-GB" sz="1800">
                          <a:latin typeface="Kalam"/>
                          <a:ea typeface="Kalam"/>
                          <a:cs typeface="Kalam"/>
                          <a:sym typeface="Kalam"/>
                        </a:rPr>
                        <a:t>5, 6, 7</a:t>
                      </a:r>
                      <a:endParaRPr sz="18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1800">
                          <a:latin typeface="Kalam"/>
                          <a:ea typeface="Kalam"/>
                          <a:cs typeface="Kalam"/>
                          <a:sym typeface="Kalam"/>
                        </a:rPr>
                        <a:t>acute</a:t>
                      </a:r>
                      <a:endParaRPr sz="1800">
                        <a:latin typeface="Kalam"/>
                        <a:ea typeface="Kalam"/>
                        <a:cs typeface="Kalam"/>
                        <a:sym typeface="Kalam"/>
                      </a:endParaRPr>
                    </a:p>
                  </a:txBody>
                  <a:tcPr marT="0" marB="0" marR="0" marL="0" anchor="ctr"/>
                </a:tc>
              </a:tr>
            </a:tbl>
          </a:graphicData>
        </a:graphic>
      </p:graphicFrame>
      <p:sp>
        <p:nvSpPr>
          <p:cNvPr id="1011" name="Google Shape;1011;p80"/>
          <p:cNvSpPr txBox="1"/>
          <p:nvPr/>
        </p:nvSpPr>
        <p:spPr>
          <a:xfrm>
            <a:off x="3601425" y="796325"/>
            <a:ext cx="5142300" cy="1790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6) </a:t>
            </a:r>
            <a:r>
              <a:rPr lang="en-GB" sz="1800">
                <a:solidFill>
                  <a:schemeClr val="dk1"/>
                </a:solidFill>
                <a:latin typeface="Lexend"/>
                <a:ea typeface="Lexend"/>
                <a:cs typeface="Lexend"/>
                <a:sym typeface="Lexend"/>
              </a:rPr>
              <a:t>Complete the table by joining three squares and writing down whether the largest angle is: acute, obtuse, or right.</a:t>
            </a:r>
            <a:endParaRPr sz="1800">
              <a:solidFill>
                <a:schemeClr val="dk1"/>
              </a:solidFill>
              <a:latin typeface="Lexend"/>
              <a:ea typeface="Lexend"/>
              <a:cs typeface="Lexend"/>
              <a:sym typeface="Lexend"/>
            </a:endParaRPr>
          </a:p>
          <a:p>
            <a:pPr indent="0" lvl="0" marL="0" rtl="0" algn="l">
              <a:spcBef>
                <a:spcPts val="1000"/>
              </a:spcBef>
              <a:spcAft>
                <a:spcPts val="1000"/>
              </a:spcAft>
              <a:buClr>
                <a:schemeClr val="dk1"/>
              </a:buClr>
              <a:buSzPts val="1800"/>
              <a:buFont typeface="Arial"/>
              <a:buNone/>
            </a:pPr>
            <a:r>
              <a:rPr lang="en-GB" sz="1800">
                <a:solidFill>
                  <a:schemeClr val="dk1"/>
                </a:solidFill>
                <a:latin typeface="Lexend"/>
                <a:ea typeface="Lexend"/>
                <a:cs typeface="Lexend"/>
                <a:sym typeface="Lexend"/>
              </a:rPr>
              <a:t>After choosing three squares, can you predict what type of angle you’ll get before you join up the squares?</a:t>
            </a:r>
            <a:endParaRPr sz="1800">
              <a:solidFill>
                <a:schemeClr val="dk1"/>
              </a:solidFill>
              <a:latin typeface="Lexend"/>
              <a:ea typeface="Lexend"/>
              <a:cs typeface="Lexend"/>
              <a:sym typeface="Lexend"/>
            </a:endParaRPr>
          </a:p>
        </p:txBody>
      </p:sp>
      <p:sp>
        <p:nvSpPr>
          <p:cNvPr id="1012" name="Google Shape;1012;p80"/>
          <p:cNvSpPr txBox="1"/>
          <p:nvPr/>
        </p:nvSpPr>
        <p:spPr>
          <a:xfrm>
            <a:off x="4244750" y="2710000"/>
            <a:ext cx="4422600" cy="1359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2000">
                <a:latin typeface="Kalam"/>
                <a:ea typeface="Kalam"/>
                <a:cs typeface="Kalam"/>
                <a:sym typeface="Kalam"/>
              </a:rPr>
              <a:t>Did you come up with a theory for a relationship between the areas and the size of the largest angle?</a:t>
            </a:r>
            <a:endParaRPr sz="2000">
              <a:latin typeface="Kalam"/>
              <a:ea typeface="Kalam"/>
              <a:cs typeface="Kalam"/>
              <a:sym typeface="Kalam"/>
            </a:endParaRPr>
          </a:p>
          <a:p>
            <a:pPr indent="0" lvl="0" marL="0" rtl="0" algn="l">
              <a:spcBef>
                <a:spcPts val="1000"/>
              </a:spcBef>
              <a:spcAft>
                <a:spcPts val="1000"/>
              </a:spcAft>
              <a:buClr>
                <a:schemeClr val="dk1"/>
              </a:buClr>
              <a:buSzPts val="1800"/>
              <a:buFont typeface="Arial"/>
              <a:buNone/>
            </a:pPr>
            <a:r>
              <a:rPr lang="en-GB" sz="2000">
                <a:latin typeface="Kalam"/>
                <a:ea typeface="Kalam"/>
                <a:cs typeface="Kalam"/>
                <a:sym typeface="Kalam"/>
              </a:rPr>
              <a:t>Let’s find out if your theory is correct…</a:t>
            </a:r>
            <a:endParaRPr sz="2000">
              <a:solidFill>
                <a:schemeClr val="dk1"/>
              </a:solidFill>
              <a:latin typeface="Kalam"/>
              <a:ea typeface="Kalam"/>
              <a:cs typeface="Kalam"/>
              <a:sym typeface="Kala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8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018" name="Google Shape;1018;p8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Demonstrating Pythagoras' theorem</a:t>
            </a:r>
            <a:endParaRPr/>
          </a:p>
        </p:txBody>
      </p:sp>
      <p:pic>
        <p:nvPicPr>
          <p:cNvPr id="1019" name="Google Shape;1019;p81"/>
          <p:cNvPicPr preferRelativeResize="0"/>
          <p:nvPr/>
        </p:nvPicPr>
        <p:blipFill>
          <a:blip r:embed="rId3">
            <a:alphaModFix/>
          </a:blip>
          <a:stretch>
            <a:fillRect/>
          </a:stretch>
        </p:blipFill>
        <p:spPr>
          <a:xfrm>
            <a:off x="413150" y="2997251"/>
            <a:ext cx="450575" cy="446750"/>
          </a:xfrm>
          <a:prstGeom prst="rect">
            <a:avLst/>
          </a:prstGeom>
          <a:noFill/>
          <a:ln>
            <a:noFill/>
          </a:ln>
        </p:spPr>
      </p:pic>
      <p:sp>
        <p:nvSpPr>
          <p:cNvPr id="1020" name="Google Shape;1020;p8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triangles from combinations of squares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grpSp>
        <p:nvGrpSpPr>
          <p:cNvPr id="1025" name="Google Shape;1025;p82"/>
          <p:cNvGrpSpPr/>
          <p:nvPr/>
        </p:nvGrpSpPr>
        <p:grpSpPr>
          <a:xfrm>
            <a:off x="6955901" y="721460"/>
            <a:ext cx="922869" cy="1883230"/>
            <a:chOff x="6955901" y="721460"/>
            <a:chExt cx="922869" cy="1883230"/>
          </a:xfrm>
        </p:grpSpPr>
        <p:grpSp>
          <p:nvGrpSpPr>
            <p:cNvPr id="1026" name="Google Shape;1026;p82"/>
            <p:cNvGrpSpPr/>
            <p:nvPr/>
          </p:nvGrpSpPr>
          <p:grpSpPr>
            <a:xfrm>
              <a:off x="6955901" y="1290216"/>
              <a:ext cx="604800" cy="1314475"/>
              <a:chOff x="6955901" y="1121525"/>
              <a:chExt cx="604800" cy="1314475"/>
            </a:xfrm>
          </p:grpSpPr>
          <p:sp>
            <p:nvSpPr>
              <p:cNvPr id="1027" name="Google Shape;1027;p82"/>
              <p:cNvSpPr/>
              <p:nvPr/>
            </p:nvSpPr>
            <p:spPr>
              <a:xfrm rot="10800000">
                <a:off x="6955901" y="1831200"/>
                <a:ext cx="604800" cy="604800"/>
              </a:xfrm>
              <a:prstGeom prst="arc">
                <a:avLst>
                  <a:gd fmla="val 12922373" name="adj1"/>
                  <a:gd fmla="val 20532917"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28" name="Google Shape;1028;p82"/>
              <p:cNvCxnSpPr/>
              <p:nvPr/>
            </p:nvCxnSpPr>
            <p:spPr>
              <a:xfrm flipH="1" rot="10800000">
                <a:off x="7226575" y="1121525"/>
                <a:ext cx="221700" cy="1204500"/>
              </a:xfrm>
              <a:prstGeom prst="straightConnector1">
                <a:avLst/>
              </a:prstGeom>
              <a:noFill/>
              <a:ln cap="flat" cmpd="sng" w="28575">
                <a:solidFill>
                  <a:schemeClr val="accent5"/>
                </a:solidFill>
                <a:prstDash val="solid"/>
                <a:round/>
                <a:headEnd len="med" w="med" type="none"/>
                <a:tailEnd len="med" w="med" type="none"/>
              </a:ln>
            </p:spPr>
          </p:cxnSp>
        </p:grpSp>
        <p:sp>
          <p:nvSpPr>
            <p:cNvPr id="1029" name="Google Shape;1029;p82"/>
            <p:cNvSpPr txBox="1"/>
            <p:nvPr/>
          </p:nvSpPr>
          <p:spPr>
            <a:xfrm>
              <a:off x="7024670" y="721460"/>
              <a:ext cx="8541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obtuse angle</a:t>
              </a:r>
              <a:endParaRPr sz="1800">
                <a:latin typeface="Lexend"/>
                <a:ea typeface="Lexend"/>
                <a:cs typeface="Lexend"/>
                <a:sym typeface="Lexend"/>
              </a:endParaRPr>
            </a:p>
          </p:txBody>
        </p:sp>
      </p:grpSp>
      <p:sp>
        <p:nvSpPr>
          <p:cNvPr id="1030" name="Google Shape;1030;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031" name="Google Shape;1031;p82"/>
          <p:cNvGrpSpPr/>
          <p:nvPr/>
        </p:nvGrpSpPr>
        <p:grpSpPr>
          <a:xfrm>
            <a:off x="655450" y="663150"/>
            <a:ext cx="3626502" cy="1833302"/>
            <a:chOff x="4723803" y="4075038"/>
            <a:chExt cx="2685900" cy="1357800"/>
          </a:xfrm>
        </p:grpSpPr>
        <p:sp>
          <p:nvSpPr>
            <p:cNvPr id="1032" name="Google Shape;1032;p82"/>
            <p:cNvSpPr/>
            <p:nvPr/>
          </p:nvSpPr>
          <p:spPr>
            <a:xfrm>
              <a:off x="4723803" y="4075038"/>
              <a:ext cx="2685900" cy="135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33" name="Google Shape;1033;p82"/>
            <p:cNvPicPr preferRelativeResize="0"/>
            <p:nvPr/>
          </p:nvPicPr>
          <p:blipFill rotWithShape="1">
            <a:blip r:embed="rId3">
              <a:alphaModFix/>
            </a:blip>
            <a:srcRect b="4760" l="40550" r="0" t="13015"/>
            <a:stretch/>
          </p:blipFill>
          <p:spPr>
            <a:xfrm>
              <a:off x="4930568" y="4075038"/>
              <a:ext cx="2231429" cy="1285162"/>
            </a:xfrm>
            <a:prstGeom prst="rect">
              <a:avLst/>
            </a:prstGeom>
            <a:noFill/>
            <a:ln>
              <a:noFill/>
            </a:ln>
          </p:spPr>
        </p:pic>
        <p:sp>
          <p:nvSpPr>
            <p:cNvPr id="1034" name="Google Shape;1034;p82"/>
            <p:cNvSpPr txBox="1"/>
            <p:nvPr/>
          </p:nvSpPr>
          <p:spPr>
            <a:xfrm>
              <a:off x="5108431" y="4116106"/>
              <a:ext cx="2053500" cy="102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So, depending on the squares we choose, we can make different triangles with different types of angles.</a:t>
              </a:r>
              <a:endParaRPr sz="1800">
                <a:latin typeface="Lexend"/>
                <a:ea typeface="Lexend"/>
                <a:cs typeface="Lexend"/>
                <a:sym typeface="Lexend"/>
              </a:endParaRPr>
            </a:p>
          </p:txBody>
        </p:sp>
      </p:grpSp>
      <p:pic>
        <p:nvPicPr>
          <p:cNvPr id="1035" name="Google Shape;1035;p82"/>
          <p:cNvPicPr preferRelativeResize="0"/>
          <p:nvPr/>
        </p:nvPicPr>
        <p:blipFill>
          <a:blip r:embed="rId4">
            <a:alphaModFix/>
          </a:blip>
          <a:stretch>
            <a:fillRect/>
          </a:stretch>
        </p:blipFill>
        <p:spPr>
          <a:xfrm>
            <a:off x="416476" y="1707798"/>
            <a:ext cx="629125" cy="706174"/>
          </a:xfrm>
          <a:prstGeom prst="rect">
            <a:avLst/>
          </a:prstGeom>
          <a:noFill/>
          <a:ln>
            <a:noFill/>
          </a:ln>
        </p:spPr>
      </p:pic>
      <p:sp>
        <p:nvSpPr>
          <p:cNvPr id="1036" name="Google Shape;1036;p82"/>
          <p:cNvSpPr txBox="1"/>
          <p:nvPr/>
        </p:nvSpPr>
        <p:spPr>
          <a:xfrm>
            <a:off x="324001" y="23834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1037" name="Google Shape;1037;p82"/>
          <p:cNvGrpSpPr/>
          <p:nvPr/>
        </p:nvGrpSpPr>
        <p:grpSpPr>
          <a:xfrm>
            <a:off x="918323" y="2601800"/>
            <a:ext cx="3464620" cy="1883277"/>
            <a:chOff x="932200" y="2498909"/>
            <a:chExt cx="2765501" cy="1430301"/>
          </a:xfrm>
        </p:grpSpPr>
        <p:pic>
          <p:nvPicPr>
            <p:cNvPr id="1038" name="Google Shape;1038;p82"/>
            <p:cNvPicPr preferRelativeResize="0"/>
            <p:nvPr/>
          </p:nvPicPr>
          <p:blipFill rotWithShape="1">
            <a:blip r:embed="rId3">
              <a:alphaModFix/>
            </a:blip>
            <a:srcRect b="4760" l="40550" r="0" t="13015"/>
            <a:stretch/>
          </p:blipFill>
          <p:spPr>
            <a:xfrm>
              <a:off x="932200" y="2498909"/>
              <a:ext cx="2765501" cy="1430301"/>
            </a:xfrm>
            <a:prstGeom prst="rect">
              <a:avLst/>
            </a:prstGeom>
            <a:noFill/>
            <a:ln>
              <a:noFill/>
            </a:ln>
          </p:spPr>
        </p:pic>
        <p:sp>
          <p:nvSpPr>
            <p:cNvPr id="1039" name="Google Shape;1039;p82"/>
            <p:cNvSpPr txBox="1"/>
            <p:nvPr/>
          </p:nvSpPr>
          <p:spPr>
            <a:xfrm>
              <a:off x="1152146" y="2583573"/>
              <a:ext cx="2512200" cy="1052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wonder if there’s a pattern in the squares that we choose and the type of angle that’s largest in the triangle!</a:t>
              </a:r>
              <a:endParaRPr sz="1800">
                <a:latin typeface="Lexend"/>
                <a:ea typeface="Lexend"/>
                <a:cs typeface="Lexend"/>
                <a:sym typeface="Lexend"/>
              </a:endParaRPr>
            </a:p>
          </p:txBody>
        </p:sp>
      </p:grpSp>
      <p:sp>
        <p:nvSpPr>
          <p:cNvPr id="1040" name="Google Shape;1040;p82"/>
          <p:cNvSpPr txBox="1"/>
          <p:nvPr/>
        </p:nvSpPr>
        <p:spPr>
          <a:xfrm>
            <a:off x="324001" y="44725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041" name="Google Shape;1041;p82"/>
          <p:cNvPicPr preferRelativeResize="0"/>
          <p:nvPr/>
        </p:nvPicPr>
        <p:blipFill>
          <a:blip r:embed="rId5">
            <a:alphaModFix/>
          </a:blip>
          <a:stretch>
            <a:fillRect/>
          </a:stretch>
        </p:blipFill>
        <p:spPr>
          <a:xfrm flipH="1">
            <a:off x="416539" y="3777150"/>
            <a:ext cx="629125" cy="725538"/>
          </a:xfrm>
          <a:prstGeom prst="rect">
            <a:avLst/>
          </a:prstGeom>
          <a:noFill/>
          <a:ln>
            <a:noFill/>
          </a:ln>
        </p:spPr>
      </p:pic>
      <p:pic>
        <p:nvPicPr>
          <p:cNvPr id="1042" name="Google Shape;1042;p82"/>
          <p:cNvPicPr preferRelativeResize="0"/>
          <p:nvPr/>
        </p:nvPicPr>
        <p:blipFill>
          <a:blip r:embed="rId6">
            <a:alphaModFix/>
          </a:blip>
          <a:stretch>
            <a:fillRect/>
          </a:stretch>
        </p:blipFill>
        <p:spPr>
          <a:xfrm>
            <a:off x="5295826" y="782191"/>
            <a:ext cx="3076757" cy="4054501"/>
          </a:xfrm>
          <a:prstGeom prst="rect">
            <a:avLst/>
          </a:prstGeom>
          <a:noFill/>
          <a:ln>
            <a:noFill/>
          </a:ln>
        </p:spPr>
      </p:pic>
      <p:sp>
        <p:nvSpPr>
          <p:cNvPr id="1043" name="Google Shape;1043;p82"/>
          <p:cNvSpPr txBox="1"/>
          <p:nvPr/>
        </p:nvSpPr>
        <p:spPr>
          <a:xfrm>
            <a:off x="5848610" y="2728290"/>
            <a:ext cx="1998000" cy="19980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15 units²</a:t>
            </a:r>
            <a:endParaRPr sz="1800">
              <a:latin typeface="Lexend"/>
              <a:ea typeface="Lexend"/>
              <a:cs typeface="Lexend"/>
              <a:sym typeface="Lexend"/>
            </a:endParaRPr>
          </a:p>
        </p:txBody>
      </p:sp>
      <p:sp>
        <p:nvSpPr>
          <p:cNvPr id="1044" name="Google Shape;1044;p82"/>
          <p:cNvSpPr txBox="1"/>
          <p:nvPr/>
        </p:nvSpPr>
        <p:spPr>
          <a:xfrm>
            <a:off x="5774411" y="1250865"/>
            <a:ext cx="1149000" cy="1148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 units²</a:t>
            </a:r>
            <a:endParaRPr sz="1800">
              <a:latin typeface="Lexend"/>
              <a:ea typeface="Lexend"/>
              <a:cs typeface="Lexend"/>
              <a:sym typeface="Lexend"/>
            </a:endParaRPr>
          </a:p>
        </p:txBody>
      </p:sp>
      <p:sp>
        <p:nvSpPr>
          <p:cNvPr id="1045" name="Google Shape;1045;p82"/>
          <p:cNvSpPr txBox="1"/>
          <p:nvPr/>
        </p:nvSpPr>
        <p:spPr>
          <a:xfrm>
            <a:off x="7212378" y="1665665"/>
            <a:ext cx="1149000" cy="1148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 units²</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graphicFrame>
        <p:nvGraphicFramePr>
          <p:cNvPr id="1050" name="Google Shape;1050;p83"/>
          <p:cNvGraphicFramePr/>
          <p:nvPr/>
        </p:nvGraphicFramePr>
        <p:xfrm>
          <a:off x="5055150" y="796325"/>
          <a:ext cx="3000000" cy="3000000"/>
        </p:xfrm>
        <a:graphic>
          <a:graphicData uri="http://schemas.openxmlformats.org/drawingml/2006/table">
            <a:tbl>
              <a:tblPr>
                <a:noFill/>
                <a:tableStyleId>{8315743D-C781-4C17-B280-7E2E4E0B738C}</a:tableStyleId>
              </a:tblPr>
              <a:tblGrid>
                <a:gridCol w="1882425"/>
                <a:gridCol w="1882425"/>
              </a:tblGrid>
              <a:tr h="46187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areas of the three squares</a:t>
                      </a:r>
                      <a:endParaRPr sz="1600">
                        <a:solidFill>
                          <a:schemeClr val="lt1"/>
                        </a:solidFill>
                        <a:latin typeface="Lexend"/>
                        <a:ea typeface="Lexend"/>
                        <a:cs typeface="Lexend"/>
                        <a:sym typeface="Lexend"/>
                      </a:endParaRPr>
                    </a:p>
                  </a:txBody>
                  <a:tcPr marT="0" marB="0" marR="0" marL="0" anchor="ctr">
                    <a:solidFill>
                      <a:srgbClr val="845AD9"/>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a:t>
                      </a:r>
                      <a:endParaRPr sz="1600">
                        <a:solidFill>
                          <a:schemeClr val="lt1"/>
                        </a:solidFill>
                        <a:latin typeface="Lexend"/>
                        <a:ea typeface="Lexend"/>
                        <a:cs typeface="Lexend"/>
                        <a:sym typeface="Lexend"/>
                      </a:endParaRPr>
                    </a:p>
                  </a:txBody>
                  <a:tcPr marT="0" marB="0" marR="0" marL="0" anchor="ctr">
                    <a:solidFill>
                      <a:srgbClr val="845AD9"/>
                    </a:solidFill>
                  </a:tcPr>
                </a:tc>
              </a:tr>
              <a:tr h="340200">
                <a:tc>
                  <a:txBody>
                    <a:bodyPr/>
                    <a:lstStyle/>
                    <a:p>
                      <a:pPr indent="0" lvl="0" marL="0" rtl="0" algn="ctr">
                        <a:spcBef>
                          <a:spcPts val="0"/>
                        </a:spcBef>
                        <a:spcAft>
                          <a:spcPts val="0"/>
                        </a:spcAft>
                        <a:buNone/>
                      </a:pPr>
                      <a:r>
                        <a:rPr lang="en-GB" sz="1600">
                          <a:latin typeface="Lexend"/>
                          <a:ea typeface="Lexend"/>
                          <a:cs typeface="Lexend"/>
                          <a:sym typeface="Lexend"/>
                        </a:rPr>
                        <a:t>7, 10, 13</a:t>
                      </a:r>
                      <a:endParaRPr sz="1600">
                        <a:latin typeface="Lexend"/>
                        <a:ea typeface="Lexend"/>
                        <a:cs typeface="Lexend"/>
                        <a:sym typeface="Lexend"/>
                      </a:endParaRPr>
                    </a:p>
                  </a:txBody>
                  <a:tcPr marT="0" marB="0" marR="0" marL="0" anchor="ctr">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acute</a:t>
                      </a:r>
                      <a:endParaRPr sz="1600">
                        <a:latin typeface="Lexend"/>
                        <a:ea typeface="Lexend"/>
                        <a:cs typeface="Lexend"/>
                        <a:sym typeface="Lexend"/>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4, 7, 9</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4, 4, 7</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3, 5, 10</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5, 7, 14</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1, 3, 7</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3, 8, 11</a:t>
                      </a:r>
                      <a:endParaRPr sz="1800">
                        <a:latin typeface="Kalam"/>
                        <a:ea typeface="Kalam"/>
                        <a:cs typeface="Kalam"/>
                        <a:sym typeface="Kalam"/>
                      </a:endParaRPr>
                    </a:p>
                  </a:txBody>
                  <a:tcPr marT="0" marB="0" marR="0" marL="0" anchor="ctr">
                    <a:solidFill>
                      <a:srgbClr val="EBEDFE"/>
                    </a:solidFill>
                  </a:tcPr>
                </a:tc>
                <a:tc>
                  <a:txBody>
                    <a:bodyPr/>
                    <a:lstStyle/>
                    <a:p>
                      <a:pPr indent="0" lvl="0" marL="0" rtl="0" algn="ctr">
                        <a:spcBef>
                          <a:spcPts val="0"/>
                        </a:spcBef>
                        <a:spcAft>
                          <a:spcPts val="0"/>
                        </a:spcAft>
                        <a:buNone/>
                      </a:pPr>
                      <a:r>
                        <a:rPr lang="en-GB" sz="1800">
                          <a:latin typeface="Kalam"/>
                          <a:ea typeface="Kalam"/>
                          <a:cs typeface="Kalam"/>
                          <a:sym typeface="Kalam"/>
                        </a:rPr>
                        <a:t>right-angle</a:t>
                      </a:r>
                      <a:endParaRPr sz="1800">
                        <a:latin typeface="Kalam"/>
                        <a:ea typeface="Kalam"/>
                        <a:cs typeface="Kalam"/>
                        <a:sym typeface="Kalam"/>
                      </a:endParaRPr>
                    </a:p>
                  </a:txBody>
                  <a:tcPr marT="0" marB="0" marR="0" marL="0" anchor="ctr">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2, 5, 7</a:t>
                      </a:r>
                      <a:endParaRPr sz="1800">
                        <a:latin typeface="Kalam"/>
                        <a:ea typeface="Kalam"/>
                        <a:cs typeface="Kalam"/>
                        <a:sym typeface="Kalam"/>
                      </a:endParaRPr>
                    </a:p>
                  </a:txBody>
                  <a:tcPr marT="0" marB="0" marR="0" marL="0" anchor="ctr">
                    <a:solidFill>
                      <a:srgbClr val="EBEDFE"/>
                    </a:solidFill>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4, 8, 12</a:t>
                      </a:r>
                      <a:endParaRPr sz="1800">
                        <a:latin typeface="Kalam"/>
                        <a:ea typeface="Kalam"/>
                        <a:cs typeface="Kalam"/>
                        <a:sym typeface="Kalam"/>
                      </a:endParaRPr>
                    </a:p>
                  </a:txBody>
                  <a:tcPr marT="0" marB="0" marR="0" marL="0" anchor="ctr">
                    <a:solidFill>
                      <a:srgbClr val="EBEDFE"/>
                    </a:solidFill>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solidFill>
                      <a:srgbClr val="EBEDFE"/>
                    </a:solidFill>
                  </a:tcPr>
                </a:tc>
              </a:tr>
            </a:tbl>
          </a:graphicData>
        </a:graphic>
      </p:graphicFrame>
      <p:pic>
        <p:nvPicPr>
          <p:cNvPr id="1051" name="Google Shape;1051;p83"/>
          <p:cNvPicPr preferRelativeResize="0"/>
          <p:nvPr/>
        </p:nvPicPr>
        <p:blipFill rotWithShape="1">
          <a:blip r:embed="rId3">
            <a:alphaModFix/>
          </a:blip>
          <a:srcRect b="4760" l="40550" r="0" t="13015"/>
          <a:stretch/>
        </p:blipFill>
        <p:spPr>
          <a:xfrm>
            <a:off x="856325" y="697150"/>
            <a:ext cx="3091999" cy="1719976"/>
          </a:xfrm>
          <a:prstGeom prst="rect">
            <a:avLst/>
          </a:prstGeom>
          <a:noFill/>
          <a:ln>
            <a:noFill/>
          </a:ln>
        </p:spPr>
      </p:pic>
      <p:sp>
        <p:nvSpPr>
          <p:cNvPr id="1052" name="Google Shape;1052;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053" name="Google Shape;1053;p83"/>
          <p:cNvSpPr txBox="1"/>
          <p:nvPr/>
        </p:nvSpPr>
        <p:spPr>
          <a:xfrm>
            <a:off x="324001" y="24983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054" name="Google Shape;1054;p83"/>
          <p:cNvPicPr preferRelativeResize="0"/>
          <p:nvPr/>
        </p:nvPicPr>
        <p:blipFill>
          <a:blip r:embed="rId4">
            <a:alphaModFix/>
          </a:blip>
          <a:stretch>
            <a:fillRect/>
          </a:stretch>
        </p:blipFill>
        <p:spPr>
          <a:xfrm>
            <a:off x="416476" y="1735157"/>
            <a:ext cx="629124" cy="823977"/>
          </a:xfrm>
          <a:prstGeom prst="rect">
            <a:avLst/>
          </a:prstGeom>
          <a:noFill/>
          <a:ln>
            <a:noFill/>
          </a:ln>
        </p:spPr>
      </p:pic>
      <p:sp>
        <p:nvSpPr>
          <p:cNvPr id="1055" name="Google Shape;1055;p83"/>
          <p:cNvSpPr txBox="1"/>
          <p:nvPr/>
        </p:nvSpPr>
        <p:spPr>
          <a:xfrm>
            <a:off x="416475" y="3213600"/>
            <a:ext cx="44076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Clr>
                <a:schemeClr val="dk1"/>
              </a:buClr>
              <a:buSzPts val="1800"/>
              <a:buFont typeface="Arial"/>
              <a:buNone/>
            </a:pPr>
            <a:r>
              <a:rPr lang="en-GB" sz="1800">
                <a:latin typeface="Lexend"/>
                <a:ea typeface="Lexend"/>
                <a:cs typeface="Lexend"/>
                <a:sym typeface="Lexend"/>
              </a:rPr>
              <a:t>Can you spot a pattern in the areas of the squares that make each type of angle?</a:t>
            </a:r>
            <a:endParaRPr sz="1800">
              <a:solidFill>
                <a:schemeClr val="dk1"/>
              </a:solidFill>
              <a:latin typeface="Lexend"/>
              <a:ea typeface="Lexend"/>
              <a:cs typeface="Lexend"/>
              <a:sym typeface="Lexend"/>
            </a:endParaRPr>
          </a:p>
        </p:txBody>
      </p:sp>
      <p:sp>
        <p:nvSpPr>
          <p:cNvPr id="1056" name="Google Shape;1056;p83"/>
          <p:cNvSpPr txBox="1"/>
          <p:nvPr/>
        </p:nvSpPr>
        <p:spPr>
          <a:xfrm>
            <a:off x="1105265" y="804413"/>
            <a:ext cx="28254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Maybe there is a pattern.</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Here are some of my answers to a previous task.</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graphicFrame>
        <p:nvGraphicFramePr>
          <p:cNvPr id="1061" name="Google Shape;1061;p84"/>
          <p:cNvGraphicFramePr/>
          <p:nvPr/>
        </p:nvGraphicFramePr>
        <p:xfrm>
          <a:off x="5055150" y="796325"/>
          <a:ext cx="3000000" cy="3000000"/>
        </p:xfrm>
        <a:graphic>
          <a:graphicData uri="http://schemas.openxmlformats.org/drawingml/2006/table">
            <a:tbl>
              <a:tblPr>
                <a:noFill/>
                <a:tableStyleId>{8315743D-C781-4C17-B280-7E2E4E0B738C}</a:tableStyleId>
              </a:tblPr>
              <a:tblGrid>
                <a:gridCol w="1882425"/>
                <a:gridCol w="1882425"/>
              </a:tblGrid>
              <a:tr h="46187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areas of the three squares</a:t>
                      </a:r>
                      <a:endParaRPr sz="1600">
                        <a:solidFill>
                          <a:schemeClr val="lt1"/>
                        </a:solidFill>
                        <a:latin typeface="Lexend"/>
                        <a:ea typeface="Lexend"/>
                        <a:cs typeface="Lexend"/>
                        <a:sym typeface="Lexend"/>
                      </a:endParaRPr>
                    </a:p>
                  </a:txBody>
                  <a:tcPr marT="0" marB="0" marR="0" marL="0" anchor="ctr">
                    <a:solidFill>
                      <a:srgbClr val="845AD9"/>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a:t>
                      </a:r>
                      <a:endParaRPr sz="1600">
                        <a:solidFill>
                          <a:schemeClr val="lt1"/>
                        </a:solidFill>
                        <a:latin typeface="Lexend"/>
                        <a:ea typeface="Lexend"/>
                        <a:cs typeface="Lexend"/>
                        <a:sym typeface="Lexend"/>
                      </a:endParaRPr>
                    </a:p>
                  </a:txBody>
                  <a:tcPr marT="0" marB="0" marR="0" marL="0" anchor="ctr">
                    <a:solidFill>
                      <a:srgbClr val="845AD9"/>
                    </a:solidFill>
                  </a:tcPr>
                </a:tc>
              </a:tr>
              <a:tr h="340200">
                <a:tc>
                  <a:txBody>
                    <a:bodyPr/>
                    <a:lstStyle/>
                    <a:p>
                      <a:pPr indent="0" lvl="0" marL="0" rtl="0" algn="ctr">
                        <a:spcBef>
                          <a:spcPts val="0"/>
                        </a:spcBef>
                        <a:spcAft>
                          <a:spcPts val="0"/>
                        </a:spcAft>
                        <a:buNone/>
                      </a:pPr>
                      <a:r>
                        <a:rPr lang="en-GB" sz="1600">
                          <a:latin typeface="Lexend"/>
                          <a:ea typeface="Lexend"/>
                          <a:cs typeface="Lexend"/>
                          <a:sym typeface="Lexend"/>
                        </a:rPr>
                        <a:t>7, 10, 13</a:t>
                      </a:r>
                      <a:endParaRPr sz="1600">
                        <a:latin typeface="Lexend"/>
                        <a:ea typeface="Lexend"/>
                        <a:cs typeface="Lexend"/>
                        <a:sym typeface="Lexend"/>
                      </a:endParaRPr>
                    </a:p>
                  </a:txBody>
                  <a:tcPr marT="0" marB="0" marR="0" marL="0" anchor="ctr">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acute</a:t>
                      </a:r>
                      <a:endParaRPr sz="1600">
                        <a:latin typeface="Lexend"/>
                        <a:ea typeface="Lexend"/>
                        <a:cs typeface="Lexend"/>
                        <a:sym typeface="Lexend"/>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4, 7, 9</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4, 4, 7</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3, 5, 10</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5, 7, 14</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1, 3, 7</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lnB cap="flat" cmpd="sng" w="9525">
                      <a:solidFill>
                        <a:srgbClr val="9E9E9E"/>
                      </a:solidFill>
                      <a:prstDash val="solid"/>
                      <a:round/>
                      <a:headEnd len="sm" w="sm" type="none"/>
                      <a:tailEnd len="sm" w="sm" type="none"/>
                    </a:lnB>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3, 8, 11</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2, 5, 7</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4, 8, 12</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bl>
          </a:graphicData>
        </a:graphic>
      </p:graphicFrame>
      <p:sp>
        <p:nvSpPr>
          <p:cNvPr id="1062" name="Google Shape;1062;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063" name="Google Shape;1063;p84"/>
          <p:cNvGrpSpPr/>
          <p:nvPr/>
        </p:nvGrpSpPr>
        <p:grpSpPr>
          <a:xfrm>
            <a:off x="918385" y="2700000"/>
            <a:ext cx="2904606" cy="1499813"/>
            <a:chOff x="932200" y="2672525"/>
            <a:chExt cx="2765501" cy="1430301"/>
          </a:xfrm>
        </p:grpSpPr>
        <p:pic>
          <p:nvPicPr>
            <p:cNvPr id="1064" name="Google Shape;1064;p84"/>
            <p:cNvPicPr preferRelativeResize="0"/>
            <p:nvPr/>
          </p:nvPicPr>
          <p:blipFill rotWithShape="1">
            <a:blip r:embed="rId3">
              <a:alphaModFix/>
            </a:blip>
            <a:srcRect b="4760" l="40550" r="0" t="13015"/>
            <a:stretch/>
          </p:blipFill>
          <p:spPr>
            <a:xfrm>
              <a:off x="932200" y="2672525"/>
              <a:ext cx="2765501" cy="1430301"/>
            </a:xfrm>
            <a:prstGeom prst="rect">
              <a:avLst/>
            </a:prstGeom>
            <a:noFill/>
            <a:ln>
              <a:noFill/>
            </a:ln>
          </p:spPr>
        </p:pic>
        <p:sp>
          <p:nvSpPr>
            <p:cNvPr id="1065" name="Google Shape;1065;p84"/>
            <p:cNvSpPr txBox="1"/>
            <p:nvPr/>
          </p:nvSpPr>
          <p:spPr>
            <a:xfrm>
              <a:off x="1152150" y="2757195"/>
              <a:ext cx="2512200" cy="105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I’ve spotted a pattern in the triangles whose largest angle is acute!</a:t>
              </a:r>
              <a:endParaRPr sz="1800">
                <a:latin typeface="Lexend"/>
                <a:ea typeface="Lexend"/>
                <a:cs typeface="Lexend"/>
                <a:sym typeface="Lexend"/>
              </a:endParaRPr>
            </a:p>
          </p:txBody>
        </p:sp>
      </p:grpSp>
      <p:grpSp>
        <p:nvGrpSpPr>
          <p:cNvPr id="1066" name="Google Shape;1066;p84"/>
          <p:cNvGrpSpPr/>
          <p:nvPr/>
        </p:nvGrpSpPr>
        <p:grpSpPr>
          <a:xfrm>
            <a:off x="848516" y="2182970"/>
            <a:ext cx="3533907" cy="2436407"/>
            <a:chOff x="3962154" y="3600100"/>
            <a:chExt cx="2066854" cy="1220400"/>
          </a:xfrm>
        </p:grpSpPr>
        <p:sp>
          <p:nvSpPr>
            <p:cNvPr id="1067" name="Google Shape;1067;p84"/>
            <p:cNvSpPr/>
            <p:nvPr/>
          </p:nvSpPr>
          <p:spPr>
            <a:xfrm>
              <a:off x="3998908" y="3600100"/>
              <a:ext cx="2030100" cy="122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68" name="Google Shape;1068;p84"/>
            <p:cNvPicPr preferRelativeResize="0"/>
            <p:nvPr/>
          </p:nvPicPr>
          <p:blipFill rotWithShape="1">
            <a:blip r:embed="rId3">
              <a:alphaModFix/>
            </a:blip>
            <a:srcRect b="4760" l="40550" r="0" t="13015"/>
            <a:stretch/>
          </p:blipFill>
          <p:spPr>
            <a:xfrm>
              <a:off x="3962154" y="3674775"/>
              <a:ext cx="1949599" cy="1108200"/>
            </a:xfrm>
            <a:prstGeom prst="rect">
              <a:avLst/>
            </a:prstGeom>
            <a:noFill/>
            <a:ln>
              <a:noFill/>
            </a:ln>
          </p:spPr>
        </p:pic>
        <p:sp>
          <p:nvSpPr>
            <p:cNvPr id="1069" name="Google Shape;1069;p84"/>
            <p:cNvSpPr txBox="1"/>
            <p:nvPr/>
          </p:nvSpPr>
          <p:spPr>
            <a:xfrm>
              <a:off x="4132577" y="3736520"/>
              <a:ext cx="1731000" cy="27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If you take the two smaller areas,</a:t>
              </a:r>
              <a:endParaRPr sz="1800">
                <a:latin typeface="Lexend"/>
                <a:ea typeface="Lexend"/>
                <a:cs typeface="Lexend"/>
                <a:sym typeface="Lexend"/>
              </a:endParaRPr>
            </a:p>
          </p:txBody>
        </p:sp>
      </p:grpSp>
      <p:sp>
        <p:nvSpPr>
          <p:cNvPr id="1070" name="Google Shape;1070;p84"/>
          <p:cNvSpPr txBox="1"/>
          <p:nvPr/>
        </p:nvSpPr>
        <p:spPr>
          <a:xfrm>
            <a:off x="324001" y="434213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071" name="Google Shape;1071;p84"/>
          <p:cNvPicPr preferRelativeResize="0"/>
          <p:nvPr/>
        </p:nvPicPr>
        <p:blipFill>
          <a:blip r:embed="rId4">
            <a:alphaModFix/>
          </a:blip>
          <a:stretch>
            <a:fillRect/>
          </a:stretch>
        </p:blipFill>
        <p:spPr>
          <a:xfrm flipH="1">
            <a:off x="416539" y="3646762"/>
            <a:ext cx="629125" cy="725538"/>
          </a:xfrm>
          <a:prstGeom prst="rect">
            <a:avLst/>
          </a:prstGeom>
          <a:noFill/>
          <a:ln>
            <a:noFill/>
          </a:ln>
        </p:spPr>
      </p:pic>
      <p:sp>
        <p:nvSpPr>
          <p:cNvPr id="1072" name="Google Shape;1072;p84"/>
          <p:cNvSpPr/>
          <p:nvPr/>
        </p:nvSpPr>
        <p:spPr>
          <a:xfrm>
            <a:off x="5564175" y="1304975"/>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3" name="Google Shape;1073;p84"/>
          <p:cNvSpPr/>
          <p:nvPr/>
        </p:nvSpPr>
        <p:spPr>
          <a:xfrm>
            <a:off x="5813504" y="1304975"/>
            <a:ext cx="2571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4" name="Google Shape;1074;p84"/>
          <p:cNvSpPr txBox="1"/>
          <p:nvPr/>
        </p:nvSpPr>
        <p:spPr>
          <a:xfrm>
            <a:off x="1139950" y="2981037"/>
            <a:ext cx="2959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and sum them together,</a:t>
            </a:r>
            <a:endParaRPr sz="1800">
              <a:latin typeface="Lexend"/>
              <a:ea typeface="Lexend"/>
              <a:cs typeface="Lexend"/>
              <a:sym typeface="Lexend"/>
            </a:endParaRPr>
          </a:p>
        </p:txBody>
      </p:sp>
      <p:sp>
        <p:nvSpPr>
          <p:cNvPr id="1075" name="Google Shape;1075;p84"/>
          <p:cNvSpPr txBox="1"/>
          <p:nvPr/>
        </p:nvSpPr>
        <p:spPr>
          <a:xfrm>
            <a:off x="3776409" y="1304963"/>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7 + 10</a:t>
            </a:r>
            <a:endParaRPr sz="1800">
              <a:latin typeface="Kalam"/>
              <a:ea typeface="Kalam"/>
              <a:cs typeface="Kalam"/>
              <a:sym typeface="Kalam"/>
            </a:endParaRPr>
          </a:p>
        </p:txBody>
      </p:sp>
      <p:sp>
        <p:nvSpPr>
          <p:cNvPr id="1076" name="Google Shape;1076;p84"/>
          <p:cNvSpPr txBox="1"/>
          <p:nvPr/>
        </p:nvSpPr>
        <p:spPr>
          <a:xfrm>
            <a:off x="4432426" y="1304975"/>
            <a:ext cx="629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 17</a:t>
            </a:r>
            <a:endParaRPr sz="1800">
              <a:latin typeface="Kalam"/>
              <a:ea typeface="Kalam"/>
              <a:cs typeface="Kalam"/>
              <a:sym typeface="Kalam"/>
            </a:endParaRPr>
          </a:p>
        </p:txBody>
      </p:sp>
      <p:sp>
        <p:nvSpPr>
          <p:cNvPr id="1077" name="Google Shape;1077;p84"/>
          <p:cNvSpPr/>
          <p:nvPr/>
        </p:nvSpPr>
        <p:spPr>
          <a:xfrm>
            <a:off x="6155999" y="1304975"/>
            <a:ext cx="228000" cy="2772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84"/>
          <p:cNvSpPr txBox="1"/>
          <p:nvPr/>
        </p:nvSpPr>
        <p:spPr>
          <a:xfrm>
            <a:off x="3776409" y="1644086"/>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4 + 7</a:t>
            </a:r>
            <a:endParaRPr sz="1800">
              <a:latin typeface="Kalam"/>
              <a:ea typeface="Kalam"/>
              <a:cs typeface="Kalam"/>
              <a:sym typeface="Kalam"/>
            </a:endParaRPr>
          </a:p>
        </p:txBody>
      </p:sp>
      <p:sp>
        <p:nvSpPr>
          <p:cNvPr id="1079" name="Google Shape;1079;p84"/>
          <p:cNvSpPr txBox="1"/>
          <p:nvPr/>
        </p:nvSpPr>
        <p:spPr>
          <a:xfrm>
            <a:off x="4432426" y="1644099"/>
            <a:ext cx="629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 11</a:t>
            </a:r>
            <a:endParaRPr sz="1800">
              <a:latin typeface="Kalam"/>
              <a:ea typeface="Kalam"/>
              <a:cs typeface="Kalam"/>
              <a:sym typeface="Kalam"/>
            </a:endParaRPr>
          </a:p>
        </p:txBody>
      </p:sp>
      <p:sp>
        <p:nvSpPr>
          <p:cNvPr id="1080" name="Google Shape;1080;p84"/>
          <p:cNvSpPr/>
          <p:nvPr/>
        </p:nvSpPr>
        <p:spPr>
          <a:xfrm>
            <a:off x="6155999" y="1644098"/>
            <a:ext cx="228000" cy="2772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81" name="Google Shape;1081;p84"/>
          <p:cNvGrpSpPr/>
          <p:nvPr/>
        </p:nvGrpSpPr>
        <p:grpSpPr>
          <a:xfrm>
            <a:off x="5642825" y="1644098"/>
            <a:ext cx="484588" cy="277200"/>
            <a:chOff x="5642825" y="1644098"/>
            <a:chExt cx="484588" cy="277200"/>
          </a:xfrm>
        </p:grpSpPr>
        <p:sp>
          <p:nvSpPr>
            <p:cNvPr id="1082" name="Google Shape;1082;p84"/>
            <p:cNvSpPr/>
            <p:nvPr/>
          </p:nvSpPr>
          <p:spPr>
            <a:xfrm>
              <a:off x="5642825" y="1644098"/>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3" name="Google Shape;1083;p84"/>
            <p:cNvSpPr/>
            <p:nvPr/>
          </p:nvSpPr>
          <p:spPr>
            <a:xfrm>
              <a:off x="5899413" y="1644098"/>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84" name="Google Shape;1084;p84"/>
          <p:cNvSpPr txBox="1"/>
          <p:nvPr/>
        </p:nvSpPr>
        <p:spPr>
          <a:xfrm>
            <a:off x="1139950" y="3258225"/>
            <a:ext cx="30039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square has an area smaller than this sum.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7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graphicFrame>
        <p:nvGraphicFramePr>
          <p:cNvPr id="1089" name="Google Shape;1089;p85"/>
          <p:cNvGraphicFramePr/>
          <p:nvPr/>
        </p:nvGraphicFramePr>
        <p:xfrm>
          <a:off x="5055150" y="796325"/>
          <a:ext cx="3000000" cy="3000000"/>
        </p:xfrm>
        <a:graphic>
          <a:graphicData uri="http://schemas.openxmlformats.org/drawingml/2006/table">
            <a:tbl>
              <a:tblPr>
                <a:noFill/>
                <a:tableStyleId>{8315743D-C781-4C17-B280-7E2E4E0B738C}</a:tableStyleId>
              </a:tblPr>
              <a:tblGrid>
                <a:gridCol w="1882425"/>
                <a:gridCol w="1882425"/>
              </a:tblGrid>
              <a:tr h="46187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areas of the three squares</a:t>
                      </a:r>
                      <a:endParaRPr sz="1600">
                        <a:solidFill>
                          <a:schemeClr val="lt1"/>
                        </a:solidFill>
                        <a:latin typeface="Lexend"/>
                        <a:ea typeface="Lexend"/>
                        <a:cs typeface="Lexend"/>
                        <a:sym typeface="Lexend"/>
                      </a:endParaRPr>
                    </a:p>
                  </a:txBody>
                  <a:tcPr marT="0" marB="0" marR="0" marL="0" anchor="ctr">
                    <a:solidFill>
                      <a:srgbClr val="845AD9"/>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a:t>
                      </a:r>
                      <a:endParaRPr sz="1600">
                        <a:solidFill>
                          <a:schemeClr val="lt1"/>
                        </a:solidFill>
                        <a:latin typeface="Lexend"/>
                        <a:ea typeface="Lexend"/>
                        <a:cs typeface="Lexend"/>
                        <a:sym typeface="Lexend"/>
                      </a:endParaRPr>
                    </a:p>
                  </a:txBody>
                  <a:tcPr marT="0" marB="0" marR="0" marL="0" anchor="ctr">
                    <a:solidFill>
                      <a:srgbClr val="845AD9"/>
                    </a:solidFill>
                  </a:tcPr>
                </a:tc>
              </a:tr>
              <a:tr h="340200">
                <a:tc>
                  <a:txBody>
                    <a:bodyPr/>
                    <a:lstStyle/>
                    <a:p>
                      <a:pPr indent="0" lvl="0" marL="0" rtl="0" algn="ctr">
                        <a:spcBef>
                          <a:spcPts val="0"/>
                        </a:spcBef>
                        <a:spcAft>
                          <a:spcPts val="0"/>
                        </a:spcAft>
                        <a:buNone/>
                      </a:pPr>
                      <a:r>
                        <a:rPr lang="en-GB" sz="1600">
                          <a:latin typeface="Lexend"/>
                          <a:ea typeface="Lexend"/>
                          <a:cs typeface="Lexend"/>
                          <a:sym typeface="Lexend"/>
                        </a:rPr>
                        <a:t>7, 10, 13</a:t>
                      </a:r>
                      <a:endParaRPr sz="1600">
                        <a:latin typeface="Lexend"/>
                        <a:ea typeface="Lexend"/>
                        <a:cs typeface="Lexend"/>
                        <a:sym typeface="Lexend"/>
                      </a:endParaRPr>
                    </a:p>
                  </a:txBody>
                  <a:tcPr marT="0" marB="0" marR="0" marL="0" anchor="ctr">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acute</a:t>
                      </a:r>
                      <a:endParaRPr sz="1600">
                        <a:latin typeface="Lexend"/>
                        <a:ea typeface="Lexend"/>
                        <a:cs typeface="Lexend"/>
                        <a:sym typeface="Lexend"/>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4, 7, 9</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4, 4, 7</a:t>
                      </a:r>
                      <a:endParaRPr sz="1800">
                        <a:latin typeface="Kalam"/>
                        <a:ea typeface="Kalam"/>
                        <a:cs typeface="Kalam"/>
                        <a:sym typeface="Kalam"/>
                      </a:endParaRPr>
                    </a:p>
                  </a:txBody>
                  <a:tcPr marT="0" marB="0" marR="0" marL="0" anchor="ctr">
                    <a:solidFill>
                      <a:srgbClr val="F3EEFB"/>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acute</a:t>
                      </a:r>
                      <a:endParaRPr sz="1800">
                        <a:latin typeface="Kalam"/>
                        <a:ea typeface="Kalam"/>
                        <a:cs typeface="Kalam"/>
                        <a:sym typeface="Kalam"/>
                      </a:endParaRPr>
                    </a:p>
                  </a:txBody>
                  <a:tcPr marT="0" marB="0" marR="0" marL="0" anchor="ctr">
                    <a:solidFill>
                      <a:srgbClr val="F3EEFB"/>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3, 5, 10</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5, 7, 14</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1, 3, 7</a:t>
                      </a:r>
                      <a:endParaRPr sz="1800">
                        <a:latin typeface="Kalam"/>
                        <a:ea typeface="Kalam"/>
                        <a:cs typeface="Kalam"/>
                        <a:sym typeface="Kalam"/>
                      </a:endParaRPr>
                    </a:p>
                  </a:txBody>
                  <a:tcPr marT="0" marB="0" marR="0" marL="0" anchor="ctr">
                    <a:solidFill>
                      <a:srgbClr val="E6F2F2"/>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obtuse</a:t>
                      </a:r>
                      <a:endParaRPr sz="1800">
                        <a:latin typeface="Kalam"/>
                        <a:ea typeface="Kalam"/>
                        <a:cs typeface="Kalam"/>
                        <a:sym typeface="Kalam"/>
                      </a:endParaRPr>
                    </a:p>
                  </a:txBody>
                  <a:tcPr marT="0" marB="0" marR="0" marL="0" anchor="ctr">
                    <a:lnB cap="flat" cmpd="sng" w="9525">
                      <a:solidFill>
                        <a:srgbClr val="9E9E9E"/>
                      </a:solidFill>
                      <a:prstDash val="solid"/>
                      <a:round/>
                      <a:headEnd len="sm" w="sm" type="none"/>
                      <a:tailEnd len="sm" w="sm" type="none"/>
                    </a:lnB>
                    <a:solidFill>
                      <a:srgbClr val="E6F2F2"/>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3, 8, 11</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2, 5, 7</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r h="340200">
                <a:tc>
                  <a:txBody>
                    <a:bodyPr/>
                    <a:lstStyle/>
                    <a:p>
                      <a:pPr indent="0" lvl="0" marL="0" rtl="0" algn="ctr">
                        <a:spcBef>
                          <a:spcPts val="0"/>
                        </a:spcBef>
                        <a:spcAft>
                          <a:spcPts val="0"/>
                        </a:spcAft>
                        <a:buNone/>
                      </a:pPr>
                      <a:r>
                        <a:rPr lang="en-GB" sz="1800">
                          <a:latin typeface="Kalam"/>
                          <a:ea typeface="Kalam"/>
                          <a:cs typeface="Kalam"/>
                          <a:sym typeface="Kalam"/>
                        </a:rPr>
                        <a:t>4, 8, 12</a:t>
                      </a:r>
                      <a:endParaRPr sz="1800">
                        <a:latin typeface="Kalam"/>
                        <a:ea typeface="Kalam"/>
                        <a:cs typeface="Kalam"/>
                        <a:sym typeface="Kalam"/>
                      </a:endParaRPr>
                    </a:p>
                  </a:txBody>
                  <a:tcPr marT="0" marB="0" marR="0" marL="0" anchor="ctr">
                    <a:lnR cap="flat" cmpd="sng" w="9525">
                      <a:solidFill>
                        <a:srgbClr val="9E9E9E"/>
                      </a:solidFill>
                      <a:prstDash val="solid"/>
                      <a:round/>
                      <a:headEnd len="sm" w="sm" type="none"/>
                      <a:tailEnd len="sm" w="sm" type="none"/>
                    </a:lnR>
                    <a:solidFill>
                      <a:srgbClr val="EBEDFE"/>
                    </a:solidFill>
                  </a:tcPr>
                </a:tc>
                <a:tc>
                  <a:txBody>
                    <a:bodyPr/>
                    <a:lstStyle/>
                    <a:p>
                      <a:pPr indent="0" lvl="0" marL="0" rtl="0" algn="ctr">
                        <a:spcBef>
                          <a:spcPts val="0"/>
                        </a:spcBef>
                        <a:spcAft>
                          <a:spcPts val="0"/>
                        </a:spcAft>
                        <a:buNone/>
                      </a:pPr>
                      <a:r>
                        <a:rPr lang="en-GB" sz="1800">
                          <a:solidFill>
                            <a:schemeClr val="dk1"/>
                          </a:solidFill>
                          <a:latin typeface="Kalam"/>
                          <a:ea typeface="Kalam"/>
                          <a:cs typeface="Kalam"/>
                          <a:sym typeface="Kalam"/>
                        </a:rPr>
                        <a:t>right-angle</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BEDFE"/>
                    </a:solidFill>
                  </a:tcPr>
                </a:tc>
              </a:tr>
            </a:tbl>
          </a:graphicData>
        </a:graphic>
      </p:graphicFrame>
      <p:sp>
        <p:nvSpPr>
          <p:cNvPr id="1090" name="Google Shape;1090;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091" name="Google Shape;1091;p85"/>
          <p:cNvSpPr/>
          <p:nvPr/>
        </p:nvSpPr>
        <p:spPr>
          <a:xfrm>
            <a:off x="5564175" y="1304975"/>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2" name="Google Shape;1092;p85"/>
          <p:cNvSpPr/>
          <p:nvPr/>
        </p:nvSpPr>
        <p:spPr>
          <a:xfrm>
            <a:off x="5813504" y="1304975"/>
            <a:ext cx="2571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3" name="Google Shape;1093;p85"/>
          <p:cNvSpPr txBox="1"/>
          <p:nvPr/>
        </p:nvSpPr>
        <p:spPr>
          <a:xfrm>
            <a:off x="1427946" y="1304963"/>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7 + 10</a:t>
            </a:r>
            <a:endParaRPr sz="1800">
              <a:latin typeface="Kalam"/>
              <a:ea typeface="Kalam"/>
              <a:cs typeface="Kalam"/>
              <a:sym typeface="Kalam"/>
            </a:endParaRPr>
          </a:p>
        </p:txBody>
      </p:sp>
      <p:sp>
        <p:nvSpPr>
          <p:cNvPr id="1094" name="Google Shape;1094;p85"/>
          <p:cNvSpPr txBox="1"/>
          <p:nvPr/>
        </p:nvSpPr>
        <p:spPr>
          <a:xfrm>
            <a:off x="2083964" y="1304975"/>
            <a:ext cx="629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 17</a:t>
            </a:r>
            <a:endParaRPr sz="1800">
              <a:latin typeface="Kalam"/>
              <a:ea typeface="Kalam"/>
              <a:cs typeface="Kalam"/>
              <a:sym typeface="Kalam"/>
            </a:endParaRPr>
          </a:p>
        </p:txBody>
      </p:sp>
      <p:sp>
        <p:nvSpPr>
          <p:cNvPr id="1095" name="Google Shape;1095;p85"/>
          <p:cNvSpPr/>
          <p:nvPr/>
        </p:nvSpPr>
        <p:spPr>
          <a:xfrm>
            <a:off x="6155999" y="1304975"/>
            <a:ext cx="228000" cy="2772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6" name="Google Shape;1096;p85"/>
          <p:cNvSpPr txBox="1"/>
          <p:nvPr/>
        </p:nvSpPr>
        <p:spPr>
          <a:xfrm>
            <a:off x="1427946" y="1644086"/>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4 + 7</a:t>
            </a:r>
            <a:endParaRPr sz="1800">
              <a:latin typeface="Kalam"/>
              <a:ea typeface="Kalam"/>
              <a:cs typeface="Kalam"/>
              <a:sym typeface="Kalam"/>
            </a:endParaRPr>
          </a:p>
        </p:txBody>
      </p:sp>
      <p:sp>
        <p:nvSpPr>
          <p:cNvPr id="1097" name="Google Shape;1097;p85"/>
          <p:cNvSpPr txBox="1"/>
          <p:nvPr/>
        </p:nvSpPr>
        <p:spPr>
          <a:xfrm>
            <a:off x="2083964" y="1644099"/>
            <a:ext cx="629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 11</a:t>
            </a:r>
            <a:endParaRPr sz="1800">
              <a:latin typeface="Kalam"/>
              <a:ea typeface="Kalam"/>
              <a:cs typeface="Kalam"/>
              <a:sym typeface="Kalam"/>
            </a:endParaRPr>
          </a:p>
        </p:txBody>
      </p:sp>
      <p:sp>
        <p:nvSpPr>
          <p:cNvPr id="1098" name="Google Shape;1098;p85"/>
          <p:cNvSpPr/>
          <p:nvPr/>
        </p:nvSpPr>
        <p:spPr>
          <a:xfrm>
            <a:off x="6155999" y="1644098"/>
            <a:ext cx="228000" cy="2772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99" name="Google Shape;1099;p85"/>
          <p:cNvGrpSpPr/>
          <p:nvPr/>
        </p:nvGrpSpPr>
        <p:grpSpPr>
          <a:xfrm>
            <a:off x="5642825" y="1644098"/>
            <a:ext cx="484588" cy="277200"/>
            <a:chOff x="5642825" y="1644098"/>
            <a:chExt cx="484588" cy="277200"/>
          </a:xfrm>
        </p:grpSpPr>
        <p:sp>
          <p:nvSpPr>
            <p:cNvPr id="1100" name="Google Shape;1100;p85"/>
            <p:cNvSpPr/>
            <p:nvPr/>
          </p:nvSpPr>
          <p:spPr>
            <a:xfrm>
              <a:off x="5642825" y="1644098"/>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1" name="Google Shape;1101;p85"/>
            <p:cNvSpPr/>
            <p:nvPr/>
          </p:nvSpPr>
          <p:spPr>
            <a:xfrm>
              <a:off x="5899413" y="1644098"/>
              <a:ext cx="228000" cy="277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102" name="Google Shape;1102;p85"/>
          <p:cNvPicPr preferRelativeResize="0"/>
          <p:nvPr/>
        </p:nvPicPr>
        <p:blipFill rotWithShape="1">
          <a:blip r:embed="rId3">
            <a:alphaModFix/>
          </a:blip>
          <a:srcRect b="4760" l="40550" r="0" t="13015"/>
          <a:stretch/>
        </p:blipFill>
        <p:spPr>
          <a:xfrm>
            <a:off x="856325" y="2203438"/>
            <a:ext cx="3837798" cy="1865138"/>
          </a:xfrm>
          <a:prstGeom prst="rect">
            <a:avLst/>
          </a:prstGeom>
          <a:noFill/>
          <a:ln>
            <a:noFill/>
          </a:ln>
        </p:spPr>
      </p:pic>
      <p:sp>
        <p:nvSpPr>
          <p:cNvPr id="1103" name="Google Shape;1103;p85"/>
          <p:cNvSpPr txBox="1"/>
          <p:nvPr/>
        </p:nvSpPr>
        <p:spPr>
          <a:xfrm>
            <a:off x="324001" y="434880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1104" name="Google Shape;1104;p85"/>
          <p:cNvSpPr txBox="1"/>
          <p:nvPr/>
        </p:nvSpPr>
        <p:spPr>
          <a:xfrm>
            <a:off x="1151483" y="2320303"/>
            <a:ext cx="35070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Oh wow! Well spotted.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wonder if there is a similar pattern if the largest angle is obtuse or right-angled.</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Can you spot a pattern?</a:t>
            </a:r>
            <a:endParaRPr sz="1800">
              <a:latin typeface="Lexend"/>
              <a:ea typeface="Lexend"/>
              <a:cs typeface="Lexend"/>
              <a:sym typeface="Lexend"/>
            </a:endParaRPr>
          </a:p>
        </p:txBody>
      </p:sp>
      <p:sp>
        <p:nvSpPr>
          <p:cNvPr id="1105" name="Google Shape;1105;p85"/>
          <p:cNvSpPr txBox="1"/>
          <p:nvPr/>
        </p:nvSpPr>
        <p:spPr>
          <a:xfrm>
            <a:off x="2932656" y="1644075"/>
            <a:ext cx="2122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9 is less than 11.</a:t>
            </a:r>
            <a:endParaRPr sz="1800">
              <a:latin typeface="Kalam"/>
              <a:ea typeface="Kalam"/>
              <a:cs typeface="Kalam"/>
              <a:sym typeface="Kalam"/>
            </a:endParaRPr>
          </a:p>
        </p:txBody>
      </p:sp>
      <p:pic>
        <p:nvPicPr>
          <p:cNvPr id="1106" name="Google Shape;1106;p85"/>
          <p:cNvPicPr preferRelativeResize="0"/>
          <p:nvPr/>
        </p:nvPicPr>
        <p:blipFill>
          <a:blip r:embed="rId4">
            <a:alphaModFix/>
          </a:blip>
          <a:stretch>
            <a:fillRect/>
          </a:stretch>
        </p:blipFill>
        <p:spPr>
          <a:xfrm>
            <a:off x="416476" y="3585607"/>
            <a:ext cx="629124" cy="823977"/>
          </a:xfrm>
          <a:prstGeom prst="rect">
            <a:avLst/>
          </a:prstGeom>
          <a:noFill/>
          <a:ln>
            <a:noFill/>
          </a:ln>
        </p:spPr>
      </p:pic>
      <p:sp>
        <p:nvSpPr>
          <p:cNvPr id="1107" name="Google Shape;1107;p85"/>
          <p:cNvSpPr txBox="1"/>
          <p:nvPr/>
        </p:nvSpPr>
        <p:spPr>
          <a:xfrm>
            <a:off x="2932656" y="1304975"/>
            <a:ext cx="2122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13 is less than 17.</a:t>
            </a:r>
            <a:endParaRPr sz="1800">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113" name="Google Shape;1113;p86"/>
          <p:cNvSpPr txBox="1"/>
          <p:nvPr/>
        </p:nvSpPr>
        <p:spPr>
          <a:xfrm>
            <a:off x="324000" y="810000"/>
            <a:ext cx="84960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u="sng">
                <a:solidFill>
                  <a:schemeClr val="hlink"/>
                </a:solidFill>
                <a:latin typeface="Lexend"/>
                <a:ea typeface="Lexend"/>
                <a:cs typeface="Lexend"/>
                <a:sym typeface="Lexend"/>
                <a:hlinkClick r:id="rId3"/>
              </a:rPr>
              <a:t>Exploration</a:t>
            </a: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a:p>
            <a:pPr indent="0" lvl="0" marL="0" rtl="0" algn="r">
              <a:lnSpc>
                <a:spcPct val="115000"/>
              </a:lnSpc>
              <a:spcBef>
                <a:spcPts val="0"/>
              </a:spcBef>
              <a:spcAft>
                <a:spcPts val="0"/>
              </a:spcAft>
              <a:buNone/>
            </a:pP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000">
              <a:solidFill>
                <a:schemeClr val="dk1"/>
              </a:solidFill>
              <a:latin typeface="Lexend"/>
              <a:ea typeface="Lexend"/>
              <a:cs typeface="Lexend"/>
              <a:sym typeface="Lexend"/>
            </a:endParaRPr>
          </a:p>
        </p:txBody>
      </p:sp>
      <p:grpSp>
        <p:nvGrpSpPr>
          <p:cNvPr id="1114" name="Google Shape;1114;p86"/>
          <p:cNvGrpSpPr/>
          <p:nvPr/>
        </p:nvGrpSpPr>
        <p:grpSpPr>
          <a:xfrm flipH="1">
            <a:off x="3074426" y="724511"/>
            <a:ext cx="3825747" cy="2062354"/>
            <a:chOff x="3962154" y="3600100"/>
            <a:chExt cx="2066854" cy="1220400"/>
          </a:xfrm>
        </p:grpSpPr>
        <p:sp>
          <p:nvSpPr>
            <p:cNvPr id="1115" name="Google Shape;1115;p86"/>
            <p:cNvSpPr/>
            <p:nvPr/>
          </p:nvSpPr>
          <p:spPr>
            <a:xfrm>
              <a:off x="3998908" y="3600100"/>
              <a:ext cx="2030100" cy="122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116" name="Google Shape;1116;p86"/>
            <p:cNvPicPr preferRelativeResize="0"/>
            <p:nvPr/>
          </p:nvPicPr>
          <p:blipFill rotWithShape="1">
            <a:blip r:embed="rId4">
              <a:alphaModFix/>
            </a:blip>
            <a:srcRect b="4760" l="40550" r="0" t="13015"/>
            <a:stretch/>
          </p:blipFill>
          <p:spPr>
            <a:xfrm>
              <a:off x="3962154" y="3674775"/>
              <a:ext cx="1949599" cy="1108200"/>
            </a:xfrm>
            <a:prstGeom prst="rect">
              <a:avLst/>
            </a:prstGeom>
            <a:noFill/>
            <a:ln>
              <a:noFill/>
            </a:ln>
          </p:spPr>
        </p:pic>
        <p:sp>
          <p:nvSpPr>
            <p:cNvPr id="1117" name="Google Shape;1117;p86"/>
            <p:cNvSpPr txBox="1"/>
            <p:nvPr/>
          </p:nvSpPr>
          <p:spPr>
            <a:xfrm>
              <a:off x="4132577" y="3736520"/>
              <a:ext cx="1731000" cy="81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Can you spot what happens to the largest angle when you compare the size of the two smaller areas to the size of the largest area?</a:t>
              </a:r>
              <a:endParaRPr sz="1800">
                <a:latin typeface="Lexend"/>
                <a:ea typeface="Lexend"/>
                <a:cs typeface="Lexend"/>
                <a:sym typeface="Lexend"/>
              </a:endParaRPr>
            </a:p>
          </p:txBody>
        </p:sp>
      </p:grpSp>
      <p:sp>
        <p:nvSpPr>
          <p:cNvPr id="1118" name="Google Shape;1118;p86"/>
          <p:cNvSpPr txBox="1"/>
          <p:nvPr/>
        </p:nvSpPr>
        <p:spPr>
          <a:xfrm flipH="1">
            <a:off x="6610391" y="285953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119" name="Google Shape;1119;p86"/>
          <p:cNvPicPr preferRelativeResize="0"/>
          <p:nvPr/>
        </p:nvPicPr>
        <p:blipFill>
          <a:blip r:embed="rId5">
            <a:alphaModFix/>
          </a:blip>
          <a:stretch>
            <a:fillRect/>
          </a:stretch>
        </p:blipFill>
        <p:spPr>
          <a:xfrm>
            <a:off x="6702928" y="2164162"/>
            <a:ext cx="629125" cy="7255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87"/>
          <p:cNvSpPr txBox="1"/>
          <p:nvPr/>
        </p:nvSpPr>
        <p:spPr>
          <a:xfrm>
            <a:off x="400350" y="2807400"/>
            <a:ext cx="32979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If the area of the largest square is </a:t>
            </a:r>
            <a:r>
              <a:rPr lang="en-GB" sz="1800">
                <a:solidFill>
                  <a:schemeClr val="accent5"/>
                </a:solidFill>
                <a:latin typeface="Lexend"/>
                <a:ea typeface="Lexend"/>
                <a:cs typeface="Lexend"/>
                <a:sym typeface="Lexend"/>
              </a:rPr>
              <a:t>less than</a:t>
            </a:r>
            <a:r>
              <a:rPr lang="en-GB" sz="1800">
                <a:latin typeface="Lexend"/>
                <a:ea typeface="Lexend"/>
                <a:cs typeface="Lexend"/>
                <a:sym typeface="Lexend"/>
              </a:rPr>
              <a:t> the sum of the two smaller areas…</a:t>
            </a:r>
            <a:endParaRPr sz="1800">
              <a:latin typeface="Lexend"/>
              <a:ea typeface="Lexend"/>
              <a:cs typeface="Lexend"/>
              <a:sym typeface="Lexend"/>
            </a:endParaRPr>
          </a:p>
        </p:txBody>
      </p:sp>
      <p:sp>
        <p:nvSpPr>
          <p:cNvPr id="1125" name="Google Shape;1125;p87"/>
          <p:cNvSpPr/>
          <p:nvPr/>
        </p:nvSpPr>
        <p:spPr>
          <a:xfrm rot="10800000">
            <a:off x="1198566" y="945417"/>
            <a:ext cx="634200" cy="634200"/>
          </a:xfrm>
          <a:prstGeom prst="arc">
            <a:avLst>
              <a:gd fmla="val 14594525" name="adj1"/>
              <a:gd fmla="val 19034336"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6" name="Google Shape;1126;p87"/>
          <p:cNvSpPr/>
          <p:nvPr/>
        </p:nvSpPr>
        <p:spPr>
          <a:xfrm rot="10800000">
            <a:off x="5802441" y="1219873"/>
            <a:ext cx="395400" cy="395400"/>
          </a:xfrm>
          <a:prstGeom prst="arc">
            <a:avLst>
              <a:gd fmla="val 12541296" name="adj1"/>
              <a:gd fmla="val 20321129"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127" name="Google Shape;1127;p87"/>
          <p:cNvPicPr preferRelativeResize="0"/>
          <p:nvPr/>
        </p:nvPicPr>
        <p:blipFill rotWithShape="1">
          <a:blip r:embed="rId3">
            <a:alphaModFix/>
          </a:blip>
          <a:srcRect b="0" l="0" r="68905" t="0"/>
          <a:stretch/>
        </p:blipFill>
        <p:spPr>
          <a:xfrm flipH="1">
            <a:off x="247951" y="547273"/>
            <a:ext cx="2147253" cy="2671429"/>
          </a:xfrm>
          <a:prstGeom prst="rect">
            <a:avLst/>
          </a:prstGeom>
          <a:noFill/>
          <a:ln>
            <a:noFill/>
          </a:ln>
        </p:spPr>
      </p:pic>
      <p:sp>
        <p:nvSpPr>
          <p:cNvPr id="1128" name="Google Shape;1128;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pic>
        <p:nvPicPr>
          <p:cNvPr id="1129" name="Google Shape;1129;p87"/>
          <p:cNvPicPr preferRelativeResize="0"/>
          <p:nvPr/>
        </p:nvPicPr>
        <p:blipFill rotWithShape="1">
          <a:blip r:embed="rId3">
            <a:alphaModFix/>
          </a:blip>
          <a:srcRect b="0" l="34592" r="34312" t="0"/>
          <a:stretch/>
        </p:blipFill>
        <p:spPr>
          <a:xfrm>
            <a:off x="4823988" y="429651"/>
            <a:ext cx="2147253" cy="2671429"/>
          </a:xfrm>
          <a:prstGeom prst="rect">
            <a:avLst/>
          </a:prstGeom>
          <a:noFill/>
          <a:ln>
            <a:noFill/>
          </a:ln>
        </p:spPr>
      </p:pic>
      <p:sp>
        <p:nvSpPr>
          <p:cNvPr id="1130" name="Google Shape;1130;p87"/>
          <p:cNvSpPr txBox="1"/>
          <p:nvPr/>
        </p:nvSpPr>
        <p:spPr>
          <a:xfrm>
            <a:off x="463814" y="786740"/>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 units²</a:t>
            </a:r>
            <a:endParaRPr sz="1800">
              <a:latin typeface="Lexend"/>
              <a:ea typeface="Lexend"/>
              <a:cs typeface="Lexend"/>
              <a:sym typeface="Lexend"/>
            </a:endParaRPr>
          </a:p>
        </p:txBody>
      </p:sp>
      <p:sp>
        <p:nvSpPr>
          <p:cNvPr id="1131" name="Google Shape;1131;p87"/>
          <p:cNvSpPr txBox="1"/>
          <p:nvPr/>
        </p:nvSpPr>
        <p:spPr>
          <a:xfrm>
            <a:off x="1486835" y="909529"/>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32" name="Google Shape;1132;p87"/>
          <p:cNvSpPr txBox="1"/>
          <p:nvPr/>
        </p:nvSpPr>
        <p:spPr>
          <a:xfrm>
            <a:off x="907728" y="1823620"/>
            <a:ext cx="880500" cy="880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 units²</a:t>
            </a:r>
            <a:endParaRPr sz="1800">
              <a:latin typeface="Lexend"/>
              <a:ea typeface="Lexend"/>
              <a:cs typeface="Lexend"/>
              <a:sym typeface="Lexend"/>
            </a:endParaRPr>
          </a:p>
        </p:txBody>
      </p:sp>
      <p:sp>
        <p:nvSpPr>
          <p:cNvPr id="1133" name="Google Shape;1133;p87"/>
          <p:cNvSpPr txBox="1"/>
          <p:nvPr/>
        </p:nvSpPr>
        <p:spPr>
          <a:xfrm>
            <a:off x="4959933" y="669103"/>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 units²</a:t>
            </a:r>
            <a:endParaRPr sz="1800">
              <a:latin typeface="Lexend"/>
              <a:ea typeface="Lexend"/>
              <a:cs typeface="Lexend"/>
              <a:sym typeface="Lexend"/>
            </a:endParaRPr>
          </a:p>
        </p:txBody>
      </p:sp>
      <p:sp>
        <p:nvSpPr>
          <p:cNvPr id="1134" name="Google Shape;1134;p87"/>
          <p:cNvSpPr txBox="1"/>
          <p:nvPr/>
        </p:nvSpPr>
        <p:spPr>
          <a:xfrm>
            <a:off x="5961269" y="791892"/>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35" name="Google Shape;1135;p87"/>
          <p:cNvSpPr txBox="1"/>
          <p:nvPr/>
        </p:nvSpPr>
        <p:spPr>
          <a:xfrm>
            <a:off x="5242797" y="1719929"/>
            <a:ext cx="1310700" cy="13101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18 units²</a:t>
            </a:r>
            <a:endParaRPr sz="1800">
              <a:latin typeface="Lexend"/>
              <a:ea typeface="Lexend"/>
              <a:cs typeface="Lexend"/>
              <a:sym typeface="Lexend"/>
            </a:endParaRPr>
          </a:p>
        </p:txBody>
      </p:sp>
      <p:sp>
        <p:nvSpPr>
          <p:cNvPr id="1136" name="Google Shape;1136;p87"/>
          <p:cNvSpPr txBox="1"/>
          <p:nvPr/>
        </p:nvSpPr>
        <p:spPr>
          <a:xfrm>
            <a:off x="400350" y="3970575"/>
            <a:ext cx="32979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is always </a:t>
            </a:r>
            <a:r>
              <a:rPr lang="en-GB" sz="1800">
                <a:solidFill>
                  <a:schemeClr val="accent5"/>
                </a:solidFill>
                <a:latin typeface="Lexend"/>
                <a:ea typeface="Lexend"/>
                <a:cs typeface="Lexend"/>
                <a:sym typeface="Lexend"/>
              </a:rPr>
              <a:t>acute</a:t>
            </a:r>
            <a:r>
              <a:rPr lang="en-GB" sz="1800">
                <a:latin typeface="Lexend"/>
                <a:ea typeface="Lexend"/>
                <a:cs typeface="Lexend"/>
                <a:sym typeface="Lexend"/>
              </a:rPr>
              <a:t>.</a:t>
            </a:r>
            <a:endParaRPr sz="1800">
              <a:latin typeface="Lexend"/>
              <a:ea typeface="Lexend"/>
              <a:cs typeface="Lexend"/>
              <a:sym typeface="Lexend"/>
            </a:endParaRPr>
          </a:p>
        </p:txBody>
      </p:sp>
      <p:sp>
        <p:nvSpPr>
          <p:cNvPr id="1137" name="Google Shape;1137;p87"/>
          <p:cNvSpPr txBox="1"/>
          <p:nvPr/>
        </p:nvSpPr>
        <p:spPr>
          <a:xfrm>
            <a:off x="4824000" y="3134675"/>
            <a:ext cx="3637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If the area of the largest square is </a:t>
            </a:r>
            <a:r>
              <a:rPr lang="en-GB" sz="1800">
                <a:solidFill>
                  <a:schemeClr val="accent5"/>
                </a:solidFill>
                <a:latin typeface="Lexend"/>
                <a:ea typeface="Lexend"/>
                <a:cs typeface="Lexend"/>
                <a:sym typeface="Lexend"/>
              </a:rPr>
              <a:t>greater than</a:t>
            </a:r>
            <a:r>
              <a:rPr lang="en-GB" sz="1800">
                <a:solidFill>
                  <a:schemeClr val="dk1"/>
                </a:solidFill>
                <a:latin typeface="Lexend"/>
                <a:ea typeface="Lexend"/>
                <a:cs typeface="Lexend"/>
                <a:sym typeface="Lexend"/>
              </a:rPr>
              <a:t> the sum of the two smaller areas…</a:t>
            </a:r>
            <a:endParaRPr sz="1800">
              <a:latin typeface="Lexend"/>
              <a:ea typeface="Lexend"/>
              <a:cs typeface="Lexend"/>
              <a:sym typeface="Lexend"/>
            </a:endParaRPr>
          </a:p>
        </p:txBody>
      </p:sp>
      <p:sp>
        <p:nvSpPr>
          <p:cNvPr id="1138" name="Google Shape;1138;p87"/>
          <p:cNvSpPr txBox="1"/>
          <p:nvPr/>
        </p:nvSpPr>
        <p:spPr>
          <a:xfrm>
            <a:off x="4824000" y="4069250"/>
            <a:ext cx="32979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is always </a:t>
            </a:r>
            <a:r>
              <a:rPr lang="en-GB" sz="1800">
                <a:solidFill>
                  <a:schemeClr val="accent5"/>
                </a:solidFill>
                <a:latin typeface="Lexend"/>
                <a:ea typeface="Lexend"/>
                <a:cs typeface="Lexend"/>
                <a:sym typeface="Lexend"/>
              </a:rPr>
              <a:t>obtuse</a:t>
            </a:r>
            <a:r>
              <a:rPr lang="en-GB" sz="1800">
                <a:latin typeface="Lexend"/>
                <a:ea typeface="Lexend"/>
                <a:cs typeface="Lexend"/>
                <a:sym typeface="Lexend"/>
              </a:rPr>
              <a:t>.</a:t>
            </a:r>
            <a:endParaRPr sz="1800">
              <a:latin typeface="Lexend"/>
              <a:ea typeface="Lexend"/>
              <a:cs typeface="Lexend"/>
              <a:sym typeface="Lexend"/>
            </a:endParaRPr>
          </a:p>
        </p:txBody>
      </p:sp>
      <p:grpSp>
        <p:nvGrpSpPr>
          <p:cNvPr id="1139" name="Google Shape;1139;p87"/>
          <p:cNvGrpSpPr/>
          <p:nvPr/>
        </p:nvGrpSpPr>
        <p:grpSpPr>
          <a:xfrm>
            <a:off x="1515625" y="1522641"/>
            <a:ext cx="1698081" cy="992914"/>
            <a:chOff x="1515625" y="1522641"/>
            <a:chExt cx="1698081" cy="992914"/>
          </a:xfrm>
        </p:grpSpPr>
        <p:sp>
          <p:nvSpPr>
            <p:cNvPr id="1140" name="Google Shape;1140;p87"/>
            <p:cNvSpPr txBox="1"/>
            <p:nvPr/>
          </p:nvSpPr>
          <p:spPr>
            <a:xfrm>
              <a:off x="2107906" y="2053854"/>
              <a:ext cx="110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acute</a:t>
              </a:r>
              <a:endParaRPr/>
            </a:p>
          </p:txBody>
        </p:sp>
        <p:cxnSp>
          <p:nvCxnSpPr>
            <p:cNvPr id="1141" name="Google Shape;1141;p87"/>
            <p:cNvCxnSpPr/>
            <p:nvPr/>
          </p:nvCxnSpPr>
          <p:spPr>
            <a:xfrm rot="10800000">
              <a:off x="1515625" y="1522641"/>
              <a:ext cx="691200" cy="699600"/>
            </a:xfrm>
            <a:prstGeom prst="straightConnector1">
              <a:avLst/>
            </a:prstGeom>
            <a:noFill/>
            <a:ln cap="flat" cmpd="sng" w="28575">
              <a:solidFill>
                <a:schemeClr val="accent5"/>
              </a:solidFill>
              <a:prstDash val="solid"/>
              <a:round/>
              <a:headEnd len="med" w="med" type="none"/>
              <a:tailEnd len="med" w="med" type="none"/>
            </a:ln>
          </p:spPr>
        </p:cxnSp>
      </p:grpSp>
      <p:sp>
        <p:nvSpPr>
          <p:cNvPr id="1142" name="Google Shape;1142;p87"/>
          <p:cNvSpPr txBox="1"/>
          <p:nvPr/>
        </p:nvSpPr>
        <p:spPr>
          <a:xfrm>
            <a:off x="2523475" y="1414275"/>
            <a:ext cx="13107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8 is less than 11.</a:t>
            </a:r>
            <a:endParaRPr sz="1800">
              <a:latin typeface="Kalam"/>
              <a:ea typeface="Kalam"/>
              <a:cs typeface="Kalam"/>
              <a:sym typeface="Kalam"/>
            </a:endParaRPr>
          </a:p>
        </p:txBody>
      </p:sp>
      <p:grpSp>
        <p:nvGrpSpPr>
          <p:cNvPr id="1143" name="Google Shape;1143;p87"/>
          <p:cNvGrpSpPr/>
          <p:nvPr/>
        </p:nvGrpSpPr>
        <p:grpSpPr>
          <a:xfrm>
            <a:off x="5986825" y="1527708"/>
            <a:ext cx="1700675" cy="873865"/>
            <a:chOff x="6357475" y="1234650"/>
            <a:chExt cx="1700675" cy="873865"/>
          </a:xfrm>
        </p:grpSpPr>
        <p:sp>
          <p:nvSpPr>
            <p:cNvPr id="1144" name="Google Shape;1144;p87"/>
            <p:cNvSpPr txBox="1"/>
            <p:nvPr/>
          </p:nvSpPr>
          <p:spPr>
            <a:xfrm>
              <a:off x="7023150" y="1646815"/>
              <a:ext cx="1035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obtuse</a:t>
              </a:r>
              <a:endParaRPr/>
            </a:p>
          </p:txBody>
        </p:sp>
        <p:cxnSp>
          <p:nvCxnSpPr>
            <p:cNvPr id="1145" name="Google Shape;1145;p87"/>
            <p:cNvCxnSpPr/>
            <p:nvPr/>
          </p:nvCxnSpPr>
          <p:spPr>
            <a:xfrm rot="10800000">
              <a:off x="6357475" y="1234650"/>
              <a:ext cx="734700" cy="615000"/>
            </a:xfrm>
            <a:prstGeom prst="straightConnector1">
              <a:avLst/>
            </a:prstGeom>
            <a:noFill/>
            <a:ln cap="flat" cmpd="sng" w="28575">
              <a:solidFill>
                <a:schemeClr val="accent5"/>
              </a:solidFill>
              <a:prstDash val="solid"/>
              <a:round/>
              <a:headEnd len="med" w="med" type="none"/>
              <a:tailEnd len="med" w="med" type="none"/>
            </a:ln>
          </p:spPr>
        </p:cxnSp>
      </p:grpSp>
      <p:sp>
        <p:nvSpPr>
          <p:cNvPr id="1146" name="Google Shape;1146;p87"/>
          <p:cNvSpPr txBox="1"/>
          <p:nvPr/>
        </p:nvSpPr>
        <p:spPr>
          <a:xfrm>
            <a:off x="7238350" y="1414275"/>
            <a:ext cx="13107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18 is greater than 11.</a:t>
            </a:r>
            <a:endParaRPr sz="1800">
              <a:latin typeface="Kalam"/>
              <a:ea typeface="Kalam"/>
              <a:cs typeface="Kalam"/>
              <a:sym typeface="Kalam"/>
            </a:endParaRPr>
          </a:p>
        </p:txBody>
      </p:sp>
      <p:sp>
        <p:nvSpPr>
          <p:cNvPr id="1147" name="Google Shape;1147;p87"/>
          <p:cNvSpPr txBox="1"/>
          <p:nvPr/>
        </p:nvSpPr>
        <p:spPr>
          <a:xfrm>
            <a:off x="2523475" y="810000"/>
            <a:ext cx="13107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7 + 4 = 11</a:t>
            </a:r>
            <a:endParaRPr sz="1800">
              <a:latin typeface="Kalam"/>
              <a:ea typeface="Kalam"/>
              <a:cs typeface="Kalam"/>
              <a:sym typeface="Kalam"/>
            </a:endParaRPr>
          </a:p>
        </p:txBody>
      </p:sp>
      <p:sp>
        <p:nvSpPr>
          <p:cNvPr id="1148" name="Google Shape;1148;p87"/>
          <p:cNvSpPr txBox="1"/>
          <p:nvPr/>
        </p:nvSpPr>
        <p:spPr>
          <a:xfrm>
            <a:off x="7238350" y="810000"/>
            <a:ext cx="13107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7 + 4 = 11</a:t>
            </a:r>
            <a:endParaRPr sz="1800">
              <a:latin typeface="Kalam"/>
              <a:ea typeface="Kalam"/>
              <a:cs typeface="Kalam"/>
              <a:sym typeface="Kalam"/>
            </a:endParaRPr>
          </a:p>
        </p:txBody>
      </p:sp>
      <p:cxnSp>
        <p:nvCxnSpPr>
          <p:cNvPr id="1149" name="Google Shape;1149;p87"/>
          <p:cNvCxnSpPr/>
          <p:nvPr/>
        </p:nvCxnSpPr>
        <p:spPr>
          <a:xfrm>
            <a:off x="4572000" y="525400"/>
            <a:ext cx="0" cy="4293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8"/>
          <p:cNvSpPr txBox="1"/>
          <p:nvPr/>
        </p:nvSpPr>
        <p:spPr>
          <a:xfrm>
            <a:off x="628950" y="2648075"/>
            <a:ext cx="40722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If the area of the largest square is </a:t>
            </a:r>
            <a:r>
              <a:rPr lang="en-GB" sz="1800">
                <a:solidFill>
                  <a:schemeClr val="accent5"/>
                </a:solidFill>
                <a:latin typeface="Lexend"/>
                <a:ea typeface="Lexend"/>
                <a:cs typeface="Lexend"/>
                <a:sym typeface="Lexend"/>
              </a:rPr>
              <a:t>equal to</a:t>
            </a:r>
            <a:r>
              <a:rPr lang="en-GB" sz="1800">
                <a:solidFill>
                  <a:schemeClr val="dk1"/>
                </a:solidFill>
                <a:latin typeface="Lexend"/>
                <a:ea typeface="Lexend"/>
                <a:cs typeface="Lexend"/>
                <a:sym typeface="Lexend"/>
              </a:rPr>
              <a:t> the</a:t>
            </a:r>
            <a:r>
              <a:rPr lang="en-GB" sz="1800">
                <a:latin typeface="Lexend"/>
                <a:ea typeface="Lexend"/>
                <a:cs typeface="Lexend"/>
                <a:sym typeface="Lexend"/>
              </a:rPr>
              <a:t> sum of the two smaller areas…</a:t>
            </a:r>
            <a:endParaRPr sz="1800">
              <a:latin typeface="Lexend"/>
              <a:ea typeface="Lexend"/>
              <a:cs typeface="Lexend"/>
              <a:sym typeface="Lexend"/>
            </a:endParaRPr>
          </a:p>
        </p:txBody>
      </p:sp>
      <p:sp>
        <p:nvSpPr>
          <p:cNvPr id="1155" name="Google Shape;1155;p88"/>
          <p:cNvSpPr txBox="1"/>
          <p:nvPr/>
        </p:nvSpPr>
        <p:spPr>
          <a:xfrm>
            <a:off x="5637750" y="3668025"/>
            <a:ext cx="25716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11 units² is the area of the largest square.</a:t>
            </a:r>
            <a:endParaRPr sz="1800">
              <a:latin typeface="Kalam"/>
              <a:ea typeface="Kalam"/>
              <a:cs typeface="Kalam"/>
              <a:sym typeface="Kalam"/>
            </a:endParaRPr>
          </a:p>
        </p:txBody>
      </p:sp>
      <p:sp>
        <p:nvSpPr>
          <p:cNvPr id="1156" name="Google Shape;1156;p88"/>
          <p:cNvSpPr/>
          <p:nvPr/>
        </p:nvSpPr>
        <p:spPr>
          <a:xfrm rot="10800000">
            <a:off x="6866450" y="1129638"/>
            <a:ext cx="395400" cy="395400"/>
          </a:xfrm>
          <a:prstGeom prst="arc">
            <a:avLst>
              <a:gd fmla="val 13948647" name="adj1"/>
              <a:gd fmla="val 19464634"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7" name="Google Shape;1157;p88"/>
          <p:cNvSpPr/>
          <p:nvPr/>
        </p:nvSpPr>
        <p:spPr>
          <a:xfrm rot="8556059">
            <a:off x="6912317" y="1376551"/>
            <a:ext cx="253391" cy="253391"/>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158" name="Google Shape;1158;p88"/>
          <p:cNvPicPr preferRelativeResize="0"/>
          <p:nvPr/>
        </p:nvPicPr>
        <p:blipFill rotWithShape="1">
          <a:blip r:embed="rId3">
            <a:alphaModFix/>
          </a:blip>
          <a:srcRect b="0" l="67549" r="0" t="0"/>
          <a:stretch/>
        </p:blipFill>
        <p:spPr>
          <a:xfrm>
            <a:off x="5774392" y="547268"/>
            <a:ext cx="2240907" cy="2671429"/>
          </a:xfrm>
          <a:prstGeom prst="rect">
            <a:avLst/>
          </a:prstGeom>
          <a:noFill/>
          <a:ln>
            <a:noFill/>
          </a:ln>
        </p:spPr>
      </p:pic>
      <p:sp>
        <p:nvSpPr>
          <p:cNvPr id="1159" name="Google Shape;1159;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160" name="Google Shape;1160;p88"/>
          <p:cNvSpPr txBox="1"/>
          <p:nvPr/>
        </p:nvSpPr>
        <p:spPr>
          <a:xfrm>
            <a:off x="6017505" y="786740"/>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 units²</a:t>
            </a:r>
            <a:endParaRPr sz="1800">
              <a:latin typeface="Lexend"/>
              <a:ea typeface="Lexend"/>
              <a:cs typeface="Lexend"/>
              <a:sym typeface="Lexend"/>
            </a:endParaRPr>
          </a:p>
        </p:txBody>
      </p:sp>
      <p:sp>
        <p:nvSpPr>
          <p:cNvPr id="1161" name="Google Shape;1161;p88"/>
          <p:cNvSpPr txBox="1"/>
          <p:nvPr/>
        </p:nvSpPr>
        <p:spPr>
          <a:xfrm>
            <a:off x="7062316" y="877911"/>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62" name="Google Shape;1162;p88"/>
          <p:cNvSpPr txBox="1"/>
          <p:nvPr/>
        </p:nvSpPr>
        <p:spPr>
          <a:xfrm>
            <a:off x="6398113" y="1837558"/>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 units²</a:t>
            </a:r>
            <a:endParaRPr sz="1800">
              <a:latin typeface="Lexend"/>
              <a:ea typeface="Lexend"/>
              <a:cs typeface="Lexend"/>
              <a:sym typeface="Lexend"/>
            </a:endParaRPr>
          </a:p>
        </p:txBody>
      </p:sp>
      <p:sp>
        <p:nvSpPr>
          <p:cNvPr id="1163" name="Google Shape;1163;p88"/>
          <p:cNvSpPr txBox="1"/>
          <p:nvPr/>
        </p:nvSpPr>
        <p:spPr>
          <a:xfrm>
            <a:off x="400350" y="1286125"/>
            <a:ext cx="52728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What’s the relationship between:</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the areas of the two smaller squares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the area of the larger square?</a:t>
            </a:r>
            <a:endParaRPr sz="1800">
              <a:latin typeface="Lexend"/>
              <a:ea typeface="Lexend"/>
              <a:cs typeface="Lexend"/>
              <a:sym typeface="Lexend"/>
            </a:endParaRPr>
          </a:p>
        </p:txBody>
      </p:sp>
      <p:sp>
        <p:nvSpPr>
          <p:cNvPr id="1164" name="Google Shape;1164;p88"/>
          <p:cNvSpPr txBox="1"/>
          <p:nvPr/>
        </p:nvSpPr>
        <p:spPr>
          <a:xfrm>
            <a:off x="400350" y="786750"/>
            <a:ext cx="5272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what about a right-angled triangle?</a:t>
            </a:r>
            <a:endParaRPr sz="1800">
              <a:latin typeface="Lexend"/>
              <a:ea typeface="Lexend"/>
              <a:cs typeface="Lexend"/>
              <a:sym typeface="Lexend"/>
            </a:endParaRPr>
          </a:p>
        </p:txBody>
      </p:sp>
      <p:sp>
        <p:nvSpPr>
          <p:cNvPr id="1165" name="Google Shape;1165;p88"/>
          <p:cNvSpPr txBox="1"/>
          <p:nvPr/>
        </p:nvSpPr>
        <p:spPr>
          <a:xfrm>
            <a:off x="628950" y="3582650"/>
            <a:ext cx="4072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is always </a:t>
            </a:r>
            <a:r>
              <a:rPr lang="en-GB" sz="1800">
                <a:solidFill>
                  <a:schemeClr val="accent5"/>
                </a:solidFill>
                <a:latin typeface="Lexend"/>
                <a:ea typeface="Lexend"/>
                <a:cs typeface="Lexend"/>
                <a:sym typeface="Lexend"/>
              </a:rPr>
              <a:t>right-angled</a:t>
            </a:r>
            <a:r>
              <a:rPr lang="en-GB" sz="1800">
                <a:latin typeface="Lexend"/>
                <a:ea typeface="Lexend"/>
                <a:cs typeface="Lexend"/>
                <a:sym typeface="Lexend"/>
              </a:rPr>
              <a:t>.</a:t>
            </a:r>
            <a:endParaRPr sz="1800">
              <a:latin typeface="Lexend"/>
              <a:ea typeface="Lexend"/>
              <a:cs typeface="Lexend"/>
              <a:sym typeface="Lexend"/>
            </a:endParaRPr>
          </a:p>
        </p:txBody>
      </p:sp>
      <p:sp>
        <p:nvSpPr>
          <p:cNvPr id="1166" name="Google Shape;1166;p88"/>
          <p:cNvSpPr txBox="1"/>
          <p:nvPr/>
        </p:nvSpPr>
        <p:spPr>
          <a:xfrm>
            <a:off x="6268075" y="3063750"/>
            <a:ext cx="13107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Kalam"/>
                <a:ea typeface="Kalam"/>
                <a:cs typeface="Kalam"/>
                <a:sym typeface="Kalam"/>
              </a:rPr>
              <a:t>7 + 4 = 11</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172" name="Google Shape;1172;p89"/>
          <p:cNvGrpSpPr/>
          <p:nvPr/>
        </p:nvGrpSpPr>
        <p:grpSpPr>
          <a:xfrm>
            <a:off x="1103899" y="746195"/>
            <a:ext cx="317800" cy="317800"/>
            <a:chOff x="1020916" y="1442088"/>
            <a:chExt cx="457200" cy="457200"/>
          </a:xfrm>
        </p:grpSpPr>
        <p:pic>
          <p:nvPicPr>
            <p:cNvPr id="1173" name="Google Shape;1173;p8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4" name="Google Shape;1174;p8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75" name="Google Shape;1175;p89"/>
          <p:cNvGrpSpPr/>
          <p:nvPr/>
        </p:nvGrpSpPr>
        <p:grpSpPr>
          <a:xfrm>
            <a:off x="4183899" y="862195"/>
            <a:ext cx="317800" cy="317800"/>
            <a:chOff x="1020916" y="1442088"/>
            <a:chExt cx="457200" cy="457200"/>
          </a:xfrm>
        </p:grpSpPr>
        <p:pic>
          <p:nvPicPr>
            <p:cNvPr id="1176" name="Google Shape;1176;p8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7" name="Google Shape;1177;p8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8" name="Google Shape;1178;p89"/>
          <p:cNvGrpSpPr/>
          <p:nvPr/>
        </p:nvGrpSpPr>
        <p:grpSpPr>
          <a:xfrm>
            <a:off x="6752074" y="1140795"/>
            <a:ext cx="317800" cy="317800"/>
            <a:chOff x="1020916" y="1442088"/>
            <a:chExt cx="457200" cy="457200"/>
          </a:xfrm>
        </p:grpSpPr>
        <p:pic>
          <p:nvPicPr>
            <p:cNvPr id="1179" name="Google Shape;1179;p8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80" name="Google Shape;1180;p8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181" name="Google Shape;1181;p89"/>
          <p:cNvSpPr txBox="1"/>
          <p:nvPr/>
        </p:nvSpPr>
        <p:spPr>
          <a:xfrm>
            <a:off x="1796875" y="2326111"/>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20 units²</a:t>
            </a:r>
            <a:endParaRPr sz="1800">
              <a:latin typeface="Lexend"/>
              <a:ea typeface="Lexend"/>
              <a:cs typeface="Lexend"/>
              <a:sym typeface="Lexend"/>
            </a:endParaRPr>
          </a:p>
        </p:txBody>
      </p:sp>
      <p:sp>
        <p:nvSpPr>
          <p:cNvPr id="1182" name="Google Shape;1182;p89"/>
          <p:cNvSpPr txBox="1"/>
          <p:nvPr/>
        </p:nvSpPr>
        <p:spPr>
          <a:xfrm>
            <a:off x="4723800" y="2326111"/>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20 units²</a:t>
            </a:r>
            <a:endParaRPr sz="1800">
              <a:latin typeface="Lexend"/>
              <a:ea typeface="Lexend"/>
              <a:cs typeface="Lexend"/>
              <a:sym typeface="Lexend"/>
            </a:endParaRPr>
          </a:p>
        </p:txBody>
      </p:sp>
      <p:sp>
        <p:nvSpPr>
          <p:cNvPr id="1183" name="Google Shape;1183;p89"/>
          <p:cNvSpPr txBox="1"/>
          <p:nvPr/>
        </p:nvSpPr>
        <p:spPr>
          <a:xfrm>
            <a:off x="7427060" y="2250073"/>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 units²</a:t>
            </a:r>
            <a:endParaRPr sz="1800">
              <a:latin typeface="Lexend"/>
              <a:ea typeface="Lexend"/>
              <a:cs typeface="Lexend"/>
              <a:sym typeface="Lexend"/>
            </a:endParaRPr>
          </a:p>
        </p:txBody>
      </p:sp>
      <p:sp>
        <p:nvSpPr>
          <p:cNvPr id="1184" name="Google Shape;1184;p89"/>
          <p:cNvSpPr txBox="1"/>
          <p:nvPr/>
        </p:nvSpPr>
        <p:spPr>
          <a:xfrm>
            <a:off x="513760" y="1586398"/>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 units²</a:t>
            </a:r>
            <a:endParaRPr sz="1800">
              <a:latin typeface="Lexend"/>
              <a:ea typeface="Lexend"/>
              <a:cs typeface="Lexend"/>
              <a:sym typeface="Lexend"/>
            </a:endParaRPr>
          </a:p>
        </p:txBody>
      </p:sp>
      <p:sp>
        <p:nvSpPr>
          <p:cNvPr id="1185" name="Google Shape;1185;p89"/>
          <p:cNvSpPr txBox="1"/>
          <p:nvPr/>
        </p:nvSpPr>
        <p:spPr>
          <a:xfrm>
            <a:off x="1629350" y="883418"/>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86" name="Google Shape;1186;p89"/>
          <p:cNvSpPr txBox="1"/>
          <p:nvPr/>
        </p:nvSpPr>
        <p:spPr>
          <a:xfrm>
            <a:off x="3558160" y="1586418"/>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87" name="Google Shape;1187;p89"/>
          <p:cNvSpPr txBox="1"/>
          <p:nvPr/>
        </p:nvSpPr>
        <p:spPr>
          <a:xfrm>
            <a:off x="4532938" y="1000621"/>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6</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88" name="Google Shape;1188;p89"/>
          <p:cNvSpPr txBox="1"/>
          <p:nvPr/>
        </p:nvSpPr>
        <p:spPr>
          <a:xfrm>
            <a:off x="6302740" y="1758443"/>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89" name="Google Shape;1189;p89"/>
          <p:cNvSpPr txBox="1"/>
          <p:nvPr/>
        </p:nvSpPr>
        <p:spPr>
          <a:xfrm>
            <a:off x="7180738" y="1062883"/>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190" name="Google Shape;1190;p89"/>
          <p:cNvSpPr/>
          <p:nvPr/>
        </p:nvSpPr>
        <p:spPr>
          <a:xfrm rot="10800000">
            <a:off x="1336196" y="1138973"/>
            <a:ext cx="634200" cy="634200"/>
          </a:xfrm>
          <a:prstGeom prst="arc">
            <a:avLst>
              <a:gd fmla="val 11709397" name="adj1"/>
              <a:gd fmla="val 17133728"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1" name="Google Shape;1191;p89"/>
          <p:cNvSpPr/>
          <p:nvPr/>
        </p:nvSpPr>
        <p:spPr>
          <a:xfrm rot="10800000">
            <a:off x="4357130" y="1265592"/>
            <a:ext cx="634200" cy="634200"/>
          </a:xfrm>
          <a:prstGeom prst="arc">
            <a:avLst>
              <a:gd fmla="val 11219427" name="adj1"/>
              <a:gd fmla="val 17526528"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2" name="Google Shape;1192;p89"/>
          <p:cNvSpPr/>
          <p:nvPr/>
        </p:nvSpPr>
        <p:spPr>
          <a:xfrm rot="10800000">
            <a:off x="6918629" y="1298562"/>
            <a:ext cx="634200" cy="634200"/>
          </a:xfrm>
          <a:prstGeom prst="arc">
            <a:avLst>
              <a:gd fmla="val 11646047" name="adj1"/>
              <a:gd fmla="val 16129886"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3" name="Google Shape;1193;p89"/>
          <p:cNvSpPr txBox="1"/>
          <p:nvPr/>
        </p:nvSpPr>
        <p:spPr>
          <a:xfrm>
            <a:off x="435425" y="4195200"/>
            <a:ext cx="81969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In which of these triangles is the largest angle (marked with an angle marker): </a:t>
            </a:r>
            <a:r>
              <a:rPr lang="en-GB" sz="1800">
                <a:solidFill>
                  <a:schemeClr val="accent5"/>
                </a:solidFill>
                <a:latin typeface="Lexend"/>
                <a:ea typeface="Lexend"/>
                <a:cs typeface="Lexend"/>
                <a:sym typeface="Lexend"/>
              </a:rPr>
              <a:t>acute</a:t>
            </a:r>
            <a:r>
              <a:rPr lang="en-GB" sz="1800">
                <a:latin typeface="Lexend"/>
                <a:ea typeface="Lexend"/>
                <a:cs typeface="Lexend"/>
                <a:sym typeface="Lexend"/>
              </a:rPr>
              <a:t>, </a:t>
            </a:r>
            <a:r>
              <a:rPr lang="en-GB" sz="1800">
                <a:solidFill>
                  <a:schemeClr val="accent5"/>
                </a:solidFill>
                <a:latin typeface="Lexend"/>
                <a:ea typeface="Lexend"/>
                <a:cs typeface="Lexend"/>
                <a:sym typeface="Lexend"/>
              </a:rPr>
              <a:t>obtuse</a:t>
            </a:r>
            <a:r>
              <a:rPr lang="en-GB" sz="1800">
                <a:latin typeface="Lexend"/>
                <a:ea typeface="Lexend"/>
                <a:cs typeface="Lexend"/>
                <a:sym typeface="Lexend"/>
              </a:rPr>
              <a:t>, </a:t>
            </a:r>
            <a:r>
              <a:rPr lang="en-GB" sz="1800">
                <a:solidFill>
                  <a:schemeClr val="accent5"/>
                </a:solidFill>
                <a:latin typeface="Lexend"/>
                <a:ea typeface="Lexend"/>
                <a:cs typeface="Lexend"/>
                <a:sym typeface="Lexend"/>
              </a:rPr>
              <a:t>right-angled</a:t>
            </a:r>
            <a:r>
              <a:rPr lang="en-GB" sz="1800">
                <a:latin typeface="Lexend"/>
                <a:ea typeface="Lexend"/>
                <a:cs typeface="Lexend"/>
                <a:sym typeface="Lexend"/>
              </a:rPr>
              <a:t>?</a:t>
            </a:r>
            <a:endParaRPr sz="1800">
              <a:latin typeface="Lexend"/>
              <a:ea typeface="Lexend"/>
              <a:cs typeface="Lexend"/>
              <a:sym typeface="Lexend"/>
            </a:endParaRPr>
          </a:p>
        </p:txBody>
      </p:sp>
      <p:pic>
        <p:nvPicPr>
          <p:cNvPr id="1194" name="Google Shape;1194;p89"/>
          <p:cNvPicPr preferRelativeResize="0"/>
          <p:nvPr/>
        </p:nvPicPr>
        <p:blipFill rotWithShape="1">
          <a:blip r:embed="rId4">
            <a:alphaModFix/>
          </a:blip>
          <a:srcRect b="0" l="0" r="0" t="12579"/>
          <a:stretch/>
        </p:blipFill>
        <p:spPr>
          <a:xfrm>
            <a:off x="324000" y="564706"/>
            <a:ext cx="8496000" cy="3046150"/>
          </a:xfrm>
          <a:prstGeom prst="rect">
            <a:avLst/>
          </a:prstGeom>
          <a:noFill/>
          <a:ln>
            <a:noFill/>
          </a:ln>
        </p:spPr>
      </p:pic>
      <p:grpSp>
        <p:nvGrpSpPr>
          <p:cNvPr id="1195" name="Google Shape;1195;p89"/>
          <p:cNvGrpSpPr/>
          <p:nvPr/>
        </p:nvGrpSpPr>
        <p:grpSpPr>
          <a:xfrm>
            <a:off x="443700" y="1650888"/>
            <a:ext cx="7388275" cy="1590088"/>
            <a:chOff x="443700" y="1650888"/>
            <a:chExt cx="7388275" cy="1590088"/>
          </a:xfrm>
        </p:grpSpPr>
        <p:sp>
          <p:nvSpPr>
            <p:cNvPr id="1196" name="Google Shape;1196;p89"/>
            <p:cNvSpPr txBox="1"/>
            <p:nvPr/>
          </p:nvSpPr>
          <p:spPr>
            <a:xfrm>
              <a:off x="443700" y="2933175"/>
              <a:ext cx="1469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right-angled</a:t>
              </a:r>
              <a:endParaRPr sz="2000">
                <a:latin typeface="Kalam"/>
                <a:ea typeface="Kalam"/>
                <a:cs typeface="Kalam"/>
                <a:sym typeface="Kalam"/>
              </a:endParaRPr>
            </a:p>
          </p:txBody>
        </p:sp>
        <p:sp>
          <p:nvSpPr>
            <p:cNvPr id="1197" name="Google Shape;1197;p89"/>
            <p:cNvSpPr txBox="1"/>
            <p:nvPr/>
          </p:nvSpPr>
          <p:spPr>
            <a:xfrm>
              <a:off x="3794700" y="2739575"/>
              <a:ext cx="1050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obtuse</a:t>
              </a:r>
              <a:endParaRPr sz="2000">
                <a:latin typeface="Kalam"/>
                <a:ea typeface="Kalam"/>
                <a:cs typeface="Kalam"/>
                <a:sym typeface="Kalam"/>
              </a:endParaRPr>
            </a:p>
          </p:txBody>
        </p:sp>
        <p:sp>
          <p:nvSpPr>
            <p:cNvPr id="1198" name="Google Shape;1198;p89"/>
            <p:cNvSpPr txBox="1"/>
            <p:nvPr/>
          </p:nvSpPr>
          <p:spPr>
            <a:xfrm>
              <a:off x="6781375" y="2700000"/>
              <a:ext cx="1050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acute</a:t>
              </a:r>
              <a:endParaRPr sz="2000">
                <a:latin typeface="Kalam"/>
                <a:ea typeface="Kalam"/>
                <a:cs typeface="Kalam"/>
                <a:sym typeface="Kalam"/>
              </a:endParaRPr>
            </a:p>
          </p:txBody>
        </p:sp>
        <p:cxnSp>
          <p:nvCxnSpPr>
            <p:cNvPr id="1199" name="Google Shape;1199;p89"/>
            <p:cNvCxnSpPr/>
            <p:nvPr/>
          </p:nvCxnSpPr>
          <p:spPr>
            <a:xfrm flipH="1" rot="10800000">
              <a:off x="1182000" y="1650888"/>
              <a:ext cx="541500" cy="1322400"/>
            </a:xfrm>
            <a:prstGeom prst="straightConnector1">
              <a:avLst/>
            </a:prstGeom>
            <a:noFill/>
            <a:ln cap="flat" cmpd="sng" w="28575">
              <a:solidFill>
                <a:schemeClr val="accent5"/>
              </a:solidFill>
              <a:prstDash val="solid"/>
              <a:round/>
              <a:headEnd len="med" w="med" type="none"/>
              <a:tailEnd len="med" w="med" type="none"/>
            </a:ln>
          </p:spPr>
        </p:cxnSp>
        <p:cxnSp>
          <p:nvCxnSpPr>
            <p:cNvPr id="1200" name="Google Shape;1200;p89"/>
            <p:cNvCxnSpPr/>
            <p:nvPr/>
          </p:nvCxnSpPr>
          <p:spPr>
            <a:xfrm flipH="1" rot="10800000">
              <a:off x="4113425" y="1787100"/>
              <a:ext cx="603900" cy="1012800"/>
            </a:xfrm>
            <a:prstGeom prst="straightConnector1">
              <a:avLst/>
            </a:prstGeom>
            <a:noFill/>
            <a:ln cap="flat" cmpd="sng" w="28575">
              <a:solidFill>
                <a:schemeClr val="accent5"/>
              </a:solidFill>
              <a:prstDash val="solid"/>
              <a:round/>
              <a:headEnd len="med" w="med" type="none"/>
              <a:tailEnd len="med" w="med" type="none"/>
            </a:ln>
          </p:spPr>
        </p:cxnSp>
        <p:cxnSp>
          <p:nvCxnSpPr>
            <p:cNvPr id="1201" name="Google Shape;1201;p89"/>
            <p:cNvCxnSpPr/>
            <p:nvPr/>
          </p:nvCxnSpPr>
          <p:spPr>
            <a:xfrm flipH="1" rot="10800000">
              <a:off x="7193650" y="1759775"/>
              <a:ext cx="145200" cy="979800"/>
            </a:xfrm>
            <a:prstGeom prst="straightConnector1">
              <a:avLst/>
            </a:prstGeom>
            <a:noFill/>
            <a:ln cap="flat" cmpd="sng" w="28575">
              <a:solidFill>
                <a:schemeClr val="accent5"/>
              </a:solidFill>
              <a:prstDash val="solid"/>
              <a:round/>
              <a:headEnd len="med" w="med" type="none"/>
              <a:tailEnd len="med" w="med" type="none"/>
            </a:ln>
          </p:spPr>
        </p:cxnSp>
      </p:grpSp>
      <p:grpSp>
        <p:nvGrpSpPr>
          <p:cNvPr id="1202" name="Google Shape;1202;p89"/>
          <p:cNvGrpSpPr/>
          <p:nvPr/>
        </p:nvGrpSpPr>
        <p:grpSpPr>
          <a:xfrm>
            <a:off x="1684800" y="3521100"/>
            <a:ext cx="6965650" cy="307800"/>
            <a:chOff x="1684800" y="3521100"/>
            <a:chExt cx="6965650" cy="307800"/>
          </a:xfrm>
        </p:grpSpPr>
        <p:sp>
          <p:nvSpPr>
            <p:cNvPr id="1203" name="Google Shape;1203;p89"/>
            <p:cNvSpPr txBox="1"/>
            <p:nvPr/>
          </p:nvSpPr>
          <p:spPr>
            <a:xfrm>
              <a:off x="1684800" y="3521100"/>
              <a:ext cx="1469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12 + 8 = 20</a:t>
              </a:r>
              <a:endParaRPr sz="2000">
                <a:latin typeface="Kalam"/>
                <a:ea typeface="Kalam"/>
                <a:cs typeface="Kalam"/>
                <a:sym typeface="Kalam"/>
              </a:endParaRPr>
            </a:p>
          </p:txBody>
        </p:sp>
        <p:sp>
          <p:nvSpPr>
            <p:cNvPr id="1204" name="Google Shape;1204;p89"/>
            <p:cNvSpPr txBox="1"/>
            <p:nvPr/>
          </p:nvSpPr>
          <p:spPr>
            <a:xfrm>
              <a:off x="4514250" y="3521100"/>
              <a:ext cx="1469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10 + 6 = 16</a:t>
              </a:r>
              <a:endParaRPr sz="2000">
                <a:latin typeface="Kalam"/>
                <a:ea typeface="Kalam"/>
                <a:cs typeface="Kalam"/>
                <a:sym typeface="Kalam"/>
              </a:endParaRPr>
            </a:p>
          </p:txBody>
        </p:sp>
        <p:sp>
          <p:nvSpPr>
            <p:cNvPr id="1205" name="Google Shape;1205;p89"/>
            <p:cNvSpPr txBox="1"/>
            <p:nvPr/>
          </p:nvSpPr>
          <p:spPr>
            <a:xfrm>
              <a:off x="7180750" y="3521100"/>
              <a:ext cx="1469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8 + 7 = 15</a:t>
              </a:r>
              <a:endParaRPr sz="2000">
                <a:latin typeface="Kalam"/>
                <a:ea typeface="Kalam"/>
                <a:cs typeface="Kalam"/>
                <a:sym typeface="Kalam"/>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90"/>
          <p:cNvSpPr txBox="1"/>
          <p:nvPr/>
        </p:nvSpPr>
        <p:spPr>
          <a:xfrm>
            <a:off x="4362300" y="806550"/>
            <a:ext cx="4457700" cy="144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of this triangle is an </a:t>
            </a:r>
            <a:r>
              <a:rPr lang="en-GB" sz="1800">
                <a:solidFill>
                  <a:schemeClr val="accent5"/>
                </a:solidFill>
                <a:latin typeface="Lexend"/>
                <a:ea typeface="Lexend"/>
                <a:cs typeface="Lexend"/>
                <a:sym typeface="Lexend"/>
              </a:rPr>
              <a:t>obtuse </a:t>
            </a:r>
            <a:r>
              <a:rPr lang="en-GB" sz="1800">
                <a:latin typeface="Lexend"/>
                <a:ea typeface="Lexend"/>
                <a:cs typeface="Lexend"/>
                <a:sym typeface="Lexend"/>
              </a:rPr>
              <a:t>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Which of these are possible values of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units², the area of the largest square?</a:t>
            </a:r>
            <a:endParaRPr sz="1800">
              <a:latin typeface="Lexend"/>
              <a:ea typeface="Lexend"/>
              <a:cs typeface="Lexend"/>
              <a:sym typeface="Lexend"/>
            </a:endParaRPr>
          </a:p>
        </p:txBody>
      </p:sp>
      <p:sp>
        <p:nvSpPr>
          <p:cNvPr id="1211" name="Google Shape;1211;p90"/>
          <p:cNvSpPr/>
          <p:nvPr/>
        </p:nvSpPr>
        <p:spPr>
          <a:xfrm rot="10800000">
            <a:off x="1882326" y="1457550"/>
            <a:ext cx="734700" cy="734700"/>
          </a:xfrm>
          <a:prstGeom prst="arc">
            <a:avLst>
              <a:gd fmla="val 13337318" name="adj1"/>
              <a:gd fmla="val 19382774"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2" name="Google Shape;121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pic>
        <p:nvPicPr>
          <p:cNvPr id="1213" name="Google Shape;1213;p90"/>
          <p:cNvPicPr preferRelativeResize="0"/>
          <p:nvPr/>
        </p:nvPicPr>
        <p:blipFill rotWithShape="1">
          <a:blip r:embed="rId3">
            <a:alphaModFix/>
          </a:blip>
          <a:srcRect b="0" l="0" r="0" t="2808"/>
          <a:stretch/>
        </p:blipFill>
        <p:spPr>
          <a:xfrm>
            <a:off x="324000" y="656775"/>
            <a:ext cx="3654301" cy="4011226"/>
          </a:xfrm>
          <a:prstGeom prst="rect">
            <a:avLst/>
          </a:prstGeom>
          <a:noFill/>
          <a:ln>
            <a:noFill/>
          </a:ln>
        </p:spPr>
      </p:pic>
      <p:sp>
        <p:nvSpPr>
          <p:cNvPr id="1214" name="Google Shape;1214;p90"/>
          <p:cNvSpPr txBox="1"/>
          <p:nvPr/>
        </p:nvSpPr>
        <p:spPr>
          <a:xfrm>
            <a:off x="823060" y="1467598"/>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14 units²</a:t>
            </a:r>
            <a:endParaRPr sz="1800">
              <a:latin typeface="Lexend"/>
              <a:ea typeface="Lexend"/>
              <a:cs typeface="Lexend"/>
              <a:sym typeface="Lexend"/>
            </a:endParaRPr>
          </a:p>
        </p:txBody>
      </p:sp>
      <p:sp>
        <p:nvSpPr>
          <p:cNvPr id="1215" name="Google Shape;1215;p90"/>
          <p:cNvSpPr txBox="1"/>
          <p:nvPr/>
        </p:nvSpPr>
        <p:spPr>
          <a:xfrm>
            <a:off x="2619210" y="1504623"/>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 units²</a:t>
            </a:r>
            <a:endParaRPr sz="1800">
              <a:latin typeface="Lexend"/>
              <a:ea typeface="Lexend"/>
              <a:cs typeface="Lexend"/>
              <a:sym typeface="Lexend"/>
            </a:endParaRPr>
          </a:p>
        </p:txBody>
      </p:sp>
      <p:sp>
        <p:nvSpPr>
          <p:cNvPr id="1216" name="Google Shape;1216;p90"/>
          <p:cNvSpPr txBox="1"/>
          <p:nvPr/>
        </p:nvSpPr>
        <p:spPr>
          <a:xfrm>
            <a:off x="1625860" y="3360748"/>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units²</a:t>
            </a:r>
            <a:endParaRPr sz="1800">
              <a:latin typeface="Lexend"/>
              <a:ea typeface="Lexend"/>
              <a:cs typeface="Lexend"/>
              <a:sym typeface="Lexend"/>
            </a:endParaRPr>
          </a:p>
        </p:txBody>
      </p:sp>
      <p:grpSp>
        <p:nvGrpSpPr>
          <p:cNvPr id="1217" name="Google Shape;1217;p90"/>
          <p:cNvGrpSpPr/>
          <p:nvPr/>
        </p:nvGrpSpPr>
        <p:grpSpPr>
          <a:xfrm>
            <a:off x="4362299" y="2675095"/>
            <a:ext cx="317800" cy="317800"/>
            <a:chOff x="1020916" y="1442088"/>
            <a:chExt cx="457200" cy="457200"/>
          </a:xfrm>
        </p:grpSpPr>
        <p:pic>
          <p:nvPicPr>
            <p:cNvPr id="1218" name="Google Shape;1218;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9" name="Google Shape;1219;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220" name="Google Shape;1220;p90"/>
          <p:cNvSpPr txBox="1"/>
          <p:nvPr/>
        </p:nvSpPr>
        <p:spPr>
          <a:xfrm>
            <a:off x="4762500" y="2695400"/>
            <a:ext cx="1349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11 units²</a:t>
            </a:r>
            <a:endParaRPr sz="1800">
              <a:latin typeface="Lexend"/>
              <a:ea typeface="Lexend"/>
              <a:cs typeface="Lexend"/>
              <a:sym typeface="Lexend"/>
            </a:endParaRPr>
          </a:p>
        </p:txBody>
      </p:sp>
      <p:grpSp>
        <p:nvGrpSpPr>
          <p:cNvPr id="1221" name="Google Shape;1221;p90"/>
          <p:cNvGrpSpPr/>
          <p:nvPr/>
        </p:nvGrpSpPr>
        <p:grpSpPr>
          <a:xfrm>
            <a:off x="4362299" y="3311120"/>
            <a:ext cx="317800" cy="317800"/>
            <a:chOff x="1020916" y="1442088"/>
            <a:chExt cx="457200" cy="457200"/>
          </a:xfrm>
        </p:grpSpPr>
        <p:pic>
          <p:nvPicPr>
            <p:cNvPr id="1222" name="Google Shape;1222;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3" name="Google Shape;1223;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224" name="Google Shape;1224;p90"/>
          <p:cNvSpPr txBox="1"/>
          <p:nvPr/>
        </p:nvSpPr>
        <p:spPr>
          <a:xfrm>
            <a:off x="4762500" y="3331425"/>
            <a:ext cx="1349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13 units²</a:t>
            </a:r>
            <a:endParaRPr sz="1800">
              <a:latin typeface="Lexend"/>
              <a:ea typeface="Lexend"/>
              <a:cs typeface="Lexend"/>
              <a:sym typeface="Lexend"/>
            </a:endParaRPr>
          </a:p>
        </p:txBody>
      </p:sp>
      <p:grpSp>
        <p:nvGrpSpPr>
          <p:cNvPr id="1225" name="Google Shape;1225;p90"/>
          <p:cNvGrpSpPr/>
          <p:nvPr/>
        </p:nvGrpSpPr>
        <p:grpSpPr>
          <a:xfrm>
            <a:off x="4362299" y="3947145"/>
            <a:ext cx="317800" cy="317800"/>
            <a:chOff x="1020916" y="1442088"/>
            <a:chExt cx="457200" cy="457200"/>
          </a:xfrm>
        </p:grpSpPr>
        <p:pic>
          <p:nvPicPr>
            <p:cNvPr id="1226" name="Google Shape;1226;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7" name="Google Shape;1227;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28" name="Google Shape;1228;p90"/>
          <p:cNvSpPr txBox="1"/>
          <p:nvPr/>
        </p:nvSpPr>
        <p:spPr>
          <a:xfrm>
            <a:off x="4762500" y="3967450"/>
            <a:ext cx="1349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14 units²</a:t>
            </a:r>
            <a:endParaRPr sz="1800">
              <a:latin typeface="Lexend"/>
              <a:ea typeface="Lexend"/>
              <a:cs typeface="Lexend"/>
              <a:sym typeface="Lexend"/>
            </a:endParaRPr>
          </a:p>
        </p:txBody>
      </p:sp>
      <p:grpSp>
        <p:nvGrpSpPr>
          <p:cNvPr id="1229" name="Google Shape;1229;p90"/>
          <p:cNvGrpSpPr/>
          <p:nvPr/>
        </p:nvGrpSpPr>
        <p:grpSpPr>
          <a:xfrm>
            <a:off x="6429374" y="2675095"/>
            <a:ext cx="317800" cy="317800"/>
            <a:chOff x="1020916" y="1442088"/>
            <a:chExt cx="457200" cy="457200"/>
          </a:xfrm>
        </p:grpSpPr>
        <p:pic>
          <p:nvPicPr>
            <p:cNvPr id="1230" name="Google Shape;1230;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1" name="Google Shape;1231;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232" name="Google Shape;1232;p90"/>
          <p:cNvSpPr txBox="1"/>
          <p:nvPr/>
        </p:nvSpPr>
        <p:spPr>
          <a:xfrm>
            <a:off x="6829575" y="2695400"/>
            <a:ext cx="10506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25 units²</a:t>
            </a:r>
            <a:endParaRPr sz="1800">
              <a:latin typeface="Lexend"/>
              <a:ea typeface="Lexend"/>
              <a:cs typeface="Lexend"/>
              <a:sym typeface="Lexend"/>
            </a:endParaRPr>
          </a:p>
        </p:txBody>
      </p:sp>
      <p:grpSp>
        <p:nvGrpSpPr>
          <p:cNvPr id="1233" name="Google Shape;1233;p90"/>
          <p:cNvGrpSpPr/>
          <p:nvPr/>
        </p:nvGrpSpPr>
        <p:grpSpPr>
          <a:xfrm>
            <a:off x="6429374" y="3311120"/>
            <a:ext cx="317800" cy="317800"/>
            <a:chOff x="1020916" y="1442088"/>
            <a:chExt cx="457200" cy="457200"/>
          </a:xfrm>
        </p:grpSpPr>
        <p:pic>
          <p:nvPicPr>
            <p:cNvPr id="1234" name="Google Shape;1234;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5" name="Google Shape;1235;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sp>
        <p:nvSpPr>
          <p:cNvPr id="1236" name="Google Shape;1236;p90"/>
          <p:cNvSpPr txBox="1"/>
          <p:nvPr/>
        </p:nvSpPr>
        <p:spPr>
          <a:xfrm>
            <a:off x="6829575" y="3331425"/>
            <a:ext cx="10506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30 units²</a:t>
            </a:r>
            <a:endParaRPr sz="1800">
              <a:latin typeface="Lexend"/>
              <a:ea typeface="Lexend"/>
              <a:cs typeface="Lexend"/>
              <a:sym typeface="Lexend"/>
            </a:endParaRPr>
          </a:p>
        </p:txBody>
      </p:sp>
      <p:grpSp>
        <p:nvGrpSpPr>
          <p:cNvPr id="1237" name="Google Shape;1237;p90"/>
          <p:cNvGrpSpPr/>
          <p:nvPr/>
        </p:nvGrpSpPr>
        <p:grpSpPr>
          <a:xfrm>
            <a:off x="6429374" y="3947145"/>
            <a:ext cx="317800" cy="317800"/>
            <a:chOff x="1020916" y="1442088"/>
            <a:chExt cx="457200" cy="457200"/>
          </a:xfrm>
        </p:grpSpPr>
        <p:pic>
          <p:nvPicPr>
            <p:cNvPr id="1238" name="Google Shape;1238;p9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9" name="Google Shape;1239;p9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sp>
        <p:nvSpPr>
          <p:cNvPr id="1240" name="Google Shape;1240;p90"/>
          <p:cNvSpPr txBox="1"/>
          <p:nvPr/>
        </p:nvSpPr>
        <p:spPr>
          <a:xfrm>
            <a:off x="6829575" y="3967450"/>
            <a:ext cx="10506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36 units²</a:t>
            </a:r>
            <a:endParaRPr sz="1800">
              <a:latin typeface="Lexend"/>
              <a:ea typeface="Lexend"/>
              <a:cs typeface="Lexend"/>
              <a:sym typeface="Lexend"/>
            </a:endParaRPr>
          </a:p>
        </p:txBody>
      </p:sp>
      <p:pic>
        <p:nvPicPr>
          <p:cNvPr id="1241" name="Google Shape;1241;p90"/>
          <p:cNvPicPr preferRelativeResize="0"/>
          <p:nvPr/>
        </p:nvPicPr>
        <p:blipFill>
          <a:blip r:embed="rId5">
            <a:alphaModFix/>
          </a:blip>
          <a:stretch>
            <a:fillRect/>
          </a:stretch>
        </p:blipFill>
        <p:spPr>
          <a:xfrm>
            <a:off x="7813208" y="3260475"/>
            <a:ext cx="396000" cy="419100"/>
          </a:xfrm>
          <a:prstGeom prst="rect">
            <a:avLst/>
          </a:prstGeom>
          <a:noFill/>
          <a:ln>
            <a:noFill/>
          </a:ln>
        </p:spPr>
      </p:pic>
      <p:pic>
        <p:nvPicPr>
          <p:cNvPr id="1242" name="Google Shape;1242;p90"/>
          <p:cNvPicPr preferRelativeResize="0"/>
          <p:nvPr/>
        </p:nvPicPr>
        <p:blipFill>
          <a:blip r:embed="rId5">
            <a:alphaModFix/>
          </a:blip>
          <a:stretch>
            <a:fillRect/>
          </a:stretch>
        </p:blipFill>
        <p:spPr>
          <a:xfrm>
            <a:off x="7813208" y="38965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91"/>
          <p:cNvSpPr txBox="1"/>
          <p:nvPr/>
        </p:nvSpPr>
        <p:spPr>
          <a:xfrm>
            <a:off x="4362300" y="806550"/>
            <a:ext cx="4457700" cy="178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of this triangle is a </a:t>
            </a:r>
            <a:r>
              <a:rPr lang="en-GB" sz="1800">
                <a:solidFill>
                  <a:schemeClr val="accent5"/>
                </a:solidFill>
                <a:latin typeface="Lexend"/>
                <a:ea typeface="Lexend"/>
                <a:cs typeface="Lexend"/>
                <a:sym typeface="Lexend"/>
              </a:rPr>
              <a:t>right angle</a:t>
            </a:r>
            <a:r>
              <a:rPr lang="en-GB" sz="1800">
                <a:latin typeface="Lexend"/>
                <a:ea typeface="Lexend"/>
                <a:cs typeface="Lexend"/>
                <a:sym typeface="Lexend"/>
              </a:rPr>
              <a:t>.</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What must be the value of </a:t>
            </a: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                      where </a:t>
            </a: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 units² is the area of the largest square?</a:t>
            </a:r>
            <a:endParaRPr sz="1800">
              <a:latin typeface="Lexend"/>
              <a:ea typeface="Lexend"/>
              <a:cs typeface="Lexend"/>
              <a:sym typeface="Lexend"/>
            </a:endParaRPr>
          </a:p>
        </p:txBody>
      </p:sp>
      <p:sp>
        <p:nvSpPr>
          <p:cNvPr id="1248" name="Google Shape;1248;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249" name="Google Shape;1249;p91"/>
          <p:cNvGrpSpPr/>
          <p:nvPr/>
        </p:nvGrpSpPr>
        <p:grpSpPr>
          <a:xfrm rot="2700000">
            <a:off x="163341" y="690308"/>
            <a:ext cx="3176143" cy="2939384"/>
            <a:chOff x="612025" y="890238"/>
            <a:chExt cx="3176174" cy="2939413"/>
          </a:xfrm>
        </p:grpSpPr>
        <p:sp>
          <p:nvSpPr>
            <p:cNvPr id="1250" name="Google Shape;1250;p91"/>
            <p:cNvSpPr/>
            <p:nvPr/>
          </p:nvSpPr>
          <p:spPr>
            <a:xfrm rot="10800000">
              <a:off x="1815888" y="2482406"/>
              <a:ext cx="306600" cy="306600"/>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51" name="Google Shape;1251;p91"/>
            <p:cNvPicPr preferRelativeResize="0"/>
            <p:nvPr/>
          </p:nvPicPr>
          <p:blipFill>
            <a:blip r:embed="rId3">
              <a:alphaModFix/>
            </a:blip>
            <a:stretch>
              <a:fillRect/>
            </a:stretch>
          </p:blipFill>
          <p:spPr>
            <a:xfrm>
              <a:off x="612025" y="890238"/>
              <a:ext cx="3176174" cy="2939413"/>
            </a:xfrm>
            <a:prstGeom prst="rect">
              <a:avLst/>
            </a:prstGeom>
            <a:noFill/>
            <a:ln>
              <a:noFill/>
            </a:ln>
          </p:spPr>
        </p:pic>
      </p:grpSp>
      <p:sp>
        <p:nvSpPr>
          <p:cNvPr id="1252" name="Google Shape;1252;p91"/>
          <p:cNvSpPr txBox="1"/>
          <p:nvPr/>
        </p:nvSpPr>
        <p:spPr>
          <a:xfrm>
            <a:off x="634210" y="2551404"/>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 units²</a:t>
            </a:r>
            <a:endParaRPr sz="1800">
              <a:latin typeface="Lexend"/>
              <a:ea typeface="Lexend"/>
              <a:cs typeface="Lexend"/>
              <a:sym typeface="Lexend"/>
            </a:endParaRPr>
          </a:p>
        </p:txBody>
      </p:sp>
      <p:sp>
        <p:nvSpPr>
          <p:cNvPr id="1253" name="Google Shape;1253;p91"/>
          <p:cNvSpPr txBox="1"/>
          <p:nvPr/>
        </p:nvSpPr>
        <p:spPr>
          <a:xfrm>
            <a:off x="649954" y="1263154"/>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units²</a:t>
            </a:r>
            <a:endParaRPr sz="1800">
              <a:latin typeface="Lexend"/>
              <a:ea typeface="Lexend"/>
              <a:cs typeface="Lexend"/>
              <a:sym typeface="Lexend"/>
            </a:endParaRPr>
          </a:p>
        </p:txBody>
      </p:sp>
      <p:sp>
        <p:nvSpPr>
          <p:cNvPr id="1254" name="Google Shape;1254;p91"/>
          <p:cNvSpPr txBox="1"/>
          <p:nvPr/>
        </p:nvSpPr>
        <p:spPr>
          <a:xfrm>
            <a:off x="1933079" y="1940129"/>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y</a:t>
            </a:r>
            <a:r>
              <a:rPr lang="en-GB" sz="1800">
                <a:latin typeface="Lexend"/>
                <a:ea typeface="Lexend"/>
                <a:cs typeface="Lexend"/>
                <a:sym typeface="Lexend"/>
              </a:rPr>
              <a:t> units²</a:t>
            </a:r>
            <a:endParaRPr sz="1800">
              <a:latin typeface="Lexend"/>
              <a:ea typeface="Lexend"/>
              <a:cs typeface="Lexend"/>
              <a:sym typeface="Lexend"/>
            </a:endParaRPr>
          </a:p>
        </p:txBody>
      </p:sp>
      <p:sp>
        <p:nvSpPr>
          <p:cNvPr id="1255" name="Google Shape;1255;p91"/>
          <p:cNvSpPr txBox="1"/>
          <p:nvPr/>
        </p:nvSpPr>
        <p:spPr>
          <a:xfrm>
            <a:off x="5006525" y="2700000"/>
            <a:ext cx="8508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28</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261" name="Google Shape;1261;p92"/>
          <p:cNvGrpSpPr/>
          <p:nvPr/>
        </p:nvGrpSpPr>
        <p:grpSpPr>
          <a:xfrm>
            <a:off x="793228" y="586232"/>
            <a:ext cx="3608512" cy="1883829"/>
            <a:chOff x="3962154" y="3674775"/>
            <a:chExt cx="1949599" cy="1108200"/>
          </a:xfrm>
        </p:grpSpPr>
        <p:pic>
          <p:nvPicPr>
            <p:cNvPr id="1262" name="Google Shape;1262;p92"/>
            <p:cNvPicPr preferRelativeResize="0"/>
            <p:nvPr/>
          </p:nvPicPr>
          <p:blipFill rotWithShape="1">
            <a:blip r:embed="rId3">
              <a:alphaModFix/>
            </a:blip>
            <a:srcRect b="4760" l="40550" r="0" t="13015"/>
            <a:stretch/>
          </p:blipFill>
          <p:spPr>
            <a:xfrm>
              <a:off x="3962154" y="3674775"/>
              <a:ext cx="1949599" cy="1108200"/>
            </a:xfrm>
            <a:prstGeom prst="rect">
              <a:avLst/>
            </a:prstGeom>
            <a:noFill/>
            <a:ln>
              <a:noFill/>
            </a:ln>
          </p:spPr>
        </p:pic>
        <p:sp>
          <p:nvSpPr>
            <p:cNvPr id="1263" name="Google Shape;1263;p92"/>
            <p:cNvSpPr txBox="1"/>
            <p:nvPr/>
          </p:nvSpPr>
          <p:spPr>
            <a:xfrm>
              <a:off x="4132577" y="3736520"/>
              <a:ext cx="1731000" cy="65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Is there an easier way of spotting where the largest angle is on the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p:txBody>
        </p:sp>
      </p:grpSp>
      <p:grpSp>
        <p:nvGrpSpPr>
          <p:cNvPr id="1264" name="Google Shape;1264;p92"/>
          <p:cNvGrpSpPr/>
          <p:nvPr/>
        </p:nvGrpSpPr>
        <p:grpSpPr>
          <a:xfrm>
            <a:off x="4571999" y="627725"/>
            <a:ext cx="4247999" cy="2444325"/>
            <a:chOff x="4571999" y="627725"/>
            <a:chExt cx="4247999" cy="2444325"/>
          </a:xfrm>
        </p:grpSpPr>
        <p:pic>
          <p:nvPicPr>
            <p:cNvPr id="1265" name="Google Shape;1265;p92"/>
            <p:cNvPicPr preferRelativeResize="0"/>
            <p:nvPr/>
          </p:nvPicPr>
          <p:blipFill rotWithShape="1">
            <a:blip r:embed="rId3">
              <a:alphaModFix/>
            </a:blip>
            <a:srcRect b="4760" l="40550" r="0" t="13015"/>
            <a:stretch/>
          </p:blipFill>
          <p:spPr>
            <a:xfrm flipH="1">
              <a:off x="4571999" y="627725"/>
              <a:ext cx="3819776" cy="1923926"/>
            </a:xfrm>
            <a:prstGeom prst="rect">
              <a:avLst/>
            </a:prstGeom>
            <a:noFill/>
            <a:ln>
              <a:noFill/>
            </a:ln>
          </p:spPr>
        </p:pic>
        <p:sp>
          <p:nvSpPr>
            <p:cNvPr id="1266" name="Google Shape;1266;p92"/>
            <p:cNvSpPr txBox="1"/>
            <p:nvPr/>
          </p:nvSpPr>
          <p:spPr>
            <a:xfrm flipH="1">
              <a:off x="8005798" y="27948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1267" name="Google Shape;1267;p92"/>
            <p:cNvSpPr txBox="1"/>
            <p:nvPr/>
          </p:nvSpPr>
          <p:spPr>
            <a:xfrm flipH="1">
              <a:off x="4682525" y="769574"/>
              <a:ext cx="34647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largest angle never seems to touch the largest square.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Maybe the largest angle is always opposite the largest square.</a:t>
              </a:r>
              <a:endParaRPr sz="1800">
                <a:latin typeface="Lexend"/>
                <a:ea typeface="Lexend"/>
                <a:cs typeface="Lexend"/>
                <a:sym typeface="Lexend"/>
              </a:endParaRPr>
            </a:p>
          </p:txBody>
        </p:sp>
        <p:pic>
          <p:nvPicPr>
            <p:cNvPr id="1268" name="Google Shape;1268;p92"/>
            <p:cNvPicPr preferRelativeResize="0"/>
            <p:nvPr/>
          </p:nvPicPr>
          <p:blipFill>
            <a:blip r:embed="rId4">
              <a:alphaModFix/>
            </a:blip>
            <a:stretch>
              <a:fillRect/>
            </a:stretch>
          </p:blipFill>
          <p:spPr>
            <a:xfrm flipH="1">
              <a:off x="8098399" y="2031657"/>
              <a:ext cx="629124" cy="823977"/>
            </a:xfrm>
            <a:prstGeom prst="rect">
              <a:avLst/>
            </a:prstGeom>
            <a:noFill/>
            <a:ln>
              <a:noFill/>
            </a:ln>
          </p:spPr>
        </p:pic>
      </p:grpSp>
      <p:sp>
        <p:nvSpPr>
          <p:cNvPr id="1269" name="Google Shape;1269;p92"/>
          <p:cNvSpPr txBox="1"/>
          <p:nvPr/>
        </p:nvSpPr>
        <p:spPr>
          <a:xfrm>
            <a:off x="1002450" y="1468425"/>
            <a:ext cx="3464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some triangles, it’s tricky without using a protractor.</a:t>
            </a:r>
            <a:endParaRPr/>
          </a:p>
        </p:txBody>
      </p:sp>
      <p:grpSp>
        <p:nvGrpSpPr>
          <p:cNvPr id="1270" name="Google Shape;1270;p92"/>
          <p:cNvGrpSpPr/>
          <p:nvPr/>
        </p:nvGrpSpPr>
        <p:grpSpPr>
          <a:xfrm>
            <a:off x="859425" y="631380"/>
            <a:ext cx="3607715" cy="1883700"/>
            <a:chOff x="859425" y="631380"/>
            <a:chExt cx="3607715" cy="1883700"/>
          </a:xfrm>
        </p:grpSpPr>
        <p:sp>
          <p:nvSpPr>
            <p:cNvPr id="1271" name="Google Shape;1271;p92"/>
            <p:cNvSpPr/>
            <p:nvPr/>
          </p:nvSpPr>
          <p:spPr>
            <a:xfrm>
              <a:off x="901040" y="631380"/>
              <a:ext cx="3566100" cy="188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72" name="Google Shape;1272;p92"/>
            <p:cNvGrpSpPr/>
            <p:nvPr/>
          </p:nvGrpSpPr>
          <p:grpSpPr>
            <a:xfrm>
              <a:off x="859425" y="912781"/>
              <a:ext cx="2909548" cy="1236727"/>
              <a:chOff x="4042100" y="3583675"/>
              <a:chExt cx="2909548" cy="1236727"/>
            </a:xfrm>
          </p:grpSpPr>
          <p:pic>
            <p:nvPicPr>
              <p:cNvPr id="1273" name="Google Shape;1273;p92"/>
              <p:cNvPicPr preferRelativeResize="0"/>
              <p:nvPr/>
            </p:nvPicPr>
            <p:blipFill rotWithShape="1">
              <a:blip r:embed="rId3">
                <a:alphaModFix/>
              </a:blip>
              <a:srcRect b="4760" l="40550" r="0" t="13015"/>
              <a:stretch/>
            </p:blipFill>
            <p:spPr>
              <a:xfrm>
                <a:off x="4042100" y="3583675"/>
                <a:ext cx="2909548" cy="1236727"/>
              </a:xfrm>
              <a:prstGeom prst="rect">
                <a:avLst/>
              </a:prstGeom>
              <a:noFill/>
              <a:ln>
                <a:noFill/>
              </a:ln>
            </p:spPr>
          </p:pic>
          <p:sp>
            <p:nvSpPr>
              <p:cNvPr id="1274" name="Google Shape;1274;p92"/>
              <p:cNvSpPr txBox="1"/>
              <p:nvPr/>
            </p:nvSpPr>
            <p:spPr>
              <a:xfrm>
                <a:off x="4273507" y="3656886"/>
                <a:ext cx="26430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you’re right!</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It’s definitely true for all of these triangles!</a:t>
                </a:r>
                <a:endParaRPr sz="1800">
                  <a:latin typeface="Lexend"/>
                  <a:ea typeface="Lexend"/>
                  <a:cs typeface="Lexend"/>
                  <a:sym typeface="Lexend"/>
                </a:endParaRPr>
              </a:p>
            </p:txBody>
          </p:sp>
        </p:grpSp>
      </p:grpSp>
      <p:sp>
        <p:nvSpPr>
          <p:cNvPr id="1275" name="Google Shape;1275;p92"/>
          <p:cNvSpPr txBox="1"/>
          <p:nvPr/>
        </p:nvSpPr>
        <p:spPr>
          <a:xfrm>
            <a:off x="279288" y="252148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276" name="Google Shape;1276;p92"/>
          <p:cNvPicPr preferRelativeResize="0"/>
          <p:nvPr/>
        </p:nvPicPr>
        <p:blipFill>
          <a:blip r:embed="rId5">
            <a:alphaModFix/>
          </a:blip>
          <a:stretch>
            <a:fillRect/>
          </a:stretch>
        </p:blipFill>
        <p:spPr>
          <a:xfrm flipH="1">
            <a:off x="371826" y="1826112"/>
            <a:ext cx="629125" cy="725538"/>
          </a:xfrm>
          <a:prstGeom prst="rect">
            <a:avLst/>
          </a:prstGeom>
          <a:noFill/>
          <a:ln>
            <a:noFill/>
          </a:ln>
        </p:spPr>
      </p:pic>
      <p:grpSp>
        <p:nvGrpSpPr>
          <p:cNvPr id="1277" name="Google Shape;1277;p92"/>
          <p:cNvGrpSpPr/>
          <p:nvPr/>
        </p:nvGrpSpPr>
        <p:grpSpPr>
          <a:xfrm>
            <a:off x="720951" y="2291886"/>
            <a:ext cx="2172784" cy="2671429"/>
            <a:chOff x="247951" y="547273"/>
            <a:chExt cx="2172784" cy="2671429"/>
          </a:xfrm>
        </p:grpSpPr>
        <p:sp>
          <p:nvSpPr>
            <p:cNvPr id="1278" name="Google Shape;1278;p92"/>
            <p:cNvSpPr/>
            <p:nvPr/>
          </p:nvSpPr>
          <p:spPr>
            <a:xfrm rot="10800000">
              <a:off x="1198566" y="945417"/>
              <a:ext cx="634200" cy="634200"/>
            </a:xfrm>
            <a:prstGeom prst="arc">
              <a:avLst>
                <a:gd fmla="val 14594525" name="adj1"/>
                <a:gd fmla="val 19034336"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79" name="Google Shape;1279;p92"/>
            <p:cNvPicPr preferRelativeResize="0"/>
            <p:nvPr/>
          </p:nvPicPr>
          <p:blipFill rotWithShape="1">
            <a:blip r:embed="rId6">
              <a:alphaModFix/>
            </a:blip>
            <a:srcRect b="0" l="0" r="68905" t="0"/>
            <a:stretch/>
          </p:blipFill>
          <p:spPr>
            <a:xfrm flipH="1">
              <a:off x="247951" y="547273"/>
              <a:ext cx="2147253" cy="2671429"/>
            </a:xfrm>
            <a:prstGeom prst="rect">
              <a:avLst/>
            </a:prstGeom>
            <a:noFill/>
            <a:ln>
              <a:noFill/>
            </a:ln>
          </p:spPr>
        </p:pic>
        <p:sp>
          <p:nvSpPr>
            <p:cNvPr id="1280" name="Google Shape;1280;p92"/>
            <p:cNvSpPr txBox="1"/>
            <p:nvPr/>
          </p:nvSpPr>
          <p:spPr>
            <a:xfrm>
              <a:off x="463814" y="786740"/>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 units²</a:t>
              </a:r>
              <a:endParaRPr sz="1800">
                <a:latin typeface="Lexend"/>
                <a:ea typeface="Lexend"/>
                <a:cs typeface="Lexend"/>
                <a:sym typeface="Lexend"/>
              </a:endParaRPr>
            </a:p>
          </p:txBody>
        </p:sp>
        <p:sp>
          <p:nvSpPr>
            <p:cNvPr id="1281" name="Google Shape;1281;p92"/>
            <p:cNvSpPr txBox="1"/>
            <p:nvPr/>
          </p:nvSpPr>
          <p:spPr>
            <a:xfrm>
              <a:off x="1486835" y="909529"/>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282" name="Google Shape;1282;p92"/>
            <p:cNvSpPr txBox="1"/>
            <p:nvPr/>
          </p:nvSpPr>
          <p:spPr>
            <a:xfrm>
              <a:off x="907728" y="1823620"/>
              <a:ext cx="880500" cy="880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 units²</a:t>
              </a:r>
              <a:endParaRPr sz="1800">
                <a:latin typeface="Lexend"/>
                <a:ea typeface="Lexend"/>
                <a:cs typeface="Lexend"/>
                <a:sym typeface="Lexend"/>
              </a:endParaRPr>
            </a:p>
          </p:txBody>
        </p:sp>
      </p:grpSp>
      <p:grpSp>
        <p:nvGrpSpPr>
          <p:cNvPr id="1283" name="Google Shape;1283;p92"/>
          <p:cNvGrpSpPr/>
          <p:nvPr/>
        </p:nvGrpSpPr>
        <p:grpSpPr>
          <a:xfrm>
            <a:off x="3170142" y="2283518"/>
            <a:ext cx="2240907" cy="2671429"/>
            <a:chOff x="5774392" y="547268"/>
            <a:chExt cx="2240907" cy="2671429"/>
          </a:xfrm>
        </p:grpSpPr>
        <p:sp>
          <p:nvSpPr>
            <p:cNvPr id="1284" name="Google Shape;1284;p92"/>
            <p:cNvSpPr/>
            <p:nvPr/>
          </p:nvSpPr>
          <p:spPr>
            <a:xfrm rot="10800000">
              <a:off x="6866450" y="1129638"/>
              <a:ext cx="395400" cy="395400"/>
            </a:xfrm>
            <a:prstGeom prst="arc">
              <a:avLst>
                <a:gd fmla="val 13948647" name="adj1"/>
                <a:gd fmla="val 19464634"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5" name="Google Shape;1285;p92"/>
            <p:cNvSpPr/>
            <p:nvPr/>
          </p:nvSpPr>
          <p:spPr>
            <a:xfrm rot="8556059">
              <a:off x="6912317" y="1376551"/>
              <a:ext cx="253391" cy="253391"/>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86" name="Google Shape;1286;p92"/>
            <p:cNvPicPr preferRelativeResize="0"/>
            <p:nvPr/>
          </p:nvPicPr>
          <p:blipFill rotWithShape="1">
            <a:blip r:embed="rId6">
              <a:alphaModFix/>
            </a:blip>
            <a:srcRect b="0" l="67549" r="0" t="0"/>
            <a:stretch/>
          </p:blipFill>
          <p:spPr>
            <a:xfrm>
              <a:off x="5774392" y="547268"/>
              <a:ext cx="2240907" cy="2671429"/>
            </a:xfrm>
            <a:prstGeom prst="rect">
              <a:avLst/>
            </a:prstGeom>
            <a:noFill/>
            <a:ln>
              <a:noFill/>
            </a:ln>
          </p:spPr>
        </p:pic>
        <p:sp>
          <p:nvSpPr>
            <p:cNvPr id="1287" name="Google Shape;1287;p92"/>
            <p:cNvSpPr txBox="1"/>
            <p:nvPr/>
          </p:nvSpPr>
          <p:spPr>
            <a:xfrm>
              <a:off x="6017505" y="786740"/>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9 units²</a:t>
              </a:r>
              <a:endParaRPr sz="1800">
                <a:latin typeface="Lexend"/>
                <a:ea typeface="Lexend"/>
                <a:cs typeface="Lexend"/>
                <a:sym typeface="Lexend"/>
              </a:endParaRPr>
            </a:p>
          </p:txBody>
        </p:sp>
        <p:sp>
          <p:nvSpPr>
            <p:cNvPr id="1288" name="Google Shape;1288;p92"/>
            <p:cNvSpPr txBox="1"/>
            <p:nvPr/>
          </p:nvSpPr>
          <p:spPr>
            <a:xfrm>
              <a:off x="7062316" y="877911"/>
              <a:ext cx="933900" cy="933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289" name="Google Shape;1289;p92"/>
            <p:cNvSpPr txBox="1"/>
            <p:nvPr/>
          </p:nvSpPr>
          <p:spPr>
            <a:xfrm>
              <a:off x="6398113" y="1837558"/>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14 units²</a:t>
              </a:r>
              <a:endParaRPr sz="1800">
                <a:latin typeface="Lexend"/>
                <a:ea typeface="Lexend"/>
                <a:cs typeface="Lexend"/>
                <a:sym typeface="Lexend"/>
              </a:endParaRPr>
            </a:p>
          </p:txBody>
        </p:sp>
      </p:grpSp>
      <p:grpSp>
        <p:nvGrpSpPr>
          <p:cNvPr id="1290" name="Google Shape;1290;p92"/>
          <p:cNvGrpSpPr/>
          <p:nvPr/>
        </p:nvGrpSpPr>
        <p:grpSpPr>
          <a:xfrm>
            <a:off x="5134478" y="1702735"/>
            <a:ext cx="3918277" cy="3918277"/>
            <a:chOff x="8657047" y="-2165"/>
            <a:chExt cx="4324332" cy="4324332"/>
          </a:xfrm>
        </p:grpSpPr>
        <p:sp>
          <p:nvSpPr>
            <p:cNvPr id="1291" name="Google Shape;1291;p92"/>
            <p:cNvSpPr/>
            <p:nvPr/>
          </p:nvSpPr>
          <p:spPr>
            <a:xfrm rot="-8100000">
              <a:off x="10307563" y="2038231"/>
              <a:ext cx="306743" cy="306743"/>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92" name="Google Shape;1292;p92"/>
            <p:cNvPicPr preferRelativeResize="0"/>
            <p:nvPr/>
          </p:nvPicPr>
          <p:blipFill>
            <a:blip r:embed="rId7">
              <a:alphaModFix/>
            </a:blip>
            <a:stretch>
              <a:fillRect/>
            </a:stretch>
          </p:blipFill>
          <p:spPr>
            <a:xfrm rot="2700000">
              <a:off x="9231141" y="690308"/>
              <a:ext cx="3176144" cy="2939385"/>
            </a:xfrm>
            <a:prstGeom prst="rect">
              <a:avLst/>
            </a:prstGeom>
            <a:noFill/>
            <a:ln>
              <a:noFill/>
            </a:ln>
          </p:spPr>
        </p:pic>
        <p:sp>
          <p:nvSpPr>
            <p:cNvPr id="1293" name="Google Shape;1293;p92"/>
            <p:cNvSpPr txBox="1"/>
            <p:nvPr/>
          </p:nvSpPr>
          <p:spPr>
            <a:xfrm>
              <a:off x="9702010" y="2551404"/>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 units²</a:t>
              </a:r>
              <a:endParaRPr sz="1800">
                <a:latin typeface="Lexend"/>
                <a:ea typeface="Lexend"/>
                <a:cs typeface="Lexend"/>
                <a:sym typeface="Lexend"/>
              </a:endParaRPr>
            </a:p>
          </p:txBody>
        </p:sp>
        <p:sp>
          <p:nvSpPr>
            <p:cNvPr id="1294" name="Google Shape;1294;p92"/>
            <p:cNvSpPr txBox="1"/>
            <p:nvPr/>
          </p:nvSpPr>
          <p:spPr>
            <a:xfrm>
              <a:off x="9717754" y="1263154"/>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units²</a:t>
              </a:r>
              <a:endParaRPr sz="1800">
                <a:latin typeface="Lexend"/>
                <a:ea typeface="Lexend"/>
                <a:cs typeface="Lexend"/>
                <a:sym typeface="Lexend"/>
              </a:endParaRPr>
            </a:p>
          </p:txBody>
        </p:sp>
        <p:sp>
          <p:nvSpPr>
            <p:cNvPr id="1295" name="Google Shape;1295;p92"/>
            <p:cNvSpPr txBox="1"/>
            <p:nvPr/>
          </p:nvSpPr>
          <p:spPr>
            <a:xfrm>
              <a:off x="11000879" y="1940129"/>
              <a:ext cx="1050600" cy="533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28 units²</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pSp>
        <p:nvGrpSpPr>
          <p:cNvPr id="1301" name="Google Shape;1301;p93"/>
          <p:cNvGrpSpPr/>
          <p:nvPr/>
        </p:nvGrpSpPr>
        <p:grpSpPr>
          <a:xfrm>
            <a:off x="783537" y="675744"/>
            <a:ext cx="2922059" cy="1522658"/>
            <a:chOff x="4042100" y="3583675"/>
            <a:chExt cx="2909548" cy="1236727"/>
          </a:xfrm>
        </p:grpSpPr>
        <p:pic>
          <p:nvPicPr>
            <p:cNvPr id="1302" name="Google Shape;1302;p93"/>
            <p:cNvPicPr preferRelativeResize="0"/>
            <p:nvPr/>
          </p:nvPicPr>
          <p:blipFill rotWithShape="1">
            <a:blip r:embed="rId3">
              <a:alphaModFix/>
            </a:blip>
            <a:srcRect b="4760" l="40550" r="0" t="13015"/>
            <a:stretch/>
          </p:blipFill>
          <p:spPr>
            <a:xfrm>
              <a:off x="4042100" y="3583675"/>
              <a:ext cx="2909548" cy="1236727"/>
            </a:xfrm>
            <a:prstGeom prst="rect">
              <a:avLst/>
            </a:prstGeom>
            <a:noFill/>
            <a:ln>
              <a:noFill/>
            </a:ln>
          </p:spPr>
        </p:pic>
        <p:sp>
          <p:nvSpPr>
            <p:cNvPr id="1303" name="Google Shape;1303;p93"/>
            <p:cNvSpPr txBox="1"/>
            <p:nvPr/>
          </p:nvSpPr>
          <p:spPr>
            <a:xfrm>
              <a:off x="4273507" y="3656886"/>
              <a:ext cx="2643000" cy="90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As the biggest square gets larger, the largest angle opposite it also gets larger!</a:t>
              </a:r>
              <a:endParaRPr sz="1800">
                <a:latin typeface="Lexend"/>
                <a:ea typeface="Lexend"/>
                <a:cs typeface="Lexend"/>
                <a:sym typeface="Lexend"/>
              </a:endParaRPr>
            </a:p>
          </p:txBody>
        </p:sp>
      </p:grpSp>
      <p:sp>
        <p:nvSpPr>
          <p:cNvPr id="1304" name="Google Shape;1304;p93"/>
          <p:cNvSpPr txBox="1"/>
          <p:nvPr/>
        </p:nvSpPr>
        <p:spPr>
          <a:xfrm>
            <a:off x="279288" y="252148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305" name="Google Shape;1305;p93"/>
          <p:cNvPicPr preferRelativeResize="0"/>
          <p:nvPr/>
        </p:nvPicPr>
        <p:blipFill>
          <a:blip r:embed="rId4">
            <a:alphaModFix/>
          </a:blip>
          <a:stretch>
            <a:fillRect/>
          </a:stretch>
        </p:blipFill>
        <p:spPr>
          <a:xfrm flipH="1">
            <a:off x="371826" y="1826112"/>
            <a:ext cx="629125" cy="725538"/>
          </a:xfrm>
          <a:prstGeom prst="rect">
            <a:avLst/>
          </a:prstGeom>
          <a:noFill/>
          <a:ln>
            <a:noFill/>
          </a:ln>
        </p:spPr>
      </p:pic>
      <p:pic>
        <p:nvPicPr>
          <p:cNvPr id="1306" name="Google Shape;1306;p93"/>
          <p:cNvPicPr preferRelativeResize="0"/>
          <p:nvPr/>
        </p:nvPicPr>
        <p:blipFill>
          <a:blip r:embed="rId5">
            <a:alphaModFix/>
          </a:blip>
          <a:stretch>
            <a:fillRect/>
          </a:stretch>
        </p:blipFill>
        <p:spPr>
          <a:xfrm>
            <a:off x="4689147" y="809999"/>
            <a:ext cx="3322575" cy="3397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94"/>
          <p:cNvSpPr txBox="1"/>
          <p:nvPr/>
        </p:nvSpPr>
        <p:spPr>
          <a:xfrm>
            <a:off x="5149775" y="806550"/>
            <a:ext cx="3670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In this triangle, which of its three angles is the largest?</a:t>
            </a:r>
            <a:endParaRPr sz="1800">
              <a:latin typeface="Lexend"/>
              <a:ea typeface="Lexend"/>
              <a:cs typeface="Lexend"/>
              <a:sym typeface="Lexend"/>
            </a:endParaRPr>
          </a:p>
        </p:txBody>
      </p:sp>
      <p:grpSp>
        <p:nvGrpSpPr>
          <p:cNvPr id="1312" name="Google Shape;1312;p94"/>
          <p:cNvGrpSpPr/>
          <p:nvPr/>
        </p:nvGrpSpPr>
        <p:grpSpPr>
          <a:xfrm>
            <a:off x="1475176" y="1821975"/>
            <a:ext cx="2588625" cy="2573125"/>
            <a:chOff x="1475176" y="1821975"/>
            <a:chExt cx="2588625" cy="2573125"/>
          </a:xfrm>
        </p:grpSpPr>
        <p:sp>
          <p:nvSpPr>
            <p:cNvPr id="1313" name="Google Shape;1313;p94"/>
            <p:cNvSpPr/>
            <p:nvPr/>
          </p:nvSpPr>
          <p:spPr>
            <a:xfrm rot="10800000">
              <a:off x="1475176" y="1821975"/>
              <a:ext cx="1006800" cy="1007100"/>
            </a:xfrm>
            <a:prstGeom prst="arc">
              <a:avLst>
                <a:gd fmla="val 11295575" name="adj1"/>
                <a:gd fmla="val 14637062"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94"/>
            <p:cNvSpPr/>
            <p:nvPr/>
          </p:nvSpPr>
          <p:spPr>
            <a:xfrm rot="10800000">
              <a:off x="3153300" y="2117250"/>
              <a:ext cx="910500" cy="910500"/>
            </a:xfrm>
            <a:prstGeom prst="arc">
              <a:avLst>
                <a:gd fmla="val 18142032" name="adj1"/>
                <a:gd fmla="val 532278"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5" name="Google Shape;1315;p94"/>
            <p:cNvSpPr/>
            <p:nvPr/>
          </p:nvSpPr>
          <p:spPr>
            <a:xfrm rot="10800000">
              <a:off x="2280574" y="3432701"/>
              <a:ext cx="962400" cy="962400"/>
            </a:xfrm>
            <a:prstGeom prst="arc">
              <a:avLst>
                <a:gd fmla="val 3827434" name="adj1"/>
                <a:gd fmla="val 7360774"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316" name="Google Shape;1316;p94"/>
          <p:cNvPicPr preferRelativeResize="0"/>
          <p:nvPr/>
        </p:nvPicPr>
        <p:blipFill>
          <a:blip r:embed="rId3">
            <a:alphaModFix/>
          </a:blip>
          <a:stretch>
            <a:fillRect/>
          </a:stretch>
        </p:blipFill>
        <p:spPr>
          <a:xfrm rot="3830235">
            <a:off x="337318" y="871928"/>
            <a:ext cx="4615758" cy="4288009"/>
          </a:xfrm>
          <a:prstGeom prst="rect">
            <a:avLst/>
          </a:prstGeom>
          <a:noFill/>
          <a:ln>
            <a:noFill/>
          </a:ln>
        </p:spPr>
      </p:pic>
      <p:sp>
        <p:nvSpPr>
          <p:cNvPr id="1317" name="Google Shape;1317;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sp>
        <p:nvSpPr>
          <p:cNvPr id="1318" name="Google Shape;1318;p94"/>
          <p:cNvSpPr txBox="1"/>
          <p:nvPr/>
        </p:nvSpPr>
        <p:spPr>
          <a:xfrm>
            <a:off x="1066164" y="2978997"/>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35 units²</a:t>
            </a:r>
            <a:endParaRPr sz="1800">
              <a:latin typeface="Lexend"/>
              <a:ea typeface="Lexend"/>
              <a:cs typeface="Lexend"/>
              <a:sym typeface="Lexend"/>
            </a:endParaRPr>
          </a:p>
        </p:txBody>
      </p:sp>
      <p:sp>
        <p:nvSpPr>
          <p:cNvPr id="1319" name="Google Shape;1319;p94"/>
          <p:cNvSpPr txBox="1"/>
          <p:nvPr/>
        </p:nvSpPr>
        <p:spPr>
          <a:xfrm>
            <a:off x="2408360" y="1148082"/>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30 units²</a:t>
            </a:r>
            <a:endParaRPr sz="1800">
              <a:latin typeface="Lexend"/>
              <a:ea typeface="Lexend"/>
              <a:cs typeface="Lexend"/>
              <a:sym typeface="Lexend"/>
            </a:endParaRPr>
          </a:p>
        </p:txBody>
      </p:sp>
      <p:sp>
        <p:nvSpPr>
          <p:cNvPr id="1320" name="Google Shape;1320;p94"/>
          <p:cNvSpPr txBox="1"/>
          <p:nvPr/>
        </p:nvSpPr>
        <p:spPr>
          <a:xfrm>
            <a:off x="3367830" y="3143653"/>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28 units²</a:t>
            </a:r>
            <a:endParaRPr sz="1800">
              <a:latin typeface="Lexend"/>
              <a:ea typeface="Lexend"/>
              <a:cs typeface="Lexend"/>
              <a:sym typeface="Lexend"/>
            </a:endParaRPr>
          </a:p>
        </p:txBody>
      </p:sp>
      <p:sp>
        <p:nvSpPr>
          <p:cNvPr id="1321" name="Google Shape;1321;p94"/>
          <p:cNvSpPr txBox="1"/>
          <p:nvPr/>
        </p:nvSpPr>
        <p:spPr>
          <a:xfrm>
            <a:off x="2593461" y="3392995"/>
            <a:ext cx="441900" cy="4341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a:t>
            </a:r>
            <a:endParaRPr sz="1800">
              <a:latin typeface="Lexend"/>
              <a:ea typeface="Lexend"/>
              <a:cs typeface="Lexend"/>
              <a:sym typeface="Lexend"/>
            </a:endParaRPr>
          </a:p>
        </p:txBody>
      </p:sp>
      <p:sp>
        <p:nvSpPr>
          <p:cNvPr id="1322" name="Google Shape;1322;p94"/>
          <p:cNvSpPr txBox="1"/>
          <p:nvPr/>
        </p:nvSpPr>
        <p:spPr>
          <a:xfrm>
            <a:off x="3145554" y="2485427"/>
            <a:ext cx="441900" cy="4341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a:t>
            </a:r>
            <a:endParaRPr sz="1800">
              <a:latin typeface="Lexend"/>
              <a:ea typeface="Lexend"/>
              <a:cs typeface="Lexend"/>
              <a:sym typeface="Lexend"/>
            </a:endParaRPr>
          </a:p>
        </p:txBody>
      </p:sp>
      <p:sp>
        <p:nvSpPr>
          <p:cNvPr id="1323" name="Google Shape;1323;p94"/>
          <p:cNvSpPr txBox="1"/>
          <p:nvPr/>
        </p:nvSpPr>
        <p:spPr>
          <a:xfrm>
            <a:off x="2080257" y="2318811"/>
            <a:ext cx="441900" cy="4341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a:t>
            </a:r>
            <a:endParaRPr sz="1800">
              <a:latin typeface="Lexend"/>
              <a:ea typeface="Lexend"/>
              <a:cs typeface="Lexend"/>
              <a:sym typeface="Lexend"/>
            </a:endParaRPr>
          </a:p>
        </p:txBody>
      </p:sp>
      <p:sp>
        <p:nvSpPr>
          <p:cNvPr id="1324" name="Google Shape;1324;p94"/>
          <p:cNvSpPr txBox="1"/>
          <p:nvPr/>
        </p:nvSpPr>
        <p:spPr>
          <a:xfrm>
            <a:off x="5979454" y="1446877"/>
            <a:ext cx="441900" cy="4341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Kalam"/>
                <a:ea typeface="Kalam"/>
                <a:cs typeface="Kalam"/>
                <a:sym typeface="Kalam"/>
              </a:rPr>
              <a:t>b°</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95"/>
          <p:cNvSpPr txBox="1"/>
          <p:nvPr/>
        </p:nvSpPr>
        <p:spPr>
          <a:xfrm>
            <a:off x="324000" y="675244"/>
            <a:ext cx="84960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For each of these triangles, draw on an angle marker at the largest interior angle of the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For each angle marked, write down whether it is acute, right, or obtuse.</a:t>
            </a:r>
            <a:endParaRPr sz="1800">
              <a:latin typeface="Lexend"/>
              <a:ea typeface="Lexend"/>
              <a:cs typeface="Lexend"/>
              <a:sym typeface="Lexend"/>
            </a:endParaRPr>
          </a:p>
        </p:txBody>
      </p:sp>
      <p:sp>
        <p:nvSpPr>
          <p:cNvPr id="1330" name="Google Shape;1330;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pic>
        <p:nvPicPr>
          <p:cNvPr id="1331" name="Google Shape;1331;p95"/>
          <p:cNvPicPr preferRelativeResize="0"/>
          <p:nvPr/>
        </p:nvPicPr>
        <p:blipFill>
          <a:blip r:embed="rId3">
            <a:alphaModFix/>
          </a:blip>
          <a:stretch>
            <a:fillRect/>
          </a:stretch>
        </p:blipFill>
        <p:spPr>
          <a:xfrm>
            <a:off x="324000" y="1423050"/>
            <a:ext cx="8495999" cy="3397350"/>
          </a:xfrm>
          <a:prstGeom prst="rect">
            <a:avLst/>
          </a:prstGeom>
          <a:noFill/>
          <a:ln>
            <a:noFill/>
          </a:ln>
        </p:spPr>
      </p:pic>
      <p:sp>
        <p:nvSpPr>
          <p:cNvPr id="1332" name="Google Shape;1332;p95"/>
          <p:cNvSpPr txBox="1"/>
          <p:nvPr/>
        </p:nvSpPr>
        <p:spPr>
          <a:xfrm>
            <a:off x="1101610" y="2958607"/>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units²</a:t>
            </a:r>
            <a:endParaRPr sz="1800">
              <a:latin typeface="Lexend"/>
              <a:ea typeface="Lexend"/>
              <a:cs typeface="Lexend"/>
              <a:sym typeface="Lexend"/>
            </a:endParaRPr>
          </a:p>
        </p:txBody>
      </p:sp>
      <p:sp>
        <p:nvSpPr>
          <p:cNvPr id="1333" name="Google Shape;1333;p95"/>
          <p:cNvSpPr txBox="1"/>
          <p:nvPr/>
        </p:nvSpPr>
        <p:spPr>
          <a:xfrm>
            <a:off x="428700" y="195811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4" name="Google Shape;1334;p95"/>
          <p:cNvSpPr txBox="1"/>
          <p:nvPr/>
        </p:nvSpPr>
        <p:spPr>
          <a:xfrm>
            <a:off x="1669925" y="1885098"/>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5" name="Google Shape;1335;p95"/>
          <p:cNvSpPr txBox="1"/>
          <p:nvPr/>
        </p:nvSpPr>
        <p:spPr>
          <a:xfrm>
            <a:off x="2914805" y="305468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6" name="Google Shape;1336;p95"/>
          <p:cNvSpPr txBox="1"/>
          <p:nvPr/>
        </p:nvSpPr>
        <p:spPr>
          <a:xfrm>
            <a:off x="3814155" y="21376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7" name="Google Shape;1337;p95"/>
          <p:cNvSpPr txBox="1"/>
          <p:nvPr/>
        </p:nvSpPr>
        <p:spPr>
          <a:xfrm>
            <a:off x="4307566" y="345781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8" name="Google Shape;1338;p95"/>
          <p:cNvSpPr txBox="1"/>
          <p:nvPr/>
        </p:nvSpPr>
        <p:spPr>
          <a:xfrm>
            <a:off x="6141691" y="2979336"/>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39" name="Google Shape;1339;p95"/>
          <p:cNvSpPr txBox="1"/>
          <p:nvPr/>
        </p:nvSpPr>
        <p:spPr>
          <a:xfrm>
            <a:off x="7435322" y="229382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40" name="Google Shape;1340;p95"/>
          <p:cNvSpPr txBox="1"/>
          <p:nvPr/>
        </p:nvSpPr>
        <p:spPr>
          <a:xfrm>
            <a:off x="7540129" y="358302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41" name="Google Shape;1341;p95"/>
          <p:cNvSpPr txBox="1"/>
          <p:nvPr/>
        </p:nvSpPr>
        <p:spPr>
          <a:xfrm>
            <a:off x="1357925" y="16809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342" name="Google Shape;1342;p95"/>
          <p:cNvSpPr txBox="1"/>
          <p:nvPr/>
        </p:nvSpPr>
        <p:spPr>
          <a:xfrm>
            <a:off x="3557100" y="25614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343" name="Google Shape;1343;p95"/>
          <p:cNvSpPr txBox="1"/>
          <p:nvPr/>
        </p:nvSpPr>
        <p:spPr>
          <a:xfrm>
            <a:off x="7123325" y="2293825"/>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96"/>
          <p:cNvSpPr/>
          <p:nvPr/>
        </p:nvSpPr>
        <p:spPr>
          <a:xfrm rot="8498512">
            <a:off x="6838445" y="2825360"/>
            <a:ext cx="240261" cy="240682"/>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96"/>
          <p:cNvSpPr/>
          <p:nvPr/>
        </p:nvSpPr>
        <p:spPr>
          <a:xfrm rot="10800000">
            <a:off x="1418500" y="3126675"/>
            <a:ext cx="709800" cy="710100"/>
          </a:xfrm>
          <a:prstGeom prst="arc">
            <a:avLst>
              <a:gd fmla="val 6066535" name="adj1"/>
              <a:gd fmla="val 10828543"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96"/>
          <p:cNvSpPr txBox="1"/>
          <p:nvPr/>
        </p:nvSpPr>
        <p:spPr>
          <a:xfrm>
            <a:off x="4824000" y="675250"/>
            <a:ext cx="3996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The largest angle in this triangle is a right 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Write down the area of the unlabelled square.</a:t>
            </a:r>
            <a:endParaRPr sz="1800">
              <a:latin typeface="Lexend"/>
              <a:ea typeface="Lexend"/>
              <a:cs typeface="Lexend"/>
              <a:sym typeface="Lexend"/>
            </a:endParaRPr>
          </a:p>
        </p:txBody>
      </p:sp>
      <p:sp>
        <p:nvSpPr>
          <p:cNvPr id="1351" name="Google Shape;1351;p96"/>
          <p:cNvSpPr txBox="1"/>
          <p:nvPr/>
        </p:nvSpPr>
        <p:spPr>
          <a:xfrm>
            <a:off x="324000" y="675250"/>
            <a:ext cx="39960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The largest angle in this triangle is marked with an angle marker and is acute.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Write down a possible area of the largest square.</a:t>
            </a:r>
            <a:endParaRPr sz="1800">
              <a:latin typeface="Lexend"/>
              <a:ea typeface="Lexend"/>
              <a:cs typeface="Lexend"/>
              <a:sym typeface="Lexend"/>
            </a:endParaRPr>
          </a:p>
        </p:txBody>
      </p:sp>
      <p:sp>
        <p:nvSpPr>
          <p:cNvPr id="1352" name="Google Shape;1352;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cxnSp>
        <p:nvCxnSpPr>
          <p:cNvPr id="1353" name="Google Shape;1353;p96"/>
          <p:cNvCxnSpPr/>
          <p:nvPr/>
        </p:nvCxnSpPr>
        <p:spPr>
          <a:xfrm>
            <a:off x="4572000" y="525400"/>
            <a:ext cx="0" cy="4293300"/>
          </a:xfrm>
          <a:prstGeom prst="straightConnector1">
            <a:avLst/>
          </a:prstGeom>
          <a:noFill/>
          <a:ln cap="flat" cmpd="sng" w="38100">
            <a:solidFill>
              <a:schemeClr val="accent5"/>
            </a:solidFill>
            <a:prstDash val="solid"/>
            <a:round/>
            <a:headEnd len="med" w="med" type="none"/>
            <a:tailEnd len="med" w="med" type="none"/>
          </a:ln>
        </p:spPr>
      </p:cxnSp>
      <p:pic>
        <p:nvPicPr>
          <p:cNvPr id="1354" name="Google Shape;1354;p96"/>
          <p:cNvPicPr preferRelativeResize="0"/>
          <p:nvPr/>
        </p:nvPicPr>
        <p:blipFill rotWithShape="1">
          <a:blip r:embed="rId3">
            <a:alphaModFix/>
          </a:blip>
          <a:srcRect b="0" l="0" r="53449" t="0"/>
          <a:stretch/>
        </p:blipFill>
        <p:spPr>
          <a:xfrm>
            <a:off x="923300" y="1763438"/>
            <a:ext cx="2675149" cy="3055250"/>
          </a:xfrm>
          <a:prstGeom prst="rect">
            <a:avLst/>
          </a:prstGeom>
          <a:noFill/>
          <a:ln>
            <a:noFill/>
          </a:ln>
        </p:spPr>
      </p:pic>
      <p:pic>
        <p:nvPicPr>
          <p:cNvPr id="1355" name="Google Shape;1355;p96"/>
          <p:cNvPicPr preferRelativeResize="0"/>
          <p:nvPr/>
        </p:nvPicPr>
        <p:blipFill rotWithShape="1">
          <a:blip r:embed="rId3">
            <a:alphaModFix/>
          </a:blip>
          <a:srcRect b="1143" l="55332" r="244" t="8790"/>
          <a:stretch/>
        </p:blipFill>
        <p:spPr>
          <a:xfrm>
            <a:off x="5545562" y="1915262"/>
            <a:ext cx="2552876" cy="2751625"/>
          </a:xfrm>
          <a:prstGeom prst="rect">
            <a:avLst/>
          </a:prstGeom>
          <a:noFill/>
          <a:ln>
            <a:noFill/>
          </a:ln>
        </p:spPr>
      </p:pic>
      <p:sp>
        <p:nvSpPr>
          <p:cNvPr id="1356" name="Google Shape;1356;p96"/>
          <p:cNvSpPr txBox="1"/>
          <p:nvPr/>
        </p:nvSpPr>
        <p:spPr>
          <a:xfrm>
            <a:off x="1712459" y="36423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57" name="Google Shape;1357;p96"/>
          <p:cNvSpPr txBox="1"/>
          <p:nvPr/>
        </p:nvSpPr>
        <p:spPr>
          <a:xfrm>
            <a:off x="888742" y="2672354"/>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58" name="Google Shape;1358;p96"/>
          <p:cNvSpPr txBox="1"/>
          <p:nvPr/>
        </p:nvSpPr>
        <p:spPr>
          <a:xfrm>
            <a:off x="6296709" y="36423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59" name="Google Shape;1359;p96"/>
          <p:cNvSpPr txBox="1"/>
          <p:nvPr/>
        </p:nvSpPr>
        <p:spPr>
          <a:xfrm>
            <a:off x="5767495" y="235329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97"/>
          <p:cNvSpPr txBox="1"/>
          <p:nvPr/>
        </p:nvSpPr>
        <p:spPr>
          <a:xfrm>
            <a:off x="324000" y="675250"/>
            <a:ext cx="8496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Each group shows the </a:t>
            </a:r>
            <a:r>
              <a:rPr lang="en-GB" sz="1800">
                <a:solidFill>
                  <a:schemeClr val="accent5"/>
                </a:solidFill>
                <a:latin typeface="Lexend"/>
                <a:ea typeface="Lexend"/>
                <a:cs typeface="Lexend"/>
                <a:sym typeface="Lexend"/>
              </a:rPr>
              <a:t>areas </a:t>
            </a:r>
            <a:r>
              <a:rPr lang="en-GB" sz="1800">
                <a:latin typeface="Lexend"/>
                <a:ea typeface="Lexend"/>
                <a:cs typeface="Lexend"/>
                <a:sym typeface="Lexend"/>
              </a:rPr>
              <a:t>of three squares whose vertices are joined to create a triangle.</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Place each group into the correct part of the table that describes the size of its largest angle.</a:t>
            </a:r>
            <a:endParaRPr sz="1800">
              <a:latin typeface="Lexend"/>
              <a:ea typeface="Lexend"/>
              <a:cs typeface="Lexend"/>
              <a:sym typeface="Lexend"/>
            </a:endParaRPr>
          </a:p>
        </p:txBody>
      </p:sp>
      <p:sp>
        <p:nvSpPr>
          <p:cNvPr id="1365" name="Google Shape;1365;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aphicFrame>
        <p:nvGraphicFramePr>
          <p:cNvPr id="1366" name="Google Shape;1366;p97"/>
          <p:cNvGraphicFramePr/>
          <p:nvPr/>
        </p:nvGraphicFramePr>
        <p:xfrm>
          <a:off x="5774400" y="1653425"/>
          <a:ext cx="3000000" cy="3000000"/>
        </p:xfrm>
        <a:graphic>
          <a:graphicData uri="http://schemas.openxmlformats.org/drawingml/2006/table">
            <a:tbl>
              <a:tblPr>
                <a:noFill/>
                <a:tableStyleId>{8315743D-C781-4C17-B280-7E2E4E0B738C}</a:tableStyleId>
              </a:tblPr>
              <a:tblGrid>
                <a:gridCol w="1015200"/>
                <a:gridCol w="1015200"/>
                <a:gridCol w="1015200"/>
              </a:tblGrid>
              <a:tr h="91692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 is acute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Lexend"/>
                          <a:ea typeface="Lexend"/>
                          <a:cs typeface="Lexend"/>
                          <a:sym typeface="Lexend"/>
                        </a:rPr>
                        <a:t>largest angle is obtuse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 is right</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r>
              <a:tr h="450250">
                <a:tc>
                  <a:txBody>
                    <a:bodyPr/>
                    <a:lstStyle/>
                    <a:p>
                      <a:pPr indent="0" lvl="0" marL="0" rtl="0" algn="ctr">
                        <a:spcBef>
                          <a:spcPts val="0"/>
                        </a:spcBef>
                        <a:spcAft>
                          <a:spcPts val="0"/>
                        </a:spcAft>
                        <a:buNone/>
                      </a:pPr>
                      <a:r>
                        <a:rPr lang="en-GB" sz="1600">
                          <a:latin typeface="Lexend"/>
                          <a:ea typeface="Lexend"/>
                          <a:cs typeface="Lexend"/>
                          <a:sym typeface="Lexend"/>
                        </a:rPr>
                        <a:t>16, 18, 20</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9, 13, 26</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8, 13, 21</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0250">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r>
              <a:tr h="450250">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450250">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bl>
          </a:graphicData>
        </a:graphic>
      </p:graphicFrame>
      <p:sp>
        <p:nvSpPr>
          <p:cNvPr id="1367" name="Google Shape;1367;p97"/>
          <p:cNvSpPr/>
          <p:nvPr/>
        </p:nvSpPr>
        <p:spPr>
          <a:xfrm>
            <a:off x="324000" y="2823625"/>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16, 17, 40</a:t>
            </a:r>
            <a:endParaRPr sz="1800">
              <a:latin typeface="Lexend"/>
              <a:ea typeface="Lexend"/>
              <a:cs typeface="Lexend"/>
              <a:sym typeface="Lexend"/>
            </a:endParaRPr>
          </a:p>
        </p:txBody>
      </p:sp>
      <p:sp>
        <p:nvSpPr>
          <p:cNvPr id="1368" name="Google Shape;1368;p97"/>
          <p:cNvSpPr/>
          <p:nvPr/>
        </p:nvSpPr>
        <p:spPr>
          <a:xfrm>
            <a:off x="2066150" y="2397000"/>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4, 7, 10</a:t>
            </a:r>
            <a:endParaRPr sz="1800">
              <a:latin typeface="Lexend"/>
              <a:ea typeface="Lexend"/>
              <a:cs typeface="Lexend"/>
              <a:sym typeface="Lexend"/>
            </a:endParaRPr>
          </a:p>
        </p:txBody>
      </p:sp>
      <p:sp>
        <p:nvSpPr>
          <p:cNvPr id="1369" name="Google Shape;1369;p97"/>
          <p:cNvSpPr/>
          <p:nvPr/>
        </p:nvSpPr>
        <p:spPr>
          <a:xfrm>
            <a:off x="4118850" y="1783450"/>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3, 3, 5</a:t>
            </a:r>
            <a:endParaRPr sz="1800">
              <a:latin typeface="Lexend"/>
              <a:ea typeface="Lexend"/>
              <a:cs typeface="Lexend"/>
              <a:sym typeface="Lexend"/>
            </a:endParaRPr>
          </a:p>
        </p:txBody>
      </p:sp>
      <p:sp>
        <p:nvSpPr>
          <p:cNvPr id="1370" name="Google Shape;1370;p97"/>
          <p:cNvSpPr/>
          <p:nvPr/>
        </p:nvSpPr>
        <p:spPr>
          <a:xfrm>
            <a:off x="378750" y="2036250"/>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1, 1, 3</a:t>
            </a:r>
            <a:endParaRPr sz="1800">
              <a:latin typeface="Lexend"/>
              <a:ea typeface="Lexend"/>
              <a:cs typeface="Lexend"/>
              <a:sym typeface="Lexend"/>
            </a:endParaRPr>
          </a:p>
        </p:txBody>
      </p:sp>
      <p:sp>
        <p:nvSpPr>
          <p:cNvPr id="1371" name="Google Shape;1371;p97"/>
          <p:cNvSpPr/>
          <p:nvPr/>
        </p:nvSpPr>
        <p:spPr>
          <a:xfrm>
            <a:off x="4118850" y="2823625"/>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8, 17, 25</a:t>
            </a:r>
            <a:endParaRPr sz="1800">
              <a:latin typeface="Lexend"/>
              <a:ea typeface="Lexend"/>
              <a:cs typeface="Lexend"/>
              <a:sym typeface="Lexend"/>
            </a:endParaRPr>
          </a:p>
        </p:txBody>
      </p:sp>
      <p:sp>
        <p:nvSpPr>
          <p:cNvPr id="1372" name="Google Shape;1372;p97"/>
          <p:cNvSpPr/>
          <p:nvPr/>
        </p:nvSpPr>
        <p:spPr>
          <a:xfrm>
            <a:off x="1346625" y="3360050"/>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9, 16, 25</a:t>
            </a:r>
            <a:endParaRPr sz="1800">
              <a:latin typeface="Lexend"/>
              <a:ea typeface="Lexend"/>
              <a:cs typeface="Lexend"/>
              <a:sym typeface="Lexend"/>
            </a:endParaRPr>
          </a:p>
        </p:txBody>
      </p:sp>
      <p:sp>
        <p:nvSpPr>
          <p:cNvPr id="1373" name="Google Shape;1373;p97"/>
          <p:cNvSpPr/>
          <p:nvPr/>
        </p:nvSpPr>
        <p:spPr>
          <a:xfrm>
            <a:off x="3728600" y="3743100"/>
            <a:ext cx="14103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5</a:t>
            </a:r>
            <a:r>
              <a:rPr i="1" lang="en-GB" sz="2200">
                <a:latin typeface="Times New Roman"/>
                <a:ea typeface="Times New Roman"/>
                <a:cs typeface="Times New Roman"/>
                <a:sym typeface="Times New Roman"/>
              </a:rPr>
              <a:t>x</a:t>
            </a:r>
            <a:r>
              <a:rPr lang="en-GB" sz="1800">
                <a:latin typeface="Lexend"/>
                <a:ea typeface="Lexend"/>
                <a:cs typeface="Lexend"/>
                <a:sym typeface="Lexend"/>
              </a:rPr>
              <a:t>, 7</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12</a:t>
            </a:r>
            <a:r>
              <a:rPr i="1" lang="en-GB" sz="2200">
                <a:solidFill>
                  <a:schemeClr val="dk1"/>
                </a:solidFill>
                <a:latin typeface="Times New Roman"/>
                <a:ea typeface="Times New Roman"/>
                <a:cs typeface="Times New Roman"/>
                <a:sym typeface="Times New Roman"/>
              </a:rPr>
              <a:t>x</a:t>
            </a:r>
            <a:endParaRPr sz="1800">
              <a:latin typeface="Lexend"/>
              <a:ea typeface="Lexend"/>
              <a:cs typeface="Lexend"/>
              <a:sym typeface="Lexend"/>
            </a:endParaRPr>
          </a:p>
        </p:txBody>
      </p:sp>
      <p:sp>
        <p:nvSpPr>
          <p:cNvPr id="1374" name="Google Shape;1374;p97"/>
          <p:cNvSpPr/>
          <p:nvPr/>
        </p:nvSpPr>
        <p:spPr>
          <a:xfrm>
            <a:off x="1132850" y="4213300"/>
            <a:ext cx="19089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14</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19</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44</a:t>
            </a:r>
            <a:r>
              <a:rPr i="1" lang="en-GB" sz="2200">
                <a:solidFill>
                  <a:schemeClr val="dk1"/>
                </a:solidFill>
                <a:latin typeface="Times New Roman"/>
                <a:ea typeface="Times New Roman"/>
                <a:cs typeface="Times New Roman"/>
                <a:sym typeface="Times New Roman"/>
              </a:rPr>
              <a:t>a</a:t>
            </a:r>
            <a:endParaRPr sz="1800">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98"/>
          <p:cNvSpPr/>
          <p:nvPr/>
        </p:nvSpPr>
        <p:spPr>
          <a:xfrm rot="10800000">
            <a:off x="7571082" y="2856451"/>
            <a:ext cx="709800" cy="710100"/>
          </a:xfrm>
          <a:prstGeom prst="arc">
            <a:avLst>
              <a:gd fmla="val 18179964" name="adj1"/>
              <a:gd fmla="val 2917402"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0" name="Google Shape;1380;p98"/>
          <p:cNvSpPr/>
          <p:nvPr/>
        </p:nvSpPr>
        <p:spPr>
          <a:xfrm rot="10800000">
            <a:off x="3924374" y="2893226"/>
            <a:ext cx="320700" cy="320700"/>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1" name="Google Shape;1381;p98"/>
          <p:cNvSpPr/>
          <p:nvPr/>
        </p:nvSpPr>
        <p:spPr>
          <a:xfrm rot="10800000">
            <a:off x="1197217" y="1908131"/>
            <a:ext cx="709800" cy="710100"/>
          </a:xfrm>
          <a:prstGeom prst="arc">
            <a:avLst>
              <a:gd fmla="val 13511165" name="adj1"/>
              <a:gd fmla="val 18551744" name="adj2"/>
            </a:avLst>
          </a:prstGeom>
          <a:solidFill>
            <a:srgbClr val="FAEAF6"/>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2" name="Google Shape;1382;p98"/>
          <p:cNvSpPr txBox="1"/>
          <p:nvPr/>
        </p:nvSpPr>
        <p:spPr>
          <a:xfrm>
            <a:off x="324000" y="675244"/>
            <a:ext cx="84960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For each of these triangles, draw on an angle marker at the largest interior angle of the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For each angle marked, write down whether it is acute, right, or obtuse.</a:t>
            </a:r>
            <a:endParaRPr sz="1800">
              <a:latin typeface="Lexend"/>
              <a:ea typeface="Lexend"/>
              <a:cs typeface="Lexend"/>
              <a:sym typeface="Lexend"/>
            </a:endParaRPr>
          </a:p>
        </p:txBody>
      </p:sp>
      <p:sp>
        <p:nvSpPr>
          <p:cNvPr id="1383" name="Google Shape;1383;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pic>
        <p:nvPicPr>
          <p:cNvPr id="1384" name="Google Shape;1384;p98"/>
          <p:cNvPicPr preferRelativeResize="0"/>
          <p:nvPr/>
        </p:nvPicPr>
        <p:blipFill>
          <a:blip r:embed="rId3">
            <a:alphaModFix/>
          </a:blip>
          <a:stretch>
            <a:fillRect/>
          </a:stretch>
        </p:blipFill>
        <p:spPr>
          <a:xfrm>
            <a:off x="324000" y="1423050"/>
            <a:ext cx="8495999" cy="3397350"/>
          </a:xfrm>
          <a:prstGeom prst="rect">
            <a:avLst/>
          </a:prstGeom>
          <a:noFill/>
          <a:ln>
            <a:noFill/>
          </a:ln>
        </p:spPr>
      </p:pic>
      <p:sp>
        <p:nvSpPr>
          <p:cNvPr id="1385" name="Google Shape;1385;p98"/>
          <p:cNvSpPr txBox="1"/>
          <p:nvPr/>
        </p:nvSpPr>
        <p:spPr>
          <a:xfrm>
            <a:off x="1101610" y="2958607"/>
            <a:ext cx="1050600" cy="1031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units²</a:t>
            </a:r>
            <a:endParaRPr sz="1800">
              <a:latin typeface="Lexend"/>
              <a:ea typeface="Lexend"/>
              <a:cs typeface="Lexend"/>
              <a:sym typeface="Lexend"/>
            </a:endParaRPr>
          </a:p>
        </p:txBody>
      </p:sp>
      <p:sp>
        <p:nvSpPr>
          <p:cNvPr id="1386" name="Google Shape;1386;p98"/>
          <p:cNvSpPr txBox="1"/>
          <p:nvPr/>
        </p:nvSpPr>
        <p:spPr>
          <a:xfrm>
            <a:off x="428700" y="195811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87" name="Google Shape;1387;p98"/>
          <p:cNvSpPr txBox="1"/>
          <p:nvPr/>
        </p:nvSpPr>
        <p:spPr>
          <a:xfrm>
            <a:off x="1669925" y="1885098"/>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88" name="Google Shape;1388;p98"/>
          <p:cNvSpPr txBox="1"/>
          <p:nvPr/>
        </p:nvSpPr>
        <p:spPr>
          <a:xfrm>
            <a:off x="2914805" y="305468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89" name="Google Shape;1389;p98"/>
          <p:cNvSpPr txBox="1"/>
          <p:nvPr/>
        </p:nvSpPr>
        <p:spPr>
          <a:xfrm>
            <a:off x="3814155" y="21376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90" name="Google Shape;1390;p98"/>
          <p:cNvSpPr txBox="1"/>
          <p:nvPr/>
        </p:nvSpPr>
        <p:spPr>
          <a:xfrm>
            <a:off x="4307566" y="345781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91" name="Google Shape;1391;p98"/>
          <p:cNvSpPr txBox="1"/>
          <p:nvPr/>
        </p:nvSpPr>
        <p:spPr>
          <a:xfrm>
            <a:off x="6141691" y="2979336"/>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92" name="Google Shape;1392;p98"/>
          <p:cNvSpPr txBox="1"/>
          <p:nvPr/>
        </p:nvSpPr>
        <p:spPr>
          <a:xfrm>
            <a:off x="7435322" y="229382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93" name="Google Shape;1393;p98"/>
          <p:cNvSpPr txBox="1"/>
          <p:nvPr/>
        </p:nvSpPr>
        <p:spPr>
          <a:xfrm>
            <a:off x="7540129" y="358302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394" name="Google Shape;1394;p98"/>
          <p:cNvSpPr txBox="1"/>
          <p:nvPr/>
        </p:nvSpPr>
        <p:spPr>
          <a:xfrm>
            <a:off x="1163325" y="4103900"/>
            <a:ext cx="777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acute</a:t>
            </a:r>
            <a:endParaRPr sz="2000">
              <a:latin typeface="Kalam"/>
              <a:ea typeface="Kalam"/>
              <a:cs typeface="Kalam"/>
              <a:sym typeface="Kalam"/>
            </a:endParaRPr>
          </a:p>
        </p:txBody>
      </p:sp>
      <p:sp>
        <p:nvSpPr>
          <p:cNvPr id="1395" name="Google Shape;1395;p98"/>
          <p:cNvSpPr txBox="1"/>
          <p:nvPr/>
        </p:nvSpPr>
        <p:spPr>
          <a:xfrm>
            <a:off x="2769475" y="3971750"/>
            <a:ext cx="13860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right-angled</a:t>
            </a:r>
            <a:endParaRPr sz="2000">
              <a:latin typeface="Kalam"/>
              <a:ea typeface="Kalam"/>
              <a:cs typeface="Kalam"/>
              <a:sym typeface="Kalam"/>
            </a:endParaRPr>
          </a:p>
        </p:txBody>
      </p:sp>
      <p:sp>
        <p:nvSpPr>
          <p:cNvPr id="1396" name="Google Shape;1396;p98"/>
          <p:cNvSpPr txBox="1"/>
          <p:nvPr/>
        </p:nvSpPr>
        <p:spPr>
          <a:xfrm>
            <a:off x="6581525" y="4048050"/>
            <a:ext cx="777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obtuse</a:t>
            </a:r>
            <a:endParaRPr sz="2000">
              <a:latin typeface="Kalam"/>
              <a:ea typeface="Kalam"/>
              <a:cs typeface="Kalam"/>
              <a:sym typeface="Kalam"/>
            </a:endParaRPr>
          </a:p>
        </p:txBody>
      </p:sp>
      <p:sp>
        <p:nvSpPr>
          <p:cNvPr id="1397" name="Google Shape;1397;p98"/>
          <p:cNvSpPr txBox="1"/>
          <p:nvPr/>
        </p:nvSpPr>
        <p:spPr>
          <a:xfrm>
            <a:off x="1357925" y="16809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398" name="Google Shape;1398;p98"/>
          <p:cNvSpPr txBox="1"/>
          <p:nvPr/>
        </p:nvSpPr>
        <p:spPr>
          <a:xfrm>
            <a:off x="3557100" y="25614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399" name="Google Shape;1399;p98"/>
          <p:cNvSpPr txBox="1"/>
          <p:nvPr/>
        </p:nvSpPr>
        <p:spPr>
          <a:xfrm>
            <a:off x="7123325" y="2293825"/>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99"/>
          <p:cNvSpPr/>
          <p:nvPr/>
        </p:nvSpPr>
        <p:spPr>
          <a:xfrm rot="8498512">
            <a:off x="6838445" y="2825360"/>
            <a:ext cx="240261" cy="240682"/>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5" name="Google Shape;1405;p99"/>
          <p:cNvSpPr txBox="1"/>
          <p:nvPr/>
        </p:nvSpPr>
        <p:spPr>
          <a:xfrm>
            <a:off x="6992338" y="2482545"/>
            <a:ext cx="10506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9</a:t>
            </a:r>
            <a:endParaRPr sz="2000">
              <a:latin typeface="Kalam"/>
              <a:ea typeface="Kalam"/>
              <a:cs typeface="Kalam"/>
              <a:sym typeface="Kalam"/>
            </a:endParaRPr>
          </a:p>
          <a:p>
            <a:pPr indent="0" lvl="0" marL="0" marR="0" rtl="0" algn="ctr">
              <a:lnSpc>
                <a:spcPct val="100000"/>
              </a:lnSpc>
              <a:spcBef>
                <a:spcPts val="0"/>
              </a:spcBef>
              <a:spcAft>
                <a:spcPts val="0"/>
              </a:spcAft>
              <a:buClr>
                <a:srgbClr val="000000"/>
              </a:buClr>
              <a:buSzPts val="1800"/>
              <a:buFont typeface="Arial"/>
              <a:buNone/>
            </a:pPr>
            <a:r>
              <a:rPr lang="en-GB" sz="2000">
                <a:solidFill>
                  <a:schemeClr val="dk1"/>
                </a:solidFill>
                <a:latin typeface="Kalam"/>
                <a:ea typeface="Kalam"/>
                <a:cs typeface="Kalam"/>
                <a:sym typeface="Kalam"/>
              </a:rPr>
              <a:t>units²</a:t>
            </a:r>
            <a:endParaRPr sz="2000">
              <a:latin typeface="Kalam"/>
              <a:ea typeface="Kalam"/>
              <a:cs typeface="Kalam"/>
              <a:sym typeface="Kalam"/>
            </a:endParaRPr>
          </a:p>
        </p:txBody>
      </p:sp>
      <p:sp>
        <p:nvSpPr>
          <p:cNvPr id="1406" name="Google Shape;1406;p99"/>
          <p:cNvSpPr/>
          <p:nvPr/>
        </p:nvSpPr>
        <p:spPr>
          <a:xfrm rot="10800000">
            <a:off x="1189900" y="3126675"/>
            <a:ext cx="709800" cy="710100"/>
          </a:xfrm>
          <a:prstGeom prst="arc">
            <a:avLst>
              <a:gd fmla="val 6066535" name="adj1"/>
              <a:gd fmla="val 10828543" name="adj2"/>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7" name="Google Shape;1407;p99"/>
          <p:cNvSpPr txBox="1"/>
          <p:nvPr/>
        </p:nvSpPr>
        <p:spPr>
          <a:xfrm>
            <a:off x="4824000" y="675250"/>
            <a:ext cx="3996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The largest angle in this triangle is a right 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Write down the area of the unlabelled square.</a:t>
            </a:r>
            <a:endParaRPr sz="1800">
              <a:latin typeface="Lexend"/>
              <a:ea typeface="Lexend"/>
              <a:cs typeface="Lexend"/>
              <a:sym typeface="Lexend"/>
            </a:endParaRPr>
          </a:p>
        </p:txBody>
      </p:sp>
      <p:sp>
        <p:nvSpPr>
          <p:cNvPr id="1408" name="Google Shape;1408;p99"/>
          <p:cNvSpPr txBox="1"/>
          <p:nvPr/>
        </p:nvSpPr>
        <p:spPr>
          <a:xfrm>
            <a:off x="324000" y="675250"/>
            <a:ext cx="39960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The largest angle in this triangle is marked with an angle marker and is acute.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Write down a possible area of the largest square.</a:t>
            </a:r>
            <a:endParaRPr sz="1800">
              <a:latin typeface="Lexend"/>
              <a:ea typeface="Lexend"/>
              <a:cs typeface="Lexend"/>
              <a:sym typeface="Lexend"/>
            </a:endParaRPr>
          </a:p>
        </p:txBody>
      </p:sp>
      <p:sp>
        <p:nvSpPr>
          <p:cNvPr id="1409" name="Google Shape;1409;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cxnSp>
        <p:nvCxnSpPr>
          <p:cNvPr id="1410" name="Google Shape;1410;p99"/>
          <p:cNvCxnSpPr/>
          <p:nvPr/>
        </p:nvCxnSpPr>
        <p:spPr>
          <a:xfrm>
            <a:off x="4572000" y="525400"/>
            <a:ext cx="0" cy="4293300"/>
          </a:xfrm>
          <a:prstGeom prst="straightConnector1">
            <a:avLst/>
          </a:prstGeom>
          <a:noFill/>
          <a:ln cap="flat" cmpd="sng" w="38100">
            <a:solidFill>
              <a:schemeClr val="accent5"/>
            </a:solidFill>
            <a:prstDash val="solid"/>
            <a:round/>
            <a:headEnd len="med" w="med" type="none"/>
            <a:tailEnd len="med" w="med" type="none"/>
          </a:ln>
        </p:spPr>
      </p:cxnSp>
      <p:pic>
        <p:nvPicPr>
          <p:cNvPr id="1411" name="Google Shape;1411;p99"/>
          <p:cNvPicPr preferRelativeResize="0"/>
          <p:nvPr/>
        </p:nvPicPr>
        <p:blipFill rotWithShape="1">
          <a:blip r:embed="rId3">
            <a:alphaModFix/>
          </a:blip>
          <a:srcRect b="0" l="0" r="53449" t="0"/>
          <a:stretch/>
        </p:blipFill>
        <p:spPr>
          <a:xfrm>
            <a:off x="694700" y="1763438"/>
            <a:ext cx="2675149" cy="3055250"/>
          </a:xfrm>
          <a:prstGeom prst="rect">
            <a:avLst/>
          </a:prstGeom>
          <a:noFill/>
          <a:ln>
            <a:noFill/>
          </a:ln>
        </p:spPr>
      </p:pic>
      <p:pic>
        <p:nvPicPr>
          <p:cNvPr id="1412" name="Google Shape;1412;p99"/>
          <p:cNvPicPr preferRelativeResize="0"/>
          <p:nvPr/>
        </p:nvPicPr>
        <p:blipFill rotWithShape="1">
          <a:blip r:embed="rId3">
            <a:alphaModFix/>
          </a:blip>
          <a:srcRect b="1143" l="55332" r="244" t="8790"/>
          <a:stretch/>
        </p:blipFill>
        <p:spPr>
          <a:xfrm>
            <a:off x="5545562" y="1915262"/>
            <a:ext cx="2552876" cy="2751625"/>
          </a:xfrm>
          <a:prstGeom prst="rect">
            <a:avLst/>
          </a:prstGeom>
          <a:noFill/>
          <a:ln>
            <a:noFill/>
          </a:ln>
        </p:spPr>
      </p:pic>
      <p:sp>
        <p:nvSpPr>
          <p:cNvPr id="1413" name="Google Shape;1413;p99"/>
          <p:cNvSpPr txBox="1"/>
          <p:nvPr/>
        </p:nvSpPr>
        <p:spPr>
          <a:xfrm>
            <a:off x="1483859" y="36423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414" name="Google Shape;1414;p99"/>
          <p:cNvSpPr txBox="1"/>
          <p:nvPr/>
        </p:nvSpPr>
        <p:spPr>
          <a:xfrm>
            <a:off x="660142" y="2672354"/>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415" name="Google Shape;1415;p99"/>
          <p:cNvSpPr txBox="1"/>
          <p:nvPr/>
        </p:nvSpPr>
        <p:spPr>
          <a:xfrm>
            <a:off x="6296709" y="364230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416" name="Google Shape;1416;p99"/>
          <p:cNvSpPr txBox="1"/>
          <p:nvPr/>
        </p:nvSpPr>
        <p:spPr>
          <a:xfrm>
            <a:off x="5767495" y="235329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417" name="Google Shape;1417;p99"/>
          <p:cNvSpPr txBox="1"/>
          <p:nvPr/>
        </p:nvSpPr>
        <p:spPr>
          <a:xfrm>
            <a:off x="2629145" y="3472200"/>
            <a:ext cx="17961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Any area greater than 14 units², but less than 25 </a:t>
            </a:r>
            <a:r>
              <a:rPr lang="en-GB" sz="2000">
                <a:solidFill>
                  <a:schemeClr val="dk1"/>
                </a:solidFill>
                <a:latin typeface="Kalam"/>
                <a:ea typeface="Kalam"/>
                <a:cs typeface="Kalam"/>
                <a:sym typeface="Kalam"/>
              </a:rPr>
              <a:t>units².</a:t>
            </a:r>
            <a:endParaRPr sz="2000">
              <a:latin typeface="Kalam"/>
              <a:ea typeface="Kalam"/>
              <a:cs typeface="Kalam"/>
              <a:sym typeface="Kala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100"/>
          <p:cNvSpPr txBox="1"/>
          <p:nvPr/>
        </p:nvSpPr>
        <p:spPr>
          <a:xfrm>
            <a:off x="324000" y="675250"/>
            <a:ext cx="8496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Each group shows the </a:t>
            </a:r>
            <a:r>
              <a:rPr lang="en-GB" sz="1800">
                <a:solidFill>
                  <a:schemeClr val="accent5"/>
                </a:solidFill>
                <a:latin typeface="Lexend"/>
                <a:ea typeface="Lexend"/>
                <a:cs typeface="Lexend"/>
                <a:sym typeface="Lexend"/>
              </a:rPr>
              <a:t>areas </a:t>
            </a:r>
            <a:r>
              <a:rPr lang="en-GB" sz="1800">
                <a:latin typeface="Lexend"/>
                <a:ea typeface="Lexend"/>
                <a:cs typeface="Lexend"/>
                <a:sym typeface="Lexend"/>
              </a:rPr>
              <a:t>of three squares whose vertices are joined to create a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Place each group into the correct part of the table that describes the size of its largest angle.</a:t>
            </a:r>
            <a:endParaRPr sz="1800">
              <a:latin typeface="Lexend"/>
              <a:ea typeface="Lexend"/>
              <a:cs typeface="Lexend"/>
              <a:sym typeface="Lexend"/>
            </a:endParaRPr>
          </a:p>
        </p:txBody>
      </p:sp>
      <p:sp>
        <p:nvSpPr>
          <p:cNvPr id="1423" name="Google Shape;1423;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Properties from summing the areas of squares</a:t>
            </a:r>
            <a:endParaRPr/>
          </a:p>
        </p:txBody>
      </p:sp>
      <p:graphicFrame>
        <p:nvGraphicFramePr>
          <p:cNvPr id="1424" name="Google Shape;1424;p100"/>
          <p:cNvGraphicFramePr/>
          <p:nvPr/>
        </p:nvGraphicFramePr>
        <p:xfrm>
          <a:off x="3633675" y="1653425"/>
          <a:ext cx="3000000" cy="3000000"/>
        </p:xfrm>
        <a:graphic>
          <a:graphicData uri="http://schemas.openxmlformats.org/drawingml/2006/table">
            <a:tbl>
              <a:tblPr>
                <a:noFill/>
                <a:tableStyleId>{8315743D-C781-4C17-B280-7E2E4E0B738C}</a:tableStyleId>
              </a:tblPr>
              <a:tblGrid>
                <a:gridCol w="1728775"/>
                <a:gridCol w="1728775"/>
                <a:gridCol w="1728775"/>
              </a:tblGrid>
              <a:tr h="91692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 is acute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 is obtuse</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largest angle is right</a:t>
                      </a:r>
                      <a:endParaRPr sz="16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chemeClr val="accent5"/>
                    </a:solidFill>
                  </a:tcPr>
                </a:tc>
              </a:tr>
              <a:tr h="450250">
                <a:tc>
                  <a:txBody>
                    <a:bodyPr/>
                    <a:lstStyle/>
                    <a:p>
                      <a:pPr indent="0" lvl="0" marL="0" rtl="0" algn="ctr">
                        <a:spcBef>
                          <a:spcPts val="0"/>
                        </a:spcBef>
                        <a:spcAft>
                          <a:spcPts val="0"/>
                        </a:spcAft>
                        <a:buNone/>
                      </a:pPr>
                      <a:r>
                        <a:rPr lang="en-GB" sz="1600">
                          <a:latin typeface="Lexend"/>
                          <a:ea typeface="Lexend"/>
                          <a:cs typeface="Lexend"/>
                          <a:sym typeface="Lexend"/>
                        </a:rPr>
                        <a:t>16, 18, 20</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9, 13, 26</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8, 13, 21</a:t>
                      </a:r>
                      <a:endParaRPr sz="16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0250">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0" marB="0" marR="0" marL="0" anchor="ctr">
                    <a:lnT cap="flat" cmpd="sng" w="9525">
                      <a:solidFill>
                        <a:srgbClr val="9E9E9E"/>
                      </a:solidFill>
                      <a:prstDash val="solid"/>
                      <a:round/>
                      <a:headEnd len="sm" w="sm" type="none"/>
                      <a:tailEnd len="sm" w="sm" type="none"/>
                    </a:lnT>
                  </a:tcPr>
                </a:tc>
              </a:tr>
              <a:tr h="450250">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450250">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bl>
          </a:graphicData>
        </a:graphic>
      </p:graphicFrame>
      <p:sp>
        <p:nvSpPr>
          <p:cNvPr id="1425" name="Google Shape;1425;p100"/>
          <p:cNvSpPr/>
          <p:nvPr/>
        </p:nvSpPr>
        <p:spPr>
          <a:xfrm>
            <a:off x="5362382" y="3525025"/>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16, 17, 40</a:t>
            </a:r>
            <a:endParaRPr sz="1800">
              <a:latin typeface="Lexend"/>
              <a:ea typeface="Lexend"/>
              <a:cs typeface="Lexend"/>
              <a:sym typeface="Lexend"/>
            </a:endParaRPr>
          </a:p>
        </p:txBody>
      </p:sp>
      <p:sp>
        <p:nvSpPr>
          <p:cNvPr id="1426" name="Google Shape;1426;p100"/>
          <p:cNvSpPr/>
          <p:nvPr/>
        </p:nvSpPr>
        <p:spPr>
          <a:xfrm>
            <a:off x="3633550" y="3525025"/>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4, 7, 10</a:t>
            </a:r>
            <a:endParaRPr sz="1800">
              <a:latin typeface="Lexend"/>
              <a:ea typeface="Lexend"/>
              <a:cs typeface="Lexend"/>
              <a:sym typeface="Lexend"/>
            </a:endParaRPr>
          </a:p>
        </p:txBody>
      </p:sp>
      <p:sp>
        <p:nvSpPr>
          <p:cNvPr id="1427" name="Google Shape;1427;p100"/>
          <p:cNvSpPr/>
          <p:nvPr/>
        </p:nvSpPr>
        <p:spPr>
          <a:xfrm>
            <a:off x="3633550" y="3065250"/>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3, 3, 5</a:t>
            </a:r>
            <a:endParaRPr sz="1800">
              <a:latin typeface="Lexend"/>
              <a:ea typeface="Lexend"/>
              <a:cs typeface="Lexend"/>
              <a:sym typeface="Lexend"/>
            </a:endParaRPr>
          </a:p>
        </p:txBody>
      </p:sp>
      <p:sp>
        <p:nvSpPr>
          <p:cNvPr id="1428" name="Google Shape;1428;p100"/>
          <p:cNvSpPr/>
          <p:nvPr/>
        </p:nvSpPr>
        <p:spPr>
          <a:xfrm>
            <a:off x="7091214" y="3065250"/>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8, 17, 25</a:t>
            </a:r>
            <a:endParaRPr sz="1800">
              <a:latin typeface="Lexend"/>
              <a:ea typeface="Lexend"/>
              <a:cs typeface="Lexend"/>
              <a:sym typeface="Lexend"/>
            </a:endParaRPr>
          </a:p>
        </p:txBody>
      </p:sp>
      <p:sp>
        <p:nvSpPr>
          <p:cNvPr id="1429" name="Google Shape;1429;p100"/>
          <p:cNvSpPr/>
          <p:nvPr/>
        </p:nvSpPr>
        <p:spPr>
          <a:xfrm>
            <a:off x="7091214" y="3517875"/>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9, 16, 25</a:t>
            </a:r>
            <a:endParaRPr sz="1800">
              <a:latin typeface="Lexend"/>
              <a:ea typeface="Lexend"/>
              <a:cs typeface="Lexend"/>
              <a:sym typeface="Lexend"/>
            </a:endParaRPr>
          </a:p>
        </p:txBody>
      </p:sp>
      <p:sp>
        <p:nvSpPr>
          <p:cNvPr id="1430" name="Google Shape;1430;p100"/>
          <p:cNvSpPr/>
          <p:nvPr/>
        </p:nvSpPr>
        <p:spPr>
          <a:xfrm>
            <a:off x="7091214" y="3970500"/>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5</a:t>
            </a:r>
            <a:r>
              <a:rPr i="1" lang="en-GB" sz="2200">
                <a:latin typeface="Times New Roman"/>
                <a:ea typeface="Times New Roman"/>
                <a:cs typeface="Times New Roman"/>
                <a:sym typeface="Times New Roman"/>
              </a:rPr>
              <a:t>x</a:t>
            </a:r>
            <a:r>
              <a:rPr lang="en-GB" sz="1800">
                <a:latin typeface="Lexend"/>
                <a:ea typeface="Lexend"/>
                <a:cs typeface="Lexend"/>
                <a:sym typeface="Lexend"/>
              </a:rPr>
              <a:t>, 7</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12</a:t>
            </a:r>
            <a:r>
              <a:rPr i="1" lang="en-GB" sz="2200">
                <a:solidFill>
                  <a:schemeClr val="dk1"/>
                </a:solidFill>
                <a:latin typeface="Times New Roman"/>
                <a:ea typeface="Times New Roman"/>
                <a:cs typeface="Times New Roman"/>
                <a:sym typeface="Times New Roman"/>
              </a:rPr>
              <a:t>x</a:t>
            </a:r>
            <a:endParaRPr sz="1800">
              <a:latin typeface="Lexend"/>
              <a:ea typeface="Lexend"/>
              <a:cs typeface="Lexend"/>
              <a:sym typeface="Lexend"/>
            </a:endParaRPr>
          </a:p>
        </p:txBody>
      </p:sp>
      <p:sp>
        <p:nvSpPr>
          <p:cNvPr id="1431" name="Google Shape;1431;p100"/>
          <p:cNvSpPr/>
          <p:nvPr/>
        </p:nvSpPr>
        <p:spPr>
          <a:xfrm>
            <a:off x="5362382" y="3970500"/>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14</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19</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44</a:t>
            </a:r>
            <a:r>
              <a:rPr i="1" lang="en-GB" sz="2200">
                <a:solidFill>
                  <a:schemeClr val="dk1"/>
                </a:solidFill>
                <a:latin typeface="Times New Roman"/>
                <a:ea typeface="Times New Roman"/>
                <a:cs typeface="Times New Roman"/>
                <a:sym typeface="Times New Roman"/>
              </a:rPr>
              <a:t>a</a:t>
            </a:r>
            <a:endParaRPr sz="1800">
              <a:latin typeface="Lexend"/>
              <a:ea typeface="Lexend"/>
              <a:cs typeface="Lexend"/>
              <a:sym typeface="Lexend"/>
            </a:endParaRPr>
          </a:p>
        </p:txBody>
      </p:sp>
      <p:sp>
        <p:nvSpPr>
          <p:cNvPr id="1432" name="Google Shape;1432;p100"/>
          <p:cNvSpPr/>
          <p:nvPr/>
        </p:nvSpPr>
        <p:spPr>
          <a:xfrm>
            <a:off x="5362382" y="3065250"/>
            <a:ext cx="1728600" cy="3495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1, 1, 3</a:t>
            </a:r>
            <a:endParaRPr sz="18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101"/>
          <p:cNvSpPr txBox="1"/>
          <p:nvPr/>
        </p:nvSpPr>
        <p:spPr>
          <a:xfrm flipH="1">
            <a:off x="324300" y="685625"/>
            <a:ext cx="84957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Three squares can be joined together at their vertices to create a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If three congruent squares are joined together, the triangle is equilateral.</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a:t>
            </a:r>
            <a:r>
              <a:rPr lang="en-GB" sz="1800">
                <a:solidFill>
                  <a:schemeClr val="dk1"/>
                </a:solidFill>
                <a:latin typeface="Lexend"/>
                <a:ea typeface="Lexend"/>
                <a:cs typeface="Lexend"/>
                <a:sym typeface="Lexend"/>
              </a:rPr>
              <a:t>If two congruent squares are joined together, the triangle is isosceles.</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If all squares have different areas, the triangle is scalene.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 largest angle of the triangle can either be acute, right, or obtuse, depending on whether the sum of the areas of the two smaller squares is greater than, equal to, or less than the area of the largest square, respectively.</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When the sum of the areas of the two smaller squares is equal to the area of the largest square, the triangle is always a right-angled triangle. This is a visual demonstration of </a:t>
            </a:r>
            <a:r>
              <a:rPr b="1" lang="en-GB" sz="1800">
                <a:solidFill>
                  <a:schemeClr val="dk1"/>
                </a:solidFill>
                <a:latin typeface="Lexend"/>
                <a:ea typeface="Lexend"/>
                <a:cs typeface="Lexend"/>
                <a:sym typeface="Lexend"/>
              </a:rPr>
              <a:t>Pythagoras’ theorem</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p:txBody>
      </p:sp>
      <p:sp>
        <p:nvSpPr>
          <p:cNvPr id="1438" name="Google Shape;1438;p101"/>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Demonstrating Pythagoras' theorem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02"/>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44" name="Google Shape;1444;p102"/>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