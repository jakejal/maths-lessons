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82A6B7-CB13-495E-A4A4-CECD8E58107F}">
  <a:tblStyle styleId="{8082A6B7-CB13-495E-A4A4-CECD8E5810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b401d66452_0_2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b401d6645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b401d66452_0_5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b401d6645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Creating triangles from combinations of squares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Demonstrating Pythagoras' theorem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6427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Before attempting questions on task A, please print out the squares on the next page.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977425"/>
            <a:ext cx="4485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Create a triangle by joining the vertices of the squares with areas of 1 unit², 3 units², and 5 units².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Using a protractor, measure the size of each angle in this triangle.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3" name="Google Shape;163;p20"/>
          <p:cNvGraphicFramePr/>
          <p:nvPr/>
        </p:nvGraphicFramePr>
        <p:xfrm>
          <a:off x="5047450" y="193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{8082A6B7-CB13-495E-A4A4-CECD8E58107F}</a:tableStyleId>
              </a:tblPr>
              <a:tblGrid>
                <a:gridCol w="1292575"/>
                <a:gridCol w="751975"/>
              </a:tblGrid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smallest angle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middle angle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largest angle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64" name="Google Shape;164;p20"/>
          <p:cNvSpPr txBox="1"/>
          <p:nvPr/>
        </p:nvSpPr>
        <p:spPr>
          <a:xfrm>
            <a:off x="468000" y="280211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Explain why you cannot create an equilateral triangle using a combination of the squares you have been given.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3756683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Two triangles can be created by joining the vertices of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-  squares with areas of 2 units², 5 units², 6 units²   (triangle X)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-  squares with areas of 4 units², 10 units², 12 units²   (triangle Y)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Create these two triangles and measure each of their angles with a protractor.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Write down what you notice about the angles between each of these triangles. Can you explain your observations?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0" y="5734456"/>
            <a:ext cx="4431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Create a triangle that is similar to a triangle made from squares with areas 21 units², 27 units², 39 units². Which squares did you use?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7" name="Google Shape;167;p20"/>
          <p:cNvGraphicFramePr/>
          <p:nvPr/>
        </p:nvGraphicFramePr>
        <p:xfrm>
          <a:off x="4895050" y="55874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{8082A6B7-CB13-495E-A4A4-CECD8E58107F}</a:tableStyleId>
              </a:tblPr>
              <a:tblGrid>
                <a:gridCol w="1292575"/>
                <a:gridCol w="751975"/>
              </a:tblGrid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smallest square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middle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largest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cxnSp>
        <p:nvCxnSpPr>
          <p:cNvPr id="168" name="Google Shape;168;p20"/>
          <p:cNvCxnSpPr/>
          <p:nvPr/>
        </p:nvCxnSpPr>
        <p:spPr>
          <a:xfrm>
            <a:off x="3780000" y="6551600"/>
            <a:ext cx="0" cy="3418200"/>
          </a:xfrm>
          <a:prstGeom prst="straightConnector1">
            <a:avLst/>
          </a:prstGeom>
          <a:noFill/>
          <a:ln cap="flat" cmpd="sng" w="2857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0"/>
          <p:cNvSpPr txBox="1"/>
          <p:nvPr/>
        </p:nvSpPr>
        <p:spPr>
          <a:xfrm>
            <a:off x="3861475" y="6533550"/>
            <a:ext cx="3230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6) Complete the table by joining three squares and writing down whether the largest angle is: acute, obtuse, or right.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After choosing three squares, can you predict what type of angle you’ll get before you join up the squares?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0" name="Google Shape;170;p20"/>
          <p:cNvGraphicFramePr/>
          <p:nvPr/>
        </p:nvGraphicFramePr>
        <p:xfrm>
          <a:off x="3894000" y="765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{8082A6B7-CB13-495E-A4A4-CECD8E58107F}</a:tableStyleId>
              </a:tblPr>
              <a:tblGrid>
                <a:gridCol w="799475"/>
                <a:gridCol w="799475"/>
                <a:gridCol w="799475"/>
                <a:gridCol w="799475"/>
              </a:tblGrid>
              <a:tr h="546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areas of the three squares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largest angle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areas of the three squares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largest angle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2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7, 10, 13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acute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4, 5, 11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2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4, 9, 13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2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3, 10, 13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2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5, 6, 7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71" name="Google Shape;171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6711684"/>
            <a:ext cx="3312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Create 3 isosceles triangles from the following squares: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-  4 units², 4 units², 12 units² (triangle 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-  6 units², 6 units², 12 units² (triangle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-  1 units², 8 units², 8 units² (triangle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3" name="Google Shape;173;p20"/>
          <p:cNvGraphicFramePr/>
          <p:nvPr/>
        </p:nvGraphicFramePr>
        <p:xfrm>
          <a:off x="1697650" y="7818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{8082A6B7-CB13-495E-A4A4-CECD8E58107F}</a:tableStyleId>
              </a:tblPr>
              <a:tblGrid>
                <a:gridCol w="1292575"/>
                <a:gridCol w="650425"/>
              </a:tblGrid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triangle 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triangle 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triangle 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74" name="Google Shape;174;p20"/>
          <p:cNvGraphicFramePr/>
          <p:nvPr/>
        </p:nvGraphicFramePr>
        <p:xfrm>
          <a:off x="1697650" y="90604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{8082A6B7-CB13-495E-A4A4-CECD8E58107F}</a:tableStyleId>
              </a:tblPr>
              <a:tblGrid>
                <a:gridCol w="1292575"/>
                <a:gridCol w="650425"/>
              </a:tblGrid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 acute angle?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right angle?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 obtuse angle?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75" name="Google Shape;175;p20"/>
          <p:cNvSpPr txBox="1"/>
          <p:nvPr/>
        </p:nvSpPr>
        <p:spPr>
          <a:xfrm>
            <a:off x="468000" y="7832630"/>
            <a:ext cx="1153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Measure the largest angle of each triangle with a protractor.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triangle has as its largest angle: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Demonstrating Pythagoras' theorem</a:t>
            </a:r>
            <a:endParaRPr/>
          </a:p>
        </p:txBody>
      </p:sp>
      <p:pic>
        <p:nvPicPr>
          <p:cNvPr id="181" name="Google Shape;181;p21"/>
          <p:cNvPicPr preferRelativeResize="0"/>
          <p:nvPr/>
        </p:nvPicPr>
        <p:blipFill rotWithShape="1">
          <a:blip r:embed="rId3">
            <a:alphaModFix/>
          </a:blip>
          <a:srcRect b="0" l="0" r="75147" t="0"/>
          <a:stretch/>
        </p:blipFill>
        <p:spPr>
          <a:xfrm rot="-5400000">
            <a:off x="5329256" y="7063112"/>
            <a:ext cx="1992065" cy="149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1"/>
          <p:cNvPicPr preferRelativeResize="0"/>
          <p:nvPr/>
        </p:nvPicPr>
        <p:blipFill rotWithShape="1">
          <a:blip r:embed="rId3">
            <a:alphaModFix/>
          </a:blip>
          <a:srcRect b="0" l="61169" r="0" t="0"/>
          <a:stretch/>
        </p:blipFill>
        <p:spPr>
          <a:xfrm rot="-5400000">
            <a:off x="4789128" y="1788513"/>
            <a:ext cx="3112366" cy="149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1"/>
          <p:cNvPicPr preferRelativeResize="0"/>
          <p:nvPr/>
        </p:nvPicPr>
        <p:blipFill rotWithShape="1">
          <a:blip r:embed="rId3">
            <a:alphaModFix/>
          </a:blip>
          <a:srcRect b="0" l="25822" r="40863" t="15383"/>
          <a:stretch/>
        </p:blipFill>
        <p:spPr>
          <a:xfrm rot="-5400000">
            <a:off x="5124761" y="4794739"/>
            <a:ext cx="2670319" cy="12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 rot="-5400000">
            <a:off x="6463225" y="8189950"/>
            <a:ext cx="519600" cy="541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 rot="-5400000">
            <a:off x="6237537" y="7019356"/>
            <a:ext cx="760800" cy="7608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 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 rot="-5400000">
            <a:off x="6076811" y="5716164"/>
            <a:ext cx="936600" cy="936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 rot="-5400000">
            <a:off x="5921217" y="4237325"/>
            <a:ext cx="1077000" cy="1077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 rot="-5400000">
            <a:off x="5825409" y="2739536"/>
            <a:ext cx="1205400" cy="12054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 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 rot="-5400000">
            <a:off x="5711932" y="1088469"/>
            <a:ext cx="1322400" cy="13224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 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0" name="Google Shape;19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-1273693" y="2691917"/>
            <a:ext cx="8255009" cy="475811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 rot="-5400000">
            <a:off x="4607775" y="7776850"/>
            <a:ext cx="543000" cy="557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 rot="-5400000">
            <a:off x="4378855" y="5664171"/>
            <a:ext cx="760800" cy="7608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 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 rot="-5400000">
            <a:off x="4742400" y="8704750"/>
            <a:ext cx="393600" cy="393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unit²</a:t>
            </a:r>
            <a:endParaRPr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 rot="-5400000">
            <a:off x="4281968" y="4435022"/>
            <a:ext cx="848400" cy="8484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 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 rot="-5400000">
            <a:off x="4194349" y="3007895"/>
            <a:ext cx="936600" cy="936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 rot="-5400000">
            <a:off x="4128784" y="1608071"/>
            <a:ext cx="1002000" cy="1002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 rot="-5400000">
            <a:off x="2722070" y="8020296"/>
            <a:ext cx="1077000" cy="1077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 rot="-5400000">
            <a:off x="2654339" y="6425010"/>
            <a:ext cx="1145100" cy="1145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 rot="-5400000">
            <a:off x="2593932" y="4837525"/>
            <a:ext cx="1205400" cy="12054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 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 rot="-5400000">
            <a:off x="2535748" y="3062613"/>
            <a:ext cx="1263900" cy="12639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 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 rot="-5400000">
            <a:off x="2477164" y="1099013"/>
            <a:ext cx="1322400" cy="13224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 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 rot="-5400000">
            <a:off x="707466" y="7723895"/>
            <a:ext cx="1373400" cy="13734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 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 rot="-5400000">
            <a:off x="650164" y="5758645"/>
            <a:ext cx="1431300" cy="14313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 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 rot="-5400000">
            <a:off x="606882" y="3801428"/>
            <a:ext cx="1474500" cy="1474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 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 rot="-5400000">
            <a:off x="560266" y="1851212"/>
            <a:ext cx="1520700" cy="1520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 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 rot="-5400000">
            <a:off x="4461400" y="6721225"/>
            <a:ext cx="676800" cy="6453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" name="Google Shape;207;p21"/>
          <p:cNvCxnSpPr/>
          <p:nvPr/>
        </p:nvCxnSpPr>
        <p:spPr>
          <a:xfrm>
            <a:off x="474757" y="10009938"/>
            <a:ext cx="6451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316" y="1563521"/>
            <a:ext cx="6624084" cy="264881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1074596" y="2760750"/>
            <a:ext cx="8193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 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589061" y="1949402"/>
            <a:ext cx="819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1517695" y="1923766"/>
            <a:ext cx="819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2488292" y="2835657"/>
            <a:ext cx="819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3205134" y="2120640"/>
            <a:ext cx="819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3574187" y="3149965"/>
            <a:ext cx="819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5004201" y="2776912"/>
            <a:ext cx="819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6036275" y="2195501"/>
            <a:ext cx="819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6094522" y="3247588"/>
            <a:ext cx="819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1274411" y="1627120"/>
            <a:ext cx="31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2875434" y="2313616"/>
            <a:ext cx="35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5656014" y="2119674"/>
            <a:ext cx="35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2"/>
          <p:cNvSpPr/>
          <p:nvPr/>
        </p:nvSpPr>
        <p:spPr>
          <a:xfrm rot="8499645">
            <a:off x="6265462" y="5120069"/>
            <a:ext cx="159112" cy="159299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" name="Google Shape;227;p22"/>
          <p:cNvPicPr preferRelativeResize="0"/>
          <p:nvPr/>
        </p:nvPicPr>
        <p:blipFill rotWithShape="1">
          <a:blip r:embed="rId4">
            <a:alphaModFix/>
          </a:blip>
          <a:srcRect b="1143" l="55332" r="244" t="8790"/>
          <a:stretch/>
        </p:blipFill>
        <p:spPr>
          <a:xfrm>
            <a:off x="5409644" y="4517484"/>
            <a:ext cx="1690082" cy="182164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468000" y="7359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Properties from summing the areas of squares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468325" y="360000"/>
            <a:ext cx="5777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Demonstrating Pythagoras' theorem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468000" y="10634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For each of these triangles, draw on an angle marker at the largest interior angle of the triangle.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For each angle marked, write down whether it is acute, right, or obtuse.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506615" y="4545239"/>
            <a:ext cx="1262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The largest angle in this triangle is marked with an angle marker and is acute.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Write down a possible area of the largest square.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4069206" y="4545239"/>
            <a:ext cx="1283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The largest angle in this triangle is a right 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Write down the area of the unlabelled square.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2"/>
          <p:cNvSpPr/>
          <p:nvPr/>
        </p:nvSpPr>
        <p:spPr>
          <a:xfrm rot="10800000">
            <a:off x="2145399" y="5336319"/>
            <a:ext cx="470100" cy="470100"/>
          </a:xfrm>
          <a:prstGeom prst="arc">
            <a:avLst>
              <a:gd fmla="val 6066535" name="adj1"/>
              <a:gd fmla="val 10828543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4" name="Google Shape;234;p22"/>
          <p:cNvPicPr preferRelativeResize="0"/>
          <p:nvPr/>
        </p:nvPicPr>
        <p:blipFill rotWithShape="1">
          <a:blip r:embed="rId4">
            <a:alphaModFix/>
          </a:blip>
          <a:srcRect b="0" l="0" r="53449" t="0"/>
          <a:stretch/>
        </p:blipFill>
        <p:spPr>
          <a:xfrm>
            <a:off x="1817753" y="4433818"/>
            <a:ext cx="1771028" cy="202265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2340200" y="5677676"/>
            <a:ext cx="6957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1794875" y="5035543"/>
            <a:ext cx="6957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5906926" y="5660830"/>
            <a:ext cx="6957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5556571" y="4807471"/>
            <a:ext cx="6957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9" name="Google Shape;239;p22"/>
          <p:cNvCxnSpPr/>
          <p:nvPr/>
        </p:nvCxnSpPr>
        <p:spPr>
          <a:xfrm>
            <a:off x="3780000" y="4517489"/>
            <a:ext cx="0" cy="2174400"/>
          </a:xfrm>
          <a:prstGeom prst="straightConnector1">
            <a:avLst/>
          </a:prstGeom>
          <a:noFill/>
          <a:ln cap="flat" cmpd="sng" w="2857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2"/>
          <p:cNvSpPr txBox="1"/>
          <p:nvPr/>
        </p:nvSpPr>
        <p:spPr>
          <a:xfrm>
            <a:off x="468000" y="7115823"/>
            <a:ext cx="2952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Each group shows the areas of three squares whose vertices are joined to create a triangle.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Place each group into the correct part of the table that describes the size of its largest 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1" name="Google Shape;241;p22"/>
          <p:cNvGraphicFramePr/>
          <p:nvPr/>
        </p:nvGraphicFramePr>
        <p:xfrm>
          <a:off x="3495950" y="70730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{8082A6B7-CB13-495E-A4A4-CECD8E58107F}</a:tableStyleId>
              </a:tblPr>
              <a:tblGrid>
                <a:gridCol w="1201250"/>
                <a:gridCol w="1201250"/>
                <a:gridCol w="1201250"/>
              </a:tblGrid>
              <a:tr h="575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largest angle is acute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largest angle is obtuse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largest angle is right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282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16, 18, 20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9, 13, 26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8, 13, 21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8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/>
                </a:tc>
              </a:tr>
              <a:tr h="28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242" name="Google Shape;242;p22"/>
          <p:cNvSpPr/>
          <p:nvPr/>
        </p:nvSpPr>
        <p:spPr>
          <a:xfrm>
            <a:off x="433175" y="9004633"/>
            <a:ext cx="1201200" cy="23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16, 17, 40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1274403" y="8633621"/>
            <a:ext cx="1201200" cy="23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4, 7, 10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2087453" y="8354530"/>
            <a:ext cx="1201200" cy="23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3, 3, 5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2297347" y="9004630"/>
            <a:ext cx="1201200" cy="23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8, 17, 25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1005122" y="9375625"/>
            <a:ext cx="1201200" cy="23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9, 16, 25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2267347" y="9615760"/>
            <a:ext cx="1201200" cy="23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7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12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3699800" y="9487410"/>
            <a:ext cx="1201200" cy="23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19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44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468325" y="8354530"/>
            <a:ext cx="1201200" cy="23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1, 1, 3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0" name="Google Shape;250;p22"/>
          <p:cNvCxnSpPr/>
          <p:nvPr/>
        </p:nvCxnSpPr>
        <p:spPr>
          <a:xfrm>
            <a:off x="474757" y="9972000"/>
            <a:ext cx="6627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52" name="Google Shape;252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