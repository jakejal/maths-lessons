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58" r:id="rId3"/>
    <p:sldMasterId id="21474837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add8609a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add8609a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add8609a04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add8609a04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add8609a04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add8609a04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b00b33bb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b00b33bb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b06e26e0c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b06e26e0c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b00b33bb6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b00b33bb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b00b33bb6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b00b33bb6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b00b33bb6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b00b33bb6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b00b33bb6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b00b33bb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b00b33bb6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b00b33bb6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b00b33bb6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b00b33bb6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b06e26e0c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b06e26e0c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b00b33bb6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2b00b33bb6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b00b33bb6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b00b33bb6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b00b33bb6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2b00b33bb6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2b00b33bb64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2b00b33bb64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2b00b33bb64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b00b33bb64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b00b33bb64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b00b33bb64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b00b33bb64_2_6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8" name="Google Shape;1678;g2b00b33bb64_2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b00b33bb64_2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b00b33bb64_2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2b00b33bb64_2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b00b33bb64_2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2add8609a04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Google Shape;1767;g2add8609a04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b00b33bb64_2_2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b00b33bb64_2_2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b00b33bb64_2_2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b00b33bb64_2_2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b00b33bb64_2_2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b00b33bb64_2_2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2b00b33bb64_2_2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2b00b33bb64_2_2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2b00b33bb64_2_2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2b00b33bb64_2_2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2b00b33bb64_2_2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2b00b33bb64_2_2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b00b33bb64_2_2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b00b33bb64_2_2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2b00b33bb64_2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2b00b33bb64_2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0" name="Google Shape;230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83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32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3.png"/><Relationship Id="rId4" Type="http://schemas.openxmlformats.org/officeDocument/2006/relationships/image" Target="../media/image32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59" name="Google Shape;759;p6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60" name="Google Shape;760;p6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61" name="Google Shape;761;p6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762" name="Google Shape;762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3" name="Google Shape;763;p6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64" name="Google Shape;764;p6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765" name="Google Shape;765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6" name="Google Shape;766;p6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1" name="Google Shape;771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9" name="Google Shape;779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1" name="Google Shape;78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6" name="Google Shape;78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0" name="Google Shape;790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1" name="Google Shape;791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3" name="Google Shape;793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9" name="Google Shape;79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1" name="Google Shape;801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8" name="Google Shape;808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9" name="Google Shape;809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0" name="Google Shape;81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2" name="Google Shape;812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9" name="Google Shape;81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8" name="Google Shape;828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9" name="Google Shape;829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1" name="Google Shape;831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84492">
              <a:off x="7235673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6" name="Google Shape;836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8" name="Google Shape;83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2" name="Google Shape;842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7" name="Google Shape;847;p7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8" name="Google Shape;848;p7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7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5" name="Google Shape;855;p7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7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4" name="Google Shape;86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8" name="Google Shape;878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Google Shape;885;p7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1" name="Google Shape;891;p77"/>
          <p:cNvCxnSpPr>
            <a:endCxn id="892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92" name="Google Shape;892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5" name="Google Shape;895;p7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6" name="Google Shape;896;p7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7" name="Google Shape;897;p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Google Shape;899;p77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1" name="Google Shape;911;p7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2" name="Google Shape;912;p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8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78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78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78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7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" name="Google Shape;921;p78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8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7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8" name="Google Shape;928;p7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0" name="Google Shape;93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5" name="Google Shape;935;p8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" name="Google Shape;939;p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2" name="Google Shape;942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4" name="Google Shape;94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7" name="Google Shape;947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8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0" name="Google Shape;950;p8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1" name="Google Shape;95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52" name="Google Shape;952;p8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53" name="Google Shape;953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8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5" name="Google Shape;955;p8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56" name="Google Shape;956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p8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0" name="Google Shape;960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8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3" name="Google Shape;963;p8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4" name="Google Shape;96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5" name="Google Shape;965;p8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66" name="Google Shape;966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8" name="Google Shape;968;p8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69" name="Google Shape;969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" name="Google Shape;970;p8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3" name="Google Shape;97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8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7" name="Google Shape;97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8" name="Google Shape;978;p8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9" name="Google Shape;979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0" name="Google Shape;980;p8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1" name="Google Shape;981;p8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2" name="Google Shape;982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GB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8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8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8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-GB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92" name="Google Shape;99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5" name="Google Shape;995;p8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8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97" name="Google Shape;997;p8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98" name="Google Shape;998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8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01" name="Google Shape;100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8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03" name="Google Shape;1003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8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-GB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15" name="Google Shape;101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8" name="Google Shape;1018;p8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8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20" name="Google Shape;1020;p8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21" name="Google Shape;1021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8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24" name="Google Shape;102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6" name="Google Shape;1026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8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8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8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-GB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38" name="Google Shape;103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1" name="Google Shape;1041;p8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8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43" name="Google Shape;1043;p8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8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9" name="Google Shape;1049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8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57" name="Google Shape;10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8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8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2" name="Google Shape;1062;p8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3" name="Google Shape;1063;p8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64" name="Google Shape;1064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6" name="Google Shape;1066;p8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67" name="Google Shape;106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8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70" name="Google Shape;107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8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6" name="Google Shape;107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8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8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1" name="Google Shape;1081;p8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2" name="Google Shape;1082;p8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83" name="Google Shape;1083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4" name="Google Shape;108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5" name="Google Shape;1085;p8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86" name="Google Shape;1086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8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89" name="Google Shape;1089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9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5" name="Google Shape;109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8" name="Google Shape;1098;p9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9" name="Google Shape;1099;p9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0" name="Google Shape;1100;p9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1" name="Google Shape;1101;p9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02" name="Google Shape;1102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9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05" name="Google Shape;1105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08" name="Google Shape;110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4" name="Google Shape;111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7" name="Google Shape;1117;p9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8" name="Google Shape;1118;p9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9" name="Google Shape;1119;p9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0" name="Google Shape;1120;p9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1" name="Google Shape;1121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2" name="Google Shape;1122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3" name="Google Shape;1123;p9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4" name="Google Shape;112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5" name="Google Shape;112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6" name="Google Shape;1126;p9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7" name="Google Shape;1127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8" name="Google Shape;112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0" name="Google Shape;113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9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3" name="Google Shape;1133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6" name="Google Shape;1136;p9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7" name="Google Shape;1137;p9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8" name="Google Shape;1138;p9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9" name="Google Shape;1139;p9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0" name="Google Shape;1140;p9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41" name="Google Shape;1141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3" name="Google Shape;1143;p9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44" name="Google Shape;1144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50" name="Google Shape;1150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9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2" name="Google Shape;1162;p9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3" name="Google Shape;1163;p9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64" name="Google Shape;1164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5" name="Google Shape;1165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6" name="Google Shape;1166;p9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67" name="Google Shape;1167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73" name="Google Shape;1173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9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5" name="Google Shape;1185;p9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6" name="Google Shape;1186;p9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87" name="Google Shape;118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9" name="Google Shape;1189;p9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0" name="Google Shape;1190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9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96" name="Google Shape;1196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9" name="Google Shape;1199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2" name="Google Shape;120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5" name="Google Shape;1205;p9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6" name="Google Shape;1206;p9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7" name="Google Shape;1207;p9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08" name="Google Shape;1208;p9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12" name="Google Shape;1212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9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5" name="Google Shape;1225;p9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6" name="Google Shape;1226;p9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27" name="Google Shape;1227;p9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31" name="Google Shape;1231;p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44" name="Google Shape;1244;p9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45" name="Google Shape;1245;p9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46" name="Google Shape;1246;p9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47" name="Google Shape;1247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8" name="Google Shape;124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9" name="Google Shape;1249;p9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50" name="Google Shape;1250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2" name="Google Shape;1252;p9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53" name="Google Shape;1253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4" name="Google Shape;125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125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9" name="Google Shape;125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2" name="Google Shape;1262;p9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9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9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65" name="Google Shape;1265;p9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66" name="Google Shape;1266;p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9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69" name="Google Shape;1269;p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9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72" name="Google Shape;1272;p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78" name="Google Shape;127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5" name="Google Shape;128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92" name="Google Shape;1292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99" name="Google Shape;1299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6" name="Google Shape;1306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7" name="Google Shape;130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9" name="Google Shape;1309;p10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1" name="Google Shape;1311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4" name="Google Shape;131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5" name="Google Shape;131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7" name="Google Shape;1317;p10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" name="Google Shape;1319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2" name="Google Shape;1322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3" name="Google Shape;132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5" name="Google Shape;1325;p10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7" name="Google Shape;1327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30" name="Google Shape;1330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3" name="Google Shape;1333;p10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8" name="Google Shape;133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9" name="Google Shape;1339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1" name="Google Shape;1341;p10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6" name="Google Shape;1346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7" name="Google Shape;1347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9" name="Google Shape;1349;p10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4" name="Google Shape;1354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5" name="Google Shape;135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0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1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0" name="Google Shape;1360;p11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11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2" name="Google Shape;1362;p11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1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b="0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b="0" i="0" sz="2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b="0" i="0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b="0" i="0" sz="19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marR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marR="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b="0" i="0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3.png"/><Relationship Id="rId4" Type="http://schemas.openxmlformats.org/officeDocument/2006/relationships/image" Target="../media/image95.png"/><Relationship Id="rId5" Type="http://schemas.openxmlformats.org/officeDocument/2006/relationships/hyperlink" Target="http://drive.google.com/file/d/17bCliNofeuZ_nlkVh7UgofXaOrJQEOSD/view" TargetMode="External"/><Relationship Id="rId6" Type="http://schemas.openxmlformats.org/officeDocument/2006/relationships/image" Target="../media/image9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Relationship Id="rId5" Type="http://schemas.openxmlformats.org/officeDocument/2006/relationships/hyperlink" Target="http://drive.google.com/file/d/1uCPBKGuUxUorPeKONbuyqGT1OuP24sEF/view" TargetMode="External"/><Relationship Id="rId6" Type="http://schemas.openxmlformats.org/officeDocument/2006/relationships/image" Target="../media/image9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hyperlink" Target="http://drive.google.com/file/d/1YOUt2tHi9qeggKAWa4cRUdpWzkEAB37D/view" TargetMode="External"/><Relationship Id="rId6" Type="http://schemas.openxmlformats.org/officeDocument/2006/relationships/image" Target="../media/image9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3.png"/><Relationship Id="rId4" Type="http://schemas.openxmlformats.org/officeDocument/2006/relationships/image" Target="../media/image100.png"/><Relationship Id="rId5" Type="http://schemas.openxmlformats.org/officeDocument/2006/relationships/hyperlink" Target="http://drive.google.com/file/d/1XDFfd8_Tw4w8VoycDunJpWyjNofYy5r7/view" TargetMode="External"/><Relationship Id="rId6" Type="http://schemas.openxmlformats.org/officeDocument/2006/relationships/image" Target="../media/image10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3.png"/><Relationship Id="rId4" Type="http://schemas.openxmlformats.org/officeDocument/2006/relationships/image" Target="../media/image99.png"/><Relationship Id="rId5" Type="http://schemas.openxmlformats.org/officeDocument/2006/relationships/hyperlink" Target="http://drive.google.com/file/d/1XZKMD-QoGr-9lg6s_mMu7tx27VZfZ8gS/view" TargetMode="External"/><Relationship Id="rId6" Type="http://schemas.openxmlformats.org/officeDocument/2006/relationships/image" Target="../media/image10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5.png"/><Relationship Id="rId4" Type="http://schemas.openxmlformats.org/officeDocument/2006/relationships/image" Target="../media/image93.png"/><Relationship Id="rId5" Type="http://schemas.openxmlformats.org/officeDocument/2006/relationships/image" Target="../media/image10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8.png"/><Relationship Id="rId4" Type="http://schemas.openxmlformats.org/officeDocument/2006/relationships/image" Target="../media/image1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1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1.png"/><Relationship Id="rId4" Type="http://schemas.openxmlformats.org/officeDocument/2006/relationships/image" Target="../media/image113.png"/><Relationship Id="rId5" Type="http://schemas.openxmlformats.org/officeDocument/2006/relationships/image" Target="../media/image1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  <p:sp>
        <p:nvSpPr>
          <p:cNvPr id="1374" name="Google Shape;1374;p11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 and Pythagoras’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1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1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translate, reflect and rotate a shape.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16"/>
          <p:cNvSpPr txBox="1"/>
          <p:nvPr>
            <p:ph idx="2" type="subTitle"/>
          </p:nvPr>
        </p:nvSpPr>
        <p:spPr>
          <a:xfrm>
            <a:off x="324000" y="2923288"/>
            <a:ext cx="8496000" cy="60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An object is reflected when it is flipped over a fixed line (called the line of reflection), without the image being turned or its size changing.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0" name="Google Shape;1390;p116"/>
          <p:cNvSpPr txBox="1"/>
          <p:nvPr>
            <p:ph idx="1" type="subTitle"/>
          </p:nvPr>
        </p:nvSpPr>
        <p:spPr>
          <a:xfrm>
            <a:off x="324000" y="3704056"/>
            <a:ext cx="8496000" cy="60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Translation is a transformation in which every point of a shape moves the same distance in the same direction.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1" name="Google Shape;1391;p116"/>
          <p:cNvSpPr txBox="1"/>
          <p:nvPr>
            <p:ph idx="1" type="subTitle"/>
          </p:nvPr>
        </p:nvSpPr>
        <p:spPr>
          <a:xfrm>
            <a:off x="324000" y="1048850"/>
            <a:ext cx="8496000" cy="60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If one shape can fit exactly on top of another using rotation, reflection or translation, then the shapes are congruent.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2" name="Google Shape;1392;p116"/>
          <p:cNvSpPr txBox="1"/>
          <p:nvPr>
            <p:ph idx="2" type="subTitle"/>
          </p:nvPr>
        </p:nvSpPr>
        <p:spPr>
          <a:xfrm>
            <a:off x="324000" y="1829619"/>
            <a:ext cx="8496000" cy="921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rotation of an object is the turning of an object by a fixed amount and around a fixed point (called the centre of rotation), without the image being flipped or its size changing.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3" name="Google Shape;1393;p116"/>
          <p:cNvSpPr txBox="1"/>
          <p:nvPr>
            <p:ph idx="4294967295" type="subTitle"/>
          </p:nvPr>
        </p:nvSpPr>
        <p:spPr>
          <a:xfrm>
            <a:off x="324000" y="4484825"/>
            <a:ext cx="8496000" cy="292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Enlargement is a transformation that causes a change of size. 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399" name="Google Shape;1399;p1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1400" name="Google Shape;1400;p1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  <p:pic>
        <p:nvPicPr>
          <p:cNvPr id="1401" name="Google Shape;1401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1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paper rectangle is placed on a desk. </a:t>
            </a:r>
            <a:r>
              <a:rPr lang="en-GB" sz="2000"/>
              <a:t>Andeep, Izzy, Jacob, Laura and Sofia discuss what they could now do with the shape.</a:t>
            </a:r>
            <a:endParaRPr sz="2000"/>
          </a:p>
        </p:txBody>
      </p:sp>
      <p:sp>
        <p:nvSpPr>
          <p:cNvPr id="1407" name="Google Shape;1407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id="1408" name="Google Shape;1408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2"/>
            <a:ext cx="5454985" cy="30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1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869050" y="1654525"/>
            <a:ext cx="2434652" cy="186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1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paper rectangle is placed on a desk. Andeep, Izzy, Jacob, Laura and Sofia discuss what they could now do with the shape.</a:t>
            </a:r>
            <a:endParaRPr sz="2000"/>
          </a:p>
        </p:txBody>
      </p:sp>
      <p:sp>
        <p:nvSpPr>
          <p:cNvPr id="1415" name="Google Shape;1415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id="1416" name="Google Shape;1416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0876" y="3279424"/>
            <a:ext cx="608188" cy="78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9"/>
          <p:cNvSpPr txBox="1"/>
          <p:nvPr>
            <p:ph idx="1" type="body"/>
          </p:nvPr>
        </p:nvSpPr>
        <p:spPr>
          <a:xfrm>
            <a:off x="5962800" y="1695494"/>
            <a:ext cx="2246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could </a:t>
            </a:r>
            <a:r>
              <a:rPr lang="en-GB" sz="2000">
                <a:solidFill>
                  <a:schemeClr val="accent4"/>
                </a:solidFill>
              </a:rPr>
              <a:t>move</a:t>
            </a:r>
            <a:r>
              <a:rPr lang="en-GB" sz="2000"/>
              <a:t> the rectangle.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would be a </a:t>
            </a:r>
            <a:r>
              <a:rPr lang="en-GB" sz="2000">
                <a:solidFill>
                  <a:schemeClr val="accent4"/>
                </a:solidFill>
              </a:rPr>
              <a:t>translation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18" name="Google Shape;1418;p119"/>
          <p:cNvSpPr txBox="1"/>
          <p:nvPr/>
        </p:nvSpPr>
        <p:spPr>
          <a:xfrm>
            <a:off x="7899211" y="40273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9" name="Google Shape;1419;p119" title="Translat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620000"/>
            <a:ext cx="5450400" cy="30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2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paper rectangle is placed on a desk. </a:t>
            </a:r>
            <a:r>
              <a:rPr lang="en-GB" sz="2000"/>
              <a:t>Andeep, Izzy, Jacob, Laura and Sofia discuss what they could now do with the shape.</a:t>
            </a:r>
            <a:endParaRPr sz="2000"/>
          </a:p>
        </p:txBody>
      </p:sp>
      <p:sp>
        <p:nvSpPr>
          <p:cNvPr id="1425" name="Google Shape;1425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426" name="Google Shape;1426;p120"/>
          <p:cNvSpPr txBox="1"/>
          <p:nvPr/>
        </p:nvSpPr>
        <p:spPr>
          <a:xfrm>
            <a:off x="7899211" y="39511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7" name="Google Shape;1427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2900" y="3114557"/>
            <a:ext cx="885299" cy="85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12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869050" y="1654525"/>
            <a:ext cx="2434652" cy="186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5962800" y="1673700"/>
            <a:ext cx="2150100" cy="14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could </a:t>
            </a:r>
            <a:r>
              <a:rPr lang="en-GB" sz="2000">
                <a:solidFill>
                  <a:schemeClr val="accent4"/>
                </a:solidFill>
              </a:rPr>
              <a:t>flip</a:t>
            </a:r>
            <a:r>
              <a:rPr lang="en-GB" sz="2000"/>
              <a:t> the rectangle.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would be a </a:t>
            </a:r>
            <a:r>
              <a:rPr lang="en-GB" sz="2000">
                <a:solidFill>
                  <a:schemeClr val="accent4"/>
                </a:solidFill>
              </a:rPr>
              <a:t>reflection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430" name="Google Shape;1430;p120" title="Reflect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620000"/>
            <a:ext cx="5450400" cy="3065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2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paper rectangle is placed on a desk. </a:t>
            </a:r>
            <a:r>
              <a:rPr lang="en-GB" sz="2000"/>
              <a:t>Andeep, Izzy, Jacob, Laura and Sofia discuss what they could now do with the shape.</a:t>
            </a:r>
            <a:endParaRPr sz="2000"/>
          </a:p>
        </p:txBody>
      </p:sp>
      <p:sp>
        <p:nvSpPr>
          <p:cNvPr id="1436" name="Google Shape;1436;p1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5962800" y="1686020"/>
            <a:ext cx="2067900" cy="15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could </a:t>
            </a:r>
            <a:r>
              <a:rPr lang="en-GB" sz="2000">
                <a:solidFill>
                  <a:schemeClr val="accent4"/>
                </a:solidFill>
              </a:rPr>
              <a:t>turn</a:t>
            </a:r>
            <a:r>
              <a:rPr lang="en-GB" sz="2000"/>
              <a:t> the rectangle.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would be a </a:t>
            </a:r>
            <a:r>
              <a:rPr lang="en-GB" sz="2000">
                <a:solidFill>
                  <a:schemeClr val="accent4"/>
                </a:solidFill>
              </a:rPr>
              <a:t>rotation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38" name="Google Shape;1438;p121"/>
          <p:cNvSpPr txBox="1"/>
          <p:nvPr/>
        </p:nvSpPr>
        <p:spPr>
          <a:xfrm>
            <a:off x="7975411" y="39511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9" name="Google Shape;1439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8838" y="3156845"/>
            <a:ext cx="667475" cy="82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p12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869050" y="1654525"/>
            <a:ext cx="2434652" cy="18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1" name="Google Shape;1441;p121" title="Rotat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620000"/>
            <a:ext cx="5450400" cy="3065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22"/>
          <p:cNvSpPr txBox="1"/>
          <p:nvPr>
            <p:ph idx="1" type="body"/>
          </p:nvPr>
        </p:nvSpPr>
        <p:spPr>
          <a:xfrm>
            <a:off x="5877475" y="1676900"/>
            <a:ext cx="2942400" cy="16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We could </a:t>
            </a:r>
            <a:r>
              <a:rPr lang="en-GB" sz="1900"/>
              <a:t>cut</a:t>
            </a:r>
            <a:r>
              <a:rPr lang="en-GB" sz="1900"/>
              <a:t> it into a </a:t>
            </a:r>
            <a:r>
              <a:rPr lang="en-GB" sz="1900">
                <a:solidFill>
                  <a:schemeClr val="accent4"/>
                </a:solidFill>
              </a:rPr>
              <a:t>smaller</a:t>
            </a:r>
            <a:r>
              <a:rPr lang="en-GB" sz="1900"/>
              <a:t> similar </a:t>
            </a:r>
            <a:r>
              <a:rPr lang="en-GB" sz="1900"/>
              <a:t>rectangle</a:t>
            </a:r>
            <a:r>
              <a:rPr lang="en-GB" sz="1900"/>
              <a:t>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This would be an </a:t>
            </a:r>
            <a:r>
              <a:rPr lang="en-GB" sz="1900">
                <a:solidFill>
                  <a:schemeClr val="accent4"/>
                </a:solidFill>
              </a:rPr>
              <a:t>enlargement</a:t>
            </a:r>
            <a:r>
              <a:rPr lang="en-GB" sz="1900"/>
              <a:t>. </a:t>
            </a:r>
            <a:br>
              <a:rPr lang="en-GB" sz="2000"/>
            </a:br>
            <a:endParaRPr sz="2000"/>
          </a:p>
        </p:txBody>
      </p:sp>
      <p:pic>
        <p:nvPicPr>
          <p:cNvPr id="1447" name="Google Shape;1447;p12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815325" y="1654525"/>
            <a:ext cx="3202852" cy="186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2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paper rectangle is placed on a desk. </a:t>
            </a:r>
            <a:r>
              <a:rPr lang="en-GB" sz="2000"/>
              <a:t>Andeep, Izzy, Jacob, Laura and Sofia discuss what they could now do with the shape.</a:t>
            </a:r>
            <a:endParaRPr sz="2000"/>
          </a:p>
        </p:txBody>
      </p:sp>
      <p:sp>
        <p:nvSpPr>
          <p:cNvPr id="1449" name="Google Shape;1449;p1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450" name="Google Shape;1450;p122"/>
          <p:cNvSpPr txBox="1"/>
          <p:nvPr/>
        </p:nvSpPr>
        <p:spPr>
          <a:xfrm>
            <a:off x="7899211" y="42559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1" name="Google Shape;1451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03337" y="3476691"/>
            <a:ext cx="667476" cy="87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122" title="Enlargement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610425"/>
            <a:ext cx="5450400" cy="3065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12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869050" y="1654525"/>
            <a:ext cx="2809523" cy="18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0874" y="3450950"/>
            <a:ext cx="725649" cy="8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2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paper rectangle is placed on a desk. </a:t>
            </a:r>
            <a:r>
              <a:rPr lang="en-GB" sz="2000"/>
              <a:t>Andeep, Izzy, Jacob, Laura and Sofia discuss what they could now do with the shape.</a:t>
            </a:r>
            <a:endParaRPr sz="2000"/>
          </a:p>
        </p:txBody>
      </p:sp>
      <p:sp>
        <p:nvSpPr>
          <p:cNvPr id="1460" name="Google Shape;1460;p1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461" name="Google Shape;1461;p123"/>
          <p:cNvSpPr txBox="1"/>
          <p:nvPr/>
        </p:nvSpPr>
        <p:spPr>
          <a:xfrm>
            <a:off x="7975411" y="4179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3"/>
          <p:cNvSpPr txBox="1"/>
          <p:nvPr>
            <p:ph idx="1" type="body"/>
          </p:nvPr>
        </p:nvSpPr>
        <p:spPr>
          <a:xfrm>
            <a:off x="5913977" y="1704271"/>
            <a:ext cx="2554800" cy="149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could cut it into a </a:t>
            </a:r>
            <a:r>
              <a:rPr lang="en-GB" sz="2000">
                <a:solidFill>
                  <a:schemeClr val="accent4"/>
                </a:solidFill>
              </a:rPr>
              <a:t>different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shape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isn’t a standard transformation.</a:t>
            </a:r>
            <a:endParaRPr sz="2000"/>
          </a:p>
        </p:txBody>
      </p:sp>
      <p:pic>
        <p:nvPicPr>
          <p:cNvPr id="1463" name="Google Shape;1463;p123" title="Diagonal cut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1620000"/>
            <a:ext cx="5450400" cy="3065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4"/>
          <p:cNvSpPr txBox="1"/>
          <p:nvPr>
            <p:ph idx="1" type="body"/>
          </p:nvPr>
        </p:nvSpPr>
        <p:spPr>
          <a:xfrm>
            <a:off x="324000" y="759300"/>
            <a:ext cx="82377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 considers</a:t>
            </a:r>
            <a:r>
              <a:rPr lang="en-GB" sz="2000"/>
              <a:t> what effect each action has on the shape.</a:t>
            </a:r>
            <a:endParaRPr sz="2000"/>
          </a:p>
        </p:txBody>
      </p:sp>
      <p:sp>
        <p:nvSpPr>
          <p:cNvPr id="1469" name="Google Shape;1469;p1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470" name="Google Shape;1470;p124"/>
          <p:cNvSpPr/>
          <p:nvPr/>
        </p:nvSpPr>
        <p:spPr>
          <a:xfrm>
            <a:off x="356103" y="1824125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4"/>
          <p:cNvSpPr/>
          <p:nvPr/>
        </p:nvSpPr>
        <p:spPr>
          <a:xfrm>
            <a:off x="1457753" y="1590875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4"/>
          <p:cNvSpPr/>
          <p:nvPr/>
        </p:nvSpPr>
        <p:spPr>
          <a:xfrm>
            <a:off x="2912400" y="1788350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4"/>
          <p:cNvSpPr/>
          <p:nvPr/>
        </p:nvSpPr>
        <p:spPr>
          <a:xfrm>
            <a:off x="4014050" y="1783700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5799600" y="1786025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4"/>
          <p:cNvSpPr/>
          <p:nvPr/>
        </p:nvSpPr>
        <p:spPr>
          <a:xfrm rot="5400000">
            <a:off x="6813764" y="1652269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356103" y="3392764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1327259" y="3392770"/>
            <a:ext cx="237900" cy="378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2912400" y="3392764"/>
            <a:ext cx="495600" cy="787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982225" y="3398675"/>
            <a:ext cx="505400" cy="797000"/>
          </a:xfrm>
          <a:custGeom>
            <a:rect b="b" l="l" r="r" t="t"/>
            <a:pathLst>
              <a:path extrusionOk="0" h="31880" w="20216">
                <a:moveTo>
                  <a:pt x="0" y="31880"/>
                </a:moveTo>
                <a:lnTo>
                  <a:pt x="20216" y="31880"/>
                </a:lnTo>
                <a:lnTo>
                  <a:pt x="20216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480" name="Google Shape;1480;p124"/>
          <p:cNvCxnSpPr>
            <a:stCxn id="1470" idx="3"/>
            <a:endCxn id="1471" idx="1"/>
          </p:cNvCxnSpPr>
          <p:nvPr/>
        </p:nvCxnSpPr>
        <p:spPr>
          <a:xfrm flipH="1" rot="10800000">
            <a:off x="851703" y="1984625"/>
            <a:ext cx="606000" cy="23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1" name="Google Shape;1481;p124"/>
          <p:cNvSpPr/>
          <p:nvPr/>
        </p:nvSpPr>
        <p:spPr>
          <a:xfrm>
            <a:off x="3099700" y="1872725"/>
            <a:ext cx="1261200" cy="3012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4"/>
          <p:cNvSpPr/>
          <p:nvPr/>
        </p:nvSpPr>
        <p:spPr>
          <a:xfrm flipH="1" rot="6104438">
            <a:off x="5640128" y="1503081"/>
            <a:ext cx="1166198" cy="1166198"/>
          </a:xfrm>
          <a:prstGeom prst="arc">
            <a:avLst>
              <a:gd fmla="val 10790352" name="adj1"/>
              <a:gd fmla="val 16313781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3" name="Google Shape;1483;p124"/>
          <p:cNvCxnSpPr>
            <a:stCxn id="1476" idx="0"/>
          </p:cNvCxnSpPr>
          <p:nvPr/>
        </p:nvCxnSpPr>
        <p:spPr>
          <a:xfrm>
            <a:off x="603903" y="3392764"/>
            <a:ext cx="0" cy="78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124"/>
          <p:cNvCxnSpPr>
            <a:stCxn id="1476" idx="1"/>
            <a:endCxn id="1476" idx="3"/>
          </p:cNvCxnSpPr>
          <p:nvPr/>
        </p:nvCxnSpPr>
        <p:spPr>
          <a:xfrm>
            <a:off x="356103" y="3786364"/>
            <a:ext cx="4956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5" name="Google Shape;1485;p124"/>
          <p:cNvCxnSpPr/>
          <p:nvPr/>
        </p:nvCxnSpPr>
        <p:spPr>
          <a:xfrm flipH="1">
            <a:off x="2912400" y="3404900"/>
            <a:ext cx="482400" cy="78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6" name="Google Shape;1486;p124"/>
          <p:cNvSpPr txBox="1"/>
          <p:nvPr>
            <p:ph idx="1" type="body"/>
          </p:nvPr>
        </p:nvSpPr>
        <p:spPr>
          <a:xfrm>
            <a:off x="322450" y="1292700"/>
            <a:ext cx="1261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translation</a:t>
            </a:r>
            <a:endParaRPr sz="1800"/>
          </a:p>
        </p:txBody>
      </p:sp>
      <p:sp>
        <p:nvSpPr>
          <p:cNvPr id="1487" name="Google Shape;1487;p124"/>
          <p:cNvSpPr txBox="1"/>
          <p:nvPr>
            <p:ph idx="1" type="body"/>
          </p:nvPr>
        </p:nvSpPr>
        <p:spPr>
          <a:xfrm>
            <a:off x="2905072" y="1292700"/>
            <a:ext cx="1261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reflection</a:t>
            </a:r>
            <a:endParaRPr sz="1800"/>
          </a:p>
        </p:txBody>
      </p:sp>
      <p:sp>
        <p:nvSpPr>
          <p:cNvPr id="1488" name="Google Shape;1488;p124"/>
          <p:cNvSpPr txBox="1"/>
          <p:nvPr>
            <p:ph idx="1" type="body"/>
          </p:nvPr>
        </p:nvSpPr>
        <p:spPr>
          <a:xfrm>
            <a:off x="5790947" y="1292700"/>
            <a:ext cx="9804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rotation</a:t>
            </a:r>
            <a:endParaRPr sz="1800"/>
          </a:p>
        </p:txBody>
      </p:sp>
      <p:sp>
        <p:nvSpPr>
          <p:cNvPr id="1489" name="Google Shape;1489;p124"/>
          <p:cNvSpPr txBox="1"/>
          <p:nvPr>
            <p:ph idx="1" type="body"/>
          </p:nvPr>
        </p:nvSpPr>
        <p:spPr>
          <a:xfrm>
            <a:off x="332154" y="3007975"/>
            <a:ext cx="15693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enlargement</a:t>
            </a:r>
            <a:endParaRPr sz="1800"/>
          </a:p>
        </p:txBody>
      </p:sp>
      <p:sp>
        <p:nvSpPr>
          <p:cNvPr id="1490" name="Google Shape;1490;p124"/>
          <p:cNvSpPr txBox="1"/>
          <p:nvPr>
            <p:ph idx="1" type="body"/>
          </p:nvPr>
        </p:nvSpPr>
        <p:spPr>
          <a:xfrm>
            <a:off x="2895350" y="3007975"/>
            <a:ext cx="17823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change shape</a:t>
            </a:r>
            <a:endParaRPr sz="1800"/>
          </a:p>
        </p:txBody>
      </p:sp>
      <p:pic>
        <p:nvPicPr>
          <p:cNvPr id="1491" name="Google Shape;1491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151" y="3928648"/>
            <a:ext cx="667470" cy="86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12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058575" y="2863983"/>
            <a:ext cx="3179827" cy="12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24"/>
          <p:cNvSpPr txBox="1"/>
          <p:nvPr>
            <p:ph idx="1" type="body"/>
          </p:nvPr>
        </p:nvSpPr>
        <p:spPr>
          <a:xfrm>
            <a:off x="5116325" y="2937750"/>
            <a:ext cx="2997300" cy="9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actions change the </a:t>
            </a:r>
            <a:r>
              <a:rPr lang="en-GB" sz="1800">
                <a:solidFill>
                  <a:schemeClr val="accent4"/>
                </a:solidFill>
              </a:rPr>
              <a:t>lengths</a:t>
            </a:r>
            <a:r>
              <a:rPr lang="en-GB" sz="1800"/>
              <a:t> and some change the </a:t>
            </a:r>
            <a:r>
              <a:rPr lang="en-GB" sz="1800">
                <a:solidFill>
                  <a:schemeClr val="accent4"/>
                </a:solidFill>
              </a:rPr>
              <a:t>angles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494" name="Google Shape;1494;p124"/>
          <p:cNvSpPr txBox="1"/>
          <p:nvPr>
            <p:ph idx="1" type="body"/>
          </p:nvPr>
        </p:nvSpPr>
        <p:spPr>
          <a:xfrm>
            <a:off x="333719" y="4492145"/>
            <a:ext cx="7548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actions </a:t>
            </a:r>
            <a:r>
              <a:rPr lang="en-GB" sz="1800">
                <a:solidFill>
                  <a:schemeClr val="accent4"/>
                </a:solidFill>
              </a:rPr>
              <a:t>preserve</a:t>
            </a:r>
            <a:r>
              <a:rPr lang="en-GB" sz="1800"/>
              <a:t> both the lengths and angles?</a:t>
            </a:r>
            <a:endParaRPr sz="1800"/>
          </a:p>
        </p:txBody>
      </p:sp>
      <p:pic>
        <p:nvPicPr>
          <p:cNvPr id="1495" name="Google Shape;1495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5101" y="1216051"/>
            <a:ext cx="357165" cy="3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3501" y="1216051"/>
            <a:ext cx="357165" cy="3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6701" y="1216051"/>
            <a:ext cx="357165" cy="3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5"/>
          <p:cNvSpPr txBox="1"/>
          <p:nvPr>
            <p:ph idx="1" type="body"/>
          </p:nvPr>
        </p:nvSpPr>
        <p:spPr>
          <a:xfrm>
            <a:off x="324000" y="759300"/>
            <a:ext cx="8496000" cy="4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Shapes which have the same </a:t>
            </a:r>
            <a:r>
              <a:rPr lang="en-GB" sz="2000">
                <a:solidFill>
                  <a:schemeClr val="accent4"/>
                </a:solidFill>
              </a:rPr>
              <a:t>lengths</a:t>
            </a:r>
            <a:r>
              <a:rPr lang="en-GB" sz="2000"/>
              <a:t> </a:t>
            </a:r>
            <a:r>
              <a:rPr lang="en-GB" sz="2000"/>
              <a:t>and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angles</a:t>
            </a:r>
            <a:r>
              <a:rPr lang="en-GB" sz="2000"/>
              <a:t> are </a:t>
            </a:r>
            <a:r>
              <a:rPr lang="en-GB" sz="2000">
                <a:solidFill>
                  <a:schemeClr val="accent4"/>
                </a:solidFill>
              </a:rPr>
              <a:t>congruent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503" name="Google Shape;1503;p1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504" name="Google Shape;1504;p125"/>
          <p:cNvSpPr/>
          <p:nvPr/>
        </p:nvSpPr>
        <p:spPr>
          <a:xfrm>
            <a:off x="364618" y="2152172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125"/>
          <p:cNvSpPr/>
          <p:nvPr/>
        </p:nvSpPr>
        <p:spPr>
          <a:xfrm>
            <a:off x="1298585" y="1954425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125"/>
          <p:cNvSpPr/>
          <p:nvPr/>
        </p:nvSpPr>
        <p:spPr>
          <a:xfrm>
            <a:off x="2240367" y="2926863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25"/>
          <p:cNvSpPr/>
          <p:nvPr/>
        </p:nvSpPr>
        <p:spPr>
          <a:xfrm>
            <a:off x="3174333" y="2922921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25"/>
          <p:cNvSpPr/>
          <p:nvPr/>
        </p:nvSpPr>
        <p:spPr>
          <a:xfrm>
            <a:off x="773847" y="4011516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25"/>
          <p:cNvSpPr/>
          <p:nvPr/>
        </p:nvSpPr>
        <p:spPr>
          <a:xfrm rot="5400000">
            <a:off x="1633516" y="3898128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25"/>
          <p:cNvSpPr/>
          <p:nvPr/>
        </p:nvSpPr>
        <p:spPr>
          <a:xfrm>
            <a:off x="5956893" y="2148612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25"/>
          <p:cNvSpPr/>
          <p:nvPr/>
        </p:nvSpPr>
        <p:spPr>
          <a:xfrm>
            <a:off x="6780228" y="2148617"/>
            <a:ext cx="201600" cy="320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25"/>
          <p:cNvSpPr/>
          <p:nvPr/>
        </p:nvSpPr>
        <p:spPr>
          <a:xfrm>
            <a:off x="5927642" y="3604637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25"/>
          <p:cNvSpPr/>
          <p:nvPr/>
        </p:nvSpPr>
        <p:spPr>
          <a:xfrm>
            <a:off x="6682228" y="3609649"/>
            <a:ext cx="428478" cy="675697"/>
          </a:xfrm>
          <a:custGeom>
            <a:rect b="b" l="l" r="r" t="t"/>
            <a:pathLst>
              <a:path extrusionOk="0" h="31880" w="20216">
                <a:moveTo>
                  <a:pt x="0" y="31880"/>
                </a:moveTo>
                <a:lnTo>
                  <a:pt x="20216" y="31880"/>
                </a:lnTo>
                <a:lnTo>
                  <a:pt x="20216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14" name="Google Shape;1514;p125"/>
          <p:cNvCxnSpPr>
            <a:stCxn id="1504" idx="3"/>
            <a:endCxn id="1505" idx="1"/>
          </p:cNvCxnSpPr>
          <p:nvPr/>
        </p:nvCxnSpPr>
        <p:spPr>
          <a:xfrm flipH="1" rot="10800000">
            <a:off x="784918" y="2288222"/>
            <a:ext cx="513600" cy="19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5" name="Google Shape;1515;p125"/>
          <p:cNvSpPr/>
          <p:nvPr/>
        </p:nvSpPr>
        <p:spPr>
          <a:xfrm>
            <a:off x="2399158" y="2998395"/>
            <a:ext cx="1069200" cy="255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25"/>
          <p:cNvSpPr/>
          <p:nvPr/>
        </p:nvSpPr>
        <p:spPr>
          <a:xfrm flipH="1" rot="6104778">
            <a:off x="638602" y="3771472"/>
            <a:ext cx="988807" cy="988807"/>
          </a:xfrm>
          <a:prstGeom prst="arc">
            <a:avLst>
              <a:gd fmla="val 10790352" name="adj1"/>
              <a:gd fmla="val 16313781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125"/>
          <p:cNvSpPr txBox="1"/>
          <p:nvPr>
            <p:ph idx="1" type="body"/>
          </p:nvPr>
        </p:nvSpPr>
        <p:spPr>
          <a:xfrm>
            <a:off x="324000" y="1391400"/>
            <a:ext cx="334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</a:t>
            </a:r>
            <a:r>
              <a:rPr lang="en-GB" sz="2000"/>
              <a:t>airs of </a:t>
            </a:r>
            <a:r>
              <a:rPr lang="en-GB" sz="2000">
                <a:solidFill>
                  <a:schemeClr val="accent4"/>
                </a:solidFill>
              </a:rPr>
              <a:t>congruent</a:t>
            </a:r>
            <a:r>
              <a:rPr lang="en-GB" sz="2000"/>
              <a:t> shapes:</a:t>
            </a:r>
            <a:endParaRPr sz="2000"/>
          </a:p>
        </p:txBody>
      </p:sp>
      <p:sp>
        <p:nvSpPr>
          <p:cNvPr id="1518" name="Google Shape;1518;p125"/>
          <p:cNvSpPr txBox="1"/>
          <p:nvPr>
            <p:ph idx="1" type="body"/>
          </p:nvPr>
        </p:nvSpPr>
        <p:spPr>
          <a:xfrm>
            <a:off x="4829526" y="1391400"/>
            <a:ext cx="36750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pairs of </a:t>
            </a:r>
            <a:r>
              <a:rPr lang="en-GB" sz="2000">
                <a:solidFill>
                  <a:schemeClr val="accent4"/>
                </a:solidFill>
              </a:rPr>
              <a:t>incongruent</a:t>
            </a:r>
            <a:r>
              <a:rPr lang="en-GB" sz="2000"/>
              <a:t> shapes: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26"/>
          <p:cNvSpPr txBox="1"/>
          <p:nvPr>
            <p:ph idx="1" type="body"/>
          </p:nvPr>
        </p:nvSpPr>
        <p:spPr>
          <a:xfrm>
            <a:off x="324000" y="759300"/>
            <a:ext cx="8496000" cy="4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Shapes which have the same </a:t>
            </a:r>
            <a:r>
              <a:rPr lang="en-GB" sz="2000">
                <a:solidFill>
                  <a:schemeClr val="accent4"/>
                </a:solidFill>
              </a:rPr>
              <a:t>lengths</a:t>
            </a:r>
            <a:r>
              <a:rPr lang="en-GB" sz="2000"/>
              <a:t> and </a:t>
            </a:r>
            <a:r>
              <a:rPr lang="en-GB" sz="2000">
                <a:solidFill>
                  <a:schemeClr val="accent4"/>
                </a:solidFill>
              </a:rPr>
              <a:t>angles</a:t>
            </a:r>
            <a:r>
              <a:rPr lang="en-GB" sz="2000"/>
              <a:t> are </a:t>
            </a:r>
            <a:r>
              <a:rPr lang="en-GB" sz="2000">
                <a:solidFill>
                  <a:schemeClr val="accent4"/>
                </a:solidFill>
              </a:rPr>
              <a:t>congruent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524" name="Google Shape;1524;p1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525" name="Google Shape;1525;p126"/>
          <p:cNvSpPr/>
          <p:nvPr/>
        </p:nvSpPr>
        <p:spPr>
          <a:xfrm>
            <a:off x="364618" y="2152172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26"/>
          <p:cNvSpPr/>
          <p:nvPr/>
        </p:nvSpPr>
        <p:spPr>
          <a:xfrm>
            <a:off x="1298585" y="1954425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26"/>
          <p:cNvSpPr/>
          <p:nvPr/>
        </p:nvSpPr>
        <p:spPr>
          <a:xfrm>
            <a:off x="2240367" y="2926863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26"/>
          <p:cNvSpPr/>
          <p:nvPr/>
        </p:nvSpPr>
        <p:spPr>
          <a:xfrm>
            <a:off x="3174333" y="2922921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126"/>
          <p:cNvSpPr/>
          <p:nvPr/>
        </p:nvSpPr>
        <p:spPr>
          <a:xfrm>
            <a:off x="773847" y="4011516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26"/>
          <p:cNvSpPr/>
          <p:nvPr/>
        </p:nvSpPr>
        <p:spPr>
          <a:xfrm rot="5400000">
            <a:off x="1633516" y="3898128"/>
            <a:ext cx="420300" cy="667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1" name="Google Shape;1531;p126"/>
          <p:cNvCxnSpPr>
            <a:stCxn id="1525" idx="3"/>
            <a:endCxn id="1526" idx="1"/>
          </p:cNvCxnSpPr>
          <p:nvPr/>
        </p:nvCxnSpPr>
        <p:spPr>
          <a:xfrm flipH="1" rot="10800000">
            <a:off x="784918" y="2288222"/>
            <a:ext cx="513600" cy="19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2" name="Google Shape;1532;p126"/>
          <p:cNvSpPr/>
          <p:nvPr/>
        </p:nvSpPr>
        <p:spPr>
          <a:xfrm>
            <a:off x="2399158" y="2998395"/>
            <a:ext cx="1069200" cy="255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26"/>
          <p:cNvSpPr/>
          <p:nvPr/>
        </p:nvSpPr>
        <p:spPr>
          <a:xfrm flipH="1" rot="6104778">
            <a:off x="638602" y="3771472"/>
            <a:ext cx="988807" cy="988807"/>
          </a:xfrm>
          <a:prstGeom prst="arc">
            <a:avLst>
              <a:gd fmla="val 10790352" name="adj1"/>
              <a:gd fmla="val 16313781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26"/>
          <p:cNvSpPr txBox="1"/>
          <p:nvPr>
            <p:ph idx="1" type="body"/>
          </p:nvPr>
        </p:nvSpPr>
        <p:spPr>
          <a:xfrm>
            <a:off x="324000" y="1391400"/>
            <a:ext cx="334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pairs of </a:t>
            </a:r>
            <a:r>
              <a:rPr lang="en-GB" sz="2000">
                <a:solidFill>
                  <a:schemeClr val="accent4"/>
                </a:solidFill>
              </a:rPr>
              <a:t>congruent</a:t>
            </a:r>
            <a:r>
              <a:rPr lang="en-GB" sz="2000"/>
              <a:t> shapes:</a:t>
            </a:r>
            <a:endParaRPr sz="2000"/>
          </a:p>
        </p:txBody>
      </p:sp>
      <p:sp>
        <p:nvSpPr>
          <p:cNvPr id="1535" name="Google Shape;1535;p126"/>
          <p:cNvSpPr txBox="1"/>
          <p:nvPr/>
        </p:nvSpPr>
        <p:spPr>
          <a:xfrm>
            <a:off x="7899211" y="41035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6" name="Google Shape;1536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2900" y="3266957"/>
            <a:ext cx="885299" cy="85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12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340825" y="1502125"/>
            <a:ext cx="4122701" cy="214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26"/>
          <p:cNvSpPr txBox="1"/>
          <p:nvPr>
            <p:ph idx="1" type="body"/>
          </p:nvPr>
        </p:nvSpPr>
        <p:spPr>
          <a:xfrm>
            <a:off x="4453349" y="1673700"/>
            <a:ext cx="3696000" cy="147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means that </a:t>
            </a:r>
            <a:r>
              <a:rPr lang="en-GB" sz="2000">
                <a:solidFill>
                  <a:schemeClr val="accent4"/>
                </a:solidFill>
              </a:rPr>
              <a:t>translation</a:t>
            </a:r>
            <a:r>
              <a:rPr lang="en-GB" sz="2000"/>
              <a:t>, </a:t>
            </a:r>
            <a:r>
              <a:rPr lang="en-GB" sz="2000">
                <a:solidFill>
                  <a:schemeClr val="accent4"/>
                </a:solidFill>
              </a:rPr>
              <a:t>reflection</a:t>
            </a:r>
            <a:r>
              <a:rPr lang="en-GB" sz="2000"/>
              <a:t> and </a:t>
            </a:r>
            <a:r>
              <a:rPr lang="en-GB" sz="2000">
                <a:solidFill>
                  <a:schemeClr val="accent4"/>
                </a:solidFill>
              </a:rPr>
              <a:t>rotation</a:t>
            </a:r>
            <a:r>
              <a:rPr lang="en-GB" sz="2000"/>
              <a:t> always produce an image that is </a:t>
            </a:r>
            <a:r>
              <a:rPr lang="en-GB" sz="2000">
                <a:solidFill>
                  <a:schemeClr val="accent4"/>
                </a:solidFill>
              </a:rPr>
              <a:t>congruent</a:t>
            </a:r>
            <a:r>
              <a:rPr lang="en-GB" sz="2000"/>
              <a:t> to the object.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27"/>
          <p:cNvSpPr txBox="1"/>
          <p:nvPr>
            <p:ph idx="1" type="subTitle"/>
          </p:nvPr>
        </p:nvSpPr>
        <p:spPr>
          <a:xfrm>
            <a:off x="980575" y="319093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</a:t>
            </a:r>
            <a:r>
              <a:rPr lang="en-GB"/>
              <a:t> shapes have the </a:t>
            </a:r>
            <a:r>
              <a:rPr lang="en-GB">
                <a:solidFill>
                  <a:schemeClr val="accent4"/>
                </a:solidFill>
              </a:rPr>
              <a:t>same </a:t>
            </a:r>
            <a:r>
              <a:rPr lang="en-GB">
                <a:solidFill>
                  <a:schemeClr val="accent4"/>
                </a:solidFill>
              </a:rPr>
              <a:t>lengths</a:t>
            </a:r>
            <a:r>
              <a:rPr lang="en-GB"/>
              <a:t>.</a:t>
            </a:r>
            <a:endParaRPr/>
          </a:p>
        </p:txBody>
      </p:sp>
      <p:sp>
        <p:nvSpPr>
          <p:cNvPr id="1544" name="Google Shape;1544;p127"/>
          <p:cNvSpPr txBox="1"/>
          <p:nvPr>
            <p:ph idx="2" type="subTitle"/>
          </p:nvPr>
        </p:nvSpPr>
        <p:spPr>
          <a:xfrm>
            <a:off x="324000" y="1080000"/>
            <a:ext cx="42927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shapes are congruent.</a:t>
            </a:r>
            <a:endParaRPr/>
          </a:p>
        </p:txBody>
      </p:sp>
      <p:sp>
        <p:nvSpPr>
          <p:cNvPr id="1545" name="Google Shape;1545;p12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have </a:t>
            </a:r>
            <a:r>
              <a:rPr lang="en-GB">
                <a:solidFill>
                  <a:schemeClr val="accent4"/>
                </a:solidFill>
              </a:rPr>
              <a:t>different angles</a:t>
            </a:r>
            <a:r>
              <a:rPr lang="en-GB"/>
              <a:t>.</a:t>
            </a:r>
            <a:endParaRPr/>
          </a:p>
        </p:txBody>
      </p:sp>
      <p:sp>
        <p:nvSpPr>
          <p:cNvPr id="1546" name="Google Shape;1546;p1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547" name="Google Shape;1547;p127"/>
          <p:cNvSpPr/>
          <p:nvPr/>
        </p:nvSpPr>
        <p:spPr>
          <a:xfrm>
            <a:off x="7329500" y="2251770"/>
            <a:ext cx="1459500" cy="6177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8" name="Google Shape;1548;p127"/>
          <p:cNvCxnSpPr/>
          <p:nvPr/>
        </p:nvCxnSpPr>
        <p:spPr>
          <a:xfrm>
            <a:off x="7343555" y="2955825"/>
            <a:ext cx="1297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9" name="Google Shape;1549;p127"/>
          <p:cNvSpPr txBox="1"/>
          <p:nvPr>
            <p:ph idx="2" type="subTitle"/>
          </p:nvPr>
        </p:nvSpPr>
        <p:spPr>
          <a:xfrm>
            <a:off x="7677247" y="2970213"/>
            <a:ext cx="6441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cm</a:t>
            </a:r>
            <a:endParaRPr sz="1800"/>
          </a:p>
        </p:txBody>
      </p:sp>
      <p:cxnSp>
        <p:nvCxnSpPr>
          <p:cNvPr id="1550" name="Google Shape;1550;p127"/>
          <p:cNvCxnSpPr/>
          <p:nvPr/>
        </p:nvCxnSpPr>
        <p:spPr>
          <a:xfrm flipH="1">
            <a:off x="7230453" y="2232575"/>
            <a:ext cx="139200" cy="65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1" name="Google Shape;1551;p127"/>
          <p:cNvSpPr txBox="1"/>
          <p:nvPr>
            <p:ph idx="2" type="subTitle"/>
          </p:nvPr>
        </p:nvSpPr>
        <p:spPr>
          <a:xfrm>
            <a:off x="6728625" y="2363996"/>
            <a:ext cx="6441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cm</a:t>
            </a:r>
            <a:endParaRPr sz="1800"/>
          </a:p>
        </p:txBody>
      </p:sp>
      <p:pic>
        <p:nvPicPr>
          <p:cNvPr id="1552" name="Google Shape;1552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883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27"/>
          <p:cNvSpPr/>
          <p:nvPr/>
        </p:nvSpPr>
        <p:spPr>
          <a:xfrm>
            <a:off x="7480209" y="835030"/>
            <a:ext cx="1294800" cy="71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5" name="Google Shape;1555;p127"/>
          <p:cNvCxnSpPr/>
          <p:nvPr/>
        </p:nvCxnSpPr>
        <p:spPr>
          <a:xfrm>
            <a:off x="7338224" y="826150"/>
            <a:ext cx="0" cy="73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6" name="Google Shape;1556;p127"/>
          <p:cNvCxnSpPr/>
          <p:nvPr/>
        </p:nvCxnSpPr>
        <p:spPr>
          <a:xfrm>
            <a:off x="7480209" y="1657806"/>
            <a:ext cx="128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7" name="Google Shape;1557;p127"/>
          <p:cNvSpPr txBox="1"/>
          <p:nvPr>
            <p:ph idx="2" type="subTitle"/>
          </p:nvPr>
        </p:nvSpPr>
        <p:spPr>
          <a:xfrm>
            <a:off x="6728619" y="1050472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cm</a:t>
            </a:r>
            <a:endParaRPr sz="1800"/>
          </a:p>
        </p:txBody>
      </p:sp>
      <p:sp>
        <p:nvSpPr>
          <p:cNvPr id="1558" name="Google Shape;1558;p127"/>
          <p:cNvSpPr txBox="1"/>
          <p:nvPr>
            <p:ph idx="2" type="subTitle"/>
          </p:nvPr>
        </p:nvSpPr>
        <p:spPr>
          <a:xfrm>
            <a:off x="7795419" y="1707114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cm</a:t>
            </a:r>
            <a:endParaRPr sz="1800"/>
          </a:p>
        </p:txBody>
      </p:sp>
      <p:sp>
        <p:nvSpPr>
          <p:cNvPr id="1559" name="Google Shape;1559;p127"/>
          <p:cNvSpPr/>
          <p:nvPr/>
        </p:nvSpPr>
        <p:spPr>
          <a:xfrm>
            <a:off x="7489465" y="1430958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27"/>
          <p:cNvSpPr/>
          <p:nvPr/>
        </p:nvSpPr>
        <p:spPr>
          <a:xfrm>
            <a:off x="7478998" y="830889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27"/>
          <p:cNvSpPr/>
          <p:nvPr/>
        </p:nvSpPr>
        <p:spPr>
          <a:xfrm>
            <a:off x="8661802" y="830889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27"/>
          <p:cNvSpPr/>
          <p:nvPr/>
        </p:nvSpPr>
        <p:spPr>
          <a:xfrm>
            <a:off x="8661802" y="1442156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28"/>
          <p:cNvSpPr txBox="1"/>
          <p:nvPr>
            <p:ph idx="1" type="subTitle"/>
          </p:nvPr>
        </p:nvSpPr>
        <p:spPr>
          <a:xfrm>
            <a:off x="827250" y="3196125"/>
            <a:ext cx="54297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</a:t>
            </a:r>
            <a:r>
              <a:rPr lang="en-GB"/>
              <a:t> shapes</a:t>
            </a:r>
            <a:r>
              <a:rPr lang="en-GB"/>
              <a:t> have the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>
                <a:solidFill>
                  <a:schemeClr val="accent4"/>
                </a:solidFill>
              </a:rPr>
              <a:t> lengths</a:t>
            </a:r>
            <a:r>
              <a:rPr lang="en-GB"/>
              <a:t>.</a:t>
            </a:r>
            <a:endParaRPr/>
          </a:p>
        </p:txBody>
      </p:sp>
      <p:sp>
        <p:nvSpPr>
          <p:cNvPr id="1568" name="Google Shape;1568;p128"/>
          <p:cNvSpPr txBox="1"/>
          <p:nvPr>
            <p:ph idx="2" type="subTitle"/>
          </p:nvPr>
        </p:nvSpPr>
        <p:spPr>
          <a:xfrm>
            <a:off x="324000" y="1080000"/>
            <a:ext cx="42927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shapes are congruent.</a:t>
            </a:r>
            <a:endParaRPr/>
          </a:p>
        </p:txBody>
      </p:sp>
      <p:sp>
        <p:nvSpPr>
          <p:cNvPr id="1569" name="Google Shape;1569;p128"/>
          <p:cNvSpPr txBox="1"/>
          <p:nvPr>
            <p:ph idx="3" type="subTitle"/>
          </p:nvPr>
        </p:nvSpPr>
        <p:spPr>
          <a:xfrm>
            <a:off x="827250" y="4040350"/>
            <a:ext cx="47625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have </a:t>
            </a:r>
            <a:r>
              <a:rPr lang="en-GB">
                <a:solidFill>
                  <a:schemeClr val="accent4"/>
                </a:solidFill>
              </a:rPr>
              <a:t>the same</a:t>
            </a:r>
            <a:r>
              <a:rPr lang="en-GB">
                <a:solidFill>
                  <a:schemeClr val="accent4"/>
                </a:solidFill>
              </a:rPr>
              <a:t> angles</a:t>
            </a:r>
            <a:r>
              <a:rPr lang="en-GB"/>
              <a:t>.</a:t>
            </a:r>
            <a:endParaRPr/>
          </a:p>
        </p:txBody>
      </p:sp>
      <p:sp>
        <p:nvSpPr>
          <p:cNvPr id="1570" name="Google Shape;1570;p1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571" name="Google Shape;1571;p128"/>
          <p:cNvSpPr/>
          <p:nvPr/>
        </p:nvSpPr>
        <p:spPr>
          <a:xfrm>
            <a:off x="7480209" y="835030"/>
            <a:ext cx="1294800" cy="716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2" name="Google Shape;1572;p128"/>
          <p:cNvCxnSpPr/>
          <p:nvPr/>
        </p:nvCxnSpPr>
        <p:spPr>
          <a:xfrm>
            <a:off x="7338224" y="826150"/>
            <a:ext cx="0" cy="73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3" name="Google Shape;1573;p128"/>
          <p:cNvCxnSpPr/>
          <p:nvPr/>
        </p:nvCxnSpPr>
        <p:spPr>
          <a:xfrm>
            <a:off x="7480209" y="1657806"/>
            <a:ext cx="128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4" name="Google Shape;1574;p128"/>
          <p:cNvSpPr txBox="1"/>
          <p:nvPr>
            <p:ph idx="2" type="subTitle"/>
          </p:nvPr>
        </p:nvSpPr>
        <p:spPr>
          <a:xfrm>
            <a:off x="6728619" y="1050472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cm</a:t>
            </a:r>
            <a:endParaRPr sz="1800"/>
          </a:p>
        </p:txBody>
      </p:sp>
      <p:sp>
        <p:nvSpPr>
          <p:cNvPr id="1575" name="Google Shape;1575;p128"/>
          <p:cNvSpPr txBox="1"/>
          <p:nvPr>
            <p:ph idx="2" type="subTitle"/>
          </p:nvPr>
        </p:nvSpPr>
        <p:spPr>
          <a:xfrm>
            <a:off x="7795419" y="1707114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cm</a:t>
            </a:r>
            <a:endParaRPr sz="1800"/>
          </a:p>
        </p:txBody>
      </p:sp>
      <p:sp>
        <p:nvSpPr>
          <p:cNvPr id="1576" name="Google Shape;1576;p128"/>
          <p:cNvSpPr/>
          <p:nvPr/>
        </p:nvSpPr>
        <p:spPr>
          <a:xfrm>
            <a:off x="7489465" y="1430958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28"/>
          <p:cNvSpPr/>
          <p:nvPr/>
        </p:nvSpPr>
        <p:spPr>
          <a:xfrm>
            <a:off x="7478998" y="830889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28"/>
          <p:cNvSpPr/>
          <p:nvPr/>
        </p:nvSpPr>
        <p:spPr>
          <a:xfrm>
            <a:off x="8661802" y="830889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28"/>
          <p:cNvSpPr/>
          <p:nvPr/>
        </p:nvSpPr>
        <p:spPr>
          <a:xfrm>
            <a:off x="8661802" y="1442156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0" name="Google Shape;158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07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158" y="32198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128"/>
          <p:cNvSpPr/>
          <p:nvPr/>
        </p:nvSpPr>
        <p:spPr>
          <a:xfrm>
            <a:off x="6627602" y="2406885"/>
            <a:ext cx="2166900" cy="1198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3" name="Google Shape;1583;p128"/>
          <p:cNvCxnSpPr/>
          <p:nvPr/>
        </p:nvCxnSpPr>
        <p:spPr>
          <a:xfrm>
            <a:off x="6501876" y="2392025"/>
            <a:ext cx="0" cy="123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4" name="Google Shape;1584;p128"/>
          <p:cNvCxnSpPr/>
          <p:nvPr/>
        </p:nvCxnSpPr>
        <p:spPr>
          <a:xfrm>
            <a:off x="6627602" y="3711529"/>
            <a:ext cx="2153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5" name="Google Shape;1585;p128"/>
          <p:cNvSpPr txBox="1"/>
          <p:nvPr>
            <p:ph idx="2" type="subTitle"/>
          </p:nvPr>
        </p:nvSpPr>
        <p:spPr>
          <a:xfrm>
            <a:off x="5915532" y="2774250"/>
            <a:ext cx="570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586" name="Google Shape;1586;p128"/>
          <p:cNvSpPr txBox="1"/>
          <p:nvPr>
            <p:ph idx="2" type="subTitle"/>
          </p:nvPr>
        </p:nvSpPr>
        <p:spPr>
          <a:xfrm>
            <a:off x="7338219" y="3764514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587" name="Google Shape;1587;p128"/>
          <p:cNvSpPr/>
          <p:nvPr/>
        </p:nvSpPr>
        <p:spPr>
          <a:xfrm>
            <a:off x="6630331" y="2410155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28"/>
          <p:cNvSpPr/>
          <p:nvPr/>
        </p:nvSpPr>
        <p:spPr>
          <a:xfrm>
            <a:off x="6630331" y="3476955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28"/>
          <p:cNvSpPr/>
          <p:nvPr/>
        </p:nvSpPr>
        <p:spPr>
          <a:xfrm>
            <a:off x="8677264" y="3476955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28"/>
          <p:cNvSpPr/>
          <p:nvPr/>
        </p:nvSpPr>
        <p:spPr>
          <a:xfrm>
            <a:off x="8677264" y="2410155"/>
            <a:ext cx="115200" cy="115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29"/>
          <p:cNvSpPr txBox="1"/>
          <p:nvPr>
            <p:ph idx="1" type="subTitle"/>
          </p:nvPr>
        </p:nvSpPr>
        <p:spPr>
          <a:xfrm>
            <a:off x="980575" y="3093550"/>
            <a:ext cx="53544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have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>
                <a:solidFill>
                  <a:schemeClr val="accent4"/>
                </a:solidFill>
              </a:rPr>
              <a:t> lengths</a:t>
            </a:r>
            <a:r>
              <a:rPr lang="en-GB"/>
              <a:t> </a:t>
            </a:r>
            <a:r>
              <a:rPr lang="en-GB"/>
              <a:t>a</a:t>
            </a:r>
            <a:r>
              <a:rPr lang="en-GB"/>
              <a:t>nd the </a:t>
            </a:r>
            <a:r>
              <a:rPr lang="en-GB">
                <a:solidFill>
                  <a:schemeClr val="accent4"/>
                </a:solidFill>
              </a:rPr>
              <a:t>same angles</a:t>
            </a:r>
            <a:r>
              <a:rPr lang="en-GB"/>
              <a:t>.</a:t>
            </a:r>
            <a:endParaRPr/>
          </a:p>
        </p:txBody>
      </p:sp>
      <p:sp>
        <p:nvSpPr>
          <p:cNvPr id="1596" name="Google Shape;1596;p129"/>
          <p:cNvSpPr txBox="1"/>
          <p:nvPr>
            <p:ph idx="2" type="subTitle"/>
          </p:nvPr>
        </p:nvSpPr>
        <p:spPr>
          <a:xfrm>
            <a:off x="324000" y="1080000"/>
            <a:ext cx="42927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shapes are congruent.</a:t>
            </a:r>
            <a:endParaRPr/>
          </a:p>
        </p:txBody>
      </p:sp>
      <p:sp>
        <p:nvSpPr>
          <p:cNvPr id="1597" name="Google Shape;1597;p1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are in </a:t>
            </a:r>
            <a:r>
              <a:rPr lang="en-GB">
                <a:solidFill>
                  <a:schemeClr val="accent4"/>
                </a:solidFill>
              </a:rPr>
              <a:t>different orientations</a:t>
            </a:r>
            <a:r>
              <a:rPr lang="en-GB"/>
              <a:t>.</a:t>
            </a:r>
            <a:endParaRPr/>
          </a:p>
        </p:txBody>
      </p:sp>
      <p:sp>
        <p:nvSpPr>
          <p:cNvPr id="1598" name="Google Shape;1598;p1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599" name="Google Shape;1599;p129"/>
          <p:cNvSpPr txBox="1"/>
          <p:nvPr>
            <p:ph idx="2" type="subTitle"/>
          </p:nvPr>
        </p:nvSpPr>
        <p:spPr>
          <a:xfrm>
            <a:off x="6728619" y="1050472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cm</a:t>
            </a:r>
            <a:endParaRPr sz="1800"/>
          </a:p>
        </p:txBody>
      </p:sp>
      <p:sp>
        <p:nvSpPr>
          <p:cNvPr id="1600" name="Google Shape;1600;p129"/>
          <p:cNvSpPr txBox="1"/>
          <p:nvPr>
            <p:ph idx="2" type="subTitle"/>
          </p:nvPr>
        </p:nvSpPr>
        <p:spPr>
          <a:xfrm>
            <a:off x="7795419" y="1707114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cm</a:t>
            </a:r>
            <a:endParaRPr sz="1800"/>
          </a:p>
        </p:txBody>
      </p:sp>
      <p:grpSp>
        <p:nvGrpSpPr>
          <p:cNvPr id="1601" name="Google Shape;1601;p129"/>
          <p:cNvGrpSpPr/>
          <p:nvPr/>
        </p:nvGrpSpPr>
        <p:grpSpPr>
          <a:xfrm>
            <a:off x="7338224" y="826150"/>
            <a:ext cx="1438778" cy="831656"/>
            <a:chOff x="7338224" y="826150"/>
            <a:chExt cx="1438778" cy="831656"/>
          </a:xfrm>
        </p:grpSpPr>
        <p:sp>
          <p:nvSpPr>
            <p:cNvPr id="1602" name="Google Shape;1602;p129"/>
            <p:cNvSpPr/>
            <p:nvPr/>
          </p:nvSpPr>
          <p:spPr>
            <a:xfrm>
              <a:off x="7480209" y="835030"/>
              <a:ext cx="1294800" cy="7161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3" name="Google Shape;1603;p129"/>
            <p:cNvCxnSpPr/>
            <p:nvPr/>
          </p:nvCxnSpPr>
          <p:spPr>
            <a:xfrm>
              <a:off x="7338224" y="826150"/>
              <a:ext cx="0" cy="736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4" name="Google Shape;1604;p129"/>
            <p:cNvCxnSpPr/>
            <p:nvPr/>
          </p:nvCxnSpPr>
          <p:spPr>
            <a:xfrm>
              <a:off x="7480209" y="1657806"/>
              <a:ext cx="1287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05" name="Google Shape;1605;p129"/>
            <p:cNvSpPr/>
            <p:nvPr/>
          </p:nvSpPr>
          <p:spPr>
            <a:xfrm>
              <a:off x="7489465" y="1430958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129"/>
            <p:cNvSpPr/>
            <p:nvPr/>
          </p:nvSpPr>
          <p:spPr>
            <a:xfrm>
              <a:off x="7478998" y="830889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7" name="Google Shape;1607;p129"/>
            <p:cNvSpPr/>
            <p:nvPr/>
          </p:nvSpPr>
          <p:spPr>
            <a:xfrm>
              <a:off x="8661802" y="830889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8" name="Google Shape;1608;p129"/>
            <p:cNvSpPr/>
            <p:nvPr/>
          </p:nvSpPr>
          <p:spPr>
            <a:xfrm>
              <a:off x="8661802" y="1442156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09" name="Google Shape;1609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33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408" y="34052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1" name="Google Shape;1611;p129"/>
          <p:cNvGrpSpPr/>
          <p:nvPr/>
        </p:nvGrpSpPr>
        <p:grpSpPr>
          <a:xfrm rot="5400000">
            <a:off x="7643024" y="2883550"/>
            <a:ext cx="1438778" cy="831656"/>
            <a:chOff x="7338224" y="826150"/>
            <a:chExt cx="1438778" cy="831656"/>
          </a:xfrm>
        </p:grpSpPr>
        <p:sp>
          <p:nvSpPr>
            <p:cNvPr id="1612" name="Google Shape;1612;p129"/>
            <p:cNvSpPr/>
            <p:nvPr/>
          </p:nvSpPr>
          <p:spPr>
            <a:xfrm>
              <a:off x="7480209" y="835030"/>
              <a:ext cx="1294800" cy="7161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3" name="Google Shape;1613;p129"/>
            <p:cNvCxnSpPr/>
            <p:nvPr/>
          </p:nvCxnSpPr>
          <p:spPr>
            <a:xfrm>
              <a:off x="7338224" y="826150"/>
              <a:ext cx="0" cy="736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14" name="Google Shape;1614;p129"/>
            <p:cNvCxnSpPr/>
            <p:nvPr/>
          </p:nvCxnSpPr>
          <p:spPr>
            <a:xfrm>
              <a:off x="7480209" y="1657806"/>
              <a:ext cx="1287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15" name="Google Shape;1615;p129"/>
            <p:cNvSpPr/>
            <p:nvPr/>
          </p:nvSpPr>
          <p:spPr>
            <a:xfrm>
              <a:off x="7489465" y="1430958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129"/>
            <p:cNvSpPr/>
            <p:nvPr/>
          </p:nvSpPr>
          <p:spPr>
            <a:xfrm>
              <a:off x="7478998" y="830889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129"/>
            <p:cNvSpPr/>
            <p:nvPr/>
          </p:nvSpPr>
          <p:spPr>
            <a:xfrm>
              <a:off x="8661802" y="830889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8" name="Google Shape;1618;p129"/>
            <p:cNvSpPr/>
            <p:nvPr/>
          </p:nvSpPr>
          <p:spPr>
            <a:xfrm>
              <a:off x="8661802" y="1442156"/>
              <a:ext cx="115200" cy="115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9" name="Google Shape;1619;p129"/>
          <p:cNvSpPr txBox="1"/>
          <p:nvPr>
            <p:ph idx="2" type="subTitle"/>
          </p:nvPr>
        </p:nvSpPr>
        <p:spPr>
          <a:xfrm>
            <a:off x="8165952" y="2248738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cm</a:t>
            </a:r>
            <a:endParaRPr sz="1800"/>
          </a:p>
        </p:txBody>
      </p:sp>
      <p:sp>
        <p:nvSpPr>
          <p:cNvPr id="1620" name="Google Shape;1620;p129"/>
          <p:cNvSpPr txBox="1"/>
          <p:nvPr>
            <p:ph idx="2" type="subTitle"/>
          </p:nvPr>
        </p:nvSpPr>
        <p:spPr>
          <a:xfrm>
            <a:off x="7369620" y="3231114"/>
            <a:ext cx="6996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cm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30"/>
          <p:cNvSpPr txBox="1"/>
          <p:nvPr>
            <p:ph type="title"/>
          </p:nvPr>
        </p:nvSpPr>
        <p:spPr>
          <a:xfrm>
            <a:off x="324000" y="810007"/>
            <a:ext cx="8179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transformations always result in an image that is </a:t>
            </a:r>
            <a:r>
              <a:rPr lang="en-GB">
                <a:solidFill>
                  <a:schemeClr val="accent4"/>
                </a:solidFill>
              </a:rPr>
              <a:t>congruent</a:t>
            </a:r>
            <a:r>
              <a:rPr lang="en-GB"/>
              <a:t> to the original object?</a:t>
            </a:r>
            <a:endParaRPr/>
          </a:p>
        </p:txBody>
      </p:sp>
      <p:sp>
        <p:nvSpPr>
          <p:cNvPr id="1626" name="Google Shape;1626;p13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627" name="Google Shape;1627;p130"/>
          <p:cNvSpPr txBox="1"/>
          <p:nvPr>
            <p:ph idx="1" type="subTitle"/>
          </p:nvPr>
        </p:nvSpPr>
        <p:spPr>
          <a:xfrm>
            <a:off x="1034425" y="16853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enlargement</a:t>
            </a:r>
            <a:endParaRPr/>
          </a:p>
        </p:txBody>
      </p:sp>
      <p:sp>
        <p:nvSpPr>
          <p:cNvPr id="1628" name="Google Shape;1628;p130"/>
          <p:cNvSpPr txBox="1"/>
          <p:nvPr>
            <p:ph idx="3" type="subTitle"/>
          </p:nvPr>
        </p:nvSpPr>
        <p:spPr>
          <a:xfrm>
            <a:off x="1034425" y="2489443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reflection</a:t>
            </a:r>
            <a:endParaRPr/>
          </a:p>
        </p:txBody>
      </p:sp>
      <p:sp>
        <p:nvSpPr>
          <p:cNvPr id="1629" name="Google Shape;1629;p130"/>
          <p:cNvSpPr txBox="1"/>
          <p:nvPr>
            <p:ph idx="4" type="subTitle"/>
          </p:nvPr>
        </p:nvSpPr>
        <p:spPr>
          <a:xfrm>
            <a:off x="1034425" y="3309758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rotation</a:t>
            </a:r>
            <a:endParaRPr/>
          </a:p>
        </p:txBody>
      </p:sp>
      <p:sp>
        <p:nvSpPr>
          <p:cNvPr id="1630" name="Google Shape;1630;p130"/>
          <p:cNvSpPr txBox="1"/>
          <p:nvPr>
            <p:ph idx="5" type="subTitle"/>
          </p:nvPr>
        </p:nvSpPr>
        <p:spPr>
          <a:xfrm>
            <a:off x="1034425" y="4113827"/>
            <a:ext cx="3285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translation</a:t>
            </a:r>
            <a:endParaRPr/>
          </a:p>
        </p:txBody>
      </p:sp>
      <p:pic>
        <p:nvPicPr>
          <p:cNvPr id="1631" name="Google Shape;1631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933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858" y="32820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008" y="40655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Produce a congruent shape by </a:t>
            </a:r>
            <a:r>
              <a:rPr lang="en-GB">
                <a:solidFill>
                  <a:schemeClr val="accent4"/>
                </a:solidFill>
              </a:rPr>
              <a:t>translating</a:t>
            </a:r>
            <a:r>
              <a:rPr lang="en-GB"/>
              <a:t> the object by          .</a:t>
            </a:r>
            <a:endParaRPr/>
          </a:p>
        </p:txBody>
      </p:sp>
      <p:sp>
        <p:nvSpPr>
          <p:cNvPr id="1639" name="Google Shape;1639;p1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Produce a congruent shape by </a:t>
            </a:r>
            <a:r>
              <a:rPr lang="en-GB">
                <a:solidFill>
                  <a:schemeClr val="accent4"/>
                </a:solidFill>
              </a:rPr>
              <a:t>translating</a:t>
            </a:r>
            <a:r>
              <a:rPr lang="en-GB"/>
              <a:t> the object by          .</a:t>
            </a:r>
            <a:endParaRPr/>
          </a:p>
        </p:txBody>
      </p:sp>
      <p:sp>
        <p:nvSpPr>
          <p:cNvPr id="1640" name="Google Shape;1640;p13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-2\\&amp;#13;&amp;#10;2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2&lt;/mn&gt;&lt;/mtd&gt;&lt;/mtr&gt;&lt;/mtable&gt;&lt;mo data-mjx-texclass=&quot;CLOSE&quot;&gt;)&lt;/mo&gt;&lt;/mrow&gt;&lt;/math&gt;" id="1641" name="Google Shape;1641;p131" title="the 2 by 1 column matrix negative 2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0281" y="1081898"/>
            <a:ext cx="49565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131"/>
          <p:cNvPicPr preferRelativeResize="0"/>
          <p:nvPr/>
        </p:nvPicPr>
        <p:blipFill rotWithShape="1">
          <a:blip r:embed="rId4">
            <a:alphaModFix/>
          </a:blip>
          <a:srcRect b="351" l="124" r="62274" t="35664"/>
          <a:stretch/>
        </p:blipFill>
        <p:spPr>
          <a:xfrm>
            <a:off x="718925" y="1683650"/>
            <a:ext cx="3051724" cy="30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31"/>
          <p:cNvSpPr/>
          <p:nvPr/>
        </p:nvSpPr>
        <p:spPr>
          <a:xfrm>
            <a:off x="1062703" y="2380466"/>
            <a:ext cx="677100" cy="9996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1"/>
          <p:cNvSpPr/>
          <p:nvPr/>
        </p:nvSpPr>
        <p:spPr>
          <a:xfrm>
            <a:off x="2418559" y="3386809"/>
            <a:ext cx="677100" cy="9996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4\\&amp;#13;&amp;#10;-3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o&gt;−&lt;/mo&gt;&lt;mn&gt;3&lt;/mn&gt;&lt;/mtd&gt;&lt;/mtr&gt;&lt;/mtable&gt;&lt;mo data-mjx-texclass=&quot;CLOSE&quot;&gt;)&lt;/mo&gt;&lt;/mrow&gt;&lt;/math&gt;" id="1645" name="Google Shape;1645;p131" title="the 2 by 1 column matrix 4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6466" y="1098360"/>
            <a:ext cx="449500" cy="416278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131"/>
          <p:cNvSpPr/>
          <p:nvPr/>
        </p:nvSpPr>
        <p:spPr>
          <a:xfrm>
            <a:off x="991875" y="230647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1"/>
          <p:cNvSpPr/>
          <p:nvPr/>
        </p:nvSpPr>
        <p:spPr>
          <a:xfrm>
            <a:off x="2340800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1"/>
          <p:cNvSpPr/>
          <p:nvPr/>
        </p:nvSpPr>
        <p:spPr>
          <a:xfrm>
            <a:off x="1648075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31"/>
          <p:cNvSpPr/>
          <p:nvPr/>
        </p:nvSpPr>
        <p:spPr>
          <a:xfrm>
            <a:off x="991875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131"/>
          <p:cNvSpPr/>
          <p:nvPr/>
        </p:nvSpPr>
        <p:spPr>
          <a:xfrm>
            <a:off x="3014400" y="4320000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1"/>
          <p:cNvSpPr/>
          <p:nvPr/>
        </p:nvSpPr>
        <p:spPr>
          <a:xfrm>
            <a:off x="2358200" y="4320000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2" name="Google Shape;1652;p131"/>
          <p:cNvPicPr preferRelativeResize="0"/>
          <p:nvPr/>
        </p:nvPicPr>
        <p:blipFill rotWithShape="1">
          <a:blip r:embed="rId4">
            <a:alphaModFix/>
          </a:blip>
          <a:srcRect b="351" l="124" r="62274" t="35664"/>
          <a:stretch/>
        </p:blipFill>
        <p:spPr>
          <a:xfrm>
            <a:off x="5290925" y="1683650"/>
            <a:ext cx="3051724" cy="30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31"/>
          <p:cNvSpPr/>
          <p:nvPr/>
        </p:nvSpPr>
        <p:spPr>
          <a:xfrm rot="5400000">
            <a:off x="6988574" y="3050737"/>
            <a:ext cx="677100" cy="13572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1"/>
          <p:cNvSpPr/>
          <p:nvPr/>
        </p:nvSpPr>
        <p:spPr>
          <a:xfrm rot="5400000">
            <a:off x="6318518" y="2380681"/>
            <a:ext cx="677100" cy="1357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3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Produce a congruent shape by </a:t>
            </a:r>
            <a:r>
              <a:rPr lang="en-GB">
                <a:solidFill>
                  <a:schemeClr val="accent4"/>
                </a:solidFill>
              </a:rPr>
              <a:t>reflecting</a:t>
            </a:r>
            <a:r>
              <a:rPr lang="en-GB"/>
              <a:t> the object over the line.</a:t>
            </a:r>
            <a:endParaRPr/>
          </a:p>
        </p:txBody>
      </p:sp>
      <p:sp>
        <p:nvSpPr>
          <p:cNvPr id="1660" name="Google Shape;1660;p13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Produce a congruent shape by </a:t>
            </a:r>
            <a:r>
              <a:rPr lang="en-GB">
                <a:solidFill>
                  <a:schemeClr val="accent4"/>
                </a:solidFill>
              </a:rPr>
              <a:t>reflecting</a:t>
            </a:r>
            <a:r>
              <a:rPr lang="en-GB"/>
              <a:t> the object over the line</a:t>
            </a:r>
            <a:r>
              <a:rPr lang="en-GB"/>
              <a:t>.</a:t>
            </a:r>
            <a:endParaRPr/>
          </a:p>
        </p:txBody>
      </p:sp>
      <p:sp>
        <p:nvSpPr>
          <p:cNvPr id="1661" name="Google Shape;1661;p13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id="1662" name="Google Shape;1662;p132"/>
          <p:cNvPicPr preferRelativeResize="0"/>
          <p:nvPr/>
        </p:nvPicPr>
        <p:blipFill rotWithShape="1">
          <a:blip r:embed="rId3">
            <a:alphaModFix/>
          </a:blip>
          <a:srcRect b="351" l="124" r="62274" t="35664"/>
          <a:stretch/>
        </p:blipFill>
        <p:spPr>
          <a:xfrm>
            <a:off x="718925" y="1683650"/>
            <a:ext cx="3051724" cy="30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132"/>
          <p:cNvSpPr/>
          <p:nvPr/>
        </p:nvSpPr>
        <p:spPr>
          <a:xfrm>
            <a:off x="1062703" y="2380466"/>
            <a:ext cx="677100" cy="9996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2"/>
          <p:cNvSpPr/>
          <p:nvPr/>
        </p:nvSpPr>
        <p:spPr>
          <a:xfrm flipH="1">
            <a:off x="3096487" y="2372594"/>
            <a:ext cx="677100" cy="9996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2"/>
          <p:cNvSpPr/>
          <p:nvPr/>
        </p:nvSpPr>
        <p:spPr>
          <a:xfrm>
            <a:off x="991875" y="230647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2"/>
          <p:cNvSpPr/>
          <p:nvPr/>
        </p:nvSpPr>
        <p:spPr>
          <a:xfrm>
            <a:off x="3692328" y="230647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2"/>
          <p:cNvSpPr/>
          <p:nvPr/>
        </p:nvSpPr>
        <p:spPr>
          <a:xfrm>
            <a:off x="1648075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2"/>
          <p:cNvSpPr/>
          <p:nvPr/>
        </p:nvSpPr>
        <p:spPr>
          <a:xfrm>
            <a:off x="991875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2"/>
          <p:cNvSpPr/>
          <p:nvPr/>
        </p:nvSpPr>
        <p:spPr>
          <a:xfrm>
            <a:off x="3011511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32"/>
          <p:cNvSpPr/>
          <p:nvPr/>
        </p:nvSpPr>
        <p:spPr>
          <a:xfrm>
            <a:off x="3688278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1" name="Google Shape;1671;p132"/>
          <p:cNvPicPr preferRelativeResize="0"/>
          <p:nvPr/>
        </p:nvPicPr>
        <p:blipFill rotWithShape="1">
          <a:blip r:embed="rId3">
            <a:alphaModFix/>
          </a:blip>
          <a:srcRect b="351" l="124" r="62274" t="35664"/>
          <a:stretch/>
        </p:blipFill>
        <p:spPr>
          <a:xfrm>
            <a:off x="5290925" y="1683650"/>
            <a:ext cx="3051724" cy="30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2" name="Google Shape;1672;p132"/>
          <p:cNvSpPr/>
          <p:nvPr/>
        </p:nvSpPr>
        <p:spPr>
          <a:xfrm rot="5400000">
            <a:off x="6988574" y="3050737"/>
            <a:ext cx="677100" cy="13572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2"/>
          <p:cNvSpPr/>
          <p:nvPr/>
        </p:nvSpPr>
        <p:spPr>
          <a:xfrm flipH="1" rot="5400000">
            <a:off x="6988574" y="1679137"/>
            <a:ext cx="677100" cy="1357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4" name="Google Shape;1674;p132"/>
          <p:cNvCxnSpPr/>
          <p:nvPr/>
        </p:nvCxnSpPr>
        <p:spPr>
          <a:xfrm>
            <a:off x="2408803" y="1700325"/>
            <a:ext cx="0" cy="3022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132"/>
          <p:cNvCxnSpPr/>
          <p:nvPr/>
        </p:nvCxnSpPr>
        <p:spPr>
          <a:xfrm rot="10800000">
            <a:off x="5313550" y="3050325"/>
            <a:ext cx="3029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0" name="Google Shape;1680;p133"/>
          <p:cNvPicPr preferRelativeResize="0"/>
          <p:nvPr/>
        </p:nvPicPr>
        <p:blipFill rotWithShape="1">
          <a:blip r:embed="rId3">
            <a:alphaModFix/>
          </a:blip>
          <a:srcRect b="353" l="124" r="62273" t="42702"/>
          <a:stretch/>
        </p:blipFill>
        <p:spPr>
          <a:xfrm>
            <a:off x="718925" y="2019175"/>
            <a:ext cx="3051724" cy="271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33"/>
          <p:cNvSpPr/>
          <p:nvPr/>
        </p:nvSpPr>
        <p:spPr>
          <a:xfrm>
            <a:off x="1062703" y="2380466"/>
            <a:ext cx="677100" cy="9996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33"/>
          <p:cNvSpPr/>
          <p:nvPr/>
        </p:nvSpPr>
        <p:spPr>
          <a:xfrm>
            <a:off x="1648075" y="3309025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3" name="Google Shape;1683;p133"/>
          <p:cNvGrpSpPr/>
          <p:nvPr/>
        </p:nvGrpSpPr>
        <p:grpSpPr>
          <a:xfrm>
            <a:off x="724378" y="2011287"/>
            <a:ext cx="2201100" cy="1894200"/>
            <a:chOff x="724378" y="2011287"/>
            <a:chExt cx="2201100" cy="1894200"/>
          </a:xfrm>
        </p:grpSpPr>
        <p:sp>
          <p:nvSpPr>
            <p:cNvPr id="1684" name="Google Shape;1684;p133"/>
            <p:cNvSpPr/>
            <p:nvPr/>
          </p:nvSpPr>
          <p:spPr>
            <a:xfrm>
              <a:off x="724378" y="2011287"/>
              <a:ext cx="2201100" cy="18942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33"/>
            <p:cNvSpPr/>
            <p:nvPr/>
          </p:nvSpPr>
          <p:spPr>
            <a:xfrm>
              <a:off x="1062703" y="2380466"/>
              <a:ext cx="677100" cy="999600"/>
            </a:xfrm>
            <a:prstGeom prst="rtTriangl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6" name="Google Shape;1686;p133"/>
          <p:cNvSpPr txBox="1"/>
          <p:nvPr>
            <p:ph idx="1" type="subTitle"/>
          </p:nvPr>
        </p:nvSpPr>
        <p:spPr>
          <a:xfrm>
            <a:off x="337825" y="810000"/>
            <a:ext cx="40782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Produce a congruent shape by </a:t>
            </a:r>
            <a:r>
              <a:rPr lang="en-GB">
                <a:solidFill>
                  <a:schemeClr val="accent4"/>
                </a:solidFill>
              </a:rPr>
              <a:t>rotating</a:t>
            </a:r>
            <a:r>
              <a:rPr lang="en-GB"/>
              <a:t> the object 90°clockwise around the point.</a:t>
            </a:r>
            <a:endParaRPr/>
          </a:p>
        </p:txBody>
      </p:sp>
      <p:sp>
        <p:nvSpPr>
          <p:cNvPr id="1687" name="Google Shape;1687;p133"/>
          <p:cNvSpPr txBox="1"/>
          <p:nvPr>
            <p:ph idx="2" type="subTitle"/>
          </p:nvPr>
        </p:nvSpPr>
        <p:spPr>
          <a:xfrm>
            <a:off x="4742304" y="810000"/>
            <a:ext cx="40638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Produce a congruent shape by </a:t>
            </a:r>
            <a:r>
              <a:rPr lang="en-GB">
                <a:solidFill>
                  <a:schemeClr val="accent4"/>
                </a:solidFill>
              </a:rPr>
              <a:t>rotating</a:t>
            </a:r>
            <a:r>
              <a:rPr lang="en-GB"/>
              <a:t> the object 90°anticlockwise around the point.</a:t>
            </a:r>
            <a:endParaRPr/>
          </a:p>
        </p:txBody>
      </p:sp>
      <p:sp>
        <p:nvSpPr>
          <p:cNvPr id="1688" name="Google Shape;1688;p13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id="1689" name="Google Shape;1689;p133"/>
          <p:cNvPicPr preferRelativeResize="0"/>
          <p:nvPr/>
        </p:nvPicPr>
        <p:blipFill rotWithShape="1">
          <a:blip r:embed="rId3">
            <a:alphaModFix/>
          </a:blip>
          <a:srcRect b="353" l="124" r="62273" t="42702"/>
          <a:stretch/>
        </p:blipFill>
        <p:spPr>
          <a:xfrm>
            <a:off x="5290925" y="2019175"/>
            <a:ext cx="3051724" cy="271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33"/>
          <p:cNvSpPr/>
          <p:nvPr/>
        </p:nvSpPr>
        <p:spPr>
          <a:xfrm rot="5400000">
            <a:off x="6988574" y="3050737"/>
            <a:ext cx="677100" cy="1357200"/>
          </a:xfrm>
          <a:prstGeom prst="rtTriangle">
            <a:avLst/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33"/>
          <p:cNvSpPr/>
          <p:nvPr/>
        </p:nvSpPr>
        <p:spPr>
          <a:xfrm>
            <a:off x="6648524" y="2021412"/>
            <a:ext cx="677100" cy="1357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2" name="Google Shape;1692;p133"/>
          <p:cNvGrpSpPr/>
          <p:nvPr/>
        </p:nvGrpSpPr>
        <p:grpSpPr>
          <a:xfrm rot="1499186">
            <a:off x="868800" y="2082126"/>
            <a:ext cx="2201081" cy="1894184"/>
            <a:chOff x="724378" y="2011287"/>
            <a:chExt cx="2201100" cy="1894200"/>
          </a:xfrm>
        </p:grpSpPr>
        <p:sp>
          <p:nvSpPr>
            <p:cNvPr id="1693" name="Google Shape;1693;p133"/>
            <p:cNvSpPr/>
            <p:nvPr/>
          </p:nvSpPr>
          <p:spPr>
            <a:xfrm>
              <a:off x="724378" y="2011287"/>
              <a:ext cx="2201100" cy="18942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33"/>
            <p:cNvSpPr/>
            <p:nvPr/>
          </p:nvSpPr>
          <p:spPr>
            <a:xfrm>
              <a:off x="1062703" y="2380466"/>
              <a:ext cx="677100" cy="999600"/>
            </a:xfrm>
            <a:prstGeom prst="rtTriangl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5" name="Google Shape;1695;p133"/>
          <p:cNvGrpSpPr/>
          <p:nvPr/>
        </p:nvGrpSpPr>
        <p:grpSpPr>
          <a:xfrm rot="2852710">
            <a:off x="974052" y="2210921"/>
            <a:ext cx="2201071" cy="1894175"/>
            <a:chOff x="724378" y="2011287"/>
            <a:chExt cx="2201100" cy="1894200"/>
          </a:xfrm>
        </p:grpSpPr>
        <p:sp>
          <p:nvSpPr>
            <p:cNvPr id="1696" name="Google Shape;1696;p133"/>
            <p:cNvSpPr/>
            <p:nvPr/>
          </p:nvSpPr>
          <p:spPr>
            <a:xfrm>
              <a:off x="724378" y="2011287"/>
              <a:ext cx="2201100" cy="18942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33"/>
            <p:cNvSpPr/>
            <p:nvPr/>
          </p:nvSpPr>
          <p:spPr>
            <a:xfrm>
              <a:off x="1062703" y="2380466"/>
              <a:ext cx="677100" cy="999600"/>
            </a:xfrm>
            <a:prstGeom prst="rtTriangl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8" name="Google Shape;1698;p133"/>
          <p:cNvGrpSpPr/>
          <p:nvPr/>
        </p:nvGrpSpPr>
        <p:grpSpPr>
          <a:xfrm rot="4490030">
            <a:off x="1047480" y="2410392"/>
            <a:ext cx="2200938" cy="1894060"/>
            <a:chOff x="724378" y="2011287"/>
            <a:chExt cx="2201100" cy="1894200"/>
          </a:xfrm>
        </p:grpSpPr>
        <p:sp>
          <p:nvSpPr>
            <p:cNvPr id="1699" name="Google Shape;1699;p133"/>
            <p:cNvSpPr/>
            <p:nvPr/>
          </p:nvSpPr>
          <p:spPr>
            <a:xfrm>
              <a:off x="724378" y="2011287"/>
              <a:ext cx="2201100" cy="18942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33"/>
            <p:cNvSpPr/>
            <p:nvPr/>
          </p:nvSpPr>
          <p:spPr>
            <a:xfrm>
              <a:off x="1062703" y="2380466"/>
              <a:ext cx="677100" cy="999600"/>
            </a:xfrm>
            <a:prstGeom prst="rtTriangl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1" name="Google Shape;1701;p133"/>
          <p:cNvGrpSpPr/>
          <p:nvPr/>
        </p:nvGrpSpPr>
        <p:grpSpPr>
          <a:xfrm rot="5400000">
            <a:off x="1061876" y="2517722"/>
            <a:ext cx="2200880" cy="1894011"/>
            <a:chOff x="724378" y="2011287"/>
            <a:chExt cx="2201100" cy="1894200"/>
          </a:xfrm>
        </p:grpSpPr>
        <p:sp>
          <p:nvSpPr>
            <p:cNvPr id="1702" name="Google Shape;1702;p133"/>
            <p:cNvSpPr/>
            <p:nvPr/>
          </p:nvSpPr>
          <p:spPr>
            <a:xfrm>
              <a:off x="724378" y="2011287"/>
              <a:ext cx="2201100" cy="1894200"/>
            </a:xfrm>
            <a:prstGeom prst="rect">
              <a:avLst/>
            </a:prstGeom>
            <a:solidFill>
              <a:srgbClr val="FDF3CB">
                <a:alpha val="4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33"/>
            <p:cNvSpPr/>
            <p:nvPr/>
          </p:nvSpPr>
          <p:spPr>
            <a:xfrm>
              <a:off x="1062703" y="2380466"/>
              <a:ext cx="677100" cy="999600"/>
            </a:xfrm>
            <a:prstGeom prst="rtTriangl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04" name="Google Shape;1704;p133"/>
          <p:cNvPicPr preferRelativeResize="0"/>
          <p:nvPr/>
        </p:nvPicPr>
        <p:blipFill rotWithShape="1">
          <a:blip r:embed="rId4">
            <a:alphaModFix/>
          </a:blip>
          <a:srcRect b="52355" l="46456" r="47349" t="10323"/>
          <a:stretch/>
        </p:blipFill>
        <p:spPr>
          <a:xfrm rot="10800000">
            <a:off x="1632573" y="2761872"/>
            <a:ext cx="215465" cy="654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133"/>
          <p:cNvSpPr/>
          <p:nvPr/>
        </p:nvSpPr>
        <p:spPr>
          <a:xfrm>
            <a:off x="6582203" y="3305488"/>
            <a:ext cx="141600" cy="1416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33"/>
          <p:cNvSpPr/>
          <p:nvPr/>
        </p:nvSpPr>
        <p:spPr>
          <a:xfrm rot="5400000">
            <a:off x="1910661" y="2512408"/>
            <a:ext cx="677100" cy="10404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left(\begin{matrix}-15\\&amp;#13;&amp;#10;-7\end{matrix}\right)&quot;&gt;&lt;mrow data-mjx-texclass=&quot;INNER&quot;&gt;&lt;mo data-mjx-texclass=&quot;OPEN&quot;&gt;(&lt;/mo&gt;&lt;mtable columnspacing=&quot;1em&quot; rowspacing=&quot;4pt&quot;&gt;&lt;mtr&gt;&lt;mtd&gt;&lt;mo&gt;−&lt;/mo&gt;&lt;mn&gt;15&lt;/mn&gt;&lt;/mtd&gt;&lt;/mtr&gt;&lt;mtr&gt;&lt;mtd&gt;&lt;mo&gt;−&lt;/mo&gt;&lt;mn&gt;7&lt;/mn&gt;&lt;/mtd&gt;&lt;/mtr&gt;&lt;/mtable&gt;&lt;mo data-mjx-texclass=&quot;CLOSE&quot;&gt;)&lt;/mo&gt;&lt;/mrow&gt;&lt;/math&gt;" id="1711" name="Google Shape;1711;p134" title="the 2 by 1 column matrix negative 15 negative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374" y="1115700"/>
            <a:ext cx="449213" cy="3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134"/>
          <p:cNvPicPr preferRelativeResize="0"/>
          <p:nvPr/>
        </p:nvPicPr>
        <p:blipFill rotWithShape="1">
          <a:blip r:embed="rId4">
            <a:alphaModFix/>
          </a:blip>
          <a:srcRect b="248" l="0" r="59" t="308"/>
          <a:stretch/>
        </p:blipFill>
        <p:spPr>
          <a:xfrm>
            <a:off x="350977" y="1934027"/>
            <a:ext cx="8136646" cy="287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3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714" name="Google Shape;1714;p134"/>
          <p:cNvSpPr txBox="1"/>
          <p:nvPr/>
        </p:nvSpPr>
        <p:spPr>
          <a:xfrm>
            <a:off x="969559" y="281822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34"/>
          <p:cNvSpPr txBox="1"/>
          <p:nvPr/>
        </p:nvSpPr>
        <p:spPr>
          <a:xfrm>
            <a:off x="2011531" y="222687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34"/>
          <p:cNvSpPr txBox="1"/>
          <p:nvPr/>
        </p:nvSpPr>
        <p:spPr>
          <a:xfrm>
            <a:off x="1951827" y="3447952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134"/>
          <p:cNvSpPr txBox="1"/>
          <p:nvPr/>
        </p:nvSpPr>
        <p:spPr>
          <a:xfrm>
            <a:off x="1951827" y="4208463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34"/>
          <p:cNvSpPr txBox="1"/>
          <p:nvPr/>
        </p:nvSpPr>
        <p:spPr>
          <a:xfrm>
            <a:off x="6682635" y="3025762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34"/>
          <p:cNvSpPr txBox="1"/>
          <p:nvPr/>
        </p:nvSpPr>
        <p:spPr>
          <a:xfrm>
            <a:off x="7443147" y="2398873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134"/>
          <p:cNvSpPr txBox="1"/>
          <p:nvPr/>
        </p:nvSpPr>
        <p:spPr>
          <a:xfrm>
            <a:off x="7428932" y="4172925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134"/>
          <p:cNvSpPr txBox="1"/>
          <p:nvPr/>
        </p:nvSpPr>
        <p:spPr>
          <a:xfrm>
            <a:off x="2821792" y="184420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34"/>
          <p:cNvSpPr txBox="1"/>
          <p:nvPr/>
        </p:nvSpPr>
        <p:spPr>
          <a:xfrm>
            <a:off x="6126818" y="184420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34"/>
          <p:cNvSpPr txBox="1"/>
          <p:nvPr/>
        </p:nvSpPr>
        <p:spPr>
          <a:xfrm>
            <a:off x="6229168" y="3913927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34"/>
          <p:cNvSpPr txBox="1"/>
          <p:nvPr/>
        </p:nvSpPr>
        <p:spPr>
          <a:xfrm>
            <a:off x="6126818" y="4505278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34"/>
          <p:cNvSpPr txBox="1"/>
          <p:nvPr/>
        </p:nvSpPr>
        <p:spPr>
          <a:xfrm>
            <a:off x="2817527" y="4505278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34"/>
          <p:cNvSpPr txBox="1"/>
          <p:nvPr/>
        </p:nvSpPr>
        <p:spPr>
          <a:xfrm>
            <a:off x="2705227" y="2826468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34"/>
          <p:cNvSpPr txBox="1"/>
          <p:nvPr/>
        </p:nvSpPr>
        <p:spPr>
          <a:xfrm>
            <a:off x="652100" y="711475"/>
            <a:ext cx="24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Reflect A over PT.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34"/>
          <p:cNvSpPr txBox="1"/>
          <p:nvPr/>
        </p:nvSpPr>
        <p:spPr>
          <a:xfrm>
            <a:off x="3112475" y="711475"/>
            <a:ext cx="33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Rotate B 180° around U.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134"/>
          <p:cNvSpPr txBox="1"/>
          <p:nvPr/>
        </p:nvSpPr>
        <p:spPr>
          <a:xfrm>
            <a:off x="6457600" y="714100"/>
            <a:ext cx="226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Translate C        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6\\&amp;#13;&amp;#10;-3\end{matrix}\right)&quot;&gt;&lt;mrow data-mjx-texclass=&quot;INNER&quot;&gt;&lt;mo data-mjx-texclass=&quot;OPEN&quot;&gt;(&lt;/mo&gt;&lt;mtable columnspacing=&quot;1em&quot; rowspacing=&quot;4pt&quot;&gt;&lt;mtr&gt;&lt;mtd&gt;&lt;mn&gt;6&lt;/mn&gt;&lt;/mtd&gt;&lt;/mtr&gt;&lt;mtr&gt;&lt;mtd&gt;&lt;mo&gt;−&lt;/mo&gt;&lt;mn&gt;3&lt;/mn&gt;&lt;/mtd&gt;&lt;/mtr&gt;&lt;/mtable&gt;&lt;mo data-mjx-texclass=&quot;CLOSE&quot;&gt;)&lt;/mo&gt;&lt;/mrow&gt;&lt;/math&gt;" id="1730" name="Google Shape;1730;p134" title="the 2 by 1 column matrix 6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3015" y="760110"/>
            <a:ext cx="362982" cy="33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34"/>
          <p:cNvSpPr txBox="1"/>
          <p:nvPr/>
        </p:nvSpPr>
        <p:spPr>
          <a:xfrm>
            <a:off x="652100" y="1092475"/>
            <a:ext cx="25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Reflect D over PT.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134"/>
          <p:cNvSpPr txBox="1"/>
          <p:nvPr/>
        </p:nvSpPr>
        <p:spPr>
          <a:xfrm>
            <a:off x="3257200" y="1095100"/>
            <a:ext cx="24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Translate E         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34"/>
          <p:cNvSpPr txBox="1"/>
          <p:nvPr/>
        </p:nvSpPr>
        <p:spPr>
          <a:xfrm>
            <a:off x="674075" y="1441225"/>
            <a:ext cx="456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Rotate F 90° anticlockwise around 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34"/>
          <p:cNvSpPr txBox="1"/>
          <p:nvPr/>
        </p:nvSpPr>
        <p:spPr>
          <a:xfrm>
            <a:off x="5444200" y="1389150"/>
            <a:ext cx="25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Reflect G over QS.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34"/>
          <p:cNvSpPr txBox="1"/>
          <p:nvPr/>
        </p:nvSpPr>
        <p:spPr>
          <a:xfrm>
            <a:off x="271100" y="711475"/>
            <a:ext cx="3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" name="Google Shape;1740;p135"/>
          <p:cNvPicPr preferRelativeResize="0"/>
          <p:nvPr/>
        </p:nvPicPr>
        <p:blipFill rotWithShape="1">
          <a:blip r:embed="rId3">
            <a:alphaModFix/>
          </a:blip>
          <a:srcRect b="248" l="0" r="59" t="308"/>
          <a:stretch/>
        </p:blipFill>
        <p:spPr>
          <a:xfrm>
            <a:off x="350977" y="1934027"/>
            <a:ext cx="8136646" cy="287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35"/>
          <p:cNvPicPr preferRelativeResize="0"/>
          <p:nvPr/>
        </p:nvPicPr>
        <p:blipFill rotWithShape="1">
          <a:blip r:embed="rId4">
            <a:alphaModFix/>
          </a:blip>
          <a:srcRect b="139" l="69" r="59" t="308"/>
          <a:stretch/>
        </p:blipFill>
        <p:spPr>
          <a:xfrm>
            <a:off x="353126" y="1934027"/>
            <a:ext cx="8146675" cy="2874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3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743" name="Google Shape;1743;p135"/>
          <p:cNvSpPr txBox="1"/>
          <p:nvPr/>
        </p:nvSpPr>
        <p:spPr>
          <a:xfrm>
            <a:off x="969559" y="281822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35"/>
          <p:cNvSpPr txBox="1"/>
          <p:nvPr/>
        </p:nvSpPr>
        <p:spPr>
          <a:xfrm>
            <a:off x="2011531" y="222687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35"/>
          <p:cNvSpPr txBox="1"/>
          <p:nvPr/>
        </p:nvSpPr>
        <p:spPr>
          <a:xfrm>
            <a:off x="1951827" y="3447952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35"/>
          <p:cNvSpPr txBox="1"/>
          <p:nvPr/>
        </p:nvSpPr>
        <p:spPr>
          <a:xfrm>
            <a:off x="1951827" y="4208463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35"/>
          <p:cNvSpPr txBox="1"/>
          <p:nvPr/>
        </p:nvSpPr>
        <p:spPr>
          <a:xfrm>
            <a:off x="6682635" y="3025762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35"/>
          <p:cNvSpPr txBox="1"/>
          <p:nvPr/>
        </p:nvSpPr>
        <p:spPr>
          <a:xfrm>
            <a:off x="7443147" y="2398873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35"/>
          <p:cNvSpPr txBox="1"/>
          <p:nvPr/>
        </p:nvSpPr>
        <p:spPr>
          <a:xfrm>
            <a:off x="7428932" y="4172925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35"/>
          <p:cNvSpPr txBox="1"/>
          <p:nvPr/>
        </p:nvSpPr>
        <p:spPr>
          <a:xfrm>
            <a:off x="2821792" y="184420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35"/>
          <p:cNvSpPr txBox="1"/>
          <p:nvPr/>
        </p:nvSpPr>
        <p:spPr>
          <a:xfrm>
            <a:off x="6126818" y="1844200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35"/>
          <p:cNvSpPr txBox="1"/>
          <p:nvPr/>
        </p:nvSpPr>
        <p:spPr>
          <a:xfrm>
            <a:off x="6229168" y="3913927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135"/>
          <p:cNvSpPr txBox="1"/>
          <p:nvPr/>
        </p:nvSpPr>
        <p:spPr>
          <a:xfrm>
            <a:off x="6126818" y="4505278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135"/>
          <p:cNvSpPr txBox="1"/>
          <p:nvPr/>
        </p:nvSpPr>
        <p:spPr>
          <a:xfrm>
            <a:off x="2817527" y="4505278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35"/>
          <p:cNvSpPr txBox="1"/>
          <p:nvPr/>
        </p:nvSpPr>
        <p:spPr>
          <a:xfrm>
            <a:off x="2705227" y="2826468"/>
            <a:ext cx="36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-15\\&amp;#13;&amp;#10;-7\end{matrix}\right)&quot;&gt;&lt;mrow data-mjx-texclass=&quot;INNER&quot;&gt;&lt;mo data-mjx-texclass=&quot;OPEN&quot;&gt;(&lt;/mo&gt;&lt;mtable columnspacing=&quot;1em&quot; rowspacing=&quot;4pt&quot;&gt;&lt;mtr&gt;&lt;mtd&gt;&lt;mo&gt;−&lt;/mo&gt;&lt;mn&gt;15&lt;/mn&gt;&lt;/mtd&gt;&lt;/mtr&gt;&lt;mtr&gt;&lt;mtd&gt;&lt;mo&gt;−&lt;/mo&gt;&lt;mn&gt;7&lt;/mn&gt;&lt;/mtd&gt;&lt;/mtr&gt;&lt;/mtable&gt;&lt;mo data-mjx-texclass=&quot;CLOSE&quot;&gt;)&lt;/mo&gt;&lt;/mrow&gt;&lt;/math&gt;" id="1756" name="Google Shape;1756;p135" title="the 2 by 1 column matrix negative 15 negative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1174" y="1115700"/>
            <a:ext cx="449213" cy="3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135"/>
          <p:cNvSpPr txBox="1"/>
          <p:nvPr/>
        </p:nvSpPr>
        <p:spPr>
          <a:xfrm>
            <a:off x="652100" y="711475"/>
            <a:ext cx="24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Reflect A over PT.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35"/>
          <p:cNvSpPr txBox="1"/>
          <p:nvPr/>
        </p:nvSpPr>
        <p:spPr>
          <a:xfrm>
            <a:off x="3112475" y="711475"/>
            <a:ext cx="33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Rotate B 180° around U.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35"/>
          <p:cNvSpPr txBox="1"/>
          <p:nvPr/>
        </p:nvSpPr>
        <p:spPr>
          <a:xfrm>
            <a:off x="6457600" y="714100"/>
            <a:ext cx="226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Translate C        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135"/>
          <p:cNvSpPr txBox="1"/>
          <p:nvPr/>
        </p:nvSpPr>
        <p:spPr>
          <a:xfrm>
            <a:off x="652100" y="1092475"/>
            <a:ext cx="25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Reflect D over PT.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35"/>
          <p:cNvSpPr txBox="1"/>
          <p:nvPr/>
        </p:nvSpPr>
        <p:spPr>
          <a:xfrm>
            <a:off x="3181000" y="1095100"/>
            <a:ext cx="24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Translate E         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35"/>
          <p:cNvSpPr txBox="1"/>
          <p:nvPr/>
        </p:nvSpPr>
        <p:spPr>
          <a:xfrm>
            <a:off x="674075" y="1441225"/>
            <a:ext cx="456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Rotate F 90° anticlockwise around 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35"/>
          <p:cNvSpPr txBox="1"/>
          <p:nvPr/>
        </p:nvSpPr>
        <p:spPr>
          <a:xfrm>
            <a:off x="5444200" y="1389150"/>
            <a:ext cx="25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Reflect G over QS.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35"/>
          <p:cNvSpPr txBox="1"/>
          <p:nvPr/>
        </p:nvSpPr>
        <p:spPr>
          <a:xfrm>
            <a:off x="271100" y="711475"/>
            <a:ext cx="3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3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 with congruence</a:t>
            </a:r>
            <a:endParaRPr/>
          </a:p>
        </p:txBody>
      </p:sp>
      <p:sp>
        <p:nvSpPr>
          <p:cNvPr id="1770" name="Google Shape;1770;p13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1771" name="Google Shape;1771;p13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  <p:pic>
        <p:nvPicPr>
          <p:cNvPr id="1772" name="Google Shape;177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3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Reflection, rotation and translation always produce an image that is </a:t>
            </a:r>
            <a:r>
              <a:rPr lang="en-GB">
                <a:solidFill>
                  <a:schemeClr val="accent5"/>
                </a:solidFill>
              </a:rPr>
              <a:t>congruent</a:t>
            </a:r>
            <a:r>
              <a:rPr lang="en-GB"/>
              <a:t> to the object.</a:t>
            </a:r>
            <a:endParaRPr/>
          </a:p>
        </p:txBody>
      </p:sp>
      <p:sp>
        <p:nvSpPr>
          <p:cNvPr id="1778" name="Google Shape;1778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1779" name="Google Shape;1779;p137"/>
          <p:cNvSpPr txBox="1"/>
          <p:nvPr>
            <p:ph idx="1" type="body"/>
          </p:nvPr>
        </p:nvSpPr>
        <p:spPr>
          <a:xfrm>
            <a:off x="324000" y="1826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two shapes are congruent, their </a:t>
            </a:r>
            <a:r>
              <a:rPr lang="en-GB">
                <a:solidFill>
                  <a:schemeClr val="accent5"/>
                </a:solidFill>
              </a:rPr>
              <a:t>lengths</a:t>
            </a:r>
            <a:r>
              <a:rPr lang="en-GB"/>
              <a:t> and </a:t>
            </a:r>
            <a:r>
              <a:rPr lang="en-GB">
                <a:solidFill>
                  <a:schemeClr val="accent5"/>
                </a:solidFill>
              </a:rPr>
              <a:t>angles</a:t>
            </a:r>
            <a:r>
              <a:rPr lang="en-GB"/>
              <a:t> are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.</a:t>
            </a:r>
            <a:endParaRPr/>
          </a:p>
        </p:txBody>
      </p:sp>
      <p:sp>
        <p:nvSpPr>
          <p:cNvPr id="1780" name="Google Shape;1780;p137"/>
          <p:cNvSpPr txBox="1"/>
          <p:nvPr>
            <p:ph idx="1" type="body"/>
          </p:nvPr>
        </p:nvSpPr>
        <p:spPr>
          <a:xfrm>
            <a:off x="324000" y="2892900"/>
            <a:ext cx="8237700" cy="12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positions and orientation of the lengths and angles may differ, but they will still maintain the same </a:t>
            </a:r>
            <a:r>
              <a:rPr lang="en-GB">
                <a:solidFill>
                  <a:schemeClr val="accent5"/>
                </a:solidFill>
              </a:rPr>
              <a:t>order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38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A and B are congruent.</a:t>
            </a:r>
            <a:endParaRPr/>
          </a:p>
        </p:txBody>
      </p:sp>
      <p:sp>
        <p:nvSpPr>
          <p:cNvPr id="1786" name="Google Shape;1786;p138"/>
          <p:cNvSpPr txBox="1"/>
          <p:nvPr>
            <p:ph idx="2" type="subTitle"/>
          </p:nvPr>
        </p:nvSpPr>
        <p:spPr>
          <a:xfrm>
            <a:off x="4824000" y="810000"/>
            <a:ext cx="3982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C and D are congruent.</a:t>
            </a:r>
            <a:endParaRPr/>
          </a:p>
        </p:txBody>
      </p:sp>
      <p:sp>
        <p:nvSpPr>
          <p:cNvPr id="1787" name="Google Shape;1787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1788" name="Google Shape;1788;p138"/>
          <p:cNvSpPr txBox="1"/>
          <p:nvPr>
            <p:ph idx="1" type="subTitle"/>
          </p:nvPr>
        </p:nvSpPr>
        <p:spPr>
          <a:xfrm>
            <a:off x="337825" y="4136425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shape B with its missing lengths and angles.</a:t>
            </a:r>
            <a:endParaRPr/>
          </a:p>
        </p:txBody>
      </p:sp>
      <p:sp>
        <p:nvSpPr>
          <p:cNvPr id="1789" name="Google Shape;1789;p138"/>
          <p:cNvSpPr txBox="1"/>
          <p:nvPr>
            <p:ph idx="1" type="subTitle"/>
          </p:nvPr>
        </p:nvSpPr>
        <p:spPr>
          <a:xfrm>
            <a:off x="337825" y="3531219"/>
            <a:ext cx="41757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transformation maps A onto B?</a:t>
            </a:r>
            <a:endParaRPr/>
          </a:p>
        </p:txBody>
      </p:sp>
      <p:grpSp>
        <p:nvGrpSpPr>
          <p:cNvPr id="1790" name="Google Shape;1790;p138"/>
          <p:cNvGrpSpPr/>
          <p:nvPr/>
        </p:nvGrpSpPr>
        <p:grpSpPr>
          <a:xfrm flipH="1" rot="5400000">
            <a:off x="523355" y="1517313"/>
            <a:ext cx="1753691" cy="1503493"/>
            <a:chOff x="370955" y="1669713"/>
            <a:chExt cx="1753691" cy="1503493"/>
          </a:xfrm>
        </p:grpSpPr>
        <p:cxnSp>
          <p:nvCxnSpPr>
            <p:cNvPr id="1791" name="Google Shape;1791;p138"/>
            <p:cNvCxnSpPr/>
            <p:nvPr/>
          </p:nvCxnSpPr>
          <p:spPr>
            <a:xfrm>
              <a:off x="495373" y="1873525"/>
              <a:ext cx="0" cy="120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92" name="Google Shape;1792;p138"/>
            <p:cNvCxnSpPr/>
            <p:nvPr/>
          </p:nvCxnSpPr>
          <p:spPr>
            <a:xfrm rot="10800000">
              <a:off x="600983" y="3173206"/>
              <a:ext cx="1380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93" name="Google Shape;1793;p138"/>
            <p:cNvCxnSpPr/>
            <p:nvPr/>
          </p:nvCxnSpPr>
          <p:spPr>
            <a:xfrm rot="10800000">
              <a:off x="650673" y="1764944"/>
              <a:ext cx="1411200" cy="74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94" name="Google Shape;1794;p138"/>
            <p:cNvCxnSpPr/>
            <p:nvPr/>
          </p:nvCxnSpPr>
          <p:spPr>
            <a:xfrm rot="10800000">
              <a:off x="2101435" y="2576975"/>
              <a:ext cx="0" cy="505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95" name="Google Shape;1795;p138"/>
            <p:cNvSpPr/>
            <p:nvPr/>
          </p:nvSpPr>
          <p:spPr>
            <a:xfrm>
              <a:off x="586225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6" name="Google Shape;1796;p138"/>
            <p:cNvSpPr/>
            <p:nvPr/>
          </p:nvSpPr>
          <p:spPr>
            <a:xfrm>
              <a:off x="1842060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7" name="Google Shape;1797;p138"/>
            <p:cNvSpPr/>
            <p:nvPr/>
          </p:nvSpPr>
          <p:spPr>
            <a:xfrm>
              <a:off x="370955" y="1669713"/>
              <a:ext cx="431700" cy="431700"/>
            </a:xfrm>
            <a:prstGeom prst="arc">
              <a:avLst>
                <a:gd fmla="val 1539927" name="adj1"/>
                <a:gd fmla="val 533101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8" name="Google Shape;1798;p138"/>
            <p:cNvSpPr/>
            <p:nvPr/>
          </p:nvSpPr>
          <p:spPr>
            <a:xfrm>
              <a:off x="1842046" y="2459398"/>
              <a:ext cx="282600" cy="282600"/>
            </a:xfrm>
            <a:prstGeom prst="arc">
              <a:avLst>
                <a:gd fmla="val 5257006" name="adj1"/>
                <a:gd fmla="val 1249300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9" name="Google Shape;1799;p138"/>
            <p:cNvSpPr/>
            <p:nvPr/>
          </p:nvSpPr>
          <p:spPr>
            <a:xfrm>
              <a:off x="589175" y="1858850"/>
              <a:ext cx="1413248" cy="1216257"/>
            </a:xfrm>
            <a:custGeom>
              <a:rect b="b" l="l" r="r" t="t"/>
              <a:pathLst>
                <a:path extrusionOk="0" h="83234" w="96715">
                  <a:moveTo>
                    <a:pt x="0" y="0"/>
                  </a:moveTo>
                  <a:lnTo>
                    <a:pt x="0" y="83234"/>
                  </a:lnTo>
                  <a:lnTo>
                    <a:pt x="96715" y="83234"/>
                  </a:lnTo>
                  <a:lnTo>
                    <a:pt x="96715" y="50703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00" name="Google Shape;1800;p138"/>
          <p:cNvGrpSpPr/>
          <p:nvPr/>
        </p:nvGrpSpPr>
        <p:grpSpPr>
          <a:xfrm flipH="1" rot="5400000">
            <a:off x="2580755" y="1517313"/>
            <a:ext cx="1753691" cy="1503493"/>
            <a:chOff x="370955" y="1669713"/>
            <a:chExt cx="1753691" cy="1503493"/>
          </a:xfrm>
        </p:grpSpPr>
        <p:cxnSp>
          <p:nvCxnSpPr>
            <p:cNvPr id="1801" name="Google Shape;1801;p138"/>
            <p:cNvCxnSpPr/>
            <p:nvPr/>
          </p:nvCxnSpPr>
          <p:spPr>
            <a:xfrm>
              <a:off x="495373" y="1873525"/>
              <a:ext cx="0" cy="120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02" name="Google Shape;1802;p138"/>
            <p:cNvCxnSpPr/>
            <p:nvPr/>
          </p:nvCxnSpPr>
          <p:spPr>
            <a:xfrm rot="10800000">
              <a:off x="600983" y="3173206"/>
              <a:ext cx="1380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03" name="Google Shape;1803;p138"/>
            <p:cNvCxnSpPr/>
            <p:nvPr/>
          </p:nvCxnSpPr>
          <p:spPr>
            <a:xfrm rot="10800000">
              <a:off x="650673" y="1764944"/>
              <a:ext cx="1411200" cy="74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04" name="Google Shape;1804;p138"/>
            <p:cNvCxnSpPr/>
            <p:nvPr/>
          </p:nvCxnSpPr>
          <p:spPr>
            <a:xfrm rot="10800000">
              <a:off x="2101435" y="2576975"/>
              <a:ext cx="0" cy="505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05" name="Google Shape;1805;p138"/>
            <p:cNvSpPr/>
            <p:nvPr/>
          </p:nvSpPr>
          <p:spPr>
            <a:xfrm>
              <a:off x="586225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6" name="Google Shape;1806;p138"/>
            <p:cNvSpPr/>
            <p:nvPr/>
          </p:nvSpPr>
          <p:spPr>
            <a:xfrm>
              <a:off x="1842060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7" name="Google Shape;1807;p138"/>
            <p:cNvSpPr/>
            <p:nvPr/>
          </p:nvSpPr>
          <p:spPr>
            <a:xfrm>
              <a:off x="370955" y="1669713"/>
              <a:ext cx="431700" cy="431700"/>
            </a:xfrm>
            <a:prstGeom prst="arc">
              <a:avLst>
                <a:gd fmla="val 1539927" name="adj1"/>
                <a:gd fmla="val 533101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8" name="Google Shape;1808;p138"/>
            <p:cNvSpPr/>
            <p:nvPr/>
          </p:nvSpPr>
          <p:spPr>
            <a:xfrm>
              <a:off x="1842046" y="2459398"/>
              <a:ext cx="282600" cy="282600"/>
            </a:xfrm>
            <a:prstGeom prst="arc">
              <a:avLst>
                <a:gd fmla="val 5257006" name="adj1"/>
                <a:gd fmla="val 1249300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9" name="Google Shape;1809;p138"/>
            <p:cNvSpPr/>
            <p:nvPr/>
          </p:nvSpPr>
          <p:spPr>
            <a:xfrm>
              <a:off x="589175" y="1858850"/>
              <a:ext cx="1413248" cy="1216257"/>
            </a:xfrm>
            <a:custGeom>
              <a:rect b="b" l="l" r="r" t="t"/>
              <a:pathLst>
                <a:path extrusionOk="0" h="83234" w="96715">
                  <a:moveTo>
                    <a:pt x="0" y="0"/>
                  </a:moveTo>
                  <a:lnTo>
                    <a:pt x="0" y="83234"/>
                  </a:lnTo>
                  <a:lnTo>
                    <a:pt x="96715" y="83234"/>
                  </a:lnTo>
                  <a:lnTo>
                    <a:pt x="96715" y="50703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810" name="Google Shape;1810;p138"/>
          <p:cNvSpPr txBox="1"/>
          <p:nvPr>
            <p:ph idx="1" type="subTitle"/>
          </p:nvPr>
        </p:nvSpPr>
        <p:spPr>
          <a:xfrm>
            <a:off x="414025" y="21200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811" name="Google Shape;1811;p138"/>
          <p:cNvSpPr txBox="1"/>
          <p:nvPr>
            <p:ph idx="1" type="subTitle"/>
          </p:nvPr>
        </p:nvSpPr>
        <p:spPr>
          <a:xfrm>
            <a:off x="1252225" y="3034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812" name="Google Shape;1812;p138"/>
          <p:cNvSpPr txBox="1"/>
          <p:nvPr>
            <p:ph idx="1" type="subTitle"/>
          </p:nvPr>
        </p:nvSpPr>
        <p:spPr>
          <a:xfrm>
            <a:off x="1709425" y="19676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</a:t>
            </a:r>
            <a:endParaRPr sz="1600"/>
          </a:p>
        </p:txBody>
      </p:sp>
      <p:sp>
        <p:nvSpPr>
          <p:cNvPr id="1813" name="Google Shape;1813;p138"/>
          <p:cNvSpPr txBox="1"/>
          <p:nvPr>
            <p:ph idx="1" type="subTitle"/>
          </p:nvPr>
        </p:nvSpPr>
        <p:spPr>
          <a:xfrm>
            <a:off x="947425" y="1129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14" name="Google Shape;1814;p138"/>
          <p:cNvSpPr txBox="1"/>
          <p:nvPr>
            <p:ph idx="1" type="subTitle"/>
          </p:nvPr>
        </p:nvSpPr>
        <p:spPr>
          <a:xfrm>
            <a:off x="926912" y="1686892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118°</a:t>
            </a:r>
            <a:endParaRPr sz="1600"/>
          </a:p>
        </p:txBody>
      </p:sp>
      <p:sp>
        <p:nvSpPr>
          <p:cNvPr id="1815" name="Google Shape;1815;p138"/>
          <p:cNvSpPr txBox="1"/>
          <p:nvPr>
            <p:ph idx="1" type="subTitle"/>
          </p:nvPr>
        </p:nvSpPr>
        <p:spPr>
          <a:xfrm>
            <a:off x="1435400" y="2623273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62°</a:t>
            </a:r>
            <a:endParaRPr sz="1600"/>
          </a:p>
        </p:txBody>
      </p:sp>
      <p:sp>
        <p:nvSpPr>
          <p:cNvPr id="1816" name="Google Shape;1816;p138"/>
          <p:cNvSpPr txBox="1"/>
          <p:nvPr>
            <p:ph idx="1" type="subTitle"/>
          </p:nvPr>
        </p:nvSpPr>
        <p:spPr>
          <a:xfrm>
            <a:off x="2471425" y="21200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7" name="Google Shape;1817;p138"/>
          <p:cNvSpPr txBox="1"/>
          <p:nvPr>
            <p:ph idx="1" type="subTitle"/>
          </p:nvPr>
        </p:nvSpPr>
        <p:spPr>
          <a:xfrm>
            <a:off x="3309625" y="3034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8" name="Google Shape;1818;p138"/>
          <p:cNvSpPr txBox="1"/>
          <p:nvPr>
            <p:ph idx="1" type="subTitle"/>
          </p:nvPr>
        </p:nvSpPr>
        <p:spPr>
          <a:xfrm>
            <a:off x="3766825" y="19676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9" name="Google Shape;1819;p138"/>
          <p:cNvSpPr txBox="1"/>
          <p:nvPr>
            <p:ph idx="1" type="subTitle"/>
          </p:nvPr>
        </p:nvSpPr>
        <p:spPr>
          <a:xfrm>
            <a:off x="3004825" y="1129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0" name="Google Shape;1820;p138"/>
          <p:cNvSpPr txBox="1"/>
          <p:nvPr>
            <p:ph idx="1" type="subTitle"/>
          </p:nvPr>
        </p:nvSpPr>
        <p:spPr>
          <a:xfrm>
            <a:off x="2984312" y="1686892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118°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1" name="Google Shape;1821;p138"/>
          <p:cNvSpPr txBox="1"/>
          <p:nvPr>
            <p:ph idx="1" type="subTitle"/>
          </p:nvPr>
        </p:nvSpPr>
        <p:spPr>
          <a:xfrm>
            <a:off x="3492800" y="2623273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62°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2" name="Google Shape;1822;p138"/>
          <p:cNvSpPr txBox="1"/>
          <p:nvPr>
            <p:ph idx="1" type="subTitle"/>
          </p:nvPr>
        </p:nvSpPr>
        <p:spPr>
          <a:xfrm>
            <a:off x="337825" y="3825758"/>
            <a:ext cx="1318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translation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3" name="Google Shape;1823;p138"/>
          <p:cNvSpPr txBox="1"/>
          <p:nvPr>
            <p:ph idx="1" type="subTitle"/>
          </p:nvPr>
        </p:nvSpPr>
        <p:spPr>
          <a:xfrm>
            <a:off x="1099825" y="2174274"/>
            <a:ext cx="217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824" name="Google Shape;1824;p138"/>
          <p:cNvSpPr txBox="1"/>
          <p:nvPr>
            <p:ph idx="1" type="subTitle"/>
          </p:nvPr>
        </p:nvSpPr>
        <p:spPr>
          <a:xfrm>
            <a:off x="3103006" y="2174274"/>
            <a:ext cx="217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cxnSp>
        <p:nvCxnSpPr>
          <p:cNvPr id="1825" name="Google Shape;1825;p138"/>
          <p:cNvCxnSpPr/>
          <p:nvPr/>
        </p:nvCxnSpPr>
        <p:spPr>
          <a:xfrm rot="10800000">
            <a:off x="5785778" y="2084043"/>
            <a:ext cx="1817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6" name="Google Shape;1826;p138"/>
          <p:cNvSpPr/>
          <p:nvPr/>
        </p:nvSpPr>
        <p:spPr>
          <a:xfrm flipH="1" rot="5400000">
            <a:off x="7464448" y="1834453"/>
            <a:ext cx="147300" cy="14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38"/>
          <p:cNvSpPr/>
          <p:nvPr/>
        </p:nvSpPr>
        <p:spPr>
          <a:xfrm flipH="1" rot="5400000">
            <a:off x="7445022" y="1188574"/>
            <a:ext cx="217800" cy="217800"/>
          </a:xfrm>
          <a:prstGeom prst="arc">
            <a:avLst>
              <a:gd fmla="val 5257006" name="adj1"/>
              <a:gd fmla="val 1249300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8" name="Google Shape;1828;p138"/>
          <p:cNvCxnSpPr/>
          <p:nvPr/>
        </p:nvCxnSpPr>
        <p:spPr>
          <a:xfrm>
            <a:off x="7700302" y="1207083"/>
            <a:ext cx="0" cy="79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9" name="Google Shape;1829;p138"/>
          <p:cNvSpPr/>
          <p:nvPr/>
        </p:nvSpPr>
        <p:spPr>
          <a:xfrm flipH="1" rot="5400000">
            <a:off x="5439358" y="1611272"/>
            <a:ext cx="726900" cy="726900"/>
          </a:xfrm>
          <a:prstGeom prst="arc">
            <a:avLst>
              <a:gd fmla="val 16133616" name="adj1"/>
              <a:gd fmla="val 1738493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0" name="Google Shape;1830;p138"/>
          <p:cNvCxnSpPr/>
          <p:nvPr/>
        </p:nvCxnSpPr>
        <p:spPr>
          <a:xfrm flipH="1">
            <a:off x="5733373" y="1139436"/>
            <a:ext cx="1805400" cy="773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1" name="Google Shape;1831;p138"/>
          <p:cNvSpPr/>
          <p:nvPr/>
        </p:nvSpPr>
        <p:spPr>
          <a:xfrm rot="-5400000">
            <a:off x="6322117" y="701583"/>
            <a:ext cx="773700" cy="1805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2" name="Google Shape;1832;p138"/>
          <p:cNvCxnSpPr/>
          <p:nvPr/>
        </p:nvCxnSpPr>
        <p:spPr>
          <a:xfrm rot="10800000">
            <a:off x="5785778" y="3251492"/>
            <a:ext cx="1817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3" name="Google Shape;1833;p138"/>
          <p:cNvSpPr/>
          <p:nvPr/>
        </p:nvSpPr>
        <p:spPr>
          <a:xfrm flipH="1" rot="5400000">
            <a:off x="7464448" y="3001901"/>
            <a:ext cx="147300" cy="14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38"/>
          <p:cNvSpPr/>
          <p:nvPr/>
        </p:nvSpPr>
        <p:spPr>
          <a:xfrm flipH="1" rot="5400000">
            <a:off x="7445022" y="2356023"/>
            <a:ext cx="217800" cy="217800"/>
          </a:xfrm>
          <a:prstGeom prst="arc">
            <a:avLst>
              <a:gd fmla="val 5257006" name="adj1"/>
              <a:gd fmla="val 1249300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5" name="Google Shape;1835;p138"/>
          <p:cNvCxnSpPr/>
          <p:nvPr/>
        </p:nvCxnSpPr>
        <p:spPr>
          <a:xfrm>
            <a:off x="7700302" y="2374532"/>
            <a:ext cx="0" cy="79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6" name="Google Shape;1836;p138"/>
          <p:cNvSpPr/>
          <p:nvPr/>
        </p:nvSpPr>
        <p:spPr>
          <a:xfrm flipH="1" rot="5400000">
            <a:off x="5439358" y="2778721"/>
            <a:ext cx="726900" cy="726900"/>
          </a:xfrm>
          <a:prstGeom prst="arc">
            <a:avLst>
              <a:gd fmla="val 16133616" name="adj1"/>
              <a:gd fmla="val 1738493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7" name="Google Shape;1837;p138"/>
          <p:cNvCxnSpPr/>
          <p:nvPr/>
        </p:nvCxnSpPr>
        <p:spPr>
          <a:xfrm flipH="1">
            <a:off x="5733373" y="2306885"/>
            <a:ext cx="1805400" cy="773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8" name="Google Shape;1838;p138"/>
          <p:cNvSpPr/>
          <p:nvPr/>
        </p:nvSpPr>
        <p:spPr>
          <a:xfrm rot="-5400000">
            <a:off x="6322117" y="1869032"/>
            <a:ext cx="773700" cy="1805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38"/>
          <p:cNvSpPr txBox="1"/>
          <p:nvPr>
            <p:ph idx="1" type="subTitle"/>
          </p:nvPr>
        </p:nvSpPr>
        <p:spPr>
          <a:xfrm>
            <a:off x="6908987" y="1602647"/>
            <a:ext cx="2082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840" name="Google Shape;1840;p138"/>
          <p:cNvSpPr txBox="1"/>
          <p:nvPr>
            <p:ph idx="1" type="subTitle"/>
          </p:nvPr>
        </p:nvSpPr>
        <p:spPr>
          <a:xfrm>
            <a:off x="6951699" y="2778833"/>
            <a:ext cx="2082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841" name="Google Shape;1841;p138"/>
          <p:cNvSpPr txBox="1"/>
          <p:nvPr>
            <p:ph idx="1" type="subTitle"/>
          </p:nvPr>
        </p:nvSpPr>
        <p:spPr>
          <a:xfrm>
            <a:off x="7261194" y="1397415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67°</a:t>
            </a:r>
            <a:endParaRPr sz="1600"/>
          </a:p>
        </p:txBody>
      </p:sp>
      <p:sp>
        <p:nvSpPr>
          <p:cNvPr id="1842" name="Google Shape;1842;p138"/>
          <p:cNvSpPr txBox="1"/>
          <p:nvPr>
            <p:ph idx="1" type="subTitle"/>
          </p:nvPr>
        </p:nvSpPr>
        <p:spPr>
          <a:xfrm>
            <a:off x="6246689" y="1761621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23°</a:t>
            </a:r>
            <a:endParaRPr sz="1600"/>
          </a:p>
        </p:txBody>
      </p:sp>
      <p:sp>
        <p:nvSpPr>
          <p:cNvPr id="1843" name="Google Shape;1843;p138"/>
          <p:cNvSpPr txBox="1"/>
          <p:nvPr>
            <p:ph idx="1" type="subTitle"/>
          </p:nvPr>
        </p:nvSpPr>
        <p:spPr>
          <a:xfrm>
            <a:off x="7261194" y="2564864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67°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4" name="Google Shape;1844;p138"/>
          <p:cNvSpPr txBox="1"/>
          <p:nvPr>
            <p:ph idx="1" type="subTitle"/>
          </p:nvPr>
        </p:nvSpPr>
        <p:spPr>
          <a:xfrm>
            <a:off x="6246689" y="2907089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23°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5" name="Google Shape;1845;p138"/>
          <p:cNvSpPr txBox="1"/>
          <p:nvPr>
            <p:ph idx="1" type="subTitle"/>
          </p:nvPr>
        </p:nvSpPr>
        <p:spPr>
          <a:xfrm>
            <a:off x="6439521" y="1322473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846" name="Google Shape;1846;p138"/>
          <p:cNvSpPr txBox="1"/>
          <p:nvPr>
            <p:ph idx="1" type="subTitle"/>
          </p:nvPr>
        </p:nvSpPr>
        <p:spPr>
          <a:xfrm>
            <a:off x="6439521" y="2489921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7" name="Google Shape;1847;p138"/>
          <p:cNvSpPr txBox="1"/>
          <p:nvPr>
            <p:ph idx="1" type="subTitle"/>
          </p:nvPr>
        </p:nvSpPr>
        <p:spPr>
          <a:xfrm>
            <a:off x="6703320" y="2073176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848" name="Google Shape;1848;p138"/>
          <p:cNvSpPr txBox="1"/>
          <p:nvPr>
            <p:ph idx="1" type="subTitle"/>
          </p:nvPr>
        </p:nvSpPr>
        <p:spPr>
          <a:xfrm>
            <a:off x="6703320" y="3240625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9" name="Google Shape;1849;p138"/>
          <p:cNvSpPr txBox="1"/>
          <p:nvPr>
            <p:ph idx="1" type="subTitle"/>
          </p:nvPr>
        </p:nvSpPr>
        <p:spPr>
          <a:xfrm>
            <a:off x="7745889" y="1485242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50" name="Google Shape;1850;p138"/>
          <p:cNvSpPr txBox="1"/>
          <p:nvPr>
            <p:ph idx="1" type="subTitle"/>
          </p:nvPr>
        </p:nvSpPr>
        <p:spPr>
          <a:xfrm>
            <a:off x="7745889" y="2652691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38"/>
          <p:cNvSpPr txBox="1"/>
          <p:nvPr>
            <p:ph idx="1" type="subTitle"/>
          </p:nvPr>
        </p:nvSpPr>
        <p:spPr>
          <a:xfrm>
            <a:off x="4681225" y="4136425"/>
            <a:ext cx="3972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shape D with its missing lengths and angles.</a:t>
            </a:r>
            <a:endParaRPr/>
          </a:p>
        </p:txBody>
      </p:sp>
      <p:sp>
        <p:nvSpPr>
          <p:cNvPr id="1852" name="Google Shape;1852;p138"/>
          <p:cNvSpPr txBox="1"/>
          <p:nvPr>
            <p:ph idx="1" type="subTitle"/>
          </p:nvPr>
        </p:nvSpPr>
        <p:spPr>
          <a:xfrm>
            <a:off x="4689500" y="3531225"/>
            <a:ext cx="41166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transformation maps C onto D?</a:t>
            </a:r>
            <a:endParaRPr/>
          </a:p>
        </p:txBody>
      </p:sp>
      <p:sp>
        <p:nvSpPr>
          <p:cNvPr id="1853" name="Google Shape;1853;p138"/>
          <p:cNvSpPr txBox="1"/>
          <p:nvPr>
            <p:ph idx="1" type="subTitle"/>
          </p:nvPr>
        </p:nvSpPr>
        <p:spPr>
          <a:xfrm>
            <a:off x="5115300" y="3825758"/>
            <a:ext cx="1318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translation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139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A and B are congruent.</a:t>
            </a:r>
            <a:endParaRPr/>
          </a:p>
        </p:txBody>
      </p:sp>
      <p:sp>
        <p:nvSpPr>
          <p:cNvPr id="1859" name="Google Shape;1859;p139"/>
          <p:cNvSpPr txBox="1"/>
          <p:nvPr>
            <p:ph idx="2" type="subTitle"/>
          </p:nvPr>
        </p:nvSpPr>
        <p:spPr>
          <a:xfrm>
            <a:off x="4824000" y="810000"/>
            <a:ext cx="3982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C and D are congruent.</a:t>
            </a:r>
            <a:endParaRPr/>
          </a:p>
        </p:txBody>
      </p:sp>
      <p:sp>
        <p:nvSpPr>
          <p:cNvPr id="1860" name="Google Shape;1860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1861" name="Google Shape;1861;p139"/>
          <p:cNvSpPr txBox="1"/>
          <p:nvPr>
            <p:ph idx="1" type="subTitle"/>
          </p:nvPr>
        </p:nvSpPr>
        <p:spPr>
          <a:xfrm>
            <a:off x="337825" y="4136425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shape B with its missing lengths and angles.</a:t>
            </a:r>
            <a:endParaRPr/>
          </a:p>
        </p:txBody>
      </p:sp>
      <p:sp>
        <p:nvSpPr>
          <p:cNvPr id="1862" name="Google Shape;1862;p139"/>
          <p:cNvSpPr txBox="1"/>
          <p:nvPr>
            <p:ph idx="1" type="subTitle"/>
          </p:nvPr>
        </p:nvSpPr>
        <p:spPr>
          <a:xfrm>
            <a:off x="337825" y="3531219"/>
            <a:ext cx="41757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transformation maps A onto B?</a:t>
            </a:r>
            <a:endParaRPr/>
          </a:p>
        </p:txBody>
      </p:sp>
      <p:grpSp>
        <p:nvGrpSpPr>
          <p:cNvPr id="1863" name="Google Shape;1863;p139"/>
          <p:cNvGrpSpPr/>
          <p:nvPr/>
        </p:nvGrpSpPr>
        <p:grpSpPr>
          <a:xfrm flipH="1" rot="5400000">
            <a:off x="523355" y="1517313"/>
            <a:ext cx="1753691" cy="1503493"/>
            <a:chOff x="370955" y="1669713"/>
            <a:chExt cx="1753691" cy="1503493"/>
          </a:xfrm>
        </p:grpSpPr>
        <p:cxnSp>
          <p:nvCxnSpPr>
            <p:cNvPr id="1864" name="Google Shape;1864;p139"/>
            <p:cNvCxnSpPr/>
            <p:nvPr/>
          </p:nvCxnSpPr>
          <p:spPr>
            <a:xfrm>
              <a:off x="495373" y="1873525"/>
              <a:ext cx="0" cy="120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65" name="Google Shape;1865;p139"/>
            <p:cNvCxnSpPr/>
            <p:nvPr/>
          </p:nvCxnSpPr>
          <p:spPr>
            <a:xfrm rot="10800000">
              <a:off x="600983" y="3173206"/>
              <a:ext cx="1380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66" name="Google Shape;1866;p139"/>
            <p:cNvCxnSpPr/>
            <p:nvPr/>
          </p:nvCxnSpPr>
          <p:spPr>
            <a:xfrm rot="10800000">
              <a:off x="650673" y="1764944"/>
              <a:ext cx="1411200" cy="74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67" name="Google Shape;1867;p139"/>
            <p:cNvCxnSpPr/>
            <p:nvPr/>
          </p:nvCxnSpPr>
          <p:spPr>
            <a:xfrm rot="10800000">
              <a:off x="2101435" y="2576975"/>
              <a:ext cx="0" cy="505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68" name="Google Shape;1868;p139"/>
            <p:cNvSpPr/>
            <p:nvPr/>
          </p:nvSpPr>
          <p:spPr>
            <a:xfrm>
              <a:off x="586225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9" name="Google Shape;1869;p139"/>
            <p:cNvSpPr/>
            <p:nvPr/>
          </p:nvSpPr>
          <p:spPr>
            <a:xfrm>
              <a:off x="1842060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0" name="Google Shape;1870;p139"/>
            <p:cNvSpPr/>
            <p:nvPr/>
          </p:nvSpPr>
          <p:spPr>
            <a:xfrm>
              <a:off x="370955" y="1669713"/>
              <a:ext cx="431700" cy="431700"/>
            </a:xfrm>
            <a:prstGeom prst="arc">
              <a:avLst>
                <a:gd fmla="val 1539927" name="adj1"/>
                <a:gd fmla="val 533101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1" name="Google Shape;1871;p139"/>
            <p:cNvSpPr/>
            <p:nvPr/>
          </p:nvSpPr>
          <p:spPr>
            <a:xfrm>
              <a:off x="1842046" y="2459398"/>
              <a:ext cx="282600" cy="282600"/>
            </a:xfrm>
            <a:prstGeom prst="arc">
              <a:avLst>
                <a:gd fmla="val 5257006" name="adj1"/>
                <a:gd fmla="val 1249300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2" name="Google Shape;1872;p139"/>
            <p:cNvSpPr/>
            <p:nvPr/>
          </p:nvSpPr>
          <p:spPr>
            <a:xfrm>
              <a:off x="589175" y="1858850"/>
              <a:ext cx="1413248" cy="1216257"/>
            </a:xfrm>
            <a:custGeom>
              <a:rect b="b" l="l" r="r" t="t"/>
              <a:pathLst>
                <a:path extrusionOk="0" h="83234" w="96715">
                  <a:moveTo>
                    <a:pt x="0" y="0"/>
                  </a:moveTo>
                  <a:lnTo>
                    <a:pt x="0" y="83234"/>
                  </a:lnTo>
                  <a:lnTo>
                    <a:pt x="96715" y="83234"/>
                  </a:lnTo>
                  <a:lnTo>
                    <a:pt x="96715" y="50703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73" name="Google Shape;1873;p139"/>
          <p:cNvGrpSpPr/>
          <p:nvPr/>
        </p:nvGrpSpPr>
        <p:grpSpPr>
          <a:xfrm rot="-5400000">
            <a:off x="2346326" y="1517313"/>
            <a:ext cx="1753691" cy="1503493"/>
            <a:chOff x="370955" y="1669713"/>
            <a:chExt cx="1753691" cy="1503493"/>
          </a:xfrm>
        </p:grpSpPr>
        <p:cxnSp>
          <p:nvCxnSpPr>
            <p:cNvPr id="1874" name="Google Shape;1874;p139"/>
            <p:cNvCxnSpPr/>
            <p:nvPr/>
          </p:nvCxnSpPr>
          <p:spPr>
            <a:xfrm>
              <a:off x="495373" y="1873525"/>
              <a:ext cx="0" cy="120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5" name="Google Shape;1875;p139"/>
            <p:cNvCxnSpPr/>
            <p:nvPr/>
          </p:nvCxnSpPr>
          <p:spPr>
            <a:xfrm rot="10800000">
              <a:off x="600983" y="3173206"/>
              <a:ext cx="1380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6" name="Google Shape;1876;p139"/>
            <p:cNvCxnSpPr/>
            <p:nvPr/>
          </p:nvCxnSpPr>
          <p:spPr>
            <a:xfrm rot="10800000">
              <a:off x="650673" y="1764944"/>
              <a:ext cx="1411200" cy="74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7" name="Google Shape;1877;p139"/>
            <p:cNvCxnSpPr/>
            <p:nvPr/>
          </p:nvCxnSpPr>
          <p:spPr>
            <a:xfrm rot="10800000">
              <a:off x="2101435" y="2576975"/>
              <a:ext cx="0" cy="505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78" name="Google Shape;1878;p139"/>
            <p:cNvSpPr/>
            <p:nvPr/>
          </p:nvSpPr>
          <p:spPr>
            <a:xfrm>
              <a:off x="586225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9" name="Google Shape;1879;p139"/>
            <p:cNvSpPr/>
            <p:nvPr/>
          </p:nvSpPr>
          <p:spPr>
            <a:xfrm>
              <a:off x="1842060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0" name="Google Shape;1880;p139"/>
            <p:cNvSpPr/>
            <p:nvPr/>
          </p:nvSpPr>
          <p:spPr>
            <a:xfrm>
              <a:off x="370955" y="1669713"/>
              <a:ext cx="431700" cy="431700"/>
            </a:xfrm>
            <a:prstGeom prst="arc">
              <a:avLst>
                <a:gd fmla="val 1539927" name="adj1"/>
                <a:gd fmla="val 533101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1" name="Google Shape;1881;p139"/>
            <p:cNvSpPr/>
            <p:nvPr/>
          </p:nvSpPr>
          <p:spPr>
            <a:xfrm>
              <a:off x="1842046" y="2459398"/>
              <a:ext cx="282600" cy="282600"/>
            </a:xfrm>
            <a:prstGeom prst="arc">
              <a:avLst>
                <a:gd fmla="val 5257006" name="adj1"/>
                <a:gd fmla="val 1249300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2" name="Google Shape;1882;p139"/>
            <p:cNvSpPr/>
            <p:nvPr/>
          </p:nvSpPr>
          <p:spPr>
            <a:xfrm>
              <a:off x="589175" y="1858850"/>
              <a:ext cx="1413248" cy="1216257"/>
            </a:xfrm>
            <a:custGeom>
              <a:rect b="b" l="l" r="r" t="t"/>
              <a:pathLst>
                <a:path extrusionOk="0" h="83234" w="96715">
                  <a:moveTo>
                    <a:pt x="0" y="0"/>
                  </a:moveTo>
                  <a:lnTo>
                    <a:pt x="0" y="83234"/>
                  </a:lnTo>
                  <a:lnTo>
                    <a:pt x="96715" y="83234"/>
                  </a:lnTo>
                  <a:lnTo>
                    <a:pt x="96715" y="50703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883" name="Google Shape;1883;p139"/>
          <p:cNvSpPr txBox="1"/>
          <p:nvPr>
            <p:ph idx="1" type="subTitle"/>
          </p:nvPr>
        </p:nvSpPr>
        <p:spPr>
          <a:xfrm>
            <a:off x="414025" y="21200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884" name="Google Shape;1884;p139"/>
          <p:cNvSpPr txBox="1"/>
          <p:nvPr>
            <p:ph idx="1" type="subTitle"/>
          </p:nvPr>
        </p:nvSpPr>
        <p:spPr>
          <a:xfrm>
            <a:off x="1252225" y="3034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885" name="Google Shape;1885;p139"/>
          <p:cNvSpPr txBox="1"/>
          <p:nvPr>
            <p:ph idx="1" type="subTitle"/>
          </p:nvPr>
        </p:nvSpPr>
        <p:spPr>
          <a:xfrm>
            <a:off x="1709425" y="19676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</a:t>
            </a:r>
            <a:endParaRPr sz="1600"/>
          </a:p>
        </p:txBody>
      </p:sp>
      <p:sp>
        <p:nvSpPr>
          <p:cNvPr id="1886" name="Google Shape;1886;p139"/>
          <p:cNvSpPr txBox="1"/>
          <p:nvPr>
            <p:ph idx="1" type="subTitle"/>
          </p:nvPr>
        </p:nvSpPr>
        <p:spPr>
          <a:xfrm>
            <a:off x="947425" y="1129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87" name="Google Shape;1887;p139"/>
          <p:cNvSpPr txBox="1"/>
          <p:nvPr>
            <p:ph idx="1" type="subTitle"/>
          </p:nvPr>
        </p:nvSpPr>
        <p:spPr>
          <a:xfrm>
            <a:off x="926912" y="1686892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118°</a:t>
            </a:r>
            <a:endParaRPr sz="1600"/>
          </a:p>
        </p:txBody>
      </p:sp>
      <p:sp>
        <p:nvSpPr>
          <p:cNvPr id="1888" name="Google Shape;1888;p139"/>
          <p:cNvSpPr txBox="1"/>
          <p:nvPr>
            <p:ph idx="1" type="subTitle"/>
          </p:nvPr>
        </p:nvSpPr>
        <p:spPr>
          <a:xfrm>
            <a:off x="1435400" y="2623273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62°</a:t>
            </a:r>
            <a:endParaRPr sz="1600"/>
          </a:p>
        </p:txBody>
      </p:sp>
      <p:sp>
        <p:nvSpPr>
          <p:cNvPr id="1889" name="Google Shape;1889;p139"/>
          <p:cNvSpPr txBox="1"/>
          <p:nvPr>
            <p:ph idx="1" type="subTitle"/>
          </p:nvPr>
        </p:nvSpPr>
        <p:spPr>
          <a:xfrm flipH="1">
            <a:off x="3991847" y="21200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0" name="Google Shape;1890;p139"/>
          <p:cNvSpPr txBox="1"/>
          <p:nvPr>
            <p:ph idx="1" type="subTitle"/>
          </p:nvPr>
        </p:nvSpPr>
        <p:spPr>
          <a:xfrm flipH="1">
            <a:off x="3153647" y="3034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1" name="Google Shape;1891;p139"/>
          <p:cNvSpPr txBox="1"/>
          <p:nvPr>
            <p:ph idx="1" type="subTitle"/>
          </p:nvPr>
        </p:nvSpPr>
        <p:spPr>
          <a:xfrm flipH="1">
            <a:off x="2696447" y="19676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2" name="Google Shape;1892;p139"/>
          <p:cNvSpPr txBox="1"/>
          <p:nvPr>
            <p:ph idx="1" type="subTitle"/>
          </p:nvPr>
        </p:nvSpPr>
        <p:spPr>
          <a:xfrm flipH="1">
            <a:off x="3534647" y="1129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3" name="Google Shape;1893;p139"/>
          <p:cNvSpPr txBox="1"/>
          <p:nvPr>
            <p:ph idx="1" type="subTitle"/>
          </p:nvPr>
        </p:nvSpPr>
        <p:spPr>
          <a:xfrm flipH="1">
            <a:off x="3307360" y="1686892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118°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4" name="Google Shape;1894;p139"/>
          <p:cNvSpPr txBox="1"/>
          <p:nvPr>
            <p:ph idx="1" type="subTitle"/>
          </p:nvPr>
        </p:nvSpPr>
        <p:spPr>
          <a:xfrm flipH="1">
            <a:off x="2875072" y="2623273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62°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5" name="Google Shape;1895;p139"/>
          <p:cNvSpPr txBox="1"/>
          <p:nvPr>
            <p:ph idx="1" type="subTitle"/>
          </p:nvPr>
        </p:nvSpPr>
        <p:spPr>
          <a:xfrm>
            <a:off x="337825" y="3825758"/>
            <a:ext cx="1318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6" name="Google Shape;1896;p139"/>
          <p:cNvSpPr txBox="1"/>
          <p:nvPr>
            <p:ph idx="1" type="subTitle"/>
          </p:nvPr>
        </p:nvSpPr>
        <p:spPr>
          <a:xfrm>
            <a:off x="1099825" y="2174274"/>
            <a:ext cx="217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897" name="Google Shape;1897;p139"/>
          <p:cNvSpPr txBox="1"/>
          <p:nvPr>
            <p:ph idx="1" type="subTitle"/>
          </p:nvPr>
        </p:nvSpPr>
        <p:spPr>
          <a:xfrm flipH="1">
            <a:off x="3360266" y="2174274"/>
            <a:ext cx="217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cxnSp>
        <p:nvCxnSpPr>
          <p:cNvPr id="1898" name="Google Shape;1898;p139"/>
          <p:cNvCxnSpPr/>
          <p:nvPr/>
        </p:nvCxnSpPr>
        <p:spPr>
          <a:xfrm rot="10800000">
            <a:off x="5785778" y="2084043"/>
            <a:ext cx="1817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9" name="Google Shape;1899;p139"/>
          <p:cNvSpPr/>
          <p:nvPr/>
        </p:nvSpPr>
        <p:spPr>
          <a:xfrm flipH="1" rot="5400000">
            <a:off x="7464448" y="1834453"/>
            <a:ext cx="147300" cy="14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39"/>
          <p:cNvSpPr/>
          <p:nvPr/>
        </p:nvSpPr>
        <p:spPr>
          <a:xfrm flipH="1" rot="5400000">
            <a:off x="7445022" y="1188574"/>
            <a:ext cx="217800" cy="217800"/>
          </a:xfrm>
          <a:prstGeom prst="arc">
            <a:avLst>
              <a:gd fmla="val 5257006" name="adj1"/>
              <a:gd fmla="val 1249300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1" name="Google Shape;1901;p139"/>
          <p:cNvCxnSpPr/>
          <p:nvPr/>
        </p:nvCxnSpPr>
        <p:spPr>
          <a:xfrm>
            <a:off x="7700302" y="1207083"/>
            <a:ext cx="0" cy="79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2" name="Google Shape;1902;p139"/>
          <p:cNvSpPr/>
          <p:nvPr/>
        </p:nvSpPr>
        <p:spPr>
          <a:xfrm flipH="1" rot="5400000">
            <a:off x="5439358" y="1611272"/>
            <a:ext cx="726900" cy="726900"/>
          </a:xfrm>
          <a:prstGeom prst="arc">
            <a:avLst>
              <a:gd fmla="val 16133616" name="adj1"/>
              <a:gd fmla="val 1738493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3" name="Google Shape;1903;p139"/>
          <p:cNvCxnSpPr/>
          <p:nvPr/>
        </p:nvCxnSpPr>
        <p:spPr>
          <a:xfrm flipH="1">
            <a:off x="5733373" y="1139436"/>
            <a:ext cx="1805400" cy="773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4" name="Google Shape;1904;p139"/>
          <p:cNvSpPr/>
          <p:nvPr/>
        </p:nvSpPr>
        <p:spPr>
          <a:xfrm rot="-5400000">
            <a:off x="6322117" y="701583"/>
            <a:ext cx="773700" cy="1805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5" name="Google Shape;1905;p139"/>
          <p:cNvCxnSpPr/>
          <p:nvPr/>
        </p:nvCxnSpPr>
        <p:spPr>
          <a:xfrm rot="10800000">
            <a:off x="5785778" y="2591518"/>
            <a:ext cx="1817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6" name="Google Shape;1906;p139"/>
          <p:cNvSpPr/>
          <p:nvPr/>
        </p:nvSpPr>
        <p:spPr>
          <a:xfrm rot="5400000">
            <a:off x="7464448" y="2693808"/>
            <a:ext cx="147300" cy="14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39"/>
          <p:cNvSpPr/>
          <p:nvPr/>
        </p:nvSpPr>
        <p:spPr>
          <a:xfrm rot="5400000">
            <a:off x="7445022" y="3269186"/>
            <a:ext cx="217800" cy="217800"/>
          </a:xfrm>
          <a:prstGeom prst="arc">
            <a:avLst>
              <a:gd fmla="val 5257006" name="adj1"/>
              <a:gd fmla="val 1249300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8" name="Google Shape;1908;p139"/>
          <p:cNvCxnSpPr/>
          <p:nvPr/>
        </p:nvCxnSpPr>
        <p:spPr>
          <a:xfrm rot="10800000">
            <a:off x="7700302" y="2674078"/>
            <a:ext cx="0" cy="79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9" name="Google Shape;1909;p139"/>
          <p:cNvSpPr/>
          <p:nvPr/>
        </p:nvSpPr>
        <p:spPr>
          <a:xfrm rot="5400000">
            <a:off x="5439358" y="2337389"/>
            <a:ext cx="726900" cy="726900"/>
          </a:xfrm>
          <a:prstGeom prst="arc">
            <a:avLst>
              <a:gd fmla="val 16133616" name="adj1"/>
              <a:gd fmla="val 1738493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0" name="Google Shape;1910;p139"/>
          <p:cNvCxnSpPr/>
          <p:nvPr/>
        </p:nvCxnSpPr>
        <p:spPr>
          <a:xfrm rot="10800000">
            <a:off x="5733373" y="2762425"/>
            <a:ext cx="1805400" cy="773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1" name="Google Shape;1911;p139"/>
          <p:cNvSpPr/>
          <p:nvPr/>
        </p:nvSpPr>
        <p:spPr>
          <a:xfrm flipH="1" rot="-5400000">
            <a:off x="6322117" y="2168578"/>
            <a:ext cx="773700" cy="1805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39"/>
          <p:cNvSpPr txBox="1"/>
          <p:nvPr>
            <p:ph idx="1" type="subTitle"/>
          </p:nvPr>
        </p:nvSpPr>
        <p:spPr>
          <a:xfrm>
            <a:off x="6908987" y="1602647"/>
            <a:ext cx="2082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913" name="Google Shape;1913;p139"/>
          <p:cNvSpPr txBox="1"/>
          <p:nvPr>
            <p:ph idx="1" type="subTitle"/>
          </p:nvPr>
        </p:nvSpPr>
        <p:spPr>
          <a:xfrm>
            <a:off x="6951699" y="2805576"/>
            <a:ext cx="2082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914" name="Google Shape;1914;p139"/>
          <p:cNvSpPr txBox="1"/>
          <p:nvPr>
            <p:ph idx="1" type="subTitle"/>
          </p:nvPr>
        </p:nvSpPr>
        <p:spPr>
          <a:xfrm>
            <a:off x="7261194" y="1397415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67°</a:t>
            </a:r>
            <a:endParaRPr sz="1600"/>
          </a:p>
        </p:txBody>
      </p:sp>
      <p:sp>
        <p:nvSpPr>
          <p:cNvPr id="1915" name="Google Shape;1915;p139"/>
          <p:cNvSpPr txBox="1"/>
          <p:nvPr>
            <p:ph idx="1" type="subTitle"/>
          </p:nvPr>
        </p:nvSpPr>
        <p:spPr>
          <a:xfrm>
            <a:off x="6246689" y="1761621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23°</a:t>
            </a:r>
            <a:endParaRPr sz="1600"/>
          </a:p>
        </p:txBody>
      </p:sp>
      <p:sp>
        <p:nvSpPr>
          <p:cNvPr id="1916" name="Google Shape;1916;p139"/>
          <p:cNvSpPr txBox="1"/>
          <p:nvPr>
            <p:ph idx="1" type="subTitle"/>
          </p:nvPr>
        </p:nvSpPr>
        <p:spPr>
          <a:xfrm>
            <a:off x="7261194" y="2982646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67°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7" name="Google Shape;1917;p139"/>
          <p:cNvSpPr txBox="1"/>
          <p:nvPr>
            <p:ph idx="1" type="subTitle"/>
          </p:nvPr>
        </p:nvSpPr>
        <p:spPr>
          <a:xfrm>
            <a:off x="6261343" y="2662402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23°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8" name="Google Shape;1918;p139"/>
          <p:cNvSpPr txBox="1"/>
          <p:nvPr>
            <p:ph idx="1" type="subTitle"/>
          </p:nvPr>
        </p:nvSpPr>
        <p:spPr>
          <a:xfrm>
            <a:off x="6439521" y="1322473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919" name="Google Shape;1919;p139"/>
          <p:cNvSpPr txBox="1"/>
          <p:nvPr>
            <p:ph idx="1" type="subTitle"/>
          </p:nvPr>
        </p:nvSpPr>
        <p:spPr>
          <a:xfrm>
            <a:off x="6439521" y="3101550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0" name="Google Shape;1920;p139"/>
          <p:cNvSpPr txBox="1"/>
          <p:nvPr>
            <p:ph idx="1" type="subTitle"/>
          </p:nvPr>
        </p:nvSpPr>
        <p:spPr>
          <a:xfrm>
            <a:off x="6703320" y="2073176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921" name="Google Shape;1921;p139"/>
          <p:cNvSpPr txBox="1"/>
          <p:nvPr>
            <p:ph idx="1" type="subTitle"/>
          </p:nvPr>
        </p:nvSpPr>
        <p:spPr>
          <a:xfrm>
            <a:off x="6703320" y="2306885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2" name="Google Shape;1922;p139"/>
          <p:cNvSpPr txBox="1"/>
          <p:nvPr>
            <p:ph idx="1" type="subTitle"/>
          </p:nvPr>
        </p:nvSpPr>
        <p:spPr>
          <a:xfrm>
            <a:off x="7745889" y="1485242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23" name="Google Shape;1923;p139"/>
          <p:cNvSpPr txBox="1"/>
          <p:nvPr>
            <p:ph idx="1" type="subTitle"/>
          </p:nvPr>
        </p:nvSpPr>
        <p:spPr>
          <a:xfrm>
            <a:off x="7745889" y="2894819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4" name="Google Shape;1924;p139"/>
          <p:cNvSpPr txBox="1"/>
          <p:nvPr>
            <p:ph idx="1" type="subTitle"/>
          </p:nvPr>
        </p:nvSpPr>
        <p:spPr>
          <a:xfrm>
            <a:off x="4833625" y="4212625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shape D with its missing lengths and angles.</a:t>
            </a:r>
            <a:endParaRPr/>
          </a:p>
        </p:txBody>
      </p:sp>
      <p:sp>
        <p:nvSpPr>
          <p:cNvPr id="1925" name="Google Shape;1925;p139"/>
          <p:cNvSpPr txBox="1"/>
          <p:nvPr>
            <p:ph idx="1" type="subTitle"/>
          </p:nvPr>
        </p:nvSpPr>
        <p:spPr>
          <a:xfrm>
            <a:off x="4833625" y="3607425"/>
            <a:ext cx="39822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transformation maps C onto D?</a:t>
            </a:r>
            <a:endParaRPr/>
          </a:p>
        </p:txBody>
      </p:sp>
      <p:sp>
        <p:nvSpPr>
          <p:cNvPr id="1926" name="Google Shape;1926;p139"/>
          <p:cNvSpPr txBox="1"/>
          <p:nvPr>
            <p:ph idx="1" type="subTitle"/>
          </p:nvPr>
        </p:nvSpPr>
        <p:spPr>
          <a:xfrm>
            <a:off x="5314850" y="3907083"/>
            <a:ext cx="1318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reflection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40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A and B are congruent.</a:t>
            </a:r>
            <a:endParaRPr/>
          </a:p>
        </p:txBody>
      </p:sp>
      <p:sp>
        <p:nvSpPr>
          <p:cNvPr id="1932" name="Google Shape;1932;p140"/>
          <p:cNvSpPr txBox="1"/>
          <p:nvPr>
            <p:ph idx="2" type="subTitle"/>
          </p:nvPr>
        </p:nvSpPr>
        <p:spPr>
          <a:xfrm>
            <a:off x="4824000" y="810000"/>
            <a:ext cx="3982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C and D are congruent.</a:t>
            </a:r>
            <a:endParaRPr/>
          </a:p>
        </p:txBody>
      </p:sp>
      <p:sp>
        <p:nvSpPr>
          <p:cNvPr id="1933" name="Google Shape;1933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1934" name="Google Shape;1934;p140"/>
          <p:cNvSpPr txBox="1"/>
          <p:nvPr>
            <p:ph idx="1" type="subTitle"/>
          </p:nvPr>
        </p:nvSpPr>
        <p:spPr>
          <a:xfrm>
            <a:off x="337825" y="4136425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shape B with its missing lengths and angles.</a:t>
            </a:r>
            <a:endParaRPr/>
          </a:p>
        </p:txBody>
      </p:sp>
      <p:sp>
        <p:nvSpPr>
          <p:cNvPr id="1935" name="Google Shape;1935;p140"/>
          <p:cNvSpPr txBox="1"/>
          <p:nvPr>
            <p:ph idx="1" type="subTitle"/>
          </p:nvPr>
        </p:nvSpPr>
        <p:spPr>
          <a:xfrm>
            <a:off x="337825" y="3531219"/>
            <a:ext cx="41757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transformation maps A onto B?</a:t>
            </a:r>
            <a:endParaRPr/>
          </a:p>
        </p:txBody>
      </p:sp>
      <p:grpSp>
        <p:nvGrpSpPr>
          <p:cNvPr id="1936" name="Google Shape;1936;p140"/>
          <p:cNvGrpSpPr/>
          <p:nvPr/>
        </p:nvGrpSpPr>
        <p:grpSpPr>
          <a:xfrm flipH="1" rot="5400000">
            <a:off x="523355" y="1517313"/>
            <a:ext cx="1753691" cy="1503493"/>
            <a:chOff x="370955" y="1669713"/>
            <a:chExt cx="1753691" cy="1503493"/>
          </a:xfrm>
        </p:grpSpPr>
        <p:cxnSp>
          <p:nvCxnSpPr>
            <p:cNvPr id="1937" name="Google Shape;1937;p140"/>
            <p:cNvCxnSpPr/>
            <p:nvPr/>
          </p:nvCxnSpPr>
          <p:spPr>
            <a:xfrm>
              <a:off x="495373" y="1873525"/>
              <a:ext cx="0" cy="120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38" name="Google Shape;1938;p140"/>
            <p:cNvCxnSpPr/>
            <p:nvPr/>
          </p:nvCxnSpPr>
          <p:spPr>
            <a:xfrm rot="10800000">
              <a:off x="600983" y="3173206"/>
              <a:ext cx="1380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39" name="Google Shape;1939;p140"/>
            <p:cNvCxnSpPr/>
            <p:nvPr/>
          </p:nvCxnSpPr>
          <p:spPr>
            <a:xfrm rot="10800000">
              <a:off x="650673" y="1764944"/>
              <a:ext cx="1411200" cy="74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40" name="Google Shape;1940;p140"/>
            <p:cNvCxnSpPr/>
            <p:nvPr/>
          </p:nvCxnSpPr>
          <p:spPr>
            <a:xfrm rot="10800000">
              <a:off x="2101435" y="2576975"/>
              <a:ext cx="0" cy="505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41" name="Google Shape;1941;p140"/>
            <p:cNvSpPr/>
            <p:nvPr/>
          </p:nvSpPr>
          <p:spPr>
            <a:xfrm>
              <a:off x="586225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2" name="Google Shape;1942;p140"/>
            <p:cNvSpPr/>
            <p:nvPr/>
          </p:nvSpPr>
          <p:spPr>
            <a:xfrm>
              <a:off x="1842060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3" name="Google Shape;1943;p140"/>
            <p:cNvSpPr/>
            <p:nvPr/>
          </p:nvSpPr>
          <p:spPr>
            <a:xfrm>
              <a:off x="370955" y="1669713"/>
              <a:ext cx="431700" cy="431700"/>
            </a:xfrm>
            <a:prstGeom prst="arc">
              <a:avLst>
                <a:gd fmla="val 1539927" name="adj1"/>
                <a:gd fmla="val 533101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4" name="Google Shape;1944;p140"/>
            <p:cNvSpPr/>
            <p:nvPr/>
          </p:nvSpPr>
          <p:spPr>
            <a:xfrm>
              <a:off x="1842046" y="2459398"/>
              <a:ext cx="282600" cy="282600"/>
            </a:xfrm>
            <a:prstGeom prst="arc">
              <a:avLst>
                <a:gd fmla="val 5257006" name="adj1"/>
                <a:gd fmla="val 1249300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5" name="Google Shape;1945;p140"/>
            <p:cNvSpPr/>
            <p:nvPr/>
          </p:nvSpPr>
          <p:spPr>
            <a:xfrm>
              <a:off x="589175" y="1858850"/>
              <a:ext cx="1413248" cy="1216257"/>
            </a:xfrm>
            <a:custGeom>
              <a:rect b="b" l="l" r="r" t="t"/>
              <a:pathLst>
                <a:path extrusionOk="0" h="83234" w="96715">
                  <a:moveTo>
                    <a:pt x="0" y="0"/>
                  </a:moveTo>
                  <a:lnTo>
                    <a:pt x="0" y="83234"/>
                  </a:lnTo>
                  <a:lnTo>
                    <a:pt x="96715" y="83234"/>
                  </a:lnTo>
                  <a:lnTo>
                    <a:pt x="96715" y="50703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946" name="Google Shape;1946;p140"/>
          <p:cNvGrpSpPr/>
          <p:nvPr/>
        </p:nvGrpSpPr>
        <p:grpSpPr>
          <a:xfrm flipH="1" rot="10800000">
            <a:off x="2430786" y="1373173"/>
            <a:ext cx="1753691" cy="1503493"/>
            <a:chOff x="370955" y="1669713"/>
            <a:chExt cx="1753691" cy="1503493"/>
          </a:xfrm>
        </p:grpSpPr>
        <p:cxnSp>
          <p:nvCxnSpPr>
            <p:cNvPr id="1947" name="Google Shape;1947;p140"/>
            <p:cNvCxnSpPr/>
            <p:nvPr/>
          </p:nvCxnSpPr>
          <p:spPr>
            <a:xfrm>
              <a:off x="495373" y="1873525"/>
              <a:ext cx="0" cy="1201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48" name="Google Shape;1948;p140"/>
            <p:cNvCxnSpPr/>
            <p:nvPr/>
          </p:nvCxnSpPr>
          <p:spPr>
            <a:xfrm rot="10800000">
              <a:off x="600983" y="3173206"/>
              <a:ext cx="1380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49" name="Google Shape;1949;p140"/>
            <p:cNvCxnSpPr/>
            <p:nvPr/>
          </p:nvCxnSpPr>
          <p:spPr>
            <a:xfrm rot="10800000">
              <a:off x="650673" y="1764944"/>
              <a:ext cx="1411200" cy="7431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0" name="Google Shape;1950;p140"/>
            <p:cNvCxnSpPr/>
            <p:nvPr/>
          </p:nvCxnSpPr>
          <p:spPr>
            <a:xfrm rot="10800000">
              <a:off x="2101435" y="2576975"/>
              <a:ext cx="0" cy="5055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51" name="Google Shape;1951;p140"/>
            <p:cNvSpPr/>
            <p:nvPr/>
          </p:nvSpPr>
          <p:spPr>
            <a:xfrm>
              <a:off x="586225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2" name="Google Shape;1952;p140"/>
            <p:cNvSpPr/>
            <p:nvPr/>
          </p:nvSpPr>
          <p:spPr>
            <a:xfrm>
              <a:off x="1842060" y="2921273"/>
              <a:ext cx="153900" cy="153900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3" name="Google Shape;1953;p140"/>
            <p:cNvSpPr/>
            <p:nvPr/>
          </p:nvSpPr>
          <p:spPr>
            <a:xfrm>
              <a:off x="370955" y="1669713"/>
              <a:ext cx="431700" cy="431700"/>
            </a:xfrm>
            <a:prstGeom prst="arc">
              <a:avLst>
                <a:gd fmla="val 1539927" name="adj1"/>
                <a:gd fmla="val 5331018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4" name="Google Shape;1954;p140"/>
            <p:cNvSpPr/>
            <p:nvPr/>
          </p:nvSpPr>
          <p:spPr>
            <a:xfrm>
              <a:off x="1842046" y="2459398"/>
              <a:ext cx="282600" cy="282600"/>
            </a:xfrm>
            <a:prstGeom prst="arc">
              <a:avLst>
                <a:gd fmla="val 5257006" name="adj1"/>
                <a:gd fmla="val 12493005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5" name="Google Shape;1955;p140"/>
            <p:cNvSpPr/>
            <p:nvPr/>
          </p:nvSpPr>
          <p:spPr>
            <a:xfrm>
              <a:off x="589175" y="1858850"/>
              <a:ext cx="1413248" cy="1216257"/>
            </a:xfrm>
            <a:custGeom>
              <a:rect b="b" l="l" r="r" t="t"/>
              <a:pathLst>
                <a:path extrusionOk="0" h="83234" w="96715">
                  <a:moveTo>
                    <a:pt x="0" y="0"/>
                  </a:moveTo>
                  <a:lnTo>
                    <a:pt x="0" y="83234"/>
                  </a:lnTo>
                  <a:lnTo>
                    <a:pt x="96715" y="83234"/>
                  </a:lnTo>
                  <a:lnTo>
                    <a:pt x="96715" y="50703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956" name="Google Shape;1956;p140"/>
          <p:cNvSpPr txBox="1"/>
          <p:nvPr>
            <p:ph idx="1" type="subTitle"/>
          </p:nvPr>
        </p:nvSpPr>
        <p:spPr>
          <a:xfrm>
            <a:off x="414025" y="21200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957" name="Google Shape;1957;p140"/>
          <p:cNvSpPr txBox="1"/>
          <p:nvPr>
            <p:ph idx="1" type="subTitle"/>
          </p:nvPr>
        </p:nvSpPr>
        <p:spPr>
          <a:xfrm>
            <a:off x="1252225" y="3034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958" name="Google Shape;1958;p140"/>
          <p:cNvSpPr txBox="1"/>
          <p:nvPr>
            <p:ph idx="1" type="subTitle"/>
          </p:nvPr>
        </p:nvSpPr>
        <p:spPr>
          <a:xfrm>
            <a:off x="1709425" y="19676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17</a:t>
            </a:r>
            <a:endParaRPr sz="1600"/>
          </a:p>
        </p:txBody>
      </p:sp>
      <p:sp>
        <p:nvSpPr>
          <p:cNvPr id="1959" name="Google Shape;1959;p140"/>
          <p:cNvSpPr txBox="1"/>
          <p:nvPr>
            <p:ph idx="1" type="subTitle"/>
          </p:nvPr>
        </p:nvSpPr>
        <p:spPr>
          <a:xfrm>
            <a:off x="947425" y="1129455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60" name="Google Shape;1960;p140"/>
          <p:cNvSpPr txBox="1"/>
          <p:nvPr>
            <p:ph idx="1" type="subTitle"/>
          </p:nvPr>
        </p:nvSpPr>
        <p:spPr>
          <a:xfrm>
            <a:off x="926912" y="1686892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118°</a:t>
            </a:r>
            <a:endParaRPr sz="1600"/>
          </a:p>
        </p:txBody>
      </p:sp>
      <p:sp>
        <p:nvSpPr>
          <p:cNvPr id="1961" name="Google Shape;1961;p140"/>
          <p:cNvSpPr txBox="1"/>
          <p:nvPr>
            <p:ph idx="1" type="subTitle"/>
          </p:nvPr>
        </p:nvSpPr>
        <p:spPr>
          <a:xfrm>
            <a:off x="1435400" y="2623273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62°</a:t>
            </a:r>
            <a:endParaRPr sz="1600"/>
          </a:p>
        </p:txBody>
      </p:sp>
      <p:sp>
        <p:nvSpPr>
          <p:cNvPr id="1962" name="Google Shape;1962;p140"/>
          <p:cNvSpPr txBox="1"/>
          <p:nvPr>
            <p:ph idx="1" type="subTitle"/>
          </p:nvPr>
        </p:nvSpPr>
        <p:spPr>
          <a:xfrm>
            <a:off x="3155436" y="1131244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3" name="Google Shape;1963;p140"/>
          <p:cNvSpPr txBox="1"/>
          <p:nvPr>
            <p:ph idx="1" type="subTitle"/>
          </p:nvPr>
        </p:nvSpPr>
        <p:spPr>
          <a:xfrm>
            <a:off x="2317236" y="1969444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4" name="Google Shape;1964;p140"/>
          <p:cNvSpPr txBox="1"/>
          <p:nvPr>
            <p:ph idx="1" type="subTitle"/>
          </p:nvPr>
        </p:nvSpPr>
        <p:spPr>
          <a:xfrm>
            <a:off x="3384036" y="2350444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5" name="Google Shape;1965;p140"/>
          <p:cNvSpPr txBox="1"/>
          <p:nvPr>
            <p:ph idx="1" type="subTitle"/>
          </p:nvPr>
        </p:nvSpPr>
        <p:spPr>
          <a:xfrm>
            <a:off x="4222236" y="1588444"/>
            <a:ext cx="2937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6" name="Google Shape;1966;p140"/>
          <p:cNvSpPr txBox="1"/>
          <p:nvPr>
            <p:ph idx="1" type="subTitle"/>
          </p:nvPr>
        </p:nvSpPr>
        <p:spPr>
          <a:xfrm>
            <a:off x="3540898" y="1768031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118°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7" name="Google Shape;1967;p140"/>
          <p:cNvSpPr txBox="1"/>
          <p:nvPr>
            <p:ph idx="1" type="subTitle"/>
          </p:nvPr>
        </p:nvSpPr>
        <p:spPr>
          <a:xfrm>
            <a:off x="2756918" y="2200319"/>
            <a:ext cx="5415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62°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8" name="Google Shape;1968;p140"/>
          <p:cNvSpPr txBox="1"/>
          <p:nvPr>
            <p:ph idx="1" type="subTitle"/>
          </p:nvPr>
        </p:nvSpPr>
        <p:spPr>
          <a:xfrm>
            <a:off x="337825" y="3825758"/>
            <a:ext cx="1318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rotation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9" name="Google Shape;1969;p140"/>
          <p:cNvSpPr txBox="1"/>
          <p:nvPr>
            <p:ph idx="1" type="subTitle"/>
          </p:nvPr>
        </p:nvSpPr>
        <p:spPr>
          <a:xfrm>
            <a:off x="1099825" y="2174274"/>
            <a:ext cx="217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970" name="Google Shape;1970;p140"/>
          <p:cNvSpPr txBox="1"/>
          <p:nvPr>
            <p:ph idx="1" type="subTitle"/>
          </p:nvPr>
        </p:nvSpPr>
        <p:spPr>
          <a:xfrm>
            <a:off x="3158667" y="1744075"/>
            <a:ext cx="217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cxnSp>
        <p:nvCxnSpPr>
          <p:cNvPr id="1971" name="Google Shape;1971;p140"/>
          <p:cNvCxnSpPr/>
          <p:nvPr/>
        </p:nvCxnSpPr>
        <p:spPr>
          <a:xfrm rot="10800000">
            <a:off x="5785778" y="2084043"/>
            <a:ext cx="1817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2" name="Google Shape;1972;p140"/>
          <p:cNvSpPr/>
          <p:nvPr/>
        </p:nvSpPr>
        <p:spPr>
          <a:xfrm flipH="1" rot="5400000">
            <a:off x="7464448" y="1834453"/>
            <a:ext cx="147300" cy="14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40"/>
          <p:cNvSpPr/>
          <p:nvPr/>
        </p:nvSpPr>
        <p:spPr>
          <a:xfrm flipH="1" rot="5400000">
            <a:off x="7445022" y="1188574"/>
            <a:ext cx="217800" cy="217800"/>
          </a:xfrm>
          <a:prstGeom prst="arc">
            <a:avLst>
              <a:gd fmla="val 5257006" name="adj1"/>
              <a:gd fmla="val 1249300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4" name="Google Shape;1974;p140"/>
          <p:cNvCxnSpPr/>
          <p:nvPr/>
        </p:nvCxnSpPr>
        <p:spPr>
          <a:xfrm>
            <a:off x="7700302" y="1207083"/>
            <a:ext cx="0" cy="79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5" name="Google Shape;1975;p140"/>
          <p:cNvSpPr/>
          <p:nvPr/>
        </p:nvSpPr>
        <p:spPr>
          <a:xfrm flipH="1" rot="5400000">
            <a:off x="5439358" y="1611272"/>
            <a:ext cx="726900" cy="726900"/>
          </a:xfrm>
          <a:prstGeom prst="arc">
            <a:avLst>
              <a:gd fmla="val 16133616" name="adj1"/>
              <a:gd fmla="val 1738493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6" name="Google Shape;1976;p140"/>
          <p:cNvCxnSpPr/>
          <p:nvPr/>
        </p:nvCxnSpPr>
        <p:spPr>
          <a:xfrm flipH="1">
            <a:off x="5733373" y="1139436"/>
            <a:ext cx="1805400" cy="773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7" name="Google Shape;1977;p140"/>
          <p:cNvSpPr/>
          <p:nvPr/>
        </p:nvSpPr>
        <p:spPr>
          <a:xfrm rot="-5400000">
            <a:off x="6322117" y="701583"/>
            <a:ext cx="773700" cy="1805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8" name="Google Shape;1978;p140"/>
          <p:cNvCxnSpPr/>
          <p:nvPr/>
        </p:nvCxnSpPr>
        <p:spPr>
          <a:xfrm>
            <a:off x="5862869" y="2591518"/>
            <a:ext cx="1817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9" name="Google Shape;1979;p140"/>
          <p:cNvSpPr/>
          <p:nvPr/>
        </p:nvSpPr>
        <p:spPr>
          <a:xfrm flipH="1" rot="-5400000">
            <a:off x="5854599" y="2693808"/>
            <a:ext cx="147300" cy="147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40"/>
          <p:cNvSpPr/>
          <p:nvPr/>
        </p:nvSpPr>
        <p:spPr>
          <a:xfrm flipH="1" rot="-5400000">
            <a:off x="5803525" y="3269186"/>
            <a:ext cx="217800" cy="217800"/>
          </a:xfrm>
          <a:prstGeom prst="arc">
            <a:avLst>
              <a:gd fmla="val 5257006" name="adj1"/>
              <a:gd fmla="val 1249300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1" name="Google Shape;1981;p140"/>
          <p:cNvCxnSpPr/>
          <p:nvPr/>
        </p:nvCxnSpPr>
        <p:spPr>
          <a:xfrm rot="10800000">
            <a:off x="5766045" y="2674078"/>
            <a:ext cx="0" cy="794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2" name="Google Shape;1982;p140"/>
          <p:cNvSpPr/>
          <p:nvPr/>
        </p:nvSpPr>
        <p:spPr>
          <a:xfrm flipH="1" rot="-5400000">
            <a:off x="7300089" y="2337389"/>
            <a:ext cx="726900" cy="726900"/>
          </a:xfrm>
          <a:prstGeom prst="arc">
            <a:avLst>
              <a:gd fmla="val 16133616" name="adj1"/>
              <a:gd fmla="val 1738493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3" name="Google Shape;1983;p140"/>
          <p:cNvCxnSpPr/>
          <p:nvPr/>
        </p:nvCxnSpPr>
        <p:spPr>
          <a:xfrm flipH="1" rot="10800000">
            <a:off x="5927574" y="2762425"/>
            <a:ext cx="1805400" cy="773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4" name="Google Shape;1984;p140"/>
          <p:cNvSpPr/>
          <p:nvPr/>
        </p:nvSpPr>
        <p:spPr>
          <a:xfrm rot="5400000">
            <a:off x="6370530" y="2168578"/>
            <a:ext cx="773700" cy="1805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40"/>
          <p:cNvSpPr txBox="1"/>
          <p:nvPr>
            <p:ph idx="1" type="subTitle"/>
          </p:nvPr>
        </p:nvSpPr>
        <p:spPr>
          <a:xfrm>
            <a:off x="6908987" y="1602647"/>
            <a:ext cx="2082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986" name="Google Shape;1986;p140"/>
          <p:cNvSpPr txBox="1"/>
          <p:nvPr>
            <p:ph idx="1" type="subTitle"/>
          </p:nvPr>
        </p:nvSpPr>
        <p:spPr>
          <a:xfrm>
            <a:off x="6306448" y="2805576"/>
            <a:ext cx="208200" cy="2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987" name="Google Shape;1987;p140"/>
          <p:cNvSpPr txBox="1"/>
          <p:nvPr>
            <p:ph idx="1" type="subTitle"/>
          </p:nvPr>
        </p:nvSpPr>
        <p:spPr>
          <a:xfrm>
            <a:off x="7261194" y="1397415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67°</a:t>
            </a:r>
            <a:endParaRPr sz="1600"/>
          </a:p>
        </p:txBody>
      </p:sp>
      <p:sp>
        <p:nvSpPr>
          <p:cNvPr id="1988" name="Google Shape;1988;p140"/>
          <p:cNvSpPr txBox="1"/>
          <p:nvPr>
            <p:ph idx="1" type="subTitle"/>
          </p:nvPr>
        </p:nvSpPr>
        <p:spPr>
          <a:xfrm>
            <a:off x="6246689" y="1761621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23°</a:t>
            </a:r>
            <a:endParaRPr sz="1600"/>
          </a:p>
        </p:txBody>
      </p:sp>
      <p:sp>
        <p:nvSpPr>
          <p:cNvPr id="1989" name="Google Shape;1989;p140"/>
          <p:cNvSpPr txBox="1"/>
          <p:nvPr>
            <p:ph idx="1" type="subTitle"/>
          </p:nvPr>
        </p:nvSpPr>
        <p:spPr>
          <a:xfrm>
            <a:off x="5909653" y="3029538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67°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0" name="Google Shape;1990;p140"/>
          <p:cNvSpPr txBox="1"/>
          <p:nvPr>
            <p:ph idx="1" type="subTitle"/>
          </p:nvPr>
        </p:nvSpPr>
        <p:spPr>
          <a:xfrm>
            <a:off x="6847958" y="2677055"/>
            <a:ext cx="371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23°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1" name="Google Shape;1991;p140"/>
          <p:cNvSpPr txBox="1"/>
          <p:nvPr>
            <p:ph idx="1" type="subTitle"/>
          </p:nvPr>
        </p:nvSpPr>
        <p:spPr>
          <a:xfrm>
            <a:off x="6439521" y="1322473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</a:t>
            </a:r>
            <a:endParaRPr sz="1600"/>
          </a:p>
        </p:txBody>
      </p:sp>
      <p:sp>
        <p:nvSpPr>
          <p:cNvPr id="1992" name="Google Shape;1992;p140"/>
          <p:cNvSpPr txBox="1"/>
          <p:nvPr>
            <p:ph idx="1" type="subTitle"/>
          </p:nvPr>
        </p:nvSpPr>
        <p:spPr>
          <a:xfrm>
            <a:off x="6745726" y="3133788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3" name="Google Shape;1993;p140"/>
          <p:cNvSpPr txBox="1"/>
          <p:nvPr>
            <p:ph idx="1" type="subTitle"/>
          </p:nvPr>
        </p:nvSpPr>
        <p:spPr>
          <a:xfrm>
            <a:off x="6703320" y="2073176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1994" name="Google Shape;1994;p140"/>
          <p:cNvSpPr txBox="1"/>
          <p:nvPr>
            <p:ph idx="1" type="subTitle"/>
          </p:nvPr>
        </p:nvSpPr>
        <p:spPr>
          <a:xfrm>
            <a:off x="6481927" y="2306885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5" name="Google Shape;1995;p140"/>
          <p:cNvSpPr txBox="1"/>
          <p:nvPr>
            <p:ph idx="1" type="subTitle"/>
          </p:nvPr>
        </p:nvSpPr>
        <p:spPr>
          <a:xfrm>
            <a:off x="7745889" y="1485242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96" name="Google Shape;1996;p140"/>
          <p:cNvSpPr txBox="1"/>
          <p:nvPr>
            <p:ph idx="1" type="subTitle"/>
          </p:nvPr>
        </p:nvSpPr>
        <p:spPr>
          <a:xfrm>
            <a:off x="5591758" y="2894819"/>
            <a:ext cx="2811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7" name="Google Shape;1997;p140"/>
          <p:cNvSpPr txBox="1"/>
          <p:nvPr>
            <p:ph idx="1" type="subTitle"/>
          </p:nvPr>
        </p:nvSpPr>
        <p:spPr>
          <a:xfrm>
            <a:off x="4833625" y="4212625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Label shape D with its missing lengths and angles.</a:t>
            </a:r>
            <a:endParaRPr/>
          </a:p>
        </p:txBody>
      </p:sp>
      <p:sp>
        <p:nvSpPr>
          <p:cNvPr id="1998" name="Google Shape;1998;p140"/>
          <p:cNvSpPr txBox="1"/>
          <p:nvPr>
            <p:ph idx="1" type="subTitle"/>
          </p:nvPr>
        </p:nvSpPr>
        <p:spPr>
          <a:xfrm>
            <a:off x="4833625" y="3607425"/>
            <a:ext cx="39822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transformation maps C onto D?</a:t>
            </a:r>
            <a:endParaRPr/>
          </a:p>
        </p:txBody>
      </p:sp>
      <p:sp>
        <p:nvSpPr>
          <p:cNvPr id="1999" name="Google Shape;1999;p140"/>
          <p:cNvSpPr txBox="1"/>
          <p:nvPr>
            <p:ph idx="1" type="subTitle"/>
          </p:nvPr>
        </p:nvSpPr>
        <p:spPr>
          <a:xfrm>
            <a:off x="5253325" y="3915058"/>
            <a:ext cx="1318200" cy="3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rotation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141"/>
          <p:cNvSpPr txBox="1"/>
          <p:nvPr>
            <p:ph idx="1" type="body"/>
          </p:nvPr>
        </p:nvSpPr>
        <p:spPr>
          <a:xfrm>
            <a:off x="324000" y="759300"/>
            <a:ext cx="8112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five triangles are congruent.</a:t>
            </a:r>
            <a:endParaRPr sz="1800"/>
          </a:p>
        </p:txBody>
      </p:sp>
      <p:sp>
        <p:nvSpPr>
          <p:cNvPr id="2005" name="Google Shape;2005;p14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cxnSp>
        <p:nvCxnSpPr>
          <p:cNvPr id="2006" name="Google Shape;2006;p141"/>
          <p:cNvCxnSpPr/>
          <p:nvPr/>
        </p:nvCxnSpPr>
        <p:spPr>
          <a:xfrm flipH="1">
            <a:off x="5487947" y="1182584"/>
            <a:ext cx="5100" cy="1343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7" name="Google Shape;2007;p141"/>
          <p:cNvSpPr txBox="1"/>
          <p:nvPr/>
        </p:nvSpPr>
        <p:spPr>
          <a:xfrm>
            <a:off x="234625" y="4420675"/>
            <a:ext cx="67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Label the missing lengths and angles on triangles B to E.</a:t>
            </a:r>
            <a:endParaRPr sz="1800"/>
          </a:p>
        </p:txBody>
      </p:sp>
      <p:sp>
        <p:nvSpPr>
          <p:cNvPr id="2008" name="Google Shape;2008;p141"/>
          <p:cNvSpPr txBox="1"/>
          <p:nvPr/>
        </p:nvSpPr>
        <p:spPr>
          <a:xfrm>
            <a:off x="234625" y="1138725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What transformation maps A onto B?</a:t>
            </a:r>
            <a:endParaRPr sz="1800"/>
          </a:p>
        </p:txBody>
      </p:sp>
      <p:sp>
        <p:nvSpPr>
          <p:cNvPr id="2009" name="Google Shape;2009;p141"/>
          <p:cNvSpPr txBox="1"/>
          <p:nvPr/>
        </p:nvSpPr>
        <p:spPr>
          <a:xfrm>
            <a:off x="234625" y="1801675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What transformation maps B onto C?</a:t>
            </a:r>
            <a:endParaRPr sz="1800"/>
          </a:p>
        </p:txBody>
      </p:sp>
      <p:sp>
        <p:nvSpPr>
          <p:cNvPr id="2010" name="Google Shape;2010;p141"/>
          <p:cNvSpPr txBox="1"/>
          <p:nvPr/>
        </p:nvSpPr>
        <p:spPr>
          <a:xfrm>
            <a:off x="234625" y="2464600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What transformation maps C onto D?</a:t>
            </a:r>
            <a:endParaRPr sz="1800"/>
          </a:p>
        </p:txBody>
      </p:sp>
      <p:sp>
        <p:nvSpPr>
          <p:cNvPr id="2011" name="Google Shape;2011;p141"/>
          <p:cNvSpPr txBox="1"/>
          <p:nvPr/>
        </p:nvSpPr>
        <p:spPr>
          <a:xfrm>
            <a:off x="234625" y="3127550"/>
            <a:ext cx="47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What transformation maps D onto E?</a:t>
            </a:r>
            <a:endParaRPr sz="1800"/>
          </a:p>
        </p:txBody>
      </p:sp>
      <p:sp>
        <p:nvSpPr>
          <p:cNvPr id="2012" name="Google Shape;2012;p141"/>
          <p:cNvSpPr txBox="1"/>
          <p:nvPr/>
        </p:nvSpPr>
        <p:spPr>
          <a:xfrm>
            <a:off x="234625" y="3790475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What transformation maps E onto A?</a:t>
            </a:r>
            <a:endParaRPr sz="1800"/>
          </a:p>
        </p:txBody>
      </p:sp>
      <p:cxnSp>
        <p:nvCxnSpPr>
          <p:cNvPr id="2013" name="Google Shape;2013;p141"/>
          <p:cNvCxnSpPr/>
          <p:nvPr/>
        </p:nvCxnSpPr>
        <p:spPr>
          <a:xfrm>
            <a:off x="5675526" y="1123184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4" name="Google Shape;2014;p141"/>
          <p:cNvCxnSpPr/>
          <p:nvPr/>
        </p:nvCxnSpPr>
        <p:spPr>
          <a:xfrm rot="10800000">
            <a:off x="5594226" y="2634122"/>
            <a:ext cx="787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5" name="Google Shape;2015;p141"/>
          <p:cNvCxnSpPr/>
          <p:nvPr/>
        </p:nvCxnSpPr>
        <p:spPr>
          <a:xfrm>
            <a:off x="7152411" y="1199273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6" name="Google Shape;2016;p141"/>
          <p:cNvCxnSpPr/>
          <p:nvPr/>
        </p:nvCxnSpPr>
        <p:spPr>
          <a:xfrm>
            <a:off x="7152411" y="2233834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7" name="Google Shape;2017;p141"/>
          <p:cNvCxnSpPr/>
          <p:nvPr/>
        </p:nvCxnSpPr>
        <p:spPr>
          <a:xfrm>
            <a:off x="7152411" y="3315288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8" name="Google Shape;2018;p141"/>
          <p:cNvCxnSpPr/>
          <p:nvPr/>
        </p:nvCxnSpPr>
        <p:spPr>
          <a:xfrm>
            <a:off x="6466611" y="3315288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9" name="Google Shape;2019;p141"/>
          <p:cNvCxnSpPr/>
          <p:nvPr/>
        </p:nvCxnSpPr>
        <p:spPr>
          <a:xfrm>
            <a:off x="7248365" y="1117419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0" name="Google Shape;2020;p141"/>
          <p:cNvCxnSpPr/>
          <p:nvPr/>
        </p:nvCxnSpPr>
        <p:spPr>
          <a:xfrm>
            <a:off x="7248365" y="3105946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1" name="Google Shape;2021;p141"/>
          <p:cNvCxnSpPr/>
          <p:nvPr/>
        </p:nvCxnSpPr>
        <p:spPr>
          <a:xfrm>
            <a:off x="7248365" y="4204984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2" name="Google Shape;2022;p141"/>
          <p:cNvCxnSpPr/>
          <p:nvPr/>
        </p:nvCxnSpPr>
        <p:spPr>
          <a:xfrm rot="-5400000">
            <a:off x="7573199" y="1000092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3" name="Google Shape;2023;p141"/>
          <p:cNvCxnSpPr/>
          <p:nvPr/>
        </p:nvCxnSpPr>
        <p:spPr>
          <a:xfrm flipH="1" rot="5400000">
            <a:off x="7580526" y="1885184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4" name="Google Shape;2024;p141"/>
          <p:cNvCxnSpPr/>
          <p:nvPr/>
        </p:nvCxnSpPr>
        <p:spPr>
          <a:xfrm flipH="1" rot="5400000">
            <a:off x="7580526" y="2984222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5" name="Google Shape;2025;p141"/>
          <p:cNvCxnSpPr/>
          <p:nvPr/>
        </p:nvCxnSpPr>
        <p:spPr>
          <a:xfrm rot="-5400000">
            <a:off x="5232980" y="2984222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6" name="Google Shape;2026;p141"/>
          <p:cNvCxnSpPr/>
          <p:nvPr/>
        </p:nvCxnSpPr>
        <p:spPr>
          <a:xfrm rot="10800000">
            <a:off x="5061599" y="4190361"/>
            <a:ext cx="1312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027" name="Google Shape;2027;p141"/>
          <p:cNvGrpSpPr/>
          <p:nvPr/>
        </p:nvGrpSpPr>
        <p:grpSpPr>
          <a:xfrm>
            <a:off x="5404193" y="1010935"/>
            <a:ext cx="1082931" cy="1644050"/>
            <a:chOff x="5251793" y="1431500"/>
            <a:chExt cx="1082931" cy="1644050"/>
          </a:xfrm>
        </p:grpSpPr>
        <p:sp>
          <p:nvSpPr>
            <p:cNvPr id="2028" name="Google Shape;2028;p14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9" name="Google Shape;2029;p14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0" name="Google Shape;2030;p14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1" name="Google Shape;2031;p141"/>
          <p:cNvGrpSpPr/>
          <p:nvPr/>
        </p:nvGrpSpPr>
        <p:grpSpPr>
          <a:xfrm rot="5400000">
            <a:off x="7392720" y="742769"/>
            <a:ext cx="1082931" cy="1644050"/>
            <a:chOff x="5251793" y="1431500"/>
            <a:chExt cx="1082931" cy="1644050"/>
          </a:xfrm>
        </p:grpSpPr>
        <p:sp>
          <p:nvSpPr>
            <p:cNvPr id="2032" name="Google Shape;2032;p14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3" name="Google Shape;2033;p14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4" name="Google Shape;2034;p14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5" name="Google Shape;2035;p141"/>
          <p:cNvGrpSpPr/>
          <p:nvPr/>
        </p:nvGrpSpPr>
        <p:grpSpPr>
          <a:xfrm flipH="1" rot="5400000">
            <a:off x="7392720" y="1838877"/>
            <a:ext cx="1082931" cy="1644050"/>
            <a:chOff x="5251793" y="1431500"/>
            <a:chExt cx="1082931" cy="1644050"/>
          </a:xfrm>
        </p:grpSpPr>
        <p:sp>
          <p:nvSpPr>
            <p:cNvPr id="2036" name="Google Shape;2036;p14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7" name="Google Shape;2037;p14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8" name="Google Shape;2038;p14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9" name="Google Shape;2039;p141"/>
          <p:cNvGrpSpPr/>
          <p:nvPr/>
        </p:nvGrpSpPr>
        <p:grpSpPr>
          <a:xfrm flipH="1" rot="5400000">
            <a:off x="7400047" y="2920331"/>
            <a:ext cx="1082931" cy="1644050"/>
            <a:chOff x="5251793" y="1431500"/>
            <a:chExt cx="1082931" cy="1644050"/>
          </a:xfrm>
        </p:grpSpPr>
        <p:sp>
          <p:nvSpPr>
            <p:cNvPr id="2040" name="Google Shape;2040;p14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1" name="Google Shape;2041;p14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2" name="Google Shape;2042;p14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3" name="Google Shape;2043;p141"/>
          <p:cNvGrpSpPr/>
          <p:nvPr/>
        </p:nvGrpSpPr>
        <p:grpSpPr>
          <a:xfrm rot="-5400000">
            <a:off x="5143355" y="2920331"/>
            <a:ext cx="1082931" cy="1644050"/>
            <a:chOff x="5251793" y="1431500"/>
            <a:chExt cx="1082931" cy="1644050"/>
          </a:xfrm>
        </p:grpSpPr>
        <p:sp>
          <p:nvSpPr>
            <p:cNvPr id="2044" name="Google Shape;2044;p141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5" name="Google Shape;2045;p141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6" name="Google Shape;2046;p141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7" name="Google Shape;2047;p141"/>
          <p:cNvSpPr/>
          <p:nvPr/>
        </p:nvSpPr>
        <p:spPr>
          <a:xfrm>
            <a:off x="5594226" y="1183784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41"/>
          <p:cNvSpPr/>
          <p:nvPr/>
        </p:nvSpPr>
        <p:spPr>
          <a:xfrm rot="5400000">
            <a:off x="7520465" y="931073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41"/>
          <p:cNvSpPr/>
          <p:nvPr/>
        </p:nvSpPr>
        <p:spPr>
          <a:xfrm flipH="1" rot="5400000">
            <a:off x="7520465" y="3032278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41"/>
          <p:cNvSpPr/>
          <p:nvPr/>
        </p:nvSpPr>
        <p:spPr>
          <a:xfrm rot="-5400000">
            <a:off x="5311835" y="3032278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41"/>
          <p:cNvSpPr/>
          <p:nvPr/>
        </p:nvSpPr>
        <p:spPr>
          <a:xfrm flipH="1" rot="5400000">
            <a:off x="7520465" y="1954626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41"/>
          <p:cNvSpPr txBox="1"/>
          <p:nvPr/>
        </p:nvSpPr>
        <p:spPr>
          <a:xfrm>
            <a:off x="5848244" y="2554680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053" name="Google Shape;2053;p141"/>
          <p:cNvSpPr txBox="1"/>
          <p:nvPr/>
        </p:nvSpPr>
        <p:spPr>
          <a:xfrm>
            <a:off x="5209337" y="1684241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054" name="Google Shape;2054;p141"/>
          <p:cNvSpPr txBox="1"/>
          <p:nvPr/>
        </p:nvSpPr>
        <p:spPr>
          <a:xfrm>
            <a:off x="6040210" y="15391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055" name="Google Shape;2055;p141"/>
          <p:cNvSpPr txBox="1"/>
          <p:nvPr/>
        </p:nvSpPr>
        <p:spPr>
          <a:xfrm>
            <a:off x="5750054" y="1039463"/>
            <a:ext cx="6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/>
          </a:p>
        </p:txBody>
      </p:sp>
      <p:sp>
        <p:nvSpPr>
          <p:cNvPr id="2056" name="Google Shape;2056;p141"/>
          <p:cNvSpPr txBox="1"/>
          <p:nvPr/>
        </p:nvSpPr>
        <p:spPr>
          <a:xfrm>
            <a:off x="5843838" y="2175137"/>
            <a:ext cx="6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/>
          </a:p>
        </p:txBody>
      </p:sp>
      <p:cxnSp>
        <p:nvCxnSpPr>
          <p:cNvPr id="2057" name="Google Shape;2057;p141"/>
          <p:cNvCxnSpPr/>
          <p:nvPr/>
        </p:nvCxnSpPr>
        <p:spPr>
          <a:xfrm flipH="1">
            <a:off x="5627800" y="1296260"/>
            <a:ext cx="213000" cy="6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8" name="Google Shape;2058;p141"/>
          <p:cNvSpPr txBox="1"/>
          <p:nvPr/>
        </p:nvSpPr>
        <p:spPr>
          <a:xfrm>
            <a:off x="5703171" y="1836641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sp>
        <p:nvSpPr>
          <p:cNvPr id="2059" name="Google Shape;2059;p141"/>
          <p:cNvSpPr txBox="1"/>
          <p:nvPr/>
        </p:nvSpPr>
        <p:spPr>
          <a:xfrm>
            <a:off x="7455771" y="12343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2060" name="Google Shape;2060;p141"/>
          <p:cNvSpPr txBox="1"/>
          <p:nvPr/>
        </p:nvSpPr>
        <p:spPr>
          <a:xfrm>
            <a:off x="7455771" y="25297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sp>
        <p:nvSpPr>
          <p:cNvPr id="2061" name="Google Shape;2061;p141"/>
          <p:cNvSpPr txBox="1"/>
          <p:nvPr/>
        </p:nvSpPr>
        <p:spPr>
          <a:xfrm>
            <a:off x="7455771" y="35965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/>
          </a:p>
        </p:txBody>
      </p:sp>
      <p:sp>
        <p:nvSpPr>
          <p:cNvPr id="2062" name="Google Shape;2062;p141"/>
          <p:cNvSpPr txBox="1"/>
          <p:nvPr/>
        </p:nvSpPr>
        <p:spPr>
          <a:xfrm>
            <a:off x="5761787" y="3647857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142"/>
          <p:cNvSpPr/>
          <p:nvPr/>
        </p:nvSpPr>
        <p:spPr>
          <a:xfrm flipH="1">
            <a:off x="800161" y="1785216"/>
            <a:ext cx="910835" cy="1211099"/>
          </a:xfrm>
          <a:custGeom>
            <a:rect b="b" l="l" r="r" t="t"/>
            <a:pathLst>
              <a:path extrusionOk="0" h="112739" w="84788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68" name="Google Shape;2068;p142"/>
          <p:cNvSpPr txBox="1"/>
          <p:nvPr>
            <p:ph idx="1" type="body"/>
          </p:nvPr>
        </p:nvSpPr>
        <p:spPr>
          <a:xfrm>
            <a:off x="324000" y="759300"/>
            <a:ext cx="8496000" cy="6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The four quadrilaterals are congruent. The transformations which map each shape onto the next shape are stated below.</a:t>
            </a:r>
            <a:endParaRPr sz="1800"/>
          </a:p>
        </p:txBody>
      </p:sp>
      <p:sp>
        <p:nvSpPr>
          <p:cNvPr id="2069" name="Google Shape;2069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2070" name="Google Shape;2070;p142"/>
          <p:cNvSpPr/>
          <p:nvPr/>
        </p:nvSpPr>
        <p:spPr>
          <a:xfrm flipH="1">
            <a:off x="1613630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1" name="Google Shape;2071;p142"/>
          <p:cNvCxnSpPr/>
          <p:nvPr/>
        </p:nvCxnSpPr>
        <p:spPr>
          <a:xfrm>
            <a:off x="1778071" y="1785116"/>
            <a:ext cx="9000" cy="1208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2" name="Google Shape;2072;p142"/>
          <p:cNvCxnSpPr/>
          <p:nvPr/>
        </p:nvCxnSpPr>
        <p:spPr>
          <a:xfrm flipH="1">
            <a:off x="720071" y="1781616"/>
            <a:ext cx="5100" cy="121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3" name="Google Shape;2073;p142"/>
          <p:cNvCxnSpPr/>
          <p:nvPr/>
        </p:nvCxnSpPr>
        <p:spPr>
          <a:xfrm rot="10800000">
            <a:off x="797796" y="1708416"/>
            <a:ext cx="904200" cy="1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4" name="Google Shape;2074;p142"/>
          <p:cNvCxnSpPr/>
          <p:nvPr/>
        </p:nvCxnSpPr>
        <p:spPr>
          <a:xfrm rot="10800000">
            <a:off x="807996" y="3075516"/>
            <a:ext cx="894000" cy="6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5" name="Google Shape;2075;p142"/>
          <p:cNvSpPr/>
          <p:nvPr/>
        </p:nvSpPr>
        <p:spPr>
          <a:xfrm>
            <a:off x="729677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42"/>
          <p:cNvSpPr/>
          <p:nvPr/>
        </p:nvSpPr>
        <p:spPr>
          <a:xfrm rot="10800000">
            <a:off x="1609471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42"/>
          <p:cNvSpPr/>
          <p:nvPr/>
        </p:nvSpPr>
        <p:spPr>
          <a:xfrm flipH="1" rot="10800000">
            <a:off x="725518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42"/>
          <p:cNvSpPr txBox="1"/>
          <p:nvPr>
            <p:ph idx="1" type="body"/>
          </p:nvPr>
        </p:nvSpPr>
        <p:spPr>
          <a:xfrm>
            <a:off x="833906" y="2703877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88°</a:t>
            </a:r>
            <a:endParaRPr sz="1600"/>
          </a:p>
        </p:txBody>
      </p:sp>
      <p:sp>
        <p:nvSpPr>
          <p:cNvPr id="2079" name="Google Shape;2079;p142"/>
          <p:cNvSpPr txBox="1"/>
          <p:nvPr>
            <p:ph idx="1" type="body"/>
          </p:nvPr>
        </p:nvSpPr>
        <p:spPr>
          <a:xfrm>
            <a:off x="1377332" y="2693619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91°</a:t>
            </a:r>
            <a:endParaRPr sz="1600"/>
          </a:p>
        </p:txBody>
      </p:sp>
      <p:sp>
        <p:nvSpPr>
          <p:cNvPr id="2080" name="Google Shape;2080;p142"/>
          <p:cNvSpPr txBox="1"/>
          <p:nvPr>
            <p:ph idx="1" type="body"/>
          </p:nvPr>
        </p:nvSpPr>
        <p:spPr>
          <a:xfrm>
            <a:off x="851259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89°</a:t>
            </a:r>
            <a:endParaRPr sz="1600"/>
          </a:p>
        </p:txBody>
      </p:sp>
      <p:sp>
        <p:nvSpPr>
          <p:cNvPr id="2081" name="Google Shape;2081;p142"/>
          <p:cNvSpPr txBox="1"/>
          <p:nvPr>
            <p:ph idx="1" type="body"/>
          </p:nvPr>
        </p:nvSpPr>
        <p:spPr>
          <a:xfrm>
            <a:off x="1336302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92°</a:t>
            </a:r>
            <a:endParaRPr sz="1600"/>
          </a:p>
        </p:txBody>
      </p:sp>
      <p:sp>
        <p:nvSpPr>
          <p:cNvPr id="2082" name="Google Shape;2082;p142"/>
          <p:cNvSpPr txBox="1"/>
          <p:nvPr>
            <p:ph idx="1" type="body"/>
          </p:nvPr>
        </p:nvSpPr>
        <p:spPr>
          <a:xfrm>
            <a:off x="1797657" y="2275743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2083" name="Google Shape;2083;p142"/>
          <p:cNvSpPr txBox="1"/>
          <p:nvPr>
            <p:ph idx="1" type="body"/>
          </p:nvPr>
        </p:nvSpPr>
        <p:spPr>
          <a:xfrm>
            <a:off x="1045052" y="1458507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2.99</a:t>
            </a:r>
            <a:endParaRPr sz="1600"/>
          </a:p>
        </p:txBody>
      </p:sp>
      <p:sp>
        <p:nvSpPr>
          <p:cNvPr id="2084" name="Google Shape;2084;p142"/>
          <p:cNvSpPr txBox="1"/>
          <p:nvPr>
            <p:ph idx="1" type="body"/>
          </p:nvPr>
        </p:nvSpPr>
        <p:spPr>
          <a:xfrm>
            <a:off x="1213271" y="3043469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2085" name="Google Shape;2085;p142"/>
          <p:cNvSpPr txBox="1"/>
          <p:nvPr>
            <p:ph idx="1" type="body"/>
          </p:nvPr>
        </p:nvSpPr>
        <p:spPr>
          <a:xfrm>
            <a:off x="309731" y="2260654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3.99</a:t>
            </a:r>
            <a:endParaRPr sz="1600"/>
          </a:p>
        </p:txBody>
      </p:sp>
      <p:sp>
        <p:nvSpPr>
          <p:cNvPr id="2086" name="Google Shape;2086;p142"/>
          <p:cNvSpPr txBox="1"/>
          <p:nvPr>
            <p:ph idx="1" type="body"/>
          </p:nvPr>
        </p:nvSpPr>
        <p:spPr>
          <a:xfrm>
            <a:off x="511275" y="3350100"/>
            <a:ext cx="20874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↦ B: translation</a:t>
            </a:r>
            <a:endParaRPr sz="1800"/>
          </a:p>
        </p:txBody>
      </p:sp>
      <p:sp>
        <p:nvSpPr>
          <p:cNvPr id="2087" name="Google Shape;2087;p142"/>
          <p:cNvSpPr txBox="1"/>
          <p:nvPr>
            <p:ph idx="1" type="body"/>
          </p:nvPr>
        </p:nvSpPr>
        <p:spPr>
          <a:xfrm>
            <a:off x="3344475" y="3350100"/>
            <a:ext cx="1824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 ↦ C: reflection</a:t>
            </a:r>
            <a:endParaRPr sz="1800"/>
          </a:p>
        </p:txBody>
      </p:sp>
      <p:sp>
        <p:nvSpPr>
          <p:cNvPr id="2088" name="Google Shape;2088;p142"/>
          <p:cNvSpPr txBox="1"/>
          <p:nvPr>
            <p:ph idx="1" type="body"/>
          </p:nvPr>
        </p:nvSpPr>
        <p:spPr>
          <a:xfrm>
            <a:off x="1152667" y="2250540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</a:t>
            </a:r>
            <a:endParaRPr sz="1600"/>
          </a:p>
        </p:txBody>
      </p:sp>
      <p:sp>
        <p:nvSpPr>
          <p:cNvPr id="2089" name="Google Shape;2089;p142"/>
          <p:cNvSpPr txBox="1"/>
          <p:nvPr>
            <p:ph idx="1" type="body"/>
          </p:nvPr>
        </p:nvSpPr>
        <p:spPr>
          <a:xfrm>
            <a:off x="5932425" y="3356375"/>
            <a:ext cx="2756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 ↦ D: rotation of 180°</a:t>
            </a:r>
            <a:endParaRPr sz="1800"/>
          </a:p>
        </p:txBody>
      </p:sp>
      <p:sp>
        <p:nvSpPr>
          <p:cNvPr id="2090" name="Google Shape;2090;p142"/>
          <p:cNvSpPr/>
          <p:nvPr/>
        </p:nvSpPr>
        <p:spPr>
          <a:xfrm flipH="1">
            <a:off x="2933761" y="1785216"/>
            <a:ext cx="910835" cy="1211099"/>
          </a:xfrm>
          <a:custGeom>
            <a:rect b="b" l="l" r="r" t="t"/>
            <a:pathLst>
              <a:path extrusionOk="0" h="112739" w="84788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91" name="Google Shape;2091;p142"/>
          <p:cNvSpPr/>
          <p:nvPr/>
        </p:nvSpPr>
        <p:spPr>
          <a:xfrm flipH="1">
            <a:off x="3747230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2" name="Google Shape;2092;p142"/>
          <p:cNvCxnSpPr/>
          <p:nvPr/>
        </p:nvCxnSpPr>
        <p:spPr>
          <a:xfrm>
            <a:off x="3911671" y="1785116"/>
            <a:ext cx="9000" cy="1208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3" name="Google Shape;2093;p142"/>
          <p:cNvCxnSpPr/>
          <p:nvPr/>
        </p:nvCxnSpPr>
        <p:spPr>
          <a:xfrm flipH="1">
            <a:off x="2853671" y="1781616"/>
            <a:ext cx="5100" cy="121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4" name="Google Shape;2094;p142"/>
          <p:cNvCxnSpPr/>
          <p:nvPr/>
        </p:nvCxnSpPr>
        <p:spPr>
          <a:xfrm rot="10800000">
            <a:off x="2931396" y="1708416"/>
            <a:ext cx="904200" cy="1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5" name="Google Shape;2095;p142"/>
          <p:cNvCxnSpPr/>
          <p:nvPr/>
        </p:nvCxnSpPr>
        <p:spPr>
          <a:xfrm rot="10800000">
            <a:off x="2941596" y="3075516"/>
            <a:ext cx="894000" cy="6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96" name="Google Shape;2096;p142"/>
          <p:cNvSpPr/>
          <p:nvPr/>
        </p:nvSpPr>
        <p:spPr>
          <a:xfrm>
            <a:off x="2863277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42"/>
          <p:cNvSpPr/>
          <p:nvPr/>
        </p:nvSpPr>
        <p:spPr>
          <a:xfrm rot="10800000">
            <a:off x="3743071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42"/>
          <p:cNvSpPr/>
          <p:nvPr/>
        </p:nvSpPr>
        <p:spPr>
          <a:xfrm flipH="1" rot="10800000">
            <a:off x="2859118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142"/>
          <p:cNvSpPr txBox="1"/>
          <p:nvPr>
            <p:ph idx="1" type="body"/>
          </p:nvPr>
        </p:nvSpPr>
        <p:spPr>
          <a:xfrm>
            <a:off x="3286267" y="2250540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</a:t>
            </a:r>
            <a:endParaRPr sz="1600"/>
          </a:p>
        </p:txBody>
      </p:sp>
      <p:grpSp>
        <p:nvGrpSpPr>
          <p:cNvPr id="2100" name="Google Shape;2100;p142"/>
          <p:cNvGrpSpPr/>
          <p:nvPr/>
        </p:nvGrpSpPr>
        <p:grpSpPr>
          <a:xfrm flipH="1">
            <a:off x="5063471" y="1708416"/>
            <a:ext cx="1067000" cy="1373400"/>
            <a:chOff x="5063471" y="2795269"/>
            <a:chExt cx="1067000" cy="1373400"/>
          </a:xfrm>
        </p:grpSpPr>
        <p:sp>
          <p:nvSpPr>
            <p:cNvPr id="2101" name="Google Shape;2101;p142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b="b" l="l" r="r" t="t"/>
              <a:pathLst>
                <a:path extrusionOk="0" h="112739" w="84788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02" name="Google Shape;2102;p142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03" name="Google Shape;2103;p142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04" name="Google Shape;2104;p142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05" name="Google Shape;2105;p142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06" name="Google Shape;2106;p142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07" name="Google Shape;2107;p142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8" name="Google Shape;2108;p142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9" name="Google Shape;2109;p142"/>
            <p:cNvSpPr/>
            <p:nvPr/>
          </p:nvSpPr>
          <p:spPr>
            <a:xfrm flipH="1" rot="10800000">
              <a:off x="5068918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0" name="Google Shape;2110;p142"/>
          <p:cNvSpPr txBox="1"/>
          <p:nvPr>
            <p:ph idx="1" type="body"/>
          </p:nvPr>
        </p:nvSpPr>
        <p:spPr>
          <a:xfrm>
            <a:off x="5496067" y="2250540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 </a:t>
            </a:r>
            <a:endParaRPr sz="1600"/>
          </a:p>
        </p:txBody>
      </p:sp>
      <p:grpSp>
        <p:nvGrpSpPr>
          <p:cNvPr id="2111" name="Google Shape;2111;p142"/>
          <p:cNvGrpSpPr/>
          <p:nvPr/>
        </p:nvGrpSpPr>
        <p:grpSpPr>
          <a:xfrm flipH="1" rot="10800000">
            <a:off x="7369117" y="1702980"/>
            <a:ext cx="1067000" cy="1373400"/>
            <a:chOff x="5063471" y="2795269"/>
            <a:chExt cx="1067000" cy="1373400"/>
          </a:xfrm>
        </p:grpSpPr>
        <p:sp>
          <p:nvSpPr>
            <p:cNvPr id="2112" name="Google Shape;2112;p142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b="b" l="l" r="r" t="t"/>
              <a:pathLst>
                <a:path extrusionOk="0" h="112739" w="84788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13" name="Google Shape;2113;p142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14" name="Google Shape;2114;p142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15" name="Google Shape;2115;p142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16" name="Google Shape;2116;p142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17" name="Google Shape;2117;p142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18" name="Google Shape;2118;p142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9" name="Google Shape;2119;p142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0" name="Google Shape;2120;p142"/>
            <p:cNvSpPr/>
            <p:nvPr/>
          </p:nvSpPr>
          <p:spPr>
            <a:xfrm flipH="1" rot="10800000">
              <a:off x="5068918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1" name="Google Shape;2121;p142"/>
          <p:cNvSpPr txBox="1"/>
          <p:nvPr>
            <p:ph idx="1" type="body"/>
          </p:nvPr>
        </p:nvSpPr>
        <p:spPr>
          <a:xfrm>
            <a:off x="7834921" y="2264257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 </a:t>
            </a:r>
            <a:endParaRPr sz="1600"/>
          </a:p>
        </p:txBody>
      </p:sp>
      <p:sp>
        <p:nvSpPr>
          <p:cNvPr id="2122" name="Google Shape;2122;p142"/>
          <p:cNvSpPr txBox="1"/>
          <p:nvPr/>
        </p:nvSpPr>
        <p:spPr>
          <a:xfrm>
            <a:off x="234627" y="3753850"/>
            <a:ext cx="75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Label the missing lengths and angles on shapes B to D.</a:t>
            </a:r>
            <a:endParaRPr sz="1800"/>
          </a:p>
        </p:txBody>
      </p:sp>
      <p:sp>
        <p:nvSpPr>
          <p:cNvPr id="2123" name="Google Shape;2123;p142"/>
          <p:cNvSpPr txBox="1"/>
          <p:nvPr/>
        </p:nvSpPr>
        <p:spPr>
          <a:xfrm>
            <a:off x="234628" y="4134850"/>
            <a:ext cx="858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Which transformation could be applied to shape D to create an image that is in the same orientation as shape A?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cxnSp>
        <p:nvCxnSpPr>
          <p:cNvPr id="2129" name="Google Shape;2129;p143"/>
          <p:cNvCxnSpPr/>
          <p:nvPr/>
        </p:nvCxnSpPr>
        <p:spPr>
          <a:xfrm flipH="1">
            <a:off x="5487947" y="1182584"/>
            <a:ext cx="5100" cy="1343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0" name="Google Shape;2130;p143"/>
          <p:cNvCxnSpPr/>
          <p:nvPr/>
        </p:nvCxnSpPr>
        <p:spPr>
          <a:xfrm>
            <a:off x="5675526" y="1123184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1" name="Google Shape;2131;p143"/>
          <p:cNvCxnSpPr/>
          <p:nvPr/>
        </p:nvCxnSpPr>
        <p:spPr>
          <a:xfrm rot="10800000">
            <a:off x="5594226" y="2634122"/>
            <a:ext cx="787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2" name="Google Shape;2132;p143"/>
          <p:cNvCxnSpPr/>
          <p:nvPr/>
        </p:nvCxnSpPr>
        <p:spPr>
          <a:xfrm>
            <a:off x="7152411" y="1199273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3" name="Google Shape;2133;p143"/>
          <p:cNvCxnSpPr/>
          <p:nvPr/>
        </p:nvCxnSpPr>
        <p:spPr>
          <a:xfrm>
            <a:off x="7152411" y="2233834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4" name="Google Shape;2134;p143"/>
          <p:cNvCxnSpPr/>
          <p:nvPr/>
        </p:nvCxnSpPr>
        <p:spPr>
          <a:xfrm>
            <a:off x="7152411" y="3315288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5" name="Google Shape;2135;p143"/>
          <p:cNvCxnSpPr/>
          <p:nvPr/>
        </p:nvCxnSpPr>
        <p:spPr>
          <a:xfrm>
            <a:off x="6466611" y="3315288"/>
            <a:ext cx="0" cy="7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6" name="Google Shape;2136;p143"/>
          <p:cNvCxnSpPr/>
          <p:nvPr/>
        </p:nvCxnSpPr>
        <p:spPr>
          <a:xfrm>
            <a:off x="7248365" y="1117419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7" name="Google Shape;2137;p143"/>
          <p:cNvCxnSpPr/>
          <p:nvPr/>
        </p:nvCxnSpPr>
        <p:spPr>
          <a:xfrm>
            <a:off x="7248365" y="3105946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8" name="Google Shape;2138;p143"/>
          <p:cNvCxnSpPr/>
          <p:nvPr/>
        </p:nvCxnSpPr>
        <p:spPr>
          <a:xfrm>
            <a:off x="7248365" y="4204984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9" name="Google Shape;2139;p143"/>
          <p:cNvCxnSpPr/>
          <p:nvPr/>
        </p:nvCxnSpPr>
        <p:spPr>
          <a:xfrm rot="-5400000">
            <a:off x="7573199" y="1000092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0" name="Google Shape;2140;p143"/>
          <p:cNvCxnSpPr/>
          <p:nvPr/>
        </p:nvCxnSpPr>
        <p:spPr>
          <a:xfrm flipH="1" rot="5400000">
            <a:off x="7580526" y="1885184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1" name="Google Shape;2141;p143"/>
          <p:cNvCxnSpPr/>
          <p:nvPr/>
        </p:nvCxnSpPr>
        <p:spPr>
          <a:xfrm flipH="1" rot="5400000">
            <a:off x="7580526" y="2984222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2" name="Google Shape;2142;p143"/>
          <p:cNvCxnSpPr/>
          <p:nvPr/>
        </p:nvCxnSpPr>
        <p:spPr>
          <a:xfrm rot="-5400000">
            <a:off x="5232980" y="2984222"/>
            <a:ext cx="782400" cy="13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3" name="Google Shape;2143;p143"/>
          <p:cNvCxnSpPr/>
          <p:nvPr/>
        </p:nvCxnSpPr>
        <p:spPr>
          <a:xfrm rot="10800000">
            <a:off x="5061599" y="4190361"/>
            <a:ext cx="1312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144" name="Google Shape;2144;p143"/>
          <p:cNvGrpSpPr/>
          <p:nvPr/>
        </p:nvGrpSpPr>
        <p:grpSpPr>
          <a:xfrm>
            <a:off x="5404193" y="1010935"/>
            <a:ext cx="1082931" cy="1644050"/>
            <a:chOff x="5251793" y="1431500"/>
            <a:chExt cx="1082931" cy="1644050"/>
          </a:xfrm>
        </p:grpSpPr>
        <p:sp>
          <p:nvSpPr>
            <p:cNvPr id="2145" name="Google Shape;2145;p143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6" name="Google Shape;2146;p143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7" name="Google Shape;2147;p143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8" name="Google Shape;2148;p143"/>
          <p:cNvGrpSpPr/>
          <p:nvPr/>
        </p:nvGrpSpPr>
        <p:grpSpPr>
          <a:xfrm rot="5400000">
            <a:off x="7392720" y="742769"/>
            <a:ext cx="1082931" cy="1644050"/>
            <a:chOff x="5251793" y="1431500"/>
            <a:chExt cx="1082931" cy="1644050"/>
          </a:xfrm>
        </p:grpSpPr>
        <p:sp>
          <p:nvSpPr>
            <p:cNvPr id="2149" name="Google Shape;2149;p143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0" name="Google Shape;2150;p143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1" name="Google Shape;2151;p143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2" name="Google Shape;2152;p143"/>
          <p:cNvGrpSpPr/>
          <p:nvPr/>
        </p:nvGrpSpPr>
        <p:grpSpPr>
          <a:xfrm flipH="1" rot="5400000">
            <a:off x="7392720" y="1838877"/>
            <a:ext cx="1082931" cy="1644050"/>
            <a:chOff x="5251793" y="1431500"/>
            <a:chExt cx="1082931" cy="1644050"/>
          </a:xfrm>
        </p:grpSpPr>
        <p:sp>
          <p:nvSpPr>
            <p:cNvPr id="2153" name="Google Shape;2153;p143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4" name="Google Shape;2154;p143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5" name="Google Shape;2155;p143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6" name="Google Shape;2156;p143"/>
          <p:cNvGrpSpPr/>
          <p:nvPr/>
        </p:nvGrpSpPr>
        <p:grpSpPr>
          <a:xfrm flipH="1" rot="5400000">
            <a:off x="7400047" y="2920331"/>
            <a:ext cx="1082931" cy="1644050"/>
            <a:chOff x="5251793" y="1431500"/>
            <a:chExt cx="1082931" cy="1644050"/>
          </a:xfrm>
        </p:grpSpPr>
        <p:sp>
          <p:nvSpPr>
            <p:cNvPr id="2157" name="Google Shape;2157;p143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8" name="Google Shape;2158;p143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9" name="Google Shape;2159;p143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0" name="Google Shape;2160;p143"/>
          <p:cNvGrpSpPr/>
          <p:nvPr/>
        </p:nvGrpSpPr>
        <p:grpSpPr>
          <a:xfrm rot="-5400000">
            <a:off x="5143355" y="2920331"/>
            <a:ext cx="1082931" cy="1644050"/>
            <a:chOff x="5251793" y="1431500"/>
            <a:chExt cx="1082931" cy="1644050"/>
          </a:xfrm>
        </p:grpSpPr>
        <p:sp>
          <p:nvSpPr>
            <p:cNvPr id="2161" name="Google Shape;2161;p143"/>
            <p:cNvSpPr/>
            <p:nvPr/>
          </p:nvSpPr>
          <p:spPr>
            <a:xfrm>
              <a:off x="5251793" y="1431500"/>
              <a:ext cx="408600" cy="408600"/>
            </a:xfrm>
            <a:prstGeom prst="arc">
              <a:avLst>
                <a:gd fmla="val 3596057" name="adj1"/>
                <a:gd fmla="val 573589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2" name="Google Shape;2162;p143"/>
            <p:cNvSpPr/>
            <p:nvPr/>
          </p:nvSpPr>
          <p:spPr>
            <a:xfrm>
              <a:off x="6046125" y="2786950"/>
              <a:ext cx="288600" cy="288600"/>
            </a:xfrm>
            <a:prstGeom prst="arc">
              <a:avLst>
                <a:gd fmla="val 10685781" name="adj1"/>
                <a:gd fmla="val 14894571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3" name="Google Shape;2163;p143"/>
            <p:cNvSpPr/>
            <p:nvPr/>
          </p:nvSpPr>
          <p:spPr>
            <a:xfrm>
              <a:off x="5440950" y="2849150"/>
              <a:ext cx="97500" cy="975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4" name="Google Shape;2164;p143"/>
          <p:cNvSpPr/>
          <p:nvPr/>
        </p:nvSpPr>
        <p:spPr>
          <a:xfrm>
            <a:off x="5594226" y="1183784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43"/>
          <p:cNvSpPr/>
          <p:nvPr/>
        </p:nvSpPr>
        <p:spPr>
          <a:xfrm rot="5400000">
            <a:off x="7520465" y="931073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43"/>
          <p:cNvSpPr/>
          <p:nvPr/>
        </p:nvSpPr>
        <p:spPr>
          <a:xfrm flipH="1" rot="5400000">
            <a:off x="7520465" y="3032278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43"/>
          <p:cNvSpPr/>
          <p:nvPr/>
        </p:nvSpPr>
        <p:spPr>
          <a:xfrm rot="-5400000">
            <a:off x="5311835" y="3032278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43"/>
          <p:cNvSpPr/>
          <p:nvPr/>
        </p:nvSpPr>
        <p:spPr>
          <a:xfrm flipH="1" rot="5400000">
            <a:off x="7520465" y="1954626"/>
            <a:ext cx="787500" cy="1341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43"/>
          <p:cNvSpPr txBox="1"/>
          <p:nvPr/>
        </p:nvSpPr>
        <p:spPr>
          <a:xfrm>
            <a:off x="5848244" y="2554680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2170" name="Google Shape;2170;p143"/>
          <p:cNvSpPr txBox="1"/>
          <p:nvPr/>
        </p:nvSpPr>
        <p:spPr>
          <a:xfrm>
            <a:off x="5209337" y="1684241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2171" name="Google Shape;2171;p143"/>
          <p:cNvSpPr txBox="1"/>
          <p:nvPr/>
        </p:nvSpPr>
        <p:spPr>
          <a:xfrm>
            <a:off x="6040210" y="15391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2172" name="Google Shape;2172;p143"/>
          <p:cNvSpPr txBox="1"/>
          <p:nvPr/>
        </p:nvSpPr>
        <p:spPr>
          <a:xfrm>
            <a:off x="5750054" y="1039463"/>
            <a:ext cx="6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/>
          </a:p>
        </p:txBody>
      </p:sp>
      <p:sp>
        <p:nvSpPr>
          <p:cNvPr id="2173" name="Google Shape;2173;p143"/>
          <p:cNvSpPr txBox="1"/>
          <p:nvPr/>
        </p:nvSpPr>
        <p:spPr>
          <a:xfrm>
            <a:off x="5843838" y="2175137"/>
            <a:ext cx="60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/>
          </a:p>
        </p:txBody>
      </p:sp>
      <p:cxnSp>
        <p:nvCxnSpPr>
          <p:cNvPr id="2174" name="Google Shape;2174;p143"/>
          <p:cNvCxnSpPr/>
          <p:nvPr/>
        </p:nvCxnSpPr>
        <p:spPr>
          <a:xfrm flipH="1">
            <a:off x="5627800" y="1296260"/>
            <a:ext cx="213000" cy="6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5" name="Google Shape;2175;p143"/>
          <p:cNvSpPr txBox="1"/>
          <p:nvPr/>
        </p:nvSpPr>
        <p:spPr>
          <a:xfrm>
            <a:off x="6899044" y="1365070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6" name="Google Shape;2176;p143"/>
          <p:cNvSpPr txBox="1"/>
          <p:nvPr/>
        </p:nvSpPr>
        <p:spPr>
          <a:xfrm>
            <a:off x="7662649" y="765941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7" name="Google Shape;2177;p143"/>
          <p:cNvSpPr txBox="1"/>
          <p:nvPr/>
        </p:nvSpPr>
        <p:spPr>
          <a:xfrm>
            <a:off x="7852885" y="1513293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8" name="Google Shape;2178;p143"/>
          <p:cNvSpPr txBox="1"/>
          <p:nvPr/>
        </p:nvSpPr>
        <p:spPr>
          <a:xfrm>
            <a:off x="7908565" y="1086356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9" name="Google Shape;2179;p143"/>
          <p:cNvSpPr txBox="1"/>
          <p:nvPr/>
        </p:nvSpPr>
        <p:spPr>
          <a:xfrm>
            <a:off x="7188338" y="1499887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0" name="Google Shape;2180;p143"/>
          <p:cNvSpPr txBox="1"/>
          <p:nvPr/>
        </p:nvSpPr>
        <p:spPr>
          <a:xfrm>
            <a:off x="7852885" y="2199093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1" name="Google Shape;2181;p143"/>
          <p:cNvSpPr txBox="1"/>
          <p:nvPr/>
        </p:nvSpPr>
        <p:spPr>
          <a:xfrm>
            <a:off x="7852885" y="3305459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2" name="Google Shape;2182;p143"/>
          <p:cNvSpPr txBox="1"/>
          <p:nvPr/>
        </p:nvSpPr>
        <p:spPr>
          <a:xfrm>
            <a:off x="5414485" y="3305459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3" name="Google Shape;2183;p143"/>
          <p:cNvSpPr txBox="1"/>
          <p:nvPr/>
        </p:nvSpPr>
        <p:spPr>
          <a:xfrm>
            <a:off x="7694888" y="2975741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4" name="Google Shape;2184;p143"/>
          <p:cNvSpPr txBox="1"/>
          <p:nvPr/>
        </p:nvSpPr>
        <p:spPr>
          <a:xfrm>
            <a:off x="7694888" y="4082107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5" name="Google Shape;2185;p143"/>
          <p:cNvSpPr txBox="1"/>
          <p:nvPr/>
        </p:nvSpPr>
        <p:spPr>
          <a:xfrm>
            <a:off x="5637488" y="4082107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6" name="Google Shape;2186;p143"/>
          <p:cNvSpPr txBox="1"/>
          <p:nvPr/>
        </p:nvSpPr>
        <p:spPr>
          <a:xfrm>
            <a:off x="6899044" y="2431870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7" name="Google Shape;2187;p143"/>
          <p:cNvSpPr txBox="1"/>
          <p:nvPr/>
        </p:nvSpPr>
        <p:spPr>
          <a:xfrm>
            <a:off x="6899044" y="3498670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8" name="Google Shape;2188;p143"/>
          <p:cNvSpPr txBox="1"/>
          <p:nvPr/>
        </p:nvSpPr>
        <p:spPr>
          <a:xfrm>
            <a:off x="6394952" y="3498670"/>
            <a:ext cx="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9" name="Google Shape;2189;p143"/>
          <p:cNvSpPr txBox="1"/>
          <p:nvPr/>
        </p:nvSpPr>
        <p:spPr>
          <a:xfrm>
            <a:off x="7857277" y="2693883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0" name="Google Shape;2190;p143"/>
          <p:cNvSpPr txBox="1"/>
          <p:nvPr/>
        </p:nvSpPr>
        <p:spPr>
          <a:xfrm>
            <a:off x="7166358" y="2298521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1" name="Google Shape;2191;p143"/>
          <p:cNvSpPr txBox="1"/>
          <p:nvPr/>
        </p:nvSpPr>
        <p:spPr>
          <a:xfrm>
            <a:off x="7857277" y="3768010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2" name="Google Shape;2192;p143"/>
          <p:cNvSpPr txBox="1"/>
          <p:nvPr/>
        </p:nvSpPr>
        <p:spPr>
          <a:xfrm>
            <a:off x="7166358" y="3372648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3" name="Google Shape;2193;p143"/>
          <p:cNvSpPr txBox="1"/>
          <p:nvPr/>
        </p:nvSpPr>
        <p:spPr>
          <a:xfrm>
            <a:off x="5222515" y="3760683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4" name="Google Shape;2194;p143"/>
          <p:cNvSpPr txBox="1"/>
          <p:nvPr/>
        </p:nvSpPr>
        <p:spPr>
          <a:xfrm>
            <a:off x="5932504" y="3372648"/>
            <a:ext cx="6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53°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5" name="Google Shape;2195;p143"/>
          <p:cNvSpPr txBox="1"/>
          <p:nvPr/>
        </p:nvSpPr>
        <p:spPr>
          <a:xfrm>
            <a:off x="5703171" y="1836641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/>
          </a:p>
        </p:txBody>
      </p:sp>
      <p:sp>
        <p:nvSpPr>
          <p:cNvPr id="2196" name="Google Shape;2196;p143"/>
          <p:cNvSpPr txBox="1"/>
          <p:nvPr/>
        </p:nvSpPr>
        <p:spPr>
          <a:xfrm>
            <a:off x="7455771" y="12343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/>
          </a:p>
        </p:txBody>
      </p:sp>
      <p:sp>
        <p:nvSpPr>
          <p:cNvPr id="2197" name="Google Shape;2197;p143"/>
          <p:cNvSpPr txBox="1"/>
          <p:nvPr/>
        </p:nvSpPr>
        <p:spPr>
          <a:xfrm>
            <a:off x="7455771" y="25297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sp>
        <p:nvSpPr>
          <p:cNvPr id="2198" name="Google Shape;2198;p143"/>
          <p:cNvSpPr txBox="1"/>
          <p:nvPr/>
        </p:nvSpPr>
        <p:spPr>
          <a:xfrm>
            <a:off x="7455771" y="3596568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/>
          </a:p>
        </p:txBody>
      </p:sp>
      <p:sp>
        <p:nvSpPr>
          <p:cNvPr id="2199" name="Google Shape;2199;p143"/>
          <p:cNvSpPr txBox="1"/>
          <p:nvPr/>
        </p:nvSpPr>
        <p:spPr>
          <a:xfrm>
            <a:off x="5761787" y="3647857"/>
            <a:ext cx="23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/>
          </a:p>
        </p:txBody>
      </p:sp>
      <p:sp>
        <p:nvSpPr>
          <p:cNvPr id="2200" name="Google Shape;2200;p143"/>
          <p:cNvSpPr txBox="1"/>
          <p:nvPr/>
        </p:nvSpPr>
        <p:spPr>
          <a:xfrm>
            <a:off x="498269" y="1426606"/>
            <a:ext cx="10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rotation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1" name="Google Shape;2201;p143"/>
          <p:cNvSpPr txBox="1"/>
          <p:nvPr/>
        </p:nvSpPr>
        <p:spPr>
          <a:xfrm>
            <a:off x="498278" y="2112410"/>
            <a:ext cx="146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2" name="Google Shape;2202;p143"/>
          <p:cNvSpPr txBox="1"/>
          <p:nvPr/>
        </p:nvSpPr>
        <p:spPr>
          <a:xfrm>
            <a:off x="498277" y="2743985"/>
            <a:ext cx="137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translation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3" name="Google Shape;2203;p143"/>
          <p:cNvSpPr txBox="1"/>
          <p:nvPr/>
        </p:nvSpPr>
        <p:spPr>
          <a:xfrm>
            <a:off x="498276" y="3415135"/>
            <a:ext cx="126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reflection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4" name="Google Shape;2204;p143"/>
          <p:cNvSpPr txBox="1"/>
          <p:nvPr/>
        </p:nvSpPr>
        <p:spPr>
          <a:xfrm>
            <a:off x="498269" y="4068694"/>
            <a:ext cx="10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rotation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5" name="Google Shape;2205;p143"/>
          <p:cNvSpPr txBox="1"/>
          <p:nvPr>
            <p:ph idx="1" type="body"/>
          </p:nvPr>
        </p:nvSpPr>
        <p:spPr>
          <a:xfrm>
            <a:off x="324000" y="759300"/>
            <a:ext cx="8112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five triangles are congruent.</a:t>
            </a:r>
            <a:endParaRPr sz="1800"/>
          </a:p>
        </p:txBody>
      </p:sp>
      <p:sp>
        <p:nvSpPr>
          <p:cNvPr id="2206" name="Google Shape;2206;p143"/>
          <p:cNvSpPr txBox="1"/>
          <p:nvPr/>
        </p:nvSpPr>
        <p:spPr>
          <a:xfrm>
            <a:off x="234625" y="4420675"/>
            <a:ext cx="67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Label the missing lengths and angles on triangles B to E.</a:t>
            </a:r>
            <a:endParaRPr sz="1800"/>
          </a:p>
        </p:txBody>
      </p:sp>
      <p:sp>
        <p:nvSpPr>
          <p:cNvPr id="2207" name="Google Shape;2207;p143"/>
          <p:cNvSpPr txBox="1"/>
          <p:nvPr/>
        </p:nvSpPr>
        <p:spPr>
          <a:xfrm>
            <a:off x="234625" y="1138725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transformation maps A onto B?</a:t>
            </a:r>
            <a:endParaRPr sz="1800"/>
          </a:p>
        </p:txBody>
      </p:sp>
      <p:sp>
        <p:nvSpPr>
          <p:cNvPr id="2208" name="Google Shape;2208;p143"/>
          <p:cNvSpPr txBox="1"/>
          <p:nvPr/>
        </p:nvSpPr>
        <p:spPr>
          <a:xfrm>
            <a:off x="234625" y="1801675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transformation maps B onto C?</a:t>
            </a:r>
            <a:endParaRPr sz="1800"/>
          </a:p>
        </p:txBody>
      </p:sp>
      <p:sp>
        <p:nvSpPr>
          <p:cNvPr id="2209" name="Google Shape;2209;p143"/>
          <p:cNvSpPr txBox="1"/>
          <p:nvPr/>
        </p:nvSpPr>
        <p:spPr>
          <a:xfrm>
            <a:off x="234625" y="2464600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transformation maps C onto D?</a:t>
            </a:r>
            <a:endParaRPr sz="1800"/>
          </a:p>
        </p:txBody>
      </p:sp>
      <p:sp>
        <p:nvSpPr>
          <p:cNvPr id="2210" name="Google Shape;2210;p143"/>
          <p:cNvSpPr txBox="1"/>
          <p:nvPr/>
        </p:nvSpPr>
        <p:spPr>
          <a:xfrm>
            <a:off x="234625" y="3127550"/>
            <a:ext cx="47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What transformation maps D onto E?</a:t>
            </a:r>
            <a:endParaRPr sz="1800"/>
          </a:p>
        </p:txBody>
      </p:sp>
      <p:sp>
        <p:nvSpPr>
          <p:cNvPr id="2211" name="Google Shape;2211;p143"/>
          <p:cNvSpPr txBox="1"/>
          <p:nvPr/>
        </p:nvSpPr>
        <p:spPr>
          <a:xfrm>
            <a:off x="234625" y="3790475"/>
            <a:ext cx="4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What transformation maps E onto A?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144"/>
          <p:cNvSpPr/>
          <p:nvPr/>
        </p:nvSpPr>
        <p:spPr>
          <a:xfrm flipH="1">
            <a:off x="800161" y="1785216"/>
            <a:ext cx="910835" cy="1211099"/>
          </a:xfrm>
          <a:custGeom>
            <a:rect b="b" l="l" r="r" t="t"/>
            <a:pathLst>
              <a:path extrusionOk="0" h="112739" w="84788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17" name="Google Shape;2217;p144"/>
          <p:cNvSpPr txBox="1"/>
          <p:nvPr>
            <p:ph idx="1" type="body"/>
          </p:nvPr>
        </p:nvSpPr>
        <p:spPr>
          <a:xfrm>
            <a:off x="324000" y="759300"/>
            <a:ext cx="84960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The four quadrilaterals are congruent. The transformations which map each shape onto the next shape are stated below.</a:t>
            </a:r>
            <a:endParaRPr sz="1800"/>
          </a:p>
        </p:txBody>
      </p:sp>
      <p:sp>
        <p:nvSpPr>
          <p:cNvPr id="2218" name="Google Shape;2218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missing information on congruent shapes</a:t>
            </a:r>
            <a:endParaRPr/>
          </a:p>
        </p:txBody>
      </p:sp>
      <p:sp>
        <p:nvSpPr>
          <p:cNvPr id="2219" name="Google Shape;2219;p144"/>
          <p:cNvSpPr/>
          <p:nvPr/>
        </p:nvSpPr>
        <p:spPr>
          <a:xfrm flipH="1">
            <a:off x="1613630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0" name="Google Shape;2220;p144"/>
          <p:cNvCxnSpPr/>
          <p:nvPr/>
        </p:nvCxnSpPr>
        <p:spPr>
          <a:xfrm>
            <a:off x="1778071" y="1785116"/>
            <a:ext cx="9000" cy="1208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1" name="Google Shape;2221;p144"/>
          <p:cNvCxnSpPr/>
          <p:nvPr/>
        </p:nvCxnSpPr>
        <p:spPr>
          <a:xfrm flipH="1">
            <a:off x="720071" y="1781616"/>
            <a:ext cx="5100" cy="121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2" name="Google Shape;2222;p144"/>
          <p:cNvCxnSpPr/>
          <p:nvPr/>
        </p:nvCxnSpPr>
        <p:spPr>
          <a:xfrm rot="10800000">
            <a:off x="797796" y="1708416"/>
            <a:ext cx="904200" cy="1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3" name="Google Shape;2223;p144"/>
          <p:cNvCxnSpPr/>
          <p:nvPr/>
        </p:nvCxnSpPr>
        <p:spPr>
          <a:xfrm rot="10800000">
            <a:off x="807996" y="3075516"/>
            <a:ext cx="894000" cy="6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4" name="Google Shape;2224;p144"/>
          <p:cNvSpPr/>
          <p:nvPr/>
        </p:nvSpPr>
        <p:spPr>
          <a:xfrm>
            <a:off x="729677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44"/>
          <p:cNvSpPr/>
          <p:nvPr/>
        </p:nvSpPr>
        <p:spPr>
          <a:xfrm rot="10800000">
            <a:off x="1609471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44"/>
          <p:cNvSpPr/>
          <p:nvPr/>
        </p:nvSpPr>
        <p:spPr>
          <a:xfrm flipH="1" rot="10800000">
            <a:off x="725518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44"/>
          <p:cNvSpPr txBox="1"/>
          <p:nvPr>
            <p:ph idx="1" type="body"/>
          </p:nvPr>
        </p:nvSpPr>
        <p:spPr>
          <a:xfrm>
            <a:off x="833906" y="2703877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88°</a:t>
            </a:r>
            <a:endParaRPr sz="1600"/>
          </a:p>
        </p:txBody>
      </p:sp>
      <p:sp>
        <p:nvSpPr>
          <p:cNvPr id="2228" name="Google Shape;2228;p144"/>
          <p:cNvSpPr txBox="1"/>
          <p:nvPr>
            <p:ph idx="1" type="body"/>
          </p:nvPr>
        </p:nvSpPr>
        <p:spPr>
          <a:xfrm>
            <a:off x="1377332" y="2693619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91°</a:t>
            </a:r>
            <a:endParaRPr sz="1600"/>
          </a:p>
        </p:txBody>
      </p:sp>
      <p:sp>
        <p:nvSpPr>
          <p:cNvPr id="2229" name="Google Shape;2229;p144"/>
          <p:cNvSpPr txBox="1"/>
          <p:nvPr>
            <p:ph idx="1" type="body"/>
          </p:nvPr>
        </p:nvSpPr>
        <p:spPr>
          <a:xfrm>
            <a:off x="851259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89°</a:t>
            </a:r>
            <a:endParaRPr sz="1600"/>
          </a:p>
        </p:txBody>
      </p:sp>
      <p:sp>
        <p:nvSpPr>
          <p:cNvPr id="2230" name="Google Shape;2230;p144"/>
          <p:cNvSpPr txBox="1"/>
          <p:nvPr>
            <p:ph idx="1" type="body"/>
          </p:nvPr>
        </p:nvSpPr>
        <p:spPr>
          <a:xfrm>
            <a:off x="1336302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92°</a:t>
            </a:r>
            <a:endParaRPr sz="1600"/>
          </a:p>
        </p:txBody>
      </p:sp>
      <p:sp>
        <p:nvSpPr>
          <p:cNvPr id="2231" name="Google Shape;2231;p144"/>
          <p:cNvSpPr txBox="1"/>
          <p:nvPr>
            <p:ph idx="1" type="body"/>
          </p:nvPr>
        </p:nvSpPr>
        <p:spPr>
          <a:xfrm>
            <a:off x="1797657" y="2275743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2232" name="Google Shape;2232;p144"/>
          <p:cNvSpPr txBox="1"/>
          <p:nvPr>
            <p:ph idx="1" type="body"/>
          </p:nvPr>
        </p:nvSpPr>
        <p:spPr>
          <a:xfrm>
            <a:off x="1045052" y="1458507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2.99</a:t>
            </a:r>
            <a:endParaRPr sz="1600"/>
          </a:p>
        </p:txBody>
      </p:sp>
      <p:sp>
        <p:nvSpPr>
          <p:cNvPr id="2233" name="Google Shape;2233;p144"/>
          <p:cNvSpPr txBox="1"/>
          <p:nvPr>
            <p:ph idx="1" type="body"/>
          </p:nvPr>
        </p:nvSpPr>
        <p:spPr>
          <a:xfrm>
            <a:off x="1213271" y="3043469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2234" name="Google Shape;2234;p144"/>
          <p:cNvSpPr txBox="1"/>
          <p:nvPr>
            <p:ph idx="1" type="body"/>
          </p:nvPr>
        </p:nvSpPr>
        <p:spPr>
          <a:xfrm>
            <a:off x="309731" y="2260654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3.99</a:t>
            </a:r>
            <a:endParaRPr sz="1600"/>
          </a:p>
        </p:txBody>
      </p:sp>
      <p:sp>
        <p:nvSpPr>
          <p:cNvPr id="2235" name="Google Shape;2235;p144"/>
          <p:cNvSpPr txBox="1"/>
          <p:nvPr>
            <p:ph idx="1" type="body"/>
          </p:nvPr>
        </p:nvSpPr>
        <p:spPr>
          <a:xfrm>
            <a:off x="1152667" y="2250540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</a:t>
            </a:r>
            <a:endParaRPr sz="1600"/>
          </a:p>
        </p:txBody>
      </p:sp>
      <p:sp>
        <p:nvSpPr>
          <p:cNvPr id="2236" name="Google Shape;2236;p144"/>
          <p:cNvSpPr/>
          <p:nvPr/>
        </p:nvSpPr>
        <p:spPr>
          <a:xfrm flipH="1">
            <a:off x="2933761" y="1785216"/>
            <a:ext cx="910835" cy="1211099"/>
          </a:xfrm>
          <a:custGeom>
            <a:rect b="b" l="l" r="r" t="t"/>
            <a:pathLst>
              <a:path extrusionOk="0" h="112739" w="84788">
                <a:moveTo>
                  <a:pt x="781" y="0"/>
                </a:moveTo>
                <a:lnTo>
                  <a:pt x="0" y="112739"/>
                </a:lnTo>
                <a:lnTo>
                  <a:pt x="84632" y="112582"/>
                </a:lnTo>
                <a:lnTo>
                  <a:pt x="84788" y="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37" name="Google Shape;2237;p144"/>
          <p:cNvSpPr/>
          <p:nvPr/>
        </p:nvSpPr>
        <p:spPr>
          <a:xfrm flipH="1">
            <a:off x="3747230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8" name="Google Shape;2238;p144"/>
          <p:cNvCxnSpPr/>
          <p:nvPr/>
        </p:nvCxnSpPr>
        <p:spPr>
          <a:xfrm>
            <a:off x="3911671" y="1785116"/>
            <a:ext cx="9000" cy="1208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39" name="Google Shape;2239;p144"/>
          <p:cNvCxnSpPr/>
          <p:nvPr/>
        </p:nvCxnSpPr>
        <p:spPr>
          <a:xfrm flipH="1">
            <a:off x="2853671" y="1781616"/>
            <a:ext cx="5100" cy="121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0" name="Google Shape;2240;p144"/>
          <p:cNvCxnSpPr/>
          <p:nvPr/>
        </p:nvCxnSpPr>
        <p:spPr>
          <a:xfrm rot="10800000">
            <a:off x="2931396" y="1708416"/>
            <a:ext cx="904200" cy="1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1" name="Google Shape;2241;p144"/>
          <p:cNvCxnSpPr/>
          <p:nvPr/>
        </p:nvCxnSpPr>
        <p:spPr>
          <a:xfrm rot="10800000">
            <a:off x="2941596" y="3075516"/>
            <a:ext cx="894000" cy="6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2" name="Google Shape;2242;p144"/>
          <p:cNvSpPr/>
          <p:nvPr/>
        </p:nvSpPr>
        <p:spPr>
          <a:xfrm>
            <a:off x="2863277" y="2899351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44"/>
          <p:cNvSpPr/>
          <p:nvPr/>
        </p:nvSpPr>
        <p:spPr>
          <a:xfrm rot="10800000">
            <a:off x="3743071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4" name="Google Shape;2244;p144"/>
          <p:cNvSpPr/>
          <p:nvPr/>
        </p:nvSpPr>
        <p:spPr>
          <a:xfrm flipH="1" rot="10800000">
            <a:off x="2859118" y="1711346"/>
            <a:ext cx="168600" cy="168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44"/>
          <p:cNvSpPr txBox="1"/>
          <p:nvPr>
            <p:ph idx="1" type="body"/>
          </p:nvPr>
        </p:nvSpPr>
        <p:spPr>
          <a:xfrm>
            <a:off x="2967506" y="2703877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88°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6" name="Google Shape;2246;p144"/>
          <p:cNvSpPr txBox="1"/>
          <p:nvPr>
            <p:ph idx="1" type="body"/>
          </p:nvPr>
        </p:nvSpPr>
        <p:spPr>
          <a:xfrm>
            <a:off x="3510932" y="2693619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91°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7" name="Google Shape;2247;p144"/>
          <p:cNvSpPr txBox="1"/>
          <p:nvPr>
            <p:ph idx="1" type="body"/>
          </p:nvPr>
        </p:nvSpPr>
        <p:spPr>
          <a:xfrm>
            <a:off x="2984859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89°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8" name="Google Shape;2248;p144"/>
          <p:cNvSpPr txBox="1"/>
          <p:nvPr>
            <p:ph idx="1" type="body"/>
          </p:nvPr>
        </p:nvSpPr>
        <p:spPr>
          <a:xfrm>
            <a:off x="3469902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92°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9" name="Google Shape;2249;p144"/>
          <p:cNvSpPr txBox="1"/>
          <p:nvPr>
            <p:ph idx="1" type="body"/>
          </p:nvPr>
        </p:nvSpPr>
        <p:spPr>
          <a:xfrm>
            <a:off x="3931257" y="2275743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0" name="Google Shape;2250;p144"/>
          <p:cNvSpPr txBox="1"/>
          <p:nvPr>
            <p:ph idx="1" type="body"/>
          </p:nvPr>
        </p:nvSpPr>
        <p:spPr>
          <a:xfrm>
            <a:off x="3178652" y="1458507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2.99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1" name="Google Shape;2251;p144"/>
          <p:cNvSpPr txBox="1"/>
          <p:nvPr>
            <p:ph idx="1" type="body"/>
          </p:nvPr>
        </p:nvSpPr>
        <p:spPr>
          <a:xfrm>
            <a:off x="3346871" y="3043469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2" name="Google Shape;2252;p144"/>
          <p:cNvSpPr txBox="1"/>
          <p:nvPr>
            <p:ph idx="1" type="body"/>
          </p:nvPr>
        </p:nvSpPr>
        <p:spPr>
          <a:xfrm>
            <a:off x="2413252" y="2260654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3.99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3" name="Google Shape;2253;p144"/>
          <p:cNvSpPr txBox="1"/>
          <p:nvPr>
            <p:ph idx="1" type="body"/>
          </p:nvPr>
        </p:nvSpPr>
        <p:spPr>
          <a:xfrm>
            <a:off x="3286267" y="2250540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</a:t>
            </a:r>
            <a:endParaRPr sz="1600"/>
          </a:p>
        </p:txBody>
      </p:sp>
      <p:grpSp>
        <p:nvGrpSpPr>
          <p:cNvPr id="2254" name="Google Shape;2254;p144"/>
          <p:cNvGrpSpPr/>
          <p:nvPr/>
        </p:nvGrpSpPr>
        <p:grpSpPr>
          <a:xfrm flipH="1">
            <a:off x="5063471" y="1708416"/>
            <a:ext cx="1067000" cy="1373400"/>
            <a:chOff x="5063471" y="2795269"/>
            <a:chExt cx="1067000" cy="1373400"/>
          </a:xfrm>
        </p:grpSpPr>
        <p:sp>
          <p:nvSpPr>
            <p:cNvPr id="2255" name="Google Shape;2255;p144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b="b" l="l" r="r" t="t"/>
              <a:pathLst>
                <a:path extrusionOk="0" h="112739" w="84788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56" name="Google Shape;2256;p144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57" name="Google Shape;2257;p144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58" name="Google Shape;2258;p144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59" name="Google Shape;2259;p144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60" name="Google Shape;2260;p144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61" name="Google Shape;2261;p144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2" name="Google Shape;2262;p144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3" name="Google Shape;2263;p144"/>
            <p:cNvSpPr/>
            <p:nvPr/>
          </p:nvSpPr>
          <p:spPr>
            <a:xfrm flipH="1" rot="10800000">
              <a:off x="5068918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4" name="Google Shape;2264;p144"/>
          <p:cNvSpPr txBox="1"/>
          <p:nvPr>
            <p:ph idx="1" type="body"/>
          </p:nvPr>
        </p:nvSpPr>
        <p:spPr>
          <a:xfrm>
            <a:off x="5177306" y="2703877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91°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5" name="Google Shape;2265;p144"/>
          <p:cNvSpPr txBox="1"/>
          <p:nvPr>
            <p:ph idx="1" type="body"/>
          </p:nvPr>
        </p:nvSpPr>
        <p:spPr>
          <a:xfrm>
            <a:off x="5657205" y="2693619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88°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6" name="Google Shape;2266;p144"/>
          <p:cNvSpPr txBox="1"/>
          <p:nvPr>
            <p:ph idx="1" type="body"/>
          </p:nvPr>
        </p:nvSpPr>
        <p:spPr>
          <a:xfrm>
            <a:off x="5194659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92°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7" name="Google Shape;2267;p144"/>
          <p:cNvSpPr txBox="1"/>
          <p:nvPr>
            <p:ph idx="1" type="body"/>
          </p:nvPr>
        </p:nvSpPr>
        <p:spPr>
          <a:xfrm>
            <a:off x="5679702" y="1826343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89°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8" name="Google Shape;2268;p144"/>
          <p:cNvSpPr txBox="1"/>
          <p:nvPr>
            <p:ph idx="1" type="body"/>
          </p:nvPr>
        </p:nvSpPr>
        <p:spPr>
          <a:xfrm>
            <a:off x="4921857" y="2275743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9" name="Google Shape;2269;p144"/>
          <p:cNvSpPr txBox="1"/>
          <p:nvPr>
            <p:ph idx="1" type="body"/>
          </p:nvPr>
        </p:nvSpPr>
        <p:spPr>
          <a:xfrm>
            <a:off x="5388452" y="1458507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2.99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0" name="Google Shape;2270;p144"/>
          <p:cNvSpPr txBox="1"/>
          <p:nvPr>
            <p:ph idx="1" type="body"/>
          </p:nvPr>
        </p:nvSpPr>
        <p:spPr>
          <a:xfrm>
            <a:off x="5556671" y="3043469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1" name="Google Shape;2271;p144"/>
          <p:cNvSpPr txBox="1"/>
          <p:nvPr>
            <p:ph idx="1" type="body"/>
          </p:nvPr>
        </p:nvSpPr>
        <p:spPr>
          <a:xfrm>
            <a:off x="6157078" y="2260654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3.99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2" name="Google Shape;2272;p144"/>
          <p:cNvSpPr txBox="1"/>
          <p:nvPr>
            <p:ph idx="1" type="body"/>
          </p:nvPr>
        </p:nvSpPr>
        <p:spPr>
          <a:xfrm>
            <a:off x="5496067" y="2250540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 </a:t>
            </a:r>
            <a:endParaRPr sz="1600"/>
          </a:p>
        </p:txBody>
      </p:sp>
      <p:grpSp>
        <p:nvGrpSpPr>
          <p:cNvPr id="2273" name="Google Shape;2273;p144"/>
          <p:cNvGrpSpPr/>
          <p:nvPr/>
        </p:nvGrpSpPr>
        <p:grpSpPr>
          <a:xfrm flipH="1" rot="10800000">
            <a:off x="7369117" y="1702980"/>
            <a:ext cx="1067000" cy="1373400"/>
            <a:chOff x="5063471" y="2795269"/>
            <a:chExt cx="1067000" cy="1373400"/>
          </a:xfrm>
        </p:grpSpPr>
        <p:sp>
          <p:nvSpPr>
            <p:cNvPr id="2274" name="Google Shape;2274;p144"/>
            <p:cNvSpPr/>
            <p:nvPr/>
          </p:nvSpPr>
          <p:spPr>
            <a:xfrm flipH="1">
              <a:off x="5143561" y="2872069"/>
              <a:ext cx="910835" cy="1211099"/>
            </a:xfrm>
            <a:custGeom>
              <a:rect b="b" l="l" r="r" t="t"/>
              <a:pathLst>
                <a:path extrusionOk="0" h="112739" w="84788">
                  <a:moveTo>
                    <a:pt x="781" y="0"/>
                  </a:moveTo>
                  <a:lnTo>
                    <a:pt x="0" y="112739"/>
                  </a:lnTo>
                  <a:lnTo>
                    <a:pt x="84632" y="112582"/>
                  </a:lnTo>
                  <a:lnTo>
                    <a:pt x="84788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75" name="Google Shape;2275;p144"/>
            <p:cNvSpPr/>
            <p:nvPr/>
          </p:nvSpPr>
          <p:spPr>
            <a:xfrm flipH="1">
              <a:off x="5957030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76" name="Google Shape;2276;p144"/>
            <p:cNvCxnSpPr/>
            <p:nvPr/>
          </p:nvCxnSpPr>
          <p:spPr>
            <a:xfrm>
              <a:off x="6121471" y="2871969"/>
              <a:ext cx="9000" cy="1208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77" name="Google Shape;2277;p144"/>
            <p:cNvCxnSpPr/>
            <p:nvPr/>
          </p:nvCxnSpPr>
          <p:spPr>
            <a:xfrm flipH="1">
              <a:off x="5063471" y="2868469"/>
              <a:ext cx="5100" cy="1212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78" name="Google Shape;2278;p144"/>
            <p:cNvCxnSpPr/>
            <p:nvPr/>
          </p:nvCxnSpPr>
          <p:spPr>
            <a:xfrm rot="10800000">
              <a:off x="5141196" y="2795269"/>
              <a:ext cx="904200" cy="1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79" name="Google Shape;2279;p144"/>
            <p:cNvCxnSpPr/>
            <p:nvPr/>
          </p:nvCxnSpPr>
          <p:spPr>
            <a:xfrm rot="10800000">
              <a:off x="5151396" y="4162369"/>
              <a:ext cx="894000" cy="63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80" name="Google Shape;2280;p144"/>
            <p:cNvSpPr/>
            <p:nvPr/>
          </p:nvSpPr>
          <p:spPr>
            <a:xfrm>
              <a:off x="5073077" y="3986203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1" name="Google Shape;2281;p144"/>
            <p:cNvSpPr/>
            <p:nvPr/>
          </p:nvSpPr>
          <p:spPr>
            <a:xfrm rot="10800000">
              <a:off x="5952871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2" name="Google Shape;2282;p144"/>
            <p:cNvSpPr/>
            <p:nvPr/>
          </p:nvSpPr>
          <p:spPr>
            <a:xfrm flipH="1" rot="10800000">
              <a:off x="5068918" y="2798199"/>
              <a:ext cx="168600" cy="1686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83" name="Google Shape;2283;p144"/>
          <p:cNvSpPr txBox="1"/>
          <p:nvPr>
            <p:ph idx="1" type="body"/>
          </p:nvPr>
        </p:nvSpPr>
        <p:spPr>
          <a:xfrm>
            <a:off x="8026182" y="1844220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91°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4" name="Google Shape;2284;p144"/>
          <p:cNvSpPr txBox="1"/>
          <p:nvPr>
            <p:ph idx="1" type="body"/>
          </p:nvPr>
        </p:nvSpPr>
        <p:spPr>
          <a:xfrm>
            <a:off x="7506178" y="1854478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88°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5" name="Google Shape;2285;p144"/>
          <p:cNvSpPr txBox="1"/>
          <p:nvPr>
            <p:ph idx="1" type="body"/>
          </p:nvPr>
        </p:nvSpPr>
        <p:spPr>
          <a:xfrm>
            <a:off x="8008829" y="2721754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92°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6" name="Google Shape;2286;p144"/>
          <p:cNvSpPr txBox="1"/>
          <p:nvPr>
            <p:ph idx="1" type="body"/>
          </p:nvPr>
        </p:nvSpPr>
        <p:spPr>
          <a:xfrm>
            <a:off x="7523786" y="2721754"/>
            <a:ext cx="3723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89°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7" name="Google Shape;2287;p144"/>
          <p:cNvSpPr txBox="1"/>
          <p:nvPr>
            <p:ph idx="1" type="body"/>
          </p:nvPr>
        </p:nvSpPr>
        <p:spPr>
          <a:xfrm>
            <a:off x="8478577" y="2196153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8" name="Google Shape;2288;p144"/>
          <p:cNvSpPr txBox="1"/>
          <p:nvPr>
            <p:ph idx="1" type="body"/>
          </p:nvPr>
        </p:nvSpPr>
        <p:spPr>
          <a:xfrm>
            <a:off x="7691736" y="3089590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2.99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9" name="Google Shape;2289;p144"/>
          <p:cNvSpPr txBox="1"/>
          <p:nvPr>
            <p:ph idx="1" type="body"/>
          </p:nvPr>
        </p:nvSpPr>
        <p:spPr>
          <a:xfrm>
            <a:off x="7849115" y="1471237"/>
            <a:ext cx="2355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0" name="Google Shape;2290;p144"/>
          <p:cNvSpPr txBox="1"/>
          <p:nvPr>
            <p:ph idx="1" type="body"/>
          </p:nvPr>
        </p:nvSpPr>
        <p:spPr>
          <a:xfrm>
            <a:off x="6929126" y="2216594"/>
            <a:ext cx="4956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3.99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1" name="Google Shape;2291;p144"/>
          <p:cNvSpPr txBox="1"/>
          <p:nvPr>
            <p:ph idx="1" type="body"/>
          </p:nvPr>
        </p:nvSpPr>
        <p:spPr>
          <a:xfrm>
            <a:off x="7834921" y="2264257"/>
            <a:ext cx="168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 </a:t>
            </a:r>
            <a:endParaRPr sz="1600"/>
          </a:p>
        </p:txBody>
      </p:sp>
      <p:sp>
        <p:nvSpPr>
          <p:cNvPr id="2292" name="Google Shape;2292;p144"/>
          <p:cNvSpPr txBox="1"/>
          <p:nvPr/>
        </p:nvSpPr>
        <p:spPr>
          <a:xfrm>
            <a:off x="234625" y="3753850"/>
            <a:ext cx="669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Label the missing lengths and angles on shapes B to D.</a:t>
            </a:r>
            <a:endParaRPr sz="1800"/>
          </a:p>
        </p:txBody>
      </p:sp>
      <p:sp>
        <p:nvSpPr>
          <p:cNvPr id="2293" name="Google Shape;2293;p144"/>
          <p:cNvSpPr txBox="1"/>
          <p:nvPr/>
        </p:nvSpPr>
        <p:spPr>
          <a:xfrm>
            <a:off x="234628" y="4134850"/>
            <a:ext cx="8585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Which transformation could be applied to shape D to create an image that is in the same orientation as shape A?</a:t>
            </a:r>
            <a:endParaRPr sz="1800"/>
          </a:p>
        </p:txBody>
      </p:sp>
      <p:sp>
        <p:nvSpPr>
          <p:cNvPr id="2294" name="Google Shape;2294;p144"/>
          <p:cNvSpPr txBox="1"/>
          <p:nvPr>
            <p:ph idx="1" type="body"/>
          </p:nvPr>
        </p:nvSpPr>
        <p:spPr>
          <a:xfrm>
            <a:off x="5157349" y="4522000"/>
            <a:ext cx="3335100" cy="3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reflection (over a horizontal line)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5" name="Google Shape;2295;p144"/>
          <p:cNvSpPr txBox="1"/>
          <p:nvPr>
            <p:ph idx="1" type="body"/>
          </p:nvPr>
        </p:nvSpPr>
        <p:spPr>
          <a:xfrm>
            <a:off x="511275" y="3350100"/>
            <a:ext cx="20874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↦ B: translation</a:t>
            </a:r>
            <a:endParaRPr sz="1800"/>
          </a:p>
        </p:txBody>
      </p:sp>
      <p:sp>
        <p:nvSpPr>
          <p:cNvPr id="2296" name="Google Shape;2296;p144"/>
          <p:cNvSpPr txBox="1"/>
          <p:nvPr>
            <p:ph idx="1" type="body"/>
          </p:nvPr>
        </p:nvSpPr>
        <p:spPr>
          <a:xfrm>
            <a:off x="3344475" y="3350100"/>
            <a:ext cx="1824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 ↦ C: reflection</a:t>
            </a:r>
            <a:endParaRPr sz="1800"/>
          </a:p>
        </p:txBody>
      </p:sp>
      <p:sp>
        <p:nvSpPr>
          <p:cNvPr id="2297" name="Google Shape;2297;p144"/>
          <p:cNvSpPr txBox="1"/>
          <p:nvPr>
            <p:ph idx="1" type="body"/>
          </p:nvPr>
        </p:nvSpPr>
        <p:spPr>
          <a:xfrm>
            <a:off x="5932425" y="3356375"/>
            <a:ext cx="2756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 ↦ D: rotation of 180°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145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Translation, reflection and rotation produce an image congruent to the object.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When two shapes are congruent, they have the same lengths and angles.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Translation involves moving a shape to create a congruent image.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Rotation involves  turning a shape about a defined point to create a congruent image.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Reflection involves flipping a shape to create a congruent image.</a:t>
            </a:r>
            <a:endParaRPr sz="2000"/>
          </a:p>
        </p:txBody>
      </p:sp>
      <p:sp>
        <p:nvSpPr>
          <p:cNvPr id="2303" name="Google Shape;2303;p14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congruence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14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09" name="Google Shape;2309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