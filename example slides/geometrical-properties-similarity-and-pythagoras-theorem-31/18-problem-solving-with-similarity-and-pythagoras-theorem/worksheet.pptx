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155FB7-F17A-4CB0-9B35-8CB63169DA1F}">
  <a:tblStyle styleId="{16155FB7-F17A-4CB0-9B35-8CB63169DA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3a17f6d3c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3a17f6d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43040eedb_0_19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b43040eed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similarity and Pythagoras’ theorem</a:t>
            </a:r>
            <a:endParaRPr/>
          </a:p>
        </p:txBody>
      </p:sp>
      <p:cxnSp>
        <p:nvCxnSpPr>
          <p:cNvPr id="160" name="Google Shape;160;p20"/>
          <p:cNvCxnSpPr/>
          <p:nvPr/>
        </p:nvCxnSpPr>
        <p:spPr>
          <a:xfrm>
            <a:off x="474757" y="98776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563650"/>
            <a:ext cx="62376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 Pythagoras’ theorem with coordinates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00" y="2037920"/>
            <a:ext cx="3327402" cy="32483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20"/>
          <p:cNvGrpSpPr/>
          <p:nvPr/>
        </p:nvGrpSpPr>
        <p:grpSpPr>
          <a:xfrm>
            <a:off x="1126612" y="2671805"/>
            <a:ext cx="386448" cy="305859"/>
            <a:chOff x="1332175" y="2321602"/>
            <a:chExt cx="496273" cy="392781"/>
          </a:xfrm>
        </p:grpSpPr>
        <p:sp>
          <p:nvSpPr>
            <p:cNvPr id="165" name="Google Shape;165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" name="Google Shape;166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" name="Google Shape;167;p20"/>
          <p:cNvSpPr/>
          <p:nvPr/>
        </p:nvSpPr>
        <p:spPr>
          <a:xfrm>
            <a:off x="2643986" y="1987101"/>
            <a:ext cx="244200" cy="2442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>
            <a:off x="1583891" y="3586774"/>
            <a:ext cx="386448" cy="305859"/>
            <a:chOff x="1332175" y="2321602"/>
            <a:chExt cx="496273" cy="392781"/>
          </a:xfrm>
        </p:grpSpPr>
        <p:sp>
          <p:nvSpPr>
            <p:cNvPr id="169" name="Google Shape;169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3417402" y="3585008"/>
            <a:ext cx="386448" cy="305859"/>
            <a:chOff x="1332175" y="2321602"/>
            <a:chExt cx="496273" cy="392781"/>
          </a:xfrm>
        </p:grpSpPr>
        <p:sp>
          <p:nvSpPr>
            <p:cNvPr id="172" name="Google Shape;172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" name="Google Shape;174;p20"/>
          <p:cNvGrpSpPr/>
          <p:nvPr/>
        </p:nvGrpSpPr>
        <p:grpSpPr>
          <a:xfrm>
            <a:off x="2044136" y="4730977"/>
            <a:ext cx="386448" cy="305859"/>
            <a:chOff x="1332175" y="2321602"/>
            <a:chExt cx="496273" cy="392781"/>
          </a:xfrm>
        </p:grpSpPr>
        <p:sp>
          <p:nvSpPr>
            <p:cNvPr id="175" name="Google Shape;175;p20"/>
            <p:cNvSpPr/>
            <p:nvPr/>
          </p:nvSpPr>
          <p:spPr>
            <a:xfrm>
              <a:off x="1514948" y="2321602"/>
              <a:ext cx="313500" cy="313500"/>
            </a:xfrm>
            <a:prstGeom prst="mathMultiply">
              <a:avLst>
                <a:gd fmla="val 8820" name="adj1"/>
              </a:avLst>
            </a:prstGeom>
            <a:solidFill>
              <a:srgbClr val="037B7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 flipH="1" rot="3024">
              <a:off x="1332175" y="2476933"/>
              <a:ext cx="3411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" name="Google Shape;177;p20"/>
          <p:cNvSpPr txBox="1"/>
          <p:nvPr/>
        </p:nvSpPr>
        <p:spPr>
          <a:xfrm flipH="1" rot="2243">
            <a:off x="3873900" y="2090996"/>
            <a:ext cx="32181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Pythagoras’ theorem to find the shortest distance (to 1 d.p) between points: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 flipH="1" rot="2400">
            <a:off x="4211839" y="2756087"/>
            <a:ext cx="1289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A and 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and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B and 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C and 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B and 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flipH="1" rot="3884">
            <a:off x="2749858" y="2108020"/>
            <a:ext cx="26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flipH="1" rot="10800000">
            <a:off x="1390075" y="2108299"/>
            <a:ext cx="1377900" cy="687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rot="10800000">
            <a:off x="1391086" y="2791497"/>
            <a:ext cx="457500" cy="915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med" w="med" type="none"/>
            <a:tailEnd len="med" w="med" type="none"/>
          </a:ln>
        </p:spPr>
      </p:cxnSp>
      <p:pic>
        <p:nvPicPr>
          <p:cNvPr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21972" t="0"/>
          <a:stretch/>
        </p:blipFill>
        <p:spPr>
          <a:xfrm>
            <a:off x="476400" y="5763500"/>
            <a:ext cx="4005527" cy="324106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1039738" y="640866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723918" y="5951738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493920" y="7091638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184578" y="6634711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 flipH="1">
            <a:off x="1161204" y="6070591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/>
          <p:nvPr/>
        </p:nvCxnSpPr>
        <p:spPr>
          <a:xfrm flipH="1">
            <a:off x="1618382" y="6756348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 flipH="1" rot="5400000">
            <a:off x="1732574" y="6184351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 flipH="1" rot="5400000">
            <a:off x="1046817" y="6641528"/>
            <a:ext cx="684000" cy="45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0"/>
          <p:cNvSpPr txBox="1"/>
          <p:nvPr/>
        </p:nvSpPr>
        <p:spPr>
          <a:xfrm rot="-2778">
            <a:off x="1355296" y="6533937"/>
            <a:ext cx="742500" cy="18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039514" y="846456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325347" y="846456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184055" y="7321336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rot="8100000">
            <a:off x="1493065" y="7776294"/>
            <a:ext cx="1620689" cy="1620689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rot="-1910">
            <a:off x="1764635" y="8064260"/>
            <a:ext cx="10797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isosceles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866303" y="6176397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237813" y="6408675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552069" y="7320588"/>
            <a:ext cx="243900" cy="243900"/>
          </a:xfrm>
          <a:prstGeom prst="mathMultiply">
            <a:avLst>
              <a:gd fmla="val 8820" name="adj1"/>
            </a:avLst>
          </a:prstGeom>
          <a:solidFill>
            <a:srgbClr val="037B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2988852" y="6301687"/>
            <a:ext cx="1371758" cy="1144232"/>
            <a:chOff x="4806977" y="1263653"/>
            <a:chExt cx="1761600" cy="1469413"/>
          </a:xfrm>
        </p:grpSpPr>
        <p:cxnSp>
          <p:nvCxnSpPr>
            <p:cNvPr id="201" name="Google Shape;201;p20"/>
            <p:cNvCxnSpPr/>
            <p:nvPr/>
          </p:nvCxnSpPr>
          <p:spPr>
            <a:xfrm rot="10800000">
              <a:off x="4807092" y="1263653"/>
              <a:ext cx="1761300" cy="298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20"/>
            <p:cNvCxnSpPr/>
            <p:nvPr/>
          </p:nvCxnSpPr>
          <p:spPr>
            <a:xfrm flipH="1">
              <a:off x="5687777" y="1561866"/>
              <a:ext cx="880800" cy="1171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20"/>
            <p:cNvCxnSpPr/>
            <p:nvPr/>
          </p:nvCxnSpPr>
          <p:spPr>
            <a:xfrm>
              <a:off x="4806977" y="1263666"/>
              <a:ext cx="880800" cy="1469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4" name="Google Shape;204;p20"/>
          <p:cNvSpPr txBox="1"/>
          <p:nvPr/>
        </p:nvSpPr>
        <p:spPr>
          <a:xfrm rot="-1910">
            <a:off x="3247886" y="5858126"/>
            <a:ext cx="10797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scalene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flipH="1" rot="2250">
            <a:off x="4800000" y="5809575"/>
            <a:ext cx="22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Calculate the perimeter of each shape (to  2 d.p.).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 flipH="1" rot="1117">
            <a:off x="549750" y="9296512"/>
            <a:ext cx="646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down three coordinates whose vertices make a triangle with a perimeter of between 20 and 22 units in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Show this is correct using Pythagoras’ theorem.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similarity and Pythagoras’ theorem</a:t>
            </a:r>
            <a:endParaRPr/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" name="Google Shape;213;p21"/>
          <p:cNvSpPr txBox="1"/>
          <p:nvPr/>
        </p:nvSpPr>
        <p:spPr>
          <a:xfrm flipH="1" rot="2575">
            <a:off x="476481" y="1181711"/>
            <a:ext cx="36051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Each of these three widescreen TVs have width and height in the ratio 16 : 9.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76475" y="725450"/>
            <a:ext cx="6318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 Pythagoras’ theorem with ratios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 flipH="1" rot="2790">
            <a:off x="476480" y="1683344"/>
            <a:ext cx="33270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each sentence by choosing the appropriate word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 flipH="1" rot="2959">
            <a:off x="656913" y="3117376"/>
            <a:ext cx="38340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from screen A to B is 1.5.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 flipH="1" rot="2959">
            <a:off x="656913" y="2179175"/>
            <a:ext cx="38340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of the TVs is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the others.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 flipH="1" rot="2901">
            <a:off x="656691" y="2539132"/>
            <a:ext cx="39102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is because their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are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each other.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 flipH="1" rot="2690">
            <a:off x="476449" y="5965979"/>
            <a:ext cx="42180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Hence, calculate the width of screens A and C 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1"/>
          <p:cNvGraphicFramePr/>
          <p:nvPr/>
        </p:nvGraphicFramePr>
        <p:xfrm>
          <a:off x="594663" y="47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{16155FB7-F17A-4CB0-9B35-8CB63169DA1F}</a:tableStyleId>
              </a:tblPr>
              <a:tblGrid>
                <a:gridCol w="1351175"/>
                <a:gridCol w="1351175"/>
                <a:gridCol w="1351175"/>
              </a:tblGrid>
              <a:tr h="3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diagonal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1"/>
          <p:cNvSpPr txBox="1"/>
          <p:nvPr/>
        </p:nvSpPr>
        <p:spPr>
          <a:xfrm flipH="1" rot="2790">
            <a:off x="476424" y="4154804"/>
            <a:ext cx="3327001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By using Pythagoras’ theorem, complete the ratio table for screen B (3 d.p.)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 flipH="1" rot="2977">
            <a:off x="4500907" y="6536499"/>
            <a:ext cx="1385701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TV cabinet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 flipH="1" rot="2604">
            <a:off x="476427" y="6734081"/>
            <a:ext cx="3564601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Izzy wants to buy this ultra widescreen TV, which has a width and height in the ratio 22 : 9.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TV has a 35 inch screen, and a stand that is 2 inches high.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Will the TV fit inside her TV cabinet?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1313" y="6206347"/>
            <a:ext cx="487237" cy="5790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1"/>
          <p:cNvGrpSpPr/>
          <p:nvPr/>
        </p:nvGrpSpPr>
        <p:grpSpPr>
          <a:xfrm>
            <a:off x="4465971" y="6753305"/>
            <a:ext cx="2626059" cy="1605462"/>
            <a:chOff x="1284100" y="2609651"/>
            <a:chExt cx="3367174" cy="2058549"/>
          </a:xfrm>
        </p:grpSpPr>
        <p:grpSp>
          <p:nvGrpSpPr>
            <p:cNvPr id="226" name="Google Shape;226;p21"/>
            <p:cNvGrpSpPr/>
            <p:nvPr/>
          </p:nvGrpSpPr>
          <p:grpSpPr>
            <a:xfrm flipH="1">
              <a:off x="4009475" y="2610450"/>
              <a:ext cx="515450" cy="1735400"/>
              <a:chOff x="1321280" y="2610450"/>
              <a:chExt cx="515450" cy="1735400"/>
            </a:xfrm>
          </p:grpSpPr>
          <p:sp>
            <p:nvSpPr>
              <p:cNvPr id="227" name="Google Shape;227;p21"/>
              <p:cNvSpPr/>
              <p:nvPr/>
            </p:nvSpPr>
            <p:spPr>
              <a:xfrm>
                <a:off x="1566580" y="2621575"/>
                <a:ext cx="270150" cy="1673875"/>
              </a:xfrm>
              <a:custGeom>
                <a:rect b="b" l="l" r="r" t="t"/>
                <a:pathLst>
                  <a:path extrusionOk="0" h="66955" w="10806">
                    <a:moveTo>
                      <a:pt x="0" y="0"/>
                    </a:moveTo>
                    <a:lnTo>
                      <a:pt x="10330" y="10427"/>
                    </a:lnTo>
                    <a:lnTo>
                      <a:pt x="10806" y="66386"/>
                    </a:lnTo>
                    <a:lnTo>
                      <a:pt x="1216" y="669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228" name="Google Shape;228;p21"/>
              <p:cNvPicPr preferRelativeResize="0"/>
              <p:nvPr/>
            </p:nvPicPr>
            <p:blipFill rotWithShape="1">
              <a:blip r:embed="rId4">
                <a:alphaModFix/>
              </a:blip>
              <a:srcRect b="33552" l="7441" r="20241" t="57018"/>
              <a:stretch/>
            </p:blipFill>
            <p:spPr>
              <a:xfrm flipH="1" rot="5400000">
                <a:off x="612330" y="3319400"/>
                <a:ext cx="1735400" cy="31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9" name="Google Shape;229;p21"/>
            <p:cNvGrpSpPr/>
            <p:nvPr/>
          </p:nvGrpSpPr>
          <p:grpSpPr>
            <a:xfrm>
              <a:off x="1321275" y="2609776"/>
              <a:ext cx="515450" cy="1736075"/>
              <a:chOff x="1321275" y="2609776"/>
              <a:chExt cx="515450" cy="1736075"/>
            </a:xfrm>
          </p:grpSpPr>
          <p:sp>
            <p:nvSpPr>
              <p:cNvPr id="230" name="Google Shape;230;p21"/>
              <p:cNvSpPr/>
              <p:nvPr/>
            </p:nvSpPr>
            <p:spPr>
              <a:xfrm>
                <a:off x="1574275" y="2643625"/>
                <a:ext cx="262450" cy="1651825"/>
              </a:xfrm>
              <a:custGeom>
                <a:rect b="b" l="l" r="r" t="t"/>
                <a:pathLst>
                  <a:path extrusionOk="0" h="66073" w="10498">
                    <a:moveTo>
                      <a:pt x="0" y="0"/>
                    </a:moveTo>
                    <a:lnTo>
                      <a:pt x="10022" y="9545"/>
                    </a:lnTo>
                    <a:lnTo>
                      <a:pt x="10498" y="65504"/>
                    </a:lnTo>
                    <a:lnTo>
                      <a:pt x="908" y="6607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231" name="Google Shape;231;p21"/>
              <p:cNvPicPr preferRelativeResize="0"/>
              <p:nvPr/>
            </p:nvPicPr>
            <p:blipFill rotWithShape="1">
              <a:blip r:embed="rId4">
                <a:alphaModFix/>
              </a:blip>
              <a:srcRect b="33552" l="7444" r="20206" t="57018"/>
              <a:stretch/>
            </p:blipFill>
            <p:spPr>
              <a:xfrm flipH="1" rot="5400000">
                <a:off x="611988" y="3319063"/>
                <a:ext cx="1736075" cy="31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2" name="Google Shape;232;p21"/>
            <p:cNvPicPr preferRelativeResize="0"/>
            <p:nvPr/>
          </p:nvPicPr>
          <p:blipFill rotWithShape="1">
            <a:blip r:embed="rId4">
              <a:alphaModFix/>
            </a:blip>
            <a:srcRect b="23623" l="0" r="0" t="54811"/>
            <a:stretch/>
          </p:blipFill>
          <p:spPr>
            <a:xfrm>
              <a:off x="1284100" y="3942025"/>
              <a:ext cx="3367174" cy="726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1"/>
            <p:cNvPicPr preferRelativeResize="0"/>
            <p:nvPr/>
          </p:nvPicPr>
          <p:blipFill rotWithShape="1">
            <a:blip r:embed="rId4">
              <a:alphaModFix/>
            </a:blip>
            <a:srcRect b="33707" l="0" r="0" t="54812"/>
            <a:stretch/>
          </p:blipFill>
          <p:spPr>
            <a:xfrm flipH="1" rot="10800000">
              <a:off x="1284100" y="2609651"/>
              <a:ext cx="3367174" cy="38657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34" name="Google Shape;234;p21"/>
          <p:cNvGraphicFramePr/>
          <p:nvPr/>
        </p:nvGraphicFramePr>
        <p:xfrm>
          <a:off x="518463" y="823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{16155FB7-F17A-4CB0-9B35-8CB63169DA1F}</a:tableStyleId>
              </a:tblPr>
              <a:tblGrid>
                <a:gridCol w="1093200"/>
                <a:gridCol w="1093200"/>
                <a:gridCol w="1093200"/>
              </a:tblGrid>
              <a:tr h="28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diagonal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5" name="Google Shape;235;p21"/>
          <p:cNvGrpSpPr/>
          <p:nvPr/>
        </p:nvGrpSpPr>
        <p:grpSpPr>
          <a:xfrm flipH="1" rot="10800000">
            <a:off x="4889501" y="7374127"/>
            <a:ext cx="1710369" cy="303525"/>
            <a:chOff x="1023355" y="2663702"/>
            <a:chExt cx="679500" cy="389184"/>
          </a:xfrm>
        </p:grpSpPr>
        <p:cxnSp>
          <p:nvCxnSpPr>
            <p:cNvPr id="236" name="Google Shape;236;p21"/>
            <p:cNvCxnSpPr/>
            <p:nvPr/>
          </p:nvCxnSpPr>
          <p:spPr>
            <a:xfrm rot="10800000">
              <a:off x="1363105" y="2323952"/>
              <a:ext cx="0" cy="679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7" name="Google Shape;237;p21"/>
            <p:cNvSpPr txBox="1"/>
            <p:nvPr/>
          </p:nvSpPr>
          <p:spPr>
            <a:xfrm flipH="1" rot="10800000">
              <a:off x="1023357" y="2860287"/>
              <a:ext cx="271500" cy="1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36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 flipH="1" rot="-5400000">
            <a:off x="5729313" y="6984029"/>
            <a:ext cx="865071" cy="874390"/>
            <a:chOff x="1023355" y="2494921"/>
            <a:chExt cx="679500" cy="1035639"/>
          </a:xfrm>
        </p:grpSpPr>
        <p:cxnSp>
          <p:nvCxnSpPr>
            <p:cNvPr id="239" name="Google Shape;239;p21"/>
            <p:cNvCxnSpPr/>
            <p:nvPr/>
          </p:nvCxnSpPr>
          <p:spPr>
            <a:xfrm rot="10800000">
              <a:off x="1363105" y="2155171"/>
              <a:ext cx="0" cy="679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0" name="Google Shape;240;p21"/>
            <p:cNvSpPr txBox="1"/>
            <p:nvPr/>
          </p:nvSpPr>
          <p:spPr>
            <a:xfrm flipH="1" rot="-5400000">
              <a:off x="656721" y="2969260"/>
              <a:ext cx="1004700" cy="11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inches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" name="Google Shape;241;p21"/>
          <p:cNvSpPr/>
          <p:nvPr/>
        </p:nvSpPr>
        <p:spPr>
          <a:xfrm>
            <a:off x="476525" y="3479625"/>
            <a:ext cx="1044900" cy="23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proportion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1622640" y="3479625"/>
            <a:ext cx="1044900" cy="23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scale factor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768755" y="3479625"/>
            <a:ext cx="1044900" cy="23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width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1049583" y="3767586"/>
            <a:ext cx="1044900" cy="23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congruent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195698" y="3767586"/>
            <a:ext cx="1044900" cy="23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341813" y="3767586"/>
            <a:ext cx="1044900" cy="23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similar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5875" y="8350626"/>
            <a:ext cx="1924026" cy="144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 flipH="1" rot="2592">
            <a:off x="4939812" y="8624729"/>
            <a:ext cx="159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ultra widescreen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: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aspect ratio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667864" y="903516"/>
            <a:ext cx="1595400" cy="1118100"/>
          </a:xfrm>
          <a:prstGeom prst="roundRect">
            <a:avLst>
              <a:gd fmla="val 16667" name="adj"/>
            </a:avLst>
          </a:prstGeom>
          <a:noFill/>
          <a:ln cap="flat" cmpd="sng" w="23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325" lIns="74325" spcFirstLastPara="1" rIns="74325" wrap="square" tIns="7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487951" y="900694"/>
            <a:ext cx="987900" cy="692100"/>
          </a:xfrm>
          <a:prstGeom prst="roundRect">
            <a:avLst>
              <a:gd fmla="val 16667" name="adj"/>
            </a:avLst>
          </a:prstGeom>
          <a:noFill/>
          <a:ln cap="flat" cmpd="sng" w="23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325" lIns="74325" spcFirstLastPara="1" rIns="74325" wrap="square" tIns="7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125241" y="2593087"/>
            <a:ext cx="1906800" cy="1290900"/>
          </a:xfrm>
          <a:prstGeom prst="roundRect">
            <a:avLst>
              <a:gd fmla="val 16667" name="adj"/>
            </a:avLst>
          </a:prstGeom>
          <a:noFill/>
          <a:ln cap="flat" cmpd="sng" w="23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325" lIns="74325" spcFirstLastPara="1" rIns="74325" wrap="square" tIns="74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8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>
            <a:off x="4496522" y="952666"/>
            <a:ext cx="987900" cy="618300"/>
          </a:xfrm>
          <a:prstGeom prst="straightConnector1">
            <a:avLst/>
          </a:prstGeom>
          <a:noFill/>
          <a:ln cap="flat" cmpd="sng" w="23225">
            <a:solidFill>
              <a:srgbClr val="D02AA7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3" name="Google Shape;253;p21"/>
          <p:cNvSpPr txBox="1"/>
          <p:nvPr/>
        </p:nvSpPr>
        <p:spPr>
          <a:xfrm flipH="1" rot="1920752">
            <a:off x="4722464" y="1047604"/>
            <a:ext cx="764566" cy="249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lang="en-GB" sz="1463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inches</a:t>
            </a:r>
            <a:endParaRPr sz="1463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4" name="Google Shape;254;p21"/>
          <p:cNvGrpSpPr/>
          <p:nvPr/>
        </p:nvGrpSpPr>
        <p:grpSpPr>
          <a:xfrm>
            <a:off x="5728236" y="871596"/>
            <a:ext cx="1501862" cy="1044914"/>
            <a:chOff x="6909850" y="725394"/>
            <a:chExt cx="1215000" cy="845331"/>
          </a:xfrm>
        </p:grpSpPr>
        <p:cxnSp>
          <p:nvCxnSpPr>
            <p:cNvPr id="255" name="Google Shape;255;p21"/>
            <p:cNvCxnSpPr/>
            <p:nvPr/>
          </p:nvCxnSpPr>
          <p:spPr>
            <a:xfrm>
              <a:off x="6909850" y="810225"/>
              <a:ext cx="1215000" cy="760500"/>
            </a:xfrm>
            <a:prstGeom prst="straightConnector1">
              <a:avLst/>
            </a:prstGeom>
            <a:noFill/>
            <a:ln cap="flat" cmpd="sng" w="23225">
              <a:solidFill>
                <a:srgbClr val="D02AA7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6" name="Google Shape;256;p21"/>
            <p:cNvSpPr txBox="1"/>
            <p:nvPr/>
          </p:nvSpPr>
          <p:spPr>
            <a:xfrm flipH="1" rot="1921659">
              <a:off x="7045456" y="992215"/>
              <a:ext cx="1064058" cy="201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3"/>
                <a:buFont typeface="Arial"/>
                <a:buNone/>
              </a:pPr>
              <a:r>
                <a:rPr lang="en-GB" sz="1463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inches</a:t>
              </a:r>
              <a:endParaRPr sz="1463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21"/>
          <p:cNvGrpSpPr/>
          <p:nvPr/>
        </p:nvGrpSpPr>
        <p:grpSpPr>
          <a:xfrm>
            <a:off x="5150083" y="2552262"/>
            <a:ext cx="1855427" cy="1290905"/>
            <a:chOff x="6909850" y="725394"/>
            <a:chExt cx="1215000" cy="845331"/>
          </a:xfrm>
        </p:grpSpPr>
        <p:cxnSp>
          <p:nvCxnSpPr>
            <p:cNvPr id="258" name="Google Shape;258;p21"/>
            <p:cNvCxnSpPr/>
            <p:nvPr/>
          </p:nvCxnSpPr>
          <p:spPr>
            <a:xfrm>
              <a:off x="6909850" y="810225"/>
              <a:ext cx="1215000" cy="760500"/>
            </a:xfrm>
            <a:prstGeom prst="straightConnector1">
              <a:avLst/>
            </a:prstGeom>
            <a:noFill/>
            <a:ln cap="flat" cmpd="sng" w="23225">
              <a:solidFill>
                <a:srgbClr val="D02AA7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9" name="Google Shape;259;p21"/>
            <p:cNvSpPr txBox="1"/>
            <p:nvPr/>
          </p:nvSpPr>
          <p:spPr>
            <a:xfrm flipH="1" rot="1921659">
              <a:off x="7045456" y="992215"/>
              <a:ext cx="1064058" cy="201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3"/>
                <a:buFont typeface="Arial"/>
                <a:buNone/>
              </a:pPr>
              <a:r>
                <a:rPr lang="en-GB" sz="1463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30 inches</a:t>
              </a:r>
              <a:endParaRPr sz="1463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" name="Google Shape;260;p21"/>
          <p:cNvSpPr txBox="1"/>
          <p:nvPr/>
        </p:nvSpPr>
        <p:spPr>
          <a:xfrm flipH="1" rot="2208">
            <a:off x="4522817" y="1783791"/>
            <a:ext cx="934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lang="en-GB" sz="1463">
                <a:latin typeface="Lexend"/>
                <a:ea typeface="Lexend"/>
                <a:cs typeface="Lexend"/>
                <a:sym typeface="Lexend"/>
              </a:rPr>
              <a:t>screen A</a:t>
            </a:r>
            <a:endParaRPr sz="146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 flipH="1" rot="2208">
            <a:off x="6017577" y="2215273"/>
            <a:ext cx="934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lang="en-GB" sz="1463">
                <a:latin typeface="Lexend"/>
                <a:ea typeface="Lexend"/>
                <a:cs typeface="Lexend"/>
                <a:sym typeface="Lexend"/>
              </a:rPr>
              <a:t>screen B</a:t>
            </a:r>
            <a:endParaRPr sz="146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 flipH="1" rot="2208">
            <a:off x="4983843" y="3912583"/>
            <a:ext cx="934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lang="en-GB" sz="1463">
                <a:latin typeface="Lexend"/>
                <a:ea typeface="Lexend"/>
                <a:cs typeface="Lexend"/>
                <a:sym typeface="Lexend"/>
              </a:rPr>
              <a:t>screen C</a:t>
            </a:r>
            <a:endParaRPr sz="1463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8" name="Google Shape;268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similarity and Pythagoras’ theorem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 flipH="1" rot="2557">
            <a:off x="1042799" y="1374487"/>
            <a:ext cx="6049202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retro TV (4 : 3 aspect ratio)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widescreen TV (16 : 9 aspect ratio)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ultra widescreen TV (22 : 9 aspect ratio)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 flipH="1" rot="2679">
            <a:off x="507599" y="1004870"/>
            <a:ext cx="6544802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sees three TVs for sale, each having a 28 inch screen.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wants to buy the TV whose screen has the largest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TV should he buy?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