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18616B7-C05B-4F4E-94F1-144584CD3DCC}">
  <a:tblStyle styleId="{018616B7-C05B-4F4E-94F1-144584CD3DC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2b2444b75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2b2444b75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2b2444b75a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2b2444b75a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2b2444b75a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2b2444b75a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b2444b75a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b2444b75a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2b2444b75a9_0_9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2b2444b75a9_0_9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2b2444b75a9_0_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2b2444b75a9_0_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2b2444b75a9_0_9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2b2444b75a9_0_9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2b2444b75a9_0_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2b2444b75a9_0_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2b2444b75a9_0_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2b2444b75a9_0_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2b2444b75a9_0_9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2b2444b75a9_0_9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2b2444b75a9_0_10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2b2444b75a9_0_10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2b2444b75a9_0_1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2b2444b75a9_0_10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2b2444b75a9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0" name="Google Shape;930;g2b2444b75a9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2b2444b75a9_0_10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2b2444b75a9_0_10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2b2444b75a9_0_1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2b2444b75a9_0_1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2b2444b75a9_0_1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2b2444b75a9_0_1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2b2444b75a9_0_1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9" name="Google Shape;1029;g2b2444b75a9_0_1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7" name="Shape 1057"/>
        <p:cNvGrpSpPr/>
        <p:nvPr/>
      </p:nvGrpSpPr>
      <p:grpSpPr>
        <a:xfrm>
          <a:off x="0" y="0"/>
          <a:ext cx="0" cy="0"/>
          <a:chOff x="0" y="0"/>
          <a:chExt cx="0" cy="0"/>
        </a:xfrm>
      </p:grpSpPr>
      <p:sp>
        <p:nvSpPr>
          <p:cNvPr id="1058" name="Google Shape;1058;g2b2444b75a9_0_1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9" name="Google Shape;1059;g2b2444b75a9_0_1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g2b2444b75a9_0_1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8" name="Google Shape;1078;g2b2444b75a9_0_1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2b2444b75a9_0_1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2b2444b75a9_0_1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2b2444b75a9_0_1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3" name="Google Shape;1133;g2b2444b75a9_0_1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2b2444b75a9_0_1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g2b2444b75a9_0_1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2b2444b75a9_0_2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0" name="Google Shape;1190;g2b2444b75a9_0_2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36e86e410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36e86e410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2b2444b75a9_0_1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8" name="Google Shape;1228;g2b2444b75a9_0_1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2b2444b75a9_0_1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2b2444b75a9_0_1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g2b2444b75a9_0_1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3" name="Google Shape;1273;g2b2444b75a9_0_1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5" name="Shape 1295"/>
        <p:cNvGrpSpPr/>
        <p:nvPr/>
      </p:nvGrpSpPr>
      <p:grpSpPr>
        <a:xfrm>
          <a:off x="0" y="0"/>
          <a:ext cx="0" cy="0"/>
          <a:chOff x="0" y="0"/>
          <a:chExt cx="0" cy="0"/>
        </a:xfrm>
      </p:grpSpPr>
      <p:sp>
        <p:nvSpPr>
          <p:cNvPr id="1296" name="Google Shape;1296;g2b2444b75a9_0_1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7" name="Google Shape;1297;g2b2444b75a9_0_1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2b2444b75a9_0_1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2" name="Google Shape;1312;g2b2444b75a9_0_1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1" name="Shape 1341"/>
        <p:cNvGrpSpPr/>
        <p:nvPr/>
      </p:nvGrpSpPr>
      <p:grpSpPr>
        <a:xfrm>
          <a:off x="0" y="0"/>
          <a:ext cx="0" cy="0"/>
          <a:chOff x="0" y="0"/>
          <a:chExt cx="0" cy="0"/>
        </a:xfrm>
      </p:grpSpPr>
      <p:sp>
        <p:nvSpPr>
          <p:cNvPr id="1342" name="Google Shape;1342;g2b2444b75a9_0_1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3" name="Google Shape;1343;g2b2444b75a9_0_1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4" name="Shape 1374"/>
        <p:cNvGrpSpPr/>
        <p:nvPr/>
      </p:nvGrpSpPr>
      <p:grpSpPr>
        <a:xfrm>
          <a:off x="0" y="0"/>
          <a:ext cx="0" cy="0"/>
          <a:chOff x="0" y="0"/>
          <a:chExt cx="0" cy="0"/>
        </a:xfrm>
      </p:grpSpPr>
      <p:sp>
        <p:nvSpPr>
          <p:cNvPr id="1375" name="Google Shape;1375;g2b2444b75a9_0_1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6" name="Google Shape;1376;g2b2444b75a9_0_1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g2b2444b75a9_0_1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0" name="Google Shape;1390;g2b2444b75a9_0_1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g2b2444b75a9_0_1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6" name="Google Shape;1416;g2b2444b75a9_0_1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2b2444b75a9_0_1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7" name="Google Shape;1437;g2b2444b75a9_0_1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8" name="Shape 1468"/>
        <p:cNvGrpSpPr/>
        <p:nvPr/>
      </p:nvGrpSpPr>
      <p:grpSpPr>
        <a:xfrm>
          <a:off x="0" y="0"/>
          <a:ext cx="0" cy="0"/>
          <a:chOff x="0" y="0"/>
          <a:chExt cx="0" cy="0"/>
        </a:xfrm>
      </p:grpSpPr>
      <p:sp>
        <p:nvSpPr>
          <p:cNvPr id="1469" name="Google Shape;1469;g2b2444b75a9_0_1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0" name="Google Shape;1470;g2b2444b75a9_0_1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g2b2444b75a9_0_1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0" name="Google Shape;1500;g2b2444b75a9_0_1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1" name="Shape 1521"/>
        <p:cNvGrpSpPr/>
        <p:nvPr/>
      </p:nvGrpSpPr>
      <p:grpSpPr>
        <a:xfrm>
          <a:off x="0" y="0"/>
          <a:ext cx="0" cy="0"/>
          <a:chOff x="0" y="0"/>
          <a:chExt cx="0" cy="0"/>
        </a:xfrm>
      </p:grpSpPr>
      <p:sp>
        <p:nvSpPr>
          <p:cNvPr id="1522" name="Google Shape;1522;g2b2444b75a9_0_1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3" name="Google Shape;1523;g2b2444b75a9_0_1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5" name="Shape 1545"/>
        <p:cNvGrpSpPr/>
        <p:nvPr/>
      </p:nvGrpSpPr>
      <p:grpSpPr>
        <a:xfrm>
          <a:off x="0" y="0"/>
          <a:ext cx="0" cy="0"/>
          <a:chOff x="0" y="0"/>
          <a:chExt cx="0" cy="0"/>
        </a:xfrm>
      </p:grpSpPr>
      <p:sp>
        <p:nvSpPr>
          <p:cNvPr id="1546" name="Google Shape;1546;g2b2444b75a9_0_1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7" name="Google Shape;1547;g2b2444b75a9_0_1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g2b2444b75a9_0_1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4" name="Google Shape;1554;g2b2444b75a9_0_1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1" name="Shape 1581"/>
        <p:cNvGrpSpPr/>
        <p:nvPr/>
      </p:nvGrpSpPr>
      <p:grpSpPr>
        <a:xfrm>
          <a:off x="0" y="0"/>
          <a:ext cx="0" cy="0"/>
          <a:chOff x="0" y="0"/>
          <a:chExt cx="0" cy="0"/>
        </a:xfrm>
      </p:grpSpPr>
      <p:sp>
        <p:nvSpPr>
          <p:cNvPr id="1582" name="Google Shape;1582;g2b2444b75a9_0_1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3" name="Google Shape;1583;g2b2444b75a9_0_1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g2b2444b75a9_0_17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7" name="Google Shape;1607;g2b2444b75a9_0_17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g2b2444b75a9_0_1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0" name="Google Shape;1630;g2b2444b75a9_0_1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g2b2444b75a9_0_1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0" name="Google Shape;1640;g2b2444b75a9_0_1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g2b2444b75a9_0_1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6" name="Google Shape;1646;g2b2444b75a9_0_1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2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2.pn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2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6.pn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2.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image" Target="../media/image24.png"/><Relationship Id="rId7" Type="http://schemas.openxmlformats.org/officeDocument/2006/relationships/image" Target="../media/image1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20.png"/><Relationship Id="rId4" Type="http://schemas.openxmlformats.org/officeDocument/2006/relationships/image" Target="../media/image57.png"/><Relationship Id="rId5" Type="http://schemas.openxmlformats.org/officeDocument/2006/relationships/image" Target="../media/image23.png"/><Relationship Id="rId6" Type="http://schemas.openxmlformats.org/officeDocument/2006/relationships/image" Target="../media/image29.png"/><Relationship Id="rId7" Type="http://schemas.openxmlformats.org/officeDocument/2006/relationships/image" Target="../media/image1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57.png"/><Relationship Id="rId4" Type="http://schemas.openxmlformats.org/officeDocument/2006/relationships/image" Target="../media/image14.png"/><Relationship Id="rId9" Type="http://schemas.openxmlformats.org/officeDocument/2006/relationships/image" Target="../media/image18.png"/><Relationship Id="rId5" Type="http://schemas.openxmlformats.org/officeDocument/2006/relationships/image" Target="../media/image20.png"/><Relationship Id="rId6" Type="http://schemas.openxmlformats.org/officeDocument/2006/relationships/image" Target="../media/image34.png"/><Relationship Id="rId7" Type="http://schemas.openxmlformats.org/officeDocument/2006/relationships/image" Target="../media/image23.png"/><Relationship Id="rId8" Type="http://schemas.openxmlformats.org/officeDocument/2006/relationships/image" Target="../media/image2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57.png"/><Relationship Id="rId4" Type="http://schemas.openxmlformats.org/officeDocument/2006/relationships/image" Target="../media/image30.png"/><Relationship Id="rId11" Type="http://schemas.openxmlformats.org/officeDocument/2006/relationships/image" Target="../media/image18.png"/><Relationship Id="rId10" Type="http://schemas.openxmlformats.org/officeDocument/2006/relationships/image" Target="../media/image35.png"/><Relationship Id="rId9" Type="http://schemas.openxmlformats.org/officeDocument/2006/relationships/image" Target="../media/image29.png"/><Relationship Id="rId5" Type="http://schemas.openxmlformats.org/officeDocument/2006/relationships/image" Target="../media/image14.png"/><Relationship Id="rId6" Type="http://schemas.openxmlformats.org/officeDocument/2006/relationships/image" Target="../media/image20.png"/><Relationship Id="rId7" Type="http://schemas.openxmlformats.org/officeDocument/2006/relationships/image" Target="../media/image34.png"/><Relationship Id="rId8" Type="http://schemas.openxmlformats.org/officeDocument/2006/relationships/image" Target="../media/image2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3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4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 Id="rId4" Type="http://schemas.openxmlformats.org/officeDocument/2006/relationships/image" Target="../media/image4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 Id="rId4" Type="http://schemas.openxmlformats.org/officeDocument/2006/relationships/image" Target="../media/image4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37.png"/><Relationship Id="rId4" Type="http://schemas.openxmlformats.org/officeDocument/2006/relationships/image" Target="../media/image4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0.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8.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8.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9.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99" name="Google Shape;99;p12"/>
          <p:cNvGrpSpPr/>
          <p:nvPr/>
        </p:nvGrpSpPr>
        <p:grpSpPr>
          <a:xfrm>
            <a:off x="2650916" y="1644417"/>
            <a:ext cx="1745270" cy="1430724"/>
            <a:chOff x="2642961" y="1644312"/>
            <a:chExt cx="1454634" cy="1195657"/>
          </a:xfrm>
        </p:grpSpPr>
        <p:pic>
          <p:nvPicPr>
            <p:cNvPr id="100" name="Google Shape;100;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1" name="Google Shape;101;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4" name="Google Shape;104;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5" name="Google Shape;105;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6" name="Google Shape;106;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4" name="Google Shape;114;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5" name="Google Shape;115;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6" name="Google Shape;116;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7" name="Shape 117"/>
        <p:cNvGrpSpPr/>
        <p:nvPr/>
      </p:nvGrpSpPr>
      <p:grpSpPr>
        <a:xfrm>
          <a:off x="0" y="0"/>
          <a:ext cx="0" cy="0"/>
          <a:chOff x="0" y="0"/>
          <a:chExt cx="0" cy="0"/>
        </a:xfrm>
      </p:grpSpPr>
      <p:sp>
        <p:nvSpPr>
          <p:cNvPr id="118" name="Google Shape;118;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0" name="Google Shape;120;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1" name="Google Shape;121;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2" name="Google Shape;122;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3" name="Google Shape;123;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4" name="Google Shape;124;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5" name="Google Shape;125;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6" name="Google Shape;126;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7" name="Google Shape;127;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8" name="Google Shape;128;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29" name="Shape 129"/>
        <p:cNvGrpSpPr/>
        <p:nvPr/>
      </p:nvGrpSpPr>
      <p:grpSpPr>
        <a:xfrm>
          <a:off x="0" y="0"/>
          <a:ext cx="0" cy="0"/>
          <a:chOff x="0" y="0"/>
          <a:chExt cx="0" cy="0"/>
        </a:xfrm>
      </p:grpSpPr>
      <p:sp>
        <p:nvSpPr>
          <p:cNvPr id="130" name="Google Shape;130;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3" name="Google Shape;133;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5" name="Google Shape;135;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7" name="Google Shape;137;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8" name="Google Shape;138;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9" name="Google Shape;139;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0" name="Google Shape;140;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1" name="Google Shape;141;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3" name="Shape 143"/>
        <p:cNvGrpSpPr/>
        <p:nvPr/>
      </p:nvGrpSpPr>
      <p:grpSpPr>
        <a:xfrm>
          <a:off x="0" y="0"/>
          <a:ext cx="0" cy="0"/>
          <a:chOff x="0" y="0"/>
          <a:chExt cx="0" cy="0"/>
        </a:xfrm>
      </p:grpSpPr>
      <p:sp>
        <p:nvSpPr>
          <p:cNvPr id="144" name="Google Shape;144;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 name="Google Shape;145;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6" name="Google Shape;14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7" name="Google Shape;147;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8" name="Google Shape;148;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9" name="Google Shape;149;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1" name="Shape 151"/>
        <p:cNvGrpSpPr/>
        <p:nvPr/>
      </p:nvGrpSpPr>
      <p:grpSpPr>
        <a:xfrm>
          <a:off x="0" y="0"/>
          <a:ext cx="0" cy="0"/>
          <a:chOff x="0" y="0"/>
          <a:chExt cx="0" cy="0"/>
        </a:xfrm>
      </p:grpSpPr>
      <p:sp>
        <p:nvSpPr>
          <p:cNvPr id="152" name="Google Shape;152;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4" name="Google Shape;154;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5" name="Google Shape;155;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6" name="Google Shape;156;p17"/>
          <p:cNvCxnSpPr>
            <a:endCxn id="157"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8" name="Google Shape;158;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59" name="Google Shape;159;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0" name="Google Shape;160;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7" name="Google Shape;157;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1" name="Google Shape;161;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2" name="Google Shape;162;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3" name="Google Shape;163;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4" name="Shape 164"/>
        <p:cNvGrpSpPr/>
        <p:nvPr/>
      </p:nvGrpSpPr>
      <p:grpSpPr>
        <a:xfrm>
          <a:off x="0" y="0"/>
          <a:ext cx="0" cy="0"/>
          <a:chOff x="0" y="0"/>
          <a:chExt cx="0" cy="0"/>
        </a:xfrm>
      </p:grpSpPr>
      <p:pic>
        <p:nvPicPr>
          <p:cNvPr id="165" name="Google Shape;165;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6" name="Google Shape;166;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7" name="Google Shape;167;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8" name="Google Shape;168;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69" name="Google Shape;169;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0" name="Google Shape;170;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1" name="Google Shape;171;p18"/>
          <p:cNvCxnSpPr>
            <a:endCxn id="172"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2" name="Google Shape;172;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3" name="Google Shape;173;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4" name="Google Shape;174;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5" name="Google Shape;175;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7" name="Google Shape;177;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8" name="Google Shape;178;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0" name="Google Shape;180;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1" name="Google Shape;181;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2" name="Shape 182"/>
        <p:cNvGrpSpPr/>
        <p:nvPr/>
      </p:nvGrpSpPr>
      <p:grpSpPr>
        <a:xfrm>
          <a:off x="0" y="0"/>
          <a:ext cx="0" cy="0"/>
          <a:chOff x="0" y="0"/>
          <a:chExt cx="0" cy="0"/>
        </a:xfrm>
      </p:grpSpPr>
      <p:pic>
        <p:nvPicPr>
          <p:cNvPr id="183" name="Google Shape;183;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4" name="Google Shape;184;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5" name="Google Shape;185;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6" name="Google Shape;186;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7" name="Google Shape;187;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8" name="Google Shape;188;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89" name="Google Shape;189;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0" name="Google Shape;190;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1" name="Google Shape;191;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2" name="Google Shape;192;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3" name="Google Shape;193;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4" name="Google Shape;194;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5" name="Google Shape;195;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99" name="Google Shape;199;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0" name="Google Shape;200;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2" name="Google Shape;202;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3" name="Google Shape;203;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4" name="Shape 204"/>
        <p:cNvGrpSpPr/>
        <p:nvPr/>
      </p:nvGrpSpPr>
      <p:grpSpPr>
        <a:xfrm>
          <a:off x="0" y="0"/>
          <a:ext cx="0" cy="0"/>
          <a:chOff x="0" y="0"/>
          <a:chExt cx="0" cy="0"/>
        </a:xfrm>
      </p:grpSpPr>
      <p:pic>
        <p:nvPicPr>
          <p:cNvPr id="205" name="Google Shape;205;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6" name="Google Shape;206;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8" name="Google Shape;208;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9" name="Google Shape;209;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0" name="Google Shape;210;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1" name="Shape 211"/>
        <p:cNvGrpSpPr/>
        <p:nvPr/>
      </p:nvGrpSpPr>
      <p:grpSpPr>
        <a:xfrm>
          <a:off x="0" y="0"/>
          <a:ext cx="0" cy="0"/>
          <a:chOff x="0" y="0"/>
          <a:chExt cx="0" cy="0"/>
        </a:xfrm>
      </p:grpSpPr>
      <p:pic>
        <p:nvPicPr>
          <p:cNvPr id="212" name="Google Shape;212;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3" name="Google Shape;213;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5" name="Google Shape;215;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6" name="Google Shape;216;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7" name="Google Shape;217;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8" name="Shape 218"/>
        <p:cNvGrpSpPr/>
        <p:nvPr/>
      </p:nvGrpSpPr>
      <p:grpSpPr>
        <a:xfrm>
          <a:off x="0" y="0"/>
          <a:ext cx="0" cy="0"/>
          <a:chOff x="0" y="0"/>
          <a:chExt cx="0" cy="0"/>
        </a:xfrm>
      </p:grpSpPr>
      <p:pic>
        <p:nvPicPr>
          <p:cNvPr id="219" name="Google Shape;219;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0" name="Google Shape;220;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2" name="Google Shape;222;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3" name="Google Shape;223;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4" name="Google Shape;224;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5" name="Shape 225"/>
        <p:cNvGrpSpPr/>
        <p:nvPr/>
      </p:nvGrpSpPr>
      <p:grpSpPr>
        <a:xfrm>
          <a:off x="0" y="0"/>
          <a:ext cx="0" cy="0"/>
          <a:chOff x="0" y="0"/>
          <a:chExt cx="0" cy="0"/>
        </a:xfrm>
      </p:grpSpPr>
      <p:pic>
        <p:nvPicPr>
          <p:cNvPr id="226" name="Google Shape;22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7" name="Google Shape;227;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9" name="Google Shape;22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0" name="Google Shape;23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1" name="Google Shape;23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2" name="Shape 232"/>
        <p:cNvGrpSpPr/>
        <p:nvPr/>
      </p:nvGrpSpPr>
      <p:grpSpPr>
        <a:xfrm>
          <a:off x="0" y="0"/>
          <a:ext cx="0" cy="0"/>
          <a:chOff x="0" y="0"/>
          <a:chExt cx="0" cy="0"/>
        </a:xfrm>
      </p:grpSpPr>
      <p:sp>
        <p:nvSpPr>
          <p:cNvPr id="233" name="Google Shape;233;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 name="Google Shape;234;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5" name="Google Shape;235;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7" name="Google Shape;237;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39" name="Google Shape;239;p24"/>
          <p:cNvGrpSpPr/>
          <p:nvPr/>
        </p:nvGrpSpPr>
        <p:grpSpPr>
          <a:xfrm>
            <a:off x="7834231" y="1285"/>
            <a:ext cx="828900" cy="576065"/>
            <a:chOff x="7801496" y="1285"/>
            <a:chExt cx="828900" cy="576065"/>
          </a:xfrm>
        </p:grpSpPr>
        <p:pic>
          <p:nvPicPr>
            <p:cNvPr id="240" name="Google Shape;240;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1" name="Google Shape;241;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2" name="Google Shape;242;p24"/>
          <p:cNvGrpSpPr/>
          <p:nvPr/>
        </p:nvGrpSpPr>
        <p:grpSpPr>
          <a:xfrm>
            <a:off x="8635663" y="1285"/>
            <a:ext cx="499700" cy="576065"/>
            <a:chOff x="8635663" y="1285"/>
            <a:chExt cx="499700" cy="576065"/>
          </a:xfrm>
        </p:grpSpPr>
        <p:pic>
          <p:nvPicPr>
            <p:cNvPr id="243" name="Google Shape;243;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4" name="Google Shape;244;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5" name="Shape 245"/>
        <p:cNvGrpSpPr/>
        <p:nvPr/>
      </p:nvGrpSpPr>
      <p:grpSpPr>
        <a:xfrm>
          <a:off x="0" y="0"/>
          <a:ext cx="0" cy="0"/>
          <a:chOff x="0" y="0"/>
          <a:chExt cx="0" cy="0"/>
        </a:xfrm>
      </p:grpSpPr>
      <p:sp>
        <p:nvSpPr>
          <p:cNvPr id="246" name="Google Shape;246;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7" name="Google Shape;247;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8" name="Google Shape;248;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0" name="Google Shape;250;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2" name="Google Shape;252;p25"/>
          <p:cNvGrpSpPr/>
          <p:nvPr/>
        </p:nvGrpSpPr>
        <p:grpSpPr>
          <a:xfrm>
            <a:off x="7834231" y="1285"/>
            <a:ext cx="828900" cy="576065"/>
            <a:chOff x="7801496" y="1285"/>
            <a:chExt cx="828900" cy="576065"/>
          </a:xfrm>
        </p:grpSpPr>
        <p:pic>
          <p:nvPicPr>
            <p:cNvPr id="253" name="Google Shape;253;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4" name="Google Shape;254;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5" name="Google Shape;255;p25"/>
          <p:cNvGrpSpPr/>
          <p:nvPr/>
        </p:nvGrpSpPr>
        <p:grpSpPr>
          <a:xfrm>
            <a:off x="8635663" y="1285"/>
            <a:ext cx="499700" cy="576065"/>
            <a:chOff x="8635663" y="1285"/>
            <a:chExt cx="499700" cy="576065"/>
          </a:xfrm>
        </p:grpSpPr>
        <p:pic>
          <p:nvPicPr>
            <p:cNvPr id="256" name="Google Shape;256;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7" name="Google Shape;257;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8" name="Shape 258"/>
        <p:cNvGrpSpPr/>
        <p:nvPr/>
      </p:nvGrpSpPr>
      <p:grpSpPr>
        <a:xfrm>
          <a:off x="0" y="0"/>
          <a:ext cx="0" cy="0"/>
          <a:chOff x="0" y="0"/>
          <a:chExt cx="0" cy="0"/>
        </a:xfrm>
      </p:grpSpPr>
      <p:sp>
        <p:nvSpPr>
          <p:cNvPr id="259" name="Google Shape;259;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 name="Google Shape;260;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1" name="Google Shape;261;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3" name="Google Shape;263;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5" name="Google Shape;265;p26"/>
          <p:cNvGrpSpPr/>
          <p:nvPr/>
        </p:nvGrpSpPr>
        <p:grpSpPr>
          <a:xfrm>
            <a:off x="7834231" y="1285"/>
            <a:ext cx="828900" cy="576065"/>
            <a:chOff x="7801496" y="1285"/>
            <a:chExt cx="828900" cy="576065"/>
          </a:xfrm>
        </p:grpSpPr>
        <p:pic>
          <p:nvPicPr>
            <p:cNvPr id="266" name="Google Shape;266;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7" name="Google Shape;267;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8" name="Google Shape;268;p26"/>
          <p:cNvGrpSpPr/>
          <p:nvPr/>
        </p:nvGrpSpPr>
        <p:grpSpPr>
          <a:xfrm>
            <a:off x="8635663" y="1285"/>
            <a:ext cx="499700" cy="576065"/>
            <a:chOff x="8635663" y="1285"/>
            <a:chExt cx="499700" cy="576065"/>
          </a:xfrm>
        </p:grpSpPr>
        <p:pic>
          <p:nvPicPr>
            <p:cNvPr id="269" name="Google Shape;269;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0" name="Google Shape;270;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1" name="Shape 271"/>
        <p:cNvGrpSpPr/>
        <p:nvPr/>
      </p:nvGrpSpPr>
      <p:grpSpPr>
        <a:xfrm>
          <a:off x="0" y="0"/>
          <a:ext cx="0" cy="0"/>
          <a:chOff x="0" y="0"/>
          <a:chExt cx="0" cy="0"/>
        </a:xfrm>
      </p:grpSpPr>
      <p:sp>
        <p:nvSpPr>
          <p:cNvPr id="272" name="Google Shape;272;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4" name="Google Shape;274;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6" name="Google Shape;276;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8" name="Google Shape;278;p27"/>
          <p:cNvGrpSpPr/>
          <p:nvPr/>
        </p:nvGrpSpPr>
        <p:grpSpPr>
          <a:xfrm>
            <a:off x="7834231" y="1285"/>
            <a:ext cx="828900" cy="576065"/>
            <a:chOff x="7801496" y="1285"/>
            <a:chExt cx="828900" cy="576065"/>
          </a:xfrm>
        </p:grpSpPr>
        <p:pic>
          <p:nvPicPr>
            <p:cNvPr id="279" name="Google Shape;279;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0" name="Google Shape;280;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1" name="Google Shape;281;p27"/>
          <p:cNvGrpSpPr/>
          <p:nvPr/>
        </p:nvGrpSpPr>
        <p:grpSpPr>
          <a:xfrm>
            <a:off x="8635663" y="1285"/>
            <a:ext cx="499700" cy="576065"/>
            <a:chOff x="8635663" y="1285"/>
            <a:chExt cx="499700" cy="576065"/>
          </a:xfrm>
        </p:grpSpPr>
        <p:pic>
          <p:nvPicPr>
            <p:cNvPr id="282" name="Google Shape;282;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3" name="Google Shape;283;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4" name="Shape 284"/>
        <p:cNvGrpSpPr/>
        <p:nvPr/>
      </p:nvGrpSpPr>
      <p:grpSpPr>
        <a:xfrm>
          <a:off x="0" y="0"/>
          <a:ext cx="0" cy="0"/>
          <a:chOff x="0" y="0"/>
          <a:chExt cx="0" cy="0"/>
        </a:xfrm>
      </p:grpSpPr>
      <p:pic>
        <p:nvPicPr>
          <p:cNvPr id="285" name="Google Shape;285;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6" name="Google Shape;286;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7" name="Google Shape;287;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8" name="Google Shape;288;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0" name="Google Shape;290;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1" name="Google Shape;291;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2" name="Google Shape;292;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3" name="Google Shape;293;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5" name="Google Shape;295;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6" name="Google Shape;296;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7" name="Google Shape;297;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8" name="Google Shape;298;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299" name="Google Shape;299;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0" name="Google Shape;300;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1" name="Google Shape;301;p28"/>
          <p:cNvGrpSpPr/>
          <p:nvPr/>
        </p:nvGrpSpPr>
        <p:grpSpPr>
          <a:xfrm>
            <a:off x="324128" y="3139463"/>
            <a:ext cx="457200" cy="457200"/>
            <a:chOff x="1020916" y="1442088"/>
            <a:chExt cx="457200" cy="457200"/>
          </a:xfrm>
        </p:grpSpPr>
        <p:pic>
          <p:nvPicPr>
            <p:cNvPr id="302" name="Google Shape;302;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3" name="Google Shape;303;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4" name="Google Shape;304;p28"/>
          <p:cNvGrpSpPr/>
          <p:nvPr/>
        </p:nvGrpSpPr>
        <p:grpSpPr>
          <a:xfrm>
            <a:off x="324128" y="3987825"/>
            <a:ext cx="457200" cy="457200"/>
            <a:chOff x="1020916" y="1442088"/>
            <a:chExt cx="457200" cy="457200"/>
          </a:xfrm>
        </p:grpSpPr>
        <p:pic>
          <p:nvPicPr>
            <p:cNvPr id="305" name="Google Shape;305;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6" name="Google Shape;306;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7" name="Shape 307"/>
        <p:cNvGrpSpPr/>
        <p:nvPr/>
      </p:nvGrpSpPr>
      <p:grpSpPr>
        <a:xfrm>
          <a:off x="0" y="0"/>
          <a:ext cx="0" cy="0"/>
          <a:chOff x="0" y="0"/>
          <a:chExt cx="0" cy="0"/>
        </a:xfrm>
      </p:grpSpPr>
      <p:pic>
        <p:nvPicPr>
          <p:cNvPr id="308" name="Google Shape;308;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9" name="Google Shape;309;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1" name="Google Shape;311;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2" name="Google Shape;312;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3" name="Google Shape;313;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4" name="Google Shape;314;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5" name="Google Shape;315;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6" name="Google Shape;316;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7" name="Google Shape;317;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8" name="Google Shape;318;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9" name="Google Shape;319;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0" name="Google Shape;320;p29"/>
          <p:cNvGrpSpPr/>
          <p:nvPr/>
        </p:nvGrpSpPr>
        <p:grpSpPr>
          <a:xfrm>
            <a:off x="324128" y="3139463"/>
            <a:ext cx="457200" cy="457200"/>
            <a:chOff x="1020916" y="1442088"/>
            <a:chExt cx="457200" cy="457200"/>
          </a:xfrm>
        </p:grpSpPr>
        <p:pic>
          <p:nvPicPr>
            <p:cNvPr id="321" name="Google Shape;321;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2" name="Google Shape;322;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3" name="Google Shape;323;p29"/>
          <p:cNvGrpSpPr/>
          <p:nvPr/>
        </p:nvGrpSpPr>
        <p:grpSpPr>
          <a:xfrm>
            <a:off x="324128" y="3987825"/>
            <a:ext cx="457200" cy="457200"/>
            <a:chOff x="1020916" y="1442088"/>
            <a:chExt cx="457200" cy="457200"/>
          </a:xfrm>
        </p:grpSpPr>
        <p:pic>
          <p:nvPicPr>
            <p:cNvPr id="324" name="Google Shape;324;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5" name="Google Shape;325;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6" name="Google Shape;326;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7" name="Google Shape;327;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8" name="Google Shape;328;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29" name="Google Shape;329;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0" name="Shape 330"/>
        <p:cNvGrpSpPr/>
        <p:nvPr/>
      </p:nvGrpSpPr>
      <p:grpSpPr>
        <a:xfrm>
          <a:off x="0" y="0"/>
          <a:ext cx="0" cy="0"/>
          <a:chOff x="0" y="0"/>
          <a:chExt cx="0" cy="0"/>
        </a:xfrm>
      </p:grpSpPr>
      <p:pic>
        <p:nvPicPr>
          <p:cNvPr id="331" name="Google Shape;331;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2" name="Google Shape;332;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4" name="Google Shape;33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5" name="Google Shape;33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6" name="Google Shape;336;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7" name="Google Shape;337;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8" name="Google Shape;338;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39" name="Google Shape;339;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0" name="Google Shape;340;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1" name="Google Shape;341;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2" name="Google Shape;342;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3" name="Google Shape;343;p30"/>
          <p:cNvGrpSpPr/>
          <p:nvPr/>
        </p:nvGrpSpPr>
        <p:grpSpPr>
          <a:xfrm>
            <a:off x="324128" y="3139463"/>
            <a:ext cx="457200" cy="457200"/>
            <a:chOff x="1020916" y="1442088"/>
            <a:chExt cx="457200" cy="457200"/>
          </a:xfrm>
        </p:grpSpPr>
        <p:pic>
          <p:nvPicPr>
            <p:cNvPr id="344" name="Google Shape;344;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5" name="Google Shape;345;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6" name="Google Shape;346;p30"/>
          <p:cNvGrpSpPr/>
          <p:nvPr/>
        </p:nvGrpSpPr>
        <p:grpSpPr>
          <a:xfrm>
            <a:off x="324128" y="3987825"/>
            <a:ext cx="457200" cy="457200"/>
            <a:chOff x="1020916" y="1442088"/>
            <a:chExt cx="457200" cy="457200"/>
          </a:xfrm>
        </p:grpSpPr>
        <p:pic>
          <p:nvPicPr>
            <p:cNvPr id="347" name="Google Shape;347;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8" name="Google Shape;348;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49" name="Google Shape;349;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0" name="Google Shape;350;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1" name="Google Shape;351;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2" name="Google Shape;352;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3" name="Shape 353"/>
        <p:cNvGrpSpPr/>
        <p:nvPr/>
      </p:nvGrpSpPr>
      <p:grpSpPr>
        <a:xfrm>
          <a:off x="0" y="0"/>
          <a:ext cx="0" cy="0"/>
          <a:chOff x="0" y="0"/>
          <a:chExt cx="0" cy="0"/>
        </a:xfrm>
      </p:grpSpPr>
      <p:pic>
        <p:nvPicPr>
          <p:cNvPr id="354" name="Google Shape;354;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5" name="Google Shape;355;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7" name="Google Shape;357;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8" name="Google Shape;358;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59" name="Google Shape;359;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0" name="Google Shape;360;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1" name="Google Shape;361;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2" name="Google Shape;362;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3" name="Google Shape;363;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4" name="Google Shape;364;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5" name="Google Shape;365;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6" name="Google Shape;366;p31"/>
          <p:cNvGrpSpPr/>
          <p:nvPr/>
        </p:nvGrpSpPr>
        <p:grpSpPr>
          <a:xfrm>
            <a:off x="324128" y="3139463"/>
            <a:ext cx="457200" cy="457200"/>
            <a:chOff x="1020916" y="1442088"/>
            <a:chExt cx="457200" cy="457200"/>
          </a:xfrm>
        </p:grpSpPr>
        <p:pic>
          <p:nvPicPr>
            <p:cNvPr id="367" name="Google Shape;367;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8" name="Google Shape;368;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69" name="Google Shape;369;p31"/>
          <p:cNvGrpSpPr/>
          <p:nvPr/>
        </p:nvGrpSpPr>
        <p:grpSpPr>
          <a:xfrm>
            <a:off x="324128" y="3987825"/>
            <a:ext cx="457200" cy="457200"/>
            <a:chOff x="1020916" y="1442088"/>
            <a:chExt cx="457200" cy="457200"/>
          </a:xfrm>
        </p:grpSpPr>
        <p:pic>
          <p:nvPicPr>
            <p:cNvPr id="370" name="Google Shape;370;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1" name="Google Shape;371;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2" name="Google Shape;372;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3" name="Google Shape;373;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4" name="Google Shape;374;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5" name="Google Shape;375;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6" name="Shape 376"/>
        <p:cNvGrpSpPr/>
        <p:nvPr/>
      </p:nvGrpSpPr>
      <p:grpSpPr>
        <a:xfrm>
          <a:off x="0" y="0"/>
          <a:ext cx="0" cy="0"/>
          <a:chOff x="0" y="0"/>
          <a:chExt cx="0" cy="0"/>
        </a:xfrm>
      </p:grpSpPr>
      <p:pic>
        <p:nvPicPr>
          <p:cNvPr id="377" name="Google Shape;377;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8" name="Google Shape;378;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0" name="Google Shape;380;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1" name="Google Shape;381;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2" name="Google Shape;382;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3" name="Google Shape;383;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6" name="Google Shape;386;p32"/>
          <p:cNvGrpSpPr/>
          <p:nvPr/>
        </p:nvGrpSpPr>
        <p:grpSpPr>
          <a:xfrm>
            <a:off x="323653" y="1804438"/>
            <a:ext cx="457200" cy="457200"/>
            <a:chOff x="1020916" y="1442088"/>
            <a:chExt cx="457200" cy="457200"/>
          </a:xfrm>
        </p:grpSpPr>
        <p:pic>
          <p:nvPicPr>
            <p:cNvPr id="387" name="Google Shape;387;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8" name="Google Shape;388;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89" name="Google Shape;389;p32"/>
          <p:cNvGrpSpPr/>
          <p:nvPr/>
        </p:nvGrpSpPr>
        <p:grpSpPr>
          <a:xfrm>
            <a:off x="323653" y="2766575"/>
            <a:ext cx="457200" cy="457200"/>
            <a:chOff x="1020916" y="1442088"/>
            <a:chExt cx="457200" cy="457200"/>
          </a:xfrm>
        </p:grpSpPr>
        <p:pic>
          <p:nvPicPr>
            <p:cNvPr id="390" name="Google Shape;390;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1" name="Google Shape;391;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2" name="Google Shape;392;p32"/>
          <p:cNvGrpSpPr/>
          <p:nvPr/>
        </p:nvGrpSpPr>
        <p:grpSpPr>
          <a:xfrm>
            <a:off x="323641" y="3729038"/>
            <a:ext cx="457200" cy="457200"/>
            <a:chOff x="1020916" y="1442088"/>
            <a:chExt cx="457200" cy="457200"/>
          </a:xfrm>
        </p:grpSpPr>
        <p:pic>
          <p:nvPicPr>
            <p:cNvPr id="393" name="Google Shape;393;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4" name="Google Shape;394;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5" name="Shape 395"/>
        <p:cNvGrpSpPr/>
        <p:nvPr/>
      </p:nvGrpSpPr>
      <p:grpSpPr>
        <a:xfrm>
          <a:off x="0" y="0"/>
          <a:ext cx="0" cy="0"/>
          <a:chOff x="0" y="0"/>
          <a:chExt cx="0" cy="0"/>
        </a:xfrm>
      </p:grpSpPr>
      <p:pic>
        <p:nvPicPr>
          <p:cNvPr id="396" name="Google Shape;396;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7" name="Google Shape;397;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9" name="Google Shape;399;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0" name="Google Shape;400;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1" name="Google Shape;401;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2" name="Google Shape;402;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3" name="Google Shape;403;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5" name="Google Shape;405;p33"/>
          <p:cNvGrpSpPr/>
          <p:nvPr/>
        </p:nvGrpSpPr>
        <p:grpSpPr>
          <a:xfrm>
            <a:off x="323653" y="1804438"/>
            <a:ext cx="457200" cy="457200"/>
            <a:chOff x="1020916" y="1442088"/>
            <a:chExt cx="457200" cy="457200"/>
          </a:xfrm>
        </p:grpSpPr>
        <p:pic>
          <p:nvPicPr>
            <p:cNvPr id="406" name="Google Shape;406;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7" name="Google Shape;407;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8" name="Google Shape;408;p33"/>
          <p:cNvGrpSpPr/>
          <p:nvPr/>
        </p:nvGrpSpPr>
        <p:grpSpPr>
          <a:xfrm>
            <a:off x="323653" y="2766575"/>
            <a:ext cx="457200" cy="457200"/>
            <a:chOff x="1020916" y="1442088"/>
            <a:chExt cx="457200" cy="457200"/>
          </a:xfrm>
        </p:grpSpPr>
        <p:pic>
          <p:nvPicPr>
            <p:cNvPr id="409" name="Google Shape;409;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0" name="Google Shape;410;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1" name="Google Shape;411;p33"/>
          <p:cNvGrpSpPr/>
          <p:nvPr/>
        </p:nvGrpSpPr>
        <p:grpSpPr>
          <a:xfrm>
            <a:off x="323641" y="3729038"/>
            <a:ext cx="457200" cy="457200"/>
            <a:chOff x="1020916" y="1442088"/>
            <a:chExt cx="457200" cy="457200"/>
          </a:xfrm>
        </p:grpSpPr>
        <p:pic>
          <p:nvPicPr>
            <p:cNvPr id="412" name="Google Shape;412;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3" name="Google Shape;413;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4" name="Shape 414"/>
        <p:cNvGrpSpPr/>
        <p:nvPr/>
      </p:nvGrpSpPr>
      <p:grpSpPr>
        <a:xfrm>
          <a:off x="0" y="0"/>
          <a:ext cx="0" cy="0"/>
          <a:chOff x="0" y="0"/>
          <a:chExt cx="0" cy="0"/>
        </a:xfrm>
      </p:grpSpPr>
      <p:pic>
        <p:nvPicPr>
          <p:cNvPr id="415" name="Google Shape;415;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8" name="Google Shape;418;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19" name="Google Shape;419;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0" name="Google Shape;420;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1" name="Google Shape;421;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2" name="Google Shape;422;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4" name="Google Shape;424;p34"/>
          <p:cNvGrpSpPr/>
          <p:nvPr/>
        </p:nvGrpSpPr>
        <p:grpSpPr>
          <a:xfrm>
            <a:off x="323653" y="1804438"/>
            <a:ext cx="457200" cy="457200"/>
            <a:chOff x="1020916" y="1442088"/>
            <a:chExt cx="457200" cy="457200"/>
          </a:xfrm>
        </p:grpSpPr>
        <p:pic>
          <p:nvPicPr>
            <p:cNvPr id="425" name="Google Shape;425;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6" name="Google Shape;426;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7" name="Google Shape;427;p34"/>
          <p:cNvGrpSpPr/>
          <p:nvPr/>
        </p:nvGrpSpPr>
        <p:grpSpPr>
          <a:xfrm>
            <a:off x="323653" y="2766575"/>
            <a:ext cx="457200" cy="457200"/>
            <a:chOff x="1020916" y="1442088"/>
            <a:chExt cx="457200" cy="457200"/>
          </a:xfrm>
        </p:grpSpPr>
        <p:pic>
          <p:nvPicPr>
            <p:cNvPr id="428" name="Google Shape;428;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9" name="Google Shape;429;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0" name="Google Shape;430;p34"/>
          <p:cNvGrpSpPr/>
          <p:nvPr/>
        </p:nvGrpSpPr>
        <p:grpSpPr>
          <a:xfrm>
            <a:off x="323641" y="3729038"/>
            <a:ext cx="457200" cy="457200"/>
            <a:chOff x="1020916" y="1442088"/>
            <a:chExt cx="457200" cy="457200"/>
          </a:xfrm>
        </p:grpSpPr>
        <p:pic>
          <p:nvPicPr>
            <p:cNvPr id="431" name="Google Shape;43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2" name="Google Shape;43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3" name="Shape 433"/>
        <p:cNvGrpSpPr/>
        <p:nvPr/>
      </p:nvGrpSpPr>
      <p:grpSpPr>
        <a:xfrm>
          <a:off x="0" y="0"/>
          <a:ext cx="0" cy="0"/>
          <a:chOff x="0" y="0"/>
          <a:chExt cx="0" cy="0"/>
        </a:xfrm>
      </p:grpSpPr>
      <p:pic>
        <p:nvPicPr>
          <p:cNvPr id="434" name="Google Shape;434;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5" name="Google Shape;435;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7" name="Google Shape;437;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8" name="Google Shape;438;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39" name="Google Shape;439;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3" name="Google Shape;443;p35"/>
          <p:cNvGrpSpPr/>
          <p:nvPr/>
        </p:nvGrpSpPr>
        <p:grpSpPr>
          <a:xfrm>
            <a:off x="323653" y="1804438"/>
            <a:ext cx="457200" cy="457200"/>
            <a:chOff x="1020916" y="1442088"/>
            <a:chExt cx="457200" cy="457200"/>
          </a:xfrm>
        </p:grpSpPr>
        <p:pic>
          <p:nvPicPr>
            <p:cNvPr id="444" name="Google Shape;444;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5" name="Google Shape;445;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6" name="Google Shape;446;p35"/>
          <p:cNvGrpSpPr/>
          <p:nvPr/>
        </p:nvGrpSpPr>
        <p:grpSpPr>
          <a:xfrm>
            <a:off x="323653" y="2766575"/>
            <a:ext cx="457200" cy="457200"/>
            <a:chOff x="1020916" y="1442088"/>
            <a:chExt cx="457200" cy="457200"/>
          </a:xfrm>
        </p:grpSpPr>
        <p:pic>
          <p:nvPicPr>
            <p:cNvPr id="447" name="Google Shape;447;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8" name="Google Shape;448;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49" name="Google Shape;449;p35"/>
          <p:cNvGrpSpPr/>
          <p:nvPr/>
        </p:nvGrpSpPr>
        <p:grpSpPr>
          <a:xfrm>
            <a:off x="323641" y="3729038"/>
            <a:ext cx="457200" cy="457200"/>
            <a:chOff x="1020916" y="1442088"/>
            <a:chExt cx="457200" cy="457200"/>
          </a:xfrm>
        </p:grpSpPr>
        <p:pic>
          <p:nvPicPr>
            <p:cNvPr id="450" name="Google Shape;45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1" name="Google Shape;45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2" name="Shape 452"/>
        <p:cNvGrpSpPr/>
        <p:nvPr/>
      </p:nvGrpSpPr>
      <p:grpSpPr>
        <a:xfrm>
          <a:off x="0" y="0"/>
          <a:ext cx="0" cy="0"/>
          <a:chOff x="0" y="0"/>
          <a:chExt cx="0" cy="0"/>
        </a:xfrm>
      </p:grpSpPr>
      <p:pic>
        <p:nvPicPr>
          <p:cNvPr id="453" name="Google Shape;453;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4" name="Google Shape;454;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7" name="Google Shape;457;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8" name="Google Shape;458;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9" name="Google Shape;459;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0" name="Google Shape;460;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3" name="Google Shape;463;p36"/>
          <p:cNvGrpSpPr/>
          <p:nvPr/>
        </p:nvGrpSpPr>
        <p:grpSpPr>
          <a:xfrm>
            <a:off x="323653" y="1652038"/>
            <a:ext cx="457200" cy="457200"/>
            <a:chOff x="1020916" y="1442088"/>
            <a:chExt cx="457200" cy="457200"/>
          </a:xfrm>
        </p:grpSpPr>
        <p:pic>
          <p:nvPicPr>
            <p:cNvPr id="464" name="Google Shape;46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5" name="Google Shape;46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6" name="Google Shape;466;p36"/>
          <p:cNvGrpSpPr/>
          <p:nvPr/>
        </p:nvGrpSpPr>
        <p:grpSpPr>
          <a:xfrm>
            <a:off x="323653" y="2461775"/>
            <a:ext cx="457200" cy="457200"/>
            <a:chOff x="1020916" y="1442088"/>
            <a:chExt cx="457200" cy="457200"/>
          </a:xfrm>
        </p:grpSpPr>
        <p:pic>
          <p:nvPicPr>
            <p:cNvPr id="467" name="Google Shape;467;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8" name="Google Shape;468;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69" name="Google Shape;469;p36"/>
          <p:cNvGrpSpPr/>
          <p:nvPr/>
        </p:nvGrpSpPr>
        <p:grpSpPr>
          <a:xfrm>
            <a:off x="323641" y="3271838"/>
            <a:ext cx="457200" cy="457200"/>
            <a:chOff x="1020916" y="1442088"/>
            <a:chExt cx="457200" cy="457200"/>
          </a:xfrm>
        </p:grpSpPr>
        <p:pic>
          <p:nvPicPr>
            <p:cNvPr id="470" name="Google Shape;470;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1" name="Google Shape;471;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2" name="Google Shape;472;p36"/>
          <p:cNvGrpSpPr/>
          <p:nvPr/>
        </p:nvGrpSpPr>
        <p:grpSpPr>
          <a:xfrm>
            <a:off x="323641" y="4081763"/>
            <a:ext cx="457200" cy="457200"/>
            <a:chOff x="1020916" y="1442088"/>
            <a:chExt cx="457200" cy="457200"/>
          </a:xfrm>
        </p:grpSpPr>
        <p:pic>
          <p:nvPicPr>
            <p:cNvPr id="473" name="Google Shape;473;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4" name="Google Shape;474;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5" name="Shape 475"/>
        <p:cNvGrpSpPr/>
        <p:nvPr/>
      </p:nvGrpSpPr>
      <p:grpSpPr>
        <a:xfrm>
          <a:off x="0" y="0"/>
          <a:ext cx="0" cy="0"/>
          <a:chOff x="0" y="0"/>
          <a:chExt cx="0" cy="0"/>
        </a:xfrm>
      </p:grpSpPr>
      <p:pic>
        <p:nvPicPr>
          <p:cNvPr id="476" name="Google Shape;476;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79" name="Google Shape;479;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0" name="Google Shape;480;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1" name="Google Shape;481;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2" name="Google Shape;482;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3" name="Google Shape;483;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6" name="Google Shape;486;p37"/>
          <p:cNvGrpSpPr/>
          <p:nvPr/>
        </p:nvGrpSpPr>
        <p:grpSpPr>
          <a:xfrm>
            <a:off x="323653" y="1652038"/>
            <a:ext cx="457200" cy="457200"/>
            <a:chOff x="1020916" y="1442088"/>
            <a:chExt cx="457200" cy="457200"/>
          </a:xfrm>
        </p:grpSpPr>
        <p:pic>
          <p:nvPicPr>
            <p:cNvPr id="487" name="Google Shape;48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8" name="Google Shape;48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89" name="Google Shape;489;p37"/>
          <p:cNvGrpSpPr/>
          <p:nvPr/>
        </p:nvGrpSpPr>
        <p:grpSpPr>
          <a:xfrm>
            <a:off x="323653" y="2461775"/>
            <a:ext cx="457200" cy="457200"/>
            <a:chOff x="1020916" y="1442088"/>
            <a:chExt cx="457200" cy="457200"/>
          </a:xfrm>
        </p:grpSpPr>
        <p:pic>
          <p:nvPicPr>
            <p:cNvPr id="490" name="Google Shape;490;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1" name="Google Shape;491;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2" name="Google Shape;492;p37"/>
          <p:cNvGrpSpPr/>
          <p:nvPr/>
        </p:nvGrpSpPr>
        <p:grpSpPr>
          <a:xfrm>
            <a:off x="323641" y="3271838"/>
            <a:ext cx="457200" cy="457200"/>
            <a:chOff x="1020916" y="1442088"/>
            <a:chExt cx="457200" cy="457200"/>
          </a:xfrm>
        </p:grpSpPr>
        <p:pic>
          <p:nvPicPr>
            <p:cNvPr id="493" name="Google Shape;493;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4" name="Google Shape;494;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5" name="Google Shape;495;p37"/>
          <p:cNvGrpSpPr/>
          <p:nvPr/>
        </p:nvGrpSpPr>
        <p:grpSpPr>
          <a:xfrm>
            <a:off x="323641" y="4081763"/>
            <a:ext cx="457200" cy="457200"/>
            <a:chOff x="1020916" y="1442088"/>
            <a:chExt cx="457200" cy="457200"/>
          </a:xfrm>
        </p:grpSpPr>
        <p:pic>
          <p:nvPicPr>
            <p:cNvPr id="496" name="Google Shape;496;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7" name="Google Shape;497;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8" name="Shape 498"/>
        <p:cNvGrpSpPr/>
        <p:nvPr/>
      </p:nvGrpSpPr>
      <p:grpSpPr>
        <a:xfrm>
          <a:off x="0" y="0"/>
          <a:ext cx="0" cy="0"/>
          <a:chOff x="0" y="0"/>
          <a:chExt cx="0" cy="0"/>
        </a:xfrm>
      </p:grpSpPr>
      <p:pic>
        <p:nvPicPr>
          <p:cNvPr id="499" name="Google Shape;499;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0" name="Google Shape;500;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2" name="Google Shape;502;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3" name="Google Shape;503;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4" name="Google Shape;504;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5" name="Google Shape;505;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6" name="Google Shape;506;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09" name="Google Shape;509;p38"/>
          <p:cNvGrpSpPr/>
          <p:nvPr/>
        </p:nvGrpSpPr>
        <p:grpSpPr>
          <a:xfrm>
            <a:off x="323653" y="1652038"/>
            <a:ext cx="457200" cy="457200"/>
            <a:chOff x="1020916" y="1442088"/>
            <a:chExt cx="457200" cy="457200"/>
          </a:xfrm>
        </p:grpSpPr>
        <p:pic>
          <p:nvPicPr>
            <p:cNvPr id="510" name="Google Shape;51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1" name="Google Shape;51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2" name="Google Shape;512;p38"/>
          <p:cNvGrpSpPr/>
          <p:nvPr/>
        </p:nvGrpSpPr>
        <p:grpSpPr>
          <a:xfrm>
            <a:off x="323653" y="2461775"/>
            <a:ext cx="457200" cy="457200"/>
            <a:chOff x="1020916" y="1442088"/>
            <a:chExt cx="457200" cy="457200"/>
          </a:xfrm>
        </p:grpSpPr>
        <p:pic>
          <p:nvPicPr>
            <p:cNvPr id="513" name="Google Shape;513;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4" name="Google Shape;514;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5" name="Google Shape;515;p38"/>
          <p:cNvGrpSpPr/>
          <p:nvPr/>
        </p:nvGrpSpPr>
        <p:grpSpPr>
          <a:xfrm>
            <a:off x="323641" y="3271838"/>
            <a:ext cx="457200" cy="457200"/>
            <a:chOff x="1020916" y="1442088"/>
            <a:chExt cx="457200" cy="457200"/>
          </a:xfrm>
        </p:grpSpPr>
        <p:pic>
          <p:nvPicPr>
            <p:cNvPr id="516" name="Google Shape;516;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7" name="Google Shape;517;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8" name="Google Shape;518;p38"/>
          <p:cNvGrpSpPr/>
          <p:nvPr/>
        </p:nvGrpSpPr>
        <p:grpSpPr>
          <a:xfrm>
            <a:off x="323641" y="4081763"/>
            <a:ext cx="457200" cy="457200"/>
            <a:chOff x="1020916" y="1442088"/>
            <a:chExt cx="457200" cy="457200"/>
          </a:xfrm>
        </p:grpSpPr>
        <p:pic>
          <p:nvPicPr>
            <p:cNvPr id="519" name="Google Shape;519;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0" name="Google Shape;520;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1" name="Shape 521"/>
        <p:cNvGrpSpPr/>
        <p:nvPr/>
      </p:nvGrpSpPr>
      <p:grpSpPr>
        <a:xfrm>
          <a:off x="0" y="0"/>
          <a:ext cx="0" cy="0"/>
          <a:chOff x="0" y="0"/>
          <a:chExt cx="0" cy="0"/>
        </a:xfrm>
      </p:grpSpPr>
      <p:pic>
        <p:nvPicPr>
          <p:cNvPr id="522" name="Google Shape;522;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3" name="Google Shape;523;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5" name="Google Shape;525;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6" name="Google Shape;526;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7" name="Google Shape;527;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8" name="Google Shape;528;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9" name="Google Shape;529;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39"/>
          <p:cNvGrpSpPr/>
          <p:nvPr/>
        </p:nvGrpSpPr>
        <p:grpSpPr>
          <a:xfrm>
            <a:off x="323653" y="1652038"/>
            <a:ext cx="457200" cy="457200"/>
            <a:chOff x="1020916" y="1442088"/>
            <a:chExt cx="457200" cy="457200"/>
          </a:xfrm>
        </p:grpSpPr>
        <p:pic>
          <p:nvPicPr>
            <p:cNvPr id="533" name="Google Shape;53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39"/>
          <p:cNvGrpSpPr/>
          <p:nvPr/>
        </p:nvGrpSpPr>
        <p:grpSpPr>
          <a:xfrm>
            <a:off x="323653" y="2461775"/>
            <a:ext cx="457200" cy="457200"/>
            <a:chOff x="1020916" y="1442088"/>
            <a:chExt cx="457200" cy="457200"/>
          </a:xfrm>
        </p:grpSpPr>
        <p:pic>
          <p:nvPicPr>
            <p:cNvPr id="536" name="Google Shape;536;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39"/>
          <p:cNvGrpSpPr/>
          <p:nvPr/>
        </p:nvGrpSpPr>
        <p:grpSpPr>
          <a:xfrm>
            <a:off x="323641" y="3271838"/>
            <a:ext cx="457200" cy="457200"/>
            <a:chOff x="1020916" y="1442088"/>
            <a:chExt cx="457200" cy="457200"/>
          </a:xfrm>
        </p:grpSpPr>
        <p:pic>
          <p:nvPicPr>
            <p:cNvPr id="539" name="Google Shape;539;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1" name="Google Shape;541;p39"/>
          <p:cNvGrpSpPr/>
          <p:nvPr/>
        </p:nvGrpSpPr>
        <p:grpSpPr>
          <a:xfrm>
            <a:off x="323641" y="4081763"/>
            <a:ext cx="457200" cy="457200"/>
            <a:chOff x="1020916" y="1442088"/>
            <a:chExt cx="457200" cy="457200"/>
          </a:xfrm>
        </p:grpSpPr>
        <p:pic>
          <p:nvPicPr>
            <p:cNvPr id="542" name="Google Shape;542;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4" name="Shape 544"/>
        <p:cNvGrpSpPr/>
        <p:nvPr/>
      </p:nvGrpSpPr>
      <p:grpSpPr>
        <a:xfrm>
          <a:off x="0" y="0"/>
          <a:ext cx="0" cy="0"/>
          <a:chOff x="0" y="0"/>
          <a:chExt cx="0" cy="0"/>
        </a:xfrm>
      </p:grpSpPr>
      <p:pic>
        <p:nvPicPr>
          <p:cNvPr id="545" name="Google Shape;545;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6" name="Google Shape;546;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8" name="Google Shape;548;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9" name="Google Shape;549;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0" name="Google Shape;550;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40"/>
          <p:cNvSpPr/>
          <p:nvPr>
            <p:ph idx="3" type="pic"/>
          </p:nvPr>
        </p:nvSpPr>
        <p:spPr>
          <a:xfrm>
            <a:off x="324000" y="1893950"/>
            <a:ext cx="2555400" cy="1939500"/>
          </a:xfrm>
          <a:prstGeom prst="rect">
            <a:avLst/>
          </a:prstGeom>
          <a:noFill/>
          <a:ln>
            <a:noFill/>
          </a:ln>
        </p:spPr>
      </p:sp>
      <p:sp>
        <p:nvSpPr>
          <p:cNvPr id="552" name="Google Shape;552;p40"/>
          <p:cNvSpPr/>
          <p:nvPr>
            <p:ph idx="4" type="pic"/>
          </p:nvPr>
        </p:nvSpPr>
        <p:spPr>
          <a:xfrm>
            <a:off x="6256800" y="1893950"/>
            <a:ext cx="2555400" cy="1939500"/>
          </a:xfrm>
          <a:prstGeom prst="rect">
            <a:avLst/>
          </a:prstGeom>
          <a:noFill/>
          <a:ln>
            <a:noFill/>
          </a:ln>
        </p:spPr>
      </p:sp>
      <p:sp>
        <p:nvSpPr>
          <p:cNvPr id="553" name="Google Shape;553;p40"/>
          <p:cNvSpPr/>
          <p:nvPr>
            <p:ph idx="5" type="pic"/>
          </p:nvPr>
        </p:nvSpPr>
        <p:spPr>
          <a:xfrm>
            <a:off x="3294300" y="1893950"/>
            <a:ext cx="2555400" cy="1939500"/>
          </a:xfrm>
          <a:prstGeom prst="rect">
            <a:avLst/>
          </a:prstGeom>
          <a:noFill/>
          <a:ln>
            <a:noFill/>
          </a:ln>
        </p:spPr>
      </p:sp>
      <p:grpSp>
        <p:nvGrpSpPr>
          <p:cNvPr id="554" name="Google Shape;554;p40"/>
          <p:cNvGrpSpPr/>
          <p:nvPr/>
        </p:nvGrpSpPr>
        <p:grpSpPr>
          <a:xfrm>
            <a:off x="1381028" y="4148538"/>
            <a:ext cx="457200" cy="457200"/>
            <a:chOff x="1020916" y="1442088"/>
            <a:chExt cx="457200" cy="457200"/>
          </a:xfrm>
        </p:grpSpPr>
        <p:pic>
          <p:nvPicPr>
            <p:cNvPr id="555" name="Google Shape;555;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6" name="Google Shape;556;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7" name="Google Shape;557;p40"/>
          <p:cNvGrpSpPr/>
          <p:nvPr/>
        </p:nvGrpSpPr>
        <p:grpSpPr>
          <a:xfrm>
            <a:off x="4331066" y="4148550"/>
            <a:ext cx="457200" cy="457200"/>
            <a:chOff x="1020916" y="1442088"/>
            <a:chExt cx="457200" cy="457200"/>
          </a:xfrm>
        </p:grpSpPr>
        <p:pic>
          <p:nvPicPr>
            <p:cNvPr id="558" name="Google Shape;558;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9" name="Google Shape;559;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0" name="Google Shape;560;p40"/>
          <p:cNvGrpSpPr/>
          <p:nvPr/>
        </p:nvGrpSpPr>
        <p:grpSpPr>
          <a:xfrm>
            <a:off x="7305791" y="4148538"/>
            <a:ext cx="457200" cy="457200"/>
            <a:chOff x="1020916" y="1442088"/>
            <a:chExt cx="457200" cy="457200"/>
          </a:xfrm>
        </p:grpSpPr>
        <p:pic>
          <p:nvPicPr>
            <p:cNvPr id="561" name="Google Shape;561;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2" name="Google Shape;562;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3" name="Shape 563"/>
        <p:cNvGrpSpPr/>
        <p:nvPr/>
      </p:nvGrpSpPr>
      <p:grpSpPr>
        <a:xfrm>
          <a:off x="0" y="0"/>
          <a:ext cx="0" cy="0"/>
          <a:chOff x="0" y="0"/>
          <a:chExt cx="0" cy="0"/>
        </a:xfrm>
      </p:grpSpPr>
      <p:pic>
        <p:nvPicPr>
          <p:cNvPr id="564" name="Google Shape;564;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5" name="Google Shape;565;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7" name="Google Shape;567;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8" name="Google Shape;568;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69" name="Google Shape;569;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0" name="Google Shape;570;p41"/>
          <p:cNvSpPr/>
          <p:nvPr>
            <p:ph idx="3" type="pic"/>
          </p:nvPr>
        </p:nvSpPr>
        <p:spPr>
          <a:xfrm>
            <a:off x="324000" y="1893950"/>
            <a:ext cx="2555400" cy="1939500"/>
          </a:xfrm>
          <a:prstGeom prst="rect">
            <a:avLst/>
          </a:prstGeom>
          <a:noFill/>
          <a:ln>
            <a:noFill/>
          </a:ln>
        </p:spPr>
      </p:sp>
      <p:sp>
        <p:nvSpPr>
          <p:cNvPr id="571" name="Google Shape;571;p41"/>
          <p:cNvSpPr/>
          <p:nvPr>
            <p:ph idx="4" type="pic"/>
          </p:nvPr>
        </p:nvSpPr>
        <p:spPr>
          <a:xfrm>
            <a:off x="6256800" y="1893950"/>
            <a:ext cx="2555400" cy="1939500"/>
          </a:xfrm>
          <a:prstGeom prst="rect">
            <a:avLst/>
          </a:prstGeom>
          <a:noFill/>
          <a:ln>
            <a:noFill/>
          </a:ln>
        </p:spPr>
      </p:sp>
      <p:sp>
        <p:nvSpPr>
          <p:cNvPr id="572" name="Google Shape;572;p41"/>
          <p:cNvSpPr/>
          <p:nvPr>
            <p:ph idx="5" type="pic"/>
          </p:nvPr>
        </p:nvSpPr>
        <p:spPr>
          <a:xfrm>
            <a:off x="3294300" y="1893950"/>
            <a:ext cx="2555400" cy="1939500"/>
          </a:xfrm>
          <a:prstGeom prst="rect">
            <a:avLst/>
          </a:prstGeom>
          <a:noFill/>
          <a:ln>
            <a:noFill/>
          </a:ln>
        </p:spPr>
      </p:sp>
      <p:grpSp>
        <p:nvGrpSpPr>
          <p:cNvPr id="573" name="Google Shape;573;p41"/>
          <p:cNvGrpSpPr/>
          <p:nvPr/>
        </p:nvGrpSpPr>
        <p:grpSpPr>
          <a:xfrm>
            <a:off x="1381028" y="4148538"/>
            <a:ext cx="457200" cy="457200"/>
            <a:chOff x="1020916" y="1442088"/>
            <a:chExt cx="457200" cy="457200"/>
          </a:xfrm>
        </p:grpSpPr>
        <p:pic>
          <p:nvPicPr>
            <p:cNvPr id="574" name="Google Shape;574;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5" name="Google Shape;575;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6" name="Google Shape;576;p41"/>
          <p:cNvGrpSpPr/>
          <p:nvPr/>
        </p:nvGrpSpPr>
        <p:grpSpPr>
          <a:xfrm>
            <a:off x="4331066" y="4148550"/>
            <a:ext cx="457200" cy="457200"/>
            <a:chOff x="1020916" y="1442088"/>
            <a:chExt cx="457200" cy="457200"/>
          </a:xfrm>
        </p:grpSpPr>
        <p:pic>
          <p:nvPicPr>
            <p:cNvPr id="577" name="Google Shape;57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8" name="Google Shape;57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79" name="Google Shape;579;p41"/>
          <p:cNvGrpSpPr/>
          <p:nvPr/>
        </p:nvGrpSpPr>
        <p:grpSpPr>
          <a:xfrm>
            <a:off x="7305791" y="4148538"/>
            <a:ext cx="457200" cy="457200"/>
            <a:chOff x="1020916" y="1442088"/>
            <a:chExt cx="457200" cy="457200"/>
          </a:xfrm>
        </p:grpSpPr>
        <p:pic>
          <p:nvPicPr>
            <p:cNvPr id="580" name="Google Shape;58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1" name="Google Shape;58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2" name="Shape 582"/>
        <p:cNvGrpSpPr/>
        <p:nvPr/>
      </p:nvGrpSpPr>
      <p:grpSpPr>
        <a:xfrm>
          <a:off x="0" y="0"/>
          <a:ext cx="0" cy="0"/>
          <a:chOff x="0" y="0"/>
          <a:chExt cx="0" cy="0"/>
        </a:xfrm>
      </p:grpSpPr>
      <p:pic>
        <p:nvPicPr>
          <p:cNvPr id="583" name="Google Shape;583;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4" name="Google Shape;584;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7" name="Google Shape;587;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8" name="Google Shape;588;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9" name="Google Shape;589;p42"/>
          <p:cNvSpPr/>
          <p:nvPr>
            <p:ph idx="3" type="pic"/>
          </p:nvPr>
        </p:nvSpPr>
        <p:spPr>
          <a:xfrm>
            <a:off x="324000" y="1893950"/>
            <a:ext cx="2555400" cy="1939500"/>
          </a:xfrm>
          <a:prstGeom prst="rect">
            <a:avLst/>
          </a:prstGeom>
          <a:noFill/>
          <a:ln>
            <a:noFill/>
          </a:ln>
        </p:spPr>
      </p:sp>
      <p:sp>
        <p:nvSpPr>
          <p:cNvPr id="590" name="Google Shape;590;p42"/>
          <p:cNvSpPr/>
          <p:nvPr>
            <p:ph idx="4" type="pic"/>
          </p:nvPr>
        </p:nvSpPr>
        <p:spPr>
          <a:xfrm>
            <a:off x="6256800" y="1893950"/>
            <a:ext cx="2555400" cy="1939500"/>
          </a:xfrm>
          <a:prstGeom prst="rect">
            <a:avLst/>
          </a:prstGeom>
          <a:noFill/>
          <a:ln>
            <a:noFill/>
          </a:ln>
        </p:spPr>
      </p:sp>
      <p:sp>
        <p:nvSpPr>
          <p:cNvPr id="591" name="Google Shape;591;p42"/>
          <p:cNvSpPr/>
          <p:nvPr>
            <p:ph idx="5" type="pic"/>
          </p:nvPr>
        </p:nvSpPr>
        <p:spPr>
          <a:xfrm>
            <a:off x="3294300" y="1893950"/>
            <a:ext cx="2555400" cy="1939500"/>
          </a:xfrm>
          <a:prstGeom prst="rect">
            <a:avLst/>
          </a:prstGeom>
          <a:noFill/>
          <a:ln>
            <a:noFill/>
          </a:ln>
        </p:spPr>
      </p:sp>
      <p:grpSp>
        <p:nvGrpSpPr>
          <p:cNvPr id="592" name="Google Shape;592;p42"/>
          <p:cNvGrpSpPr/>
          <p:nvPr/>
        </p:nvGrpSpPr>
        <p:grpSpPr>
          <a:xfrm>
            <a:off x="1381028" y="4148538"/>
            <a:ext cx="457200" cy="457200"/>
            <a:chOff x="1020916" y="1442088"/>
            <a:chExt cx="457200" cy="457200"/>
          </a:xfrm>
        </p:grpSpPr>
        <p:pic>
          <p:nvPicPr>
            <p:cNvPr id="593" name="Google Shape;593;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4" name="Google Shape;594;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5" name="Google Shape;595;p42"/>
          <p:cNvGrpSpPr/>
          <p:nvPr/>
        </p:nvGrpSpPr>
        <p:grpSpPr>
          <a:xfrm>
            <a:off x="4331066" y="4148550"/>
            <a:ext cx="457200" cy="457200"/>
            <a:chOff x="1020916" y="1442088"/>
            <a:chExt cx="457200" cy="457200"/>
          </a:xfrm>
        </p:grpSpPr>
        <p:pic>
          <p:nvPicPr>
            <p:cNvPr id="596" name="Google Shape;596;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7" name="Google Shape;597;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8" name="Google Shape;598;p42"/>
          <p:cNvGrpSpPr/>
          <p:nvPr/>
        </p:nvGrpSpPr>
        <p:grpSpPr>
          <a:xfrm>
            <a:off x="7305791" y="4148538"/>
            <a:ext cx="457200" cy="457200"/>
            <a:chOff x="1020916" y="1442088"/>
            <a:chExt cx="457200" cy="457200"/>
          </a:xfrm>
        </p:grpSpPr>
        <p:pic>
          <p:nvPicPr>
            <p:cNvPr id="599" name="Google Shape;59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1" name="Shape 601"/>
        <p:cNvGrpSpPr/>
        <p:nvPr/>
      </p:nvGrpSpPr>
      <p:grpSpPr>
        <a:xfrm>
          <a:off x="0" y="0"/>
          <a:ext cx="0" cy="0"/>
          <a:chOff x="0" y="0"/>
          <a:chExt cx="0" cy="0"/>
        </a:xfrm>
      </p:grpSpPr>
      <p:pic>
        <p:nvPicPr>
          <p:cNvPr id="602" name="Google Shape;60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3" name="Google Shape;60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5" name="Google Shape;605;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6" name="Google Shape;606;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7" name="Google Shape;607;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8" name="Google Shape;608;p43"/>
          <p:cNvSpPr/>
          <p:nvPr>
            <p:ph idx="3" type="pic"/>
          </p:nvPr>
        </p:nvSpPr>
        <p:spPr>
          <a:xfrm>
            <a:off x="324000" y="1893950"/>
            <a:ext cx="2555400" cy="1939500"/>
          </a:xfrm>
          <a:prstGeom prst="rect">
            <a:avLst/>
          </a:prstGeom>
          <a:noFill/>
          <a:ln>
            <a:noFill/>
          </a:ln>
        </p:spPr>
      </p:sp>
      <p:sp>
        <p:nvSpPr>
          <p:cNvPr id="609" name="Google Shape;609;p43"/>
          <p:cNvSpPr/>
          <p:nvPr>
            <p:ph idx="4" type="pic"/>
          </p:nvPr>
        </p:nvSpPr>
        <p:spPr>
          <a:xfrm>
            <a:off x="6256800" y="1893950"/>
            <a:ext cx="2555400" cy="1939500"/>
          </a:xfrm>
          <a:prstGeom prst="rect">
            <a:avLst/>
          </a:prstGeom>
          <a:noFill/>
          <a:ln>
            <a:noFill/>
          </a:ln>
        </p:spPr>
      </p:sp>
      <p:sp>
        <p:nvSpPr>
          <p:cNvPr id="610" name="Google Shape;610;p43"/>
          <p:cNvSpPr/>
          <p:nvPr>
            <p:ph idx="5" type="pic"/>
          </p:nvPr>
        </p:nvSpPr>
        <p:spPr>
          <a:xfrm>
            <a:off x="3294300" y="1893950"/>
            <a:ext cx="2555400" cy="1939500"/>
          </a:xfrm>
          <a:prstGeom prst="rect">
            <a:avLst/>
          </a:prstGeom>
          <a:noFill/>
          <a:ln>
            <a:noFill/>
          </a:ln>
        </p:spPr>
      </p:sp>
      <p:grpSp>
        <p:nvGrpSpPr>
          <p:cNvPr id="611" name="Google Shape;611;p43"/>
          <p:cNvGrpSpPr/>
          <p:nvPr/>
        </p:nvGrpSpPr>
        <p:grpSpPr>
          <a:xfrm>
            <a:off x="1381028" y="4148538"/>
            <a:ext cx="457200" cy="457200"/>
            <a:chOff x="1020916" y="1442088"/>
            <a:chExt cx="457200" cy="457200"/>
          </a:xfrm>
        </p:grpSpPr>
        <p:pic>
          <p:nvPicPr>
            <p:cNvPr id="612" name="Google Shape;61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3" name="Google Shape;61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4" name="Google Shape;614;p43"/>
          <p:cNvGrpSpPr/>
          <p:nvPr/>
        </p:nvGrpSpPr>
        <p:grpSpPr>
          <a:xfrm>
            <a:off x="4331066" y="4148550"/>
            <a:ext cx="457200" cy="457200"/>
            <a:chOff x="1020916" y="1442088"/>
            <a:chExt cx="457200" cy="457200"/>
          </a:xfrm>
        </p:grpSpPr>
        <p:pic>
          <p:nvPicPr>
            <p:cNvPr id="615" name="Google Shape;615;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6" name="Google Shape;616;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7" name="Google Shape;617;p43"/>
          <p:cNvGrpSpPr/>
          <p:nvPr/>
        </p:nvGrpSpPr>
        <p:grpSpPr>
          <a:xfrm>
            <a:off x="7305791" y="4148538"/>
            <a:ext cx="457200" cy="457200"/>
            <a:chOff x="1020916" y="1442088"/>
            <a:chExt cx="457200" cy="457200"/>
          </a:xfrm>
        </p:grpSpPr>
        <p:pic>
          <p:nvPicPr>
            <p:cNvPr id="618" name="Google Shape;61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9" name="Google Shape;61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0" name="Shape 620"/>
        <p:cNvGrpSpPr/>
        <p:nvPr/>
      </p:nvGrpSpPr>
      <p:grpSpPr>
        <a:xfrm>
          <a:off x="0" y="0"/>
          <a:ext cx="0" cy="0"/>
          <a:chOff x="0" y="0"/>
          <a:chExt cx="0" cy="0"/>
        </a:xfrm>
      </p:grpSpPr>
      <p:pic>
        <p:nvPicPr>
          <p:cNvPr id="621" name="Google Shape;621;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2" name="Google Shape;622;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4" name="Google Shape;624;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5" name="Google Shape;625;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6" name="Google Shape;626;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7" name="Shape 627"/>
        <p:cNvGrpSpPr/>
        <p:nvPr/>
      </p:nvGrpSpPr>
      <p:grpSpPr>
        <a:xfrm>
          <a:off x="0" y="0"/>
          <a:ext cx="0" cy="0"/>
          <a:chOff x="0" y="0"/>
          <a:chExt cx="0" cy="0"/>
        </a:xfrm>
      </p:grpSpPr>
      <p:pic>
        <p:nvPicPr>
          <p:cNvPr id="628" name="Google Shape;6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29" name="Google Shape;6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1" name="Google Shape;631;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2" name="Google Shape;632;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3" name="Google Shape;633;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4" name="Shape 634"/>
        <p:cNvGrpSpPr/>
        <p:nvPr/>
      </p:nvGrpSpPr>
      <p:grpSpPr>
        <a:xfrm>
          <a:off x="0" y="0"/>
          <a:ext cx="0" cy="0"/>
          <a:chOff x="0" y="0"/>
          <a:chExt cx="0" cy="0"/>
        </a:xfrm>
      </p:grpSpPr>
      <p:pic>
        <p:nvPicPr>
          <p:cNvPr id="635" name="Google Shape;635;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6" name="Google Shape;636;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8" name="Google Shape;63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9" name="Google Shape;63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0" name="Google Shape;64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1" name="Shape 641"/>
        <p:cNvGrpSpPr/>
        <p:nvPr/>
      </p:nvGrpSpPr>
      <p:grpSpPr>
        <a:xfrm>
          <a:off x="0" y="0"/>
          <a:ext cx="0" cy="0"/>
          <a:chOff x="0" y="0"/>
          <a:chExt cx="0" cy="0"/>
        </a:xfrm>
      </p:grpSpPr>
      <p:pic>
        <p:nvPicPr>
          <p:cNvPr id="642" name="Google Shape;64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3" name="Google Shape;643;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5" name="Google Shape;6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6" name="Google Shape;6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7" name="Google Shape;64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8" name="Shape 648"/>
        <p:cNvGrpSpPr/>
        <p:nvPr/>
      </p:nvGrpSpPr>
      <p:grpSpPr>
        <a:xfrm>
          <a:off x="0" y="0"/>
          <a:ext cx="0" cy="0"/>
          <a:chOff x="0" y="0"/>
          <a:chExt cx="0" cy="0"/>
        </a:xfrm>
      </p:grpSpPr>
      <p:pic>
        <p:nvPicPr>
          <p:cNvPr id="649" name="Google Shape;649;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0" name="Google Shape;650;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2" name="Google Shape;652;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3" name="Google Shape;65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4" name="Google Shape;654;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5" name="Google Shape;655;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6" name="Shape 656"/>
        <p:cNvGrpSpPr/>
        <p:nvPr/>
      </p:nvGrpSpPr>
      <p:grpSpPr>
        <a:xfrm>
          <a:off x="0" y="0"/>
          <a:ext cx="0" cy="0"/>
          <a:chOff x="0" y="0"/>
          <a:chExt cx="0" cy="0"/>
        </a:xfrm>
      </p:grpSpPr>
      <p:pic>
        <p:nvPicPr>
          <p:cNvPr id="657" name="Google Shape;657;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8" name="Google Shape;658;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0" name="Google Shape;66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1" name="Google Shape;661;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2" name="Google Shape;662;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3" name="Google Shape;663;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4" name="Shape 664"/>
        <p:cNvGrpSpPr/>
        <p:nvPr/>
      </p:nvGrpSpPr>
      <p:grpSpPr>
        <a:xfrm>
          <a:off x="0" y="0"/>
          <a:ext cx="0" cy="0"/>
          <a:chOff x="0" y="0"/>
          <a:chExt cx="0" cy="0"/>
        </a:xfrm>
      </p:grpSpPr>
      <p:pic>
        <p:nvPicPr>
          <p:cNvPr id="665" name="Google Shape;665;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6" name="Google Shape;666;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8" name="Google Shape;668;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69" name="Google Shape;669;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0" name="Google Shape;670;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1" name="Google Shape;671;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2" name="Shape 672"/>
        <p:cNvGrpSpPr/>
        <p:nvPr/>
      </p:nvGrpSpPr>
      <p:grpSpPr>
        <a:xfrm>
          <a:off x="0" y="0"/>
          <a:ext cx="0" cy="0"/>
          <a:chOff x="0" y="0"/>
          <a:chExt cx="0" cy="0"/>
        </a:xfrm>
      </p:grpSpPr>
      <p:pic>
        <p:nvPicPr>
          <p:cNvPr id="673" name="Google Shape;673;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4" name="Google Shape;674;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6" name="Google Shape;676;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7" name="Google Shape;67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8" name="Google Shape;678;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9" name="Google Shape;679;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0" name="Shape 680"/>
        <p:cNvGrpSpPr/>
        <p:nvPr/>
      </p:nvGrpSpPr>
      <p:grpSpPr>
        <a:xfrm>
          <a:off x="0" y="0"/>
          <a:ext cx="0" cy="0"/>
          <a:chOff x="0" y="0"/>
          <a:chExt cx="0" cy="0"/>
        </a:xfrm>
      </p:grpSpPr>
      <p:pic>
        <p:nvPicPr>
          <p:cNvPr id="681" name="Google Shape;681;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2" name="Google Shape;682;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4" name="Google Shape;684;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5" name="Google Shape;685;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6" name="Google Shape;686;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7" name="Google Shape;687;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8" name="Shape 688"/>
        <p:cNvGrpSpPr/>
        <p:nvPr/>
      </p:nvGrpSpPr>
      <p:grpSpPr>
        <a:xfrm>
          <a:off x="0" y="0"/>
          <a:ext cx="0" cy="0"/>
          <a:chOff x="0" y="0"/>
          <a:chExt cx="0" cy="0"/>
        </a:xfrm>
      </p:grpSpPr>
      <p:pic>
        <p:nvPicPr>
          <p:cNvPr id="689" name="Google Shape;689;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0" name="Google Shape;690;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2" name="Google Shape;692;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3" name="Google Shape;693;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4" name="Google Shape;694;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5" name="Google Shape;695;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6" name="Shape 696"/>
        <p:cNvGrpSpPr/>
        <p:nvPr/>
      </p:nvGrpSpPr>
      <p:grpSpPr>
        <a:xfrm>
          <a:off x="0" y="0"/>
          <a:ext cx="0" cy="0"/>
          <a:chOff x="0" y="0"/>
          <a:chExt cx="0" cy="0"/>
        </a:xfrm>
      </p:grpSpPr>
      <p:pic>
        <p:nvPicPr>
          <p:cNvPr id="697" name="Google Shape;697;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8" name="Google Shape;698;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0" name="Google Shape;700;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1" name="Google Shape;701;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2" name="Google Shape;702;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3" name="Google Shape;703;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4" name="Shape 704"/>
        <p:cNvGrpSpPr/>
        <p:nvPr/>
      </p:nvGrpSpPr>
      <p:grpSpPr>
        <a:xfrm>
          <a:off x="0" y="0"/>
          <a:ext cx="0" cy="0"/>
          <a:chOff x="0" y="0"/>
          <a:chExt cx="0" cy="0"/>
        </a:xfrm>
      </p:grpSpPr>
      <p:pic>
        <p:nvPicPr>
          <p:cNvPr id="705" name="Google Shape;705;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6" name="Google Shape;706;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8" name="Google Shape;70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09" name="Google Shape;70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0" name="Google Shape;710;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1" name="Google Shape;711;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2" name="Shape 712"/>
        <p:cNvGrpSpPr/>
        <p:nvPr/>
      </p:nvGrpSpPr>
      <p:grpSpPr>
        <a:xfrm>
          <a:off x="0" y="0"/>
          <a:ext cx="0" cy="0"/>
          <a:chOff x="0" y="0"/>
          <a:chExt cx="0" cy="0"/>
        </a:xfrm>
      </p:grpSpPr>
      <p:sp>
        <p:nvSpPr>
          <p:cNvPr id="713" name="Google Shape;713;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4" name="Google Shape;714;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5" name="Google Shape;715;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6" name="Google Shape;716;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7" name="Google Shape;717;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8" name="Shape 718"/>
        <p:cNvGrpSpPr/>
        <p:nvPr/>
      </p:nvGrpSpPr>
      <p:grpSpPr>
        <a:xfrm>
          <a:off x="0" y="0"/>
          <a:ext cx="0" cy="0"/>
          <a:chOff x="0" y="0"/>
          <a:chExt cx="0" cy="0"/>
        </a:xfrm>
      </p:grpSpPr>
      <p:sp>
        <p:nvSpPr>
          <p:cNvPr id="719" name="Google Shape;719;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0" name="Google Shape;720;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1" name="Google Shape;721;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2" name="Google Shape;722;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3" name="Google Shape;723;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4" name="Shape 724"/>
        <p:cNvGrpSpPr/>
        <p:nvPr/>
      </p:nvGrpSpPr>
      <p:grpSpPr>
        <a:xfrm>
          <a:off x="0" y="0"/>
          <a:ext cx="0" cy="0"/>
          <a:chOff x="0" y="0"/>
          <a:chExt cx="0" cy="0"/>
        </a:xfrm>
      </p:grpSpPr>
      <p:pic>
        <p:nvPicPr>
          <p:cNvPr id="725" name="Google Shape;725;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6" name="Google Shape;726;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7" name="Shape 727"/>
        <p:cNvGrpSpPr/>
        <p:nvPr/>
      </p:nvGrpSpPr>
      <p:grpSpPr>
        <a:xfrm>
          <a:off x="0" y="0"/>
          <a:ext cx="0" cy="0"/>
          <a:chOff x="0" y="0"/>
          <a:chExt cx="0" cy="0"/>
        </a:xfrm>
      </p:grpSpPr>
      <p:sp>
        <p:nvSpPr>
          <p:cNvPr id="728" name="Google Shape;728;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29" name="Google Shape;729;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0" name="Google Shape;730;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1" name="Google Shape;731;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2" name="Google Shape;732;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3" name="Google Shape;733;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7" name="Shape 737"/>
        <p:cNvGrpSpPr/>
        <p:nvPr/>
      </p:nvGrpSpPr>
      <p:grpSpPr>
        <a:xfrm>
          <a:off x="0" y="0"/>
          <a:ext cx="0" cy="0"/>
          <a:chOff x="0" y="0"/>
          <a:chExt cx="0" cy="0"/>
        </a:xfrm>
      </p:grpSpPr>
      <p:pic>
        <p:nvPicPr>
          <p:cNvPr id="738" name="Google Shape;738;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39" name="Google Shape;739;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0" name="Shape 740"/>
        <p:cNvGrpSpPr/>
        <p:nvPr/>
      </p:nvGrpSpPr>
      <p:grpSpPr>
        <a:xfrm>
          <a:off x="0" y="0"/>
          <a:ext cx="0" cy="0"/>
          <a:chOff x="0" y="0"/>
          <a:chExt cx="0" cy="0"/>
        </a:xfrm>
      </p:grpSpPr>
      <p:sp>
        <p:nvSpPr>
          <p:cNvPr id="741" name="Google Shape;741;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theme" Target="../theme/theme2.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45.png"/><Relationship Id="rId4" Type="http://schemas.openxmlformats.org/officeDocument/2006/relationships/image" Target="../media/image53.png"/><Relationship Id="rId5" Type="http://schemas.openxmlformats.org/officeDocument/2006/relationships/image" Target="../media/image5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4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45.png"/><Relationship Id="rId4" Type="http://schemas.openxmlformats.org/officeDocument/2006/relationships/image" Target="../media/image53.png"/><Relationship Id="rId5" Type="http://schemas.openxmlformats.org/officeDocument/2006/relationships/image" Target="../media/image5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45.png"/><Relationship Id="rId4" Type="http://schemas.openxmlformats.org/officeDocument/2006/relationships/image" Target="../media/image53.png"/><Relationship Id="rId5" Type="http://schemas.openxmlformats.org/officeDocument/2006/relationships/image" Target="../media/image5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45.png"/><Relationship Id="rId4" Type="http://schemas.openxmlformats.org/officeDocument/2006/relationships/image" Target="../media/image54.png"/><Relationship Id="rId5"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2.xml"/><Relationship Id="rId3" Type="http://schemas.openxmlformats.org/officeDocument/2006/relationships/image" Target="../media/image45.png"/><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3.xml"/><Relationship Id="rId3" Type="http://schemas.openxmlformats.org/officeDocument/2006/relationships/image" Target="../media/image4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4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4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7.xml"/><Relationship Id="rId3" Type="http://schemas.openxmlformats.org/officeDocument/2006/relationships/image" Target="../media/image45.png"/><Relationship Id="rId4" Type="http://schemas.openxmlformats.org/officeDocument/2006/relationships/image" Target="../media/image44.png"/><Relationship Id="rId5" Type="http://schemas.openxmlformats.org/officeDocument/2006/relationships/image" Target="../media/image5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8.xml"/><Relationship Id="rId3"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 Id="rId3" Type="http://schemas.openxmlformats.org/officeDocument/2006/relationships/image" Target="../media/image6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 Id="rId3" Type="http://schemas.openxmlformats.org/officeDocument/2006/relationships/image" Target="../media/image5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 Id="rId3" Type="http://schemas.openxmlformats.org/officeDocument/2006/relationships/image" Target="../media/image6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 Id="rId3" Type="http://schemas.openxmlformats.org/officeDocument/2006/relationships/image" Target="../media/image5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 Id="rId3" Type="http://schemas.openxmlformats.org/officeDocument/2006/relationships/image" Target="../media/image5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5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image" Target="../media/image62.png"/><Relationship Id="rId4" Type="http://schemas.openxmlformats.org/officeDocument/2006/relationships/image" Target="../media/image61.png"/><Relationship Id="rId5" Type="http://schemas.openxmlformats.org/officeDocument/2006/relationships/image" Target="../media/image59.png"/><Relationship Id="rId6" Type="http://schemas.openxmlformats.org/officeDocument/2006/relationships/image" Target="../media/image64.png"/><Relationship Id="rId7" Type="http://schemas.openxmlformats.org/officeDocument/2006/relationships/image" Target="../media/image58.png"/><Relationship Id="rId8" Type="http://schemas.openxmlformats.org/officeDocument/2006/relationships/image" Target="../media/image6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6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 Id="rId3" Type="http://schemas.openxmlformats.org/officeDocument/2006/relationships/image" Target="../media/image66.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6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 Id="rId3" Type="http://schemas.openxmlformats.org/officeDocument/2006/relationships/image" Target="../media/image6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 Id="rId3" Type="http://schemas.openxmlformats.org/officeDocument/2006/relationships/image" Target="../media/image6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 Id="rId3" Type="http://schemas.openxmlformats.org/officeDocument/2006/relationships/image" Target="../media/image71.png"/><Relationship Id="rId4" Type="http://schemas.openxmlformats.org/officeDocument/2006/relationships/image" Target="../media/image67.png"/><Relationship Id="rId5" Type="http://schemas.openxmlformats.org/officeDocument/2006/relationships/image" Target="../media/image73.png"/><Relationship Id="rId6" Type="http://schemas.openxmlformats.org/officeDocument/2006/relationships/image" Target="../media/image6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 Id="rId3" Type="http://schemas.openxmlformats.org/officeDocument/2006/relationships/image" Target="../media/image7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 Id="rId3" Type="http://schemas.openxmlformats.org/officeDocument/2006/relationships/image" Target="../media/image70.png"/><Relationship Id="rId4" Type="http://schemas.openxmlformats.org/officeDocument/2006/relationships/image" Target="../media/image44.png"/><Relationship Id="rId5" Type="http://schemas.openxmlformats.org/officeDocument/2006/relationships/image" Target="../media/image5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 Id="rId3" Type="http://schemas.openxmlformats.org/officeDocument/2006/relationships/image" Target="../media/image7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 Id="rId3" Type="http://schemas.openxmlformats.org/officeDocument/2006/relationships/image" Target="../media/image70.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7.xml"/><Relationship Id="rId3" Type="http://schemas.openxmlformats.org/officeDocument/2006/relationships/image" Target="../media/image69.png"/><Relationship Id="rId4" Type="http://schemas.openxmlformats.org/officeDocument/2006/relationships/image" Target="../media/image68.png"/><Relationship Id="rId5" Type="http://schemas.openxmlformats.org/officeDocument/2006/relationships/image" Target="../media/image7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1.xml"/><Relationship Id="rId3" Type="http://schemas.openxmlformats.org/officeDocument/2006/relationships/image" Target="../media/image69.png"/><Relationship Id="rId4" Type="http://schemas.openxmlformats.org/officeDocument/2006/relationships/image" Target="../media/image7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2.xml"/><Relationship Id="rId3" Type="http://schemas.openxmlformats.org/officeDocument/2006/relationships/image" Target="../media/image5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4.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62"/>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similarity and Pythagoras’ theorem</a:t>
            </a:r>
            <a:endParaRPr/>
          </a:p>
        </p:txBody>
      </p:sp>
      <p:sp>
        <p:nvSpPr>
          <p:cNvPr id="747" name="Google Shape;747;p62"/>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Geometrical properties: similarity and Pythagoras’ theorem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1" name="Shape 751"/>
        <p:cNvGrpSpPr/>
        <p:nvPr/>
      </p:nvGrpSpPr>
      <p:grpSpPr>
        <a:xfrm>
          <a:off x="0" y="0"/>
          <a:ext cx="0" cy="0"/>
          <a:chOff x="0" y="0"/>
          <a:chExt cx="0" cy="0"/>
        </a:xfrm>
      </p:grpSpPr>
      <p:sp>
        <p:nvSpPr>
          <p:cNvPr id="752" name="Google Shape;752;p63"/>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64"/>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my knowledge of similarity and Pythagoras’ theorem to solve problems.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65"/>
          <p:cNvSpPr txBox="1"/>
          <p:nvPr/>
        </p:nvSpPr>
        <p:spPr>
          <a:xfrm>
            <a:off x="324000" y="714875"/>
            <a:ext cx="83394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rgbClr val="282828"/>
                </a:solidFill>
                <a:highlight>
                  <a:srgbClr val="FFFFFF"/>
                </a:highlight>
                <a:latin typeface="Lexend"/>
                <a:ea typeface="Lexend"/>
                <a:cs typeface="Lexend"/>
                <a:sym typeface="Lexend"/>
              </a:rPr>
              <a:t>Pythagoras’ theorem states that the sum of the squares of the two shorter sides of a right-angled triangle is equal to the square of the hypotenuse. </a:t>
            </a:r>
            <a:endParaRPr sz="2000">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66"/>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sp>
        <p:nvSpPr>
          <p:cNvPr id="768" name="Google Shape;768;p66"/>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ratios</a:t>
            </a:r>
            <a:endParaRPr/>
          </a:p>
        </p:txBody>
      </p:sp>
      <p:sp>
        <p:nvSpPr>
          <p:cNvPr id="769" name="Google Shape;769;p66"/>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similarity and Pythagoras’ theorem</a:t>
            </a:r>
            <a:endParaRPr/>
          </a:p>
        </p:txBody>
      </p:sp>
      <p:pic>
        <p:nvPicPr>
          <p:cNvPr id="770" name="Google Shape;770;p66"/>
          <p:cNvPicPr preferRelativeResize="0"/>
          <p:nvPr/>
        </p:nvPicPr>
        <p:blipFill>
          <a:blip r:embed="rId3">
            <a:alphaModFix/>
          </a:blip>
          <a:stretch>
            <a:fillRect/>
          </a:stretch>
        </p:blipFill>
        <p:spPr>
          <a:xfrm>
            <a:off x="415238" y="20520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pic>
        <p:nvPicPr>
          <p:cNvPr id="775" name="Google Shape;775;p67"/>
          <p:cNvPicPr preferRelativeResize="0"/>
          <p:nvPr/>
        </p:nvPicPr>
        <p:blipFill>
          <a:blip r:embed="rId3">
            <a:alphaModFix/>
          </a:blip>
          <a:stretch>
            <a:fillRect/>
          </a:stretch>
        </p:blipFill>
        <p:spPr>
          <a:xfrm>
            <a:off x="324000" y="668250"/>
            <a:ext cx="4248001" cy="4143365"/>
          </a:xfrm>
          <a:prstGeom prst="rect">
            <a:avLst/>
          </a:prstGeom>
          <a:noFill/>
          <a:ln cap="flat" cmpd="sng" w="19050">
            <a:solidFill>
              <a:schemeClr val="dk1"/>
            </a:solidFill>
            <a:prstDash val="solid"/>
            <a:round/>
            <a:headEnd len="sm" w="sm" type="none"/>
            <a:tailEnd len="sm" w="sm" type="none"/>
          </a:ln>
        </p:spPr>
      </p:pic>
      <p:sp>
        <p:nvSpPr>
          <p:cNvPr id="776" name="Google Shape;776;p6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sp>
        <p:nvSpPr>
          <p:cNvPr id="777" name="Google Shape;777;p67"/>
          <p:cNvSpPr txBox="1"/>
          <p:nvPr/>
        </p:nvSpPr>
        <p:spPr>
          <a:xfrm flipH="1" rot="2246">
            <a:off x="4687200" y="640680"/>
            <a:ext cx="4132801"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Pythagoras’ theorem can be used to calculate the shortest distance between two points on a coordinate grid.</a:t>
            </a:r>
            <a:endParaRPr sz="1800">
              <a:latin typeface="Lexend"/>
              <a:ea typeface="Lexend"/>
              <a:cs typeface="Lexend"/>
              <a:sym typeface="Lexend"/>
            </a:endParaRPr>
          </a:p>
        </p:txBody>
      </p:sp>
      <p:grpSp>
        <p:nvGrpSpPr>
          <p:cNvPr id="778" name="Google Shape;778;p67"/>
          <p:cNvGrpSpPr/>
          <p:nvPr/>
        </p:nvGrpSpPr>
        <p:grpSpPr>
          <a:xfrm flipH="1">
            <a:off x="4767984" y="2164216"/>
            <a:ext cx="3382255" cy="1425730"/>
            <a:chOff x="937625" y="2497850"/>
            <a:chExt cx="3666401" cy="1574001"/>
          </a:xfrm>
        </p:grpSpPr>
        <p:pic>
          <p:nvPicPr>
            <p:cNvPr id="779" name="Google Shape;779;p67"/>
            <p:cNvPicPr preferRelativeResize="0"/>
            <p:nvPr/>
          </p:nvPicPr>
          <p:blipFill rotWithShape="1">
            <a:blip r:embed="rId4">
              <a:alphaModFix/>
            </a:blip>
            <a:srcRect b="4760" l="40550" r="0" t="13015"/>
            <a:stretch/>
          </p:blipFill>
          <p:spPr>
            <a:xfrm>
              <a:off x="937625" y="2497850"/>
              <a:ext cx="3666401" cy="1574001"/>
            </a:xfrm>
            <a:prstGeom prst="rect">
              <a:avLst/>
            </a:prstGeom>
            <a:noFill/>
            <a:ln>
              <a:noFill/>
            </a:ln>
          </p:spPr>
        </p:pic>
        <p:sp>
          <p:nvSpPr>
            <p:cNvPr id="780" name="Google Shape;780;p67"/>
            <p:cNvSpPr txBox="1"/>
            <p:nvPr/>
          </p:nvSpPr>
          <p:spPr>
            <a:xfrm>
              <a:off x="1218037" y="2543035"/>
              <a:ext cx="3350100" cy="12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But how?</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thought Pythagoras’ theorem was all to do with right-angled triangles.</a:t>
              </a:r>
              <a:endParaRPr sz="1800">
                <a:latin typeface="Lexend"/>
                <a:ea typeface="Lexend"/>
                <a:cs typeface="Lexend"/>
                <a:sym typeface="Lexend"/>
              </a:endParaRPr>
            </a:p>
          </p:txBody>
        </p:sp>
      </p:grpSp>
      <p:sp>
        <p:nvSpPr>
          <p:cNvPr id="781" name="Google Shape;781;p67"/>
          <p:cNvSpPr/>
          <p:nvPr/>
        </p:nvSpPr>
        <p:spPr>
          <a:xfrm>
            <a:off x="1514935" y="1641843"/>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82" name="Google Shape;782;p67"/>
          <p:cNvSpPr/>
          <p:nvPr/>
        </p:nvSpPr>
        <p:spPr>
          <a:xfrm>
            <a:off x="3206306" y="2321347"/>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783" name="Google Shape;783;p67"/>
          <p:cNvCxnSpPr/>
          <p:nvPr/>
        </p:nvCxnSpPr>
        <p:spPr>
          <a:xfrm>
            <a:off x="1674027" y="1798023"/>
            <a:ext cx="1691400" cy="679500"/>
          </a:xfrm>
          <a:prstGeom prst="straightConnector1">
            <a:avLst/>
          </a:prstGeom>
          <a:noFill/>
          <a:ln cap="flat" cmpd="sng" w="38100">
            <a:solidFill>
              <a:schemeClr val="accent4"/>
            </a:solidFill>
            <a:prstDash val="solid"/>
            <a:round/>
            <a:headEnd len="med" w="med" type="none"/>
            <a:tailEnd len="med" w="med" type="none"/>
          </a:ln>
        </p:spPr>
      </p:cxnSp>
      <p:grpSp>
        <p:nvGrpSpPr>
          <p:cNvPr id="784" name="Google Shape;784;p67"/>
          <p:cNvGrpSpPr/>
          <p:nvPr/>
        </p:nvGrpSpPr>
        <p:grpSpPr>
          <a:xfrm>
            <a:off x="1750052" y="1410499"/>
            <a:ext cx="1691400" cy="825048"/>
            <a:chOff x="1750052" y="1410499"/>
            <a:chExt cx="1691400" cy="825048"/>
          </a:xfrm>
        </p:grpSpPr>
        <p:cxnSp>
          <p:nvCxnSpPr>
            <p:cNvPr id="785" name="Google Shape;785;p67"/>
            <p:cNvCxnSpPr/>
            <p:nvPr/>
          </p:nvCxnSpPr>
          <p:spPr>
            <a:xfrm>
              <a:off x="1750052" y="1556048"/>
              <a:ext cx="1691400" cy="679500"/>
            </a:xfrm>
            <a:prstGeom prst="straightConnector1">
              <a:avLst/>
            </a:prstGeom>
            <a:noFill/>
            <a:ln cap="flat" cmpd="sng" w="38100">
              <a:solidFill>
                <a:schemeClr val="accent4"/>
              </a:solidFill>
              <a:prstDash val="solid"/>
              <a:round/>
              <a:headEnd len="med" w="med" type="triangle"/>
              <a:tailEnd len="med" w="med" type="triangle"/>
            </a:ln>
          </p:spPr>
        </p:cxnSp>
        <p:sp>
          <p:nvSpPr>
            <p:cNvPr id="786" name="Google Shape;786;p67"/>
            <p:cNvSpPr txBox="1"/>
            <p:nvPr/>
          </p:nvSpPr>
          <p:spPr>
            <a:xfrm flipH="1" rot="1315616">
              <a:off x="2155663" y="1590430"/>
              <a:ext cx="1017074" cy="277039"/>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787" name="Google Shape;787;p67"/>
          <p:cNvGrpSpPr/>
          <p:nvPr/>
        </p:nvGrpSpPr>
        <p:grpSpPr>
          <a:xfrm>
            <a:off x="4701050" y="2058428"/>
            <a:ext cx="3449189" cy="1638600"/>
            <a:chOff x="4701050" y="4394488"/>
            <a:chExt cx="3449189" cy="1638600"/>
          </a:xfrm>
        </p:grpSpPr>
        <p:sp>
          <p:nvSpPr>
            <p:cNvPr id="788" name="Google Shape;788;p67"/>
            <p:cNvSpPr/>
            <p:nvPr/>
          </p:nvSpPr>
          <p:spPr>
            <a:xfrm>
              <a:off x="4701050" y="4394488"/>
              <a:ext cx="3449100" cy="163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789" name="Google Shape;789;p67"/>
            <p:cNvGrpSpPr/>
            <p:nvPr/>
          </p:nvGrpSpPr>
          <p:grpSpPr>
            <a:xfrm flipH="1">
              <a:off x="4767984" y="4500916"/>
              <a:ext cx="3382255" cy="1425730"/>
              <a:chOff x="937625" y="2497850"/>
              <a:chExt cx="3666401" cy="1574001"/>
            </a:xfrm>
          </p:grpSpPr>
          <p:pic>
            <p:nvPicPr>
              <p:cNvPr id="790" name="Google Shape;790;p67"/>
              <p:cNvPicPr preferRelativeResize="0"/>
              <p:nvPr/>
            </p:nvPicPr>
            <p:blipFill rotWithShape="1">
              <a:blip r:embed="rId4">
                <a:alphaModFix/>
              </a:blip>
              <a:srcRect b="4760" l="40550" r="0" t="13015"/>
              <a:stretch/>
            </p:blipFill>
            <p:spPr>
              <a:xfrm>
                <a:off x="937625" y="2497850"/>
                <a:ext cx="3666401" cy="1574001"/>
              </a:xfrm>
              <a:prstGeom prst="rect">
                <a:avLst/>
              </a:prstGeom>
              <a:noFill/>
              <a:ln>
                <a:noFill/>
              </a:ln>
            </p:spPr>
          </p:pic>
          <p:sp>
            <p:nvSpPr>
              <p:cNvPr id="791" name="Google Shape;791;p67"/>
              <p:cNvSpPr txBox="1"/>
              <p:nvPr/>
            </p:nvSpPr>
            <p:spPr>
              <a:xfrm>
                <a:off x="1218037" y="2550667"/>
                <a:ext cx="3350100" cy="12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How can you make a right-angled triangle from only one straight line segment?</a:t>
                </a:r>
                <a:endParaRPr sz="1800">
                  <a:latin typeface="Lexend"/>
                  <a:ea typeface="Lexend"/>
                  <a:cs typeface="Lexend"/>
                  <a:sym typeface="Lexend"/>
                </a:endParaRPr>
              </a:p>
            </p:txBody>
          </p:sp>
        </p:grpSp>
      </p:grpSp>
      <p:pic>
        <p:nvPicPr>
          <p:cNvPr id="792" name="Google Shape;792;p67"/>
          <p:cNvPicPr preferRelativeResize="0"/>
          <p:nvPr/>
        </p:nvPicPr>
        <p:blipFill>
          <a:blip r:embed="rId5">
            <a:alphaModFix/>
          </a:blip>
          <a:stretch>
            <a:fillRect/>
          </a:stretch>
        </p:blipFill>
        <p:spPr>
          <a:xfrm>
            <a:off x="8024233" y="3202174"/>
            <a:ext cx="650925" cy="839350"/>
          </a:xfrm>
          <a:prstGeom prst="rect">
            <a:avLst/>
          </a:prstGeom>
          <a:noFill/>
          <a:ln>
            <a:noFill/>
          </a:ln>
        </p:spPr>
      </p:pic>
      <p:sp>
        <p:nvSpPr>
          <p:cNvPr id="793" name="Google Shape;793;p67"/>
          <p:cNvSpPr txBox="1"/>
          <p:nvPr/>
        </p:nvSpPr>
        <p:spPr>
          <a:xfrm flipH="1">
            <a:off x="7907046" y="400227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pic>
        <p:nvPicPr>
          <p:cNvPr id="798" name="Google Shape;798;p68"/>
          <p:cNvPicPr preferRelativeResize="0"/>
          <p:nvPr/>
        </p:nvPicPr>
        <p:blipFill>
          <a:blip r:embed="rId3">
            <a:alphaModFix/>
          </a:blip>
          <a:stretch>
            <a:fillRect/>
          </a:stretch>
        </p:blipFill>
        <p:spPr>
          <a:xfrm>
            <a:off x="324000" y="668250"/>
            <a:ext cx="4248001" cy="4143365"/>
          </a:xfrm>
          <a:prstGeom prst="rect">
            <a:avLst/>
          </a:prstGeom>
          <a:noFill/>
          <a:ln cap="flat" cmpd="sng" w="19050">
            <a:solidFill>
              <a:schemeClr val="dk1"/>
            </a:solidFill>
            <a:prstDash val="solid"/>
            <a:round/>
            <a:headEnd len="sm" w="sm" type="none"/>
            <a:tailEnd len="sm" w="sm" type="none"/>
          </a:ln>
        </p:spPr>
      </p:pic>
      <p:sp>
        <p:nvSpPr>
          <p:cNvPr id="799" name="Google Shape;799;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sp>
        <p:nvSpPr>
          <p:cNvPr id="800" name="Google Shape;800;p68"/>
          <p:cNvSpPr txBox="1"/>
          <p:nvPr/>
        </p:nvSpPr>
        <p:spPr>
          <a:xfrm flipH="1" rot="2246">
            <a:off x="4687200" y="640680"/>
            <a:ext cx="4132801"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Pythagoras’ theorem can be used to calculate the shortest distance between two points on a coordinate grid.</a:t>
            </a:r>
            <a:endParaRPr sz="1800">
              <a:latin typeface="Lexend"/>
              <a:ea typeface="Lexend"/>
              <a:cs typeface="Lexend"/>
              <a:sym typeface="Lexend"/>
            </a:endParaRPr>
          </a:p>
        </p:txBody>
      </p:sp>
      <p:sp>
        <p:nvSpPr>
          <p:cNvPr id="801" name="Google Shape;801;p68"/>
          <p:cNvSpPr/>
          <p:nvPr/>
        </p:nvSpPr>
        <p:spPr>
          <a:xfrm>
            <a:off x="1514935" y="1641843"/>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2" name="Google Shape;802;p68"/>
          <p:cNvSpPr/>
          <p:nvPr/>
        </p:nvSpPr>
        <p:spPr>
          <a:xfrm>
            <a:off x="3206306" y="2321347"/>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3" name="Google Shape;803;p68"/>
          <p:cNvSpPr txBox="1"/>
          <p:nvPr/>
        </p:nvSpPr>
        <p:spPr>
          <a:xfrm flipH="1" rot="2246">
            <a:off x="4687200" y="1924005"/>
            <a:ext cx="41328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A horizontal ray can be drawn from one of the points,</a:t>
            </a:r>
            <a:endParaRPr sz="1800">
              <a:latin typeface="Lexend"/>
              <a:ea typeface="Lexend"/>
              <a:cs typeface="Lexend"/>
              <a:sym typeface="Lexend"/>
            </a:endParaRPr>
          </a:p>
        </p:txBody>
      </p:sp>
      <p:cxnSp>
        <p:nvCxnSpPr>
          <p:cNvPr id="804" name="Google Shape;804;p68"/>
          <p:cNvCxnSpPr/>
          <p:nvPr/>
        </p:nvCxnSpPr>
        <p:spPr>
          <a:xfrm>
            <a:off x="1674027" y="1798023"/>
            <a:ext cx="1691400" cy="679500"/>
          </a:xfrm>
          <a:prstGeom prst="straightConnector1">
            <a:avLst/>
          </a:prstGeom>
          <a:noFill/>
          <a:ln cap="flat" cmpd="sng" w="38100">
            <a:solidFill>
              <a:schemeClr val="accent4"/>
            </a:solidFill>
            <a:prstDash val="solid"/>
            <a:round/>
            <a:headEnd len="med" w="med" type="none"/>
            <a:tailEnd len="med" w="med" type="none"/>
          </a:ln>
        </p:spPr>
      </p:cxnSp>
      <p:cxnSp>
        <p:nvCxnSpPr>
          <p:cNvPr id="805" name="Google Shape;805;p68"/>
          <p:cNvCxnSpPr/>
          <p:nvPr/>
        </p:nvCxnSpPr>
        <p:spPr>
          <a:xfrm>
            <a:off x="1674027" y="1798023"/>
            <a:ext cx="0" cy="2716500"/>
          </a:xfrm>
          <a:prstGeom prst="straightConnector1">
            <a:avLst/>
          </a:prstGeom>
          <a:noFill/>
          <a:ln cap="flat" cmpd="sng" w="38100">
            <a:solidFill>
              <a:schemeClr val="accent3"/>
            </a:solidFill>
            <a:prstDash val="dash"/>
            <a:round/>
            <a:headEnd len="med" w="med" type="none"/>
            <a:tailEnd len="med" w="med" type="none"/>
          </a:ln>
        </p:spPr>
      </p:cxnSp>
      <p:sp>
        <p:nvSpPr>
          <p:cNvPr id="806" name="Google Shape;806;p68"/>
          <p:cNvSpPr txBox="1"/>
          <p:nvPr/>
        </p:nvSpPr>
        <p:spPr>
          <a:xfrm flipH="1" rot="2246">
            <a:off x="4687200" y="2573105"/>
            <a:ext cx="41328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and a vertical ray can be drawn from the other point.</a:t>
            </a:r>
            <a:endParaRPr sz="1800">
              <a:latin typeface="Lexend"/>
              <a:ea typeface="Lexend"/>
              <a:cs typeface="Lexend"/>
              <a:sym typeface="Lexend"/>
            </a:endParaRPr>
          </a:p>
        </p:txBody>
      </p:sp>
      <p:cxnSp>
        <p:nvCxnSpPr>
          <p:cNvPr id="807" name="Google Shape;807;p68"/>
          <p:cNvCxnSpPr/>
          <p:nvPr/>
        </p:nvCxnSpPr>
        <p:spPr>
          <a:xfrm>
            <a:off x="2002746" y="1119848"/>
            <a:ext cx="0" cy="2716500"/>
          </a:xfrm>
          <a:prstGeom prst="straightConnector1">
            <a:avLst/>
          </a:prstGeom>
          <a:noFill/>
          <a:ln cap="flat" cmpd="sng" w="38100">
            <a:solidFill>
              <a:schemeClr val="accent3"/>
            </a:solidFill>
            <a:prstDash val="dash"/>
            <a:round/>
            <a:headEnd len="med" w="med" type="none"/>
            <a:tailEnd len="med" w="med" type="none"/>
          </a:ln>
        </p:spPr>
      </p:cxnSp>
      <p:sp>
        <p:nvSpPr>
          <p:cNvPr id="808" name="Google Shape;808;p68"/>
          <p:cNvSpPr txBox="1"/>
          <p:nvPr/>
        </p:nvSpPr>
        <p:spPr>
          <a:xfrm flipH="1" rot="2246">
            <a:off x="4687200" y="3222205"/>
            <a:ext cx="41328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The point with which the two rays intersect is the third point of a right-angled triangle.</a:t>
            </a:r>
            <a:endParaRPr sz="1800">
              <a:latin typeface="Lexend"/>
              <a:ea typeface="Lexend"/>
              <a:cs typeface="Lexend"/>
              <a:sym typeface="Lexend"/>
            </a:endParaRPr>
          </a:p>
        </p:txBody>
      </p:sp>
      <p:sp>
        <p:nvSpPr>
          <p:cNvPr id="809" name="Google Shape;809;p68"/>
          <p:cNvSpPr/>
          <p:nvPr/>
        </p:nvSpPr>
        <p:spPr>
          <a:xfrm>
            <a:off x="1675575" y="1800700"/>
            <a:ext cx="1691400" cy="679500"/>
          </a:xfrm>
          <a:prstGeom prst="rtTriangle">
            <a:avLst/>
          </a:prstGeom>
          <a:solidFill>
            <a:srgbClr val="EBEDFE"/>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0" name="Google Shape;810;p68"/>
          <p:cNvSpPr/>
          <p:nvPr/>
        </p:nvSpPr>
        <p:spPr>
          <a:xfrm>
            <a:off x="1514935" y="2321343"/>
            <a:ext cx="313500" cy="313500"/>
          </a:xfrm>
          <a:prstGeom prst="mathMultiply">
            <a:avLst>
              <a:gd fmla="val 8820" name="adj1"/>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pic>
        <p:nvPicPr>
          <p:cNvPr id="815" name="Google Shape;815;p69"/>
          <p:cNvPicPr preferRelativeResize="0"/>
          <p:nvPr/>
        </p:nvPicPr>
        <p:blipFill>
          <a:blip r:embed="rId3">
            <a:alphaModFix/>
          </a:blip>
          <a:stretch>
            <a:fillRect/>
          </a:stretch>
        </p:blipFill>
        <p:spPr>
          <a:xfrm>
            <a:off x="324000" y="668250"/>
            <a:ext cx="4248001" cy="4143365"/>
          </a:xfrm>
          <a:prstGeom prst="rect">
            <a:avLst/>
          </a:prstGeom>
          <a:noFill/>
          <a:ln cap="flat" cmpd="sng" w="19050">
            <a:solidFill>
              <a:schemeClr val="dk1"/>
            </a:solidFill>
            <a:prstDash val="solid"/>
            <a:round/>
            <a:headEnd len="sm" w="sm" type="none"/>
            <a:tailEnd len="sm" w="sm" type="none"/>
          </a:ln>
        </p:spPr>
      </p:pic>
      <p:sp>
        <p:nvSpPr>
          <p:cNvPr id="816" name="Google Shape;816;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sp>
        <p:nvSpPr>
          <p:cNvPr id="817" name="Google Shape;817;p69"/>
          <p:cNvSpPr txBox="1"/>
          <p:nvPr/>
        </p:nvSpPr>
        <p:spPr>
          <a:xfrm flipH="1" rot="2246">
            <a:off x="4687200" y="640680"/>
            <a:ext cx="41328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In fact, the point where the two rays intersect is always the vertex of the right angle, itself.</a:t>
            </a:r>
            <a:endParaRPr sz="1800">
              <a:latin typeface="Lexend"/>
              <a:ea typeface="Lexend"/>
              <a:cs typeface="Lexend"/>
              <a:sym typeface="Lexend"/>
            </a:endParaRPr>
          </a:p>
        </p:txBody>
      </p:sp>
      <p:sp>
        <p:nvSpPr>
          <p:cNvPr id="818" name="Google Shape;818;p69"/>
          <p:cNvSpPr/>
          <p:nvPr/>
        </p:nvSpPr>
        <p:spPr>
          <a:xfrm>
            <a:off x="1514935" y="1641843"/>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9" name="Google Shape;819;p69"/>
          <p:cNvSpPr/>
          <p:nvPr/>
        </p:nvSpPr>
        <p:spPr>
          <a:xfrm>
            <a:off x="3206306" y="2321347"/>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20" name="Google Shape;820;p69"/>
          <p:cNvCxnSpPr/>
          <p:nvPr/>
        </p:nvCxnSpPr>
        <p:spPr>
          <a:xfrm>
            <a:off x="1674027" y="1798023"/>
            <a:ext cx="1691400" cy="679500"/>
          </a:xfrm>
          <a:prstGeom prst="straightConnector1">
            <a:avLst/>
          </a:prstGeom>
          <a:noFill/>
          <a:ln cap="flat" cmpd="sng" w="38100">
            <a:solidFill>
              <a:schemeClr val="accent5"/>
            </a:solidFill>
            <a:prstDash val="solid"/>
            <a:round/>
            <a:headEnd len="med" w="med" type="none"/>
            <a:tailEnd len="med" w="med" type="none"/>
          </a:ln>
        </p:spPr>
      </p:cxnSp>
      <p:cxnSp>
        <p:nvCxnSpPr>
          <p:cNvPr id="821" name="Google Shape;821;p69"/>
          <p:cNvCxnSpPr/>
          <p:nvPr/>
        </p:nvCxnSpPr>
        <p:spPr>
          <a:xfrm>
            <a:off x="1674027" y="1798023"/>
            <a:ext cx="0" cy="2716500"/>
          </a:xfrm>
          <a:prstGeom prst="straightConnector1">
            <a:avLst/>
          </a:prstGeom>
          <a:noFill/>
          <a:ln cap="flat" cmpd="sng" w="38100">
            <a:solidFill>
              <a:schemeClr val="accent3"/>
            </a:solidFill>
            <a:prstDash val="dash"/>
            <a:round/>
            <a:headEnd len="med" w="med" type="none"/>
            <a:tailEnd len="med" w="med" type="none"/>
          </a:ln>
        </p:spPr>
      </p:cxnSp>
      <p:cxnSp>
        <p:nvCxnSpPr>
          <p:cNvPr id="822" name="Google Shape;822;p69"/>
          <p:cNvCxnSpPr/>
          <p:nvPr/>
        </p:nvCxnSpPr>
        <p:spPr>
          <a:xfrm>
            <a:off x="2002746" y="1119848"/>
            <a:ext cx="0" cy="2716500"/>
          </a:xfrm>
          <a:prstGeom prst="straightConnector1">
            <a:avLst/>
          </a:prstGeom>
          <a:noFill/>
          <a:ln cap="flat" cmpd="sng" w="38100">
            <a:solidFill>
              <a:schemeClr val="accent3"/>
            </a:solidFill>
            <a:prstDash val="dash"/>
            <a:round/>
            <a:headEnd len="med" w="med" type="none"/>
            <a:tailEnd len="med" w="med" type="none"/>
          </a:ln>
        </p:spPr>
      </p:cxnSp>
      <p:sp>
        <p:nvSpPr>
          <p:cNvPr id="823" name="Google Shape;823;p69"/>
          <p:cNvSpPr/>
          <p:nvPr/>
        </p:nvSpPr>
        <p:spPr>
          <a:xfrm>
            <a:off x="1675575" y="1800700"/>
            <a:ext cx="1691400" cy="679500"/>
          </a:xfrm>
          <a:prstGeom prst="rtTriangle">
            <a:avLst/>
          </a:prstGeom>
          <a:solidFill>
            <a:srgbClr val="EBEDFE"/>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4" name="Google Shape;824;p69"/>
          <p:cNvSpPr/>
          <p:nvPr/>
        </p:nvSpPr>
        <p:spPr>
          <a:xfrm>
            <a:off x="1684800" y="2217400"/>
            <a:ext cx="262800" cy="262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5" name="Google Shape;825;p69"/>
          <p:cNvSpPr/>
          <p:nvPr/>
        </p:nvSpPr>
        <p:spPr>
          <a:xfrm>
            <a:off x="1674025" y="1800700"/>
            <a:ext cx="1691400" cy="679500"/>
          </a:xfrm>
          <a:prstGeom prst="rtTriangle">
            <a:avLst/>
          </a:prstGeom>
          <a:solidFill>
            <a:srgbClr val="EBEDFE"/>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26" name="Google Shape;826;p69"/>
          <p:cNvGrpSpPr/>
          <p:nvPr/>
        </p:nvGrpSpPr>
        <p:grpSpPr>
          <a:xfrm flipH="1">
            <a:off x="4767984" y="2164216"/>
            <a:ext cx="3382255" cy="1425730"/>
            <a:chOff x="937625" y="2497850"/>
            <a:chExt cx="3666401" cy="1574001"/>
          </a:xfrm>
        </p:grpSpPr>
        <p:pic>
          <p:nvPicPr>
            <p:cNvPr id="827" name="Google Shape;827;p69"/>
            <p:cNvPicPr preferRelativeResize="0"/>
            <p:nvPr/>
          </p:nvPicPr>
          <p:blipFill rotWithShape="1">
            <a:blip r:embed="rId4">
              <a:alphaModFix/>
            </a:blip>
            <a:srcRect b="4760" l="40550" r="0" t="13015"/>
            <a:stretch/>
          </p:blipFill>
          <p:spPr>
            <a:xfrm>
              <a:off x="937625" y="2497850"/>
              <a:ext cx="3666401" cy="1574001"/>
            </a:xfrm>
            <a:prstGeom prst="rect">
              <a:avLst/>
            </a:prstGeom>
            <a:noFill/>
            <a:ln>
              <a:noFill/>
            </a:ln>
          </p:spPr>
        </p:pic>
        <p:sp>
          <p:nvSpPr>
            <p:cNvPr id="828" name="Google Shape;828;p69"/>
            <p:cNvSpPr txBox="1"/>
            <p:nvPr/>
          </p:nvSpPr>
          <p:spPr>
            <a:xfrm>
              <a:off x="1218037" y="2543035"/>
              <a:ext cx="3350100" cy="12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Oh, that’s easy then.</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know which side is always the hypotenuse of that triangle!</a:t>
              </a:r>
              <a:endParaRPr sz="1800">
                <a:latin typeface="Lexend"/>
                <a:ea typeface="Lexend"/>
                <a:cs typeface="Lexend"/>
                <a:sym typeface="Lexend"/>
              </a:endParaRPr>
            </a:p>
          </p:txBody>
        </p:sp>
      </p:grpSp>
      <p:pic>
        <p:nvPicPr>
          <p:cNvPr id="829" name="Google Shape;829;p69"/>
          <p:cNvPicPr preferRelativeResize="0"/>
          <p:nvPr/>
        </p:nvPicPr>
        <p:blipFill>
          <a:blip r:embed="rId5">
            <a:alphaModFix/>
          </a:blip>
          <a:stretch>
            <a:fillRect/>
          </a:stretch>
        </p:blipFill>
        <p:spPr>
          <a:xfrm>
            <a:off x="8024233" y="3340748"/>
            <a:ext cx="650925" cy="839350"/>
          </a:xfrm>
          <a:prstGeom prst="rect">
            <a:avLst/>
          </a:prstGeom>
          <a:noFill/>
          <a:ln>
            <a:noFill/>
          </a:ln>
        </p:spPr>
      </p:pic>
      <p:sp>
        <p:nvSpPr>
          <p:cNvPr id="830" name="Google Shape;830;p69"/>
          <p:cNvSpPr txBox="1"/>
          <p:nvPr/>
        </p:nvSpPr>
        <p:spPr>
          <a:xfrm flipH="1">
            <a:off x="7907046" y="414084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pic>
        <p:nvPicPr>
          <p:cNvPr id="835" name="Google Shape;835;p70"/>
          <p:cNvPicPr preferRelativeResize="0"/>
          <p:nvPr/>
        </p:nvPicPr>
        <p:blipFill>
          <a:blip r:embed="rId3">
            <a:alphaModFix/>
          </a:blip>
          <a:stretch>
            <a:fillRect/>
          </a:stretch>
        </p:blipFill>
        <p:spPr>
          <a:xfrm>
            <a:off x="324000" y="668250"/>
            <a:ext cx="4248001" cy="4143365"/>
          </a:xfrm>
          <a:prstGeom prst="rect">
            <a:avLst/>
          </a:prstGeom>
          <a:noFill/>
          <a:ln cap="flat" cmpd="sng" w="19050">
            <a:solidFill>
              <a:schemeClr val="dk1"/>
            </a:solidFill>
            <a:prstDash val="solid"/>
            <a:round/>
            <a:headEnd len="sm" w="sm" type="none"/>
            <a:tailEnd len="sm" w="sm" type="none"/>
          </a:ln>
        </p:spPr>
      </p:pic>
      <p:sp>
        <p:nvSpPr>
          <p:cNvPr id="836" name="Google Shape;836;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sp>
        <p:nvSpPr>
          <p:cNvPr id="837" name="Google Shape;837;p70"/>
          <p:cNvSpPr txBox="1"/>
          <p:nvPr/>
        </p:nvSpPr>
        <p:spPr>
          <a:xfrm flipH="1" rot="2246">
            <a:off x="4687200" y="640680"/>
            <a:ext cx="41328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In fact, the point where the two rays intersect is always the vertex of the right angle, itself.</a:t>
            </a:r>
            <a:endParaRPr sz="1800">
              <a:latin typeface="Lexend"/>
              <a:ea typeface="Lexend"/>
              <a:cs typeface="Lexend"/>
              <a:sym typeface="Lexend"/>
            </a:endParaRPr>
          </a:p>
        </p:txBody>
      </p:sp>
      <p:sp>
        <p:nvSpPr>
          <p:cNvPr id="838" name="Google Shape;838;p70"/>
          <p:cNvSpPr/>
          <p:nvPr/>
        </p:nvSpPr>
        <p:spPr>
          <a:xfrm>
            <a:off x="1514935" y="1641843"/>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9" name="Google Shape;839;p70"/>
          <p:cNvSpPr/>
          <p:nvPr/>
        </p:nvSpPr>
        <p:spPr>
          <a:xfrm>
            <a:off x="3206306" y="2321347"/>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40" name="Google Shape;840;p70"/>
          <p:cNvCxnSpPr/>
          <p:nvPr/>
        </p:nvCxnSpPr>
        <p:spPr>
          <a:xfrm>
            <a:off x="1674027" y="1798023"/>
            <a:ext cx="1691400" cy="679500"/>
          </a:xfrm>
          <a:prstGeom prst="straightConnector1">
            <a:avLst/>
          </a:prstGeom>
          <a:noFill/>
          <a:ln cap="flat" cmpd="sng" w="38100">
            <a:solidFill>
              <a:schemeClr val="accent5"/>
            </a:solidFill>
            <a:prstDash val="solid"/>
            <a:round/>
            <a:headEnd len="med" w="med" type="none"/>
            <a:tailEnd len="med" w="med" type="none"/>
          </a:ln>
        </p:spPr>
      </p:cxnSp>
      <p:cxnSp>
        <p:nvCxnSpPr>
          <p:cNvPr id="841" name="Google Shape;841;p70"/>
          <p:cNvCxnSpPr/>
          <p:nvPr/>
        </p:nvCxnSpPr>
        <p:spPr>
          <a:xfrm>
            <a:off x="1674027" y="1798023"/>
            <a:ext cx="0" cy="2716500"/>
          </a:xfrm>
          <a:prstGeom prst="straightConnector1">
            <a:avLst/>
          </a:prstGeom>
          <a:noFill/>
          <a:ln cap="flat" cmpd="sng" w="38100">
            <a:solidFill>
              <a:schemeClr val="accent3"/>
            </a:solidFill>
            <a:prstDash val="dash"/>
            <a:round/>
            <a:headEnd len="med" w="med" type="none"/>
            <a:tailEnd len="med" w="med" type="none"/>
          </a:ln>
        </p:spPr>
      </p:cxnSp>
      <p:cxnSp>
        <p:nvCxnSpPr>
          <p:cNvPr id="842" name="Google Shape;842;p70"/>
          <p:cNvCxnSpPr/>
          <p:nvPr/>
        </p:nvCxnSpPr>
        <p:spPr>
          <a:xfrm>
            <a:off x="2002746" y="1119848"/>
            <a:ext cx="0" cy="2716500"/>
          </a:xfrm>
          <a:prstGeom prst="straightConnector1">
            <a:avLst/>
          </a:prstGeom>
          <a:noFill/>
          <a:ln cap="flat" cmpd="sng" w="38100">
            <a:solidFill>
              <a:schemeClr val="accent3"/>
            </a:solidFill>
            <a:prstDash val="dash"/>
            <a:round/>
            <a:headEnd len="med" w="med" type="none"/>
            <a:tailEnd len="med" w="med" type="none"/>
          </a:ln>
        </p:spPr>
      </p:cxnSp>
      <p:sp>
        <p:nvSpPr>
          <p:cNvPr id="843" name="Google Shape;843;p70"/>
          <p:cNvSpPr/>
          <p:nvPr/>
        </p:nvSpPr>
        <p:spPr>
          <a:xfrm>
            <a:off x="1675575" y="1800700"/>
            <a:ext cx="1691400" cy="679500"/>
          </a:xfrm>
          <a:prstGeom prst="rtTriangle">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4" name="Google Shape;844;p70"/>
          <p:cNvSpPr/>
          <p:nvPr/>
        </p:nvSpPr>
        <p:spPr>
          <a:xfrm>
            <a:off x="1684800" y="2217400"/>
            <a:ext cx="262800" cy="262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5" name="Google Shape;845;p70"/>
          <p:cNvSpPr/>
          <p:nvPr/>
        </p:nvSpPr>
        <p:spPr>
          <a:xfrm>
            <a:off x="1674025" y="1800700"/>
            <a:ext cx="1691400" cy="679500"/>
          </a:xfrm>
          <a:prstGeom prst="rtTriangle">
            <a:avLst/>
          </a:prstGeom>
          <a:solidFill>
            <a:srgbClr val="EBEDFE"/>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46" name="Google Shape;846;p70"/>
          <p:cNvGrpSpPr/>
          <p:nvPr/>
        </p:nvGrpSpPr>
        <p:grpSpPr>
          <a:xfrm flipH="1">
            <a:off x="4768410" y="1589420"/>
            <a:ext cx="4247893" cy="1790741"/>
            <a:chOff x="937625" y="2497850"/>
            <a:chExt cx="3666401" cy="1574001"/>
          </a:xfrm>
        </p:grpSpPr>
        <p:pic>
          <p:nvPicPr>
            <p:cNvPr id="847" name="Google Shape;847;p70"/>
            <p:cNvPicPr preferRelativeResize="0"/>
            <p:nvPr/>
          </p:nvPicPr>
          <p:blipFill rotWithShape="1">
            <a:blip r:embed="rId4">
              <a:alphaModFix/>
            </a:blip>
            <a:srcRect b="4760" l="40550" r="0" t="13015"/>
            <a:stretch/>
          </p:blipFill>
          <p:spPr>
            <a:xfrm>
              <a:off x="937625" y="2497850"/>
              <a:ext cx="3666401" cy="1574001"/>
            </a:xfrm>
            <a:prstGeom prst="rect">
              <a:avLst/>
            </a:prstGeom>
            <a:noFill/>
            <a:ln>
              <a:noFill/>
            </a:ln>
          </p:spPr>
        </p:pic>
        <p:sp>
          <p:nvSpPr>
            <p:cNvPr id="848" name="Google Shape;848;p70"/>
            <p:cNvSpPr txBox="1"/>
            <p:nvPr/>
          </p:nvSpPr>
          <p:spPr>
            <a:xfrm>
              <a:off x="1218037" y="2561265"/>
              <a:ext cx="3350100" cy="121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distance between the original two points is also always the length of the hypotenuse, since it’s opposite the right angle made from the two rays!</a:t>
              </a:r>
              <a:endParaRPr sz="1800">
                <a:latin typeface="Lexend"/>
                <a:ea typeface="Lexend"/>
                <a:cs typeface="Lexend"/>
                <a:sym typeface="Lexend"/>
              </a:endParaRPr>
            </a:p>
          </p:txBody>
        </p:sp>
      </p:grpSp>
      <p:pic>
        <p:nvPicPr>
          <p:cNvPr id="849" name="Google Shape;849;p70"/>
          <p:cNvPicPr preferRelativeResize="0"/>
          <p:nvPr/>
        </p:nvPicPr>
        <p:blipFill>
          <a:blip r:embed="rId5">
            <a:alphaModFix/>
          </a:blip>
          <a:stretch>
            <a:fillRect/>
          </a:stretch>
        </p:blipFill>
        <p:spPr>
          <a:xfrm>
            <a:off x="8024233" y="3340748"/>
            <a:ext cx="650925" cy="839350"/>
          </a:xfrm>
          <a:prstGeom prst="rect">
            <a:avLst/>
          </a:prstGeom>
          <a:noFill/>
          <a:ln>
            <a:noFill/>
          </a:ln>
        </p:spPr>
      </p:pic>
      <p:sp>
        <p:nvSpPr>
          <p:cNvPr id="850" name="Google Shape;850;p70"/>
          <p:cNvSpPr txBox="1"/>
          <p:nvPr/>
        </p:nvSpPr>
        <p:spPr>
          <a:xfrm flipH="1">
            <a:off x="7907046" y="414084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grpSp>
        <p:nvGrpSpPr>
          <p:cNvPr id="851" name="Google Shape;851;p70"/>
          <p:cNvGrpSpPr/>
          <p:nvPr/>
        </p:nvGrpSpPr>
        <p:grpSpPr>
          <a:xfrm>
            <a:off x="1750052" y="1410499"/>
            <a:ext cx="1691400" cy="825048"/>
            <a:chOff x="1750052" y="1410499"/>
            <a:chExt cx="1691400" cy="825048"/>
          </a:xfrm>
        </p:grpSpPr>
        <p:cxnSp>
          <p:nvCxnSpPr>
            <p:cNvPr id="852" name="Google Shape;852;p70"/>
            <p:cNvCxnSpPr/>
            <p:nvPr/>
          </p:nvCxnSpPr>
          <p:spPr>
            <a:xfrm>
              <a:off x="1750052" y="1556048"/>
              <a:ext cx="1691400" cy="679500"/>
            </a:xfrm>
            <a:prstGeom prst="straightConnector1">
              <a:avLst/>
            </a:prstGeom>
            <a:noFill/>
            <a:ln cap="flat" cmpd="sng" w="38100">
              <a:solidFill>
                <a:schemeClr val="accent4"/>
              </a:solidFill>
              <a:prstDash val="solid"/>
              <a:round/>
              <a:headEnd len="med" w="med" type="triangle"/>
              <a:tailEnd len="med" w="med" type="triangle"/>
            </a:ln>
          </p:spPr>
        </p:cxnSp>
        <p:sp>
          <p:nvSpPr>
            <p:cNvPr id="853" name="Google Shape;853;p70"/>
            <p:cNvSpPr txBox="1"/>
            <p:nvPr/>
          </p:nvSpPr>
          <p:spPr>
            <a:xfrm flipH="1" rot="1315616">
              <a:off x="2155663" y="1590430"/>
              <a:ext cx="1017074" cy="277039"/>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 units</a:t>
              </a:r>
              <a:endParaRPr sz="1800">
                <a:latin typeface="Lexend"/>
                <a:ea typeface="Lexend"/>
                <a:cs typeface="Lexend"/>
                <a:sym typeface="Lexend"/>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71"/>
          <p:cNvPicPr preferRelativeResize="0"/>
          <p:nvPr/>
        </p:nvPicPr>
        <p:blipFill>
          <a:blip r:embed="rId3">
            <a:alphaModFix/>
          </a:blip>
          <a:stretch>
            <a:fillRect/>
          </a:stretch>
        </p:blipFill>
        <p:spPr>
          <a:xfrm>
            <a:off x="324000" y="668250"/>
            <a:ext cx="4248001" cy="4143365"/>
          </a:xfrm>
          <a:prstGeom prst="rect">
            <a:avLst/>
          </a:prstGeom>
          <a:noFill/>
          <a:ln cap="flat" cmpd="sng" w="19050">
            <a:solidFill>
              <a:schemeClr val="dk1"/>
            </a:solidFill>
            <a:prstDash val="solid"/>
            <a:round/>
            <a:headEnd len="sm" w="sm" type="none"/>
            <a:tailEnd len="sm" w="sm" type="none"/>
          </a:ln>
        </p:spPr>
      </p:pic>
      <p:sp>
        <p:nvSpPr>
          <p:cNvPr id="859" name="Google Shape;859;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sp>
        <p:nvSpPr>
          <p:cNvPr id="860" name="Google Shape;860;p71"/>
          <p:cNvSpPr txBox="1"/>
          <p:nvPr/>
        </p:nvSpPr>
        <p:spPr>
          <a:xfrm flipH="1" rot="2246">
            <a:off x="4687200" y="640680"/>
            <a:ext cx="41328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In fact, the point where the two rays intersect is always the vertex of the right angle, itself.</a:t>
            </a:r>
            <a:endParaRPr sz="1800">
              <a:latin typeface="Lexend"/>
              <a:ea typeface="Lexend"/>
              <a:cs typeface="Lexend"/>
              <a:sym typeface="Lexend"/>
            </a:endParaRPr>
          </a:p>
        </p:txBody>
      </p:sp>
      <p:sp>
        <p:nvSpPr>
          <p:cNvPr id="861" name="Google Shape;861;p71"/>
          <p:cNvSpPr/>
          <p:nvPr/>
        </p:nvSpPr>
        <p:spPr>
          <a:xfrm>
            <a:off x="1514935" y="1641843"/>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2" name="Google Shape;862;p71"/>
          <p:cNvSpPr/>
          <p:nvPr/>
        </p:nvSpPr>
        <p:spPr>
          <a:xfrm>
            <a:off x="3206306" y="2321347"/>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63" name="Google Shape;863;p71"/>
          <p:cNvCxnSpPr/>
          <p:nvPr/>
        </p:nvCxnSpPr>
        <p:spPr>
          <a:xfrm>
            <a:off x="1674027" y="1798023"/>
            <a:ext cx="1691400" cy="679500"/>
          </a:xfrm>
          <a:prstGeom prst="straightConnector1">
            <a:avLst/>
          </a:prstGeom>
          <a:noFill/>
          <a:ln cap="flat" cmpd="sng" w="38100">
            <a:solidFill>
              <a:schemeClr val="accent5"/>
            </a:solidFill>
            <a:prstDash val="solid"/>
            <a:round/>
            <a:headEnd len="med" w="med" type="none"/>
            <a:tailEnd len="med" w="med" type="none"/>
          </a:ln>
        </p:spPr>
      </p:cxnSp>
      <p:sp>
        <p:nvSpPr>
          <p:cNvPr id="864" name="Google Shape;864;p71"/>
          <p:cNvSpPr/>
          <p:nvPr/>
        </p:nvSpPr>
        <p:spPr>
          <a:xfrm>
            <a:off x="1675575" y="1800700"/>
            <a:ext cx="1691400" cy="679500"/>
          </a:xfrm>
          <a:prstGeom prst="rtTriangle">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5" name="Google Shape;865;p71"/>
          <p:cNvSpPr/>
          <p:nvPr/>
        </p:nvSpPr>
        <p:spPr>
          <a:xfrm>
            <a:off x="1684800" y="2217400"/>
            <a:ext cx="262800" cy="262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6" name="Google Shape;866;p71"/>
          <p:cNvSpPr/>
          <p:nvPr/>
        </p:nvSpPr>
        <p:spPr>
          <a:xfrm>
            <a:off x="1674025" y="1800700"/>
            <a:ext cx="1691400" cy="679500"/>
          </a:xfrm>
          <a:prstGeom prst="rtTriangle">
            <a:avLst/>
          </a:prstGeom>
          <a:solidFill>
            <a:srgbClr val="EBEDFE"/>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67" name="Google Shape;867;p71"/>
          <p:cNvGrpSpPr/>
          <p:nvPr/>
        </p:nvGrpSpPr>
        <p:grpSpPr>
          <a:xfrm>
            <a:off x="1750052" y="1410499"/>
            <a:ext cx="1691400" cy="825048"/>
            <a:chOff x="1750052" y="1410499"/>
            <a:chExt cx="1691400" cy="825048"/>
          </a:xfrm>
        </p:grpSpPr>
        <p:cxnSp>
          <p:nvCxnSpPr>
            <p:cNvPr id="868" name="Google Shape;868;p71"/>
            <p:cNvCxnSpPr/>
            <p:nvPr/>
          </p:nvCxnSpPr>
          <p:spPr>
            <a:xfrm>
              <a:off x="1750052" y="1556048"/>
              <a:ext cx="1691400" cy="679500"/>
            </a:xfrm>
            <a:prstGeom prst="straightConnector1">
              <a:avLst/>
            </a:prstGeom>
            <a:noFill/>
            <a:ln cap="flat" cmpd="sng" w="38100">
              <a:solidFill>
                <a:schemeClr val="accent4"/>
              </a:solidFill>
              <a:prstDash val="solid"/>
              <a:round/>
              <a:headEnd len="med" w="med" type="triangle"/>
              <a:tailEnd len="med" w="med" type="triangle"/>
            </a:ln>
          </p:spPr>
        </p:cxnSp>
        <p:sp>
          <p:nvSpPr>
            <p:cNvPr id="869" name="Google Shape;869;p71"/>
            <p:cNvSpPr txBox="1"/>
            <p:nvPr/>
          </p:nvSpPr>
          <p:spPr>
            <a:xfrm flipH="1" rot="1315616">
              <a:off x="2155663" y="1590430"/>
              <a:ext cx="1017074" cy="277039"/>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 units</a:t>
              </a:r>
              <a:endParaRPr sz="1800">
                <a:latin typeface="Lexend"/>
                <a:ea typeface="Lexend"/>
                <a:cs typeface="Lexend"/>
                <a:sym typeface="Lexend"/>
              </a:endParaRPr>
            </a:p>
          </p:txBody>
        </p:sp>
      </p:grpSp>
      <p:pic>
        <p:nvPicPr>
          <p:cNvPr id="870" name="Google Shape;870;p71"/>
          <p:cNvPicPr preferRelativeResize="0"/>
          <p:nvPr/>
        </p:nvPicPr>
        <p:blipFill>
          <a:blip r:embed="rId4">
            <a:alphaModFix/>
          </a:blip>
          <a:stretch>
            <a:fillRect/>
          </a:stretch>
        </p:blipFill>
        <p:spPr>
          <a:xfrm>
            <a:off x="8024233" y="3340748"/>
            <a:ext cx="650925" cy="839350"/>
          </a:xfrm>
          <a:prstGeom prst="rect">
            <a:avLst/>
          </a:prstGeom>
          <a:noFill/>
          <a:ln>
            <a:noFill/>
          </a:ln>
        </p:spPr>
      </p:pic>
      <p:sp>
        <p:nvSpPr>
          <p:cNvPr id="871" name="Google Shape;871;p71"/>
          <p:cNvSpPr txBox="1"/>
          <p:nvPr/>
        </p:nvSpPr>
        <p:spPr>
          <a:xfrm flipH="1">
            <a:off x="7907046" y="414084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grpSp>
        <p:nvGrpSpPr>
          <p:cNvPr id="872" name="Google Shape;872;p71"/>
          <p:cNvGrpSpPr/>
          <p:nvPr/>
        </p:nvGrpSpPr>
        <p:grpSpPr>
          <a:xfrm flipH="1">
            <a:off x="4768410" y="1589420"/>
            <a:ext cx="4247893" cy="1790741"/>
            <a:chOff x="937625" y="2497850"/>
            <a:chExt cx="3666401" cy="1574001"/>
          </a:xfrm>
        </p:grpSpPr>
        <p:pic>
          <p:nvPicPr>
            <p:cNvPr id="873" name="Google Shape;873;p71"/>
            <p:cNvPicPr preferRelativeResize="0"/>
            <p:nvPr/>
          </p:nvPicPr>
          <p:blipFill rotWithShape="1">
            <a:blip r:embed="rId5">
              <a:alphaModFix/>
            </a:blip>
            <a:srcRect b="4760" l="40550" r="0" t="13015"/>
            <a:stretch/>
          </p:blipFill>
          <p:spPr>
            <a:xfrm>
              <a:off x="937625" y="2497850"/>
              <a:ext cx="3666401" cy="1574001"/>
            </a:xfrm>
            <a:prstGeom prst="rect">
              <a:avLst/>
            </a:prstGeom>
            <a:noFill/>
            <a:ln>
              <a:noFill/>
            </a:ln>
          </p:spPr>
        </p:pic>
        <p:sp>
          <p:nvSpPr>
            <p:cNvPr id="874" name="Google Shape;874;p71"/>
            <p:cNvSpPr txBox="1"/>
            <p:nvPr/>
          </p:nvSpPr>
          <p:spPr>
            <a:xfrm>
              <a:off x="1218037" y="2591648"/>
              <a:ext cx="3350100" cy="1149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But I still don’t know the lengths of any of the sides of the triangle!</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3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I can’t use Pythagoras’ theorem without two of them.</a:t>
              </a:r>
              <a:endParaRPr sz="1800">
                <a:latin typeface="Lexend"/>
                <a:ea typeface="Lexend"/>
                <a:cs typeface="Lexend"/>
                <a:sym typeface="Lexend"/>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pic>
        <p:nvPicPr>
          <p:cNvPr id="879" name="Google Shape;879;p72"/>
          <p:cNvPicPr preferRelativeResize="0"/>
          <p:nvPr/>
        </p:nvPicPr>
        <p:blipFill>
          <a:blip r:embed="rId3">
            <a:alphaModFix/>
          </a:blip>
          <a:stretch>
            <a:fillRect/>
          </a:stretch>
        </p:blipFill>
        <p:spPr>
          <a:xfrm>
            <a:off x="324000" y="668250"/>
            <a:ext cx="4248001" cy="4143365"/>
          </a:xfrm>
          <a:prstGeom prst="rect">
            <a:avLst/>
          </a:prstGeom>
          <a:noFill/>
          <a:ln cap="flat" cmpd="sng" w="19050">
            <a:solidFill>
              <a:schemeClr val="dk1"/>
            </a:solidFill>
            <a:prstDash val="solid"/>
            <a:round/>
            <a:headEnd len="sm" w="sm" type="none"/>
            <a:tailEnd len="sm" w="sm" type="none"/>
          </a:ln>
        </p:spPr>
      </p:pic>
      <p:sp>
        <p:nvSpPr>
          <p:cNvPr id="880" name="Google Shape;880;p72"/>
          <p:cNvSpPr txBox="1"/>
          <p:nvPr/>
        </p:nvSpPr>
        <p:spPr>
          <a:xfrm flipH="1" rot="2246">
            <a:off x="4687200" y="640680"/>
            <a:ext cx="41328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We can find the lengths of the two shorter sides by counting the number of squares up and across.</a:t>
            </a:r>
            <a:endParaRPr sz="1800">
              <a:latin typeface="Lexend"/>
              <a:ea typeface="Lexend"/>
              <a:cs typeface="Lexend"/>
              <a:sym typeface="Lexend"/>
            </a:endParaRPr>
          </a:p>
        </p:txBody>
      </p:sp>
      <p:sp>
        <p:nvSpPr>
          <p:cNvPr id="881" name="Google Shape;881;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sp>
        <p:nvSpPr>
          <p:cNvPr id="882" name="Google Shape;882;p72"/>
          <p:cNvSpPr/>
          <p:nvPr/>
        </p:nvSpPr>
        <p:spPr>
          <a:xfrm>
            <a:off x="1514935" y="1641843"/>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3" name="Google Shape;883;p72"/>
          <p:cNvSpPr/>
          <p:nvPr/>
        </p:nvSpPr>
        <p:spPr>
          <a:xfrm>
            <a:off x="3206306" y="2321347"/>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84" name="Google Shape;884;p72"/>
          <p:cNvCxnSpPr/>
          <p:nvPr/>
        </p:nvCxnSpPr>
        <p:spPr>
          <a:xfrm>
            <a:off x="1674027" y="1798023"/>
            <a:ext cx="1691400" cy="679500"/>
          </a:xfrm>
          <a:prstGeom prst="straightConnector1">
            <a:avLst/>
          </a:prstGeom>
          <a:noFill/>
          <a:ln cap="flat" cmpd="sng" w="38100">
            <a:solidFill>
              <a:schemeClr val="accent4"/>
            </a:solidFill>
            <a:prstDash val="solid"/>
            <a:round/>
            <a:headEnd len="med" w="med" type="none"/>
            <a:tailEnd len="med" w="med" type="none"/>
          </a:ln>
        </p:spPr>
      </p:cxnSp>
      <p:sp>
        <p:nvSpPr>
          <p:cNvPr id="885" name="Google Shape;885;p72"/>
          <p:cNvSpPr/>
          <p:nvPr/>
        </p:nvSpPr>
        <p:spPr>
          <a:xfrm>
            <a:off x="1675575" y="1800700"/>
            <a:ext cx="1691400" cy="679500"/>
          </a:xfrm>
          <a:prstGeom prst="rtTriangle">
            <a:avLst/>
          </a:prstGeom>
          <a:solidFill>
            <a:srgbClr val="F3EEFB"/>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6" name="Google Shape;886;p72"/>
          <p:cNvSpPr/>
          <p:nvPr/>
        </p:nvSpPr>
        <p:spPr>
          <a:xfrm>
            <a:off x="1684800" y="2217400"/>
            <a:ext cx="262800" cy="262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7" name="Google Shape;887;p72"/>
          <p:cNvSpPr/>
          <p:nvPr/>
        </p:nvSpPr>
        <p:spPr>
          <a:xfrm>
            <a:off x="1674025" y="1800700"/>
            <a:ext cx="1691400" cy="679500"/>
          </a:xfrm>
          <a:prstGeom prst="rtTriangle">
            <a:avLst/>
          </a:prstGeom>
          <a:solidFill>
            <a:srgbClr val="EBEDFE"/>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888" name="Google Shape;888;p72"/>
          <p:cNvGrpSpPr/>
          <p:nvPr/>
        </p:nvGrpSpPr>
        <p:grpSpPr>
          <a:xfrm>
            <a:off x="1750052" y="1410499"/>
            <a:ext cx="1691400" cy="825048"/>
            <a:chOff x="1750052" y="1410499"/>
            <a:chExt cx="1691400" cy="825048"/>
          </a:xfrm>
        </p:grpSpPr>
        <p:cxnSp>
          <p:nvCxnSpPr>
            <p:cNvPr id="889" name="Google Shape;889;p72"/>
            <p:cNvCxnSpPr/>
            <p:nvPr/>
          </p:nvCxnSpPr>
          <p:spPr>
            <a:xfrm>
              <a:off x="1750052" y="1556048"/>
              <a:ext cx="1691400" cy="679500"/>
            </a:xfrm>
            <a:prstGeom prst="straightConnector1">
              <a:avLst/>
            </a:prstGeom>
            <a:noFill/>
            <a:ln cap="flat" cmpd="sng" w="38100">
              <a:solidFill>
                <a:schemeClr val="accent4"/>
              </a:solidFill>
              <a:prstDash val="solid"/>
              <a:round/>
              <a:headEnd len="med" w="med" type="triangle"/>
              <a:tailEnd len="med" w="med" type="triangle"/>
            </a:ln>
          </p:spPr>
        </p:cxnSp>
        <p:sp>
          <p:nvSpPr>
            <p:cNvPr id="890" name="Google Shape;890;p72"/>
            <p:cNvSpPr txBox="1"/>
            <p:nvPr/>
          </p:nvSpPr>
          <p:spPr>
            <a:xfrm flipH="1" rot="1315616">
              <a:off x="2155663" y="1590430"/>
              <a:ext cx="1017074" cy="277039"/>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h</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891" name="Google Shape;891;p72"/>
          <p:cNvGrpSpPr/>
          <p:nvPr/>
        </p:nvGrpSpPr>
        <p:grpSpPr>
          <a:xfrm>
            <a:off x="712200" y="1800749"/>
            <a:ext cx="802736" cy="679535"/>
            <a:chOff x="1454189" y="1985987"/>
            <a:chExt cx="802736" cy="1616400"/>
          </a:xfrm>
        </p:grpSpPr>
        <p:cxnSp>
          <p:nvCxnSpPr>
            <p:cNvPr id="892" name="Google Shape;892;p72"/>
            <p:cNvCxnSpPr/>
            <p:nvPr/>
          </p:nvCxnSpPr>
          <p:spPr>
            <a:xfrm>
              <a:off x="2256925" y="1985987"/>
              <a:ext cx="0" cy="1616400"/>
            </a:xfrm>
            <a:prstGeom prst="straightConnector1">
              <a:avLst/>
            </a:prstGeom>
            <a:noFill/>
            <a:ln cap="flat" cmpd="sng" w="28575">
              <a:solidFill>
                <a:schemeClr val="accent3"/>
              </a:solidFill>
              <a:prstDash val="solid"/>
              <a:round/>
              <a:headEnd len="med" w="med" type="triangle"/>
              <a:tailEnd len="med" w="med" type="triangle"/>
            </a:ln>
          </p:spPr>
        </p:cxnSp>
        <p:sp>
          <p:nvSpPr>
            <p:cNvPr id="893" name="Google Shape;893;p72"/>
            <p:cNvSpPr txBox="1"/>
            <p:nvPr/>
          </p:nvSpPr>
          <p:spPr>
            <a:xfrm flipH="1">
              <a:off x="1454189" y="2564961"/>
              <a:ext cx="776100" cy="4584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 units</a:t>
              </a:r>
              <a:endParaRPr sz="1800">
                <a:latin typeface="Lexend"/>
                <a:ea typeface="Lexend"/>
                <a:cs typeface="Lexend"/>
                <a:sym typeface="Lexend"/>
              </a:endParaRPr>
            </a:p>
          </p:txBody>
        </p:sp>
      </p:grpSp>
      <p:sp>
        <p:nvSpPr>
          <p:cNvPr id="894" name="Google Shape;894;p72"/>
          <p:cNvSpPr txBox="1"/>
          <p:nvPr/>
        </p:nvSpPr>
        <p:spPr>
          <a:xfrm flipH="1" rot="2172">
            <a:off x="5496000" y="2636487"/>
            <a:ext cx="3324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h</a:t>
            </a:r>
            <a:r>
              <a:rPr lang="en-GB" sz="1800">
                <a:latin typeface="Lexend"/>
                <a:ea typeface="Lexend"/>
                <a:cs typeface="Lexend"/>
                <a:sym typeface="Lexend"/>
              </a:rPr>
              <a:t>²  =  2²  +  5²  </a:t>
            </a:r>
            <a:endParaRPr sz="1800">
              <a:latin typeface="Lexend"/>
              <a:ea typeface="Lexend"/>
              <a:cs typeface="Lexend"/>
              <a:sym typeface="Lexend"/>
            </a:endParaRPr>
          </a:p>
        </p:txBody>
      </p:sp>
      <p:grpSp>
        <p:nvGrpSpPr>
          <p:cNvPr id="895" name="Google Shape;895;p72"/>
          <p:cNvGrpSpPr/>
          <p:nvPr/>
        </p:nvGrpSpPr>
        <p:grpSpPr>
          <a:xfrm>
            <a:off x="1674035" y="2671454"/>
            <a:ext cx="1691411" cy="275848"/>
            <a:chOff x="1023355" y="2663702"/>
            <a:chExt cx="679500" cy="275848"/>
          </a:xfrm>
        </p:grpSpPr>
        <p:cxnSp>
          <p:nvCxnSpPr>
            <p:cNvPr id="896" name="Google Shape;896;p72"/>
            <p:cNvCxnSpPr/>
            <p:nvPr/>
          </p:nvCxnSpPr>
          <p:spPr>
            <a:xfrm rot="10800000">
              <a:off x="1363105" y="2323952"/>
              <a:ext cx="0" cy="679500"/>
            </a:xfrm>
            <a:prstGeom prst="straightConnector1">
              <a:avLst/>
            </a:prstGeom>
            <a:noFill/>
            <a:ln cap="flat" cmpd="sng" w="28575">
              <a:solidFill>
                <a:schemeClr val="accent3"/>
              </a:solidFill>
              <a:prstDash val="solid"/>
              <a:round/>
              <a:headEnd len="med" w="med" type="triangle"/>
              <a:tailEnd len="med" w="med" type="triangle"/>
            </a:ln>
          </p:spPr>
        </p:cxnSp>
        <p:sp>
          <p:nvSpPr>
            <p:cNvPr id="897" name="Google Shape;897;p72"/>
            <p:cNvSpPr txBox="1"/>
            <p:nvPr/>
          </p:nvSpPr>
          <p:spPr>
            <a:xfrm flipH="1">
              <a:off x="1065502" y="2746950"/>
              <a:ext cx="595200" cy="1926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5 units</a:t>
              </a:r>
              <a:endParaRPr sz="1800">
                <a:latin typeface="Lexend"/>
                <a:ea typeface="Lexend"/>
                <a:cs typeface="Lexend"/>
                <a:sym typeface="Lexend"/>
              </a:endParaRPr>
            </a:p>
          </p:txBody>
        </p:sp>
      </p:grpSp>
      <p:sp>
        <p:nvSpPr>
          <p:cNvPr id="898" name="Google Shape;898;p72"/>
          <p:cNvSpPr txBox="1"/>
          <p:nvPr/>
        </p:nvSpPr>
        <p:spPr>
          <a:xfrm flipH="1" rot="2246">
            <a:off x="4687200" y="1724867"/>
            <a:ext cx="41328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We can now use Pythagoras’ theorem to find the shortest distance between the two original points:</a:t>
            </a:r>
            <a:endParaRPr sz="1800">
              <a:latin typeface="Lexend"/>
              <a:ea typeface="Lexend"/>
              <a:cs typeface="Lexend"/>
              <a:sym typeface="Lexend"/>
            </a:endParaRPr>
          </a:p>
        </p:txBody>
      </p:sp>
      <p:sp>
        <p:nvSpPr>
          <p:cNvPr id="899" name="Google Shape;899;p72"/>
          <p:cNvSpPr txBox="1"/>
          <p:nvPr/>
        </p:nvSpPr>
        <p:spPr>
          <a:xfrm flipH="1" rot="2172">
            <a:off x="5496000" y="3055187"/>
            <a:ext cx="3324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h</a:t>
            </a:r>
            <a:r>
              <a:rPr lang="en-GB" sz="1800">
                <a:latin typeface="Lexend"/>
                <a:ea typeface="Lexend"/>
                <a:cs typeface="Lexend"/>
                <a:sym typeface="Lexend"/>
              </a:rPr>
              <a:t>²  =  29</a:t>
            </a:r>
            <a:endParaRPr sz="1800">
              <a:latin typeface="Lexend"/>
              <a:ea typeface="Lexend"/>
              <a:cs typeface="Lexend"/>
              <a:sym typeface="Lexend"/>
            </a:endParaRPr>
          </a:p>
        </p:txBody>
      </p:sp>
      <p:sp>
        <p:nvSpPr>
          <p:cNvPr id="900" name="Google Shape;900;p72"/>
          <p:cNvSpPr txBox="1"/>
          <p:nvPr/>
        </p:nvSpPr>
        <p:spPr>
          <a:xfrm flipH="1" rot="2172">
            <a:off x="5496000" y="3473887"/>
            <a:ext cx="33240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h</a:t>
            </a:r>
            <a:r>
              <a:rPr lang="en-GB" sz="1800">
                <a:solidFill>
                  <a:schemeClr val="lt1"/>
                </a:solidFill>
                <a:latin typeface="Lexend"/>
                <a:ea typeface="Lexend"/>
                <a:cs typeface="Lexend"/>
                <a:sym typeface="Lexend"/>
              </a:rPr>
              <a:t>²</a:t>
            </a:r>
            <a:r>
              <a:rPr lang="en-GB" sz="1800">
                <a:latin typeface="Lexend"/>
                <a:ea typeface="Lexend"/>
                <a:cs typeface="Lexend"/>
                <a:sym typeface="Lexend"/>
              </a:rPr>
              <a:t>  =  5.385</a:t>
            </a:r>
            <a:endParaRPr sz="1800">
              <a:latin typeface="Lexend"/>
              <a:ea typeface="Lexend"/>
              <a:cs typeface="Lexend"/>
              <a:sym typeface="Lexend"/>
            </a:endParaRPr>
          </a:p>
        </p:txBody>
      </p:sp>
      <p:grpSp>
        <p:nvGrpSpPr>
          <p:cNvPr id="901" name="Google Shape;901;p72"/>
          <p:cNvGrpSpPr/>
          <p:nvPr/>
        </p:nvGrpSpPr>
        <p:grpSpPr>
          <a:xfrm>
            <a:off x="1750052" y="1317049"/>
            <a:ext cx="1691400" cy="918499"/>
            <a:chOff x="1750052" y="1317049"/>
            <a:chExt cx="1691400" cy="918499"/>
          </a:xfrm>
        </p:grpSpPr>
        <p:sp>
          <p:nvSpPr>
            <p:cNvPr id="902" name="Google Shape;902;p72"/>
            <p:cNvSpPr txBox="1"/>
            <p:nvPr/>
          </p:nvSpPr>
          <p:spPr>
            <a:xfrm flipH="1" rot="1315530">
              <a:off x="1905336" y="1590429"/>
              <a:ext cx="1517673" cy="277039"/>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5.</a:t>
              </a:r>
              <a:r>
                <a:rPr lang="en-GB" sz="1800">
                  <a:solidFill>
                    <a:schemeClr val="dk1"/>
                  </a:solidFill>
                  <a:latin typeface="Lexend"/>
                  <a:ea typeface="Lexend"/>
                  <a:cs typeface="Lexend"/>
                  <a:sym typeface="Lexend"/>
                </a:rPr>
                <a:t>385 </a:t>
              </a:r>
              <a:r>
                <a:rPr lang="en-GB" sz="1800">
                  <a:latin typeface="Lexend"/>
                  <a:ea typeface="Lexend"/>
                  <a:cs typeface="Lexend"/>
                  <a:sym typeface="Lexend"/>
                </a:rPr>
                <a:t>units</a:t>
              </a:r>
              <a:endParaRPr sz="1800">
                <a:latin typeface="Lexend"/>
                <a:ea typeface="Lexend"/>
                <a:cs typeface="Lexend"/>
                <a:sym typeface="Lexend"/>
              </a:endParaRPr>
            </a:p>
          </p:txBody>
        </p:sp>
        <p:cxnSp>
          <p:nvCxnSpPr>
            <p:cNvPr id="903" name="Google Shape;903;p72"/>
            <p:cNvCxnSpPr/>
            <p:nvPr/>
          </p:nvCxnSpPr>
          <p:spPr>
            <a:xfrm>
              <a:off x="1750052" y="1556048"/>
              <a:ext cx="1691400" cy="679500"/>
            </a:xfrm>
            <a:prstGeom prst="straightConnector1">
              <a:avLst/>
            </a:prstGeom>
            <a:noFill/>
            <a:ln cap="flat" cmpd="sng" w="38100">
              <a:solidFill>
                <a:schemeClr val="accent4"/>
              </a:solidFill>
              <a:prstDash val="solid"/>
              <a:round/>
              <a:headEnd len="med" w="med" type="triangle"/>
              <a:tailEnd len="med" w="med" type="triangle"/>
            </a:ln>
          </p:spPr>
        </p:cxnSp>
      </p:grpSp>
      <p:sp>
        <p:nvSpPr>
          <p:cNvPr id="904" name="Google Shape;904;p72"/>
          <p:cNvSpPr txBox="1"/>
          <p:nvPr/>
        </p:nvSpPr>
        <p:spPr>
          <a:xfrm flipH="1" rot="2172">
            <a:off x="5496000" y="3892587"/>
            <a:ext cx="33240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The shortest distance between these two points is 5.385 units in length.</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8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8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8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9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73"/>
          <p:cNvSpPr txBox="1"/>
          <p:nvPr/>
        </p:nvSpPr>
        <p:spPr>
          <a:xfrm flipH="1" rot="2246">
            <a:off x="4687200" y="640680"/>
            <a:ext cx="4132801"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A right-angled triangle is made with a hypotenuse of AB.</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What are the lengths (in units) of the horizontal base and vertical height of this triangle?</a:t>
            </a:r>
            <a:endParaRPr sz="1800">
              <a:latin typeface="Lexend"/>
              <a:ea typeface="Lexend"/>
              <a:cs typeface="Lexend"/>
              <a:sym typeface="Lexend"/>
            </a:endParaRPr>
          </a:p>
        </p:txBody>
      </p:sp>
      <p:sp>
        <p:nvSpPr>
          <p:cNvPr id="910" name="Google Shape;910;p73"/>
          <p:cNvSpPr txBox="1"/>
          <p:nvPr/>
        </p:nvSpPr>
        <p:spPr>
          <a:xfrm flipH="1" rot="1968">
            <a:off x="5512350" y="2628892"/>
            <a:ext cx="5241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2000">
                <a:latin typeface="Kalam"/>
                <a:ea typeface="Kalam"/>
                <a:cs typeface="Kalam"/>
                <a:sym typeface="Kalam"/>
              </a:rPr>
              <a:t>5</a:t>
            </a:r>
            <a:endParaRPr sz="2000">
              <a:latin typeface="Kalam"/>
              <a:ea typeface="Kalam"/>
              <a:cs typeface="Kalam"/>
              <a:sym typeface="Kalam"/>
            </a:endParaRPr>
          </a:p>
        </p:txBody>
      </p:sp>
      <p:sp>
        <p:nvSpPr>
          <p:cNvPr id="911" name="Google Shape;911;p73"/>
          <p:cNvSpPr txBox="1"/>
          <p:nvPr/>
        </p:nvSpPr>
        <p:spPr>
          <a:xfrm flipH="1" rot="1968">
            <a:off x="5692100" y="3164517"/>
            <a:ext cx="5241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2000">
                <a:latin typeface="Kalam"/>
                <a:ea typeface="Kalam"/>
                <a:cs typeface="Kalam"/>
                <a:sym typeface="Kalam"/>
              </a:rPr>
              <a:t>3</a:t>
            </a:r>
            <a:endParaRPr sz="2000">
              <a:latin typeface="Kalam"/>
              <a:ea typeface="Kalam"/>
              <a:cs typeface="Kalam"/>
              <a:sym typeface="Kalam"/>
            </a:endParaRPr>
          </a:p>
        </p:txBody>
      </p:sp>
      <p:sp>
        <p:nvSpPr>
          <p:cNvPr id="912" name="Google Shape;912;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pic>
        <p:nvPicPr>
          <p:cNvPr id="913" name="Google Shape;913;p73"/>
          <p:cNvPicPr preferRelativeResize="0"/>
          <p:nvPr/>
        </p:nvPicPr>
        <p:blipFill>
          <a:blip r:embed="rId3">
            <a:alphaModFix/>
          </a:blip>
          <a:stretch>
            <a:fillRect/>
          </a:stretch>
        </p:blipFill>
        <p:spPr>
          <a:xfrm>
            <a:off x="324000" y="668250"/>
            <a:ext cx="4248001" cy="4143365"/>
          </a:xfrm>
          <a:prstGeom prst="rect">
            <a:avLst/>
          </a:prstGeom>
          <a:noFill/>
          <a:ln cap="flat" cmpd="sng" w="19050">
            <a:solidFill>
              <a:schemeClr val="dk1"/>
            </a:solidFill>
            <a:prstDash val="solid"/>
            <a:round/>
            <a:headEnd len="sm" w="sm" type="none"/>
            <a:tailEnd len="sm" w="sm" type="none"/>
          </a:ln>
        </p:spPr>
      </p:pic>
      <p:sp>
        <p:nvSpPr>
          <p:cNvPr id="914" name="Google Shape;914;p73"/>
          <p:cNvSpPr/>
          <p:nvPr/>
        </p:nvSpPr>
        <p:spPr>
          <a:xfrm>
            <a:off x="3207941" y="1304111"/>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5" name="Google Shape;915;p73"/>
          <p:cNvSpPr/>
          <p:nvPr/>
        </p:nvSpPr>
        <p:spPr>
          <a:xfrm>
            <a:off x="1514948" y="232160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16" name="Google Shape;916;p73"/>
          <p:cNvCxnSpPr/>
          <p:nvPr/>
        </p:nvCxnSpPr>
        <p:spPr>
          <a:xfrm flipH="1" rot="10800000">
            <a:off x="1673266" y="1459184"/>
            <a:ext cx="1692900" cy="1017600"/>
          </a:xfrm>
          <a:prstGeom prst="straightConnector1">
            <a:avLst/>
          </a:prstGeom>
          <a:noFill/>
          <a:ln cap="flat" cmpd="sng" w="38100">
            <a:solidFill>
              <a:schemeClr val="accent4"/>
            </a:solidFill>
            <a:prstDash val="solid"/>
            <a:round/>
            <a:headEnd len="med" w="med" type="none"/>
            <a:tailEnd len="med" w="med" type="none"/>
          </a:ln>
        </p:spPr>
      </p:cxnSp>
      <p:sp>
        <p:nvSpPr>
          <p:cNvPr id="917" name="Google Shape;917;p73"/>
          <p:cNvSpPr txBox="1"/>
          <p:nvPr/>
        </p:nvSpPr>
        <p:spPr>
          <a:xfrm flipH="1" rot="2246">
            <a:off x="4687200" y="2658430"/>
            <a:ext cx="41328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base: </a:t>
            </a:r>
            <a:r>
              <a:rPr lang="en-GB" sz="1800">
                <a:latin typeface="Times New Roman"/>
                <a:ea typeface="Times New Roman"/>
                <a:cs typeface="Times New Roman"/>
                <a:sym typeface="Times New Roman"/>
              </a:rPr>
              <a:t>________</a:t>
            </a:r>
            <a:r>
              <a:rPr lang="en-GB" sz="1800">
                <a:latin typeface="Lexend"/>
                <a:ea typeface="Lexend"/>
                <a:cs typeface="Lexend"/>
                <a:sym typeface="Lexend"/>
              </a:rPr>
              <a:t> units</a:t>
            </a:r>
            <a:endParaRPr sz="1800">
              <a:latin typeface="Lexend"/>
              <a:ea typeface="Lexend"/>
              <a:cs typeface="Lexend"/>
              <a:sym typeface="Lexend"/>
            </a:endParaRPr>
          </a:p>
        </p:txBody>
      </p:sp>
      <p:sp>
        <p:nvSpPr>
          <p:cNvPr id="918" name="Google Shape;918;p73"/>
          <p:cNvSpPr txBox="1"/>
          <p:nvPr/>
        </p:nvSpPr>
        <p:spPr>
          <a:xfrm flipH="1" rot="2246">
            <a:off x="4687200" y="3194180"/>
            <a:ext cx="41328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height: </a:t>
            </a:r>
            <a:r>
              <a:rPr lang="en-GB" sz="1800">
                <a:solidFill>
                  <a:schemeClr val="dk1"/>
                </a:solidFill>
                <a:latin typeface="Times New Roman"/>
                <a:ea typeface="Times New Roman"/>
                <a:cs typeface="Times New Roman"/>
                <a:sym typeface="Times New Roman"/>
              </a:rPr>
              <a:t>________</a:t>
            </a:r>
            <a:r>
              <a:rPr lang="en-GB" sz="1800">
                <a:latin typeface="Lexend"/>
                <a:ea typeface="Lexend"/>
                <a:cs typeface="Lexend"/>
                <a:sym typeface="Lexend"/>
              </a:rPr>
              <a:t> units</a:t>
            </a:r>
            <a:endParaRPr sz="1800">
              <a:latin typeface="Lexend"/>
              <a:ea typeface="Lexend"/>
              <a:cs typeface="Lexend"/>
              <a:sym typeface="Lexend"/>
            </a:endParaRPr>
          </a:p>
        </p:txBody>
      </p:sp>
      <p:grpSp>
        <p:nvGrpSpPr>
          <p:cNvPr id="919" name="Google Shape;919;p73"/>
          <p:cNvGrpSpPr/>
          <p:nvPr/>
        </p:nvGrpSpPr>
        <p:grpSpPr>
          <a:xfrm>
            <a:off x="5631728" y="2640134"/>
            <a:ext cx="465089" cy="809589"/>
            <a:chOff x="5631728" y="3097334"/>
            <a:chExt cx="465089" cy="809589"/>
          </a:xfrm>
        </p:grpSpPr>
        <p:grpSp>
          <p:nvGrpSpPr>
            <p:cNvPr id="920" name="Google Shape;920;p73"/>
            <p:cNvGrpSpPr/>
            <p:nvPr/>
          </p:nvGrpSpPr>
          <p:grpSpPr>
            <a:xfrm flipH="1">
              <a:off x="5631728" y="3097334"/>
              <a:ext cx="285339" cy="285339"/>
              <a:chOff x="1020916" y="1442088"/>
              <a:chExt cx="457200" cy="457200"/>
            </a:xfrm>
          </p:grpSpPr>
          <p:pic>
            <p:nvPicPr>
              <p:cNvPr id="921" name="Google Shape;921;p7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922" name="Google Shape;922;p7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923" name="Google Shape;923;p73"/>
            <p:cNvGrpSpPr/>
            <p:nvPr/>
          </p:nvGrpSpPr>
          <p:grpSpPr>
            <a:xfrm flipH="1">
              <a:off x="5811478" y="3621584"/>
              <a:ext cx="285339" cy="285339"/>
              <a:chOff x="1020916" y="1442088"/>
              <a:chExt cx="457200" cy="457200"/>
            </a:xfrm>
          </p:grpSpPr>
          <p:pic>
            <p:nvPicPr>
              <p:cNvPr id="924" name="Google Shape;924;p7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925" name="Google Shape;925;p7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sp>
        <p:nvSpPr>
          <p:cNvPr id="926" name="Google Shape;926;p73"/>
          <p:cNvSpPr txBox="1"/>
          <p:nvPr/>
        </p:nvSpPr>
        <p:spPr>
          <a:xfrm flipH="1" rot="3024">
            <a:off x="1332175" y="247693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927" name="Google Shape;927;p73"/>
          <p:cNvSpPr txBox="1"/>
          <p:nvPr/>
        </p:nvSpPr>
        <p:spPr>
          <a:xfrm flipH="1" rot="3024">
            <a:off x="3366175" y="145933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1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pic>
        <p:nvPicPr>
          <p:cNvPr id="933" name="Google Shape;933;p74"/>
          <p:cNvPicPr preferRelativeResize="0"/>
          <p:nvPr/>
        </p:nvPicPr>
        <p:blipFill>
          <a:blip r:embed="rId3">
            <a:alphaModFix/>
          </a:blip>
          <a:stretch>
            <a:fillRect/>
          </a:stretch>
        </p:blipFill>
        <p:spPr>
          <a:xfrm>
            <a:off x="324000" y="668250"/>
            <a:ext cx="4248001" cy="4143365"/>
          </a:xfrm>
          <a:prstGeom prst="rect">
            <a:avLst/>
          </a:prstGeom>
          <a:noFill/>
          <a:ln cap="flat" cmpd="sng" w="19050">
            <a:solidFill>
              <a:schemeClr val="dk1"/>
            </a:solidFill>
            <a:prstDash val="solid"/>
            <a:round/>
            <a:headEnd len="sm" w="sm" type="none"/>
            <a:tailEnd len="sm" w="sm" type="none"/>
          </a:ln>
        </p:spPr>
      </p:pic>
      <p:sp>
        <p:nvSpPr>
          <p:cNvPr id="934" name="Google Shape;934;p74"/>
          <p:cNvSpPr/>
          <p:nvPr/>
        </p:nvSpPr>
        <p:spPr>
          <a:xfrm>
            <a:off x="3207941" y="1304111"/>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5" name="Google Shape;935;p74"/>
          <p:cNvSpPr/>
          <p:nvPr/>
        </p:nvSpPr>
        <p:spPr>
          <a:xfrm>
            <a:off x="1514948" y="232160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6" name="Google Shape;936;p74"/>
          <p:cNvSpPr txBox="1"/>
          <p:nvPr/>
        </p:nvSpPr>
        <p:spPr>
          <a:xfrm flipH="1" rot="2246">
            <a:off x="4687200" y="640680"/>
            <a:ext cx="41328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What is the shortest distance between points A and B?</a:t>
            </a:r>
            <a:endParaRPr sz="1800">
              <a:latin typeface="Lexend"/>
              <a:ea typeface="Lexend"/>
              <a:cs typeface="Lexend"/>
              <a:sym typeface="Lexend"/>
            </a:endParaRPr>
          </a:p>
        </p:txBody>
      </p:sp>
      <p:cxnSp>
        <p:nvCxnSpPr>
          <p:cNvPr id="937" name="Google Shape;937;p74"/>
          <p:cNvCxnSpPr/>
          <p:nvPr/>
        </p:nvCxnSpPr>
        <p:spPr>
          <a:xfrm flipH="1" rot="10800000">
            <a:off x="1673266" y="1459184"/>
            <a:ext cx="1692900" cy="1017600"/>
          </a:xfrm>
          <a:prstGeom prst="straightConnector1">
            <a:avLst/>
          </a:prstGeom>
          <a:noFill/>
          <a:ln cap="flat" cmpd="sng" w="38100">
            <a:solidFill>
              <a:schemeClr val="accent5"/>
            </a:solidFill>
            <a:prstDash val="solid"/>
            <a:round/>
            <a:headEnd len="med" w="med" type="none"/>
            <a:tailEnd len="med" w="med" type="none"/>
          </a:ln>
        </p:spPr>
      </p:cxnSp>
      <p:sp>
        <p:nvSpPr>
          <p:cNvPr id="938" name="Google Shape;938;p74"/>
          <p:cNvSpPr/>
          <p:nvPr/>
        </p:nvSpPr>
        <p:spPr>
          <a:xfrm flipH="1">
            <a:off x="1675575" y="1462600"/>
            <a:ext cx="1691400" cy="1017600"/>
          </a:xfrm>
          <a:prstGeom prst="rtTriangle">
            <a:avLst/>
          </a:prstGeom>
          <a:solidFill>
            <a:srgbClr val="E6F2F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9" name="Google Shape;939;p74"/>
          <p:cNvSpPr/>
          <p:nvPr/>
        </p:nvSpPr>
        <p:spPr>
          <a:xfrm flipH="1">
            <a:off x="3094950" y="2217400"/>
            <a:ext cx="262800" cy="2628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0" name="Google Shape;940;p74"/>
          <p:cNvSpPr/>
          <p:nvPr/>
        </p:nvSpPr>
        <p:spPr>
          <a:xfrm flipH="1">
            <a:off x="1674025" y="1462600"/>
            <a:ext cx="1691400" cy="1017600"/>
          </a:xfrm>
          <a:prstGeom prst="rtTriangle">
            <a:avLst/>
          </a:prstGeom>
          <a:solidFill>
            <a:srgbClr val="EBEDFE"/>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1" name="Google Shape;941;p74"/>
          <p:cNvSpPr txBox="1"/>
          <p:nvPr/>
        </p:nvSpPr>
        <p:spPr>
          <a:xfrm flipH="1" rot="3024">
            <a:off x="1332175" y="247693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sp>
        <p:nvSpPr>
          <p:cNvPr id="942" name="Google Shape;942;p74"/>
          <p:cNvSpPr txBox="1"/>
          <p:nvPr/>
        </p:nvSpPr>
        <p:spPr>
          <a:xfrm flipH="1" rot="3024">
            <a:off x="3366175" y="145933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sp>
        <p:nvSpPr>
          <p:cNvPr id="943" name="Google Shape;943;p74"/>
          <p:cNvSpPr txBox="1"/>
          <p:nvPr/>
        </p:nvSpPr>
        <p:spPr>
          <a:xfrm>
            <a:off x="4958750" y="13041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5.83 units</a:t>
            </a:r>
            <a:endParaRPr sz="16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75"/>
          <p:cNvSpPr txBox="1"/>
          <p:nvPr/>
        </p:nvSpPr>
        <p:spPr>
          <a:xfrm flipH="1" rot="2146">
            <a:off x="4976100" y="2474967"/>
            <a:ext cx="3843901"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For each unknown side length, we need to construct a right-angled triangle with that side as its hypotenuse.</a:t>
            </a:r>
            <a:endParaRPr sz="1800">
              <a:latin typeface="Lexend"/>
              <a:ea typeface="Lexend"/>
              <a:cs typeface="Lexend"/>
              <a:sym typeface="Lexend"/>
            </a:endParaRPr>
          </a:p>
        </p:txBody>
      </p:sp>
      <p:pic>
        <p:nvPicPr>
          <p:cNvPr id="949" name="Google Shape;949;p75"/>
          <p:cNvPicPr preferRelativeResize="0"/>
          <p:nvPr/>
        </p:nvPicPr>
        <p:blipFill>
          <a:blip r:embed="rId3">
            <a:alphaModFix/>
          </a:blip>
          <a:stretch>
            <a:fillRect/>
          </a:stretch>
        </p:blipFill>
        <p:spPr>
          <a:xfrm>
            <a:off x="324000" y="668250"/>
            <a:ext cx="4248001" cy="4143365"/>
          </a:xfrm>
          <a:prstGeom prst="rect">
            <a:avLst/>
          </a:prstGeom>
          <a:noFill/>
          <a:ln cap="flat" cmpd="sng" w="19050">
            <a:solidFill>
              <a:schemeClr val="dk1"/>
            </a:solidFill>
            <a:prstDash val="solid"/>
            <a:round/>
            <a:headEnd len="sm" w="sm" type="none"/>
            <a:tailEnd len="sm" w="sm" type="none"/>
          </a:ln>
        </p:spPr>
      </p:pic>
      <p:sp>
        <p:nvSpPr>
          <p:cNvPr id="950" name="Google Shape;950;p75"/>
          <p:cNvSpPr txBox="1"/>
          <p:nvPr/>
        </p:nvSpPr>
        <p:spPr>
          <a:xfrm flipH="1" rot="2246">
            <a:off x="4687200" y="640680"/>
            <a:ext cx="41328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Question: calculate the perimeter of this triangle.</a:t>
            </a:r>
            <a:endParaRPr sz="1800">
              <a:latin typeface="Lexend"/>
              <a:ea typeface="Lexend"/>
              <a:cs typeface="Lexend"/>
              <a:sym typeface="Lexend"/>
            </a:endParaRPr>
          </a:p>
        </p:txBody>
      </p:sp>
      <p:sp>
        <p:nvSpPr>
          <p:cNvPr id="951" name="Google Shape;951;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sp>
        <p:nvSpPr>
          <p:cNvPr id="952" name="Google Shape;952;p75"/>
          <p:cNvSpPr/>
          <p:nvPr/>
        </p:nvSpPr>
        <p:spPr>
          <a:xfrm>
            <a:off x="836954" y="3674140"/>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3" name="Google Shape;953;p75"/>
          <p:cNvSpPr/>
          <p:nvPr/>
        </p:nvSpPr>
        <p:spPr>
          <a:xfrm>
            <a:off x="4223362" y="3674140"/>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4" name="Google Shape;954;p75"/>
          <p:cNvSpPr/>
          <p:nvPr/>
        </p:nvSpPr>
        <p:spPr>
          <a:xfrm>
            <a:off x="3208454" y="1981681"/>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5" name="Google Shape;955;p75"/>
          <p:cNvSpPr/>
          <p:nvPr/>
        </p:nvSpPr>
        <p:spPr>
          <a:xfrm>
            <a:off x="998700" y="2141050"/>
            <a:ext cx="3384000" cy="1695300"/>
          </a:xfrm>
          <a:prstGeom prst="triangle">
            <a:avLst>
              <a:gd fmla="val 69815" name="adj"/>
            </a:avLst>
          </a:prstGeom>
          <a:solidFill>
            <a:srgbClr val="EBEDFE"/>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6" name="Google Shape;956;p75"/>
          <p:cNvSpPr txBox="1"/>
          <p:nvPr/>
        </p:nvSpPr>
        <p:spPr>
          <a:xfrm flipH="1" rot="2246">
            <a:off x="4687200" y="1419155"/>
            <a:ext cx="41328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In order to calculate its perimeter, you will need to calculate the length of each side.</a:t>
            </a:r>
            <a:endParaRPr sz="1800">
              <a:latin typeface="Lexend"/>
              <a:ea typeface="Lexend"/>
              <a:cs typeface="Lexend"/>
              <a:sym typeface="Lexend"/>
            </a:endParaRPr>
          </a:p>
        </p:txBody>
      </p:sp>
      <p:grpSp>
        <p:nvGrpSpPr>
          <p:cNvPr id="957" name="Google Shape;957;p75"/>
          <p:cNvGrpSpPr/>
          <p:nvPr/>
        </p:nvGrpSpPr>
        <p:grpSpPr>
          <a:xfrm>
            <a:off x="991690" y="3995579"/>
            <a:ext cx="3383978" cy="275848"/>
            <a:chOff x="1023355" y="2663702"/>
            <a:chExt cx="679500" cy="275848"/>
          </a:xfrm>
        </p:grpSpPr>
        <p:cxnSp>
          <p:nvCxnSpPr>
            <p:cNvPr id="958" name="Google Shape;958;p75"/>
            <p:cNvCxnSpPr/>
            <p:nvPr/>
          </p:nvCxnSpPr>
          <p:spPr>
            <a:xfrm rot="10800000">
              <a:off x="1363105" y="2323952"/>
              <a:ext cx="0" cy="679500"/>
            </a:xfrm>
            <a:prstGeom prst="straightConnector1">
              <a:avLst/>
            </a:prstGeom>
            <a:noFill/>
            <a:ln cap="flat" cmpd="sng" w="28575">
              <a:solidFill>
                <a:schemeClr val="accent3"/>
              </a:solidFill>
              <a:prstDash val="solid"/>
              <a:round/>
              <a:headEnd len="med" w="med" type="triangle"/>
              <a:tailEnd len="med" w="med" type="triangle"/>
            </a:ln>
          </p:spPr>
        </p:cxnSp>
        <p:sp>
          <p:nvSpPr>
            <p:cNvPr id="959" name="Google Shape;959;p75"/>
            <p:cNvSpPr txBox="1"/>
            <p:nvPr/>
          </p:nvSpPr>
          <p:spPr>
            <a:xfrm flipH="1">
              <a:off x="1065502" y="2746950"/>
              <a:ext cx="595200" cy="1926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10 units</a:t>
              </a:r>
              <a:endParaRPr sz="1800">
                <a:latin typeface="Lexend"/>
                <a:ea typeface="Lexend"/>
                <a:cs typeface="Lexend"/>
                <a:sym typeface="Lexend"/>
              </a:endParaRPr>
            </a:p>
          </p:txBody>
        </p:sp>
      </p:grpSp>
      <p:grpSp>
        <p:nvGrpSpPr>
          <p:cNvPr id="960" name="Google Shape;960;p75"/>
          <p:cNvGrpSpPr/>
          <p:nvPr/>
        </p:nvGrpSpPr>
        <p:grpSpPr>
          <a:xfrm rot="8652004">
            <a:off x="531137" y="2606565"/>
            <a:ext cx="2966440" cy="275825"/>
            <a:chOff x="1023355" y="2663702"/>
            <a:chExt cx="679500" cy="275810"/>
          </a:xfrm>
        </p:grpSpPr>
        <p:cxnSp>
          <p:nvCxnSpPr>
            <p:cNvPr id="961" name="Google Shape;961;p75"/>
            <p:cNvCxnSpPr/>
            <p:nvPr/>
          </p:nvCxnSpPr>
          <p:spPr>
            <a:xfrm rot="10800000">
              <a:off x="1363105" y="2323952"/>
              <a:ext cx="0" cy="679500"/>
            </a:xfrm>
            <a:prstGeom prst="straightConnector1">
              <a:avLst/>
            </a:prstGeom>
            <a:noFill/>
            <a:ln cap="flat" cmpd="sng" w="28575">
              <a:solidFill>
                <a:schemeClr val="accent3"/>
              </a:solidFill>
              <a:prstDash val="solid"/>
              <a:round/>
              <a:headEnd len="med" w="med" type="triangle"/>
              <a:tailEnd len="med" w="med" type="triangle"/>
            </a:ln>
          </p:spPr>
        </p:cxnSp>
        <p:sp>
          <p:nvSpPr>
            <p:cNvPr id="962" name="Google Shape;962;p75"/>
            <p:cNvSpPr txBox="1"/>
            <p:nvPr/>
          </p:nvSpPr>
          <p:spPr>
            <a:xfrm flipH="1" rot="10800000">
              <a:off x="1065505" y="2746913"/>
              <a:ext cx="595200" cy="1926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963" name="Google Shape;963;p75"/>
          <p:cNvGrpSpPr/>
          <p:nvPr/>
        </p:nvGrpSpPr>
        <p:grpSpPr>
          <a:xfrm rot="-7271962">
            <a:off x="3150879" y="2706337"/>
            <a:ext cx="1972319" cy="296176"/>
            <a:chOff x="1023355" y="2663702"/>
            <a:chExt cx="679500" cy="296171"/>
          </a:xfrm>
        </p:grpSpPr>
        <p:cxnSp>
          <p:nvCxnSpPr>
            <p:cNvPr id="964" name="Google Shape;964;p75"/>
            <p:cNvCxnSpPr/>
            <p:nvPr/>
          </p:nvCxnSpPr>
          <p:spPr>
            <a:xfrm rot="10800000">
              <a:off x="1363105" y="2323952"/>
              <a:ext cx="0" cy="679500"/>
            </a:xfrm>
            <a:prstGeom prst="straightConnector1">
              <a:avLst/>
            </a:prstGeom>
            <a:noFill/>
            <a:ln cap="flat" cmpd="sng" w="28575">
              <a:solidFill>
                <a:schemeClr val="accent3"/>
              </a:solidFill>
              <a:prstDash val="solid"/>
              <a:round/>
              <a:headEnd len="med" w="med" type="triangle"/>
              <a:tailEnd len="med" w="med" type="triangle"/>
            </a:ln>
          </p:spPr>
        </p:cxnSp>
        <p:sp>
          <p:nvSpPr>
            <p:cNvPr id="965" name="Google Shape;965;p75"/>
            <p:cNvSpPr txBox="1"/>
            <p:nvPr/>
          </p:nvSpPr>
          <p:spPr>
            <a:xfrm flipH="1" rot="10800000">
              <a:off x="1065510" y="2746873"/>
              <a:ext cx="595200" cy="2130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y</a:t>
              </a:r>
              <a:r>
                <a:rPr lang="en-GB" sz="1800">
                  <a:latin typeface="Lexend"/>
                  <a:ea typeface="Lexend"/>
                  <a:cs typeface="Lexend"/>
                  <a:sym typeface="Lexend"/>
                </a:rPr>
                <a:t> units</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8">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76"/>
          <p:cNvSpPr txBox="1"/>
          <p:nvPr/>
        </p:nvSpPr>
        <p:spPr>
          <a:xfrm flipH="1" rot="2167">
            <a:off x="5012100" y="2221288"/>
            <a:ext cx="38079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²  =  74</a:t>
            </a:r>
            <a:endParaRPr sz="1800">
              <a:latin typeface="Lexend"/>
              <a:ea typeface="Lexend"/>
              <a:cs typeface="Lexend"/>
              <a:sym typeface="Lexend"/>
            </a:endParaRPr>
          </a:p>
        </p:txBody>
      </p:sp>
      <p:pic>
        <p:nvPicPr>
          <p:cNvPr id="971" name="Google Shape;971;p76"/>
          <p:cNvPicPr preferRelativeResize="0"/>
          <p:nvPr/>
        </p:nvPicPr>
        <p:blipFill>
          <a:blip r:embed="rId3">
            <a:alphaModFix/>
          </a:blip>
          <a:stretch>
            <a:fillRect/>
          </a:stretch>
        </p:blipFill>
        <p:spPr>
          <a:xfrm>
            <a:off x="324000" y="668250"/>
            <a:ext cx="4248001" cy="4143365"/>
          </a:xfrm>
          <a:prstGeom prst="rect">
            <a:avLst/>
          </a:prstGeom>
          <a:noFill/>
          <a:ln cap="flat" cmpd="sng" w="19050">
            <a:solidFill>
              <a:schemeClr val="dk1"/>
            </a:solidFill>
            <a:prstDash val="solid"/>
            <a:round/>
            <a:headEnd len="sm" w="sm" type="none"/>
            <a:tailEnd len="sm" w="sm" type="none"/>
          </a:ln>
        </p:spPr>
      </p:pic>
      <p:sp>
        <p:nvSpPr>
          <p:cNvPr id="972" name="Google Shape;972;p76"/>
          <p:cNvSpPr txBox="1"/>
          <p:nvPr/>
        </p:nvSpPr>
        <p:spPr>
          <a:xfrm flipH="1" rot="2246">
            <a:off x="4687200" y="640680"/>
            <a:ext cx="41328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Question: calculate the perimeter of this triangle.</a:t>
            </a:r>
            <a:endParaRPr sz="1800">
              <a:latin typeface="Lexend"/>
              <a:ea typeface="Lexend"/>
              <a:cs typeface="Lexend"/>
              <a:sym typeface="Lexend"/>
            </a:endParaRPr>
          </a:p>
        </p:txBody>
      </p:sp>
      <p:sp>
        <p:nvSpPr>
          <p:cNvPr id="973" name="Google Shape;973;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sp>
        <p:nvSpPr>
          <p:cNvPr id="974" name="Google Shape;974;p76"/>
          <p:cNvSpPr/>
          <p:nvPr/>
        </p:nvSpPr>
        <p:spPr>
          <a:xfrm>
            <a:off x="836954" y="3674140"/>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5" name="Google Shape;975;p76"/>
          <p:cNvSpPr/>
          <p:nvPr/>
        </p:nvSpPr>
        <p:spPr>
          <a:xfrm>
            <a:off x="4223362" y="3674140"/>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6" name="Google Shape;976;p76"/>
          <p:cNvSpPr/>
          <p:nvPr/>
        </p:nvSpPr>
        <p:spPr>
          <a:xfrm>
            <a:off x="3208454" y="1981681"/>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7" name="Google Shape;977;p76"/>
          <p:cNvSpPr/>
          <p:nvPr/>
        </p:nvSpPr>
        <p:spPr>
          <a:xfrm>
            <a:off x="998700" y="2141050"/>
            <a:ext cx="3384000" cy="1695300"/>
          </a:xfrm>
          <a:prstGeom prst="triangle">
            <a:avLst>
              <a:gd fmla="val 69815" name="adj"/>
            </a:avLst>
          </a:prstGeom>
          <a:solidFill>
            <a:srgbClr val="EBEDFE"/>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8" name="Google Shape;978;p76"/>
          <p:cNvSpPr txBox="1"/>
          <p:nvPr/>
        </p:nvSpPr>
        <p:spPr>
          <a:xfrm flipH="1" rot="2246">
            <a:off x="4687200" y="1419155"/>
            <a:ext cx="41328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The hypotenuse of triangle A is:</a:t>
            </a:r>
            <a:endParaRPr sz="1800">
              <a:latin typeface="Lexend"/>
              <a:ea typeface="Lexend"/>
              <a:cs typeface="Lexend"/>
              <a:sym typeface="Lexend"/>
            </a:endParaRPr>
          </a:p>
        </p:txBody>
      </p:sp>
      <p:grpSp>
        <p:nvGrpSpPr>
          <p:cNvPr id="979" name="Google Shape;979;p76"/>
          <p:cNvGrpSpPr/>
          <p:nvPr/>
        </p:nvGrpSpPr>
        <p:grpSpPr>
          <a:xfrm>
            <a:off x="991690" y="3995579"/>
            <a:ext cx="3383978" cy="275848"/>
            <a:chOff x="1023355" y="2663702"/>
            <a:chExt cx="679500" cy="275848"/>
          </a:xfrm>
        </p:grpSpPr>
        <p:cxnSp>
          <p:nvCxnSpPr>
            <p:cNvPr id="980" name="Google Shape;980;p76"/>
            <p:cNvCxnSpPr/>
            <p:nvPr/>
          </p:nvCxnSpPr>
          <p:spPr>
            <a:xfrm rot="10800000">
              <a:off x="1363105" y="2323952"/>
              <a:ext cx="0" cy="679500"/>
            </a:xfrm>
            <a:prstGeom prst="straightConnector1">
              <a:avLst/>
            </a:prstGeom>
            <a:noFill/>
            <a:ln cap="flat" cmpd="sng" w="28575">
              <a:solidFill>
                <a:schemeClr val="accent3"/>
              </a:solidFill>
              <a:prstDash val="solid"/>
              <a:round/>
              <a:headEnd len="med" w="med" type="triangle"/>
              <a:tailEnd len="med" w="med" type="triangle"/>
            </a:ln>
          </p:spPr>
        </p:cxnSp>
        <p:sp>
          <p:nvSpPr>
            <p:cNvPr id="981" name="Google Shape;981;p76"/>
            <p:cNvSpPr txBox="1"/>
            <p:nvPr/>
          </p:nvSpPr>
          <p:spPr>
            <a:xfrm flipH="1">
              <a:off x="1065502" y="2746950"/>
              <a:ext cx="595200" cy="1926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10 units</a:t>
              </a:r>
              <a:endParaRPr sz="1800">
                <a:latin typeface="Lexend"/>
                <a:ea typeface="Lexend"/>
                <a:cs typeface="Lexend"/>
                <a:sym typeface="Lexend"/>
              </a:endParaRPr>
            </a:p>
          </p:txBody>
        </p:sp>
      </p:grpSp>
      <p:grpSp>
        <p:nvGrpSpPr>
          <p:cNvPr id="982" name="Google Shape;982;p76"/>
          <p:cNvGrpSpPr/>
          <p:nvPr/>
        </p:nvGrpSpPr>
        <p:grpSpPr>
          <a:xfrm>
            <a:off x="995588" y="2141038"/>
            <a:ext cx="2384200" cy="1703912"/>
            <a:chOff x="995588" y="2141038"/>
            <a:chExt cx="2384200" cy="1703912"/>
          </a:xfrm>
        </p:grpSpPr>
        <p:grpSp>
          <p:nvGrpSpPr>
            <p:cNvPr id="983" name="Google Shape;983;p76"/>
            <p:cNvGrpSpPr/>
            <p:nvPr/>
          </p:nvGrpSpPr>
          <p:grpSpPr>
            <a:xfrm>
              <a:off x="995588" y="2141038"/>
              <a:ext cx="2384200" cy="1703912"/>
              <a:chOff x="991700" y="2141038"/>
              <a:chExt cx="2384200" cy="1703912"/>
            </a:xfrm>
          </p:grpSpPr>
          <p:sp>
            <p:nvSpPr>
              <p:cNvPr id="984" name="Google Shape;984;p76"/>
              <p:cNvSpPr/>
              <p:nvPr/>
            </p:nvSpPr>
            <p:spPr>
              <a:xfrm flipH="1" rot="10800000">
                <a:off x="993300" y="2143650"/>
                <a:ext cx="2382600" cy="1701300"/>
              </a:xfrm>
              <a:prstGeom prst="rtTriangle">
                <a:avLst/>
              </a:prstGeom>
              <a:solidFill>
                <a:srgbClr val="FAEAF6"/>
              </a:solidFill>
              <a:ln cap="flat" cmpd="sng" w="38100">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5" name="Google Shape;985;p76"/>
              <p:cNvSpPr/>
              <p:nvPr/>
            </p:nvSpPr>
            <p:spPr>
              <a:xfrm flipH="1">
                <a:off x="991710" y="2141038"/>
                <a:ext cx="262500" cy="2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6" name="Google Shape;986;p76"/>
              <p:cNvSpPr/>
              <p:nvPr/>
            </p:nvSpPr>
            <p:spPr>
              <a:xfrm flipH="1" rot="10800000">
                <a:off x="991700" y="2143650"/>
                <a:ext cx="2382600" cy="1701300"/>
              </a:xfrm>
              <a:prstGeom prst="rtTriangle">
                <a:avLst/>
              </a:prstGeom>
              <a:noFill/>
              <a:ln cap="flat" cmpd="sng" w="38100">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987" name="Google Shape;987;p76"/>
            <p:cNvSpPr txBox="1"/>
            <p:nvPr/>
          </p:nvSpPr>
          <p:spPr>
            <a:xfrm flipH="1" rot="1842">
              <a:off x="1202975" y="2517607"/>
              <a:ext cx="1119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triangle A</a:t>
              </a:r>
              <a:endParaRPr sz="1800">
                <a:latin typeface="Lexend"/>
                <a:ea typeface="Lexend"/>
                <a:cs typeface="Lexend"/>
                <a:sym typeface="Lexend"/>
              </a:endParaRPr>
            </a:p>
          </p:txBody>
        </p:sp>
      </p:grpSp>
      <p:sp>
        <p:nvSpPr>
          <p:cNvPr id="988" name="Google Shape;988;p76"/>
          <p:cNvSpPr txBox="1"/>
          <p:nvPr/>
        </p:nvSpPr>
        <p:spPr>
          <a:xfrm flipH="1" rot="2167">
            <a:off x="5012100" y="1820288"/>
            <a:ext cx="38079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²  =  5²  +  7²</a:t>
            </a:r>
            <a:endParaRPr sz="1800">
              <a:latin typeface="Lexend"/>
              <a:ea typeface="Lexend"/>
              <a:cs typeface="Lexend"/>
              <a:sym typeface="Lexend"/>
            </a:endParaRPr>
          </a:p>
        </p:txBody>
      </p:sp>
      <p:sp>
        <p:nvSpPr>
          <p:cNvPr id="989" name="Google Shape;989;p76"/>
          <p:cNvSpPr txBox="1"/>
          <p:nvPr/>
        </p:nvSpPr>
        <p:spPr>
          <a:xfrm flipH="1" rot="2167">
            <a:off x="5012100" y="2622288"/>
            <a:ext cx="38079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x</a:t>
            </a:r>
            <a:r>
              <a:rPr lang="en-GB" sz="1800">
                <a:solidFill>
                  <a:schemeClr val="lt1"/>
                </a:solidFill>
                <a:latin typeface="Lexend"/>
                <a:ea typeface="Lexend"/>
                <a:cs typeface="Lexend"/>
                <a:sym typeface="Lexend"/>
              </a:rPr>
              <a:t>²</a:t>
            </a:r>
            <a:r>
              <a:rPr lang="en-GB" sz="1800">
                <a:latin typeface="Lexend"/>
                <a:ea typeface="Lexend"/>
                <a:cs typeface="Lexend"/>
                <a:sym typeface="Lexend"/>
              </a:rPr>
              <a:t>  =  8.60</a:t>
            </a:r>
            <a:endParaRPr sz="1800">
              <a:latin typeface="Lexend"/>
              <a:ea typeface="Lexend"/>
              <a:cs typeface="Lexend"/>
              <a:sym typeface="Lexend"/>
            </a:endParaRPr>
          </a:p>
        </p:txBody>
      </p:sp>
      <p:grpSp>
        <p:nvGrpSpPr>
          <p:cNvPr id="990" name="Google Shape;990;p76"/>
          <p:cNvGrpSpPr/>
          <p:nvPr/>
        </p:nvGrpSpPr>
        <p:grpSpPr>
          <a:xfrm rot="8652004">
            <a:off x="531137" y="2606565"/>
            <a:ext cx="2966440" cy="275825"/>
            <a:chOff x="1023355" y="2663702"/>
            <a:chExt cx="679500" cy="275810"/>
          </a:xfrm>
        </p:grpSpPr>
        <p:cxnSp>
          <p:nvCxnSpPr>
            <p:cNvPr id="991" name="Google Shape;991;p76"/>
            <p:cNvCxnSpPr/>
            <p:nvPr/>
          </p:nvCxnSpPr>
          <p:spPr>
            <a:xfrm rot="10800000">
              <a:off x="1363105" y="2323952"/>
              <a:ext cx="0" cy="679500"/>
            </a:xfrm>
            <a:prstGeom prst="straightConnector1">
              <a:avLst/>
            </a:prstGeom>
            <a:noFill/>
            <a:ln cap="flat" cmpd="sng" w="28575">
              <a:solidFill>
                <a:schemeClr val="accent3"/>
              </a:solidFill>
              <a:prstDash val="solid"/>
              <a:round/>
              <a:headEnd len="med" w="med" type="triangle"/>
              <a:tailEnd len="med" w="med" type="triangle"/>
            </a:ln>
          </p:spPr>
        </p:cxnSp>
        <p:sp>
          <p:nvSpPr>
            <p:cNvPr id="992" name="Google Shape;992;p76"/>
            <p:cNvSpPr txBox="1"/>
            <p:nvPr/>
          </p:nvSpPr>
          <p:spPr>
            <a:xfrm flipH="1" rot="10800000">
              <a:off x="1065505" y="2746913"/>
              <a:ext cx="595200" cy="1926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8.60 units</a:t>
              </a:r>
              <a:endParaRPr sz="1800">
                <a:latin typeface="Lexend"/>
                <a:ea typeface="Lexend"/>
                <a:cs typeface="Lexend"/>
                <a:sym typeface="Lexend"/>
              </a:endParaRPr>
            </a:p>
          </p:txBody>
        </p:sp>
      </p:grpSp>
      <p:grpSp>
        <p:nvGrpSpPr>
          <p:cNvPr id="993" name="Google Shape;993;p76"/>
          <p:cNvGrpSpPr/>
          <p:nvPr/>
        </p:nvGrpSpPr>
        <p:grpSpPr>
          <a:xfrm flipH="1">
            <a:off x="3357675" y="1528922"/>
            <a:ext cx="1117675" cy="2307353"/>
            <a:chOff x="905202" y="1537591"/>
            <a:chExt cx="1117675" cy="2307353"/>
          </a:xfrm>
        </p:grpSpPr>
        <p:grpSp>
          <p:nvGrpSpPr>
            <p:cNvPr id="994" name="Google Shape;994;p76"/>
            <p:cNvGrpSpPr/>
            <p:nvPr/>
          </p:nvGrpSpPr>
          <p:grpSpPr>
            <a:xfrm>
              <a:off x="995597" y="2141038"/>
              <a:ext cx="1027280" cy="1703907"/>
              <a:chOff x="991710" y="2141038"/>
              <a:chExt cx="1027280" cy="1703907"/>
            </a:xfrm>
          </p:grpSpPr>
          <p:sp>
            <p:nvSpPr>
              <p:cNvPr id="995" name="Google Shape;995;p76"/>
              <p:cNvSpPr/>
              <p:nvPr/>
            </p:nvSpPr>
            <p:spPr>
              <a:xfrm flipH="1" rot="10800000">
                <a:off x="993290" y="2143644"/>
                <a:ext cx="1025700" cy="1701300"/>
              </a:xfrm>
              <a:prstGeom prst="rtTriangle">
                <a:avLst/>
              </a:prstGeom>
              <a:solidFill>
                <a:srgbClr val="FAEAF6"/>
              </a:solidFill>
              <a:ln cap="flat" cmpd="sng" w="38100">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6" name="Google Shape;996;p76"/>
              <p:cNvSpPr/>
              <p:nvPr/>
            </p:nvSpPr>
            <p:spPr>
              <a:xfrm flipH="1">
                <a:off x="991710" y="2141038"/>
                <a:ext cx="262500" cy="2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997" name="Google Shape;997;p76"/>
            <p:cNvSpPr txBox="1"/>
            <p:nvPr/>
          </p:nvSpPr>
          <p:spPr>
            <a:xfrm flipH="1" rot="2163">
              <a:off x="905202" y="1537891"/>
              <a:ext cx="953400" cy="554100"/>
            </a:xfrm>
            <a:prstGeom prst="rect">
              <a:avLst/>
            </a:prstGeom>
            <a:solidFill>
              <a:schemeClr val="lt1"/>
            </a:solid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triangle</a:t>
              </a:r>
              <a:endParaRPr sz="1800">
                <a:latin typeface="Lexend"/>
                <a:ea typeface="Lexend"/>
                <a:cs typeface="Lexend"/>
                <a:sym typeface="Lexend"/>
              </a:endParaRPr>
            </a:p>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grpSp>
      <p:sp>
        <p:nvSpPr>
          <p:cNvPr id="998" name="Google Shape;998;p76"/>
          <p:cNvSpPr/>
          <p:nvPr/>
        </p:nvSpPr>
        <p:spPr>
          <a:xfrm rot="10800000">
            <a:off x="3357675" y="2134975"/>
            <a:ext cx="1025700" cy="1701300"/>
          </a:xfrm>
          <a:prstGeom prst="rtTriangle">
            <a:avLst/>
          </a:prstGeom>
          <a:noFill/>
          <a:ln cap="flat" cmpd="sng" w="38100">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9" name="Google Shape;999;p76"/>
          <p:cNvSpPr txBox="1"/>
          <p:nvPr/>
        </p:nvSpPr>
        <p:spPr>
          <a:xfrm flipH="1" rot="2167">
            <a:off x="5012100" y="3935788"/>
            <a:ext cx="38079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y</a:t>
            </a:r>
            <a:r>
              <a:rPr lang="en-GB" sz="1800">
                <a:latin typeface="Lexend"/>
                <a:ea typeface="Lexend"/>
                <a:cs typeface="Lexend"/>
                <a:sym typeface="Lexend"/>
              </a:rPr>
              <a:t>²  =  34</a:t>
            </a:r>
            <a:endParaRPr sz="1800">
              <a:latin typeface="Lexend"/>
              <a:ea typeface="Lexend"/>
              <a:cs typeface="Lexend"/>
              <a:sym typeface="Lexend"/>
            </a:endParaRPr>
          </a:p>
        </p:txBody>
      </p:sp>
      <p:sp>
        <p:nvSpPr>
          <p:cNvPr id="1000" name="Google Shape;1000;p76"/>
          <p:cNvSpPr txBox="1"/>
          <p:nvPr/>
        </p:nvSpPr>
        <p:spPr>
          <a:xfrm flipH="1" rot="2246">
            <a:off x="4687200" y="3133655"/>
            <a:ext cx="41328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The hypotenuse of triangle B is:</a:t>
            </a:r>
            <a:endParaRPr sz="1800">
              <a:latin typeface="Lexend"/>
              <a:ea typeface="Lexend"/>
              <a:cs typeface="Lexend"/>
              <a:sym typeface="Lexend"/>
            </a:endParaRPr>
          </a:p>
        </p:txBody>
      </p:sp>
      <p:sp>
        <p:nvSpPr>
          <p:cNvPr id="1001" name="Google Shape;1001;p76"/>
          <p:cNvSpPr txBox="1"/>
          <p:nvPr/>
        </p:nvSpPr>
        <p:spPr>
          <a:xfrm flipH="1" rot="2167">
            <a:off x="5012100" y="3534788"/>
            <a:ext cx="38079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y</a:t>
            </a:r>
            <a:r>
              <a:rPr lang="en-GB" sz="1800">
                <a:latin typeface="Lexend"/>
                <a:ea typeface="Lexend"/>
                <a:cs typeface="Lexend"/>
                <a:sym typeface="Lexend"/>
              </a:rPr>
              <a:t>²  =  5²  +  3²</a:t>
            </a:r>
            <a:endParaRPr sz="1800">
              <a:latin typeface="Lexend"/>
              <a:ea typeface="Lexend"/>
              <a:cs typeface="Lexend"/>
              <a:sym typeface="Lexend"/>
            </a:endParaRPr>
          </a:p>
        </p:txBody>
      </p:sp>
      <p:sp>
        <p:nvSpPr>
          <p:cNvPr id="1002" name="Google Shape;1002;p76"/>
          <p:cNvSpPr txBox="1"/>
          <p:nvPr/>
        </p:nvSpPr>
        <p:spPr>
          <a:xfrm flipH="1" rot="2167">
            <a:off x="5012100" y="4336788"/>
            <a:ext cx="3807901"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y</a:t>
            </a:r>
            <a:r>
              <a:rPr lang="en-GB" sz="1800">
                <a:solidFill>
                  <a:schemeClr val="lt1"/>
                </a:solidFill>
                <a:latin typeface="Lexend"/>
                <a:ea typeface="Lexend"/>
                <a:cs typeface="Lexend"/>
                <a:sym typeface="Lexend"/>
              </a:rPr>
              <a:t>²</a:t>
            </a:r>
            <a:r>
              <a:rPr lang="en-GB" sz="1800">
                <a:latin typeface="Lexend"/>
                <a:ea typeface="Lexend"/>
                <a:cs typeface="Lexend"/>
                <a:sym typeface="Lexend"/>
              </a:rPr>
              <a:t>  =  5.83</a:t>
            </a:r>
            <a:endParaRPr sz="1800">
              <a:latin typeface="Lexend"/>
              <a:ea typeface="Lexend"/>
              <a:cs typeface="Lexend"/>
              <a:sym typeface="Lexend"/>
            </a:endParaRPr>
          </a:p>
        </p:txBody>
      </p:sp>
      <p:grpSp>
        <p:nvGrpSpPr>
          <p:cNvPr id="1003" name="Google Shape;1003;p76"/>
          <p:cNvGrpSpPr/>
          <p:nvPr/>
        </p:nvGrpSpPr>
        <p:grpSpPr>
          <a:xfrm rot="-7271962">
            <a:off x="3150879" y="2706337"/>
            <a:ext cx="1972319" cy="296176"/>
            <a:chOff x="1023355" y="2663702"/>
            <a:chExt cx="679500" cy="296171"/>
          </a:xfrm>
        </p:grpSpPr>
        <p:cxnSp>
          <p:nvCxnSpPr>
            <p:cNvPr id="1004" name="Google Shape;1004;p76"/>
            <p:cNvCxnSpPr/>
            <p:nvPr/>
          </p:nvCxnSpPr>
          <p:spPr>
            <a:xfrm rot="10800000">
              <a:off x="1363105" y="2323952"/>
              <a:ext cx="0" cy="679500"/>
            </a:xfrm>
            <a:prstGeom prst="straightConnector1">
              <a:avLst/>
            </a:prstGeom>
            <a:noFill/>
            <a:ln cap="flat" cmpd="sng" w="28575">
              <a:solidFill>
                <a:schemeClr val="accent3"/>
              </a:solidFill>
              <a:prstDash val="solid"/>
              <a:round/>
              <a:headEnd len="med" w="med" type="triangle"/>
              <a:tailEnd len="med" w="med" type="triangle"/>
            </a:ln>
          </p:spPr>
        </p:cxnSp>
        <p:sp>
          <p:nvSpPr>
            <p:cNvPr id="1005" name="Google Shape;1005;p76"/>
            <p:cNvSpPr txBox="1"/>
            <p:nvPr/>
          </p:nvSpPr>
          <p:spPr>
            <a:xfrm flipH="1" rot="10800000">
              <a:off x="1065510" y="2746873"/>
              <a:ext cx="595200" cy="2130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5.83 units</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8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9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9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77"/>
          <p:cNvSpPr txBox="1"/>
          <p:nvPr/>
        </p:nvSpPr>
        <p:spPr>
          <a:xfrm flipH="1" rot="2246">
            <a:off x="4687200" y="1342955"/>
            <a:ext cx="4132801" cy="1385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8.60  +  5.83  +  10</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Therefore, the perimeter of this triangle is:</a:t>
            </a:r>
            <a:endParaRPr sz="1800">
              <a:solidFill>
                <a:schemeClr val="dk1"/>
              </a:solidFill>
              <a:latin typeface="Lexend"/>
              <a:ea typeface="Lexend"/>
              <a:cs typeface="Lexend"/>
              <a:sym typeface="Lexend"/>
            </a:endParaRPr>
          </a:p>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24.43 units</a:t>
            </a:r>
            <a:endParaRPr sz="1800">
              <a:latin typeface="Lexend"/>
              <a:ea typeface="Lexend"/>
              <a:cs typeface="Lexend"/>
              <a:sym typeface="Lexend"/>
            </a:endParaRPr>
          </a:p>
        </p:txBody>
      </p:sp>
      <p:pic>
        <p:nvPicPr>
          <p:cNvPr id="1011" name="Google Shape;1011;p77"/>
          <p:cNvPicPr preferRelativeResize="0"/>
          <p:nvPr/>
        </p:nvPicPr>
        <p:blipFill>
          <a:blip r:embed="rId3">
            <a:alphaModFix/>
          </a:blip>
          <a:stretch>
            <a:fillRect/>
          </a:stretch>
        </p:blipFill>
        <p:spPr>
          <a:xfrm>
            <a:off x="324000" y="668250"/>
            <a:ext cx="4248001" cy="4143365"/>
          </a:xfrm>
          <a:prstGeom prst="rect">
            <a:avLst/>
          </a:prstGeom>
          <a:noFill/>
          <a:ln cap="flat" cmpd="sng" w="19050">
            <a:solidFill>
              <a:schemeClr val="dk1"/>
            </a:solidFill>
            <a:prstDash val="solid"/>
            <a:round/>
            <a:headEnd len="sm" w="sm" type="none"/>
            <a:tailEnd len="sm" w="sm" type="none"/>
          </a:ln>
        </p:spPr>
      </p:pic>
      <p:sp>
        <p:nvSpPr>
          <p:cNvPr id="1012" name="Google Shape;1012;p77"/>
          <p:cNvSpPr txBox="1"/>
          <p:nvPr/>
        </p:nvSpPr>
        <p:spPr>
          <a:xfrm flipH="1" rot="2246">
            <a:off x="4687200" y="640680"/>
            <a:ext cx="41328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Question: calculate the perimeter of this triangle.</a:t>
            </a:r>
            <a:endParaRPr sz="1800">
              <a:latin typeface="Lexend"/>
              <a:ea typeface="Lexend"/>
              <a:cs typeface="Lexend"/>
              <a:sym typeface="Lexend"/>
            </a:endParaRPr>
          </a:p>
        </p:txBody>
      </p:sp>
      <p:sp>
        <p:nvSpPr>
          <p:cNvPr id="1013" name="Google Shape;1013;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sp>
        <p:nvSpPr>
          <p:cNvPr id="1014" name="Google Shape;1014;p77"/>
          <p:cNvSpPr/>
          <p:nvPr/>
        </p:nvSpPr>
        <p:spPr>
          <a:xfrm>
            <a:off x="836954" y="3674140"/>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5" name="Google Shape;1015;p77"/>
          <p:cNvSpPr/>
          <p:nvPr/>
        </p:nvSpPr>
        <p:spPr>
          <a:xfrm>
            <a:off x="4223362" y="3674140"/>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6" name="Google Shape;1016;p77"/>
          <p:cNvSpPr/>
          <p:nvPr/>
        </p:nvSpPr>
        <p:spPr>
          <a:xfrm>
            <a:off x="3208454" y="1981681"/>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7" name="Google Shape;1017;p77"/>
          <p:cNvSpPr/>
          <p:nvPr/>
        </p:nvSpPr>
        <p:spPr>
          <a:xfrm>
            <a:off x="998700" y="2141050"/>
            <a:ext cx="3384000" cy="1695300"/>
          </a:xfrm>
          <a:prstGeom prst="triangle">
            <a:avLst>
              <a:gd fmla="val 69815" name="adj"/>
            </a:avLst>
          </a:prstGeom>
          <a:solidFill>
            <a:srgbClr val="EBEDFE"/>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018" name="Google Shape;1018;p77"/>
          <p:cNvGrpSpPr/>
          <p:nvPr/>
        </p:nvGrpSpPr>
        <p:grpSpPr>
          <a:xfrm>
            <a:off x="991690" y="3995579"/>
            <a:ext cx="3383978" cy="275848"/>
            <a:chOff x="1023355" y="2663702"/>
            <a:chExt cx="679500" cy="275848"/>
          </a:xfrm>
        </p:grpSpPr>
        <p:cxnSp>
          <p:nvCxnSpPr>
            <p:cNvPr id="1019" name="Google Shape;1019;p77"/>
            <p:cNvCxnSpPr/>
            <p:nvPr/>
          </p:nvCxnSpPr>
          <p:spPr>
            <a:xfrm rot="10800000">
              <a:off x="1363105" y="2323952"/>
              <a:ext cx="0" cy="679500"/>
            </a:xfrm>
            <a:prstGeom prst="straightConnector1">
              <a:avLst/>
            </a:prstGeom>
            <a:noFill/>
            <a:ln cap="flat" cmpd="sng" w="28575">
              <a:solidFill>
                <a:schemeClr val="accent3"/>
              </a:solidFill>
              <a:prstDash val="solid"/>
              <a:round/>
              <a:headEnd len="med" w="med" type="triangle"/>
              <a:tailEnd len="med" w="med" type="triangle"/>
            </a:ln>
          </p:spPr>
        </p:cxnSp>
        <p:sp>
          <p:nvSpPr>
            <p:cNvPr id="1020" name="Google Shape;1020;p77"/>
            <p:cNvSpPr txBox="1"/>
            <p:nvPr/>
          </p:nvSpPr>
          <p:spPr>
            <a:xfrm flipH="1">
              <a:off x="1065502" y="2746950"/>
              <a:ext cx="595200" cy="1926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10 units</a:t>
              </a:r>
              <a:endParaRPr sz="1800">
                <a:latin typeface="Lexend"/>
                <a:ea typeface="Lexend"/>
                <a:cs typeface="Lexend"/>
                <a:sym typeface="Lexend"/>
              </a:endParaRPr>
            </a:p>
          </p:txBody>
        </p:sp>
      </p:grpSp>
      <p:grpSp>
        <p:nvGrpSpPr>
          <p:cNvPr id="1021" name="Google Shape;1021;p77"/>
          <p:cNvGrpSpPr/>
          <p:nvPr/>
        </p:nvGrpSpPr>
        <p:grpSpPr>
          <a:xfrm rot="8652004">
            <a:off x="531137" y="2606565"/>
            <a:ext cx="2966440" cy="275825"/>
            <a:chOff x="1023355" y="2663702"/>
            <a:chExt cx="679500" cy="275810"/>
          </a:xfrm>
        </p:grpSpPr>
        <p:cxnSp>
          <p:nvCxnSpPr>
            <p:cNvPr id="1022" name="Google Shape;1022;p77"/>
            <p:cNvCxnSpPr/>
            <p:nvPr/>
          </p:nvCxnSpPr>
          <p:spPr>
            <a:xfrm rot="10800000">
              <a:off x="1363105" y="2323952"/>
              <a:ext cx="0" cy="679500"/>
            </a:xfrm>
            <a:prstGeom prst="straightConnector1">
              <a:avLst/>
            </a:prstGeom>
            <a:noFill/>
            <a:ln cap="flat" cmpd="sng" w="28575">
              <a:solidFill>
                <a:schemeClr val="accent3"/>
              </a:solidFill>
              <a:prstDash val="solid"/>
              <a:round/>
              <a:headEnd len="med" w="med" type="triangle"/>
              <a:tailEnd len="med" w="med" type="triangle"/>
            </a:ln>
          </p:spPr>
        </p:cxnSp>
        <p:sp>
          <p:nvSpPr>
            <p:cNvPr id="1023" name="Google Shape;1023;p77"/>
            <p:cNvSpPr txBox="1"/>
            <p:nvPr/>
          </p:nvSpPr>
          <p:spPr>
            <a:xfrm flipH="1" rot="10800000">
              <a:off x="1065505" y="2746913"/>
              <a:ext cx="595200" cy="1926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8.60 units</a:t>
              </a:r>
              <a:endParaRPr sz="1800">
                <a:latin typeface="Lexend"/>
                <a:ea typeface="Lexend"/>
                <a:cs typeface="Lexend"/>
                <a:sym typeface="Lexend"/>
              </a:endParaRPr>
            </a:p>
          </p:txBody>
        </p:sp>
      </p:grpSp>
      <p:grpSp>
        <p:nvGrpSpPr>
          <p:cNvPr id="1024" name="Google Shape;1024;p77"/>
          <p:cNvGrpSpPr/>
          <p:nvPr/>
        </p:nvGrpSpPr>
        <p:grpSpPr>
          <a:xfrm rot="-7271962">
            <a:off x="3150879" y="2706337"/>
            <a:ext cx="1972319" cy="296176"/>
            <a:chOff x="1023355" y="2663702"/>
            <a:chExt cx="679500" cy="296171"/>
          </a:xfrm>
        </p:grpSpPr>
        <p:cxnSp>
          <p:nvCxnSpPr>
            <p:cNvPr id="1025" name="Google Shape;1025;p77"/>
            <p:cNvCxnSpPr/>
            <p:nvPr/>
          </p:nvCxnSpPr>
          <p:spPr>
            <a:xfrm rot="10800000">
              <a:off x="1363105" y="2323952"/>
              <a:ext cx="0" cy="679500"/>
            </a:xfrm>
            <a:prstGeom prst="straightConnector1">
              <a:avLst/>
            </a:prstGeom>
            <a:noFill/>
            <a:ln cap="flat" cmpd="sng" w="28575">
              <a:solidFill>
                <a:schemeClr val="accent3"/>
              </a:solidFill>
              <a:prstDash val="solid"/>
              <a:round/>
              <a:headEnd len="med" w="med" type="triangle"/>
              <a:tailEnd len="med" w="med" type="triangle"/>
            </a:ln>
          </p:spPr>
        </p:cxnSp>
        <p:sp>
          <p:nvSpPr>
            <p:cNvPr id="1026" name="Google Shape;1026;p77"/>
            <p:cNvSpPr txBox="1"/>
            <p:nvPr/>
          </p:nvSpPr>
          <p:spPr>
            <a:xfrm flipH="1" rot="10800000">
              <a:off x="1065510" y="2746873"/>
              <a:ext cx="595200" cy="2130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5.83 units</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pic>
        <p:nvPicPr>
          <p:cNvPr id="1031" name="Google Shape;1031;p78"/>
          <p:cNvPicPr preferRelativeResize="0"/>
          <p:nvPr/>
        </p:nvPicPr>
        <p:blipFill>
          <a:blip r:embed="rId3">
            <a:alphaModFix/>
          </a:blip>
          <a:stretch>
            <a:fillRect/>
          </a:stretch>
        </p:blipFill>
        <p:spPr>
          <a:xfrm>
            <a:off x="324000" y="668250"/>
            <a:ext cx="4248001" cy="4143365"/>
          </a:xfrm>
          <a:prstGeom prst="rect">
            <a:avLst/>
          </a:prstGeom>
          <a:noFill/>
          <a:ln cap="flat" cmpd="sng" w="19050">
            <a:solidFill>
              <a:schemeClr val="dk1"/>
            </a:solidFill>
            <a:prstDash val="solid"/>
            <a:round/>
            <a:headEnd len="sm" w="sm" type="none"/>
            <a:tailEnd len="sm" w="sm" type="none"/>
          </a:ln>
        </p:spPr>
      </p:pic>
      <p:grpSp>
        <p:nvGrpSpPr>
          <p:cNvPr id="1032" name="Google Shape;1032;p78"/>
          <p:cNvGrpSpPr/>
          <p:nvPr/>
        </p:nvGrpSpPr>
        <p:grpSpPr>
          <a:xfrm>
            <a:off x="997197" y="1458438"/>
            <a:ext cx="2025901" cy="2386512"/>
            <a:chOff x="997197" y="1458438"/>
            <a:chExt cx="2025901" cy="2386512"/>
          </a:xfrm>
        </p:grpSpPr>
        <p:sp>
          <p:nvSpPr>
            <p:cNvPr id="1033" name="Google Shape;1033;p78"/>
            <p:cNvSpPr/>
            <p:nvPr/>
          </p:nvSpPr>
          <p:spPr>
            <a:xfrm flipH="1" rot="10800000">
              <a:off x="997198" y="1458450"/>
              <a:ext cx="2025900" cy="2386500"/>
            </a:xfrm>
            <a:prstGeom prst="rtTriangle">
              <a:avLst/>
            </a:prstGeom>
            <a:solidFill>
              <a:srgbClr val="FAEAF6"/>
            </a:solidFill>
            <a:ln cap="flat" cmpd="sng" w="38100">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4" name="Google Shape;1034;p78"/>
            <p:cNvSpPr/>
            <p:nvPr/>
          </p:nvSpPr>
          <p:spPr>
            <a:xfrm flipH="1">
              <a:off x="997197" y="1458438"/>
              <a:ext cx="262500" cy="2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5" name="Google Shape;1035;p78"/>
            <p:cNvSpPr/>
            <p:nvPr/>
          </p:nvSpPr>
          <p:spPr>
            <a:xfrm flipH="1" rot="10800000">
              <a:off x="997198" y="1458450"/>
              <a:ext cx="2025900" cy="2386500"/>
            </a:xfrm>
            <a:prstGeom prst="rtTriangle">
              <a:avLst/>
            </a:prstGeom>
            <a:noFill/>
            <a:ln cap="flat" cmpd="sng" w="38100">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036" name="Google Shape;1036;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sp>
        <p:nvSpPr>
          <p:cNvPr id="1037" name="Google Shape;1037;p78"/>
          <p:cNvSpPr txBox="1"/>
          <p:nvPr/>
        </p:nvSpPr>
        <p:spPr>
          <a:xfrm flipH="1" rot="2246">
            <a:off x="4687200" y="640680"/>
            <a:ext cx="41328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Which of these is a suitable equation to calculate the hypotenuse of triangle A?</a:t>
            </a:r>
            <a:endParaRPr sz="1800">
              <a:latin typeface="Lexend"/>
              <a:ea typeface="Lexend"/>
              <a:cs typeface="Lexend"/>
              <a:sym typeface="Lexend"/>
            </a:endParaRPr>
          </a:p>
        </p:txBody>
      </p:sp>
      <p:sp>
        <p:nvSpPr>
          <p:cNvPr id="1038" name="Google Shape;1038;p78"/>
          <p:cNvSpPr/>
          <p:nvPr/>
        </p:nvSpPr>
        <p:spPr>
          <a:xfrm>
            <a:off x="836954" y="3674140"/>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39" name="Google Shape;1039;p78"/>
          <p:cNvSpPr/>
          <p:nvPr/>
        </p:nvSpPr>
        <p:spPr>
          <a:xfrm>
            <a:off x="3209161" y="3674140"/>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0" name="Google Shape;1040;p78"/>
          <p:cNvSpPr/>
          <p:nvPr/>
        </p:nvSpPr>
        <p:spPr>
          <a:xfrm>
            <a:off x="2869449" y="1304106"/>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1" name="Google Shape;1041;p78"/>
          <p:cNvSpPr txBox="1"/>
          <p:nvPr/>
        </p:nvSpPr>
        <p:spPr>
          <a:xfrm flipH="1" rot="1842">
            <a:off x="1202975" y="1831807"/>
            <a:ext cx="1119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triangle A</a:t>
            </a:r>
            <a:endParaRPr sz="1800">
              <a:latin typeface="Lexend"/>
              <a:ea typeface="Lexend"/>
              <a:cs typeface="Lexend"/>
              <a:sym typeface="Lexend"/>
            </a:endParaRPr>
          </a:p>
        </p:txBody>
      </p:sp>
      <p:sp>
        <p:nvSpPr>
          <p:cNvPr id="1042" name="Google Shape;1042;p78"/>
          <p:cNvSpPr/>
          <p:nvPr/>
        </p:nvSpPr>
        <p:spPr>
          <a:xfrm>
            <a:off x="998700" y="1464700"/>
            <a:ext cx="2365800" cy="2371500"/>
          </a:xfrm>
          <a:prstGeom prst="triangle">
            <a:avLst>
              <a:gd fmla="val 85519" name="adj"/>
            </a:avLst>
          </a:prstGeom>
          <a:solidFill>
            <a:srgbClr val="EBEDFE"/>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043" name="Google Shape;1043;p78"/>
          <p:cNvGrpSpPr/>
          <p:nvPr/>
        </p:nvGrpSpPr>
        <p:grpSpPr>
          <a:xfrm>
            <a:off x="5033128" y="1745934"/>
            <a:ext cx="285339" cy="285338"/>
            <a:chOff x="5033128" y="1745934"/>
            <a:chExt cx="285339" cy="285338"/>
          </a:xfrm>
        </p:grpSpPr>
        <p:pic>
          <p:nvPicPr>
            <p:cNvPr id="1044" name="Google Shape;1044;p78"/>
            <p:cNvPicPr preferRelativeResize="0"/>
            <p:nvPr/>
          </p:nvPicPr>
          <p:blipFill>
            <a:blip r:embed="rId4">
              <a:alphaModFix/>
            </a:blip>
            <a:stretch>
              <a:fillRect/>
            </a:stretch>
          </p:blipFill>
          <p:spPr>
            <a:xfrm flipH="1">
              <a:off x="5033128" y="1745934"/>
              <a:ext cx="285339" cy="285338"/>
            </a:xfrm>
            <a:prstGeom prst="rect">
              <a:avLst/>
            </a:prstGeom>
            <a:noFill/>
            <a:ln>
              <a:noFill/>
            </a:ln>
          </p:spPr>
        </p:pic>
        <p:sp>
          <p:nvSpPr>
            <p:cNvPr id="1045" name="Google Shape;1045;p78"/>
            <p:cNvSpPr txBox="1"/>
            <p:nvPr/>
          </p:nvSpPr>
          <p:spPr>
            <a:xfrm flipH="1">
              <a:off x="5048406" y="1798553"/>
              <a:ext cx="254700" cy="17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pic>
        <p:nvPicPr>
          <p:cNvPr id="1046" name="Google Shape;1046;p78"/>
          <p:cNvPicPr preferRelativeResize="0"/>
          <p:nvPr/>
        </p:nvPicPr>
        <p:blipFill>
          <a:blip r:embed="rId4">
            <a:alphaModFix/>
          </a:blip>
          <a:stretch>
            <a:fillRect/>
          </a:stretch>
        </p:blipFill>
        <p:spPr>
          <a:xfrm flipH="1">
            <a:off x="5033128" y="2361759"/>
            <a:ext cx="285339" cy="285338"/>
          </a:xfrm>
          <a:prstGeom prst="rect">
            <a:avLst/>
          </a:prstGeom>
          <a:noFill/>
          <a:ln>
            <a:noFill/>
          </a:ln>
        </p:spPr>
      </p:pic>
      <p:sp>
        <p:nvSpPr>
          <p:cNvPr id="1047" name="Google Shape;1047;p78"/>
          <p:cNvSpPr txBox="1"/>
          <p:nvPr/>
        </p:nvSpPr>
        <p:spPr>
          <a:xfrm flipH="1" rot="2036">
            <a:off x="5397300" y="1749847"/>
            <a:ext cx="2025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²  =  7²  +  9²</a:t>
            </a:r>
            <a:endParaRPr sz="1800">
              <a:latin typeface="Lexend"/>
              <a:ea typeface="Lexend"/>
              <a:cs typeface="Lexend"/>
              <a:sym typeface="Lexend"/>
            </a:endParaRPr>
          </a:p>
        </p:txBody>
      </p:sp>
      <p:sp>
        <p:nvSpPr>
          <p:cNvPr id="1048" name="Google Shape;1048;p78"/>
          <p:cNvSpPr txBox="1"/>
          <p:nvPr/>
        </p:nvSpPr>
        <p:spPr>
          <a:xfrm flipH="1">
            <a:off x="5048406" y="2414378"/>
            <a:ext cx="254700" cy="17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sp>
        <p:nvSpPr>
          <p:cNvPr id="1049" name="Google Shape;1049;p78"/>
          <p:cNvSpPr txBox="1"/>
          <p:nvPr/>
        </p:nvSpPr>
        <p:spPr>
          <a:xfrm flipH="1" rot="2036">
            <a:off x="5397300" y="2365672"/>
            <a:ext cx="2025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²  =  1²  +  9²</a:t>
            </a:r>
            <a:endParaRPr sz="1800">
              <a:latin typeface="Lexend"/>
              <a:ea typeface="Lexend"/>
              <a:cs typeface="Lexend"/>
              <a:sym typeface="Lexend"/>
            </a:endParaRPr>
          </a:p>
        </p:txBody>
      </p:sp>
      <p:pic>
        <p:nvPicPr>
          <p:cNvPr id="1050" name="Google Shape;1050;p78"/>
          <p:cNvPicPr preferRelativeResize="0"/>
          <p:nvPr/>
        </p:nvPicPr>
        <p:blipFill>
          <a:blip r:embed="rId4">
            <a:alphaModFix/>
          </a:blip>
          <a:stretch>
            <a:fillRect/>
          </a:stretch>
        </p:blipFill>
        <p:spPr>
          <a:xfrm flipH="1">
            <a:off x="5033128" y="2977584"/>
            <a:ext cx="285339" cy="285338"/>
          </a:xfrm>
          <a:prstGeom prst="rect">
            <a:avLst/>
          </a:prstGeom>
          <a:noFill/>
          <a:ln>
            <a:noFill/>
          </a:ln>
        </p:spPr>
      </p:pic>
      <p:sp>
        <p:nvSpPr>
          <p:cNvPr id="1051" name="Google Shape;1051;p78"/>
          <p:cNvSpPr txBox="1"/>
          <p:nvPr/>
        </p:nvSpPr>
        <p:spPr>
          <a:xfrm flipH="1" rot="2036">
            <a:off x="5397300" y="2981497"/>
            <a:ext cx="2025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²  =  6²  +  7²</a:t>
            </a:r>
            <a:endParaRPr sz="1800">
              <a:latin typeface="Lexend"/>
              <a:ea typeface="Lexend"/>
              <a:cs typeface="Lexend"/>
              <a:sym typeface="Lexend"/>
            </a:endParaRPr>
          </a:p>
        </p:txBody>
      </p:sp>
      <p:sp>
        <p:nvSpPr>
          <p:cNvPr id="1052" name="Google Shape;1052;p78"/>
          <p:cNvSpPr txBox="1"/>
          <p:nvPr/>
        </p:nvSpPr>
        <p:spPr>
          <a:xfrm flipH="1">
            <a:off x="5048406" y="3030203"/>
            <a:ext cx="254700" cy="17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pic>
        <p:nvPicPr>
          <p:cNvPr id="1053" name="Google Shape;1053;p78"/>
          <p:cNvPicPr preferRelativeResize="0"/>
          <p:nvPr/>
        </p:nvPicPr>
        <p:blipFill>
          <a:blip r:embed="rId4">
            <a:alphaModFix/>
          </a:blip>
          <a:stretch>
            <a:fillRect/>
          </a:stretch>
        </p:blipFill>
        <p:spPr>
          <a:xfrm flipH="1">
            <a:off x="5033128" y="3593409"/>
            <a:ext cx="285339" cy="285339"/>
          </a:xfrm>
          <a:prstGeom prst="rect">
            <a:avLst/>
          </a:prstGeom>
          <a:noFill/>
          <a:ln>
            <a:noFill/>
          </a:ln>
        </p:spPr>
      </p:pic>
      <p:sp>
        <p:nvSpPr>
          <p:cNvPr id="1054" name="Google Shape;1054;p78"/>
          <p:cNvSpPr txBox="1"/>
          <p:nvPr/>
        </p:nvSpPr>
        <p:spPr>
          <a:xfrm flipH="1">
            <a:off x="5048406" y="3646028"/>
            <a:ext cx="254700" cy="17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sp>
        <p:nvSpPr>
          <p:cNvPr id="1055" name="Google Shape;1055;p78"/>
          <p:cNvSpPr txBox="1"/>
          <p:nvPr/>
        </p:nvSpPr>
        <p:spPr>
          <a:xfrm flipH="1" rot="2036">
            <a:off x="5397300" y="3597322"/>
            <a:ext cx="2025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d</a:t>
            </a:r>
            <a:r>
              <a:rPr lang="en-GB" sz="1800">
                <a:latin typeface="Lexend"/>
                <a:ea typeface="Lexend"/>
                <a:cs typeface="Lexend"/>
                <a:sym typeface="Lexend"/>
              </a:rPr>
              <a:t>²  =  1²  +  2²</a:t>
            </a:r>
            <a:endParaRPr sz="1800">
              <a:latin typeface="Lexend"/>
              <a:ea typeface="Lexend"/>
              <a:cs typeface="Lexend"/>
              <a:sym typeface="Lexend"/>
            </a:endParaRPr>
          </a:p>
        </p:txBody>
      </p:sp>
      <p:pic>
        <p:nvPicPr>
          <p:cNvPr id="1056" name="Google Shape;1056;p78"/>
          <p:cNvPicPr preferRelativeResize="0"/>
          <p:nvPr/>
        </p:nvPicPr>
        <p:blipFill>
          <a:blip r:embed="rId5">
            <a:alphaModFix/>
          </a:blip>
          <a:stretch>
            <a:fillRect/>
          </a:stretch>
        </p:blipFill>
        <p:spPr>
          <a:xfrm>
            <a:off x="6852008" y="29809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0" name="Shape 1060"/>
        <p:cNvGrpSpPr/>
        <p:nvPr/>
      </p:nvGrpSpPr>
      <p:grpSpPr>
        <a:xfrm>
          <a:off x="0" y="0"/>
          <a:ext cx="0" cy="0"/>
          <a:chOff x="0" y="0"/>
          <a:chExt cx="0" cy="0"/>
        </a:xfrm>
      </p:grpSpPr>
      <p:pic>
        <p:nvPicPr>
          <p:cNvPr id="1061" name="Google Shape;1061;p79"/>
          <p:cNvPicPr preferRelativeResize="0"/>
          <p:nvPr/>
        </p:nvPicPr>
        <p:blipFill>
          <a:blip r:embed="rId3">
            <a:alphaModFix/>
          </a:blip>
          <a:stretch>
            <a:fillRect/>
          </a:stretch>
        </p:blipFill>
        <p:spPr>
          <a:xfrm>
            <a:off x="324000" y="668250"/>
            <a:ext cx="4248001" cy="4143365"/>
          </a:xfrm>
          <a:prstGeom prst="rect">
            <a:avLst/>
          </a:prstGeom>
          <a:noFill/>
          <a:ln cap="flat" cmpd="sng" w="19050">
            <a:solidFill>
              <a:schemeClr val="dk1"/>
            </a:solidFill>
            <a:prstDash val="solid"/>
            <a:round/>
            <a:headEnd len="sm" w="sm" type="none"/>
            <a:tailEnd len="sm" w="sm" type="none"/>
          </a:ln>
        </p:spPr>
      </p:pic>
      <p:grpSp>
        <p:nvGrpSpPr>
          <p:cNvPr id="1062" name="Google Shape;1062;p79"/>
          <p:cNvGrpSpPr/>
          <p:nvPr/>
        </p:nvGrpSpPr>
        <p:grpSpPr>
          <a:xfrm>
            <a:off x="997197" y="1458438"/>
            <a:ext cx="2025901" cy="2386512"/>
            <a:chOff x="997197" y="1458438"/>
            <a:chExt cx="2025901" cy="2386512"/>
          </a:xfrm>
        </p:grpSpPr>
        <p:sp>
          <p:nvSpPr>
            <p:cNvPr id="1063" name="Google Shape;1063;p79"/>
            <p:cNvSpPr/>
            <p:nvPr/>
          </p:nvSpPr>
          <p:spPr>
            <a:xfrm flipH="1" rot="10800000">
              <a:off x="997198" y="1458450"/>
              <a:ext cx="2025900" cy="2386500"/>
            </a:xfrm>
            <a:prstGeom prst="rtTriangle">
              <a:avLst/>
            </a:prstGeom>
            <a:solidFill>
              <a:srgbClr val="FAEAF6"/>
            </a:solidFill>
            <a:ln cap="flat" cmpd="sng" w="38100">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4" name="Google Shape;1064;p79"/>
            <p:cNvSpPr/>
            <p:nvPr/>
          </p:nvSpPr>
          <p:spPr>
            <a:xfrm flipH="1">
              <a:off x="997197" y="1458438"/>
              <a:ext cx="262500" cy="262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5" name="Google Shape;1065;p79"/>
            <p:cNvSpPr/>
            <p:nvPr/>
          </p:nvSpPr>
          <p:spPr>
            <a:xfrm flipH="1" rot="10800000">
              <a:off x="997198" y="1458450"/>
              <a:ext cx="2025900" cy="2386500"/>
            </a:xfrm>
            <a:prstGeom prst="rtTriangle">
              <a:avLst/>
            </a:prstGeom>
            <a:noFill/>
            <a:ln cap="flat" cmpd="sng" w="38100">
              <a:solidFill>
                <a:schemeClr val="accent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066" name="Google Shape;1066;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sp>
        <p:nvSpPr>
          <p:cNvPr id="1067" name="Google Shape;1067;p79"/>
          <p:cNvSpPr txBox="1"/>
          <p:nvPr/>
        </p:nvSpPr>
        <p:spPr>
          <a:xfrm flipH="1" rot="2246">
            <a:off x="4687200" y="640680"/>
            <a:ext cx="4132801"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Calculate the length of the side labelled with an </a:t>
            </a:r>
            <a:r>
              <a:rPr i="1" lang="en-GB" sz="2200">
                <a:latin typeface="Times New Roman"/>
                <a:ea typeface="Times New Roman"/>
                <a:cs typeface="Times New Roman"/>
                <a:sym typeface="Times New Roman"/>
              </a:rPr>
              <a:t>e</a:t>
            </a:r>
            <a:r>
              <a:rPr lang="en-GB" sz="1800">
                <a:latin typeface="Lexend"/>
                <a:ea typeface="Lexend"/>
                <a:cs typeface="Lexend"/>
                <a:sym typeface="Lexend"/>
              </a:rPr>
              <a:t>, to 2 d.p.</a:t>
            </a:r>
            <a:endParaRPr sz="1800">
              <a:latin typeface="Lexend"/>
              <a:ea typeface="Lexend"/>
              <a:cs typeface="Lexend"/>
              <a:sym typeface="Lexend"/>
            </a:endParaRPr>
          </a:p>
        </p:txBody>
      </p:sp>
      <p:sp>
        <p:nvSpPr>
          <p:cNvPr id="1068" name="Google Shape;1068;p79"/>
          <p:cNvSpPr/>
          <p:nvPr/>
        </p:nvSpPr>
        <p:spPr>
          <a:xfrm>
            <a:off x="836954" y="3674140"/>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9" name="Google Shape;1069;p79"/>
          <p:cNvSpPr/>
          <p:nvPr/>
        </p:nvSpPr>
        <p:spPr>
          <a:xfrm>
            <a:off x="3209161" y="3674140"/>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0" name="Google Shape;1070;p79"/>
          <p:cNvSpPr/>
          <p:nvPr/>
        </p:nvSpPr>
        <p:spPr>
          <a:xfrm>
            <a:off x="2869449" y="1304106"/>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1" name="Google Shape;1071;p79"/>
          <p:cNvSpPr txBox="1"/>
          <p:nvPr/>
        </p:nvSpPr>
        <p:spPr>
          <a:xfrm flipH="1" rot="1842">
            <a:off x="1202975" y="1831807"/>
            <a:ext cx="1119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triangle A</a:t>
            </a:r>
            <a:endParaRPr sz="1800">
              <a:latin typeface="Lexend"/>
              <a:ea typeface="Lexend"/>
              <a:cs typeface="Lexend"/>
              <a:sym typeface="Lexend"/>
            </a:endParaRPr>
          </a:p>
        </p:txBody>
      </p:sp>
      <p:sp>
        <p:nvSpPr>
          <p:cNvPr id="1072" name="Google Shape;1072;p79"/>
          <p:cNvSpPr/>
          <p:nvPr/>
        </p:nvSpPr>
        <p:spPr>
          <a:xfrm>
            <a:off x="998700" y="1464700"/>
            <a:ext cx="2365800" cy="2371500"/>
          </a:xfrm>
          <a:prstGeom prst="triangle">
            <a:avLst>
              <a:gd fmla="val 85519" name="adj"/>
            </a:avLst>
          </a:prstGeom>
          <a:solidFill>
            <a:srgbClr val="EBEDFE"/>
          </a:solid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73" name="Google Shape;1073;p79"/>
          <p:cNvCxnSpPr/>
          <p:nvPr/>
        </p:nvCxnSpPr>
        <p:spPr>
          <a:xfrm rot="10800000">
            <a:off x="3195114" y="1466145"/>
            <a:ext cx="339600" cy="2370000"/>
          </a:xfrm>
          <a:prstGeom prst="straightConnector1">
            <a:avLst/>
          </a:prstGeom>
          <a:noFill/>
          <a:ln cap="flat" cmpd="sng" w="28575">
            <a:solidFill>
              <a:schemeClr val="accent3"/>
            </a:solidFill>
            <a:prstDash val="solid"/>
            <a:round/>
            <a:headEnd len="med" w="med" type="triangle"/>
            <a:tailEnd len="med" w="med" type="triangle"/>
          </a:ln>
        </p:spPr>
      </p:cxnSp>
      <p:sp>
        <p:nvSpPr>
          <p:cNvPr id="1074" name="Google Shape;1074;p79"/>
          <p:cNvSpPr txBox="1"/>
          <p:nvPr/>
        </p:nvSpPr>
        <p:spPr>
          <a:xfrm flipH="1" rot="-1305">
            <a:off x="3446500" y="2519850"/>
            <a:ext cx="790200" cy="2130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e</a:t>
            </a:r>
            <a:r>
              <a:rPr lang="en-GB" sz="1800">
                <a:latin typeface="Lexend"/>
                <a:ea typeface="Lexend"/>
                <a:cs typeface="Lexend"/>
                <a:sym typeface="Lexend"/>
              </a:rPr>
              <a:t> units</a:t>
            </a:r>
            <a:endParaRPr sz="1800">
              <a:latin typeface="Lexend"/>
              <a:ea typeface="Lexend"/>
              <a:cs typeface="Lexend"/>
              <a:sym typeface="Lexend"/>
            </a:endParaRPr>
          </a:p>
        </p:txBody>
      </p:sp>
      <p:sp>
        <p:nvSpPr>
          <p:cNvPr id="1075" name="Google Shape;1075;p79"/>
          <p:cNvSpPr txBox="1"/>
          <p:nvPr/>
        </p:nvSpPr>
        <p:spPr>
          <a:xfrm flipH="1" rot="2246">
            <a:off x="4687200" y="1342955"/>
            <a:ext cx="4132801"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2000">
                <a:latin typeface="Kalam"/>
                <a:ea typeface="Kalam"/>
                <a:cs typeface="Kalam"/>
                <a:sym typeface="Kalam"/>
              </a:rPr>
              <a:t>7.07 units</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8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pic>
        <p:nvPicPr>
          <p:cNvPr id="1081" name="Google Shape;1081;p80"/>
          <p:cNvPicPr preferRelativeResize="0"/>
          <p:nvPr/>
        </p:nvPicPr>
        <p:blipFill>
          <a:blip r:embed="rId3">
            <a:alphaModFix/>
          </a:blip>
          <a:stretch>
            <a:fillRect/>
          </a:stretch>
        </p:blipFill>
        <p:spPr>
          <a:xfrm>
            <a:off x="324000" y="648725"/>
            <a:ext cx="4273174" cy="4171674"/>
          </a:xfrm>
          <a:prstGeom prst="rect">
            <a:avLst/>
          </a:prstGeom>
          <a:noFill/>
          <a:ln cap="flat" cmpd="sng" w="19050">
            <a:solidFill>
              <a:schemeClr val="dk1"/>
            </a:solidFill>
            <a:prstDash val="solid"/>
            <a:round/>
            <a:headEnd len="sm" w="sm" type="none"/>
            <a:tailEnd len="sm" w="sm" type="none"/>
          </a:ln>
        </p:spPr>
      </p:pic>
      <p:grpSp>
        <p:nvGrpSpPr>
          <p:cNvPr id="1082" name="Google Shape;1082;p80"/>
          <p:cNvGrpSpPr/>
          <p:nvPr/>
        </p:nvGrpSpPr>
        <p:grpSpPr>
          <a:xfrm>
            <a:off x="1158979" y="1462702"/>
            <a:ext cx="496273" cy="432681"/>
            <a:chOff x="1332175" y="2321602"/>
            <a:chExt cx="496273" cy="432681"/>
          </a:xfrm>
        </p:grpSpPr>
        <p:sp>
          <p:nvSpPr>
            <p:cNvPr id="1083" name="Google Shape;1083;p80"/>
            <p:cNvSpPr/>
            <p:nvPr/>
          </p:nvSpPr>
          <p:spPr>
            <a:xfrm>
              <a:off x="1514948" y="232160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4" name="Google Shape;1084;p80"/>
            <p:cNvSpPr txBox="1"/>
            <p:nvPr/>
          </p:nvSpPr>
          <p:spPr>
            <a:xfrm flipH="1" rot="3024">
              <a:off x="1332175" y="247693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grpSp>
      <p:grpSp>
        <p:nvGrpSpPr>
          <p:cNvPr id="1085" name="Google Shape;1085;p80"/>
          <p:cNvGrpSpPr/>
          <p:nvPr/>
        </p:nvGrpSpPr>
        <p:grpSpPr>
          <a:xfrm>
            <a:off x="1746234" y="2637739"/>
            <a:ext cx="496273" cy="432681"/>
            <a:chOff x="1332175" y="2321602"/>
            <a:chExt cx="496273" cy="432681"/>
          </a:xfrm>
        </p:grpSpPr>
        <p:sp>
          <p:nvSpPr>
            <p:cNvPr id="1086" name="Google Shape;1086;p80"/>
            <p:cNvSpPr/>
            <p:nvPr/>
          </p:nvSpPr>
          <p:spPr>
            <a:xfrm>
              <a:off x="1514948" y="232160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7" name="Google Shape;1087;p80"/>
            <p:cNvSpPr txBox="1"/>
            <p:nvPr/>
          </p:nvSpPr>
          <p:spPr>
            <a:xfrm flipH="1" rot="3024">
              <a:off x="1332175" y="247693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C</a:t>
              </a:r>
              <a:endParaRPr sz="1800">
                <a:latin typeface="Lexend"/>
                <a:ea typeface="Lexend"/>
                <a:cs typeface="Lexend"/>
                <a:sym typeface="Lexend"/>
              </a:endParaRPr>
            </a:p>
          </p:txBody>
        </p:sp>
      </p:grpSp>
      <p:grpSp>
        <p:nvGrpSpPr>
          <p:cNvPr id="1088" name="Google Shape;1088;p80"/>
          <p:cNvGrpSpPr/>
          <p:nvPr/>
        </p:nvGrpSpPr>
        <p:grpSpPr>
          <a:xfrm>
            <a:off x="4100897" y="2635471"/>
            <a:ext cx="496273" cy="432681"/>
            <a:chOff x="1332175" y="2321602"/>
            <a:chExt cx="496273" cy="432681"/>
          </a:xfrm>
        </p:grpSpPr>
        <p:sp>
          <p:nvSpPr>
            <p:cNvPr id="1089" name="Google Shape;1089;p80"/>
            <p:cNvSpPr/>
            <p:nvPr/>
          </p:nvSpPr>
          <p:spPr>
            <a:xfrm>
              <a:off x="1514948" y="232160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0" name="Google Shape;1090;p80"/>
            <p:cNvSpPr txBox="1"/>
            <p:nvPr/>
          </p:nvSpPr>
          <p:spPr>
            <a:xfrm flipH="1" rot="3024">
              <a:off x="1332175" y="247693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D</a:t>
              </a:r>
              <a:endParaRPr sz="1800">
                <a:latin typeface="Lexend"/>
                <a:ea typeface="Lexend"/>
                <a:cs typeface="Lexend"/>
                <a:sym typeface="Lexend"/>
              </a:endParaRPr>
            </a:p>
          </p:txBody>
        </p:sp>
      </p:grpSp>
      <p:grpSp>
        <p:nvGrpSpPr>
          <p:cNvPr id="1091" name="Google Shape;1091;p80"/>
          <p:cNvGrpSpPr/>
          <p:nvPr/>
        </p:nvGrpSpPr>
        <p:grpSpPr>
          <a:xfrm>
            <a:off x="3107695" y="583462"/>
            <a:ext cx="476929" cy="432681"/>
            <a:chOff x="1514948" y="2321602"/>
            <a:chExt cx="476929" cy="432681"/>
          </a:xfrm>
        </p:grpSpPr>
        <p:sp>
          <p:nvSpPr>
            <p:cNvPr id="1092" name="Google Shape;1092;p80"/>
            <p:cNvSpPr/>
            <p:nvPr/>
          </p:nvSpPr>
          <p:spPr>
            <a:xfrm>
              <a:off x="1514948" y="232160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3" name="Google Shape;1093;p80"/>
            <p:cNvSpPr txBox="1"/>
            <p:nvPr/>
          </p:nvSpPr>
          <p:spPr>
            <a:xfrm flipH="1" rot="3024">
              <a:off x="1650777" y="247693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grpSp>
      <p:grpSp>
        <p:nvGrpSpPr>
          <p:cNvPr id="1094" name="Google Shape;1094;p80"/>
          <p:cNvGrpSpPr/>
          <p:nvPr/>
        </p:nvGrpSpPr>
        <p:grpSpPr>
          <a:xfrm>
            <a:off x="2337298" y="4107167"/>
            <a:ext cx="496273" cy="432681"/>
            <a:chOff x="1332175" y="2321602"/>
            <a:chExt cx="496273" cy="432681"/>
          </a:xfrm>
        </p:grpSpPr>
        <p:sp>
          <p:nvSpPr>
            <p:cNvPr id="1095" name="Google Shape;1095;p80"/>
            <p:cNvSpPr/>
            <p:nvPr/>
          </p:nvSpPr>
          <p:spPr>
            <a:xfrm>
              <a:off x="1514948" y="232160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96" name="Google Shape;1096;p80"/>
            <p:cNvSpPr txBox="1"/>
            <p:nvPr/>
          </p:nvSpPr>
          <p:spPr>
            <a:xfrm flipH="1" rot="3024">
              <a:off x="1332175" y="247693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E</a:t>
              </a:r>
              <a:endParaRPr sz="1800">
                <a:latin typeface="Lexend"/>
                <a:ea typeface="Lexend"/>
                <a:cs typeface="Lexend"/>
                <a:sym typeface="Lexend"/>
              </a:endParaRPr>
            </a:p>
          </p:txBody>
        </p:sp>
      </p:grpSp>
      <p:sp>
        <p:nvSpPr>
          <p:cNvPr id="1097" name="Google Shape;1097;p80"/>
          <p:cNvSpPr txBox="1"/>
          <p:nvPr/>
        </p:nvSpPr>
        <p:spPr>
          <a:xfrm flipH="1" rot="2246">
            <a:off x="4687200" y="716885"/>
            <a:ext cx="41328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1) Use Pythagoras’ theorem to find the shortest distance (to 1 d.p) between points:</a:t>
            </a:r>
            <a:endParaRPr sz="1800">
              <a:latin typeface="Lexend"/>
              <a:ea typeface="Lexend"/>
              <a:cs typeface="Lexend"/>
              <a:sym typeface="Lexend"/>
            </a:endParaRPr>
          </a:p>
        </p:txBody>
      </p:sp>
      <p:sp>
        <p:nvSpPr>
          <p:cNvPr id="1098" name="Google Shape;1098;p80"/>
          <p:cNvSpPr txBox="1"/>
          <p:nvPr/>
        </p:nvSpPr>
        <p:spPr>
          <a:xfrm flipH="1" rot="2231">
            <a:off x="5121300" y="1571716"/>
            <a:ext cx="3698701" cy="2493600"/>
          </a:xfrm>
          <a:prstGeom prst="rect">
            <a:avLst/>
          </a:prstGeom>
          <a:noFill/>
          <a:ln>
            <a:noFill/>
          </a:ln>
        </p:spPr>
        <p:txBody>
          <a:bodyPr anchorCtr="0" anchor="t" bIns="0" lIns="0" spcFirstLastPara="1" rIns="0" wrap="square" tIns="0">
            <a:spAutoFit/>
          </a:bodyPr>
          <a:lstStyle/>
          <a:p>
            <a:pPr indent="0" lvl="0" marL="0" rtl="0" algn="l">
              <a:lnSpc>
                <a:spcPct val="200000"/>
              </a:lnSpc>
              <a:spcBef>
                <a:spcPts val="0"/>
              </a:spcBef>
              <a:spcAft>
                <a:spcPts val="0"/>
              </a:spcAft>
              <a:buClr>
                <a:srgbClr val="000000"/>
              </a:buClr>
              <a:buSzPts val="1800"/>
              <a:buFont typeface="Arial"/>
              <a:buNone/>
            </a:pPr>
            <a:r>
              <a:rPr lang="en-GB" sz="1800">
                <a:latin typeface="Lexend"/>
                <a:ea typeface="Lexend"/>
                <a:cs typeface="Lexend"/>
                <a:sym typeface="Lexend"/>
              </a:rPr>
              <a:t>a) A and B</a:t>
            </a:r>
            <a:endParaRPr sz="1800">
              <a:latin typeface="Lexend"/>
              <a:ea typeface="Lexend"/>
              <a:cs typeface="Lexend"/>
              <a:sym typeface="Lexend"/>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b) A and C</a:t>
            </a:r>
            <a:endParaRPr sz="1800">
              <a:solidFill>
                <a:schemeClr val="dk1"/>
              </a:solidFill>
              <a:latin typeface="Lexend"/>
              <a:ea typeface="Lexend"/>
              <a:cs typeface="Lexend"/>
              <a:sym typeface="Lexend"/>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c) B and D</a:t>
            </a:r>
            <a:endParaRPr sz="1800">
              <a:solidFill>
                <a:schemeClr val="dk1"/>
              </a:solidFill>
              <a:latin typeface="Lexend"/>
              <a:ea typeface="Lexend"/>
              <a:cs typeface="Lexend"/>
              <a:sym typeface="Lexend"/>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d) C and D</a:t>
            </a:r>
            <a:endParaRPr sz="1800">
              <a:solidFill>
                <a:schemeClr val="dk1"/>
              </a:solidFill>
              <a:latin typeface="Lexend"/>
              <a:ea typeface="Lexend"/>
              <a:cs typeface="Lexend"/>
              <a:sym typeface="Lexend"/>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e) B and E</a:t>
            </a:r>
            <a:endParaRPr sz="1800">
              <a:latin typeface="Lexend"/>
              <a:ea typeface="Lexend"/>
              <a:cs typeface="Lexend"/>
              <a:sym typeface="Lexend"/>
            </a:endParaRPr>
          </a:p>
        </p:txBody>
      </p:sp>
      <p:sp>
        <p:nvSpPr>
          <p:cNvPr id="1099" name="Google Shape;1099;p80"/>
          <p:cNvSpPr/>
          <p:nvPr/>
        </p:nvSpPr>
        <p:spPr>
          <a:xfrm flipH="1" rot="10800000">
            <a:off x="1497375" y="738950"/>
            <a:ext cx="1769700" cy="883200"/>
          </a:xfrm>
          <a:prstGeom prst="rtTriangle">
            <a:avLst/>
          </a:prstGeom>
          <a:noFill/>
          <a:ln cap="flat" cmpd="sng" w="38100">
            <a:solidFill>
              <a:schemeClr val="accent4"/>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00" name="Google Shape;1100;p80"/>
          <p:cNvCxnSpPr/>
          <p:nvPr/>
        </p:nvCxnSpPr>
        <p:spPr>
          <a:xfrm rot="10800000">
            <a:off x="1498812" y="1616474"/>
            <a:ext cx="587400" cy="1175100"/>
          </a:xfrm>
          <a:prstGeom prst="straightConnector1">
            <a:avLst/>
          </a:prstGeom>
          <a:noFill/>
          <a:ln cap="flat" cmpd="sng" w="38100">
            <a:solidFill>
              <a:schemeClr val="accent3"/>
            </a:solidFill>
            <a:prstDash val="lgDash"/>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81"/>
          <p:cNvSpPr txBox="1"/>
          <p:nvPr/>
        </p:nvSpPr>
        <p:spPr>
          <a:xfrm flipH="1" rot="2219">
            <a:off x="5566500" y="2789688"/>
            <a:ext cx="3253501" cy="1939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3</a:t>
            </a:r>
            <a:r>
              <a:rPr lang="en-GB" sz="1800">
                <a:latin typeface="Lexend"/>
                <a:ea typeface="Lexend"/>
                <a:cs typeface="Lexend"/>
                <a:sym typeface="Lexend"/>
              </a:rPr>
              <a:t>) Write down three coordinates whose vertices make a triangle with a perimeter of between 20 and 22 units in length.</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Show this is correct using Pythagoras’ theorem.</a:t>
            </a:r>
            <a:endParaRPr sz="1800">
              <a:latin typeface="Lexend"/>
              <a:ea typeface="Lexend"/>
              <a:cs typeface="Lexend"/>
              <a:sym typeface="Lexend"/>
            </a:endParaRPr>
          </a:p>
        </p:txBody>
      </p:sp>
      <p:sp>
        <p:nvSpPr>
          <p:cNvPr id="1106" name="Google Shape;1106;p81"/>
          <p:cNvSpPr txBox="1"/>
          <p:nvPr/>
        </p:nvSpPr>
        <p:spPr>
          <a:xfrm flipH="1" rot="2219">
            <a:off x="5566500" y="717188"/>
            <a:ext cx="32535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2) Calculate the perimeter of each shape (to  2 d.p.).</a:t>
            </a:r>
            <a:endParaRPr sz="1800">
              <a:latin typeface="Lexend"/>
              <a:ea typeface="Lexend"/>
              <a:cs typeface="Lexend"/>
              <a:sym typeface="Lexend"/>
            </a:endParaRPr>
          </a:p>
        </p:txBody>
      </p:sp>
      <p:sp>
        <p:nvSpPr>
          <p:cNvPr id="1107" name="Google Shape;1107;p8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pic>
        <p:nvPicPr>
          <p:cNvPr id="1108" name="Google Shape;1108;p81"/>
          <p:cNvPicPr preferRelativeResize="0"/>
          <p:nvPr/>
        </p:nvPicPr>
        <p:blipFill rotWithShape="1">
          <a:blip r:embed="rId3">
            <a:alphaModFix/>
          </a:blip>
          <a:srcRect b="0" l="0" r="21972" t="0"/>
          <a:stretch/>
        </p:blipFill>
        <p:spPr>
          <a:xfrm>
            <a:off x="324000" y="658100"/>
            <a:ext cx="5144049" cy="4162300"/>
          </a:xfrm>
          <a:prstGeom prst="rect">
            <a:avLst/>
          </a:prstGeom>
          <a:noFill/>
          <a:ln>
            <a:noFill/>
          </a:ln>
        </p:spPr>
      </p:pic>
      <p:sp>
        <p:nvSpPr>
          <p:cNvPr id="1109" name="Google Shape;1109;p81"/>
          <p:cNvSpPr/>
          <p:nvPr/>
        </p:nvSpPr>
        <p:spPr>
          <a:xfrm>
            <a:off x="1047459" y="1486645"/>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0" name="Google Shape;1110;p81"/>
          <p:cNvSpPr/>
          <p:nvPr/>
        </p:nvSpPr>
        <p:spPr>
          <a:xfrm>
            <a:off x="1926109" y="89984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1" name="Google Shape;1111;p81"/>
          <p:cNvSpPr/>
          <p:nvPr/>
        </p:nvSpPr>
        <p:spPr>
          <a:xfrm>
            <a:off x="1630737" y="2363745"/>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2" name="Google Shape;1112;p81"/>
          <p:cNvSpPr/>
          <p:nvPr/>
        </p:nvSpPr>
        <p:spPr>
          <a:xfrm>
            <a:off x="2517706" y="177694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13" name="Google Shape;1113;p81"/>
          <p:cNvCxnSpPr/>
          <p:nvPr/>
        </p:nvCxnSpPr>
        <p:spPr>
          <a:xfrm flipH="1">
            <a:off x="1203169" y="1052478"/>
            <a:ext cx="878700" cy="586800"/>
          </a:xfrm>
          <a:prstGeom prst="straightConnector1">
            <a:avLst/>
          </a:prstGeom>
          <a:noFill/>
          <a:ln cap="flat" cmpd="sng" w="38100">
            <a:solidFill>
              <a:schemeClr val="accent4"/>
            </a:solidFill>
            <a:prstDash val="solid"/>
            <a:round/>
            <a:headEnd len="med" w="med" type="none"/>
            <a:tailEnd len="med" w="med" type="none"/>
          </a:ln>
        </p:spPr>
      </p:cxnSp>
      <p:cxnSp>
        <p:nvCxnSpPr>
          <p:cNvPr id="1114" name="Google Shape;1114;p81"/>
          <p:cNvCxnSpPr/>
          <p:nvPr/>
        </p:nvCxnSpPr>
        <p:spPr>
          <a:xfrm flipH="1">
            <a:off x="1790294" y="1933153"/>
            <a:ext cx="878700" cy="586800"/>
          </a:xfrm>
          <a:prstGeom prst="straightConnector1">
            <a:avLst/>
          </a:prstGeom>
          <a:noFill/>
          <a:ln cap="flat" cmpd="sng" w="38100">
            <a:solidFill>
              <a:schemeClr val="accent4"/>
            </a:solidFill>
            <a:prstDash val="solid"/>
            <a:round/>
            <a:headEnd len="med" w="med" type="none"/>
            <a:tailEnd len="med" w="med" type="none"/>
          </a:ln>
        </p:spPr>
      </p:cxnSp>
      <p:cxnSp>
        <p:nvCxnSpPr>
          <p:cNvPr id="1115" name="Google Shape;1115;p81"/>
          <p:cNvCxnSpPr/>
          <p:nvPr/>
        </p:nvCxnSpPr>
        <p:spPr>
          <a:xfrm flipH="1" rot="5400000">
            <a:off x="1937069" y="1198416"/>
            <a:ext cx="878700" cy="586800"/>
          </a:xfrm>
          <a:prstGeom prst="straightConnector1">
            <a:avLst/>
          </a:prstGeom>
          <a:noFill/>
          <a:ln cap="flat" cmpd="sng" w="38100">
            <a:solidFill>
              <a:schemeClr val="accent4"/>
            </a:solidFill>
            <a:prstDash val="solid"/>
            <a:round/>
            <a:headEnd len="med" w="med" type="none"/>
            <a:tailEnd len="med" w="med" type="none"/>
          </a:ln>
        </p:spPr>
      </p:cxnSp>
      <p:cxnSp>
        <p:nvCxnSpPr>
          <p:cNvPr id="1116" name="Google Shape;1116;p81"/>
          <p:cNvCxnSpPr/>
          <p:nvPr/>
        </p:nvCxnSpPr>
        <p:spPr>
          <a:xfrm flipH="1" rot="5400000">
            <a:off x="1056394" y="1785541"/>
            <a:ext cx="878700" cy="586800"/>
          </a:xfrm>
          <a:prstGeom prst="straightConnector1">
            <a:avLst/>
          </a:prstGeom>
          <a:noFill/>
          <a:ln cap="flat" cmpd="sng" w="38100">
            <a:solidFill>
              <a:schemeClr val="accent4"/>
            </a:solidFill>
            <a:prstDash val="solid"/>
            <a:round/>
            <a:headEnd len="med" w="med" type="none"/>
            <a:tailEnd len="med" w="med" type="none"/>
          </a:ln>
        </p:spPr>
      </p:cxnSp>
      <p:sp>
        <p:nvSpPr>
          <p:cNvPr id="1117" name="Google Shape;1117;p81"/>
          <p:cNvSpPr txBox="1"/>
          <p:nvPr/>
        </p:nvSpPr>
        <p:spPr>
          <a:xfrm rot="-2163">
            <a:off x="1452711" y="1647609"/>
            <a:ext cx="953400" cy="277200"/>
          </a:xfrm>
          <a:prstGeom prst="rect">
            <a:avLst/>
          </a:prstGeom>
          <a:solidFill>
            <a:schemeClr val="lt1"/>
          </a:solid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square</a:t>
            </a:r>
            <a:endParaRPr sz="1800">
              <a:latin typeface="Lexend"/>
              <a:ea typeface="Lexend"/>
              <a:cs typeface="Lexend"/>
              <a:sym typeface="Lexend"/>
            </a:endParaRPr>
          </a:p>
        </p:txBody>
      </p:sp>
      <p:sp>
        <p:nvSpPr>
          <p:cNvPr id="1118" name="Google Shape;1118;p81"/>
          <p:cNvSpPr/>
          <p:nvPr/>
        </p:nvSpPr>
        <p:spPr>
          <a:xfrm>
            <a:off x="1047172" y="4126909"/>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9" name="Google Shape;1119;p81"/>
          <p:cNvSpPr/>
          <p:nvPr/>
        </p:nvSpPr>
        <p:spPr>
          <a:xfrm>
            <a:off x="3982724" y="4126909"/>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0" name="Google Shape;1120;p81"/>
          <p:cNvSpPr/>
          <p:nvPr/>
        </p:nvSpPr>
        <p:spPr>
          <a:xfrm>
            <a:off x="2517034" y="265873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1" name="Google Shape;1121;p81"/>
          <p:cNvSpPr/>
          <p:nvPr/>
        </p:nvSpPr>
        <p:spPr>
          <a:xfrm rot="8100000">
            <a:off x="1629530" y="3242962"/>
            <a:ext cx="2081440" cy="2081440"/>
          </a:xfrm>
          <a:prstGeom prst="rtTriangle">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2" name="Google Shape;1122;p81"/>
          <p:cNvSpPr txBox="1"/>
          <p:nvPr/>
        </p:nvSpPr>
        <p:spPr>
          <a:xfrm rot="-2231">
            <a:off x="1978400" y="3612757"/>
            <a:ext cx="1386600" cy="554100"/>
          </a:xfrm>
          <a:prstGeom prst="rect">
            <a:avLst/>
          </a:prstGeom>
          <a:solidFill>
            <a:schemeClr val="lt1"/>
          </a:solid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isosceles </a:t>
            </a:r>
            <a:endParaRPr sz="1800">
              <a:latin typeface="Lexend"/>
              <a:ea typeface="Lexend"/>
              <a:cs typeface="Lexend"/>
              <a:sym typeface="Lexend"/>
            </a:endParaRPr>
          </a:p>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triangle</a:t>
            </a:r>
            <a:endParaRPr sz="1800">
              <a:latin typeface="Lexend"/>
              <a:ea typeface="Lexend"/>
              <a:cs typeface="Lexend"/>
              <a:sym typeface="Lexend"/>
            </a:endParaRPr>
          </a:p>
        </p:txBody>
      </p:sp>
      <p:sp>
        <p:nvSpPr>
          <p:cNvPr id="1123" name="Google Shape;1123;p81"/>
          <p:cNvSpPr/>
          <p:nvPr/>
        </p:nvSpPr>
        <p:spPr>
          <a:xfrm>
            <a:off x="3393203" y="1188358"/>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4" name="Google Shape;1124;p81"/>
          <p:cNvSpPr/>
          <p:nvPr/>
        </p:nvSpPr>
        <p:spPr>
          <a:xfrm>
            <a:off x="5154547" y="1486658"/>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5" name="Google Shape;1125;p81"/>
          <p:cNvSpPr/>
          <p:nvPr/>
        </p:nvSpPr>
        <p:spPr>
          <a:xfrm>
            <a:off x="4273889" y="2657771"/>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126" name="Google Shape;1126;p81"/>
          <p:cNvGrpSpPr/>
          <p:nvPr/>
        </p:nvGrpSpPr>
        <p:grpSpPr>
          <a:xfrm>
            <a:off x="3550413" y="1349214"/>
            <a:ext cx="1761600" cy="1469413"/>
            <a:chOff x="4806977" y="1263653"/>
            <a:chExt cx="1761600" cy="1469413"/>
          </a:xfrm>
        </p:grpSpPr>
        <p:cxnSp>
          <p:nvCxnSpPr>
            <p:cNvPr id="1127" name="Google Shape;1127;p81"/>
            <p:cNvCxnSpPr/>
            <p:nvPr/>
          </p:nvCxnSpPr>
          <p:spPr>
            <a:xfrm rot="10800000">
              <a:off x="4807092" y="1263653"/>
              <a:ext cx="1761300" cy="298200"/>
            </a:xfrm>
            <a:prstGeom prst="straightConnector1">
              <a:avLst/>
            </a:prstGeom>
            <a:noFill/>
            <a:ln cap="flat" cmpd="sng" w="38100">
              <a:solidFill>
                <a:schemeClr val="accent4"/>
              </a:solidFill>
              <a:prstDash val="solid"/>
              <a:round/>
              <a:headEnd len="med" w="med" type="none"/>
              <a:tailEnd len="med" w="med" type="none"/>
            </a:ln>
          </p:spPr>
        </p:cxnSp>
        <p:cxnSp>
          <p:nvCxnSpPr>
            <p:cNvPr id="1128" name="Google Shape;1128;p81"/>
            <p:cNvCxnSpPr/>
            <p:nvPr/>
          </p:nvCxnSpPr>
          <p:spPr>
            <a:xfrm flipH="1">
              <a:off x="5687777" y="1561866"/>
              <a:ext cx="880800" cy="1171200"/>
            </a:xfrm>
            <a:prstGeom prst="straightConnector1">
              <a:avLst/>
            </a:prstGeom>
            <a:noFill/>
            <a:ln cap="flat" cmpd="sng" w="38100">
              <a:solidFill>
                <a:schemeClr val="accent4"/>
              </a:solidFill>
              <a:prstDash val="solid"/>
              <a:round/>
              <a:headEnd len="med" w="med" type="none"/>
              <a:tailEnd len="med" w="med" type="none"/>
            </a:ln>
          </p:spPr>
        </p:cxnSp>
        <p:cxnSp>
          <p:nvCxnSpPr>
            <p:cNvPr id="1129" name="Google Shape;1129;p81"/>
            <p:cNvCxnSpPr/>
            <p:nvPr/>
          </p:nvCxnSpPr>
          <p:spPr>
            <a:xfrm>
              <a:off x="4806977" y="1263666"/>
              <a:ext cx="880800" cy="1469400"/>
            </a:xfrm>
            <a:prstGeom prst="straightConnector1">
              <a:avLst/>
            </a:prstGeom>
            <a:noFill/>
            <a:ln cap="flat" cmpd="sng" w="38100">
              <a:solidFill>
                <a:schemeClr val="accent4"/>
              </a:solidFill>
              <a:prstDash val="solid"/>
              <a:round/>
              <a:headEnd len="med" w="med" type="none"/>
              <a:tailEnd len="med" w="med" type="none"/>
            </a:ln>
          </p:spPr>
        </p:cxnSp>
      </p:grpSp>
      <p:sp>
        <p:nvSpPr>
          <p:cNvPr id="1130" name="Google Shape;1130;p81"/>
          <p:cNvSpPr txBox="1"/>
          <p:nvPr/>
        </p:nvSpPr>
        <p:spPr>
          <a:xfrm rot="-2231">
            <a:off x="3883246" y="779557"/>
            <a:ext cx="1386600" cy="554100"/>
          </a:xfrm>
          <a:prstGeom prst="rect">
            <a:avLst/>
          </a:prstGeom>
          <a:solidFill>
            <a:schemeClr val="lt1"/>
          </a:solid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scalene</a:t>
            </a:r>
            <a:endParaRPr sz="1800">
              <a:latin typeface="Lexend"/>
              <a:ea typeface="Lexend"/>
              <a:cs typeface="Lexend"/>
              <a:sym typeface="Lexend"/>
            </a:endParaRPr>
          </a:p>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triangle</a:t>
            </a:r>
            <a:endParaRPr sz="1800">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8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pic>
        <p:nvPicPr>
          <p:cNvPr id="1136" name="Google Shape;1136;p82"/>
          <p:cNvPicPr preferRelativeResize="0"/>
          <p:nvPr/>
        </p:nvPicPr>
        <p:blipFill>
          <a:blip r:embed="rId3">
            <a:alphaModFix/>
          </a:blip>
          <a:stretch>
            <a:fillRect/>
          </a:stretch>
        </p:blipFill>
        <p:spPr>
          <a:xfrm>
            <a:off x="324000" y="648725"/>
            <a:ext cx="4273174" cy="4171674"/>
          </a:xfrm>
          <a:prstGeom prst="rect">
            <a:avLst/>
          </a:prstGeom>
          <a:noFill/>
          <a:ln>
            <a:noFill/>
          </a:ln>
        </p:spPr>
      </p:pic>
      <p:grpSp>
        <p:nvGrpSpPr>
          <p:cNvPr id="1137" name="Google Shape;1137;p82"/>
          <p:cNvGrpSpPr/>
          <p:nvPr/>
        </p:nvGrpSpPr>
        <p:grpSpPr>
          <a:xfrm>
            <a:off x="1158979" y="1462702"/>
            <a:ext cx="496273" cy="432681"/>
            <a:chOff x="1332175" y="2321602"/>
            <a:chExt cx="496273" cy="432681"/>
          </a:xfrm>
        </p:grpSpPr>
        <p:sp>
          <p:nvSpPr>
            <p:cNvPr id="1138" name="Google Shape;1138;p82"/>
            <p:cNvSpPr/>
            <p:nvPr/>
          </p:nvSpPr>
          <p:spPr>
            <a:xfrm>
              <a:off x="1514948" y="232160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39" name="Google Shape;1139;p82"/>
            <p:cNvSpPr txBox="1"/>
            <p:nvPr/>
          </p:nvSpPr>
          <p:spPr>
            <a:xfrm flipH="1" rot="3024">
              <a:off x="1332175" y="247693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A</a:t>
              </a:r>
              <a:endParaRPr sz="1800">
                <a:latin typeface="Lexend"/>
                <a:ea typeface="Lexend"/>
                <a:cs typeface="Lexend"/>
                <a:sym typeface="Lexend"/>
              </a:endParaRPr>
            </a:p>
          </p:txBody>
        </p:sp>
      </p:grpSp>
      <p:sp>
        <p:nvSpPr>
          <p:cNvPr id="1140" name="Google Shape;1140;p82"/>
          <p:cNvSpPr/>
          <p:nvPr/>
        </p:nvSpPr>
        <p:spPr>
          <a:xfrm>
            <a:off x="3107695" y="58346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141" name="Google Shape;1141;p82"/>
          <p:cNvGrpSpPr/>
          <p:nvPr/>
        </p:nvGrpSpPr>
        <p:grpSpPr>
          <a:xfrm>
            <a:off x="1746234" y="2637739"/>
            <a:ext cx="496273" cy="432681"/>
            <a:chOff x="1332175" y="2321602"/>
            <a:chExt cx="496273" cy="432681"/>
          </a:xfrm>
        </p:grpSpPr>
        <p:sp>
          <p:nvSpPr>
            <p:cNvPr id="1142" name="Google Shape;1142;p82"/>
            <p:cNvSpPr/>
            <p:nvPr/>
          </p:nvSpPr>
          <p:spPr>
            <a:xfrm>
              <a:off x="1514948" y="232160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3" name="Google Shape;1143;p82"/>
            <p:cNvSpPr txBox="1"/>
            <p:nvPr/>
          </p:nvSpPr>
          <p:spPr>
            <a:xfrm flipH="1" rot="3024">
              <a:off x="1332175" y="247693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C</a:t>
              </a:r>
              <a:endParaRPr sz="1800">
                <a:latin typeface="Lexend"/>
                <a:ea typeface="Lexend"/>
                <a:cs typeface="Lexend"/>
                <a:sym typeface="Lexend"/>
              </a:endParaRPr>
            </a:p>
          </p:txBody>
        </p:sp>
      </p:grpSp>
      <p:grpSp>
        <p:nvGrpSpPr>
          <p:cNvPr id="1144" name="Google Shape;1144;p82"/>
          <p:cNvGrpSpPr/>
          <p:nvPr/>
        </p:nvGrpSpPr>
        <p:grpSpPr>
          <a:xfrm>
            <a:off x="4100897" y="2635471"/>
            <a:ext cx="496273" cy="432681"/>
            <a:chOff x="1332175" y="2321602"/>
            <a:chExt cx="496273" cy="432681"/>
          </a:xfrm>
        </p:grpSpPr>
        <p:sp>
          <p:nvSpPr>
            <p:cNvPr id="1145" name="Google Shape;1145;p82"/>
            <p:cNvSpPr/>
            <p:nvPr/>
          </p:nvSpPr>
          <p:spPr>
            <a:xfrm>
              <a:off x="1514948" y="232160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6" name="Google Shape;1146;p82"/>
            <p:cNvSpPr txBox="1"/>
            <p:nvPr/>
          </p:nvSpPr>
          <p:spPr>
            <a:xfrm flipH="1" rot="3024">
              <a:off x="1332175" y="247693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D</a:t>
              </a:r>
              <a:endParaRPr sz="1800">
                <a:latin typeface="Lexend"/>
                <a:ea typeface="Lexend"/>
                <a:cs typeface="Lexend"/>
                <a:sym typeface="Lexend"/>
              </a:endParaRPr>
            </a:p>
          </p:txBody>
        </p:sp>
      </p:grpSp>
      <p:grpSp>
        <p:nvGrpSpPr>
          <p:cNvPr id="1147" name="Google Shape;1147;p82"/>
          <p:cNvGrpSpPr/>
          <p:nvPr/>
        </p:nvGrpSpPr>
        <p:grpSpPr>
          <a:xfrm>
            <a:off x="2337298" y="4107167"/>
            <a:ext cx="496273" cy="432681"/>
            <a:chOff x="1332175" y="2321602"/>
            <a:chExt cx="496273" cy="432681"/>
          </a:xfrm>
        </p:grpSpPr>
        <p:sp>
          <p:nvSpPr>
            <p:cNvPr id="1148" name="Google Shape;1148;p82"/>
            <p:cNvSpPr/>
            <p:nvPr/>
          </p:nvSpPr>
          <p:spPr>
            <a:xfrm>
              <a:off x="1514948" y="232160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49" name="Google Shape;1149;p82"/>
            <p:cNvSpPr txBox="1"/>
            <p:nvPr/>
          </p:nvSpPr>
          <p:spPr>
            <a:xfrm flipH="1" rot="3024">
              <a:off x="1332175" y="247693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E</a:t>
              </a:r>
              <a:endParaRPr sz="1800">
                <a:latin typeface="Lexend"/>
                <a:ea typeface="Lexend"/>
                <a:cs typeface="Lexend"/>
                <a:sym typeface="Lexend"/>
              </a:endParaRPr>
            </a:p>
          </p:txBody>
        </p:sp>
      </p:grpSp>
      <p:sp>
        <p:nvSpPr>
          <p:cNvPr id="1150" name="Google Shape;1150;p82"/>
          <p:cNvSpPr txBox="1"/>
          <p:nvPr/>
        </p:nvSpPr>
        <p:spPr>
          <a:xfrm flipH="1" rot="2246">
            <a:off x="4687200" y="716885"/>
            <a:ext cx="41328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1) Use Pythagoras’ theorem to find the shortest distance (to 1 d.p) between points:</a:t>
            </a:r>
            <a:endParaRPr sz="1800">
              <a:latin typeface="Lexend"/>
              <a:ea typeface="Lexend"/>
              <a:cs typeface="Lexend"/>
              <a:sym typeface="Lexend"/>
            </a:endParaRPr>
          </a:p>
        </p:txBody>
      </p:sp>
      <p:sp>
        <p:nvSpPr>
          <p:cNvPr id="1151" name="Google Shape;1151;p82"/>
          <p:cNvSpPr txBox="1"/>
          <p:nvPr/>
        </p:nvSpPr>
        <p:spPr>
          <a:xfrm flipH="1" rot="2492">
            <a:off x="5121300" y="1570999"/>
            <a:ext cx="1655400" cy="2493600"/>
          </a:xfrm>
          <a:prstGeom prst="rect">
            <a:avLst/>
          </a:prstGeom>
          <a:noFill/>
          <a:ln>
            <a:noFill/>
          </a:ln>
        </p:spPr>
        <p:txBody>
          <a:bodyPr anchorCtr="0" anchor="t" bIns="0" lIns="0" spcFirstLastPara="1" rIns="0" wrap="square" tIns="0">
            <a:spAutoFit/>
          </a:bodyPr>
          <a:lstStyle/>
          <a:p>
            <a:pPr indent="0" lvl="0" marL="0" rtl="0" algn="l">
              <a:lnSpc>
                <a:spcPct val="200000"/>
              </a:lnSpc>
              <a:spcBef>
                <a:spcPts val="0"/>
              </a:spcBef>
              <a:spcAft>
                <a:spcPts val="0"/>
              </a:spcAft>
              <a:buClr>
                <a:srgbClr val="000000"/>
              </a:buClr>
              <a:buSzPts val="1800"/>
              <a:buFont typeface="Arial"/>
              <a:buNone/>
            </a:pPr>
            <a:r>
              <a:rPr lang="en-GB" sz="1800">
                <a:latin typeface="Lexend"/>
                <a:ea typeface="Lexend"/>
                <a:cs typeface="Lexend"/>
                <a:sym typeface="Lexend"/>
              </a:rPr>
              <a:t>a) A and B</a:t>
            </a:r>
            <a:endParaRPr sz="1800">
              <a:latin typeface="Lexend"/>
              <a:ea typeface="Lexend"/>
              <a:cs typeface="Lexend"/>
              <a:sym typeface="Lexend"/>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b) A and C</a:t>
            </a:r>
            <a:endParaRPr sz="1800">
              <a:solidFill>
                <a:schemeClr val="dk1"/>
              </a:solidFill>
              <a:latin typeface="Lexend"/>
              <a:ea typeface="Lexend"/>
              <a:cs typeface="Lexend"/>
              <a:sym typeface="Lexend"/>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c) B and D</a:t>
            </a:r>
            <a:endParaRPr sz="1800">
              <a:solidFill>
                <a:schemeClr val="dk1"/>
              </a:solidFill>
              <a:latin typeface="Lexend"/>
              <a:ea typeface="Lexend"/>
              <a:cs typeface="Lexend"/>
              <a:sym typeface="Lexend"/>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d) C and D</a:t>
            </a:r>
            <a:endParaRPr sz="1800">
              <a:solidFill>
                <a:schemeClr val="dk1"/>
              </a:solidFill>
              <a:latin typeface="Lexend"/>
              <a:ea typeface="Lexend"/>
              <a:cs typeface="Lexend"/>
              <a:sym typeface="Lexend"/>
            </a:endParaRPr>
          </a:p>
          <a:p>
            <a:pPr indent="0" lvl="0" marL="0" rtl="0" algn="l">
              <a:lnSpc>
                <a:spcPct val="200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e) B and E</a:t>
            </a:r>
            <a:endParaRPr sz="1800">
              <a:latin typeface="Lexend"/>
              <a:ea typeface="Lexend"/>
              <a:cs typeface="Lexend"/>
              <a:sym typeface="Lexend"/>
            </a:endParaRPr>
          </a:p>
        </p:txBody>
      </p:sp>
      <p:sp>
        <p:nvSpPr>
          <p:cNvPr id="1152" name="Google Shape;1152;p82"/>
          <p:cNvSpPr txBox="1"/>
          <p:nvPr/>
        </p:nvSpPr>
        <p:spPr>
          <a:xfrm flipH="1" rot="2492">
            <a:off x="5925900" y="1799599"/>
            <a:ext cx="1655400" cy="2524500"/>
          </a:xfrm>
          <a:prstGeom prst="rect">
            <a:avLst/>
          </a:prstGeom>
          <a:noFill/>
          <a:ln>
            <a:noFill/>
          </a:ln>
        </p:spPr>
        <p:txBody>
          <a:bodyPr anchorCtr="0" anchor="t" bIns="0" lIns="0" spcFirstLastPara="1" rIns="0" wrap="square" tIns="0">
            <a:spAutoFit/>
          </a:bodyPr>
          <a:lstStyle/>
          <a:p>
            <a:pPr indent="0" lvl="0" marL="0" rtl="0" algn="l">
              <a:lnSpc>
                <a:spcPct val="180000"/>
              </a:lnSpc>
              <a:spcBef>
                <a:spcPts val="0"/>
              </a:spcBef>
              <a:spcAft>
                <a:spcPts val="0"/>
              </a:spcAft>
              <a:buClr>
                <a:schemeClr val="dk1"/>
              </a:buClr>
              <a:buSzPts val="1800"/>
              <a:buFont typeface="Arial"/>
              <a:buNone/>
            </a:pPr>
            <a:r>
              <a:rPr lang="en-GB" sz="2000">
                <a:latin typeface="Kalam"/>
                <a:ea typeface="Kalam"/>
                <a:cs typeface="Kalam"/>
                <a:sym typeface="Kalam"/>
              </a:rPr>
              <a:t>6.7 units</a:t>
            </a:r>
            <a:endParaRPr sz="2000">
              <a:latin typeface="Kalam"/>
              <a:ea typeface="Kalam"/>
              <a:cs typeface="Kalam"/>
              <a:sym typeface="Kalam"/>
            </a:endParaRPr>
          </a:p>
          <a:p>
            <a:pPr indent="0" lvl="0" marL="0" rtl="0" algn="l">
              <a:lnSpc>
                <a:spcPct val="180000"/>
              </a:lnSpc>
              <a:spcBef>
                <a:spcPts val="0"/>
              </a:spcBef>
              <a:spcAft>
                <a:spcPts val="0"/>
              </a:spcAft>
              <a:buClr>
                <a:schemeClr val="dk1"/>
              </a:buClr>
              <a:buSzPts val="1800"/>
              <a:buFont typeface="Arial"/>
              <a:buNone/>
            </a:pPr>
            <a:r>
              <a:rPr lang="en-GB" sz="2000">
                <a:latin typeface="Kalam"/>
                <a:ea typeface="Kalam"/>
                <a:cs typeface="Kalam"/>
                <a:sym typeface="Kalam"/>
              </a:rPr>
              <a:t>4.5 units</a:t>
            </a:r>
            <a:endParaRPr sz="2000">
              <a:latin typeface="Kalam"/>
              <a:ea typeface="Kalam"/>
              <a:cs typeface="Kalam"/>
              <a:sym typeface="Kalam"/>
            </a:endParaRPr>
          </a:p>
          <a:p>
            <a:pPr indent="0" lvl="0" marL="0" rtl="0" algn="l">
              <a:lnSpc>
                <a:spcPct val="180000"/>
              </a:lnSpc>
              <a:spcBef>
                <a:spcPts val="0"/>
              </a:spcBef>
              <a:spcAft>
                <a:spcPts val="0"/>
              </a:spcAft>
              <a:buClr>
                <a:schemeClr val="dk1"/>
              </a:buClr>
              <a:buSzPts val="1800"/>
              <a:buFont typeface="Arial"/>
              <a:buNone/>
            </a:pPr>
            <a:r>
              <a:rPr lang="en-GB" sz="2000">
                <a:latin typeface="Kalam"/>
                <a:ea typeface="Kalam"/>
                <a:cs typeface="Kalam"/>
                <a:sym typeface="Kalam"/>
              </a:rPr>
              <a:t>8.1 units</a:t>
            </a:r>
            <a:endParaRPr sz="2000">
              <a:latin typeface="Kalam"/>
              <a:ea typeface="Kalam"/>
              <a:cs typeface="Kalam"/>
              <a:sym typeface="Kalam"/>
            </a:endParaRPr>
          </a:p>
          <a:p>
            <a:pPr indent="0" lvl="0" marL="0" rtl="0" algn="l">
              <a:lnSpc>
                <a:spcPct val="180000"/>
              </a:lnSpc>
              <a:spcBef>
                <a:spcPts val="0"/>
              </a:spcBef>
              <a:spcAft>
                <a:spcPts val="0"/>
              </a:spcAft>
              <a:buClr>
                <a:schemeClr val="dk1"/>
              </a:buClr>
              <a:buSzPts val="1800"/>
              <a:buFont typeface="Arial"/>
              <a:buNone/>
            </a:pPr>
            <a:r>
              <a:rPr lang="en-GB" sz="2000">
                <a:latin typeface="Kalam"/>
                <a:ea typeface="Kalam"/>
                <a:cs typeface="Kalam"/>
                <a:sym typeface="Kalam"/>
              </a:rPr>
              <a:t>8 units</a:t>
            </a:r>
            <a:endParaRPr sz="2000">
              <a:latin typeface="Kalam"/>
              <a:ea typeface="Kalam"/>
              <a:cs typeface="Kalam"/>
              <a:sym typeface="Kalam"/>
            </a:endParaRPr>
          </a:p>
          <a:p>
            <a:pPr indent="0" lvl="0" marL="0" rtl="0" algn="l">
              <a:lnSpc>
                <a:spcPct val="180000"/>
              </a:lnSpc>
              <a:spcBef>
                <a:spcPts val="0"/>
              </a:spcBef>
              <a:spcAft>
                <a:spcPts val="0"/>
              </a:spcAft>
              <a:buClr>
                <a:schemeClr val="dk1"/>
              </a:buClr>
              <a:buSzPts val="1800"/>
              <a:buFont typeface="Arial"/>
              <a:buNone/>
            </a:pPr>
            <a:r>
              <a:rPr lang="en-GB" sz="2000">
                <a:latin typeface="Kalam"/>
                <a:ea typeface="Kalam"/>
                <a:cs typeface="Kalam"/>
                <a:sym typeface="Kalam"/>
              </a:rPr>
              <a:t>12.2 units</a:t>
            </a:r>
            <a:endParaRPr sz="2000">
              <a:latin typeface="Kalam"/>
              <a:ea typeface="Kalam"/>
              <a:cs typeface="Kalam"/>
              <a:sym typeface="Kalam"/>
            </a:endParaRPr>
          </a:p>
        </p:txBody>
      </p:sp>
      <p:sp>
        <p:nvSpPr>
          <p:cNvPr id="1153" name="Google Shape;1153;p82"/>
          <p:cNvSpPr txBox="1"/>
          <p:nvPr/>
        </p:nvSpPr>
        <p:spPr>
          <a:xfrm flipH="1" rot="3024">
            <a:off x="3243525" y="738793"/>
            <a:ext cx="341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154" name="Google Shape;1154;p82"/>
          <p:cNvSpPr/>
          <p:nvPr/>
        </p:nvSpPr>
        <p:spPr>
          <a:xfrm flipH="1" rot="10800000">
            <a:off x="1497375" y="738950"/>
            <a:ext cx="1769700" cy="883200"/>
          </a:xfrm>
          <a:prstGeom prst="rtTriangle">
            <a:avLst/>
          </a:prstGeom>
          <a:noFill/>
          <a:ln cap="flat" cmpd="sng" w="38100">
            <a:solidFill>
              <a:schemeClr val="accent4"/>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55" name="Google Shape;1155;p82"/>
          <p:cNvCxnSpPr/>
          <p:nvPr/>
        </p:nvCxnSpPr>
        <p:spPr>
          <a:xfrm rot="10800000">
            <a:off x="1498812" y="1616474"/>
            <a:ext cx="587400" cy="1175100"/>
          </a:xfrm>
          <a:prstGeom prst="straightConnector1">
            <a:avLst/>
          </a:prstGeom>
          <a:noFill/>
          <a:ln cap="flat" cmpd="sng" w="38100">
            <a:solidFill>
              <a:schemeClr val="accent3"/>
            </a:solidFill>
            <a:prstDash val="lgDash"/>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8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pic>
        <p:nvPicPr>
          <p:cNvPr id="1161" name="Google Shape;1161;p83"/>
          <p:cNvPicPr preferRelativeResize="0"/>
          <p:nvPr/>
        </p:nvPicPr>
        <p:blipFill rotWithShape="1">
          <a:blip r:embed="rId3">
            <a:alphaModFix/>
          </a:blip>
          <a:srcRect b="0" l="0" r="21972" t="0"/>
          <a:stretch/>
        </p:blipFill>
        <p:spPr>
          <a:xfrm>
            <a:off x="324000" y="658100"/>
            <a:ext cx="5144049" cy="4162300"/>
          </a:xfrm>
          <a:prstGeom prst="rect">
            <a:avLst/>
          </a:prstGeom>
          <a:noFill/>
          <a:ln>
            <a:noFill/>
          </a:ln>
        </p:spPr>
      </p:pic>
      <p:sp>
        <p:nvSpPr>
          <p:cNvPr id="1162" name="Google Shape;1162;p83"/>
          <p:cNvSpPr/>
          <p:nvPr/>
        </p:nvSpPr>
        <p:spPr>
          <a:xfrm>
            <a:off x="1047459" y="1486645"/>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3" name="Google Shape;1163;p83"/>
          <p:cNvSpPr/>
          <p:nvPr/>
        </p:nvSpPr>
        <p:spPr>
          <a:xfrm>
            <a:off x="1926109" y="89984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4" name="Google Shape;1164;p83"/>
          <p:cNvSpPr/>
          <p:nvPr/>
        </p:nvSpPr>
        <p:spPr>
          <a:xfrm>
            <a:off x="1630737" y="2363745"/>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5" name="Google Shape;1165;p83"/>
          <p:cNvSpPr/>
          <p:nvPr/>
        </p:nvSpPr>
        <p:spPr>
          <a:xfrm>
            <a:off x="2517706" y="177694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66" name="Google Shape;1166;p83"/>
          <p:cNvCxnSpPr/>
          <p:nvPr/>
        </p:nvCxnSpPr>
        <p:spPr>
          <a:xfrm flipH="1">
            <a:off x="1203169" y="1052478"/>
            <a:ext cx="878700" cy="586800"/>
          </a:xfrm>
          <a:prstGeom prst="straightConnector1">
            <a:avLst/>
          </a:prstGeom>
          <a:noFill/>
          <a:ln cap="flat" cmpd="sng" w="38100">
            <a:solidFill>
              <a:schemeClr val="accent4"/>
            </a:solidFill>
            <a:prstDash val="solid"/>
            <a:round/>
            <a:headEnd len="med" w="med" type="none"/>
            <a:tailEnd len="med" w="med" type="none"/>
          </a:ln>
        </p:spPr>
      </p:cxnSp>
      <p:cxnSp>
        <p:nvCxnSpPr>
          <p:cNvPr id="1167" name="Google Shape;1167;p83"/>
          <p:cNvCxnSpPr/>
          <p:nvPr/>
        </p:nvCxnSpPr>
        <p:spPr>
          <a:xfrm flipH="1">
            <a:off x="1790294" y="1933153"/>
            <a:ext cx="878700" cy="586800"/>
          </a:xfrm>
          <a:prstGeom prst="straightConnector1">
            <a:avLst/>
          </a:prstGeom>
          <a:noFill/>
          <a:ln cap="flat" cmpd="sng" w="38100">
            <a:solidFill>
              <a:schemeClr val="accent4"/>
            </a:solidFill>
            <a:prstDash val="solid"/>
            <a:round/>
            <a:headEnd len="med" w="med" type="none"/>
            <a:tailEnd len="med" w="med" type="none"/>
          </a:ln>
        </p:spPr>
      </p:cxnSp>
      <p:cxnSp>
        <p:nvCxnSpPr>
          <p:cNvPr id="1168" name="Google Shape;1168;p83"/>
          <p:cNvCxnSpPr/>
          <p:nvPr/>
        </p:nvCxnSpPr>
        <p:spPr>
          <a:xfrm flipH="1" rot="5400000">
            <a:off x="1937069" y="1198416"/>
            <a:ext cx="878700" cy="586800"/>
          </a:xfrm>
          <a:prstGeom prst="straightConnector1">
            <a:avLst/>
          </a:prstGeom>
          <a:noFill/>
          <a:ln cap="flat" cmpd="sng" w="38100">
            <a:solidFill>
              <a:schemeClr val="accent4"/>
            </a:solidFill>
            <a:prstDash val="solid"/>
            <a:round/>
            <a:headEnd len="med" w="med" type="none"/>
            <a:tailEnd len="med" w="med" type="none"/>
          </a:ln>
        </p:spPr>
      </p:cxnSp>
      <p:cxnSp>
        <p:nvCxnSpPr>
          <p:cNvPr id="1169" name="Google Shape;1169;p83"/>
          <p:cNvCxnSpPr/>
          <p:nvPr/>
        </p:nvCxnSpPr>
        <p:spPr>
          <a:xfrm flipH="1" rot="5400000">
            <a:off x="1056394" y="1785541"/>
            <a:ext cx="878700" cy="586800"/>
          </a:xfrm>
          <a:prstGeom prst="straightConnector1">
            <a:avLst/>
          </a:prstGeom>
          <a:noFill/>
          <a:ln cap="flat" cmpd="sng" w="38100">
            <a:solidFill>
              <a:schemeClr val="accent4"/>
            </a:solidFill>
            <a:prstDash val="solid"/>
            <a:round/>
            <a:headEnd len="med" w="med" type="none"/>
            <a:tailEnd len="med" w="med" type="none"/>
          </a:ln>
        </p:spPr>
      </p:cxnSp>
      <p:sp>
        <p:nvSpPr>
          <p:cNvPr id="1170" name="Google Shape;1170;p83"/>
          <p:cNvSpPr txBox="1"/>
          <p:nvPr/>
        </p:nvSpPr>
        <p:spPr>
          <a:xfrm rot="-2163">
            <a:off x="1452711" y="1647609"/>
            <a:ext cx="953400" cy="277200"/>
          </a:xfrm>
          <a:prstGeom prst="rect">
            <a:avLst/>
          </a:prstGeom>
          <a:solidFill>
            <a:schemeClr val="lt1"/>
          </a:solid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square</a:t>
            </a:r>
            <a:endParaRPr sz="1800">
              <a:latin typeface="Lexend"/>
              <a:ea typeface="Lexend"/>
              <a:cs typeface="Lexend"/>
              <a:sym typeface="Lexend"/>
            </a:endParaRPr>
          </a:p>
        </p:txBody>
      </p:sp>
      <p:sp>
        <p:nvSpPr>
          <p:cNvPr id="1171" name="Google Shape;1171;p83"/>
          <p:cNvSpPr/>
          <p:nvPr/>
        </p:nvSpPr>
        <p:spPr>
          <a:xfrm>
            <a:off x="1047172" y="4126909"/>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2" name="Google Shape;1172;p83"/>
          <p:cNvSpPr/>
          <p:nvPr/>
        </p:nvSpPr>
        <p:spPr>
          <a:xfrm>
            <a:off x="3982724" y="4126909"/>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3" name="Google Shape;1173;p83"/>
          <p:cNvSpPr/>
          <p:nvPr/>
        </p:nvSpPr>
        <p:spPr>
          <a:xfrm>
            <a:off x="2517034" y="265873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4" name="Google Shape;1174;p83"/>
          <p:cNvSpPr/>
          <p:nvPr/>
        </p:nvSpPr>
        <p:spPr>
          <a:xfrm rot="8100000">
            <a:off x="1629530" y="3242962"/>
            <a:ext cx="2081440" cy="2081440"/>
          </a:xfrm>
          <a:prstGeom prst="rtTriangle">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5" name="Google Shape;1175;p83"/>
          <p:cNvSpPr txBox="1"/>
          <p:nvPr/>
        </p:nvSpPr>
        <p:spPr>
          <a:xfrm rot="-2231">
            <a:off x="1978400" y="3612757"/>
            <a:ext cx="1386600" cy="554100"/>
          </a:xfrm>
          <a:prstGeom prst="rect">
            <a:avLst/>
          </a:prstGeom>
          <a:solidFill>
            <a:schemeClr val="lt1"/>
          </a:solid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isosceles </a:t>
            </a:r>
            <a:endParaRPr sz="1800">
              <a:latin typeface="Lexend"/>
              <a:ea typeface="Lexend"/>
              <a:cs typeface="Lexend"/>
              <a:sym typeface="Lexend"/>
            </a:endParaRPr>
          </a:p>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triangle</a:t>
            </a:r>
            <a:endParaRPr sz="1800">
              <a:latin typeface="Lexend"/>
              <a:ea typeface="Lexend"/>
              <a:cs typeface="Lexend"/>
              <a:sym typeface="Lexend"/>
            </a:endParaRPr>
          </a:p>
        </p:txBody>
      </p:sp>
      <p:sp>
        <p:nvSpPr>
          <p:cNvPr id="1176" name="Google Shape;1176;p83"/>
          <p:cNvSpPr/>
          <p:nvPr/>
        </p:nvSpPr>
        <p:spPr>
          <a:xfrm>
            <a:off x="3393203" y="1188358"/>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7" name="Google Shape;1177;p83"/>
          <p:cNvSpPr/>
          <p:nvPr/>
        </p:nvSpPr>
        <p:spPr>
          <a:xfrm>
            <a:off x="5154547" y="1486658"/>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8" name="Google Shape;1178;p83"/>
          <p:cNvSpPr/>
          <p:nvPr/>
        </p:nvSpPr>
        <p:spPr>
          <a:xfrm>
            <a:off x="4273889" y="2657771"/>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179" name="Google Shape;1179;p83"/>
          <p:cNvGrpSpPr/>
          <p:nvPr/>
        </p:nvGrpSpPr>
        <p:grpSpPr>
          <a:xfrm>
            <a:off x="3550413" y="1349214"/>
            <a:ext cx="1761600" cy="1469413"/>
            <a:chOff x="4806977" y="1263653"/>
            <a:chExt cx="1761600" cy="1469413"/>
          </a:xfrm>
        </p:grpSpPr>
        <p:cxnSp>
          <p:nvCxnSpPr>
            <p:cNvPr id="1180" name="Google Shape;1180;p83"/>
            <p:cNvCxnSpPr/>
            <p:nvPr/>
          </p:nvCxnSpPr>
          <p:spPr>
            <a:xfrm rot="10800000">
              <a:off x="4807092" y="1263653"/>
              <a:ext cx="1761300" cy="298200"/>
            </a:xfrm>
            <a:prstGeom prst="straightConnector1">
              <a:avLst/>
            </a:prstGeom>
            <a:noFill/>
            <a:ln cap="flat" cmpd="sng" w="38100">
              <a:solidFill>
                <a:schemeClr val="accent4"/>
              </a:solidFill>
              <a:prstDash val="solid"/>
              <a:round/>
              <a:headEnd len="med" w="med" type="none"/>
              <a:tailEnd len="med" w="med" type="none"/>
            </a:ln>
          </p:spPr>
        </p:cxnSp>
        <p:cxnSp>
          <p:nvCxnSpPr>
            <p:cNvPr id="1181" name="Google Shape;1181;p83"/>
            <p:cNvCxnSpPr/>
            <p:nvPr/>
          </p:nvCxnSpPr>
          <p:spPr>
            <a:xfrm flipH="1">
              <a:off x="5687777" y="1561866"/>
              <a:ext cx="880800" cy="1171200"/>
            </a:xfrm>
            <a:prstGeom prst="straightConnector1">
              <a:avLst/>
            </a:prstGeom>
            <a:noFill/>
            <a:ln cap="flat" cmpd="sng" w="38100">
              <a:solidFill>
                <a:schemeClr val="accent4"/>
              </a:solidFill>
              <a:prstDash val="solid"/>
              <a:round/>
              <a:headEnd len="med" w="med" type="none"/>
              <a:tailEnd len="med" w="med" type="none"/>
            </a:ln>
          </p:spPr>
        </p:cxnSp>
        <p:cxnSp>
          <p:nvCxnSpPr>
            <p:cNvPr id="1182" name="Google Shape;1182;p83"/>
            <p:cNvCxnSpPr/>
            <p:nvPr/>
          </p:nvCxnSpPr>
          <p:spPr>
            <a:xfrm>
              <a:off x="4806977" y="1263666"/>
              <a:ext cx="880800" cy="1469400"/>
            </a:xfrm>
            <a:prstGeom prst="straightConnector1">
              <a:avLst/>
            </a:prstGeom>
            <a:noFill/>
            <a:ln cap="flat" cmpd="sng" w="38100">
              <a:solidFill>
                <a:schemeClr val="accent4"/>
              </a:solidFill>
              <a:prstDash val="solid"/>
              <a:round/>
              <a:headEnd len="med" w="med" type="none"/>
              <a:tailEnd len="med" w="med" type="none"/>
            </a:ln>
          </p:spPr>
        </p:cxnSp>
      </p:grpSp>
      <p:sp>
        <p:nvSpPr>
          <p:cNvPr id="1183" name="Google Shape;1183;p83"/>
          <p:cNvSpPr txBox="1"/>
          <p:nvPr/>
        </p:nvSpPr>
        <p:spPr>
          <a:xfrm rot="-2231">
            <a:off x="3883246" y="779557"/>
            <a:ext cx="1386600" cy="554100"/>
          </a:xfrm>
          <a:prstGeom prst="rect">
            <a:avLst/>
          </a:prstGeom>
          <a:solidFill>
            <a:schemeClr val="lt1"/>
          </a:solid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scalene</a:t>
            </a:r>
            <a:endParaRPr sz="1800">
              <a:latin typeface="Lexend"/>
              <a:ea typeface="Lexend"/>
              <a:cs typeface="Lexend"/>
              <a:sym typeface="Lexend"/>
            </a:endParaRPr>
          </a:p>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triangle</a:t>
            </a:r>
            <a:endParaRPr sz="1800">
              <a:latin typeface="Lexend"/>
              <a:ea typeface="Lexend"/>
              <a:cs typeface="Lexend"/>
              <a:sym typeface="Lexend"/>
            </a:endParaRPr>
          </a:p>
        </p:txBody>
      </p:sp>
      <p:sp>
        <p:nvSpPr>
          <p:cNvPr id="1184" name="Google Shape;1184;p83"/>
          <p:cNvSpPr txBox="1"/>
          <p:nvPr/>
        </p:nvSpPr>
        <p:spPr>
          <a:xfrm flipH="1" rot="1262">
            <a:off x="5552400" y="1383250"/>
            <a:ext cx="32676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square</a:t>
            </a:r>
            <a:endParaRPr sz="2000">
              <a:latin typeface="Kalam"/>
              <a:ea typeface="Kalam"/>
              <a:cs typeface="Kalam"/>
              <a:sym typeface="Kalam"/>
            </a:endParaRPr>
          </a:p>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4 × 3.60555</a:t>
            </a:r>
            <a:endParaRPr sz="2000">
              <a:latin typeface="Kalam"/>
              <a:ea typeface="Kalam"/>
              <a:cs typeface="Kalam"/>
              <a:sym typeface="Kalam"/>
            </a:endParaRPr>
          </a:p>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14.42 units</a:t>
            </a:r>
            <a:endParaRPr sz="2000">
              <a:latin typeface="Kalam"/>
              <a:ea typeface="Kalam"/>
              <a:cs typeface="Kalam"/>
              <a:sym typeface="Kalam"/>
            </a:endParaRPr>
          </a:p>
        </p:txBody>
      </p:sp>
      <p:sp>
        <p:nvSpPr>
          <p:cNvPr id="1185" name="Google Shape;1185;p83"/>
          <p:cNvSpPr txBox="1"/>
          <p:nvPr/>
        </p:nvSpPr>
        <p:spPr>
          <a:xfrm flipH="1" rot="1262">
            <a:off x="5552400" y="2484900"/>
            <a:ext cx="32676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isosceles triangle</a:t>
            </a:r>
            <a:endParaRPr sz="2000">
              <a:latin typeface="Kalam"/>
              <a:ea typeface="Kalam"/>
              <a:cs typeface="Kalam"/>
              <a:sym typeface="Kalam"/>
            </a:endParaRPr>
          </a:p>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2 × 7.071 + 10</a:t>
            </a:r>
            <a:endParaRPr sz="2000">
              <a:latin typeface="Kalam"/>
              <a:ea typeface="Kalam"/>
              <a:cs typeface="Kalam"/>
              <a:sym typeface="Kalam"/>
            </a:endParaRPr>
          </a:p>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24.14 units</a:t>
            </a:r>
            <a:endParaRPr sz="2000">
              <a:latin typeface="Kalam"/>
              <a:ea typeface="Kalam"/>
              <a:cs typeface="Kalam"/>
              <a:sym typeface="Kalam"/>
            </a:endParaRPr>
          </a:p>
        </p:txBody>
      </p:sp>
      <p:sp>
        <p:nvSpPr>
          <p:cNvPr id="1186" name="Google Shape;1186;p83"/>
          <p:cNvSpPr txBox="1"/>
          <p:nvPr/>
        </p:nvSpPr>
        <p:spPr>
          <a:xfrm flipH="1" rot="2154">
            <a:off x="5468100" y="717182"/>
            <a:ext cx="33519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2) Calculate the perimeter of each shape (to  2 d.p.).</a:t>
            </a:r>
            <a:endParaRPr sz="1800">
              <a:latin typeface="Lexend"/>
              <a:ea typeface="Lexend"/>
              <a:cs typeface="Lexend"/>
              <a:sym typeface="Lexend"/>
            </a:endParaRPr>
          </a:p>
        </p:txBody>
      </p:sp>
      <p:sp>
        <p:nvSpPr>
          <p:cNvPr id="1187" name="Google Shape;1187;p83"/>
          <p:cNvSpPr txBox="1"/>
          <p:nvPr/>
        </p:nvSpPr>
        <p:spPr>
          <a:xfrm flipH="1" rot="1262">
            <a:off x="5552400" y="3586550"/>
            <a:ext cx="32676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scalene triangle</a:t>
            </a:r>
            <a:endParaRPr sz="2000">
              <a:latin typeface="Kalam"/>
              <a:ea typeface="Kalam"/>
              <a:cs typeface="Kalam"/>
              <a:sym typeface="Kalam"/>
            </a:endParaRPr>
          </a:p>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5.83095 + 5 + 6.08276</a:t>
            </a:r>
            <a:endParaRPr sz="2000">
              <a:latin typeface="Kalam"/>
              <a:ea typeface="Kalam"/>
              <a:cs typeface="Kalam"/>
              <a:sym typeface="Kalam"/>
            </a:endParaRPr>
          </a:p>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16.91 units</a:t>
            </a:r>
            <a:endParaRPr sz="2000">
              <a:latin typeface="Kalam"/>
              <a:ea typeface="Kalam"/>
              <a:cs typeface="Kalam"/>
              <a:sym typeface="Kala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8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pic>
        <p:nvPicPr>
          <p:cNvPr id="1193" name="Google Shape;1193;p84"/>
          <p:cNvPicPr preferRelativeResize="0"/>
          <p:nvPr/>
        </p:nvPicPr>
        <p:blipFill rotWithShape="1">
          <a:blip r:embed="rId3">
            <a:alphaModFix/>
          </a:blip>
          <a:srcRect b="0" l="0" r="21972" t="0"/>
          <a:stretch/>
        </p:blipFill>
        <p:spPr>
          <a:xfrm>
            <a:off x="324000" y="658100"/>
            <a:ext cx="5144049" cy="4162300"/>
          </a:xfrm>
          <a:prstGeom prst="rect">
            <a:avLst/>
          </a:prstGeom>
          <a:noFill/>
          <a:ln>
            <a:noFill/>
          </a:ln>
        </p:spPr>
      </p:pic>
      <p:sp>
        <p:nvSpPr>
          <p:cNvPr id="1194" name="Google Shape;1194;p84"/>
          <p:cNvSpPr/>
          <p:nvPr/>
        </p:nvSpPr>
        <p:spPr>
          <a:xfrm>
            <a:off x="1047459" y="1486645"/>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5" name="Google Shape;1195;p84"/>
          <p:cNvSpPr/>
          <p:nvPr/>
        </p:nvSpPr>
        <p:spPr>
          <a:xfrm>
            <a:off x="1926109" y="89984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6" name="Google Shape;1196;p84"/>
          <p:cNvSpPr/>
          <p:nvPr/>
        </p:nvSpPr>
        <p:spPr>
          <a:xfrm>
            <a:off x="1630737" y="2363745"/>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7" name="Google Shape;1197;p84"/>
          <p:cNvSpPr/>
          <p:nvPr/>
        </p:nvSpPr>
        <p:spPr>
          <a:xfrm>
            <a:off x="2517706" y="177694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98" name="Google Shape;1198;p84"/>
          <p:cNvCxnSpPr/>
          <p:nvPr/>
        </p:nvCxnSpPr>
        <p:spPr>
          <a:xfrm flipH="1">
            <a:off x="1203169" y="1052478"/>
            <a:ext cx="878700" cy="586800"/>
          </a:xfrm>
          <a:prstGeom prst="straightConnector1">
            <a:avLst/>
          </a:prstGeom>
          <a:noFill/>
          <a:ln cap="flat" cmpd="sng" w="38100">
            <a:solidFill>
              <a:schemeClr val="accent4"/>
            </a:solidFill>
            <a:prstDash val="solid"/>
            <a:round/>
            <a:headEnd len="med" w="med" type="none"/>
            <a:tailEnd len="med" w="med" type="none"/>
          </a:ln>
        </p:spPr>
      </p:cxnSp>
      <p:cxnSp>
        <p:nvCxnSpPr>
          <p:cNvPr id="1199" name="Google Shape;1199;p84"/>
          <p:cNvCxnSpPr/>
          <p:nvPr/>
        </p:nvCxnSpPr>
        <p:spPr>
          <a:xfrm flipH="1">
            <a:off x="1790294" y="1933153"/>
            <a:ext cx="878700" cy="586800"/>
          </a:xfrm>
          <a:prstGeom prst="straightConnector1">
            <a:avLst/>
          </a:prstGeom>
          <a:noFill/>
          <a:ln cap="flat" cmpd="sng" w="38100">
            <a:solidFill>
              <a:schemeClr val="accent4"/>
            </a:solidFill>
            <a:prstDash val="solid"/>
            <a:round/>
            <a:headEnd len="med" w="med" type="none"/>
            <a:tailEnd len="med" w="med" type="none"/>
          </a:ln>
        </p:spPr>
      </p:cxnSp>
      <p:cxnSp>
        <p:nvCxnSpPr>
          <p:cNvPr id="1200" name="Google Shape;1200;p84"/>
          <p:cNvCxnSpPr/>
          <p:nvPr/>
        </p:nvCxnSpPr>
        <p:spPr>
          <a:xfrm flipH="1" rot="5400000">
            <a:off x="1937069" y="1198416"/>
            <a:ext cx="878700" cy="586800"/>
          </a:xfrm>
          <a:prstGeom prst="straightConnector1">
            <a:avLst/>
          </a:prstGeom>
          <a:noFill/>
          <a:ln cap="flat" cmpd="sng" w="38100">
            <a:solidFill>
              <a:schemeClr val="accent4"/>
            </a:solidFill>
            <a:prstDash val="solid"/>
            <a:round/>
            <a:headEnd len="med" w="med" type="none"/>
            <a:tailEnd len="med" w="med" type="none"/>
          </a:ln>
        </p:spPr>
      </p:cxnSp>
      <p:cxnSp>
        <p:nvCxnSpPr>
          <p:cNvPr id="1201" name="Google Shape;1201;p84"/>
          <p:cNvCxnSpPr/>
          <p:nvPr/>
        </p:nvCxnSpPr>
        <p:spPr>
          <a:xfrm flipH="1" rot="5400000">
            <a:off x="1056394" y="1785541"/>
            <a:ext cx="878700" cy="586800"/>
          </a:xfrm>
          <a:prstGeom prst="straightConnector1">
            <a:avLst/>
          </a:prstGeom>
          <a:noFill/>
          <a:ln cap="flat" cmpd="sng" w="38100">
            <a:solidFill>
              <a:schemeClr val="accent4"/>
            </a:solidFill>
            <a:prstDash val="solid"/>
            <a:round/>
            <a:headEnd len="med" w="med" type="none"/>
            <a:tailEnd len="med" w="med" type="none"/>
          </a:ln>
        </p:spPr>
      </p:cxnSp>
      <p:sp>
        <p:nvSpPr>
          <p:cNvPr id="1202" name="Google Shape;1202;p84"/>
          <p:cNvSpPr txBox="1"/>
          <p:nvPr/>
        </p:nvSpPr>
        <p:spPr>
          <a:xfrm rot="-2163">
            <a:off x="1452711" y="1647609"/>
            <a:ext cx="953400" cy="277200"/>
          </a:xfrm>
          <a:prstGeom prst="rect">
            <a:avLst/>
          </a:prstGeom>
          <a:solidFill>
            <a:schemeClr val="lt1"/>
          </a:solid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square</a:t>
            </a:r>
            <a:endParaRPr sz="1800">
              <a:latin typeface="Lexend"/>
              <a:ea typeface="Lexend"/>
              <a:cs typeface="Lexend"/>
              <a:sym typeface="Lexend"/>
            </a:endParaRPr>
          </a:p>
        </p:txBody>
      </p:sp>
      <p:sp>
        <p:nvSpPr>
          <p:cNvPr id="1203" name="Google Shape;1203;p84"/>
          <p:cNvSpPr/>
          <p:nvPr/>
        </p:nvSpPr>
        <p:spPr>
          <a:xfrm>
            <a:off x="1047172" y="4126909"/>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4" name="Google Shape;1204;p84"/>
          <p:cNvSpPr/>
          <p:nvPr/>
        </p:nvSpPr>
        <p:spPr>
          <a:xfrm>
            <a:off x="3982724" y="4126909"/>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5" name="Google Shape;1205;p84"/>
          <p:cNvSpPr/>
          <p:nvPr/>
        </p:nvSpPr>
        <p:spPr>
          <a:xfrm>
            <a:off x="2517034" y="2658732"/>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6" name="Google Shape;1206;p84"/>
          <p:cNvSpPr/>
          <p:nvPr/>
        </p:nvSpPr>
        <p:spPr>
          <a:xfrm rot="8100000">
            <a:off x="1629530" y="3242962"/>
            <a:ext cx="2081440" cy="2081440"/>
          </a:xfrm>
          <a:prstGeom prst="rtTriangle">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7" name="Google Shape;1207;p84"/>
          <p:cNvSpPr txBox="1"/>
          <p:nvPr/>
        </p:nvSpPr>
        <p:spPr>
          <a:xfrm rot="-2231">
            <a:off x="1978400" y="3612757"/>
            <a:ext cx="1386600" cy="554100"/>
          </a:xfrm>
          <a:prstGeom prst="rect">
            <a:avLst/>
          </a:prstGeom>
          <a:solidFill>
            <a:schemeClr val="lt1"/>
          </a:solid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isosceles </a:t>
            </a:r>
            <a:endParaRPr sz="1800">
              <a:latin typeface="Lexend"/>
              <a:ea typeface="Lexend"/>
              <a:cs typeface="Lexend"/>
              <a:sym typeface="Lexend"/>
            </a:endParaRPr>
          </a:p>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triangle</a:t>
            </a:r>
            <a:endParaRPr sz="1800">
              <a:latin typeface="Lexend"/>
              <a:ea typeface="Lexend"/>
              <a:cs typeface="Lexend"/>
              <a:sym typeface="Lexend"/>
            </a:endParaRPr>
          </a:p>
        </p:txBody>
      </p:sp>
      <p:sp>
        <p:nvSpPr>
          <p:cNvPr id="1208" name="Google Shape;1208;p84"/>
          <p:cNvSpPr/>
          <p:nvPr/>
        </p:nvSpPr>
        <p:spPr>
          <a:xfrm>
            <a:off x="3393203" y="1188358"/>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9" name="Google Shape;1209;p84"/>
          <p:cNvSpPr/>
          <p:nvPr/>
        </p:nvSpPr>
        <p:spPr>
          <a:xfrm>
            <a:off x="5154547" y="1486658"/>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0" name="Google Shape;1210;p84"/>
          <p:cNvSpPr/>
          <p:nvPr/>
        </p:nvSpPr>
        <p:spPr>
          <a:xfrm>
            <a:off x="4273889" y="2657771"/>
            <a:ext cx="313500" cy="313500"/>
          </a:xfrm>
          <a:prstGeom prst="mathMultiply">
            <a:avLst>
              <a:gd fmla="val 8820" name="adj1"/>
            </a:avLst>
          </a:prstGeom>
          <a:solidFill>
            <a:schemeClr val="accent4"/>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11" name="Google Shape;1211;p84"/>
          <p:cNvGrpSpPr/>
          <p:nvPr/>
        </p:nvGrpSpPr>
        <p:grpSpPr>
          <a:xfrm>
            <a:off x="3550413" y="1349214"/>
            <a:ext cx="1761600" cy="1469413"/>
            <a:chOff x="4806977" y="1263653"/>
            <a:chExt cx="1761600" cy="1469413"/>
          </a:xfrm>
        </p:grpSpPr>
        <p:cxnSp>
          <p:nvCxnSpPr>
            <p:cNvPr id="1212" name="Google Shape;1212;p84"/>
            <p:cNvCxnSpPr/>
            <p:nvPr/>
          </p:nvCxnSpPr>
          <p:spPr>
            <a:xfrm rot="10800000">
              <a:off x="4807092" y="1263653"/>
              <a:ext cx="1761300" cy="298200"/>
            </a:xfrm>
            <a:prstGeom prst="straightConnector1">
              <a:avLst/>
            </a:prstGeom>
            <a:noFill/>
            <a:ln cap="flat" cmpd="sng" w="38100">
              <a:solidFill>
                <a:schemeClr val="accent4"/>
              </a:solidFill>
              <a:prstDash val="solid"/>
              <a:round/>
              <a:headEnd len="med" w="med" type="none"/>
              <a:tailEnd len="med" w="med" type="none"/>
            </a:ln>
          </p:spPr>
        </p:cxnSp>
        <p:cxnSp>
          <p:nvCxnSpPr>
            <p:cNvPr id="1213" name="Google Shape;1213;p84"/>
            <p:cNvCxnSpPr/>
            <p:nvPr/>
          </p:nvCxnSpPr>
          <p:spPr>
            <a:xfrm flipH="1">
              <a:off x="5687777" y="1561866"/>
              <a:ext cx="880800" cy="1171200"/>
            </a:xfrm>
            <a:prstGeom prst="straightConnector1">
              <a:avLst/>
            </a:prstGeom>
            <a:noFill/>
            <a:ln cap="flat" cmpd="sng" w="38100">
              <a:solidFill>
                <a:schemeClr val="accent4"/>
              </a:solidFill>
              <a:prstDash val="solid"/>
              <a:round/>
              <a:headEnd len="med" w="med" type="none"/>
              <a:tailEnd len="med" w="med" type="none"/>
            </a:ln>
          </p:spPr>
        </p:cxnSp>
        <p:cxnSp>
          <p:nvCxnSpPr>
            <p:cNvPr id="1214" name="Google Shape;1214;p84"/>
            <p:cNvCxnSpPr/>
            <p:nvPr/>
          </p:nvCxnSpPr>
          <p:spPr>
            <a:xfrm>
              <a:off x="4806977" y="1263666"/>
              <a:ext cx="880800" cy="1469400"/>
            </a:xfrm>
            <a:prstGeom prst="straightConnector1">
              <a:avLst/>
            </a:prstGeom>
            <a:noFill/>
            <a:ln cap="flat" cmpd="sng" w="38100">
              <a:solidFill>
                <a:schemeClr val="accent4"/>
              </a:solidFill>
              <a:prstDash val="solid"/>
              <a:round/>
              <a:headEnd len="med" w="med" type="none"/>
              <a:tailEnd len="med" w="med" type="none"/>
            </a:ln>
          </p:spPr>
        </p:cxnSp>
      </p:grpSp>
      <p:sp>
        <p:nvSpPr>
          <p:cNvPr id="1215" name="Google Shape;1215;p84"/>
          <p:cNvSpPr txBox="1"/>
          <p:nvPr/>
        </p:nvSpPr>
        <p:spPr>
          <a:xfrm flipH="1" rot="1262">
            <a:off x="5552400" y="3205550"/>
            <a:ext cx="3267600" cy="1231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There are many possible solutions, such as a triangle with vertices (4, 6), (3, 12) and (10, 8)</a:t>
            </a:r>
            <a:endParaRPr sz="2000">
              <a:latin typeface="Kalam"/>
              <a:ea typeface="Kalam"/>
              <a:cs typeface="Kalam"/>
              <a:sym typeface="Kalam"/>
            </a:endParaRPr>
          </a:p>
        </p:txBody>
      </p:sp>
      <p:sp>
        <p:nvSpPr>
          <p:cNvPr id="1216" name="Google Shape;1216;p84"/>
          <p:cNvSpPr txBox="1"/>
          <p:nvPr/>
        </p:nvSpPr>
        <p:spPr>
          <a:xfrm rot="-2231">
            <a:off x="3883246" y="779557"/>
            <a:ext cx="1386600" cy="554100"/>
          </a:xfrm>
          <a:prstGeom prst="rect">
            <a:avLst/>
          </a:prstGeom>
          <a:solidFill>
            <a:schemeClr val="lt1"/>
          </a:solid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scalene</a:t>
            </a:r>
            <a:endParaRPr sz="1800">
              <a:latin typeface="Lexend"/>
              <a:ea typeface="Lexend"/>
              <a:cs typeface="Lexend"/>
              <a:sym typeface="Lexend"/>
            </a:endParaRPr>
          </a:p>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triangle</a:t>
            </a:r>
            <a:endParaRPr sz="1800">
              <a:latin typeface="Lexend"/>
              <a:ea typeface="Lexend"/>
              <a:cs typeface="Lexend"/>
              <a:sym typeface="Lexend"/>
            </a:endParaRPr>
          </a:p>
        </p:txBody>
      </p:sp>
      <p:sp>
        <p:nvSpPr>
          <p:cNvPr id="1217" name="Google Shape;1217;p84"/>
          <p:cNvSpPr txBox="1"/>
          <p:nvPr/>
        </p:nvSpPr>
        <p:spPr>
          <a:xfrm flipH="1" rot="2219">
            <a:off x="5566500" y="732288"/>
            <a:ext cx="3253501" cy="1939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3) Write down three coordinates whose vertices make a triangle with a perimeter of between 20 and 22 units in length.</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Show this is correct using Pythagoras’ theorem.</a:t>
            </a:r>
            <a:endParaRPr sz="1800">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85"/>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coordinates</a:t>
            </a:r>
            <a:endParaRPr/>
          </a:p>
        </p:txBody>
      </p:sp>
      <p:sp>
        <p:nvSpPr>
          <p:cNvPr id="1223" name="Google Shape;1223;p85"/>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ratios</a:t>
            </a:r>
            <a:endParaRPr/>
          </a:p>
        </p:txBody>
      </p:sp>
      <p:sp>
        <p:nvSpPr>
          <p:cNvPr id="1224" name="Google Shape;1224;p85"/>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similarity and Pythagoras’ theorem</a:t>
            </a:r>
            <a:endParaRPr/>
          </a:p>
        </p:txBody>
      </p:sp>
      <p:pic>
        <p:nvPicPr>
          <p:cNvPr id="1225" name="Google Shape;1225;p85"/>
          <p:cNvPicPr preferRelativeResize="0"/>
          <p:nvPr/>
        </p:nvPicPr>
        <p:blipFill>
          <a:blip r:embed="rId3">
            <a:alphaModFix/>
          </a:blip>
          <a:stretch>
            <a:fillRect/>
          </a:stretch>
        </p:blipFill>
        <p:spPr>
          <a:xfrm>
            <a:off x="415238" y="3001588"/>
            <a:ext cx="450575" cy="4467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86"/>
          <p:cNvSpPr txBox="1"/>
          <p:nvPr/>
        </p:nvSpPr>
        <p:spPr>
          <a:xfrm flipH="1" rot="2185">
            <a:off x="323999" y="715527"/>
            <a:ext cx="8496002"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You may see several similar shapes involving right-angled triangles on a daily basis without even realising it!</a:t>
            </a:r>
            <a:endParaRPr sz="1800">
              <a:latin typeface="Lexend"/>
              <a:ea typeface="Lexend"/>
              <a:cs typeface="Lexend"/>
              <a:sym typeface="Lexend"/>
            </a:endParaRPr>
          </a:p>
        </p:txBody>
      </p:sp>
      <p:sp>
        <p:nvSpPr>
          <p:cNvPr id="1231" name="Google Shape;1231;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ratios</a:t>
            </a:r>
            <a:endParaRPr/>
          </a:p>
        </p:txBody>
      </p:sp>
      <p:pic>
        <p:nvPicPr>
          <p:cNvPr id="1232" name="Google Shape;1232;p86"/>
          <p:cNvPicPr preferRelativeResize="0"/>
          <p:nvPr/>
        </p:nvPicPr>
        <p:blipFill>
          <a:blip r:embed="rId3">
            <a:alphaModFix/>
          </a:blip>
          <a:stretch>
            <a:fillRect/>
          </a:stretch>
        </p:blipFill>
        <p:spPr>
          <a:xfrm>
            <a:off x="4472400" y="1276393"/>
            <a:ext cx="1867891" cy="1535181"/>
          </a:xfrm>
          <a:prstGeom prst="rect">
            <a:avLst/>
          </a:prstGeom>
          <a:noFill/>
          <a:ln>
            <a:noFill/>
          </a:ln>
        </p:spPr>
      </p:pic>
      <p:pic>
        <p:nvPicPr>
          <p:cNvPr id="1233" name="Google Shape;1233;p86"/>
          <p:cNvPicPr preferRelativeResize="0"/>
          <p:nvPr/>
        </p:nvPicPr>
        <p:blipFill rotWithShape="1">
          <a:blip r:embed="rId4">
            <a:alphaModFix/>
          </a:blip>
          <a:srcRect b="5649" l="27600" r="24449" t="7694"/>
          <a:stretch/>
        </p:blipFill>
        <p:spPr>
          <a:xfrm rot="-5400000">
            <a:off x="5845894" y="2825932"/>
            <a:ext cx="507975" cy="918026"/>
          </a:xfrm>
          <a:prstGeom prst="rect">
            <a:avLst/>
          </a:prstGeom>
          <a:noFill/>
          <a:ln>
            <a:noFill/>
          </a:ln>
        </p:spPr>
      </p:pic>
      <p:pic>
        <p:nvPicPr>
          <p:cNvPr id="1234" name="Google Shape;1234;p86"/>
          <p:cNvPicPr preferRelativeResize="0"/>
          <p:nvPr/>
        </p:nvPicPr>
        <p:blipFill>
          <a:blip r:embed="rId5">
            <a:alphaModFix/>
          </a:blip>
          <a:stretch>
            <a:fillRect/>
          </a:stretch>
        </p:blipFill>
        <p:spPr>
          <a:xfrm>
            <a:off x="6773899" y="1779850"/>
            <a:ext cx="1805700" cy="1805700"/>
          </a:xfrm>
          <a:prstGeom prst="rect">
            <a:avLst/>
          </a:prstGeom>
          <a:noFill/>
          <a:ln>
            <a:noFill/>
          </a:ln>
        </p:spPr>
      </p:pic>
      <p:sp>
        <p:nvSpPr>
          <p:cNvPr id="1235" name="Google Shape;1235;p86"/>
          <p:cNvSpPr txBox="1"/>
          <p:nvPr/>
        </p:nvSpPr>
        <p:spPr>
          <a:xfrm flipH="1" rot="2003">
            <a:off x="323925" y="1506199"/>
            <a:ext cx="36039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Most TV screens,</a:t>
            </a:r>
            <a:endParaRPr sz="1800">
              <a:latin typeface="Lexend"/>
              <a:ea typeface="Lexend"/>
              <a:cs typeface="Lexend"/>
              <a:sym typeface="Lexend"/>
            </a:endParaRPr>
          </a:p>
        </p:txBody>
      </p:sp>
      <p:sp>
        <p:nvSpPr>
          <p:cNvPr id="1236" name="Google Shape;1236;p86"/>
          <p:cNvSpPr txBox="1"/>
          <p:nvPr/>
        </p:nvSpPr>
        <p:spPr>
          <a:xfrm flipH="1" rot="2003">
            <a:off x="323925" y="1840074"/>
            <a:ext cx="36039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computer monitors,</a:t>
            </a:r>
            <a:endParaRPr sz="1800">
              <a:latin typeface="Lexend"/>
              <a:ea typeface="Lexend"/>
              <a:cs typeface="Lexend"/>
              <a:sym typeface="Lexend"/>
            </a:endParaRPr>
          </a:p>
        </p:txBody>
      </p:sp>
      <p:sp>
        <p:nvSpPr>
          <p:cNvPr id="1237" name="Google Shape;1237;p86"/>
          <p:cNvSpPr txBox="1"/>
          <p:nvPr/>
        </p:nvSpPr>
        <p:spPr>
          <a:xfrm flipH="1" rot="2003">
            <a:off x="323925" y="2173949"/>
            <a:ext cx="36039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and mobile phone screens</a:t>
            </a:r>
            <a:endParaRPr sz="1800">
              <a:latin typeface="Lexend"/>
              <a:ea typeface="Lexend"/>
              <a:cs typeface="Lexend"/>
              <a:sym typeface="Lexend"/>
            </a:endParaRPr>
          </a:p>
        </p:txBody>
      </p:sp>
      <p:sp>
        <p:nvSpPr>
          <p:cNvPr id="1238" name="Google Shape;1238;p86"/>
          <p:cNvSpPr txBox="1"/>
          <p:nvPr/>
        </p:nvSpPr>
        <p:spPr>
          <a:xfrm flipH="1" rot="2119">
            <a:off x="323800" y="3641695"/>
            <a:ext cx="48681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This is so a movie can be played           normally on one screen without it looking…</a:t>
            </a:r>
            <a:endParaRPr sz="1800">
              <a:latin typeface="Lexend"/>
              <a:ea typeface="Lexend"/>
              <a:cs typeface="Lexend"/>
              <a:sym typeface="Lexend"/>
            </a:endParaRPr>
          </a:p>
        </p:txBody>
      </p:sp>
      <p:sp>
        <p:nvSpPr>
          <p:cNvPr id="1239" name="Google Shape;1239;p86"/>
          <p:cNvSpPr txBox="1"/>
          <p:nvPr/>
        </p:nvSpPr>
        <p:spPr>
          <a:xfrm flipH="1" rot="2003">
            <a:off x="323925" y="2686074"/>
            <a:ext cx="36039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are similar in their shape.</a:t>
            </a:r>
            <a:endParaRPr sz="1800">
              <a:latin typeface="Lexend"/>
              <a:ea typeface="Lexend"/>
              <a:cs typeface="Lexend"/>
              <a:sym typeface="Lexend"/>
            </a:endParaRPr>
          </a:p>
        </p:txBody>
      </p:sp>
      <p:grpSp>
        <p:nvGrpSpPr>
          <p:cNvPr id="1240" name="Google Shape;1240;p86"/>
          <p:cNvGrpSpPr/>
          <p:nvPr/>
        </p:nvGrpSpPr>
        <p:grpSpPr>
          <a:xfrm>
            <a:off x="4533425" y="1344950"/>
            <a:ext cx="1743050" cy="1091712"/>
            <a:chOff x="4381025" y="1725950"/>
            <a:chExt cx="1743050" cy="1091712"/>
          </a:xfrm>
        </p:grpSpPr>
        <p:pic>
          <p:nvPicPr>
            <p:cNvPr id="1241" name="Google Shape;1241;p86"/>
            <p:cNvPicPr preferRelativeResize="0"/>
            <p:nvPr/>
          </p:nvPicPr>
          <p:blipFill rotWithShape="1">
            <a:blip r:embed="rId6">
              <a:alphaModFix/>
            </a:blip>
            <a:srcRect b="46539" l="18318" r="18318" t="31227"/>
            <a:stretch/>
          </p:blipFill>
          <p:spPr>
            <a:xfrm>
              <a:off x="4381025" y="1725950"/>
              <a:ext cx="1743050" cy="1091712"/>
            </a:xfrm>
            <a:prstGeom prst="rect">
              <a:avLst/>
            </a:prstGeom>
            <a:noFill/>
            <a:ln>
              <a:noFill/>
            </a:ln>
          </p:spPr>
        </p:pic>
        <p:grpSp>
          <p:nvGrpSpPr>
            <p:cNvPr id="1242" name="Google Shape;1242;p86"/>
            <p:cNvGrpSpPr/>
            <p:nvPr/>
          </p:nvGrpSpPr>
          <p:grpSpPr>
            <a:xfrm>
              <a:off x="4430112" y="1966202"/>
              <a:ext cx="1591874" cy="613496"/>
              <a:chOff x="4571988" y="-1983604"/>
              <a:chExt cx="4680607" cy="1803869"/>
            </a:xfrm>
          </p:grpSpPr>
          <p:pic>
            <p:nvPicPr>
              <p:cNvPr id="1243" name="Google Shape;1243;p86"/>
              <p:cNvPicPr preferRelativeResize="0"/>
              <p:nvPr/>
            </p:nvPicPr>
            <p:blipFill>
              <a:blip r:embed="rId7">
                <a:alphaModFix/>
              </a:blip>
              <a:stretch>
                <a:fillRect/>
              </a:stretch>
            </p:blipFill>
            <p:spPr>
              <a:xfrm>
                <a:off x="7294548" y="-1837126"/>
                <a:ext cx="1958046" cy="1510933"/>
              </a:xfrm>
              <a:prstGeom prst="rect">
                <a:avLst/>
              </a:prstGeom>
              <a:noFill/>
              <a:ln>
                <a:noFill/>
              </a:ln>
            </p:spPr>
          </p:pic>
          <p:pic>
            <p:nvPicPr>
              <p:cNvPr id="1244" name="Google Shape;1244;p86"/>
              <p:cNvPicPr preferRelativeResize="0"/>
              <p:nvPr/>
            </p:nvPicPr>
            <p:blipFill>
              <a:blip r:embed="rId8">
                <a:alphaModFix/>
              </a:blip>
              <a:stretch>
                <a:fillRect/>
              </a:stretch>
            </p:blipFill>
            <p:spPr>
              <a:xfrm flipH="1">
                <a:off x="4571988" y="-1983604"/>
                <a:ext cx="2112223" cy="1803869"/>
              </a:xfrm>
              <a:prstGeom prst="rect">
                <a:avLst/>
              </a:prstGeom>
              <a:noFill/>
              <a:ln>
                <a:noFill/>
              </a:ln>
            </p:spPr>
          </p:pic>
        </p:grpSp>
      </p:grpSp>
      <p:sp>
        <p:nvSpPr>
          <p:cNvPr id="1245" name="Google Shape;1245;p86"/>
          <p:cNvSpPr txBox="1"/>
          <p:nvPr/>
        </p:nvSpPr>
        <p:spPr>
          <a:xfrm flipH="1" rot="2184">
            <a:off x="323774" y="4265152"/>
            <a:ext cx="51933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distorted or stretched on a different screen that is wider in proportion to its height.</a:t>
            </a:r>
            <a:endParaRPr sz="1800">
              <a:latin typeface="Lexend"/>
              <a:ea typeface="Lexend"/>
              <a:cs typeface="Lexend"/>
              <a:sym typeface="Lexend"/>
            </a:endParaRPr>
          </a:p>
        </p:txBody>
      </p:sp>
      <p:grpSp>
        <p:nvGrpSpPr>
          <p:cNvPr id="1246" name="Google Shape;1246;p86"/>
          <p:cNvGrpSpPr/>
          <p:nvPr/>
        </p:nvGrpSpPr>
        <p:grpSpPr>
          <a:xfrm>
            <a:off x="4726350" y="3030950"/>
            <a:ext cx="1832548" cy="507975"/>
            <a:chOff x="4726350" y="3603325"/>
            <a:chExt cx="1832548" cy="507975"/>
          </a:xfrm>
        </p:grpSpPr>
        <p:grpSp>
          <p:nvGrpSpPr>
            <p:cNvPr id="1247" name="Google Shape;1247;p86"/>
            <p:cNvGrpSpPr/>
            <p:nvPr/>
          </p:nvGrpSpPr>
          <p:grpSpPr>
            <a:xfrm>
              <a:off x="4726350" y="3603325"/>
              <a:ext cx="1832548" cy="507975"/>
              <a:chOff x="4726350" y="3603325"/>
              <a:chExt cx="1832548" cy="507975"/>
            </a:xfrm>
          </p:grpSpPr>
          <p:pic>
            <p:nvPicPr>
              <p:cNvPr id="1248" name="Google Shape;1248;p86"/>
              <p:cNvPicPr preferRelativeResize="0"/>
              <p:nvPr/>
            </p:nvPicPr>
            <p:blipFill rotWithShape="1">
              <a:blip r:embed="rId4">
                <a:alphaModFix/>
              </a:blip>
              <a:srcRect b="5646" l="27600" r="24449" t="30905"/>
              <a:stretch/>
            </p:blipFill>
            <p:spPr>
              <a:xfrm rot="-5400000">
                <a:off x="5968836" y="3521238"/>
                <a:ext cx="507975" cy="672150"/>
              </a:xfrm>
              <a:prstGeom prst="rect">
                <a:avLst/>
              </a:prstGeom>
              <a:noFill/>
              <a:ln>
                <a:noFill/>
              </a:ln>
            </p:spPr>
          </p:pic>
          <p:pic>
            <p:nvPicPr>
              <p:cNvPr id="1249" name="Google Shape;1249;p86"/>
              <p:cNvPicPr preferRelativeResize="0"/>
              <p:nvPr/>
            </p:nvPicPr>
            <p:blipFill rotWithShape="1">
              <a:blip r:embed="rId4">
                <a:alphaModFix/>
              </a:blip>
              <a:srcRect b="19570" l="27600" r="24449" t="6437"/>
              <a:stretch/>
            </p:blipFill>
            <p:spPr>
              <a:xfrm rot="-5400000">
                <a:off x="4864288" y="3465387"/>
                <a:ext cx="507975" cy="783850"/>
              </a:xfrm>
              <a:prstGeom prst="rect">
                <a:avLst/>
              </a:prstGeom>
              <a:noFill/>
              <a:ln>
                <a:noFill/>
              </a:ln>
            </p:spPr>
          </p:pic>
          <p:pic>
            <p:nvPicPr>
              <p:cNvPr id="1250" name="Google Shape;1250;p86"/>
              <p:cNvPicPr preferRelativeResize="0"/>
              <p:nvPr/>
            </p:nvPicPr>
            <p:blipFill rotWithShape="1">
              <a:blip r:embed="rId4">
                <a:alphaModFix/>
              </a:blip>
              <a:srcRect b="19565" l="27600" r="24449" t="22853"/>
              <a:stretch/>
            </p:blipFill>
            <p:spPr>
              <a:xfrm rot="-5400000">
                <a:off x="5472550" y="3552325"/>
                <a:ext cx="507975" cy="609975"/>
              </a:xfrm>
              <a:prstGeom prst="rect">
                <a:avLst/>
              </a:prstGeom>
              <a:noFill/>
              <a:ln>
                <a:noFill/>
              </a:ln>
            </p:spPr>
          </p:pic>
        </p:grpSp>
        <p:grpSp>
          <p:nvGrpSpPr>
            <p:cNvPr id="1251" name="Google Shape;1251;p86"/>
            <p:cNvGrpSpPr/>
            <p:nvPr/>
          </p:nvGrpSpPr>
          <p:grpSpPr>
            <a:xfrm>
              <a:off x="4806822" y="3618970"/>
              <a:ext cx="1663219" cy="475222"/>
              <a:chOff x="4381025" y="1725950"/>
              <a:chExt cx="1743050" cy="1091712"/>
            </a:xfrm>
          </p:grpSpPr>
          <p:pic>
            <p:nvPicPr>
              <p:cNvPr id="1252" name="Google Shape;1252;p86"/>
              <p:cNvPicPr preferRelativeResize="0"/>
              <p:nvPr/>
            </p:nvPicPr>
            <p:blipFill rotWithShape="1">
              <a:blip r:embed="rId6">
                <a:alphaModFix/>
              </a:blip>
              <a:srcRect b="46539" l="18318" r="18318" t="31227"/>
              <a:stretch/>
            </p:blipFill>
            <p:spPr>
              <a:xfrm>
                <a:off x="4381025" y="1725950"/>
                <a:ext cx="1743050" cy="1091712"/>
              </a:xfrm>
              <a:prstGeom prst="rect">
                <a:avLst/>
              </a:prstGeom>
              <a:noFill/>
              <a:ln>
                <a:noFill/>
              </a:ln>
            </p:spPr>
          </p:pic>
          <p:grpSp>
            <p:nvGrpSpPr>
              <p:cNvPr id="1253" name="Google Shape;1253;p86"/>
              <p:cNvGrpSpPr/>
              <p:nvPr/>
            </p:nvGrpSpPr>
            <p:grpSpPr>
              <a:xfrm>
                <a:off x="4430112" y="1966202"/>
                <a:ext cx="1591874" cy="613496"/>
                <a:chOff x="4571988" y="-1983604"/>
                <a:chExt cx="4680607" cy="1803869"/>
              </a:xfrm>
            </p:grpSpPr>
            <p:pic>
              <p:nvPicPr>
                <p:cNvPr id="1254" name="Google Shape;1254;p86"/>
                <p:cNvPicPr preferRelativeResize="0"/>
                <p:nvPr/>
              </p:nvPicPr>
              <p:blipFill>
                <a:blip r:embed="rId7">
                  <a:alphaModFix/>
                </a:blip>
                <a:stretch>
                  <a:fillRect/>
                </a:stretch>
              </p:blipFill>
              <p:spPr>
                <a:xfrm>
                  <a:off x="7294548" y="-1837126"/>
                  <a:ext cx="1958046" cy="1510933"/>
                </a:xfrm>
                <a:prstGeom prst="rect">
                  <a:avLst/>
                </a:prstGeom>
                <a:noFill/>
                <a:ln>
                  <a:noFill/>
                </a:ln>
              </p:spPr>
            </p:pic>
            <p:pic>
              <p:nvPicPr>
                <p:cNvPr id="1255" name="Google Shape;1255;p86"/>
                <p:cNvPicPr preferRelativeResize="0"/>
                <p:nvPr/>
              </p:nvPicPr>
              <p:blipFill>
                <a:blip r:embed="rId8">
                  <a:alphaModFix/>
                </a:blip>
                <a:stretch>
                  <a:fillRect/>
                </a:stretch>
              </p:blipFill>
              <p:spPr>
                <a:xfrm flipH="1">
                  <a:off x="4571988" y="-1983604"/>
                  <a:ext cx="2112223" cy="1803869"/>
                </a:xfrm>
                <a:prstGeom prst="rect">
                  <a:avLst/>
                </a:prstGeom>
                <a:noFill/>
                <a:ln>
                  <a:noFill/>
                </a:ln>
              </p:spPr>
            </p:pic>
          </p:gr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87"/>
          <p:cNvSpPr txBox="1"/>
          <p:nvPr/>
        </p:nvSpPr>
        <p:spPr>
          <a:xfrm flipH="1" rot="2720">
            <a:off x="323975" y="2062525"/>
            <a:ext cx="22746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Meaning for every 16 units across,</a:t>
            </a:r>
            <a:endParaRPr sz="1800">
              <a:latin typeface="Lexend"/>
              <a:ea typeface="Lexend"/>
              <a:cs typeface="Lexend"/>
              <a:sym typeface="Lexend"/>
            </a:endParaRPr>
          </a:p>
        </p:txBody>
      </p:sp>
      <p:sp>
        <p:nvSpPr>
          <p:cNvPr id="1261" name="Google Shape;1261;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ratios</a:t>
            </a:r>
            <a:endParaRPr/>
          </a:p>
        </p:txBody>
      </p:sp>
      <p:pic>
        <p:nvPicPr>
          <p:cNvPr id="1262" name="Google Shape;1262;p87"/>
          <p:cNvPicPr preferRelativeResize="0"/>
          <p:nvPr/>
        </p:nvPicPr>
        <p:blipFill rotWithShape="1">
          <a:blip r:embed="rId3">
            <a:alphaModFix/>
          </a:blip>
          <a:srcRect b="28749" l="0" r="0" t="0"/>
          <a:stretch/>
        </p:blipFill>
        <p:spPr>
          <a:xfrm>
            <a:off x="2726405" y="1224125"/>
            <a:ext cx="5140925" cy="3010401"/>
          </a:xfrm>
          <a:prstGeom prst="rect">
            <a:avLst/>
          </a:prstGeom>
          <a:noFill/>
          <a:ln>
            <a:noFill/>
          </a:ln>
        </p:spPr>
      </p:pic>
      <p:pic>
        <p:nvPicPr>
          <p:cNvPr id="1263" name="Google Shape;1263;p87"/>
          <p:cNvPicPr preferRelativeResize="0"/>
          <p:nvPr/>
        </p:nvPicPr>
        <p:blipFill rotWithShape="1">
          <a:blip r:embed="rId3">
            <a:alphaModFix/>
          </a:blip>
          <a:srcRect b="9442" l="0" r="0" t="69848"/>
          <a:stretch/>
        </p:blipFill>
        <p:spPr>
          <a:xfrm>
            <a:off x="2726405" y="3854204"/>
            <a:ext cx="5140925" cy="874975"/>
          </a:xfrm>
          <a:prstGeom prst="rect">
            <a:avLst/>
          </a:prstGeom>
          <a:noFill/>
          <a:ln>
            <a:noFill/>
          </a:ln>
        </p:spPr>
      </p:pic>
      <p:sp>
        <p:nvSpPr>
          <p:cNvPr id="1264" name="Google Shape;1264;p87"/>
          <p:cNvSpPr txBox="1"/>
          <p:nvPr/>
        </p:nvSpPr>
        <p:spPr>
          <a:xfrm flipH="1" rot="2720">
            <a:off x="323975" y="713675"/>
            <a:ext cx="2274601"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We say that each of these widescreen screens are in the  16 : 9 aspect ratio.</a:t>
            </a:r>
            <a:endParaRPr sz="1800">
              <a:latin typeface="Lexend"/>
              <a:ea typeface="Lexend"/>
              <a:cs typeface="Lexend"/>
              <a:sym typeface="Lexend"/>
            </a:endParaRPr>
          </a:p>
        </p:txBody>
      </p:sp>
      <p:graphicFrame>
        <p:nvGraphicFramePr>
          <p:cNvPr id="1265" name="Google Shape;1265;p87"/>
          <p:cNvGraphicFramePr/>
          <p:nvPr/>
        </p:nvGraphicFramePr>
        <p:xfrm>
          <a:off x="2900455" y="1405675"/>
          <a:ext cx="3000000" cy="3000000"/>
        </p:xfrm>
        <a:graphic>
          <a:graphicData uri="http://schemas.openxmlformats.org/drawingml/2006/table">
            <a:tbl>
              <a:tblPr>
                <a:noFill/>
                <a:tableStyleId>{018616B7-C05B-4F4E-94F1-144584CD3DCC}</a:tableStyleId>
              </a:tblPr>
              <a:tblGrid>
                <a:gridCol w="299550"/>
                <a:gridCol w="299550"/>
                <a:gridCol w="299550"/>
                <a:gridCol w="299550"/>
                <a:gridCol w="299550"/>
                <a:gridCol w="299550"/>
                <a:gridCol w="299550"/>
                <a:gridCol w="299550"/>
                <a:gridCol w="299550"/>
                <a:gridCol w="299550"/>
                <a:gridCol w="299550"/>
                <a:gridCol w="299550"/>
                <a:gridCol w="299550"/>
                <a:gridCol w="299550"/>
                <a:gridCol w="299550"/>
                <a:gridCol w="299550"/>
              </a:tblGrid>
              <a:tr h="299650">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299650">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299650">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299650">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299650">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299650">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299650">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299650">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r h="299650">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t/>
                      </a:r>
                      <a:endParaRPr sz="100"/>
                    </a:p>
                  </a:txBody>
                  <a:tcPr marT="0" marB="0" marR="0" marL="0">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tcPr>
                </a:tc>
              </a:tr>
            </a:tbl>
          </a:graphicData>
        </a:graphic>
      </p:graphicFrame>
      <p:sp>
        <p:nvSpPr>
          <p:cNvPr id="1266" name="Google Shape;1266;p87"/>
          <p:cNvSpPr txBox="1"/>
          <p:nvPr/>
        </p:nvSpPr>
        <p:spPr>
          <a:xfrm flipH="1" rot="2720">
            <a:off x="323975" y="2619150"/>
            <a:ext cx="22746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there are 9 units up.</a:t>
            </a:r>
            <a:endParaRPr sz="1800">
              <a:solidFill>
                <a:schemeClr val="dk1"/>
              </a:solidFill>
              <a:latin typeface="Lexend"/>
              <a:ea typeface="Lexend"/>
              <a:cs typeface="Lexend"/>
              <a:sym typeface="Lexend"/>
            </a:endParaRPr>
          </a:p>
        </p:txBody>
      </p:sp>
      <p:sp>
        <p:nvSpPr>
          <p:cNvPr id="1267" name="Google Shape;1267;p87"/>
          <p:cNvSpPr txBox="1"/>
          <p:nvPr/>
        </p:nvSpPr>
        <p:spPr>
          <a:xfrm>
            <a:off x="3045235" y="857123"/>
            <a:ext cx="4503105" cy="192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16 units</a:t>
            </a:r>
            <a:endParaRPr sz="1800">
              <a:latin typeface="Lexend"/>
              <a:ea typeface="Lexend"/>
              <a:cs typeface="Lexend"/>
              <a:sym typeface="Lexend"/>
            </a:endParaRPr>
          </a:p>
        </p:txBody>
      </p:sp>
      <p:sp>
        <p:nvSpPr>
          <p:cNvPr id="1268" name="Google Shape;1268;p87"/>
          <p:cNvSpPr txBox="1"/>
          <p:nvPr/>
        </p:nvSpPr>
        <p:spPr>
          <a:xfrm>
            <a:off x="7954416" y="2701704"/>
            <a:ext cx="871200" cy="11225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9 units</a:t>
            </a:r>
            <a:endParaRPr sz="1800">
              <a:latin typeface="Lexend"/>
              <a:ea typeface="Lexend"/>
              <a:cs typeface="Lexend"/>
              <a:sym typeface="Lexend"/>
            </a:endParaRPr>
          </a:p>
        </p:txBody>
      </p:sp>
      <p:cxnSp>
        <p:nvCxnSpPr>
          <p:cNvPr id="1269" name="Google Shape;1269;p87"/>
          <p:cNvCxnSpPr/>
          <p:nvPr/>
        </p:nvCxnSpPr>
        <p:spPr>
          <a:xfrm>
            <a:off x="7950695" y="1262069"/>
            <a:ext cx="0" cy="2991300"/>
          </a:xfrm>
          <a:prstGeom prst="straightConnector1">
            <a:avLst/>
          </a:prstGeom>
          <a:noFill/>
          <a:ln cap="flat" cmpd="sng" w="28575">
            <a:solidFill>
              <a:schemeClr val="accent4"/>
            </a:solidFill>
            <a:prstDash val="solid"/>
            <a:round/>
            <a:headEnd len="med" w="med" type="triangle"/>
            <a:tailEnd len="med" w="med" type="triangle"/>
          </a:ln>
        </p:spPr>
      </p:cxnSp>
      <p:cxnSp>
        <p:nvCxnSpPr>
          <p:cNvPr id="1270" name="Google Shape;1270;p87"/>
          <p:cNvCxnSpPr/>
          <p:nvPr/>
        </p:nvCxnSpPr>
        <p:spPr>
          <a:xfrm>
            <a:off x="2797445" y="1119969"/>
            <a:ext cx="4976100" cy="66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4" name="Shape 1274"/>
        <p:cNvGrpSpPr/>
        <p:nvPr/>
      </p:nvGrpSpPr>
      <p:grpSpPr>
        <a:xfrm>
          <a:off x="0" y="0"/>
          <a:ext cx="0" cy="0"/>
          <a:chOff x="0" y="0"/>
          <a:chExt cx="0" cy="0"/>
        </a:xfrm>
      </p:grpSpPr>
      <p:pic>
        <p:nvPicPr>
          <p:cNvPr id="1275" name="Google Shape;1275;p88"/>
          <p:cNvPicPr preferRelativeResize="0"/>
          <p:nvPr/>
        </p:nvPicPr>
        <p:blipFill>
          <a:blip r:embed="rId3">
            <a:alphaModFix/>
          </a:blip>
          <a:stretch>
            <a:fillRect/>
          </a:stretch>
        </p:blipFill>
        <p:spPr>
          <a:xfrm>
            <a:off x="4957210" y="1145280"/>
            <a:ext cx="2577830" cy="1464183"/>
          </a:xfrm>
          <a:prstGeom prst="rect">
            <a:avLst/>
          </a:prstGeom>
          <a:noFill/>
          <a:ln>
            <a:noFill/>
          </a:ln>
        </p:spPr>
      </p:pic>
      <p:sp>
        <p:nvSpPr>
          <p:cNvPr id="1276" name="Google Shape;1276;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ratios</a:t>
            </a:r>
            <a:endParaRPr/>
          </a:p>
        </p:txBody>
      </p:sp>
      <p:sp>
        <p:nvSpPr>
          <p:cNvPr id="1277" name="Google Shape;1277;p88"/>
          <p:cNvSpPr txBox="1"/>
          <p:nvPr/>
        </p:nvSpPr>
        <p:spPr>
          <a:xfrm flipH="1" rot="2709">
            <a:off x="324000" y="713979"/>
            <a:ext cx="30456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The length of one “unit” is what changes between each screen.</a:t>
            </a:r>
            <a:endParaRPr sz="1800">
              <a:latin typeface="Lexend"/>
              <a:ea typeface="Lexend"/>
              <a:cs typeface="Lexend"/>
              <a:sym typeface="Lexend"/>
            </a:endParaRPr>
          </a:p>
        </p:txBody>
      </p:sp>
      <p:sp>
        <p:nvSpPr>
          <p:cNvPr id="1278" name="Google Shape;1278;p88"/>
          <p:cNvSpPr txBox="1"/>
          <p:nvPr/>
        </p:nvSpPr>
        <p:spPr>
          <a:xfrm>
            <a:off x="5117075" y="732423"/>
            <a:ext cx="2258010" cy="192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16 units</a:t>
            </a:r>
            <a:endParaRPr sz="1800">
              <a:latin typeface="Lexend"/>
              <a:ea typeface="Lexend"/>
              <a:cs typeface="Lexend"/>
              <a:sym typeface="Lexend"/>
            </a:endParaRPr>
          </a:p>
        </p:txBody>
      </p:sp>
      <p:sp>
        <p:nvSpPr>
          <p:cNvPr id="1279" name="Google Shape;1279;p88"/>
          <p:cNvSpPr txBox="1"/>
          <p:nvPr/>
        </p:nvSpPr>
        <p:spPr>
          <a:xfrm>
            <a:off x="7921913" y="1851332"/>
            <a:ext cx="871200" cy="5505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9 units</a:t>
            </a:r>
            <a:endParaRPr sz="1800">
              <a:latin typeface="Lexend"/>
              <a:ea typeface="Lexend"/>
              <a:cs typeface="Lexend"/>
              <a:sym typeface="Lexend"/>
            </a:endParaRPr>
          </a:p>
        </p:txBody>
      </p:sp>
      <p:pic>
        <p:nvPicPr>
          <p:cNvPr id="1280" name="Google Shape;1280;p88"/>
          <p:cNvPicPr preferRelativeResize="0"/>
          <p:nvPr/>
        </p:nvPicPr>
        <p:blipFill>
          <a:blip r:embed="rId3">
            <a:alphaModFix/>
          </a:blip>
          <a:stretch>
            <a:fillRect/>
          </a:stretch>
        </p:blipFill>
        <p:spPr>
          <a:xfrm>
            <a:off x="5876634" y="3604695"/>
            <a:ext cx="1747843" cy="992753"/>
          </a:xfrm>
          <a:prstGeom prst="rect">
            <a:avLst/>
          </a:prstGeom>
          <a:noFill/>
          <a:ln>
            <a:noFill/>
          </a:ln>
        </p:spPr>
      </p:pic>
      <p:sp>
        <p:nvSpPr>
          <p:cNvPr id="1281" name="Google Shape;1281;p88"/>
          <p:cNvSpPr txBox="1"/>
          <p:nvPr/>
        </p:nvSpPr>
        <p:spPr>
          <a:xfrm>
            <a:off x="5985083" y="3184248"/>
            <a:ext cx="1531033" cy="192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16 units</a:t>
            </a:r>
            <a:endParaRPr sz="1800">
              <a:latin typeface="Lexend"/>
              <a:ea typeface="Lexend"/>
              <a:cs typeface="Lexend"/>
              <a:sym typeface="Lexend"/>
            </a:endParaRPr>
          </a:p>
        </p:txBody>
      </p:sp>
      <p:sp>
        <p:nvSpPr>
          <p:cNvPr id="1282" name="Google Shape;1282;p88"/>
          <p:cNvSpPr txBox="1"/>
          <p:nvPr/>
        </p:nvSpPr>
        <p:spPr>
          <a:xfrm>
            <a:off x="7921988" y="4088352"/>
            <a:ext cx="871200" cy="3771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9 units</a:t>
            </a:r>
            <a:endParaRPr sz="1800">
              <a:latin typeface="Lexend"/>
              <a:ea typeface="Lexend"/>
              <a:cs typeface="Lexend"/>
              <a:sym typeface="Lexend"/>
            </a:endParaRPr>
          </a:p>
        </p:txBody>
      </p:sp>
      <p:grpSp>
        <p:nvGrpSpPr>
          <p:cNvPr id="1283" name="Google Shape;1283;p88"/>
          <p:cNvGrpSpPr/>
          <p:nvPr/>
        </p:nvGrpSpPr>
        <p:grpSpPr>
          <a:xfrm>
            <a:off x="452184" y="2530485"/>
            <a:ext cx="4067147" cy="2304863"/>
            <a:chOff x="452184" y="2149485"/>
            <a:chExt cx="4067147" cy="2304863"/>
          </a:xfrm>
        </p:grpSpPr>
        <p:grpSp>
          <p:nvGrpSpPr>
            <p:cNvPr id="1284" name="Google Shape;1284;p88"/>
            <p:cNvGrpSpPr/>
            <p:nvPr/>
          </p:nvGrpSpPr>
          <p:grpSpPr>
            <a:xfrm>
              <a:off x="789502" y="2149485"/>
              <a:ext cx="3729830" cy="1425730"/>
              <a:chOff x="937625" y="2497850"/>
              <a:chExt cx="3666401" cy="1574001"/>
            </a:xfrm>
          </p:grpSpPr>
          <p:pic>
            <p:nvPicPr>
              <p:cNvPr id="1285" name="Google Shape;1285;p88"/>
              <p:cNvPicPr preferRelativeResize="0"/>
              <p:nvPr/>
            </p:nvPicPr>
            <p:blipFill rotWithShape="1">
              <a:blip r:embed="rId4">
                <a:alphaModFix/>
              </a:blip>
              <a:srcRect b="4760" l="40550" r="0" t="13015"/>
              <a:stretch/>
            </p:blipFill>
            <p:spPr>
              <a:xfrm>
                <a:off x="937625" y="2497850"/>
                <a:ext cx="3666401" cy="1574001"/>
              </a:xfrm>
              <a:prstGeom prst="rect">
                <a:avLst/>
              </a:prstGeom>
              <a:noFill/>
              <a:ln>
                <a:noFill/>
              </a:ln>
            </p:spPr>
          </p:pic>
          <p:sp>
            <p:nvSpPr>
              <p:cNvPr id="1286" name="Google Shape;1286;p88"/>
              <p:cNvSpPr txBox="1"/>
              <p:nvPr/>
            </p:nvSpPr>
            <p:spPr>
              <a:xfrm>
                <a:off x="1218037" y="2543035"/>
                <a:ext cx="3350100" cy="12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That’s really cool…</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But what does this have to do with Pythagoras’ theorem?</a:t>
                </a:r>
                <a:endParaRPr sz="1800">
                  <a:latin typeface="Lexend"/>
                  <a:ea typeface="Lexend"/>
                  <a:cs typeface="Lexend"/>
                  <a:sym typeface="Lexend"/>
                </a:endParaRPr>
              </a:p>
            </p:txBody>
          </p:sp>
        </p:grpSp>
        <p:pic>
          <p:nvPicPr>
            <p:cNvPr id="1287" name="Google Shape;1287;p88"/>
            <p:cNvPicPr preferRelativeResize="0"/>
            <p:nvPr/>
          </p:nvPicPr>
          <p:blipFill>
            <a:blip r:embed="rId5">
              <a:alphaModFix/>
            </a:blip>
            <a:stretch>
              <a:fillRect/>
            </a:stretch>
          </p:blipFill>
          <p:spPr>
            <a:xfrm flipH="1">
              <a:off x="569372" y="3340748"/>
              <a:ext cx="650925" cy="839350"/>
            </a:xfrm>
            <a:prstGeom prst="rect">
              <a:avLst/>
            </a:prstGeom>
            <a:noFill/>
            <a:ln>
              <a:noFill/>
            </a:ln>
          </p:spPr>
        </p:pic>
        <p:sp>
          <p:nvSpPr>
            <p:cNvPr id="1288" name="Google Shape;1288;p88"/>
            <p:cNvSpPr txBox="1"/>
            <p:nvPr/>
          </p:nvSpPr>
          <p:spPr>
            <a:xfrm>
              <a:off x="452184" y="4140848"/>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p:txBody>
        </p:sp>
      </p:grpSp>
      <p:cxnSp>
        <p:nvCxnSpPr>
          <p:cNvPr id="1289" name="Google Shape;1289;p88"/>
          <p:cNvCxnSpPr/>
          <p:nvPr/>
        </p:nvCxnSpPr>
        <p:spPr>
          <a:xfrm>
            <a:off x="7918191" y="1145299"/>
            <a:ext cx="0" cy="1467000"/>
          </a:xfrm>
          <a:prstGeom prst="straightConnector1">
            <a:avLst/>
          </a:prstGeom>
          <a:noFill/>
          <a:ln cap="flat" cmpd="sng" w="28575">
            <a:solidFill>
              <a:schemeClr val="accent4"/>
            </a:solidFill>
            <a:prstDash val="solid"/>
            <a:round/>
            <a:headEnd len="med" w="med" type="triangle"/>
            <a:tailEnd len="med" w="med" type="triangle"/>
          </a:ln>
        </p:spPr>
      </p:cxnSp>
      <p:cxnSp>
        <p:nvCxnSpPr>
          <p:cNvPr id="1290" name="Google Shape;1290;p88"/>
          <p:cNvCxnSpPr/>
          <p:nvPr/>
        </p:nvCxnSpPr>
        <p:spPr>
          <a:xfrm>
            <a:off x="7918266" y="3604659"/>
            <a:ext cx="0" cy="1005000"/>
          </a:xfrm>
          <a:prstGeom prst="straightConnector1">
            <a:avLst/>
          </a:prstGeom>
          <a:noFill/>
          <a:ln cap="flat" cmpd="sng" w="28575">
            <a:solidFill>
              <a:schemeClr val="accent4"/>
            </a:solidFill>
            <a:prstDash val="solid"/>
            <a:round/>
            <a:headEnd len="med" w="med" type="triangle"/>
            <a:tailEnd len="med" w="med" type="triangle"/>
          </a:ln>
        </p:spPr>
      </p:cxnSp>
      <p:cxnSp>
        <p:nvCxnSpPr>
          <p:cNvPr id="1291" name="Google Shape;1291;p88"/>
          <p:cNvCxnSpPr/>
          <p:nvPr/>
        </p:nvCxnSpPr>
        <p:spPr>
          <a:xfrm rot="10800000">
            <a:off x="5774450" y="3488950"/>
            <a:ext cx="1902300" cy="10500"/>
          </a:xfrm>
          <a:prstGeom prst="straightConnector1">
            <a:avLst/>
          </a:prstGeom>
          <a:noFill/>
          <a:ln cap="flat" cmpd="sng" w="28575">
            <a:solidFill>
              <a:schemeClr val="accent4"/>
            </a:solidFill>
            <a:prstDash val="solid"/>
            <a:round/>
            <a:headEnd len="med" w="med" type="triangle"/>
            <a:tailEnd len="med" w="med" type="triangle"/>
          </a:ln>
        </p:spPr>
      </p:cxnSp>
      <p:cxnSp>
        <p:nvCxnSpPr>
          <p:cNvPr id="1292" name="Google Shape;1292;p88"/>
          <p:cNvCxnSpPr/>
          <p:nvPr/>
        </p:nvCxnSpPr>
        <p:spPr>
          <a:xfrm>
            <a:off x="4925382" y="1006244"/>
            <a:ext cx="2743500" cy="19800"/>
          </a:xfrm>
          <a:prstGeom prst="straightConnector1">
            <a:avLst/>
          </a:prstGeom>
          <a:noFill/>
          <a:ln cap="flat" cmpd="sng" w="28575">
            <a:solidFill>
              <a:schemeClr val="accent4"/>
            </a:solidFill>
            <a:prstDash val="solid"/>
            <a:round/>
            <a:headEnd len="med" w="med" type="triangle"/>
            <a:tailEnd len="med" w="med" type="triangle"/>
          </a:ln>
        </p:spPr>
      </p:cxnSp>
      <p:pic>
        <p:nvPicPr>
          <p:cNvPr id="1293" name="Google Shape;1293;p88"/>
          <p:cNvPicPr preferRelativeResize="0"/>
          <p:nvPr/>
        </p:nvPicPr>
        <p:blipFill>
          <a:blip r:embed="rId6">
            <a:alphaModFix/>
          </a:blip>
          <a:stretch>
            <a:fillRect/>
          </a:stretch>
        </p:blipFill>
        <p:spPr>
          <a:xfrm rot="-5400000">
            <a:off x="5457437" y="304062"/>
            <a:ext cx="1602350" cy="3065425"/>
          </a:xfrm>
          <a:prstGeom prst="rect">
            <a:avLst/>
          </a:prstGeom>
          <a:noFill/>
          <a:ln>
            <a:noFill/>
          </a:ln>
        </p:spPr>
      </p:pic>
      <p:pic>
        <p:nvPicPr>
          <p:cNvPr id="1294" name="Google Shape;1294;p88"/>
          <p:cNvPicPr preferRelativeResize="0"/>
          <p:nvPr/>
        </p:nvPicPr>
        <p:blipFill>
          <a:blip r:embed="rId6">
            <a:alphaModFix/>
          </a:blip>
          <a:stretch>
            <a:fillRect/>
          </a:stretch>
        </p:blipFill>
        <p:spPr>
          <a:xfrm rot="-5400000">
            <a:off x="6148823" y="3104912"/>
            <a:ext cx="1094375" cy="19643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8" name="Shape 1298"/>
        <p:cNvGrpSpPr/>
        <p:nvPr/>
      </p:nvGrpSpPr>
      <p:grpSpPr>
        <a:xfrm>
          <a:off x="0" y="0"/>
          <a:ext cx="0" cy="0"/>
          <a:chOff x="0" y="0"/>
          <a:chExt cx="0" cy="0"/>
        </a:xfrm>
      </p:grpSpPr>
      <p:sp>
        <p:nvSpPr>
          <p:cNvPr id="1299" name="Google Shape;1299;p89"/>
          <p:cNvSpPr txBox="1"/>
          <p:nvPr/>
        </p:nvSpPr>
        <p:spPr>
          <a:xfrm flipH="1" rot="2795">
            <a:off x="323924" y="714323"/>
            <a:ext cx="4058401"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When the size of a TV, monitor, or phone screen is described, only one length is given.</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For example: </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“this phone screen is 7 inches”</a:t>
            </a:r>
            <a:endParaRPr sz="1800">
              <a:latin typeface="Lexend"/>
              <a:ea typeface="Lexend"/>
              <a:cs typeface="Lexend"/>
              <a:sym typeface="Lexend"/>
            </a:endParaRPr>
          </a:p>
        </p:txBody>
      </p:sp>
      <p:sp>
        <p:nvSpPr>
          <p:cNvPr id="1300" name="Google Shape;1300;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ratios</a:t>
            </a:r>
            <a:endParaRPr/>
          </a:p>
        </p:txBody>
      </p:sp>
      <p:sp>
        <p:nvSpPr>
          <p:cNvPr id="1301" name="Google Shape;1301;p89"/>
          <p:cNvSpPr txBox="1"/>
          <p:nvPr/>
        </p:nvSpPr>
        <p:spPr>
          <a:xfrm>
            <a:off x="5117075" y="732423"/>
            <a:ext cx="2258010" cy="192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16 units</a:t>
            </a:r>
            <a:endParaRPr sz="1800">
              <a:latin typeface="Lexend"/>
              <a:ea typeface="Lexend"/>
              <a:cs typeface="Lexend"/>
              <a:sym typeface="Lexend"/>
            </a:endParaRPr>
          </a:p>
        </p:txBody>
      </p:sp>
      <p:sp>
        <p:nvSpPr>
          <p:cNvPr id="1302" name="Google Shape;1302;p89"/>
          <p:cNvSpPr txBox="1"/>
          <p:nvPr/>
        </p:nvSpPr>
        <p:spPr>
          <a:xfrm>
            <a:off x="7921913" y="1851332"/>
            <a:ext cx="871200" cy="5505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9 units</a:t>
            </a:r>
            <a:endParaRPr sz="1800">
              <a:latin typeface="Lexend"/>
              <a:ea typeface="Lexend"/>
              <a:cs typeface="Lexend"/>
              <a:sym typeface="Lexend"/>
            </a:endParaRPr>
          </a:p>
        </p:txBody>
      </p:sp>
      <p:sp>
        <p:nvSpPr>
          <p:cNvPr id="1303" name="Google Shape;1303;p89"/>
          <p:cNvSpPr txBox="1"/>
          <p:nvPr/>
        </p:nvSpPr>
        <p:spPr>
          <a:xfrm flipH="1" rot="1339">
            <a:off x="323825" y="3432475"/>
            <a:ext cx="84693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And so we can find the width and length of a screen by using Pythagoras’ theorem and ratios, since we know the screen will be in proportion to             16 units and 9 units.</a:t>
            </a:r>
            <a:endParaRPr sz="1800">
              <a:latin typeface="Lexend"/>
              <a:ea typeface="Lexend"/>
              <a:cs typeface="Lexend"/>
              <a:sym typeface="Lexend"/>
            </a:endParaRPr>
          </a:p>
        </p:txBody>
      </p:sp>
      <p:sp>
        <p:nvSpPr>
          <p:cNvPr id="1304" name="Google Shape;1304;p89"/>
          <p:cNvSpPr txBox="1"/>
          <p:nvPr/>
        </p:nvSpPr>
        <p:spPr>
          <a:xfrm flipH="1" rot="1339">
            <a:off x="323825" y="2948850"/>
            <a:ext cx="84693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This length describes the diagonal of the screen.</a:t>
            </a:r>
            <a:endParaRPr sz="1800">
              <a:latin typeface="Lexend"/>
              <a:ea typeface="Lexend"/>
              <a:cs typeface="Lexend"/>
              <a:sym typeface="Lexend"/>
            </a:endParaRPr>
          </a:p>
        </p:txBody>
      </p:sp>
      <p:sp>
        <p:nvSpPr>
          <p:cNvPr id="1305" name="Google Shape;1305;p89"/>
          <p:cNvSpPr txBox="1"/>
          <p:nvPr/>
        </p:nvSpPr>
        <p:spPr>
          <a:xfrm rot="1763992">
            <a:off x="5063032" y="1626780"/>
            <a:ext cx="2509676" cy="1925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7 inches</a:t>
            </a:r>
            <a:endParaRPr sz="1800">
              <a:latin typeface="Lexend"/>
              <a:ea typeface="Lexend"/>
              <a:cs typeface="Lexend"/>
              <a:sym typeface="Lexend"/>
            </a:endParaRPr>
          </a:p>
        </p:txBody>
      </p:sp>
      <p:cxnSp>
        <p:nvCxnSpPr>
          <p:cNvPr id="1306" name="Google Shape;1306;p89"/>
          <p:cNvCxnSpPr/>
          <p:nvPr/>
        </p:nvCxnSpPr>
        <p:spPr>
          <a:xfrm rot="10800000">
            <a:off x="5010400" y="1226775"/>
            <a:ext cx="2454600" cy="1330500"/>
          </a:xfrm>
          <a:prstGeom prst="straightConnector1">
            <a:avLst/>
          </a:prstGeom>
          <a:noFill/>
          <a:ln cap="flat" cmpd="sng" w="28575">
            <a:solidFill>
              <a:schemeClr val="accent4"/>
            </a:solidFill>
            <a:prstDash val="solid"/>
            <a:round/>
            <a:headEnd len="med" w="med" type="triangle"/>
            <a:tailEnd len="med" w="med" type="triangle"/>
          </a:ln>
        </p:spPr>
      </p:cxnSp>
      <p:cxnSp>
        <p:nvCxnSpPr>
          <p:cNvPr id="1307" name="Google Shape;1307;p89"/>
          <p:cNvCxnSpPr/>
          <p:nvPr/>
        </p:nvCxnSpPr>
        <p:spPr>
          <a:xfrm rot="10800000">
            <a:off x="4981825" y="1010225"/>
            <a:ext cx="2558100" cy="10800"/>
          </a:xfrm>
          <a:prstGeom prst="straightConnector1">
            <a:avLst/>
          </a:prstGeom>
          <a:noFill/>
          <a:ln cap="flat" cmpd="sng" w="28575">
            <a:solidFill>
              <a:schemeClr val="accent4"/>
            </a:solidFill>
            <a:prstDash val="solid"/>
            <a:round/>
            <a:headEnd len="med" w="med" type="triangle"/>
            <a:tailEnd len="med" w="med" type="triangle"/>
          </a:ln>
        </p:spPr>
      </p:cxnSp>
      <p:cxnSp>
        <p:nvCxnSpPr>
          <p:cNvPr id="1308" name="Google Shape;1308;p89"/>
          <p:cNvCxnSpPr/>
          <p:nvPr/>
        </p:nvCxnSpPr>
        <p:spPr>
          <a:xfrm>
            <a:off x="7875250" y="1158850"/>
            <a:ext cx="2400" cy="1389900"/>
          </a:xfrm>
          <a:prstGeom prst="straightConnector1">
            <a:avLst/>
          </a:prstGeom>
          <a:noFill/>
          <a:ln cap="flat" cmpd="sng" w="28575">
            <a:solidFill>
              <a:schemeClr val="accent4"/>
            </a:solidFill>
            <a:prstDash val="solid"/>
            <a:round/>
            <a:headEnd len="med" w="med" type="triangle"/>
            <a:tailEnd len="med" w="med" type="triangle"/>
          </a:ln>
        </p:spPr>
      </p:cxnSp>
      <p:pic>
        <p:nvPicPr>
          <p:cNvPr id="1309" name="Google Shape;1309;p89"/>
          <p:cNvPicPr preferRelativeResize="0"/>
          <p:nvPr/>
        </p:nvPicPr>
        <p:blipFill>
          <a:blip r:embed="rId3">
            <a:alphaModFix/>
          </a:blip>
          <a:stretch>
            <a:fillRect/>
          </a:stretch>
        </p:blipFill>
        <p:spPr>
          <a:xfrm rot="-5400000">
            <a:off x="5457437" y="339522"/>
            <a:ext cx="1602350" cy="3065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3" name="Shape 1313"/>
        <p:cNvGrpSpPr/>
        <p:nvPr/>
      </p:nvGrpSpPr>
      <p:grpSpPr>
        <a:xfrm>
          <a:off x="0" y="0"/>
          <a:ext cx="0" cy="0"/>
          <a:chOff x="0" y="0"/>
          <a:chExt cx="0" cy="0"/>
        </a:xfrm>
      </p:grpSpPr>
      <p:sp>
        <p:nvSpPr>
          <p:cNvPr id="1314" name="Google Shape;1314;p90"/>
          <p:cNvSpPr txBox="1"/>
          <p:nvPr/>
        </p:nvSpPr>
        <p:spPr>
          <a:xfrm flipH="1" rot="2795">
            <a:off x="323924" y="714323"/>
            <a:ext cx="4058401"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To find the diagonal of a screen in </a:t>
            </a:r>
            <a:r>
              <a:rPr lang="en-GB" sz="1800">
                <a:solidFill>
                  <a:schemeClr val="accent5"/>
                </a:solidFill>
                <a:latin typeface="Lexend"/>
                <a:ea typeface="Lexend"/>
                <a:cs typeface="Lexend"/>
                <a:sym typeface="Lexend"/>
              </a:rPr>
              <a:t>units</a:t>
            </a:r>
            <a:r>
              <a:rPr lang="en-GB" sz="1800">
                <a:latin typeface="Lexend"/>
                <a:ea typeface="Lexend"/>
                <a:cs typeface="Lexend"/>
                <a:sym typeface="Lexend"/>
              </a:rPr>
              <a:t>, we can use Pythagoras’ theorem:</a:t>
            </a:r>
            <a:endParaRPr sz="1800">
              <a:latin typeface="Lexend"/>
              <a:ea typeface="Lexend"/>
              <a:cs typeface="Lexend"/>
              <a:sym typeface="Lexend"/>
            </a:endParaRPr>
          </a:p>
        </p:txBody>
      </p:sp>
      <p:sp>
        <p:nvSpPr>
          <p:cNvPr id="1315" name="Google Shape;1315;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ratios</a:t>
            </a:r>
            <a:endParaRPr/>
          </a:p>
        </p:txBody>
      </p:sp>
      <p:sp>
        <p:nvSpPr>
          <p:cNvPr id="1316" name="Google Shape;1316;p90"/>
          <p:cNvSpPr txBox="1"/>
          <p:nvPr/>
        </p:nvSpPr>
        <p:spPr>
          <a:xfrm>
            <a:off x="5117075" y="732423"/>
            <a:ext cx="2258010" cy="192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16 units</a:t>
            </a:r>
            <a:endParaRPr sz="1800">
              <a:latin typeface="Lexend"/>
              <a:ea typeface="Lexend"/>
              <a:cs typeface="Lexend"/>
              <a:sym typeface="Lexend"/>
            </a:endParaRPr>
          </a:p>
        </p:txBody>
      </p:sp>
      <p:sp>
        <p:nvSpPr>
          <p:cNvPr id="1317" name="Google Shape;1317;p90"/>
          <p:cNvSpPr txBox="1"/>
          <p:nvPr/>
        </p:nvSpPr>
        <p:spPr>
          <a:xfrm>
            <a:off x="7921913" y="1851332"/>
            <a:ext cx="871200" cy="5505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9 units</a:t>
            </a:r>
            <a:endParaRPr sz="1800">
              <a:latin typeface="Lexend"/>
              <a:ea typeface="Lexend"/>
              <a:cs typeface="Lexend"/>
              <a:sym typeface="Lexend"/>
            </a:endParaRPr>
          </a:p>
        </p:txBody>
      </p:sp>
      <p:sp>
        <p:nvSpPr>
          <p:cNvPr id="1318" name="Google Shape;1318;p90"/>
          <p:cNvSpPr txBox="1"/>
          <p:nvPr/>
        </p:nvSpPr>
        <p:spPr>
          <a:xfrm flipH="1" rot="1339">
            <a:off x="323825" y="2844843"/>
            <a:ext cx="84693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We can then represent this information in a ratio table.</a:t>
            </a:r>
            <a:endParaRPr sz="1800">
              <a:latin typeface="Lexend"/>
              <a:ea typeface="Lexend"/>
              <a:cs typeface="Lexend"/>
              <a:sym typeface="Lexend"/>
            </a:endParaRPr>
          </a:p>
        </p:txBody>
      </p:sp>
      <p:sp>
        <p:nvSpPr>
          <p:cNvPr id="1319" name="Google Shape;1319;p90"/>
          <p:cNvSpPr txBox="1"/>
          <p:nvPr/>
        </p:nvSpPr>
        <p:spPr>
          <a:xfrm flipH="1" rot="5317">
            <a:off x="726024" y="1544250"/>
            <a:ext cx="1939502"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²  =  16²  +  9²</a:t>
            </a:r>
            <a:endParaRPr sz="1800">
              <a:latin typeface="Lexend"/>
              <a:ea typeface="Lexend"/>
              <a:cs typeface="Lexend"/>
              <a:sym typeface="Lexend"/>
            </a:endParaRPr>
          </a:p>
        </p:txBody>
      </p:sp>
      <p:sp>
        <p:nvSpPr>
          <p:cNvPr id="1320" name="Google Shape;1320;p90"/>
          <p:cNvSpPr txBox="1"/>
          <p:nvPr/>
        </p:nvSpPr>
        <p:spPr>
          <a:xfrm rot="1763992">
            <a:off x="5063032" y="1626780"/>
            <a:ext cx="2509676" cy="1925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units</a:t>
            </a:r>
            <a:endParaRPr sz="1800">
              <a:latin typeface="Lexend"/>
              <a:ea typeface="Lexend"/>
              <a:cs typeface="Lexend"/>
              <a:sym typeface="Lexend"/>
            </a:endParaRPr>
          </a:p>
        </p:txBody>
      </p:sp>
      <p:sp>
        <p:nvSpPr>
          <p:cNvPr id="1321" name="Google Shape;1321;p90"/>
          <p:cNvSpPr txBox="1"/>
          <p:nvPr/>
        </p:nvSpPr>
        <p:spPr>
          <a:xfrm flipH="1" rot="5317">
            <a:off x="726024" y="2283900"/>
            <a:ext cx="1939502"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x</a:t>
            </a:r>
            <a:r>
              <a:rPr lang="en-GB" sz="1800">
                <a:solidFill>
                  <a:schemeClr val="lt1"/>
                </a:solidFill>
                <a:latin typeface="Lexend"/>
                <a:ea typeface="Lexend"/>
                <a:cs typeface="Lexend"/>
                <a:sym typeface="Lexend"/>
              </a:rPr>
              <a:t>²</a:t>
            </a:r>
            <a:r>
              <a:rPr lang="en-GB" sz="1800">
                <a:latin typeface="Lexend"/>
                <a:ea typeface="Lexend"/>
                <a:cs typeface="Lexend"/>
                <a:sym typeface="Lexend"/>
              </a:rPr>
              <a:t>  =  18.36</a:t>
            </a:r>
            <a:endParaRPr sz="1800">
              <a:latin typeface="Lexend"/>
              <a:ea typeface="Lexend"/>
              <a:cs typeface="Lexend"/>
              <a:sym typeface="Lexend"/>
            </a:endParaRPr>
          </a:p>
        </p:txBody>
      </p:sp>
      <p:sp>
        <p:nvSpPr>
          <p:cNvPr id="1322" name="Google Shape;1322;p90"/>
          <p:cNvSpPr txBox="1"/>
          <p:nvPr/>
        </p:nvSpPr>
        <p:spPr>
          <a:xfrm flipH="1" rot="5317">
            <a:off x="726024" y="1914075"/>
            <a:ext cx="1939502"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²  =  337</a:t>
            </a:r>
            <a:endParaRPr sz="1800">
              <a:latin typeface="Lexend"/>
              <a:ea typeface="Lexend"/>
              <a:cs typeface="Lexend"/>
              <a:sym typeface="Lexend"/>
            </a:endParaRPr>
          </a:p>
        </p:txBody>
      </p:sp>
      <p:sp>
        <p:nvSpPr>
          <p:cNvPr id="1323" name="Google Shape;1323;p90"/>
          <p:cNvSpPr txBox="1"/>
          <p:nvPr/>
        </p:nvSpPr>
        <p:spPr>
          <a:xfrm rot="1764151">
            <a:off x="5063028" y="1625759"/>
            <a:ext cx="2509664" cy="1924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18.36 units</a:t>
            </a:r>
            <a:endParaRPr sz="1800">
              <a:latin typeface="Lexend"/>
              <a:ea typeface="Lexend"/>
              <a:cs typeface="Lexend"/>
              <a:sym typeface="Lexend"/>
            </a:endParaRPr>
          </a:p>
        </p:txBody>
      </p:sp>
      <p:graphicFrame>
        <p:nvGraphicFramePr>
          <p:cNvPr id="1324" name="Google Shape;1324;p90"/>
          <p:cNvGraphicFramePr/>
          <p:nvPr/>
        </p:nvGraphicFramePr>
        <p:xfrm>
          <a:off x="1323975" y="3316200"/>
          <a:ext cx="3000000" cy="3000000"/>
        </p:xfrm>
        <a:graphic>
          <a:graphicData uri="http://schemas.openxmlformats.org/drawingml/2006/table">
            <a:tbl>
              <a:tblPr>
                <a:noFill/>
                <a:tableStyleId>{018616B7-C05B-4F4E-94F1-144584CD3DCC}</a:tableStyleId>
              </a:tblPr>
              <a:tblGrid>
                <a:gridCol w="1809750"/>
                <a:gridCol w="1809750"/>
                <a:gridCol w="1809750"/>
              </a:tblGrid>
              <a:tr h="513800">
                <a:tc>
                  <a:txBody>
                    <a:bodyPr/>
                    <a:lstStyle/>
                    <a:p>
                      <a:pPr indent="0" lvl="0" marL="0" rtl="0" algn="ctr">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91425" marB="91425" marR="91425" marL="91425"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18.36</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r>
              <a:tr h="5138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r>
            </a:tbl>
          </a:graphicData>
        </a:graphic>
      </p:graphicFrame>
      <p:grpSp>
        <p:nvGrpSpPr>
          <p:cNvPr id="1325" name="Google Shape;1325;p90"/>
          <p:cNvGrpSpPr/>
          <p:nvPr/>
        </p:nvGrpSpPr>
        <p:grpSpPr>
          <a:xfrm>
            <a:off x="1696600" y="3373698"/>
            <a:ext cx="1070700" cy="1164072"/>
            <a:chOff x="2230000" y="3373698"/>
            <a:chExt cx="1070700" cy="1164072"/>
          </a:xfrm>
        </p:grpSpPr>
        <p:sp>
          <p:nvSpPr>
            <p:cNvPr id="1326" name="Google Shape;1326;p90"/>
            <p:cNvSpPr/>
            <p:nvPr/>
          </p:nvSpPr>
          <p:spPr>
            <a:xfrm>
              <a:off x="2516450" y="3373698"/>
              <a:ext cx="497700" cy="3924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7" name="Google Shape;1327;p90"/>
            <p:cNvSpPr txBox="1"/>
            <p:nvPr/>
          </p:nvSpPr>
          <p:spPr>
            <a:xfrm flipH="1" rot="1926">
              <a:off x="2230000" y="3983370"/>
              <a:ext cx="1070700" cy="554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width of screen</a:t>
              </a:r>
              <a:endParaRPr sz="1800">
                <a:latin typeface="Lexend"/>
                <a:ea typeface="Lexend"/>
                <a:cs typeface="Lexend"/>
                <a:sym typeface="Lexend"/>
              </a:endParaRPr>
            </a:p>
          </p:txBody>
        </p:sp>
      </p:grpSp>
      <p:grpSp>
        <p:nvGrpSpPr>
          <p:cNvPr id="1328" name="Google Shape;1328;p90"/>
          <p:cNvGrpSpPr/>
          <p:nvPr/>
        </p:nvGrpSpPr>
        <p:grpSpPr>
          <a:xfrm>
            <a:off x="3489725" y="3373698"/>
            <a:ext cx="1070700" cy="1164072"/>
            <a:chOff x="4023125" y="3373698"/>
            <a:chExt cx="1070700" cy="1164072"/>
          </a:xfrm>
        </p:grpSpPr>
        <p:sp>
          <p:nvSpPr>
            <p:cNvPr id="1329" name="Google Shape;1329;p90"/>
            <p:cNvSpPr/>
            <p:nvPr/>
          </p:nvSpPr>
          <p:spPr>
            <a:xfrm>
              <a:off x="4309575" y="3373698"/>
              <a:ext cx="497700" cy="3924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0" name="Google Shape;1330;p90"/>
            <p:cNvSpPr txBox="1"/>
            <p:nvPr/>
          </p:nvSpPr>
          <p:spPr>
            <a:xfrm flipH="1" rot="1926">
              <a:off x="4023125" y="3983370"/>
              <a:ext cx="1070700" cy="554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height of screen</a:t>
              </a:r>
              <a:endParaRPr sz="1800">
                <a:latin typeface="Lexend"/>
                <a:ea typeface="Lexend"/>
                <a:cs typeface="Lexend"/>
                <a:sym typeface="Lexend"/>
              </a:endParaRPr>
            </a:p>
          </p:txBody>
        </p:sp>
      </p:grpSp>
      <p:grpSp>
        <p:nvGrpSpPr>
          <p:cNvPr id="1331" name="Google Shape;1331;p90"/>
          <p:cNvGrpSpPr/>
          <p:nvPr/>
        </p:nvGrpSpPr>
        <p:grpSpPr>
          <a:xfrm>
            <a:off x="5316563" y="3373700"/>
            <a:ext cx="1070700" cy="1164070"/>
            <a:chOff x="5849963" y="3373700"/>
            <a:chExt cx="1070700" cy="1164070"/>
          </a:xfrm>
        </p:grpSpPr>
        <p:sp>
          <p:nvSpPr>
            <p:cNvPr id="1332" name="Google Shape;1332;p90"/>
            <p:cNvSpPr/>
            <p:nvPr/>
          </p:nvSpPr>
          <p:spPr>
            <a:xfrm>
              <a:off x="6052475" y="3373700"/>
              <a:ext cx="665700" cy="3924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3" name="Google Shape;1333;p90"/>
            <p:cNvSpPr txBox="1"/>
            <p:nvPr/>
          </p:nvSpPr>
          <p:spPr>
            <a:xfrm flipH="1" rot="1926">
              <a:off x="5849963" y="3983370"/>
              <a:ext cx="1070700" cy="554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diagonal of screen</a:t>
              </a:r>
              <a:endParaRPr sz="1800">
                <a:latin typeface="Lexend"/>
                <a:ea typeface="Lexend"/>
                <a:cs typeface="Lexend"/>
                <a:sym typeface="Lexend"/>
              </a:endParaRPr>
            </a:p>
          </p:txBody>
        </p:sp>
      </p:grpSp>
      <p:sp>
        <p:nvSpPr>
          <p:cNvPr id="1334" name="Google Shape;1334;p90"/>
          <p:cNvSpPr txBox="1"/>
          <p:nvPr/>
        </p:nvSpPr>
        <p:spPr>
          <a:xfrm flipH="1" rot="2059">
            <a:off x="7812825" y="3432858"/>
            <a:ext cx="10017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in units</a:t>
            </a:r>
            <a:endParaRPr sz="1800">
              <a:latin typeface="Lexend"/>
              <a:ea typeface="Lexend"/>
              <a:cs typeface="Lexend"/>
              <a:sym typeface="Lexend"/>
            </a:endParaRPr>
          </a:p>
        </p:txBody>
      </p:sp>
      <p:cxnSp>
        <p:nvCxnSpPr>
          <p:cNvPr id="1335" name="Google Shape;1335;p90"/>
          <p:cNvCxnSpPr>
            <a:stCxn id="1334" idx="3"/>
            <a:endCxn id="1332" idx="3"/>
          </p:cNvCxnSpPr>
          <p:nvPr/>
        </p:nvCxnSpPr>
        <p:spPr>
          <a:xfrm rot="10800000">
            <a:off x="6184725" y="3569958"/>
            <a:ext cx="1628100" cy="1200"/>
          </a:xfrm>
          <a:prstGeom prst="straightConnector1">
            <a:avLst/>
          </a:prstGeom>
          <a:noFill/>
          <a:ln cap="flat" cmpd="sng" w="28575">
            <a:solidFill>
              <a:schemeClr val="accent5"/>
            </a:solidFill>
            <a:prstDash val="solid"/>
            <a:round/>
            <a:headEnd len="med" w="med" type="none"/>
            <a:tailEnd len="med" w="med" type="none"/>
          </a:ln>
        </p:spPr>
      </p:cxnSp>
      <p:sp>
        <p:nvSpPr>
          <p:cNvPr id="1336" name="Google Shape;1336;p90"/>
          <p:cNvSpPr txBox="1"/>
          <p:nvPr/>
        </p:nvSpPr>
        <p:spPr>
          <a:xfrm flipH="1" rot="5317">
            <a:off x="2533499" y="1709475"/>
            <a:ext cx="1939502"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The screen is 18.36 </a:t>
            </a:r>
            <a:r>
              <a:rPr lang="en-GB" sz="1800">
                <a:solidFill>
                  <a:schemeClr val="accent5"/>
                </a:solidFill>
                <a:latin typeface="Lexend"/>
                <a:ea typeface="Lexend"/>
                <a:cs typeface="Lexend"/>
                <a:sym typeface="Lexend"/>
              </a:rPr>
              <a:t>units</a:t>
            </a:r>
            <a:r>
              <a:rPr lang="en-GB" sz="1800">
                <a:latin typeface="Lexend"/>
                <a:ea typeface="Lexend"/>
                <a:cs typeface="Lexend"/>
                <a:sym typeface="Lexend"/>
              </a:rPr>
              <a:t> across its diagonal.</a:t>
            </a:r>
            <a:endParaRPr sz="1800">
              <a:latin typeface="Lexend"/>
              <a:ea typeface="Lexend"/>
              <a:cs typeface="Lexend"/>
              <a:sym typeface="Lexend"/>
            </a:endParaRPr>
          </a:p>
        </p:txBody>
      </p:sp>
      <p:cxnSp>
        <p:nvCxnSpPr>
          <p:cNvPr id="1337" name="Google Shape;1337;p90"/>
          <p:cNvCxnSpPr/>
          <p:nvPr/>
        </p:nvCxnSpPr>
        <p:spPr>
          <a:xfrm>
            <a:off x="4885007" y="1023169"/>
            <a:ext cx="2754600" cy="17400"/>
          </a:xfrm>
          <a:prstGeom prst="straightConnector1">
            <a:avLst/>
          </a:prstGeom>
          <a:noFill/>
          <a:ln cap="flat" cmpd="sng" w="28575">
            <a:solidFill>
              <a:schemeClr val="accent4"/>
            </a:solidFill>
            <a:prstDash val="solid"/>
            <a:round/>
            <a:headEnd len="med" w="med" type="triangle"/>
            <a:tailEnd len="med" w="med" type="triangle"/>
          </a:ln>
        </p:spPr>
      </p:cxnSp>
      <p:cxnSp>
        <p:nvCxnSpPr>
          <p:cNvPr id="1338" name="Google Shape;1338;p90"/>
          <p:cNvCxnSpPr/>
          <p:nvPr/>
        </p:nvCxnSpPr>
        <p:spPr>
          <a:xfrm>
            <a:off x="7881670" y="1150494"/>
            <a:ext cx="13200" cy="1516800"/>
          </a:xfrm>
          <a:prstGeom prst="straightConnector1">
            <a:avLst/>
          </a:prstGeom>
          <a:noFill/>
          <a:ln cap="flat" cmpd="sng" w="28575">
            <a:solidFill>
              <a:schemeClr val="accent4"/>
            </a:solidFill>
            <a:prstDash val="solid"/>
            <a:round/>
            <a:headEnd len="med" w="med" type="triangle"/>
            <a:tailEnd len="med" w="med" type="triangle"/>
          </a:ln>
        </p:spPr>
      </p:cxnSp>
      <p:cxnSp>
        <p:nvCxnSpPr>
          <p:cNvPr id="1339" name="Google Shape;1339;p90"/>
          <p:cNvCxnSpPr/>
          <p:nvPr/>
        </p:nvCxnSpPr>
        <p:spPr>
          <a:xfrm>
            <a:off x="5021125" y="1240900"/>
            <a:ext cx="2427000" cy="1291800"/>
          </a:xfrm>
          <a:prstGeom prst="straightConnector1">
            <a:avLst/>
          </a:prstGeom>
          <a:noFill/>
          <a:ln cap="flat" cmpd="sng" w="28575">
            <a:solidFill>
              <a:schemeClr val="accent4"/>
            </a:solidFill>
            <a:prstDash val="solid"/>
            <a:round/>
            <a:headEnd len="med" w="med" type="triangle"/>
            <a:tailEnd len="med" w="med" type="triangle"/>
          </a:ln>
        </p:spPr>
      </p:cxnSp>
      <p:pic>
        <p:nvPicPr>
          <p:cNvPr id="1340" name="Google Shape;1340;p90"/>
          <p:cNvPicPr preferRelativeResize="0"/>
          <p:nvPr/>
        </p:nvPicPr>
        <p:blipFill>
          <a:blip r:embed="rId3">
            <a:alphaModFix/>
          </a:blip>
          <a:stretch>
            <a:fillRect/>
          </a:stretch>
        </p:blipFill>
        <p:spPr>
          <a:xfrm rot="-5400000">
            <a:off x="5457437" y="339522"/>
            <a:ext cx="1602350" cy="3065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2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2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2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33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3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91"/>
          <p:cNvSpPr txBox="1"/>
          <p:nvPr/>
        </p:nvSpPr>
        <p:spPr>
          <a:xfrm flipH="1" rot="2795">
            <a:off x="323924" y="714323"/>
            <a:ext cx="4058401"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If we know the phone screen is         7 inches along its diagonal, then we can find its width and height in inches, too.</a:t>
            </a:r>
            <a:endParaRPr sz="1800">
              <a:latin typeface="Lexend"/>
              <a:ea typeface="Lexend"/>
              <a:cs typeface="Lexend"/>
              <a:sym typeface="Lexend"/>
            </a:endParaRPr>
          </a:p>
        </p:txBody>
      </p:sp>
      <p:sp>
        <p:nvSpPr>
          <p:cNvPr id="1346" name="Google Shape;1346;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ratios</a:t>
            </a:r>
            <a:endParaRPr/>
          </a:p>
        </p:txBody>
      </p:sp>
      <p:sp>
        <p:nvSpPr>
          <p:cNvPr id="1347" name="Google Shape;1347;p91"/>
          <p:cNvSpPr txBox="1"/>
          <p:nvPr/>
        </p:nvSpPr>
        <p:spPr>
          <a:xfrm>
            <a:off x="5117075" y="732423"/>
            <a:ext cx="2258010" cy="192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16 units</a:t>
            </a:r>
            <a:endParaRPr sz="1800">
              <a:latin typeface="Lexend"/>
              <a:ea typeface="Lexend"/>
              <a:cs typeface="Lexend"/>
              <a:sym typeface="Lexend"/>
            </a:endParaRPr>
          </a:p>
        </p:txBody>
      </p:sp>
      <p:sp>
        <p:nvSpPr>
          <p:cNvPr id="1348" name="Google Shape;1348;p91"/>
          <p:cNvSpPr txBox="1"/>
          <p:nvPr/>
        </p:nvSpPr>
        <p:spPr>
          <a:xfrm>
            <a:off x="7921913" y="1851332"/>
            <a:ext cx="871200" cy="5505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9 units</a:t>
            </a:r>
            <a:endParaRPr sz="1800">
              <a:latin typeface="Lexend"/>
              <a:ea typeface="Lexend"/>
              <a:cs typeface="Lexend"/>
              <a:sym typeface="Lexend"/>
            </a:endParaRPr>
          </a:p>
        </p:txBody>
      </p:sp>
      <p:sp>
        <p:nvSpPr>
          <p:cNvPr id="1349" name="Google Shape;1349;p91"/>
          <p:cNvSpPr txBox="1"/>
          <p:nvPr/>
        </p:nvSpPr>
        <p:spPr>
          <a:xfrm flipH="1" rot="1339">
            <a:off x="323825" y="2844843"/>
            <a:ext cx="84693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We can then represent this information in a ratio table.</a:t>
            </a:r>
            <a:endParaRPr sz="1800">
              <a:latin typeface="Lexend"/>
              <a:ea typeface="Lexend"/>
              <a:cs typeface="Lexend"/>
              <a:sym typeface="Lexend"/>
            </a:endParaRPr>
          </a:p>
        </p:txBody>
      </p:sp>
      <p:graphicFrame>
        <p:nvGraphicFramePr>
          <p:cNvPr id="1350" name="Google Shape;1350;p91"/>
          <p:cNvGraphicFramePr/>
          <p:nvPr/>
        </p:nvGraphicFramePr>
        <p:xfrm>
          <a:off x="1323975" y="3316200"/>
          <a:ext cx="3000000" cy="3000000"/>
        </p:xfrm>
        <a:graphic>
          <a:graphicData uri="http://schemas.openxmlformats.org/drawingml/2006/table">
            <a:tbl>
              <a:tblPr>
                <a:noFill/>
                <a:tableStyleId>{018616B7-C05B-4F4E-94F1-144584CD3DCC}</a:tableStyleId>
              </a:tblPr>
              <a:tblGrid>
                <a:gridCol w="1809750"/>
                <a:gridCol w="1809750"/>
                <a:gridCol w="1809750"/>
              </a:tblGrid>
              <a:tr h="513800">
                <a:tc>
                  <a:txBody>
                    <a:bodyPr/>
                    <a:lstStyle/>
                    <a:p>
                      <a:pPr indent="0" lvl="0" marL="0" rtl="0" algn="ctr">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91425" marB="91425" marR="91425" marL="91425"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9</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18.36</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r>
              <a:tr h="5138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r>
            </a:tbl>
          </a:graphicData>
        </a:graphic>
      </p:graphicFrame>
      <p:sp>
        <p:nvSpPr>
          <p:cNvPr id="1351" name="Google Shape;1351;p91"/>
          <p:cNvSpPr txBox="1"/>
          <p:nvPr/>
        </p:nvSpPr>
        <p:spPr>
          <a:xfrm flipH="1" rot="2059">
            <a:off x="7812825" y="3432838"/>
            <a:ext cx="10017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in units</a:t>
            </a:r>
            <a:endParaRPr sz="1800">
              <a:latin typeface="Lexend"/>
              <a:ea typeface="Lexend"/>
              <a:cs typeface="Lexend"/>
              <a:sym typeface="Lexend"/>
            </a:endParaRPr>
          </a:p>
        </p:txBody>
      </p:sp>
      <p:sp>
        <p:nvSpPr>
          <p:cNvPr id="1352" name="Google Shape;1352;p91"/>
          <p:cNvSpPr txBox="1"/>
          <p:nvPr/>
        </p:nvSpPr>
        <p:spPr>
          <a:xfrm rot="1763992">
            <a:off x="5063032" y="1625705"/>
            <a:ext cx="2509676" cy="19259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18.36 units</a:t>
            </a:r>
            <a:endParaRPr sz="1800">
              <a:latin typeface="Lexend"/>
              <a:ea typeface="Lexend"/>
              <a:cs typeface="Lexend"/>
              <a:sym typeface="Lexend"/>
            </a:endParaRPr>
          </a:p>
        </p:txBody>
      </p:sp>
      <p:sp>
        <p:nvSpPr>
          <p:cNvPr id="1353" name="Google Shape;1353;p91"/>
          <p:cNvSpPr txBox="1"/>
          <p:nvPr/>
        </p:nvSpPr>
        <p:spPr>
          <a:xfrm flipH="1" rot="2850">
            <a:off x="4943625" y="3830679"/>
            <a:ext cx="1809601" cy="61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7</a:t>
            </a:r>
            <a:endParaRPr sz="1800">
              <a:latin typeface="Lexend"/>
              <a:ea typeface="Lexend"/>
              <a:cs typeface="Lexend"/>
              <a:sym typeface="Lexend"/>
            </a:endParaRPr>
          </a:p>
        </p:txBody>
      </p:sp>
      <p:sp>
        <p:nvSpPr>
          <p:cNvPr id="1354" name="Google Shape;1354;p91"/>
          <p:cNvSpPr txBox="1"/>
          <p:nvPr/>
        </p:nvSpPr>
        <p:spPr>
          <a:xfrm flipH="1" rot="2059">
            <a:off x="7812825" y="3998073"/>
            <a:ext cx="10017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in inches</a:t>
            </a:r>
            <a:endParaRPr sz="1800">
              <a:latin typeface="Lexend"/>
              <a:ea typeface="Lexend"/>
              <a:cs typeface="Lexend"/>
              <a:sym typeface="Lexend"/>
            </a:endParaRPr>
          </a:p>
        </p:txBody>
      </p:sp>
      <p:grpSp>
        <p:nvGrpSpPr>
          <p:cNvPr id="1355" name="Google Shape;1355;p91"/>
          <p:cNvGrpSpPr/>
          <p:nvPr/>
        </p:nvGrpSpPr>
        <p:grpSpPr>
          <a:xfrm>
            <a:off x="6802700" y="3475700"/>
            <a:ext cx="575075" cy="708600"/>
            <a:chOff x="6802700" y="3475700"/>
            <a:chExt cx="575075" cy="708600"/>
          </a:xfrm>
        </p:grpSpPr>
        <p:sp>
          <p:nvSpPr>
            <p:cNvPr id="1356" name="Google Shape;1356;p91"/>
            <p:cNvSpPr/>
            <p:nvPr/>
          </p:nvSpPr>
          <p:spPr>
            <a:xfrm flipH="1" rot="10800000">
              <a:off x="6802700" y="3475700"/>
              <a:ext cx="262800" cy="708600"/>
            </a:xfrm>
            <a:prstGeom prst="curvedLeftArrow">
              <a:avLst>
                <a:gd fmla="val 25000" name="adj1"/>
                <a:gd fmla="val 50000" name="adj2"/>
                <a:gd fmla="val 25000" name="adj3"/>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7" name="Google Shape;1357;p91"/>
            <p:cNvSpPr txBox="1"/>
            <p:nvPr/>
          </p:nvSpPr>
          <p:spPr>
            <a:xfrm flipH="1">
              <a:off x="7114975" y="3691208"/>
              <a:ext cx="2628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grpSp>
      <p:grpSp>
        <p:nvGrpSpPr>
          <p:cNvPr id="1358" name="Google Shape;1358;p91"/>
          <p:cNvGrpSpPr/>
          <p:nvPr/>
        </p:nvGrpSpPr>
        <p:grpSpPr>
          <a:xfrm>
            <a:off x="325326" y="3475700"/>
            <a:ext cx="1047024" cy="708600"/>
            <a:chOff x="325326" y="3475700"/>
            <a:chExt cx="1047024" cy="708600"/>
          </a:xfrm>
        </p:grpSpPr>
        <p:sp>
          <p:nvSpPr>
            <p:cNvPr id="1359" name="Google Shape;1359;p91"/>
            <p:cNvSpPr/>
            <p:nvPr/>
          </p:nvSpPr>
          <p:spPr>
            <a:xfrm flipH="1">
              <a:off x="1109550" y="3475700"/>
              <a:ext cx="262800" cy="708600"/>
            </a:xfrm>
            <a:prstGeom prst="curvedLeftArrow">
              <a:avLst>
                <a:gd fmla="val 25000" name="adj1"/>
                <a:gd fmla="val 50000" name="adj2"/>
                <a:gd fmla="val 25000" name="adj3"/>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0" name="Google Shape;1360;p91"/>
            <p:cNvSpPr txBox="1"/>
            <p:nvPr/>
          </p:nvSpPr>
          <p:spPr>
            <a:xfrm flipH="1" rot="10800000">
              <a:off x="325326" y="3691600"/>
              <a:ext cx="2067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pic>
          <p:nvPicPr>
            <p:cNvPr descr="&lt;math xmlns=&quot;http://www.w3.org/1998/Math/MathML&quot; display=&quot;block&quot; data-is-equatio=&quot;1&quot; data-latex=&quot;\frac{7}{18.36}&quot;&gt;&lt;mfrac&gt;&lt;mn&gt;7&lt;/mn&gt;&lt;mn&gt;18.36&lt;/mn&gt;&lt;/mfrac&gt;&lt;/math&gt;" id="1361" name="Google Shape;1361;p91" title="7 over 18.36"/>
            <p:cNvPicPr preferRelativeResize="0"/>
            <p:nvPr/>
          </p:nvPicPr>
          <p:blipFill>
            <a:blip r:embed="rId3">
              <a:alphaModFix/>
            </a:blip>
            <a:stretch>
              <a:fillRect/>
            </a:stretch>
          </p:blipFill>
          <p:spPr>
            <a:xfrm>
              <a:off x="529525" y="3570299"/>
              <a:ext cx="556145" cy="478800"/>
            </a:xfrm>
            <a:prstGeom prst="rect">
              <a:avLst/>
            </a:prstGeom>
            <a:noFill/>
            <a:ln>
              <a:noFill/>
            </a:ln>
          </p:spPr>
        </p:pic>
      </p:grpSp>
      <p:pic>
        <p:nvPicPr>
          <p:cNvPr descr="&lt;math xmlns=&quot;http://www.w3.org/1998/Math/MathML&quot; display=&quot;block&quot; data-is-equatio=&quot;1&quot; data-latex=&quot;16\times\frac{7}{18.36}&quot;&gt;&lt;mn&gt;16&lt;/mn&gt;&lt;mo&gt;×&lt;/mo&gt;&lt;mfrac&gt;&lt;mn&gt;7&lt;/mn&gt;&lt;mn&gt;18.36&lt;/mn&gt;&lt;/mfrac&gt;&lt;/math&gt;" id="1362" name="Google Shape;1362;p91" title="16 times 7 over 18.36"/>
          <p:cNvPicPr preferRelativeResize="0"/>
          <p:nvPr/>
        </p:nvPicPr>
        <p:blipFill>
          <a:blip r:embed="rId4">
            <a:alphaModFix/>
          </a:blip>
          <a:stretch>
            <a:fillRect/>
          </a:stretch>
        </p:blipFill>
        <p:spPr>
          <a:xfrm>
            <a:off x="1782454" y="3897263"/>
            <a:ext cx="1035201" cy="478800"/>
          </a:xfrm>
          <a:prstGeom prst="rect">
            <a:avLst/>
          </a:prstGeom>
          <a:noFill/>
          <a:ln>
            <a:noFill/>
          </a:ln>
        </p:spPr>
      </p:pic>
      <p:pic>
        <p:nvPicPr>
          <p:cNvPr descr="&lt;math xmlns=&quot;http://www.w3.org/1998/Math/MathML&quot; display=&quot;block&quot; data-is-equatio=&quot;1&quot; data-latex=&quot;9\times\frac{7}{18.36}&quot;&gt;&lt;mn&gt;9&lt;/mn&gt;&lt;mo&gt;×&lt;/mo&gt;&lt;mfrac&gt;&lt;mn&gt;7&lt;/mn&gt;&lt;mn&gt;18.36&lt;/mn&gt;&lt;/mfrac&gt;&lt;/math&gt;" id="1363" name="Google Shape;1363;p91" title="9 times 7 over 18.36"/>
          <p:cNvPicPr preferRelativeResize="0"/>
          <p:nvPr/>
        </p:nvPicPr>
        <p:blipFill>
          <a:blip r:embed="rId5">
            <a:alphaModFix/>
          </a:blip>
          <a:stretch>
            <a:fillRect/>
          </a:stretch>
        </p:blipFill>
        <p:spPr>
          <a:xfrm>
            <a:off x="3570637" y="3897263"/>
            <a:ext cx="935935" cy="478800"/>
          </a:xfrm>
          <a:prstGeom prst="rect">
            <a:avLst/>
          </a:prstGeom>
          <a:noFill/>
          <a:ln>
            <a:noFill/>
          </a:ln>
        </p:spPr>
      </p:pic>
      <p:sp>
        <p:nvSpPr>
          <p:cNvPr id="1364" name="Google Shape;1364;p91"/>
          <p:cNvSpPr txBox="1"/>
          <p:nvPr/>
        </p:nvSpPr>
        <p:spPr>
          <a:xfrm flipH="1" rot="1694">
            <a:off x="1615000" y="3862625"/>
            <a:ext cx="1217700" cy="5481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6.1</a:t>
            </a:r>
            <a:endParaRPr sz="1800">
              <a:latin typeface="Lexend"/>
              <a:ea typeface="Lexend"/>
              <a:cs typeface="Lexend"/>
              <a:sym typeface="Lexend"/>
            </a:endParaRPr>
          </a:p>
        </p:txBody>
      </p:sp>
      <p:sp>
        <p:nvSpPr>
          <p:cNvPr id="1365" name="Google Shape;1365;p91"/>
          <p:cNvSpPr txBox="1"/>
          <p:nvPr/>
        </p:nvSpPr>
        <p:spPr>
          <a:xfrm flipH="1" rot="1694">
            <a:off x="3429750" y="3862625"/>
            <a:ext cx="1217700" cy="5481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3.4</a:t>
            </a:r>
            <a:endParaRPr sz="1800">
              <a:latin typeface="Lexend"/>
              <a:ea typeface="Lexend"/>
              <a:cs typeface="Lexend"/>
              <a:sym typeface="Lexend"/>
            </a:endParaRPr>
          </a:p>
        </p:txBody>
      </p:sp>
      <p:sp>
        <p:nvSpPr>
          <p:cNvPr id="1366" name="Google Shape;1366;p91"/>
          <p:cNvSpPr txBox="1"/>
          <p:nvPr/>
        </p:nvSpPr>
        <p:spPr>
          <a:xfrm flipH="1" rot="1306">
            <a:off x="1684925" y="4454222"/>
            <a:ext cx="71082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The phone screen is 6.1 inches wide and 3.4 inches tall.</a:t>
            </a:r>
            <a:endParaRPr sz="1800">
              <a:latin typeface="Lexend"/>
              <a:ea typeface="Lexend"/>
              <a:cs typeface="Lexend"/>
              <a:sym typeface="Lexend"/>
            </a:endParaRPr>
          </a:p>
        </p:txBody>
      </p:sp>
      <p:sp>
        <p:nvSpPr>
          <p:cNvPr id="1367" name="Google Shape;1367;p91"/>
          <p:cNvSpPr txBox="1"/>
          <p:nvPr/>
        </p:nvSpPr>
        <p:spPr>
          <a:xfrm>
            <a:off x="7950219" y="1700208"/>
            <a:ext cx="814800" cy="5097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3.4 inches</a:t>
            </a:r>
            <a:endParaRPr sz="1800">
              <a:latin typeface="Lexend"/>
              <a:ea typeface="Lexend"/>
              <a:cs typeface="Lexend"/>
              <a:sym typeface="Lexend"/>
            </a:endParaRPr>
          </a:p>
        </p:txBody>
      </p:sp>
      <p:sp>
        <p:nvSpPr>
          <p:cNvPr id="1368" name="Google Shape;1368;p91"/>
          <p:cNvSpPr txBox="1"/>
          <p:nvPr/>
        </p:nvSpPr>
        <p:spPr>
          <a:xfrm>
            <a:off x="5117075" y="732423"/>
            <a:ext cx="2258100" cy="1926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6.1 inches</a:t>
            </a:r>
            <a:endParaRPr sz="1800">
              <a:latin typeface="Lexend"/>
              <a:ea typeface="Lexend"/>
              <a:cs typeface="Lexend"/>
              <a:sym typeface="Lexend"/>
            </a:endParaRPr>
          </a:p>
        </p:txBody>
      </p:sp>
      <p:sp>
        <p:nvSpPr>
          <p:cNvPr id="1369" name="Google Shape;1369;p91"/>
          <p:cNvSpPr txBox="1"/>
          <p:nvPr/>
        </p:nvSpPr>
        <p:spPr>
          <a:xfrm rot="1764151">
            <a:off x="5063028" y="1626834"/>
            <a:ext cx="2509664" cy="19249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7 inches</a:t>
            </a:r>
            <a:endParaRPr sz="1800">
              <a:latin typeface="Lexend"/>
              <a:ea typeface="Lexend"/>
              <a:cs typeface="Lexend"/>
              <a:sym typeface="Lexend"/>
            </a:endParaRPr>
          </a:p>
        </p:txBody>
      </p:sp>
      <p:cxnSp>
        <p:nvCxnSpPr>
          <p:cNvPr id="1370" name="Google Shape;1370;p91"/>
          <p:cNvCxnSpPr/>
          <p:nvPr/>
        </p:nvCxnSpPr>
        <p:spPr>
          <a:xfrm flipH="1" rot="10800000">
            <a:off x="4893820" y="1021332"/>
            <a:ext cx="2801700" cy="16200"/>
          </a:xfrm>
          <a:prstGeom prst="straightConnector1">
            <a:avLst/>
          </a:prstGeom>
          <a:noFill/>
          <a:ln cap="flat" cmpd="sng" w="28575">
            <a:solidFill>
              <a:schemeClr val="accent4"/>
            </a:solidFill>
            <a:prstDash val="solid"/>
            <a:round/>
            <a:headEnd len="med" w="med" type="triangle"/>
            <a:tailEnd len="med" w="med" type="triangle"/>
          </a:ln>
        </p:spPr>
      </p:cxnSp>
      <p:cxnSp>
        <p:nvCxnSpPr>
          <p:cNvPr id="1371" name="Google Shape;1371;p91"/>
          <p:cNvCxnSpPr/>
          <p:nvPr/>
        </p:nvCxnSpPr>
        <p:spPr>
          <a:xfrm flipH="1">
            <a:off x="7861695" y="1204344"/>
            <a:ext cx="16800" cy="1445100"/>
          </a:xfrm>
          <a:prstGeom prst="straightConnector1">
            <a:avLst/>
          </a:prstGeom>
          <a:noFill/>
          <a:ln cap="flat" cmpd="sng" w="28575">
            <a:solidFill>
              <a:schemeClr val="accent4"/>
            </a:solidFill>
            <a:prstDash val="solid"/>
            <a:round/>
            <a:headEnd len="med" w="med" type="triangle"/>
            <a:tailEnd len="med" w="med" type="triangle"/>
          </a:ln>
        </p:spPr>
      </p:cxnSp>
      <p:cxnSp>
        <p:nvCxnSpPr>
          <p:cNvPr id="1372" name="Google Shape;1372;p91"/>
          <p:cNvCxnSpPr/>
          <p:nvPr/>
        </p:nvCxnSpPr>
        <p:spPr>
          <a:xfrm>
            <a:off x="5019595" y="1204344"/>
            <a:ext cx="2454600" cy="1343100"/>
          </a:xfrm>
          <a:prstGeom prst="straightConnector1">
            <a:avLst/>
          </a:prstGeom>
          <a:noFill/>
          <a:ln cap="flat" cmpd="sng" w="28575">
            <a:solidFill>
              <a:schemeClr val="accent4"/>
            </a:solidFill>
            <a:prstDash val="solid"/>
            <a:round/>
            <a:headEnd len="med" w="med" type="triangle"/>
            <a:tailEnd len="med" w="med" type="triangle"/>
          </a:ln>
        </p:spPr>
      </p:cxnSp>
      <p:pic>
        <p:nvPicPr>
          <p:cNvPr id="1373" name="Google Shape;1373;p91"/>
          <p:cNvPicPr preferRelativeResize="0"/>
          <p:nvPr/>
        </p:nvPicPr>
        <p:blipFill>
          <a:blip r:embed="rId6">
            <a:alphaModFix/>
          </a:blip>
          <a:stretch>
            <a:fillRect/>
          </a:stretch>
        </p:blipFill>
        <p:spPr>
          <a:xfrm rot="-5400000">
            <a:off x="5457437" y="339522"/>
            <a:ext cx="1602350" cy="3065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34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34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35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7" name="Shape 1377"/>
        <p:cNvGrpSpPr/>
        <p:nvPr/>
      </p:nvGrpSpPr>
      <p:grpSpPr>
        <a:xfrm>
          <a:off x="0" y="0"/>
          <a:ext cx="0" cy="0"/>
          <a:chOff x="0" y="0"/>
          <a:chExt cx="0" cy="0"/>
        </a:xfrm>
      </p:grpSpPr>
      <p:pic>
        <p:nvPicPr>
          <p:cNvPr id="1378" name="Google Shape;1378;p92"/>
          <p:cNvPicPr preferRelativeResize="0"/>
          <p:nvPr/>
        </p:nvPicPr>
        <p:blipFill>
          <a:blip r:embed="rId3">
            <a:alphaModFix/>
          </a:blip>
          <a:stretch>
            <a:fillRect/>
          </a:stretch>
        </p:blipFill>
        <p:spPr>
          <a:xfrm>
            <a:off x="5841189" y="1282775"/>
            <a:ext cx="1921100" cy="1742226"/>
          </a:xfrm>
          <a:prstGeom prst="rect">
            <a:avLst/>
          </a:prstGeom>
          <a:noFill/>
          <a:ln>
            <a:noFill/>
          </a:ln>
        </p:spPr>
      </p:pic>
      <p:sp>
        <p:nvSpPr>
          <p:cNvPr id="1379" name="Google Shape;1379;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ratios</a:t>
            </a:r>
            <a:endParaRPr/>
          </a:p>
        </p:txBody>
      </p:sp>
      <p:sp>
        <p:nvSpPr>
          <p:cNvPr id="1380" name="Google Shape;1380;p92"/>
          <p:cNvSpPr txBox="1"/>
          <p:nvPr/>
        </p:nvSpPr>
        <p:spPr>
          <a:xfrm>
            <a:off x="6193286" y="792048"/>
            <a:ext cx="1168259" cy="192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4 units</a:t>
            </a:r>
            <a:endParaRPr sz="1800">
              <a:latin typeface="Lexend"/>
              <a:ea typeface="Lexend"/>
              <a:cs typeface="Lexend"/>
              <a:sym typeface="Lexend"/>
            </a:endParaRPr>
          </a:p>
        </p:txBody>
      </p:sp>
      <p:sp>
        <p:nvSpPr>
          <p:cNvPr id="1381" name="Google Shape;1381;p92"/>
          <p:cNvSpPr txBox="1"/>
          <p:nvPr/>
        </p:nvSpPr>
        <p:spPr>
          <a:xfrm flipH="1" rot="2788">
            <a:off x="323999" y="714627"/>
            <a:ext cx="4808402"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Retro monitors had a width and height in the ratio 4 : 3</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By using Pythagoras’ theorem, find out how many units long the diagonal of this screen is.</a:t>
            </a:r>
            <a:endParaRPr sz="1800">
              <a:latin typeface="Lexend"/>
              <a:ea typeface="Lexend"/>
              <a:cs typeface="Lexend"/>
              <a:sym typeface="Lexend"/>
            </a:endParaRPr>
          </a:p>
        </p:txBody>
      </p:sp>
      <p:sp>
        <p:nvSpPr>
          <p:cNvPr id="1382" name="Google Shape;1382;p92"/>
          <p:cNvSpPr txBox="1"/>
          <p:nvPr/>
        </p:nvSpPr>
        <p:spPr>
          <a:xfrm>
            <a:off x="7825587" y="1856370"/>
            <a:ext cx="871200" cy="3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 units</a:t>
            </a:r>
            <a:endParaRPr sz="1800">
              <a:latin typeface="Lexend"/>
              <a:ea typeface="Lexend"/>
              <a:cs typeface="Lexend"/>
              <a:sym typeface="Lexend"/>
            </a:endParaRPr>
          </a:p>
        </p:txBody>
      </p:sp>
      <p:sp>
        <p:nvSpPr>
          <p:cNvPr id="1383" name="Google Shape;1383;p92"/>
          <p:cNvSpPr txBox="1"/>
          <p:nvPr/>
        </p:nvSpPr>
        <p:spPr>
          <a:xfrm flipH="1" rot="3055">
            <a:off x="1196099" y="2455870"/>
            <a:ext cx="3375901"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The diagonal is 5 units long.,</a:t>
            </a:r>
            <a:endParaRPr sz="2000">
              <a:latin typeface="Kalam"/>
              <a:ea typeface="Kalam"/>
              <a:cs typeface="Kalam"/>
              <a:sym typeface="Kalam"/>
            </a:endParaRPr>
          </a:p>
        </p:txBody>
      </p:sp>
      <p:cxnSp>
        <p:nvCxnSpPr>
          <p:cNvPr id="1384" name="Google Shape;1384;p92"/>
          <p:cNvCxnSpPr/>
          <p:nvPr/>
        </p:nvCxnSpPr>
        <p:spPr>
          <a:xfrm>
            <a:off x="6107375" y="1442010"/>
            <a:ext cx="1341600" cy="864600"/>
          </a:xfrm>
          <a:prstGeom prst="straightConnector1">
            <a:avLst/>
          </a:prstGeom>
          <a:noFill/>
          <a:ln cap="flat" cmpd="sng" w="28575">
            <a:solidFill>
              <a:schemeClr val="accent3"/>
            </a:solidFill>
            <a:prstDash val="solid"/>
            <a:round/>
            <a:headEnd len="med" w="med" type="triangle"/>
            <a:tailEnd len="med" w="med" type="triangle"/>
          </a:ln>
        </p:spPr>
      </p:cxnSp>
      <p:sp>
        <p:nvSpPr>
          <p:cNvPr id="1385" name="Google Shape;1385;p92"/>
          <p:cNvSpPr txBox="1"/>
          <p:nvPr/>
        </p:nvSpPr>
        <p:spPr>
          <a:xfrm flipH="1" rot="1972066">
            <a:off x="6250413" y="1586042"/>
            <a:ext cx="1223323" cy="307727"/>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2000">
                <a:solidFill>
                  <a:schemeClr val="dk1"/>
                </a:solidFill>
                <a:latin typeface="Kalam"/>
                <a:ea typeface="Kalam"/>
                <a:cs typeface="Kalam"/>
                <a:sym typeface="Kalam"/>
              </a:rPr>
              <a:t>5 units</a:t>
            </a:r>
            <a:endParaRPr sz="2000">
              <a:solidFill>
                <a:schemeClr val="dk1"/>
              </a:solidFill>
              <a:latin typeface="Kalam"/>
              <a:ea typeface="Kalam"/>
              <a:cs typeface="Kalam"/>
              <a:sym typeface="Kalam"/>
            </a:endParaRPr>
          </a:p>
        </p:txBody>
      </p:sp>
      <p:cxnSp>
        <p:nvCxnSpPr>
          <p:cNvPr id="1386" name="Google Shape;1386;p92"/>
          <p:cNvCxnSpPr/>
          <p:nvPr/>
        </p:nvCxnSpPr>
        <p:spPr>
          <a:xfrm>
            <a:off x="7707975" y="1429800"/>
            <a:ext cx="4800" cy="907500"/>
          </a:xfrm>
          <a:prstGeom prst="straightConnector1">
            <a:avLst/>
          </a:prstGeom>
          <a:noFill/>
          <a:ln cap="flat" cmpd="sng" w="28575">
            <a:solidFill>
              <a:schemeClr val="accent4"/>
            </a:solidFill>
            <a:prstDash val="solid"/>
            <a:round/>
            <a:headEnd len="med" w="med" type="triangle"/>
            <a:tailEnd len="med" w="med" type="triangle"/>
          </a:ln>
        </p:spPr>
      </p:cxnSp>
      <p:cxnSp>
        <p:nvCxnSpPr>
          <p:cNvPr id="1387" name="Google Shape;1387;p92"/>
          <p:cNvCxnSpPr/>
          <p:nvPr/>
        </p:nvCxnSpPr>
        <p:spPr>
          <a:xfrm flipH="1" rot="10800000">
            <a:off x="6128850" y="1098825"/>
            <a:ext cx="1308600" cy="51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pic>
        <p:nvPicPr>
          <p:cNvPr id="1392" name="Google Shape;1392;p93"/>
          <p:cNvPicPr preferRelativeResize="0"/>
          <p:nvPr/>
        </p:nvPicPr>
        <p:blipFill>
          <a:blip r:embed="rId3">
            <a:alphaModFix/>
          </a:blip>
          <a:stretch>
            <a:fillRect/>
          </a:stretch>
        </p:blipFill>
        <p:spPr>
          <a:xfrm>
            <a:off x="5841189" y="1282775"/>
            <a:ext cx="1921100" cy="1742226"/>
          </a:xfrm>
          <a:prstGeom prst="rect">
            <a:avLst/>
          </a:prstGeom>
          <a:noFill/>
          <a:ln>
            <a:noFill/>
          </a:ln>
        </p:spPr>
      </p:pic>
      <p:graphicFrame>
        <p:nvGraphicFramePr>
          <p:cNvPr id="1393" name="Google Shape;1393;p93"/>
          <p:cNvGraphicFramePr/>
          <p:nvPr/>
        </p:nvGraphicFramePr>
        <p:xfrm>
          <a:off x="1306463" y="2638700"/>
          <a:ext cx="3000000" cy="3000000"/>
        </p:xfrm>
        <a:graphic>
          <a:graphicData uri="http://schemas.openxmlformats.org/drawingml/2006/table">
            <a:tbl>
              <a:tblPr>
                <a:noFill/>
                <a:tableStyleId>{018616B7-C05B-4F4E-94F1-144584CD3DCC}</a:tableStyleId>
              </a:tblPr>
              <a:tblGrid>
                <a:gridCol w="1351175"/>
                <a:gridCol w="1351175"/>
                <a:gridCol w="1351175"/>
              </a:tblGrid>
              <a:tr h="513800">
                <a:tc>
                  <a:txBody>
                    <a:bodyPr/>
                    <a:lstStyle/>
                    <a:p>
                      <a:pPr indent="0" lvl="0" marL="0" rtl="0" algn="ctr">
                        <a:spcBef>
                          <a:spcPts val="0"/>
                        </a:spcBef>
                        <a:spcAft>
                          <a:spcPts val="0"/>
                        </a:spcAft>
                        <a:buNone/>
                      </a:pPr>
                      <a:r>
                        <a:rPr lang="en-GB" sz="1800">
                          <a:latin typeface="Lexend"/>
                          <a:ea typeface="Lexend"/>
                          <a:cs typeface="Lexend"/>
                          <a:sym typeface="Lexend"/>
                        </a:rPr>
                        <a:t>width</a:t>
                      </a:r>
                      <a:endParaRPr sz="1800">
                        <a:latin typeface="Lexend"/>
                        <a:ea typeface="Lexend"/>
                        <a:cs typeface="Lexend"/>
                        <a:sym typeface="Lexend"/>
                      </a:endParaRPr>
                    </a:p>
                  </a:txBody>
                  <a:tcPr marT="91425" marB="91425" marR="91425" marL="91425"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height</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diagonal</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r>
              <a:tr h="5138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4</a:t>
                      </a:r>
                      <a:endParaRPr/>
                    </a:p>
                  </a:txBody>
                  <a:tcPr marT="91425" marB="91425" marR="91425" marL="91425"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a:t>
                      </a:r>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5</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5138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r>
            </a:tbl>
          </a:graphicData>
        </a:graphic>
      </p:graphicFrame>
      <p:sp>
        <p:nvSpPr>
          <p:cNvPr id="1394" name="Google Shape;1394;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ratios</a:t>
            </a:r>
            <a:endParaRPr/>
          </a:p>
        </p:txBody>
      </p:sp>
      <p:sp>
        <p:nvSpPr>
          <p:cNvPr id="1395" name="Google Shape;1395;p93"/>
          <p:cNvSpPr txBox="1"/>
          <p:nvPr/>
        </p:nvSpPr>
        <p:spPr>
          <a:xfrm flipH="1" rot="2788">
            <a:off x="323999" y="714627"/>
            <a:ext cx="4808402"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On the box of a retro monitor, it says </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“18 inch screen”.</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Where on this ratio table would the number 18 go?</a:t>
            </a:r>
            <a:endParaRPr sz="1800">
              <a:latin typeface="Lexend"/>
              <a:ea typeface="Lexend"/>
              <a:cs typeface="Lexend"/>
              <a:sym typeface="Lexend"/>
            </a:endParaRPr>
          </a:p>
        </p:txBody>
      </p:sp>
      <p:sp>
        <p:nvSpPr>
          <p:cNvPr id="1396" name="Google Shape;1396;p93"/>
          <p:cNvSpPr txBox="1"/>
          <p:nvPr/>
        </p:nvSpPr>
        <p:spPr>
          <a:xfrm>
            <a:off x="6193286" y="792048"/>
            <a:ext cx="1168259" cy="192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4 units</a:t>
            </a:r>
            <a:endParaRPr sz="1800">
              <a:latin typeface="Lexend"/>
              <a:ea typeface="Lexend"/>
              <a:cs typeface="Lexend"/>
              <a:sym typeface="Lexend"/>
            </a:endParaRPr>
          </a:p>
        </p:txBody>
      </p:sp>
      <p:sp>
        <p:nvSpPr>
          <p:cNvPr id="1397" name="Google Shape;1397;p93"/>
          <p:cNvSpPr txBox="1"/>
          <p:nvPr/>
        </p:nvSpPr>
        <p:spPr>
          <a:xfrm>
            <a:off x="7825587" y="1856370"/>
            <a:ext cx="871200" cy="3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 units</a:t>
            </a:r>
            <a:endParaRPr sz="1800">
              <a:latin typeface="Lexend"/>
              <a:ea typeface="Lexend"/>
              <a:cs typeface="Lexend"/>
              <a:sym typeface="Lexend"/>
            </a:endParaRPr>
          </a:p>
        </p:txBody>
      </p:sp>
      <p:cxnSp>
        <p:nvCxnSpPr>
          <p:cNvPr id="1398" name="Google Shape;1398;p93"/>
          <p:cNvCxnSpPr/>
          <p:nvPr/>
        </p:nvCxnSpPr>
        <p:spPr>
          <a:xfrm>
            <a:off x="6107375" y="1442010"/>
            <a:ext cx="1341600" cy="864600"/>
          </a:xfrm>
          <a:prstGeom prst="straightConnector1">
            <a:avLst/>
          </a:prstGeom>
          <a:noFill/>
          <a:ln cap="flat" cmpd="sng" w="28575">
            <a:solidFill>
              <a:schemeClr val="accent3"/>
            </a:solidFill>
            <a:prstDash val="solid"/>
            <a:round/>
            <a:headEnd len="med" w="med" type="triangle"/>
            <a:tailEnd len="med" w="med" type="triangle"/>
          </a:ln>
        </p:spPr>
      </p:cxnSp>
      <p:sp>
        <p:nvSpPr>
          <p:cNvPr id="1399" name="Google Shape;1399;p93"/>
          <p:cNvSpPr txBox="1"/>
          <p:nvPr/>
        </p:nvSpPr>
        <p:spPr>
          <a:xfrm flipH="1" rot="1972066">
            <a:off x="6250413" y="1586042"/>
            <a:ext cx="1223323" cy="307727"/>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5 units</a:t>
            </a:r>
            <a:endParaRPr sz="1800">
              <a:solidFill>
                <a:schemeClr val="dk1"/>
              </a:solidFill>
              <a:latin typeface="Lexend"/>
              <a:ea typeface="Lexend"/>
              <a:cs typeface="Lexend"/>
              <a:sym typeface="Lexend"/>
            </a:endParaRPr>
          </a:p>
        </p:txBody>
      </p:sp>
      <p:grpSp>
        <p:nvGrpSpPr>
          <p:cNvPr id="1400" name="Google Shape;1400;p93"/>
          <p:cNvGrpSpPr/>
          <p:nvPr/>
        </p:nvGrpSpPr>
        <p:grpSpPr>
          <a:xfrm>
            <a:off x="4536453" y="3736984"/>
            <a:ext cx="285339" cy="285338"/>
            <a:chOff x="5033128" y="1745934"/>
            <a:chExt cx="285339" cy="285338"/>
          </a:xfrm>
        </p:grpSpPr>
        <p:pic>
          <p:nvPicPr>
            <p:cNvPr id="1401" name="Google Shape;1401;p93"/>
            <p:cNvPicPr preferRelativeResize="0"/>
            <p:nvPr/>
          </p:nvPicPr>
          <p:blipFill>
            <a:blip r:embed="rId4">
              <a:alphaModFix/>
            </a:blip>
            <a:stretch>
              <a:fillRect/>
            </a:stretch>
          </p:blipFill>
          <p:spPr>
            <a:xfrm flipH="1">
              <a:off x="5033128" y="1745934"/>
              <a:ext cx="285339" cy="285338"/>
            </a:xfrm>
            <a:prstGeom prst="rect">
              <a:avLst/>
            </a:prstGeom>
            <a:noFill/>
            <a:ln>
              <a:noFill/>
            </a:ln>
          </p:spPr>
        </p:pic>
        <p:sp>
          <p:nvSpPr>
            <p:cNvPr id="1402" name="Google Shape;1402;p93"/>
            <p:cNvSpPr txBox="1"/>
            <p:nvPr/>
          </p:nvSpPr>
          <p:spPr>
            <a:xfrm flipH="1">
              <a:off x="5048406" y="1798553"/>
              <a:ext cx="254700" cy="17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403" name="Google Shape;1403;p93"/>
          <p:cNvGrpSpPr/>
          <p:nvPr/>
        </p:nvGrpSpPr>
        <p:grpSpPr>
          <a:xfrm>
            <a:off x="3190566" y="3736984"/>
            <a:ext cx="285339" cy="285338"/>
            <a:chOff x="5033128" y="1745934"/>
            <a:chExt cx="285339" cy="285338"/>
          </a:xfrm>
        </p:grpSpPr>
        <p:pic>
          <p:nvPicPr>
            <p:cNvPr id="1404" name="Google Shape;1404;p93"/>
            <p:cNvPicPr preferRelativeResize="0"/>
            <p:nvPr/>
          </p:nvPicPr>
          <p:blipFill>
            <a:blip r:embed="rId4">
              <a:alphaModFix/>
            </a:blip>
            <a:stretch>
              <a:fillRect/>
            </a:stretch>
          </p:blipFill>
          <p:spPr>
            <a:xfrm flipH="1">
              <a:off x="5033128" y="1745934"/>
              <a:ext cx="285339" cy="285338"/>
            </a:xfrm>
            <a:prstGeom prst="rect">
              <a:avLst/>
            </a:prstGeom>
            <a:noFill/>
            <a:ln>
              <a:noFill/>
            </a:ln>
          </p:spPr>
        </p:pic>
        <p:sp>
          <p:nvSpPr>
            <p:cNvPr id="1405" name="Google Shape;1405;p93"/>
            <p:cNvSpPr txBox="1"/>
            <p:nvPr/>
          </p:nvSpPr>
          <p:spPr>
            <a:xfrm flipH="1">
              <a:off x="5048406" y="1798553"/>
              <a:ext cx="254700" cy="17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06" name="Google Shape;1406;p93"/>
          <p:cNvGrpSpPr/>
          <p:nvPr/>
        </p:nvGrpSpPr>
        <p:grpSpPr>
          <a:xfrm>
            <a:off x="1844691" y="3736984"/>
            <a:ext cx="285339" cy="285338"/>
            <a:chOff x="5033128" y="1745934"/>
            <a:chExt cx="285339" cy="285338"/>
          </a:xfrm>
        </p:grpSpPr>
        <p:pic>
          <p:nvPicPr>
            <p:cNvPr id="1407" name="Google Shape;1407;p93"/>
            <p:cNvPicPr preferRelativeResize="0"/>
            <p:nvPr/>
          </p:nvPicPr>
          <p:blipFill>
            <a:blip r:embed="rId4">
              <a:alphaModFix/>
            </a:blip>
            <a:stretch>
              <a:fillRect/>
            </a:stretch>
          </p:blipFill>
          <p:spPr>
            <a:xfrm flipH="1">
              <a:off x="5033128" y="1745934"/>
              <a:ext cx="285339" cy="285338"/>
            </a:xfrm>
            <a:prstGeom prst="rect">
              <a:avLst/>
            </a:prstGeom>
            <a:noFill/>
            <a:ln>
              <a:noFill/>
            </a:ln>
          </p:spPr>
        </p:pic>
        <p:sp>
          <p:nvSpPr>
            <p:cNvPr id="1408" name="Google Shape;1408;p93"/>
            <p:cNvSpPr txBox="1"/>
            <p:nvPr/>
          </p:nvSpPr>
          <p:spPr>
            <a:xfrm flipH="1">
              <a:off x="5048406" y="1798553"/>
              <a:ext cx="254700" cy="17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pic>
        <p:nvPicPr>
          <p:cNvPr id="1409" name="Google Shape;1409;p93"/>
          <p:cNvPicPr preferRelativeResize="0"/>
          <p:nvPr/>
        </p:nvPicPr>
        <p:blipFill>
          <a:blip r:embed="rId5">
            <a:alphaModFix/>
          </a:blip>
          <a:stretch>
            <a:fillRect/>
          </a:stretch>
        </p:blipFill>
        <p:spPr>
          <a:xfrm>
            <a:off x="4853408" y="3670100"/>
            <a:ext cx="396000" cy="419100"/>
          </a:xfrm>
          <a:prstGeom prst="rect">
            <a:avLst/>
          </a:prstGeom>
          <a:noFill/>
          <a:ln>
            <a:noFill/>
          </a:ln>
        </p:spPr>
      </p:pic>
      <p:sp>
        <p:nvSpPr>
          <p:cNvPr id="1410" name="Google Shape;1410;p93"/>
          <p:cNvSpPr txBox="1"/>
          <p:nvPr/>
        </p:nvSpPr>
        <p:spPr>
          <a:xfrm flipH="1" rot="3246">
            <a:off x="324000" y="3270790"/>
            <a:ext cx="6354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units</a:t>
            </a:r>
            <a:endParaRPr sz="1800">
              <a:latin typeface="Lexend"/>
              <a:ea typeface="Lexend"/>
              <a:cs typeface="Lexend"/>
              <a:sym typeface="Lexend"/>
            </a:endParaRPr>
          </a:p>
        </p:txBody>
      </p:sp>
      <p:sp>
        <p:nvSpPr>
          <p:cNvPr id="1411" name="Google Shape;1411;p93"/>
          <p:cNvSpPr txBox="1"/>
          <p:nvPr/>
        </p:nvSpPr>
        <p:spPr>
          <a:xfrm flipH="1" rot="3395">
            <a:off x="324100" y="3741161"/>
            <a:ext cx="9114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inches</a:t>
            </a:r>
            <a:endParaRPr sz="1800">
              <a:latin typeface="Lexend"/>
              <a:ea typeface="Lexend"/>
              <a:cs typeface="Lexend"/>
              <a:sym typeface="Lexend"/>
            </a:endParaRPr>
          </a:p>
        </p:txBody>
      </p:sp>
      <p:cxnSp>
        <p:nvCxnSpPr>
          <p:cNvPr id="1412" name="Google Shape;1412;p93"/>
          <p:cNvCxnSpPr/>
          <p:nvPr/>
        </p:nvCxnSpPr>
        <p:spPr>
          <a:xfrm>
            <a:off x="7707975" y="1429800"/>
            <a:ext cx="4800" cy="907500"/>
          </a:xfrm>
          <a:prstGeom prst="straightConnector1">
            <a:avLst/>
          </a:prstGeom>
          <a:noFill/>
          <a:ln cap="flat" cmpd="sng" w="28575">
            <a:solidFill>
              <a:schemeClr val="accent4"/>
            </a:solidFill>
            <a:prstDash val="solid"/>
            <a:round/>
            <a:headEnd len="med" w="med" type="triangle"/>
            <a:tailEnd len="med" w="med" type="triangle"/>
          </a:ln>
        </p:spPr>
      </p:cxnSp>
      <p:cxnSp>
        <p:nvCxnSpPr>
          <p:cNvPr id="1413" name="Google Shape;1413;p93"/>
          <p:cNvCxnSpPr/>
          <p:nvPr/>
        </p:nvCxnSpPr>
        <p:spPr>
          <a:xfrm flipH="1" rot="10800000">
            <a:off x="6128850" y="1098825"/>
            <a:ext cx="1308600" cy="51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7" name="Shape 1417"/>
        <p:cNvGrpSpPr/>
        <p:nvPr/>
      </p:nvGrpSpPr>
      <p:grpSpPr>
        <a:xfrm>
          <a:off x="0" y="0"/>
          <a:ext cx="0" cy="0"/>
          <a:chOff x="0" y="0"/>
          <a:chExt cx="0" cy="0"/>
        </a:xfrm>
      </p:grpSpPr>
      <p:pic>
        <p:nvPicPr>
          <p:cNvPr id="1418" name="Google Shape;1418;p94"/>
          <p:cNvPicPr preferRelativeResize="0"/>
          <p:nvPr/>
        </p:nvPicPr>
        <p:blipFill>
          <a:blip r:embed="rId3">
            <a:alphaModFix/>
          </a:blip>
          <a:stretch>
            <a:fillRect/>
          </a:stretch>
        </p:blipFill>
        <p:spPr>
          <a:xfrm>
            <a:off x="5841189" y="1282775"/>
            <a:ext cx="1921100" cy="1742226"/>
          </a:xfrm>
          <a:prstGeom prst="rect">
            <a:avLst/>
          </a:prstGeom>
          <a:noFill/>
          <a:ln>
            <a:noFill/>
          </a:ln>
        </p:spPr>
      </p:pic>
      <p:graphicFrame>
        <p:nvGraphicFramePr>
          <p:cNvPr id="1419" name="Google Shape;1419;p94"/>
          <p:cNvGraphicFramePr/>
          <p:nvPr/>
        </p:nvGraphicFramePr>
        <p:xfrm>
          <a:off x="1306463" y="2638700"/>
          <a:ext cx="3000000" cy="3000000"/>
        </p:xfrm>
        <a:graphic>
          <a:graphicData uri="http://schemas.openxmlformats.org/drawingml/2006/table">
            <a:tbl>
              <a:tblPr>
                <a:noFill/>
                <a:tableStyleId>{018616B7-C05B-4F4E-94F1-144584CD3DCC}</a:tableStyleId>
              </a:tblPr>
              <a:tblGrid>
                <a:gridCol w="1351175"/>
                <a:gridCol w="1351175"/>
                <a:gridCol w="1351175"/>
              </a:tblGrid>
              <a:tr h="513800">
                <a:tc>
                  <a:txBody>
                    <a:bodyPr/>
                    <a:lstStyle/>
                    <a:p>
                      <a:pPr indent="0" lvl="0" marL="0" rtl="0" algn="ctr">
                        <a:spcBef>
                          <a:spcPts val="0"/>
                        </a:spcBef>
                        <a:spcAft>
                          <a:spcPts val="0"/>
                        </a:spcAft>
                        <a:buNone/>
                      </a:pPr>
                      <a:r>
                        <a:rPr lang="en-GB" sz="1800">
                          <a:latin typeface="Lexend"/>
                          <a:ea typeface="Lexend"/>
                          <a:cs typeface="Lexend"/>
                          <a:sym typeface="Lexend"/>
                        </a:rPr>
                        <a:t>width</a:t>
                      </a:r>
                      <a:endParaRPr sz="1800">
                        <a:latin typeface="Lexend"/>
                        <a:ea typeface="Lexend"/>
                        <a:cs typeface="Lexend"/>
                        <a:sym typeface="Lexend"/>
                      </a:endParaRPr>
                    </a:p>
                  </a:txBody>
                  <a:tcPr marT="91425" marB="91425" marR="91425" marL="91425"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height</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diagonal</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r>
              <a:tr h="5138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4</a:t>
                      </a:r>
                      <a:endParaRPr/>
                    </a:p>
                  </a:txBody>
                  <a:tcPr marT="91425" marB="91425" marR="91425" marL="91425"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a:t>
                      </a:r>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5</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5138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r>
            </a:tbl>
          </a:graphicData>
        </a:graphic>
      </p:graphicFrame>
      <p:sp>
        <p:nvSpPr>
          <p:cNvPr id="1420" name="Google Shape;1420;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ratios</a:t>
            </a:r>
            <a:endParaRPr/>
          </a:p>
        </p:txBody>
      </p:sp>
      <p:sp>
        <p:nvSpPr>
          <p:cNvPr id="1421" name="Google Shape;1421;p94"/>
          <p:cNvSpPr txBox="1"/>
          <p:nvPr/>
        </p:nvSpPr>
        <p:spPr>
          <a:xfrm flipH="1" rot="2788">
            <a:off x="323999" y="714627"/>
            <a:ext cx="4808402" cy="116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On the box of a retro monitor, it says </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“18 inch screen”.</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What is this multiplier, </a:t>
            </a:r>
            <a:r>
              <a:rPr i="1" lang="en-GB" sz="2200">
                <a:latin typeface="Times New Roman"/>
                <a:ea typeface="Times New Roman"/>
                <a:cs typeface="Times New Roman"/>
                <a:sym typeface="Times New Roman"/>
              </a:rPr>
              <a:t>k</a:t>
            </a:r>
            <a:r>
              <a:rPr lang="en-GB" sz="1800">
                <a:latin typeface="Lexend"/>
                <a:ea typeface="Lexend"/>
                <a:cs typeface="Lexend"/>
                <a:sym typeface="Lexend"/>
              </a:rPr>
              <a:t>?</a:t>
            </a:r>
            <a:endParaRPr sz="1800">
              <a:latin typeface="Lexend"/>
              <a:ea typeface="Lexend"/>
              <a:cs typeface="Lexend"/>
              <a:sym typeface="Lexend"/>
            </a:endParaRPr>
          </a:p>
        </p:txBody>
      </p:sp>
      <p:sp>
        <p:nvSpPr>
          <p:cNvPr id="1422" name="Google Shape;1422;p94"/>
          <p:cNvSpPr txBox="1"/>
          <p:nvPr/>
        </p:nvSpPr>
        <p:spPr>
          <a:xfrm>
            <a:off x="6193286" y="792048"/>
            <a:ext cx="1168259" cy="192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4 units</a:t>
            </a:r>
            <a:endParaRPr sz="1800">
              <a:latin typeface="Lexend"/>
              <a:ea typeface="Lexend"/>
              <a:cs typeface="Lexend"/>
              <a:sym typeface="Lexend"/>
            </a:endParaRPr>
          </a:p>
        </p:txBody>
      </p:sp>
      <p:sp>
        <p:nvSpPr>
          <p:cNvPr id="1423" name="Google Shape;1423;p94"/>
          <p:cNvSpPr txBox="1"/>
          <p:nvPr/>
        </p:nvSpPr>
        <p:spPr>
          <a:xfrm>
            <a:off x="7825587" y="1856370"/>
            <a:ext cx="871200" cy="3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 units</a:t>
            </a:r>
            <a:endParaRPr sz="1800">
              <a:latin typeface="Lexend"/>
              <a:ea typeface="Lexend"/>
              <a:cs typeface="Lexend"/>
              <a:sym typeface="Lexend"/>
            </a:endParaRPr>
          </a:p>
        </p:txBody>
      </p:sp>
      <p:cxnSp>
        <p:nvCxnSpPr>
          <p:cNvPr id="1424" name="Google Shape;1424;p94"/>
          <p:cNvCxnSpPr/>
          <p:nvPr/>
        </p:nvCxnSpPr>
        <p:spPr>
          <a:xfrm>
            <a:off x="6107375" y="1442010"/>
            <a:ext cx="1341600" cy="864600"/>
          </a:xfrm>
          <a:prstGeom prst="straightConnector1">
            <a:avLst/>
          </a:prstGeom>
          <a:noFill/>
          <a:ln cap="flat" cmpd="sng" w="28575">
            <a:solidFill>
              <a:schemeClr val="accent3"/>
            </a:solidFill>
            <a:prstDash val="solid"/>
            <a:round/>
            <a:headEnd len="med" w="med" type="triangle"/>
            <a:tailEnd len="med" w="med" type="triangle"/>
          </a:ln>
        </p:spPr>
      </p:cxnSp>
      <p:sp>
        <p:nvSpPr>
          <p:cNvPr id="1425" name="Google Shape;1425;p94"/>
          <p:cNvSpPr txBox="1"/>
          <p:nvPr/>
        </p:nvSpPr>
        <p:spPr>
          <a:xfrm flipH="1" rot="1972066">
            <a:off x="6250413" y="1586042"/>
            <a:ext cx="1223323" cy="307727"/>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5 units</a:t>
            </a:r>
            <a:endParaRPr sz="1800">
              <a:solidFill>
                <a:schemeClr val="dk1"/>
              </a:solidFill>
              <a:latin typeface="Lexend"/>
              <a:ea typeface="Lexend"/>
              <a:cs typeface="Lexend"/>
              <a:sym typeface="Lexend"/>
            </a:endParaRPr>
          </a:p>
        </p:txBody>
      </p:sp>
      <p:grpSp>
        <p:nvGrpSpPr>
          <p:cNvPr id="1426" name="Google Shape;1426;p94"/>
          <p:cNvGrpSpPr/>
          <p:nvPr/>
        </p:nvGrpSpPr>
        <p:grpSpPr>
          <a:xfrm>
            <a:off x="5317400" y="3311961"/>
            <a:ext cx="575075" cy="708600"/>
            <a:chOff x="6802700" y="3475700"/>
            <a:chExt cx="575075" cy="708600"/>
          </a:xfrm>
        </p:grpSpPr>
        <p:sp>
          <p:nvSpPr>
            <p:cNvPr id="1427" name="Google Shape;1427;p94"/>
            <p:cNvSpPr/>
            <p:nvPr/>
          </p:nvSpPr>
          <p:spPr>
            <a:xfrm flipH="1" rot="10800000">
              <a:off x="6802700" y="3475700"/>
              <a:ext cx="262800" cy="708600"/>
            </a:xfrm>
            <a:prstGeom prst="curvedLeftArrow">
              <a:avLst>
                <a:gd fmla="val 25000" name="adj1"/>
                <a:gd fmla="val 50000" name="adj2"/>
                <a:gd fmla="val 25000" name="adj3"/>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28" name="Google Shape;1428;p94"/>
            <p:cNvSpPr txBox="1"/>
            <p:nvPr/>
          </p:nvSpPr>
          <p:spPr>
            <a:xfrm flipH="1">
              <a:off x="7114975" y="3691208"/>
              <a:ext cx="2628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grpSp>
      <p:grpSp>
        <p:nvGrpSpPr>
          <p:cNvPr id="1429" name="Google Shape;1429;p94"/>
          <p:cNvGrpSpPr/>
          <p:nvPr/>
        </p:nvGrpSpPr>
        <p:grpSpPr>
          <a:xfrm rot="10800000">
            <a:off x="476300" y="3311961"/>
            <a:ext cx="688175" cy="708600"/>
            <a:chOff x="6802700" y="3475700"/>
            <a:chExt cx="688175" cy="708600"/>
          </a:xfrm>
        </p:grpSpPr>
        <p:sp>
          <p:nvSpPr>
            <p:cNvPr id="1430" name="Google Shape;1430;p94"/>
            <p:cNvSpPr/>
            <p:nvPr/>
          </p:nvSpPr>
          <p:spPr>
            <a:xfrm flipH="1" rot="10800000">
              <a:off x="6802700" y="3475700"/>
              <a:ext cx="262800" cy="708600"/>
            </a:xfrm>
            <a:prstGeom prst="curvedLeftArrow">
              <a:avLst>
                <a:gd fmla="val 25000" name="adj1"/>
                <a:gd fmla="val 50000" name="adj2"/>
                <a:gd fmla="val 25000" name="adj3"/>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1" name="Google Shape;1431;p94"/>
            <p:cNvSpPr txBox="1"/>
            <p:nvPr/>
          </p:nvSpPr>
          <p:spPr>
            <a:xfrm flipH="1" rot="10800000">
              <a:off x="7114975" y="3691211"/>
              <a:ext cx="3759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k</a:t>
              </a:r>
              <a:endParaRPr sz="1800">
                <a:latin typeface="Lexend"/>
                <a:ea typeface="Lexend"/>
                <a:cs typeface="Lexend"/>
                <a:sym typeface="Lexend"/>
              </a:endParaRPr>
            </a:p>
          </p:txBody>
        </p:sp>
      </p:grpSp>
      <p:sp>
        <p:nvSpPr>
          <p:cNvPr id="1432" name="Google Shape;1432;p94"/>
          <p:cNvSpPr txBox="1"/>
          <p:nvPr/>
        </p:nvSpPr>
        <p:spPr>
          <a:xfrm flipH="1" rot="2788">
            <a:off x="476399" y="4151927"/>
            <a:ext cx="4808402"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k = 3.6</a:t>
            </a:r>
            <a:endParaRPr sz="2000">
              <a:latin typeface="Kalam"/>
              <a:ea typeface="Kalam"/>
              <a:cs typeface="Kalam"/>
              <a:sym typeface="Kalam"/>
            </a:endParaRPr>
          </a:p>
        </p:txBody>
      </p:sp>
      <p:cxnSp>
        <p:nvCxnSpPr>
          <p:cNvPr id="1433" name="Google Shape;1433;p94"/>
          <p:cNvCxnSpPr/>
          <p:nvPr/>
        </p:nvCxnSpPr>
        <p:spPr>
          <a:xfrm>
            <a:off x="7707975" y="1429800"/>
            <a:ext cx="4800" cy="907500"/>
          </a:xfrm>
          <a:prstGeom prst="straightConnector1">
            <a:avLst/>
          </a:prstGeom>
          <a:noFill/>
          <a:ln cap="flat" cmpd="sng" w="28575">
            <a:solidFill>
              <a:schemeClr val="accent4"/>
            </a:solidFill>
            <a:prstDash val="solid"/>
            <a:round/>
            <a:headEnd len="med" w="med" type="triangle"/>
            <a:tailEnd len="med" w="med" type="triangle"/>
          </a:ln>
        </p:spPr>
      </p:cxnSp>
      <p:cxnSp>
        <p:nvCxnSpPr>
          <p:cNvPr id="1434" name="Google Shape;1434;p94"/>
          <p:cNvCxnSpPr/>
          <p:nvPr/>
        </p:nvCxnSpPr>
        <p:spPr>
          <a:xfrm flipH="1" rot="10800000">
            <a:off x="6128850" y="1098825"/>
            <a:ext cx="1308600" cy="51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pic>
        <p:nvPicPr>
          <p:cNvPr id="1439" name="Google Shape;1439;p95"/>
          <p:cNvPicPr preferRelativeResize="0"/>
          <p:nvPr/>
        </p:nvPicPr>
        <p:blipFill>
          <a:blip r:embed="rId3">
            <a:alphaModFix/>
          </a:blip>
          <a:stretch>
            <a:fillRect/>
          </a:stretch>
        </p:blipFill>
        <p:spPr>
          <a:xfrm>
            <a:off x="5841189" y="1282775"/>
            <a:ext cx="1921100" cy="1742226"/>
          </a:xfrm>
          <a:prstGeom prst="rect">
            <a:avLst/>
          </a:prstGeom>
          <a:noFill/>
          <a:ln>
            <a:noFill/>
          </a:ln>
        </p:spPr>
      </p:pic>
      <p:grpSp>
        <p:nvGrpSpPr>
          <p:cNvPr id="1440" name="Google Shape;1440;p95"/>
          <p:cNvGrpSpPr/>
          <p:nvPr/>
        </p:nvGrpSpPr>
        <p:grpSpPr>
          <a:xfrm>
            <a:off x="1342625" y="3773460"/>
            <a:ext cx="2632763" cy="309000"/>
            <a:chOff x="1342625" y="3725144"/>
            <a:chExt cx="2632763" cy="309000"/>
          </a:xfrm>
        </p:grpSpPr>
        <p:sp>
          <p:nvSpPr>
            <p:cNvPr id="1441" name="Google Shape;1441;p95"/>
            <p:cNvSpPr txBox="1"/>
            <p:nvPr/>
          </p:nvSpPr>
          <p:spPr>
            <a:xfrm flipH="1" rot="3212">
              <a:off x="1342625" y="3725744"/>
              <a:ext cx="1284301"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2000">
                  <a:latin typeface="Kalam"/>
                  <a:ea typeface="Kalam"/>
                  <a:cs typeface="Kalam"/>
                  <a:sym typeface="Kalam"/>
                </a:rPr>
                <a:t>14.4 inches</a:t>
              </a:r>
              <a:endParaRPr sz="2000">
                <a:latin typeface="Kalam"/>
                <a:ea typeface="Kalam"/>
                <a:cs typeface="Kalam"/>
                <a:sym typeface="Kalam"/>
              </a:endParaRPr>
            </a:p>
          </p:txBody>
        </p:sp>
        <p:sp>
          <p:nvSpPr>
            <p:cNvPr id="1442" name="Google Shape;1442;p95"/>
            <p:cNvSpPr txBox="1"/>
            <p:nvPr/>
          </p:nvSpPr>
          <p:spPr>
            <a:xfrm flipH="1" rot="3212">
              <a:off x="2691087" y="3725744"/>
              <a:ext cx="1284301"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800"/>
                <a:buFont typeface="Arial"/>
                <a:buNone/>
              </a:pPr>
              <a:r>
                <a:rPr lang="en-GB" sz="2000">
                  <a:latin typeface="Kalam"/>
                  <a:ea typeface="Kalam"/>
                  <a:cs typeface="Kalam"/>
                  <a:sym typeface="Kalam"/>
                </a:rPr>
                <a:t>10.8 inches</a:t>
              </a:r>
              <a:endParaRPr sz="2000">
                <a:latin typeface="Kalam"/>
                <a:ea typeface="Kalam"/>
                <a:cs typeface="Kalam"/>
                <a:sym typeface="Kalam"/>
              </a:endParaRPr>
            </a:p>
          </p:txBody>
        </p:sp>
      </p:grpSp>
      <p:graphicFrame>
        <p:nvGraphicFramePr>
          <p:cNvPr id="1443" name="Google Shape;1443;p95"/>
          <p:cNvGraphicFramePr/>
          <p:nvPr/>
        </p:nvGraphicFramePr>
        <p:xfrm>
          <a:off x="1306463" y="2638700"/>
          <a:ext cx="3000000" cy="3000000"/>
        </p:xfrm>
        <a:graphic>
          <a:graphicData uri="http://schemas.openxmlformats.org/drawingml/2006/table">
            <a:tbl>
              <a:tblPr>
                <a:noFill/>
                <a:tableStyleId>{018616B7-C05B-4F4E-94F1-144584CD3DCC}</a:tableStyleId>
              </a:tblPr>
              <a:tblGrid>
                <a:gridCol w="1351175"/>
                <a:gridCol w="1351175"/>
                <a:gridCol w="1351175"/>
              </a:tblGrid>
              <a:tr h="513800">
                <a:tc>
                  <a:txBody>
                    <a:bodyPr/>
                    <a:lstStyle/>
                    <a:p>
                      <a:pPr indent="0" lvl="0" marL="0" rtl="0" algn="ctr">
                        <a:spcBef>
                          <a:spcPts val="0"/>
                        </a:spcBef>
                        <a:spcAft>
                          <a:spcPts val="0"/>
                        </a:spcAft>
                        <a:buNone/>
                      </a:pPr>
                      <a:r>
                        <a:rPr lang="en-GB" sz="1800">
                          <a:latin typeface="Lexend"/>
                          <a:ea typeface="Lexend"/>
                          <a:cs typeface="Lexend"/>
                          <a:sym typeface="Lexend"/>
                        </a:rPr>
                        <a:t>width</a:t>
                      </a:r>
                      <a:endParaRPr sz="1800">
                        <a:latin typeface="Lexend"/>
                        <a:ea typeface="Lexend"/>
                        <a:cs typeface="Lexend"/>
                        <a:sym typeface="Lexend"/>
                      </a:endParaRPr>
                    </a:p>
                  </a:txBody>
                  <a:tcPr marT="91425" marB="91425" marR="91425" marL="91425"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height</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diagonal</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r>
              <a:tr h="51380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4</a:t>
                      </a:r>
                      <a:endParaRPr/>
                    </a:p>
                  </a:txBody>
                  <a:tcPr marT="91425" marB="91425" marR="91425" marL="91425"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3</a:t>
                      </a:r>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5</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51380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18</a:t>
                      </a:r>
                      <a:endParaRPr sz="1800">
                        <a:latin typeface="Lexend"/>
                        <a:ea typeface="Lexend"/>
                        <a:cs typeface="Lexend"/>
                        <a:sym typeface="Lexend"/>
                      </a:endParaRPr>
                    </a:p>
                  </a:txBody>
                  <a:tcPr marT="91425" marB="91425" marR="91425" marL="91425"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r>
            </a:tbl>
          </a:graphicData>
        </a:graphic>
      </p:graphicFrame>
      <p:sp>
        <p:nvSpPr>
          <p:cNvPr id="1444" name="Google Shape;1444;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Pythagoras’ theorem with ratios</a:t>
            </a:r>
            <a:endParaRPr/>
          </a:p>
        </p:txBody>
      </p:sp>
      <p:sp>
        <p:nvSpPr>
          <p:cNvPr id="1445" name="Google Shape;1445;p95"/>
          <p:cNvSpPr txBox="1"/>
          <p:nvPr/>
        </p:nvSpPr>
        <p:spPr>
          <a:xfrm>
            <a:off x="6193286" y="792048"/>
            <a:ext cx="1168259" cy="192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4 units</a:t>
            </a:r>
            <a:endParaRPr sz="1800">
              <a:latin typeface="Lexend"/>
              <a:ea typeface="Lexend"/>
              <a:cs typeface="Lexend"/>
              <a:sym typeface="Lexend"/>
            </a:endParaRPr>
          </a:p>
        </p:txBody>
      </p:sp>
      <p:sp>
        <p:nvSpPr>
          <p:cNvPr id="1446" name="Google Shape;1446;p95"/>
          <p:cNvSpPr txBox="1"/>
          <p:nvPr/>
        </p:nvSpPr>
        <p:spPr>
          <a:xfrm>
            <a:off x="7825587" y="1856370"/>
            <a:ext cx="871200" cy="3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 units</a:t>
            </a:r>
            <a:endParaRPr sz="1800">
              <a:latin typeface="Lexend"/>
              <a:ea typeface="Lexend"/>
              <a:cs typeface="Lexend"/>
              <a:sym typeface="Lexend"/>
            </a:endParaRPr>
          </a:p>
        </p:txBody>
      </p:sp>
      <p:cxnSp>
        <p:nvCxnSpPr>
          <p:cNvPr id="1447" name="Google Shape;1447;p95"/>
          <p:cNvCxnSpPr/>
          <p:nvPr/>
        </p:nvCxnSpPr>
        <p:spPr>
          <a:xfrm>
            <a:off x="6107375" y="1442010"/>
            <a:ext cx="1341600" cy="864600"/>
          </a:xfrm>
          <a:prstGeom prst="straightConnector1">
            <a:avLst/>
          </a:prstGeom>
          <a:noFill/>
          <a:ln cap="flat" cmpd="sng" w="28575">
            <a:solidFill>
              <a:schemeClr val="accent3"/>
            </a:solidFill>
            <a:prstDash val="solid"/>
            <a:round/>
            <a:headEnd len="med" w="med" type="triangle"/>
            <a:tailEnd len="med" w="med" type="triangle"/>
          </a:ln>
        </p:spPr>
      </p:cxnSp>
      <p:sp>
        <p:nvSpPr>
          <p:cNvPr id="1448" name="Google Shape;1448;p95"/>
          <p:cNvSpPr txBox="1"/>
          <p:nvPr/>
        </p:nvSpPr>
        <p:spPr>
          <a:xfrm flipH="1" rot="1972066">
            <a:off x="6250413" y="1586042"/>
            <a:ext cx="1223323" cy="307727"/>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5 units</a:t>
            </a:r>
            <a:endParaRPr sz="1800">
              <a:solidFill>
                <a:schemeClr val="dk1"/>
              </a:solidFill>
              <a:latin typeface="Lexend"/>
              <a:ea typeface="Lexend"/>
              <a:cs typeface="Lexend"/>
              <a:sym typeface="Lexend"/>
            </a:endParaRPr>
          </a:p>
        </p:txBody>
      </p:sp>
      <p:grpSp>
        <p:nvGrpSpPr>
          <p:cNvPr id="1449" name="Google Shape;1449;p95"/>
          <p:cNvGrpSpPr/>
          <p:nvPr/>
        </p:nvGrpSpPr>
        <p:grpSpPr>
          <a:xfrm>
            <a:off x="5317400" y="3311961"/>
            <a:ext cx="575075" cy="708600"/>
            <a:chOff x="6802700" y="3475700"/>
            <a:chExt cx="575075" cy="708600"/>
          </a:xfrm>
        </p:grpSpPr>
        <p:sp>
          <p:nvSpPr>
            <p:cNvPr id="1450" name="Google Shape;1450;p95"/>
            <p:cNvSpPr/>
            <p:nvPr/>
          </p:nvSpPr>
          <p:spPr>
            <a:xfrm flipH="1" rot="10800000">
              <a:off x="6802700" y="3475700"/>
              <a:ext cx="262800" cy="708600"/>
            </a:xfrm>
            <a:prstGeom prst="curvedLeftArrow">
              <a:avLst>
                <a:gd fmla="val 25000" name="adj1"/>
                <a:gd fmla="val 50000" name="adj2"/>
                <a:gd fmla="val 25000" name="adj3"/>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1" name="Google Shape;1451;p95"/>
            <p:cNvSpPr txBox="1"/>
            <p:nvPr/>
          </p:nvSpPr>
          <p:spPr>
            <a:xfrm flipH="1">
              <a:off x="7114975" y="3691208"/>
              <a:ext cx="2628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grpSp>
      <p:grpSp>
        <p:nvGrpSpPr>
          <p:cNvPr id="1452" name="Google Shape;1452;p95"/>
          <p:cNvGrpSpPr/>
          <p:nvPr/>
        </p:nvGrpSpPr>
        <p:grpSpPr>
          <a:xfrm rot="10800000">
            <a:off x="352700" y="3311961"/>
            <a:ext cx="811775" cy="708600"/>
            <a:chOff x="6802700" y="3475700"/>
            <a:chExt cx="811775" cy="708600"/>
          </a:xfrm>
        </p:grpSpPr>
        <p:sp>
          <p:nvSpPr>
            <p:cNvPr id="1453" name="Google Shape;1453;p95"/>
            <p:cNvSpPr/>
            <p:nvPr/>
          </p:nvSpPr>
          <p:spPr>
            <a:xfrm flipH="1" rot="10800000">
              <a:off x="6802700" y="3475700"/>
              <a:ext cx="262800" cy="708600"/>
            </a:xfrm>
            <a:prstGeom prst="curvedLeftArrow">
              <a:avLst>
                <a:gd fmla="val 25000" name="adj1"/>
                <a:gd fmla="val 50000" name="adj2"/>
                <a:gd fmla="val 25000" name="adj3"/>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4" name="Google Shape;1454;p95"/>
            <p:cNvSpPr txBox="1"/>
            <p:nvPr/>
          </p:nvSpPr>
          <p:spPr>
            <a:xfrm flipH="1" rot="10800000">
              <a:off x="7114975" y="3691211"/>
              <a:ext cx="4995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 3.6</a:t>
              </a:r>
              <a:endParaRPr sz="1800">
                <a:latin typeface="Lexend"/>
                <a:ea typeface="Lexend"/>
                <a:cs typeface="Lexend"/>
                <a:sym typeface="Lexend"/>
              </a:endParaRPr>
            </a:p>
          </p:txBody>
        </p:sp>
      </p:grpSp>
      <p:grpSp>
        <p:nvGrpSpPr>
          <p:cNvPr id="1455" name="Google Shape;1455;p95"/>
          <p:cNvGrpSpPr/>
          <p:nvPr/>
        </p:nvGrpSpPr>
        <p:grpSpPr>
          <a:xfrm>
            <a:off x="1844691" y="3785299"/>
            <a:ext cx="1631214" cy="285338"/>
            <a:chOff x="1844691" y="3736984"/>
            <a:chExt cx="1631214" cy="285338"/>
          </a:xfrm>
        </p:grpSpPr>
        <p:grpSp>
          <p:nvGrpSpPr>
            <p:cNvPr id="1456" name="Google Shape;1456;p95"/>
            <p:cNvGrpSpPr/>
            <p:nvPr/>
          </p:nvGrpSpPr>
          <p:grpSpPr>
            <a:xfrm>
              <a:off x="3190566" y="3736984"/>
              <a:ext cx="285339" cy="285338"/>
              <a:chOff x="5033128" y="1745934"/>
              <a:chExt cx="285339" cy="285338"/>
            </a:xfrm>
          </p:grpSpPr>
          <p:pic>
            <p:nvPicPr>
              <p:cNvPr id="1457" name="Google Shape;1457;p95"/>
              <p:cNvPicPr preferRelativeResize="0"/>
              <p:nvPr/>
            </p:nvPicPr>
            <p:blipFill>
              <a:blip r:embed="rId4">
                <a:alphaModFix/>
              </a:blip>
              <a:stretch>
                <a:fillRect/>
              </a:stretch>
            </p:blipFill>
            <p:spPr>
              <a:xfrm flipH="1">
                <a:off x="5033128" y="1745934"/>
                <a:ext cx="285339" cy="285338"/>
              </a:xfrm>
              <a:prstGeom prst="rect">
                <a:avLst/>
              </a:prstGeom>
              <a:noFill/>
              <a:ln>
                <a:noFill/>
              </a:ln>
            </p:spPr>
          </p:pic>
          <p:sp>
            <p:nvSpPr>
              <p:cNvPr id="1458" name="Google Shape;1458;p95"/>
              <p:cNvSpPr txBox="1"/>
              <p:nvPr/>
            </p:nvSpPr>
            <p:spPr>
              <a:xfrm flipH="1">
                <a:off x="5048406" y="1798553"/>
                <a:ext cx="254700" cy="17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59" name="Google Shape;1459;p95"/>
            <p:cNvGrpSpPr/>
            <p:nvPr/>
          </p:nvGrpSpPr>
          <p:grpSpPr>
            <a:xfrm>
              <a:off x="1844691" y="3736984"/>
              <a:ext cx="285339" cy="285338"/>
              <a:chOff x="5033128" y="1745934"/>
              <a:chExt cx="285339" cy="285338"/>
            </a:xfrm>
          </p:grpSpPr>
          <p:pic>
            <p:nvPicPr>
              <p:cNvPr id="1460" name="Google Shape;1460;p95"/>
              <p:cNvPicPr preferRelativeResize="0"/>
              <p:nvPr/>
            </p:nvPicPr>
            <p:blipFill>
              <a:blip r:embed="rId4">
                <a:alphaModFix/>
              </a:blip>
              <a:stretch>
                <a:fillRect/>
              </a:stretch>
            </p:blipFill>
            <p:spPr>
              <a:xfrm flipH="1">
                <a:off x="5033128" y="1745934"/>
                <a:ext cx="285339" cy="285338"/>
              </a:xfrm>
              <a:prstGeom prst="rect">
                <a:avLst/>
              </a:prstGeom>
              <a:noFill/>
              <a:ln>
                <a:noFill/>
              </a:ln>
            </p:spPr>
          </p:pic>
          <p:sp>
            <p:nvSpPr>
              <p:cNvPr id="1461" name="Google Shape;1461;p95"/>
              <p:cNvSpPr txBox="1"/>
              <p:nvPr/>
            </p:nvSpPr>
            <p:spPr>
              <a:xfrm flipH="1">
                <a:off x="5048406" y="1798553"/>
                <a:ext cx="254700" cy="173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sp>
        <p:nvSpPr>
          <p:cNvPr id="1462" name="Google Shape;1462;p95"/>
          <p:cNvSpPr txBox="1"/>
          <p:nvPr/>
        </p:nvSpPr>
        <p:spPr>
          <a:xfrm flipH="1" rot="2788">
            <a:off x="323999" y="714627"/>
            <a:ext cx="4808402"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On the box of a retro monitor, it says </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“18 inch screen”.</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What are the width and height of this monitor, in inches?</a:t>
            </a:r>
            <a:endParaRPr sz="1800">
              <a:latin typeface="Lexend"/>
              <a:ea typeface="Lexend"/>
              <a:cs typeface="Lexend"/>
              <a:sym typeface="Lexend"/>
            </a:endParaRPr>
          </a:p>
        </p:txBody>
      </p:sp>
      <p:sp>
        <p:nvSpPr>
          <p:cNvPr id="1463" name="Google Shape;1463;p95"/>
          <p:cNvSpPr txBox="1"/>
          <p:nvPr/>
        </p:nvSpPr>
        <p:spPr>
          <a:xfrm>
            <a:off x="6095600" y="792050"/>
            <a:ext cx="1363800" cy="192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14.4 inches</a:t>
            </a:r>
            <a:endParaRPr sz="2000">
              <a:latin typeface="Kalam"/>
              <a:ea typeface="Kalam"/>
              <a:cs typeface="Kalam"/>
              <a:sym typeface="Kalam"/>
            </a:endParaRPr>
          </a:p>
        </p:txBody>
      </p:sp>
      <p:sp>
        <p:nvSpPr>
          <p:cNvPr id="1464" name="Google Shape;1464;p95"/>
          <p:cNvSpPr txBox="1"/>
          <p:nvPr/>
        </p:nvSpPr>
        <p:spPr>
          <a:xfrm>
            <a:off x="7825587" y="1856370"/>
            <a:ext cx="871200" cy="3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lang="en-GB" sz="2000">
                <a:solidFill>
                  <a:schemeClr val="dk1"/>
                </a:solidFill>
                <a:latin typeface="Kalam"/>
                <a:ea typeface="Kalam"/>
                <a:cs typeface="Kalam"/>
                <a:sym typeface="Kalam"/>
              </a:rPr>
              <a:t>10.8 inches</a:t>
            </a:r>
            <a:endParaRPr sz="1800">
              <a:latin typeface="Lexend"/>
              <a:ea typeface="Lexend"/>
              <a:cs typeface="Lexend"/>
              <a:sym typeface="Lexend"/>
            </a:endParaRPr>
          </a:p>
        </p:txBody>
      </p:sp>
      <p:cxnSp>
        <p:nvCxnSpPr>
          <p:cNvPr id="1465" name="Google Shape;1465;p95"/>
          <p:cNvCxnSpPr/>
          <p:nvPr/>
        </p:nvCxnSpPr>
        <p:spPr>
          <a:xfrm>
            <a:off x="7707975" y="1429800"/>
            <a:ext cx="4800" cy="907500"/>
          </a:xfrm>
          <a:prstGeom prst="straightConnector1">
            <a:avLst/>
          </a:prstGeom>
          <a:noFill/>
          <a:ln cap="flat" cmpd="sng" w="28575">
            <a:solidFill>
              <a:schemeClr val="accent4"/>
            </a:solidFill>
            <a:prstDash val="solid"/>
            <a:round/>
            <a:headEnd len="med" w="med" type="triangle"/>
            <a:tailEnd len="med" w="med" type="triangle"/>
          </a:ln>
        </p:spPr>
      </p:cxnSp>
      <p:cxnSp>
        <p:nvCxnSpPr>
          <p:cNvPr id="1466" name="Google Shape;1466;p95"/>
          <p:cNvCxnSpPr/>
          <p:nvPr/>
        </p:nvCxnSpPr>
        <p:spPr>
          <a:xfrm flipH="1" rot="10800000">
            <a:off x="6128850" y="1098825"/>
            <a:ext cx="1308600" cy="5100"/>
          </a:xfrm>
          <a:prstGeom prst="straightConnector1">
            <a:avLst/>
          </a:prstGeom>
          <a:noFill/>
          <a:ln cap="flat" cmpd="sng" w="28575">
            <a:solidFill>
              <a:schemeClr val="accent4"/>
            </a:solidFill>
            <a:prstDash val="solid"/>
            <a:round/>
            <a:headEnd len="med" w="med" type="triangle"/>
            <a:tailEnd len="med" w="med" type="triangle"/>
          </a:ln>
        </p:spPr>
      </p:cxnSp>
      <p:sp>
        <p:nvSpPr>
          <p:cNvPr id="1467" name="Google Shape;1467;p95"/>
          <p:cNvSpPr txBox="1"/>
          <p:nvPr/>
        </p:nvSpPr>
        <p:spPr>
          <a:xfrm flipH="1" rot="1972066">
            <a:off x="6250413" y="1586042"/>
            <a:ext cx="1223323" cy="307727"/>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18 inches</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45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44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4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44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1" name="Shape 1471"/>
        <p:cNvGrpSpPr/>
        <p:nvPr/>
      </p:nvGrpSpPr>
      <p:grpSpPr>
        <a:xfrm>
          <a:off x="0" y="0"/>
          <a:ext cx="0" cy="0"/>
          <a:chOff x="0" y="0"/>
          <a:chExt cx="0" cy="0"/>
        </a:xfrm>
      </p:grpSpPr>
      <p:sp>
        <p:nvSpPr>
          <p:cNvPr id="1472" name="Google Shape;1472;p96"/>
          <p:cNvSpPr txBox="1"/>
          <p:nvPr/>
        </p:nvSpPr>
        <p:spPr>
          <a:xfrm flipH="1" rot="2708">
            <a:off x="324124" y="714616"/>
            <a:ext cx="45705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1) Each of these three widescreen TVs have width and height in the ratio 16 : 9.</a:t>
            </a:r>
            <a:endParaRPr sz="1800">
              <a:latin typeface="Lexend"/>
              <a:ea typeface="Lexend"/>
              <a:cs typeface="Lexend"/>
              <a:sym typeface="Lexend"/>
            </a:endParaRPr>
          </a:p>
        </p:txBody>
      </p:sp>
      <p:sp>
        <p:nvSpPr>
          <p:cNvPr id="1473" name="Google Shape;1473;p9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Pythagoras’ theorem with ratios</a:t>
            </a:r>
            <a:endParaRPr/>
          </a:p>
        </p:txBody>
      </p:sp>
      <p:cxnSp>
        <p:nvCxnSpPr>
          <p:cNvPr id="1474" name="Google Shape;1474;p96"/>
          <p:cNvCxnSpPr/>
          <p:nvPr/>
        </p:nvCxnSpPr>
        <p:spPr>
          <a:xfrm>
            <a:off x="5263750" y="741092"/>
            <a:ext cx="1215000" cy="760500"/>
          </a:xfrm>
          <a:prstGeom prst="straightConnector1">
            <a:avLst/>
          </a:prstGeom>
          <a:noFill/>
          <a:ln cap="flat" cmpd="sng" w="28575">
            <a:solidFill>
              <a:schemeClr val="accent3"/>
            </a:solidFill>
            <a:prstDash val="solid"/>
            <a:round/>
            <a:headEnd len="med" w="med" type="triangle"/>
            <a:tailEnd len="med" w="med" type="triangle"/>
          </a:ln>
        </p:spPr>
      </p:cxnSp>
      <p:sp>
        <p:nvSpPr>
          <p:cNvPr id="1475" name="Google Shape;1475;p96"/>
          <p:cNvSpPr txBox="1"/>
          <p:nvPr/>
        </p:nvSpPr>
        <p:spPr>
          <a:xfrm flipH="1" rot="1921020">
            <a:off x="5541649" y="857832"/>
            <a:ext cx="940451" cy="307569"/>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8 inches</a:t>
            </a:r>
            <a:endParaRPr sz="1800">
              <a:solidFill>
                <a:schemeClr val="dk1"/>
              </a:solidFill>
              <a:latin typeface="Lexend"/>
              <a:ea typeface="Lexend"/>
              <a:cs typeface="Lexend"/>
              <a:sym typeface="Lexend"/>
            </a:endParaRPr>
          </a:p>
        </p:txBody>
      </p:sp>
      <p:grpSp>
        <p:nvGrpSpPr>
          <p:cNvPr id="1476" name="Google Shape;1476;p96"/>
          <p:cNvGrpSpPr/>
          <p:nvPr/>
        </p:nvGrpSpPr>
        <p:grpSpPr>
          <a:xfrm>
            <a:off x="6779021" y="641384"/>
            <a:ext cx="1847407" cy="1285326"/>
            <a:chOff x="6909850" y="725394"/>
            <a:chExt cx="1215000" cy="845331"/>
          </a:xfrm>
        </p:grpSpPr>
        <p:cxnSp>
          <p:nvCxnSpPr>
            <p:cNvPr id="1477" name="Google Shape;1477;p96"/>
            <p:cNvCxnSpPr/>
            <p:nvPr/>
          </p:nvCxnSpPr>
          <p:spPr>
            <a:xfrm>
              <a:off x="6909850" y="810225"/>
              <a:ext cx="1215000" cy="760500"/>
            </a:xfrm>
            <a:prstGeom prst="straightConnector1">
              <a:avLst/>
            </a:prstGeom>
            <a:noFill/>
            <a:ln cap="flat" cmpd="sng" w="28575">
              <a:solidFill>
                <a:schemeClr val="accent3"/>
              </a:solidFill>
              <a:prstDash val="solid"/>
              <a:round/>
              <a:headEnd len="med" w="med" type="triangle"/>
              <a:tailEnd len="med" w="med" type="triangle"/>
            </a:ln>
          </p:spPr>
        </p:cxnSp>
        <p:sp>
          <p:nvSpPr>
            <p:cNvPr id="1478" name="Google Shape;1478;p96"/>
            <p:cNvSpPr txBox="1"/>
            <p:nvPr/>
          </p:nvSpPr>
          <p:spPr>
            <a:xfrm flipH="1" rot="1921659">
              <a:off x="7045456" y="992215"/>
              <a:ext cx="1064058" cy="201357"/>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12 inches</a:t>
              </a:r>
              <a:endParaRPr sz="1800">
                <a:solidFill>
                  <a:schemeClr val="dk1"/>
                </a:solidFill>
                <a:latin typeface="Lexend"/>
                <a:ea typeface="Lexend"/>
                <a:cs typeface="Lexend"/>
                <a:sym typeface="Lexend"/>
              </a:endParaRPr>
            </a:p>
          </p:txBody>
        </p:sp>
      </p:grpSp>
      <p:grpSp>
        <p:nvGrpSpPr>
          <p:cNvPr id="1479" name="Google Shape;1479;p96"/>
          <p:cNvGrpSpPr/>
          <p:nvPr/>
        </p:nvGrpSpPr>
        <p:grpSpPr>
          <a:xfrm>
            <a:off x="6067541" y="2708675"/>
            <a:ext cx="2282256" cy="1587870"/>
            <a:chOff x="6909850" y="725394"/>
            <a:chExt cx="1215000" cy="845331"/>
          </a:xfrm>
        </p:grpSpPr>
        <p:cxnSp>
          <p:nvCxnSpPr>
            <p:cNvPr id="1480" name="Google Shape;1480;p96"/>
            <p:cNvCxnSpPr/>
            <p:nvPr/>
          </p:nvCxnSpPr>
          <p:spPr>
            <a:xfrm>
              <a:off x="6909850" y="810225"/>
              <a:ext cx="1215000" cy="760500"/>
            </a:xfrm>
            <a:prstGeom prst="straightConnector1">
              <a:avLst/>
            </a:prstGeom>
            <a:noFill/>
            <a:ln cap="flat" cmpd="sng" w="28575">
              <a:solidFill>
                <a:schemeClr val="accent3"/>
              </a:solidFill>
              <a:prstDash val="solid"/>
              <a:round/>
              <a:headEnd len="med" w="med" type="triangle"/>
              <a:tailEnd len="med" w="med" type="triangle"/>
            </a:ln>
          </p:spPr>
        </p:cxnSp>
        <p:sp>
          <p:nvSpPr>
            <p:cNvPr id="1481" name="Google Shape;1481;p96"/>
            <p:cNvSpPr txBox="1"/>
            <p:nvPr/>
          </p:nvSpPr>
          <p:spPr>
            <a:xfrm flipH="1" rot="1921659">
              <a:off x="7045456" y="992215"/>
              <a:ext cx="1064058" cy="201357"/>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30 inches</a:t>
              </a:r>
              <a:endParaRPr sz="1800">
                <a:solidFill>
                  <a:schemeClr val="dk1"/>
                </a:solidFill>
                <a:latin typeface="Lexend"/>
                <a:ea typeface="Lexend"/>
                <a:cs typeface="Lexend"/>
                <a:sym typeface="Lexend"/>
              </a:endParaRPr>
            </a:p>
          </p:txBody>
        </p:sp>
      </p:grpSp>
      <p:sp>
        <p:nvSpPr>
          <p:cNvPr id="1482" name="Google Shape;1482;p96"/>
          <p:cNvSpPr txBox="1"/>
          <p:nvPr/>
        </p:nvSpPr>
        <p:spPr>
          <a:xfrm flipH="1" rot="2693">
            <a:off x="5296212" y="1763349"/>
            <a:ext cx="1149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screen A</a:t>
            </a:r>
            <a:endParaRPr sz="1800">
              <a:latin typeface="Lexend"/>
              <a:ea typeface="Lexend"/>
              <a:cs typeface="Lexend"/>
              <a:sym typeface="Lexend"/>
            </a:endParaRPr>
          </a:p>
        </p:txBody>
      </p:sp>
      <p:sp>
        <p:nvSpPr>
          <p:cNvPr id="1483" name="Google Shape;1483;p96"/>
          <p:cNvSpPr txBox="1"/>
          <p:nvPr/>
        </p:nvSpPr>
        <p:spPr>
          <a:xfrm flipH="1" rot="2690">
            <a:off x="324049" y="1640554"/>
            <a:ext cx="42180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a) Complete each sentence by choosing the appropriate word below.</a:t>
            </a:r>
            <a:endParaRPr sz="1800">
              <a:latin typeface="Lexend"/>
              <a:ea typeface="Lexend"/>
              <a:cs typeface="Lexend"/>
              <a:sym typeface="Lexend"/>
            </a:endParaRPr>
          </a:p>
        </p:txBody>
      </p:sp>
      <p:sp>
        <p:nvSpPr>
          <p:cNvPr id="1484" name="Google Shape;1484;p96"/>
          <p:cNvSpPr txBox="1"/>
          <p:nvPr/>
        </p:nvSpPr>
        <p:spPr>
          <a:xfrm flipH="1" rot="2693">
            <a:off x="7134850" y="2294099"/>
            <a:ext cx="1149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screen B</a:t>
            </a:r>
            <a:endParaRPr sz="1800">
              <a:latin typeface="Lexend"/>
              <a:ea typeface="Lexend"/>
              <a:cs typeface="Lexend"/>
              <a:sym typeface="Lexend"/>
            </a:endParaRPr>
          </a:p>
        </p:txBody>
      </p:sp>
      <p:sp>
        <p:nvSpPr>
          <p:cNvPr id="1485" name="Google Shape;1485;p96"/>
          <p:cNvSpPr txBox="1"/>
          <p:nvPr/>
        </p:nvSpPr>
        <p:spPr>
          <a:xfrm flipH="1" rot="2693">
            <a:off x="5863300" y="4381899"/>
            <a:ext cx="1149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screen C</a:t>
            </a:r>
            <a:endParaRPr sz="1800">
              <a:latin typeface="Lexend"/>
              <a:ea typeface="Lexend"/>
              <a:cs typeface="Lexend"/>
              <a:sym typeface="Lexend"/>
            </a:endParaRPr>
          </a:p>
        </p:txBody>
      </p:sp>
      <p:sp>
        <p:nvSpPr>
          <p:cNvPr id="1486" name="Google Shape;1486;p96"/>
          <p:cNvSpPr txBox="1"/>
          <p:nvPr/>
        </p:nvSpPr>
        <p:spPr>
          <a:xfrm flipH="1" rot="2970">
            <a:off x="552674" y="3555156"/>
            <a:ext cx="4860902"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The </a:t>
            </a:r>
            <a:r>
              <a:rPr lang="en-GB" sz="1800">
                <a:solidFill>
                  <a:schemeClr val="dk1"/>
                </a:solidFill>
                <a:latin typeface="Times New Roman"/>
                <a:ea typeface="Times New Roman"/>
                <a:cs typeface="Times New Roman"/>
                <a:sym typeface="Times New Roman"/>
              </a:rPr>
              <a:t>___________</a:t>
            </a:r>
            <a:r>
              <a:rPr lang="en-GB" sz="1800">
                <a:latin typeface="Lexend"/>
                <a:ea typeface="Lexend"/>
                <a:cs typeface="Lexend"/>
                <a:sym typeface="Lexend"/>
              </a:rPr>
              <a:t> from screen A to B is 1.5.</a:t>
            </a:r>
            <a:endParaRPr sz="1800">
              <a:latin typeface="Lexend"/>
              <a:ea typeface="Lexend"/>
              <a:cs typeface="Lexend"/>
              <a:sym typeface="Lexend"/>
            </a:endParaRPr>
          </a:p>
        </p:txBody>
      </p:sp>
      <p:sp>
        <p:nvSpPr>
          <p:cNvPr id="1487" name="Google Shape;1487;p96"/>
          <p:cNvSpPr txBox="1"/>
          <p:nvPr/>
        </p:nvSpPr>
        <p:spPr>
          <a:xfrm flipH="1" rot="2970">
            <a:off x="552674" y="2365706"/>
            <a:ext cx="4860902"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Each of the TVs is </a:t>
            </a:r>
            <a:r>
              <a:rPr lang="en-GB" sz="1800">
                <a:latin typeface="Times New Roman"/>
                <a:ea typeface="Times New Roman"/>
                <a:cs typeface="Times New Roman"/>
                <a:sym typeface="Times New Roman"/>
              </a:rPr>
              <a:t>___________</a:t>
            </a:r>
            <a:r>
              <a:rPr lang="en-GB" sz="1800">
                <a:latin typeface="Lexend"/>
                <a:ea typeface="Lexend"/>
                <a:cs typeface="Lexend"/>
                <a:sym typeface="Lexend"/>
              </a:rPr>
              <a:t> to the others.</a:t>
            </a:r>
            <a:endParaRPr sz="1800">
              <a:latin typeface="Lexend"/>
              <a:ea typeface="Lexend"/>
              <a:cs typeface="Lexend"/>
              <a:sym typeface="Lexend"/>
            </a:endParaRPr>
          </a:p>
        </p:txBody>
      </p:sp>
      <p:sp>
        <p:nvSpPr>
          <p:cNvPr id="1488" name="Google Shape;1488;p96"/>
          <p:cNvSpPr txBox="1"/>
          <p:nvPr/>
        </p:nvSpPr>
        <p:spPr>
          <a:xfrm flipH="1" rot="2913">
            <a:off x="552699" y="2822058"/>
            <a:ext cx="4957202"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This is because their </a:t>
            </a:r>
            <a:r>
              <a:rPr lang="en-GB" sz="1800">
                <a:solidFill>
                  <a:schemeClr val="dk1"/>
                </a:solidFill>
                <a:latin typeface="Times New Roman"/>
                <a:ea typeface="Times New Roman"/>
                <a:cs typeface="Times New Roman"/>
                <a:sym typeface="Times New Roman"/>
              </a:rPr>
              <a:t>_________</a:t>
            </a:r>
            <a:r>
              <a:rPr lang="en-GB" sz="1800">
                <a:latin typeface="Lexend"/>
                <a:ea typeface="Lexend"/>
                <a:cs typeface="Lexend"/>
                <a:sym typeface="Lexend"/>
              </a:rPr>
              <a:t> and </a:t>
            </a:r>
            <a:r>
              <a:rPr lang="en-GB" sz="1800">
                <a:solidFill>
                  <a:schemeClr val="dk1"/>
                </a:solidFill>
                <a:latin typeface="Times New Roman"/>
                <a:ea typeface="Times New Roman"/>
                <a:cs typeface="Times New Roman"/>
                <a:sym typeface="Times New Roman"/>
              </a:rPr>
              <a:t>_________</a:t>
            </a:r>
            <a:r>
              <a:rPr lang="en-GB" sz="1800">
                <a:latin typeface="Lexend"/>
                <a:ea typeface="Lexend"/>
                <a:cs typeface="Lexend"/>
                <a:sym typeface="Lexend"/>
              </a:rPr>
              <a:t> are in </a:t>
            </a:r>
            <a:r>
              <a:rPr lang="en-GB" sz="1800">
                <a:solidFill>
                  <a:schemeClr val="dk1"/>
                </a:solidFill>
                <a:latin typeface="Times New Roman"/>
                <a:ea typeface="Times New Roman"/>
                <a:cs typeface="Times New Roman"/>
                <a:sym typeface="Times New Roman"/>
              </a:rPr>
              <a:t>___________</a:t>
            </a:r>
            <a:r>
              <a:rPr lang="en-GB" sz="1800">
                <a:latin typeface="Lexend"/>
                <a:ea typeface="Lexend"/>
                <a:cs typeface="Lexend"/>
                <a:sym typeface="Lexend"/>
              </a:rPr>
              <a:t> to each other.</a:t>
            </a:r>
            <a:endParaRPr sz="1800">
              <a:latin typeface="Lexend"/>
              <a:ea typeface="Lexend"/>
              <a:cs typeface="Lexend"/>
              <a:sym typeface="Lexend"/>
            </a:endParaRPr>
          </a:p>
        </p:txBody>
      </p:sp>
      <p:sp>
        <p:nvSpPr>
          <p:cNvPr id="1489" name="Google Shape;1489;p96"/>
          <p:cNvSpPr/>
          <p:nvPr/>
        </p:nvSpPr>
        <p:spPr>
          <a:xfrm>
            <a:off x="324125" y="4089225"/>
            <a:ext cx="1385700" cy="3147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proportion</a:t>
            </a:r>
            <a:endParaRPr sz="1800">
              <a:latin typeface="Lexend"/>
              <a:ea typeface="Lexend"/>
              <a:cs typeface="Lexend"/>
              <a:sym typeface="Lexend"/>
            </a:endParaRPr>
          </a:p>
        </p:txBody>
      </p:sp>
      <p:sp>
        <p:nvSpPr>
          <p:cNvPr id="1490" name="Google Shape;1490;p96"/>
          <p:cNvSpPr/>
          <p:nvPr/>
        </p:nvSpPr>
        <p:spPr>
          <a:xfrm>
            <a:off x="1844149" y="4089225"/>
            <a:ext cx="1385700" cy="3147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scale factor</a:t>
            </a:r>
            <a:endParaRPr sz="1800">
              <a:latin typeface="Lexend"/>
              <a:ea typeface="Lexend"/>
              <a:cs typeface="Lexend"/>
              <a:sym typeface="Lexend"/>
            </a:endParaRPr>
          </a:p>
        </p:txBody>
      </p:sp>
      <p:sp>
        <p:nvSpPr>
          <p:cNvPr id="1491" name="Google Shape;1491;p96"/>
          <p:cNvSpPr/>
          <p:nvPr/>
        </p:nvSpPr>
        <p:spPr>
          <a:xfrm>
            <a:off x="3364173" y="4089225"/>
            <a:ext cx="1385700" cy="3147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width</a:t>
            </a:r>
            <a:endParaRPr sz="1800">
              <a:latin typeface="Lexend"/>
              <a:ea typeface="Lexend"/>
              <a:cs typeface="Lexend"/>
              <a:sym typeface="Lexend"/>
            </a:endParaRPr>
          </a:p>
        </p:txBody>
      </p:sp>
      <p:sp>
        <p:nvSpPr>
          <p:cNvPr id="1492" name="Google Shape;1492;p96"/>
          <p:cNvSpPr/>
          <p:nvPr/>
        </p:nvSpPr>
        <p:spPr>
          <a:xfrm>
            <a:off x="1084137" y="4471125"/>
            <a:ext cx="1385700" cy="3147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congruent</a:t>
            </a:r>
            <a:endParaRPr sz="1800">
              <a:latin typeface="Lexend"/>
              <a:ea typeface="Lexend"/>
              <a:cs typeface="Lexend"/>
              <a:sym typeface="Lexend"/>
            </a:endParaRPr>
          </a:p>
        </p:txBody>
      </p:sp>
      <p:sp>
        <p:nvSpPr>
          <p:cNvPr id="1493" name="Google Shape;1493;p96"/>
          <p:cNvSpPr/>
          <p:nvPr/>
        </p:nvSpPr>
        <p:spPr>
          <a:xfrm>
            <a:off x="2604161" y="4471125"/>
            <a:ext cx="1385700" cy="3147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height</a:t>
            </a:r>
            <a:endParaRPr sz="1800">
              <a:latin typeface="Lexend"/>
              <a:ea typeface="Lexend"/>
              <a:cs typeface="Lexend"/>
              <a:sym typeface="Lexend"/>
            </a:endParaRPr>
          </a:p>
        </p:txBody>
      </p:sp>
      <p:sp>
        <p:nvSpPr>
          <p:cNvPr id="1494" name="Google Shape;1494;p96"/>
          <p:cNvSpPr/>
          <p:nvPr/>
        </p:nvSpPr>
        <p:spPr>
          <a:xfrm>
            <a:off x="4124185" y="4471125"/>
            <a:ext cx="1385700" cy="314700"/>
          </a:xfrm>
          <a:prstGeom prst="roundRect">
            <a:avLst>
              <a:gd fmla="val 16667" name="adj"/>
            </a:avLst>
          </a:prstGeom>
          <a:noFill/>
          <a:ln cap="flat" cmpd="sng" w="28575">
            <a:solidFill>
              <a:schemeClr val="accent5"/>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similar</a:t>
            </a:r>
            <a:endParaRPr sz="1800">
              <a:latin typeface="Lexend"/>
              <a:ea typeface="Lexend"/>
              <a:cs typeface="Lexend"/>
              <a:sym typeface="Lexend"/>
            </a:endParaRPr>
          </a:p>
        </p:txBody>
      </p:sp>
      <p:sp>
        <p:nvSpPr>
          <p:cNvPr id="1495" name="Google Shape;1495;p96"/>
          <p:cNvSpPr/>
          <p:nvPr/>
        </p:nvSpPr>
        <p:spPr>
          <a:xfrm>
            <a:off x="6704566" y="680635"/>
            <a:ext cx="1962600" cy="13752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6" name="Google Shape;1496;p96"/>
          <p:cNvSpPr/>
          <p:nvPr/>
        </p:nvSpPr>
        <p:spPr>
          <a:xfrm>
            <a:off x="5253207" y="677164"/>
            <a:ext cx="1215000" cy="8514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7" name="Google Shape;1497;p96"/>
          <p:cNvSpPr/>
          <p:nvPr/>
        </p:nvSpPr>
        <p:spPr>
          <a:xfrm>
            <a:off x="6037109" y="2758915"/>
            <a:ext cx="2345400" cy="15879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1" name="Shape 1501"/>
        <p:cNvGrpSpPr/>
        <p:nvPr/>
      </p:nvGrpSpPr>
      <p:grpSpPr>
        <a:xfrm>
          <a:off x="0" y="0"/>
          <a:ext cx="0" cy="0"/>
          <a:chOff x="0" y="0"/>
          <a:chExt cx="0" cy="0"/>
        </a:xfrm>
      </p:grpSpPr>
      <p:sp>
        <p:nvSpPr>
          <p:cNvPr id="1502" name="Google Shape;1502;p97"/>
          <p:cNvSpPr txBox="1"/>
          <p:nvPr/>
        </p:nvSpPr>
        <p:spPr>
          <a:xfrm flipH="1" rot="2708">
            <a:off x="324124" y="714616"/>
            <a:ext cx="45705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1) Each of these three widescreen TVs have width and height in the ratio 16 : 9.</a:t>
            </a:r>
            <a:endParaRPr sz="1800">
              <a:latin typeface="Lexend"/>
              <a:ea typeface="Lexend"/>
              <a:cs typeface="Lexend"/>
              <a:sym typeface="Lexend"/>
            </a:endParaRPr>
          </a:p>
        </p:txBody>
      </p:sp>
      <p:sp>
        <p:nvSpPr>
          <p:cNvPr id="1503" name="Google Shape;1503;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Pythagoras’ theorem with ratios</a:t>
            </a:r>
            <a:endParaRPr/>
          </a:p>
        </p:txBody>
      </p:sp>
      <p:cxnSp>
        <p:nvCxnSpPr>
          <p:cNvPr id="1504" name="Google Shape;1504;p97"/>
          <p:cNvCxnSpPr/>
          <p:nvPr/>
        </p:nvCxnSpPr>
        <p:spPr>
          <a:xfrm>
            <a:off x="5263750" y="741092"/>
            <a:ext cx="1215000" cy="760500"/>
          </a:xfrm>
          <a:prstGeom prst="straightConnector1">
            <a:avLst/>
          </a:prstGeom>
          <a:noFill/>
          <a:ln cap="flat" cmpd="sng" w="28575">
            <a:solidFill>
              <a:schemeClr val="accent3"/>
            </a:solidFill>
            <a:prstDash val="solid"/>
            <a:round/>
            <a:headEnd len="med" w="med" type="triangle"/>
            <a:tailEnd len="med" w="med" type="triangle"/>
          </a:ln>
        </p:spPr>
      </p:cxnSp>
      <p:sp>
        <p:nvSpPr>
          <p:cNvPr id="1505" name="Google Shape;1505;p97"/>
          <p:cNvSpPr txBox="1"/>
          <p:nvPr/>
        </p:nvSpPr>
        <p:spPr>
          <a:xfrm flipH="1" rot="1921020">
            <a:off x="5541649" y="857832"/>
            <a:ext cx="940451" cy="307569"/>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8 inches</a:t>
            </a:r>
            <a:endParaRPr sz="1800">
              <a:solidFill>
                <a:schemeClr val="dk1"/>
              </a:solidFill>
              <a:latin typeface="Lexend"/>
              <a:ea typeface="Lexend"/>
              <a:cs typeface="Lexend"/>
              <a:sym typeface="Lexend"/>
            </a:endParaRPr>
          </a:p>
        </p:txBody>
      </p:sp>
      <p:grpSp>
        <p:nvGrpSpPr>
          <p:cNvPr id="1506" name="Google Shape;1506;p97"/>
          <p:cNvGrpSpPr/>
          <p:nvPr/>
        </p:nvGrpSpPr>
        <p:grpSpPr>
          <a:xfrm>
            <a:off x="6779021" y="641384"/>
            <a:ext cx="1847407" cy="1285326"/>
            <a:chOff x="6909850" y="725394"/>
            <a:chExt cx="1215000" cy="845331"/>
          </a:xfrm>
        </p:grpSpPr>
        <p:cxnSp>
          <p:nvCxnSpPr>
            <p:cNvPr id="1507" name="Google Shape;1507;p97"/>
            <p:cNvCxnSpPr/>
            <p:nvPr/>
          </p:nvCxnSpPr>
          <p:spPr>
            <a:xfrm>
              <a:off x="6909850" y="810225"/>
              <a:ext cx="1215000" cy="760500"/>
            </a:xfrm>
            <a:prstGeom prst="straightConnector1">
              <a:avLst/>
            </a:prstGeom>
            <a:noFill/>
            <a:ln cap="flat" cmpd="sng" w="28575">
              <a:solidFill>
                <a:schemeClr val="accent3"/>
              </a:solidFill>
              <a:prstDash val="solid"/>
              <a:round/>
              <a:headEnd len="med" w="med" type="triangle"/>
              <a:tailEnd len="med" w="med" type="triangle"/>
            </a:ln>
          </p:spPr>
        </p:cxnSp>
        <p:sp>
          <p:nvSpPr>
            <p:cNvPr id="1508" name="Google Shape;1508;p97"/>
            <p:cNvSpPr txBox="1"/>
            <p:nvPr/>
          </p:nvSpPr>
          <p:spPr>
            <a:xfrm flipH="1" rot="1921659">
              <a:off x="7045456" y="992215"/>
              <a:ext cx="1064058" cy="201357"/>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12 inches</a:t>
              </a:r>
              <a:endParaRPr sz="1800">
                <a:solidFill>
                  <a:schemeClr val="dk1"/>
                </a:solidFill>
                <a:latin typeface="Lexend"/>
                <a:ea typeface="Lexend"/>
                <a:cs typeface="Lexend"/>
                <a:sym typeface="Lexend"/>
              </a:endParaRPr>
            </a:p>
          </p:txBody>
        </p:sp>
      </p:grpSp>
      <p:grpSp>
        <p:nvGrpSpPr>
          <p:cNvPr id="1509" name="Google Shape;1509;p97"/>
          <p:cNvGrpSpPr/>
          <p:nvPr/>
        </p:nvGrpSpPr>
        <p:grpSpPr>
          <a:xfrm>
            <a:off x="6067541" y="2708675"/>
            <a:ext cx="2282256" cy="1587870"/>
            <a:chOff x="6909850" y="725394"/>
            <a:chExt cx="1215000" cy="845331"/>
          </a:xfrm>
        </p:grpSpPr>
        <p:cxnSp>
          <p:nvCxnSpPr>
            <p:cNvPr id="1510" name="Google Shape;1510;p97"/>
            <p:cNvCxnSpPr/>
            <p:nvPr/>
          </p:nvCxnSpPr>
          <p:spPr>
            <a:xfrm>
              <a:off x="6909850" y="810225"/>
              <a:ext cx="1215000" cy="760500"/>
            </a:xfrm>
            <a:prstGeom prst="straightConnector1">
              <a:avLst/>
            </a:prstGeom>
            <a:noFill/>
            <a:ln cap="flat" cmpd="sng" w="28575">
              <a:solidFill>
                <a:schemeClr val="accent3"/>
              </a:solidFill>
              <a:prstDash val="solid"/>
              <a:round/>
              <a:headEnd len="med" w="med" type="triangle"/>
              <a:tailEnd len="med" w="med" type="triangle"/>
            </a:ln>
          </p:spPr>
        </p:cxnSp>
        <p:sp>
          <p:nvSpPr>
            <p:cNvPr id="1511" name="Google Shape;1511;p97"/>
            <p:cNvSpPr txBox="1"/>
            <p:nvPr/>
          </p:nvSpPr>
          <p:spPr>
            <a:xfrm flipH="1" rot="1921659">
              <a:off x="7045456" y="992215"/>
              <a:ext cx="1064058" cy="201357"/>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30 inches</a:t>
              </a:r>
              <a:endParaRPr sz="1800">
                <a:solidFill>
                  <a:schemeClr val="dk1"/>
                </a:solidFill>
                <a:latin typeface="Lexend"/>
                <a:ea typeface="Lexend"/>
                <a:cs typeface="Lexend"/>
                <a:sym typeface="Lexend"/>
              </a:endParaRPr>
            </a:p>
          </p:txBody>
        </p:sp>
      </p:grpSp>
      <p:sp>
        <p:nvSpPr>
          <p:cNvPr id="1512" name="Google Shape;1512;p97"/>
          <p:cNvSpPr txBox="1"/>
          <p:nvPr/>
        </p:nvSpPr>
        <p:spPr>
          <a:xfrm flipH="1" rot="2693">
            <a:off x="5296212" y="1763349"/>
            <a:ext cx="1149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screen A</a:t>
            </a:r>
            <a:endParaRPr sz="1800">
              <a:latin typeface="Lexend"/>
              <a:ea typeface="Lexend"/>
              <a:cs typeface="Lexend"/>
              <a:sym typeface="Lexend"/>
            </a:endParaRPr>
          </a:p>
        </p:txBody>
      </p:sp>
      <p:sp>
        <p:nvSpPr>
          <p:cNvPr id="1513" name="Google Shape;1513;p97"/>
          <p:cNvSpPr txBox="1"/>
          <p:nvPr/>
        </p:nvSpPr>
        <p:spPr>
          <a:xfrm flipH="1" rot="2568">
            <a:off x="324024" y="1488477"/>
            <a:ext cx="48198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b) By using Pythagoras’ theorem, complete the ratio table for screen B (3 d.p.) </a:t>
            </a:r>
            <a:endParaRPr sz="1800">
              <a:latin typeface="Lexend"/>
              <a:ea typeface="Lexend"/>
              <a:cs typeface="Lexend"/>
              <a:sym typeface="Lexend"/>
            </a:endParaRPr>
          </a:p>
        </p:txBody>
      </p:sp>
      <p:sp>
        <p:nvSpPr>
          <p:cNvPr id="1514" name="Google Shape;1514;p97"/>
          <p:cNvSpPr txBox="1"/>
          <p:nvPr/>
        </p:nvSpPr>
        <p:spPr>
          <a:xfrm flipH="1" rot="2693">
            <a:off x="7134850" y="2294099"/>
            <a:ext cx="1149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screen B</a:t>
            </a:r>
            <a:endParaRPr sz="1800">
              <a:latin typeface="Lexend"/>
              <a:ea typeface="Lexend"/>
              <a:cs typeface="Lexend"/>
              <a:sym typeface="Lexend"/>
            </a:endParaRPr>
          </a:p>
        </p:txBody>
      </p:sp>
      <p:sp>
        <p:nvSpPr>
          <p:cNvPr id="1515" name="Google Shape;1515;p97"/>
          <p:cNvSpPr txBox="1"/>
          <p:nvPr/>
        </p:nvSpPr>
        <p:spPr>
          <a:xfrm flipH="1" rot="2693">
            <a:off x="5863300" y="4381899"/>
            <a:ext cx="1149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screen C</a:t>
            </a:r>
            <a:endParaRPr sz="1800">
              <a:latin typeface="Lexend"/>
              <a:ea typeface="Lexend"/>
              <a:cs typeface="Lexend"/>
              <a:sym typeface="Lexend"/>
            </a:endParaRPr>
          </a:p>
        </p:txBody>
      </p:sp>
      <p:sp>
        <p:nvSpPr>
          <p:cNvPr id="1516" name="Google Shape;1516;p97"/>
          <p:cNvSpPr txBox="1"/>
          <p:nvPr/>
        </p:nvSpPr>
        <p:spPr>
          <a:xfrm flipH="1" rot="2690">
            <a:off x="324049" y="3527579"/>
            <a:ext cx="42180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c) Hence, calculate the width of screens A and C (2 d.p.)</a:t>
            </a:r>
            <a:endParaRPr sz="1800">
              <a:latin typeface="Lexend"/>
              <a:ea typeface="Lexend"/>
              <a:cs typeface="Lexend"/>
              <a:sym typeface="Lexend"/>
            </a:endParaRPr>
          </a:p>
        </p:txBody>
      </p:sp>
      <p:graphicFrame>
        <p:nvGraphicFramePr>
          <p:cNvPr id="1517" name="Google Shape;1517;p97"/>
          <p:cNvGraphicFramePr/>
          <p:nvPr/>
        </p:nvGraphicFramePr>
        <p:xfrm>
          <a:off x="518463" y="2141250"/>
          <a:ext cx="3000000" cy="3000000"/>
        </p:xfrm>
        <a:graphic>
          <a:graphicData uri="http://schemas.openxmlformats.org/drawingml/2006/table">
            <a:tbl>
              <a:tblPr>
                <a:noFill/>
                <a:tableStyleId>{018616B7-C05B-4F4E-94F1-144584CD3DCC}</a:tableStyleId>
              </a:tblPr>
              <a:tblGrid>
                <a:gridCol w="1351175"/>
                <a:gridCol w="1351175"/>
                <a:gridCol w="1351175"/>
              </a:tblGrid>
              <a:tr h="355750">
                <a:tc>
                  <a:txBody>
                    <a:bodyPr/>
                    <a:lstStyle/>
                    <a:p>
                      <a:pPr indent="0" lvl="0" marL="0" rtl="0" algn="ctr">
                        <a:spcBef>
                          <a:spcPts val="0"/>
                        </a:spcBef>
                        <a:spcAft>
                          <a:spcPts val="0"/>
                        </a:spcAft>
                        <a:buNone/>
                      </a:pPr>
                      <a:r>
                        <a:rPr lang="en-GB" sz="1800">
                          <a:latin typeface="Lexend"/>
                          <a:ea typeface="Lexend"/>
                          <a:cs typeface="Lexend"/>
                          <a:sym typeface="Lexend"/>
                        </a:rPr>
                        <a:t>width</a:t>
                      </a:r>
                      <a:endParaRPr sz="1800">
                        <a:latin typeface="Lexend"/>
                        <a:ea typeface="Lexend"/>
                        <a:cs typeface="Lexend"/>
                        <a:sym typeface="Lexend"/>
                      </a:endParaRPr>
                    </a:p>
                  </a:txBody>
                  <a:tcPr marT="0" marB="0" marR="0" marL="0"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height</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diagonal</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r>
              <a:tr h="35575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16</a:t>
                      </a:r>
                      <a:endParaRPr/>
                    </a:p>
                  </a:txBody>
                  <a:tcPr marT="0" marB="0" marR="0" marL="0"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9</a:t>
                      </a:r>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3557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r>
            </a:tbl>
          </a:graphicData>
        </a:graphic>
      </p:graphicFrame>
      <p:sp>
        <p:nvSpPr>
          <p:cNvPr id="1518" name="Google Shape;1518;p97"/>
          <p:cNvSpPr/>
          <p:nvPr/>
        </p:nvSpPr>
        <p:spPr>
          <a:xfrm>
            <a:off x="6704566" y="680635"/>
            <a:ext cx="1962600" cy="13752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9" name="Google Shape;1519;p97"/>
          <p:cNvSpPr/>
          <p:nvPr/>
        </p:nvSpPr>
        <p:spPr>
          <a:xfrm>
            <a:off x="5253207" y="677164"/>
            <a:ext cx="1215000" cy="8514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0" name="Google Shape;1520;p97"/>
          <p:cNvSpPr/>
          <p:nvPr/>
        </p:nvSpPr>
        <p:spPr>
          <a:xfrm>
            <a:off x="6037109" y="2758915"/>
            <a:ext cx="2345400" cy="15879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4" name="Shape 1524"/>
        <p:cNvGrpSpPr/>
        <p:nvPr/>
      </p:nvGrpSpPr>
      <p:grpSpPr>
        <a:xfrm>
          <a:off x="0" y="0"/>
          <a:ext cx="0" cy="0"/>
          <a:chOff x="0" y="0"/>
          <a:chExt cx="0" cy="0"/>
        </a:xfrm>
      </p:grpSpPr>
      <p:sp>
        <p:nvSpPr>
          <p:cNvPr id="1525" name="Google Shape;1525;p98"/>
          <p:cNvSpPr txBox="1"/>
          <p:nvPr/>
        </p:nvSpPr>
        <p:spPr>
          <a:xfrm flipH="1" rot="2903">
            <a:off x="5484475" y="1069099"/>
            <a:ext cx="17766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TV cabinet</a:t>
            </a:r>
            <a:endParaRPr sz="1800">
              <a:latin typeface="Lexend"/>
              <a:ea typeface="Lexend"/>
              <a:cs typeface="Lexend"/>
              <a:sym typeface="Lexend"/>
            </a:endParaRPr>
          </a:p>
        </p:txBody>
      </p:sp>
      <p:sp>
        <p:nvSpPr>
          <p:cNvPr id="1526" name="Google Shape;1526;p98"/>
          <p:cNvSpPr txBox="1"/>
          <p:nvPr/>
        </p:nvSpPr>
        <p:spPr>
          <a:xfrm flipH="1" rot="2708">
            <a:off x="324124" y="638416"/>
            <a:ext cx="4570501" cy="2216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2) Izzy wants to buy this ultra widescreen TV, which has a width and height in the ratio 22 : 9.</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The TV has a 35 inch screen, and a stand that is 2 inches high.</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Will the TV fit inside her TV cabinet?</a:t>
            </a:r>
            <a:endParaRPr sz="1800">
              <a:latin typeface="Lexend"/>
              <a:ea typeface="Lexend"/>
              <a:cs typeface="Lexend"/>
              <a:sym typeface="Lexend"/>
            </a:endParaRPr>
          </a:p>
        </p:txBody>
      </p:sp>
      <p:pic>
        <p:nvPicPr>
          <p:cNvPr id="1527" name="Google Shape;1527;p98"/>
          <p:cNvPicPr preferRelativeResize="0"/>
          <p:nvPr/>
        </p:nvPicPr>
        <p:blipFill>
          <a:blip r:embed="rId3">
            <a:alphaModFix/>
          </a:blip>
          <a:stretch>
            <a:fillRect/>
          </a:stretch>
        </p:blipFill>
        <p:spPr>
          <a:xfrm>
            <a:off x="7780000" y="645750"/>
            <a:ext cx="624749" cy="742499"/>
          </a:xfrm>
          <a:prstGeom prst="rect">
            <a:avLst/>
          </a:prstGeom>
          <a:noFill/>
          <a:ln>
            <a:noFill/>
          </a:ln>
        </p:spPr>
      </p:pic>
      <p:sp>
        <p:nvSpPr>
          <p:cNvPr id="1528" name="Google Shape;1528;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Pythagoras’ theorem with ratios</a:t>
            </a:r>
            <a:endParaRPr/>
          </a:p>
        </p:txBody>
      </p:sp>
      <p:pic>
        <p:nvPicPr>
          <p:cNvPr id="1529" name="Google Shape;1529;p98"/>
          <p:cNvPicPr preferRelativeResize="0"/>
          <p:nvPr/>
        </p:nvPicPr>
        <p:blipFill>
          <a:blip r:embed="rId4">
            <a:alphaModFix/>
          </a:blip>
          <a:stretch>
            <a:fillRect/>
          </a:stretch>
        </p:blipFill>
        <p:spPr>
          <a:xfrm>
            <a:off x="5995075" y="3321434"/>
            <a:ext cx="2256000" cy="1692000"/>
          </a:xfrm>
          <a:prstGeom prst="rect">
            <a:avLst/>
          </a:prstGeom>
          <a:noFill/>
          <a:ln>
            <a:noFill/>
          </a:ln>
        </p:spPr>
      </p:pic>
      <p:grpSp>
        <p:nvGrpSpPr>
          <p:cNvPr id="1530" name="Google Shape;1530;p98"/>
          <p:cNvGrpSpPr/>
          <p:nvPr/>
        </p:nvGrpSpPr>
        <p:grpSpPr>
          <a:xfrm>
            <a:off x="5439488" y="1347051"/>
            <a:ext cx="3367174" cy="2058549"/>
            <a:chOff x="1284100" y="2609651"/>
            <a:chExt cx="3367174" cy="2058549"/>
          </a:xfrm>
        </p:grpSpPr>
        <p:grpSp>
          <p:nvGrpSpPr>
            <p:cNvPr id="1531" name="Google Shape;1531;p98"/>
            <p:cNvGrpSpPr/>
            <p:nvPr/>
          </p:nvGrpSpPr>
          <p:grpSpPr>
            <a:xfrm flipH="1">
              <a:off x="4009475" y="2610450"/>
              <a:ext cx="515450" cy="1735400"/>
              <a:chOff x="1321280" y="2610450"/>
              <a:chExt cx="515450" cy="1735400"/>
            </a:xfrm>
          </p:grpSpPr>
          <p:sp>
            <p:nvSpPr>
              <p:cNvPr id="1532" name="Google Shape;1532;p98"/>
              <p:cNvSpPr/>
              <p:nvPr/>
            </p:nvSpPr>
            <p:spPr>
              <a:xfrm>
                <a:off x="1566580" y="2621575"/>
                <a:ext cx="270150" cy="1673875"/>
              </a:xfrm>
              <a:custGeom>
                <a:rect b="b" l="l" r="r" t="t"/>
                <a:pathLst>
                  <a:path extrusionOk="0" h="66955" w="10806">
                    <a:moveTo>
                      <a:pt x="0" y="0"/>
                    </a:moveTo>
                    <a:lnTo>
                      <a:pt x="10330" y="10427"/>
                    </a:lnTo>
                    <a:lnTo>
                      <a:pt x="10806" y="66386"/>
                    </a:lnTo>
                    <a:lnTo>
                      <a:pt x="1216" y="66955"/>
                    </a:lnTo>
                    <a:close/>
                  </a:path>
                </a:pathLst>
              </a:custGeom>
              <a:solidFill>
                <a:srgbClr val="ECBD79"/>
              </a:solidFill>
              <a:ln>
                <a:noFill/>
              </a:ln>
            </p:spPr>
          </p:sp>
          <p:pic>
            <p:nvPicPr>
              <p:cNvPr id="1533" name="Google Shape;1533;p98"/>
              <p:cNvPicPr preferRelativeResize="0"/>
              <p:nvPr/>
            </p:nvPicPr>
            <p:blipFill rotWithShape="1">
              <a:blip r:embed="rId5">
                <a:alphaModFix/>
              </a:blip>
              <a:srcRect b="33552" l="7441" r="20241" t="57018"/>
              <a:stretch/>
            </p:blipFill>
            <p:spPr>
              <a:xfrm flipH="1" rot="5400000">
                <a:off x="612330" y="3319400"/>
                <a:ext cx="1735400" cy="317500"/>
              </a:xfrm>
              <a:prstGeom prst="rect">
                <a:avLst/>
              </a:prstGeom>
              <a:noFill/>
              <a:ln>
                <a:noFill/>
              </a:ln>
            </p:spPr>
          </p:pic>
        </p:grpSp>
        <p:grpSp>
          <p:nvGrpSpPr>
            <p:cNvPr id="1534" name="Google Shape;1534;p98"/>
            <p:cNvGrpSpPr/>
            <p:nvPr/>
          </p:nvGrpSpPr>
          <p:grpSpPr>
            <a:xfrm>
              <a:off x="1321275" y="2609776"/>
              <a:ext cx="515450" cy="1736075"/>
              <a:chOff x="1321275" y="2609776"/>
              <a:chExt cx="515450" cy="1736075"/>
            </a:xfrm>
          </p:grpSpPr>
          <p:sp>
            <p:nvSpPr>
              <p:cNvPr id="1535" name="Google Shape;1535;p98"/>
              <p:cNvSpPr/>
              <p:nvPr/>
            </p:nvSpPr>
            <p:spPr>
              <a:xfrm>
                <a:off x="1574275" y="2643625"/>
                <a:ext cx="262450" cy="1651825"/>
              </a:xfrm>
              <a:custGeom>
                <a:rect b="b" l="l" r="r" t="t"/>
                <a:pathLst>
                  <a:path extrusionOk="0" h="66073" w="10498">
                    <a:moveTo>
                      <a:pt x="0" y="0"/>
                    </a:moveTo>
                    <a:lnTo>
                      <a:pt x="10022" y="9545"/>
                    </a:lnTo>
                    <a:lnTo>
                      <a:pt x="10498" y="65504"/>
                    </a:lnTo>
                    <a:lnTo>
                      <a:pt x="908" y="66073"/>
                    </a:lnTo>
                    <a:close/>
                  </a:path>
                </a:pathLst>
              </a:custGeom>
              <a:solidFill>
                <a:srgbClr val="ECBD79"/>
              </a:solidFill>
              <a:ln>
                <a:noFill/>
              </a:ln>
            </p:spPr>
          </p:sp>
          <p:pic>
            <p:nvPicPr>
              <p:cNvPr id="1536" name="Google Shape;1536;p98"/>
              <p:cNvPicPr preferRelativeResize="0"/>
              <p:nvPr/>
            </p:nvPicPr>
            <p:blipFill rotWithShape="1">
              <a:blip r:embed="rId5">
                <a:alphaModFix/>
              </a:blip>
              <a:srcRect b="33552" l="7444" r="20206" t="57018"/>
              <a:stretch/>
            </p:blipFill>
            <p:spPr>
              <a:xfrm flipH="1" rot="5400000">
                <a:off x="611988" y="3319063"/>
                <a:ext cx="1736075" cy="317500"/>
              </a:xfrm>
              <a:prstGeom prst="rect">
                <a:avLst/>
              </a:prstGeom>
              <a:noFill/>
              <a:ln>
                <a:noFill/>
              </a:ln>
            </p:spPr>
          </p:pic>
        </p:grpSp>
        <p:pic>
          <p:nvPicPr>
            <p:cNvPr id="1537" name="Google Shape;1537;p98"/>
            <p:cNvPicPr preferRelativeResize="0"/>
            <p:nvPr/>
          </p:nvPicPr>
          <p:blipFill rotWithShape="1">
            <a:blip r:embed="rId5">
              <a:alphaModFix/>
            </a:blip>
            <a:srcRect b="23623" l="0" r="0" t="54811"/>
            <a:stretch/>
          </p:blipFill>
          <p:spPr>
            <a:xfrm>
              <a:off x="1284100" y="3942025"/>
              <a:ext cx="3367174" cy="726175"/>
            </a:xfrm>
            <a:prstGeom prst="rect">
              <a:avLst/>
            </a:prstGeom>
            <a:noFill/>
            <a:ln>
              <a:noFill/>
            </a:ln>
          </p:spPr>
        </p:pic>
        <p:pic>
          <p:nvPicPr>
            <p:cNvPr id="1538" name="Google Shape;1538;p98"/>
            <p:cNvPicPr preferRelativeResize="0"/>
            <p:nvPr/>
          </p:nvPicPr>
          <p:blipFill rotWithShape="1">
            <a:blip r:embed="rId5">
              <a:alphaModFix/>
            </a:blip>
            <a:srcRect b="33707" l="0" r="0" t="54812"/>
            <a:stretch/>
          </p:blipFill>
          <p:spPr>
            <a:xfrm flipH="1" rot="10800000">
              <a:off x="1284100" y="2609651"/>
              <a:ext cx="3367174" cy="386576"/>
            </a:xfrm>
            <a:prstGeom prst="rect">
              <a:avLst/>
            </a:prstGeom>
            <a:noFill/>
            <a:ln>
              <a:noFill/>
            </a:ln>
          </p:spPr>
        </p:pic>
      </p:grpSp>
      <p:graphicFrame>
        <p:nvGraphicFramePr>
          <p:cNvPr id="1539" name="Google Shape;1539;p98"/>
          <p:cNvGraphicFramePr/>
          <p:nvPr/>
        </p:nvGraphicFramePr>
        <p:xfrm>
          <a:off x="366063" y="3512850"/>
          <a:ext cx="3000000" cy="3000000"/>
        </p:xfrm>
        <a:graphic>
          <a:graphicData uri="http://schemas.openxmlformats.org/drawingml/2006/table">
            <a:tbl>
              <a:tblPr>
                <a:noFill/>
                <a:tableStyleId>{018616B7-C05B-4F4E-94F1-144584CD3DCC}</a:tableStyleId>
              </a:tblPr>
              <a:tblGrid>
                <a:gridCol w="1351175"/>
                <a:gridCol w="1351175"/>
                <a:gridCol w="1351175"/>
              </a:tblGrid>
              <a:tr h="355750">
                <a:tc>
                  <a:txBody>
                    <a:bodyPr/>
                    <a:lstStyle/>
                    <a:p>
                      <a:pPr indent="0" lvl="0" marL="0" rtl="0" algn="ctr">
                        <a:spcBef>
                          <a:spcPts val="0"/>
                        </a:spcBef>
                        <a:spcAft>
                          <a:spcPts val="0"/>
                        </a:spcAft>
                        <a:buNone/>
                      </a:pPr>
                      <a:r>
                        <a:rPr lang="en-GB" sz="1800">
                          <a:latin typeface="Lexend"/>
                          <a:ea typeface="Lexend"/>
                          <a:cs typeface="Lexend"/>
                          <a:sym typeface="Lexend"/>
                        </a:rPr>
                        <a:t>width</a:t>
                      </a:r>
                      <a:endParaRPr sz="1800">
                        <a:latin typeface="Lexend"/>
                        <a:ea typeface="Lexend"/>
                        <a:cs typeface="Lexend"/>
                        <a:sym typeface="Lexend"/>
                      </a:endParaRPr>
                    </a:p>
                  </a:txBody>
                  <a:tcPr marT="0" marB="0" marR="0" marL="0"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height</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diagonal</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r>
              <a:tr h="35575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 </a:t>
                      </a:r>
                      <a:endParaRPr/>
                    </a:p>
                  </a:txBody>
                  <a:tcPr marT="0" marB="0" marR="0" marL="0"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 </a:t>
                      </a:r>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355750">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r>
            </a:tbl>
          </a:graphicData>
        </a:graphic>
      </p:graphicFrame>
      <p:sp>
        <p:nvSpPr>
          <p:cNvPr id="1540" name="Google Shape;1540;p98"/>
          <p:cNvSpPr txBox="1"/>
          <p:nvPr/>
        </p:nvSpPr>
        <p:spPr>
          <a:xfrm flipH="1" rot="2763">
            <a:off x="6187150" y="3642785"/>
            <a:ext cx="1866601" cy="8313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ultra widescreen</a:t>
            </a:r>
            <a:endParaRPr sz="1800">
              <a:solidFill>
                <a:schemeClr val="dk1"/>
              </a:solidFill>
              <a:latin typeface="Lexend"/>
              <a:ea typeface="Lexend"/>
              <a:cs typeface="Lexend"/>
              <a:sym typeface="Lexend"/>
            </a:endParaRPr>
          </a:p>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22 : 9</a:t>
            </a:r>
            <a:endParaRPr sz="1800">
              <a:solidFill>
                <a:schemeClr val="dk1"/>
              </a:solidFill>
              <a:latin typeface="Lexend"/>
              <a:ea typeface="Lexend"/>
              <a:cs typeface="Lexend"/>
              <a:sym typeface="Lexend"/>
            </a:endParaRPr>
          </a:p>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aspect ratio</a:t>
            </a:r>
            <a:endParaRPr sz="1800">
              <a:solidFill>
                <a:schemeClr val="dk1"/>
              </a:solidFill>
              <a:latin typeface="Lexend"/>
              <a:ea typeface="Lexend"/>
              <a:cs typeface="Lexend"/>
              <a:sym typeface="Lexend"/>
            </a:endParaRPr>
          </a:p>
        </p:txBody>
      </p:sp>
      <p:sp>
        <p:nvSpPr>
          <p:cNvPr id="1541" name="Google Shape;1541;p98"/>
          <p:cNvSpPr txBox="1"/>
          <p:nvPr/>
        </p:nvSpPr>
        <p:spPr>
          <a:xfrm>
            <a:off x="5982575" y="2143136"/>
            <a:ext cx="876266" cy="192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36 inches</a:t>
            </a:r>
            <a:endParaRPr sz="1800">
              <a:latin typeface="Lexend"/>
              <a:ea typeface="Lexend"/>
              <a:cs typeface="Lexend"/>
              <a:sym typeface="Lexend"/>
            </a:endParaRPr>
          </a:p>
        </p:txBody>
      </p:sp>
      <p:sp>
        <p:nvSpPr>
          <p:cNvPr id="1542" name="Google Shape;1542;p98"/>
          <p:cNvSpPr txBox="1"/>
          <p:nvPr/>
        </p:nvSpPr>
        <p:spPr>
          <a:xfrm>
            <a:off x="7086950" y="1774200"/>
            <a:ext cx="1087688" cy="1924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15 inches</a:t>
            </a:r>
            <a:endParaRPr sz="1800">
              <a:latin typeface="Lexend"/>
              <a:ea typeface="Lexend"/>
              <a:cs typeface="Lexend"/>
              <a:sym typeface="Lexend"/>
            </a:endParaRPr>
          </a:p>
        </p:txBody>
      </p:sp>
      <p:cxnSp>
        <p:nvCxnSpPr>
          <p:cNvPr id="1543" name="Google Shape;1543;p98"/>
          <p:cNvCxnSpPr/>
          <p:nvPr/>
        </p:nvCxnSpPr>
        <p:spPr>
          <a:xfrm flipH="1">
            <a:off x="7064325" y="1678200"/>
            <a:ext cx="2400" cy="1056000"/>
          </a:xfrm>
          <a:prstGeom prst="straightConnector1">
            <a:avLst/>
          </a:prstGeom>
          <a:noFill/>
          <a:ln cap="flat" cmpd="sng" w="28575">
            <a:solidFill>
              <a:schemeClr val="accent4"/>
            </a:solidFill>
            <a:prstDash val="solid"/>
            <a:round/>
            <a:headEnd len="med" w="med" type="triangle"/>
            <a:tailEnd len="med" w="med" type="triangle"/>
          </a:ln>
        </p:spPr>
      </p:cxnSp>
      <p:cxnSp>
        <p:nvCxnSpPr>
          <p:cNvPr id="1544" name="Google Shape;1544;p98"/>
          <p:cNvCxnSpPr/>
          <p:nvPr/>
        </p:nvCxnSpPr>
        <p:spPr>
          <a:xfrm flipH="1" rot="10800000">
            <a:off x="6041825" y="2596550"/>
            <a:ext cx="2090400" cy="111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8" name="Shape 1548"/>
        <p:cNvGrpSpPr/>
        <p:nvPr/>
      </p:nvGrpSpPr>
      <p:grpSpPr>
        <a:xfrm>
          <a:off x="0" y="0"/>
          <a:ext cx="0" cy="0"/>
          <a:chOff x="0" y="0"/>
          <a:chExt cx="0" cy="0"/>
        </a:xfrm>
      </p:grpSpPr>
      <p:sp>
        <p:nvSpPr>
          <p:cNvPr id="1549" name="Google Shape;1549;p99"/>
          <p:cNvSpPr txBox="1"/>
          <p:nvPr/>
        </p:nvSpPr>
        <p:spPr>
          <a:xfrm flipH="1" rot="2671">
            <a:off x="323999" y="640016"/>
            <a:ext cx="8496003" cy="1939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3) Jacob sees three TVs for sale, each having a 28 inch screen.</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Jacob wants to buy the TV whose screen has the largest area.</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Which TV should he buy?</a:t>
            </a:r>
            <a:endParaRPr sz="1800">
              <a:solidFill>
                <a:schemeClr val="dk1"/>
              </a:solidFill>
              <a:latin typeface="Lexend"/>
              <a:ea typeface="Lexend"/>
              <a:cs typeface="Lexend"/>
              <a:sym typeface="Lexend"/>
            </a:endParaRPr>
          </a:p>
        </p:txBody>
      </p:sp>
      <p:sp>
        <p:nvSpPr>
          <p:cNvPr id="1550" name="Google Shape;1550;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Pythagoras’ theorem with ratios</a:t>
            </a:r>
            <a:endParaRPr/>
          </a:p>
        </p:txBody>
      </p:sp>
      <p:sp>
        <p:nvSpPr>
          <p:cNvPr id="1551" name="Google Shape;1551;p99"/>
          <p:cNvSpPr txBox="1"/>
          <p:nvPr/>
        </p:nvSpPr>
        <p:spPr>
          <a:xfrm flipH="1" rot="2627">
            <a:off x="967499" y="981375"/>
            <a:ext cx="7852502"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retro TV (4 : 3 aspect ratio)</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widescreen TV (16 : 9 aspect ratio)</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ultra widescreen TV (22 : 9 aspect ratio)</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5" name="Shape 1555"/>
        <p:cNvGrpSpPr/>
        <p:nvPr/>
      </p:nvGrpSpPr>
      <p:grpSpPr>
        <a:xfrm>
          <a:off x="0" y="0"/>
          <a:ext cx="0" cy="0"/>
          <a:chOff x="0" y="0"/>
          <a:chExt cx="0" cy="0"/>
        </a:xfrm>
      </p:grpSpPr>
      <p:sp>
        <p:nvSpPr>
          <p:cNvPr id="1556" name="Google Shape;1556;p100"/>
          <p:cNvSpPr/>
          <p:nvPr/>
        </p:nvSpPr>
        <p:spPr>
          <a:xfrm>
            <a:off x="6704566" y="680635"/>
            <a:ext cx="1962600" cy="13752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7" name="Google Shape;1557;p100"/>
          <p:cNvSpPr/>
          <p:nvPr/>
        </p:nvSpPr>
        <p:spPr>
          <a:xfrm>
            <a:off x="5253207" y="677164"/>
            <a:ext cx="1215000" cy="8514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8" name="Google Shape;1558;p100"/>
          <p:cNvSpPr/>
          <p:nvPr/>
        </p:nvSpPr>
        <p:spPr>
          <a:xfrm>
            <a:off x="6037109" y="2758915"/>
            <a:ext cx="2345400" cy="15879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9" name="Google Shape;1559;p100"/>
          <p:cNvSpPr txBox="1"/>
          <p:nvPr/>
        </p:nvSpPr>
        <p:spPr>
          <a:xfrm flipH="1" rot="2708">
            <a:off x="324124" y="714616"/>
            <a:ext cx="45705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1) Each of these three widescreen TVs have width and height in the ratio 16 : 9.</a:t>
            </a:r>
            <a:endParaRPr sz="1800">
              <a:latin typeface="Lexend"/>
              <a:ea typeface="Lexend"/>
              <a:cs typeface="Lexend"/>
              <a:sym typeface="Lexend"/>
            </a:endParaRPr>
          </a:p>
        </p:txBody>
      </p:sp>
      <p:sp>
        <p:nvSpPr>
          <p:cNvPr id="1560" name="Google Shape;1560;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Pythagoras’ theorem with ratios</a:t>
            </a:r>
            <a:endParaRPr/>
          </a:p>
        </p:txBody>
      </p:sp>
      <p:cxnSp>
        <p:nvCxnSpPr>
          <p:cNvPr id="1561" name="Google Shape;1561;p100"/>
          <p:cNvCxnSpPr/>
          <p:nvPr/>
        </p:nvCxnSpPr>
        <p:spPr>
          <a:xfrm>
            <a:off x="5263750" y="741092"/>
            <a:ext cx="1215000" cy="760500"/>
          </a:xfrm>
          <a:prstGeom prst="straightConnector1">
            <a:avLst/>
          </a:prstGeom>
          <a:noFill/>
          <a:ln cap="flat" cmpd="sng" w="28575">
            <a:solidFill>
              <a:schemeClr val="accent3"/>
            </a:solidFill>
            <a:prstDash val="solid"/>
            <a:round/>
            <a:headEnd len="med" w="med" type="triangle"/>
            <a:tailEnd len="med" w="med" type="triangle"/>
          </a:ln>
        </p:spPr>
      </p:cxnSp>
      <p:sp>
        <p:nvSpPr>
          <p:cNvPr id="1562" name="Google Shape;1562;p100"/>
          <p:cNvSpPr txBox="1"/>
          <p:nvPr/>
        </p:nvSpPr>
        <p:spPr>
          <a:xfrm flipH="1" rot="1921020">
            <a:off x="5541649" y="857832"/>
            <a:ext cx="940451" cy="307569"/>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8 inches</a:t>
            </a:r>
            <a:endParaRPr sz="1800">
              <a:solidFill>
                <a:schemeClr val="dk1"/>
              </a:solidFill>
              <a:latin typeface="Lexend"/>
              <a:ea typeface="Lexend"/>
              <a:cs typeface="Lexend"/>
              <a:sym typeface="Lexend"/>
            </a:endParaRPr>
          </a:p>
        </p:txBody>
      </p:sp>
      <p:grpSp>
        <p:nvGrpSpPr>
          <p:cNvPr id="1563" name="Google Shape;1563;p100"/>
          <p:cNvGrpSpPr/>
          <p:nvPr/>
        </p:nvGrpSpPr>
        <p:grpSpPr>
          <a:xfrm>
            <a:off x="6779021" y="641384"/>
            <a:ext cx="1847407" cy="1285326"/>
            <a:chOff x="6909850" y="725394"/>
            <a:chExt cx="1215000" cy="845331"/>
          </a:xfrm>
        </p:grpSpPr>
        <p:cxnSp>
          <p:nvCxnSpPr>
            <p:cNvPr id="1564" name="Google Shape;1564;p100"/>
            <p:cNvCxnSpPr/>
            <p:nvPr/>
          </p:nvCxnSpPr>
          <p:spPr>
            <a:xfrm>
              <a:off x="6909850" y="810225"/>
              <a:ext cx="1215000" cy="760500"/>
            </a:xfrm>
            <a:prstGeom prst="straightConnector1">
              <a:avLst/>
            </a:prstGeom>
            <a:noFill/>
            <a:ln cap="flat" cmpd="sng" w="28575">
              <a:solidFill>
                <a:schemeClr val="accent3"/>
              </a:solidFill>
              <a:prstDash val="solid"/>
              <a:round/>
              <a:headEnd len="med" w="med" type="triangle"/>
              <a:tailEnd len="med" w="med" type="triangle"/>
            </a:ln>
          </p:spPr>
        </p:cxnSp>
        <p:sp>
          <p:nvSpPr>
            <p:cNvPr id="1565" name="Google Shape;1565;p100"/>
            <p:cNvSpPr txBox="1"/>
            <p:nvPr/>
          </p:nvSpPr>
          <p:spPr>
            <a:xfrm flipH="1" rot="1921659">
              <a:off x="7045456" y="992215"/>
              <a:ext cx="1064058" cy="201357"/>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12 inches</a:t>
              </a:r>
              <a:endParaRPr sz="1800">
                <a:solidFill>
                  <a:schemeClr val="dk1"/>
                </a:solidFill>
                <a:latin typeface="Lexend"/>
                <a:ea typeface="Lexend"/>
                <a:cs typeface="Lexend"/>
                <a:sym typeface="Lexend"/>
              </a:endParaRPr>
            </a:p>
          </p:txBody>
        </p:sp>
      </p:grpSp>
      <p:grpSp>
        <p:nvGrpSpPr>
          <p:cNvPr id="1566" name="Google Shape;1566;p100"/>
          <p:cNvGrpSpPr/>
          <p:nvPr/>
        </p:nvGrpSpPr>
        <p:grpSpPr>
          <a:xfrm>
            <a:off x="6067541" y="2708675"/>
            <a:ext cx="2282256" cy="1587870"/>
            <a:chOff x="6909850" y="725394"/>
            <a:chExt cx="1215000" cy="845331"/>
          </a:xfrm>
        </p:grpSpPr>
        <p:cxnSp>
          <p:nvCxnSpPr>
            <p:cNvPr id="1567" name="Google Shape;1567;p100"/>
            <p:cNvCxnSpPr/>
            <p:nvPr/>
          </p:nvCxnSpPr>
          <p:spPr>
            <a:xfrm>
              <a:off x="6909850" y="810225"/>
              <a:ext cx="1215000" cy="760500"/>
            </a:xfrm>
            <a:prstGeom prst="straightConnector1">
              <a:avLst/>
            </a:prstGeom>
            <a:noFill/>
            <a:ln cap="flat" cmpd="sng" w="28575">
              <a:solidFill>
                <a:schemeClr val="accent3"/>
              </a:solidFill>
              <a:prstDash val="solid"/>
              <a:round/>
              <a:headEnd len="med" w="med" type="triangle"/>
              <a:tailEnd len="med" w="med" type="triangle"/>
            </a:ln>
          </p:spPr>
        </p:cxnSp>
        <p:sp>
          <p:nvSpPr>
            <p:cNvPr id="1568" name="Google Shape;1568;p100"/>
            <p:cNvSpPr txBox="1"/>
            <p:nvPr/>
          </p:nvSpPr>
          <p:spPr>
            <a:xfrm flipH="1" rot="1921659">
              <a:off x="7045456" y="992215"/>
              <a:ext cx="1064058" cy="201357"/>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30 inches</a:t>
              </a:r>
              <a:endParaRPr sz="1800">
                <a:solidFill>
                  <a:schemeClr val="dk1"/>
                </a:solidFill>
                <a:latin typeface="Lexend"/>
                <a:ea typeface="Lexend"/>
                <a:cs typeface="Lexend"/>
                <a:sym typeface="Lexend"/>
              </a:endParaRPr>
            </a:p>
          </p:txBody>
        </p:sp>
      </p:grpSp>
      <p:sp>
        <p:nvSpPr>
          <p:cNvPr id="1569" name="Google Shape;1569;p100"/>
          <p:cNvSpPr txBox="1"/>
          <p:nvPr/>
        </p:nvSpPr>
        <p:spPr>
          <a:xfrm flipH="1" rot="2693">
            <a:off x="5296212" y="1763349"/>
            <a:ext cx="1149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screen A</a:t>
            </a:r>
            <a:endParaRPr sz="1800">
              <a:latin typeface="Lexend"/>
              <a:ea typeface="Lexend"/>
              <a:cs typeface="Lexend"/>
              <a:sym typeface="Lexend"/>
            </a:endParaRPr>
          </a:p>
        </p:txBody>
      </p:sp>
      <p:sp>
        <p:nvSpPr>
          <p:cNvPr id="1570" name="Google Shape;1570;p100"/>
          <p:cNvSpPr txBox="1"/>
          <p:nvPr/>
        </p:nvSpPr>
        <p:spPr>
          <a:xfrm flipH="1" rot="2690">
            <a:off x="324049" y="1640554"/>
            <a:ext cx="42180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a) Complete each sentence by choosing the appropriate word below.</a:t>
            </a:r>
            <a:endParaRPr sz="1800">
              <a:latin typeface="Lexend"/>
              <a:ea typeface="Lexend"/>
              <a:cs typeface="Lexend"/>
              <a:sym typeface="Lexend"/>
            </a:endParaRPr>
          </a:p>
        </p:txBody>
      </p:sp>
      <p:sp>
        <p:nvSpPr>
          <p:cNvPr id="1571" name="Google Shape;1571;p100"/>
          <p:cNvSpPr txBox="1"/>
          <p:nvPr/>
        </p:nvSpPr>
        <p:spPr>
          <a:xfrm flipH="1" rot="2693">
            <a:off x="7134850" y="2294099"/>
            <a:ext cx="1149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screen B</a:t>
            </a:r>
            <a:endParaRPr sz="1800">
              <a:latin typeface="Lexend"/>
              <a:ea typeface="Lexend"/>
              <a:cs typeface="Lexend"/>
              <a:sym typeface="Lexend"/>
            </a:endParaRPr>
          </a:p>
        </p:txBody>
      </p:sp>
      <p:sp>
        <p:nvSpPr>
          <p:cNvPr id="1572" name="Google Shape;1572;p100"/>
          <p:cNvSpPr txBox="1"/>
          <p:nvPr/>
        </p:nvSpPr>
        <p:spPr>
          <a:xfrm flipH="1" rot="2693">
            <a:off x="5863300" y="4381899"/>
            <a:ext cx="1149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screen C</a:t>
            </a:r>
            <a:endParaRPr sz="1800">
              <a:latin typeface="Lexend"/>
              <a:ea typeface="Lexend"/>
              <a:cs typeface="Lexend"/>
              <a:sym typeface="Lexend"/>
            </a:endParaRPr>
          </a:p>
        </p:txBody>
      </p:sp>
      <p:sp>
        <p:nvSpPr>
          <p:cNvPr id="1573" name="Google Shape;1573;p100"/>
          <p:cNvSpPr txBox="1"/>
          <p:nvPr/>
        </p:nvSpPr>
        <p:spPr>
          <a:xfrm flipH="1" rot="2970">
            <a:off x="552674" y="3555156"/>
            <a:ext cx="4860902"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The </a:t>
            </a:r>
            <a:r>
              <a:rPr lang="en-GB" sz="1800">
                <a:solidFill>
                  <a:schemeClr val="dk1"/>
                </a:solidFill>
                <a:latin typeface="Times New Roman"/>
                <a:ea typeface="Times New Roman"/>
                <a:cs typeface="Times New Roman"/>
                <a:sym typeface="Times New Roman"/>
              </a:rPr>
              <a:t>___________</a:t>
            </a:r>
            <a:r>
              <a:rPr lang="en-GB" sz="1800">
                <a:latin typeface="Lexend"/>
                <a:ea typeface="Lexend"/>
                <a:cs typeface="Lexend"/>
                <a:sym typeface="Lexend"/>
              </a:rPr>
              <a:t> from screen A to B is 1.5.</a:t>
            </a:r>
            <a:endParaRPr sz="1800">
              <a:latin typeface="Lexend"/>
              <a:ea typeface="Lexend"/>
              <a:cs typeface="Lexend"/>
              <a:sym typeface="Lexend"/>
            </a:endParaRPr>
          </a:p>
        </p:txBody>
      </p:sp>
      <p:sp>
        <p:nvSpPr>
          <p:cNvPr id="1574" name="Google Shape;1574;p100"/>
          <p:cNvSpPr txBox="1"/>
          <p:nvPr/>
        </p:nvSpPr>
        <p:spPr>
          <a:xfrm flipH="1" rot="2970">
            <a:off x="552674" y="2365706"/>
            <a:ext cx="4860902"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Each of the TVs is </a:t>
            </a:r>
            <a:r>
              <a:rPr lang="en-GB" sz="1800">
                <a:latin typeface="Times New Roman"/>
                <a:ea typeface="Times New Roman"/>
                <a:cs typeface="Times New Roman"/>
                <a:sym typeface="Times New Roman"/>
              </a:rPr>
              <a:t>___________</a:t>
            </a:r>
            <a:r>
              <a:rPr lang="en-GB" sz="1800">
                <a:latin typeface="Lexend"/>
                <a:ea typeface="Lexend"/>
                <a:cs typeface="Lexend"/>
                <a:sym typeface="Lexend"/>
              </a:rPr>
              <a:t> to the others.</a:t>
            </a:r>
            <a:endParaRPr sz="1800">
              <a:latin typeface="Lexend"/>
              <a:ea typeface="Lexend"/>
              <a:cs typeface="Lexend"/>
              <a:sym typeface="Lexend"/>
            </a:endParaRPr>
          </a:p>
        </p:txBody>
      </p:sp>
      <p:sp>
        <p:nvSpPr>
          <p:cNvPr id="1575" name="Google Shape;1575;p100"/>
          <p:cNvSpPr txBox="1"/>
          <p:nvPr/>
        </p:nvSpPr>
        <p:spPr>
          <a:xfrm flipH="1" rot="2913">
            <a:off x="552699" y="2822058"/>
            <a:ext cx="4957202"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This is because their </a:t>
            </a:r>
            <a:r>
              <a:rPr lang="en-GB" sz="1800">
                <a:solidFill>
                  <a:schemeClr val="dk1"/>
                </a:solidFill>
                <a:latin typeface="Times New Roman"/>
                <a:ea typeface="Times New Roman"/>
                <a:cs typeface="Times New Roman"/>
                <a:sym typeface="Times New Roman"/>
              </a:rPr>
              <a:t>_________</a:t>
            </a:r>
            <a:r>
              <a:rPr lang="en-GB" sz="1800">
                <a:latin typeface="Lexend"/>
                <a:ea typeface="Lexend"/>
                <a:cs typeface="Lexend"/>
                <a:sym typeface="Lexend"/>
              </a:rPr>
              <a:t> and </a:t>
            </a:r>
            <a:r>
              <a:rPr lang="en-GB" sz="1800">
                <a:solidFill>
                  <a:schemeClr val="dk1"/>
                </a:solidFill>
                <a:latin typeface="Times New Roman"/>
                <a:ea typeface="Times New Roman"/>
                <a:cs typeface="Times New Roman"/>
                <a:sym typeface="Times New Roman"/>
              </a:rPr>
              <a:t>_________</a:t>
            </a:r>
            <a:r>
              <a:rPr lang="en-GB" sz="1800">
                <a:latin typeface="Lexend"/>
                <a:ea typeface="Lexend"/>
                <a:cs typeface="Lexend"/>
                <a:sym typeface="Lexend"/>
              </a:rPr>
              <a:t> are in </a:t>
            </a:r>
            <a:r>
              <a:rPr lang="en-GB" sz="1800">
                <a:solidFill>
                  <a:schemeClr val="dk1"/>
                </a:solidFill>
                <a:latin typeface="Times New Roman"/>
                <a:ea typeface="Times New Roman"/>
                <a:cs typeface="Times New Roman"/>
                <a:sym typeface="Times New Roman"/>
              </a:rPr>
              <a:t>___________</a:t>
            </a:r>
            <a:r>
              <a:rPr lang="en-GB" sz="1800">
                <a:latin typeface="Lexend"/>
                <a:ea typeface="Lexend"/>
                <a:cs typeface="Lexend"/>
                <a:sym typeface="Lexend"/>
              </a:rPr>
              <a:t> to each other.</a:t>
            </a:r>
            <a:endParaRPr sz="1800">
              <a:latin typeface="Lexend"/>
              <a:ea typeface="Lexend"/>
              <a:cs typeface="Lexend"/>
              <a:sym typeface="Lexend"/>
            </a:endParaRPr>
          </a:p>
        </p:txBody>
      </p:sp>
      <p:sp>
        <p:nvSpPr>
          <p:cNvPr id="1576" name="Google Shape;1576;p100"/>
          <p:cNvSpPr/>
          <p:nvPr/>
        </p:nvSpPr>
        <p:spPr>
          <a:xfrm>
            <a:off x="1243550" y="3104700"/>
            <a:ext cx="1267200" cy="314700"/>
          </a:xfrm>
          <a:prstGeom prst="roundRect">
            <a:avLst>
              <a:gd fmla="val 16667" name="adj"/>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proportion</a:t>
            </a:r>
            <a:endParaRPr sz="2000">
              <a:latin typeface="Kalam"/>
              <a:ea typeface="Kalam"/>
              <a:cs typeface="Kalam"/>
              <a:sym typeface="Kalam"/>
            </a:endParaRPr>
          </a:p>
        </p:txBody>
      </p:sp>
      <p:sp>
        <p:nvSpPr>
          <p:cNvPr id="1577" name="Google Shape;1577;p100"/>
          <p:cNvSpPr/>
          <p:nvPr/>
        </p:nvSpPr>
        <p:spPr>
          <a:xfrm>
            <a:off x="2857500" y="2830450"/>
            <a:ext cx="1034100" cy="314700"/>
          </a:xfrm>
          <a:prstGeom prst="roundRect">
            <a:avLst>
              <a:gd fmla="val 16667" name="adj"/>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width</a:t>
            </a:r>
            <a:endParaRPr sz="2000">
              <a:latin typeface="Kalam"/>
              <a:ea typeface="Kalam"/>
              <a:cs typeface="Kalam"/>
              <a:sym typeface="Kalam"/>
            </a:endParaRPr>
          </a:p>
        </p:txBody>
      </p:sp>
      <p:sp>
        <p:nvSpPr>
          <p:cNvPr id="1578" name="Google Shape;1578;p100"/>
          <p:cNvSpPr/>
          <p:nvPr/>
        </p:nvSpPr>
        <p:spPr>
          <a:xfrm>
            <a:off x="2571325" y="2376575"/>
            <a:ext cx="1267200" cy="314700"/>
          </a:xfrm>
          <a:prstGeom prst="roundRect">
            <a:avLst>
              <a:gd fmla="val 16667" name="adj"/>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similar</a:t>
            </a:r>
            <a:endParaRPr sz="2000">
              <a:latin typeface="Kalam"/>
              <a:ea typeface="Kalam"/>
              <a:cs typeface="Kalam"/>
              <a:sym typeface="Kalam"/>
            </a:endParaRPr>
          </a:p>
        </p:txBody>
      </p:sp>
      <p:sp>
        <p:nvSpPr>
          <p:cNvPr id="1579" name="Google Shape;1579;p100"/>
          <p:cNvSpPr/>
          <p:nvPr/>
        </p:nvSpPr>
        <p:spPr>
          <a:xfrm>
            <a:off x="4440600" y="2830450"/>
            <a:ext cx="1034100" cy="314700"/>
          </a:xfrm>
          <a:prstGeom prst="roundRect">
            <a:avLst>
              <a:gd fmla="val 16667" name="adj"/>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height</a:t>
            </a:r>
            <a:endParaRPr sz="2000">
              <a:latin typeface="Kalam"/>
              <a:ea typeface="Kalam"/>
              <a:cs typeface="Kalam"/>
              <a:sym typeface="Kalam"/>
            </a:endParaRPr>
          </a:p>
        </p:txBody>
      </p:sp>
      <p:sp>
        <p:nvSpPr>
          <p:cNvPr id="1580" name="Google Shape;1580;p100"/>
          <p:cNvSpPr/>
          <p:nvPr/>
        </p:nvSpPr>
        <p:spPr>
          <a:xfrm>
            <a:off x="979050" y="3557600"/>
            <a:ext cx="1337400" cy="314700"/>
          </a:xfrm>
          <a:prstGeom prst="roundRect">
            <a:avLst>
              <a:gd fmla="val 16667" name="adj"/>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scale factor</a:t>
            </a:r>
            <a:endParaRPr sz="2000">
              <a:latin typeface="Kalam"/>
              <a:ea typeface="Kalam"/>
              <a:cs typeface="Kalam"/>
              <a:sym typeface="Kala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4" name="Shape 1584"/>
        <p:cNvGrpSpPr/>
        <p:nvPr/>
      </p:nvGrpSpPr>
      <p:grpSpPr>
        <a:xfrm>
          <a:off x="0" y="0"/>
          <a:ext cx="0" cy="0"/>
          <a:chOff x="0" y="0"/>
          <a:chExt cx="0" cy="0"/>
        </a:xfrm>
      </p:grpSpPr>
      <p:sp>
        <p:nvSpPr>
          <p:cNvPr id="1585" name="Google Shape;1585;p101"/>
          <p:cNvSpPr/>
          <p:nvPr/>
        </p:nvSpPr>
        <p:spPr>
          <a:xfrm>
            <a:off x="6704566" y="680635"/>
            <a:ext cx="1962600" cy="13752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6" name="Google Shape;1586;p101"/>
          <p:cNvSpPr/>
          <p:nvPr/>
        </p:nvSpPr>
        <p:spPr>
          <a:xfrm>
            <a:off x="5253207" y="677164"/>
            <a:ext cx="1215000" cy="8514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7" name="Google Shape;1587;p101"/>
          <p:cNvSpPr/>
          <p:nvPr/>
        </p:nvSpPr>
        <p:spPr>
          <a:xfrm>
            <a:off x="6037109" y="2758915"/>
            <a:ext cx="2345400" cy="1587900"/>
          </a:xfrm>
          <a:prstGeom prst="roundRect">
            <a:avLst>
              <a:gd fmla="val 1666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8" name="Google Shape;1588;p101"/>
          <p:cNvSpPr txBox="1"/>
          <p:nvPr/>
        </p:nvSpPr>
        <p:spPr>
          <a:xfrm flipH="1" rot="2690">
            <a:off x="324049" y="3527579"/>
            <a:ext cx="42180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c) Hence, calculate the width of screens A and C (2 d.p.)</a:t>
            </a:r>
            <a:endParaRPr sz="1800">
              <a:latin typeface="Lexend"/>
              <a:ea typeface="Lexend"/>
              <a:cs typeface="Lexend"/>
              <a:sym typeface="Lexend"/>
            </a:endParaRPr>
          </a:p>
        </p:txBody>
      </p:sp>
      <p:sp>
        <p:nvSpPr>
          <p:cNvPr id="1589" name="Google Shape;1589;p101"/>
          <p:cNvSpPr txBox="1"/>
          <p:nvPr/>
        </p:nvSpPr>
        <p:spPr>
          <a:xfrm flipH="1" rot="2708">
            <a:off x="324124" y="714616"/>
            <a:ext cx="45705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1) Each of these three widescreen TVs have width and height in the ratio 16 : 9.</a:t>
            </a:r>
            <a:endParaRPr sz="1800">
              <a:latin typeface="Lexend"/>
              <a:ea typeface="Lexend"/>
              <a:cs typeface="Lexend"/>
              <a:sym typeface="Lexend"/>
            </a:endParaRPr>
          </a:p>
        </p:txBody>
      </p:sp>
      <p:sp>
        <p:nvSpPr>
          <p:cNvPr id="1590" name="Google Shape;1590;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Pythagoras’ theorem with ratios</a:t>
            </a:r>
            <a:endParaRPr/>
          </a:p>
        </p:txBody>
      </p:sp>
      <p:cxnSp>
        <p:nvCxnSpPr>
          <p:cNvPr id="1591" name="Google Shape;1591;p101"/>
          <p:cNvCxnSpPr/>
          <p:nvPr/>
        </p:nvCxnSpPr>
        <p:spPr>
          <a:xfrm>
            <a:off x="5263750" y="741092"/>
            <a:ext cx="1215000" cy="760500"/>
          </a:xfrm>
          <a:prstGeom prst="straightConnector1">
            <a:avLst/>
          </a:prstGeom>
          <a:noFill/>
          <a:ln cap="flat" cmpd="sng" w="28575">
            <a:solidFill>
              <a:schemeClr val="accent3"/>
            </a:solidFill>
            <a:prstDash val="solid"/>
            <a:round/>
            <a:headEnd len="med" w="med" type="triangle"/>
            <a:tailEnd len="med" w="med" type="triangle"/>
          </a:ln>
        </p:spPr>
      </p:cxnSp>
      <p:sp>
        <p:nvSpPr>
          <p:cNvPr id="1592" name="Google Shape;1592;p101"/>
          <p:cNvSpPr txBox="1"/>
          <p:nvPr/>
        </p:nvSpPr>
        <p:spPr>
          <a:xfrm flipH="1" rot="1921020">
            <a:off x="5541649" y="857832"/>
            <a:ext cx="940451" cy="307569"/>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8 inches</a:t>
            </a:r>
            <a:endParaRPr sz="1800">
              <a:solidFill>
                <a:schemeClr val="dk1"/>
              </a:solidFill>
              <a:latin typeface="Lexend"/>
              <a:ea typeface="Lexend"/>
              <a:cs typeface="Lexend"/>
              <a:sym typeface="Lexend"/>
            </a:endParaRPr>
          </a:p>
        </p:txBody>
      </p:sp>
      <p:grpSp>
        <p:nvGrpSpPr>
          <p:cNvPr id="1593" name="Google Shape;1593;p101"/>
          <p:cNvGrpSpPr/>
          <p:nvPr/>
        </p:nvGrpSpPr>
        <p:grpSpPr>
          <a:xfrm>
            <a:off x="6779021" y="641384"/>
            <a:ext cx="1847407" cy="1285326"/>
            <a:chOff x="6909850" y="725394"/>
            <a:chExt cx="1215000" cy="845331"/>
          </a:xfrm>
        </p:grpSpPr>
        <p:cxnSp>
          <p:nvCxnSpPr>
            <p:cNvPr id="1594" name="Google Shape;1594;p101"/>
            <p:cNvCxnSpPr/>
            <p:nvPr/>
          </p:nvCxnSpPr>
          <p:spPr>
            <a:xfrm>
              <a:off x="6909850" y="810225"/>
              <a:ext cx="1215000" cy="760500"/>
            </a:xfrm>
            <a:prstGeom prst="straightConnector1">
              <a:avLst/>
            </a:prstGeom>
            <a:noFill/>
            <a:ln cap="flat" cmpd="sng" w="28575">
              <a:solidFill>
                <a:schemeClr val="accent3"/>
              </a:solidFill>
              <a:prstDash val="solid"/>
              <a:round/>
              <a:headEnd len="med" w="med" type="triangle"/>
              <a:tailEnd len="med" w="med" type="triangle"/>
            </a:ln>
          </p:spPr>
        </p:cxnSp>
        <p:sp>
          <p:nvSpPr>
            <p:cNvPr id="1595" name="Google Shape;1595;p101"/>
            <p:cNvSpPr txBox="1"/>
            <p:nvPr/>
          </p:nvSpPr>
          <p:spPr>
            <a:xfrm flipH="1" rot="1921659">
              <a:off x="7045456" y="992215"/>
              <a:ext cx="1064058" cy="201357"/>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12 inches</a:t>
              </a:r>
              <a:endParaRPr sz="1800">
                <a:solidFill>
                  <a:schemeClr val="dk1"/>
                </a:solidFill>
                <a:latin typeface="Lexend"/>
                <a:ea typeface="Lexend"/>
                <a:cs typeface="Lexend"/>
                <a:sym typeface="Lexend"/>
              </a:endParaRPr>
            </a:p>
          </p:txBody>
        </p:sp>
      </p:grpSp>
      <p:grpSp>
        <p:nvGrpSpPr>
          <p:cNvPr id="1596" name="Google Shape;1596;p101"/>
          <p:cNvGrpSpPr/>
          <p:nvPr/>
        </p:nvGrpSpPr>
        <p:grpSpPr>
          <a:xfrm>
            <a:off x="6067541" y="2708675"/>
            <a:ext cx="2282256" cy="1587870"/>
            <a:chOff x="6909850" y="725394"/>
            <a:chExt cx="1215000" cy="845331"/>
          </a:xfrm>
        </p:grpSpPr>
        <p:cxnSp>
          <p:nvCxnSpPr>
            <p:cNvPr id="1597" name="Google Shape;1597;p101"/>
            <p:cNvCxnSpPr/>
            <p:nvPr/>
          </p:nvCxnSpPr>
          <p:spPr>
            <a:xfrm>
              <a:off x="6909850" y="810225"/>
              <a:ext cx="1215000" cy="760500"/>
            </a:xfrm>
            <a:prstGeom prst="straightConnector1">
              <a:avLst/>
            </a:prstGeom>
            <a:noFill/>
            <a:ln cap="flat" cmpd="sng" w="28575">
              <a:solidFill>
                <a:schemeClr val="accent3"/>
              </a:solidFill>
              <a:prstDash val="solid"/>
              <a:round/>
              <a:headEnd len="med" w="med" type="triangle"/>
              <a:tailEnd len="med" w="med" type="triangle"/>
            </a:ln>
          </p:spPr>
        </p:cxnSp>
        <p:sp>
          <p:nvSpPr>
            <p:cNvPr id="1598" name="Google Shape;1598;p101"/>
            <p:cNvSpPr txBox="1"/>
            <p:nvPr/>
          </p:nvSpPr>
          <p:spPr>
            <a:xfrm flipH="1" rot="1921659">
              <a:off x="7045456" y="992215"/>
              <a:ext cx="1064058" cy="201357"/>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solidFill>
                    <a:schemeClr val="dk1"/>
                  </a:solidFill>
                  <a:latin typeface="Lexend"/>
                  <a:ea typeface="Lexend"/>
                  <a:cs typeface="Lexend"/>
                  <a:sym typeface="Lexend"/>
                </a:rPr>
                <a:t>30 inches</a:t>
              </a:r>
              <a:endParaRPr sz="1800">
                <a:solidFill>
                  <a:schemeClr val="dk1"/>
                </a:solidFill>
                <a:latin typeface="Lexend"/>
                <a:ea typeface="Lexend"/>
                <a:cs typeface="Lexend"/>
                <a:sym typeface="Lexend"/>
              </a:endParaRPr>
            </a:p>
          </p:txBody>
        </p:sp>
      </p:grpSp>
      <p:sp>
        <p:nvSpPr>
          <p:cNvPr id="1599" name="Google Shape;1599;p101"/>
          <p:cNvSpPr txBox="1"/>
          <p:nvPr/>
        </p:nvSpPr>
        <p:spPr>
          <a:xfrm flipH="1" rot="2693">
            <a:off x="5296212" y="1763349"/>
            <a:ext cx="1149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screen A</a:t>
            </a:r>
            <a:endParaRPr sz="1800">
              <a:latin typeface="Lexend"/>
              <a:ea typeface="Lexend"/>
              <a:cs typeface="Lexend"/>
              <a:sym typeface="Lexend"/>
            </a:endParaRPr>
          </a:p>
        </p:txBody>
      </p:sp>
      <p:sp>
        <p:nvSpPr>
          <p:cNvPr id="1600" name="Google Shape;1600;p101"/>
          <p:cNvSpPr txBox="1"/>
          <p:nvPr/>
        </p:nvSpPr>
        <p:spPr>
          <a:xfrm flipH="1" rot="2690">
            <a:off x="324049" y="4135954"/>
            <a:ext cx="4218001"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s</a:t>
            </a:r>
            <a:r>
              <a:rPr lang="en-GB" sz="2000">
                <a:solidFill>
                  <a:schemeClr val="dk1"/>
                </a:solidFill>
                <a:latin typeface="Kalam"/>
                <a:ea typeface="Kalam"/>
                <a:cs typeface="Kalam"/>
                <a:sym typeface="Kalam"/>
              </a:rPr>
              <a:t>creen A: 10.459 ÷ 1.5 = 6.97 inches</a:t>
            </a:r>
            <a:endParaRPr sz="2000">
              <a:solidFill>
                <a:schemeClr val="dk1"/>
              </a:solidFill>
              <a:latin typeface="Kalam"/>
              <a:ea typeface="Kalam"/>
              <a:cs typeface="Kalam"/>
              <a:sym typeface="Kalam"/>
            </a:endParaRPr>
          </a:p>
          <a:p>
            <a:pPr indent="0" lvl="0" marL="0" rtl="0" algn="l">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s</a:t>
            </a:r>
            <a:r>
              <a:rPr lang="en-GB" sz="2000">
                <a:solidFill>
                  <a:schemeClr val="dk1"/>
                </a:solidFill>
                <a:latin typeface="Kalam"/>
                <a:ea typeface="Kalam"/>
                <a:cs typeface="Kalam"/>
                <a:sym typeface="Kalam"/>
              </a:rPr>
              <a:t>creen C: </a:t>
            </a:r>
            <a:r>
              <a:rPr lang="en-GB" sz="2000">
                <a:solidFill>
                  <a:schemeClr val="dk1"/>
                </a:solidFill>
                <a:latin typeface="Kalam"/>
                <a:ea typeface="Kalam"/>
                <a:cs typeface="Kalam"/>
                <a:sym typeface="Kalam"/>
              </a:rPr>
              <a:t>10.459 × 2.5 = 26.15 inches</a:t>
            </a:r>
            <a:endParaRPr sz="2000">
              <a:solidFill>
                <a:schemeClr val="dk1"/>
              </a:solidFill>
              <a:latin typeface="Kalam"/>
              <a:ea typeface="Kalam"/>
              <a:cs typeface="Kalam"/>
              <a:sym typeface="Kalam"/>
            </a:endParaRPr>
          </a:p>
        </p:txBody>
      </p:sp>
      <p:sp>
        <p:nvSpPr>
          <p:cNvPr id="1601" name="Google Shape;1601;p101"/>
          <p:cNvSpPr txBox="1"/>
          <p:nvPr/>
        </p:nvSpPr>
        <p:spPr>
          <a:xfrm flipH="1" rot="2693">
            <a:off x="7134850" y="2294099"/>
            <a:ext cx="1149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screen B</a:t>
            </a:r>
            <a:endParaRPr sz="1800">
              <a:latin typeface="Lexend"/>
              <a:ea typeface="Lexend"/>
              <a:cs typeface="Lexend"/>
              <a:sym typeface="Lexend"/>
            </a:endParaRPr>
          </a:p>
        </p:txBody>
      </p:sp>
      <p:sp>
        <p:nvSpPr>
          <p:cNvPr id="1602" name="Google Shape;1602;p101"/>
          <p:cNvSpPr txBox="1"/>
          <p:nvPr/>
        </p:nvSpPr>
        <p:spPr>
          <a:xfrm flipH="1" rot="2693">
            <a:off x="5863300" y="4381899"/>
            <a:ext cx="1149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800"/>
              <a:buFont typeface="Arial"/>
              <a:buNone/>
            </a:pPr>
            <a:r>
              <a:rPr lang="en-GB" sz="1800">
                <a:latin typeface="Lexend"/>
                <a:ea typeface="Lexend"/>
                <a:cs typeface="Lexend"/>
                <a:sym typeface="Lexend"/>
              </a:rPr>
              <a:t>screen C</a:t>
            </a:r>
            <a:endParaRPr sz="1800">
              <a:latin typeface="Lexend"/>
              <a:ea typeface="Lexend"/>
              <a:cs typeface="Lexend"/>
              <a:sym typeface="Lexend"/>
            </a:endParaRPr>
          </a:p>
        </p:txBody>
      </p:sp>
      <p:graphicFrame>
        <p:nvGraphicFramePr>
          <p:cNvPr id="1603" name="Google Shape;1603;p101"/>
          <p:cNvGraphicFramePr/>
          <p:nvPr/>
        </p:nvGraphicFramePr>
        <p:xfrm>
          <a:off x="518463" y="2141250"/>
          <a:ext cx="3000000" cy="3000000"/>
        </p:xfrm>
        <a:graphic>
          <a:graphicData uri="http://schemas.openxmlformats.org/drawingml/2006/table">
            <a:tbl>
              <a:tblPr>
                <a:noFill/>
                <a:tableStyleId>{018616B7-C05B-4F4E-94F1-144584CD3DCC}</a:tableStyleId>
              </a:tblPr>
              <a:tblGrid>
                <a:gridCol w="1351175"/>
                <a:gridCol w="1351175"/>
                <a:gridCol w="1351175"/>
              </a:tblGrid>
              <a:tr h="355750">
                <a:tc>
                  <a:txBody>
                    <a:bodyPr/>
                    <a:lstStyle/>
                    <a:p>
                      <a:pPr indent="0" lvl="0" marL="0" rtl="0" algn="ctr">
                        <a:spcBef>
                          <a:spcPts val="0"/>
                        </a:spcBef>
                        <a:spcAft>
                          <a:spcPts val="0"/>
                        </a:spcAft>
                        <a:buNone/>
                      </a:pPr>
                      <a:r>
                        <a:rPr lang="en-GB" sz="1800">
                          <a:latin typeface="Lexend"/>
                          <a:ea typeface="Lexend"/>
                          <a:cs typeface="Lexend"/>
                          <a:sym typeface="Lexend"/>
                        </a:rPr>
                        <a:t>width</a:t>
                      </a:r>
                      <a:endParaRPr sz="1800">
                        <a:latin typeface="Lexend"/>
                        <a:ea typeface="Lexend"/>
                        <a:cs typeface="Lexend"/>
                        <a:sym typeface="Lexend"/>
                      </a:endParaRPr>
                    </a:p>
                  </a:txBody>
                  <a:tcPr marT="0" marB="0" marR="0" marL="0"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height</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diagonal</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r>
              <a:tr h="355750">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16</a:t>
                      </a:r>
                      <a:endParaRPr/>
                    </a:p>
                  </a:txBody>
                  <a:tcPr marT="0" marB="0" marR="0" marL="0"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9</a:t>
                      </a:r>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18.358</a:t>
                      </a:r>
                      <a:endParaRPr sz="2000">
                        <a:latin typeface="Kalam"/>
                        <a:ea typeface="Kalam"/>
                        <a:cs typeface="Kalam"/>
                        <a:sym typeface="Kalam"/>
                      </a:endParaRPr>
                    </a:p>
                  </a:txBody>
                  <a:tcPr marT="0" marB="0" marR="0" marL="0"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355750">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10.459</a:t>
                      </a:r>
                      <a:endParaRPr sz="1800">
                        <a:latin typeface="Lexend"/>
                        <a:ea typeface="Lexend"/>
                        <a:cs typeface="Lexend"/>
                        <a:sym typeface="Lexend"/>
                      </a:endParaRPr>
                    </a:p>
                  </a:txBody>
                  <a:tcPr marT="0" marB="0" marR="0" marL="0"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Kalam"/>
                          <a:ea typeface="Kalam"/>
                          <a:cs typeface="Kalam"/>
                          <a:sym typeface="Kalam"/>
                        </a:rPr>
                        <a:t>5.883</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r>
            </a:tbl>
          </a:graphicData>
        </a:graphic>
      </p:graphicFrame>
      <p:sp>
        <p:nvSpPr>
          <p:cNvPr id="1604" name="Google Shape;1604;p101"/>
          <p:cNvSpPr txBox="1"/>
          <p:nvPr/>
        </p:nvSpPr>
        <p:spPr>
          <a:xfrm flipH="1" rot="2568">
            <a:off x="324024" y="1488477"/>
            <a:ext cx="4819801"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b) By using Pythagoras’ theorem, complete the ratio table for screen B (3 d.p.) </a:t>
            </a:r>
            <a:endParaRPr sz="1800">
              <a:latin typeface="Lexend"/>
              <a:ea typeface="Lexend"/>
              <a:cs typeface="Lexend"/>
              <a:sym typeface="Lexe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8" name="Shape 1608"/>
        <p:cNvGrpSpPr/>
        <p:nvPr/>
      </p:nvGrpSpPr>
      <p:grpSpPr>
        <a:xfrm>
          <a:off x="0" y="0"/>
          <a:ext cx="0" cy="0"/>
          <a:chOff x="0" y="0"/>
          <a:chExt cx="0" cy="0"/>
        </a:xfrm>
      </p:grpSpPr>
      <p:sp>
        <p:nvSpPr>
          <p:cNvPr id="1609" name="Google Shape;1609;p102"/>
          <p:cNvSpPr txBox="1"/>
          <p:nvPr/>
        </p:nvSpPr>
        <p:spPr>
          <a:xfrm flipH="1" rot="2903">
            <a:off x="5484475" y="1069099"/>
            <a:ext cx="1776601"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TV cabinet</a:t>
            </a:r>
            <a:endParaRPr sz="1800">
              <a:latin typeface="Lexend"/>
              <a:ea typeface="Lexend"/>
              <a:cs typeface="Lexend"/>
              <a:sym typeface="Lexend"/>
            </a:endParaRPr>
          </a:p>
        </p:txBody>
      </p:sp>
      <p:sp>
        <p:nvSpPr>
          <p:cNvPr id="1610" name="Google Shape;1610;p102"/>
          <p:cNvSpPr txBox="1"/>
          <p:nvPr/>
        </p:nvSpPr>
        <p:spPr>
          <a:xfrm flipH="1" rot="2708">
            <a:off x="324124" y="638416"/>
            <a:ext cx="4570501" cy="2216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2) Izzy wants to buy this ultra widescreen TV, which has a width and height in the ratio 22 : 9.</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The TV has a 35 inch screen, and a stand that is 2 inches high.</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rtl="0" algn="l">
              <a:spcBef>
                <a:spcPts val="0"/>
              </a:spcBef>
              <a:spcAft>
                <a:spcPts val="0"/>
              </a:spcAft>
              <a:buClr>
                <a:srgbClr val="000000"/>
              </a:buClr>
              <a:buSzPts val="1800"/>
              <a:buFont typeface="Arial"/>
              <a:buNone/>
            </a:pPr>
            <a:r>
              <a:rPr lang="en-GB" sz="1800">
                <a:latin typeface="Lexend"/>
                <a:ea typeface="Lexend"/>
                <a:cs typeface="Lexend"/>
                <a:sym typeface="Lexend"/>
              </a:rPr>
              <a:t>Will the TV fit inside her TV cabinet?</a:t>
            </a:r>
            <a:endParaRPr sz="1800">
              <a:latin typeface="Lexend"/>
              <a:ea typeface="Lexend"/>
              <a:cs typeface="Lexend"/>
              <a:sym typeface="Lexend"/>
            </a:endParaRPr>
          </a:p>
        </p:txBody>
      </p:sp>
      <p:pic>
        <p:nvPicPr>
          <p:cNvPr id="1611" name="Google Shape;1611;p102"/>
          <p:cNvPicPr preferRelativeResize="0"/>
          <p:nvPr/>
        </p:nvPicPr>
        <p:blipFill>
          <a:blip r:embed="rId3">
            <a:alphaModFix/>
          </a:blip>
          <a:stretch>
            <a:fillRect/>
          </a:stretch>
        </p:blipFill>
        <p:spPr>
          <a:xfrm>
            <a:off x="7780000" y="645750"/>
            <a:ext cx="624749" cy="742499"/>
          </a:xfrm>
          <a:prstGeom prst="rect">
            <a:avLst/>
          </a:prstGeom>
          <a:noFill/>
          <a:ln>
            <a:noFill/>
          </a:ln>
        </p:spPr>
      </p:pic>
      <p:sp>
        <p:nvSpPr>
          <p:cNvPr id="1612" name="Google Shape;1612;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Pythagoras’ theorem with ratios</a:t>
            </a:r>
            <a:endParaRPr/>
          </a:p>
        </p:txBody>
      </p:sp>
      <p:grpSp>
        <p:nvGrpSpPr>
          <p:cNvPr id="1613" name="Google Shape;1613;p102"/>
          <p:cNvGrpSpPr/>
          <p:nvPr/>
        </p:nvGrpSpPr>
        <p:grpSpPr>
          <a:xfrm>
            <a:off x="5439488" y="1347051"/>
            <a:ext cx="3367174" cy="2058549"/>
            <a:chOff x="1284100" y="2609651"/>
            <a:chExt cx="3367174" cy="2058549"/>
          </a:xfrm>
        </p:grpSpPr>
        <p:grpSp>
          <p:nvGrpSpPr>
            <p:cNvPr id="1614" name="Google Shape;1614;p102"/>
            <p:cNvGrpSpPr/>
            <p:nvPr/>
          </p:nvGrpSpPr>
          <p:grpSpPr>
            <a:xfrm flipH="1">
              <a:off x="4009475" y="2610450"/>
              <a:ext cx="515450" cy="1735400"/>
              <a:chOff x="1321280" y="2610450"/>
              <a:chExt cx="515450" cy="1735400"/>
            </a:xfrm>
          </p:grpSpPr>
          <p:sp>
            <p:nvSpPr>
              <p:cNvPr id="1615" name="Google Shape;1615;p102"/>
              <p:cNvSpPr/>
              <p:nvPr/>
            </p:nvSpPr>
            <p:spPr>
              <a:xfrm>
                <a:off x="1566580" y="2621575"/>
                <a:ext cx="270150" cy="1673875"/>
              </a:xfrm>
              <a:custGeom>
                <a:rect b="b" l="l" r="r" t="t"/>
                <a:pathLst>
                  <a:path extrusionOk="0" h="66955" w="10806">
                    <a:moveTo>
                      <a:pt x="0" y="0"/>
                    </a:moveTo>
                    <a:lnTo>
                      <a:pt x="10330" y="10427"/>
                    </a:lnTo>
                    <a:lnTo>
                      <a:pt x="10806" y="66386"/>
                    </a:lnTo>
                    <a:lnTo>
                      <a:pt x="1216" y="66955"/>
                    </a:lnTo>
                    <a:close/>
                  </a:path>
                </a:pathLst>
              </a:custGeom>
              <a:solidFill>
                <a:srgbClr val="ECBD79"/>
              </a:solidFill>
              <a:ln>
                <a:noFill/>
              </a:ln>
            </p:spPr>
          </p:sp>
          <p:pic>
            <p:nvPicPr>
              <p:cNvPr id="1616" name="Google Shape;1616;p102"/>
              <p:cNvPicPr preferRelativeResize="0"/>
              <p:nvPr/>
            </p:nvPicPr>
            <p:blipFill rotWithShape="1">
              <a:blip r:embed="rId4">
                <a:alphaModFix/>
              </a:blip>
              <a:srcRect b="33552" l="7441" r="20241" t="57018"/>
              <a:stretch/>
            </p:blipFill>
            <p:spPr>
              <a:xfrm flipH="1" rot="5400000">
                <a:off x="612330" y="3319400"/>
                <a:ext cx="1735400" cy="317500"/>
              </a:xfrm>
              <a:prstGeom prst="rect">
                <a:avLst/>
              </a:prstGeom>
              <a:noFill/>
              <a:ln>
                <a:noFill/>
              </a:ln>
            </p:spPr>
          </p:pic>
        </p:grpSp>
        <p:grpSp>
          <p:nvGrpSpPr>
            <p:cNvPr id="1617" name="Google Shape;1617;p102"/>
            <p:cNvGrpSpPr/>
            <p:nvPr/>
          </p:nvGrpSpPr>
          <p:grpSpPr>
            <a:xfrm>
              <a:off x="1321275" y="2609776"/>
              <a:ext cx="515450" cy="1736075"/>
              <a:chOff x="1321275" y="2609776"/>
              <a:chExt cx="515450" cy="1736075"/>
            </a:xfrm>
          </p:grpSpPr>
          <p:sp>
            <p:nvSpPr>
              <p:cNvPr id="1618" name="Google Shape;1618;p102"/>
              <p:cNvSpPr/>
              <p:nvPr/>
            </p:nvSpPr>
            <p:spPr>
              <a:xfrm>
                <a:off x="1574275" y="2643625"/>
                <a:ext cx="262450" cy="1651825"/>
              </a:xfrm>
              <a:custGeom>
                <a:rect b="b" l="l" r="r" t="t"/>
                <a:pathLst>
                  <a:path extrusionOk="0" h="66073" w="10498">
                    <a:moveTo>
                      <a:pt x="0" y="0"/>
                    </a:moveTo>
                    <a:lnTo>
                      <a:pt x="10022" y="9545"/>
                    </a:lnTo>
                    <a:lnTo>
                      <a:pt x="10498" y="65504"/>
                    </a:lnTo>
                    <a:lnTo>
                      <a:pt x="908" y="66073"/>
                    </a:lnTo>
                    <a:close/>
                  </a:path>
                </a:pathLst>
              </a:custGeom>
              <a:solidFill>
                <a:srgbClr val="ECBD79"/>
              </a:solidFill>
              <a:ln>
                <a:noFill/>
              </a:ln>
            </p:spPr>
          </p:sp>
          <p:pic>
            <p:nvPicPr>
              <p:cNvPr id="1619" name="Google Shape;1619;p102"/>
              <p:cNvPicPr preferRelativeResize="0"/>
              <p:nvPr/>
            </p:nvPicPr>
            <p:blipFill rotWithShape="1">
              <a:blip r:embed="rId4">
                <a:alphaModFix/>
              </a:blip>
              <a:srcRect b="33552" l="7444" r="20206" t="57018"/>
              <a:stretch/>
            </p:blipFill>
            <p:spPr>
              <a:xfrm flipH="1" rot="5400000">
                <a:off x="611988" y="3319063"/>
                <a:ext cx="1736075" cy="317500"/>
              </a:xfrm>
              <a:prstGeom prst="rect">
                <a:avLst/>
              </a:prstGeom>
              <a:noFill/>
              <a:ln>
                <a:noFill/>
              </a:ln>
            </p:spPr>
          </p:pic>
        </p:grpSp>
        <p:pic>
          <p:nvPicPr>
            <p:cNvPr id="1620" name="Google Shape;1620;p102"/>
            <p:cNvPicPr preferRelativeResize="0"/>
            <p:nvPr/>
          </p:nvPicPr>
          <p:blipFill rotWithShape="1">
            <a:blip r:embed="rId4">
              <a:alphaModFix/>
            </a:blip>
            <a:srcRect b="23623" l="0" r="0" t="54811"/>
            <a:stretch/>
          </p:blipFill>
          <p:spPr>
            <a:xfrm>
              <a:off x="1284100" y="3942025"/>
              <a:ext cx="3367174" cy="726175"/>
            </a:xfrm>
            <a:prstGeom prst="rect">
              <a:avLst/>
            </a:prstGeom>
            <a:noFill/>
            <a:ln>
              <a:noFill/>
            </a:ln>
          </p:spPr>
        </p:pic>
        <p:pic>
          <p:nvPicPr>
            <p:cNvPr id="1621" name="Google Shape;1621;p102"/>
            <p:cNvPicPr preferRelativeResize="0"/>
            <p:nvPr/>
          </p:nvPicPr>
          <p:blipFill rotWithShape="1">
            <a:blip r:embed="rId4">
              <a:alphaModFix/>
            </a:blip>
            <a:srcRect b="33707" l="0" r="0" t="54812"/>
            <a:stretch/>
          </p:blipFill>
          <p:spPr>
            <a:xfrm flipH="1" rot="10800000">
              <a:off x="1284100" y="2609651"/>
              <a:ext cx="3367174" cy="386576"/>
            </a:xfrm>
            <a:prstGeom prst="rect">
              <a:avLst/>
            </a:prstGeom>
            <a:noFill/>
            <a:ln>
              <a:noFill/>
            </a:ln>
          </p:spPr>
        </p:pic>
      </p:grpSp>
      <p:graphicFrame>
        <p:nvGraphicFramePr>
          <p:cNvPr id="1622" name="Google Shape;1622;p102"/>
          <p:cNvGraphicFramePr/>
          <p:nvPr/>
        </p:nvGraphicFramePr>
        <p:xfrm>
          <a:off x="366063" y="3512850"/>
          <a:ext cx="3000000" cy="3000000"/>
        </p:xfrm>
        <a:graphic>
          <a:graphicData uri="http://schemas.openxmlformats.org/drawingml/2006/table">
            <a:tbl>
              <a:tblPr>
                <a:noFill/>
                <a:tableStyleId>{018616B7-C05B-4F4E-94F1-144584CD3DCC}</a:tableStyleId>
              </a:tblPr>
              <a:tblGrid>
                <a:gridCol w="1351175"/>
                <a:gridCol w="1351175"/>
                <a:gridCol w="1351175"/>
              </a:tblGrid>
              <a:tr h="355750">
                <a:tc>
                  <a:txBody>
                    <a:bodyPr/>
                    <a:lstStyle/>
                    <a:p>
                      <a:pPr indent="0" lvl="0" marL="0" rtl="0" algn="ctr">
                        <a:spcBef>
                          <a:spcPts val="0"/>
                        </a:spcBef>
                        <a:spcAft>
                          <a:spcPts val="0"/>
                        </a:spcAft>
                        <a:buNone/>
                      </a:pPr>
                      <a:r>
                        <a:rPr lang="en-GB" sz="1800">
                          <a:latin typeface="Lexend"/>
                          <a:ea typeface="Lexend"/>
                          <a:cs typeface="Lexend"/>
                          <a:sym typeface="Lexend"/>
                        </a:rPr>
                        <a:t>width</a:t>
                      </a:r>
                      <a:endParaRPr sz="1800">
                        <a:latin typeface="Lexend"/>
                        <a:ea typeface="Lexend"/>
                        <a:cs typeface="Lexend"/>
                        <a:sym typeface="Lexend"/>
                      </a:endParaRPr>
                    </a:p>
                  </a:txBody>
                  <a:tcPr marT="0" marB="0" marR="0" marL="0"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height</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diagonal</a:t>
                      </a:r>
                      <a:endParaRPr sz="1800">
                        <a:latin typeface="Lexend"/>
                        <a:ea typeface="Lexend"/>
                        <a:cs typeface="Lexend"/>
                        <a:sym typeface="Lexend"/>
                      </a:endParaRPr>
                    </a:p>
                  </a:txBody>
                  <a:tcPr marT="0" marB="0" marR="0" marL="0"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alpha val="0"/>
                        </a:srgbClr>
                      </a:solidFill>
                      <a:prstDash val="solid"/>
                      <a:round/>
                      <a:headEnd len="sm" w="sm" type="none"/>
                      <a:tailEnd len="sm" w="sm" type="none"/>
                    </a:lnT>
                    <a:lnB cap="flat" cmpd="sng" w="9525">
                      <a:solidFill>
                        <a:srgbClr val="999999"/>
                      </a:solidFill>
                      <a:prstDash val="solid"/>
                      <a:round/>
                      <a:headEnd len="sm" w="sm" type="none"/>
                      <a:tailEnd len="sm" w="sm" type="none"/>
                    </a:lnB>
                  </a:tcPr>
                </a:tc>
              </a:tr>
              <a:tr h="355750">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22</a:t>
                      </a:r>
                      <a:endParaRPr sz="2000">
                        <a:latin typeface="Kalam"/>
                        <a:ea typeface="Kalam"/>
                        <a:cs typeface="Kalam"/>
                        <a:sym typeface="Kalam"/>
                      </a:endParaRPr>
                    </a:p>
                  </a:txBody>
                  <a:tcPr marT="0" marB="0" marR="0" marL="0"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9</a:t>
                      </a:r>
                      <a:endParaRPr sz="2000">
                        <a:latin typeface="Kalam"/>
                        <a:ea typeface="Kalam"/>
                        <a:cs typeface="Kalam"/>
                        <a:sym typeface="Kalam"/>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23.77</a:t>
                      </a:r>
                      <a:endParaRPr sz="2000">
                        <a:latin typeface="Kalam"/>
                        <a:ea typeface="Kalam"/>
                        <a:cs typeface="Kalam"/>
                        <a:sym typeface="Kalam"/>
                      </a:endParaRPr>
                    </a:p>
                  </a:txBody>
                  <a:tcPr marT="0" marB="0" marR="0" marL="0"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tcPr>
                </a:tc>
              </a:tr>
              <a:tr h="355750">
                <a:tc>
                  <a:txBody>
                    <a:bodyPr/>
                    <a:lstStyle/>
                    <a:p>
                      <a:pPr indent="0" lvl="0" marL="0" rtl="0" algn="ctr">
                        <a:spcBef>
                          <a:spcPts val="0"/>
                        </a:spcBef>
                        <a:spcAft>
                          <a:spcPts val="0"/>
                        </a:spcAft>
                        <a:buNone/>
                      </a:pPr>
                      <a:r>
                        <a:rPr lang="en-GB" sz="2000">
                          <a:latin typeface="Kalam"/>
                          <a:ea typeface="Kalam"/>
                          <a:cs typeface="Kalam"/>
                          <a:sym typeface="Kalam"/>
                        </a:rPr>
                        <a:t>32.39</a:t>
                      </a:r>
                      <a:endParaRPr sz="2000">
                        <a:latin typeface="Kalam"/>
                        <a:ea typeface="Kalam"/>
                        <a:cs typeface="Kalam"/>
                        <a:sym typeface="Kalam"/>
                      </a:endParaRPr>
                    </a:p>
                  </a:txBody>
                  <a:tcPr marT="0" marB="0" marR="0" marL="0" anchor="ctr">
                    <a:lnL cap="flat" cmpd="sng" w="9525">
                      <a:solidFill>
                        <a:srgbClr val="999999">
                          <a:alpha val="0"/>
                        </a:srgbClr>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13.25</a:t>
                      </a:r>
                      <a:endParaRPr sz="2000">
                        <a:latin typeface="Kalam"/>
                        <a:ea typeface="Kalam"/>
                        <a:cs typeface="Kalam"/>
                        <a:sym typeface="Kalam"/>
                      </a:endParaRPr>
                    </a:p>
                  </a:txBody>
                  <a:tcPr marT="0" marB="0" marR="0" marL="0" anchor="ctr">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Kalam"/>
                          <a:ea typeface="Kalam"/>
                          <a:cs typeface="Kalam"/>
                          <a:sym typeface="Kalam"/>
                        </a:rPr>
                        <a:t>35</a:t>
                      </a:r>
                      <a:endParaRPr sz="2000">
                        <a:latin typeface="Kalam"/>
                        <a:ea typeface="Kalam"/>
                        <a:cs typeface="Kalam"/>
                        <a:sym typeface="Kalam"/>
                      </a:endParaRPr>
                    </a:p>
                  </a:txBody>
                  <a:tcPr marT="0" marB="0" marR="0" marL="0" anchor="ctr">
                    <a:lnL cap="flat" cmpd="sng" w="9525">
                      <a:solidFill>
                        <a:srgbClr val="999999"/>
                      </a:solidFill>
                      <a:prstDash val="solid"/>
                      <a:round/>
                      <a:headEnd len="sm" w="sm" type="none"/>
                      <a:tailEnd len="sm" w="sm" type="none"/>
                    </a:lnL>
                    <a:lnR cap="flat" cmpd="sng" w="9525">
                      <a:solidFill>
                        <a:srgbClr val="999999">
                          <a:alpha val="0"/>
                        </a:srgbClr>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alpha val="0"/>
                        </a:srgbClr>
                      </a:solidFill>
                      <a:prstDash val="solid"/>
                      <a:round/>
                      <a:headEnd len="sm" w="sm" type="none"/>
                      <a:tailEnd len="sm" w="sm" type="none"/>
                    </a:lnB>
                  </a:tcPr>
                </a:tc>
              </a:tr>
            </a:tbl>
          </a:graphicData>
        </a:graphic>
      </p:graphicFrame>
      <p:sp>
        <p:nvSpPr>
          <p:cNvPr id="1623" name="Google Shape;1623;p102"/>
          <p:cNvSpPr txBox="1"/>
          <p:nvPr/>
        </p:nvSpPr>
        <p:spPr>
          <a:xfrm>
            <a:off x="5982575" y="2143136"/>
            <a:ext cx="876266" cy="192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36 inches</a:t>
            </a:r>
            <a:endParaRPr sz="1800">
              <a:latin typeface="Lexend"/>
              <a:ea typeface="Lexend"/>
              <a:cs typeface="Lexend"/>
              <a:sym typeface="Lexend"/>
            </a:endParaRPr>
          </a:p>
        </p:txBody>
      </p:sp>
      <p:sp>
        <p:nvSpPr>
          <p:cNvPr id="1624" name="Google Shape;1624;p102"/>
          <p:cNvSpPr txBox="1"/>
          <p:nvPr/>
        </p:nvSpPr>
        <p:spPr>
          <a:xfrm>
            <a:off x="7086950" y="1774200"/>
            <a:ext cx="1087688" cy="1924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15 inches</a:t>
            </a:r>
            <a:endParaRPr sz="1800">
              <a:latin typeface="Lexend"/>
              <a:ea typeface="Lexend"/>
              <a:cs typeface="Lexend"/>
              <a:sym typeface="Lexend"/>
            </a:endParaRPr>
          </a:p>
        </p:txBody>
      </p:sp>
      <p:sp>
        <p:nvSpPr>
          <p:cNvPr id="1625" name="Google Shape;1625;p102"/>
          <p:cNvSpPr txBox="1"/>
          <p:nvPr/>
        </p:nvSpPr>
        <p:spPr>
          <a:xfrm flipH="1" rot="2698">
            <a:off x="4489899" y="3325898"/>
            <a:ext cx="4205101" cy="153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No, the TV will not fit in the cabinet.</a:t>
            </a:r>
            <a:endParaRPr sz="2000">
              <a:latin typeface="Kalam"/>
              <a:ea typeface="Kalam"/>
              <a:cs typeface="Kalam"/>
              <a:sym typeface="Kalam"/>
            </a:endParaRPr>
          </a:p>
          <a:p>
            <a:pPr indent="0" lvl="0" marL="0" rtl="0" algn="l">
              <a:spcBef>
                <a:spcPts val="0"/>
              </a:spcBef>
              <a:spcAft>
                <a:spcPts val="0"/>
              </a:spcAft>
              <a:buClr>
                <a:srgbClr val="000000"/>
              </a:buClr>
              <a:buSzPts val="1800"/>
              <a:buFont typeface="Arial"/>
              <a:buNone/>
            </a:pPr>
            <a:r>
              <a:rPr lang="en-GB" sz="2000">
                <a:latin typeface="Kalam"/>
                <a:ea typeface="Kalam"/>
                <a:cs typeface="Kalam"/>
                <a:sym typeface="Kalam"/>
              </a:rPr>
              <a:t>Whilst the screen is less than the width and height of the cabinet, the TV’s 2 inch stand makes the TV too tall.</a:t>
            </a:r>
            <a:endParaRPr sz="2000">
              <a:latin typeface="Kalam"/>
              <a:ea typeface="Kalam"/>
              <a:cs typeface="Kalam"/>
              <a:sym typeface="Kalam"/>
            </a:endParaRPr>
          </a:p>
        </p:txBody>
      </p:sp>
      <p:cxnSp>
        <p:nvCxnSpPr>
          <p:cNvPr id="1626" name="Google Shape;1626;p102"/>
          <p:cNvCxnSpPr/>
          <p:nvPr/>
        </p:nvCxnSpPr>
        <p:spPr>
          <a:xfrm flipH="1">
            <a:off x="7058250" y="1671400"/>
            <a:ext cx="12600" cy="1085400"/>
          </a:xfrm>
          <a:prstGeom prst="straightConnector1">
            <a:avLst/>
          </a:prstGeom>
          <a:noFill/>
          <a:ln cap="flat" cmpd="sng" w="28575">
            <a:solidFill>
              <a:schemeClr val="accent4"/>
            </a:solidFill>
            <a:prstDash val="solid"/>
            <a:round/>
            <a:headEnd len="med" w="med" type="triangle"/>
            <a:tailEnd len="med" w="med" type="triangle"/>
          </a:ln>
        </p:spPr>
      </p:cxnSp>
      <p:cxnSp>
        <p:nvCxnSpPr>
          <p:cNvPr id="1627" name="Google Shape;1627;p102"/>
          <p:cNvCxnSpPr/>
          <p:nvPr/>
        </p:nvCxnSpPr>
        <p:spPr>
          <a:xfrm flipH="1" rot="10800000">
            <a:off x="6025800" y="2521150"/>
            <a:ext cx="2108700" cy="135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sp>
        <p:nvSpPr>
          <p:cNvPr id="1632" name="Google Shape;1632;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Pythagoras’ theorem with ratios</a:t>
            </a:r>
            <a:endParaRPr/>
          </a:p>
        </p:txBody>
      </p:sp>
      <p:sp>
        <p:nvSpPr>
          <p:cNvPr id="1633" name="Google Shape;1633;p103"/>
          <p:cNvSpPr txBox="1"/>
          <p:nvPr/>
        </p:nvSpPr>
        <p:spPr>
          <a:xfrm flipH="1" rot="2627">
            <a:off x="967499" y="981375"/>
            <a:ext cx="7852502"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retro TV (4 : 3 aspect ratio)</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widescreen TV (16 : 9 aspect ratio)</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ultra widescreen TV (22 : 9 aspect ratio)</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p:txBody>
      </p:sp>
      <p:graphicFrame>
        <p:nvGraphicFramePr>
          <p:cNvPr id="1634" name="Google Shape;1634;p103"/>
          <p:cNvGraphicFramePr/>
          <p:nvPr/>
        </p:nvGraphicFramePr>
        <p:xfrm>
          <a:off x="952500" y="2625531"/>
          <a:ext cx="3000000" cy="3000000"/>
        </p:xfrm>
        <a:graphic>
          <a:graphicData uri="http://schemas.openxmlformats.org/drawingml/2006/table">
            <a:tbl>
              <a:tblPr>
                <a:noFill/>
                <a:tableStyleId>{018616B7-C05B-4F4E-94F1-144584CD3DCC}</a:tableStyleId>
              </a:tblPr>
              <a:tblGrid>
                <a:gridCol w="1809750"/>
                <a:gridCol w="1809750"/>
                <a:gridCol w="1809750"/>
                <a:gridCol w="1809750"/>
              </a:tblGrid>
              <a:tr h="381000">
                <a:tc>
                  <a:txBody>
                    <a:bodyPr/>
                    <a:lstStyle/>
                    <a:p>
                      <a:pPr indent="0" lvl="0" marL="0" rtl="0" algn="ctr">
                        <a:spcBef>
                          <a:spcPts val="0"/>
                        </a:spcBef>
                        <a:spcAft>
                          <a:spcPts val="0"/>
                        </a:spcAft>
                        <a:buNone/>
                      </a:pPr>
                      <a:r>
                        <a:rPr lang="en-GB" sz="2000">
                          <a:solidFill>
                            <a:schemeClr val="lt1"/>
                          </a:solidFill>
                          <a:latin typeface="Kalam"/>
                          <a:ea typeface="Kalam"/>
                          <a:cs typeface="Kalam"/>
                          <a:sym typeface="Kalam"/>
                        </a:rPr>
                        <a:t>TV</a:t>
                      </a:r>
                      <a:endParaRPr sz="2000">
                        <a:solidFill>
                          <a:schemeClr val="lt1"/>
                        </a:solidFill>
                        <a:latin typeface="Kalam"/>
                        <a:ea typeface="Kalam"/>
                        <a:cs typeface="Kalam"/>
                        <a:sym typeface="Kalam"/>
                      </a:endParaRPr>
                    </a:p>
                  </a:txBody>
                  <a:tcPr marT="0" marB="0" marR="0" marL="0" anchor="ctr">
                    <a:solidFill>
                      <a:schemeClr val="accent5"/>
                    </a:solidFill>
                  </a:tcPr>
                </a:tc>
                <a:tc>
                  <a:txBody>
                    <a:bodyPr/>
                    <a:lstStyle/>
                    <a:p>
                      <a:pPr indent="0" lvl="0" marL="0" rtl="0" algn="ctr">
                        <a:spcBef>
                          <a:spcPts val="0"/>
                        </a:spcBef>
                        <a:spcAft>
                          <a:spcPts val="0"/>
                        </a:spcAft>
                        <a:buNone/>
                      </a:pPr>
                      <a:r>
                        <a:rPr lang="en-GB" sz="2000">
                          <a:solidFill>
                            <a:schemeClr val="lt1"/>
                          </a:solidFill>
                          <a:latin typeface="Kalam"/>
                          <a:ea typeface="Kalam"/>
                          <a:cs typeface="Kalam"/>
                          <a:sym typeface="Kalam"/>
                        </a:rPr>
                        <a:t>width</a:t>
                      </a:r>
                      <a:endParaRPr sz="2000">
                        <a:solidFill>
                          <a:schemeClr val="lt1"/>
                        </a:solidFill>
                        <a:latin typeface="Kalam"/>
                        <a:ea typeface="Kalam"/>
                        <a:cs typeface="Kalam"/>
                        <a:sym typeface="Kalam"/>
                      </a:endParaRPr>
                    </a:p>
                  </a:txBody>
                  <a:tcPr marT="0" marB="0" marR="0" marL="0" anchor="ctr">
                    <a:solidFill>
                      <a:schemeClr val="accent5"/>
                    </a:solidFill>
                  </a:tcPr>
                </a:tc>
                <a:tc>
                  <a:txBody>
                    <a:bodyPr/>
                    <a:lstStyle/>
                    <a:p>
                      <a:pPr indent="0" lvl="0" marL="0" rtl="0" algn="ctr">
                        <a:spcBef>
                          <a:spcPts val="0"/>
                        </a:spcBef>
                        <a:spcAft>
                          <a:spcPts val="0"/>
                        </a:spcAft>
                        <a:buNone/>
                      </a:pPr>
                      <a:r>
                        <a:rPr lang="en-GB" sz="2000">
                          <a:solidFill>
                            <a:schemeClr val="lt1"/>
                          </a:solidFill>
                          <a:latin typeface="Kalam"/>
                          <a:ea typeface="Kalam"/>
                          <a:cs typeface="Kalam"/>
                          <a:sym typeface="Kalam"/>
                        </a:rPr>
                        <a:t>height</a:t>
                      </a:r>
                      <a:endParaRPr sz="2000">
                        <a:solidFill>
                          <a:schemeClr val="lt1"/>
                        </a:solidFill>
                        <a:latin typeface="Kalam"/>
                        <a:ea typeface="Kalam"/>
                        <a:cs typeface="Kalam"/>
                        <a:sym typeface="Kalam"/>
                      </a:endParaRPr>
                    </a:p>
                  </a:txBody>
                  <a:tcPr marT="0" marB="0" marR="0" marL="0" anchor="ctr">
                    <a:solidFill>
                      <a:schemeClr val="accent5"/>
                    </a:solidFill>
                  </a:tcPr>
                </a:tc>
                <a:tc>
                  <a:txBody>
                    <a:bodyPr/>
                    <a:lstStyle/>
                    <a:p>
                      <a:pPr indent="0" lvl="0" marL="0" rtl="0" algn="ctr">
                        <a:spcBef>
                          <a:spcPts val="0"/>
                        </a:spcBef>
                        <a:spcAft>
                          <a:spcPts val="0"/>
                        </a:spcAft>
                        <a:buNone/>
                      </a:pPr>
                      <a:r>
                        <a:rPr lang="en-GB" sz="2000">
                          <a:solidFill>
                            <a:schemeClr val="lt1"/>
                          </a:solidFill>
                          <a:latin typeface="Kalam"/>
                          <a:ea typeface="Kalam"/>
                          <a:cs typeface="Kalam"/>
                          <a:sym typeface="Kalam"/>
                        </a:rPr>
                        <a:t>area</a:t>
                      </a:r>
                      <a:endParaRPr sz="2000">
                        <a:solidFill>
                          <a:schemeClr val="lt1"/>
                        </a:solidFill>
                        <a:latin typeface="Kalam"/>
                        <a:ea typeface="Kalam"/>
                        <a:cs typeface="Kalam"/>
                        <a:sym typeface="Kalam"/>
                      </a:endParaRPr>
                    </a:p>
                  </a:txBody>
                  <a:tcPr marT="0" marB="0" marR="0" marL="0" anchor="ctr">
                    <a:solidFill>
                      <a:schemeClr val="accent5"/>
                    </a:solidFill>
                  </a:tcPr>
                </a:tc>
              </a:tr>
              <a:tr h="381000">
                <a:tc>
                  <a:txBody>
                    <a:bodyPr/>
                    <a:lstStyle/>
                    <a:p>
                      <a:pPr indent="0" lvl="0" marL="0" rtl="0" algn="ctr">
                        <a:spcBef>
                          <a:spcPts val="0"/>
                        </a:spcBef>
                        <a:spcAft>
                          <a:spcPts val="0"/>
                        </a:spcAft>
                        <a:buNone/>
                      </a:pPr>
                      <a:r>
                        <a:rPr lang="en-GB" sz="2000">
                          <a:latin typeface="Kalam"/>
                          <a:ea typeface="Kalam"/>
                          <a:cs typeface="Kalam"/>
                          <a:sym typeface="Kalam"/>
                        </a:rPr>
                        <a:t>retro</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22.4</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16.8</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376 inches²</a:t>
                      </a:r>
                      <a:endParaRPr sz="2000">
                        <a:latin typeface="Kalam"/>
                        <a:ea typeface="Kalam"/>
                        <a:cs typeface="Kalam"/>
                        <a:sym typeface="Kalam"/>
                      </a:endParaRPr>
                    </a:p>
                  </a:txBody>
                  <a:tcPr marT="0" marB="0" marR="0" marL="0" anchor="ctr"/>
                </a:tc>
              </a:tr>
              <a:tr h="381000">
                <a:tc>
                  <a:txBody>
                    <a:bodyPr/>
                    <a:lstStyle/>
                    <a:p>
                      <a:pPr indent="0" lvl="0" marL="0" rtl="0" algn="ctr">
                        <a:spcBef>
                          <a:spcPts val="0"/>
                        </a:spcBef>
                        <a:spcAft>
                          <a:spcPts val="0"/>
                        </a:spcAft>
                        <a:buNone/>
                      </a:pPr>
                      <a:r>
                        <a:rPr lang="en-GB" sz="2000">
                          <a:latin typeface="Kalam"/>
                          <a:ea typeface="Kalam"/>
                          <a:cs typeface="Kalam"/>
                          <a:sym typeface="Kalam"/>
                        </a:rPr>
                        <a:t>widescreen</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24.4</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13.7</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335 inches²</a:t>
                      </a:r>
                      <a:endParaRPr sz="2000">
                        <a:latin typeface="Kalam"/>
                        <a:ea typeface="Kalam"/>
                        <a:cs typeface="Kalam"/>
                        <a:sym typeface="Kalam"/>
                      </a:endParaRPr>
                    </a:p>
                  </a:txBody>
                  <a:tcPr marT="0" marB="0" marR="0" marL="0" anchor="ctr"/>
                </a:tc>
              </a:tr>
              <a:tr h="381000">
                <a:tc>
                  <a:txBody>
                    <a:bodyPr/>
                    <a:lstStyle/>
                    <a:p>
                      <a:pPr indent="0" lvl="0" marL="0" rtl="0" algn="ctr">
                        <a:spcBef>
                          <a:spcPts val="0"/>
                        </a:spcBef>
                        <a:spcAft>
                          <a:spcPts val="0"/>
                        </a:spcAft>
                        <a:buNone/>
                      </a:pPr>
                      <a:r>
                        <a:rPr lang="en-GB" sz="2000">
                          <a:latin typeface="Kalam"/>
                          <a:ea typeface="Kalam"/>
                          <a:cs typeface="Kalam"/>
                          <a:sym typeface="Kalam"/>
                        </a:rPr>
                        <a:t>ultra widescreen</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25.9</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latin typeface="Kalam"/>
                          <a:ea typeface="Kalam"/>
                          <a:cs typeface="Kalam"/>
                          <a:sym typeface="Kalam"/>
                        </a:rPr>
                        <a:t>10.6</a:t>
                      </a:r>
                      <a:endParaRPr sz="2000">
                        <a:latin typeface="Kalam"/>
                        <a:ea typeface="Kalam"/>
                        <a:cs typeface="Kalam"/>
                        <a:sym typeface="Kalam"/>
                      </a:endParaRPr>
                    </a:p>
                  </a:txBody>
                  <a:tcPr marT="0" marB="0" marR="0" marL="0" anchor="ctr"/>
                </a:tc>
                <a:tc>
                  <a:txBody>
                    <a:bodyPr/>
                    <a:lstStyle/>
                    <a:p>
                      <a:pPr indent="0" lvl="0" marL="0" rtl="0" algn="ctr">
                        <a:spcBef>
                          <a:spcPts val="0"/>
                        </a:spcBef>
                        <a:spcAft>
                          <a:spcPts val="0"/>
                        </a:spcAft>
                        <a:buNone/>
                      </a:pPr>
                      <a:r>
                        <a:rPr lang="en-GB" sz="2000">
                          <a:solidFill>
                            <a:schemeClr val="dk1"/>
                          </a:solidFill>
                          <a:latin typeface="Kalam"/>
                          <a:ea typeface="Kalam"/>
                          <a:cs typeface="Kalam"/>
                          <a:sym typeface="Kalam"/>
                        </a:rPr>
                        <a:t>275 inches²</a:t>
                      </a:r>
                      <a:endParaRPr sz="2000">
                        <a:latin typeface="Kalam"/>
                        <a:ea typeface="Kalam"/>
                        <a:cs typeface="Kalam"/>
                        <a:sym typeface="Kalam"/>
                      </a:endParaRPr>
                    </a:p>
                  </a:txBody>
                  <a:tcPr marT="0" marB="0" marR="0" marL="0" anchor="ctr"/>
                </a:tc>
              </a:tr>
            </a:tbl>
          </a:graphicData>
        </a:graphic>
      </p:graphicFrame>
      <p:pic>
        <p:nvPicPr>
          <p:cNvPr id="1635" name="Google Shape;1635;p103"/>
          <p:cNvPicPr preferRelativeResize="0"/>
          <p:nvPr/>
        </p:nvPicPr>
        <p:blipFill>
          <a:blip r:embed="rId3">
            <a:alphaModFix/>
          </a:blip>
          <a:stretch>
            <a:fillRect/>
          </a:stretch>
        </p:blipFill>
        <p:spPr>
          <a:xfrm>
            <a:off x="8219349" y="2968431"/>
            <a:ext cx="396000" cy="419100"/>
          </a:xfrm>
          <a:prstGeom prst="rect">
            <a:avLst/>
          </a:prstGeom>
          <a:noFill/>
          <a:ln>
            <a:noFill/>
          </a:ln>
        </p:spPr>
      </p:pic>
      <p:sp>
        <p:nvSpPr>
          <p:cNvPr id="1636" name="Google Shape;1636;p103"/>
          <p:cNvSpPr txBox="1"/>
          <p:nvPr/>
        </p:nvSpPr>
        <p:spPr>
          <a:xfrm flipH="1" rot="2627">
            <a:off x="967499" y="4169581"/>
            <a:ext cx="7852502"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2000">
                <a:solidFill>
                  <a:schemeClr val="dk1"/>
                </a:solidFill>
                <a:latin typeface="Kalam"/>
                <a:ea typeface="Kalam"/>
                <a:cs typeface="Kalam"/>
                <a:sym typeface="Kalam"/>
              </a:rPr>
              <a:t>Even though all three TVs have a diagonal length of 28 inches, the retro TV has the screen with the largest area.</a:t>
            </a:r>
            <a:endParaRPr sz="2000">
              <a:solidFill>
                <a:schemeClr val="dk1"/>
              </a:solidFill>
              <a:latin typeface="Kalam"/>
              <a:ea typeface="Kalam"/>
              <a:cs typeface="Kalam"/>
              <a:sym typeface="Kalam"/>
            </a:endParaRPr>
          </a:p>
        </p:txBody>
      </p:sp>
      <p:sp>
        <p:nvSpPr>
          <p:cNvPr id="1637" name="Google Shape;1637;p103"/>
          <p:cNvSpPr txBox="1"/>
          <p:nvPr/>
        </p:nvSpPr>
        <p:spPr>
          <a:xfrm flipH="1" rot="2671">
            <a:off x="323999" y="640016"/>
            <a:ext cx="8496003" cy="1970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3) Jacob sees three TVs for sale, each having a 28 inch screen.</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ctr">
              <a:spcBef>
                <a:spcPts val="0"/>
              </a:spcBef>
              <a:spcAft>
                <a:spcPts val="0"/>
              </a:spcAft>
              <a:buClr>
                <a:schemeClr val="dk1"/>
              </a:buClr>
              <a:buSzPts val="1800"/>
              <a:buFont typeface="Arial"/>
              <a:buNone/>
            </a:pPr>
            <a:r>
              <a:rPr lang="en-GB" sz="2000">
                <a:solidFill>
                  <a:schemeClr val="dk1"/>
                </a:solidFill>
                <a:latin typeface="Kalam"/>
                <a:ea typeface="Kalam"/>
                <a:cs typeface="Kalam"/>
                <a:sym typeface="Kalam"/>
              </a:rPr>
              <a:t>s</a:t>
            </a:r>
            <a:r>
              <a:rPr lang="en-GB" sz="2000">
                <a:solidFill>
                  <a:schemeClr val="dk1"/>
                </a:solidFill>
                <a:latin typeface="Kalam"/>
                <a:ea typeface="Kalam"/>
                <a:cs typeface="Kalam"/>
                <a:sym typeface="Kalam"/>
              </a:rPr>
              <a:t>ummary </a:t>
            </a:r>
            <a:r>
              <a:rPr lang="en-GB" sz="2000">
                <a:solidFill>
                  <a:schemeClr val="dk1"/>
                </a:solidFill>
                <a:latin typeface="Kalam"/>
                <a:ea typeface="Kalam"/>
                <a:cs typeface="Kalam"/>
                <a:sym typeface="Kalam"/>
              </a:rPr>
              <a:t>table of solutions</a:t>
            </a:r>
            <a:endParaRPr sz="2000">
              <a:solidFill>
                <a:schemeClr val="dk1"/>
              </a:solidFill>
              <a:latin typeface="Kalam"/>
              <a:ea typeface="Kalam"/>
              <a:cs typeface="Kalam"/>
              <a:sym typeface="Kala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1" name="Shape 1641"/>
        <p:cNvGrpSpPr/>
        <p:nvPr/>
      </p:nvGrpSpPr>
      <p:grpSpPr>
        <a:xfrm>
          <a:off x="0" y="0"/>
          <a:ext cx="0" cy="0"/>
          <a:chOff x="0" y="0"/>
          <a:chExt cx="0" cy="0"/>
        </a:xfrm>
      </p:grpSpPr>
      <p:sp>
        <p:nvSpPr>
          <p:cNvPr id="1642" name="Google Shape;1642;p104"/>
          <p:cNvSpPr txBox="1"/>
          <p:nvPr/>
        </p:nvSpPr>
        <p:spPr>
          <a:xfrm flipH="1" rot="2671">
            <a:off x="323999" y="932446"/>
            <a:ext cx="8496003" cy="3432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Whilst Pythagoras’ theorem can be helpful in finding the length of a side of a right-angled triangle when given the lengths of two other sides, it may not be necessary to use it, depending on whether the unknown value you are trying to find is an angle, an area, or a perimeter.</a:t>
            </a:r>
            <a:endParaRPr sz="1800">
              <a:solidFill>
                <a:schemeClr val="dk1"/>
              </a:solidFill>
              <a:latin typeface="Lexend"/>
              <a:ea typeface="Lexend"/>
              <a:cs typeface="Lexend"/>
              <a:sym typeface="Lexend"/>
            </a:endParaRPr>
          </a:p>
          <a:p>
            <a:pPr indent="0" lvl="0" marL="0" rtl="0" algn="l">
              <a:lnSpc>
                <a:spcPct val="100000"/>
              </a:lnSpc>
              <a:spcBef>
                <a:spcPts val="1000"/>
              </a:spcBef>
              <a:spcAft>
                <a:spcPts val="0"/>
              </a:spcAft>
              <a:buClr>
                <a:schemeClr val="dk1"/>
              </a:buClr>
              <a:buSzPts val="1800"/>
              <a:buFont typeface="Arial"/>
              <a:buNone/>
            </a:pPr>
            <a:r>
              <a:rPr lang="en-GB" sz="1800">
                <a:solidFill>
                  <a:schemeClr val="dk1"/>
                </a:solidFill>
                <a:latin typeface="Lexend"/>
                <a:ea typeface="Lexend"/>
                <a:cs typeface="Lexend"/>
                <a:sym typeface="Lexend"/>
              </a:rPr>
              <a:t>Pythagoras’ theorem can be used to find the length of a side when comparing two similar, right-angled triangles.</a:t>
            </a:r>
            <a:endParaRPr sz="1800">
              <a:solidFill>
                <a:schemeClr val="dk1"/>
              </a:solidFill>
              <a:latin typeface="Lexend"/>
              <a:ea typeface="Lexend"/>
              <a:cs typeface="Lexend"/>
              <a:sym typeface="Lexend"/>
            </a:endParaRPr>
          </a:p>
          <a:p>
            <a:pPr indent="0" lvl="0" marL="0" rtl="0" algn="l">
              <a:lnSpc>
                <a:spcPct val="100000"/>
              </a:lnSpc>
              <a:spcBef>
                <a:spcPts val="1000"/>
              </a:spcBef>
              <a:spcAft>
                <a:spcPts val="0"/>
              </a:spcAft>
              <a:buClr>
                <a:schemeClr val="dk1"/>
              </a:buClr>
              <a:buSzPts val="1800"/>
              <a:buFont typeface="Arial"/>
              <a:buNone/>
            </a:pPr>
            <a:r>
              <a:rPr lang="en-GB" sz="1800">
                <a:solidFill>
                  <a:schemeClr val="dk1"/>
                </a:solidFill>
                <a:latin typeface="Lexend"/>
                <a:ea typeface="Lexend"/>
                <a:cs typeface="Lexend"/>
                <a:sym typeface="Lexend"/>
              </a:rPr>
              <a:t>You can use Pythagoras’ theorem to find the shortest distance between two coordinates, or the perimeter of a shapes whose vertices lie on a coordinate grid.</a:t>
            </a:r>
            <a:endParaRPr sz="1800">
              <a:solidFill>
                <a:schemeClr val="dk1"/>
              </a:solidFill>
              <a:latin typeface="Lexend"/>
              <a:ea typeface="Lexend"/>
              <a:cs typeface="Lexend"/>
              <a:sym typeface="Lexend"/>
            </a:endParaRPr>
          </a:p>
          <a:p>
            <a:pPr indent="0" lvl="0" marL="0" rtl="0" algn="l">
              <a:lnSpc>
                <a:spcPct val="100000"/>
              </a:lnSpc>
              <a:spcBef>
                <a:spcPts val="1000"/>
              </a:spcBef>
              <a:spcAft>
                <a:spcPts val="1000"/>
              </a:spcAft>
              <a:buClr>
                <a:schemeClr val="dk1"/>
              </a:buClr>
              <a:buSzPts val="1800"/>
              <a:buFont typeface="Arial"/>
              <a:buNone/>
            </a:pPr>
            <a:r>
              <a:rPr lang="en-GB" sz="1800">
                <a:solidFill>
                  <a:schemeClr val="dk1"/>
                </a:solidFill>
                <a:latin typeface="Lexend"/>
                <a:ea typeface="Lexend"/>
                <a:cs typeface="Lexend"/>
                <a:sym typeface="Lexend"/>
              </a:rPr>
              <a:t>Pythagoras’ theorem can be used alongside the aspect ratio of TVs in order to calculate the width and height of the TV screen, given its diagonal length.</a:t>
            </a:r>
            <a:endParaRPr sz="1800">
              <a:solidFill>
                <a:schemeClr val="dk1"/>
              </a:solidFill>
              <a:latin typeface="Lexend"/>
              <a:ea typeface="Lexend"/>
              <a:cs typeface="Lexend"/>
              <a:sym typeface="Lexend"/>
            </a:endParaRPr>
          </a:p>
        </p:txBody>
      </p:sp>
      <p:sp>
        <p:nvSpPr>
          <p:cNvPr id="1643" name="Google Shape;1643;p104"/>
          <p:cNvSpPr txBox="1"/>
          <p:nvPr>
            <p:ph type="title"/>
          </p:nvPr>
        </p:nvSpPr>
        <p:spPr>
          <a:xfrm>
            <a:off x="1684800" y="438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similarity and Pythagoras’ theorem</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7" name="Shape 1647"/>
        <p:cNvGrpSpPr/>
        <p:nvPr/>
      </p:nvGrpSpPr>
      <p:grpSpPr>
        <a:xfrm>
          <a:off x="0" y="0"/>
          <a:ext cx="0" cy="0"/>
          <a:chOff x="0" y="0"/>
          <a:chExt cx="0" cy="0"/>
        </a:xfrm>
      </p:grpSpPr>
      <p:sp>
        <p:nvSpPr>
          <p:cNvPr id="1648" name="Google Shape;1648;p105"/>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649" name="Google Shape;1649;p105"/>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