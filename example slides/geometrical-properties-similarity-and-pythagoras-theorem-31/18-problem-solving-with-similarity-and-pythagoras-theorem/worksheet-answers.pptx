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950D5-A26D-4248-8BDA-77C434CC96B0}">
  <a:tblStyle styleId="{2D6950D5-A26D-4248-8BDA-77C434CC96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39f97f95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39f97f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42d656219_0_21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42d65621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similarity and Pythagoras’ theorem</a:t>
            </a:r>
            <a:endParaRPr/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5636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Pythagoras’ theorem with coordinates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0" y="2037920"/>
            <a:ext cx="3327402" cy="32483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20"/>
          <p:cNvGrpSpPr/>
          <p:nvPr/>
        </p:nvGrpSpPr>
        <p:grpSpPr>
          <a:xfrm>
            <a:off x="1126612" y="2671805"/>
            <a:ext cx="386448" cy="305859"/>
            <a:chOff x="1332175" y="2321602"/>
            <a:chExt cx="496273" cy="392781"/>
          </a:xfrm>
        </p:grpSpPr>
        <p:sp>
          <p:nvSpPr>
            <p:cNvPr id="176" name="Google Shape;176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" name="Google Shape;178;p20"/>
          <p:cNvSpPr/>
          <p:nvPr/>
        </p:nvSpPr>
        <p:spPr>
          <a:xfrm>
            <a:off x="2643986" y="1987101"/>
            <a:ext cx="244200" cy="2442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1583891" y="3586774"/>
            <a:ext cx="386448" cy="305859"/>
            <a:chOff x="1332175" y="2321602"/>
            <a:chExt cx="496273" cy="392781"/>
          </a:xfrm>
        </p:grpSpPr>
        <p:sp>
          <p:nvSpPr>
            <p:cNvPr id="180" name="Google Shape;180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3417402" y="3585008"/>
            <a:ext cx="386448" cy="305859"/>
            <a:chOff x="1332175" y="2321602"/>
            <a:chExt cx="496273" cy="392781"/>
          </a:xfrm>
        </p:grpSpPr>
        <p:sp>
          <p:nvSpPr>
            <p:cNvPr id="183" name="Google Shape;183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2044136" y="4730977"/>
            <a:ext cx="386448" cy="305859"/>
            <a:chOff x="1332175" y="2321602"/>
            <a:chExt cx="496273" cy="392781"/>
          </a:xfrm>
        </p:grpSpPr>
        <p:sp>
          <p:nvSpPr>
            <p:cNvPr id="186" name="Google Shape;186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" name="Google Shape;188;p20"/>
          <p:cNvSpPr txBox="1"/>
          <p:nvPr/>
        </p:nvSpPr>
        <p:spPr>
          <a:xfrm flipH="1" rot="2243">
            <a:off x="3873900" y="2090996"/>
            <a:ext cx="32181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Pythagoras’ theorem to find the shortest distance (to 1 d.p) between points: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 flipH="1" rot="2400">
            <a:off x="4211839" y="2756087"/>
            <a:ext cx="128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A and 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and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B and 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 and 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B and 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 flipH="1" rot="2400">
            <a:off x="5250900" y="2756065"/>
            <a:ext cx="128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6.7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4.5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8.1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12.2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flipH="1" rot="3884">
            <a:off x="2749858" y="2108020"/>
            <a:ext cx="26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 flipH="1" rot="10800000">
            <a:off x="1390075" y="2108299"/>
            <a:ext cx="1377900" cy="68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rot="10800000">
            <a:off x="1391086" y="2791497"/>
            <a:ext cx="457500" cy="91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21972" t="0"/>
          <a:stretch/>
        </p:blipFill>
        <p:spPr>
          <a:xfrm>
            <a:off x="476400" y="5382500"/>
            <a:ext cx="4005527" cy="324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039738" y="60276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723918" y="557073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493920" y="671063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184578" y="6253711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flipH="1">
            <a:off x="1161204" y="5689591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 flipH="1">
            <a:off x="1618382" y="6375348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 flipH="1" rot="5400000">
            <a:off x="1732574" y="5803351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 flipH="1" rot="5400000">
            <a:off x="1046817" y="6260528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 txBox="1"/>
          <p:nvPr/>
        </p:nvSpPr>
        <p:spPr>
          <a:xfrm rot="-2778">
            <a:off x="1355296" y="6152937"/>
            <a:ext cx="742500" cy="18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039514" y="80835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325347" y="80835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184055" y="6940336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rot="8100000">
            <a:off x="1493065" y="7395294"/>
            <a:ext cx="1620689" cy="162068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 rot="-1910">
            <a:off x="1764635" y="7683260"/>
            <a:ext cx="10797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isosceles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866303" y="5795397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237813" y="602767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552069" y="693958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2988852" y="5920687"/>
            <a:ext cx="1371758" cy="1144232"/>
            <a:chOff x="4806977" y="1263653"/>
            <a:chExt cx="1761600" cy="1469413"/>
          </a:xfrm>
        </p:grpSpPr>
        <p:cxnSp>
          <p:nvCxnSpPr>
            <p:cNvPr id="213" name="Google Shape;213;p20"/>
            <p:cNvCxnSpPr/>
            <p:nvPr/>
          </p:nvCxnSpPr>
          <p:spPr>
            <a:xfrm rot="10800000">
              <a:off x="4807092" y="1263653"/>
              <a:ext cx="1761300" cy="298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5687777" y="1561866"/>
              <a:ext cx="880800" cy="1171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4806977" y="1263666"/>
              <a:ext cx="880800" cy="1469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6" name="Google Shape;216;p20"/>
          <p:cNvSpPr txBox="1"/>
          <p:nvPr/>
        </p:nvSpPr>
        <p:spPr>
          <a:xfrm rot="-1910">
            <a:off x="3247886" y="5477126"/>
            <a:ext cx="10797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scalene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 rot="1350">
            <a:off x="4800000" y="5947172"/>
            <a:ext cx="22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square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 × 3.60555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14.42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 rot="1350">
            <a:off x="4800000" y="6804996"/>
            <a:ext cx="22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isosceles triangle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 × 7.071 + 10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24.14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 flipH="1" rot="2250">
            <a:off x="4800000" y="5428575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Calculate the perimeter of each shape (to  2 d.p.).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flipH="1" rot="1326">
            <a:off x="4759200" y="7662813"/>
            <a:ext cx="233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scalene triangle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5.83095 + 5 + 6.08276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16.91 units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 rot="636">
            <a:off x="535800" y="9609754"/>
            <a:ext cx="64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many possible solutions, such as a triangle with vertices (4, 6), (3, 12) and (10, 8)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 flipH="1" rot="1117">
            <a:off x="549750" y="8915512"/>
            <a:ext cx="64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down three coordinates whose vertices make a triangle with a perimeter of between 20 and 22 units in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 this is correct using Pythagoras’ theorem.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similarity and Pythagoras’ theorem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 flipH="1" rot="2575">
            <a:off x="476481" y="1181711"/>
            <a:ext cx="36051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Each of these three widescreen TVs have width and height in the ratio 16 : 9.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6475" y="725450"/>
            <a:ext cx="6318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Pythagoras’ theorem with ratios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 flipH="1" rot="2790">
            <a:off x="476480" y="1683344"/>
            <a:ext cx="3327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each sentence by choosing the appropriate word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 flipH="1" rot="2959">
            <a:off x="656913" y="3117376"/>
            <a:ext cx="3834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from screen A to B is 1.5.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flipH="1" rot="2959">
            <a:off x="656913" y="2179175"/>
            <a:ext cx="3834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of the TVs is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the others.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flipH="1" rot="2901">
            <a:off x="656691" y="2539132"/>
            <a:ext cx="39102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is because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are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each other.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9241" y="2685869"/>
            <a:ext cx="937800" cy="2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proportion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078431" y="2469551"/>
            <a:ext cx="765300" cy="2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width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866650" y="2111550"/>
            <a:ext cx="937800" cy="2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similar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3249991" y="2469551"/>
            <a:ext cx="765300" cy="2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height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840700" y="3043101"/>
            <a:ext cx="989700" cy="2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scale factor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 flipH="1" rot="2690">
            <a:off x="476449" y="5280179"/>
            <a:ext cx="4218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calculate the width of screens A and C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 flipH="1" rot="2690">
            <a:off x="464924" y="5488867"/>
            <a:ext cx="4218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screen A: 10.459 ÷ 1.5 = 6.97 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screen C: 10.459 × 2.5 = 26.15 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1" name="Google Shape;241;p21"/>
          <p:cNvGraphicFramePr/>
          <p:nvPr/>
        </p:nvGraphicFramePr>
        <p:xfrm>
          <a:off x="594663" y="404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{2D6950D5-A26D-4248-8BDA-77C434CC96B0}</a:tableStyleId>
              </a:tblPr>
              <a:tblGrid>
                <a:gridCol w="1351175"/>
                <a:gridCol w="1351175"/>
                <a:gridCol w="1351175"/>
              </a:tblGrid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diagonal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18.358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10.459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5.883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1"/>
          <p:cNvSpPr txBox="1"/>
          <p:nvPr/>
        </p:nvSpPr>
        <p:spPr>
          <a:xfrm flipH="1" rot="2790">
            <a:off x="476424" y="3469004"/>
            <a:ext cx="3327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By using Pythagoras’ theorem, complete the ratio table for screen B (3 d.p.)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 flipH="1" rot="2977">
            <a:off x="4500907" y="6536499"/>
            <a:ext cx="13857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TV cabinet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 flipH="1" rot="2604">
            <a:off x="476427" y="6734081"/>
            <a:ext cx="3564601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Izzy wants to buy this ultra widescreen TV, which has a width and height in the ratio 22 : 9.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TV has a 35 inch screen, and a stand that is 2 inches high.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Will the TV fit inside her TV cabinet?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313" y="6206347"/>
            <a:ext cx="487237" cy="5790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1"/>
          <p:cNvGrpSpPr/>
          <p:nvPr/>
        </p:nvGrpSpPr>
        <p:grpSpPr>
          <a:xfrm>
            <a:off x="4465971" y="6753305"/>
            <a:ext cx="2626059" cy="1605462"/>
            <a:chOff x="1284100" y="2609651"/>
            <a:chExt cx="3367174" cy="2058549"/>
          </a:xfrm>
        </p:grpSpPr>
        <p:grpSp>
          <p:nvGrpSpPr>
            <p:cNvPr id="247" name="Google Shape;247;p21"/>
            <p:cNvGrpSpPr/>
            <p:nvPr/>
          </p:nvGrpSpPr>
          <p:grpSpPr>
            <a:xfrm flipH="1">
              <a:off x="4009475" y="2610450"/>
              <a:ext cx="515450" cy="1735400"/>
              <a:chOff x="1321280" y="2610450"/>
              <a:chExt cx="515450" cy="1735400"/>
            </a:xfrm>
          </p:grpSpPr>
          <p:sp>
            <p:nvSpPr>
              <p:cNvPr id="248" name="Google Shape;248;p21"/>
              <p:cNvSpPr/>
              <p:nvPr/>
            </p:nvSpPr>
            <p:spPr>
              <a:xfrm>
                <a:off x="1566580" y="2621575"/>
                <a:ext cx="270150" cy="1673875"/>
              </a:xfrm>
              <a:custGeom>
                <a:rect b="b" l="l" r="r" t="t"/>
                <a:pathLst>
                  <a:path extrusionOk="0" h="66955" w="10806">
                    <a:moveTo>
                      <a:pt x="0" y="0"/>
                    </a:moveTo>
                    <a:lnTo>
                      <a:pt x="10330" y="10427"/>
                    </a:lnTo>
                    <a:lnTo>
                      <a:pt x="10806" y="66386"/>
                    </a:lnTo>
                    <a:lnTo>
                      <a:pt x="1216" y="669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249" name="Google Shape;249;p21"/>
              <p:cNvPicPr preferRelativeResize="0"/>
              <p:nvPr/>
            </p:nvPicPr>
            <p:blipFill rotWithShape="1">
              <a:blip r:embed="rId4">
                <a:alphaModFix/>
              </a:blip>
              <a:srcRect b="33552" l="7441" r="20241" t="57018"/>
              <a:stretch/>
            </p:blipFill>
            <p:spPr>
              <a:xfrm flipH="1" rot="5400000">
                <a:off x="612330" y="3319400"/>
                <a:ext cx="1735400" cy="31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0" name="Google Shape;250;p21"/>
            <p:cNvGrpSpPr/>
            <p:nvPr/>
          </p:nvGrpSpPr>
          <p:grpSpPr>
            <a:xfrm>
              <a:off x="1321275" y="2609776"/>
              <a:ext cx="515450" cy="1736075"/>
              <a:chOff x="1321275" y="2609776"/>
              <a:chExt cx="515450" cy="1736075"/>
            </a:xfrm>
          </p:grpSpPr>
          <p:sp>
            <p:nvSpPr>
              <p:cNvPr id="251" name="Google Shape;251;p21"/>
              <p:cNvSpPr/>
              <p:nvPr/>
            </p:nvSpPr>
            <p:spPr>
              <a:xfrm>
                <a:off x="1574275" y="2643625"/>
                <a:ext cx="262450" cy="1651825"/>
              </a:xfrm>
              <a:custGeom>
                <a:rect b="b" l="l" r="r" t="t"/>
                <a:pathLst>
                  <a:path extrusionOk="0" h="66073" w="10498">
                    <a:moveTo>
                      <a:pt x="0" y="0"/>
                    </a:moveTo>
                    <a:lnTo>
                      <a:pt x="10022" y="9545"/>
                    </a:lnTo>
                    <a:lnTo>
                      <a:pt x="10498" y="65504"/>
                    </a:lnTo>
                    <a:lnTo>
                      <a:pt x="908" y="6607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252" name="Google Shape;252;p21"/>
              <p:cNvPicPr preferRelativeResize="0"/>
              <p:nvPr/>
            </p:nvPicPr>
            <p:blipFill rotWithShape="1">
              <a:blip r:embed="rId4">
                <a:alphaModFix/>
              </a:blip>
              <a:srcRect b="33552" l="7444" r="20206" t="57018"/>
              <a:stretch/>
            </p:blipFill>
            <p:spPr>
              <a:xfrm flipH="1" rot="5400000">
                <a:off x="611988" y="3319063"/>
                <a:ext cx="1736075" cy="31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3" name="Google Shape;253;p21"/>
            <p:cNvPicPr preferRelativeResize="0"/>
            <p:nvPr/>
          </p:nvPicPr>
          <p:blipFill rotWithShape="1">
            <a:blip r:embed="rId4">
              <a:alphaModFix/>
            </a:blip>
            <a:srcRect b="23623" l="0" r="0" t="54811"/>
            <a:stretch/>
          </p:blipFill>
          <p:spPr>
            <a:xfrm>
              <a:off x="1284100" y="3942025"/>
              <a:ext cx="3367174" cy="726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1"/>
            <p:cNvPicPr preferRelativeResize="0"/>
            <p:nvPr/>
          </p:nvPicPr>
          <p:blipFill rotWithShape="1">
            <a:blip r:embed="rId4">
              <a:alphaModFix/>
            </a:blip>
            <a:srcRect b="33707" l="0" r="0" t="54812"/>
            <a:stretch/>
          </p:blipFill>
          <p:spPr>
            <a:xfrm flipH="1" rot="10800000">
              <a:off x="1284100" y="2609651"/>
              <a:ext cx="3367174" cy="3865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55" name="Google Shape;255;p21"/>
          <p:cNvGraphicFramePr/>
          <p:nvPr/>
        </p:nvGraphicFramePr>
        <p:xfrm>
          <a:off x="518463" y="823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{2D6950D5-A26D-4248-8BDA-77C434CC96B0}</a:tableStyleId>
              </a:tblPr>
              <a:tblGrid>
                <a:gridCol w="1093200"/>
                <a:gridCol w="1093200"/>
                <a:gridCol w="1093200"/>
              </a:tblGrid>
              <a:tr h="28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diagonal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23.77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32.39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13.25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6" name="Google Shape;256;p21"/>
          <p:cNvGrpSpPr/>
          <p:nvPr/>
        </p:nvGrpSpPr>
        <p:grpSpPr>
          <a:xfrm flipH="1" rot="10800000">
            <a:off x="4889501" y="7374127"/>
            <a:ext cx="1710369" cy="303525"/>
            <a:chOff x="1023355" y="2663702"/>
            <a:chExt cx="679500" cy="389184"/>
          </a:xfrm>
        </p:grpSpPr>
        <p:cxnSp>
          <p:nvCxnSpPr>
            <p:cNvPr id="257" name="Google Shape;257;p21"/>
            <p:cNvCxnSpPr/>
            <p:nvPr/>
          </p:nvCxnSpPr>
          <p:spPr>
            <a:xfrm rot="10800000">
              <a:off x="1363105" y="2323952"/>
              <a:ext cx="0" cy="679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8" name="Google Shape;258;p21"/>
            <p:cNvSpPr txBox="1"/>
            <p:nvPr/>
          </p:nvSpPr>
          <p:spPr>
            <a:xfrm flipH="1" rot="10800000">
              <a:off x="1023357" y="2860287"/>
              <a:ext cx="271500" cy="1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1"/>
          <p:cNvGrpSpPr/>
          <p:nvPr/>
        </p:nvGrpSpPr>
        <p:grpSpPr>
          <a:xfrm flipH="1" rot="-5400000">
            <a:off x="5729313" y="6984029"/>
            <a:ext cx="865071" cy="874390"/>
            <a:chOff x="1023355" y="2494921"/>
            <a:chExt cx="679500" cy="1035639"/>
          </a:xfrm>
        </p:grpSpPr>
        <p:cxnSp>
          <p:nvCxnSpPr>
            <p:cNvPr id="260" name="Google Shape;260;p21"/>
            <p:cNvCxnSpPr/>
            <p:nvPr/>
          </p:nvCxnSpPr>
          <p:spPr>
            <a:xfrm rot="10800000">
              <a:off x="1363105" y="2155171"/>
              <a:ext cx="0" cy="679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1" name="Google Shape;261;p21"/>
            <p:cNvSpPr txBox="1"/>
            <p:nvPr/>
          </p:nvSpPr>
          <p:spPr>
            <a:xfrm flipH="1" rot="-5400000">
              <a:off x="656721" y="2969260"/>
              <a:ext cx="1004700" cy="1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2" name="Google Shape;262;p21"/>
          <p:cNvSpPr txBox="1"/>
          <p:nvPr/>
        </p:nvSpPr>
        <p:spPr>
          <a:xfrm flipH="1" rot="2762">
            <a:off x="4104925" y="8355782"/>
            <a:ext cx="2987101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No, the TV will not fit in the cabinet.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Whilst the screen is less than the width and height of the cabinet, the TV’s 2 inch stand makes the TV too tall.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704243" y="1028559"/>
            <a:ext cx="1563000" cy="1095300"/>
          </a:xfrm>
          <a:prstGeom prst="roundRect">
            <a:avLst>
              <a:gd fmla="val 16667" name="adj"/>
            </a:avLst>
          </a:prstGeom>
          <a:noFill/>
          <a:ln cap="flat" cmpd="sng" w="22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25" lIns="72825" spcFirstLastPara="1" rIns="72825" wrap="square" tIns="7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5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548334" y="1025794"/>
            <a:ext cx="967800" cy="678000"/>
          </a:xfrm>
          <a:prstGeom prst="roundRect">
            <a:avLst>
              <a:gd fmla="val 16667" name="adj"/>
            </a:avLst>
          </a:prstGeom>
          <a:noFill/>
          <a:ln cap="flat" cmpd="sng" w="22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25" lIns="72825" spcFirstLastPara="1" rIns="72825" wrap="square" tIns="7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5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172659" y="2683757"/>
            <a:ext cx="1868100" cy="1264500"/>
          </a:xfrm>
          <a:prstGeom prst="roundRect">
            <a:avLst>
              <a:gd fmla="val 16667" name="adj"/>
            </a:avLst>
          </a:prstGeom>
          <a:noFill/>
          <a:ln cap="flat" cmpd="sng" w="22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825" lIns="72825" spcFirstLastPara="1" rIns="72825" wrap="square" tIns="72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5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>
            <a:off x="4556731" y="1076708"/>
            <a:ext cx="967800" cy="605700"/>
          </a:xfrm>
          <a:prstGeom prst="straightConnector1">
            <a:avLst/>
          </a:prstGeom>
          <a:noFill/>
          <a:ln cap="flat" cmpd="sng" w="22750">
            <a:solidFill>
              <a:srgbClr val="D02AA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8" name="Google Shape;268;p21"/>
          <p:cNvSpPr txBox="1"/>
          <p:nvPr/>
        </p:nvSpPr>
        <p:spPr>
          <a:xfrm flipH="1" rot="1921345">
            <a:off x="4778048" y="1169651"/>
            <a:ext cx="749079" cy="244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4"/>
              <a:buFont typeface="Arial"/>
              <a:buNone/>
            </a:pPr>
            <a:r>
              <a:rPr lang="en-GB" sz="143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inches</a:t>
            </a:r>
            <a:endParaRPr sz="1433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9" name="Google Shape;269;p21"/>
          <p:cNvGrpSpPr/>
          <p:nvPr/>
        </p:nvGrpSpPr>
        <p:grpSpPr>
          <a:xfrm>
            <a:off x="5763712" y="997322"/>
            <a:ext cx="1471365" cy="1023696"/>
            <a:chOff x="6909850" y="725394"/>
            <a:chExt cx="1215000" cy="845331"/>
          </a:xfrm>
        </p:grpSpPr>
        <p:cxnSp>
          <p:nvCxnSpPr>
            <p:cNvPr id="270" name="Google Shape;270;p21"/>
            <p:cNvCxnSpPr/>
            <p:nvPr/>
          </p:nvCxnSpPr>
          <p:spPr>
            <a:xfrm>
              <a:off x="6909850" y="810225"/>
              <a:ext cx="1215000" cy="760500"/>
            </a:xfrm>
            <a:prstGeom prst="straightConnector1">
              <a:avLst/>
            </a:prstGeom>
            <a:noFill/>
            <a:ln cap="flat" cmpd="sng" w="22750">
              <a:solidFill>
                <a:srgbClr val="D02AA7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1" name="Google Shape;271;p21"/>
            <p:cNvSpPr txBox="1"/>
            <p:nvPr/>
          </p:nvSpPr>
          <p:spPr>
            <a:xfrm flipH="1" rot="1921659">
              <a:off x="7045456" y="992215"/>
              <a:ext cx="1064058" cy="201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34"/>
                <a:buFont typeface="Arial"/>
                <a:buNone/>
              </a:pPr>
              <a:r>
                <a:rPr lang="en-GB" sz="1433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inches</a:t>
              </a:r>
              <a:endParaRPr sz="143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5196769" y="2643739"/>
            <a:ext cx="1817640" cy="1264615"/>
            <a:chOff x="6909850" y="725394"/>
            <a:chExt cx="1215000" cy="845331"/>
          </a:xfrm>
        </p:grpSpPr>
        <p:cxnSp>
          <p:nvCxnSpPr>
            <p:cNvPr id="273" name="Google Shape;273;p21"/>
            <p:cNvCxnSpPr/>
            <p:nvPr/>
          </p:nvCxnSpPr>
          <p:spPr>
            <a:xfrm>
              <a:off x="6909850" y="810225"/>
              <a:ext cx="1215000" cy="760500"/>
            </a:xfrm>
            <a:prstGeom prst="straightConnector1">
              <a:avLst/>
            </a:prstGeom>
            <a:noFill/>
            <a:ln cap="flat" cmpd="sng" w="22750">
              <a:solidFill>
                <a:srgbClr val="D02AA7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4" name="Google Shape;274;p21"/>
            <p:cNvSpPr txBox="1"/>
            <p:nvPr/>
          </p:nvSpPr>
          <p:spPr>
            <a:xfrm flipH="1" rot="1921659">
              <a:off x="7045456" y="992215"/>
              <a:ext cx="1064058" cy="201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34"/>
                <a:buFont typeface="Arial"/>
                <a:buNone/>
              </a:pPr>
              <a:r>
                <a:rPr lang="en-GB" sz="1433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30 inches</a:t>
              </a:r>
              <a:endParaRPr sz="143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5" name="Google Shape;275;p21"/>
          <p:cNvSpPr txBox="1"/>
          <p:nvPr/>
        </p:nvSpPr>
        <p:spPr>
          <a:xfrm flipH="1" rot="2254">
            <a:off x="4582685" y="1890920"/>
            <a:ext cx="915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4"/>
              <a:buFont typeface="Arial"/>
              <a:buNone/>
            </a:pPr>
            <a:r>
              <a:rPr lang="en-GB" sz="1433">
                <a:latin typeface="Lexend"/>
                <a:ea typeface="Lexend"/>
                <a:cs typeface="Lexend"/>
                <a:sym typeface="Lexend"/>
              </a:rPr>
              <a:t>screen A</a:t>
            </a:r>
            <a:endParaRPr sz="143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 flipH="1" rot="2254">
            <a:off x="6047036" y="2313623"/>
            <a:ext cx="915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4"/>
              <a:buFont typeface="Arial"/>
              <a:buNone/>
            </a:pPr>
            <a:r>
              <a:rPr lang="en-GB" sz="1433">
                <a:latin typeface="Lexend"/>
                <a:ea typeface="Lexend"/>
                <a:cs typeface="Lexend"/>
                <a:sym typeface="Lexend"/>
              </a:rPr>
              <a:t>screen B</a:t>
            </a:r>
            <a:endParaRPr sz="143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 flipH="1" rot="2254">
            <a:off x="5034332" y="3976404"/>
            <a:ext cx="915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4"/>
              <a:buFont typeface="Arial"/>
              <a:buNone/>
            </a:pPr>
            <a:r>
              <a:rPr lang="en-GB" sz="1433">
                <a:latin typeface="Lexend"/>
                <a:ea typeface="Lexend"/>
                <a:cs typeface="Lexend"/>
                <a:sym typeface="Lexend"/>
              </a:rPr>
              <a:t>screen C</a:t>
            </a:r>
            <a:endParaRPr sz="1433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3" name="Google Shape;28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similarity and Pythagoras’ theorem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86" name="Google Shape;2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4695" y="3347327"/>
            <a:ext cx="305054" cy="322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 flipH="1" rot="2557">
            <a:off x="1042799" y="1374487"/>
            <a:ext cx="6049202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retro TV (4 : 3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widescreen TV (16 : 9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ultra widescreen TV (22 : 9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8" name="Google Shape;288;p22"/>
          <p:cNvGraphicFramePr/>
          <p:nvPr/>
        </p:nvGraphicFramePr>
        <p:xfrm>
          <a:off x="447900" y="2986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{2D6950D5-A26D-4248-8BDA-77C434CC96B0}</a:tableStyleId>
              </a:tblPr>
              <a:tblGrid>
                <a:gridCol w="1512300"/>
                <a:gridCol w="1512300"/>
                <a:gridCol w="1512300"/>
                <a:gridCol w="151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TV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width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height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area</a:t>
                      </a:r>
                      <a:endParaRPr b="1"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retro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376 inches²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widescreen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13.7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335 inches²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ultra widescreen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275 inches²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22"/>
          <p:cNvSpPr txBox="1"/>
          <p:nvPr/>
        </p:nvSpPr>
        <p:spPr>
          <a:xfrm flipH="1" rot="2557">
            <a:off x="471599" y="4708665"/>
            <a:ext cx="60492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though all three TVs have a diagonal length of 28 inches, the retro TV has the screen with the largest area.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 flipH="1" rot="2679">
            <a:off x="507599" y="1004870"/>
            <a:ext cx="6544802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sees three TVs for sale, each having a 28 inch screen.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wants to buy the TV whose screen has the largest area.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TV should he buy?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summary table of solutions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