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5143500"/>
  <p:notesSz cx="6858000" cy="9144000"/>
  <p:embeddedFontLst>
    <p:embeddedFont>
      <p:font typeface="Lexend" panose="00000000000000000000"/>
      <p:regular r:id="rId47"/>
    </p:embeddedFont>
    <p:embeddedFont>
      <p:font typeface="Lexend Medium" panose="00000000000000000000"/>
      <p:regular r:id="rId48"/>
    </p:embeddedFont>
    <p:embeddedFont>
      <p:font typeface="Kalam" panose="02000000000000000000"/>
      <p:regular r:id="rId49"/>
    </p:embeddedFont>
    <p:embeddedFont>
      <p:font typeface="Lexend Light" panose="00000000000000000000"/>
      <p:regular r:id="rId50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57491AF-70F7-4E20-BE8B-AFF77B16C77F}">
  <a:tblStyle styleId="{E57491AF-70F7-4E20-BE8B-AFF77B16C7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tags" Target="tags/tag1.xml" /><Relationship Id="rId47" Type="http://schemas.openxmlformats.org/officeDocument/2006/relationships/font" Target="fonts/font1.fntdata" /><Relationship Id="rId48" Type="http://schemas.openxmlformats.org/officeDocument/2006/relationships/font" Target="fonts/font2.fntdata" /><Relationship Id="rId49" Type="http://schemas.openxmlformats.org/officeDocument/2006/relationships/font" Target="fonts/font3.fntdata" /><Relationship Id="rId5" Type="http://schemas.openxmlformats.org/officeDocument/2006/relationships/slide" Target="slides/slide3.xml" /><Relationship Id="rId50" Type="http://schemas.openxmlformats.org/officeDocument/2006/relationships/font" Target="fonts/font4.fntdata" /><Relationship Id="rId51" Type="http://schemas.openxmlformats.org/officeDocument/2006/relationships/presProps" Target="presProps.xml" /><Relationship Id="rId52" Type="http://schemas.openxmlformats.org/officeDocument/2006/relationships/viewProps" Target="viewProps.xml" /><Relationship Id="rId53" Type="http://schemas.openxmlformats.org/officeDocument/2006/relationships/theme" Target="theme/theme1.xml" /><Relationship Id="rId54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g2add9cc31d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add9cc31d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g2b1f4de2134_2_1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1f4de2134_2_1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g2add9cc31d9_0_14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add9cc31d9_0_14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6" name="Shape 776"/>
        <p:cNvGrpSpPr/>
        <p:nvPr/>
      </p:nvGrpSpPr>
      <p:grpSpPr>
        <a:xfrm>
          <a:off x="0" y="0"/>
          <a:ext cx="0" cy="0"/>
        </a:xfrm>
      </p:grpSpPr>
      <p:sp>
        <p:nvSpPr>
          <p:cNvPr id="777" name="Google Shape;777;g2add9cc31d9_0_7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add9cc31d9_0_7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4" name="Shape 784"/>
        <p:cNvGrpSpPr/>
        <p:nvPr/>
      </p:nvGrpSpPr>
      <p:grpSpPr>
        <a:xfrm>
          <a:off x="0" y="0"/>
          <a:ext cx="0" cy="0"/>
        </a:xfrm>
      </p:grpSpPr>
      <p:sp>
        <p:nvSpPr>
          <p:cNvPr id="785" name="Google Shape;785;g2b1e33103dc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b1e33103dc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g2b1e33103dc_1_2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b1e33103dc_1_2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3" name="Shape 823"/>
        <p:cNvGrpSpPr/>
        <p:nvPr/>
      </p:nvGrpSpPr>
      <p:grpSpPr>
        <a:xfrm>
          <a:off x="0" y="0"/>
          <a:ext cx="0" cy="0"/>
        </a:xfrm>
      </p:grpSpPr>
      <p:sp>
        <p:nvSpPr>
          <p:cNvPr id="824" name="Google Shape;824;g2b1e33103dc_1_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b1e33103dc_1_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3" name="Shape 833"/>
        <p:cNvGrpSpPr/>
        <p:nvPr/>
      </p:nvGrpSpPr>
      <p:grpSpPr>
        <a:xfrm>
          <a:off x="0" y="0"/>
          <a:ext cx="0" cy="0"/>
        </a:xfrm>
      </p:grpSpPr>
      <p:sp>
        <p:nvSpPr>
          <p:cNvPr id="834" name="Google Shape;834;g2b1e33103dc_1_1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b1e33103dc_1_1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6" name="Shape 866"/>
        <p:cNvGrpSpPr/>
        <p:nvPr/>
      </p:nvGrpSpPr>
      <p:grpSpPr>
        <a:xfrm>
          <a:off x="0" y="0"/>
          <a:ext cx="0" cy="0"/>
        </a:xfrm>
      </p:grpSpPr>
      <p:sp>
        <p:nvSpPr>
          <p:cNvPr id="867" name="Google Shape;867;g2b1e33103dc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b1e33103dc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2" name="Shape 882"/>
        <p:cNvGrpSpPr/>
        <p:nvPr/>
      </p:nvGrpSpPr>
      <p:grpSpPr>
        <a:xfrm>
          <a:off x="0" y="0"/>
          <a:ext cx="0" cy="0"/>
        </a:xfrm>
      </p:grpSpPr>
      <p:sp>
        <p:nvSpPr>
          <p:cNvPr id="883" name="Google Shape;883;g2b1e33103dc_0_2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b1e33103dc_0_2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8" name="Shape 898"/>
        <p:cNvGrpSpPr/>
        <p:nvPr/>
      </p:nvGrpSpPr>
      <p:grpSpPr>
        <a:xfrm>
          <a:off x="0" y="0"/>
          <a:ext cx="0" cy="0"/>
        </a:xfrm>
      </p:grpSpPr>
      <p:sp>
        <p:nvSpPr>
          <p:cNvPr id="899" name="Google Shape;899;g2b1e33103dc_0_2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b1e33103dc_0_2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4" name="Shape 914"/>
        <p:cNvGrpSpPr/>
        <p:nvPr/>
      </p:nvGrpSpPr>
      <p:grpSpPr>
        <a:xfrm>
          <a:off x="0" y="0"/>
          <a:ext cx="0" cy="0"/>
        </a:xfrm>
      </p:grpSpPr>
      <p:sp>
        <p:nvSpPr>
          <p:cNvPr id="915" name="Google Shape;915;g2b1e33103dc_0_2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b1e33103dc_0_2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0" name="Shape 930"/>
        <p:cNvGrpSpPr/>
        <p:nvPr/>
      </p:nvGrpSpPr>
      <p:grpSpPr>
        <a:xfrm>
          <a:off x="0" y="0"/>
          <a:ext cx="0" cy="0"/>
        </a:xfrm>
      </p:grpSpPr>
      <p:sp>
        <p:nvSpPr>
          <p:cNvPr id="931" name="Google Shape;931;g2b1e33103dc_0_2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b1e33103dc_0_2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4" name="Shape 954"/>
        <p:cNvGrpSpPr/>
        <p:nvPr/>
      </p:nvGrpSpPr>
      <p:grpSpPr>
        <a:xfrm>
          <a:off x="0" y="0"/>
          <a:ext cx="0" cy="0"/>
        </a:xfrm>
      </p:grpSpPr>
      <p:sp>
        <p:nvSpPr>
          <p:cNvPr id="955" name="Google Shape;955;g2b236437e94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b236437e94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4" name="Shape 994"/>
        <p:cNvGrpSpPr/>
        <p:nvPr/>
      </p:nvGrpSpPr>
      <p:grpSpPr>
        <a:xfrm>
          <a:off x="0" y="0"/>
          <a:ext cx="0" cy="0"/>
        </a:xfrm>
      </p:grpSpPr>
      <p:sp>
        <p:nvSpPr>
          <p:cNvPr id="995" name="Google Shape;995;g2b1e33103dc_1_2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b1e33103dc_1_2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2" name="Shape 1012"/>
        <p:cNvGrpSpPr/>
        <p:nvPr/>
      </p:nvGrpSpPr>
      <p:grpSpPr>
        <a:xfrm>
          <a:off x="0" y="0"/>
          <a:ext cx="0" cy="0"/>
        </a:xfrm>
      </p:grpSpPr>
      <p:sp>
        <p:nvSpPr>
          <p:cNvPr id="1013" name="Google Shape;1013;g2b1e33103dc_1_2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2b1e33103dc_1_2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6" name="Shape 1046"/>
        <p:cNvGrpSpPr/>
        <p:nvPr/>
      </p:nvGrpSpPr>
      <p:grpSpPr>
        <a:xfrm>
          <a:off x="0" y="0"/>
          <a:ext cx="0" cy="0"/>
        </a:xfrm>
      </p:grpSpPr>
      <p:sp>
        <p:nvSpPr>
          <p:cNvPr id="1047" name="Google Shape;1047;g2b1e33103dc_1_3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b1e33103dc_1_3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5" name="Shape 1055"/>
        <p:cNvGrpSpPr/>
        <p:nvPr/>
      </p:nvGrpSpPr>
      <p:grpSpPr>
        <a:xfrm>
          <a:off x="0" y="0"/>
          <a:ext cx="0" cy="0"/>
        </a:xfrm>
      </p:grpSpPr>
      <p:sp>
        <p:nvSpPr>
          <p:cNvPr id="1056" name="Google Shape;1056;g2b1e33103dc_1_2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b1e33103dc_1_2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5" name="Shape 1065"/>
        <p:cNvGrpSpPr/>
        <p:nvPr/>
      </p:nvGrpSpPr>
      <p:grpSpPr>
        <a:xfrm>
          <a:off x="0" y="0"/>
          <a:ext cx="0" cy="0"/>
        </a:xfrm>
      </p:grpSpPr>
      <p:sp>
        <p:nvSpPr>
          <p:cNvPr id="1066" name="Google Shape;1066;g2b1e33103dc_1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b1e33103dc_1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7" name="Shape 1087"/>
        <p:cNvGrpSpPr/>
        <p:nvPr/>
      </p:nvGrpSpPr>
      <p:grpSpPr>
        <a:xfrm>
          <a:off x="0" y="0"/>
          <a:ext cx="0" cy="0"/>
        </a:xfrm>
      </p:grpSpPr>
      <p:sp>
        <p:nvSpPr>
          <p:cNvPr id="1088" name="Google Shape;1088;g2b1e33103dc_1_1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b1e33103dc_1_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5" name="Shape 1095"/>
        <p:cNvGrpSpPr/>
        <p:nvPr/>
      </p:nvGrpSpPr>
      <p:grpSpPr>
        <a:xfrm>
          <a:off x="0" y="0"/>
          <a:ext cx="0" cy="0"/>
        </a:xfrm>
      </p:grpSpPr>
      <p:sp>
        <p:nvSpPr>
          <p:cNvPr id="1096" name="Google Shape;1096;g2b1e33103dc_1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b1e33103dc_1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4" name="Shape 1224"/>
        <p:cNvGrpSpPr/>
        <p:nvPr/>
      </p:nvGrpSpPr>
      <p:grpSpPr>
        <a:xfrm>
          <a:off x="0" y="0"/>
          <a:ext cx="0" cy="0"/>
        </a:xfrm>
      </p:grpSpPr>
      <p:sp>
        <p:nvSpPr>
          <p:cNvPr id="1225" name="Google Shape;1225;g2b1e33103dc_1_1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b1e33103dc_1_1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sp>
        <p:nvSpPr>
          <p:cNvPr id="1237" name="Google Shape;1237;g2add9cc31d9_0_14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add9cc31d9_0_14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4" name="Shape 1244"/>
        <p:cNvGrpSpPr/>
        <p:nvPr/>
      </p:nvGrpSpPr>
      <p:grpSpPr>
        <a:xfrm>
          <a:off x="0" y="0"/>
          <a:ext cx="0" cy="0"/>
        </a:xfrm>
      </p:grpSpPr>
      <p:sp>
        <p:nvSpPr>
          <p:cNvPr id="1245" name="Google Shape;1245;g2b1e33103dc_1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b1e33103dc_1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0" name="Shape 1280"/>
        <p:cNvGrpSpPr/>
        <p:nvPr/>
      </p:nvGrpSpPr>
      <p:grpSpPr>
        <a:xfrm>
          <a:off x="0" y="0"/>
          <a:ext cx="0" cy="0"/>
        </a:xfrm>
      </p:grpSpPr>
      <p:sp>
        <p:nvSpPr>
          <p:cNvPr id="1281" name="Google Shape;1281;g2b1f4de2134_1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b1f4de2134_1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6" name="Shape 1306"/>
        <p:cNvGrpSpPr/>
        <p:nvPr/>
      </p:nvGrpSpPr>
      <p:grpSpPr>
        <a:xfrm>
          <a:off x="0" y="0"/>
          <a:ext cx="0" cy="0"/>
        </a:xfrm>
      </p:grpSpPr>
      <p:sp>
        <p:nvSpPr>
          <p:cNvPr id="1307" name="Google Shape;1307;g2b1f4de2134_1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b1f4de2134_1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5" name="Shape 1335"/>
        <p:cNvGrpSpPr/>
        <p:nvPr/>
      </p:nvGrpSpPr>
      <p:grpSpPr>
        <a:xfrm>
          <a:off x="0" y="0"/>
          <a:ext cx="0" cy="0"/>
        </a:xfrm>
      </p:grpSpPr>
      <p:sp>
        <p:nvSpPr>
          <p:cNvPr id="1336" name="Google Shape;1336;g2b1f4de2134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b1f4de2134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3" name="Shape 1363"/>
        <p:cNvGrpSpPr/>
        <p:nvPr/>
      </p:nvGrpSpPr>
      <p:grpSpPr>
        <a:xfrm>
          <a:off x="0" y="0"/>
          <a:ext cx="0" cy="0"/>
        </a:xfrm>
      </p:grpSpPr>
      <p:sp>
        <p:nvSpPr>
          <p:cNvPr id="1364" name="Google Shape;1364;g2b1f4de2134_2_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b1f4de2134_2_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7" name="Shape 1397"/>
        <p:cNvGrpSpPr/>
        <p:nvPr/>
      </p:nvGrpSpPr>
      <p:grpSpPr>
        <a:xfrm>
          <a:off x="0" y="0"/>
          <a:ext cx="0" cy="0"/>
        </a:xfrm>
      </p:grpSpPr>
      <p:sp>
        <p:nvSpPr>
          <p:cNvPr id="1398" name="Google Shape;1398;g2b1f4de2134_0_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b1f4de2134_0_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9" name="Shape 1419"/>
        <p:cNvGrpSpPr/>
        <p:nvPr/>
      </p:nvGrpSpPr>
      <p:grpSpPr>
        <a:xfrm>
          <a:off x="0" y="0"/>
          <a:ext cx="0" cy="0"/>
        </a:xfrm>
      </p:grpSpPr>
      <p:sp>
        <p:nvSpPr>
          <p:cNvPr id="1420" name="Google Shape;1420;g2b1e33103dc_1_4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b1e33103dc_1_4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7" name="Shape 1457"/>
        <p:cNvGrpSpPr/>
        <p:nvPr/>
      </p:nvGrpSpPr>
      <p:grpSpPr>
        <a:xfrm>
          <a:off x="0" y="0"/>
          <a:ext cx="0" cy="0"/>
        </a:xfrm>
      </p:grpSpPr>
      <p:sp>
        <p:nvSpPr>
          <p:cNvPr id="1458" name="Google Shape;1458;g2b1e33103dc_1_4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2b1e33103dc_1_4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4" name="Shape 1514"/>
        <p:cNvGrpSpPr/>
        <p:nvPr/>
      </p:nvGrpSpPr>
      <p:grpSpPr>
        <a:xfrm>
          <a:off x="0" y="0"/>
          <a:ext cx="0" cy="0"/>
        </a:xfrm>
      </p:grpSpPr>
      <p:sp>
        <p:nvSpPr>
          <p:cNvPr id="1515" name="Google Shape;1515;g2b1e33103dc_1_3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b1e33103dc_1_3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5" name="Shape 1545"/>
        <p:cNvGrpSpPr/>
        <p:nvPr/>
      </p:nvGrpSpPr>
      <p:grpSpPr>
        <a:xfrm>
          <a:off x="0" y="0"/>
          <a:ext cx="0" cy="0"/>
        </a:xfrm>
      </p:grpSpPr>
      <p:sp>
        <p:nvSpPr>
          <p:cNvPr id="1546" name="Google Shape;1546;g2b1f4de2134_2_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2b1f4de2134_2_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6" name="Shape 1556"/>
        <p:cNvGrpSpPr/>
        <p:nvPr/>
      </p:nvGrpSpPr>
      <p:grpSpPr>
        <a:xfrm>
          <a:off x="0" y="0"/>
          <a:ext cx="0" cy="0"/>
        </a:xfrm>
      </p:grpSpPr>
      <p:sp>
        <p:nvSpPr>
          <p:cNvPr id="1557" name="Google Shape;1557;g2b1f4de2134_2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b1f4de2134_2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65" name="Shape 1565"/>
        <p:cNvGrpSpPr/>
        <p:nvPr/>
      </p:nvGrpSpPr>
      <p:grpSpPr>
        <a:xfrm>
          <a:off x="0" y="0"/>
          <a:ext cx="0" cy="0"/>
        </a:xfrm>
      </p:grpSpPr>
      <p:sp>
        <p:nvSpPr>
          <p:cNvPr id="1566" name="Google Shape;1566;g2b1f4de2134_2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2b1f4de2134_2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3" name="Shape 1573"/>
        <p:cNvGrpSpPr/>
        <p:nvPr/>
      </p:nvGrpSpPr>
      <p:grpSpPr>
        <a:xfrm>
          <a:off x="0" y="0"/>
          <a:ext cx="0" cy="0"/>
        </a:xfrm>
      </p:grpSpPr>
      <p:sp>
        <p:nvSpPr>
          <p:cNvPr id="1574" name="Google Shape;1574;g2b1f4de2134_0_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b1f4de2134_0_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7" name="Shape 1587"/>
        <p:cNvGrpSpPr/>
        <p:nvPr/>
      </p:nvGrpSpPr>
      <p:grpSpPr>
        <a:xfrm>
          <a:off x="0" y="0"/>
          <a:ext cx="0" cy="0"/>
        </a:xfrm>
      </p:grpSpPr>
      <p:sp>
        <p:nvSpPr>
          <p:cNvPr id="1588" name="Google Shape;1588;g2b1f4de2134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2b1f4de2134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3" name="Shape 1593"/>
        <p:cNvGrpSpPr/>
        <p:nvPr/>
      </p:nvGrpSpPr>
      <p:grpSpPr>
        <a:xfrm>
          <a:off x="0" y="0"/>
          <a:ext cx="0" cy="0"/>
        </a:xfrm>
      </p:grpSpPr>
      <p:sp>
        <p:nvSpPr>
          <p:cNvPr id="1594" name="Google Shape;1594;g2b1f4de2134_2_1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b1f4de2134_2_1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4" name="Shape 1614"/>
        <p:cNvGrpSpPr/>
        <p:nvPr/>
      </p:nvGrpSpPr>
      <p:grpSpPr>
        <a:xfrm>
          <a:off x="0" y="0"/>
          <a:ext cx="0" cy="0"/>
        </a:xfrm>
      </p:grpSpPr>
      <p:sp>
        <p:nvSpPr>
          <p:cNvPr id="1615" name="Google Shape;1615;g2b1f4de2134_2_1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b1f4de2134_2_1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5" name="Shape 1635"/>
        <p:cNvGrpSpPr/>
        <p:nvPr/>
      </p:nvGrpSpPr>
      <p:grpSpPr>
        <a:xfrm>
          <a:off x="0" y="0"/>
          <a:ext cx="0" cy="0"/>
        </a:xfrm>
      </p:grpSpPr>
      <p:sp>
        <p:nvSpPr>
          <p:cNvPr id="1636" name="Google Shape;1636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1" name="Shape 1641"/>
        <p:cNvGrpSpPr/>
        <p:nvPr/>
      </p:nvGrpSpPr>
      <p:grpSpPr>
        <a:xfrm>
          <a:off x="0" y="0"/>
          <a:ext cx="0" cy="0"/>
        </a:xfrm>
      </p:grpSpPr>
      <p:sp>
        <p:nvSpPr>
          <p:cNvPr id="1642" name="Google Shape;1642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8.png" /><Relationship Id="rId4" Type="http://schemas.openxmlformats.org/officeDocument/2006/relationships/image" Target="../media/image4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46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9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1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1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3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6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46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6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4.png" /><Relationship Id="rId4" Type="http://schemas.openxmlformats.org/officeDocument/2006/relationships/image" Target="../media/image46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54.png" /><Relationship Id="rId4" Type="http://schemas.openxmlformats.org/officeDocument/2006/relationships/image" Target="../media/image46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4.png" /><Relationship Id="rId4" Type="http://schemas.openxmlformats.org/officeDocument/2006/relationships/image" Target="../media/image46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46.png" /><Relationship Id="rId4" Type="http://schemas.openxmlformats.org/officeDocument/2006/relationships/image" Target="../media/image54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6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51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55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56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Rotational symmetry</a:t>
            </a:r>
            <a:endParaRPr/>
          </a:p>
        </p:txBody>
      </p:sp>
      <p:sp>
        <p:nvSpPr>
          <p:cNvPr id="755" name="Google Shape;755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Geometrical properties and Pythagoras’ theorem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9" name="Shape 759"/>
        <p:cNvGrpSpPr/>
        <p:nvPr/>
      </p:nvGrpSpPr>
      <p:grpSpPr>
        <a:xfrm>
          <a:off x="0" y="0"/>
          <a: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sp>
        <p:nvSpPr>
          <p:cNvPr id="765" name="Google Shape;765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recognise rotational symmetry in shapes.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p66"/>
          <p:cNvSpPr txBox="1"/>
          <p:nvPr>
            <p:ph type="subTitle" idx="1"/>
          </p:nvPr>
        </p:nvSpPr>
        <p:spPr>
          <a:xfrm>
            <a:off x="324000" y="1048850"/>
            <a:ext cx="8496000" cy="98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centre of rotation is the fixed point about which an object is rotated.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p67"/>
          <p:cNvSpPr txBox="1"/>
          <p:nvPr>
            <p:ph type="subTitle" idx="1"/>
          </p:nvPr>
        </p:nvSpPr>
        <p:spPr>
          <a:xfrm>
            <a:off x="324000" y="1048850"/>
            <a:ext cx="8496000" cy="7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 b="1">
                <a:solidFill>
                  <a:schemeClr val="dk1"/>
                </a:solidFill>
                <a:highlight>
                  <a:srgbClr val="FFFFFF"/>
                </a:highlight>
              </a:rPr>
              <a:t>Rotational symmetry</a:t>
            </a:r>
            <a:r>
              <a:rPr lang="en-GB" sz="2100">
                <a:solidFill>
                  <a:schemeClr val="dk1"/>
                </a:solidFill>
                <a:highlight>
                  <a:srgbClr val="FFFFFF"/>
                </a:highlight>
              </a:rPr>
              <a:t> describes when a shape appears the same after some rotation. The order of rotational symmetry is the number of times the image appears the same as the object in one full turn. </a:t>
            </a:r>
            <a:r>
              <a:rPr lang="en-GB" sz="2100">
                <a:solidFill>
                  <a:schemeClr val="dk1"/>
                </a:solidFill>
              </a:rPr>
              <a:t> </a:t>
            </a:r>
            <a:r>
              <a:rPr lang="en-GB" sz="1900"/>
              <a:t> </a:t>
            </a:r>
            <a:endParaRPr sz="1900"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sp>
        <p:nvSpPr>
          <p:cNvPr id="780" name="Google Shape;780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</a:t>
            </a:r>
            <a:r>
              <a:rPr lang="en-GB" b="1"/>
              <a:t>rotational symmetry</a:t>
            </a:r>
            <a:r>
              <a:rPr lang="en-GB"/>
              <a:t> in shapes</a:t>
            </a:r>
            <a:endParaRPr/>
          </a:p>
        </p:txBody>
      </p:sp>
      <p:sp>
        <p:nvSpPr>
          <p:cNvPr id="781" name="Google Shape;781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</a:t>
            </a:r>
            <a:r>
              <a:rPr lang="en-GB" b="1"/>
              <a:t>rotational symmetries</a:t>
            </a:r>
            <a:endParaRPr b="1"/>
          </a:p>
        </p:txBody>
      </p:sp>
      <p:sp>
        <p:nvSpPr>
          <p:cNvPr id="782" name="Google Shape;782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Rotational symmetry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7" name="Shape 787"/>
        <p:cNvGrpSpPr/>
        <p:nvPr/>
      </p:nvGrpSpPr>
      <p:grpSpPr>
        <a:xfrm>
          <a:off x="0" y="0"/>
          <a:ext cx="0" cy="0"/>
        </a:xfrm>
      </p:grpSpPr>
      <p:sp>
        <p:nvSpPr>
          <p:cNvPr id="788" name="Google Shape;788;p69"/>
          <p:cNvSpPr/>
          <p:nvPr/>
        </p:nvSpPr>
        <p:spPr>
          <a:xfrm rot="2227429">
            <a:off x="2248110" y="2898127"/>
            <a:ext cx="1705937" cy="708427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/>
          <p:nvPr/>
        </p:nvSpPr>
        <p:spPr>
          <a:xfrm>
            <a:off x="2293300" y="2889448"/>
            <a:ext cx="1705800" cy="7083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/>
          <p:nvPr/>
        </p:nvSpPr>
        <p:spPr>
          <a:xfrm rot="2227429">
            <a:off x="5118407" y="2858282"/>
            <a:ext cx="1705937" cy="708427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/>
          <p:nvPr/>
        </p:nvSpPr>
        <p:spPr>
          <a:xfrm rot="5400000">
            <a:off x="2275948" y="2948295"/>
            <a:ext cx="1705800" cy="7083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782637" y="3878707"/>
            <a:ext cx="3802450" cy="90457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9"/>
          <p:cNvSpPr txBox="1"/>
          <p:nvPr>
            <p:ph type="body" idx="1"/>
          </p:nvPr>
        </p:nvSpPr>
        <p:spPr>
          <a:xfrm>
            <a:off x="324000" y="759300"/>
            <a:ext cx="84960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rectangles below are congruent.</a:t>
            </a:r>
            <a:endParaRPr sz="2000"/>
          </a:p>
        </p:txBody>
      </p:sp>
      <p:sp>
        <p:nvSpPr>
          <p:cNvPr id="794" name="Google Shape;79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795" name="Google Shape;795;p69"/>
          <p:cNvSpPr txBox="1"/>
          <p:nvPr>
            <p:ph type="body" idx="1"/>
          </p:nvPr>
        </p:nvSpPr>
        <p:spPr>
          <a:xfrm>
            <a:off x="324000" y="1172663"/>
            <a:ext cx="84960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Laura is going to rotate the left rectangle a full turn.</a:t>
            </a:r>
            <a:endParaRPr sz="2000"/>
          </a:p>
        </p:txBody>
      </p:sp>
      <p:sp>
        <p:nvSpPr>
          <p:cNvPr id="796" name="Google Shape;796;p69"/>
          <p:cNvSpPr txBox="1"/>
          <p:nvPr>
            <p:ph type="body" idx="1"/>
          </p:nvPr>
        </p:nvSpPr>
        <p:spPr>
          <a:xfrm>
            <a:off x="324000" y="1586025"/>
            <a:ext cx="8496000" cy="67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many times will it look like it is in the same orientation as the rectangle on the right?</a:t>
            </a:r>
            <a:endParaRPr sz="2000"/>
          </a:p>
        </p:txBody>
      </p:sp>
      <p:sp>
        <p:nvSpPr>
          <p:cNvPr id="797" name="Google Shape;797;p69"/>
          <p:cNvSpPr txBox="1"/>
          <p:nvPr>
            <p:ph type="body" idx="1"/>
          </p:nvPr>
        </p:nvSpPr>
        <p:spPr>
          <a:xfrm rot="-2046">
            <a:off x="3031999" y="2854893"/>
            <a:ext cx="5040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798" name="Google Shape;79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950" y="3142870"/>
            <a:ext cx="616850" cy="807901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9"/>
          <p:cNvSpPr txBox="1"/>
          <p:nvPr>
            <p:ph type="body" idx="1"/>
          </p:nvPr>
        </p:nvSpPr>
        <p:spPr>
          <a:xfrm>
            <a:off x="911787" y="4122438"/>
            <a:ext cx="3593100" cy="5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I’ve marked the top so I can see when I’ve done a full turn.</a:t>
            </a:r>
            <a:endParaRPr sz="1800"/>
          </a:p>
        </p:txBody>
      </p:sp>
      <p:sp>
        <p:nvSpPr>
          <p:cNvPr id="800" name="Google Shape;800;p69"/>
          <p:cNvSpPr txBox="1"/>
          <p:nvPr>
            <p:ph type="body" idx="1"/>
          </p:nvPr>
        </p:nvSpPr>
        <p:spPr>
          <a:xfrm>
            <a:off x="3492079" y="1905388"/>
            <a:ext cx="6168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once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1" name="Google Shape;801;p69"/>
          <p:cNvSpPr txBox="1"/>
          <p:nvPr>
            <p:ph type="body" idx="1"/>
          </p:nvPr>
        </p:nvSpPr>
        <p:spPr>
          <a:xfrm>
            <a:off x="3453701" y="1913913"/>
            <a:ext cx="7386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twice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2" name="Google Shape;802;p69"/>
          <p:cNvSpPr txBox="1"/>
          <p:nvPr>
            <p:ph type="body" idx="1"/>
          </p:nvPr>
        </p:nvSpPr>
        <p:spPr>
          <a:xfrm rot="2261728">
            <a:off x="3032025" y="3007288"/>
            <a:ext cx="503872" cy="33297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3" name="Google Shape;803;p69"/>
          <p:cNvSpPr txBox="1"/>
          <p:nvPr>
            <p:ph type="body" idx="1"/>
          </p:nvPr>
        </p:nvSpPr>
        <p:spPr>
          <a:xfrm rot="-8538272">
            <a:off x="2611180" y="3177720"/>
            <a:ext cx="503872" cy="33297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4" name="Google Shape;804;p69"/>
          <p:cNvSpPr txBox="1"/>
          <p:nvPr>
            <p:ph type="body" idx="1"/>
          </p:nvPr>
        </p:nvSpPr>
        <p:spPr>
          <a:xfrm rot="5397954">
            <a:off x="3099052" y="3273745"/>
            <a:ext cx="5040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5" name="Google Shape;805;p69"/>
          <p:cNvSpPr txBox="1"/>
          <p:nvPr>
            <p:ph type="body" idx="1"/>
          </p:nvPr>
        </p:nvSpPr>
        <p:spPr>
          <a:xfrm rot="10797954">
            <a:off x="2763554" y="3312093"/>
            <a:ext cx="5040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69"/>
          <p:cNvSpPr txBox="1"/>
          <p:nvPr>
            <p:ph type="body" idx="1"/>
          </p:nvPr>
        </p:nvSpPr>
        <p:spPr>
          <a:xfrm rot="-5402046">
            <a:off x="2663665" y="3045145"/>
            <a:ext cx="5040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p70"/>
          <p:cNvSpPr txBox="1"/>
          <p:nvPr>
            <p:ph type="body" idx="1"/>
          </p:nvPr>
        </p:nvSpPr>
        <p:spPr>
          <a:xfrm>
            <a:off x="3453701" y="1913913"/>
            <a:ext cx="7386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twice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12" name="Google Shape;812;p70"/>
          <p:cNvGrpSpPr/>
          <p:nvPr/>
        </p:nvGrpSpPr>
        <p:grpSpPr>
          <a:xfrm>
            <a:off x="2293300" y="2415245"/>
            <a:ext cx="4571925" cy="1594500"/>
            <a:chOff x="2369500" y="2415245"/>
            <a:chExt cx="4571925" cy="1594500"/>
          </a:xfrm>
        </p:grpSpPr>
        <p:sp>
          <p:nvSpPr>
            <p:cNvPr id="813" name="Google Shape;813;p70"/>
            <p:cNvSpPr/>
            <p:nvPr/>
          </p:nvSpPr>
          <p:spPr>
            <a:xfrm>
              <a:off x="2369500" y="2889448"/>
              <a:ext cx="1705800" cy="708300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4" name="Google Shape;814;p70"/>
            <p:cNvSpPr/>
            <p:nvPr/>
          </p:nvSpPr>
          <p:spPr>
            <a:xfrm rot="2227429">
              <a:off x="5194607" y="2858282"/>
              <a:ext cx="1705937" cy="708427"/>
            </a:xfrm>
            <a:prstGeom prst="rect">
              <a:avLst/>
            </a:prstGeom>
            <a:solidFill>
              <a:srgbClr val="F3EEFB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5" name="Google Shape;81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477825" y="3878700"/>
            <a:ext cx="7433027" cy="90457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0"/>
          <p:cNvSpPr txBox="1"/>
          <p:nvPr>
            <p:ph type="body" idx="1"/>
          </p:nvPr>
        </p:nvSpPr>
        <p:spPr>
          <a:xfrm>
            <a:off x="324000" y="759300"/>
            <a:ext cx="84960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rectangles below are congruent.</a:t>
            </a:r>
            <a:endParaRPr sz="2000"/>
          </a:p>
        </p:txBody>
      </p:sp>
      <p:sp>
        <p:nvSpPr>
          <p:cNvPr id="817" name="Google Shape;81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818" name="Google Shape;818;p70"/>
          <p:cNvSpPr txBox="1"/>
          <p:nvPr>
            <p:ph type="body" idx="1"/>
          </p:nvPr>
        </p:nvSpPr>
        <p:spPr>
          <a:xfrm>
            <a:off x="324000" y="1172663"/>
            <a:ext cx="8496000" cy="4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Laura is going to rotate the left rectangle a full turn.</a:t>
            </a:r>
            <a:endParaRPr sz="2000"/>
          </a:p>
        </p:txBody>
      </p:sp>
      <p:sp>
        <p:nvSpPr>
          <p:cNvPr id="819" name="Google Shape;819;p70"/>
          <p:cNvSpPr txBox="1"/>
          <p:nvPr>
            <p:ph type="body" idx="1"/>
          </p:nvPr>
        </p:nvSpPr>
        <p:spPr>
          <a:xfrm>
            <a:off x="324000" y="1586025"/>
            <a:ext cx="8496000" cy="67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many times will it look like it is in the same orientation as the rectangle on the right?</a:t>
            </a:r>
            <a:endParaRPr sz="2000"/>
          </a:p>
        </p:txBody>
      </p:sp>
      <p:sp>
        <p:nvSpPr>
          <p:cNvPr id="820" name="Google Shape;820;p70"/>
          <p:cNvSpPr txBox="1"/>
          <p:nvPr>
            <p:ph type="body" idx="1"/>
          </p:nvPr>
        </p:nvSpPr>
        <p:spPr>
          <a:xfrm rot="-2046">
            <a:off x="3031999" y="2854893"/>
            <a:ext cx="5040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21" name="Google Shape;82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950" y="3142870"/>
            <a:ext cx="616850" cy="807901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0"/>
          <p:cNvSpPr txBox="1"/>
          <p:nvPr>
            <p:ph type="body" idx="1"/>
          </p:nvPr>
        </p:nvSpPr>
        <p:spPr>
          <a:xfrm>
            <a:off x="606975" y="4122450"/>
            <a:ext cx="7296600" cy="5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 were two times when the rectangle on the left looked like the rectangle on the right while I was rotating it. Why was that?</a:t>
            </a:r>
            <a:endParaRPr sz="1800"/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6" name="Shape 826"/>
        <p:cNvGrpSpPr/>
        <p:nvPr/>
      </p:nvGrpSpPr>
      <p:grpSpPr>
        <a:xfrm>
          <a:off x="0" y="0"/>
          <a:ext cx="0" cy="0"/>
        </a:xfrm>
      </p:grpSpPr>
      <p:sp>
        <p:nvSpPr>
          <p:cNvPr id="827" name="Google Shape;827;p71"/>
          <p:cNvSpPr txBox="1"/>
          <p:nvPr>
            <p:ph type="body" idx="1"/>
          </p:nvPr>
        </p:nvSpPr>
        <p:spPr>
          <a:xfrm>
            <a:off x="324000" y="759300"/>
            <a:ext cx="8496000" cy="70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b="1"/>
              <a:t>Rotational symmetry</a:t>
            </a:r>
            <a:r>
              <a:rPr lang="en-GB" sz="2000"/>
              <a:t> describes when a shape appears the same after some rotation.  </a:t>
            </a:r>
            <a:endParaRPr sz="2000"/>
          </a:p>
        </p:txBody>
      </p:sp>
      <p:sp>
        <p:nvSpPr>
          <p:cNvPr id="828" name="Google Shape;82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829" name="Google Shape;829;p71"/>
          <p:cNvSpPr txBox="1"/>
          <p:nvPr>
            <p:ph type="body" idx="1"/>
          </p:nvPr>
        </p:nvSpPr>
        <p:spPr>
          <a:xfrm>
            <a:off x="324000" y="1509687"/>
            <a:ext cx="8496000" cy="11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order of </a:t>
            </a:r>
            <a:r>
              <a:rPr lang="en-GB" sz="2000" b="1"/>
              <a:t>rotational symmetry</a:t>
            </a:r>
            <a:r>
              <a:rPr lang="en-GB" sz="2000"/>
              <a:t> is the number of positions in which a shape appears the same as it did originally when rotated through a full turn.</a:t>
            </a:r>
            <a:endParaRPr sz="2000"/>
          </a:p>
        </p:txBody>
      </p:sp>
      <p:sp>
        <p:nvSpPr>
          <p:cNvPr id="830" name="Google Shape;830;p71"/>
          <p:cNvSpPr/>
          <p:nvPr/>
        </p:nvSpPr>
        <p:spPr>
          <a:xfrm>
            <a:off x="3719287" y="3422848"/>
            <a:ext cx="1705800" cy="7083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1"/>
          <p:cNvSpPr txBox="1"/>
          <p:nvPr>
            <p:ph type="body" idx="1"/>
          </p:nvPr>
        </p:nvSpPr>
        <p:spPr>
          <a:xfrm>
            <a:off x="309458" y="4481874"/>
            <a:ext cx="84960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rectangles have </a:t>
            </a:r>
            <a:r>
              <a:rPr lang="en-GB" sz="2000" b="1"/>
              <a:t>rotational symmetry</a:t>
            </a:r>
            <a:r>
              <a:rPr lang="en-GB" sz="2000"/>
              <a:t> of order 2.</a:t>
            </a:r>
            <a:endParaRPr sz="2000"/>
          </a:p>
        </p:txBody>
      </p:sp>
      <p:sp>
        <p:nvSpPr>
          <p:cNvPr id="832" name="Google Shape;832;p71"/>
          <p:cNvSpPr txBox="1"/>
          <p:nvPr>
            <p:ph type="body" idx="1"/>
          </p:nvPr>
        </p:nvSpPr>
        <p:spPr>
          <a:xfrm>
            <a:off x="309458" y="2653074"/>
            <a:ext cx="8496000" cy="46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centre of rotation is in the middle of the shape for this process.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6" name="Shape 836"/>
        <p:cNvGrpSpPr/>
        <p:nvPr/>
      </p:nvGrpSpPr>
      <p:grpSpPr>
        <a:xfrm>
          <a:off x="0" y="0"/>
          <a:ext cx="0" cy="0"/>
        </a:xfrm>
      </p:grpSpPr>
      <p:sp>
        <p:nvSpPr>
          <p:cNvPr id="837" name="Google Shape;837;p72"/>
          <p:cNvSpPr/>
          <p:nvPr/>
        </p:nvSpPr>
        <p:spPr>
          <a:xfrm>
            <a:off x="2795765" y="2625442"/>
            <a:ext cx="1250100" cy="1081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2"/>
          <p:cNvSpPr/>
          <p:nvPr/>
        </p:nvSpPr>
        <p:spPr>
          <a:xfrm rot="5400000">
            <a:off x="2281886" y="2296929"/>
            <a:ext cx="2200800" cy="1893900"/>
          </a:xfrm>
          <a:prstGeom prst="rect">
            <a:avLst/>
          </a:prstGeom>
          <a:solidFill>
            <a:srgbClr val="FDF3CB">
              <a:alpha val="490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72"/>
          <p:cNvSpPr/>
          <p:nvPr/>
        </p:nvSpPr>
        <p:spPr>
          <a:xfrm>
            <a:off x="2795765" y="2625442"/>
            <a:ext cx="1250100" cy="1081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2"/>
          <p:cNvSpPr txBox="1"/>
          <p:nvPr>
            <p:ph type="body" idx="1"/>
          </p:nvPr>
        </p:nvSpPr>
        <p:spPr>
          <a:xfrm>
            <a:off x="324000" y="759300"/>
            <a:ext cx="8496000" cy="7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find the </a:t>
            </a:r>
            <a:r>
              <a:rPr lang="en-GB" sz="2000" b="1"/>
              <a:t>rotational symmetry</a:t>
            </a:r>
            <a:r>
              <a:rPr lang="en-GB" sz="2000"/>
              <a:t> of a shape by drawing a congruent shape on a piece of tracing paper.</a:t>
            </a:r>
            <a:endParaRPr sz="2000"/>
          </a:p>
        </p:txBody>
      </p:sp>
      <p:sp>
        <p:nvSpPr>
          <p:cNvPr id="841" name="Google Shape;84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842" name="Google Shape;842;p72"/>
          <p:cNvSpPr txBox="1"/>
          <p:nvPr>
            <p:ph type="body" idx="1"/>
          </p:nvPr>
        </p:nvSpPr>
        <p:spPr>
          <a:xfrm>
            <a:off x="324000" y="1509825"/>
            <a:ext cx="8496000" cy="7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then rotate the tracing paper and count how many times it fits perfectly over the original during a full turn. </a:t>
            </a:r>
            <a:endParaRPr sz="2000"/>
          </a:p>
        </p:txBody>
      </p:sp>
      <p:grpSp>
        <p:nvGrpSpPr>
          <p:cNvPr id="843" name="Google Shape;843;p72"/>
          <p:cNvGrpSpPr/>
          <p:nvPr/>
        </p:nvGrpSpPr>
        <p:grpSpPr>
          <a:xfrm>
            <a:off x="4836746" y="2143479"/>
            <a:ext cx="1893900" cy="2200800"/>
            <a:chOff x="1324371" y="2436812"/>
            <a:chExt cx="1893900" cy="2200800"/>
          </a:xfrm>
        </p:grpSpPr>
        <p:sp>
          <p:nvSpPr>
            <p:cNvPr id="844" name="Google Shape;844;p72"/>
            <p:cNvSpPr/>
            <p:nvPr/>
          </p:nvSpPr>
          <p:spPr>
            <a:xfrm rot="5400000">
              <a:off x="1170921" y="2590262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72"/>
            <p:cNvSpPr/>
            <p:nvPr/>
          </p:nvSpPr>
          <p:spPr>
            <a:xfrm>
              <a:off x="1684800" y="2918775"/>
              <a:ext cx="1250100" cy="1081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6" name="Google Shape;846;p72"/>
          <p:cNvSpPr txBox="1"/>
          <p:nvPr>
            <p:ph type="body" idx="1"/>
          </p:nvPr>
        </p:nvSpPr>
        <p:spPr>
          <a:xfrm>
            <a:off x="3273443" y="2154254"/>
            <a:ext cx="5040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47" name="Google Shape;847;p72"/>
          <p:cNvGrpSpPr/>
          <p:nvPr/>
        </p:nvGrpSpPr>
        <p:grpSpPr>
          <a:xfrm rot="-7208828">
            <a:off x="2394969" y="2332800"/>
            <a:ext cx="1893816" cy="2200702"/>
            <a:chOff x="2428161" y="2436812"/>
            <a:chExt cx="1893900" cy="2200800"/>
          </a:xfrm>
        </p:grpSpPr>
        <p:sp>
          <p:nvSpPr>
            <p:cNvPr id="848" name="Google Shape;848;p72"/>
            <p:cNvSpPr/>
            <p:nvPr/>
          </p:nvSpPr>
          <p:spPr>
            <a:xfrm rot="5400000">
              <a:off x="2274711" y="2590262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72"/>
            <p:cNvSpPr/>
            <p:nvPr/>
          </p:nvSpPr>
          <p:spPr>
            <a:xfrm>
              <a:off x="2788590" y="2918775"/>
              <a:ext cx="1250100" cy="1081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0" name="Google Shape;850;p72"/>
          <p:cNvSpPr txBox="1"/>
          <p:nvPr>
            <p:ph type="body" idx="1"/>
          </p:nvPr>
        </p:nvSpPr>
        <p:spPr>
          <a:xfrm rot="-7210082">
            <a:off x="2211714" y="3606201"/>
            <a:ext cx="503843" cy="33311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1" name="Google Shape;851;p72"/>
          <p:cNvSpPr txBox="1"/>
          <p:nvPr>
            <p:ph type="body" idx="1"/>
          </p:nvPr>
        </p:nvSpPr>
        <p:spPr>
          <a:xfrm>
            <a:off x="3920782" y="4123567"/>
            <a:ext cx="13173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congruent</a:t>
            </a:r>
            <a:endParaRPr sz="2000"/>
          </a:p>
        </p:txBody>
      </p:sp>
      <p:cxnSp>
        <p:nvCxnSpPr>
          <p:cNvPr id="852" name="Google Shape;852;p72"/>
          <p:cNvCxnSpPr/>
          <p:nvPr/>
        </p:nvCxnSpPr>
        <p:spPr>
          <a:xfrm rot="10800000">
            <a:off x="3945825" y="3844567"/>
            <a:ext cx="276900" cy="33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3" name="Google Shape;853;p72"/>
          <p:cNvCxnSpPr/>
          <p:nvPr/>
        </p:nvCxnSpPr>
        <p:spPr>
          <a:xfrm rot="10800000" flipH="1">
            <a:off x="4932521" y="3844567"/>
            <a:ext cx="276900" cy="33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4" name="Google Shape;854;p72"/>
          <p:cNvSpPr txBox="1"/>
          <p:nvPr>
            <p:ph type="body" idx="1"/>
          </p:nvPr>
        </p:nvSpPr>
        <p:spPr>
          <a:xfrm>
            <a:off x="5163577" y="2810580"/>
            <a:ext cx="3361500" cy="7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shape has </a:t>
            </a:r>
            <a:r>
              <a:rPr lang="en-GB" sz="2000" b="1"/>
              <a:t>rotational symmetry</a:t>
            </a:r>
            <a:r>
              <a:rPr lang="en-GB" sz="2000"/>
              <a:t> of order 3.</a:t>
            </a:r>
            <a:endParaRPr sz="2000"/>
          </a:p>
        </p:txBody>
      </p:sp>
      <p:sp>
        <p:nvSpPr>
          <p:cNvPr id="855" name="Google Shape;855;p72"/>
          <p:cNvSpPr txBox="1"/>
          <p:nvPr>
            <p:ph type="body" idx="1"/>
          </p:nvPr>
        </p:nvSpPr>
        <p:spPr>
          <a:xfrm>
            <a:off x="1633930" y="2485189"/>
            <a:ext cx="2769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6" name="Google Shape;856;p72"/>
          <p:cNvSpPr txBox="1"/>
          <p:nvPr>
            <p:ph type="body" idx="1"/>
          </p:nvPr>
        </p:nvSpPr>
        <p:spPr>
          <a:xfrm>
            <a:off x="1600177" y="2493725"/>
            <a:ext cx="2769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7" name="Google Shape;857;p72"/>
          <p:cNvSpPr txBox="1"/>
          <p:nvPr>
            <p:ph type="body" idx="1"/>
          </p:nvPr>
        </p:nvSpPr>
        <p:spPr>
          <a:xfrm>
            <a:off x="1598303" y="2485189"/>
            <a:ext cx="2769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58" name="Google Shape;858;p72"/>
          <p:cNvGrpSpPr/>
          <p:nvPr/>
        </p:nvGrpSpPr>
        <p:grpSpPr>
          <a:xfrm rot="5466360">
            <a:off x="2539994" y="2171100"/>
            <a:ext cx="1893685" cy="2200550"/>
            <a:chOff x="2428161" y="2436812"/>
            <a:chExt cx="1893900" cy="2200800"/>
          </a:xfrm>
        </p:grpSpPr>
        <p:sp>
          <p:nvSpPr>
            <p:cNvPr id="859" name="Google Shape;859;p72"/>
            <p:cNvSpPr/>
            <p:nvPr/>
          </p:nvSpPr>
          <p:spPr>
            <a:xfrm rot="5400000">
              <a:off x="2274711" y="2590262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72"/>
            <p:cNvSpPr/>
            <p:nvPr/>
          </p:nvSpPr>
          <p:spPr>
            <a:xfrm>
              <a:off x="2788590" y="2918775"/>
              <a:ext cx="1250100" cy="1081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1" name="Google Shape;861;p72"/>
          <p:cNvSpPr txBox="1"/>
          <p:nvPr>
            <p:ph type="body" idx="1"/>
          </p:nvPr>
        </p:nvSpPr>
        <p:spPr>
          <a:xfrm rot="5465512">
            <a:off x="4154694" y="3265930"/>
            <a:ext cx="503791" cy="33306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62" name="Google Shape;862;p72"/>
          <p:cNvGrpSpPr/>
          <p:nvPr/>
        </p:nvGrpSpPr>
        <p:grpSpPr>
          <a:xfrm rot="7191729">
            <a:off x="2569342" y="2260865"/>
            <a:ext cx="1893843" cy="2200734"/>
            <a:chOff x="2428161" y="2436812"/>
            <a:chExt cx="1893900" cy="2200800"/>
          </a:xfrm>
        </p:grpSpPr>
        <p:sp>
          <p:nvSpPr>
            <p:cNvPr id="863" name="Google Shape;863;p72"/>
            <p:cNvSpPr/>
            <p:nvPr/>
          </p:nvSpPr>
          <p:spPr>
            <a:xfrm rot="5400000">
              <a:off x="2274711" y="2590262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72"/>
            <p:cNvSpPr/>
            <p:nvPr/>
          </p:nvSpPr>
          <p:spPr>
            <a:xfrm>
              <a:off x="2788590" y="2918775"/>
              <a:ext cx="1250100" cy="1081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5" name="Google Shape;865;p72"/>
          <p:cNvSpPr txBox="1"/>
          <p:nvPr>
            <p:ph type="body" idx="1"/>
          </p:nvPr>
        </p:nvSpPr>
        <p:spPr>
          <a:xfrm rot="7190785">
            <a:off x="3993515" y="3778603"/>
            <a:ext cx="503942" cy="3331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9" name="Shape 869"/>
        <p:cNvGrpSpPr/>
        <p:nvPr/>
      </p:nvGrpSpPr>
      <p:grpSpPr>
        <a:xfrm>
          <a:off x="0" y="0"/>
          <a:ext cx="0" cy="0"/>
        </a:xfrm>
      </p:grpSpPr>
      <p:pic>
        <p:nvPicPr>
          <p:cNvPr id="870" name="Google Shape;870;p73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4966091" y="1955571"/>
            <a:ext cx="3577523" cy="194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3"/>
          <p:cNvSpPr/>
          <p:nvPr/>
        </p:nvSpPr>
        <p:spPr>
          <a:xfrm>
            <a:off x="2734657" y="2658648"/>
            <a:ext cx="1250100" cy="1083000"/>
          </a:xfrm>
          <a:prstGeom prst="hexagon">
            <a:avLst>
              <a:gd name="adj" fmla="val 20923"/>
              <a:gd name="vf" fmla="val 1154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3"/>
          <p:cNvSpPr txBox="1"/>
          <p:nvPr>
            <p:ph type="body" idx="1"/>
          </p:nvPr>
        </p:nvSpPr>
        <p:spPr>
          <a:xfrm>
            <a:off x="324000" y="759300"/>
            <a:ext cx="8237700" cy="10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Tracing paper may not be necessary for shapes where the </a:t>
            </a:r>
            <a:r>
              <a:rPr lang="en-GB" sz="2000" b="1"/>
              <a:t>rotational symmetry</a:t>
            </a:r>
            <a:r>
              <a:rPr lang="en-GB" sz="2000"/>
              <a:t> is clear to see.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But it can be helpful when </a:t>
            </a:r>
            <a:r>
              <a:rPr lang="en-GB" sz="2000" b="1"/>
              <a:t>rotational symmetry</a:t>
            </a:r>
            <a:r>
              <a:rPr lang="en-GB" sz="2000"/>
              <a:t> is less clear.</a:t>
            </a:r>
            <a:endParaRPr sz="2000"/>
          </a:p>
        </p:txBody>
      </p:sp>
      <p:sp>
        <p:nvSpPr>
          <p:cNvPr id="873" name="Google Shape;87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grpSp>
        <p:nvGrpSpPr>
          <p:cNvPr id="874" name="Google Shape;874;p73"/>
          <p:cNvGrpSpPr/>
          <p:nvPr/>
        </p:nvGrpSpPr>
        <p:grpSpPr>
          <a:xfrm>
            <a:off x="2417839" y="2088087"/>
            <a:ext cx="1893900" cy="2200800"/>
            <a:chOff x="2417839" y="2088087"/>
            <a:chExt cx="1893900" cy="2200800"/>
          </a:xfrm>
        </p:grpSpPr>
        <p:sp>
          <p:nvSpPr>
            <p:cNvPr id="875" name="Google Shape;875;p73"/>
            <p:cNvSpPr/>
            <p:nvPr/>
          </p:nvSpPr>
          <p:spPr>
            <a:xfrm rot="5400000">
              <a:off x="2264389" y="22415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73"/>
            <p:cNvSpPr/>
            <p:nvPr/>
          </p:nvSpPr>
          <p:spPr>
            <a:xfrm>
              <a:off x="2734657" y="2658648"/>
              <a:ext cx="1250100" cy="1083000"/>
            </a:xfrm>
            <a:prstGeom prst="hexagon">
              <a:avLst>
                <a:gd name="adj" fmla="val 20923"/>
                <a:gd name="vf" fmla="val 11547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7" name="Google Shape;877;p73"/>
          <p:cNvSpPr txBox="1"/>
          <p:nvPr>
            <p:ph type="body" idx="1"/>
          </p:nvPr>
        </p:nvSpPr>
        <p:spPr>
          <a:xfrm rot="-2046">
            <a:off x="3231515" y="2092893"/>
            <a:ext cx="5040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8" name="Google Shape;87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50528" y="3680647"/>
            <a:ext cx="546175" cy="6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3"/>
          <p:cNvSpPr txBox="1"/>
          <p:nvPr/>
        </p:nvSpPr>
        <p:spPr>
          <a:xfrm>
            <a:off x="7749407" y="438829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3"/>
          <p:cNvSpPr txBox="1"/>
          <p:nvPr>
            <p:ph type="body" idx="1"/>
          </p:nvPr>
        </p:nvSpPr>
        <p:spPr>
          <a:xfrm>
            <a:off x="5118775" y="2089750"/>
            <a:ext cx="3195000" cy="15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It looks like it has </a:t>
            </a:r>
            <a:r>
              <a:rPr lang="en-GB" sz="1800" b="1"/>
              <a:t>rotational symmetry</a:t>
            </a:r>
            <a:r>
              <a:rPr lang="en-GB" sz="1800"/>
              <a:t> of order 6.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But let’s check with tracing paper.</a:t>
            </a:r>
            <a:endParaRPr sz="1800"/>
          </a:p>
        </p:txBody>
      </p:sp>
      <p:sp>
        <p:nvSpPr>
          <p:cNvPr id="881" name="Google Shape;881;p73"/>
          <p:cNvSpPr txBox="1"/>
          <p:nvPr>
            <p:ph type="body" idx="1"/>
          </p:nvPr>
        </p:nvSpPr>
        <p:spPr>
          <a:xfrm>
            <a:off x="1405330" y="2180389"/>
            <a:ext cx="2769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5" name="Shape 885"/>
        <p:cNvGrpSpPr/>
        <p:nvPr/>
      </p:nvGrpSpPr>
      <p:grpSpPr>
        <a:xfrm>
          <a:off x="0" y="0"/>
          <a:ext cx="0" cy="0"/>
        </a:xfrm>
      </p:grpSpPr>
      <p:pic>
        <p:nvPicPr>
          <p:cNvPr id="886" name="Google Shape;886;p74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5474877" y="2254175"/>
            <a:ext cx="2850898" cy="16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4"/>
          <p:cNvSpPr/>
          <p:nvPr/>
        </p:nvSpPr>
        <p:spPr>
          <a:xfrm>
            <a:off x="2734657" y="2658648"/>
            <a:ext cx="1250100" cy="1083000"/>
          </a:xfrm>
          <a:prstGeom prst="hexagon">
            <a:avLst>
              <a:gd name="adj" fmla="val 20923"/>
              <a:gd name="vf" fmla="val 1154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>
            <p:ph type="body" idx="1"/>
          </p:nvPr>
        </p:nvSpPr>
        <p:spPr>
          <a:xfrm>
            <a:off x="324000" y="759300"/>
            <a:ext cx="8237700" cy="10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Tracing paper may not be necessary for shapes where the </a:t>
            </a:r>
            <a:r>
              <a:rPr lang="en-GB" sz="2000" b="1"/>
              <a:t>rotational symmetry</a:t>
            </a:r>
            <a:r>
              <a:rPr lang="en-GB" sz="2000"/>
              <a:t> is clear to see.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But it can be helpful when </a:t>
            </a:r>
            <a:r>
              <a:rPr lang="en-GB" sz="2000" b="1"/>
              <a:t>rotational symmetry</a:t>
            </a:r>
            <a:r>
              <a:rPr lang="en-GB" sz="2000"/>
              <a:t> is less clear.</a:t>
            </a:r>
            <a:endParaRPr sz="2000"/>
          </a:p>
        </p:txBody>
      </p:sp>
      <p:sp>
        <p:nvSpPr>
          <p:cNvPr id="889" name="Google Shape;88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pic>
        <p:nvPicPr>
          <p:cNvPr id="890" name="Google Shape;89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50528" y="3680647"/>
            <a:ext cx="546175" cy="6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4"/>
          <p:cNvSpPr txBox="1"/>
          <p:nvPr/>
        </p:nvSpPr>
        <p:spPr>
          <a:xfrm>
            <a:off x="7749407" y="438829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4"/>
          <p:cNvSpPr txBox="1"/>
          <p:nvPr>
            <p:ph type="body" idx="1"/>
          </p:nvPr>
        </p:nvSpPr>
        <p:spPr>
          <a:xfrm>
            <a:off x="5781925" y="2394550"/>
            <a:ext cx="2226900" cy="10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It doesn’t quite fit.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It must not be a regular hexagon.</a:t>
            </a:r>
            <a:endParaRPr sz="1800"/>
          </a:p>
        </p:txBody>
      </p:sp>
      <p:grpSp>
        <p:nvGrpSpPr>
          <p:cNvPr id="893" name="Google Shape;893;p74"/>
          <p:cNvGrpSpPr/>
          <p:nvPr/>
        </p:nvGrpSpPr>
        <p:grpSpPr>
          <a:xfrm rot="4054125">
            <a:off x="2362329" y="2060627"/>
            <a:ext cx="1894027" cy="2200947"/>
            <a:chOff x="2417839" y="2088087"/>
            <a:chExt cx="1893900" cy="2200800"/>
          </a:xfrm>
        </p:grpSpPr>
        <p:sp>
          <p:nvSpPr>
            <p:cNvPr id="894" name="Google Shape;894;p74"/>
            <p:cNvSpPr/>
            <p:nvPr/>
          </p:nvSpPr>
          <p:spPr>
            <a:xfrm rot="5400000">
              <a:off x="2264389" y="22415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74"/>
            <p:cNvSpPr/>
            <p:nvPr/>
          </p:nvSpPr>
          <p:spPr>
            <a:xfrm>
              <a:off x="2734657" y="2658648"/>
              <a:ext cx="1250100" cy="1083000"/>
            </a:xfrm>
            <a:prstGeom prst="hexagon">
              <a:avLst>
                <a:gd name="adj" fmla="val 20923"/>
                <a:gd name="vf" fmla="val 11547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6" name="Google Shape;896;p74"/>
          <p:cNvSpPr txBox="1"/>
          <p:nvPr>
            <p:ph type="body" idx="1"/>
          </p:nvPr>
        </p:nvSpPr>
        <p:spPr>
          <a:xfrm rot="4052407">
            <a:off x="3961357" y="2749629"/>
            <a:ext cx="504140" cy="33304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7" name="Google Shape;897;p74"/>
          <p:cNvSpPr txBox="1"/>
          <p:nvPr>
            <p:ph type="body" idx="1"/>
          </p:nvPr>
        </p:nvSpPr>
        <p:spPr>
          <a:xfrm>
            <a:off x="1405330" y="2180389"/>
            <a:ext cx="2769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1" name="Shape 901"/>
        <p:cNvGrpSpPr/>
        <p:nvPr/>
      </p:nvGrpSpPr>
      <p:grpSpPr>
        <a:xfrm>
          <a:off x="0" y="0"/>
          <a:ext cx="0" cy="0"/>
        </a:xfrm>
      </p:grpSpPr>
      <p:pic>
        <p:nvPicPr>
          <p:cNvPr id="902" name="Google Shape;902;p75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5197141" y="2753546"/>
            <a:ext cx="3225549" cy="930401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5"/>
          <p:cNvSpPr/>
          <p:nvPr/>
        </p:nvSpPr>
        <p:spPr>
          <a:xfrm>
            <a:off x="2734657" y="2658648"/>
            <a:ext cx="1250100" cy="1083000"/>
          </a:xfrm>
          <a:prstGeom prst="hexagon">
            <a:avLst>
              <a:gd name="adj" fmla="val 20923"/>
              <a:gd name="vf" fmla="val 1154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5"/>
          <p:cNvSpPr txBox="1"/>
          <p:nvPr>
            <p:ph type="body" idx="1"/>
          </p:nvPr>
        </p:nvSpPr>
        <p:spPr>
          <a:xfrm>
            <a:off x="324000" y="759300"/>
            <a:ext cx="8237700" cy="10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Tracing paper may not be necessary for shapes where the </a:t>
            </a:r>
            <a:r>
              <a:rPr lang="en-GB" sz="2000" b="1"/>
              <a:t>rotational symmetry</a:t>
            </a:r>
            <a:r>
              <a:rPr lang="en-GB" sz="2000"/>
              <a:t> is clear to see.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But it can be helpful when </a:t>
            </a:r>
            <a:r>
              <a:rPr lang="en-GB" sz="2000" b="1"/>
              <a:t>rotational symmetry</a:t>
            </a:r>
            <a:r>
              <a:rPr lang="en-GB" sz="2000"/>
              <a:t> is less clear.</a:t>
            </a:r>
            <a:endParaRPr sz="2000"/>
          </a:p>
        </p:txBody>
      </p:sp>
      <p:sp>
        <p:nvSpPr>
          <p:cNvPr id="905" name="Google Shape;90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pic>
        <p:nvPicPr>
          <p:cNvPr id="906" name="Google Shape;90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50528" y="3680647"/>
            <a:ext cx="546175" cy="6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5"/>
          <p:cNvSpPr txBox="1"/>
          <p:nvPr/>
        </p:nvSpPr>
        <p:spPr>
          <a:xfrm>
            <a:off x="7749407" y="438829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5"/>
          <p:cNvSpPr txBox="1"/>
          <p:nvPr>
            <p:ph type="body" idx="1"/>
          </p:nvPr>
        </p:nvSpPr>
        <p:spPr>
          <a:xfrm>
            <a:off x="5321450" y="3004157"/>
            <a:ext cx="28398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It doesn’t fit here either.</a:t>
            </a:r>
            <a:endParaRPr sz="1800"/>
          </a:p>
        </p:txBody>
      </p:sp>
      <p:grpSp>
        <p:nvGrpSpPr>
          <p:cNvPr id="909" name="Google Shape;909;p75"/>
          <p:cNvGrpSpPr/>
          <p:nvPr/>
        </p:nvGrpSpPr>
        <p:grpSpPr>
          <a:xfrm rot="6911793">
            <a:off x="2390824" y="2079380"/>
            <a:ext cx="1893790" cy="2200672"/>
            <a:chOff x="2417839" y="2088087"/>
            <a:chExt cx="1893900" cy="2200800"/>
          </a:xfrm>
        </p:grpSpPr>
        <p:sp>
          <p:nvSpPr>
            <p:cNvPr id="910" name="Google Shape;910;p75"/>
            <p:cNvSpPr/>
            <p:nvPr/>
          </p:nvSpPr>
          <p:spPr>
            <a:xfrm rot="5400000">
              <a:off x="2264389" y="22415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75"/>
            <p:cNvSpPr/>
            <p:nvPr/>
          </p:nvSpPr>
          <p:spPr>
            <a:xfrm>
              <a:off x="2734657" y="2658648"/>
              <a:ext cx="1250100" cy="1083000"/>
            </a:xfrm>
            <a:prstGeom prst="hexagon">
              <a:avLst>
                <a:gd name="adj" fmla="val 20923"/>
                <a:gd name="vf" fmla="val 11547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2" name="Google Shape;912;p75"/>
          <p:cNvSpPr txBox="1"/>
          <p:nvPr>
            <p:ph type="body" idx="1"/>
          </p:nvPr>
        </p:nvSpPr>
        <p:spPr>
          <a:xfrm rot="6909670">
            <a:off x="3875631" y="3515850"/>
            <a:ext cx="503803" cy="33295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3" name="Google Shape;913;p75"/>
          <p:cNvSpPr txBox="1"/>
          <p:nvPr>
            <p:ph type="body" idx="1"/>
          </p:nvPr>
        </p:nvSpPr>
        <p:spPr>
          <a:xfrm>
            <a:off x="1405330" y="2180389"/>
            <a:ext cx="2769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7" name="Shape 917"/>
        <p:cNvGrpSpPr/>
        <p:nvPr/>
      </p:nvGrpSpPr>
      <p:grpSpPr>
        <a:xfrm>
          <a:off x="0" y="0"/>
          <a:ext cx="0" cy="0"/>
        </a:xfrm>
      </p:grpSpPr>
      <p:pic>
        <p:nvPicPr>
          <p:cNvPr id="918" name="Google Shape;918;p76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6041798" y="2575250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76"/>
          <p:cNvSpPr/>
          <p:nvPr/>
        </p:nvSpPr>
        <p:spPr>
          <a:xfrm>
            <a:off x="2734657" y="2658648"/>
            <a:ext cx="1250100" cy="1083000"/>
          </a:xfrm>
          <a:prstGeom prst="hexagon">
            <a:avLst>
              <a:gd name="adj" fmla="val 20923"/>
              <a:gd name="vf" fmla="val 1154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6"/>
          <p:cNvSpPr txBox="1"/>
          <p:nvPr>
            <p:ph type="body" idx="1"/>
          </p:nvPr>
        </p:nvSpPr>
        <p:spPr>
          <a:xfrm>
            <a:off x="324000" y="759300"/>
            <a:ext cx="8237700" cy="10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Tracing paper may not be necessary for shapes where the </a:t>
            </a:r>
            <a:r>
              <a:rPr lang="en-GB" sz="2000" b="1"/>
              <a:t>rotational symmetry</a:t>
            </a:r>
            <a:r>
              <a:rPr lang="en-GB" sz="2000"/>
              <a:t> is clear to see.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But it can be helpful when </a:t>
            </a:r>
            <a:r>
              <a:rPr lang="en-GB" sz="2000" b="1"/>
              <a:t>rotational symmetry</a:t>
            </a:r>
            <a:r>
              <a:rPr lang="en-GB" sz="2000"/>
              <a:t> is less clear.</a:t>
            </a:r>
            <a:endParaRPr sz="2000"/>
          </a:p>
        </p:txBody>
      </p:sp>
      <p:sp>
        <p:nvSpPr>
          <p:cNvPr id="921" name="Google Shape;92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pic>
        <p:nvPicPr>
          <p:cNvPr id="922" name="Google Shape;92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50528" y="3680647"/>
            <a:ext cx="546175" cy="6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6"/>
          <p:cNvSpPr txBox="1"/>
          <p:nvPr/>
        </p:nvSpPr>
        <p:spPr>
          <a:xfrm>
            <a:off x="7749407" y="438829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6"/>
          <p:cNvSpPr txBox="1"/>
          <p:nvPr>
            <p:ph type="body" idx="1"/>
          </p:nvPr>
        </p:nvSpPr>
        <p:spPr>
          <a:xfrm>
            <a:off x="6312050" y="3004150"/>
            <a:ext cx="1438500" cy="40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It fits here.</a:t>
            </a:r>
            <a:endParaRPr sz="1800"/>
          </a:p>
        </p:txBody>
      </p:sp>
      <p:grpSp>
        <p:nvGrpSpPr>
          <p:cNvPr id="925" name="Google Shape;925;p76"/>
          <p:cNvGrpSpPr/>
          <p:nvPr/>
        </p:nvGrpSpPr>
        <p:grpSpPr>
          <a:xfrm rot="10792780">
            <a:off x="2409265" y="2116906"/>
            <a:ext cx="1893715" cy="2200585"/>
            <a:chOff x="2417839" y="2088087"/>
            <a:chExt cx="1893900" cy="2200800"/>
          </a:xfrm>
        </p:grpSpPr>
        <p:sp>
          <p:nvSpPr>
            <p:cNvPr id="926" name="Google Shape;926;p76"/>
            <p:cNvSpPr/>
            <p:nvPr/>
          </p:nvSpPr>
          <p:spPr>
            <a:xfrm rot="5400000">
              <a:off x="2264389" y="22415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76"/>
            <p:cNvSpPr/>
            <p:nvPr/>
          </p:nvSpPr>
          <p:spPr>
            <a:xfrm>
              <a:off x="2734657" y="2658648"/>
              <a:ext cx="1250100" cy="1083000"/>
            </a:xfrm>
            <a:prstGeom prst="hexagon">
              <a:avLst>
                <a:gd name="adj" fmla="val 20923"/>
                <a:gd name="vf" fmla="val 11547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8" name="Google Shape;928;p76"/>
          <p:cNvSpPr txBox="1"/>
          <p:nvPr>
            <p:ph type="body" idx="1"/>
          </p:nvPr>
        </p:nvSpPr>
        <p:spPr>
          <a:xfrm rot="10791810">
            <a:off x="2987939" y="3979593"/>
            <a:ext cx="503701" cy="33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9" name="Google Shape;929;p76"/>
          <p:cNvSpPr txBox="1"/>
          <p:nvPr>
            <p:ph type="body" idx="1"/>
          </p:nvPr>
        </p:nvSpPr>
        <p:spPr>
          <a:xfrm>
            <a:off x="1405330" y="2180389"/>
            <a:ext cx="2769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3" name="Shape 933"/>
        <p:cNvGrpSpPr/>
        <p:nvPr/>
      </p:nvGrpSpPr>
      <p:grpSpPr>
        <a:xfrm>
          <a:off x="0" y="0"/>
          <a:ext cx="0" cy="0"/>
        </a:xfrm>
      </p:grpSpPr>
      <p:pic>
        <p:nvPicPr>
          <p:cNvPr id="934" name="Google Shape;934;p77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5643453" y="2307088"/>
            <a:ext cx="2353597" cy="1584412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7"/>
          <p:cNvSpPr/>
          <p:nvPr/>
        </p:nvSpPr>
        <p:spPr>
          <a:xfrm>
            <a:off x="2734657" y="2658648"/>
            <a:ext cx="1250100" cy="1083000"/>
          </a:xfrm>
          <a:prstGeom prst="hexagon">
            <a:avLst>
              <a:gd name="adj" fmla="val 20923"/>
              <a:gd name="vf" fmla="val 11547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7"/>
          <p:cNvSpPr txBox="1"/>
          <p:nvPr>
            <p:ph type="body" idx="1"/>
          </p:nvPr>
        </p:nvSpPr>
        <p:spPr>
          <a:xfrm>
            <a:off x="324000" y="759300"/>
            <a:ext cx="8237700" cy="102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Tracing paper may not be necessary for shapes where the </a:t>
            </a:r>
            <a:r>
              <a:rPr lang="en-GB" sz="2000" b="1"/>
              <a:t>rotational symmetry</a:t>
            </a:r>
            <a:r>
              <a:rPr lang="en-GB" sz="2000"/>
              <a:t> is clear to see.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But it can be helpful when </a:t>
            </a:r>
            <a:r>
              <a:rPr lang="en-GB" sz="2000" b="1"/>
              <a:t>rotational symmetry</a:t>
            </a:r>
            <a:r>
              <a:rPr lang="en-GB" sz="2000"/>
              <a:t> is less clear.</a:t>
            </a:r>
            <a:endParaRPr sz="2000"/>
          </a:p>
        </p:txBody>
      </p:sp>
      <p:sp>
        <p:nvSpPr>
          <p:cNvPr id="937" name="Google Shape;93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pic>
        <p:nvPicPr>
          <p:cNvPr id="938" name="Google Shape;93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50528" y="3680647"/>
            <a:ext cx="546175" cy="6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77"/>
          <p:cNvSpPr txBox="1"/>
          <p:nvPr/>
        </p:nvSpPr>
        <p:spPr>
          <a:xfrm>
            <a:off x="7749407" y="438829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7"/>
          <p:cNvSpPr txBox="1"/>
          <p:nvPr>
            <p:ph type="body" idx="1"/>
          </p:nvPr>
        </p:nvSpPr>
        <p:spPr>
          <a:xfrm>
            <a:off x="5816800" y="2623150"/>
            <a:ext cx="1992300" cy="93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It has </a:t>
            </a:r>
            <a:r>
              <a:rPr lang="en-GB" sz="1800" b="1"/>
              <a:t>rotational symmetry</a:t>
            </a:r>
            <a:r>
              <a:rPr lang="en-GB" sz="1800"/>
              <a:t> of order 2.</a:t>
            </a:r>
            <a:endParaRPr sz="1800"/>
          </a:p>
        </p:txBody>
      </p:sp>
      <p:grpSp>
        <p:nvGrpSpPr>
          <p:cNvPr id="941" name="Google Shape;941;p77"/>
          <p:cNvGrpSpPr/>
          <p:nvPr/>
        </p:nvGrpSpPr>
        <p:grpSpPr>
          <a:xfrm rot="-4039053">
            <a:off x="2416737" y="2107674"/>
            <a:ext cx="1893785" cy="2200666"/>
            <a:chOff x="2417839" y="2088087"/>
            <a:chExt cx="1893900" cy="2200800"/>
          </a:xfrm>
        </p:grpSpPr>
        <p:sp>
          <p:nvSpPr>
            <p:cNvPr id="942" name="Google Shape;942;p77"/>
            <p:cNvSpPr/>
            <p:nvPr/>
          </p:nvSpPr>
          <p:spPr>
            <a:xfrm rot="5400000">
              <a:off x="2264389" y="22415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77"/>
            <p:cNvSpPr/>
            <p:nvPr/>
          </p:nvSpPr>
          <p:spPr>
            <a:xfrm>
              <a:off x="2734657" y="2658648"/>
              <a:ext cx="1250100" cy="1083000"/>
            </a:xfrm>
            <a:prstGeom prst="hexagon">
              <a:avLst>
                <a:gd name="adj" fmla="val 20923"/>
                <a:gd name="vf" fmla="val 11547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4" name="Google Shape;944;p77"/>
          <p:cNvSpPr txBox="1"/>
          <p:nvPr>
            <p:ph type="body" idx="1"/>
          </p:nvPr>
        </p:nvSpPr>
        <p:spPr>
          <a:xfrm rot="-4038716">
            <a:off x="2281820" y="2535476"/>
            <a:ext cx="504000" cy="33240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45" name="Google Shape;945;p77"/>
          <p:cNvGrpSpPr/>
          <p:nvPr/>
        </p:nvGrpSpPr>
        <p:grpSpPr>
          <a:xfrm>
            <a:off x="2417839" y="2088087"/>
            <a:ext cx="1893900" cy="2200800"/>
            <a:chOff x="2417839" y="2088087"/>
            <a:chExt cx="1893900" cy="2200800"/>
          </a:xfrm>
        </p:grpSpPr>
        <p:sp>
          <p:nvSpPr>
            <p:cNvPr id="946" name="Google Shape;946;p77"/>
            <p:cNvSpPr/>
            <p:nvPr/>
          </p:nvSpPr>
          <p:spPr>
            <a:xfrm rot="5400000">
              <a:off x="2264389" y="22415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77"/>
            <p:cNvSpPr/>
            <p:nvPr/>
          </p:nvSpPr>
          <p:spPr>
            <a:xfrm>
              <a:off x="2734657" y="2658648"/>
              <a:ext cx="1250100" cy="1083000"/>
            </a:xfrm>
            <a:prstGeom prst="hexagon">
              <a:avLst>
                <a:gd name="adj" fmla="val 20923"/>
                <a:gd name="vf" fmla="val 11547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8" name="Google Shape;948;p77"/>
          <p:cNvSpPr txBox="1"/>
          <p:nvPr>
            <p:ph type="body" idx="1"/>
          </p:nvPr>
        </p:nvSpPr>
        <p:spPr>
          <a:xfrm rot="-2046">
            <a:off x="3231515" y="2092893"/>
            <a:ext cx="5040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9" name="Google Shape;949;p77"/>
          <p:cNvSpPr txBox="1"/>
          <p:nvPr>
            <p:ph type="body" idx="1"/>
          </p:nvPr>
        </p:nvSpPr>
        <p:spPr>
          <a:xfrm>
            <a:off x="1405330" y="2180389"/>
            <a:ext cx="2769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50" name="Google Shape;950;p77"/>
          <p:cNvGrpSpPr/>
          <p:nvPr/>
        </p:nvGrpSpPr>
        <p:grpSpPr>
          <a:xfrm rot="-6729662">
            <a:off x="2428640" y="2120401"/>
            <a:ext cx="1893844" cy="2200735"/>
            <a:chOff x="2417839" y="2088087"/>
            <a:chExt cx="1893900" cy="2200800"/>
          </a:xfrm>
        </p:grpSpPr>
        <p:sp>
          <p:nvSpPr>
            <p:cNvPr id="951" name="Google Shape;951;p77"/>
            <p:cNvSpPr/>
            <p:nvPr/>
          </p:nvSpPr>
          <p:spPr>
            <a:xfrm rot="5400000">
              <a:off x="2264389" y="22415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77"/>
            <p:cNvSpPr/>
            <p:nvPr/>
          </p:nvSpPr>
          <p:spPr>
            <a:xfrm>
              <a:off x="2734657" y="2658648"/>
              <a:ext cx="1250100" cy="1083000"/>
            </a:xfrm>
            <a:prstGeom prst="hexagon">
              <a:avLst>
                <a:gd name="adj" fmla="val 20923"/>
                <a:gd name="vf" fmla="val 11547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3" name="Google Shape;953;p77"/>
          <p:cNvSpPr txBox="1"/>
          <p:nvPr>
            <p:ph type="body" idx="1"/>
          </p:nvPr>
        </p:nvSpPr>
        <p:spPr>
          <a:xfrm rot="-6739246">
            <a:off x="2194094" y="3353784"/>
            <a:ext cx="503961" cy="33231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7" name="Shape 957"/>
        <p:cNvGrpSpPr/>
        <p:nvPr/>
      </p:nvGrpSpPr>
      <p:grpSpPr>
        <a:xfrm>
          <a:off x="0" y="0"/>
          <a:ext cx="0" cy="0"/>
        </a:xfrm>
      </p:grpSpPr>
      <p:sp>
        <p:nvSpPr>
          <p:cNvPr id="958" name="Google Shape;958;p78"/>
          <p:cNvSpPr/>
          <p:nvPr/>
        </p:nvSpPr>
        <p:spPr>
          <a:xfrm rot="5400000">
            <a:off x="2705631" y="2494420"/>
            <a:ext cx="1325400" cy="550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9" name="Google Shape;959;p78"/>
          <p:cNvGrpSpPr/>
          <p:nvPr/>
        </p:nvGrpSpPr>
        <p:grpSpPr>
          <a:xfrm>
            <a:off x="2390096" y="1630887"/>
            <a:ext cx="1893900" cy="2200800"/>
            <a:chOff x="1475696" y="1630887"/>
            <a:chExt cx="1893900" cy="2200800"/>
          </a:xfrm>
        </p:grpSpPr>
        <p:sp>
          <p:nvSpPr>
            <p:cNvPr id="960" name="Google Shape;960;p78"/>
            <p:cNvSpPr/>
            <p:nvPr/>
          </p:nvSpPr>
          <p:spPr>
            <a:xfrm rot="5400000">
              <a:off x="1322246" y="17843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78"/>
            <p:cNvSpPr/>
            <p:nvPr/>
          </p:nvSpPr>
          <p:spPr>
            <a:xfrm rot="5400000">
              <a:off x="1791231" y="2494420"/>
              <a:ext cx="1325400" cy="550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2" name="Google Shape;962;p78"/>
          <p:cNvSpPr txBox="1"/>
          <p:nvPr>
            <p:ph type="body" idx="1"/>
          </p:nvPr>
        </p:nvSpPr>
        <p:spPr>
          <a:xfrm rot="-1890">
            <a:off x="3085050" y="1794483"/>
            <a:ext cx="5457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63" name="Google Shape;963;p78"/>
          <p:cNvGrpSpPr/>
          <p:nvPr/>
        </p:nvGrpSpPr>
        <p:grpSpPr>
          <a:xfrm rot="10800000">
            <a:off x="2448215" y="1707087"/>
            <a:ext cx="1893900" cy="2200800"/>
            <a:chOff x="1475696" y="1630887"/>
            <a:chExt cx="1893900" cy="2200800"/>
          </a:xfrm>
        </p:grpSpPr>
        <p:sp>
          <p:nvSpPr>
            <p:cNvPr id="964" name="Google Shape;964;p78"/>
            <p:cNvSpPr/>
            <p:nvPr/>
          </p:nvSpPr>
          <p:spPr>
            <a:xfrm rot="5400000">
              <a:off x="1322246" y="17843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78"/>
            <p:cNvSpPr/>
            <p:nvPr/>
          </p:nvSpPr>
          <p:spPr>
            <a:xfrm rot="5400000">
              <a:off x="1791231" y="2494420"/>
              <a:ext cx="1325400" cy="550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6" name="Google Shape;966;p78"/>
          <p:cNvSpPr txBox="1"/>
          <p:nvPr>
            <p:ph type="body" idx="1"/>
          </p:nvPr>
        </p:nvSpPr>
        <p:spPr>
          <a:xfrm rot="10798110">
            <a:off x="3097050" y="3440103"/>
            <a:ext cx="5457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67" name="Google Shape;967;p78"/>
          <p:cNvGrpSpPr/>
          <p:nvPr/>
        </p:nvGrpSpPr>
        <p:grpSpPr>
          <a:xfrm rot="2700000">
            <a:off x="2443958" y="1613722"/>
            <a:ext cx="1893882" cy="2200779"/>
            <a:chOff x="1475696" y="1630887"/>
            <a:chExt cx="1893900" cy="2200800"/>
          </a:xfrm>
        </p:grpSpPr>
        <p:sp>
          <p:nvSpPr>
            <p:cNvPr id="968" name="Google Shape;968;p78"/>
            <p:cNvSpPr/>
            <p:nvPr/>
          </p:nvSpPr>
          <p:spPr>
            <a:xfrm rot="5400000">
              <a:off x="1322246" y="17843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78"/>
            <p:cNvSpPr/>
            <p:nvPr/>
          </p:nvSpPr>
          <p:spPr>
            <a:xfrm rot="5400000">
              <a:off x="1791231" y="2494420"/>
              <a:ext cx="1325400" cy="550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0" name="Google Shape;970;p78"/>
          <p:cNvSpPr txBox="1"/>
          <p:nvPr>
            <p:ph type="body" idx="1"/>
          </p:nvPr>
        </p:nvSpPr>
        <p:spPr>
          <a:xfrm rot="2697347">
            <a:off x="3689049" y="2020275"/>
            <a:ext cx="549846" cy="33304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78"/>
          <p:cNvSpPr txBox="1"/>
          <p:nvPr>
            <p:ph type="body" idx="1"/>
          </p:nvPr>
        </p:nvSpPr>
        <p:spPr>
          <a:xfrm>
            <a:off x="324000" y="759300"/>
            <a:ext cx="82377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Alex is investigating the </a:t>
            </a:r>
            <a:r>
              <a:rPr lang="en-GB" sz="2000" b="1"/>
              <a:t>rotational symmetry</a:t>
            </a:r>
            <a:r>
              <a:rPr lang="en-GB" sz="2000"/>
              <a:t> of the shape below.</a:t>
            </a:r>
            <a:endParaRPr sz="2000"/>
          </a:p>
        </p:txBody>
      </p:sp>
      <p:sp>
        <p:nvSpPr>
          <p:cNvPr id="972" name="Google Shape;97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973" name="Google Shape;973;p78"/>
          <p:cNvSpPr txBox="1"/>
          <p:nvPr>
            <p:ph type="body" idx="1"/>
          </p:nvPr>
        </p:nvSpPr>
        <p:spPr>
          <a:xfrm>
            <a:off x="324000" y="4035900"/>
            <a:ext cx="82377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mistake did Alex make?</a:t>
            </a:r>
            <a:endParaRPr sz="2000"/>
          </a:p>
        </p:txBody>
      </p:sp>
      <p:sp>
        <p:nvSpPr>
          <p:cNvPr id="974" name="Google Shape;974;p78"/>
          <p:cNvSpPr txBox="1"/>
          <p:nvPr>
            <p:ph type="body" idx="1"/>
          </p:nvPr>
        </p:nvSpPr>
        <p:spPr>
          <a:xfrm>
            <a:off x="324000" y="4416900"/>
            <a:ext cx="82377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Alex counted the starting point twice.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75" name="Google Shape;97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2213" y="1909565"/>
            <a:ext cx="550499" cy="634843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78"/>
          <p:cNvSpPr txBox="1"/>
          <p:nvPr/>
        </p:nvSpPr>
        <p:spPr>
          <a:xfrm>
            <a:off x="6786550" y="2541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7" name="Google Shape;977;p78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>
            <a:off x="5738400" y="1323207"/>
            <a:ext cx="1190451" cy="801396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8"/>
          <p:cNvSpPr txBox="1"/>
          <p:nvPr>
            <p:ph type="body" idx="1"/>
          </p:nvPr>
        </p:nvSpPr>
        <p:spPr>
          <a:xfrm>
            <a:off x="5922924" y="1539381"/>
            <a:ext cx="2241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</a:t>
            </a:r>
            <a:endParaRPr sz="2000"/>
          </a:p>
        </p:txBody>
      </p:sp>
      <p:sp>
        <p:nvSpPr>
          <p:cNvPr id="979" name="Google Shape;979;p78"/>
          <p:cNvSpPr txBox="1"/>
          <p:nvPr>
            <p:ph type="body" idx="1"/>
          </p:nvPr>
        </p:nvSpPr>
        <p:spPr>
          <a:xfrm>
            <a:off x="6075342" y="1539391"/>
            <a:ext cx="3993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2</a:t>
            </a:r>
            <a:endParaRPr sz="2000"/>
          </a:p>
        </p:txBody>
      </p:sp>
      <p:sp>
        <p:nvSpPr>
          <p:cNvPr id="980" name="Google Shape;980;p78"/>
          <p:cNvSpPr txBox="1"/>
          <p:nvPr>
            <p:ph type="body" idx="1"/>
          </p:nvPr>
        </p:nvSpPr>
        <p:spPr>
          <a:xfrm>
            <a:off x="6380142" y="1539391"/>
            <a:ext cx="399300" cy="38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, 3</a:t>
            </a:r>
            <a:endParaRPr sz="2000"/>
          </a:p>
        </p:txBody>
      </p:sp>
      <p:pic>
        <p:nvPicPr>
          <p:cNvPr id="981" name="Google Shape;981;p78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rot="10800000" flipH="1">
            <a:off x="5073100" y="2564951"/>
            <a:ext cx="2042501" cy="1366299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78"/>
          <p:cNvSpPr txBox="1"/>
          <p:nvPr>
            <p:ph type="body" idx="1"/>
          </p:nvPr>
        </p:nvSpPr>
        <p:spPr>
          <a:xfrm>
            <a:off x="5215330" y="2863841"/>
            <a:ext cx="1724700" cy="9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order of </a:t>
            </a:r>
            <a:r>
              <a:rPr lang="en-GB" sz="1800" b="1"/>
              <a:t>rotational symmetry</a:t>
            </a:r>
            <a:r>
              <a:rPr lang="en-GB" sz="1800"/>
              <a:t> is 3.</a:t>
            </a:r>
            <a:endParaRPr sz="1800"/>
          </a:p>
        </p:txBody>
      </p:sp>
      <p:grpSp>
        <p:nvGrpSpPr>
          <p:cNvPr id="983" name="Google Shape;983;p78"/>
          <p:cNvGrpSpPr/>
          <p:nvPr/>
        </p:nvGrpSpPr>
        <p:grpSpPr>
          <a:xfrm rot="5400000">
            <a:off x="2477520" y="1641030"/>
            <a:ext cx="1893900" cy="2200800"/>
            <a:chOff x="1475696" y="1630887"/>
            <a:chExt cx="1893900" cy="2200800"/>
          </a:xfrm>
        </p:grpSpPr>
        <p:sp>
          <p:nvSpPr>
            <p:cNvPr id="984" name="Google Shape;984;p78"/>
            <p:cNvSpPr/>
            <p:nvPr/>
          </p:nvSpPr>
          <p:spPr>
            <a:xfrm rot="5400000">
              <a:off x="1322246" y="17843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78"/>
            <p:cNvSpPr/>
            <p:nvPr/>
          </p:nvSpPr>
          <p:spPr>
            <a:xfrm rot="5400000">
              <a:off x="1791231" y="2494420"/>
              <a:ext cx="1325400" cy="550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6" name="Google Shape;986;p78"/>
          <p:cNvSpPr txBox="1"/>
          <p:nvPr>
            <p:ph type="body" idx="1"/>
          </p:nvPr>
        </p:nvSpPr>
        <p:spPr>
          <a:xfrm rot="5398157">
            <a:off x="3920874" y="2600995"/>
            <a:ext cx="5595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87" name="Google Shape;987;p78"/>
          <p:cNvGrpSpPr/>
          <p:nvPr/>
        </p:nvGrpSpPr>
        <p:grpSpPr>
          <a:xfrm rot="8100000">
            <a:off x="2461939" y="1665281"/>
            <a:ext cx="1893882" cy="2200779"/>
            <a:chOff x="1475696" y="1630887"/>
            <a:chExt cx="1893900" cy="2200800"/>
          </a:xfrm>
        </p:grpSpPr>
        <p:sp>
          <p:nvSpPr>
            <p:cNvPr id="988" name="Google Shape;988;p78"/>
            <p:cNvSpPr/>
            <p:nvPr/>
          </p:nvSpPr>
          <p:spPr>
            <a:xfrm rot="5400000">
              <a:off x="1322246" y="17843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78"/>
            <p:cNvSpPr/>
            <p:nvPr/>
          </p:nvSpPr>
          <p:spPr>
            <a:xfrm rot="5400000">
              <a:off x="1791231" y="2494420"/>
              <a:ext cx="1325400" cy="550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0" name="Google Shape;990;p78"/>
          <p:cNvSpPr txBox="1"/>
          <p:nvPr>
            <p:ph type="body" idx="1"/>
          </p:nvPr>
        </p:nvSpPr>
        <p:spPr>
          <a:xfrm rot="8098696">
            <a:off x="3684269" y="3190534"/>
            <a:ext cx="559392" cy="33304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1" name="Google Shape;991;p78"/>
          <p:cNvSpPr txBox="1"/>
          <p:nvPr>
            <p:ph type="body" idx="1"/>
          </p:nvPr>
        </p:nvSpPr>
        <p:spPr>
          <a:xfrm rot="-8101304">
            <a:off x="2541867" y="3168659"/>
            <a:ext cx="559392" cy="33304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2" name="Google Shape;992;p78"/>
          <p:cNvSpPr txBox="1"/>
          <p:nvPr>
            <p:ph type="body" idx="1"/>
          </p:nvPr>
        </p:nvSpPr>
        <p:spPr>
          <a:xfrm rot="-5401843">
            <a:off x="2283668" y="2615819"/>
            <a:ext cx="559500" cy="3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3" name="Google Shape;993;p78"/>
          <p:cNvSpPr txBox="1"/>
          <p:nvPr>
            <p:ph type="body" idx="1"/>
          </p:nvPr>
        </p:nvSpPr>
        <p:spPr>
          <a:xfrm rot="-2701304">
            <a:off x="2487557" y="2006219"/>
            <a:ext cx="559392" cy="33304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top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7" name="Shape 997"/>
        <p:cNvGrpSpPr/>
        <p:nvPr/>
      </p:nvGrpSpPr>
      <p:grpSpPr>
        <a:xfrm>
          <a:off x="0" y="0"/>
          <a:ext cx="0" cy="0"/>
        </a:xfrm>
      </p:grpSpPr>
      <p:sp>
        <p:nvSpPr>
          <p:cNvPr id="998" name="Google Shape;998;p79"/>
          <p:cNvSpPr/>
          <p:nvPr/>
        </p:nvSpPr>
        <p:spPr>
          <a:xfrm>
            <a:off x="4131608" y="2124600"/>
            <a:ext cx="885300" cy="1403400"/>
          </a:xfrm>
          <a:prstGeom prst="upArrow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9"/>
          <p:cNvSpPr txBox="1"/>
          <p:nvPr>
            <p:ph type="body" idx="1"/>
          </p:nvPr>
        </p:nvSpPr>
        <p:spPr>
          <a:xfrm>
            <a:off x="324000" y="759300"/>
            <a:ext cx="8496000" cy="6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Sofia are finding the order of </a:t>
            </a:r>
            <a:r>
              <a:rPr lang="en-GB" sz="2000" b="1"/>
              <a:t>rotational symmetry</a:t>
            </a:r>
            <a:r>
              <a:rPr lang="en-GB" sz="2000"/>
              <a:t> for the shape below.</a:t>
            </a:r>
            <a:endParaRPr sz="2000"/>
          </a:p>
        </p:txBody>
      </p:sp>
      <p:sp>
        <p:nvSpPr>
          <p:cNvPr id="1000" name="Google Shape;100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grpSp>
        <p:nvGrpSpPr>
          <p:cNvPr id="1001" name="Google Shape;1001;p79"/>
          <p:cNvGrpSpPr/>
          <p:nvPr/>
        </p:nvGrpSpPr>
        <p:grpSpPr>
          <a:xfrm>
            <a:off x="3594754" y="1630887"/>
            <a:ext cx="1893900" cy="2200800"/>
            <a:chOff x="3594754" y="1630887"/>
            <a:chExt cx="1893900" cy="2200800"/>
          </a:xfrm>
        </p:grpSpPr>
        <p:sp>
          <p:nvSpPr>
            <p:cNvPr id="1002" name="Google Shape;1002;p79"/>
            <p:cNvSpPr/>
            <p:nvPr/>
          </p:nvSpPr>
          <p:spPr>
            <a:xfrm rot="5400000">
              <a:off x="3441304" y="1784337"/>
              <a:ext cx="2200800" cy="18939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79"/>
            <p:cNvSpPr/>
            <p:nvPr/>
          </p:nvSpPr>
          <p:spPr>
            <a:xfrm>
              <a:off x="4131608" y="2124600"/>
              <a:ext cx="885300" cy="1403400"/>
            </a:xfrm>
            <a:prstGeom prst="upArrow">
              <a:avLst>
                <a:gd name="adj1" fmla="val 50000"/>
                <a:gd name="adj2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04" name="Google Shape;100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7814" y="3340308"/>
            <a:ext cx="570668" cy="633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482" y="3313208"/>
            <a:ext cx="563996" cy="6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79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556626" y="1647900"/>
            <a:ext cx="2812974" cy="17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79"/>
          <p:cNvSpPr txBox="1"/>
          <p:nvPr>
            <p:ph type="body" idx="1"/>
          </p:nvPr>
        </p:nvSpPr>
        <p:spPr>
          <a:xfrm>
            <a:off x="808287" y="1703610"/>
            <a:ext cx="2496300" cy="156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 think it will have </a:t>
            </a:r>
            <a:r>
              <a:rPr lang="en-GB" sz="1600" b="1"/>
              <a:t>rotational symmetry</a:t>
            </a:r>
            <a:r>
              <a:rPr lang="en-GB" sz="1600"/>
              <a:t> of order 0 because it won’t look the same in any other position.</a:t>
            </a:r>
            <a:endParaRPr sz="1600"/>
          </a:p>
        </p:txBody>
      </p:sp>
      <p:pic>
        <p:nvPicPr>
          <p:cNvPr id="1008" name="Google Shape;1008;p79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5692003" y="1647900"/>
            <a:ext cx="3113175" cy="17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79"/>
          <p:cNvSpPr txBox="1"/>
          <p:nvPr>
            <p:ph type="body" idx="1"/>
          </p:nvPr>
        </p:nvSpPr>
        <p:spPr>
          <a:xfrm flipH="1">
            <a:off x="5828528" y="1703600"/>
            <a:ext cx="2813100" cy="156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If we draw a congruent shape on tracing paper, it would fit perfectly on top of it once. So it has </a:t>
            </a:r>
            <a:r>
              <a:rPr lang="en-GB" sz="1600" b="1"/>
              <a:t>rotational symmetry</a:t>
            </a:r>
            <a:r>
              <a:rPr lang="en-GB" sz="1600"/>
              <a:t> of order 1. </a:t>
            </a:r>
            <a:endParaRPr sz="1600"/>
          </a:p>
        </p:txBody>
      </p:sp>
      <p:sp>
        <p:nvSpPr>
          <p:cNvPr id="1010" name="Google Shape;1010;p79"/>
          <p:cNvSpPr txBox="1"/>
          <p:nvPr>
            <p:ph type="body" idx="1"/>
          </p:nvPr>
        </p:nvSpPr>
        <p:spPr>
          <a:xfrm>
            <a:off x="324000" y="4112100"/>
            <a:ext cx="8496000" cy="35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Who do you agree with?</a:t>
            </a:r>
            <a:endParaRPr sz="2000"/>
          </a:p>
        </p:txBody>
      </p:sp>
      <p:sp>
        <p:nvSpPr>
          <p:cNvPr id="1011" name="Google Shape;1011;p79"/>
          <p:cNvSpPr txBox="1"/>
          <p:nvPr>
            <p:ph type="body" idx="1"/>
          </p:nvPr>
        </p:nvSpPr>
        <p:spPr>
          <a:xfrm>
            <a:off x="324000" y="4493100"/>
            <a:ext cx="8496000" cy="35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All shapes have </a:t>
            </a:r>
            <a:r>
              <a:rPr lang="en-GB" sz="2000" b="1"/>
              <a:t>rotational symmetry</a:t>
            </a:r>
            <a:r>
              <a:rPr lang="en-GB" sz="2000"/>
              <a:t> of order of at least 1.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5" name="Shape 1015"/>
        <p:cNvGrpSpPr/>
        <p:nvPr/>
      </p:nvGrpSpPr>
      <p:grpSpPr>
        <a:xfrm>
          <a:off x="0" y="0"/>
          <a:ext cx="0" cy="0"/>
        </a:xfrm>
      </p:grpSpPr>
      <p:sp>
        <p:nvSpPr>
          <p:cNvPr id="1016" name="Google Shape;1016;p8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shape has </a:t>
            </a:r>
            <a:r>
              <a:rPr lang="en-GB" b="1"/>
              <a:t>rotational symmetry</a:t>
            </a:r>
            <a:r>
              <a:rPr lang="en-GB"/>
              <a:t> of order 4?</a:t>
            </a:r>
            <a:endParaRPr/>
          </a:p>
        </p:txBody>
      </p:sp>
      <p:sp>
        <p:nvSpPr>
          <p:cNvPr id="1017" name="Google Shape;1017;p8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1018" name="Google Shape;1018;p80"/>
          <p:cNvSpPr/>
          <p:nvPr/>
        </p:nvSpPr>
        <p:spPr>
          <a:xfrm>
            <a:off x="6935123" y="2690539"/>
            <a:ext cx="1081500" cy="1081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0"/>
          <p:cNvSpPr/>
          <p:nvPr/>
        </p:nvSpPr>
        <p:spPr>
          <a:xfrm>
            <a:off x="3369600" y="2678725"/>
            <a:ext cx="2404800" cy="1081500"/>
          </a:xfrm>
          <a:prstGeom prst="parallelogram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0"/>
          <p:cNvSpPr/>
          <p:nvPr/>
        </p:nvSpPr>
        <p:spPr>
          <a:xfrm>
            <a:off x="604100" y="2677775"/>
            <a:ext cx="2054400" cy="1081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1" name="Google Shape;1021;p80"/>
          <p:cNvCxnSpPr/>
          <p:nvPr/>
        </p:nvCxnSpPr>
        <p:spPr>
          <a:xfrm flipH="1">
            <a:off x="1614150" y="2613200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2" name="Google Shape;1022;p80"/>
          <p:cNvCxnSpPr/>
          <p:nvPr/>
        </p:nvCxnSpPr>
        <p:spPr>
          <a:xfrm flipH="1">
            <a:off x="1675808" y="2613200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3" name="Google Shape;1023;p80"/>
          <p:cNvCxnSpPr/>
          <p:nvPr/>
        </p:nvCxnSpPr>
        <p:spPr>
          <a:xfrm flipH="1">
            <a:off x="1614150" y="3694542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4" name="Google Shape;1024;p80"/>
          <p:cNvCxnSpPr/>
          <p:nvPr/>
        </p:nvCxnSpPr>
        <p:spPr>
          <a:xfrm flipH="1">
            <a:off x="1675808" y="3694542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80"/>
          <p:cNvCxnSpPr/>
          <p:nvPr/>
        </p:nvCxnSpPr>
        <p:spPr>
          <a:xfrm flipH="1">
            <a:off x="2659137" y="3179174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80"/>
          <p:cNvCxnSpPr/>
          <p:nvPr/>
        </p:nvCxnSpPr>
        <p:spPr>
          <a:xfrm flipH="1">
            <a:off x="601737" y="3179174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7" name="Google Shape;1027;p80"/>
          <p:cNvCxnSpPr/>
          <p:nvPr/>
        </p:nvCxnSpPr>
        <p:spPr>
          <a:xfrm flipH="1">
            <a:off x="4546105" y="2613200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8" name="Google Shape;1028;p80"/>
          <p:cNvCxnSpPr/>
          <p:nvPr/>
        </p:nvCxnSpPr>
        <p:spPr>
          <a:xfrm flipH="1">
            <a:off x="4607763" y="2613200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9" name="Google Shape;1029;p80"/>
          <p:cNvCxnSpPr/>
          <p:nvPr/>
        </p:nvCxnSpPr>
        <p:spPr>
          <a:xfrm flipH="1">
            <a:off x="4546105" y="3694542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0" name="Google Shape;1030;p80"/>
          <p:cNvCxnSpPr/>
          <p:nvPr/>
        </p:nvCxnSpPr>
        <p:spPr>
          <a:xfrm flipH="1">
            <a:off x="4607763" y="3694542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1" name="Google Shape;1031;p80"/>
          <p:cNvCxnSpPr/>
          <p:nvPr/>
        </p:nvCxnSpPr>
        <p:spPr>
          <a:xfrm rot="5400000" flipH="1">
            <a:off x="3495947" y="3138089"/>
            <a:ext cx="27900" cy="12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2" name="Google Shape;1032;p80"/>
          <p:cNvCxnSpPr/>
          <p:nvPr/>
        </p:nvCxnSpPr>
        <p:spPr>
          <a:xfrm rot="5400000" flipH="1">
            <a:off x="5633635" y="3146265"/>
            <a:ext cx="27900" cy="12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3" name="Google Shape;1033;p80"/>
          <p:cNvCxnSpPr/>
          <p:nvPr/>
        </p:nvCxnSpPr>
        <p:spPr>
          <a:xfrm flipH="1">
            <a:off x="7459737" y="2613200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4" name="Google Shape;1034;p80"/>
          <p:cNvCxnSpPr/>
          <p:nvPr/>
        </p:nvCxnSpPr>
        <p:spPr>
          <a:xfrm flipH="1">
            <a:off x="8014950" y="3179174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5" name="Google Shape;1035;p80"/>
          <p:cNvCxnSpPr/>
          <p:nvPr/>
        </p:nvCxnSpPr>
        <p:spPr>
          <a:xfrm flipH="1">
            <a:off x="7459737" y="3701813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6" name="Google Shape;1036;p80"/>
          <p:cNvCxnSpPr/>
          <p:nvPr/>
        </p:nvCxnSpPr>
        <p:spPr>
          <a:xfrm flipH="1">
            <a:off x="6940879" y="3179174"/>
            <a:ext cx="0" cy="138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7" name="Google Shape;1037;p80"/>
          <p:cNvSpPr/>
          <p:nvPr/>
        </p:nvSpPr>
        <p:spPr>
          <a:xfrm>
            <a:off x="6936525" y="2690275"/>
            <a:ext cx="120900" cy="12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0"/>
          <p:cNvSpPr/>
          <p:nvPr/>
        </p:nvSpPr>
        <p:spPr>
          <a:xfrm>
            <a:off x="7898041" y="2690275"/>
            <a:ext cx="120900" cy="12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0"/>
          <p:cNvSpPr/>
          <p:nvPr/>
        </p:nvSpPr>
        <p:spPr>
          <a:xfrm>
            <a:off x="7898041" y="3659062"/>
            <a:ext cx="120900" cy="12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0"/>
          <p:cNvSpPr/>
          <p:nvPr/>
        </p:nvSpPr>
        <p:spPr>
          <a:xfrm>
            <a:off x="6929254" y="3659062"/>
            <a:ext cx="120900" cy="12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0"/>
          <p:cNvSpPr/>
          <p:nvPr/>
        </p:nvSpPr>
        <p:spPr>
          <a:xfrm>
            <a:off x="608144" y="2690275"/>
            <a:ext cx="120900" cy="12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0"/>
          <p:cNvSpPr/>
          <p:nvPr/>
        </p:nvSpPr>
        <p:spPr>
          <a:xfrm>
            <a:off x="2534957" y="2690275"/>
            <a:ext cx="120900" cy="12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0"/>
          <p:cNvSpPr/>
          <p:nvPr/>
        </p:nvSpPr>
        <p:spPr>
          <a:xfrm>
            <a:off x="2534957" y="3651791"/>
            <a:ext cx="120900" cy="12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0"/>
          <p:cNvSpPr/>
          <p:nvPr/>
        </p:nvSpPr>
        <p:spPr>
          <a:xfrm>
            <a:off x="600873" y="3644520"/>
            <a:ext cx="120900" cy="12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5" name="Google Shape;104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695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9" name="Shape 1049"/>
        <p:cNvGrpSpPr/>
        <p:nvPr/>
      </p:nvGrpSpPr>
      <p:grpSpPr>
        <a:xfrm>
          <a:off x="0" y="0"/>
          <a:ext cx="0" cy="0"/>
        </a:xfrm>
      </p:grpSpPr>
      <p:sp>
        <p:nvSpPr>
          <p:cNvPr id="1050" name="Google Shape;1050;p81"/>
          <p:cNvSpPr txBox="1"/>
          <p:nvPr>
            <p:ph type="body" idx="1"/>
          </p:nvPr>
        </p:nvSpPr>
        <p:spPr>
          <a:xfrm>
            <a:off x="324000" y="759300"/>
            <a:ext cx="8237700" cy="55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shape below has </a:t>
            </a:r>
            <a:r>
              <a:rPr lang="en-GB" b="1"/>
              <a:t>rotational symmetry </a:t>
            </a:r>
            <a:r>
              <a:rPr lang="en-GB"/>
              <a:t>of order       .</a:t>
            </a:r>
            <a:endParaRPr/>
          </a:p>
        </p:txBody>
      </p:sp>
      <p:sp>
        <p:nvSpPr>
          <p:cNvPr id="1051" name="Google Shape;1051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1052" name="Google Shape;1052;p81"/>
          <p:cNvSpPr/>
          <p:nvPr/>
        </p:nvSpPr>
        <p:spPr>
          <a:xfrm rot="5400000">
            <a:off x="3903158" y="1437000"/>
            <a:ext cx="1368000" cy="2273400"/>
          </a:xfrm>
          <a:prstGeom prst="upDownArrow">
            <a:avLst>
              <a:gd name="adj1" fmla="val 46049"/>
              <a:gd name="adj2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3" name="Google Shape;1053;p81"/>
          <p:cNvCxnSpPr/>
          <p:nvPr/>
        </p:nvCxnSpPr>
        <p:spPr>
          <a:xfrm>
            <a:off x="7338150" y="1080000"/>
            <a:ext cx="531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4" name="Google Shape;1054;p81"/>
          <p:cNvSpPr txBox="1"/>
          <p:nvPr>
            <p:ph type="body" idx="1"/>
          </p:nvPr>
        </p:nvSpPr>
        <p:spPr>
          <a:xfrm>
            <a:off x="7506686" y="769019"/>
            <a:ext cx="330300" cy="37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8" name="Shape 1058"/>
        <p:cNvGrpSpPr/>
        <p:nvPr/>
      </p:nvGrpSpPr>
      <p:grpSpPr>
        <a:xfrm>
          <a:off x="0" y="0"/>
          <a:ext cx="0" cy="0"/>
        </a:xfrm>
      </p:grpSpPr>
      <p:sp>
        <p:nvSpPr>
          <p:cNvPr id="1059" name="Google Shape;1059;p82"/>
          <p:cNvSpPr txBox="1"/>
          <p:nvPr>
            <p:ph type="subTitle" idx="1"/>
          </p:nvPr>
        </p:nvSpPr>
        <p:spPr>
          <a:xfrm>
            <a:off x="980575" y="3196125"/>
            <a:ext cx="78393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All shapes have </a:t>
            </a:r>
            <a:r>
              <a:rPr lang="en-GB" b="1"/>
              <a:t>rotational symmetry</a:t>
            </a:r>
            <a:r>
              <a:rPr lang="en-GB"/>
              <a:t> of at least 1.</a:t>
            </a:r>
            <a:endParaRPr/>
          </a:p>
        </p:txBody>
      </p:sp>
      <p:sp>
        <p:nvSpPr>
          <p:cNvPr id="1060" name="Google Shape;1060;p82"/>
          <p:cNvSpPr txBox="1"/>
          <p:nvPr>
            <p:ph type="subTitle" idx="2"/>
          </p:nvPr>
        </p:nvSpPr>
        <p:spPr>
          <a:xfrm>
            <a:off x="324000" y="1080000"/>
            <a:ext cx="7986900" cy="4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shape can have </a:t>
            </a:r>
            <a:r>
              <a:rPr lang="en-GB" b="1"/>
              <a:t>rotational symmetry</a:t>
            </a:r>
            <a:r>
              <a:rPr lang="en-GB"/>
              <a:t> of order 0.</a:t>
            </a:r>
            <a:endParaRPr/>
          </a:p>
        </p:txBody>
      </p:sp>
      <p:sp>
        <p:nvSpPr>
          <p:cNvPr id="1061" name="Google Shape;1061;p8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shape can have </a:t>
            </a:r>
            <a:r>
              <a:rPr lang="en-GB" b="1"/>
              <a:t>rotational symmetry</a:t>
            </a:r>
            <a:r>
              <a:rPr lang="en-GB"/>
              <a:t> of order 0 if it never appears the same when it is rotated.</a:t>
            </a:r>
            <a:endParaRPr/>
          </a:p>
        </p:txBody>
      </p:sp>
      <p:sp>
        <p:nvSpPr>
          <p:cNvPr id="1062" name="Google Shape;106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rotational symmetry in shapes</a:t>
            </a:r>
            <a:endParaRPr/>
          </a:p>
        </p:txBody>
      </p:sp>
      <p:pic>
        <p:nvPicPr>
          <p:cNvPr id="1063" name="Google Shape;106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842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908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sp>
        <p:nvSpPr>
          <p:cNvPr id="1069" name="Google Shape;1069;p83"/>
          <p:cNvSpPr/>
          <p:nvPr/>
        </p:nvSpPr>
        <p:spPr>
          <a:xfrm>
            <a:off x="7352125" y="3397850"/>
            <a:ext cx="1081675" cy="1081700"/>
          </a:xfrm>
          <a:custGeom>
            <a:rect l="l" t="t" r="r" b="b"/>
            <a:pathLst>
              <a:path w="43267" h="43268" extrusionOk="0">
                <a:moveTo>
                  <a:pt x="11161" y="13986"/>
                </a:moveTo>
                <a:lnTo>
                  <a:pt x="11161" y="0"/>
                </a:lnTo>
                <a:lnTo>
                  <a:pt x="32106" y="0"/>
                </a:lnTo>
                <a:lnTo>
                  <a:pt x="32106" y="14055"/>
                </a:lnTo>
                <a:lnTo>
                  <a:pt x="43267" y="14055"/>
                </a:lnTo>
                <a:lnTo>
                  <a:pt x="43267" y="27904"/>
                </a:lnTo>
                <a:lnTo>
                  <a:pt x="32037" y="27904"/>
                </a:lnTo>
                <a:lnTo>
                  <a:pt x="32037" y="43268"/>
                </a:lnTo>
                <a:lnTo>
                  <a:pt x="11093" y="43268"/>
                </a:lnTo>
                <a:lnTo>
                  <a:pt x="11093" y="27835"/>
                </a:lnTo>
                <a:lnTo>
                  <a:pt x="0" y="27835"/>
                </a:lnTo>
                <a:lnTo>
                  <a:pt x="0" y="13918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70" name="Google Shape;1070;p83"/>
          <p:cNvSpPr txBox="1"/>
          <p:nvPr>
            <p:ph type="body" idx="1"/>
          </p:nvPr>
        </p:nvSpPr>
        <p:spPr>
          <a:xfrm>
            <a:off x="324000" y="759300"/>
            <a:ext cx="8496000" cy="5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Write down the order of </a:t>
            </a:r>
            <a:r>
              <a:rPr lang="en-GB" sz="1600" b="1"/>
              <a:t>rotational symmetry</a:t>
            </a:r>
            <a:r>
              <a:rPr lang="en-GB" sz="1600"/>
              <a:t> for each shape. Tracing paper may</a:t>
            </a:r>
            <a:br>
              <a:rPr lang="en-GB" sz="1600"/>
            </a:br>
            <a:r>
              <a:rPr lang="en-GB" sz="1600"/>
              <a:t>    help you with this task.</a:t>
            </a:r>
            <a:endParaRPr sz="1600"/>
          </a:p>
        </p:txBody>
      </p:sp>
      <p:sp>
        <p:nvSpPr>
          <p:cNvPr id="1071" name="Google Shape;1071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1072" name="Google Shape;1072;p83"/>
          <p:cNvSpPr txBox="1"/>
          <p:nvPr>
            <p:ph type="body" idx="1"/>
          </p:nvPr>
        </p:nvSpPr>
        <p:spPr>
          <a:xfrm>
            <a:off x="324000" y="1445100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/>
          </a:p>
        </p:txBody>
      </p:sp>
      <p:sp>
        <p:nvSpPr>
          <p:cNvPr id="1073" name="Google Shape;1073;p83"/>
          <p:cNvSpPr txBox="1"/>
          <p:nvPr>
            <p:ph type="body" idx="1"/>
          </p:nvPr>
        </p:nvSpPr>
        <p:spPr>
          <a:xfrm>
            <a:off x="2584600" y="1445100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/>
          </a:p>
        </p:txBody>
      </p:sp>
      <p:sp>
        <p:nvSpPr>
          <p:cNvPr id="1074" name="Google Shape;1074;p83"/>
          <p:cNvSpPr txBox="1"/>
          <p:nvPr>
            <p:ph type="body" idx="1"/>
          </p:nvPr>
        </p:nvSpPr>
        <p:spPr>
          <a:xfrm>
            <a:off x="4845200" y="1445100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</a:t>
            </a:r>
            <a:endParaRPr sz="1600"/>
          </a:p>
        </p:txBody>
      </p:sp>
      <p:sp>
        <p:nvSpPr>
          <p:cNvPr id="1075" name="Google Shape;1075;p83"/>
          <p:cNvSpPr txBox="1"/>
          <p:nvPr>
            <p:ph type="body" idx="1"/>
          </p:nvPr>
        </p:nvSpPr>
        <p:spPr>
          <a:xfrm>
            <a:off x="324000" y="3255819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e)</a:t>
            </a:r>
            <a:endParaRPr sz="1600"/>
          </a:p>
        </p:txBody>
      </p:sp>
      <p:sp>
        <p:nvSpPr>
          <p:cNvPr id="1076" name="Google Shape;1076;p83"/>
          <p:cNvSpPr txBox="1"/>
          <p:nvPr>
            <p:ph type="body" idx="1"/>
          </p:nvPr>
        </p:nvSpPr>
        <p:spPr>
          <a:xfrm>
            <a:off x="2584600" y="3255819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f)</a:t>
            </a:r>
            <a:endParaRPr sz="1600"/>
          </a:p>
        </p:txBody>
      </p:sp>
      <p:sp>
        <p:nvSpPr>
          <p:cNvPr id="1077" name="Google Shape;1077;p83"/>
          <p:cNvSpPr txBox="1"/>
          <p:nvPr>
            <p:ph type="body" idx="1"/>
          </p:nvPr>
        </p:nvSpPr>
        <p:spPr>
          <a:xfrm>
            <a:off x="4845200" y="3255819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g)</a:t>
            </a:r>
            <a:endParaRPr sz="1600"/>
          </a:p>
        </p:txBody>
      </p:sp>
      <p:sp>
        <p:nvSpPr>
          <p:cNvPr id="1078" name="Google Shape;1078;p83"/>
          <p:cNvSpPr/>
          <p:nvPr/>
        </p:nvSpPr>
        <p:spPr>
          <a:xfrm>
            <a:off x="2798100" y="1550525"/>
            <a:ext cx="1442100" cy="1081500"/>
          </a:xfrm>
          <a:prstGeom prst="parallelogram">
            <a:avLst>
              <a:gd name="adj" fmla="val 25000"/>
            </a:avLst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3"/>
          <p:cNvSpPr/>
          <p:nvPr/>
        </p:nvSpPr>
        <p:spPr>
          <a:xfrm>
            <a:off x="5119375" y="1507524"/>
            <a:ext cx="666300" cy="1132800"/>
          </a:xfrm>
          <a:prstGeom prst="triangle">
            <a:avLst>
              <a:gd name="adj" fmla="val 100000"/>
            </a:avLst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3"/>
          <p:cNvSpPr/>
          <p:nvPr/>
        </p:nvSpPr>
        <p:spPr>
          <a:xfrm>
            <a:off x="7566937" y="1530225"/>
            <a:ext cx="735900" cy="1081500"/>
          </a:xfrm>
          <a:prstGeom prst="triangle">
            <a:avLst>
              <a:gd name="adj" fmla="val 50000"/>
            </a:avLst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3"/>
          <p:cNvSpPr txBox="1"/>
          <p:nvPr>
            <p:ph type="body" idx="1"/>
          </p:nvPr>
        </p:nvSpPr>
        <p:spPr>
          <a:xfrm>
            <a:off x="7105800" y="1445100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</a:t>
            </a:r>
            <a:endParaRPr sz="1600"/>
          </a:p>
        </p:txBody>
      </p:sp>
      <p:sp>
        <p:nvSpPr>
          <p:cNvPr id="1082" name="Google Shape;1082;p83"/>
          <p:cNvSpPr txBox="1"/>
          <p:nvPr>
            <p:ph type="body" idx="1"/>
          </p:nvPr>
        </p:nvSpPr>
        <p:spPr>
          <a:xfrm>
            <a:off x="7105800" y="3255819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h)</a:t>
            </a:r>
            <a:endParaRPr sz="1600"/>
          </a:p>
        </p:txBody>
      </p:sp>
      <p:sp>
        <p:nvSpPr>
          <p:cNvPr id="1083" name="Google Shape;1083;p83"/>
          <p:cNvSpPr/>
          <p:nvPr/>
        </p:nvSpPr>
        <p:spPr>
          <a:xfrm>
            <a:off x="593250" y="1517150"/>
            <a:ext cx="1137900" cy="10815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3"/>
          <p:cNvSpPr/>
          <p:nvPr/>
        </p:nvSpPr>
        <p:spPr>
          <a:xfrm>
            <a:off x="5057775" y="3388795"/>
            <a:ext cx="1081500" cy="1081500"/>
          </a:xfrm>
          <a:prstGeom prst="plus">
            <a:avLst>
              <a:gd name="adj" fmla="val 25000"/>
            </a:avLst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3"/>
          <p:cNvSpPr/>
          <p:nvPr/>
        </p:nvSpPr>
        <p:spPr>
          <a:xfrm>
            <a:off x="607876" y="3361825"/>
            <a:ext cx="1081800" cy="1081800"/>
          </a:xfrm>
          <a:prstGeom prst="octagon">
            <a:avLst>
              <a:gd name="adj" fmla="val 29289"/>
            </a:avLst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3"/>
          <p:cNvSpPr/>
          <p:nvPr/>
        </p:nvSpPr>
        <p:spPr>
          <a:xfrm>
            <a:off x="2893876" y="3361825"/>
            <a:ext cx="1081800" cy="1081800"/>
          </a:xfrm>
          <a:prstGeom prst="octagon">
            <a:avLst>
              <a:gd name="adj" fmla="val 20161"/>
            </a:avLst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0" name="Shape 1090"/>
        <p:cNvGrpSpPr/>
        <p:nvPr/>
      </p:nvGrpSpPr>
      <p:grpSpPr>
        <a:xfrm>
          <a:off x="0" y="0"/>
          <a:ext cx="0" cy="0"/>
        </a:xfrm>
      </p:grpSpPr>
      <p:sp>
        <p:nvSpPr>
          <p:cNvPr id="1091" name="Google Shape;1091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Sort the letters into the table, according to their order of </a:t>
            </a:r>
            <a:r>
              <a:rPr lang="en-GB" sz="1600" b="1"/>
              <a:t>rotational symmetry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092" name="Google Shape;1092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1093" name="Google Shape;1093;p84"/>
          <p:cNvSpPr txBox="1"/>
          <p:nvPr>
            <p:ph type="body" idx="1"/>
          </p:nvPr>
        </p:nvSpPr>
        <p:spPr>
          <a:xfrm>
            <a:off x="1502753" y="1101749"/>
            <a:ext cx="6163800" cy="144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3600" b="1"/>
              <a:t>A B C D E F G H I J K L M N O P Q R S T U V W X Y Z</a:t>
            </a:r>
            <a:endParaRPr sz="3600" b="1"/>
          </a:p>
        </p:txBody>
      </p:sp>
      <p:graphicFrame>
        <p:nvGraphicFramePr>
          <p:cNvPr id="1094" name="Google Shape;1094;p84"/>
          <p:cNvGraphicFramePr>
            <a:graphicFrameLocks noGrp="1"/>
          </p:cNvGraphicFramePr>
          <p:nvPr/>
        </p:nvGraphicFramePr>
        <p:xfrm>
          <a:off x="829217" y="239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{E57491AF-70F7-4E20-BE8B-AFF77B16C77F}</a:tableStyleId>
              </a:tblPr>
              <a:tblGrid>
                <a:gridCol w="1522975"/>
                <a:gridCol w="1522975"/>
                <a:gridCol w="1522975"/>
                <a:gridCol w="1522975"/>
                <a:gridCol w="1522975"/>
              </a:tblGrid>
              <a:tr h="61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greater than 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1338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8" name="Shape 1098"/>
        <p:cNvGrpSpPr/>
        <p:nvPr/>
      </p:nvGrpSpPr>
      <p:grpSpPr>
        <a:xfrm>
          <a:off x="0" y="0"/>
          <a:ext cx="0" cy="0"/>
        </a:xfrm>
      </p:grpSpPr>
      <p:sp>
        <p:nvSpPr>
          <p:cNvPr id="1099" name="Google Shape;1099;p85"/>
          <p:cNvSpPr txBox="1"/>
          <p:nvPr>
            <p:ph type="body" idx="1"/>
          </p:nvPr>
        </p:nvSpPr>
        <p:spPr>
          <a:xfrm>
            <a:off x="453150" y="695100"/>
            <a:ext cx="8367000" cy="52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Write down the order of </a:t>
            </a:r>
            <a:r>
              <a:rPr lang="en-GB" sz="1600" b="1"/>
              <a:t>rotational symmetry</a:t>
            </a:r>
            <a:r>
              <a:rPr lang="en-GB" sz="1600"/>
              <a:t> for each shape. Tracing paper may</a:t>
            </a:r>
            <a:br>
              <a:rPr lang="en-GB" sz="1600"/>
            </a:br>
            <a:r>
              <a:rPr lang="en-GB" sz="1600"/>
              <a:t>    help you with this task.</a:t>
            </a:r>
            <a:endParaRPr sz="1600"/>
          </a:p>
        </p:txBody>
      </p:sp>
      <p:sp>
        <p:nvSpPr>
          <p:cNvPr id="1100" name="Google Shape;1100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1101" name="Google Shape;1101;p85"/>
          <p:cNvSpPr txBox="1"/>
          <p:nvPr>
            <p:ph type="body" idx="1"/>
          </p:nvPr>
        </p:nvSpPr>
        <p:spPr>
          <a:xfrm>
            <a:off x="324000" y="1368900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endParaRPr sz="1600"/>
          </a:p>
        </p:txBody>
      </p:sp>
      <p:sp>
        <p:nvSpPr>
          <p:cNvPr id="1102" name="Google Shape;1102;p85"/>
          <p:cNvSpPr txBox="1"/>
          <p:nvPr>
            <p:ph type="body" idx="1"/>
          </p:nvPr>
        </p:nvSpPr>
        <p:spPr>
          <a:xfrm>
            <a:off x="2584600" y="1368900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</a:t>
            </a:r>
            <a:endParaRPr sz="1600"/>
          </a:p>
        </p:txBody>
      </p:sp>
      <p:sp>
        <p:nvSpPr>
          <p:cNvPr id="1103" name="Google Shape;1103;p85"/>
          <p:cNvSpPr txBox="1"/>
          <p:nvPr>
            <p:ph type="body" idx="1"/>
          </p:nvPr>
        </p:nvSpPr>
        <p:spPr>
          <a:xfrm>
            <a:off x="4845200" y="1368900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</a:t>
            </a:r>
            <a:endParaRPr sz="1600"/>
          </a:p>
        </p:txBody>
      </p:sp>
      <p:sp>
        <p:nvSpPr>
          <p:cNvPr id="1104" name="Google Shape;1104;p85"/>
          <p:cNvSpPr txBox="1"/>
          <p:nvPr>
            <p:ph type="body" idx="1"/>
          </p:nvPr>
        </p:nvSpPr>
        <p:spPr>
          <a:xfrm>
            <a:off x="324000" y="3179619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e)</a:t>
            </a:r>
            <a:endParaRPr sz="1600"/>
          </a:p>
        </p:txBody>
      </p:sp>
      <p:sp>
        <p:nvSpPr>
          <p:cNvPr id="1105" name="Google Shape;1105;p85"/>
          <p:cNvSpPr txBox="1"/>
          <p:nvPr>
            <p:ph type="body" idx="1"/>
          </p:nvPr>
        </p:nvSpPr>
        <p:spPr>
          <a:xfrm>
            <a:off x="2584600" y="3179619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f)</a:t>
            </a:r>
            <a:endParaRPr sz="1600"/>
          </a:p>
        </p:txBody>
      </p:sp>
      <p:sp>
        <p:nvSpPr>
          <p:cNvPr id="1106" name="Google Shape;1106;p85"/>
          <p:cNvSpPr txBox="1"/>
          <p:nvPr>
            <p:ph type="body" idx="1"/>
          </p:nvPr>
        </p:nvSpPr>
        <p:spPr>
          <a:xfrm>
            <a:off x="4845200" y="3179619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g)</a:t>
            </a:r>
            <a:endParaRPr sz="1600"/>
          </a:p>
        </p:txBody>
      </p:sp>
      <p:sp>
        <p:nvSpPr>
          <p:cNvPr id="1107" name="Google Shape;1107;p85"/>
          <p:cNvSpPr/>
          <p:nvPr/>
        </p:nvSpPr>
        <p:spPr>
          <a:xfrm>
            <a:off x="5119375" y="1431324"/>
            <a:ext cx="666300" cy="1132800"/>
          </a:xfrm>
          <a:prstGeom prst="triangle">
            <a:avLst>
              <a:gd name="adj" fmla="val 100000"/>
            </a:avLst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5"/>
          <p:cNvSpPr txBox="1"/>
          <p:nvPr>
            <p:ph type="body" idx="1"/>
          </p:nvPr>
        </p:nvSpPr>
        <p:spPr>
          <a:xfrm>
            <a:off x="7105800" y="1368900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</a:t>
            </a:r>
            <a:endParaRPr sz="1600"/>
          </a:p>
        </p:txBody>
      </p:sp>
      <p:sp>
        <p:nvSpPr>
          <p:cNvPr id="1109" name="Google Shape;1109;p85"/>
          <p:cNvSpPr txBox="1"/>
          <p:nvPr>
            <p:ph type="body" idx="1"/>
          </p:nvPr>
        </p:nvSpPr>
        <p:spPr>
          <a:xfrm>
            <a:off x="7105800" y="3179619"/>
            <a:ext cx="26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h)</a:t>
            </a:r>
            <a:endParaRPr sz="1600"/>
          </a:p>
        </p:txBody>
      </p:sp>
      <p:sp>
        <p:nvSpPr>
          <p:cNvPr id="1110" name="Google Shape;1110;p85"/>
          <p:cNvSpPr txBox="1"/>
          <p:nvPr>
            <p:ph type="body" idx="1"/>
          </p:nvPr>
        </p:nvSpPr>
        <p:spPr>
          <a:xfrm>
            <a:off x="1063825" y="2666275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85"/>
          <p:cNvSpPr txBox="1"/>
          <p:nvPr>
            <p:ph type="body" idx="1"/>
          </p:nvPr>
        </p:nvSpPr>
        <p:spPr>
          <a:xfrm>
            <a:off x="3349825" y="2666275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85"/>
          <p:cNvSpPr txBox="1"/>
          <p:nvPr>
            <p:ph type="body" idx="1"/>
          </p:nvPr>
        </p:nvSpPr>
        <p:spPr>
          <a:xfrm>
            <a:off x="5385412" y="2666275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3" name="Google Shape;1113;p85"/>
          <p:cNvSpPr txBox="1"/>
          <p:nvPr>
            <p:ph type="body" idx="1"/>
          </p:nvPr>
        </p:nvSpPr>
        <p:spPr>
          <a:xfrm>
            <a:off x="7838354" y="2666275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4" name="Google Shape;1114;p85"/>
          <p:cNvSpPr txBox="1"/>
          <p:nvPr>
            <p:ph type="body" idx="1"/>
          </p:nvPr>
        </p:nvSpPr>
        <p:spPr>
          <a:xfrm>
            <a:off x="1063825" y="4502346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85"/>
          <p:cNvSpPr txBox="1"/>
          <p:nvPr>
            <p:ph type="body" idx="1"/>
          </p:nvPr>
        </p:nvSpPr>
        <p:spPr>
          <a:xfrm>
            <a:off x="3349825" y="4502346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85"/>
          <p:cNvSpPr txBox="1"/>
          <p:nvPr>
            <p:ph type="body" idx="1"/>
          </p:nvPr>
        </p:nvSpPr>
        <p:spPr>
          <a:xfrm>
            <a:off x="5385412" y="4502346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85"/>
          <p:cNvSpPr txBox="1"/>
          <p:nvPr>
            <p:ph type="body" idx="1"/>
          </p:nvPr>
        </p:nvSpPr>
        <p:spPr>
          <a:xfrm>
            <a:off x="7838354" y="4502346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18" name="Google Shape;1118;p85"/>
          <p:cNvCxnSpPr/>
          <p:nvPr/>
        </p:nvCxnSpPr>
        <p:spPr>
          <a:xfrm>
            <a:off x="837898" y="1554205"/>
            <a:ext cx="95400" cy="136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9" name="Google Shape;1119;p85"/>
          <p:cNvCxnSpPr/>
          <p:nvPr/>
        </p:nvCxnSpPr>
        <p:spPr>
          <a:xfrm flipH="1">
            <a:off x="1386145" y="1575839"/>
            <a:ext cx="114600" cy="1242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0" name="Google Shape;1120;p85"/>
          <p:cNvCxnSpPr/>
          <p:nvPr/>
        </p:nvCxnSpPr>
        <p:spPr>
          <a:xfrm rot="10800000" flipH="1">
            <a:off x="613950" y="2156664"/>
            <a:ext cx="150300" cy="684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1" name="Google Shape;1121;p85"/>
          <p:cNvCxnSpPr/>
          <p:nvPr/>
        </p:nvCxnSpPr>
        <p:spPr>
          <a:xfrm rot="10800000" flipH="1">
            <a:off x="1173307" y="2404950"/>
            <a:ext cx="0" cy="1908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2" name="Google Shape;1122;p85"/>
          <p:cNvCxnSpPr/>
          <p:nvPr/>
        </p:nvCxnSpPr>
        <p:spPr>
          <a:xfrm>
            <a:off x="1528036" y="2170491"/>
            <a:ext cx="191100" cy="46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3" name="Google Shape;1123;p85"/>
          <p:cNvCxnSpPr/>
          <p:nvPr/>
        </p:nvCxnSpPr>
        <p:spPr>
          <a:xfrm rot="10800000" flipH="1">
            <a:off x="715336" y="4140814"/>
            <a:ext cx="133200" cy="144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85"/>
          <p:cNvCxnSpPr/>
          <p:nvPr/>
        </p:nvCxnSpPr>
        <p:spPr>
          <a:xfrm rot="10800000" flipH="1">
            <a:off x="1479311" y="3388539"/>
            <a:ext cx="133200" cy="144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5" name="Google Shape;1125;p85"/>
          <p:cNvCxnSpPr/>
          <p:nvPr/>
        </p:nvCxnSpPr>
        <p:spPr>
          <a:xfrm rot="10800000" flipH="1">
            <a:off x="516123" y="3818964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6" name="Google Shape;1126;p85"/>
          <p:cNvCxnSpPr/>
          <p:nvPr/>
        </p:nvCxnSpPr>
        <p:spPr>
          <a:xfrm rot="10800000" flipH="1">
            <a:off x="1586630" y="3812639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7" name="Google Shape;1127;p85"/>
          <p:cNvCxnSpPr/>
          <p:nvPr/>
        </p:nvCxnSpPr>
        <p:spPr>
          <a:xfrm>
            <a:off x="1473838" y="4127297"/>
            <a:ext cx="165300" cy="129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8" name="Google Shape;1128;p85"/>
          <p:cNvCxnSpPr/>
          <p:nvPr/>
        </p:nvCxnSpPr>
        <p:spPr>
          <a:xfrm>
            <a:off x="699280" y="3374414"/>
            <a:ext cx="165300" cy="129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9" name="Google Shape;1129;p85"/>
          <p:cNvCxnSpPr/>
          <p:nvPr/>
        </p:nvCxnSpPr>
        <p:spPr>
          <a:xfrm rot="10800000">
            <a:off x="1141351" y="3204800"/>
            <a:ext cx="6600" cy="172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0" name="Google Shape;1130;p85"/>
          <p:cNvCxnSpPr/>
          <p:nvPr/>
        </p:nvCxnSpPr>
        <p:spPr>
          <a:xfrm rot="10800000">
            <a:off x="1152588" y="4277464"/>
            <a:ext cx="6600" cy="172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1" name="Google Shape;1131;p85"/>
          <p:cNvCxnSpPr/>
          <p:nvPr/>
        </p:nvCxnSpPr>
        <p:spPr>
          <a:xfrm rot="10800000">
            <a:off x="3549951" y="1396186"/>
            <a:ext cx="6600" cy="172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2" name="Google Shape;1132;p85"/>
          <p:cNvCxnSpPr/>
          <p:nvPr/>
        </p:nvCxnSpPr>
        <p:spPr>
          <a:xfrm rot="10800000">
            <a:off x="3591626" y="1396186"/>
            <a:ext cx="6600" cy="172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3" name="Google Shape;1133;p85"/>
          <p:cNvCxnSpPr/>
          <p:nvPr/>
        </p:nvCxnSpPr>
        <p:spPr>
          <a:xfrm rot="10800000">
            <a:off x="3397551" y="2462986"/>
            <a:ext cx="6600" cy="172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4" name="Google Shape;1134;p85"/>
          <p:cNvCxnSpPr/>
          <p:nvPr/>
        </p:nvCxnSpPr>
        <p:spPr>
          <a:xfrm rot="10800000">
            <a:off x="3439226" y="2462986"/>
            <a:ext cx="6600" cy="172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35" name="Google Shape;1135;p85"/>
          <p:cNvGrpSpPr/>
          <p:nvPr/>
        </p:nvGrpSpPr>
        <p:grpSpPr>
          <a:xfrm rot="5992832">
            <a:off x="4069749" y="1929834"/>
            <a:ext cx="48277" cy="172506"/>
            <a:chOff x="3549951" y="2462986"/>
            <a:chExt cx="48275" cy="172500"/>
          </a:xfrm>
        </p:grpSpPr>
        <p:cxnSp>
          <p:nvCxnSpPr>
            <p:cNvPr id="1136" name="Google Shape;1136;p85"/>
            <p:cNvCxnSpPr/>
            <p:nvPr/>
          </p:nvCxnSpPr>
          <p:spPr>
            <a:xfrm rot="10800000">
              <a:off x="3549951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7" name="Google Shape;1137;p85"/>
            <p:cNvCxnSpPr/>
            <p:nvPr/>
          </p:nvCxnSpPr>
          <p:spPr>
            <a:xfrm rot="10800000">
              <a:off x="3591626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38" name="Google Shape;1138;p85"/>
          <p:cNvGrpSpPr/>
          <p:nvPr/>
        </p:nvGrpSpPr>
        <p:grpSpPr>
          <a:xfrm rot="5992832">
            <a:off x="2899462" y="1902548"/>
            <a:ext cx="48277" cy="172506"/>
            <a:chOff x="3549951" y="2462986"/>
            <a:chExt cx="48275" cy="172500"/>
          </a:xfrm>
        </p:grpSpPr>
        <p:cxnSp>
          <p:nvCxnSpPr>
            <p:cNvPr id="1139" name="Google Shape;1139;p85"/>
            <p:cNvCxnSpPr/>
            <p:nvPr/>
          </p:nvCxnSpPr>
          <p:spPr>
            <a:xfrm rot="10800000">
              <a:off x="3549951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85"/>
            <p:cNvCxnSpPr/>
            <p:nvPr/>
          </p:nvCxnSpPr>
          <p:spPr>
            <a:xfrm rot="10800000">
              <a:off x="3591626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41" name="Google Shape;1141;p85"/>
          <p:cNvGrpSpPr/>
          <p:nvPr/>
        </p:nvGrpSpPr>
        <p:grpSpPr>
          <a:xfrm>
            <a:off x="3405535" y="3217003"/>
            <a:ext cx="48275" cy="172500"/>
            <a:chOff x="3549951" y="2462986"/>
            <a:chExt cx="48275" cy="172500"/>
          </a:xfrm>
        </p:grpSpPr>
        <p:cxnSp>
          <p:nvCxnSpPr>
            <p:cNvPr id="1142" name="Google Shape;1142;p85"/>
            <p:cNvCxnSpPr/>
            <p:nvPr/>
          </p:nvCxnSpPr>
          <p:spPr>
            <a:xfrm rot="10800000">
              <a:off x="3549951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3" name="Google Shape;1143;p85"/>
            <p:cNvCxnSpPr/>
            <p:nvPr/>
          </p:nvCxnSpPr>
          <p:spPr>
            <a:xfrm rot="10800000">
              <a:off x="3591626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44" name="Google Shape;1144;p85"/>
          <p:cNvGrpSpPr/>
          <p:nvPr/>
        </p:nvGrpSpPr>
        <p:grpSpPr>
          <a:xfrm rot="6596226">
            <a:off x="7713253" y="1929812"/>
            <a:ext cx="48277" cy="172506"/>
            <a:chOff x="3549951" y="2462986"/>
            <a:chExt cx="48275" cy="172500"/>
          </a:xfrm>
        </p:grpSpPr>
        <p:cxnSp>
          <p:nvCxnSpPr>
            <p:cNvPr id="1145" name="Google Shape;1145;p85"/>
            <p:cNvCxnSpPr/>
            <p:nvPr/>
          </p:nvCxnSpPr>
          <p:spPr>
            <a:xfrm rot="10800000">
              <a:off x="3549951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6" name="Google Shape;1146;p85"/>
            <p:cNvCxnSpPr/>
            <p:nvPr/>
          </p:nvCxnSpPr>
          <p:spPr>
            <a:xfrm rot="10800000">
              <a:off x="3591626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47" name="Google Shape;1147;p85"/>
          <p:cNvGrpSpPr/>
          <p:nvPr/>
        </p:nvGrpSpPr>
        <p:grpSpPr>
          <a:xfrm rot="4400021">
            <a:off x="8108501" y="1943422"/>
            <a:ext cx="48275" cy="172502"/>
            <a:chOff x="3549951" y="2462986"/>
            <a:chExt cx="48275" cy="172500"/>
          </a:xfrm>
        </p:grpSpPr>
        <p:cxnSp>
          <p:nvCxnSpPr>
            <p:cNvPr id="1148" name="Google Shape;1148;p85"/>
            <p:cNvCxnSpPr/>
            <p:nvPr/>
          </p:nvCxnSpPr>
          <p:spPr>
            <a:xfrm rot="10800000">
              <a:off x="3549951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9" name="Google Shape;1149;p85"/>
            <p:cNvCxnSpPr/>
            <p:nvPr/>
          </p:nvCxnSpPr>
          <p:spPr>
            <a:xfrm rot="10800000">
              <a:off x="3591626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0" name="Google Shape;1150;p85"/>
          <p:cNvGrpSpPr/>
          <p:nvPr/>
        </p:nvGrpSpPr>
        <p:grpSpPr>
          <a:xfrm>
            <a:off x="3419178" y="4283803"/>
            <a:ext cx="48275" cy="172500"/>
            <a:chOff x="3549951" y="2462986"/>
            <a:chExt cx="48275" cy="172500"/>
          </a:xfrm>
        </p:grpSpPr>
        <p:cxnSp>
          <p:nvCxnSpPr>
            <p:cNvPr id="1151" name="Google Shape;1151;p85"/>
            <p:cNvCxnSpPr/>
            <p:nvPr/>
          </p:nvCxnSpPr>
          <p:spPr>
            <a:xfrm rot="10800000">
              <a:off x="3549951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2" name="Google Shape;1152;p85"/>
            <p:cNvCxnSpPr/>
            <p:nvPr/>
          </p:nvCxnSpPr>
          <p:spPr>
            <a:xfrm rot="10800000">
              <a:off x="3591626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3" name="Google Shape;1153;p85"/>
          <p:cNvGrpSpPr/>
          <p:nvPr/>
        </p:nvGrpSpPr>
        <p:grpSpPr>
          <a:xfrm rot="5400000">
            <a:off x="2885778" y="3785673"/>
            <a:ext cx="48275" cy="172500"/>
            <a:chOff x="3549951" y="2462986"/>
            <a:chExt cx="48275" cy="172500"/>
          </a:xfrm>
        </p:grpSpPr>
        <p:cxnSp>
          <p:nvCxnSpPr>
            <p:cNvPr id="1154" name="Google Shape;1154;p85"/>
            <p:cNvCxnSpPr/>
            <p:nvPr/>
          </p:nvCxnSpPr>
          <p:spPr>
            <a:xfrm rot="10800000">
              <a:off x="3549951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5" name="Google Shape;1155;p85"/>
            <p:cNvCxnSpPr/>
            <p:nvPr/>
          </p:nvCxnSpPr>
          <p:spPr>
            <a:xfrm rot="10800000">
              <a:off x="3591626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56" name="Google Shape;1156;p85"/>
          <p:cNvGrpSpPr/>
          <p:nvPr/>
        </p:nvGrpSpPr>
        <p:grpSpPr>
          <a:xfrm rot="5400000">
            <a:off x="3966221" y="3785673"/>
            <a:ext cx="48275" cy="172500"/>
            <a:chOff x="3549951" y="2462986"/>
            <a:chExt cx="48275" cy="172500"/>
          </a:xfrm>
        </p:grpSpPr>
        <p:cxnSp>
          <p:nvCxnSpPr>
            <p:cNvPr id="1157" name="Google Shape;1157;p85"/>
            <p:cNvCxnSpPr/>
            <p:nvPr/>
          </p:nvCxnSpPr>
          <p:spPr>
            <a:xfrm rot="10800000">
              <a:off x="3549951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8" name="Google Shape;1158;p85"/>
            <p:cNvCxnSpPr/>
            <p:nvPr/>
          </p:nvCxnSpPr>
          <p:spPr>
            <a:xfrm rot="10800000">
              <a:off x="3591626" y="2462986"/>
              <a:ext cx="6600" cy="1725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59" name="Google Shape;1159;p85"/>
          <p:cNvCxnSpPr/>
          <p:nvPr/>
        </p:nvCxnSpPr>
        <p:spPr>
          <a:xfrm rot="10800000" flipH="1">
            <a:off x="2918663" y="4171808"/>
            <a:ext cx="133200" cy="144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0" name="Google Shape;1160;p85"/>
          <p:cNvCxnSpPr/>
          <p:nvPr/>
        </p:nvCxnSpPr>
        <p:spPr>
          <a:xfrm rot="10800000" flipH="1">
            <a:off x="3799767" y="3294419"/>
            <a:ext cx="133200" cy="144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1" name="Google Shape;1161;p85"/>
          <p:cNvCxnSpPr/>
          <p:nvPr/>
        </p:nvCxnSpPr>
        <p:spPr>
          <a:xfrm>
            <a:off x="3783710" y="4179458"/>
            <a:ext cx="165300" cy="129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2" name="Google Shape;1162;p85"/>
          <p:cNvCxnSpPr/>
          <p:nvPr/>
        </p:nvCxnSpPr>
        <p:spPr>
          <a:xfrm>
            <a:off x="2929892" y="3329208"/>
            <a:ext cx="165300" cy="129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3" name="Google Shape;1163;p85"/>
          <p:cNvCxnSpPr/>
          <p:nvPr/>
        </p:nvCxnSpPr>
        <p:spPr>
          <a:xfrm rot="10800000">
            <a:off x="6033600" y="3521468"/>
            <a:ext cx="6600" cy="136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4" name="Google Shape;1164;p85"/>
          <p:cNvCxnSpPr/>
          <p:nvPr/>
        </p:nvCxnSpPr>
        <p:spPr>
          <a:xfrm rot="10800000">
            <a:off x="5212525" y="4060620"/>
            <a:ext cx="6600" cy="129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5" name="Google Shape;1165;p85"/>
          <p:cNvCxnSpPr/>
          <p:nvPr/>
        </p:nvCxnSpPr>
        <p:spPr>
          <a:xfrm rot="10800000" flipH="1">
            <a:off x="4949366" y="3859893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6" name="Google Shape;1166;p85"/>
          <p:cNvCxnSpPr/>
          <p:nvPr/>
        </p:nvCxnSpPr>
        <p:spPr>
          <a:xfrm rot="10800000" flipH="1">
            <a:off x="6019873" y="3853568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7" name="Google Shape;1167;p85"/>
          <p:cNvCxnSpPr/>
          <p:nvPr/>
        </p:nvCxnSpPr>
        <p:spPr>
          <a:xfrm rot="10800000" flipH="1">
            <a:off x="4949366" y="3820394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8" name="Google Shape;1168;p85"/>
          <p:cNvCxnSpPr/>
          <p:nvPr/>
        </p:nvCxnSpPr>
        <p:spPr>
          <a:xfrm rot="10800000" flipH="1">
            <a:off x="6019873" y="3814069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9" name="Google Shape;1169;p85"/>
          <p:cNvCxnSpPr/>
          <p:nvPr/>
        </p:nvCxnSpPr>
        <p:spPr>
          <a:xfrm rot="10800000">
            <a:off x="5193525" y="3521477"/>
            <a:ext cx="6600" cy="1365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0" name="Google Shape;1170;p85"/>
          <p:cNvCxnSpPr/>
          <p:nvPr/>
        </p:nvCxnSpPr>
        <p:spPr>
          <a:xfrm rot="10800000">
            <a:off x="6021025" y="4060624"/>
            <a:ext cx="6600" cy="1290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71" name="Google Shape;1171;p85"/>
          <p:cNvGrpSpPr/>
          <p:nvPr/>
        </p:nvGrpSpPr>
        <p:grpSpPr>
          <a:xfrm rot="5400000">
            <a:off x="5521743" y="3302296"/>
            <a:ext cx="211500" cy="45799"/>
            <a:chOff x="6172273" y="3814069"/>
            <a:chExt cx="211500" cy="45799"/>
          </a:xfrm>
        </p:grpSpPr>
        <p:cxnSp>
          <p:nvCxnSpPr>
            <p:cNvPr id="1172" name="Google Shape;1172;p85"/>
            <p:cNvCxnSpPr/>
            <p:nvPr/>
          </p:nvCxnSpPr>
          <p:spPr>
            <a:xfrm rot="10800000" flipH="1">
              <a:off x="6172273" y="3853568"/>
              <a:ext cx="211500" cy="6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3" name="Google Shape;1173;p85"/>
            <p:cNvCxnSpPr/>
            <p:nvPr/>
          </p:nvCxnSpPr>
          <p:spPr>
            <a:xfrm rot="10800000" flipH="1">
              <a:off x="6172273" y="3814069"/>
              <a:ext cx="211500" cy="6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74" name="Google Shape;1174;p85"/>
          <p:cNvGrpSpPr/>
          <p:nvPr/>
        </p:nvGrpSpPr>
        <p:grpSpPr>
          <a:xfrm rot="5400000">
            <a:off x="5521743" y="4374756"/>
            <a:ext cx="211500" cy="45799"/>
            <a:chOff x="6172273" y="3814069"/>
            <a:chExt cx="211500" cy="45799"/>
          </a:xfrm>
        </p:grpSpPr>
        <p:cxnSp>
          <p:nvCxnSpPr>
            <p:cNvPr id="1175" name="Google Shape;1175;p85"/>
            <p:cNvCxnSpPr/>
            <p:nvPr/>
          </p:nvCxnSpPr>
          <p:spPr>
            <a:xfrm rot="10800000" flipH="1">
              <a:off x="6172273" y="3853568"/>
              <a:ext cx="211500" cy="6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6" name="Google Shape;1176;p85"/>
            <p:cNvCxnSpPr/>
            <p:nvPr/>
          </p:nvCxnSpPr>
          <p:spPr>
            <a:xfrm rot="10800000" flipH="1">
              <a:off x="6172273" y="3814069"/>
              <a:ext cx="211500" cy="6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77" name="Google Shape;1177;p85"/>
          <p:cNvCxnSpPr/>
          <p:nvPr/>
        </p:nvCxnSpPr>
        <p:spPr>
          <a:xfrm rot="10800000" flipH="1">
            <a:off x="5246182" y="4276164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8" name="Google Shape;1178;p85"/>
          <p:cNvCxnSpPr/>
          <p:nvPr/>
        </p:nvCxnSpPr>
        <p:spPr>
          <a:xfrm rot="10800000" flipH="1">
            <a:off x="5742359" y="4269839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9" name="Google Shape;1179;p85"/>
          <p:cNvCxnSpPr/>
          <p:nvPr/>
        </p:nvCxnSpPr>
        <p:spPr>
          <a:xfrm rot="10800000" flipH="1">
            <a:off x="5246182" y="3428014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0" name="Google Shape;1180;p85"/>
          <p:cNvCxnSpPr/>
          <p:nvPr/>
        </p:nvCxnSpPr>
        <p:spPr>
          <a:xfrm rot="10800000" flipH="1">
            <a:off x="5742359" y="3421689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1" name="Google Shape;1181;p85"/>
          <p:cNvGrpSpPr/>
          <p:nvPr/>
        </p:nvGrpSpPr>
        <p:grpSpPr>
          <a:xfrm rot="5400000">
            <a:off x="7797368" y="4374756"/>
            <a:ext cx="211500" cy="45799"/>
            <a:chOff x="6172273" y="3814069"/>
            <a:chExt cx="211500" cy="45799"/>
          </a:xfrm>
        </p:grpSpPr>
        <p:cxnSp>
          <p:nvCxnSpPr>
            <p:cNvPr id="1182" name="Google Shape;1182;p85"/>
            <p:cNvCxnSpPr/>
            <p:nvPr/>
          </p:nvCxnSpPr>
          <p:spPr>
            <a:xfrm rot="10800000" flipH="1">
              <a:off x="6172273" y="3853568"/>
              <a:ext cx="211500" cy="6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3" name="Google Shape;1183;p85"/>
            <p:cNvCxnSpPr/>
            <p:nvPr/>
          </p:nvCxnSpPr>
          <p:spPr>
            <a:xfrm rot="10800000" flipH="1">
              <a:off x="6172273" y="3814069"/>
              <a:ext cx="211500" cy="6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84" name="Google Shape;1184;p85"/>
          <p:cNvGrpSpPr/>
          <p:nvPr/>
        </p:nvGrpSpPr>
        <p:grpSpPr>
          <a:xfrm rot="5400000">
            <a:off x="7797368" y="3307956"/>
            <a:ext cx="211500" cy="45799"/>
            <a:chOff x="6172273" y="3814069"/>
            <a:chExt cx="211500" cy="45799"/>
          </a:xfrm>
        </p:grpSpPr>
        <p:cxnSp>
          <p:nvCxnSpPr>
            <p:cNvPr id="1185" name="Google Shape;1185;p85"/>
            <p:cNvCxnSpPr/>
            <p:nvPr/>
          </p:nvCxnSpPr>
          <p:spPr>
            <a:xfrm rot="10800000" flipH="1">
              <a:off x="6172273" y="3853568"/>
              <a:ext cx="211500" cy="6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6" name="Google Shape;1186;p85"/>
            <p:cNvCxnSpPr/>
            <p:nvPr/>
          </p:nvCxnSpPr>
          <p:spPr>
            <a:xfrm rot="10800000" flipH="1">
              <a:off x="6172273" y="3814069"/>
              <a:ext cx="211500" cy="6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87" name="Google Shape;1187;p85"/>
          <p:cNvCxnSpPr/>
          <p:nvPr/>
        </p:nvCxnSpPr>
        <p:spPr>
          <a:xfrm>
            <a:off x="7558401" y="3466839"/>
            <a:ext cx="1485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8" name="Google Shape;1188;p85"/>
          <p:cNvCxnSpPr/>
          <p:nvPr/>
        </p:nvCxnSpPr>
        <p:spPr>
          <a:xfrm>
            <a:off x="8087775" y="3454225"/>
            <a:ext cx="1461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9" name="Google Shape;1189;p85"/>
          <p:cNvCxnSpPr/>
          <p:nvPr/>
        </p:nvCxnSpPr>
        <p:spPr>
          <a:xfrm rot="10800000" flipH="1">
            <a:off x="7239073" y="3853568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0" name="Google Shape;1190;p85"/>
          <p:cNvCxnSpPr/>
          <p:nvPr/>
        </p:nvCxnSpPr>
        <p:spPr>
          <a:xfrm rot="10800000" flipH="1">
            <a:off x="7239073" y="3814069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1" name="Google Shape;1191;p85"/>
          <p:cNvCxnSpPr/>
          <p:nvPr/>
        </p:nvCxnSpPr>
        <p:spPr>
          <a:xfrm rot="10800000" flipH="1">
            <a:off x="7239073" y="3896132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2" name="Google Shape;1192;p85"/>
          <p:cNvCxnSpPr/>
          <p:nvPr/>
        </p:nvCxnSpPr>
        <p:spPr>
          <a:xfrm rot="10800000" flipH="1">
            <a:off x="8334598" y="3853568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3" name="Google Shape;1193;p85"/>
          <p:cNvCxnSpPr/>
          <p:nvPr/>
        </p:nvCxnSpPr>
        <p:spPr>
          <a:xfrm rot="10800000" flipH="1">
            <a:off x="8334598" y="3814069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4" name="Google Shape;1194;p85"/>
          <p:cNvCxnSpPr/>
          <p:nvPr/>
        </p:nvCxnSpPr>
        <p:spPr>
          <a:xfrm rot="10800000" flipH="1">
            <a:off x="8334598" y="3896132"/>
            <a:ext cx="211500" cy="63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5" name="Google Shape;1195;p85"/>
          <p:cNvCxnSpPr/>
          <p:nvPr/>
        </p:nvCxnSpPr>
        <p:spPr>
          <a:xfrm>
            <a:off x="7558401" y="4250251"/>
            <a:ext cx="1485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6" name="Google Shape;1196;p85"/>
          <p:cNvCxnSpPr/>
          <p:nvPr/>
        </p:nvCxnSpPr>
        <p:spPr>
          <a:xfrm>
            <a:off x="8087775" y="4237638"/>
            <a:ext cx="1461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7" name="Google Shape;1197;p85"/>
          <p:cNvCxnSpPr/>
          <p:nvPr/>
        </p:nvCxnSpPr>
        <p:spPr>
          <a:xfrm flipH="1">
            <a:off x="8260300" y="3627373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8" name="Google Shape;1198;p85"/>
          <p:cNvCxnSpPr/>
          <p:nvPr/>
        </p:nvCxnSpPr>
        <p:spPr>
          <a:xfrm flipH="1">
            <a:off x="8260300" y="3628652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9" name="Google Shape;1199;p85"/>
          <p:cNvCxnSpPr/>
          <p:nvPr/>
        </p:nvCxnSpPr>
        <p:spPr>
          <a:xfrm flipH="1">
            <a:off x="8222200" y="3630281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85"/>
          <p:cNvCxnSpPr/>
          <p:nvPr/>
        </p:nvCxnSpPr>
        <p:spPr>
          <a:xfrm flipH="1">
            <a:off x="8336500" y="3628652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1" name="Google Shape;1201;p85"/>
          <p:cNvCxnSpPr/>
          <p:nvPr/>
        </p:nvCxnSpPr>
        <p:spPr>
          <a:xfrm flipH="1">
            <a:off x="8298400" y="3630281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2" name="Google Shape;1202;p85"/>
          <p:cNvCxnSpPr/>
          <p:nvPr/>
        </p:nvCxnSpPr>
        <p:spPr>
          <a:xfrm flipH="1">
            <a:off x="8260300" y="3968510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3" name="Google Shape;1203;p85"/>
          <p:cNvCxnSpPr/>
          <p:nvPr/>
        </p:nvCxnSpPr>
        <p:spPr>
          <a:xfrm flipH="1">
            <a:off x="8260300" y="396978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4" name="Google Shape;1204;p85"/>
          <p:cNvCxnSpPr/>
          <p:nvPr/>
        </p:nvCxnSpPr>
        <p:spPr>
          <a:xfrm flipH="1">
            <a:off x="8222200" y="397141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5" name="Google Shape;1205;p85"/>
          <p:cNvCxnSpPr/>
          <p:nvPr/>
        </p:nvCxnSpPr>
        <p:spPr>
          <a:xfrm flipH="1">
            <a:off x="8336500" y="396978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6" name="Google Shape;1206;p85"/>
          <p:cNvCxnSpPr/>
          <p:nvPr/>
        </p:nvCxnSpPr>
        <p:spPr>
          <a:xfrm flipH="1">
            <a:off x="8298400" y="397141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7" name="Google Shape;1207;p85"/>
          <p:cNvCxnSpPr/>
          <p:nvPr/>
        </p:nvCxnSpPr>
        <p:spPr>
          <a:xfrm flipH="1">
            <a:off x="7488675" y="3968510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8" name="Google Shape;1208;p85"/>
          <p:cNvCxnSpPr/>
          <p:nvPr/>
        </p:nvCxnSpPr>
        <p:spPr>
          <a:xfrm flipH="1">
            <a:off x="7488675" y="396978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9" name="Google Shape;1209;p85"/>
          <p:cNvCxnSpPr/>
          <p:nvPr/>
        </p:nvCxnSpPr>
        <p:spPr>
          <a:xfrm flipH="1">
            <a:off x="7450575" y="397141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0" name="Google Shape;1210;p85"/>
          <p:cNvCxnSpPr/>
          <p:nvPr/>
        </p:nvCxnSpPr>
        <p:spPr>
          <a:xfrm flipH="1">
            <a:off x="7564875" y="396978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1" name="Google Shape;1211;p85"/>
          <p:cNvCxnSpPr/>
          <p:nvPr/>
        </p:nvCxnSpPr>
        <p:spPr>
          <a:xfrm flipH="1">
            <a:off x="7526775" y="397141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2" name="Google Shape;1212;p85"/>
          <p:cNvCxnSpPr/>
          <p:nvPr/>
        </p:nvCxnSpPr>
        <p:spPr>
          <a:xfrm flipH="1">
            <a:off x="7488675" y="3612410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3" name="Google Shape;1213;p85"/>
          <p:cNvCxnSpPr/>
          <p:nvPr/>
        </p:nvCxnSpPr>
        <p:spPr>
          <a:xfrm flipH="1">
            <a:off x="7488675" y="361368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4" name="Google Shape;1214;p85"/>
          <p:cNvCxnSpPr/>
          <p:nvPr/>
        </p:nvCxnSpPr>
        <p:spPr>
          <a:xfrm flipH="1">
            <a:off x="7450575" y="361531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1215;p85"/>
          <p:cNvCxnSpPr/>
          <p:nvPr/>
        </p:nvCxnSpPr>
        <p:spPr>
          <a:xfrm flipH="1">
            <a:off x="7564875" y="361368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85"/>
          <p:cNvCxnSpPr/>
          <p:nvPr/>
        </p:nvCxnSpPr>
        <p:spPr>
          <a:xfrm flipH="1">
            <a:off x="7526775" y="3615319"/>
            <a:ext cx="0" cy="927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7" name="Google Shape;1217;p85"/>
          <p:cNvSpPr/>
          <p:nvPr/>
        </p:nvSpPr>
        <p:spPr>
          <a:xfrm>
            <a:off x="7352125" y="3321650"/>
            <a:ext cx="1081675" cy="1081700"/>
          </a:xfrm>
          <a:custGeom>
            <a:rect l="l" t="t" r="r" b="b"/>
            <a:pathLst>
              <a:path w="43267" h="43268" extrusionOk="0">
                <a:moveTo>
                  <a:pt x="11161" y="13986"/>
                </a:moveTo>
                <a:lnTo>
                  <a:pt x="11161" y="0"/>
                </a:lnTo>
                <a:lnTo>
                  <a:pt x="32106" y="0"/>
                </a:lnTo>
                <a:lnTo>
                  <a:pt x="32106" y="14055"/>
                </a:lnTo>
                <a:lnTo>
                  <a:pt x="43267" y="14055"/>
                </a:lnTo>
                <a:lnTo>
                  <a:pt x="43267" y="27904"/>
                </a:lnTo>
                <a:lnTo>
                  <a:pt x="32037" y="27904"/>
                </a:lnTo>
                <a:lnTo>
                  <a:pt x="32037" y="43268"/>
                </a:lnTo>
                <a:lnTo>
                  <a:pt x="11093" y="43268"/>
                </a:lnTo>
                <a:lnTo>
                  <a:pt x="11093" y="27835"/>
                </a:lnTo>
                <a:lnTo>
                  <a:pt x="0" y="27835"/>
                </a:lnTo>
                <a:lnTo>
                  <a:pt x="0" y="13918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18" name="Google Shape;1218;p85"/>
          <p:cNvSpPr/>
          <p:nvPr/>
        </p:nvSpPr>
        <p:spPr>
          <a:xfrm>
            <a:off x="5057775" y="3312595"/>
            <a:ext cx="1081500" cy="1081500"/>
          </a:xfrm>
          <a:prstGeom prst="plus">
            <a:avLst>
              <a:gd name="adj" fmla="val 25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5"/>
          <p:cNvSpPr/>
          <p:nvPr/>
        </p:nvSpPr>
        <p:spPr>
          <a:xfrm>
            <a:off x="2893876" y="3285625"/>
            <a:ext cx="1081800" cy="1081800"/>
          </a:xfrm>
          <a:prstGeom prst="octagon">
            <a:avLst>
              <a:gd name="adj" fmla="val 20161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5"/>
          <p:cNvSpPr/>
          <p:nvPr/>
        </p:nvSpPr>
        <p:spPr>
          <a:xfrm>
            <a:off x="607876" y="3285625"/>
            <a:ext cx="1081800" cy="1081800"/>
          </a:xfrm>
          <a:prstGeom prst="octagon">
            <a:avLst>
              <a:gd name="adj" fmla="val 29289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5"/>
          <p:cNvSpPr/>
          <p:nvPr/>
        </p:nvSpPr>
        <p:spPr>
          <a:xfrm>
            <a:off x="2798100" y="1474325"/>
            <a:ext cx="1442100" cy="1081500"/>
          </a:xfrm>
          <a:prstGeom prst="parallelogram">
            <a:avLst>
              <a:gd name="adj" fmla="val 25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5"/>
          <p:cNvSpPr/>
          <p:nvPr/>
        </p:nvSpPr>
        <p:spPr>
          <a:xfrm>
            <a:off x="7566937" y="1454025"/>
            <a:ext cx="735900" cy="10815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5"/>
          <p:cNvSpPr/>
          <p:nvPr/>
        </p:nvSpPr>
        <p:spPr>
          <a:xfrm>
            <a:off x="593250" y="1440950"/>
            <a:ext cx="1137900" cy="1081500"/>
          </a:xfrm>
          <a:prstGeom prst="pentagon">
            <a:avLst>
              <a:gd name="hf" fmla="val 105146"/>
              <a:gd name="vf" fmla="val 11055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7" name="Shape 1227"/>
        <p:cNvGrpSpPr/>
        <p:nvPr/>
      </p:nvGrpSpPr>
      <p:grpSpPr>
        <a:xfrm>
          <a:off x="0" y="0"/>
          <a:ext cx="0" cy="0"/>
        </a:xfrm>
      </p:grpSpPr>
      <p:sp>
        <p:nvSpPr>
          <p:cNvPr id="1228" name="Google Shape;1228;p86"/>
          <p:cNvSpPr txBox="1"/>
          <p:nvPr>
            <p:ph type="body" idx="1"/>
          </p:nvPr>
        </p:nvSpPr>
        <p:spPr>
          <a:xfrm>
            <a:off x="324000" y="759300"/>
            <a:ext cx="84960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Sort these letters into the table, according to their order of </a:t>
            </a:r>
            <a:r>
              <a:rPr lang="en-GB" sz="1600" b="1"/>
              <a:t>rotational symmetry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229" name="Google Shape;1229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rotational symmetry in shapes</a:t>
            </a:r>
            <a:endParaRPr/>
          </a:p>
        </p:txBody>
      </p:sp>
      <p:sp>
        <p:nvSpPr>
          <p:cNvPr id="1230" name="Google Shape;1230;p86"/>
          <p:cNvSpPr txBox="1"/>
          <p:nvPr>
            <p:ph type="body" idx="1"/>
          </p:nvPr>
        </p:nvSpPr>
        <p:spPr>
          <a:xfrm>
            <a:off x="1502753" y="1101749"/>
            <a:ext cx="6163800" cy="144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3600" b="1"/>
              <a:t>A B C D E F G H I J K L M N O P Q R S T U V W X Y Z</a:t>
            </a:r>
            <a:endParaRPr sz="3600" b="1"/>
          </a:p>
        </p:txBody>
      </p:sp>
      <p:graphicFrame>
        <p:nvGraphicFramePr>
          <p:cNvPr id="1231" name="Google Shape;1231;p86"/>
          <p:cNvGraphicFramePr>
            <a:graphicFrameLocks noGrp="1"/>
          </p:cNvGraphicFramePr>
          <p:nvPr/>
        </p:nvGraphicFramePr>
        <p:xfrm>
          <a:off x="829217" y="239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{E57491AF-70F7-4E20-BE8B-AFF77B16C77F}</a:tableStyleId>
              </a:tblPr>
              <a:tblGrid>
                <a:gridCol w="1522975"/>
                <a:gridCol w="1522975"/>
                <a:gridCol w="1522975"/>
                <a:gridCol w="1522975"/>
                <a:gridCol w="1522975"/>
              </a:tblGrid>
              <a:tr h="61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greater than 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1338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32" name="Google Shape;1232;p86"/>
          <p:cNvSpPr txBox="1"/>
          <p:nvPr>
            <p:ph type="body" idx="1"/>
          </p:nvPr>
        </p:nvSpPr>
        <p:spPr>
          <a:xfrm>
            <a:off x="911416" y="3123471"/>
            <a:ext cx="1411800" cy="11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A, B, C, D, E, F, G, J, K, L, M, P, Q, R, T, U, V, W, Y</a:t>
            </a:r>
            <a:endParaRPr sz="1800"/>
          </a:p>
        </p:txBody>
      </p:sp>
      <p:sp>
        <p:nvSpPr>
          <p:cNvPr id="1233" name="Google Shape;1233;p86"/>
          <p:cNvSpPr txBox="1"/>
          <p:nvPr>
            <p:ph type="body" idx="1"/>
          </p:nvPr>
        </p:nvSpPr>
        <p:spPr>
          <a:xfrm>
            <a:off x="2435425" y="3123475"/>
            <a:ext cx="1207200" cy="66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H, I, N, S, X, Z</a:t>
            </a:r>
            <a:endParaRPr sz="1800"/>
          </a:p>
        </p:txBody>
      </p:sp>
      <p:sp>
        <p:nvSpPr>
          <p:cNvPr id="1234" name="Google Shape;1234;p86"/>
          <p:cNvSpPr txBox="1"/>
          <p:nvPr>
            <p:ph type="body" idx="1"/>
          </p:nvPr>
        </p:nvSpPr>
        <p:spPr>
          <a:xfrm>
            <a:off x="7007425" y="3123475"/>
            <a:ext cx="2418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  <p:sp>
        <p:nvSpPr>
          <p:cNvPr id="1235" name="Google Shape;1235;p86"/>
          <p:cNvSpPr txBox="1"/>
          <p:nvPr>
            <p:ph type="body" idx="1"/>
          </p:nvPr>
        </p:nvSpPr>
        <p:spPr>
          <a:xfrm>
            <a:off x="338550" y="4505416"/>
            <a:ext cx="84492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Note: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rotational symmetry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for letters O and X may differ depending on font.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9" name="Shape 1239"/>
        <p:cNvGrpSpPr/>
        <p:nvPr/>
      </p:nvGrpSpPr>
      <p:grpSpPr>
        <a:xfrm>
          <a:off x="0" y="0"/>
          <a:ext cx="0" cy="0"/>
        </a:xfrm>
      </p:grpSpPr>
      <p:sp>
        <p:nvSpPr>
          <p:cNvPr id="1240" name="Google Shape;1240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</a:t>
            </a:r>
            <a:r>
              <a:rPr lang="en-GB" b="1"/>
              <a:t>rotational symmetry</a:t>
            </a:r>
            <a:r>
              <a:rPr lang="en-GB"/>
              <a:t> in shapes</a:t>
            </a:r>
            <a:endParaRPr/>
          </a:p>
        </p:txBody>
      </p:sp>
      <p:sp>
        <p:nvSpPr>
          <p:cNvPr id="1241" name="Google Shape;1241;p8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</a:t>
            </a:r>
            <a:r>
              <a:rPr lang="en-GB" b="1"/>
              <a:t>rotational symmetries</a:t>
            </a:r>
            <a:endParaRPr b="1"/>
          </a:p>
        </p:txBody>
      </p:sp>
      <p:sp>
        <p:nvSpPr>
          <p:cNvPr id="1242" name="Google Shape;1242;p8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Rotational symmetry</a:t>
            </a:r>
            <a:endParaRPr/>
          </a:p>
        </p:txBody>
      </p:sp>
      <p:pic>
        <p:nvPicPr>
          <p:cNvPr id="1243" name="Google Shape;124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7" name="Shape 1247"/>
        <p:cNvGrpSpPr/>
        <p:nvPr/>
      </p:nvGrpSpPr>
      <p:grpSpPr>
        <a:xfrm>
          <a:off x="0" y="0"/>
          <a:ext cx="0" cy="0"/>
        </a:xfrm>
      </p:grpSpPr>
      <p:sp>
        <p:nvSpPr>
          <p:cNvPr id="1248" name="Google Shape;1248;p88"/>
          <p:cNvSpPr/>
          <p:nvPr/>
        </p:nvSpPr>
        <p:spPr>
          <a:xfrm>
            <a:off x="3357050" y="1398000"/>
            <a:ext cx="2433000" cy="2160000"/>
          </a:xfrm>
          <a:prstGeom prst="bevel">
            <a:avLst>
              <a:gd name="adj" fmla="val 2163"/>
            </a:avLst>
          </a:prstGeom>
          <a:solidFill>
            <a:srgbClr val="E6F2F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8"/>
          <p:cNvSpPr txBox="1"/>
          <p:nvPr>
            <p:ph type="body" idx="1"/>
          </p:nvPr>
        </p:nvSpPr>
        <p:spPr>
          <a:xfrm>
            <a:off x="324000" y="759300"/>
            <a:ext cx="8496000" cy="4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Andeep and Izzy are designing a puzzle board for preschool children.</a:t>
            </a:r>
            <a:endParaRPr sz="1900"/>
          </a:p>
        </p:txBody>
      </p:sp>
      <p:sp>
        <p:nvSpPr>
          <p:cNvPr id="1250" name="Google Shape;125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sp>
        <p:nvSpPr>
          <p:cNvPr id="1251" name="Google Shape;1251;p88"/>
          <p:cNvSpPr/>
          <p:nvPr/>
        </p:nvSpPr>
        <p:spPr>
          <a:xfrm>
            <a:off x="6622800" y="3726600"/>
            <a:ext cx="560400" cy="560400"/>
          </a:xfrm>
          <a:prstGeom prst="octagon">
            <a:avLst>
              <a:gd name="adj" fmla="val 29289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8"/>
          <p:cNvSpPr/>
          <p:nvPr/>
        </p:nvSpPr>
        <p:spPr>
          <a:xfrm>
            <a:off x="5105400" y="3735000"/>
            <a:ext cx="628500" cy="543600"/>
          </a:xfrm>
          <a:prstGeom prst="triangle">
            <a:avLst>
              <a:gd name="adj" fmla="val 50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8"/>
          <p:cNvSpPr/>
          <p:nvPr/>
        </p:nvSpPr>
        <p:spPr>
          <a:xfrm>
            <a:off x="3377900" y="3735000"/>
            <a:ext cx="724800" cy="543600"/>
          </a:xfrm>
          <a:prstGeom prst="trapezoid">
            <a:avLst>
              <a:gd name="adj" fmla="val 25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8"/>
          <p:cNvSpPr/>
          <p:nvPr/>
        </p:nvSpPr>
        <p:spPr>
          <a:xfrm>
            <a:off x="3803400" y="2659800"/>
            <a:ext cx="560400" cy="560400"/>
          </a:xfrm>
          <a:prstGeom prst="octagon">
            <a:avLst>
              <a:gd name="adj" fmla="val 29289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8"/>
          <p:cNvSpPr/>
          <p:nvPr/>
        </p:nvSpPr>
        <p:spPr>
          <a:xfrm>
            <a:off x="4800600" y="1753800"/>
            <a:ext cx="628500" cy="5436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8"/>
          <p:cNvSpPr/>
          <p:nvPr/>
        </p:nvSpPr>
        <p:spPr>
          <a:xfrm>
            <a:off x="4749500" y="2668200"/>
            <a:ext cx="724800" cy="543600"/>
          </a:xfrm>
          <a:prstGeom prst="trapezoid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8"/>
          <p:cNvSpPr/>
          <p:nvPr/>
        </p:nvSpPr>
        <p:spPr>
          <a:xfrm>
            <a:off x="3826200" y="1745400"/>
            <a:ext cx="560400" cy="5604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8" name="Google Shape;1258;p88"/>
          <p:cNvGrpSpPr/>
          <p:nvPr/>
        </p:nvGrpSpPr>
        <p:grpSpPr>
          <a:xfrm>
            <a:off x="1997400" y="3726600"/>
            <a:ext cx="560400" cy="560400"/>
            <a:chOff x="1997400" y="3726600"/>
            <a:chExt cx="560400" cy="560400"/>
          </a:xfrm>
        </p:grpSpPr>
        <p:sp>
          <p:nvSpPr>
            <p:cNvPr id="1259" name="Google Shape;1259;p88"/>
            <p:cNvSpPr/>
            <p:nvPr/>
          </p:nvSpPr>
          <p:spPr>
            <a:xfrm>
              <a:off x="1997400" y="3726600"/>
              <a:ext cx="560400" cy="560400"/>
            </a:xfrm>
            <a:prstGeom prst="rect">
              <a:avLst/>
            </a:prstGeom>
            <a:solidFill>
              <a:srgbClr val="E6F2F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0" name="Google Shape;1260;p88"/>
            <p:cNvSpPr/>
            <p:nvPr/>
          </p:nvSpPr>
          <p:spPr>
            <a:xfrm>
              <a:off x="2201700" y="3930900"/>
              <a:ext cx="151800" cy="1518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1" name="Google Shape;1261;p88"/>
          <p:cNvSpPr/>
          <p:nvPr/>
        </p:nvSpPr>
        <p:spPr>
          <a:xfrm>
            <a:off x="3668480" y="3937227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8"/>
          <p:cNvSpPr/>
          <p:nvPr/>
        </p:nvSpPr>
        <p:spPr>
          <a:xfrm>
            <a:off x="5344880" y="40071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8"/>
          <p:cNvSpPr/>
          <p:nvPr/>
        </p:nvSpPr>
        <p:spPr>
          <a:xfrm>
            <a:off x="6830639" y="39309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4" name="Google Shape;126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200" y="3234447"/>
            <a:ext cx="724800" cy="70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1" y="3259681"/>
            <a:ext cx="560400" cy="722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6" name="Google Shape;1266;p88"/>
          <p:cNvGrpSpPr/>
          <p:nvPr/>
        </p:nvGrpSpPr>
        <p:grpSpPr>
          <a:xfrm>
            <a:off x="1996440" y="4015940"/>
            <a:ext cx="560400" cy="263599"/>
            <a:chOff x="6627163" y="2864201"/>
            <a:chExt cx="560400" cy="263599"/>
          </a:xfrm>
        </p:grpSpPr>
        <p:sp>
          <p:nvSpPr>
            <p:cNvPr id="1267" name="Google Shape;1267;p88"/>
            <p:cNvSpPr/>
            <p:nvPr/>
          </p:nvSpPr>
          <p:spPr>
            <a:xfrm>
              <a:off x="6627163" y="3060600"/>
              <a:ext cx="560400" cy="67200"/>
            </a:xfrm>
            <a:prstGeom prst="rect">
              <a:avLst/>
            </a:prstGeom>
            <a:solidFill>
              <a:srgbClr val="E6F2F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88"/>
            <p:cNvSpPr/>
            <p:nvPr/>
          </p:nvSpPr>
          <p:spPr>
            <a:xfrm>
              <a:off x="6853099" y="2982822"/>
              <a:ext cx="105000" cy="78300"/>
            </a:xfrm>
            <a:prstGeom prst="can">
              <a:avLst>
                <a:gd name="adj" fmla="val 25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88"/>
            <p:cNvSpPr/>
            <p:nvPr/>
          </p:nvSpPr>
          <p:spPr>
            <a:xfrm>
              <a:off x="6829662" y="2864201"/>
              <a:ext cx="151800" cy="1518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0" name="Google Shape;1270;p88"/>
          <p:cNvSpPr txBox="1"/>
          <p:nvPr>
            <p:ph type="body" idx="1"/>
          </p:nvPr>
        </p:nvSpPr>
        <p:spPr>
          <a:xfrm>
            <a:off x="740059" y="4047096"/>
            <a:ext cx="1359600" cy="3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side view:</a:t>
            </a:r>
            <a:endParaRPr sz="1900"/>
          </a:p>
        </p:txBody>
      </p:sp>
      <p:cxnSp>
        <p:nvCxnSpPr>
          <p:cNvPr id="1271" name="Google Shape;1271;p88"/>
          <p:cNvCxnSpPr>
            <a:stCxn id="1269" idx="1"/>
          </p:cNvCxnSpPr>
          <p:nvPr/>
        </p:nvCxnSpPr>
        <p:spPr>
          <a:xfrm rot="10800000">
            <a:off x="1895970" y="3423170"/>
            <a:ext cx="325200" cy="61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2" name="Google Shape;1272;p88"/>
          <p:cNvSpPr txBox="1"/>
          <p:nvPr>
            <p:ph type="body" idx="1"/>
          </p:nvPr>
        </p:nvSpPr>
        <p:spPr>
          <a:xfrm>
            <a:off x="1431850" y="1232250"/>
            <a:ext cx="1746900" cy="3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wooden board</a:t>
            </a:r>
            <a:endParaRPr sz="1900"/>
          </a:p>
        </p:txBody>
      </p:sp>
      <p:sp>
        <p:nvSpPr>
          <p:cNvPr id="1273" name="Google Shape;1273;p88"/>
          <p:cNvSpPr txBox="1"/>
          <p:nvPr>
            <p:ph type="body" idx="1"/>
          </p:nvPr>
        </p:nvSpPr>
        <p:spPr>
          <a:xfrm>
            <a:off x="6156250" y="1232250"/>
            <a:ext cx="2166900" cy="3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spaces for shapes</a:t>
            </a:r>
            <a:endParaRPr sz="1900"/>
          </a:p>
        </p:txBody>
      </p:sp>
      <p:cxnSp>
        <p:nvCxnSpPr>
          <p:cNvPr id="1274" name="Google Shape;1274;p88"/>
          <p:cNvCxnSpPr>
            <a:endCxn id="1273" idx="1"/>
          </p:cNvCxnSpPr>
          <p:nvPr/>
        </p:nvCxnSpPr>
        <p:spPr>
          <a:xfrm rot="10800000" flipH="1">
            <a:off x="5175550" y="1399650"/>
            <a:ext cx="980700" cy="691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5" name="Google Shape;1275;p88"/>
          <p:cNvSpPr txBox="1"/>
          <p:nvPr>
            <p:ph type="body" idx="1"/>
          </p:nvPr>
        </p:nvSpPr>
        <p:spPr>
          <a:xfrm>
            <a:off x="6429100" y="2949525"/>
            <a:ext cx="1621200" cy="3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puzzle pieces</a:t>
            </a:r>
            <a:endParaRPr sz="1900"/>
          </a:p>
        </p:txBody>
      </p:sp>
      <p:sp>
        <p:nvSpPr>
          <p:cNvPr id="1276" name="Google Shape;1276;p88"/>
          <p:cNvSpPr txBox="1"/>
          <p:nvPr>
            <p:ph type="body" idx="1"/>
          </p:nvPr>
        </p:nvSpPr>
        <p:spPr>
          <a:xfrm>
            <a:off x="1404150" y="3079025"/>
            <a:ext cx="980700" cy="3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handle</a:t>
            </a:r>
            <a:endParaRPr sz="1900"/>
          </a:p>
        </p:txBody>
      </p:sp>
      <p:cxnSp>
        <p:nvCxnSpPr>
          <p:cNvPr id="1277" name="Google Shape;1277;p88"/>
          <p:cNvCxnSpPr/>
          <p:nvPr/>
        </p:nvCxnSpPr>
        <p:spPr>
          <a:xfrm rot="10800000" flipH="1">
            <a:off x="6911300" y="3251825"/>
            <a:ext cx="166800" cy="51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8" name="Google Shape;1278;p88"/>
          <p:cNvCxnSpPr/>
          <p:nvPr/>
        </p:nvCxnSpPr>
        <p:spPr>
          <a:xfrm rot="10800000">
            <a:off x="2733375" y="1534100"/>
            <a:ext cx="777600" cy="349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9" name="Google Shape;1279;p88"/>
          <p:cNvSpPr txBox="1"/>
          <p:nvPr>
            <p:ph type="body" idx="1"/>
          </p:nvPr>
        </p:nvSpPr>
        <p:spPr>
          <a:xfrm>
            <a:off x="324000" y="4528054"/>
            <a:ext cx="8496000" cy="4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Children solve the puzzle by placing pieces into the correct spaces.</a:t>
            </a:r>
            <a:endParaRPr sz="19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3" name="Shape 1283"/>
        <p:cNvGrpSpPr/>
        <p:nvPr/>
      </p:nvGrpSpPr>
      <p:grpSpPr>
        <a:xfrm>
          <a:off x="0" y="0"/>
          <a:ext cx="0" cy="0"/>
        </a:xfrm>
      </p:grpSpPr>
      <p:pic>
        <p:nvPicPr>
          <p:cNvPr id="1284" name="Google Shape;1284;p89"/>
          <p:cNvPicPr preferRelativeResize="0"/>
          <p:nvPr/>
        </p:nvPicPr>
        <p:blipFill>
          <a:blip r:embed="rId3">
            <a:alphaModFix/>
          </a:blip>
          <a:srcRect l="40550" t="13240" b="6172"/>
          <a:stretch>
            <a:fillRect/>
          </a:stretch>
        </p:blipFill>
        <p:spPr>
          <a:xfrm>
            <a:off x="197951" y="1246849"/>
            <a:ext cx="3072927" cy="1983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89"/>
          <p:cNvSpPr/>
          <p:nvPr/>
        </p:nvSpPr>
        <p:spPr>
          <a:xfrm>
            <a:off x="3357050" y="1398000"/>
            <a:ext cx="2433000" cy="2160000"/>
          </a:xfrm>
          <a:prstGeom prst="bevel">
            <a:avLst>
              <a:gd name="adj" fmla="val 2163"/>
            </a:avLst>
          </a:prstGeom>
          <a:solidFill>
            <a:srgbClr val="E6F2F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9"/>
          <p:cNvSpPr txBox="1"/>
          <p:nvPr>
            <p:ph type="body" idx="1"/>
          </p:nvPr>
        </p:nvSpPr>
        <p:spPr>
          <a:xfrm>
            <a:off x="324000" y="759300"/>
            <a:ext cx="8496000" cy="4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They test their puzzle out with some children and discuss what they saw.</a:t>
            </a:r>
            <a:endParaRPr sz="1900"/>
          </a:p>
        </p:txBody>
      </p:sp>
      <p:sp>
        <p:nvSpPr>
          <p:cNvPr id="1287" name="Google Shape;128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sp>
        <p:nvSpPr>
          <p:cNvPr id="1288" name="Google Shape;1288;p89"/>
          <p:cNvSpPr/>
          <p:nvPr/>
        </p:nvSpPr>
        <p:spPr>
          <a:xfrm>
            <a:off x="6622800" y="3726600"/>
            <a:ext cx="560400" cy="560400"/>
          </a:xfrm>
          <a:prstGeom prst="octagon">
            <a:avLst>
              <a:gd name="adj" fmla="val 29289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9"/>
          <p:cNvSpPr/>
          <p:nvPr/>
        </p:nvSpPr>
        <p:spPr>
          <a:xfrm>
            <a:off x="5105400" y="3735000"/>
            <a:ext cx="628500" cy="543600"/>
          </a:xfrm>
          <a:prstGeom prst="triangle">
            <a:avLst>
              <a:gd name="adj" fmla="val 50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9"/>
          <p:cNvSpPr/>
          <p:nvPr/>
        </p:nvSpPr>
        <p:spPr>
          <a:xfrm>
            <a:off x="3377900" y="3735000"/>
            <a:ext cx="724800" cy="543600"/>
          </a:xfrm>
          <a:prstGeom prst="trapezoid">
            <a:avLst>
              <a:gd name="adj" fmla="val 25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9"/>
          <p:cNvSpPr/>
          <p:nvPr/>
        </p:nvSpPr>
        <p:spPr>
          <a:xfrm>
            <a:off x="3803400" y="2659800"/>
            <a:ext cx="560400" cy="560400"/>
          </a:xfrm>
          <a:prstGeom prst="octagon">
            <a:avLst>
              <a:gd name="adj" fmla="val 29289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9"/>
          <p:cNvSpPr/>
          <p:nvPr/>
        </p:nvSpPr>
        <p:spPr>
          <a:xfrm>
            <a:off x="4800600" y="1753800"/>
            <a:ext cx="628500" cy="5436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9"/>
          <p:cNvSpPr/>
          <p:nvPr/>
        </p:nvSpPr>
        <p:spPr>
          <a:xfrm>
            <a:off x="4749500" y="2668200"/>
            <a:ext cx="724800" cy="543600"/>
          </a:xfrm>
          <a:prstGeom prst="trapezoid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9"/>
          <p:cNvSpPr/>
          <p:nvPr/>
        </p:nvSpPr>
        <p:spPr>
          <a:xfrm>
            <a:off x="3826200" y="1745400"/>
            <a:ext cx="560400" cy="5604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5" name="Google Shape;1295;p89"/>
          <p:cNvGrpSpPr/>
          <p:nvPr/>
        </p:nvGrpSpPr>
        <p:grpSpPr>
          <a:xfrm>
            <a:off x="1997400" y="3726600"/>
            <a:ext cx="560400" cy="560400"/>
            <a:chOff x="1997400" y="3726600"/>
            <a:chExt cx="560400" cy="560400"/>
          </a:xfrm>
        </p:grpSpPr>
        <p:sp>
          <p:nvSpPr>
            <p:cNvPr id="1296" name="Google Shape;1296;p89"/>
            <p:cNvSpPr/>
            <p:nvPr/>
          </p:nvSpPr>
          <p:spPr>
            <a:xfrm>
              <a:off x="1997400" y="3726600"/>
              <a:ext cx="560400" cy="560400"/>
            </a:xfrm>
            <a:prstGeom prst="rect">
              <a:avLst/>
            </a:prstGeom>
            <a:solidFill>
              <a:srgbClr val="E6F2F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7" name="Google Shape;1297;p89"/>
            <p:cNvSpPr/>
            <p:nvPr/>
          </p:nvSpPr>
          <p:spPr>
            <a:xfrm>
              <a:off x="2201700" y="3930900"/>
              <a:ext cx="151800" cy="1518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8" name="Google Shape;1298;p89"/>
          <p:cNvSpPr/>
          <p:nvPr/>
        </p:nvSpPr>
        <p:spPr>
          <a:xfrm>
            <a:off x="3668480" y="3937227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9"/>
          <p:cNvSpPr/>
          <p:nvPr/>
        </p:nvSpPr>
        <p:spPr>
          <a:xfrm>
            <a:off x="5344880" y="40071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9"/>
          <p:cNvSpPr/>
          <p:nvPr/>
        </p:nvSpPr>
        <p:spPr>
          <a:xfrm>
            <a:off x="6830639" y="39309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9"/>
          <p:cNvSpPr txBox="1"/>
          <p:nvPr>
            <p:ph type="body" idx="1"/>
          </p:nvPr>
        </p:nvSpPr>
        <p:spPr>
          <a:xfrm>
            <a:off x="487316" y="1415163"/>
            <a:ext cx="2723400" cy="13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children matched the pieces to the spaces easily. But they found some of the pieces easier to insert into the spaces than others.</a:t>
            </a:r>
            <a:endParaRPr sz="1600"/>
          </a:p>
        </p:txBody>
      </p:sp>
      <p:pic>
        <p:nvPicPr>
          <p:cNvPr id="1302" name="Google Shape;1302;p89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965068" y="1521716"/>
            <a:ext cx="2762199" cy="17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89"/>
          <p:cNvSpPr txBox="1"/>
          <p:nvPr>
            <p:ph type="body" idx="1"/>
          </p:nvPr>
        </p:nvSpPr>
        <p:spPr>
          <a:xfrm>
            <a:off x="6043900" y="1657800"/>
            <a:ext cx="2491800" cy="13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Which puzzle piece did they find easiest?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Which puzzle piece did they find most difficult?</a:t>
            </a:r>
            <a:endParaRPr sz="1600"/>
          </a:p>
        </p:txBody>
      </p:sp>
      <p:pic>
        <p:nvPicPr>
          <p:cNvPr id="1304" name="Google Shape;130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5200" y="3234447"/>
            <a:ext cx="724800" cy="70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1" y="3259681"/>
            <a:ext cx="560400" cy="72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9" name="Shape 1309"/>
        <p:cNvGrpSpPr/>
        <p:nvPr/>
      </p:nvGrpSpPr>
      <p:grpSpPr>
        <a:xfrm>
          <a:off x="0" y="0"/>
          <a:ext cx="0" cy="0"/>
        </a:xfrm>
      </p:grpSpPr>
      <p:pic>
        <p:nvPicPr>
          <p:cNvPr id="1310" name="Google Shape;1310;p90"/>
          <p:cNvPicPr preferRelativeResize="0"/>
          <p:nvPr/>
        </p:nvPicPr>
        <p:blipFill>
          <a:blip r:embed="rId3">
            <a:alphaModFix/>
          </a:blip>
          <a:srcRect l="40550" t="13240" b="6172"/>
          <a:stretch>
            <a:fillRect/>
          </a:stretch>
        </p:blipFill>
        <p:spPr>
          <a:xfrm>
            <a:off x="291571" y="1298631"/>
            <a:ext cx="3000003" cy="1936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90"/>
          <p:cNvSpPr/>
          <p:nvPr/>
        </p:nvSpPr>
        <p:spPr>
          <a:xfrm>
            <a:off x="3357050" y="1398000"/>
            <a:ext cx="2433000" cy="2160000"/>
          </a:xfrm>
          <a:prstGeom prst="bevel">
            <a:avLst>
              <a:gd name="adj" fmla="val 2163"/>
            </a:avLst>
          </a:prstGeom>
          <a:solidFill>
            <a:srgbClr val="E6F2F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0"/>
          <p:cNvSpPr txBox="1"/>
          <p:nvPr>
            <p:ph type="body" idx="1"/>
          </p:nvPr>
        </p:nvSpPr>
        <p:spPr>
          <a:xfrm>
            <a:off x="324000" y="759300"/>
            <a:ext cx="8496000" cy="4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They test their puzzle out with some children and discuss what they saw.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900"/>
          </a:p>
        </p:txBody>
      </p:sp>
      <p:sp>
        <p:nvSpPr>
          <p:cNvPr id="1313" name="Google Shape;131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sp>
        <p:nvSpPr>
          <p:cNvPr id="1314" name="Google Shape;1314;p90"/>
          <p:cNvSpPr/>
          <p:nvPr/>
        </p:nvSpPr>
        <p:spPr>
          <a:xfrm>
            <a:off x="6622800" y="3726600"/>
            <a:ext cx="560400" cy="560400"/>
          </a:xfrm>
          <a:prstGeom prst="octagon">
            <a:avLst>
              <a:gd name="adj" fmla="val 29289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90"/>
          <p:cNvSpPr/>
          <p:nvPr/>
        </p:nvSpPr>
        <p:spPr>
          <a:xfrm>
            <a:off x="5105400" y="3735000"/>
            <a:ext cx="628500" cy="543600"/>
          </a:xfrm>
          <a:prstGeom prst="triangle">
            <a:avLst>
              <a:gd name="adj" fmla="val 50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90"/>
          <p:cNvSpPr/>
          <p:nvPr/>
        </p:nvSpPr>
        <p:spPr>
          <a:xfrm>
            <a:off x="3377900" y="3735000"/>
            <a:ext cx="724800" cy="543600"/>
          </a:xfrm>
          <a:prstGeom prst="trapezoid">
            <a:avLst>
              <a:gd name="adj" fmla="val 25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0"/>
          <p:cNvSpPr/>
          <p:nvPr/>
        </p:nvSpPr>
        <p:spPr>
          <a:xfrm>
            <a:off x="3803400" y="2659800"/>
            <a:ext cx="560400" cy="560400"/>
          </a:xfrm>
          <a:prstGeom prst="octagon">
            <a:avLst>
              <a:gd name="adj" fmla="val 29289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0"/>
          <p:cNvSpPr/>
          <p:nvPr/>
        </p:nvSpPr>
        <p:spPr>
          <a:xfrm>
            <a:off x="4800600" y="1753800"/>
            <a:ext cx="628500" cy="5436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0"/>
          <p:cNvSpPr/>
          <p:nvPr/>
        </p:nvSpPr>
        <p:spPr>
          <a:xfrm>
            <a:off x="4749500" y="2668200"/>
            <a:ext cx="724800" cy="543600"/>
          </a:xfrm>
          <a:prstGeom prst="trapezoid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0"/>
          <p:cNvSpPr/>
          <p:nvPr/>
        </p:nvSpPr>
        <p:spPr>
          <a:xfrm>
            <a:off x="3826200" y="1745400"/>
            <a:ext cx="560400" cy="5604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1" name="Google Shape;1321;p90"/>
          <p:cNvGrpSpPr/>
          <p:nvPr/>
        </p:nvGrpSpPr>
        <p:grpSpPr>
          <a:xfrm>
            <a:off x="1997400" y="3726600"/>
            <a:ext cx="560400" cy="560400"/>
            <a:chOff x="1997400" y="3726600"/>
            <a:chExt cx="560400" cy="560400"/>
          </a:xfrm>
        </p:grpSpPr>
        <p:sp>
          <p:nvSpPr>
            <p:cNvPr id="1322" name="Google Shape;1322;p90"/>
            <p:cNvSpPr/>
            <p:nvPr/>
          </p:nvSpPr>
          <p:spPr>
            <a:xfrm>
              <a:off x="1997400" y="3726600"/>
              <a:ext cx="560400" cy="560400"/>
            </a:xfrm>
            <a:prstGeom prst="rect">
              <a:avLst/>
            </a:prstGeom>
            <a:solidFill>
              <a:srgbClr val="E6F2F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90"/>
            <p:cNvSpPr/>
            <p:nvPr/>
          </p:nvSpPr>
          <p:spPr>
            <a:xfrm>
              <a:off x="2201700" y="3930900"/>
              <a:ext cx="151800" cy="1518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4" name="Google Shape;1324;p90"/>
          <p:cNvSpPr/>
          <p:nvPr/>
        </p:nvSpPr>
        <p:spPr>
          <a:xfrm>
            <a:off x="3668480" y="3937227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0"/>
          <p:cNvSpPr/>
          <p:nvPr/>
        </p:nvSpPr>
        <p:spPr>
          <a:xfrm>
            <a:off x="5344880" y="40071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0"/>
          <p:cNvSpPr/>
          <p:nvPr/>
        </p:nvSpPr>
        <p:spPr>
          <a:xfrm>
            <a:off x="6830639" y="39309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0"/>
          <p:cNvSpPr txBox="1"/>
          <p:nvPr>
            <p:ph type="body" idx="1"/>
          </p:nvPr>
        </p:nvSpPr>
        <p:spPr>
          <a:xfrm>
            <a:off x="608868" y="1429200"/>
            <a:ext cx="2592900" cy="9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They found the regular octagon the easiest to insert into its space. </a:t>
            </a:r>
            <a:endParaRPr sz="1600"/>
          </a:p>
        </p:txBody>
      </p:sp>
      <p:pic>
        <p:nvPicPr>
          <p:cNvPr id="1328" name="Google Shape;1328;p9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965068" y="1521716"/>
            <a:ext cx="2762199" cy="17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90"/>
          <p:cNvSpPr txBox="1"/>
          <p:nvPr>
            <p:ph type="body" idx="1"/>
          </p:nvPr>
        </p:nvSpPr>
        <p:spPr>
          <a:xfrm>
            <a:off x="6043900" y="1657800"/>
            <a:ext cx="2491800" cy="13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Why do you think they found the regular octagon easier to insert than the trapezium?</a:t>
            </a:r>
            <a:endParaRPr sz="1600"/>
          </a:p>
        </p:txBody>
      </p:sp>
      <p:pic>
        <p:nvPicPr>
          <p:cNvPr id="1330" name="Google Shape;133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5200" y="3234447"/>
            <a:ext cx="724800" cy="70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1" y="3259681"/>
            <a:ext cx="560400" cy="722634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90"/>
          <p:cNvSpPr txBox="1"/>
          <p:nvPr/>
        </p:nvSpPr>
        <p:spPr>
          <a:xfrm>
            <a:off x="507977" y="2228847"/>
            <a:ext cx="27621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struggled the most with the trapezium.</a:t>
            </a:r>
            <a:endParaRPr sz="1300"/>
          </a:p>
        </p:txBody>
      </p:sp>
      <p:sp>
        <p:nvSpPr>
          <p:cNvPr id="1333" name="Google Shape;1333;p90"/>
          <p:cNvSpPr txBox="1"/>
          <p:nvPr/>
        </p:nvSpPr>
        <p:spPr>
          <a:xfrm>
            <a:off x="6476553" y="4236499"/>
            <a:ext cx="88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easiest</a:t>
            </a:r>
            <a:endParaRPr sz="1300"/>
          </a:p>
        </p:txBody>
      </p:sp>
      <p:sp>
        <p:nvSpPr>
          <p:cNvPr id="1334" name="Google Shape;1334;p90"/>
          <p:cNvSpPr txBox="1"/>
          <p:nvPr/>
        </p:nvSpPr>
        <p:spPr>
          <a:xfrm>
            <a:off x="3263497" y="4249135"/>
            <a:ext cx="10440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 difficult</a:t>
            </a:r>
            <a:endParaRPr sz="13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8" name="Shape 1338"/>
        <p:cNvGrpSpPr/>
        <p:nvPr/>
      </p:nvGrpSpPr>
      <p:grpSpPr>
        <a:xfrm>
          <a:off x="0" y="0"/>
          <a:ext cx="0" cy="0"/>
        </a:xfrm>
      </p:grpSpPr>
      <p:pic>
        <p:nvPicPr>
          <p:cNvPr id="1339" name="Google Shape;1339;p91"/>
          <p:cNvPicPr preferRelativeResize="0"/>
          <p:nvPr/>
        </p:nvPicPr>
        <p:blipFill>
          <a:blip r:embed="rId3">
            <a:alphaModFix/>
          </a:blip>
          <a:srcRect l="40550" t="13240" b="6172"/>
          <a:stretch>
            <a:fillRect/>
          </a:stretch>
        </p:blipFill>
        <p:spPr>
          <a:xfrm>
            <a:off x="291571" y="1298631"/>
            <a:ext cx="3000003" cy="1936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91"/>
          <p:cNvSpPr/>
          <p:nvPr/>
        </p:nvSpPr>
        <p:spPr>
          <a:xfrm>
            <a:off x="3357050" y="1398000"/>
            <a:ext cx="2433000" cy="2160000"/>
          </a:xfrm>
          <a:prstGeom prst="bevel">
            <a:avLst>
              <a:gd name="adj" fmla="val 2163"/>
            </a:avLst>
          </a:prstGeom>
          <a:solidFill>
            <a:srgbClr val="E6F2F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91"/>
          <p:cNvSpPr txBox="1"/>
          <p:nvPr>
            <p:ph type="body" idx="1"/>
          </p:nvPr>
        </p:nvSpPr>
        <p:spPr>
          <a:xfrm>
            <a:off x="324000" y="759300"/>
            <a:ext cx="8496000" cy="40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/>
              <a:t>They test their puzzle out with some children and discuss what they saw.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/>
          </a:p>
        </p:txBody>
      </p:sp>
      <p:sp>
        <p:nvSpPr>
          <p:cNvPr id="1342" name="Google Shape;13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sp>
        <p:nvSpPr>
          <p:cNvPr id="1343" name="Google Shape;1343;p91"/>
          <p:cNvSpPr/>
          <p:nvPr/>
        </p:nvSpPr>
        <p:spPr>
          <a:xfrm>
            <a:off x="6622800" y="3726600"/>
            <a:ext cx="560400" cy="560400"/>
          </a:xfrm>
          <a:prstGeom prst="octagon">
            <a:avLst>
              <a:gd name="adj" fmla="val 29289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91"/>
          <p:cNvSpPr/>
          <p:nvPr/>
        </p:nvSpPr>
        <p:spPr>
          <a:xfrm>
            <a:off x="5105400" y="3735000"/>
            <a:ext cx="628500" cy="543600"/>
          </a:xfrm>
          <a:prstGeom prst="triangle">
            <a:avLst>
              <a:gd name="adj" fmla="val 50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1"/>
          <p:cNvSpPr/>
          <p:nvPr/>
        </p:nvSpPr>
        <p:spPr>
          <a:xfrm>
            <a:off x="3377900" y="3735000"/>
            <a:ext cx="724800" cy="543600"/>
          </a:xfrm>
          <a:prstGeom prst="trapezoid">
            <a:avLst>
              <a:gd name="adj" fmla="val 25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91"/>
          <p:cNvSpPr/>
          <p:nvPr/>
        </p:nvSpPr>
        <p:spPr>
          <a:xfrm>
            <a:off x="3803400" y="2659800"/>
            <a:ext cx="560400" cy="560400"/>
          </a:xfrm>
          <a:prstGeom prst="octagon">
            <a:avLst>
              <a:gd name="adj" fmla="val 29289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91"/>
          <p:cNvSpPr/>
          <p:nvPr/>
        </p:nvSpPr>
        <p:spPr>
          <a:xfrm>
            <a:off x="4800600" y="1753800"/>
            <a:ext cx="628500" cy="5436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91"/>
          <p:cNvSpPr/>
          <p:nvPr/>
        </p:nvSpPr>
        <p:spPr>
          <a:xfrm>
            <a:off x="4749500" y="2668200"/>
            <a:ext cx="724800" cy="543600"/>
          </a:xfrm>
          <a:prstGeom prst="trapezoid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91"/>
          <p:cNvSpPr/>
          <p:nvPr/>
        </p:nvSpPr>
        <p:spPr>
          <a:xfrm>
            <a:off x="3826200" y="1745400"/>
            <a:ext cx="560400" cy="5604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0" name="Google Shape;1350;p91"/>
          <p:cNvGrpSpPr/>
          <p:nvPr/>
        </p:nvGrpSpPr>
        <p:grpSpPr>
          <a:xfrm>
            <a:off x="1997400" y="3726600"/>
            <a:ext cx="560400" cy="560400"/>
            <a:chOff x="1997400" y="3726600"/>
            <a:chExt cx="560400" cy="560400"/>
          </a:xfrm>
        </p:grpSpPr>
        <p:sp>
          <p:nvSpPr>
            <p:cNvPr id="1351" name="Google Shape;1351;p91"/>
            <p:cNvSpPr/>
            <p:nvPr/>
          </p:nvSpPr>
          <p:spPr>
            <a:xfrm>
              <a:off x="1997400" y="3726600"/>
              <a:ext cx="560400" cy="560400"/>
            </a:xfrm>
            <a:prstGeom prst="rect">
              <a:avLst/>
            </a:prstGeom>
            <a:solidFill>
              <a:srgbClr val="E6F2F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2" name="Google Shape;1352;p91"/>
            <p:cNvSpPr/>
            <p:nvPr/>
          </p:nvSpPr>
          <p:spPr>
            <a:xfrm>
              <a:off x="2201700" y="3930900"/>
              <a:ext cx="151800" cy="1518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3" name="Google Shape;1353;p91"/>
          <p:cNvSpPr/>
          <p:nvPr/>
        </p:nvSpPr>
        <p:spPr>
          <a:xfrm>
            <a:off x="3668480" y="3937227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91"/>
          <p:cNvSpPr/>
          <p:nvPr/>
        </p:nvSpPr>
        <p:spPr>
          <a:xfrm>
            <a:off x="5344880" y="40071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91"/>
          <p:cNvSpPr/>
          <p:nvPr/>
        </p:nvSpPr>
        <p:spPr>
          <a:xfrm>
            <a:off x="6830639" y="39309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91"/>
          <p:cNvSpPr txBox="1"/>
          <p:nvPr>
            <p:ph type="body" idx="1"/>
          </p:nvPr>
        </p:nvSpPr>
        <p:spPr>
          <a:xfrm>
            <a:off x="608875" y="1429200"/>
            <a:ext cx="2592900" cy="14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regular octagon has </a:t>
            </a:r>
            <a:r>
              <a:rPr lang="en-GB" sz="1600" b="1"/>
              <a:t>rotational symmetry</a:t>
            </a:r>
            <a:r>
              <a:rPr lang="en-GB" sz="1600"/>
              <a:t> of order 8. So there are 8 different ways that the piece fits into its space.</a:t>
            </a:r>
            <a:endParaRPr sz="1600"/>
          </a:p>
        </p:txBody>
      </p:sp>
      <p:pic>
        <p:nvPicPr>
          <p:cNvPr id="1357" name="Google Shape;1357;p9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965075" y="1521725"/>
            <a:ext cx="2854927" cy="17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91"/>
          <p:cNvSpPr txBox="1"/>
          <p:nvPr>
            <p:ph type="body" idx="1"/>
          </p:nvPr>
        </p:nvSpPr>
        <p:spPr>
          <a:xfrm>
            <a:off x="6043900" y="1562550"/>
            <a:ext cx="2543100" cy="13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Ahh yes! The trapezium has </a:t>
            </a:r>
            <a:r>
              <a:rPr lang="en-GB" sz="1600" b="1"/>
              <a:t>rotational symmetry</a:t>
            </a:r>
            <a:r>
              <a:rPr lang="en-GB" sz="1600"/>
              <a:t> of order 1. So there is only 1 way that it can fit into the space.</a:t>
            </a:r>
            <a:endParaRPr sz="1600"/>
          </a:p>
        </p:txBody>
      </p:sp>
      <p:pic>
        <p:nvPicPr>
          <p:cNvPr id="1359" name="Google Shape;135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5200" y="3234447"/>
            <a:ext cx="724800" cy="70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01" y="3259681"/>
            <a:ext cx="560400" cy="722634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91"/>
          <p:cNvSpPr txBox="1"/>
          <p:nvPr/>
        </p:nvSpPr>
        <p:spPr>
          <a:xfrm>
            <a:off x="6476549" y="4274350"/>
            <a:ext cx="104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order 8</a:t>
            </a:r>
            <a:endParaRPr sz="1300"/>
          </a:p>
        </p:txBody>
      </p:sp>
      <p:sp>
        <p:nvSpPr>
          <p:cNvPr id="1362" name="Google Shape;1362;p91"/>
          <p:cNvSpPr txBox="1"/>
          <p:nvPr/>
        </p:nvSpPr>
        <p:spPr>
          <a:xfrm>
            <a:off x="3289474" y="4280675"/>
            <a:ext cx="104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order 1</a:t>
            </a:r>
            <a:endParaRPr sz="13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6" name="Shape 1366"/>
        <p:cNvGrpSpPr/>
        <p:nvPr/>
      </p:nvGrpSpPr>
      <p:grpSpPr>
        <a:xfrm>
          <a:off x="0" y="0"/>
          <a:ext cx="0" cy="0"/>
        </a:xfrm>
      </p:grpSpPr>
      <p:sp>
        <p:nvSpPr>
          <p:cNvPr id="1367" name="Google Shape;1367;p92"/>
          <p:cNvSpPr/>
          <p:nvPr/>
        </p:nvSpPr>
        <p:spPr>
          <a:xfrm>
            <a:off x="3357050" y="1474200"/>
            <a:ext cx="2433000" cy="2160000"/>
          </a:xfrm>
          <a:prstGeom prst="bevel">
            <a:avLst>
              <a:gd name="adj" fmla="val 2163"/>
            </a:avLst>
          </a:prstGeom>
          <a:solidFill>
            <a:srgbClr val="E6F2F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92"/>
          <p:cNvSpPr txBox="1"/>
          <p:nvPr>
            <p:ph type="body" idx="1"/>
          </p:nvPr>
        </p:nvSpPr>
        <p:spPr>
          <a:xfrm>
            <a:off x="324000" y="759300"/>
            <a:ext cx="8496000" cy="7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They decide to rearrange the spaces on the board so the pieces are in order from the easiest to most difficult to insert into their spaces.</a:t>
            </a:r>
            <a:endParaRPr sz="1900"/>
          </a:p>
        </p:txBody>
      </p:sp>
      <p:sp>
        <p:nvSpPr>
          <p:cNvPr id="1369" name="Google Shape;136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sp>
        <p:nvSpPr>
          <p:cNvPr id="1370" name="Google Shape;1370;p92"/>
          <p:cNvSpPr/>
          <p:nvPr/>
        </p:nvSpPr>
        <p:spPr>
          <a:xfrm>
            <a:off x="6622800" y="3802800"/>
            <a:ext cx="560400" cy="560400"/>
          </a:xfrm>
          <a:prstGeom prst="octagon">
            <a:avLst>
              <a:gd name="adj" fmla="val 29289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92"/>
          <p:cNvSpPr/>
          <p:nvPr/>
        </p:nvSpPr>
        <p:spPr>
          <a:xfrm>
            <a:off x="5105400" y="3811200"/>
            <a:ext cx="628500" cy="543600"/>
          </a:xfrm>
          <a:prstGeom prst="triangle">
            <a:avLst>
              <a:gd name="adj" fmla="val 50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92"/>
          <p:cNvSpPr/>
          <p:nvPr/>
        </p:nvSpPr>
        <p:spPr>
          <a:xfrm>
            <a:off x="3377900" y="3811200"/>
            <a:ext cx="724800" cy="543600"/>
          </a:xfrm>
          <a:prstGeom prst="trapezoid">
            <a:avLst>
              <a:gd name="adj" fmla="val 25000"/>
            </a:avLst>
          </a:prstGeom>
          <a:solidFill>
            <a:srgbClr val="E6F2F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92"/>
          <p:cNvSpPr/>
          <p:nvPr/>
        </p:nvSpPr>
        <p:spPr>
          <a:xfrm>
            <a:off x="3803400" y="1821600"/>
            <a:ext cx="560400" cy="560400"/>
          </a:xfrm>
          <a:prstGeom prst="octagon">
            <a:avLst>
              <a:gd name="adj" fmla="val 29289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92"/>
          <p:cNvSpPr/>
          <p:nvPr/>
        </p:nvSpPr>
        <p:spPr>
          <a:xfrm>
            <a:off x="3733800" y="2744400"/>
            <a:ext cx="628500" cy="5436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92"/>
          <p:cNvSpPr/>
          <p:nvPr/>
        </p:nvSpPr>
        <p:spPr>
          <a:xfrm>
            <a:off x="4749500" y="2744400"/>
            <a:ext cx="724800" cy="543600"/>
          </a:xfrm>
          <a:prstGeom prst="trapezoid">
            <a:avLst>
              <a:gd name="adj" fmla="val 25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92"/>
          <p:cNvSpPr/>
          <p:nvPr/>
        </p:nvSpPr>
        <p:spPr>
          <a:xfrm>
            <a:off x="4816800" y="1821600"/>
            <a:ext cx="560400" cy="5604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7" name="Google Shape;1377;p92"/>
          <p:cNvGrpSpPr/>
          <p:nvPr/>
        </p:nvGrpSpPr>
        <p:grpSpPr>
          <a:xfrm>
            <a:off x="1997400" y="3802800"/>
            <a:ext cx="560400" cy="560400"/>
            <a:chOff x="1997400" y="3726600"/>
            <a:chExt cx="560400" cy="560400"/>
          </a:xfrm>
        </p:grpSpPr>
        <p:sp>
          <p:nvSpPr>
            <p:cNvPr id="1378" name="Google Shape;1378;p92"/>
            <p:cNvSpPr/>
            <p:nvPr/>
          </p:nvSpPr>
          <p:spPr>
            <a:xfrm>
              <a:off x="1997400" y="3726600"/>
              <a:ext cx="560400" cy="560400"/>
            </a:xfrm>
            <a:prstGeom prst="rect">
              <a:avLst/>
            </a:prstGeom>
            <a:solidFill>
              <a:srgbClr val="E6F2F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9" name="Google Shape;1379;p92"/>
            <p:cNvSpPr/>
            <p:nvPr/>
          </p:nvSpPr>
          <p:spPr>
            <a:xfrm>
              <a:off x="2201700" y="3930900"/>
              <a:ext cx="151800" cy="1518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0" name="Google Shape;1380;p92"/>
          <p:cNvSpPr/>
          <p:nvPr/>
        </p:nvSpPr>
        <p:spPr>
          <a:xfrm>
            <a:off x="3668480" y="4013427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92"/>
          <p:cNvSpPr/>
          <p:nvPr/>
        </p:nvSpPr>
        <p:spPr>
          <a:xfrm>
            <a:off x="5344880" y="40833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92"/>
          <p:cNvSpPr/>
          <p:nvPr/>
        </p:nvSpPr>
        <p:spPr>
          <a:xfrm>
            <a:off x="6830639" y="4007100"/>
            <a:ext cx="151800" cy="151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3" name="Google Shape;138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200" y="3234447"/>
            <a:ext cx="724800" cy="70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1" y="3259681"/>
            <a:ext cx="560400" cy="722634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92"/>
          <p:cNvSpPr txBox="1"/>
          <p:nvPr>
            <p:ph type="body" idx="1"/>
          </p:nvPr>
        </p:nvSpPr>
        <p:spPr>
          <a:xfrm>
            <a:off x="324000" y="4519077"/>
            <a:ext cx="4492800" cy="32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Which order should the shapes go in?</a:t>
            </a:r>
            <a:endParaRPr sz="1900"/>
          </a:p>
        </p:txBody>
      </p:sp>
      <p:cxnSp>
        <p:nvCxnSpPr>
          <p:cNvPr id="1386" name="Google Shape;1386;p92"/>
          <p:cNvCxnSpPr/>
          <p:nvPr/>
        </p:nvCxnSpPr>
        <p:spPr>
          <a:xfrm>
            <a:off x="4434191" y="2101800"/>
            <a:ext cx="294900" cy="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7" name="Google Shape;1387;p92"/>
          <p:cNvCxnSpPr/>
          <p:nvPr/>
        </p:nvCxnSpPr>
        <p:spPr>
          <a:xfrm>
            <a:off x="4434191" y="3016200"/>
            <a:ext cx="294900" cy="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8" name="Google Shape;1388;p92"/>
          <p:cNvCxnSpPr/>
          <p:nvPr/>
        </p:nvCxnSpPr>
        <p:spPr>
          <a:xfrm flipH="1">
            <a:off x="4434191" y="2462100"/>
            <a:ext cx="187800" cy="1938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9" name="Google Shape;1389;p92"/>
          <p:cNvSpPr txBox="1"/>
          <p:nvPr>
            <p:ph type="body" idx="1"/>
          </p:nvPr>
        </p:nvSpPr>
        <p:spPr>
          <a:xfrm>
            <a:off x="637173" y="1994700"/>
            <a:ext cx="2582100" cy="9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highest order of </a:t>
            </a:r>
            <a:r>
              <a:rPr lang="en-GB" sz="1900" b="1"/>
              <a:t>rotational symmetry</a:t>
            </a:r>
            <a:endParaRPr sz="1900" b="1"/>
          </a:p>
        </p:txBody>
      </p:sp>
      <p:sp>
        <p:nvSpPr>
          <p:cNvPr id="1390" name="Google Shape;1390;p92"/>
          <p:cNvSpPr txBox="1"/>
          <p:nvPr>
            <p:ph type="body" idx="1"/>
          </p:nvPr>
        </p:nvSpPr>
        <p:spPr>
          <a:xfrm>
            <a:off x="5953300" y="2402275"/>
            <a:ext cx="2582100" cy="66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lowest order of </a:t>
            </a:r>
            <a:r>
              <a:rPr lang="en-GB" sz="1900" b="1"/>
              <a:t>rotational symmetry</a:t>
            </a:r>
            <a:endParaRPr sz="1900" b="1"/>
          </a:p>
        </p:txBody>
      </p:sp>
      <p:cxnSp>
        <p:nvCxnSpPr>
          <p:cNvPr id="1391" name="Google Shape;1391;p92"/>
          <p:cNvCxnSpPr/>
          <p:nvPr/>
        </p:nvCxnSpPr>
        <p:spPr>
          <a:xfrm flipH="1">
            <a:off x="2598983" y="2102557"/>
            <a:ext cx="1345200" cy="58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2" name="Google Shape;1392;p92"/>
          <p:cNvCxnSpPr>
            <a:stCxn id="1390" idx="1"/>
            <a:endCxn id="1393" idx="3"/>
          </p:cNvCxnSpPr>
          <p:nvPr/>
        </p:nvCxnSpPr>
        <p:spPr>
          <a:xfrm flipH="1">
            <a:off x="5210500" y="2737075"/>
            <a:ext cx="742800" cy="288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4" name="Google Shape;1394;p92"/>
          <p:cNvSpPr txBox="1"/>
          <p:nvPr>
            <p:ph type="body" idx="4294967295"/>
          </p:nvPr>
        </p:nvSpPr>
        <p:spPr>
          <a:xfrm>
            <a:off x="3988339" y="1964857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a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95" name="Google Shape;1395;p92"/>
          <p:cNvSpPr txBox="1"/>
          <p:nvPr>
            <p:ph type="body" idx="4294967295"/>
          </p:nvPr>
        </p:nvSpPr>
        <p:spPr>
          <a:xfrm>
            <a:off x="5016648" y="1964857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b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96" name="Google Shape;1396;p92"/>
          <p:cNvSpPr txBox="1"/>
          <p:nvPr>
            <p:ph type="body" idx="4294967295"/>
          </p:nvPr>
        </p:nvSpPr>
        <p:spPr>
          <a:xfrm>
            <a:off x="3952807" y="2958907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93" name="Google Shape;1393;p92"/>
          <p:cNvSpPr txBox="1"/>
          <p:nvPr>
            <p:ph type="body" idx="4294967295"/>
          </p:nvPr>
        </p:nvSpPr>
        <p:spPr>
          <a:xfrm>
            <a:off x="5019989" y="288803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d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0" name="Shape 1400"/>
        <p:cNvGrpSpPr/>
        <p:nvPr/>
      </p:nvGrpSpPr>
      <p:grpSpPr>
        <a:xfrm>
          <a:off x="0" y="0"/>
          <a:ext cx="0" cy="0"/>
        </a:xfrm>
      </p:grpSpPr>
      <p:sp>
        <p:nvSpPr>
          <p:cNvPr id="1401" name="Google Shape;1401;p93"/>
          <p:cNvSpPr/>
          <p:nvPr/>
        </p:nvSpPr>
        <p:spPr>
          <a:xfrm>
            <a:off x="1759586" y="3206499"/>
            <a:ext cx="451500" cy="451500"/>
          </a:xfrm>
          <a:prstGeom prst="ellipse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93"/>
          <p:cNvSpPr txBox="1"/>
          <p:nvPr>
            <p:ph type="body" idx="1"/>
          </p:nvPr>
        </p:nvSpPr>
        <p:spPr>
          <a:xfrm>
            <a:off x="324000" y="759300"/>
            <a:ext cx="84960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Jacob is designing a logo. He wants the outline of the logo to have </a:t>
            </a:r>
            <a:r>
              <a:rPr lang="en-GB" sz="2000" b="1"/>
              <a:t>rotational symmetry</a:t>
            </a:r>
            <a:r>
              <a:rPr lang="en-GB" sz="2000"/>
              <a:t> of order 6.</a:t>
            </a:r>
            <a:endParaRPr sz="2000"/>
          </a:p>
        </p:txBody>
      </p:sp>
      <p:sp>
        <p:nvSpPr>
          <p:cNvPr id="1403" name="Google Shape;140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cxnSp>
        <p:nvCxnSpPr>
          <p:cNvPr id="1404" name="Google Shape;1404;p93"/>
          <p:cNvCxnSpPr/>
          <p:nvPr/>
        </p:nvCxnSpPr>
        <p:spPr>
          <a:xfrm>
            <a:off x="1640404" y="2783920"/>
            <a:ext cx="766500" cy="135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06" name="Google Shape;1406;p93"/>
          <p:cNvCxnSpPr/>
          <p:nvPr/>
        </p:nvCxnSpPr>
        <p:spPr>
          <a:xfrm flipH="1">
            <a:off x="1584644" y="2783920"/>
            <a:ext cx="766500" cy="135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07" name="Google Shape;1407;p93"/>
          <p:cNvCxnSpPr/>
          <p:nvPr/>
        </p:nvCxnSpPr>
        <p:spPr>
          <a:xfrm rot="10800000">
            <a:off x="1177158" y="3439325"/>
            <a:ext cx="1562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408" name="Google Shape;140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9478" y="3228162"/>
            <a:ext cx="605444" cy="7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93"/>
          <p:cNvSpPr txBox="1"/>
          <p:nvPr/>
        </p:nvSpPr>
        <p:spPr>
          <a:xfrm>
            <a:off x="79295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0" name="Google Shape;1410;p93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 flipH="1">
            <a:off x="3838494" y="1577817"/>
            <a:ext cx="4813399" cy="199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3"/>
          <p:cNvSpPr txBox="1"/>
          <p:nvPr>
            <p:ph type="body" idx="1"/>
          </p:nvPr>
        </p:nvSpPr>
        <p:spPr>
          <a:xfrm>
            <a:off x="4042575" y="1713550"/>
            <a:ext cx="4085100" cy="7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 is 360° in a full turn. So I’ll start by dividing 360 by 6 to get 60°.  </a:t>
            </a:r>
            <a:endParaRPr sz="1800"/>
          </a:p>
        </p:txBody>
      </p:sp>
      <p:sp>
        <p:nvSpPr>
          <p:cNvPr id="1412" name="Google Shape;1412;p93"/>
          <p:cNvSpPr txBox="1"/>
          <p:nvPr>
            <p:ph type="body" idx="1"/>
          </p:nvPr>
        </p:nvSpPr>
        <p:spPr>
          <a:xfrm>
            <a:off x="4042575" y="2519350"/>
            <a:ext cx="4085100" cy="12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That means I want the shape to look the same every time I rotate it 60°.</a:t>
            </a:r>
            <a:endParaRPr sz="1800"/>
          </a:p>
        </p:txBody>
      </p:sp>
      <p:sp>
        <p:nvSpPr>
          <p:cNvPr id="1413" name="Google Shape;1413;p93"/>
          <p:cNvSpPr txBox="1"/>
          <p:nvPr>
            <p:ph type="body" idx="1"/>
          </p:nvPr>
        </p:nvSpPr>
        <p:spPr>
          <a:xfrm>
            <a:off x="2260750" y="3083250"/>
            <a:ext cx="4368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60°  </a:t>
            </a:r>
            <a:endParaRPr sz="1800"/>
          </a:p>
        </p:txBody>
      </p:sp>
      <p:sp>
        <p:nvSpPr>
          <p:cNvPr id="1414" name="Google Shape;1414;p93"/>
          <p:cNvSpPr txBox="1"/>
          <p:nvPr>
            <p:ph type="body" idx="1"/>
          </p:nvPr>
        </p:nvSpPr>
        <p:spPr>
          <a:xfrm>
            <a:off x="2260750" y="3464250"/>
            <a:ext cx="4368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60°  </a:t>
            </a:r>
            <a:endParaRPr sz="1800"/>
          </a:p>
        </p:txBody>
      </p:sp>
      <p:sp>
        <p:nvSpPr>
          <p:cNvPr id="1415" name="Google Shape;1415;p93"/>
          <p:cNvSpPr txBox="1"/>
          <p:nvPr>
            <p:ph type="body" idx="1"/>
          </p:nvPr>
        </p:nvSpPr>
        <p:spPr>
          <a:xfrm>
            <a:off x="1803550" y="3692850"/>
            <a:ext cx="4368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60°  </a:t>
            </a:r>
            <a:endParaRPr sz="1800"/>
          </a:p>
        </p:txBody>
      </p:sp>
      <p:sp>
        <p:nvSpPr>
          <p:cNvPr id="1416" name="Google Shape;1416;p93"/>
          <p:cNvSpPr txBox="1"/>
          <p:nvPr>
            <p:ph type="body" idx="1"/>
          </p:nvPr>
        </p:nvSpPr>
        <p:spPr>
          <a:xfrm>
            <a:off x="1400737" y="3496824"/>
            <a:ext cx="4368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60°  </a:t>
            </a:r>
            <a:endParaRPr sz="1800"/>
          </a:p>
        </p:txBody>
      </p:sp>
      <p:sp>
        <p:nvSpPr>
          <p:cNvPr id="1417" name="Google Shape;1417;p93"/>
          <p:cNvSpPr txBox="1"/>
          <p:nvPr>
            <p:ph type="body" idx="1"/>
          </p:nvPr>
        </p:nvSpPr>
        <p:spPr>
          <a:xfrm>
            <a:off x="1415279" y="3101282"/>
            <a:ext cx="4368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60°  </a:t>
            </a:r>
            <a:endParaRPr sz="1800"/>
          </a:p>
        </p:txBody>
      </p:sp>
      <p:sp>
        <p:nvSpPr>
          <p:cNvPr id="1418" name="Google Shape;1418;p93"/>
          <p:cNvSpPr txBox="1"/>
          <p:nvPr>
            <p:ph type="body" idx="1"/>
          </p:nvPr>
        </p:nvSpPr>
        <p:spPr>
          <a:xfrm>
            <a:off x="1839905" y="2818295"/>
            <a:ext cx="4368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60° 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2" name="Shape 1422"/>
        <p:cNvGrpSpPr/>
        <p:nvPr/>
      </p:nvGrpSpPr>
      <p:grpSpPr>
        <a:xfrm>
          <a:off x="0" y="0"/>
          <a:ext cx="0" cy="0"/>
        </a:xfrm>
      </p:grpSpPr>
      <p:sp>
        <p:nvSpPr>
          <p:cNvPr id="1423" name="Google Shape;1423;p94"/>
          <p:cNvSpPr txBox="1"/>
          <p:nvPr>
            <p:ph type="body" idx="1"/>
          </p:nvPr>
        </p:nvSpPr>
        <p:spPr>
          <a:xfrm>
            <a:off x="324000" y="759300"/>
            <a:ext cx="84960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Jacob is designing a logo. He wants the outline of the logo to have </a:t>
            </a:r>
            <a:r>
              <a:rPr lang="en-GB" sz="2000" b="1"/>
              <a:t>rotational symmetry</a:t>
            </a:r>
            <a:r>
              <a:rPr lang="en-GB" sz="2000"/>
              <a:t> of order 6.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424" name="Google Shape;142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cxnSp>
        <p:nvCxnSpPr>
          <p:cNvPr id="1425" name="Google Shape;1425;p94"/>
          <p:cNvCxnSpPr>
            <a:stCxn id="1426" idx="4"/>
          </p:cNvCxnSpPr>
          <p:nvPr/>
        </p:nvCxnSpPr>
        <p:spPr>
          <a:xfrm>
            <a:off x="1640404" y="2783920"/>
            <a:ext cx="766500" cy="135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27" name="Google Shape;1427;p94"/>
          <p:cNvCxnSpPr/>
          <p:nvPr/>
        </p:nvCxnSpPr>
        <p:spPr>
          <a:xfrm flipH="1">
            <a:off x="1584644" y="2783920"/>
            <a:ext cx="766500" cy="135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28" name="Google Shape;1428;p94"/>
          <p:cNvCxnSpPr/>
          <p:nvPr/>
        </p:nvCxnSpPr>
        <p:spPr>
          <a:xfrm rot="10800000">
            <a:off x="1177158" y="3439325"/>
            <a:ext cx="1562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429" name="Google Shape;1429;p94"/>
          <p:cNvGrpSpPr/>
          <p:nvPr/>
        </p:nvGrpSpPr>
        <p:grpSpPr>
          <a:xfrm>
            <a:off x="1640404" y="2493364"/>
            <a:ext cx="709200" cy="904056"/>
            <a:chOff x="802204" y="3864964"/>
            <a:chExt cx="709200" cy="904056"/>
          </a:xfrm>
        </p:grpSpPr>
        <p:sp>
          <p:nvSpPr>
            <p:cNvPr id="1426" name="Google Shape;1426;p94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0" name="Google Shape;1430;p94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1" name="Google Shape;1431;p94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pic>
        <p:nvPicPr>
          <p:cNvPr id="1432" name="Google Shape;143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9478" y="3228162"/>
            <a:ext cx="605444" cy="7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94"/>
          <p:cNvSpPr txBox="1"/>
          <p:nvPr/>
        </p:nvSpPr>
        <p:spPr>
          <a:xfrm>
            <a:off x="79295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4" name="Google Shape;1434;p94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 flipH="1">
            <a:off x="3838494" y="1577817"/>
            <a:ext cx="4813399" cy="199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94"/>
          <p:cNvSpPr txBox="1"/>
          <p:nvPr>
            <p:ph type="body" idx="1"/>
          </p:nvPr>
        </p:nvSpPr>
        <p:spPr>
          <a:xfrm>
            <a:off x="4042575" y="1713550"/>
            <a:ext cx="4085100" cy="7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I’ll draw a shape that has an angle of 60° at a vertex.  </a:t>
            </a:r>
            <a:endParaRPr sz="1800"/>
          </a:p>
        </p:txBody>
      </p:sp>
      <p:sp>
        <p:nvSpPr>
          <p:cNvPr id="1436" name="Google Shape;1436;p94"/>
          <p:cNvSpPr txBox="1"/>
          <p:nvPr>
            <p:ph type="body" idx="1"/>
          </p:nvPr>
        </p:nvSpPr>
        <p:spPr>
          <a:xfrm>
            <a:off x="4042575" y="2519350"/>
            <a:ext cx="4085100" cy="6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I’ll then create five more shapes that are congruent to the first one.</a:t>
            </a:r>
            <a:endParaRPr sz="1800"/>
          </a:p>
        </p:txBody>
      </p:sp>
      <p:grpSp>
        <p:nvGrpSpPr>
          <p:cNvPr id="1437" name="Google Shape;1437;p94"/>
          <p:cNvGrpSpPr/>
          <p:nvPr/>
        </p:nvGrpSpPr>
        <p:grpSpPr>
          <a:xfrm>
            <a:off x="2935804" y="3712564"/>
            <a:ext cx="709200" cy="904056"/>
            <a:chOff x="802204" y="3864964"/>
            <a:chExt cx="709200" cy="904056"/>
          </a:xfrm>
        </p:grpSpPr>
        <p:sp>
          <p:nvSpPr>
            <p:cNvPr id="1438" name="Google Shape;1438;p94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9" name="Google Shape;1439;p94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0" name="Google Shape;1440;p94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41" name="Google Shape;1441;p94"/>
          <p:cNvGrpSpPr/>
          <p:nvPr/>
        </p:nvGrpSpPr>
        <p:grpSpPr>
          <a:xfrm>
            <a:off x="3945454" y="3712564"/>
            <a:ext cx="709200" cy="904056"/>
            <a:chOff x="802204" y="3864964"/>
            <a:chExt cx="709200" cy="904056"/>
          </a:xfrm>
        </p:grpSpPr>
        <p:sp>
          <p:nvSpPr>
            <p:cNvPr id="1442" name="Google Shape;1442;p94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3" name="Google Shape;1443;p94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4" name="Google Shape;1444;p94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45" name="Google Shape;1445;p94"/>
          <p:cNvGrpSpPr/>
          <p:nvPr/>
        </p:nvGrpSpPr>
        <p:grpSpPr>
          <a:xfrm>
            <a:off x="4955104" y="3712564"/>
            <a:ext cx="709200" cy="904056"/>
            <a:chOff x="802204" y="3864964"/>
            <a:chExt cx="709200" cy="904056"/>
          </a:xfrm>
        </p:grpSpPr>
        <p:sp>
          <p:nvSpPr>
            <p:cNvPr id="1446" name="Google Shape;1446;p94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94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94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49" name="Google Shape;1449;p94"/>
          <p:cNvGrpSpPr/>
          <p:nvPr/>
        </p:nvGrpSpPr>
        <p:grpSpPr>
          <a:xfrm>
            <a:off x="5964754" y="3712564"/>
            <a:ext cx="709200" cy="904056"/>
            <a:chOff x="802204" y="3864964"/>
            <a:chExt cx="709200" cy="904056"/>
          </a:xfrm>
        </p:grpSpPr>
        <p:sp>
          <p:nvSpPr>
            <p:cNvPr id="1450" name="Google Shape;1450;p94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94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2" name="Google Shape;1452;p94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53" name="Google Shape;1453;p94"/>
          <p:cNvGrpSpPr/>
          <p:nvPr/>
        </p:nvGrpSpPr>
        <p:grpSpPr>
          <a:xfrm>
            <a:off x="6974404" y="3712564"/>
            <a:ext cx="709200" cy="904056"/>
            <a:chOff x="802204" y="3864964"/>
            <a:chExt cx="709200" cy="904056"/>
          </a:xfrm>
        </p:grpSpPr>
        <p:sp>
          <p:nvSpPr>
            <p:cNvPr id="1454" name="Google Shape;1454;p94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5" name="Google Shape;1455;p94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6" name="Google Shape;1456;p94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0" name="Shape 1460"/>
        <p:cNvGrpSpPr/>
        <p:nvPr/>
      </p:nvGrpSpPr>
      <p:grpSpPr>
        <a:xfrm>
          <a:off x="0" y="0"/>
          <a:ext cx="0" cy="0"/>
        </a:xfrm>
      </p:grpSpPr>
      <p:sp>
        <p:nvSpPr>
          <p:cNvPr id="1461" name="Google Shape;1461;p95"/>
          <p:cNvSpPr txBox="1"/>
          <p:nvPr>
            <p:ph type="body" idx="1"/>
          </p:nvPr>
        </p:nvSpPr>
        <p:spPr>
          <a:xfrm>
            <a:off x="324000" y="759300"/>
            <a:ext cx="8496000" cy="7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Jacob is designing a logo. He wants the outline of the logo to have </a:t>
            </a:r>
            <a:r>
              <a:rPr lang="en-GB" sz="2000" b="1"/>
              <a:t>rotational symmetry</a:t>
            </a:r>
            <a:r>
              <a:rPr lang="en-GB" sz="2000"/>
              <a:t> of order 6.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462" name="Google Shape;146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cxnSp>
        <p:nvCxnSpPr>
          <p:cNvPr id="1463" name="Google Shape;1463;p95"/>
          <p:cNvCxnSpPr>
            <a:stCxn id="1464" idx="4"/>
          </p:cNvCxnSpPr>
          <p:nvPr/>
        </p:nvCxnSpPr>
        <p:spPr>
          <a:xfrm>
            <a:off x="1640404" y="2783920"/>
            <a:ext cx="766500" cy="135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65" name="Google Shape;1465;p95"/>
          <p:cNvCxnSpPr/>
          <p:nvPr/>
        </p:nvCxnSpPr>
        <p:spPr>
          <a:xfrm flipH="1">
            <a:off x="1584644" y="2783920"/>
            <a:ext cx="766500" cy="135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66" name="Google Shape;1466;p95"/>
          <p:cNvCxnSpPr/>
          <p:nvPr/>
        </p:nvCxnSpPr>
        <p:spPr>
          <a:xfrm rot="10800000">
            <a:off x="1177158" y="3439325"/>
            <a:ext cx="1562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467" name="Google Shape;1467;p95"/>
          <p:cNvGrpSpPr/>
          <p:nvPr/>
        </p:nvGrpSpPr>
        <p:grpSpPr>
          <a:xfrm>
            <a:off x="1640404" y="2493364"/>
            <a:ext cx="709200" cy="904056"/>
            <a:chOff x="802204" y="3864964"/>
            <a:chExt cx="709200" cy="904056"/>
          </a:xfrm>
        </p:grpSpPr>
        <p:sp>
          <p:nvSpPr>
            <p:cNvPr id="1464" name="Google Shape;1464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8" name="Google Shape;1468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9" name="Google Shape;1469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pic>
        <p:nvPicPr>
          <p:cNvPr id="1470" name="Google Shape;147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9478" y="3228162"/>
            <a:ext cx="605444" cy="7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95"/>
          <p:cNvSpPr txBox="1"/>
          <p:nvPr/>
        </p:nvSpPr>
        <p:spPr>
          <a:xfrm>
            <a:off x="79295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2" name="Google Shape;1472;p95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 flipH="1">
            <a:off x="4521390" y="1849722"/>
            <a:ext cx="4079898" cy="1580887"/>
          </a:xfrm>
          <a:prstGeom prst="rect">
            <a:avLst/>
          </a:prstGeom>
          <a:noFill/>
          <a:ln>
            <a:noFill/>
          </a:ln>
        </p:spPr>
      </p:pic>
      <p:sp>
        <p:nvSpPr>
          <p:cNvPr id="1473" name="Google Shape;1473;p95"/>
          <p:cNvSpPr txBox="1"/>
          <p:nvPr>
            <p:ph type="body" idx="1"/>
          </p:nvPr>
        </p:nvSpPr>
        <p:spPr>
          <a:xfrm>
            <a:off x="4804575" y="2094550"/>
            <a:ext cx="3334200" cy="90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can then rotate each shape and arrange them around the point at the centre.</a:t>
            </a:r>
            <a:endParaRPr sz="1800"/>
          </a:p>
        </p:txBody>
      </p:sp>
      <p:grpSp>
        <p:nvGrpSpPr>
          <p:cNvPr id="1474" name="Google Shape;1474;p95"/>
          <p:cNvGrpSpPr/>
          <p:nvPr/>
        </p:nvGrpSpPr>
        <p:grpSpPr>
          <a:xfrm>
            <a:off x="2935804" y="3712564"/>
            <a:ext cx="709200" cy="904056"/>
            <a:chOff x="802204" y="3864964"/>
            <a:chExt cx="709200" cy="904056"/>
          </a:xfrm>
        </p:grpSpPr>
        <p:sp>
          <p:nvSpPr>
            <p:cNvPr id="1475" name="Google Shape;1475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6" name="Google Shape;1476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7" name="Google Shape;1477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78" name="Google Shape;1478;p95"/>
          <p:cNvGrpSpPr/>
          <p:nvPr/>
        </p:nvGrpSpPr>
        <p:grpSpPr>
          <a:xfrm>
            <a:off x="3945454" y="3712564"/>
            <a:ext cx="709200" cy="904056"/>
            <a:chOff x="802204" y="3864964"/>
            <a:chExt cx="709200" cy="904056"/>
          </a:xfrm>
        </p:grpSpPr>
        <p:sp>
          <p:nvSpPr>
            <p:cNvPr id="1479" name="Google Shape;1479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0" name="Google Shape;1480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1" name="Google Shape;1481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82" name="Google Shape;1482;p95"/>
          <p:cNvGrpSpPr/>
          <p:nvPr/>
        </p:nvGrpSpPr>
        <p:grpSpPr>
          <a:xfrm>
            <a:off x="4955104" y="3712564"/>
            <a:ext cx="709200" cy="904056"/>
            <a:chOff x="802204" y="3864964"/>
            <a:chExt cx="709200" cy="904056"/>
          </a:xfrm>
        </p:grpSpPr>
        <p:sp>
          <p:nvSpPr>
            <p:cNvPr id="1483" name="Google Shape;1483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4" name="Google Shape;1484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5" name="Google Shape;1485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86" name="Google Shape;1486;p95"/>
          <p:cNvGrpSpPr/>
          <p:nvPr/>
        </p:nvGrpSpPr>
        <p:grpSpPr>
          <a:xfrm>
            <a:off x="5964754" y="3712564"/>
            <a:ext cx="709200" cy="904056"/>
            <a:chOff x="802204" y="3864964"/>
            <a:chExt cx="709200" cy="904056"/>
          </a:xfrm>
        </p:grpSpPr>
        <p:sp>
          <p:nvSpPr>
            <p:cNvPr id="1487" name="Google Shape;1487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8" name="Google Shape;1488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9" name="Google Shape;1489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90" name="Google Shape;1490;p95"/>
          <p:cNvGrpSpPr/>
          <p:nvPr/>
        </p:nvGrpSpPr>
        <p:grpSpPr>
          <a:xfrm>
            <a:off x="6974404" y="3712564"/>
            <a:ext cx="709200" cy="904056"/>
            <a:chOff x="802204" y="3864964"/>
            <a:chExt cx="709200" cy="904056"/>
          </a:xfrm>
        </p:grpSpPr>
        <p:sp>
          <p:nvSpPr>
            <p:cNvPr id="1491" name="Google Shape;1491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2" name="Google Shape;1492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3" name="Google Shape;1493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94" name="Google Shape;1494;p95"/>
          <p:cNvGrpSpPr/>
          <p:nvPr/>
        </p:nvGrpSpPr>
        <p:grpSpPr>
          <a:xfrm rot="3599956">
            <a:off x="2027848" y="2734598"/>
            <a:ext cx="709184" cy="904036"/>
            <a:chOff x="802204" y="3864964"/>
            <a:chExt cx="709200" cy="904056"/>
          </a:xfrm>
        </p:grpSpPr>
        <p:sp>
          <p:nvSpPr>
            <p:cNvPr id="1495" name="Google Shape;1495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6" name="Google Shape;1496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498" name="Google Shape;1498;p95"/>
          <p:cNvGrpSpPr/>
          <p:nvPr/>
        </p:nvGrpSpPr>
        <p:grpSpPr>
          <a:xfrm rot="7200044">
            <a:off x="2027823" y="3191783"/>
            <a:ext cx="709184" cy="904036"/>
            <a:chOff x="802204" y="3864964"/>
            <a:chExt cx="709200" cy="904056"/>
          </a:xfrm>
        </p:grpSpPr>
        <p:sp>
          <p:nvSpPr>
            <p:cNvPr id="1499" name="Google Shape;1499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1" name="Google Shape;1501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502" name="Google Shape;1502;p95"/>
          <p:cNvGrpSpPr/>
          <p:nvPr/>
        </p:nvGrpSpPr>
        <p:grpSpPr>
          <a:xfrm rot="10800000">
            <a:off x="1646790" y="3413952"/>
            <a:ext cx="709200" cy="904056"/>
            <a:chOff x="802204" y="3864964"/>
            <a:chExt cx="709200" cy="904056"/>
          </a:xfrm>
        </p:grpSpPr>
        <p:sp>
          <p:nvSpPr>
            <p:cNvPr id="1503" name="Google Shape;1503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4" name="Google Shape;1504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5" name="Google Shape;1505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506" name="Google Shape;1506;p95"/>
          <p:cNvGrpSpPr/>
          <p:nvPr/>
        </p:nvGrpSpPr>
        <p:grpSpPr>
          <a:xfrm rot="-7200044">
            <a:off x="1265688" y="3185391"/>
            <a:ext cx="709184" cy="904036"/>
            <a:chOff x="802204" y="3864964"/>
            <a:chExt cx="709200" cy="904056"/>
          </a:xfrm>
        </p:grpSpPr>
        <p:sp>
          <p:nvSpPr>
            <p:cNvPr id="1507" name="Google Shape;1507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8" name="Google Shape;1508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1510" name="Google Shape;1510;p95"/>
          <p:cNvGrpSpPr/>
          <p:nvPr/>
        </p:nvGrpSpPr>
        <p:grpSpPr>
          <a:xfrm rot="-3599956">
            <a:off x="1253060" y="2728206"/>
            <a:ext cx="709184" cy="904036"/>
            <a:chOff x="802204" y="3864964"/>
            <a:chExt cx="709200" cy="904056"/>
          </a:xfrm>
        </p:grpSpPr>
        <p:sp>
          <p:nvSpPr>
            <p:cNvPr id="1511" name="Google Shape;1511;p95"/>
            <p:cNvSpPr/>
            <p:nvPr/>
          </p:nvSpPr>
          <p:spPr>
            <a:xfrm rot="10800000">
              <a:off x="802204" y="41555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2" name="Google Shape;1512;p95"/>
            <p:cNvSpPr/>
            <p:nvPr/>
          </p:nvSpPr>
          <p:spPr>
            <a:xfrm rot="10800000">
              <a:off x="827586" y="41333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3" name="Google Shape;1513;p95"/>
            <p:cNvSpPr/>
            <p:nvPr/>
          </p:nvSpPr>
          <p:spPr>
            <a:xfrm>
              <a:off x="806180" y="38649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7" name="Shape 1517"/>
        <p:cNvGrpSpPr/>
        <p:nvPr/>
      </p:nvGrpSpPr>
      <p:grpSpPr>
        <a:xfrm>
          <a:off x="0" y="0"/>
          <a:ext cx="0" cy="0"/>
        </a:xfrm>
      </p:grpSpPr>
      <p:sp>
        <p:nvSpPr>
          <p:cNvPr id="1518" name="Google Shape;1518;p96"/>
          <p:cNvSpPr txBox="1"/>
          <p:nvPr>
            <p:ph type="body" idx="1"/>
          </p:nvPr>
        </p:nvSpPr>
        <p:spPr>
          <a:xfrm>
            <a:off x="324000" y="759300"/>
            <a:ext cx="8237700" cy="83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Jacob is designing a logo. He wants the outline of the logo to have </a:t>
            </a:r>
            <a:r>
              <a:rPr lang="en-GB" sz="2000" b="1"/>
              <a:t>rotational symmetry</a:t>
            </a:r>
            <a:r>
              <a:rPr lang="en-GB" sz="2000"/>
              <a:t> of order 6.</a:t>
            </a:r>
            <a:endParaRPr sz="2000"/>
          </a:p>
        </p:txBody>
      </p:sp>
      <p:sp>
        <p:nvSpPr>
          <p:cNvPr id="1519" name="Google Shape;151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grpSp>
        <p:nvGrpSpPr>
          <p:cNvPr id="1520" name="Google Shape;1520;p96"/>
          <p:cNvGrpSpPr/>
          <p:nvPr/>
        </p:nvGrpSpPr>
        <p:grpSpPr>
          <a:xfrm>
            <a:off x="1054576" y="2493364"/>
            <a:ext cx="1878886" cy="1767394"/>
            <a:chOff x="1054576" y="2493364"/>
            <a:chExt cx="1878886" cy="1767394"/>
          </a:xfrm>
        </p:grpSpPr>
        <p:sp>
          <p:nvSpPr>
            <p:cNvPr id="1521" name="Google Shape;1521;p96"/>
            <p:cNvSpPr/>
            <p:nvPr/>
          </p:nvSpPr>
          <p:spPr>
            <a:xfrm rot="10800000">
              <a:off x="1640404" y="2783920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2" name="Google Shape;1522;p96"/>
            <p:cNvSpPr/>
            <p:nvPr/>
          </p:nvSpPr>
          <p:spPr>
            <a:xfrm rot="10800000">
              <a:off x="1665786" y="2761724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3" name="Google Shape;1523;p96"/>
            <p:cNvSpPr/>
            <p:nvPr/>
          </p:nvSpPr>
          <p:spPr>
            <a:xfrm rot="-7200044">
              <a:off x="1902982" y="2950620"/>
              <a:ext cx="709184" cy="613487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96"/>
            <p:cNvSpPr/>
            <p:nvPr/>
          </p:nvSpPr>
          <p:spPr>
            <a:xfrm rot="-7200044">
              <a:off x="1970038" y="2949230"/>
              <a:ext cx="652786" cy="564888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96"/>
            <p:cNvSpPr/>
            <p:nvPr/>
          </p:nvSpPr>
          <p:spPr>
            <a:xfrm rot="-3599956">
              <a:off x="1895726" y="3269758"/>
              <a:ext cx="709184" cy="613487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6" name="Google Shape;1526;p96"/>
            <p:cNvSpPr/>
            <p:nvPr/>
          </p:nvSpPr>
          <p:spPr>
            <a:xfrm rot="-3599956">
              <a:off x="1965600" y="3314865"/>
              <a:ext cx="652786" cy="564888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7" name="Google Shape;1527;p96"/>
            <p:cNvSpPr/>
            <p:nvPr/>
          </p:nvSpPr>
          <p:spPr>
            <a:xfrm>
              <a:off x="1640558" y="3422142"/>
              <a:ext cx="709200" cy="613500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8" name="Google Shape;1528;p96"/>
            <p:cNvSpPr/>
            <p:nvPr/>
          </p:nvSpPr>
          <p:spPr>
            <a:xfrm>
              <a:off x="1671577" y="3492938"/>
              <a:ext cx="652800" cy="5649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9" name="Google Shape;1529;p96"/>
            <p:cNvSpPr/>
            <p:nvPr/>
          </p:nvSpPr>
          <p:spPr>
            <a:xfrm rot="3599956">
              <a:off x="1385267" y="3266217"/>
              <a:ext cx="709184" cy="613487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96"/>
            <p:cNvSpPr/>
            <p:nvPr/>
          </p:nvSpPr>
          <p:spPr>
            <a:xfrm rot="3599956">
              <a:off x="1374610" y="3316205"/>
              <a:ext cx="652786" cy="564888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1" name="Google Shape;1531;p96"/>
            <p:cNvSpPr/>
            <p:nvPr/>
          </p:nvSpPr>
          <p:spPr>
            <a:xfrm rot="7200044">
              <a:off x="1378021" y="2947039"/>
              <a:ext cx="709184" cy="613487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2" name="Google Shape;1532;p96"/>
            <p:cNvSpPr/>
            <p:nvPr/>
          </p:nvSpPr>
          <p:spPr>
            <a:xfrm rot="7200044">
              <a:off x="1364546" y="2950531"/>
              <a:ext cx="652786" cy="564888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3" name="Google Shape;1533;p96"/>
            <p:cNvSpPr/>
            <p:nvPr/>
          </p:nvSpPr>
          <p:spPr>
            <a:xfrm>
              <a:off x="1234839" y="2632788"/>
              <a:ext cx="1520700" cy="1520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96"/>
            <p:cNvSpPr/>
            <p:nvPr/>
          </p:nvSpPr>
          <p:spPr>
            <a:xfrm>
              <a:off x="1644380" y="2493364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535" name="Google Shape;1535;p96"/>
            <p:cNvSpPr/>
            <p:nvPr/>
          </p:nvSpPr>
          <p:spPr>
            <a:xfrm rot="3599956">
              <a:off x="2283693" y="2876218"/>
              <a:ext cx="696935" cy="293444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536" name="Google Shape;1536;p96"/>
            <p:cNvSpPr/>
            <p:nvPr/>
          </p:nvSpPr>
          <p:spPr>
            <a:xfrm rot="7200044">
              <a:off x="2271315" y="3616853"/>
              <a:ext cx="696935" cy="293444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537" name="Google Shape;1537;p96"/>
            <p:cNvSpPr/>
            <p:nvPr/>
          </p:nvSpPr>
          <p:spPr>
            <a:xfrm rot="10800000">
              <a:off x="1641562" y="3967309"/>
              <a:ext cx="696950" cy="293450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538" name="Google Shape;1538;p96"/>
            <p:cNvSpPr/>
            <p:nvPr/>
          </p:nvSpPr>
          <p:spPr>
            <a:xfrm rot="-7200044">
              <a:off x="1009534" y="3595222"/>
              <a:ext cx="696935" cy="293444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539" name="Google Shape;1539;p96"/>
            <p:cNvSpPr/>
            <p:nvPr/>
          </p:nvSpPr>
          <p:spPr>
            <a:xfrm rot="-3599956">
              <a:off x="1007410" y="2861818"/>
              <a:ext cx="696935" cy="293444"/>
            </a:xfrm>
            <a:custGeom>
              <a:rect l="l" t="t" r="r" b="b"/>
              <a:pathLst>
                <a:path w="27878" h="11738" extrusionOk="0">
                  <a:moveTo>
                    <a:pt x="0" y="11459"/>
                  </a:moveTo>
                  <a:cubicBezTo>
                    <a:pt x="883" y="9554"/>
                    <a:pt x="3252" y="261"/>
                    <a:pt x="5296" y="29"/>
                  </a:cubicBezTo>
                  <a:cubicBezTo>
                    <a:pt x="7340" y="-203"/>
                    <a:pt x="10175" y="9089"/>
                    <a:pt x="12266" y="10065"/>
                  </a:cubicBezTo>
                  <a:cubicBezTo>
                    <a:pt x="14357" y="11041"/>
                    <a:pt x="15239" y="5605"/>
                    <a:pt x="17841" y="5884"/>
                  </a:cubicBezTo>
                  <a:cubicBezTo>
                    <a:pt x="20443" y="6163"/>
                    <a:pt x="26205" y="10762"/>
                    <a:pt x="27878" y="11738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pic>
        <p:nvPicPr>
          <p:cNvPr id="1540" name="Google Shape;1540;p96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4782977" y="1934069"/>
            <a:ext cx="3755023" cy="151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96"/>
          <p:cNvSpPr txBox="1"/>
          <p:nvPr>
            <p:ph type="body" idx="1"/>
          </p:nvPr>
        </p:nvSpPr>
        <p:spPr>
          <a:xfrm>
            <a:off x="4998075" y="2113800"/>
            <a:ext cx="3194700" cy="90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now have my logo, where the outline has </a:t>
            </a:r>
            <a:r>
              <a:rPr lang="en-GB" sz="1800" b="1"/>
              <a:t>rotational symmetry</a:t>
            </a:r>
            <a:r>
              <a:rPr lang="en-GB" sz="1800"/>
              <a:t> of order 6.</a:t>
            </a:r>
            <a:endParaRPr sz="1800"/>
          </a:p>
        </p:txBody>
      </p:sp>
      <p:pic>
        <p:nvPicPr>
          <p:cNvPr id="1542" name="Google Shape;154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9478" y="3228162"/>
            <a:ext cx="605444" cy="7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96"/>
          <p:cNvSpPr txBox="1"/>
          <p:nvPr/>
        </p:nvSpPr>
        <p:spPr>
          <a:xfrm>
            <a:off x="79295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96"/>
          <p:cNvSpPr txBox="1"/>
          <p:nvPr/>
        </p:nvSpPr>
        <p:spPr>
          <a:xfrm>
            <a:off x="1315725" y="2962875"/>
            <a:ext cx="13413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Jacob Games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8" name="Shape 1548"/>
        <p:cNvGrpSpPr/>
        <p:nvPr/>
      </p:nvGrpSpPr>
      <p:grpSpPr>
        <a:xfrm>
          <a:off x="0" y="0"/>
          <a:ext cx="0" cy="0"/>
        </a:xfrm>
      </p:grpSpPr>
      <p:sp>
        <p:nvSpPr>
          <p:cNvPr id="1549" name="Google Shape;1549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shape would have </a:t>
            </a:r>
            <a:r>
              <a:rPr lang="en-GB" b="1"/>
              <a:t>rotational symmetry</a:t>
            </a:r>
            <a:r>
              <a:rPr lang="en-GB"/>
              <a:t> of order 6?</a:t>
            </a:r>
            <a:endParaRPr/>
          </a:p>
        </p:txBody>
      </p:sp>
      <p:sp>
        <p:nvSpPr>
          <p:cNvPr id="1550" name="Google Shape;1550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sp>
        <p:nvSpPr>
          <p:cNvPr id="1551" name="Google Shape;1551;p9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regular heptagon</a:t>
            </a:r>
            <a:endParaRPr/>
          </a:p>
        </p:txBody>
      </p:sp>
      <p:sp>
        <p:nvSpPr>
          <p:cNvPr id="1552" name="Google Shape;1552;p9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regular hexagon</a:t>
            </a:r>
            <a:endParaRPr/>
          </a:p>
        </p:txBody>
      </p:sp>
      <p:sp>
        <p:nvSpPr>
          <p:cNvPr id="1553" name="Google Shape;1553;p9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regular octagon</a:t>
            </a:r>
            <a:endParaRPr/>
          </a:p>
        </p:txBody>
      </p:sp>
      <p:sp>
        <p:nvSpPr>
          <p:cNvPr id="1554" name="Google Shape;1554;p9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regular pentagon</a:t>
            </a:r>
            <a:endParaRPr/>
          </a:p>
        </p:txBody>
      </p:sp>
      <p:pic>
        <p:nvPicPr>
          <p:cNvPr id="1555" name="Google Shape;155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183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9" name="Shape 1559"/>
        <p:cNvGrpSpPr/>
        <p:nvPr/>
      </p:nvGrpSpPr>
      <p:grpSpPr>
        <a:xfrm>
          <a:off x="0" y="0"/>
          <a:ext cx="0" cy="0"/>
        </a:xfrm>
      </p:grpSpPr>
      <p:sp>
        <p:nvSpPr>
          <p:cNvPr id="1560" name="Google Shape;1560;p98"/>
          <p:cNvSpPr txBox="1"/>
          <p:nvPr>
            <p:ph type="body" idx="1"/>
          </p:nvPr>
        </p:nvSpPr>
        <p:spPr>
          <a:xfrm>
            <a:off x="324000" y="759300"/>
            <a:ext cx="8496000" cy="199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Sam is designing a logo. 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100"/>
              <a:t>She is going to make shapes that are congruent to the one below and then fit them together around a point.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What will its order of </a:t>
            </a:r>
            <a:r>
              <a:rPr lang="en-GB" sz="2100" b="1"/>
              <a:t>rotational symmetry </a:t>
            </a:r>
            <a:r>
              <a:rPr lang="en-GB" sz="2100"/>
              <a:t>be?</a:t>
            </a:r>
            <a:endParaRPr sz="2100"/>
          </a:p>
        </p:txBody>
      </p:sp>
      <p:sp>
        <p:nvSpPr>
          <p:cNvPr id="1561" name="Google Shape;1561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sp>
        <p:nvSpPr>
          <p:cNvPr id="1562" name="Google Shape;1562;p98"/>
          <p:cNvSpPr txBox="1"/>
          <p:nvPr>
            <p:ph type="body" idx="1"/>
          </p:nvPr>
        </p:nvSpPr>
        <p:spPr>
          <a:xfrm>
            <a:off x="652200" y="3189050"/>
            <a:ext cx="1779300" cy="43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360 ÷ 45 = 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3" name="Google Shape;1563;p98"/>
          <p:cNvSpPr txBox="1"/>
          <p:nvPr>
            <p:ph type="body" idx="1"/>
          </p:nvPr>
        </p:nvSpPr>
        <p:spPr>
          <a:xfrm>
            <a:off x="642525" y="3874850"/>
            <a:ext cx="3290400" cy="43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Its rotational symmetry will be of order 8.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64" name="Google Shape;156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175" y="2896800"/>
            <a:ext cx="964946" cy="16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8" name="Shape 1568"/>
        <p:cNvGrpSpPr/>
        <p:nvPr/>
      </p:nvGrpSpPr>
      <p:grpSpPr>
        <a:xfrm>
          <a:off x="0" y="0"/>
          <a:ext cx="0" cy="0"/>
        </a:xfrm>
      </p:grpSpPr>
      <p:sp>
        <p:nvSpPr>
          <p:cNvPr id="1569" name="Google Shape;1569;p99"/>
          <p:cNvSpPr txBox="1"/>
          <p:nvPr>
            <p:ph type="body" idx="1"/>
          </p:nvPr>
        </p:nvSpPr>
        <p:spPr>
          <a:xfrm>
            <a:off x="324000" y="759300"/>
            <a:ext cx="8496000" cy="129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Alex is designing a logo. 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100"/>
              <a:t>He wants it to have </a:t>
            </a:r>
            <a:r>
              <a:rPr lang="en-GB" sz="2100" b="1"/>
              <a:t>rotational symmetry</a:t>
            </a:r>
            <a:r>
              <a:rPr lang="en-GB" sz="2100"/>
              <a:t> of order 12.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What angle should he use at the vertex in each congruent shape?</a:t>
            </a:r>
            <a:endParaRPr sz="2100"/>
          </a:p>
        </p:txBody>
      </p:sp>
      <p:sp>
        <p:nvSpPr>
          <p:cNvPr id="1570" name="Google Shape;157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/>
          </a:p>
        </p:txBody>
      </p:sp>
      <p:sp>
        <p:nvSpPr>
          <p:cNvPr id="1571" name="Google Shape;1571;p99"/>
          <p:cNvSpPr txBox="1"/>
          <p:nvPr>
            <p:ph type="body" idx="1"/>
          </p:nvPr>
        </p:nvSpPr>
        <p:spPr>
          <a:xfrm>
            <a:off x="652200" y="3189050"/>
            <a:ext cx="2058000" cy="43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360 ÷ 12 = 30°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72" name="Google Shape;157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650" y="2504050"/>
            <a:ext cx="1800500" cy="18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6" name="Shape 1576"/>
        <p:cNvGrpSpPr/>
        <p:nvPr/>
      </p:nvGrpSpPr>
      <p:grpSpPr>
        <a:xfrm>
          <a:off x="0" y="0"/>
          <a:ext cx="0" cy="0"/>
        </a:xfrm>
      </p:grpSpPr>
      <p:sp>
        <p:nvSpPr>
          <p:cNvPr id="1577" name="Google Shape;1577;p100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Aisha is designing a puzzle board for preschool children, where they place shapes </a:t>
            </a:r>
            <a:br>
              <a:rPr lang="en-GB" sz="1600"/>
            </a:br>
            <a:r>
              <a:rPr lang="en-GB" sz="1600"/>
              <a:t>    into spaces on the board. She wants to arrange the spaces so that the shapes   </a:t>
            </a:r>
            <a:br>
              <a:rPr lang="en-GB" sz="1600"/>
            </a:br>
            <a:r>
              <a:rPr lang="en-GB" sz="1600"/>
              <a:t>    are in descending order of </a:t>
            </a:r>
            <a:r>
              <a:rPr lang="en-GB" sz="1600" b="1"/>
              <a:t>rotational symmetry</a:t>
            </a:r>
            <a:r>
              <a:rPr lang="en-GB" sz="1600"/>
              <a:t>. </a:t>
            </a:r>
            <a:endParaRPr sz="1600"/>
          </a:p>
        </p:txBody>
      </p:sp>
      <p:sp>
        <p:nvSpPr>
          <p:cNvPr id="1578" name="Google Shape;1578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shapes with particular rotational symmetries</a:t>
            </a:r>
            <a:endParaRPr sz="1600"/>
          </a:p>
        </p:txBody>
      </p:sp>
      <p:sp>
        <p:nvSpPr>
          <p:cNvPr id="1579" name="Google Shape;1579;p100"/>
          <p:cNvSpPr/>
          <p:nvPr/>
        </p:nvSpPr>
        <p:spPr>
          <a:xfrm>
            <a:off x="2214900" y="1664155"/>
            <a:ext cx="4714200" cy="2490600"/>
          </a:xfrm>
          <a:prstGeom prst="bevel">
            <a:avLst>
              <a:gd name="adj" fmla="val 2163"/>
            </a:avLst>
          </a:prstGeom>
          <a:solidFill>
            <a:srgbClr val="E6F2F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100"/>
          <p:cNvSpPr txBox="1"/>
          <p:nvPr>
            <p:ph type="body" idx="1"/>
          </p:nvPr>
        </p:nvSpPr>
        <p:spPr>
          <a:xfrm>
            <a:off x="3216164" y="22227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a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81" name="Google Shape;1581;p100"/>
          <p:cNvSpPr txBox="1"/>
          <p:nvPr>
            <p:ph type="body" idx="1"/>
          </p:nvPr>
        </p:nvSpPr>
        <p:spPr>
          <a:xfrm>
            <a:off x="4520223" y="22227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b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82" name="Google Shape;1582;p100"/>
          <p:cNvSpPr txBox="1"/>
          <p:nvPr>
            <p:ph type="body" idx="1"/>
          </p:nvPr>
        </p:nvSpPr>
        <p:spPr>
          <a:xfrm>
            <a:off x="5824282" y="22227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83" name="Google Shape;1583;p100"/>
          <p:cNvSpPr txBox="1"/>
          <p:nvPr>
            <p:ph type="body" idx="1"/>
          </p:nvPr>
        </p:nvSpPr>
        <p:spPr>
          <a:xfrm>
            <a:off x="3216164" y="32895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d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84" name="Google Shape;1584;p100"/>
          <p:cNvSpPr txBox="1"/>
          <p:nvPr>
            <p:ph type="body" idx="1"/>
          </p:nvPr>
        </p:nvSpPr>
        <p:spPr>
          <a:xfrm>
            <a:off x="4520223" y="32895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85" name="Google Shape;1585;p100"/>
          <p:cNvSpPr txBox="1"/>
          <p:nvPr>
            <p:ph type="body" idx="1"/>
          </p:nvPr>
        </p:nvSpPr>
        <p:spPr>
          <a:xfrm>
            <a:off x="5824282" y="32895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86" name="Google Shape;1586;p100"/>
          <p:cNvSpPr txBox="1"/>
          <p:nvPr>
            <p:ph type="body" idx="1"/>
          </p:nvPr>
        </p:nvSpPr>
        <p:spPr>
          <a:xfrm>
            <a:off x="552600" y="4288750"/>
            <a:ext cx="79281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Draw six shapes onto the board so that each shape has a lower order of </a:t>
            </a:r>
            <a:r>
              <a:rPr lang="en-GB" sz="1600" b="1"/>
              <a:t>rotational symmetry</a:t>
            </a:r>
            <a:r>
              <a:rPr lang="en-GB" sz="1600"/>
              <a:t> than the previous one.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0" name="Shape 1590"/>
        <p:cNvGrpSpPr/>
        <p:nvPr/>
      </p:nvGrpSpPr>
      <p:grpSpPr>
        <a:xfrm>
          <a:off x="0" y="0"/>
          <a:ext cx="0" cy="0"/>
        </a:xfrm>
      </p:grpSpPr>
      <p:sp>
        <p:nvSpPr>
          <p:cNvPr id="1591" name="Google Shape;1591;p101"/>
          <p:cNvSpPr txBox="1"/>
          <p:nvPr>
            <p:ph type="body" idx="1"/>
          </p:nvPr>
        </p:nvSpPr>
        <p:spPr>
          <a:xfrm>
            <a:off x="324000" y="759300"/>
            <a:ext cx="8237700" cy="81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Design and draw a custom logo with </a:t>
            </a:r>
            <a:r>
              <a:rPr lang="en-GB" sz="1600" b="1"/>
              <a:t>rotational symmetry</a:t>
            </a:r>
            <a:r>
              <a:rPr lang="en-GB" sz="1600"/>
              <a:t> of order 5.</a:t>
            </a:r>
            <a:br>
              <a:rPr lang="en-GB" sz="1600"/>
            </a:br>
            <a:r>
              <a:rPr lang="en-GB" sz="1600"/>
              <a:t>    Tracing paper and a protractor may be helpful during this task. </a:t>
            </a:r>
            <a:br>
              <a:rPr lang="en-GB" sz="1600"/>
            </a:br>
            <a:r>
              <a:rPr lang="en-GB" sz="1600"/>
              <a:t>    Alternatively, you may want to use computer software.</a:t>
            </a:r>
            <a:endParaRPr sz="1600"/>
          </a:p>
        </p:txBody>
      </p:sp>
      <p:sp>
        <p:nvSpPr>
          <p:cNvPr id="1592" name="Google Shape;1592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 sz="1600"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6" name="Shape 1596"/>
        <p:cNvGrpSpPr/>
        <p:nvPr/>
      </p:nvGrpSpPr>
      <p:grpSpPr>
        <a:xfrm>
          <a:off x="0" y="0"/>
          <a:ext cx="0" cy="0"/>
        </a:xfrm>
      </p:grpSpPr>
      <p:sp>
        <p:nvSpPr>
          <p:cNvPr id="1597" name="Google Shape;1597;p102"/>
          <p:cNvSpPr txBox="1"/>
          <p:nvPr>
            <p:ph type="body" idx="1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Aisha is designing a puzzle board for preschool children, where they place shapes </a:t>
            </a:r>
            <a:br>
              <a:rPr lang="en-GB" sz="1600"/>
            </a:br>
            <a:r>
              <a:rPr lang="en-GB" sz="1600"/>
              <a:t>    into spaces on the board. She wants to arrange the spaces so that the shapes   </a:t>
            </a:r>
            <a:br>
              <a:rPr lang="en-GB" sz="1600"/>
            </a:br>
            <a:r>
              <a:rPr lang="en-GB" sz="1600"/>
              <a:t>    are in descending order of </a:t>
            </a:r>
            <a:r>
              <a:rPr lang="en-GB" sz="1600" b="1"/>
              <a:t>rotational symmetry</a:t>
            </a:r>
            <a:r>
              <a:rPr lang="en-GB" sz="1600"/>
              <a:t>. </a:t>
            </a:r>
            <a:endParaRPr sz="1600"/>
          </a:p>
        </p:txBody>
      </p:sp>
      <p:sp>
        <p:nvSpPr>
          <p:cNvPr id="1598" name="Google Shape;1598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shapes with particular rotational symmetries</a:t>
            </a:r>
            <a:endParaRPr sz="1600"/>
          </a:p>
        </p:txBody>
      </p:sp>
      <p:sp>
        <p:nvSpPr>
          <p:cNvPr id="1599" name="Google Shape;1599;p102"/>
          <p:cNvSpPr/>
          <p:nvPr/>
        </p:nvSpPr>
        <p:spPr>
          <a:xfrm>
            <a:off x="3586500" y="1664155"/>
            <a:ext cx="4714200" cy="2490600"/>
          </a:xfrm>
          <a:prstGeom prst="bevel">
            <a:avLst>
              <a:gd name="adj" fmla="val 2163"/>
            </a:avLst>
          </a:prstGeom>
          <a:solidFill>
            <a:srgbClr val="E6F2F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102"/>
          <p:cNvSpPr txBox="1"/>
          <p:nvPr>
            <p:ph type="body" idx="1"/>
          </p:nvPr>
        </p:nvSpPr>
        <p:spPr>
          <a:xfrm>
            <a:off x="4587764" y="22227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a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01" name="Google Shape;1601;p102"/>
          <p:cNvSpPr txBox="1"/>
          <p:nvPr>
            <p:ph type="body" idx="1"/>
          </p:nvPr>
        </p:nvSpPr>
        <p:spPr>
          <a:xfrm>
            <a:off x="5891823" y="22227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b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02" name="Google Shape;1602;p102"/>
          <p:cNvSpPr txBox="1"/>
          <p:nvPr>
            <p:ph type="body" idx="1"/>
          </p:nvPr>
        </p:nvSpPr>
        <p:spPr>
          <a:xfrm>
            <a:off x="7195882" y="22227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03" name="Google Shape;1603;p102"/>
          <p:cNvSpPr txBox="1"/>
          <p:nvPr>
            <p:ph type="body" idx="1"/>
          </p:nvPr>
        </p:nvSpPr>
        <p:spPr>
          <a:xfrm>
            <a:off x="4587764" y="32895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d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04" name="Google Shape;1604;p102"/>
          <p:cNvSpPr txBox="1"/>
          <p:nvPr>
            <p:ph type="body" idx="1"/>
          </p:nvPr>
        </p:nvSpPr>
        <p:spPr>
          <a:xfrm>
            <a:off x="5891823" y="32895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05" name="Google Shape;1605;p102"/>
          <p:cNvSpPr txBox="1"/>
          <p:nvPr>
            <p:ph type="body" idx="1"/>
          </p:nvPr>
        </p:nvSpPr>
        <p:spPr>
          <a:xfrm>
            <a:off x="7195882" y="3289582"/>
            <a:ext cx="190500" cy="27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06" name="Google Shape;1606;p102"/>
          <p:cNvSpPr txBox="1"/>
          <p:nvPr>
            <p:ph type="body" idx="1"/>
          </p:nvPr>
        </p:nvSpPr>
        <p:spPr>
          <a:xfrm>
            <a:off x="552600" y="4288750"/>
            <a:ext cx="79281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Draw six shapes onto the board so that each shape has a lower order of </a:t>
            </a:r>
            <a:r>
              <a:rPr lang="en-GB" sz="1600" b="1"/>
              <a:t>rotational symmetry</a:t>
            </a:r>
            <a:r>
              <a:rPr lang="en-GB" sz="1600"/>
              <a:t> than the previous one.</a:t>
            </a:r>
            <a:endParaRPr sz="1600"/>
          </a:p>
        </p:txBody>
      </p:sp>
      <p:sp>
        <p:nvSpPr>
          <p:cNvPr id="1607" name="Google Shape;1607;p102"/>
          <p:cNvSpPr/>
          <p:nvPr/>
        </p:nvSpPr>
        <p:spPr>
          <a:xfrm>
            <a:off x="4232061" y="1917252"/>
            <a:ext cx="801000" cy="801000"/>
          </a:xfrm>
          <a:prstGeom prst="ellipse">
            <a:avLst/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102"/>
          <p:cNvSpPr/>
          <p:nvPr/>
        </p:nvSpPr>
        <p:spPr>
          <a:xfrm>
            <a:off x="5548738" y="1908705"/>
            <a:ext cx="801000" cy="801000"/>
          </a:xfrm>
          <a:prstGeom prst="octagon">
            <a:avLst>
              <a:gd name="adj" fmla="val 29289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02"/>
          <p:cNvSpPr/>
          <p:nvPr/>
        </p:nvSpPr>
        <p:spPr>
          <a:xfrm>
            <a:off x="6795384" y="1956425"/>
            <a:ext cx="876900" cy="759600"/>
          </a:xfrm>
          <a:prstGeom prst="hexagon">
            <a:avLst>
              <a:gd name="adj" fmla="val 29065"/>
              <a:gd name="vf" fmla="val 115470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02"/>
          <p:cNvSpPr/>
          <p:nvPr/>
        </p:nvSpPr>
        <p:spPr>
          <a:xfrm>
            <a:off x="4258800" y="3024375"/>
            <a:ext cx="759600" cy="7596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02"/>
          <p:cNvSpPr/>
          <p:nvPr/>
        </p:nvSpPr>
        <p:spPr>
          <a:xfrm>
            <a:off x="5505150" y="3014250"/>
            <a:ext cx="876900" cy="7584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02"/>
          <p:cNvSpPr/>
          <p:nvPr/>
        </p:nvSpPr>
        <p:spPr>
          <a:xfrm>
            <a:off x="6800550" y="3014250"/>
            <a:ext cx="876900" cy="758400"/>
          </a:xfrm>
          <a:prstGeom prst="triangle">
            <a:avLst>
              <a:gd name="adj" fmla="val 77229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102"/>
          <p:cNvSpPr txBox="1"/>
          <p:nvPr>
            <p:ph type="body" idx="1"/>
          </p:nvPr>
        </p:nvSpPr>
        <p:spPr>
          <a:xfrm>
            <a:off x="857400" y="1702800"/>
            <a:ext cx="2476800" cy="236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a) circle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b) regular octagon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c) regular hexagon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d) square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e) equilateral triangle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f) scalene triangle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7" name="Shape 1617"/>
        <p:cNvGrpSpPr/>
        <p:nvPr/>
      </p:nvGrpSpPr>
      <p:grpSpPr>
        <a:xfrm>
          <a:off x="0" y="0"/>
          <a:ext cx="0" cy="0"/>
        </a:xfrm>
      </p:grpSpPr>
      <p:sp>
        <p:nvSpPr>
          <p:cNvPr id="1618" name="Google Shape;1618;p103"/>
          <p:cNvSpPr txBox="1"/>
          <p:nvPr>
            <p:ph type="body" idx="1"/>
          </p:nvPr>
        </p:nvSpPr>
        <p:spPr>
          <a:xfrm>
            <a:off x="324000" y="759300"/>
            <a:ext cx="8237700" cy="48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2) Design and draw a custom logo with </a:t>
            </a:r>
            <a:r>
              <a:rPr lang="en-GB" sz="1600" b="1"/>
              <a:t>rotational symmetry</a:t>
            </a:r>
            <a:r>
              <a:rPr lang="en-GB" sz="1600"/>
              <a:t> of order 5.</a:t>
            </a:r>
            <a:br>
              <a:rPr lang="en-GB" sz="1600"/>
            </a:br>
            <a:r>
              <a:rPr lang="en-GB" sz="1600"/>
              <a:t>    Tracing paper and a protractor may be helpful during this task. </a:t>
            </a:r>
            <a:br>
              <a:rPr lang="en-GB" sz="1600"/>
            </a:br>
            <a:r>
              <a:rPr lang="en-GB" sz="1600"/>
              <a:t>    Alternatively, you may want to use computer software.</a:t>
            </a:r>
            <a:endParaRPr sz="1600"/>
          </a:p>
        </p:txBody>
      </p:sp>
      <p:sp>
        <p:nvSpPr>
          <p:cNvPr id="1619" name="Google Shape;1619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shapes with particular rotational symmetries</a:t>
            </a:r>
            <a:endParaRPr sz="1600"/>
          </a:p>
        </p:txBody>
      </p:sp>
      <p:sp>
        <p:nvSpPr>
          <p:cNvPr id="1620" name="Google Shape;1620;p103"/>
          <p:cNvSpPr txBox="1"/>
          <p:nvPr>
            <p:ph type="body" idx="1"/>
          </p:nvPr>
        </p:nvSpPr>
        <p:spPr>
          <a:xfrm>
            <a:off x="552600" y="1626600"/>
            <a:ext cx="5431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Vertex at the centre would have an angle of size 72°.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1" name="Google Shape;1621;p103"/>
          <p:cNvSpPr txBox="1"/>
          <p:nvPr>
            <p:ph type="body" idx="1"/>
          </p:nvPr>
        </p:nvSpPr>
        <p:spPr>
          <a:xfrm>
            <a:off x="552600" y="2007600"/>
            <a:ext cx="10056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2" name="Google Shape;1622;p103"/>
          <p:cNvSpPr txBox="1"/>
          <p:nvPr>
            <p:ph type="body" idx="1"/>
          </p:nvPr>
        </p:nvSpPr>
        <p:spPr>
          <a:xfrm>
            <a:off x="552600" y="4293600"/>
            <a:ext cx="54318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can be checked using tracing paper.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23" name="Google Shape;1623;p103"/>
          <p:cNvGrpSpPr/>
          <p:nvPr/>
        </p:nvGrpSpPr>
        <p:grpSpPr>
          <a:xfrm>
            <a:off x="2397728" y="2110781"/>
            <a:ext cx="1369967" cy="1094460"/>
            <a:chOff x="3337025" y="2131311"/>
            <a:chExt cx="2081700" cy="1663314"/>
          </a:xfrm>
        </p:grpSpPr>
        <p:cxnSp>
          <p:nvCxnSpPr>
            <p:cNvPr id="1624" name="Google Shape;1624;p103"/>
            <p:cNvCxnSpPr/>
            <p:nvPr/>
          </p:nvCxnSpPr>
          <p:spPr>
            <a:xfrm flipH="1">
              <a:off x="3337025" y="2230125"/>
              <a:ext cx="523500" cy="1564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5" name="Google Shape;1625;p103"/>
            <p:cNvCxnSpPr/>
            <p:nvPr/>
          </p:nvCxnSpPr>
          <p:spPr>
            <a:xfrm rot="10800000">
              <a:off x="3337125" y="3794625"/>
              <a:ext cx="15516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6" name="Google Shape;1626;p103"/>
            <p:cNvSpPr/>
            <p:nvPr/>
          </p:nvSpPr>
          <p:spPr>
            <a:xfrm>
              <a:off x="3866850" y="2131311"/>
              <a:ext cx="1551875" cy="1650575"/>
            </a:xfrm>
            <a:custGeom>
              <a:rect l="l" t="t" r="r" b="b"/>
              <a:pathLst>
                <a:path w="62075" h="66023" extrusionOk="0">
                  <a:moveTo>
                    <a:pt x="0" y="4710"/>
                  </a:moveTo>
                  <a:cubicBezTo>
                    <a:pt x="1430" y="3995"/>
                    <a:pt x="6056" y="589"/>
                    <a:pt x="8579" y="421"/>
                  </a:cubicBezTo>
                  <a:cubicBezTo>
                    <a:pt x="11102" y="253"/>
                    <a:pt x="14004" y="-1345"/>
                    <a:pt x="15139" y="3701"/>
                  </a:cubicBezTo>
                  <a:cubicBezTo>
                    <a:pt x="16274" y="8747"/>
                    <a:pt x="11186" y="25905"/>
                    <a:pt x="15391" y="30699"/>
                  </a:cubicBezTo>
                  <a:cubicBezTo>
                    <a:pt x="19596" y="35493"/>
                    <a:pt x="32591" y="32886"/>
                    <a:pt x="40371" y="32465"/>
                  </a:cubicBezTo>
                  <a:cubicBezTo>
                    <a:pt x="48151" y="32045"/>
                    <a:pt x="62028" y="22583"/>
                    <a:pt x="62070" y="28176"/>
                  </a:cubicBezTo>
                  <a:cubicBezTo>
                    <a:pt x="62112" y="33769"/>
                    <a:pt x="44198" y="59715"/>
                    <a:pt x="40623" y="66023"/>
                  </a:cubicBezTo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1627" name="Google Shape;1627;p103"/>
          <p:cNvSpPr/>
          <p:nvPr/>
        </p:nvSpPr>
        <p:spPr>
          <a:xfrm>
            <a:off x="7241166" y="2052360"/>
            <a:ext cx="1056672" cy="1086078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28" name="Google Shape;1628;p103"/>
          <p:cNvSpPr/>
          <p:nvPr/>
        </p:nvSpPr>
        <p:spPr>
          <a:xfrm rot="4323760">
            <a:off x="7135616" y="3225204"/>
            <a:ext cx="1056665" cy="1086077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29" name="Google Shape;1629;p103"/>
          <p:cNvSpPr/>
          <p:nvPr/>
        </p:nvSpPr>
        <p:spPr>
          <a:xfrm rot="8626480">
            <a:off x="5982369" y="3469145"/>
            <a:ext cx="1056708" cy="1086113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30" name="Google Shape;1630;p103"/>
          <p:cNvSpPr/>
          <p:nvPr/>
        </p:nvSpPr>
        <p:spPr>
          <a:xfrm rot="-8626480">
            <a:off x="5372230" y="2453589"/>
            <a:ext cx="1056708" cy="1086113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31" name="Google Shape;1631;p103"/>
          <p:cNvSpPr/>
          <p:nvPr/>
        </p:nvSpPr>
        <p:spPr>
          <a:xfrm rot="-4311144">
            <a:off x="6155569" y="1563680"/>
            <a:ext cx="1056786" cy="1086155"/>
          </a:xfrm>
          <a:custGeom>
            <a:rect l="l" t="t" r="r" b="b"/>
            <a:pathLst>
              <a:path w="62075" h="66023" extrusionOk="0">
                <a:moveTo>
                  <a:pt x="0" y="4710"/>
                </a:moveTo>
                <a:cubicBezTo>
                  <a:pt x="1430" y="3995"/>
                  <a:pt x="6056" y="589"/>
                  <a:pt x="8579" y="421"/>
                </a:cubicBezTo>
                <a:cubicBezTo>
                  <a:pt x="11102" y="253"/>
                  <a:pt x="14004" y="-1345"/>
                  <a:pt x="15139" y="3701"/>
                </a:cubicBezTo>
                <a:cubicBezTo>
                  <a:pt x="16274" y="8747"/>
                  <a:pt x="11186" y="25905"/>
                  <a:pt x="15391" y="30699"/>
                </a:cubicBezTo>
                <a:cubicBezTo>
                  <a:pt x="19596" y="35493"/>
                  <a:pt x="32591" y="32886"/>
                  <a:pt x="40371" y="32465"/>
                </a:cubicBezTo>
                <a:cubicBezTo>
                  <a:pt x="48151" y="32045"/>
                  <a:pt x="62028" y="22583"/>
                  <a:pt x="62070" y="28176"/>
                </a:cubicBezTo>
                <a:cubicBezTo>
                  <a:pt x="62112" y="33769"/>
                  <a:pt x="44198" y="59715"/>
                  <a:pt x="40623" y="6602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32" name="Google Shape;1632;p103"/>
          <p:cNvSpPr/>
          <p:nvPr/>
        </p:nvSpPr>
        <p:spPr>
          <a:xfrm>
            <a:off x="2152701" y="2930925"/>
            <a:ext cx="528000" cy="528000"/>
          </a:xfrm>
          <a:prstGeom prst="arc">
            <a:avLst>
              <a:gd name="adj1" fmla="val 17208389"/>
              <a:gd name="adj2" fmla="val 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03"/>
          <p:cNvSpPr txBox="1"/>
          <p:nvPr>
            <p:ph type="body" idx="1"/>
          </p:nvPr>
        </p:nvSpPr>
        <p:spPr>
          <a:xfrm>
            <a:off x="2653865" y="2820734"/>
            <a:ext cx="397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72°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4" name="Google Shape;1634;p103"/>
          <p:cNvSpPr/>
          <p:nvPr/>
        </p:nvSpPr>
        <p:spPr>
          <a:xfrm>
            <a:off x="4268700" y="2856900"/>
            <a:ext cx="606600" cy="28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8" name="Shape 1638"/>
        <p:cNvGrpSpPr/>
        <p:nvPr/>
      </p:nvGrpSpPr>
      <p:grpSpPr>
        <a:xfrm>
          <a:off x="0" y="0"/>
          <a:ext cx="0" cy="0"/>
        </a:xfrm>
      </p:grpSpPr>
      <p:sp>
        <p:nvSpPr>
          <p:cNvPr id="1639" name="Google Shape;1639;p104"/>
          <p:cNvSpPr txBox="1"/>
          <p:nvPr>
            <p:ph type="body" idx="1"/>
          </p:nvPr>
        </p:nvSpPr>
        <p:spPr>
          <a:xfrm>
            <a:off x="324000" y="1080000"/>
            <a:ext cx="84693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 b="1"/>
              <a:t>Rotational symmetry</a:t>
            </a:r>
            <a:r>
              <a:rPr lang="en-GB" sz="2000"/>
              <a:t> describes when a shape appears the same after some rotation.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Congruent shapes can be used to investigate </a:t>
            </a:r>
            <a:r>
              <a:rPr lang="en-GB" sz="2000" b="1"/>
              <a:t>rotational symmetry</a:t>
            </a:r>
            <a:r>
              <a:rPr lang="en-GB" sz="2000"/>
              <a:t>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When exploring </a:t>
            </a:r>
            <a:r>
              <a:rPr lang="en-GB" sz="2000" b="1"/>
              <a:t>rotational symmetry</a:t>
            </a:r>
            <a:r>
              <a:rPr lang="en-GB" sz="2000"/>
              <a:t>, the centre of rotation is the centre of the shape.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When identifying the order of rotation for a shape, you must be careful not to count the starting point twice.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All shapes have a </a:t>
            </a:r>
            <a:r>
              <a:rPr lang="en-GB" sz="2000" b="1"/>
              <a:t>rotational symmetry</a:t>
            </a:r>
            <a:r>
              <a:rPr lang="en-GB" sz="2000"/>
              <a:t> of order of at least 1.</a:t>
            </a:r>
            <a:endParaRPr sz="2000"/>
          </a:p>
        </p:txBody>
      </p:sp>
      <p:sp>
        <p:nvSpPr>
          <p:cNvPr id="1640" name="Google Shape;1640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Rotational symmetry</a:t>
            </a:r>
            <a:endParaRPr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4" name="Shape 1644"/>
        <p:cNvGrpSpPr/>
        <p:nvPr/>
      </p:nvGrpSpPr>
      <p:grpSpPr>
        <a:xfrm>
          <a:off x="0" y="0"/>
          <a:ext cx="0" cy="0"/>
        </a:xfrm>
      </p:grpSpPr>
      <p:sp>
        <p:nvSpPr>
          <p:cNvPr id="1645" name="Google Shape;1645;p105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46" name="Google Shape;1646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272</Paragraphs>
  <Slides>43</Slides>
  <Notes>43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baseType="lpstr" size="51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Rotational symmetry</vt:lpstr>
      <vt:lpstr>PowerPoint Presentation</vt:lpstr>
      <vt:lpstr>PowerPoint Presentation</vt:lpstr>
      <vt:lpstr>PowerPoint Presentation</vt:lpstr>
      <vt:lpstr>PowerPoint Presentation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Which shape has rotational symmetry of order 4?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Identifying rotational symmetry in shapes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Which shape would have rotational symmetry of order 6?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Finding shapes with particular rotational symmetries</vt:lpstr>
      <vt:lpstr>Rotational symmetry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2024-02-06T10:37:42.586</cp:lastPrinted>
  <dcterms:created xsi:type="dcterms:W3CDTF">2024-02-06T10:37:42Z</dcterms:created>
  <dcterms:modified xsi:type="dcterms:W3CDTF">2024-02-06T10:37:57Z</dcterms:modified>
</cp:coreProperties>
</file>