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ad2efa1c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ad2efa1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ad2efa1c4_0_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3ad2efa1c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v3.0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552600" y="1878800"/>
            <a:ext cx="6469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For each of these right-angled triangles, find the area of each unlabelled square.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2"/>
          <p:cNvGrpSpPr/>
          <p:nvPr/>
        </p:nvGrpSpPr>
        <p:grpSpPr>
          <a:xfrm>
            <a:off x="485431" y="2191852"/>
            <a:ext cx="2035813" cy="2402903"/>
            <a:chOff x="2408850" y="675250"/>
            <a:chExt cx="1974026" cy="2329975"/>
          </a:xfrm>
        </p:grpSpPr>
        <p:sp>
          <p:nvSpPr>
            <p:cNvPr id="120" name="Google Shape;120;p12"/>
            <p:cNvSpPr/>
            <p:nvPr/>
          </p:nvSpPr>
          <p:spPr>
            <a:xfrm>
              <a:off x="312441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1" name="Google Shape;121;p12"/>
            <p:cNvPicPr preferRelativeResize="0"/>
            <p:nvPr/>
          </p:nvPicPr>
          <p:blipFill rotWithShape="1">
            <a:blip r:embed="rId3">
              <a:alphaModFix/>
            </a:blip>
            <a:srcRect b="0" l="0" r="69209" t="0"/>
            <a:stretch/>
          </p:blipFill>
          <p:spPr>
            <a:xfrm>
              <a:off x="2408850" y="675250"/>
              <a:ext cx="1974026" cy="2329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2"/>
          <p:cNvGrpSpPr/>
          <p:nvPr/>
        </p:nvGrpSpPr>
        <p:grpSpPr>
          <a:xfrm rot="10800000">
            <a:off x="2559270" y="2191791"/>
            <a:ext cx="2220906" cy="2300391"/>
            <a:chOff x="4652050" y="675250"/>
            <a:chExt cx="2153502" cy="2230574"/>
          </a:xfrm>
        </p:grpSpPr>
        <p:sp>
          <p:nvSpPr>
            <p:cNvPr id="123" name="Google Shape;123;p12"/>
            <p:cNvSpPr/>
            <p:nvPr/>
          </p:nvSpPr>
          <p:spPr>
            <a:xfrm>
              <a:off x="537106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4269" l="30647" r="35762" t="0"/>
            <a:stretch/>
          </p:blipFill>
          <p:spPr>
            <a:xfrm>
              <a:off x="4652050" y="675250"/>
              <a:ext cx="2153502" cy="22305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2"/>
          <p:cNvGrpSpPr/>
          <p:nvPr/>
        </p:nvGrpSpPr>
        <p:grpSpPr>
          <a:xfrm rot="7200364">
            <a:off x="4898221" y="2191132"/>
            <a:ext cx="2220714" cy="2300081"/>
            <a:chOff x="6764125" y="675250"/>
            <a:chExt cx="2153502" cy="2230574"/>
          </a:xfrm>
        </p:grpSpPr>
        <p:sp>
          <p:nvSpPr>
            <p:cNvPr id="126" name="Google Shape;126;p12"/>
            <p:cNvSpPr/>
            <p:nvPr/>
          </p:nvSpPr>
          <p:spPr>
            <a:xfrm>
              <a:off x="7515814" y="1919760"/>
              <a:ext cx="179700" cy="179700"/>
            </a:xfrm>
            <a:prstGeom prst="rect">
              <a:avLst/>
            </a:prstGeom>
            <a:solidFill>
              <a:srgbClr val="EBEDFE"/>
            </a:solidFill>
            <a:ln cap="flat" cmpd="sng" w="19050">
              <a:solidFill>
                <a:srgbClr val="374C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27" name="Google Shape;127;p12"/>
            <p:cNvPicPr preferRelativeResize="0"/>
            <p:nvPr/>
          </p:nvPicPr>
          <p:blipFill rotWithShape="1">
            <a:blip r:embed="rId3">
              <a:alphaModFix/>
            </a:blip>
            <a:srcRect b="4269" l="66500" r="-90" t="0"/>
            <a:stretch/>
          </p:blipFill>
          <p:spPr>
            <a:xfrm>
              <a:off x="6764125" y="675250"/>
              <a:ext cx="2153502" cy="22305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2"/>
          <p:cNvSpPr txBox="1"/>
          <p:nvPr/>
        </p:nvSpPr>
        <p:spPr>
          <a:xfrm>
            <a:off x="1216576" y="3701174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07738" y="308401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4080744" y="308401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3361661" y="237458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17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5855239" y="3600069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5151119" y="2763346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1572208" y="2795112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3041256" y="3484747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6078772" y="2510291"/>
            <a:ext cx="582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498213" y="2291652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2747753" y="2245325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5124048" y="2226955"/>
            <a:ext cx="23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552600" y="4837662"/>
            <a:ext cx="6012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each of these right-angled triangles, find the area of all squares.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2"/>
          <p:cNvPicPr preferRelativeResize="0"/>
          <p:nvPr/>
        </p:nvPicPr>
        <p:blipFill rotWithShape="1">
          <a:blip r:embed="rId4">
            <a:alphaModFix/>
          </a:blip>
          <a:srcRect b="0" l="0" r="69361" t="0"/>
          <a:stretch/>
        </p:blipFill>
        <p:spPr>
          <a:xfrm>
            <a:off x="552600" y="5261473"/>
            <a:ext cx="1842211" cy="212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2"/>
          <p:cNvPicPr preferRelativeResize="0"/>
          <p:nvPr/>
        </p:nvPicPr>
        <p:blipFill rotWithShape="1">
          <a:blip r:embed="rId4">
            <a:alphaModFix/>
          </a:blip>
          <a:srcRect b="0" l="31591" r="37770" t="0"/>
          <a:stretch/>
        </p:blipFill>
        <p:spPr>
          <a:xfrm rot="-3600001">
            <a:off x="2597317" y="5261474"/>
            <a:ext cx="1842212" cy="2123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2"/>
          <p:cNvPicPr preferRelativeResize="0"/>
          <p:nvPr/>
        </p:nvPicPr>
        <p:blipFill rotWithShape="1">
          <a:blip r:embed="rId4">
            <a:alphaModFix/>
          </a:blip>
          <a:srcRect b="0" l="66619" r="-13" t="0"/>
          <a:stretch/>
        </p:blipFill>
        <p:spPr>
          <a:xfrm rot="8100000">
            <a:off x="4557496" y="5053722"/>
            <a:ext cx="2007890" cy="212347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2"/>
          <p:cNvSpPr txBox="1"/>
          <p:nvPr/>
        </p:nvSpPr>
        <p:spPr>
          <a:xfrm>
            <a:off x="664828" y="6039059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5" name="Google Shape;145;p12"/>
          <p:cNvGrpSpPr/>
          <p:nvPr/>
        </p:nvGrpSpPr>
        <p:grpSpPr>
          <a:xfrm>
            <a:off x="1195271" y="7104481"/>
            <a:ext cx="673088" cy="508864"/>
            <a:chOff x="6273435" y="4549793"/>
            <a:chExt cx="1404900" cy="719039"/>
          </a:xfrm>
        </p:grpSpPr>
        <p:cxnSp>
          <p:nvCxnSpPr>
            <p:cNvPr id="146" name="Google Shape;146;p1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47" name="Google Shape;147;p12"/>
            <p:cNvSpPr txBox="1"/>
            <p:nvPr/>
          </p:nvSpPr>
          <p:spPr>
            <a:xfrm>
              <a:off x="6273435" y="4765132"/>
              <a:ext cx="1404900" cy="50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2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" name="Google Shape;148;p12"/>
          <p:cNvGrpSpPr/>
          <p:nvPr/>
        </p:nvGrpSpPr>
        <p:grpSpPr>
          <a:xfrm rot="-3599844">
            <a:off x="4188191" y="6753376"/>
            <a:ext cx="680451" cy="384406"/>
            <a:chOff x="6218743" y="4549793"/>
            <a:chExt cx="1333800" cy="543147"/>
          </a:xfrm>
        </p:grpSpPr>
        <p:cxnSp>
          <p:nvCxnSpPr>
            <p:cNvPr id="149" name="Google Shape;149;p1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0" name="Google Shape;150;p12"/>
            <p:cNvSpPr txBox="1"/>
            <p:nvPr/>
          </p:nvSpPr>
          <p:spPr>
            <a:xfrm>
              <a:off x="6218743" y="4684340"/>
              <a:ext cx="13338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3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" name="Google Shape;151;p12"/>
          <p:cNvSpPr txBox="1"/>
          <p:nvPr/>
        </p:nvSpPr>
        <p:spPr>
          <a:xfrm>
            <a:off x="2947576" y="6601390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5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²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" name="Google Shape;152;p12"/>
          <p:cNvGrpSpPr/>
          <p:nvPr/>
        </p:nvGrpSpPr>
        <p:grpSpPr>
          <a:xfrm>
            <a:off x="5137211" y="7129156"/>
            <a:ext cx="913786" cy="356499"/>
            <a:chOff x="6273403" y="4549793"/>
            <a:chExt cx="1333800" cy="503742"/>
          </a:xfrm>
        </p:grpSpPr>
        <p:cxnSp>
          <p:nvCxnSpPr>
            <p:cNvPr id="153" name="Google Shape;153;p12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54" name="Google Shape;154;p12"/>
            <p:cNvSpPr txBox="1"/>
            <p:nvPr/>
          </p:nvSpPr>
          <p:spPr>
            <a:xfrm>
              <a:off x="6273403" y="4644935"/>
              <a:ext cx="13338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4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5" name="Google Shape;155;p12"/>
          <p:cNvSpPr txBox="1"/>
          <p:nvPr/>
        </p:nvSpPr>
        <p:spPr>
          <a:xfrm>
            <a:off x="4871814" y="5483038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²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2"/>
          <p:cNvSpPr txBox="1"/>
          <p:nvPr/>
        </p:nvSpPr>
        <p:spPr>
          <a:xfrm>
            <a:off x="1201566" y="6567423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1300">
                <a:latin typeface="Kalam"/>
                <a:ea typeface="Kalam"/>
                <a:cs typeface="Kalam"/>
                <a:sym typeface="Kalam"/>
              </a:rPr>
              <a:t>²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1535241" y="5818805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" name="Google Shape;158;p12"/>
          <p:cNvSpPr txBox="1"/>
          <p:nvPr/>
        </p:nvSpPr>
        <p:spPr>
          <a:xfrm>
            <a:off x="3741835" y="6391258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1500">
                <a:latin typeface="Kalam"/>
                <a:ea typeface="Kalam"/>
                <a:cs typeface="Kalam"/>
                <a:sym typeface="Kalam"/>
              </a:rPr>
              <a:t>²</a:t>
            </a:r>
            <a:endParaRPr sz="1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3086212" y="5730747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5331611" y="6391262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5771954" y="5483045"/>
            <a:ext cx="5415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²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624033" y="5193600"/>
            <a:ext cx="54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2708020" y="5178250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4567012" y="5147512"/>
            <a:ext cx="22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468000" y="1469775"/>
            <a:ext cx="569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Generating right-angles triangles from squares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2" name="Google Shape;17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44" y="1527302"/>
            <a:ext cx="6080236" cy="2495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3"/>
          <p:cNvGrpSpPr/>
          <p:nvPr/>
        </p:nvGrpSpPr>
        <p:grpSpPr>
          <a:xfrm>
            <a:off x="1036693" y="3732681"/>
            <a:ext cx="890976" cy="293089"/>
            <a:chOff x="6353075" y="4537262"/>
            <a:chExt cx="1174500" cy="408600"/>
          </a:xfrm>
        </p:grpSpPr>
        <p:cxnSp>
          <p:nvCxnSpPr>
            <p:cNvPr id="174" name="Google Shape;174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75" name="Google Shape;175;p13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6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6" name="Google Shape;176;p13"/>
          <p:cNvSpPr txBox="1"/>
          <p:nvPr/>
        </p:nvSpPr>
        <p:spPr>
          <a:xfrm>
            <a:off x="540000" y="2214532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13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" name="Google Shape;177;p13"/>
          <p:cNvCxnSpPr/>
          <p:nvPr/>
        </p:nvCxnSpPr>
        <p:spPr>
          <a:xfrm>
            <a:off x="839982" y="2617676"/>
            <a:ext cx="12600" cy="26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8" name="Google Shape;178;p13"/>
          <p:cNvGrpSpPr/>
          <p:nvPr/>
        </p:nvGrpSpPr>
        <p:grpSpPr>
          <a:xfrm rot="1389581">
            <a:off x="1229429" y="2167464"/>
            <a:ext cx="931131" cy="292945"/>
            <a:chOff x="6353075" y="4537262"/>
            <a:chExt cx="1174500" cy="408600"/>
          </a:xfrm>
        </p:grpSpPr>
        <p:cxnSp>
          <p:nvCxnSpPr>
            <p:cNvPr id="179" name="Google Shape;179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0" name="Google Shape;180;p13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1" name="Google Shape;181;p13"/>
          <p:cNvGrpSpPr/>
          <p:nvPr/>
        </p:nvGrpSpPr>
        <p:grpSpPr>
          <a:xfrm>
            <a:off x="3330451" y="3678063"/>
            <a:ext cx="728254" cy="293089"/>
            <a:chOff x="6203399" y="4537262"/>
            <a:chExt cx="1473900" cy="408600"/>
          </a:xfrm>
        </p:grpSpPr>
        <p:cxnSp>
          <p:nvCxnSpPr>
            <p:cNvPr id="182" name="Google Shape;182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3" name="Google Shape;183;p13"/>
            <p:cNvSpPr txBox="1"/>
            <p:nvPr/>
          </p:nvSpPr>
          <p:spPr>
            <a:xfrm>
              <a:off x="6203399" y="4537262"/>
              <a:ext cx="14739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4" name="Google Shape;184;p13"/>
          <p:cNvSpPr txBox="1"/>
          <p:nvPr/>
        </p:nvSpPr>
        <p:spPr>
          <a:xfrm>
            <a:off x="3422270" y="3086720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25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680133" y="2380729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39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6" name="Google Shape;186;p13"/>
          <p:cNvGrpSpPr/>
          <p:nvPr/>
        </p:nvGrpSpPr>
        <p:grpSpPr>
          <a:xfrm rot="-1895636">
            <a:off x="3529427" y="2014501"/>
            <a:ext cx="1040222" cy="292677"/>
            <a:chOff x="6353075" y="4537262"/>
            <a:chExt cx="1174500" cy="408600"/>
          </a:xfrm>
        </p:grpSpPr>
        <p:cxnSp>
          <p:nvCxnSpPr>
            <p:cNvPr id="187" name="Google Shape;187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88" name="Google Shape;188;p13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5333716" y="3961850"/>
            <a:ext cx="846110" cy="293089"/>
            <a:chOff x="6353075" y="4537262"/>
            <a:chExt cx="1174500" cy="408600"/>
          </a:xfrm>
        </p:grpSpPr>
        <p:cxnSp>
          <p:nvCxnSpPr>
            <p:cNvPr id="190" name="Google Shape;190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1" name="Google Shape;191;p13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12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2" name="Google Shape;192;p13"/>
          <p:cNvGrpSpPr/>
          <p:nvPr/>
        </p:nvGrpSpPr>
        <p:grpSpPr>
          <a:xfrm rot="7157076">
            <a:off x="4955140" y="1937468"/>
            <a:ext cx="846873" cy="292468"/>
            <a:chOff x="6353075" y="4537325"/>
            <a:chExt cx="1174500" cy="408600"/>
          </a:xfrm>
        </p:grpSpPr>
        <p:cxnSp>
          <p:nvCxnSpPr>
            <p:cNvPr id="193" name="Google Shape;193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4" name="Google Shape;194;p13"/>
            <p:cNvSpPr txBox="1"/>
            <p:nvPr/>
          </p:nvSpPr>
          <p:spPr>
            <a:xfrm rot="10800000">
              <a:off x="6427691" y="4537325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5" name="Google Shape;195;p13"/>
          <p:cNvSpPr txBox="1"/>
          <p:nvPr/>
        </p:nvSpPr>
        <p:spPr>
          <a:xfrm>
            <a:off x="5700476" y="2163339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169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units²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6" name="Google Shape;196;p13"/>
          <p:cNvGrpSpPr/>
          <p:nvPr/>
        </p:nvGrpSpPr>
        <p:grpSpPr>
          <a:xfrm>
            <a:off x="4818220" y="3134565"/>
            <a:ext cx="569957" cy="319010"/>
            <a:chOff x="6203399" y="4549793"/>
            <a:chExt cx="1473900" cy="444738"/>
          </a:xfrm>
        </p:grpSpPr>
        <p:cxnSp>
          <p:nvCxnSpPr>
            <p:cNvPr id="197" name="Google Shape;197;p13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98" name="Google Shape;198;p13"/>
            <p:cNvSpPr txBox="1"/>
            <p:nvPr/>
          </p:nvSpPr>
          <p:spPr>
            <a:xfrm>
              <a:off x="6203399" y="4585930"/>
              <a:ext cx="14739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units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" name="Google Shape;199;p13"/>
          <p:cNvSpPr txBox="1"/>
          <p:nvPr/>
        </p:nvSpPr>
        <p:spPr>
          <a:xfrm>
            <a:off x="1210421" y="3153263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36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1715054" y="1669326"/>
            <a:ext cx="5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= 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1345892" y="2377126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3264329" y="3887370"/>
            <a:ext cx="5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 =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3811803" y="2429728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3264329" y="1638200"/>
            <a:ext cx="5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 = 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5480915" y="3233602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144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4699134" y="3481016"/>
            <a:ext cx="5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 =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4835116" y="2583354"/>
            <a:ext cx="5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units²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4933441" y="1649159"/>
            <a:ext cx="548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 = 13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609074" y="1346797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2489002" y="1399932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4899258" y="1393665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650521" y="863997"/>
            <a:ext cx="58332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For each of these right-angled triangles, fill in the area of each square and find the missing length of each square that is labelled with a letter.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 flipH="1">
            <a:off x="649657" y="7960727"/>
            <a:ext cx="583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Explain your reasoning for question 1).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4" name="Google Shape;21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310" y="5843278"/>
            <a:ext cx="5664713" cy="2108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 flipH="1">
            <a:off x="861640" y="7134309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10 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 flipH="1">
            <a:off x="1521315" y="7445750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11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 flipH="1">
            <a:off x="1526061" y="6496921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27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 flipH="1">
            <a:off x="2765708" y="7333559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14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 flipH="1">
            <a:off x="2765708" y="6578420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14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 flipH="1">
            <a:off x="3534535" y="6984082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28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 flipH="1">
            <a:off x="5162375" y="7250280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16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 flipH="1">
            <a:off x="4687791" y="6580022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18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 flipH="1">
            <a:off x="5549310" y="6487417"/>
            <a:ext cx="6057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21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units²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9149" y="6979509"/>
            <a:ext cx="271850" cy="28817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3"/>
          <p:cNvSpPr txBox="1"/>
          <p:nvPr/>
        </p:nvSpPr>
        <p:spPr>
          <a:xfrm flipH="1">
            <a:off x="818557" y="8172862"/>
            <a:ext cx="56643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 is the only diagram where the sum of the two smaller areas is equal to the larger area. This is the only right-angled triangle.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 flipH="1">
            <a:off x="649657" y="5640612"/>
            <a:ext cx="5833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On which of these diagrams is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true?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3"/>
          <p:cNvSpPr txBox="1"/>
          <p:nvPr/>
        </p:nvSpPr>
        <p:spPr>
          <a:xfrm>
            <a:off x="609074" y="5950895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2489002" y="6004031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4899258" y="5997763"/>
            <a:ext cx="223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468000" y="5051175"/>
            <a:ext cx="5694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Introducing Pythagoras’ theorem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Further demonstrating of Pythagoras' theorem</a:t>
            </a:r>
            <a:endParaRPr/>
          </a:p>
        </p:txBody>
      </p:sp>
      <p:sp>
        <p:nvSpPr>
          <p:cNvPr id="236" name="Google Shape;236;p14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r>
              <a:rPr lang="en-GB"/>
              <a:t>.</a:t>
            </a:r>
            <a:endParaRPr/>
          </a:p>
        </p:txBody>
      </p:sp>
      <p:sp>
        <p:nvSpPr>
          <p:cNvPr id="237" name="Google Shape;237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8" name="Google Shape;238;p14"/>
          <p:cNvSpPr txBox="1"/>
          <p:nvPr/>
        </p:nvSpPr>
        <p:spPr>
          <a:xfrm flipH="1">
            <a:off x="599065" y="765950"/>
            <a:ext cx="3576000" cy="2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Which of these are valid representations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for these three squares which enclose a right-angled triangle?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125" y="892272"/>
            <a:ext cx="2108477" cy="1799731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 txBox="1"/>
          <p:nvPr/>
        </p:nvSpPr>
        <p:spPr>
          <a:xfrm flipH="1">
            <a:off x="5623206" y="2325728"/>
            <a:ext cx="599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G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 flipH="1">
            <a:off x="3835767" y="1632169"/>
            <a:ext cx="5649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F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 flipH="1">
            <a:off x="4972419" y="890718"/>
            <a:ext cx="65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</a:t>
            </a: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H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p14"/>
          <p:cNvGrpSpPr/>
          <p:nvPr/>
        </p:nvGrpSpPr>
        <p:grpSpPr>
          <a:xfrm>
            <a:off x="5004487" y="2674456"/>
            <a:ext cx="767158" cy="222401"/>
            <a:chOff x="5982526" y="4537254"/>
            <a:chExt cx="1915500" cy="408600"/>
          </a:xfrm>
        </p:grpSpPr>
        <p:cxnSp>
          <p:nvCxnSpPr>
            <p:cNvPr id="244" name="Google Shape;244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5" name="Google Shape;245;p14"/>
            <p:cNvSpPr txBox="1"/>
            <p:nvPr/>
          </p:nvSpPr>
          <p:spPr>
            <a:xfrm>
              <a:off x="5982526" y="4537254"/>
              <a:ext cx="19155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14"/>
          <p:cNvGrpSpPr/>
          <p:nvPr/>
        </p:nvGrpSpPr>
        <p:grpSpPr>
          <a:xfrm>
            <a:off x="4389268" y="2211784"/>
            <a:ext cx="767183" cy="222401"/>
            <a:chOff x="6353075" y="4537262"/>
            <a:chExt cx="1174500" cy="408600"/>
          </a:xfrm>
        </p:grpSpPr>
        <p:cxnSp>
          <p:nvCxnSpPr>
            <p:cNvPr id="247" name="Google Shape;247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48" name="Google Shape;248;p14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f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49" name="Google Shape;249;p14"/>
          <p:cNvSpPr txBox="1"/>
          <p:nvPr/>
        </p:nvSpPr>
        <p:spPr>
          <a:xfrm>
            <a:off x="875930" y="1303064"/>
            <a:ext cx="25443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area of square F plus the area of square G equals the area of square 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14"/>
          <p:cNvSpPr txBox="1"/>
          <p:nvPr/>
        </p:nvSpPr>
        <p:spPr>
          <a:xfrm>
            <a:off x="875930" y="1837117"/>
            <a:ext cx="25443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14"/>
          <p:cNvGrpSpPr/>
          <p:nvPr/>
        </p:nvGrpSpPr>
        <p:grpSpPr>
          <a:xfrm rot="-7273395">
            <a:off x="5853250" y="1119950"/>
            <a:ext cx="898365" cy="222418"/>
            <a:chOff x="6353075" y="4537169"/>
            <a:chExt cx="1174500" cy="408600"/>
          </a:xfrm>
        </p:grpSpPr>
        <p:cxnSp>
          <p:nvCxnSpPr>
            <p:cNvPr id="252" name="Google Shape;252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53" name="Google Shape;253;p14"/>
            <p:cNvSpPr txBox="1"/>
            <p:nvPr/>
          </p:nvSpPr>
          <p:spPr>
            <a:xfrm rot="10800000">
              <a:off x="6427799" y="4537169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-GB" sz="1300"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4" name="Google Shape;254;p14"/>
          <p:cNvGrpSpPr/>
          <p:nvPr/>
        </p:nvGrpSpPr>
        <p:grpSpPr>
          <a:xfrm>
            <a:off x="599083" y="1484001"/>
            <a:ext cx="219867" cy="219776"/>
            <a:chOff x="1020916" y="1442088"/>
            <a:chExt cx="457200" cy="457200"/>
          </a:xfrm>
        </p:grpSpPr>
        <p:pic>
          <p:nvPicPr>
            <p:cNvPr id="255" name="Google Shape;255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7" name="Google Shape;257;p14"/>
          <p:cNvGrpSpPr/>
          <p:nvPr/>
        </p:nvGrpSpPr>
        <p:grpSpPr>
          <a:xfrm>
            <a:off x="599083" y="1823001"/>
            <a:ext cx="219867" cy="219776"/>
            <a:chOff x="1020916" y="1442088"/>
            <a:chExt cx="457200" cy="457200"/>
          </a:xfrm>
        </p:grpSpPr>
        <p:pic>
          <p:nvPicPr>
            <p:cNvPr id="258" name="Google Shape;258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0" name="Google Shape;260;p14"/>
          <p:cNvSpPr txBox="1"/>
          <p:nvPr/>
        </p:nvSpPr>
        <p:spPr>
          <a:xfrm>
            <a:off x="875930" y="2200801"/>
            <a:ext cx="25443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1" name="Google Shape;261;p14"/>
          <p:cNvGrpSpPr/>
          <p:nvPr/>
        </p:nvGrpSpPr>
        <p:grpSpPr>
          <a:xfrm>
            <a:off x="599083" y="2186685"/>
            <a:ext cx="219867" cy="219776"/>
            <a:chOff x="1020916" y="1442088"/>
            <a:chExt cx="457200" cy="457200"/>
          </a:xfrm>
        </p:grpSpPr>
        <p:pic>
          <p:nvPicPr>
            <p:cNvPr id="262" name="Google Shape;26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4" name="Google Shape;264;p14"/>
          <p:cNvSpPr txBox="1"/>
          <p:nvPr/>
        </p:nvSpPr>
        <p:spPr>
          <a:xfrm>
            <a:off x="875930" y="2509948"/>
            <a:ext cx="25443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²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 +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²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5" name="Google Shape;265;p14"/>
          <p:cNvGrpSpPr/>
          <p:nvPr/>
        </p:nvGrpSpPr>
        <p:grpSpPr>
          <a:xfrm>
            <a:off x="599083" y="2495831"/>
            <a:ext cx="219867" cy="219776"/>
            <a:chOff x="1020916" y="1442088"/>
            <a:chExt cx="457200" cy="457200"/>
          </a:xfrm>
        </p:grpSpPr>
        <p:pic>
          <p:nvPicPr>
            <p:cNvPr id="266" name="Google Shape;266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1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68" name="Google Shape;2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9568" y="1531004"/>
            <a:ext cx="273959" cy="28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2405" y="1795058"/>
            <a:ext cx="273959" cy="289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3712" y="2495916"/>
            <a:ext cx="273959" cy="289857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4"/>
          <p:cNvSpPr txBox="1"/>
          <p:nvPr/>
        </p:nvSpPr>
        <p:spPr>
          <a:xfrm flipH="1">
            <a:off x="540000" y="3918305"/>
            <a:ext cx="35310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a) What could 15² represent in this diagram?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area of the largest square?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Fill in the blanks for these calculations of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Pythagoras’ theorem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4"/>
          <p:cNvSpPr/>
          <p:nvPr/>
        </p:nvSpPr>
        <p:spPr>
          <a:xfrm rot="892541">
            <a:off x="5297607" y="4837583"/>
            <a:ext cx="119195" cy="119195"/>
          </a:xfrm>
          <a:prstGeom prst="rect">
            <a:avLst/>
          </a:prstGeom>
          <a:solidFill>
            <a:srgbClr val="FAEAF6"/>
          </a:solidFill>
          <a:ln cap="flat" cmpd="sng" w="19050">
            <a:solidFill>
              <a:srgbClr val="D02A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3" name="Google Shape;273;p14"/>
          <p:cNvPicPr preferRelativeResize="0"/>
          <p:nvPr/>
        </p:nvPicPr>
        <p:blipFill rotWithShape="1">
          <a:blip r:embed="rId6">
            <a:alphaModFix/>
          </a:blip>
          <a:srcRect b="0" l="0" r="64737" t="12579"/>
          <a:stretch/>
        </p:blipFill>
        <p:spPr>
          <a:xfrm rot="5400000">
            <a:off x="3899136" y="3880250"/>
            <a:ext cx="2155690" cy="2192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14"/>
          <p:cNvGrpSpPr/>
          <p:nvPr/>
        </p:nvGrpSpPr>
        <p:grpSpPr>
          <a:xfrm rot="-2184871">
            <a:off x="4520912" y="5743808"/>
            <a:ext cx="954640" cy="199248"/>
            <a:chOff x="6353075" y="4537262"/>
            <a:chExt cx="1174500" cy="408600"/>
          </a:xfrm>
        </p:grpSpPr>
        <p:cxnSp>
          <p:nvCxnSpPr>
            <p:cNvPr id="275" name="Google Shape;275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6" name="Google Shape;276;p14"/>
            <p:cNvSpPr txBox="1"/>
            <p:nvPr/>
          </p:nvSpPr>
          <p:spPr>
            <a:xfrm>
              <a:off x="6427772" y="4537262"/>
              <a:ext cx="1025100" cy="4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17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7" name="Google Shape;277;p14"/>
          <p:cNvGrpSpPr/>
          <p:nvPr/>
        </p:nvGrpSpPr>
        <p:grpSpPr>
          <a:xfrm rot="-4540596">
            <a:off x="5971956" y="5089356"/>
            <a:ext cx="613848" cy="568642"/>
            <a:chOff x="6353075" y="4496710"/>
            <a:chExt cx="1174500" cy="1165800"/>
          </a:xfrm>
        </p:grpSpPr>
        <p:cxnSp>
          <p:nvCxnSpPr>
            <p:cNvPr id="278" name="Google Shape;278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79" name="Google Shape;279;p14"/>
            <p:cNvSpPr txBox="1"/>
            <p:nvPr/>
          </p:nvSpPr>
          <p:spPr>
            <a:xfrm rot="4596450">
              <a:off x="6473583" y="4888166"/>
              <a:ext cx="1094463" cy="3828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8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0" name="Google Shape;280;p14"/>
          <p:cNvGrpSpPr/>
          <p:nvPr/>
        </p:nvGrpSpPr>
        <p:grpSpPr>
          <a:xfrm rot="-4540706">
            <a:off x="5520156" y="4248458"/>
            <a:ext cx="720757" cy="659074"/>
            <a:chOff x="6353075" y="4495388"/>
            <a:chExt cx="1174500" cy="1351200"/>
          </a:xfrm>
        </p:grpSpPr>
        <p:cxnSp>
          <p:nvCxnSpPr>
            <p:cNvPr id="281" name="Google Shape;281;p14"/>
            <p:cNvCxnSpPr/>
            <p:nvPr/>
          </p:nvCxnSpPr>
          <p:spPr>
            <a:xfrm>
              <a:off x="6353075" y="4549793"/>
              <a:ext cx="1174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2" name="Google Shape;282;p14"/>
            <p:cNvSpPr txBox="1"/>
            <p:nvPr/>
          </p:nvSpPr>
          <p:spPr>
            <a:xfrm rot="4712207">
              <a:off x="6389533" y="5005717"/>
              <a:ext cx="1275544" cy="330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300">
                  <a:latin typeface="Lexend"/>
                  <a:ea typeface="Lexend"/>
                  <a:cs typeface="Lexend"/>
                  <a:sym typeface="Lexend"/>
                </a:rPr>
                <a:t>15 units</a:t>
              </a:r>
              <a:endParaRPr sz="13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83" name="Google Shape;283;p14"/>
          <p:cNvSpPr txBox="1"/>
          <p:nvPr/>
        </p:nvSpPr>
        <p:spPr>
          <a:xfrm flipH="1">
            <a:off x="5368439" y="5084399"/>
            <a:ext cx="547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A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 flipH="1">
            <a:off x="4894454" y="4274563"/>
            <a:ext cx="547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B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 flipH="1">
            <a:off x="4366921" y="5196602"/>
            <a:ext cx="5472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3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square C</a:t>
            </a:r>
            <a:endParaRPr b="0"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905630" y="5421363"/>
            <a:ext cx="3636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1458852" y="5421363"/>
            <a:ext cx="223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886889" y="5421363"/>
            <a:ext cx="3636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2455673" y="5421363"/>
            <a:ext cx="223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2868147" y="5421363"/>
            <a:ext cx="3636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14"/>
          <p:cNvSpPr txBox="1"/>
          <p:nvPr/>
        </p:nvSpPr>
        <p:spPr>
          <a:xfrm flipH="1">
            <a:off x="1269459" y="5354536"/>
            <a:ext cx="1461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 flipH="1">
            <a:off x="737093" y="6537272"/>
            <a:ext cx="701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A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 flipH="1">
            <a:off x="1718351" y="6537272"/>
            <a:ext cx="701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B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 flipH="1">
            <a:off x="2699610" y="6537272"/>
            <a:ext cx="7011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area of square C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772466" y="6027635"/>
            <a:ext cx="6303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753723" y="6027635"/>
            <a:ext cx="6303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2734981" y="6027635"/>
            <a:ext cx="630300" cy="342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389909" y="6027635"/>
            <a:ext cx="363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+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2383871" y="6027635"/>
            <a:ext cx="363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=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14"/>
          <p:cNvSpPr txBox="1"/>
          <p:nvPr/>
        </p:nvSpPr>
        <p:spPr>
          <a:xfrm flipH="1">
            <a:off x="2252569" y="5354536"/>
            <a:ext cx="1461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14"/>
          <p:cNvSpPr txBox="1"/>
          <p:nvPr/>
        </p:nvSpPr>
        <p:spPr>
          <a:xfrm flipH="1">
            <a:off x="3235670" y="5354536"/>
            <a:ext cx="1461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 flipH="1">
            <a:off x="905844" y="5421363"/>
            <a:ext cx="363600" cy="34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8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 flipH="1">
            <a:off x="1887164" y="5421363"/>
            <a:ext cx="363600" cy="34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15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 flipH="1">
            <a:off x="2868493" y="5421363"/>
            <a:ext cx="363600" cy="342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17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5" name="Google Shape;305;p14"/>
          <p:cNvSpPr txBox="1"/>
          <p:nvPr/>
        </p:nvSpPr>
        <p:spPr>
          <a:xfrm flipH="1">
            <a:off x="905844" y="6027635"/>
            <a:ext cx="363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64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 flipH="1">
            <a:off x="1887164" y="6027635"/>
            <a:ext cx="363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225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 flipH="1">
            <a:off x="2868493" y="6027635"/>
            <a:ext cx="3636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289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 flipH="1">
            <a:off x="938658" y="4328439"/>
            <a:ext cx="3318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Square C has an area of 289 units²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14"/>
          <p:cNvSpPr txBox="1"/>
          <p:nvPr/>
        </p:nvSpPr>
        <p:spPr>
          <a:xfrm flipH="1">
            <a:off x="1389948" y="3999414"/>
            <a:ext cx="21309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300">
                <a:latin typeface="Kalam"/>
                <a:ea typeface="Kalam"/>
                <a:cs typeface="Kalam"/>
                <a:sym typeface="Kalam"/>
              </a:rPr>
              <a:t>15² is the area of square B</a:t>
            </a:r>
            <a:endParaRPr sz="1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