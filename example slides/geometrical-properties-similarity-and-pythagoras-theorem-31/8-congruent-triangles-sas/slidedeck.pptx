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e5be9f7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e5be9f7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ee5be9f7b5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ee5be9f7b5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ee5be9f7b5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ee5be9f7b5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afc16ad4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afc16ad4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fc16ad4b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fc16ad4b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fc16ad4b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fc16ad4b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afc16ad4b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afc16ad4b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afc16ad4b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afc16ad4b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afc16ad4b9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afc16ad4b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afc16ad4b9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afc16ad4b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ee5be9f7b5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ee5be9f7b5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afc16ad4b9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afc16ad4b9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afc16ad4b9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afc16ad4b9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2afc16ad4b9_3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2afc16ad4b9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afc16ad4b9_3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afc16ad4b9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ae8118ae18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ae8118ae18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afc16ad4b9_3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afc16ad4b9_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ee5be9f7b5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ee5be9f7b5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ae8118ae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ae8118ae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ae8118ae1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ae8118ae1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ae8118ae1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ae8118ae1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ae8118ae1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ae8118ae1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ae8118ae1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ae8118ae1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ae8118ae1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ae8118ae1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ae8118ae1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ae8118ae1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1ee5be9f7b5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1ee5be9f7b5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b0085c03b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b0085c03b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2b0085c03b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b0085c03b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b0085c03b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b0085c03b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b0085c03b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b0085c03b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b0085c03b0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b0085c03b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b0085c03b0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b0085c03b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b0085c03b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b0085c03b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b0085c03b0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b0085c03b0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1ee5be9f7b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1ee5be9f7b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1ee5be9f7b5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1ee5be9f7b5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ae8118ae18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2ae8118ae18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1.png"/><Relationship Id="rId4" Type="http://schemas.openxmlformats.org/officeDocument/2006/relationships/image" Target="../media/image66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6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6.png"/><Relationship Id="rId4" Type="http://schemas.openxmlformats.org/officeDocument/2006/relationships/image" Target="../media/image30.png"/><Relationship Id="rId11" Type="http://schemas.openxmlformats.org/officeDocument/2006/relationships/image" Target="../media/image17.png"/><Relationship Id="rId10" Type="http://schemas.openxmlformats.org/officeDocument/2006/relationships/image" Target="../media/image42.png"/><Relationship Id="rId9" Type="http://schemas.openxmlformats.org/officeDocument/2006/relationships/image" Target="../media/image31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image" Target="../media/image6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4.png"/><Relationship Id="rId7" Type="http://schemas.openxmlformats.org/officeDocument/2006/relationships/hyperlink" Target="https://www.geogebra.org/m/rekk8zh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google.com/url?q=https://www.geogebra.org/m/bhn3zhmw&amp;sa=D&amp;source=editors&amp;ust=1705662116103834&amp;usg=AOvVaw15p0dkAKag1r6dSWnEwn8y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geogebra.org/m/fwfx5ryx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Relationship Id="rId5" Type="http://schemas.openxmlformats.org/officeDocument/2006/relationships/image" Target="../media/image5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Relationship Id="rId5" Type="http://schemas.openxmlformats.org/officeDocument/2006/relationships/image" Target="../media/image5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Relationship Id="rId5" Type="http://schemas.openxmlformats.org/officeDocument/2006/relationships/image" Target="../media/image5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geogebra.org/m/ssz6x8nq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5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Relationship Id="rId4" Type="http://schemas.openxmlformats.org/officeDocument/2006/relationships/image" Target="../media/image6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properties: similarity and Pythagoras'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and use the criteria by which triangles are congruent (SAS).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2" name="Google Shape;772;p66"/>
          <p:cNvSpPr txBox="1"/>
          <p:nvPr>
            <p:ph idx="2" type="subTitle"/>
          </p:nvPr>
        </p:nvSpPr>
        <p:spPr>
          <a:xfrm>
            <a:off x="324000" y="8851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If one shape can fit exactly on top of another using rotation, reflection or translation, then the shapes are congruent. 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773" name="Google Shape;773;p66"/>
          <p:cNvSpPr txBox="1"/>
          <p:nvPr>
            <p:ph idx="3" type="subTitle"/>
          </p:nvPr>
        </p:nvSpPr>
        <p:spPr>
          <a:xfrm>
            <a:off x="324000" y="28492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779" name="Google Shape;779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780" name="Google Shape;780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107" y="20635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Jun, Sam and Sofia have three straws of various lengths and are creating triangles.</a:t>
            </a:r>
            <a:endParaRPr sz="1800"/>
          </a:p>
        </p:txBody>
      </p: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pic>
        <p:nvPicPr>
          <p:cNvPr id="788" name="Google Shape;7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162" y="2703200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57" y="259595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759340" y="265618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8"/>
          <p:cNvPicPr preferRelativeResize="0"/>
          <p:nvPr/>
        </p:nvPicPr>
        <p:blipFill rotWithShape="1">
          <a:blip r:embed="rId6">
            <a:alphaModFix/>
          </a:blip>
          <a:srcRect b="85535" l="0" r="0" t="0"/>
          <a:stretch/>
        </p:blipFill>
        <p:spPr>
          <a:xfrm>
            <a:off x="444315" y="1467600"/>
            <a:ext cx="3437810" cy="36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8"/>
          <p:cNvPicPr preferRelativeResize="0"/>
          <p:nvPr/>
        </p:nvPicPr>
        <p:blipFill rotWithShape="1">
          <a:blip r:embed="rId6">
            <a:alphaModFix/>
          </a:blip>
          <a:srcRect b="30650" l="8138" r="0" t="56204"/>
          <a:stretch/>
        </p:blipFill>
        <p:spPr>
          <a:xfrm>
            <a:off x="511351" y="1828450"/>
            <a:ext cx="3158001" cy="3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8"/>
          <p:cNvPicPr preferRelativeResize="0"/>
          <p:nvPr/>
        </p:nvPicPr>
        <p:blipFill rotWithShape="1">
          <a:blip r:embed="rId6">
            <a:alphaModFix/>
          </a:blip>
          <a:srcRect b="2787" l="1399" r="19971" t="83576"/>
          <a:stretch/>
        </p:blipFill>
        <p:spPr>
          <a:xfrm>
            <a:off x="511347" y="2156394"/>
            <a:ext cx="2703186" cy="340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8"/>
          <p:cNvPicPr preferRelativeResize="0"/>
          <p:nvPr/>
        </p:nvPicPr>
        <p:blipFill rotWithShape="1">
          <a:blip r:embed="rId6">
            <a:alphaModFix/>
          </a:blip>
          <a:srcRect b="2787" l="1399" r="19971" t="83576"/>
          <a:stretch/>
        </p:blipFill>
        <p:spPr>
          <a:xfrm rot="123621">
            <a:off x="4700997" y="1309468"/>
            <a:ext cx="2703185" cy="340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68"/>
          <p:cNvPicPr preferRelativeResize="0"/>
          <p:nvPr/>
        </p:nvPicPr>
        <p:blipFill rotWithShape="1">
          <a:blip r:embed="rId6">
            <a:alphaModFix/>
          </a:blip>
          <a:srcRect b="85535" l="0" r="0" t="0"/>
          <a:stretch/>
        </p:blipFill>
        <p:spPr>
          <a:xfrm rot="3772047">
            <a:off x="3833440" y="2534861"/>
            <a:ext cx="3437810" cy="360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8"/>
          <p:cNvPicPr preferRelativeResize="0"/>
          <p:nvPr/>
        </p:nvPicPr>
        <p:blipFill rotWithShape="1">
          <a:blip r:embed="rId6">
            <a:alphaModFix/>
          </a:blip>
          <a:srcRect b="30650" l="8138" r="0" t="56204"/>
          <a:stretch/>
        </p:blipFill>
        <p:spPr>
          <a:xfrm rot="6631626">
            <a:off x="5162776" y="2681750"/>
            <a:ext cx="3158000" cy="3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8"/>
          <p:cNvSpPr txBox="1"/>
          <p:nvPr>
            <p:ph idx="1" type="body"/>
          </p:nvPr>
        </p:nvSpPr>
        <p:spPr>
          <a:xfrm>
            <a:off x="444325" y="3748800"/>
            <a:ext cx="50703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</a:t>
            </a:r>
            <a:r>
              <a:rPr lang="en-GB" sz="1800"/>
              <a:t>know that they can only create one unique triangle with these three straw lengths. 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991526" y="964524"/>
            <a:ext cx="3247324" cy="1664376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pic>
        <p:nvPicPr>
          <p:cNvPr id="804" name="Google Shape;80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82037" y="1620012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7" y="81000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73065" y="373556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1267566" y="1330876"/>
            <a:ext cx="29502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have two straws, taped into a fixed angle, how many </a:t>
            </a:r>
            <a:r>
              <a:rPr lang="en-GB" sz="1800"/>
              <a:t>different</a:t>
            </a:r>
            <a:r>
              <a:rPr lang="en-GB" sz="1800"/>
              <a:t> triangles can we make?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08" name="Google Shape;808;p69"/>
          <p:cNvSpPr txBox="1"/>
          <p:nvPr>
            <p:ph idx="1" type="body"/>
          </p:nvPr>
        </p:nvSpPr>
        <p:spPr>
          <a:xfrm>
            <a:off x="1535542" y="3033350"/>
            <a:ext cx="27033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think there would be a lot. </a:t>
            </a:r>
            <a:r>
              <a:rPr lang="en-GB" sz="1800"/>
              <a:t>There are many different right-angled triangles for instance.</a:t>
            </a:r>
            <a:endParaRPr sz="1800"/>
          </a:p>
        </p:txBody>
      </p:sp>
      <p:pic>
        <p:nvPicPr>
          <p:cNvPr id="809" name="Google Shape;809;p6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20687" y="2933711"/>
            <a:ext cx="2975601" cy="166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9"/>
          <p:cNvPicPr preferRelativeResize="0"/>
          <p:nvPr/>
        </p:nvPicPr>
        <p:blipFill rotWithShape="1">
          <a:blip r:embed="rId3">
            <a:alphaModFix/>
          </a:blip>
          <a:srcRect b="0" l="0" r="70143" t="56280"/>
          <a:stretch/>
        </p:blipFill>
        <p:spPr>
          <a:xfrm>
            <a:off x="5571038" y="660163"/>
            <a:ext cx="1888174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9"/>
          <p:cNvSpPr txBox="1"/>
          <p:nvPr>
            <p:ph idx="1" type="body"/>
          </p:nvPr>
        </p:nvSpPr>
        <p:spPr>
          <a:xfrm>
            <a:off x="5703397" y="813095"/>
            <a:ext cx="18183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straws are a fixed length though.</a:t>
            </a:r>
            <a:endParaRPr sz="1800"/>
          </a:p>
        </p:txBody>
      </p:sp>
      <p:pic>
        <p:nvPicPr>
          <p:cNvPr id="812" name="Google Shape;812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786688">
            <a:off x="5304206" y="2104579"/>
            <a:ext cx="2862838" cy="3222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82560" y="715850"/>
            <a:ext cx="3259628" cy="161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344377" y="2927800"/>
            <a:ext cx="2435548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991527" y="964525"/>
            <a:ext cx="3832474" cy="16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629024" y="2160012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7" y="810000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73065" y="373556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0"/>
          <p:cNvSpPr txBox="1"/>
          <p:nvPr>
            <p:ph idx="1" type="body"/>
          </p:nvPr>
        </p:nvSpPr>
        <p:spPr>
          <a:xfrm>
            <a:off x="1265360" y="1274725"/>
            <a:ext cx="35271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straws could be any length, but the angle is fixed, then lots of different triangles would be created?</a:t>
            </a:r>
            <a:endParaRPr sz="1800"/>
          </a:p>
        </p:txBody>
      </p:sp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1535550" y="3033350"/>
            <a:ext cx="22443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Yes! I think we can show it </a:t>
            </a:r>
            <a:r>
              <a:rPr lang="en-GB" sz="1800"/>
              <a:t>through a construction.</a:t>
            </a:r>
            <a:endParaRPr sz="1800"/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4969623" y="794710"/>
            <a:ext cx="3085500" cy="9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Even if you fixed one side length, you would still get an </a:t>
            </a:r>
            <a:r>
              <a:rPr lang="en-GB" sz="1800"/>
              <a:t>infinite</a:t>
            </a:r>
            <a:r>
              <a:rPr lang="en-GB" sz="1800"/>
              <a:t> amount of triangles.</a:t>
            </a:r>
            <a:endParaRPr sz="1800"/>
          </a:p>
        </p:txBody>
      </p:sp>
      <p:sp>
        <p:nvSpPr>
          <p:cNvPr id="827" name="Google Shape;827;p70"/>
          <p:cNvSpPr txBox="1"/>
          <p:nvPr/>
        </p:nvSpPr>
        <p:spPr>
          <a:xfrm>
            <a:off x="5322450" y="4320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🖇</a:t>
            </a:r>
            <a:r>
              <a:rPr lang="en-GB"/>
              <a:t>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7"/>
              </a:rPr>
              <a:t>SAS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2" name="Google Shape;832;p71"/>
          <p:cNvCxnSpPr/>
          <p:nvPr/>
        </p:nvCxnSpPr>
        <p:spPr>
          <a:xfrm>
            <a:off x="1280964" y="4214350"/>
            <a:ext cx="82818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pic>
        <p:nvPicPr>
          <p:cNvPr id="834" name="Google Shape;83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4287" y="2254350"/>
            <a:ext cx="3922875" cy="21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1"/>
          <p:cNvSpPr txBox="1"/>
          <p:nvPr>
            <p:ph idx="1" type="body"/>
          </p:nvPr>
        </p:nvSpPr>
        <p:spPr>
          <a:xfrm>
            <a:off x="954025" y="4117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836" name="Google Shape;836;p71"/>
          <p:cNvSpPr/>
          <p:nvPr/>
        </p:nvSpPr>
        <p:spPr>
          <a:xfrm>
            <a:off x="664987" y="3602187"/>
            <a:ext cx="1227900" cy="1227900"/>
          </a:xfrm>
          <a:prstGeom prst="pie">
            <a:avLst>
              <a:gd fmla="val 18601739" name="adj1"/>
              <a:gd fmla="val 729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1"/>
          <p:cNvSpPr txBox="1"/>
          <p:nvPr/>
        </p:nvSpPr>
        <p:spPr>
          <a:xfrm>
            <a:off x="1892875" y="373212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/>
          </a:p>
        </p:txBody>
      </p:sp>
      <p:cxnSp>
        <p:nvCxnSpPr>
          <p:cNvPr id="838" name="Google Shape;838;p71"/>
          <p:cNvCxnSpPr/>
          <p:nvPr/>
        </p:nvCxnSpPr>
        <p:spPr>
          <a:xfrm rot="-2999947">
            <a:off x="-198150" y="1042301"/>
            <a:ext cx="8281742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39" name="Google Shape;839;p71"/>
          <p:cNvGrpSpPr/>
          <p:nvPr/>
        </p:nvGrpSpPr>
        <p:grpSpPr>
          <a:xfrm rot="2700000">
            <a:off x="1233941" y="4171111"/>
            <a:ext cx="86399" cy="86399"/>
            <a:chOff x="3207775" y="3158025"/>
            <a:chExt cx="86400" cy="86400"/>
          </a:xfrm>
        </p:grpSpPr>
        <p:cxnSp>
          <p:nvCxnSpPr>
            <p:cNvPr id="840" name="Google Shape;840;p71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71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2" name="Google Shape;842;p71"/>
          <p:cNvSpPr/>
          <p:nvPr/>
        </p:nvSpPr>
        <p:spPr>
          <a:xfrm rot="2448775">
            <a:off x="3901741" y="785539"/>
            <a:ext cx="273106" cy="306916"/>
          </a:xfrm>
          <a:prstGeom prst="rect">
            <a:avLst/>
          </a:prstGeom>
          <a:solidFill>
            <a:srgbClr val="FFFFFF">
              <a:alpha val="69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 txBox="1"/>
          <p:nvPr>
            <p:ph idx="1" type="body"/>
          </p:nvPr>
        </p:nvSpPr>
        <p:spPr>
          <a:xfrm>
            <a:off x="324000" y="794700"/>
            <a:ext cx="8228400" cy="6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</a:t>
            </a:r>
            <a:r>
              <a:rPr lang="en-GB" sz="1800"/>
              <a:t>angle</a:t>
            </a:r>
            <a:r>
              <a:rPr lang="en-GB" sz="1800"/>
              <a:t> </a:t>
            </a:r>
            <a:r>
              <a:rPr lang="en-GB" sz="1800"/>
              <a:t>between two edges is fixed at 50°, we can draw the legs as rays, starting from point A.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8" name="Google Shape;848;p72"/>
          <p:cNvCxnSpPr/>
          <p:nvPr/>
        </p:nvCxnSpPr>
        <p:spPr>
          <a:xfrm>
            <a:off x="1280964" y="4214350"/>
            <a:ext cx="82818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954025" y="4117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cxnSp>
        <p:nvCxnSpPr>
          <p:cNvPr id="851" name="Google Shape;851;p72"/>
          <p:cNvCxnSpPr/>
          <p:nvPr/>
        </p:nvCxnSpPr>
        <p:spPr>
          <a:xfrm flipH="1" rot="10800000">
            <a:off x="1280971" y="3551"/>
            <a:ext cx="3545100" cy="42108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2" name="Google Shape;852;p72"/>
          <p:cNvSpPr/>
          <p:nvPr/>
        </p:nvSpPr>
        <p:spPr>
          <a:xfrm>
            <a:off x="664987" y="3602187"/>
            <a:ext cx="1227900" cy="1227900"/>
          </a:xfrm>
          <a:prstGeom prst="pie">
            <a:avLst>
              <a:gd fmla="val 18601739" name="adj1"/>
              <a:gd fmla="val 729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2"/>
          <p:cNvSpPr txBox="1"/>
          <p:nvPr/>
        </p:nvSpPr>
        <p:spPr>
          <a:xfrm>
            <a:off x="1892875" y="373212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/>
          </a:p>
        </p:txBody>
      </p:sp>
      <p:cxnSp>
        <p:nvCxnSpPr>
          <p:cNvPr id="854" name="Google Shape;854;p72"/>
          <p:cNvCxnSpPr/>
          <p:nvPr/>
        </p:nvCxnSpPr>
        <p:spPr>
          <a:xfrm>
            <a:off x="2741075" y="2465925"/>
            <a:ext cx="1852200" cy="1728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5" name="Google Shape;855;p72"/>
          <p:cNvGrpSpPr/>
          <p:nvPr/>
        </p:nvGrpSpPr>
        <p:grpSpPr>
          <a:xfrm rot="2700000">
            <a:off x="2698354" y="2432979"/>
            <a:ext cx="86399" cy="86399"/>
            <a:chOff x="3207775" y="3158025"/>
            <a:chExt cx="86400" cy="86400"/>
          </a:xfrm>
        </p:grpSpPr>
        <p:cxnSp>
          <p:nvCxnSpPr>
            <p:cNvPr id="856" name="Google Shape;856;p72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72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8" name="Google Shape;858;p72"/>
          <p:cNvGrpSpPr/>
          <p:nvPr/>
        </p:nvGrpSpPr>
        <p:grpSpPr>
          <a:xfrm rot="2700000">
            <a:off x="4554441" y="4171936"/>
            <a:ext cx="86399" cy="86399"/>
            <a:chOff x="3207775" y="3158025"/>
            <a:chExt cx="86400" cy="86400"/>
          </a:xfrm>
        </p:grpSpPr>
        <p:cxnSp>
          <p:nvCxnSpPr>
            <p:cNvPr id="859" name="Google Shape;859;p72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72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61" name="Google Shape;861;p72"/>
          <p:cNvGrpSpPr/>
          <p:nvPr/>
        </p:nvGrpSpPr>
        <p:grpSpPr>
          <a:xfrm rot="2700000">
            <a:off x="1233941" y="4171111"/>
            <a:ext cx="86399" cy="86399"/>
            <a:chOff x="3207775" y="3158025"/>
            <a:chExt cx="86400" cy="86400"/>
          </a:xfrm>
        </p:grpSpPr>
        <p:cxnSp>
          <p:nvCxnSpPr>
            <p:cNvPr id="862" name="Google Shape;862;p72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72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4536550" y="425837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865" name="Google Shape;865;p72"/>
          <p:cNvSpPr txBox="1"/>
          <p:nvPr>
            <p:ph idx="1" type="body"/>
          </p:nvPr>
        </p:nvSpPr>
        <p:spPr>
          <a:xfrm>
            <a:off x="2550850" y="2264919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cxnSp>
        <p:nvCxnSpPr>
          <p:cNvPr id="866" name="Google Shape;866;p72"/>
          <p:cNvCxnSpPr/>
          <p:nvPr/>
        </p:nvCxnSpPr>
        <p:spPr>
          <a:xfrm>
            <a:off x="3086100" y="2059525"/>
            <a:ext cx="1045200" cy="216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7" name="Google Shape;867;p72"/>
          <p:cNvGrpSpPr/>
          <p:nvPr/>
        </p:nvGrpSpPr>
        <p:grpSpPr>
          <a:xfrm rot="2700000">
            <a:off x="3037446" y="2022164"/>
            <a:ext cx="86399" cy="86399"/>
            <a:chOff x="-1465359" y="2038379"/>
            <a:chExt cx="86400" cy="86400"/>
          </a:xfrm>
        </p:grpSpPr>
        <p:cxnSp>
          <p:nvCxnSpPr>
            <p:cNvPr id="868" name="Google Shape;868;p72"/>
            <p:cNvCxnSpPr/>
            <p:nvPr/>
          </p:nvCxnSpPr>
          <p:spPr>
            <a:xfrm>
              <a:off x="-1422159" y="20383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72"/>
            <p:cNvCxnSpPr/>
            <p:nvPr/>
          </p:nvCxnSpPr>
          <p:spPr>
            <a:xfrm>
              <a:off x="-1422159" y="20383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0" name="Google Shape;870;p72"/>
          <p:cNvGrpSpPr/>
          <p:nvPr/>
        </p:nvGrpSpPr>
        <p:grpSpPr>
          <a:xfrm rot="2700000">
            <a:off x="4080919" y="4171126"/>
            <a:ext cx="86399" cy="86399"/>
            <a:chOff x="58641" y="4171979"/>
            <a:chExt cx="86400" cy="86400"/>
          </a:xfrm>
        </p:grpSpPr>
        <p:cxnSp>
          <p:nvCxnSpPr>
            <p:cNvPr id="871" name="Google Shape;871;p72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72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4080900" y="4257550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874" name="Google Shape;874;p72"/>
          <p:cNvSpPr txBox="1"/>
          <p:nvPr>
            <p:ph idx="1" type="body"/>
          </p:nvPr>
        </p:nvSpPr>
        <p:spPr>
          <a:xfrm>
            <a:off x="2899906" y="1812326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cxnSp>
        <p:nvCxnSpPr>
          <p:cNvPr id="875" name="Google Shape;875;p72"/>
          <p:cNvCxnSpPr/>
          <p:nvPr/>
        </p:nvCxnSpPr>
        <p:spPr>
          <a:xfrm>
            <a:off x="2305175" y="3009675"/>
            <a:ext cx="3246300" cy="1206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6" name="Google Shape;876;p72"/>
          <p:cNvGrpSpPr/>
          <p:nvPr/>
        </p:nvGrpSpPr>
        <p:grpSpPr>
          <a:xfrm rot="2700000">
            <a:off x="2254696" y="2960159"/>
            <a:ext cx="86399" cy="86399"/>
            <a:chOff x="-1465359" y="2038379"/>
            <a:chExt cx="86400" cy="86400"/>
          </a:xfrm>
        </p:grpSpPr>
        <p:cxnSp>
          <p:nvCxnSpPr>
            <p:cNvPr id="877" name="Google Shape;877;p72"/>
            <p:cNvCxnSpPr/>
            <p:nvPr/>
          </p:nvCxnSpPr>
          <p:spPr>
            <a:xfrm>
              <a:off x="-1422159" y="20383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72"/>
            <p:cNvCxnSpPr/>
            <p:nvPr/>
          </p:nvCxnSpPr>
          <p:spPr>
            <a:xfrm>
              <a:off x="-1422159" y="20383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9" name="Google Shape;879;p72"/>
          <p:cNvGrpSpPr/>
          <p:nvPr/>
        </p:nvGrpSpPr>
        <p:grpSpPr>
          <a:xfrm rot="2700000">
            <a:off x="5473269" y="4171951"/>
            <a:ext cx="86399" cy="86399"/>
            <a:chOff x="58641" y="4171979"/>
            <a:chExt cx="86400" cy="86400"/>
          </a:xfrm>
        </p:grpSpPr>
        <p:cxnSp>
          <p:nvCxnSpPr>
            <p:cNvPr id="880" name="Google Shape;880;p72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72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2" name="Google Shape;882;p72"/>
          <p:cNvSpPr txBox="1"/>
          <p:nvPr>
            <p:ph idx="1" type="body"/>
          </p:nvPr>
        </p:nvSpPr>
        <p:spPr>
          <a:xfrm>
            <a:off x="5473250" y="425837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883" name="Google Shape;883;p72"/>
          <p:cNvSpPr txBox="1"/>
          <p:nvPr>
            <p:ph idx="1" type="body"/>
          </p:nvPr>
        </p:nvSpPr>
        <p:spPr>
          <a:xfrm>
            <a:off x="2101981" y="2761283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884" name="Google Shape;884;p72"/>
          <p:cNvSpPr/>
          <p:nvPr/>
        </p:nvSpPr>
        <p:spPr>
          <a:xfrm rot="2448775">
            <a:off x="3705993" y="712744"/>
            <a:ext cx="273106" cy="906103"/>
          </a:xfrm>
          <a:prstGeom prst="rect">
            <a:avLst/>
          </a:prstGeom>
          <a:solidFill>
            <a:srgbClr val="FFFFFF">
              <a:alpha val="69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 txBox="1"/>
          <p:nvPr>
            <p:ph idx="1" type="body"/>
          </p:nvPr>
        </p:nvSpPr>
        <p:spPr>
          <a:xfrm>
            <a:off x="324000" y="794700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point on each of the rays, can be joined to create a triangle. </a:t>
            </a:r>
            <a:endParaRPr sz="1800"/>
          </a:p>
        </p:txBody>
      </p:sp>
      <p:sp>
        <p:nvSpPr>
          <p:cNvPr id="886" name="Google Shape;886;p72"/>
          <p:cNvSpPr txBox="1"/>
          <p:nvPr>
            <p:ph idx="1" type="body"/>
          </p:nvPr>
        </p:nvSpPr>
        <p:spPr>
          <a:xfrm>
            <a:off x="324000" y="1160897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an </a:t>
            </a:r>
            <a:r>
              <a:rPr lang="en-GB" sz="1800"/>
              <a:t>infinite</a:t>
            </a:r>
            <a:r>
              <a:rPr lang="en-GB" sz="1800"/>
              <a:t> number of </a:t>
            </a:r>
            <a:r>
              <a:rPr lang="en-GB" sz="1800"/>
              <a:t>possible</a:t>
            </a:r>
            <a:r>
              <a:rPr lang="en-GB" sz="1800"/>
              <a:t> triangles.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1" name="Google Shape;891;p73"/>
          <p:cNvCxnSpPr/>
          <p:nvPr/>
        </p:nvCxnSpPr>
        <p:spPr>
          <a:xfrm>
            <a:off x="3079138" y="2069650"/>
            <a:ext cx="1293900" cy="214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73"/>
          <p:cNvCxnSpPr/>
          <p:nvPr/>
        </p:nvCxnSpPr>
        <p:spPr>
          <a:xfrm>
            <a:off x="3085150" y="2072725"/>
            <a:ext cx="3894000" cy="213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73"/>
          <p:cNvCxnSpPr/>
          <p:nvPr/>
        </p:nvCxnSpPr>
        <p:spPr>
          <a:xfrm>
            <a:off x="3079150" y="2078725"/>
            <a:ext cx="892500" cy="214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73"/>
          <p:cNvCxnSpPr/>
          <p:nvPr/>
        </p:nvCxnSpPr>
        <p:spPr>
          <a:xfrm rot="-2999947">
            <a:off x="-198150" y="1042301"/>
            <a:ext cx="8281742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73"/>
          <p:cNvCxnSpPr/>
          <p:nvPr/>
        </p:nvCxnSpPr>
        <p:spPr>
          <a:xfrm>
            <a:off x="1280964" y="4214350"/>
            <a:ext cx="82818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6" name="Google Shape;89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897" name="Google Shape;897;p73"/>
          <p:cNvSpPr txBox="1"/>
          <p:nvPr>
            <p:ph idx="1" type="body"/>
          </p:nvPr>
        </p:nvSpPr>
        <p:spPr>
          <a:xfrm>
            <a:off x="954025" y="4117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cxnSp>
        <p:nvCxnSpPr>
          <p:cNvPr id="898" name="Google Shape;898;p73"/>
          <p:cNvCxnSpPr/>
          <p:nvPr/>
        </p:nvCxnSpPr>
        <p:spPr>
          <a:xfrm flipH="1" rot="10800000">
            <a:off x="1280971" y="2072651"/>
            <a:ext cx="1798200" cy="214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73"/>
          <p:cNvSpPr/>
          <p:nvPr/>
        </p:nvSpPr>
        <p:spPr>
          <a:xfrm>
            <a:off x="664987" y="3602187"/>
            <a:ext cx="1227900" cy="1227900"/>
          </a:xfrm>
          <a:prstGeom prst="pie">
            <a:avLst>
              <a:gd fmla="val 18601739" name="adj1"/>
              <a:gd fmla="val 729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 txBox="1"/>
          <p:nvPr/>
        </p:nvSpPr>
        <p:spPr>
          <a:xfrm>
            <a:off x="1892875" y="373212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/>
          </a:p>
        </p:txBody>
      </p:sp>
      <p:grpSp>
        <p:nvGrpSpPr>
          <p:cNvPr id="901" name="Google Shape;901;p73"/>
          <p:cNvGrpSpPr/>
          <p:nvPr/>
        </p:nvGrpSpPr>
        <p:grpSpPr>
          <a:xfrm rot="2700000">
            <a:off x="3030441" y="2026355"/>
            <a:ext cx="86399" cy="86399"/>
            <a:chOff x="3207775" y="3158025"/>
            <a:chExt cx="86400" cy="86400"/>
          </a:xfrm>
        </p:grpSpPr>
        <p:cxnSp>
          <p:nvCxnSpPr>
            <p:cNvPr id="902" name="Google Shape;902;p73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73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4" name="Google Shape;904;p73"/>
          <p:cNvGrpSpPr/>
          <p:nvPr/>
        </p:nvGrpSpPr>
        <p:grpSpPr>
          <a:xfrm rot="2700000">
            <a:off x="4325915" y="4172054"/>
            <a:ext cx="86399" cy="86399"/>
            <a:chOff x="3207775" y="3158025"/>
            <a:chExt cx="86400" cy="86400"/>
          </a:xfrm>
        </p:grpSpPr>
        <p:cxnSp>
          <p:nvCxnSpPr>
            <p:cNvPr id="905" name="Google Shape;905;p73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73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7" name="Google Shape;907;p73"/>
          <p:cNvGrpSpPr/>
          <p:nvPr/>
        </p:nvGrpSpPr>
        <p:grpSpPr>
          <a:xfrm rot="2700000">
            <a:off x="1233941" y="4171111"/>
            <a:ext cx="86399" cy="86399"/>
            <a:chOff x="3207775" y="3158025"/>
            <a:chExt cx="86400" cy="86400"/>
          </a:xfrm>
        </p:grpSpPr>
        <p:cxnSp>
          <p:nvCxnSpPr>
            <p:cNvPr id="908" name="Google Shape;908;p73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73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0" name="Google Shape;910;p73"/>
          <p:cNvSpPr txBox="1"/>
          <p:nvPr>
            <p:ph idx="1" type="body"/>
          </p:nvPr>
        </p:nvSpPr>
        <p:spPr>
          <a:xfrm>
            <a:off x="4309842" y="4242367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11" name="Google Shape;911;p73"/>
          <p:cNvSpPr txBox="1"/>
          <p:nvPr>
            <p:ph idx="1" type="body"/>
          </p:nvPr>
        </p:nvSpPr>
        <p:spPr>
          <a:xfrm>
            <a:off x="2840050" y="1741100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grpSp>
        <p:nvGrpSpPr>
          <p:cNvPr id="912" name="Google Shape;912;p73"/>
          <p:cNvGrpSpPr/>
          <p:nvPr/>
        </p:nvGrpSpPr>
        <p:grpSpPr>
          <a:xfrm rot="2700000">
            <a:off x="3928519" y="4171126"/>
            <a:ext cx="86399" cy="86399"/>
            <a:chOff x="58641" y="4171979"/>
            <a:chExt cx="86400" cy="86400"/>
          </a:xfrm>
        </p:grpSpPr>
        <p:cxnSp>
          <p:nvCxnSpPr>
            <p:cNvPr id="913" name="Google Shape;913;p73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73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5" name="Google Shape;915;p73"/>
          <p:cNvSpPr txBox="1"/>
          <p:nvPr>
            <p:ph idx="1" type="body"/>
          </p:nvPr>
        </p:nvSpPr>
        <p:spPr>
          <a:xfrm>
            <a:off x="3928500" y="4257550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grpSp>
        <p:nvGrpSpPr>
          <p:cNvPr id="916" name="Google Shape;916;p73"/>
          <p:cNvGrpSpPr/>
          <p:nvPr/>
        </p:nvGrpSpPr>
        <p:grpSpPr>
          <a:xfrm rot="2700000">
            <a:off x="6921069" y="4171951"/>
            <a:ext cx="86399" cy="86399"/>
            <a:chOff x="58641" y="4171979"/>
            <a:chExt cx="86400" cy="86400"/>
          </a:xfrm>
        </p:grpSpPr>
        <p:cxnSp>
          <p:nvCxnSpPr>
            <p:cNvPr id="917" name="Google Shape;917;p73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73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9" name="Google Shape;919;p73"/>
          <p:cNvSpPr txBox="1"/>
          <p:nvPr>
            <p:ph idx="1" type="body"/>
          </p:nvPr>
        </p:nvSpPr>
        <p:spPr>
          <a:xfrm>
            <a:off x="6921050" y="425837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20" name="Google Shape;920;p73"/>
          <p:cNvSpPr txBox="1"/>
          <p:nvPr/>
        </p:nvSpPr>
        <p:spPr>
          <a:xfrm>
            <a:off x="1673875" y="2672975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/>
          </a:p>
        </p:txBody>
      </p:sp>
      <p:cxnSp>
        <p:nvCxnSpPr>
          <p:cNvPr id="921" name="Google Shape;921;p73"/>
          <p:cNvCxnSpPr/>
          <p:nvPr/>
        </p:nvCxnSpPr>
        <p:spPr>
          <a:xfrm flipH="1" rot="10800000">
            <a:off x="1193121" y="1988064"/>
            <a:ext cx="1798200" cy="214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22" name="Google Shape;922;p73"/>
          <p:cNvSpPr/>
          <p:nvPr/>
        </p:nvSpPr>
        <p:spPr>
          <a:xfrm rot="2448775">
            <a:off x="3621994" y="681482"/>
            <a:ext cx="273106" cy="1163037"/>
          </a:xfrm>
          <a:prstGeom prst="rect">
            <a:avLst/>
          </a:prstGeom>
          <a:solidFill>
            <a:srgbClr val="FFFFFF">
              <a:alpha val="69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3"/>
          <p:cNvSpPr txBox="1"/>
          <p:nvPr>
            <p:ph idx="1" type="body"/>
          </p:nvPr>
        </p:nvSpPr>
        <p:spPr>
          <a:xfrm>
            <a:off x="324000" y="794700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happens if we fix one of the lengths of the triangle? </a:t>
            </a:r>
            <a:br>
              <a:rPr lang="en-GB" sz="1800"/>
            </a:br>
            <a:r>
              <a:rPr lang="en-GB" sz="1800"/>
              <a:t>Let’s fix AC to be 7 cm. B can still go anywhere on the ray.</a:t>
            </a:r>
            <a:endParaRPr sz="1800"/>
          </a:p>
        </p:txBody>
      </p:sp>
      <p:sp>
        <p:nvSpPr>
          <p:cNvPr id="924" name="Google Shape;924;p73"/>
          <p:cNvSpPr txBox="1"/>
          <p:nvPr>
            <p:ph idx="1" type="body"/>
          </p:nvPr>
        </p:nvSpPr>
        <p:spPr>
          <a:xfrm>
            <a:off x="324000" y="1450175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still an infinite number of possible triangles.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9" name="Google Shape;929;p74"/>
          <p:cNvCxnSpPr/>
          <p:nvPr/>
        </p:nvCxnSpPr>
        <p:spPr>
          <a:xfrm>
            <a:off x="1280964" y="4214350"/>
            <a:ext cx="82818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74"/>
          <p:cNvCxnSpPr/>
          <p:nvPr/>
        </p:nvCxnSpPr>
        <p:spPr>
          <a:xfrm flipH="1" rot="-6180858">
            <a:off x="2312318" y="2977000"/>
            <a:ext cx="1440090" cy="138594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74"/>
          <p:cNvCxnSpPr/>
          <p:nvPr/>
        </p:nvCxnSpPr>
        <p:spPr>
          <a:xfrm rot="-2999947">
            <a:off x="-198150" y="1042301"/>
            <a:ext cx="8281742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933" name="Google Shape;933;p74"/>
          <p:cNvSpPr txBox="1"/>
          <p:nvPr/>
        </p:nvSpPr>
        <p:spPr>
          <a:xfrm>
            <a:off x="5377025" y="4320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Fixed opposite edge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4"/>
          <p:cNvSpPr txBox="1"/>
          <p:nvPr>
            <p:ph idx="1" type="body"/>
          </p:nvPr>
        </p:nvSpPr>
        <p:spPr>
          <a:xfrm>
            <a:off x="954025" y="4117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935" name="Google Shape;935;p74"/>
          <p:cNvSpPr/>
          <p:nvPr/>
        </p:nvSpPr>
        <p:spPr>
          <a:xfrm>
            <a:off x="664987" y="3602187"/>
            <a:ext cx="1227900" cy="1227900"/>
          </a:xfrm>
          <a:prstGeom prst="pie">
            <a:avLst>
              <a:gd fmla="val 18601739" name="adj1"/>
              <a:gd fmla="val 729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4"/>
          <p:cNvSpPr txBox="1"/>
          <p:nvPr/>
        </p:nvSpPr>
        <p:spPr>
          <a:xfrm>
            <a:off x="1892875" y="373212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/>
          </a:p>
        </p:txBody>
      </p:sp>
      <p:grpSp>
        <p:nvGrpSpPr>
          <p:cNvPr id="937" name="Google Shape;937;p74"/>
          <p:cNvGrpSpPr/>
          <p:nvPr/>
        </p:nvGrpSpPr>
        <p:grpSpPr>
          <a:xfrm rot="2700000">
            <a:off x="2148058" y="3085151"/>
            <a:ext cx="86399" cy="86399"/>
            <a:chOff x="3207775" y="3158025"/>
            <a:chExt cx="86400" cy="86400"/>
          </a:xfrm>
        </p:grpSpPr>
        <p:cxnSp>
          <p:nvCxnSpPr>
            <p:cNvPr id="938" name="Google Shape;938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9" name="Google Shape;939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0" name="Google Shape;940;p74"/>
          <p:cNvGrpSpPr/>
          <p:nvPr/>
        </p:nvGrpSpPr>
        <p:grpSpPr>
          <a:xfrm rot="2700000">
            <a:off x="1233941" y="4171111"/>
            <a:ext cx="86399" cy="86399"/>
            <a:chOff x="3207775" y="3158025"/>
            <a:chExt cx="86400" cy="86400"/>
          </a:xfrm>
        </p:grpSpPr>
        <p:cxnSp>
          <p:nvCxnSpPr>
            <p:cNvPr id="941" name="Google Shape;941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2" name="Google Shape;942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3" name="Google Shape;943;p74"/>
          <p:cNvSpPr txBox="1"/>
          <p:nvPr>
            <p:ph idx="1" type="body"/>
          </p:nvPr>
        </p:nvSpPr>
        <p:spPr>
          <a:xfrm>
            <a:off x="3326242" y="4253542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44" name="Google Shape;944;p74"/>
          <p:cNvSpPr txBox="1"/>
          <p:nvPr>
            <p:ph idx="1" type="body"/>
          </p:nvPr>
        </p:nvSpPr>
        <p:spPr>
          <a:xfrm>
            <a:off x="1987425" y="2893148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grpSp>
        <p:nvGrpSpPr>
          <p:cNvPr id="945" name="Google Shape;945;p74"/>
          <p:cNvGrpSpPr/>
          <p:nvPr/>
        </p:nvGrpSpPr>
        <p:grpSpPr>
          <a:xfrm rot="2700000">
            <a:off x="3812062" y="4171126"/>
            <a:ext cx="86399" cy="86399"/>
            <a:chOff x="58641" y="4171979"/>
            <a:chExt cx="86400" cy="86400"/>
          </a:xfrm>
        </p:grpSpPr>
        <p:cxnSp>
          <p:nvCxnSpPr>
            <p:cNvPr id="946" name="Google Shape;946;p74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7" name="Google Shape;947;p74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8" name="Google Shape;948;p74"/>
          <p:cNvSpPr txBox="1"/>
          <p:nvPr>
            <p:ph idx="1" type="body"/>
          </p:nvPr>
        </p:nvSpPr>
        <p:spPr>
          <a:xfrm>
            <a:off x="3852300" y="4230592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49" name="Google Shape;949;p74"/>
          <p:cNvSpPr txBox="1"/>
          <p:nvPr>
            <p:ph idx="1" type="body"/>
          </p:nvPr>
        </p:nvSpPr>
        <p:spPr>
          <a:xfrm>
            <a:off x="2017000" y="4253550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cxnSp>
        <p:nvCxnSpPr>
          <p:cNvPr id="950" name="Google Shape;950;p74"/>
          <p:cNvCxnSpPr/>
          <p:nvPr/>
        </p:nvCxnSpPr>
        <p:spPr>
          <a:xfrm flipH="1" rot="-6180858">
            <a:off x="2389305" y="2891700"/>
            <a:ext cx="1440090" cy="138594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1" name="Google Shape;951;p74"/>
          <p:cNvSpPr txBox="1"/>
          <p:nvPr/>
        </p:nvSpPr>
        <p:spPr>
          <a:xfrm>
            <a:off x="2998200" y="3240000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/>
          </a:p>
        </p:txBody>
      </p:sp>
      <p:cxnSp>
        <p:nvCxnSpPr>
          <p:cNvPr id="952" name="Google Shape;952;p74"/>
          <p:cNvCxnSpPr/>
          <p:nvPr/>
        </p:nvCxnSpPr>
        <p:spPr>
          <a:xfrm flipH="1" rot="7199614">
            <a:off x="2446353" y="2547091"/>
            <a:ext cx="1440280" cy="138584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74"/>
          <p:cNvSpPr txBox="1"/>
          <p:nvPr>
            <p:ph idx="1" type="body"/>
          </p:nvPr>
        </p:nvSpPr>
        <p:spPr>
          <a:xfrm>
            <a:off x="2724450" y="197898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954" name="Google Shape;954;p74"/>
          <p:cNvSpPr txBox="1"/>
          <p:nvPr/>
        </p:nvSpPr>
        <p:spPr>
          <a:xfrm>
            <a:off x="3326250" y="290291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cxnSp>
        <p:nvCxnSpPr>
          <p:cNvPr id="955" name="Google Shape;955;p74"/>
          <p:cNvCxnSpPr/>
          <p:nvPr/>
        </p:nvCxnSpPr>
        <p:spPr>
          <a:xfrm flipH="1" rot="7199614">
            <a:off x="2548041" y="2512191"/>
            <a:ext cx="1440280" cy="138584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56" name="Google Shape;956;p74"/>
          <p:cNvGrpSpPr/>
          <p:nvPr/>
        </p:nvGrpSpPr>
        <p:grpSpPr>
          <a:xfrm rot="2700000">
            <a:off x="2877634" y="2222269"/>
            <a:ext cx="86399" cy="86399"/>
            <a:chOff x="3207775" y="3158025"/>
            <a:chExt cx="86400" cy="86400"/>
          </a:xfrm>
        </p:grpSpPr>
        <p:cxnSp>
          <p:nvCxnSpPr>
            <p:cNvPr id="957" name="Google Shape;957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8" name="Google Shape;958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59" name="Google Shape;959;p74"/>
          <p:cNvGrpSpPr/>
          <p:nvPr/>
        </p:nvGrpSpPr>
        <p:grpSpPr>
          <a:xfrm rot="2700000">
            <a:off x="3357208" y="4170513"/>
            <a:ext cx="86399" cy="86399"/>
            <a:chOff x="3207775" y="3158025"/>
            <a:chExt cx="86400" cy="86400"/>
          </a:xfrm>
        </p:grpSpPr>
        <p:cxnSp>
          <p:nvCxnSpPr>
            <p:cNvPr id="960" name="Google Shape;960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1" name="Google Shape;961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62" name="Google Shape;962;p74"/>
          <p:cNvCxnSpPr/>
          <p:nvPr/>
        </p:nvCxnSpPr>
        <p:spPr>
          <a:xfrm flipH="1" rot="9300587">
            <a:off x="1767406" y="2588259"/>
            <a:ext cx="1440125" cy="138575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74"/>
          <p:cNvCxnSpPr/>
          <p:nvPr/>
        </p:nvCxnSpPr>
        <p:spPr>
          <a:xfrm flipH="1" rot="9300587">
            <a:off x="1879557" y="2579891"/>
            <a:ext cx="1440125" cy="1385753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4" name="Google Shape;964;p74"/>
          <p:cNvSpPr txBox="1"/>
          <p:nvPr/>
        </p:nvSpPr>
        <p:spPr>
          <a:xfrm>
            <a:off x="2571400" y="332496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/>
          </a:p>
        </p:txBody>
      </p:sp>
      <p:grpSp>
        <p:nvGrpSpPr>
          <p:cNvPr id="965" name="Google Shape;965;p74"/>
          <p:cNvGrpSpPr/>
          <p:nvPr/>
        </p:nvGrpSpPr>
        <p:grpSpPr>
          <a:xfrm rot="2700000">
            <a:off x="2086991" y="4171936"/>
            <a:ext cx="86399" cy="86399"/>
            <a:chOff x="3207775" y="3158025"/>
            <a:chExt cx="86400" cy="86400"/>
          </a:xfrm>
        </p:grpSpPr>
        <p:cxnSp>
          <p:nvCxnSpPr>
            <p:cNvPr id="966" name="Google Shape;966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7" name="Google Shape;967;p74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8" name="Google Shape;968;p74"/>
          <p:cNvSpPr txBox="1"/>
          <p:nvPr>
            <p:ph idx="1" type="body"/>
          </p:nvPr>
        </p:nvSpPr>
        <p:spPr>
          <a:xfrm>
            <a:off x="2571900" y="2105650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grpSp>
        <p:nvGrpSpPr>
          <p:cNvPr id="969" name="Google Shape;969;p74"/>
          <p:cNvGrpSpPr/>
          <p:nvPr/>
        </p:nvGrpSpPr>
        <p:grpSpPr>
          <a:xfrm rot="2700000">
            <a:off x="2800819" y="2295314"/>
            <a:ext cx="86399" cy="86399"/>
            <a:chOff x="58641" y="4171979"/>
            <a:chExt cx="86400" cy="86400"/>
          </a:xfrm>
        </p:grpSpPr>
        <p:cxnSp>
          <p:nvCxnSpPr>
            <p:cNvPr id="970" name="Google Shape;970;p74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1" name="Google Shape;971;p74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72" name="Google Shape;972;p74"/>
          <p:cNvSpPr/>
          <p:nvPr/>
        </p:nvSpPr>
        <p:spPr>
          <a:xfrm rot="2448775">
            <a:off x="3602495" y="674244"/>
            <a:ext cx="273106" cy="1222813"/>
          </a:xfrm>
          <a:prstGeom prst="rect">
            <a:avLst/>
          </a:prstGeom>
          <a:solidFill>
            <a:srgbClr val="FFFFFF">
              <a:alpha val="69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4"/>
          <p:cNvSpPr txBox="1"/>
          <p:nvPr>
            <p:ph idx="1" type="body"/>
          </p:nvPr>
        </p:nvSpPr>
        <p:spPr>
          <a:xfrm>
            <a:off x="324000" y="794700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happens if we fix one of the lengths of the triangle? </a:t>
            </a:r>
            <a:br>
              <a:rPr lang="en-GB" sz="1800"/>
            </a:br>
            <a:r>
              <a:rPr lang="en-GB" sz="1800"/>
              <a:t>This time BC is set to be 5 cm.</a:t>
            </a:r>
            <a:endParaRPr sz="1800"/>
          </a:p>
        </p:txBody>
      </p:sp>
      <p:sp>
        <p:nvSpPr>
          <p:cNvPr id="974" name="Google Shape;974;p74"/>
          <p:cNvSpPr txBox="1"/>
          <p:nvPr>
            <p:ph idx="1" type="body"/>
          </p:nvPr>
        </p:nvSpPr>
        <p:spPr>
          <a:xfrm>
            <a:off x="324000" y="1450175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still leads to an infinite amount of possible triangles.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9" name="Google Shape;979;p75"/>
          <p:cNvCxnSpPr/>
          <p:nvPr/>
        </p:nvCxnSpPr>
        <p:spPr>
          <a:xfrm flipH="1" rot="10800000">
            <a:off x="1280971" y="1382651"/>
            <a:ext cx="2361900" cy="28317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5"/>
          <p:cNvCxnSpPr/>
          <p:nvPr/>
        </p:nvCxnSpPr>
        <p:spPr>
          <a:xfrm>
            <a:off x="1280850" y="4214392"/>
            <a:ext cx="247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982" name="Google Shape;982;p75"/>
          <p:cNvSpPr txBox="1"/>
          <p:nvPr>
            <p:ph idx="1" type="body"/>
          </p:nvPr>
        </p:nvSpPr>
        <p:spPr>
          <a:xfrm>
            <a:off x="324000" y="794700"/>
            <a:ext cx="8228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know that if we fix the </a:t>
            </a:r>
            <a:r>
              <a:rPr lang="en-GB" sz="1800"/>
              <a:t>two lengths, that are the legs of the angle, then we can only construct one triangle.</a:t>
            </a:r>
            <a:endParaRPr sz="1800"/>
          </a:p>
        </p:txBody>
      </p:sp>
      <p:sp>
        <p:nvSpPr>
          <p:cNvPr id="983" name="Google Shape;983;p75"/>
          <p:cNvSpPr txBox="1"/>
          <p:nvPr>
            <p:ph idx="1" type="body"/>
          </p:nvPr>
        </p:nvSpPr>
        <p:spPr>
          <a:xfrm>
            <a:off x="954025" y="4117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984" name="Google Shape;984;p75"/>
          <p:cNvSpPr txBox="1"/>
          <p:nvPr/>
        </p:nvSpPr>
        <p:spPr>
          <a:xfrm>
            <a:off x="1892875" y="373212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/>
          </a:p>
        </p:txBody>
      </p:sp>
      <p:sp>
        <p:nvSpPr>
          <p:cNvPr id="985" name="Google Shape;985;p75"/>
          <p:cNvSpPr txBox="1"/>
          <p:nvPr>
            <p:ph idx="1" type="body"/>
          </p:nvPr>
        </p:nvSpPr>
        <p:spPr>
          <a:xfrm>
            <a:off x="3763350" y="4214392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986" name="Google Shape;986;p75"/>
          <p:cNvSpPr/>
          <p:nvPr/>
        </p:nvSpPr>
        <p:spPr>
          <a:xfrm>
            <a:off x="664987" y="3602187"/>
            <a:ext cx="1227900" cy="1227900"/>
          </a:xfrm>
          <a:prstGeom prst="pie">
            <a:avLst>
              <a:gd fmla="val 18601739" name="adj1"/>
              <a:gd fmla="val 729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7" name="Google Shape;987;p75"/>
          <p:cNvCxnSpPr/>
          <p:nvPr/>
        </p:nvCxnSpPr>
        <p:spPr>
          <a:xfrm flipH="1" rot="10800000">
            <a:off x="1280971" y="2072651"/>
            <a:ext cx="1798200" cy="214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75"/>
          <p:cNvSpPr txBox="1"/>
          <p:nvPr>
            <p:ph idx="1" type="body"/>
          </p:nvPr>
        </p:nvSpPr>
        <p:spPr>
          <a:xfrm>
            <a:off x="2954100" y="1676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989" name="Google Shape;989;p75"/>
          <p:cNvSpPr txBox="1"/>
          <p:nvPr/>
        </p:nvSpPr>
        <p:spPr>
          <a:xfrm>
            <a:off x="1673875" y="2672975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/>
          </a:p>
        </p:txBody>
      </p:sp>
      <p:cxnSp>
        <p:nvCxnSpPr>
          <p:cNvPr id="990" name="Google Shape;990;p75"/>
          <p:cNvCxnSpPr/>
          <p:nvPr/>
        </p:nvCxnSpPr>
        <p:spPr>
          <a:xfrm flipH="1" rot="10800000">
            <a:off x="1193121" y="1988064"/>
            <a:ext cx="1798200" cy="214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1" name="Google Shape;991;p75"/>
          <p:cNvCxnSpPr/>
          <p:nvPr/>
        </p:nvCxnSpPr>
        <p:spPr>
          <a:xfrm>
            <a:off x="1280850" y="4335534"/>
            <a:ext cx="2478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2" name="Google Shape;992;p75"/>
          <p:cNvSpPr txBox="1"/>
          <p:nvPr/>
        </p:nvSpPr>
        <p:spPr>
          <a:xfrm>
            <a:off x="2182476" y="4359141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cxnSp>
        <p:nvCxnSpPr>
          <p:cNvPr id="993" name="Google Shape;993;p75"/>
          <p:cNvCxnSpPr/>
          <p:nvPr/>
        </p:nvCxnSpPr>
        <p:spPr>
          <a:xfrm rot="10800000">
            <a:off x="3077250" y="2089125"/>
            <a:ext cx="686100" cy="211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75"/>
          <p:cNvCxnSpPr/>
          <p:nvPr/>
        </p:nvCxnSpPr>
        <p:spPr>
          <a:xfrm>
            <a:off x="1280964" y="4214350"/>
            <a:ext cx="78735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75"/>
          <p:cNvCxnSpPr/>
          <p:nvPr/>
        </p:nvCxnSpPr>
        <p:spPr>
          <a:xfrm rot="10800000">
            <a:off x="3182109" y="2042417"/>
            <a:ext cx="686100" cy="211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6" name="Google Shape;996;p75"/>
          <p:cNvSpPr txBox="1"/>
          <p:nvPr/>
        </p:nvSpPr>
        <p:spPr>
          <a:xfrm>
            <a:off x="3578875" y="2901575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997" name="Google Shape;997;p75"/>
          <p:cNvSpPr txBox="1"/>
          <p:nvPr/>
        </p:nvSpPr>
        <p:spPr>
          <a:xfrm>
            <a:off x="6079225" y="43591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Two fixed edges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8" name="Google Shape;998;p75"/>
          <p:cNvGrpSpPr/>
          <p:nvPr/>
        </p:nvGrpSpPr>
        <p:grpSpPr>
          <a:xfrm rot="2700000">
            <a:off x="1233941" y="4171111"/>
            <a:ext cx="86399" cy="86399"/>
            <a:chOff x="3207775" y="3158025"/>
            <a:chExt cx="86400" cy="86400"/>
          </a:xfrm>
        </p:grpSpPr>
        <p:cxnSp>
          <p:nvCxnSpPr>
            <p:cNvPr id="999" name="Google Shape;999;p75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75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1" name="Google Shape;1001;p75"/>
          <p:cNvGrpSpPr/>
          <p:nvPr/>
        </p:nvGrpSpPr>
        <p:grpSpPr>
          <a:xfrm rot="2700000">
            <a:off x="3030441" y="2026355"/>
            <a:ext cx="86399" cy="86399"/>
            <a:chOff x="3207775" y="3158025"/>
            <a:chExt cx="86400" cy="86400"/>
          </a:xfrm>
        </p:grpSpPr>
        <p:cxnSp>
          <p:nvCxnSpPr>
            <p:cNvPr id="1002" name="Google Shape;1002;p75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" name="Google Shape;1003;p75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4" name="Google Shape;1004;p75"/>
          <p:cNvGrpSpPr/>
          <p:nvPr/>
        </p:nvGrpSpPr>
        <p:grpSpPr>
          <a:xfrm rot="2700000">
            <a:off x="3723120" y="4171126"/>
            <a:ext cx="86399" cy="86399"/>
            <a:chOff x="58641" y="4171979"/>
            <a:chExt cx="86400" cy="86400"/>
          </a:xfrm>
        </p:grpSpPr>
        <p:cxnSp>
          <p:nvCxnSpPr>
            <p:cNvPr id="1005" name="Google Shape;1005;p75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75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6"/>
          <p:cNvSpPr txBox="1"/>
          <p:nvPr>
            <p:ph idx="4294967295" type="body"/>
          </p:nvPr>
        </p:nvSpPr>
        <p:spPr>
          <a:xfrm>
            <a:off x="324000" y="669457"/>
            <a:ext cx="8237700" cy="4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constructing, which of these conditions will always lead to one fixed triangle?</a:t>
            </a:r>
            <a:br>
              <a:rPr lang="en-GB"/>
            </a:br>
            <a:endParaRPr/>
          </a:p>
        </p:txBody>
      </p:sp>
      <p:sp>
        <p:nvSpPr>
          <p:cNvPr id="1012" name="Google Shape;1012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013" name="Google Shape;1013;p76"/>
          <p:cNvSpPr/>
          <p:nvPr/>
        </p:nvSpPr>
        <p:spPr>
          <a:xfrm rot="-5872130">
            <a:off x="398641" y="2877635"/>
            <a:ext cx="567544" cy="567544"/>
          </a:xfrm>
          <a:prstGeom prst="pie">
            <a:avLst>
              <a:gd fmla="val 1684603" name="adj1"/>
              <a:gd fmla="val 6245284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4" name="Google Shape;1014;p76"/>
          <p:cNvCxnSpPr/>
          <p:nvPr/>
        </p:nvCxnSpPr>
        <p:spPr>
          <a:xfrm>
            <a:off x="3848841" y="2346243"/>
            <a:ext cx="1968300" cy="90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5" name="Google Shape;1015;p76"/>
          <p:cNvCxnSpPr/>
          <p:nvPr/>
        </p:nvCxnSpPr>
        <p:spPr>
          <a:xfrm flipH="1">
            <a:off x="3396233" y="2425250"/>
            <a:ext cx="287400" cy="71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6" name="Google Shape;1016;p76"/>
          <p:cNvSpPr/>
          <p:nvPr/>
        </p:nvSpPr>
        <p:spPr>
          <a:xfrm>
            <a:off x="3532100" y="2201416"/>
            <a:ext cx="567600" cy="567600"/>
          </a:xfrm>
          <a:prstGeom prst="pie">
            <a:avLst>
              <a:gd fmla="val 1458355" name="adj1"/>
              <a:gd fmla="val 6769339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6"/>
          <p:cNvSpPr/>
          <p:nvPr/>
        </p:nvSpPr>
        <p:spPr>
          <a:xfrm>
            <a:off x="6389600" y="2468350"/>
            <a:ext cx="2212604" cy="882593"/>
          </a:xfrm>
          <a:custGeom>
            <a:rect b="b" l="l" r="r" t="t"/>
            <a:pathLst>
              <a:path extrusionOk="0" h="41378" w="103732">
                <a:moveTo>
                  <a:pt x="12643" y="0"/>
                </a:moveTo>
                <a:lnTo>
                  <a:pt x="0" y="32757"/>
                </a:lnTo>
                <a:lnTo>
                  <a:pt x="103732" y="4137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18" name="Google Shape;1018;p76"/>
          <p:cNvCxnSpPr/>
          <p:nvPr/>
        </p:nvCxnSpPr>
        <p:spPr>
          <a:xfrm>
            <a:off x="6706341" y="2346243"/>
            <a:ext cx="1968300" cy="90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9" name="Google Shape;1019;p76"/>
          <p:cNvCxnSpPr/>
          <p:nvPr/>
        </p:nvCxnSpPr>
        <p:spPr>
          <a:xfrm flipH="1">
            <a:off x="6253733" y="2425250"/>
            <a:ext cx="287400" cy="71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0" name="Google Shape;1020;p76"/>
          <p:cNvCxnSpPr/>
          <p:nvPr/>
        </p:nvCxnSpPr>
        <p:spPr>
          <a:xfrm>
            <a:off x="6389591" y="3287262"/>
            <a:ext cx="222750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1" name="Google Shape;1021;p76"/>
          <p:cNvSpPr/>
          <p:nvPr/>
        </p:nvSpPr>
        <p:spPr>
          <a:xfrm>
            <a:off x="674600" y="2468350"/>
            <a:ext cx="2212604" cy="882593"/>
          </a:xfrm>
          <a:custGeom>
            <a:rect b="b" l="l" r="r" t="t"/>
            <a:pathLst>
              <a:path extrusionOk="0" h="41378" w="103732">
                <a:moveTo>
                  <a:pt x="12643" y="0"/>
                </a:moveTo>
                <a:lnTo>
                  <a:pt x="0" y="32757"/>
                </a:lnTo>
                <a:lnTo>
                  <a:pt x="103732" y="4137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2" name="Google Shape;1022;p76"/>
          <p:cNvSpPr/>
          <p:nvPr/>
        </p:nvSpPr>
        <p:spPr>
          <a:xfrm>
            <a:off x="3532100" y="2468350"/>
            <a:ext cx="2212604" cy="882593"/>
          </a:xfrm>
          <a:custGeom>
            <a:rect b="b" l="l" r="r" t="t"/>
            <a:pathLst>
              <a:path extrusionOk="0" h="41378" w="103732">
                <a:moveTo>
                  <a:pt x="12643" y="0"/>
                </a:moveTo>
                <a:lnTo>
                  <a:pt x="0" y="32757"/>
                </a:lnTo>
                <a:lnTo>
                  <a:pt x="103732" y="4137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23" name="Google Shape;1023;p76"/>
          <p:cNvSpPr txBox="1"/>
          <p:nvPr/>
        </p:nvSpPr>
        <p:spPr>
          <a:xfrm>
            <a:off x="1461000" y="3428175"/>
            <a:ext cx="4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4" name="Google Shape;1024;p76"/>
          <p:cNvCxnSpPr/>
          <p:nvPr/>
        </p:nvCxnSpPr>
        <p:spPr>
          <a:xfrm>
            <a:off x="659691" y="3287262"/>
            <a:ext cx="222750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5" name="Google Shape;1025;p76"/>
          <p:cNvSpPr txBox="1"/>
          <p:nvPr/>
        </p:nvSpPr>
        <p:spPr>
          <a:xfrm>
            <a:off x="3084500" y="2561400"/>
            <a:ext cx="4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6"/>
          <p:cNvSpPr txBox="1"/>
          <p:nvPr/>
        </p:nvSpPr>
        <p:spPr>
          <a:xfrm>
            <a:off x="4669123" y="2433150"/>
            <a:ext cx="77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6"/>
          <p:cNvSpPr txBox="1"/>
          <p:nvPr/>
        </p:nvSpPr>
        <p:spPr>
          <a:xfrm>
            <a:off x="5941988" y="2571750"/>
            <a:ext cx="4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6"/>
          <p:cNvSpPr txBox="1"/>
          <p:nvPr/>
        </p:nvSpPr>
        <p:spPr>
          <a:xfrm flipH="1">
            <a:off x="7151738" y="3428175"/>
            <a:ext cx="9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6"/>
          <p:cNvSpPr txBox="1"/>
          <p:nvPr/>
        </p:nvSpPr>
        <p:spPr>
          <a:xfrm flipH="1">
            <a:off x="7532738" y="2433150"/>
            <a:ext cx="9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8.6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6"/>
          <p:cNvSpPr txBox="1"/>
          <p:nvPr/>
        </p:nvSpPr>
        <p:spPr>
          <a:xfrm>
            <a:off x="3846500" y="2751900"/>
            <a:ext cx="4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88°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6"/>
          <p:cNvSpPr txBox="1"/>
          <p:nvPr/>
        </p:nvSpPr>
        <p:spPr>
          <a:xfrm>
            <a:off x="941375" y="2819550"/>
            <a:ext cx="44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4433" y="378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833" y="3782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7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486300" y="1747050"/>
            <a:ext cx="3474652" cy="289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040" name="Google Shape;1040;p77"/>
          <p:cNvSpPr txBox="1"/>
          <p:nvPr>
            <p:ph idx="1" type="body"/>
          </p:nvPr>
        </p:nvSpPr>
        <p:spPr>
          <a:xfrm>
            <a:off x="324000" y="794700"/>
            <a:ext cx="82284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triangles can be proved to be congruent if the corresponding edges are the same. We say they are </a:t>
            </a:r>
            <a:r>
              <a:rPr lang="en-GB" sz="1800"/>
              <a:t>congruent by SSS (side-side-side).</a:t>
            </a:r>
            <a:endParaRPr sz="1800"/>
          </a:p>
        </p:txBody>
      </p:sp>
      <p:sp>
        <p:nvSpPr>
          <p:cNvPr id="1041" name="Google Shape;1041;p77"/>
          <p:cNvSpPr txBox="1"/>
          <p:nvPr>
            <p:ph idx="1" type="body"/>
          </p:nvPr>
        </p:nvSpPr>
        <p:spPr>
          <a:xfrm>
            <a:off x="954025" y="41176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042" name="Google Shape;1042;p77"/>
          <p:cNvSpPr txBox="1"/>
          <p:nvPr/>
        </p:nvSpPr>
        <p:spPr>
          <a:xfrm>
            <a:off x="1892875" y="373212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/>
          </a:p>
        </p:txBody>
      </p:sp>
      <p:sp>
        <p:nvSpPr>
          <p:cNvPr id="1043" name="Google Shape;1043;p77"/>
          <p:cNvSpPr txBox="1"/>
          <p:nvPr>
            <p:ph idx="1" type="body"/>
          </p:nvPr>
        </p:nvSpPr>
        <p:spPr>
          <a:xfrm>
            <a:off x="3763350" y="4214392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044" name="Google Shape;1044;p77"/>
          <p:cNvSpPr/>
          <p:nvPr/>
        </p:nvSpPr>
        <p:spPr>
          <a:xfrm>
            <a:off x="664987" y="3602187"/>
            <a:ext cx="1227900" cy="1227900"/>
          </a:xfrm>
          <a:prstGeom prst="pie">
            <a:avLst>
              <a:gd fmla="val 18601739" name="adj1"/>
              <a:gd fmla="val 7293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5" name="Google Shape;1045;p77"/>
          <p:cNvCxnSpPr/>
          <p:nvPr/>
        </p:nvCxnSpPr>
        <p:spPr>
          <a:xfrm flipH="1" rot="10800000">
            <a:off x="1280971" y="2072651"/>
            <a:ext cx="1798200" cy="214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77"/>
          <p:cNvSpPr txBox="1"/>
          <p:nvPr>
            <p:ph idx="1" type="body"/>
          </p:nvPr>
        </p:nvSpPr>
        <p:spPr>
          <a:xfrm>
            <a:off x="3030300" y="1752825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047" name="Google Shape;1047;p77"/>
          <p:cNvSpPr txBox="1"/>
          <p:nvPr/>
        </p:nvSpPr>
        <p:spPr>
          <a:xfrm>
            <a:off x="1673875" y="2672975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/>
          </a:p>
        </p:txBody>
      </p:sp>
      <p:cxnSp>
        <p:nvCxnSpPr>
          <p:cNvPr id="1048" name="Google Shape;1048;p77"/>
          <p:cNvCxnSpPr/>
          <p:nvPr/>
        </p:nvCxnSpPr>
        <p:spPr>
          <a:xfrm flipH="1" rot="10800000">
            <a:off x="1193121" y="1988064"/>
            <a:ext cx="1798200" cy="214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9" name="Google Shape;1049;p77"/>
          <p:cNvCxnSpPr/>
          <p:nvPr/>
        </p:nvCxnSpPr>
        <p:spPr>
          <a:xfrm>
            <a:off x="1280850" y="4335534"/>
            <a:ext cx="2478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0" name="Google Shape;1050;p77"/>
          <p:cNvSpPr txBox="1"/>
          <p:nvPr/>
        </p:nvSpPr>
        <p:spPr>
          <a:xfrm>
            <a:off x="2182476" y="4359141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6.2 cm</a:t>
            </a:r>
            <a:endParaRPr/>
          </a:p>
        </p:txBody>
      </p:sp>
      <p:cxnSp>
        <p:nvCxnSpPr>
          <p:cNvPr id="1051" name="Google Shape;1051;p77"/>
          <p:cNvCxnSpPr/>
          <p:nvPr/>
        </p:nvCxnSpPr>
        <p:spPr>
          <a:xfrm rot="10800000">
            <a:off x="3077250" y="2089125"/>
            <a:ext cx="686100" cy="211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2" name="Google Shape;1052;p77"/>
          <p:cNvGrpSpPr/>
          <p:nvPr/>
        </p:nvGrpSpPr>
        <p:grpSpPr>
          <a:xfrm rot="2700000">
            <a:off x="3030441" y="2026355"/>
            <a:ext cx="86399" cy="86399"/>
            <a:chOff x="3207775" y="3158025"/>
            <a:chExt cx="86400" cy="86400"/>
          </a:xfrm>
        </p:grpSpPr>
        <p:cxnSp>
          <p:nvCxnSpPr>
            <p:cNvPr id="1053" name="Google Shape;1053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4" name="Google Shape;1054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55" name="Google Shape;1055;p77"/>
          <p:cNvCxnSpPr/>
          <p:nvPr/>
        </p:nvCxnSpPr>
        <p:spPr>
          <a:xfrm rot="10800000">
            <a:off x="3182109" y="2042417"/>
            <a:ext cx="686100" cy="211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6" name="Google Shape;1056;p77"/>
          <p:cNvSpPr txBox="1"/>
          <p:nvPr/>
        </p:nvSpPr>
        <p:spPr>
          <a:xfrm>
            <a:off x="3578875" y="2901575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5.6 cm</a:t>
            </a:r>
            <a:endParaRPr/>
          </a:p>
        </p:txBody>
      </p:sp>
      <p:sp>
        <p:nvSpPr>
          <p:cNvPr id="1057" name="Google Shape;1057;p77"/>
          <p:cNvSpPr txBox="1"/>
          <p:nvPr>
            <p:ph idx="1" type="body"/>
          </p:nvPr>
        </p:nvSpPr>
        <p:spPr>
          <a:xfrm>
            <a:off x="324000" y="1476825"/>
            <a:ext cx="82284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/>
              <a:t>angle opposite is therefore fixed too. </a:t>
            </a:r>
            <a:endParaRPr sz="1800"/>
          </a:p>
        </p:txBody>
      </p:sp>
      <p:cxnSp>
        <p:nvCxnSpPr>
          <p:cNvPr id="1058" name="Google Shape;1058;p77"/>
          <p:cNvCxnSpPr/>
          <p:nvPr/>
        </p:nvCxnSpPr>
        <p:spPr>
          <a:xfrm>
            <a:off x="1280850" y="4214392"/>
            <a:ext cx="2478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9" name="Google Shape;1059;p77"/>
          <p:cNvGrpSpPr/>
          <p:nvPr/>
        </p:nvGrpSpPr>
        <p:grpSpPr>
          <a:xfrm rot="2700000">
            <a:off x="3723120" y="4171126"/>
            <a:ext cx="86399" cy="86399"/>
            <a:chOff x="58641" y="4171979"/>
            <a:chExt cx="86400" cy="86400"/>
          </a:xfrm>
        </p:grpSpPr>
        <p:cxnSp>
          <p:nvCxnSpPr>
            <p:cNvPr id="1060" name="Google Shape;1060;p77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77"/>
            <p:cNvCxnSpPr/>
            <p:nvPr/>
          </p:nvCxnSpPr>
          <p:spPr>
            <a:xfrm>
              <a:off x="101841" y="4171979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62" name="Google Shape;1062;p77"/>
          <p:cNvGrpSpPr/>
          <p:nvPr/>
        </p:nvGrpSpPr>
        <p:grpSpPr>
          <a:xfrm rot="2700000">
            <a:off x="1233941" y="4171111"/>
            <a:ext cx="86399" cy="86399"/>
            <a:chOff x="3207775" y="3158025"/>
            <a:chExt cx="86400" cy="86400"/>
          </a:xfrm>
        </p:grpSpPr>
        <p:cxnSp>
          <p:nvCxnSpPr>
            <p:cNvPr id="1063" name="Google Shape;1063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77"/>
            <p:cNvCxnSpPr/>
            <p:nvPr/>
          </p:nvCxnSpPr>
          <p:spPr>
            <a:xfrm>
              <a:off x="3250975" y="3158025"/>
              <a:ext cx="0" cy="86400"/>
            </a:xfrm>
            <a:prstGeom prst="straightConnector1">
              <a:avLst/>
            </a:prstGeom>
            <a:noFill/>
            <a:ln cap="flat" cmpd="sng" w="28575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65" name="Google Shape;106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25237" y="373213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77"/>
          <p:cNvSpPr txBox="1"/>
          <p:nvPr>
            <p:ph idx="1" type="body"/>
          </p:nvPr>
        </p:nvSpPr>
        <p:spPr>
          <a:xfrm>
            <a:off x="4626573" y="1893648"/>
            <a:ext cx="29775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we know two edges and the angle between them there is only one possible triangle that can be made.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All triangles with the same SAS will be congruent.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072" name="Google Shape;1072;p78"/>
          <p:cNvSpPr txBox="1"/>
          <p:nvPr>
            <p:ph idx="1" type="body"/>
          </p:nvPr>
        </p:nvSpPr>
        <p:spPr>
          <a:xfrm>
            <a:off x="324000" y="794700"/>
            <a:ext cx="82284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that two triangles can be proved to be congruent by SAS (side-angle-side) as well.</a:t>
            </a:r>
            <a:endParaRPr sz="1800"/>
          </a:p>
        </p:txBody>
      </p:sp>
      <p:sp>
        <p:nvSpPr>
          <p:cNvPr id="1073" name="Google Shape;1073;p78"/>
          <p:cNvSpPr/>
          <p:nvPr/>
        </p:nvSpPr>
        <p:spPr>
          <a:xfrm>
            <a:off x="1387700" y="1953325"/>
            <a:ext cx="2451075" cy="1380150"/>
          </a:xfrm>
          <a:custGeom>
            <a:rect b="b" l="l" r="r" t="t"/>
            <a:pathLst>
              <a:path extrusionOk="0" h="55206" w="98043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74" name="Google Shape;1074;p78"/>
          <p:cNvSpPr/>
          <p:nvPr/>
        </p:nvSpPr>
        <p:spPr>
          <a:xfrm flipH="1">
            <a:off x="5031263" y="1917175"/>
            <a:ext cx="2451075" cy="1380150"/>
          </a:xfrm>
          <a:custGeom>
            <a:rect b="b" l="l" r="r" t="t"/>
            <a:pathLst>
              <a:path extrusionOk="0" h="55206" w="98043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75" name="Google Shape;1075;p78"/>
          <p:cNvCxnSpPr/>
          <p:nvPr/>
        </p:nvCxnSpPr>
        <p:spPr>
          <a:xfrm flipH="1">
            <a:off x="1280642" y="1907284"/>
            <a:ext cx="558000" cy="88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6" name="Google Shape;1076;p78"/>
          <p:cNvCxnSpPr/>
          <p:nvPr/>
        </p:nvCxnSpPr>
        <p:spPr>
          <a:xfrm>
            <a:off x="2021991" y="1869575"/>
            <a:ext cx="1878000" cy="136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7" name="Google Shape;1077;p78"/>
          <p:cNvCxnSpPr/>
          <p:nvPr/>
        </p:nvCxnSpPr>
        <p:spPr>
          <a:xfrm>
            <a:off x="7016021" y="1861251"/>
            <a:ext cx="558000" cy="88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8" name="Google Shape;1078;p78"/>
          <p:cNvCxnSpPr/>
          <p:nvPr/>
        </p:nvCxnSpPr>
        <p:spPr>
          <a:xfrm flipH="1">
            <a:off x="4954671" y="1823542"/>
            <a:ext cx="1878000" cy="136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9" name="Google Shape;1079;p78"/>
          <p:cNvSpPr/>
          <p:nvPr/>
        </p:nvSpPr>
        <p:spPr>
          <a:xfrm>
            <a:off x="1607692" y="1620001"/>
            <a:ext cx="684900" cy="684900"/>
          </a:xfrm>
          <a:prstGeom prst="pie">
            <a:avLst>
              <a:gd fmla="val 2138140" name="adj1"/>
              <a:gd fmla="val 7343147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8"/>
          <p:cNvSpPr/>
          <p:nvPr/>
        </p:nvSpPr>
        <p:spPr>
          <a:xfrm flipH="1">
            <a:off x="6571742" y="1583851"/>
            <a:ext cx="684900" cy="684900"/>
          </a:xfrm>
          <a:prstGeom prst="pie">
            <a:avLst>
              <a:gd fmla="val 2138140" name="adj1"/>
              <a:gd fmla="val 7343147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8"/>
          <p:cNvSpPr txBox="1"/>
          <p:nvPr/>
        </p:nvSpPr>
        <p:spPr>
          <a:xfrm>
            <a:off x="1907975" y="23049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082" name="Google Shape;1082;p78"/>
          <p:cNvSpPr txBox="1"/>
          <p:nvPr/>
        </p:nvSpPr>
        <p:spPr>
          <a:xfrm>
            <a:off x="824608" y="208928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/>
          </a:p>
        </p:txBody>
      </p:sp>
      <p:sp>
        <p:nvSpPr>
          <p:cNvPr id="1083" name="Google Shape;1083;p78"/>
          <p:cNvSpPr txBox="1"/>
          <p:nvPr/>
        </p:nvSpPr>
        <p:spPr>
          <a:xfrm>
            <a:off x="7355108" y="20277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1084" name="Google Shape;1084;p78"/>
          <p:cNvSpPr txBox="1"/>
          <p:nvPr/>
        </p:nvSpPr>
        <p:spPr>
          <a:xfrm>
            <a:off x="5294558" y="21261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085" name="Google Shape;1085;p78"/>
          <p:cNvSpPr txBox="1"/>
          <p:nvPr/>
        </p:nvSpPr>
        <p:spPr>
          <a:xfrm>
            <a:off x="2927946" y="220983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086" name="Google Shape;1086;p78"/>
          <p:cNvSpPr txBox="1"/>
          <p:nvPr/>
        </p:nvSpPr>
        <p:spPr>
          <a:xfrm>
            <a:off x="6571750" y="23049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1087" name="Google Shape;1087;p78"/>
          <p:cNvSpPr txBox="1"/>
          <p:nvPr>
            <p:ph idx="1" type="body"/>
          </p:nvPr>
        </p:nvSpPr>
        <p:spPr>
          <a:xfrm>
            <a:off x="1868309" y="1623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088" name="Google Shape;1088;p78"/>
          <p:cNvSpPr txBox="1"/>
          <p:nvPr>
            <p:ph idx="1" type="body"/>
          </p:nvPr>
        </p:nvSpPr>
        <p:spPr>
          <a:xfrm>
            <a:off x="1182509" y="2766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089" name="Google Shape;1089;p78"/>
          <p:cNvSpPr txBox="1"/>
          <p:nvPr>
            <p:ph idx="1" type="body"/>
          </p:nvPr>
        </p:nvSpPr>
        <p:spPr>
          <a:xfrm>
            <a:off x="3864593" y="3230833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090" name="Google Shape;1090;p78"/>
          <p:cNvSpPr txBox="1"/>
          <p:nvPr>
            <p:ph idx="1" type="body"/>
          </p:nvPr>
        </p:nvSpPr>
        <p:spPr>
          <a:xfrm flipH="1">
            <a:off x="6851476" y="1623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endParaRPr sz="1800"/>
          </a:p>
        </p:txBody>
      </p:sp>
      <p:sp>
        <p:nvSpPr>
          <p:cNvPr id="1091" name="Google Shape;1091;p78"/>
          <p:cNvSpPr txBox="1"/>
          <p:nvPr>
            <p:ph idx="1" type="body"/>
          </p:nvPr>
        </p:nvSpPr>
        <p:spPr>
          <a:xfrm flipH="1">
            <a:off x="7537276" y="2766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</a:t>
            </a:r>
            <a:endParaRPr sz="1800"/>
          </a:p>
        </p:txBody>
      </p:sp>
      <p:sp>
        <p:nvSpPr>
          <p:cNvPr id="1092" name="Google Shape;1092;p78"/>
          <p:cNvSpPr txBox="1"/>
          <p:nvPr>
            <p:ph idx="1" type="body"/>
          </p:nvPr>
        </p:nvSpPr>
        <p:spPr>
          <a:xfrm flipH="1">
            <a:off x="4855193" y="3230833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Q</a:t>
            </a:r>
            <a:endParaRPr sz="1800"/>
          </a:p>
        </p:txBody>
      </p:sp>
      <p:sp>
        <p:nvSpPr>
          <p:cNvPr id="1093" name="Google Shape;1093;p78"/>
          <p:cNvSpPr txBox="1"/>
          <p:nvPr/>
        </p:nvSpPr>
        <p:spPr>
          <a:xfrm>
            <a:off x="324000" y="3842250"/>
            <a:ext cx="75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these two triangles, we can see that AB = PR, ∠BAC = ∠QPR and AC = PQ, hence these triangles are congruent by SAS.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099" name="Google Shape;1099;p79"/>
          <p:cNvSpPr txBox="1"/>
          <p:nvPr>
            <p:ph idx="1" type="body"/>
          </p:nvPr>
        </p:nvSpPr>
        <p:spPr>
          <a:xfrm>
            <a:off x="324000" y="794700"/>
            <a:ext cx="82284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means that two triangles can be proved to be congruent by SAS (side-angle-side) as well.</a:t>
            </a:r>
            <a:endParaRPr sz="1800"/>
          </a:p>
        </p:txBody>
      </p:sp>
      <p:sp>
        <p:nvSpPr>
          <p:cNvPr id="1100" name="Google Shape;1100;p79"/>
          <p:cNvSpPr/>
          <p:nvPr/>
        </p:nvSpPr>
        <p:spPr>
          <a:xfrm>
            <a:off x="1387700" y="1953325"/>
            <a:ext cx="2451075" cy="1380150"/>
          </a:xfrm>
          <a:custGeom>
            <a:rect b="b" l="l" r="r" t="t"/>
            <a:pathLst>
              <a:path extrusionOk="0" h="55206" w="98043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1" name="Google Shape;1101;p79"/>
          <p:cNvSpPr/>
          <p:nvPr/>
        </p:nvSpPr>
        <p:spPr>
          <a:xfrm flipH="1">
            <a:off x="5031263" y="1917175"/>
            <a:ext cx="2451075" cy="1380150"/>
          </a:xfrm>
          <a:custGeom>
            <a:rect b="b" l="l" r="r" t="t"/>
            <a:pathLst>
              <a:path extrusionOk="0" h="55206" w="98043">
                <a:moveTo>
                  <a:pt x="22625" y="0"/>
                </a:moveTo>
                <a:lnTo>
                  <a:pt x="0" y="35597"/>
                </a:lnTo>
                <a:lnTo>
                  <a:pt x="98043" y="55206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02" name="Google Shape;1102;p79"/>
          <p:cNvCxnSpPr/>
          <p:nvPr/>
        </p:nvCxnSpPr>
        <p:spPr>
          <a:xfrm flipH="1">
            <a:off x="1280642" y="1907284"/>
            <a:ext cx="558000" cy="88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3" name="Google Shape;1103;p79"/>
          <p:cNvCxnSpPr/>
          <p:nvPr/>
        </p:nvCxnSpPr>
        <p:spPr>
          <a:xfrm>
            <a:off x="2021991" y="1869575"/>
            <a:ext cx="1878000" cy="136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4" name="Google Shape;1104;p79"/>
          <p:cNvCxnSpPr/>
          <p:nvPr/>
        </p:nvCxnSpPr>
        <p:spPr>
          <a:xfrm>
            <a:off x="7016021" y="1861251"/>
            <a:ext cx="558000" cy="88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5" name="Google Shape;1105;p79"/>
          <p:cNvCxnSpPr/>
          <p:nvPr/>
        </p:nvCxnSpPr>
        <p:spPr>
          <a:xfrm flipH="1">
            <a:off x="4954671" y="1823542"/>
            <a:ext cx="1878000" cy="1365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06" name="Google Shape;1106;p79"/>
          <p:cNvSpPr/>
          <p:nvPr/>
        </p:nvSpPr>
        <p:spPr>
          <a:xfrm>
            <a:off x="1607692" y="1620001"/>
            <a:ext cx="684900" cy="684900"/>
          </a:xfrm>
          <a:prstGeom prst="pie">
            <a:avLst>
              <a:gd fmla="val 2138140" name="adj1"/>
              <a:gd fmla="val 7343147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9"/>
          <p:cNvSpPr/>
          <p:nvPr/>
        </p:nvSpPr>
        <p:spPr>
          <a:xfrm flipH="1" rot="5615520">
            <a:off x="7131924" y="2458898"/>
            <a:ext cx="684745" cy="684745"/>
          </a:xfrm>
          <a:prstGeom prst="pie">
            <a:avLst>
              <a:gd fmla="val 2138140" name="adj1"/>
              <a:gd fmla="val 6375027" name="adj2"/>
            </a:avLst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9"/>
          <p:cNvSpPr txBox="1"/>
          <p:nvPr/>
        </p:nvSpPr>
        <p:spPr>
          <a:xfrm>
            <a:off x="1907975" y="230490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1109" name="Google Shape;1109;p79"/>
          <p:cNvSpPr txBox="1"/>
          <p:nvPr/>
        </p:nvSpPr>
        <p:spPr>
          <a:xfrm>
            <a:off x="824608" y="208928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1110" name="Google Shape;1110;p79"/>
          <p:cNvSpPr txBox="1"/>
          <p:nvPr/>
        </p:nvSpPr>
        <p:spPr>
          <a:xfrm>
            <a:off x="7355108" y="20277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2.4 cm</a:t>
            </a:r>
            <a:endParaRPr/>
          </a:p>
        </p:txBody>
      </p:sp>
      <p:sp>
        <p:nvSpPr>
          <p:cNvPr id="1111" name="Google Shape;1111;p79"/>
          <p:cNvSpPr txBox="1"/>
          <p:nvPr/>
        </p:nvSpPr>
        <p:spPr>
          <a:xfrm>
            <a:off x="5294558" y="21261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/>
          </a:p>
        </p:txBody>
      </p:sp>
      <p:sp>
        <p:nvSpPr>
          <p:cNvPr id="1112" name="Google Shape;1112;p79"/>
          <p:cNvSpPr txBox="1"/>
          <p:nvPr/>
        </p:nvSpPr>
        <p:spPr>
          <a:xfrm>
            <a:off x="2927946" y="220983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5.3 cm</a:t>
            </a:r>
            <a:endParaRPr/>
          </a:p>
        </p:txBody>
      </p:sp>
      <p:sp>
        <p:nvSpPr>
          <p:cNvPr id="1113" name="Google Shape;1113;p79"/>
          <p:cNvSpPr txBox="1"/>
          <p:nvPr/>
        </p:nvSpPr>
        <p:spPr>
          <a:xfrm>
            <a:off x="6729675" y="246865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89°</a:t>
            </a:r>
            <a:endParaRPr/>
          </a:p>
        </p:txBody>
      </p:sp>
      <p:sp>
        <p:nvSpPr>
          <p:cNvPr id="1114" name="Google Shape;1114;p79"/>
          <p:cNvSpPr txBox="1"/>
          <p:nvPr>
            <p:ph idx="1" type="body"/>
          </p:nvPr>
        </p:nvSpPr>
        <p:spPr>
          <a:xfrm>
            <a:off x="1868309" y="1623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115" name="Google Shape;1115;p79"/>
          <p:cNvSpPr txBox="1"/>
          <p:nvPr>
            <p:ph idx="1" type="body"/>
          </p:nvPr>
        </p:nvSpPr>
        <p:spPr>
          <a:xfrm>
            <a:off x="1182509" y="2766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116" name="Google Shape;1116;p79"/>
          <p:cNvSpPr txBox="1"/>
          <p:nvPr>
            <p:ph idx="1" type="body"/>
          </p:nvPr>
        </p:nvSpPr>
        <p:spPr>
          <a:xfrm>
            <a:off x="3864593" y="3230833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117" name="Google Shape;1117;p79"/>
          <p:cNvSpPr txBox="1"/>
          <p:nvPr>
            <p:ph idx="1" type="body"/>
          </p:nvPr>
        </p:nvSpPr>
        <p:spPr>
          <a:xfrm flipH="1">
            <a:off x="6851476" y="1623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X</a:t>
            </a:r>
            <a:endParaRPr sz="1800"/>
          </a:p>
        </p:txBody>
      </p:sp>
      <p:sp>
        <p:nvSpPr>
          <p:cNvPr id="1118" name="Google Shape;1118;p79"/>
          <p:cNvSpPr txBox="1"/>
          <p:nvPr>
            <p:ph idx="1" type="body"/>
          </p:nvPr>
        </p:nvSpPr>
        <p:spPr>
          <a:xfrm flipH="1">
            <a:off x="7537276" y="276609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Z</a:t>
            </a:r>
            <a:endParaRPr sz="1800"/>
          </a:p>
        </p:txBody>
      </p:sp>
      <p:sp>
        <p:nvSpPr>
          <p:cNvPr id="1119" name="Google Shape;1119;p79"/>
          <p:cNvSpPr txBox="1"/>
          <p:nvPr>
            <p:ph idx="1" type="body"/>
          </p:nvPr>
        </p:nvSpPr>
        <p:spPr>
          <a:xfrm flipH="1">
            <a:off x="4778993" y="3230833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</a:t>
            </a:r>
            <a:endParaRPr sz="1800"/>
          </a:p>
        </p:txBody>
      </p:sp>
      <p:sp>
        <p:nvSpPr>
          <p:cNvPr id="1120" name="Google Shape;1120;p79"/>
          <p:cNvSpPr txBox="1"/>
          <p:nvPr/>
        </p:nvSpPr>
        <p:spPr>
          <a:xfrm>
            <a:off x="324000" y="3842250"/>
            <a:ext cx="755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these two triangles, we can see that AB = XZ,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 = XY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∠BAC = ∠XZY, however these two triangles are not congruent.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89° is not between the two known edges in both triangles.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0"/>
          <p:cNvSpPr/>
          <p:nvPr/>
        </p:nvSpPr>
        <p:spPr>
          <a:xfrm>
            <a:off x="938683" y="1269117"/>
            <a:ext cx="771900" cy="771900"/>
          </a:xfrm>
          <a:prstGeom prst="pie">
            <a:avLst>
              <a:gd fmla="val 850243" name="adj1"/>
              <a:gd fmla="val 4303721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0"/>
          <p:cNvSpPr txBox="1"/>
          <p:nvPr>
            <p:ph idx="1" type="body"/>
          </p:nvPr>
        </p:nvSpPr>
        <p:spPr>
          <a:xfrm>
            <a:off x="324000" y="759300"/>
            <a:ext cx="8237700" cy="4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 these triangles congruent to each other?</a:t>
            </a:r>
            <a:endParaRPr/>
          </a:p>
        </p:txBody>
      </p:sp>
      <p:sp>
        <p:nvSpPr>
          <p:cNvPr id="1127" name="Google Shape;1127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128" name="Google Shape;1128;p80"/>
          <p:cNvSpPr txBox="1"/>
          <p:nvPr>
            <p:ph idx="1" type="body"/>
          </p:nvPr>
        </p:nvSpPr>
        <p:spPr>
          <a:xfrm>
            <a:off x="1074359" y="1316116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1129" name="Google Shape;1129;p80"/>
          <p:cNvSpPr txBox="1"/>
          <p:nvPr>
            <p:ph idx="1" type="body"/>
          </p:nvPr>
        </p:nvSpPr>
        <p:spPr>
          <a:xfrm>
            <a:off x="1834147" y="3637350"/>
            <a:ext cx="3213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1130" name="Google Shape;1130;p80"/>
          <p:cNvSpPr txBox="1"/>
          <p:nvPr>
            <p:ph idx="1" type="body"/>
          </p:nvPr>
        </p:nvSpPr>
        <p:spPr>
          <a:xfrm>
            <a:off x="3603918" y="2097008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cxnSp>
        <p:nvCxnSpPr>
          <p:cNvPr id="1131" name="Google Shape;1131;p80"/>
          <p:cNvCxnSpPr/>
          <p:nvPr/>
        </p:nvCxnSpPr>
        <p:spPr>
          <a:xfrm>
            <a:off x="1408225" y="1515600"/>
            <a:ext cx="2195700" cy="58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2" name="Google Shape;1132;p80"/>
          <p:cNvCxnSpPr/>
          <p:nvPr/>
        </p:nvCxnSpPr>
        <p:spPr>
          <a:xfrm>
            <a:off x="1163050" y="1694450"/>
            <a:ext cx="671100" cy="189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3" name="Google Shape;1133;p80"/>
          <p:cNvCxnSpPr/>
          <p:nvPr/>
        </p:nvCxnSpPr>
        <p:spPr>
          <a:xfrm flipH="1" rot="10800000">
            <a:off x="4863453" y="1297318"/>
            <a:ext cx="1251900" cy="146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4" name="Google Shape;1134;p80"/>
          <p:cNvCxnSpPr/>
          <p:nvPr/>
        </p:nvCxnSpPr>
        <p:spPr>
          <a:xfrm>
            <a:off x="6344400" y="1325100"/>
            <a:ext cx="621900" cy="228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5" name="Google Shape;1135;p80"/>
          <p:cNvSpPr txBox="1"/>
          <p:nvPr>
            <p:ph idx="1" type="body"/>
          </p:nvPr>
        </p:nvSpPr>
        <p:spPr>
          <a:xfrm>
            <a:off x="4719784" y="275364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endParaRPr sz="1800"/>
          </a:p>
        </p:txBody>
      </p:sp>
      <p:sp>
        <p:nvSpPr>
          <p:cNvPr id="1136" name="Google Shape;1136;p80"/>
          <p:cNvSpPr txBox="1"/>
          <p:nvPr>
            <p:ph idx="1" type="body"/>
          </p:nvPr>
        </p:nvSpPr>
        <p:spPr>
          <a:xfrm>
            <a:off x="6809572" y="3637350"/>
            <a:ext cx="3213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</a:t>
            </a:r>
            <a:endParaRPr sz="1800"/>
          </a:p>
        </p:txBody>
      </p:sp>
      <p:sp>
        <p:nvSpPr>
          <p:cNvPr id="1137" name="Google Shape;1137;p80"/>
          <p:cNvSpPr txBox="1"/>
          <p:nvPr>
            <p:ph idx="1" type="body"/>
          </p:nvPr>
        </p:nvSpPr>
        <p:spPr>
          <a:xfrm>
            <a:off x="6180593" y="1080008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</a:t>
            </a:r>
            <a:endParaRPr sz="1800"/>
          </a:p>
        </p:txBody>
      </p:sp>
      <p:sp>
        <p:nvSpPr>
          <p:cNvPr id="1138" name="Google Shape;1138;p80"/>
          <p:cNvSpPr/>
          <p:nvPr/>
        </p:nvSpPr>
        <p:spPr>
          <a:xfrm>
            <a:off x="4644174" y="2473079"/>
            <a:ext cx="693300" cy="771900"/>
          </a:xfrm>
          <a:prstGeom prst="pie">
            <a:avLst>
              <a:gd fmla="val 18575151" name="adj1"/>
              <a:gd fmla="val 13145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0"/>
          <p:cNvSpPr/>
          <p:nvPr/>
        </p:nvSpPr>
        <p:spPr>
          <a:xfrm rot="7115241">
            <a:off x="6452505" y="3208872"/>
            <a:ext cx="771790" cy="771790"/>
          </a:xfrm>
          <a:prstGeom prst="pie">
            <a:avLst>
              <a:gd fmla="val 4893648" name="adj1"/>
              <a:gd fmla="val 820357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0"/>
          <p:cNvSpPr txBox="1"/>
          <p:nvPr/>
        </p:nvSpPr>
        <p:spPr>
          <a:xfrm>
            <a:off x="1600875" y="1881250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141" name="Google Shape;1141;p80"/>
          <p:cNvSpPr txBox="1"/>
          <p:nvPr/>
        </p:nvSpPr>
        <p:spPr>
          <a:xfrm>
            <a:off x="4766833" y="16677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/>
          </a:p>
        </p:txBody>
      </p:sp>
      <p:sp>
        <p:nvSpPr>
          <p:cNvPr id="1142" name="Google Shape;1142;p80"/>
          <p:cNvSpPr txBox="1"/>
          <p:nvPr/>
        </p:nvSpPr>
        <p:spPr>
          <a:xfrm>
            <a:off x="2390683" y="148140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6.8 cm</a:t>
            </a:r>
            <a:endParaRPr/>
          </a:p>
        </p:txBody>
      </p:sp>
      <p:sp>
        <p:nvSpPr>
          <p:cNvPr id="1143" name="Google Shape;1143;p80"/>
          <p:cNvSpPr txBox="1"/>
          <p:nvPr/>
        </p:nvSpPr>
        <p:spPr>
          <a:xfrm>
            <a:off x="5372188" y="2616075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144" name="Google Shape;1144;p80"/>
          <p:cNvSpPr txBox="1"/>
          <p:nvPr/>
        </p:nvSpPr>
        <p:spPr>
          <a:xfrm>
            <a:off x="6258458" y="3053189"/>
            <a:ext cx="48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/>
          </a:p>
        </p:txBody>
      </p:sp>
      <p:sp>
        <p:nvSpPr>
          <p:cNvPr id="1145" name="Google Shape;1145;p80"/>
          <p:cNvSpPr txBox="1"/>
          <p:nvPr/>
        </p:nvSpPr>
        <p:spPr>
          <a:xfrm>
            <a:off x="6719358" y="2158458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6.8 cm</a:t>
            </a:r>
            <a:endParaRPr/>
          </a:p>
        </p:txBody>
      </p:sp>
      <p:sp>
        <p:nvSpPr>
          <p:cNvPr id="1146" name="Google Shape;1146;p80"/>
          <p:cNvSpPr txBox="1"/>
          <p:nvPr/>
        </p:nvSpPr>
        <p:spPr>
          <a:xfrm>
            <a:off x="723233" y="2616083"/>
            <a:ext cx="85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/>
          </a:p>
        </p:txBody>
      </p:sp>
      <p:sp>
        <p:nvSpPr>
          <p:cNvPr id="1147" name="Google Shape;1147;p80"/>
          <p:cNvSpPr txBox="1"/>
          <p:nvPr/>
        </p:nvSpPr>
        <p:spPr>
          <a:xfrm>
            <a:off x="938675" y="4012200"/>
            <a:ext cx="570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∠TVU = 180 - (68 + 49) = 63°, so triangle MNO is congruent to triangle TVU by SAS.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0"/>
          <p:cNvSpPr/>
          <p:nvPr/>
        </p:nvSpPr>
        <p:spPr>
          <a:xfrm rot="3588461">
            <a:off x="5855830" y="1007509"/>
            <a:ext cx="771916" cy="771916"/>
          </a:xfrm>
          <a:prstGeom prst="pie">
            <a:avLst>
              <a:gd fmla="val 850243" name="adj1"/>
              <a:gd fmla="val 4303721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0"/>
          <p:cNvSpPr txBox="1"/>
          <p:nvPr/>
        </p:nvSpPr>
        <p:spPr>
          <a:xfrm>
            <a:off x="5937000" y="183180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63°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0" name="Google Shape;1150;p80"/>
          <p:cNvSpPr/>
          <p:nvPr/>
        </p:nvSpPr>
        <p:spPr>
          <a:xfrm>
            <a:off x="1313450" y="1649325"/>
            <a:ext cx="2235850" cy="1844850"/>
          </a:xfrm>
          <a:custGeom>
            <a:rect b="b" l="l" r="r" t="t"/>
            <a:pathLst>
              <a:path extrusionOk="0" h="73794" w="89434">
                <a:moveTo>
                  <a:pt x="0" y="0"/>
                </a:moveTo>
                <a:lnTo>
                  <a:pt x="26068" y="73794"/>
                </a:lnTo>
                <a:lnTo>
                  <a:pt x="89434" y="2406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51" name="Google Shape;1151;p80"/>
          <p:cNvSpPr/>
          <p:nvPr/>
        </p:nvSpPr>
        <p:spPr>
          <a:xfrm rot="3590874">
            <a:off x="4884802" y="1876475"/>
            <a:ext cx="2235863" cy="1844860"/>
          </a:xfrm>
          <a:custGeom>
            <a:rect b="b" l="l" r="r" t="t"/>
            <a:pathLst>
              <a:path extrusionOk="0" h="73794" w="89434">
                <a:moveTo>
                  <a:pt x="0" y="0"/>
                </a:moveTo>
                <a:lnTo>
                  <a:pt x="26068" y="73794"/>
                </a:lnTo>
                <a:lnTo>
                  <a:pt x="89434" y="2406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1"/>
          <p:cNvSpPr txBox="1"/>
          <p:nvPr>
            <p:ph idx="1" type="body"/>
          </p:nvPr>
        </p:nvSpPr>
        <p:spPr>
          <a:xfrm>
            <a:off x="324000" y="759300"/>
            <a:ext cx="8237700" cy="7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known properties of shapes, it is possible to prove triangles are congruent by SAS. </a:t>
            </a:r>
            <a:endParaRPr sz="1800"/>
          </a:p>
        </p:txBody>
      </p:sp>
      <p:sp>
        <p:nvSpPr>
          <p:cNvPr id="1157" name="Google Shape;115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158" name="Google Shape;1158;p81"/>
          <p:cNvSpPr/>
          <p:nvPr/>
        </p:nvSpPr>
        <p:spPr>
          <a:xfrm>
            <a:off x="746650" y="2119225"/>
            <a:ext cx="1608900" cy="987900"/>
          </a:xfrm>
          <a:prstGeom prst="parallelogram">
            <a:avLst>
              <a:gd fmla="val 51911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9" name="Google Shape;1159;p81"/>
          <p:cNvCxnSpPr/>
          <p:nvPr/>
        </p:nvCxnSpPr>
        <p:spPr>
          <a:xfrm>
            <a:off x="1262925" y="2117600"/>
            <a:ext cx="586800" cy="99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81"/>
          <p:cNvSpPr txBox="1"/>
          <p:nvPr>
            <p:ph idx="1" type="body"/>
          </p:nvPr>
        </p:nvSpPr>
        <p:spPr>
          <a:xfrm>
            <a:off x="1096284" y="1833916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161" name="Google Shape;1161;p81"/>
          <p:cNvSpPr txBox="1"/>
          <p:nvPr>
            <p:ph idx="1" type="body"/>
          </p:nvPr>
        </p:nvSpPr>
        <p:spPr>
          <a:xfrm>
            <a:off x="550859" y="3026769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162" name="Google Shape;1162;p81"/>
          <p:cNvSpPr txBox="1"/>
          <p:nvPr>
            <p:ph idx="1" type="body"/>
          </p:nvPr>
        </p:nvSpPr>
        <p:spPr>
          <a:xfrm>
            <a:off x="1816167" y="308892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163" name="Google Shape;1163;p81"/>
          <p:cNvSpPr txBox="1"/>
          <p:nvPr>
            <p:ph idx="1" type="body"/>
          </p:nvPr>
        </p:nvSpPr>
        <p:spPr>
          <a:xfrm>
            <a:off x="2385621" y="1917844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164" name="Google Shape;1164;p81"/>
          <p:cNvSpPr txBox="1"/>
          <p:nvPr/>
        </p:nvSpPr>
        <p:spPr>
          <a:xfrm>
            <a:off x="2997850" y="1393800"/>
            <a:ext cx="556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triangle ABC is congruent to triangle ACD, given that ABCD is a rhombus.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1"/>
          <p:cNvSpPr txBox="1"/>
          <p:nvPr/>
        </p:nvSpPr>
        <p:spPr>
          <a:xfrm>
            <a:off x="2945725" y="1913025"/>
            <a:ext cx="5193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AB = CD as they are edges of a rhombus.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∠ABC = ∠ADC as they are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opposite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angles in a rhombus.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 = BC as they are edges of a rhombus.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Hence, triangle ABC is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congruent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to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ACD by SAS.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Given that </a:t>
            </a:r>
            <a:r>
              <a:rPr lang="en-GB" sz="1800"/>
              <a:t>ABCD is a rhombus, prove triangle ABC is congruent to triangle ACD.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1" name="Google Shape;117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172" name="Google Shape;1172;p82"/>
          <p:cNvSpPr/>
          <p:nvPr/>
        </p:nvSpPr>
        <p:spPr>
          <a:xfrm>
            <a:off x="746650" y="1433425"/>
            <a:ext cx="1608900" cy="987900"/>
          </a:xfrm>
          <a:prstGeom prst="parallelogram">
            <a:avLst>
              <a:gd fmla="val 51911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3" name="Google Shape;1173;p82"/>
          <p:cNvCxnSpPr/>
          <p:nvPr/>
        </p:nvCxnSpPr>
        <p:spPr>
          <a:xfrm>
            <a:off x="1262925" y="1431800"/>
            <a:ext cx="586800" cy="99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82"/>
          <p:cNvSpPr txBox="1"/>
          <p:nvPr>
            <p:ph idx="1" type="body"/>
          </p:nvPr>
        </p:nvSpPr>
        <p:spPr>
          <a:xfrm>
            <a:off x="1096284" y="1148116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175" name="Google Shape;1175;p82"/>
          <p:cNvSpPr txBox="1"/>
          <p:nvPr>
            <p:ph idx="1" type="body"/>
          </p:nvPr>
        </p:nvSpPr>
        <p:spPr>
          <a:xfrm>
            <a:off x="550859" y="2340969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176" name="Google Shape;1176;p82"/>
          <p:cNvSpPr txBox="1"/>
          <p:nvPr>
            <p:ph idx="1" type="body"/>
          </p:nvPr>
        </p:nvSpPr>
        <p:spPr>
          <a:xfrm>
            <a:off x="1816167" y="2403121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177" name="Google Shape;1177;p82"/>
          <p:cNvSpPr txBox="1"/>
          <p:nvPr>
            <p:ph idx="1" type="body"/>
          </p:nvPr>
        </p:nvSpPr>
        <p:spPr>
          <a:xfrm>
            <a:off x="2385621" y="1232044"/>
            <a:ext cx="239100" cy="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178" name="Google Shape;1178;p82"/>
          <p:cNvSpPr txBox="1"/>
          <p:nvPr/>
        </p:nvSpPr>
        <p:spPr>
          <a:xfrm>
            <a:off x="3098125" y="1608225"/>
            <a:ext cx="5193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AB = CD as they are edges of a rhombus.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∠DAC = ∠ACB as they are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 is a shared edge on both triangles.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triangle ABC is congruent to triangle ACD by SAS.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9" name="Google Shape;1179;p82"/>
          <p:cNvCxnSpPr/>
          <p:nvPr/>
        </p:nvCxnSpPr>
        <p:spPr>
          <a:xfrm>
            <a:off x="6266447" y="2476509"/>
            <a:ext cx="176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82"/>
          <p:cNvCxnSpPr/>
          <p:nvPr/>
        </p:nvCxnSpPr>
        <p:spPr>
          <a:xfrm>
            <a:off x="3180347" y="2819409"/>
            <a:ext cx="487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1" name="Google Shape;1181;p82"/>
          <p:cNvSpPr txBox="1"/>
          <p:nvPr/>
        </p:nvSpPr>
        <p:spPr>
          <a:xfrm>
            <a:off x="390225" y="3058000"/>
            <a:ext cx="165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blank.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2"/>
          <p:cNvSpPr txBox="1"/>
          <p:nvPr/>
        </p:nvSpPr>
        <p:spPr>
          <a:xfrm>
            <a:off x="6256800" y="2208221"/>
            <a:ext cx="19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interior alternate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2"/>
          <p:cNvSpPr txBox="1"/>
          <p:nvPr/>
        </p:nvSpPr>
        <p:spPr>
          <a:xfrm>
            <a:off x="3180350" y="2546100"/>
            <a:ext cx="249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angles in parallel lines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Construct the following triangles: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Triangle ABC, where AB = 6 cm, BC = 9 cm and ∠ABC = 42°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Triangle PQR, where PQ = 6 cm, QR = 9 cm and ∠QPR = 42°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2) Measure the edges and angles in the two triangles constructed in question 1. Are they congruent triangles?</a:t>
            </a:r>
            <a:endParaRPr/>
          </a:p>
        </p:txBody>
      </p:sp>
      <p:sp>
        <p:nvSpPr>
          <p:cNvPr id="1189" name="Google Shape;118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84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Prove triangle ABC is congruent to triangle PQR by SAS.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grpSp>
        <p:nvGrpSpPr>
          <p:cNvPr id="1196" name="Google Shape;1196;p84"/>
          <p:cNvGrpSpPr/>
          <p:nvPr/>
        </p:nvGrpSpPr>
        <p:grpSpPr>
          <a:xfrm>
            <a:off x="448026" y="1237200"/>
            <a:ext cx="3353999" cy="1536050"/>
            <a:chOff x="448026" y="1237200"/>
            <a:chExt cx="3353999" cy="1536050"/>
          </a:xfrm>
        </p:grpSpPr>
        <p:sp>
          <p:nvSpPr>
            <p:cNvPr id="1197" name="Google Shape;1197;p84"/>
            <p:cNvSpPr/>
            <p:nvPr/>
          </p:nvSpPr>
          <p:spPr>
            <a:xfrm>
              <a:off x="1040775" y="1478200"/>
              <a:ext cx="2451075" cy="814500"/>
            </a:xfrm>
            <a:custGeom>
              <a:rect b="b" l="l" r="r" t="t"/>
              <a:pathLst>
                <a:path extrusionOk="0" h="32580" w="98043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98" name="Google Shape;1198;p84"/>
            <p:cNvSpPr txBox="1"/>
            <p:nvPr/>
          </p:nvSpPr>
          <p:spPr>
            <a:xfrm>
              <a:off x="786075" y="12372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4"/>
            <p:cNvSpPr txBox="1"/>
            <p:nvPr/>
          </p:nvSpPr>
          <p:spPr>
            <a:xfrm>
              <a:off x="1479300" y="23530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84"/>
            <p:cNvSpPr txBox="1"/>
            <p:nvPr/>
          </p:nvSpPr>
          <p:spPr>
            <a:xfrm>
              <a:off x="3547325" y="221885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1" name="Google Shape;1201;p84"/>
            <p:cNvCxnSpPr/>
            <p:nvPr/>
          </p:nvCxnSpPr>
          <p:spPr>
            <a:xfrm>
              <a:off x="905025" y="1478200"/>
              <a:ext cx="610800" cy="86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02" name="Google Shape;1202;p84"/>
            <p:cNvCxnSpPr/>
            <p:nvPr/>
          </p:nvCxnSpPr>
          <p:spPr>
            <a:xfrm>
              <a:off x="1684800" y="2431300"/>
              <a:ext cx="1831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03" name="Google Shape;1203;p84"/>
            <p:cNvSpPr/>
            <p:nvPr/>
          </p:nvSpPr>
          <p:spPr>
            <a:xfrm>
              <a:off x="1347246" y="1987675"/>
              <a:ext cx="610800" cy="610800"/>
            </a:xfrm>
            <a:prstGeom prst="pie">
              <a:avLst>
                <a:gd fmla="val 13989222" name="adj1"/>
                <a:gd fmla="val 215900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4"/>
            <p:cNvSpPr txBox="1"/>
            <p:nvPr/>
          </p:nvSpPr>
          <p:spPr>
            <a:xfrm>
              <a:off x="448026" y="1896250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4"/>
            <p:cNvSpPr txBox="1"/>
            <p:nvPr/>
          </p:nvSpPr>
          <p:spPr>
            <a:xfrm>
              <a:off x="2175901" y="2496050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84"/>
            <p:cNvSpPr txBox="1"/>
            <p:nvPr/>
          </p:nvSpPr>
          <p:spPr>
            <a:xfrm>
              <a:off x="1981450" y="1941650"/>
              <a:ext cx="63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128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84"/>
          <p:cNvGrpSpPr/>
          <p:nvPr/>
        </p:nvGrpSpPr>
        <p:grpSpPr>
          <a:xfrm>
            <a:off x="4216351" y="1176093"/>
            <a:ext cx="3599894" cy="1597157"/>
            <a:chOff x="4216351" y="1176093"/>
            <a:chExt cx="3599894" cy="1597157"/>
          </a:xfrm>
        </p:grpSpPr>
        <p:sp>
          <p:nvSpPr>
            <p:cNvPr id="1208" name="Google Shape;1208;p84"/>
            <p:cNvSpPr/>
            <p:nvPr/>
          </p:nvSpPr>
          <p:spPr>
            <a:xfrm>
              <a:off x="4783050" y="1478200"/>
              <a:ext cx="2451075" cy="814500"/>
            </a:xfrm>
            <a:custGeom>
              <a:rect b="b" l="l" r="r" t="t"/>
              <a:pathLst>
                <a:path extrusionOk="0" h="32580" w="98043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09" name="Google Shape;1209;p84"/>
            <p:cNvSpPr txBox="1"/>
            <p:nvPr/>
          </p:nvSpPr>
          <p:spPr>
            <a:xfrm>
              <a:off x="4500613" y="13126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84"/>
            <p:cNvSpPr txBox="1"/>
            <p:nvPr/>
          </p:nvSpPr>
          <p:spPr>
            <a:xfrm>
              <a:off x="5193838" y="22927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84"/>
            <p:cNvSpPr txBox="1"/>
            <p:nvPr/>
          </p:nvSpPr>
          <p:spPr>
            <a:xfrm>
              <a:off x="7261863" y="221885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2" name="Google Shape;1212;p84"/>
            <p:cNvCxnSpPr/>
            <p:nvPr/>
          </p:nvCxnSpPr>
          <p:spPr>
            <a:xfrm>
              <a:off x="4626900" y="1497166"/>
              <a:ext cx="610800" cy="86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13" name="Google Shape;1213;p84"/>
            <p:cNvCxnSpPr/>
            <p:nvPr/>
          </p:nvCxnSpPr>
          <p:spPr>
            <a:xfrm>
              <a:off x="5406675" y="2450266"/>
              <a:ext cx="1831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14" name="Google Shape;1214;p84"/>
            <p:cNvSpPr/>
            <p:nvPr/>
          </p:nvSpPr>
          <p:spPr>
            <a:xfrm>
              <a:off x="4479359" y="1176093"/>
              <a:ext cx="610800" cy="610800"/>
            </a:xfrm>
            <a:prstGeom prst="pie">
              <a:avLst>
                <a:gd fmla="val 1084039" name="adj1"/>
                <a:gd fmla="val 3202325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4"/>
            <p:cNvSpPr/>
            <p:nvPr/>
          </p:nvSpPr>
          <p:spPr>
            <a:xfrm rot="9497872">
              <a:off x="6923651" y="1987556"/>
              <a:ext cx="610901" cy="610901"/>
            </a:xfrm>
            <a:prstGeom prst="pie">
              <a:avLst>
                <a:gd fmla="val 1276125" name="adj1"/>
                <a:gd fmla="val 241672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4"/>
            <p:cNvSpPr txBox="1"/>
            <p:nvPr/>
          </p:nvSpPr>
          <p:spPr>
            <a:xfrm>
              <a:off x="4216351" y="1859525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84"/>
            <p:cNvSpPr txBox="1"/>
            <p:nvPr/>
          </p:nvSpPr>
          <p:spPr>
            <a:xfrm>
              <a:off x="5966626" y="2496050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84"/>
            <p:cNvSpPr txBox="1"/>
            <p:nvPr/>
          </p:nvSpPr>
          <p:spPr>
            <a:xfrm>
              <a:off x="5090150" y="1664450"/>
              <a:ext cx="63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32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84"/>
            <p:cNvSpPr txBox="1"/>
            <p:nvPr/>
          </p:nvSpPr>
          <p:spPr>
            <a:xfrm>
              <a:off x="7185945" y="1896259"/>
              <a:ext cx="63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0" name="Google Shape;1220;p84"/>
            <p:cNvCxnSpPr/>
            <p:nvPr/>
          </p:nvCxnSpPr>
          <p:spPr>
            <a:xfrm flipH="1" rot="10800000">
              <a:off x="7002000" y="2154525"/>
              <a:ext cx="141900" cy="102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21" name="Google Shape;1221;p84"/>
          <p:cNvSpPr txBox="1"/>
          <p:nvPr>
            <p:ph idx="1" type="body"/>
          </p:nvPr>
        </p:nvSpPr>
        <p:spPr>
          <a:xfrm>
            <a:off x="324000" y="31428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r>
              <a:rPr lang="en-GB"/>
              <a:t>) Given a parallelogram ABCD, prove that triangle ABC is congruent to triangle ACD by SAS.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5"/>
          <p:cNvSpPr txBox="1"/>
          <p:nvPr>
            <p:ph idx="1" type="body"/>
          </p:nvPr>
        </p:nvSpPr>
        <p:spPr>
          <a:xfrm>
            <a:off x="324000" y="759300"/>
            <a:ext cx="8496000" cy="9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Construct the following triangles: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Triangle ABC, where AB = 6 cm, BC = 9 cm and ∠ABC = 42°</a:t>
            </a:r>
            <a:endParaRPr/>
          </a:p>
        </p:txBody>
      </p:sp>
      <p:sp>
        <p:nvSpPr>
          <p:cNvPr id="1227" name="Google Shape;1227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cxnSp>
        <p:nvCxnSpPr>
          <p:cNvPr id="1228" name="Google Shape;1228;p85"/>
          <p:cNvCxnSpPr/>
          <p:nvPr/>
        </p:nvCxnSpPr>
        <p:spPr>
          <a:xfrm>
            <a:off x="1830000" y="4313400"/>
            <a:ext cx="241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85"/>
          <p:cNvCxnSpPr/>
          <p:nvPr/>
        </p:nvCxnSpPr>
        <p:spPr>
          <a:xfrm flipH="1" rot="10800000">
            <a:off x="1845000" y="1620000"/>
            <a:ext cx="2985000" cy="26934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0" name="Google Shape;1230;p85"/>
          <p:cNvGrpSpPr/>
          <p:nvPr/>
        </p:nvGrpSpPr>
        <p:grpSpPr>
          <a:xfrm>
            <a:off x="4443000" y="1830000"/>
            <a:ext cx="144000" cy="144000"/>
            <a:chOff x="5962500" y="2932500"/>
            <a:chExt cx="144000" cy="144000"/>
          </a:xfrm>
        </p:grpSpPr>
        <p:cxnSp>
          <p:nvCxnSpPr>
            <p:cNvPr id="1231" name="Google Shape;1231;p85"/>
            <p:cNvCxnSpPr/>
            <p:nvPr/>
          </p:nvCxnSpPr>
          <p:spPr>
            <a:xfrm>
              <a:off x="5962500" y="2932500"/>
              <a:ext cx="144000" cy="144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2" name="Google Shape;1232;p85"/>
            <p:cNvCxnSpPr/>
            <p:nvPr/>
          </p:nvCxnSpPr>
          <p:spPr>
            <a:xfrm rot="5400000">
              <a:off x="5962500" y="2932500"/>
              <a:ext cx="144000" cy="144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33" name="Google Shape;1233;p85"/>
          <p:cNvCxnSpPr/>
          <p:nvPr/>
        </p:nvCxnSpPr>
        <p:spPr>
          <a:xfrm flipH="1" rot="10800000">
            <a:off x="1845000" y="1896600"/>
            <a:ext cx="2672100" cy="242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85"/>
          <p:cNvCxnSpPr/>
          <p:nvPr/>
        </p:nvCxnSpPr>
        <p:spPr>
          <a:xfrm flipH="1" rot="10800000">
            <a:off x="4222500" y="1897500"/>
            <a:ext cx="292500" cy="243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5" name="Google Shape;1235;p85"/>
          <p:cNvSpPr/>
          <p:nvPr/>
        </p:nvSpPr>
        <p:spPr>
          <a:xfrm>
            <a:off x="1330667" y="3795333"/>
            <a:ext cx="1028400" cy="1028400"/>
          </a:xfrm>
          <a:prstGeom prst="pie">
            <a:avLst>
              <a:gd fmla="val 19094467" name="adj1"/>
              <a:gd fmla="val 4583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5"/>
          <p:cNvSpPr txBox="1"/>
          <p:nvPr/>
        </p:nvSpPr>
        <p:spPr>
          <a:xfrm>
            <a:off x="2603401" y="279095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7" name="Google Shape;1237;p85"/>
          <p:cNvSpPr txBox="1"/>
          <p:nvPr/>
        </p:nvSpPr>
        <p:spPr>
          <a:xfrm>
            <a:off x="2825401" y="432750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8" name="Google Shape;1238;p85"/>
          <p:cNvSpPr txBox="1"/>
          <p:nvPr/>
        </p:nvSpPr>
        <p:spPr>
          <a:xfrm>
            <a:off x="2408950" y="394415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39" name="Google Shape;1239;p85"/>
          <p:cNvGrpSpPr/>
          <p:nvPr/>
        </p:nvGrpSpPr>
        <p:grpSpPr>
          <a:xfrm>
            <a:off x="1590300" y="1763400"/>
            <a:ext cx="3318900" cy="2857800"/>
            <a:chOff x="1590300" y="1763400"/>
            <a:chExt cx="3318900" cy="2857800"/>
          </a:xfrm>
        </p:grpSpPr>
        <p:sp>
          <p:nvSpPr>
            <p:cNvPr id="1240" name="Google Shape;1240;p85"/>
            <p:cNvSpPr txBox="1"/>
            <p:nvPr/>
          </p:nvSpPr>
          <p:spPr>
            <a:xfrm>
              <a:off x="4241400" y="4281350"/>
              <a:ext cx="25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A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41" name="Google Shape;1241;p85"/>
            <p:cNvSpPr txBox="1"/>
            <p:nvPr/>
          </p:nvSpPr>
          <p:spPr>
            <a:xfrm>
              <a:off x="1590300" y="4313400"/>
              <a:ext cx="25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42" name="Google Shape;1242;p85"/>
            <p:cNvSpPr txBox="1"/>
            <p:nvPr/>
          </p:nvSpPr>
          <p:spPr>
            <a:xfrm>
              <a:off x="4654500" y="1763400"/>
              <a:ext cx="25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C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6"/>
          <p:cNvSpPr/>
          <p:nvPr/>
        </p:nvSpPr>
        <p:spPr>
          <a:xfrm>
            <a:off x="620550" y="936600"/>
            <a:ext cx="7210800" cy="7210800"/>
          </a:xfrm>
          <a:prstGeom prst="arc">
            <a:avLst>
              <a:gd fmla="val 16874932" name="adj1"/>
              <a:gd fmla="val 1811384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6"/>
          <p:cNvSpPr txBox="1"/>
          <p:nvPr>
            <p:ph idx="1" type="body"/>
          </p:nvPr>
        </p:nvSpPr>
        <p:spPr>
          <a:xfrm>
            <a:off x="324000" y="606900"/>
            <a:ext cx="8496000" cy="9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Triangle PQR, where PQ = 6 cm, QR = 9 cm and ∠QPR = 42°</a:t>
            </a:r>
            <a:endParaRPr/>
          </a:p>
        </p:txBody>
      </p:sp>
      <p:sp>
        <p:nvSpPr>
          <p:cNvPr id="1249" name="Google Shape;1249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cxnSp>
        <p:nvCxnSpPr>
          <p:cNvPr id="1250" name="Google Shape;1250;p86"/>
          <p:cNvCxnSpPr/>
          <p:nvPr/>
        </p:nvCxnSpPr>
        <p:spPr>
          <a:xfrm>
            <a:off x="1830000" y="4542000"/>
            <a:ext cx="241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1" name="Google Shape;1251;p86"/>
          <p:cNvGrpSpPr/>
          <p:nvPr/>
        </p:nvGrpSpPr>
        <p:grpSpPr>
          <a:xfrm>
            <a:off x="1590300" y="1055100"/>
            <a:ext cx="4371300" cy="3794700"/>
            <a:chOff x="1590300" y="826500"/>
            <a:chExt cx="4371300" cy="3794700"/>
          </a:xfrm>
        </p:grpSpPr>
        <p:sp>
          <p:nvSpPr>
            <p:cNvPr id="1252" name="Google Shape;1252;p86"/>
            <p:cNvSpPr txBox="1"/>
            <p:nvPr/>
          </p:nvSpPr>
          <p:spPr>
            <a:xfrm>
              <a:off x="4241400" y="4281350"/>
              <a:ext cx="25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Q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53" name="Google Shape;1253;p86"/>
            <p:cNvSpPr txBox="1"/>
            <p:nvPr/>
          </p:nvSpPr>
          <p:spPr>
            <a:xfrm>
              <a:off x="1590300" y="4313400"/>
              <a:ext cx="25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P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54" name="Google Shape;1254;p86"/>
            <p:cNvSpPr txBox="1"/>
            <p:nvPr/>
          </p:nvSpPr>
          <p:spPr>
            <a:xfrm>
              <a:off x="5706900" y="826500"/>
              <a:ext cx="25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1255" name="Google Shape;1255;p86"/>
          <p:cNvCxnSpPr/>
          <p:nvPr/>
        </p:nvCxnSpPr>
        <p:spPr>
          <a:xfrm flipH="1" rot="10800000">
            <a:off x="1845000" y="881100"/>
            <a:ext cx="4050000" cy="366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56" name="Google Shape;1256;p86"/>
          <p:cNvSpPr/>
          <p:nvPr/>
        </p:nvSpPr>
        <p:spPr>
          <a:xfrm>
            <a:off x="1330667" y="4023933"/>
            <a:ext cx="1028400" cy="1028400"/>
          </a:xfrm>
          <a:prstGeom prst="pie">
            <a:avLst>
              <a:gd fmla="val 19094467" name="adj1"/>
              <a:gd fmla="val 45834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6"/>
          <p:cNvSpPr txBox="1"/>
          <p:nvPr/>
        </p:nvSpPr>
        <p:spPr>
          <a:xfrm>
            <a:off x="2408950" y="4172750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58" name="Google Shape;1258;p86"/>
          <p:cNvCxnSpPr/>
          <p:nvPr/>
        </p:nvCxnSpPr>
        <p:spPr>
          <a:xfrm flipH="1" rot="9240789">
            <a:off x="3561584" y="1651077"/>
            <a:ext cx="2672282" cy="242325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9" name="Google Shape;1259;p86"/>
          <p:cNvGrpSpPr/>
          <p:nvPr/>
        </p:nvGrpSpPr>
        <p:grpSpPr>
          <a:xfrm>
            <a:off x="5479800" y="1121700"/>
            <a:ext cx="144000" cy="144000"/>
            <a:chOff x="5962500" y="2932500"/>
            <a:chExt cx="144000" cy="144000"/>
          </a:xfrm>
        </p:grpSpPr>
        <p:cxnSp>
          <p:nvCxnSpPr>
            <p:cNvPr id="1260" name="Google Shape;1260;p86"/>
            <p:cNvCxnSpPr/>
            <p:nvPr/>
          </p:nvCxnSpPr>
          <p:spPr>
            <a:xfrm>
              <a:off x="5962500" y="2932500"/>
              <a:ext cx="144000" cy="144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86"/>
            <p:cNvCxnSpPr/>
            <p:nvPr/>
          </p:nvCxnSpPr>
          <p:spPr>
            <a:xfrm rot="5400000">
              <a:off x="5962500" y="2932500"/>
              <a:ext cx="144000" cy="144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2" name="Google Shape;1262;p86"/>
          <p:cNvSpPr txBox="1"/>
          <p:nvPr/>
        </p:nvSpPr>
        <p:spPr>
          <a:xfrm>
            <a:off x="4995601" y="283860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3" name="Google Shape;1263;p86"/>
          <p:cNvSpPr txBox="1"/>
          <p:nvPr/>
        </p:nvSpPr>
        <p:spPr>
          <a:xfrm>
            <a:off x="2817901" y="4557850"/>
            <a:ext cx="71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87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Measure the edges and angles in the two triangles constructed in question 1. Are they congruent triangles?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270" name="Google Shape;1270;p87"/>
          <p:cNvSpPr txBox="1"/>
          <p:nvPr>
            <p:ph idx="1" type="body"/>
          </p:nvPr>
        </p:nvSpPr>
        <p:spPr>
          <a:xfrm>
            <a:off x="781200" y="1610700"/>
            <a:ext cx="2016000" cy="3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Triangle ABC: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AB = 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BC = 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AC = 6.1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∠ABC = 42°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∠BAC = 96.6°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∠ACB = 41.4°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1" name="Google Shape;1271;p87"/>
          <p:cNvSpPr txBox="1"/>
          <p:nvPr>
            <p:ph idx="1" type="body"/>
          </p:nvPr>
        </p:nvSpPr>
        <p:spPr>
          <a:xfrm>
            <a:off x="3243600" y="1610700"/>
            <a:ext cx="2016000" cy="3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Triangle PQR: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PQ = 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QR = 9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PR = 12.5 cm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∠QPR = 42°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∠PQR = 111.5°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∠PRQ = 26.5°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2" name="Google Shape;1272;p87"/>
          <p:cNvSpPr txBox="1"/>
          <p:nvPr>
            <p:ph idx="1" type="body"/>
          </p:nvPr>
        </p:nvSpPr>
        <p:spPr>
          <a:xfrm>
            <a:off x="5518500" y="2385000"/>
            <a:ext cx="20160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 they are not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congruent.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88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Prove triangle ABC is congruent to triangle PQR by SAS.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grpSp>
        <p:nvGrpSpPr>
          <p:cNvPr id="1279" name="Google Shape;1279;p88"/>
          <p:cNvGrpSpPr/>
          <p:nvPr/>
        </p:nvGrpSpPr>
        <p:grpSpPr>
          <a:xfrm>
            <a:off x="786075" y="1237200"/>
            <a:ext cx="3015950" cy="1536050"/>
            <a:chOff x="786075" y="1237200"/>
            <a:chExt cx="3015950" cy="1536050"/>
          </a:xfrm>
        </p:grpSpPr>
        <p:sp>
          <p:nvSpPr>
            <p:cNvPr id="1280" name="Google Shape;1280;p88"/>
            <p:cNvSpPr/>
            <p:nvPr/>
          </p:nvSpPr>
          <p:spPr>
            <a:xfrm>
              <a:off x="1040775" y="1478200"/>
              <a:ext cx="2451075" cy="814500"/>
            </a:xfrm>
            <a:custGeom>
              <a:rect b="b" l="l" r="r" t="t"/>
              <a:pathLst>
                <a:path extrusionOk="0" h="32580" w="98043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81" name="Google Shape;1281;p88"/>
            <p:cNvSpPr txBox="1"/>
            <p:nvPr/>
          </p:nvSpPr>
          <p:spPr>
            <a:xfrm>
              <a:off x="786075" y="12372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8"/>
            <p:cNvSpPr txBox="1"/>
            <p:nvPr/>
          </p:nvSpPr>
          <p:spPr>
            <a:xfrm>
              <a:off x="1479300" y="23530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8"/>
            <p:cNvSpPr txBox="1"/>
            <p:nvPr/>
          </p:nvSpPr>
          <p:spPr>
            <a:xfrm>
              <a:off x="3547325" y="221885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4" name="Google Shape;1284;p88"/>
            <p:cNvCxnSpPr/>
            <p:nvPr/>
          </p:nvCxnSpPr>
          <p:spPr>
            <a:xfrm>
              <a:off x="905025" y="1478200"/>
              <a:ext cx="610800" cy="86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85" name="Google Shape;1285;p88"/>
            <p:cNvCxnSpPr/>
            <p:nvPr/>
          </p:nvCxnSpPr>
          <p:spPr>
            <a:xfrm>
              <a:off x="1684800" y="2431300"/>
              <a:ext cx="1831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86" name="Google Shape;1286;p88"/>
            <p:cNvSpPr/>
            <p:nvPr/>
          </p:nvSpPr>
          <p:spPr>
            <a:xfrm>
              <a:off x="1347246" y="1987675"/>
              <a:ext cx="610800" cy="610800"/>
            </a:xfrm>
            <a:prstGeom prst="pie">
              <a:avLst>
                <a:gd fmla="val 13989222" name="adj1"/>
                <a:gd fmla="val 215900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88"/>
            <p:cNvSpPr txBox="1"/>
            <p:nvPr/>
          </p:nvSpPr>
          <p:spPr>
            <a:xfrm>
              <a:off x="2175901" y="2496050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8" name="Google Shape;1288;p88"/>
          <p:cNvGrpSpPr/>
          <p:nvPr/>
        </p:nvGrpSpPr>
        <p:grpSpPr>
          <a:xfrm>
            <a:off x="4216351" y="1176093"/>
            <a:ext cx="3599894" cy="1597157"/>
            <a:chOff x="4216351" y="1176093"/>
            <a:chExt cx="3599894" cy="1597157"/>
          </a:xfrm>
        </p:grpSpPr>
        <p:sp>
          <p:nvSpPr>
            <p:cNvPr id="1289" name="Google Shape;1289;p88"/>
            <p:cNvSpPr/>
            <p:nvPr/>
          </p:nvSpPr>
          <p:spPr>
            <a:xfrm>
              <a:off x="4783050" y="1478200"/>
              <a:ext cx="2451075" cy="814500"/>
            </a:xfrm>
            <a:custGeom>
              <a:rect b="b" l="l" r="r" t="t"/>
              <a:pathLst>
                <a:path extrusionOk="0" h="32580" w="98043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90" name="Google Shape;1290;p88"/>
            <p:cNvSpPr txBox="1"/>
            <p:nvPr/>
          </p:nvSpPr>
          <p:spPr>
            <a:xfrm>
              <a:off x="4500613" y="1312625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88"/>
            <p:cNvSpPr txBox="1"/>
            <p:nvPr/>
          </p:nvSpPr>
          <p:spPr>
            <a:xfrm>
              <a:off x="5193838" y="229270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8"/>
            <p:cNvSpPr txBox="1"/>
            <p:nvPr/>
          </p:nvSpPr>
          <p:spPr>
            <a:xfrm>
              <a:off x="7261863" y="2218850"/>
              <a:ext cx="254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93" name="Google Shape;1293;p88"/>
            <p:cNvCxnSpPr/>
            <p:nvPr/>
          </p:nvCxnSpPr>
          <p:spPr>
            <a:xfrm>
              <a:off x="4626900" y="1497166"/>
              <a:ext cx="610800" cy="86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94" name="Google Shape;1294;p88"/>
            <p:cNvCxnSpPr/>
            <p:nvPr/>
          </p:nvCxnSpPr>
          <p:spPr>
            <a:xfrm>
              <a:off x="5406675" y="2450266"/>
              <a:ext cx="1831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95" name="Google Shape;1295;p88"/>
            <p:cNvSpPr/>
            <p:nvPr/>
          </p:nvSpPr>
          <p:spPr>
            <a:xfrm>
              <a:off x="4479359" y="1176093"/>
              <a:ext cx="610800" cy="610800"/>
            </a:xfrm>
            <a:prstGeom prst="pie">
              <a:avLst>
                <a:gd fmla="val 1084039" name="adj1"/>
                <a:gd fmla="val 3202325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8"/>
            <p:cNvSpPr/>
            <p:nvPr/>
          </p:nvSpPr>
          <p:spPr>
            <a:xfrm rot="9497872">
              <a:off x="6923651" y="1987556"/>
              <a:ext cx="610901" cy="610901"/>
            </a:xfrm>
            <a:prstGeom prst="pie">
              <a:avLst>
                <a:gd fmla="val 1276125" name="adj1"/>
                <a:gd fmla="val 241672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7" name="Google Shape;1297;p88"/>
            <p:cNvSpPr txBox="1"/>
            <p:nvPr/>
          </p:nvSpPr>
          <p:spPr>
            <a:xfrm>
              <a:off x="4216351" y="1859525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88"/>
            <p:cNvSpPr txBox="1"/>
            <p:nvPr/>
          </p:nvSpPr>
          <p:spPr>
            <a:xfrm>
              <a:off x="5966626" y="2496050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8"/>
            <p:cNvSpPr txBox="1"/>
            <p:nvPr/>
          </p:nvSpPr>
          <p:spPr>
            <a:xfrm>
              <a:off x="5090150" y="1664450"/>
              <a:ext cx="63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32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88"/>
            <p:cNvSpPr txBox="1"/>
            <p:nvPr/>
          </p:nvSpPr>
          <p:spPr>
            <a:xfrm>
              <a:off x="7185945" y="1896259"/>
              <a:ext cx="63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1" name="Google Shape;1301;p88"/>
            <p:cNvCxnSpPr/>
            <p:nvPr/>
          </p:nvCxnSpPr>
          <p:spPr>
            <a:xfrm flipH="1" rot="10800000">
              <a:off x="7002000" y="2154525"/>
              <a:ext cx="141900" cy="102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02" name="Google Shape;1302;p88"/>
          <p:cNvSpPr txBox="1"/>
          <p:nvPr/>
        </p:nvSpPr>
        <p:spPr>
          <a:xfrm>
            <a:off x="448025" y="3052500"/>
            <a:ext cx="828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interior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angles of a triangle sum to 180°, 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therefore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∠PQR = 180 - (32 + 20) = 128°.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03" name="Google Shape;1303;p88"/>
          <p:cNvGrpSpPr/>
          <p:nvPr/>
        </p:nvGrpSpPr>
        <p:grpSpPr>
          <a:xfrm>
            <a:off x="5098446" y="1946125"/>
            <a:ext cx="1264504" cy="656825"/>
            <a:chOff x="1347246" y="1941650"/>
            <a:chExt cx="1264504" cy="656825"/>
          </a:xfrm>
        </p:grpSpPr>
        <p:sp>
          <p:nvSpPr>
            <p:cNvPr id="1304" name="Google Shape;1304;p88"/>
            <p:cNvSpPr/>
            <p:nvPr/>
          </p:nvSpPr>
          <p:spPr>
            <a:xfrm>
              <a:off x="1347246" y="1987675"/>
              <a:ext cx="610800" cy="610800"/>
            </a:xfrm>
            <a:prstGeom prst="pie">
              <a:avLst>
                <a:gd fmla="val 13989222" name="adj1"/>
                <a:gd fmla="val 21590043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88"/>
            <p:cNvSpPr txBox="1"/>
            <p:nvPr/>
          </p:nvSpPr>
          <p:spPr>
            <a:xfrm>
              <a:off x="1981450" y="1941650"/>
              <a:ext cx="630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128</a:t>
              </a:r>
              <a:r>
                <a:rPr lang="en-GB" sz="20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°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306" name="Google Shape;1306;p88"/>
          <p:cNvSpPr txBox="1"/>
          <p:nvPr/>
        </p:nvSpPr>
        <p:spPr>
          <a:xfrm>
            <a:off x="400200" y="3744300"/>
            <a:ext cx="828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AB = PQ,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∠ABC = ∠PQR and BC = QR, so triangle ABC is congruent to triangle PQR by SAS (side-angle-side).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07" name="Google Shape;1307;p88"/>
          <p:cNvGrpSpPr/>
          <p:nvPr/>
        </p:nvGrpSpPr>
        <p:grpSpPr>
          <a:xfrm>
            <a:off x="448026" y="1896250"/>
            <a:ext cx="2163724" cy="322600"/>
            <a:chOff x="448026" y="1896250"/>
            <a:chExt cx="2163724" cy="322600"/>
          </a:xfrm>
        </p:grpSpPr>
        <p:sp>
          <p:nvSpPr>
            <p:cNvPr id="1308" name="Google Shape;1308;p88"/>
            <p:cNvSpPr txBox="1"/>
            <p:nvPr/>
          </p:nvSpPr>
          <p:spPr>
            <a:xfrm>
              <a:off x="448026" y="1896250"/>
              <a:ext cx="7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9" name="Google Shape;1309;p88"/>
            <p:cNvSpPr txBox="1"/>
            <p:nvPr/>
          </p:nvSpPr>
          <p:spPr>
            <a:xfrm>
              <a:off x="1981450" y="1941650"/>
              <a:ext cx="63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128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315" name="Google Shape;1315;p89"/>
          <p:cNvSpPr txBox="1"/>
          <p:nvPr>
            <p:ph idx="1" type="body"/>
          </p:nvPr>
        </p:nvSpPr>
        <p:spPr>
          <a:xfrm>
            <a:off x="324000" y="7728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Given a parallelogram ABCD, prove that triangle ABC is congruent to triangle ACD by SAS.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89"/>
          <p:cNvSpPr txBox="1"/>
          <p:nvPr/>
        </p:nvSpPr>
        <p:spPr>
          <a:xfrm>
            <a:off x="2840525" y="1666925"/>
            <a:ext cx="59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 = BC as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opposite edges on a parallelogram are equal in length.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89"/>
          <p:cNvSpPr txBox="1"/>
          <p:nvPr/>
        </p:nvSpPr>
        <p:spPr>
          <a:xfrm>
            <a:off x="2840525" y="2473325"/>
            <a:ext cx="59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∠ABC = ∠ADC as opposite angles in a parallelogram are equal in size.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89"/>
          <p:cNvSpPr txBox="1"/>
          <p:nvPr/>
        </p:nvSpPr>
        <p:spPr>
          <a:xfrm>
            <a:off x="366725" y="3344750"/>
            <a:ext cx="845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AB = DC as opposite edges on a parallelogram are equal in length.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89"/>
          <p:cNvSpPr txBox="1"/>
          <p:nvPr/>
        </p:nvSpPr>
        <p:spPr>
          <a:xfrm>
            <a:off x="366725" y="4049800"/>
            <a:ext cx="845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SAS.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20" name="Google Shape;1320;p89"/>
          <p:cNvGrpSpPr/>
          <p:nvPr/>
        </p:nvGrpSpPr>
        <p:grpSpPr>
          <a:xfrm>
            <a:off x="497049" y="1666921"/>
            <a:ext cx="1957107" cy="1422013"/>
            <a:chOff x="1335300" y="1666975"/>
            <a:chExt cx="2451900" cy="1781525"/>
          </a:xfrm>
        </p:grpSpPr>
        <p:sp>
          <p:nvSpPr>
            <p:cNvPr id="1321" name="Google Shape;1321;p89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fmla="val 25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2" name="Google Shape;1322;p89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23" name="Google Shape;1323;p89"/>
            <p:cNvGrpSpPr/>
            <p:nvPr/>
          </p:nvGrpSpPr>
          <p:grpSpPr>
            <a:xfrm>
              <a:off x="1335300" y="1666975"/>
              <a:ext cx="2099400" cy="1781525"/>
              <a:chOff x="495300" y="1237200"/>
              <a:chExt cx="2099400" cy="1781525"/>
            </a:xfrm>
          </p:grpSpPr>
          <p:sp>
            <p:nvSpPr>
              <p:cNvPr id="1324" name="Google Shape;1324;p89"/>
              <p:cNvSpPr txBox="1"/>
              <p:nvPr/>
            </p:nvSpPr>
            <p:spPr>
              <a:xfrm>
                <a:off x="786075" y="1237200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5" name="Google Shape;1325;p89"/>
              <p:cNvSpPr txBox="1"/>
              <p:nvPr/>
            </p:nvSpPr>
            <p:spPr>
              <a:xfrm>
                <a:off x="495300" y="26341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6" name="Google Shape;1326;p89"/>
              <p:cNvSpPr txBox="1"/>
              <p:nvPr/>
            </p:nvSpPr>
            <p:spPr>
              <a:xfrm>
                <a:off x="2340000" y="26716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27" name="Google Shape;1327;p89"/>
            <p:cNvSpPr txBox="1"/>
            <p:nvPr/>
          </p:nvSpPr>
          <p:spPr>
            <a:xfrm>
              <a:off x="3532500" y="1746300"/>
              <a:ext cx="2547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28" name="Google Shape;1328;p89"/>
          <p:cNvCxnSpPr/>
          <p:nvPr/>
        </p:nvCxnSpPr>
        <p:spPr>
          <a:xfrm>
            <a:off x="1320000" y="2722500"/>
            <a:ext cx="0" cy="22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89"/>
          <p:cNvCxnSpPr/>
          <p:nvPr/>
        </p:nvCxnSpPr>
        <p:spPr>
          <a:xfrm>
            <a:off x="1569900" y="1757400"/>
            <a:ext cx="0" cy="22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0" name="Google Shape;1330;p89"/>
          <p:cNvSpPr/>
          <p:nvPr/>
        </p:nvSpPr>
        <p:spPr>
          <a:xfrm>
            <a:off x="1897413" y="1562100"/>
            <a:ext cx="615600" cy="615600"/>
          </a:xfrm>
          <a:prstGeom prst="pie">
            <a:avLst>
              <a:gd fmla="val 6201810" name="adj1"/>
              <a:gd fmla="val 10819991" name="adj2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9"/>
          <p:cNvSpPr/>
          <p:nvPr/>
        </p:nvSpPr>
        <p:spPr>
          <a:xfrm rot="10800000">
            <a:off x="366725" y="2523626"/>
            <a:ext cx="615600" cy="615600"/>
          </a:xfrm>
          <a:prstGeom prst="pie">
            <a:avLst>
              <a:gd fmla="val 6201810" name="adj1"/>
              <a:gd fmla="val 10819991" name="adj2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2" name="Google Shape;133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00" y="1901475"/>
            <a:ext cx="1592175" cy="9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338" name="Google Shape;1338;p90"/>
          <p:cNvSpPr txBox="1"/>
          <p:nvPr>
            <p:ph idx="1" type="body"/>
          </p:nvPr>
        </p:nvSpPr>
        <p:spPr>
          <a:xfrm>
            <a:off x="324000" y="7728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Given a parallelogram ABCD, prove that triangle ABC is congruent to triangle ACD by SAS.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339" name="Google Shape;1339;p90"/>
          <p:cNvGrpSpPr/>
          <p:nvPr/>
        </p:nvGrpSpPr>
        <p:grpSpPr>
          <a:xfrm>
            <a:off x="497049" y="1666921"/>
            <a:ext cx="1957107" cy="1422013"/>
            <a:chOff x="1335300" y="1666975"/>
            <a:chExt cx="2451900" cy="1781525"/>
          </a:xfrm>
        </p:grpSpPr>
        <p:sp>
          <p:nvSpPr>
            <p:cNvPr id="1340" name="Google Shape;1340;p90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fmla="val 25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1" name="Google Shape;1341;p90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42" name="Google Shape;1342;p90"/>
            <p:cNvGrpSpPr/>
            <p:nvPr/>
          </p:nvGrpSpPr>
          <p:grpSpPr>
            <a:xfrm>
              <a:off x="1335300" y="1666975"/>
              <a:ext cx="2099400" cy="1781525"/>
              <a:chOff x="495300" y="1237200"/>
              <a:chExt cx="2099400" cy="1781525"/>
            </a:xfrm>
          </p:grpSpPr>
          <p:sp>
            <p:nvSpPr>
              <p:cNvPr id="1343" name="Google Shape;1343;p90"/>
              <p:cNvSpPr txBox="1"/>
              <p:nvPr/>
            </p:nvSpPr>
            <p:spPr>
              <a:xfrm>
                <a:off x="786075" y="1237200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4" name="Google Shape;1344;p90"/>
              <p:cNvSpPr txBox="1"/>
              <p:nvPr/>
            </p:nvSpPr>
            <p:spPr>
              <a:xfrm>
                <a:off x="495300" y="26341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5" name="Google Shape;1345;p90"/>
              <p:cNvSpPr txBox="1"/>
              <p:nvPr/>
            </p:nvSpPr>
            <p:spPr>
              <a:xfrm>
                <a:off x="2340000" y="2671625"/>
                <a:ext cx="254700" cy="34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46" name="Google Shape;1346;p90"/>
            <p:cNvSpPr txBox="1"/>
            <p:nvPr/>
          </p:nvSpPr>
          <p:spPr>
            <a:xfrm>
              <a:off x="3532500" y="1746300"/>
              <a:ext cx="2547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7" name="Google Shape;1347;p90"/>
          <p:cNvSpPr txBox="1"/>
          <p:nvPr/>
        </p:nvSpPr>
        <p:spPr>
          <a:xfrm>
            <a:off x="2820000" y="1666925"/>
            <a:ext cx="597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AD = BC as opposite edges on a parallelogram are equal in length.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48" name="Google Shape;1348;p90"/>
          <p:cNvCxnSpPr/>
          <p:nvPr/>
        </p:nvCxnSpPr>
        <p:spPr>
          <a:xfrm>
            <a:off x="1320000" y="2722500"/>
            <a:ext cx="0" cy="22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90"/>
          <p:cNvCxnSpPr/>
          <p:nvPr/>
        </p:nvCxnSpPr>
        <p:spPr>
          <a:xfrm>
            <a:off x="1569900" y="1757400"/>
            <a:ext cx="0" cy="22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0" name="Google Shape;1350;p90"/>
          <p:cNvSpPr txBox="1"/>
          <p:nvPr/>
        </p:nvSpPr>
        <p:spPr>
          <a:xfrm>
            <a:off x="2820000" y="2423700"/>
            <a:ext cx="5642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∠DAC = ∠ACB as they are equal interior alternate angles.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90"/>
          <p:cNvSpPr txBox="1"/>
          <p:nvPr/>
        </p:nvSpPr>
        <p:spPr>
          <a:xfrm>
            <a:off x="2820000" y="3255000"/>
            <a:ext cx="543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 is a shared side.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90"/>
          <p:cNvSpPr txBox="1"/>
          <p:nvPr/>
        </p:nvSpPr>
        <p:spPr>
          <a:xfrm>
            <a:off x="2820000" y="3919800"/>
            <a:ext cx="491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SAS.</a:t>
            </a:r>
            <a:endParaRPr/>
          </a:p>
        </p:txBody>
      </p:sp>
      <p:sp>
        <p:nvSpPr>
          <p:cNvPr id="1353" name="Google Shape;1353;p90"/>
          <p:cNvSpPr/>
          <p:nvPr/>
        </p:nvSpPr>
        <p:spPr>
          <a:xfrm rot="10800000">
            <a:off x="608850" y="1562101"/>
            <a:ext cx="615600" cy="615600"/>
          </a:xfrm>
          <a:prstGeom prst="pie">
            <a:avLst>
              <a:gd fmla="val 10795497" name="adj1"/>
              <a:gd fmla="val 13352664" name="adj2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90"/>
          <p:cNvSpPr/>
          <p:nvPr/>
        </p:nvSpPr>
        <p:spPr>
          <a:xfrm>
            <a:off x="1644797" y="2521565"/>
            <a:ext cx="615600" cy="615600"/>
          </a:xfrm>
          <a:prstGeom prst="pie">
            <a:avLst>
              <a:gd fmla="val 10795497" name="adj1"/>
              <a:gd fmla="val 13352664" name="adj2"/>
            </a:avLst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5" name="Google Shape;1355;p90"/>
          <p:cNvCxnSpPr/>
          <p:nvPr/>
        </p:nvCxnSpPr>
        <p:spPr>
          <a:xfrm>
            <a:off x="910229" y="1868885"/>
            <a:ext cx="1053600" cy="969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congruence by SAS</a:t>
            </a:r>
            <a:endParaRPr/>
          </a:p>
        </p:txBody>
      </p:sp>
      <p:sp>
        <p:nvSpPr>
          <p:cNvPr id="1361" name="Google Shape;1361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362" name="Google Shape;1362;p9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pic>
        <p:nvPicPr>
          <p:cNvPr id="1363" name="Google Shape;136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73" y="299507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92"/>
          <p:cNvSpPr txBox="1"/>
          <p:nvPr>
            <p:ph idx="1" type="body"/>
          </p:nvPr>
        </p:nvSpPr>
        <p:spPr>
          <a:xfrm>
            <a:off x="324000" y="7593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 are discussing the amount of information you need to prove two triangles are congruent to each other.</a:t>
            </a:r>
            <a:endParaRPr sz="1800"/>
          </a:p>
        </p:txBody>
      </p:sp>
      <p:sp>
        <p:nvSpPr>
          <p:cNvPr id="1369" name="Google Shape;136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370" name="Google Shape;1370;p92"/>
          <p:cNvSpPr/>
          <p:nvPr/>
        </p:nvSpPr>
        <p:spPr>
          <a:xfrm>
            <a:off x="3170161" y="1657192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1" name="Google Shape;1371;p92"/>
          <p:cNvSpPr txBox="1"/>
          <p:nvPr>
            <p:ph idx="1" type="body"/>
          </p:nvPr>
        </p:nvSpPr>
        <p:spPr>
          <a:xfrm>
            <a:off x="4005105" y="1855700"/>
            <a:ext cx="165300" cy="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92"/>
          <p:cNvSpPr txBox="1"/>
          <p:nvPr>
            <p:ph idx="1" type="body"/>
          </p:nvPr>
        </p:nvSpPr>
        <p:spPr>
          <a:xfrm>
            <a:off x="3704949" y="2469849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92"/>
          <p:cNvSpPr txBox="1"/>
          <p:nvPr>
            <p:ph idx="1" type="body"/>
          </p:nvPr>
        </p:nvSpPr>
        <p:spPr>
          <a:xfrm>
            <a:off x="3089626" y="1806168"/>
            <a:ext cx="133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4" name="Google Shape;1374;p92"/>
          <p:cNvSpPr/>
          <p:nvPr/>
        </p:nvSpPr>
        <p:spPr>
          <a:xfrm>
            <a:off x="5245704" y="1616495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75" name="Google Shape;1375;p92"/>
          <p:cNvSpPr txBox="1"/>
          <p:nvPr>
            <p:ph idx="1" type="body"/>
          </p:nvPr>
        </p:nvSpPr>
        <p:spPr>
          <a:xfrm>
            <a:off x="6144907" y="1857630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6" name="Google Shape;1376;p92"/>
          <p:cNvSpPr txBox="1"/>
          <p:nvPr>
            <p:ph idx="1" type="body"/>
          </p:nvPr>
        </p:nvSpPr>
        <p:spPr>
          <a:xfrm>
            <a:off x="5780492" y="2429152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7" name="Google Shape;1377;p92"/>
          <p:cNvSpPr txBox="1"/>
          <p:nvPr>
            <p:ph idx="1" type="body"/>
          </p:nvPr>
        </p:nvSpPr>
        <p:spPr>
          <a:xfrm>
            <a:off x="5269140" y="1830940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8" name="Google Shape;137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6433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6200" y="392466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56255" y="2825700"/>
            <a:ext cx="3658276" cy="15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2"/>
          <p:cNvSpPr txBox="1"/>
          <p:nvPr>
            <p:ph idx="1" type="body"/>
          </p:nvPr>
        </p:nvSpPr>
        <p:spPr>
          <a:xfrm>
            <a:off x="1112250" y="2871250"/>
            <a:ext cx="34206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you only know the three corresponding edge lengths are equal, then you can prove they are congruent by SSS.</a:t>
            </a:r>
            <a:endParaRPr sz="1800"/>
          </a:p>
        </p:txBody>
      </p:sp>
      <p:pic>
        <p:nvPicPr>
          <p:cNvPr id="1382" name="Google Shape;1382;p9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188200" y="2930475"/>
            <a:ext cx="2688973" cy="128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92"/>
          <p:cNvSpPr txBox="1"/>
          <p:nvPr>
            <p:ph idx="1" type="body"/>
          </p:nvPr>
        </p:nvSpPr>
        <p:spPr>
          <a:xfrm flipH="1">
            <a:off x="5277000" y="2995075"/>
            <a:ext cx="2419200" cy="9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Yes, the angles are fixed by the edge </a:t>
            </a:r>
            <a:r>
              <a:rPr lang="en-GB" sz="1800"/>
              <a:t>lengths</a:t>
            </a:r>
            <a:r>
              <a:rPr lang="en-GB" sz="1800"/>
              <a:t>. SSS!</a:t>
            </a:r>
            <a:endParaRPr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93"/>
          <p:cNvSpPr txBox="1"/>
          <p:nvPr>
            <p:ph idx="1" type="body"/>
          </p:nvPr>
        </p:nvSpPr>
        <p:spPr>
          <a:xfrm>
            <a:off x="324000" y="7593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 are discussing the amount of information you need to prove two triangles are congruent to each other.</a:t>
            </a:r>
            <a:endParaRPr sz="1800"/>
          </a:p>
        </p:txBody>
      </p:sp>
      <p:sp>
        <p:nvSpPr>
          <p:cNvPr id="1389" name="Google Shape;138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390" name="Google Shape;1390;p93"/>
          <p:cNvSpPr/>
          <p:nvPr/>
        </p:nvSpPr>
        <p:spPr>
          <a:xfrm>
            <a:off x="3170161" y="1657192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1" name="Google Shape;1391;p93"/>
          <p:cNvSpPr txBox="1"/>
          <p:nvPr>
            <p:ph idx="1" type="body"/>
          </p:nvPr>
        </p:nvSpPr>
        <p:spPr>
          <a:xfrm>
            <a:off x="4005105" y="1855700"/>
            <a:ext cx="165300" cy="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93"/>
          <p:cNvSpPr txBox="1"/>
          <p:nvPr>
            <p:ph idx="1" type="body"/>
          </p:nvPr>
        </p:nvSpPr>
        <p:spPr>
          <a:xfrm>
            <a:off x="3089626" y="1806168"/>
            <a:ext cx="133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3" name="Google Shape;1393;p93"/>
          <p:cNvSpPr/>
          <p:nvPr/>
        </p:nvSpPr>
        <p:spPr>
          <a:xfrm>
            <a:off x="5245704" y="1616495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4" name="Google Shape;1394;p93"/>
          <p:cNvSpPr txBox="1"/>
          <p:nvPr>
            <p:ph idx="1" type="body"/>
          </p:nvPr>
        </p:nvSpPr>
        <p:spPr>
          <a:xfrm>
            <a:off x="6144907" y="1857630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5" name="Google Shape;1395;p93"/>
          <p:cNvSpPr txBox="1"/>
          <p:nvPr>
            <p:ph idx="1" type="body"/>
          </p:nvPr>
        </p:nvSpPr>
        <p:spPr>
          <a:xfrm>
            <a:off x="5269140" y="1830940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6" name="Google Shape;139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6433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6200" y="392466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9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820339" y="2840075"/>
            <a:ext cx="3863276" cy="15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93"/>
          <p:cNvSpPr txBox="1"/>
          <p:nvPr>
            <p:ph idx="1" type="body"/>
          </p:nvPr>
        </p:nvSpPr>
        <p:spPr>
          <a:xfrm>
            <a:off x="1112248" y="2871250"/>
            <a:ext cx="36432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you know two corresponding sides and the angle between them, then you can prove the two triangles are congruent.</a:t>
            </a:r>
            <a:endParaRPr sz="1800"/>
          </a:p>
        </p:txBody>
      </p:sp>
      <p:pic>
        <p:nvPicPr>
          <p:cNvPr id="1400" name="Google Shape;1400;p9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609925" y="3269350"/>
            <a:ext cx="2194227" cy="10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93"/>
          <p:cNvSpPr txBox="1"/>
          <p:nvPr>
            <p:ph idx="1" type="body"/>
          </p:nvPr>
        </p:nvSpPr>
        <p:spPr>
          <a:xfrm flipH="1">
            <a:off x="5694950" y="3327150"/>
            <a:ext cx="2052900" cy="9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Yes, by SAS (side-angle-side)!</a:t>
            </a:r>
            <a:endParaRPr sz="1800"/>
          </a:p>
        </p:txBody>
      </p:sp>
      <p:sp>
        <p:nvSpPr>
          <p:cNvPr id="1402" name="Google Shape;1402;p93"/>
          <p:cNvSpPr txBox="1"/>
          <p:nvPr>
            <p:ph idx="1" type="body"/>
          </p:nvPr>
        </p:nvSpPr>
        <p:spPr>
          <a:xfrm>
            <a:off x="3495245" y="1340832"/>
            <a:ext cx="198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3" name="Google Shape;1403;p93"/>
          <p:cNvSpPr txBox="1"/>
          <p:nvPr>
            <p:ph idx="1" type="body"/>
          </p:nvPr>
        </p:nvSpPr>
        <p:spPr>
          <a:xfrm>
            <a:off x="5581534" y="1313925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4"/>
          <p:cNvSpPr txBox="1"/>
          <p:nvPr>
            <p:ph idx="1" type="body"/>
          </p:nvPr>
        </p:nvSpPr>
        <p:spPr>
          <a:xfrm>
            <a:off x="324000" y="7593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 are discussing the amount of information you need to prove two triangles are congruent to each other.</a:t>
            </a:r>
            <a:endParaRPr sz="1800"/>
          </a:p>
        </p:txBody>
      </p:sp>
      <p:sp>
        <p:nvSpPr>
          <p:cNvPr id="1409" name="Google Shape;140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410" name="Google Shape;1410;p94"/>
          <p:cNvSpPr/>
          <p:nvPr/>
        </p:nvSpPr>
        <p:spPr>
          <a:xfrm>
            <a:off x="3170161" y="1657192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1" name="Google Shape;1411;p94"/>
          <p:cNvSpPr txBox="1"/>
          <p:nvPr>
            <p:ph idx="1" type="body"/>
          </p:nvPr>
        </p:nvSpPr>
        <p:spPr>
          <a:xfrm>
            <a:off x="2977725" y="2324711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94"/>
          <p:cNvSpPr txBox="1"/>
          <p:nvPr>
            <p:ph idx="1" type="body"/>
          </p:nvPr>
        </p:nvSpPr>
        <p:spPr>
          <a:xfrm>
            <a:off x="4005105" y="1855700"/>
            <a:ext cx="165300" cy="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94"/>
          <p:cNvSpPr txBox="1"/>
          <p:nvPr>
            <p:ph idx="1" type="body"/>
          </p:nvPr>
        </p:nvSpPr>
        <p:spPr>
          <a:xfrm>
            <a:off x="3704949" y="2469849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4" name="Google Shape;1414;p94"/>
          <p:cNvSpPr/>
          <p:nvPr/>
        </p:nvSpPr>
        <p:spPr>
          <a:xfrm>
            <a:off x="5245704" y="1616495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5" name="Google Shape;1415;p94"/>
          <p:cNvSpPr txBox="1"/>
          <p:nvPr>
            <p:ph idx="1" type="body"/>
          </p:nvPr>
        </p:nvSpPr>
        <p:spPr>
          <a:xfrm>
            <a:off x="5045107" y="2295539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6" name="Google Shape;1416;p94"/>
          <p:cNvSpPr txBox="1"/>
          <p:nvPr>
            <p:ph idx="1" type="body"/>
          </p:nvPr>
        </p:nvSpPr>
        <p:spPr>
          <a:xfrm>
            <a:off x="6144907" y="1857630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94"/>
          <p:cNvSpPr txBox="1"/>
          <p:nvPr>
            <p:ph idx="1" type="body"/>
          </p:nvPr>
        </p:nvSpPr>
        <p:spPr>
          <a:xfrm>
            <a:off x="5780492" y="2429152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8" name="Google Shape;141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6433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6200" y="3924662"/>
            <a:ext cx="727175" cy="89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9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906542" y="2825700"/>
            <a:ext cx="3091374" cy="15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94"/>
          <p:cNvSpPr txBox="1"/>
          <p:nvPr>
            <p:ph idx="1" type="body"/>
          </p:nvPr>
        </p:nvSpPr>
        <p:spPr>
          <a:xfrm>
            <a:off x="1112250" y="2871250"/>
            <a:ext cx="29802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 these two </a:t>
            </a:r>
            <a:r>
              <a:rPr lang="en-GB" sz="1800"/>
              <a:t>corresponding</a:t>
            </a:r>
            <a:r>
              <a:rPr lang="en-GB" sz="1800"/>
              <a:t> sides and angle, prove they are congruent to each other?</a:t>
            </a:r>
            <a:endParaRPr sz="1800"/>
          </a:p>
        </p:txBody>
      </p:sp>
      <p:pic>
        <p:nvPicPr>
          <p:cNvPr id="1422" name="Google Shape;1422;p94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188200" y="2930475"/>
            <a:ext cx="2688973" cy="1289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94"/>
          <p:cNvSpPr txBox="1"/>
          <p:nvPr>
            <p:ph idx="1" type="body"/>
          </p:nvPr>
        </p:nvSpPr>
        <p:spPr>
          <a:xfrm flipH="1">
            <a:off x="5277000" y="2995075"/>
            <a:ext cx="2419200" cy="9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I’m not sure? Let’s look at an example.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cxnSp>
        <p:nvCxnSpPr>
          <p:cNvPr id="1429" name="Google Shape;1429;p95"/>
          <p:cNvCxnSpPr/>
          <p:nvPr/>
        </p:nvCxnSpPr>
        <p:spPr>
          <a:xfrm flipH="1" rot="10800000">
            <a:off x="781050" y="3239850"/>
            <a:ext cx="3449400" cy="5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0" name="Google Shape;1430;p95"/>
          <p:cNvCxnSpPr/>
          <p:nvPr/>
        </p:nvCxnSpPr>
        <p:spPr>
          <a:xfrm flipH="1" rot="10800000">
            <a:off x="4867275" y="3592275"/>
            <a:ext cx="3449400" cy="5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1" name="Google Shape;1431;p95"/>
          <p:cNvSpPr/>
          <p:nvPr/>
        </p:nvSpPr>
        <p:spPr>
          <a:xfrm>
            <a:off x="432769" y="3269688"/>
            <a:ext cx="733500" cy="733500"/>
          </a:xfrm>
          <a:prstGeom prst="pie">
            <a:avLst>
              <a:gd fmla="val 18118475" name="adj1"/>
              <a:gd fmla="val 2118106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95"/>
          <p:cNvSpPr/>
          <p:nvPr/>
        </p:nvSpPr>
        <p:spPr>
          <a:xfrm>
            <a:off x="4457244" y="3621188"/>
            <a:ext cx="733500" cy="733500"/>
          </a:xfrm>
          <a:prstGeom prst="pie">
            <a:avLst>
              <a:gd fmla="val 18118475" name="adj1"/>
              <a:gd fmla="val 2118106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3" name="Google Shape;1433;p95"/>
          <p:cNvCxnSpPr/>
          <p:nvPr/>
        </p:nvCxnSpPr>
        <p:spPr>
          <a:xfrm>
            <a:off x="1417875" y="2571750"/>
            <a:ext cx="2836500" cy="4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4" name="Google Shape;1434;p95"/>
          <p:cNvCxnSpPr/>
          <p:nvPr/>
        </p:nvCxnSpPr>
        <p:spPr>
          <a:xfrm>
            <a:off x="6650275" y="1080000"/>
            <a:ext cx="1719000" cy="22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5" name="Google Shape;1435;p95"/>
          <p:cNvSpPr txBox="1"/>
          <p:nvPr/>
        </p:nvSpPr>
        <p:spPr>
          <a:xfrm>
            <a:off x="2238726" y="354700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5"/>
          <p:cNvSpPr txBox="1"/>
          <p:nvPr/>
        </p:nvSpPr>
        <p:spPr>
          <a:xfrm>
            <a:off x="1153575" y="31825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5"/>
          <p:cNvSpPr txBox="1"/>
          <p:nvPr/>
        </p:nvSpPr>
        <p:spPr>
          <a:xfrm>
            <a:off x="2658301" y="243315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95"/>
          <p:cNvSpPr txBox="1"/>
          <p:nvPr/>
        </p:nvSpPr>
        <p:spPr>
          <a:xfrm>
            <a:off x="6481001" y="391905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95"/>
          <p:cNvSpPr txBox="1"/>
          <p:nvPr/>
        </p:nvSpPr>
        <p:spPr>
          <a:xfrm>
            <a:off x="7543301" y="182355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95"/>
          <p:cNvSpPr/>
          <p:nvPr/>
        </p:nvSpPr>
        <p:spPr>
          <a:xfrm>
            <a:off x="4824000" y="1151075"/>
            <a:ext cx="3430600" cy="2841350"/>
          </a:xfrm>
          <a:custGeom>
            <a:rect b="b" l="l" r="r" t="t"/>
            <a:pathLst>
              <a:path extrusionOk="0" h="113654" w="137224">
                <a:moveTo>
                  <a:pt x="0" y="113654"/>
                </a:moveTo>
                <a:lnTo>
                  <a:pt x="137224" y="92667"/>
                </a:lnTo>
                <a:lnTo>
                  <a:pt x="68289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1" name="Google Shape;1441;p95"/>
          <p:cNvSpPr txBox="1"/>
          <p:nvPr/>
        </p:nvSpPr>
        <p:spPr>
          <a:xfrm>
            <a:off x="5190750" y="34978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95"/>
          <p:cNvSpPr/>
          <p:nvPr/>
        </p:nvSpPr>
        <p:spPr>
          <a:xfrm>
            <a:off x="791700" y="2700000"/>
            <a:ext cx="3429000" cy="946450"/>
          </a:xfrm>
          <a:custGeom>
            <a:rect b="b" l="l" r="r" t="t"/>
            <a:pathLst>
              <a:path extrusionOk="0" h="37858" w="137160">
                <a:moveTo>
                  <a:pt x="23102" y="0"/>
                </a:moveTo>
                <a:lnTo>
                  <a:pt x="137160" y="17175"/>
                </a:lnTo>
                <a:lnTo>
                  <a:pt x="0" y="3785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43" name="Google Shape;1443;p95"/>
          <p:cNvSpPr txBox="1"/>
          <p:nvPr>
            <p:ph idx="1" type="body"/>
          </p:nvPr>
        </p:nvSpPr>
        <p:spPr>
          <a:xfrm>
            <a:off x="324000" y="7593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two triangles both have a 50° angle, an edge that is 5 cm and an </a:t>
            </a:r>
            <a:r>
              <a:rPr lang="en-GB" sz="1800"/>
              <a:t>edge</a:t>
            </a:r>
            <a:r>
              <a:rPr lang="en-GB" sz="1800"/>
              <a:t> that is 6 cm, but they are not congruent.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cxnSp>
        <p:nvCxnSpPr>
          <p:cNvPr id="1449" name="Google Shape;1449;p96"/>
          <p:cNvCxnSpPr/>
          <p:nvPr/>
        </p:nvCxnSpPr>
        <p:spPr>
          <a:xfrm flipH="1" rot="10800000">
            <a:off x="4867275" y="3592275"/>
            <a:ext cx="3449400" cy="51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0" name="Google Shape;1450;p96"/>
          <p:cNvSpPr/>
          <p:nvPr/>
        </p:nvSpPr>
        <p:spPr>
          <a:xfrm>
            <a:off x="4458669" y="3612738"/>
            <a:ext cx="733500" cy="733500"/>
          </a:xfrm>
          <a:prstGeom prst="pie">
            <a:avLst>
              <a:gd fmla="val 18118475" name="adj1"/>
              <a:gd fmla="val 2118106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96"/>
          <p:cNvSpPr/>
          <p:nvPr/>
        </p:nvSpPr>
        <p:spPr>
          <a:xfrm>
            <a:off x="4457244" y="3621188"/>
            <a:ext cx="733500" cy="733500"/>
          </a:xfrm>
          <a:prstGeom prst="pie">
            <a:avLst>
              <a:gd fmla="val 18118475" name="adj1"/>
              <a:gd fmla="val 2118106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2" name="Google Shape;1452;p96"/>
          <p:cNvCxnSpPr/>
          <p:nvPr/>
        </p:nvCxnSpPr>
        <p:spPr>
          <a:xfrm>
            <a:off x="5443775" y="2914800"/>
            <a:ext cx="2836500" cy="4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3" name="Google Shape;1453;p96"/>
          <p:cNvCxnSpPr/>
          <p:nvPr/>
        </p:nvCxnSpPr>
        <p:spPr>
          <a:xfrm>
            <a:off x="6650275" y="1080000"/>
            <a:ext cx="1719000" cy="229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4" name="Google Shape;1454;p96"/>
          <p:cNvSpPr/>
          <p:nvPr/>
        </p:nvSpPr>
        <p:spPr>
          <a:xfrm>
            <a:off x="4817600" y="3043050"/>
            <a:ext cx="3429000" cy="946450"/>
          </a:xfrm>
          <a:custGeom>
            <a:rect b="b" l="l" r="r" t="t"/>
            <a:pathLst>
              <a:path extrusionOk="0" h="37858" w="137160">
                <a:moveTo>
                  <a:pt x="23102" y="0"/>
                </a:moveTo>
                <a:lnTo>
                  <a:pt x="137160" y="17175"/>
                </a:lnTo>
                <a:lnTo>
                  <a:pt x="0" y="3785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5" name="Google Shape;1455;p96"/>
          <p:cNvSpPr txBox="1"/>
          <p:nvPr/>
        </p:nvSpPr>
        <p:spPr>
          <a:xfrm>
            <a:off x="6684201" y="277620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96"/>
          <p:cNvSpPr txBox="1"/>
          <p:nvPr/>
        </p:nvSpPr>
        <p:spPr>
          <a:xfrm>
            <a:off x="7543301" y="182355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96"/>
          <p:cNvSpPr txBox="1"/>
          <p:nvPr>
            <p:ph idx="1" type="body"/>
          </p:nvPr>
        </p:nvSpPr>
        <p:spPr>
          <a:xfrm>
            <a:off x="324000" y="759300"/>
            <a:ext cx="82377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two triangles, have the same angle and two edges of the same length, but they are not congruent.</a:t>
            </a:r>
            <a:endParaRPr sz="1800"/>
          </a:p>
        </p:txBody>
      </p:sp>
      <p:sp>
        <p:nvSpPr>
          <p:cNvPr id="1458" name="Google Shape;1458;p96"/>
          <p:cNvSpPr txBox="1"/>
          <p:nvPr/>
        </p:nvSpPr>
        <p:spPr>
          <a:xfrm>
            <a:off x="6481001" y="391905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96"/>
          <p:cNvSpPr txBox="1"/>
          <p:nvPr/>
        </p:nvSpPr>
        <p:spPr>
          <a:xfrm>
            <a:off x="5190750" y="34978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96"/>
          <p:cNvSpPr/>
          <p:nvPr/>
        </p:nvSpPr>
        <p:spPr>
          <a:xfrm>
            <a:off x="4824000" y="1151075"/>
            <a:ext cx="3430600" cy="2841350"/>
          </a:xfrm>
          <a:custGeom>
            <a:rect b="b" l="l" r="r" t="t"/>
            <a:pathLst>
              <a:path extrusionOk="0" h="113654" w="137224">
                <a:moveTo>
                  <a:pt x="0" y="113654"/>
                </a:moveTo>
                <a:lnTo>
                  <a:pt x="137224" y="92667"/>
                </a:lnTo>
                <a:lnTo>
                  <a:pt x="68289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61" name="Google Shape;1461;p96"/>
          <p:cNvSpPr/>
          <p:nvPr/>
        </p:nvSpPr>
        <p:spPr>
          <a:xfrm>
            <a:off x="5352575" y="593250"/>
            <a:ext cx="5785200" cy="5785200"/>
          </a:xfrm>
          <a:prstGeom prst="arc">
            <a:avLst>
              <a:gd fmla="val 9234652" name="adj1"/>
              <a:gd fmla="val 14262400" name="adj2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6"/>
          <p:cNvSpPr txBox="1"/>
          <p:nvPr>
            <p:ph idx="1" type="body"/>
          </p:nvPr>
        </p:nvSpPr>
        <p:spPr>
          <a:xfrm>
            <a:off x="324000" y="1767750"/>
            <a:ext cx="38289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due to the circle with radius 5 cm, intersecting with the ray at two distinct points.</a:t>
            </a:r>
            <a:endParaRPr sz="1800"/>
          </a:p>
        </p:txBody>
      </p:sp>
      <p:grpSp>
        <p:nvGrpSpPr>
          <p:cNvPr id="1463" name="Google Shape;1463;p96"/>
          <p:cNvGrpSpPr/>
          <p:nvPr/>
        </p:nvGrpSpPr>
        <p:grpSpPr>
          <a:xfrm>
            <a:off x="5319482" y="2970500"/>
            <a:ext cx="151200" cy="151200"/>
            <a:chOff x="3573225" y="3347200"/>
            <a:chExt cx="151200" cy="151200"/>
          </a:xfrm>
        </p:grpSpPr>
        <p:cxnSp>
          <p:nvCxnSpPr>
            <p:cNvPr id="1464" name="Google Shape;1464;p96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5" name="Google Shape;1465;p96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6" name="Google Shape;1466;p96"/>
          <p:cNvGrpSpPr/>
          <p:nvPr/>
        </p:nvGrpSpPr>
        <p:grpSpPr>
          <a:xfrm>
            <a:off x="6451719" y="1082505"/>
            <a:ext cx="151200" cy="151200"/>
            <a:chOff x="3573225" y="3347200"/>
            <a:chExt cx="151200" cy="151200"/>
          </a:xfrm>
        </p:grpSpPr>
        <p:cxnSp>
          <p:nvCxnSpPr>
            <p:cNvPr id="1467" name="Google Shape;1467;p96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96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9" name="Google Shape;1469;p96"/>
          <p:cNvSpPr txBox="1"/>
          <p:nvPr>
            <p:ph idx="1" type="body"/>
          </p:nvPr>
        </p:nvSpPr>
        <p:spPr>
          <a:xfrm>
            <a:off x="324000" y="3155725"/>
            <a:ext cx="3828900" cy="7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Knowing two sides and an angle is not </a:t>
            </a:r>
            <a:r>
              <a:rPr lang="en-GB" sz="1800"/>
              <a:t>enough to prove congruence. The angle must be between the two known sides.</a:t>
            </a:r>
            <a:endParaRPr sz="1800"/>
          </a:p>
        </p:txBody>
      </p:sp>
      <p:sp>
        <p:nvSpPr>
          <p:cNvPr id="1470" name="Google Shape;1470;p96"/>
          <p:cNvSpPr txBox="1"/>
          <p:nvPr/>
        </p:nvSpPr>
        <p:spPr>
          <a:xfrm>
            <a:off x="7297075" y="4354700"/>
            <a:ext cx="10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🖇 </a:t>
            </a:r>
            <a:r>
              <a:rPr lang="en-GB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SSA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97"/>
          <p:cNvSpPr/>
          <p:nvPr/>
        </p:nvSpPr>
        <p:spPr>
          <a:xfrm>
            <a:off x="4755677" y="761475"/>
            <a:ext cx="3898200" cy="17613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97"/>
          <p:cNvSpPr/>
          <p:nvPr/>
        </p:nvSpPr>
        <p:spPr>
          <a:xfrm>
            <a:off x="488477" y="761475"/>
            <a:ext cx="3898200" cy="1761300"/>
          </a:xfrm>
          <a:prstGeom prst="roundRect">
            <a:avLst>
              <a:gd fmla="val 16667" name="adj"/>
            </a:avLst>
          </a:prstGeom>
          <a:solidFill>
            <a:srgbClr val="E6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7" name="Google Shape;1477;p9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857251" y="2816056"/>
            <a:ext cx="3359549" cy="190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pic>
        <p:nvPicPr>
          <p:cNvPr id="1479" name="Google Shape;1479;p9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10875" y="2932350"/>
            <a:ext cx="2976952" cy="122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0" name="Google Shape;1480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64336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1" name="Google Shape;1481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6200" y="392466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97"/>
          <p:cNvSpPr txBox="1"/>
          <p:nvPr>
            <p:ph idx="1" type="body"/>
          </p:nvPr>
        </p:nvSpPr>
        <p:spPr>
          <a:xfrm>
            <a:off x="1141200" y="3011950"/>
            <a:ext cx="3058200" cy="8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we need a minimum of three pieces of information and one from each pair of side and angles</a:t>
            </a:r>
            <a:endParaRPr sz="1800"/>
          </a:p>
        </p:txBody>
      </p:sp>
      <p:sp>
        <p:nvSpPr>
          <p:cNvPr id="1483" name="Google Shape;1483;p97"/>
          <p:cNvSpPr txBox="1"/>
          <p:nvPr>
            <p:ph idx="1" type="body"/>
          </p:nvPr>
        </p:nvSpPr>
        <p:spPr>
          <a:xfrm flipH="1">
            <a:off x="4695750" y="2985550"/>
            <a:ext cx="2638500" cy="9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But they have to be the corresponding pairs on each triangle.</a:t>
            </a:r>
            <a:endParaRPr sz="1800"/>
          </a:p>
        </p:txBody>
      </p:sp>
      <p:sp>
        <p:nvSpPr>
          <p:cNvPr id="1484" name="Google Shape;1484;p97"/>
          <p:cNvSpPr/>
          <p:nvPr/>
        </p:nvSpPr>
        <p:spPr>
          <a:xfrm>
            <a:off x="807961" y="1276192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85" name="Google Shape;1485;p97"/>
          <p:cNvSpPr txBox="1"/>
          <p:nvPr>
            <p:ph idx="1" type="body"/>
          </p:nvPr>
        </p:nvSpPr>
        <p:spPr>
          <a:xfrm>
            <a:off x="1642905" y="1474700"/>
            <a:ext cx="165300" cy="2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6" name="Google Shape;1486;p97"/>
          <p:cNvSpPr txBox="1"/>
          <p:nvPr>
            <p:ph idx="1" type="body"/>
          </p:nvPr>
        </p:nvSpPr>
        <p:spPr>
          <a:xfrm>
            <a:off x="1342749" y="2088849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7" name="Google Shape;1487;p97"/>
          <p:cNvSpPr txBox="1"/>
          <p:nvPr>
            <p:ph idx="1" type="body"/>
          </p:nvPr>
        </p:nvSpPr>
        <p:spPr>
          <a:xfrm>
            <a:off x="727426" y="1425168"/>
            <a:ext cx="133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8" name="Google Shape;1488;p97"/>
          <p:cNvSpPr/>
          <p:nvPr/>
        </p:nvSpPr>
        <p:spPr>
          <a:xfrm flipH="1">
            <a:off x="2883504" y="1235495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89" name="Google Shape;1489;p97"/>
          <p:cNvSpPr txBox="1"/>
          <p:nvPr>
            <p:ph idx="1" type="body"/>
          </p:nvPr>
        </p:nvSpPr>
        <p:spPr>
          <a:xfrm>
            <a:off x="4087507" y="1476630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0" name="Google Shape;1490;p97"/>
          <p:cNvSpPr txBox="1"/>
          <p:nvPr>
            <p:ph idx="1" type="body"/>
          </p:nvPr>
        </p:nvSpPr>
        <p:spPr>
          <a:xfrm>
            <a:off x="3418292" y="2048152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1" name="Google Shape;1491;p97"/>
          <p:cNvSpPr txBox="1"/>
          <p:nvPr>
            <p:ph idx="1" type="body"/>
          </p:nvPr>
        </p:nvSpPr>
        <p:spPr>
          <a:xfrm>
            <a:off x="3137345" y="1449956"/>
            <a:ext cx="235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2" name="Google Shape;1492;p97"/>
          <p:cNvSpPr/>
          <p:nvPr/>
        </p:nvSpPr>
        <p:spPr>
          <a:xfrm>
            <a:off x="5151361" y="1276192"/>
            <a:ext cx="1251476" cy="936064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3" name="Google Shape;1493;p97"/>
          <p:cNvSpPr txBox="1"/>
          <p:nvPr>
            <p:ph idx="1" type="body"/>
          </p:nvPr>
        </p:nvSpPr>
        <p:spPr>
          <a:xfrm>
            <a:off x="4958925" y="1943711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4" name="Google Shape;1494;p97"/>
          <p:cNvSpPr txBox="1"/>
          <p:nvPr>
            <p:ph idx="1" type="body"/>
          </p:nvPr>
        </p:nvSpPr>
        <p:spPr>
          <a:xfrm>
            <a:off x="5686149" y="2088849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5" name="Google Shape;1495;p97"/>
          <p:cNvSpPr txBox="1"/>
          <p:nvPr>
            <p:ph idx="1" type="body"/>
          </p:nvPr>
        </p:nvSpPr>
        <p:spPr>
          <a:xfrm>
            <a:off x="5070826" y="1425168"/>
            <a:ext cx="133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97"/>
          <p:cNvSpPr/>
          <p:nvPr/>
        </p:nvSpPr>
        <p:spPr>
          <a:xfrm rot="8336836">
            <a:off x="6998182" y="1464036"/>
            <a:ext cx="1251577" cy="936139"/>
          </a:xfrm>
          <a:custGeom>
            <a:rect b="b" l="l" r="r" t="t"/>
            <a:pathLst>
              <a:path extrusionOk="0" h="70104" w="93726">
                <a:moveTo>
                  <a:pt x="28956" y="0"/>
                </a:moveTo>
                <a:lnTo>
                  <a:pt x="0" y="54483"/>
                </a:lnTo>
                <a:lnTo>
                  <a:pt x="93726" y="70104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7" name="Google Shape;1497;p97"/>
          <p:cNvSpPr txBox="1"/>
          <p:nvPr>
            <p:ph idx="1" type="body"/>
          </p:nvPr>
        </p:nvSpPr>
        <p:spPr>
          <a:xfrm>
            <a:off x="8177879" y="2007772"/>
            <a:ext cx="1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8" name="Google Shape;1498;p97"/>
          <p:cNvSpPr txBox="1"/>
          <p:nvPr>
            <p:ph idx="1" type="body"/>
          </p:nvPr>
        </p:nvSpPr>
        <p:spPr>
          <a:xfrm>
            <a:off x="7533092" y="2048152"/>
            <a:ext cx="1119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9" name="Google Shape;1499;p97"/>
          <p:cNvSpPr txBox="1"/>
          <p:nvPr>
            <p:ph idx="1" type="body"/>
          </p:nvPr>
        </p:nvSpPr>
        <p:spPr>
          <a:xfrm>
            <a:off x="8080359" y="1564930"/>
            <a:ext cx="235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0" name="Google Shape;1500;p97"/>
          <p:cNvSpPr txBox="1"/>
          <p:nvPr>
            <p:ph idx="1" type="body"/>
          </p:nvPr>
        </p:nvSpPr>
        <p:spPr>
          <a:xfrm>
            <a:off x="1266600" y="855475"/>
            <a:ext cx="21030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Congruent by SSS</a:t>
            </a:r>
            <a:endParaRPr sz="1800"/>
          </a:p>
        </p:txBody>
      </p:sp>
      <p:sp>
        <p:nvSpPr>
          <p:cNvPr id="1501" name="Google Shape;1501;p97"/>
          <p:cNvSpPr txBox="1"/>
          <p:nvPr>
            <p:ph idx="1" type="body"/>
          </p:nvPr>
        </p:nvSpPr>
        <p:spPr>
          <a:xfrm>
            <a:off x="5653275" y="855475"/>
            <a:ext cx="21030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Congruent by SAS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98"/>
          <p:cNvSpPr txBox="1"/>
          <p:nvPr>
            <p:ph idx="1" type="body"/>
          </p:nvPr>
        </p:nvSpPr>
        <p:spPr>
          <a:xfrm>
            <a:off x="324000" y="759300"/>
            <a:ext cx="8237700" cy="6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are two triangles, triangle MNO and triangle XYZ. </a:t>
            </a:r>
            <a:br>
              <a:rPr lang="en-GB" sz="1800"/>
            </a:br>
            <a:r>
              <a:rPr lang="en-GB" sz="1800"/>
              <a:t>Are they congruent to each other?</a:t>
            </a:r>
            <a:endParaRPr sz="1800"/>
          </a:p>
        </p:txBody>
      </p:sp>
      <p:sp>
        <p:nvSpPr>
          <p:cNvPr id="1507" name="Google Shape;150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508" name="Google Shape;1508;p98"/>
          <p:cNvSpPr txBox="1"/>
          <p:nvPr>
            <p:ph idx="1" type="body"/>
          </p:nvPr>
        </p:nvSpPr>
        <p:spPr>
          <a:xfrm>
            <a:off x="1848000" y="1466325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1509" name="Google Shape;1509;p98"/>
          <p:cNvSpPr txBox="1"/>
          <p:nvPr>
            <p:ph idx="1" type="body"/>
          </p:nvPr>
        </p:nvSpPr>
        <p:spPr>
          <a:xfrm>
            <a:off x="1143150" y="2975958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1510" name="Google Shape;1510;p98"/>
          <p:cNvSpPr txBox="1"/>
          <p:nvPr>
            <p:ph idx="1" type="body"/>
          </p:nvPr>
        </p:nvSpPr>
        <p:spPr>
          <a:xfrm>
            <a:off x="3441450" y="3138475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511" name="Google Shape;1511;p98"/>
          <p:cNvSpPr txBox="1"/>
          <p:nvPr>
            <p:ph idx="1" type="body"/>
          </p:nvPr>
        </p:nvSpPr>
        <p:spPr>
          <a:xfrm>
            <a:off x="1940350" y="3240000"/>
            <a:ext cx="62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512" name="Google Shape;1512;p98"/>
          <p:cNvSpPr txBox="1"/>
          <p:nvPr>
            <p:ph idx="1" type="body"/>
          </p:nvPr>
        </p:nvSpPr>
        <p:spPr>
          <a:xfrm>
            <a:off x="5563069" y="1513790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X</a:t>
            </a:r>
            <a:endParaRPr sz="1800"/>
          </a:p>
        </p:txBody>
      </p:sp>
      <p:sp>
        <p:nvSpPr>
          <p:cNvPr id="1513" name="Google Shape;1513;p98"/>
          <p:cNvSpPr txBox="1"/>
          <p:nvPr>
            <p:ph idx="1" type="body"/>
          </p:nvPr>
        </p:nvSpPr>
        <p:spPr>
          <a:xfrm>
            <a:off x="4857900" y="2990325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</a:t>
            </a:r>
            <a:endParaRPr sz="1800"/>
          </a:p>
        </p:txBody>
      </p:sp>
      <p:sp>
        <p:nvSpPr>
          <p:cNvPr id="1514" name="Google Shape;1514;p98"/>
          <p:cNvSpPr txBox="1"/>
          <p:nvPr>
            <p:ph idx="1" type="body"/>
          </p:nvPr>
        </p:nvSpPr>
        <p:spPr>
          <a:xfrm>
            <a:off x="7177900" y="3138475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Z</a:t>
            </a:r>
            <a:endParaRPr sz="1800"/>
          </a:p>
        </p:txBody>
      </p:sp>
      <p:sp>
        <p:nvSpPr>
          <p:cNvPr id="1515" name="Google Shape;1515;p98"/>
          <p:cNvSpPr txBox="1"/>
          <p:nvPr/>
        </p:nvSpPr>
        <p:spPr>
          <a:xfrm>
            <a:off x="1657725" y="27215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6" name="Google Shape;1516;p98"/>
          <p:cNvCxnSpPr/>
          <p:nvPr/>
        </p:nvCxnSpPr>
        <p:spPr>
          <a:xfrm>
            <a:off x="1309125" y="3171750"/>
            <a:ext cx="2061600" cy="13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7" name="Google Shape;1517;p98"/>
          <p:cNvCxnSpPr/>
          <p:nvPr/>
        </p:nvCxnSpPr>
        <p:spPr>
          <a:xfrm>
            <a:off x="1999925" y="1703575"/>
            <a:ext cx="1496700" cy="1434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8" name="Google Shape;1518;p98"/>
          <p:cNvSpPr txBox="1"/>
          <p:nvPr>
            <p:ph idx="1" type="body"/>
          </p:nvPr>
        </p:nvSpPr>
        <p:spPr>
          <a:xfrm>
            <a:off x="2688975" y="2063425"/>
            <a:ext cx="62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519" name="Google Shape;1519;p98"/>
          <p:cNvSpPr/>
          <p:nvPr/>
        </p:nvSpPr>
        <p:spPr>
          <a:xfrm>
            <a:off x="1036484" y="2721551"/>
            <a:ext cx="655500" cy="655500"/>
          </a:xfrm>
          <a:prstGeom prst="pie">
            <a:avLst>
              <a:gd fmla="val 17601304" name="adj1"/>
              <a:gd fmla="val 34592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98"/>
          <p:cNvSpPr txBox="1"/>
          <p:nvPr>
            <p:ph idx="1" type="body"/>
          </p:nvPr>
        </p:nvSpPr>
        <p:spPr>
          <a:xfrm>
            <a:off x="5711525" y="3248988"/>
            <a:ext cx="62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521" name="Google Shape;1521;p98"/>
          <p:cNvSpPr txBox="1"/>
          <p:nvPr/>
        </p:nvSpPr>
        <p:spPr>
          <a:xfrm>
            <a:off x="5428900" y="2730538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2" name="Google Shape;1522;p98"/>
          <p:cNvCxnSpPr/>
          <p:nvPr/>
        </p:nvCxnSpPr>
        <p:spPr>
          <a:xfrm>
            <a:off x="5080300" y="3180738"/>
            <a:ext cx="2061600" cy="13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3" name="Google Shape;1523;p98"/>
          <p:cNvCxnSpPr/>
          <p:nvPr/>
        </p:nvCxnSpPr>
        <p:spPr>
          <a:xfrm>
            <a:off x="5771100" y="1712563"/>
            <a:ext cx="1496700" cy="1434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4" name="Google Shape;1524;p98"/>
          <p:cNvSpPr txBox="1"/>
          <p:nvPr>
            <p:ph idx="1" type="body"/>
          </p:nvPr>
        </p:nvSpPr>
        <p:spPr>
          <a:xfrm>
            <a:off x="6460150" y="2072413"/>
            <a:ext cx="62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525" name="Google Shape;1525;p98"/>
          <p:cNvSpPr/>
          <p:nvPr/>
        </p:nvSpPr>
        <p:spPr>
          <a:xfrm>
            <a:off x="4807659" y="2730538"/>
            <a:ext cx="655500" cy="655500"/>
          </a:xfrm>
          <a:prstGeom prst="pie">
            <a:avLst>
              <a:gd fmla="val 17601304" name="adj1"/>
              <a:gd fmla="val 34592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98"/>
          <p:cNvSpPr txBox="1"/>
          <p:nvPr/>
        </p:nvSpPr>
        <p:spPr>
          <a:xfrm>
            <a:off x="342900" y="3829050"/>
            <a:ext cx="831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given angle is not between the two known sides, so it does not satisfy SAS.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angle between them?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98"/>
          <p:cNvSpPr txBox="1"/>
          <p:nvPr/>
        </p:nvSpPr>
        <p:spPr>
          <a:xfrm>
            <a:off x="5195175" y="4358100"/>
            <a:ext cx="375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it is an isosceles triangle.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28" name="Google Shape;1528;p98"/>
          <p:cNvGrpSpPr/>
          <p:nvPr/>
        </p:nvGrpSpPr>
        <p:grpSpPr>
          <a:xfrm>
            <a:off x="6679222" y="2761742"/>
            <a:ext cx="870600" cy="870600"/>
            <a:chOff x="2909295" y="1467762"/>
            <a:chExt cx="870600" cy="870600"/>
          </a:xfrm>
        </p:grpSpPr>
        <p:sp>
          <p:nvSpPr>
            <p:cNvPr id="1529" name="Google Shape;1529;p98"/>
            <p:cNvSpPr/>
            <p:nvPr/>
          </p:nvSpPr>
          <p:spPr>
            <a:xfrm>
              <a:off x="3016844" y="1575301"/>
              <a:ext cx="655500" cy="655500"/>
            </a:xfrm>
            <a:prstGeom prst="pie">
              <a:avLst>
                <a:gd fmla="val 10887055" name="adj1"/>
                <a:gd fmla="val 1353619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98"/>
            <p:cNvSpPr/>
            <p:nvPr/>
          </p:nvSpPr>
          <p:spPr>
            <a:xfrm>
              <a:off x="2909295" y="1467762"/>
              <a:ext cx="870600" cy="870600"/>
            </a:xfrm>
            <a:prstGeom prst="pie">
              <a:avLst>
                <a:gd fmla="val 10887055" name="adj1"/>
                <a:gd fmla="val 1353619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1" name="Google Shape;1531;p98"/>
          <p:cNvSpPr txBox="1"/>
          <p:nvPr/>
        </p:nvSpPr>
        <p:spPr>
          <a:xfrm>
            <a:off x="6301227" y="2816354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32" name="Google Shape;1532;p98"/>
          <p:cNvGrpSpPr/>
          <p:nvPr/>
        </p:nvGrpSpPr>
        <p:grpSpPr>
          <a:xfrm>
            <a:off x="2890707" y="2761742"/>
            <a:ext cx="870600" cy="870600"/>
            <a:chOff x="2909295" y="1467762"/>
            <a:chExt cx="870600" cy="870600"/>
          </a:xfrm>
        </p:grpSpPr>
        <p:sp>
          <p:nvSpPr>
            <p:cNvPr id="1533" name="Google Shape;1533;p98"/>
            <p:cNvSpPr/>
            <p:nvPr/>
          </p:nvSpPr>
          <p:spPr>
            <a:xfrm>
              <a:off x="3016844" y="1575301"/>
              <a:ext cx="655500" cy="655500"/>
            </a:xfrm>
            <a:prstGeom prst="pie">
              <a:avLst>
                <a:gd fmla="val 10887055" name="adj1"/>
                <a:gd fmla="val 1353619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98"/>
            <p:cNvSpPr/>
            <p:nvPr/>
          </p:nvSpPr>
          <p:spPr>
            <a:xfrm>
              <a:off x="2909295" y="1467762"/>
              <a:ext cx="870600" cy="870600"/>
            </a:xfrm>
            <a:prstGeom prst="pie">
              <a:avLst>
                <a:gd fmla="val 10887055" name="adj1"/>
                <a:gd fmla="val 13536193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5" name="Google Shape;1535;p98"/>
          <p:cNvSpPr txBox="1"/>
          <p:nvPr/>
        </p:nvSpPr>
        <p:spPr>
          <a:xfrm>
            <a:off x="2517000" y="2804178"/>
            <a:ext cx="63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98"/>
          <p:cNvSpPr/>
          <p:nvPr/>
        </p:nvSpPr>
        <p:spPr>
          <a:xfrm rot="6873260">
            <a:off x="5581115" y="1873687"/>
            <a:ext cx="1391870" cy="1889776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8"/>
          <p:cNvSpPr/>
          <p:nvPr/>
        </p:nvSpPr>
        <p:spPr>
          <a:xfrm rot="6873260">
            <a:off x="1806365" y="1873687"/>
            <a:ext cx="1391870" cy="1889776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9"/>
          <p:cNvSpPr txBox="1"/>
          <p:nvPr>
            <p:ph idx="1" type="body"/>
          </p:nvPr>
        </p:nvSpPr>
        <p:spPr>
          <a:xfrm>
            <a:off x="324000" y="759300"/>
            <a:ext cx="8237700" cy="5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circle with radius of 8 cm, centred at O, intersects with the ray starting at N at 79° to NO two times, except one of the intersections, doesn’t create a triangle.</a:t>
            </a:r>
            <a:endParaRPr sz="1800"/>
          </a:p>
        </p:txBody>
      </p:sp>
      <p:sp>
        <p:nvSpPr>
          <p:cNvPr id="1543" name="Google Shape;154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544" name="Google Shape;1544;p99"/>
          <p:cNvSpPr txBox="1"/>
          <p:nvPr>
            <p:ph idx="1" type="body"/>
          </p:nvPr>
        </p:nvSpPr>
        <p:spPr>
          <a:xfrm>
            <a:off x="1848000" y="1847325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endParaRPr sz="1800"/>
          </a:p>
        </p:txBody>
      </p:sp>
      <p:sp>
        <p:nvSpPr>
          <p:cNvPr id="1545" name="Google Shape;1545;p99"/>
          <p:cNvSpPr txBox="1"/>
          <p:nvPr>
            <p:ph idx="1" type="body"/>
          </p:nvPr>
        </p:nvSpPr>
        <p:spPr>
          <a:xfrm>
            <a:off x="1143150" y="3356958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endParaRPr sz="1800"/>
          </a:p>
        </p:txBody>
      </p:sp>
      <p:sp>
        <p:nvSpPr>
          <p:cNvPr id="1546" name="Google Shape;1546;p99"/>
          <p:cNvSpPr txBox="1"/>
          <p:nvPr>
            <p:ph idx="1" type="body"/>
          </p:nvPr>
        </p:nvSpPr>
        <p:spPr>
          <a:xfrm>
            <a:off x="3441450" y="3519475"/>
            <a:ext cx="209400" cy="3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</a:t>
            </a:r>
            <a:endParaRPr sz="1800"/>
          </a:p>
        </p:txBody>
      </p:sp>
      <p:sp>
        <p:nvSpPr>
          <p:cNvPr id="1547" name="Google Shape;1547;p99"/>
          <p:cNvSpPr txBox="1"/>
          <p:nvPr>
            <p:ph idx="1" type="body"/>
          </p:nvPr>
        </p:nvSpPr>
        <p:spPr>
          <a:xfrm>
            <a:off x="1940350" y="3621000"/>
            <a:ext cx="62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548" name="Google Shape;1548;p99"/>
          <p:cNvSpPr/>
          <p:nvPr/>
        </p:nvSpPr>
        <p:spPr>
          <a:xfrm rot="6873260">
            <a:off x="1806365" y="2254687"/>
            <a:ext cx="1391870" cy="1889776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99"/>
          <p:cNvSpPr txBox="1"/>
          <p:nvPr/>
        </p:nvSpPr>
        <p:spPr>
          <a:xfrm>
            <a:off x="1657725" y="310255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79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0" name="Google Shape;1550;p99"/>
          <p:cNvCxnSpPr/>
          <p:nvPr/>
        </p:nvCxnSpPr>
        <p:spPr>
          <a:xfrm>
            <a:off x="1309125" y="3552750"/>
            <a:ext cx="2061600" cy="13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1" name="Google Shape;1551;p99"/>
          <p:cNvCxnSpPr/>
          <p:nvPr/>
        </p:nvCxnSpPr>
        <p:spPr>
          <a:xfrm>
            <a:off x="1999925" y="2084575"/>
            <a:ext cx="1496700" cy="1434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2" name="Google Shape;1552;p99"/>
          <p:cNvSpPr txBox="1"/>
          <p:nvPr>
            <p:ph idx="1" type="body"/>
          </p:nvPr>
        </p:nvSpPr>
        <p:spPr>
          <a:xfrm>
            <a:off x="2688975" y="2368225"/>
            <a:ext cx="626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 cm</a:t>
            </a:r>
            <a:endParaRPr sz="1800"/>
          </a:p>
        </p:txBody>
      </p:sp>
      <p:sp>
        <p:nvSpPr>
          <p:cNvPr id="1553" name="Google Shape;1553;p99"/>
          <p:cNvSpPr/>
          <p:nvPr/>
        </p:nvSpPr>
        <p:spPr>
          <a:xfrm>
            <a:off x="1036484" y="3102551"/>
            <a:ext cx="655500" cy="655500"/>
          </a:xfrm>
          <a:prstGeom prst="pie">
            <a:avLst>
              <a:gd fmla="val 17601304" name="adj1"/>
              <a:gd fmla="val 34592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9"/>
          <p:cNvSpPr/>
          <p:nvPr/>
        </p:nvSpPr>
        <p:spPr>
          <a:xfrm flipH="1">
            <a:off x="1337137" y="1599385"/>
            <a:ext cx="3988800" cy="3988800"/>
          </a:xfrm>
          <a:prstGeom prst="arc">
            <a:avLst>
              <a:gd fmla="val 17507436" name="adj1"/>
              <a:gd fmla="val 2082032" name="adj2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55" name="Google Shape;1555;p99"/>
          <p:cNvGrpSpPr/>
          <p:nvPr/>
        </p:nvGrpSpPr>
        <p:grpSpPr>
          <a:xfrm>
            <a:off x="1862783" y="2093575"/>
            <a:ext cx="151200" cy="151200"/>
            <a:chOff x="3573225" y="3347200"/>
            <a:chExt cx="151200" cy="151200"/>
          </a:xfrm>
        </p:grpSpPr>
        <p:cxnSp>
          <p:nvCxnSpPr>
            <p:cNvPr id="1556" name="Google Shape;1556;p99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7" name="Google Shape;1557;p99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8" name="Google Shape;1558;p99"/>
          <p:cNvGrpSpPr/>
          <p:nvPr/>
        </p:nvGrpSpPr>
        <p:grpSpPr>
          <a:xfrm>
            <a:off x="1274310" y="3354700"/>
            <a:ext cx="151200" cy="151200"/>
            <a:chOff x="3573225" y="3347200"/>
            <a:chExt cx="151200" cy="151200"/>
          </a:xfrm>
        </p:grpSpPr>
        <p:cxnSp>
          <p:nvCxnSpPr>
            <p:cNvPr id="1559" name="Google Shape;1559;p99"/>
            <p:cNvCxnSpPr/>
            <p:nvPr/>
          </p:nvCxnSpPr>
          <p:spPr>
            <a:xfrm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99"/>
            <p:cNvCxnSpPr/>
            <p:nvPr/>
          </p:nvCxnSpPr>
          <p:spPr>
            <a:xfrm rot="5400000">
              <a:off x="3573225" y="3347200"/>
              <a:ext cx="151200" cy="1512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1" name="Google Shape;1561;p99"/>
          <p:cNvSpPr txBox="1"/>
          <p:nvPr>
            <p:ph idx="1" type="body"/>
          </p:nvPr>
        </p:nvSpPr>
        <p:spPr>
          <a:xfrm>
            <a:off x="3986925" y="2130900"/>
            <a:ext cx="4574700" cy="5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an example of a special case where SSA would create a fixed triangle. Since the triangle is isosceles all other angles can be found. So the conditions also confirm SAS.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three angles</a:t>
            </a:r>
            <a:endParaRPr/>
          </a:p>
        </p:txBody>
      </p:sp>
      <p:sp>
        <p:nvSpPr>
          <p:cNvPr id="1567" name="Google Shape;1567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568" name="Google Shape;1568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three pieces of information is sufficient to prove congruence of two triangles?</a:t>
            </a:r>
            <a:endParaRPr/>
          </a:p>
        </p:txBody>
      </p:sp>
      <p:sp>
        <p:nvSpPr>
          <p:cNvPr id="1569" name="Google Shape;156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three sides</a:t>
            </a:r>
            <a:endParaRPr/>
          </a:p>
        </p:txBody>
      </p:sp>
      <p:sp>
        <p:nvSpPr>
          <p:cNvPr id="1570" name="Google Shape;157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sides and the angle between them</a:t>
            </a:r>
            <a:endParaRPr/>
          </a:p>
        </p:txBody>
      </p:sp>
      <p:sp>
        <p:nvSpPr>
          <p:cNvPr id="1571" name="Google Shape;157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sides and another angle</a:t>
            </a:r>
            <a:endParaRPr/>
          </a:p>
        </p:txBody>
      </p:sp>
      <p:pic>
        <p:nvPicPr>
          <p:cNvPr id="1572" name="Google Shape;157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933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9908" y="32625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00"/>
          <p:cNvSpPr txBox="1"/>
          <p:nvPr/>
        </p:nvSpPr>
        <p:spPr>
          <a:xfrm>
            <a:off x="3601825" y="1496100"/>
            <a:ext cx="43794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angles confirm similarity but not congruence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5" name="Google Shape;1575;p100"/>
          <p:cNvSpPr txBox="1"/>
          <p:nvPr/>
        </p:nvSpPr>
        <p:spPr>
          <a:xfrm>
            <a:off x="5143500" y="3711800"/>
            <a:ext cx="33030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SSA on its own doesn’t guarantee congruence.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01"/>
          <p:cNvSpPr txBox="1"/>
          <p:nvPr>
            <p:ph idx="1" type="body"/>
          </p:nvPr>
        </p:nvSpPr>
        <p:spPr>
          <a:xfrm>
            <a:off x="324000" y="759300"/>
            <a:ext cx="8237700" cy="4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Which of the following triangles are definitely congruent to the triangle XYZ?</a:t>
            </a:r>
            <a:endParaRPr/>
          </a:p>
        </p:txBody>
      </p:sp>
      <p:sp>
        <p:nvSpPr>
          <p:cNvPr id="1581" name="Google Shape;1581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582" name="Google Shape;1582;p101"/>
          <p:cNvSpPr/>
          <p:nvPr/>
        </p:nvSpPr>
        <p:spPr>
          <a:xfrm>
            <a:off x="1018745" y="17417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83" name="Google Shape;1583;p101"/>
          <p:cNvCxnSpPr/>
          <p:nvPr/>
        </p:nvCxnSpPr>
        <p:spPr>
          <a:xfrm flipH="1">
            <a:off x="903436" y="16911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84" name="Google Shape;1584;p101"/>
          <p:cNvCxnSpPr/>
          <p:nvPr/>
        </p:nvCxnSpPr>
        <p:spPr>
          <a:xfrm>
            <a:off x="1018745" y="27599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5" name="Google Shape;1585;p101"/>
          <p:cNvSpPr txBox="1"/>
          <p:nvPr/>
        </p:nvSpPr>
        <p:spPr>
          <a:xfrm>
            <a:off x="1222380" y="14914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01"/>
          <p:cNvSpPr txBox="1"/>
          <p:nvPr/>
        </p:nvSpPr>
        <p:spPr>
          <a:xfrm>
            <a:off x="842121" y="26238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01"/>
          <p:cNvSpPr txBox="1"/>
          <p:nvPr/>
        </p:nvSpPr>
        <p:spPr>
          <a:xfrm>
            <a:off x="2913799" y="26758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01"/>
          <p:cNvSpPr/>
          <p:nvPr/>
        </p:nvSpPr>
        <p:spPr>
          <a:xfrm>
            <a:off x="745300" y="23668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101"/>
          <p:cNvSpPr/>
          <p:nvPr/>
        </p:nvSpPr>
        <p:spPr>
          <a:xfrm>
            <a:off x="3914345" y="15131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90" name="Google Shape;1590;p101"/>
          <p:cNvCxnSpPr/>
          <p:nvPr/>
        </p:nvCxnSpPr>
        <p:spPr>
          <a:xfrm flipH="1">
            <a:off x="3799036" y="14625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1" name="Google Shape;1591;p101"/>
          <p:cNvCxnSpPr/>
          <p:nvPr/>
        </p:nvCxnSpPr>
        <p:spPr>
          <a:xfrm>
            <a:off x="3914345" y="25313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2" name="Google Shape;1592;p101"/>
          <p:cNvSpPr txBox="1"/>
          <p:nvPr/>
        </p:nvSpPr>
        <p:spPr>
          <a:xfrm>
            <a:off x="4117980" y="12628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01"/>
          <p:cNvSpPr txBox="1"/>
          <p:nvPr/>
        </p:nvSpPr>
        <p:spPr>
          <a:xfrm>
            <a:off x="3737721" y="23952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01"/>
          <p:cNvSpPr txBox="1"/>
          <p:nvPr/>
        </p:nvSpPr>
        <p:spPr>
          <a:xfrm>
            <a:off x="5809399" y="24472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101"/>
          <p:cNvSpPr/>
          <p:nvPr/>
        </p:nvSpPr>
        <p:spPr>
          <a:xfrm>
            <a:off x="3640900" y="21382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101"/>
          <p:cNvSpPr/>
          <p:nvPr/>
        </p:nvSpPr>
        <p:spPr>
          <a:xfrm rot="6362352">
            <a:off x="3913111" y="1241054"/>
            <a:ext cx="553756" cy="553756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101"/>
          <p:cNvSpPr/>
          <p:nvPr/>
        </p:nvSpPr>
        <p:spPr>
          <a:xfrm>
            <a:off x="1323545" y="34943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98" name="Google Shape;1598;p101"/>
          <p:cNvCxnSpPr/>
          <p:nvPr/>
        </p:nvCxnSpPr>
        <p:spPr>
          <a:xfrm flipH="1">
            <a:off x="1208236" y="34437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9" name="Google Shape;1599;p101"/>
          <p:cNvCxnSpPr/>
          <p:nvPr/>
        </p:nvCxnSpPr>
        <p:spPr>
          <a:xfrm>
            <a:off x="1323545" y="45125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0" name="Google Shape;1600;p101"/>
          <p:cNvSpPr txBox="1"/>
          <p:nvPr/>
        </p:nvSpPr>
        <p:spPr>
          <a:xfrm>
            <a:off x="1527180" y="31678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01"/>
          <p:cNvSpPr txBox="1"/>
          <p:nvPr/>
        </p:nvSpPr>
        <p:spPr>
          <a:xfrm>
            <a:off x="1146921" y="43764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3218599" y="44284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01"/>
          <p:cNvSpPr/>
          <p:nvPr/>
        </p:nvSpPr>
        <p:spPr>
          <a:xfrm rot="6362352">
            <a:off x="1322311" y="3222254"/>
            <a:ext cx="553756" cy="553756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101"/>
          <p:cNvSpPr/>
          <p:nvPr/>
        </p:nvSpPr>
        <p:spPr>
          <a:xfrm rot="-6147283">
            <a:off x="2873240" y="4233386"/>
            <a:ext cx="553629" cy="553629"/>
          </a:xfrm>
          <a:prstGeom prst="pie">
            <a:avLst>
              <a:gd fmla="val 17154528" name="adj1"/>
              <a:gd fmla="val 1898711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101"/>
          <p:cNvSpPr/>
          <p:nvPr/>
        </p:nvSpPr>
        <p:spPr>
          <a:xfrm>
            <a:off x="3838145" y="32657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6" name="Google Shape;1606;p101"/>
          <p:cNvSpPr txBox="1"/>
          <p:nvPr/>
        </p:nvSpPr>
        <p:spPr>
          <a:xfrm>
            <a:off x="4041780" y="30154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101"/>
          <p:cNvSpPr txBox="1"/>
          <p:nvPr/>
        </p:nvSpPr>
        <p:spPr>
          <a:xfrm>
            <a:off x="3661521" y="41478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01"/>
          <p:cNvSpPr txBox="1"/>
          <p:nvPr/>
        </p:nvSpPr>
        <p:spPr>
          <a:xfrm>
            <a:off x="5733199" y="41998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101"/>
          <p:cNvSpPr/>
          <p:nvPr/>
        </p:nvSpPr>
        <p:spPr>
          <a:xfrm>
            <a:off x="3564700" y="38908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01"/>
          <p:cNvSpPr/>
          <p:nvPr/>
        </p:nvSpPr>
        <p:spPr>
          <a:xfrm rot="6362352">
            <a:off x="3836911" y="2993654"/>
            <a:ext cx="553756" cy="553756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01"/>
          <p:cNvSpPr/>
          <p:nvPr/>
        </p:nvSpPr>
        <p:spPr>
          <a:xfrm rot="-6147283">
            <a:off x="5387840" y="4004786"/>
            <a:ext cx="553629" cy="553629"/>
          </a:xfrm>
          <a:prstGeom prst="pie">
            <a:avLst>
              <a:gd fmla="val 17154528" name="adj1"/>
              <a:gd fmla="val 1898711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01"/>
          <p:cNvSpPr/>
          <p:nvPr/>
        </p:nvSpPr>
        <p:spPr>
          <a:xfrm>
            <a:off x="6674524" y="147786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13" name="Google Shape;1613;p101"/>
          <p:cNvCxnSpPr/>
          <p:nvPr/>
        </p:nvCxnSpPr>
        <p:spPr>
          <a:xfrm flipH="1">
            <a:off x="6559215" y="142728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4" name="Google Shape;1614;p101"/>
          <p:cNvCxnSpPr/>
          <p:nvPr/>
        </p:nvCxnSpPr>
        <p:spPr>
          <a:xfrm>
            <a:off x="6992999" y="1368580"/>
            <a:ext cx="1582200" cy="10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5" name="Google Shape;1615;p101"/>
          <p:cNvSpPr txBox="1"/>
          <p:nvPr/>
        </p:nvSpPr>
        <p:spPr>
          <a:xfrm>
            <a:off x="6801958" y="1151426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01"/>
          <p:cNvSpPr txBox="1"/>
          <p:nvPr/>
        </p:nvSpPr>
        <p:spPr>
          <a:xfrm>
            <a:off x="6497900" y="235995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01"/>
          <p:cNvSpPr txBox="1"/>
          <p:nvPr/>
        </p:nvSpPr>
        <p:spPr>
          <a:xfrm>
            <a:off x="8569577" y="241199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01"/>
          <p:cNvSpPr/>
          <p:nvPr/>
        </p:nvSpPr>
        <p:spPr>
          <a:xfrm>
            <a:off x="6401078" y="210298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101"/>
          <p:cNvSpPr/>
          <p:nvPr/>
        </p:nvSpPr>
        <p:spPr>
          <a:xfrm>
            <a:off x="6581345" y="29609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20" name="Google Shape;1620;p101"/>
          <p:cNvCxnSpPr/>
          <p:nvPr/>
        </p:nvCxnSpPr>
        <p:spPr>
          <a:xfrm flipH="1">
            <a:off x="6466036" y="29103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1" name="Google Shape;1621;p101"/>
          <p:cNvCxnSpPr/>
          <p:nvPr/>
        </p:nvCxnSpPr>
        <p:spPr>
          <a:xfrm>
            <a:off x="6581345" y="39791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2" name="Google Shape;1622;p101"/>
          <p:cNvSpPr txBox="1"/>
          <p:nvPr/>
        </p:nvSpPr>
        <p:spPr>
          <a:xfrm>
            <a:off x="6784980" y="27106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101"/>
          <p:cNvSpPr txBox="1"/>
          <p:nvPr/>
        </p:nvSpPr>
        <p:spPr>
          <a:xfrm>
            <a:off x="6328521" y="38430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101"/>
          <p:cNvSpPr txBox="1"/>
          <p:nvPr/>
        </p:nvSpPr>
        <p:spPr>
          <a:xfrm>
            <a:off x="8476399" y="38950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101"/>
          <p:cNvSpPr/>
          <p:nvPr/>
        </p:nvSpPr>
        <p:spPr>
          <a:xfrm>
            <a:off x="6307900" y="35860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101"/>
          <p:cNvSpPr txBox="1"/>
          <p:nvPr/>
        </p:nvSpPr>
        <p:spPr>
          <a:xfrm>
            <a:off x="322101" y="184301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101"/>
          <p:cNvSpPr txBox="1"/>
          <p:nvPr/>
        </p:nvSpPr>
        <p:spPr>
          <a:xfrm>
            <a:off x="1281431" y="2267073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101"/>
          <p:cNvSpPr txBox="1"/>
          <p:nvPr/>
        </p:nvSpPr>
        <p:spPr>
          <a:xfrm>
            <a:off x="1475287" y="2781575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01"/>
          <p:cNvSpPr txBox="1"/>
          <p:nvPr/>
        </p:nvSpPr>
        <p:spPr>
          <a:xfrm>
            <a:off x="4156631" y="205733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01"/>
          <p:cNvSpPr txBox="1"/>
          <p:nvPr/>
        </p:nvSpPr>
        <p:spPr>
          <a:xfrm>
            <a:off x="4194706" y="176683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01"/>
          <p:cNvSpPr txBox="1"/>
          <p:nvPr/>
        </p:nvSpPr>
        <p:spPr>
          <a:xfrm>
            <a:off x="3259401" y="148676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01"/>
          <p:cNvSpPr txBox="1"/>
          <p:nvPr/>
        </p:nvSpPr>
        <p:spPr>
          <a:xfrm>
            <a:off x="4418450" y="2643588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01"/>
          <p:cNvSpPr txBox="1"/>
          <p:nvPr/>
        </p:nvSpPr>
        <p:spPr>
          <a:xfrm>
            <a:off x="5933467" y="166348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01"/>
          <p:cNvSpPr txBox="1"/>
          <p:nvPr/>
        </p:nvSpPr>
        <p:spPr>
          <a:xfrm>
            <a:off x="7623253" y="1517817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01"/>
          <p:cNvSpPr txBox="1"/>
          <p:nvPr/>
        </p:nvSpPr>
        <p:spPr>
          <a:xfrm>
            <a:off x="6947298" y="2012386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101"/>
          <p:cNvSpPr txBox="1"/>
          <p:nvPr/>
        </p:nvSpPr>
        <p:spPr>
          <a:xfrm>
            <a:off x="1779437" y="4564775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101"/>
          <p:cNvSpPr txBox="1"/>
          <p:nvPr/>
        </p:nvSpPr>
        <p:spPr>
          <a:xfrm>
            <a:off x="1642056" y="376201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01"/>
          <p:cNvSpPr txBox="1"/>
          <p:nvPr/>
        </p:nvSpPr>
        <p:spPr>
          <a:xfrm>
            <a:off x="2333106" y="418021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01"/>
          <p:cNvSpPr txBox="1"/>
          <p:nvPr/>
        </p:nvSpPr>
        <p:spPr>
          <a:xfrm>
            <a:off x="4148377" y="352255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01"/>
          <p:cNvSpPr txBox="1"/>
          <p:nvPr/>
        </p:nvSpPr>
        <p:spPr>
          <a:xfrm>
            <a:off x="4915627" y="3971704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01"/>
          <p:cNvSpPr txBox="1"/>
          <p:nvPr/>
        </p:nvSpPr>
        <p:spPr>
          <a:xfrm>
            <a:off x="4117200" y="3832706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01"/>
          <p:cNvSpPr txBox="1"/>
          <p:nvPr/>
        </p:nvSpPr>
        <p:spPr>
          <a:xfrm>
            <a:off x="5842239" y="3167888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01"/>
          <p:cNvSpPr txBox="1"/>
          <p:nvPr/>
        </p:nvSpPr>
        <p:spPr>
          <a:xfrm>
            <a:off x="7030350" y="4054513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01"/>
          <p:cNvSpPr txBox="1"/>
          <p:nvPr/>
        </p:nvSpPr>
        <p:spPr>
          <a:xfrm>
            <a:off x="6853471" y="352790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101"/>
          <p:cNvSpPr txBox="1"/>
          <p:nvPr/>
        </p:nvSpPr>
        <p:spPr>
          <a:xfrm>
            <a:off x="578126" y="3701938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101"/>
          <p:cNvSpPr/>
          <p:nvPr/>
        </p:nvSpPr>
        <p:spPr>
          <a:xfrm>
            <a:off x="300150" y="1491650"/>
            <a:ext cx="2837700" cy="159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Which of the following triangles are definitely congruent to the triangle XYZ?</a:t>
            </a:r>
            <a:endParaRPr/>
          </a:p>
        </p:txBody>
      </p:sp>
      <p:sp>
        <p:nvSpPr>
          <p:cNvPr id="1652" name="Google Shape;1652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sides and an angle</a:t>
            </a:r>
            <a:endParaRPr/>
          </a:p>
        </p:txBody>
      </p:sp>
      <p:sp>
        <p:nvSpPr>
          <p:cNvPr id="1653" name="Google Shape;1653;p102"/>
          <p:cNvSpPr/>
          <p:nvPr/>
        </p:nvSpPr>
        <p:spPr>
          <a:xfrm>
            <a:off x="1018745" y="17417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54" name="Google Shape;1654;p102"/>
          <p:cNvCxnSpPr/>
          <p:nvPr/>
        </p:nvCxnSpPr>
        <p:spPr>
          <a:xfrm flipH="1">
            <a:off x="903436" y="16911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5" name="Google Shape;1655;p102"/>
          <p:cNvCxnSpPr/>
          <p:nvPr/>
        </p:nvCxnSpPr>
        <p:spPr>
          <a:xfrm>
            <a:off x="1018745" y="27599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6" name="Google Shape;1656;p102"/>
          <p:cNvSpPr txBox="1"/>
          <p:nvPr/>
        </p:nvSpPr>
        <p:spPr>
          <a:xfrm>
            <a:off x="1222380" y="14914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02"/>
          <p:cNvSpPr txBox="1"/>
          <p:nvPr/>
        </p:nvSpPr>
        <p:spPr>
          <a:xfrm>
            <a:off x="842121" y="26238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102"/>
          <p:cNvSpPr txBox="1"/>
          <p:nvPr/>
        </p:nvSpPr>
        <p:spPr>
          <a:xfrm>
            <a:off x="2913799" y="26758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102"/>
          <p:cNvSpPr/>
          <p:nvPr/>
        </p:nvSpPr>
        <p:spPr>
          <a:xfrm>
            <a:off x="745300" y="23668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102"/>
          <p:cNvSpPr/>
          <p:nvPr/>
        </p:nvSpPr>
        <p:spPr>
          <a:xfrm>
            <a:off x="3914345" y="14369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61" name="Google Shape;1661;p102"/>
          <p:cNvCxnSpPr/>
          <p:nvPr/>
        </p:nvCxnSpPr>
        <p:spPr>
          <a:xfrm flipH="1">
            <a:off x="3799036" y="13863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2" name="Google Shape;1662;p102"/>
          <p:cNvCxnSpPr/>
          <p:nvPr/>
        </p:nvCxnSpPr>
        <p:spPr>
          <a:xfrm>
            <a:off x="3914345" y="24551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3" name="Google Shape;1663;p102"/>
          <p:cNvSpPr txBox="1"/>
          <p:nvPr/>
        </p:nvSpPr>
        <p:spPr>
          <a:xfrm>
            <a:off x="4117980" y="11866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02"/>
          <p:cNvSpPr txBox="1"/>
          <p:nvPr/>
        </p:nvSpPr>
        <p:spPr>
          <a:xfrm>
            <a:off x="3737721" y="23190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02"/>
          <p:cNvSpPr txBox="1"/>
          <p:nvPr/>
        </p:nvSpPr>
        <p:spPr>
          <a:xfrm>
            <a:off x="5809399" y="23710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02"/>
          <p:cNvSpPr/>
          <p:nvPr/>
        </p:nvSpPr>
        <p:spPr>
          <a:xfrm>
            <a:off x="3640900" y="20620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02"/>
          <p:cNvSpPr/>
          <p:nvPr/>
        </p:nvSpPr>
        <p:spPr>
          <a:xfrm rot="6362352">
            <a:off x="3913111" y="1164854"/>
            <a:ext cx="553756" cy="553756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02"/>
          <p:cNvSpPr/>
          <p:nvPr/>
        </p:nvSpPr>
        <p:spPr>
          <a:xfrm>
            <a:off x="1323545" y="34943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69" name="Google Shape;1669;p102"/>
          <p:cNvCxnSpPr/>
          <p:nvPr/>
        </p:nvCxnSpPr>
        <p:spPr>
          <a:xfrm flipH="1">
            <a:off x="1208236" y="34437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0" name="Google Shape;1670;p102"/>
          <p:cNvCxnSpPr/>
          <p:nvPr/>
        </p:nvCxnSpPr>
        <p:spPr>
          <a:xfrm>
            <a:off x="1323545" y="45125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1" name="Google Shape;1671;p102"/>
          <p:cNvSpPr txBox="1"/>
          <p:nvPr/>
        </p:nvSpPr>
        <p:spPr>
          <a:xfrm>
            <a:off x="1527180" y="31678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02"/>
          <p:cNvSpPr txBox="1"/>
          <p:nvPr/>
        </p:nvSpPr>
        <p:spPr>
          <a:xfrm>
            <a:off x="1146921" y="43764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02"/>
          <p:cNvSpPr txBox="1"/>
          <p:nvPr/>
        </p:nvSpPr>
        <p:spPr>
          <a:xfrm>
            <a:off x="3218599" y="44284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02"/>
          <p:cNvSpPr/>
          <p:nvPr/>
        </p:nvSpPr>
        <p:spPr>
          <a:xfrm rot="6362352">
            <a:off x="1322311" y="3222254"/>
            <a:ext cx="553756" cy="553756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02"/>
          <p:cNvSpPr/>
          <p:nvPr/>
        </p:nvSpPr>
        <p:spPr>
          <a:xfrm rot="-6147283">
            <a:off x="2873240" y="4233386"/>
            <a:ext cx="553629" cy="553629"/>
          </a:xfrm>
          <a:prstGeom prst="pie">
            <a:avLst>
              <a:gd fmla="val 17154528" name="adj1"/>
              <a:gd fmla="val 1898711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02"/>
          <p:cNvSpPr/>
          <p:nvPr/>
        </p:nvSpPr>
        <p:spPr>
          <a:xfrm>
            <a:off x="3914345" y="32657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77" name="Google Shape;1677;p102"/>
          <p:cNvSpPr txBox="1"/>
          <p:nvPr/>
        </p:nvSpPr>
        <p:spPr>
          <a:xfrm>
            <a:off x="4117980" y="30154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02"/>
          <p:cNvSpPr txBox="1"/>
          <p:nvPr/>
        </p:nvSpPr>
        <p:spPr>
          <a:xfrm>
            <a:off x="3737721" y="41478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102"/>
          <p:cNvSpPr txBox="1"/>
          <p:nvPr/>
        </p:nvSpPr>
        <p:spPr>
          <a:xfrm>
            <a:off x="5809399" y="41998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102"/>
          <p:cNvSpPr/>
          <p:nvPr/>
        </p:nvSpPr>
        <p:spPr>
          <a:xfrm>
            <a:off x="3640900" y="38908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102"/>
          <p:cNvSpPr/>
          <p:nvPr/>
        </p:nvSpPr>
        <p:spPr>
          <a:xfrm rot="6362352">
            <a:off x="3913111" y="2993654"/>
            <a:ext cx="553756" cy="553756"/>
          </a:xfrm>
          <a:prstGeom prst="pie">
            <a:avLst>
              <a:gd fmla="val 17220421" name="adj1"/>
              <a:gd fmla="val 7847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02"/>
          <p:cNvSpPr/>
          <p:nvPr/>
        </p:nvSpPr>
        <p:spPr>
          <a:xfrm rot="-6147283">
            <a:off x="5464040" y="4004786"/>
            <a:ext cx="553629" cy="553629"/>
          </a:xfrm>
          <a:prstGeom prst="pie">
            <a:avLst>
              <a:gd fmla="val 17154528" name="adj1"/>
              <a:gd fmla="val 18987112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02"/>
          <p:cNvSpPr/>
          <p:nvPr/>
        </p:nvSpPr>
        <p:spPr>
          <a:xfrm>
            <a:off x="6733745" y="15131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84" name="Google Shape;1684;p102"/>
          <p:cNvCxnSpPr/>
          <p:nvPr/>
        </p:nvCxnSpPr>
        <p:spPr>
          <a:xfrm flipH="1">
            <a:off x="6618436" y="14625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5" name="Google Shape;1685;p102"/>
          <p:cNvCxnSpPr/>
          <p:nvPr/>
        </p:nvCxnSpPr>
        <p:spPr>
          <a:xfrm>
            <a:off x="7052220" y="1403851"/>
            <a:ext cx="1582200" cy="105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6" name="Google Shape;1686;p102"/>
          <p:cNvSpPr txBox="1"/>
          <p:nvPr/>
        </p:nvSpPr>
        <p:spPr>
          <a:xfrm>
            <a:off x="6861180" y="11866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02"/>
          <p:cNvSpPr txBox="1"/>
          <p:nvPr/>
        </p:nvSpPr>
        <p:spPr>
          <a:xfrm>
            <a:off x="6557121" y="23952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02"/>
          <p:cNvSpPr txBox="1"/>
          <p:nvPr/>
        </p:nvSpPr>
        <p:spPr>
          <a:xfrm>
            <a:off x="8628799" y="24472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02"/>
          <p:cNvSpPr/>
          <p:nvPr/>
        </p:nvSpPr>
        <p:spPr>
          <a:xfrm>
            <a:off x="6460300" y="21382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02"/>
          <p:cNvSpPr/>
          <p:nvPr/>
        </p:nvSpPr>
        <p:spPr>
          <a:xfrm>
            <a:off x="6657545" y="3037130"/>
            <a:ext cx="1834370" cy="1018288"/>
          </a:xfrm>
          <a:custGeom>
            <a:rect b="b" l="l" r="r" t="t"/>
            <a:pathLst>
              <a:path extrusionOk="0" h="56548" w="101867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91" name="Google Shape;1691;p102"/>
          <p:cNvCxnSpPr/>
          <p:nvPr/>
        </p:nvCxnSpPr>
        <p:spPr>
          <a:xfrm flipH="1">
            <a:off x="6542236" y="2986550"/>
            <a:ext cx="281400" cy="92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92" name="Google Shape;1692;p102"/>
          <p:cNvCxnSpPr/>
          <p:nvPr/>
        </p:nvCxnSpPr>
        <p:spPr>
          <a:xfrm>
            <a:off x="6657545" y="4055351"/>
            <a:ext cx="1827000" cy="10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3" name="Google Shape;1693;p102"/>
          <p:cNvSpPr txBox="1"/>
          <p:nvPr/>
        </p:nvSpPr>
        <p:spPr>
          <a:xfrm>
            <a:off x="6861180" y="2786897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02"/>
          <p:cNvSpPr txBox="1"/>
          <p:nvPr/>
        </p:nvSpPr>
        <p:spPr>
          <a:xfrm>
            <a:off x="6404721" y="391922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02"/>
          <p:cNvSpPr txBox="1"/>
          <p:nvPr/>
        </p:nvSpPr>
        <p:spPr>
          <a:xfrm>
            <a:off x="8552599" y="3971264"/>
            <a:ext cx="1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02"/>
          <p:cNvSpPr/>
          <p:nvPr/>
        </p:nvSpPr>
        <p:spPr>
          <a:xfrm>
            <a:off x="6384100" y="3662255"/>
            <a:ext cx="553800" cy="553800"/>
          </a:xfrm>
          <a:prstGeom prst="pie">
            <a:avLst>
              <a:gd fmla="val 17179210" name="adj1"/>
              <a:gd fmla="val 20233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02"/>
          <p:cNvSpPr txBox="1"/>
          <p:nvPr/>
        </p:nvSpPr>
        <p:spPr>
          <a:xfrm>
            <a:off x="322101" y="1843013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02"/>
          <p:cNvSpPr txBox="1"/>
          <p:nvPr/>
        </p:nvSpPr>
        <p:spPr>
          <a:xfrm>
            <a:off x="1281431" y="2267073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02"/>
          <p:cNvSpPr txBox="1"/>
          <p:nvPr/>
        </p:nvSpPr>
        <p:spPr>
          <a:xfrm>
            <a:off x="1475287" y="2781575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02"/>
          <p:cNvSpPr txBox="1"/>
          <p:nvPr/>
        </p:nvSpPr>
        <p:spPr>
          <a:xfrm>
            <a:off x="4156631" y="198113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02"/>
          <p:cNvSpPr txBox="1"/>
          <p:nvPr/>
        </p:nvSpPr>
        <p:spPr>
          <a:xfrm>
            <a:off x="4194706" y="169063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02"/>
          <p:cNvSpPr txBox="1"/>
          <p:nvPr/>
        </p:nvSpPr>
        <p:spPr>
          <a:xfrm>
            <a:off x="3180476" y="1565825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02"/>
          <p:cNvSpPr txBox="1"/>
          <p:nvPr/>
        </p:nvSpPr>
        <p:spPr>
          <a:xfrm>
            <a:off x="4418450" y="2567388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02"/>
          <p:cNvSpPr txBox="1"/>
          <p:nvPr/>
        </p:nvSpPr>
        <p:spPr>
          <a:xfrm>
            <a:off x="5992689" y="1698750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02"/>
          <p:cNvSpPr txBox="1"/>
          <p:nvPr/>
        </p:nvSpPr>
        <p:spPr>
          <a:xfrm>
            <a:off x="7682475" y="1553088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02"/>
          <p:cNvSpPr txBox="1"/>
          <p:nvPr/>
        </p:nvSpPr>
        <p:spPr>
          <a:xfrm>
            <a:off x="7006520" y="2047656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102"/>
          <p:cNvSpPr txBox="1"/>
          <p:nvPr/>
        </p:nvSpPr>
        <p:spPr>
          <a:xfrm>
            <a:off x="1779437" y="4564775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02"/>
          <p:cNvSpPr txBox="1"/>
          <p:nvPr/>
        </p:nvSpPr>
        <p:spPr>
          <a:xfrm>
            <a:off x="1642056" y="376201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02"/>
          <p:cNvSpPr txBox="1"/>
          <p:nvPr/>
        </p:nvSpPr>
        <p:spPr>
          <a:xfrm>
            <a:off x="2333106" y="4180210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102"/>
          <p:cNvSpPr txBox="1"/>
          <p:nvPr/>
        </p:nvSpPr>
        <p:spPr>
          <a:xfrm>
            <a:off x="4224577" y="352255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102"/>
          <p:cNvSpPr txBox="1"/>
          <p:nvPr/>
        </p:nvSpPr>
        <p:spPr>
          <a:xfrm>
            <a:off x="4915627" y="394075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102"/>
          <p:cNvSpPr txBox="1"/>
          <p:nvPr/>
        </p:nvSpPr>
        <p:spPr>
          <a:xfrm>
            <a:off x="4193400" y="3832706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02"/>
          <p:cNvSpPr txBox="1"/>
          <p:nvPr/>
        </p:nvSpPr>
        <p:spPr>
          <a:xfrm>
            <a:off x="5918439" y="3244088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02"/>
          <p:cNvSpPr txBox="1"/>
          <p:nvPr/>
        </p:nvSpPr>
        <p:spPr>
          <a:xfrm>
            <a:off x="7106550" y="4130713"/>
            <a:ext cx="92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02"/>
          <p:cNvSpPr txBox="1"/>
          <p:nvPr/>
        </p:nvSpPr>
        <p:spPr>
          <a:xfrm>
            <a:off x="6929671" y="3604105"/>
            <a:ext cx="63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02"/>
          <p:cNvSpPr txBox="1"/>
          <p:nvPr/>
        </p:nvSpPr>
        <p:spPr>
          <a:xfrm>
            <a:off x="578126" y="3701938"/>
            <a:ext cx="71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7" name="Google Shape;171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083" y="1402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2563" y="20196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158" y="3936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6288" y="33363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263" y="354589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02"/>
          <p:cNvSpPr/>
          <p:nvPr/>
        </p:nvSpPr>
        <p:spPr>
          <a:xfrm>
            <a:off x="300150" y="1491650"/>
            <a:ext cx="2837700" cy="159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0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triangles can be proved to be congruent if the two side </a:t>
            </a:r>
            <a:r>
              <a:rPr lang="en-GB"/>
              <a:t>lengths and the angle between them are the same.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two side lengths and an angle, not between them, are known, this does not prove congruence. There can be two triangles with these details.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734" name="Google Shape;1734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