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2b0fbf171a5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5" name="Google Shape;745;g2b0fbf171a5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2b0fbf171a5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2b0fbf171a5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2b0fbf171a5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2b0fbf171a5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2b1fea21024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2b1fea21024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2b0fbf171a5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2b0fbf171a5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2b0fbf171a5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2b0fbf171a5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2b0fbf171a5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2b0fbf171a5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2b0fbf171a5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2b0fbf171a5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2b0fbf171a5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2b0fbf171a5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2b0fbf171a5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2b0fbf171a5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2b0fbf171a5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2b0fbf171a5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2b0fbf171a5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5" name="Google Shape;975;g2b0fbf171a5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2b0fbf171a5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7" name="Google Shape;1007;g2b0fbf171a5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2b0fbf171a5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6" name="Google Shape;1056;g2b0fbf171a5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2b0fbf171a5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7" name="Google Shape;1137;g2b0fbf171a5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g2b0fbf171a5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8" name="Google Shape;1158;g2b0fbf171a5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2b0fbf171a5_0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6" name="Google Shape;1186;g2b0fbf171a5_0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g2b0fbf171a5_0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2" name="Google Shape;1202;g2b0fbf171a5_0_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g2b0fbf171a5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2" name="Google Shape;1212;g2b0fbf171a5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g2b0fbf171a5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2" name="Google Shape;1232;g2b0fbf171a5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g2b0fbf171a5_0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8" name="Google Shape;1268;g2b0fbf171a5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g2b0fbf171a5_0_1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9" name="Google Shape;1289;g2b0fbf171a5_0_1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g2b0fbf171a5_0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8" name="Google Shape;1298;g2b0fbf171a5_0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g2b0fbf171a5_0_6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7" name="Google Shape;1337;g2b0fbf171a5_0_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g2b0fbf171a5_0_6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9" name="Google Shape;1369;g2b0fbf171a5_0_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g2b0fbf171a5_0_1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7" name="Google Shape;1397;g2b0fbf171a5_0_1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4" name="Shape 1444"/>
        <p:cNvGrpSpPr/>
        <p:nvPr/>
      </p:nvGrpSpPr>
      <p:grpSpPr>
        <a:xfrm>
          <a:off x="0" y="0"/>
          <a:ext cx="0" cy="0"/>
          <a:chOff x="0" y="0"/>
          <a:chExt cx="0" cy="0"/>
        </a:xfrm>
      </p:grpSpPr>
      <p:sp>
        <p:nvSpPr>
          <p:cNvPr id="1445" name="Google Shape;1445;g2b0fbf171a5_0_1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6" name="Google Shape;1446;g2b0fbf171a5_0_1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1" name="Shape 1481"/>
        <p:cNvGrpSpPr/>
        <p:nvPr/>
      </p:nvGrpSpPr>
      <p:grpSpPr>
        <a:xfrm>
          <a:off x="0" y="0"/>
          <a:ext cx="0" cy="0"/>
          <a:chOff x="0" y="0"/>
          <a:chExt cx="0" cy="0"/>
        </a:xfrm>
      </p:grpSpPr>
      <p:sp>
        <p:nvSpPr>
          <p:cNvPr id="1482" name="Google Shape;1482;g2b0fbf171a5_0_1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3" name="Google Shape;1483;g2b0fbf171a5_0_1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7" name="Shape 1527"/>
        <p:cNvGrpSpPr/>
        <p:nvPr/>
      </p:nvGrpSpPr>
      <p:grpSpPr>
        <a:xfrm>
          <a:off x="0" y="0"/>
          <a:ext cx="0" cy="0"/>
          <a:chOff x="0" y="0"/>
          <a:chExt cx="0" cy="0"/>
        </a:xfrm>
      </p:grpSpPr>
      <p:sp>
        <p:nvSpPr>
          <p:cNvPr id="1528" name="Google Shape;1528;g2b0fbf171a5_0_1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9" name="Google Shape;1529;g2b0fbf171a5_0_1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9" name="Shape 1549"/>
        <p:cNvGrpSpPr/>
        <p:nvPr/>
      </p:nvGrpSpPr>
      <p:grpSpPr>
        <a:xfrm>
          <a:off x="0" y="0"/>
          <a:ext cx="0" cy="0"/>
          <a:chOff x="0" y="0"/>
          <a:chExt cx="0" cy="0"/>
        </a:xfrm>
      </p:grpSpPr>
      <p:sp>
        <p:nvSpPr>
          <p:cNvPr id="1550" name="Google Shape;1550;g2b0fbf171a5_0_1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1" name="Google Shape;1551;g2b0fbf171a5_0_1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9" name="Shape 1569"/>
        <p:cNvGrpSpPr/>
        <p:nvPr/>
      </p:nvGrpSpPr>
      <p:grpSpPr>
        <a:xfrm>
          <a:off x="0" y="0"/>
          <a:ext cx="0" cy="0"/>
          <a:chOff x="0" y="0"/>
          <a:chExt cx="0" cy="0"/>
        </a:xfrm>
      </p:grpSpPr>
      <p:sp>
        <p:nvSpPr>
          <p:cNvPr id="1570" name="Google Shape;1570;g2b0fbf171a5_0_1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1" name="Google Shape;1571;g2b0fbf171a5_0_1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9" name="Shape 1599"/>
        <p:cNvGrpSpPr/>
        <p:nvPr/>
      </p:nvGrpSpPr>
      <p:grpSpPr>
        <a:xfrm>
          <a:off x="0" y="0"/>
          <a:ext cx="0" cy="0"/>
          <a:chOff x="0" y="0"/>
          <a:chExt cx="0" cy="0"/>
        </a:xfrm>
      </p:grpSpPr>
      <p:sp>
        <p:nvSpPr>
          <p:cNvPr id="1600" name="Google Shape;1600;g2b0fbf171a5_0_1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1" name="Google Shape;1601;g2b0fbf171a5_0_1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g2b0fbf171a5_0_1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7" name="Google Shape;1627;g2b0fbf171a5_0_1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6" name="Shape 1656"/>
        <p:cNvGrpSpPr/>
        <p:nvPr/>
      </p:nvGrpSpPr>
      <p:grpSpPr>
        <a:xfrm>
          <a:off x="0" y="0"/>
          <a:ext cx="0" cy="0"/>
          <a:chOff x="0" y="0"/>
          <a:chExt cx="0" cy="0"/>
        </a:xfrm>
      </p:grpSpPr>
      <p:sp>
        <p:nvSpPr>
          <p:cNvPr id="1657" name="Google Shape;1657;g2b0fbf171a5_0_1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8" name="Google Shape;1658;g2b0fbf171a5_0_1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1" name="Shape 1691"/>
        <p:cNvGrpSpPr/>
        <p:nvPr/>
      </p:nvGrpSpPr>
      <p:grpSpPr>
        <a:xfrm>
          <a:off x="0" y="0"/>
          <a:ext cx="0" cy="0"/>
          <a:chOff x="0" y="0"/>
          <a:chExt cx="0" cy="0"/>
        </a:xfrm>
      </p:grpSpPr>
      <p:sp>
        <p:nvSpPr>
          <p:cNvPr id="1692" name="Google Shape;1692;g2b0fbf171a5_0_1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3" name="Google Shape;1693;g2b0fbf171a5_0_1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1" name="Shape 1731"/>
        <p:cNvGrpSpPr/>
        <p:nvPr/>
      </p:nvGrpSpPr>
      <p:grpSpPr>
        <a:xfrm>
          <a:off x="0" y="0"/>
          <a:ext cx="0" cy="0"/>
          <a:chOff x="0" y="0"/>
          <a:chExt cx="0" cy="0"/>
        </a:xfrm>
      </p:grpSpPr>
      <p:sp>
        <p:nvSpPr>
          <p:cNvPr id="1732" name="Google Shape;1732;g2b0fbf171a5_0_1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3" name="Google Shape;1733;g2b0fbf171a5_0_1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7" name="Shape 1767"/>
        <p:cNvGrpSpPr/>
        <p:nvPr/>
      </p:nvGrpSpPr>
      <p:grpSpPr>
        <a:xfrm>
          <a:off x="0" y="0"/>
          <a:ext cx="0" cy="0"/>
          <a:chOff x="0" y="0"/>
          <a:chExt cx="0" cy="0"/>
        </a:xfrm>
      </p:grpSpPr>
      <p:sp>
        <p:nvSpPr>
          <p:cNvPr id="1768" name="Google Shape;1768;g2b0fbf171a5_0_1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9" name="Google Shape;1769;g2b0fbf171a5_0_1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6" name="Shape 1806"/>
        <p:cNvGrpSpPr/>
        <p:nvPr/>
      </p:nvGrpSpPr>
      <p:grpSpPr>
        <a:xfrm>
          <a:off x="0" y="0"/>
          <a:ext cx="0" cy="0"/>
          <a:chOff x="0" y="0"/>
          <a:chExt cx="0" cy="0"/>
        </a:xfrm>
      </p:grpSpPr>
      <p:sp>
        <p:nvSpPr>
          <p:cNvPr id="1807" name="Google Shape;1807;g2b0fbf171a5_0_1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8" name="Google Shape;1808;g2b0fbf171a5_0_1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0" name="Shape 1890"/>
        <p:cNvGrpSpPr/>
        <p:nvPr/>
      </p:nvGrpSpPr>
      <p:grpSpPr>
        <a:xfrm>
          <a:off x="0" y="0"/>
          <a:ext cx="0" cy="0"/>
          <a:chOff x="0" y="0"/>
          <a:chExt cx="0" cy="0"/>
        </a:xfrm>
      </p:grpSpPr>
      <p:sp>
        <p:nvSpPr>
          <p:cNvPr id="1891" name="Google Shape;1891;g2b0fbf171a5_0_1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2" name="Google Shape;1892;g2b0fbf171a5_0_1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2" name="Shape 1962"/>
        <p:cNvGrpSpPr/>
        <p:nvPr/>
      </p:nvGrpSpPr>
      <p:grpSpPr>
        <a:xfrm>
          <a:off x="0" y="0"/>
          <a:ext cx="0" cy="0"/>
          <a:chOff x="0" y="0"/>
          <a:chExt cx="0" cy="0"/>
        </a:xfrm>
      </p:grpSpPr>
      <p:sp>
        <p:nvSpPr>
          <p:cNvPr id="1963" name="Google Shape;1963;g2b0fbf171a5_0_18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4" name="Google Shape;1964;g2b0fbf171a5_0_18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9" name="Shape 1999"/>
        <p:cNvGrpSpPr/>
        <p:nvPr/>
      </p:nvGrpSpPr>
      <p:grpSpPr>
        <a:xfrm>
          <a:off x="0" y="0"/>
          <a:ext cx="0" cy="0"/>
          <a:chOff x="0" y="0"/>
          <a:chExt cx="0" cy="0"/>
        </a:xfrm>
      </p:grpSpPr>
      <p:sp>
        <p:nvSpPr>
          <p:cNvPr id="2000" name="Google Shape;2000;g2b0fbf171a5_0_18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1" name="Google Shape;2001;g2b0fbf171a5_0_18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5" name="Shape 2095"/>
        <p:cNvGrpSpPr/>
        <p:nvPr/>
      </p:nvGrpSpPr>
      <p:grpSpPr>
        <a:xfrm>
          <a:off x="0" y="0"/>
          <a:ext cx="0" cy="0"/>
          <a:chOff x="0" y="0"/>
          <a:chExt cx="0" cy="0"/>
        </a:xfrm>
      </p:grpSpPr>
      <p:sp>
        <p:nvSpPr>
          <p:cNvPr id="2096" name="Google Shape;2096;g2b0fbf171a5_0_19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7" name="Google Shape;2097;g2b0fbf171a5_0_19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4" name="Shape 2174"/>
        <p:cNvGrpSpPr/>
        <p:nvPr/>
      </p:nvGrpSpPr>
      <p:grpSpPr>
        <a:xfrm>
          <a:off x="0" y="0"/>
          <a:ext cx="0" cy="0"/>
          <a:chOff x="0" y="0"/>
          <a:chExt cx="0" cy="0"/>
        </a:xfrm>
      </p:grpSpPr>
      <p:sp>
        <p:nvSpPr>
          <p:cNvPr id="2175" name="Google Shape;2175;g2b0fbf171a5_0_20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6" name="Google Shape;2176;g2b0fbf171a5_0_2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4" name="Shape 2214"/>
        <p:cNvGrpSpPr/>
        <p:nvPr/>
      </p:nvGrpSpPr>
      <p:grpSpPr>
        <a:xfrm>
          <a:off x="0" y="0"/>
          <a:ext cx="0" cy="0"/>
          <a:chOff x="0" y="0"/>
          <a:chExt cx="0" cy="0"/>
        </a:xfrm>
      </p:grpSpPr>
      <p:sp>
        <p:nvSpPr>
          <p:cNvPr id="2215" name="Google Shape;2215;g2b0fbf171a5_0_20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6" name="Google Shape;2216;g2b0fbf171a5_0_20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0" name="Shape 2220"/>
        <p:cNvGrpSpPr/>
        <p:nvPr/>
      </p:nvGrpSpPr>
      <p:grpSpPr>
        <a:xfrm>
          <a:off x="0" y="0"/>
          <a:ext cx="0" cy="0"/>
          <a:chOff x="0" y="0"/>
          <a:chExt cx="0" cy="0"/>
        </a:xfrm>
      </p:grpSpPr>
      <p:sp>
        <p:nvSpPr>
          <p:cNvPr id="2221" name="Google Shape;2221;g2b0fbf171a5_0_20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2" name="Google Shape;2222;g2b0fbf171a5_0_20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2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1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5.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8.png"/><Relationship Id="rId4" Type="http://schemas.openxmlformats.org/officeDocument/2006/relationships/image" Target="../media/image17.png"/><Relationship Id="rId5" Type="http://schemas.openxmlformats.org/officeDocument/2006/relationships/image" Target="../media/image25.png"/><Relationship Id="rId6" Type="http://schemas.openxmlformats.org/officeDocument/2006/relationships/image" Target="../media/image16.png"/><Relationship Id="rId7" Type="http://schemas.openxmlformats.org/officeDocument/2006/relationships/image" Target="../media/image1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26.png"/><Relationship Id="rId4" Type="http://schemas.openxmlformats.org/officeDocument/2006/relationships/image" Target="../media/image68.png"/><Relationship Id="rId5" Type="http://schemas.openxmlformats.org/officeDocument/2006/relationships/image" Target="../media/image20.png"/><Relationship Id="rId6" Type="http://schemas.openxmlformats.org/officeDocument/2006/relationships/image" Target="../media/image30.png"/><Relationship Id="rId7" Type="http://schemas.openxmlformats.org/officeDocument/2006/relationships/image" Target="../media/image2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68.png"/><Relationship Id="rId4" Type="http://schemas.openxmlformats.org/officeDocument/2006/relationships/image" Target="../media/image23.png"/><Relationship Id="rId9" Type="http://schemas.openxmlformats.org/officeDocument/2006/relationships/image" Target="../media/image21.png"/><Relationship Id="rId5" Type="http://schemas.openxmlformats.org/officeDocument/2006/relationships/image" Target="../media/image26.png"/><Relationship Id="rId6" Type="http://schemas.openxmlformats.org/officeDocument/2006/relationships/image" Target="../media/image29.png"/><Relationship Id="rId7" Type="http://schemas.openxmlformats.org/officeDocument/2006/relationships/image" Target="../media/image20.png"/><Relationship Id="rId8" Type="http://schemas.openxmlformats.org/officeDocument/2006/relationships/image" Target="../media/image30.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68.png"/><Relationship Id="rId4" Type="http://schemas.openxmlformats.org/officeDocument/2006/relationships/image" Target="../media/image34.png"/><Relationship Id="rId11" Type="http://schemas.openxmlformats.org/officeDocument/2006/relationships/image" Target="../media/image21.png"/><Relationship Id="rId10" Type="http://schemas.openxmlformats.org/officeDocument/2006/relationships/image" Target="../media/image35.png"/><Relationship Id="rId9" Type="http://schemas.openxmlformats.org/officeDocument/2006/relationships/image" Target="../media/image30.png"/><Relationship Id="rId5" Type="http://schemas.openxmlformats.org/officeDocument/2006/relationships/image" Target="../media/image23.png"/><Relationship Id="rId6" Type="http://schemas.openxmlformats.org/officeDocument/2006/relationships/image" Target="../media/image26.png"/><Relationship Id="rId7" Type="http://schemas.openxmlformats.org/officeDocument/2006/relationships/image" Target="../media/image29.png"/><Relationship Id="rId8" Type="http://schemas.openxmlformats.org/officeDocument/2006/relationships/image" Target="../media/image2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4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8.png"/><Relationship Id="rId4" Type="http://schemas.openxmlformats.org/officeDocument/2006/relationships/image" Target="../media/image4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8.png"/><Relationship Id="rId4" Type="http://schemas.openxmlformats.org/officeDocument/2006/relationships/image" Target="../media/image4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8.png"/><Relationship Id="rId4" Type="http://schemas.openxmlformats.org/officeDocument/2006/relationships/image" Target="../media/image4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7.png"/><Relationship Id="rId4" Type="http://schemas.openxmlformats.org/officeDocument/2006/relationships/image" Target="../media/image41.png"/><Relationship Id="rId5" Type="http://schemas.openxmlformats.org/officeDocument/2006/relationships/image" Target="../media/image4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6.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901925" y="9534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                                          to </a:t>
            </a:r>
            <a:r>
              <a:rPr lang="en-GB" sz="1200">
                <a:solidFill>
                  <a:srgbClr val="000000"/>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650916" y="16444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7" name="Google Shape;107;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8" name="Shape 108"/>
        <p:cNvGrpSpPr/>
        <p:nvPr/>
      </p:nvGrpSpPr>
      <p:grpSpPr>
        <a:xfrm>
          <a:off x="0" y="0"/>
          <a:ext cx="0" cy="0"/>
          <a:chOff x="0" y="0"/>
          <a:chExt cx="0" cy="0"/>
        </a:xfrm>
      </p:grpSpPr>
      <p:sp>
        <p:nvSpPr>
          <p:cNvPr id="109" name="Google Shape;109;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1" name="Google Shape;111;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2" name="Google Shape;112;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3" name="Google Shape;113;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4" name="Google Shape;114;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5" name="Google Shape;115;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6" name="Google Shape;116;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7" name="Google Shape;117;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8" name="Shape 118"/>
        <p:cNvGrpSpPr/>
        <p:nvPr/>
      </p:nvGrpSpPr>
      <p:grpSpPr>
        <a:xfrm>
          <a:off x="0" y="0"/>
          <a:ext cx="0" cy="0"/>
          <a:chOff x="0" y="0"/>
          <a:chExt cx="0" cy="0"/>
        </a:xfrm>
      </p:grpSpPr>
      <p:sp>
        <p:nvSpPr>
          <p:cNvPr id="119" name="Google Shape;119;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1" name="Google Shape;121;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2" name="Google Shape;122;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3" name="Google Shape;123;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4" name="Google Shape;124;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5" name="Google Shape;125;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6" name="Google Shape;126;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7" name="Google Shape;127;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8" name="Google Shape;128;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9" name="Google Shape;129;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30" name="Shape 130"/>
        <p:cNvGrpSpPr/>
        <p:nvPr/>
      </p:nvGrpSpPr>
      <p:grpSpPr>
        <a:xfrm>
          <a:off x="0" y="0"/>
          <a:ext cx="0" cy="0"/>
          <a:chOff x="0" y="0"/>
          <a:chExt cx="0" cy="0"/>
        </a:xfrm>
      </p:grpSpPr>
      <p:sp>
        <p:nvSpPr>
          <p:cNvPr id="131" name="Google Shape;131;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 name="Google Shape;132;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3" name="Google Shape;133;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4" name="Google Shape;134;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6" name="Google Shape;136;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7" name="Google Shape;137;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8" name="Google Shape;138;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9" name="Google Shape;139;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0" name="Google Shape;140;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2" name="Google Shape;142;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4" name="Shape 144"/>
        <p:cNvGrpSpPr/>
        <p:nvPr/>
      </p:nvGrpSpPr>
      <p:grpSpPr>
        <a:xfrm>
          <a:off x="0" y="0"/>
          <a:ext cx="0" cy="0"/>
          <a:chOff x="0" y="0"/>
          <a:chExt cx="0" cy="0"/>
        </a:xfrm>
      </p:grpSpPr>
      <p:sp>
        <p:nvSpPr>
          <p:cNvPr id="145" name="Google Shape;145;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 name="Google Shape;146;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7" name="Google Shape;147;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8" name="Google Shape;148;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9" name="Google Shape;149;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0" name="Google Shape;150;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2" name="Shape 152"/>
        <p:cNvGrpSpPr/>
        <p:nvPr/>
      </p:nvGrpSpPr>
      <p:grpSpPr>
        <a:xfrm>
          <a:off x="0" y="0"/>
          <a:ext cx="0" cy="0"/>
          <a:chOff x="0" y="0"/>
          <a:chExt cx="0" cy="0"/>
        </a:xfrm>
      </p:grpSpPr>
      <p:sp>
        <p:nvSpPr>
          <p:cNvPr id="153" name="Google Shape;153;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 name="Google Shape;154;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5" name="Google Shape;155;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6" name="Google Shape;156;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7" name="Google Shape;157;p17"/>
          <p:cNvCxnSpPr>
            <a:endCxn id="15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9" name="Google Shape;159;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0" name="Google Shape;160;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1" name="Google Shape;161;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2" name="Google Shape;162;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3" name="Google Shape;163;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4" name="Google Shape;164;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5" name="Shape 165"/>
        <p:cNvGrpSpPr/>
        <p:nvPr/>
      </p:nvGrpSpPr>
      <p:grpSpPr>
        <a:xfrm>
          <a:off x="0" y="0"/>
          <a:ext cx="0" cy="0"/>
          <a:chOff x="0" y="0"/>
          <a:chExt cx="0" cy="0"/>
        </a:xfrm>
      </p:grpSpPr>
      <p:pic>
        <p:nvPicPr>
          <p:cNvPr id="166" name="Google Shape;166;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7" name="Google Shape;167;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8" name="Google Shape;168;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9" name="Google Shape;169;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0" name="Google Shape;170;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1" name="Google Shape;171;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2" name="Google Shape;172;p18"/>
          <p:cNvCxnSpPr>
            <a:endCxn id="17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3" name="Google Shape;173;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4" name="Google Shape;174;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5" name="Google Shape;175;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7" name="Google Shape;177;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8" name="Google Shape;178;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9" name="Google Shape;179;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0" name="Google Shape;180;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1" name="Google Shape;181;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2" name="Google Shape;182;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3" name="Shape 183"/>
        <p:cNvGrpSpPr/>
        <p:nvPr/>
      </p:nvGrpSpPr>
      <p:grpSpPr>
        <a:xfrm>
          <a:off x="0" y="0"/>
          <a:ext cx="0" cy="0"/>
          <a:chOff x="0" y="0"/>
          <a:chExt cx="0" cy="0"/>
        </a:xfrm>
      </p:grpSpPr>
      <p:pic>
        <p:nvPicPr>
          <p:cNvPr id="184" name="Google Shape;184;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5" name="Google Shape;185;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6" name="Google Shape;186;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7" name="Google Shape;187;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8" name="Google Shape;188;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9" name="Google Shape;189;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0" name="Google Shape;190;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1" name="Google Shape;191;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2" name="Google Shape;192;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3" name="Google Shape;193;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4" name="Google Shape;194;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5" name="Google Shape;195;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6" name="Google Shape;196;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9" name="Google Shape;199;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0" name="Google Shape;200;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1" name="Google Shape;201;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 name="Google Shape;202;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3" name="Google Shape;203;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4" name="Google Shape;204;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5" name="Shape 205"/>
        <p:cNvGrpSpPr/>
        <p:nvPr/>
      </p:nvGrpSpPr>
      <p:grpSpPr>
        <a:xfrm>
          <a:off x="0" y="0"/>
          <a:ext cx="0" cy="0"/>
          <a:chOff x="0" y="0"/>
          <a:chExt cx="0" cy="0"/>
        </a:xfrm>
      </p:grpSpPr>
      <p:pic>
        <p:nvPicPr>
          <p:cNvPr id="206" name="Google Shape;206;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7" name="Google Shape;207;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9" name="Google Shape;209;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0" name="Google Shape;210;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1" name="Google Shape;211;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2" name="Shape 212"/>
        <p:cNvGrpSpPr/>
        <p:nvPr/>
      </p:nvGrpSpPr>
      <p:grpSpPr>
        <a:xfrm>
          <a:off x="0" y="0"/>
          <a:ext cx="0" cy="0"/>
          <a:chOff x="0" y="0"/>
          <a:chExt cx="0" cy="0"/>
        </a:xfrm>
      </p:grpSpPr>
      <p:pic>
        <p:nvPicPr>
          <p:cNvPr id="213" name="Google Shape;213;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4" name="Google Shape;214;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6" name="Google Shape;216;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7" name="Google Shape;217;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8" name="Google Shape;218;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9" name="Shape 219"/>
        <p:cNvGrpSpPr/>
        <p:nvPr/>
      </p:nvGrpSpPr>
      <p:grpSpPr>
        <a:xfrm>
          <a:off x="0" y="0"/>
          <a:ext cx="0" cy="0"/>
          <a:chOff x="0" y="0"/>
          <a:chExt cx="0" cy="0"/>
        </a:xfrm>
      </p:grpSpPr>
      <p:pic>
        <p:nvPicPr>
          <p:cNvPr id="220" name="Google Shape;220;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1" name="Google Shape;221;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3" name="Google Shape;223;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4" name="Google Shape;224;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5" name="Google Shape;225;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6" name="Shape 226"/>
        <p:cNvGrpSpPr/>
        <p:nvPr/>
      </p:nvGrpSpPr>
      <p:grpSpPr>
        <a:xfrm>
          <a:off x="0" y="0"/>
          <a:ext cx="0" cy="0"/>
          <a:chOff x="0" y="0"/>
          <a:chExt cx="0" cy="0"/>
        </a:xfrm>
      </p:grpSpPr>
      <p:pic>
        <p:nvPicPr>
          <p:cNvPr id="227" name="Google Shape;227;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8" name="Google Shape;228;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0" name="Google Shape;230;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1" name="Google Shape;231;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2" name="Google Shape;232;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3" name="Shape 233"/>
        <p:cNvGrpSpPr/>
        <p:nvPr/>
      </p:nvGrpSpPr>
      <p:grpSpPr>
        <a:xfrm>
          <a:off x="0" y="0"/>
          <a:ext cx="0" cy="0"/>
          <a:chOff x="0" y="0"/>
          <a:chExt cx="0" cy="0"/>
        </a:xfrm>
      </p:grpSpPr>
      <p:sp>
        <p:nvSpPr>
          <p:cNvPr id="234" name="Google Shape;234;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5" name="Google Shape;235;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6" name="Google Shape;236;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9" name="Google Shape;239;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0" name="Google Shape;240;p24"/>
          <p:cNvGrpSpPr/>
          <p:nvPr/>
        </p:nvGrpSpPr>
        <p:grpSpPr>
          <a:xfrm>
            <a:off x="7834231" y="1285"/>
            <a:ext cx="828900" cy="576065"/>
            <a:chOff x="7801496" y="1285"/>
            <a:chExt cx="828900" cy="576065"/>
          </a:xfrm>
        </p:grpSpPr>
        <p:pic>
          <p:nvPicPr>
            <p:cNvPr id="241" name="Google Shape;241;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2" name="Google Shape;242;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3" name="Google Shape;243;p24"/>
          <p:cNvGrpSpPr/>
          <p:nvPr/>
        </p:nvGrpSpPr>
        <p:grpSpPr>
          <a:xfrm>
            <a:off x="8635663" y="1285"/>
            <a:ext cx="499700" cy="576065"/>
            <a:chOff x="8635663" y="1285"/>
            <a:chExt cx="499700" cy="576065"/>
          </a:xfrm>
        </p:grpSpPr>
        <p:pic>
          <p:nvPicPr>
            <p:cNvPr id="244" name="Google Shape;244;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5" name="Google Shape;245;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6" name="Shape 246"/>
        <p:cNvGrpSpPr/>
        <p:nvPr/>
      </p:nvGrpSpPr>
      <p:grpSpPr>
        <a:xfrm>
          <a:off x="0" y="0"/>
          <a:ext cx="0" cy="0"/>
          <a:chOff x="0" y="0"/>
          <a:chExt cx="0" cy="0"/>
        </a:xfrm>
      </p:grpSpPr>
      <p:sp>
        <p:nvSpPr>
          <p:cNvPr id="247" name="Google Shape;247;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8" name="Google Shape;248;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9" name="Google Shape;249;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2" name="Google Shape;252;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3" name="Google Shape;253;p25"/>
          <p:cNvGrpSpPr/>
          <p:nvPr/>
        </p:nvGrpSpPr>
        <p:grpSpPr>
          <a:xfrm>
            <a:off x="7834231" y="1285"/>
            <a:ext cx="828900" cy="576065"/>
            <a:chOff x="7801496" y="1285"/>
            <a:chExt cx="828900" cy="576065"/>
          </a:xfrm>
        </p:grpSpPr>
        <p:pic>
          <p:nvPicPr>
            <p:cNvPr id="254" name="Google Shape;254;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5" name="Google Shape;255;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6" name="Google Shape;256;p25"/>
          <p:cNvGrpSpPr/>
          <p:nvPr/>
        </p:nvGrpSpPr>
        <p:grpSpPr>
          <a:xfrm>
            <a:off x="8635663" y="1285"/>
            <a:ext cx="499700" cy="576065"/>
            <a:chOff x="8635663" y="1285"/>
            <a:chExt cx="499700" cy="576065"/>
          </a:xfrm>
        </p:grpSpPr>
        <p:pic>
          <p:nvPicPr>
            <p:cNvPr id="257" name="Google Shape;257;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8" name="Google Shape;258;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9" name="Shape 259"/>
        <p:cNvGrpSpPr/>
        <p:nvPr/>
      </p:nvGrpSpPr>
      <p:grpSpPr>
        <a:xfrm>
          <a:off x="0" y="0"/>
          <a:ext cx="0" cy="0"/>
          <a:chOff x="0" y="0"/>
          <a:chExt cx="0" cy="0"/>
        </a:xfrm>
      </p:grpSpPr>
      <p:sp>
        <p:nvSpPr>
          <p:cNvPr id="260" name="Google Shape;260;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1" name="Google Shape;261;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2" name="Google Shape;262;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5" name="Google Shape;265;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6" name="Google Shape;266;p26"/>
          <p:cNvGrpSpPr/>
          <p:nvPr/>
        </p:nvGrpSpPr>
        <p:grpSpPr>
          <a:xfrm>
            <a:off x="7834231" y="1285"/>
            <a:ext cx="828900" cy="576065"/>
            <a:chOff x="7801496" y="1285"/>
            <a:chExt cx="828900" cy="576065"/>
          </a:xfrm>
        </p:grpSpPr>
        <p:pic>
          <p:nvPicPr>
            <p:cNvPr id="267" name="Google Shape;267;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8" name="Google Shape;268;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9" name="Google Shape;269;p26"/>
          <p:cNvGrpSpPr/>
          <p:nvPr/>
        </p:nvGrpSpPr>
        <p:grpSpPr>
          <a:xfrm>
            <a:off x="8635663" y="1285"/>
            <a:ext cx="499700" cy="576065"/>
            <a:chOff x="8635663" y="1285"/>
            <a:chExt cx="499700" cy="576065"/>
          </a:xfrm>
        </p:grpSpPr>
        <p:pic>
          <p:nvPicPr>
            <p:cNvPr id="270" name="Google Shape;270;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1" name="Google Shape;271;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2" name="Shape 272"/>
        <p:cNvGrpSpPr/>
        <p:nvPr/>
      </p:nvGrpSpPr>
      <p:grpSpPr>
        <a:xfrm>
          <a:off x="0" y="0"/>
          <a:ext cx="0" cy="0"/>
          <a:chOff x="0" y="0"/>
          <a:chExt cx="0" cy="0"/>
        </a:xfrm>
      </p:grpSpPr>
      <p:sp>
        <p:nvSpPr>
          <p:cNvPr id="273" name="Google Shape;273;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5" name="Google Shape;275;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8" name="Google Shape;278;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9" name="Google Shape;279;p27"/>
          <p:cNvGrpSpPr/>
          <p:nvPr/>
        </p:nvGrpSpPr>
        <p:grpSpPr>
          <a:xfrm>
            <a:off x="7834231" y="1285"/>
            <a:ext cx="828900" cy="576065"/>
            <a:chOff x="7801496" y="1285"/>
            <a:chExt cx="828900" cy="576065"/>
          </a:xfrm>
        </p:grpSpPr>
        <p:pic>
          <p:nvPicPr>
            <p:cNvPr id="280" name="Google Shape;280;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1" name="Google Shape;281;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2" name="Google Shape;282;p27"/>
          <p:cNvGrpSpPr/>
          <p:nvPr/>
        </p:nvGrpSpPr>
        <p:grpSpPr>
          <a:xfrm>
            <a:off x="8635663" y="1285"/>
            <a:ext cx="499700" cy="576065"/>
            <a:chOff x="8635663" y="1285"/>
            <a:chExt cx="499700" cy="576065"/>
          </a:xfrm>
        </p:grpSpPr>
        <p:pic>
          <p:nvPicPr>
            <p:cNvPr id="283" name="Google Shape;283;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4" name="Google Shape;284;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5" name="Shape 285"/>
        <p:cNvGrpSpPr/>
        <p:nvPr/>
      </p:nvGrpSpPr>
      <p:grpSpPr>
        <a:xfrm>
          <a:off x="0" y="0"/>
          <a:ext cx="0" cy="0"/>
          <a:chOff x="0" y="0"/>
          <a:chExt cx="0" cy="0"/>
        </a:xfrm>
      </p:grpSpPr>
      <p:pic>
        <p:nvPicPr>
          <p:cNvPr id="286" name="Google Shape;286;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7" name="Google Shape;287;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8" name="Google Shape;288;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9" name="Google Shape;289;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1" name="Google Shape;291;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2" name="Google Shape;292;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3" name="Google Shape;293;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5" name="Google Shape;295;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6" name="Google Shape;296;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8" name="Google Shape;298;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9" name="Google Shape;299;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0" name="Google Shape;300;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1" name="Google Shape;301;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2" name="Google Shape;302;p28"/>
          <p:cNvGrpSpPr/>
          <p:nvPr/>
        </p:nvGrpSpPr>
        <p:grpSpPr>
          <a:xfrm>
            <a:off x="324128" y="3139463"/>
            <a:ext cx="457200" cy="457200"/>
            <a:chOff x="1020916" y="1442088"/>
            <a:chExt cx="457200" cy="457200"/>
          </a:xfrm>
        </p:grpSpPr>
        <p:pic>
          <p:nvPicPr>
            <p:cNvPr id="303" name="Google Shape;303;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4" name="Google Shape;304;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5" name="Google Shape;305;p28"/>
          <p:cNvGrpSpPr/>
          <p:nvPr/>
        </p:nvGrpSpPr>
        <p:grpSpPr>
          <a:xfrm>
            <a:off x="324128" y="3987825"/>
            <a:ext cx="457200" cy="457200"/>
            <a:chOff x="1020916" y="1442088"/>
            <a:chExt cx="457200" cy="457200"/>
          </a:xfrm>
        </p:grpSpPr>
        <p:pic>
          <p:nvPicPr>
            <p:cNvPr id="306" name="Google Shape;306;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8" name="Shape 308"/>
        <p:cNvGrpSpPr/>
        <p:nvPr/>
      </p:nvGrpSpPr>
      <p:grpSpPr>
        <a:xfrm>
          <a:off x="0" y="0"/>
          <a:ext cx="0" cy="0"/>
          <a:chOff x="0" y="0"/>
          <a:chExt cx="0" cy="0"/>
        </a:xfrm>
      </p:grpSpPr>
      <p:pic>
        <p:nvPicPr>
          <p:cNvPr id="309" name="Google Shape;309;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0" name="Google Shape;310;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2" name="Google Shape;312;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3" name="Google Shape;313;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4" name="Google Shape;314;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5" name="Google Shape;315;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6" name="Google Shape;316;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7" name="Google Shape;317;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8" name="Google Shape;318;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9" name="Google Shape;319;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0" name="Google Shape;320;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1" name="Google Shape;321;p29"/>
          <p:cNvGrpSpPr/>
          <p:nvPr/>
        </p:nvGrpSpPr>
        <p:grpSpPr>
          <a:xfrm>
            <a:off x="324128" y="3139463"/>
            <a:ext cx="457200" cy="457200"/>
            <a:chOff x="1020916" y="1442088"/>
            <a:chExt cx="457200" cy="457200"/>
          </a:xfrm>
        </p:grpSpPr>
        <p:pic>
          <p:nvPicPr>
            <p:cNvPr id="322" name="Google Shape;322;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3" name="Google Shape;323;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4" name="Google Shape;324;p29"/>
          <p:cNvGrpSpPr/>
          <p:nvPr/>
        </p:nvGrpSpPr>
        <p:grpSpPr>
          <a:xfrm>
            <a:off x="324128" y="3987825"/>
            <a:ext cx="457200" cy="457200"/>
            <a:chOff x="1020916" y="1442088"/>
            <a:chExt cx="457200" cy="457200"/>
          </a:xfrm>
        </p:grpSpPr>
        <p:pic>
          <p:nvPicPr>
            <p:cNvPr id="325" name="Google Shape;325;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7" name="Google Shape;327;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8" name="Google Shape;328;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9" name="Google Shape;329;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0" name="Google Shape;330;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1" name="Shape 331"/>
        <p:cNvGrpSpPr/>
        <p:nvPr/>
      </p:nvGrpSpPr>
      <p:grpSpPr>
        <a:xfrm>
          <a:off x="0" y="0"/>
          <a:ext cx="0" cy="0"/>
          <a:chOff x="0" y="0"/>
          <a:chExt cx="0" cy="0"/>
        </a:xfrm>
      </p:grpSpPr>
      <p:pic>
        <p:nvPicPr>
          <p:cNvPr id="332" name="Google Shape;332;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3" name="Google Shape;333;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5" name="Google Shape;335;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6" name="Google Shape;336;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7" name="Google Shape;337;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8" name="Google Shape;33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9" name="Google Shape;339;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0" name="Google Shape;340;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1" name="Google Shape;341;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2" name="Google Shape;342;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3" name="Google Shape;343;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4" name="Google Shape;344;p30"/>
          <p:cNvGrpSpPr/>
          <p:nvPr/>
        </p:nvGrpSpPr>
        <p:grpSpPr>
          <a:xfrm>
            <a:off x="324128" y="3139463"/>
            <a:ext cx="457200" cy="457200"/>
            <a:chOff x="1020916" y="1442088"/>
            <a:chExt cx="457200" cy="457200"/>
          </a:xfrm>
        </p:grpSpPr>
        <p:pic>
          <p:nvPicPr>
            <p:cNvPr id="345" name="Google Shape;345;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6" name="Google Shape;346;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7" name="Google Shape;347;p30"/>
          <p:cNvGrpSpPr/>
          <p:nvPr/>
        </p:nvGrpSpPr>
        <p:grpSpPr>
          <a:xfrm>
            <a:off x="324128" y="3987825"/>
            <a:ext cx="457200" cy="457200"/>
            <a:chOff x="1020916" y="1442088"/>
            <a:chExt cx="457200" cy="457200"/>
          </a:xfrm>
        </p:grpSpPr>
        <p:pic>
          <p:nvPicPr>
            <p:cNvPr id="348" name="Google Shape;348;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0" name="Google Shape;350;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1" name="Google Shape;351;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2" name="Google Shape;352;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3" name="Google Shape;353;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4" name="Shape 354"/>
        <p:cNvGrpSpPr/>
        <p:nvPr/>
      </p:nvGrpSpPr>
      <p:grpSpPr>
        <a:xfrm>
          <a:off x="0" y="0"/>
          <a:ext cx="0" cy="0"/>
          <a:chOff x="0" y="0"/>
          <a:chExt cx="0" cy="0"/>
        </a:xfrm>
      </p:grpSpPr>
      <p:pic>
        <p:nvPicPr>
          <p:cNvPr id="355" name="Google Shape;355;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6" name="Google Shape;356;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8" name="Google Shape;358;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9" name="Google Shape;359;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0" name="Google Shape;360;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1" name="Google Shape;361;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2" name="Google Shape;362;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3" name="Google Shape;363;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4" name="Google Shape;364;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6" name="Google Shape;366;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7" name="Google Shape;367;p31"/>
          <p:cNvGrpSpPr/>
          <p:nvPr/>
        </p:nvGrpSpPr>
        <p:grpSpPr>
          <a:xfrm>
            <a:off x="324128" y="3139463"/>
            <a:ext cx="457200" cy="457200"/>
            <a:chOff x="1020916" y="1442088"/>
            <a:chExt cx="457200" cy="457200"/>
          </a:xfrm>
        </p:grpSpPr>
        <p:pic>
          <p:nvPicPr>
            <p:cNvPr id="368" name="Google Shape;36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9" name="Google Shape;36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0" name="Google Shape;370;p31"/>
          <p:cNvGrpSpPr/>
          <p:nvPr/>
        </p:nvGrpSpPr>
        <p:grpSpPr>
          <a:xfrm>
            <a:off x="324128" y="3987825"/>
            <a:ext cx="457200" cy="457200"/>
            <a:chOff x="1020916" y="1442088"/>
            <a:chExt cx="457200" cy="457200"/>
          </a:xfrm>
        </p:grpSpPr>
        <p:pic>
          <p:nvPicPr>
            <p:cNvPr id="371" name="Google Shape;371;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3" name="Google Shape;373;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4" name="Google Shape;374;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5" name="Google Shape;375;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6" name="Google Shape;376;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7" name="Shape 377"/>
        <p:cNvGrpSpPr/>
        <p:nvPr/>
      </p:nvGrpSpPr>
      <p:grpSpPr>
        <a:xfrm>
          <a:off x="0" y="0"/>
          <a:ext cx="0" cy="0"/>
          <a:chOff x="0" y="0"/>
          <a:chExt cx="0" cy="0"/>
        </a:xfrm>
      </p:grpSpPr>
      <p:pic>
        <p:nvPicPr>
          <p:cNvPr id="378" name="Google Shape;378;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9" name="Google Shape;379;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2" name="Google Shape;382;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3" name="Google Shape;383;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4" name="Google Shape;384;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6" name="Google Shape;386;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7" name="Google Shape;387;p32"/>
          <p:cNvGrpSpPr/>
          <p:nvPr/>
        </p:nvGrpSpPr>
        <p:grpSpPr>
          <a:xfrm>
            <a:off x="323653" y="1804438"/>
            <a:ext cx="457200" cy="457200"/>
            <a:chOff x="1020916" y="1442088"/>
            <a:chExt cx="457200" cy="457200"/>
          </a:xfrm>
        </p:grpSpPr>
        <p:pic>
          <p:nvPicPr>
            <p:cNvPr id="388" name="Google Shape;38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9" name="Google Shape;38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0" name="Google Shape;390;p32"/>
          <p:cNvGrpSpPr/>
          <p:nvPr/>
        </p:nvGrpSpPr>
        <p:grpSpPr>
          <a:xfrm>
            <a:off x="323653" y="2766575"/>
            <a:ext cx="457200" cy="457200"/>
            <a:chOff x="1020916" y="1442088"/>
            <a:chExt cx="457200" cy="457200"/>
          </a:xfrm>
        </p:grpSpPr>
        <p:pic>
          <p:nvPicPr>
            <p:cNvPr id="391" name="Google Shape;39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3" name="Google Shape;393;p32"/>
          <p:cNvGrpSpPr/>
          <p:nvPr/>
        </p:nvGrpSpPr>
        <p:grpSpPr>
          <a:xfrm>
            <a:off x="323641" y="3729038"/>
            <a:ext cx="457200" cy="457200"/>
            <a:chOff x="1020916" y="1442088"/>
            <a:chExt cx="457200" cy="457200"/>
          </a:xfrm>
        </p:grpSpPr>
        <p:pic>
          <p:nvPicPr>
            <p:cNvPr id="394" name="Google Shape;394;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6" name="Shape 396"/>
        <p:cNvGrpSpPr/>
        <p:nvPr/>
      </p:nvGrpSpPr>
      <p:grpSpPr>
        <a:xfrm>
          <a:off x="0" y="0"/>
          <a:ext cx="0" cy="0"/>
          <a:chOff x="0" y="0"/>
          <a:chExt cx="0" cy="0"/>
        </a:xfrm>
      </p:grpSpPr>
      <p:pic>
        <p:nvPicPr>
          <p:cNvPr id="397" name="Google Shape;397;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8" name="Google Shape;398;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1" name="Google Shape;401;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2" name="Google Shape;402;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3" name="Google Shape;403;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5" name="Google Shape;405;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6" name="Google Shape;406;p33"/>
          <p:cNvGrpSpPr/>
          <p:nvPr/>
        </p:nvGrpSpPr>
        <p:grpSpPr>
          <a:xfrm>
            <a:off x="323653" y="1804438"/>
            <a:ext cx="457200" cy="457200"/>
            <a:chOff x="1020916" y="1442088"/>
            <a:chExt cx="457200" cy="457200"/>
          </a:xfrm>
        </p:grpSpPr>
        <p:pic>
          <p:nvPicPr>
            <p:cNvPr id="407" name="Google Shape;407;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8" name="Google Shape;408;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9" name="Google Shape;409;p33"/>
          <p:cNvGrpSpPr/>
          <p:nvPr/>
        </p:nvGrpSpPr>
        <p:grpSpPr>
          <a:xfrm>
            <a:off x="323653" y="2766575"/>
            <a:ext cx="457200" cy="457200"/>
            <a:chOff x="1020916" y="1442088"/>
            <a:chExt cx="457200" cy="457200"/>
          </a:xfrm>
        </p:grpSpPr>
        <p:pic>
          <p:nvPicPr>
            <p:cNvPr id="410" name="Google Shape;410;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2" name="Google Shape;412;p33"/>
          <p:cNvGrpSpPr/>
          <p:nvPr/>
        </p:nvGrpSpPr>
        <p:grpSpPr>
          <a:xfrm>
            <a:off x="323641" y="3729038"/>
            <a:ext cx="457200" cy="457200"/>
            <a:chOff x="1020916" y="1442088"/>
            <a:chExt cx="457200" cy="457200"/>
          </a:xfrm>
        </p:grpSpPr>
        <p:pic>
          <p:nvPicPr>
            <p:cNvPr id="413" name="Google Shape;413;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5" name="Shape 415"/>
        <p:cNvGrpSpPr/>
        <p:nvPr/>
      </p:nvGrpSpPr>
      <p:grpSpPr>
        <a:xfrm>
          <a:off x="0" y="0"/>
          <a:ext cx="0" cy="0"/>
          <a:chOff x="0" y="0"/>
          <a:chExt cx="0" cy="0"/>
        </a:xfrm>
      </p:grpSpPr>
      <p:pic>
        <p:nvPicPr>
          <p:cNvPr id="416" name="Google Shape;416;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7" name="Google Shape;417;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9" name="Google Shape;419;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0" name="Google Shape;420;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1" name="Google Shape;421;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4" name="Google Shape;424;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5" name="Google Shape;425;p34"/>
          <p:cNvGrpSpPr/>
          <p:nvPr/>
        </p:nvGrpSpPr>
        <p:grpSpPr>
          <a:xfrm>
            <a:off x="323653" y="1804438"/>
            <a:ext cx="457200" cy="457200"/>
            <a:chOff x="1020916" y="1442088"/>
            <a:chExt cx="457200" cy="457200"/>
          </a:xfrm>
        </p:grpSpPr>
        <p:pic>
          <p:nvPicPr>
            <p:cNvPr id="426" name="Google Shape;426;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7" name="Google Shape;427;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8" name="Google Shape;428;p34"/>
          <p:cNvGrpSpPr/>
          <p:nvPr/>
        </p:nvGrpSpPr>
        <p:grpSpPr>
          <a:xfrm>
            <a:off x="323653" y="2766575"/>
            <a:ext cx="457200" cy="457200"/>
            <a:chOff x="1020916" y="1442088"/>
            <a:chExt cx="457200" cy="457200"/>
          </a:xfrm>
        </p:grpSpPr>
        <p:pic>
          <p:nvPicPr>
            <p:cNvPr id="429" name="Google Shape;429;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1" name="Google Shape;431;p34"/>
          <p:cNvGrpSpPr/>
          <p:nvPr/>
        </p:nvGrpSpPr>
        <p:grpSpPr>
          <a:xfrm>
            <a:off x="323641" y="3729038"/>
            <a:ext cx="457200" cy="457200"/>
            <a:chOff x="1020916" y="1442088"/>
            <a:chExt cx="457200" cy="457200"/>
          </a:xfrm>
        </p:grpSpPr>
        <p:pic>
          <p:nvPicPr>
            <p:cNvPr id="432" name="Google Shape;432;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4" name="Shape 434"/>
        <p:cNvGrpSpPr/>
        <p:nvPr/>
      </p:nvGrpSpPr>
      <p:grpSpPr>
        <a:xfrm>
          <a:off x="0" y="0"/>
          <a:ext cx="0" cy="0"/>
          <a:chOff x="0" y="0"/>
          <a:chExt cx="0" cy="0"/>
        </a:xfrm>
      </p:grpSpPr>
      <p:pic>
        <p:nvPicPr>
          <p:cNvPr id="435" name="Google Shape;435;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6" name="Google Shape;436;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8" name="Google Shape;438;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0" name="Google Shape;440;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1" name="Google Shape;441;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3" name="Google Shape;443;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4" name="Google Shape;444;p35"/>
          <p:cNvGrpSpPr/>
          <p:nvPr/>
        </p:nvGrpSpPr>
        <p:grpSpPr>
          <a:xfrm>
            <a:off x="323653" y="1804438"/>
            <a:ext cx="457200" cy="457200"/>
            <a:chOff x="1020916" y="1442088"/>
            <a:chExt cx="457200" cy="457200"/>
          </a:xfrm>
        </p:grpSpPr>
        <p:pic>
          <p:nvPicPr>
            <p:cNvPr id="445" name="Google Shape;445;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6" name="Google Shape;446;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7" name="Google Shape;447;p35"/>
          <p:cNvGrpSpPr/>
          <p:nvPr/>
        </p:nvGrpSpPr>
        <p:grpSpPr>
          <a:xfrm>
            <a:off x="323653" y="2766575"/>
            <a:ext cx="457200" cy="457200"/>
            <a:chOff x="1020916" y="1442088"/>
            <a:chExt cx="457200" cy="457200"/>
          </a:xfrm>
        </p:grpSpPr>
        <p:pic>
          <p:nvPicPr>
            <p:cNvPr id="448" name="Google Shape;448;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0" name="Google Shape;450;p35"/>
          <p:cNvGrpSpPr/>
          <p:nvPr/>
        </p:nvGrpSpPr>
        <p:grpSpPr>
          <a:xfrm>
            <a:off x="323641" y="3729038"/>
            <a:ext cx="457200" cy="457200"/>
            <a:chOff x="1020916" y="1442088"/>
            <a:chExt cx="457200" cy="457200"/>
          </a:xfrm>
        </p:grpSpPr>
        <p:pic>
          <p:nvPicPr>
            <p:cNvPr id="451" name="Google Shape;451;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3" name="Shape 453"/>
        <p:cNvGrpSpPr/>
        <p:nvPr/>
      </p:nvGrpSpPr>
      <p:grpSpPr>
        <a:xfrm>
          <a:off x="0" y="0"/>
          <a:ext cx="0" cy="0"/>
          <a:chOff x="0" y="0"/>
          <a:chExt cx="0" cy="0"/>
        </a:xfrm>
      </p:grpSpPr>
      <p:pic>
        <p:nvPicPr>
          <p:cNvPr id="454" name="Google Shape;454;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5" name="Google Shape;455;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7" name="Google Shape;457;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8" name="Google Shape;458;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9" name="Google Shape;459;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0" name="Google Shape;460;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3" name="Google Shape;463;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4" name="Google Shape;464;p36"/>
          <p:cNvGrpSpPr/>
          <p:nvPr/>
        </p:nvGrpSpPr>
        <p:grpSpPr>
          <a:xfrm>
            <a:off x="323653" y="1652038"/>
            <a:ext cx="457200" cy="457200"/>
            <a:chOff x="1020916" y="1442088"/>
            <a:chExt cx="457200" cy="457200"/>
          </a:xfrm>
        </p:grpSpPr>
        <p:pic>
          <p:nvPicPr>
            <p:cNvPr id="465" name="Google Shape;46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6" name="Google Shape;46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7" name="Google Shape;467;p36"/>
          <p:cNvGrpSpPr/>
          <p:nvPr/>
        </p:nvGrpSpPr>
        <p:grpSpPr>
          <a:xfrm>
            <a:off x="323653" y="2461775"/>
            <a:ext cx="457200" cy="457200"/>
            <a:chOff x="1020916" y="1442088"/>
            <a:chExt cx="457200" cy="457200"/>
          </a:xfrm>
        </p:grpSpPr>
        <p:pic>
          <p:nvPicPr>
            <p:cNvPr id="468" name="Google Shape;468;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0" name="Google Shape;470;p36"/>
          <p:cNvGrpSpPr/>
          <p:nvPr/>
        </p:nvGrpSpPr>
        <p:grpSpPr>
          <a:xfrm>
            <a:off x="323641" y="3271838"/>
            <a:ext cx="457200" cy="457200"/>
            <a:chOff x="1020916" y="1442088"/>
            <a:chExt cx="457200" cy="457200"/>
          </a:xfrm>
        </p:grpSpPr>
        <p:pic>
          <p:nvPicPr>
            <p:cNvPr id="471" name="Google Shape;471;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3" name="Google Shape;473;p36"/>
          <p:cNvGrpSpPr/>
          <p:nvPr/>
        </p:nvGrpSpPr>
        <p:grpSpPr>
          <a:xfrm>
            <a:off x="323641" y="4081763"/>
            <a:ext cx="457200" cy="457200"/>
            <a:chOff x="1020916" y="1442088"/>
            <a:chExt cx="457200" cy="457200"/>
          </a:xfrm>
        </p:grpSpPr>
        <p:pic>
          <p:nvPicPr>
            <p:cNvPr id="474" name="Google Shape;47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6" name="Shape 476"/>
        <p:cNvGrpSpPr/>
        <p:nvPr/>
      </p:nvGrpSpPr>
      <p:grpSpPr>
        <a:xfrm>
          <a:off x="0" y="0"/>
          <a:ext cx="0" cy="0"/>
          <a:chOff x="0" y="0"/>
          <a:chExt cx="0" cy="0"/>
        </a:xfrm>
      </p:grpSpPr>
      <p:pic>
        <p:nvPicPr>
          <p:cNvPr id="477" name="Google Shape;477;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8" name="Google Shape;478;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0" name="Google Shape;480;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1" name="Google Shape;481;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2" name="Google Shape;482;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3" name="Google Shape;483;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6" name="Google Shape;486;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7" name="Google Shape;487;p37"/>
          <p:cNvGrpSpPr/>
          <p:nvPr/>
        </p:nvGrpSpPr>
        <p:grpSpPr>
          <a:xfrm>
            <a:off x="323653" y="1652038"/>
            <a:ext cx="457200" cy="457200"/>
            <a:chOff x="1020916" y="1442088"/>
            <a:chExt cx="457200" cy="457200"/>
          </a:xfrm>
        </p:grpSpPr>
        <p:pic>
          <p:nvPicPr>
            <p:cNvPr id="488" name="Google Shape;48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9" name="Google Shape;48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0" name="Google Shape;490;p37"/>
          <p:cNvGrpSpPr/>
          <p:nvPr/>
        </p:nvGrpSpPr>
        <p:grpSpPr>
          <a:xfrm>
            <a:off x="323653" y="2461775"/>
            <a:ext cx="457200" cy="457200"/>
            <a:chOff x="1020916" y="1442088"/>
            <a:chExt cx="457200" cy="457200"/>
          </a:xfrm>
        </p:grpSpPr>
        <p:pic>
          <p:nvPicPr>
            <p:cNvPr id="491" name="Google Shape;49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3" name="Google Shape;493;p37"/>
          <p:cNvGrpSpPr/>
          <p:nvPr/>
        </p:nvGrpSpPr>
        <p:grpSpPr>
          <a:xfrm>
            <a:off x="323641" y="3271838"/>
            <a:ext cx="457200" cy="457200"/>
            <a:chOff x="1020916" y="1442088"/>
            <a:chExt cx="457200" cy="457200"/>
          </a:xfrm>
        </p:grpSpPr>
        <p:pic>
          <p:nvPicPr>
            <p:cNvPr id="494" name="Google Shape;49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6" name="Google Shape;496;p37"/>
          <p:cNvGrpSpPr/>
          <p:nvPr/>
        </p:nvGrpSpPr>
        <p:grpSpPr>
          <a:xfrm>
            <a:off x="323641" y="4081763"/>
            <a:ext cx="457200" cy="457200"/>
            <a:chOff x="1020916" y="1442088"/>
            <a:chExt cx="457200" cy="457200"/>
          </a:xfrm>
        </p:grpSpPr>
        <p:pic>
          <p:nvPicPr>
            <p:cNvPr id="497" name="Google Shape;49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9" name="Shape 499"/>
        <p:cNvGrpSpPr/>
        <p:nvPr/>
      </p:nvGrpSpPr>
      <p:grpSpPr>
        <a:xfrm>
          <a:off x="0" y="0"/>
          <a:ext cx="0" cy="0"/>
          <a:chOff x="0" y="0"/>
          <a:chExt cx="0" cy="0"/>
        </a:xfrm>
      </p:grpSpPr>
      <p:pic>
        <p:nvPicPr>
          <p:cNvPr id="500" name="Google Shape;500;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1" name="Google Shape;501;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3" name="Google Shape;503;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4" name="Google Shape;504;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5" name="Google Shape;505;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6" name="Google Shape;506;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9" name="Google Shape;509;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0" name="Google Shape;510;p38"/>
          <p:cNvGrpSpPr/>
          <p:nvPr/>
        </p:nvGrpSpPr>
        <p:grpSpPr>
          <a:xfrm>
            <a:off x="323653" y="1652038"/>
            <a:ext cx="457200" cy="457200"/>
            <a:chOff x="1020916" y="1442088"/>
            <a:chExt cx="457200" cy="457200"/>
          </a:xfrm>
        </p:grpSpPr>
        <p:pic>
          <p:nvPicPr>
            <p:cNvPr id="511" name="Google Shape;51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2" name="Google Shape;51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3" name="Google Shape;513;p38"/>
          <p:cNvGrpSpPr/>
          <p:nvPr/>
        </p:nvGrpSpPr>
        <p:grpSpPr>
          <a:xfrm>
            <a:off x="323653" y="2461775"/>
            <a:ext cx="457200" cy="457200"/>
            <a:chOff x="1020916" y="1442088"/>
            <a:chExt cx="457200" cy="457200"/>
          </a:xfrm>
        </p:grpSpPr>
        <p:pic>
          <p:nvPicPr>
            <p:cNvPr id="514" name="Google Shape;51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6" name="Google Shape;516;p38"/>
          <p:cNvGrpSpPr/>
          <p:nvPr/>
        </p:nvGrpSpPr>
        <p:grpSpPr>
          <a:xfrm>
            <a:off x="323641" y="3271838"/>
            <a:ext cx="457200" cy="457200"/>
            <a:chOff x="1020916" y="1442088"/>
            <a:chExt cx="457200" cy="457200"/>
          </a:xfrm>
        </p:grpSpPr>
        <p:pic>
          <p:nvPicPr>
            <p:cNvPr id="517" name="Google Shape;51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9" name="Google Shape;519;p38"/>
          <p:cNvGrpSpPr/>
          <p:nvPr/>
        </p:nvGrpSpPr>
        <p:grpSpPr>
          <a:xfrm>
            <a:off x="323641" y="4081763"/>
            <a:ext cx="457200" cy="457200"/>
            <a:chOff x="1020916" y="1442088"/>
            <a:chExt cx="457200" cy="457200"/>
          </a:xfrm>
        </p:grpSpPr>
        <p:pic>
          <p:nvPicPr>
            <p:cNvPr id="520" name="Google Shape;52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2" name="Shape 522"/>
        <p:cNvGrpSpPr/>
        <p:nvPr/>
      </p:nvGrpSpPr>
      <p:grpSpPr>
        <a:xfrm>
          <a:off x="0" y="0"/>
          <a:ext cx="0" cy="0"/>
          <a:chOff x="0" y="0"/>
          <a:chExt cx="0" cy="0"/>
        </a:xfrm>
      </p:grpSpPr>
      <p:pic>
        <p:nvPicPr>
          <p:cNvPr id="523" name="Google Shape;523;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2" name="Google Shape;532;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3" name="Google Shape;533;p39"/>
          <p:cNvGrpSpPr/>
          <p:nvPr/>
        </p:nvGrpSpPr>
        <p:grpSpPr>
          <a:xfrm>
            <a:off x="323653" y="1652038"/>
            <a:ext cx="457200" cy="457200"/>
            <a:chOff x="1020916" y="1442088"/>
            <a:chExt cx="457200" cy="457200"/>
          </a:xfrm>
        </p:grpSpPr>
        <p:pic>
          <p:nvPicPr>
            <p:cNvPr id="534" name="Google Shape;53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5" name="Google Shape;53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6" name="Google Shape;536;p39"/>
          <p:cNvGrpSpPr/>
          <p:nvPr/>
        </p:nvGrpSpPr>
        <p:grpSpPr>
          <a:xfrm>
            <a:off x="323653" y="2461775"/>
            <a:ext cx="457200" cy="457200"/>
            <a:chOff x="1020916" y="1442088"/>
            <a:chExt cx="457200" cy="457200"/>
          </a:xfrm>
        </p:grpSpPr>
        <p:pic>
          <p:nvPicPr>
            <p:cNvPr id="537" name="Google Shape;53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9" name="Google Shape;539;p39"/>
          <p:cNvGrpSpPr/>
          <p:nvPr/>
        </p:nvGrpSpPr>
        <p:grpSpPr>
          <a:xfrm>
            <a:off x="323641" y="3271838"/>
            <a:ext cx="457200" cy="457200"/>
            <a:chOff x="1020916" y="1442088"/>
            <a:chExt cx="457200" cy="457200"/>
          </a:xfrm>
        </p:grpSpPr>
        <p:pic>
          <p:nvPicPr>
            <p:cNvPr id="540" name="Google Shape;54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2" name="Google Shape;542;p39"/>
          <p:cNvGrpSpPr/>
          <p:nvPr/>
        </p:nvGrpSpPr>
        <p:grpSpPr>
          <a:xfrm>
            <a:off x="323641" y="4081763"/>
            <a:ext cx="457200" cy="457200"/>
            <a:chOff x="1020916" y="1442088"/>
            <a:chExt cx="457200" cy="457200"/>
          </a:xfrm>
        </p:grpSpPr>
        <p:pic>
          <p:nvPicPr>
            <p:cNvPr id="543" name="Google Shape;54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5" name="Shape 545"/>
        <p:cNvGrpSpPr/>
        <p:nvPr/>
      </p:nvGrpSpPr>
      <p:grpSpPr>
        <a:xfrm>
          <a:off x="0" y="0"/>
          <a:ext cx="0" cy="0"/>
          <a:chOff x="0" y="0"/>
          <a:chExt cx="0" cy="0"/>
        </a:xfrm>
      </p:grpSpPr>
      <p:pic>
        <p:nvPicPr>
          <p:cNvPr id="546" name="Google Shape;546;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7" name="Google Shape;547;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9" name="Google Shape;549;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0" name="Google Shape;550;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1" name="Google Shape;551;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2" name="Google Shape;552;p40"/>
          <p:cNvSpPr/>
          <p:nvPr>
            <p:ph idx="3" type="pic"/>
          </p:nvPr>
        </p:nvSpPr>
        <p:spPr>
          <a:xfrm>
            <a:off x="324000" y="1893950"/>
            <a:ext cx="2555400" cy="1939500"/>
          </a:xfrm>
          <a:prstGeom prst="rect">
            <a:avLst/>
          </a:prstGeom>
          <a:noFill/>
          <a:ln>
            <a:noFill/>
          </a:ln>
        </p:spPr>
      </p:sp>
      <p:sp>
        <p:nvSpPr>
          <p:cNvPr id="553" name="Google Shape;553;p40"/>
          <p:cNvSpPr/>
          <p:nvPr>
            <p:ph idx="4" type="pic"/>
          </p:nvPr>
        </p:nvSpPr>
        <p:spPr>
          <a:xfrm>
            <a:off x="6256800" y="1893950"/>
            <a:ext cx="2555400" cy="1939500"/>
          </a:xfrm>
          <a:prstGeom prst="rect">
            <a:avLst/>
          </a:prstGeom>
          <a:noFill/>
          <a:ln>
            <a:noFill/>
          </a:ln>
        </p:spPr>
      </p:sp>
      <p:sp>
        <p:nvSpPr>
          <p:cNvPr id="554" name="Google Shape;554;p40"/>
          <p:cNvSpPr/>
          <p:nvPr>
            <p:ph idx="5" type="pic"/>
          </p:nvPr>
        </p:nvSpPr>
        <p:spPr>
          <a:xfrm>
            <a:off x="3294300" y="1893950"/>
            <a:ext cx="2555400" cy="1939500"/>
          </a:xfrm>
          <a:prstGeom prst="rect">
            <a:avLst/>
          </a:prstGeom>
          <a:noFill/>
          <a:ln>
            <a:noFill/>
          </a:ln>
        </p:spPr>
      </p:sp>
      <p:grpSp>
        <p:nvGrpSpPr>
          <p:cNvPr id="555" name="Google Shape;555;p40"/>
          <p:cNvGrpSpPr/>
          <p:nvPr/>
        </p:nvGrpSpPr>
        <p:grpSpPr>
          <a:xfrm>
            <a:off x="1381028" y="4148538"/>
            <a:ext cx="457200" cy="457200"/>
            <a:chOff x="1020916" y="1442088"/>
            <a:chExt cx="457200" cy="457200"/>
          </a:xfrm>
        </p:grpSpPr>
        <p:pic>
          <p:nvPicPr>
            <p:cNvPr id="556" name="Google Shape;556;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8" name="Google Shape;558;p40"/>
          <p:cNvGrpSpPr/>
          <p:nvPr/>
        </p:nvGrpSpPr>
        <p:grpSpPr>
          <a:xfrm>
            <a:off x="4331066" y="4148550"/>
            <a:ext cx="457200" cy="457200"/>
            <a:chOff x="1020916" y="1442088"/>
            <a:chExt cx="457200" cy="457200"/>
          </a:xfrm>
        </p:grpSpPr>
        <p:pic>
          <p:nvPicPr>
            <p:cNvPr id="559" name="Google Shape;559;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1" name="Google Shape;561;p40"/>
          <p:cNvGrpSpPr/>
          <p:nvPr/>
        </p:nvGrpSpPr>
        <p:grpSpPr>
          <a:xfrm>
            <a:off x="7305791" y="4148538"/>
            <a:ext cx="457200" cy="457200"/>
            <a:chOff x="1020916" y="1442088"/>
            <a:chExt cx="457200" cy="457200"/>
          </a:xfrm>
        </p:grpSpPr>
        <p:pic>
          <p:nvPicPr>
            <p:cNvPr id="562" name="Google Shape;562;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4" name="Shape 564"/>
        <p:cNvGrpSpPr/>
        <p:nvPr/>
      </p:nvGrpSpPr>
      <p:grpSpPr>
        <a:xfrm>
          <a:off x="0" y="0"/>
          <a:ext cx="0" cy="0"/>
          <a:chOff x="0" y="0"/>
          <a:chExt cx="0" cy="0"/>
        </a:xfrm>
      </p:grpSpPr>
      <p:pic>
        <p:nvPicPr>
          <p:cNvPr id="565" name="Google Shape;565;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1"/>
          <p:cNvSpPr/>
          <p:nvPr>
            <p:ph idx="3" type="pic"/>
          </p:nvPr>
        </p:nvSpPr>
        <p:spPr>
          <a:xfrm>
            <a:off x="324000" y="1893950"/>
            <a:ext cx="2555400" cy="1939500"/>
          </a:xfrm>
          <a:prstGeom prst="rect">
            <a:avLst/>
          </a:prstGeom>
          <a:noFill/>
          <a:ln>
            <a:noFill/>
          </a:ln>
        </p:spPr>
      </p:sp>
      <p:sp>
        <p:nvSpPr>
          <p:cNvPr id="572" name="Google Shape;572;p41"/>
          <p:cNvSpPr/>
          <p:nvPr>
            <p:ph idx="4" type="pic"/>
          </p:nvPr>
        </p:nvSpPr>
        <p:spPr>
          <a:xfrm>
            <a:off x="6256800" y="1893950"/>
            <a:ext cx="2555400" cy="1939500"/>
          </a:xfrm>
          <a:prstGeom prst="rect">
            <a:avLst/>
          </a:prstGeom>
          <a:noFill/>
          <a:ln>
            <a:noFill/>
          </a:ln>
        </p:spPr>
      </p:sp>
      <p:sp>
        <p:nvSpPr>
          <p:cNvPr id="573" name="Google Shape;573;p41"/>
          <p:cNvSpPr/>
          <p:nvPr>
            <p:ph idx="5" type="pic"/>
          </p:nvPr>
        </p:nvSpPr>
        <p:spPr>
          <a:xfrm>
            <a:off x="3294300" y="1893950"/>
            <a:ext cx="2555400" cy="1939500"/>
          </a:xfrm>
          <a:prstGeom prst="rect">
            <a:avLst/>
          </a:prstGeom>
          <a:noFill/>
          <a:ln>
            <a:noFill/>
          </a:ln>
        </p:spPr>
      </p:sp>
      <p:grpSp>
        <p:nvGrpSpPr>
          <p:cNvPr id="574" name="Google Shape;574;p41"/>
          <p:cNvGrpSpPr/>
          <p:nvPr/>
        </p:nvGrpSpPr>
        <p:grpSpPr>
          <a:xfrm>
            <a:off x="1381028" y="4148538"/>
            <a:ext cx="457200" cy="457200"/>
            <a:chOff x="1020916" y="1442088"/>
            <a:chExt cx="457200" cy="457200"/>
          </a:xfrm>
        </p:grpSpPr>
        <p:pic>
          <p:nvPicPr>
            <p:cNvPr id="575" name="Google Shape;575;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6" name="Google Shape;576;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7" name="Google Shape;577;p41"/>
          <p:cNvGrpSpPr/>
          <p:nvPr/>
        </p:nvGrpSpPr>
        <p:grpSpPr>
          <a:xfrm>
            <a:off x="4331066" y="4148550"/>
            <a:ext cx="457200" cy="457200"/>
            <a:chOff x="1020916" y="1442088"/>
            <a:chExt cx="457200" cy="457200"/>
          </a:xfrm>
        </p:grpSpPr>
        <p:pic>
          <p:nvPicPr>
            <p:cNvPr id="578" name="Google Shape;578;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0" name="Google Shape;580;p41"/>
          <p:cNvGrpSpPr/>
          <p:nvPr/>
        </p:nvGrpSpPr>
        <p:grpSpPr>
          <a:xfrm>
            <a:off x="7305791" y="4148538"/>
            <a:ext cx="457200" cy="457200"/>
            <a:chOff x="1020916" y="1442088"/>
            <a:chExt cx="457200" cy="457200"/>
          </a:xfrm>
        </p:grpSpPr>
        <p:pic>
          <p:nvPicPr>
            <p:cNvPr id="581" name="Google Shape;581;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3" name="Shape 583"/>
        <p:cNvGrpSpPr/>
        <p:nvPr/>
      </p:nvGrpSpPr>
      <p:grpSpPr>
        <a:xfrm>
          <a:off x="0" y="0"/>
          <a:ext cx="0" cy="0"/>
          <a:chOff x="0" y="0"/>
          <a:chExt cx="0" cy="0"/>
        </a:xfrm>
      </p:grpSpPr>
      <p:pic>
        <p:nvPicPr>
          <p:cNvPr id="584" name="Google Shape;584;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5" name="Google Shape;585;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7" name="Google Shape;587;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8" name="Google Shape;588;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9" name="Google Shape;589;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0" name="Google Shape;590;p42"/>
          <p:cNvSpPr/>
          <p:nvPr>
            <p:ph idx="3" type="pic"/>
          </p:nvPr>
        </p:nvSpPr>
        <p:spPr>
          <a:xfrm>
            <a:off x="324000" y="1893950"/>
            <a:ext cx="2555400" cy="1939500"/>
          </a:xfrm>
          <a:prstGeom prst="rect">
            <a:avLst/>
          </a:prstGeom>
          <a:noFill/>
          <a:ln>
            <a:noFill/>
          </a:ln>
        </p:spPr>
      </p:sp>
      <p:sp>
        <p:nvSpPr>
          <p:cNvPr id="591" name="Google Shape;591;p42"/>
          <p:cNvSpPr/>
          <p:nvPr>
            <p:ph idx="4" type="pic"/>
          </p:nvPr>
        </p:nvSpPr>
        <p:spPr>
          <a:xfrm>
            <a:off x="6256800" y="1893950"/>
            <a:ext cx="2555400" cy="1939500"/>
          </a:xfrm>
          <a:prstGeom prst="rect">
            <a:avLst/>
          </a:prstGeom>
          <a:noFill/>
          <a:ln>
            <a:noFill/>
          </a:ln>
        </p:spPr>
      </p:sp>
      <p:sp>
        <p:nvSpPr>
          <p:cNvPr id="592" name="Google Shape;592;p42"/>
          <p:cNvSpPr/>
          <p:nvPr>
            <p:ph idx="5" type="pic"/>
          </p:nvPr>
        </p:nvSpPr>
        <p:spPr>
          <a:xfrm>
            <a:off x="3294300" y="1893950"/>
            <a:ext cx="2555400" cy="1939500"/>
          </a:xfrm>
          <a:prstGeom prst="rect">
            <a:avLst/>
          </a:prstGeom>
          <a:noFill/>
          <a:ln>
            <a:noFill/>
          </a:ln>
        </p:spPr>
      </p:sp>
      <p:grpSp>
        <p:nvGrpSpPr>
          <p:cNvPr id="593" name="Google Shape;593;p42"/>
          <p:cNvGrpSpPr/>
          <p:nvPr/>
        </p:nvGrpSpPr>
        <p:grpSpPr>
          <a:xfrm>
            <a:off x="1381028" y="4148538"/>
            <a:ext cx="457200" cy="457200"/>
            <a:chOff x="1020916" y="1442088"/>
            <a:chExt cx="457200" cy="457200"/>
          </a:xfrm>
        </p:grpSpPr>
        <p:pic>
          <p:nvPicPr>
            <p:cNvPr id="594" name="Google Shape;594;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5" name="Google Shape;595;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6" name="Google Shape;596;p42"/>
          <p:cNvGrpSpPr/>
          <p:nvPr/>
        </p:nvGrpSpPr>
        <p:grpSpPr>
          <a:xfrm>
            <a:off x="4331066" y="4148550"/>
            <a:ext cx="457200" cy="457200"/>
            <a:chOff x="1020916" y="1442088"/>
            <a:chExt cx="457200" cy="457200"/>
          </a:xfrm>
        </p:grpSpPr>
        <p:pic>
          <p:nvPicPr>
            <p:cNvPr id="597" name="Google Shape;597;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9" name="Google Shape;599;p42"/>
          <p:cNvGrpSpPr/>
          <p:nvPr/>
        </p:nvGrpSpPr>
        <p:grpSpPr>
          <a:xfrm>
            <a:off x="7305791" y="4148538"/>
            <a:ext cx="457200" cy="457200"/>
            <a:chOff x="1020916" y="1442088"/>
            <a:chExt cx="457200" cy="457200"/>
          </a:xfrm>
        </p:grpSpPr>
        <p:pic>
          <p:nvPicPr>
            <p:cNvPr id="600" name="Google Shape;600;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2" name="Shape 602"/>
        <p:cNvGrpSpPr/>
        <p:nvPr/>
      </p:nvGrpSpPr>
      <p:grpSpPr>
        <a:xfrm>
          <a:off x="0" y="0"/>
          <a:ext cx="0" cy="0"/>
          <a:chOff x="0" y="0"/>
          <a:chExt cx="0" cy="0"/>
        </a:xfrm>
      </p:grpSpPr>
      <p:pic>
        <p:nvPicPr>
          <p:cNvPr id="603" name="Google Shape;603;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4" name="Google Shape;604;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6" name="Google Shape;606;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7" name="Google Shape;607;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8" name="Google Shape;608;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9" name="Google Shape;609;p43"/>
          <p:cNvSpPr/>
          <p:nvPr>
            <p:ph idx="3" type="pic"/>
          </p:nvPr>
        </p:nvSpPr>
        <p:spPr>
          <a:xfrm>
            <a:off x="324000" y="1893950"/>
            <a:ext cx="2555400" cy="1939500"/>
          </a:xfrm>
          <a:prstGeom prst="rect">
            <a:avLst/>
          </a:prstGeom>
          <a:noFill/>
          <a:ln>
            <a:noFill/>
          </a:ln>
        </p:spPr>
      </p:sp>
      <p:sp>
        <p:nvSpPr>
          <p:cNvPr id="610" name="Google Shape;610;p43"/>
          <p:cNvSpPr/>
          <p:nvPr>
            <p:ph idx="4" type="pic"/>
          </p:nvPr>
        </p:nvSpPr>
        <p:spPr>
          <a:xfrm>
            <a:off x="6256800" y="1893950"/>
            <a:ext cx="2555400" cy="1939500"/>
          </a:xfrm>
          <a:prstGeom prst="rect">
            <a:avLst/>
          </a:prstGeom>
          <a:noFill/>
          <a:ln>
            <a:noFill/>
          </a:ln>
        </p:spPr>
      </p:sp>
      <p:sp>
        <p:nvSpPr>
          <p:cNvPr id="611" name="Google Shape;611;p43"/>
          <p:cNvSpPr/>
          <p:nvPr>
            <p:ph idx="5" type="pic"/>
          </p:nvPr>
        </p:nvSpPr>
        <p:spPr>
          <a:xfrm>
            <a:off x="3294300" y="1893950"/>
            <a:ext cx="2555400" cy="1939500"/>
          </a:xfrm>
          <a:prstGeom prst="rect">
            <a:avLst/>
          </a:prstGeom>
          <a:noFill/>
          <a:ln>
            <a:noFill/>
          </a:ln>
        </p:spPr>
      </p:sp>
      <p:grpSp>
        <p:nvGrpSpPr>
          <p:cNvPr id="612" name="Google Shape;612;p43"/>
          <p:cNvGrpSpPr/>
          <p:nvPr/>
        </p:nvGrpSpPr>
        <p:grpSpPr>
          <a:xfrm>
            <a:off x="1381028" y="4148538"/>
            <a:ext cx="457200" cy="457200"/>
            <a:chOff x="1020916" y="1442088"/>
            <a:chExt cx="457200" cy="457200"/>
          </a:xfrm>
        </p:grpSpPr>
        <p:pic>
          <p:nvPicPr>
            <p:cNvPr id="613" name="Google Shape;613;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4" name="Google Shape;614;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5" name="Google Shape;615;p43"/>
          <p:cNvGrpSpPr/>
          <p:nvPr/>
        </p:nvGrpSpPr>
        <p:grpSpPr>
          <a:xfrm>
            <a:off x="4331066" y="4148550"/>
            <a:ext cx="457200" cy="457200"/>
            <a:chOff x="1020916" y="1442088"/>
            <a:chExt cx="457200" cy="457200"/>
          </a:xfrm>
        </p:grpSpPr>
        <p:pic>
          <p:nvPicPr>
            <p:cNvPr id="616" name="Google Shape;61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8" name="Google Shape;618;p43"/>
          <p:cNvGrpSpPr/>
          <p:nvPr/>
        </p:nvGrpSpPr>
        <p:grpSpPr>
          <a:xfrm>
            <a:off x="7305791" y="4148538"/>
            <a:ext cx="457200" cy="457200"/>
            <a:chOff x="1020916" y="1442088"/>
            <a:chExt cx="457200" cy="457200"/>
          </a:xfrm>
        </p:grpSpPr>
        <p:pic>
          <p:nvPicPr>
            <p:cNvPr id="619" name="Google Shape;61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1" name="Shape 621"/>
        <p:cNvGrpSpPr/>
        <p:nvPr/>
      </p:nvGrpSpPr>
      <p:grpSpPr>
        <a:xfrm>
          <a:off x="0" y="0"/>
          <a:ext cx="0" cy="0"/>
          <a:chOff x="0" y="0"/>
          <a:chExt cx="0" cy="0"/>
        </a:xfrm>
      </p:grpSpPr>
      <p:pic>
        <p:nvPicPr>
          <p:cNvPr id="622" name="Google Shape;622;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3" name="Google Shape;623;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5" name="Google Shape;625;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6" name="Google Shape;626;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7" name="Google Shape;627;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8" name="Shape 628"/>
        <p:cNvGrpSpPr/>
        <p:nvPr/>
      </p:nvGrpSpPr>
      <p:grpSpPr>
        <a:xfrm>
          <a:off x="0" y="0"/>
          <a:ext cx="0" cy="0"/>
          <a:chOff x="0" y="0"/>
          <a:chExt cx="0" cy="0"/>
        </a:xfrm>
      </p:grpSpPr>
      <p:pic>
        <p:nvPicPr>
          <p:cNvPr id="629" name="Google Shape;629;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0" name="Google Shape;630;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2" name="Google Shape;632;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3" name="Google Shape;633;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4" name="Google Shape;634;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5" name="Shape 635"/>
        <p:cNvGrpSpPr/>
        <p:nvPr/>
      </p:nvGrpSpPr>
      <p:grpSpPr>
        <a:xfrm>
          <a:off x="0" y="0"/>
          <a:ext cx="0" cy="0"/>
          <a:chOff x="0" y="0"/>
          <a:chExt cx="0" cy="0"/>
        </a:xfrm>
      </p:grpSpPr>
      <p:pic>
        <p:nvPicPr>
          <p:cNvPr id="636" name="Google Shape;636;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7" name="Google Shape;637;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9" name="Google Shape;639;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0" name="Google Shape;640;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1" name="Google Shape;641;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2" name="Shape 642"/>
        <p:cNvGrpSpPr/>
        <p:nvPr/>
      </p:nvGrpSpPr>
      <p:grpSpPr>
        <a:xfrm>
          <a:off x="0" y="0"/>
          <a:ext cx="0" cy="0"/>
          <a:chOff x="0" y="0"/>
          <a:chExt cx="0" cy="0"/>
        </a:xfrm>
      </p:grpSpPr>
      <p:pic>
        <p:nvPicPr>
          <p:cNvPr id="643" name="Google Shape;643;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4" name="Google Shape;644;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6" name="Google Shape;646;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7" name="Google Shape;647;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8" name="Google Shape;648;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9" name="Shape 649"/>
        <p:cNvGrpSpPr/>
        <p:nvPr/>
      </p:nvGrpSpPr>
      <p:grpSpPr>
        <a:xfrm>
          <a:off x="0" y="0"/>
          <a:ext cx="0" cy="0"/>
          <a:chOff x="0" y="0"/>
          <a:chExt cx="0" cy="0"/>
        </a:xfrm>
      </p:grpSpPr>
      <p:pic>
        <p:nvPicPr>
          <p:cNvPr id="650" name="Google Shape;650;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1" name="Google Shape;651;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3" name="Google Shape;653;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4" name="Google Shape;654;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5" name="Google Shape;655;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6" name="Google Shape;656;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7" name="Shape 657"/>
        <p:cNvGrpSpPr/>
        <p:nvPr/>
      </p:nvGrpSpPr>
      <p:grpSpPr>
        <a:xfrm>
          <a:off x="0" y="0"/>
          <a:ext cx="0" cy="0"/>
          <a:chOff x="0" y="0"/>
          <a:chExt cx="0" cy="0"/>
        </a:xfrm>
      </p:grpSpPr>
      <p:pic>
        <p:nvPicPr>
          <p:cNvPr id="658" name="Google Shape;65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9" name="Google Shape;659;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1" name="Google Shape;661;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2" name="Google Shape;662;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3" name="Google Shape;663;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4" name="Google Shape;664;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5" name="Shape 665"/>
        <p:cNvGrpSpPr/>
        <p:nvPr/>
      </p:nvGrpSpPr>
      <p:grpSpPr>
        <a:xfrm>
          <a:off x="0" y="0"/>
          <a:ext cx="0" cy="0"/>
          <a:chOff x="0" y="0"/>
          <a:chExt cx="0" cy="0"/>
        </a:xfrm>
      </p:grpSpPr>
      <p:pic>
        <p:nvPicPr>
          <p:cNvPr id="666" name="Google Shape;666;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7" name="Google Shape;667;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9" name="Google Shape;66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70" name="Google Shape;670;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1" name="Google Shape;671;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2" name="Google Shape;672;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3" name="Shape 673"/>
        <p:cNvGrpSpPr/>
        <p:nvPr/>
      </p:nvGrpSpPr>
      <p:grpSpPr>
        <a:xfrm>
          <a:off x="0" y="0"/>
          <a:ext cx="0" cy="0"/>
          <a:chOff x="0" y="0"/>
          <a:chExt cx="0" cy="0"/>
        </a:xfrm>
      </p:grpSpPr>
      <p:pic>
        <p:nvPicPr>
          <p:cNvPr id="674" name="Google Shape;674;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5" name="Google Shape;675;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7" name="Google Shape;677;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8" name="Google Shape;678;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9" name="Google Shape;679;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0" name="Google Shape;680;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1" name="Shape 681"/>
        <p:cNvGrpSpPr/>
        <p:nvPr/>
      </p:nvGrpSpPr>
      <p:grpSpPr>
        <a:xfrm>
          <a:off x="0" y="0"/>
          <a:ext cx="0" cy="0"/>
          <a:chOff x="0" y="0"/>
          <a:chExt cx="0" cy="0"/>
        </a:xfrm>
      </p:grpSpPr>
      <p:pic>
        <p:nvPicPr>
          <p:cNvPr id="682" name="Google Shape;682;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3" name="Google Shape;683;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5" name="Google Shape;685;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6" name="Google Shape;686;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7" name="Google Shape;687;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8" name="Google Shape;688;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9" name="Shape 689"/>
        <p:cNvGrpSpPr/>
        <p:nvPr/>
      </p:nvGrpSpPr>
      <p:grpSpPr>
        <a:xfrm>
          <a:off x="0" y="0"/>
          <a:ext cx="0" cy="0"/>
          <a:chOff x="0" y="0"/>
          <a:chExt cx="0" cy="0"/>
        </a:xfrm>
      </p:grpSpPr>
      <p:pic>
        <p:nvPicPr>
          <p:cNvPr id="690" name="Google Shape;690;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1" name="Google Shape;691;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3" name="Google Shape;693;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4" name="Google Shape;694;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6" name="Google Shape;696;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7" name="Shape 697"/>
        <p:cNvGrpSpPr/>
        <p:nvPr/>
      </p:nvGrpSpPr>
      <p:grpSpPr>
        <a:xfrm>
          <a:off x="0" y="0"/>
          <a:ext cx="0" cy="0"/>
          <a:chOff x="0" y="0"/>
          <a:chExt cx="0" cy="0"/>
        </a:xfrm>
      </p:grpSpPr>
      <p:pic>
        <p:nvPicPr>
          <p:cNvPr id="698" name="Google Shape;698;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9" name="Google Shape;699;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1" name="Google Shape;70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2" name="Google Shape;702;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3" name="Google Shape;703;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4" name="Google Shape;704;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5" name="Shape 705"/>
        <p:cNvGrpSpPr/>
        <p:nvPr/>
      </p:nvGrpSpPr>
      <p:grpSpPr>
        <a:xfrm>
          <a:off x="0" y="0"/>
          <a:ext cx="0" cy="0"/>
          <a:chOff x="0" y="0"/>
          <a:chExt cx="0" cy="0"/>
        </a:xfrm>
      </p:grpSpPr>
      <p:pic>
        <p:nvPicPr>
          <p:cNvPr id="706" name="Google Shape;706;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7" name="Google Shape;707;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9" name="Google Shape;709;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0" name="Google Shape;710;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1" name="Google Shape;711;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2" name="Google Shape;712;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3" name="Shape 713"/>
        <p:cNvGrpSpPr/>
        <p:nvPr/>
      </p:nvGrpSpPr>
      <p:grpSpPr>
        <a:xfrm>
          <a:off x="0" y="0"/>
          <a:ext cx="0" cy="0"/>
          <a:chOff x="0" y="0"/>
          <a:chExt cx="0" cy="0"/>
        </a:xfrm>
      </p:grpSpPr>
      <p:sp>
        <p:nvSpPr>
          <p:cNvPr id="714" name="Google Shape;714;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5" name="Google Shape;715;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6" name="Google Shape;716;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7" name="Google Shape;717;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8" name="Google Shape;718;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9" name="Shape 719"/>
        <p:cNvGrpSpPr/>
        <p:nvPr/>
      </p:nvGrpSpPr>
      <p:grpSpPr>
        <a:xfrm>
          <a:off x="0" y="0"/>
          <a:ext cx="0" cy="0"/>
          <a:chOff x="0" y="0"/>
          <a:chExt cx="0" cy="0"/>
        </a:xfrm>
      </p:grpSpPr>
      <p:sp>
        <p:nvSpPr>
          <p:cNvPr id="720" name="Google Shape;720;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1" name="Google Shape;721;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2" name="Google Shape;722;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3" name="Google Shape;723;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4" name="Google Shape;724;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5" name="Shape 725"/>
        <p:cNvGrpSpPr/>
        <p:nvPr/>
      </p:nvGrpSpPr>
      <p:grpSpPr>
        <a:xfrm>
          <a:off x="0" y="0"/>
          <a:ext cx="0" cy="0"/>
          <a:chOff x="0" y="0"/>
          <a:chExt cx="0" cy="0"/>
        </a:xfrm>
      </p:grpSpPr>
      <p:pic>
        <p:nvPicPr>
          <p:cNvPr id="726" name="Google Shape;726;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7" name="Google Shape;727;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8" name="Shape 728"/>
        <p:cNvGrpSpPr/>
        <p:nvPr/>
      </p:nvGrpSpPr>
      <p:grpSpPr>
        <a:xfrm>
          <a:off x="0" y="0"/>
          <a:ext cx="0" cy="0"/>
          <a:chOff x="0" y="0"/>
          <a:chExt cx="0" cy="0"/>
        </a:xfrm>
      </p:grpSpPr>
      <p:sp>
        <p:nvSpPr>
          <p:cNvPr id="729" name="Google Shape;729;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0" name="Google Shape;730;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1" name="Google Shape;731;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2" name="Google Shape;732;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3" name="Google Shape;733;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7" name="Google Shape;737;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8" name="Shape 738"/>
        <p:cNvGrpSpPr/>
        <p:nvPr/>
      </p:nvGrpSpPr>
      <p:grpSpPr>
        <a:xfrm>
          <a:off x="0" y="0"/>
          <a:ext cx="0" cy="0"/>
          <a:chOff x="0" y="0"/>
          <a:chExt cx="0" cy="0"/>
        </a:xfrm>
      </p:grpSpPr>
      <p:pic>
        <p:nvPicPr>
          <p:cNvPr id="739" name="Google Shape;739;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0" name="Google Shape;740;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1" name="Shape 741"/>
        <p:cNvGrpSpPr/>
        <p:nvPr/>
      </p:nvGrpSpPr>
      <p:grpSpPr>
        <a:xfrm>
          <a:off x="0" y="0"/>
          <a:ext cx="0" cy="0"/>
          <a:chOff x="0" y="0"/>
          <a:chExt cx="0" cy="0"/>
        </a:xfrm>
      </p:grpSpPr>
      <p:sp>
        <p:nvSpPr>
          <p:cNvPr id="742" name="Google Shape;742;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theme" Target="../theme/theme2.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4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51.png"/><Relationship Id="rId4" Type="http://schemas.openxmlformats.org/officeDocument/2006/relationships/image" Target="../media/image55.png"/><Relationship Id="rId5" Type="http://schemas.openxmlformats.org/officeDocument/2006/relationships/image" Target="../media/image5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5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0.xml"/><Relationship Id="rId3" Type="http://schemas.openxmlformats.org/officeDocument/2006/relationships/image" Target="../media/image44.png"/><Relationship Id="rId4" Type="http://schemas.openxmlformats.org/officeDocument/2006/relationships/image" Target="../media/image5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1.xml"/><Relationship Id="rId3" Type="http://schemas.openxmlformats.org/officeDocument/2006/relationships/image" Target="../media/image44.png"/><Relationship Id="rId4" Type="http://schemas.openxmlformats.org/officeDocument/2006/relationships/image" Target="../media/image5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image" Target="../media/image51.png"/><Relationship Id="rId4" Type="http://schemas.openxmlformats.org/officeDocument/2006/relationships/image" Target="../media/image55.png"/><Relationship Id="rId5" Type="http://schemas.openxmlformats.org/officeDocument/2006/relationships/image" Target="../media/image6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55.png"/><Relationship Id="rId4" Type="http://schemas.openxmlformats.org/officeDocument/2006/relationships/image" Target="../media/image5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4.xml"/><Relationship Id="rId3" Type="http://schemas.openxmlformats.org/officeDocument/2006/relationships/image" Target="../media/image44.png"/><Relationship Id="rId4" Type="http://schemas.openxmlformats.org/officeDocument/2006/relationships/image" Target="../media/image5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6.xml"/><Relationship Id="rId3" Type="http://schemas.openxmlformats.org/officeDocument/2006/relationships/image" Target="../media/image6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7.xml"/><Relationship Id="rId3" Type="http://schemas.openxmlformats.org/officeDocument/2006/relationships/image" Target="../media/image5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0.xml"/><Relationship Id="rId3" Type="http://schemas.openxmlformats.org/officeDocument/2006/relationships/image" Target="../media/image60.png"/><Relationship Id="rId4" Type="http://schemas.openxmlformats.org/officeDocument/2006/relationships/image" Target="../media/image54.png"/><Relationship Id="rId5" Type="http://schemas.openxmlformats.org/officeDocument/2006/relationships/image" Target="../media/image5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1.xml"/><Relationship Id="rId3" Type="http://schemas.openxmlformats.org/officeDocument/2006/relationships/image" Target="../media/image57.png"/><Relationship Id="rId4" Type="http://schemas.openxmlformats.org/officeDocument/2006/relationships/image" Target="../media/image59.png"/><Relationship Id="rId5" Type="http://schemas.openxmlformats.org/officeDocument/2006/relationships/image" Target="../media/image5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 Id="rId3" Type="http://schemas.openxmlformats.org/officeDocument/2006/relationships/image" Target="../media/image4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3.xml"/><Relationship Id="rId3" Type="http://schemas.openxmlformats.org/officeDocument/2006/relationships/image" Target="../media/image55.png"/><Relationship Id="rId4" Type="http://schemas.openxmlformats.org/officeDocument/2006/relationships/image" Target="../media/image61.png"/><Relationship Id="rId5" Type="http://schemas.openxmlformats.org/officeDocument/2006/relationships/image" Target="../media/image5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6.xml"/><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6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 Id="rId3" Type="http://schemas.openxmlformats.org/officeDocument/2006/relationships/image" Target="../media/image5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28.xml"/><Relationship Id="rId3" Type="http://schemas.openxmlformats.org/officeDocument/2006/relationships/image" Target="../media/image44.png"/><Relationship Id="rId4" Type="http://schemas.openxmlformats.org/officeDocument/2006/relationships/image" Target="../media/image5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9.xml"/><Relationship Id="rId3" Type="http://schemas.openxmlformats.org/officeDocument/2006/relationships/image" Target="../media/image62.png"/><Relationship Id="rId4" Type="http://schemas.openxmlformats.org/officeDocument/2006/relationships/image" Target="../media/image64.png"/><Relationship Id="rId5" Type="http://schemas.openxmlformats.org/officeDocument/2006/relationships/image" Target="../media/image5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0.xml"/><Relationship Id="rId3" Type="http://schemas.openxmlformats.org/officeDocument/2006/relationships/image" Target="../media/image6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1.xml"/><Relationship Id="rId3" Type="http://schemas.openxmlformats.org/officeDocument/2006/relationships/image" Target="../media/image62.png"/><Relationship Id="rId4" Type="http://schemas.openxmlformats.org/officeDocument/2006/relationships/image" Target="../media/image5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2.xml"/><Relationship Id="rId3" Type="http://schemas.openxmlformats.org/officeDocument/2006/relationships/image" Target="../media/image6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3.xml"/><Relationship Id="rId3" Type="http://schemas.openxmlformats.org/officeDocument/2006/relationships/image" Target="../media/image62.png"/><Relationship Id="rId4" Type="http://schemas.openxmlformats.org/officeDocument/2006/relationships/image" Target="../media/image6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4.xml"/><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5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5.xml"/><Relationship Id="rId3" Type="http://schemas.openxmlformats.org/officeDocument/2006/relationships/image" Target="../media/image62.png"/><Relationship Id="rId4" Type="http://schemas.openxmlformats.org/officeDocument/2006/relationships/image" Target="../media/image53.png"/><Relationship Id="rId5" Type="http://schemas.openxmlformats.org/officeDocument/2006/relationships/image" Target="../media/image64.png"/><Relationship Id="rId6" Type="http://schemas.openxmlformats.org/officeDocument/2006/relationships/image" Target="../media/image5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6.xml"/><Relationship Id="rId3" Type="http://schemas.openxmlformats.org/officeDocument/2006/relationships/image" Target="../media/image62.png"/><Relationship Id="rId4" Type="http://schemas.openxmlformats.org/officeDocument/2006/relationships/image" Target="../media/image5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7.xml"/><Relationship Id="rId3" Type="http://schemas.openxmlformats.org/officeDocument/2006/relationships/image" Target="../media/image66.png"/><Relationship Id="rId4" Type="http://schemas.openxmlformats.org/officeDocument/2006/relationships/image" Target="../media/image44.png"/><Relationship Id="rId5" Type="http://schemas.openxmlformats.org/officeDocument/2006/relationships/image" Target="../media/image63.png"/><Relationship Id="rId6" Type="http://schemas.openxmlformats.org/officeDocument/2006/relationships/image" Target="../media/image5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8.xml"/><Relationship Id="rId3" Type="http://schemas.openxmlformats.org/officeDocument/2006/relationships/image" Target="../media/image67.png"/><Relationship Id="rId4" Type="http://schemas.openxmlformats.org/officeDocument/2006/relationships/image" Target="../media/image4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0.xml"/><Relationship Id="rId3" Type="http://schemas.openxmlformats.org/officeDocument/2006/relationships/image" Target="../media/image6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1.xml"/><Relationship Id="rId3" Type="http://schemas.openxmlformats.org/officeDocument/2006/relationships/image" Target="../media/image67.png"/><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2.xml"/><Relationship Id="rId3" Type="http://schemas.openxmlformats.org/officeDocument/2006/relationships/image" Target="../media/image54.png"/><Relationship Id="rId4" Type="http://schemas.openxmlformats.org/officeDocument/2006/relationships/image" Target="../media/image5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3.xml"/><Relationship Id="rId3" Type="http://schemas.openxmlformats.org/officeDocument/2006/relationships/image" Target="../media/image6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5.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6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62"/>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Determining which side</a:t>
            </a:r>
            <a:endParaRPr/>
          </a:p>
        </p:txBody>
      </p:sp>
      <p:sp>
        <p:nvSpPr>
          <p:cNvPr id="748" name="Google Shape;748;p62"/>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Geometrical properties: similarity and Pythagoras' theorem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2" name="Shape 752"/>
        <p:cNvGrpSpPr/>
        <p:nvPr/>
      </p:nvGrpSpPr>
      <p:grpSpPr>
        <a:xfrm>
          <a:off x="0" y="0"/>
          <a:ext cx="0" cy="0"/>
          <a:chOff x="0" y="0"/>
          <a:chExt cx="0" cy="0"/>
        </a:xfrm>
      </p:grpSpPr>
      <p:sp>
        <p:nvSpPr>
          <p:cNvPr id="753" name="Google Shape;753;p63"/>
          <p:cNvSpPr txBox="1"/>
          <p:nvPr/>
        </p:nvSpPr>
        <p:spPr>
          <a:xfrm>
            <a:off x="5655175" y="9530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64"/>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identify which side length is missing and use the appropriate form of Pythagoras' theorem to calculate it.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65"/>
          <p:cNvSpPr txBox="1"/>
          <p:nvPr>
            <p:ph idx="4" type="subTitle"/>
          </p:nvPr>
        </p:nvSpPr>
        <p:spPr>
          <a:xfrm>
            <a:off x="324000" y="1402888"/>
            <a:ext cx="84960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A hypotenuse is the side of the right-angle triangle which is opposite the right-angle.</a:t>
            </a:r>
            <a:endParaRPr/>
          </a:p>
        </p:txBody>
      </p:sp>
      <p:sp>
        <p:nvSpPr>
          <p:cNvPr id="764" name="Google Shape;764;p65"/>
          <p:cNvSpPr txBox="1"/>
          <p:nvPr>
            <p:ph idx="2" type="subTitle"/>
          </p:nvPr>
        </p:nvSpPr>
        <p:spPr>
          <a:xfrm>
            <a:off x="324000" y="810000"/>
            <a:ext cx="8496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A right-angled triangle has exactly one 90° interior angle.</a:t>
            </a:r>
            <a:endParaRPr/>
          </a:p>
        </p:txBody>
      </p:sp>
      <p:sp>
        <p:nvSpPr>
          <p:cNvPr id="765" name="Google Shape;765;p65"/>
          <p:cNvSpPr txBox="1"/>
          <p:nvPr>
            <p:ph idx="6" type="subTitle"/>
          </p:nvPr>
        </p:nvSpPr>
        <p:spPr>
          <a:xfrm>
            <a:off x="324000" y="2486393"/>
            <a:ext cx="8496000" cy="914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Pythagoras’ theorem shows that the sum of the squares of the two shorter sides of a right-angled triangle is equal to the square of its longest side (the hypotenuse).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66"/>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Identifying the hypotenuse</a:t>
            </a:r>
            <a:endParaRPr/>
          </a:p>
        </p:txBody>
      </p:sp>
      <p:sp>
        <p:nvSpPr>
          <p:cNvPr id="771" name="Google Shape;771;p66"/>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Right-angled triangles and congruence</a:t>
            </a:r>
            <a:endParaRPr/>
          </a:p>
        </p:txBody>
      </p:sp>
      <p:sp>
        <p:nvSpPr>
          <p:cNvPr id="772" name="Google Shape;772;p66"/>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lengths of missing sides</a:t>
            </a:r>
            <a:endParaRPr/>
          </a:p>
        </p:txBody>
      </p:sp>
      <p:sp>
        <p:nvSpPr>
          <p:cNvPr id="773" name="Google Shape;773;p66"/>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Determining which side</a:t>
            </a:r>
            <a:endParaRPr/>
          </a:p>
        </p:txBody>
      </p:sp>
      <p:pic>
        <p:nvPicPr>
          <p:cNvPr id="774" name="Google Shape;774;p66"/>
          <p:cNvPicPr preferRelativeResize="0"/>
          <p:nvPr/>
        </p:nvPicPr>
        <p:blipFill>
          <a:blip r:embed="rId3">
            <a:alphaModFix/>
          </a:blip>
          <a:stretch>
            <a:fillRect/>
          </a:stretch>
        </p:blipFill>
        <p:spPr>
          <a:xfrm>
            <a:off x="411000" y="174839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6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Identifying the hypotenuse</a:t>
            </a:r>
            <a:endParaRPr/>
          </a:p>
        </p:txBody>
      </p:sp>
      <p:pic>
        <p:nvPicPr>
          <p:cNvPr id="780" name="Google Shape;780;p67"/>
          <p:cNvPicPr preferRelativeResize="0"/>
          <p:nvPr/>
        </p:nvPicPr>
        <p:blipFill>
          <a:blip r:embed="rId3">
            <a:alphaModFix/>
          </a:blip>
          <a:stretch>
            <a:fillRect/>
          </a:stretch>
        </p:blipFill>
        <p:spPr>
          <a:xfrm>
            <a:off x="448651" y="1643715"/>
            <a:ext cx="564900" cy="813475"/>
          </a:xfrm>
          <a:prstGeom prst="rect">
            <a:avLst/>
          </a:prstGeom>
          <a:noFill/>
          <a:ln>
            <a:noFill/>
          </a:ln>
        </p:spPr>
      </p:pic>
      <p:sp>
        <p:nvSpPr>
          <p:cNvPr id="781" name="Google Shape;781;p67"/>
          <p:cNvSpPr txBox="1"/>
          <p:nvPr/>
        </p:nvSpPr>
        <p:spPr>
          <a:xfrm>
            <a:off x="324001" y="2456865"/>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Sam</a:t>
            </a:r>
            <a:endParaRPr sz="1800">
              <a:latin typeface="Lexend"/>
              <a:ea typeface="Lexend"/>
              <a:cs typeface="Lexend"/>
              <a:sym typeface="Lexend"/>
            </a:endParaRPr>
          </a:p>
        </p:txBody>
      </p:sp>
      <p:pic>
        <p:nvPicPr>
          <p:cNvPr id="782" name="Google Shape;782;p67"/>
          <p:cNvPicPr preferRelativeResize="0"/>
          <p:nvPr/>
        </p:nvPicPr>
        <p:blipFill rotWithShape="1">
          <a:blip r:embed="rId4">
            <a:alphaModFix/>
          </a:blip>
          <a:srcRect b="4760" l="40550" r="0" t="13015"/>
          <a:stretch/>
        </p:blipFill>
        <p:spPr>
          <a:xfrm>
            <a:off x="851375" y="572215"/>
            <a:ext cx="3169326" cy="1564700"/>
          </a:xfrm>
          <a:prstGeom prst="rect">
            <a:avLst/>
          </a:prstGeom>
          <a:noFill/>
          <a:ln>
            <a:noFill/>
          </a:ln>
        </p:spPr>
      </p:pic>
      <p:sp>
        <p:nvSpPr>
          <p:cNvPr id="783" name="Google Shape;783;p67"/>
          <p:cNvSpPr txBox="1"/>
          <p:nvPr/>
        </p:nvSpPr>
        <p:spPr>
          <a:xfrm>
            <a:off x="1095122" y="677457"/>
            <a:ext cx="28959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I can use Pythagoras’ theorem on this triangle because it’s a right-angled triangle.</a:t>
            </a:r>
            <a:endParaRPr sz="1800">
              <a:latin typeface="Lexend"/>
              <a:ea typeface="Lexend"/>
              <a:cs typeface="Lexend"/>
              <a:sym typeface="Lexend"/>
            </a:endParaRPr>
          </a:p>
        </p:txBody>
      </p:sp>
      <p:sp>
        <p:nvSpPr>
          <p:cNvPr id="784" name="Google Shape;784;p67"/>
          <p:cNvSpPr/>
          <p:nvPr/>
        </p:nvSpPr>
        <p:spPr>
          <a:xfrm flipH="1" rot="5400000">
            <a:off x="5840138" y="1583088"/>
            <a:ext cx="2741700" cy="1212000"/>
          </a:xfrm>
          <a:prstGeom prst="rtTriangle">
            <a:avLst/>
          </a:prstGeom>
          <a:solidFill>
            <a:srgbClr val="F3EEFB"/>
          </a:solidFill>
          <a:ln cap="flat" cmpd="sng" w="28575">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85" name="Google Shape;785;p67"/>
          <p:cNvSpPr/>
          <p:nvPr/>
        </p:nvSpPr>
        <p:spPr>
          <a:xfrm flipH="1" rot="5400000">
            <a:off x="7277037" y="3026863"/>
            <a:ext cx="1071600" cy="1071600"/>
          </a:xfrm>
          <a:prstGeom prst="arc">
            <a:avLst>
              <a:gd fmla="val 1363875" name="adj1"/>
              <a:gd fmla="val 5301610"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86" name="Google Shape;786;p67"/>
          <p:cNvSpPr txBox="1"/>
          <p:nvPr/>
        </p:nvSpPr>
        <p:spPr>
          <a:xfrm flipH="1">
            <a:off x="6803888" y="3731888"/>
            <a:ext cx="81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8 cm</a:t>
            </a:r>
            <a:endParaRPr sz="1800">
              <a:latin typeface="Lexend"/>
              <a:ea typeface="Lexend"/>
              <a:cs typeface="Lexend"/>
              <a:sym typeface="Lexend"/>
            </a:endParaRPr>
          </a:p>
        </p:txBody>
      </p:sp>
      <p:sp>
        <p:nvSpPr>
          <p:cNvPr id="787" name="Google Shape;787;p67"/>
          <p:cNvSpPr txBox="1"/>
          <p:nvPr/>
        </p:nvSpPr>
        <p:spPr>
          <a:xfrm flipH="1">
            <a:off x="5632887" y="2027238"/>
            <a:ext cx="81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15 cm</a:t>
            </a:r>
            <a:endParaRPr sz="1800">
              <a:latin typeface="Lexend"/>
              <a:ea typeface="Lexend"/>
              <a:cs typeface="Lexend"/>
              <a:sym typeface="Lexend"/>
            </a:endParaRPr>
          </a:p>
        </p:txBody>
      </p:sp>
      <p:sp>
        <p:nvSpPr>
          <p:cNvPr id="788" name="Google Shape;788;p67"/>
          <p:cNvSpPr/>
          <p:nvPr/>
        </p:nvSpPr>
        <p:spPr>
          <a:xfrm flipH="1" rot="5400000">
            <a:off x="5382750" y="-379350"/>
            <a:ext cx="2457300" cy="2457300"/>
          </a:xfrm>
          <a:prstGeom prst="arc">
            <a:avLst>
              <a:gd fmla="val 10799790" name="adj1"/>
              <a:gd fmla="val 12233440"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89" name="Google Shape;789;p67"/>
          <p:cNvSpPr txBox="1"/>
          <p:nvPr/>
        </p:nvSpPr>
        <p:spPr>
          <a:xfrm flipH="1">
            <a:off x="6434373" y="1754564"/>
            <a:ext cx="81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28°</a:t>
            </a:r>
            <a:endParaRPr sz="1800">
              <a:latin typeface="Lexend"/>
              <a:ea typeface="Lexend"/>
              <a:cs typeface="Lexend"/>
              <a:sym typeface="Lexend"/>
            </a:endParaRPr>
          </a:p>
        </p:txBody>
      </p:sp>
      <p:sp>
        <p:nvSpPr>
          <p:cNvPr id="790" name="Google Shape;790;p67"/>
          <p:cNvSpPr txBox="1"/>
          <p:nvPr/>
        </p:nvSpPr>
        <p:spPr>
          <a:xfrm flipH="1">
            <a:off x="7115888" y="3280599"/>
            <a:ext cx="81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62°</a:t>
            </a:r>
            <a:endParaRPr sz="1800">
              <a:latin typeface="Lexend"/>
              <a:ea typeface="Lexend"/>
              <a:cs typeface="Lexend"/>
              <a:sym typeface="Lexend"/>
            </a:endParaRPr>
          </a:p>
        </p:txBody>
      </p:sp>
      <p:sp>
        <p:nvSpPr>
          <p:cNvPr id="791" name="Google Shape;791;p67"/>
          <p:cNvSpPr txBox="1"/>
          <p:nvPr/>
        </p:nvSpPr>
        <p:spPr>
          <a:xfrm flipH="1">
            <a:off x="5385351" y="4191050"/>
            <a:ext cx="3255300" cy="32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Whose statement about this triangle is correct?</a:t>
            </a:r>
            <a:endParaRPr sz="1800">
              <a:latin typeface="Lexend"/>
              <a:ea typeface="Lexend"/>
              <a:cs typeface="Lexend"/>
              <a:sym typeface="Lexend"/>
            </a:endParaRPr>
          </a:p>
        </p:txBody>
      </p:sp>
      <p:pic>
        <p:nvPicPr>
          <p:cNvPr id="792" name="Google Shape;792;p67"/>
          <p:cNvPicPr preferRelativeResize="0"/>
          <p:nvPr/>
        </p:nvPicPr>
        <p:blipFill>
          <a:blip r:embed="rId5">
            <a:alphaModFix/>
          </a:blip>
          <a:stretch>
            <a:fillRect/>
          </a:stretch>
        </p:blipFill>
        <p:spPr>
          <a:xfrm flipH="1">
            <a:off x="488875" y="3714648"/>
            <a:ext cx="650925" cy="839350"/>
          </a:xfrm>
          <a:prstGeom prst="rect">
            <a:avLst/>
          </a:prstGeom>
          <a:noFill/>
          <a:ln>
            <a:noFill/>
          </a:ln>
        </p:spPr>
      </p:pic>
      <p:sp>
        <p:nvSpPr>
          <p:cNvPr id="793" name="Google Shape;793;p67"/>
          <p:cNvSpPr txBox="1"/>
          <p:nvPr/>
        </p:nvSpPr>
        <p:spPr>
          <a:xfrm>
            <a:off x="371688" y="4514749"/>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sz="1800">
              <a:latin typeface="Lexend"/>
              <a:ea typeface="Lexend"/>
              <a:cs typeface="Lexend"/>
              <a:sym typeface="Lexend"/>
            </a:endParaRPr>
          </a:p>
        </p:txBody>
      </p:sp>
      <p:pic>
        <p:nvPicPr>
          <p:cNvPr id="794" name="Google Shape;794;p67"/>
          <p:cNvPicPr preferRelativeResize="0"/>
          <p:nvPr/>
        </p:nvPicPr>
        <p:blipFill rotWithShape="1">
          <a:blip r:embed="rId4">
            <a:alphaModFix/>
          </a:blip>
          <a:srcRect b="4760" l="40550" r="0" t="13015"/>
          <a:stretch/>
        </p:blipFill>
        <p:spPr>
          <a:xfrm>
            <a:off x="1003775" y="2619575"/>
            <a:ext cx="3169326" cy="1795899"/>
          </a:xfrm>
          <a:prstGeom prst="rect">
            <a:avLst/>
          </a:prstGeom>
          <a:noFill/>
          <a:ln>
            <a:noFill/>
          </a:ln>
        </p:spPr>
      </p:pic>
      <p:sp>
        <p:nvSpPr>
          <p:cNvPr id="795" name="Google Shape;795;p67"/>
          <p:cNvSpPr txBox="1"/>
          <p:nvPr/>
        </p:nvSpPr>
        <p:spPr>
          <a:xfrm>
            <a:off x="1247521" y="2718216"/>
            <a:ext cx="28959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I cannot use Pythagoras’ theorem on this triangle because it doesn’t have a right-angle marker labelled on it.</a:t>
            </a:r>
            <a:endParaRPr sz="1800">
              <a:solidFill>
                <a:schemeClr val="dk1"/>
              </a:solidFill>
              <a:latin typeface="Lexend"/>
              <a:ea typeface="Lexend"/>
              <a:cs typeface="Lexend"/>
              <a:sym typeface="Lexend"/>
            </a:endParaRPr>
          </a:p>
        </p:txBody>
      </p:sp>
      <p:sp>
        <p:nvSpPr>
          <p:cNvPr id="796" name="Google Shape;796;p67"/>
          <p:cNvSpPr/>
          <p:nvPr/>
        </p:nvSpPr>
        <p:spPr>
          <a:xfrm flipH="1" rot="5400000">
            <a:off x="5840138" y="1583088"/>
            <a:ext cx="2741700" cy="1212000"/>
          </a:xfrm>
          <a:prstGeom prst="rtTriangle">
            <a:avLst/>
          </a:prstGeom>
          <a:noFill/>
          <a:ln cap="flat" cmpd="sng" w="28575">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797" name="Google Shape;797;p67"/>
          <p:cNvCxnSpPr/>
          <p:nvPr/>
        </p:nvCxnSpPr>
        <p:spPr>
          <a:xfrm flipH="1">
            <a:off x="6434375" y="840450"/>
            <a:ext cx="4500" cy="2697300"/>
          </a:xfrm>
          <a:prstGeom prst="straightConnector1">
            <a:avLst/>
          </a:prstGeom>
          <a:noFill/>
          <a:ln cap="flat" cmpd="sng" w="28575">
            <a:solidFill>
              <a:schemeClr val="accent4"/>
            </a:solidFill>
            <a:prstDash val="solid"/>
            <a:round/>
            <a:headEnd len="med" w="med" type="triangle"/>
            <a:tailEnd len="med" w="med" type="triangle"/>
          </a:ln>
        </p:spPr>
      </p:cxnSp>
      <p:cxnSp>
        <p:nvCxnSpPr>
          <p:cNvPr id="798" name="Google Shape;798;p67"/>
          <p:cNvCxnSpPr>
            <a:endCxn id="790" idx="1"/>
          </p:cNvCxnSpPr>
          <p:nvPr/>
        </p:nvCxnSpPr>
        <p:spPr>
          <a:xfrm>
            <a:off x="6740288" y="809949"/>
            <a:ext cx="1189800" cy="2632500"/>
          </a:xfrm>
          <a:prstGeom prst="straightConnector1">
            <a:avLst/>
          </a:prstGeom>
          <a:noFill/>
          <a:ln cap="flat" cmpd="sng" w="28575">
            <a:solidFill>
              <a:schemeClr val="accent4"/>
            </a:solidFill>
            <a:prstDash val="solid"/>
            <a:round/>
            <a:headEnd len="med" w="med" type="triangle"/>
            <a:tailEnd len="med" w="med" type="triangle"/>
          </a:ln>
        </p:spPr>
      </p:cxnSp>
      <p:cxnSp>
        <p:nvCxnSpPr>
          <p:cNvPr id="799" name="Google Shape;799;p67"/>
          <p:cNvCxnSpPr/>
          <p:nvPr/>
        </p:nvCxnSpPr>
        <p:spPr>
          <a:xfrm>
            <a:off x="6610750" y="3666900"/>
            <a:ext cx="1181100" cy="1800"/>
          </a:xfrm>
          <a:prstGeom prst="straightConnector1">
            <a:avLst/>
          </a:prstGeom>
          <a:noFill/>
          <a:ln cap="flat" cmpd="sng" w="28575">
            <a:solidFill>
              <a:schemeClr val="accent4"/>
            </a:solidFill>
            <a:prstDash val="solid"/>
            <a:round/>
            <a:headEnd len="med" w="med" type="triangl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6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Identifying the hypotenuse</a:t>
            </a:r>
            <a:endParaRPr/>
          </a:p>
        </p:txBody>
      </p:sp>
      <p:sp>
        <p:nvSpPr>
          <p:cNvPr id="805" name="Google Shape;805;p68"/>
          <p:cNvSpPr/>
          <p:nvPr/>
        </p:nvSpPr>
        <p:spPr>
          <a:xfrm flipH="1" rot="5400000">
            <a:off x="5840138" y="1583088"/>
            <a:ext cx="2741700" cy="1212000"/>
          </a:xfrm>
          <a:prstGeom prst="rtTriangle">
            <a:avLst/>
          </a:prstGeom>
          <a:solidFill>
            <a:srgbClr val="F3EEFB"/>
          </a:solidFill>
          <a:ln cap="flat" cmpd="sng" w="28575">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6" name="Google Shape;806;p68"/>
          <p:cNvSpPr/>
          <p:nvPr/>
        </p:nvSpPr>
        <p:spPr>
          <a:xfrm flipH="1" rot="5400000">
            <a:off x="7277037" y="3026863"/>
            <a:ext cx="1071600" cy="1071600"/>
          </a:xfrm>
          <a:prstGeom prst="arc">
            <a:avLst>
              <a:gd fmla="val 1363875" name="adj1"/>
              <a:gd fmla="val 5301610"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7" name="Google Shape;807;p68"/>
          <p:cNvSpPr txBox="1"/>
          <p:nvPr/>
        </p:nvSpPr>
        <p:spPr>
          <a:xfrm flipH="1">
            <a:off x="6803888" y="3731888"/>
            <a:ext cx="81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8 cm</a:t>
            </a:r>
            <a:endParaRPr sz="1800">
              <a:latin typeface="Lexend"/>
              <a:ea typeface="Lexend"/>
              <a:cs typeface="Lexend"/>
              <a:sym typeface="Lexend"/>
            </a:endParaRPr>
          </a:p>
        </p:txBody>
      </p:sp>
      <p:sp>
        <p:nvSpPr>
          <p:cNvPr id="808" name="Google Shape;808;p68"/>
          <p:cNvSpPr txBox="1"/>
          <p:nvPr/>
        </p:nvSpPr>
        <p:spPr>
          <a:xfrm flipH="1">
            <a:off x="5632887" y="2027238"/>
            <a:ext cx="81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15 cm</a:t>
            </a:r>
            <a:endParaRPr sz="1800">
              <a:latin typeface="Lexend"/>
              <a:ea typeface="Lexend"/>
              <a:cs typeface="Lexend"/>
              <a:sym typeface="Lexend"/>
            </a:endParaRPr>
          </a:p>
        </p:txBody>
      </p:sp>
      <p:sp>
        <p:nvSpPr>
          <p:cNvPr id="809" name="Google Shape;809;p68"/>
          <p:cNvSpPr txBox="1"/>
          <p:nvPr/>
        </p:nvSpPr>
        <p:spPr>
          <a:xfrm flipH="1">
            <a:off x="323875" y="742050"/>
            <a:ext cx="4908300" cy="32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Sam is correct.</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Pythagoras’ theorem can be used to find the length of a missing side of any right-angled triangle, regardless of whether a right-angle marker is shown or not.</a:t>
            </a:r>
            <a:endParaRPr sz="1800">
              <a:latin typeface="Lexend"/>
              <a:ea typeface="Lexend"/>
              <a:cs typeface="Lexend"/>
              <a:sym typeface="Lexend"/>
            </a:endParaRPr>
          </a:p>
        </p:txBody>
      </p:sp>
      <p:sp>
        <p:nvSpPr>
          <p:cNvPr id="810" name="Google Shape;810;p68"/>
          <p:cNvSpPr/>
          <p:nvPr/>
        </p:nvSpPr>
        <p:spPr>
          <a:xfrm flipH="1" rot="5400000">
            <a:off x="5382750" y="-379350"/>
            <a:ext cx="2457300" cy="2457300"/>
          </a:xfrm>
          <a:prstGeom prst="arc">
            <a:avLst>
              <a:gd fmla="val 10799790" name="adj1"/>
              <a:gd fmla="val 12233440"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1" name="Google Shape;811;p68"/>
          <p:cNvSpPr txBox="1"/>
          <p:nvPr/>
        </p:nvSpPr>
        <p:spPr>
          <a:xfrm flipH="1">
            <a:off x="6434373" y="1754564"/>
            <a:ext cx="81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28°</a:t>
            </a:r>
            <a:endParaRPr sz="1800">
              <a:latin typeface="Lexend"/>
              <a:ea typeface="Lexend"/>
              <a:cs typeface="Lexend"/>
              <a:sym typeface="Lexend"/>
            </a:endParaRPr>
          </a:p>
        </p:txBody>
      </p:sp>
      <p:sp>
        <p:nvSpPr>
          <p:cNvPr id="812" name="Google Shape;812;p68"/>
          <p:cNvSpPr txBox="1"/>
          <p:nvPr/>
        </p:nvSpPr>
        <p:spPr>
          <a:xfrm flipH="1">
            <a:off x="7115888" y="3280599"/>
            <a:ext cx="81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62°</a:t>
            </a:r>
            <a:endParaRPr sz="1800">
              <a:latin typeface="Lexend"/>
              <a:ea typeface="Lexend"/>
              <a:cs typeface="Lexend"/>
              <a:sym typeface="Lexend"/>
            </a:endParaRPr>
          </a:p>
        </p:txBody>
      </p:sp>
      <p:sp>
        <p:nvSpPr>
          <p:cNvPr id="813" name="Google Shape;813;p68"/>
          <p:cNvSpPr txBox="1"/>
          <p:nvPr/>
        </p:nvSpPr>
        <p:spPr>
          <a:xfrm flipH="1">
            <a:off x="323875" y="2956900"/>
            <a:ext cx="49083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If a right-angle marker isn’t clearly shown, then it is helpful to:</a:t>
            </a:r>
            <a:endParaRPr sz="1800">
              <a:latin typeface="Lexend"/>
              <a:ea typeface="Lexend"/>
              <a:cs typeface="Lexend"/>
              <a:sym typeface="Lexend"/>
            </a:endParaRPr>
          </a:p>
        </p:txBody>
      </p:sp>
      <p:sp>
        <p:nvSpPr>
          <p:cNvPr id="814" name="Google Shape;814;p68"/>
          <p:cNvSpPr txBox="1"/>
          <p:nvPr/>
        </p:nvSpPr>
        <p:spPr>
          <a:xfrm flipH="1">
            <a:off x="783475" y="3780150"/>
            <a:ext cx="44487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identify which side of the triangle is the hypotenuse</a:t>
            </a:r>
            <a:endParaRPr sz="1800">
              <a:latin typeface="Lexend"/>
              <a:ea typeface="Lexend"/>
              <a:cs typeface="Lexend"/>
              <a:sym typeface="Lexend"/>
            </a:endParaRPr>
          </a:p>
        </p:txBody>
      </p:sp>
      <p:sp>
        <p:nvSpPr>
          <p:cNvPr id="815" name="Google Shape;815;p68"/>
          <p:cNvSpPr txBox="1"/>
          <p:nvPr/>
        </p:nvSpPr>
        <p:spPr>
          <a:xfrm flipH="1">
            <a:off x="783475" y="3502950"/>
            <a:ext cx="4448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find the right angle</a:t>
            </a:r>
            <a:endParaRPr sz="1800">
              <a:latin typeface="Lexend"/>
              <a:ea typeface="Lexend"/>
              <a:cs typeface="Lexend"/>
              <a:sym typeface="Lexend"/>
            </a:endParaRPr>
          </a:p>
        </p:txBody>
      </p:sp>
      <p:sp>
        <p:nvSpPr>
          <p:cNvPr id="816" name="Google Shape;816;p68"/>
          <p:cNvSpPr/>
          <p:nvPr/>
        </p:nvSpPr>
        <p:spPr>
          <a:xfrm flipH="1" rot="5400000">
            <a:off x="5840138" y="1583088"/>
            <a:ext cx="2741700" cy="1212000"/>
          </a:xfrm>
          <a:prstGeom prst="rtTriangle">
            <a:avLst/>
          </a:prstGeom>
          <a:noFill/>
          <a:ln cap="flat" cmpd="sng" w="28575">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17" name="Google Shape;817;p68"/>
          <p:cNvCxnSpPr/>
          <p:nvPr/>
        </p:nvCxnSpPr>
        <p:spPr>
          <a:xfrm rot="10800000">
            <a:off x="6611525" y="3661375"/>
            <a:ext cx="1142700" cy="9300"/>
          </a:xfrm>
          <a:prstGeom prst="straightConnector1">
            <a:avLst/>
          </a:prstGeom>
          <a:noFill/>
          <a:ln cap="flat" cmpd="sng" w="28575">
            <a:solidFill>
              <a:schemeClr val="accent4"/>
            </a:solidFill>
            <a:prstDash val="solid"/>
            <a:round/>
            <a:headEnd len="med" w="med" type="triangle"/>
            <a:tailEnd len="med" w="med" type="triangle"/>
          </a:ln>
        </p:spPr>
      </p:cxnSp>
      <p:cxnSp>
        <p:nvCxnSpPr>
          <p:cNvPr id="818" name="Google Shape;818;p68"/>
          <p:cNvCxnSpPr>
            <a:endCxn id="812" idx="1"/>
          </p:cNvCxnSpPr>
          <p:nvPr/>
        </p:nvCxnSpPr>
        <p:spPr>
          <a:xfrm>
            <a:off x="6740288" y="789249"/>
            <a:ext cx="1189800" cy="2653200"/>
          </a:xfrm>
          <a:prstGeom prst="straightConnector1">
            <a:avLst/>
          </a:prstGeom>
          <a:noFill/>
          <a:ln cap="flat" cmpd="sng" w="28575">
            <a:solidFill>
              <a:schemeClr val="accent4"/>
            </a:solidFill>
            <a:prstDash val="solid"/>
            <a:round/>
            <a:headEnd len="med" w="med" type="triangle"/>
            <a:tailEnd len="med" w="med" type="triangle"/>
          </a:ln>
        </p:spPr>
      </p:cxnSp>
      <p:cxnSp>
        <p:nvCxnSpPr>
          <p:cNvPr id="819" name="Google Shape;819;p68"/>
          <p:cNvCxnSpPr/>
          <p:nvPr/>
        </p:nvCxnSpPr>
        <p:spPr>
          <a:xfrm flipH="1">
            <a:off x="6484075" y="810000"/>
            <a:ext cx="19200" cy="2733900"/>
          </a:xfrm>
          <a:prstGeom prst="straightConnector1">
            <a:avLst/>
          </a:prstGeom>
          <a:noFill/>
          <a:ln cap="flat" cmpd="sng" w="28575">
            <a:solidFill>
              <a:schemeClr val="accent4"/>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69"/>
          <p:cNvSpPr txBox="1"/>
          <p:nvPr/>
        </p:nvSpPr>
        <p:spPr>
          <a:xfrm flipH="1">
            <a:off x="933300" y="2797600"/>
            <a:ext cx="539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latin typeface="Lexend"/>
                <a:ea typeface="Lexend"/>
                <a:cs typeface="Lexend"/>
                <a:sym typeface="Lexend"/>
              </a:rPr>
              <a:t>180°</a:t>
            </a:r>
            <a:endParaRPr sz="1800">
              <a:latin typeface="Lexend"/>
              <a:ea typeface="Lexend"/>
              <a:cs typeface="Lexend"/>
              <a:sym typeface="Lexend"/>
            </a:endParaRPr>
          </a:p>
        </p:txBody>
      </p:sp>
      <p:sp>
        <p:nvSpPr>
          <p:cNvPr id="825" name="Google Shape;825;p69"/>
          <p:cNvSpPr txBox="1"/>
          <p:nvPr/>
        </p:nvSpPr>
        <p:spPr>
          <a:xfrm flipH="1">
            <a:off x="2135035" y="2797600"/>
            <a:ext cx="857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latin typeface="Lexend"/>
                <a:ea typeface="Lexend"/>
                <a:cs typeface="Lexend"/>
                <a:sym typeface="Lexend"/>
              </a:rPr>
              <a:t>– 62°</a:t>
            </a:r>
            <a:endParaRPr sz="1800">
              <a:latin typeface="Lexend"/>
              <a:ea typeface="Lexend"/>
              <a:cs typeface="Lexend"/>
              <a:sym typeface="Lexend"/>
            </a:endParaRPr>
          </a:p>
        </p:txBody>
      </p:sp>
      <p:sp>
        <p:nvSpPr>
          <p:cNvPr id="826" name="Google Shape;826;p69"/>
          <p:cNvSpPr txBox="1"/>
          <p:nvPr/>
        </p:nvSpPr>
        <p:spPr>
          <a:xfrm flipH="1">
            <a:off x="1504854" y="2797600"/>
            <a:ext cx="722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latin typeface="Lexend"/>
                <a:ea typeface="Lexend"/>
                <a:cs typeface="Lexend"/>
                <a:sym typeface="Lexend"/>
              </a:rPr>
              <a:t>– 28°</a:t>
            </a:r>
            <a:endParaRPr sz="1800">
              <a:latin typeface="Lexend"/>
              <a:ea typeface="Lexend"/>
              <a:cs typeface="Lexend"/>
              <a:sym typeface="Lexend"/>
            </a:endParaRPr>
          </a:p>
        </p:txBody>
      </p:sp>
      <p:sp>
        <p:nvSpPr>
          <p:cNvPr id="827" name="Google Shape;827;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Identifying the hypotenuse</a:t>
            </a:r>
            <a:endParaRPr/>
          </a:p>
        </p:txBody>
      </p:sp>
      <p:sp>
        <p:nvSpPr>
          <p:cNvPr id="828" name="Google Shape;828;p69"/>
          <p:cNvSpPr/>
          <p:nvPr/>
        </p:nvSpPr>
        <p:spPr>
          <a:xfrm flipH="1" rot="5400000">
            <a:off x="5840138" y="1583088"/>
            <a:ext cx="2741700" cy="1212000"/>
          </a:xfrm>
          <a:prstGeom prst="rtTriangle">
            <a:avLst/>
          </a:prstGeom>
          <a:solidFill>
            <a:srgbClr val="F3EEFB"/>
          </a:solidFill>
          <a:ln cap="flat" cmpd="sng" w="28575">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9" name="Google Shape;829;p69"/>
          <p:cNvSpPr/>
          <p:nvPr/>
        </p:nvSpPr>
        <p:spPr>
          <a:xfrm flipH="1" rot="5400000">
            <a:off x="7277037" y="3026863"/>
            <a:ext cx="1071600" cy="1071600"/>
          </a:xfrm>
          <a:prstGeom prst="arc">
            <a:avLst>
              <a:gd fmla="val 1363875" name="adj1"/>
              <a:gd fmla="val 5301610"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0" name="Google Shape;830;p69"/>
          <p:cNvSpPr txBox="1"/>
          <p:nvPr/>
        </p:nvSpPr>
        <p:spPr>
          <a:xfrm flipH="1">
            <a:off x="6803888" y="3731888"/>
            <a:ext cx="81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8 cm</a:t>
            </a:r>
            <a:endParaRPr sz="1800">
              <a:latin typeface="Lexend"/>
              <a:ea typeface="Lexend"/>
              <a:cs typeface="Lexend"/>
              <a:sym typeface="Lexend"/>
            </a:endParaRPr>
          </a:p>
        </p:txBody>
      </p:sp>
      <p:sp>
        <p:nvSpPr>
          <p:cNvPr id="831" name="Google Shape;831;p69"/>
          <p:cNvSpPr txBox="1"/>
          <p:nvPr/>
        </p:nvSpPr>
        <p:spPr>
          <a:xfrm flipH="1">
            <a:off x="5632887" y="2027238"/>
            <a:ext cx="81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15 cm</a:t>
            </a:r>
            <a:endParaRPr sz="1800">
              <a:latin typeface="Lexend"/>
              <a:ea typeface="Lexend"/>
              <a:cs typeface="Lexend"/>
              <a:sym typeface="Lexend"/>
            </a:endParaRPr>
          </a:p>
        </p:txBody>
      </p:sp>
      <p:sp>
        <p:nvSpPr>
          <p:cNvPr id="832" name="Google Shape;832;p69"/>
          <p:cNvSpPr/>
          <p:nvPr/>
        </p:nvSpPr>
        <p:spPr>
          <a:xfrm flipH="1" rot="5400000">
            <a:off x="5382750" y="-379350"/>
            <a:ext cx="2457300" cy="2457300"/>
          </a:xfrm>
          <a:prstGeom prst="arc">
            <a:avLst>
              <a:gd fmla="val 10799790" name="adj1"/>
              <a:gd fmla="val 12233440"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3" name="Google Shape;833;p69"/>
          <p:cNvSpPr txBox="1"/>
          <p:nvPr/>
        </p:nvSpPr>
        <p:spPr>
          <a:xfrm flipH="1">
            <a:off x="6434373" y="1754564"/>
            <a:ext cx="81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28°</a:t>
            </a:r>
            <a:endParaRPr sz="1800">
              <a:latin typeface="Lexend"/>
              <a:ea typeface="Lexend"/>
              <a:cs typeface="Lexend"/>
              <a:sym typeface="Lexend"/>
            </a:endParaRPr>
          </a:p>
        </p:txBody>
      </p:sp>
      <p:sp>
        <p:nvSpPr>
          <p:cNvPr id="834" name="Google Shape;834;p69"/>
          <p:cNvSpPr txBox="1"/>
          <p:nvPr/>
        </p:nvSpPr>
        <p:spPr>
          <a:xfrm flipH="1">
            <a:off x="7115888" y="3280599"/>
            <a:ext cx="81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62°</a:t>
            </a:r>
            <a:endParaRPr sz="1800">
              <a:latin typeface="Lexend"/>
              <a:ea typeface="Lexend"/>
              <a:cs typeface="Lexend"/>
              <a:sym typeface="Lexend"/>
            </a:endParaRPr>
          </a:p>
        </p:txBody>
      </p:sp>
      <p:sp>
        <p:nvSpPr>
          <p:cNvPr id="835" name="Google Shape;835;p69"/>
          <p:cNvSpPr/>
          <p:nvPr/>
        </p:nvSpPr>
        <p:spPr>
          <a:xfrm flipH="1" rot="5400000">
            <a:off x="6297475" y="3248750"/>
            <a:ext cx="627900" cy="627900"/>
          </a:xfrm>
          <a:prstGeom prst="arc">
            <a:avLst>
              <a:gd fmla="val 16213616" name="adj1"/>
              <a:gd fmla="val 21588882" name="adj2"/>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6" name="Google Shape;836;p69"/>
          <p:cNvSpPr/>
          <p:nvPr/>
        </p:nvSpPr>
        <p:spPr>
          <a:xfrm flipH="1" rot="5400000">
            <a:off x="6605000" y="3280600"/>
            <a:ext cx="270300" cy="2703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7" name="Google Shape;837;p69"/>
          <p:cNvSpPr txBox="1"/>
          <p:nvPr/>
        </p:nvSpPr>
        <p:spPr>
          <a:xfrm flipH="1">
            <a:off x="323875" y="1966300"/>
            <a:ext cx="49083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latin typeface="Lexend"/>
                <a:ea typeface="Lexend"/>
                <a:cs typeface="Lexend"/>
                <a:sym typeface="Lexend"/>
              </a:rPr>
              <a:t>Because we know that angles in a triangle sum to 180°, then we know that the size of this angle is:</a:t>
            </a:r>
            <a:endParaRPr sz="1800">
              <a:latin typeface="Lexend"/>
              <a:ea typeface="Lexend"/>
              <a:cs typeface="Lexend"/>
              <a:sym typeface="Lexend"/>
            </a:endParaRPr>
          </a:p>
        </p:txBody>
      </p:sp>
      <p:cxnSp>
        <p:nvCxnSpPr>
          <p:cNvPr id="838" name="Google Shape;838;p69"/>
          <p:cNvCxnSpPr/>
          <p:nvPr/>
        </p:nvCxnSpPr>
        <p:spPr>
          <a:xfrm>
            <a:off x="5045500" y="2409600"/>
            <a:ext cx="1695000" cy="1012500"/>
          </a:xfrm>
          <a:prstGeom prst="straightConnector1">
            <a:avLst/>
          </a:prstGeom>
          <a:noFill/>
          <a:ln cap="flat" cmpd="sng" w="28575">
            <a:solidFill>
              <a:schemeClr val="accent5"/>
            </a:solidFill>
            <a:prstDash val="solid"/>
            <a:round/>
            <a:headEnd len="med" w="med" type="none"/>
            <a:tailEnd len="med" w="med" type="none"/>
          </a:ln>
        </p:spPr>
      </p:cxnSp>
      <p:sp>
        <p:nvSpPr>
          <p:cNvPr id="839" name="Google Shape;839;p69"/>
          <p:cNvSpPr txBox="1"/>
          <p:nvPr/>
        </p:nvSpPr>
        <p:spPr>
          <a:xfrm flipH="1">
            <a:off x="2759313" y="2797600"/>
            <a:ext cx="857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latin typeface="Lexend"/>
                <a:ea typeface="Lexend"/>
                <a:cs typeface="Lexend"/>
                <a:sym typeface="Lexend"/>
              </a:rPr>
              <a:t>= 90°</a:t>
            </a:r>
            <a:endParaRPr sz="1800">
              <a:latin typeface="Lexend"/>
              <a:ea typeface="Lexend"/>
              <a:cs typeface="Lexend"/>
              <a:sym typeface="Lexend"/>
            </a:endParaRPr>
          </a:p>
        </p:txBody>
      </p:sp>
      <p:sp>
        <p:nvSpPr>
          <p:cNvPr id="840" name="Google Shape;840;p69"/>
          <p:cNvSpPr txBox="1"/>
          <p:nvPr/>
        </p:nvSpPr>
        <p:spPr>
          <a:xfrm flipH="1">
            <a:off x="323875" y="3554300"/>
            <a:ext cx="49083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latin typeface="Lexend"/>
                <a:ea typeface="Lexend"/>
                <a:cs typeface="Lexend"/>
                <a:sym typeface="Lexend"/>
              </a:rPr>
              <a:t>And since this is the right-angle, the hypotenuse is the side opposite it.</a:t>
            </a:r>
            <a:endParaRPr sz="1800">
              <a:latin typeface="Lexend"/>
              <a:ea typeface="Lexend"/>
              <a:cs typeface="Lexend"/>
              <a:sym typeface="Lexend"/>
            </a:endParaRPr>
          </a:p>
        </p:txBody>
      </p:sp>
      <p:sp>
        <p:nvSpPr>
          <p:cNvPr id="841" name="Google Shape;841;p69"/>
          <p:cNvSpPr txBox="1"/>
          <p:nvPr/>
        </p:nvSpPr>
        <p:spPr>
          <a:xfrm rot="3966563">
            <a:off x="6201463" y="1883088"/>
            <a:ext cx="2622276" cy="323672"/>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hypotenuse</a:t>
            </a:r>
            <a:endParaRPr sz="1800">
              <a:latin typeface="Lexend"/>
              <a:ea typeface="Lexend"/>
              <a:cs typeface="Lexend"/>
              <a:sym typeface="Lexend"/>
            </a:endParaRPr>
          </a:p>
        </p:txBody>
      </p:sp>
      <p:sp>
        <p:nvSpPr>
          <p:cNvPr id="842" name="Google Shape;842;p69"/>
          <p:cNvSpPr/>
          <p:nvPr/>
        </p:nvSpPr>
        <p:spPr>
          <a:xfrm flipH="1" rot="5400000">
            <a:off x="5840138" y="1583088"/>
            <a:ext cx="2741700" cy="1212000"/>
          </a:xfrm>
          <a:prstGeom prst="rtTriangle">
            <a:avLst/>
          </a:prstGeom>
          <a:noFill/>
          <a:ln cap="flat" cmpd="sng" w="28575">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43" name="Google Shape;843;p69"/>
          <p:cNvCxnSpPr/>
          <p:nvPr/>
        </p:nvCxnSpPr>
        <p:spPr>
          <a:xfrm>
            <a:off x="6450125" y="818250"/>
            <a:ext cx="14400" cy="2706000"/>
          </a:xfrm>
          <a:prstGeom prst="straightConnector1">
            <a:avLst/>
          </a:prstGeom>
          <a:noFill/>
          <a:ln cap="flat" cmpd="sng" w="28575">
            <a:solidFill>
              <a:schemeClr val="accent4"/>
            </a:solidFill>
            <a:prstDash val="solid"/>
            <a:round/>
            <a:headEnd len="med" w="med" type="triangle"/>
            <a:tailEnd len="med" w="med" type="triangle"/>
          </a:ln>
        </p:spPr>
      </p:cxnSp>
      <p:cxnSp>
        <p:nvCxnSpPr>
          <p:cNvPr id="844" name="Google Shape;844;p69"/>
          <p:cNvCxnSpPr/>
          <p:nvPr/>
        </p:nvCxnSpPr>
        <p:spPr>
          <a:xfrm>
            <a:off x="6602800" y="3657425"/>
            <a:ext cx="1222200" cy="5100"/>
          </a:xfrm>
          <a:prstGeom prst="straightConnector1">
            <a:avLst/>
          </a:prstGeom>
          <a:noFill/>
          <a:ln cap="flat" cmpd="sng" w="28575">
            <a:solidFill>
              <a:schemeClr val="accent4"/>
            </a:solidFill>
            <a:prstDash val="solid"/>
            <a:round/>
            <a:headEnd len="med" w="med" type="triangle"/>
            <a:tailEnd len="med" w="med" type="triangle"/>
          </a:ln>
        </p:spPr>
      </p:cxnSp>
      <p:cxnSp>
        <p:nvCxnSpPr>
          <p:cNvPr id="845" name="Google Shape;845;p69"/>
          <p:cNvCxnSpPr>
            <a:endCxn id="834" idx="1"/>
          </p:cNvCxnSpPr>
          <p:nvPr/>
        </p:nvCxnSpPr>
        <p:spPr>
          <a:xfrm>
            <a:off x="6740588" y="818349"/>
            <a:ext cx="1189500" cy="2624100"/>
          </a:xfrm>
          <a:prstGeom prst="straightConnector1">
            <a:avLst/>
          </a:prstGeom>
          <a:noFill/>
          <a:ln cap="flat" cmpd="sng" w="28575">
            <a:solidFill>
              <a:schemeClr val="accent4"/>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3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3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3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70"/>
          <p:cNvSpPr txBox="1"/>
          <p:nvPr/>
        </p:nvSpPr>
        <p:spPr>
          <a:xfrm flipH="1">
            <a:off x="933225" y="2513133"/>
            <a:ext cx="2772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hypotenuse² = 289</a:t>
            </a:r>
            <a:endParaRPr sz="1800">
              <a:solidFill>
                <a:schemeClr val="dk1"/>
              </a:solidFill>
              <a:latin typeface="Lexend"/>
              <a:ea typeface="Lexend"/>
              <a:cs typeface="Lexend"/>
              <a:sym typeface="Lexend"/>
            </a:endParaRPr>
          </a:p>
        </p:txBody>
      </p:sp>
      <p:sp>
        <p:nvSpPr>
          <p:cNvPr id="851" name="Google Shape;851;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Identifying the hypotenuse</a:t>
            </a:r>
            <a:endParaRPr/>
          </a:p>
        </p:txBody>
      </p:sp>
      <p:sp>
        <p:nvSpPr>
          <p:cNvPr id="852" name="Google Shape;852;p70"/>
          <p:cNvSpPr txBox="1"/>
          <p:nvPr/>
        </p:nvSpPr>
        <p:spPr>
          <a:xfrm flipH="1">
            <a:off x="933225" y="2021467"/>
            <a:ext cx="2772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hypotenuse²</a:t>
            </a:r>
            <a:r>
              <a:rPr lang="en-GB" sz="1800">
                <a:latin typeface="Lexend"/>
                <a:ea typeface="Lexend"/>
                <a:cs typeface="Lexend"/>
                <a:sym typeface="Lexend"/>
              </a:rPr>
              <a:t> = 15² + 8²</a:t>
            </a:r>
            <a:endParaRPr sz="1800">
              <a:latin typeface="Lexend"/>
              <a:ea typeface="Lexend"/>
              <a:cs typeface="Lexend"/>
              <a:sym typeface="Lexend"/>
            </a:endParaRPr>
          </a:p>
        </p:txBody>
      </p:sp>
      <p:sp>
        <p:nvSpPr>
          <p:cNvPr id="853" name="Google Shape;853;p70"/>
          <p:cNvSpPr/>
          <p:nvPr/>
        </p:nvSpPr>
        <p:spPr>
          <a:xfrm flipH="1" rot="5400000">
            <a:off x="5840138" y="1583088"/>
            <a:ext cx="2741700" cy="1212000"/>
          </a:xfrm>
          <a:prstGeom prst="rtTriangle">
            <a:avLst/>
          </a:prstGeom>
          <a:solidFill>
            <a:srgbClr val="F3EEFB"/>
          </a:solidFill>
          <a:ln cap="flat" cmpd="sng" w="28575">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4" name="Google Shape;854;p70"/>
          <p:cNvSpPr/>
          <p:nvPr/>
        </p:nvSpPr>
        <p:spPr>
          <a:xfrm flipH="1" rot="5400000">
            <a:off x="7277037" y="3026863"/>
            <a:ext cx="1071600" cy="1071600"/>
          </a:xfrm>
          <a:prstGeom prst="arc">
            <a:avLst>
              <a:gd fmla="val 1363875" name="adj1"/>
              <a:gd fmla="val 5301610"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5" name="Google Shape;855;p70"/>
          <p:cNvSpPr txBox="1"/>
          <p:nvPr/>
        </p:nvSpPr>
        <p:spPr>
          <a:xfrm flipH="1">
            <a:off x="6803888" y="3731888"/>
            <a:ext cx="81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8 cm</a:t>
            </a:r>
            <a:endParaRPr sz="1800">
              <a:latin typeface="Lexend"/>
              <a:ea typeface="Lexend"/>
              <a:cs typeface="Lexend"/>
              <a:sym typeface="Lexend"/>
            </a:endParaRPr>
          </a:p>
        </p:txBody>
      </p:sp>
      <p:sp>
        <p:nvSpPr>
          <p:cNvPr id="856" name="Google Shape;856;p70"/>
          <p:cNvSpPr txBox="1"/>
          <p:nvPr/>
        </p:nvSpPr>
        <p:spPr>
          <a:xfrm flipH="1">
            <a:off x="5632887" y="2027238"/>
            <a:ext cx="81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15 cm</a:t>
            </a:r>
            <a:endParaRPr sz="1800">
              <a:latin typeface="Lexend"/>
              <a:ea typeface="Lexend"/>
              <a:cs typeface="Lexend"/>
              <a:sym typeface="Lexend"/>
            </a:endParaRPr>
          </a:p>
        </p:txBody>
      </p:sp>
      <p:sp>
        <p:nvSpPr>
          <p:cNvPr id="857" name="Google Shape;857;p70"/>
          <p:cNvSpPr/>
          <p:nvPr/>
        </p:nvSpPr>
        <p:spPr>
          <a:xfrm flipH="1" rot="5400000">
            <a:off x="5382750" y="-379350"/>
            <a:ext cx="2457300" cy="2457300"/>
          </a:xfrm>
          <a:prstGeom prst="arc">
            <a:avLst>
              <a:gd fmla="val 10799790" name="adj1"/>
              <a:gd fmla="val 12233440"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8" name="Google Shape;858;p70"/>
          <p:cNvSpPr txBox="1"/>
          <p:nvPr/>
        </p:nvSpPr>
        <p:spPr>
          <a:xfrm flipH="1">
            <a:off x="6434373" y="1754564"/>
            <a:ext cx="81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28°</a:t>
            </a:r>
            <a:endParaRPr sz="1800">
              <a:latin typeface="Lexend"/>
              <a:ea typeface="Lexend"/>
              <a:cs typeface="Lexend"/>
              <a:sym typeface="Lexend"/>
            </a:endParaRPr>
          </a:p>
        </p:txBody>
      </p:sp>
      <p:sp>
        <p:nvSpPr>
          <p:cNvPr id="859" name="Google Shape;859;p70"/>
          <p:cNvSpPr txBox="1"/>
          <p:nvPr/>
        </p:nvSpPr>
        <p:spPr>
          <a:xfrm flipH="1">
            <a:off x="7115888" y="3280599"/>
            <a:ext cx="81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62°</a:t>
            </a:r>
            <a:endParaRPr sz="1800">
              <a:latin typeface="Lexend"/>
              <a:ea typeface="Lexend"/>
              <a:cs typeface="Lexend"/>
              <a:sym typeface="Lexend"/>
            </a:endParaRPr>
          </a:p>
        </p:txBody>
      </p:sp>
      <p:sp>
        <p:nvSpPr>
          <p:cNvPr id="860" name="Google Shape;860;p70"/>
          <p:cNvSpPr/>
          <p:nvPr/>
        </p:nvSpPr>
        <p:spPr>
          <a:xfrm flipH="1" rot="5400000">
            <a:off x="6605000" y="3280600"/>
            <a:ext cx="270300" cy="2703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1" name="Google Shape;861;p70"/>
          <p:cNvSpPr txBox="1"/>
          <p:nvPr/>
        </p:nvSpPr>
        <p:spPr>
          <a:xfrm flipH="1">
            <a:off x="323875" y="823300"/>
            <a:ext cx="49083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latin typeface="Lexend"/>
                <a:ea typeface="Lexend"/>
                <a:cs typeface="Lexend"/>
                <a:sym typeface="Lexend"/>
              </a:rPr>
              <a:t>We can now use Pythagoras’ theorem to calculate the length of the missing side - this time the hypotenuse.</a:t>
            </a:r>
            <a:endParaRPr sz="1800">
              <a:latin typeface="Lexend"/>
              <a:ea typeface="Lexend"/>
              <a:cs typeface="Lexend"/>
              <a:sym typeface="Lexend"/>
            </a:endParaRPr>
          </a:p>
        </p:txBody>
      </p:sp>
      <p:sp>
        <p:nvSpPr>
          <p:cNvPr id="862" name="Google Shape;862;p70"/>
          <p:cNvSpPr txBox="1"/>
          <p:nvPr/>
        </p:nvSpPr>
        <p:spPr>
          <a:xfrm flipH="1">
            <a:off x="933375" y="3008850"/>
            <a:ext cx="348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hypotenuse </a:t>
            </a:r>
            <a:r>
              <a:rPr lang="en-GB" sz="400">
                <a:solidFill>
                  <a:schemeClr val="dk1"/>
                </a:solidFill>
                <a:latin typeface="Lexend"/>
                <a:ea typeface="Lexend"/>
                <a:cs typeface="Lexend"/>
                <a:sym typeface="Lexend"/>
              </a:rPr>
              <a:t> </a:t>
            </a:r>
            <a:r>
              <a:rPr lang="en-GB" sz="1800">
                <a:latin typeface="Lexend"/>
                <a:ea typeface="Lexend"/>
                <a:cs typeface="Lexend"/>
                <a:sym typeface="Lexend"/>
              </a:rPr>
              <a:t> =   289 = 17</a:t>
            </a:r>
            <a:endParaRPr sz="1800">
              <a:latin typeface="Lexend"/>
              <a:ea typeface="Lexend"/>
              <a:cs typeface="Lexend"/>
              <a:sym typeface="Lexend"/>
            </a:endParaRPr>
          </a:p>
        </p:txBody>
      </p:sp>
      <p:sp>
        <p:nvSpPr>
          <p:cNvPr id="863" name="Google Shape;863;p70"/>
          <p:cNvSpPr txBox="1"/>
          <p:nvPr/>
        </p:nvSpPr>
        <p:spPr>
          <a:xfrm rot="3966563">
            <a:off x="6201463" y="1883088"/>
            <a:ext cx="2622276" cy="323672"/>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hypotenuse</a:t>
            </a:r>
            <a:endParaRPr sz="1800">
              <a:latin typeface="Lexend"/>
              <a:ea typeface="Lexend"/>
              <a:cs typeface="Lexend"/>
              <a:sym typeface="Lexend"/>
            </a:endParaRPr>
          </a:p>
        </p:txBody>
      </p:sp>
      <p:pic>
        <p:nvPicPr>
          <p:cNvPr descr="&lt;math xmlns=&quot;http://www.w3.org/1998/Math/MathML&quot; display=&quot;block&quot; data-is-equatio=&quot;1&quot; data-latex=&quot;\sqrt{\ \ \ \ \ \ \ \ \ \ \ \ \ \ \ \ \ \ \ \ \ \ }&quot;&gt;&lt;msqr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sqrt&gt;&lt;/math&gt;" id="864" name="Google Shape;864;p70" title="the square root of"/>
          <p:cNvPicPr preferRelativeResize="0"/>
          <p:nvPr/>
        </p:nvPicPr>
        <p:blipFill rotWithShape="1">
          <a:blip r:embed="rId3">
            <a:alphaModFix/>
          </a:blip>
          <a:srcRect b="0" l="0" r="59151" t="0"/>
          <a:stretch/>
        </p:blipFill>
        <p:spPr>
          <a:xfrm>
            <a:off x="2526383" y="2990873"/>
            <a:ext cx="550500" cy="262850"/>
          </a:xfrm>
          <a:prstGeom prst="rect">
            <a:avLst/>
          </a:prstGeom>
          <a:noFill/>
          <a:ln>
            <a:noFill/>
          </a:ln>
        </p:spPr>
      </p:pic>
      <p:sp>
        <p:nvSpPr>
          <p:cNvPr id="865" name="Google Shape;865;p70"/>
          <p:cNvSpPr txBox="1"/>
          <p:nvPr/>
        </p:nvSpPr>
        <p:spPr>
          <a:xfrm rot="3966760">
            <a:off x="6653388" y="2033064"/>
            <a:ext cx="1881022" cy="323672"/>
          </a:xfrm>
          <a:prstGeom prst="rect">
            <a:avLst/>
          </a:prstGeom>
          <a:solidFill>
            <a:schemeClr val="lt1"/>
          </a:solid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17 cm</a:t>
            </a:r>
            <a:endParaRPr sz="1800">
              <a:latin typeface="Lexend"/>
              <a:ea typeface="Lexend"/>
              <a:cs typeface="Lexend"/>
              <a:sym typeface="Lexend"/>
            </a:endParaRPr>
          </a:p>
        </p:txBody>
      </p:sp>
      <p:sp>
        <p:nvSpPr>
          <p:cNvPr id="866" name="Google Shape;866;p70"/>
          <p:cNvSpPr/>
          <p:nvPr/>
        </p:nvSpPr>
        <p:spPr>
          <a:xfrm flipH="1" rot="5400000">
            <a:off x="5840138" y="1583088"/>
            <a:ext cx="2741700" cy="1212000"/>
          </a:xfrm>
          <a:prstGeom prst="rtTriangle">
            <a:avLst/>
          </a:prstGeom>
          <a:noFill/>
          <a:ln cap="flat" cmpd="sng" w="28575">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67" name="Google Shape;867;p70"/>
          <p:cNvCxnSpPr/>
          <p:nvPr/>
        </p:nvCxnSpPr>
        <p:spPr>
          <a:xfrm rot="10800000">
            <a:off x="6611525" y="3661375"/>
            <a:ext cx="1142700" cy="9300"/>
          </a:xfrm>
          <a:prstGeom prst="straightConnector1">
            <a:avLst/>
          </a:prstGeom>
          <a:noFill/>
          <a:ln cap="flat" cmpd="sng" w="28575">
            <a:solidFill>
              <a:schemeClr val="accent4"/>
            </a:solidFill>
            <a:prstDash val="solid"/>
            <a:round/>
            <a:headEnd len="med" w="med" type="triangle"/>
            <a:tailEnd len="med" w="med" type="triangle"/>
          </a:ln>
        </p:spPr>
      </p:cxnSp>
      <p:cxnSp>
        <p:nvCxnSpPr>
          <p:cNvPr id="868" name="Google Shape;868;p70"/>
          <p:cNvCxnSpPr/>
          <p:nvPr/>
        </p:nvCxnSpPr>
        <p:spPr>
          <a:xfrm>
            <a:off x="6740288" y="789249"/>
            <a:ext cx="1189800" cy="2653200"/>
          </a:xfrm>
          <a:prstGeom prst="straightConnector1">
            <a:avLst/>
          </a:prstGeom>
          <a:noFill/>
          <a:ln cap="flat" cmpd="sng" w="28575">
            <a:solidFill>
              <a:schemeClr val="accent4"/>
            </a:solidFill>
            <a:prstDash val="solid"/>
            <a:round/>
            <a:headEnd len="med" w="med" type="triangle"/>
            <a:tailEnd len="med" w="med" type="triangle"/>
          </a:ln>
        </p:spPr>
      </p:cxnSp>
      <p:cxnSp>
        <p:nvCxnSpPr>
          <p:cNvPr id="869" name="Google Shape;869;p70"/>
          <p:cNvCxnSpPr/>
          <p:nvPr/>
        </p:nvCxnSpPr>
        <p:spPr>
          <a:xfrm flipH="1">
            <a:off x="6484075" y="810000"/>
            <a:ext cx="19200" cy="2733900"/>
          </a:xfrm>
          <a:prstGeom prst="straightConnector1">
            <a:avLst/>
          </a:prstGeom>
          <a:noFill/>
          <a:ln cap="flat" cmpd="sng" w="28575">
            <a:solidFill>
              <a:schemeClr val="accent4"/>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Identifying the hypotenuse</a:t>
            </a:r>
            <a:endParaRPr/>
          </a:p>
        </p:txBody>
      </p:sp>
      <p:sp>
        <p:nvSpPr>
          <p:cNvPr id="875" name="Google Shape;875;p71"/>
          <p:cNvSpPr txBox="1"/>
          <p:nvPr/>
        </p:nvSpPr>
        <p:spPr>
          <a:xfrm flipH="1">
            <a:off x="324000" y="613195"/>
            <a:ext cx="849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latin typeface="Lexend"/>
                <a:ea typeface="Lexend"/>
                <a:cs typeface="Lexend"/>
                <a:sym typeface="Lexend"/>
              </a:rPr>
              <a:t>Which of these four triangles are right-angled triangles?</a:t>
            </a:r>
            <a:endParaRPr sz="1800">
              <a:latin typeface="Lexend"/>
              <a:ea typeface="Lexend"/>
              <a:cs typeface="Lexend"/>
              <a:sym typeface="Lexend"/>
            </a:endParaRPr>
          </a:p>
        </p:txBody>
      </p:sp>
      <p:sp>
        <p:nvSpPr>
          <p:cNvPr id="876" name="Google Shape;876;p71"/>
          <p:cNvSpPr/>
          <p:nvPr/>
        </p:nvSpPr>
        <p:spPr>
          <a:xfrm flipH="1" rot="5400000">
            <a:off x="-40476" y="26725"/>
            <a:ext cx="2515800" cy="2515800"/>
          </a:xfrm>
          <a:prstGeom prst="arc">
            <a:avLst>
              <a:gd fmla="val 10799790" name="adj1"/>
              <a:gd fmla="val 11742007"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7" name="Google Shape;877;p71"/>
          <p:cNvSpPr txBox="1"/>
          <p:nvPr/>
        </p:nvSpPr>
        <p:spPr>
          <a:xfrm flipH="1">
            <a:off x="1144638" y="2193474"/>
            <a:ext cx="4623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9°</a:t>
            </a:r>
            <a:endParaRPr sz="1800">
              <a:latin typeface="Lexend"/>
              <a:ea typeface="Lexend"/>
              <a:cs typeface="Lexend"/>
              <a:sym typeface="Lexend"/>
            </a:endParaRPr>
          </a:p>
        </p:txBody>
      </p:sp>
      <p:sp>
        <p:nvSpPr>
          <p:cNvPr id="878" name="Google Shape;878;p71"/>
          <p:cNvSpPr/>
          <p:nvPr/>
        </p:nvSpPr>
        <p:spPr>
          <a:xfrm flipH="1" rot="5400000">
            <a:off x="1480799" y="3562900"/>
            <a:ext cx="1056000" cy="1056000"/>
          </a:xfrm>
          <a:prstGeom prst="arc">
            <a:avLst>
              <a:gd fmla="val 937916" name="adj1"/>
              <a:gd fmla="val 5419468"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9" name="Google Shape;879;p71"/>
          <p:cNvSpPr txBox="1"/>
          <p:nvPr/>
        </p:nvSpPr>
        <p:spPr>
          <a:xfrm flipH="1">
            <a:off x="1517220" y="3780000"/>
            <a:ext cx="4623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81°</a:t>
            </a:r>
            <a:endParaRPr sz="1800">
              <a:latin typeface="Lexend"/>
              <a:ea typeface="Lexend"/>
              <a:cs typeface="Lexend"/>
              <a:sym typeface="Lexend"/>
            </a:endParaRPr>
          </a:p>
        </p:txBody>
      </p:sp>
      <p:sp>
        <p:nvSpPr>
          <p:cNvPr id="880" name="Google Shape;880;p71"/>
          <p:cNvSpPr txBox="1"/>
          <p:nvPr/>
        </p:nvSpPr>
        <p:spPr>
          <a:xfrm flipH="1">
            <a:off x="262161" y="2561800"/>
            <a:ext cx="81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72 cm</a:t>
            </a:r>
            <a:endParaRPr sz="1800">
              <a:latin typeface="Lexend"/>
              <a:ea typeface="Lexend"/>
              <a:cs typeface="Lexend"/>
              <a:sym typeface="Lexend"/>
            </a:endParaRPr>
          </a:p>
        </p:txBody>
      </p:sp>
      <p:sp>
        <p:nvSpPr>
          <p:cNvPr id="881" name="Google Shape;881;p71"/>
          <p:cNvSpPr txBox="1"/>
          <p:nvPr/>
        </p:nvSpPr>
        <p:spPr>
          <a:xfrm flipH="1">
            <a:off x="1215861" y="4250875"/>
            <a:ext cx="81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12 cm</a:t>
            </a:r>
            <a:endParaRPr sz="1800">
              <a:latin typeface="Lexend"/>
              <a:ea typeface="Lexend"/>
              <a:cs typeface="Lexend"/>
              <a:sym typeface="Lexend"/>
            </a:endParaRPr>
          </a:p>
        </p:txBody>
      </p:sp>
      <p:sp>
        <p:nvSpPr>
          <p:cNvPr id="882" name="Google Shape;882;p71"/>
          <p:cNvSpPr/>
          <p:nvPr/>
        </p:nvSpPr>
        <p:spPr>
          <a:xfrm flipH="1" rot="5400000">
            <a:off x="179234" y="2256964"/>
            <a:ext cx="2870400" cy="798300"/>
          </a:xfrm>
          <a:prstGeom prst="rtTriangle">
            <a:avLst/>
          </a:prstGeom>
          <a:noFill/>
          <a:ln cap="flat" cmpd="sng" w="28575">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3" name="Google Shape;883;p71"/>
          <p:cNvSpPr/>
          <p:nvPr/>
        </p:nvSpPr>
        <p:spPr>
          <a:xfrm flipH="1" rot="8787904">
            <a:off x="5257810" y="2502173"/>
            <a:ext cx="1999347" cy="1797622"/>
          </a:xfrm>
          <a:prstGeom prst="rtTriangle">
            <a:avLst/>
          </a:prstGeom>
          <a:solidFill>
            <a:srgbClr val="F3EEFB"/>
          </a:solidFill>
          <a:ln cap="flat" cmpd="sng" w="28575">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4" name="Google Shape;884;p71"/>
          <p:cNvSpPr/>
          <p:nvPr/>
        </p:nvSpPr>
        <p:spPr>
          <a:xfrm flipH="1" rot="8787326">
            <a:off x="5261205" y="4031013"/>
            <a:ext cx="1310567" cy="1310567"/>
          </a:xfrm>
          <a:prstGeom prst="arc">
            <a:avLst>
              <a:gd fmla="val 2465196" name="adj1"/>
              <a:gd fmla="val 5419468"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5" name="Google Shape;885;p71"/>
          <p:cNvSpPr/>
          <p:nvPr/>
        </p:nvSpPr>
        <p:spPr>
          <a:xfrm flipH="1" rot="8787326">
            <a:off x="5920867" y="1473438"/>
            <a:ext cx="1310567" cy="1310567"/>
          </a:xfrm>
          <a:prstGeom prst="arc">
            <a:avLst>
              <a:gd fmla="val 10740252" name="adj1"/>
              <a:gd fmla="val 13367975"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6" name="Google Shape;886;p71"/>
          <p:cNvSpPr txBox="1"/>
          <p:nvPr/>
        </p:nvSpPr>
        <p:spPr>
          <a:xfrm flipH="1" rot="1266">
            <a:off x="4549455" y="3924041"/>
            <a:ext cx="8145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36 cm</a:t>
            </a:r>
            <a:endParaRPr sz="1800">
              <a:latin typeface="Lexend"/>
              <a:ea typeface="Lexend"/>
              <a:cs typeface="Lexend"/>
              <a:sym typeface="Lexend"/>
            </a:endParaRPr>
          </a:p>
        </p:txBody>
      </p:sp>
      <p:sp>
        <p:nvSpPr>
          <p:cNvPr id="887" name="Google Shape;887;p71"/>
          <p:cNvSpPr txBox="1"/>
          <p:nvPr/>
        </p:nvSpPr>
        <p:spPr>
          <a:xfrm flipH="1" rot="-1266">
            <a:off x="6321311" y="3405387"/>
            <a:ext cx="8145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54 cm</a:t>
            </a:r>
            <a:endParaRPr sz="1800">
              <a:latin typeface="Lexend"/>
              <a:ea typeface="Lexend"/>
              <a:cs typeface="Lexend"/>
              <a:sym typeface="Lexend"/>
            </a:endParaRPr>
          </a:p>
        </p:txBody>
      </p:sp>
      <p:sp>
        <p:nvSpPr>
          <p:cNvPr id="888" name="Google Shape;888;p71"/>
          <p:cNvSpPr txBox="1"/>
          <p:nvPr/>
        </p:nvSpPr>
        <p:spPr>
          <a:xfrm flipH="1" rot="1973">
            <a:off x="5592276" y="4087535"/>
            <a:ext cx="5226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48°</a:t>
            </a:r>
            <a:endParaRPr sz="1800">
              <a:latin typeface="Lexend"/>
              <a:ea typeface="Lexend"/>
              <a:cs typeface="Lexend"/>
              <a:sym typeface="Lexend"/>
            </a:endParaRPr>
          </a:p>
        </p:txBody>
      </p:sp>
      <p:sp>
        <p:nvSpPr>
          <p:cNvPr id="889" name="Google Shape;889;p71"/>
          <p:cNvSpPr/>
          <p:nvPr/>
        </p:nvSpPr>
        <p:spPr>
          <a:xfrm flipH="1" rot="-8312316">
            <a:off x="2419106" y="1425665"/>
            <a:ext cx="1999393" cy="1797650"/>
          </a:xfrm>
          <a:prstGeom prst="rtTriangle">
            <a:avLst/>
          </a:prstGeom>
          <a:solidFill>
            <a:srgbClr val="F3EEFB"/>
          </a:solidFill>
          <a:ln cap="flat" cmpd="sng" w="28575">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0" name="Google Shape;890;p71"/>
          <p:cNvSpPr/>
          <p:nvPr/>
        </p:nvSpPr>
        <p:spPr>
          <a:xfrm flipH="1" rot="-8312706">
            <a:off x="1433836" y="1672345"/>
            <a:ext cx="1310514" cy="1310514"/>
          </a:xfrm>
          <a:prstGeom prst="arc">
            <a:avLst>
              <a:gd fmla="val 2465196" name="adj1"/>
              <a:gd fmla="val 5419468"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1" name="Google Shape;891;p71"/>
          <p:cNvSpPr/>
          <p:nvPr/>
        </p:nvSpPr>
        <p:spPr>
          <a:xfrm flipH="1" rot="-8312706">
            <a:off x="4087687" y="1648060"/>
            <a:ext cx="1310514" cy="1310514"/>
          </a:xfrm>
          <a:prstGeom prst="arc">
            <a:avLst>
              <a:gd fmla="val 10740252" name="adj1"/>
              <a:gd fmla="val 13367975"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2" name="Google Shape;892;p71"/>
          <p:cNvSpPr txBox="1"/>
          <p:nvPr/>
        </p:nvSpPr>
        <p:spPr>
          <a:xfrm flipH="1" rot="-2913240">
            <a:off x="2072448" y="1304118"/>
            <a:ext cx="814456" cy="323705"/>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34 cm</a:t>
            </a:r>
            <a:endParaRPr sz="1800">
              <a:latin typeface="Lexend"/>
              <a:ea typeface="Lexend"/>
              <a:cs typeface="Lexend"/>
              <a:sym typeface="Lexend"/>
            </a:endParaRPr>
          </a:p>
        </p:txBody>
      </p:sp>
      <p:sp>
        <p:nvSpPr>
          <p:cNvPr id="893" name="Google Shape;893;p71"/>
          <p:cNvSpPr txBox="1"/>
          <p:nvPr/>
        </p:nvSpPr>
        <p:spPr>
          <a:xfrm flipH="1" rot="-34199">
            <a:off x="2908746" y="2447316"/>
            <a:ext cx="814240" cy="323717"/>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56 cm</a:t>
            </a:r>
            <a:endParaRPr sz="1800">
              <a:latin typeface="Lexend"/>
              <a:ea typeface="Lexend"/>
              <a:cs typeface="Lexend"/>
              <a:sym typeface="Lexend"/>
            </a:endParaRPr>
          </a:p>
        </p:txBody>
      </p:sp>
      <p:sp>
        <p:nvSpPr>
          <p:cNvPr id="894" name="Google Shape;894;p71"/>
          <p:cNvSpPr txBox="1"/>
          <p:nvPr/>
        </p:nvSpPr>
        <p:spPr>
          <a:xfrm flipH="1" rot="1266">
            <a:off x="2052630" y="2041582"/>
            <a:ext cx="8145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48°</a:t>
            </a:r>
            <a:endParaRPr sz="1800">
              <a:latin typeface="Lexend"/>
              <a:ea typeface="Lexend"/>
              <a:cs typeface="Lexend"/>
              <a:sym typeface="Lexend"/>
            </a:endParaRPr>
          </a:p>
        </p:txBody>
      </p:sp>
      <p:sp>
        <p:nvSpPr>
          <p:cNvPr id="895" name="Google Shape;895;p71"/>
          <p:cNvSpPr txBox="1"/>
          <p:nvPr/>
        </p:nvSpPr>
        <p:spPr>
          <a:xfrm flipH="1" rot="1266">
            <a:off x="3949711" y="2050535"/>
            <a:ext cx="8145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47°</a:t>
            </a:r>
            <a:endParaRPr sz="1800">
              <a:latin typeface="Lexend"/>
              <a:ea typeface="Lexend"/>
              <a:cs typeface="Lexend"/>
              <a:sym typeface="Lexend"/>
            </a:endParaRPr>
          </a:p>
        </p:txBody>
      </p:sp>
      <p:sp>
        <p:nvSpPr>
          <p:cNvPr id="896" name="Google Shape;896;p71"/>
          <p:cNvSpPr txBox="1"/>
          <p:nvPr/>
        </p:nvSpPr>
        <p:spPr>
          <a:xfrm flipH="1" rot="2532">
            <a:off x="5908592" y="2362337"/>
            <a:ext cx="8145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4</a:t>
            </a:r>
            <a:r>
              <a:rPr lang="en-GB" sz="1800">
                <a:latin typeface="Lexend"/>
                <a:ea typeface="Lexend"/>
                <a:cs typeface="Lexend"/>
                <a:sym typeface="Lexend"/>
              </a:rPr>
              <a:t>2°</a:t>
            </a:r>
            <a:endParaRPr sz="1800">
              <a:latin typeface="Lexend"/>
              <a:ea typeface="Lexend"/>
              <a:cs typeface="Lexend"/>
              <a:sym typeface="Lexend"/>
            </a:endParaRPr>
          </a:p>
        </p:txBody>
      </p:sp>
      <p:sp>
        <p:nvSpPr>
          <p:cNvPr id="897" name="Google Shape;897;p71"/>
          <p:cNvSpPr/>
          <p:nvPr/>
        </p:nvSpPr>
        <p:spPr>
          <a:xfrm flipH="1" rot="8787752">
            <a:off x="5257798" y="2502190"/>
            <a:ext cx="1999341" cy="1797567"/>
          </a:xfrm>
          <a:prstGeom prst="rtTriangle">
            <a:avLst/>
          </a:prstGeom>
          <a:noFill/>
          <a:ln cap="flat" cmpd="sng" w="28575">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8" name="Google Shape;898;p71"/>
          <p:cNvSpPr/>
          <p:nvPr/>
        </p:nvSpPr>
        <p:spPr>
          <a:xfrm rot="4664639">
            <a:off x="6551334" y="2286905"/>
            <a:ext cx="2870668" cy="798374"/>
          </a:xfrm>
          <a:prstGeom prst="rtTriangle">
            <a:avLst/>
          </a:prstGeom>
          <a:solidFill>
            <a:srgbClr val="F3EEFB"/>
          </a:solidFill>
          <a:ln cap="flat" cmpd="sng" w="28575">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9" name="Google Shape;899;p71"/>
          <p:cNvSpPr/>
          <p:nvPr/>
        </p:nvSpPr>
        <p:spPr>
          <a:xfrm rot="4664831">
            <a:off x="6454033" y="2675268"/>
            <a:ext cx="2870999" cy="2870999"/>
          </a:xfrm>
          <a:prstGeom prst="arc">
            <a:avLst>
              <a:gd fmla="val 10799790" name="adj1"/>
              <a:gd fmla="val 11742007"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0" name="Google Shape;900;p71"/>
          <p:cNvSpPr txBox="1"/>
          <p:nvPr/>
        </p:nvSpPr>
        <p:spPr>
          <a:xfrm rot="2231">
            <a:off x="7569401" y="2684008"/>
            <a:ext cx="462300" cy="324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11°</a:t>
            </a:r>
            <a:endParaRPr sz="1800">
              <a:latin typeface="Lexend"/>
              <a:ea typeface="Lexend"/>
              <a:cs typeface="Lexend"/>
              <a:sym typeface="Lexend"/>
            </a:endParaRPr>
          </a:p>
        </p:txBody>
      </p:sp>
      <p:sp>
        <p:nvSpPr>
          <p:cNvPr id="901" name="Google Shape;901;p71"/>
          <p:cNvSpPr/>
          <p:nvPr/>
        </p:nvSpPr>
        <p:spPr>
          <a:xfrm rot="4664902">
            <a:off x="7539124" y="672502"/>
            <a:ext cx="1056052" cy="1056052"/>
          </a:xfrm>
          <a:prstGeom prst="arc">
            <a:avLst>
              <a:gd fmla="val 937916" name="adj1"/>
              <a:gd fmla="val 5419468"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2" name="Google Shape;902;p71"/>
          <p:cNvSpPr txBox="1"/>
          <p:nvPr/>
        </p:nvSpPr>
        <p:spPr>
          <a:xfrm rot="2231">
            <a:off x="7628968" y="1306447"/>
            <a:ext cx="462300" cy="324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78°</a:t>
            </a:r>
            <a:endParaRPr sz="1800">
              <a:latin typeface="Lexend"/>
              <a:ea typeface="Lexend"/>
              <a:cs typeface="Lexend"/>
              <a:sym typeface="Lexend"/>
            </a:endParaRPr>
          </a:p>
        </p:txBody>
      </p:sp>
      <p:sp>
        <p:nvSpPr>
          <p:cNvPr id="903" name="Google Shape;903;p71"/>
          <p:cNvSpPr txBox="1"/>
          <p:nvPr/>
        </p:nvSpPr>
        <p:spPr>
          <a:xfrm rot="-735241">
            <a:off x="7192041" y="822859"/>
            <a:ext cx="814149" cy="323934"/>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13 cm</a:t>
            </a:r>
            <a:endParaRPr sz="1800">
              <a:latin typeface="Lexend"/>
              <a:ea typeface="Lexend"/>
              <a:cs typeface="Lexend"/>
              <a:sym typeface="Lexend"/>
            </a:endParaRPr>
          </a:p>
        </p:txBody>
      </p:sp>
      <p:sp>
        <p:nvSpPr>
          <p:cNvPr id="904" name="Google Shape;904;p71"/>
          <p:cNvSpPr/>
          <p:nvPr/>
        </p:nvSpPr>
        <p:spPr>
          <a:xfrm flipH="1" rot="-8312783">
            <a:off x="2419313" y="1425949"/>
            <a:ext cx="1999355" cy="1797653"/>
          </a:xfrm>
          <a:prstGeom prst="rtTriangle">
            <a:avLst/>
          </a:prstGeom>
          <a:noFill/>
          <a:ln cap="flat" cmpd="sng" w="28575">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5" name="Google Shape;905;p71"/>
          <p:cNvSpPr txBox="1"/>
          <p:nvPr/>
        </p:nvSpPr>
        <p:spPr>
          <a:xfrm rot="2533">
            <a:off x="8051703" y="2684022"/>
            <a:ext cx="814200" cy="324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68 cm</a:t>
            </a:r>
            <a:endParaRPr sz="1800">
              <a:latin typeface="Lexend"/>
              <a:ea typeface="Lexend"/>
              <a:cs typeface="Lexend"/>
              <a:sym typeface="Lexend"/>
            </a:endParaRPr>
          </a:p>
        </p:txBody>
      </p:sp>
      <p:sp>
        <p:nvSpPr>
          <p:cNvPr id="906" name="Google Shape;906;p71"/>
          <p:cNvSpPr/>
          <p:nvPr/>
        </p:nvSpPr>
        <p:spPr>
          <a:xfrm rot="4664755">
            <a:off x="6551211" y="2286883"/>
            <a:ext cx="2870706" cy="798498"/>
          </a:xfrm>
          <a:prstGeom prst="rtTriangle">
            <a:avLst/>
          </a:prstGeom>
          <a:noFill/>
          <a:ln cap="flat" cmpd="sng" w="28575">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907" name="Google Shape;907;p71"/>
          <p:cNvPicPr preferRelativeResize="0"/>
          <p:nvPr/>
        </p:nvPicPr>
        <p:blipFill>
          <a:blip r:embed="rId3">
            <a:alphaModFix/>
          </a:blip>
          <a:stretch>
            <a:fillRect/>
          </a:stretch>
        </p:blipFill>
        <p:spPr>
          <a:xfrm>
            <a:off x="1334807" y="3116978"/>
            <a:ext cx="274366" cy="274366"/>
          </a:xfrm>
          <a:prstGeom prst="rect">
            <a:avLst/>
          </a:prstGeom>
          <a:noFill/>
          <a:ln>
            <a:noFill/>
          </a:ln>
        </p:spPr>
      </p:pic>
      <p:sp>
        <p:nvSpPr>
          <p:cNvPr id="908" name="Google Shape;908;p71"/>
          <p:cNvSpPr txBox="1"/>
          <p:nvPr/>
        </p:nvSpPr>
        <p:spPr>
          <a:xfrm>
            <a:off x="1349577" y="3167574"/>
            <a:ext cx="244841" cy="16634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pic>
        <p:nvPicPr>
          <p:cNvPr id="909" name="Google Shape;909;p71"/>
          <p:cNvPicPr preferRelativeResize="0"/>
          <p:nvPr/>
        </p:nvPicPr>
        <p:blipFill>
          <a:blip r:embed="rId3">
            <a:alphaModFix/>
          </a:blip>
          <a:stretch>
            <a:fillRect/>
          </a:stretch>
        </p:blipFill>
        <p:spPr>
          <a:xfrm>
            <a:off x="5592558" y="3088151"/>
            <a:ext cx="274366" cy="274366"/>
          </a:xfrm>
          <a:prstGeom prst="rect">
            <a:avLst/>
          </a:prstGeom>
          <a:noFill/>
          <a:ln>
            <a:noFill/>
          </a:ln>
        </p:spPr>
      </p:pic>
      <p:sp>
        <p:nvSpPr>
          <p:cNvPr id="910" name="Google Shape;910;p71"/>
          <p:cNvSpPr txBox="1"/>
          <p:nvPr/>
        </p:nvSpPr>
        <p:spPr>
          <a:xfrm>
            <a:off x="5607328" y="3138747"/>
            <a:ext cx="244841" cy="16634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pic>
        <p:nvPicPr>
          <p:cNvPr id="911" name="Google Shape;911;p71"/>
          <p:cNvPicPr preferRelativeResize="0"/>
          <p:nvPr/>
        </p:nvPicPr>
        <p:blipFill>
          <a:blip r:embed="rId3">
            <a:alphaModFix/>
          </a:blip>
          <a:stretch>
            <a:fillRect/>
          </a:stretch>
        </p:blipFill>
        <p:spPr>
          <a:xfrm>
            <a:off x="7634879" y="1938042"/>
            <a:ext cx="274366" cy="274366"/>
          </a:xfrm>
          <a:prstGeom prst="rect">
            <a:avLst/>
          </a:prstGeom>
          <a:noFill/>
          <a:ln>
            <a:noFill/>
          </a:ln>
        </p:spPr>
      </p:pic>
      <p:sp>
        <p:nvSpPr>
          <p:cNvPr id="912" name="Google Shape;912;p71"/>
          <p:cNvSpPr txBox="1"/>
          <p:nvPr/>
        </p:nvSpPr>
        <p:spPr>
          <a:xfrm>
            <a:off x="7649649" y="1988638"/>
            <a:ext cx="244841" cy="16634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pic>
        <p:nvPicPr>
          <p:cNvPr id="913" name="Google Shape;913;p71"/>
          <p:cNvPicPr preferRelativeResize="0"/>
          <p:nvPr/>
        </p:nvPicPr>
        <p:blipFill>
          <a:blip r:embed="rId3">
            <a:alphaModFix/>
          </a:blip>
          <a:stretch>
            <a:fillRect/>
          </a:stretch>
        </p:blipFill>
        <p:spPr>
          <a:xfrm>
            <a:off x="3178696" y="1642013"/>
            <a:ext cx="274366" cy="274366"/>
          </a:xfrm>
          <a:prstGeom prst="rect">
            <a:avLst/>
          </a:prstGeom>
          <a:noFill/>
          <a:ln>
            <a:noFill/>
          </a:ln>
        </p:spPr>
      </p:pic>
      <p:sp>
        <p:nvSpPr>
          <p:cNvPr id="914" name="Google Shape;914;p71"/>
          <p:cNvSpPr txBox="1"/>
          <p:nvPr/>
        </p:nvSpPr>
        <p:spPr>
          <a:xfrm>
            <a:off x="3193466" y="1692609"/>
            <a:ext cx="244841" cy="16634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pic>
        <p:nvPicPr>
          <p:cNvPr id="915" name="Google Shape;915;p71"/>
          <p:cNvPicPr preferRelativeResize="0"/>
          <p:nvPr/>
        </p:nvPicPr>
        <p:blipFill>
          <a:blip r:embed="rId4">
            <a:alphaModFix/>
          </a:blip>
          <a:stretch>
            <a:fillRect/>
          </a:stretch>
        </p:blipFill>
        <p:spPr>
          <a:xfrm>
            <a:off x="1480796" y="3270100"/>
            <a:ext cx="396000" cy="419100"/>
          </a:xfrm>
          <a:prstGeom prst="rect">
            <a:avLst/>
          </a:prstGeom>
          <a:noFill/>
          <a:ln>
            <a:noFill/>
          </a:ln>
        </p:spPr>
      </p:pic>
      <p:pic>
        <p:nvPicPr>
          <p:cNvPr id="916" name="Google Shape;916;p71"/>
          <p:cNvPicPr preferRelativeResize="0"/>
          <p:nvPr/>
        </p:nvPicPr>
        <p:blipFill>
          <a:blip r:embed="rId4">
            <a:alphaModFix/>
          </a:blip>
          <a:stretch>
            <a:fillRect/>
          </a:stretch>
        </p:blipFill>
        <p:spPr>
          <a:xfrm>
            <a:off x="5737983" y="3197963"/>
            <a:ext cx="396000" cy="419100"/>
          </a:xfrm>
          <a:prstGeom prst="rect">
            <a:avLst/>
          </a:prstGeom>
          <a:noFill/>
          <a:ln>
            <a:noFill/>
          </a:ln>
        </p:spPr>
      </p:pic>
      <p:cxnSp>
        <p:nvCxnSpPr>
          <p:cNvPr id="917" name="Google Shape;917;p71"/>
          <p:cNvCxnSpPr>
            <a:endCxn id="894" idx="3"/>
          </p:cNvCxnSpPr>
          <p:nvPr/>
        </p:nvCxnSpPr>
        <p:spPr>
          <a:xfrm flipH="1">
            <a:off x="2052630" y="941782"/>
            <a:ext cx="1112100" cy="1261500"/>
          </a:xfrm>
          <a:prstGeom prst="straightConnector1">
            <a:avLst/>
          </a:prstGeom>
          <a:noFill/>
          <a:ln cap="flat" cmpd="sng" w="28575">
            <a:solidFill>
              <a:schemeClr val="accent4"/>
            </a:solidFill>
            <a:prstDash val="solid"/>
            <a:round/>
            <a:headEnd len="med" w="med" type="triangle"/>
            <a:tailEnd len="med" w="med" type="triangle"/>
          </a:ln>
        </p:spPr>
      </p:cxnSp>
      <p:cxnSp>
        <p:nvCxnSpPr>
          <p:cNvPr id="918" name="Google Shape;918;p71"/>
          <p:cNvCxnSpPr/>
          <p:nvPr/>
        </p:nvCxnSpPr>
        <p:spPr>
          <a:xfrm flipH="1" rot="10800000">
            <a:off x="4879025" y="2044975"/>
            <a:ext cx="1614000" cy="1041300"/>
          </a:xfrm>
          <a:prstGeom prst="straightConnector1">
            <a:avLst/>
          </a:prstGeom>
          <a:noFill/>
          <a:ln cap="flat" cmpd="sng" w="28575">
            <a:solidFill>
              <a:schemeClr val="accent4"/>
            </a:solidFill>
            <a:prstDash val="solid"/>
            <a:round/>
            <a:headEnd len="med" w="med" type="triangle"/>
            <a:tailEnd len="med" w="med" type="triangle"/>
          </a:ln>
        </p:spPr>
      </p:cxnSp>
      <p:cxnSp>
        <p:nvCxnSpPr>
          <p:cNvPr id="919" name="Google Shape;919;p71"/>
          <p:cNvCxnSpPr/>
          <p:nvPr/>
        </p:nvCxnSpPr>
        <p:spPr>
          <a:xfrm>
            <a:off x="3352123" y="900498"/>
            <a:ext cx="1488900" cy="1322700"/>
          </a:xfrm>
          <a:prstGeom prst="straightConnector1">
            <a:avLst/>
          </a:prstGeom>
          <a:noFill/>
          <a:ln cap="flat" cmpd="sng" w="28575">
            <a:solidFill>
              <a:schemeClr val="accent4"/>
            </a:solidFill>
            <a:prstDash val="solid"/>
            <a:round/>
            <a:headEnd len="med" w="med" type="triangle"/>
            <a:tailEnd len="med" w="med" type="triangle"/>
          </a:ln>
        </p:spPr>
      </p:cxnSp>
      <p:cxnSp>
        <p:nvCxnSpPr>
          <p:cNvPr id="920" name="Google Shape;920;p71"/>
          <p:cNvCxnSpPr/>
          <p:nvPr/>
        </p:nvCxnSpPr>
        <p:spPr>
          <a:xfrm>
            <a:off x="4828400" y="3243075"/>
            <a:ext cx="993900" cy="1500000"/>
          </a:xfrm>
          <a:prstGeom prst="straightConnector1">
            <a:avLst/>
          </a:prstGeom>
          <a:noFill/>
          <a:ln cap="flat" cmpd="sng" w="28575">
            <a:solidFill>
              <a:schemeClr val="accent4"/>
            </a:solidFill>
            <a:prstDash val="solid"/>
            <a:round/>
            <a:headEnd len="med" w="med" type="triangle"/>
            <a:tailEnd len="med" w="med" type="triangle"/>
          </a:ln>
        </p:spPr>
      </p:cxnSp>
      <p:cxnSp>
        <p:nvCxnSpPr>
          <p:cNvPr id="921" name="Google Shape;921;p71"/>
          <p:cNvCxnSpPr/>
          <p:nvPr/>
        </p:nvCxnSpPr>
        <p:spPr>
          <a:xfrm flipH="1" rot="10800000">
            <a:off x="7263650" y="1099450"/>
            <a:ext cx="769800" cy="165900"/>
          </a:xfrm>
          <a:prstGeom prst="straightConnector1">
            <a:avLst/>
          </a:prstGeom>
          <a:noFill/>
          <a:ln cap="flat" cmpd="sng" w="28575">
            <a:solidFill>
              <a:schemeClr val="accent4"/>
            </a:solidFill>
            <a:prstDash val="solid"/>
            <a:round/>
            <a:headEnd len="med" w="med" type="triangle"/>
            <a:tailEnd len="med" w="med" type="triangle"/>
          </a:ln>
        </p:spPr>
      </p:cxnSp>
      <p:cxnSp>
        <p:nvCxnSpPr>
          <p:cNvPr id="922" name="Google Shape;922;p71"/>
          <p:cNvCxnSpPr/>
          <p:nvPr/>
        </p:nvCxnSpPr>
        <p:spPr>
          <a:xfrm>
            <a:off x="1307225" y="1245425"/>
            <a:ext cx="825900" cy="2802000"/>
          </a:xfrm>
          <a:prstGeom prst="straightConnector1">
            <a:avLst/>
          </a:prstGeom>
          <a:noFill/>
          <a:ln cap="flat" cmpd="sng" w="28575">
            <a:solidFill>
              <a:schemeClr val="accent4"/>
            </a:solidFill>
            <a:prstDash val="solid"/>
            <a:round/>
            <a:headEnd len="med" w="med" type="triangle"/>
            <a:tailEnd len="med" w="med" type="triangle"/>
          </a:ln>
        </p:spPr>
      </p:cxnSp>
      <p:cxnSp>
        <p:nvCxnSpPr>
          <p:cNvPr id="923" name="Google Shape;923;p71"/>
          <p:cNvCxnSpPr/>
          <p:nvPr/>
        </p:nvCxnSpPr>
        <p:spPr>
          <a:xfrm flipH="1">
            <a:off x="6024875" y="2133500"/>
            <a:ext cx="671400" cy="2587500"/>
          </a:xfrm>
          <a:prstGeom prst="straightConnector1">
            <a:avLst/>
          </a:prstGeom>
          <a:noFill/>
          <a:ln cap="flat" cmpd="sng" w="28575">
            <a:solidFill>
              <a:schemeClr val="accent4"/>
            </a:solidFill>
            <a:prstDash val="solid"/>
            <a:round/>
            <a:headEnd len="med" w="med" type="triangle"/>
            <a:tailEnd len="med" w="med" type="triangle"/>
          </a:ln>
        </p:spPr>
      </p:cxnSp>
      <p:cxnSp>
        <p:nvCxnSpPr>
          <p:cNvPr id="924" name="Google Shape;924;p71"/>
          <p:cNvCxnSpPr/>
          <p:nvPr/>
        </p:nvCxnSpPr>
        <p:spPr>
          <a:xfrm flipH="1" rot="10800000">
            <a:off x="2101388" y="2441475"/>
            <a:ext cx="2625600" cy="1800"/>
          </a:xfrm>
          <a:prstGeom prst="straightConnector1">
            <a:avLst/>
          </a:prstGeom>
          <a:noFill/>
          <a:ln cap="flat" cmpd="sng" w="28575">
            <a:solidFill>
              <a:schemeClr val="accent4"/>
            </a:solidFill>
            <a:prstDash val="solid"/>
            <a:round/>
            <a:headEnd len="med" w="med" type="triangle"/>
            <a:tailEnd len="med" w="med" type="triangle"/>
          </a:ln>
        </p:spPr>
      </p:cxnSp>
      <p:cxnSp>
        <p:nvCxnSpPr>
          <p:cNvPr id="925" name="Google Shape;925;p71"/>
          <p:cNvCxnSpPr/>
          <p:nvPr/>
        </p:nvCxnSpPr>
        <p:spPr>
          <a:xfrm flipH="1">
            <a:off x="8018625" y="1194525"/>
            <a:ext cx="158400" cy="2963700"/>
          </a:xfrm>
          <a:prstGeom prst="straightConnector1">
            <a:avLst/>
          </a:prstGeom>
          <a:noFill/>
          <a:ln cap="flat" cmpd="sng" w="28575">
            <a:solidFill>
              <a:schemeClr val="accent4"/>
            </a:solidFill>
            <a:prstDash val="solid"/>
            <a:round/>
            <a:headEnd len="med" w="med" type="triangle"/>
            <a:tailEnd len="med" w="med" type="triangle"/>
          </a:ln>
        </p:spPr>
      </p:cxnSp>
      <p:cxnSp>
        <p:nvCxnSpPr>
          <p:cNvPr id="926" name="Google Shape;926;p71"/>
          <p:cNvCxnSpPr/>
          <p:nvPr/>
        </p:nvCxnSpPr>
        <p:spPr>
          <a:xfrm flipH="1">
            <a:off x="1060550" y="1239100"/>
            <a:ext cx="31500" cy="2830200"/>
          </a:xfrm>
          <a:prstGeom prst="straightConnector1">
            <a:avLst/>
          </a:prstGeom>
          <a:noFill/>
          <a:ln cap="flat" cmpd="sng" w="28575">
            <a:solidFill>
              <a:schemeClr val="accent4"/>
            </a:solidFill>
            <a:prstDash val="solid"/>
            <a:round/>
            <a:headEnd len="med" w="med" type="triangle"/>
            <a:tailEnd len="med" w="med" type="triangle"/>
          </a:ln>
        </p:spPr>
      </p:cxnSp>
      <p:cxnSp>
        <p:nvCxnSpPr>
          <p:cNvPr id="927" name="Google Shape;927;p71"/>
          <p:cNvCxnSpPr/>
          <p:nvPr/>
        </p:nvCxnSpPr>
        <p:spPr>
          <a:xfrm flipH="1" rot="10800000">
            <a:off x="1243150" y="4194500"/>
            <a:ext cx="759600" cy="6300"/>
          </a:xfrm>
          <a:prstGeom prst="straightConnector1">
            <a:avLst/>
          </a:prstGeom>
          <a:noFill/>
          <a:ln cap="flat" cmpd="sng" w="28575">
            <a:solidFill>
              <a:schemeClr val="accent4"/>
            </a:solidFill>
            <a:prstDash val="solid"/>
            <a:round/>
            <a:headEnd len="med" w="med" type="triangle"/>
            <a:tailEnd len="med" w="med" type="triangle"/>
          </a:ln>
        </p:spPr>
      </p:cxnSp>
      <p:cxnSp>
        <p:nvCxnSpPr>
          <p:cNvPr id="928" name="Google Shape;928;p71"/>
          <p:cNvCxnSpPr/>
          <p:nvPr/>
        </p:nvCxnSpPr>
        <p:spPr>
          <a:xfrm>
            <a:off x="7192825" y="1410750"/>
            <a:ext cx="600300" cy="2758500"/>
          </a:xfrm>
          <a:prstGeom prst="straightConnector1">
            <a:avLst/>
          </a:prstGeom>
          <a:noFill/>
          <a:ln cap="flat" cmpd="sng" w="28575">
            <a:solidFill>
              <a:schemeClr val="accent4"/>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8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Identifying the hypotenuse</a:t>
            </a:r>
            <a:endParaRPr/>
          </a:p>
        </p:txBody>
      </p:sp>
      <p:sp>
        <p:nvSpPr>
          <p:cNvPr id="934" name="Google Shape;934;p72"/>
          <p:cNvSpPr txBox="1"/>
          <p:nvPr/>
        </p:nvSpPr>
        <p:spPr>
          <a:xfrm flipH="1">
            <a:off x="324000" y="613195"/>
            <a:ext cx="849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latin typeface="Lexend"/>
                <a:ea typeface="Lexend"/>
                <a:cs typeface="Lexend"/>
                <a:sym typeface="Lexend"/>
              </a:rPr>
              <a:t>Which of the sides in each of these right-angled triangles is the hypotenuse?</a:t>
            </a:r>
            <a:endParaRPr sz="1800">
              <a:latin typeface="Lexend"/>
              <a:ea typeface="Lexend"/>
              <a:cs typeface="Lexend"/>
              <a:sym typeface="Lexend"/>
            </a:endParaRPr>
          </a:p>
        </p:txBody>
      </p:sp>
      <p:sp>
        <p:nvSpPr>
          <p:cNvPr id="935" name="Google Shape;935;p72"/>
          <p:cNvSpPr/>
          <p:nvPr/>
        </p:nvSpPr>
        <p:spPr>
          <a:xfrm flipH="1" rot="5400000">
            <a:off x="179234" y="2256964"/>
            <a:ext cx="2870400" cy="798300"/>
          </a:xfrm>
          <a:prstGeom prst="rtTriangle">
            <a:avLst/>
          </a:prstGeom>
          <a:solidFill>
            <a:srgbClr val="F3EEFB"/>
          </a:solidFill>
          <a:ln cap="flat" cmpd="sng" w="28575">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6" name="Google Shape;936;p72"/>
          <p:cNvSpPr/>
          <p:nvPr/>
        </p:nvSpPr>
        <p:spPr>
          <a:xfrm flipH="1" rot="5400000">
            <a:off x="-40476" y="26725"/>
            <a:ext cx="2515800" cy="2515800"/>
          </a:xfrm>
          <a:prstGeom prst="arc">
            <a:avLst>
              <a:gd fmla="val 10799790" name="adj1"/>
              <a:gd fmla="val 11742007"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7" name="Google Shape;937;p72"/>
          <p:cNvSpPr txBox="1"/>
          <p:nvPr/>
        </p:nvSpPr>
        <p:spPr>
          <a:xfrm flipH="1">
            <a:off x="1144638" y="2193474"/>
            <a:ext cx="4623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9°</a:t>
            </a:r>
            <a:endParaRPr sz="1800">
              <a:latin typeface="Lexend"/>
              <a:ea typeface="Lexend"/>
              <a:cs typeface="Lexend"/>
              <a:sym typeface="Lexend"/>
            </a:endParaRPr>
          </a:p>
        </p:txBody>
      </p:sp>
      <p:sp>
        <p:nvSpPr>
          <p:cNvPr id="938" name="Google Shape;938;p72"/>
          <p:cNvSpPr/>
          <p:nvPr/>
        </p:nvSpPr>
        <p:spPr>
          <a:xfrm flipH="1" rot="5400000">
            <a:off x="1480799" y="3562900"/>
            <a:ext cx="1056000" cy="1056000"/>
          </a:xfrm>
          <a:prstGeom prst="arc">
            <a:avLst>
              <a:gd fmla="val 937916" name="adj1"/>
              <a:gd fmla="val 5419468"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9" name="Google Shape;939;p72"/>
          <p:cNvSpPr txBox="1"/>
          <p:nvPr/>
        </p:nvSpPr>
        <p:spPr>
          <a:xfrm flipH="1">
            <a:off x="1517220" y="3780000"/>
            <a:ext cx="4623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81°</a:t>
            </a:r>
            <a:endParaRPr sz="1800">
              <a:latin typeface="Lexend"/>
              <a:ea typeface="Lexend"/>
              <a:cs typeface="Lexend"/>
              <a:sym typeface="Lexend"/>
            </a:endParaRPr>
          </a:p>
        </p:txBody>
      </p:sp>
      <p:sp>
        <p:nvSpPr>
          <p:cNvPr id="940" name="Google Shape;940;p72"/>
          <p:cNvSpPr txBox="1"/>
          <p:nvPr/>
        </p:nvSpPr>
        <p:spPr>
          <a:xfrm flipH="1">
            <a:off x="262161" y="2561800"/>
            <a:ext cx="81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72 cm</a:t>
            </a:r>
            <a:endParaRPr sz="1800">
              <a:latin typeface="Lexend"/>
              <a:ea typeface="Lexend"/>
              <a:cs typeface="Lexend"/>
              <a:sym typeface="Lexend"/>
            </a:endParaRPr>
          </a:p>
        </p:txBody>
      </p:sp>
      <p:sp>
        <p:nvSpPr>
          <p:cNvPr id="941" name="Google Shape;941;p72"/>
          <p:cNvSpPr txBox="1"/>
          <p:nvPr/>
        </p:nvSpPr>
        <p:spPr>
          <a:xfrm flipH="1">
            <a:off x="1215861" y="4250875"/>
            <a:ext cx="81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12 cm</a:t>
            </a:r>
            <a:endParaRPr sz="1800">
              <a:latin typeface="Lexend"/>
              <a:ea typeface="Lexend"/>
              <a:cs typeface="Lexend"/>
              <a:sym typeface="Lexend"/>
            </a:endParaRPr>
          </a:p>
        </p:txBody>
      </p:sp>
      <p:sp>
        <p:nvSpPr>
          <p:cNvPr id="942" name="Google Shape;942;p72"/>
          <p:cNvSpPr/>
          <p:nvPr/>
        </p:nvSpPr>
        <p:spPr>
          <a:xfrm flipH="1" rot="5400000">
            <a:off x="179234" y="2256964"/>
            <a:ext cx="2870400" cy="798300"/>
          </a:xfrm>
          <a:prstGeom prst="rtTriangle">
            <a:avLst/>
          </a:prstGeom>
          <a:noFill/>
          <a:ln cap="flat" cmpd="sng" w="28575">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3" name="Google Shape;943;p72"/>
          <p:cNvSpPr/>
          <p:nvPr/>
        </p:nvSpPr>
        <p:spPr>
          <a:xfrm flipH="1" rot="8787904">
            <a:off x="5257810" y="2502173"/>
            <a:ext cx="1999347" cy="1797622"/>
          </a:xfrm>
          <a:prstGeom prst="rtTriangle">
            <a:avLst/>
          </a:prstGeom>
          <a:solidFill>
            <a:srgbClr val="F3EEFB"/>
          </a:solidFill>
          <a:ln cap="flat" cmpd="sng" w="28575">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4" name="Google Shape;944;p72"/>
          <p:cNvSpPr/>
          <p:nvPr/>
        </p:nvSpPr>
        <p:spPr>
          <a:xfrm flipH="1" rot="8787326">
            <a:off x="5261205" y="4031013"/>
            <a:ext cx="1310567" cy="1310567"/>
          </a:xfrm>
          <a:prstGeom prst="arc">
            <a:avLst>
              <a:gd fmla="val 2465196" name="adj1"/>
              <a:gd fmla="val 5419468"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5" name="Google Shape;945;p72"/>
          <p:cNvSpPr/>
          <p:nvPr/>
        </p:nvSpPr>
        <p:spPr>
          <a:xfrm flipH="1" rot="8787326">
            <a:off x="5920867" y="1473438"/>
            <a:ext cx="1310567" cy="1310567"/>
          </a:xfrm>
          <a:prstGeom prst="arc">
            <a:avLst>
              <a:gd fmla="val 10740252" name="adj1"/>
              <a:gd fmla="val 13367975"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6" name="Google Shape;946;p72"/>
          <p:cNvSpPr txBox="1"/>
          <p:nvPr/>
        </p:nvSpPr>
        <p:spPr>
          <a:xfrm flipH="1" rot="1266">
            <a:off x="4549455" y="3924041"/>
            <a:ext cx="8145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36 cm</a:t>
            </a:r>
            <a:endParaRPr sz="1800">
              <a:latin typeface="Lexend"/>
              <a:ea typeface="Lexend"/>
              <a:cs typeface="Lexend"/>
              <a:sym typeface="Lexend"/>
            </a:endParaRPr>
          </a:p>
        </p:txBody>
      </p:sp>
      <p:sp>
        <p:nvSpPr>
          <p:cNvPr id="947" name="Google Shape;947;p72"/>
          <p:cNvSpPr txBox="1"/>
          <p:nvPr/>
        </p:nvSpPr>
        <p:spPr>
          <a:xfrm flipH="1" rot="-1266">
            <a:off x="6321311" y="3405387"/>
            <a:ext cx="8145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54 cm</a:t>
            </a:r>
            <a:endParaRPr sz="1800">
              <a:latin typeface="Lexend"/>
              <a:ea typeface="Lexend"/>
              <a:cs typeface="Lexend"/>
              <a:sym typeface="Lexend"/>
            </a:endParaRPr>
          </a:p>
        </p:txBody>
      </p:sp>
      <p:sp>
        <p:nvSpPr>
          <p:cNvPr id="948" name="Google Shape;948;p72"/>
          <p:cNvSpPr txBox="1"/>
          <p:nvPr/>
        </p:nvSpPr>
        <p:spPr>
          <a:xfrm flipH="1" rot="1973">
            <a:off x="5592276" y="4087535"/>
            <a:ext cx="5226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48°</a:t>
            </a:r>
            <a:endParaRPr sz="1800">
              <a:latin typeface="Lexend"/>
              <a:ea typeface="Lexend"/>
              <a:cs typeface="Lexend"/>
              <a:sym typeface="Lexend"/>
            </a:endParaRPr>
          </a:p>
        </p:txBody>
      </p:sp>
      <p:sp>
        <p:nvSpPr>
          <p:cNvPr id="949" name="Google Shape;949;p72"/>
          <p:cNvSpPr txBox="1"/>
          <p:nvPr/>
        </p:nvSpPr>
        <p:spPr>
          <a:xfrm flipH="1" rot="2532">
            <a:off x="5908592" y="2362337"/>
            <a:ext cx="8145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4</a:t>
            </a:r>
            <a:r>
              <a:rPr lang="en-GB" sz="1800">
                <a:latin typeface="Lexend"/>
                <a:ea typeface="Lexend"/>
                <a:cs typeface="Lexend"/>
                <a:sym typeface="Lexend"/>
              </a:rPr>
              <a:t>2°</a:t>
            </a:r>
            <a:endParaRPr sz="1800">
              <a:latin typeface="Lexend"/>
              <a:ea typeface="Lexend"/>
              <a:cs typeface="Lexend"/>
              <a:sym typeface="Lexend"/>
            </a:endParaRPr>
          </a:p>
        </p:txBody>
      </p:sp>
      <p:sp>
        <p:nvSpPr>
          <p:cNvPr id="950" name="Google Shape;950;p72"/>
          <p:cNvSpPr/>
          <p:nvPr/>
        </p:nvSpPr>
        <p:spPr>
          <a:xfrm flipH="1" rot="8787752">
            <a:off x="5257798" y="2502190"/>
            <a:ext cx="1999341" cy="1797567"/>
          </a:xfrm>
          <a:prstGeom prst="rtTriangle">
            <a:avLst/>
          </a:prstGeom>
          <a:noFill/>
          <a:ln cap="flat" cmpd="sng" w="28575">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951" name="Google Shape;951;p72"/>
          <p:cNvPicPr preferRelativeResize="0"/>
          <p:nvPr/>
        </p:nvPicPr>
        <p:blipFill>
          <a:blip r:embed="rId3">
            <a:alphaModFix/>
          </a:blip>
          <a:stretch>
            <a:fillRect/>
          </a:stretch>
        </p:blipFill>
        <p:spPr>
          <a:xfrm>
            <a:off x="532071" y="2799926"/>
            <a:ext cx="274366" cy="274366"/>
          </a:xfrm>
          <a:prstGeom prst="rect">
            <a:avLst/>
          </a:prstGeom>
          <a:noFill/>
          <a:ln>
            <a:noFill/>
          </a:ln>
        </p:spPr>
      </p:pic>
      <p:sp>
        <p:nvSpPr>
          <p:cNvPr id="952" name="Google Shape;952;p72"/>
          <p:cNvSpPr txBox="1"/>
          <p:nvPr/>
        </p:nvSpPr>
        <p:spPr>
          <a:xfrm>
            <a:off x="546841" y="2850522"/>
            <a:ext cx="244841" cy="16634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nvGrpSpPr>
          <p:cNvPr id="953" name="Google Shape;953;p72"/>
          <p:cNvGrpSpPr/>
          <p:nvPr/>
        </p:nvGrpSpPr>
        <p:grpSpPr>
          <a:xfrm>
            <a:off x="5286058" y="2269963"/>
            <a:ext cx="274366" cy="274366"/>
            <a:chOff x="1020916" y="1442088"/>
            <a:chExt cx="457200" cy="457200"/>
          </a:xfrm>
        </p:grpSpPr>
        <p:pic>
          <p:nvPicPr>
            <p:cNvPr id="954" name="Google Shape;954;p7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55" name="Google Shape;955;p7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pic>
        <p:nvPicPr>
          <p:cNvPr id="956" name="Google Shape;956;p72"/>
          <p:cNvPicPr preferRelativeResize="0"/>
          <p:nvPr/>
        </p:nvPicPr>
        <p:blipFill>
          <a:blip r:embed="rId3">
            <a:alphaModFix/>
          </a:blip>
          <a:stretch>
            <a:fillRect/>
          </a:stretch>
        </p:blipFill>
        <p:spPr>
          <a:xfrm>
            <a:off x="1477246" y="4493676"/>
            <a:ext cx="274366" cy="274366"/>
          </a:xfrm>
          <a:prstGeom prst="rect">
            <a:avLst/>
          </a:prstGeom>
          <a:noFill/>
          <a:ln>
            <a:noFill/>
          </a:ln>
        </p:spPr>
      </p:pic>
      <p:sp>
        <p:nvSpPr>
          <p:cNvPr id="957" name="Google Shape;957;p72"/>
          <p:cNvSpPr txBox="1"/>
          <p:nvPr/>
        </p:nvSpPr>
        <p:spPr>
          <a:xfrm>
            <a:off x="1492016" y="4544272"/>
            <a:ext cx="244841" cy="16634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pic>
        <p:nvPicPr>
          <p:cNvPr id="958" name="Google Shape;958;p72"/>
          <p:cNvPicPr preferRelativeResize="0"/>
          <p:nvPr/>
        </p:nvPicPr>
        <p:blipFill>
          <a:blip r:embed="rId3">
            <a:alphaModFix/>
          </a:blip>
          <a:stretch>
            <a:fillRect/>
          </a:stretch>
        </p:blipFill>
        <p:spPr>
          <a:xfrm>
            <a:off x="1822921" y="2518938"/>
            <a:ext cx="274366" cy="274366"/>
          </a:xfrm>
          <a:prstGeom prst="rect">
            <a:avLst/>
          </a:prstGeom>
          <a:noFill/>
          <a:ln>
            <a:noFill/>
          </a:ln>
        </p:spPr>
      </p:pic>
      <p:sp>
        <p:nvSpPr>
          <p:cNvPr id="959" name="Google Shape;959;p72"/>
          <p:cNvSpPr txBox="1"/>
          <p:nvPr/>
        </p:nvSpPr>
        <p:spPr>
          <a:xfrm>
            <a:off x="1837691" y="2569534"/>
            <a:ext cx="244841" cy="16634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pic>
        <p:nvPicPr>
          <p:cNvPr id="960" name="Google Shape;960;p72"/>
          <p:cNvPicPr preferRelativeResize="0"/>
          <p:nvPr/>
        </p:nvPicPr>
        <p:blipFill>
          <a:blip r:embed="rId3">
            <a:alphaModFix/>
          </a:blip>
          <a:stretch>
            <a:fillRect/>
          </a:stretch>
        </p:blipFill>
        <p:spPr>
          <a:xfrm>
            <a:off x="6591386" y="3643938"/>
            <a:ext cx="274366" cy="274366"/>
          </a:xfrm>
          <a:prstGeom prst="rect">
            <a:avLst/>
          </a:prstGeom>
          <a:noFill/>
          <a:ln>
            <a:noFill/>
          </a:ln>
        </p:spPr>
      </p:pic>
      <p:sp>
        <p:nvSpPr>
          <p:cNvPr id="961" name="Google Shape;961;p72"/>
          <p:cNvSpPr txBox="1"/>
          <p:nvPr/>
        </p:nvSpPr>
        <p:spPr>
          <a:xfrm>
            <a:off x="6606156" y="3694534"/>
            <a:ext cx="244841" cy="16634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pic>
        <p:nvPicPr>
          <p:cNvPr id="962" name="Google Shape;962;p72"/>
          <p:cNvPicPr preferRelativeResize="0"/>
          <p:nvPr/>
        </p:nvPicPr>
        <p:blipFill>
          <a:blip r:embed="rId3">
            <a:alphaModFix/>
          </a:blip>
          <a:stretch>
            <a:fillRect/>
          </a:stretch>
        </p:blipFill>
        <p:spPr>
          <a:xfrm>
            <a:off x="4819521" y="4182813"/>
            <a:ext cx="274366" cy="274366"/>
          </a:xfrm>
          <a:prstGeom prst="rect">
            <a:avLst/>
          </a:prstGeom>
          <a:noFill/>
          <a:ln>
            <a:noFill/>
          </a:ln>
        </p:spPr>
      </p:pic>
      <p:sp>
        <p:nvSpPr>
          <p:cNvPr id="963" name="Google Shape;963;p72"/>
          <p:cNvSpPr txBox="1"/>
          <p:nvPr/>
        </p:nvSpPr>
        <p:spPr>
          <a:xfrm>
            <a:off x="4834291" y="4233409"/>
            <a:ext cx="244841" cy="16634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f</a:t>
            </a:r>
            <a:endParaRPr b="1" sz="1800">
              <a:solidFill>
                <a:srgbClr val="FFFFFF"/>
              </a:solidFill>
              <a:latin typeface="Lexend"/>
              <a:ea typeface="Lexend"/>
              <a:cs typeface="Lexend"/>
              <a:sym typeface="Lexend"/>
            </a:endParaRPr>
          </a:p>
        </p:txBody>
      </p:sp>
      <p:pic>
        <p:nvPicPr>
          <p:cNvPr id="964" name="Google Shape;964;p72"/>
          <p:cNvPicPr preferRelativeResize="0"/>
          <p:nvPr/>
        </p:nvPicPr>
        <p:blipFill>
          <a:blip r:embed="rId4">
            <a:alphaModFix/>
          </a:blip>
          <a:stretch>
            <a:fillRect/>
          </a:stretch>
        </p:blipFill>
        <p:spPr>
          <a:xfrm>
            <a:off x="2097283" y="2446575"/>
            <a:ext cx="396000" cy="419100"/>
          </a:xfrm>
          <a:prstGeom prst="rect">
            <a:avLst/>
          </a:prstGeom>
          <a:noFill/>
          <a:ln>
            <a:noFill/>
          </a:ln>
        </p:spPr>
      </p:pic>
      <p:pic>
        <p:nvPicPr>
          <p:cNvPr id="965" name="Google Shape;965;p72"/>
          <p:cNvPicPr preferRelativeResize="0"/>
          <p:nvPr/>
        </p:nvPicPr>
        <p:blipFill>
          <a:blip r:embed="rId4">
            <a:alphaModFix/>
          </a:blip>
          <a:stretch>
            <a:fillRect/>
          </a:stretch>
        </p:blipFill>
        <p:spPr>
          <a:xfrm>
            <a:off x="6530573" y="3918300"/>
            <a:ext cx="396000" cy="419100"/>
          </a:xfrm>
          <a:prstGeom prst="rect">
            <a:avLst/>
          </a:prstGeom>
          <a:noFill/>
          <a:ln>
            <a:noFill/>
          </a:ln>
        </p:spPr>
      </p:pic>
      <p:sp>
        <p:nvSpPr>
          <p:cNvPr id="966" name="Google Shape;966;p72"/>
          <p:cNvSpPr txBox="1"/>
          <p:nvPr/>
        </p:nvSpPr>
        <p:spPr>
          <a:xfrm flipH="1">
            <a:off x="2135100" y="983060"/>
            <a:ext cx="66849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latin typeface="Kalam"/>
                <a:ea typeface="Kalam"/>
                <a:cs typeface="Kalam"/>
                <a:sym typeface="Kalam"/>
              </a:rPr>
              <a:t>The hypotenuse is always the side opposite to the right angle.</a:t>
            </a:r>
            <a:endParaRPr sz="1800">
              <a:latin typeface="Kalam"/>
              <a:ea typeface="Kalam"/>
              <a:cs typeface="Kalam"/>
              <a:sym typeface="Kalam"/>
            </a:endParaRPr>
          </a:p>
          <a:p>
            <a:pPr indent="0" lvl="0" marL="0" rtl="0" algn="l">
              <a:spcBef>
                <a:spcPts val="0"/>
              </a:spcBef>
              <a:spcAft>
                <a:spcPts val="0"/>
              </a:spcAft>
              <a:buClr>
                <a:schemeClr val="dk1"/>
              </a:buClr>
              <a:buSzPts val="1100"/>
              <a:buFont typeface="Arial"/>
              <a:buNone/>
            </a:pPr>
            <a:r>
              <a:rPr lang="en-GB" sz="1800">
                <a:latin typeface="Kalam"/>
                <a:ea typeface="Kalam"/>
                <a:cs typeface="Kalam"/>
                <a:sym typeface="Kalam"/>
              </a:rPr>
              <a:t>This means it is the one and only side of the triangle that isn’t a leg of the 90° angle.</a:t>
            </a:r>
            <a:endParaRPr sz="1800">
              <a:latin typeface="Kalam"/>
              <a:ea typeface="Kalam"/>
              <a:cs typeface="Kalam"/>
              <a:sym typeface="Kalam"/>
            </a:endParaRPr>
          </a:p>
        </p:txBody>
      </p:sp>
      <p:cxnSp>
        <p:nvCxnSpPr>
          <p:cNvPr id="967" name="Google Shape;967;p72"/>
          <p:cNvCxnSpPr/>
          <p:nvPr/>
        </p:nvCxnSpPr>
        <p:spPr>
          <a:xfrm flipH="1">
            <a:off x="4863800" y="2029100"/>
            <a:ext cx="1629600" cy="1067700"/>
          </a:xfrm>
          <a:prstGeom prst="straightConnector1">
            <a:avLst/>
          </a:prstGeom>
          <a:noFill/>
          <a:ln cap="flat" cmpd="sng" w="28575">
            <a:solidFill>
              <a:schemeClr val="accent4"/>
            </a:solidFill>
            <a:prstDash val="solid"/>
            <a:round/>
            <a:headEnd len="med" w="med" type="triangle"/>
            <a:tailEnd len="med" w="med" type="triangle"/>
          </a:ln>
        </p:spPr>
      </p:cxnSp>
      <p:cxnSp>
        <p:nvCxnSpPr>
          <p:cNvPr id="968" name="Google Shape;968;p72"/>
          <p:cNvCxnSpPr/>
          <p:nvPr/>
        </p:nvCxnSpPr>
        <p:spPr>
          <a:xfrm>
            <a:off x="4850975" y="3283975"/>
            <a:ext cx="968100" cy="1435500"/>
          </a:xfrm>
          <a:prstGeom prst="straightConnector1">
            <a:avLst/>
          </a:prstGeom>
          <a:noFill/>
          <a:ln cap="flat" cmpd="sng" w="28575">
            <a:solidFill>
              <a:schemeClr val="accent4"/>
            </a:solidFill>
            <a:prstDash val="solid"/>
            <a:round/>
            <a:headEnd len="med" w="med" type="triangle"/>
            <a:tailEnd len="med" w="med" type="triangle"/>
          </a:ln>
        </p:spPr>
      </p:cxnSp>
      <p:cxnSp>
        <p:nvCxnSpPr>
          <p:cNvPr id="969" name="Google Shape;969;p72"/>
          <p:cNvCxnSpPr/>
          <p:nvPr/>
        </p:nvCxnSpPr>
        <p:spPr>
          <a:xfrm flipH="1">
            <a:off x="6006900" y="2139575"/>
            <a:ext cx="687300" cy="2592900"/>
          </a:xfrm>
          <a:prstGeom prst="straightConnector1">
            <a:avLst/>
          </a:prstGeom>
          <a:noFill/>
          <a:ln cap="flat" cmpd="sng" w="28575">
            <a:solidFill>
              <a:schemeClr val="accent4"/>
            </a:solidFill>
            <a:prstDash val="solid"/>
            <a:round/>
            <a:headEnd len="med" w="med" type="triangle"/>
            <a:tailEnd len="med" w="med" type="triangle"/>
          </a:ln>
        </p:spPr>
      </p:cxnSp>
      <p:cxnSp>
        <p:nvCxnSpPr>
          <p:cNvPr id="970" name="Google Shape;970;p72"/>
          <p:cNvCxnSpPr/>
          <p:nvPr/>
        </p:nvCxnSpPr>
        <p:spPr>
          <a:xfrm>
            <a:off x="1104500" y="1229575"/>
            <a:ext cx="15900" cy="2853000"/>
          </a:xfrm>
          <a:prstGeom prst="straightConnector1">
            <a:avLst/>
          </a:prstGeom>
          <a:noFill/>
          <a:ln cap="flat" cmpd="sng" w="28575">
            <a:solidFill>
              <a:schemeClr val="accent4"/>
            </a:solidFill>
            <a:prstDash val="solid"/>
            <a:round/>
            <a:headEnd len="med" w="med" type="triangle"/>
            <a:tailEnd len="med" w="med" type="triangle"/>
          </a:ln>
        </p:spPr>
      </p:cxnSp>
      <p:cxnSp>
        <p:nvCxnSpPr>
          <p:cNvPr id="971" name="Google Shape;971;p72"/>
          <p:cNvCxnSpPr/>
          <p:nvPr/>
        </p:nvCxnSpPr>
        <p:spPr>
          <a:xfrm flipH="1" rot="10800000">
            <a:off x="1207325" y="4182825"/>
            <a:ext cx="814200" cy="7800"/>
          </a:xfrm>
          <a:prstGeom prst="straightConnector1">
            <a:avLst/>
          </a:prstGeom>
          <a:noFill/>
          <a:ln cap="flat" cmpd="sng" w="28575">
            <a:solidFill>
              <a:schemeClr val="accent4"/>
            </a:solidFill>
            <a:prstDash val="solid"/>
            <a:round/>
            <a:headEnd len="med" w="med" type="triangle"/>
            <a:tailEnd len="med" w="med" type="triangle"/>
          </a:ln>
        </p:spPr>
      </p:cxnSp>
      <p:cxnSp>
        <p:nvCxnSpPr>
          <p:cNvPr id="972" name="Google Shape;972;p72"/>
          <p:cNvCxnSpPr/>
          <p:nvPr/>
        </p:nvCxnSpPr>
        <p:spPr>
          <a:xfrm>
            <a:off x="1346575" y="1204125"/>
            <a:ext cx="758700" cy="2793000"/>
          </a:xfrm>
          <a:prstGeom prst="straightConnector1">
            <a:avLst/>
          </a:prstGeom>
          <a:noFill/>
          <a:ln cap="flat" cmpd="sng" w="28575">
            <a:solidFill>
              <a:schemeClr val="accent4"/>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73"/>
          <p:cNvSpPr/>
          <p:nvPr/>
        </p:nvSpPr>
        <p:spPr>
          <a:xfrm>
            <a:off x="6683713" y="744525"/>
            <a:ext cx="1973262" cy="1831090"/>
          </a:xfrm>
          <a:custGeom>
            <a:rect b="b" l="l" r="r" t="t"/>
            <a:pathLst>
              <a:path extrusionOk="0" h="119134" w="128384">
                <a:moveTo>
                  <a:pt x="0" y="0"/>
                </a:moveTo>
                <a:lnTo>
                  <a:pt x="2064" y="119134"/>
                </a:lnTo>
                <a:lnTo>
                  <a:pt x="128384" y="119134"/>
                </a:lnTo>
                <a:close/>
              </a:path>
            </a:pathLst>
          </a:custGeom>
          <a:solidFill>
            <a:srgbClr val="F3EEFB"/>
          </a:solidFill>
          <a:ln cap="flat" cmpd="sng" w="28575">
            <a:solidFill>
              <a:schemeClr val="dk1"/>
            </a:solidFill>
            <a:prstDash val="solid"/>
            <a:round/>
            <a:headEnd len="med" w="med" type="none"/>
            <a:tailEnd len="med" w="med" type="none"/>
          </a:ln>
        </p:spPr>
      </p:sp>
      <p:sp>
        <p:nvSpPr>
          <p:cNvPr id="978" name="Google Shape;978;p73"/>
          <p:cNvSpPr/>
          <p:nvPr/>
        </p:nvSpPr>
        <p:spPr>
          <a:xfrm rot="4665158">
            <a:off x="6463682" y="2319831"/>
            <a:ext cx="503458" cy="503458"/>
          </a:xfrm>
          <a:prstGeom prst="arc">
            <a:avLst>
              <a:gd fmla="val 11547298" name="adj1"/>
              <a:gd fmla="val 16983879" name="adj2"/>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9" name="Google Shape;979;p73"/>
          <p:cNvSpPr/>
          <p:nvPr/>
        </p:nvSpPr>
        <p:spPr>
          <a:xfrm rot="4664726">
            <a:off x="6080820" y="149488"/>
            <a:ext cx="1216929" cy="1216929"/>
          </a:xfrm>
          <a:prstGeom prst="arc">
            <a:avLst>
              <a:gd fmla="val 19504642" name="adj1"/>
              <a:gd fmla="val 720533"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0" name="Google Shape;980;p73"/>
          <p:cNvSpPr txBox="1"/>
          <p:nvPr/>
        </p:nvSpPr>
        <p:spPr>
          <a:xfrm flipH="1" rot="2353">
            <a:off x="6682237" y="1064112"/>
            <a:ext cx="4383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46°</a:t>
            </a:r>
            <a:endParaRPr sz="1800">
              <a:latin typeface="Lexend"/>
              <a:ea typeface="Lexend"/>
              <a:cs typeface="Lexend"/>
              <a:sym typeface="Lexend"/>
            </a:endParaRPr>
          </a:p>
        </p:txBody>
      </p:sp>
      <p:sp>
        <p:nvSpPr>
          <p:cNvPr id="981" name="Google Shape;981;p73"/>
          <p:cNvSpPr/>
          <p:nvPr/>
        </p:nvSpPr>
        <p:spPr>
          <a:xfrm>
            <a:off x="7980100" y="1909450"/>
            <a:ext cx="1307700" cy="1307700"/>
          </a:xfrm>
          <a:prstGeom prst="arc">
            <a:avLst>
              <a:gd fmla="val 10712530" name="adj1"/>
              <a:gd fmla="val 13390362"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2" name="Google Shape;982;p73"/>
          <p:cNvSpPr txBox="1"/>
          <p:nvPr/>
        </p:nvSpPr>
        <p:spPr>
          <a:xfrm flipH="1" rot="2353">
            <a:off x="7982062" y="2296089"/>
            <a:ext cx="4383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43°</a:t>
            </a:r>
            <a:endParaRPr sz="1800">
              <a:latin typeface="Lexend"/>
              <a:ea typeface="Lexend"/>
              <a:cs typeface="Lexend"/>
              <a:sym typeface="Lexend"/>
            </a:endParaRPr>
          </a:p>
        </p:txBody>
      </p:sp>
      <p:sp>
        <p:nvSpPr>
          <p:cNvPr id="983" name="Google Shape;983;p73"/>
          <p:cNvSpPr/>
          <p:nvPr/>
        </p:nvSpPr>
        <p:spPr>
          <a:xfrm>
            <a:off x="6683713" y="744525"/>
            <a:ext cx="1973262" cy="1831090"/>
          </a:xfrm>
          <a:custGeom>
            <a:rect b="b" l="l" r="r" t="t"/>
            <a:pathLst>
              <a:path extrusionOk="0" h="119134" w="128384">
                <a:moveTo>
                  <a:pt x="0" y="0"/>
                </a:moveTo>
                <a:lnTo>
                  <a:pt x="2064" y="119134"/>
                </a:lnTo>
                <a:lnTo>
                  <a:pt x="128384" y="119134"/>
                </a:lnTo>
                <a:close/>
              </a:path>
            </a:pathLst>
          </a:custGeom>
          <a:noFill/>
          <a:ln cap="flat" cmpd="sng" w="28575">
            <a:solidFill>
              <a:schemeClr val="dk1"/>
            </a:solidFill>
            <a:prstDash val="solid"/>
            <a:round/>
            <a:headEnd len="med" w="med" type="none"/>
            <a:tailEnd len="med" w="med" type="none"/>
          </a:ln>
        </p:spPr>
      </p:sp>
      <p:cxnSp>
        <p:nvCxnSpPr>
          <p:cNvPr id="984" name="Google Shape;984;p73"/>
          <p:cNvCxnSpPr/>
          <p:nvPr/>
        </p:nvCxnSpPr>
        <p:spPr>
          <a:xfrm>
            <a:off x="6530375" y="732375"/>
            <a:ext cx="31800" cy="1854600"/>
          </a:xfrm>
          <a:prstGeom prst="straightConnector1">
            <a:avLst/>
          </a:prstGeom>
          <a:noFill/>
          <a:ln cap="flat" cmpd="sng" w="19050">
            <a:solidFill>
              <a:schemeClr val="accent4"/>
            </a:solidFill>
            <a:prstDash val="solid"/>
            <a:round/>
            <a:headEnd len="med" w="med" type="triangle"/>
            <a:tailEnd len="med" w="med" type="triangle"/>
          </a:ln>
        </p:spPr>
      </p:cxnSp>
      <p:cxnSp>
        <p:nvCxnSpPr>
          <p:cNvPr id="985" name="Google Shape;985;p73"/>
          <p:cNvCxnSpPr/>
          <p:nvPr/>
        </p:nvCxnSpPr>
        <p:spPr>
          <a:xfrm flipH="1" rot="10800000">
            <a:off x="6709325" y="2733325"/>
            <a:ext cx="1960500" cy="2700"/>
          </a:xfrm>
          <a:prstGeom prst="straightConnector1">
            <a:avLst/>
          </a:prstGeom>
          <a:noFill/>
          <a:ln cap="flat" cmpd="sng" w="19050">
            <a:solidFill>
              <a:schemeClr val="accent4"/>
            </a:solidFill>
            <a:prstDash val="solid"/>
            <a:round/>
            <a:headEnd len="med" w="med" type="triangle"/>
            <a:tailEnd len="med" w="med" type="triangle"/>
          </a:ln>
        </p:spPr>
      </p:cxnSp>
      <p:cxnSp>
        <p:nvCxnSpPr>
          <p:cNvPr id="986" name="Google Shape;986;p73"/>
          <p:cNvCxnSpPr/>
          <p:nvPr/>
        </p:nvCxnSpPr>
        <p:spPr>
          <a:xfrm>
            <a:off x="6778001" y="633624"/>
            <a:ext cx="1990200" cy="1849500"/>
          </a:xfrm>
          <a:prstGeom prst="straightConnector1">
            <a:avLst/>
          </a:prstGeom>
          <a:noFill/>
          <a:ln cap="flat" cmpd="sng" w="19050">
            <a:solidFill>
              <a:schemeClr val="accent4"/>
            </a:solidFill>
            <a:prstDash val="solid"/>
            <a:round/>
            <a:headEnd len="med" w="med" type="triangle"/>
            <a:tailEnd len="med" w="med" type="triangle"/>
          </a:ln>
        </p:spPr>
      </p:cxnSp>
      <p:sp>
        <p:nvSpPr>
          <p:cNvPr id="987" name="Google Shape;987;p73"/>
          <p:cNvSpPr txBox="1"/>
          <p:nvPr/>
        </p:nvSpPr>
        <p:spPr>
          <a:xfrm flipH="1" rot="1486">
            <a:off x="7323237" y="2764972"/>
            <a:ext cx="69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36 cm</a:t>
            </a:r>
            <a:endParaRPr sz="1800">
              <a:latin typeface="Lexend"/>
              <a:ea typeface="Lexend"/>
              <a:cs typeface="Lexend"/>
              <a:sym typeface="Lexend"/>
            </a:endParaRPr>
          </a:p>
        </p:txBody>
      </p:sp>
      <p:sp>
        <p:nvSpPr>
          <p:cNvPr id="988" name="Google Shape;988;p73"/>
          <p:cNvSpPr txBox="1"/>
          <p:nvPr/>
        </p:nvSpPr>
        <p:spPr>
          <a:xfrm flipH="1" rot="1486">
            <a:off x="5854528" y="1521438"/>
            <a:ext cx="69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34 cm</a:t>
            </a:r>
            <a:endParaRPr sz="1800">
              <a:latin typeface="Lexend"/>
              <a:ea typeface="Lexend"/>
              <a:cs typeface="Lexend"/>
              <a:sym typeface="Lexend"/>
            </a:endParaRPr>
          </a:p>
        </p:txBody>
      </p:sp>
      <p:sp>
        <p:nvSpPr>
          <p:cNvPr id="989" name="Google Shape;989;p73"/>
          <p:cNvSpPr txBox="1"/>
          <p:nvPr/>
        </p:nvSpPr>
        <p:spPr>
          <a:xfrm flipH="1" rot="2581287">
            <a:off x="7686022" y="1417443"/>
            <a:ext cx="694298" cy="323697"/>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50 cm</a:t>
            </a:r>
            <a:endParaRPr sz="1800">
              <a:latin typeface="Lexend"/>
              <a:ea typeface="Lexend"/>
              <a:cs typeface="Lexend"/>
              <a:sym typeface="Lexend"/>
            </a:endParaRPr>
          </a:p>
        </p:txBody>
      </p:sp>
      <p:sp>
        <p:nvSpPr>
          <p:cNvPr id="990" name="Google Shape;990;p73"/>
          <p:cNvSpPr txBox="1"/>
          <p:nvPr/>
        </p:nvSpPr>
        <p:spPr>
          <a:xfrm>
            <a:off x="1126709" y="653905"/>
            <a:ext cx="32712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Why aren’t we allowed to use Pythagoras’ theorem for this triangle?</a:t>
            </a:r>
            <a:endParaRPr sz="1800">
              <a:solidFill>
                <a:schemeClr val="dk1"/>
              </a:solidFill>
              <a:latin typeface="Lexend"/>
              <a:ea typeface="Lexend"/>
              <a:cs typeface="Lexend"/>
              <a:sym typeface="Lexend"/>
            </a:endParaRPr>
          </a:p>
        </p:txBody>
      </p:sp>
      <p:sp>
        <p:nvSpPr>
          <p:cNvPr id="991" name="Google Shape;991;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Identifying the hypotenuse</a:t>
            </a:r>
            <a:endParaRPr/>
          </a:p>
        </p:txBody>
      </p:sp>
      <p:pic>
        <p:nvPicPr>
          <p:cNvPr id="992" name="Google Shape;992;p73"/>
          <p:cNvPicPr preferRelativeResize="0"/>
          <p:nvPr/>
        </p:nvPicPr>
        <p:blipFill>
          <a:blip r:embed="rId3">
            <a:alphaModFix/>
          </a:blip>
          <a:stretch>
            <a:fillRect/>
          </a:stretch>
        </p:blipFill>
        <p:spPr>
          <a:xfrm>
            <a:off x="448651" y="1796115"/>
            <a:ext cx="564900" cy="813475"/>
          </a:xfrm>
          <a:prstGeom prst="rect">
            <a:avLst/>
          </a:prstGeom>
          <a:noFill/>
          <a:ln>
            <a:noFill/>
          </a:ln>
        </p:spPr>
      </p:pic>
      <p:sp>
        <p:nvSpPr>
          <p:cNvPr id="993" name="Google Shape;993;p73"/>
          <p:cNvSpPr txBox="1"/>
          <p:nvPr/>
        </p:nvSpPr>
        <p:spPr>
          <a:xfrm>
            <a:off x="324001" y="2609265"/>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Sam</a:t>
            </a:r>
            <a:endParaRPr sz="1800">
              <a:latin typeface="Lexend"/>
              <a:ea typeface="Lexend"/>
              <a:cs typeface="Lexend"/>
              <a:sym typeface="Lexend"/>
            </a:endParaRPr>
          </a:p>
        </p:txBody>
      </p:sp>
      <p:pic>
        <p:nvPicPr>
          <p:cNvPr id="994" name="Google Shape;994;p73"/>
          <p:cNvPicPr preferRelativeResize="0"/>
          <p:nvPr/>
        </p:nvPicPr>
        <p:blipFill rotWithShape="1">
          <a:blip r:embed="rId4">
            <a:alphaModFix/>
          </a:blip>
          <a:srcRect b="4760" l="40550" r="0" t="13015"/>
          <a:stretch/>
        </p:blipFill>
        <p:spPr>
          <a:xfrm>
            <a:off x="851375" y="572225"/>
            <a:ext cx="3580052" cy="1831101"/>
          </a:xfrm>
          <a:prstGeom prst="rect">
            <a:avLst/>
          </a:prstGeom>
          <a:noFill/>
          <a:ln>
            <a:noFill/>
          </a:ln>
        </p:spPr>
      </p:pic>
      <p:sp>
        <p:nvSpPr>
          <p:cNvPr id="995" name="Google Shape;995;p73"/>
          <p:cNvSpPr txBox="1"/>
          <p:nvPr/>
        </p:nvSpPr>
        <p:spPr>
          <a:xfrm flipH="1">
            <a:off x="3476325" y="2410411"/>
            <a:ext cx="25212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180° – </a:t>
            </a:r>
            <a:r>
              <a:rPr lang="en-GB" sz="1800">
                <a:solidFill>
                  <a:schemeClr val="dk1"/>
                </a:solidFill>
                <a:latin typeface="Lexend"/>
                <a:ea typeface="Lexend"/>
                <a:cs typeface="Lexend"/>
                <a:sym typeface="Lexend"/>
              </a:rPr>
              <a:t>46° – 43° = 91°</a:t>
            </a:r>
            <a:endParaRPr sz="1800">
              <a:solidFill>
                <a:schemeClr val="dk1"/>
              </a:solidFill>
              <a:latin typeface="Lexend"/>
              <a:ea typeface="Lexend"/>
              <a:cs typeface="Lexend"/>
              <a:sym typeface="Lexend"/>
            </a:endParaRPr>
          </a:p>
        </p:txBody>
      </p:sp>
      <p:sp>
        <p:nvSpPr>
          <p:cNvPr id="996" name="Google Shape;996;p73"/>
          <p:cNvSpPr txBox="1"/>
          <p:nvPr/>
        </p:nvSpPr>
        <p:spPr>
          <a:xfrm>
            <a:off x="1126709" y="1494645"/>
            <a:ext cx="32712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This angle is only 1° off of being a right-angle!</a:t>
            </a:r>
            <a:endParaRPr sz="1800">
              <a:solidFill>
                <a:schemeClr val="dk1"/>
              </a:solidFill>
              <a:latin typeface="Lexend"/>
              <a:ea typeface="Lexend"/>
              <a:cs typeface="Lexend"/>
              <a:sym typeface="Lexend"/>
            </a:endParaRPr>
          </a:p>
        </p:txBody>
      </p:sp>
      <p:pic>
        <p:nvPicPr>
          <p:cNvPr id="997" name="Google Shape;997;p73"/>
          <p:cNvPicPr preferRelativeResize="0"/>
          <p:nvPr/>
        </p:nvPicPr>
        <p:blipFill rotWithShape="1">
          <a:blip r:embed="rId4">
            <a:alphaModFix/>
          </a:blip>
          <a:srcRect b="4218" l="40550" r="0" t="13558"/>
          <a:stretch/>
        </p:blipFill>
        <p:spPr>
          <a:xfrm>
            <a:off x="982900" y="2912450"/>
            <a:ext cx="3327473" cy="1231174"/>
          </a:xfrm>
          <a:prstGeom prst="rect">
            <a:avLst/>
          </a:prstGeom>
          <a:noFill/>
          <a:ln>
            <a:noFill/>
          </a:ln>
        </p:spPr>
      </p:pic>
      <p:sp>
        <p:nvSpPr>
          <p:cNvPr id="998" name="Google Shape;998;p73"/>
          <p:cNvSpPr txBox="1"/>
          <p:nvPr/>
        </p:nvSpPr>
        <p:spPr>
          <a:xfrm>
            <a:off x="1237265" y="3013606"/>
            <a:ext cx="3040500" cy="83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 think it’s because a hypotenuse can only exist on a right-angled triangle.</a:t>
            </a:r>
            <a:endParaRPr sz="1800">
              <a:latin typeface="Lexend"/>
              <a:ea typeface="Lexend"/>
              <a:cs typeface="Lexend"/>
              <a:sym typeface="Lexend"/>
            </a:endParaRPr>
          </a:p>
        </p:txBody>
      </p:sp>
      <p:sp>
        <p:nvSpPr>
          <p:cNvPr id="999" name="Google Shape;999;p73"/>
          <p:cNvSpPr/>
          <p:nvPr/>
        </p:nvSpPr>
        <p:spPr>
          <a:xfrm>
            <a:off x="1126700" y="2864638"/>
            <a:ext cx="3271200" cy="1256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00" name="Google Shape;1000;p73"/>
          <p:cNvSpPr txBox="1"/>
          <p:nvPr/>
        </p:nvSpPr>
        <p:spPr>
          <a:xfrm>
            <a:off x="475372" y="4548082"/>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Laura</a:t>
            </a:r>
            <a:endParaRPr sz="1800">
              <a:latin typeface="Lexend"/>
              <a:ea typeface="Lexend"/>
              <a:cs typeface="Lexend"/>
              <a:sym typeface="Lexend"/>
            </a:endParaRPr>
          </a:p>
        </p:txBody>
      </p:sp>
      <p:pic>
        <p:nvPicPr>
          <p:cNvPr id="1001" name="Google Shape;1001;p73"/>
          <p:cNvPicPr preferRelativeResize="0"/>
          <p:nvPr/>
        </p:nvPicPr>
        <p:blipFill>
          <a:blip r:embed="rId5">
            <a:alphaModFix/>
          </a:blip>
          <a:stretch>
            <a:fillRect/>
          </a:stretch>
        </p:blipFill>
        <p:spPr>
          <a:xfrm>
            <a:off x="567847" y="3757079"/>
            <a:ext cx="629124" cy="823977"/>
          </a:xfrm>
          <a:prstGeom prst="rect">
            <a:avLst/>
          </a:prstGeom>
          <a:noFill/>
          <a:ln>
            <a:noFill/>
          </a:ln>
        </p:spPr>
      </p:pic>
      <p:pic>
        <p:nvPicPr>
          <p:cNvPr id="1002" name="Google Shape;1002;p73"/>
          <p:cNvPicPr preferRelativeResize="0"/>
          <p:nvPr/>
        </p:nvPicPr>
        <p:blipFill rotWithShape="1">
          <a:blip r:embed="rId4">
            <a:alphaModFix/>
          </a:blip>
          <a:srcRect b="4218" l="40550" r="0" t="13558"/>
          <a:stretch/>
        </p:blipFill>
        <p:spPr>
          <a:xfrm>
            <a:off x="946904" y="2852350"/>
            <a:ext cx="3727048" cy="1415876"/>
          </a:xfrm>
          <a:prstGeom prst="rect">
            <a:avLst/>
          </a:prstGeom>
          <a:noFill/>
          <a:ln>
            <a:noFill/>
          </a:ln>
        </p:spPr>
      </p:pic>
      <p:sp>
        <p:nvSpPr>
          <p:cNvPr id="1003" name="Google Shape;1003;p73"/>
          <p:cNvSpPr txBox="1"/>
          <p:nvPr/>
        </p:nvSpPr>
        <p:spPr>
          <a:xfrm>
            <a:off x="1248956" y="2895614"/>
            <a:ext cx="36813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And it’s the square of the hypotenuse that’s equal to the square of the other two sides added together.</a:t>
            </a:r>
            <a:endParaRPr sz="1800">
              <a:latin typeface="Lexend"/>
              <a:ea typeface="Lexend"/>
              <a:cs typeface="Lexend"/>
              <a:sym typeface="Lexend"/>
            </a:endParaRPr>
          </a:p>
        </p:txBody>
      </p:sp>
      <p:cxnSp>
        <p:nvCxnSpPr>
          <p:cNvPr id="1004" name="Google Shape;1004;p73"/>
          <p:cNvCxnSpPr/>
          <p:nvPr/>
        </p:nvCxnSpPr>
        <p:spPr>
          <a:xfrm flipH="1" rot="10800000">
            <a:off x="5947025" y="2484800"/>
            <a:ext cx="876900" cy="54600"/>
          </a:xfrm>
          <a:prstGeom prst="straightConnector1">
            <a:avLst/>
          </a:prstGeom>
          <a:noFill/>
          <a:ln cap="flat" cmpd="sng" w="28575">
            <a:solidFill>
              <a:schemeClr val="accent5"/>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74"/>
          <p:cNvSpPr/>
          <p:nvPr/>
        </p:nvSpPr>
        <p:spPr>
          <a:xfrm rot="-59670">
            <a:off x="5582269" y="1856336"/>
            <a:ext cx="1054359" cy="1054359"/>
          </a:xfrm>
          <a:prstGeom prst="rect">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0" name="Google Shape;1010;p74"/>
          <p:cNvSpPr/>
          <p:nvPr/>
        </p:nvSpPr>
        <p:spPr>
          <a:xfrm>
            <a:off x="6650626" y="2909123"/>
            <a:ext cx="1124100" cy="1124100"/>
          </a:xfrm>
          <a:prstGeom prst="rect">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1" name="Google Shape;1011;p74"/>
          <p:cNvSpPr/>
          <p:nvPr/>
        </p:nvSpPr>
        <p:spPr>
          <a:xfrm rot="2573875">
            <a:off x="6957955" y="1014803"/>
            <a:ext cx="1561494" cy="1561290"/>
          </a:xfrm>
          <a:prstGeom prst="rect">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012" name="Google Shape;1012;p74"/>
          <p:cNvPicPr preferRelativeResize="0"/>
          <p:nvPr/>
        </p:nvPicPr>
        <p:blipFill rotWithShape="1">
          <a:blip r:embed="rId3">
            <a:alphaModFix/>
          </a:blip>
          <a:srcRect b="4760" l="40550" r="0" t="13015"/>
          <a:stretch/>
        </p:blipFill>
        <p:spPr>
          <a:xfrm>
            <a:off x="851375" y="572225"/>
            <a:ext cx="3580052" cy="1831101"/>
          </a:xfrm>
          <a:prstGeom prst="rect">
            <a:avLst/>
          </a:prstGeom>
          <a:noFill/>
          <a:ln>
            <a:noFill/>
          </a:ln>
        </p:spPr>
      </p:pic>
      <p:sp>
        <p:nvSpPr>
          <p:cNvPr id="1013" name="Google Shape;1013;p74"/>
          <p:cNvSpPr txBox="1"/>
          <p:nvPr/>
        </p:nvSpPr>
        <p:spPr>
          <a:xfrm>
            <a:off x="1126709" y="653905"/>
            <a:ext cx="32712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Oh yeah! The area of the largest square is only equal to the sum of the smaller two squares when that angle is a right angle.</a:t>
            </a:r>
            <a:endParaRPr sz="1800">
              <a:solidFill>
                <a:schemeClr val="dk1"/>
              </a:solidFill>
              <a:latin typeface="Lexend"/>
              <a:ea typeface="Lexend"/>
              <a:cs typeface="Lexend"/>
              <a:sym typeface="Lexend"/>
            </a:endParaRPr>
          </a:p>
        </p:txBody>
      </p:sp>
      <p:sp>
        <p:nvSpPr>
          <p:cNvPr id="1014" name="Google Shape;1014;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Identifying the hypotenuse</a:t>
            </a:r>
            <a:endParaRPr/>
          </a:p>
        </p:txBody>
      </p:sp>
      <p:pic>
        <p:nvPicPr>
          <p:cNvPr id="1015" name="Google Shape;1015;p74"/>
          <p:cNvPicPr preferRelativeResize="0"/>
          <p:nvPr/>
        </p:nvPicPr>
        <p:blipFill>
          <a:blip r:embed="rId4">
            <a:alphaModFix/>
          </a:blip>
          <a:stretch>
            <a:fillRect/>
          </a:stretch>
        </p:blipFill>
        <p:spPr>
          <a:xfrm>
            <a:off x="448651" y="1796115"/>
            <a:ext cx="564900" cy="813475"/>
          </a:xfrm>
          <a:prstGeom prst="rect">
            <a:avLst/>
          </a:prstGeom>
          <a:noFill/>
          <a:ln>
            <a:noFill/>
          </a:ln>
        </p:spPr>
      </p:pic>
      <p:sp>
        <p:nvSpPr>
          <p:cNvPr id="1016" name="Google Shape;1016;p74"/>
          <p:cNvSpPr txBox="1"/>
          <p:nvPr/>
        </p:nvSpPr>
        <p:spPr>
          <a:xfrm>
            <a:off x="324001" y="2609265"/>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Sam</a:t>
            </a:r>
            <a:endParaRPr sz="1800">
              <a:latin typeface="Lexend"/>
              <a:ea typeface="Lexend"/>
              <a:cs typeface="Lexend"/>
              <a:sym typeface="Lexend"/>
            </a:endParaRPr>
          </a:p>
        </p:txBody>
      </p:sp>
      <p:sp>
        <p:nvSpPr>
          <p:cNvPr id="1017" name="Google Shape;1017;p74"/>
          <p:cNvSpPr/>
          <p:nvPr/>
        </p:nvSpPr>
        <p:spPr>
          <a:xfrm>
            <a:off x="11092938" y="6224150"/>
            <a:ext cx="1260000" cy="1260000"/>
          </a:xfrm>
          <a:prstGeom prst="triangle">
            <a:avLst>
              <a:gd fmla="val 1785" name="adj"/>
            </a:avLst>
          </a:prstGeom>
          <a:solidFill>
            <a:srgbClr val="F3EEFB"/>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8" name="Google Shape;1018;p74"/>
          <p:cNvSpPr txBox="1"/>
          <p:nvPr/>
        </p:nvSpPr>
        <p:spPr>
          <a:xfrm flipH="1" rot="1266">
            <a:off x="11315692" y="7560391"/>
            <a:ext cx="8145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36 cm</a:t>
            </a:r>
            <a:endParaRPr sz="1800">
              <a:latin typeface="Lexend"/>
              <a:ea typeface="Lexend"/>
              <a:cs typeface="Lexend"/>
              <a:sym typeface="Lexend"/>
            </a:endParaRPr>
          </a:p>
        </p:txBody>
      </p:sp>
      <p:sp>
        <p:nvSpPr>
          <p:cNvPr id="1019" name="Google Shape;1019;p74"/>
          <p:cNvSpPr txBox="1"/>
          <p:nvPr/>
        </p:nvSpPr>
        <p:spPr>
          <a:xfrm flipH="1" rot="1486">
            <a:off x="10322537" y="6782285"/>
            <a:ext cx="69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39 cm</a:t>
            </a:r>
            <a:endParaRPr sz="1800">
              <a:latin typeface="Lexend"/>
              <a:ea typeface="Lexend"/>
              <a:cs typeface="Lexend"/>
              <a:sym typeface="Lexend"/>
            </a:endParaRPr>
          </a:p>
        </p:txBody>
      </p:sp>
      <p:sp>
        <p:nvSpPr>
          <p:cNvPr id="1020" name="Google Shape;1020;p74"/>
          <p:cNvSpPr/>
          <p:nvPr/>
        </p:nvSpPr>
        <p:spPr>
          <a:xfrm rot="4665158">
            <a:off x="10842146" y="7225421"/>
            <a:ext cx="503458" cy="503458"/>
          </a:xfrm>
          <a:prstGeom prst="arc">
            <a:avLst>
              <a:gd fmla="val 11680388" name="adj1"/>
              <a:gd fmla="val 17082108" name="adj2"/>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21" name="Google Shape;1021;p74"/>
          <p:cNvSpPr/>
          <p:nvPr/>
        </p:nvSpPr>
        <p:spPr>
          <a:xfrm rot="4664588">
            <a:off x="11737548" y="6876226"/>
            <a:ext cx="1199747" cy="1199747"/>
          </a:xfrm>
          <a:prstGeom prst="arc">
            <a:avLst>
              <a:gd fmla="val 6098409" name="adj1"/>
              <a:gd fmla="val 8893976"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22" name="Google Shape;1022;p74"/>
          <p:cNvSpPr/>
          <p:nvPr/>
        </p:nvSpPr>
        <p:spPr>
          <a:xfrm rot="4664726">
            <a:off x="10513924" y="5633211"/>
            <a:ext cx="1216929" cy="1216929"/>
          </a:xfrm>
          <a:prstGeom prst="arc">
            <a:avLst>
              <a:gd fmla="val 19648779" name="adj1"/>
              <a:gd fmla="val 857899"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23" name="Google Shape;1023;p74"/>
          <p:cNvSpPr txBox="1"/>
          <p:nvPr/>
        </p:nvSpPr>
        <p:spPr>
          <a:xfrm flipH="1" rot="2353">
            <a:off x="11732787" y="7206782"/>
            <a:ext cx="4383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47°</a:t>
            </a:r>
            <a:endParaRPr sz="1800">
              <a:latin typeface="Lexend"/>
              <a:ea typeface="Lexend"/>
              <a:cs typeface="Lexend"/>
              <a:sym typeface="Lexend"/>
            </a:endParaRPr>
          </a:p>
        </p:txBody>
      </p:sp>
      <p:sp>
        <p:nvSpPr>
          <p:cNvPr id="1024" name="Google Shape;1024;p74"/>
          <p:cNvSpPr txBox="1"/>
          <p:nvPr/>
        </p:nvSpPr>
        <p:spPr>
          <a:xfrm flipH="1" rot="2353">
            <a:off x="11092958" y="6552809"/>
            <a:ext cx="4383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42°</a:t>
            </a:r>
            <a:endParaRPr sz="1800">
              <a:latin typeface="Lexend"/>
              <a:ea typeface="Lexend"/>
              <a:cs typeface="Lexend"/>
              <a:sym typeface="Lexend"/>
            </a:endParaRPr>
          </a:p>
        </p:txBody>
      </p:sp>
      <p:cxnSp>
        <p:nvCxnSpPr>
          <p:cNvPr id="1025" name="Google Shape;1025;p74"/>
          <p:cNvCxnSpPr/>
          <p:nvPr/>
        </p:nvCxnSpPr>
        <p:spPr>
          <a:xfrm flipH="1">
            <a:off x="11016729" y="6224150"/>
            <a:ext cx="22500" cy="1260000"/>
          </a:xfrm>
          <a:prstGeom prst="straightConnector1">
            <a:avLst/>
          </a:prstGeom>
          <a:noFill/>
          <a:ln cap="flat" cmpd="sng" w="19050">
            <a:solidFill>
              <a:schemeClr val="accent4"/>
            </a:solidFill>
            <a:prstDash val="solid"/>
            <a:round/>
            <a:headEnd len="med" w="med" type="triangle"/>
            <a:tailEnd len="med" w="med" type="triangle"/>
          </a:ln>
        </p:spPr>
      </p:cxnSp>
      <p:cxnSp>
        <p:nvCxnSpPr>
          <p:cNvPr id="1026" name="Google Shape;1026;p74"/>
          <p:cNvCxnSpPr/>
          <p:nvPr/>
        </p:nvCxnSpPr>
        <p:spPr>
          <a:xfrm>
            <a:off x="11092938" y="7560350"/>
            <a:ext cx="1260000" cy="0"/>
          </a:xfrm>
          <a:prstGeom prst="straightConnector1">
            <a:avLst/>
          </a:prstGeom>
          <a:noFill/>
          <a:ln cap="flat" cmpd="sng" w="19050">
            <a:solidFill>
              <a:schemeClr val="accent4"/>
            </a:solidFill>
            <a:prstDash val="solid"/>
            <a:round/>
            <a:headEnd len="med" w="med" type="triangle"/>
            <a:tailEnd len="med" w="med" type="triangle"/>
          </a:ln>
        </p:spPr>
      </p:cxnSp>
      <p:cxnSp>
        <p:nvCxnSpPr>
          <p:cNvPr id="1027" name="Google Shape;1027;p74"/>
          <p:cNvCxnSpPr/>
          <p:nvPr/>
        </p:nvCxnSpPr>
        <p:spPr>
          <a:xfrm>
            <a:off x="11191629" y="6147950"/>
            <a:ext cx="1237500" cy="1260000"/>
          </a:xfrm>
          <a:prstGeom prst="straightConnector1">
            <a:avLst/>
          </a:prstGeom>
          <a:noFill/>
          <a:ln cap="flat" cmpd="sng" w="19050">
            <a:solidFill>
              <a:schemeClr val="accent4"/>
            </a:solidFill>
            <a:prstDash val="solid"/>
            <a:round/>
            <a:headEnd len="med" w="med" type="triangle"/>
            <a:tailEnd len="med" w="med" type="triangle"/>
          </a:ln>
        </p:spPr>
      </p:cxnSp>
      <p:sp>
        <p:nvSpPr>
          <p:cNvPr id="1028" name="Google Shape;1028;p74"/>
          <p:cNvSpPr txBox="1"/>
          <p:nvPr/>
        </p:nvSpPr>
        <p:spPr>
          <a:xfrm flipH="1" rot="2731843">
            <a:off x="11485103" y="6565453"/>
            <a:ext cx="1007670" cy="323727"/>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53.5 cm</a:t>
            </a:r>
            <a:endParaRPr sz="1800">
              <a:latin typeface="Lexend"/>
              <a:ea typeface="Lexend"/>
              <a:cs typeface="Lexend"/>
              <a:sym typeface="Lexend"/>
            </a:endParaRPr>
          </a:p>
        </p:txBody>
      </p:sp>
      <p:sp>
        <p:nvSpPr>
          <p:cNvPr id="1029" name="Google Shape;1029;p74"/>
          <p:cNvSpPr/>
          <p:nvPr/>
        </p:nvSpPr>
        <p:spPr>
          <a:xfrm>
            <a:off x="6632825" y="1843059"/>
            <a:ext cx="1141976" cy="1059697"/>
          </a:xfrm>
          <a:custGeom>
            <a:rect b="b" l="l" r="r" t="t"/>
            <a:pathLst>
              <a:path extrusionOk="0" h="119134" w="128384">
                <a:moveTo>
                  <a:pt x="0" y="0"/>
                </a:moveTo>
                <a:lnTo>
                  <a:pt x="2064" y="119134"/>
                </a:lnTo>
                <a:lnTo>
                  <a:pt x="128384" y="119134"/>
                </a:lnTo>
                <a:close/>
              </a:path>
            </a:pathLst>
          </a:custGeom>
          <a:solidFill>
            <a:srgbClr val="F3EEFB"/>
          </a:solidFill>
          <a:ln cap="flat" cmpd="sng" w="28575">
            <a:solidFill>
              <a:schemeClr val="dk1"/>
            </a:solidFill>
            <a:prstDash val="solid"/>
            <a:round/>
            <a:headEnd len="med" w="med" type="none"/>
            <a:tailEnd len="med" w="med" type="none"/>
          </a:ln>
        </p:spPr>
      </p:sp>
      <p:sp>
        <p:nvSpPr>
          <p:cNvPr id="1030" name="Google Shape;1030;p74"/>
          <p:cNvSpPr/>
          <p:nvPr/>
        </p:nvSpPr>
        <p:spPr>
          <a:xfrm rot="4665166">
            <a:off x="6505509" y="2754667"/>
            <a:ext cx="291330" cy="291330"/>
          </a:xfrm>
          <a:prstGeom prst="arc">
            <a:avLst>
              <a:gd fmla="val 11547298" name="adj1"/>
              <a:gd fmla="val 16983879" name="adj2"/>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1" name="Google Shape;1031;p74"/>
          <p:cNvSpPr/>
          <p:nvPr/>
        </p:nvSpPr>
        <p:spPr>
          <a:xfrm rot="4665101">
            <a:off x="6014491" y="1229326"/>
            <a:ext cx="1242994" cy="1242994"/>
          </a:xfrm>
          <a:prstGeom prst="arc">
            <a:avLst>
              <a:gd fmla="val 19504642" name="adj1"/>
              <a:gd fmla="val 720533"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2" name="Google Shape;1032;p74"/>
          <p:cNvSpPr txBox="1"/>
          <p:nvPr/>
        </p:nvSpPr>
        <p:spPr>
          <a:xfrm flipH="1" rot="2537">
            <a:off x="6645781" y="2166124"/>
            <a:ext cx="406500" cy="187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46°</a:t>
            </a:r>
            <a:endParaRPr sz="1800">
              <a:latin typeface="Lexend"/>
              <a:ea typeface="Lexend"/>
              <a:cs typeface="Lexend"/>
              <a:sym typeface="Lexend"/>
            </a:endParaRPr>
          </a:p>
        </p:txBody>
      </p:sp>
      <p:sp>
        <p:nvSpPr>
          <p:cNvPr id="1033" name="Google Shape;1033;p74"/>
          <p:cNvSpPr/>
          <p:nvPr/>
        </p:nvSpPr>
        <p:spPr>
          <a:xfrm>
            <a:off x="7156825" y="2290973"/>
            <a:ext cx="1209300" cy="1209300"/>
          </a:xfrm>
          <a:prstGeom prst="arc">
            <a:avLst>
              <a:gd fmla="val 10712530" name="adj1"/>
              <a:gd fmla="val 13390362"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4" name="Google Shape;1034;p74"/>
          <p:cNvSpPr txBox="1"/>
          <p:nvPr/>
        </p:nvSpPr>
        <p:spPr>
          <a:xfrm flipH="1" rot="4462">
            <a:off x="7152549" y="2644445"/>
            <a:ext cx="462300" cy="187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43°</a:t>
            </a:r>
            <a:endParaRPr sz="1800">
              <a:latin typeface="Lexend"/>
              <a:ea typeface="Lexend"/>
              <a:cs typeface="Lexend"/>
              <a:sym typeface="Lexend"/>
            </a:endParaRPr>
          </a:p>
        </p:txBody>
      </p:sp>
      <p:sp>
        <p:nvSpPr>
          <p:cNvPr id="1035" name="Google Shape;1035;p74"/>
          <p:cNvSpPr/>
          <p:nvPr/>
        </p:nvSpPr>
        <p:spPr>
          <a:xfrm>
            <a:off x="6632825" y="1843059"/>
            <a:ext cx="1141976" cy="1059697"/>
          </a:xfrm>
          <a:custGeom>
            <a:rect b="b" l="l" r="r" t="t"/>
            <a:pathLst>
              <a:path extrusionOk="0" h="119134" w="128384">
                <a:moveTo>
                  <a:pt x="0" y="0"/>
                </a:moveTo>
                <a:lnTo>
                  <a:pt x="2064" y="119134"/>
                </a:lnTo>
                <a:lnTo>
                  <a:pt x="128384" y="119134"/>
                </a:lnTo>
                <a:close/>
              </a:path>
            </a:pathLst>
          </a:custGeom>
          <a:noFill/>
          <a:ln cap="flat" cmpd="sng" w="28575">
            <a:solidFill>
              <a:schemeClr val="dk1"/>
            </a:solidFill>
            <a:prstDash val="solid"/>
            <a:round/>
            <a:headEnd len="med" w="med" type="none"/>
            <a:tailEnd len="med" w="med" type="none"/>
          </a:ln>
        </p:spPr>
      </p:sp>
      <p:cxnSp>
        <p:nvCxnSpPr>
          <p:cNvPr id="1036" name="Google Shape;1036;p74"/>
          <p:cNvCxnSpPr/>
          <p:nvPr/>
        </p:nvCxnSpPr>
        <p:spPr>
          <a:xfrm>
            <a:off x="6544090" y="1836027"/>
            <a:ext cx="18300" cy="1073100"/>
          </a:xfrm>
          <a:prstGeom prst="straightConnector1">
            <a:avLst/>
          </a:prstGeom>
          <a:noFill/>
          <a:ln cap="flat" cmpd="sng" w="19050">
            <a:solidFill>
              <a:schemeClr val="accent4"/>
            </a:solidFill>
            <a:prstDash val="solid"/>
            <a:round/>
            <a:headEnd len="med" w="med" type="triangle"/>
            <a:tailEnd len="med" w="med" type="triangle"/>
          </a:ln>
        </p:spPr>
      </p:cxnSp>
      <p:cxnSp>
        <p:nvCxnSpPr>
          <p:cNvPr id="1037" name="Google Shape;1037;p74"/>
          <p:cNvCxnSpPr/>
          <p:nvPr/>
        </p:nvCxnSpPr>
        <p:spPr>
          <a:xfrm flipH="1" rot="10800000">
            <a:off x="6647646" y="2994015"/>
            <a:ext cx="1134600" cy="1500"/>
          </a:xfrm>
          <a:prstGeom prst="straightConnector1">
            <a:avLst/>
          </a:prstGeom>
          <a:noFill/>
          <a:ln cap="flat" cmpd="sng" w="19050">
            <a:solidFill>
              <a:schemeClr val="accent4"/>
            </a:solidFill>
            <a:prstDash val="solid"/>
            <a:round/>
            <a:headEnd len="med" w="med" type="triangle"/>
            <a:tailEnd len="med" w="med" type="triangle"/>
          </a:ln>
        </p:spPr>
      </p:cxnSp>
      <p:cxnSp>
        <p:nvCxnSpPr>
          <p:cNvPr id="1038" name="Google Shape;1038;p74"/>
          <p:cNvCxnSpPr/>
          <p:nvPr/>
        </p:nvCxnSpPr>
        <p:spPr>
          <a:xfrm>
            <a:off x="6687388" y="1778881"/>
            <a:ext cx="1151700" cy="1070400"/>
          </a:xfrm>
          <a:prstGeom prst="straightConnector1">
            <a:avLst/>
          </a:prstGeom>
          <a:noFill/>
          <a:ln cap="flat" cmpd="sng" w="19050">
            <a:solidFill>
              <a:schemeClr val="accent4"/>
            </a:solidFill>
            <a:prstDash val="solid"/>
            <a:round/>
            <a:headEnd len="med" w="med" type="triangle"/>
            <a:tailEnd len="med" w="med" type="triangle"/>
          </a:ln>
        </p:spPr>
      </p:cxnSp>
      <p:sp>
        <p:nvSpPr>
          <p:cNvPr id="1039" name="Google Shape;1039;p74"/>
          <p:cNvSpPr txBox="1"/>
          <p:nvPr/>
        </p:nvSpPr>
        <p:spPr>
          <a:xfrm flipH="1" rot="2971">
            <a:off x="6856687" y="3012164"/>
            <a:ext cx="694200" cy="187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36 cm</a:t>
            </a:r>
            <a:endParaRPr sz="1800">
              <a:latin typeface="Lexend"/>
              <a:ea typeface="Lexend"/>
              <a:cs typeface="Lexend"/>
              <a:sym typeface="Lexend"/>
            </a:endParaRPr>
          </a:p>
        </p:txBody>
      </p:sp>
      <p:sp>
        <p:nvSpPr>
          <p:cNvPr id="1040" name="Google Shape;1040;p74"/>
          <p:cNvSpPr txBox="1"/>
          <p:nvPr/>
        </p:nvSpPr>
        <p:spPr>
          <a:xfrm flipH="1" rot="1486">
            <a:off x="5860501" y="2292599"/>
            <a:ext cx="694200" cy="187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34 cm</a:t>
            </a:r>
            <a:endParaRPr sz="1800">
              <a:latin typeface="Lexend"/>
              <a:ea typeface="Lexend"/>
              <a:cs typeface="Lexend"/>
              <a:sym typeface="Lexend"/>
            </a:endParaRPr>
          </a:p>
        </p:txBody>
      </p:sp>
      <p:sp>
        <p:nvSpPr>
          <p:cNvPr id="1041" name="Google Shape;1041;p74"/>
          <p:cNvSpPr txBox="1"/>
          <p:nvPr/>
        </p:nvSpPr>
        <p:spPr>
          <a:xfrm flipH="1" rot="2669">
            <a:off x="6430874" y="4226409"/>
            <a:ext cx="1545900" cy="187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area 1296 cm²</a:t>
            </a:r>
            <a:endParaRPr sz="1800">
              <a:latin typeface="Lexend"/>
              <a:ea typeface="Lexend"/>
              <a:cs typeface="Lexend"/>
              <a:sym typeface="Lexend"/>
            </a:endParaRPr>
          </a:p>
        </p:txBody>
      </p:sp>
      <p:sp>
        <p:nvSpPr>
          <p:cNvPr id="1042" name="Google Shape;1042;p74"/>
          <p:cNvSpPr txBox="1"/>
          <p:nvPr/>
        </p:nvSpPr>
        <p:spPr>
          <a:xfrm flipH="1" rot="2582441">
            <a:off x="6959915" y="2148547"/>
            <a:ext cx="912065" cy="187428"/>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50 cm</a:t>
            </a:r>
            <a:endParaRPr sz="1800">
              <a:latin typeface="Lexend"/>
              <a:ea typeface="Lexend"/>
              <a:cs typeface="Lexend"/>
              <a:sym typeface="Lexend"/>
            </a:endParaRPr>
          </a:p>
        </p:txBody>
      </p:sp>
      <p:sp>
        <p:nvSpPr>
          <p:cNvPr id="1043" name="Google Shape;1043;p74"/>
          <p:cNvSpPr txBox="1"/>
          <p:nvPr/>
        </p:nvSpPr>
        <p:spPr>
          <a:xfrm flipH="1" rot="2669">
            <a:off x="5263871" y="1150602"/>
            <a:ext cx="1545900" cy="187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area 1156 cm²</a:t>
            </a:r>
            <a:endParaRPr sz="1800">
              <a:latin typeface="Lexend"/>
              <a:ea typeface="Lexend"/>
              <a:cs typeface="Lexend"/>
              <a:sym typeface="Lexend"/>
            </a:endParaRPr>
          </a:p>
        </p:txBody>
      </p:sp>
      <p:sp>
        <p:nvSpPr>
          <p:cNvPr id="1044" name="Google Shape;1044;p74"/>
          <p:cNvSpPr txBox="1"/>
          <p:nvPr/>
        </p:nvSpPr>
        <p:spPr>
          <a:xfrm flipH="1" rot="2463">
            <a:off x="7163663" y="1293970"/>
            <a:ext cx="1256100" cy="187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area</a:t>
            </a:r>
            <a:endParaRPr sz="1800">
              <a:latin typeface="Lexend"/>
              <a:ea typeface="Lexend"/>
              <a:cs typeface="Lexend"/>
              <a:sym typeface="Lexend"/>
            </a:endParaRPr>
          </a:p>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2500 cm²</a:t>
            </a:r>
            <a:endParaRPr sz="1800">
              <a:latin typeface="Lexend"/>
              <a:ea typeface="Lexend"/>
              <a:cs typeface="Lexend"/>
              <a:sym typeface="Lexend"/>
            </a:endParaRPr>
          </a:p>
        </p:txBody>
      </p:sp>
      <p:cxnSp>
        <p:nvCxnSpPr>
          <p:cNvPr id="1045" name="Google Shape;1045;p74"/>
          <p:cNvCxnSpPr/>
          <p:nvPr/>
        </p:nvCxnSpPr>
        <p:spPr>
          <a:xfrm>
            <a:off x="6066300" y="1401998"/>
            <a:ext cx="21600" cy="764100"/>
          </a:xfrm>
          <a:prstGeom prst="straightConnector1">
            <a:avLst/>
          </a:prstGeom>
          <a:noFill/>
          <a:ln cap="flat" cmpd="sng" w="28575">
            <a:solidFill>
              <a:schemeClr val="accent4"/>
            </a:solidFill>
            <a:prstDash val="solid"/>
            <a:round/>
            <a:headEnd len="med" w="med" type="none"/>
            <a:tailEnd len="med" w="med" type="none"/>
          </a:ln>
        </p:spPr>
      </p:cxnSp>
      <p:cxnSp>
        <p:nvCxnSpPr>
          <p:cNvPr id="1046" name="Google Shape;1046;p74"/>
          <p:cNvCxnSpPr/>
          <p:nvPr/>
        </p:nvCxnSpPr>
        <p:spPr>
          <a:xfrm flipH="1" rot="10800000">
            <a:off x="7197300" y="3673950"/>
            <a:ext cx="1200" cy="514200"/>
          </a:xfrm>
          <a:prstGeom prst="straightConnector1">
            <a:avLst/>
          </a:prstGeom>
          <a:noFill/>
          <a:ln cap="flat" cmpd="sng" w="28575">
            <a:solidFill>
              <a:schemeClr val="accent4"/>
            </a:solidFill>
            <a:prstDash val="solid"/>
            <a:round/>
            <a:headEnd len="med" w="med" type="none"/>
            <a:tailEnd len="med" w="med" type="none"/>
          </a:ln>
        </p:spPr>
      </p:cxnSp>
      <p:sp>
        <p:nvSpPr>
          <p:cNvPr id="1047" name="Google Shape;1047;p74"/>
          <p:cNvSpPr/>
          <p:nvPr/>
        </p:nvSpPr>
        <p:spPr>
          <a:xfrm>
            <a:off x="320550" y="613500"/>
            <a:ext cx="4378500" cy="242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48" name="Google Shape;1048;p74"/>
          <p:cNvSpPr txBox="1"/>
          <p:nvPr/>
        </p:nvSpPr>
        <p:spPr>
          <a:xfrm flipH="1" rot="2645">
            <a:off x="628789" y="1876121"/>
            <a:ext cx="3119401"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1156 + 1296 = 2452 </a:t>
            </a:r>
            <a:endParaRPr sz="1800">
              <a:latin typeface="Lexend"/>
              <a:ea typeface="Lexend"/>
              <a:cs typeface="Lexend"/>
              <a:sym typeface="Lexend"/>
            </a:endParaRPr>
          </a:p>
        </p:txBody>
      </p:sp>
      <p:sp>
        <p:nvSpPr>
          <p:cNvPr id="1049" name="Google Shape;1049;p74"/>
          <p:cNvSpPr txBox="1"/>
          <p:nvPr/>
        </p:nvSpPr>
        <p:spPr>
          <a:xfrm flipH="1" rot="2645">
            <a:off x="323989" y="713921"/>
            <a:ext cx="31194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The sum of the areas of the two smaller squares are:</a:t>
            </a:r>
            <a:endParaRPr sz="1800">
              <a:latin typeface="Lexend"/>
              <a:ea typeface="Lexend"/>
              <a:cs typeface="Lexend"/>
              <a:sym typeface="Lexend"/>
            </a:endParaRPr>
          </a:p>
        </p:txBody>
      </p:sp>
      <p:sp>
        <p:nvSpPr>
          <p:cNvPr id="1050" name="Google Shape;1050;p74"/>
          <p:cNvSpPr txBox="1"/>
          <p:nvPr/>
        </p:nvSpPr>
        <p:spPr>
          <a:xfrm flipH="1" rot="2645">
            <a:off x="628789" y="1433471"/>
            <a:ext cx="3119401"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700">
                <a:latin typeface="Lexend"/>
                <a:ea typeface="Lexend"/>
                <a:cs typeface="Lexend"/>
                <a:sym typeface="Lexend"/>
              </a:rPr>
              <a:t> </a:t>
            </a:r>
            <a:r>
              <a:rPr lang="en-GB" sz="1800">
                <a:latin typeface="Lexend"/>
                <a:ea typeface="Lexend"/>
                <a:cs typeface="Lexend"/>
                <a:sym typeface="Lexend"/>
              </a:rPr>
              <a:t> 34²  +   36²   </a:t>
            </a:r>
            <a:endParaRPr sz="1800">
              <a:latin typeface="Lexend"/>
              <a:ea typeface="Lexend"/>
              <a:cs typeface="Lexend"/>
              <a:sym typeface="Lexend"/>
            </a:endParaRPr>
          </a:p>
        </p:txBody>
      </p:sp>
      <p:sp>
        <p:nvSpPr>
          <p:cNvPr id="1051" name="Google Shape;1051;p74"/>
          <p:cNvSpPr txBox="1"/>
          <p:nvPr/>
        </p:nvSpPr>
        <p:spPr>
          <a:xfrm flipH="1" rot="2610">
            <a:off x="323950" y="2319393"/>
            <a:ext cx="4742401"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Since this isn’t equal to 2500, this isn’t a right-angled triangle, and so Pythagoras’ theorem doesn’t work.</a:t>
            </a:r>
            <a:endParaRPr sz="1800">
              <a:latin typeface="Lexend"/>
              <a:ea typeface="Lexend"/>
              <a:cs typeface="Lexend"/>
              <a:sym typeface="Lexend"/>
            </a:endParaRPr>
          </a:p>
        </p:txBody>
      </p:sp>
      <p:sp>
        <p:nvSpPr>
          <p:cNvPr id="1052" name="Google Shape;1052;p74"/>
          <p:cNvSpPr txBox="1"/>
          <p:nvPr/>
        </p:nvSpPr>
        <p:spPr>
          <a:xfrm flipH="1" rot="2645">
            <a:off x="628789" y="3316771"/>
            <a:ext cx="3119401"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700">
                <a:latin typeface="Lexend"/>
                <a:ea typeface="Lexend"/>
                <a:cs typeface="Lexend"/>
                <a:sym typeface="Lexend"/>
              </a:rPr>
              <a:t> </a:t>
            </a:r>
            <a:r>
              <a:rPr lang="en-GB" sz="1800">
                <a:latin typeface="Lexend"/>
                <a:ea typeface="Lexend"/>
                <a:cs typeface="Lexend"/>
                <a:sym typeface="Lexend"/>
              </a:rPr>
              <a:t> 34²  +   36²  ≠  50²</a:t>
            </a:r>
            <a:endParaRPr sz="1800">
              <a:latin typeface="Lexend"/>
              <a:ea typeface="Lexend"/>
              <a:cs typeface="Lexend"/>
              <a:sym typeface="Lexend"/>
            </a:endParaRPr>
          </a:p>
        </p:txBody>
      </p:sp>
      <p:sp>
        <p:nvSpPr>
          <p:cNvPr id="1053" name="Google Shape;1053;p74"/>
          <p:cNvSpPr txBox="1"/>
          <p:nvPr/>
        </p:nvSpPr>
        <p:spPr>
          <a:xfrm flipH="1" rot="2610">
            <a:off x="323950" y="3760043"/>
            <a:ext cx="47424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As this triangle isn’t right-angled, it has no hypotenuse.</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75"/>
          <p:cNvSpPr/>
          <p:nvPr/>
        </p:nvSpPr>
        <p:spPr>
          <a:xfrm>
            <a:off x="3889882" y="3341500"/>
            <a:ext cx="1499700" cy="977100"/>
          </a:xfrm>
          <a:prstGeom prst="rtTriangle">
            <a:avLst/>
          </a:prstGeom>
          <a:solidFill>
            <a:srgbClr val="EBEDFE"/>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9" name="Google Shape;1059;p75"/>
          <p:cNvSpPr txBox="1"/>
          <p:nvPr/>
        </p:nvSpPr>
        <p:spPr>
          <a:xfrm flipH="1">
            <a:off x="324000" y="613195"/>
            <a:ext cx="849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latin typeface="Lexend"/>
                <a:ea typeface="Lexend"/>
                <a:cs typeface="Lexend"/>
                <a:sym typeface="Lexend"/>
              </a:rPr>
              <a:t>In which of these triangles is Pythagoras’ theorem true?</a:t>
            </a:r>
            <a:endParaRPr sz="1800">
              <a:latin typeface="Lexend"/>
              <a:ea typeface="Lexend"/>
              <a:cs typeface="Lexend"/>
              <a:sym typeface="Lexend"/>
            </a:endParaRPr>
          </a:p>
        </p:txBody>
      </p:sp>
      <p:sp>
        <p:nvSpPr>
          <p:cNvPr id="1060" name="Google Shape;1060;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Identifying the hypotenuse</a:t>
            </a:r>
            <a:endParaRPr/>
          </a:p>
        </p:txBody>
      </p:sp>
      <p:grpSp>
        <p:nvGrpSpPr>
          <p:cNvPr id="1061" name="Google Shape;1061;p75"/>
          <p:cNvGrpSpPr/>
          <p:nvPr/>
        </p:nvGrpSpPr>
        <p:grpSpPr>
          <a:xfrm rot="5400000">
            <a:off x="338601" y="1097483"/>
            <a:ext cx="1589118" cy="1587815"/>
            <a:chOff x="6577689" y="980020"/>
            <a:chExt cx="1589118" cy="1587815"/>
          </a:xfrm>
        </p:grpSpPr>
        <p:grpSp>
          <p:nvGrpSpPr>
            <p:cNvPr id="1062" name="Google Shape;1062;p75"/>
            <p:cNvGrpSpPr/>
            <p:nvPr/>
          </p:nvGrpSpPr>
          <p:grpSpPr>
            <a:xfrm>
              <a:off x="6679395" y="980020"/>
              <a:ext cx="1487413" cy="1487413"/>
              <a:chOff x="6679600" y="980050"/>
              <a:chExt cx="1216200" cy="1216200"/>
            </a:xfrm>
          </p:grpSpPr>
          <p:sp>
            <p:nvSpPr>
              <p:cNvPr id="1063" name="Google Shape;1063;p75"/>
              <p:cNvSpPr/>
              <p:nvPr/>
            </p:nvSpPr>
            <p:spPr>
              <a:xfrm>
                <a:off x="6679600" y="980050"/>
                <a:ext cx="1216200" cy="1216200"/>
              </a:xfrm>
              <a:prstGeom prst="rtTriangle">
                <a:avLst/>
              </a:prstGeom>
              <a:solidFill>
                <a:srgbClr val="EBEDFE"/>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4" name="Google Shape;1064;p75"/>
              <p:cNvSpPr/>
              <p:nvPr/>
            </p:nvSpPr>
            <p:spPr>
              <a:xfrm>
                <a:off x="6679600" y="1939150"/>
                <a:ext cx="257100" cy="257100"/>
              </a:xfrm>
              <a:prstGeom prst="rect">
                <a:avLst/>
              </a:prstGeom>
              <a:noFill/>
              <a:ln cap="flat" cmpd="sng" w="28575">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5" name="Google Shape;1065;p75"/>
              <p:cNvSpPr/>
              <p:nvPr/>
            </p:nvSpPr>
            <p:spPr>
              <a:xfrm>
                <a:off x="6679600" y="980050"/>
                <a:ext cx="1216200" cy="12162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066" name="Google Shape;1066;p75"/>
            <p:cNvGrpSpPr/>
            <p:nvPr/>
          </p:nvGrpSpPr>
          <p:grpSpPr>
            <a:xfrm>
              <a:off x="6577689" y="1622164"/>
              <a:ext cx="203100" cy="203100"/>
              <a:chOff x="5878935" y="1619989"/>
              <a:chExt cx="203100" cy="203100"/>
            </a:xfrm>
          </p:grpSpPr>
          <p:cxnSp>
            <p:nvCxnSpPr>
              <p:cNvPr id="1067" name="Google Shape;1067;p75"/>
              <p:cNvCxnSpPr/>
              <p:nvPr/>
            </p:nvCxnSpPr>
            <p:spPr>
              <a:xfrm>
                <a:off x="5878935" y="1721539"/>
                <a:ext cx="203100" cy="0"/>
              </a:xfrm>
              <a:prstGeom prst="straightConnector1">
                <a:avLst/>
              </a:prstGeom>
              <a:noFill/>
              <a:ln cap="flat" cmpd="sng" w="19050">
                <a:solidFill>
                  <a:srgbClr val="000000"/>
                </a:solidFill>
                <a:prstDash val="solid"/>
                <a:round/>
                <a:headEnd len="med" w="med" type="none"/>
                <a:tailEnd len="med" w="med" type="none"/>
              </a:ln>
            </p:spPr>
          </p:cxnSp>
          <p:cxnSp>
            <p:nvCxnSpPr>
              <p:cNvPr id="1068" name="Google Shape;1068;p75"/>
              <p:cNvCxnSpPr/>
              <p:nvPr/>
            </p:nvCxnSpPr>
            <p:spPr>
              <a:xfrm rot="5400000">
                <a:off x="5878935" y="1721539"/>
                <a:ext cx="203100" cy="0"/>
              </a:xfrm>
              <a:prstGeom prst="straightConnector1">
                <a:avLst/>
              </a:prstGeom>
              <a:noFill/>
              <a:ln cap="flat" cmpd="sng" w="19050">
                <a:solidFill>
                  <a:srgbClr val="000000"/>
                </a:solidFill>
                <a:prstDash val="solid"/>
                <a:round/>
                <a:headEnd len="med" w="med" type="none"/>
                <a:tailEnd len="med" w="med" type="none"/>
              </a:ln>
            </p:spPr>
          </p:cxnSp>
        </p:grpSp>
        <p:grpSp>
          <p:nvGrpSpPr>
            <p:cNvPr id="1069" name="Google Shape;1069;p75"/>
            <p:cNvGrpSpPr/>
            <p:nvPr/>
          </p:nvGrpSpPr>
          <p:grpSpPr>
            <a:xfrm>
              <a:off x="7321539" y="2364735"/>
              <a:ext cx="203100" cy="203100"/>
              <a:chOff x="5878935" y="1619989"/>
              <a:chExt cx="203100" cy="203100"/>
            </a:xfrm>
          </p:grpSpPr>
          <p:cxnSp>
            <p:nvCxnSpPr>
              <p:cNvPr id="1070" name="Google Shape;1070;p75"/>
              <p:cNvCxnSpPr/>
              <p:nvPr/>
            </p:nvCxnSpPr>
            <p:spPr>
              <a:xfrm>
                <a:off x="5878935" y="1721539"/>
                <a:ext cx="203100" cy="0"/>
              </a:xfrm>
              <a:prstGeom prst="straightConnector1">
                <a:avLst/>
              </a:prstGeom>
              <a:noFill/>
              <a:ln cap="flat" cmpd="sng" w="19050">
                <a:solidFill>
                  <a:srgbClr val="000000"/>
                </a:solidFill>
                <a:prstDash val="solid"/>
                <a:round/>
                <a:headEnd len="med" w="med" type="none"/>
                <a:tailEnd len="med" w="med" type="none"/>
              </a:ln>
            </p:spPr>
          </p:cxnSp>
          <p:cxnSp>
            <p:nvCxnSpPr>
              <p:cNvPr id="1071" name="Google Shape;1071;p75"/>
              <p:cNvCxnSpPr/>
              <p:nvPr/>
            </p:nvCxnSpPr>
            <p:spPr>
              <a:xfrm rot="5400000">
                <a:off x="5878935" y="1721539"/>
                <a:ext cx="203100" cy="0"/>
              </a:xfrm>
              <a:prstGeom prst="straightConnector1">
                <a:avLst/>
              </a:prstGeom>
              <a:noFill/>
              <a:ln cap="flat" cmpd="sng" w="19050">
                <a:solidFill>
                  <a:srgbClr val="000000"/>
                </a:solidFill>
                <a:prstDash val="solid"/>
                <a:round/>
                <a:headEnd len="med" w="med" type="none"/>
                <a:tailEnd len="med" w="med" type="none"/>
              </a:ln>
            </p:spPr>
          </p:cxnSp>
        </p:grpSp>
      </p:grpSp>
      <p:grpSp>
        <p:nvGrpSpPr>
          <p:cNvPr id="1072" name="Google Shape;1072;p75"/>
          <p:cNvGrpSpPr/>
          <p:nvPr/>
        </p:nvGrpSpPr>
        <p:grpSpPr>
          <a:xfrm rot="8100000">
            <a:off x="6902257" y="3372723"/>
            <a:ext cx="1589090" cy="1587800"/>
            <a:chOff x="6577689" y="980020"/>
            <a:chExt cx="1589106" cy="1587815"/>
          </a:xfrm>
        </p:grpSpPr>
        <p:sp>
          <p:nvSpPr>
            <p:cNvPr id="1073" name="Google Shape;1073;p75"/>
            <p:cNvSpPr/>
            <p:nvPr/>
          </p:nvSpPr>
          <p:spPr>
            <a:xfrm>
              <a:off x="6679395" y="980020"/>
              <a:ext cx="1487400" cy="1487400"/>
            </a:xfrm>
            <a:prstGeom prst="rtTriangle">
              <a:avLst/>
            </a:prstGeom>
            <a:solidFill>
              <a:srgbClr val="EBEDFE"/>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074" name="Google Shape;1074;p75"/>
            <p:cNvGrpSpPr/>
            <p:nvPr/>
          </p:nvGrpSpPr>
          <p:grpSpPr>
            <a:xfrm>
              <a:off x="6577689" y="1622164"/>
              <a:ext cx="203100" cy="203100"/>
              <a:chOff x="5878935" y="1619989"/>
              <a:chExt cx="203100" cy="203100"/>
            </a:xfrm>
          </p:grpSpPr>
          <p:cxnSp>
            <p:nvCxnSpPr>
              <p:cNvPr id="1075" name="Google Shape;1075;p75"/>
              <p:cNvCxnSpPr/>
              <p:nvPr/>
            </p:nvCxnSpPr>
            <p:spPr>
              <a:xfrm>
                <a:off x="5878935" y="1721539"/>
                <a:ext cx="203100" cy="0"/>
              </a:xfrm>
              <a:prstGeom prst="straightConnector1">
                <a:avLst/>
              </a:prstGeom>
              <a:noFill/>
              <a:ln cap="flat" cmpd="sng" w="19050">
                <a:solidFill>
                  <a:srgbClr val="000000"/>
                </a:solidFill>
                <a:prstDash val="solid"/>
                <a:round/>
                <a:headEnd len="med" w="med" type="none"/>
                <a:tailEnd len="med" w="med" type="none"/>
              </a:ln>
            </p:spPr>
          </p:cxnSp>
          <p:cxnSp>
            <p:nvCxnSpPr>
              <p:cNvPr id="1076" name="Google Shape;1076;p75"/>
              <p:cNvCxnSpPr/>
              <p:nvPr/>
            </p:nvCxnSpPr>
            <p:spPr>
              <a:xfrm rot="5400000">
                <a:off x="5878935" y="1721539"/>
                <a:ext cx="203100" cy="0"/>
              </a:xfrm>
              <a:prstGeom prst="straightConnector1">
                <a:avLst/>
              </a:prstGeom>
              <a:noFill/>
              <a:ln cap="flat" cmpd="sng" w="19050">
                <a:solidFill>
                  <a:srgbClr val="000000"/>
                </a:solidFill>
                <a:prstDash val="solid"/>
                <a:round/>
                <a:headEnd len="med" w="med" type="none"/>
                <a:tailEnd len="med" w="med" type="none"/>
              </a:ln>
            </p:spPr>
          </p:cxnSp>
        </p:grpSp>
        <p:grpSp>
          <p:nvGrpSpPr>
            <p:cNvPr id="1077" name="Google Shape;1077;p75"/>
            <p:cNvGrpSpPr/>
            <p:nvPr/>
          </p:nvGrpSpPr>
          <p:grpSpPr>
            <a:xfrm>
              <a:off x="7321539" y="2364735"/>
              <a:ext cx="203100" cy="203100"/>
              <a:chOff x="5878935" y="1619989"/>
              <a:chExt cx="203100" cy="203100"/>
            </a:xfrm>
          </p:grpSpPr>
          <p:cxnSp>
            <p:nvCxnSpPr>
              <p:cNvPr id="1078" name="Google Shape;1078;p75"/>
              <p:cNvCxnSpPr/>
              <p:nvPr/>
            </p:nvCxnSpPr>
            <p:spPr>
              <a:xfrm>
                <a:off x="5878935" y="1721539"/>
                <a:ext cx="203100" cy="0"/>
              </a:xfrm>
              <a:prstGeom prst="straightConnector1">
                <a:avLst/>
              </a:prstGeom>
              <a:noFill/>
              <a:ln cap="flat" cmpd="sng" w="19050">
                <a:solidFill>
                  <a:srgbClr val="000000"/>
                </a:solidFill>
                <a:prstDash val="solid"/>
                <a:round/>
                <a:headEnd len="med" w="med" type="none"/>
                <a:tailEnd len="med" w="med" type="none"/>
              </a:ln>
            </p:spPr>
          </p:cxnSp>
          <p:cxnSp>
            <p:nvCxnSpPr>
              <p:cNvPr id="1079" name="Google Shape;1079;p75"/>
              <p:cNvCxnSpPr/>
              <p:nvPr/>
            </p:nvCxnSpPr>
            <p:spPr>
              <a:xfrm rot="5400000">
                <a:off x="5878935" y="1721539"/>
                <a:ext cx="203100" cy="0"/>
              </a:xfrm>
              <a:prstGeom prst="straightConnector1">
                <a:avLst/>
              </a:prstGeom>
              <a:noFill/>
              <a:ln cap="flat" cmpd="sng" w="19050">
                <a:solidFill>
                  <a:srgbClr val="000000"/>
                </a:solidFill>
                <a:prstDash val="solid"/>
                <a:round/>
                <a:headEnd len="med" w="med" type="none"/>
                <a:tailEnd len="med" w="med" type="none"/>
              </a:ln>
            </p:spPr>
          </p:cxnSp>
        </p:grpSp>
      </p:grpSp>
      <p:sp>
        <p:nvSpPr>
          <p:cNvPr id="1080" name="Google Shape;1080;p75"/>
          <p:cNvSpPr/>
          <p:nvPr/>
        </p:nvSpPr>
        <p:spPr>
          <a:xfrm rot="8100000">
            <a:off x="6952551" y="3494348"/>
            <a:ext cx="1487470" cy="148747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1" name="Google Shape;1081;p75"/>
          <p:cNvSpPr/>
          <p:nvPr/>
        </p:nvSpPr>
        <p:spPr>
          <a:xfrm flipH="1">
            <a:off x="6054734" y="3622676"/>
            <a:ext cx="1209300" cy="1209300"/>
          </a:xfrm>
          <a:prstGeom prst="arc">
            <a:avLst>
              <a:gd fmla="val 10761646" name="adj1"/>
              <a:gd fmla="val 13538841"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2" name="Google Shape;1082;p75"/>
          <p:cNvSpPr txBox="1"/>
          <p:nvPr/>
        </p:nvSpPr>
        <p:spPr>
          <a:xfrm flipH="1" rot="4462">
            <a:off x="6809323" y="3951507"/>
            <a:ext cx="462300" cy="187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45°</a:t>
            </a:r>
            <a:endParaRPr sz="1800">
              <a:latin typeface="Lexend"/>
              <a:ea typeface="Lexend"/>
              <a:cs typeface="Lexend"/>
              <a:sym typeface="Lexend"/>
            </a:endParaRPr>
          </a:p>
        </p:txBody>
      </p:sp>
      <p:sp>
        <p:nvSpPr>
          <p:cNvPr id="1083" name="Google Shape;1083;p75"/>
          <p:cNvSpPr/>
          <p:nvPr/>
        </p:nvSpPr>
        <p:spPr>
          <a:xfrm rot="8100000">
            <a:off x="6952551" y="3494348"/>
            <a:ext cx="1487470" cy="148747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084" name="Google Shape;1084;p75"/>
          <p:cNvGrpSpPr/>
          <p:nvPr/>
        </p:nvGrpSpPr>
        <p:grpSpPr>
          <a:xfrm>
            <a:off x="846100" y="2267000"/>
            <a:ext cx="2327086" cy="2319418"/>
            <a:chOff x="2293900" y="1428800"/>
            <a:chExt cx="2327086" cy="2319418"/>
          </a:xfrm>
        </p:grpSpPr>
        <p:grpSp>
          <p:nvGrpSpPr>
            <p:cNvPr id="1085" name="Google Shape;1085;p75"/>
            <p:cNvGrpSpPr/>
            <p:nvPr/>
          </p:nvGrpSpPr>
          <p:grpSpPr>
            <a:xfrm>
              <a:off x="2294029" y="1428800"/>
              <a:ext cx="2326956" cy="2319418"/>
              <a:chOff x="2294090" y="1428156"/>
              <a:chExt cx="2143870" cy="2136925"/>
            </a:xfrm>
          </p:grpSpPr>
          <p:sp>
            <p:nvSpPr>
              <p:cNvPr id="1086" name="Google Shape;1086;p75"/>
              <p:cNvSpPr/>
              <p:nvPr/>
            </p:nvSpPr>
            <p:spPr>
              <a:xfrm>
                <a:off x="3011090" y="2131081"/>
                <a:ext cx="717000" cy="717000"/>
              </a:xfrm>
              <a:prstGeom prst="rtTriangle">
                <a:avLst/>
              </a:prstGeom>
              <a:solidFill>
                <a:srgbClr val="EBEDFE"/>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7" name="Google Shape;1087;p75"/>
              <p:cNvSpPr/>
              <p:nvPr/>
            </p:nvSpPr>
            <p:spPr>
              <a:xfrm>
                <a:off x="3011090" y="2848081"/>
                <a:ext cx="717000" cy="717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8" name="Google Shape;1088;p75"/>
              <p:cNvSpPr/>
              <p:nvPr/>
            </p:nvSpPr>
            <p:spPr>
              <a:xfrm>
                <a:off x="2294090" y="2131081"/>
                <a:ext cx="717000" cy="717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9" name="Google Shape;1089;p75"/>
              <p:cNvSpPr/>
              <p:nvPr/>
            </p:nvSpPr>
            <p:spPr>
              <a:xfrm rot="2700000">
                <a:off x="3221134" y="1636930"/>
                <a:ext cx="1008051" cy="1008051"/>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090" name="Google Shape;1090;p75"/>
            <p:cNvSpPr txBox="1"/>
            <p:nvPr/>
          </p:nvSpPr>
          <p:spPr>
            <a:xfrm flipH="1">
              <a:off x="2293900" y="2294700"/>
              <a:ext cx="770100" cy="554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area</a:t>
              </a:r>
              <a:endParaRPr sz="1800">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10 cm²</a:t>
              </a:r>
              <a:endParaRPr sz="1800">
                <a:latin typeface="Lexend"/>
                <a:ea typeface="Lexend"/>
                <a:cs typeface="Lexend"/>
                <a:sym typeface="Lexend"/>
              </a:endParaRPr>
            </a:p>
          </p:txBody>
        </p:sp>
        <p:sp>
          <p:nvSpPr>
            <p:cNvPr id="1091" name="Google Shape;1091;p75"/>
            <p:cNvSpPr txBox="1"/>
            <p:nvPr/>
          </p:nvSpPr>
          <p:spPr>
            <a:xfrm flipH="1">
              <a:off x="3072450" y="3082975"/>
              <a:ext cx="770100" cy="554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area</a:t>
              </a:r>
              <a:endParaRPr sz="1800">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8 cm²</a:t>
              </a:r>
              <a:endParaRPr sz="1800">
                <a:latin typeface="Lexend"/>
                <a:ea typeface="Lexend"/>
                <a:cs typeface="Lexend"/>
                <a:sym typeface="Lexend"/>
              </a:endParaRPr>
            </a:p>
          </p:txBody>
        </p:sp>
        <p:sp>
          <p:nvSpPr>
            <p:cNvPr id="1092" name="Google Shape;1092;p75"/>
            <p:cNvSpPr txBox="1"/>
            <p:nvPr/>
          </p:nvSpPr>
          <p:spPr>
            <a:xfrm flipH="1">
              <a:off x="3463175" y="1882950"/>
              <a:ext cx="770100" cy="554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area</a:t>
              </a:r>
              <a:endParaRPr sz="1800">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19 cm²</a:t>
              </a:r>
              <a:endParaRPr sz="1800">
                <a:latin typeface="Lexend"/>
                <a:ea typeface="Lexend"/>
                <a:cs typeface="Lexend"/>
                <a:sym typeface="Lexend"/>
              </a:endParaRPr>
            </a:p>
          </p:txBody>
        </p:sp>
      </p:grpSp>
      <p:sp>
        <p:nvSpPr>
          <p:cNvPr id="1093" name="Google Shape;1093;p75"/>
          <p:cNvSpPr txBox="1"/>
          <p:nvPr/>
        </p:nvSpPr>
        <p:spPr>
          <a:xfrm flipH="1">
            <a:off x="3250513" y="1107445"/>
            <a:ext cx="15081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hypotenuse</a:t>
            </a:r>
            <a:endParaRPr sz="1800">
              <a:latin typeface="Lexend"/>
              <a:ea typeface="Lexend"/>
              <a:cs typeface="Lexend"/>
              <a:sym typeface="Lexend"/>
            </a:endParaRPr>
          </a:p>
        </p:txBody>
      </p:sp>
      <p:cxnSp>
        <p:nvCxnSpPr>
          <p:cNvPr id="1094" name="Google Shape;1094;p75"/>
          <p:cNvCxnSpPr/>
          <p:nvPr/>
        </p:nvCxnSpPr>
        <p:spPr>
          <a:xfrm rot="10798633">
            <a:off x="3891475" y="4465945"/>
            <a:ext cx="1509300" cy="0"/>
          </a:xfrm>
          <a:prstGeom prst="straightConnector1">
            <a:avLst/>
          </a:prstGeom>
          <a:noFill/>
          <a:ln cap="flat" cmpd="sng" w="28575">
            <a:solidFill>
              <a:srgbClr val="374CF1"/>
            </a:solidFill>
            <a:prstDash val="solid"/>
            <a:round/>
            <a:headEnd len="med" w="med" type="triangle"/>
            <a:tailEnd len="med" w="med" type="triangle"/>
          </a:ln>
        </p:spPr>
      </p:cxnSp>
      <p:sp>
        <p:nvSpPr>
          <p:cNvPr id="1095" name="Google Shape;1095;p75"/>
          <p:cNvSpPr txBox="1"/>
          <p:nvPr/>
        </p:nvSpPr>
        <p:spPr>
          <a:xfrm flipH="1">
            <a:off x="4138988" y="4456383"/>
            <a:ext cx="1025400" cy="30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10 cm</a:t>
            </a:r>
            <a:endParaRPr sz="1800">
              <a:latin typeface="Lexend"/>
              <a:ea typeface="Lexend"/>
              <a:cs typeface="Lexend"/>
              <a:sym typeface="Lexend"/>
            </a:endParaRPr>
          </a:p>
        </p:txBody>
      </p:sp>
      <p:sp>
        <p:nvSpPr>
          <p:cNvPr id="1096" name="Google Shape;1096;p75"/>
          <p:cNvSpPr/>
          <p:nvPr/>
        </p:nvSpPr>
        <p:spPr>
          <a:xfrm>
            <a:off x="4599172" y="3552941"/>
            <a:ext cx="1534200" cy="1534200"/>
          </a:xfrm>
          <a:prstGeom prst="arc">
            <a:avLst>
              <a:gd fmla="val 10761646" name="adj1"/>
              <a:gd fmla="val 12845392"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7" name="Google Shape;1097;p75"/>
          <p:cNvSpPr txBox="1"/>
          <p:nvPr/>
        </p:nvSpPr>
        <p:spPr>
          <a:xfrm rot="-4462">
            <a:off x="4635489" y="4045810"/>
            <a:ext cx="462300" cy="187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38°</a:t>
            </a:r>
            <a:endParaRPr sz="1800">
              <a:latin typeface="Lexend"/>
              <a:ea typeface="Lexend"/>
              <a:cs typeface="Lexend"/>
              <a:sym typeface="Lexend"/>
            </a:endParaRPr>
          </a:p>
        </p:txBody>
      </p:sp>
      <p:sp>
        <p:nvSpPr>
          <p:cNvPr id="1098" name="Google Shape;1098;p75"/>
          <p:cNvSpPr/>
          <p:nvPr/>
        </p:nvSpPr>
        <p:spPr>
          <a:xfrm>
            <a:off x="3370025" y="2821398"/>
            <a:ext cx="1065600" cy="1065600"/>
          </a:xfrm>
          <a:prstGeom prst="arc">
            <a:avLst>
              <a:gd fmla="val 1968750" name="adj1"/>
              <a:gd fmla="val 5437026"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099" name="Google Shape;1099;p75"/>
          <p:cNvGrpSpPr/>
          <p:nvPr/>
        </p:nvGrpSpPr>
        <p:grpSpPr>
          <a:xfrm rot="-2700000">
            <a:off x="3260783" y="655074"/>
            <a:ext cx="1487541" cy="1487386"/>
            <a:chOff x="6679239" y="980020"/>
            <a:chExt cx="1487556" cy="1487400"/>
          </a:xfrm>
        </p:grpSpPr>
        <p:sp>
          <p:nvSpPr>
            <p:cNvPr id="1100" name="Google Shape;1100;p75"/>
            <p:cNvSpPr/>
            <p:nvPr/>
          </p:nvSpPr>
          <p:spPr>
            <a:xfrm>
              <a:off x="6679395" y="980020"/>
              <a:ext cx="1487400" cy="1487400"/>
            </a:xfrm>
            <a:prstGeom prst="rtTriangle">
              <a:avLst/>
            </a:prstGeom>
            <a:solidFill>
              <a:srgbClr val="EBEDFE"/>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01" name="Google Shape;1101;p75"/>
            <p:cNvCxnSpPr/>
            <p:nvPr/>
          </p:nvCxnSpPr>
          <p:spPr>
            <a:xfrm rot="5400000">
              <a:off x="6577689" y="1723714"/>
              <a:ext cx="203100" cy="0"/>
            </a:xfrm>
            <a:prstGeom prst="straightConnector1">
              <a:avLst/>
            </a:prstGeom>
            <a:noFill/>
            <a:ln cap="flat" cmpd="sng" w="19050">
              <a:solidFill>
                <a:srgbClr val="000000"/>
              </a:solidFill>
              <a:prstDash val="solid"/>
              <a:round/>
              <a:headEnd len="med" w="med" type="none"/>
              <a:tailEnd len="med" w="med" type="none"/>
            </a:ln>
          </p:spPr>
        </p:cxnSp>
        <p:cxnSp>
          <p:nvCxnSpPr>
            <p:cNvPr id="1102" name="Google Shape;1102;p75"/>
            <p:cNvCxnSpPr/>
            <p:nvPr/>
          </p:nvCxnSpPr>
          <p:spPr>
            <a:xfrm>
              <a:off x="7321539" y="2466285"/>
              <a:ext cx="203100" cy="0"/>
            </a:xfrm>
            <a:prstGeom prst="straightConnector1">
              <a:avLst/>
            </a:prstGeom>
            <a:noFill/>
            <a:ln cap="flat" cmpd="sng" w="19050">
              <a:solidFill>
                <a:srgbClr val="000000"/>
              </a:solidFill>
              <a:prstDash val="solid"/>
              <a:round/>
              <a:headEnd len="med" w="med" type="none"/>
              <a:tailEnd len="med" w="med" type="none"/>
            </a:ln>
          </p:spPr>
        </p:cxnSp>
      </p:grpSp>
      <p:sp>
        <p:nvSpPr>
          <p:cNvPr id="1103" name="Google Shape;1103;p75"/>
          <p:cNvSpPr txBox="1"/>
          <p:nvPr/>
        </p:nvSpPr>
        <p:spPr>
          <a:xfrm rot="-4462">
            <a:off x="3868066" y="3559189"/>
            <a:ext cx="462300" cy="187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62°</a:t>
            </a:r>
            <a:endParaRPr sz="1800">
              <a:latin typeface="Lexend"/>
              <a:ea typeface="Lexend"/>
              <a:cs typeface="Lexend"/>
              <a:sym typeface="Lexend"/>
            </a:endParaRPr>
          </a:p>
        </p:txBody>
      </p:sp>
      <p:sp>
        <p:nvSpPr>
          <p:cNvPr id="1104" name="Google Shape;1104;p75"/>
          <p:cNvSpPr/>
          <p:nvPr/>
        </p:nvSpPr>
        <p:spPr>
          <a:xfrm>
            <a:off x="3889870" y="3341500"/>
            <a:ext cx="1499700" cy="977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105" name="Google Shape;1105;p75"/>
          <p:cNvGrpSpPr/>
          <p:nvPr/>
        </p:nvGrpSpPr>
        <p:grpSpPr>
          <a:xfrm rot="8100000">
            <a:off x="5694345" y="894080"/>
            <a:ext cx="2326975" cy="2319437"/>
            <a:chOff x="2294090" y="1428156"/>
            <a:chExt cx="2143870" cy="2136925"/>
          </a:xfrm>
        </p:grpSpPr>
        <p:sp>
          <p:nvSpPr>
            <p:cNvPr id="1106" name="Google Shape;1106;p75"/>
            <p:cNvSpPr/>
            <p:nvPr/>
          </p:nvSpPr>
          <p:spPr>
            <a:xfrm>
              <a:off x="3011090" y="2131081"/>
              <a:ext cx="717000" cy="717000"/>
            </a:xfrm>
            <a:prstGeom prst="rtTriangle">
              <a:avLst/>
            </a:prstGeom>
            <a:solidFill>
              <a:srgbClr val="EBEDFE"/>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7" name="Google Shape;1107;p75"/>
            <p:cNvSpPr/>
            <p:nvPr/>
          </p:nvSpPr>
          <p:spPr>
            <a:xfrm>
              <a:off x="3011090" y="2848081"/>
              <a:ext cx="717000" cy="717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8" name="Google Shape;1108;p75"/>
            <p:cNvSpPr/>
            <p:nvPr/>
          </p:nvSpPr>
          <p:spPr>
            <a:xfrm>
              <a:off x="2294090" y="2131081"/>
              <a:ext cx="717000" cy="717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9" name="Google Shape;1109;p75"/>
            <p:cNvSpPr/>
            <p:nvPr/>
          </p:nvSpPr>
          <p:spPr>
            <a:xfrm rot="2700000">
              <a:off x="3221134" y="1636930"/>
              <a:ext cx="1008051" cy="1008051"/>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110" name="Google Shape;1110;p75"/>
          <p:cNvSpPr txBox="1"/>
          <p:nvPr/>
        </p:nvSpPr>
        <p:spPr>
          <a:xfrm flipH="1">
            <a:off x="5934180" y="1190067"/>
            <a:ext cx="770100" cy="554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area</a:t>
            </a:r>
            <a:endParaRPr sz="1800">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37 cm²</a:t>
            </a:r>
            <a:endParaRPr sz="1800">
              <a:latin typeface="Lexend"/>
              <a:ea typeface="Lexend"/>
              <a:cs typeface="Lexend"/>
              <a:sym typeface="Lexend"/>
            </a:endParaRPr>
          </a:p>
        </p:txBody>
      </p:sp>
      <p:sp>
        <p:nvSpPr>
          <p:cNvPr id="1111" name="Google Shape;1111;p75"/>
          <p:cNvSpPr txBox="1"/>
          <p:nvPr/>
        </p:nvSpPr>
        <p:spPr>
          <a:xfrm flipH="1">
            <a:off x="6472869" y="2356014"/>
            <a:ext cx="770100" cy="554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area</a:t>
            </a:r>
            <a:endParaRPr sz="1800">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77 cm²</a:t>
            </a:r>
            <a:endParaRPr sz="1800">
              <a:latin typeface="Lexend"/>
              <a:ea typeface="Lexend"/>
              <a:cs typeface="Lexend"/>
              <a:sym typeface="Lexend"/>
            </a:endParaRPr>
          </a:p>
        </p:txBody>
      </p:sp>
      <p:sp>
        <p:nvSpPr>
          <p:cNvPr id="1112" name="Google Shape;1112;p75"/>
          <p:cNvSpPr txBox="1"/>
          <p:nvPr/>
        </p:nvSpPr>
        <p:spPr>
          <a:xfrm flipH="1">
            <a:off x="7028178" y="1190067"/>
            <a:ext cx="770100" cy="554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area</a:t>
            </a:r>
            <a:endParaRPr sz="1800">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40 cm²</a:t>
            </a:r>
            <a:endParaRPr sz="1800">
              <a:latin typeface="Lexend"/>
              <a:ea typeface="Lexend"/>
              <a:cs typeface="Lexend"/>
              <a:sym typeface="Lexend"/>
            </a:endParaRPr>
          </a:p>
        </p:txBody>
      </p:sp>
      <p:grpSp>
        <p:nvGrpSpPr>
          <p:cNvPr id="1113" name="Google Shape;1113;p75"/>
          <p:cNvGrpSpPr/>
          <p:nvPr/>
        </p:nvGrpSpPr>
        <p:grpSpPr>
          <a:xfrm>
            <a:off x="1800596" y="1384651"/>
            <a:ext cx="274366" cy="274366"/>
            <a:chOff x="1020916" y="1442088"/>
            <a:chExt cx="457200" cy="457200"/>
          </a:xfrm>
        </p:grpSpPr>
        <p:pic>
          <p:nvPicPr>
            <p:cNvPr id="1114" name="Google Shape;1114;p7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15" name="Google Shape;1115;p7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16" name="Google Shape;1116;p75"/>
          <p:cNvGrpSpPr/>
          <p:nvPr/>
        </p:nvGrpSpPr>
        <p:grpSpPr>
          <a:xfrm>
            <a:off x="2787646" y="1542301"/>
            <a:ext cx="274366" cy="274366"/>
            <a:chOff x="1020916" y="1442088"/>
            <a:chExt cx="457200" cy="457200"/>
          </a:xfrm>
        </p:grpSpPr>
        <p:pic>
          <p:nvPicPr>
            <p:cNvPr id="1117" name="Google Shape;1117;p7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18" name="Google Shape;1118;p7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19" name="Google Shape;1119;p75"/>
          <p:cNvGrpSpPr/>
          <p:nvPr/>
        </p:nvGrpSpPr>
        <p:grpSpPr>
          <a:xfrm>
            <a:off x="649021" y="3907913"/>
            <a:ext cx="274366" cy="274366"/>
            <a:chOff x="1020916" y="1442088"/>
            <a:chExt cx="457200" cy="457200"/>
          </a:xfrm>
        </p:grpSpPr>
        <p:pic>
          <p:nvPicPr>
            <p:cNvPr id="1120" name="Google Shape;1120;p7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21" name="Google Shape;1121;p7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grpSp>
        <p:nvGrpSpPr>
          <p:cNvPr id="1122" name="Google Shape;1122;p75"/>
          <p:cNvGrpSpPr/>
          <p:nvPr/>
        </p:nvGrpSpPr>
        <p:grpSpPr>
          <a:xfrm>
            <a:off x="3500521" y="3341488"/>
            <a:ext cx="274366" cy="274366"/>
            <a:chOff x="1020916" y="1442088"/>
            <a:chExt cx="457200" cy="457200"/>
          </a:xfrm>
        </p:grpSpPr>
        <p:pic>
          <p:nvPicPr>
            <p:cNvPr id="1123" name="Google Shape;1123;p7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24" name="Google Shape;1124;p7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grpSp>
        <p:nvGrpSpPr>
          <p:cNvPr id="1125" name="Google Shape;1125;p75"/>
          <p:cNvGrpSpPr/>
          <p:nvPr/>
        </p:nvGrpSpPr>
        <p:grpSpPr>
          <a:xfrm>
            <a:off x="7990271" y="1038363"/>
            <a:ext cx="274366" cy="274366"/>
            <a:chOff x="1020916" y="1442088"/>
            <a:chExt cx="457200" cy="457200"/>
          </a:xfrm>
        </p:grpSpPr>
        <p:pic>
          <p:nvPicPr>
            <p:cNvPr id="1126" name="Google Shape;1126;p7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27" name="Google Shape;1127;p7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128" name="Google Shape;1128;p75"/>
          <p:cNvGrpSpPr/>
          <p:nvPr/>
        </p:nvGrpSpPr>
        <p:grpSpPr>
          <a:xfrm>
            <a:off x="6383896" y="3803188"/>
            <a:ext cx="274366" cy="274366"/>
            <a:chOff x="1020916" y="1442088"/>
            <a:chExt cx="457200" cy="457200"/>
          </a:xfrm>
        </p:grpSpPr>
        <p:pic>
          <p:nvPicPr>
            <p:cNvPr id="1129" name="Google Shape;1129;p7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30" name="Google Shape;1130;p7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f</a:t>
              </a:r>
              <a:endParaRPr b="1" sz="1800">
                <a:solidFill>
                  <a:srgbClr val="FFFFFF"/>
                </a:solidFill>
                <a:latin typeface="Lexend"/>
                <a:ea typeface="Lexend"/>
                <a:cs typeface="Lexend"/>
                <a:sym typeface="Lexend"/>
              </a:endParaRPr>
            </a:p>
          </p:txBody>
        </p:sp>
      </p:grpSp>
      <p:pic>
        <p:nvPicPr>
          <p:cNvPr id="1131" name="Google Shape;1131;p75"/>
          <p:cNvPicPr preferRelativeResize="0"/>
          <p:nvPr/>
        </p:nvPicPr>
        <p:blipFill>
          <a:blip r:embed="rId4">
            <a:alphaModFix/>
          </a:blip>
          <a:stretch>
            <a:fillRect/>
          </a:stretch>
        </p:blipFill>
        <p:spPr>
          <a:xfrm>
            <a:off x="1739783" y="1659013"/>
            <a:ext cx="396000" cy="419100"/>
          </a:xfrm>
          <a:prstGeom prst="rect">
            <a:avLst/>
          </a:prstGeom>
          <a:noFill/>
          <a:ln>
            <a:noFill/>
          </a:ln>
        </p:spPr>
      </p:pic>
      <p:pic>
        <p:nvPicPr>
          <p:cNvPr id="1132" name="Google Shape;1132;p75"/>
          <p:cNvPicPr preferRelativeResize="0"/>
          <p:nvPr/>
        </p:nvPicPr>
        <p:blipFill>
          <a:blip r:embed="rId4">
            <a:alphaModFix/>
          </a:blip>
          <a:stretch>
            <a:fillRect/>
          </a:stretch>
        </p:blipFill>
        <p:spPr>
          <a:xfrm>
            <a:off x="2726833" y="1832288"/>
            <a:ext cx="396000" cy="419100"/>
          </a:xfrm>
          <a:prstGeom prst="rect">
            <a:avLst/>
          </a:prstGeom>
          <a:noFill/>
          <a:ln>
            <a:noFill/>
          </a:ln>
        </p:spPr>
      </p:pic>
      <p:pic>
        <p:nvPicPr>
          <p:cNvPr id="1133" name="Google Shape;1133;p75"/>
          <p:cNvPicPr preferRelativeResize="0"/>
          <p:nvPr/>
        </p:nvPicPr>
        <p:blipFill>
          <a:blip r:embed="rId4">
            <a:alphaModFix/>
          </a:blip>
          <a:stretch>
            <a:fillRect/>
          </a:stretch>
        </p:blipFill>
        <p:spPr>
          <a:xfrm>
            <a:off x="7929458" y="1312288"/>
            <a:ext cx="396000" cy="419100"/>
          </a:xfrm>
          <a:prstGeom prst="rect">
            <a:avLst/>
          </a:prstGeom>
          <a:noFill/>
          <a:ln>
            <a:noFill/>
          </a:ln>
        </p:spPr>
      </p:pic>
      <p:pic>
        <p:nvPicPr>
          <p:cNvPr id="1134" name="Google Shape;1134;p75"/>
          <p:cNvPicPr preferRelativeResize="0"/>
          <p:nvPr/>
        </p:nvPicPr>
        <p:blipFill>
          <a:blip r:embed="rId4">
            <a:alphaModFix/>
          </a:blip>
          <a:stretch>
            <a:fillRect/>
          </a:stretch>
        </p:blipFill>
        <p:spPr>
          <a:xfrm>
            <a:off x="6323083" y="4077538"/>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76"/>
          <p:cNvSpPr txBox="1"/>
          <p:nvPr/>
        </p:nvSpPr>
        <p:spPr>
          <a:xfrm flipH="1" rot="2699">
            <a:off x="566423" y="976384"/>
            <a:ext cx="8025002" cy="1837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Clr>
                <a:srgbClr val="000000"/>
              </a:buClr>
              <a:buSzPts val="1800"/>
              <a:buFont typeface="Arial"/>
              <a:buNone/>
            </a:pPr>
            <a:r>
              <a:rPr lang="en-GB" sz="1800">
                <a:latin typeface="Lexend"/>
                <a:ea typeface="Lexend"/>
                <a:cs typeface="Lexend"/>
                <a:sym typeface="Lexend"/>
              </a:rPr>
              <a:t>a) Pythagoras’ theorem can only be used to calculate the length of a missing side of a triangle if one of its sides is </a:t>
            </a:r>
            <a:r>
              <a:rPr lang="en-GB" sz="1800">
                <a:latin typeface="Lexend"/>
                <a:ea typeface="Lexend"/>
                <a:cs typeface="Lexend"/>
                <a:sym typeface="Lexend"/>
              </a:rPr>
              <a:t>a</a:t>
            </a:r>
            <a:r>
              <a:rPr lang="en-GB" sz="1800">
                <a:latin typeface="Lexend"/>
                <a:ea typeface="Lexend"/>
                <a:cs typeface="Lexend"/>
                <a:sym typeface="Lexend"/>
              </a:rPr>
              <a:t>  </a:t>
            </a:r>
            <a:r>
              <a:rPr lang="en-GB" sz="1800">
                <a:latin typeface="Times New Roman"/>
                <a:ea typeface="Times New Roman"/>
                <a:cs typeface="Times New Roman"/>
                <a:sym typeface="Times New Roman"/>
              </a:rPr>
              <a:t>____________</a:t>
            </a:r>
            <a:r>
              <a:rPr lang="en-GB" sz="1800">
                <a:latin typeface="Lexend"/>
                <a:ea typeface="Lexend"/>
                <a:cs typeface="Lexend"/>
                <a:sym typeface="Lexend"/>
              </a:rPr>
              <a:t>.</a:t>
            </a:r>
            <a:endParaRPr sz="1800">
              <a:latin typeface="Lexend"/>
              <a:ea typeface="Lexend"/>
              <a:cs typeface="Lexend"/>
              <a:sym typeface="Lexend"/>
            </a:endParaRPr>
          </a:p>
          <a:p>
            <a:pPr indent="0" lvl="0" marL="0" rtl="0" algn="l">
              <a:lnSpc>
                <a:spcPct val="130000"/>
              </a:lnSpc>
              <a:spcBef>
                <a:spcPts val="0"/>
              </a:spcBef>
              <a:spcAft>
                <a:spcPts val="0"/>
              </a:spcAft>
              <a:buClr>
                <a:srgbClr val="000000"/>
              </a:buClr>
              <a:buSzPts val="1800"/>
              <a:buFont typeface="Arial"/>
              <a:buNone/>
            </a:pPr>
            <a:r>
              <a:t/>
            </a:r>
            <a:endParaRPr sz="1200">
              <a:latin typeface="Lexend"/>
              <a:ea typeface="Lexend"/>
              <a:cs typeface="Lexend"/>
              <a:sym typeface="Lexend"/>
            </a:endParaRPr>
          </a:p>
          <a:p>
            <a:pPr indent="0" lvl="0" marL="0" rtl="0" algn="l">
              <a:lnSpc>
                <a:spcPct val="130000"/>
              </a:lnSpc>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b) Only  </a:t>
            </a:r>
            <a:r>
              <a:rPr lang="en-GB" sz="1800">
                <a:solidFill>
                  <a:schemeClr val="dk1"/>
                </a:solidFill>
                <a:latin typeface="Times New Roman"/>
                <a:ea typeface="Times New Roman"/>
                <a:cs typeface="Times New Roman"/>
                <a:sym typeface="Times New Roman"/>
              </a:rPr>
              <a:t>________________</a:t>
            </a:r>
            <a:r>
              <a:rPr lang="en-GB" sz="1800">
                <a:solidFill>
                  <a:schemeClr val="dk1"/>
                </a:solidFill>
                <a:latin typeface="Lexend"/>
                <a:ea typeface="Lexend"/>
                <a:cs typeface="Lexend"/>
                <a:sym typeface="Lexend"/>
              </a:rPr>
              <a:t>  triangles have a hypotenuse.</a:t>
            </a:r>
            <a:endParaRPr sz="1800">
              <a:solidFill>
                <a:schemeClr val="dk1"/>
              </a:solidFill>
              <a:latin typeface="Lexend"/>
              <a:ea typeface="Lexend"/>
              <a:cs typeface="Lexend"/>
              <a:sym typeface="Lexend"/>
            </a:endParaRPr>
          </a:p>
          <a:p>
            <a:pPr indent="0" lvl="0" marL="0" rtl="0" algn="l">
              <a:lnSpc>
                <a:spcPct val="130000"/>
              </a:lnSpc>
              <a:spcBef>
                <a:spcPts val="0"/>
              </a:spcBef>
              <a:spcAft>
                <a:spcPts val="0"/>
              </a:spcAft>
              <a:buClr>
                <a:schemeClr val="dk1"/>
              </a:buClr>
              <a:buSzPts val="1800"/>
              <a:buFont typeface="Arial"/>
              <a:buNone/>
            </a:pPr>
            <a:r>
              <a:t/>
            </a:r>
            <a:endParaRPr sz="1200">
              <a:solidFill>
                <a:schemeClr val="dk1"/>
              </a:solidFill>
              <a:latin typeface="Lexend"/>
              <a:ea typeface="Lexend"/>
              <a:cs typeface="Lexend"/>
              <a:sym typeface="Lexend"/>
            </a:endParaRPr>
          </a:p>
          <a:p>
            <a:pPr indent="0" lvl="0" marL="0" rtl="0" algn="l">
              <a:lnSpc>
                <a:spcPct val="130000"/>
              </a:lnSpc>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c) The hypotenuse is always opposite the  </a:t>
            </a:r>
            <a:r>
              <a:rPr lang="en-GB" sz="1800">
                <a:solidFill>
                  <a:schemeClr val="dk1"/>
                </a:solidFill>
                <a:latin typeface="Times New Roman"/>
                <a:ea typeface="Times New Roman"/>
                <a:cs typeface="Times New Roman"/>
                <a:sym typeface="Times New Roman"/>
              </a:rPr>
              <a:t>________________</a:t>
            </a: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140" name="Google Shape;1140;p76"/>
          <p:cNvSpPr txBox="1"/>
          <p:nvPr/>
        </p:nvSpPr>
        <p:spPr>
          <a:xfrm flipH="1" rot="2781">
            <a:off x="324001" y="3505235"/>
            <a:ext cx="5932802"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2) Write a sentence to explain why Pythagoras’ theorem cannot be used to find the value </a:t>
            </a:r>
            <a:r>
              <a:rPr i="1" lang="en-GB" sz="2200">
                <a:latin typeface="Times New Roman"/>
                <a:ea typeface="Times New Roman"/>
                <a:cs typeface="Times New Roman"/>
                <a:sym typeface="Times New Roman"/>
              </a:rPr>
              <a:t>k</a:t>
            </a:r>
            <a:r>
              <a:rPr lang="en-GB" sz="1800">
                <a:latin typeface="Lexend"/>
                <a:ea typeface="Lexend"/>
                <a:cs typeface="Lexend"/>
                <a:sym typeface="Lexend"/>
              </a:rPr>
              <a:t>.</a:t>
            </a:r>
            <a:endParaRPr sz="1800">
              <a:latin typeface="Lexend"/>
              <a:ea typeface="Lexend"/>
              <a:cs typeface="Lexend"/>
              <a:sym typeface="Lexend"/>
            </a:endParaRPr>
          </a:p>
        </p:txBody>
      </p:sp>
      <p:sp>
        <p:nvSpPr>
          <p:cNvPr id="1141" name="Google Shape;1141;p76"/>
          <p:cNvSpPr txBox="1"/>
          <p:nvPr/>
        </p:nvSpPr>
        <p:spPr>
          <a:xfrm flipH="1" rot="2671">
            <a:off x="324016" y="619200"/>
            <a:ext cx="8496003"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1) Complete each statement.</a:t>
            </a:r>
            <a:endParaRPr sz="1800">
              <a:latin typeface="Lexend"/>
              <a:ea typeface="Lexend"/>
              <a:cs typeface="Lexend"/>
              <a:sym typeface="Lexend"/>
            </a:endParaRPr>
          </a:p>
        </p:txBody>
      </p:sp>
      <p:sp>
        <p:nvSpPr>
          <p:cNvPr id="1142" name="Google Shape;1142;p7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Identifying the hypotenuse</a:t>
            </a:r>
            <a:endParaRPr/>
          </a:p>
        </p:txBody>
      </p:sp>
      <p:sp>
        <p:nvSpPr>
          <p:cNvPr id="1143" name="Google Shape;1143;p76"/>
          <p:cNvSpPr/>
          <p:nvPr/>
        </p:nvSpPr>
        <p:spPr>
          <a:xfrm>
            <a:off x="7138563" y="3186491"/>
            <a:ext cx="1260000" cy="1260000"/>
          </a:xfrm>
          <a:prstGeom prst="triangle">
            <a:avLst>
              <a:gd fmla="val 1785" name="adj"/>
            </a:avLst>
          </a:prstGeom>
          <a:solidFill>
            <a:srgbClr val="F3EEFB"/>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4" name="Google Shape;1144;p76"/>
          <p:cNvSpPr txBox="1"/>
          <p:nvPr/>
        </p:nvSpPr>
        <p:spPr>
          <a:xfrm flipH="1" rot="1266">
            <a:off x="7361317" y="4522733"/>
            <a:ext cx="8145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37 cm</a:t>
            </a:r>
            <a:endParaRPr sz="1800">
              <a:latin typeface="Lexend"/>
              <a:ea typeface="Lexend"/>
              <a:cs typeface="Lexend"/>
              <a:sym typeface="Lexend"/>
            </a:endParaRPr>
          </a:p>
        </p:txBody>
      </p:sp>
      <p:sp>
        <p:nvSpPr>
          <p:cNvPr id="1145" name="Google Shape;1145;p76"/>
          <p:cNvSpPr txBox="1"/>
          <p:nvPr/>
        </p:nvSpPr>
        <p:spPr>
          <a:xfrm flipH="1" rot="1486">
            <a:off x="6368162" y="3744626"/>
            <a:ext cx="69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39 cm</a:t>
            </a:r>
            <a:endParaRPr sz="1800">
              <a:latin typeface="Lexend"/>
              <a:ea typeface="Lexend"/>
              <a:cs typeface="Lexend"/>
              <a:sym typeface="Lexend"/>
            </a:endParaRPr>
          </a:p>
        </p:txBody>
      </p:sp>
      <p:sp>
        <p:nvSpPr>
          <p:cNvPr id="1146" name="Google Shape;1146;p76"/>
          <p:cNvSpPr/>
          <p:nvPr/>
        </p:nvSpPr>
        <p:spPr>
          <a:xfrm rot="4665158">
            <a:off x="6887771" y="4187762"/>
            <a:ext cx="503458" cy="503458"/>
          </a:xfrm>
          <a:prstGeom prst="arc">
            <a:avLst>
              <a:gd fmla="val 11680388" name="adj1"/>
              <a:gd fmla="val 17082108" name="adj2"/>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7" name="Google Shape;1147;p76"/>
          <p:cNvSpPr/>
          <p:nvPr/>
        </p:nvSpPr>
        <p:spPr>
          <a:xfrm rot="4664588">
            <a:off x="7783173" y="3838567"/>
            <a:ext cx="1199747" cy="1199747"/>
          </a:xfrm>
          <a:prstGeom prst="arc">
            <a:avLst>
              <a:gd fmla="val 6098409" name="adj1"/>
              <a:gd fmla="val 8893976"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8" name="Google Shape;1148;p76"/>
          <p:cNvSpPr/>
          <p:nvPr/>
        </p:nvSpPr>
        <p:spPr>
          <a:xfrm rot="4664726">
            <a:off x="6559549" y="2595552"/>
            <a:ext cx="1216929" cy="1216929"/>
          </a:xfrm>
          <a:prstGeom prst="arc">
            <a:avLst>
              <a:gd fmla="val 19648779" name="adj1"/>
              <a:gd fmla="val 857899"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9" name="Google Shape;1149;p76"/>
          <p:cNvSpPr txBox="1"/>
          <p:nvPr/>
        </p:nvSpPr>
        <p:spPr>
          <a:xfrm flipH="1" rot="2353">
            <a:off x="7778412" y="4169124"/>
            <a:ext cx="4383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47°</a:t>
            </a:r>
            <a:endParaRPr sz="1800">
              <a:latin typeface="Lexend"/>
              <a:ea typeface="Lexend"/>
              <a:cs typeface="Lexend"/>
              <a:sym typeface="Lexend"/>
            </a:endParaRPr>
          </a:p>
        </p:txBody>
      </p:sp>
      <p:sp>
        <p:nvSpPr>
          <p:cNvPr id="1150" name="Google Shape;1150;p76"/>
          <p:cNvSpPr txBox="1"/>
          <p:nvPr/>
        </p:nvSpPr>
        <p:spPr>
          <a:xfrm flipH="1" rot="2353">
            <a:off x="7138583" y="3515150"/>
            <a:ext cx="4383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44°</a:t>
            </a:r>
            <a:endParaRPr sz="1800">
              <a:latin typeface="Lexend"/>
              <a:ea typeface="Lexend"/>
              <a:cs typeface="Lexend"/>
              <a:sym typeface="Lexend"/>
            </a:endParaRPr>
          </a:p>
        </p:txBody>
      </p:sp>
      <p:cxnSp>
        <p:nvCxnSpPr>
          <p:cNvPr id="1151" name="Google Shape;1151;p76"/>
          <p:cNvCxnSpPr/>
          <p:nvPr/>
        </p:nvCxnSpPr>
        <p:spPr>
          <a:xfrm flipH="1">
            <a:off x="7062354" y="3186491"/>
            <a:ext cx="22500" cy="1260000"/>
          </a:xfrm>
          <a:prstGeom prst="straightConnector1">
            <a:avLst/>
          </a:prstGeom>
          <a:noFill/>
          <a:ln cap="flat" cmpd="sng" w="19050">
            <a:solidFill>
              <a:schemeClr val="accent4"/>
            </a:solidFill>
            <a:prstDash val="solid"/>
            <a:round/>
            <a:headEnd len="med" w="med" type="triangle"/>
            <a:tailEnd len="med" w="med" type="triangle"/>
          </a:ln>
        </p:spPr>
      </p:cxnSp>
      <p:cxnSp>
        <p:nvCxnSpPr>
          <p:cNvPr id="1152" name="Google Shape;1152;p76"/>
          <p:cNvCxnSpPr/>
          <p:nvPr/>
        </p:nvCxnSpPr>
        <p:spPr>
          <a:xfrm>
            <a:off x="7138563" y="4522691"/>
            <a:ext cx="1260000" cy="0"/>
          </a:xfrm>
          <a:prstGeom prst="straightConnector1">
            <a:avLst/>
          </a:prstGeom>
          <a:noFill/>
          <a:ln cap="flat" cmpd="sng" w="19050">
            <a:solidFill>
              <a:schemeClr val="accent4"/>
            </a:solidFill>
            <a:prstDash val="solid"/>
            <a:round/>
            <a:headEnd len="med" w="med" type="triangle"/>
            <a:tailEnd len="med" w="med" type="triangle"/>
          </a:ln>
        </p:spPr>
      </p:cxnSp>
      <p:cxnSp>
        <p:nvCxnSpPr>
          <p:cNvPr id="1153" name="Google Shape;1153;p76"/>
          <p:cNvCxnSpPr/>
          <p:nvPr/>
        </p:nvCxnSpPr>
        <p:spPr>
          <a:xfrm>
            <a:off x="7237254" y="3110291"/>
            <a:ext cx="1237500" cy="1260000"/>
          </a:xfrm>
          <a:prstGeom prst="straightConnector1">
            <a:avLst/>
          </a:prstGeom>
          <a:noFill/>
          <a:ln cap="flat" cmpd="sng" w="19050">
            <a:solidFill>
              <a:schemeClr val="accent4"/>
            </a:solidFill>
            <a:prstDash val="solid"/>
            <a:round/>
            <a:headEnd len="med" w="med" type="triangle"/>
            <a:tailEnd len="med" w="med" type="triangle"/>
          </a:ln>
        </p:spPr>
      </p:cxnSp>
      <p:sp>
        <p:nvSpPr>
          <p:cNvPr id="1154" name="Google Shape;1154;p76"/>
          <p:cNvSpPr txBox="1"/>
          <p:nvPr/>
        </p:nvSpPr>
        <p:spPr>
          <a:xfrm flipH="1" rot="2731843">
            <a:off x="7530728" y="3527794"/>
            <a:ext cx="1007670" cy="323727"/>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k</a:t>
            </a:r>
            <a:r>
              <a:rPr lang="en-GB" sz="1800">
                <a:latin typeface="Lexend"/>
                <a:ea typeface="Lexend"/>
                <a:cs typeface="Lexend"/>
                <a:sym typeface="Lexend"/>
              </a:rPr>
              <a:t> cm</a:t>
            </a:r>
            <a:endParaRPr sz="1800">
              <a:latin typeface="Lexend"/>
              <a:ea typeface="Lexend"/>
              <a:cs typeface="Lexend"/>
              <a:sym typeface="Lexend"/>
            </a:endParaRPr>
          </a:p>
        </p:txBody>
      </p:sp>
      <p:sp>
        <p:nvSpPr>
          <p:cNvPr id="1155" name="Google Shape;1155;p76"/>
          <p:cNvSpPr/>
          <p:nvPr/>
        </p:nvSpPr>
        <p:spPr>
          <a:xfrm>
            <a:off x="7138563" y="3186491"/>
            <a:ext cx="1260000" cy="1260000"/>
          </a:xfrm>
          <a:prstGeom prst="triangle">
            <a:avLst>
              <a:gd fmla="val 178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p77"/>
          <p:cNvSpPr txBox="1"/>
          <p:nvPr/>
        </p:nvSpPr>
        <p:spPr>
          <a:xfrm flipH="1" rot="2671">
            <a:off x="324016" y="619200"/>
            <a:ext cx="8496003"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3) For each of these triangles, tick (✔) each right-angled triangle, cross (✘) non-right-angled triangle, put a question mark (?) by each one where you cannot tell.</a:t>
            </a:r>
            <a:endParaRPr sz="1800">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For each right-angled triangle, circle or highlight its hypotenuse.</a:t>
            </a:r>
            <a:endParaRPr sz="1800">
              <a:latin typeface="Lexend"/>
              <a:ea typeface="Lexend"/>
              <a:cs typeface="Lexend"/>
              <a:sym typeface="Lexend"/>
            </a:endParaRPr>
          </a:p>
        </p:txBody>
      </p:sp>
      <p:sp>
        <p:nvSpPr>
          <p:cNvPr id="1161" name="Google Shape;1161;p7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Identifying the hypotenuse</a:t>
            </a:r>
            <a:endParaRPr/>
          </a:p>
        </p:txBody>
      </p:sp>
      <p:pic>
        <p:nvPicPr>
          <p:cNvPr id="1162" name="Google Shape;1162;p77"/>
          <p:cNvPicPr preferRelativeResize="0"/>
          <p:nvPr/>
        </p:nvPicPr>
        <p:blipFill>
          <a:blip r:embed="rId3">
            <a:alphaModFix/>
          </a:blip>
          <a:stretch>
            <a:fillRect/>
          </a:stretch>
        </p:blipFill>
        <p:spPr>
          <a:xfrm>
            <a:off x="425100" y="1734202"/>
            <a:ext cx="8293852" cy="3279225"/>
          </a:xfrm>
          <a:prstGeom prst="rect">
            <a:avLst/>
          </a:prstGeom>
          <a:noFill/>
          <a:ln>
            <a:noFill/>
          </a:ln>
        </p:spPr>
      </p:pic>
      <p:sp>
        <p:nvSpPr>
          <p:cNvPr id="1163" name="Google Shape;1163;p77"/>
          <p:cNvSpPr txBox="1"/>
          <p:nvPr/>
        </p:nvSpPr>
        <p:spPr>
          <a:xfrm flipH="1" rot="2532">
            <a:off x="761556" y="2174021"/>
            <a:ext cx="8145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68°</a:t>
            </a:r>
            <a:endParaRPr sz="1800">
              <a:latin typeface="Lexend"/>
              <a:ea typeface="Lexend"/>
              <a:cs typeface="Lexend"/>
              <a:sym typeface="Lexend"/>
            </a:endParaRPr>
          </a:p>
        </p:txBody>
      </p:sp>
      <p:sp>
        <p:nvSpPr>
          <p:cNvPr id="1164" name="Google Shape;1164;p77"/>
          <p:cNvSpPr txBox="1"/>
          <p:nvPr/>
        </p:nvSpPr>
        <p:spPr>
          <a:xfrm flipH="1" rot="2532">
            <a:off x="2221581" y="2485296"/>
            <a:ext cx="8145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22°</a:t>
            </a:r>
            <a:endParaRPr sz="1800">
              <a:latin typeface="Lexend"/>
              <a:ea typeface="Lexend"/>
              <a:cs typeface="Lexend"/>
              <a:sym typeface="Lexend"/>
            </a:endParaRPr>
          </a:p>
        </p:txBody>
      </p:sp>
      <p:sp>
        <p:nvSpPr>
          <p:cNvPr id="1165" name="Google Shape;1165;p77"/>
          <p:cNvSpPr txBox="1"/>
          <p:nvPr/>
        </p:nvSpPr>
        <p:spPr>
          <a:xfrm flipH="1" rot="2532">
            <a:off x="3092101" y="4278380"/>
            <a:ext cx="8145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52°</a:t>
            </a:r>
            <a:endParaRPr sz="1800">
              <a:latin typeface="Lexend"/>
              <a:ea typeface="Lexend"/>
              <a:cs typeface="Lexend"/>
              <a:sym typeface="Lexend"/>
            </a:endParaRPr>
          </a:p>
        </p:txBody>
      </p:sp>
      <p:sp>
        <p:nvSpPr>
          <p:cNvPr id="1166" name="Google Shape;1166;p77"/>
          <p:cNvSpPr txBox="1"/>
          <p:nvPr/>
        </p:nvSpPr>
        <p:spPr>
          <a:xfrm flipH="1" rot="2532">
            <a:off x="7431065" y="2797774"/>
            <a:ext cx="8145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92°</a:t>
            </a:r>
            <a:endParaRPr sz="1800">
              <a:latin typeface="Lexend"/>
              <a:ea typeface="Lexend"/>
              <a:cs typeface="Lexend"/>
              <a:sym typeface="Lexend"/>
            </a:endParaRPr>
          </a:p>
        </p:txBody>
      </p:sp>
      <p:sp>
        <p:nvSpPr>
          <p:cNvPr id="1167" name="Google Shape;1167;p77"/>
          <p:cNvSpPr txBox="1"/>
          <p:nvPr/>
        </p:nvSpPr>
        <p:spPr>
          <a:xfrm flipH="1" rot="2532">
            <a:off x="4570333" y="3635648"/>
            <a:ext cx="8145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34°</a:t>
            </a:r>
            <a:endParaRPr sz="1800">
              <a:latin typeface="Lexend"/>
              <a:ea typeface="Lexend"/>
              <a:cs typeface="Lexend"/>
              <a:sym typeface="Lexend"/>
            </a:endParaRPr>
          </a:p>
        </p:txBody>
      </p:sp>
      <p:sp>
        <p:nvSpPr>
          <p:cNvPr id="1168" name="Google Shape;1168;p77"/>
          <p:cNvSpPr txBox="1"/>
          <p:nvPr/>
        </p:nvSpPr>
        <p:spPr>
          <a:xfrm flipH="1" rot="2089">
            <a:off x="6978754" y="4177989"/>
            <a:ext cx="4938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50°</a:t>
            </a:r>
            <a:endParaRPr sz="1800">
              <a:latin typeface="Lexend"/>
              <a:ea typeface="Lexend"/>
              <a:cs typeface="Lexend"/>
              <a:sym typeface="Lexend"/>
            </a:endParaRPr>
          </a:p>
        </p:txBody>
      </p:sp>
      <p:sp>
        <p:nvSpPr>
          <p:cNvPr id="1169" name="Google Shape;1169;p77"/>
          <p:cNvSpPr txBox="1"/>
          <p:nvPr/>
        </p:nvSpPr>
        <p:spPr>
          <a:xfrm flipH="1" rot="2207">
            <a:off x="6949252" y="3218322"/>
            <a:ext cx="4674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41°</a:t>
            </a:r>
            <a:endParaRPr sz="1800">
              <a:latin typeface="Lexend"/>
              <a:ea typeface="Lexend"/>
              <a:cs typeface="Lexend"/>
              <a:sym typeface="Lexend"/>
            </a:endParaRPr>
          </a:p>
        </p:txBody>
      </p:sp>
      <p:sp>
        <p:nvSpPr>
          <p:cNvPr id="1170" name="Google Shape;1170;p77"/>
          <p:cNvSpPr txBox="1"/>
          <p:nvPr/>
        </p:nvSpPr>
        <p:spPr>
          <a:xfrm flipH="1" rot="2207">
            <a:off x="5139638" y="2282167"/>
            <a:ext cx="4674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52°</a:t>
            </a:r>
            <a:endParaRPr sz="1800">
              <a:latin typeface="Lexend"/>
              <a:ea typeface="Lexend"/>
              <a:cs typeface="Lexend"/>
              <a:sym typeface="Lexend"/>
            </a:endParaRPr>
          </a:p>
        </p:txBody>
      </p:sp>
      <p:sp>
        <p:nvSpPr>
          <p:cNvPr id="1171" name="Google Shape;1171;p77"/>
          <p:cNvSpPr txBox="1"/>
          <p:nvPr/>
        </p:nvSpPr>
        <p:spPr>
          <a:xfrm flipH="1" rot="2207">
            <a:off x="1397043" y="4379681"/>
            <a:ext cx="4674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51°</a:t>
            </a:r>
            <a:endParaRPr sz="1800">
              <a:latin typeface="Lexend"/>
              <a:ea typeface="Lexend"/>
              <a:cs typeface="Lexend"/>
              <a:sym typeface="Lexend"/>
            </a:endParaRPr>
          </a:p>
        </p:txBody>
      </p:sp>
      <p:sp>
        <p:nvSpPr>
          <p:cNvPr id="1172" name="Google Shape;1172;p77"/>
          <p:cNvSpPr txBox="1"/>
          <p:nvPr/>
        </p:nvSpPr>
        <p:spPr>
          <a:xfrm flipH="1" rot="2207">
            <a:off x="568431" y="3426731"/>
            <a:ext cx="4674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39°</a:t>
            </a:r>
            <a:endParaRPr sz="1800">
              <a:latin typeface="Lexend"/>
              <a:ea typeface="Lexend"/>
              <a:cs typeface="Lexend"/>
              <a:sym typeface="Lexend"/>
            </a:endParaRPr>
          </a:p>
        </p:txBody>
      </p:sp>
      <p:cxnSp>
        <p:nvCxnSpPr>
          <p:cNvPr id="1173" name="Google Shape;1173;p77"/>
          <p:cNvCxnSpPr/>
          <p:nvPr/>
        </p:nvCxnSpPr>
        <p:spPr>
          <a:xfrm>
            <a:off x="1274950" y="2351125"/>
            <a:ext cx="192000" cy="68700"/>
          </a:xfrm>
          <a:prstGeom prst="straightConnector1">
            <a:avLst/>
          </a:prstGeom>
          <a:noFill/>
          <a:ln cap="flat" cmpd="sng" w="28575">
            <a:solidFill>
              <a:schemeClr val="accent4"/>
            </a:solidFill>
            <a:prstDash val="solid"/>
            <a:round/>
            <a:headEnd len="med" w="med" type="none"/>
            <a:tailEnd len="med" w="med" type="none"/>
          </a:ln>
        </p:spPr>
      </p:cxnSp>
      <p:cxnSp>
        <p:nvCxnSpPr>
          <p:cNvPr id="1174" name="Google Shape;1174;p77"/>
          <p:cNvCxnSpPr/>
          <p:nvPr/>
        </p:nvCxnSpPr>
        <p:spPr>
          <a:xfrm>
            <a:off x="2728125" y="2665650"/>
            <a:ext cx="397500" cy="144600"/>
          </a:xfrm>
          <a:prstGeom prst="straightConnector1">
            <a:avLst/>
          </a:prstGeom>
          <a:noFill/>
          <a:ln cap="flat" cmpd="sng" w="28575">
            <a:solidFill>
              <a:schemeClr val="accent4"/>
            </a:solidFill>
            <a:prstDash val="solid"/>
            <a:round/>
            <a:headEnd len="med" w="med" type="none"/>
            <a:tailEnd len="med" w="med" type="none"/>
          </a:ln>
        </p:spPr>
      </p:cxnSp>
      <p:cxnSp>
        <p:nvCxnSpPr>
          <p:cNvPr id="1175" name="Google Shape;1175;p77"/>
          <p:cNvCxnSpPr/>
          <p:nvPr/>
        </p:nvCxnSpPr>
        <p:spPr>
          <a:xfrm>
            <a:off x="4530875" y="3591800"/>
            <a:ext cx="240000" cy="123300"/>
          </a:xfrm>
          <a:prstGeom prst="straightConnector1">
            <a:avLst/>
          </a:prstGeom>
          <a:noFill/>
          <a:ln cap="flat" cmpd="sng" w="28575">
            <a:solidFill>
              <a:schemeClr val="accent4"/>
            </a:solidFill>
            <a:prstDash val="solid"/>
            <a:round/>
            <a:headEnd len="med" w="med" type="none"/>
            <a:tailEnd len="med" w="med" type="none"/>
          </a:ln>
        </p:spPr>
      </p:cxnSp>
      <p:cxnSp>
        <p:nvCxnSpPr>
          <p:cNvPr id="1176" name="Google Shape;1176;p77"/>
          <p:cNvCxnSpPr/>
          <p:nvPr/>
        </p:nvCxnSpPr>
        <p:spPr>
          <a:xfrm>
            <a:off x="6700275" y="3312163"/>
            <a:ext cx="270900" cy="46500"/>
          </a:xfrm>
          <a:prstGeom prst="straightConnector1">
            <a:avLst/>
          </a:prstGeom>
          <a:noFill/>
          <a:ln cap="flat" cmpd="sng" w="28575">
            <a:solidFill>
              <a:schemeClr val="accent4"/>
            </a:solidFill>
            <a:prstDash val="solid"/>
            <a:round/>
            <a:headEnd len="med" w="med" type="none"/>
            <a:tailEnd len="med" w="med" type="none"/>
          </a:ln>
        </p:spPr>
      </p:cxnSp>
      <p:cxnSp>
        <p:nvCxnSpPr>
          <p:cNvPr id="1177" name="Google Shape;1177;p77"/>
          <p:cNvCxnSpPr/>
          <p:nvPr/>
        </p:nvCxnSpPr>
        <p:spPr>
          <a:xfrm flipH="1" rot="10800000">
            <a:off x="6710625" y="4277975"/>
            <a:ext cx="260700" cy="26700"/>
          </a:xfrm>
          <a:prstGeom prst="straightConnector1">
            <a:avLst/>
          </a:prstGeom>
          <a:noFill/>
          <a:ln cap="flat" cmpd="sng" w="28575">
            <a:solidFill>
              <a:schemeClr val="accent4"/>
            </a:solidFill>
            <a:prstDash val="solid"/>
            <a:round/>
            <a:headEnd len="med" w="med" type="none"/>
            <a:tailEnd len="med" w="med" type="none"/>
          </a:ln>
        </p:spPr>
      </p:cxnSp>
      <p:sp>
        <p:nvSpPr>
          <p:cNvPr id="1178" name="Google Shape;1178;p77"/>
          <p:cNvSpPr txBox="1"/>
          <p:nvPr/>
        </p:nvSpPr>
        <p:spPr>
          <a:xfrm flipH="1" rot="3364">
            <a:off x="1274943" y="1730839"/>
            <a:ext cx="306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a) </a:t>
            </a:r>
            <a:endParaRPr sz="1800">
              <a:latin typeface="Lexend"/>
              <a:ea typeface="Lexend"/>
              <a:cs typeface="Lexend"/>
              <a:sym typeface="Lexend"/>
            </a:endParaRPr>
          </a:p>
        </p:txBody>
      </p:sp>
      <p:sp>
        <p:nvSpPr>
          <p:cNvPr id="1179" name="Google Shape;1179;p77"/>
          <p:cNvSpPr txBox="1"/>
          <p:nvPr/>
        </p:nvSpPr>
        <p:spPr>
          <a:xfrm flipH="1" rot="3364">
            <a:off x="3756293" y="1734339"/>
            <a:ext cx="306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b) </a:t>
            </a:r>
            <a:endParaRPr sz="1800">
              <a:latin typeface="Lexend"/>
              <a:ea typeface="Lexend"/>
              <a:cs typeface="Lexend"/>
              <a:sym typeface="Lexend"/>
            </a:endParaRPr>
          </a:p>
        </p:txBody>
      </p:sp>
      <p:sp>
        <p:nvSpPr>
          <p:cNvPr id="1180" name="Google Shape;1180;p77"/>
          <p:cNvSpPr txBox="1"/>
          <p:nvPr/>
        </p:nvSpPr>
        <p:spPr>
          <a:xfrm flipH="1" rot="3364">
            <a:off x="6134843" y="1924289"/>
            <a:ext cx="306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c) </a:t>
            </a:r>
            <a:endParaRPr sz="1800">
              <a:latin typeface="Lexend"/>
              <a:ea typeface="Lexend"/>
              <a:cs typeface="Lexend"/>
              <a:sym typeface="Lexend"/>
            </a:endParaRPr>
          </a:p>
        </p:txBody>
      </p:sp>
      <p:sp>
        <p:nvSpPr>
          <p:cNvPr id="1181" name="Google Shape;1181;p77"/>
          <p:cNvSpPr txBox="1"/>
          <p:nvPr/>
        </p:nvSpPr>
        <p:spPr>
          <a:xfrm flipH="1" rot="3364">
            <a:off x="356418" y="2561389"/>
            <a:ext cx="306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d) </a:t>
            </a:r>
            <a:endParaRPr sz="1800">
              <a:latin typeface="Lexend"/>
              <a:ea typeface="Lexend"/>
              <a:cs typeface="Lexend"/>
              <a:sym typeface="Lexend"/>
            </a:endParaRPr>
          </a:p>
        </p:txBody>
      </p:sp>
      <p:sp>
        <p:nvSpPr>
          <p:cNvPr id="1182" name="Google Shape;1182;p77"/>
          <p:cNvSpPr txBox="1"/>
          <p:nvPr/>
        </p:nvSpPr>
        <p:spPr>
          <a:xfrm flipH="1" rot="3364">
            <a:off x="2926893" y="3405551"/>
            <a:ext cx="306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e) </a:t>
            </a:r>
            <a:endParaRPr sz="1800">
              <a:latin typeface="Lexend"/>
              <a:ea typeface="Lexend"/>
              <a:cs typeface="Lexend"/>
              <a:sym typeface="Lexend"/>
            </a:endParaRPr>
          </a:p>
        </p:txBody>
      </p:sp>
      <p:sp>
        <p:nvSpPr>
          <p:cNvPr id="1183" name="Google Shape;1183;p77"/>
          <p:cNvSpPr txBox="1"/>
          <p:nvPr/>
        </p:nvSpPr>
        <p:spPr>
          <a:xfrm flipH="1" rot="3364">
            <a:off x="5731218" y="3830551"/>
            <a:ext cx="306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f) </a:t>
            </a:r>
            <a:endParaRPr sz="1800">
              <a:latin typeface="Lexend"/>
              <a:ea typeface="Lexend"/>
              <a:cs typeface="Lexend"/>
              <a:sym typeface="Lexen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7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Identifying the hypotenuse</a:t>
            </a:r>
            <a:endParaRPr/>
          </a:p>
        </p:txBody>
      </p:sp>
      <p:pic>
        <p:nvPicPr>
          <p:cNvPr id="1189" name="Google Shape;1189;p78"/>
          <p:cNvPicPr preferRelativeResize="0"/>
          <p:nvPr/>
        </p:nvPicPr>
        <p:blipFill>
          <a:blip r:embed="rId3">
            <a:alphaModFix/>
          </a:blip>
          <a:stretch>
            <a:fillRect/>
          </a:stretch>
        </p:blipFill>
        <p:spPr>
          <a:xfrm>
            <a:off x="1096725" y="1401057"/>
            <a:ext cx="6950551" cy="3371550"/>
          </a:xfrm>
          <a:prstGeom prst="rect">
            <a:avLst/>
          </a:prstGeom>
          <a:noFill/>
          <a:ln>
            <a:noFill/>
          </a:ln>
        </p:spPr>
      </p:pic>
      <p:sp>
        <p:nvSpPr>
          <p:cNvPr id="1190" name="Google Shape;1190;p78"/>
          <p:cNvSpPr txBox="1"/>
          <p:nvPr/>
        </p:nvSpPr>
        <p:spPr>
          <a:xfrm flipH="1">
            <a:off x="2607375" y="2232075"/>
            <a:ext cx="1094100" cy="554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area</a:t>
            </a:r>
            <a:endParaRPr sz="1800">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350 cm²</a:t>
            </a:r>
            <a:endParaRPr sz="1800">
              <a:latin typeface="Lexend"/>
              <a:ea typeface="Lexend"/>
              <a:cs typeface="Lexend"/>
              <a:sym typeface="Lexend"/>
            </a:endParaRPr>
          </a:p>
        </p:txBody>
      </p:sp>
      <p:sp>
        <p:nvSpPr>
          <p:cNvPr id="1191" name="Google Shape;1191;p78"/>
          <p:cNvSpPr txBox="1"/>
          <p:nvPr/>
        </p:nvSpPr>
        <p:spPr>
          <a:xfrm flipH="1">
            <a:off x="1137600" y="2734350"/>
            <a:ext cx="1035300" cy="554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area</a:t>
            </a:r>
            <a:endParaRPr sz="1800">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169 cm²</a:t>
            </a:r>
            <a:endParaRPr sz="1800">
              <a:latin typeface="Lexend"/>
              <a:ea typeface="Lexend"/>
              <a:cs typeface="Lexend"/>
              <a:sym typeface="Lexend"/>
            </a:endParaRPr>
          </a:p>
        </p:txBody>
      </p:sp>
      <p:sp>
        <p:nvSpPr>
          <p:cNvPr id="1192" name="Google Shape;1192;p78"/>
          <p:cNvSpPr txBox="1"/>
          <p:nvPr/>
        </p:nvSpPr>
        <p:spPr>
          <a:xfrm flipH="1">
            <a:off x="2145214" y="3741975"/>
            <a:ext cx="1035300" cy="554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area</a:t>
            </a:r>
            <a:endParaRPr sz="1800">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171 cm²</a:t>
            </a:r>
            <a:endParaRPr sz="1800">
              <a:latin typeface="Lexend"/>
              <a:ea typeface="Lexend"/>
              <a:cs typeface="Lexend"/>
              <a:sym typeface="Lexend"/>
            </a:endParaRPr>
          </a:p>
        </p:txBody>
      </p:sp>
      <p:sp>
        <p:nvSpPr>
          <p:cNvPr id="1193" name="Google Shape;1193;p78"/>
          <p:cNvSpPr txBox="1"/>
          <p:nvPr/>
        </p:nvSpPr>
        <p:spPr>
          <a:xfrm flipH="1">
            <a:off x="4389289" y="3111675"/>
            <a:ext cx="1035300" cy="554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area</a:t>
            </a:r>
            <a:endParaRPr sz="1800">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7569 cm²</a:t>
            </a:r>
            <a:endParaRPr sz="1800">
              <a:latin typeface="Lexend"/>
              <a:ea typeface="Lexend"/>
              <a:cs typeface="Lexend"/>
              <a:sym typeface="Lexend"/>
            </a:endParaRPr>
          </a:p>
        </p:txBody>
      </p:sp>
      <p:sp>
        <p:nvSpPr>
          <p:cNvPr id="1194" name="Google Shape;1194;p78"/>
          <p:cNvSpPr txBox="1"/>
          <p:nvPr/>
        </p:nvSpPr>
        <p:spPr>
          <a:xfrm flipH="1">
            <a:off x="5990951" y="3680277"/>
            <a:ext cx="645600" cy="554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area</a:t>
            </a:r>
            <a:endParaRPr sz="1800">
              <a:latin typeface="Lexend"/>
              <a:ea typeface="Lexend"/>
              <a:cs typeface="Lexend"/>
              <a:sym typeface="Lexend"/>
            </a:endParaRPr>
          </a:p>
          <a:p>
            <a:pPr indent="0" lvl="0" marL="0" rtl="0" algn="ctr">
              <a:lnSpc>
                <a:spcPct val="80000"/>
              </a:lnSpc>
              <a:spcBef>
                <a:spcPts val="0"/>
              </a:spcBef>
              <a:spcAft>
                <a:spcPts val="0"/>
              </a:spcAft>
              <a:buClr>
                <a:schemeClr val="dk1"/>
              </a:buClr>
              <a:buSzPts val="1100"/>
              <a:buFont typeface="Arial"/>
              <a:buNone/>
            </a:pPr>
            <a:r>
              <a:rPr lang="en-GB" sz="1800">
                <a:latin typeface="Lexend"/>
                <a:ea typeface="Lexend"/>
                <a:cs typeface="Lexend"/>
                <a:sym typeface="Lexend"/>
              </a:rPr>
              <a:t>648 cm²</a:t>
            </a:r>
            <a:endParaRPr sz="1800">
              <a:latin typeface="Lexend"/>
              <a:ea typeface="Lexend"/>
              <a:cs typeface="Lexend"/>
              <a:sym typeface="Lexend"/>
            </a:endParaRPr>
          </a:p>
        </p:txBody>
      </p:sp>
      <p:sp>
        <p:nvSpPr>
          <p:cNvPr id="1195" name="Google Shape;1195;p78"/>
          <p:cNvSpPr txBox="1"/>
          <p:nvPr/>
        </p:nvSpPr>
        <p:spPr>
          <a:xfrm flipH="1">
            <a:off x="6767839" y="2724484"/>
            <a:ext cx="1035300" cy="554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area</a:t>
            </a:r>
            <a:endParaRPr sz="1800">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1201 cm²</a:t>
            </a:r>
            <a:endParaRPr sz="1800">
              <a:latin typeface="Lexend"/>
              <a:ea typeface="Lexend"/>
              <a:cs typeface="Lexend"/>
              <a:sym typeface="Lexend"/>
            </a:endParaRPr>
          </a:p>
        </p:txBody>
      </p:sp>
      <p:sp>
        <p:nvSpPr>
          <p:cNvPr id="1196" name="Google Shape;1196;p78"/>
          <p:cNvSpPr txBox="1"/>
          <p:nvPr/>
        </p:nvSpPr>
        <p:spPr>
          <a:xfrm flipH="1" rot="3364">
            <a:off x="790118" y="2447114"/>
            <a:ext cx="306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a) </a:t>
            </a:r>
            <a:endParaRPr sz="1800">
              <a:latin typeface="Lexend"/>
              <a:ea typeface="Lexend"/>
              <a:cs typeface="Lexend"/>
              <a:sym typeface="Lexend"/>
            </a:endParaRPr>
          </a:p>
        </p:txBody>
      </p:sp>
      <p:sp>
        <p:nvSpPr>
          <p:cNvPr id="1197" name="Google Shape;1197;p78"/>
          <p:cNvSpPr txBox="1"/>
          <p:nvPr/>
        </p:nvSpPr>
        <p:spPr>
          <a:xfrm flipH="1" rot="3364">
            <a:off x="4628668" y="2332789"/>
            <a:ext cx="306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b) </a:t>
            </a:r>
            <a:endParaRPr sz="1800">
              <a:latin typeface="Lexend"/>
              <a:ea typeface="Lexend"/>
              <a:cs typeface="Lexend"/>
              <a:sym typeface="Lexend"/>
            </a:endParaRPr>
          </a:p>
        </p:txBody>
      </p:sp>
      <p:sp>
        <p:nvSpPr>
          <p:cNvPr id="1198" name="Google Shape;1198;p78"/>
          <p:cNvSpPr txBox="1"/>
          <p:nvPr/>
        </p:nvSpPr>
        <p:spPr>
          <a:xfrm flipH="1" rot="3364">
            <a:off x="6329943" y="2298514"/>
            <a:ext cx="306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c) </a:t>
            </a:r>
            <a:endParaRPr sz="1800">
              <a:latin typeface="Lexend"/>
              <a:ea typeface="Lexend"/>
              <a:cs typeface="Lexend"/>
              <a:sym typeface="Lexend"/>
            </a:endParaRPr>
          </a:p>
        </p:txBody>
      </p:sp>
      <p:sp>
        <p:nvSpPr>
          <p:cNvPr id="1199" name="Google Shape;1199;p78"/>
          <p:cNvSpPr txBox="1"/>
          <p:nvPr/>
        </p:nvSpPr>
        <p:spPr>
          <a:xfrm flipH="1" rot="2671">
            <a:off x="324016" y="619200"/>
            <a:ext cx="8496003" cy="692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4) For which of these triangles can you use Pythagoras’ theorem?</a:t>
            </a:r>
            <a:endParaRPr sz="1800">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900">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Where possible, calculate the length of the hypotenuse and label its length.</a:t>
            </a:r>
            <a:endParaRPr sz="1800">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
        <p:nvSpPr>
          <p:cNvPr id="1204" name="Google Shape;1204;p79"/>
          <p:cNvSpPr txBox="1"/>
          <p:nvPr/>
        </p:nvSpPr>
        <p:spPr>
          <a:xfrm flipH="1" rot="2699">
            <a:off x="566423" y="976384"/>
            <a:ext cx="8025002" cy="1837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Clr>
                <a:srgbClr val="000000"/>
              </a:buClr>
              <a:buSzPts val="1800"/>
              <a:buFont typeface="Arial"/>
              <a:buNone/>
            </a:pPr>
            <a:r>
              <a:rPr lang="en-GB" sz="1800">
                <a:latin typeface="Lexend"/>
                <a:ea typeface="Lexend"/>
                <a:cs typeface="Lexend"/>
                <a:sym typeface="Lexend"/>
              </a:rPr>
              <a:t>a) Pythagoras’ theorem can only be used to calculate the length of a missing side of a triangle if one of its sides is a  </a:t>
            </a:r>
            <a:r>
              <a:rPr lang="en-GB" sz="1800">
                <a:latin typeface="Times New Roman"/>
                <a:ea typeface="Times New Roman"/>
                <a:cs typeface="Times New Roman"/>
                <a:sym typeface="Times New Roman"/>
              </a:rPr>
              <a:t>____________</a:t>
            </a:r>
            <a:r>
              <a:rPr lang="en-GB" sz="1800">
                <a:latin typeface="Lexend"/>
                <a:ea typeface="Lexend"/>
                <a:cs typeface="Lexend"/>
                <a:sym typeface="Lexend"/>
              </a:rPr>
              <a:t>.</a:t>
            </a:r>
            <a:endParaRPr sz="1800">
              <a:latin typeface="Lexend"/>
              <a:ea typeface="Lexend"/>
              <a:cs typeface="Lexend"/>
              <a:sym typeface="Lexend"/>
            </a:endParaRPr>
          </a:p>
          <a:p>
            <a:pPr indent="0" lvl="0" marL="0" rtl="0" algn="l">
              <a:lnSpc>
                <a:spcPct val="130000"/>
              </a:lnSpc>
              <a:spcBef>
                <a:spcPts val="0"/>
              </a:spcBef>
              <a:spcAft>
                <a:spcPts val="0"/>
              </a:spcAft>
              <a:buClr>
                <a:srgbClr val="000000"/>
              </a:buClr>
              <a:buSzPts val="1800"/>
              <a:buFont typeface="Arial"/>
              <a:buNone/>
            </a:pPr>
            <a:r>
              <a:t/>
            </a:r>
            <a:endParaRPr sz="1200">
              <a:latin typeface="Lexend"/>
              <a:ea typeface="Lexend"/>
              <a:cs typeface="Lexend"/>
              <a:sym typeface="Lexend"/>
            </a:endParaRPr>
          </a:p>
          <a:p>
            <a:pPr indent="0" lvl="0" marL="0" rtl="0" algn="l">
              <a:lnSpc>
                <a:spcPct val="130000"/>
              </a:lnSpc>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b) Only  </a:t>
            </a:r>
            <a:r>
              <a:rPr lang="en-GB" sz="1800">
                <a:solidFill>
                  <a:schemeClr val="dk1"/>
                </a:solidFill>
                <a:latin typeface="Times New Roman"/>
                <a:ea typeface="Times New Roman"/>
                <a:cs typeface="Times New Roman"/>
                <a:sym typeface="Times New Roman"/>
              </a:rPr>
              <a:t>________________</a:t>
            </a:r>
            <a:r>
              <a:rPr lang="en-GB" sz="1800">
                <a:solidFill>
                  <a:schemeClr val="dk1"/>
                </a:solidFill>
                <a:latin typeface="Lexend"/>
                <a:ea typeface="Lexend"/>
                <a:cs typeface="Lexend"/>
                <a:sym typeface="Lexend"/>
              </a:rPr>
              <a:t>  triangles have a hypotenuse.</a:t>
            </a:r>
            <a:endParaRPr sz="1800">
              <a:solidFill>
                <a:schemeClr val="dk1"/>
              </a:solidFill>
              <a:latin typeface="Lexend"/>
              <a:ea typeface="Lexend"/>
              <a:cs typeface="Lexend"/>
              <a:sym typeface="Lexend"/>
            </a:endParaRPr>
          </a:p>
          <a:p>
            <a:pPr indent="0" lvl="0" marL="0" rtl="0" algn="l">
              <a:lnSpc>
                <a:spcPct val="130000"/>
              </a:lnSpc>
              <a:spcBef>
                <a:spcPts val="0"/>
              </a:spcBef>
              <a:spcAft>
                <a:spcPts val="0"/>
              </a:spcAft>
              <a:buClr>
                <a:schemeClr val="dk1"/>
              </a:buClr>
              <a:buSzPts val="1800"/>
              <a:buFont typeface="Arial"/>
              <a:buNone/>
            </a:pPr>
            <a:r>
              <a:t/>
            </a:r>
            <a:endParaRPr sz="1200">
              <a:solidFill>
                <a:schemeClr val="dk1"/>
              </a:solidFill>
              <a:latin typeface="Lexend"/>
              <a:ea typeface="Lexend"/>
              <a:cs typeface="Lexend"/>
              <a:sym typeface="Lexend"/>
            </a:endParaRPr>
          </a:p>
          <a:p>
            <a:pPr indent="0" lvl="0" marL="0" rtl="0" algn="l">
              <a:lnSpc>
                <a:spcPct val="130000"/>
              </a:lnSpc>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c) The hypotenuse is always opposite the  </a:t>
            </a:r>
            <a:r>
              <a:rPr lang="en-GB" sz="1800">
                <a:solidFill>
                  <a:schemeClr val="dk1"/>
                </a:solidFill>
                <a:latin typeface="Times New Roman"/>
                <a:ea typeface="Times New Roman"/>
                <a:cs typeface="Times New Roman"/>
                <a:sym typeface="Times New Roman"/>
              </a:rPr>
              <a:t>________________</a:t>
            </a: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205" name="Google Shape;1205;p79"/>
          <p:cNvSpPr txBox="1"/>
          <p:nvPr/>
        </p:nvSpPr>
        <p:spPr>
          <a:xfrm flipH="1" rot="2671">
            <a:off x="324016" y="619200"/>
            <a:ext cx="8496003"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1) Complete each statement.</a:t>
            </a:r>
            <a:endParaRPr sz="1800">
              <a:latin typeface="Lexend"/>
              <a:ea typeface="Lexend"/>
              <a:cs typeface="Lexend"/>
              <a:sym typeface="Lexend"/>
            </a:endParaRPr>
          </a:p>
        </p:txBody>
      </p:sp>
      <p:sp>
        <p:nvSpPr>
          <p:cNvPr id="1206" name="Google Shape;1206;p7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Identifying the hypotenuse</a:t>
            </a:r>
            <a:endParaRPr/>
          </a:p>
        </p:txBody>
      </p:sp>
      <p:sp>
        <p:nvSpPr>
          <p:cNvPr id="1207" name="Google Shape;1207;p79"/>
          <p:cNvSpPr txBox="1"/>
          <p:nvPr/>
        </p:nvSpPr>
        <p:spPr>
          <a:xfrm flipH="1" rot="2245">
            <a:off x="5859050" y="1353779"/>
            <a:ext cx="1378200" cy="277200"/>
          </a:xfrm>
          <a:prstGeom prst="rect">
            <a:avLst/>
          </a:prstGeom>
          <a:noFill/>
          <a:ln>
            <a:noFill/>
          </a:ln>
        </p:spPr>
        <p:txBody>
          <a:bodyPr anchorCtr="0" anchor="ctr" bIns="0" lIns="0" spcFirstLastPara="1" rIns="0" wrap="square" tIns="0">
            <a:noAutofit/>
          </a:bodyPr>
          <a:lstStyle/>
          <a:p>
            <a:pPr indent="0" lvl="0" marL="0" rtl="0" algn="ctr">
              <a:lnSpc>
                <a:spcPct val="130000"/>
              </a:lnSpc>
              <a:spcBef>
                <a:spcPts val="0"/>
              </a:spcBef>
              <a:spcAft>
                <a:spcPts val="0"/>
              </a:spcAft>
              <a:buClr>
                <a:schemeClr val="dk1"/>
              </a:buClr>
              <a:buSzPts val="1800"/>
              <a:buFont typeface="Arial"/>
              <a:buNone/>
            </a:pPr>
            <a:r>
              <a:rPr lang="en-GB" sz="2000">
                <a:latin typeface="Kalam"/>
                <a:ea typeface="Kalam"/>
                <a:cs typeface="Kalam"/>
                <a:sym typeface="Kalam"/>
              </a:rPr>
              <a:t>hypotenuse</a:t>
            </a:r>
            <a:endParaRPr sz="2000">
              <a:solidFill>
                <a:schemeClr val="dk1"/>
              </a:solidFill>
              <a:latin typeface="Kalam"/>
              <a:ea typeface="Kalam"/>
              <a:cs typeface="Kalam"/>
              <a:sym typeface="Kalam"/>
            </a:endParaRPr>
          </a:p>
        </p:txBody>
      </p:sp>
      <p:sp>
        <p:nvSpPr>
          <p:cNvPr id="1208" name="Google Shape;1208;p79"/>
          <p:cNvSpPr txBox="1"/>
          <p:nvPr/>
        </p:nvSpPr>
        <p:spPr>
          <a:xfrm flipH="1" rot="2252">
            <a:off x="5230176" y="2547096"/>
            <a:ext cx="1831500" cy="277200"/>
          </a:xfrm>
          <a:prstGeom prst="rect">
            <a:avLst/>
          </a:prstGeom>
          <a:noFill/>
          <a:ln>
            <a:noFill/>
          </a:ln>
        </p:spPr>
        <p:txBody>
          <a:bodyPr anchorCtr="0" anchor="ctr" bIns="0" lIns="0" spcFirstLastPara="1" rIns="0" wrap="square" tIns="0">
            <a:noAutofit/>
          </a:bodyPr>
          <a:lstStyle/>
          <a:p>
            <a:pPr indent="0" lvl="0" marL="0" rtl="0" algn="ctr">
              <a:lnSpc>
                <a:spcPct val="130000"/>
              </a:lnSpc>
              <a:spcBef>
                <a:spcPts val="0"/>
              </a:spcBef>
              <a:spcAft>
                <a:spcPts val="0"/>
              </a:spcAft>
              <a:buClr>
                <a:schemeClr val="dk1"/>
              </a:buClr>
              <a:buSzPts val="1800"/>
              <a:buFont typeface="Arial"/>
              <a:buNone/>
            </a:pPr>
            <a:r>
              <a:rPr lang="en-GB" sz="2000">
                <a:latin typeface="Kalam"/>
                <a:ea typeface="Kalam"/>
                <a:cs typeface="Kalam"/>
                <a:sym typeface="Kalam"/>
              </a:rPr>
              <a:t>right angle</a:t>
            </a:r>
            <a:endParaRPr sz="2000">
              <a:solidFill>
                <a:schemeClr val="dk1"/>
              </a:solidFill>
              <a:latin typeface="Kalam"/>
              <a:ea typeface="Kalam"/>
              <a:cs typeface="Kalam"/>
              <a:sym typeface="Kalam"/>
            </a:endParaRPr>
          </a:p>
        </p:txBody>
      </p:sp>
      <p:sp>
        <p:nvSpPr>
          <p:cNvPr id="1209" name="Google Shape;1209;p79"/>
          <p:cNvSpPr txBox="1"/>
          <p:nvPr/>
        </p:nvSpPr>
        <p:spPr>
          <a:xfrm flipH="1" rot="2252">
            <a:off x="1479301" y="1941931"/>
            <a:ext cx="1831500" cy="277200"/>
          </a:xfrm>
          <a:prstGeom prst="rect">
            <a:avLst/>
          </a:prstGeom>
          <a:noFill/>
          <a:ln>
            <a:noFill/>
          </a:ln>
        </p:spPr>
        <p:txBody>
          <a:bodyPr anchorCtr="0" anchor="ctr" bIns="0" lIns="0" spcFirstLastPara="1" rIns="0" wrap="square" tIns="0">
            <a:noAutofit/>
          </a:bodyPr>
          <a:lstStyle/>
          <a:p>
            <a:pPr indent="0" lvl="0" marL="0" rtl="0" algn="ctr">
              <a:lnSpc>
                <a:spcPct val="130000"/>
              </a:lnSpc>
              <a:spcBef>
                <a:spcPts val="0"/>
              </a:spcBef>
              <a:spcAft>
                <a:spcPts val="0"/>
              </a:spcAft>
              <a:buClr>
                <a:schemeClr val="dk1"/>
              </a:buClr>
              <a:buSzPts val="1800"/>
              <a:buFont typeface="Arial"/>
              <a:buNone/>
            </a:pPr>
            <a:r>
              <a:rPr lang="en-GB" sz="2000">
                <a:latin typeface="Kalam"/>
                <a:ea typeface="Kalam"/>
                <a:cs typeface="Kalam"/>
                <a:sym typeface="Kalam"/>
              </a:rPr>
              <a:t>right-angled</a:t>
            </a:r>
            <a:endParaRPr sz="2000">
              <a:solidFill>
                <a:schemeClr val="dk1"/>
              </a:solidFill>
              <a:latin typeface="Kalam"/>
              <a:ea typeface="Kalam"/>
              <a:cs typeface="Kalam"/>
              <a:sym typeface="Kala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8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Identifying the hypotenuse</a:t>
            </a:r>
            <a:endParaRPr/>
          </a:p>
        </p:txBody>
      </p:sp>
      <p:sp>
        <p:nvSpPr>
          <p:cNvPr id="1215" name="Google Shape;1215;p80"/>
          <p:cNvSpPr txBox="1"/>
          <p:nvPr/>
        </p:nvSpPr>
        <p:spPr>
          <a:xfrm flipH="1" rot="2781">
            <a:off x="324001" y="1066835"/>
            <a:ext cx="5932802"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2) Write a sentence to explain why Pythagoras’ theorem cannot be used to find the value </a:t>
            </a:r>
            <a:r>
              <a:rPr i="1" lang="en-GB" sz="2200">
                <a:latin typeface="Times New Roman"/>
                <a:ea typeface="Times New Roman"/>
                <a:cs typeface="Times New Roman"/>
                <a:sym typeface="Times New Roman"/>
              </a:rPr>
              <a:t>k</a:t>
            </a:r>
            <a:r>
              <a:rPr lang="en-GB" sz="1800">
                <a:latin typeface="Lexend"/>
                <a:ea typeface="Lexend"/>
                <a:cs typeface="Lexend"/>
                <a:sym typeface="Lexend"/>
              </a:rPr>
              <a:t>.</a:t>
            </a:r>
            <a:endParaRPr sz="1800">
              <a:latin typeface="Lexend"/>
              <a:ea typeface="Lexend"/>
              <a:cs typeface="Lexend"/>
              <a:sym typeface="Lexend"/>
            </a:endParaRPr>
          </a:p>
        </p:txBody>
      </p:sp>
      <p:sp>
        <p:nvSpPr>
          <p:cNvPr id="1216" name="Google Shape;1216;p80"/>
          <p:cNvSpPr/>
          <p:nvPr/>
        </p:nvSpPr>
        <p:spPr>
          <a:xfrm>
            <a:off x="7138563" y="900491"/>
            <a:ext cx="1260000" cy="1260000"/>
          </a:xfrm>
          <a:prstGeom prst="triangle">
            <a:avLst>
              <a:gd fmla="val 1785" name="adj"/>
            </a:avLst>
          </a:prstGeom>
          <a:solidFill>
            <a:srgbClr val="F3EEFB"/>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7" name="Google Shape;1217;p80"/>
          <p:cNvSpPr txBox="1"/>
          <p:nvPr/>
        </p:nvSpPr>
        <p:spPr>
          <a:xfrm flipH="1" rot="1266">
            <a:off x="7361317" y="2236733"/>
            <a:ext cx="8145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37 cm</a:t>
            </a:r>
            <a:endParaRPr sz="1800">
              <a:latin typeface="Lexend"/>
              <a:ea typeface="Lexend"/>
              <a:cs typeface="Lexend"/>
              <a:sym typeface="Lexend"/>
            </a:endParaRPr>
          </a:p>
        </p:txBody>
      </p:sp>
      <p:sp>
        <p:nvSpPr>
          <p:cNvPr id="1218" name="Google Shape;1218;p80"/>
          <p:cNvSpPr txBox="1"/>
          <p:nvPr/>
        </p:nvSpPr>
        <p:spPr>
          <a:xfrm flipH="1" rot="1486">
            <a:off x="6368162" y="1458626"/>
            <a:ext cx="6942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39 cm</a:t>
            </a:r>
            <a:endParaRPr sz="1800">
              <a:latin typeface="Lexend"/>
              <a:ea typeface="Lexend"/>
              <a:cs typeface="Lexend"/>
              <a:sym typeface="Lexend"/>
            </a:endParaRPr>
          </a:p>
        </p:txBody>
      </p:sp>
      <p:sp>
        <p:nvSpPr>
          <p:cNvPr id="1219" name="Google Shape;1219;p80"/>
          <p:cNvSpPr/>
          <p:nvPr/>
        </p:nvSpPr>
        <p:spPr>
          <a:xfrm rot="4665158">
            <a:off x="6887771" y="1901762"/>
            <a:ext cx="503458" cy="503458"/>
          </a:xfrm>
          <a:prstGeom prst="arc">
            <a:avLst>
              <a:gd fmla="val 11680388" name="adj1"/>
              <a:gd fmla="val 17082108" name="adj2"/>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0" name="Google Shape;1220;p80"/>
          <p:cNvSpPr/>
          <p:nvPr/>
        </p:nvSpPr>
        <p:spPr>
          <a:xfrm rot="4664588">
            <a:off x="7783173" y="1552567"/>
            <a:ext cx="1199747" cy="1199747"/>
          </a:xfrm>
          <a:prstGeom prst="arc">
            <a:avLst>
              <a:gd fmla="val 6098409" name="adj1"/>
              <a:gd fmla="val 8893976"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1" name="Google Shape;1221;p80"/>
          <p:cNvSpPr/>
          <p:nvPr/>
        </p:nvSpPr>
        <p:spPr>
          <a:xfrm rot="4664726">
            <a:off x="6559549" y="309552"/>
            <a:ext cx="1216929" cy="1216929"/>
          </a:xfrm>
          <a:prstGeom prst="arc">
            <a:avLst>
              <a:gd fmla="val 19648779" name="adj1"/>
              <a:gd fmla="val 857899"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2" name="Google Shape;1222;p80"/>
          <p:cNvSpPr txBox="1"/>
          <p:nvPr/>
        </p:nvSpPr>
        <p:spPr>
          <a:xfrm flipH="1" rot="2353">
            <a:off x="7778412" y="1883124"/>
            <a:ext cx="4383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47°</a:t>
            </a:r>
            <a:endParaRPr sz="1800">
              <a:latin typeface="Lexend"/>
              <a:ea typeface="Lexend"/>
              <a:cs typeface="Lexend"/>
              <a:sym typeface="Lexend"/>
            </a:endParaRPr>
          </a:p>
        </p:txBody>
      </p:sp>
      <p:sp>
        <p:nvSpPr>
          <p:cNvPr id="1223" name="Google Shape;1223;p80"/>
          <p:cNvSpPr txBox="1"/>
          <p:nvPr/>
        </p:nvSpPr>
        <p:spPr>
          <a:xfrm flipH="1" rot="2353">
            <a:off x="7138583" y="1229150"/>
            <a:ext cx="4383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44°</a:t>
            </a:r>
            <a:endParaRPr sz="1800">
              <a:latin typeface="Lexend"/>
              <a:ea typeface="Lexend"/>
              <a:cs typeface="Lexend"/>
              <a:sym typeface="Lexend"/>
            </a:endParaRPr>
          </a:p>
        </p:txBody>
      </p:sp>
      <p:cxnSp>
        <p:nvCxnSpPr>
          <p:cNvPr id="1224" name="Google Shape;1224;p80"/>
          <p:cNvCxnSpPr/>
          <p:nvPr/>
        </p:nvCxnSpPr>
        <p:spPr>
          <a:xfrm flipH="1">
            <a:off x="7062354" y="900491"/>
            <a:ext cx="22500" cy="1260000"/>
          </a:xfrm>
          <a:prstGeom prst="straightConnector1">
            <a:avLst/>
          </a:prstGeom>
          <a:noFill/>
          <a:ln cap="flat" cmpd="sng" w="19050">
            <a:solidFill>
              <a:schemeClr val="accent4"/>
            </a:solidFill>
            <a:prstDash val="solid"/>
            <a:round/>
            <a:headEnd len="med" w="med" type="triangle"/>
            <a:tailEnd len="med" w="med" type="triangle"/>
          </a:ln>
        </p:spPr>
      </p:cxnSp>
      <p:cxnSp>
        <p:nvCxnSpPr>
          <p:cNvPr id="1225" name="Google Shape;1225;p80"/>
          <p:cNvCxnSpPr/>
          <p:nvPr/>
        </p:nvCxnSpPr>
        <p:spPr>
          <a:xfrm>
            <a:off x="7138563" y="2236691"/>
            <a:ext cx="1260000" cy="0"/>
          </a:xfrm>
          <a:prstGeom prst="straightConnector1">
            <a:avLst/>
          </a:prstGeom>
          <a:noFill/>
          <a:ln cap="flat" cmpd="sng" w="19050">
            <a:solidFill>
              <a:schemeClr val="accent4"/>
            </a:solidFill>
            <a:prstDash val="solid"/>
            <a:round/>
            <a:headEnd len="med" w="med" type="triangle"/>
            <a:tailEnd len="med" w="med" type="triangle"/>
          </a:ln>
        </p:spPr>
      </p:cxnSp>
      <p:cxnSp>
        <p:nvCxnSpPr>
          <p:cNvPr id="1226" name="Google Shape;1226;p80"/>
          <p:cNvCxnSpPr/>
          <p:nvPr/>
        </p:nvCxnSpPr>
        <p:spPr>
          <a:xfrm>
            <a:off x="7237254" y="824291"/>
            <a:ext cx="1237500" cy="1260000"/>
          </a:xfrm>
          <a:prstGeom prst="straightConnector1">
            <a:avLst/>
          </a:prstGeom>
          <a:noFill/>
          <a:ln cap="flat" cmpd="sng" w="19050">
            <a:solidFill>
              <a:schemeClr val="accent4"/>
            </a:solidFill>
            <a:prstDash val="solid"/>
            <a:round/>
            <a:headEnd len="med" w="med" type="triangle"/>
            <a:tailEnd len="med" w="med" type="triangle"/>
          </a:ln>
        </p:spPr>
      </p:cxnSp>
      <p:sp>
        <p:nvSpPr>
          <p:cNvPr id="1227" name="Google Shape;1227;p80"/>
          <p:cNvSpPr txBox="1"/>
          <p:nvPr/>
        </p:nvSpPr>
        <p:spPr>
          <a:xfrm flipH="1" rot="2731843">
            <a:off x="7530728" y="1241794"/>
            <a:ext cx="1007670" cy="323727"/>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k</a:t>
            </a:r>
            <a:r>
              <a:rPr lang="en-GB" sz="1800">
                <a:latin typeface="Lexend"/>
                <a:ea typeface="Lexend"/>
                <a:cs typeface="Lexend"/>
                <a:sym typeface="Lexend"/>
              </a:rPr>
              <a:t> cm</a:t>
            </a:r>
            <a:endParaRPr sz="1800">
              <a:latin typeface="Lexend"/>
              <a:ea typeface="Lexend"/>
              <a:cs typeface="Lexend"/>
              <a:sym typeface="Lexend"/>
            </a:endParaRPr>
          </a:p>
        </p:txBody>
      </p:sp>
      <p:sp>
        <p:nvSpPr>
          <p:cNvPr id="1228" name="Google Shape;1228;p80"/>
          <p:cNvSpPr txBox="1"/>
          <p:nvPr/>
        </p:nvSpPr>
        <p:spPr>
          <a:xfrm flipH="1" rot="2162">
            <a:off x="685325" y="1915254"/>
            <a:ext cx="5723701" cy="2772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Font typeface="Arial"/>
              <a:buNone/>
            </a:pPr>
            <a:r>
              <a:rPr lang="en-GB" sz="2000">
                <a:latin typeface="Kalam"/>
                <a:ea typeface="Kalam"/>
                <a:cs typeface="Kalam"/>
                <a:sym typeface="Kalam"/>
              </a:rPr>
              <a:t>The missing angle is 89°, and therefore this triangle is not right-angled.</a:t>
            </a:r>
            <a:endParaRPr sz="2000">
              <a:latin typeface="Kalam"/>
              <a:ea typeface="Kalam"/>
              <a:cs typeface="Kalam"/>
              <a:sym typeface="Kalam"/>
            </a:endParaRPr>
          </a:p>
          <a:p>
            <a:pPr indent="0" lvl="0" marL="0" rtl="0" algn="l">
              <a:lnSpc>
                <a:spcPct val="100000"/>
              </a:lnSpc>
              <a:spcBef>
                <a:spcPts val="0"/>
              </a:spcBef>
              <a:spcAft>
                <a:spcPts val="0"/>
              </a:spcAft>
              <a:buClr>
                <a:schemeClr val="dk1"/>
              </a:buClr>
              <a:buSzPts val="1800"/>
              <a:buFont typeface="Arial"/>
              <a:buNone/>
            </a:pPr>
            <a:r>
              <a:rPr lang="en-GB" sz="2000">
                <a:latin typeface="Kalam"/>
                <a:ea typeface="Kalam"/>
                <a:cs typeface="Kalam"/>
                <a:sym typeface="Kalam"/>
              </a:rPr>
              <a:t>You cannot use Pythagoras’ theorem on triangles that are not right-angled.</a:t>
            </a:r>
            <a:endParaRPr sz="2000">
              <a:latin typeface="Kalam"/>
              <a:ea typeface="Kalam"/>
              <a:cs typeface="Kalam"/>
              <a:sym typeface="Kalam"/>
            </a:endParaRPr>
          </a:p>
        </p:txBody>
      </p:sp>
      <p:sp>
        <p:nvSpPr>
          <p:cNvPr id="1229" name="Google Shape;1229;p80"/>
          <p:cNvSpPr/>
          <p:nvPr/>
        </p:nvSpPr>
        <p:spPr>
          <a:xfrm>
            <a:off x="7138563" y="900491"/>
            <a:ext cx="1260000" cy="1260000"/>
          </a:xfrm>
          <a:prstGeom prst="triangle">
            <a:avLst>
              <a:gd fmla="val 178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3" name="Shape 1233"/>
        <p:cNvGrpSpPr/>
        <p:nvPr/>
      </p:nvGrpSpPr>
      <p:grpSpPr>
        <a:xfrm>
          <a:off x="0" y="0"/>
          <a:ext cx="0" cy="0"/>
          <a:chOff x="0" y="0"/>
          <a:chExt cx="0" cy="0"/>
        </a:xfrm>
      </p:grpSpPr>
      <p:sp>
        <p:nvSpPr>
          <p:cNvPr id="1234" name="Google Shape;1234;p81"/>
          <p:cNvSpPr txBox="1"/>
          <p:nvPr/>
        </p:nvSpPr>
        <p:spPr>
          <a:xfrm flipH="1" rot="2671">
            <a:off x="324016" y="619200"/>
            <a:ext cx="8496003"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3) </a:t>
            </a:r>
            <a:r>
              <a:rPr lang="en-GB" sz="1800">
                <a:solidFill>
                  <a:schemeClr val="dk1"/>
                </a:solidFill>
                <a:latin typeface="Lexend"/>
                <a:ea typeface="Lexend"/>
                <a:cs typeface="Lexend"/>
                <a:sym typeface="Lexend"/>
              </a:rPr>
              <a:t>For each of these triangles, tick (✔) each right-angled triangle, cross (✘) non-right-angled triangle, put a question mark (?) by each one where you cannot tell.</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For each right-angled triangle, circle or highlight its hypotenuse.</a:t>
            </a:r>
            <a:endParaRPr sz="1800">
              <a:solidFill>
                <a:schemeClr val="dk1"/>
              </a:solidFill>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t/>
            </a:r>
            <a:endParaRPr sz="1800">
              <a:latin typeface="Lexend"/>
              <a:ea typeface="Lexend"/>
              <a:cs typeface="Lexend"/>
              <a:sym typeface="Lexend"/>
            </a:endParaRPr>
          </a:p>
        </p:txBody>
      </p:sp>
      <p:sp>
        <p:nvSpPr>
          <p:cNvPr id="1235" name="Google Shape;1235;p8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Identifying the hypotenuse</a:t>
            </a:r>
            <a:endParaRPr/>
          </a:p>
        </p:txBody>
      </p:sp>
      <p:pic>
        <p:nvPicPr>
          <p:cNvPr id="1236" name="Google Shape;1236;p81"/>
          <p:cNvPicPr preferRelativeResize="0"/>
          <p:nvPr/>
        </p:nvPicPr>
        <p:blipFill>
          <a:blip r:embed="rId3">
            <a:alphaModFix/>
          </a:blip>
          <a:stretch>
            <a:fillRect/>
          </a:stretch>
        </p:blipFill>
        <p:spPr>
          <a:xfrm>
            <a:off x="425100" y="1734202"/>
            <a:ext cx="8293852" cy="3279225"/>
          </a:xfrm>
          <a:prstGeom prst="rect">
            <a:avLst/>
          </a:prstGeom>
          <a:noFill/>
          <a:ln>
            <a:noFill/>
          </a:ln>
        </p:spPr>
      </p:pic>
      <p:sp>
        <p:nvSpPr>
          <p:cNvPr id="1237" name="Google Shape;1237;p81"/>
          <p:cNvSpPr txBox="1"/>
          <p:nvPr/>
        </p:nvSpPr>
        <p:spPr>
          <a:xfrm flipH="1" rot="2532">
            <a:off x="761556" y="2174021"/>
            <a:ext cx="8145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68°</a:t>
            </a:r>
            <a:endParaRPr sz="1800">
              <a:latin typeface="Lexend"/>
              <a:ea typeface="Lexend"/>
              <a:cs typeface="Lexend"/>
              <a:sym typeface="Lexend"/>
            </a:endParaRPr>
          </a:p>
        </p:txBody>
      </p:sp>
      <p:sp>
        <p:nvSpPr>
          <p:cNvPr id="1238" name="Google Shape;1238;p81"/>
          <p:cNvSpPr txBox="1"/>
          <p:nvPr/>
        </p:nvSpPr>
        <p:spPr>
          <a:xfrm flipH="1" rot="2532">
            <a:off x="2221581" y="2485296"/>
            <a:ext cx="8145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22°</a:t>
            </a:r>
            <a:endParaRPr sz="1800">
              <a:latin typeface="Lexend"/>
              <a:ea typeface="Lexend"/>
              <a:cs typeface="Lexend"/>
              <a:sym typeface="Lexend"/>
            </a:endParaRPr>
          </a:p>
        </p:txBody>
      </p:sp>
      <p:sp>
        <p:nvSpPr>
          <p:cNvPr id="1239" name="Google Shape;1239;p81"/>
          <p:cNvSpPr txBox="1"/>
          <p:nvPr/>
        </p:nvSpPr>
        <p:spPr>
          <a:xfrm flipH="1" rot="2532">
            <a:off x="3092101" y="4278380"/>
            <a:ext cx="8145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52°</a:t>
            </a:r>
            <a:endParaRPr sz="1800">
              <a:latin typeface="Lexend"/>
              <a:ea typeface="Lexend"/>
              <a:cs typeface="Lexend"/>
              <a:sym typeface="Lexend"/>
            </a:endParaRPr>
          </a:p>
        </p:txBody>
      </p:sp>
      <p:sp>
        <p:nvSpPr>
          <p:cNvPr id="1240" name="Google Shape;1240;p81"/>
          <p:cNvSpPr txBox="1"/>
          <p:nvPr/>
        </p:nvSpPr>
        <p:spPr>
          <a:xfrm flipH="1" rot="2532">
            <a:off x="7431065" y="2797774"/>
            <a:ext cx="8145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92°</a:t>
            </a:r>
            <a:endParaRPr sz="1800">
              <a:latin typeface="Lexend"/>
              <a:ea typeface="Lexend"/>
              <a:cs typeface="Lexend"/>
              <a:sym typeface="Lexend"/>
            </a:endParaRPr>
          </a:p>
        </p:txBody>
      </p:sp>
      <p:sp>
        <p:nvSpPr>
          <p:cNvPr id="1241" name="Google Shape;1241;p81"/>
          <p:cNvSpPr txBox="1"/>
          <p:nvPr/>
        </p:nvSpPr>
        <p:spPr>
          <a:xfrm flipH="1" rot="2532">
            <a:off x="4570333" y="3635648"/>
            <a:ext cx="8145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34°</a:t>
            </a:r>
            <a:endParaRPr sz="1800">
              <a:latin typeface="Lexend"/>
              <a:ea typeface="Lexend"/>
              <a:cs typeface="Lexend"/>
              <a:sym typeface="Lexend"/>
            </a:endParaRPr>
          </a:p>
        </p:txBody>
      </p:sp>
      <p:sp>
        <p:nvSpPr>
          <p:cNvPr id="1242" name="Google Shape;1242;p81"/>
          <p:cNvSpPr txBox="1"/>
          <p:nvPr/>
        </p:nvSpPr>
        <p:spPr>
          <a:xfrm flipH="1" rot="2089">
            <a:off x="6978754" y="4177989"/>
            <a:ext cx="4938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50°</a:t>
            </a:r>
            <a:endParaRPr sz="1800">
              <a:latin typeface="Lexend"/>
              <a:ea typeface="Lexend"/>
              <a:cs typeface="Lexend"/>
              <a:sym typeface="Lexend"/>
            </a:endParaRPr>
          </a:p>
        </p:txBody>
      </p:sp>
      <p:sp>
        <p:nvSpPr>
          <p:cNvPr id="1243" name="Google Shape;1243;p81"/>
          <p:cNvSpPr txBox="1"/>
          <p:nvPr/>
        </p:nvSpPr>
        <p:spPr>
          <a:xfrm flipH="1" rot="2207">
            <a:off x="6949252" y="3218322"/>
            <a:ext cx="4674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41°</a:t>
            </a:r>
            <a:endParaRPr sz="1800">
              <a:latin typeface="Lexend"/>
              <a:ea typeface="Lexend"/>
              <a:cs typeface="Lexend"/>
              <a:sym typeface="Lexend"/>
            </a:endParaRPr>
          </a:p>
        </p:txBody>
      </p:sp>
      <p:sp>
        <p:nvSpPr>
          <p:cNvPr id="1244" name="Google Shape;1244;p81"/>
          <p:cNvSpPr txBox="1"/>
          <p:nvPr/>
        </p:nvSpPr>
        <p:spPr>
          <a:xfrm flipH="1" rot="2207">
            <a:off x="5139638" y="2282167"/>
            <a:ext cx="4674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52°</a:t>
            </a:r>
            <a:endParaRPr sz="1800">
              <a:latin typeface="Lexend"/>
              <a:ea typeface="Lexend"/>
              <a:cs typeface="Lexend"/>
              <a:sym typeface="Lexend"/>
            </a:endParaRPr>
          </a:p>
        </p:txBody>
      </p:sp>
      <p:sp>
        <p:nvSpPr>
          <p:cNvPr id="1245" name="Google Shape;1245;p81"/>
          <p:cNvSpPr txBox="1"/>
          <p:nvPr/>
        </p:nvSpPr>
        <p:spPr>
          <a:xfrm flipH="1" rot="2207">
            <a:off x="1397043" y="4379681"/>
            <a:ext cx="4674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51°</a:t>
            </a:r>
            <a:endParaRPr sz="1800">
              <a:latin typeface="Lexend"/>
              <a:ea typeface="Lexend"/>
              <a:cs typeface="Lexend"/>
              <a:sym typeface="Lexend"/>
            </a:endParaRPr>
          </a:p>
        </p:txBody>
      </p:sp>
      <p:sp>
        <p:nvSpPr>
          <p:cNvPr id="1246" name="Google Shape;1246;p81"/>
          <p:cNvSpPr txBox="1"/>
          <p:nvPr/>
        </p:nvSpPr>
        <p:spPr>
          <a:xfrm flipH="1" rot="2207">
            <a:off x="568431" y="3426731"/>
            <a:ext cx="4674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39°</a:t>
            </a:r>
            <a:endParaRPr sz="1800">
              <a:latin typeface="Lexend"/>
              <a:ea typeface="Lexend"/>
              <a:cs typeface="Lexend"/>
              <a:sym typeface="Lexend"/>
            </a:endParaRPr>
          </a:p>
        </p:txBody>
      </p:sp>
      <p:cxnSp>
        <p:nvCxnSpPr>
          <p:cNvPr id="1247" name="Google Shape;1247;p81"/>
          <p:cNvCxnSpPr/>
          <p:nvPr/>
        </p:nvCxnSpPr>
        <p:spPr>
          <a:xfrm>
            <a:off x="1274950" y="2351125"/>
            <a:ext cx="192000" cy="68700"/>
          </a:xfrm>
          <a:prstGeom prst="straightConnector1">
            <a:avLst/>
          </a:prstGeom>
          <a:noFill/>
          <a:ln cap="flat" cmpd="sng" w="28575">
            <a:solidFill>
              <a:schemeClr val="accent4"/>
            </a:solidFill>
            <a:prstDash val="solid"/>
            <a:round/>
            <a:headEnd len="med" w="med" type="none"/>
            <a:tailEnd len="med" w="med" type="none"/>
          </a:ln>
        </p:spPr>
      </p:cxnSp>
      <p:cxnSp>
        <p:nvCxnSpPr>
          <p:cNvPr id="1248" name="Google Shape;1248;p81"/>
          <p:cNvCxnSpPr/>
          <p:nvPr/>
        </p:nvCxnSpPr>
        <p:spPr>
          <a:xfrm>
            <a:off x="2728125" y="2665650"/>
            <a:ext cx="397500" cy="144600"/>
          </a:xfrm>
          <a:prstGeom prst="straightConnector1">
            <a:avLst/>
          </a:prstGeom>
          <a:noFill/>
          <a:ln cap="flat" cmpd="sng" w="28575">
            <a:solidFill>
              <a:schemeClr val="accent4"/>
            </a:solidFill>
            <a:prstDash val="solid"/>
            <a:round/>
            <a:headEnd len="med" w="med" type="none"/>
            <a:tailEnd len="med" w="med" type="none"/>
          </a:ln>
        </p:spPr>
      </p:cxnSp>
      <p:cxnSp>
        <p:nvCxnSpPr>
          <p:cNvPr id="1249" name="Google Shape;1249;p81"/>
          <p:cNvCxnSpPr/>
          <p:nvPr/>
        </p:nvCxnSpPr>
        <p:spPr>
          <a:xfrm>
            <a:off x="4530875" y="3591800"/>
            <a:ext cx="240000" cy="123300"/>
          </a:xfrm>
          <a:prstGeom prst="straightConnector1">
            <a:avLst/>
          </a:prstGeom>
          <a:noFill/>
          <a:ln cap="flat" cmpd="sng" w="28575">
            <a:solidFill>
              <a:schemeClr val="accent4"/>
            </a:solidFill>
            <a:prstDash val="solid"/>
            <a:round/>
            <a:headEnd len="med" w="med" type="none"/>
            <a:tailEnd len="med" w="med" type="none"/>
          </a:ln>
        </p:spPr>
      </p:cxnSp>
      <p:cxnSp>
        <p:nvCxnSpPr>
          <p:cNvPr id="1250" name="Google Shape;1250;p81"/>
          <p:cNvCxnSpPr/>
          <p:nvPr/>
        </p:nvCxnSpPr>
        <p:spPr>
          <a:xfrm>
            <a:off x="6700275" y="3312163"/>
            <a:ext cx="270900" cy="46500"/>
          </a:xfrm>
          <a:prstGeom prst="straightConnector1">
            <a:avLst/>
          </a:prstGeom>
          <a:noFill/>
          <a:ln cap="flat" cmpd="sng" w="28575">
            <a:solidFill>
              <a:schemeClr val="accent4"/>
            </a:solidFill>
            <a:prstDash val="solid"/>
            <a:round/>
            <a:headEnd len="med" w="med" type="none"/>
            <a:tailEnd len="med" w="med" type="none"/>
          </a:ln>
        </p:spPr>
      </p:cxnSp>
      <p:cxnSp>
        <p:nvCxnSpPr>
          <p:cNvPr id="1251" name="Google Shape;1251;p81"/>
          <p:cNvCxnSpPr/>
          <p:nvPr/>
        </p:nvCxnSpPr>
        <p:spPr>
          <a:xfrm flipH="1" rot="10800000">
            <a:off x="6710625" y="4277975"/>
            <a:ext cx="260700" cy="26700"/>
          </a:xfrm>
          <a:prstGeom prst="straightConnector1">
            <a:avLst/>
          </a:prstGeom>
          <a:noFill/>
          <a:ln cap="flat" cmpd="sng" w="28575">
            <a:solidFill>
              <a:schemeClr val="accent4"/>
            </a:solidFill>
            <a:prstDash val="solid"/>
            <a:round/>
            <a:headEnd len="med" w="med" type="none"/>
            <a:tailEnd len="med" w="med" type="none"/>
          </a:ln>
        </p:spPr>
      </p:cxnSp>
      <p:pic>
        <p:nvPicPr>
          <p:cNvPr id="1252" name="Google Shape;1252;p81"/>
          <p:cNvPicPr preferRelativeResize="0"/>
          <p:nvPr/>
        </p:nvPicPr>
        <p:blipFill>
          <a:blip r:embed="rId4">
            <a:alphaModFix/>
          </a:blip>
          <a:stretch>
            <a:fillRect/>
          </a:stretch>
        </p:blipFill>
        <p:spPr>
          <a:xfrm>
            <a:off x="1616396" y="2750075"/>
            <a:ext cx="396000" cy="419100"/>
          </a:xfrm>
          <a:prstGeom prst="rect">
            <a:avLst/>
          </a:prstGeom>
          <a:noFill/>
          <a:ln>
            <a:noFill/>
          </a:ln>
        </p:spPr>
      </p:pic>
      <p:pic>
        <p:nvPicPr>
          <p:cNvPr id="1253" name="Google Shape;1253;p81"/>
          <p:cNvPicPr preferRelativeResize="0"/>
          <p:nvPr/>
        </p:nvPicPr>
        <p:blipFill>
          <a:blip r:embed="rId5">
            <a:alphaModFix/>
          </a:blip>
          <a:stretch>
            <a:fillRect/>
          </a:stretch>
        </p:blipFill>
        <p:spPr>
          <a:xfrm>
            <a:off x="8112495" y="2837660"/>
            <a:ext cx="396000" cy="419760"/>
          </a:xfrm>
          <a:prstGeom prst="rect">
            <a:avLst/>
          </a:prstGeom>
          <a:noFill/>
          <a:ln>
            <a:noFill/>
          </a:ln>
        </p:spPr>
      </p:pic>
      <p:sp>
        <p:nvSpPr>
          <p:cNvPr id="1254" name="Google Shape;1254;p81"/>
          <p:cNvSpPr txBox="1"/>
          <p:nvPr/>
        </p:nvSpPr>
        <p:spPr>
          <a:xfrm flipH="1">
            <a:off x="4024445" y="2351123"/>
            <a:ext cx="396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3500">
                <a:latin typeface="Lexend"/>
                <a:ea typeface="Lexend"/>
                <a:cs typeface="Lexend"/>
                <a:sym typeface="Lexend"/>
              </a:rPr>
              <a:t>?</a:t>
            </a:r>
            <a:endParaRPr sz="3500">
              <a:latin typeface="Lexend"/>
              <a:ea typeface="Lexend"/>
              <a:cs typeface="Lexend"/>
              <a:sym typeface="Lexend"/>
            </a:endParaRPr>
          </a:p>
        </p:txBody>
      </p:sp>
      <p:pic>
        <p:nvPicPr>
          <p:cNvPr id="1255" name="Google Shape;1255;p81"/>
          <p:cNvPicPr preferRelativeResize="0"/>
          <p:nvPr/>
        </p:nvPicPr>
        <p:blipFill>
          <a:blip r:embed="rId5">
            <a:alphaModFix/>
          </a:blip>
          <a:stretch>
            <a:fillRect/>
          </a:stretch>
        </p:blipFill>
        <p:spPr>
          <a:xfrm>
            <a:off x="6912945" y="3608448"/>
            <a:ext cx="396000" cy="419760"/>
          </a:xfrm>
          <a:prstGeom prst="rect">
            <a:avLst/>
          </a:prstGeom>
          <a:noFill/>
          <a:ln>
            <a:noFill/>
          </a:ln>
        </p:spPr>
      </p:pic>
      <p:pic>
        <p:nvPicPr>
          <p:cNvPr id="1256" name="Google Shape;1256;p81"/>
          <p:cNvPicPr preferRelativeResize="0"/>
          <p:nvPr/>
        </p:nvPicPr>
        <p:blipFill>
          <a:blip r:embed="rId5">
            <a:alphaModFix/>
          </a:blip>
          <a:stretch>
            <a:fillRect/>
          </a:stretch>
        </p:blipFill>
        <p:spPr>
          <a:xfrm>
            <a:off x="4089533" y="4177848"/>
            <a:ext cx="396000" cy="419760"/>
          </a:xfrm>
          <a:prstGeom prst="rect">
            <a:avLst/>
          </a:prstGeom>
          <a:noFill/>
          <a:ln>
            <a:noFill/>
          </a:ln>
        </p:spPr>
      </p:pic>
      <p:pic>
        <p:nvPicPr>
          <p:cNvPr id="1257" name="Google Shape;1257;p81"/>
          <p:cNvPicPr preferRelativeResize="0"/>
          <p:nvPr/>
        </p:nvPicPr>
        <p:blipFill>
          <a:blip r:embed="rId4">
            <a:alphaModFix/>
          </a:blip>
          <a:stretch>
            <a:fillRect/>
          </a:stretch>
        </p:blipFill>
        <p:spPr>
          <a:xfrm>
            <a:off x="2041371" y="3858875"/>
            <a:ext cx="396000" cy="419100"/>
          </a:xfrm>
          <a:prstGeom prst="rect">
            <a:avLst/>
          </a:prstGeom>
          <a:noFill/>
          <a:ln>
            <a:noFill/>
          </a:ln>
        </p:spPr>
      </p:pic>
      <p:sp>
        <p:nvSpPr>
          <p:cNvPr id="1258" name="Google Shape;1258;p81"/>
          <p:cNvSpPr/>
          <p:nvPr/>
        </p:nvSpPr>
        <p:spPr>
          <a:xfrm rot="8461652">
            <a:off x="1190046" y="2525291"/>
            <a:ext cx="206059" cy="2516519"/>
          </a:xfrm>
          <a:prstGeom prst="ellipse">
            <a:avLst/>
          </a:prstGeom>
          <a:solidFill>
            <a:srgbClr val="845AD9">
              <a:alpha val="60000"/>
            </a:srgbClr>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9" name="Google Shape;1259;p81"/>
          <p:cNvSpPr/>
          <p:nvPr/>
        </p:nvSpPr>
        <p:spPr>
          <a:xfrm rot="-4663475">
            <a:off x="2302835" y="1474170"/>
            <a:ext cx="206010" cy="2516336"/>
          </a:xfrm>
          <a:prstGeom prst="ellipse">
            <a:avLst/>
          </a:prstGeom>
          <a:solidFill>
            <a:srgbClr val="845AD9">
              <a:alpha val="60000"/>
            </a:srgbClr>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0" name="Google Shape;1260;p81"/>
          <p:cNvSpPr txBox="1"/>
          <p:nvPr/>
        </p:nvSpPr>
        <p:spPr>
          <a:xfrm flipH="1" rot="3364">
            <a:off x="1274943" y="1730839"/>
            <a:ext cx="306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a) </a:t>
            </a:r>
            <a:endParaRPr sz="1800">
              <a:latin typeface="Lexend"/>
              <a:ea typeface="Lexend"/>
              <a:cs typeface="Lexend"/>
              <a:sym typeface="Lexend"/>
            </a:endParaRPr>
          </a:p>
        </p:txBody>
      </p:sp>
      <p:sp>
        <p:nvSpPr>
          <p:cNvPr id="1261" name="Google Shape;1261;p81"/>
          <p:cNvSpPr txBox="1"/>
          <p:nvPr/>
        </p:nvSpPr>
        <p:spPr>
          <a:xfrm flipH="1" rot="3364">
            <a:off x="3756293" y="1734339"/>
            <a:ext cx="306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b) </a:t>
            </a:r>
            <a:endParaRPr sz="1800">
              <a:latin typeface="Lexend"/>
              <a:ea typeface="Lexend"/>
              <a:cs typeface="Lexend"/>
              <a:sym typeface="Lexend"/>
            </a:endParaRPr>
          </a:p>
        </p:txBody>
      </p:sp>
      <p:sp>
        <p:nvSpPr>
          <p:cNvPr id="1262" name="Google Shape;1262;p81"/>
          <p:cNvSpPr txBox="1"/>
          <p:nvPr/>
        </p:nvSpPr>
        <p:spPr>
          <a:xfrm flipH="1" rot="3364">
            <a:off x="6134843" y="1924289"/>
            <a:ext cx="306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c) </a:t>
            </a:r>
            <a:endParaRPr sz="1800">
              <a:latin typeface="Lexend"/>
              <a:ea typeface="Lexend"/>
              <a:cs typeface="Lexend"/>
              <a:sym typeface="Lexend"/>
            </a:endParaRPr>
          </a:p>
        </p:txBody>
      </p:sp>
      <p:sp>
        <p:nvSpPr>
          <p:cNvPr id="1263" name="Google Shape;1263;p81"/>
          <p:cNvSpPr txBox="1"/>
          <p:nvPr/>
        </p:nvSpPr>
        <p:spPr>
          <a:xfrm flipH="1" rot="3364">
            <a:off x="356418" y="2561389"/>
            <a:ext cx="306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d) </a:t>
            </a:r>
            <a:endParaRPr sz="1800">
              <a:latin typeface="Lexend"/>
              <a:ea typeface="Lexend"/>
              <a:cs typeface="Lexend"/>
              <a:sym typeface="Lexend"/>
            </a:endParaRPr>
          </a:p>
        </p:txBody>
      </p:sp>
      <p:sp>
        <p:nvSpPr>
          <p:cNvPr id="1264" name="Google Shape;1264;p81"/>
          <p:cNvSpPr txBox="1"/>
          <p:nvPr/>
        </p:nvSpPr>
        <p:spPr>
          <a:xfrm flipH="1" rot="3364">
            <a:off x="2926893" y="3405551"/>
            <a:ext cx="306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e) </a:t>
            </a:r>
            <a:endParaRPr sz="1800">
              <a:latin typeface="Lexend"/>
              <a:ea typeface="Lexend"/>
              <a:cs typeface="Lexend"/>
              <a:sym typeface="Lexend"/>
            </a:endParaRPr>
          </a:p>
        </p:txBody>
      </p:sp>
      <p:sp>
        <p:nvSpPr>
          <p:cNvPr id="1265" name="Google Shape;1265;p81"/>
          <p:cNvSpPr txBox="1"/>
          <p:nvPr/>
        </p:nvSpPr>
        <p:spPr>
          <a:xfrm flipH="1" rot="3364">
            <a:off x="5731218" y="3830551"/>
            <a:ext cx="306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f) </a:t>
            </a:r>
            <a:endParaRPr sz="1800">
              <a:latin typeface="Lexend"/>
              <a:ea typeface="Lexend"/>
              <a:cs typeface="Lexend"/>
              <a:sym typeface="Lexen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pic>
        <p:nvPicPr>
          <p:cNvPr id="1270" name="Google Shape;1270;p82"/>
          <p:cNvPicPr preferRelativeResize="0"/>
          <p:nvPr/>
        </p:nvPicPr>
        <p:blipFill>
          <a:blip r:embed="rId3">
            <a:alphaModFix/>
          </a:blip>
          <a:stretch>
            <a:fillRect/>
          </a:stretch>
        </p:blipFill>
        <p:spPr>
          <a:xfrm>
            <a:off x="1096725" y="1401057"/>
            <a:ext cx="6950551" cy="3371550"/>
          </a:xfrm>
          <a:prstGeom prst="rect">
            <a:avLst/>
          </a:prstGeom>
          <a:noFill/>
          <a:ln>
            <a:noFill/>
          </a:ln>
        </p:spPr>
      </p:pic>
      <p:sp>
        <p:nvSpPr>
          <p:cNvPr id="1271" name="Google Shape;1271;p8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Identifying the hypotenuse</a:t>
            </a:r>
            <a:endParaRPr/>
          </a:p>
        </p:txBody>
      </p:sp>
      <p:pic>
        <p:nvPicPr>
          <p:cNvPr id="1272" name="Google Shape;1272;p82"/>
          <p:cNvPicPr preferRelativeResize="0"/>
          <p:nvPr/>
        </p:nvPicPr>
        <p:blipFill>
          <a:blip r:embed="rId4">
            <a:alphaModFix/>
          </a:blip>
          <a:stretch>
            <a:fillRect/>
          </a:stretch>
        </p:blipFill>
        <p:spPr>
          <a:xfrm>
            <a:off x="1684808" y="3551410"/>
            <a:ext cx="396000" cy="419760"/>
          </a:xfrm>
          <a:prstGeom prst="rect">
            <a:avLst/>
          </a:prstGeom>
          <a:noFill/>
          <a:ln>
            <a:noFill/>
          </a:ln>
        </p:spPr>
      </p:pic>
      <p:pic>
        <p:nvPicPr>
          <p:cNvPr id="1273" name="Google Shape;1273;p82"/>
          <p:cNvPicPr preferRelativeResize="0"/>
          <p:nvPr/>
        </p:nvPicPr>
        <p:blipFill>
          <a:blip r:embed="rId5">
            <a:alphaModFix/>
          </a:blip>
          <a:stretch>
            <a:fillRect/>
          </a:stretch>
        </p:blipFill>
        <p:spPr>
          <a:xfrm>
            <a:off x="4927946" y="2178238"/>
            <a:ext cx="396000" cy="419100"/>
          </a:xfrm>
          <a:prstGeom prst="rect">
            <a:avLst/>
          </a:prstGeom>
          <a:noFill/>
          <a:ln>
            <a:noFill/>
          </a:ln>
        </p:spPr>
      </p:pic>
      <p:pic>
        <p:nvPicPr>
          <p:cNvPr id="1274" name="Google Shape;1274;p82"/>
          <p:cNvPicPr preferRelativeResize="0"/>
          <p:nvPr/>
        </p:nvPicPr>
        <p:blipFill>
          <a:blip r:embed="rId5">
            <a:alphaModFix/>
          </a:blip>
          <a:stretch>
            <a:fillRect/>
          </a:stretch>
        </p:blipFill>
        <p:spPr>
          <a:xfrm>
            <a:off x="7196796" y="1855188"/>
            <a:ext cx="396000" cy="419100"/>
          </a:xfrm>
          <a:prstGeom prst="rect">
            <a:avLst/>
          </a:prstGeom>
          <a:noFill/>
          <a:ln>
            <a:noFill/>
          </a:ln>
        </p:spPr>
      </p:pic>
      <p:sp>
        <p:nvSpPr>
          <p:cNvPr id="1275" name="Google Shape;1275;p82"/>
          <p:cNvSpPr txBox="1"/>
          <p:nvPr/>
        </p:nvSpPr>
        <p:spPr>
          <a:xfrm flipH="1">
            <a:off x="4286790" y="3197275"/>
            <a:ext cx="1344000" cy="554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latin typeface="Kalam"/>
                <a:ea typeface="Kalam"/>
                <a:cs typeface="Kalam"/>
                <a:sym typeface="Kalam"/>
              </a:rPr>
              <a:t>hypotenuse</a:t>
            </a:r>
            <a:endParaRPr sz="2000">
              <a:latin typeface="Kalam"/>
              <a:ea typeface="Kalam"/>
              <a:cs typeface="Kalam"/>
              <a:sym typeface="Kalam"/>
            </a:endParaRPr>
          </a:p>
          <a:p>
            <a:pPr indent="0" lvl="0" marL="0" rtl="0" algn="ctr">
              <a:spcBef>
                <a:spcPts val="0"/>
              </a:spcBef>
              <a:spcAft>
                <a:spcPts val="0"/>
              </a:spcAft>
              <a:buClr>
                <a:schemeClr val="dk1"/>
              </a:buClr>
              <a:buSzPts val="1100"/>
              <a:buFont typeface="Arial"/>
              <a:buNone/>
            </a:pPr>
            <a:r>
              <a:rPr lang="en-GB" sz="2000">
                <a:latin typeface="Kalam"/>
                <a:ea typeface="Kalam"/>
                <a:cs typeface="Kalam"/>
                <a:sym typeface="Kalam"/>
              </a:rPr>
              <a:t>87 cm</a:t>
            </a:r>
            <a:endParaRPr sz="2000">
              <a:latin typeface="Kalam"/>
              <a:ea typeface="Kalam"/>
              <a:cs typeface="Kalam"/>
              <a:sym typeface="Kalam"/>
            </a:endParaRPr>
          </a:p>
        </p:txBody>
      </p:sp>
      <p:sp>
        <p:nvSpPr>
          <p:cNvPr id="1276" name="Google Shape;1276;p82"/>
          <p:cNvSpPr txBox="1"/>
          <p:nvPr/>
        </p:nvSpPr>
        <p:spPr>
          <a:xfrm flipH="1">
            <a:off x="7363971" y="3950459"/>
            <a:ext cx="1344000" cy="554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latin typeface="Kalam"/>
                <a:ea typeface="Kalam"/>
                <a:cs typeface="Kalam"/>
                <a:sym typeface="Kalam"/>
              </a:rPr>
              <a:t>hypotenuse</a:t>
            </a:r>
            <a:endParaRPr sz="2000">
              <a:latin typeface="Kalam"/>
              <a:ea typeface="Kalam"/>
              <a:cs typeface="Kalam"/>
              <a:sym typeface="Kalam"/>
            </a:endParaRPr>
          </a:p>
          <a:p>
            <a:pPr indent="0" lvl="0" marL="0" rtl="0" algn="ctr">
              <a:spcBef>
                <a:spcPts val="0"/>
              </a:spcBef>
              <a:spcAft>
                <a:spcPts val="0"/>
              </a:spcAft>
              <a:buClr>
                <a:schemeClr val="dk1"/>
              </a:buClr>
              <a:buSzPts val="1100"/>
              <a:buFont typeface="Arial"/>
              <a:buNone/>
            </a:pPr>
            <a:r>
              <a:rPr lang="en-GB" sz="2000">
                <a:latin typeface="Kalam"/>
                <a:ea typeface="Kalam"/>
                <a:cs typeface="Kalam"/>
                <a:sym typeface="Kalam"/>
              </a:rPr>
              <a:t>43 cm</a:t>
            </a:r>
            <a:endParaRPr sz="2000">
              <a:latin typeface="Kalam"/>
              <a:ea typeface="Kalam"/>
              <a:cs typeface="Kalam"/>
              <a:sym typeface="Kalam"/>
            </a:endParaRPr>
          </a:p>
        </p:txBody>
      </p:sp>
      <p:sp>
        <p:nvSpPr>
          <p:cNvPr id="1277" name="Google Shape;1277;p82"/>
          <p:cNvSpPr txBox="1"/>
          <p:nvPr/>
        </p:nvSpPr>
        <p:spPr>
          <a:xfrm flipH="1">
            <a:off x="2607375" y="2232075"/>
            <a:ext cx="1094100" cy="554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area</a:t>
            </a:r>
            <a:endParaRPr sz="1800">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350 cm²</a:t>
            </a:r>
            <a:endParaRPr sz="1800">
              <a:latin typeface="Lexend"/>
              <a:ea typeface="Lexend"/>
              <a:cs typeface="Lexend"/>
              <a:sym typeface="Lexend"/>
            </a:endParaRPr>
          </a:p>
        </p:txBody>
      </p:sp>
      <p:sp>
        <p:nvSpPr>
          <p:cNvPr id="1278" name="Google Shape;1278;p82"/>
          <p:cNvSpPr txBox="1"/>
          <p:nvPr/>
        </p:nvSpPr>
        <p:spPr>
          <a:xfrm flipH="1">
            <a:off x="1137600" y="2734350"/>
            <a:ext cx="1035300" cy="554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area</a:t>
            </a:r>
            <a:endParaRPr sz="1800">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169 cm²</a:t>
            </a:r>
            <a:endParaRPr sz="1800">
              <a:latin typeface="Lexend"/>
              <a:ea typeface="Lexend"/>
              <a:cs typeface="Lexend"/>
              <a:sym typeface="Lexend"/>
            </a:endParaRPr>
          </a:p>
        </p:txBody>
      </p:sp>
      <p:sp>
        <p:nvSpPr>
          <p:cNvPr id="1279" name="Google Shape;1279;p82"/>
          <p:cNvSpPr txBox="1"/>
          <p:nvPr/>
        </p:nvSpPr>
        <p:spPr>
          <a:xfrm flipH="1">
            <a:off x="2145214" y="3741975"/>
            <a:ext cx="1035300" cy="554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area</a:t>
            </a:r>
            <a:endParaRPr sz="1800">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171 cm²</a:t>
            </a:r>
            <a:endParaRPr sz="1800">
              <a:latin typeface="Lexend"/>
              <a:ea typeface="Lexend"/>
              <a:cs typeface="Lexend"/>
              <a:sym typeface="Lexend"/>
            </a:endParaRPr>
          </a:p>
        </p:txBody>
      </p:sp>
      <p:sp>
        <p:nvSpPr>
          <p:cNvPr id="1280" name="Google Shape;1280;p82"/>
          <p:cNvSpPr txBox="1"/>
          <p:nvPr/>
        </p:nvSpPr>
        <p:spPr>
          <a:xfrm flipH="1">
            <a:off x="3855889" y="3949875"/>
            <a:ext cx="1035300" cy="554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area</a:t>
            </a:r>
            <a:endParaRPr sz="1800">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7569 cm²</a:t>
            </a:r>
            <a:endParaRPr sz="1800">
              <a:latin typeface="Lexend"/>
              <a:ea typeface="Lexend"/>
              <a:cs typeface="Lexend"/>
              <a:sym typeface="Lexend"/>
            </a:endParaRPr>
          </a:p>
        </p:txBody>
      </p:sp>
      <p:sp>
        <p:nvSpPr>
          <p:cNvPr id="1281" name="Google Shape;1281;p82"/>
          <p:cNvSpPr txBox="1"/>
          <p:nvPr/>
        </p:nvSpPr>
        <p:spPr>
          <a:xfrm flipH="1">
            <a:off x="5990951" y="3680277"/>
            <a:ext cx="645600" cy="554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area</a:t>
            </a:r>
            <a:endParaRPr sz="1800">
              <a:latin typeface="Lexend"/>
              <a:ea typeface="Lexend"/>
              <a:cs typeface="Lexend"/>
              <a:sym typeface="Lexend"/>
            </a:endParaRPr>
          </a:p>
          <a:p>
            <a:pPr indent="0" lvl="0" marL="0" rtl="0" algn="ctr">
              <a:lnSpc>
                <a:spcPct val="80000"/>
              </a:lnSpc>
              <a:spcBef>
                <a:spcPts val="0"/>
              </a:spcBef>
              <a:spcAft>
                <a:spcPts val="0"/>
              </a:spcAft>
              <a:buClr>
                <a:schemeClr val="dk1"/>
              </a:buClr>
              <a:buSzPts val="1100"/>
              <a:buFont typeface="Arial"/>
              <a:buNone/>
            </a:pPr>
            <a:r>
              <a:rPr lang="en-GB" sz="1800">
                <a:latin typeface="Lexend"/>
                <a:ea typeface="Lexend"/>
                <a:cs typeface="Lexend"/>
                <a:sym typeface="Lexend"/>
              </a:rPr>
              <a:t>648 cm²</a:t>
            </a:r>
            <a:endParaRPr sz="1800">
              <a:latin typeface="Lexend"/>
              <a:ea typeface="Lexend"/>
              <a:cs typeface="Lexend"/>
              <a:sym typeface="Lexend"/>
            </a:endParaRPr>
          </a:p>
        </p:txBody>
      </p:sp>
      <p:sp>
        <p:nvSpPr>
          <p:cNvPr id="1282" name="Google Shape;1282;p82"/>
          <p:cNvSpPr txBox="1"/>
          <p:nvPr/>
        </p:nvSpPr>
        <p:spPr>
          <a:xfrm flipH="1">
            <a:off x="6767839" y="2724484"/>
            <a:ext cx="1035300" cy="554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area</a:t>
            </a:r>
            <a:endParaRPr sz="1800">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rPr lang="en-GB" sz="1800">
                <a:latin typeface="Lexend"/>
                <a:ea typeface="Lexend"/>
                <a:cs typeface="Lexend"/>
                <a:sym typeface="Lexend"/>
              </a:rPr>
              <a:t>1201 cm²</a:t>
            </a:r>
            <a:endParaRPr sz="1800">
              <a:latin typeface="Lexend"/>
              <a:ea typeface="Lexend"/>
              <a:cs typeface="Lexend"/>
              <a:sym typeface="Lexend"/>
            </a:endParaRPr>
          </a:p>
        </p:txBody>
      </p:sp>
      <p:sp>
        <p:nvSpPr>
          <p:cNvPr id="1283" name="Google Shape;1283;p82"/>
          <p:cNvSpPr txBox="1"/>
          <p:nvPr/>
        </p:nvSpPr>
        <p:spPr>
          <a:xfrm flipH="1" rot="3364">
            <a:off x="790118" y="2447114"/>
            <a:ext cx="306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a) </a:t>
            </a:r>
            <a:endParaRPr sz="1800">
              <a:latin typeface="Lexend"/>
              <a:ea typeface="Lexend"/>
              <a:cs typeface="Lexend"/>
              <a:sym typeface="Lexend"/>
            </a:endParaRPr>
          </a:p>
        </p:txBody>
      </p:sp>
      <p:sp>
        <p:nvSpPr>
          <p:cNvPr id="1284" name="Google Shape;1284;p82"/>
          <p:cNvSpPr txBox="1"/>
          <p:nvPr/>
        </p:nvSpPr>
        <p:spPr>
          <a:xfrm flipH="1" rot="3364">
            <a:off x="4628668" y="2332789"/>
            <a:ext cx="306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b) </a:t>
            </a:r>
            <a:endParaRPr sz="1800">
              <a:latin typeface="Lexend"/>
              <a:ea typeface="Lexend"/>
              <a:cs typeface="Lexend"/>
              <a:sym typeface="Lexend"/>
            </a:endParaRPr>
          </a:p>
        </p:txBody>
      </p:sp>
      <p:sp>
        <p:nvSpPr>
          <p:cNvPr id="1285" name="Google Shape;1285;p82"/>
          <p:cNvSpPr txBox="1"/>
          <p:nvPr/>
        </p:nvSpPr>
        <p:spPr>
          <a:xfrm flipH="1" rot="3364">
            <a:off x="6329943" y="2298514"/>
            <a:ext cx="306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c) </a:t>
            </a:r>
            <a:endParaRPr sz="1800">
              <a:latin typeface="Lexend"/>
              <a:ea typeface="Lexend"/>
              <a:cs typeface="Lexend"/>
              <a:sym typeface="Lexend"/>
            </a:endParaRPr>
          </a:p>
        </p:txBody>
      </p:sp>
      <p:sp>
        <p:nvSpPr>
          <p:cNvPr id="1286" name="Google Shape;1286;p82"/>
          <p:cNvSpPr txBox="1"/>
          <p:nvPr/>
        </p:nvSpPr>
        <p:spPr>
          <a:xfrm flipH="1" rot="2671">
            <a:off x="324016" y="619200"/>
            <a:ext cx="8496003" cy="692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4) For which of these triangles can you use Pythagoras’ theorem?</a:t>
            </a:r>
            <a:endParaRPr sz="1800">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900">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Where possible, calculate the length of the hypotenuse and label its length.</a:t>
            </a:r>
            <a:endParaRPr sz="1800">
              <a:latin typeface="Lexend"/>
              <a:ea typeface="Lexend"/>
              <a:cs typeface="Lexend"/>
              <a:sym typeface="Lexen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p83"/>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Identifying the hypotenuse</a:t>
            </a:r>
            <a:endParaRPr/>
          </a:p>
        </p:txBody>
      </p:sp>
      <p:sp>
        <p:nvSpPr>
          <p:cNvPr id="1292" name="Google Shape;1292;p83"/>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Right-angled triangles and congruence</a:t>
            </a:r>
            <a:endParaRPr/>
          </a:p>
        </p:txBody>
      </p:sp>
      <p:sp>
        <p:nvSpPr>
          <p:cNvPr id="1293" name="Google Shape;1293;p83"/>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lengths of missing sides</a:t>
            </a:r>
            <a:endParaRPr/>
          </a:p>
        </p:txBody>
      </p:sp>
      <p:sp>
        <p:nvSpPr>
          <p:cNvPr id="1294" name="Google Shape;1294;p83"/>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Determining which side</a:t>
            </a:r>
            <a:endParaRPr/>
          </a:p>
        </p:txBody>
      </p:sp>
      <p:pic>
        <p:nvPicPr>
          <p:cNvPr id="1295" name="Google Shape;1295;p83"/>
          <p:cNvPicPr preferRelativeResize="0"/>
          <p:nvPr/>
        </p:nvPicPr>
        <p:blipFill>
          <a:blip r:embed="rId3">
            <a:alphaModFix/>
          </a:blip>
          <a:stretch>
            <a:fillRect/>
          </a:stretch>
        </p:blipFill>
        <p:spPr>
          <a:xfrm>
            <a:off x="411000" y="3700465"/>
            <a:ext cx="450575" cy="4467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pic>
        <p:nvPicPr>
          <p:cNvPr id="1300" name="Google Shape;1300;p84"/>
          <p:cNvPicPr preferRelativeResize="0"/>
          <p:nvPr/>
        </p:nvPicPr>
        <p:blipFill rotWithShape="1">
          <a:blip r:embed="rId3">
            <a:alphaModFix/>
          </a:blip>
          <a:srcRect b="4218" l="40550" r="0" t="13558"/>
          <a:stretch/>
        </p:blipFill>
        <p:spPr>
          <a:xfrm>
            <a:off x="946900" y="2796143"/>
            <a:ext cx="4029527" cy="1584726"/>
          </a:xfrm>
          <a:prstGeom prst="rect">
            <a:avLst/>
          </a:prstGeom>
          <a:noFill/>
          <a:ln>
            <a:noFill/>
          </a:ln>
        </p:spPr>
      </p:pic>
      <p:pic>
        <p:nvPicPr>
          <p:cNvPr id="1301" name="Google Shape;1301;p84"/>
          <p:cNvPicPr preferRelativeResize="0"/>
          <p:nvPr/>
        </p:nvPicPr>
        <p:blipFill rotWithShape="1">
          <a:blip r:embed="rId3">
            <a:alphaModFix/>
          </a:blip>
          <a:srcRect b="4760" l="40550" r="0" t="13015"/>
          <a:stretch/>
        </p:blipFill>
        <p:spPr>
          <a:xfrm>
            <a:off x="1003775" y="648573"/>
            <a:ext cx="3411702" cy="1564700"/>
          </a:xfrm>
          <a:prstGeom prst="rect">
            <a:avLst/>
          </a:prstGeom>
          <a:noFill/>
          <a:ln>
            <a:noFill/>
          </a:ln>
        </p:spPr>
      </p:pic>
      <p:sp>
        <p:nvSpPr>
          <p:cNvPr id="1302" name="Google Shape;1302;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the length of missing sides </a:t>
            </a:r>
            <a:endParaRPr/>
          </a:p>
        </p:txBody>
      </p:sp>
      <p:cxnSp>
        <p:nvCxnSpPr>
          <p:cNvPr id="1303" name="Google Shape;1303;p84"/>
          <p:cNvCxnSpPr/>
          <p:nvPr/>
        </p:nvCxnSpPr>
        <p:spPr>
          <a:xfrm>
            <a:off x="8100500" y="863972"/>
            <a:ext cx="0" cy="1344900"/>
          </a:xfrm>
          <a:prstGeom prst="straightConnector1">
            <a:avLst/>
          </a:prstGeom>
          <a:noFill/>
          <a:ln cap="flat" cmpd="sng" w="28575">
            <a:solidFill>
              <a:schemeClr val="accent4"/>
            </a:solidFill>
            <a:prstDash val="solid"/>
            <a:round/>
            <a:headEnd len="med" w="med" type="triangle"/>
            <a:tailEnd len="med" w="med" type="triangle"/>
          </a:ln>
        </p:spPr>
      </p:cxnSp>
      <p:cxnSp>
        <p:nvCxnSpPr>
          <p:cNvPr id="1304" name="Google Shape;1304;p84"/>
          <p:cNvCxnSpPr/>
          <p:nvPr/>
        </p:nvCxnSpPr>
        <p:spPr>
          <a:xfrm>
            <a:off x="5668132" y="2367954"/>
            <a:ext cx="2294700" cy="0"/>
          </a:xfrm>
          <a:prstGeom prst="straightConnector1">
            <a:avLst/>
          </a:prstGeom>
          <a:noFill/>
          <a:ln cap="flat" cmpd="sng" w="28575">
            <a:solidFill>
              <a:schemeClr val="accent4"/>
            </a:solidFill>
            <a:prstDash val="solid"/>
            <a:round/>
            <a:headEnd len="med" w="med" type="triangle"/>
            <a:tailEnd len="med" w="med" type="triangle"/>
          </a:ln>
        </p:spPr>
      </p:cxnSp>
      <p:cxnSp>
        <p:nvCxnSpPr>
          <p:cNvPr id="1305" name="Google Shape;1305;p84"/>
          <p:cNvCxnSpPr/>
          <p:nvPr/>
        </p:nvCxnSpPr>
        <p:spPr>
          <a:xfrm flipH="1" rot="10800000">
            <a:off x="5654250" y="678983"/>
            <a:ext cx="2294700" cy="1344900"/>
          </a:xfrm>
          <a:prstGeom prst="straightConnector1">
            <a:avLst/>
          </a:prstGeom>
          <a:noFill/>
          <a:ln cap="flat" cmpd="sng" w="28575">
            <a:solidFill>
              <a:schemeClr val="accent4"/>
            </a:solidFill>
            <a:prstDash val="solid"/>
            <a:round/>
            <a:headEnd len="med" w="med" type="triangle"/>
            <a:tailEnd len="med" w="med" type="triangle"/>
          </a:ln>
        </p:spPr>
      </p:cxnSp>
      <p:sp>
        <p:nvSpPr>
          <p:cNvPr id="1306" name="Google Shape;1306;p84"/>
          <p:cNvSpPr txBox="1"/>
          <p:nvPr/>
        </p:nvSpPr>
        <p:spPr>
          <a:xfrm flipH="1" rot="-2330">
            <a:off x="6358957" y="2368258"/>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14 cm</a:t>
            </a:r>
            <a:endParaRPr sz="1800">
              <a:latin typeface="Lexend"/>
              <a:ea typeface="Lexend"/>
              <a:cs typeface="Lexend"/>
              <a:sym typeface="Lexend"/>
            </a:endParaRPr>
          </a:p>
        </p:txBody>
      </p:sp>
      <p:sp>
        <p:nvSpPr>
          <p:cNvPr id="1307" name="Google Shape;1307;p84"/>
          <p:cNvSpPr txBox="1"/>
          <p:nvPr/>
        </p:nvSpPr>
        <p:spPr>
          <a:xfrm rot="-2181544">
            <a:off x="6568099" y="3330704"/>
            <a:ext cx="720089" cy="31387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14 cm</a:t>
            </a:r>
            <a:endParaRPr sz="1800">
              <a:latin typeface="Lexend"/>
              <a:ea typeface="Lexend"/>
              <a:cs typeface="Lexend"/>
              <a:sym typeface="Lexend"/>
            </a:endParaRPr>
          </a:p>
        </p:txBody>
      </p:sp>
      <p:sp>
        <p:nvSpPr>
          <p:cNvPr id="1308" name="Google Shape;1308;p84"/>
          <p:cNvSpPr/>
          <p:nvPr/>
        </p:nvSpPr>
        <p:spPr>
          <a:xfrm flipH="1">
            <a:off x="5668208" y="863896"/>
            <a:ext cx="2295000" cy="13449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9" name="Google Shape;1309;p84"/>
          <p:cNvSpPr/>
          <p:nvPr/>
        </p:nvSpPr>
        <p:spPr>
          <a:xfrm flipH="1">
            <a:off x="7756515" y="2001639"/>
            <a:ext cx="206700" cy="2070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10" name="Google Shape;1310;p84"/>
          <p:cNvCxnSpPr/>
          <p:nvPr/>
        </p:nvCxnSpPr>
        <p:spPr>
          <a:xfrm>
            <a:off x="8100500" y="3103372"/>
            <a:ext cx="0" cy="1344900"/>
          </a:xfrm>
          <a:prstGeom prst="straightConnector1">
            <a:avLst/>
          </a:prstGeom>
          <a:noFill/>
          <a:ln cap="flat" cmpd="sng" w="28575">
            <a:solidFill>
              <a:schemeClr val="accent4"/>
            </a:solidFill>
            <a:prstDash val="solid"/>
            <a:round/>
            <a:headEnd len="med" w="med" type="triangle"/>
            <a:tailEnd len="med" w="med" type="triangle"/>
          </a:ln>
        </p:spPr>
      </p:cxnSp>
      <p:cxnSp>
        <p:nvCxnSpPr>
          <p:cNvPr id="1311" name="Google Shape;1311;p84"/>
          <p:cNvCxnSpPr/>
          <p:nvPr/>
        </p:nvCxnSpPr>
        <p:spPr>
          <a:xfrm>
            <a:off x="6162139" y="4607350"/>
            <a:ext cx="1828800" cy="0"/>
          </a:xfrm>
          <a:prstGeom prst="straightConnector1">
            <a:avLst/>
          </a:prstGeom>
          <a:noFill/>
          <a:ln cap="flat" cmpd="sng" w="28575">
            <a:solidFill>
              <a:schemeClr val="accent4"/>
            </a:solidFill>
            <a:prstDash val="solid"/>
            <a:round/>
            <a:headEnd len="med" w="med" type="triangle"/>
            <a:tailEnd len="med" w="med" type="triangle"/>
          </a:ln>
        </p:spPr>
      </p:cxnSp>
      <p:cxnSp>
        <p:nvCxnSpPr>
          <p:cNvPr id="1312" name="Google Shape;1312;p84"/>
          <p:cNvCxnSpPr/>
          <p:nvPr/>
        </p:nvCxnSpPr>
        <p:spPr>
          <a:xfrm flipH="1" rot="10800000">
            <a:off x="6151076" y="2918379"/>
            <a:ext cx="1828800" cy="1344900"/>
          </a:xfrm>
          <a:prstGeom prst="straightConnector1">
            <a:avLst/>
          </a:prstGeom>
          <a:noFill/>
          <a:ln cap="flat" cmpd="sng" w="28575">
            <a:solidFill>
              <a:schemeClr val="accent4"/>
            </a:solidFill>
            <a:prstDash val="solid"/>
            <a:round/>
            <a:headEnd len="med" w="med" type="triangle"/>
            <a:tailEnd len="med" w="med" type="triangle"/>
          </a:ln>
        </p:spPr>
      </p:cxnSp>
      <p:sp>
        <p:nvSpPr>
          <p:cNvPr id="1313" name="Google Shape;1313;p84"/>
          <p:cNvSpPr/>
          <p:nvPr/>
        </p:nvSpPr>
        <p:spPr>
          <a:xfrm flipH="1">
            <a:off x="6162300" y="3103301"/>
            <a:ext cx="1828800" cy="13449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4" name="Google Shape;1314;p84"/>
          <p:cNvSpPr/>
          <p:nvPr/>
        </p:nvSpPr>
        <p:spPr>
          <a:xfrm flipH="1">
            <a:off x="7784400" y="4240704"/>
            <a:ext cx="206700" cy="2073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5" name="Google Shape;1315;p84"/>
          <p:cNvSpPr/>
          <p:nvPr/>
        </p:nvSpPr>
        <p:spPr>
          <a:xfrm flipH="1">
            <a:off x="5668497" y="863896"/>
            <a:ext cx="2294700" cy="13449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6" name="Google Shape;1316;p84"/>
          <p:cNvSpPr/>
          <p:nvPr/>
        </p:nvSpPr>
        <p:spPr>
          <a:xfrm flipH="1">
            <a:off x="6162289" y="3103301"/>
            <a:ext cx="1828800" cy="13449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7" name="Google Shape;1317;p84"/>
          <p:cNvSpPr txBox="1"/>
          <p:nvPr/>
        </p:nvSpPr>
        <p:spPr>
          <a:xfrm flipH="1" rot="-1584">
            <a:off x="8162118" y="1379627"/>
            <a:ext cx="6510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10 cm</a:t>
            </a:r>
            <a:endParaRPr sz="1800">
              <a:latin typeface="Lexend"/>
              <a:ea typeface="Lexend"/>
              <a:cs typeface="Lexend"/>
              <a:sym typeface="Lexend"/>
            </a:endParaRPr>
          </a:p>
        </p:txBody>
      </p:sp>
      <p:sp>
        <p:nvSpPr>
          <p:cNvPr id="1318" name="Google Shape;1318;p84"/>
          <p:cNvSpPr txBox="1"/>
          <p:nvPr/>
        </p:nvSpPr>
        <p:spPr>
          <a:xfrm flipH="1" rot="-1584">
            <a:off x="8162118" y="3619002"/>
            <a:ext cx="6510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10 cm</a:t>
            </a:r>
            <a:endParaRPr sz="1800">
              <a:latin typeface="Lexend"/>
              <a:ea typeface="Lexend"/>
              <a:cs typeface="Lexend"/>
              <a:sym typeface="Lexend"/>
            </a:endParaRPr>
          </a:p>
        </p:txBody>
      </p:sp>
      <p:sp>
        <p:nvSpPr>
          <p:cNvPr id="1319" name="Google Shape;1319;p84"/>
          <p:cNvSpPr txBox="1"/>
          <p:nvPr/>
        </p:nvSpPr>
        <p:spPr>
          <a:xfrm flipH="1" rot="-1871">
            <a:off x="6832059" y="1701524"/>
            <a:ext cx="11025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triangle A</a:t>
            </a:r>
            <a:endParaRPr sz="1800">
              <a:latin typeface="Lexend"/>
              <a:ea typeface="Lexend"/>
              <a:cs typeface="Lexend"/>
              <a:sym typeface="Lexend"/>
            </a:endParaRPr>
          </a:p>
        </p:txBody>
      </p:sp>
      <p:sp>
        <p:nvSpPr>
          <p:cNvPr id="1320" name="Google Shape;1320;p84"/>
          <p:cNvSpPr txBox="1"/>
          <p:nvPr/>
        </p:nvSpPr>
        <p:spPr>
          <a:xfrm flipH="1" rot="-1871">
            <a:off x="6832059" y="3932949"/>
            <a:ext cx="11025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triangle B</a:t>
            </a:r>
            <a:endParaRPr sz="1800">
              <a:latin typeface="Lexend"/>
              <a:ea typeface="Lexend"/>
              <a:cs typeface="Lexend"/>
              <a:sym typeface="Lexend"/>
            </a:endParaRPr>
          </a:p>
        </p:txBody>
      </p:sp>
      <p:sp>
        <p:nvSpPr>
          <p:cNvPr id="1321" name="Google Shape;1321;p84"/>
          <p:cNvSpPr txBox="1"/>
          <p:nvPr/>
        </p:nvSpPr>
        <p:spPr>
          <a:xfrm>
            <a:off x="475372" y="4548082"/>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Laura</a:t>
            </a:r>
            <a:endParaRPr sz="1800">
              <a:latin typeface="Lexend"/>
              <a:ea typeface="Lexend"/>
              <a:cs typeface="Lexend"/>
              <a:sym typeface="Lexend"/>
            </a:endParaRPr>
          </a:p>
        </p:txBody>
      </p:sp>
      <p:pic>
        <p:nvPicPr>
          <p:cNvPr id="1322" name="Google Shape;1322;p84"/>
          <p:cNvPicPr preferRelativeResize="0"/>
          <p:nvPr/>
        </p:nvPicPr>
        <p:blipFill>
          <a:blip r:embed="rId4">
            <a:alphaModFix/>
          </a:blip>
          <a:stretch>
            <a:fillRect/>
          </a:stretch>
        </p:blipFill>
        <p:spPr>
          <a:xfrm>
            <a:off x="567847" y="3757079"/>
            <a:ext cx="629124" cy="823977"/>
          </a:xfrm>
          <a:prstGeom prst="rect">
            <a:avLst/>
          </a:prstGeom>
          <a:noFill/>
          <a:ln>
            <a:noFill/>
          </a:ln>
        </p:spPr>
      </p:pic>
      <p:sp>
        <p:nvSpPr>
          <p:cNvPr id="1323" name="Google Shape;1323;p84"/>
          <p:cNvSpPr txBox="1"/>
          <p:nvPr/>
        </p:nvSpPr>
        <p:spPr>
          <a:xfrm>
            <a:off x="1303675" y="2903279"/>
            <a:ext cx="35835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Oh no, I think they’re definitely incongruent.</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Since 14 cm is the hypotenuse on triangle B, but not triangle A.</a:t>
            </a:r>
            <a:endParaRPr sz="1800">
              <a:solidFill>
                <a:schemeClr val="dk1"/>
              </a:solidFill>
              <a:latin typeface="Lexend"/>
              <a:ea typeface="Lexend"/>
              <a:cs typeface="Lexend"/>
              <a:sym typeface="Lexend"/>
            </a:endParaRPr>
          </a:p>
        </p:txBody>
      </p:sp>
      <p:sp>
        <p:nvSpPr>
          <p:cNvPr id="1324" name="Google Shape;1324;p84"/>
          <p:cNvSpPr txBox="1"/>
          <p:nvPr/>
        </p:nvSpPr>
        <p:spPr>
          <a:xfrm flipH="1" rot="2733">
            <a:off x="1695750" y="2277328"/>
            <a:ext cx="2263801"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Is Andeep correct?</a:t>
            </a:r>
            <a:endParaRPr sz="1800">
              <a:latin typeface="Lexend"/>
              <a:ea typeface="Lexend"/>
              <a:cs typeface="Lexend"/>
              <a:sym typeface="Lexend"/>
            </a:endParaRPr>
          </a:p>
        </p:txBody>
      </p:sp>
      <p:grpSp>
        <p:nvGrpSpPr>
          <p:cNvPr id="1325" name="Google Shape;1325;p84"/>
          <p:cNvGrpSpPr/>
          <p:nvPr/>
        </p:nvGrpSpPr>
        <p:grpSpPr>
          <a:xfrm>
            <a:off x="5408409" y="582500"/>
            <a:ext cx="3411758" cy="4229400"/>
            <a:chOff x="5778405" y="582500"/>
            <a:chExt cx="3041595" cy="4229400"/>
          </a:xfrm>
        </p:grpSpPr>
        <p:cxnSp>
          <p:nvCxnSpPr>
            <p:cNvPr id="1326" name="Google Shape;1326;p84"/>
            <p:cNvCxnSpPr/>
            <p:nvPr/>
          </p:nvCxnSpPr>
          <p:spPr>
            <a:xfrm rot="10800000">
              <a:off x="5786700" y="2797473"/>
              <a:ext cx="3033300" cy="0"/>
            </a:xfrm>
            <a:prstGeom prst="straightConnector1">
              <a:avLst/>
            </a:prstGeom>
            <a:noFill/>
            <a:ln cap="flat" cmpd="sng" w="28575">
              <a:solidFill>
                <a:schemeClr val="accent5"/>
              </a:solidFill>
              <a:prstDash val="solid"/>
              <a:round/>
              <a:headEnd len="med" w="med" type="none"/>
              <a:tailEnd len="med" w="med" type="none"/>
            </a:ln>
          </p:spPr>
        </p:cxnSp>
        <p:cxnSp>
          <p:nvCxnSpPr>
            <p:cNvPr id="1327" name="Google Shape;1327;p84"/>
            <p:cNvCxnSpPr/>
            <p:nvPr/>
          </p:nvCxnSpPr>
          <p:spPr>
            <a:xfrm rot="10800000">
              <a:off x="5778405" y="582500"/>
              <a:ext cx="0" cy="4229400"/>
            </a:xfrm>
            <a:prstGeom prst="straightConnector1">
              <a:avLst/>
            </a:prstGeom>
            <a:noFill/>
            <a:ln cap="flat" cmpd="sng" w="28575">
              <a:solidFill>
                <a:schemeClr val="accent5"/>
              </a:solidFill>
              <a:prstDash val="solid"/>
              <a:round/>
              <a:headEnd len="med" w="med" type="none"/>
              <a:tailEnd len="med" w="med" type="none"/>
            </a:ln>
          </p:spPr>
        </p:cxnSp>
      </p:grpSp>
      <p:sp>
        <p:nvSpPr>
          <p:cNvPr id="1328" name="Google Shape;1328;p84"/>
          <p:cNvSpPr txBox="1"/>
          <p:nvPr/>
        </p:nvSpPr>
        <p:spPr>
          <a:xfrm>
            <a:off x="1266162" y="753814"/>
            <a:ext cx="31173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These triangles are congruent, because they both have sides of 10 cm and 14 cm.</a:t>
            </a:r>
            <a:endParaRPr sz="1800">
              <a:solidFill>
                <a:schemeClr val="dk1"/>
              </a:solidFill>
              <a:latin typeface="Lexend"/>
              <a:ea typeface="Lexend"/>
              <a:cs typeface="Lexend"/>
              <a:sym typeface="Lexend"/>
            </a:endParaRPr>
          </a:p>
        </p:txBody>
      </p:sp>
      <p:grpSp>
        <p:nvGrpSpPr>
          <p:cNvPr id="1329" name="Google Shape;1329;p84"/>
          <p:cNvGrpSpPr/>
          <p:nvPr/>
        </p:nvGrpSpPr>
        <p:grpSpPr>
          <a:xfrm>
            <a:off x="1091000" y="648575"/>
            <a:ext cx="3433100" cy="1584600"/>
            <a:chOff x="1243400" y="648575"/>
            <a:chExt cx="3433100" cy="1584600"/>
          </a:xfrm>
        </p:grpSpPr>
        <p:sp>
          <p:nvSpPr>
            <p:cNvPr id="1330" name="Google Shape;1330;p84"/>
            <p:cNvSpPr/>
            <p:nvPr/>
          </p:nvSpPr>
          <p:spPr>
            <a:xfrm>
              <a:off x="1292200" y="648575"/>
              <a:ext cx="3384300" cy="1584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331" name="Google Shape;1331;p84"/>
            <p:cNvPicPr preferRelativeResize="0"/>
            <p:nvPr/>
          </p:nvPicPr>
          <p:blipFill rotWithShape="1">
            <a:blip r:embed="rId3">
              <a:alphaModFix/>
            </a:blip>
            <a:srcRect b="4760" l="40550" r="0" t="13015"/>
            <a:stretch/>
          </p:blipFill>
          <p:spPr>
            <a:xfrm>
              <a:off x="1243400" y="728350"/>
              <a:ext cx="2932449" cy="1450400"/>
            </a:xfrm>
            <a:prstGeom prst="rect">
              <a:avLst/>
            </a:prstGeom>
            <a:noFill/>
            <a:ln>
              <a:noFill/>
            </a:ln>
          </p:spPr>
        </p:pic>
        <p:sp>
          <p:nvSpPr>
            <p:cNvPr id="1332" name="Google Shape;1332;p84"/>
            <p:cNvSpPr txBox="1"/>
            <p:nvPr/>
          </p:nvSpPr>
          <p:spPr>
            <a:xfrm>
              <a:off x="1468929" y="798485"/>
              <a:ext cx="26793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Okay, I see.</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But why does that mean they’re definitely not congruent?</a:t>
              </a:r>
              <a:endParaRPr sz="1800">
                <a:solidFill>
                  <a:schemeClr val="dk1"/>
                </a:solidFill>
                <a:latin typeface="Lexend"/>
                <a:ea typeface="Lexend"/>
                <a:cs typeface="Lexend"/>
                <a:sym typeface="Lexend"/>
              </a:endParaRPr>
            </a:p>
          </p:txBody>
        </p:sp>
      </p:grpSp>
      <p:pic>
        <p:nvPicPr>
          <p:cNvPr id="1333" name="Google Shape;1333;p84"/>
          <p:cNvPicPr preferRelativeResize="0"/>
          <p:nvPr/>
        </p:nvPicPr>
        <p:blipFill>
          <a:blip r:embed="rId5">
            <a:alphaModFix/>
          </a:blip>
          <a:stretch>
            <a:fillRect/>
          </a:stretch>
        </p:blipFill>
        <p:spPr>
          <a:xfrm flipH="1">
            <a:off x="488875" y="1743646"/>
            <a:ext cx="650925" cy="839350"/>
          </a:xfrm>
          <a:prstGeom prst="rect">
            <a:avLst/>
          </a:prstGeom>
          <a:noFill/>
          <a:ln>
            <a:noFill/>
          </a:ln>
        </p:spPr>
      </p:pic>
      <p:sp>
        <p:nvSpPr>
          <p:cNvPr id="1334" name="Google Shape;1334;p84"/>
          <p:cNvSpPr txBox="1"/>
          <p:nvPr/>
        </p:nvSpPr>
        <p:spPr>
          <a:xfrm>
            <a:off x="371688" y="2543746"/>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32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sp>
        <p:nvSpPr>
          <p:cNvPr id="1339" name="Google Shape;1339;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the length of missing sides</a:t>
            </a:r>
            <a:endParaRPr/>
          </a:p>
        </p:txBody>
      </p:sp>
      <p:cxnSp>
        <p:nvCxnSpPr>
          <p:cNvPr id="1340" name="Google Shape;1340;p85"/>
          <p:cNvCxnSpPr/>
          <p:nvPr/>
        </p:nvCxnSpPr>
        <p:spPr>
          <a:xfrm>
            <a:off x="2770250" y="2997572"/>
            <a:ext cx="0" cy="1344900"/>
          </a:xfrm>
          <a:prstGeom prst="straightConnector1">
            <a:avLst/>
          </a:prstGeom>
          <a:noFill/>
          <a:ln cap="flat" cmpd="sng" w="28575">
            <a:solidFill>
              <a:schemeClr val="accent4"/>
            </a:solidFill>
            <a:prstDash val="solid"/>
            <a:round/>
            <a:headEnd len="med" w="med" type="triangle"/>
            <a:tailEnd len="med" w="med" type="triangle"/>
          </a:ln>
        </p:spPr>
      </p:cxnSp>
      <p:cxnSp>
        <p:nvCxnSpPr>
          <p:cNvPr id="1341" name="Google Shape;1341;p85"/>
          <p:cNvCxnSpPr/>
          <p:nvPr/>
        </p:nvCxnSpPr>
        <p:spPr>
          <a:xfrm>
            <a:off x="337882" y="4501554"/>
            <a:ext cx="2294700" cy="0"/>
          </a:xfrm>
          <a:prstGeom prst="straightConnector1">
            <a:avLst/>
          </a:prstGeom>
          <a:noFill/>
          <a:ln cap="flat" cmpd="sng" w="28575">
            <a:solidFill>
              <a:schemeClr val="accent4"/>
            </a:solidFill>
            <a:prstDash val="solid"/>
            <a:round/>
            <a:headEnd len="med" w="med" type="triangle"/>
            <a:tailEnd len="med" w="med" type="triangle"/>
          </a:ln>
        </p:spPr>
      </p:cxnSp>
      <p:cxnSp>
        <p:nvCxnSpPr>
          <p:cNvPr id="1342" name="Google Shape;1342;p85"/>
          <p:cNvCxnSpPr/>
          <p:nvPr/>
        </p:nvCxnSpPr>
        <p:spPr>
          <a:xfrm flipH="1" rot="10800000">
            <a:off x="324000" y="2812583"/>
            <a:ext cx="2294700" cy="1344900"/>
          </a:xfrm>
          <a:prstGeom prst="straightConnector1">
            <a:avLst/>
          </a:prstGeom>
          <a:noFill/>
          <a:ln cap="flat" cmpd="sng" w="28575">
            <a:solidFill>
              <a:schemeClr val="accent4"/>
            </a:solidFill>
            <a:prstDash val="solid"/>
            <a:round/>
            <a:headEnd len="med" w="med" type="triangle"/>
            <a:tailEnd len="med" w="med" type="triangle"/>
          </a:ln>
        </p:spPr>
      </p:cxnSp>
      <p:sp>
        <p:nvSpPr>
          <p:cNvPr id="1343" name="Google Shape;1343;p85"/>
          <p:cNvSpPr txBox="1"/>
          <p:nvPr/>
        </p:nvSpPr>
        <p:spPr>
          <a:xfrm flipH="1" rot="-2330">
            <a:off x="1028707" y="4501858"/>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14 cm</a:t>
            </a:r>
            <a:endParaRPr sz="1800">
              <a:latin typeface="Lexend"/>
              <a:ea typeface="Lexend"/>
              <a:cs typeface="Lexend"/>
              <a:sym typeface="Lexend"/>
            </a:endParaRPr>
          </a:p>
        </p:txBody>
      </p:sp>
      <p:sp>
        <p:nvSpPr>
          <p:cNvPr id="1344" name="Google Shape;1344;p85"/>
          <p:cNvSpPr txBox="1"/>
          <p:nvPr/>
        </p:nvSpPr>
        <p:spPr>
          <a:xfrm rot="-2181544">
            <a:off x="6568099" y="3222843"/>
            <a:ext cx="720089" cy="31387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14 cm</a:t>
            </a:r>
            <a:endParaRPr sz="1800">
              <a:latin typeface="Lexend"/>
              <a:ea typeface="Lexend"/>
              <a:cs typeface="Lexend"/>
              <a:sym typeface="Lexend"/>
            </a:endParaRPr>
          </a:p>
        </p:txBody>
      </p:sp>
      <p:sp>
        <p:nvSpPr>
          <p:cNvPr id="1345" name="Google Shape;1345;p85"/>
          <p:cNvSpPr/>
          <p:nvPr/>
        </p:nvSpPr>
        <p:spPr>
          <a:xfrm flipH="1">
            <a:off x="337958" y="2997496"/>
            <a:ext cx="2295000" cy="13449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6" name="Google Shape;1346;p85"/>
          <p:cNvSpPr/>
          <p:nvPr/>
        </p:nvSpPr>
        <p:spPr>
          <a:xfrm flipH="1">
            <a:off x="2426265" y="4135239"/>
            <a:ext cx="206700" cy="2070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47" name="Google Shape;1347;p85"/>
          <p:cNvCxnSpPr/>
          <p:nvPr/>
        </p:nvCxnSpPr>
        <p:spPr>
          <a:xfrm>
            <a:off x="8100500" y="2995510"/>
            <a:ext cx="0" cy="1344900"/>
          </a:xfrm>
          <a:prstGeom prst="straightConnector1">
            <a:avLst/>
          </a:prstGeom>
          <a:noFill/>
          <a:ln cap="flat" cmpd="sng" w="28575">
            <a:solidFill>
              <a:schemeClr val="accent4"/>
            </a:solidFill>
            <a:prstDash val="solid"/>
            <a:round/>
            <a:headEnd len="med" w="med" type="triangle"/>
            <a:tailEnd len="med" w="med" type="triangle"/>
          </a:ln>
        </p:spPr>
      </p:cxnSp>
      <p:cxnSp>
        <p:nvCxnSpPr>
          <p:cNvPr id="1348" name="Google Shape;1348;p85"/>
          <p:cNvCxnSpPr/>
          <p:nvPr/>
        </p:nvCxnSpPr>
        <p:spPr>
          <a:xfrm>
            <a:off x="6162139" y="4499488"/>
            <a:ext cx="1828800" cy="0"/>
          </a:xfrm>
          <a:prstGeom prst="straightConnector1">
            <a:avLst/>
          </a:prstGeom>
          <a:noFill/>
          <a:ln cap="flat" cmpd="sng" w="28575">
            <a:solidFill>
              <a:schemeClr val="accent4"/>
            </a:solidFill>
            <a:prstDash val="solid"/>
            <a:round/>
            <a:headEnd len="med" w="med" type="triangle"/>
            <a:tailEnd len="med" w="med" type="triangle"/>
          </a:ln>
        </p:spPr>
      </p:cxnSp>
      <p:cxnSp>
        <p:nvCxnSpPr>
          <p:cNvPr id="1349" name="Google Shape;1349;p85"/>
          <p:cNvCxnSpPr/>
          <p:nvPr/>
        </p:nvCxnSpPr>
        <p:spPr>
          <a:xfrm flipH="1" rot="10800000">
            <a:off x="6151076" y="2810517"/>
            <a:ext cx="1828800" cy="1344900"/>
          </a:xfrm>
          <a:prstGeom prst="straightConnector1">
            <a:avLst/>
          </a:prstGeom>
          <a:noFill/>
          <a:ln cap="flat" cmpd="sng" w="28575">
            <a:solidFill>
              <a:schemeClr val="accent4"/>
            </a:solidFill>
            <a:prstDash val="solid"/>
            <a:round/>
            <a:headEnd len="med" w="med" type="triangle"/>
            <a:tailEnd len="med" w="med" type="triangle"/>
          </a:ln>
        </p:spPr>
      </p:cxnSp>
      <p:sp>
        <p:nvSpPr>
          <p:cNvPr id="1350" name="Google Shape;1350;p85"/>
          <p:cNvSpPr/>
          <p:nvPr/>
        </p:nvSpPr>
        <p:spPr>
          <a:xfrm flipH="1">
            <a:off x="6162300" y="2995440"/>
            <a:ext cx="1828800" cy="13449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1" name="Google Shape;1351;p85"/>
          <p:cNvSpPr/>
          <p:nvPr/>
        </p:nvSpPr>
        <p:spPr>
          <a:xfrm flipH="1">
            <a:off x="7784400" y="4132842"/>
            <a:ext cx="206700" cy="2073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2" name="Google Shape;1352;p85"/>
          <p:cNvSpPr/>
          <p:nvPr/>
        </p:nvSpPr>
        <p:spPr>
          <a:xfrm flipH="1">
            <a:off x="338247" y="2997496"/>
            <a:ext cx="2294700" cy="13449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3" name="Google Shape;1353;p85"/>
          <p:cNvSpPr/>
          <p:nvPr/>
        </p:nvSpPr>
        <p:spPr>
          <a:xfrm flipH="1">
            <a:off x="6162289" y="2995440"/>
            <a:ext cx="1828800" cy="13449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4" name="Google Shape;1354;p85"/>
          <p:cNvSpPr txBox="1"/>
          <p:nvPr/>
        </p:nvSpPr>
        <p:spPr>
          <a:xfrm flipH="1" rot="-1584">
            <a:off x="2831868" y="3513227"/>
            <a:ext cx="6510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10 cm</a:t>
            </a:r>
            <a:endParaRPr sz="1800">
              <a:latin typeface="Lexend"/>
              <a:ea typeface="Lexend"/>
              <a:cs typeface="Lexend"/>
              <a:sym typeface="Lexend"/>
            </a:endParaRPr>
          </a:p>
        </p:txBody>
      </p:sp>
      <p:sp>
        <p:nvSpPr>
          <p:cNvPr id="1355" name="Google Shape;1355;p85"/>
          <p:cNvSpPr txBox="1"/>
          <p:nvPr/>
        </p:nvSpPr>
        <p:spPr>
          <a:xfrm flipH="1" rot="-1584">
            <a:off x="8162118" y="3511140"/>
            <a:ext cx="6510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10 cm</a:t>
            </a:r>
            <a:endParaRPr sz="1800">
              <a:latin typeface="Lexend"/>
              <a:ea typeface="Lexend"/>
              <a:cs typeface="Lexend"/>
              <a:sym typeface="Lexend"/>
            </a:endParaRPr>
          </a:p>
        </p:txBody>
      </p:sp>
      <p:sp>
        <p:nvSpPr>
          <p:cNvPr id="1356" name="Google Shape;1356;p85"/>
          <p:cNvSpPr txBox="1"/>
          <p:nvPr/>
        </p:nvSpPr>
        <p:spPr>
          <a:xfrm flipH="1" rot="2551">
            <a:off x="324324" y="637568"/>
            <a:ext cx="8488802"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The hypotenuse is the longest side of a right-angled triangle.</a:t>
            </a:r>
            <a:endParaRPr sz="1800">
              <a:latin typeface="Lexend"/>
              <a:ea typeface="Lexend"/>
              <a:cs typeface="Lexend"/>
              <a:sym typeface="Lexend"/>
            </a:endParaRPr>
          </a:p>
        </p:txBody>
      </p:sp>
      <p:sp>
        <p:nvSpPr>
          <p:cNvPr id="1357" name="Google Shape;1357;p85"/>
          <p:cNvSpPr txBox="1"/>
          <p:nvPr/>
        </p:nvSpPr>
        <p:spPr>
          <a:xfrm flipH="1" rot="-1871">
            <a:off x="1501809" y="3835124"/>
            <a:ext cx="11025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triangle A</a:t>
            </a:r>
            <a:endParaRPr sz="1800">
              <a:latin typeface="Lexend"/>
              <a:ea typeface="Lexend"/>
              <a:cs typeface="Lexend"/>
              <a:sym typeface="Lexend"/>
            </a:endParaRPr>
          </a:p>
        </p:txBody>
      </p:sp>
      <p:sp>
        <p:nvSpPr>
          <p:cNvPr id="1358" name="Google Shape;1358;p85"/>
          <p:cNvSpPr txBox="1"/>
          <p:nvPr/>
        </p:nvSpPr>
        <p:spPr>
          <a:xfrm flipH="1" rot="2247">
            <a:off x="553100" y="1039755"/>
            <a:ext cx="2295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Therefore this hypotenuse must be greater than 14 cm.</a:t>
            </a:r>
            <a:endParaRPr sz="1800">
              <a:latin typeface="Lexend"/>
              <a:ea typeface="Lexend"/>
              <a:cs typeface="Lexend"/>
              <a:sym typeface="Lexend"/>
            </a:endParaRPr>
          </a:p>
        </p:txBody>
      </p:sp>
      <p:sp>
        <p:nvSpPr>
          <p:cNvPr id="1359" name="Google Shape;1359;p85"/>
          <p:cNvSpPr txBox="1"/>
          <p:nvPr/>
        </p:nvSpPr>
        <p:spPr>
          <a:xfrm flipH="1" rot="-1871">
            <a:off x="6832059" y="3825088"/>
            <a:ext cx="11025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triangle B</a:t>
            </a:r>
            <a:endParaRPr sz="1800">
              <a:latin typeface="Lexend"/>
              <a:ea typeface="Lexend"/>
              <a:cs typeface="Lexend"/>
              <a:sym typeface="Lexend"/>
            </a:endParaRPr>
          </a:p>
        </p:txBody>
      </p:sp>
      <p:sp>
        <p:nvSpPr>
          <p:cNvPr id="1360" name="Google Shape;1360;p85"/>
          <p:cNvSpPr txBox="1"/>
          <p:nvPr/>
        </p:nvSpPr>
        <p:spPr>
          <a:xfrm flipH="1" rot="-1826409">
            <a:off x="1090459" y="3135882"/>
            <a:ext cx="720633" cy="313704"/>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cm</a:t>
            </a:r>
            <a:endParaRPr sz="1800">
              <a:latin typeface="Lexend"/>
              <a:ea typeface="Lexend"/>
              <a:cs typeface="Lexend"/>
              <a:sym typeface="Lexend"/>
            </a:endParaRPr>
          </a:p>
        </p:txBody>
      </p:sp>
      <p:sp>
        <p:nvSpPr>
          <p:cNvPr id="1361" name="Google Shape;1361;p85"/>
          <p:cNvSpPr txBox="1"/>
          <p:nvPr/>
        </p:nvSpPr>
        <p:spPr>
          <a:xfrm flipH="1" rot="2330">
            <a:off x="982700" y="2158168"/>
            <a:ext cx="885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x</a:t>
            </a:r>
            <a:r>
              <a:rPr lang="en-GB" sz="1800">
                <a:latin typeface="Lexend"/>
                <a:ea typeface="Lexend"/>
                <a:cs typeface="Lexend"/>
                <a:sym typeface="Lexend"/>
              </a:rPr>
              <a:t> &gt; 14</a:t>
            </a:r>
            <a:endParaRPr sz="1800">
              <a:latin typeface="Lexend"/>
              <a:ea typeface="Lexend"/>
              <a:cs typeface="Lexend"/>
              <a:sym typeface="Lexend"/>
            </a:endParaRPr>
          </a:p>
        </p:txBody>
      </p:sp>
      <p:cxnSp>
        <p:nvCxnSpPr>
          <p:cNvPr id="1362" name="Google Shape;1362;p85"/>
          <p:cNvCxnSpPr/>
          <p:nvPr/>
        </p:nvCxnSpPr>
        <p:spPr>
          <a:xfrm>
            <a:off x="1316075" y="2118075"/>
            <a:ext cx="110700" cy="1140600"/>
          </a:xfrm>
          <a:prstGeom prst="straightConnector1">
            <a:avLst/>
          </a:prstGeom>
          <a:noFill/>
          <a:ln cap="flat" cmpd="sng" w="38100">
            <a:solidFill>
              <a:schemeClr val="accent5"/>
            </a:solidFill>
            <a:prstDash val="solid"/>
            <a:round/>
            <a:headEnd len="med" w="med" type="none"/>
            <a:tailEnd len="med" w="med" type="none"/>
          </a:ln>
        </p:spPr>
      </p:cxnSp>
      <p:sp>
        <p:nvSpPr>
          <p:cNvPr id="1363" name="Google Shape;1363;p85"/>
          <p:cNvSpPr txBox="1"/>
          <p:nvPr/>
        </p:nvSpPr>
        <p:spPr>
          <a:xfrm flipH="1" rot="2319">
            <a:off x="4103825" y="1039844"/>
            <a:ext cx="2668501"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Therefore this shorter side must be less than 14 cm.</a:t>
            </a:r>
            <a:endParaRPr sz="1800">
              <a:latin typeface="Lexend"/>
              <a:ea typeface="Lexend"/>
              <a:cs typeface="Lexend"/>
              <a:sym typeface="Lexend"/>
            </a:endParaRPr>
          </a:p>
        </p:txBody>
      </p:sp>
      <p:sp>
        <p:nvSpPr>
          <p:cNvPr id="1364" name="Google Shape;1364;p85"/>
          <p:cNvSpPr txBox="1"/>
          <p:nvPr/>
        </p:nvSpPr>
        <p:spPr>
          <a:xfrm flipH="1" rot="2330">
            <a:off x="4609575" y="1895295"/>
            <a:ext cx="885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y</a:t>
            </a:r>
            <a:r>
              <a:rPr lang="en-GB" sz="1800">
                <a:latin typeface="Lexend"/>
                <a:ea typeface="Lexend"/>
                <a:cs typeface="Lexend"/>
                <a:sym typeface="Lexend"/>
              </a:rPr>
              <a:t> &lt; 14</a:t>
            </a:r>
            <a:endParaRPr sz="1800">
              <a:latin typeface="Lexend"/>
              <a:ea typeface="Lexend"/>
              <a:cs typeface="Lexend"/>
              <a:sym typeface="Lexend"/>
            </a:endParaRPr>
          </a:p>
        </p:txBody>
      </p:sp>
      <p:cxnSp>
        <p:nvCxnSpPr>
          <p:cNvPr id="1365" name="Google Shape;1365;p85"/>
          <p:cNvCxnSpPr/>
          <p:nvPr/>
        </p:nvCxnSpPr>
        <p:spPr>
          <a:xfrm>
            <a:off x="5271175" y="1891850"/>
            <a:ext cx="1608300" cy="2708700"/>
          </a:xfrm>
          <a:prstGeom prst="straightConnector1">
            <a:avLst/>
          </a:prstGeom>
          <a:noFill/>
          <a:ln cap="flat" cmpd="sng" w="38100">
            <a:solidFill>
              <a:schemeClr val="accent5"/>
            </a:solidFill>
            <a:prstDash val="solid"/>
            <a:round/>
            <a:headEnd len="med" w="med" type="none"/>
            <a:tailEnd len="med" w="med" type="none"/>
          </a:ln>
        </p:spPr>
      </p:cxnSp>
      <p:sp>
        <p:nvSpPr>
          <p:cNvPr id="1366" name="Google Shape;1366;p85"/>
          <p:cNvSpPr txBox="1"/>
          <p:nvPr/>
        </p:nvSpPr>
        <p:spPr>
          <a:xfrm flipH="1" rot="-2862">
            <a:off x="6716392" y="4499795"/>
            <a:ext cx="720600" cy="3138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i="1" lang="en-GB" sz="2200">
                <a:latin typeface="Times New Roman"/>
                <a:ea typeface="Times New Roman"/>
                <a:cs typeface="Times New Roman"/>
                <a:sym typeface="Times New Roman"/>
              </a:rPr>
              <a:t>y</a:t>
            </a:r>
            <a:r>
              <a:rPr lang="en-GB" sz="1800">
                <a:latin typeface="Lexend"/>
                <a:ea typeface="Lexend"/>
                <a:cs typeface="Lexend"/>
                <a:sym typeface="Lexend"/>
              </a:rPr>
              <a:t> cm</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36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36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the length of missing sides</a:t>
            </a:r>
            <a:endParaRPr/>
          </a:p>
        </p:txBody>
      </p:sp>
      <p:cxnSp>
        <p:nvCxnSpPr>
          <p:cNvPr id="1372" name="Google Shape;1372;p86"/>
          <p:cNvCxnSpPr/>
          <p:nvPr/>
        </p:nvCxnSpPr>
        <p:spPr>
          <a:xfrm>
            <a:off x="2770250" y="2997572"/>
            <a:ext cx="0" cy="1344900"/>
          </a:xfrm>
          <a:prstGeom prst="straightConnector1">
            <a:avLst/>
          </a:prstGeom>
          <a:noFill/>
          <a:ln cap="flat" cmpd="sng" w="28575">
            <a:solidFill>
              <a:schemeClr val="accent4"/>
            </a:solidFill>
            <a:prstDash val="solid"/>
            <a:round/>
            <a:headEnd len="med" w="med" type="triangle"/>
            <a:tailEnd len="med" w="med" type="triangle"/>
          </a:ln>
        </p:spPr>
      </p:cxnSp>
      <p:cxnSp>
        <p:nvCxnSpPr>
          <p:cNvPr id="1373" name="Google Shape;1373;p86"/>
          <p:cNvCxnSpPr/>
          <p:nvPr/>
        </p:nvCxnSpPr>
        <p:spPr>
          <a:xfrm>
            <a:off x="337882" y="4501554"/>
            <a:ext cx="2294700" cy="0"/>
          </a:xfrm>
          <a:prstGeom prst="straightConnector1">
            <a:avLst/>
          </a:prstGeom>
          <a:noFill/>
          <a:ln cap="flat" cmpd="sng" w="28575">
            <a:solidFill>
              <a:schemeClr val="accent4"/>
            </a:solidFill>
            <a:prstDash val="solid"/>
            <a:round/>
            <a:headEnd len="med" w="med" type="triangle"/>
            <a:tailEnd len="med" w="med" type="triangle"/>
          </a:ln>
        </p:spPr>
      </p:cxnSp>
      <p:cxnSp>
        <p:nvCxnSpPr>
          <p:cNvPr id="1374" name="Google Shape;1374;p86"/>
          <p:cNvCxnSpPr/>
          <p:nvPr/>
        </p:nvCxnSpPr>
        <p:spPr>
          <a:xfrm flipH="1" rot="10800000">
            <a:off x="324000" y="2812583"/>
            <a:ext cx="2294700" cy="1344900"/>
          </a:xfrm>
          <a:prstGeom prst="straightConnector1">
            <a:avLst/>
          </a:prstGeom>
          <a:noFill/>
          <a:ln cap="flat" cmpd="sng" w="28575">
            <a:solidFill>
              <a:schemeClr val="accent4"/>
            </a:solidFill>
            <a:prstDash val="solid"/>
            <a:round/>
            <a:headEnd len="med" w="med" type="triangle"/>
            <a:tailEnd len="med" w="med" type="triangle"/>
          </a:ln>
        </p:spPr>
      </p:cxnSp>
      <p:sp>
        <p:nvSpPr>
          <p:cNvPr id="1375" name="Google Shape;1375;p86"/>
          <p:cNvSpPr txBox="1"/>
          <p:nvPr/>
        </p:nvSpPr>
        <p:spPr>
          <a:xfrm flipH="1" rot="-2330">
            <a:off x="1028707" y="4501858"/>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14 cm</a:t>
            </a:r>
            <a:endParaRPr sz="1800">
              <a:latin typeface="Lexend"/>
              <a:ea typeface="Lexend"/>
              <a:cs typeface="Lexend"/>
              <a:sym typeface="Lexend"/>
            </a:endParaRPr>
          </a:p>
        </p:txBody>
      </p:sp>
      <p:sp>
        <p:nvSpPr>
          <p:cNvPr id="1376" name="Google Shape;1376;p86"/>
          <p:cNvSpPr txBox="1"/>
          <p:nvPr/>
        </p:nvSpPr>
        <p:spPr>
          <a:xfrm rot="-2181544">
            <a:off x="6568099" y="3222843"/>
            <a:ext cx="720089" cy="31387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14 cm</a:t>
            </a:r>
            <a:endParaRPr sz="1800">
              <a:latin typeface="Lexend"/>
              <a:ea typeface="Lexend"/>
              <a:cs typeface="Lexend"/>
              <a:sym typeface="Lexend"/>
            </a:endParaRPr>
          </a:p>
        </p:txBody>
      </p:sp>
      <p:sp>
        <p:nvSpPr>
          <p:cNvPr id="1377" name="Google Shape;1377;p86"/>
          <p:cNvSpPr/>
          <p:nvPr/>
        </p:nvSpPr>
        <p:spPr>
          <a:xfrm flipH="1">
            <a:off x="337958" y="2997496"/>
            <a:ext cx="2295000" cy="13449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8" name="Google Shape;1378;p86"/>
          <p:cNvSpPr/>
          <p:nvPr/>
        </p:nvSpPr>
        <p:spPr>
          <a:xfrm flipH="1">
            <a:off x="2426265" y="4135239"/>
            <a:ext cx="206700" cy="2070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79" name="Google Shape;1379;p86"/>
          <p:cNvCxnSpPr/>
          <p:nvPr/>
        </p:nvCxnSpPr>
        <p:spPr>
          <a:xfrm>
            <a:off x="8100500" y="2995510"/>
            <a:ext cx="0" cy="1344900"/>
          </a:xfrm>
          <a:prstGeom prst="straightConnector1">
            <a:avLst/>
          </a:prstGeom>
          <a:noFill/>
          <a:ln cap="flat" cmpd="sng" w="28575">
            <a:solidFill>
              <a:schemeClr val="accent4"/>
            </a:solidFill>
            <a:prstDash val="solid"/>
            <a:round/>
            <a:headEnd len="med" w="med" type="triangle"/>
            <a:tailEnd len="med" w="med" type="triangle"/>
          </a:ln>
        </p:spPr>
      </p:cxnSp>
      <p:cxnSp>
        <p:nvCxnSpPr>
          <p:cNvPr id="1380" name="Google Shape;1380;p86"/>
          <p:cNvCxnSpPr/>
          <p:nvPr/>
        </p:nvCxnSpPr>
        <p:spPr>
          <a:xfrm>
            <a:off x="6162139" y="4499488"/>
            <a:ext cx="1828800" cy="0"/>
          </a:xfrm>
          <a:prstGeom prst="straightConnector1">
            <a:avLst/>
          </a:prstGeom>
          <a:noFill/>
          <a:ln cap="flat" cmpd="sng" w="28575">
            <a:solidFill>
              <a:schemeClr val="accent4"/>
            </a:solidFill>
            <a:prstDash val="solid"/>
            <a:round/>
            <a:headEnd len="med" w="med" type="triangle"/>
            <a:tailEnd len="med" w="med" type="triangle"/>
          </a:ln>
        </p:spPr>
      </p:cxnSp>
      <p:cxnSp>
        <p:nvCxnSpPr>
          <p:cNvPr id="1381" name="Google Shape;1381;p86"/>
          <p:cNvCxnSpPr/>
          <p:nvPr/>
        </p:nvCxnSpPr>
        <p:spPr>
          <a:xfrm flipH="1" rot="10800000">
            <a:off x="6151076" y="2810517"/>
            <a:ext cx="1828800" cy="1344900"/>
          </a:xfrm>
          <a:prstGeom prst="straightConnector1">
            <a:avLst/>
          </a:prstGeom>
          <a:noFill/>
          <a:ln cap="flat" cmpd="sng" w="28575">
            <a:solidFill>
              <a:schemeClr val="accent4"/>
            </a:solidFill>
            <a:prstDash val="solid"/>
            <a:round/>
            <a:headEnd len="med" w="med" type="triangle"/>
            <a:tailEnd len="med" w="med" type="triangle"/>
          </a:ln>
        </p:spPr>
      </p:cxnSp>
      <p:sp>
        <p:nvSpPr>
          <p:cNvPr id="1382" name="Google Shape;1382;p86"/>
          <p:cNvSpPr/>
          <p:nvPr/>
        </p:nvSpPr>
        <p:spPr>
          <a:xfrm flipH="1">
            <a:off x="6162300" y="2995440"/>
            <a:ext cx="1828800" cy="13449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3" name="Google Shape;1383;p86"/>
          <p:cNvSpPr/>
          <p:nvPr/>
        </p:nvSpPr>
        <p:spPr>
          <a:xfrm flipH="1">
            <a:off x="7784400" y="4132842"/>
            <a:ext cx="206700" cy="2073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4" name="Google Shape;1384;p86"/>
          <p:cNvSpPr/>
          <p:nvPr/>
        </p:nvSpPr>
        <p:spPr>
          <a:xfrm flipH="1">
            <a:off x="338247" y="2997496"/>
            <a:ext cx="2294700" cy="13449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5" name="Google Shape;1385;p86"/>
          <p:cNvSpPr/>
          <p:nvPr/>
        </p:nvSpPr>
        <p:spPr>
          <a:xfrm flipH="1">
            <a:off x="6162289" y="2995440"/>
            <a:ext cx="1828800" cy="13449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6" name="Google Shape;1386;p86"/>
          <p:cNvSpPr txBox="1"/>
          <p:nvPr/>
        </p:nvSpPr>
        <p:spPr>
          <a:xfrm flipH="1" rot="-1584">
            <a:off x="2831868" y="3513227"/>
            <a:ext cx="6510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10 cm</a:t>
            </a:r>
            <a:endParaRPr sz="1800">
              <a:latin typeface="Lexend"/>
              <a:ea typeface="Lexend"/>
              <a:cs typeface="Lexend"/>
              <a:sym typeface="Lexend"/>
            </a:endParaRPr>
          </a:p>
        </p:txBody>
      </p:sp>
      <p:sp>
        <p:nvSpPr>
          <p:cNvPr id="1387" name="Google Shape;1387;p86"/>
          <p:cNvSpPr txBox="1"/>
          <p:nvPr/>
        </p:nvSpPr>
        <p:spPr>
          <a:xfrm flipH="1" rot="-1584">
            <a:off x="8162118" y="3511140"/>
            <a:ext cx="6510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10 cm</a:t>
            </a:r>
            <a:endParaRPr sz="1800">
              <a:latin typeface="Lexend"/>
              <a:ea typeface="Lexend"/>
              <a:cs typeface="Lexend"/>
              <a:sym typeface="Lexend"/>
            </a:endParaRPr>
          </a:p>
        </p:txBody>
      </p:sp>
      <p:sp>
        <p:nvSpPr>
          <p:cNvPr id="1388" name="Google Shape;1388;p86"/>
          <p:cNvSpPr txBox="1"/>
          <p:nvPr/>
        </p:nvSpPr>
        <p:spPr>
          <a:xfrm flipH="1" rot="-1871">
            <a:off x="1501809" y="3835124"/>
            <a:ext cx="11025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triangle A</a:t>
            </a:r>
            <a:endParaRPr sz="1800">
              <a:latin typeface="Lexend"/>
              <a:ea typeface="Lexend"/>
              <a:cs typeface="Lexend"/>
              <a:sym typeface="Lexend"/>
            </a:endParaRPr>
          </a:p>
        </p:txBody>
      </p:sp>
      <p:sp>
        <p:nvSpPr>
          <p:cNvPr id="1389" name="Google Shape;1389;p86"/>
          <p:cNvSpPr txBox="1"/>
          <p:nvPr/>
        </p:nvSpPr>
        <p:spPr>
          <a:xfrm flipH="1" rot="-1871">
            <a:off x="6832059" y="3825088"/>
            <a:ext cx="11025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triangle B</a:t>
            </a:r>
            <a:endParaRPr sz="1800">
              <a:latin typeface="Lexend"/>
              <a:ea typeface="Lexend"/>
              <a:cs typeface="Lexend"/>
              <a:sym typeface="Lexend"/>
            </a:endParaRPr>
          </a:p>
        </p:txBody>
      </p:sp>
      <p:sp>
        <p:nvSpPr>
          <p:cNvPr id="1390" name="Google Shape;1390;p86"/>
          <p:cNvSpPr txBox="1"/>
          <p:nvPr/>
        </p:nvSpPr>
        <p:spPr>
          <a:xfrm flipH="1" rot="-1826409">
            <a:off x="1090459" y="3135882"/>
            <a:ext cx="720633" cy="313704"/>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cm</a:t>
            </a:r>
            <a:endParaRPr sz="1800">
              <a:latin typeface="Lexend"/>
              <a:ea typeface="Lexend"/>
              <a:cs typeface="Lexend"/>
              <a:sym typeface="Lexend"/>
            </a:endParaRPr>
          </a:p>
        </p:txBody>
      </p:sp>
      <p:sp>
        <p:nvSpPr>
          <p:cNvPr id="1391" name="Google Shape;1391;p86"/>
          <p:cNvSpPr txBox="1"/>
          <p:nvPr/>
        </p:nvSpPr>
        <p:spPr>
          <a:xfrm flipH="1" rot="-2862">
            <a:off x="6716392" y="4499795"/>
            <a:ext cx="720600" cy="3138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i="1" lang="en-GB" sz="2200">
                <a:latin typeface="Times New Roman"/>
                <a:ea typeface="Times New Roman"/>
                <a:cs typeface="Times New Roman"/>
                <a:sym typeface="Times New Roman"/>
              </a:rPr>
              <a:t>y</a:t>
            </a:r>
            <a:r>
              <a:rPr lang="en-GB" sz="1800">
                <a:latin typeface="Lexend"/>
                <a:ea typeface="Lexend"/>
                <a:cs typeface="Lexend"/>
                <a:sym typeface="Lexend"/>
              </a:rPr>
              <a:t> cm</a:t>
            </a:r>
            <a:endParaRPr sz="1800">
              <a:latin typeface="Lexend"/>
              <a:ea typeface="Lexend"/>
              <a:cs typeface="Lexend"/>
              <a:sym typeface="Lexend"/>
            </a:endParaRPr>
          </a:p>
        </p:txBody>
      </p:sp>
      <p:sp>
        <p:nvSpPr>
          <p:cNvPr id="1392" name="Google Shape;1392;p86"/>
          <p:cNvSpPr txBox="1"/>
          <p:nvPr/>
        </p:nvSpPr>
        <p:spPr>
          <a:xfrm flipH="1" rot="-2247">
            <a:off x="1012574" y="2255531"/>
            <a:ext cx="22947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side lengths of</a:t>
            </a:r>
            <a:endParaRPr sz="1800">
              <a:latin typeface="Lexend"/>
              <a:ea typeface="Lexend"/>
              <a:cs typeface="Lexend"/>
              <a:sym typeface="Lexend"/>
            </a:endParaRPr>
          </a:p>
          <a:p>
            <a:pPr indent="0" lvl="0" marL="0" rtl="0" algn="ctr">
              <a:lnSpc>
                <a:spcPct val="115000"/>
              </a:lnSpc>
              <a:spcBef>
                <a:spcPts val="0"/>
              </a:spcBef>
              <a:spcAft>
                <a:spcPts val="0"/>
              </a:spcAft>
              <a:buNone/>
            </a:pPr>
            <a:r>
              <a:rPr lang="en-GB" sz="1800">
                <a:latin typeface="Lexend"/>
                <a:ea typeface="Lexend"/>
                <a:cs typeface="Lexend"/>
                <a:sym typeface="Lexend"/>
              </a:rPr>
              <a:t>10 cm, 14 cm, </a:t>
            </a:r>
            <a:r>
              <a:rPr i="1" lang="en-GB" sz="2200">
                <a:solidFill>
                  <a:schemeClr val="dk1"/>
                </a:solidFill>
                <a:latin typeface="Times New Roman"/>
                <a:ea typeface="Times New Roman"/>
                <a:cs typeface="Times New Roman"/>
                <a:sym typeface="Times New Roman"/>
              </a:rPr>
              <a:t>x</a:t>
            </a:r>
            <a:r>
              <a:rPr lang="en-GB" sz="1800">
                <a:latin typeface="Lexend"/>
                <a:ea typeface="Lexend"/>
                <a:cs typeface="Lexend"/>
                <a:sym typeface="Lexend"/>
              </a:rPr>
              <a:t> cm</a:t>
            </a:r>
            <a:endParaRPr sz="1800">
              <a:latin typeface="Lexend"/>
              <a:ea typeface="Lexend"/>
              <a:cs typeface="Lexend"/>
              <a:sym typeface="Lexend"/>
            </a:endParaRPr>
          </a:p>
        </p:txBody>
      </p:sp>
      <p:sp>
        <p:nvSpPr>
          <p:cNvPr id="1393" name="Google Shape;1393;p86"/>
          <p:cNvSpPr txBox="1"/>
          <p:nvPr/>
        </p:nvSpPr>
        <p:spPr>
          <a:xfrm flipH="1" rot="-2247">
            <a:off x="6235949" y="2255531"/>
            <a:ext cx="22947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side lengths of</a:t>
            </a:r>
            <a:endParaRPr sz="1800">
              <a:latin typeface="Lexend"/>
              <a:ea typeface="Lexend"/>
              <a:cs typeface="Lexend"/>
              <a:sym typeface="Lexend"/>
            </a:endParaRPr>
          </a:p>
          <a:p>
            <a:pPr indent="0" lvl="0" marL="0" rtl="0" algn="ctr">
              <a:lnSpc>
                <a:spcPct val="115000"/>
              </a:lnSpc>
              <a:spcBef>
                <a:spcPts val="0"/>
              </a:spcBef>
              <a:spcAft>
                <a:spcPts val="0"/>
              </a:spcAft>
              <a:buNone/>
            </a:pPr>
            <a:r>
              <a:rPr lang="en-GB" sz="1800">
                <a:latin typeface="Lexend"/>
                <a:ea typeface="Lexend"/>
                <a:cs typeface="Lexend"/>
                <a:sym typeface="Lexend"/>
              </a:rPr>
              <a:t>10 cm, 14 cm, </a:t>
            </a:r>
            <a:r>
              <a:rPr i="1" lang="en-GB" sz="2200">
                <a:solidFill>
                  <a:schemeClr val="dk1"/>
                </a:solidFill>
                <a:latin typeface="Times New Roman"/>
                <a:ea typeface="Times New Roman"/>
                <a:cs typeface="Times New Roman"/>
                <a:sym typeface="Times New Roman"/>
              </a:rPr>
              <a:t>y</a:t>
            </a:r>
            <a:r>
              <a:rPr lang="en-GB" sz="1800">
                <a:latin typeface="Lexend"/>
                <a:ea typeface="Lexend"/>
                <a:cs typeface="Lexend"/>
                <a:sym typeface="Lexend"/>
              </a:rPr>
              <a:t> cm</a:t>
            </a:r>
            <a:endParaRPr sz="1800">
              <a:latin typeface="Lexend"/>
              <a:ea typeface="Lexend"/>
              <a:cs typeface="Lexend"/>
              <a:sym typeface="Lexend"/>
            </a:endParaRPr>
          </a:p>
        </p:txBody>
      </p:sp>
      <p:sp>
        <p:nvSpPr>
          <p:cNvPr id="1394" name="Google Shape;1394;p86"/>
          <p:cNvSpPr txBox="1"/>
          <p:nvPr/>
        </p:nvSpPr>
        <p:spPr>
          <a:xfrm flipH="1" rot="2551">
            <a:off x="324324" y="637568"/>
            <a:ext cx="8488802" cy="892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Side </a:t>
            </a:r>
            <a:r>
              <a:rPr i="1" lang="en-GB" sz="2200">
                <a:solidFill>
                  <a:schemeClr val="dk1"/>
                </a:solidFill>
                <a:latin typeface="Times New Roman"/>
                <a:ea typeface="Times New Roman"/>
                <a:cs typeface="Times New Roman"/>
                <a:sym typeface="Times New Roman"/>
              </a:rPr>
              <a:t>x</a:t>
            </a:r>
            <a:r>
              <a:rPr lang="en-GB" sz="1800">
                <a:latin typeface="Lexend"/>
                <a:ea typeface="Lexend"/>
                <a:cs typeface="Lexend"/>
                <a:sym typeface="Lexend"/>
              </a:rPr>
              <a:t> and side </a:t>
            </a:r>
            <a:r>
              <a:rPr i="1" lang="en-GB" sz="2200">
                <a:solidFill>
                  <a:schemeClr val="dk1"/>
                </a:solidFill>
                <a:latin typeface="Times New Roman"/>
                <a:ea typeface="Times New Roman"/>
                <a:cs typeface="Times New Roman"/>
                <a:sym typeface="Times New Roman"/>
              </a:rPr>
              <a:t>y</a:t>
            </a:r>
            <a:r>
              <a:rPr lang="en-GB" sz="1800">
                <a:latin typeface="Lexend"/>
                <a:ea typeface="Lexend"/>
                <a:cs typeface="Lexend"/>
                <a:sym typeface="Lexend"/>
              </a:rPr>
              <a:t> cannot have the same length.</a:t>
            </a:r>
            <a:endParaRPr sz="1800">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These two right-angled triangles are not congruent, as they do not satisfy the SSS rule for congruence.</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4">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8" name="Shape 1398"/>
        <p:cNvGrpSpPr/>
        <p:nvPr/>
      </p:nvGrpSpPr>
      <p:grpSpPr>
        <a:xfrm>
          <a:off x="0" y="0"/>
          <a:ext cx="0" cy="0"/>
          <a:chOff x="0" y="0"/>
          <a:chExt cx="0" cy="0"/>
        </a:xfrm>
      </p:grpSpPr>
      <p:pic>
        <p:nvPicPr>
          <p:cNvPr id="1399" name="Google Shape;1399;p87"/>
          <p:cNvPicPr preferRelativeResize="0"/>
          <p:nvPr/>
        </p:nvPicPr>
        <p:blipFill rotWithShape="1">
          <a:blip r:embed="rId3">
            <a:alphaModFix/>
          </a:blip>
          <a:srcRect b="4760" l="40550" r="0" t="13015"/>
          <a:stretch/>
        </p:blipFill>
        <p:spPr>
          <a:xfrm>
            <a:off x="1005950" y="545775"/>
            <a:ext cx="3217275" cy="2535175"/>
          </a:xfrm>
          <a:prstGeom prst="rect">
            <a:avLst/>
          </a:prstGeom>
          <a:noFill/>
          <a:ln>
            <a:noFill/>
          </a:ln>
        </p:spPr>
      </p:pic>
      <p:sp>
        <p:nvSpPr>
          <p:cNvPr id="1400" name="Google Shape;1400;p87"/>
          <p:cNvSpPr txBox="1"/>
          <p:nvPr/>
        </p:nvSpPr>
        <p:spPr>
          <a:xfrm>
            <a:off x="1278901" y="648920"/>
            <a:ext cx="29169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I can see why these triangles are different for the same reason.</a:t>
            </a:r>
            <a:endParaRPr sz="1800">
              <a:solidFill>
                <a:schemeClr val="dk1"/>
              </a:solidFill>
              <a:latin typeface="Lexend"/>
              <a:ea typeface="Lexend"/>
              <a:cs typeface="Lexend"/>
              <a:sym typeface="Lexend"/>
            </a:endParaRPr>
          </a:p>
        </p:txBody>
      </p:sp>
      <p:sp>
        <p:nvSpPr>
          <p:cNvPr id="1401" name="Google Shape;1401;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the length of missing sides</a:t>
            </a:r>
            <a:endParaRPr/>
          </a:p>
        </p:txBody>
      </p:sp>
      <p:sp>
        <p:nvSpPr>
          <p:cNvPr id="1402" name="Google Shape;1402;p87"/>
          <p:cNvSpPr txBox="1"/>
          <p:nvPr/>
        </p:nvSpPr>
        <p:spPr>
          <a:xfrm>
            <a:off x="1278901" y="1463561"/>
            <a:ext cx="29169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T</a:t>
            </a:r>
            <a:r>
              <a:rPr lang="en-GB" sz="1800">
                <a:solidFill>
                  <a:schemeClr val="dk1"/>
                </a:solidFill>
                <a:latin typeface="Lexend"/>
                <a:ea typeface="Lexend"/>
                <a:cs typeface="Lexend"/>
                <a:sym typeface="Lexend"/>
              </a:rPr>
              <a:t>he top triangle, the hypotenuse is 24 cm.</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But we don’t know the hypotenuse of the other!</a:t>
            </a:r>
            <a:endParaRPr sz="1800">
              <a:solidFill>
                <a:schemeClr val="dk1"/>
              </a:solidFill>
              <a:latin typeface="Lexend"/>
              <a:ea typeface="Lexend"/>
              <a:cs typeface="Lexend"/>
              <a:sym typeface="Lexend"/>
            </a:endParaRPr>
          </a:p>
        </p:txBody>
      </p:sp>
      <p:cxnSp>
        <p:nvCxnSpPr>
          <p:cNvPr id="1403" name="Google Shape;1403;p87"/>
          <p:cNvCxnSpPr/>
          <p:nvPr/>
        </p:nvCxnSpPr>
        <p:spPr>
          <a:xfrm>
            <a:off x="5964281" y="881870"/>
            <a:ext cx="0" cy="920700"/>
          </a:xfrm>
          <a:prstGeom prst="straightConnector1">
            <a:avLst/>
          </a:prstGeom>
          <a:noFill/>
          <a:ln cap="flat" cmpd="sng" w="28575">
            <a:solidFill>
              <a:schemeClr val="accent4"/>
            </a:solidFill>
            <a:prstDash val="solid"/>
            <a:round/>
            <a:headEnd len="med" w="med" type="triangle"/>
            <a:tailEnd len="med" w="med" type="triangle"/>
          </a:ln>
        </p:spPr>
      </p:cxnSp>
      <p:cxnSp>
        <p:nvCxnSpPr>
          <p:cNvPr id="1404" name="Google Shape;1404;p87"/>
          <p:cNvCxnSpPr/>
          <p:nvPr/>
        </p:nvCxnSpPr>
        <p:spPr>
          <a:xfrm rot="10800000">
            <a:off x="6122786" y="1911550"/>
            <a:ext cx="2648400" cy="0"/>
          </a:xfrm>
          <a:prstGeom prst="straightConnector1">
            <a:avLst/>
          </a:prstGeom>
          <a:noFill/>
          <a:ln cap="flat" cmpd="sng" w="28575">
            <a:solidFill>
              <a:schemeClr val="accent4"/>
            </a:solidFill>
            <a:prstDash val="solid"/>
            <a:round/>
            <a:headEnd len="med" w="med" type="triangle"/>
            <a:tailEnd len="med" w="med" type="triangle"/>
          </a:ln>
        </p:spPr>
      </p:cxnSp>
      <p:cxnSp>
        <p:nvCxnSpPr>
          <p:cNvPr id="1405" name="Google Shape;1405;p87"/>
          <p:cNvCxnSpPr/>
          <p:nvPr/>
        </p:nvCxnSpPr>
        <p:spPr>
          <a:xfrm rot="10800000">
            <a:off x="6138806" y="755286"/>
            <a:ext cx="2648400" cy="920700"/>
          </a:xfrm>
          <a:prstGeom prst="straightConnector1">
            <a:avLst/>
          </a:prstGeom>
          <a:noFill/>
          <a:ln cap="flat" cmpd="sng" w="28575">
            <a:solidFill>
              <a:schemeClr val="accent4"/>
            </a:solidFill>
            <a:prstDash val="solid"/>
            <a:round/>
            <a:headEnd len="med" w="med" type="triangle"/>
            <a:tailEnd len="med" w="med" type="triangle"/>
          </a:ln>
        </p:spPr>
      </p:cxnSp>
      <p:sp>
        <p:nvSpPr>
          <p:cNvPr id="1406" name="Google Shape;1406;p87"/>
          <p:cNvSpPr txBox="1"/>
          <p:nvPr/>
        </p:nvSpPr>
        <p:spPr>
          <a:xfrm rot="1152510">
            <a:off x="7140829" y="915283"/>
            <a:ext cx="885392" cy="31347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24 cm</a:t>
            </a:r>
            <a:endParaRPr sz="1800">
              <a:latin typeface="Lexend"/>
              <a:ea typeface="Lexend"/>
              <a:cs typeface="Lexend"/>
              <a:sym typeface="Lexend"/>
            </a:endParaRPr>
          </a:p>
        </p:txBody>
      </p:sp>
      <p:sp>
        <p:nvSpPr>
          <p:cNvPr id="1407" name="Google Shape;1407;p87"/>
          <p:cNvSpPr txBox="1"/>
          <p:nvPr/>
        </p:nvSpPr>
        <p:spPr>
          <a:xfrm rot="2865">
            <a:off x="5278830" y="1177600"/>
            <a:ext cx="7200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9 cm</a:t>
            </a:r>
            <a:endParaRPr sz="1800">
              <a:latin typeface="Lexend"/>
              <a:ea typeface="Lexend"/>
              <a:cs typeface="Lexend"/>
              <a:sym typeface="Lexend"/>
            </a:endParaRPr>
          </a:p>
        </p:txBody>
      </p:sp>
      <p:grpSp>
        <p:nvGrpSpPr>
          <p:cNvPr id="1408" name="Google Shape;1408;p87"/>
          <p:cNvGrpSpPr/>
          <p:nvPr/>
        </p:nvGrpSpPr>
        <p:grpSpPr>
          <a:xfrm>
            <a:off x="5828584" y="3090985"/>
            <a:ext cx="2940787" cy="1023717"/>
            <a:chOff x="5421975" y="1288650"/>
            <a:chExt cx="3187500" cy="1109600"/>
          </a:xfrm>
        </p:grpSpPr>
        <p:sp>
          <p:nvSpPr>
            <p:cNvPr id="1409" name="Google Shape;1409;p87"/>
            <p:cNvSpPr/>
            <p:nvPr/>
          </p:nvSpPr>
          <p:spPr>
            <a:xfrm>
              <a:off x="5421975" y="1288650"/>
              <a:ext cx="3187500" cy="11082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0" name="Google Shape;1410;p87"/>
            <p:cNvSpPr/>
            <p:nvPr/>
          </p:nvSpPr>
          <p:spPr>
            <a:xfrm>
              <a:off x="5421975" y="2038250"/>
              <a:ext cx="360000" cy="3600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1" name="Google Shape;1411;p87"/>
            <p:cNvSpPr/>
            <p:nvPr/>
          </p:nvSpPr>
          <p:spPr>
            <a:xfrm>
              <a:off x="5421975" y="1288650"/>
              <a:ext cx="3187500" cy="11082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1412" name="Google Shape;1412;p87"/>
          <p:cNvCxnSpPr/>
          <p:nvPr/>
        </p:nvCxnSpPr>
        <p:spPr>
          <a:xfrm>
            <a:off x="5652504" y="3090989"/>
            <a:ext cx="0" cy="1022400"/>
          </a:xfrm>
          <a:prstGeom prst="straightConnector1">
            <a:avLst/>
          </a:prstGeom>
          <a:noFill/>
          <a:ln cap="flat" cmpd="sng" w="28575">
            <a:solidFill>
              <a:schemeClr val="accent4"/>
            </a:solidFill>
            <a:prstDash val="solid"/>
            <a:round/>
            <a:headEnd len="med" w="med" type="triangle"/>
            <a:tailEnd len="med" w="med" type="triangle"/>
          </a:ln>
        </p:spPr>
      </p:cxnSp>
      <p:cxnSp>
        <p:nvCxnSpPr>
          <p:cNvPr id="1413" name="Google Shape;1413;p87"/>
          <p:cNvCxnSpPr/>
          <p:nvPr/>
        </p:nvCxnSpPr>
        <p:spPr>
          <a:xfrm rot="10800000">
            <a:off x="5828516" y="4234394"/>
            <a:ext cx="2940900" cy="0"/>
          </a:xfrm>
          <a:prstGeom prst="straightConnector1">
            <a:avLst/>
          </a:prstGeom>
          <a:noFill/>
          <a:ln cap="flat" cmpd="sng" w="28575">
            <a:solidFill>
              <a:schemeClr val="accent4"/>
            </a:solidFill>
            <a:prstDash val="solid"/>
            <a:round/>
            <a:headEnd len="med" w="med" type="triangle"/>
            <a:tailEnd len="med" w="med" type="triangle"/>
          </a:ln>
        </p:spPr>
      </p:cxnSp>
      <p:cxnSp>
        <p:nvCxnSpPr>
          <p:cNvPr id="1414" name="Google Shape;1414;p87"/>
          <p:cNvCxnSpPr/>
          <p:nvPr/>
        </p:nvCxnSpPr>
        <p:spPr>
          <a:xfrm rot="10800000">
            <a:off x="5846305" y="2950413"/>
            <a:ext cx="2940900" cy="1022400"/>
          </a:xfrm>
          <a:prstGeom prst="straightConnector1">
            <a:avLst/>
          </a:prstGeom>
          <a:noFill/>
          <a:ln cap="flat" cmpd="sng" w="28575">
            <a:solidFill>
              <a:schemeClr val="accent4"/>
            </a:solidFill>
            <a:prstDash val="solid"/>
            <a:round/>
            <a:headEnd len="med" w="med" type="triangle"/>
            <a:tailEnd len="med" w="med" type="triangle"/>
          </a:ln>
        </p:spPr>
      </p:cxnSp>
      <p:sp>
        <p:nvSpPr>
          <p:cNvPr id="1415" name="Google Shape;1415;p87"/>
          <p:cNvSpPr txBox="1"/>
          <p:nvPr/>
        </p:nvSpPr>
        <p:spPr>
          <a:xfrm rot="2098">
            <a:off x="6807419" y="4226208"/>
            <a:ext cx="983100" cy="3480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24 cm</a:t>
            </a:r>
            <a:endParaRPr sz="1800">
              <a:latin typeface="Lexend"/>
              <a:ea typeface="Lexend"/>
              <a:cs typeface="Lexend"/>
              <a:sym typeface="Lexend"/>
            </a:endParaRPr>
          </a:p>
        </p:txBody>
      </p:sp>
      <p:sp>
        <p:nvSpPr>
          <p:cNvPr id="1416" name="Google Shape;1416;p87"/>
          <p:cNvSpPr txBox="1"/>
          <p:nvPr/>
        </p:nvSpPr>
        <p:spPr>
          <a:xfrm rot="2931">
            <a:off x="4987191" y="3419427"/>
            <a:ext cx="703800" cy="3480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9 cm</a:t>
            </a:r>
            <a:endParaRPr sz="1800">
              <a:latin typeface="Lexend"/>
              <a:ea typeface="Lexend"/>
              <a:cs typeface="Lexend"/>
              <a:sym typeface="Lexend"/>
            </a:endParaRPr>
          </a:p>
        </p:txBody>
      </p:sp>
      <p:grpSp>
        <p:nvGrpSpPr>
          <p:cNvPr id="1417" name="Google Shape;1417;p87"/>
          <p:cNvGrpSpPr/>
          <p:nvPr/>
        </p:nvGrpSpPr>
        <p:grpSpPr>
          <a:xfrm>
            <a:off x="946904" y="3080950"/>
            <a:ext cx="3727147" cy="1415876"/>
            <a:chOff x="946904" y="3080950"/>
            <a:chExt cx="3727147" cy="1415876"/>
          </a:xfrm>
        </p:grpSpPr>
        <p:pic>
          <p:nvPicPr>
            <p:cNvPr id="1418" name="Google Shape;1418;p87"/>
            <p:cNvPicPr preferRelativeResize="0"/>
            <p:nvPr/>
          </p:nvPicPr>
          <p:blipFill rotWithShape="1">
            <a:blip r:embed="rId3">
              <a:alphaModFix/>
            </a:blip>
            <a:srcRect b="4218" l="40550" r="0" t="13558"/>
            <a:stretch/>
          </p:blipFill>
          <p:spPr>
            <a:xfrm>
              <a:off x="946904" y="3080950"/>
              <a:ext cx="3727048" cy="1415876"/>
            </a:xfrm>
            <a:prstGeom prst="rect">
              <a:avLst/>
            </a:prstGeom>
            <a:noFill/>
            <a:ln>
              <a:noFill/>
            </a:ln>
          </p:spPr>
        </p:pic>
        <p:sp>
          <p:nvSpPr>
            <p:cNvPr id="1419" name="Google Shape;1419;p87"/>
            <p:cNvSpPr txBox="1"/>
            <p:nvPr/>
          </p:nvSpPr>
          <p:spPr>
            <a:xfrm>
              <a:off x="1248950" y="3124225"/>
              <a:ext cx="34251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I see why!</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Because the 24 cm is opposite the right angle on the top triangle.</a:t>
              </a:r>
              <a:endParaRPr sz="1800">
                <a:solidFill>
                  <a:schemeClr val="dk1"/>
                </a:solidFill>
                <a:latin typeface="Lexend"/>
                <a:ea typeface="Lexend"/>
                <a:cs typeface="Lexend"/>
                <a:sym typeface="Lexend"/>
              </a:endParaRPr>
            </a:p>
          </p:txBody>
        </p:sp>
      </p:grpSp>
      <p:grpSp>
        <p:nvGrpSpPr>
          <p:cNvPr id="1420" name="Google Shape;1420;p87"/>
          <p:cNvGrpSpPr/>
          <p:nvPr/>
        </p:nvGrpSpPr>
        <p:grpSpPr>
          <a:xfrm>
            <a:off x="943361" y="3040664"/>
            <a:ext cx="4098189" cy="1594860"/>
            <a:chOff x="943361" y="3040664"/>
            <a:chExt cx="4098189" cy="1594860"/>
          </a:xfrm>
        </p:grpSpPr>
        <p:sp>
          <p:nvSpPr>
            <p:cNvPr id="1421" name="Google Shape;1421;p87"/>
            <p:cNvSpPr/>
            <p:nvPr/>
          </p:nvSpPr>
          <p:spPr>
            <a:xfrm>
              <a:off x="1124150" y="3091425"/>
              <a:ext cx="3917400" cy="1544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422" name="Google Shape;1422;p87"/>
            <p:cNvGrpSpPr/>
            <p:nvPr/>
          </p:nvGrpSpPr>
          <p:grpSpPr>
            <a:xfrm>
              <a:off x="943361" y="3040664"/>
              <a:ext cx="4064345" cy="1544012"/>
              <a:chOff x="946904" y="3080950"/>
              <a:chExt cx="3727048" cy="1415876"/>
            </a:xfrm>
          </p:grpSpPr>
          <p:pic>
            <p:nvPicPr>
              <p:cNvPr id="1423" name="Google Shape;1423;p87"/>
              <p:cNvPicPr preferRelativeResize="0"/>
              <p:nvPr/>
            </p:nvPicPr>
            <p:blipFill rotWithShape="1">
              <a:blip r:embed="rId3">
                <a:alphaModFix/>
              </a:blip>
              <a:srcRect b="4218" l="40550" r="0" t="13558"/>
              <a:stretch/>
            </p:blipFill>
            <p:spPr>
              <a:xfrm>
                <a:off x="946904" y="3080950"/>
                <a:ext cx="3727048" cy="1415876"/>
              </a:xfrm>
              <a:prstGeom prst="rect">
                <a:avLst/>
              </a:prstGeom>
              <a:noFill/>
              <a:ln>
                <a:noFill/>
              </a:ln>
            </p:spPr>
          </p:pic>
          <p:sp>
            <p:nvSpPr>
              <p:cNvPr id="1424" name="Google Shape;1424;p87"/>
              <p:cNvSpPr txBox="1"/>
              <p:nvPr/>
            </p:nvSpPr>
            <p:spPr>
              <a:xfrm>
                <a:off x="1223003" y="3174511"/>
                <a:ext cx="3425100" cy="1016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But on the bottom triangle, the       24 cm is a leg of the right angle. This means the hypotenuse of this triangle is longer than 24 cm.</a:t>
                </a:r>
                <a:endParaRPr sz="1800">
                  <a:solidFill>
                    <a:schemeClr val="dk1"/>
                  </a:solidFill>
                  <a:latin typeface="Lexend"/>
                  <a:ea typeface="Lexend"/>
                  <a:cs typeface="Lexend"/>
                  <a:sym typeface="Lexend"/>
                </a:endParaRPr>
              </a:p>
            </p:txBody>
          </p:sp>
        </p:grpSp>
      </p:grpSp>
      <p:sp>
        <p:nvSpPr>
          <p:cNvPr id="1425" name="Google Shape;1425;p87"/>
          <p:cNvSpPr/>
          <p:nvPr/>
        </p:nvSpPr>
        <p:spPr>
          <a:xfrm rot="1152510">
            <a:off x="7140834" y="897636"/>
            <a:ext cx="885392" cy="348766"/>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26" name="Google Shape;1426;p87"/>
          <p:cNvSpPr/>
          <p:nvPr/>
        </p:nvSpPr>
        <p:spPr>
          <a:xfrm rot="1165">
            <a:off x="6856334" y="4239448"/>
            <a:ext cx="885300" cy="3489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427" name="Google Shape;1427;p87"/>
          <p:cNvGrpSpPr/>
          <p:nvPr/>
        </p:nvGrpSpPr>
        <p:grpSpPr>
          <a:xfrm>
            <a:off x="943361" y="3041110"/>
            <a:ext cx="4098189" cy="1594860"/>
            <a:chOff x="943361" y="3040664"/>
            <a:chExt cx="4098189" cy="1594860"/>
          </a:xfrm>
        </p:grpSpPr>
        <p:sp>
          <p:nvSpPr>
            <p:cNvPr id="1428" name="Google Shape;1428;p87"/>
            <p:cNvSpPr/>
            <p:nvPr/>
          </p:nvSpPr>
          <p:spPr>
            <a:xfrm>
              <a:off x="1124150" y="3091425"/>
              <a:ext cx="3917400" cy="1544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429" name="Google Shape;1429;p87"/>
            <p:cNvGrpSpPr/>
            <p:nvPr/>
          </p:nvGrpSpPr>
          <p:grpSpPr>
            <a:xfrm>
              <a:off x="943361" y="3040664"/>
              <a:ext cx="4064345" cy="1544012"/>
              <a:chOff x="946904" y="3080950"/>
              <a:chExt cx="3727048" cy="1415876"/>
            </a:xfrm>
          </p:grpSpPr>
          <p:pic>
            <p:nvPicPr>
              <p:cNvPr id="1430" name="Google Shape;1430;p87"/>
              <p:cNvPicPr preferRelativeResize="0"/>
              <p:nvPr/>
            </p:nvPicPr>
            <p:blipFill rotWithShape="1">
              <a:blip r:embed="rId3">
                <a:alphaModFix/>
              </a:blip>
              <a:srcRect b="4218" l="40550" r="0" t="13558"/>
              <a:stretch/>
            </p:blipFill>
            <p:spPr>
              <a:xfrm>
                <a:off x="946904" y="3080950"/>
                <a:ext cx="3727048" cy="1415876"/>
              </a:xfrm>
              <a:prstGeom prst="rect">
                <a:avLst/>
              </a:prstGeom>
              <a:noFill/>
              <a:ln>
                <a:noFill/>
              </a:ln>
            </p:spPr>
          </p:pic>
          <p:sp>
            <p:nvSpPr>
              <p:cNvPr id="1431" name="Google Shape;1431;p87"/>
              <p:cNvSpPr txBox="1"/>
              <p:nvPr/>
            </p:nvSpPr>
            <p:spPr>
              <a:xfrm>
                <a:off x="1223003" y="3174511"/>
                <a:ext cx="3425100" cy="1016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But why does this matter?</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We can use Pythagoras’ theorem on both triangles anyway, since they’re both right-angled?</a:t>
                </a:r>
                <a:endParaRPr sz="1800">
                  <a:solidFill>
                    <a:schemeClr val="dk1"/>
                  </a:solidFill>
                  <a:latin typeface="Lexend"/>
                  <a:ea typeface="Lexend"/>
                  <a:cs typeface="Lexend"/>
                  <a:sym typeface="Lexend"/>
                </a:endParaRPr>
              </a:p>
            </p:txBody>
          </p:sp>
        </p:grpSp>
      </p:grpSp>
      <p:grpSp>
        <p:nvGrpSpPr>
          <p:cNvPr id="1432" name="Google Shape;1432;p87"/>
          <p:cNvGrpSpPr/>
          <p:nvPr/>
        </p:nvGrpSpPr>
        <p:grpSpPr>
          <a:xfrm>
            <a:off x="6122638" y="881819"/>
            <a:ext cx="2648175" cy="921856"/>
            <a:chOff x="5421975" y="1288650"/>
            <a:chExt cx="3187500" cy="1109600"/>
          </a:xfrm>
        </p:grpSpPr>
        <p:sp>
          <p:nvSpPr>
            <p:cNvPr id="1433" name="Google Shape;1433;p87"/>
            <p:cNvSpPr/>
            <p:nvPr/>
          </p:nvSpPr>
          <p:spPr>
            <a:xfrm>
              <a:off x="5421975" y="1288650"/>
              <a:ext cx="3187500" cy="11082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4" name="Google Shape;1434;p87"/>
            <p:cNvSpPr/>
            <p:nvPr/>
          </p:nvSpPr>
          <p:spPr>
            <a:xfrm>
              <a:off x="5421975" y="2038250"/>
              <a:ext cx="360000" cy="3600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5" name="Google Shape;1435;p87"/>
            <p:cNvSpPr/>
            <p:nvPr/>
          </p:nvSpPr>
          <p:spPr>
            <a:xfrm>
              <a:off x="5421975" y="1288650"/>
              <a:ext cx="3187500" cy="11082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436" name="Google Shape;1436;p87"/>
          <p:cNvGrpSpPr/>
          <p:nvPr/>
        </p:nvGrpSpPr>
        <p:grpSpPr>
          <a:xfrm>
            <a:off x="930148" y="596250"/>
            <a:ext cx="4090218" cy="2444315"/>
            <a:chOff x="809761" y="5092518"/>
            <a:chExt cx="3510314" cy="2402983"/>
          </a:xfrm>
        </p:grpSpPr>
        <p:sp>
          <p:nvSpPr>
            <p:cNvPr id="1437" name="Google Shape;1437;p87"/>
            <p:cNvSpPr/>
            <p:nvPr/>
          </p:nvSpPr>
          <p:spPr>
            <a:xfrm>
              <a:off x="1044075" y="5122201"/>
              <a:ext cx="3276000" cy="2373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438" name="Google Shape;1438;p87"/>
            <p:cNvPicPr preferRelativeResize="0"/>
            <p:nvPr/>
          </p:nvPicPr>
          <p:blipFill rotWithShape="1">
            <a:blip r:embed="rId3">
              <a:alphaModFix/>
            </a:blip>
            <a:srcRect b="4760" l="40550" r="0" t="13015"/>
            <a:stretch/>
          </p:blipFill>
          <p:spPr>
            <a:xfrm>
              <a:off x="809761" y="5092518"/>
              <a:ext cx="3463475" cy="2190550"/>
            </a:xfrm>
            <a:prstGeom prst="rect">
              <a:avLst/>
            </a:prstGeom>
            <a:noFill/>
            <a:ln>
              <a:noFill/>
            </a:ln>
          </p:spPr>
        </p:pic>
        <p:sp>
          <p:nvSpPr>
            <p:cNvPr id="1439" name="Google Shape;1439;p87"/>
            <p:cNvSpPr txBox="1"/>
            <p:nvPr/>
          </p:nvSpPr>
          <p:spPr>
            <a:xfrm>
              <a:off x="1069973" y="5209352"/>
              <a:ext cx="3117300" cy="1634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Oh, I know! It’s because each equation you construct from Pythagoras’ theorem will be slightly different, and so </a:t>
              </a:r>
              <a:r>
                <a:rPr lang="en-GB" sz="1800">
                  <a:solidFill>
                    <a:schemeClr val="accent2"/>
                  </a:solidFill>
                  <a:latin typeface="Lexend"/>
                  <a:ea typeface="Lexend"/>
                  <a:cs typeface="Lexend"/>
                  <a:sym typeface="Lexend"/>
                </a:rPr>
                <a:t>solving</a:t>
              </a:r>
              <a:r>
                <a:rPr lang="en-GB" sz="1800">
                  <a:solidFill>
                    <a:schemeClr val="dk1"/>
                  </a:solidFill>
                  <a:latin typeface="Lexend"/>
                  <a:ea typeface="Lexend"/>
                  <a:cs typeface="Lexend"/>
                  <a:sym typeface="Lexend"/>
                </a:rPr>
                <a:t> each one will give you two different lengths!</a:t>
              </a:r>
              <a:endParaRPr sz="1800">
                <a:solidFill>
                  <a:schemeClr val="dk1"/>
                </a:solidFill>
                <a:latin typeface="Lexend"/>
                <a:ea typeface="Lexend"/>
                <a:cs typeface="Lexend"/>
                <a:sym typeface="Lexend"/>
              </a:endParaRPr>
            </a:p>
          </p:txBody>
        </p:sp>
      </p:grpSp>
      <p:pic>
        <p:nvPicPr>
          <p:cNvPr id="1440" name="Google Shape;1440;p87"/>
          <p:cNvPicPr preferRelativeResize="0"/>
          <p:nvPr/>
        </p:nvPicPr>
        <p:blipFill>
          <a:blip r:embed="rId4">
            <a:alphaModFix/>
          </a:blip>
          <a:stretch>
            <a:fillRect/>
          </a:stretch>
        </p:blipFill>
        <p:spPr>
          <a:xfrm flipH="1">
            <a:off x="336475" y="1976557"/>
            <a:ext cx="650925" cy="839350"/>
          </a:xfrm>
          <a:prstGeom prst="rect">
            <a:avLst/>
          </a:prstGeom>
          <a:noFill/>
          <a:ln>
            <a:noFill/>
          </a:ln>
        </p:spPr>
      </p:pic>
      <p:sp>
        <p:nvSpPr>
          <p:cNvPr id="1441" name="Google Shape;1441;p87"/>
          <p:cNvSpPr txBox="1"/>
          <p:nvPr/>
        </p:nvSpPr>
        <p:spPr>
          <a:xfrm>
            <a:off x="305227" y="2776658"/>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sz="1800">
              <a:latin typeface="Lexend"/>
              <a:ea typeface="Lexend"/>
              <a:cs typeface="Lexend"/>
              <a:sym typeface="Lexend"/>
            </a:endParaRPr>
          </a:p>
        </p:txBody>
      </p:sp>
      <p:pic>
        <p:nvPicPr>
          <p:cNvPr id="1442" name="Google Shape;1442;p87"/>
          <p:cNvPicPr preferRelativeResize="0"/>
          <p:nvPr/>
        </p:nvPicPr>
        <p:blipFill>
          <a:blip r:embed="rId5">
            <a:alphaModFix/>
          </a:blip>
          <a:stretch>
            <a:fillRect/>
          </a:stretch>
        </p:blipFill>
        <p:spPr>
          <a:xfrm>
            <a:off x="333459" y="3898758"/>
            <a:ext cx="652400" cy="732325"/>
          </a:xfrm>
          <a:prstGeom prst="rect">
            <a:avLst/>
          </a:prstGeom>
          <a:noFill/>
          <a:ln>
            <a:noFill/>
          </a:ln>
        </p:spPr>
      </p:pic>
      <p:sp>
        <p:nvSpPr>
          <p:cNvPr id="1443" name="Google Shape;1443;p87"/>
          <p:cNvSpPr txBox="1"/>
          <p:nvPr/>
        </p:nvSpPr>
        <p:spPr>
          <a:xfrm>
            <a:off x="216996" y="4561735"/>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42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4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42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7" name="Shape 1447"/>
        <p:cNvGrpSpPr/>
        <p:nvPr/>
      </p:nvGrpSpPr>
      <p:grpSpPr>
        <a:xfrm>
          <a:off x="0" y="0"/>
          <a:ext cx="0" cy="0"/>
          <a:chOff x="0" y="0"/>
          <a:chExt cx="0" cy="0"/>
        </a:xfrm>
      </p:grpSpPr>
      <p:sp>
        <p:nvSpPr>
          <p:cNvPr id="1448" name="Google Shape;1448;p88"/>
          <p:cNvSpPr txBox="1"/>
          <p:nvPr/>
        </p:nvSpPr>
        <p:spPr>
          <a:xfrm flipH="1" rot="2698">
            <a:off x="1467174" y="1766400"/>
            <a:ext cx="34407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x</a:t>
            </a:r>
            <a:r>
              <a:rPr lang="en-GB" sz="1800">
                <a:solidFill>
                  <a:schemeClr val="lt1"/>
                </a:solidFill>
                <a:latin typeface="Lexend"/>
                <a:ea typeface="Lexend"/>
                <a:cs typeface="Lexend"/>
                <a:sym typeface="Lexend"/>
              </a:rPr>
              <a:t>²</a:t>
            </a:r>
            <a:r>
              <a:rPr lang="en-GB" sz="1800">
                <a:latin typeface="Lexend"/>
                <a:ea typeface="Lexend"/>
                <a:cs typeface="Lexend"/>
                <a:sym typeface="Lexend"/>
              </a:rPr>
              <a:t>        </a:t>
            </a:r>
            <a:r>
              <a:rPr lang="en-GB" sz="600">
                <a:latin typeface="Lexend"/>
                <a:ea typeface="Lexend"/>
                <a:cs typeface="Lexend"/>
                <a:sym typeface="Lexend"/>
              </a:rPr>
              <a:t> </a:t>
            </a:r>
            <a:r>
              <a:rPr lang="en-GB" sz="1800">
                <a:latin typeface="Lexend"/>
                <a:ea typeface="Lexend"/>
                <a:cs typeface="Lexend"/>
                <a:sym typeface="Lexend"/>
              </a:rPr>
              <a:t>=   495 = 22.25</a:t>
            </a:r>
            <a:endParaRPr sz="1800">
              <a:latin typeface="Lexend"/>
              <a:ea typeface="Lexend"/>
              <a:cs typeface="Lexend"/>
              <a:sym typeface="Lexend"/>
            </a:endParaRPr>
          </a:p>
        </p:txBody>
      </p:sp>
      <p:sp>
        <p:nvSpPr>
          <p:cNvPr id="1449" name="Google Shape;1449;p88"/>
          <p:cNvSpPr txBox="1"/>
          <p:nvPr/>
        </p:nvSpPr>
        <p:spPr>
          <a:xfrm flipH="1" rot="2698">
            <a:off x="1467174" y="1410300"/>
            <a:ext cx="34407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x</a:t>
            </a:r>
            <a:r>
              <a:rPr lang="en-GB" sz="1800">
                <a:latin typeface="Lexend"/>
                <a:ea typeface="Lexend"/>
                <a:cs typeface="Lexend"/>
                <a:sym typeface="Lexend"/>
              </a:rPr>
              <a:t>²        </a:t>
            </a:r>
            <a:r>
              <a:rPr lang="en-GB" sz="600">
                <a:latin typeface="Lexend"/>
                <a:ea typeface="Lexend"/>
                <a:cs typeface="Lexend"/>
                <a:sym typeface="Lexend"/>
              </a:rPr>
              <a:t> </a:t>
            </a:r>
            <a:r>
              <a:rPr lang="en-GB" sz="1800">
                <a:latin typeface="Lexend"/>
                <a:ea typeface="Lexend"/>
                <a:cs typeface="Lexend"/>
                <a:sym typeface="Lexend"/>
              </a:rPr>
              <a:t>= 495</a:t>
            </a:r>
            <a:endParaRPr sz="1800">
              <a:latin typeface="Lexend"/>
              <a:ea typeface="Lexend"/>
              <a:cs typeface="Lexend"/>
              <a:sym typeface="Lexend"/>
            </a:endParaRPr>
          </a:p>
        </p:txBody>
      </p:sp>
      <p:sp>
        <p:nvSpPr>
          <p:cNvPr id="1450" name="Google Shape;1450;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the length of missing sides</a:t>
            </a:r>
            <a:endParaRPr/>
          </a:p>
        </p:txBody>
      </p:sp>
      <p:cxnSp>
        <p:nvCxnSpPr>
          <p:cNvPr id="1451" name="Google Shape;1451;p88"/>
          <p:cNvCxnSpPr/>
          <p:nvPr/>
        </p:nvCxnSpPr>
        <p:spPr>
          <a:xfrm>
            <a:off x="5964281" y="881870"/>
            <a:ext cx="0" cy="920700"/>
          </a:xfrm>
          <a:prstGeom prst="straightConnector1">
            <a:avLst/>
          </a:prstGeom>
          <a:noFill/>
          <a:ln cap="flat" cmpd="sng" w="28575">
            <a:solidFill>
              <a:schemeClr val="accent4"/>
            </a:solidFill>
            <a:prstDash val="solid"/>
            <a:round/>
            <a:headEnd len="med" w="med" type="triangle"/>
            <a:tailEnd len="med" w="med" type="triangle"/>
          </a:ln>
        </p:spPr>
      </p:cxnSp>
      <p:cxnSp>
        <p:nvCxnSpPr>
          <p:cNvPr id="1452" name="Google Shape;1452;p88"/>
          <p:cNvCxnSpPr/>
          <p:nvPr/>
        </p:nvCxnSpPr>
        <p:spPr>
          <a:xfrm rot="10800000">
            <a:off x="6122786" y="1911550"/>
            <a:ext cx="2648400" cy="0"/>
          </a:xfrm>
          <a:prstGeom prst="straightConnector1">
            <a:avLst/>
          </a:prstGeom>
          <a:noFill/>
          <a:ln cap="flat" cmpd="sng" w="28575">
            <a:solidFill>
              <a:schemeClr val="accent4"/>
            </a:solidFill>
            <a:prstDash val="solid"/>
            <a:round/>
            <a:headEnd len="med" w="med" type="triangle"/>
            <a:tailEnd len="med" w="med" type="triangle"/>
          </a:ln>
        </p:spPr>
      </p:cxnSp>
      <p:cxnSp>
        <p:nvCxnSpPr>
          <p:cNvPr id="1453" name="Google Shape;1453;p88"/>
          <p:cNvCxnSpPr/>
          <p:nvPr/>
        </p:nvCxnSpPr>
        <p:spPr>
          <a:xfrm rot="10800000">
            <a:off x="6138806" y="755286"/>
            <a:ext cx="2648400" cy="920700"/>
          </a:xfrm>
          <a:prstGeom prst="straightConnector1">
            <a:avLst/>
          </a:prstGeom>
          <a:noFill/>
          <a:ln cap="flat" cmpd="sng" w="28575">
            <a:solidFill>
              <a:schemeClr val="accent4"/>
            </a:solidFill>
            <a:prstDash val="solid"/>
            <a:round/>
            <a:headEnd len="med" w="med" type="triangle"/>
            <a:tailEnd len="med" w="med" type="triangle"/>
          </a:ln>
        </p:spPr>
      </p:cxnSp>
      <p:sp>
        <p:nvSpPr>
          <p:cNvPr id="1454" name="Google Shape;1454;p88"/>
          <p:cNvSpPr txBox="1"/>
          <p:nvPr/>
        </p:nvSpPr>
        <p:spPr>
          <a:xfrm rot="1152510">
            <a:off x="7140829" y="915283"/>
            <a:ext cx="885392" cy="31347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24 cm</a:t>
            </a:r>
            <a:endParaRPr sz="1800">
              <a:latin typeface="Lexend"/>
              <a:ea typeface="Lexend"/>
              <a:cs typeface="Lexend"/>
              <a:sym typeface="Lexend"/>
            </a:endParaRPr>
          </a:p>
        </p:txBody>
      </p:sp>
      <p:sp>
        <p:nvSpPr>
          <p:cNvPr id="1455" name="Google Shape;1455;p88"/>
          <p:cNvSpPr txBox="1"/>
          <p:nvPr/>
        </p:nvSpPr>
        <p:spPr>
          <a:xfrm rot="2865">
            <a:off x="5278830" y="1177600"/>
            <a:ext cx="7200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9 cm</a:t>
            </a:r>
            <a:endParaRPr sz="1800">
              <a:latin typeface="Lexend"/>
              <a:ea typeface="Lexend"/>
              <a:cs typeface="Lexend"/>
              <a:sym typeface="Lexend"/>
            </a:endParaRPr>
          </a:p>
        </p:txBody>
      </p:sp>
      <p:grpSp>
        <p:nvGrpSpPr>
          <p:cNvPr id="1456" name="Google Shape;1456;p88"/>
          <p:cNvGrpSpPr/>
          <p:nvPr/>
        </p:nvGrpSpPr>
        <p:grpSpPr>
          <a:xfrm>
            <a:off x="5828584" y="3090985"/>
            <a:ext cx="2940787" cy="1023717"/>
            <a:chOff x="5421975" y="1288650"/>
            <a:chExt cx="3187500" cy="1109600"/>
          </a:xfrm>
        </p:grpSpPr>
        <p:sp>
          <p:nvSpPr>
            <p:cNvPr id="1457" name="Google Shape;1457;p88"/>
            <p:cNvSpPr/>
            <p:nvPr/>
          </p:nvSpPr>
          <p:spPr>
            <a:xfrm>
              <a:off x="5421975" y="1288650"/>
              <a:ext cx="3187500" cy="11082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8" name="Google Shape;1458;p88"/>
            <p:cNvSpPr/>
            <p:nvPr/>
          </p:nvSpPr>
          <p:spPr>
            <a:xfrm>
              <a:off x="5421975" y="2038250"/>
              <a:ext cx="360000" cy="3600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9" name="Google Shape;1459;p88"/>
            <p:cNvSpPr/>
            <p:nvPr/>
          </p:nvSpPr>
          <p:spPr>
            <a:xfrm>
              <a:off x="5421975" y="1288650"/>
              <a:ext cx="3187500" cy="11082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1460" name="Google Shape;1460;p88"/>
          <p:cNvCxnSpPr/>
          <p:nvPr/>
        </p:nvCxnSpPr>
        <p:spPr>
          <a:xfrm>
            <a:off x="5652504" y="3090989"/>
            <a:ext cx="0" cy="1022400"/>
          </a:xfrm>
          <a:prstGeom prst="straightConnector1">
            <a:avLst/>
          </a:prstGeom>
          <a:noFill/>
          <a:ln cap="flat" cmpd="sng" w="28575">
            <a:solidFill>
              <a:schemeClr val="accent4"/>
            </a:solidFill>
            <a:prstDash val="solid"/>
            <a:round/>
            <a:headEnd len="med" w="med" type="triangle"/>
            <a:tailEnd len="med" w="med" type="triangle"/>
          </a:ln>
        </p:spPr>
      </p:cxnSp>
      <p:cxnSp>
        <p:nvCxnSpPr>
          <p:cNvPr id="1461" name="Google Shape;1461;p88"/>
          <p:cNvCxnSpPr/>
          <p:nvPr/>
        </p:nvCxnSpPr>
        <p:spPr>
          <a:xfrm rot="10800000">
            <a:off x="5828516" y="4234394"/>
            <a:ext cx="2940900" cy="0"/>
          </a:xfrm>
          <a:prstGeom prst="straightConnector1">
            <a:avLst/>
          </a:prstGeom>
          <a:noFill/>
          <a:ln cap="flat" cmpd="sng" w="28575">
            <a:solidFill>
              <a:schemeClr val="accent4"/>
            </a:solidFill>
            <a:prstDash val="solid"/>
            <a:round/>
            <a:headEnd len="med" w="med" type="triangle"/>
            <a:tailEnd len="med" w="med" type="triangle"/>
          </a:ln>
        </p:spPr>
      </p:cxnSp>
      <p:cxnSp>
        <p:nvCxnSpPr>
          <p:cNvPr id="1462" name="Google Shape;1462;p88"/>
          <p:cNvCxnSpPr/>
          <p:nvPr/>
        </p:nvCxnSpPr>
        <p:spPr>
          <a:xfrm rot="10800000">
            <a:off x="5846305" y="2950413"/>
            <a:ext cx="2940900" cy="1022400"/>
          </a:xfrm>
          <a:prstGeom prst="straightConnector1">
            <a:avLst/>
          </a:prstGeom>
          <a:noFill/>
          <a:ln cap="flat" cmpd="sng" w="28575">
            <a:solidFill>
              <a:schemeClr val="accent4"/>
            </a:solidFill>
            <a:prstDash val="solid"/>
            <a:round/>
            <a:headEnd len="med" w="med" type="triangle"/>
            <a:tailEnd len="med" w="med" type="triangle"/>
          </a:ln>
        </p:spPr>
      </p:cxnSp>
      <p:sp>
        <p:nvSpPr>
          <p:cNvPr id="1463" name="Google Shape;1463;p88"/>
          <p:cNvSpPr txBox="1"/>
          <p:nvPr/>
        </p:nvSpPr>
        <p:spPr>
          <a:xfrm rot="2098">
            <a:off x="6807419" y="4226208"/>
            <a:ext cx="983100" cy="3480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24 cm</a:t>
            </a:r>
            <a:endParaRPr sz="1800">
              <a:latin typeface="Lexend"/>
              <a:ea typeface="Lexend"/>
              <a:cs typeface="Lexend"/>
              <a:sym typeface="Lexend"/>
            </a:endParaRPr>
          </a:p>
        </p:txBody>
      </p:sp>
      <p:sp>
        <p:nvSpPr>
          <p:cNvPr id="1464" name="Google Shape;1464;p88"/>
          <p:cNvSpPr txBox="1"/>
          <p:nvPr/>
        </p:nvSpPr>
        <p:spPr>
          <a:xfrm rot="2931">
            <a:off x="4987191" y="3419427"/>
            <a:ext cx="703800" cy="3480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9 cm</a:t>
            </a:r>
            <a:endParaRPr sz="1800">
              <a:latin typeface="Lexend"/>
              <a:ea typeface="Lexend"/>
              <a:cs typeface="Lexend"/>
              <a:sym typeface="Lexend"/>
            </a:endParaRPr>
          </a:p>
        </p:txBody>
      </p:sp>
      <p:grpSp>
        <p:nvGrpSpPr>
          <p:cNvPr id="1465" name="Google Shape;1465;p88"/>
          <p:cNvGrpSpPr/>
          <p:nvPr/>
        </p:nvGrpSpPr>
        <p:grpSpPr>
          <a:xfrm>
            <a:off x="6122638" y="881819"/>
            <a:ext cx="2648175" cy="921856"/>
            <a:chOff x="5421975" y="1288650"/>
            <a:chExt cx="3187500" cy="1109600"/>
          </a:xfrm>
        </p:grpSpPr>
        <p:sp>
          <p:nvSpPr>
            <p:cNvPr id="1466" name="Google Shape;1466;p88"/>
            <p:cNvSpPr/>
            <p:nvPr/>
          </p:nvSpPr>
          <p:spPr>
            <a:xfrm>
              <a:off x="5421975" y="1288650"/>
              <a:ext cx="3187500" cy="11082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67" name="Google Shape;1467;p88"/>
            <p:cNvSpPr/>
            <p:nvPr/>
          </p:nvSpPr>
          <p:spPr>
            <a:xfrm>
              <a:off x="5421975" y="2038250"/>
              <a:ext cx="360000" cy="3600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68" name="Google Shape;1468;p88"/>
            <p:cNvSpPr/>
            <p:nvPr/>
          </p:nvSpPr>
          <p:spPr>
            <a:xfrm>
              <a:off x="5421975" y="1288650"/>
              <a:ext cx="3187500" cy="11082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1469" name="Google Shape;1469;p88"/>
          <p:cNvCxnSpPr/>
          <p:nvPr/>
        </p:nvCxnSpPr>
        <p:spPr>
          <a:xfrm rot="10800000">
            <a:off x="324075" y="2647450"/>
            <a:ext cx="8490900" cy="0"/>
          </a:xfrm>
          <a:prstGeom prst="straightConnector1">
            <a:avLst/>
          </a:prstGeom>
          <a:noFill/>
          <a:ln cap="flat" cmpd="sng" w="28575">
            <a:solidFill>
              <a:schemeClr val="accent2"/>
            </a:solidFill>
            <a:prstDash val="solid"/>
            <a:round/>
            <a:headEnd len="med" w="med" type="none"/>
            <a:tailEnd len="med" w="med" type="none"/>
          </a:ln>
        </p:spPr>
      </p:cxnSp>
      <p:sp>
        <p:nvSpPr>
          <p:cNvPr id="1470" name="Google Shape;1470;p88"/>
          <p:cNvSpPr txBox="1"/>
          <p:nvPr/>
        </p:nvSpPr>
        <p:spPr>
          <a:xfrm flipH="1" rot="2698">
            <a:off x="1467174" y="698100"/>
            <a:ext cx="34407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² + 9² = 24²</a:t>
            </a:r>
            <a:endParaRPr sz="1800">
              <a:latin typeface="Lexend"/>
              <a:ea typeface="Lexend"/>
              <a:cs typeface="Lexend"/>
              <a:sym typeface="Lexend"/>
            </a:endParaRPr>
          </a:p>
        </p:txBody>
      </p:sp>
      <p:sp>
        <p:nvSpPr>
          <p:cNvPr id="1471" name="Google Shape;1471;p88"/>
          <p:cNvSpPr txBox="1"/>
          <p:nvPr/>
        </p:nvSpPr>
        <p:spPr>
          <a:xfrm flipH="1" rot="2698">
            <a:off x="1467174" y="1054200"/>
            <a:ext cx="34407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x</a:t>
            </a:r>
            <a:r>
              <a:rPr lang="en-GB" sz="1800">
                <a:latin typeface="Lexend"/>
                <a:ea typeface="Lexend"/>
                <a:cs typeface="Lexend"/>
                <a:sym typeface="Lexend"/>
              </a:rPr>
              <a:t>²        </a:t>
            </a:r>
            <a:r>
              <a:rPr lang="en-GB" sz="600">
                <a:latin typeface="Lexend"/>
                <a:ea typeface="Lexend"/>
                <a:cs typeface="Lexend"/>
                <a:sym typeface="Lexend"/>
              </a:rPr>
              <a:t> </a:t>
            </a:r>
            <a:r>
              <a:rPr lang="en-GB" sz="1800">
                <a:latin typeface="Lexend"/>
                <a:ea typeface="Lexend"/>
                <a:cs typeface="Lexend"/>
                <a:sym typeface="Lexend"/>
              </a:rPr>
              <a:t>= 24² </a:t>
            </a:r>
            <a:r>
              <a:rPr lang="en-GB" sz="1800">
                <a:solidFill>
                  <a:schemeClr val="dk1"/>
                </a:solidFill>
                <a:latin typeface="Lexend"/>
                <a:ea typeface="Lexend"/>
                <a:cs typeface="Lexend"/>
                <a:sym typeface="Lexend"/>
              </a:rPr>
              <a:t>– 9²</a:t>
            </a:r>
            <a:endParaRPr sz="1800">
              <a:latin typeface="Lexend"/>
              <a:ea typeface="Lexend"/>
              <a:cs typeface="Lexend"/>
              <a:sym typeface="Lexend"/>
            </a:endParaRPr>
          </a:p>
        </p:txBody>
      </p:sp>
      <p:pic>
        <p:nvPicPr>
          <p:cNvPr descr="&lt;math xmlns=&quot;http://www.w3.org/1998/Math/MathML&quot; display=&quot;block&quot; data-is-equatio=&quot;1&quot; data-latex=&quot;\sqrt{\ \ \ \ \ \ \ \ \ \ \ \ \ \ \ \ \ \ \ \ \ \ }&quot;&gt;&lt;msqr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sqrt&gt;&lt;/math&gt;" id="1472" name="Google Shape;1472;p88" title="the square root of"/>
          <p:cNvPicPr preferRelativeResize="0"/>
          <p:nvPr/>
        </p:nvPicPr>
        <p:blipFill rotWithShape="1">
          <a:blip r:embed="rId3">
            <a:alphaModFix/>
          </a:blip>
          <a:srcRect b="0" l="0" r="58411" t="0"/>
          <a:stretch/>
        </p:blipFill>
        <p:spPr>
          <a:xfrm>
            <a:off x="2376628" y="1800123"/>
            <a:ext cx="560475" cy="262850"/>
          </a:xfrm>
          <a:prstGeom prst="rect">
            <a:avLst/>
          </a:prstGeom>
          <a:noFill/>
          <a:ln>
            <a:noFill/>
          </a:ln>
        </p:spPr>
      </p:pic>
      <p:sp>
        <p:nvSpPr>
          <p:cNvPr id="1473" name="Google Shape;1473;p88"/>
          <p:cNvSpPr txBox="1"/>
          <p:nvPr/>
        </p:nvSpPr>
        <p:spPr>
          <a:xfrm flipH="1" rot="2763">
            <a:off x="400224" y="2199002"/>
            <a:ext cx="5598602"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The length of this shorter side is 22.25 cm (2 d.p.)</a:t>
            </a:r>
            <a:endParaRPr sz="1800">
              <a:latin typeface="Lexend"/>
              <a:ea typeface="Lexend"/>
              <a:cs typeface="Lexend"/>
              <a:sym typeface="Lexend"/>
            </a:endParaRPr>
          </a:p>
        </p:txBody>
      </p:sp>
      <p:sp>
        <p:nvSpPr>
          <p:cNvPr id="1474" name="Google Shape;1474;p88"/>
          <p:cNvSpPr txBox="1"/>
          <p:nvPr/>
        </p:nvSpPr>
        <p:spPr>
          <a:xfrm flipH="1" rot="2698">
            <a:off x="1467174" y="2818450"/>
            <a:ext cx="34407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24² + 9² = </a:t>
            </a:r>
            <a:r>
              <a:rPr i="1" lang="en-GB" sz="2200">
                <a:solidFill>
                  <a:schemeClr val="dk1"/>
                </a:solidFill>
                <a:latin typeface="Times New Roman"/>
                <a:ea typeface="Times New Roman"/>
                <a:cs typeface="Times New Roman"/>
                <a:sym typeface="Times New Roman"/>
              </a:rPr>
              <a:t>y</a:t>
            </a:r>
            <a:r>
              <a:rPr lang="en-GB" sz="1800">
                <a:solidFill>
                  <a:schemeClr val="dk1"/>
                </a:solidFill>
                <a:latin typeface="Lexend"/>
                <a:ea typeface="Lexend"/>
                <a:cs typeface="Lexend"/>
                <a:sym typeface="Lexend"/>
              </a:rPr>
              <a:t>²</a:t>
            </a:r>
            <a:endParaRPr sz="1800">
              <a:latin typeface="Lexend"/>
              <a:ea typeface="Lexend"/>
              <a:cs typeface="Lexend"/>
              <a:sym typeface="Lexend"/>
            </a:endParaRPr>
          </a:p>
        </p:txBody>
      </p:sp>
      <p:sp>
        <p:nvSpPr>
          <p:cNvPr id="1475" name="Google Shape;1475;p88"/>
          <p:cNvSpPr txBox="1"/>
          <p:nvPr/>
        </p:nvSpPr>
        <p:spPr>
          <a:xfrm flipH="1" rot="2771">
            <a:off x="6520925" y="1953653"/>
            <a:ext cx="1860901"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22.25 cm</a:t>
            </a:r>
            <a:endParaRPr sz="1800">
              <a:latin typeface="Lexend"/>
              <a:ea typeface="Lexend"/>
              <a:cs typeface="Lexend"/>
              <a:sym typeface="Lexend"/>
            </a:endParaRPr>
          </a:p>
        </p:txBody>
      </p:sp>
      <p:sp>
        <p:nvSpPr>
          <p:cNvPr id="1476" name="Google Shape;1476;p88"/>
          <p:cNvSpPr txBox="1"/>
          <p:nvPr/>
        </p:nvSpPr>
        <p:spPr>
          <a:xfrm flipH="1" rot="2698">
            <a:off x="1467174" y="3561150"/>
            <a:ext cx="34407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y</a:t>
            </a:r>
            <a:r>
              <a:rPr lang="en-GB" sz="1800">
                <a:solidFill>
                  <a:schemeClr val="dk1"/>
                </a:solidFill>
                <a:latin typeface="Lexend"/>
                <a:ea typeface="Lexend"/>
                <a:cs typeface="Lexend"/>
                <a:sym typeface="Lexend"/>
              </a:rPr>
              <a:t> =   657 = 25.63</a:t>
            </a:r>
            <a:endParaRPr sz="1800">
              <a:latin typeface="Lexend"/>
              <a:ea typeface="Lexend"/>
              <a:cs typeface="Lexend"/>
              <a:sym typeface="Lexend"/>
            </a:endParaRPr>
          </a:p>
        </p:txBody>
      </p:sp>
      <p:sp>
        <p:nvSpPr>
          <p:cNvPr id="1477" name="Google Shape;1477;p88"/>
          <p:cNvSpPr txBox="1"/>
          <p:nvPr/>
        </p:nvSpPr>
        <p:spPr>
          <a:xfrm flipH="1" rot="2780">
            <a:off x="400174" y="4319291"/>
            <a:ext cx="5564102"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The length of this hypotenuse is 25.63 cm </a:t>
            </a:r>
            <a:r>
              <a:rPr lang="en-GB" sz="1800">
                <a:solidFill>
                  <a:schemeClr val="dk1"/>
                </a:solidFill>
                <a:latin typeface="Lexend"/>
                <a:ea typeface="Lexend"/>
                <a:cs typeface="Lexend"/>
                <a:sym typeface="Lexend"/>
              </a:rPr>
              <a:t>(2 d.p.)</a:t>
            </a:r>
            <a:endParaRPr sz="1800">
              <a:latin typeface="Lexend"/>
              <a:ea typeface="Lexend"/>
              <a:cs typeface="Lexend"/>
              <a:sym typeface="Lexend"/>
            </a:endParaRPr>
          </a:p>
        </p:txBody>
      </p:sp>
      <p:sp>
        <p:nvSpPr>
          <p:cNvPr id="1478" name="Google Shape;1478;p88"/>
          <p:cNvSpPr txBox="1"/>
          <p:nvPr/>
        </p:nvSpPr>
        <p:spPr>
          <a:xfrm flipH="1" rot="2698">
            <a:off x="1467174" y="3189800"/>
            <a:ext cx="34407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657       </a:t>
            </a:r>
            <a:r>
              <a:rPr lang="en-GB" sz="1200">
                <a:latin typeface="Lexend"/>
                <a:ea typeface="Lexend"/>
                <a:cs typeface="Lexend"/>
                <a:sym typeface="Lexend"/>
              </a:rPr>
              <a:t> </a:t>
            </a:r>
            <a:r>
              <a:rPr lang="en-GB" sz="1800">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y</a:t>
            </a:r>
            <a:r>
              <a:rPr lang="en-GB" sz="1800">
                <a:solidFill>
                  <a:schemeClr val="dk1"/>
                </a:solidFill>
                <a:latin typeface="Lexend"/>
                <a:ea typeface="Lexend"/>
                <a:cs typeface="Lexend"/>
                <a:sym typeface="Lexend"/>
              </a:rPr>
              <a:t>²</a:t>
            </a:r>
            <a:endParaRPr sz="1800">
              <a:latin typeface="Lexend"/>
              <a:ea typeface="Lexend"/>
              <a:cs typeface="Lexend"/>
              <a:sym typeface="Lexend"/>
            </a:endParaRPr>
          </a:p>
        </p:txBody>
      </p:sp>
      <p:pic>
        <p:nvPicPr>
          <p:cNvPr descr="&lt;math xmlns=&quot;http://www.w3.org/1998/Math/MathML&quot; display=&quot;block&quot; data-is-equatio=&quot;1&quot; data-latex=&quot;\sqrt{\ \ \ \ \ \ \ \ \ \ \ \ \ \ \ \ \ \ \ \ \ \ }&quot;&gt;&lt;msqr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sqrt&gt;&lt;/math&gt;" id="1479" name="Google Shape;1479;p88" title="the square root of"/>
          <p:cNvPicPr preferRelativeResize="0"/>
          <p:nvPr/>
        </p:nvPicPr>
        <p:blipFill rotWithShape="1">
          <a:blip r:embed="rId3">
            <a:alphaModFix/>
          </a:blip>
          <a:srcRect b="0" l="0" r="58411" t="0"/>
          <a:stretch/>
        </p:blipFill>
        <p:spPr>
          <a:xfrm>
            <a:off x="1822222" y="3606348"/>
            <a:ext cx="560475" cy="262850"/>
          </a:xfrm>
          <a:prstGeom prst="rect">
            <a:avLst/>
          </a:prstGeom>
          <a:noFill/>
          <a:ln>
            <a:noFill/>
          </a:ln>
        </p:spPr>
      </p:pic>
      <p:sp>
        <p:nvSpPr>
          <p:cNvPr id="1480" name="Google Shape;1480;p88"/>
          <p:cNvSpPr txBox="1"/>
          <p:nvPr/>
        </p:nvSpPr>
        <p:spPr>
          <a:xfrm rot="1152724">
            <a:off x="6818285" y="3173414"/>
            <a:ext cx="1217083" cy="31347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25.63 cm</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4" name="Shape 1484"/>
        <p:cNvGrpSpPr/>
        <p:nvPr/>
      </p:nvGrpSpPr>
      <p:grpSpPr>
        <a:xfrm>
          <a:off x="0" y="0"/>
          <a:ext cx="0" cy="0"/>
          <a:chOff x="0" y="0"/>
          <a:chExt cx="0" cy="0"/>
        </a:xfrm>
      </p:grpSpPr>
      <p:sp>
        <p:nvSpPr>
          <p:cNvPr id="1485" name="Google Shape;1485;p89"/>
          <p:cNvSpPr/>
          <p:nvPr/>
        </p:nvSpPr>
        <p:spPr>
          <a:xfrm>
            <a:off x="5802625" y="4339975"/>
            <a:ext cx="2787600" cy="385200"/>
          </a:xfrm>
          <a:prstGeom prst="rect">
            <a:avLst/>
          </a:prstGeom>
          <a:noFill/>
          <a:ln>
            <a:noFill/>
          </a:ln>
        </p:spPr>
        <p:txBody>
          <a:bodyPr anchorCtr="0" anchor="t" bIns="18000" lIns="0" spcFirstLastPara="1" rIns="0" wrap="square" tIns="18000">
            <a:noAutofit/>
          </a:bodyPr>
          <a:lstStyle/>
          <a:p>
            <a:pPr indent="0" lvl="0" marL="0" rtl="0" algn="ctr">
              <a:spcBef>
                <a:spcPts val="0"/>
              </a:spcBef>
              <a:spcAft>
                <a:spcPts val="0"/>
              </a:spcAft>
              <a:buNone/>
            </a:pPr>
            <a:r>
              <a:rPr lang="en-GB" sz="2000">
                <a:solidFill>
                  <a:schemeClr val="dk1"/>
                </a:solidFill>
                <a:latin typeface="Kalam"/>
                <a:ea typeface="Kalam"/>
                <a:cs typeface="Kalam"/>
                <a:sym typeface="Kalam"/>
              </a:rPr>
              <a:t>r </a:t>
            </a:r>
            <a:r>
              <a:rPr lang="en-GB" sz="1100">
                <a:solidFill>
                  <a:schemeClr val="dk1"/>
                </a:solidFill>
                <a:latin typeface="Kalam"/>
                <a:ea typeface="Kalam"/>
                <a:cs typeface="Kalam"/>
                <a:sym typeface="Kalam"/>
              </a:rPr>
              <a:t> </a:t>
            </a:r>
            <a:r>
              <a:rPr lang="en-GB" sz="2000">
                <a:solidFill>
                  <a:schemeClr val="dk1"/>
                </a:solidFill>
                <a:latin typeface="Kalam"/>
                <a:ea typeface="Kalam"/>
                <a:cs typeface="Kalam"/>
                <a:sym typeface="Kalam"/>
              </a:rPr>
              <a:t> =  43.1 cm (1 d.p.)</a:t>
            </a:r>
            <a:endParaRPr sz="2000">
              <a:latin typeface="Kalam"/>
              <a:ea typeface="Kalam"/>
              <a:cs typeface="Kalam"/>
              <a:sym typeface="Kalam"/>
            </a:endParaRPr>
          </a:p>
        </p:txBody>
      </p:sp>
      <p:sp>
        <p:nvSpPr>
          <p:cNvPr id="1486" name="Google Shape;1486;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the length of missing sides</a:t>
            </a:r>
            <a:endParaRPr/>
          </a:p>
        </p:txBody>
      </p:sp>
      <p:sp>
        <p:nvSpPr>
          <p:cNvPr id="1487" name="Google Shape;1487;p89"/>
          <p:cNvSpPr/>
          <p:nvPr/>
        </p:nvSpPr>
        <p:spPr>
          <a:xfrm rot="8969687">
            <a:off x="6017724" y="1378680"/>
            <a:ext cx="1999343" cy="1797605"/>
          </a:xfrm>
          <a:prstGeom prst="rtTriangle">
            <a:avLst/>
          </a:prstGeom>
          <a:solidFill>
            <a:srgbClr val="F3EEFB"/>
          </a:solidFill>
          <a:ln cap="flat" cmpd="sng" w="28575">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88" name="Google Shape;1488;p89"/>
          <p:cNvSpPr/>
          <p:nvPr/>
        </p:nvSpPr>
        <p:spPr>
          <a:xfrm rot="8970112">
            <a:off x="7667236" y="1878117"/>
            <a:ext cx="1310515" cy="1310515"/>
          </a:xfrm>
          <a:prstGeom prst="arc">
            <a:avLst>
              <a:gd fmla="val 2465196" name="adj1"/>
              <a:gd fmla="val 5419468"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89" name="Google Shape;1489;p89"/>
          <p:cNvSpPr/>
          <p:nvPr/>
        </p:nvSpPr>
        <p:spPr>
          <a:xfrm rot="8970112">
            <a:off x="5066382" y="1349839"/>
            <a:ext cx="1310515" cy="1310515"/>
          </a:xfrm>
          <a:prstGeom prst="arc">
            <a:avLst>
              <a:gd fmla="val 10740252" name="adj1"/>
              <a:gd fmla="val 13367975" name="adj2"/>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0" name="Google Shape;1490;p89"/>
          <p:cNvSpPr txBox="1"/>
          <p:nvPr/>
        </p:nvSpPr>
        <p:spPr>
          <a:xfrm rot="3570847">
            <a:off x="7695605" y="1451260"/>
            <a:ext cx="814269" cy="323682"/>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30 cm</a:t>
            </a:r>
            <a:endParaRPr sz="1800">
              <a:latin typeface="Lexend"/>
              <a:ea typeface="Lexend"/>
              <a:cs typeface="Lexend"/>
              <a:sym typeface="Lexend"/>
            </a:endParaRPr>
          </a:p>
        </p:txBody>
      </p:sp>
      <p:sp>
        <p:nvSpPr>
          <p:cNvPr id="1491" name="Google Shape;1491;p89"/>
          <p:cNvSpPr txBox="1"/>
          <p:nvPr/>
        </p:nvSpPr>
        <p:spPr>
          <a:xfrm rot="691267">
            <a:off x="6657441" y="2414707"/>
            <a:ext cx="814103" cy="323653"/>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r</a:t>
            </a:r>
            <a:r>
              <a:rPr lang="en-GB" sz="1800">
                <a:latin typeface="Lexend"/>
                <a:ea typeface="Lexend"/>
                <a:cs typeface="Lexend"/>
                <a:sym typeface="Lexend"/>
              </a:rPr>
              <a:t> cm</a:t>
            </a:r>
            <a:endParaRPr sz="1800">
              <a:latin typeface="Lexend"/>
              <a:ea typeface="Lexend"/>
              <a:cs typeface="Lexend"/>
              <a:sym typeface="Lexend"/>
            </a:endParaRPr>
          </a:p>
        </p:txBody>
      </p:sp>
      <p:sp>
        <p:nvSpPr>
          <p:cNvPr id="1492" name="Google Shape;1492;p89"/>
          <p:cNvSpPr txBox="1"/>
          <p:nvPr/>
        </p:nvSpPr>
        <p:spPr>
          <a:xfrm rot="-1266">
            <a:off x="7554274" y="2185187"/>
            <a:ext cx="8145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46°</a:t>
            </a:r>
            <a:endParaRPr sz="1800">
              <a:latin typeface="Lexend"/>
              <a:ea typeface="Lexend"/>
              <a:cs typeface="Lexend"/>
              <a:sym typeface="Lexend"/>
            </a:endParaRPr>
          </a:p>
        </p:txBody>
      </p:sp>
      <p:sp>
        <p:nvSpPr>
          <p:cNvPr id="1493" name="Google Shape;1493;p89"/>
          <p:cNvSpPr txBox="1"/>
          <p:nvPr/>
        </p:nvSpPr>
        <p:spPr>
          <a:xfrm rot="-1266">
            <a:off x="5738058" y="1805968"/>
            <a:ext cx="814500" cy="32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44°</a:t>
            </a:r>
            <a:endParaRPr sz="1800">
              <a:latin typeface="Lexend"/>
              <a:ea typeface="Lexend"/>
              <a:cs typeface="Lexend"/>
              <a:sym typeface="Lexend"/>
            </a:endParaRPr>
          </a:p>
        </p:txBody>
      </p:sp>
      <p:sp>
        <p:nvSpPr>
          <p:cNvPr id="1494" name="Google Shape;1494;p89"/>
          <p:cNvSpPr txBox="1"/>
          <p:nvPr/>
        </p:nvSpPr>
        <p:spPr>
          <a:xfrm rot="-1828926">
            <a:off x="5903829" y="1062887"/>
            <a:ext cx="1052696" cy="323682"/>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31 cm</a:t>
            </a:r>
            <a:endParaRPr sz="1800">
              <a:latin typeface="Lexend"/>
              <a:ea typeface="Lexend"/>
              <a:cs typeface="Lexend"/>
              <a:sym typeface="Lexend"/>
            </a:endParaRPr>
          </a:p>
        </p:txBody>
      </p:sp>
      <p:sp>
        <p:nvSpPr>
          <p:cNvPr id="1495" name="Google Shape;1495;p89"/>
          <p:cNvSpPr/>
          <p:nvPr/>
        </p:nvSpPr>
        <p:spPr>
          <a:xfrm rot="8969687">
            <a:off x="6017762" y="1378680"/>
            <a:ext cx="1999343" cy="1797605"/>
          </a:xfrm>
          <a:prstGeom prst="rtTriangle">
            <a:avLst/>
          </a:prstGeom>
          <a:noFill/>
          <a:ln cap="flat" cmpd="sng" w="28575">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6" name="Google Shape;1496;p89"/>
          <p:cNvSpPr/>
          <p:nvPr/>
        </p:nvSpPr>
        <p:spPr>
          <a:xfrm>
            <a:off x="324000" y="657651"/>
            <a:ext cx="4529100" cy="612900"/>
          </a:xfrm>
          <a:prstGeom prst="rect">
            <a:avLst/>
          </a:prstGeom>
          <a:noFill/>
          <a:ln>
            <a:noFill/>
          </a:ln>
        </p:spPr>
        <p:txBody>
          <a:bodyPr anchorCtr="0" anchor="t" bIns="18000" lIns="0" spcFirstLastPara="1" rIns="0" wrap="square" tIns="18000">
            <a:noAutofit/>
          </a:bodyPr>
          <a:lstStyle/>
          <a:p>
            <a:pPr indent="0" lvl="0" marL="0" rtl="0" algn="l">
              <a:spcBef>
                <a:spcPts val="0"/>
              </a:spcBef>
              <a:spcAft>
                <a:spcPts val="0"/>
              </a:spcAft>
              <a:buNone/>
            </a:pPr>
            <a:r>
              <a:rPr lang="en-GB" sz="1800">
                <a:latin typeface="Lexend"/>
                <a:ea typeface="Lexend"/>
                <a:cs typeface="Lexend"/>
                <a:sym typeface="Lexend"/>
              </a:rPr>
              <a:t>Which side (a, b or c) is the </a:t>
            </a:r>
            <a:r>
              <a:rPr lang="en-GB" sz="1800">
                <a:latin typeface="Lexend"/>
                <a:ea typeface="Lexend"/>
                <a:cs typeface="Lexend"/>
                <a:sym typeface="Lexend"/>
              </a:rPr>
              <a:t>hypotenuse of this triangle?</a:t>
            </a:r>
            <a:endParaRPr sz="1800">
              <a:latin typeface="Lexend"/>
              <a:ea typeface="Lexend"/>
              <a:cs typeface="Lexend"/>
              <a:sym typeface="Lexend"/>
            </a:endParaRPr>
          </a:p>
        </p:txBody>
      </p:sp>
      <p:sp>
        <p:nvSpPr>
          <p:cNvPr id="1497" name="Google Shape;1497;p89"/>
          <p:cNvSpPr/>
          <p:nvPr/>
        </p:nvSpPr>
        <p:spPr>
          <a:xfrm>
            <a:off x="324000" y="1731426"/>
            <a:ext cx="4529100" cy="612900"/>
          </a:xfrm>
          <a:prstGeom prst="rect">
            <a:avLst/>
          </a:prstGeom>
          <a:noFill/>
          <a:ln>
            <a:noFill/>
          </a:ln>
        </p:spPr>
        <p:txBody>
          <a:bodyPr anchorCtr="0" anchor="t" bIns="18000" lIns="0" spcFirstLastPara="1" rIns="0" wrap="square" tIns="18000">
            <a:noAutofit/>
          </a:bodyPr>
          <a:lstStyle/>
          <a:p>
            <a:pPr indent="0" lvl="0" marL="0" rtl="0" algn="l">
              <a:spcBef>
                <a:spcPts val="0"/>
              </a:spcBef>
              <a:spcAft>
                <a:spcPts val="0"/>
              </a:spcAft>
              <a:buNone/>
            </a:pPr>
            <a:r>
              <a:rPr lang="en-GB" sz="1800">
                <a:latin typeface="Lexend"/>
                <a:ea typeface="Lexend"/>
                <a:cs typeface="Lexend"/>
                <a:sym typeface="Lexend"/>
              </a:rPr>
              <a:t>Which of these equations is correct for this triangle?</a:t>
            </a:r>
            <a:endParaRPr sz="1800">
              <a:latin typeface="Lexend"/>
              <a:ea typeface="Lexend"/>
              <a:cs typeface="Lexend"/>
              <a:sym typeface="Lexend"/>
            </a:endParaRPr>
          </a:p>
        </p:txBody>
      </p:sp>
      <p:pic>
        <p:nvPicPr>
          <p:cNvPr id="1498" name="Google Shape;1498;p89"/>
          <p:cNvPicPr preferRelativeResize="0"/>
          <p:nvPr/>
        </p:nvPicPr>
        <p:blipFill>
          <a:blip r:embed="rId3">
            <a:alphaModFix/>
          </a:blip>
          <a:stretch>
            <a:fillRect/>
          </a:stretch>
        </p:blipFill>
        <p:spPr>
          <a:xfrm>
            <a:off x="985646" y="2468388"/>
            <a:ext cx="274366" cy="274366"/>
          </a:xfrm>
          <a:prstGeom prst="rect">
            <a:avLst/>
          </a:prstGeom>
          <a:noFill/>
          <a:ln>
            <a:noFill/>
          </a:ln>
        </p:spPr>
      </p:pic>
      <p:sp>
        <p:nvSpPr>
          <p:cNvPr id="1499" name="Google Shape;1499;p89"/>
          <p:cNvSpPr txBox="1"/>
          <p:nvPr/>
        </p:nvSpPr>
        <p:spPr>
          <a:xfrm>
            <a:off x="1000416" y="2518984"/>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pic>
        <p:nvPicPr>
          <p:cNvPr id="1500" name="Google Shape;1500;p89"/>
          <p:cNvPicPr preferRelativeResize="0"/>
          <p:nvPr/>
        </p:nvPicPr>
        <p:blipFill>
          <a:blip r:embed="rId3">
            <a:alphaModFix/>
          </a:blip>
          <a:stretch>
            <a:fillRect/>
          </a:stretch>
        </p:blipFill>
        <p:spPr>
          <a:xfrm>
            <a:off x="985646" y="3071588"/>
            <a:ext cx="274366" cy="274366"/>
          </a:xfrm>
          <a:prstGeom prst="rect">
            <a:avLst/>
          </a:prstGeom>
          <a:noFill/>
          <a:ln>
            <a:noFill/>
          </a:ln>
        </p:spPr>
      </p:pic>
      <p:sp>
        <p:nvSpPr>
          <p:cNvPr id="1501" name="Google Shape;1501;p89"/>
          <p:cNvSpPr/>
          <p:nvPr/>
        </p:nvSpPr>
        <p:spPr>
          <a:xfrm>
            <a:off x="1260000" y="2434275"/>
            <a:ext cx="2160300" cy="3426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18000" lIns="0" spcFirstLastPara="1" rIns="0" wrap="square" tIns="18000">
            <a:noAutofit/>
          </a:bodyPr>
          <a:lstStyle/>
          <a:p>
            <a:pPr indent="0" lvl="0" marL="0" rtl="0" algn="ctr">
              <a:spcBef>
                <a:spcPts val="0"/>
              </a:spcBef>
              <a:spcAft>
                <a:spcPts val="0"/>
              </a:spcAft>
              <a:buNone/>
            </a:pPr>
            <a:r>
              <a:rPr lang="en-GB" sz="1800">
                <a:latin typeface="Lexend"/>
                <a:ea typeface="Lexend"/>
                <a:cs typeface="Lexend"/>
                <a:sym typeface="Lexend"/>
              </a:rPr>
              <a:t>31²  +  </a:t>
            </a:r>
            <a:r>
              <a:rPr lang="en-GB" sz="1800">
                <a:solidFill>
                  <a:schemeClr val="dk1"/>
                </a:solidFill>
                <a:latin typeface="Lexend"/>
                <a:ea typeface="Lexend"/>
                <a:cs typeface="Lexend"/>
                <a:sym typeface="Lexend"/>
              </a:rPr>
              <a:t>30²</a:t>
            </a:r>
            <a:r>
              <a:rPr lang="en-GB" sz="1800">
                <a:latin typeface="Lexend"/>
                <a:ea typeface="Lexend"/>
                <a:cs typeface="Lexend"/>
                <a:sym typeface="Lexend"/>
              </a:rPr>
              <a:t>  =  </a:t>
            </a:r>
            <a:r>
              <a:rPr i="1" lang="en-GB" sz="2200">
                <a:solidFill>
                  <a:schemeClr val="dk1"/>
                </a:solidFill>
                <a:latin typeface="Times New Roman"/>
                <a:ea typeface="Times New Roman"/>
                <a:cs typeface="Times New Roman"/>
                <a:sym typeface="Times New Roman"/>
              </a:rPr>
              <a:t>r</a:t>
            </a:r>
            <a:r>
              <a:rPr lang="en-GB" sz="1800">
                <a:solidFill>
                  <a:schemeClr val="dk1"/>
                </a:solidFill>
                <a:latin typeface="Lexend"/>
                <a:ea typeface="Lexend"/>
                <a:cs typeface="Lexend"/>
                <a:sym typeface="Lexend"/>
              </a:rPr>
              <a:t>²</a:t>
            </a:r>
            <a:endParaRPr sz="1800">
              <a:latin typeface="Lexend"/>
              <a:ea typeface="Lexend"/>
              <a:cs typeface="Lexend"/>
              <a:sym typeface="Lexend"/>
            </a:endParaRPr>
          </a:p>
        </p:txBody>
      </p:sp>
      <p:sp>
        <p:nvSpPr>
          <p:cNvPr id="1502" name="Google Shape;1502;p89"/>
          <p:cNvSpPr txBox="1"/>
          <p:nvPr/>
        </p:nvSpPr>
        <p:spPr>
          <a:xfrm>
            <a:off x="1000416" y="3122184"/>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pic>
        <p:nvPicPr>
          <p:cNvPr id="1503" name="Google Shape;1503;p89"/>
          <p:cNvPicPr preferRelativeResize="0"/>
          <p:nvPr/>
        </p:nvPicPr>
        <p:blipFill>
          <a:blip r:embed="rId3">
            <a:alphaModFix/>
          </a:blip>
          <a:stretch>
            <a:fillRect/>
          </a:stretch>
        </p:blipFill>
        <p:spPr>
          <a:xfrm>
            <a:off x="985646" y="3674788"/>
            <a:ext cx="274366" cy="274366"/>
          </a:xfrm>
          <a:prstGeom prst="rect">
            <a:avLst/>
          </a:prstGeom>
          <a:noFill/>
          <a:ln>
            <a:noFill/>
          </a:ln>
        </p:spPr>
      </p:pic>
      <p:sp>
        <p:nvSpPr>
          <p:cNvPr id="1504" name="Google Shape;1504;p89"/>
          <p:cNvSpPr txBox="1"/>
          <p:nvPr/>
        </p:nvSpPr>
        <p:spPr>
          <a:xfrm>
            <a:off x="1000416" y="3725384"/>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f</a:t>
            </a:r>
            <a:endParaRPr b="1" sz="1800">
              <a:solidFill>
                <a:srgbClr val="FFFFFF"/>
              </a:solidFill>
              <a:latin typeface="Lexend"/>
              <a:ea typeface="Lexend"/>
              <a:cs typeface="Lexend"/>
              <a:sym typeface="Lexend"/>
            </a:endParaRPr>
          </a:p>
        </p:txBody>
      </p:sp>
      <p:sp>
        <p:nvSpPr>
          <p:cNvPr id="1505" name="Google Shape;1505;p89"/>
          <p:cNvSpPr/>
          <p:nvPr/>
        </p:nvSpPr>
        <p:spPr>
          <a:xfrm>
            <a:off x="1260000" y="3640675"/>
            <a:ext cx="2160300" cy="3426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18000" lIns="0" spcFirstLastPara="1" rIns="0" wrap="square" tIns="18000">
            <a:noAutofit/>
          </a:bodyPr>
          <a:lstStyle/>
          <a:p>
            <a:pPr indent="0" lvl="0" marL="0" rtl="0" algn="ctr">
              <a:spcBef>
                <a:spcPts val="0"/>
              </a:spcBef>
              <a:spcAft>
                <a:spcPts val="0"/>
              </a:spcAft>
              <a:buNone/>
            </a:pPr>
            <a:r>
              <a:rPr i="1" lang="en-GB" sz="2200">
                <a:solidFill>
                  <a:schemeClr val="dk1"/>
                </a:solidFill>
                <a:latin typeface="Times New Roman"/>
                <a:ea typeface="Times New Roman"/>
                <a:cs typeface="Times New Roman"/>
                <a:sym typeface="Times New Roman"/>
              </a:rPr>
              <a:t>r</a:t>
            </a:r>
            <a:r>
              <a:rPr lang="en-GB" sz="1800">
                <a:solidFill>
                  <a:schemeClr val="dk1"/>
                </a:solidFill>
                <a:latin typeface="Lexend"/>
                <a:ea typeface="Lexend"/>
                <a:cs typeface="Lexend"/>
                <a:sym typeface="Lexend"/>
              </a:rPr>
              <a:t>²  =  31²  +  30²</a:t>
            </a:r>
            <a:endParaRPr i="1" sz="2200">
              <a:solidFill>
                <a:schemeClr val="dk1"/>
              </a:solidFill>
              <a:latin typeface="Times New Roman"/>
              <a:ea typeface="Times New Roman"/>
              <a:cs typeface="Times New Roman"/>
              <a:sym typeface="Times New Roman"/>
            </a:endParaRPr>
          </a:p>
        </p:txBody>
      </p:sp>
      <p:sp>
        <p:nvSpPr>
          <p:cNvPr id="1506" name="Google Shape;1506;p89"/>
          <p:cNvSpPr/>
          <p:nvPr/>
        </p:nvSpPr>
        <p:spPr>
          <a:xfrm>
            <a:off x="1260000" y="3037475"/>
            <a:ext cx="2160300" cy="3426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18000" lIns="0" spcFirstLastPara="1" rIns="0" wrap="square" tIns="18000">
            <a:noAutofit/>
          </a:bodyPr>
          <a:lstStyle/>
          <a:p>
            <a:pPr indent="0" lvl="0" marL="0" rtl="0" algn="ctr">
              <a:spcBef>
                <a:spcPts val="0"/>
              </a:spcBef>
              <a:spcAft>
                <a:spcPts val="0"/>
              </a:spcAft>
              <a:buNone/>
            </a:pPr>
            <a:r>
              <a:rPr i="1" lang="en-GB" sz="2200">
                <a:solidFill>
                  <a:schemeClr val="dk1"/>
                </a:solidFill>
                <a:latin typeface="Times New Roman"/>
                <a:ea typeface="Times New Roman"/>
                <a:cs typeface="Times New Roman"/>
                <a:sym typeface="Times New Roman"/>
              </a:rPr>
              <a:t>r</a:t>
            </a:r>
            <a:r>
              <a:rPr lang="en-GB" sz="1800">
                <a:solidFill>
                  <a:schemeClr val="dk1"/>
                </a:solidFill>
                <a:latin typeface="Lexend"/>
                <a:ea typeface="Lexend"/>
                <a:cs typeface="Lexend"/>
                <a:sym typeface="Lexend"/>
              </a:rPr>
              <a:t>²  +  31²  =  30²</a:t>
            </a:r>
            <a:endParaRPr sz="1800">
              <a:solidFill>
                <a:schemeClr val="dk1"/>
              </a:solidFill>
              <a:latin typeface="Lexend"/>
              <a:ea typeface="Lexend"/>
              <a:cs typeface="Lexend"/>
              <a:sym typeface="Lexend"/>
            </a:endParaRPr>
          </a:p>
        </p:txBody>
      </p:sp>
      <p:pic>
        <p:nvPicPr>
          <p:cNvPr id="1507" name="Google Shape;1507;p89"/>
          <p:cNvPicPr preferRelativeResize="0"/>
          <p:nvPr/>
        </p:nvPicPr>
        <p:blipFill>
          <a:blip r:embed="rId3">
            <a:alphaModFix/>
          </a:blip>
          <a:stretch>
            <a:fillRect/>
          </a:stretch>
        </p:blipFill>
        <p:spPr>
          <a:xfrm>
            <a:off x="985646" y="4277988"/>
            <a:ext cx="274366" cy="274366"/>
          </a:xfrm>
          <a:prstGeom prst="rect">
            <a:avLst/>
          </a:prstGeom>
          <a:noFill/>
          <a:ln>
            <a:noFill/>
          </a:ln>
        </p:spPr>
      </p:pic>
      <p:sp>
        <p:nvSpPr>
          <p:cNvPr id="1508" name="Google Shape;1508;p89"/>
          <p:cNvSpPr/>
          <p:nvPr/>
        </p:nvSpPr>
        <p:spPr>
          <a:xfrm>
            <a:off x="1260000" y="4243875"/>
            <a:ext cx="2160300" cy="3426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18000" lIns="0" spcFirstLastPara="1" rIns="0" wrap="square" tIns="1800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31²  =  30²  +  </a:t>
            </a:r>
            <a:r>
              <a:rPr i="1" lang="en-GB" sz="2200">
                <a:solidFill>
                  <a:schemeClr val="dk1"/>
                </a:solidFill>
                <a:latin typeface="Times New Roman"/>
                <a:ea typeface="Times New Roman"/>
                <a:cs typeface="Times New Roman"/>
                <a:sym typeface="Times New Roman"/>
              </a:rPr>
              <a:t>r</a:t>
            </a:r>
            <a:r>
              <a:rPr lang="en-GB" sz="1800">
                <a:solidFill>
                  <a:schemeClr val="dk1"/>
                </a:solidFill>
                <a:latin typeface="Lexend"/>
                <a:ea typeface="Lexend"/>
                <a:cs typeface="Lexend"/>
                <a:sym typeface="Lexend"/>
              </a:rPr>
              <a:t>²</a:t>
            </a:r>
            <a:endParaRPr sz="1800">
              <a:solidFill>
                <a:schemeClr val="dk1"/>
              </a:solidFill>
              <a:latin typeface="Lexend"/>
              <a:ea typeface="Lexend"/>
              <a:cs typeface="Lexend"/>
              <a:sym typeface="Lexend"/>
            </a:endParaRPr>
          </a:p>
        </p:txBody>
      </p:sp>
      <p:sp>
        <p:nvSpPr>
          <p:cNvPr id="1509" name="Google Shape;1509;p89"/>
          <p:cNvSpPr txBox="1"/>
          <p:nvPr/>
        </p:nvSpPr>
        <p:spPr>
          <a:xfrm>
            <a:off x="1000416" y="4328584"/>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g</a:t>
            </a:r>
            <a:endParaRPr b="1" sz="1800">
              <a:solidFill>
                <a:srgbClr val="FFFFFF"/>
              </a:solidFill>
              <a:latin typeface="Lexend"/>
              <a:ea typeface="Lexend"/>
              <a:cs typeface="Lexend"/>
              <a:sym typeface="Lexend"/>
            </a:endParaRPr>
          </a:p>
        </p:txBody>
      </p:sp>
      <p:pic>
        <p:nvPicPr>
          <p:cNvPr id="1510" name="Google Shape;1510;p89"/>
          <p:cNvPicPr preferRelativeResize="0"/>
          <p:nvPr/>
        </p:nvPicPr>
        <p:blipFill>
          <a:blip r:embed="rId4">
            <a:alphaModFix/>
          </a:blip>
          <a:stretch>
            <a:fillRect/>
          </a:stretch>
        </p:blipFill>
        <p:spPr>
          <a:xfrm>
            <a:off x="604421" y="2400025"/>
            <a:ext cx="396000" cy="419100"/>
          </a:xfrm>
          <a:prstGeom prst="rect">
            <a:avLst/>
          </a:prstGeom>
          <a:noFill/>
          <a:ln>
            <a:noFill/>
          </a:ln>
        </p:spPr>
      </p:pic>
      <p:pic>
        <p:nvPicPr>
          <p:cNvPr id="1511" name="Google Shape;1511;p89"/>
          <p:cNvPicPr preferRelativeResize="0"/>
          <p:nvPr/>
        </p:nvPicPr>
        <p:blipFill>
          <a:blip r:embed="rId4">
            <a:alphaModFix/>
          </a:blip>
          <a:stretch>
            <a:fillRect/>
          </a:stretch>
        </p:blipFill>
        <p:spPr>
          <a:xfrm>
            <a:off x="604421" y="3602425"/>
            <a:ext cx="396000" cy="419100"/>
          </a:xfrm>
          <a:prstGeom prst="rect">
            <a:avLst/>
          </a:prstGeom>
          <a:noFill/>
          <a:ln>
            <a:noFill/>
          </a:ln>
        </p:spPr>
      </p:pic>
      <p:sp>
        <p:nvSpPr>
          <p:cNvPr id="1512" name="Google Shape;1512;p89"/>
          <p:cNvSpPr/>
          <p:nvPr/>
        </p:nvSpPr>
        <p:spPr>
          <a:xfrm>
            <a:off x="4367900" y="3119325"/>
            <a:ext cx="4234500" cy="612900"/>
          </a:xfrm>
          <a:prstGeom prst="rect">
            <a:avLst/>
          </a:prstGeom>
          <a:noFill/>
          <a:ln>
            <a:noFill/>
          </a:ln>
        </p:spPr>
        <p:txBody>
          <a:bodyPr anchorCtr="0" anchor="t" bIns="18000" lIns="0" spcFirstLastPara="1" rIns="0" wrap="square" tIns="18000">
            <a:noAutofit/>
          </a:bodyPr>
          <a:lstStyle/>
          <a:p>
            <a:pPr indent="0" lvl="0" marL="0" rtl="0" algn="l">
              <a:spcBef>
                <a:spcPts val="0"/>
              </a:spcBef>
              <a:spcAft>
                <a:spcPts val="0"/>
              </a:spcAft>
              <a:buNone/>
            </a:pPr>
            <a:r>
              <a:rPr lang="en-GB" sz="1800">
                <a:latin typeface="Lexend"/>
                <a:ea typeface="Lexend"/>
                <a:cs typeface="Lexend"/>
                <a:sym typeface="Lexend"/>
              </a:rPr>
              <a:t>Hence, calculate the length of the hypotenuse of this triangle, rounded to 1 decimal place.</a:t>
            </a:r>
            <a:endParaRPr sz="1800">
              <a:latin typeface="Lexend"/>
              <a:ea typeface="Lexend"/>
              <a:cs typeface="Lexend"/>
              <a:sym typeface="Lexend"/>
            </a:endParaRPr>
          </a:p>
        </p:txBody>
      </p:sp>
      <p:sp>
        <p:nvSpPr>
          <p:cNvPr id="1513" name="Google Shape;1513;p89"/>
          <p:cNvSpPr/>
          <p:nvPr/>
        </p:nvSpPr>
        <p:spPr>
          <a:xfrm>
            <a:off x="5421625" y="3941450"/>
            <a:ext cx="2296500" cy="385200"/>
          </a:xfrm>
          <a:prstGeom prst="rect">
            <a:avLst/>
          </a:prstGeom>
          <a:noFill/>
          <a:ln>
            <a:noFill/>
          </a:ln>
        </p:spPr>
        <p:txBody>
          <a:bodyPr anchorCtr="0" anchor="t" bIns="18000" lIns="0" spcFirstLastPara="1" rIns="0" wrap="square" tIns="18000">
            <a:noAutofit/>
          </a:bodyPr>
          <a:lstStyle/>
          <a:p>
            <a:pPr indent="0" lvl="0" marL="0" rtl="0" algn="ctr">
              <a:spcBef>
                <a:spcPts val="0"/>
              </a:spcBef>
              <a:spcAft>
                <a:spcPts val="0"/>
              </a:spcAft>
              <a:buNone/>
            </a:pPr>
            <a:r>
              <a:rPr lang="en-GB" sz="2000">
                <a:solidFill>
                  <a:schemeClr val="dk1"/>
                </a:solidFill>
                <a:latin typeface="Kalam"/>
                <a:ea typeface="Kalam"/>
                <a:cs typeface="Kalam"/>
                <a:sym typeface="Kalam"/>
              </a:rPr>
              <a:t>r²  =  1861</a:t>
            </a:r>
            <a:endParaRPr sz="2000">
              <a:latin typeface="Kalam"/>
              <a:ea typeface="Kalam"/>
              <a:cs typeface="Kalam"/>
              <a:sym typeface="Kalam"/>
            </a:endParaRPr>
          </a:p>
        </p:txBody>
      </p:sp>
      <p:grpSp>
        <p:nvGrpSpPr>
          <p:cNvPr id="1514" name="Google Shape;1514;p89"/>
          <p:cNvGrpSpPr/>
          <p:nvPr/>
        </p:nvGrpSpPr>
        <p:grpSpPr>
          <a:xfrm>
            <a:off x="6158721" y="866413"/>
            <a:ext cx="274366" cy="274366"/>
            <a:chOff x="4252071" y="4683213"/>
            <a:chExt cx="274366" cy="274366"/>
          </a:xfrm>
        </p:grpSpPr>
        <p:pic>
          <p:nvPicPr>
            <p:cNvPr id="1515" name="Google Shape;1515;p89"/>
            <p:cNvPicPr preferRelativeResize="0"/>
            <p:nvPr/>
          </p:nvPicPr>
          <p:blipFill>
            <a:blip r:embed="rId3">
              <a:alphaModFix/>
            </a:blip>
            <a:stretch>
              <a:fillRect/>
            </a:stretch>
          </p:blipFill>
          <p:spPr>
            <a:xfrm>
              <a:off x="4252071" y="4683213"/>
              <a:ext cx="274366" cy="274366"/>
            </a:xfrm>
            <a:prstGeom prst="rect">
              <a:avLst/>
            </a:prstGeom>
            <a:noFill/>
            <a:ln>
              <a:noFill/>
            </a:ln>
          </p:spPr>
        </p:pic>
        <p:sp>
          <p:nvSpPr>
            <p:cNvPr id="1516" name="Google Shape;1516;p89"/>
            <p:cNvSpPr txBox="1"/>
            <p:nvPr/>
          </p:nvSpPr>
          <p:spPr>
            <a:xfrm>
              <a:off x="4266841" y="4733809"/>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517" name="Google Shape;1517;p89"/>
          <p:cNvGrpSpPr/>
          <p:nvPr/>
        </p:nvGrpSpPr>
        <p:grpSpPr>
          <a:xfrm>
            <a:off x="8185321" y="1300363"/>
            <a:ext cx="274366" cy="274366"/>
            <a:chOff x="4252071" y="4683213"/>
            <a:chExt cx="274366" cy="274366"/>
          </a:xfrm>
        </p:grpSpPr>
        <p:pic>
          <p:nvPicPr>
            <p:cNvPr id="1518" name="Google Shape;1518;p89"/>
            <p:cNvPicPr preferRelativeResize="0"/>
            <p:nvPr/>
          </p:nvPicPr>
          <p:blipFill>
            <a:blip r:embed="rId3">
              <a:alphaModFix/>
            </a:blip>
            <a:stretch>
              <a:fillRect/>
            </a:stretch>
          </p:blipFill>
          <p:spPr>
            <a:xfrm>
              <a:off x="4252071" y="4683213"/>
              <a:ext cx="274366" cy="274366"/>
            </a:xfrm>
            <a:prstGeom prst="rect">
              <a:avLst/>
            </a:prstGeom>
            <a:noFill/>
            <a:ln>
              <a:noFill/>
            </a:ln>
          </p:spPr>
        </p:pic>
        <p:sp>
          <p:nvSpPr>
            <p:cNvPr id="1519" name="Google Shape;1519;p89"/>
            <p:cNvSpPr txBox="1"/>
            <p:nvPr/>
          </p:nvSpPr>
          <p:spPr>
            <a:xfrm>
              <a:off x="4266841" y="4733809"/>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520" name="Google Shape;1520;p89"/>
          <p:cNvGrpSpPr/>
          <p:nvPr/>
        </p:nvGrpSpPr>
        <p:grpSpPr>
          <a:xfrm>
            <a:off x="6884896" y="2742738"/>
            <a:ext cx="274366" cy="274366"/>
            <a:chOff x="4252071" y="4683213"/>
            <a:chExt cx="274366" cy="274366"/>
          </a:xfrm>
        </p:grpSpPr>
        <p:pic>
          <p:nvPicPr>
            <p:cNvPr id="1521" name="Google Shape;1521;p89"/>
            <p:cNvPicPr preferRelativeResize="0"/>
            <p:nvPr/>
          </p:nvPicPr>
          <p:blipFill>
            <a:blip r:embed="rId3">
              <a:alphaModFix/>
            </a:blip>
            <a:stretch>
              <a:fillRect/>
            </a:stretch>
          </p:blipFill>
          <p:spPr>
            <a:xfrm>
              <a:off x="4252071" y="4683213"/>
              <a:ext cx="274366" cy="274366"/>
            </a:xfrm>
            <a:prstGeom prst="rect">
              <a:avLst/>
            </a:prstGeom>
            <a:noFill/>
            <a:ln>
              <a:noFill/>
            </a:ln>
          </p:spPr>
        </p:pic>
        <p:sp>
          <p:nvSpPr>
            <p:cNvPr id="1522" name="Google Shape;1522;p89"/>
            <p:cNvSpPr txBox="1"/>
            <p:nvPr/>
          </p:nvSpPr>
          <p:spPr>
            <a:xfrm>
              <a:off x="4266841" y="4733809"/>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1523" name="Google Shape;1523;p89"/>
          <p:cNvSpPr/>
          <p:nvPr/>
        </p:nvSpPr>
        <p:spPr>
          <a:xfrm>
            <a:off x="1230350" y="1256275"/>
            <a:ext cx="1033800" cy="385200"/>
          </a:xfrm>
          <a:prstGeom prst="rect">
            <a:avLst/>
          </a:prstGeom>
          <a:noFill/>
          <a:ln>
            <a:noFill/>
          </a:ln>
        </p:spPr>
        <p:txBody>
          <a:bodyPr anchorCtr="0" anchor="t" bIns="18000" lIns="0" spcFirstLastPara="1" rIns="0" wrap="square" tIns="18000">
            <a:noAutofit/>
          </a:bodyPr>
          <a:lstStyle/>
          <a:p>
            <a:pPr indent="0" lvl="0" marL="0" rtl="0" algn="ctr">
              <a:spcBef>
                <a:spcPts val="0"/>
              </a:spcBef>
              <a:spcAft>
                <a:spcPts val="0"/>
              </a:spcAft>
              <a:buNone/>
            </a:pPr>
            <a:r>
              <a:rPr lang="en-GB" sz="2000">
                <a:solidFill>
                  <a:schemeClr val="dk1"/>
                </a:solidFill>
                <a:latin typeface="Kalam"/>
                <a:ea typeface="Kalam"/>
                <a:cs typeface="Kalam"/>
                <a:sym typeface="Kalam"/>
              </a:rPr>
              <a:t>c</a:t>
            </a:r>
            <a:endParaRPr sz="2000">
              <a:latin typeface="Kalam"/>
              <a:ea typeface="Kalam"/>
              <a:cs typeface="Kalam"/>
              <a:sym typeface="Kalam"/>
            </a:endParaRPr>
          </a:p>
        </p:txBody>
      </p:sp>
      <p:cxnSp>
        <p:nvCxnSpPr>
          <p:cNvPr id="1524" name="Google Shape;1524;p89"/>
          <p:cNvCxnSpPr/>
          <p:nvPr/>
        </p:nvCxnSpPr>
        <p:spPr>
          <a:xfrm>
            <a:off x="7533050" y="966200"/>
            <a:ext cx="873900" cy="1519200"/>
          </a:xfrm>
          <a:prstGeom prst="straightConnector1">
            <a:avLst/>
          </a:prstGeom>
          <a:noFill/>
          <a:ln cap="flat" cmpd="sng" w="28575">
            <a:solidFill>
              <a:schemeClr val="accent4"/>
            </a:solidFill>
            <a:prstDash val="solid"/>
            <a:round/>
            <a:headEnd len="med" w="med" type="triangle"/>
            <a:tailEnd len="med" w="med" type="triangle"/>
          </a:ln>
        </p:spPr>
      </p:cxnSp>
      <p:cxnSp>
        <p:nvCxnSpPr>
          <p:cNvPr id="1525" name="Google Shape;1525;p89"/>
          <p:cNvCxnSpPr/>
          <p:nvPr/>
        </p:nvCxnSpPr>
        <p:spPr>
          <a:xfrm>
            <a:off x="5680025" y="2129825"/>
            <a:ext cx="2574900" cy="528900"/>
          </a:xfrm>
          <a:prstGeom prst="straightConnector1">
            <a:avLst/>
          </a:prstGeom>
          <a:noFill/>
          <a:ln cap="flat" cmpd="sng" w="28575">
            <a:solidFill>
              <a:schemeClr val="accent4"/>
            </a:solidFill>
            <a:prstDash val="solid"/>
            <a:round/>
            <a:headEnd len="med" w="med" type="triangle"/>
            <a:tailEnd len="med" w="med" type="triangle"/>
          </a:ln>
        </p:spPr>
      </p:cxnSp>
      <p:cxnSp>
        <p:nvCxnSpPr>
          <p:cNvPr id="1526" name="Google Shape;1526;p89"/>
          <p:cNvCxnSpPr/>
          <p:nvPr/>
        </p:nvCxnSpPr>
        <p:spPr>
          <a:xfrm flipH="1" rot="10800000">
            <a:off x="5689150" y="936400"/>
            <a:ext cx="1606500" cy="942600"/>
          </a:xfrm>
          <a:prstGeom prst="straightConnector1">
            <a:avLst/>
          </a:prstGeom>
          <a:noFill/>
          <a:ln cap="flat" cmpd="sng" w="28575">
            <a:solidFill>
              <a:schemeClr val="accent4"/>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0" name="Shape 1530"/>
        <p:cNvGrpSpPr/>
        <p:nvPr/>
      </p:nvGrpSpPr>
      <p:grpSpPr>
        <a:xfrm>
          <a:off x="0" y="0"/>
          <a:ext cx="0" cy="0"/>
          <a:chOff x="0" y="0"/>
          <a:chExt cx="0" cy="0"/>
        </a:xfrm>
      </p:grpSpPr>
      <p:sp>
        <p:nvSpPr>
          <p:cNvPr id="1531" name="Google Shape;1531;p90"/>
          <p:cNvSpPr txBox="1"/>
          <p:nvPr/>
        </p:nvSpPr>
        <p:spPr>
          <a:xfrm flipH="1" rot="2558">
            <a:off x="324324" y="636319"/>
            <a:ext cx="5241601" cy="1939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Pythagoras’ theorem can be used multiple times on composite shapes made from right-angled triangles.</a:t>
            </a:r>
            <a:endParaRPr sz="1800">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We use Pythagoras’ theorem in order to calculate a side that is shared by multiple right-angled triangles.</a:t>
            </a:r>
            <a:endParaRPr sz="1800">
              <a:latin typeface="Lexend"/>
              <a:ea typeface="Lexend"/>
              <a:cs typeface="Lexend"/>
              <a:sym typeface="Lexend"/>
            </a:endParaRPr>
          </a:p>
        </p:txBody>
      </p:sp>
      <p:sp>
        <p:nvSpPr>
          <p:cNvPr id="1532" name="Google Shape;1532;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the length of missing sides</a:t>
            </a:r>
            <a:endParaRPr/>
          </a:p>
        </p:txBody>
      </p:sp>
      <p:pic>
        <p:nvPicPr>
          <p:cNvPr id="1533" name="Google Shape;1533;p90"/>
          <p:cNvPicPr preferRelativeResize="0"/>
          <p:nvPr/>
        </p:nvPicPr>
        <p:blipFill>
          <a:blip r:embed="rId3">
            <a:alphaModFix/>
          </a:blip>
          <a:stretch>
            <a:fillRect/>
          </a:stretch>
        </p:blipFill>
        <p:spPr>
          <a:xfrm>
            <a:off x="6256801" y="878548"/>
            <a:ext cx="2177150" cy="3093525"/>
          </a:xfrm>
          <a:prstGeom prst="rect">
            <a:avLst/>
          </a:prstGeom>
          <a:noFill/>
          <a:ln>
            <a:noFill/>
          </a:ln>
        </p:spPr>
      </p:pic>
      <p:cxnSp>
        <p:nvCxnSpPr>
          <p:cNvPr id="1534" name="Google Shape;1534;p90"/>
          <p:cNvCxnSpPr/>
          <p:nvPr/>
        </p:nvCxnSpPr>
        <p:spPr>
          <a:xfrm>
            <a:off x="7553775" y="908425"/>
            <a:ext cx="941400" cy="2968500"/>
          </a:xfrm>
          <a:prstGeom prst="straightConnector1">
            <a:avLst/>
          </a:prstGeom>
          <a:noFill/>
          <a:ln cap="flat" cmpd="sng" w="28575">
            <a:solidFill>
              <a:srgbClr val="845AD9"/>
            </a:solidFill>
            <a:prstDash val="solid"/>
            <a:round/>
            <a:headEnd len="med" w="med" type="triangle"/>
            <a:tailEnd len="med" w="med" type="triangle"/>
          </a:ln>
        </p:spPr>
      </p:cxnSp>
      <p:cxnSp>
        <p:nvCxnSpPr>
          <p:cNvPr id="1535" name="Google Shape;1535;p90"/>
          <p:cNvCxnSpPr/>
          <p:nvPr/>
        </p:nvCxnSpPr>
        <p:spPr>
          <a:xfrm flipH="1">
            <a:off x="6183275" y="878550"/>
            <a:ext cx="1081800" cy="1413300"/>
          </a:xfrm>
          <a:prstGeom prst="straightConnector1">
            <a:avLst/>
          </a:prstGeom>
          <a:noFill/>
          <a:ln cap="flat" cmpd="sng" w="28575">
            <a:solidFill>
              <a:srgbClr val="845AD9"/>
            </a:solidFill>
            <a:prstDash val="solid"/>
            <a:round/>
            <a:headEnd len="med" w="med" type="triangle"/>
            <a:tailEnd len="med" w="med" type="triangle"/>
          </a:ln>
        </p:spPr>
      </p:cxnSp>
      <p:cxnSp>
        <p:nvCxnSpPr>
          <p:cNvPr id="1536" name="Google Shape;1536;p90"/>
          <p:cNvCxnSpPr/>
          <p:nvPr/>
        </p:nvCxnSpPr>
        <p:spPr>
          <a:xfrm>
            <a:off x="6183275" y="2368725"/>
            <a:ext cx="0" cy="1546500"/>
          </a:xfrm>
          <a:prstGeom prst="straightConnector1">
            <a:avLst/>
          </a:prstGeom>
          <a:noFill/>
          <a:ln cap="flat" cmpd="sng" w="28575">
            <a:solidFill>
              <a:srgbClr val="845AD9"/>
            </a:solidFill>
            <a:prstDash val="solid"/>
            <a:round/>
            <a:headEnd len="med" w="med" type="triangle"/>
            <a:tailEnd len="med" w="med" type="triangle"/>
          </a:ln>
        </p:spPr>
      </p:cxnSp>
      <p:sp>
        <p:nvSpPr>
          <p:cNvPr id="1537" name="Google Shape;1537;p90"/>
          <p:cNvSpPr txBox="1"/>
          <p:nvPr/>
        </p:nvSpPr>
        <p:spPr>
          <a:xfrm flipH="1" rot="3287">
            <a:off x="8068566" y="2167283"/>
            <a:ext cx="94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26 cm</a:t>
            </a:r>
            <a:endParaRPr sz="1800">
              <a:latin typeface="Lexend"/>
              <a:ea typeface="Lexend"/>
              <a:cs typeface="Lexend"/>
              <a:sym typeface="Lexend"/>
            </a:endParaRPr>
          </a:p>
        </p:txBody>
      </p:sp>
      <p:sp>
        <p:nvSpPr>
          <p:cNvPr id="1538" name="Google Shape;1538;p90"/>
          <p:cNvSpPr txBox="1"/>
          <p:nvPr/>
        </p:nvSpPr>
        <p:spPr>
          <a:xfrm flipH="1" rot="2924">
            <a:off x="5984770" y="1398695"/>
            <a:ext cx="705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15 cm</a:t>
            </a:r>
            <a:endParaRPr sz="1800">
              <a:latin typeface="Lexend"/>
              <a:ea typeface="Lexend"/>
              <a:cs typeface="Lexend"/>
              <a:sym typeface="Lexend"/>
            </a:endParaRPr>
          </a:p>
        </p:txBody>
      </p:sp>
      <p:sp>
        <p:nvSpPr>
          <p:cNvPr id="1539" name="Google Shape;1539;p90"/>
          <p:cNvSpPr txBox="1"/>
          <p:nvPr/>
        </p:nvSpPr>
        <p:spPr>
          <a:xfrm flipH="1" rot="2924">
            <a:off x="5476811" y="3003370"/>
            <a:ext cx="705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13 cm</a:t>
            </a:r>
            <a:endParaRPr sz="1800">
              <a:latin typeface="Lexend"/>
              <a:ea typeface="Lexend"/>
              <a:cs typeface="Lexend"/>
              <a:sym typeface="Lexend"/>
            </a:endParaRPr>
          </a:p>
        </p:txBody>
      </p:sp>
      <p:sp>
        <p:nvSpPr>
          <p:cNvPr id="1540" name="Google Shape;1540;p90"/>
          <p:cNvSpPr txBox="1"/>
          <p:nvPr/>
        </p:nvSpPr>
        <p:spPr>
          <a:xfrm flipH="1" rot="3157">
            <a:off x="6829450" y="3341324"/>
            <a:ext cx="3267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541" name="Google Shape;1541;p90"/>
          <p:cNvSpPr txBox="1"/>
          <p:nvPr/>
        </p:nvSpPr>
        <p:spPr>
          <a:xfrm flipH="1" rot="3157">
            <a:off x="7132500" y="2217174"/>
            <a:ext cx="3267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B</a:t>
            </a:r>
            <a:endParaRPr sz="1800">
              <a:latin typeface="Lexend"/>
              <a:ea typeface="Lexend"/>
              <a:cs typeface="Lexend"/>
              <a:sym typeface="Lexend"/>
            </a:endParaRPr>
          </a:p>
        </p:txBody>
      </p:sp>
      <p:pic>
        <p:nvPicPr>
          <p:cNvPr id="1542" name="Google Shape;1542;p90"/>
          <p:cNvPicPr preferRelativeResize="0"/>
          <p:nvPr/>
        </p:nvPicPr>
        <p:blipFill>
          <a:blip r:embed="rId4">
            <a:alphaModFix/>
          </a:blip>
          <a:stretch>
            <a:fillRect/>
          </a:stretch>
        </p:blipFill>
        <p:spPr>
          <a:xfrm>
            <a:off x="488151" y="3746358"/>
            <a:ext cx="652400" cy="732325"/>
          </a:xfrm>
          <a:prstGeom prst="rect">
            <a:avLst/>
          </a:prstGeom>
          <a:noFill/>
          <a:ln>
            <a:noFill/>
          </a:ln>
        </p:spPr>
      </p:pic>
      <p:sp>
        <p:nvSpPr>
          <p:cNvPr id="1543" name="Google Shape;1543;p90"/>
          <p:cNvSpPr txBox="1"/>
          <p:nvPr/>
        </p:nvSpPr>
        <p:spPr>
          <a:xfrm>
            <a:off x="371688" y="4409335"/>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sz="1800">
              <a:latin typeface="Lexend"/>
              <a:ea typeface="Lexend"/>
              <a:cs typeface="Lexend"/>
              <a:sym typeface="Lexend"/>
            </a:endParaRPr>
          </a:p>
        </p:txBody>
      </p:sp>
      <p:grpSp>
        <p:nvGrpSpPr>
          <p:cNvPr id="1544" name="Google Shape;1544;p90"/>
          <p:cNvGrpSpPr/>
          <p:nvPr/>
        </p:nvGrpSpPr>
        <p:grpSpPr>
          <a:xfrm>
            <a:off x="943361" y="2736310"/>
            <a:ext cx="4064345" cy="1544012"/>
            <a:chOff x="946904" y="3080950"/>
            <a:chExt cx="3727048" cy="1415876"/>
          </a:xfrm>
        </p:grpSpPr>
        <p:pic>
          <p:nvPicPr>
            <p:cNvPr id="1545" name="Google Shape;1545;p90"/>
            <p:cNvPicPr preferRelativeResize="0"/>
            <p:nvPr/>
          </p:nvPicPr>
          <p:blipFill rotWithShape="1">
            <a:blip r:embed="rId5">
              <a:alphaModFix/>
            </a:blip>
            <a:srcRect b="4218" l="40550" r="0" t="13558"/>
            <a:stretch/>
          </p:blipFill>
          <p:spPr>
            <a:xfrm>
              <a:off x="946904" y="3080950"/>
              <a:ext cx="3727048" cy="1415876"/>
            </a:xfrm>
            <a:prstGeom prst="rect">
              <a:avLst/>
            </a:prstGeom>
            <a:noFill/>
            <a:ln>
              <a:noFill/>
            </a:ln>
          </p:spPr>
        </p:pic>
        <p:sp>
          <p:nvSpPr>
            <p:cNvPr id="1546" name="Google Shape;1546;p90"/>
            <p:cNvSpPr txBox="1"/>
            <p:nvPr/>
          </p:nvSpPr>
          <p:spPr>
            <a:xfrm>
              <a:off x="1223003" y="3155492"/>
              <a:ext cx="3425100" cy="1072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That’s a lot to look at!</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Which triangle should I focus on first to find the length of </a:t>
              </a:r>
              <a:r>
                <a:rPr i="1" lang="en-GB" sz="2200">
                  <a:solidFill>
                    <a:schemeClr val="dk1"/>
                  </a:solidFill>
                  <a:latin typeface="Times New Roman"/>
                  <a:ea typeface="Times New Roman"/>
                  <a:cs typeface="Times New Roman"/>
                  <a:sym typeface="Times New Roman"/>
                </a:rPr>
                <a:t>w</a:t>
              </a: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Or does it not matter?</a:t>
              </a:r>
              <a:endParaRPr sz="1800">
                <a:solidFill>
                  <a:schemeClr val="dk1"/>
                </a:solidFill>
                <a:latin typeface="Lexend"/>
                <a:ea typeface="Lexend"/>
                <a:cs typeface="Lexend"/>
                <a:sym typeface="Lexend"/>
              </a:endParaRPr>
            </a:p>
          </p:txBody>
        </p:sp>
      </p:grpSp>
      <p:cxnSp>
        <p:nvCxnSpPr>
          <p:cNvPr id="1547" name="Google Shape;1547;p90"/>
          <p:cNvCxnSpPr/>
          <p:nvPr/>
        </p:nvCxnSpPr>
        <p:spPr>
          <a:xfrm rot="10800000">
            <a:off x="6308375" y="4040875"/>
            <a:ext cx="2029800" cy="0"/>
          </a:xfrm>
          <a:prstGeom prst="straightConnector1">
            <a:avLst/>
          </a:prstGeom>
          <a:noFill/>
          <a:ln cap="flat" cmpd="sng" w="28575">
            <a:solidFill>
              <a:srgbClr val="845AD9"/>
            </a:solidFill>
            <a:prstDash val="solid"/>
            <a:round/>
            <a:headEnd len="med" w="med" type="triangle"/>
            <a:tailEnd len="med" w="med" type="triangle"/>
          </a:ln>
        </p:spPr>
      </p:cxnSp>
      <p:sp>
        <p:nvSpPr>
          <p:cNvPr id="1548" name="Google Shape;1548;p90"/>
          <p:cNvSpPr txBox="1"/>
          <p:nvPr/>
        </p:nvSpPr>
        <p:spPr>
          <a:xfrm flipH="1" rot="2924">
            <a:off x="6992736" y="4063845"/>
            <a:ext cx="705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latin typeface="Times New Roman"/>
                <a:ea typeface="Times New Roman"/>
                <a:cs typeface="Times New Roman"/>
                <a:sym typeface="Times New Roman"/>
              </a:rPr>
              <a:t>w</a:t>
            </a:r>
            <a:r>
              <a:rPr lang="en-GB" sz="1800">
                <a:latin typeface="Lexend"/>
                <a:ea typeface="Lexend"/>
                <a:cs typeface="Lexend"/>
                <a:sym typeface="Lexend"/>
              </a:rPr>
              <a:t> cm</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2" name="Shape 1552"/>
        <p:cNvGrpSpPr/>
        <p:nvPr/>
      </p:nvGrpSpPr>
      <p:grpSpPr>
        <a:xfrm>
          <a:off x="0" y="0"/>
          <a:ext cx="0" cy="0"/>
          <a:chOff x="0" y="0"/>
          <a:chExt cx="0" cy="0"/>
        </a:xfrm>
      </p:grpSpPr>
      <p:sp>
        <p:nvSpPr>
          <p:cNvPr id="1553" name="Google Shape;1553;p91"/>
          <p:cNvSpPr txBox="1"/>
          <p:nvPr/>
        </p:nvSpPr>
        <p:spPr>
          <a:xfrm flipH="1" rot="2558">
            <a:off x="324324" y="636319"/>
            <a:ext cx="5241601" cy="1446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If we try to start with triangle A, we only have one known side length (13 cm).</a:t>
            </a:r>
            <a:endParaRPr sz="1800">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This means we cannot use Pythagoras’ theorem to calculate the length of the unknown side labelled </a:t>
            </a:r>
            <a:r>
              <a:rPr i="1" lang="en-GB" sz="2200">
                <a:solidFill>
                  <a:schemeClr val="dk1"/>
                </a:solidFill>
                <a:latin typeface="Times New Roman"/>
                <a:ea typeface="Times New Roman"/>
                <a:cs typeface="Times New Roman"/>
                <a:sym typeface="Times New Roman"/>
              </a:rPr>
              <a:t>w</a:t>
            </a:r>
            <a:r>
              <a:rPr lang="en-GB" sz="1800">
                <a:solidFill>
                  <a:schemeClr val="dk1"/>
                </a:solidFill>
                <a:latin typeface="Lexend"/>
                <a:ea typeface="Lexend"/>
                <a:cs typeface="Lexend"/>
                <a:sym typeface="Lexend"/>
              </a:rPr>
              <a:t> cm.</a:t>
            </a:r>
            <a:endParaRPr sz="1800">
              <a:latin typeface="Lexend"/>
              <a:ea typeface="Lexend"/>
              <a:cs typeface="Lexend"/>
              <a:sym typeface="Lexend"/>
            </a:endParaRPr>
          </a:p>
        </p:txBody>
      </p:sp>
      <p:sp>
        <p:nvSpPr>
          <p:cNvPr id="1554" name="Google Shape;1554;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the length of missing sides</a:t>
            </a:r>
            <a:endParaRPr/>
          </a:p>
        </p:txBody>
      </p:sp>
      <p:pic>
        <p:nvPicPr>
          <p:cNvPr id="1555" name="Google Shape;1555;p91"/>
          <p:cNvPicPr preferRelativeResize="0"/>
          <p:nvPr/>
        </p:nvPicPr>
        <p:blipFill>
          <a:blip r:embed="rId3">
            <a:alphaModFix/>
          </a:blip>
          <a:stretch>
            <a:fillRect/>
          </a:stretch>
        </p:blipFill>
        <p:spPr>
          <a:xfrm>
            <a:off x="6256801" y="878548"/>
            <a:ext cx="2177150" cy="3093525"/>
          </a:xfrm>
          <a:prstGeom prst="rect">
            <a:avLst/>
          </a:prstGeom>
          <a:noFill/>
          <a:ln>
            <a:noFill/>
          </a:ln>
        </p:spPr>
      </p:pic>
      <p:cxnSp>
        <p:nvCxnSpPr>
          <p:cNvPr id="1556" name="Google Shape;1556;p91"/>
          <p:cNvCxnSpPr/>
          <p:nvPr/>
        </p:nvCxnSpPr>
        <p:spPr>
          <a:xfrm>
            <a:off x="7553775" y="908425"/>
            <a:ext cx="941400" cy="2968500"/>
          </a:xfrm>
          <a:prstGeom prst="straightConnector1">
            <a:avLst/>
          </a:prstGeom>
          <a:noFill/>
          <a:ln cap="flat" cmpd="sng" w="28575">
            <a:solidFill>
              <a:srgbClr val="845AD9"/>
            </a:solidFill>
            <a:prstDash val="solid"/>
            <a:round/>
            <a:headEnd len="med" w="med" type="triangle"/>
            <a:tailEnd len="med" w="med" type="triangle"/>
          </a:ln>
        </p:spPr>
      </p:cxnSp>
      <p:cxnSp>
        <p:nvCxnSpPr>
          <p:cNvPr id="1557" name="Google Shape;1557;p91"/>
          <p:cNvCxnSpPr/>
          <p:nvPr/>
        </p:nvCxnSpPr>
        <p:spPr>
          <a:xfrm flipH="1">
            <a:off x="6183275" y="878550"/>
            <a:ext cx="1081800" cy="1413300"/>
          </a:xfrm>
          <a:prstGeom prst="straightConnector1">
            <a:avLst/>
          </a:prstGeom>
          <a:noFill/>
          <a:ln cap="flat" cmpd="sng" w="28575">
            <a:solidFill>
              <a:srgbClr val="845AD9"/>
            </a:solidFill>
            <a:prstDash val="solid"/>
            <a:round/>
            <a:headEnd len="med" w="med" type="triangle"/>
            <a:tailEnd len="med" w="med" type="triangle"/>
          </a:ln>
        </p:spPr>
      </p:cxnSp>
      <p:cxnSp>
        <p:nvCxnSpPr>
          <p:cNvPr id="1558" name="Google Shape;1558;p91"/>
          <p:cNvCxnSpPr/>
          <p:nvPr/>
        </p:nvCxnSpPr>
        <p:spPr>
          <a:xfrm>
            <a:off x="6183275" y="2368725"/>
            <a:ext cx="0" cy="1546500"/>
          </a:xfrm>
          <a:prstGeom prst="straightConnector1">
            <a:avLst/>
          </a:prstGeom>
          <a:noFill/>
          <a:ln cap="flat" cmpd="sng" w="28575">
            <a:solidFill>
              <a:srgbClr val="845AD9"/>
            </a:solidFill>
            <a:prstDash val="solid"/>
            <a:round/>
            <a:headEnd len="med" w="med" type="triangle"/>
            <a:tailEnd len="med" w="med" type="triangle"/>
          </a:ln>
        </p:spPr>
      </p:cxnSp>
      <p:sp>
        <p:nvSpPr>
          <p:cNvPr id="1559" name="Google Shape;1559;p91"/>
          <p:cNvSpPr txBox="1"/>
          <p:nvPr/>
        </p:nvSpPr>
        <p:spPr>
          <a:xfrm flipH="1" rot="3287">
            <a:off x="8068566" y="2167283"/>
            <a:ext cx="94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26 cm</a:t>
            </a:r>
            <a:endParaRPr sz="1800">
              <a:latin typeface="Lexend"/>
              <a:ea typeface="Lexend"/>
              <a:cs typeface="Lexend"/>
              <a:sym typeface="Lexend"/>
            </a:endParaRPr>
          </a:p>
        </p:txBody>
      </p:sp>
      <p:sp>
        <p:nvSpPr>
          <p:cNvPr id="1560" name="Google Shape;1560;p91"/>
          <p:cNvSpPr txBox="1"/>
          <p:nvPr/>
        </p:nvSpPr>
        <p:spPr>
          <a:xfrm flipH="1" rot="2924">
            <a:off x="5984770" y="1398695"/>
            <a:ext cx="705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15 cm</a:t>
            </a:r>
            <a:endParaRPr sz="1800">
              <a:latin typeface="Lexend"/>
              <a:ea typeface="Lexend"/>
              <a:cs typeface="Lexend"/>
              <a:sym typeface="Lexend"/>
            </a:endParaRPr>
          </a:p>
        </p:txBody>
      </p:sp>
      <p:sp>
        <p:nvSpPr>
          <p:cNvPr id="1561" name="Google Shape;1561;p91"/>
          <p:cNvSpPr txBox="1"/>
          <p:nvPr/>
        </p:nvSpPr>
        <p:spPr>
          <a:xfrm flipH="1" rot="2924">
            <a:off x="5476811" y="3003370"/>
            <a:ext cx="705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13 cm</a:t>
            </a:r>
            <a:endParaRPr sz="1800">
              <a:latin typeface="Lexend"/>
              <a:ea typeface="Lexend"/>
              <a:cs typeface="Lexend"/>
              <a:sym typeface="Lexend"/>
            </a:endParaRPr>
          </a:p>
        </p:txBody>
      </p:sp>
      <p:sp>
        <p:nvSpPr>
          <p:cNvPr id="1562" name="Google Shape;1562;p91"/>
          <p:cNvSpPr txBox="1"/>
          <p:nvPr/>
        </p:nvSpPr>
        <p:spPr>
          <a:xfrm flipH="1" rot="3157">
            <a:off x="6829450" y="3341324"/>
            <a:ext cx="3267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563" name="Google Shape;1563;p91"/>
          <p:cNvSpPr txBox="1"/>
          <p:nvPr/>
        </p:nvSpPr>
        <p:spPr>
          <a:xfrm flipH="1" rot="3157">
            <a:off x="7132500" y="2217174"/>
            <a:ext cx="3267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B</a:t>
            </a:r>
            <a:endParaRPr sz="1800">
              <a:latin typeface="Lexend"/>
              <a:ea typeface="Lexend"/>
              <a:cs typeface="Lexend"/>
              <a:sym typeface="Lexend"/>
            </a:endParaRPr>
          </a:p>
        </p:txBody>
      </p:sp>
      <p:cxnSp>
        <p:nvCxnSpPr>
          <p:cNvPr id="1564" name="Google Shape;1564;p91"/>
          <p:cNvCxnSpPr/>
          <p:nvPr/>
        </p:nvCxnSpPr>
        <p:spPr>
          <a:xfrm rot="10800000">
            <a:off x="6308375" y="4040875"/>
            <a:ext cx="2029800" cy="0"/>
          </a:xfrm>
          <a:prstGeom prst="straightConnector1">
            <a:avLst/>
          </a:prstGeom>
          <a:noFill/>
          <a:ln cap="flat" cmpd="sng" w="28575">
            <a:solidFill>
              <a:srgbClr val="845AD9"/>
            </a:solidFill>
            <a:prstDash val="solid"/>
            <a:round/>
            <a:headEnd len="med" w="med" type="triangle"/>
            <a:tailEnd len="med" w="med" type="triangle"/>
          </a:ln>
        </p:spPr>
      </p:cxnSp>
      <p:sp>
        <p:nvSpPr>
          <p:cNvPr id="1565" name="Google Shape;1565;p91"/>
          <p:cNvSpPr txBox="1"/>
          <p:nvPr/>
        </p:nvSpPr>
        <p:spPr>
          <a:xfrm flipH="1" rot="2620">
            <a:off x="324349" y="2675097"/>
            <a:ext cx="4329901"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However, we know two side lengths of triangle B (hypotenuse of 26 cm and shorter side of 15 cm).</a:t>
            </a:r>
            <a:endParaRPr sz="1800">
              <a:latin typeface="Lexend"/>
              <a:ea typeface="Lexend"/>
              <a:cs typeface="Lexend"/>
              <a:sym typeface="Lexend"/>
            </a:endParaRPr>
          </a:p>
        </p:txBody>
      </p:sp>
      <p:sp>
        <p:nvSpPr>
          <p:cNvPr id="1566" name="Google Shape;1566;p91"/>
          <p:cNvSpPr txBox="1"/>
          <p:nvPr/>
        </p:nvSpPr>
        <p:spPr>
          <a:xfrm flipH="1" rot="2924">
            <a:off x="6992736" y="4063845"/>
            <a:ext cx="705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latin typeface="Times New Roman"/>
                <a:ea typeface="Times New Roman"/>
                <a:cs typeface="Times New Roman"/>
                <a:sym typeface="Times New Roman"/>
              </a:rPr>
              <a:t>w</a:t>
            </a:r>
            <a:r>
              <a:rPr lang="en-GB" sz="1800">
                <a:latin typeface="Lexend"/>
                <a:ea typeface="Lexend"/>
                <a:cs typeface="Lexend"/>
                <a:sym typeface="Lexend"/>
              </a:rPr>
              <a:t> cm</a:t>
            </a:r>
            <a:endParaRPr sz="1800">
              <a:latin typeface="Lexend"/>
              <a:ea typeface="Lexend"/>
              <a:cs typeface="Lexend"/>
              <a:sym typeface="Lexend"/>
            </a:endParaRPr>
          </a:p>
        </p:txBody>
      </p:sp>
      <p:sp>
        <p:nvSpPr>
          <p:cNvPr id="1567" name="Google Shape;1567;p91"/>
          <p:cNvSpPr/>
          <p:nvPr/>
        </p:nvSpPr>
        <p:spPr>
          <a:xfrm flipH="1" rot="2244395">
            <a:off x="5000409" y="2883506"/>
            <a:ext cx="3279684" cy="1869381"/>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8" name="Google Shape;1568;p91"/>
          <p:cNvSpPr txBox="1"/>
          <p:nvPr/>
        </p:nvSpPr>
        <p:spPr>
          <a:xfrm flipH="1" rot="2620">
            <a:off x="324349" y="3781647"/>
            <a:ext cx="4329901"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Therefore we can use Pythagoras’ theorem to calculate the length of the third side.</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567"/>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15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2" name="Shape 1572"/>
        <p:cNvGrpSpPr/>
        <p:nvPr/>
      </p:nvGrpSpPr>
      <p:grpSpPr>
        <a:xfrm>
          <a:off x="0" y="0"/>
          <a:ext cx="0" cy="0"/>
          <a:chOff x="0" y="0"/>
          <a:chExt cx="0" cy="0"/>
        </a:xfrm>
      </p:grpSpPr>
      <p:sp>
        <p:nvSpPr>
          <p:cNvPr id="1573" name="Google Shape;1573;p92"/>
          <p:cNvSpPr txBox="1"/>
          <p:nvPr/>
        </p:nvSpPr>
        <p:spPr>
          <a:xfrm flipH="1" rot="2640">
            <a:off x="324349" y="2890482"/>
            <a:ext cx="3906601" cy="1939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The length of the other shorter side of triangle B is </a:t>
            </a:r>
            <a:r>
              <a:rPr lang="en-GB" sz="1800">
                <a:solidFill>
                  <a:schemeClr val="dk1"/>
                </a:solidFill>
                <a:latin typeface="Lexend"/>
                <a:ea typeface="Lexend"/>
                <a:cs typeface="Lexend"/>
                <a:sym typeface="Lexend"/>
              </a:rPr>
              <a:t>21.23676 cm.</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It is sensible to give this length to many decimal places to avoid rounding errors when we use this length again later.</a:t>
            </a:r>
            <a:endParaRPr sz="1800">
              <a:solidFill>
                <a:schemeClr val="dk1"/>
              </a:solidFill>
              <a:latin typeface="Lexend"/>
              <a:ea typeface="Lexend"/>
              <a:cs typeface="Lexend"/>
              <a:sym typeface="Lexend"/>
            </a:endParaRPr>
          </a:p>
        </p:txBody>
      </p:sp>
      <p:sp>
        <p:nvSpPr>
          <p:cNvPr id="1574" name="Google Shape;1574;p92"/>
          <p:cNvSpPr txBox="1"/>
          <p:nvPr/>
        </p:nvSpPr>
        <p:spPr>
          <a:xfrm flipH="1" rot="2640">
            <a:off x="324349" y="635782"/>
            <a:ext cx="39066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The Pythagoras’ theorem equation for triangle B is:</a:t>
            </a:r>
            <a:endParaRPr sz="1800">
              <a:latin typeface="Lexend"/>
              <a:ea typeface="Lexend"/>
              <a:cs typeface="Lexend"/>
              <a:sym typeface="Lexend"/>
            </a:endParaRPr>
          </a:p>
        </p:txBody>
      </p:sp>
      <p:sp>
        <p:nvSpPr>
          <p:cNvPr id="1575" name="Google Shape;1575;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the length of missing sides</a:t>
            </a:r>
            <a:endParaRPr/>
          </a:p>
        </p:txBody>
      </p:sp>
      <p:pic>
        <p:nvPicPr>
          <p:cNvPr id="1576" name="Google Shape;1576;p92"/>
          <p:cNvPicPr preferRelativeResize="0"/>
          <p:nvPr/>
        </p:nvPicPr>
        <p:blipFill>
          <a:blip r:embed="rId3">
            <a:alphaModFix/>
          </a:blip>
          <a:stretch>
            <a:fillRect/>
          </a:stretch>
        </p:blipFill>
        <p:spPr>
          <a:xfrm>
            <a:off x="6256801" y="878548"/>
            <a:ext cx="2177150" cy="3093525"/>
          </a:xfrm>
          <a:prstGeom prst="rect">
            <a:avLst/>
          </a:prstGeom>
          <a:noFill/>
          <a:ln>
            <a:noFill/>
          </a:ln>
        </p:spPr>
      </p:pic>
      <p:cxnSp>
        <p:nvCxnSpPr>
          <p:cNvPr id="1577" name="Google Shape;1577;p92"/>
          <p:cNvCxnSpPr/>
          <p:nvPr/>
        </p:nvCxnSpPr>
        <p:spPr>
          <a:xfrm>
            <a:off x="7553775" y="908425"/>
            <a:ext cx="941400" cy="2968500"/>
          </a:xfrm>
          <a:prstGeom prst="straightConnector1">
            <a:avLst/>
          </a:prstGeom>
          <a:noFill/>
          <a:ln cap="flat" cmpd="sng" w="28575">
            <a:solidFill>
              <a:srgbClr val="845AD9"/>
            </a:solidFill>
            <a:prstDash val="solid"/>
            <a:round/>
            <a:headEnd len="med" w="med" type="triangle"/>
            <a:tailEnd len="med" w="med" type="triangle"/>
          </a:ln>
        </p:spPr>
      </p:cxnSp>
      <p:cxnSp>
        <p:nvCxnSpPr>
          <p:cNvPr id="1578" name="Google Shape;1578;p92"/>
          <p:cNvCxnSpPr/>
          <p:nvPr/>
        </p:nvCxnSpPr>
        <p:spPr>
          <a:xfrm flipH="1">
            <a:off x="6183275" y="878550"/>
            <a:ext cx="1081800" cy="1413300"/>
          </a:xfrm>
          <a:prstGeom prst="straightConnector1">
            <a:avLst/>
          </a:prstGeom>
          <a:noFill/>
          <a:ln cap="flat" cmpd="sng" w="28575">
            <a:solidFill>
              <a:srgbClr val="845AD9"/>
            </a:solidFill>
            <a:prstDash val="solid"/>
            <a:round/>
            <a:headEnd len="med" w="med" type="triangle"/>
            <a:tailEnd len="med" w="med" type="triangle"/>
          </a:ln>
        </p:spPr>
      </p:cxnSp>
      <p:cxnSp>
        <p:nvCxnSpPr>
          <p:cNvPr id="1579" name="Google Shape;1579;p92"/>
          <p:cNvCxnSpPr/>
          <p:nvPr/>
        </p:nvCxnSpPr>
        <p:spPr>
          <a:xfrm>
            <a:off x="6183275" y="2368725"/>
            <a:ext cx="0" cy="1546500"/>
          </a:xfrm>
          <a:prstGeom prst="straightConnector1">
            <a:avLst/>
          </a:prstGeom>
          <a:noFill/>
          <a:ln cap="flat" cmpd="sng" w="28575">
            <a:solidFill>
              <a:srgbClr val="845AD9"/>
            </a:solidFill>
            <a:prstDash val="solid"/>
            <a:round/>
            <a:headEnd len="med" w="med" type="triangle"/>
            <a:tailEnd len="med" w="med" type="triangle"/>
          </a:ln>
        </p:spPr>
      </p:cxnSp>
      <p:sp>
        <p:nvSpPr>
          <p:cNvPr id="1580" name="Google Shape;1580;p92"/>
          <p:cNvSpPr txBox="1"/>
          <p:nvPr/>
        </p:nvSpPr>
        <p:spPr>
          <a:xfrm flipH="1" rot="3287">
            <a:off x="8068566" y="2167283"/>
            <a:ext cx="94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26 cm</a:t>
            </a:r>
            <a:endParaRPr sz="1800">
              <a:latin typeface="Lexend"/>
              <a:ea typeface="Lexend"/>
              <a:cs typeface="Lexend"/>
              <a:sym typeface="Lexend"/>
            </a:endParaRPr>
          </a:p>
        </p:txBody>
      </p:sp>
      <p:sp>
        <p:nvSpPr>
          <p:cNvPr id="1581" name="Google Shape;1581;p92"/>
          <p:cNvSpPr txBox="1"/>
          <p:nvPr/>
        </p:nvSpPr>
        <p:spPr>
          <a:xfrm flipH="1" rot="2924">
            <a:off x="5984770" y="1398695"/>
            <a:ext cx="705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15 cm</a:t>
            </a:r>
            <a:endParaRPr sz="1800">
              <a:latin typeface="Lexend"/>
              <a:ea typeface="Lexend"/>
              <a:cs typeface="Lexend"/>
              <a:sym typeface="Lexend"/>
            </a:endParaRPr>
          </a:p>
        </p:txBody>
      </p:sp>
      <p:sp>
        <p:nvSpPr>
          <p:cNvPr id="1582" name="Google Shape;1582;p92"/>
          <p:cNvSpPr txBox="1"/>
          <p:nvPr/>
        </p:nvSpPr>
        <p:spPr>
          <a:xfrm flipH="1" rot="2924">
            <a:off x="5476811" y="3003370"/>
            <a:ext cx="705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13 cm</a:t>
            </a:r>
            <a:endParaRPr sz="1800">
              <a:latin typeface="Lexend"/>
              <a:ea typeface="Lexend"/>
              <a:cs typeface="Lexend"/>
              <a:sym typeface="Lexend"/>
            </a:endParaRPr>
          </a:p>
        </p:txBody>
      </p:sp>
      <p:sp>
        <p:nvSpPr>
          <p:cNvPr id="1583" name="Google Shape;1583;p92"/>
          <p:cNvSpPr txBox="1"/>
          <p:nvPr/>
        </p:nvSpPr>
        <p:spPr>
          <a:xfrm flipH="1" rot="3157">
            <a:off x="6829450" y="3341324"/>
            <a:ext cx="3267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584" name="Google Shape;1584;p92"/>
          <p:cNvSpPr txBox="1"/>
          <p:nvPr/>
        </p:nvSpPr>
        <p:spPr>
          <a:xfrm flipH="1" rot="3157">
            <a:off x="7132500" y="2217174"/>
            <a:ext cx="3267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B</a:t>
            </a:r>
            <a:endParaRPr sz="1800">
              <a:latin typeface="Lexend"/>
              <a:ea typeface="Lexend"/>
              <a:cs typeface="Lexend"/>
              <a:sym typeface="Lexend"/>
            </a:endParaRPr>
          </a:p>
        </p:txBody>
      </p:sp>
      <p:cxnSp>
        <p:nvCxnSpPr>
          <p:cNvPr id="1585" name="Google Shape;1585;p92"/>
          <p:cNvCxnSpPr/>
          <p:nvPr/>
        </p:nvCxnSpPr>
        <p:spPr>
          <a:xfrm rot="10800000">
            <a:off x="6308375" y="4040875"/>
            <a:ext cx="2029800" cy="0"/>
          </a:xfrm>
          <a:prstGeom prst="straightConnector1">
            <a:avLst/>
          </a:prstGeom>
          <a:noFill/>
          <a:ln cap="flat" cmpd="sng" w="28575">
            <a:solidFill>
              <a:srgbClr val="845AD9"/>
            </a:solidFill>
            <a:prstDash val="solid"/>
            <a:round/>
            <a:headEnd len="med" w="med" type="triangle"/>
            <a:tailEnd len="med" w="med" type="triangle"/>
          </a:ln>
        </p:spPr>
      </p:cxnSp>
      <p:sp>
        <p:nvSpPr>
          <p:cNvPr id="1586" name="Google Shape;1586;p92"/>
          <p:cNvSpPr txBox="1"/>
          <p:nvPr/>
        </p:nvSpPr>
        <p:spPr>
          <a:xfrm flipH="1" rot="2924">
            <a:off x="6992736" y="4063845"/>
            <a:ext cx="705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latin typeface="Times New Roman"/>
                <a:ea typeface="Times New Roman"/>
                <a:cs typeface="Times New Roman"/>
                <a:sym typeface="Times New Roman"/>
              </a:rPr>
              <a:t>w</a:t>
            </a:r>
            <a:r>
              <a:rPr lang="en-GB" sz="1800">
                <a:latin typeface="Lexend"/>
                <a:ea typeface="Lexend"/>
                <a:cs typeface="Lexend"/>
                <a:sym typeface="Lexend"/>
              </a:rPr>
              <a:t> cm</a:t>
            </a:r>
            <a:endParaRPr sz="1800">
              <a:latin typeface="Lexend"/>
              <a:ea typeface="Lexend"/>
              <a:cs typeface="Lexend"/>
              <a:sym typeface="Lexend"/>
            </a:endParaRPr>
          </a:p>
        </p:txBody>
      </p:sp>
      <p:sp>
        <p:nvSpPr>
          <p:cNvPr id="1587" name="Google Shape;1587;p92"/>
          <p:cNvSpPr/>
          <p:nvPr/>
        </p:nvSpPr>
        <p:spPr>
          <a:xfrm flipH="1" rot="2244395">
            <a:off x="5000409" y="2883506"/>
            <a:ext cx="3279684" cy="1869381"/>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588" name="Google Shape;1588;p92"/>
          <p:cNvGrpSpPr/>
          <p:nvPr/>
        </p:nvGrpSpPr>
        <p:grpSpPr>
          <a:xfrm>
            <a:off x="6211325" y="2504425"/>
            <a:ext cx="2017500" cy="1549200"/>
            <a:chOff x="6211325" y="2504425"/>
            <a:chExt cx="2017500" cy="1549200"/>
          </a:xfrm>
        </p:grpSpPr>
        <p:cxnSp>
          <p:nvCxnSpPr>
            <p:cNvPr id="1589" name="Google Shape;1589;p92"/>
            <p:cNvCxnSpPr/>
            <p:nvPr/>
          </p:nvCxnSpPr>
          <p:spPr>
            <a:xfrm>
              <a:off x="6211325" y="2504425"/>
              <a:ext cx="2017500" cy="1549200"/>
            </a:xfrm>
            <a:prstGeom prst="straightConnector1">
              <a:avLst/>
            </a:prstGeom>
            <a:noFill/>
            <a:ln cap="flat" cmpd="sng" w="28575">
              <a:solidFill>
                <a:srgbClr val="845AD9"/>
              </a:solidFill>
              <a:prstDash val="solid"/>
              <a:round/>
              <a:headEnd len="med" w="med" type="triangle"/>
              <a:tailEnd len="med" w="med" type="triangle"/>
            </a:ln>
          </p:spPr>
        </p:cxnSp>
        <p:sp>
          <p:nvSpPr>
            <p:cNvPr id="1590" name="Google Shape;1590;p92"/>
            <p:cNvSpPr txBox="1"/>
            <p:nvPr/>
          </p:nvSpPr>
          <p:spPr>
            <a:xfrm flipH="1" rot="3528">
              <a:off x="6680378" y="3184411"/>
              <a:ext cx="584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cm</a:t>
              </a:r>
              <a:endParaRPr sz="1800">
                <a:latin typeface="Lexend"/>
                <a:ea typeface="Lexend"/>
                <a:cs typeface="Lexend"/>
                <a:sym typeface="Lexend"/>
              </a:endParaRPr>
            </a:p>
          </p:txBody>
        </p:sp>
      </p:grpSp>
      <p:sp>
        <p:nvSpPr>
          <p:cNvPr id="1591" name="Google Shape;1591;p92"/>
          <p:cNvSpPr txBox="1"/>
          <p:nvPr/>
        </p:nvSpPr>
        <p:spPr>
          <a:xfrm flipH="1" rot="2566">
            <a:off x="781100" y="1574744"/>
            <a:ext cx="32148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x</a:t>
            </a:r>
            <a:r>
              <a:rPr lang="en-GB" sz="1800">
                <a:latin typeface="Lexend"/>
                <a:ea typeface="Lexend"/>
                <a:cs typeface="Lexend"/>
                <a:sym typeface="Lexend"/>
              </a:rPr>
              <a:t>² </a:t>
            </a:r>
            <a:r>
              <a:rPr lang="en-GB" sz="1800">
                <a:solidFill>
                  <a:schemeClr val="lt1"/>
                </a:solidFill>
                <a:latin typeface="Lexend"/>
                <a:ea typeface="Lexend"/>
                <a:cs typeface="Lexend"/>
                <a:sym typeface="Lexend"/>
              </a:rPr>
              <a:t>+ 15²</a:t>
            </a:r>
            <a:r>
              <a:rPr lang="en-GB" sz="1800">
                <a:latin typeface="Lexend"/>
                <a:ea typeface="Lexend"/>
                <a:cs typeface="Lexend"/>
                <a:sym typeface="Lexend"/>
              </a:rPr>
              <a:t> = 26² – </a:t>
            </a:r>
            <a:r>
              <a:rPr lang="en-GB" sz="1800">
                <a:solidFill>
                  <a:schemeClr val="dk1"/>
                </a:solidFill>
                <a:latin typeface="Lexend"/>
                <a:ea typeface="Lexend"/>
                <a:cs typeface="Lexend"/>
                <a:sym typeface="Lexend"/>
              </a:rPr>
              <a:t>15²</a:t>
            </a:r>
            <a:endParaRPr sz="1800">
              <a:latin typeface="Lexend"/>
              <a:ea typeface="Lexend"/>
              <a:cs typeface="Lexend"/>
              <a:sym typeface="Lexend"/>
            </a:endParaRPr>
          </a:p>
        </p:txBody>
      </p:sp>
      <p:sp>
        <p:nvSpPr>
          <p:cNvPr id="1592" name="Google Shape;1592;p92"/>
          <p:cNvSpPr txBox="1"/>
          <p:nvPr/>
        </p:nvSpPr>
        <p:spPr>
          <a:xfrm flipH="1" rot="2566">
            <a:off x="781100" y="2299294"/>
            <a:ext cx="32148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x</a:t>
            </a:r>
            <a:r>
              <a:rPr lang="en-GB" sz="1800">
                <a:solidFill>
                  <a:schemeClr val="lt1"/>
                </a:solidFill>
                <a:latin typeface="Lexend"/>
                <a:ea typeface="Lexend"/>
                <a:cs typeface="Lexend"/>
                <a:sym typeface="Lexend"/>
              </a:rPr>
              <a:t>²</a:t>
            </a:r>
            <a:r>
              <a:rPr lang="en-GB" sz="1800">
                <a:latin typeface="Lexend"/>
                <a:ea typeface="Lexend"/>
                <a:cs typeface="Lexend"/>
                <a:sym typeface="Lexend"/>
              </a:rPr>
              <a:t> </a:t>
            </a:r>
            <a:r>
              <a:rPr lang="en-GB" sz="1800">
                <a:solidFill>
                  <a:schemeClr val="lt1"/>
                </a:solidFill>
                <a:latin typeface="Lexend"/>
                <a:ea typeface="Lexend"/>
                <a:cs typeface="Lexend"/>
                <a:sym typeface="Lexend"/>
              </a:rPr>
              <a:t>+ 15²</a:t>
            </a:r>
            <a:r>
              <a:rPr lang="en-GB" sz="1800">
                <a:latin typeface="Lexend"/>
                <a:ea typeface="Lexend"/>
                <a:cs typeface="Lexend"/>
                <a:sym typeface="Lexend"/>
              </a:rPr>
              <a:t> =   451 = 21.23676</a:t>
            </a:r>
            <a:endParaRPr sz="1800">
              <a:latin typeface="Lexend"/>
              <a:ea typeface="Lexend"/>
              <a:cs typeface="Lexend"/>
              <a:sym typeface="Lexend"/>
            </a:endParaRPr>
          </a:p>
        </p:txBody>
      </p:sp>
      <p:sp>
        <p:nvSpPr>
          <p:cNvPr id="1593" name="Google Shape;1593;p92"/>
          <p:cNvSpPr txBox="1"/>
          <p:nvPr/>
        </p:nvSpPr>
        <p:spPr>
          <a:xfrm flipH="1" rot="2640">
            <a:off x="781200" y="1213073"/>
            <a:ext cx="1562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x</a:t>
            </a:r>
            <a:r>
              <a:rPr lang="en-GB" sz="1800">
                <a:latin typeface="Lexend"/>
                <a:ea typeface="Lexend"/>
                <a:cs typeface="Lexend"/>
                <a:sym typeface="Lexend"/>
              </a:rPr>
              <a:t>² + 15² = 26²</a:t>
            </a:r>
            <a:endParaRPr sz="1800">
              <a:latin typeface="Lexend"/>
              <a:ea typeface="Lexend"/>
              <a:cs typeface="Lexend"/>
              <a:sym typeface="Lexend"/>
            </a:endParaRPr>
          </a:p>
        </p:txBody>
      </p:sp>
      <p:sp>
        <p:nvSpPr>
          <p:cNvPr id="1594" name="Google Shape;1594;p92"/>
          <p:cNvSpPr txBox="1"/>
          <p:nvPr/>
        </p:nvSpPr>
        <p:spPr>
          <a:xfrm flipH="1" rot="2566">
            <a:off x="781100" y="1937019"/>
            <a:ext cx="32148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x</a:t>
            </a:r>
            <a:r>
              <a:rPr lang="en-GB" sz="1800">
                <a:latin typeface="Lexend"/>
                <a:ea typeface="Lexend"/>
                <a:cs typeface="Lexend"/>
                <a:sym typeface="Lexend"/>
              </a:rPr>
              <a:t>² </a:t>
            </a:r>
            <a:r>
              <a:rPr lang="en-GB" sz="1800">
                <a:solidFill>
                  <a:schemeClr val="lt1"/>
                </a:solidFill>
                <a:latin typeface="Lexend"/>
                <a:ea typeface="Lexend"/>
                <a:cs typeface="Lexend"/>
                <a:sym typeface="Lexend"/>
              </a:rPr>
              <a:t>+ 15²</a:t>
            </a:r>
            <a:r>
              <a:rPr lang="en-GB" sz="1800">
                <a:latin typeface="Lexend"/>
                <a:ea typeface="Lexend"/>
                <a:cs typeface="Lexend"/>
                <a:sym typeface="Lexend"/>
              </a:rPr>
              <a:t> = 451</a:t>
            </a:r>
            <a:endParaRPr sz="1800">
              <a:latin typeface="Lexend"/>
              <a:ea typeface="Lexend"/>
              <a:cs typeface="Lexend"/>
              <a:sym typeface="Lexend"/>
            </a:endParaRPr>
          </a:p>
        </p:txBody>
      </p:sp>
      <p:pic>
        <p:nvPicPr>
          <p:cNvPr descr="&lt;math xmlns=&quot;http://www.w3.org/1998/Math/MathML&quot; display=&quot;block&quot; data-is-equatio=&quot;1&quot; data-latex=&quot;\sqrt{\ \ \ \ \ \ \ \ \ \ \ \ \ \ \ \ \ \ \ \ \ \ }&quot;&gt;&lt;msqr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sqrt&gt;&lt;/math&gt;" id="1595" name="Google Shape;1595;p92" title="the square root of"/>
          <p:cNvPicPr preferRelativeResize="0"/>
          <p:nvPr/>
        </p:nvPicPr>
        <p:blipFill rotWithShape="1">
          <a:blip r:embed="rId4">
            <a:alphaModFix/>
          </a:blip>
          <a:srcRect b="0" l="0" r="58411" t="0"/>
          <a:stretch/>
        </p:blipFill>
        <p:spPr>
          <a:xfrm>
            <a:off x="1802661" y="2337223"/>
            <a:ext cx="560475" cy="262850"/>
          </a:xfrm>
          <a:prstGeom prst="rect">
            <a:avLst/>
          </a:prstGeom>
          <a:noFill/>
          <a:ln>
            <a:noFill/>
          </a:ln>
        </p:spPr>
      </p:pic>
      <p:grpSp>
        <p:nvGrpSpPr>
          <p:cNvPr id="1596" name="Google Shape;1596;p92"/>
          <p:cNvGrpSpPr/>
          <p:nvPr/>
        </p:nvGrpSpPr>
        <p:grpSpPr>
          <a:xfrm>
            <a:off x="6301880" y="2273147"/>
            <a:ext cx="2017500" cy="1628648"/>
            <a:chOff x="6301880" y="2273147"/>
            <a:chExt cx="2017500" cy="1628648"/>
          </a:xfrm>
        </p:grpSpPr>
        <p:cxnSp>
          <p:nvCxnSpPr>
            <p:cNvPr id="1597" name="Google Shape;1597;p92"/>
            <p:cNvCxnSpPr/>
            <p:nvPr/>
          </p:nvCxnSpPr>
          <p:spPr>
            <a:xfrm>
              <a:off x="6301880" y="2352595"/>
              <a:ext cx="2017500" cy="1549200"/>
            </a:xfrm>
            <a:prstGeom prst="straightConnector1">
              <a:avLst/>
            </a:prstGeom>
            <a:noFill/>
            <a:ln cap="flat" cmpd="sng" w="38100">
              <a:solidFill>
                <a:schemeClr val="accent2"/>
              </a:solidFill>
              <a:prstDash val="solid"/>
              <a:round/>
              <a:headEnd len="med" w="med" type="triangle"/>
              <a:tailEnd len="med" w="med" type="triangle"/>
            </a:ln>
          </p:spPr>
        </p:cxnSp>
        <p:sp>
          <p:nvSpPr>
            <p:cNvPr id="1598" name="Google Shape;1598;p92"/>
            <p:cNvSpPr txBox="1"/>
            <p:nvPr/>
          </p:nvSpPr>
          <p:spPr>
            <a:xfrm flipH="1" rot="2220064">
              <a:off x="6385942" y="2860487"/>
              <a:ext cx="2044265" cy="27702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21.23676</a:t>
              </a:r>
              <a:r>
                <a:rPr lang="en-GB" sz="1800">
                  <a:latin typeface="Lexend"/>
                  <a:ea typeface="Lexend"/>
                  <a:cs typeface="Lexend"/>
                  <a:sym typeface="Lexend"/>
                </a:rPr>
                <a:t> cm</a:t>
              </a:r>
              <a:endParaRPr sz="18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8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2" name="Shape 1602"/>
        <p:cNvGrpSpPr/>
        <p:nvPr/>
      </p:nvGrpSpPr>
      <p:grpSpPr>
        <a:xfrm>
          <a:off x="0" y="0"/>
          <a:ext cx="0" cy="0"/>
          <a:chOff x="0" y="0"/>
          <a:chExt cx="0" cy="0"/>
        </a:xfrm>
      </p:grpSpPr>
      <p:sp>
        <p:nvSpPr>
          <p:cNvPr id="1603" name="Google Shape;1603;p93"/>
          <p:cNvSpPr txBox="1"/>
          <p:nvPr/>
        </p:nvSpPr>
        <p:spPr>
          <a:xfrm flipH="1" rot="2640">
            <a:off x="324524" y="635837"/>
            <a:ext cx="3906601"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The side of length </a:t>
            </a:r>
            <a:r>
              <a:rPr lang="en-GB" sz="1800">
                <a:solidFill>
                  <a:schemeClr val="dk1"/>
                </a:solidFill>
                <a:latin typeface="Lexend"/>
                <a:ea typeface="Lexend"/>
                <a:cs typeface="Lexend"/>
                <a:sym typeface="Lexend"/>
              </a:rPr>
              <a:t>21.23676 cm is a shared side that is:</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     a shorter side of triangle B</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     the hypotenuse of triangle A</a:t>
            </a:r>
            <a:endParaRPr sz="1800">
              <a:solidFill>
                <a:schemeClr val="dk1"/>
              </a:solidFill>
              <a:latin typeface="Lexend"/>
              <a:ea typeface="Lexend"/>
              <a:cs typeface="Lexend"/>
              <a:sym typeface="Lexend"/>
            </a:endParaRPr>
          </a:p>
        </p:txBody>
      </p:sp>
      <p:sp>
        <p:nvSpPr>
          <p:cNvPr id="1604" name="Google Shape;1604;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the length of missing sides</a:t>
            </a:r>
            <a:endParaRPr/>
          </a:p>
        </p:txBody>
      </p:sp>
      <p:pic>
        <p:nvPicPr>
          <p:cNvPr id="1605" name="Google Shape;1605;p93"/>
          <p:cNvPicPr preferRelativeResize="0"/>
          <p:nvPr/>
        </p:nvPicPr>
        <p:blipFill>
          <a:blip r:embed="rId3">
            <a:alphaModFix/>
          </a:blip>
          <a:stretch>
            <a:fillRect/>
          </a:stretch>
        </p:blipFill>
        <p:spPr>
          <a:xfrm>
            <a:off x="6256801" y="878548"/>
            <a:ext cx="2177150" cy="3093525"/>
          </a:xfrm>
          <a:prstGeom prst="rect">
            <a:avLst/>
          </a:prstGeom>
          <a:noFill/>
          <a:ln>
            <a:noFill/>
          </a:ln>
        </p:spPr>
      </p:pic>
      <p:cxnSp>
        <p:nvCxnSpPr>
          <p:cNvPr id="1606" name="Google Shape;1606;p93"/>
          <p:cNvCxnSpPr/>
          <p:nvPr/>
        </p:nvCxnSpPr>
        <p:spPr>
          <a:xfrm>
            <a:off x="7553775" y="908425"/>
            <a:ext cx="941400" cy="2968500"/>
          </a:xfrm>
          <a:prstGeom prst="straightConnector1">
            <a:avLst/>
          </a:prstGeom>
          <a:noFill/>
          <a:ln cap="flat" cmpd="sng" w="28575">
            <a:solidFill>
              <a:srgbClr val="845AD9"/>
            </a:solidFill>
            <a:prstDash val="solid"/>
            <a:round/>
            <a:headEnd len="med" w="med" type="triangle"/>
            <a:tailEnd len="med" w="med" type="triangle"/>
          </a:ln>
        </p:spPr>
      </p:cxnSp>
      <p:cxnSp>
        <p:nvCxnSpPr>
          <p:cNvPr id="1607" name="Google Shape;1607;p93"/>
          <p:cNvCxnSpPr/>
          <p:nvPr/>
        </p:nvCxnSpPr>
        <p:spPr>
          <a:xfrm flipH="1">
            <a:off x="6183275" y="878550"/>
            <a:ext cx="1081800" cy="1413300"/>
          </a:xfrm>
          <a:prstGeom prst="straightConnector1">
            <a:avLst/>
          </a:prstGeom>
          <a:noFill/>
          <a:ln cap="flat" cmpd="sng" w="28575">
            <a:solidFill>
              <a:srgbClr val="845AD9"/>
            </a:solidFill>
            <a:prstDash val="solid"/>
            <a:round/>
            <a:headEnd len="med" w="med" type="triangle"/>
            <a:tailEnd len="med" w="med" type="triangle"/>
          </a:ln>
        </p:spPr>
      </p:cxnSp>
      <p:cxnSp>
        <p:nvCxnSpPr>
          <p:cNvPr id="1608" name="Google Shape;1608;p93"/>
          <p:cNvCxnSpPr/>
          <p:nvPr/>
        </p:nvCxnSpPr>
        <p:spPr>
          <a:xfrm>
            <a:off x="6183275" y="2368725"/>
            <a:ext cx="0" cy="1546500"/>
          </a:xfrm>
          <a:prstGeom prst="straightConnector1">
            <a:avLst/>
          </a:prstGeom>
          <a:noFill/>
          <a:ln cap="flat" cmpd="sng" w="28575">
            <a:solidFill>
              <a:srgbClr val="845AD9"/>
            </a:solidFill>
            <a:prstDash val="solid"/>
            <a:round/>
            <a:headEnd len="med" w="med" type="triangle"/>
            <a:tailEnd len="med" w="med" type="triangle"/>
          </a:ln>
        </p:spPr>
      </p:cxnSp>
      <p:sp>
        <p:nvSpPr>
          <p:cNvPr id="1609" name="Google Shape;1609;p93"/>
          <p:cNvSpPr txBox="1"/>
          <p:nvPr/>
        </p:nvSpPr>
        <p:spPr>
          <a:xfrm flipH="1" rot="3287">
            <a:off x="8068566" y="2167283"/>
            <a:ext cx="94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26 cm</a:t>
            </a:r>
            <a:endParaRPr sz="1800">
              <a:latin typeface="Lexend"/>
              <a:ea typeface="Lexend"/>
              <a:cs typeface="Lexend"/>
              <a:sym typeface="Lexend"/>
            </a:endParaRPr>
          </a:p>
        </p:txBody>
      </p:sp>
      <p:sp>
        <p:nvSpPr>
          <p:cNvPr id="1610" name="Google Shape;1610;p93"/>
          <p:cNvSpPr txBox="1"/>
          <p:nvPr/>
        </p:nvSpPr>
        <p:spPr>
          <a:xfrm flipH="1" rot="2924">
            <a:off x="5984770" y="1398695"/>
            <a:ext cx="705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15 cm</a:t>
            </a:r>
            <a:endParaRPr sz="1800">
              <a:latin typeface="Lexend"/>
              <a:ea typeface="Lexend"/>
              <a:cs typeface="Lexend"/>
              <a:sym typeface="Lexend"/>
            </a:endParaRPr>
          </a:p>
        </p:txBody>
      </p:sp>
      <p:sp>
        <p:nvSpPr>
          <p:cNvPr id="1611" name="Google Shape;1611;p93"/>
          <p:cNvSpPr txBox="1"/>
          <p:nvPr/>
        </p:nvSpPr>
        <p:spPr>
          <a:xfrm flipH="1" rot="2924">
            <a:off x="5476811" y="3003370"/>
            <a:ext cx="705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13 cm</a:t>
            </a:r>
            <a:endParaRPr sz="1800">
              <a:latin typeface="Lexend"/>
              <a:ea typeface="Lexend"/>
              <a:cs typeface="Lexend"/>
              <a:sym typeface="Lexend"/>
            </a:endParaRPr>
          </a:p>
        </p:txBody>
      </p:sp>
      <p:sp>
        <p:nvSpPr>
          <p:cNvPr id="1612" name="Google Shape;1612;p93"/>
          <p:cNvSpPr txBox="1"/>
          <p:nvPr/>
        </p:nvSpPr>
        <p:spPr>
          <a:xfrm flipH="1" rot="3157">
            <a:off x="6829450" y="3341324"/>
            <a:ext cx="3267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613" name="Google Shape;1613;p93"/>
          <p:cNvSpPr txBox="1"/>
          <p:nvPr/>
        </p:nvSpPr>
        <p:spPr>
          <a:xfrm flipH="1" rot="3157">
            <a:off x="7132500" y="2217174"/>
            <a:ext cx="3267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B</a:t>
            </a:r>
            <a:endParaRPr sz="1800">
              <a:latin typeface="Lexend"/>
              <a:ea typeface="Lexend"/>
              <a:cs typeface="Lexend"/>
              <a:sym typeface="Lexend"/>
            </a:endParaRPr>
          </a:p>
        </p:txBody>
      </p:sp>
      <p:cxnSp>
        <p:nvCxnSpPr>
          <p:cNvPr id="1614" name="Google Shape;1614;p93"/>
          <p:cNvCxnSpPr/>
          <p:nvPr/>
        </p:nvCxnSpPr>
        <p:spPr>
          <a:xfrm rot="10800000">
            <a:off x="6308375" y="4040875"/>
            <a:ext cx="2029800" cy="0"/>
          </a:xfrm>
          <a:prstGeom prst="straightConnector1">
            <a:avLst/>
          </a:prstGeom>
          <a:noFill/>
          <a:ln cap="flat" cmpd="sng" w="28575">
            <a:solidFill>
              <a:srgbClr val="845AD9"/>
            </a:solidFill>
            <a:prstDash val="solid"/>
            <a:round/>
            <a:headEnd len="med" w="med" type="triangle"/>
            <a:tailEnd len="med" w="med" type="triangle"/>
          </a:ln>
        </p:spPr>
      </p:cxnSp>
      <p:sp>
        <p:nvSpPr>
          <p:cNvPr id="1615" name="Google Shape;1615;p93"/>
          <p:cNvSpPr txBox="1"/>
          <p:nvPr/>
        </p:nvSpPr>
        <p:spPr>
          <a:xfrm flipH="1" rot="2924">
            <a:off x="6992736" y="4063845"/>
            <a:ext cx="705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latin typeface="Times New Roman"/>
                <a:ea typeface="Times New Roman"/>
                <a:cs typeface="Times New Roman"/>
                <a:sym typeface="Times New Roman"/>
              </a:rPr>
              <a:t>w</a:t>
            </a:r>
            <a:r>
              <a:rPr lang="en-GB" sz="1800">
                <a:latin typeface="Lexend"/>
                <a:ea typeface="Lexend"/>
                <a:cs typeface="Lexend"/>
                <a:sym typeface="Lexend"/>
              </a:rPr>
              <a:t> cm</a:t>
            </a:r>
            <a:endParaRPr sz="1800">
              <a:latin typeface="Lexend"/>
              <a:ea typeface="Lexend"/>
              <a:cs typeface="Lexend"/>
              <a:sym typeface="Lexend"/>
            </a:endParaRPr>
          </a:p>
        </p:txBody>
      </p:sp>
      <p:grpSp>
        <p:nvGrpSpPr>
          <p:cNvPr id="1616" name="Google Shape;1616;p93"/>
          <p:cNvGrpSpPr/>
          <p:nvPr/>
        </p:nvGrpSpPr>
        <p:grpSpPr>
          <a:xfrm>
            <a:off x="5911689" y="641265"/>
            <a:ext cx="3869286" cy="3477300"/>
            <a:chOff x="5911689" y="638925"/>
            <a:chExt cx="3869286" cy="3477300"/>
          </a:xfrm>
        </p:grpSpPr>
        <p:grpSp>
          <p:nvGrpSpPr>
            <p:cNvPr id="1617" name="Google Shape;1617;p93"/>
            <p:cNvGrpSpPr/>
            <p:nvPr/>
          </p:nvGrpSpPr>
          <p:grpSpPr>
            <a:xfrm>
              <a:off x="5911689" y="638925"/>
              <a:ext cx="3869286" cy="3477300"/>
              <a:chOff x="5911689" y="638925"/>
              <a:chExt cx="3869286" cy="3477300"/>
            </a:xfrm>
          </p:grpSpPr>
          <p:sp>
            <p:nvSpPr>
              <p:cNvPr id="1618" name="Google Shape;1618;p93"/>
              <p:cNvSpPr/>
              <p:nvPr/>
            </p:nvSpPr>
            <p:spPr>
              <a:xfrm flipH="1" rot="2244395">
                <a:off x="6270784" y="1442884"/>
                <a:ext cx="3279684" cy="1869381"/>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9" name="Google Shape;1619;p93"/>
              <p:cNvSpPr/>
              <p:nvPr/>
            </p:nvSpPr>
            <p:spPr>
              <a:xfrm flipH="1">
                <a:off x="6047518" y="1982105"/>
                <a:ext cx="271500" cy="35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20" name="Google Shape;1620;p93"/>
              <p:cNvSpPr/>
              <p:nvPr/>
            </p:nvSpPr>
            <p:spPr>
              <a:xfrm flipH="1">
                <a:off x="5911689" y="1359400"/>
                <a:ext cx="838200" cy="35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621" name="Google Shape;1621;p93"/>
            <p:cNvSpPr/>
            <p:nvPr/>
          </p:nvSpPr>
          <p:spPr>
            <a:xfrm flipH="1">
              <a:off x="7265064" y="839375"/>
              <a:ext cx="838200" cy="35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1622" name="Google Shape;1622;p93"/>
          <p:cNvCxnSpPr/>
          <p:nvPr/>
        </p:nvCxnSpPr>
        <p:spPr>
          <a:xfrm>
            <a:off x="6301880" y="2352595"/>
            <a:ext cx="2017500" cy="1549200"/>
          </a:xfrm>
          <a:prstGeom prst="straightConnector1">
            <a:avLst/>
          </a:prstGeom>
          <a:noFill/>
          <a:ln cap="flat" cmpd="sng" w="38100">
            <a:solidFill>
              <a:schemeClr val="accent2"/>
            </a:solidFill>
            <a:prstDash val="solid"/>
            <a:round/>
            <a:headEnd len="med" w="med" type="triangle"/>
            <a:tailEnd len="med" w="med" type="triangle"/>
          </a:ln>
        </p:spPr>
      </p:cxnSp>
      <p:sp>
        <p:nvSpPr>
          <p:cNvPr id="1623" name="Google Shape;1623;p93"/>
          <p:cNvSpPr txBox="1"/>
          <p:nvPr/>
        </p:nvSpPr>
        <p:spPr>
          <a:xfrm flipH="1" rot="2220064">
            <a:off x="6385942" y="2860487"/>
            <a:ext cx="2044265" cy="27702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21.23676</a:t>
            </a:r>
            <a:r>
              <a:rPr lang="en-GB" sz="1800">
                <a:latin typeface="Lexend"/>
                <a:ea typeface="Lexend"/>
                <a:cs typeface="Lexend"/>
                <a:sym typeface="Lexend"/>
              </a:rPr>
              <a:t> cm</a:t>
            </a:r>
            <a:endParaRPr sz="1800">
              <a:latin typeface="Lexend"/>
              <a:ea typeface="Lexend"/>
              <a:cs typeface="Lexend"/>
              <a:sym typeface="Lexend"/>
            </a:endParaRPr>
          </a:p>
        </p:txBody>
      </p:sp>
      <p:sp>
        <p:nvSpPr>
          <p:cNvPr id="1624" name="Google Shape;1624;p93"/>
          <p:cNvSpPr txBox="1"/>
          <p:nvPr/>
        </p:nvSpPr>
        <p:spPr>
          <a:xfrm flipH="1" rot="2640">
            <a:off x="324349" y="2270807"/>
            <a:ext cx="3906601" cy="1446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Now that we know the length of a second side of triangle A, we can now use Pythagoras’ theorem to calculate the length </a:t>
            </a:r>
            <a:r>
              <a:rPr lang="en-GB" sz="1800">
                <a:solidFill>
                  <a:schemeClr val="dk1"/>
                </a:solidFill>
                <a:latin typeface="Lexend"/>
                <a:ea typeface="Lexend"/>
                <a:cs typeface="Lexend"/>
                <a:sym typeface="Lexend"/>
              </a:rPr>
              <a:t>of the unknown side labelled </a:t>
            </a:r>
            <a:r>
              <a:rPr i="1" lang="en-GB" sz="2200">
                <a:solidFill>
                  <a:schemeClr val="dk1"/>
                </a:solidFill>
                <a:latin typeface="Times New Roman"/>
                <a:ea typeface="Times New Roman"/>
                <a:cs typeface="Times New Roman"/>
                <a:sym typeface="Times New Roman"/>
              </a:rPr>
              <a:t>w</a:t>
            </a:r>
            <a:r>
              <a:rPr lang="en-GB" sz="1800">
                <a:solidFill>
                  <a:schemeClr val="dk1"/>
                </a:solidFill>
                <a:latin typeface="Lexend"/>
                <a:ea typeface="Lexend"/>
                <a:cs typeface="Lexend"/>
                <a:sym typeface="Lexend"/>
              </a:rPr>
              <a:t> cm.</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8" name="Shape 1628"/>
        <p:cNvGrpSpPr/>
        <p:nvPr/>
      </p:nvGrpSpPr>
      <p:grpSpPr>
        <a:xfrm>
          <a:off x="0" y="0"/>
          <a:ext cx="0" cy="0"/>
          <a:chOff x="0" y="0"/>
          <a:chExt cx="0" cy="0"/>
        </a:xfrm>
      </p:grpSpPr>
      <p:sp>
        <p:nvSpPr>
          <p:cNvPr id="1629" name="Google Shape;1629;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the length of missing sides</a:t>
            </a:r>
            <a:endParaRPr/>
          </a:p>
        </p:txBody>
      </p:sp>
      <p:pic>
        <p:nvPicPr>
          <p:cNvPr id="1630" name="Google Shape;1630;p94"/>
          <p:cNvPicPr preferRelativeResize="0"/>
          <p:nvPr/>
        </p:nvPicPr>
        <p:blipFill>
          <a:blip r:embed="rId3">
            <a:alphaModFix/>
          </a:blip>
          <a:stretch>
            <a:fillRect/>
          </a:stretch>
        </p:blipFill>
        <p:spPr>
          <a:xfrm>
            <a:off x="6256801" y="878548"/>
            <a:ext cx="2177150" cy="3093525"/>
          </a:xfrm>
          <a:prstGeom prst="rect">
            <a:avLst/>
          </a:prstGeom>
          <a:noFill/>
          <a:ln>
            <a:noFill/>
          </a:ln>
        </p:spPr>
      </p:pic>
      <p:cxnSp>
        <p:nvCxnSpPr>
          <p:cNvPr id="1631" name="Google Shape;1631;p94"/>
          <p:cNvCxnSpPr/>
          <p:nvPr/>
        </p:nvCxnSpPr>
        <p:spPr>
          <a:xfrm>
            <a:off x="7553775" y="908425"/>
            <a:ext cx="941400" cy="2968500"/>
          </a:xfrm>
          <a:prstGeom prst="straightConnector1">
            <a:avLst/>
          </a:prstGeom>
          <a:noFill/>
          <a:ln cap="flat" cmpd="sng" w="28575">
            <a:solidFill>
              <a:srgbClr val="845AD9"/>
            </a:solidFill>
            <a:prstDash val="solid"/>
            <a:round/>
            <a:headEnd len="med" w="med" type="triangle"/>
            <a:tailEnd len="med" w="med" type="triangle"/>
          </a:ln>
        </p:spPr>
      </p:cxnSp>
      <p:cxnSp>
        <p:nvCxnSpPr>
          <p:cNvPr id="1632" name="Google Shape;1632;p94"/>
          <p:cNvCxnSpPr/>
          <p:nvPr/>
        </p:nvCxnSpPr>
        <p:spPr>
          <a:xfrm flipH="1">
            <a:off x="6183275" y="878550"/>
            <a:ext cx="1081800" cy="1413300"/>
          </a:xfrm>
          <a:prstGeom prst="straightConnector1">
            <a:avLst/>
          </a:prstGeom>
          <a:noFill/>
          <a:ln cap="flat" cmpd="sng" w="28575">
            <a:solidFill>
              <a:srgbClr val="845AD9"/>
            </a:solidFill>
            <a:prstDash val="solid"/>
            <a:round/>
            <a:headEnd len="med" w="med" type="triangle"/>
            <a:tailEnd len="med" w="med" type="triangle"/>
          </a:ln>
        </p:spPr>
      </p:cxnSp>
      <p:cxnSp>
        <p:nvCxnSpPr>
          <p:cNvPr id="1633" name="Google Shape;1633;p94"/>
          <p:cNvCxnSpPr/>
          <p:nvPr/>
        </p:nvCxnSpPr>
        <p:spPr>
          <a:xfrm>
            <a:off x="6183275" y="2368725"/>
            <a:ext cx="0" cy="1546500"/>
          </a:xfrm>
          <a:prstGeom prst="straightConnector1">
            <a:avLst/>
          </a:prstGeom>
          <a:noFill/>
          <a:ln cap="flat" cmpd="sng" w="28575">
            <a:solidFill>
              <a:srgbClr val="845AD9"/>
            </a:solidFill>
            <a:prstDash val="solid"/>
            <a:round/>
            <a:headEnd len="med" w="med" type="triangle"/>
            <a:tailEnd len="med" w="med" type="triangle"/>
          </a:ln>
        </p:spPr>
      </p:cxnSp>
      <p:sp>
        <p:nvSpPr>
          <p:cNvPr id="1634" name="Google Shape;1634;p94"/>
          <p:cNvSpPr txBox="1"/>
          <p:nvPr/>
        </p:nvSpPr>
        <p:spPr>
          <a:xfrm flipH="1" rot="3287">
            <a:off x="8068566" y="2167283"/>
            <a:ext cx="94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26 cm</a:t>
            </a:r>
            <a:endParaRPr sz="1800">
              <a:latin typeface="Lexend"/>
              <a:ea typeface="Lexend"/>
              <a:cs typeface="Lexend"/>
              <a:sym typeface="Lexend"/>
            </a:endParaRPr>
          </a:p>
        </p:txBody>
      </p:sp>
      <p:sp>
        <p:nvSpPr>
          <p:cNvPr id="1635" name="Google Shape;1635;p94"/>
          <p:cNvSpPr txBox="1"/>
          <p:nvPr/>
        </p:nvSpPr>
        <p:spPr>
          <a:xfrm flipH="1" rot="2924">
            <a:off x="5984770" y="1398695"/>
            <a:ext cx="705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15 cm</a:t>
            </a:r>
            <a:endParaRPr sz="1800">
              <a:latin typeface="Lexend"/>
              <a:ea typeface="Lexend"/>
              <a:cs typeface="Lexend"/>
              <a:sym typeface="Lexend"/>
            </a:endParaRPr>
          </a:p>
        </p:txBody>
      </p:sp>
      <p:sp>
        <p:nvSpPr>
          <p:cNvPr id="1636" name="Google Shape;1636;p94"/>
          <p:cNvSpPr txBox="1"/>
          <p:nvPr/>
        </p:nvSpPr>
        <p:spPr>
          <a:xfrm flipH="1" rot="2924">
            <a:off x="5476811" y="3003370"/>
            <a:ext cx="705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13 cm</a:t>
            </a:r>
            <a:endParaRPr sz="1800">
              <a:latin typeface="Lexend"/>
              <a:ea typeface="Lexend"/>
              <a:cs typeface="Lexend"/>
              <a:sym typeface="Lexend"/>
            </a:endParaRPr>
          </a:p>
        </p:txBody>
      </p:sp>
      <p:sp>
        <p:nvSpPr>
          <p:cNvPr id="1637" name="Google Shape;1637;p94"/>
          <p:cNvSpPr txBox="1"/>
          <p:nvPr/>
        </p:nvSpPr>
        <p:spPr>
          <a:xfrm flipH="1" rot="3157">
            <a:off x="6829450" y="3341324"/>
            <a:ext cx="3267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638" name="Google Shape;1638;p94"/>
          <p:cNvSpPr txBox="1"/>
          <p:nvPr/>
        </p:nvSpPr>
        <p:spPr>
          <a:xfrm flipH="1" rot="3157">
            <a:off x="7132500" y="2217174"/>
            <a:ext cx="3267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B</a:t>
            </a:r>
            <a:endParaRPr sz="1800">
              <a:latin typeface="Lexend"/>
              <a:ea typeface="Lexend"/>
              <a:cs typeface="Lexend"/>
              <a:sym typeface="Lexend"/>
            </a:endParaRPr>
          </a:p>
        </p:txBody>
      </p:sp>
      <p:cxnSp>
        <p:nvCxnSpPr>
          <p:cNvPr id="1639" name="Google Shape;1639;p94"/>
          <p:cNvCxnSpPr/>
          <p:nvPr/>
        </p:nvCxnSpPr>
        <p:spPr>
          <a:xfrm rot="10800000">
            <a:off x="6308375" y="4040875"/>
            <a:ext cx="2029800" cy="0"/>
          </a:xfrm>
          <a:prstGeom prst="straightConnector1">
            <a:avLst/>
          </a:prstGeom>
          <a:noFill/>
          <a:ln cap="flat" cmpd="sng" w="28575">
            <a:solidFill>
              <a:srgbClr val="845AD9"/>
            </a:solidFill>
            <a:prstDash val="solid"/>
            <a:round/>
            <a:headEnd len="med" w="med" type="triangle"/>
            <a:tailEnd len="med" w="med" type="triangle"/>
          </a:ln>
        </p:spPr>
      </p:cxnSp>
      <p:sp>
        <p:nvSpPr>
          <p:cNvPr id="1640" name="Google Shape;1640;p94"/>
          <p:cNvSpPr txBox="1"/>
          <p:nvPr/>
        </p:nvSpPr>
        <p:spPr>
          <a:xfrm flipH="1" rot="2924">
            <a:off x="6992736" y="4063845"/>
            <a:ext cx="705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latin typeface="Times New Roman"/>
                <a:ea typeface="Times New Roman"/>
                <a:cs typeface="Times New Roman"/>
                <a:sym typeface="Times New Roman"/>
              </a:rPr>
              <a:t>w</a:t>
            </a:r>
            <a:r>
              <a:rPr lang="en-GB" sz="1800">
                <a:latin typeface="Lexend"/>
                <a:ea typeface="Lexend"/>
                <a:cs typeface="Lexend"/>
                <a:sym typeface="Lexend"/>
              </a:rPr>
              <a:t> cm</a:t>
            </a:r>
            <a:endParaRPr sz="1800">
              <a:latin typeface="Lexend"/>
              <a:ea typeface="Lexend"/>
              <a:cs typeface="Lexend"/>
              <a:sym typeface="Lexend"/>
            </a:endParaRPr>
          </a:p>
        </p:txBody>
      </p:sp>
      <p:grpSp>
        <p:nvGrpSpPr>
          <p:cNvPr id="1641" name="Google Shape;1641;p94"/>
          <p:cNvGrpSpPr/>
          <p:nvPr/>
        </p:nvGrpSpPr>
        <p:grpSpPr>
          <a:xfrm>
            <a:off x="5911689" y="641265"/>
            <a:ext cx="3869286" cy="3477300"/>
            <a:chOff x="5911689" y="638925"/>
            <a:chExt cx="3869286" cy="3477300"/>
          </a:xfrm>
        </p:grpSpPr>
        <p:grpSp>
          <p:nvGrpSpPr>
            <p:cNvPr id="1642" name="Google Shape;1642;p94"/>
            <p:cNvGrpSpPr/>
            <p:nvPr/>
          </p:nvGrpSpPr>
          <p:grpSpPr>
            <a:xfrm>
              <a:off x="5911689" y="638925"/>
              <a:ext cx="3869286" cy="3477300"/>
              <a:chOff x="5911689" y="638925"/>
              <a:chExt cx="3869286" cy="3477300"/>
            </a:xfrm>
          </p:grpSpPr>
          <p:sp>
            <p:nvSpPr>
              <p:cNvPr id="1643" name="Google Shape;1643;p94"/>
              <p:cNvSpPr/>
              <p:nvPr/>
            </p:nvSpPr>
            <p:spPr>
              <a:xfrm flipH="1" rot="2244395">
                <a:off x="6270784" y="1442884"/>
                <a:ext cx="3279684" cy="1869381"/>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44" name="Google Shape;1644;p94"/>
              <p:cNvSpPr/>
              <p:nvPr/>
            </p:nvSpPr>
            <p:spPr>
              <a:xfrm flipH="1">
                <a:off x="6047518" y="1982105"/>
                <a:ext cx="271500" cy="35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45" name="Google Shape;1645;p94"/>
              <p:cNvSpPr/>
              <p:nvPr/>
            </p:nvSpPr>
            <p:spPr>
              <a:xfrm flipH="1">
                <a:off x="5911689" y="1359400"/>
                <a:ext cx="838200" cy="35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646" name="Google Shape;1646;p94"/>
            <p:cNvSpPr/>
            <p:nvPr/>
          </p:nvSpPr>
          <p:spPr>
            <a:xfrm flipH="1">
              <a:off x="7265064" y="839375"/>
              <a:ext cx="838200" cy="35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1647" name="Google Shape;1647;p94"/>
          <p:cNvCxnSpPr/>
          <p:nvPr/>
        </p:nvCxnSpPr>
        <p:spPr>
          <a:xfrm>
            <a:off x="6301880" y="2352595"/>
            <a:ext cx="2017500" cy="1549200"/>
          </a:xfrm>
          <a:prstGeom prst="straightConnector1">
            <a:avLst/>
          </a:prstGeom>
          <a:noFill/>
          <a:ln cap="flat" cmpd="sng" w="38100">
            <a:solidFill>
              <a:schemeClr val="accent2"/>
            </a:solidFill>
            <a:prstDash val="solid"/>
            <a:round/>
            <a:headEnd len="med" w="med" type="triangle"/>
            <a:tailEnd len="med" w="med" type="triangle"/>
          </a:ln>
        </p:spPr>
      </p:cxnSp>
      <p:sp>
        <p:nvSpPr>
          <p:cNvPr id="1648" name="Google Shape;1648;p94"/>
          <p:cNvSpPr txBox="1"/>
          <p:nvPr/>
        </p:nvSpPr>
        <p:spPr>
          <a:xfrm flipH="1" rot="2220064">
            <a:off x="6385942" y="2860487"/>
            <a:ext cx="2044265" cy="27702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21.23676</a:t>
            </a:r>
            <a:r>
              <a:rPr lang="en-GB" sz="1800">
                <a:latin typeface="Lexend"/>
                <a:ea typeface="Lexend"/>
                <a:cs typeface="Lexend"/>
                <a:sym typeface="Lexend"/>
              </a:rPr>
              <a:t> cm</a:t>
            </a:r>
            <a:endParaRPr sz="1800">
              <a:latin typeface="Lexend"/>
              <a:ea typeface="Lexend"/>
              <a:cs typeface="Lexend"/>
              <a:sym typeface="Lexend"/>
            </a:endParaRPr>
          </a:p>
        </p:txBody>
      </p:sp>
      <p:sp>
        <p:nvSpPr>
          <p:cNvPr id="1649" name="Google Shape;1649;p94"/>
          <p:cNvSpPr txBox="1"/>
          <p:nvPr/>
        </p:nvSpPr>
        <p:spPr>
          <a:xfrm flipH="1" rot="2665">
            <a:off x="780974" y="2299486"/>
            <a:ext cx="38694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w</a:t>
            </a:r>
            <a:r>
              <a:rPr lang="en-GB" sz="1800">
                <a:solidFill>
                  <a:schemeClr val="lt1"/>
                </a:solidFill>
                <a:latin typeface="Lexend"/>
                <a:ea typeface="Lexend"/>
                <a:cs typeface="Lexend"/>
                <a:sym typeface="Lexend"/>
              </a:rPr>
              <a:t>²</a:t>
            </a:r>
            <a:r>
              <a:rPr lang="en-GB" sz="1800">
                <a:latin typeface="Lexend"/>
                <a:ea typeface="Lexend"/>
                <a:cs typeface="Lexend"/>
                <a:sym typeface="Lexend"/>
              </a:rPr>
              <a:t> </a:t>
            </a:r>
            <a:r>
              <a:rPr lang="en-GB" sz="1800">
                <a:solidFill>
                  <a:schemeClr val="lt1"/>
                </a:solidFill>
                <a:latin typeface="Lexend"/>
                <a:ea typeface="Lexend"/>
                <a:cs typeface="Lexend"/>
                <a:sym typeface="Lexend"/>
              </a:rPr>
              <a:t>+ 15²</a:t>
            </a:r>
            <a:r>
              <a:rPr lang="en-GB" sz="1800">
                <a:latin typeface="Lexend"/>
                <a:ea typeface="Lexend"/>
                <a:cs typeface="Lexend"/>
                <a:sym typeface="Lexend"/>
              </a:rPr>
              <a:t> =   </a:t>
            </a:r>
            <a:r>
              <a:rPr lang="en-GB" sz="1800">
                <a:solidFill>
                  <a:schemeClr val="dk1"/>
                </a:solidFill>
                <a:latin typeface="Lexend"/>
                <a:ea typeface="Lexend"/>
                <a:cs typeface="Lexend"/>
                <a:sym typeface="Lexend"/>
              </a:rPr>
              <a:t>281.9999753 = 16.79</a:t>
            </a:r>
            <a:endParaRPr sz="1800">
              <a:latin typeface="Lexend"/>
              <a:ea typeface="Lexend"/>
              <a:cs typeface="Lexend"/>
              <a:sym typeface="Lexend"/>
            </a:endParaRPr>
          </a:p>
        </p:txBody>
      </p:sp>
      <p:sp>
        <p:nvSpPr>
          <p:cNvPr id="1650" name="Google Shape;1650;p94"/>
          <p:cNvSpPr txBox="1"/>
          <p:nvPr/>
        </p:nvSpPr>
        <p:spPr>
          <a:xfrm flipH="1" rot="2671">
            <a:off x="324299" y="2890585"/>
            <a:ext cx="4247701" cy="892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The length of the </a:t>
            </a:r>
            <a:r>
              <a:rPr lang="en-GB" sz="1800">
                <a:solidFill>
                  <a:schemeClr val="dk1"/>
                </a:solidFill>
                <a:latin typeface="Lexend"/>
                <a:ea typeface="Lexend"/>
                <a:cs typeface="Lexend"/>
                <a:sym typeface="Lexend"/>
              </a:rPr>
              <a:t>side labelled </a:t>
            </a:r>
            <a:r>
              <a:rPr i="1" lang="en-GB" sz="2200">
                <a:solidFill>
                  <a:schemeClr val="dk1"/>
                </a:solidFill>
                <a:latin typeface="Times New Roman"/>
                <a:ea typeface="Times New Roman"/>
                <a:cs typeface="Times New Roman"/>
                <a:sym typeface="Times New Roman"/>
              </a:rPr>
              <a:t>w</a:t>
            </a:r>
            <a:r>
              <a:rPr lang="en-GB" sz="1800">
                <a:solidFill>
                  <a:schemeClr val="dk1"/>
                </a:solidFill>
                <a:latin typeface="Lexend"/>
                <a:ea typeface="Lexend"/>
                <a:cs typeface="Lexend"/>
                <a:sym typeface="Lexend"/>
              </a:rPr>
              <a:t> cm </a:t>
            </a:r>
            <a:r>
              <a:rPr lang="en-GB" sz="1800">
                <a:latin typeface="Lexend"/>
                <a:ea typeface="Lexend"/>
                <a:cs typeface="Lexend"/>
                <a:sym typeface="Lexend"/>
              </a:rPr>
              <a:t>is </a:t>
            </a:r>
            <a:r>
              <a:rPr lang="en-GB" sz="1800">
                <a:solidFill>
                  <a:schemeClr val="dk1"/>
                </a:solidFill>
                <a:latin typeface="Lexend"/>
                <a:ea typeface="Lexend"/>
                <a:cs typeface="Lexend"/>
                <a:sym typeface="Lexend"/>
              </a:rPr>
              <a:t>16.79 cm.</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p:txBody>
      </p:sp>
      <p:sp>
        <p:nvSpPr>
          <p:cNvPr id="1651" name="Google Shape;1651;p94"/>
          <p:cNvSpPr txBox="1"/>
          <p:nvPr/>
        </p:nvSpPr>
        <p:spPr>
          <a:xfrm flipH="1" rot="2640">
            <a:off x="324349" y="635782"/>
            <a:ext cx="39066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The Pythagoras’ theorem equation for triangle A is:</a:t>
            </a:r>
            <a:endParaRPr sz="1800">
              <a:latin typeface="Lexend"/>
              <a:ea typeface="Lexend"/>
              <a:cs typeface="Lexend"/>
              <a:sym typeface="Lexend"/>
            </a:endParaRPr>
          </a:p>
        </p:txBody>
      </p:sp>
      <p:sp>
        <p:nvSpPr>
          <p:cNvPr id="1652" name="Google Shape;1652;p94"/>
          <p:cNvSpPr txBox="1"/>
          <p:nvPr/>
        </p:nvSpPr>
        <p:spPr>
          <a:xfrm flipH="1" rot="2509">
            <a:off x="781100" y="1213635"/>
            <a:ext cx="28770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w</a:t>
            </a:r>
            <a:r>
              <a:rPr lang="en-GB" sz="1800">
                <a:latin typeface="Lexend"/>
                <a:ea typeface="Lexend"/>
                <a:cs typeface="Lexend"/>
                <a:sym typeface="Lexend"/>
              </a:rPr>
              <a:t>² + 13² = 21.23676²</a:t>
            </a:r>
            <a:endParaRPr sz="1800">
              <a:latin typeface="Lexend"/>
              <a:ea typeface="Lexend"/>
              <a:cs typeface="Lexend"/>
              <a:sym typeface="Lexend"/>
            </a:endParaRPr>
          </a:p>
        </p:txBody>
      </p:sp>
      <p:sp>
        <p:nvSpPr>
          <p:cNvPr id="1653" name="Google Shape;1653;p94"/>
          <p:cNvSpPr txBox="1"/>
          <p:nvPr/>
        </p:nvSpPr>
        <p:spPr>
          <a:xfrm flipH="1" rot="2369">
            <a:off x="781075" y="1595242"/>
            <a:ext cx="34830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w</a:t>
            </a:r>
            <a:r>
              <a:rPr lang="en-GB" sz="1800">
                <a:latin typeface="Lexend"/>
                <a:ea typeface="Lexend"/>
                <a:cs typeface="Lexend"/>
                <a:sym typeface="Lexend"/>
              </a:rPr>
              <a:t>² </a:t>
            </a:r>
            <a:r>
              <a:rPr lang="en-GB" sz="1800">
                <a:solidFill>
                  <a:schemeClr val="lt1"/>
                </a:solidFill>
                <a:latin typeface="Lexend"/>
                <a:ea typeface="Lexend"/>
                <a:cs typeface="Lexend"/>
                <a:sym typeface="Lexend"/>
              </a:rPr>
              <a:t>+ 13²</a:t>
            </a:r>
            <a:r>
              <a:rPr lang="en-GB" sz="1800">
                <a:latin typeface="Lexend"/>
                <a:ea typeface="Lexend"/>
                <a:cs typeface="Lexend"/>
                <a:sym typeface="Lexend"/>
              </a:rPr>
              <a:t> = 21.23676² – </a:t>
            </a:r>
            <a:r>
              <a:rPr lang="en-GB" sz="1800">
                <a:solidFill>
                  <a:schemeClr val="dk1"/>
                </a:solidFill>
                <a:latin typeface="Lexend"/>
                <a:ea typeface="Lexend"/>
                <a:cs typeface="Lexend"/>
                <a:sym typeface="Lexend"/>
              </a:rPr>
              <a:t>13²</a:t>
            </a:r>
            <a:endParaRPr sz="1800">
              <a:latin typeface="Lexend"/>
              <a:ea typeface="Lexend"/>
              <a:cs typeface="Lexend"/>
              <a:sym typeface="Lexend"/>
            </a:endParaRPr>
          </a:p>
        </p:txBody>
      </p:sp>
      <p:sp>
        <p:nvSpPr>
          <p:cNvPr id="1654" name="Google Shape;1654;p94"/>
          <p:cNvSpPr txBox="1"/>
          <p:nvPr/>
        </p:nvSpPr>
        <p:spPr>
          <a:xfrm flipH="1" rot="2509">
            <a:off x="781100" y="1947060"/>
            <a:ext cx="28770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w</a:t>
            </a:r>
            <a:r>
              <a:rPr lang="en-GB" sz="1800">
                <a:latin typeface="Lexend"/>
                <a:ea typeface="Lexend"/>
                <a:cs typeface="Lexend"/>
                <a:sym typeface="Lexend"/>
              </a:rPr>
              <a:t>² </a:t>
            </a:r>
            <a:r>
              <a:rPr lang="en-GB" sz="1800">
                <a:solidFill>
                  <a:schemeClr val="lt1"/>
                </a:solidFill>
                <a:latin typeface="Lexend"/>
                <a:ea typeface="Lexend"/>
                <a:cs typeface="Lexend"/>
                <a:sym typeface="Lexend"/>
              </a:rPr>
              <a:t>+ 13²</a:t>
            </a:r>
            <a:r>
              <a:rPr lang="en-GB" sz="1800">
                <a:latin typeface="Lexend"/>
                <a:ea typeface="Lexend"/>
                <a:cs typeface="Lexend"/>
                <a:sym typeface="Lexend"/>
              </a:rPr>
              <a:t> = 281.9999753</a:t>
            </a:r>
            <a:endParaRPr sz="1800">
              <a:latin typeface="Lexend"/>
              <a:ea typeface="Lexend"/>
              <a:cs typeface="Lexend"/>
              <a:sym typeface="Lexend"/>
            </a:endParaRPr>
          </a:p>
        </p:txBody>
      </p:sp>
      <p:pic>
        <p:nvPicPr>
          <p:cNvPr descr="&lt;math xmlns=&quot;http://www.w3.org/1998/Math/MathML&quot; display=&quot;block&quot; data-is-equatio=&quot;1&quot; data-latex=&quot;\sqrt{\ \ \ \ \ \ \ \ \ \ \ \ \ \ \ \ \ \ \ \ \ \ \ \ \ \ \ \ \ \ \ \ \ \ \ \ \ \ \ \ \ \ \ \ \ \ \ \ \ \ \ \ \ \ \ \ \ \ \ \ \ \ \ \ \ \ }&quot;&gt;&lt;msqr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sqrt&gt;&lt;/math&gt;" id="1655" name="Google Shape;1655;p94" title="the square root of"/>
          <p:cNvPicPr preferRelativeResize="0"/>
          <p:nvPr/>
        </p:nvPicPr>
        <p:blipFill rotWithShape="1">
          <a:blip r:embed="rId4">
            <a:alphaModFix/>
          </a:blip>
          <a:srcRect b="10" l="0" r="58593" t="0"/>
          <a:stretch/>
        </p:blipFill>
        <p:spPr>
          <a:xfrm>
            <a:off x="1845550" y="2342200"/>
            <a:ext cx="1524049" cy="262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9" name="Shape 1659"/>
        <p:cNvGrpSpPr/>
        <p:nvPr/>
      </p:nvGrpSpPr>
      <p:grpSpPr>
        <a:xfrm>
          <a:off x="0" y="0"/>
          <a:ext cx="0" cy="0"/>
          <a:chOff x="0" y="0"/>
          <a:chExt cx="0" cy="0"/>
        </a:xfrm>
      </p:grpSpPr>
      <p:sp>
        <p:nvSpPr>
          <p:cNvPr id="1660" name="Google Shape;1660;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the length of missing sides</a:t>
            </a:r>
            <a:endParaRPr/>
          </a:p>
        </p:txBody>
      </p:sp>
      <p:pic>
        <p:nvPicPr>
          <p:cNvPr id="1661" name="Google Shape;1661;p95"/>
          <p:cNvPicPr preferRelativeResize="0"/>
          <p:nvPr/>
        </p:nvPicPr>
        <p:blipFill>
          <a:blip r:embed="rId3">
            <a:alphaModFix/>
          </a:blip>
          <a:stretch>
            <a:fillRect/>
          </a:stretch>
        </p:blipFill>
        <p:spPr>
          <a:xfrm>
            <a:off x="6256801" y="878548"/>
            <a:ext cx="2177150" cy="3093525"/>
          </a:xfrm>
          <a:prstGeom prst="rect">
            <a:avLst/>
          </a:prstGeom>
          <a:noFill/>
          <a:ln>
            <a:noFill/>
          </a:ln>
        </p:spPr>
      </p:pic>
      <p:cxnSp>
        <p:nvCxnSpPr>
          <p:cNvPr id="1662" name="Google Shape;1662;p95"/>
          <p:cNvCxnSpPr/>
          <p:nvPr/>
        </p:nvCxnSpPr>
        <p:spPr>
          <a:xfrm>
            <a:off x="7553775" y="908425"/>
            <a:ext cx="941400" cy="2968500"/>
          </a:xfrm>
          <a:prstGeom prst="straightConnector1">
            <a:avLst/>
          </a:prstGeom>
          <a:noFill/>
          <a:ln cap="flat" cmpd="sng" w="28575">
            <a:solidFill>
              <a:srgbClr val="845AD9"/>
            </a:solidFill>
            <a:prstDash val="solid"/>
            <a:round/>
            <a:headEnd len="med" w="med" type="triangle"/>
            <a:tailEnd len="med" w="med" type="triangle"/>
          </a:ln>
        </p:spPr>
      </p:cxnSp>
      <p:cxnSp>
        <p:nvCxnSpPr>
          <p:cNvPr id="1663" name="Google Shape;1663;p95"/>
          <p:cNvCxnSpPr/>
          <p:nvPr/>
        </p:nvCxnSpPr>
        <p:spPr>
          <a:xfrm flipH="1">
            <a:off x="6183275" y="878550"/>
            <a:ext cx="1081800" cy="1413300"/>
          </a:xfrm>
          <a:prstGeom prst="straightConnector1">
            <a:avLst/>
          </a:prstGeom>
          <a:noFill/>
          <a:ln cap="flat" cmpd="sng" w="28575">
            <a:solidFill>
              <a:srgbClr val="845AD9"/>
            </a:solidFill>
            <a:prstDash val="solid"/>
            <a:round/>
            <a:headEnd len="med" w="med" type="triangle"/>
            <a:tailEnd len="med" w="med" type="triangle"/>
          </a:ln>
        </p:spPr>
      </p:cxnSp>
      <p:cxnSp>
        <p:nvCxnSpPr>
          <p:cNvPr id="1664" name="Google Shape;1664;p95"/>
          <p:cNvCxnSpPr/>
          <p:nvPr/>
        </p:nvCxnSpPr>
        <p:spPr>
          <a:xfrm>
            <a:off x="6183275" y="2368725"/>
            <a:ext cx="0" cy="1546500"/>
          </a:xfrm>
          <a:prstGeom prst="straightConnector1">
            <a:avLst/>
          </a:prstGeom>
          <a:noFill/>
          <a:ln cap="flat" cmpd="sng" w="28575">
            <a:solidFill>
              <a:srgbClr val="845AD9"/>
            </a:solidFill>
            <a:prstDash val="solid"/>
            <a:round/>
            <a:headEnd len="med" w="med" type="triangle"/>
            <a:tailEnd len="med" w="med" type="triangle"/>
          </a:ln>
        </p:spPr>
      </p:cxnSp>
      <p:sp>
        <p:nvSpPr>
          <p:cNvPr id="1665" name="Google Shape;1665;p95"/>
          <p:cNvSpPr txBox="1"/>
          <p:nvPr/>
        </p:nvSpPr>
        <p:spPr>
          <a:xfrm flipH="1" rot="3287">
            <a:off x="8068566" y="2167283"/>
            <a:ext cx="94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26 cm</a:t>
            </a:r>
            <a:endParaRPr sz="1800">
              <a:latin typeface="Lexend"/>
              <a:ea typeface="Lexend"/>
              <a:cs typeface="Lexend"/>
              <a:sym typeface="Lexend"/>
            </a:endParaRPr>
          </a:p>
        </p:txBody>
      </p:sp>
      <p:sp>
        <p:nvSpPr>
          <p:cNvPr id="1666" name="Google Shape;1666;p95"/>
          <p:cNvSpPr txBox="1"/>
          <p:nvPr/>
        </p:nvSpPr>
        <p:spPr>
          <a:xfrm flipH="1" rot="2924">
            <a:off x="5984770" y="1398695"/>
            <a:ext cx="705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15 cm</a:t>
            </a:r>
            <a:endParaRPr sz="1800">
              <a:latin typeface="Lexend"/>
              <a:ea typeface="Lexend"/>
              <a:cs typeface="Lexend"/>
              <a:sym typeface="Lexend"/>
            </a:endParaRPr>
          </a:p>
        </p:txBody>
      </p:sp>
      <p:sp>
        <p:nvSpPr>
          <p:cNvPr id="1667" name="Google Shape;1667;p95"/>
          <p:cNvSpPr txBox="1"/>
          <p:nvPr/>
        </p:nvSpPr>
        <p:spPr>
          <a:xfrm flipH="1" rot="2924">
            <a:off x="5476811" y="3003370"/>
            <a:ext cx="705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13 cm</a:t>
            </a:r>
            <a:endParaRPr sz="1800">
              <a:latin typeface="Lexend"/>
              <a:ea typeface="Lexend"/>
              <a:cs typeface="Lexend"/>
              <a:sym typeface="Lexend"/>
            </a:endParaRPr>
          </a:p>
        </p:txBody>
      </p:sp>
      <p:sp>
        <p:nvSpPr>
          <p:cNvPr id="1668" name="Google Shape;1668;p95"/>
          <p:cNvSpPr txBox="1"/>
          <p:nvPr/>
        </p:nvSpPr>
        <p:spPr>
          <a:xfrm flipH="1" rot="3157">
            <a:off x="6829450" y="3341324"/>
            <a:ext cx="3267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669" name="Google Shape;1669;p95"/>
          <p:cNvSpPr txBox="1"/>
          <p:nvPr/>
        </p:nvSpPr>
        <p:spPr>
          <a:xfrm flipH="1" rot="3157">
            <a:off x="7132500" y="2217174"/>
            <a:ext cx="3267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B</a:t>
            </a:r>
            <a:endParaRPr sz="1800">
              <a:latin typeface="Lexend"/>
              <a:ea typeface="Lexend"/>
              <a:cs typeface="Lexend"/>
              <a:sym typeface="Lexend"/>
            </a:endParaRPr>
          </a:p>
        </p:txBody>
      </p:sp>
      <p:cxnSp>
        <p:nvCxnSpPr>
          <p:cNvPr id="1670" name="Google Shape;1670;p95"/>
          <p:cNvCxnSpPr/>
          <p:nvPr/>
        </p:nvCxnSpPr>
        <p:spPr>
          <a:xfrm rot="10800000">
            <a:off x="6308375" y="4040875"/>
            <a:ext cx="2029800" cy="0"/>
          </a:xfrm>
          <a:prstGeom prst="straightConnector1">
            <a:avLst/>
          </a:prstGeom>
          <a:noFill/>
          <a:ln cap="flat" cmpd="sng" w="28575">
            <a:solidFill>
              <a:srgbClr val="845AD9"/>
            </a:solidFill>
            <a:prstDash val="solid"/>
            <a:round/>
            <a:headEnd len="med" w="med" type="triangle"/>
            <a:tailEnd len="med" w="med" type="triangle"/>
          </a:ln>
        </p:spPr>
      </p:cxnSp>
      <p:sp>
        <p:nvSpPr>
          <p:cNvPr id="1671" name="Google Shape;1671;p95"/>
          <p:cNvSpPr txBox="1"/>
          <p:nvPr/>
        </p:nvSpPr>
        <p:spPr>
          <a:xfrm flipH="1" rot="2682">
            <a:off x="6692476" y="4063881"/>
            <a:ext cx="11535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16.79 </a:t>
            </a:r>
            <a:r>
              <a:rPr lang="en-GB" sz="1800">
                <a:latin typeface="Lexend"/>
                <a:ea typeface="Lexend"/>
                <a:cs typeface="Lexend"/>
                <a:sym typeface="Lexend"/>
              </a:rPr>
              <a:t>cm</a:t>
            </a:r>
            <a:endParaRPr sz="1800">
              <a:latin typeface="Lexend"/>
              <a:ea typeface="Lexend"/>
              <a:cs typeface="Lexend"/>
              <a:sym typeface="Lexend"/>
            </a:endParaRPr>
          </a:p>
        </p:txBody>
      </p:sp>
      <p:grpSp>
        <p:nvGrpSpPr>
          <p:cNvPr id="1672" name="Google Shape;1672;p95"/>
          <p:cNvGrpSpPr/>
          <p:nvPr/>
        </p:nvGrpSpPr>
        <p:grpSpPr>
          <a:xfrm>
            <a:off x="5911689" y="641265"/>
            <a:ext cx="3869286" cy="3477300"/>
            <a:chOff x="5911689" y="638925"/>
            <a:chExt cx="3869286" cy="3477300"/>
          </a:xfrm>
        </p:grpSpPr>
        <p:grpSp>
          <p:nvGrpSpPr>
            <p:cNvPr id="1673" name="Google Shape;1673;p95"/>
            <p:cNvGrpSpPr/>
            <p:nvPr/>
          </p:nvGrpSpPr>
          <p:grpSpPr>
            <a:xfrm>
              <a:off x="5911689" y="638925"/>
              <a:ext cx="3869286" cy="3477300"/>
              <a:chOff x="5911689" y="638925"/>
              <a:chExt cx="3869286" cy="3477300"/>
            </a:xfrm>
          </p:grpSpPr>
          <p:sp>
            <p:nvSpPr>
              <p:cNvPr id="1674" name="Google Shape;1674;p95"/>
              <p:cNvSpPr/>
              <p:nvPr/>
            </p:nvSpPr>
            <p:spPr>
              <a:xfrm flipH="1" rot="2244395">
                <a:off x="6270784" y="1442884"/>
                <a:ext cx="3279684" cy="1869381"/>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75" name="Google Shape;1675;p95"/>
              <p:cNvSpPr/>
              <p:nvPr/>
            </p:nvSpPr>
            <p:spPr>
              <a:xfrm flipH="1">
                <a:off x="6047518" y="1982105"/>
                <a:ext cx="271500" cy="35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76" name="Google Shape;1676;p95"/>
              <p:cNvSpPr/>
              <p:nvPr/>
            </p:nvSpPr>
            <p:spPr>
              <a:xfrm flipH="1">
                <a:off x="5911689" y="1359400"/>
                <a:ext cx="838200" cy="35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677" name="Google Shape;1677;p95"/>
            <p:cNvSpPr/>
            <p:nvPr/>
          </p:nvSpPr>
          <p:spPr>
            <a:xfrm flipH="1">
              <a:off x="7265064" y="839375"/>
              <a:ext cx="838200" cy="35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1678" name="Google Shape;1678;p95"/>
          <p:cNvCxnSpPr/>
          <p:nvPr/>
        </p:nvCxnSpPr>
        <p:spPr>
          <a:xfrm>
            <a:off x="6301880" y="2352595"/>
            <a:ext cx="2017500" cy="1549200"/>
          </a:xfrm>
          <a:prstGeom prst="straightConnector1">
            <a:avLst/>
          </a:prstGeom>
          <a:noFill/>
          <a:ln cap="flat" cmpd="sng" w="38100">
            <a:solidFill>
              <a:schemeClr val="accent2"/>
            </a:solidFill>
            <a:prstDash val="solid"/>
            <a:round/>
            <a:headEnd len="med" w="med" type="triangle"/>
            <a:tailEnd len="med" w="med" type="triangle"/>
          </a:ln>
        </p:spPr>
      </p:cxnSp>
      <p:sp>
        <p:nvSpPr>
          <p:cNvPr id="1679" name="Google Shape;1679;p95"/>
          <p:cNvSpPr txBox="1"/>
          <p:nvPr/>
        </p:nvSpPr>
        <p:spPr>
          <a:xfrm flipH="1" rot="2220064">
            <a:off x="6385942" y="2860487"/>
            <a:ext cx="2044265" cy="27702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21.23676</a:t>
            </a:r>
            <a:r>
              <a:rPr lang="en-GB" sz="1800">
                <a:latin typeface="Lexend"/>
                <a:ea typeface="Lexend"/>
                <a:cs typeface="Lexend"/>
                <a:sym typeface="Lexend"/>
              </a:rPr>
              <a:t> cm</a:t>
            </a:r>
            <a:endParaRPr sz="1800">
              <a:latin typeface="Lexend"/>
              <a:ea typeface="Lexend"/>
              <a:cs typeface="Lexend"/>
              <a:sym typeface="Lexend"/>
            </a:endParaRPr>
          </a:p>
        </p:txBody>
      </p:sp>
      <p:sp>
        <p:nvSpPr>
          <p:cNvPr id="1680" name="Google Shape;1680;p95"/>
          <p:cNvSpPr txBox="1"/>
          <p:nvPr/>
        </p:nvSpPr>
        <p:spPr>
          <a:xfrm flipH="1" rot="2665">
            <a:off x="780974" y="2299486"/>
            <a:ext cx="38694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w</a:t>
            </a:r>
            <a:r>
              <a:rPr lang="en-GB" sz="1800">
                <a:solidFill>
                  <a:schemeClr val="lt1"/>
                </a:solidFill>
                <a:latin typeface="Lexend"/>
                <a:ea typeface="Lexend"/>
                <a:cs typeface="Lexend"/>
                <a:sym typeface="Lexend"/>
              </a:rPr>
              <a:t>²</a:t>
            </a:r>
            <a:r>
              <a:rPr lang="en-GB" sz="1800">
                <a:latin typeface="Lexend"/>
                <a:ea typeface="Lexend"/>
                <a:cs typeface="Lexend"/>
                <a:sym typeface="Lexend"/>
              </a:rPr>
              <a:t> </a:t>
            </a:r>
            <a:r>
              <a:rPr lang="en-GB" sz="1800">
                <a:solidFill>
                  <a:schemeClr val="lt1"/>
                </a:solidFill>
                <a:latin typeface="Lexend"/>
                <a:ea typeface="Lexend"/>
                <a:cs typeface="Lexend"/>
                <a:sym typeface="Lexend"/>
              </a:rPr>
              <a:t>+ 15²</a:t>
            </a:r>
            <a:r>
              <a:rPr lang="en-GB" sz="1800">
                <a:latin typeface="Lexend"/>
                <a:ea typeface="Lexend"/>
                <a:cs typeface="Lexend"/>
                <a:sym typeface="Lexend"/>
              </a:rPr>
              <a:t> =   </a:t>
            </a:r>
            <a:r>
              <a:rPr lang="en-GB" sz="1800">
                <a:solidFill>
                  <a:schemeClr val="dk1"/>
                </a:solidFill>
                <a:latin typeface="Lexend"/>
                <a:ea typeface="Lexend"/>
                <a:cs typeface="Lexend"/>
                <a:sym typeface="Lexend"/>
              </a:rPr>
              <a:t>281.9999753 = 16.79</a:t>
            </a:r>
            <a:endParaRPr sz="1800">
              <a:latin typeface="Lexend"/>
              <a:ea typeface="Lexend"/>
              <a:cs typeface="Lexend"/>
              <a:sym typeface="Lexend"/>
            </a:endParaRPr>
          </a:p>
        </p:txBody>
      </p:sp>
      <p:sp>
        <p:nvSpPr>
          <p:cNvPr id="1681" name="Google Shape;1681;p95"/>
          <p:cNvSpPr txBox="1"/>
          <p:nvPr/>
        </p:nvSpPr>
        <p:spPr>
          <a:xfrm flipH="1" rot="2640">
            <a:off x="324349" y="635782"/>
            <a:ext cx="39066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The Pythagoras’ theorem equation for triangle A is:</a:t>
            </a:r>
            <a:endParaRPr sz="1800">
              <a:latin typeface="Lexend"/>
              <a:ea typeface="Lexend"/>
              <a:cs typeface="Lexend"/>
              <a:sym typeface="Lexend"/>
            </a:endParaRPr>
          </a:p>
        </p:txBody>
      </p:sp>
      <p:sp>
        <p:nvSpPr>
          <p:cNvPr id="1682" name="Google Shape;1682;p95"/>
          <p:cNvSpPr txBox="1"/>
          <p:nvPr/>
        </p:nvSpPr>
        <p:spPr>
          <a:xfrm flipH="1" rot="2509">
            <a:off x="781100" y="1213635"/>
            <a:ext cx="28770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w</a:t>
            </a:r>
            <a:r>
              <a:rPr lang="en-GB" sz="1800">
                <a:latin typeface="Lexend"/>
                <a:ea typeface="Lexend"/>
                <a:cs typeface="Lexend"/>
                <a:sym typeface="Lexend"/>
              </a:rPr>
              <a:t>² + 13² = 21.23676²</a:t>
            </a:r>
            <a:endParaRPr sz="1800">
              <a:latin typeface="Lexend"/>
              <a:ea typeface="Lexend"/>
              <a:cs typeface="Lexend"/>
              <a:sym typeface="Lexend"/>
            </a:endParaRPr>
          </a:p>
        </p:txBody>
      </p:sp>
      <p:sp>
        <p:nvSpPr>
          <p:cNvPr id="1683" name="Google Shape;1683;p95"/>
          <p:cNvSpPr txBox="1"/>
          <p:nvPr/>
        </p:nvSpPr>
        <p:spPr>
          <a:xfrm flipH="1" rot="2369">
            <a:off x="781075" y="1595242"/>
            <a:ext cx="34830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w</a:t>
            </a:r>
            <a:r>
              <a:rPr lang="en-GB" sz="1800">
                <a:latin typeface="Lexend"/>
                <a:ea typeface="Lexend"/>
                <a:cs typeface="Lexend"/>
                <a:sym typeface="Lexend"/>
              </a:rPr>
              <a:t>² </a:t>
            </a:r>
            <a:r>
              <a:rPr lang="en-GB" sz="1800">
                <a:solidFill>
                  <a:schemeClr val="lt1"/>
                </a:solidFill>
                <a:latin typeface="Lexend"/>
                <a:ea typeface="Lexend"/>
                <a:cs typeface="Lexend"/>
                <a:sym typeface="Lexend"/>
              </a:rPr>
              <a:t>+ 13²</a:t>
            </a:r>
            <a:r>
              <a:rPr lang="en-GB" sz="1800">
                <a:latin typeface="Lexend"/>
                <a:ea typeface="Lexend"/>
                <a:cs typeface="Lexend"/>
                <a:sym typeface="Lexend"/>
              </a:rPr>
              <a:t> = 21.23676² – </a:t>
            </a:r>
            <a:r>
              <a:rPr lang="en-GB" sz="1800">
                <a:solidFill>
                  <a:schemeClr val="dk1"/>
                </a:solidFill>
                <a:latin typeface="Lexend"/>
                <a:ea typeface="Lexend"/>
                <a:cs typeface="Lexend"/>
                <a:sym typeface="Lexend"/>
              </a:rPr>
              <a:t>13²</a:t>
            </a:r>
            <a:endParaRPr sz="1800">
              <a:latin typeface="Lexend"/>
              <a:ea typeface="Lexend"/>
              <a:cs typeface="Lexend"/>
              <a:sym typeface="Lexend"/>
            </a:endParaRPr>
          </a:p>
        </p:txBody>
      </p:sp>
      <p:sp>
        <p:nvSpPr>
          <p:cNvPr id="1684" name="Google Shape;1684;p95"/>
          <p:cNvSpPr txBox="1"/>
          <p:nvPr/>
        </p:nvSpPr>
        <p:spPr>
          <a:xfrm flipH="1" rot="2509">
            <a:off x="781100" y="1947060"/>
            <a:ext cx="28770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w</a:t>
            </a:r>
            <a:r>
              <a:rPr lang="en-GB" sz="1800">
                <a:latin typeface="Lexend"/>
                <a:ea typeface="Lexend"/>
                <a:cs typeface="Lexend"/>
                <a:sym typeface="Lexend"/>
              </a:rPr>
              <a:t>² </a:t>
            </a:r>
            <a:r>
              <a:rPr lang="en-GB" sz="1800">
                <a:solidFill>
                  <a:schemeClr val="lt1"/>
                </a:solidFill>
                <a:latin typeface="Lexend"/>
                <a:ea typeface="Lexend"/>
                <a:cs typeface="Lexend"/>
                <a:sym typeface="Lexend"/>
              </a:rPr>
              <a:t>+ 13²</a:t>
            </a:r>
            <a:r>
              <a:rPr lang="en-GB" sz="1800">
                <a:latin typeface="Lexend"/>
                <a:ea typeface="Lexend"/>
                <a:cs typeface="Lexend"/>
                <a:sym typeface="Lexend"/>
              </a:rPr>
              <a:t> = 281.9999753</a:t>
            </a:r>
            <a:endParaRPr sz="1800">
              <a:latin typeface="Lexend"/>
              <a:ea typeface="Lexend"/>
              <a:cs typeface="Lexend"/>
              <a:sym typeface="Lexend"/>
            </a:endParaRPr>
          </a:p>
        </p:txBody>
      </p:sp>
      <p:pic>
        <p:nvPicPr>
          <p:cNvPr descr="&lt;math xmlns=&quot;http://www.w3.org/1998/Math/MathML&quot; display=&quot;block&quot; data-is-equatio=&quot;1&quot; data-latex=&quot;\sqrt{\ \ \ \ \ \ \ \ \ \ \ \ \ \ \ \ \ \ \ \ \ \ \ \ \ \ \ \ \ \ \ \ \ \ \ \ \ \ \ \ \ \ \ \ \ \ \ \ \ \ \ \ \ \ \ \ \ \ \ \ \ \ \ \ \ \ }&quot;&gt;&lt;msqr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sqrt&gt;&lt;/math&gt;" id="1685" name="Google Shape;1685;p95" title="the square root of"/>
          <p:cNvPicPr preferRelativeResize="0"/>
          <p:nvPr/>
        </p:nvPicPr>
        <p:blipFill rotWithShape="1">
          <a:blip r:embed="rId4">
            <a:alphaModFix/>
          </a:blip>
          <a:srcRect b="10" l="0" r="58593" t="0"/>
          <a:stretch/>
        </p:blipFill>
        <p:spPr>
          <a:xfrm>
            <a:off x="1845550" y="2342200"/>
            <a:ext cx="1524049" cy="262775"/>
          </a:xfrm>
          <a:prstGeom prst="rect">
            <a:avLst/>
          </a:prstGeom>
          <a:noFill/>
          <a:ln>
            <a:noFill/>
          </a:ln>
        </p:spPr>
      </p:pic>
      <p:pic>
        <p:nvPicPr>
          <p:cNvPr id="1686" name="Google Shape;1686;p95"/>
          <p:cNvPicPr preferRelativeResize="0"/>
          <p:nvPr/>
        </p:nvPicPr>
        <p:blipFill>
          <a:blip r:embed="rId5">
            <a:alphaModFix/>
          </a:blip>
          <a:stretch>
            <a:fillRect/>
          </a:stretch>
        </p:blipFill>
        <p:spPr>
          <a:xfrm>
            <a:off x="488151" y="3822558"/>
            <a:ext cx="652400" cy="732325"/>
          </a:xfrm>
          <a:prstGeom prst="rect">
            <a:avLst/>
          </a:prstGeom>
          <a:noFill/>
          <a:ln>
            <a:noFill/>
          </a:ln>
        </p:spPr>
      </p:pic>
      <p:sp>
        <p:nvSpPr>
          <p:cNvPr id="1687" name="Google Shape;1687;p95"/>
          <p:cNvSpPr txBox="1"/>
          <p:nvPr/>
        </p:nvSpPr>
        <p:spPr>
          <a:xfrm>
            <a:off x="371688" y="4485535"/>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sz="1800">
              <a:latin typeface="Lexend"/>
              <a:ea typeface="Lexend"/>
              <a:cs typeface="Lexend"/>
              <a:sym typeface="Lexend"/>
            </a:endParaRPr>
          </a:p>
        </p:txBody>
      </p:sp>
      <p:grpSp>
        <p:nvGrpSpPr>
          <p:cNvPr id="1688" name="Google Shape;1688;p95"/>
          <p:cNvGrpSpPr/>
          <p:nvPr/>
        </p:nvGrpSpPr>
        <p:grpSpPr>
          <a:xfrm>
            <a:off x="943361" y="2812510"/>
            <a:ext cx="4064345" cy="1544012"/>
            <a:chOff x="946904" y="3080950"/>
            <a:chExt cx="3727048" cy="1415876"/>
          </a:xfrm>
        </p:grpSpPr>
        <p:pic>
          <p:nvPicPr>
            <p:cNvPr id="1689" name="Google Shape;1689;p95"/>
            <p:cNvPicPr preferRelativeResize="0"/>
            <p:nvPr/>
          </p:nvPicPr>
          <p:blipFill rotWithShape="1">
            <a:blip r:embed="rId6">
              <a:alphaModFix/>
            </a:blip>
            <a:srcRect b="4218" l="40550" r="0" t="13558"/>
            <a:stretch/>
          </p:blipFill>
          <p:spPr>
            <a:xfrm>
              <a:off x="946904" y="3080950"/>
              <a:ext cx="3727048" cy="1415876"/>
            </a:xfrm>
            <a:prstGeom prst="rect">
              <a:avLst/>
            </a:prstGeom>
            <a:noFill/>
            <a:ln>
              <a:noFill/>
            </a:ln>
          </p:spPr>
        </p:pic>
        <p:sp>
          <p:nvSpPr>
            <p:cNvPr id="1690" name="Google Shape;1690;p95"/>
            <p:cNvSpPr txBox="1"/>
            <p:nvPr/>
          </p:nvSpPr>
          <p:spPr>
            <a:xfrm>
              <a:off x="1223003" y="3155492"/>
              <a:ext cx="3425100" cy="1016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Wow, that’s cool but it looks really messy with those long decimals!</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Is there a way to avoid them?</a:t>
              </a:r>
              <a:endParaRPr sz="1800">
                <a:solidFill>
                  <a:schemeClr val="dk1"/>
                </a:solidFill>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4" name="Shape 1694"/>
        <p:cNvGrpSpPr/>
        <p:nvPr/>
      </p:nvGrpSpPr>
      <p:grpSpPr>
        <a:xfrm>
          <a:off x="0" y="0"/>
          <a:ext cx="0" cy="0"/>
          <a:chOff x="0" y="0"/>
          <a:chExt cx="0" cy="0"/>
        </a:xfrm>
      </p:grpSpPr>
      <p:sp>
        <p:nvSpPr>
          <p:cNvPr id="1695" name="Google Shape;1695;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the length of missing sides</a:t>
            </a:r>
            <a:endParaRPr/>
          </a:p>
        </p:txBody>
      </p:sp>
      <p:pic>
        <p:nvPicPr>
          <p:cNvPr id="1696" name="Google Shape;1696;p96"/>
          <p:cNvPicPr preferRelativeResize="0"/>
          <p:nvPr/>
        </p:nvPicPr>
        <p:blipFill>
          <a:blip r:embed="rId3">
            <a:alphaModFix/>
          </a:blip>
          <a:stretch>
            <a:fillRect/>
          </a:stretch>
        </p:blipFill>
        <p:spPr>
          <a:xfrm>
            <a:off x="6256801" y="878548"/>
            <a:ext cx="2177150" cy="3093525"/>
          </a:xfrm>
          <a:prstGeom prst="rect">
            <a:avLst/>
          </a:prstGeom>
          <a:noFill/>
          <a:ln>
            <a:noFill/>
          </a:ln>
        </p:spPr>
      </p:pic>
      <p:cxnSp>
        <p:nvCxnSpPr>
          <p:cNvPr id="1697" name="Google Shape;1697;p96"/>
          <p:cNvCxnSpPr/>
          <p:nvPr/>
        </p:nvCxnSpPr>
        <p:spPr>
          <a:xfrm>
            <a:off x="7553775" y="908425"/>
            <a:ext cx="941400" cy="2968500"/>
          </a:xfrm>
          <a:prstGeom prst="straightConnector1">
            <a:avLst/>
          </a:prstGeom>
          <a:noFill/>
          <a:ln cap="flat" cmpd="sng" w="28575">
            <a:solidFill>
              <a:srgbClr val="845AD9"/>
            </a:solidFill>
            <a:prstDash val="solid"/>
            <a:round/>
            <a:headEnd len="med" w="med" type="triangle"/>
            <a:tailEnd len="med" w="med" type="triangle"/>
          </a:ln>
        </p:spPr>
      </p:cxnSp>
      <p:cxnSp>
        <p:nvCxnSpPr>
          <p:cNvPr id="1698" name="Google Shape;1698;p96"/>
          <p:cNvCxnSpPr/>
          <p:nvPr/>
        </p:nvCxnSpPr>
        <p:spPr>
          <a:xfrm flipH="1">
            <a:off x="6183275" y="878550"/>
            <a:ext cx="1081800" cy="1413300"/>
          </a:xfrm>
          <a:prstGeom prst="straightConnector1">
            <a:avLst/>
          </a:prstGeom>
          <a:noFill/>
          <a:ln cap="flat" cmpd="sng" w="28575">
            <a:solidFill>
              <a:srgbClr val="845AD9"/>
            </a:solidFill>
            <a:prstDash val="solid"/>
            <a:round/>
            <a:headEnd len="med" w="med" type="triangle"/>
            <a:tailEnd len="med" w="med" type="triangle"/>
          </a:ln>
        </p:spPr>
      </p:cxnSp>
      <p:cxnSp>
        <p:nvCxnSpPr>
          <p:cNvPr id="1699" name="Google Shape;1699;p96"/>
          <p:cNvCxnSpPr/>
          <p:nvPr/>
        </p:nvCxnSpPr>
        <p:spPr>
          <a:xfrm>
            <a:off x="6183275" y="2368725"/>
            <a:ext cx="0" cy="1546500"/>
          </a:xfrm>
          <a:prstGeom prst="straightConnector1">
            <a:avLst/>
          </a:prstGeom>
          <a:noFill/>
          <a:ln cap="flat" cmpd="sng" w="28575">
            <a:solidFill>
              <a:srgbClr val="845AD9"/>
            </a:solidFill>
            <a:prstDash val="solid"/>
            <a:round/>
            <a:headEnd len="med" w="med" type="triangle"/>
            <a:tailEnd len="med" w="med" type="triangle"/>
          </a:ln>
        </p:spPr>
      </p:cxnSp>
      <p:sp>
        <p:nvSpPr>
          <p:cNvPr id="1700" name="Google Shape;1700;p96"/>
          <p:cNvSpPr txBox="1"/>
          <p:nvPr/>
        </p:nvSpPr>
        <p:spPr>
          <a:xfrm flipH="1" rot="3287">
            <a:off x="8068566" y="2167283"/>
            <a:ext cx="94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26 cm</a:t>
            </a:r>
            <a:endParaRPr sz="1800">
              <a:latin typeface="Lexend"/>
              <a:ea typeface="Lexend"/>
              <a:cs typeface="Lexend"/>
              <a:sym typeface="Lexend"/>
            </a:endParaRPr>
          </a:p>
        </p:txBody>
      </p:sp>
      <p:sp>
        <p:nvSpPr>
          <p:cNvPr id="1701" name="Google Shape;1701;p96"/>
          <p:cNvSpPr txBox="1"/>
          <p:nvPr/>
        </p:nvSpPr>
        <p:spPr>
          <a:xfrm flipH="1" rot="2924">
            <a:off x="5984770" y="1398695"/>
            <a:ext cx="705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15 cm</a:t>
            </a:r>
            <a:endParaRPr sz="1800">
              <a:latin typeface="Lexend"/>
              <a:ea typeface="Lexend"/>
              <a:cs typeface="Lexend"/>
              <a:sym typeface="Lexend"/>
            </a:endParaRPr>
          </a:p>
        </p:txBody>
      </p:sp>
      <p:sp>
        <p:nvSpPr>
          <p:cNvPr id="1702" name="Google Shape;1702;p96"/>
          <p:cNvSpPr txBox="1"/>
          <p:nvPr/>
        </p:nvSpPr>
        <p:spPr>
          <a:xfrm flipH="1" rot="2924">
            <a:off x="5476811" y="3003370"/>
            <a:ext cx="705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13 cm</a:t>
            </a:r>
            <a:endParaRPr sz="1800">
              <a:latin typeface="Lexend"/>
              <a:ea typeface="Lexend"/>
              <a:cs typeface="Lexend"/>
              <a:sym typeface="Lexend"/>
            </a:endParaRPr>
          </a:p>
        </p:txBody>
      </p:sp>
      <p:sp>
        <p:nvSpPr>
          <p:cNvPr id="1703" name="Google Shape;1703;p96"/>
          <p:cNvSpPr txBox="1"/>
          <p:nvPr/>
        </p:nvSpPr>
        <p:spPr>
          <a:xfrm flipH="1" rot="3157">
            <a:off x="6829450" y="3341324"/>
            <a:ext cx="3267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704" name="Google Shape;1704;p96"/>
          <p:cNvSpPr txBox="1"/>
          <p:nvPr/>
        </p:nvSpPr>
        <p:spPr>
          <a:xfrm flipH="1" rot="3157">
            <a:off x="7132500" y="2217174"/>
            <a:ext cx="3267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B</a:t>
            </a:r>
            <a:endParaRPr sz="1800">
              <a:latin typeface="Lexend"/>
              <a:ea typeface="Lexend"/>
              <a:cs typeface="Lexend"/>
              <a:sym typeface="Lexend"/>
            </a:endParaRPr>
          </a:p>
        </p:txBody>
      </p:sp>
      <p:cxnSp>
        <p:nvCxnSpPr>
          <p:cNvPr id="1705" name="Google Shape;1705;p96"/>
          <p:cNvCxnSpPr/>
          <p:nvPr/>
        </p:nvCxnSpPr>
        <p:spPr>
          <a:xfrm rot="10800000">
            <a:off x="6308375" y="4040875"/>
            <a:ext cx="2029800" cy="0"/>
          </a:xfrm>
          <a:prstGeom prst="straightConnector1">
            <a:avLst/>
          </a:prstGeom>
          <a:noFill/>
          <a:ln cap="flat" cmpd="sng" w="28575">
            <a:solidFill>
              <a:srgbClr val="845AD9"/>
            </a:solidFill>
            <a:prstDash val="solid"/>
            <a:round/>
            <a:headEnd len="med" w="med" type="triangle"/>
            <a:tailEnd len="med" w="med" type="triangle"/>
          </a:ln>
        </p:spPr>
      </p:cxnSp>
      <p:sp>
        <p:nvSpPr>
          <p:cNvPr id="1706" name="Google Shape;1706;p96"/>
          <p:cNvSpPr txBox="1"/>
          <p:nvPr/>
        </p:nvSpPr>
        <p:spPr>
          <a:xfrm flipH="1" rot="2682">
            <a:off x="6692476" y="4063881"/>
            <a:ext cx="11535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16.79 </a:t>
            </a:r>
            <a:r>
              <a:rPr lang="en-GB" sz="1800">
                <a:latin typeface="Lexend"/>
                <a:ea typeface="Lexend"/>
                <a:cs typeface="Lexend"/>
                <a:sym typeface="Lexend"/>
              </a:rPr>
              <a:t>cm</a:t>
            </a:r>
            <a:endParaRPr sz="1800">
              <a:latin typeface="Lexend"/>
              <a:ea typeface="Lexend"/>
              <a:cs typeface="Lexend"/>
              <a:sym typeface="Lexend"/>
            </a:endParaRPr>
          </a:p>
        </p:txBody>
      </p:sp>
      <p:grpSp>
        <p:nvGrpSpPr>
          <p:cNvPr id="1707" name="Google Shape;1707;p96"/>
          <p:cNvGrpSpPr/>
          <p:nvPr/>
        </p:nvGrpSpPr>
        <p:grpSpPr>
          <a:xfrm>
            <a:off x="5911689" y="641265"/>
            <a:ext cx="3869286" cy="3477300"/>
            <a:chOff x="5911689" y="638925"/>
            <a:chExt cx="3869286" cy="3477300"/>
          </a:xfrm>
        </p:grpSpPr>
        <p:grpSp>
          <p:nvGrpSpPr>
            <p:cNvPr id="1708" name="Google Shape;1708;p96"/>
            <p:cNvGrpSpPr/>
            <p:nvPr/>
          </p:nvGrpSpPr>
          <p:grpSpPr>
            <a:xfrm>
              <a:off x="5911689" y="638925"/>
              <a:ext cx="3869286" cy="3477300"/>
              <a:chOff x="5911689" y="638925"/>
              <a:chExt cx="3869286" cy="3477300"/>
            </a:xfrm>
          </p:grpSpPr>
          <p:sp>
            <p:nvSpPr>
              <p:cNvPr id="1709" name="Google Shape;1709;p96"/>
              <p:cNvSpPr/>
              <p:nvPr/>
            </p:nvSpPr>
            <p:spPr>
              <a:xfrm flipH="1" rot="2244395">
                <a:off x="6270784" y="1442884"/>
                <a:ext cx="3279684" cy="1869381"/>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10" name="Google Shape;1710;p96"/>
              <p:cNvSpPr/>
              <p:nvPr/>
            </p:nvSpPr>
            <p:spPr>
              <a:xfrm flipH="1">
                <a:off x="6047518" y="1982105"/>
                <a:ext cx="271500" cy="35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11" name="Google Shape;1711;p96"/>
              <p:cNvSpPr/>
              <p:nvPr/>
            </p:nvSpPr>
            <p:spPr>
              <a:xfrm flipH="1">
                <a:off x="5911689" y="1359400"/>
                <a:ext cx="838200" cy="35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712" name="Google Shape;1712;p96"/>
            <p:cNvSpPr/>
            <p:nvPr/>
          </p:nvSpPr>
          <p:spPr>
            <a:xfrm flipH="1">
              <a:off x="7265064" y="839375"/>
              <a:ext cx="838200" cy="35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1713" name="Google Shape;1713;p96"/>
          <p:cNvCxnSpPr/>
          <p:nvPr/>
        </p:nvCxnSpPr>
        <p:spPr>
          <a:xfrm>
            <a:off x="6301880" y="2352595"/>
            <a:ext cx="2017500" cy="1549200"/>
          </a:xfrm>
          <a:prstGeom prst="straightConnector1">
            <a:avLst/>
          </a:prstGeom>
          <a:noFill/>
          <a:ln cap="flat" cmpd="sng" w="38100">
            <a:solidFill>
              <a:schemeClr val="accent2"/>
            </a:solidFill>
            <a:prstDash val="solid"/>
            <a:round/>
            <a:headEnd len="med" w="med" type="triangle"/>
            <a:tailEnd len="med" w="med" type="triangle"/>
          </a:ln>
        </p:spPr>
      </p:cxnSp>
      <p:sp>
        <p:nvSpPr>
          <p:cNvPr id="1714" name="Google Shape;1714;p96"/>
          <p:cNvSpPr txBox="1"/>
          <p:nvPr/>
        </p:nvSpPr>
        <p:spPr>
          <a:xfrm flipH="1" rot="2220064">
            <a:off x="6385942" y="2860487"/>
            <a:ext cx="2044265" cy="27702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21.23676</a:t>
            </a:r>
            <a:r>
              <a:rPr lang="en-GB" sz="1800">
                <a:latin typeface="Lexend"/>
                <a:ea typeface="Lexend"/>
                <a:cs typeface="Lexend"/>
                <a:sym typeface="Lexend"/>
              </a:rPr>
              <a:t> cm</a:t>
            </a:r>
            <a:endParaRPr sz="1800">
              <a:latin typeface="Lexend"/>
              <a:ea typeface="Lexend"/>
              <a:cs typeface="Lexend"/>
              <a:sym typeface="Lexend"/>
            </a:endParaRPr>
          </a:p>
        </p:txBody>
      </p:sp>
      <p:sp>
        <p:nvSpPr>
          <p:cNvPr id="1715" name="Google Shape;1715;p96"/>
          <p:cNvSpPr txBox="1"/>
          <p:nvPr/>
        </p:nvSpPr>
        <p:spPr>
          <a:xfrm flipH="1" rot="2750">
            <a:off x="4230899" y="1107068"/>
            <a:ext cx="44997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Rather than converting   451 into a decimal, we can keep it in surd form.</a:t>
            </a:r>
            <a:endParaRPr sz="1800">
              <a:latin typeface="Lexend"/>
              <a:ea typeface="Lexend"/>
              <a:cs typeface="Lexend"/>
              <a:sym typeface="Lexend"/>
            </a:endParaRPr>
          </a:p>
        </p:txBody>
      </p:sp>
      <p:sp>
        <p:nvSpPr>
          <p:cNvPr id="1716" name="Google Shape;1716;p96"/>
          <p:cNvSpPr txBox="1"/>
          <p:nvPr/>
        </p:nvSpPr>
        <p:spPr>
          <a:xfrm flipH="1" rot="2509">
            <a:off x="781100" y="1213635"/>
            <a:ext cx="28770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w</a:t>
            </a:r>
            <a:r>
              <a:rPr lang="en-GB" sz="1800">
                <a:latin typeface="Lexend"/>
                <a:ea typeface="Lexend"/>
                <a:cs typeface="Lexend"/>
                <a:sym typeface="Lexend"/>
              </a:rPr>
              <a:t>² + 13² = 21.23676²</a:t>
            </a:r>
            <a:endParaRPr sz="1800">
              <a:latin typeface="Lexend"/>
              <a:ea typeface="Lexend"/>
              <a:cs typeface="Lexend"/>
              <a:sym typeface="Lexend"/>
            </a:endParaRPr>
          </a:p>
        </p:txBody>
      </p:sp>
      <p:pic>
        <p:nvPicPr>
          <p:cNvPr descr="&lt;math xmlns=&quot;http://www.w3.org/1998/Math/MathML&quot; display=&quot;block&quot; data-is-equatio=&quot;1&quot; data-latex=&quot;\sqrt{\ \ \ \ \ \ \ \ \ \ \ \ \ \ \ \ \ \ \ \ \ \ }&quot;&gt;&lt;msqr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sqrt&gt;&lt;/math&gt;" id="1717" name="Google Shape;1717;p96" title="the square root of"/>
          <p:cNvPicPr preferRelativeResize="0"/>
          <p:nvPr/>
        </p:nvPicPr>
        <p:blipFill rotWithShape="1">
          <a:blip r:embed="rId4">
            <a:alphaModFix/>
          </a:blip>
          <a:srcRect b="0" l="0" r="58411" t="0"/>
          <a:stretch/>
        </p:blipFill>
        <p:spPr>
          <a:xfrm>
            <a:off x="6838822" y="1080233"/>
            <a:ext cx="560475" cy="262850"/>
          </a:xfrm>
          <a:prstGeom prst="rect">
            <a:avLst/>
          </a:prstGeom>
          <a:noFill/>
          <a:ln>
            <a:noFill/>
          </a:ln>
        </p:spPr>
      </p:pic>
      <p:grpSp>
        <p:nvGrpSpPr>
          <p:cNvPr id="1718" name="Google Shape;1718;p96"/>
          <p:cNvGrpSpPr/>
          <p:nvPr/>
        </p:nvGrpSpPr>
        <p:grpSpPr>
          <a:xfrm>
            <a:off x="781100" y="1141462"/>
            <a:ext cx="2877000" cy="457200"/>
            <a:chOff x="781100" y="1694499"/>
            <a:chExt cx="2877000" cy="457200"/>
          </a:xfrm>
        </p:grpSpPr>
        <p:sp>
          <p:nvSpPr>
            <p:cNvPr id="1719" name="Google Shape;1719;p96"/>
            <p:cNvSpPr txBox="1"/>
            <p:nvPr/>
          </p:nvSpPr>
          <p:spPr>
            <a:xfrm flipH="1" rot="2509">
              <a:off x="781100" y="1695549"/>
              <a:ext cx="2877001" cy="455100"/>
            </a:xfrm>
            <a:prstGeom prst="rect">
              <a:avLst/>
            </a:pr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w</a:t>
              </a:r>
              <a:r>
                <a:rPr lang="en-GB" sz="1800">
                  <a:latin typeface="Lexend"/>
                  <a:ea typeface="Lexend"/>
                  <a:cs typeface="Lexend"/>
                  <a:sym typeface="Lexend"/>
                </a:rPr>
                <a:t>² + 13² = </a:t>
              </a:r>
              <a:r>
                <a:rPr lang="en-GB" sz="300">
                  <a:latin typeface="Lexend"/>
                  <a:ea typeface="Lexend"/>
                  <a:cs typeface="Lexend"/>
                  <a:sym typeface="Lexend"/>
                </a:rPr>
                <a:t> </a:t>
              </a:r>
              <a:r>
                <a:rPr lang="en-GB" sz="1800">
                  <a:latin typeface="Lexend"/>
                  <a:ea typeface="Lexend"/>
                  <a:cs typeface="Lexend"/>
                  <a:sym typeface="Lexend"/>
                </a:rPr>
                <a:t> </a:t>
              </a:r>
              <a:r>
                <a:rPr lang="en-GB" sz="2400">
                  <a:solidFill>
                    <a:schemeClr val="dk1"/>
                  </a:solidFill>
                  <a:latin typeface="Lexend"/>
                  <a:ea typeface="Lexend"/>
                  <a:cs typeface="Lexend"/>
                  <a:sym typeface="Lexend"/>
                </a:rPr>
                <a:t>(</a:t>
              </a:r>
              <a:r>
                <a:rPr lang="en-GB" sz="1800">
                  <a:latin typeface="Lexend"/>
                  <a:ea typeface="Lexend"/>
                  <a:cs typeface="Lexend"/>
                  <a:sym typeface="Lexend"/>
                </a:rPr>
                <a:t>  451 </a:t>
              </a:r>
              <a:r>
                <a:rPr lang="en-GB" sz="2400">
                  <a:latin typeface="Lexend"/>
                  <a:ea typeface="Lexend"/>
                  <a:cs typeface="Lexend"/>
                  <a:sym typeface="Lexend"/>
                </a:rPr>
                <a:t>)</a:t>
              </a:r>
              <a:r>
                <a:rPr lang="en-GB" sz="1800">
                  <a:latin typeface="Lexend"/>
                  <a:ea typeface="Lexend"/>
                  <a:cs typeface="Lexend"/>
                  <a:sym typeface="Lexend"/>
                </a:rPr>
                <a:t>²</a:t>
              </a:r>
              <a:endParaRPr sz="1800">
                <a:latin typeface="Lexend"/>
                <a:ea typeface="Lexend"/>
                <a:cs typeface="Lexend"/>
                <a:sym typeface="Lexend"/>
              </a:endParaRPr>
            </a:p>
          </p:txBody>
        </p:sp>
        <p:pic>
          <p:nvPicPr>
            <p:cNvPr descr="&lt;math xmlns=&quot;http://www.w3.org/1998/Math/MathML&quot; display=&quot;block&quot; data-is-equatio=&quot;1&quot; data-latex=&quot;\sqrt{\ \ \ \ \ \ \ \ \ \ \ \ \ \ \ \ \ \ \ \ \ \ }&quot;&gt;&lt;msqr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sqrt&gt;&lt;/math&gt;" id="1720" name="Google Shape;1720;p96" title="the square root of"/>
            <p:cNvPicPr preferRelativeResize="0"/>
            <p:nvPr/>
          </p:nvPicPr>
          <p:blipFill rotWithShape="1">
            <a:blip r:embed="rId4">
              <a:alphaModFix/>
            </a:blip>
            <a:srcRect b="0" l="0" r="59644" t="0"/>
            <a:stretch/>
          </p:blipFill>
          <p:spPr>
            <a:xfrm>
              <a:off x="2042309" y="1797925"/>
              <a:ext cx="543850" cy="262850"/>
            </a:xfrm>
            <a:prstGeom prst="rect">
              <a:avLst/>
            </a:prstGeom>
            <a:noFill/>
            <a:ln>
              <a:noFill/>
            </a:ln>
          </p:spPr>
        </p:pic>
      </p:grpSp>
      <p:sp>
        <p:nvSpPr>
          <p:cNvPr id="1721" name="Google Shape;1721;p96"/>
          <p:cNvSpPr/>
          <p:nvPr/>
        </p:nvSpPr>
        <p:spPr>
          <a:xfrm rot="953">
            <a:off x="1847125" y="1212250"/>
            <a:ext cx="1081800" cy="3489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722" name="Google Shape;1722;p96"/>
          <p:cNvCxnSpPr>
            <a:stCxn id="1715" idx="3"/>
            <a:endCxn id="1721" idx="3"/>
          </p:cNvCxnSpPr>
          <p:nvPr/>
        </p:nvCxnSpPr>
        <p:spPr>
          <a:xfrm flipH="1">
            <a:off x="2928900" y="1382318"/>
            <a:ext cx="1302000" cy="4500"/>
          </a:xfrm>
          <a:prstGeom prst="straightConnector1">
            <a:avLst/>
          </a:prstGeom>
          <a:noFill/>
          <a:ln cap="flat" cmpd="sng" w="28575">
            <a:solidFill>
              <a:schemeClr val="accent2"/>
            </a:solidFill>
            <a:prstDash val="solid"/>
            <a:round/>
            <a:headEnd len="med" w="med" type="none"/>
            <a:tailEnd len="med" w="med" type="none"/>
          </a:ln>
        </p:spPr>
      </p:cxnSp>
      <p:sp>
        <p:nvSpPr>
          <p:cNvPr id="1723" name="Google Shape;1723;p96"/>
          <p:cNvSpPr txBox="1"/>
          <p:nvPr/>
        </p:nvSpPr>
        <p:spPr>
          <a:xfrm flipH="1" rot="2640">
            <a:off x="324349" y="635782"/>
            <a:ext cx="39066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The Pythagoras’ theorem equation for triangle A is:</a:t>
            </a:r>
            <a:endParaRPr sz="1800">
              <a:latin typeface="Lexend"/>
              <a:ea typeface="Lexend"/>
              <a:cs typeface="Lexend"/>
              <a:sym typeface="Lexend"/>
            </a:endParaRPr>
          </a:p>
        </p:txBody>
      </p:sp>
      <p:pic>
        <p:nvPicPr>
          <p:cNvPr id="1724" name="Google Shape;1724;p96"/>
          <p:cNvPicPr preferRelativeResize="0"/>
          <p:nvPr/>
        </p:nvPicPr>
        <p:blipFill>
          <a:blip r:embed="rId5">
            <a:alphaModFix/>
          </a:blip>
          <a:stretch>
            <a:fillRect/>
          </a:stretch>
        </p:blipFill>
        <p:spPr>
          <a:xfrm>
            <a:off x="411951" y="3898758"/>
            <a:ext cx="652400" cy="732325"/>
          </a:xfrm>
          <a:prstGeom prst="rect">
            <a:avLst/>
          </a:prstGeom>
          <a:noFill/>
          <a:ln>
            <a:noFill/>
          </a:ln>
        </p:spPr>
      </p:pic>
      <p:sp>
        <p:nvSpPr>
          <p:cNvPr id="1725" name="Google Shape;1725;p96"/>
          <p:cNvSpPr txBox="1"/>
          <p:nvPr/>
        </p:nvSpPr>
        <p:spPr>
          <a:xfrm>
            <a:off x="295488" y="4561735"/>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sz="1800">
              <a:latin typeface="Lexend"/>
              <a:ea typeface="Lexend"/>
              <a:cs typeface="Lexend"/>
              <a:sym typeface="Lexend"/>
            </a:endParaRPr>
          </a:p>
        </p:txBody>
      </p:sp>
      <p:grpSp>
        <p:nvGrpSpPr>
          <p:cNvPr id="1726" name="Google Shape;1726;p96"/>
          <p:cNvGrpSpPr/>
          <p:nvPr/>
        </p:nvGrpSpPr>
        <p:grpSpPr>
          <a:xfrm>
            <a:off x="867150" y="2660099"/>
            <a:ext cx="4064351" cy="1742375"/>
            <a:chOff x="946894" y="3080940"/>
            <a:chExt cx="3727053" cy="1597776"/>
          </a:xfrm>
        </p:grpSpPr>
        <p:pic>
          <p:nvPicPr>
            <p:cNvPr id="1727" name="Google Shape;1727;p96"/>
            <p:cNvPicPr preferRelativeResize="0"/>
            <p:nvPr/>
          </p:nvPicPr>
          <p:blipFill rotWithShape="1">
            <a:blip r:embed="rId6">
              <a:alphaModFix/>
            </a:blip>
            <a:srcRect b="4218" l="40550" r="0" t="13558"/>
            <a:stretch/>
          </p:blipFill>
          <p:spPr>
            <a:xfrm>
              <a:off x="946894" y="3080940"/>
              <a:ext cx="3727053" cy="1597776"/>
            </a:xfrm>
            <a:prstGeom prst="rect">
              <a:avLst/>
            </a:prstGeom>
            <a:noFill/>
            <a:ln>
              <a:noFill/>
            </a:ln>
          </p:spPr>
        </p:pic>
        <p:sp>
          <p:nvSpPr>
            <p:cNvPr id="1728" name="Google Shape;1728;p96"/>
            <p:cNvSpPr txBox="1"/>
            <p:nvPr/>
          </p:nvSpPr>
          <p:spPr>
            <a:xfrm>
              <a:off x="1223003" y="3155492"/>
              <a:ext cx="3425100" cy="846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How does this help?</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What happens if I typed                 </a:t>
              </a:r>
              <a:r>
                <a:rPr lang="en-GB" sz="2400">
                  <a:solidFill>
                    <a:schemeClr val="dk1"/>
                  </a:solidFill>
                  <a:latin typeface="Lexend"/>
                  <a:ea typeface="Lexend"/>
                  <a:cs typeface="Lexend"/>
                  <a:sym typeface="Lexend"/>
                </a:rPr>
                <a:t>(</a:t>
              </a:r>
              <a:r>
                <a:rPr lang="en-GB" sz="1800">
                  <a:solidFill>
                    <a:schemeClr val="dk1"/>
                  </a:solidFill>
                  <a:latin typeface="Lexend"/>
                  <a:ea typeface="Lexend"/>
                  <a:cs typeface="Lexend"/>
                  <a:sym typeface="Lexend"/>
                </a:rPr>
                <a:t>  451 </a:t>
              </a:r>
              <a:r>
                <a:rPr lang="en-GB" sz="2400">
                  <a:solidFill>
                    <a:schemeClr val="dk1"/>
                  </a:solidFill>
                  <a:latin typeface="Lexend"/>
                  <a:ea typeface="Lexend"/>
                  <a:cs typeface="Lexend"/>
                  <a:sym typeface="Lexend"/>
                </a:rPr>
                <a:t>)</a:t>
              </a:r>
              <a:r>
                <a:rPr lang="en-GB" sz="1800">
                  <a:solidFill>
                    <a:schemeClr val="dk1"/>
                  </a:solidFill>
                  <a:latin typeface="Lexend"/>
                  <a:ea typeface="Lexend"/>
                  <a:cs typeface="Lexend"/>
                  <a:sym typeface="Lexend"/>
                </a:rPr>
                <a:t>² into my calculator?</a:t>
              </a:r>
              <a:endParaRPr sz="1800">
                <a:solidFill>
                  <a:schemeClr val="dk1"/>
                </a:solidFill>
                <a:latin typeface="Lexend"/>
                <a:ea typeface="Lexend"/>
                <a:cs typeface="Lexend"/>
                <a:sym typeface="Lexend"/>
              </a:endParaRPr>
            </a:p>
          </p:txBody>
        </p:sp>
      </p:grpSp>
      <p:pic>
        <p:nvPicPr>
          <p:cNvPr descr="&lt;math xmlns=&quot;http://www.w3.org/1998/Math/MathML&quot; display=&quot;block&quot; data-is-equatio=&quot;1&quot; data-latex=&quot;\sqrt{\ \ \ \ \ \ \ \ \ \ \ \ \ \ \ \ \ \ \ \ \ \ }&quot;&gt;&lt;msqr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sqrt&gt;&lt;/math&gt;" id="1729" name="Google Shape;1729;p96" title="the square root of"/>
          <p:cNvPicPr preferRelativeResize="0"/>
          <p:nvPr/>
        </p:nvPicPr>
        <p:blipFill rotWithShape="1">
          <a:blip r:embed="rId4">
            <a:alphaModFix/>
          </a:blip>
          <a:srcRect b="0" l="0" r="59644" t="0"/>
          <a:stretch/>
        </p:blipFill>
        <p:spPr>
          <a:xfrm>
            <a:off x="1253300" y="3348512"/>
            <a:ext cx="543850" cy="262850"/>
          </a:xfrm>
          <a:prstGeom prst="rect">
            <a:avLst/>
          </a:prstGeom>
          <a:noFill/>
          <a:ln>
            <a:noFill/>
          </a:ln>
        </p:spPr>
      </p:pic>
      <p:sp>
        <p:nvSpPr>
          <p:cNvPr id="1730" name="Google Shape;1730;p96"/>
          <p:cNvSpPr txBox="1"/>
          <p:nvPr/>
        </p:nvSpPr>
        <p:spPr>
          <a:xfrm>
            <a:off x="1168250" y="3761742"/>
            <a:ext cx="3763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Oh, I get 451. That’s less messy!</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72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4" name="Shape 1734"/>
        <p:cNvGrpSpPr/>
        <p:nvPr/>
      </p:nvGrpSpPr>
      <p:grpSpPr>
        <a:xfrm>
          <a:off x="0" y="0"/>
          <a:ext cx="0" cy="0"/>
          <a:chOff x="0" y="0"/>
          <a:chExt cx="0" cy="0"/>
        </a:xfrm>
      </p:grpSpPr>
      <p:sp>
        <p:nvSpPr>
          <p:cNvPr id="1735" name="Google Shape;1735;p97"/>
          <p:cNvSpPr txBox="1"/>
          <p:nvPr/>
        </p:nvSpPr>
        <p:spPr>
          <a:xfrm flipH="1" rot="2671">
            <a:off x="324299" y="3271585"/>
            <a:ext cx="42477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This answer matches the </a:t>
            </a:r>
            <a:r>
              <a:rPr lang="en-GB" sz="1800">
                <a:solidFill>
                  <a:schemeClr val="dk1"/>
                </a:solidFill>
                <a:latin typeface="Lexend"/>
                <a:ea typeface="Lexend"/>
                <a:cs typeface="Lexend"/>
                <a:sym typeface="Lexend"/>
              </a:rPr>
              <a:t>16.79 cm we calculated using the decimal method.</a:t>
            </a:r>
            <a:endParaRPr sz="1800">
              <a:solidFill>
                <a:schemeClr val="dk1"/>
              </a:solidFill>
              <a:latin typeface="Lexend"/>
              <a:ea typeface="Lexend"/>
              <a:cs typeface="Lexend"/>
              <a:sym typeface="Lexend"/>
            </a:endParaRPr>
          </a:p>
        </p:txBody>
      </p:sp>
      <p:sp>
        <p:nvSpPr>
          <p:cNvPr id="1736" name="Google Shape;1736;p9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the length of missing sides</a:t>
            </a:r>
            <a:endParaRPr/>
          </a:p>
        </p:txBody>
      </p:sp>
      <p:pic>
        <p:nvPicPr>
          <p:cNvPr id="1737" name="Google Shape;1737;p97"/>
          <p:cNvPicPr preferRelativeResize="0"/>
          <p:nvPr/>
        </p:nvPicPr>
        <p:blipFill>
          <a:blip r:embed="rId3">
            <a:alphaModFix/>
          </a:blip>
          <a:stretch>
            <a:fillRect/>
          </a:stretch>
        </p:blipFill>
        <p:spPr>
          <a:xfrm>
            <a:off x="6256801" y="878548"/>
            <a:ext cx="2177150" cy="3093525"/>
          </a:xfrm>
          <a:prstGeom prst="rect">
            <a:avLst/>
          </a:prstGeom>
          <a:noFill/>
          <a:ln>
            <a:noFill/>
          </a:ln>
        </p:spPr>
      </p:pic>
      <p:cxnSp>
        <p:nvCxnSpPr>
          <p:cNvPr id="1738" name="Google Shape;1738;p97"/>
          <p:cNvCxnSpPr/>
          <p:nvPr/>
        </p:nvCxnSpPr>
        <p:spPr>
          <a:xfrm>
            <a:off x="7553775" y="908425"/>
            <a:ext cx="941400" cy="2968500"/>
          </a:xfrm>
          <a:prstGeom prst="straightConnector1">
            <a:avLst/>
          </a:prstGeom>
          <a:noFill/>
          <a:ln cap="flat" cmpd="sng" w="28575">
            <a:solidFill>
              <a:srgbClr val="845AD9"/>
            </a:solidFill>
            <a:prstDash val="solid"/>
            <a:round/>
            <a:headEnd len="med" w="med" type="triangle"/>
            <a:tailEnd len="med" w="med" type="triangle"/>
          </a:ln>
        </p:spPr>
      </p:cxnSp>
      <p:cxnSp>
        <p:nvCxnSpPr>
          <p:cNvPr id="1739" name="Google Shape;1739;p97"/>
          <p:cNvCxnSpPr/>
          <p:nvPr/>
        </p:nvCxnSpPr>
        <p:spPr>
          <a:xfrm flipH="1">
            <a:off x="6183275" y="878550"/>
            <a:ext cx="1081800" cy="1413300"/>
          </a:xfrm>
          <a:prstGeom prst="straightConnector1">
            <a:avLst/>
          </a:prstGeom>
          <a:noFill/>
          <a:ln cap="flat" cmpd="sng" w="28575">
            <a:solidFill>
              <a:srgbClr val="845AD9"/>
            </a:solidFill>
            <a:prstDash val="solid"/>
            <a:round/>
            <a:headEnd len="med" w="med" type="triangle"/>
            <a:tailEnd len="med" w="med" type="triangle"/>
          </a:ln>
        </p:spPr>
      </p:cxnSp>
      <p:cxnSp>
        <p:nvCxnSpPr>
          <p:cNvPr id="1740" name="Google Shape;1740;p97"/>
          <p:cNvCxnSpPr/>
          <p:nvPr/>
        </p:nvCxnSpPr>
        <p:spPr>
          <a:xfrm>
            <a:off x="6183275" y="2368725"/>
            <a:ext cx="0" cy="1546500"/>
          </a:xfrm>
          <a:prstGeom prst="straightConnector1">
            <a:avLst/>
          </a:prstGeom>
          <a:noFill/>
          <a:ln cap="flat" cmpd="sng" w="28575">
            <a:solidFill>
              <a:srgbClr val="845AD9"/>
            </a:solidFill>
            <a:prstDash val="solid"/>
            <a:round/>
            <a:headEnd len="med" w="med" type="triangle"/>
            <a:tailEnd len="med" w="med" type="triangle"/>
          </a:ln>
        </p:spPr>
      </p:cxnSp>
      <p:sp>
        <p:nvSpPr>
          <p:cNvPr id="1741" name="Google Shape;1741;p97"/>
          <p:cNvSpPr txBox="1"/>
          <p:nvPr/>
        </p:nvSpPr>
        <p:spPr>
          <a:xfrm flipH="1" rot="3287">
            <a:off x="8068566" y="2167283"/>
            <a:ext cx="94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26 cm</a:t>
            </a:r>
            <a:endParaRPr sz="1800">
              <a:latin typeface="Lexend"/>
              <a:ea typeface="Lexend"/>
              <a:cs typeface="Lexend"/>
              <a:sym typeface="Lexend"/>
            </a:endParaRPr>
          </a:p>
        </p:txBody>
      </p:sp>
      <p:sp>
        <p:nvSpPr>
          <p:cNvPr id="1742" name="Google Shape;1742;p97"/>
          <p:cNvSpPr txBox="1"/>
          <p:nvPr/>
        </p:nvSpPr>
        <p:spPr>
          <a:xfrm flipH="1" rot="2924">
            <a:off x="5984770" y="1398695"/>
            <a:ext cx="705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15 cm</a:t>
            </a:r>
            <a:endParaRPr sz="1800">
              <a:latin typeface="Lexend"/>
              <a:ea typeface="Lexend"/>
              <a:cs typeface="Lexend"/>
              <a:sym typeface="Lexend"/>
            </a:endParaRPr>
          </a:p>
        </p:txBody>
      </p:sp>
      <p:sp>
        <p:nvSpPr>
          <p:cNvPr id="1743" name="Google Shape;1743;p97"/>
          <p:cNvSpPr txBox="1"/>
          <p:nvPr/>
        </p:nvSpPr>
        <p:spPr>
          <a:xfrm flipH="1" rot="2924">
            <a:off x="5476811" y="3003370"/>
            <a:ext cx="705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13 cm</a:t>
            </a:r>
            <a:endParaRPr sz="1800">
              <a:latin typeface="Lexend"/>
              <a:ea typeface="Lexend"/>
              <a:cs typeface="Lexend"/>
              <a:sym typeface="Lexend"/>
            </a:endParaRPr>
          </a:p>
        </p:txBody>
      </p:sp>
      <p:sp>
        <p:nvSpPr>
          <p:cNvPr id="1744" name="Google Shape;1744;p97"/>
          <p:cNvSpPr txBox="1"/>
          <p:nvPr/>
        </p:nvSpPr>
        <p:spPr>
          <a:xfrm flipH="1" rot="3157">
            <a:off x="6829450" y="3341324"/>
            <a:ext cx="3267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745" name="Google Shape;1745;p97"/>
          <p:cNvSpPr txBox="1"/>
          <p:nvPr/>
        </p:nvSpPr>
        <p:spPr>
          <a:xfrm flipH="1" rot="3157">
            <a:off x="7132500" y="2217174"/>
            <a:ext cx="3267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B</a:t>
            </a:r>
            <a:endParaRPr sz="1800">
              <a:latin typeface="Lexend"/>
              <a:ea typeface="Lexend"/>
              <a:cs typeface="Lexend"/>
              <a:sym typeface="Lexend"/>
            </a:endParaRPr>
          </a:p>
        </p:txBody>
      </p:sp>
      <p:cxnSp>
        <p:nvCxnSpPr>
          <p:cNvPr id="1746" name="Google Shape;1746;p97"/>
          <p:cNvCxnSpPr/>
          <p:nvPr/>
        </p:nvCxnSpPr>
        <p:spPr>
          <a:xfrm rot="10800000">
            <a:off x="6308375" y="4040875"/>
            <a:ext cx="2029800" cy="0"/>
          </a:xfrm>
          <a:prstGeom prst="straightConnector1">
            <a:avLst/>
          </a:prstGeom>
          <a:noFill/>
          <a:ln cap="flat" cmpd="sng" w="28575">
            <a:solidFill>
              <a:srgbClr val="845AD9"/>
            </a:solidFill>
            <a:prstDash val="solid"/>
            <a:round/>
            <a:headEnd len="med" w="med" type="triangle"/>
            <a:tailEnd len="med" w="med" type="triangle"/>
          </a:ln>
        </p:spPr>
      </p:cxnSp>
      <p:sp>
        <p:nvSpPr>
          <p:cNvPr id="1747" name="Google Shape;1747;p97"/>
          <p:cNvSpPr txBox="1"/>
          <p:nvPr/>
        </p:nvSpPr>
        <p:spPr>
          <a:xfrm flipH="1" rot="2682">
            <a:off x="6692476" y="4063881"/>
            <a:ext cx="11535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16.79 </a:t>
            </a:r>
            <a:r>
              <a:rPr lang="en-GB" sz="1800">
                <a:latin typeface="Lexend"/>
                <a:ea typeface="Lexend"/>
                <a:cs typeface="Lexend"/>
                <a:sym typeface="Lexend"/>
              </a:rPr>
              <a:t>cm</a:t>
            </a:r>
            <a:endParaRPr sz="1800">
              <a:latin typeface="Lexend"/>
              <a:ea typeface="Lexend"/>
              <a:cs typeface="Lexend"/>
              <a:sym typeface="Lexend"/>
            </a:endParaRPr>
          </a:p>
        </p:txBody>
      </p:sp>
      <p:grpSp>
        <p:nvGrpSpPr>
          <p:cNvPr id="1748" name="Google Shape;1748;p97"/>
          <p:cNvGrpSpPr/>
          <p:nvPr/>
        </p:nvGrpSpPr>
        <p:grpSpPr>
          <a:xfrm>
            <a:off x="5911689" y="641265"/>
            <a:ext cx="3869286" cy="3477300"/>
            <a:chOff x="5911689" y="638925"/>
            <a:chExt cx="3869286" cy="3477300"/>
          </a:xfrm>
        </p:grpSpPr>
        <p:grpSp>
          <p:nvGrpSpPr>
            <p:cNvPr id="1749" name="Google Shape;1749;p97"/>
            <p:cNvGrpSpPr/>
            <p:nvPr/>
          </p:nvGrpSpPr>
          <p:grpSpPr>
            <a:xfrm>
              <a:off x="5911689" y="638925"/>
              <a:ext cx="3869286" cy="3477300"/>
              <a:chOff x="5911689" y="638925"/>
              <a:chExt cx="3869286" cy="3477300"/>
            </a:xfrm>
          </p:grpSpPr>
          <p:sp>
            <p:nvSpPr>
              <p:cNvPr id="1750" name="Google Shape;1750;p97"/>
              <p:cNvSpPr/>
              <p:nvPr/>
            </p:nvSpPr>
            <p:spPr>
              <a:xfrm flipH="1" rot="2244395">
                <a:off x="6270784" y="1442884"/>
                <a:ext cx="3279684" cy="1869381"/>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1" name="Google Shape;1751;p97"/>
              <p:cNvSpPr/>
              <p:nvPr/>
            </p:nvSpPr>
            <p:spPr>
              <a:xfrm flipH="1">
                <a:off x="6047518" y="1982105"/>
                <a:ext cx="271500" cy="35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2" name="Google Shape;1752;p97"/>
              <p:cNvSpPr/>
              <p:nvPr/>
            </p:nvSpPr>
            <p:spPr>
              <a:xfrm flipH="1">
                <a:off x="5911689" y="1359400"/>
                <a:ext cx="838200" cy="35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753" name="Google Shape;1753;p97"/>
            <p:cNvSpPr/>
            <p:nvPr/>
          </p:nvSpPr>
          <p:spPr>
            <a:xfrm flipH="1">
              <a:off x="7265064" y="839375"/>
              <a:ext cx="838200" cy="35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1754" name="Google Shape;1754;p97"/>
          <p:cNvCxnSpPr/>
          <p:nvPr/>
        </p:nvCxnSpPr>
        <p:spPr>
          <a:xfrm>
            <a:off x="6301880" y="2352595"/>
            <a:ext cx="2017500" cy="1549200"/>
          </a:xfrm>
          <a:prstGeom prst="straightConnector1">
            <a:avLst/>
          </a:prstGeom>
          <a:noFill/>
          <a:ln cap="flat" cmpd="sng" w="38100">
            <a:solidFill>
              <a:schemeClr val="accent2"/>
            </a:solidFill>
            <a:prstDash val="solid"/>
            <a:round/>
            <a:headEnd len="med" w="med" type="triangle"/>
            <a:tailEnd len="med" w="med" type="triangle"/>
          </a:ln>
        </p:spPr>
      </p:cxnSp>
      <p:sp>
        <p:nvSpPr>
          <p:cNvPr id="1755" name="Google Shape;1755;p97"/>
          <p:cNvSpPr txBox="1"/>
          <p:nvPr/>
        </p:nvSpPr>
        <p:spPr>
          <a:xfrm flipH="1" rot="2220064">
            <a:off x="6385942" y="2860487"/>
            <a:ext cx="2044265" cy="27702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21.23676</a:t>
            </a:r>
            <a:r>
              <a:rPr lang="en-GB" sz="1800">
                <a:latin typeface="Lexend"/>
                <a:ea typeface="Lexend"/>
                <a:cs typeface="Lexend"/>
                <a:sym typeface="Lexend"/>
              </a:rPr>
              <a:t> cm</a:t>
            </a:r>
            <a:endParaRPr sz="1800">
              <a:latin typeface="Lexend"/>
              <a:ea typeface="Lexend"/>
              <a:cs typeface="Lexend"/>
              <a:sym typeface="Lexend"/>
            </a:endParaRPr>
          </a:p>
        </p:txBody>
      </p:sp>
      <p:sp>
        <p:nvSpPr>
          <p:cNvPr id="1756" name="Google Shape;1756;p97"/>
          <p:cNvSpPr txBox="1"/>
          <p:nvPr/>
        </p:nvSpPr>
        <p:spPr>
          <a:xfrm flipH="1" rot="2750">
            <a:off x="4230899" y="1107068"/>
            <a:ext cx="4499701" cy="646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As squaring and square rooting are inverse operations, </a:t>
            </a:r>
            <a:r>
              <a:rPr lang="en-GB" sz="2400">
                <a:solidFill>
                  <a:schemeClr val="dk1"/>
                </a:solidFill>
                <a:latin typeface="Lexend"/>
                <a:ea typeface="Lexend"/>
                <a:cs typeface="Lexend"/>
                <a:sym typeface="Lexend"/>
              </a:rPr>
              <a:t>(</a:t>
            </a:r>
            <a:r>
              <a:rPr lang="en-GB" sz="1800">
                <a:solidFill>
                  <a:schemeClr val="dk1"/>
                </a:solidFill>
                <a:latin typeface="Lexend"/>
                <a:ea typeface="Lexend"/>
                <a:cs typeface="Lexend"/>
                <a:sym typeface="Lexend"/>
              </a:rPr>
              <a:t>  451 </a:t>
            </a:r>
            <a:r>
              <a:rPr lang="en-GB" sz="2400">
                <a:solidFill>
                  <a:schemeClr val="dk1"/>
                </a:solidFill>
                <a:latin typeface="Lexend"/>
                <a:ea typeface="Lexend"/>
                <a:cs typeface="Lexend"/>
                <a:sym typeface="Lexend"/>
              </a:rPr>
              <a:t>)</a:t>
            </a:r>
            <a:r>
              <a:rPr lang="en-GB" sz="1800">
                <a:solidFill>
                  <a:schemeClr val="dk1"/>
                </a:solidFill>
                <a:latin typeface="Lexend"/>
                <a:ea typeface="Lexend"/>
                <a:cs typeface="Lexend"/>
                <a:sym typeface="Lexend"/>
              </a:rPr>
              <a:t>² = 451.</a:t>
            </a:r>
            <a:endParaRPr sz="1800">
              <a:latin typeface="Lexend"/>
              <a:ea typeface="Lexend"/>
              <a:cs typeface="Lexend"/>
              <a:sym typeface="Lexend"/>
            </a:endParaRPr>
          </a:p>
        </p:txBody>
      </p:sp>
      <p:sp>
        <p:nvSpPr>
          <p:cNvPr id="1757" name="Google Shape;1757;p97"/>
          <p:cNvSpPr txBox="1"/>
          <p:nvPr/>
        </p:nvSpPr>
        <p:spPr>
          <a:xfrm flipH="1" rot="2509">
            <a:off x="781100" y="1947060"/>
            <a:ext cx="28770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w</a:t>
            </a:r>
            <a:r>
              <a:rPr lang="en-GB" sz="1800">
                <a:solidFill>
                  <a:schemeClr val="dk1"/>
                </a:solidFill>
                <a:latin typeface="Lexend"/>
                <a:ea typeface="Lexend"/>
                <a:cs typeface="Lexend"/>
                <a:sym typeface="Lexend"/>
              </a:rPr>
              <a:t>² </a:t>
            </a:r>
            <a:r>
              <a:rPr lang="en-GB" sz="1800">
                <a:solidFill>
                  <a:schemeClr val="lt1"/>
                </a:solidFill>
                <a:latin typeface="Lexend"/>
                <a:ea typeface="Lexend"/>
                <a:cs typeface="Lexend"/>
                <a:sym typeface="Lexend"/>
              </a:rPr>
              <a:t>+ 13²</a:t>
            </a:r>
            <a:r>
              <a:rPr lang="en-GB" sz="1800">
                <a:solidFill>
                  <a:schemeClr val="dk1"/>
                </a:solidFill>
                <a:latin typeface="Lexend"/>
                <a:ea typeface="Lexend"/>
                <a:cs typeface="Lexend"/>
                <a:sym typeface="Lexend"/>
              </a:rPr>
              <a:t> = 451 – 13²</a:t>
            </a:r>
            <a:endParaRPr i="1" sz="2200">
              <a:solidFill>
                <a:schemeClr val="dk1"/>
              </a:solidFill>
              <a:latin typeface="Times New Roman"/>
              <a:ea typeface="Times New Roman"/>
              <a:cs typeface="Times New Roman"/>
              <a:sym typeface="Times New Roman"/>
            </a:endParaRPr>
          </a:p>
        </p:txBody>
      </p:sp>
      <p:sp>
        <p:nvSpPr>
          <p:cNvPr id="1758" name="Google Shape;1758;p97"/>
          <p:cNvSpPr txBox="1"/>
          <p:nvPr/>
        </p:nvSpPr>
        <p:spPr>
          <a:xfrm flipH="1" rot="2640">
            <a:off x="324349" y="635782"/>
            <a:ext cx="39066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The Pythagoras’ theorem equation for triangle A is:</a:t>
            </a:r>
            <a:endParaRPr sz="1800">
              <a:latin typeface="Lexend"/>
              <a:ea typeface="Lexend"/>
              <a:cs typeface="Lexend"/>
              <a:sym typeface="Lexend"/>
            </a:endParaRPr>
          </a:p>
        </p:txBody>
      </p:sp>
      <p:grpSp>
        <p:nvGrpSpPr>
          <p:cNvPr id="1759" name="Google Shape;1759;p97"/>
          <p:cNvGrpSpPr/>
          <p:nvPr/>
        </p:nvGrpSpPr>
        <p:grpSpPr>
          <a:xfrm>
            <a:off x="781100" y="1141462"/>
            <a:ext cx="2877000" cy="457200"/>
            <a:chOff x="781100" y="1694499"/>
            <a:chExt cx="2877000" cy="457200"/>
          </a:xfrm>
        </p:grpSpPr>
        <p:sp>
          <p:nvSpPr>
            <p:cNvPr id="1760" name="Google Shape;1760;p97"/>
            <p:cNvSpPr txBox="1"/>
            <p:nvPr/>
          </p:nvSpPr>
          <p:spPr>
            <a:xfrm flipH="1" rot="2509">
              <a:off x="781100" y="1695549"/>
              <a:ext cx="2877001" cy="455100"/>
            </a:xfrm>
            <a:prstGeom prst="rect">
              <a:avLst/>
            </a:pr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w</a:t>
              </a:r>
              <a:r>
                <a:rPr lang="en-GB" sz="1800">
                  <a:latin typeface="Lexend"/>
                  <a:ea typeface="Lexend"/>
                  <a:cs typeface="Lexend"/>
                  <a:sym typeface="Lexend"/>
                </a:rPr>
                <a:t>² + 13² = </a:t>
              </a:r>
              <a:r>
                <a:rPr lang="en-GB" sz="300">
                  <a:latin typeface="Lexend"/>
                  <a:ea typeface="Lexend"/>
                  <a:cs typeface="Lexend"/>
                  <a:sym typeface="Lexend"/>
                </a:rPr>
                <a:t> </a:t>
              </a:r>
              <a:r>
                <a:rPr lang="en-GB" sz="1800">
                  <a:latin typeface="Lexend"/>
                  <a:ea typeface="Lexend"/>
                  <a:cs typeface="Lexend"/>
                  <a:sym typeface="Lexend"/>
                </a:rPr>
                <a:t> </a:t>
              </a:r>
              <a:r>
                <a:rPr lang="en-GB" sz="2400">
                  <a:solidFill>
                    <a:schemeClr val="dk1"/>
                  </a:solidFill>
                  <a:latin typeface="Lexend"/>
                  <a:ea typeface="Lexend"/>
                  <a:cs typeface="Lexend"/>
                  <a:sym typeface="Lexend"/>
                </a:rPr>
                <a:t>(</a:t>
              </a:r>
              <a:r>
                <a:rPr lang="en-GB" sz="1800">
                  <a:latin typeface="Lexend"/>
                  <a:ea typeface="Lexend"/>
                  <a:cs typeface="Lexend"/>
                  <a:sym typeface="Lexend"/>
                </a:rPr>
                <a:t>  451 </a:t>
              </a:r>
              <a:r>
                <a:rPr lang="en-GB" sz="2400">
                  <a:latin typeface="Lexend"/>
                  <a:ea typeface="Lexend"/>
                  <a:cs typeface="Lexend"/>
                  <a:sym typeface="Lexend"/>
                </a:rPr>
                <a:t>)</a:t>
              </a:r>
              <a:r>
                <a:rPr lang="en-GB" sz="1800">
                  <a:latin typeface="Lexend"/>
                  <a:ea typeface="Lexend"/>
                  <a:cs typeface="Lexend"/>
                  <a:sym typeface="Lexend"/>
                </a:rPr>
                <a:t>²</a:t>
              </a:r>
              <a:endParaRPr sz="1800">
                <a:latin typeface="Lexend"/>
                <a:ea typeface="Lexend"/>
                <a:cs typeface="Lexend"/>
                <a:sym typeface="Lexend"/>
              </a:endParaRPr>
            </a:p>
          </p:txBody>
        </p:sp>
        <p:pic>
          <p:nvPicPr>
            <p:cNvPr descr="&lt;math xmlns=&quot;http://www.w3.org/1998/Math/MathML&quot; display=&quot;block&quot; data-is-equatio=&quot;1&quot; data-latex=&quot;\sqrt{\ \ \ \ \ \ \ \ \ \ \ \ \ \ \ \ \ \ \ \ \ \ }&quot;&gt;&lt;msqr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sqrt&gt;&lt;/math&gt;" id="1761" name="Google Shape;1761;p97" title="the square root of"/>
            <p:cNvPicPr preferRelativeResize="0"/>
            <p:nvPr/>
          </p:nvPicPr>
          <p:blipFill rotWithShape="1">
            <a:blip r:embed="rId4">
              <a:alphaModFix/>
            </a:blip>
            <a:srcRect b="0" l="0" r="59644" t="0"/>
            <a:stretch/>
          </p:blipFill>
          <p:spPr>
            <a:xfrm>
              <a:off x="2042309" y="1797925"/>
              <a:ext cx="543850" cy="262850"/>
            </a:xfrm>
            <a:prstGeom prst="rect">
              <a:avLst/>
            </a:prstGeom>
            <a:noFill/>
            <a:ln>
              <a:noFill/>
            </a:ln>
          </p:spPr>
        </p:pic>
      </p:grpSp>
      <p:pic>
        <p:nvPicPr>
          <p:cNvPr descr="&lt;math xmlns=&quot;http://www.w3.org/1998/Math/MathML&quot; display=&quot;block&quot; data-is-equatio=&quot;1&quot; data-latex=&quot;\sqrt{\ \ \ \ \ \ \ \ \ \ \ \ \ \ \ \ \ \ \ \ \ \ }&quot;&gt;&lt;msqr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sqrt&gt;&lt;/math&gt;" id="1762" name="Google Shape;1762;p97" title="the square root of"/>
          <p:cNvPicPr preferRelativeResize="0"/>
          <p:nvPr/>
        </p:nvPicPr>
        <p:blipFill rotWithShape="1">
          <a:blip r:embed="rId4">
            <a:alphaModFix/>
          </a:blip>
          <a:srcRect b="0" l="0" r="59644" t="0"/>
          <a:stretch/>
        </p:blipFill>
        <p:spPr>
          <a:xfrm>
            <a:off x="6480881" y="1453787"/>
            <a:ext cx="543850" cy="262850"/>
          </a:xfrm>
          <a:prstGeom prst="rect">
            <a:avLst/>
          </a:prstGeom>
          <a:noFill/>
          <a:ln>
            <a:noFill/>
          </a:ln>
        </p:spPr>
      </p:pic>
      <p:sp>
        <p:nvSpPr>
          <p:cNvPr id="1763" name="Google Shape;1763;p97"/>
          <p:cNvSpPr txBox="1"/>
          <p:nvPr/>
        </p:nvSpPr>
        <p:spPr>
          <a:xfrm flipH="1" rot="2509">
            <a:off x="781100" y="2650360"/>
            <a:ext cx="28770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w</a:t>
            </a:r>
            <a:r>
              <a:rPr lang="en-GB" sz="1800">
                <a:solidFill>
                  <a:schemeClr val="lt1"/>
                </a:solidFill>
                <a:latin typeface="Lexend"/>
                <a:ea typeface="Lexend"/>
                <a:cs typeface="Lexend"/>
                <a:sym typeface="Lexend"/>
              </a:rPr>
              <a:t>²</a:t>
            </a:r>
            <a:r>
              <a:rPr lang="en-GB" sz="1800">
                <a:solidFill>
                  <a:schemeClr val="dk1"/>
                </a:solidFill>
                <a:latin typeface="Lexend"/>
                <a:ea typeface="Lexend"/>
                <a:cs typeface="Lexend"/>
                <a:sym typeface="Lexend"/>
              </a:rPr>
              <a:t> </a:t>
            </a:r>
            <a:r>
              <a:rPr lang="en-GB" sz="1800">
                <a:solidFill>
                  <a:schemeClr val="lt1"/>
                </a:solidFill>
                <a:latin typeface="Lexend"/>
                <a:ea typeface="Lexend"/>
                <a:cs typeface="Lexend"/>
                <a:sym typeface="Lexend"/>
              </a:rPr>
              <a:t>+ 13²</a:t>
            </a:r>
            <a:r>
              <a:rPr lang="en-GB" sz="1800">
                <a:solidFill>
                  <a:schemeClr val="dk1"/>
                </a:solidFill>
                <a:latin typeface="Lexend"/>
                <a:ea typeface="Lexend"/>
                <a:cs typeface="Lexend"/>
                <a:sym typeface="Lexend"/>
              </a:rPr>
              <a:t> =   282 = 16.79</a:t>
            </a:r>
            <a:endParaRPr i="1" sz="2200">
              <a:solidFill>
                <a:schemeClr val="dk1"/>
              </a:solidFill>
              <a:latin typeface="Times New Roman"/>
              <a:ea typeface="Times New Roman"/>
              <a:cs typeface="Times New Roman"/>
              <a:sym typeface="Times New Roman"/>
            </a:endParaRPr>
          </a:p>
        </p:txBody>
      </p:sp>
      <p:sp>
        <p:nvSpPr>
          <p:cNvPr id="1764" name="Google Shape;1764;p97"/>
          <p:cNvSpPr txBox="1"/>
          <p:nvPr/>
        </p:nvSpPr>
        <p:spPr>
          <a:xfrm flipH="1" rot="2369">
            <a:off x="781075" y="1595242"/>
            <a:ext cx="34830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w</a:t>
            </a:r>
            <a:r>
              <a:rPr lang="en-GB" sz="1800">
                <a:solidFill>
                  <a:schemeClr val="dk1"/>
                </a:solidFill>
                <a:latin typeface="Lexend"/>
                <a:ea typeface="Lexend"/>
                <a:cs typeface="Lexend"/>
                <a:sym typeface="Lexend"/>
              </a:rPr>
              <a:t>² + 13² = 451</a:t>
            </a:r>
            <a:endParaRPr i="1" sz="2200">
              <a:solidFill>
                <a:schemeClr val="dk1"/>
              </a:solidFill>
              <a:latin typeface="Times New Roman"/>
              <a:ea typeface="Times New Roman"/>
              <a:cs typeface="Times New Roman"/>
              <a:sym typeface="Times New Roman"/>
            </a:endParaRPr>
          </a:p>
        </p:txBody>
      </p:sp>
      <p:sp>
        <p:nvSpPr>
          <p:cNvPr id="1765" name="Google Shape;1765;p97"/>
          <p:cNvSpPr txBox="1"/>
          <p:nvPr/>
        </p:nvSpPr>
        <p:spPr>
          <a:xfrm flipH="1" rot="2509">
            <a:off x="781100" y="2298710"/>
            <a:ext cx="28770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w</a:t>
            </a:r>
            <a:r>
              <a:rPr lang="en-GB" sz="1800">
                <a:solidFill>
                  <a:schemeClr val="dk1"/>
                </a:solidFill>
                <a:latin typeface="Lexend"/>
                <a:ea typeface="Lexend"/>
                <a:cs typeface="Lexend"/>
                <a:sym typeface="Lexend"/>
              </a:rPr>
              <a:t>² </a:t>
            </a:r>
            <a:r>
              <a:rPr lang="en-GB" sz="1800">
                <a:solidFill>
                  <a:schemeClr val="lt1"/>
                </a:solidFill>
                <a:latin typeface="Lexend"/>
                <a:ea typeface="Lexend"/>
                <a:cs typeface="Lexend"/>
                <a:sym typeface="Lexend"/>
              </a:rPr>
              <a:t>+ 13²</a:t>
            </a:r>
            <a:r>
              <a:rPr lang="en-GB" sz="1800">
                <a:solidFill>
                  <a:schemeClr val="dk1"/>
                </a:solidFill>
                <a:latin typeface="Lexend"/>
                <a:ea typeface="Lexend"/>
                <a:cs typeface="Lexend"/>
                <a:sym typeface="Lexend"/>
              </a:rPr>
              <a:t> = 282</a:t>
            </a:r>
            <a:endParaRPr i="1" sz="2200">
              <a:solidFill>
                <a:schemeClr val="dk1"/>
              </a:solidFill>
              <a:latin typeface="Times New Roman"/>
              <a:ea typeface="Times New Roman"/>
              <a:cs typeface="Times New Roman"/>
              <a:sym typeface="Times New Roman"/>
            </a:endParaRPr>
          </a:p>
        </p:txBody>
      </p:sp>
      <p:pic>
        <p:nvPicPr>
          <p:cNvPr descr="&lt;math xmlns=&quot;http://www.w3.org/1998/Math/MathML&quot; display=&quot;block&quot; data-is-equatio=&quot;1&quot; data-latex=&quot;\sqrt{\ \ \ \ \ \ \ \ \ \ \ \ \ \ \ \ \ \ \ \ \ \ }&quot;&gt;&lt;msqr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sqrt&gt;&lt;/math&gt;" id="1766" name="Google Shape;1766;p97" title="the square root of"/>
          <p:cNvPicPr preferRelativeResize="0"/>
          <p:nvPr/>
        </p:nvPicPr>
        <p:blipFill rotWithShape="1">
          <a:blip r:embed="rId4">
            <a:alphaModFix/>
          </a:blip>
          <a:srcRect b="0" l="0" r="59644" t="0"/>
          <a:stretch/>
        </p:blipFill>
        <p:spPr>
          <a:xfrm>
            <a:off x="1847382" y="2691274"/>
            <a:ext cx="543850" cy="262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0" name="Shape 1770"/>
        <p:cNvGrpSpPr/>
        <p:nvPr/>
      </p:nvGrpSpPr>
      <p:grpSpPr>
        <a:xfrm>
          <a:off x="0" y="0"/>
          <a:ext cx="0" cy="0"/>
          <a:chOff x="0" y="0"/>
          <a:chExt cx="0" cy="0"/>
        </a:xfrm>
      </p:grpSpPr>
      <p:sp>
        <p:nvSpPr>
          <p:cNvPr id="1771" name="Google Shape;1771;p9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the length of missing sides</a:t>
            </a:r>
            <a:endParaRPr/>
          </a:p>
        </p:txBody>
      </p:sp>
      <p:sp>
        <p:nvSpPr>
          <p:cNvPr id="1772" name="Google Shape;1772;p98"/>
          <p:cNvSpPr/>
          <p:nvPr/>
        </p:nvSpPr>
        <p:spPr>
          <a:xfrm>
            <a:off x="324000" y="886250"/>
            <a:ext cx="1632600" cy="612900"/>
          </a:xfrm>
          <a:prstGeom prst="rect">
            <a:avLst/>
          </a:prstGeom>
          <a:noFill/>
          <a:ln>
            <a:noFill/>
          </a:ln>
        </p:spPr>
        <p:txBody>
          <a:bodyPr anchorCtr="0" anchor="t" bIns="18000" lIns="0" spcFirstLastPara="1" rIns="0" wrap="square" tIns="18000">
            <a:noAutofit/>
          </a:bodyPr>
          <a:lstStyle/>
          <a:p>
            <a:pPr indent="0" lvl="0" marL="0" rtl="0" algn="l">
              <a:spcBef>
                <a:spcPts val="0"/>
              </a:spcBef>
              <a:spcAft>
                <a:spcPts val="0"/>
              </a:spcAft>
              <a:buNone/>
            </a:pPr>
            <a:r>
              <a:rPr lang="en-GB" sz="1800">
                <a:latin typeface="Lexend"/>
                <a:ea typeface="Lexend"/>
                <a:cs typeface="Lexend"/>
                <a:sym typeface="Lexend"/>
              </a:rPr>
              <a:t>Which of these are correct lengths of the shared side labelled </a:t>
            </a:r>
            <a:r>
              <a:rPr i="1" lang="en-GB" sz="2200">
                <a:solidFill>
                  <a:schemeClr val="dk1"/>
                </a:solidFill>
                <a:latin typeface="Times New Roman"/>
                <a:ea typeface="Times New Roman"/>
                <a:cs typeface="Times New Roman"/>
                <a:sym typeface="Times New Roman"/>
              </a:rPr>
              <a:t>k</a:t>
            </a:r>
            <a:r>
              <a:rPr lang="en-GB" sz="1800">
                <a:solidFill>
                  <a:schemeClr val="dk1"/>
                </a:solidFill>
                <a:latin typeface="Lexend"/>
                <a:ea typeface="Lexend"/>
                <a:cs typeface="Lexend"/>
                <a:sym typeface="Lexend"/>
              </a:rPr>
              <a:t> cm?</a:t>
            </a:r>
            <a:endParaRPr sz="1800">
              <a:latin typeface="Lexend"/>
              <a:ea typeface="Lexend"/>
              <a:cs typeface="Lexend"/>
              <a:sym typeface="Lexend"/>
            </a:endParaRPr>
          </a:p>
        </p:txBody>
      </p:sp>
      <p:pic>
        <p:nvPicPr>
          <p:cNvPr id="1773" name="Google Shape;1773;p98"/>
          <p:cNvPicPr preferRelativeResize="0"/>
          <p:nvPr/>
        </p:nvPicPr>
        <p:blipFill>
          <a:blip r:embed="rId3">
            <a:alphaModFix/>
          </a:blip>
          <a:stretch>
            <a:fillRect/>
          </a:stretch>
        </p:blipFill>
        <p:spPr>
          <a:xfrm flipH="1">
            <a:off x="4824000" y="982849"/>
            <a:ext cx="3512125" cy="3372525"/>
          </a:xfrm>
          <a:prstGeom prst="rect">
            <a:avLst/>
          </a:prstGeom>
          <a:noFill/>
          <a:ln>
            <a:noFill/>
          </a:ln>
        </p:spPr>
      </p:pic>
      <p:cxnSp>
        <p:nvCxnSpPr>
          <p:cNvPr id="1774" name="Google Shape;1774;p98"/>
          <p:cNvCxnSpPr/>
          <p:nvPr/>
        </p:nvCxnSpPr>
        <p:spPr>
          <a:xfrm flipH="1">
            <a:off x="4856093" y="962143"/>
            <a:ext cx="2608800" cy="3246000"/>
          </a:xfrm>
          <a:prstGeom prst="straightConnector1">
            <a:avLst/>
          </a:prstGeom>
          <a:noFill/>
          <a:ln cap="flat" cmpd="sng" w="28575">
            <a:solidFill>
              <a:srgbClr val="845AD9"/>
            </a:solidFill>
            <a:prstDash val="solid"/>
            <a:round/>
            <a:headEnd len="med" w="med" type="triangle"/>
            <a:tailEnd len="med" w="med" type="triangle"/>
          </a:ln>
        </p:spPr>
      </p:cxnSp>
      <p:cxnSp>
        <p:nvCxnSpPr>
          <p:cNvPr id="1775" name="Google Shape;1775;p98"/>
          <p:cNvCxnSpPr/>
          <p:nvPr/>
        </p:nvCxnSpPr>
        <p:spPr>
          <a:xfrm>
            <a:off x="7671509" y="991368"/>
            <a:ext cx="726000" cy="2061000"/>
          </a:xfrm>
          <a:prstGeom prst="straightConnector1">
            <a:avLst/>
          </a:prstGeom>
          <a:noFill/>
          <a:ln cap="flat" cmpd="sng" w="28575">
            <a:solidFill>
              <a:srgbClr val="845AD9"/>
            </a:solidFill>
            <a:prstDash val="solid"/>
            <a:round/>
            <a:headEnd len="med" w="med" type="triangle"/>
            <a:tailEnd len="med" w="med" type="triangle"/>
          </a:ln>
        </p:spPr>
      </p:cxnSp>
      <p:cxnSp>
        <p:nvCxnSpPr>
          <p:cNvPr id="1776" name="Google Shape;1776;p98"/>
          <p:cNvCxnSpPr/>
          <p:nvPr/>
        </p:nvCxnSpPr>
        <p:spPr>
          <a:xfrm rot="10800000">
            <a:off x="8411786" y="3114525"/>
            <a:ext cx="0" cy="1197600"/>
          </a:xfrm>
          <a:prstGeom prst="straightConnector1">
            <a:avLst/>
          </a:prstGeom>
          <a:noFill/>
          <a:ln cap="flat" cmpd="sng" w="28575">
            <a:solidFill>
              <a:srgbClr val="845AD9"/>
            </a:solidFill>
            <a:prstDash val="solid"/>
            <a:round/>
            <a:headEnd len="med" w="med" type="triangle"/>
            <a:tailEnd len="med" w="med" type="triangle"/>
          </a:ln>
        </p:spPr>
      </p:cxnSp>
      <p:cxnSp>
        <p:nvCxnSpPr>
          <p:cNvPr id="1777" name="Google Shape;1777;p98"/>
          <p:cNvCxnSpPr/>
          <p:nvPr/>
        </p:nvCxnSpPr>
        <p:spPr>
          <a:xfrm flipH="1">
            <a:off x="5286321" y="3209410"/>
            <a:ext cx="2963100" cy="1052400"/>
          </a:xfrm>
          <a:prstGeom prst="straightConnector1">
            <a:avLst/>
          </a:prstGeom>
          <a:noFill/>
          <a:ln cap="flat" cmpd="sng" w="28575">
            <a:solidFill>
              <a:schemeClr val="accent2"/>
            </a:solidFill>
            <a:prstDash val="solid"/>
            <a:round/>
            <a:headEnd len="med" w="med" type="triangle"/>
            <a:tailEnd len="med" w="med" type="triangle"/>
          </a:ln>
        </p:spPr>
      </p:cxnSp>
      <p:sp>
        <p:nvSpPr>
          <p:cNvPr id="1778" name="Google Shape;1778;p98"/>
          <p:cNvSpPr/>
          <p:nvPr/>
        </p:nvSpPr>
        <p:spPr>
          <a:xfrm>
            <a:off x="5386813" y="2316900"/>
            <a:ext cx="789000" cy="383100"/>
          </a:xfrm>
          <a:prstGeom prst="rect">
            <a:avLst/>
          </a:prstGeom>
          <a:noFill/>
          <a:ln>
            <a:noFill/>
          </a:ln>
        </p:spPr>
        <p:txBody>
          <a:bodyPr anchorCtr="0" anchor="ctr" bIns="18000" lIns="0" spcFirstLastPara="1" rIns="0" wrap="square" tIns="18000">
            <a:noAutofit/>
          </a:bodyPr>
          <a:lstStyle/>
          <a:p>
            <a:pPr indent="0" lvl="0" marL="0" rtl="0" algn="ctr">
              <a:spcBef>
                <a:spcPts val="0"/>
              </a:spcBef>
              <a:spcAft>
                <a:spcPts val="0"/>
              </a:spcAft>
              <a:buNone/>
            </a:pPr>
            <a:r>
              <a:rPr lang="en-GB" sz="1800">
                <a:latin typeface="Lexend"/>
                <a:ea typeface="Lexend"/>
                <a:cs typeface="Lexend"/>
                <a:sym typeface="Lexend"/>
              </a:rPr>
              <a:t>39 cm</a:t>
            </a:r>
            <a:endParaRPr sz="1800">
              <a:latin typeface="Lexend"/>
              <a:ea typeface="Lexend"/>
              <a:cs typeface="Lexend"/>
              <a:sym typeface="Lexend"/>
            </a:endParaRPr>
          </a:p>
        </p:txBody>
      </p:sp>
      <p:sp>
        <p:nvSpPr>
          <p:cNvPr id="1779" name="Google Shape;1779;p98"/>
          <p:cNvSpPr/>
          <p:nvPr/>
        </p:nvSpPr>
        <p:spPr>
          <a:xfrm>
            <a:off x="7951652" y="1700116"/>
            <a:ext cx="789000" cy="383100"/>
          </a:xfrm>
          <a:prstGeom prst="rect">
            <a:avLst/>
          </a:prstGeom>
          <a:noFill/>
          <a:ln>
            <a:noFill/>
          </a:ln>
        </p:spPr>
        <p:txBody>
          <a:bodyPr anchorCtr="0" anchor="ctr" bIns="18000" lIns="0" spcFirstLastPara="1" rIns="0" wrap="square" tIns="18000">
            <a:noAutofit/>
          </a:bodyPr>
          <a:lstStyle/>
          <a:p>
            <a:pPr indent="0" lvl="0" marL="0" rtl="0" algn="ctr">
              <a:spcBef>
                <a:spcPts val="0"/>
              </a:spcBef>
              <a:spcAft>
                <a:spcPts val="0"/>
              </a:spcAft>
              <a:buNone/>
            </a:pPr>
            <a:r>
              <a:rPr lang="en-GB" sz="1800">
                <a:latin typeface="Lexend"/>
                <a:ea typeface="Lexend"/>
                <a:cs typeface="Lexend"/>
                <a:sym typeface="Lexend"/>
              </a:rPr>
              <a:t>20 cm</a:t>
            </a:r>
            <a:endParaRPr sz="1800">
              <a:latin typeface="Lexend"/>
              <a:ea typeface="Lexend"/>
              <a:cs typeface="Lexend"/>
              <a:sym typeface="Lexend"/>
            </a:endParaRPr>
          </a:p>
        </p:txBody>
      </p:sp>
      <p:sp>
        <p:nvSpPr>
          <p:cNvPr id="1780" name="Google Shape;1780;p98"/>
          <p:cNvSpPr/>
          <p:nvPr/>
        </p:nvSpPr>
        <p:spPr>
          <a:xfrm rot="-1199145">
            <a:off x="5433852" y="3686756"/>
            <a:ext cx="2772784" cy="382462"/>
          </a:xfrm>
          <a:prstGeom prst="rect">
            <a:avLst/>
          </a:prstGeom>
          <a:noFill/>
          <a:ln>
            <a:noFill/>
          </a:ln>
        </p:spPr>
        <p:txBody>
          <a:bodyPr anchorCtr="0" anchor="ctr" bIns="18000" lIns="0" spcFirstLastPara="1" rIns="0" wrap="square" tIns="18000">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k</a:t>
            </a:r>
            <a:r>
              <a:rPr lang="en-GB" sz="1800">
                <a:latin typeface="Lexend"/>
                <a:ea typeface="Lexend"/>
                <a:cs typeface="Lexend"/>
                <a:sym typeface="Lexend"/>
              </a:rPr>
              <a:t> cm</a:t>
            </a:r>
            <a:endParaRPr sz="1800">
              <a:latin typeface="Lexend"/>
              <a:ea typeface="Lexend"/>
              <a:cs typeface="Lexend"/>
              <a:sym typeface="Lexend"/>
            </a:endParaRPr>
          </a:p>
        </p:txBody>
      </p:sp>
      <p:pic>
        <p:nvPicPr>
          <p:cNvPr id="1781" name="Google Shape;1781;p98"/>
          <p:cNvPicPr preferRelativeResize="0"/>
          <p:nvPr/>
        </p:nvPicPr>
        <p:blipFill>
          <a:blip r:embed="rId4">
            <a:alphaModFix/>
          </a:blip>
          <a:stretch>
            <a:fillRect/>
          </a:stretch>
        </p:blipFill>
        <p:spPr>
          <a:xfrm>
            <a:off x="2011189" y="930266"/>
            <a:ext cx="274366" cy="354041"/>
          </a:xfrm>
          <a:prstGeom prst="rect">
            <a:avLst/>
          </a:prstGeom>
          <a:noFill/>
          <a:ln>
            <a:noFill/>
          </a:ln>
        </p:spPr>
      </p:pic>
      <p:sp>
        <p:nvSpPr>
          <p:cNvPr id="1782" name="Google Shape;1782;p98"/>
          <p:cNvSpPr txBox="1"/>
          <p:nvPr/>
        </p:nvSpPr>
        <p:spPr>
          <a:xfrm>
            <a:off x="2025959" y="995555"/>
            <a:ext cx="244800" cy="21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sp>
        <p:nvSpPr>
          <p:cNvPr id="1783" name="Google Shape;1783;p98"/>
          <p:cNvSpPr/>
          <p:nvPr/>
        </p:nvSpPr>
        <p:spPr>
          <a:xfrm>
            <a:off x="2285543" y="886246"/>
            <a:ext cx="1569300" cy="442200"/>
          </a:xfrm>
          <a:prstGeom prst="roundRect">
            <a:avLst>
              <a:gd fmla="val 16667" name="adj"/>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39² + 20²</a:t>
            </a:r>
            <a:endParaRPr sz="1800">
              <a:latin typeface="Lexend"/>
              <a:ea typeface="Lexend"/>
              <a:cs typeface="Lexend"/>
              <a:sym typeface="Lexend"/>
            </a:endParaRPr>
          </a:p>
        </p:txBody>
      </p:sp>
      <p:pic>
        <p:nvPicPr>
          <p:cNvPr id="1784" name="Google Shape;1784;p98"/>
          <p:cNvPicPr preferRelativeResize="0"/>
          <p:nvPr/>
        </p:nvPicPr>
        <p:blipFill>
          <a:blip r:embed="rId4">
            <a:alphaModFix/>
          </a:blip>
          <a:stretch>
            <a:fillRect/>
          </a:stretch>
        </p:blipFill>
        <p:spPr>
          <a:xfrm>
            <a:off x="2011189" y="1554748"/>
            <a:ext cx="274366" cy="354042"/>
          </a:xfrm>
          <a:prstGeom prst="rect">
            <a:avLst/>
          </a:prstGeom>
          <a:noFill/>
          <a:ln>
            <a:noFill/>
          </a:ln>
        </p:spPr>
      </p:pic>
      <p:sp>
        <p:nvSpPr>
          <p:cNvPr id="1785" name="Google Shape;1785;p98"/>
          <p:cNvSpPr txBox="1"/>
          <p:nvPr/>
        </p:nvSpPr>
        <p:spPr>
          <a:xfrm>
            <a:off x="2025959" y="1620037"/>
            <a:ext cx="244800" cy="21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sp>
        <p:nvSpPr>
          <p:cNvPr id="1786" name="Google Shape;1786;p98"/>
          <p:cNvSpPr/>
          <p:nvPr/>
        </p:nvSpPr>
        <p:spPr>
          <a:xfrm>
            <a:off x="2285543" y="1510728"/>
            <a:ext cx="1569300" cy="442200"/>
          </a:xfrm>
          <a:prstGeom prst="roundRect">
            <a:avLst>
              <a:gd fmla="val 16667" name="adj"/>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39² – 20²</a:t>
            </a:r>
            <a:endParaRPr sz="1800">
              <a:latin typeface="Lexend"/>
              <a:ea typeface="Lexend"/>
              <a:cs typeface="Lexend"/>
              <a:sym typeface="Lexend"/>
            </a:endParaRPr>
          </a:p>
        </p:txBody>
      </p:sp>
      <p:pic>
        <p:nvPicPr>
          <p:cNvPr id="1787" name="Google Shape;1787;p98"/>
          <p:cNvPicPr preferRelativeResize="0"/>
          <p:nvPr/>
        </p:nvPicPr>
        <p:blipFill>
          <a:blip r:embed="rId4">
            <a:alphaModFix/>
          </a:blip>
          <a:stretch>
            <a:fillRect/>
          </a:stretch>
        </p:blipFill>
        <p:spPr>
          <a:xfrm>
            <a:off x="2011189" y="2179230"/>
            <a:ext cx="274366" cy="354042"/>
          </a:xfrm>
          <a:prstGeom prst="rect">
            <a:avLst/>
          </a:prstGeom>
          <a:noFill/>
          <a:ln>
            <a:noFill/>
          </a:ln>
        </p:spPr>
      </p:pic>
      <p:sp>
        <p:nvSpPr>
          <p:cNvPr id="1788" name="Google Shape;1788;p98"/>
          <p:cNvSpPr txBox="1"/>
          <p:nvPr/>
        </p:nvSpPr>
        <p:spPr>
          <a:xfrm>
            <a:off x="2025959" y="2244519"/>
            <a:ext cx="244800" cy="21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sp>
        <p:nvSpPr>
          <p:cNvPr id="1789" name="Google Shape;1789;p98"/>
          <p:cNvSpPr/>
          <p:nvPr/>
        </p:nvSpPr>
        <p:spPr>
          <a:xfrm>
            <a:off x="2285543" y="2135210"/>
            <a:ext cx="1569300" cy="4422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  1921</a:t>
            </a:r>
            <a:endParaRPr sz="1800">
              <a:latin typeface="Lexend"/>
              <a:ea typeface="Lexend"/>
              <a:cs typeface="Lexend"/>
              <a:sym typeface="Lexend"/>
            </a:endParaRPr>
          </a:p>
        </p:txBody>
      </p:sp>
      <p:pic>
        <p:nvPicPr>
          <p:cNvPr descr="&lt;math xmlns=&quot;http://www.w3.org/1998/Math/MathML&quot; display=&quot;block&quot; data-is-equatio=&quot;1&quot; data-latex=&quot;\sqrt{\ \ \ \ \ \ \ \ \ \ \ \ \ \ \ \ \ \ \ \ \ \ \ \ \ \ \ \ \ \ \ \ \ \ \ \ \ \ \ \ \ \ \ \ \ \ \ \ \ \ \ \ \ \ \ \ \ \ \ \ \ \ \ \ \ \ }&quot;&gt;&lt;msqr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sqrt&gt;&lt;/math&gt;" id="1790" name="Google Shape;1790;p98" title="the square root of"/>
          <p:cNvPicPr preferRelativeResize="0"/>
          <p:nvPr/>
        </p:nvPicPr>
        <p:blipFill rotWithShape="1">
          <a:blip r:embed="rId5">
            <a:alphaModFix/>
          </a:blip>
          <a:srcRect b="10" l="0" r="68291" t="0"/>
          <a:stretch/>
        </p:blipFill>
        <p:spPr>
          <a:xfrm>
            <a:off x="2423704" y="955150"/>
            <a:ext cx="1167125" cy="262775"/>
          </a:xfrm>
          <a:prstGeom prst="rect">
            <a:avLst/>
          </a:prstGeom>
          <a:noFill/>
          <a:ln>
            <a:noFill/>
          </a:ln>
        </p:spPr>
      </p:pic>
      <p:pic>
        <p:nvPicPr>
          <p:cNvPr descr="&lt;math xmlns=&quot;http://www.w3.org/1998/Math/MathML&quot; display=&quot;block&quot; data-is-equatio=&quot;1&quot; data-latex=&quot;\sqrt{\ \ \ \ \ \ \ \ \ \ \ \ \ \ \ \ \ \ \ \ \ \ \ \ \ \ \ \ \ \ \ \ \ \ \ \ \ \ \ \ \ \ \ \ \ \ \ \ \ \ \ \ \ \ \ \ \ \ \ \ \ \ \ \ \ \ }&quot;&gt;&lt;msqr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sqrt&gt;&lt;/math&gt;" id="1791" name="Google Shape;1791;p98" title="the square root of"/>
          <p:cNvPicPr preferRelativeResize="0"/>
          <p:nvPr/>
        </p:nvPicPr>
        <p:blipFill rotWithShape="1">
          <a:blip r:embed="rId5">
            <a:alphaModFix/>
          </a:blip>
          <a:srcRect b="10" l="0" r="68291" t="0"/>
          <a:stretch/>
        </p:blipFill>
        <p:spPr>
          <a:xfrm>
            <a:off x="2423704" y="1572722"/>
            <a:ext cx="1167125" cy="262775"/>
          </a:xfrm>
          <a:prstGeom prst="rect">
            <a:avLst/>
          </a:prstGeom>
          <a:noFill/>
          <a:ln>
            <a:noFill/>
          </a:ln>
        </p:spPr>
      </p:pic>
      <p:pic>
        <p:nvPicPr>
          <p:cNvPr descr="&lt;math xmlns=&quot;http://www.w3.org/1998/Math/MathML&quot; display=&quot;block&quot; data-is-equatio=&quot;1&quot; data-latex=&quot;\sqrt{\ \ \ \ \ \ \ \ \ \ \ \ \ \ \ \ \ \ \ \ \ \ \ \ \ \ \ \ \ \ \ \ \ \ \ \ \ \ \ \ \ \ \ \ \ \ \ \ \ \ \ \ \ \ \ \ \ \ \ \ \ \ \ \ \ \ }&quot;&gt;&lt;msqr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sqrt&gt;&lt;/math&gt;" id="1792" name="Google Shape;1792;p98" title="the square root of"/>
          <p:cNvPicPr preferRelativeResize="0"/>
          <p:nvPr/>
        </p:nvPicPr>
        <p:blipFill rotWithShape="1">
          <a:blip r:embed="rId5">
            <a:alphaModFix/>
          </a:blip>
          <a:srcRect b="10" l="0" r="81671" t="0"/>
          <a:stretch/>
        </p:blipFill>
        <p:spPr>
          <a:xfrm>
            <a:off x="2718051" y="2213375"/>
            <a:ext cx="674625" cy="262775"/>
          </a:xfrm>
          <a:prstGeom prst="rect">
            <a:avLst/>
          </a:prstGeom>
          <a:noFill/>
          <a:ln>
            <a:noFill/>
          </a:ln>
        </p:spPr>
      </p:pic>
      <p:pic>
        <p:nvPicPr>
          <p:cNvPr id="1793" name="Google Shape;1793;p98"/>
          <p:cNvPicPr preferRelativeResize="0"/>
          <p:nvPr/>
        </p:nvPicPr>
        <p:blipFill>
          <a:blip r:embed="rId4">
            <a:alphaModFix/>
          </a:blip>
          <a:stretch>
            <a:fillRect/>
          </a:stretch>
        </p:blipFill>
        <p:spPr>
          <a:xfrm>
            <a:off x="2011189" y="2803705"/>
            <a:ext cx="274366" cy="354042"/>
          </a:xfrm>
          <a:prstGeom prst="rect">
            <a:avLst/>
          </a:prstGeom>
          <a:noFill/>
          <a:ln>
            <a:noFill/>
          </a:ln>
        </p:spPr>
      </p:pic>
      <p:sp>
        <p:nvSpPr>
          <p:cNvPr id="1794" name="Google Shape;1794;p98"/>
          <p:cNvSpPr txBox="1"/>
          <p:nvPr/>
        </p:nvSpPr>
        <p:spPr>
          <a:xfrm>
            <a:off x="2025959" y="2868994"/>
            <a:ext cx="244800" cy="21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sp>
        <p:nvSpPr>
          <p:cNvPr id="1795" name="Google Shape;1795;p98"/>
          <p:cNvSpPr/>
          <p:nvPr/>
        </p:nvSpPr>
        <p:spPr>
          <a:xfrm>
            <a:off x="2285543" y="2759685"/>
            <a:ext cx="1569300" cy="4422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  1121</a:t>
            </a:r>
            <a:endParaRPr sz="1800">
              <a:latin typeface="Lexend"/>
              <a:ea typeface="Lexend"/>
              <a:cs typeface="Lexend"/>
              <a:sym typeface="Lexend"/>
            </a:endParaRPr>
          </a:p>
        </p:txBody>
      </p:sp>
      <p:pic>
        <p:nvPicPr>
          <p:cNvPr descr="&lt;math xmlns=&quot;http://www.w3.org/1998/Math/MathML&quot; display=&quot;block&quot; data-is-equatio=&quot;1&quot; data-latex=&quot;\sqrt{\ \ \ \ \ \ \ \ \ \ \ \ \ \ \ \ \ \ \ \ \ \ \ \ \ \ \ \ \ \ \ \ \ \ \ \ \ \ \ \ \ \ \ \ \ \ \ \ \ \ \ \ \ \ \ \ \ \ \ \ \ \ \ \ \ \ }&quot;&gt;&lt;msqr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sqrt&gt;&lt;/math&gt;" id="1796" name="Google Shape;1796;p98" title="the square root of"/>
          <p:cNvPicPr preferRelativeResize="0"/>
          <p:nvPr/>
        </p:nvPicPr>
        <p:blipFill rotWithShape="1">
          <a:blip r:embed="rId5">
            <a:alphaModFix/>
          </a:blip>
          <a:srcRect b="10" l="0" r="81671" t="0"/>
          <a:stretch/>
        </p:blipFill>
        <p:spPr>
          <a:xfrm>
            <a:off x="2718051" y="2837850"/>
            <a:ext cx="674625" cy="262775"/>
          </a:xfrm>
          <a:prstGeom prst="rect">
            <a:avLst/>
          </a:prstGeom>
          <a:noFill/>
          <a:ln>
            <a:noFill/>
          </a:ln>
        </p:spPr>
      </p:pic>
      <p:pic>
        <p:nvPicPr>
          <p:cNvPr id="1797" name="Google Shape;1797;p98"/>
          <p:cNvPicPr preferRelativeResize="0"/>
          <p:nvPr/>
        </p:nvPicPr>
        <p:blipFill>
          <a:blip r:embed="rId4">
            <a:alphaModFix/>
          </a:blip>
          <a:stretch>
            <a:fillRect/>
          </a:stretch>
        </p:blipFill>
        <p:spPr>
          <a:xfrm>
            <a:off x="2025939" y="3428166"/>
            <a:ext cx="274366" cy="354042"/>
          </a:xfrm>
          <a:prstGeom prst="rect">
            <a:avLst/>
          </a:prstGeom>
          <a:noFill/>
          <a:ln>
            <a:noFill/>
          </a:ln>
        </p:spPr>
      </p:pic>
      <p:sp>
        <p:nvSpPr>
          <p:cNvPr id="1798" name="Google Shape;1798;p98"/>
          <p:cNvSpPr txBox="1"/>
          <p:nvPr/>
        </p:nvSpPr>
        <p:spPr>
          <a:xfrm>
            <a:off x="2040709" y="3493455"/>
            <a:ext cx="244800" cy="21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sp>
        <p:nvSpPr>
          <p:cNvPr id="1799" name="Google Shape;1799;p98"/>
          <p:cNvSpPr/>
          <p:nvPr/>
        </p:nvSpPr>
        <p:spPr>
          <a:xfrm>
            <a:off x="2300293" y="3384146"/>
            <a:ext cx="1569300" cy="4422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33.48133809</a:t>
            </a:r>
            <a:endParaRPr sz="1800">
              <a:latin typeface="Lexend"/>
              <a:ea typeface="Lexend"/>
              <a:cs typeface="Lexend"/>
              <a:sym typeface="Lexend"/>
            </a:endParaRPr>
          </a:p>
        </p:txBody>
      </p:sp>
      <p:pic>
        <p:nvPicPr>
          <p:cNvPr id="1800" name="Google Shape;1800;p98"/>
          <p:cNvPicPr preferRelativeResize="0"/>
          <p:nvPr/>
        </p:nvPicPr>
        <p:blipFill>
          <a:blip r:embed="rId4">
            <a:alphaModFix/>
          </a:blip>
          <a:stretch>
            <a:fillRect/>
          </a:stretch>
        </p:blipFill>
        <p:spPr>
          <a:xfrm>
            <a:off x="2025939" y="4052648"/>
            <a:ext cx="274366" cy="354042"/>
          </a:xfrm>
          <a:prstGeom prst="rect">
            <a:avLst/>
          </a:prstGeom>
          <a:noFill/>
          <a:ln>
            <a:noFill/>
          </a:ln>
        </p:spPr>
      </p:pic>
      <p:sp>
        <p:nvSpPr>
          <p:cNvPr id="1801" name="Google Shape;1801;p98"/>
          <p:cNvSpPr txBox="1"/>
          <p:nvPr/>
        </p:nvSpPr>
        <p:spPr>
          <a:xfrm>
            <a:off x="2040709" y="4117937"/>
            <a:ext cx="244800" cy="21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f</a:t>
            </a:r>
            <a:endParaRPr b="1" sz="1800">
              <a:solidFill>
                <a:srgbClr val="FFFFFF"/>
              </a:solidFill>
              <a:latin typeface="Lexend"/>
              <a:ea typeface="Lexend"/>
              <a:cs typeface="Lexend"/>
              <a:sym typeface="Lexend"/>
            </a:endParaRPr>
          </a:p>
        </p:txBody>
      </p:sp>
      <p:sp>
        <p:nvSpPr>
          <p:cNvPr id="1802" name="Google Shape;1802;p98"/>
          <p:cNvSpPr/>
          <p:nvPr/>
        </p:nvSpPr>
        <p:spPr>
          <a:xfrm>
            <a:off x="2300293" y="4008628"/>
            <a:ext cx="1569300" cy="4422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33.4</a:t>
            </a:r>
            <a:endParaRPr sz="1800">
              <a:latin typeface="Lexend"/>
              <a:ea typeface="Lexend"/>
              <a:cs typeface="Lexend"/>
              <a:sym typeface="Lexend"/>
            </a:endParaRPr>
          </a:p>
        </p:txBody>
      </p:sp>
      <p:pic>
        <p:nvPicPr>
          <p:cNvPr id="1803" name="Google Shape;1803;p98"/>
          <p:cNvPicPr preferRelativeResize="0"/>
          <p:nvPr/>
        </p:nvPicPr>
        <p:blipFill>
          <a:blip r:embed="rId6">
            <a:alphaModFix/>
          </a:blip>
          <a:stretch>
            <a:fillRect/>
          </a:stretch>
        </p:blipFill>
        <p:spPr>
          <a:xfrm>
            <a:off x="3869646" y="1522275"/>
            <a:ext cx="396000" cy="419100"/>
          </a:xfrm>
          <a:prstGeom prst="rect">
            <a:avLst/>
          </a:prstGeom>
          <a:noFill/>
          <a:ln>
            <a:noFill/>
          </a:ln>
        </p:spPr>
      </p:pic>
      <p:pic>
        <p:nvPicPr>
          <p:cNvPr id="1804" name="Google Shape;1804;p98"/>
          <p:cNvPicPr preferRelativeResize="0"/>
          <p:nvPr/>
        </p:nvPicPr>
        <p:blipFill>
          <a:blip r:embed="rId6">
            <a:alphaModFix/>
          </a:blip>
          <a:stretch>
            <a:fillRect/>
          </a:stretch>
        </p:blipFill>
        <p:spPr>
          <a:xfrm>
            <a:off x="3869646" y="2766850"/>
            <a:ext cx="396000" cy="419100"/>
          </a:xfrm>
          <a:prstGeom prst="rect">
            <a:avLst/>
          </a:prstGeom>
          <a:noFill/>
          <a:ln>
            <a:noFill/>
          </a:ln>
        </p:spPr>
      </p:pic>
      <p:pic>
        <p:nvPicPr>
          <p:cNvPr id="1805" name="Google Shape;1805;p98"/>
          <p:cNvPicPr preferRelativeResize="0"/>
          <p:nvPr/>
        </p:nvPicPr>
        <p:blipFill>
          <a:blip r:embed="rId6">
            <a:alphaModFix/>
          </a:blip>
          <a:stretch>
            <a:fillRect/>
          </a:stretch>
        </p:blipFill>
        <p:spPr>
          <a:xfrm>
            <a:off x="3869646" y="339570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9" name="Shape 1809"/>
        <p:cNvGrpSpPr/>
        <p:nvPr/>
      </p:nvGrpSpPr>
      <p:grpSpPr>
        <a:xfrm>
          <a:off x="0" y="0"/>
          <a:ext cx="0" cy="0"/>
          <a:chOff x="0" y="0"/>
          <a:chExt cx="0" cy="0"/>
        </a:xfrm>
      </p:grpSpPr>
      <p:pic>
        <p:nvPicPr>
          <p:cNvPr id="1810" name="Google Shape;1810;p99"/>
          <p:cNvPicPr preferRelativeResize="0"/>
          <p:nvPr/>
        </p:nvPicPr>
        <p:blipFill rotWithShape="1">
          <a:blip r:embed="rId3">
            <a:alphaModFix/>
          </a:blip>
          <a:srcRect b="4355" l="-811" r="72349" t="62947"/>
          <a:stretch/>
        </p:blipFill>
        <p:spPr>
          <a:xfrm>
            <a:off x="363887" y="3540942"/>
            <a:ext cx="1798701" cy="1168375"/>
          </a:xfrm>
          <a:prstGeom prst="rect">
            <a:avLst/>
          </a:prstGeom>
          <a:noFill/>
          <a:ln>
            <a:noFill/>
          </a:ln>
        </p:spPr>
      </p:pic>
      <p:sp>
        <p:nvSpPr>
          <p:cNvPr id="1811" name="Google Shape;1811;p99"/>
          <p:cNvSpPr txBox="1"/>
          <p:nvPr/>
        </p:nvSpPr>
        <p:spPr>
          <a:xfrm flipH="1" rot="2671">
            <a:off x="324016" y="653473"/>
            <a:ext cx="8496003"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1) Match the triangle to the length of its missing side.</a:t>
            </a:r>
            <a:endParaRPr sz="1800">
              <a:latin typeface="Lexend"/>
              <a:ea typeface="Lexend"/>
              <a:cs typeface="Lexend"/>
              <a:sym typeface="Lexend"/>
            </a:endParaRPr>
          </a:p>
        </p:txBody>
      </p:sp>
      <p:sp>
        <p:nvSpPr>
          <p:cNvPr id="1812" name="Google Shape;1812;p9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Finding the length of missing sides</a:t>
            </a:r>
            <a:endParaRPr/>
          </a:p>
        </p:txBody>
      </p:sp>
      <p:grpSp>
        <p:nvGrpSpPr>
          <p:cNvPr id="1813" name="Google Shape;1813;p99"/>
          <p:cNvGrpSpPr/>
          <p:nvPr/>
        </p:nvGrpSpPr>
        <p:grpSpPr>
          <a:xfrm>
            <a:off x="781225" y="400575"/>
            <a:ext cx="1960450" cy="1997275"/>
            <a:chOff x="324025" y="933975"/>
            <a:chExt cx="1960450" cy="1997275"/>
          </a:xfrm>
        </p:grpSpPr>
        <p:pic>
          <p:nvPicPr>
            <p:cNvPr id="1814" name="Google Shape;1814;p99"/>
            <p:cNvPicPr preferRelativeResize="0"/>
            <p:nvPr/>
          </p:nvPicPr>
          <p:blipFill rotWithShape="1">
            <a:blip r:embed="rId3">
              <a:alphaModFix/>
            </a:blip>
            <a:srcRect b="44105" l="0" r="69793" t="0"/>
            <a:stretch/>
          </p:blipFill>
          <p:spPr>
            <a:xfrm>
              <a:off x="324025" y="933975"/>
              <a:ext cx="1908974" cy="1997275"/>
            </a:xfrm>
            <a:prstGeom prst="rect">
              <a:avLst/>
            </a:prstGeom>
            <a:noFill/>
            <a:ln>
              <a:noFill/>
            </a:ln>
          </p:spPr>
        </p:pic>
        <p:cxnSp>
          <p:nvCxnSpPr>
            <p:cNvPr id="1815" name="Google Shape;1815;p99"/>
            <p:cNvCxnSpPr/>
            <p:nvPr/>
          </p:nvCxnSpPr>
          <p:spPr>
            <a:xfrm>
              <a:off x="487575" y="1607900"/>
              <a:ext cx="0" cy="1142700"/>
            </a:xfrm>
            <a:prstGeom prst="straightConnector1">
              <a:avLst/>
            </a:prstGeom>
            <a:noFill/>
            <a:ln cap="flat" cmpd="sng" w="28575">
              <a:solidFill>
                <a:schemeClr val="accent4"/>
              </a:solidFill>
              <a:prstDash val="solid"/>
              <a:round/>
              <a:headEnd len="med" w="med" type="triangle"/>
              <a:tailEnd len="med" w="med" type="triangle"/>
            </a:ln>
          </p:spPr>
        </p:cxnSp>
        <p:cxnSp>
          <p:nvCxnSpPr>
            <p:cNvPr id="1816" name="Google Shape;1816;p99"/>
            <p:cNvCxnSpPr/>
            <p:nvPr/>
          </p:nvCxnSpPr>
          <p:spPr>
            <a:xfrm rot="10800000">
              <a:off x="642350" y="2869650"/>
              <a:ext cx="1511700" cy="0"/>
            </a:xfrm>
            <a:prstGeom prst="straightConnector1">
              <a:avLst/>
            </a:prstGeom>
            <a:noFill/>
            <a:ln cap="flat" cmpd="sng" w="28575">
              <a:solidFill>
                <a:schemeClr val="accent4"/>
              </a:solidFill>
              <a:prstDash val="solid"/>
              <a:round/>
              <a:headEnd len="med" w="med" type="triangle"/>
              <a:tailEnd len="med" w="med" type="triangle"/>
            </a:ln>
          </p:spPr>
        </p:cxnSp>
        <p:cxnSp>
          <p:nvCxnSpPr>
            <p:cNvPr id="1817" name="Google Shape;1817;p99"/>
            <p:cNvCxnSpPr/>
            <p:nvPr/>
          </p:nvCxnSpPr>
          <p:spPr>
            <a:xfrm rot="10800000">
              <a:off x="774875" y="1527250"/>
              <a:ext cx="1509600" cy="1136100"/>
            </a:xfrm>
            <a:prstGeom prst="straightConnector1">
              <a:avLst/>
            </a:prstGeom>
            <a:noFill/>
            <a:ln cap="flat" cmpd="sng" w="28575">
              <a:solidFill>
                <a:schemeClr val="accent4"/>
              </a:solidFill>
              <a:prstDash val="solid"/>
              <a:round/>
              <a:headEnd len="med" w="med" type="triangle"/>
              <a:tailEnd len="med" w="med" type="triangle"/>
            </a:ln>
          </p:spPr>
        </p:cxnSp>
      </p:grpSp>
      <p:grpSp>
        <p:nvGrpSpPr>
          <p:cNvPr id="1818" name="Google Shape;1818;p99"/>
          <p:cNvGrpSpPr/>
          <p:nvPr/>
        </p:nvGrpSpPr>
        <p:grpSpPr>
          <a:xfrm>
            <a:off x="2967137" y="899665"/>
            <a:ext cx="1938885" cy="1798610"/>
            <a:chOff x="2284463" y="928565"/>
            <a:chExt cx="1938885" cy="1798610"/>
          </a:xfrm>
        </p:grpSpPr>
        <p:pic>
          <p:nvPicPr>
            <p:cNvPr id="1819" name="Google Shape;1819;p99"/>
            <p:cNvPicPr preferRelativeResize="0"/>
            <p:nvPr/>
          </p:nvPicPr>
          <p:blipFill rotWithShape="1">
            <a:blip r:embed="rId3">
              <a:alphaModFix/>
            </a:blip>
            <a:srcRect b="50550" l="31511" r="38281" t="-403"/>
            <a:stretch/>
          </p:blipFill>
          <p:spPr>
            <a:xfrm>
              <a:off x="2314373" y="928565"/>
              <a:ext cx="1908974" cy="1781424"/>
            </a:xfrm>
            <a:prstGeom prst="rect">
              <a:avLst/>
            </a:prstGeom>
            <a:noFill/>
            <a:ln>
              <a:noFill/>
            </a:ln>
          </p:spPr>
        </p:pic>
        <p:cxnSp>
          <p:nvCxnSpPr>
            <p:cNvPr id="1820" name="Google Shape;1820;p99"/>
            <p:cNvCxnSpPr/>
            <p:nvPr/>
          </p:nvCxnSpPr>
          <p:spPr>
            <a:xfrm rot="10800000">
              <a:off x="2349913" y="2224975"/>
              <a:ext cx="1258200" cy="502200"/>
            </a:xfrm>
            <a:prstGeom prst="straightConnector1">
              <a:avLst/>
            </a:prstGeom>
            <a:noFill/>
            <a:ln cap="flat" cmpd="sng" w="28575">
              <a:solidFill>
                <a:schemeClr val="accent4"/>
              </a:solidFill>
              <a:prstDash val="solid"/>
              <a:round/>
              <a:headEnd len="med" w="med" type="triangle"/>
              <a:tailEnd len="med" w="med" type="triangle"/>
            </a:ln>
          </p:spPr>
        </p:cxnSp>
        <p:cxnSp>
          <p:nvCxnSpPr>
            <p:cNvPr id="1821" name="Google Shape;1821;p99"/>
            <p:cNvCxnSpPr/>
            <p:nvPr/>
          </p:nvCxnSpPr>
          <p:spPr>
            <a:xfrm flipH="1">
              <a:off x="2284463" y="968675"/>
              <a:ext cx="437700" cy="1113000"/>
            </a:xfrm>
            <a:prstGeom prst="straightConnector1">
              <a:avLst/>
            </a:prstGeom>
            <a:noFill/>
            <a:ln cap="flat" cmpd="sng" w="28575">
              <a:solidFill>
                <a:schemeClr val="accent4"/>
              </a:solidFill>
              <a:prstDash val="solid"/>
              <a:round/>
              <a:headEnd len="med" w="med" type="triangle"/>
              <a:tailEnd len="med" w="med" type="triangle"/>
            </a:ln>
          </p:spPr>
        </p:cxnSp>
        <p:cxnSp>
          <p:nvCxnSpPr>
            <p:cNvPr id="1822" name="Google Shape;1822;p99"/>
            <p:cNvCxnSpPr/>
            <p:nvPr/>
          </p:nvCxnSpPr>
          <p:spPr>
            <a:xfrm>
              <a:off x="3018088" y="968675"/>
              <a:ext cx="822000" cy="1618200"/>
            </a:xfrm>
            <a:prstGeom prst="straightConnector1">
              <a:avLst/>
            </a:prstGeom>
            <a:noFill/>
            <a:ln cap="flat" cmpd="sng" w="28575">
              <a:solidFill>
                <a:schemeClr val="accent4"/>
              </a:solidFill>
              <a:prstDash val="solid"/>
              <a:round/>
              <a:headEnd len="med" w="med" type="triangle"/>
              <a:tailEnd len="med" w="med" type="triangle"/>
            </a:ln>
          </p:spPr>
        </p:cxnSp>
      </p:grpSp>
      <p:grpSp>
        <p:nvGrpSpPr>
          <p:cNvPr id="1823" name="Google Shape;1823;p99"/>
          <p:cNvGrpSpPr/>
          <p:nvPr/>
        </p:nvGrpSpPr>
        <p:grpSpPr>
          <a:xfrm>
            <a:off x="3188550" y="3012675"/>
            <a:ext cx="1569300" cy="1602375"/>
            <a:chOff x="3112350" y="3088875"/>
            <a:chExt cx="1569300" cy="1602375"/>
          </a:xfrm>
        </p:grpSpPr>
        <p:pic>
          <p:nvPicPr>
            <p:cNvPr id="1824" name="Google Shape;1824;p99"/>
            <p:cNvPicPr preferRelativeResize="0"/>
            <p:nvPr/>
          </p:nvPicPr>
          <p:blipFill rotWithShape="1">
            <a:blip r:embed="rId3">
              <a:alphaModFix/>
            </a:blip>
            <a:srcRect b="9395" l="45848" r="30230" t="48281"/>
            <a:stretch/>
          </p:blipFill>
          <p:spPr>
            <a:xfrm>
              <a:off x="3156675" y="3119448"/>
              <a:ext cx="1511701" cy="1512325"/>
            </a:xfrm>
            <a:prstGeom prst="rect">
              <a:avLst/>
            </a:prstGeom>
            <a:noFill/>
            <a:ln>
              <a:noFill/>
            </a:ln>
          </p:spPr>
        </p:pic>
        <p:cxnSp>
          <p:nvCxnSpPr>
            <p:cNvPr id="1825" name="Google Shape;1825;p99"/>
            <p:cNvCxnSpPr/>
            <p:nvPr/>
          </p:nvCxnSpPr>
          <p:spPr>
            <a:xfrm rot="10800000">
              <a:off x="3112350" y="3342275"/>
              <a:ext cx="129900" cy="1267200"/>
            </a:xfrm>
            <a:prstGeom prst="straightConnector1">
              <a:avLst/>
            </a:prstGeom>
            <a:noFill/>
            <a:ln cap="flat" cmpd="sng" w="28575">
              <a:solidFill>
                <a:schemeClr val="accent4"/>
              </a:solidFill>
              <a:prstDash val="solid"/>
              <a:round/>
              <a:headEnd len="med" w="med" type="triangle"/>
              <a:tailEnd len="med" w="med" type="triangle"/>
            </a:ln>
          </p:spPr>
        </p:cxnSp>
        <p:cxnSp>
          <p:nvCxnSpPr>
            <p:cNvPr id="1826" name="Google Shape;1826;p99"/>
            <p:cNvCxnSpPr/>
            <p:nvPr/>
          </p:nvCxnSpPr>
          <p:spPr>
            <a:xfrm flipH="1">
              <a:off x="3206150" y="3088875"/>
              <a:ext cx="1383600" cy="131100"/>
            </a:xfrm>
            <a:prstGeom prst="straightConnector1">
              <a:avLst/>
            </a:prstGeom>
            <a:noFill/>
            <a:ln cap="flat" cmpd="sng" w="28575">
              <a:solidFill>
                <a:schemeClr val="accent4"/>
              </a:solidFill>
              <a:prstDash val="solid"/>
              <a:round/>
              <a:headEnd len="med" w="med" type="triangle"/>
              <a:tailEnd len="med" w="med" type="triangle"/>
            </a:ln>
          </p:spPr>
        </p:cxnSp>
        <p:cxnSp>
          <p:nvCxnSpPr>
            <p:cNvPr id="1827" name="Google Shape;1827;p99"/>
            <p:cNvCxnSpPr/>
            <p:nvPr/>
          </p:nvCxnSpPr>
          <p:spPr>
            <a:xfrm flipH="1" rot="10800000">
              <a:off x="3422850" y="3289650"/>
              <a:ext cx="1258800" cy="1401600"/>
            </a:xfrm>
            <a:prstGeom prst="straightConnector1">
              <a:avLst/>
            </a:prstGeom>
            <a:noFill/>
            <a:ln cap="flat" cmpd="sng" w="28575">
              <a:solidFill>
                <a:schemeClr val="accent4"/>
              </a:solidFill>
              <a:prstDash val="solid"/>
              <a:round/>
              <a:headEnd len="med" w="med" type="triangle"/>
              <a:tailEnd len="med" w="med" type="triangle"/>
            </a:ln>
          </p:spPr>
        </p:cxnSp>
      </p:grpSp>
      <p:cxnSp>
        <p:nvCxnSpPr>
          <p:cNvPr id="1828" name="Google Shape;1828;p99"/>
          <p:cNvCxnSpPr/>
          <p:nvPr/>
        </p:nvCxnSpPr>
        <p:spPr>
          <a:xfrm rot="10800000">
            <a:off x="2127142" y="3602235"/>
            <a:ext cx="86400" cy="1005600"/>
          </a:xfrm>
          <a:prstGeom prst="straightConnector1">
            <a:avLst/>
          </a:prstGeom>
          <a:noFill/>
          <a:ln cap="flat" cmpd="sng" w="28575">
            <a:solidFill>
              <a:schemeClr val="accent4"/>
            </a:solidFill>
            <a:prstDash val="solid"/>
            <a:round/>
            <a:headEnd len="med" w="med" type="triangle"/>
            <a:tailEnd len="med" w="med" type="triangle"/>
          </a:ln>
        </p:spPr>
      </p:cxnSp>
      <p:cxnSp>
        <p:nvCxnSpPr>
          <p:cNvPr id="1829" name="Google Shape;1829;p99"/>
          <p:cNvCxnSpPr/>
          <p:nvPr/>
        </p:nvCxnSpPr>
        <p:spPr>
          <a:xfrm rot="10800000">
            <a:off x="386342" y="3881673"/>
            <a:ext cx="1596900" cy="880500"/>
          </a:xfrm>
          <a:prstGeom prst="straightConnector1">
            <a:avLst/>
          </a:prstGeom>
          <a:noFill/>
          <a:ln cap="flat" cmpd="sng" w="28575">
            <a:solidFill>
              <a:schemeClr val="accent4"/>
            </a:solidFill>
            <a:prstDash val="solid"/>
            <a:round/>
            <a:headEnd len="med" w="med" type="triangle"/>
            <a:tailEnd len="med" w="med" type="triangle"/>
          </a:ln>
        </p:spPr>
      </p:cxnSp>
      <p:cxnSp>
        <p:nvCxnSpPr>
          <p:cNvPr id="1830" name="Google Shape;1830;p99"/>
          <p:cNvCxnSpPr/>
          <p:nvPr/>
        </p:nvCxnSpPr>
        <p:spPr>
          <a:xfrm flipH="1" rot="10800000">
            <a:off x="474842" y="3471598"/>
            <a:ext cx="1508400" cy="123000"/>
          </a:xfrm>
          <a:prstGeom prst="straightConnector1">
            <a:avLst/>
          </a:prstGeom>
          <a:noFill/>
          <a:ln cap="flat" cmpd="sng" w="28575">
            <a:solidFill>
              <a:schemeClr val="accent4"/>
            </a:solidFill>
            <a:prstDash val="solid"/>
            <a:round/>
            <a:headEnd len="med" w="med" type="triangle"/>
            <a:tailEnd len="med" w="med" type="triangle"/>
          </a:ln>
        </p:spPr>
      </p:cxnSp>
      <p:grpSp>
        <p:nvGrpSpPr>
          <p:cNvPr id="1831" name="Google Shape;1831;p99"/>
          <p:cNvGrpSpPr/>
          <p:nvPr/>
        </p:nvGrpSpPr>
        <p:grpSpPr>
          <a:xfrm>
            <a:off x="5629749" y="2195637"/>
            <a:ext cx="1569302" cy="2217891"/>
            <a:chOff x="7060299" y="2102112"/>
            <a:chExt cx="1569302" cy="2217891"/>
          </a:xfrm>
        </p:grpSpPr>
        <p:pic>
          <p:nvPicPr>
            <p:cNvPr id="1832" name="Google Shape;1832;p99"/>
            <p:cNvPicPr preferRelativeResize="0"/>
            <p:nvPr/>
          </p:nvPicPr>
          <p:blipFill rotWithShape="1">
            <a:blip r:embed="rId3">
              <a:alphaModFix/>
            </a:blip>
            <a:srcRect b="4353" l="75386" r="-218" t="45311"/>
            <a:stretch/>
          </p:blipFill>
          <p:spPr>
            <a:xfrm>
              <a:off x="7060299" y="2521403"/>
              <a:ext cx="1569302" cy="1798600"/>
            </a:xfrm>
            <a:prstGeom prst="rect">
              <a:avLst/>
            </a:prstGeom>
            <a:noFill/>
            <a:ln>
              <a:noFill/>
            </a:ln>
          </p:spPr>
        </p:pic>
        <p:sp>
          <p:nvSpPr>
            <p:cNvPr id="1833" name="Google Shape;1833;p99"/>
            <p:cNvSpPr/>
            <p:nvPr/>
          </p:nvSpPr>
          <p:spPr>
            <a:xfrm rot="1337787">
              <a:off x="7403010" y="2261119"/>
              <a:ext cx="960731" cy="621286"/>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834" name="Google Shape;1834;p99"/>
          <p:cNvGrpSpPr/>
          <p:nvPr/>
        </p:nvGrpSpPr>
        <p:grpSpPr>
          <a:xfrm>
            <a:off x="5530123" y="2700865"/>
            <a:ext cx="1712375" cy="1761775"/>
            <a:chOff x="6821900" y="2489425"/>
            <a:chExt cx="1712375" cy="1761775"/>
          </a:xfrm>
        </p:grpSpPr>
        <p:cxnSp>
          <p:nvCxnSpPr>
            <p:cNvPr id="1835" name="Google Shape;1835;p99"/>
            <p:cNvCxnSpPr/>
            <p:nvPr/>
          </p:nvCxnSpPr>
          <p:spPr>
            <a:xfrm rot="10800000">
              <a:off x="6821900" y="2583300"/>
              <a:ext cx="156300" cy="1577400"/>
            </a:xfrm>
            <a:prstGeom prst="straightConnector1">
              <a:avLst/>
            </a:prstGeom>
            <a:noFill/>
            <a:ln cap="flat" cmpd="sng" w="28575">
              <a:solidFill>
                <a:schemeClr val="accent4"/>
              </a:solidFill>
              <a:prstDash val="solid"/>
              <a:round/>
              <a:headEnd len="med" w="med" type="triangle"/>
              <a:tailEnd len="med" w="med" type="triangle"/>
            </a:ln>
          </p:spPr>
        </p:cxnSp>
        <p:cxnSp>
          <p:nvCxnSpPr>
            <p:cNvPr id="1836" name="Google Shape;1836;p99"/>
            <p:cNvCxnSpPr/>
            <p:nvPr/>
          </p:nvCxnSpPr>
          <p:spPr>
            <a:xfrm flipH="1" rot="10800000">
              <a:off x="7151050" y="4124600"/>
              <a:ext cx="1264500" cy="126600"/>
            </a:xfrm>
            <a:prstGeom prst="straightConnector1">
              <a:avLst/>
            </a:prstGeom>
            <a:noFill/>
            <a:ln cap="flat" cmpd="sng" w="28575">
              <a:solidFill>
                <a:schemeClr val="accent4"/>
              </a:solidFill>
              <a:prstDash val="solid"/>
              <a:round/>
              <a:headEnd len="med" w="med" type="triangle"/>
              <a:tailEnd len="med" w="med" type="triangle"/>
            </a:ln>
          </p:spPr>
        </p:cxnSp>
        <p:cxnSp>
          <p:nvCxnSpPr>
            <p:cNvPr id="1837" name="Google Shape;1837;p99"/>
            <p:cNvCxnSpPr/>
            <p:nvPr/>
          </p:nvCxnSpPr>
          <p:spPr>
            <a:xfrm rot="10800000">
              <a:off x="7116475" y="2489425"/>
              <a:ext cx="1417800" cy="1450800"/>
            </a:xfrm>
            <a:prstGeom prst="straightConnector1">
              <a:avLst/>
            </a:prstGeom>
            <a:noFill/>
            <a:ln cap="flat" cmpd="sng" w="28575">
              <a:solidFill>
                <a:schemeClr val="accent4"/>
              </a:solidFill>
              <a:prstDash val="solid"/>
              <a:round/>
              <a:headEnd len="med" w="med" type="triangle"/>
              <a:tailEnd len="med" w="med" type="triangle"/>
            </a:ln>
          </p:spPr>
        </p:cxnSp>
      </p:grpSp>
      <p:sp>
        <p:nvSpPr>
          <p:cNvPr id="1838" name="Google Shape;1838;p99"/>
          <p:cNvSpPr txBox="1"/>
          <p:nvPr/>
        </p:nvSpPr>
        <p:spPr>
          <a:xfrm flipH="1" rot="2927">
            <a:off x="248077" y="1537164"/>
            <a:ext cx="7047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18 cm</a:t>
            </a:r>
            <a:endParaRPr sz="1800">
              <a:latin typeface="Lexend"/>
              <a:ea typeface="Lexend"/>
              <a:cs typeface="Lexend"/>
              <a:sym typeface="Lexend"/>
            </a:endParaRPr>
          </a:p>
        </p:txBody>
      </p:sp>
      <p:sp>
        <p:nvSpPr>
          <p:cNvPr id="1839" name="Google Shape;1839;p99"/>
          <p:cNvSpPr txBox="1"/>
          <p:nvPr/>
        </p:nvSpPr>
        <p:spPr>
          <a:xfrm flipH="1" rot="3145">
            <a:off x="370731" y="4323466"/>
            <a:ext cx="9837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40.5 cm</a:t>
            </a:r>
            <a:endParaRPr sz="1800">
              <a:latin typeface="Lexend"/>
              <a:ea typeface="Lexend"/>
              <a:cs typeface="Lexend"/>
              <a:sym typeface="Lexend"/>
            </a:endParaRPr>
          </a:p>
        </p:txBody>
      </p:sp>
      <p:sp>
        <p:nvSpPr>
          <p:cNvPr id="1840" name="Google Shape;1840;p99"/>
          <p:cNvSpPr txBox="1"/>
          <p:nvPr/>
        </p:nvSpPr>
        <p:spPr>
          <a:xfrm flipH="1" rot="-277853">
            <a:off x="710392" y="3229503"/>
            <a:ext cx="1010699" cy="27694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31.5 cm</a:t>
            </a:r>
            <a:endParaRPr sz="1800">
              <a:latin typeface="Lexend"/>
              <a:ea typeface="Lexend"/>
              <a:cs typeface="Lexend"/>
              <a:sym typeface="Lexend"/>
            </a:endParaRPr>
          </a:p>
        </p:txBody>
      </p:sp>
      <p:sp>
        <p:nvSpPr>
          <p:cNvPr id="1841" name="Google Shape;1841;p99"/>
          <p:cNvSpPr txBox="1"/>
          <p:nvPr/>
        </p:nvSpPr>
        <p:spPr>
          <a:xfrm flipH="1" rot="2927">
            <a:off x="1457902" y="2339114"/>
            <a:ext cx="7047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24 cm</a:t>
            </a:r>
            <a:endParaRPr sz="1800">
              <a:latin typeface="Lexend"/>
              <a:ea typeface="Lexend"/>
              <a:cs typeface="Lexend"/>
              <a:sym typeface="Lexend"/>
            </a:endParaRPr>
          </a:p>
        </p:txBody>
      </p:sp>
      <p:sp>
        <p:nvSpPr>
          <p:cNvPr id="1842" name="Google Shape;1842;p99"/>
          <p:cNvSpPr txBox="1"/>
          <p:nvPr/>
        </p:nvSpPr>
        <p:spPr>
          <a:xfrm flipH="1" rot="-4082673">
            <a:off x="2695342" y="1297842"/>
            <a:ext cx="704494" cy="277151"/>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13 cm</a:t>
            </a:r>
            <a:endParaRPr sz="1800">
              <a:latin typeface="Lexend"/>
              <a:ea typeface="Lexend"/>
              <a:cs typeface="Lexend"/>
              <a:sym typeface="Lexend"/>
            </a:endParaRPr>
          </a:p>
        </p:txBody>
      </p:sp>
      <p:grpSp>
        <p:nvGrpSpPr>
          <p:cNvPr id="1843" name="Google Shape;1843;p99"/>
          <p:cNvGrpSpPr/>
          <p:nvPr/>
        </p:nvGrpSpPr>
        <p:grpSpPr>
          <a:xfrm rot="1351559">
            <a:off x="4440870" y="1030050"/>
            <a:ext cx="1934715" cy="1546314"/>
            <a:chOff x="4526675" y="1025813"/>
            <a:chExt cx="1934727" cy="1546324"/>
          </a:xfrm>
        </p:grpSpPr>
        <p:grpSp>
          <p:nvGrpSpPr>
            <p:cNvPr id="1844" name="Google Shape;1844;p99"/>
            <p:cNvGrpSpPr/>
            <p:nvPr/>
          </p:nvGrpSpPr>
          <p:grpSpPr>
            <a:xfrm>
              <a:off x="4526675" y="1059798"/>
              <a:ext cx="1913999" cy="1512339"/>
              <a:chOff x="8449050" y="933975"/>
              <a:chExt cx="1913999" cy="1512339"/>
            </a:xfrm>
          </p:grpSpPr>
          <p:pic>
            <p:nvPicPr>
              <p:cNvPr id="1845" name="Google Shape;1845;p99"/>
              <p:cNvPicPr preferRelativeResize="0"/>
              <p:nvPr/>
            </p:nvPicPr>
            <p:blipFill rotWithShape="1">
              <a:blip r:embed="rId3">
                <a:alphaModFix/>
              </a:blip>
              <a:srcRect b="43916" l="67529" r="4708" t="24105"/>
              <a:stretch/>
            </p:blipFill>
            <p:spPr>
              <a:xfrm>
                <a:off x="8608575" y="933975"/>
                <a:ext cx="1754474" cy="1142700"/>
              </a:xfrm>
              <a:prstGeom prst="rect">
                <a:avLst/>
              </a:prstGeom>
              <a:noFill/>
              <a:ln>
                <a:noFill/>
              </a:ln>
            </p:spPr>
          </p:pic>
          <p:sp>
            <p:nvSpPr>
              <p:cNvPr id="1846" name="Google Shape;1846;p99"/>
              <p:cNvSpPr/>
              <p:nvPr/>
            </p:nvSpPr>
            <p:spPr>
              <a:xfrm rot="1337787">
                <a:off x="8531035" y="1666021"/>
                <a:ext cx="960731" cy="621286"/>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847" name="Google Shape;1847;p99"/>
            <p:cNvGrpSpPr/>
            <p:nvPr/>
          </p:nvGrpSpPr>
          <p:grpSpPr>
            <a:xfrm>
              <a:off x="4730563" y="1025812"/>
              <a:ext cx="1730840" cy="1222942"/>
              <a:chOff x="4625175" y="1781400"/>
              <a:chExt cx="1730840" cy="1222942"/>
            </a:xfrm>
          </p:grpSpPr>
          <p:cxnSp>
            <p:nvCxnSpPr>
              <p:cNvPr id="1848" name="Google Shape;1848;p99"/>
              <p:cNvCxnSpPr/>
              <p:nvPr/>
            </p:nvCxnSpPr>
            <p:spPr>
              <a:xfrm>
                <a:off x="6058415" y="1861212"/>
                <a:ext cx="297600" cy="998700"/>
              </a:xfrm>
              <a:prstGeom prst="straightConnector1">
                <a:avLst/>
              </a:prstGeom>
              <a:noFill/>
              <a:ln cap="flat" cmpd="sng" w="28575">
                <a:solidFill>
                  <a:schemeClr val="accent4"/>
                </a:solidFill>
                <a:prstDash val="solid"/>
                <a:round/>
                <a:headEnd len="med" w="med" type="triangle"/>
                <a:tailEnd len="med" w="med" type="triangle"/>
              </a:ln>
            </p:spPr>
          </p:cxnSp>
          <p:cxnSp>
            <p:nvCxnSpPr>
              <p:cNvPr id="1849" name="Google Shape;1849;p99"/>
              <p:cNvCxnSpPr/>
              <p:nvPr/>
            </p:nvCxnSpPr>
            <p:spPr>
              <a:xfrm flipH="1">
                <a:off x="4625175" y="1781400"/>
                <a:ext cx="1265700" cy="378600"/>
              </a:xfrm>
              <a:prstGeom prst="straightConnector1">
                <a:avLst/>
              </a:prstGeom>
              <a:noFill/>
              <a:ln cap="flat" cmpd="sng" w="28575">
                <a:solidFill>
                  <a:schemeClr val="accent4"/>
                </a:solidFill>
                <a:prstDash val="solid"/>
                <a:round/>
                <a:headEnd len="med" w="med" type="triangle"/>
                <a:tailEnd len="med" w="med" type="triangle"/>
              </a:ln>
            </p:spPr>
          </p:cxnSp>
          <p:cxnSp>
            <p:nvCxnSpPr>
              <p:cNvPr id="1850" name="Google Shape;1850;p99"/>
              <p:cNvCxnSpPr/>
              <p:nvPr/>
            </p:nvCxnSpPr>
            <p:spPr>
              <a:xfrm rot="10800000">
                <a:off x="4645958" y="2383042"/>
                <a:ext cx="1565700" cy="621300"/>
              </a:xfrm>
              <a:prstGeom prst="straightConnector1">
                <a:avLst/>
              </a:prstGeom>
              <a:noFill/>
              <a:ln cap="flat" cmpd="sng" w="28575">
                <a:solidFill>
                  <a:schemeClr val="accent4"/>
                </a:solidFill>
                <a:prstDash val="solid"/>
                <a:round/>
                <a:headEnd len="med" w="med" type="triangle"/>
                <a:tailEnd len="med" w="med" type="triangle"/>
              </a:ln>
            </p:spPr>
          </p:cxnSp>
        </p:grpSp>
      </p:grpSp>
      <p:sp>
        <p:nvSpPr>
          <p:cNvPr id="1851" name="Google Shape;1851;p99"/>
          <p:cNvSpPr txBox="1"/>
          <p:nvPr/>
        </p:nvSpPr>
        <p:spPr>
          <a:xfrm flipH="1" rot="3784673">
            <a:off x="3528663" y="1536921"/>
            <a:ext cx="1442426" cy="277056"/>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20 cm</a:t>
            </a:r>
            <a:endParaRPr sz="1800">
              <a:latin typeface="Lexend"/>
              <a:ea typeface="Lexend"/>
              <a:cs typeface="Lexend"/>
              <a:sym typeface="Lexend"/>
            </a:endParaRPr>
          </a:p>
        </p:txBody>
      </p:sp>
      <p:sp>
        <p:nvSpPr>
          <p:cNvPr id="1852" name="Google Shape;1852;p99"/>
          <p:cNvSpPr txBox="1"/>
          <p:nvPr/>
        </p:nvSpPr>
        <p:spPr>
          <a:xfrm flipH="1" rot="354720">
            <a:off x="5225842" y="920449"/>
            <a:ext cx="704849" cy="277138"/>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16 cm</a:t>
            </a:r>
            <a:endParaRPr sz="1800">
              <a:latin typeface="Lexend"/>
              <a:ea typeface="Lexend"/>
              <a:cs typeface="Lexend"/>
              <a:sym typeface="Lexend"/>
            </a:endParaRPr>
          </a:p>
        </p:txBody>
      </p:sp>
      <p:sp>
        <p:nvSpPr>
          <p:cNvPr id="1853" name="Google Shape;1853;p99"/>
          <p:cNvSpPr txBox="1"/>
          <p:nvPr/>
        </p:nvSpPr>
        <p:spPr>
          <a:xfrm flipH="1" rot="4390">
            <a:off x="6224869" y="1787866"/>
            <a:ext cx="704701"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14 cm</a:t>
            </a:r>
            <a:endParaRPr sz="1800">
              <a:latin typeface="Lexend"/>
              <a:ea typeface="Lexend"/>
              <a:cs typeface="Lexend"/>
              <a:sym typeface="Lexend"/>
            </a:endParaRPr>
          </a:p>
        </p:txBody>
      </p:sp>
      <p:sp>
        <p:nvSpPr>
          <p:cNvPr id="1854" name="Google Shape;1854;p99"/>
          <p:cNvSpPr txBox="1"/>
          <p:nvPr/>
        </p:nvSpPr>
        <p:spPr>
          <a:xfrm flipH="1" rot="-336239">
            <a:off x="3452562" y="2786051"/>
            <a:ext cx="1010731" cy="277078"/>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22 cm</a:t>
            </a:r>
            <a:endParaRPr sz="1800">
              <a:latin typeface="Lexend"/>
              <a:ea typeface="Lexend"/>
              <a:cs typeface="Lexend"/>
              <a:sym typeface="Lexend"/>
            </a:endParaRPr>
          </a:p>
        </p:txBody>
      </p:sp>
      <p:sp>
        <p:nvSpPr>
          <p:cNvPr id="1855" name="Google Shape;1855;p99"/>
          <p:cNvSpPr txBox="1"/>
          <p:nvPr/>
        </p:nvSpPr>
        <p:spPr>
          <a:xfrm flipH="1" rot="7143">
            <a:off x="2402894" y="3687973"/>
            <a:ext cx="1010702"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24 cm</a:t>
            </a:r>
            <a:endParaRPr sz="1800">
              <a:latin typeface="Lexend"/>
              <a:ea typeface="Lexend"/>
              <a:cs typeface="Lexend"/>
              <a:sym typeface="Lexend"/>
            </a:endParaRPr>
          </a:p>
        </p:txBody>
      </p:sp>
      <p:sp>
        <p:nvSpPr>
          <p:cNvPr id="1856" name="Google Shape;1856;p99"/>
          <p:cNvSpPr txBox="1"/>
          <p:nvPr/>
        </p:nvSpPr>
        <p:spPr>
          <a:xfrm flipH="1" rot="-336239">
            <a:off x="6052344" y="4411618"/>
            <a:ext cx="1010731" cy="277078"/>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30 cm</a:t>
            </a:r>
            <a:endParaRPr sz="1800">
              <a:latin typeface="Lexend"/>
              <a:ea typeface="Lexend"/>
              <a:cs typeface="Lexend"/>
              <a:sym typeface="Lexend"/>
            </a:endParaRPr>
          </a:p>
        </p:txBody>
      </p:sp>
      <p:sp>
        <p:nvSpPr>
          <p:cNvPr id="1857" name="Google Shape;1857;p99"/>
          <p:cNvSpPr txBox="1"/>
          <p:nvPr/>
        </p:nvSpPr>
        <p:spPr>
          <a:xfrm flipH="1" rot="6122">
            <a:off x="6301224" y="3125993"/>
            <a:ext cx="1010702"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58 cm</a:t>
            </a:r>
            <a:endParaRPr sz="1800">
              <a:latin typeface="Lexend"/>
              <a:ea typeface="Lexend"/>
              <a:cs typeface="Lexend"/>
              <a:sym typeface="Lexend"/>
            </a:endParaRPr>
          </a:p>
        </p:txBody>
      </p:sp>
      <p:cxnSp>
        <p:nvCxnSpPr>
          <p:cNvPr id="1858" name="Google Shape;1858;p99"/>
          <p:cNvCxnSpPr/>
          <p:nvPr/>
        </p:nvCxnSpPr>
        <p:spPr>
          <a:xfrm flipH="1">
            <a:off x="4507650" y="3033975"/>
            <a:ext cx="353700" cy="167100"/>
          </a:xfrm>
          <a:prstGeom prst="straightConnector1">
            <a:avLst/>
          </a:prstGeom>
          <a:noFill/>
          <a:ln cap="flat" cmpd="sng" w="28575">
            <a:solidFill>
              <a:srgbClr val="374CF1"/>
            </a:solidFill>
            <a:prstDash val="solid"/>
            <a:round/>
            <a:headEnd len="med" w="med" type="none"/>
            <a:tailEnd len="med" w="med" type="none"/>
          </a:ln>
        </p:spPr>
      </p:cxnSp>
      <p:cxnSp>
        <p:nvCxnSpPr>
          <p:cNvPr id="1859" name="Google Shape;1859;p99"/>
          <p:cNvCxnSpPr/>
          <p:nvPr/>
        </p:nvCxnSpPr>
        <p:spPr>
          <a:xfrm flipH="1" rot="10800000">
            <a:off x="3373550" y="4329475"/>
            <a:ext cx="105600" cy="364500"/>
          </a:xfrm>
          <a:prstGeom prst="straightConnector1">
            <a:avLst/>
          </a:prstGeom>
          <a:noFill/>
          <a:ln cap="flat" cmpd="sng" w="28575">
            <a:solidFill>
              <a:srgbClr val="374CF1"/>
            </a:solidFill>
            <a:prstDash val="solid"/>
            <a:round/>
            <a:headEnd len="med" w="med" type="none"/>
            <a:tailEnd len="med" w="med" type="none"/>
          </a:ln>
        </p:spPr>
      </p:cxnSp>
      <p:cxnSp>
        <p:nvCxnSpPr>
          <p:cNvPr id="1860" name="Google Shape;1860;p99"/>
          <p:cNvCxnSpPr/>
          <p:nvPr/>
        </p:nvCxnSpPr>
        <p:spPr>
          <a:xfrm rot="10800000">
            <a:off x="6941000" y="4159775"/>
            <a:ext cx="420000" cy="117300"/>
          </a:xfrm>
          <a:prstGeom prst="straightConnector1">
            <a:avLst/>
          </a:prstGeom>
          <a:noFill/>
          <a:ln cap="flat" cmpd="sng" w="28575">
            <a:solidFill>
              <a:srgbClr val="374CF1"/>
            </a:solidFill>
            <a:prstDash val="solid"/>
            <a:round/>
            <a:headEnd len="med" w="med" type="none"/>
            <a:tailEnd len="med" w="med" type="none"/>
          </a:ln>
        </p:spPr>
      </p:cxnSp>
      <p:sp>
        <p:nvSpPr>
          <p:cNvPr id="1861" name="Google Shape;1861;p99"/>
          <p:cNvSpPr txBox="1"/>
          <p:nvPr/>
        </p:nvSpPr>
        <p:spPr>
          <a:xfrm flipH="1" rot="6565">
            <a:off x="3122127" y="4661604"/>
            <a:ext cx="471301"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48°</a:t>
            </a:r>
            <a:endParaRPr sz="1800">
              <a:latin typeface="Lexend"/>
              <a:ea typeface="Lexend"/>
              <a:cs typeface="Lexend"/>
              <a:sym typeface="Lexend"/>
            </a:endParaRPr>
          </a:p>
        </p:txBody>
      </p:sp>
      <p:sp>
        <p:nvSpPr>
          <p:cNvPr id="1862" name="Google Shape;1862;p99"/>
          <p:cNvSpPr txBox="1"/>
          <p:nvPr/>
        </p:nvSpPr>
        <p:spPr>
          <a:xfrm flipH="1" rot="6565">
            <a:off x="4819588" y="2875407"/>
            <a:ext cx="471301"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42°</a:t>
            </a:r>
            <a:endParaRPr sz="1800">
              <a:latin typeface="Lexend"/>
              <a:ea typeface="Lexend"/>
              <a:cs typeface="Lexend"/>
              <a:sym typeface="Lexend"/>
            </a:endParaRPr>
          </a:p>
        </p:txBody>
      </p:sp>
      <p:sp>
        <p:nvSpPr>
          <p:cNvPr id="1863" name="Google Shape;1863;p99"/>
          <p:cNvSpPr txBox="1"/>
          <p:nvPr/>
        </p:nvSpPr>
        <p:spPr>
          <a:xfrm flipH="1" rot="6565">
            <a:off x="5303223" y="2467724"/>
            <a:ext cx="471301"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39°</a:t>
            </a:r>
            <a:endParaRPr sz="1800">
              <a:latin typeface="Lexend"/>
              <a:ea typeface="Lexend"/>
              <a:cs typeface="Lexend"/>
              <a:sym typeface="Lexend"/>
            </a:endParaRPr>
          </a:p>
        </p:txBody>
      </p:sp>
      <p:sp>
        <p:nvSpPr>
          <p:cNvPr id="1864" name="Google Shape;1864;p99"/>
          <p:cNvSpPr txBox="1"/>
          <p:nvPr/>
        </p:nvSpPr>
        <p:spPr>
          <a:xfrm flipH="1" rot="6565">
            <a:off x="7303005" y="4157231"/>
            <a:ext cx="471301"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51°</a:t>
            </a:r>
            <a:endParaRPr sz="1800">
              <a:latin typeface="Lexend"/>
              <a:ea typeface="Lexend"/>
              <a:cs typeface="Lexend"/>
              <a:sym typeface="Lexend"/>
            </a:endParaRPr>
          </a:p>
        </p:txBody>
      </p:sp>
      <p:pic>
        <p:nvPicPr>
          <p:cNvPr id="1865" name="Google Shape;1865;p99"/>
          <p:cNvPicPr preferRelativeResize="0"/>
          <p:nvPr/>
        </p:nvPicPr>
        <p:blipFill>
          <a:blip r:embed="rId4">
            <a:alphaModFix/>
          </a:blip>
          <a:stretch>
            <a:fillRect/>
          </a:stretch>
        </p:blipFill>
        <p:spPr>
          <a:xfrm>
            <a:off x="7380596" y="2374953"/>
            <a:ext cx="274366" cy="274366"/>
          </a:xfrm>
          <a:prstGeom prst="rect">
            <a:avLst/>
          </a:prstGeom>
          <a:noFill/>
          <a:ln>
            <a:noFill/>
          </a:ln>
        </p:spPr>
      </p:pic>
      <p:sp>
        <p:nvSpPr>
          <p:cNvPr id="1866" name="Google Shape;1866;p99"/>
          <p:cNvSpPr txBox="1"/>
          <p:nvPr/>
        </p:nvSpPr>
        <p:spPr>
          <a:xfrm>
            <a:off x="7395366" y="2425549"/>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j</a:t>
            </a:r>
            <a:endParaRPr b="1" sz="1800">
              <a:solidFill>
                <a:srgbClr val="FFFFFF"/>
              </a:solidFill>
              <a:latin typeface="Lexend"/>
              <a:ea typeface="Lexend"/>
              <a:cs typeface="Lexend"/>
              <a:sym typeface="Lexend"/>
            </a:endParaRPr>
          </a:p>
        </p:txBody>
      </p:sp>
      <p:sp>
        <p:nvSpPr>
          <p:cNvPr id="1867" name="Google Shape;1867;p99"/>
          <p:cNvSpPr/>
          <p:nvPr/>
        </p:nvSpPr>
        <p:spPr>
          <a:xfrm>
            <a:off x="7654950" y="2340846"/>
            <a:ext cx="1165200" cy="3426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18000" lIns="0" spcFirstLastPara="1" rIns="0" wrap="square" tIns="18000">
            <a:noAutofit/>
          </a:bodyPr>
          <a:lstStyle/>
          <a:p>
            <a:pPr indent="0" lvl="0" marL="0" rtl="0" algn="ctr">
              <a:spcBef>
                <a:spcPts val="0"/>
              </a:spcBef>
              <a:spcAft>
                <a:spcPts val="0"/>
              </a:spcAft>
              <a:buNone/>
            </a:pPr>
            <a:r>
              <a:rPr lang="en-GB" sz="1800">
                <a:latin typeface="Lexend"/>
                <a:ea typeface="Lexend"/>
                <a:cs typeface="Lexend"/>
                <a:sym typeface="Lexend"/>
              </a:rPr>
              <a:t>49.64 cm</a:t>
            </a:r>
            <a:endParaRPr sz="1800">
              <a:latin typeface="Lexend"/>
              <a:ea typeface="Lexend"/>
              <a:cs typeface="Lexend"/>
              <a:sym typeface="Lexend"/>
            </a:endParaRPr>
          </a:p>
        </p:txBody>
      </p:sp>
      <p:pic>
        <p:nvPicPr>
          <p:cNvPr id="1868" name="Google Shape;1868;p99"/>
          <p:cNvPicPr preferRelativeResize="0"/>
          <p:nvPr/>
        </p:nvPicPr>
        <p:blipFill>
          <a:blip r:embed="rId4">
            <a:alphaModFix/>
          </a:blip>
          <a:stretch>
            <a:fillRect/>
          </a:stretch>
        </p:blipFill>
        <p:spPr>
          <a:xfrm>
            <a:off x="7380596" y="1852611"/>
            <a:ext cx="274366" cy="274366"/>
          </a:xfrm>
          <a:prstGeom prst="rect">
            <a:avLst/>
          </a:prstGeom>
          <a:noFill/>
          <a:ln>
            <a:noFill/>
          </a:ln>
        </p:spPr>
      </p:pic>
      <p:sp>
        <p:nvSpPr>
          <p:cNvPr id="1869" name="Google Shape;1869;p99"/>
          <p:cNvSpPr txBox="1"/>
          <p:nvPr/>
        </p:nvSpPr>
        <p:spPr>
          <a:xfrm>
            <a:off x="7395366" y="1903207"/>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i</a:t>
            </a:r>
            <a:endParaRPr b="1" sz="1800">
              <a:solidFill>
                <a:srgbClr val="FFFFFF"/>
              </a:solidFill>
              <a:latin typeface="Lexend"/>
              <a:ea typeface="Lexend"/>
              <a:cs typeface="Lexend"/>
              <a:sym typeface="Lexend"/>
            </a:endParaRPr>
          </a:p>
        </p:txBody>
      </p:sp>
      <p:sp>
        <p:nvSpPr>
          <p:cNvPr id="1870" name="Google Shape;1870;p99"/>
          <p:cNvSpPr/>
          <p:nvPr/>
        </p:nvSpPr>
        <p:spPr>
          <a:xfrm>
            <a:off x="7654950" y="1818506"/>
            <a:ext cx="1165200" cy="3426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18000" lIns="0" spcFirstLastPara="1" rIns="0" wrap="square" tIns="18000">
            <a:noAutofit/>
          </a:bodyPr>
          <a:lstStyle/>
          <a:p>
            <a:pPr indent="0" lvl="0" marL="0" rtl="0" algn="ctr">
              <a:spcBef>
                <a:spcPts val="0"/>
              </a:spcBef>
              <a:spcAft>
                <a:spcPts val="0"/>
              </a:spcAft>
              <a:buNone/>
            </a:pPr>
            <a:r>
              <a:rPr lang="en-GB" sz="1800">
                <a:latin typeface="Lexend"/>
                <a:ea typeface="Lexend"/>
                <a:cs typeface="Lexend"/>
                <a:sym typeface="Lexend"/>
              </a:rPr>
              <a:t>30 cm</a:t>
            </a:r>
            <a:endParaRPr sz="1800">
              <a:latin typeface="Lexend"/>
              <a:ea typeface="Lexend"/>
              <a:cs typeface="Lexend"/>
              <a:sym typeface="Lexend"/>
            </a:endParaRPr>
          </a:p>
        </p:txBody>
      </p:sp>
      <p:pic>
        <p:nvPicPr>
          <p:cNvPr id="1871" name="Google Shape;1871;p99"/>
          <p:cNvPicPr preferRelativeResize="0"/>
          <p:nvPr/>
        </p:nvPicPr>
        <p:blipFill>
          <a:blip r:embed="rId4">
            <a:alphaModFix/>
          </a:blip>
          <a:stretch>
            <a:fillRect/>
          </a:stretch>
        </p:blipFill>
        <p:spPr>
          <a:xfrm>
            <a:off x="7380596" y="1330268"/>
            <a:ext cx="274366" cy="274366"/>
          </a:xfrm>
          <a:prstGeom prst="rect">
            <a:avLst/>
          </a:prstGeom>
          <a:noFill/>
          <a:ln>
            <a:noFill/>
          </a:ln>
        </p:spPr>
      </p:pic>
      <p:sp>
        <p:nvSpPr>
          <p:cNvPr id="1872" name="Google Shape;1872;p99"/>
          <p:cNvSpPr txBox="1"/>
          <p:nvPr/>
        </p:nvSpPr>
        <p:spPr>
          <a:xfrm>
            <a:off x="7395366" y="1380864"/>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h</a:t>
            </a:r>
            <a:endParaRPr b="1" sz="1800">
              <a:solidFill>
                <a:srgbClr val="FFFFFF"/>
              </a:solidFill>
              <a:latin typeface="Lexend"/>
              <a:ea typeface="Lexend"/>
              <a:cs typeface="Lexend"/>
              <a:sym typeface="Lexend"/>
            </a:endParaRPr>
          </a:p>
        </p:txBody>
      </p:sp>
      <p:sp>
        <p:nvSpPr>
          <p:cNvPr id="1873" name="Google Shape;1873;p99"/>
          <p:cNvSpPr/>
          <p:nvPr/>
        </p:nvSpPr>
        <p:spPr>
          <a:xfrm>
            <a:off x="7654950" y="1296165"/>
            <a:ext cx="1165200" cy="3426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18000" lIns="0" spcFirstLastPara="1" rIns="0" wrap="square" tIns="18000">
            <a:noAutofit/>
          </a:bodyPr>
          <a:lstStyle/>
          <a:p>
            <a:pPr indent="0" lvl="0" marL="0" rtl="0" algn="ctr">
              <a:spcBef>
                <a:spcPts val="0"/>
              </a:spcBef>
              <a:spcAft>
                <a:spcPts val="0"/>
              </a:spcAft>
              <a:buNone/>
            </a:pPr>
            <a:r>
              <a:rPr lang="en-GB" sz="1800">
                <a:latin typeface="Lexend"/>
                <a:ea typeface="Lexend"/>
                <a:cs typeface="Lexend"/>
                <a:sym typeface="Lexend"/>
              </a:rPr>
              <a:t>25.46 cm</a:t>
            </a:r>
            <a:endParaRPr sz="1800">
              <a:latin typeface="Lexend"/>
              <a:ea typeface="Lexend"/>
              <a:cs typeface="Lexend"/>
              <a:sym typeface="Lexend"/>
            </a:endParaRPr>
          </a:p>
        </p:txBody>
      </p:sp>
      <p:pic>
        <p:nvPicPr>
          <p:cNvPr id="1874" name="Google Shape;1874;p99"/>
          <p:cNvPicPr preferRelativeResize="0"/>
          <p:nvPr/>
        </p:nvPicPr>
        <p:blipFill>
          <a:blip r:embed="rId4">
            <a:alphaModFix/>
          </a:blip>
          <a:stretch>
            <a:fillRect/>
          </a:stretch>
        </p:blipFill>
        <p:spPr>
          <a:xfrm>
            <a:off x="7380596" y="807926"/>
            <a:ext cx="274366" cy="274366"/>
          </a:xfrm>
          <a:prstGeom prst="rect">
            <a:avLst/>
          </a:prstGeom>
          <a:noFill/>
          <a:ln>
            <a:noFill/>
          </a:ln>
        </p:spPr>
      </p:pic>
      <p:sp>
        <p:nvSpPr>
          <p:cNvPr id="1875" name="Google Shape;1875;p99"/>
          <p:cNvSpPr txBox="1"/>
          <p:nvPr/>
        </p:nvSpPr>
        <p:spPr>
          <a:xfrm>
            <a:off x="7395366" y="858522"/>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g</a:t>
            </a:r>
            <a:endParaRPr b="1" sz="1800">
              <a:solidFill>
                <a:srgbClr val="FFFFFF"/>
              </a:solidFill>
              <a:latin typeface="Lexend"/>
              <a:ea typeface="Lexend"/>
              <a:cs typeface="Lexend"/>
              <a:sym typeface="Lexend"/>
            </a:endParaRPr>
          </a:p>
        </p:txBody>
      </p:sp>
      <p:sp>
        <p:nvSpPr>
          <p:cNvPr id="1876" name="Google Shape;1876;p99"/>
          <p:cNvSpPr/>
          <p:nvPr/>
        </p:nvSpPr>
        <p:spPr>
          <a:xfrm>
            <a:off x="7654950" y="773825"/>
            <a:ext cx="1165200" cy="3426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18000" lIns="0" spcFirstLastPara="1" rIns="0" wrap="square" tIns="18000">
            <a:noAutofit/>
          </a:bodyPr>
          <a:lstStyle/>
          <a:p>
            <a:pPr indent="0" lvl="0" marL="0" rtl="0" algn="ctr">
              <a:spcBef>
                <a:spcPts val="0"/>
              </a:spcBef>
              <a:spcAft>
                <a:spcPts val="0"/>
              </a:spcAft>
              <a:buNone/>
            </a:pPr>
            <a:r>
              <a:rPr lang="en-GB" sz="1800">
                <a:latin typeface="Lexend"/>
                <a:ea typeface="Lexend"/>
                <a:cs typeface="Lexend"/>
                <a:sym typeface="Lexend"/>
              </a:rPr>
              <a:t>21.26 cm</a:t>
            </a:r>
            <a:endParaRPr sz="1800">
              <a:latin typeface="Lexend"/>
              <a:ea typeface="Lexend"/>
              <a:cs typeface="Lexend"/>
              <a:sym typeface="Lexend"/>
            </a:endParaRPr>
          </a:p>
        </p:txBody>
      </p:sp>
      <p:pic>
        <p:nvPicPr>
          <p:cNvPr id="1877" name="Google Shape;1877;p99"/>
          <p:cNvPicPr preferRelativeResize="0"/>
          <p:nvPr/>
        </p:nvPicPr>
        <p:blipFill>
          <a:blip r:embed="rId4">
            <a:alphaModFix/>
          </a:blip>
          <a:stretch>
            <a:fillRect/>
          </a:stretch>
        </p:blipFill>
        <p:spPr>
          <a:xfrm>
            <a:off x="7380596" y="3419638"/>
            <a:ext cx="274366" cy="274366"/>
          </a:xfrm>
          <a:prstGeom prst="rect">
            <a:avLst/>
          </a:prstGeom>
          <a:noFill/>
          <a:ln>
            <a:noFill/>
          </a:ln>
        </p:spPr>
      </p:pic>
      <p:sp>
        <p:nvSpPr>
          <p:cNvPr id="1878" name="Google Shape;1878;p99"/>
          <p:cNvSpPr txBox="1"/>
          <p:nvPr/>
        </p:nvSpPr>
        <p:spPr>
          <a:xfrm>
            <a:off x="7395366" y="3470234"/>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l</a:t>
            </a:r>
            <a:endParaRPr b="1" sz="1800">
              <a:solidFill>
                <a:srgbClr val="FFFFFF"/>
              </a:solidFill>
              <a:latin typeface="Lexend"/>
              <a:ea typeface="Lexend"/>
              <a:cs typeface="Lexend"/>
              <a:sym typeface="Lexend"/>
            </a:endParaRPr>
          </a:p>
        </p:txBody>
      </p:sp>
      <p:sp>
        <p:nvSpPr>
          <p:cNvPr id="1879" name="Google Shape;1879;p99"/>
          <p:cNvSpPr/>
          <p:nvPr/>
        </p:nvSpPr>
        <p:spPr>
          <a:xfrm>
            <a:off x="7654950" y="3385526"/>
            <a:ext cx="1165200" cy="3426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18000" lIns="0" spcFirstLastPara="1" rIns="0" wrap="square" tIns="18000">
            <a:noAutofit/>
          </a:bodyPr>
          <a:lstStyle/>
          <a:p>
            <a:pPr indent="0" lvl="0" marL="0" rtl="0" algn="ctr">
              <a:spcBef>
                <a:spcPts val="0"/>
              </a:spcBef>
              <a:spcAft>
                <a:spcPts val="0"/>
              </a:spcAft>
              <a:buNone/>
            </a:pPr>
            <a:r>
              <a:rPr lang="en-GB" sz="1800">
                <a:latin typeface="Lexend"/>
                <a:ea typeface="Lexend"/>
                <a:cs typeface="Lexend"/>
                <a:sym typeface="Lexend"/>
              </a:rPr>
              <a:t>32.56 cm</a:t>
            </a:r>
            <a:endParaRPr sz="1800">
              <a:latin typeface="Lexend"/>
              <a:ea typeface="Lexend"/>
              <a:cs typeface="Lexend"/>
              <a:sym typeface="Lexend"/>
            </a:endParaRPr>
          </a:p>
        </p:txBody>
      </p:sp>
      <p:pic>
        <p:nvPicPr>
          <p:cNvPr id="1880" name="Google Shape;1880;p99"/>
          <p:cNvPicPr preferRelativeResize="0"/>
          <p:nvPr/>
        </p:nvPicPr>
        <p:blipFill>
          <a:blip r:embed="rId4">
            <a:alphaModFix/>
          </a:blip>
          <a:stretch>
            <a:fillRect/>
          </a:stretch>
        </p:blipFill>
        <p:spPr>
          <a:xfrm>
            <a:off x="7380596" y="2897296"/>
            <a:ext cx="274366" cy="274366"/>
          </a:xfrm>
          <a:prstGeom prst="rect">
            <a:avLst/>
          </a:prstGeom>
          <a:noFill/>
          <a:ln>
            <a:noFill/>
          </a:ln>
        </p:spPr>
      </p:pic>
      <p:sp>
        <p:nvSpPr>
          <p:cNvPr id="1881" name="Google Shape;1881;p99"/>
          <p:cNvSpPr txBox="1"/>
          <p:nvPr/>
        </p:nvSpPr>
        <p:spPr>
          <a:xfrm>
            <a:off x="7395366" y="2947892"/>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k</a:t>
            </a:r>
            <a:endParaRPr b="1" sz="1800">
              <a:solidFill>
                <a:srgbClr val="FFFFFF"/>
              </a:solidFill>
              <a:latin typeface="Lexend"/>
              <a:ea typeface="Lexend"/>
              <a:cs typeface="Lexend"/>
              <a:sym typeface="Lexend"/>
            </a:endParaRPr>
          </a:p>
        </p:txBody>
      </p:sp>
      <p:sp>
        <p:nvSpPr>
          <p:cNvPr id="1882" name="Google Shape;1882;p99"/>
          <p:cNvSpPr/>
          <p:nvPr/>
        </p:nvSpPr>
        <p:spPr>
          <a:xfrm>
            <a:off x="7654950" y="2863186"/>
            <a:ext cx="1165200" cy="3426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18000" lIns="0" spcFirstLastPara="1" rIns="0" wrap="square" tIns="18000">
            <a:noAutofit/>
          </a:bodyPr>
          <a:lstStyle/>
          <a:p>
            <a:pPr indent="0" lvl="0" marL="0" rtl="0" algn="ctr">
              <a:spcBef>
                <a:spcPts val="0"/>
              </a:spcBef>
              <a:spcAft>
                <a:spcPts val="0"/>
              </a:spcAft>
              <a:buNone/>
            </a:pPr>
            <a:r>
              <a:rPr lang="en-GB" sz="1800">
                <a:latin typeface="Lexend"/>
                <a:ea typeface="Lexend"/>
                <a:cs typeface="Lexend"/>
                <a:sym typeface="Lexend"/>
              </a:rPr>
              <a:t>15.20 cm</a:t>
            </a:r>
            <a:endParaRPr sz="1800">
              <a:latin typeface="Lexend"/>
              <a:ea typeface="Lexend"/>
              <a:cs typeface="Lexend"/>
              <a:sym typeface="Lexend"/>
            </a:endParaRPr>
          </a:p>
        </p:txBody>
      </p:sp>
      <p:cxnSp>
        <p:nvCxnSpPr>
          <p:cNvPr id="1883" name="Google Shape;1883;p99"/>
          <p:cNvCxnSpPr/>
          <p:nvPr/>
        </p:nvCxnSpPr>
        <p:spPr>
          <a:xfrm rot="10800000">
            <a:off x="5614025" y="2634075"/>
            <a:ext cx="167400" cy="324000"/>
          </a:xfrm>
          <a:prstGeom prst="straightConnector1">
            <a:avLst/>
          </a:prstGeom>
          <a:noFill/>
          <a:ln cap="flat" cmpd="sng" w="28575">
            <a:solidFill>
              <a:srgbClr val="374CF1"/>
            </a:solidFill>
            <a:prstDash val="solid"/>
            <a:round/>
            <a:headEnd len="med" w="med" type="none"/>
            <a:tailEnd len="med" w="med" type="none"/>
          </a:ln>
        </p:spPr>
      </p:cxnSp>
      <p:sp>
        <p:nvSpPr>
          <p:cNvPr id="1884" name="Google Shape;1884;p99"/>
          <p:cNvSpPr txBox="1"/>
          <p:nvPr/>
        </p:nvSpPr>
        <p:spPr>
          <a:xfrm flipH="1">
            <a:off x="1403483" y="1620005"/>
            <a:ext cx="244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885" name="Google Shape;1885;p99"/>
          <p:cNvSpPr txBox="1"/>
          <p:nvPr/>
        </p:nvSpPr>
        <p:spPr>
          <a:xfrm flipH="1">
            <a:off x="3480017" y="1655605"/>
            <a:ext cx="244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b)</a:t>
            </a:r>
            <a:endParaRPr sz="1800">
              <a:latin typeface="Lexend"/>
              <a:ea typeface="Lexend"/>
              <a:cs typeface="Lexend"/>
              <a:sym typeface="Lexend"/>
            </a:endParaRPr>
          </a:p>
        </p:txBody>
      </p:sp>
      <p:sp>
        <p:nvSpPr>
          <p:cNvPr id="1886" name="Google Shape;1886;p99"/>
          <p:cNvSpPr txBox="1"/>
          <p:nvPr/>
        </p:nvSpPr>
        <p:spPr>
          <a:xfrm flipH="1">
            <a:off x="5567495" y="1536855"/>
            <a:ext cx="244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c)</a:t>
            </a:r>
            <a:endParaRPr sz="1800">
              <a:latin typeface="Lexend"/>
              <a:ea typeface="Lexend"/>
              <a:cs typeface="Lexend"/>
              <a:sym typeface="Lexend"/>
            </a:endParaRPr>
          </a:p>
        </p:txBody>
      </p:sp>
      <p:sp>
        <p:nvSpPr>
          <p:cNvPr id="1887" name="Google Shape;1887;p99"/>
          <p:cNvSpPr txBox="1"/>
          <p:nvPr/>
        </p:nvSpPr>
        <p:spPr>
          <a:xfrm flipH="1">
            <a:off x="1403483" y="3832280"/>
            <a:ext cx="244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d)</a:t>
            </a:r>
            <a:endParaRPr sz="1800">
              <a:latin typeface="Lexend"/>
              <a:ea typeface="Lexend"/>
              <a:cs typeface="Lexend"/>
              <a:sym typeface="Lexend"/>
            </a:endParaRPr>
          </a:p>
        </p:txBody>
      </p:sp>
      <p:sp>
        <p:nvSpPr>
          <p:cNvPr id="1888" name="Google Shape;1888;p99"/>
          <p:cNvSpPr txBox="1"/>
          <p:nvPr/>
        </p:nvSpPr>
        <p:spPr>
          <a:xfrm flipH="1">
            <a:off x="3630611" y="3502805"/>
            <a:ext cx="244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e)</a:t>
            </a:r>
            <a:endParaRPr sz="1800">
              <a:latin typeface="Lexend"/>
              <a:ea typeface="Lexend"/>
              <a:cs typeface="Lexend"/>
              <a:sym typeface="Lexend"/>
            </a:endParaRPr>
          </a:p>
        </p:txBody>
      </p:sp>
      <p:sp>
        <p:nvSpPr>
          <p:cNvPr id="1889" name="Google Shape;1889;p99"/>
          <p:cNvSpPr txBox="1"/>
          <p:nvPr/>
        </p:nvSpPr>
        <p:spPr>
          <a:xfrm flipH="1">
            <a:off x="6053491" y="3613752"/>
            <a:ext cx="244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f)</a:t>
            </a:r>
            <a:endParaRPr sz="1800">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3" name="Shape 1893"/>
        <p:cNvGrpSpPr/>
        <p:nvPr/>
      </p:nvGrpSpPr>
      <p:grpSpPr>
        <a:xfrm>
          <a:off x="0" y="0"/>
          <a:ext cx="0" cy="0"/>
          <a:chOff x="0" y="0"/>
          <a:chExt cx="0" cy="0"/>
        </a:xfrm>
      </p:grpSpPr>
      <p:sp>
        <p:nvSpPr>
          <p:cNvPr id="1894" name="Google Shape;1894;p100"/>
          <p:cNvSpPr txBox="1"/>
          <p:nvPr/>
        </p:nvSpPr>
        <p:spPr>
          <a:xfrm flipH="1" rot="2564">
            <a:off x="7346101" y="2700440"/>
            <a:ext cx="1206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triangle X</a:t>
            </a:r>
            <a:endParaRPr sz="1800">
              <a:latin typeface="Lexend"/>
              <a:ea typeface="Lexend"/>
              <a:cs typeface="Lexend"/>
              <a:sym typeface="Lexend"/>
            </a:endParaRPr>
          </a:p>
        </p:txBody>
      </p:sp>
      <p:sp>
        <p:nvSpPr>
          <p:cNvPr id="1895" name="Google Shape;1895;p100"/>
          <p:cNvSpPr txBox="1"/>
          <p:nvPr/>
        </p:nvSpPr>
        <p:spPr>
          <a:xfrm flipH="1" rot="2748">
            <a:off x="324301" y="652739"/>
            <a:ext cx="6754802"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2) Which of these triangles are congruent to triangle X?</a:t>
            </a:r>
            <a:endParaRPr sz="1800">
              <a:latin typeface="Lexend"/>
              <a:ea typeface="Lexend"/>
              <a:cs typeface="Lexend"/>
              <a:sym typeface="Lexend"/>
            </a:endParaRPr>
          </a:p>
        </p:txBody>
      </p:sp>
      <p:sp>
        <p:nvSpPr>
          <p:cNvPr id="1896" name="Google Shape;1896;p10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Finding the length of missing sides</a:t>
            </a:r>
            <a:endParaRPr/>
          </a:p>
        </p:txBody>
      </p:sp>
      <p:cxnSp>
        <p:nvCxnSpPr>
          <p:cNvPr id="1897" name="Google Shape;1897;p100"/>
          <p:cNvCxnSpPr/>
          <p:nvPr/>
        </p:nvCxnSpPr>
        <p:spPr>
          <a:xfrm rot="10800000">
            <a:off x="7953975" y="2317821"/>
            <a:ext cx="622200" cy="0"/>
          </a:xfrm>
          <a:prstGeom prst="straightConnector1">
            <a:avLst/>
          </a:prstGeom>
          <a:noFill/>
          <a:ln cap="flat" cmpd="sng" w="28575">
            <a:solidFill>
              <a:srgbClr val="845AD9"/>
            </a:solidFill>
            <a:prstDash val="solid"/>
            <a:round/>
            <a:headEnd len="med" w="med" type="triangle"/>
            <a:tailEnd len="med" w="med" type="triangle"/>
          </a:ln>
        </p:spPr>
      </p:cxnSp>
      <p:cxnSp>
        <p:nvCxnSpPr>
          <p:cNvPr id="1898" name="Google Shape;1898;p100"/>
          <p:cNvCxnSpPr/>
          <p:nvPr/>
        </p:nvCxnSpPr>
        <p:spPr>
          <a:xfrm>
            <a:off x="7814150" y="796085"/>
            <a:ext cx="0" cy="1396500"/>
          </a:xfrm>
          <a:prstGeom prst="straightConnector1">
            <a:avLst/>
          </a:prstGeom>
          <a:noFill/>
          <a:ln cap="flat" cmpd="sng" w="28575">
            <a:solidFill>
              <a:srgbClr val="845AD9"/>
            </a:solidFill>
            <a:prstDash val="solid"/>
            <a:round/>
            <a:headEnd len="med" w="med" type="triangle"/>
            <a:tailEnd len="med" w="med" type="triangle"/>
          </a:ln>
        </p:spPr>
      </p:cxnSp>
      <p:cxnSp>
        <p:nvCxnSpPr>
          <p:cNvPr id="1899" name="Google Shape;1899;p100"/>
          <p:cNvCxnSpPr/>
          <p:nvPr/>
        </p:nvCxnSpPr>
        <p:spPr>
          <a:xfrm>
            <a:off x="8082150" y="761135"/>
            <a:ext cx="622200" cy="1396500"/>
          </a:xfrm>
          <a:prstGeom prst="straightConnector1">
            <a:avLst/>
          </a:prstGeom>
          <a:noFill/>
          <a:ln cap="flat" cmpd="sng" w="28575">
            <a:solidFill>
              <a:srgbClr val="845AD9"/>
            </a:solidFill>
            <a:prstDash val="solid"/>
            <a:round/>
            <a:headEnd len="med" w="med" type="triangle"/>
            <a:tailEnd len="med" w="med" type="triangle"/>
          </a:ln>
        </p:spPr>
      </p:cxnSp>
      <p:grpSp>
        <p:nvGrpSpPr>
          <p:cNvPr id="1900" name="Google Shape;1900;p100"/>
          <p:cNvGrpSpPr/>
          <p:nvPr/>
        </p:nvGrpSpPr>
        <p:grpSpPr>
          <a:xfrm>
            <a:off x="7953975" y="796085"/>
            <a:ext cx="622200" cy="1396500"/>
            <a:chOff x="7148100" y="763500"/>
            <a:chExt cx="622200" cy="1396500"/>
          </a:xfrm>
        </p:grpSpPr>
        <p:sp>
          <p:nvSpPr>
            <p:cNvPr id="1901" name="Google Shape;1901;p100"/>
            <p:cNvSpPr/>
            <p:nvPr/>
          </p:nvSpPr>
          <p:spPr>
            <a:xfrm>
              <a:off x="7148100" y="763500"/>
              <a:ext cx="622200" cy="13965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02" name="Google Shape;1902;p100"/>
            <p:cNvSpPr/>
            <p:nvPr/>
          </p:nvSpPr>
          <p:spPr>
            <a:xfrm>
              <a:off x="7149329" y="1958371"/>
              <a:ext cx="200400" cy="200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903" name="Google Shape;1903;p100"/>
          <p:cNvSpPr txBox="1"/>
          <p:nvPr/>
        </p:nvSpPr>
        <p:spPr>
          <a:xfrm flipH="1" rot="3048">
            <a:off x="7926672" y="2357594"/>
            <a:ext cx="676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16 cm</a:t>
            </a:r>
            <a:endParaRPr sz="1800">
              <a:latin typeface="Lexend"/>
              <a:ea typeface="Lexend"/>
              <a:cs typeface="Lexend"/>
              <a:sym typeface="Lexend"/>
            </a:endParaRPr>
          </a:p>
        </p:txBody>
      </p:sp>
      <p:sp>
        <p:nvSpPr>
          <p:cNvPr id="1904" name="Google Shape;1904;p100"/>
          <p:cNvSpPr txBox="1"/>
          <p:nvPr/>
        </p:nvSpPr>
        <p:spPr>
          <a:xfrm flipH="1" rot="3048">
            <a:off x="7123520" y="1355744"/>
            <a:ext cx="676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63 cm</a:t>
            </a:r>
            <a:endParaRPr sz="1800">
              <a:latin typeface="Lexend"/>
              <a:ea typeface="Lexend"/>
              <a:cs typeface="Lexend"/>
              <a:sym typeface="Lexend"/>
            </a:endParaRPr>
          </a:p>
        </p:txBody>
      </p:sp>
      <p:cxnSp>
        <p:nvCxnSpPr>
          <p:cNvPr id="1905" name="Google Shape;1905;p100"/>
          <p:cNvCxnSpPr/>
          <p:nvPr/>
        </p:nvCxnSpPr>
        <p:spPr>
          <a:xfrm>
            <a:off x="351592" y="2716783"/>
            <a:ext cx="622200" cy="0"/>
          </a:xfrm>
          <a:prstGeom prst="straightConnector1">
            <a:avLst/>
          </a:prstGeom>
          <a:noFill/>
          <a:ln cap="flat" cmpd="sng" w="28575">
            <a:solidFill>
              <a:srgbClr val="845AD9"/>
            </a:solidFill>
            <a:prstDash val="solid"/>
            <a:round/>
            <a:headEnd len="med" w="med" type="triangle"/>
            <a:tailEnd len="med" w="med" type="triangle"/>
          </a:ln>
        </p:spPr>
      </p:cxnSp>
      <p:cxnSp>
        <p:nvCxnSpPr>
          <p:cNvPr id="1906" name="Google Shape;1906;p100"/>
          <p:cNvCxnSpPr/>
          <p:nvPr/>
        </p:nvCxnSpPr>
        <p:spPr>
          <a:xfrm>
            <a:off x="1113617" y="1195048"/>
            <a:ext cx="0" cy="1396500"/>
          </a:xfrm>
          <a:prstGeom prst="straightConnector1">
            <a:avLst/>
          </a:prstGeom>
          <a:noFill/>
          <a:ln cap="flat" cmpd="sng" w="28575">
            <a:solidFill>
              <a:srgbClr val="845AD9"/>
            </a:solidFill>
            <a:prstDash val="solid"/>
            <a:round/>
            <a:headEnd len="med" w="med" type="triangle"/>
            <a:tailEnd len="med" w="med" type="triangle"/>
          </a:ln>
        </p:spPr>
      </p:cxnSp>
      <p:grpSp>
        <p:nvGrpSpPr>
          <p:cNvPr id="1907" name="Google Shape;1907;p100"/>
          <p:cNvGrpSpPr/>
          <p:nvPr/>
        </p:nvGrpSpPr>
        <p:grpSpPr>
          <a:xfrm flipH="1">
            <a:off x="351592" y="1195048"/>
            <a:ext cx="622200" cy="1396500"/>
            <a:chOff x="7148100" y="763500"/>
            <a:chExt cx="622200" cy="1396500"/>
          </a:xfrm>
        </p:grpSpPr>
        <p:sp>
          <p:nvSpPr>
            <p:cNvPr id="1908" name="Google Shape;1908;p100"/>
            <p:cNvSpPr/>
            <p:nvPr/>
          </p:nvSpPr>
          <p:spPr>
            <a:xfrm>
              <a:off x="7148100" y="763500"/>
              <a:ext cx="622200" cy="13965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09" name="Google Shape;1909;p100"/>
            <p:cNvSpPr/>
            <p:nvPr/>
          </p:nvSpPr>
          <p:spPr>
            <a:xfrm>
              <a:off x="7149329" y="1958371"/>
              <a:ext cx="200400" cy="200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910" name="Google Shape;1910;p100"/>
          <p:cNvSpPr txBox="1"/>
          <p:nvPr/>
        </p:nvSpPr>
        <p:spPr>
          <a:xfrm rot="-3048">
            <a:off x="324295" y="2756557"/>
            <a:ext cx="676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16 cm</a:t>
            </a:r>
            <a:endParaRPr sz="1800">
              <a:latin typeface="Lexend"/>
              <a:ea typeface="Lexend"/>
              <a:cs typeface="Lexend"/>
              <a:sym typeface="Lexend"/>
            </a:endParaRPr>
          </a:p>
        </p:txBody>
      </p:sp>
      <p:sp>
        <p:nvSpPr>
          <p:cNvPr id="1911" name="Google Shape;1911;p100"/>
          <p:cNvSpPr txBox="1"/>
          <p:nvPr/>
        </p:nvSpPr>
        <p:spPr>
          <a:xfrm rot="-3048">
            <a:off x="1127447" y="1754707"/>
            <a:ext cx="676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63 cm</a:t>
            </a:r>
            <a:endParaRPr sz="1800">
              <a:latin typeface="Lexend"/>
              <a:ea typeface="Lexend"/>
              <a:cs typeface="Lexend"/>
              <a:sym typeface="Lexend"/>
            </a:endParaRPr>
          </a:p>
        </p:txBody>
      </p:sp>
      <p:cxnSp>
        <p:nvCxnSpPr>
          <p:cNvPr id="1912" name="Google Shape;1912;p100"/>
          <p:cNvCxnSpPr/>
          <p:nvPr/>
        </p:nvCxnSpPr>
        <p:spPr>
          <a:xfrm rot="5400000">
            <a:off x="3152391" y="2285400"/>
            <a:ext cx="622200" cy="0"/>
          </a:xfrm>
          <a:prstGeom prst="straightConnector1">
            <a:avLst/>
          </a:prstGeom>
          <a:noFill/>
          <a:ln cap="flat" cmpd="sng" w="28575">
            <a:solidFill>
              <a:srgbClr val="845AD9"/>
            </a:solidFill>
            <a:prstDash val="solid"/>
            <a:round/>
            <a:headEnd len="med" w="med" type="triangle"/>
            <a:tailEnd len="med" w="med" type="triangle"/>
          </a:ln>
        </p:spPr>
      </p:cxnSp>
      <p:cxnSp>
        <p:nvCxnSpPr>
          <p:cNvPr id="1913" name="Google Shape;1913;p100"/>
          <p:cNvCxnSpPr/>
          <p:nvPr/>
        </p:nvCxnSpPr>
        <p:spPr>
          <a:xfrm rot="-5400000">
            <a:off x="2293956" y="1458975"/>
            <a:ext cx="622200" cy="1396500"/>
          </a:xfrm>
          <a:prstGeom prst="straightConnector1">
            <a:avLst/>
          </a:prstGeom>
          <a:noFill/>
          <a:ln cap="flat" cmpd="sng" w="28575">
            <a:solidFill>
              <a:srgbClr val="845AD9"/>
            </a:solidFill>
            <a:prstDash val="solid"/>
            <a:round/>
            <a:headEnd len="med" w="med" type="triangle"/>
            <a:tailEnd len="med" w="med" type="triangle"/>
          </a:ln>
        </p:spPr>
      </p:cxnSp>
      <p:grpSp>
        <p:nvGrpSpPr>
          <p:cNvPr id="1914" name="Google Shape;1914;p100"/>
          <p:cNvGrpSpPr/>
          <p:nvPr/>
        </p:nvGrpSpPr>
        <p:grpSpPr>
          <a:xfrm rot="-5400000">
            <a:off x="2328906" y="1587150"/>
            <a:ext cx="622200" cy="1396500"/>
            <a:chOff x="7148100" y="763500"/>
            <a:chExt cx="622200" cy="1396500"/>
          </a:xfrm>
        </p:grpSpPr>
        <p:sp>
          <p:nvSpPr>
            <p:cNvPr id="1915" name="Google Shape;1915;p100"/>
            <p:cNvSpPr/>
            <p:nvPr/>
          </p:nvSpPr>
          <p:spPr>
            <a:xfrm>
              <a:off x="7148100" y="763500"/>
              <a:ext cx="622200" cy="13965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16" name="Google Shape;1916;p100"/>
            <p:cNvSpPr/>
            <p:nvPr/>
          </p:nvSpPr>
          <p:spPr>
            <a:xfrm>
              <a:off x="7149329" y="1958371"/>
              <a:ext cx="200400" cy="200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917" name="Google Shape;1917;p100"/>
          <p:cNvSpPr txBox="1"/>
          <p:nvPr/>
        </p:nvSpPr>
        <p:spPr>
          <a:xfrm flipH="1" rot="3048">
            <a:off x="3469063" y="2146803"/>
            <a:ext cx="676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16 cm</a:t>
            </a:r>
            <a:endParaRPr sz="1800">
              <a:latin typeface="Lexend"/>
              <a:ea typeface="Lexend"/>
              <a:cs typeface="Lexend"/>
              <a:sym typeface="Lexend"/>
            </a:endParaRPr>
          </a:p>
        </p:txBody>
      </p:sp>
      <p:sp>
        <p:nvSpPr>
          <p:cNvPr id="1918" name="Google Shape;1918;p100"/>
          <p:cNvSpPr txBox="1"/>
          <p:nvPr/>
        </p:nvSpPr>
        <p:spPr>
          <a:xfrm flipH="1" rot="-1434932">
            <a:off x="1966563" y="1880430"/>
            <a:ext cx="1152225" cy="27719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63 cm</a:t>
            </a:r>
            <a:endParaRPr sz="1800">
              <a:latin typeface="Lexend"/>
              <a:ea typeface="Lexend"/>
              <a:cs typeface="Lexend"/>
              <a:sym typeface="Lexend"/>
            </a:endParaRPr>
          </a:p>
        </p:txBody>
      </p:sp>
      <p:sp>
        <p:nvSpPr>
          <p:cNvPr id="1919" name="Google Shape;1919;p100"/>
          <p:cNvSpPr/>
          <p:nvPr/>
        </p:nvSpPr>
        <p:spPr>
          <a:xfrm>
            <a:off x="7079100" y="682160"/>
            <a:ext cx="1740900" cy="19971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920" name="Google Shape;1920;p100"/>
          <p:cNvGrpSpPr/>
          <p:nvPr/>
        </p:nvGrpSpPr>
        <p:grpSpPr>
          <a:xfrm flipH="1" rot="2700000">
            <a:off x="5066039" y="1204540"/>
            <a:ext cx="622194" cy="1396487"/>
            <a:chOff x="7148100" y="763500"/>
            <a:chExt cx="622200" cy="1396500"/>
          </a:xfrm>
        </p:grpSpPr>
        <p:sp>
          <p:nvSpPr>
            <p:cNvPr id="1921" name="Google Shape;1921;p100"/>
            <p:cNvSpPr/>
            <p:nvPr/>
          </p:nvSpPr>
          <p:spPr>
            <a:xfrm>
              <a:off x="7148100" y="763500"/>
              <a:ext cx="622200" cy="13965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22" name="Google Shape;1922;p100"/>
            <p:cNvSpPr/>
            <p:nvPr/>
          </p:nvSpPr>
          <p:spPr>
            <a:xfrm>
              <a:off x="7149329" y="1958371"/>
              <a:ext cx="200400" cy="200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923" name="Google Shape;1923;p100"/>
          <p:cNvSpPr txBox="1"/>
          <p:nvPr/>
        </p:nvSpPr>
        <p:spPr>
          <a:xfrm rot="2696768">
            <a:off x="4337300" y="2467331"/>
            <a:ext cx="676914" cy="277044"/>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16 cm</a:t>
            </a:r>
            <a:endParaRPr sz="1800">
              <a:latin typeface="Lexend"/>
              <a:ea typeface="Lexend"/>
              <a:cs typeface="Lexend"/>
              <a:sym typeface="Lexend"/>
            </a:endParaRPr>
          </a:p>
        </p:txBody>
      </p:sp>
      <p:sp>
        <p:nvSpPr>
          <p:cNvPr id="1924" name="Google Shape;1924;p100"/>
          <p:cNvSpPr txBox="1"/>
          <p:nvPr/>
        </p:nvSpPr>
        <p:spPr>
          <a:xfrm rot="-2702831">
            <a:off x="5274581" y="2172126"/>
            <a:ext cx="1030538" cy="277044"/>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65 cm</a:t>
            </a:r>
            <a:endParaRPr sz="1800">
              <a:latin typeface="Lexend"/>
              <a:ea typeface="Lexend"/>
              <a:cs typeface="Lexend"/>
              <a:sym typeface="Lexend"/>
            </a:endParaRPr>
          </a:p>
        </p:txBody>
      </p:sp>
      <p:grpSp>
        <p:nvGrpSpPr>
          <p:cNvPr id="1925" name="Google Shape;1925;p100"/>
          <p:cNvGrpSpPr/>
          <p:nvPr/>
        </p:nvGrpSpPr>
        <p:grpSpPr>
          <a:xfrm rot="-2700000">
            <a:off x="1106150" y="3113222"/>
            <a:ext cx="622194" cy="1396487"/>
            <a:chOff x="7148100" y="763500"/>
            <a:chExt cx="622200" cy="1396500"/>
          </a:xfrm>
        </p:grpSpPr>
        <p:sp>
          <p:nvSpPr>
            <p:cNvPr id="1926" name="Google Shape;1926;p100"/>
            <p:cNvSpPr/>
            <p:nvPr/>
          </p:nvSpPr>
          <p:spPr>
            <a:xfrm>
              <a:off x="7148100" y="763500"/>
              <a:ext cx="622200" cy="13965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27" name="Google Shape;1927;p100"/>
            <p:cNvSpPr/>
            <p:nvPr/>
          </p:nvSpPr>
          <p:spPr>
            <a:xfrm>
              <a:off x="7149329" y="1958371"/>
              <a:ext cx="200400" cy="200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928" name="Google Shape;1928;p100"/>
          <p:cNvSpPr txBox="1"/>
          <p:nvPr/>
        </p:nvSpPr>
        <p:spPr>
          <a:xfrm flipH="1" rot="-2696768">
            <a:off x="1766343" y="4355273"/>
            <a:ext cx="676914" cy="277044"/>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16 cm</a:t>
            </a:r>
            <a:endParaRPr sz="1800">
              <a:latin typeface="Lexend"/>
              <a:ea typeface="Lexend"/>
              <a:cs typeface="Lexend"/>
              <a:sym typeface="Lexend"/>
            </a:endParaRPr>
          </a:p>
        </p:txBody>
      </p:sp>
      <p:sp>
        <p:nvSpPr>
          <p:cNvPr id="1929" name="Google Shape;1929;p100"/>
          <p:cNvSpPr txBox="1"/>
          <p:nvPr/>
        </p:nvSpPr>
        <p:spPr>
          <a:xfrm flipH="1" rot="2702831">
            <a:off x="489265" y="4080808"/>
            <a:ext cx="1030538" cy="277044"/>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67 cm</a:t>
            </a:r>
            <a:endParaRPr sz="1800">
              <a:latin typeface="Lexend"/>
              <a:ea typeface="Lexend"/>
              <a:cs typeface="Lexend"/>
              <a:sym typeface="Lexend"/>
            </a:endParaRPr>
          </a:p>
        </p:txBody>
      </p:sp>
      <p:cxnSp>
        <p:nvCxnSpPr>
          <p:cNvPr id="1930" name="Google Shape;1930;p100"/>
          <p:cNvCxnSpPr/>
          <p:nvPr/>
        </p:nvCxnSpPr>
        <p:spPr>
          <a:xfrm rot="-5400000">
            <a:off x="4001941" y="4091100"/>
            <a:ext cx="622200" cy="0"/>
          </a:xfrm>
          <a:prstGeom prst="straightConnector1">
            <a:avLst/>
          </a:prstGeom>
          <a:noFill/>
          <a:ln cap="flat" cmpd="sng" w="28575">
            <a:solidFill>
              <a:srgbClr val="845AD9"/>
            </a:solidFill>
            <a:prstDash val="solid"/>
            <a:round/>
            <a:headEnd len="med" w="med" type="triangle"/>
            <a:tailEnd len="med" w="med" type="triangle"/>
          </a:ln>
        </p:spPr>
      </p:cxnSp>
      <p:grpSp>
        <p:nvGrpSpPr>
          <p:cNvPr id="1931" name="Google Shape;1931;p100"/>
          <p:cNvGrpSpPr/>
          <p:nvPr/>
        </p:nvGrpSpPr>
        <p:grpSpPr>
          <a:xfrm flipH="1" rot="-5400000">
            <a:off x="3178456" y="3392850"/>
            <a:ext cx="622200" cy="1396500"/>
            <a:chOff x="7148100" y="763500"/>
            <a:chExt cx="622200" cy="1396500"/>
          </a:xfrm>
        </p:grpSpPr>
        <p:sp>
          <p:nvSpPr>
            <p:cNvPr id="1932" name="Google Shape;1932;p100"/>
            <p:cNvSpPr/>
            <p:nvPr/>
          </p:nvSpPr>
          <p:spPr>
            <a:xfrm>
              <a:off x="7148100" y="763500"/>
              <a:ext cx="622200" cy="13965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33" name="Google Shape;1933;p100"/>
            <p:cNvSpPr/>
            <p:nvPr/>
          </p:nvSpPr>
          <p:spPr>
            <a:xfrm>
              <a:off x="7149329" y="1958371"/>
              <a:ext cx="200400" cy="200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1934" name="Google Shape;1934;p100"/>
          <p:cNvCxnSpPr/>
          <p:nvPr/>
        </p:nvCxnSpPr>
        <p:spPr>
          <a:xfrm flipH="1" rot="-5400000">
            <a:off x="3143506" y="3521025"/>
            <a:ext cx="622200" cy="1396500"/>
          </a:xfrm>
          <a:prstGeom prst="straightConnector1">
            <a:avLst/>
          </a:prstGeom>
          <a:noFill/>
          <a:ln cap="flat" cmpd="sng" w="28575">
            <a:solidFill>
              <a:srgbClr val="845AD9"/>
            </a:solidFill>
            <a:prstDash val="solid"/>
            <a:round/>
            <a:headEnd len="med" w="med" type="triangle"/>
            <a:tailEnd len="med" w="med" type="triangle"/>
          </a:ln>
        </p:spPr>
      </p:cxnSp>
      <p:sp>
        <p:nvSpPr>
          <p:cNvPr id="1935" name="Google Shape;1935;p100"/>
          <p:cNvSpPr txBox="1"/>
          <p:nvPr/>
        </p:nvSpPr>
        <p:spPr>
          <a:xfrm rot="-3048">
            <a:off x="4318613" y="3952497"/>
            <a:ext cx="676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16 cm</a:t>
            </a:r>
            <a:endParaRPr sz="1800">
              <a:latin typeface="Lexend"/>
              <a:ea typeface="Lexend"/>
              <a:cs typeface="Lexend"/>
              <a:sym typeface="Lexend"/>
            </a:endParaRPr>
          </a:p>
        </p:txBody>
      </p:sp>
      <p:sp>
        <p:nvSpPr>
          <p:cNvPr id="1936" name="Google Shape;1936;p100"/>
          <p:cNvSpPr txBox="1"/>
          <p:nvPr/>
        </p:nvSpPr>
        <p:spPr>
          <a:xfrm rot="1434932">
            <a:off x="2816113" y="4218880"/>
            <a:ext cx="1152225" cy="27719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65 cm</a:t>
            </a:r>
            <a:endParaRPr sz="1800">
              <a:latin typeface="Lexend"/>
              <a:ea typeface="Lexend"/>
              <a:cs typeface="Lexend"/>
              <a:sym typeface="Lexend"/>
            </a:endParaRPr>
          </a:p>
        </p:txBody>
      </p:sp>
      <p:grpSp>
        <p:nvGrpSpPr>
          <p:cNvPr id="1937" name="Google Shape;1937;p100"/>
          <p:cNvGrpSpPr/>
          <p:nvPr/>
        </p:nvGrpSpPr>
        <p:grpSpPr>
          <a:xfrm flipH="1" rot="9369442">
            <a:off x="5784502" y="3258454"/>
            <a:ext cx="622160" cy="1396410"/>
            <a:chOff x="7148100" y="763500"/>
            <a:chExt cx="622200" cy="1396500"/>
          </a:xfrm>
        </p:grpSpPr>
        <p:sp>
          <p:nvSpPr>
            <p:cNvPr id="1938" name="Google Shape;1938;p100"/>
            <p:cNvSpPr/>
            <p:nvPr/>
          </p:nvSpPr>
          <p:spPr>
            <a:xfrm>
              <a:off x="7148100" y="763500"/>
              <a:ext cx="622200" cy="13965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39" name="Google Shape;1939;p100"/>
            <p:cNvSpPr/>
            <p:nvPr/>
          </p:nvSpPr>
          <p:spPr>
            <a:xfrm>
              <a:off x="7149329" y="1958371"/>
              <a:ext cx="200400" cy="200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1940" name="Google Shape;1940;p100"/>
          <p:cNvCxnSpPr/>
          <p:nvPr/>
        </p:nvCxnSpPr>
        <p:spPr>
          <a:xfrm flipH="1" rot="9369147">
            <a:off x="5916859" y="3238608"/>
            <a:ext cx="622551" cy="1396644"/>
          </a:xfrm>
          <a:prstGeom prst="straightConnector1">
            <a:avLst/>
          </a:prstGeom>
          <a:noFill/>
          <a:ln cap="flat" cmpd="sng" w="28575">
            <a:solidFill>
              <a:srgbClr val="845AD9"/>
            </a:solidFill>
            <a:prstDash val="solid"/>
            <a:round/>
            <a:headEnd len="med" w="med" type="triangle"/>
            <a:tailEnd len="med" w="med" type="triangle"/>
          </a:ln>
        </p:spPr>
      </p:cxnSp>
      <p:sp>
        <p:nvSpPr>
          <p:cNvPr id="1941" name="Google Shape;1941;p100"/>
          <p:cNvSpPr txBox="1"/>
          <p:nvPr/>
        </p:nvSpPr>
        <p:spPr>
          <a:xfrm rot="-5395525">
            <a:off x="5803248" y="3799807"/>
            <a:ext cx="1152301" cy="277201"/>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65 cm</a:t>
            </a:r>
            <a:endParaRPr sz="1800">
              <a:latin typeface="Lexend"/>
              <a:ea typeface="Lexend"/>
              <a:cs typeface="Lexend"/>
              <a:sym typeface="Lexend"/>
            </a:endParaRPr>
          </a:p>
        </p:txBody>
      </p:sp>
      <p:cxnSp>
        <p:nvCxnSpPr>
          <p:cNvPr id="1942" name="Google Shape;1942;p100"/>
          <p:cNvCxnSpPr/>
          <p:nvPr/>
        </p:nvCxnSpPr>
        <p:spPr>
          <a:xfrm rot="10800000">
            <a:off x="5419307" y="3492725"/>
            <a:ext cx="560100" cy="1272300"/>
          </a:xfrm>
          <a:prstGeom prst="straightConnector1">
            <a:avLst/>
          </a:prstGeom>
          <a:noFill/>
          <a:ln cap="flat" cmpd="sng" w="28575">
            <a:solidFill>
              <a:srgbClr val="845AD9"/>
            </a:solidFill>
            <a:prstDash val="solid"/>
            <a:round/>
            <a:headEnd len="med" w="med" type="triangle"/>
            <a:tailEnd len="med" w="med" type="triangle"/>
          </a:ln>
        </p:spPr>
      </p:cxnSp>
      <p:sp>
        <p:nvSpPr>
          <p:cNvPr id="1943" name="Google Shape;1943;p100"/>
          <p:cNvSpPr txBox="1"/>
          <p:nvPr/>
        </p:nvSpPr>
        <p:spPr>
          <a:xfrm rot="-6373">
            <a:off x="5024874" y="4181400"/>
            <a:ext cx="809101"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63 cm</a:t>
            </a:r>
            <a:endParaRPr sz="1800">
              <a:latin typeface="Lexend"/>
              <a:ea typeface="Lexend"/>
              <a:cs typeface="Lexend"/>
              <a:sym typeface="Lexend"/>
            </a:endParaRPr>
          </a:p>
        </p:txBody>
      </p:sp>
      <p:cxnSp>
        <p:nvCxnSpPr>
          <p:cNvPr id="1944" name="Google Shape;1944;p100"/>
          <p:cNvCxnSpPr/>
          <p:nvPr/>
        </p:nvCxnSpPr>
        <p:spPr>
          <a:xfrm rot="10800000">
            <a:off x="7093426" y="4387386"/>
            <a:ext cx="1407300" cy="0"/>
          </a:xfrm>
          <a:prstGeom prst="straightConnector1">
            <a:avLst/>
          </a:prstGeom>
          <a:noFill/>
          <a:ln cap="flat" cmpd="sng" w="28575">
            <a:solidFill>
              <a:srgbClr val="845AD9"/>
            </a:solidFill>
            <a:prstDash val="solid"/>
            <a:round/>
            <a:headEnd len="med" w="med" type="triangle"/>
            <a:tailEnd len="med" w="med" type="triangle"/>
          </a:ln>
        </p:spPr>
      </p:cxnSp>
      <p:cxnSp>
        <p:nvCxnSpPr>
          <p:cNvPr id="1945" name="Google Shape;1945;p100"/>
          <p:cNvCxnSpPr/>
          <p:nvPr/>
        </p:nvCxnSpPr>
        <p:spPr>
          <a:xfrm flipH="1" rot="5400000">
            <a:off x="7526326" y="3111287"/>
            <a:ext cx="622200" cy="1396500"/>
          </a:xfrm>
          <a:prstGeom prst="straightConnector1">
            <a:avLst/>
          </a:prstGeom>
          <a:noFill/>
          <a:ln cap="flat" cmpd="sng" w="28575">
            <a:solidFill>
              <a:srgbClr val="845AD9"/>
            </a:solidFill>
            <a:prstDash val="solid"/>
            <a:round/>
            <a:headEnd len="med" w="med" type="triangle"/>
            <a:tailEnd len="med" w="med" type="triangle"/>
          </a:ln>
        </p:spPr>
      </p:cxnSp>
      <p:grpSp>
        <p:nvGrpSpPr>
          <p:cNvPr id="1946" name="Google Shape;1946;p100"/>
          <p:cNvGrpSpPr/>
          <p:nvPr/>
        </p:nvGrpSpPr>
        <p:grpSpPr>
          <a:xfrm flipH="1" rot="5400000">
            <a:off x="7491376" y="3239462"/>
            <a:ext cx="622200" cy="1396500"/>
            <a:chOff x="7148100" y="763500"/>
            <a:chExt cx="622200" cy="1396500"/>
          </a:xfrm>
        </p:grpSpPr>
        <p:sp>
          <p:nvSpPr>
            <p:cNvPr id="1947" name="Google Shape;1947;p100"/>
            <p:cNvSpPr/>
            <p:nvPr/>
          </p:nvSpPr>
          <p:spPr>
            <a:xfrm>
              <a:off x="7148100" y="763500"/>
              <a:ext cx="622200" cy="13965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48" name="Google Shape;1948;p100"/>
            <p:cNvSpPr/>
            <p:nvPr/>
          </p:nvSpPr>
          <p:spPr>
            <a:xfrm>
              <a:off x="7149329" y="1958371"/>
              <a:ext cx="200400" cy="200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949" name="Google Shape;1949;p100"/>
          <p:cNvSpPr txBox="1"/>
          <p:nvPr/>
        </p:nvSpPr>
        <p:spPr>
          <a:xfrm rot="1434932">
            <a:off x="7323693" y="3532743"/>
            <a:ext cx="1152225" cy="27719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63 cm</a:t>
            </a:r>
            <a:endParaRPr sz="1800">
              <a:latin typeface="Lexend"/>
              <a:ea typeface="Lexend"/>
              <a:cs typeface="Lexend"/>
              <a:sym typeface="Lexend"/>
            </a:endParaRPr>
          </a:p>
        </p:txBody>
      </p:sp>
      <p:sp>
        <p:nvSpPr>
          <p:cNvPr id="1950" name="Google Shape;1950;p100"/>
          <p:cNvSpPr txBox="1"/>
          <p:nvPr/>
        </p:nvSpPr>
        <p:spPr>
          <a:xfrm flipH="1" rot="3048">
            <a:off x="7458663" y="4387678"/>
            <a:ext cx="676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65 cm</a:t>
            </a:r>
            <a:endParaRPr sz="1800">
              <a:latin typeface="Lexend"/>
              <a:ea typeface="Lexend"/>
              <a:cs typeface="Lexend"/>
              <a:sym typeface="Lexend"/>
            </a:endParaRPr>
          </a:p>
        </p:txBody>
      </p:sp>
      <p:sp>
        <p:nvSpPr>
          <p:cNvPr id="1951" name="Google Shape;1951;p100"/>
          <p:cNvSpPr txBox="1"/>
          <p:nvPr/>
        </p:nvSpPr>
        <p:spPr>
          <a:xfrm flipH="1">
            <a:off x="641545" y="2061169"/>
            <a:ext cx="278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952" name="Google Shape;1952;p100"/>
          <p:cNvSpPr txBox="1"/>
          <p:nvPr/>
        </p:nvSpPr>
        <p:spPr>
          <a:xfrm flipH="1">
            <a:off x="2829910" y="2220169"/>
            <a:ext cx="278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b)</a:t>
            </a:r>
            <a:endParaRPr sz="1800">
              <a:latin typeface="Lexend"/>
              <a:ea typeface="Lexend"/>
              <a:cs typeface="Lexend"/>
              <a:sym typeface="Lexend"/>
            </a:endParaRPr>
          </a:p>
        </p:txBody>
      </p:sp>
      <p:sp>
        <p:nvSpPr>
          <p:cNvPr id="1953" name="Google Shape;1953;p100"/>
          <p:cNvSpPr txBox="1"/>
          <p:nvPr/>
        </p:nvSpPr>
        <p:spPr>
          <a:xfrm flipH="1">
            <a:off x="5069335" y="2018619"/>
            <a:ext cx="278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c)</a:t>
            </a:r>
            <a:endParaRPr sz="1800">
              <a:latin typeface="Lexend"/>
              <a:ea typeface="Lexend"/>
              <a:cs typeface="Lexend"/>
              <a:sym typeface="Lexend"/>
            </a:endParaRPr>
          </a:p>
        </p:txBody>
      </p:sp>
      <p:sp>
        <p:nvSpPr>
          <p:cNvPr id="1954" name="Google Shape;1954;p100"/>
          <p:cNvSpPr txBox="1"/>
          <p:nvPr/>
        </p:nvSpPr>
        <p:spPr>
          <a:xfrm flipH="1">
            <a:off x="1480361" y="3938667"/>
            <a:ext cx="278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d)</a:t>
            </a:r>
            <a:endParaRPr sz="1800">
              <a:latin typeface="Lexend"/>
              <a:ea typeface="Lexend"/>
              <a:cs typeface="Lexend"/>
              <a:sym typeface="Lexend"/>
            </a:endParaRPr>
          </a:p>
        </p:txBody>
      </p:sp>
      <p:sp>
        <p:nvSpPr>
          <p:cNvPr id="1955" name="Google Shape;1955;p100"/>
          <p:cNvSpPr txBox="1"/>
          <p:nvPr/>
        </p:nvSpPr>
        <p:spPr>
          <a:xfrm flipH="1">
            <a:off x="3635786" y="3818054"/>
            <a:ext cx="278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e)</a:t>
            </a:r>
            <a:endParaRPr sz="1800">
              <a:latin typeface="Lexend"/>
              <a:ea typeface="Lexend"/>
              <a:cs typeface="Lexend"/>
              <a:sym typeface="Lexend"/>
            </a:endParaRPr>
          </a:p>
        </p:txBody>
      </p:sp>
      <p:sp>
        <p:nvSpPr>
          <p:cNvPr id="1956" name="Google Shape;1956;p100"/>
          <p:cNvSpPr txBox="1"/>
          <p:nvPr/>
        </p:nvSpPr>
        <p:spPr>
          <a:xfrm flipH="1">
            <a:off x="5781325" y="3566154"/>
            <a:ext cx="278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f)</a:t>
            </a:r>
            <a:endParaRPr sz="1800">
              <a:latin typeface="Lexend"/>
              <a:ea typeface="Lexend"/>
              <a:cs typeface="Lexend"/>
              <a:sym typeface="Lexend"/>
            </a:endParaRPr>
          </a:p>
        </p:txBody>
      </p:sp>
      <p:sp>
        <p:nvSpPr>
          <p:cNvPr id="1957" name="Google Shape;1957;p100"/>
          <p:cNvSpPr txBox="1"/>
          <p:nvPr/>
        </p:nvSpPr>
        <p:spPr>
          <a:xfrm flipH="1">
            <a:off x="7400641" y="3866700"/>
            <a:ext cx="278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g)</a:t>
            </a:r>
            <a:endParaRPr sz="1800">
              <a:latin typeface="Lexend"/>
              <a:ea typeface="Lexend"/>
              <a:cs typeface="Lexend"/>
              <a:sym typeface="Lexend"/>
            </a:endParaRPr>
          </a:p>
        </p:txBody>
      </p:sp>
      <p:cxnSp>
        <p:nvCxnSpPr>
          <p:cNvPr id="1958" name="Google Shape;1958;p100"/>
          <p:cNvCxnSpPr/>
          <p:nvPr/>
        </p:nvCxnSpPr>
        <p:spPr>
          <a:xfrm flipH="1">
            <a:off x="5168225" y="1695325"/>
            <a:ext cx="982800" cy="966000"/>
          </a:xfrm>
          <a:prstGeom prst="straightConnector1">
            <a:avLst/>
          </a:prstGeom>
          <a:noFill/>
          <a:ln cap="flat" cmpd="sng" w="28575">
            <a:solidFill>
              <a:schemeClr val="accent4"/>
            </a:solidFill>
            <a:prstDash val="solid"/>
            <a:round/>
            <a:headEnd len="med" w="med" type="triangle"/>
            <a:tailEnd len="med" w="med" type="triangle"/>
          </a:ln>
        </p:spPr>
      </p:cxnSp>
      <p:cxnSp>
        <p:nvCxnSpPr>
          <p:cNvPr id="1959" name="Google Shape;1959;p100"/>
          <p:cNvCxnSpPr/>
          <p:nvPr/>
        </p:nvCxnSpPr>
        <p:spPr>
          <a:xfrm flipH="1" rot="10800000">
            <a:off x="1751050" y="4152250"/>
            <a:ext cx="452700" cy="452700"/>
          </a:xfrm>
          <a:prstGeom prst="straightConnector1">
            <a:avLst/>
          </a:prstGeom>
          <a:noFill/>
          <a:ln cap="flat" cmpd="sng" w="28575">
            <a:solidFill>
              <a:schemeClr val="accent4"/>
            </a:solidFill>
            <a:prstDash val="solid"/>
            <a:round/>
            <a:headEnd len="med" w="med" type="triangle"/>
            <a:tailEnd len="med" w="med" type="triangle"/>
          </a:ln>
        </p:spPr>
      </p:cxnSp>
      <p:cxnSp>
        <p:nvCxnSpPr>
          <p:cNvPr id="1960" name="Google Shape;1960;p100"/>
          <p:cNvCxnSpPr/>
          <p:nvPr/>
        </p:nvCxnSpPr>
        <p:spPr>
          <a:xfrm>
            <a:off x="4604531" y="2233952"/>
            <a:ext cx="400500" cy="440400"/>
          </a:xfrm>
          <a:prstGeom prst="straightConnector1">
            <a:avLst/>
          </a:prstGeom>
          <a:noFill/>
          <a:ln cap="flat" cmpd="sng" w="28575">
            <a:solidFill>
              <a:schemeClr val="accent4"/>
            </a:solidFill>
            <a:prstDash val="solid"/>
            <a:round/>
            <a:headEnd len="med" w="med" type="triangle"/>
            <a:tailEnd len="med" w="med" type="triangle"/>
          </a:ln>
        </p:spPr>
      </p:cxnSp>
      <p:cxnSp>
        <p:nvCxnSpPr>
          <p:cNvPr id="1961" name="Google Shape;1961;p100"/>
          <p:cNvCxnSpPr/>
          <p:nvPr/>
        </p:nvCxnSpPr>
        <p:spPr>
          <a:xfrm>
            <a:off x="630850" y="3649100"/>
            <a:ext cx="955800" cy="952500"/>
          </a:xfrm>
          <a:prstGeom prst="straightConnector1">
            <a:avLst/>
          </a:prstGeom>
          <a:noFill/>
          <a:ln cap="flat" cmpd="sng" w="28575">
            <a:solidFill>
              <a:schemeClr val="accent4"/>
            </a:solidFill>
            <a:prstDash val="solid"/>
            <a:round/>
            <a:headEnd len="med" w="med" type="triangle"/>
            <a:tailEnd len="med" w="med" type="triangl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5" name="Shape 1965"/>
        <p:cNvGrpSpPr/>
        <p:nvPr/>
      </p:nvGrpSpPr>
      <p:grpSpPr>
        <a:xfrm>
          <a:off x="0" y="0"/>
          <a:ext cx="0" cy="0"/>
          <a:chOff x="0" y="0"/>
          <a:chExt cx="0" cy="0"/>
        </a:xfrm>
      </p:grpSpPr>
      <p:pic>
        <p:nvPicPr>
          <p:cNvPr id="1966" name="Google Shape;1966;p101"/>
          <p:cNvPicPr preferRelativeResize="0"/>
          <p:nvPr/>
        </p:nvPicPr>
        <p:blipFill rotWithShape="1">
          <a:blip r:embed="rId3">
            <a:alphaModFix/>
          </a:blip>
          <a:srcRect b="0" l="58255" r="0" t="12717"/>
          <a:stretch/>
        </p:blipFill>
        <p:spPr>
          <a:xfrm flipH="1">
            <a:off x="5216478" y="1546893"/>
            <a:ext cx="2945642" cy="2425025"/>
          </a:xfrm>
          <a:prstGeom prst="rect">
            <a:avLst/>
          </a:prstGeom>
          <a:noFill/>
          <a:ln>
            <a:noFill/>
          </a:ln>
        </p:spPr>
      </p:pic>
      <p:sp>
        <p:nvSpPr>
          <p:cNvPr id="1967" name="Google Shape;1967;p10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Finding the length of missing sides</a:t>
            </a:r>
            <a:endParaRPr/>
          </a:p>
        </p:txBody>
      </p:sp>
      <p:pic>
        <p:nvPicPr>
          <p:cNvPr id="1968" name="Google Shape;1968;p101"/>
          <p:cNvPicPr preferRelativeResize="0"/>
          <p:nvPr/>
        </p:nvPicPr>
        <p:blipFill rotWithShape="1">
          <a:blip r:embed="rId3">
            <a:alphaModFix/>
          </a:blip>
          <a:srcRect b="0" l="0" r="41493" t="0"/>
          <a:stretch/>
        </p:blipFill>
        <p:spPr>
          <a:xfrm>
            <a:off x="1083844" y="1193557"/>
            <a:ext cx="4128448" cy="2778362"/>
          </a:xfrm>
          <a:prstGeom prst="rect">
            <a:avLst/>
          </a:prstGeom>
          <a:noFill/>
          <a:ln>
            <a:noFill/>
          </a:ln>
        </p:spPr>
      </p:pic>
      <p:sp>
        <p:nvSpPr>
          <p:cNvPr id="1969" name="Google Shape;1969;p101"/>
          <p:cNvSpPr txBox="1"/>
          <p:nvPr/>
        </p:nvSpPr>
        <p:spPr>
          <a:xfrm rot="-3628">
            <a:off x="5860885" y="2409793"/>
            <a:ext cx="1137001" cy="831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area of square</a:t>
            </a:r>
            <a:endParaRPr sz="1800">
              <a:latin typeface="Lexend"/>
              <a:ea typeface="Lexend"/>
              <a:cs typeface="Lexend"/>
              <a:sym typeface="Lexend"/>
            </a:endParaRPr>
          </a:p>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28 cm²</a:t>
            </a:r>
            <a:endParaRPr sz="1800">
              <a:latin typeface="Lexend"/>
              <a:ea typeface="Lexend"/>
              <a:cs typeface="Lexend"/>
              <a:sym typeface="Lexend"/>
            </a:endParaRPr>
          </a:p>
        </p:txBody>
      </p:sp>
      <p:cxnSp>
        <p:nvCxnSpPr>
          <p:cNvPr id="1970" name="Google Shape;1970;p101"/>
          <p:cNvCxnSpPr/>
          <p:nvPr/>
        </p:nvCxnSpPr>
        <p:spPr>
          <a:xfrm>
            <a:off x="1131310" y="4034612"/>
            <a:ext cx="2271000" cy="0"/>
          </a:xfrm>
          <a:prstGeom prst="straightConnector1">
            <a:avLst/>
          </a:prstGeom>
          <a:noFill/>
          <a:ln cap="flat" cmpd="sng" w="28575">
            <a:solidFill>
              <a:srgbClr val="845AD9"/>
            </a:solidFill>
            <a:prstDash val="solid"/>
            <a:round/>
            <a:headEnd len="med" w="med" type="triangle"/>
            <a:tailEnd len="med" w="med" type="triangle"/>
          </a:ln>
        </p:spPr>
      </p:cxnSp>
      <p:sp>
        <p:nvSpPr>
          <p:cNvPr id="1971" name="Google Shape;1971;p101"/>
          <p:cNvSpPr txBox="1"/>
          <p:nvPr/>
        </p:nvSpPr>
        <p:spPr>
          <a:xfrm flipH="1" rot="3468">
            <a:off x="1820715" y="4035126"/>
            <a:ext cx="8922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25 cm</a:t>
            </a:r>
            <a:endParaRPr sz="1800">
              <a:latin typeface="Lexend"/>
              <a:ea typeface="Lexend"/>
              <a:cs typeface="Lexend"/>
              <a:sym typeface="Lexend"/>
            </a:endParaRPr>
          </a:p>
        </p:txBody>
      </p:sp>
      <p:cxnSp>
        <p:nvCxnSpPr>
          <p:cNvPr id="1972" name="Google Shape;1972;p101"/>
          <p:cNvCxnSpPr/>
          <p:nvPr/>
        </p:nvCxnSpPr>
        <p:spPr>
          <a:xfrm rot="10800000">
            <a:off x="993446" y="3168232"/>
            <a:ext cx="0" cy="744900"/>
          </a:xfrm>
          <a:prstGeom prst="straightConnector1">
            <a:avLst/>
          </a:prstGeom>
          <a:noFill/>
          <a:ln cap="flat" cmpd="sng" w="28575">
            <a:solidFill>
              <a:srgbClr val="845AD9"/>
            </a:solidFill>
            <a:prstDash val="solid"/>
            <a:round/>
            <a:headEnd len="med" w="med" type="triangle"/>
            <a:tailEnd len="med" w="med" type="triangle"/>
          </a:ln>
        </p:spPr>
      </p:cxnSp>
      <p:sp>
        <p:nvSpPr>
          <p:cNvPr id="1973" name="Google Shape;1973;p101"/>
          <p:cNvSpPr txBox="1"/>
          <p:nvPr/>
        </p:nvSpPr>
        <p:spPr>
          <a:xfrm flipH="1" rot="3468">
            <a:off x="218242" y="3414831"/>
            <a:ext cx="8922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10 cm</a:t>
            </a:r>
            <a:endParaRPr sz="1800">
              <a:latin typeface="Lexend"/>
              <a:ea typeface="Lexend"/>
              <a:cs typeface="Lexend"/>
              <a:sym typeface="Lexend"/>
            </a:endParaRPr>
          </a:p>
        </p:txBody>
      </p:sp>
      <p:cxnSp>
        <p:nvCxnSpPr>
          <p:cNvPr id="1974" name="Google Shape;1974;p101"/>
          <p:cNvCxnSpPr/>
          <p:nvPr/>
        </p:nvCxnSpPr>
        <p:spPr>
          <a:xfrm flipH="1" rot="10800000">
            <a:off x="1008481" y="1856387"/>
            <a:ext cx="418500" cy="1244700"/>
          </a:xfrm>
          <a:prstGeom prst="straightConnector1">
            <a:avLst/>
          </a:prstGeom>
          <a:noFill/>
          <a:ln cap="flat" cmpd="sng" w="28575">
            <a:solidFill>
              <a:srgbClr val="845AD9"/>
            </a:solidFill>
            <a:prstDash val="solid"/>
            <a:round/>
            <a:headEnd len="med" w="med" type="triangle"/>
            <a:tailEnd len="med" w="med" type="triangle"/>
          </a:ln>
        </p:spPr>
      </p:cxnSp>
      <p:sp>
        <p:nvSpPr>
          <p:cNvPr id="1975" name="Google Shape;1975;p101"/>
          <p:cNvSpPr txBox="1"/>
          <p:nvPr/>
        </p:nvSpPr>
        <p:spPr>
          <a:xfrm flipH="1" rot="3468">
            <a:off x="435511" y="2279449"/>
            <a:ext cx="8922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18 cm</a:t>
            </a:r>
            <a:endParaRPr sz="1800">
              <a:latin typeface="Lexend"/>
              <a:ea typeface="Lexend"/>
              <a:cs typeface="Lexend"/>
              <a:sym typeface="Lexend"/>
            </a:endParaRPr>
          </a:p>
        </p:txBody>
      </p:sp>
      <p:cxnSp>
        <p:nvCxnSpPr>
          <p:cNvPr id="1976" name="Google Shape;1976;p101"/>
          <p:cNvCxnSpPr/>
          <p:nvPr/>
        </p:nvCxnSpPr>
        <p:spPr>
          <a:xfrm rot="10800000">
            <a:off x="1557305" y="1909956"/>
            <a:ext cx="1854300" cy="2003700"/>
          </a:xfrm>
          <a:prstGeom prst="straightConnector1">
            <a:avLst/>
          </a:prstGeom>
          <a:noFill/>
          <a:ln cap="flat" cmpd="sng" w="28575">
            <a:solidFill>
              <a:srgbClr val="845AD9"/>
            </a:solidFill>
            <a:prstDash val="solid"/>
            <a:round/>
            <a:headEnd len="med" w="med" type="triangle"/>
            <a:tailEnd len="med" w="med" type="triangle"/>
          </a:ln>
        </p:spPr>
      </p:cxnSp>
      <p:sp>
        <p:nvSpPr>
          <p:cNvPr id="1977" name="Google Shape;1977;p101"/>
          <p:cNvSpPr txBox="1"/>
          <p:nvPr/>
        </p:nvSpPr>
        <p:spPr>
          <a:xfrm flipH="1" rot="3468">
            <a:off x="2225801" y="2502132"/>
            <a:ext cx="892200" cy="3387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i="1" lang="en-GB" sz="2200">
                <a:latin typeface="Times New Roman"/>
                <a:ea typeface="Times New Roman"/>
                <a:cs typeface="Times New Roman"/>
                <a:sym typeface="Times New Roman"/>
              </a:rPr>
              <a:t>a</a:t>
            </a:r>
            <a:r>
              <a:rPr lang="en-GB" sz="1800">
                <a:latin typeface="Lexend"/>
                <a:ea typeface="Lexend"/>
                <a:cs typeface="Lexend"/>
                <a:sym typeface="Lexend"/>
              </a:rPr>
              <a:t> cm</a:t>
            </a:r>
            <a:endParaRPr sz="1800">
              <a:latin typeface="Lexend"/>
              <a:ea typeface="Lexend"/>
              <a:cs typeface="Lexend"/>
              <a:sym typeface="Lexend"/>
            </a:endParaRPr>
          </a:p>
        </p:txBody>
      </p:sp>
      <p:cxnSp>
        <p:nvCxnSpPr>
          <p:cNvPr id="1978" name="Google Shape;1978;p101"/>
          <p:cNvCxnSpPr/>
          <p:nvPr/>
        </p:nvCxnSpPr>
        <p:spPr>
          <a:xfrm>
            <a:off x="3886044" y="4034623"/>
            <a:ext cx="924300" cy="0"/>
          </a:xfrm>
          <a:prstGeom prst="straightConnector1">
            <a:avLst/>
          </a:prstGeom>
          <a:noFill/>
          <a:ln cap="flat" cmpd="sng" w="28575">
            <a:solidFill>
              <a:srgbClr val="845AD9"/>
            </a:solidFill>
            <a:prstDash val="solid"/>
            <a:round/>
            <a:headEnd len="med" w="med" type="triangle"/>
            <a:tailEnd len="med" w="med" type="triangle"/>
          </a:ln>
        </p:spPr>
      </p:cxnSp>
      <p:sp>
        <p:nvSpPr>
          <p:cNvPr id="1979" name="Google Shape;1979;p101"/>
          <p:cNvSpPr txBox="1"/>
          <p:nvPr/>
        </p:nvSpPr>
        <p:spPr>
          <a:xfrm flipH="1" rot="8098">
            <a:off x="3966123" y="4035168"/>
            <a:ext cx="764102" cy="3387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b</a:t>
            </a:r>
            <a:r>
              <a:rPr lang="en-GB" sz="1800">
                <a:solidFill>
                  <a:schemeClr val="dk1"/>
                </a:solidFill>
                <a:latin typeface="Lexend"/>
                <a:ea typeface="Lexend"/>
                <a:cs typeface="Lexend"/>
                <a:sym typeface="Lexend"/>
              </a:rPr>
              <a:t> cm</a:t>
            </a:r>
            <a:endParaRPr sz="1800">
              <a:latin typeface="Lexend"/>
              <a:ea typeface="Lexend"/>
              <a:cs typeface="Lexend"/>
              <a:sym typeface="Lexend"/>
            </a:endParaRPr>
          </a:p>
        </p:txBody>
      </p:sp>
      <p:grpSp>
        <p:nvGrpSpPr>
          <p:cNvPr id="1980" name="Google Shape;1980;p101"/>
          <p:cNvGrpSpPr/>
          <p:nvPr/>
        </p:nvGrpSpPr>
        <p:grpSpPr>
          <a:xfrm>
            <a:off x="2935941" y="1650794"/>
            <a:ext cx="892229" cy="2279147"/>
            <a:chOff x="303660" y="3471683"/>
            <a:chExt cx="922200" cy="769800"/>
          </a:xfrm>
        </p:grpSpPr>
        <p:cxnSp>
          <p:nvCxnSpPr>
            <p:cNvPr id="1981" name="Google Shape;1981;p101"/>
            <p:cNvCxnSpPr/>
            <p:nvPr/>
          </p:nvCxnSpPr>
          <p:spPr>
            <a:xfrm rot="10800000">
              <a:off x="1171846" y="3471683"/>
              <a:ext cx="0" cy="769800"/>
            </a:xfrm>
            <a:prstGeom prst="straightConnector1">
              <a:avLst/>
            </a:prstGeom>
            <a:noFill/>
            <a:ln cap="flat" cmpd="sng" w="28575">
              <a:solidFill>
                <a:srgbClr val="845AD9"/>
              </a:solidFill>
              <a:prstDash val="solid"/>
              <a:round/>
              <a:headEnd len="med" w="med" type="triangle"/>
              <a:tailEnd len="med" w="med" type="triangle"/>
            </a:ln>
          </p:spPr>
        </p:cxnSp>
        <p:sp>
          <p:nvSpPr>
            <p:cNvPr id="1982" name="Google Shape;1982;p101"/>
            <p:cNvSpPr txBox="1"/>
            <p:nvPr/>
          </p:nvSpPr>
          <p:spPr>
            <a:xfrm flipH="1" rot="3355">
              <a:off x="303660" y="3548378"/>
              <a:ext cx="922200" cy="93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50 cm</a:t>
              </a:r>
              <a:endParaRPr sz="1800">
                <a:latin typeface="Lexend"/>
                <a:ea typeface="Lexend"/>
                <a:cs typeface="Lexend"/>
                <a:sym typeface="Lexend"/>
              </a:endParaRPr>
            </a:p>
          </p:txBody>
        </p:sp>
      </p:grpSp>
      <p:cxnSp>
        <p:nvCxnSpPr>
          <p:cNvPr id="1983" name="Google Shape;1983;p101"/>
          <p:cNvCxnSpPr/>
          <p:nvPr/>
        </p:nvCxnSpPr>
        <p:spPr>
          <a:xfrm flipH="1" rot="10800000">
            <a:off x="3855196" y="1133071"/>
            <a:ext cx="1005000" cy="398100"/>
          </a:xfrm>
          <a:prstGeom prst="straightConnector1">
            <a:avLst/>
          </a:prstGeom>
          <a:noFill/>
          <a:ln cap="flat" cmpd="sng" w="28575">
            <a:solidFill>
              <a:srgbClr val="845AD9"/>
            </a:solidFill>
            <a:prstDash val="solid"/>
            <a:round/>
            <a:headEnd len="med" w="med" type="triangle"/>
            <a:tailEnd len="med" w="med" type="triangle"/>
          </a:ln>
        </p:spPr>
      </p:cxnSp>
      <p:sp>
        <p:nvSpPr>
          <p:cNvPr id="1984" name="Google Shape;1984;p101"/>
          <p:cNvSpPr txBox="1"/>
          <p:nvPr/>
        </p:nvSpPr>
        <p:spPr>
          <a:xfrm rot="-1298287">
            <a:off x="3944210" y="1063175"/>
            <a:ext cx="723268" cy="277152"/>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18 cm</a:t>
            </a:r>
            <a:endParaRPr sz="1800">
              <a:latin typeface="Lexend"/>
              <a:ea typeface="Lexend"/>
              <a:cs typeface="Lexend"/>
              <a:sym typeface="Lexend"/>
            </a:endParaRPr>
          </a:p>
        </p:txBody>
      </p:sp>
      <p:cxnSp>
        <p:nvCxnSpPr>
          <p:cNvPr id="1985" name="Google Shape;1985;p101"/>
          <p:cNvCxnSpPr/>
          <p:nvPr/>
        </p:nvCxnSpPr>
        <p:spPr>
          <a:xfrm flipH="1" rot="10800000">
            <a:off x="4945605" y="1262435"/>
            <a:ext cx="121800" cy="2654100"/>
          </a:xfrm>
          <a:prstGeom prst="straightConnector1">
            <a:avLst/>
          </a:prstGeom>
          <a:noFill/>
          <a:ln cap="flat" cmpd="sng" w="28575">
            <a:solidFill>
              <a:srgbClr val="845AD9"/>
            </a:solidFill>
            <a:prstDash val="solid"/>
            <a:round/>
            <a:headEnd len="med" w="med" type="triangle"/>
            <a:tailEnd len="med" w="med" type="triangle"/>
          </a:ln>
        </p:spPr>
      </p:cxnSp>
      <p:sp>
        <p:nvSpPr>
          <p:cNvPr id="1986" name="Google Shape;1986;p101"/>
          <p:cNvSpPr txBox="1"/>
          <p:nvPr/>
        </p:nvSpPr>
        <p:spPr>
          <a:xfrm rot="-10403">
            <a:off x="4964194" y="1814914"/>
            <a:ext cx="892204"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56 cm</a:t>
            </a:r>
            <a:endParaRPr sz="1800">
              <a:latin typeface="Lexend"/>
              <a:ea typeface="Lexend"/>
              <a:cs typeface="Lexend"/>
              <a:sym typeface="Lexend"/>
            </a:endParaRPr>
          </a:p>
        </p:txBody>
      </p:sp>
      <p:cxnSp>
        <p:nvCxnSpPr>
          <p:cNvPr id="1987" name="Google Shape;1987;p101"/>
          <p:cNvCxnSpPr/>
          <p:nvPr/>
        </p:nvCxnSpPr>
        <p:spPr>
          <a:xfrm>
            <a:off x="6660863" y="4027349"/>
            <a:ext cx="1409700" cy="0"/>
          </a:xfrm>
          <a:prstGeom prst="straightConnector1">
            <a:avLst/>
          </a:prstGeom>
          <a:noFill/>
          <a:ln cap="flat" cmpd="sng" w="28575">
            <a:solidFill>
              <a:srgbClr val="845AD9"/>
            </a:solidFill>
            <a:prstDash val="solid"/>
            <a:round/>
            <a:headEnd len="med" w="med" type="triangle"/>
            <a:tailEnd len="med" w="med" type="triangle"/>
          </a:ln>
        </p:spPr>
      </p:cxnSp>
      <p:sp>
        <p:nvSpPr>
          <p:cNvPr id="1988" name="Google Shape;1988;p101"/>
          <p:cNvSpPr txBox="1"/>
          <p:nvPr/>
        </p:nvSpPr>
        <p:spPr>
          <a:xfrm flipH="1" rot="5309">
            <a:off x="6783195" y="4027894"/>
            <a:ext cx="1165501" cy="3387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c</a:t>
            </a:r>
            <a:r>
              <a:rPr lang="en-GB" sz="1800">
                <a:solidFill>
                  <a:schemeClr val="dk1"/>
                </a:solidFill>
                <a:latin typeface="Lexend"/>
                <a:ea typeface="Lexend"/>
                <a:cs typeface="Lexend"/>
                <a:sym typeface="Lexend"/>
              </a:rPr>
              <a:t> cm</a:t>
            </a:r>
            <a:endParaRPr sz="1800">
              <a:latin typeface="Lexend"/>
              <a:ea typeface="Lexend"/>
              <a:cs typeface="Lexend"/>
              <a:sym typeface="Lexend"/>
            </a:endParaRPr>
          </a:p>
        </p:txBody>
      </p:sp>
      <p:grpSp>
        <p:nvGrpSpPr>
          <p:cNvPr id="1989" name="Google Shape;1989;p101"/>
          <p:cNvGrpSpPr/>
          <p:nvPr/>
        </p:nvGrpSpPr>
        <p:grpSpPr>
          <a:xfrm flipH="1">
            <a:off x="8114912" y="3405205"/>
            <a:ext cx="892229" cy="516074"/>
            <a:chOff x="370567" y="3471683"/>
            <a:chExt cx="922200" cy="769800"/>
          </a:xfrm>
        </p:grpSpPr>
        <p:cxnSp>
          <p:nvCxnSpPr>
            <p:cNvPr id="1990" name="Google Shape;1990;p101"/>
            <p:cNvCxnSpPr/>
            <p:nvPr/>
          </p:nvCxnSpPr>
          <p:spPr>
            <a:xfrm rot="10800000">
              <a:off x="1171846" y="3471683"/>
              <a:ext cx="0" cy="769800"/>
            </a:xfrm>
            <a:prstGeom prst="straightConnector1">
              <a:avLst/>
            </a:prstGeom>
            <a:noFill/>
            <a:ln cap="flat" cmpd="sng" w="28575">
              <a:solidFill>
                <a:srgbClr val="845AD9"/>
              </a:solidFill>
              <a:prstDash val="solid"/>
              <a:round/>
              <a:headEnd len="med" w="med" type="triangle"/>
              <a:tailEnd len="med" w="med" type="triangle"/>
            </a:ln>
          </p:spPr>
        </p:cxnSp>
        <p:sp>
          <p:nvSpPr>
            <p:cNvPr id="1991" name="Google Shape;1991;p101"/>
            <p:cNvSpPr txBox="1"/>
            <p:nvPr/>
          </p:nvSpPr>
          <p:spPr>
            <a:xfrm flipH="1" rot="3355">
              <a:off x="370567" y="3656630"/>
              <a:ext cx="922200" cy="413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 cm</a:t>
              </a:r>
              <a:endParaRPr sz="1800">
                <a:latin typeface="Lexend"/>
                <a:ea typeface="Lexend"/>
                <a:cs typeface="Lexend"/>
                <a:sym typeface="Lexend"/>
              </a:endParaRPr>
            </a:p>
          </p:txBody>
        </p:sp>
      </p:grpSp>
      <p:grpSp>
        <p:nvGrpSpPr>
          <p:cNvPr id="1992" name="Google Shape;1992;p101"/>
          <p:cNvGrpSpPr/>
          <p:nvPr/>
        </p:nvGrpSpPr>
        <p:grpSpPr>
          <a:xfrm flipH="1" rot="-1260516">
            <a:off x="8005470" y="2715089"/>
            <a:ext cx="892340" cy="516108"/>
            <a:chOff x="370567" y="3471683"/>
            <a:chExt cx="922200" cy="769800"/>
          </a:xfrm>
        </p:grpSpPr>
        <p:cxnSp>
          <p:nvCxnSpPr>
            <p:cNvPr id="1993" name="Google Shape;1993;p101"/>
            <p:cNvCxnSpPr/>
            <p:nvPr/>
          </p:nvCxnSpPr>
          <p:spPr>
            <a:xfrm rot="10800000">
              <a:off x="1171846" y="3471683"/>
              <a:ext cx="0" cy="769800"/>
            </a:xfrm>
            <a:prstGeom prst="straightConnector1">
              <a:avLst/>
            </a:prstGeom>
            <a:noFill/>
            <a:ln cap="flat" cmpd="sng" w="28575">
              <a:solidFill>
                <a:srgbClr val="845AD9"/>
              </a:solidFill>
              <a:prstDash val="solid"/>
              <a:round/>
              <a:headEnd len="med" w="med" type="triangle"/>
              <a:tailEnd len="med" w="med" type="triangle"/>
            </a:ln>
          </p:spPr>
        </p:cxnSp>
        <p:sp>
          <p:nvSpPr>
            <p:cNvPr id="1994" name="Google Shape;1994;p101"/>
            <p:cNvSpPr txBox="1"/>
            <p:nvPr/>
          </p:nvSpPr>
          <p:spPr>
            <a:xfrm flipH="1" rot="3355">
              <a:off x="370567" y="3656630"/>
              <a:ext cx="922200" cy="413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 cm</a:t>
              </a:r>
              <a:endParaRPr sz="1800">
                <a:latin typeface="Lexend"/>
                <a:ea typeface="Lexend"/>
                <a:cs typeface="Lexend"/>
                <a:sym typeface="Lexend"/>
              </a:endParaRPr>
            </a:p>
          </p:txBody>
        </p:sp>
      </p:grpSp>
      <p:grpSp>
        <p:nvGrpSpPr>
          <p:cNvPr id="1995" name="Google Shape;1995;p101"/>
          <p:cNvGrpSpPr/>
          <p:nvPr/>
        </p:nvGrpSpPr>
        <p:grpSpPr>
          <a:xfrm flipH="1" rot="-2340341">
            <a:off x="7680451" y="2148510"/>
            <a:ext cx="892314" cy="516017"/>
            <a:chOff x="370567" y="3471683"/>
            <a:chExt cx="922200" cy="769800"/>
          </a:xfrm>
        </p:grpSpPr>
        <p:cxnSp>
          <p:nvCxnSpPr>
            <p:cNvPr id="1996" name="Google Shape;1996;p101"/>
            <p:cNvCxnSpPr/>
            <p:nvPr/>
          </p:nvCxnSpPr>
          <p:spPr>
            <a:xfrm rot="10800000">
              <a:off x="1171846" y="3471683"/>
              <a:ext cx="0" cy="769800"/>
            </a:xfrm>
            <a:prstGeom prst="straightConnector1">
              <a:avLst/>
            </a:prstGeom>
            <a:noFill/>
            <a:ln cap="flat" cmpd="sng" w="28575">
              <a:solidFill>
                <a:srgbClr val="845AD9"/>
              </a:solidFill>
              <a:prstDash val="solid"/>
              <a:round/>
              <a:headEnd len="med" w="med" type="triangle"/>
              <a:tailEnd len="med" w="med" type="triangle"/>
            </a:ln>
          </p:spPr>
        </p:cxnSp>
        <p:sp>
          <p:nvSpPr>
            <p:cNvPr id="1997" name="Google Shape;1997;p101"/>
            <p:cNvSpPr txBox="1"/>
            <p:nvPr/>
          </p:nvSpPr>
          <p:spPr>
            <a:xfrm flipH="1" rot="3355">
              <a:off x="370567" y="3656630"/>
              <a:ext cx="922200" cy="413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 cm</a:t>
              </a:r>
              <a:endParaRPr sz="1800">
                <a:latin typeface="Lexend"/>
                <a:ea typeface="Lexend"/>
                <a:cs typeface="Lexend"/>
                <a:sym typeface="Lexend"/>
              </a:endParaRPr>
            </a:p>
          </p:txBody>
        </p:sp>
      </p:grpSp>
      <p:sp>
        <p:nvSpPr>
          <p:cNvPr id="1998" name="Google Shape;1998;p101"/>
          <p:cNvSpPr txBox="1"/>
          <p:nvPr/>
        </p:nvSpPr>
        <p:spPr>
          <a:xfrm flipH="1" rot="2792">
            <a:off x="324299" y="618813"/>
            <a:ext cx="8495703"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3) C</a:t>
            </a:r>
            <a:r>
              <a:rPr lang="en-GB" sz="1800">
                <a:solidFill>
                  <a:schemeClr val="dk1"/>
                </a:solidFill>
                <a:latin typeface="Lexend"/>
                <a:ea typeface="Lexend"/>
                <a:cs typeface="Lexend"/>
                <a:sym typeface="Lexend"/>
              </a:rPr>
              <a:t>alculate the length of each unknown side labelled with a letter, rounding your answer to 2 decimal places.</a:t>
            </a:r>
            <a:endParaRPr sz="1800">
              <a:latin typeface="Lexend"/>
              <a:ea typeface="Lexend"/>
              <a:cs typeface="Lexend"/>
              <a:sym typeface="Lexen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2" name="Shape 2002"/>
        <p:cNvGrpSpPr/>
        <p:nvPr/>
      </p:nvGrpSpPr>
      <p:grpSpPr>
        <a:xfrm>
          <a:off x="0" y="0"/>
          <a:ext cx="0" cy="0"/>
          <a:chOff x="0" y="0"/>
          <a:chExt cx="0" cy="0"/>
        </a:xfrm>
      </p:grpSpPr>
      <p:pic>
        <p:nvPicPr>
          <p:cNvPr id="2003" name="Google Shape;2003;p102"/>
          <p:cNvPicPr preferRelativeResize="0"/>
          <p:nvPr/>
        </p:nvPicPr>
        <p:blipFill rotWithShape="1">
          <a:blip r:embed="rId3">
            <a:alphaModFix/>
          </a:blip>
          <a:srcRect b="4355" l="-811" r="72349" t="62947"/>
          <a:stretch/>
        </p:blipFill>
        <p:spPr>
          <a:xfrm>
            <a:off x="363887" y="3540942"/>
            <a:ext cx="1798701" cy="1168375"/>
          </a:xfrm>
          <a:prstGeom prst="rect">
            <a:avLst/>
          </a:prstGeom>
          <a:noFill/>
          <a:ln>
            <a:noFill/>
          </a:ln>
        </p:spPr>
      </p:pic>
      <p:sp>
        <p:nvSpPr>
          <p:cNvPr id="2004" name="Google Shape;2004;p102"/>
          <p:cNvSpPr txBox="1"/>
          <p:nvPr/>
        </p:nvSpPr>
        <p:spPr>
          <a:xfrm flipH="1" rot="2671">
            <a:off x="324016" y="653473"/>
            <a:ext cx="8496003"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1) Match the triangle to the length of its missing side.</a:t>
            </a:r>
            <a:endParaRPr sz="1800">
              <a:latin typeface="Lexend"/>
              <a:ea typeface="Lexend"/>
              <a:cs typeface="Lexend"/>
              <a:sym typeface="Lexend"/>
            </a:endParaRPr>
          </a:p>
        </p:txBody>
      </p:sp>
      <p:sp>
        <p:nvSpPr>
          <p:cNvPr id="2005" name="Google Shape;2005;p10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Finding the length of missing sides</a:t>
            </a:r>
            <a:endParaRPr/>
          </a:p>
        </p:txBody>
      </p:sp>
      <p:grpSp>
        <p:nvGrpSpPr>
          <p:cNvPr id="2006" name="Google Shape;2006;p102"/>
          <p:cNvGrpSpPr/>
          <p:nvPr/>
        </p:nvGrpSpPr>
        <p:grpSpPr>
          <a:xfrm>
            <a:off x="781225" y="400575"/>
            <a:ext cx="1960450" cy="1997275"/>
            <a:chOff x="324025" y="933975"/>
            <a:chExt cx="1960450" cy="1997275"/>
          </a:xfrm>
        </p:grpSpPr>
        <p:pic>
          <p:nvPicPr>
            <p:cNvPr id="2007" name="Google Shape;2007;p102"/>
            <p:cNvPicPr preferRelativeResize="0"/>
            <p:nvPr/>
          </p:nvPicPr>
          <p:blipFill rotWithShape="1">
            <a:blip r:embed="rId3">
              <a:alphaModFix/>
            </a:blip>
            <a:srcRect b="44105" l="0" r="69793" t="0"/>
            <a:stretch/>
          </p:blipFill>
          <p:spPr>
            <a:xfrm>
              <a:off x="324025" y="933975"/>
              <a:ext cx="1908974" cy="1997275"/>
            </a:xfrm>
            <a:prstGeom prst="rect">
              <a:avLst/>
            </a:prstGeom>
            <a:noFill/>
            <a:ln>
              <a:noFill/>
            </a:ln>
          </p:spPr>
        </p:pic>
        <p:cxnSp>
          <p:nvCxnSpPr>
            <p:cNvPr id="2008" name="Google Shape;2008;p102"/>
            <p:cNvCxnSpPr/>
            <p:nvPr/>
          </p:nvCxnSpPr>
          <p:spPr>
            <a:xfrm>
              <a:off x="487575" y="1607900"/>
              <a:ext cx="0" cy="1142700"/>
            </a:xfrm>
            <a:prstGeom prst="straightConnector1">
              <a:avLst/>
            </a:prstGeom>
            <a:noFill/>
            <a:ln cap="flat" cmpd="sng" w="28575">
              <a:solidFill>
                <a:schemeClr val="accent4"/>
              </a:solidFill>
              <a:prstDash val="solid"/>
              <a:round/>
              <a:headEnd len="med" w="med" type="triangle"/>
              <a:tailEnd len="med" w="med" type="triangle"/>
            </a:ln>
          </p:spPr>
        </p:cxnSp>
        <p:cxnSp>
          <p:nvCxnSpPr>
            <p:cNvPr id="2009" name="Google Shape;2009;p102"/>
            <p:cNvCxnSpPr/>
            <p:nvPr/>
          </p:nvCxnSpPr>
          <p:spPr>
            <a:xfrm rot="10800000">
              <a:off x="642350" y="2869650"/>
              <a:ext cx="1511700" cy="0"/>
            </a:xfrm>
            <a:prstGeom prst="straightConnector1">
              <a:avLst/>
            </a:prstGeom>
            <a:noFill/>
            <a:ln cap="flat" cmpd="sng" w="28575">
              <a:solidFill>
                <a:schemeClr val="accent4"/>
              </a:solidFill>
              <a:prstDash val="solid"/>
              <a:round/>
              <a:headEnd len="med" w="med" type="triangle"/>
              <a:tailEnd len="med" w="med" type="triangle"/>
            </a:ln>
          </p:spPr>
        </p:cxnSp>
        <p:cxnSp>
          <p:nvCxnSpPr>
            <p:cNvPr id="2010" name="Google Shape;2010;p102"/>
            <p:cNvCxnSpPr/>
            <p:nvPr/>
          </p:nvCxnSpPr>
          <p:spPr>
            <a:xfrm rot="10800000">
              <a:off x="774875" y="1527250"/>
              <a:ext cx="1509600" cy="1136100"/>
            </a:xfrm>
            <a:prstGeom prst="straightConnector1">
              <a:avLst/>
            </a:prstGeom>
            <a:noFill/>
            <a:ln cap="flat" cmpd="sng" w="28575">
              <a:solidFill>
                <a:schemeClr val="accent4"/>
              </a:solidFill>
              <a:prstDash val="solid"/>
              <a:round/>
              <a:headEnd len="med" w="med" type="triangle"/>
              <a:tailEnd len="med" w="med" type="triangle"/>
            </a:ln>
          </p:spPr>
        </p:cxnSp>
      </p:grpSp>
      <p:grpSp>
        <p:nvGrpSpPr>
          <p:cNvPr id="2011" name="Google Shape;2011;p102"/>
          <p:cNvGrpSpPr/>
          <p:nvPr/>
        </p:nvGrpSpPr>
        <p:grpSpPr>
          <a:xfrm>
            <a:off x="2967137" y="899665"/>
            <a:ext cx="1938885" cy="1798610"/>
            <a:chOff x="2284463" y="928565"/>
            <a:chExt cx="1938885" cy="1798610"/>
          </a:xfrm>
        </p:grpSpPr>
        <p:pic>
          <p:nvPicPr>
            <p:cNvPr id="2012" name="Google Shape;2012;p102"/>
            <p:cNvPicPr preferRelativeResize="0"/>
            <p:nvPr/>
          </p:nvPicPr>
          <p:blipFill rotWithShape="1">
            <a:blip r:embed="rId3">
              <a:alphaModFix/>
            </a:blip>
            <a:srcRect b="50550" l="31511" r="38281" t="-403"/>
            <a:stretch/>
          </p:blipFill>
          <p:spPr>
            <a:xfrm>
              <a:off x="2314373" y="928565"/>
              <a:ext cx="1908974" cy="1781424"/>
            </a:xfrm>
            <a:prstGeom prst="rect">
              <a:avLst/>
            </a:prstGeom>
            <a:noFill/>
            <a:ln>
              <a:noFill/>
            </a:ln>
          </p:spPr>
        </p:pic>
        <p:cxnSp>
          <p:nvCxnSpPr>
            <p:cNvPr id="2013" name="Google Shape;2013;p102"/>
            <p:cNvCxnSpPr/>
            <p:nvPr/>
          </p:nvCxnSpPr>
          <p:spPr>
            <a:xfrm rot="10800000">
              <a:off x="2349913" y="2224975"/>
              <a:ext cx="1258200" cy="502200"/>
            </a:xfrm>
            <a:prstGeom prst="straightConnector1">
              <a:avLst/>
            </a:prstGeom>
            <a:noFill/>
            <a:ln cap="flat" cmpd="sng" w="28575">
              <a:solidFill>
                <a:schemeClr val="accent4"/>
              </a:solidFill>
              <a:prstDash val="solid"/>
              <a:round/>
              <a:headEnd len="med" w="med" type="triangle"/>
              <a:tailEnd len="med" w="med" type="triangle"/>
            </a:ln>
          </p:spPr>
        </p:cxnSp>
        <p:cxnSp>
          <p:nvCxnSpPr>
            <p:cNvPr id="2014" name="Google Shape;2014;p102"/>
            <p:cNvCxnSpPr/>
            <p:nvPr/>
          </p:nvCxnSpPr>
          <p:spPr>
            <a:xfrm flipH="1">
              <a:off x="2284463" y="968675"/>
              <a:ext cx="437700" cy="1113000"/>
            </a:xfrm>
            <a:prstGeom prst="straightConnector1">
              <a:avLst/>
            </a:prstGeom>
            <a:noFill/>
            <a:ln cap="flat" cmpd="sng" w="28575">
              <a:solidFill>
                <a:schemeClr val="accent4"/>
              </a:solidFill>
              <a:prstDash val="solid"/>
              <a:round/>
              <a:headEnd len="med" w="med" type="triangle"/>
              <a:tailEnd len="med" w="med" type="triangle"/>
            </a:ln>
          </p:spPr>
        </p:cxnSp>
        <p:cxnSp>
          <p:nvCxnSpPr>
            <p:cNvPr id="2015" name="Google Shape;2015;p102"/>
            <p:cNvCxnSpPr/>
            <p:nvPr/>
          </p:nvCxnSpPr>
          <p:spPr>
            <a:xfrm>
              <a:off x="3018088" y="968675"/>
              <a:ext cx="822000" cy="1618200"/>
            </a:xfrm>
            <a:prstGeom prst="straightConnector1">
              <a:avLst/>
            </a:prstGeom>
            <a:noFill/>
            <a:ln cap="flat" cmpd="sng" w="28575">
              <a:solidFill>
                <a:schemeClr val="accent4"/>
              </a:solidFill>
              <a:prstDash val="solid"/>
              <a:round/>
              <a:headEnd len="med" w="med" type="triangle"/>
              <a:tailEnd len="med" w="med" type="triangle"/>
            </a:ln>
          </p:spPr>
        </p:cxnSp>
      </p:grpSp>
      <p:grpSp>
        <p:nvGrpSpPr>
          <p:cNvPr id="2016" name="Google Shape;2016;p102"/>
          <p:cNvGrpSpPr/>
          <p:nvPr/>
        </p:nvGrpSpPr>
        <p:grpSpPr>
          <a:xfrm>
            <a:off x="3188550" y="3012675"/>
            <a:ext cx="1569300" cy="1602375"/>
            <a:chOff x="3112350" y="3088875"/>
            <a:chExt cx="1569300" cy="1602375"/>
          </a:xfrm>
        </p:grpSpPr>
        <p:pic>
          <p:nvPicPr>
            <p:cNvPr id="2017" name="Google Shape;2017;p102"/>
            <p:cNvPicPr preferRelativeResize="0"/>
            <p:nvPr/>
          </p:nvPicPr>
          <p:blipFill rotWithShape="1">
            <a:blip r:embed="rId3">
              <a:alphaModFix/>
            </a:blip>
            <a:srcRect b="9395" l="45848" r="30230" t="48281"/>
            <a:stretch/>
          </p:blipFill>
          <p:spPr>
            <a:xfrm>
              <a:off x="3156675" y="3119448"/>
              <a:ext cx="1511701" cy="1512325"/>
            </a:xfrm>
            <a:prstGeom prst="rect">
              <a:avLst/>
            </a:prstGeom>
            <a:noFill/>
            <a:ln>
              <a:noFill/>
            </a:ln>
          </p:spPr>
        </p:pic>
        <p:cxnSp>
          <p:nvCxnSpPr>
            <p:cNvPr id="2018" name="Google Shape;2018;p102"/>
            <p:cNvCxnSpPr/>
            <p:nvPr/>
          </p:nvCxnSpPr>
          <p:spPr>
            <a:xfrm rot="10800000">
              <a:off x="3112350" y="3342275"/>
              <a:ext cx="129900" cy="1267200"/>
            </a:xfrm>
            <a:prstGeom prst="straightConnector1">
              <a:avLst/>
            </a:prstGeom>
            <a:noFill/>
            <a:ln cap="flat" cmpd="sng" w="28575">
              <a:solidFill>
                <a:schemeClr val="accent4"/>
              </a:solidFill>
              <a:prstDash val="solid"/>
              <a:round/>
              <a:headEnd len="med" w="med" type="triangle"/>
              <a:tailEnd len="med" w="med" type="triangle"/>
            </a:ln>
          </p:spPr>
        </p:cxnSp>
        <p:cxnSp>
          <p:nvCxnSpPr>
            <p:cNvPr id="2019" name="Google Shape;2019;p102"/>
            <p:cNvCxnSpPr/>
            <p:nvPr/>
          </p:nvCxnSpPr>
          <p:spPr>
            <a:xfrm flipH="1">
              <a:off x="3206150" y="3088875"/>
              <a:ext cx="1383600" cy="131100"/>
            </a:xfrm>
            <a:prstGeom prst="straightConnector1">
              <a:avLst/>
            </a:prstGeom>
            <a:noFill/>
            <a:ln cap="flat" cmpd="sng" w="28575">
              <a:solidFill>
                <a:schemeClr val="accent4"/>
              </a:solidFill>
              <a:prstDash val="solid"/>
              <a:round/>
              <a:headEnd len="med" w="med" type="triangle"/>
              <a:tailEnd len="med" w="med" type="triangle"/>
            </a:ln>
          </p:spPr>
        </p:cxnSp>
        <p:cxnSp>
          <p:nvCxnSpPr>
            <p:cNvPr id="2020" name="Google Shape;2020;p102"/>
            <p:cNvCxnSpPr/>
            <p:nvPr/>
          </p:nvCxnSpPr>
          <p:spPr>
            <a:xfrm flipH="1" rot="10800000">
              <a:off x="3422850" y="3289650"/>
              <a:ext cx="1258800" cy="1401600"/>
            </a:xfrm>
            <a:prstGeom prst="straightConnector1">
              <a:avLst/>
            </a:prstGeom>
            <a:noFill/>
            <a:ln cap="flat" cmpd="sng" w="28575">
              <a:solidFill>
                <a:schemeClr val="accent4"/>
              </a:solidFill>
              <a:prstDash val="solid"/>
              <a:round/>
              <a:headEnd len="med" w="med" type="triangle"/>
              <a:tailEnd len="med" w="med" type="triangle"/>
            </a:ln>
          </p:spPr>
        </p:cxnSp>
      </p:grpSp>
      <p:cxnSp>
        <p:nvCxnSpPr>
          <p:cNvPr id="2021" name="Google Shape;2021;p102"/>
          <p:cNvCxnSpPr/>
          <p:nvPr/>
        </p:nvCxnSpPr>
        <p:spPr>
          <a:xfrm rot="10800000">
            <a:off x="2127142" y="3602235"/>
            <a:ext cx="86400" cy="1005600"/>
          </a:xfrm>
          <a:prstGeom prst="straightConnector1">
            <a:avLst/>
          </a:prstGeom>
          <a:noFill/>
          <a:ln cap="flat" cmpd="sng" w="28575">
            <a:solidFill>
              <a:schemeClr val="accent4"/>
            </a:solidFill>
            <a:prstDash val="solid"/>
            <a:round/>
            <a:headEnd len="med" w="med" type="triangle"/>
            <a:tailEnd len="med" w="med" type="triangle"/>
          </a:ln>
        </p:spPr>
      </p:cxnSp>
      <p:cxnSp>
        <p:nvCxnSpPr>
          <p:cNvPr id="2022" name="Google Shape;2022;p102"/>
          <p:cNvCxnSpPr/>
          <p:nvPr/>
        </p:nvCxnSpPr>
        <p:spPr>
          <a:xfrm rot="10800000">
            <a:off x="386342" y="3881673"/>
            <a:ext cx="1596900" cy="880500"/>
          </a:xfrm>
          <a:prstGeom prst="straightConnector1">
            <a:avLst/>
          </a:prstGeom>
          <a:noFill/>
          <a:ln cap="flat" cmpd="sng" w="28575">
            <a:solidFill>
              <a:schemeClr val="accent4"/>
            </a:solidFill>
            <a:prstDash val="solid"/>
            <a:round/>
            <a:headEnd len="med" w="med" type="triangle"/>
            <a:tailEnd len="med" w="med" type="triangle"/>
          </a:ln>
        </p:spPr>
      </p:cxnSp>
      <p:cxnSp>
        <p:nvCxnSpPr>
          <p:cNvPr id="2023" name="Google Shape;2023;p102"/>
          <p:cNvCxnSpPr/>
          <p:nvPr/>
        </p:nvCxnSpPr>
        <p:spPr>
          <a:xfrm flipH="1" rot="10800000">
            <a:off x="474842" y="3471598"/>
            <a:ext cx="1508400" cy="123000"/>
          </a:xfrm>
          <a:prstGeom prst="straightConnector1">
            <a:avLst/>
          </a:prstGeom>
          <a:noFill/>
          <a:ln cap="flat" cmpd="sng" w="28575">
            <a:solidFill>
              <a:schemeClr val="accent4"/>
            </a:solidFill>
            <a:prstDash val="solid"/>
            <a:round/>
            <a:headEnd len="med" w="med" type="triangle"/>
            <a:tailEnd len="med" w="med" type="triangle"/>
          </a:ln>
        </p:spPr>
      </p:cxnSp>
      <p:grpSp>
        <p:nvGrpSpPr>
          <p:cNvPr id="2024" name="Google Shape;2024;p102"/>
          <p:cNvGrpSpPr/>
          <p:nvPr/>
        </p:nvGrpSpPr>
        <p:grpSpPr>
          <a:xfrm>
            <a:off x="5629749" y="2195637"/>
            <a:ext cx="1569302" cy="2217891"/>
            <a:chOff x="7060299" y="2102112"/>
            <a:chExt cx="1569302" cy="2217891"/>
          </a:xfrm>
        </p:grpSpPr>
        <p:pic>
          <p:nvPicPr>
            <p:cNvPr id="2025" name="Google Shape;2025;p102"/>
            <p:cNvPicPr preferRelativeResize="0"/>
            <p:nvPr/>
          </p:nvPicPr>
          <p:blipFill rotWithShape="1">
            <a:blip r:embed="rId3">
              <a:alphaModFix/>
            </a:blip>
            <a:srcRect b="4353" l="75386" r="-218" t="45311"/>
            <a:stretch/>
          </p:blipFill>
          <p:spPr>
            <a:xfrm>
              <a:off x="7060299" y="2521403"/>
              <a:ext cx="1569302" cy="1798600"/>
            </a:xfrm>
            <a:prstGeom prst="rect">
              <a:avLst/>
            </a:prstGeom>
            <a:noFill/>
            <a:ln>
              <a:noFill/>
            </a:ln>
          </p:spPr>
        </p:pic>
        <p:sp>
          <p:nvSpPr>
            <p:cNvPr id="2026" name="Google Shape;2026;p102"/>
            <p:cNvSpPr/>
            <p:nvPr/>
          </p:nvSpPr>
          <p:spPr>
            <a:xfrm rot="1337787">
              <a:off x="7403010" y="2261119"/>
              <a:ext cx="960731" cy="621286"/>
            </a:xfrm>
            <a:prstGeom prst="rect">
              <a:avLst/>
            </a:prstGeom>
            <a:solidFill>
              <a:srgbClr val="EBED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2027" name="Google Shape;2027;p102"/>
          <p:cNvGrpSpPr/>
          <p:nvPr/>
        </p:nvGrpSpPr>
        <p:grpSpPr>
          <a:xfrm>
            <a:off x="5530123" y="2700865"/>
            <a:ext cx="1712375" cy="1761775"/>
            <a:chOff x="6821900" y="2489425"/>
            <a:chExt cx="1712375" cy="1761775"/>
          </a:xfrm>
        </p:grpSpPr>
        <p:cxnSp>
          <p:nvCxnSpPr>
            <p:cNvPr id="2028" name="Google Shape;2028;p102"/>
            <p:cNvCxnSpPr/>
            <p:nvPr/>
          </p:nvCxnSpPr>
          <p:spPr>
            <a:xfrm rot="10800000">
              <a:off x="6821900" y="2583300"/>
              <a:ext cx="156300" cy="1577400"/>
            </a:xfrm>
            <a:prstGeom prst="straightConnector1">
              <a:avLst/>
            </a:prstGeom>
            <a:noFill/>
            <a:ln cap="flat" cmpd="sng" w="28575">
              <a:solidFill>
                <a:schemeClr val="accent4"/>
              </a:solidFill>
              <a:prstDash val="solid"/>
              <a:round/>
              <a:headEnd len="med" w="med" type="triangle"/>
              <a:tailEnd len="med" w="med" type="triangle"/>
            </a:ln>
          </p:spPr>
        </p:cxnSp>
        <p:cxnSp>
          <p:nvCxnSpPr>
            <p:cNvPr id="2029" name="Google Shape;2029;p102"/>
            <p:cNvCxnSpPr/>
            <p:nvPr/>
          </p:nvCxnSpPr>
          <p:spPr>
            <a:xfrm flipH="1" rot="10800000">
              <a:off x="7151050" y="4124600"/>
              <a:ext cx="1264500" cy="126600"/>
            </a:xfrm>
            <a:prstGeom prst="straightConnector1">
              <a:avLst/>
            </a:prstGeom>
            <a:noFill/>
            <a:ln cap="flat" cmpd="sng" w="28575">
              <a:solidFill>
                <a:schemeClr val="accent4"/>
              </a:solidFill>
              <a:prstDash val="solid"/>
              <a:round/>
              <a:headEnd len="med" w="med" type="triangle"/>
              <a:tailEnd len="med" w="med" type="triangle"/>
            </a:ln>
          </p:spPr>
        </p:cxnSp>
        <p:cxnSp>
          <p:nvCxnSpPr>
            <p:cNvPr id="2030" name="Google Shape;2030;p102"/>
            <p:cNvCxnSpPr/>
            <p:nvPr/>
          </p:nvCxnSpPr>
          <p:spPr>
            <a:xfrm rot="10800000">
              <a:off x="7116475" y="2489425"/>
              <a:ext cx="1417800" cy="1450800"/>
            </a:xfrm>
            <a:prstGeom prst="straightConnector1">
              <a:avLst/>
            </a:prstGeom>
            <a:noFill/>
            <a:ln cap="flat" cmpd="sng" w="28575">
              <a:solidFill>
                <a:schemeClr val="accent4"/>
              </a:solidFill>
              <a:prstDash val="solid"/>
              <a:round/>
              <a:headEnd len="med" w="med" type="triangle"/>
              <a:tailEnd len="med" w="med" type="triangle"/>
            </a:ln>
          </p:spPr>
        </p:cxnSp>
      </p:grpSp>
      <p:sp>
        <p:nvSpPr>
          <p:cNvPr id="2031" name="Google Shape;2031;p102"/>
          <p:cNvSpPr txBox="1"/>
          <p:nvPr/>
        </p:nvSpPr>
        <p:spPr>
          <a:xfrm flipH="1" rot="2927">
            <a:off x="248077" y="1537164"/>
            <a:ext cx="7047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18 cm</a:t>
            </a:r>
            <a:endParaRPr sz="1800">
              <a:latin typeface="Lexend"/>
              <a:ea typeface="Lexend"/>
              <a:cs typeface="Lexend"/>
              <a:sym typeface="Lexend"/>
            </a:endParaRPr>
          </a:p>
        </p:txBody>
      </p:sp>
      <p:sp>
        <p:nvSpPr>
          <p:cNvPr id="2032" name="Google Shape;2032;p102"/>
          <p:cNvSpPr txBox="1"/>
          <p:nvPr/>
        </p:nvSpPr>
        <p:spPr>
          <a:xfrm flipH="1" rot="3145">
            <a:off x="370731" y="4323466"/>
            <a:ext cx="9837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40.5 cm</a:t>
            </a:r>
            <a:endParaRPr sz="1800">
              <a:latin typeface="Lexend"/>
              <a:ea typeface="Lexend"/>
              <a:cs typeface="Lexend"/>
              <a:sym typeface="Lexend"/>
            </a:endParaRPr>
          </a:p>
        </p:txBody>
      </p:sp>
      <p:sp>
        <p:nvSpPr>
          <p:cNvPr id="2033" name="Google Shape;2033;p102"/>
          <p:cNvSpPr txBox="1"/>
          <p:nvPr/>
        </p:nvSpPr>
        <p:spPr>
          <a:xfrm flipH="1" rot="-277853">
            <a:off x="710392" y="3229503"/>
            <a:ext cx="1010699" cy="27694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31.5 cm</a:t>
            </a:r>
            <a:endParaRPr sz="1800">
              <a:latin typeface="Lexend"/>
              <a:ea typeface="Lexend"/>
              <a:cs typeface="Lexend"/>
              <a:sym typeface="Lexend"/>
            </a:endParaRPr>
          </a:p>
        </p:txBody>
      </p:sp>
      <p:sp>
        <p:nvSpPr>
          <p:cNvPr id="2034" name="Google Shape;2034;p102"/>
          <p:cNvSpPr txBox="1"/>
          <p:nvPr/>
        </p:nvSpPr>
        <p:spPr>
          <a:xfrm flipH="1" rot="2927">
            <a:off x="1457902" y="2339114"/>
            <a:ext cx="7047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24 cm</a:t>
            </a:r>
            <a:endParaRPr sz="1800">
              <a:latin typeface="Lexend"/>
              <a:ea typeface="Lexend"/>
              <a:cs typeface="Lexend"/>
              <a:sym typeface="Lexend"/>
            </a:endParaRPr>
          </a:p>
        </p:txBody>
      </p:sp>
      <p:sp>
        <p:nvSpPr>
          <p:cNvPr id="2035" name="Google Shape;2035;p102"/>
          <p:cNvSpPr txBox="1"/>
          <p:nvPr/>
        </p:nvSpPr>
        <p:spPr>
          <a:xfrm flipH="1" rot="-4082673">
            <a:off x="2695342" y="1297842"/>
            <a:ext cx="704494" cy="277151"/>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13 cm</a:t>
            </a:r>
            <a:endParaRPr sz="1800">
              <a:latin typeface="Lexend"/>
              <a:ea typeface="Lexend"/>
              <a:cs typeface="Lexend"/>
              <a:sym typeface="Lexend"/>
            </a:endParaRPr>
          </a:p>
        </p:txBody>
      </p:sp>
      <p:grpSp>
        <p:nvGrpSpPr>
          <p:cNvPr id="2036" name="Google Shape;2036;p102"/>
          <p:cNvGrpSpPr/>
          <p:nvPr/>
        </p:nvGrpSpPr>
        <p:grpSpPr>
          <a:xfrm rot="1351559">
            <a:off x="4440870" y="1030050"/>
            <a:ext cx="1934715" cy="1546314"/>
            <a:chOff x="4526675" y="1025813"/>
            <a:chExt cx="1934727" cy="1546324"/>
          </a:xfrm>
        </p:grpSpPr>
        <p:grpSp>
          <p:nvGrpSpPr>
            <p:cNvPr id="2037" name="Google Shape;2037;p102"/>
            <p:cNvGrpSpPr/>
            <p:nvPr/>
          </p:nvGrpSpPr>
          <p:grpSpPr>
            <a:xfrm>
              <a:off x="4526675" y="1059798"/>
              <a:ext cx="1913999" cy="1512339"/>
              <a:chOff x="8449050" y="933975"/>
              <a:chExt cx="1913999" cy="1512339"/>
            </a:xfrm>
          </p:grpSpPr>
          <p:pic>
            <p:nvPicPr>
              <p:cNvPr id="2038" name="Google Shape;2038;p102"/>
              <p:cNvPicPr preferRelativeResize="0"/>
              <p:nvPr/>
            </p:nvPicPr>
            <p:blipFill rotWithShape="1">
              <a:blip r:embed="rId3">
                <a:alphaModFix/>
              </a:blip>
              <a:srcRect b="43916" l="67529" r="4708" t="24105"/>
              <a:stretch/>
            </p:blipFill>
            <p:spPr>
              <a:xfrm>
                <a:off x="8608575" y="933975"/>
                <a:ext cx="1754474" cy="1142700"/>
              </a:xfrm>
              <a:prstGeom prst="rect">
                <a:avLst/>
              </a:prstGeom>
              <a:noFill/>
              <a:ln>
                <a:noFill/>
              </a:ln>
            </p:spPr>
          </p:pic>
          <p:sp>
            <p:nvSpPr>
              <p:cNvPr id="2039" name="Google Shape;2039;p102"/>
              <p:cNvSpPr/>
              <p:nvPr/>
            </p:nvSpPr>
            <p:spPr>
              <a:xfrm rot="1337787">
                <a:off x="8531035" y="1666021"/>
                <a:ext cx="960731" cy="621286"/>
              </a:xfrm>
              <a:prstGeom prst="rect">
                <a:avLst/>
              </a:prstGeom>
              <a:solidFill>
                <a:srgbClr val="EBED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2040" name="Google Shape;2040;p102"/>
            <p:cNvGrpSpPr/>
            <p:nvPr/>
          </p:nvGrpSpPr>
          <p:grpSpPr>
            <a:xfrm>
              <a:off x="4730563" y="1025812"/>
              <a:ext cx="1730840" cy="1222942"/>
              <a:chOff x="4625175" y="1781400"/>
              <a:chExt cx="1730840" cy="1222942"/>
            </a:xfrm>
          </p:grpSpPr>
          <p:cxnSp>
            <p:nvCxnSpPr>
              <p:cNvPr id="2041" name="Google Shape;2041;p102"/>
              <p:cNvCxnSpPr/>
              <p:nvPr/>
            </p:nvCxnSpPr>
            <p:spPr>
              <a:xfrm>
                <a:off x="6058415" y="1861212"/>
                <a:ext cx="297600" cy="998700"/>
              </a:xfrm>
              <a:prstGeom prst="straightConnector1">
                <a:avLst/>
              </a:prstGeom>
              <a:noFill/>
              <a:ln cap="flat" cmpd="sng" w="28575">
                <a:solidFill>
                  <a:schemeClr val="accent4"/>
                </a:solidFill>
                <a:prstDash val="solid"/>
                <a:round/>
                <a:headEnd len="med" w="med" type="triangle"/>
                <a:tailEnd len="med" w="med" type="triangle"/>
              </a:ln>
            </p:spPr>
          </p:cxnSp>
          <p:cxnSp>
            <p:nvCxnSpPr>
              <p:cNvPr id="2042" name="Google Shape;2042;p102"/>
              <p:cNvCxnSpPr/>
              <p:nvPr/>
            </p:nvCxnSpPr>
            <p:spPr>
              <a:xfrm flipH="1">
                <a:off x="4625175" y="1781400"/>
                <a:ext cx="1265700" cy="378600"/>
              </a:xfrm>
              <a:prstGeom prst="straightConnector1">
                <a:avLst/>
              </a:prstGeom>
              <a:noFill/>
              <a:ln cap="flat" cmpd="sng" w="28575">
                <a:solidFill>
                  <a:schemeClr val="accent4"/>
                </a:solidFill>
                <a:prstDash val="solid"/>
                <a:round/>
                <a:headEnd len="med" w="med" type="triangle"/>
                <a:tailEnd len="med" w="med" type="triangle"/>
              </a:ln>
            </p:spPr>
          </p:cxnSp>
          <p:cxnSp>
            <p:nvCxnSpPr>
              <p:cNvPr id="2043" name="Google Shape;2043;p102"/>
              <p:cNvCxnSpPr/>
              <p:nvPr/>
            </p:nvCxnSpPr>
            <p:spPr>
              <a:xfrm rot="10800000">
                <a:off x="4645958" y="2383042"/>
                <a:ext cx="1565700" cy="621300"/>
              </a:xfrm>
              <a:prstGeom prst="straightConnector1">
                <a:avLst/>
              </a:prstGeom>
              <a:noFill/>
              <a:ln cap="flat" cmpd="sng" w="28575">
                <a:solidFill>
                  <a:schemeClr val="accent4"/>
                </a:solidFill>
                <a:prstDash val="solid"/>
                <a:round/>
                <a:headEnd len="med" w="med" type="triangle"/>
                <a:tailEnd len="med" w="med" type="triangle"/>
              </a:ln>
            </p:spPr>
          </p:cxnSp>
        </p:grpSp>
      </p:grpSp>
      <p:sp>
        <p:nvSpPr>
          <p:cNvPr id="2044" name="Google Shape;2044;p102"/>
          <p:cNvSpPr txBox="1"/>
          <p:nvPr/>
        </p:nvSpPr>
        <p:spPr>
          <a:xfrm flipH="1" rot="3784673">
            <a:off x="3528663" y="1536921"/>
            <a:ext cx="1442426" cy="277056"/>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20 cm</a:t>
            </a:r>
            <a:endParaRPr sz="1800">
              <a:latin typeface="Lexend"/>
              <a:ea typeface="Lexend"/>
              <a:cs typeface="Lexend"/>
              <a:sym typeface="Lexend"/>
            </a:endParaRPr>
          </a:p>
        </p:txBody>
      </p:sp>
      <p:sp>
        <p:nvSpPr>
          <p:cNvPr id="2045" name="Google Shape;2045;p102"/>
          <p:cNvSpPr txBox="1"/>
          <p:nvPr/>
        </p:nvSpPr>
        <p:spPr>
          <a:xfrm flipH="1" rot="354720">
            <a:off x="5225842" y="920449"/>
            <a:ext cx="704849" cy="277138"/>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16 cm</a:t>
            </a:r>
            <a:endParaRPr sz="1800">
              <a:latin typeface="Lexend"/>
              <a:ea typeface="Lexend"/>
              <a:cs typeface="Lexend"/>
              <a:sym typeface="Lexend"/>
            </a:endParaRPr>
          </a:p>
        </p:txBody>
      </p:sp>
      <p:sp>
        <p:nvSpPr>
          <p:cNvPr id="2046" name="Google Shape;2046;p102"/>
          <p:cNvSpPr txBox="1"/>
          <p:nvPr/>
        </p:nvSpPr>
        <p:spPr>
          <a:xfrm flipH="1" rot="4390">
            <a:off x="6224869" y="1787866"/>
            <a:ext cx="704701"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14 cm</a:t>
            </a:r>
            <a:endParaRPr sz="1800">
              <a:latin typeface="Lexend"/>
              <a:ea typeface="Lexend"/>
              <a:cs typeface="Lexend"/>
              <a:sym typeface="Lexend"/>
            </a:endParaRPr>
          </a:p>
        </p:txBody>
      </p:sp>
      <p:sp>
        <p:nvSpPr>
          <p:cNvPr id="2047" name="Google Shape;2047;p102"/>
          <p:cNvSpPr txBox="1"/>
          <p:nvPr/>
        </p:nvSpPr>
        <p:spPr>
          <a:xfrm flipH="1" rot="-336239">
            <a:off x="3452562" y="2786051"/>
            <a:ext cx="1010731" cy="277078"/>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22 cm</a:t>
            </a:r>
            <a:endParaRPr sz="1800">
              <a:latin typeface="Lexend"/>
              <a:ea typeface="Lexend"/>
              <a:cs typeface="Lexend"/>
              <a:sym typeface="Lexend"/>
            </a:endParaRPr>
          </a:p>
        </p:txBody>
      </p:sp>
      <p:sp>
        <p:nvSpPr>
          <p:cNvPr id="2048" name="Google Shape;2048;p102"/>
          <p:cNvSpPr txBox="1"/>
          <p:nvPr/>
        </p:nvSpPr>
        <p:spPr>
          <a:xfrm flipH="1" rot="7143">
            <a:off x="2402894" y="3687973"/>
            <a:ext cx="1010702"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24 cm</a:t>
            </a:r>
            <a:endParaRPr sz="1800">
              <a:latin typeface="Lexend"/>
              <a:ea typeface="Lexend"/>
              <a:cs typeface="Lexend"/>
              <a:sym typeface="Lexend"/>
            </a:endParaRPr>
          </a:p>
        </p:txBody>
      </p:sp>
      <p:sp>
        <p:nvSpPr>
          <p:cNvPr id="2049" name="Google Shape;2049;p102"/>
          <p:cNvSpPr txBox="1"/>
          <p:nvPr/>
        </p:nvSpPr>
        <p:spPr>
          <a:xfrm flipH="1" rot="-336239">
            <a:off x="6052344" y="4411618"/>
            <a:ext cx="1010731" cy="277078"/>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30 cm</a:t>
            </a:r>
            <a:endParaRPr sz="1800">
              <a:latin typeface="Lexend"/>
              <a:ea typeface="Lexend"/>
              <a:cs typeface="Lexend"/>
              <a:sym typeface="Lexend"/>
            </a:endParaRPr>
          </a:p>
        </p:txBody>
      </p:sp>
      <p:sp>
        <p:nvSpPr>
          <p:cNvPr id="2050" name="Google Shape;2050;p102"/>
          <p:cNvSpPr txBox="1"/>
          <p:nvPr/>
        </p:nvSpPr>
        <p:spPr>
          <a:xfrm flipH="1" rot="6122">
            <a:off x="6301224" y="3125993"/>
            <a:ext cx="1010702"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58 cm</a:t>
            </a:r>
            <a:endParaRPr sz="1800">
              <a:latin typeface="Lexend"/>
              <a:ea typeface="Lexend"/>
              <a:cs typeface="Lexend"/>
              <a:sym typeface="Lexend"/>
            </a:endParaRPr>
          </a:p>
        </p:txBody>
      </p:sp>
      <p:cxnSp>
        <p:nvCxnSpPr>
          <p:cNvPr id="2051" name="Google Shape;2051;p102"/>
          <p:cNvCxnSpPr/>
          <p:nvPr/>
        </p:nvCxnSpPr>
        <p:spPr>
          <a:xfrm flipH="1">
            <a:off x="4507650" y="3033975"/>
            <a:ext cx="353700" cy="167100"/>
          </a:xfrm>
          <a:prstGeom prst="straightConnector1">
            <a:avLst/>
          </a:prstGeom>
          <a:noFill/>
          <a:ln cap="flat" cmpd="sng" w="28575">
            <a:solidFill>
              <a:srgbClr val="374CF1"/>
            </a:solidFill>
            <a:prstDash val="solid"/>
            <a:round/>
            <a:headEnd len="med" w="med" type="none"/>
            <a:tailEnd len="med" w="med" type="none"/>
          </a:ln>
        </p:spPr>
      </p:cxnSp>
      <p:cxnSp>
        <p:nvCxnSpPr>
          <p:cNvPr id="2052" name="Google Shape;2052;p102"/>
          <p:cNvCxnSpPr/>
          <p:nvPr/>
        </p:nvCxnSpPr>
        <p:spPr>
          <a:xfrm flipH="1" rot="10800000">
            <a:off x="3373550" y="4329475"/>
            <a:ext cx="105600" cy="364500"/>
          </a:xfrm>
          <a:prstGeom prst="straightConnector1">
            <a:avLst/>
          </a:prstGeom>
          <a:noFill/>
          <a:ln cap="flat" cmpd="sng" w="28575">
            <a:solidFill>
              <a:srgbClr val="374CF1"/>
            </a:solidFill>
            <a:prstDash val="solid"/>
            <a:round/>
            <a:headEnd len="med" w="med" type="none"/>
            <a:tailEnd len="med" w="med" type="none"/>
          </a:ln>
        </p:spPr>
      </p:cxnSp>
      <p:cxnSp>
        <p:nvCxnSpPr>
          <p:cNvPr id="2053" name="Google Shape;2053;p102"/>
          <p:cNvCxnSpPr/>
          <p:nvPr/>
        </p:nvCxnSpPr>
        <p:spPr>
          <a:xfrm rot="10800000">
            <a:off x="6941000" y="4159775"/>
            <a:ext cx="420000" cy="117300"/>
          </a:xfrm>
          <a:prstGeom prst="straightConnector1">
            <a:avLst/>
          </a:prstGeom>
          <a:noFill/>
          <a:ln cap="flat" cmpd="sng" w="28575">
            <a:solidFill>
              <a:srgbClr val="374CF1"/>
            </a:solidFill>
            <a:prstDash val="solid"/>
            <a:round/>
            <a:headEnd len="med" w="med" type="none"/>
            <a:tailEnd len="med" w="med" type="none"/>
          </a:ln>
        </p:spPr>
      </p:cxnSp>
      <p:sp>
        <p:nvSpPr>
          <p:cNvPr id="2054" name="Google Shape;2054;p102"/>
          <p:cNvSpPr txBox="1"/>
          <p:nvPr/>
        </p:nvSpPr>
        <p:spPr>
          <a:xfrm flipH="1" rot="6565">
            <a:off x="3122127" y="4661604"/>
            <a:ext cx="471301"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48°</a:t>
            </a:r>
            <a:endParaRPr sz="1800">
              <a:latin typeface="Lexend"/>
              <a:ea typeface="Lexend"/>
              <a:cs typeface="Lexend"/>
              <a:sym typeface="Lexend"/>
            </a:endParaRPr>
          </a:p>
        </p:txBody>
      </p:sp>
      <p:sp>
        <p:nvSpPr>
          <p:cNvPr id="2055" name="Google Shape;2055;p102"/>
          <p:cNvSpPr txBox="1"/>
          <p:nvPr/>
        </p:nvSpPr>
        <p:spPr>
          <a:xfrm flipH="1" rot="6565">
            <a:off x="4819588" y="2875407"/>
            <a:ext cx="471301"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42°</a:t>
            </a:r>
            <a:endParaRPr sz="1800">
              <a:latin typeface="Lexend"/>
              <a:ea typeface="Lexend"/>
              <a:cs typeface="Lexend"/>
              <a:sym typeface="Lexend"/>
            </a:endParaRPr>
          </a:p>
        </p:txBody>
      </p:sp>
      <p:sp>
        <p:nvSpPr>
          <p:cNvPr id="2056" name="Google Shape;2056;p102"/>
          <p:cNvSpPr txBox="1"/>
          <p:nvPr/>
        </p:nvSpPr>
        <p:spPr>
          <a:xfrm flipH="1" rot="6565">
            <a:off x="5303223" y="2467724"/>
            <a:ext cx="471301"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39°</a:t>
            </a:r>
            <a:endParaRPr sz="1800">
              <a:latin typeface="Lexend"/>
              <a:ea typeface="Lexend"/>
              <a:cs typeface="Lexend"/>
              <a:sym typeface="Lexend"/>
            </a:endParaRPr>
          </a:p>
        </p:txBody>
      </p:sp>
      <p:sp>
        <p:nvSpPr>
          <p:cNvPr id="2057" name="Google Shape;2057;p102"/>
          <p:cNvSpPr txBox="1"/>
          <p:nvPr/>
        </p:nvSpPr>
        <p:spPr>
          <a:xfrm flipH="1" rot="6565">
            <a:off x="7303005" y="4157231"/>
            <a:ext cx="471301"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51°</a:t>
            </a:r>
            <a:endParaRPr sz="1800">
              <a:latin typeface="Lexend"/>
              <a:ea typeface="Lexend"/>
              <a:cs typeface="Lexend"/>
              <a:sym typeface="Lexend"/>
            </a:endParaRPr>
          </a:p>
        </p:txBody>
      </p:sp>
      <p:pic>
        <p:nvPicPr>
          <p:cNvPr id="2058" name="Google Shape;2058;p102"/>
          <p:cNvPicPr preferRelativeResize="0"/>
          <p:nvPr/>
        </p:nvPicPr>
        <p:blipFill>
          <a:blip r:embed="rId4">
            <a:alphaModFix/>
          </a:blip>
          <a:stretch>
            <a:fillRect/>
          </a:stretch>
        </p:blipFill>
        <p:spPr>
          <a:xfrm>
            <a:off x="7380596" y="2374953"/>
            <a:ext cx="274366" cy="274366"/>
          </a:xfrm>
          <a:prstGeom prst="rect">
            <a:avLst/>
          </a:prstGeom>
          <a:noFill/>
          <a:ln>
            <a:noFill/>
          </a:ln>
        </p:spPr>
      </p:pic>
      <p:sp>
        <p:nvSpPr>
          <p:cNvPr id="2059" name="Google Shape;2059;p102"/>
          <p:cNvSpPr txBox="1"/>
          <p:nvPr/>
        </p:nvSpPr>
        <p:spPr>
          <a:xfrm>
            <a:off x="7395366" y="2425549"/>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j</a:t>
            </a:r>
            <a:endParaRPr b="1" sz="1800">
              <a:solidFill>
                <a:srgbClr val="FFFFFF"/>
              </a:solidFill>
              <a:latin typeface="Lexend"/>
              <a:ea typeface="Lexend"/>
              <a:cs typeface="Lexend"/>
              <a:sym typeface="Lexend"/>
            </a:endParaRPr>
          </a:p>
        </p:txBody>
      </p:sp>
      <p:sp>
        <p:nvSpPr>
          <p:cNvPr id="2060" name="Google Shape;2060;p102"/>
          <p:cNvSpPr/>
          <p:nvPr/>
        </p:nvSpPr>
        <p:spPr>
          <a:xfrm>
            <a:off x="7654950" y="2340846"/>
            <a:ext cx="1165200" cy="3426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18000" lIns="0" spcFirstLastPara="1" rIns="0" wrap="square" tIns="18000">
            <a:noAutofit/>
          </a:bodyPr>
          <a:lstStyle/>
          <a:p>
            <a:pPr indent="0" lvl="0" marL="0" rtl="0" algn="ctr">
              <a:spcBef>
                <a:spcPts val="0"/>
              </a:spcBef>
              <a:spcAft>
                <a:spcPts val="0"/>
              </a:spcAft>
              <a:buNone/>
            </a:pPr>
            <a:r>
              <a:rPr lang="en-GB" sz="1800">
                <a:latin typeface="Lexend"/>
                <a:ea typeface="Lexend"/>
                <a:cs typeface="Lexend"/>
                <a:sym typeface="Lexend"/>
              </a:rPr>
              <a:t>49.64 cm</a:t>
            </a:r>
            <a:endParaRPr sz="1800">
              <a:latin typeface="Lexend"/>
              <a:ea typeface="Lexend"/>
              <a:cs typeface="Lexend"/>
              <a:sym typeface="Lexend"/>
            </a:endParaRPr>
          </a:p>
        </p:txBody>
      </p:sp>
      <p:pic>
        <p:nvPicPr>
          <p:cNvPr id="2061" name="Google Shape;2061;p102"/>
          <p:cNvPicPr preferRelativeResize="0"/>
          <p:nvPr/>
        </p:nvPicPr>
        <p:blipFill>
          <a:blip r:embed="rId4">
            <a:alphaModFix/>
          </a:blip>
          <a:stretch>
            <a:fillRect/>
          </a:stretch>
        </p:blipFill>
        <p:spPr>
          <a:xfrm>
            <a:off x="7380596" y="1852611"/>
            <a:ext cx="274366" cy="274366"/>
          </a:xfrm>
          <a:prstGeom prst="rect">
            <a:avLst/>
          </a:prstGeom>
          <a:noFill/>
          <a:ln>
            <a:noFill/>
          </a:ln>
        </p:spPr>
      </p:pic>
      <p:sp>
        <p:nvSpPr>
          <p:cNvPr id="2062" name="Google Shape;2062;p102"/>
          <p:cNvSpPr txBox="1"/>
          <p:nvPr/>
        </p:nvSpPr>
        <p:spPr>
          <a:xfrm>
            <a:off x="7395366" y="1903207"/>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i</a:t>
            </a:r>
            <a:endParaRPr b="1" sz="1800">
              <a:solidFill>
                <a:srgbClr val="FFFFFF"/>
              </a:solidFill>
              <a:latin typeface="Lexend"/>
              <a:ea typeface="Lexend"/>
              <a:cs typeface="Lexend"/>
              <a:sym typeface="Lexend"/>
            </a:endParaRPr>
          </a:p>
        </p:txBody>
      </p:sp>
      <p:sp>
        <p:nvSpPr>
          <p:cNvPr id="2063" name="Google Shape;2063;p102"/>
          <p:cNvSpPr/>
          <p:nvPr/>
        </p:nvSpPr>
        <p:spPr>
          <a:xfrm>
            <a:off x="7654950" y="1818506"/>
            <a:ext cx="1165200" cy="3426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18000" lIns="0" spcFirstLastPara="1" rIns="0" wrap="square" tIns="18000">
            <a:noAutofit/>
          </a:bodyPr>
          <a:lstStyle/>
          <a:p>
            <a:pPr indent="0" lvl="0" marL="0" rtl="0" algn="ctr">
              <a:spcBef>
                <a:spcPts val="0"/>
              </a:spcBef>
              <a:spcAft>
                <a:spcPts val="0"/>
              </a:spcAft>
              <a:buNone/>
            </a:pPr>
            <a:r>
              <a:rPr lang="en-GB" sz="1800">
                <a:latin typeface="Lexend"/>
                <a:ea typeface="Lexend"/>
                <a:cs typeface="Lexend"/>
                <a:sym typeface="Lexend"/>
              </a:rPr>
              <a:t>30 cm</a:t>
            </a:r>
            <a:endParaRPr sz="1800">
              <a:latin typeface="Lexend"/>
              <a:ea typeface="Lexend"/>
              <a:cs typeface="Lexend"/>
              <a:sym typeface="Lexend"/>
            </a:endParaRPr>
          </a:p>
        </p:txBody>
      </p:sp>
      <p:pic>
        <p:nvPicPr>
          <p:cNvPr id="2064" name="Google Shape;2064;p102"/>
          <p:cNvPicPr preferRelativeResize="0"/>
          <p:nvPr/>
        </p:nvPicPr>
        <p:blipFill>
          <a:blip r:embed="rId4">
            <a:alphaModFix/>
          </a:blip>
          <a:stretch>
            <a:fillRect/>
          </a:stretch>
        </p:blipFill>
        <p:spPr>
          <a:xfrm>
            <a:off x="7380596" y="1330268"/>
            <a:ext cx="274366" cy="274366"/>
          </a:xfrm>
          <a:prstGeom prst="rect">
            <a:avLst/>
          </a:prstGeom>
          <a:noFill/>
          <a:ln>
            <a:noFill/>
          </a:ln>
        </p:spPr>
      </p:pic>
      <p:sp>
        <p:nvSpPr>
          <p:cNvPr id="2065" name="Google Shape;2065;p102"/>
          <p:cNvSpPr txBox="1"/>
          <p:nvPr/>
        </p:nvSpPr>
        <p:spPr>
          <a:xfrm>
            <a:off x="7395366" y="1380864"/>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h</a:t>
            </a:r>
            <a:endParaRPr b="1" sz="1800">
              <a:solidFill>
                <a:srgbClr val="FFFFFF"/>
              </a:solidFill>
              <a:latin typeface="Lexend"/>
              <a:ea typeface="Lexend"/>
              <a:cs typeface="Lexend"/>
              <a:sym typeface="Lexend"/>
            </a:endParaRPr>
          </a:p>
        </p:txBody>
      </p:sp>
      <p:sp>
        <p:nvSpPr>
          <p:cNvPr id="2066" name="Google Shape;2066;p102"/>
          <p:cNvSpPr/>
          <p:nvPr/>
        </p:nvSpPr>
        <p:spPr>
          <a:xfrm>
            <a:off x="7654950" y="1296165"/>
            <a:ext cx="1165200" cy="3426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18000" lIns="0" spcFirstLastPara="1" rIns="0" wrap="square" tIns="18000">
            <a:noAutofit/>
          </a:bodyPr>
          <a:lstStyle/>
          <a:p>
            <a:pPr indent="0" lvl="0" marL="0" rtl="0" algn="ctr">
              <a:spcBef>
                <a:spcPts val="0"/>
              </a:spcBef>
              <a:spcAft>
                <a:spcPts val="0"/>
              </a:spcAft>
              <a:buNone/>
            </a:pPr>
            <a:r>
              <a:rPr lang="en-GB" sz="1800">
                <a:latin typeface="Lexend"/>
                <a:ea typeface="Lexend"/>
                <a:cs typeface="Lexend"/>
                <a:sym typeface="Lexend"/>
              </a:rPr>
              <a:t>25.46 cm</a:t>
            </a:r>
            <a:endParaRPr sz="1800">
              <a:latin typeface="Lexend"/>
              <a:ea typeface="Lexend"/>
              <a:cs typeface="Lexend"/>
              <a:sym typeface="Lexend"/>
            </a:endParaRPr>
          </a:p>
        </p:txBody>
      </p:sp>
      <p:pic>
        <p:nvPicPr>
          <p:cNvPr id="2067" name="Google Shape;2067;p102"/>
          <p:cNvPicPr preferRelativeResize="0"/>
          <p:nvPr/>
        </p:nvPicPr>
        <p:blipFill>
          <a:blip r:embed="rId4">
            <a:alphaModFix/>
          </a:blip>
          <a:stretch>
            <a:fillRect/>
          </a:stretch>
        </p:blipFill>
        <p:spPr>
          <a:xfrm>
            <a:off x="7380596" y="807926"/>
            <a:ext cx="274366" cy="274366"/>
          </a:xfrm>
          <a:prstGeom prst="rect">
            <a:avLst/>
          </a:prstGeom>
          <a:noFill/>
          <a:ln>
            <a:noFill/>
          </a:ln>
        </p:spPr>
      </p:pic>
      <p:sp>
        <p:nvSpPr>
          <p:cNvPr id="2068" name="Google Shape;2068;p102"/>
          <p:cNvSpPr txBox="1"/>
          <p:nvPr/>
        </p:nvSpPr>
        <p:spPr>
          <a:xfrm>
            <a:off x="7395366" y="858522"/>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g</a:t>
            </a:r>
            <a:endParaRPr b="1" sz="1800">
              <a:solidFill>
                <a:srgbClr val="FFFFFF"/>
              </a:solidFill>
              <a:latin typeface="Lexend"/>
              <a:ea typeface="Lexend"/>
              <a:cs typeface="Lexend"/>
              <a:sym typeface="Lexend"/>
            </a:endParaRPr>
          </a:p>
        </p:txBody>
      </p:sp>
      <p:sp>
        <p:nvSpPr>
          <p:cNvPr id="2069" name="Google Shape;2069;p102"/>
          <p:cNvSpPr/>
          <p:nvPr/>
        </p:nvSpPr>
        <p:spPr>
          <a:xfrm>
            <a:off x="7654950" y="773825"/>
            <a:ext cx="1165200" cy="3426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18000" lIns="0" spcFirstLastPara="1" rIns="0" wrap="square" tIns="18000">
            <a:noAutofit/>
          </a:bodyPr>
          <a:lstStyle/>
          <a:p>
            <a:pPr indent="0" lvl="0" marL="0" rtl="0" algn="ctr">
              <a:spcBef>
                <a:spcPts val="0"/>
              </a:spcBef>
              <a:spcAft>
                <a:spcPts val="0"/>
              </a:spcAft>
              <a:buNone/>
            </a:pPr>
            <a:r>
              <a:rPr lang="en-GB" sz="1800">
                <a:latin typeface="Lexend"/>
                <a:ea typeface="Lexend"/>
                <a:cs typeface="Lexend"/>
                <a:sym typeface="Lexend"/>
              </a:rPr>
              <a:t>21.26 cm</a:t>
            </a:r>
            <a:endParaRPr sz="1800">
              <a:latin typeface="Lexend"/>
              <a:ea typeface="Lexend"/>
              <a:cs typeface="Lexend"/>
              <a:sym typeface="Lexend"/>
            </a:endParaRPr>
          </a:p>
        </p:txBody>
      </p:sp>
      <p:pic>
        <p:nvPicPr>
          <p:cNvPr id="2070" name="Google Shape;2070;p102"/>
          <p:cNvPicPr preferRelativeResize="0"/>
          <p:nvPr/>
        </p:nvPicPr>
        <p:blipFill>
          <a:blip r:embed="rId4">
            <a:alphaModFix/>
          </a:blip>
          <a:stretch>
            <a:fillRect/>
          </a:stretch>
        </p:blipFill>
        <p:spPr>
          <a:xfrm>
            <a:off x="7380596" y="3419638"/>
            <a:ext cx="274366" cy="274366"/>
          </a:xfrm>
          <a:prstGeom prst="rect">
            <a:avLst/>
          </a:prstGeom>
          <a:noFill/>
          <a:ln>
            <a:noFill/>
          </a:ln>
        </p:spPr>
      </p:pic>
      <p:sp>
        <p:nvSpPr>
          <p:cNvPr id="2071" name="Google Shape;2071;p102"/>
          <p:cNvSpPr txBox="1"/>
          <p:nvPr/>
        </p:nvSpPr>
        <p:spPr>
          <a:xfrm>
            <a:off x="7395366" y="3470234"/>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l</a:t>
            </a:r>
            <a:endParaRPr b="1" sz="1800">
              <a:solidFill>
                <a:srgbClr val="FFFFFF"/>
              </a:solidFill>
              <a:latin typeface="Lexend"/>
              <a:ea typeface="Lexend"/>
              <a:cs typeface="Lexend"/>
              <a:sym typeface="Lexend"/>
            </a:endParaRPr>
          </a:p>
        </p:txBody>
      </p:sp>
      <p:sp>
        <p:nvSpPr>
          <p:cNvPr id="2072" name="Google Shape;2072;p102"/>
          <p:cNvSpPr/>
          <p:nvPr/>
        </p:nvSpPr>
        <p:spPr>
          <a:xfrm>
            <a:off x="7654950" y="3385526"/>
            <a:ext cx="1165200" cy="3426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18000" lIns="0" spcFirstLastPara="1" rIns="0" wrap="square" tIns="18000">
            <a:noAutofit/>
          </a:bodyPr>
          <a:lstStyle/>
          <a:p>
            <a:pPr indent="0" lvl="0" marL="0" rtl="0" algn="ctr">
              <a:spcBef>
                <a:spcPts val="0"/>
              </a:spcBef>
              <a:spcAft>
                <a:spcPts val="0"/>
              </a:spcAft>
              <a:buNone/>
            </a:pPr>
            <a:r>
              <a:rPr lang="en-GB" sz="1800">
                <a:latin typeface="Lexend"/>
                <a:ea typeface="Lexend"/>
                <a:cs typeface="Lexend"/>
                <a:sym typeface="Lexend"/>
              </a:rPr>
              <a:t>32.56 cm</a:t>
            </a:r>
            <a:endParaRPr sz="1800">
              <a:latin typeface="Lexend"/>
              <a:ea typeface="Lexend"/>
              <a:cs typeface="Lexend"/>
              <a:sym typeface="Lexend"/>
            </a:endParaRPr>
          </a:p>
        </p:txBody>
      </p:sp>
      <p:pic>
        <p:nvPicPr>
          <p:cNvPr id="2073" name="Google Shape;2073;p102"/>
          <p:cNvPicPr preferRelativeResize="0"/>
          <p:nvPr/>
        </p:nvPicPr>
        <p:blipFill>
          <a:blip r:embed="rId4">
            <a:alphaModFix/>
          </a:blip>
          <a:stretch>
            <a:fillRect/>
          </a:stretch>
        </p:blipFill>
        <p:spPr>
          <a:xfrm>
            <a:off x="7380596" y="2897296"/>
            <a:ext cx="274366" cy="274366"/>
          </a:xfrm>
          <a:prstGeom prst="rect">
            <a:avLst/>
          </a:prstGeom>
          <a:noFill/>
          <a:ln>
            <a:noFill/>
          </a:ln>
        </p:spPr>
      </p:pic>
      <p:sp>
        <p:nvSpPr>
          <p:cNvPr id="2074" name="Google Shape;2074;p102"/>
          <p:cNvSpPr txBox="1"/>
          <p:nvPr/>
        </p:nvSpPr>
        <p:spPr>
          <a:xfrm>
            <a:off x="7395366" y="2947892"/>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k</a:t>
            </a:r>
            <a:endParaRPr b="1" sz="1800">
              <a:solidFill>
                <a:srgbClr val="FFFFFF"/>
              </a:solidFill>
              <a:latin typeface="Lexend"/>
              <a:ea typeface="Lexend"/>
              <a:cs typeface="Lexend"/>
              <a:sym typeface="Lexend"/>
            </a:endParaRPr>
          </a:p>
        </p:txBody>
      </p:sp>
      <p:sp>
        <p:nvSpPr>
          <p:cNvPr id="2075" name="Google Shape;2075;p102"/>
          <p:cNvSpPr/>
          <p:nvPr/>
        </p:nvSpPr>
        <p:spPr>
          <a:xfrm>
            <a:off x="7654950" y="2863186"/>
            <a:ext cx="1165200" cy="3426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18000" lIns="0" spcFirstLastPara="1" rIns="0" wrap="square" tIns="18000">
            <a:noAutofit/>
          </a:bodyPr>
          <a:lstStyle/>
          <a:p>
            <a:pPr indent="0" lvl="0" marL="0" rtl="0" algn="ctr">
              <a:spcBef>
                <a:spcPts val="0"/>
              </a:spcBef>
              <a:spcAft>
                <a:spcPts val="0"/>
              </a:spcAft>
              <a:buNone/>
            </a:pPr>
            <a:r>
              <a:rPr lang="en-GB" sz="1800">
                <a:latin typeface="Lexend"/>
                <a:ea typeface="Lexend"/>
                <a:cs typeface="Lexend"/>
                <a:sym typeface="Lexend"/>
              </a:rPr>
              <a:t>15.20 cm</a:t>
            </a:r>
            <a:endParaRPr sz="1800">
              <a:latin typeface="Lexend"/>
              <a:ea typeface="Lexend"/>
              <a:cs typeface="Lexend"/>
              <a:sym typeface="Lexend"/>
            </a:endParaRPr>
          </a:p>
        </p:txBody>
      </p:sp>
      <p:cxnSp>
        <p:nvCxnSpPr>
          <p:cNvPr id="2076" name="Google Shape;2076;p102"/>
          <p:cNvCxnSpPr/>
          <p:nvPr/>
        </p:nvCxnSpPr>
        <p:spPr>
          <a:xfrm rot="10800000">
            <a:off x="5614025" y="2634075"/>
            <a:ext cx="167400" cy="324000"/>
          </a:xfrm>
          <a:prstGeom prst="straightConnector1">
            <a:avLst/>
          </a:prstGeom>
          <a:noFill/>
          <a:ln cap="flat" cmpd="sng" w="28575">
            <a:solidFill>
              <a:srgbClr val="374CF1"/>
            </a:solidFill>
            <a:prstDash val="solid"/>
            <a:round/>
            <a:headEnd len="med" w="med" type="none"/>
            <a:tailEnd len="med" w="med" type="none"/>
          </a:ln>
        </p:spPr>
      </p:cxnSp>
      <p:sp>
        <p:nvSpPr>
          <p:cNvPr id="2077" name="Google Shape;2077;p102"/>
          <p:cNvSpPr txBox="1"/>
          <p:nvPr/>
        </p:nvSpPr>
        <p:spPr>
          <a:xfrm flipH="1">
            <a:off x="1403483" y="1620005"/>
            <a:ext cx="244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a)</a:t>
            </a:r>
            <a:endParaRPr sz="1800">
              <a:latin typeface="Lexend"/>
              <a:ea typeface="Lexend"/>
              <a:cs typeface="Lexend"/>
              <a:sym typeface="Lexend"/>
            </a:endParaRPr>
          </a:p>
        </p:txBody>
      </p:sp>
      <p:sp>
        <p:nvSpPr>
          <p:cNvPr id="2078" name="Google Shape;2078;p102"/>
          <p:cNvSpPr txBox="1"/>
          <p:nvPr/>
        </p:nvSpPr>
        <p:spPr>
          <a:xfrm flipH="1">
            <a:off x="3480017" y="1655605"/>
            <a:ext cx="244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b)</a:t>
            </a:r>
            <a:endParaRPr sz="1800">
              <a:latin typeface="Lexend"/>
              <a:ea typeface="Lexend"/>
              <a:cs typeface="Lexend"/>
              <a:sym typeface="Lexend"/>
            </a:endParaRPr>
          </a:p>
        </p:txBody>
      </p:sp>
      <p:sp>
        <p:nvSpPr>
          <p:cNvPr id="2079" name="Google Shape;2079;p102"/>
          <p:cNvSpPr txBox="1"/>
          <p:nvPr/>
        </p:nvSpPr>
        <p:spPr>
          <a:xfrm flipH="1">
            <a:off x="5567495" y="1536855"/>
            <a:ext cx="244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c)</a:t>
            </a:r>
            <a:endParaRPr sz="1800">
              <a:latin typeface="Lexend"/>
              <a:ea typeface="Lexend"/>
              <a:cs typeface="Lexend"/>
              <a:sym typeface="Lexend"/>
            </a:endParaRPr>
          </a:p>
        </p:txBody>
      </p:sp>
      <p:sp>
        <p:nvSpPr>
          <p:cNvPr id="2080" name="Google Shape;2080;p102"/>
          <p:cNvSpPr txBox="1"/>
          <p:nvPr/>
        </p:nvSpPr>
        <p:spPr>
          <a:xfrm flipH="1">
            <a:off x="1403483" y="3832280"/>
            <a:ext cx="244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d)</a:t>
            </a:r>
            <a:endParaRPr sz="1800">
              <a:latin typeface="Lexend"/>
              <a:ea typeface="Lexend"/>
              <a:cs typeface="Lexend"/>
              <a:sym typeface="Lexend"/>
            </a:endParaRPr>
          </a:p>
        </p:txBody>
      </p:sp>
      <p:sp>
        <p:nvSpPr>
          <p:cNvPr id="2081" name="Google Shape;2081;p102"/>
          <p:cNvSpPr txBox="1"/>
          <p:nvPr/>
        </p:nvSpPr>
        <p:spPr>
          <a:xfrm flipH="1">
            <a:off x="3630611" y="3502805"/>
            <a:ext cx="244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e)</a:t>
            </a:r>
            <a:endParaRPr sz="1800">
              <a:latin typeface="Lexend"/>
              <a:ea typeface="Lexend"/>
              <a:cs typeface="Lexend"/>
              <a:sym typeface="Lexend"/>
            </a:endParaRPr>
          </a:p>
        </p:txBody>
      </p:sp>
      <p:sp>
        <p:nvSpPr>
          <p:cNvPr id="2082" name="Google Shape;2082;p102"/>
          <p:cNvSpPr txBox="1"/>
          <p:nvPr/>
        </p:nvSpPr>
        <p:spPr>
          <a:xfrm flipH="1">
            <a:off x="6053491" y="3613752"/>
            <a:ext cx="244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f)</a:t>
            </a:r>
            <a:endParaRPr sz="1800">
              <a:latin typeface="Lexend"/>
              <a:ea typeface="Lexend"/>
              <a:cs typeface="Lexend"/>
              <a:sym typeface="Lexend"/>
            </a:endParaRPr>
          </a:p>
        </p:txBody>
      </p:sp>
      <p:pic>
        <p:nvPicPr>
          <p:cNvPr id="2083" name="Google Shape;2083;p102"/>
          <p:cNvPicPr preferRelativeResize="0"/>
          <p:nvPr/>
        </p:nvPicPr>
        <p:blipFill>
          <a:blip r:embed="rId4">
            <a:alphaModFix/>
          </a:blip>
          <a:stretch>
            <a:fillRect/>
          </a:stretch>
        </p:blipFill>
        <p:spPr>
          <a:xfrm>
            <a:off x="1962506" y="1241296"/>
            <a:ext cx="274366" cy="274366"/>
          </a:xfrm>
          <a:prstGeom prst="rect">
            <a:avLst/>
          </a:prstGeom>
          <a:noFill/>
          <a:ln>
            <a:noFill/>
          </a:ln>
        </p:spPr>
      </p:pic>
      <p:sp>
        <p:nvSpPr>
          <p:cNvPr id="2084" name="Google Shape;2084;p102"/>
          <p:cNvSpPr txBox="1"/>
          <p:nvPr/>
        </p:nvSpPr>
        <p:spPr>
          <a:xfrm>
            <a:off x="1977276" y="1291892"/>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i</a:t>
            </a:r>
            <a:endParaRPr b="1" sz="1800">
              <a:solidFill>
                <a:srgbClr val="FFFFFF"/>
              </a:solidFill>
              <a:latin typeface="Lexend"/>
              <a:ea typeface="Lexend"/>
              <a:cs typeface="Lexend"/>
              <a:sym typeface="Lexend"/>
            </a:endParaRPr>
          </a:p>
        </p:txBody>
      </p:sp>
      <p:pic>
        <p:nvPicPr>
          <p:cNvPr id="2085" name="Google Shape;2085;p102"/>
          <p:cNvPicPr preferRelativeResize="0"/>
          <p:nvPr/>
        </p:nvPicPr>
        <p:blipFill>
          <a:blip r:embed="rId4">
            <a:alphaModFix/>
          </a:blip>
          <a:stretch>
            <a:fillRect/>
          </a:stretch>
        </p:blipFill>
        <p:spPr>
          <a:xfrm>
            <a:off x="3443536" y="2439187"/>
            <a:ext cx="274366" cy="274366"/>
          </a:xfrm>
          <a:prstGeom prst="rect">
            <a:avLst/>
          </a:prstGeom>
          <a:noFill/>
          <a:ln>
            <a:noFill/>
          </a:ln>
        </p:spPr>
      </p:pic>
      <p:sp>
        <p:nvSpPr>
          <p:cNvPr id="2086" name="Google Shape;2086;p102"/>
          <p:cNvSpPr txBox="1"/>
          <p:nvPr/>
        </p:nvSpPr>
        <p:spPr>
          <a:xfrm>
            <a:off x="3458306" y="2489783"/>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k</a:t>
            </a:r>
            <a:endParaRPr b="1" sz="1800">
              <a:solidFill>
                <a:srgbClr val="FFFFFF"/>
              </a:solidFill>
              <a:latin typeface="Lexend"/>
              <a:ea typeface="Lexend"/>
              <a:cs typeface="Lexend"/>
              <a:sym typeface="Lexend"/>
            </a:endParaRPr>
          </a:p>
        </p:txBody>
      </p:sp>
      <p:pic>
        <p:nvPicPr>
          <p:cNvPr id="2087" name="Google Shape;2087;p102"/>
          <p:cNvPicPr preferRelativeResize="0"/>
          <p:nvPr/>
        </p:nvPicPr>
        <p:blipFill>
          <a:blip r:embed="rId4">
            <a:alphaModFix/>
          </a:blip>
          <a:stretch>
            <a:fillRect/>
          </a:stretch>
        </p:blipFill>
        <p:spPr>
          <a:xfrm>
            <a:off x="5124557" y="1930702"/>
            <a:ext cx="274366" cy="274366"/>
          </a:xfrm>
          <a:prstGeom prst="rect">
            <a:avLst/>
          </a:prstGeom>
          <a:noFill/>
          <a:ln>
            <a:noFill/>
          </a:ln>
        </p:spPr>
      </p:pic>
      <p:sp>
        <p:nvSpPr>
          <p:cNvPr id="2088" name="Google Shape;2088;p102"/>
          <p:cNvSpPr txBox="1"/>
          <p:nvPr/>
        </p:nvSpPr>
        <p:spPr>
          <a:xfrm>
            <a:off x="5139327" y="1981298"/>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g</a:t>
            </a:r>
            <a:endParaRPr b="1" sz="1800">
              <a:solidFill>
                <a:srgbClr val="FFFFFF"/>
              </a:solidFill>
              <a:latin typeface="Lexend"/>
              <a:ea typeface="Lexend"/>
              <a:cs typeface="Lexend"/>
              <a:sym typeface="Lexend"/>
            </a:endParaRPr>
          </a:p>
        </p:txBody>
      </p:sp>
      <p:pic>
        <p:nvPicPr>
          <p:cNvPr id="2089" name="Google Shape;2089;p102"/>
          <p:cNvPicPr preferRelativeResize="0"/>
          <p:nvPr/>
        </p:nvPicPr>
        <p:blipFill>
          <a:blip r:embed="rId4">
            <a:alphaModFix/>
          </a:blip>
          <a:stretch>
            <a:fillRect/>
          </a:stretch>
        </p:blipFill>
        <p:spPr>
          <a:xfrm>
            <a:off x="2192806" y="3967843"/>
            <a:ext cx="274366" cy="274366"/>
          </a:xfrm>
          <a:prstGeom prst="rect">
            <a:avLst/>
          </a:prstGeom>
          <a:noFill/>
          <a:ln>
            <a:noFill/>
          </a:ln>
        </p:spPr>
      </p:pic>
      <p:sp>
        <p:nvSpPr>
          <p:cNvPr id="2090" name="Google Shape;2090;p102"/>
          <p:cNvSpPr txBox="1"/>
          <p:nvPr/>
        </p:nvSpPr>
        <p:spPr>
          <a:xfrm>
            <a:off x="2207576" y="4018439"/>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h</a:t>
            </a:r>
            <a:endParaRPr b="1" sz="1800">
              <a:solidFill>
                <a:srgbClr val="FFFFFF"/>
              </a:solidFill>
              <a:latin typeface="Lexend"/>
              <a:ea typeface="Lexend"/>
              <a:cs typeface="Lexend"/>
              <a:sym typeface="Lexend"/>
            </a:endParaRPr>
          </a:p>
        </p:txBody>
      </p:sp>
      <p:pic>
        <p:nvPicPr>
          <p:cNvPr id="2091" name="Google Shape;2091;p102"/>
          <p:cNvPicPr preferRelativeResize="0"/>
          <p:nvPr/>
        </p:nvPicPr>
        <p:blipFill>
          <a:blip r:embed="rId4">
            <a:alphaModFix/>
          </a:blip>
          <a:stretch>
            <a:fillRect/>
          </a:stretch>
        </p:blipFill>
        <p:spPr>
          <a:xfrm>
            <a:off x="4112696" y="3890938"/>
            <a:ext cx="274366" cy="274366"/>
          </a:xfrm>
          <a:prstGeom prst="rect">
            <a:avLst/>
          </a:prstGeom>
          <a:noFill/>
          <a:ln>
            <a:noFill/>
          </a:ln>
        </p:spPr>
      </p:pic>
      <p:sp>
        <p:nvSpPr>
          <p:cNvPr id="2092" name="Google Shape;2092;p102"/>
          <p:cNvSpPr txBox="1"/>
          <p:nvPr/>
        </p:nvSpPr>
        <p:spPr>
          <a:xfrm>
            <a:off x="4127466" y="3941534"/>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l</a:t>
            </a:r>
            <a:endParaRPr b="1" sz="1800">
              <a:solidFill>
                <a:srgbClr val="FFFFFF"/>
              </a:solidFill>
              <a:latin typeface="Lexend"/>
              <a:ea typeface="Lexend"/>
              <a:cs typeface="Lexend"/>
              <a:sym typeface="Lexend"/>
            </a:endParaRPr>
          </a:p>
        </p:txBody>
      </p:sp>
      <p:pic>
        <p:nvPicPr>
          <p:cNvPr id="2093" name="Google Shape;2093;p102"/>
          <p:cNvPicPr preferRelativeResize="0"/>
          <p:nvPr/>
        </p:nvPicPr>
        <p:blipFill>
          <a:blip r:embed="rId4">
            <a:alphaModFix/>
          </a:blip>
          <a:stretch>
            <a:fillRect/>
          </a:stretch>
        </p:blipFill>
        <p:spPr>
          <a:xfrm>
            <a:off x="5343396" y="3444578"/>
            <a:ext cx="274366" cy="274366"/>
          </a:xfrm>
          <a:prstGeom prst="rect">
            <a:avLst/>
          </a:prstGeom>
          <a:noFill/>
          <a:ln>
            <a:noFill/>
          </a:ln>
        </p:spPr>
      </p:pic>
      <p:sp>
        <p:nvSpPr>
          <p:cNvPr id="2094" name="Google Shape;2094;p102"/>
          <p:cNvSpPr txBox="1"/>
          <p:nvPr/>
        </p:nvSpPr>
        <p:spPr>
          <a:xfrm>
            <a:off x="5358166" y="3495174"/>
            <a:ext cx="244800" cy="16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j</a:t>
            </a:r>
            <a:endParaRPr b="1" sz="1800">
              <a:solidFill>
                <a:srgbClr val="FFFFFF"/>
              </a:solidFill>
              <a:latin typeface="Lexend"/>
              <a:ea typeface="Lexend"/>
              <a:cs typeface="Lexend"/>
              <a:sym typeface="Lexen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8" name="Shape 2098"/>
        <p:cNvGrpSpPr/>
        <p:nvPr/>
      </p:nvGrpSpPr>
      <p:grpSpPr>
        <a:xfrm>
          <a:off x="0" y="0"/>
          <a:ext cx="0" cy="0"/>
          <a:chOff x="0" y="0"/>
          <a:chExt cx="0" cy="0"/>
        </a:xfrm>
      </p:grpSpPr>
      <p:sp>
        <p:nvSpPr>
          <p:cNvPr id="2099" name="Google Shape;2099;p103"/>
          <p:cNvSpPr txBox="1"/>
          <p:nvPr/>
        </p:nvSpPr>
        <p:spPr>
          <a:xfrm flipH="1" rot="2564">
            <a:off x="7346101" y="2700440"/>
            <a:ext cx="1206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triangle X</a:t>
            </a:r>
            <a:endParaRPr sz="1800">
              <a:latin typeface="Lexend"/>
              <a:ea typeface="Lexend"/>
              <a:cs typeface="Lexend"/>
              <a:sym typeface="Lexend"/>
            </a:endParaRPr>
          </a:p>
        </p:txBody>
      </p:sp>
      <p:sp>
        <p:nvSpPr>
          <p:cNvPr id="2100" name="Google Shape;2100;p103"/>
          <p:cNvSpPr txBox="1"/>
          <p:nvPr/>
        </p:nvSpPr>
        <p:spPr>
          <a:xfrm flipH="1" rot="2748">
            <a:off x="324301" y="652739"/>
            <a:ext cx="6754802"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2) Which of these triangles are congruent to triangle X?</a:t>
            </a:r>
            <a:endParaRPr sz="1800">
              <a:latin typeface="Lexend"/>
              <a:ea typeface="Lexend"/>
              <a:cs typeface="Lexend"/>
              <a:sym typeface="Lexend"/>
            </a:endParaRPr>
          </a:p>
        </p:txBody>
      </p:sp>
      <p:sp>
        <p:nvSpPr>
          <p:cNvPr id="2101" name="Google Shape;2101;p10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Finding the length of missing sides</a:t>
            </a:r>
            <a:endParaRPr/>
          </a:p>
        </p:txBody>
      </p:sp>
      <p:cxnSp>
        <p:nvCxnSpPr>
          <p:cNvPr id="2102" name="Google Shape;2102;p103"/>
          <p:cNvCxnSpPr/>
          <p:nvPr/>
        </p:nvCxnSpPr>
        <p:spPr>
          <a:xfrm rot="10800000">
            <a:off x="7953975" y="2317821"/>
            <a:ext cx="622200" cy="0"/>
          </a:xfrm>
          <a:prstGeom prst="straightConnector1">
            <a:avLst/>
          </a:prstGeom>
          <a:noFill/>
          <a:ln cap="flat" cmpd="sng" w="28575">
            <a:solidFill>
              <a:srgbClr val="845AD9"/>
            </a:solidFill>
            <a:prstDash val="solid"/>
            <a:round/>
            <a:headEnd len="med" w="med" type="triangle"/>
            <a:tailEnd len="med" w="med" type="triangle"/>
          </a:ln>
        </p:spPr>
      </p:cxnSp>
      <p:cxnSp>
        <p:nvCxnSpPr>
          <p:cNvPr id="2103" name="Google Shape;2103;p103"/>
          <p:cNvCxnSpPr/>
          <p:nvPr/>
        </p:nvCxnSpPr>
        <p:spPr>
          <a:xfrm>
            <a:off x="7814150" y="796085"/>
            <a:ext cx="0" cy="1396500"/>
          </a:xfrm>
          <a:prstGeom prst="straightConnector1">
            <a:avLst/>
          </a:prstGeom>
          <a:noFill/>
          <a:ln cap="flat" cmpd="sng" w="28575">
            <a:solidFill>
              <a:srgbClr val="845AD9"/>
            </a:solidFill>
            <a:prstDash val="solid"/>
            <a:round/>
            <a:headEnd len="med" w="med" type="triangle"/>
            <a:tailEnd len="med" w="med" type="triangle"/>
          </a:ln>
        </p:spPr>
      </p:cxnSp>
      <p:cxnSp>
        <p:nvCxnSpPr>
          <p:cNvPr id="2104" name="Google Shape;2104;p103"/>
          <p:cNvCxnSpPr/>
          <p:nvPr/>
        </p:nvCxnSpPr>
        <p:spPr>
          <a:xfrm>
            <a:off x="8082150" y="761135"/>
            <a:ext cx="622200" cy="1396500"/>
          </a:xfrm>
          <a:prstGeom prst="straightConnector1">
            <a:avLst/>
          </a:prstGeom>
          <a:noFill/>
          <a:ln cap="flat" cmpd="sng" w="28575">
            <a:solidFill>
              <a:srgbClr val="845AD9"/>
            </a:solidFill>
            <a:prstDash val="solid"/>
            <a:round/>
            <a:headEnd len="med" w="med" type="triangle"/>
            <a:tailEnd len="med" w="med" type="triangle"/>
          </a:ln>
        </p:spPr>
      </p:cxnSp>
      <p:grpSp>
        <p:nvGrpSpPr>
          <p:cNvPr id="2105" name="Google Shape;2105;p103"/>
          <p:cNvGrpSpPr/>
          <p:nvPr/>
        </p:nvGrpSpPr>
        <p:grpSpPr>
          <a:xfrm>
            <a:off x="7953975" y="796085"/>
            <a:ext cx="622200" cy="1396500"/>
            <a:chOff x="7148100" y="763500"/>
            <a:chExt cx="622200" cy="1396500"/>
          </a:xfrm>
        </p:grpSpPr>
        <p:sp>
          <p:nvSpPr>
            <p:cNvPr id="2106" name="Google Shape;2106;p103"/>
            <p:cNvSpPr/>
            <p:nvPr/>
          </p:nvSpPr>
          <p:spPr>
            <a:xfrm>
              <a:off x="7148100" y="763500"/>
              <a:ext cx="622200" cy="13965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07" name="Google Shape;2107;p103"/>
            <p:cNvSpPr/>
            <p:nvPr/>
          </p:nvSpPr>
          <p:spPr>
            <a:xfrm>
              <a:off x="7149329" y="1958371"/>
              <a:ext cx="200400" cy="200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108" name="Google Shape;2108;p103"/>
          <p:cNvSpPr txBox="1"/>
          <p:nvPr/>
        </p:nvSpPr>
        <p:spPr>
          <a:xfrm flipH="1" rot="3048">
            <a:off x="7926672" y="2357594"/>
            <a:ext cx="676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16 cm</a:t>
            </a:r>
            <a:endParaRPr sz="1800">
              <a:latin typeface="Lexend"/>
              <a:ea typeface="Lexend"/>
              <a:cs typeface="Lexend"/>
              <a:sym typeface="Lexend"/>
            </a:endParaRPr>
          </a:p>
        </p:txBody>
      </p:sp>
      <p:sp>
        <p:nvSpPr>
          <p:cNvPr id="2109" name="Google Shape;2109;p103"/>
          <p:cNvSpPr txBox="1"/>
          <p:nvPr/>
        </p:nvSpPr>
        <p:spPr>
          <a:xfrm flipH="1" rot="3048">
            <a:off x="7123520" y="1355744"/>
            <a:ext cx="676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63 cm</a:t>
            </a:r>
            <a:endParaRPr sz="1800">
              <a:latin typeface="Lexend"/>
              <a:ea typeface="Lexend"/>
              <a:cs typeface="Lexend"/>
              <a:sym typeface="Lexend"/>
            </a:endParaRPr>
          </a:p>
        </p:txBody>
      </p:sp>
      <p:cxnSp>
        <p:nvCxnSpPr>
          <p:cNvPr id="2110" name="Google Shape;2110;p103"/>
          <p:cNvCxnSpPr/>
          <p:nvPr/>
        </p:nvCxnSpPr>
        <p:spPr>
          <a:xfrm>
            <a:off x="351592" y="2716783"/>
            <a:ext cx="622200" cy="0"/>
          </a:xfrm>
          <a:prstGeom prst="straightConnector1">
            <a:avLst/>
          </a:prstGeom>
          <a:noFill/>
          <a:ln cap="flat" cmpd="sng" w="28575">
            <a:solidFill>
              <a:srgbClr val="845AD9"/>
            </a:solidFill>
            <a:prstDash val="solid"/>
            <a:round/>
            <a:headEnd len="med" w="med" type="triangle"/>
            <a:tailEnd len="med" w="med" type="triangle"/>
          </a:ln>
        </p:spPr>
      </p:cxnSp>
      <p:cxnSp>
        <p:nvCxnSpPr>
          <p:cNvPr id="2111" name="Google Shape;2111;p103"/>
          <p:cNvCxnSpPr/>
          <p:nvPr/>
        </p:nvCxnSpPr>
        <p:spPr>
          <a:xfrm>
            <a:off x="1113617" y="1195048"/>
            <a:ext cx="0" cy="1396500"/>
          </a:xfrm>
          <a:prstGeom prst="straightConnector1">
            <a:avLst/>
          </a:prstGeom>
          <a:noFill/>
          <a:ln cap="flat" cmpd="sng" w="28575">
            <a:solidFill>
              <a:srgbClr val="845AD9"/>
            </a:solidFill>
            <a:prstDash val="solid"/>
            <a:round/>
            <a:headEnd len="med" w="med" type="triangle"/>
            <a:tailEnd len="med" w="med" type="triangle"/>
          </a:ln>
        </p:spPr>
      </p:cxnSp>
      <p:grpSp>
        <p:nvGrpSpPr>
          <p:cNvPr id="2112" name="Google Shape;2112;p103"/>
          <p:cNvGrpSpPr/>
          <p:nvPr/>
        </p:nvGrpSpPr>
        <p:grpSpPr>
          <a:xfrm flipH="1">
            <a:off x="351592" y="1195048"/>
            <a:ext cx="622200" cy="1396500"/>
            <a:chOff x="7148100" y="763500"/>
            <a:chExt cx="622200" cy="1396500"/>
          </a:xfrm>
        </p:grpSpPr>
        <p:sp>
          <p:nvSpPr>
            <p:cNvPr id="2113" name="Google Shape;2113;p103"/>
            <p:cNvSpPr/>
            <p:nvPr/>
          </p:nvSpPr>
          <p:spPr>
            <a:xfrm>
              <a:off x="7148100" y="763500"/>
              <a:ext cx="622200" cy="13965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14" name="Google Shape;2114;p103"/>
            <p:cNvSpPr/>
            <p:nvPr/>
          </p:nvSpPr>
          <p:spPr>
            <a:xfrm>
              <a:off x="7149329" y="1958371"/>
              <a:ext cx="200400" cy="200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115" name="Google Shape;2115;p103"/>
          <p:cNvSpPr txBox="1"/>
          <p:nvPr/>
        </p:nvSpPr>
        <p:spPr>
          <a:xfrm rot="-3048">
            <a:off x="324295" y="2756557"/>
            <a:ext cx="676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16 cm</a:t>
            </a:r>
            <a:endParaRPr sz="1800">
              <a:latin typeface="Lexend"/>
              <a:ea typeface="Lexend"/>
              <a:cs typeface="Lexend"/>
              <a:sym typeface="Lexend"/>
            </a:endParaRPr>
          </a:p>
        </p:txBody>
      </p:sp>
      <p:sp>
        <p:nvSpPr>
          <p:cNvPr id="2116" name="Google Shape;2116;p103"/>
          <p:cNvSpPr txBox="1"/>
          <p:nvPr/>
        </p:nvSpPr>
        <p:spPr>
          <a:xfrm rot="-3048">
            <a:off x="1127447" y="1754707"/>
            <a:ext cx="676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63 cm</a:t>
            </a:r>
            <a:endParaRPr sz="1800">
              <a:latin typeface="Lexend"/>
              <a:ea typeface="Lexend"/>
              <a:cs typeface="Lexend"/>
              <a:sym typeface="Lexend"/>
            </a:endParaRPr>
          </a:p>
        </p:txBody>
      </p:sp>
      <p:cxnSp>
        <p:nvCxnSpPr>
          <p:cNvPr id="2117" name="Google Shape;2117;p103"/>
          <p:cNvCxnSpPr/>
          <p:nvPr/>
        </p:nvCxnSpPr>
        <p:spPr>
          <a:xfrm rot="5400000">
            <a:off x="3152391" y="2285400"/>
            <a:ext cx="622200" cy="0"/>
          </a:xfrm>
          <a:prstGeom prst="straightConnector1">
            <a:avLst/>
          </a:prstGeom>
          <a:noFill/>
          <a:ln cap="flat" cmpd="sng" w="28575">
            <a:solidFill>
              <a:srgbClr val="845AD9"/>
            </a:solidFill>
            <a:prstDash val="solid"/>
            <a:round/>
            <a:headEnd len="med" w="med" type="triangle"/>
            <a:tailEnd len="med" w="med" type="triangle"/>
          </a:ln>
        </p:spPr>
      </p:cxnSp>
      <p:cxnSp>
        <p:nvCxnSpPr>
          <p:cNvPr id="2118" name="Google Shape;2118;p103"/>
          <p:cNvCxnSpPr/>
          <p:nvPr/>
        </p:nvCxnSpPr>
        <p:spPr>
          <a:xfrm rot="-5400000">
            <a:off x="2293956" y="1458975"/>
            <a:ext cx="622200" cy="1396500"/>
          </a:xfrm>
          <a:prstGeom prst="straightConnector1">
            <a:avLst/>
          </a:prstGeom>
          <a:noFill/>
          <a:ln cap="flat" cmpd="sng" w="28575">
            <a:solidFill>
              <a:srgbClr val="845AD9"/>
            </a:solidFill>
            <a:prstDash val="solid"/>
            <a:round/>
            <a:headEnd len="med" w="med" type="triangle"/>
            <a:tailEnd len="med" w="med" type="triangle"/>
          </a:ln>
        </p:spPr>
      </p:cxnSp>
      <p:grpSp>
        <p:nvGrpSpPr>
          <p:cNvPr id="2119" name="Google Shape;2119;p103"/>
          <p:cNvGrpSpPr/>
          <p:nvPr/>
        </p:nvGrpSpPr>
        <p:grpSpPr>
          <a:xfrm rot="-5400000">
            <a:off x="2328906" y="1587150"/>
            <a:ext cx="622200" cy="1396500"/>
            <a:chOff x="7148100" y="763500"/>
            <a:chExt cx="622200" cy="1396500"/>
          </a:xfrm>
        </p:grpSpPr>
        <p:sp>
          <p:nvSpPr>
            <p:cNvPr id="2120" name="Google Shape;2120;p103"/>
            <p:cNvSpPr/>
            <p:nvPr/>
          </p:nvSpPr>
          <p:spPr>
            <a:xfrm>
              <a:off x="7148100" y="763500"/>
              <a:ext cx="622200" cy="13965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21" name="Google Shape;2121;p103"/>
            <p:cNvSpPr/>
            <p:nvPr/>
          </p:nvSpPr>
          <p:spPr>
            <a:xfrm>
              <a:off x="7149329" y="1958371"/>
              <a:ext cx="200400" cy="200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122" name="Google Shape;2122;p103"/>
          <p:cNvSpPr txBox="1"/>
          <p:nvPr/>
        </p:nvSpPr>
        <p:spPr>
          <a:xfrm flipH="1" rot="3048">
            <a:off x="3469063" y="2146803"/>
            <a:ext cx="676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16 cm</a:t>
            </a:r>
            <a:endParaRPr sz="1800">
              <a:latin typeface="Lexend"/>
              <a:ea typeface="Lexend"/>
              <a:cs typeface="Lexend"/>
              <a:sym typeface="Lexend"/>
            </a:endParaRPr>
          </a:p>
        </p:txBody>
      </p:sp>
      <p:sp>
        <p:nvSpPr>
          <p:cNvPr id="2123" name="Google Shape;2123;p103"/>
          <p:cNvSpPr txBox="1"/>
          <p:nvPr/>
        </p:nvSpPr>
        <p:spPr>
          <a:xfrm flipH="1" rot="-1434932">
            <a:off x="1966563" y="1880430"/>
            <a:ext cx="1152225" cy="27719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63 cm</a:t>
            </a:r>
            <a:endParaRPr sz="1800">
              <a:latin typeface="Lexend"/>
              <a:ea typeface="Lexend"/>
              <a:cs typeface="Lexend"/>
              <a:sym typeface="Lexend"/>
            </a:endParaRPr>
          </a:p>
        </p:txBody>
      </p:sp>
      <p:sp>
        <p:nvSpPr>
          <p:cNvPr id="2124" name="Google Shape;2124;p103"/>
          <p:cNvSpPr/>
          <p:nvPr/>
        </p:nvSpPr>
        <p:spPr>
          <a:xfrm>
            <a:off x="7079100" y="682160"/>
            <a:ext cx="1740900" cy="19971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125" name="Google Shape;2125;p103"/>
          <p:cNvGrpSpPr/>
          <p:nvPr/>
        </p:nvGrpSpPr>
        <p:grpSpPr>
          <a:xfrm flipH="1" rot="2700000">
            <a:off x="5066039" y="1204540"/>
            <a:ext cx="622194" cy="1396487"/>
            <a:chOff x="7148100" y="763500"/>
            <a:chExt cx="622200" cy="1396500"/>
          </a:xfrm>
        </p:grpSpPr>
        <p:sp>
          <p:nvSpPr>
            <p:cNvPr id="2126" name="Google Shape;2126;p103"/>
            <p:cNvSpPr/>
            <p:nvPr/>
          </p:nvSpPr>
          <p:spPr>
            <a:xfrm>
              <a:off x="7148100" y="763500"/>
              <a:ext cx="622200" cy="13965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27" name="Google Shape;2127;p103"/>
            <p:cNvSpPr/>
            <p:nvPr/>
          </p:nvSpPr>
          <p:spPr>
            <a:xfrm>
              <a:off x="7149329" y="1958371"/>
              <a:ext cx="200400" cy="200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128" name="Google Shape;2128;p103"/>
          <p:cNvSpPr txBox="1"/>
          <p:nvPr/>
        </p:nvSpPr>
        <p:spPr>
          <a:xfrm rot="2696768">
            <a:off x="4337300" y="2467331"/>
            <a:ext cx="676914" cy="277044"/>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16 cm</a:t>
            </a:r>
            <a:endParaRPr sz="1800">
              <a:latin typeface="Lexend"/>
              <a:ea typeface="Lexend"/>
              <a:cs typeface="Lexend"/>
              <a:sym typeface="Lexend"/>
            </a:endParaRPr>
          </a:p>
        </p:txBody>
      </p:sp>
      <p:sp>
        <p:nvSpPr>
          <p:cNvPr id="2129" name="Google Shape;2129;p103"/>
          <p:cNvSpPr txBox="1"/>
          <p:nvPr/>
        </p:nvSpPr>
        <p:spPr>
          <a:xfrm rot="-2702831">
            <a:off x="5274581" y="2172126"/>
            <a:ext cx="1030538" cy="277044"/>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65 cm</a:t>
            </a:r>
            <a:endParaRPr sz="1800">
              <a:latin typeface="Lexend"/>
              <a:ea typeface="Lexend"/>
              <a:cs typeface="Lexend"/>
              <a:sym typeface="Lexend"/>
            </a:endParaRPr>
          </a:p>
        </p:txBody>
      </p:sp>
      <p:grpSp>
        <p:nvGrpSpPr>
          <p:cNvPr id="2130" name="Google Shape;2130;p103"/>
          <p:cNvGrpSpPr/>
          <p:nvPr/>
        </p:nvGrpSpPr>
        <p:grpSpPr>
          <a:xfrm rot="-2700000">
            <a:off x="1106150" y="3113222"/>
            <a:ext cx="622194" cy="1396487"/>
            <a:chOff x="7148100" y="763500"/>
            <a:chExt cx="622200" cy="1396500"/>
          </a:xfrm>
        </p:grpSpPr>
        <p:sp>
          <p:nvSpPr>
            <p:cNvPr id="2131" name="Google Shape;2131;p103"/>
            <p:cNvSpPr/>
            <p:nvPr/>
          </p:nvSpPr>
          <p:spPr>
            <a:xfrm>
              <a:off x="7148100" y="763500"/>
              <a:ext cx="622200" cy="13965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32" name="Google Shape;2132;p103"/>
            <p:cNvSpPr/>
            <p:nvPr/>
          </p:nvSpPr>
          <p:spPr>
            <a:xfrm>
              <a:off x="7149329" y="1958371"/>
              <a:ext cx="200400" cy="200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133" name="Google Shape;2133;p103"/>
          <p:cNvSpPr txBox="1"/>
          <p:nvPr/>
        </p:nvSpPr>
        <p:spPr>
          <a:xfrm flipH="1" rot="-2696768">
            <a:off x="1766343" y="4355273"/>
            <a:ext cx="676914" cy="277044"/>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16 cm</a:t>
            </a:r>
            <a:endParaRPr sz="1800">
              <a:latin typeface="Lexend"/>
              <a:ea typeface="Lexend"/>
              <a:cs typeface="Lexend"/>
              <a:sym typeface="Lexend"/>
            </a:endParaRPr>
          </a:p>
        </p:txBody>
      </p:sp>
      <p:sp>
        <p:nvSpPr>
          <p:cNvPr id="2134" name="Google Shape;2134;p103"/>
          <p:cNvSpPr txBox="1"/>
          <p:nvPr/>
        </p:nvSpPr>
        <p:spPr>
          <a:xfrm flipH="1" rot="2702831">
            <a:off x="489265" y="4080808"/>
            <a:ext cx="1030538" cy="277044"/>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67 cm</a:t>
            </a:r>
            <a:endParaRPr sz="1800">
              <a:latin typeface="Lexend"/>
              <a:ea typeface="Lexend"/>
              <a:cs typeface="Lexend"/>
              <a:sym typeface="Lexend"/>
            </a:endParaRPr>
          </a:p>
        </p:txBody>
      </p:sp>
      <p:cxnSp>
        <p:nvCxnSpPr>
          <p:cNvPr id="2135" name="Google Shape;2135;p103"/>
          <p:cNvCxnSpPr/>
          <p:nvPr/>
        </p:nvCxnSpPr>
        <p:spPr>
          <a:xfrm rot="-5400000">
            <a:off x="4001941" y="4091100"/>
            <a:ext cx="622200" cy="0"/>
          </a:xfrm>
          <a:prstGeom prst="straightConnector1">
            <a:avLst/>
          </a:prstGeom>
          <a:noFill/>
          <a:ln cap="flat" cmpd="sng" w="28575">
            <a:solidFill>
              <a:srgbClr val="845AD9"/>
            </a:solidFill>
            <a:prstDash val="solid"/>
            <a:round/>
            <a:headEnd len="med" w="med" type="triangle"/>
            <a:tailEnd len="med" w="med" type="triangle"/>
          </a:ln>
        </p:spPr>
      </p:cxnSp>
      <p:grpSp>
        <p:nvGrpSpPr>
          <p:cNvPr id="2136" name="Google Shape;2136;p103"/>
          <p:cNvGrpSpPr/>
          <p:nvPr/>
        </p:nvGrpSpPr>
        <p:grpSpPr>
          <a:xfrm flipH="1" rot="-5400000">
            <a:off x="3178456" y="3392850"/>
            <a:ext cx="622200" cy="1396500"/>
            <a:chOff x="7148100" y="763500"/>
            <a:chExt cx="622200" cy="1396500"/>
          </a:xfrm>
        </p:grpSpPr>
        <p:sp>
          <p:nvSpPr>
            <p:cNvPr id="2137" name="Google Shape;2137;p103"/>
            <p:cNvSpPr/>
            <p:nvPr/>
          </p:nvSpPr>
          <p:spPr>
            <a:xfrm>
              <a:off x="7148100" y="763500"/>
              <a:ext cx="622200" cy="13965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38" name="Google Shape;2138;p103"/>
            <p:cNvSpPr/>
            <p:nvPr/>
          </p:nvSpPr>
          <p:spPr>
            <a:xfrm>
              <a:off x="7149329" y="1958371"/>
              <a:ext cx="200400" cy="200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2139" name="Google Shape;2139;p103"/>
          <p:cNvCxnSpPr/>
          <p:nvPr/>
        </p:nvCxnSpPr>
        <p:spPr>
          <a:xfrm flipH="1" rot="-5400000">
            <a:off x="3143506" y="3521025"/>
            <a:ext cx="622200" cy="1396500"/>
          </a:xfrm>
          <a:prstGeom prst="straightConnector1">
            <a:avLst/>
          </a:prstGeom>
          <a:noFill/>
          <a:ln cap="flat" cmpd="sng" w="28575">
            <a:solidFill>
              <a:srgbClr val="845AD9"/>
            </a:solidFill>
            <a:prstDash val="solid"/>
            <a:round/>
            <a:headEnd len="med" w="med" type="triangle"/>
            <a:tailEnd len="med" w="med" type="triangle"/>
          </a:ln>
        </p:spPr>
      </p:cxnSp>
      <p:sp>
        <p:nvSpPr>
          <p:cNvPr id="2140" name="Google Shape;2140;p103"/>
          <p:cNvSpPr txBox="1"/>
          <p:nvPr/>
        </p:nvSpPr>
        <p:spPr>
          <a:xfrm rot="-3048">
            <a:off x="4318613" y="3952497"/>
            <a:ext cx="676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16 cm</a:t>
            </a:r>
            <a:endParaRPr sz="1800">
              <a:latin typeface="Lexend"/>
              <a:ea typeface="Lexend"/>
              <a:cs typeface="Lexend"/>
              <a:sym typeface="Lexend"/>
            </a:endParaRPr>
          </a:p>
        </p:txBody>
      </p:sp>
      <p:sp>
        <p:nvSpPr>
          <p:cNvPr id="2141" name="Google Shape;2141;p103"/>
          <p:cNvSpPr txBox="1"/>
          <p:nvPr/>
        </p:nvSpPr>
        <p:spPr>
          <a:xfrm rot="1434932">
            <a:off x="2816113" y="4218880"/>
            <a:ext cx="1152225" cy="27719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65 cm</a:t>
            </a:r>
            <a:endParaRPr sz="1800">
              <a:latin typeface="Lexend"/>
              <a:ea typeface="Lexend"/>
              <a:cs typeface="Lexend"/>
              <a:sym typeface="Lexend"/>
            </a:endParaRPr>
          </a:p>
        </p:txBody>
      </p:sp>
      <p:grpSp>
        <p:nvGrpSpPr>
          <p:cNvPr id="2142" name="Google Shape;2142;p103"/>
          <p:cNvGrpSpPr/>
          <p:nvPr/>
        </p:nvGrpSpPr>
        <p:grpSpPr>
          <a:xfrm flipH="1" rot="9369442">
            <a:off x="5784502" y="3258454"/>
            <a:ext cx="622160" cy="1396410"/>
            <a:chOff x="7148100" y="763500"/>
            <a:chExt cx="622200" cy="1396500"/>
          </a:xfrm>
        </p:grpSpPr>
        <p:sp>
          <p:nvSpPr>
            <p:cNvPr id="2143" name="Google Shape;2143;p103"/>
            <p:cNvSpPr/>
            <p:nvPr/>
          </p:nvSpPr>
          <p:spPr>
            <a:xfrm>
              <a:off x="7148100" y="763500"/>
              <a:ext cx="622200" cy="13965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44" name="Google Shape;2144;p103"/>
            <p:cNvSpPr/>
            <p:nvPr/>
          </p:nvSpPr>
          <p:spPr>
            <a:xfrm>
              <a:off x="7149329" y="1958371"/>
              <a:ext cx="200400" cy="200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2145" name="Google Shape;2145;p103"/>
          <p:cNvCxnSpPr/>
          <p:nvPr/>
        </p:nvCxnSpPr>
        <p:spPr>
          <a:xfrm flipH="1" rot="9369147">
            <a:off x="5916859" y="3238608"/>
            <a:ext cx="622551" cy="1396644"/>
          </a:xfrm>
          <a:prstGeom prst="straightConnector1">
            <a:avLst/>
          </a:prstGeom>
          <a:noFill/>
          <a:ln cap="flat" cmpd="sng" w="28575">
            <a:solidFill>
              <a:srgbClr val="845AD9"/>
            </a:solidFill>
            <a:prstDash val="solid"/>
            <a:round/>
            <a:headEnd len="med" w="med" type="triangle"/>
            <a:tailEnd len="med" w="med" type="triangle"/>
          </a:ln>
        </p:spPr>
      </p:cxnSp>
      <p:sp>
        <p:nvSpPr>
          <p:cNvPr id="2146" name="Google Shape;2146;p103"/>
          <p:cNvSpPr txBox="1"/>
          <p:nvPr/>
        </p:nvSpPr>
        <p:spPr>
          <a:xfrm rot="-5395525">
            <a:off x="5803248" y="3799807"/>
            <a:ext cx="1152301" cy="277201"/>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65 cm</a:t>
            </a:r>
            <a:endParaRPr sz="1800">
              <a:latin typeface="Lexend"/>
              <a:ea typeface="Lexend"/>
              <a:cs typeface="Lexend"/>
              <a:sym typeface="Lexend"/>
            </a:endParaRPr>
          </a:p>
        </p:txBody>
      </p:sp>
      <p:cxnSp>
        <p:nvCxnSpPr>
          <p:cNvPr id="2147" name="Google Shape;2147;p103"/>
          <p:cNvCxnSpPr/>
          <p:nvPr/>
        </p:nvCxnSpPr>
        <p:spPr>
          <a:xfrm rot="10800000">
            <a:off x="5419307" y="3492725"/>
            <a:ext cx="560100" cy="1272300"/>
          </a:xfrm>
          <a:prstGeom prst="straightConnector1">
            <a:avLst/>
          </a:prstGeom>
          <a:noFill/>
          <a:ln cap="flat" cmpd="sng" w="28575">
            <a:solidFill>
              <a:srgbClr val="845AD9"/>
            </a:solidFill>
            <a:prstDash val="solid"/>
            <a:round/>
            <a:headEnd len="med" w="med" type="triangle"/>
            <a:tailEnd len="med" w="med" type="triangle"/>
          </a:ln>
        </p:spPr>
      </p:cxnSp>
      <p:sp>
        <p:nvSpPr>
          <p:cNvPr id="2148" name="Google Shape;2148;p103"/>
          <p:cNvSpPr txBox="1"/>
          <p:nvPr/>
        </p:nvSpPr>
        <p:spPr>
          <a:xfrm rot="-6373">
            <a:off x="5024874" y="4181400"/>
            <a:ext cx="809101"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63 cm</a:t>
            </a:r>
            <a:endParaRPr sz="1800">
              <a:latin typeface="Lexend"/>
              <a:ea typeface="Lexend"/>
              <a:cs typeface="Lexend"/>
              <a:sym typeface="Lexend"/>
            </a:endParaRPr>
          </a:p>
        </p:txBody>
      </p:sp>
      <p:cxnSp>
        <p:nvCxnSpPr>
          <p:cNvPr id="2149" name="Google Shape;2149;p103"/>
          <p:cNvCxnSpPr/>
          <p:nvPr/>
        </p:nvCxnSpPr>
        <p:spPr>
          <a:xfrm rot="10800000">
            <a:off x="7093426" y="4387386"/>
            <a:ext cx="1407300" cy="0"/>
          </a:xfrm>
          <a:prstGeom prst="straightConnector1">
            <a:avLst/>
          </a:prstGeom>
          <a:noFill/>
          <a:ln cap="flat" cmpd="sng" w="28575">
            <a:solidFill>
              <a:srgbClr val="845AD9"/>
            </a:solidFill>
            <a:prstDash val="solid"/>
            <a:round/>
            <a:headEnd len="med" w="med" type="triangle"/>
            <a:tailEnd len="med" w="med" type="triangle"/>
          </a:ln>
        </p:spPr>
      </p:cxnSp>
      <p:cxnSp>
        <p:nvCxnSpPr>
          <p:cNvPr id="2150" name="Google Shape;2150;p103"/>
          <p:cNvCxnSpPr/>
          <p:nvPr/>
        </p:nvCxnSpPr>
        <p:spPr>
          <a:xfrm flipH="1" rot="5400000">
            <a:off x="7526326" y="3111287"/>
            <a:ext cx="622200" cy="1396500"/>
          </a:xfrm>
          <a:prstGeom prst="straightConnector1">
            <a:avLst/>
          </a:prstGeom>
          <a:noFill/>
          <a:ln cap="flat" cmpd="sng" w="28575">
            <a:solidFill>
              <a:srgbClr val="845AD9"/>
            </a:solidFill>
            <a:prstDash val="solid"/>
            <a:round/>
            <a:headEnd len="med" w="med" type="triangle"/>
            <a:tailEnd len="med" w="med" type="triangle"/>
          </a:ln>
        </p:spPr>
      </p:cxnSp>
      <p:grpSp>
        <p:nvGrpSpPr>
          <p:cNvPr id="2151" name="Google Shape;2151;p103"/>
          <p:cNvGrpSpPr/>
          <p:nvPr/>
        </p:nvGrpSpPr>
        <p:grpSpPr>
          <a:xfrm flipH="1" rot="5400000">
            <a:off x="7491376" y="3239462"/>
            <a:ext cx="622200" cy="1396500"/>
            <a:chOff x="7148100" y="763500"/>
            <a:chExt cx="622200" cy="1396500"/>
          </a:xfrm>
        </p:grpSpPr>
        <p:sp>
          <p:nvSpPr>
            <p:cNvPr id="2152" name="Google Shape;2152;p103"/>
            <p:cNvSpPr/>
            <p:nvPr/>
          </p:nvSpPr>
          <p:spPr>
            <a:xfrm>
              <a:off x="7148100" y="763500"/>
              <a:ext cx="622200" cy="1396500"/>
            </a:xfrm>
            <a:prstGeom prst="rtTriangle">
              <a:avLst/>
            </a:prstGeom>
            <a:solidFill>
              <a:srgbClr val="EBEDFE"/>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53" name="Google Shape;2153;p103"/>
            <p:cNvSpPr/>
            <p:nvPr/>
          </p:nvSpPr>
          <p:spPr>
            <a:xfrm>
              <a:off x="7149329" y="1958371"/>
              <a:ext cx="200400" cy="200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154" name="Google Shape;2154;p103"/>
          <p:cNvSpPr txBox="1"/>
          <p:nvPr/>
        </p:nvSpPr>
        <p:spPr>
          <a:xfrm rot="1434932">
            <a:off x="7323693" y="3532743"/>
            <a:ext cx="1152225" cy="27719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63 cm</a:t>
            </a:r>
            <a:endParaRPr sz="1800">
              <a:latin typeface="Lexend"/>
              <a:ea typeface="Lexend"/>
              <a:cs typeface="Lexend"/>
              <a:sym typeface="Lexend"/>
            </a:endParaRPr>
          </a:p>
        </p:txBody>
      </p:sp>
      <p:sp>
        <p:nvSpPr>
          <p:cNvPr id="2155" name="Google Shape;2155;p103"/>
          <p:cNvSpPr txBox="1"/>
          <p:nvPr/>
        </p:nvSpPr>
        <p:spPr>
          <a:xfrm flipH="1" rot="3048">
            <a:off x="7458663" y="4387678"/>
            <a:ext cx="676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65 cm</a:t>
            </a:r>
            <a:endParaRPr sz="1800">
              <a:latin typeface="Lexend"/>
              <a:ea typeface="Lexend"/>
              <a:cs typeface="Lexend"/>
              <a:sym typeface="Lexend"/>
            </a:endParaRPr>
          </a:p>
        </p:txBody>
      </p:sp>
      <p:sp>
        <p:nvSpPr>
          <p:cNvPr id="2156" name="Google Shape;2156;p103"/>
          <p:cNvSpPr txBox="1"/>
          <p:nvPr/>
        </p:nvSpPr>
        <p:spPr>
          <a:xfrm flipH="1">
            <a:off x="641545" y="2061169"/>
            <a:ext cx="278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a)</a:t>
            </a:r>
            <a:endParaRPr sz="1800">
              <a:latin typeface="Lexend"/>
              <a:ea typeface="Lexend"/>
              <a:cs typeface="Lexend"/>
              <a:sym typeface="Lexend"/>
            </a:endParaRPr>
          </a:p>
        </p:txBody>
      </p:sp>
      <p:sp>
        <p:nvSpPr>
          <p:cNvPr id="2157" name="Google Shape;2157;p103"/>
          <p:cNvSpPr txBox="1"/>
          <p:nvPr/>
        </p:nvSpPr>
        <p:spPr>
          <a:xfrm flipH="1">
            <a:off x="2829910" y="2220169"/>
            <a:ext cx="278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b)</a:t>
            </a:r>
            <a:endParaRPr sz="1800">
              <a:latin typeface="Lexend"/>
              <a:ea typeface="Lexend"/>
              <a:cs typeface="Lexend"/>
              <a:sym typeface="Lexend"/>
            </a:endParaRPr>
          </a:p>
        </p:txBody>
      </p:sp>
      <p:sp>
        <p:nvSpPr>
          <p:cNvPr id="2158" name="Google Shape;2158;p103"/>
          <p:cNvSpPr txBox="1"/>
          <p:nvPr/>
        </p:nvSpPr>
        <p:spPr>
          <a:xfrm flipH="1">
            <a:off x="5069335" y="2018619"/>
            <a:ext cx="278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c)</a:t>
            </a:r>
            <a:endParaRPr sz="1800">
              <a:latin typeface="Lexend"/>
              <a:ea typeface="Lexend"/>
              <a:cs typeface="Lexend"/>
              <a:sym typeface="Lexend"/>
            </a:endParaRPr>
          </a:p>
        </p:txBody>
      </p:sp>
      <p:sp>
        <p:nvSpPr>
          <p:cNvPr id="2159" name="Google Shape;2159;p103"/>
          <p:cNvSpPr txBox="1"/>
          <p:nvPr/>
        </p:nvSpPr>
        <p:spPr>
          <a:xfrm flipH="1">
            <a:off x="1480361" y="3938667"/>
            <a:ext cx="278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d)</a:t>
            </a:r>
            <a:endParaRPr sz="1800">
              <a:latin typeface="Lexend"/>
              <a:ea typeface="Lexend"/>
              <a:cs typeface="Lexend"/>
              <a:sym typeface="Lexend"/>
            </a:endParaRPr>
          </a:p>
        </p:txBody>
      </p:sp>
      <p:sp>
        <p:nvSpPr>
          <p:cNvPr id="2160" name="Google Shape;2160;p103"/>
          <p:cNvSpPr txBox="1"/>
          <p:nvPr/>
        </p:nvSpPr>
        <p:spPr>
          <a:xfrm flipH="1">
            <a:off x="3635786" y="3818054"/>
            <a:ext cx="278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e)</a:t>
            </a:r>
            <a:endParaRPr sz="1800">
              <a:latin typeface="Lexend"/>
              <a:ea typeface="Lexend"/>
              <a:cs typeface="Lexend"/>
              <a:sym typeface="Lexend"/>
            </a:endParaRPr>
          </a:p>
        </p:txBody>
      </p:sp>
      <p:sp>
        <p:nvSpPr>
          <p:cNvPr id="2161" name="Google Shape;2161;p103"/>
          <p:cNvSpPr txBox="1"/>
          <p:nvPr/>
        </p:nvSpPr>
        <p:spPr>
          <a:xfrm flipH="1">
            <a:off x="5781325" y="3566154"/>
            <a:ext cx="278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f)</a:t>
            </a:r>
            <a:endParaRPr sz="1800">
              <a:latin typeface="Lexend"/>
              <a:ea typeface="Lexend"/>
              <a:cs typeface="Lexend"/>
              <a:sym typeface="Lexend"/>
            </a:endParaRPr>
          </a:p>
        </p:txBody>
      </p:sp>
      <p:sp>
        <p:nvSpPr>
          <p:cNvPr id="2162" name="Google Shape;2162;p103"/>
          <p:cNvSpPr txBox="1"/>
          <p:nvPr/>
        </p:nvSpPr>
        <p:spPr>
          <a:xfrm flipH="1">
            <a:off x="7400641" y="3866700"/>
            <a:ext cx="278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g)</a:t>
            </a:r>
            <a:endParaRPr sz="1800">
              <a:latin typeface="Lexend"/>
              <a:ea typeface="Lexend"/>
              <a:cs typeface="Lexend"/>
              <a:sym typeface="Lexend"/>
            </a:endParaRPr>
          </a:p>
        </p:txBody>
      </p:sp>
      <p:pic>
        <p:nvPicPr>
          <p:cNvPr id="2163" name="Google Shape;2163;p103"/>
          <p:cNvPicPr preferRelativeResize="0"/>
          <p:nvPr/>
        </p:nvPicPr>
        <p:blipFill>
          <a:blip r:embed="rId3">
            <a:alphaModFix/>
          </a:blip>
          <a:stretch>
            <a:fillRect/>
          </a:stretch>
        </p:blipFill>
        <p:spPr>
          <a:xfrm>
            <a:off x="967708" y="2472425"/>
            <a:ext cx="396000" cy="419100"/>
          </a:xfrm>
          <a:prstGeom prst="rect">
            <a:avLst/>
          </a:prstGeom>
          <a:noFill/>
          <a:ln>
            <a:noFill/>
          </a:ln>
        </p:spPr>
      </p:pic>
      <p:pic>
        <p:nvPicPr>
          <p:cNvPr id="2164" name="Google Shape;2164;p103"/>
          <p:cNvPicPr preferRelativeResize="0"/>
          <p:nvPr/>
        </p:nvPicPr>
        <p:blipFill>
          <a:blip r:embed="rId4">
            <a:alphaModFix/>
          </a:blip>
          <a:stretch>
            <a:fillRect/>
          </a:stretch>
        </p:blipFill>
        <p:spPr>
          <a:xfrm>
            <a:off x="2276113" y="1554542"/>
            <a:ext cx="396000" cy="419760"/>
          </a:xfrm>
          <a:prstGeom prst="rect">
            <a:avLst/>
          </a:prstGeom>
          <a:noFill/>
          <a:ln>
            <a:noFill/>
          </a:ln>
        </p:spPr>
      </p:pic>
      <p:pic>
        <p:nvPicPr>
          <p:cNvPr id="2165" name="Google Shape;2165;p103"/>
          <p:cNvPicPr preferRelativeResize="0"/>
          <p:nvPr/>
        </p:nvPicPr>
        <p:blipFill>
          <a:blip r:embed="rId3">
            <a:alphaModFix/>
          </a:blip>
          <a:stretch>
            <a:fillRect/>
          </a:stretch>
        </p:blipFill>
        <p:spPr>
          <a:xfrm>
            <a:off x="3428883" y="3361800"/>
            <a:ext cx="396000" cy="419100"/>
          </a:xfrm>
          <a:prstGeom prst="rect">
            <a:avLst/>
          </a:prstGeom>
          <a:noFill/>
          <a:ln>
            <a:noFill/>
          </a:ln>
        </p:spPr>
      </p:pic>
      <p:pic>
        <p:nvPicPr>
          <p:cNvPr id="2166" name="Google Shape;2166;p103"/>
          <p:cNvPicPr preferRelativeResize="0"/>
          <p:nvPr/>
        </p:nvPicPr>
        <p:blipFill>
          <a:blip r:embed="rId3">
            <a:alphaModFix/>
          </a:blip>
          <a:stretch>
            <a:fillRect/>
          </a:stretch>
        </p:blipFill>
        <p:spPr>
          <a:xfrm>
            <a:off x="6318659" y="3097750"/>
            <a:ext cx="396000" cy="419100"/>
          </a:xfrm>
          <a:prstGeom prst="rect">
            <a:avLst/>
          </a:prstGeom>
          <a:noFill/>
          <a:ln>
            <a:noFill/>
          </a:ln>
        </p:spPr>
      </p:pic>
      <p:pic>
        <p:nvPicPr>
          <p:cNvPr id="2167" name="Google Shape;2167;p103"/>
          <p:cNvPicPr preferRelativeResize="0"/>
          <p:nvPr/>
        </p:nvPicPr>
        <p:blipFill>
          <a:blip r:embed="rId4">
            <a:alphaModFix/>
          </a:blip>
          <a:stretch>
            <a:fillRect/>
          </a:stretch>
        </p:blipFill>
        <p:spPr>
          <a:xfrm>
            <a:off x="4993188" y="1513617"/>
            <a:ext cx="396000" cy="419760"/>
          </a:xfrm>
          <a:prstGeom prst="rect">
            <a:avLst/>
          </a:prstGeom>
          <a:noFill/>
          <a:ln>
            <a:noFill/>
          </a:ln>
        </p:spPr>
      </p:pic>
      <p:pic>
        <p:nvPicPr>
          <p:cNvPr id="2168" name="Google Shape;2168;p103"/>
          <p:cNvPicPr preferRelativeResize="0"/>
          <p:nvPr/>
        </p:nvPicPr>
        <p:blipFill>
          <a:blip r:embed="rId4">
            <a:alphaModFix/>
          </a:blip>
          <a:stretch>
            <a:fillRect/>
          </a:stretch>
        </p:blipFill>
        <p:spPr>
          <a:xfrm>
            <a:off x="1492813" y="3461467"/>
            <a:ext cx="396000" cy="419760"/>
          </a:xfrm>
          <a:prstGeom prst="rect">
            <a:avLst/>
          </a:prstGeom>
          <a:noFill/>
          <a:ln>
            <a:noFill/>
          </a:ln>
        </p:spPr>
      </p:pic>
      <p:pic>
        <p:nvPicPr>
          <p:cNvPr id="2169" name="Google Shape;2169;p103"/>
          <p:cNvPicPr preferRelativeResize="0"/>
          <p:nvPr/>
        </p:nvPicPr>
        <p:blipFill>
          <a:blip r:embed="rId4">
            <a:alphaModFix/>
          </a:blip>
          <a:stretch>
            <a:fillRect/>
          </a:stretch>
        </p:blipFill>
        <p:spPr>
          <a:xfrm>
            <a:off x="7926663" y="3251874"/>
            <a:ext cx="396000" cy="419760"/>
          </a:xfrm>
          <a:prstGeom prst="rect">
            <a:avLst/>
          </a:prstGeom>
          <a:noFill/>
          <a:ln>
            <a:noFill/>
          </a:ln>
        </p:spPr>
      </p:pic>
      <p:cxnSp>
        <p:nvCxnSpPr>
          <p:cNvPr id="2170" name="Google Shape;2170;p103"/>
          <p:cNvCxnSpPr/>
          <p:nvPr/>
        </p:nvCxnSpPr>
        <p:spPr>
          <a:xfrm flipH="1">
            <a:off x="5168225" y="1695325"/>
            <a:ext cx="982800" cy="966000"/>
          </a:xfrm>
          <a:prstGeom prst="straightConnector1">
            <a:avLst/>
          </a:prstGeom>
          <a:noFill/>
          <a:ln cap="flat" cmpd="sng" w="28575">
            <a:solidFill>
              <a:schemeClr val="accent4"/>
            </a:solidFill>
            <a:prstDash val="solid"/>
            <a:round/>
            <a:headEnd len="med" w="med" type="triangle"/>
            <a:tailEnd len="med" w="med" type="triangle"/>
          </a:ln>
        </p:spPr>
      </p:cxnSp>
      <p:cxnSp>
        <p:nvCxnSpPr>
          <p:cNvPr id="2171" name="Google Shape;2171;p103"/>
          <p:cNvCxnSpPr/>
          <p:nvPr/>
        </p:nvCxnSpPr>
        <p:spPr>
          <a:xfrm flipH="1" rot="10800000">
            <a:off x="1751050" y="4152250"/>
            <a:ext cx="452700" cy="452700"/>
          </a:xfrm>
          <a:prstGeom prst="straightConnector1">
            <a:avLst/>
          </a:prstGeom>
          <a:noFill/>
          <a:ln cap="flat" cmpd="sng" w="28575">
            <a:solidFill>
              <a:schemeClr val="accent4"/>
            </a:solidFill>
            <a:prstDash val="solid"/>
            <a:round/>
            <a:headEnd len="med" w="med" type="triangle"/>
            <a:tailEnd len="med" w="med" type="triangle"/>
          </a:ln>
        </p:spPr>
      </p:cxnSp>
      <p:cxnSp>
        <p:nvCxnSpPr>
          <p:cNvPr id="2172" name="Google Shape;2172;p103"/>
          <p:cNvCxnSpPr/>
          <p:nvPr/>
        </p:nvCxnSpPr>
        <p:spPr>
          <a:xfrm>
            <a:off x="4604531" y="2233952"/>
            <a:ext cx="400500" cy="440400"/>
          </a:xfrm>
          <a:prstGeom prst="straightConnector1">
            <a:avLst/>
          </a:prstGeom>
          <a:noFill/>
          <a:ln cap="flat" cmpd="sng" w="28575">
            <a:solidFill>
              <a:schemeClr val="accent4"/>
            </a:solidFill>
            <a:prstDash val="solid"/>
            <a:round/>
            <a:headEnd len="med" w="med" type="triangle"/>
            <a:tailEnd len="med" w="med" type="triangle"/>
          </a:ln>
        </p:spPr>
      </p:cxnSp>
      <p:cxnSp>
        <p:nvCxnSpPr>
          <p:cNvPr id="2173" name="Google Shape;2173;p103"/>
          <p:cNvCxnSpPr/>
          <p:nvPr/>
        </p:nvCxnSpPr>
        <p:spPr>
          <a:xfrm>
            <a:off x="630850" y="3649100"/>
            <a:ext cx="955800" cy="952500"/>
          </a:xfrm>
          <a:prstGeom prst="straightConnector1">
            <a:avLst/>
          </a:prstGeom>
          <a:noFill/>
          <a:ln cap="flat" cmpd="sng" w="28575">
            <a:solidFill>
              <a:schemeClr val="accent4"/>
            </a:solidFill>
            <a:prstDash val="solid"/>
            <a:round/>
            <a:headEnd len="med" w="med" type="triangle"/>
            <a:tailEnd len="med" w="med" type="triangle"/>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7" name="Shape 2177"/>
        <p:cNvGrpSpPr/>
        <p:nvPr/>
      </p:nvGrpSpPr>
      <p:grpSpPr>
        <a:xfrm>
          <a:off x="0" y="0"/>
          <a:ext cx="0" cy="0"/>
          <a:chOff x="0" y="0"/>
          <a:chExt cx="0" cy="0"/>
        </a:xfrm>
      </p:grpSpPr>
      <p:sp>
        <p:nvSpPr>
          <p:cNvPr id="2178" name="Google Shape;2178;p104"/>
          <p:cNvSpPr txBox="1"/>
          <p:nvPr/>
        </p:nvSpPr>
        <p:spPr>
          <a:xfrm flipH="1" rot="2792">
            <a:off x="324299" y="618813"/>
            <a:ext cx="8495703"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3) C</a:t>
            </a:r>
            <a:r>
              <a:rPr lang="en-GB" sz="1800">
                <a:solidFill>
                  <a:schemeClr val="dk1"/>
                </a:solidFill>
                <a:latin typeface="Lexend"/>
                <a:ea typeface="Lexend"/>
                <a:cs typeface="Lexend"/>
                <a:sym typeface="Lexend"/>
              </a:rPr>
              <a:t>alculate the length of each unknown side labelled with a letter, rounding your answer to 2 decimal places.</a:t>
            </a:r>
            <a:endParaRPr sz="1800">
              <a:latin typeface="Lexend"/>
              <a:ea typeface="Lexend"/>
              <a:cs typeface="Lexend"/>
              <a:sym typeface="Lexend"/>
            </a:endParaRPr>
          </a:p>
        </p:txBody>
      </p:sp>
      <p:pic>
        <p:nvPicPr>
          <p:cNvPr id="2179" name="Google Shape;2179;p104"/>
          <p:cNvPicPr preferRelativeResize="0"/>
          <p:nvPr/>
        </p:nvPicPr>
        <p:blipFill rotWithShape="1">
          <a:blip r:embed="rId3">
            <a:alphaModFix/>
          </a:blip>
          <a:srcRect b="0" l="58255" r="0" t="12717"/>
          <a:stretch/>
        </p:blipFill>
        <p:spPr>
          <a:xfrm flipH="1">
            <a:off x="5216478" y="1546893"/>
            <a:ext cx="2945642" cy="2425025"/>
          </a:xfrm>
          <a:prstGeom prst="rect">
            <a:avLst/>
          </a:prstGeom>
          <a:noFill/>
          <a:ln>
            <a:noFill/>
          </a:ln>
        </p:spPr>
      </p:pic>
      <p:sp>
        <p:nvSpPr>
          <p:cNvPr id="2180" name="Google Shape;2180;p10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Finding the length of missing sides</a:t>
            </a:r>
            <a:endParaRPr/>
          </a:p>
        </p:txBody>
      </p:sp>
      <p:pic>
        <p:nvPicPr>
          <p:cNvPr id="2181" name="Google Shape;2181;p104"/>
          <p:cNvPicPr preferRelativeResize="0"/>
          <p:nvPr/>
        </p:nvPicPr>
        <p:blipFill rotWithShape="1">
          <a:blip r:embed="rId3">
            <a:alphaModFix/>
          </a:blip>
          <a:srcRect b="0" l="0" r="41493" t="0"/>
          <a:stretch/>
        </p:blipFill>
        <p:spPr>
          <a:xfrm>
            <a:off x="1083844" y="1193557"/>
            <a:ext cx="4128448" cy="2778362"/>
          </a:xfrm>
          <a:prstGeom prst="rect">
            <a:avLst/>
          </a:prstGeom>
          <a:noFill/>
          <a:ln>
            <a:noFill/>
          </a:ln>
        </p:spPr>
      </p:pic>
      <p:sp>
        <p:nvSpPr>
          <p:cNvPr id="2182" name="Google Shape;2182;p104"/>
          <p:cNvSpPr txBox="1"/>
          <p:nvPr/>
        </p:nvSpPr>
        <p:spPr>
          <a:xfrm rot="-3628">
            <a:off x="5860885" y="2409793"/>
            <a:ext cx="1137001" cy="831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area of square</a:t>
            </a:r>
            <a:endParaRPr sz="1800">
              <a:latin typeface="Lexend"/>
              <a:ea typeface="Lexend"/>
              <a:cs typeface="Lexend"/>
              <a:sym typeface="Lexend"/>
            </a:endParaRPr>
          </a:p>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28 cm²</a:t>
            </a:r>
            <a:endParaRPr sz="1800">
              <a:latin typeface="Lexend"/>
              <a:ea typeface="Lexend"/>
              <a:cs typeface="Lexend"/>
              <a:sym typeface="Lexend"/>
            </a:endParaRPr>
          </a:p>
        </p:txBody>
      </p:sp>
      <p:cxnSp>
        <p:nvCxnSpPr>
          <p:cNvPr id="2183" name="Google Shape;2183;p104"/>
          <p:cNvCxnSpPr/>
          <p:nvPr/>
        </p:nvCxnSpPr>
        <p:spPr>
          <a:xfrm>
            <a:off x="1131310" y="4034612"/>
            <a:ext cx="2271000" cy="0"/>
          </a:xfrm>
          <a:prstGeom prst="straightConnector1">
            <a:avLst/>
          </a:prstGeom>
          <a:noFill/>
          <a:ln cap="flat" cmpd="sng" w="28575">
            <a:solidFill>
              <a:srgbClr val="845AD9"/>
            </a:solidFill>
            <a:prstDash val="solid"/>
            <a:round/>
            <a:headEnd len="med" w="med" type="triangle"/>
            <a:tailEnd len="med" w="med" type="triangle"/>
          </a:ln>
        </p:spPr>
      </p:cxnSp>
      <p:sp>
        <p:nvSpPr>
          <p:cNvPr id="2184" name="Google Shape;2184;p104"/>
          <p:cNvSpPr txBox="1"/>
          <p:nvPr/>
        </p:nvSpPr>
        <p:spPr>
          <a:xfrm flipH="1" rot="3468">
            <a:off x="1820715" y="4035126"/>
            <a:ext cx="8922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25 cm</a:t>
            </a:r>
            <a:endParaRPr sz="1800">
              <a:latin typeface="Lexend"/>
              <a:ea typeface="Lexend"/>
              <a:cs typeface="Lexend"/>
              <a:sym typeface="Lexend"/>
            </a:endParaRPr>
          </a:p>
        </p:txBody>
      </p:sp>
      <p:cxnSp>
        <p:nvCxnSpPr>
          <p:cNvPr id="2185" name="Google Shape;2185;p104"/>
          <p:cNvCxnSpPr/>
          <p:nvPr/>
        </p:nvCxnSpPr>
        <p:spPr>
          <a:xfrm rot="10800000">
            <a:off x="993446" y="3168232"/>
            <a:ext cx="0" cy="744900"/>
          </a:xfrm>
          <a:prstGeom prst="straightConnector1">
            <a:avLst/>
          </a:prstGeom>
          <a:noFill/>
          <a:ln cap="flat" cmpd="sng" w="28575">
            <a:solidFill>
              <a:srgbClr val="845AD9"/>
            </a:solidFill>
            <a:prstDash val="solid"/>
            <a:round/>
            <a:headEnd len="med" w="med" type="triangle"/>
            <a:tailEnd len="med" w="med" type="triangle"/>
          </a:ln>
        </p:spPr>
      </p:cxnSp>
      <p:sp>
        <p:nvSpPr>
          <p:cNvPr id="2186" name="Google Shape;2186;p104"/>
          <p:cNvSpPr txBox="1"/>
          <p:nvPr/>
        </p:nvSpPr>
        <p:spPr>
          <a:xfrm flipH="1" rot="3468">
            <a:off x="218242" y="3414831"/>
            <a:ext cx="8922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10 cm</a:t>
            </a:r>
            <a:endParaRPr sz="1800">
              <a:latin typeface="Lexend"/>
              <a:ea typeface="Lexend"/>
              <a:cs typeface="Lexend"/>
              <a:sym typeface="Lexend"/>
            </a:endParaRPr>
          </a:p>
        </p:txBody>
      </p:sp>
      <p:cxnSp>
        <p:nvCxnSpPr>
          <p:cNvPr id="2187" name="Google Shape;2187;p104"/>
          <p:cNvCxnSpPr/>
          <p:nvPr/>
        </p:nvCxnSpPr>
        <p:spPr>
          <a:xfrm flipH="1" rot="10800000">
            <a:off x="1008481" y="1856387"/>
            <a:ext cx="418500" cy="1244700"/>
          </a:xfrm>
          <a:prstGeom prst="straightConnector1">
            <a:avLst/>
          </a:prstGeom>
          <a:noFill/>
          <a:ln cap="flat" cmpd="sng" w="28575">
            <a:solidFill>
              <a:srgbClr val="845AD9"/>
            </a:solidFill>
            <a:prstDash val="solid"/>
            <a:round/>
            <a:headEnd len="med" w="med" type="triangle"/>
            <a:tailEnd len="med" w="med" type="triangle"/>
          </a:ln>
        </p:spPr>
      </p:cxnSp>
      <p:sp>
        <p:nvSpPr>
          <p:cNvPr id="2188" name="Google Shape;2188;p104"/>
          <p:cNvSpPr txBox="1"/>
          <p:nvPr/>
        </p:nvSpPr>
        <p:spPr>
          <a:xfrm flipH="1" rot="3468">
            <a:off x="435511" y="2279449"/>
            <a:ext cx="8922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18 cm</a:t>
            </a:r>
            <a:endParaRPr sz="1800">
              <a:latin typeface="Lexend"/>
              <a:ea typeface="Lexend"/>
              <a:cs typeface="Lexend"/>
              <a:sym typeface="Lexend"/>
            </a:endParaRPr>
          </a:p>
        </p:txBody>
      </p:sp>
      <p:cxnSp>
        <p:nvCxnSpPr>
          <p:cNvPr id="2189" name="Google Shape;2189;p104"/>
          <p:cNvCxnSpPr/>
          <p:nvPr/>
        </p:nvCxnSpPr>
        <p:spPr>
          <a:xfrm rot="10800000">
            <a:off x="1557305" y="1909956"/>
            <a:ext cx="1854300" cy="2003700"/>
          </a:xfrm>
          <a:prstGeom prst="straightConnector1">
            <a:avLst/>
          </a:prstGeom>
          <a:noFill/>
          <a:ln cap="flat" cmpd="sng" w="28575">
            <a:solidFill>
              <a:srgbClr val="845AD9"/>
            </a:solidFill>
            <a:prstDash val="solid"/>
            <a:round/>
            <a:headEnd len="med" w="med" type="triangle"/>
            <a:tailEnd len="med" w="med" type="triangle"/>
          </a:ln>
        </p:spPr>
      </p:cxnSp>
      <p:sp>
        <p:nvSpPr>
          <p:cNvPr id="2190" name="Google Shape;2190;p104"/>
          <p:cNvSpPr txBox="1"/>
          <p:nvPr/>
        </p:nvSpPr>
        <p:spPr>
          <a:xfrm flipH="1" rot="3468">
            <a:off x="2225801" y="2502132"/>
            <a:ext cx="892200" cy="3387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i="1" lang="en-GB" sz="2200">
                <a:latin typeface="Times New Roman"/>
                <a:ea typeface="Times New Roman"/>
                <a:cs typeface="Times New Roman"/>
                <a:sym typeface="Times New Roman"/>
              </a:rPr>
              <a:t>a</a:t>
            </a:r>
            <a:r>
              <a:rPr lang="en-GB" sz="1800">
                <a:latin typeface="Lexend"/>
                <a:ea typeface="Lexend"/>
                <a:cs typeface="Lexend"/>
                <a:sym typeface="Lexend"/>
              </a:rPr>
              <a:t> cm</a:t>
            </a:r>
            <a:endParaRPr sz="1800">
              <a:latin typeface="Lexend"/>
              <a:ea typeface="Lexend"/>
              <a:cs typeface="Lexend"/>
              <a:sym typeface="Lexend"/>
            </a:endParaRPr>
          </a:p>
        </p:txBody>
      </p:sp>
      <p:cxnSp>
        <p:nvCxnSpPr>
          <p:cNvPr id="2191" name="Google Shape;2191;p104"/>
          <p:cNvCxnSpPr/>
          <p:nvPr/>
        </p:nvCxnSpPr>
        <p:spPr>
          <a:xfrm>
            <a:off x="3886044" y="4034623"/>
            <a:ext cx="924300" cy="0"/>
          </a:xfrm>
          <a:prstGeom prst="straightConnector1">
            <a:avLst/>
          </a:prstGeom>
          <a:noFill/>
          <a:ln cap="flat" cmpd="sng" w="28575">
            <a:solidFill>
              <a:srgbClr val="845AD9"/>
            </a:solidFill>
            <a:prstDash val="solid"/>
            <a:round/>
            <a:headEnd len="med" w="med" type="triangle"/>
            <a:tailEnd len="med" w="med" type="triangle"/>
          </a:ln>
        </p:spPr>
      </p:cxnSp>
      <p:sp>
        <p:nvSpPr>
          <p:cNvPr id="2192" name="Google Shape;2192;p104"/>
          <p:cNvSpPr txBox="1"/>
          <p:nvPr/>
        </p:nvSpPr>
        <p:spPr>
          <a:xfrm flipH="1" rot="8098">
            <a:off x="3966123" y="4035168"/>
            <a:ext cx="764102" cy="3387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b</a:t>
            </a:r>
            <a:r>
              <a:rPr lang="en-GB" sz="1800">
                <a:solidFill>
                  <a:schemeClr val="dk1"/>
                </a:solidFill>
                <a:latin typeface="Lexend"/>
                <a:ea typeface="Lexend"/>
                <a:cs typeface="Lexend"/>
                <a:sym typeface="Lexend"/>
              </a:rPr>
              <a:t> cm</a:t>
            </a:r>
            <a:endParaRPr sz="1800">
              <a:latin typeface="Lexend"/>
              <a:ea typeface="Lexend"/>
              <a:cs typeface="Lexend"/>
              <a:sym typeface="Lexend"/>
            </a:endParaRPr>
          </a:p>
        </p:txBody>
      </p:sp>
      <p:grpSp>
        <p:nvGrpSpPr>
          <p:cNvPr id="2193" name="Google Shape;2193;p104"/>
          <p:cNvGrpSpPr/>
          <p:nvPr/>
        </p:nvGrpSpPr>
        <p:grpSpPr>
          <a:xfrm>
            <a:off x="2935941" y="1650794"/>
            <a:ext cx="892229" cy="2279147"/>
            <a:chOff x="303660" y="3471683"/>
            <a:chExt cx="922200" cy="769800"/>
          </a:xfrm>
        </p:grpSpPr>
        <p:cxnSp>
          <p:nvCxnSpPr>
            <p:cNvPr id="2194" name="Google Shape;2194;p104"/>
            <p:cNvCxnSpPr/>
            <p:nvPr/>
          </p:nvCxnSpPr>
          <p:spPr>
            <a:xfrm rot="10800000">
              <a:off x="1171846" y="3471683"/>
              <a:ext cx="0" cy="769800"/>
            </a:xfrm>
            <a:prstGeom prst="straightConnector1">
              <a:avLst/>
            </a:prstGeom>
            <a:noFill/>
            <a:ln cap="flat" cmpd="sng" w="28575">
              <a:solidFill>
                <a:srgbClr val="845AD9"/>
              </a:solidFill>
              <a:prstDash val="solid"/>
              <a:round/>
              <a:headEnd len="med" w="med" type="triangle"/>
              <a:tailEnd len="med" w="med" type="triangle"/>
            </a:ln>
          </p:spPr>
        </p:cxnSp>
        <p:sp>
          <p:nvSpPr>
            <p:cNvPr id="2195" name="Google Shape;2195;p104"/>
            <p:cNvSpPr txBox="1"/>
            <p:nvPr/>
          </p:nvSpPr>
          <p:spPr>
            <a:xfrm flipH="1" rot="3355">
              <a:off x="303660" y="3548378"/>
              <a:ext cx="922200" cy="93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50 cm</a:t>
              </a:r>
              <a:endParaRPr sz="1800">
                <a:latin typeface="Lexend"/>
                <a:ea typeface="Lexend"/>
                <a:cs typeface="Lexend"/>
                <a:sym typeface="Lexend"/>
              </a:endParaRPr>
            </a:p>
          </p:txBody>
        </p:sp>
      </p:grpSp>
      <p:cxnSp>
        <p:nvCxnSpPr>
          <p:cNvPr id="2196" name="Google Shape;2196;p104"/>
          <p:cNvCxnSpPr/>
          <p:nvPr/>
        </p:nvCxnSpPr>
        <p:spPr>
          <a:xfrm flipH="1" rot="10800000">
            <a:off x="3855196" y="1133071"/>
            <a:ext cx="1005000" cy="398100"/>
          </a:xfrm>
          <a:prstGeom prst="straightConnector1">
            <a:avLst/>
          </a:prstGeom>
          <a:noFill/>
          <a:ln cap="flat" cmpd="sng" w="28575">
            <a:solidFill>
              <a:srgbClr val="845AD9"/>
            </a:solidFill>
            <a:prstDash val="solid"/>
            <a:round/>
            <a:headEnd len="med" w="med" type="triangle"/>
            <a:tailEnd len="med" w="med" type="triangle"/>
          </a:ln>
        </p:spPr>
      </p:cxnSp>
      <p:sp>
        <p:nvSpPr>
          <p:cNvPr id="2197" name="Google Shape;2197;p104"/>
          <p:cNvSpPr txBox="1"/>
          <p:nvPr/>
        </p:nvSpPr>
        <p:spPr>
          <a:xfrm rot="-1298287">
            <a:off x="3944210" y="1063175"/>
            <a:ext cx="723268" cy="277152"/>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18 cm</a:t>
            </a:r>
            <a:endParaRPr sz="1800">
              <a:latin typeface="Lexend"/>
              <a:ea typeface="Lexend"/>
              <a:cs typeface="Lexend"/>
              <a:sym typeface="Lexend"/>
            </a:endParaRPr>
          </a:p>
        </p:txBody>
      </p:sp>
      <p:cxnSp>
        <p:nvCxnSpPr>
          <p:cNvPr id="2198" name="Google Shape;2198;p104"/>
          <p:cNvCxnSpPr/>
          <p:nvPr/>
        </p:nvCxnSpPr>
        <p:spPr>
          <a:xfrm flipH="1" rot="10800000">
            <a:off x="4945605" y="1262435"/>
            <a:ext cx="121800" cy="2654100"/>
          </a:xfrm>
          <a:prstGeom prst="straightConnector1">
            <a:avLst/>
          </a:prstGeom>
          <a:noFill/>
          <a:ln cap="flat" cmpd="sng" w="28575">
            <a:solidFill>
              <a:srgbClr val="845AD9"/>
            </a:solidFill>
            <a:prstDash val="solid"/>
            <a:round/>
            <a:headEnd len="med" w="med" type="triangle"/>
            <a:tailEnd len="med" w="med" type="triangle"/>
          </a:ln>
        </p:spPr>
      </p:cxnSp>
      <p:sp>
        <p:nvSpPr>
          <p:cNvPr id="2199" name="Google Shape;2199;p104"/>
          <p:cNvSpPr txBox="1"/>
          <p:nvPr/>
        </p:nvSpPr>
        <p:spPr>
          <a:xfrm rot="-10403">
            <a:off x="4964194" y="1814914"/>
            <a:ext cx="892204"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56 cm</a:t>
            </a:r>
            <a:endParaRPr sz="1800">
              <a:latin typeface="Lexend"/>
              <a:ea typeface="Lexend"/>
              <a:cs typeface="Lexend"/>
              <a:sym typeface="Lexend"/>
            </a:endParaRPr>
          </a:p>
        </p:txBody>
      </p:sp>
      <p:cxnSp>
        <p:nvCxnSpPr>
          <p:cNvPr id="2200" name="Google Shape;2200;p104"/>
          <p:cNvCxnSpPr/>
          <p:nvPr/>
        </p:nvCxnSpPr>
        <p:spPr>
          <a:xfrm>
            <a:off x="6660863" y="4027349"/>
            <a:ext cx="1409700" cy="0"/>
          </a:xfrm>
          <a:prstGeom prst="straightConnector1">
            <a:avLst/>
          </a:prstGeom>
          <a:noFill/>
          <a:ln cap="flat" cmpd="sng" w="28575">
            <a:solidFill>
              <a:srgbClr val="845AD9"/>
            </a:solidFill>
            <a:prstDash val="solid"/>
            <a:round/>
            <a:headEnd len="med" w="med" type="triangle"/>
            <a:tailEnd len="med" w="med" type="triangle"/>
          </a:ln>
        </p:spPr>
      </p:cxnSp>
      <p:sp>
        <p:nvSpPr>
          <p:cNvPr id="2201" name="Google Shape;2201;p104"/>
          <p:cNvSpPr txBox="1"/>
          <p:nvPr/>
        </p:nvSpPr>
        <p:spPr>
          <a:xfrm flipH="1" rot="5309">
            <a:off x="6783195" y="4027894"/>
            <a:ext cx="1165501" cy="3387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c</a:t>
            </a:r>
            <a:r>
              <a:rPr lang="en-GB" sz="1800">
                <a:solidFill>
                  <a:schemeClr val="dk1"/>
                </a:solidFill>
                <a:latin typeface="Lexend"/>
                <a:ea typeface="Lexend"/>
                <a:cs typeface="Lexend"/>
                <a:sym typeface="Lexend"/>
              </a:rPr>
              <a:t> cm</a:t>
            </a:r>
            <a:endParaRPr sz="1800">
              <a:latin typeface="Lexend"/>
              <a:ea typeface="Lexend"/>
              <a:cs typeface="Lexend"/>
              <a:sym typeface="Lexend"/>
            </a:endParaRPr>
          </a:p>
        </p:txBody>
      </p:sp>
      <p:grpSp>
        <p:nvGrpSpPr>
          <p:cNvPr id="2202" name="Google Shape;2202;p104"/>
          <p:cNvGrpSpPr/>
          <p:nvPr/>
        </p:nvGrpSpPr>
        <p:grpSpPr>
          <a:xfrm flipH="1">
            <a:off x="8114912" y="3405205"/>
            <a:ext cx="892229" cy="516074"/>
            <a:chOff x="370567" y="3471683"/>
            <a:chExt cx="922200" cy="769800"/>
          </a:xfrm>
        </p:grpSpPr>
        <p:cxnSp>
          <p:nvCxnSpPr>
            <p:cNvPr id="2203" name="Google Shape;2203;p104"/>
            <p:cNvCxnSpPr/>
            <p:nvPr/>
          </p:nvCxnSpPr>
          <p:spPr>
            <a:xfrm rot="10800000">
              <a:off x="1171846" y="3471683"/>
              <a:ext cx="0" cy="769800"/>
            </a:xfrm>
            <a:prstGeom prst="straightConnector1">
              <a:avLst/>
            </a:prstGeom>
            <a:noFill/>
            <a:ln cap="flat" cmpd="sng" w="28575">
              <a:solidFill>
                <a:srgbClr val="845AD9"/>
              </a:solidFill>
              <a:prstDash val="solid"/>
              <a:round/>
              <a:headEnd len="med" w="med" type="triangle"/>
              <a:tailEnd len="med" w="med" type="triangle"/>
            </a:ln>
          </p:spPr>
        </p:cxnSp>
        <p:sp>
          <p:nvSpPr>
            <p:cNvPr id="2204" name="Google Shape;2204;p104"/>
            <p:cNvSpPr txBox="1"/>
            <p:nvPr/>
          </p:nvSpPr>
          <p:spPr>
            <a:xfrm flipH="1" rot="3355">
              <a:off x="370567" y="3656630"/>
              <a:ext cx="922200" cy="413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 cm</a:t>
              </a:r>
              <a:endParaRPr sz="1800">
                <a:latin typeface="Lexend"/>
                <a:ea typeface="Lexend"/>
                <a:cs typeface="Lexend"/>
                <a:sym typeface="Lexend"/>
              </a:endParaRPr>
            </a:p>
          </p:txBody>
        </p:sp>
      </p:grpSp>
      <p:grpSp>
        <p:nvGrpSpPr>
          <p:cNvPr id="2205" name="Google Shape;2205;p104"/>
          <p:cNvGrpSpPr/>
          <p:nvPr/>
        </p:nvGrpSpPr>
        <p:grpSpPr>
          <a:xfrm flipH="1" rot="-1260516">
            <a:off x="8005470" y="2715089"/>
            <a:ext cx="892340" cy="516108"/>
            <a:chOff x="370567" y="3471683"/>
            <a:chExt cx="922200" cy="769800"/>
          </a:xfrm>
        </p:grpSpPr>
        <p:cxnSp>
          <p:nvCxnSpPr>
            <p:cNvPr id="2206" name="Google Shape;2206;p104"/>
            <p:cNvCxnSpPr/>
            <p:nvPr/>
          </p:nvCxnSpPr>
          <p:spPr>
            <a:xfrm rot="10800000">
              <a:off x="1171846" y="3471683"/>
              <a:ext cx="0" cy="769800"/>
            </a:xfrm>
            <a:prstGeom prst="straightConnector1">
              <a:avLst/>
            </a:prstGeom>
            <a:noFill/>
            <a:ln cap="flat" cmpd="sng" w="28575">
              <a:solidFill>
                <a:srgbClr val="845AD9"/>
              </a:solidFill>
              <a:prstDash val="solid"/>
              <a:round/>
              <a:headEnd len="med" w="med" type="triangle"/>
              <a:tailEnd len="med" w="med" type="triangle"/>
            </a:ln>
          </p:spPr>
        </p:cxnSp>
        <p:sp>
          <p:nvSpPr>
            <p:cNvPr id="2207" name="Google Shape;2207;p104"/>
            <p:cNvSpPr txBox="1"/>
            <p:nvPr/>
          </p:nvSpPr>
          <p:spPr>
            <a:xfrm flipH="1" rot="3355">
              <a:off x="370567" y="3656630"/>
              <a:ext cx="922200" cy="413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 cm</a:t>
              </a:r>
              <a:endParaRPr sz="1800">
                <a:latin typeface="Lexend"/>
                <a:ea typeface="Lexend"/>
                <a:cs typeface="Lexend"/>
                <a:sym typeface="Lexend"/>
              </a:endParaRPr>
            </a:p>
          </p:txBody>
        </p:sp>
      </p:grpSp>
      <p:grpSp>
        <p:nvGrpSpPr>
          <p:cNvPr id="2208" name="Google Shape;2208;p104"/>
          <p:cNvGrpSpPr/>
          <p:nvPr/>
        </p:nvGrpSpPr>
        <p:grpSpPr>
          <a:xfrm flipH="1" rot="-2340341">
            <a:off x="7680451" y="2148510"/>
            <a:ext cx="892314" cy="516017"/>
            <a:chOff x="370567" y="3471683"/>
            <a:chExt cx="922200" cy="769800"/>
          </a:xfrm>
        </p:grpSpPr>
        <p:cxnSp>
          <p:nvCxnSpPr>
            <p:cNvPr id="2209" name="Google Shape;2209;p104"/>
            <p:cNvCxnSpPr/>
            <p:nvPr/>
          </p:nvCxnSpPr>
          <p:spPr>
            <a:xfrm rot="10800000">
              <a:off x="1171846" y="3471683"/>
              <a:ext cx="0" cy="769800"/>
            </a:xfrm>
            <a:prstGeom prst="straightConnector1">
              <a:avLst/>
            </a:prstGeom>
            <a:noFill/>
            <a:ln cap="flat" cmpd="sng" w="28575">
              <a:solidFill>
                <a:srgbClr val="845AD9"/>
              </a:solidFill>
              <a:prstDash val="solid"/>
              <a:round/>
              <a:headEnd len="med" w="med" type="triangle"/>
              <a:tailEnd len="med" w="med" type="triangle"/>
            </a:ln>
          </p:spPr>
        </p:cxnSp>
        <p:sp>
          <p:nvSpPr>
            <p:cNvPr id="2210" name="Google Shape;2210;p104"/>
            <p:cNvSpPr txBox="1"/>
            <p:nvPr/>
          </p:nvSpPr>
          <p:spPr>
            <a:xfrm flipH="1" rot="3355">
              <a:off x="370567" y="3656630"/>
              <a:ext cx="922200" cy="413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latin typeface="Lexend"/>
                  <a:ea typeface="Lexend"/>
                  <a:cs typeface="Lexend"/>
                  <a:sym typeface="Lexend"/>
                </a:rPr>
                <a:t>1 cm</a:t>
              </a:r>
              <a:endParaRPr sz="1800">
                <a:latin typeface="Lexend"/>
                <a:ea typeface="Lexend"/>
                <a:cs typeface="Lexend"/>
                <a:sym typeface="Lexend"/>
              </a:endParaRPr>
            </a:p>
          </p:txBody>
        </p:sp>
      </p:grpSp>
      <p:sp>
        <p:nvSpPr>
          <p:cNvPr id="2211" name="Google Shape;2211;p104"/>
          <p:cNvSpPr txBox="1"/>
          <p:nvPr/>
        </p:nvSpPr>
        <p:spPr>
          <a:xfrm flipH="1" rot="3388">
            <a:off x="629098" y="4376626"/>
            <a:ext cx="2130901" cy="3387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i="1" lang="en-GB" sz="2200">
                <a:latin typeface="Times New Roman"/>
                <a:ea typeface="Times New Roman"/>
                <a:cs typeface="Times New Roman"/>
                <a:sym typeface="Times New Roman"/>
              </a:rPr>
              <a:t>a</a:t>
            </a:r>
            <a:r>
              <a:rPr lang="en-GB" sz="1800">
                <a:latin typeface="Lexend"/>
                <a:ea typeface="Lexend"/>
                <a:cs typeface="Lexend"/>
                <a:sym typeface="Lexend"/>
              </a:rPr>
              <a:t> cm </a:t>
            </a:r>
            <a:r>
              <a:rPr lang="en-GB" sz="2000">
                <a:latin typeface="Kalam"/>
                <a:ea typeface="Kalam"/>
                <a:cs typeface="Kalam"/>
                <a:sym typeface="Kalam"/>
              </a:rPr>
              <a:t>= 32.39 cm</a:t>
            </a:r>
            <a:endParaRPr sz="2000">
              <a:latin typeface="Kalam"/>
              <a:ea typeface="Kalam"/>
              <a:cs typeface="Kalam"/>
              <a:sym typeface="Kalam"/>
            </a:endParaRPr>
          </a:p>
        </p:txBody>
      </p:sp>
      <p:sp>
        <p:nvSpPr>
          <p:cNvPr id="2212" name="Google Shape;2212;p104"/>
          <p:cNvSpPr txBox="1"/>
          <p:nvPr/>
        </p:nvSpPr>
        <p:spPr>
          <a:xfrm flipH="1" rot="3388">
            <a:off x="3506548" y="4376626"/>
            <a:ext cx="2130901" cy="3387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i="1" lang="en-GB" sz="2200">
                <a:latin typeface="Times New Roman"/>
                <a:ea typeface="Times New Roman"/>
                <a:cs typeface="Times New Roman"/>
                <a:sym typeface="Times New Roman"/>
              </a:rPr>
              <a:t>b</a:t>
            </a:r>
            <a:r>
              <a:rPr lang="en-GB" sz="1800">
                <a:latin typeface="Lexend"/>
                <a:ea typeface="Lexend"/>
                <a:cs typeface="Lexend"/>
                <a:sym typeface="Lexend"/>
              </a:rPr>
              <a:t> cm </a:t>
            </a:r>
            <a:r>
              <a:rPr lang="en-GB" sz="2000">
                <a:latin typeface="Kalam"/>
                <a:ea typeface="Kalam"/>
                <a:cs typeface="Kalam"/>
                <a:sym typeface="Kalam"/>
              </a:rPr>
              <a:t>= 17.66 cm</a:t>
            </a:r>
            <a:endParaRPr sz="2000">
              <a:latin typeface="Kalam"/>
              <a:ea typeface="Kalam"/>
              <a:cs typeface="Kalam"/>
              <a:sym typeface="Kalam"/>
            </a:endParaRPr>
          </a:p>
        </p:txBody>
      </p:sp>
      <p:sp>
        <p:nvSpPr>
          <p:cNvPr id="2213" name="Google Shape;2213;p104"/>
          <p:cNvSpPr txBox="1"/>
          <p:nvPr/>
        </p:nvSpPr>
        <p:spPr>
          <a:xfrm flipH="1" rot="3388">
            <a:off x="6256798" y="4376626"/>
            <a:ext cx="2130901" cy="3387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i="1" lang="en-GB" sz="2200">
                <a:latin typeface="Times New Roman"/>
                <a:ea typeface="Times New Roman"/>
                <a:cs typeface="Times New Roman"/>
                <a:sym typeface="Times New Roman"/>
              </a:rPr>
              <a:t>c</a:t>
            </a:r>
            <a:r>
              <a:rPr lang="en-GB" sz="1800">
                <a:latin typeface="Lexend"/>
                <a:ea typeface="Lexend"/>
                <a:cs typeface="Lexend"/>
                <a:sym typeface="Lexend"/>
              </a:rPr>
              <a:t> cm </a:t>
            </a:r>
            <a:r>
              <a:rPr lang="en-GB" sz="2000">
                <a:latin typeface="Kalam"/>
                <a:ea typeface="Kalam"/>
                <a:cs typeface="Kalam"/>
                <a:sym typeface="Kalam"/>
              </a:rPr>
              <a:t>= 5 cm</a:t>
            </a:r>
            <a:endParaRPr sz="2000">
              <a:latin typeface="Kalam"/>
              <a:ea typeface="Kalam"/>
              <a:cs typeface="Kalam"/>
              <a:sym typeface="Kalam"/>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7" name="Shape 2217"/>
        <p:cNvGrpSpPr/>
        <p:nvPr/>
      </p:nvGrpSpPr>
      <p:grpSpPr>
        <a:xfrm>
          <a:off x="0" y="0"/>
          <a:ext cx="0" cy="0"/>
          <a:chOff x="0" y="0"/>
          <a:chExt cx="0" cy="0"/>
        </a:xfrm>
      </p:grpSpPr>
      <p:sp>
        <p:nvSpPr>
          <p:cNvPr id="2218" name="Google Shape;2218;p105"/>
          <p:cNvSpPr txBox="1"/>
          <p:nvPr/>
        </p:nvSpPr>
        <p:spPr>
          <a:xfrm flipH="1" rot="2792">
            <a:off x="324298" y="653401"/>
            <a:ext cx="8495703" cy="2770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The hypotenuse of a right-angled triangle can be identified as:</a:t>
            </a:r>
            <a:endParaRPr sz="1800">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     the side opposite the right angle marker</a:t>
            </a:r>
            <a:endParaRPr sz="1800">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     the side adjacent to two angles that sum to 90°</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Since addition is commutative, the sum of squares of the two shorter sides can be written in either order, meaning there are multiple representations of the Pythagoras’ theorem equation for any given triangle.</a:t>
            </a:r>
            <a:endParaRPr sz="1800">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latin typeface="Lexend"/>
                <a:ea typeface="Lexend"/>
                <a:cs typeface="Lexend"/>
                <a:sym typeface="Lexend"/>
              </a:rPr>
              <a:t>Pythagoras’ theorem can be applied repeatedly to composite shapes made from right-angled triangles.</a:t>
            </a:r>
            <a:endParaRPr sz="1800">
              <a:latin typeface="Lexend"/>
              <a:ea typeface="Lexend"/>
              <a:cs typeface="Lexend"/>
              <a:sym typeface="Lexend"/>
            </a:endParaRPr>
          </a:p>
        </p:txBody>
      </p:sp>
      <p:sp>
        <p:nvSpPr>
          <p:cNvPr id="2219" name="Google Shape;2219;p105"/>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Determining which side</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3" name="Shape 2223"/>
        <p:cNvGrpSpPr/>
        <p:nvPr/>
      </p:nvGrpSpPr>
      <p:grpSpPr>
        <a:xfrm>
          <a:off x="0" y="0"/>
          <a:ext cx="0" cy="0"/>
          <a:chOff x="0" y="0"/>
          <a:chExt cx="0" cy="0"/>
        </a:xfrm>
      </p:grpSpPr>
      <p:sp>
        <p:nvSpPr>
          <p:cNvPr id="2224" name="Google Shape;2224;p106"/>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2225" name="Google Shape;2225;p106"/>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